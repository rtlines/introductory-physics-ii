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org&amp;utm_campaign=imageinfo&amp;utm_content=thumbnail" ContentType="image/pn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1"/>
  </p:notesMasterIdLst>
  <p:sldIdLst>
    <p:sldId id="345" r:id="rId2"/>
    <p:sldId id="367" r:id="rId3"/>
    <p:sldId id="347" r:id="rId4"/>
    <p:sldId id="285" r:id="rId5"/>
    <p:sldId id="287" r:id="rId6"/>
    <p:sldId id="289" r:id="rId7"/>
    <p:sldId id="341" r:id="rId8"/>
    <p:sldId id="310" r:id="rId9"/>
    <p:sldId id="344" r:id="rId10"/>
    <p:sldId id="288" r:id="rId11"/>
    <p:sldId id="311" r:id="rId12"/>
    <p:sldId id="290" r:id="rId13"/>
    <p:sldId id="312" r:id="rId14"/>
    <p:sldId id="371" r:id="rId15"/>
    <p:sldId id="291" r:id="rId16"/>
    <p:sldId id="321" r:id="rId17"/>
    <p:sldId id="323" r:id="rId18"/>
    <p:sldId id="354" r:id="rId19"/>
    <p:sldId id="324" r:id="rId20"/>
    <p:sldId id="325" r:id="rId21"/>
    <p:sldId id="326" r:id="rId22"/>
    <p:sldId id="355" r:id="rId23"/>
    <p:sldId id="356" r:id="rId24"/>
    <p:sldId id="357" r:id="rId25"/>
    <p:sldId id="358" r:id="rId26"/>
    <p:sldId id="359" r:id="rId27"/>
    <p:sldId id="348" r:id="rId28"/>
    <p:sldId id="349" r:id="rId29"/>
    <p:sldId id="350" r:id="rId30"/>
    <p:sldId id="351" r:id="rId31"/>
    <p:sldId id="352" r:id="rId32"/>
    <p:sldId id="353" r:id="rId33"/>
    <p:sldId id="360" r:id="rId34"/>
    <p:sldId id="361" r:id="rId35"/>
    <p:sldId id="303" r:id="rId36"/>
    <p:sldId id="328" r:id="rId37"/>
    <p:sldId id="329" r:id="rId38"/>
    <p:sldId id="330" r:id="rId39"/>
    <p:sldId id="331" r:id="rId40"/>
    <p:sldId id="369" r:id="rId41"/>
    <p:sldId id="370" r:id="rId42"/>
    <p:sldId id="332" r:id="rId43"/>
    <p:sldId id="333" r:id="rId44"/>
    <p:sldId id="334" r:id="rId45"/>
    <p:sldId id="335" r:id="rId46"/>
    <p:sldId id="304" r:id="rId47"/>
    <p:sldId id="368" r:id="rId48"/>
    <p:sldId id="305" r:id="rId49"/>
    <p:sldId id="306" r:id="rId50"/>
    <p:sldId id="307" r:id="rId51"/>
    <p:sldId id="308" r:id="rId52"/>
    <p:sldId id="309" r:id="rId53"/>
    <p:sldId id="261" r:id="rId54"/>
    <p:sldId id="262" r:id="rId55"/>
    <p:sldId id="263" r:id="rId56"/>
    <p:sldId id="265" r:id="rId57"/>
    <p:sldId id="363" r:id="rId58"/>
    <p:sldId id="364" r:id="rId59"/>
    <p:sldId id="259" r:id="rId60"/>
    <p:sldId id="264" r:id="rId61"/>
    <p:sldId id="365" r:id="rId62"/>
    <p:sldId id="366" r:id="rId63"/>
    <p:sldId id="266" r:id="rId64"/>
    <p:sldId id="346" r:id="rId65"/>
    <p:sldId id="362" r:id="rId66"/>
    <p:sldId id="286" r:id="rId67"/>
    <p:sldId id="292" r:id="rId68"/>
    <p:sldId id="313" r:id="rId69"/>
    <p:sldId id="293" r:id="rId70"/>
    <p:sldId id="294" r:id="rId71"/>
    <p:sldId id="295" r:id="rId72"/>
    <p:sldId id="296" r:id="rId73"/>
    <p:sldId id="297" r:id="rId74"/>
    <p:sldId id="298" r:id="rId75"/>
    <p:sldId id="314" r:id="rId76"/>
    <p:sldId id="315" r:id="rId77"/>
    <p:sldId id="316" r:id="rId78"/>
    <p:sldId id="317" r:id="rId79"/>
    <p:sldId id="299" r:id="rId80"/>
    <p:sldId id="300" r:id="rId81"/>
    <p:sldId id="301" r:id="rId82"/>
    <p:sldId id="302" r:id="rId83"/>
    <p:sldId id="336" r:id="rId84"/>
    <p:sldId id="337" r:id="rId85"/>
    <p:sldId id="342" r:id="rId86"/>
    <p:sldId id="343" r:id="rId87"/>
    <p:sldId id="339" r:id="rId88"/>
    <p:sldId id="340" r:id="rId89"/>
    <p:sldId id="284" r:id="rId9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1488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9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dd Lines" userId="afaf7c3a-e8aa-4568-882a-02ad8f9e19b0" providerId="ADAL" clId="{5FF5AC1B-ABA9-43D7-A1E3-2D92732CD6E2}"/>
    <pc:docChg chg="addSld modSld">
      <pc:chgData name="Todd Lines" userId="afaf7c3a-e8aa-4568-882a-02ad8f9e19b0" providerId="ADAL" clId="{5FF5AC1B-ABA9-43D7-A1E3-2D92732CD6E2}" dt="2026-09-21T22:45:06.959" v="9" actId="1076"/>
      <pc:docMkLst>
        <pc:docMk/>
      </pc:docMkLst>
      <pc:sldChg chg="modSp mod">
        <pc:chgData name="Todd Lines" userId="afaf7c3a-e8aa-4568-882a-02ad8f9e19b0" providerId="ADAL" clId="{5FF5AC1B-ABA9-43D7-A1E3-2D92732CD6E2}" dt="2026-08-26T18:43:07.553" v="3" actId="20577"/>
        <pc:sldMkLst>
          <pc:docMk/>
          <pc:sldMk cId="3875607050" sldId="345"/>
        </pc:sldMkLst>
        <pc:spChg chg="mod">
          <ac:chgData name="Todd Lines" userId="afaf7c3a-e8aa-4568-882a-02ad8f9e19b0" providerId="ADAL" clId="{5FF5AC1B-ABA9-43D7-A1E3-2D92732CD6E2}" dt="2026-08-26T18:43:07.553" v="3" actId="20577"/>
          <ac:spMkLst>
            <pc:docMk/>
            <pc:sldMk cId="3875607050" sldId="345"/>
            <ac:spMk id="2" creationId="{E1C3A048-6484-8EDE-428B-D7D2F7E8C037}"/>
          </ac:spMkLst>
        </pc:spChg>
      </pc:sldChg>
      <pc:sldChg chg="addSp modSp new mod">
        <pc:chgData name="Todd Lines" userId="afaf7c3a-e8aa-4568-882a-02ad8f9e19b0" providerId="ADAL" clId="{5FF5AC1B-ABA9-43D7-A1E3-2D92732CD6E2}" dt="2026-09-21T22:45:06.959" v="9" actId="1076"/>
        <pc:sldMkLst>
          <pc:docMk/>
          <pc:sldMk cId="3690086549" sldId="371"/>
        </pc:sldMkLst>
        <pc:picChg chg="add mod">
          <ac:chgData name="Todd Lines" userId="afaf7c3a-e8aa-4568-882a-02ad8f9e19b0" providerId="ADAL" clId="{5FF5AC1B-ABA9-43D7-A1E3-2D92732CD6E2}" dt="2026-09-21T22:45:06.959" v="9" actId="1076"/>
          <ac:picMkLst>
            <pc:docMk/>
            <pc:sldMk cId="3690086549" sldId="371"/>
            <ac:picMk id="4" creationId="{8705922C-80EF-38BF-C11D-D39AD60CCCC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081139-F0BA-49F9-93A6-6F626C1CF54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D20C94-1406-4988-8D1D-1073C327506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4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52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56525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842607B-54DC-48D1-A218-DA4A714D19E4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049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140B7-8B0E-44A6-9E20-D5135BF064F6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2269B-7283-4F48-9330-57B44A0E80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140B7-8B0E-44A6-9E20-D5135BF064F6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2269B-7283-4F48-9330-57B44A0E80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140B7-8B0E-44A6-9E20-D5135BF064F6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2269B-7283-4F48-9330-57B44A0E80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140B7-8B0E-44A6-9E20-D5135BF064F6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2269B-7283-4F48-9330-57B44A0E80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140B7-8B0E-44A6-9E20-D5135BF064F6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2269B-7283-4F48-9330-57B44A0E80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140B7-8B0E-44A6-9E20-D5135BF064F6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2269B-7283-4F48-9330-57B44A0E80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140B7-8B0E-44A6-9E20-D5135BF064F6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2269B-7283-4F48-9330-57B44A0E80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140B7-8B0E-44A6-9E20-D5135BF064F6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2269B-7283-4F48-9330-57B44A0E80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140B7-8B0E-44A6-9E20-D5135BF064F6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2269B-7283-4F48-9330-57B44A0E80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140B7-8B0E-44A6-9E20-D5135BF064F6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2269B-7283-4F48-9330-57B44A0E80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140B7-8B0E-44A6-9E20-D5135BF064F6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2269B-7283-4F48-9330-57B44A0E80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140B7-8B0E-44A6-9E20-D5135BF064F6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82269B-7283-4F48-9330-57B44A0E808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org&amp;utm_campaign=imageinfo&amp;utm_content=thumbnai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oC6ZAOiIfKo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3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image" Target="../media/image18.emf"/><Relationship Id="rId7" Type="http://schemas.openxmlformats.org/officeDocument/2006/relationships/image" Target="../media/image22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4" Type="http://schemas.openxmlformats.org/officeDocument/2006/relationships/image" Target="../media/image19.emf"/><Relationship Id="rId9" Type="http://schemas.openxmlformats.org/officeDocument/2006/relationships/image" Target="../media/image24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xoKNyUpnn20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emf"/><Relationship Id="rId5" Type="http://schemas.openxmlformats.org/officeDocument/2006/relationships/image" Target="../media/image32.emf"/><Relationship Id="rId4" Type="http://schemas.openxmlformats.org/officeDocument/2006/relationships/image" Target="../media/image31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gH-6JG0NeGg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Layout" Target="../slideLayouts/slideLayout2.xml"/><Relationship Id="rId1" Type="http://schemas.openxmlformats.org/officeDocument/2006/relationships/video" Target="file:///C:\Users\rtlines\Documents\BYU-I\Course_Materials\FDSCI206\Lecture%20Slides%203day\red_green_and_resultant_wave.avi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jpeg"/><Relationship Id="rId4" Type="http://schemas.openxmlformats.org/officeDocument/2006/relationships/image" Target="../media/image38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emf"/><Relationship Id="rId5" Type="http://schemas.openxmlformats.org/officeDocument/2006/relationships/image" Target="../media/image32.emf"/><Relationship Id="rId4" Type="http://schemas.openxmlformats.org/officeDocument/2006/relationships/image" Target="../media/image31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oC6ZAOiIfKo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xoKNyUpnn20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slideLayout" Target="../slideLayouts/slideLayout2.xml"/><Relationship Id="rId1" Type="http://schemas.openxmlformats.org/officeDocument/2006/relationships/video" Target="file:///C:\Users\rtlines\Documents\BYU-I\Course_Materials\FDSCI206\Lecture%20Slides%203day\reg_gree_purple_separate.avi" TargetMode="Externa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ik7IxJ52u7U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sGN_HO7_lUg" TargetMode="External"/><Relationship Id="rId4" Type="http://schemas.openxmlformats.org/officeDocument/2006/relationships/image" Target="../media/image43.jpe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image" Target="../media/image49.wmf"/><Relationship Id="rId7" Type="http://schemas.openxmlformats.org/officeDocument/2006/relationships/oleObject" Target="../embeddings/oleObject6.bin"/><Relationship Id="rId12" Type="http://schemas.openxmlformats.org/officeDocument/2006/relationships/image" Target="../media/image54.wmf"/><Relationship Id="rId2" Type="http://schemas.openxmlformats.org/officeDocument/2006/relationships/image" Target="../media/image48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0" Type="http://schemas.openxmlformats.org/officeDocument/2006/relationships/image" Target="../media/image53.wmf"/><Relationship Id="rId4" Type="http://schemas.openxmlformats.org/officeDocument/2006/relationships/image" Target="../media/image50.wmf"/><Relationship Id="rId9" Type="http://schemas.openxmlformats.org/officeDocument/2006/relationships/oleObject" Target="../embeddings/oleObject7.bin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image" Target="../media/image55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w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image" Target="../media/image57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54.wmf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emf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QX04ySm4TTk" TargetMode="Externa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emf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3A048-6484-8EDE-428B-D7D2F7E8C0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Lecture 5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FF576-B4FD-4AA6-5391-5A45FB1C8B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607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7494-7078-AAFC-9338-9250A519B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AD010-38A8-C441-2B4B-5EEF4EC2F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power delivered by a wave is proportional to 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The position of the end of the wave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The mass of the medium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The amplitude of the </a:t>
            </a:r>
            <a:r>
              <a:rPr lang="en-US"/>
              <a:t>wave squared</a:t>
            </a: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The period of the wave squared</a:t>
            </a:r>
          </a:p>
        </p:txBody>
      </p:sp>
    </p:spTree>
    <p:extLst>
      <p:ext uri="{BB962C8B-B14F-4D97-AF65-F5344CB8AC3E}">
        <p14:creationId xmlns:p14="http://schemas.microsoft.com/office/powerpoint/2010/main" val="3367812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8FD1B72-CCBE-CE40-E955-1FAE8C362531}"/>
              </a:ext>
            </a:extLst>
          </p:cNvPr>
          <p:cNvSpPr/>
          <p:nvPr/>
        </p:nvSpPr>
        <p:spPr>
          <a:xfrm>
            <a:off x="1898904" y="935734"/>
            <a:ext cx="149352" cy="361797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3C0366-ADBD-5FA5-A76A-CC6520D623DA}"/>
              </a:ext>
            </a:extLst>
          </p:cNvPr>
          <p:cNvSpPr/>
          <p:nvPr/>
        </p:nvSpPr>
        <p:spPr>
          <a:xfrm>
            <a:off x="1143000" y="1517904"/>
            <a:ext cx="2276856" cy="98755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EE0855-A788-A402-48A5-46F63F828A3E}"/>
              </a:ext>
            </a:extLst>
          </p:cNvPr>
          <p:cNvSpPr/>
          <p:nvPr/>
        </p:nvSpPr>
        <p:spPr>
          <a:xfrm>
            <a:off x="3419856" y="1975104"/>
            <a:ext cx="512064" cy="640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FE5A38-89EB-A82A-AB61-B6D8415A3953}"/>
              </a:ext>
            </a:extLst>
          </p:cNvPr>
          <p:cNvSpPr/>
          <p:nvPr/>
        </p:nvSpPr>
        <p:spPr>
          <a:xfrm>
            <a:off x="1143000" y="1972056"/>
            <a:ext cx="2276856" cy="457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7BAF4FB-DA6A-6AD6-F1CC-6144FB3A9559}"/>
              </a:ext>
            </a:extLst>
          </p:cNvPr>
          <p:cNvSpPr/>
          <p:nvPr/>
        </p:nvSpPr>
        <p:spPr>
          <a:xfrm>
            <a:off x="3841609" y="1454858"/>
            <a:ext cx="4095270" cy="1148411"/>
          </a:xfrm>
          <a:custGeom>
            <a:avLst/>
            <a:gdLst>
              <a:gd name="connsiteX0" fmla="*/ 0 w 5632704"/>
              <a:gd name="connsiteY0" fmla="*/ 2062670 h 4110927"/>
              <a:gd name="connsiteX1" fmla="*/ 841248 w 5632704"/>
              <a:gd name="connsiteY1" fmla="*/ 60134 h 4110927"/>
              <a:gd name="connsiteX2" fmla="*/ 2642616 w 5632704"/>
              <a:gd name="connsiteY2" fmla="*/ 4110926 h 4110927"/>
              <a:gd name="connsiteX3" fmla="*/ 4398264 w 5632704"/>
              <a:gd name="connsiteY3" fmla="*/ 41846 h 4110927"/>
              <a:gd name="connsiteX4" fmla="*/ 5632704 w 5632704"/>
              <a:gd name="connsiteY4" fmla="*/ 3205670 h 4110927"/>
              <a:gd name="connsiteX0" fmla="*/ 0 w 5632704"/>
              <a:gd name="connsiteY0" fmla="*/ 2030402 h 4078696"/>
              <a:gd name="connsiteX1" fmla="*/ 905256 w 5632704"/>
              <a:gd name="connsiteY1" fmla="*/ 91874 h 4078696"/>
              <a:gd name="connsiteX2" fmla="*/ 2642616 w 5632704"/>
              <a:gd name="connsiteY2" fmla="*/ 4078658 h 4078696"/>
              <a:gd name="connsiteX3" fmla="*/ 4398264 w 5632704"/>
              <a:gd name="connsiteY3" fmla="*/ 9578 h 4078696"/>
              <a:gd name="connsiteX4" fmla="*/ 5632704 w 5632704"/>
              <a:gd name="connsiteY4" fmla="*/ 3173402 h 4078696"/>
              <a:gd name="connsiteX0" fmla="*/ 0 w 5632704"/>
              <a:gd name="connsiteY0" fmla="*/ 2030402 h 4078692"/>
              <a:gd name="connsiteX1" fmla="*/ 905256 w 5632704"/>
              <a:gd name="connsiteY1" fmla="*/ 91874 h 4078692"/>
              <a:gd name="connsiteX2" fmla="*/ 2642616 w 5632704"/>
              <a:gd name="connsiteY2" fmla="*/ 4078658 h 4078692"/>
              <a:gd name="connsiteX3" fmla="*/ 4398264 w 5632704"/>
              <a:gd name="connsiteY3" fmla="*/ 9578 h 4078692"/>
              <a:gd name="connsiteX4" fmla="*/ 5632704 w 5632704"/>
              <a:gd name="connsiteY4" fmla="*/ 3173402 h 4078692"/>
              <a:gd name="connsiteX0" fmla="*/ 0 w 5632704"/>
              <a:gd name="connsiteY0" fmla="*/ 2030402 h 4078673"/>
              <a:gd name="connsiteX1" fmla="*/ 859536 w 5632704"/>
              <a:gd name="connsiteY1" fmla="*/ 64442 h 4078673"/>
              <a:gd name="connsiteX2" fmla="*/ 2642616 w 5632704"/>
              <a:gd name="connsiteY2" fmla="*/ 4078658 h 4078673"/>
              <a:gd name="connsiteX3" fmla="*/ 4398264 w 5632704"/>
              <a:gd name="connsiteY3" fmla="*/ 9578 h 4078673"/>
              <a:gd name="connsiteX4" fmla="*/ 5632704 w 5632704"/>
              <a:gd name="connsiteY4" fmla="*/ 3173402 h 4078673"/>
              <a:gd name="connsiteX0" fmla="*/ 0 w 5632704"/>
              <a:gd name="connsiteY0" fmla="*/ 2030402 h 4078673"/>
              <a:gd name="connsiteX1" fmla="*/ 859536 w 5632704"/>
              <a:gd name="connsiteY1" fmla="*/ 64442 h 4078673"/>
              <a:gd name="connsiteX2" fmla="*/ 2642616 w 5632704"/>
              <a:gd name="connsiteY2" fmla="*/ 4078658 h 4078673"/>
              <a:gd name="connsiteX3" fmla="*/ 4398264 w 5632704"/>
              <a:gd name="connsiteY3" fmla="*/ 9578 h 4078673"/>
              <a:gd name="connsiteX4" fmla="*/ 5632704 w 5632704"/>
              <a:gd name="connsiteY4" fmla="*/ 3173402 h 4078673"/>
              <a:gd name="connsiteX0" fmla="*/ 0 w 5632704"/>
              <a:gd name="connsiteY0" fmla="*/ 2030402 h 4078673"/>
              <a:gd name="connsiteX1" fmla="*/ 859536 w 5632704"/>
              <a:gd name="connsiteY1" fmla="*/ 64442 h 4078673"/>
              <a:gd name="connsiteX2" fmla="*/ 2642616 w 5632704"/>
              <a:gd name="connsiteY2" fmla="*/ 4078658 h 4078673"/>
              <a:gd name="connsiteX3" fmla="*/ 4398264 w 5632704"/>
              <a:gd name="connsiteY3" fmla="*/ 9578 h 4078673"/>
              <a:gd name="connsiteX4" fmla="*/ 5632704 w 5632704"/>
              <a:gd name="connsiteY4" fmla="*/ 3173402 h 4078673"/>
              <a:gd name="connsiteX0" fmla="*/ 0 w 5632704"/>
              <a:gd name="connsiteY0" fmla="*/ 2030402 h 4078673"/>
              <a:gd name="connsiteX1" fmla="*/ 859536 w 5632704"/>
              <a:gd name="connsiteY1" fmla="*/ 64442 h 4078673"/>
              <a:gd name="connsiteX2" fmla="*/ 2642616 w 5632704"/>
              <a:gd name="connsiteY2" fmla="*/ 4078658 h 4078673"/>
              <a:gd name="connsiteX3" fmla="*/ 4398264 w 5632704"/>
              <a:gd name="connsiteY3" fmla="*/ 9578 h 4078673"/>
              <a:gd name="connsiteX4" fmla="*/ 5632704 w 5632704"/>
              <a:gd name="connsiteY4" fmla="*/ 3173402 h 4078673"/>
              <a:gd name="connsiteX0" fmla="*/ 0 w 5632704"/>
              <a:gd name="connsiteY0" fmla="*/ 2030402 h 4078673"/>
              <a:gd name="connsiteX1" fmla="*/ 859536 w 5632704"/>
              <a:gd name="connsiteY1" fmla="*/ 64442 h 4078673"/>
              <a:gd name="connsiteX2" fmla="*/ 2642616 w 5632704"/>
              <a:gd name="connsiteY2" fmla="*/ 4078658 h 4078673"/>
              <a:gd name="connsiteX3" fmla="*/ 4398264 w 5632704"/>
              <a:gd name="connsiteY3" fmla="*/ 9578 h 4078673"/>
              <a:gd name="connsiteX4" fmla="*/ 5632704 w 5632704"/>
              <a:gd name="connsiteY4" fmla="*/ 3173402 h 4078673"/>
              <a:gd name="connsiteX0" fmla="*/ 0 w 5632704"/>
              <a:gd name="connsiteY0" fmla="*/ 2030402 h 4078673"/>
              <a:gd name="connsiteX1" fmla="*/ 859536 w 5632704"/>
              <a:gd name="connsiteY1" fmla="*/ 64442 h 4078673"/>
              <a:gd name="connsiteX2" fmla="*/ 2642616 w 5632704"/>
              <a:gd name="connsiteY2" fmla="*/ 4078658 h 4078673"/>
              <a:gd name="connsiteX3" fmla="*/ 4398264 w 5632704"/>
              <a:gd name="connsiteY3" fmla="*/ 9578 h 4078673"/>
              <a:gd name="connsiteX4" fmla="*/ 5632704 w 5632704"/>
              <a:gd name="connsiteY4" fmla="*/ 3173402 h 4078673"/>
              <a:gd name="connsiteX0" fmla="*/ 0 w 5632704"/>
              <a:gd name="connsiteY0" fmla="*/ 2030402 h 4078673"/>
              <a:gd name="connsiteX1" fmla="*/ 859536 w 5632704"/>
              <a:gd name="connsiteY1" fmla="*/ 64442 h 4078673"/>
              <a:gd name="connsiteX2" fmla="*/ 2642616 w 5632704"/>
              <a:gd name="connsiteY2" fmla="*/ 4078658 h 4078673"/>
              <a:gd name="connsiteX3" fmla="*/ 4398264 w 5632704"/>
              <a:gd name="connsiteY3" fmla="*/ 9578 h 4078673"/>
              <a:gd name="connsiteX4" fmla="*/ 5632704 w 5632704"/>
              <a:gd name="connsiteY4" fmla="*/ 3173402 h 4078673"/>
              <a:gd name="connsiteX0" fmla="*/ 0 w 5632704"/>
              <a:gd name="connsiteY0" fmla="*/ 2030402 h 4078673"/>
              <a:gd name="connsiteX1" fmla="*/ 859536 w 5632704"/>
              <a:gd name="connsiteY1" fmla="*/ 64442 h 4078673"/>
              <a:gd name="connsiteX2" fmla="*/ 2642616 w 5632704"/>
              <a:gd name="connsiteY2" fmla="*/ 4078658 h 4078673"/>
              <a:gd name="connsiteX3" fmla="*/ 4398264 w 5632704"/>
              <a:gd name="connsiteY3" fmla="*/ 9578 h 4078673"/>
              <a:gd name="connsiteX4" fmla="*/ 5632704 w 5632704"/>
              <a:gd name="connsiteY4" fmla="*/ 3173402 h 4078673"/>
              <a:gd name="connsiteX0" fmla="*/ 0 w 5632704"/>
              <a:gd name="connsiteY0" fmla="*/ 2030402 h 4078673"/>
              <a:gd name="connsiteX1" fmla="*/ 859536 w 5632704"/>
              <a:gd name="connsiteY1" fmla="*/ 64442 h 4078673"/>
              <a:gd name="connsiteX2" fmla="*/ 2642616 w 5632704"/>
              <a:gd name="connsiteY2" fmla="*/ 4078658 h 4078673"/>
              <a:gd name="connsiteX3" fmla="*/ 4398264 w 5632704"/>
              <a:gd name="connsiteY3" fmla="*/ 9578 h 4078673"/>
              <a:gd name="connsiteX4" fmla="*/ 5632704 w 5632704"/>
              <a:gd name="connsiteY4" fmla="*/ 3173402 h 4078673"/>
              <a:gd name="connsiteX0" fmla="*/ 0 w 5632704"/>
              <a:gd name="connsiteY0" fmla="*/ 2030402 h 4078906"/>
              <a:gd name="connsiteX1" fmla="*/ 859536 w 5632704"/>
              <a:gd name="connsiteY1" fmla="*/ 64442 h 4078906"/>
              <a:gd name="connsiteX2" fmla="*/ 2642616 w 5632704"/>
              <a:gd name="connsiteY2" fmla="*/ 4078658 h 4078906"/>
              <a:gd name="connsiteX3" fmla="*/ 4398264 w 5632704"/>
              <a:gd name="connsiteY3" fmla="*/ 9578 h 4078906"/>
              <a:gd name="connsiteX4" fmla="*/ 5632704 w 5632704"/>
              <a:gd name="connsiteY4" fmla="*/ 3173402 h 4078906"/>
              <a:gd name="connsiteX0" fmla="*/ 0 w 5632704"/>
              <a:gd name="connsiteY0" fmla="*/ 2030402 h 4078798"/>
              <a:gd name="connsiteX1" fmla="*/ 859536 w 5632704"/>
              <a:gd name="connsiteY1" fmla="*/ 64442 h 4078798"/>
              <a:gd name="connsiteX2" fmla="*/ 2642616 w 5632704"/>
              <a:gd name="connsiteY2" fmla="*/ 4078658 h 4078798"/>
              <a:gd name="connsiteX3" fmla="*/ 4398264 w 5632704"/>
              <a:gd name="connsiteY3" fmla="*/ 9578 h 4078798"/>
              <a:gd name="connsiteX4" fmla="*/ 5632704 w 5632704"/>
              <a:gd name="connsiteY4" fmla="*/ 3173402 h 4078798"/>
              <a:gd name="connsiteX0" fmla="*/ 0 w 5632704"/>
              <a:gd name="connsiteY0" fmla="*/ 2030402 h 4078798"/>
              <a:gd name="connsiteX1" fmla="*/ 859536 w 5632704"/>
              <a:gd name="connsiteY1" fmla="*/ 64442 h 4078798"/>
              <a:gd name="connsiteX2" fmla="*/ 2642616 w 5632704"/>
              <a:gd name="connsiteY2" fmla="*/ 4078658 h 4078798"/>
              <a:gd name="connsiteX3" fmla="*/ 4398264 w 5632704"/>
              <a:gd name="connsiteY3" fmla="*/ 9578 h 4078798"/>
              <a:gd name="connsiteX4" fmla="*/ 5632704 w 5632704"/>
              <a:gd name="connsiteY4" fmla="*/ 3173402 h 4078798"/>
              <a:gd name="connsiteX0" fmla="*/ 0 w 5632704"/>
              <a:gd name="connsiteY0" fmla="*/ 2030402 h 4078798"/>
              <a:gd name="connsiteX1" fmla="*/ 859536 w 5632704"/>
              <a:gd name="connsiteY1" fmla="*/ 64442 h 4078798"/>
              <a:gd name="connsiteX2" fmla="*/ 2642616 w 5632704"/>
              <a:gd name="connsiteY2" fmla="*/ 4078658 h 4078798"/>
              <a:gd name="connsiteX3" fmla="*/ 4398264 w 5632704"/>
              <a:gd name="connsiteY3" fmla="*/ 9578 h 4078798"/>
              <a:gd name="connsiteX4" fmla="*/ 5632704 w 5632704"/>
              <a:gd name="connsiteY4" fmla="*/ 3173402 h 4078798"/>
              <a:gd name="connsiteX0" fmla="*/ 0 w 5632704"/>
              <a:gd name="connsiteY0" fmla="*/ 2030402 h 4078798"/>
              <a:gd name="connsiteX1" fmla="*/ 859536 w 5632704"/>
              <a:gd name="connsiteY1" fmla="*/ 64442 h 4078798"/>
              <a:gd name="connsiteX2" fmla="*/ 2642616 w 5632704"/>
              <a:gd name="connsiteY2" fmla="*/ 4078658 h 4078798"/>
              <a:gd name="connsiteX3" fmla="*/ 4398264 w 5632704"/>
              <a:gd name="connsiteY3" fmla="*/ 9578 h 4078798"/>
              <a:gd name="connsiteX4" fmla="*/ 5632704 w 5632704"/>
              <a:gd name="connsiteY4" fmla="*/ 3173402 h 4078798"/>
              <a:gd name="connsiteX0" fmla="*/ 0 w 5632704"/>
              <a:gd name="connsiteY0" fmla="*/ 2030402 h 4078798"/>
              <a:gd name="connsiteX1" fmla="*/ 859536 w 5632704"/>
              <a:gd name="connsiteY1" fmla="*/ 64442 h 4078798"/>
              <a:gd name="connsiteX2" fmla="*/ 2642616 w 5632704"/>
              <a:gd name="connsiteY2" fmla="*/ 4078658 h 4078798"/>
              <a:gd name="connsiteX3" fmla="*/ 4398264 w 5632704"/>
              <a:gd name="connsiteY3" fmla="*/ 9578 h 4078798"/>
              <a:gd name="connsiteX4" fmla="*/ 5632704 w 5632704"/>
              <a:gd name="connsiteY4" fmla="*/ 3173402 h 4078798"/>
              <a:gd name="connsiteX0" fmla="*/ 0 w 5632704"/>
              <a:gd name="connsiteY0" fmla="*/ 2030402 h 4097085"/>
              <a:gd name="connsiteX1" fmla="*/ 859536 w 5632704"/>
              <a:gd name="connsiteY1" fmla="*/ 64442 h 4097085"/>
              <a:gd name="connsiteX2" fmla="*/ 2660904 w 5632704"/>
              <a:gd name="connsiteY2" fmla="*/ 4096946 h 4097085"/>
              <a:gd name="connsiteX3" fmla="*/ 4398264 w 5632704"/>
              <a:gd name="connsiteY3" fmla="*/ 9578 h 4097085"/>
              <a:gd name="connsiteX4" fmla="*/ 5632704 w 5632704"/>
              <a:gd name="connsiteY4" fmla="*/ 3173402 h 4097085"/>
              <a:gd name="connsiteX0" fmla="*/ 0 w 5632704"/>
              <a:gd name="connsiteY0" fmla="*/ 2030402 h 4097085"/>
              <a:gd name="connsiteX1" fmla="*/ 859536 w 5632704"/>
              <a:gd name="connsiteY1" fmla="*/ 64442 h 4097085"/>
              <a:gd name="connsiteX2" fmla="*/ 2660904 w 5632704"/>
              <a:gd name="connsiteY2" fmla="*/ 4096946 h 4097085"/>
              <a:gd name="connsiteX3" fmla="*/ 4398264 w 5632704"/>
              <a:gd name="connsiteY3" fmla="*/ 9578 h 4097085"/>
              <a:gd name="connsiteX4" fmla="*/ 5632704 w 5632704"/>
              <a:gd name="connsiteY4" fmla="*/ 3173402 h 4097085"/>
              <a:gd name="connsiteX0" fmla="*/ 0 w 5632704"/>
              <a:gd name="connsiteY0" fmla="*/ 1975837 h 4042520"/>
              <a:gd name="connsiteX1" fmla="*/ 859536 w 5632704"/>
              <a:gd name="connsiteY1" fmla="*/ 9877 h 4042520"/>
              <a:gd name="connsiteX2" fmla="*/ 2660904 w 5632704"/>
              <a:gd name="connsiteY2" fmla="*/ 4042381 h 4042520"/>
              <a:gd name="connsiteX3" fmla="*/ 4398264 w 5632704"/>
              <a:gd name="connsiteY3" fmla="*/ 9877 h 4042520"/>
              <a:gd name="connsiteX4" fmla="*/ 5632704 w 5632704"/>
              <a:gd name="connsiteY4" fmla="*/ 3118837 h 4042520"/>
              <a:gd name="connsiteX0" fmla="*/ 0 w 5632704"/>
              <a:gd name="connsiteY0" fmla="*/ 1975837 h 4042520"/>
              <a:gd name="connsiteX1" fmla="*/ 859536 w 5632704"/>
              <a:gd name="connsiteY1" fmla="*/ 9877 h 4042520"/>
              <a:gd name="connsiteX2" fmla="*/ 2660904 w 5632704"/>
              <a:gd name="connsiteY2" fmla="*/ 4042381 h 4042520"/>
              <a:gd name="connsiteX3" fmla="*/ 4398264 w 5632704"/>
              <a:gd name="connsiteY3" fmla="*/ 9877 h 4042520"/>
              <a:gd name="connsiteX4" fmla="*/ 5632704 w 5632704"/>
              <a:gd name="connsiteY4" fmla="*/ 3118837 h 4042520"/>
              <a:gd name="connsiteX0" fmla="*/ 0 w 5632704"/>
              <a:gd name="connsiteY0" fmla="*/ 1975837 h 4042520"/>
              <a:gd name="connsiteX1" fmla="*/ 859536 w 5632704"/>
              <a:gd name="connsiteY1" fmla="*/ 9877 h 4042520"/>
              <a:gd name="connsiteX2" fmla="*/ 2660904 w 5632704"/>
              <a:gd name="connsiteY2" fmla="*/ 4042381 h 4042520"/>
              <a:gd name="connsiteX3" fmla="*/ 4398264 w 5632704"/>
              <a:gd name="connsiteY3" fmla="*/ 9877 h 4042520"/>
              <a:gd name="connsiteX4" fmla="*/ 5632704 w 5632704"/>
              <a:gd name="connsiteY4" fmla="*/ 3118837 h 4042520"/>
              <a:gd name="connsiteX0" fmla="*/ 0 w 5632704"/>
              <a:gd name="connsiteY0" fmla="*/ 1967657 h 4034340"/>
              <a:gd name="connsiteX1" fmla="*/ 859536 w 5632704"/>
              <a:gd name="connsiteY1" fmla="*/ 1697 h 4034340"/>
              <a:gd name="connsiteX2" fmla="*/ 2660904 w 5632704"/>
              <a:gd name="connsiteY2" fmla="*/ 4034201 h 4034340"/>
              <a:gd name="connsiteX3" fmla="*/ 4398264 w 5632704"/>
              <a:gd name="connsiteY3" fmla="*/ 1697 h 4034340"/>
              <a:gd name="connsiteX4" fmla="*/ 5632704 w 5632704"/>
              <a:gd name="connsiteY4" fmla="*/ 3110657 h 4034340"/>
              <a:gd name="connsiteX0" fmla="*/ 0 w 5632704"/>
              <a:gd name="connsiteY0" fmla="*/ 1967648 h 4034331"/>
              <a:gd name="connsiteX1" fmla="*/ 859536 w 5632704"/>
              <a:gd name="connsiteY1" fmla="*/ 1688 h 4034331"/>
              <a:gd name="connsiteX2" fmla="*/ 2660904 w 5632704"/>
              <a:gd name="connsiteY2" fmla="*/ 4034192 h 4034331"/>
              <a:gd name="connsiteX3" fmla="*/ 4398264 w 5632704"/>
              <a:gd name="connsiteY3" fmla="*/ 1688 h 4034331"/>
              <a:gd name="connsiteX4" fmla="*/ 5632704 w 5632704"/>
              <a:gd name="connsiteY4" fmla="*/ 3110648 h 4034331"/>
              <a:gd name="csX0" fmla="*/ 0 w 5632704"/>
              <a:gd name="csY0" fmla="*/ 1967648 h 4034331"/>
              <a:gd name="csX1" fmla="*/ 859536 w 5632704"/>
              <a:gd name="csY1" fmla="*/ 1688 h 4034331"/>
              <a:gd name="csX2" fmla="*/ 2660904 w 5632704"/>
              <a:gd name="csY2" fmla="*/ 4034192 h 4034331"/>
              <a:gd name="csX3" fmla="*/ 4398264 w 5632704"/>
              <a:gd name="csY3" fmla="*/ 1688 h 4034331"/>
              <a:gd name="csX4" fmla="*/ 5632704 w 5632704"/>
              <a:gd name="csY4" fmla="*/ 3110648 h 4034331"/>
              <a:gd name="csX0" fmla="*/ 0 w 5949551"/>
              <a:gd name="csY0" fmla="*/ 2086622 h 4034331"/>
              <a:gd name="csX1" fmla="*/ 1176383 w 5949551"/>
              <a:gd name="csY1" fmla="*/ 1688 h 4034331"/>
              <a:gd name="csX2" fmla="*/ 2977751 w 5949551"/>
              <a:gd name="csY2" fmla="*/ 4034192 h 4034331"/>
              <a:gd name="csX3" fmla="*/ 4715111 w 5949551"/>
              <a:gd name="csY3" fmla="*/ 1688 h 4034331"/>
              <a:gd name="csX4" fmla="*/ 5949551 w 5949551"/>
              <a:gd name="csY4" fmla="*/ 3110648 h 4034331"/>
              <a:gd name="csX0" fmla="*/ 0 w 5949551"/>
              <a:gd name="csY0" fmla="*/ 2086622 h 4034331"/>
              <a:gd name="csX1" fmla="*/ 1176383 w 5949551"/>
              <a:gd name="csY1" fmla="*/ 1688 h 4034331"/>
              <a:gd name="csX2" fmla="*/ 2977751 w 5949551"/>
              <a:gd name="csY2" fmla="*/ 4034192 h 4034331"/>
              <a:gd name="csX3" fmla="*/ 4715111 w 5949551"/>
              <a:gd name="csY3" fmla="*/ 1688 h 4034331"/>
              <a:gd name="csX4" fmla="*/ 5949551 w 5949551"/>
              <a:gd name="csY4" fmla="*/ 3110648 h 4034331"/>
              <a:gd name="csX0" fmla="*/ 0 w 6049607"/>
              <a:gd name="csY0" fmla="*/ 1927991 h 4034331"/>
              <a:gd name="csX1" fmla="*/ 1276439 w 6049607"/>
              <a:gd name="csY1" fmla="*/ 1688 h 4034331"/>
              <a:gd name="csX2" fmla="*/ 3077807 w 6049607"/>
              <a:gd name="csY2" fmla="*/ 4034192 h 4034331"/>
              <a:gd name="csX3" fmla="*/ 4815167 w 6049607"/>
              <a:gd name="csY3" fmla="*/ 1688 h 4034331"/>
              <a:gd name="csX4" fmla="*/ 6049607 w 6049607"/>
              <a:gd name="csY4" fmla="*/ 3110648 h 4034331"/>
              <a:gd name="csX0" fmla="*/ 0 w 6049607"/>
              <a:gd name="csY0" fmla="*/ 1927991 h 4034331"/>
              <a:gd name="csX1" fmla="*/ 1276439 w 6049607"/>
              <a:gd name="csY1" fmla="*/ 1688 h 4034331"/>
              <a:gd name="csX2" fmla="*/ 3077807 w 6049607"/>
              <a:gd name="csY2" fmla="*/ 4034192 h 4034331"/>
              <a:gd name="csX3" fmla="*/ 4815167 w 6049607"/>
              <a:gd name="csY3" fmla="*/ 1688 h 4034331"/>
              <a:gd name="csX4" fmla="*/ 6049607 w 6049607"/>
              <a:gd name="csY4" fmla="*/ 3110648 h 4034331"/>
              <a:gd name="csX0" fmla="*/ 0 w 6049607"/>
              <a:gd name="csY0" fmla="*/ 1927991 h 4034331"/>
              <a:gd name="csX1" fmla="*/ 1276439 w 6049607"/>
              <a:gd name="csY1" fmla="*/ 1688 h 4034331"/>
              <a:gd name="csX2" fmla="*/ 3077807 w 6049607"/>
              <a:gd name="csY2" fmla="*/ 4034192 h 4034331"/>
              <a:gd name="csX3" fmla="*/ 4815167 w 6049607"/>
              <a:gd name="csY3" fmla="*/ 1688 h 4034331"/>
              <a:gd name="csX4" fmla="*/ 6049607 w 6049607"/>
              <a:gd name="csY4" fmla="*/ 3110648 h 4034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49607" h="4034331">
                <a:moveTo>
                  <a:pt x="0" y="1927991"/>
                </a:moveTo>
                <a:cubicBezTo>
                  <a:pt x="807193" y="2073877"/>
                  <a:pt x="720324" y="10866"/>
                  <a:pt x="1276439" y="1688"/>
                </a:cubicBezTo>
                <a:cubicBezTo>
                  <a:pt x="1954619" y="32168"/>
                  <a:pt x="2442299" y="4061624"/>
                  <a:pt x="3077807" y="4034192"/>
                </a:cubicBezTo>
                <a:cubicBezTo>
                  <a:pt x="3676739" y="4025048"/>
                  <a:pt x="4207091" y="115988"/>
                  <a:pt x="4815167" y="1688"/>
                </a:cubicBezTo>
                <a:cubicBezTo>
                  <a:pt x="5194643" y="-57748"/>
                  <a:pt x="5617553" y="1462442"/>
                  <a:pt x="6049607" y="3110648"/>
                </a:cubicBezTo>
              </a:path>
            </a:pathLst>
          </a:custGeom>
          <a:noFill/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ylinder 9">
            <a:extLst>
              <a:ext uri="{FF2B5EF4-FFF2-40B4-BE49-F238E27FC236}">
                <a16:creationId xmlns:a16="http://schemas.microsoft.com/office/drawing/2014/main" id="{72AF48F9-FB2B-4063-8E03-104E1C15DF2D}"/>
              </a:ext>
            </a:extLst>
          </p:cNvPr>
          <p:cNvSpPr/>
          <p:nvPr/>
        </p:nvSpPr>
        <p:spPr>
          <a:xfrm rot="2488798">
            <a:off x="4364311" y="1575406"/>
            <a:ext cx="74456" cy="188896"/>
          </a:xfrm>
          <a:prstGeom prst="can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585B40-CC23-8828-633D-7F296358D19A}"/>
              </a:ext>
            </a:extLst>
          </p:cNvPr>
          <p:cNvSpPr txBox="1"/>
          <p:nvPr/>
        </p:nvSpPr>
        <p:spPr>
          <a:xfrm>
            <a:off x="4303576" y="1636872"/>
            <a:ext cx="567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m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441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 223.4.5     123.22.1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A 60W light bulb is allowed to burn for 3600s. How much energy has been used?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36000J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72000J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144000J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216000J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5400000J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7B81-8888-4253-92EC-0AED2A590749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686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05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223.4.6   123.22.2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r>
              <a:rPr lang="en-US" dirty="0"/>
              <a:t>Suppose I do 50J of work in two hours, then I do 50J of work in one hour. For which set of work was the power larger?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The first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The second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They are the same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Neither amount of work had power associated with it.</a:t>
            </a:r>
          </a:p>
          <a:p>
            <a:pPr>
              <a:buFontTx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587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223.4.8  123.22.4</a:t>
            </a:r>
          </a:p>
        </p:txBody>
      </p:sp>
      <p:sp>
        <p:nvSpPr>
          <p:cNvPr id="6246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dirty="0"/>
              <a:t>If you cup your hand to your ear, you can hear better. This is because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You change the frequency of the sound with your hand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You increase the collection area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You increase the amplitude of the wave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Can’t tell</a:t>
            </a:r>
          </a:p>
          <a:p>
            <a:pPr marL="609600" indent="-609600" eaLnBrk="1" hangingPunct="1"/>
            <a:endParaRPr lang="en-US" dirty="0"/>
          </a:p>
        </p:txBody>
      </p:sp>
      <p:sp>
        <p:nvSpPr>
          <p:cNvPr id="624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03EBA7D-9A04-4522-9A2F-EC8F4813A80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656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924128" y="291829"/>
            <a:ext cx="6945548" cy="6313252"/>
            <a:chOff x="1056" y="1824"/>
            <a:chExt cx="1536" cy="1584"/>
          </a:xfrm>
        </p:grpSpPr>
        <p:sp>
          <p:nvSpPr>
            <p:cNvPr id="5131" name="Oval 6"/>
            <p:cNvSpPr>
              <a:spLocks noChangeArrowheads="1"/>
            </p:cNvSpPr>
            <p:nvPr/>
          </p:nvSpPr>
          <p:spPr bwMode="auto">
            <a:xfrm>
              <a:off x="1056" y="1824"/>
              <a:ext cx="1536" cy="1584"/>
            </a:xfrm>
            <a:prstGeom prst="ellipse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132" name="Oval 7"/>
            <p:cNvSpPr>
              <a:spLocks noChangeArrowheads="1"/>
            </p:cNvSpPr>
            <p:nvPr/>
          </p:nvSpPr>
          <p:spPr bwMode="auto">
            <a:xfrm>
              <a:off x="1224" y="1992"/>
              <a:ext cx="1200" cy="1248"/>
            </a:xfrm>
            <a:prstGeom prst="ellipse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3" name="Oval 8"/>
            <p:cNvSpPr>
              <a:spLocks noChangeArrowheads="1"/>
            </p:cNvSpPr>
            <p:nvPr/>
          </p:nvSpPr>
          <p:spPr bwMode="auto">
            <a:xfrm>
              <a:off x="1392" y="2136"/>
              <a:ext cx="864" cy="960"/>
            </a:xfrm>
            <a:prstGeom prst="ellipse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4" name="Oval 9"/>
            <p:cNvSpPr>
              <a:spLocks noChangeArrowheads="1"/>
            </p:cNvSpPr>
            <p:nvPr/>
          </p:nvSpPr>
          <p:spPr bwMode="auto">
            <a:xfrm>
              <a:off x="1512" y="2256"/>
              <a:ext cx="624" cy="720"/>
            </a:xfrm>
            <a:prstGeom prst="ellipse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5" name="Oval 10"/>
            <p:cNvSpPr>
              <a:spLocks noChangeArrowheads="1"/>
            </p:cNvSpPr>
            <p:nvPr/>
          </p:nvSpPr>
          <p:spPr bwMode="auto">
            <a:xfrm>
              <a:off x="1622" y="2400"/>
              <a:ext cx="400" cy="432"/>
            </a:xfrm>
            <a:prstGeom prst="ellipse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6" name="Oval 11"/>
            <p:cNvSpPr>
              <a:spLocks noChangeArrowheads="1"/>
            </p:cNvSpPr>
            <p:nvPr/>
          </p:nvSpPr>
          <p:spPr bwMode="auto">
            <a:xfrm>
              <a:off x="1738" y="2520"/>
              <a:ext cx="179" cy="192"/>
            </a:xfrm>
            <a:prstGeom prst="ellipse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7" name="Oval 12"/>
            <p:cNvSpPr>
              <a:spLocks noChangeArrowheads="1"/>
            </p:cNvSpPr>
            <p:nvPr/>
          </p:nvSpPr>
          <p:spPr bwMode="auto">
            <a:xfrm>
              <a:off x="1816" y="2599"/>
              <a:ext cx="26" cy="33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665807" y="3208274"/>
            <a:ext cx="1101841" cy="2876952"/>
            <a:chOff x="1255765" y="2207348"/>
            <a:chExt cx="1272743" cy="3815140"/>
          </a:xfrm>
          <a:solidFill>
            <a:schemeClr val="tx2">
              <a:lumMod val="50000"/>
            </a:schemeClr>
          </a:solidFill>
        </p:grpSpPr>
        <p:sp>
          <p:nvSpPr>
            <p:cNvPr id="20" name="Oval 12"/>
            <p:cNvSpPr>
              <a:spLocks noChangeArrowheads="1"/>
            </p:cNvSpPr>
            <p:nvPr/>
          </p:nvSpPr>
          <p:spPr bwMode="auto">
            <a:xfrm flipH="1">
              <a:off x="1681044" y="2865611"/>
              <a:ext cx="420688" cy="1400456"/>
            </a:xfrm>
            <a:prstGeom prst="ellipse">
              <a:avLst/>
            </a:prstGeom>
            <a:grpFill/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" name="Rectangle 14"/>
            <p:cNvSpPr>
              <a:spLocks noChangeArrowheads="1"/>
            </p:cNvSpPr>
            <p:nvPr/>
          </p:nvSpPr>
          <p:spPr bwMode="auto">
            <a:xfrm rot="10099660" flipH="1">
              <a:off x="2313352" y="3441501"/>
              <a:ext cx="169239" cy="704850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2" name="Rectangle 17"/>
            <p:cNvSpPr>
              <a:spLocks noChangeArrowheads="1"/>
            </p:cNvSpPr>
            <p:nvPr/>
          </p:nvSpPr>
          <p:spPr bwMode="auto">
            <a:xfrm flipH="1">
              <a:off x="1271541" y="5760992"/>
              <a:ext cx="448907" cy="205387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3" name="Oval 22"/>
            <p:cNvSpPr>
              <a:spLocks noChangeArrowheads="1"/>
            </p:cNvSpPr>
            <p:nvPr/>
          </p:nvSpPr>
          <p:spPr bwMode="auto">
            <a:xfrm flipH="1">
              <a:off x="1628646" y="2207348"/>
              <a:ext cx="496888" cy="692150"/>
            </a:xfrm>
            <a:prstGeom prst="ellipse">
              <a:avLst/>
            </a:prstGeom>
            <a:grpFill/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 rot="8649417" flipH="1">
              <a:off x="2100794" y="2904963"/>
              <a:ext cx="183140" cy="701857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5" name="Rectangle 15"/>
            <p:cNvSpPr>
              <a:spLocks noChangeArrowheads="1"/>
            </p:cNvSpPr>
            <p:nvPr/>
          </p:nvSpPr>
          <p:spPr bwMode="auto">
            <a:xfrm rot="20522501" flipH="1">
              <a:off x="1956616" y="3998171"/>
              <a:ext cx="239713" cy="1019175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6" name="Rectangle 15"/>
            <p:cNvSpPr>
              <a:spLocks noChangeArrowheads="1"/>
            </p:cNvSpPr>
            <p:nvPr/>
          </p:nvSpPr>
          <p:spPr bwMode="auto">
            <a:xfrm flipH="1">
              <a:off x="2108045" y="4871561"/>
              <a:ext cx="236538" cy="1150927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7" name="Rectangle 26"/>
            <p:cNvSpPr>
              <a:spLocks noChangeArrowheads="1"/>
            </p:cNvSpPr>
            <p:nvPr/>
          </p:nvSpPr>
          <p:spPr bwMode="auto">
            <a:xfrm rot="335058" flipH="1">
              <a:off x="2127532" y="5806095"/>
              <a:ext cx="360147" cy="192590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8" name="Rectangle 15"/>
            <p:cNvSpPr>
              <a:spLocks noChangeArrowheads="1"/>
            </p:cNvSpPr>
            <p:nvPr/>
          </p:nvSpPr>
          <p:spPr bwMode="auto">
            <a:xfrm rot="631007" flipH="1">
              <a:off x="1551643" y="3961764"/>
              <a:ext cx="241300" cy="1019175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9" name="Rectangle 15"/>
            <p:cNvSpPr>
              <a:spLocks noChangeArrowheads="1"/>
            </p:cNvSpPr>
            <p:nvPr/>
          </p:nvSpPr>
          <p:spPr bwMode="auto">
            <a:xfrm flipH="1">
              <a:off x="1504795" y="4791106"/>
              <a:ext cx="209037" cy="1189088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0" name="Rectangle 13"/>
            <p:cNvSpPr>
              <a:spLocks noChangeArrowheads="1"/>
            </p:cNvSpPr>
            <p:nvPr/>
          </p:nvSpPr>
          <p:spPr bwMode="auto">
            <a:xfrm rot="811954" flipH="1">
              <a:off x="2384593" y="4006620"/>
              <a:ext cx="143915" cy="300064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1" name="Rectangle 14"/>
            <p:cNvSpPr>
              <a:spLocks noChangeArrowheads="1"/>
            </p:cNvSpPr>
            <p:nvPr/>
          </p:nvSpPr>
          <p:spPr bwMode="auto">
            <a:xfrm rot="11244453" flipH="1">
              <a:off x="1319151" y="3460533"/>
              <a:ext cx="169239" cy="704850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2" name="Rectangle 31"/>
            <p:cNvSpPr>
              <a:spLocks noChangeArrowheads="1"/>
            </p:cNvSpPr>
            <p:nvPr/>
          </p:nvSpPr>
          <p:spPr bwMode="auto">
            <a:xfrm rot="12761612" flipH="1">
              <a:off x="1514614" y="2863204"/>
              <a:ext cx="183140" cy="701857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3" name="Rectangle 13"/>
            <p:cNvSpPr>
              <a:spLocks noChangeArrowheads="1"/>
            </p:cNvSpPr>
            <p:nvPr/>
          </p:nvSpPr>
          <p:spPr bwMode="auto">
            <a:xfrm rot="7497537" flipH="1">
              <a:off x="1303841" y="4035577"/>
              <a:ext cx="165219" cy="261372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35" name="Oval 34"/>
          <p:cNvSpPr/>
          <p:nvPr/>
        </p:nvSpPr>
        <p:spPr>
          <a:xfrm>
            <a:off x="4953029" y="4053306"/>
            <a:ext cx="513289" cy="711625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/>
          <p:cNvGrpSpPr/>
          <p:nvPr/>
        </p:nvGrpSpPr>
        <p:grpSpPr>
          <a:xfrm>
            <a:off x="5154083" y="3752559"/>
            <a:ext cx="121920" cy="753290"/>
            <a:chOff x="3770811" y="2873829"/>
            <a:chExt cx="448492" cy="2475098"/>
          </a:xfrm>
          <a:solidFill>
            <a:schemeClr val="bg1"/>
          </a:solidFill>
        </p:grpSpPr>
        <p:sp>
          <p:nvSpPr>
            <p:cNvPr id="37" name="Isosceles Triangle 36"/>
            <p:cNvSpPr/>
            <p:nvPr/>
          </p:nvSpPr>
          <p:spPr>
            <a:xfrm rot="10800000">
              <a:off x="3770811" y="2873829"/>
              <a:ext cx="435429" cy="33963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Isosceles Triangle 37"/>
            <p:cNvSpPr/>
            <p:nvPr/>
          </p:nvSpPr>
          <p:spPr>
            <a:xfrm rot="10800000" flipV="1">
              <a:off x="3775163" y="3200400"/>
              <a:ext cx="435429" cy="183315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Isosceles Triangle 38"/>
            <p:cNvSpPr/>
            <p:nvPr/>
          </p:nvSpPr>
          <p:spPr>
            <a:xfrm rot="10800000">
              <a:off x="3783874" y="5009292"/>
              <a:ext cx="435429" cy="33963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7366863" y="3127212"/>
            <a:ext cx="1101841" cy="2876952"/>
            <a:chOff x="1255765" y="2207348"/>
            <a:chExt cx="1272743" cy="3815140"/>
          </a:xfrm>
          <a:solidFill>
            <a:schemeClr val="tx2">
              <a:lumMod val="50000"/>
            </a:schemeClr>
          </a:solidFill>
        </p:grpSpPr>
        <p:sp>
          <p:nvSpPr>
            <p:cNvPr id="43" name="Oval 12"/>
            <p:cNvSpPr>
              <a:spLocks noChangeArrowheads="1"/>
            </p:cNvSpPr>
            <p:nvPr/>
          </p:nvSpPr>
          <p:spPr bwMode="auto">
            <a:xfrm flipH="1">
              <a:off x="1681044" y="2865611"/>
              <a:ext cx="420688" cy="1400456"/>
            </a:xfrm>
            <a:prstGeom prst="ellipse">
              <a:avLst/>
            </a:prstGeom>
            <a:grpFill/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4" name="Rectangle 14"/>
            <p:cNvSpPr>
              <a:spLocks noChangeArrowheads="1"/>
            </p:cNvSpPr>
            <p:nvPr/>
          </p:nvSpPr>
          <p:spPr bwMode="auto">
            <a:xfrm rot="10099660" flipH="1">
              <a:off x="2313352" y="3441501"/>
              <a:ext cx="169239" cy="704850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5" name="Rectangle 17"/>
            <p:cNvSpPr>
              <a:spLocks noChangeArrowheads="1"/>
            </p:cNvSpPr>
            <p:nvPr/>
          </p:nvSpPr>
          <p:spPr bwMode="auto">
            <a:xfrm flipH="1">
              <a:off x="1271541" y="5760992"/>
              <a:ext cx="448907" cy="205387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" name="Oval 45"/>
            <p:cNvSpPr>
              <a:spLocks noChangeArrowheads="1"/>
            </p:cNvSpPr>
            <p:nvPr/>
          </p:nvSpPr>
          <p:spPr bwMode="auto">
            <a:xfrm flipH="1">
              <a:off x="1628646" y="2207348"/>
              <a:ext cx="496888" cy="692150"/>
            </a:xfrm>
            <a:prstGeom prst="ellipse">
              <a:avLst/>
            </a:prstGeom>
            <a:grpFill/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 rot="8649417" flipH="1">
              <a:off x="2100794" y="2904963"/>
              <a:ext cx="183140" cy="701857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8" name="Rectangle 15"/>
            <p:cNvSpPr>
              <a:spLocks noChangeArrowheads="1"/>
            </p:cNvSpPr>
            <p:nvPr/>
          </p:nvSpPr>
          <p:spPr bwMode="auto">
            <a:xfrm rot="20522501" flipH="1">
              <a:off x="1956616" y="3998171"/>
              <a:ext cx="239713" cy="1019175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9" name="Rectangle 15"/>
            <p:cNvSpPr>
              <a:spLocks noChangeArrowheads="1"/>
            </p:cNvSpPr>
            <p:nvPr/>
          </p:nvSpPr>
          <p:spPr bwMode="auto">
            <a:xfrm flipH="1">
              <a:off x="2108045" y="4871561"/>
              <a:ext cx="236538" cy="1150927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0" name="Rectangle 49"/>
            <p:cNvSpPr>
              <a:spLocks noChangeArrowheads="1"/>
            </p:cNvSpPr>
            <p:nvPr/>
          </p:nvSpPr>
          <p:spPr bwMode="auto">
            <a:xfrm rot="335058" flipH="1">
              <a:off x="2127532" y="5806095"/>
              <a:ext cx="360147" cy="192590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1" name="Rectangle 15"/>
            <p:cNvSpPr>
              <a:spLocks noChangeArrowheads="1"/>
            </p:cNvSpPr>
            <p:nvPr/>
          </p:nvSpPr>
          <p:spPr bwMode="auto">
            <a:xfrm rot="631007" flipH="1">
              <a:off x="1551643" y="3961764"/>
              <a:ext cx="241300" cy="1019175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2" name="Rectangle 15"/>
            <p:cNvSpPr>
              <a:spLocks noChangeArrowheads="1"/>
            </p:cNvSpPr>
            <p:nvPr/>
          </p:nvSpPr>
          <p:spPr bwMode="auto">
            <a:xfrm flipH="1">
              <a:off x="1504795" y="4791106"/>
              <a:ext cx="209037" cy="1189088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3" name="Rectangle 13"/>
            <p:cNvSpPr>
              <a:spLocks noChangeArrowheads="1"/>
            </p:cNvSpPr>
            <p:nvPr/>
          </p:nvSpPr>
          <p:spPr bwMode="auto">
            <a:xfrm rot="811954" flipH="1">
              <a:off x="2384593" y="4006620"/>
              <a:ext cx="143915" cy="300064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4" name="Rectangle 14"/>
            <p:cNvSpPr>
              <a:spLocks noChangeArrowheads="1"/>
            </p:cNvSpPr>
            <p:nvPr/>
          </p:nvSpPr>
          <p:spPr bwMode="auto">
            <a:xfrm rot="11244453" flipH="1">
              <a:off x="1319151" y="3460533"/>
              <a:ext cx="169239" cy="704850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5" name="Rectangle 54"/>
            <p:cNvSpPr>
              <a:spLocks noChangeArrowheads="1"/>
            </p:cNvSpPr>
            <p:nvPr/>
          </p:nvSpPr>
          <p:spPr bwMode="auto">
            <a:xfrm rot="12761612" flipH="1">
              <a:off x="1514614" y="2863204"/>
              <a:ext cx="183140" cy="701857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6" name="Rectangle 13"/>
            <p:cNvSpPr>
              <a:spLocks noChangeArrowheads="1"/>
            </p:cNvSpPr>
            <p:nvPr/>
          </p:nvSpPr>
          <p:spPr bwMode="auto">
            <a:xfrm rot="7497537" flipH="1">
              <a:off x="1303841" y="4035577"/>
              <a:ext cx="165219" cy="261372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57" name="Oval 56"/>
          <p:cNvSpPr/>
          <p:nvPr/>
        </p:nvSpPr>
        <p:spPr>
          <a:xfrm>
            <a:off x="7654085" y="3972244"/>
            <a:ext cx="513289" cy="711625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/>
          <p:cNvGrpSpPr/>
          <p:nvPr/>
        </p:nvGrpSpPr>
        <p:grpSpPr>
          <a:xfrm>
            <a:off x="7855139" y="3671497"/>
            <a:ext cx="121920" cy="753290"/>
            <a:chOff x="3770811" y="2873829"/>
            <a:chExt cx="448492" cy="2475098"/>
          </a:xfrm>
          <a:solidFill>
            <a:schemeClr val="bg1"/>
          </a:solidFill>
        </p:grpSpPr>
        <p:sp>
          <p:nvSpPr>
            <p:cNvPr id="59" name="Isosceles Triangle 58"/>
            <p:cNvSpPr/>
            <p:nvPr/>
          </p:nvSpPr>
          <p:spPr>
            <a:xfrm rot="10800000">
              <a:off x="3770811" y="2873829"/>
              <a:ext cx="435429" cy="33963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Isosceles Triangle 59"/>
            <p:cNvSpPr/>
            <p:nvPr/>
          </p:nvSpPr>
          <p:spPr>
            <a:xfrm rot="10800000" flipV="1">
              <a:off x="3775163" y="3200400"/>
              <a:ext cx="435429" cy="183315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Isosceles Triangle 60"/>
            <p:cNvSpPr/>
            <p:nvPr/>
          </p:nvSpPr>
          <p:spPr>
            <a:xfrm rot="10800000">
              <a:off x="3783874" y="5009292"/>
              <a:ext cx="435429" cy="33963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4630366" y="6138153"/>
            <a:ext cx="1249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Professor 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21685" y="6096000"/>
            <a:ext cx="1241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Professor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6111" y="359923"/>
            <a:ext cx="61169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For which professor is the sound louder?</a:t>
            </a:r>
          </a:p>
        </p:txBody>
      </p:sp>
      <p:sp>
        <p:nvSpPr>
          <p:cNvPr id="65" name="Line 15"/>
          <p:cNvSpPr>
            <a:spLocks noChangeShapeType="1"/>
          </p:cNvSpPr>
          <p:nvPr/>
        </p:nvSpPr>
        <p:spPr bwMode="auto">
          <a:xfrm flipV="1">
            <a:off x="2334638" y="3563026"/>
            <a:ext cx="1987685" cy="181637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" name="Text Box 16"/>
          <p:cNvSpPr txBox="1">
            <a:spLocks noChangeArrowheads="1"/>
          </p:cNvSpPr>
          <p:nvPr/>
        </p:nvSpPr>
        <p:spPr bwMode="auto">
          <a:xfrm>
            <a:off x="979251" y="5228076"/>
            <a:ext cx="149225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Point Source</a:t>
            </a:r>
          </a:p>
        </p:txBody>
      </p:sp>
    </p:spTree>
    <p:extLst>
      <p:ext uri="{BB962C8B-B14F-4D97-AF65-F5344CB8AC3E}">
        <p14:creationId xmlns:p14="http://schemas.microsoft.com/office/powerpoint/2010/main" val="3457296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Intensity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3DAC785-4362-47EC-9CB8-3B72511717BB}"/>
              </a:ext>
            </a:extLst>
          </p:cNvPr>
          <p:cNvGrpSpPr/>
          <p:nvPr/>
        </p:nvGrpSpPr>
        <p:grpSpPr>
          <a:xfrm>
            <a:off x="2819400" y="1994725"/>
            <a:ext cx="3818906" cy="3372159"/>
            <a:chOff x="2819400" y="1994725"/>
            <a:chExt cx="3818906" cy="3372159"/>
          </a:xfrm>
        </p:grpSpPr>
        <p:sp>
          <p:nvSpPr>
            <p:cNvPr id="5131" name="Oval 6"/>
            <p:cNvSpPr>
              <a:spLocks noChangeArrowheads="1"/>
            </p:cNvSpPr>
            <p:nvPr/>
          </p:nvSpPr>
          <p:spPr bwMode="auto">
            <a:xfrm>
              <a:off x="4019795" y="1994725"/>
              <a:ext cx="2618511" cy="2514600"/>
            </a:xfrm>
            <a:prstGeom prst="ellipse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2" name="Oval 7"/>
            <p:cNvSpPr>
              <a:spLocks noChangeArrowheads="1"/>
            </p:cNvSpPr>
            <p:nvPr/>
          </p:nvSpPr>
          <p:spPr bwMode="auto">
            <a:xfrm>
              <a:off x="4279476" y="2273300"/>
              <a:ext cx="2109448" cy="1981200"/>
            </a:xfrm>
            <a:prstGeom prst="ellipse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3" name="Oval 8"/>
            <p:cNvSpPr>
              <a:spLocks noChangeArrowheads="1"/>
            </p:cNvSpPr>
            <p:nvPr/>
          </p:nvSpPr>
          <p:spPr bwMode="auto">
            <a:xfrm>
              <a:off x="4539156" y="2490025"/>
              <a:ext cx="1579789" cy="1524000"/>
            </a:xfrm>
            <a:prstGeom prst="ellipse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4" name="Oval 9"/>
            <p:cNvSpPr>
              <a:spLocks noChangeArrowheads="1"/>
            </p:cNvSpPr>
            <p:nvPr/>
          </p:nvSpPr>
          <p:spPr bwMode="auto">
            <a:xfrm>
              <a:off x="4758571" y="2680525"/>
              <a:ext cx="1140959" cy="1143000"/>
            </a:xfrm>
            <a:prstGeom prst="ellipse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5" name="Oval 10"/>
            <p:cNvSpPr>
              <a:spLocks noChangeArrowheads="1"/>
            </p:cNvSpPr>
            <p:nvPr/>
          </p:nvSpPr>
          <p:spPr bwMode="auto">
            <a:xfrm>
              <a:off x="4978937" y="2909125"/>
              <a:ext cx="700227" cy="685800"/>
            </a:xfrm>
            <a:prstGeom prst="ellipse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6" name="Oval 11"/>
            <p:cNvSpPr>
              <a:spLocks noChangeArrowheads="1"/>
            </p:cNvSpPr>
            <p:nvPr/>
          </p:nvSpPr>
          <p:spPr bwMode="auto">
            <a:xfrm>
              <a:off x="5172676" y="3099625"/>
              <a:ext cx="312748" cy="304800"/>
            </a:xfrm>
            <a:prstGeom prst="ellipse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7" name="Oval 12"/>
            <p:cNvSpPr>
              <a:spLocks noChangeArrowheads="1"/>
            </p:cNvSpPr>
            <p:nvPr/>
          </p:nvSpPr>
          <p:spPr bwMode="auto">
            <a:xfrm>
              <a:off x="5285167" y="3213925"/>
              <a:ext cx="87766" cy="76200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6" name="Freeform 13"/>
            <p:cNvSpPr>
              <a:spLocks/>
            </p:cNvSpPr>
            <p:nvPr/>
          </p:nvSpPr>
          <p:spPr bwMode="auto">
            <a:xfrm>
              <a:off x="3691247" y="3525652"/>
              <a:ext cx="304800" cy="914400"/>
            </a:xfrm>
            <a:custGeom>
              <a:avLst/>
              <a:gdLst>
                <a:gd name="T0" fmla="*/ 77 w 480"/>
                <a:gd name="T1" fmla="*/ 0 h 384"/>
                <a:gd name="T2" fmla="*/ 38 w 480"/>
                <a:gd name="T3" fmla="*/ 216 h 384"/>
                <a:gd name="T4" fmla="*/ 46 w 480"/>
                <a:gd name="T5" fmla="*/ 432 h 384"/>
                <a:gd name="T6" fmla="*/ 0 w 480"/>
                <a:gd name="T7" fmla="*/ 864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0"/>
                <a:gd name="T13" fmla="*/ 0 h 384"/>
                <a:gd name="T14" fmla="*/ 480 w 48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0" h="384">
                  <a:moveTo>
                    <a:pt x="480" y="0"/>
                  </a:moveTo>
                  <a:cubicBezTo>
                    <a:pt x="376" y="32"/>
                    <a:pt x="272" y="64"/>
                    <a:pt x="240" y="96"/>
                  </a:cubicBezTo>
                  <a:cubicBezTo>
                    <a:pt x="208" y="128"/>
                    <a:pt x="328" y="144"/>
                    <a:pt x="288" y="192"/>
                  </a:cubicBezTo>
                  <a:cubicBezTo>
                    <a:pt x="248" y="240"/>
                    <a:pt x="124" y="312"/>
                    <a:pt x="0" y="38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arrow" w="med" len="med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5122" name="Object 14"/>
            <p:cNvGraphicFramePr>
              <a:graphicFrameLocks noChangeAspect="1"/>
            </p:cNvGraphicFramePr>
            <p:nvPr/>
          </p:nvGraphicFramePr>
          <p:xfrm>
            <a:off x="2819400" y="4368800"/>
            <a:ext cx="1708150" cy="525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825480" imgH="253800" progId="Equation.3">
                    <p:embed/>
                  </p:oleObj>
                </mc:Choice>
                <mc:Fallback>
                  <p:oleObj name="Equation" r:id="rId2" imgW="825480" imgH="253800" progId="Equation.3">
                    <p:embed/>
                    <p:pic>
                      <p:nvPicPr>
                        <p:cNvPr id="5122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9400" y="4368800"/>
                          <a:ext cx="1708150" cy="5254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7" name="Line 15"/>
            <p:cNvSpPr>
              <a:spLocks noChangeShapeType="1"/>
            </p:cNvSpPr>
            <p:nvPr/>
          </p:nvSpPr>
          <p:spPr bwMode="auto">
            <a:xfrm flipV="1">
              <a:off x="4888675" y="3289466"/>
              <a:ext cx="419595" cy="17057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8" name="Text Box 16"/>
            <p:cNvSpPr txBox="1">
              <a:spLocks noChangeArrowheads="1"/>
            </p:cNvSpPr>
            <p:nvPr/>
          </p:nvSpPr>
          <p:spPr bwMode="auto">
            <a:xfrm>
              <a:off x="4154384" y="5000171"/>
              <a:ext cx="1492250" cy="36671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/>
                <a:t>Point Source</a:t>
              </a:r>
            </a:p>
          </p:txBody>
        </p:sp>
        <p:sp>
          <p:nvSpPr>
            <p:cNvPr id="5129" name="Line 17"/>
            <p:cNvSpPr>
              <a:spLocks noChangeShapeType="1"/>
            </p:cNvSpPr>
            <p:nvPr/>
          </p:nvSpPr>
          <p:spPr bwMode="auto">
            <a:xfrm flipV="1">
              <a:off x="5320145" y="2094673"/>
              <a:ext cx="494806" cy="11591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0" name="Text Box 18"/>
            <p:cNvSpPr txBox="1">
              <a:spLocks noChangeArrowheads="1"/>
            </p:cNvSpPr>
            <p:nvPr/>
          </p:nvSpPr>
          <p:spPr bwMode="auto">
            <a:xfrm>
              <a:off x="5374574" y="2199574"/>
              <a:ext cx="260350" cy="36671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/>
                <a:t>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4458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924128" y="291829"/>
            <a:ext cx="6945548" cy="6313252"/>
            <a:chOff x="1056" y="1824"/>
            <a:chExt cx="1536" cy="1584"/>
          </a:xfrm>
        </p:grpSpPr>
        <p:sp>
          <p:nvSpPr>
            <p:cNvPr id="5131" name="Oval 6"/>
            <p:cNvSpPr>
              <a:spLocks noChangeArrowheads="1"/>
            </p:cNvSpPr>
            <p:nvPr/>
          </p:nvSpPr>
          <p:spPr bwMode="auto">
            <a:xfrm>
              <a:off x="1056" y="1824"/>
              <a:ext cx="1536" cy="1584"/>
            </a:xfrm>
            <a:prstGeom prst="ellipse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132" name="Oval 7"/>
            <p:cNvSpPr>
              <a:spLocks noChangeArrowheads="1"/>
            </p:cNvSpPr>
            <p:nvPr/>
          </p:nvSpPr>
          <p:spPr bwMode="auto">
            <a:xfrm>
              <a:off x="1224" y="1992"/>
              <a:ext cx="1200" cy="1248"/>
            </a:xfrm>
            <a:prstGeom prst="ellipse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3" name="Oval 8"/>
            <p:cNvSpPr>
              <a:spLocks noChangeArrowheads="1"/>
            </p:cNvSpPr>
            <p:nvPr/>
          </p:nvSpPr>
          <p:spPr bwMode="auto">
            <a:xfrm>
              <a:off x="1392" y="2136"/>
              <a:ext cx="864" cy="960"/>
            </a:xfrm>
            <a:prstGeom prst="ellipse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4" name="Oval 9"/>
            <p:cNvSpPr>
              <a:spLocks noChangeArrowheads="1"/>
            </p:cNvSpPr>
            <p:nvPr/>
          </p:nvSpPr>
          <p:spPr bwMode="auto">
            <a:xfrm>
              <a:off x="1512" y="2256"/>
              <a:ext cx="624" cy="720"/>
            </a:xfrm>
            <a:prstGeom prst="ellipse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5" name="Oval 10"/>
            <p:cNvSpPr>
              <a:spLocks noChangeArrowheads="1"/>
            </p:cNvSpPr>
            <p:nvPr/>
          </p:nvSpPr>
          <p:spPr bwMode="auto">
            <a:xfrm>
              <a:off x="1622" y="2400"/>
              <a:ext cx="400" cy="432"/>
            </a:xfrm>
            <a:prstGeom prst="ellipse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6" name="Oval 11"/>
            <p:cNvSpPr>
              <a:spLocks noChangeArrowheads="1"/>
            </p:cNvSpPr>
            <p:nvPr/>
          </p:nvSpPr>
          <p:spPr bwMode="auto">
            <a:xfrm>
              <a:off x="1738" y="2520"/>
              <a:ext cx="179" cy="192"/>
            </a:xfrm>
            <a:prstGeom prst="ellipse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7" name="Oval 12"/>
            <p:cNvSpPr>
              <a:spLocks noChangeArrowheads="1"/>
            </p:cNvSpPr>
            <p:nvPr/>
          </p:nvSpPr>
          <p:spPr bwMode="auto">
            <a:xfrm>
              <a:off x="1816" y="2599"/>
              <a:ext cx="26" cy="33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665807" y="3208274"/>
            <a:ext cx="1101841" cy="2876952"/>
            <a:chOff x="1255765" y="2207348"/>
            <a:chExt cx="1272743" cy="3815140"/>
          </a:xfrm>
          <a:solidFill>
            <a:schemeClr val="tx2">
              <a:lumMod val="50000"/>
            </a:schemeClr>
          </a:solidFill>
        </p:grpSpPr>
        <p:sp>
          <p:nvSpPr>
            <p:cNvPr id="20" name="Oval 12"/>
            <p:cNvSpPr>
              <a:spLocks noChangeArrowheads="1"/>
            </p:cNvSpPr>
            <p:nvPr/>
          </p:nvSpPr>
          <p:spPr bwMode="auto">
            <a:xfrm flipH="1">
              <a:off x="1681044" y="2865611"/>
              <a:ext cx="420688" cy="1400456"/>
            </a:xfrm>
            <a:prstGeom prst="ellipse">
              <a:avLst/>
            </a:prstGeom>
            <a:grpFill/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" name="Rectangle 14"/>
            <p:cNvSpPr>
              <a:spLocks noChangeArrowheads="1"/>
            </p:cNvSpPr>
            <p:nvPr/>
          </p:nvSpPr>
          <p:spPr bwMode="auto">
            <a:xfrm rot="10099660" flipH="1">
              <a:off x="2313352" y="3441501"/>
              <a:ext cx="169239" cy="704850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2" name="Rectangle 17"/>
            <p:cNvSpPr>
              <a:spLocks noChangeArrowheads="1"/>
            </p:cNvSpPr>
            <p:nvPr/>
          </p:nvSpPr>
          <p:spPr bwMode="auto">
            <a:xfrm flipH="1">
              <a:off x="1271541" y="5760992"/>
              <a:ext cx="448907" cy="205387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3" name="Oval 22"/>
            <p:cNvSpPr>
              <a:spLocks noChangeArrowheads="1"/>
            </p:cNvSpPr>
            <p:nvPr/>
          </p:nvSpPr>
          <p:spPr bwMode="auto">
            <a:xfrm flipH="1">
              <a:off x="1628646" y="2207348"/>
              <a:ext cx="496888" cy="692150"/>
            </a:xfrm>
            <a:prstGeom prst="ellipse">
              <a:avLst/>
            </a:prstGeom>
            <a:grpFill/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 rot="8649417" flipH="1">
              <a:off x="2100794" y="2904963"/>
              <a:ext cx="183140" cy="701857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5" name="Rectangle 15"/>
            <p:cNvSpPr>
              <a:spLocks noChangeArrowheads="1"/>
            </p:cNvSpPr>
            <p:nvPr/>
          </p:nvSpPr>
          <p:spPr bwMode="auto">
            <a:xfrm rot="20522501" flipH="1">
              <a:off x="1956616" y="3998171"/>
              <a:ext cx="239713" cy="1019175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6" name="Rectangle 15"/>
            <p:cNvSpPr>
              <a:spLocks noChangeArrowheads="1"/>
            </p:cNvSpPr>
            <p:nvPr/>
          </p:nvSpPr>
          <p:spPr bwMode="auto">
            <a:xfrm flipH="1">
              <a:off x="2108045" y="4871561"/>
              <a:ext cx="236538" cy="1150927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7" name="Rectangle 26"/>
            <p:cNvSpPr>
              <a:spLocks noChangeArrowheads="1"/>
            </p:cNvSpPr>
            <p:nvPr/>
          </p:nvSpPr>
          <p:spPr bwMode="auto">
            <a:xfrm rot="335058" flipH="1">
              <a:off x="2127532" y="5806095"/>
              <a:ext cx="360147" cy="192590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8" name="Rectangle 15"/>
            <p:cNvSpPr>
              <a:spLocks noChangeArrowheads="1"/>
            </p:cNvSpPr>
            <p:nvPr/>
          </p:nvSpPr>
          <p:spPr bwMode="auto">
            <a:xfrm rot="631007" flipH="1">
              <a:off x="1551643" y="3961764"/>
              <a:ext cx="241300" cy="1019175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9" name="Rectangle 15"/>
            <p:cNvSpPr>
              <a:spLocks noChangeArrowheads="1"/>
            </p:cNvSpPr>
            <p:nvPr/>
          </p:nvSpPr>
          <p:spPr bwMode="auto">
            <a:xfrm flipH="1">
              <a:off x="1504795" y="4791106"/>
              <a:ext cx="209037" cy="1189088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0" name="Rectangle 13"/>
            <p:cNvSpPr>
              <a:spLocks noChangeArrowheads="1"/>
            </p:cNvSpPr>
            <p:nvPr/>
          </p:nvSpPr>
          <p:spPr bwMode="auto">
            <a:xfrm rot="811954" flipH="1">
              <a:off x="2384593" y="4006620"/>
              <a:ext cx="143915" cy="300064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1" name="Rectangle 14"/>
            <p:cNvSpPr>
              <a:spLocks noChangeArrowheads="1"/>
            </p:cNvSpPr>
            <p:nvPr/>
          </p:nvSpPr>
          <p:spPr bwMode="auto">
            <a:xfrm rot="11244453" flipH="1">
              <a:off x="1319151" y="3460533"/>
              <a:ext cx="169239" cy="704850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2" name="Rectangle 31"/>
            <p:cNvSpPr>
              <a:spLocks noChangeArrowheads="1"/>
            </p:cNvSpPr>
            <p:nvPr/>
          </p:nvSpPr>
          <p:spPr bwMode="auto">
            <a:xfrm rot="12761612" flipH="1">
              <a:off x="1514614" y="2863204"/>
              <a:ext cx="183140" cy="701857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3" name="Rectangle 13"/>
            <p:cNvSpPr>
              <a:spLocks noChangeArrowheads="1"/>
            </p:cNvSpPr>
            <p:nvPr/>
          </p:nvSpPr>
          <p:spPr bwMode="auto">
            <a:xfrm rot="7497537" flipH="1">
              <a:off x="1303841" y="4035577"/>
              <a:ext cx="165219" cy="261372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35" name="Oval 34"/>
          <p:cNvSpPr/>
          <p:nvPr/>
        </p:nvSpPr>
        <p:spPr>
          <a:xfrm>
            <a:off x="4953029" y="4053306"/>
            <a:ext cx="513289" cy="711625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/>
          <p:cNvGrpSpPr/>
          <p:nvPr/>
        </p:nvGrpSpPr>
        <p:grpSpPr>
          <a:xfrm>
            <a:off x="5154083" y="3752559"/>
            <a:ext cx="121920" cy="753290"/>
            <a:chOff x="3770811" y="2873829"/>
            <a:chExt cx="448492" cy="2475098"/>
          </a:xfrm>
          <a:solidFill>
            <a:schemeClr val="bg1"/>
          </a:solidFill>
        </p:grpSpPr>
        <p:sp>
          <p:nvSpPr>
            <p:cNvPr id="37" name="Isosceles Triangle 36"/>
            <p:cNvSpPr/>
            <p:nvPr/>
          </p:nvSpPr>
          <p:spPr>
            <a:xfrm rot="10800000">
              <a:off x="3770811" y="2873829"/>
              <a:ext cx="435429" cy="33963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Isosceles Triangle 37"/>
            <p:cNvSpPr/>
            <p:nvPr/>
          </p:nvSpPr>
          <p:spPr>
            <a:xfrm rot="10800000" flipV="1">
              <a:off x="3775163" y="3200400"/>
              <a:ext cx="435429" cy="183315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Isosceles Triangle 38"/>
            <p:cNvSpPr/>
            <p:nvPr/>
          </p:nvSpPr>
          <p:spPr>
            <a:xfrm rot="10800000">
              <a:off x="3783874" y="5009292"/>
              <a:ext cx="435429" cy="33963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7366863" y="3127212"/>
            <a:ext cx="1101841" cy="2876952"/>
            <a:chOff x="1255765" y="2207348"/>
            <a:chExt cx="1272743" cy="3815140"/>
          </a:xfrm>
          <a:solidFill>
            <a:schemeClr val="tx2">
              <a:lumMod val="50000"/>
            </a:schemeClr>
          </a:solidFill>
        </p:grpSpPr>
        <p:sp>
          <p:nvSpPr>
            <p:cNvPr id="43" name="Oval 12"/>
            <p:cNvSpPr>
              <a:spLocks noChangeArrowheads="1"/>
            </p:cNvSpPr>
            <p:nvPr/>
          </p:nvSpPr>
          <p:spPr bwMode="auto">
            <a:xfrm flipH="1">
              <a:off x="1681044" y="2865611"/>
              <a:ext cx="420688" cy="1400456"/>
            </a:xfrm>
            <a:prstGeom prst="ellipse">
              <a:avLst/>
            </a:prstGeom>
            <a:grpFill/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4" name="Rectangle 14"/>
            <p:cNvSpPr>
              <a:spLocks noChangeArrowheads="1"/>
            </p:cNvSpPr>
            <p:nvPr/>
          </p:nvSpPr>
          <p:spPr bwMode="auto">
            <a:xfrm rot="10099660" flipH="1">
              <a:off x="2313352" y="3441501"/>
              <a:ext cx="169239" cy="704850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5" name="Rectangle 17"/>
            <p:cNvSpPr>
              <a:spLocks noChangeArrowheads="1"/>
            </p:cNvSpPr>
            <p:nvPr/>
          </p:nvSpPr>
          <p:spPr bwMode="auto">
            <a:xfrm flipH="1">
              <a:off x="1271541" y="5760992"/>
              <a:ext cx="448907" cy="205387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" name="Oval 45"/>
            <p:cNvSpPr>
              <a:spLocks noChangeArrowheads="1"/>
            </p:cNvSpPr>
            <p:nvPr/>
          </p:nvSpPr>
          <p:spPr bwMode="auto">
            <a:xfrm flipH="1">
              <a:off x="1628646" y="2207348"/>
              <a:ext cx="496888" cy="692150"/>
            </a:xfrm>
            <a:prstGeom prst="ellipse">
              <a:avLst/>
            </a:prstGeom>
            <a:grpFill/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 rot="8649417" flipH="1">
              <a:off x="2100794" y="2904963"/>
              <a:ext cx="183140" cy="701857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8" name="Rectangle 15"/>
            <p:cNvSpPr>
              <a:spLocks noChangeArrowheads="1"/>
            </p:cNvSpPr>
            <p:nvPr/>
          </p:nvSpPr>
          <p:spPr bwMode="auto">
            <a:xfrm rot="20522501" flipH="1">
              <a:off x="1956616" y="3998171"/>
              <a:ext cx="239713" cy="1019175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9" name="Rectangle 15"/>
            <p:cNvSpPr>
              <a:spLocks noChangeArrowheads="1"/>
            </p:cNvSpPr>
            <p:nvPr/>
          </p:nvSpPr>
          <p:spPr bwMode="auto">
            <a:xfrm flipH="1">
              <a:off x="2108045" y="4871561"/>
              <a:ext cx="236538" cy="1150927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0" name="Rectangle 49"/>
            <p:cNvSpPr>
              <a:spLocks noChangeArrowheads="1"/>
            </p:cNvSpPr>
            <p:nvPr/>
          </p:nvSpPr>
          <p:spPr bwMode="auto">
            <a:xfrm rot="335058" flipH="1">
              <a:off x="2127532" y="5806095"/>
              <a:ext cx="360147" cy="192590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1" name="Rectangle 15"/>
            <p:cNvSpPr>
              <a:spLocks noChangeArrowheads="1"/>
            </p:cNvSpPr>
            <p:nvPr/>
          </p:nvSpPr>
          <p:spPr bwMode="auto">
            <a:xfrm rot="631007" flipH="1">
              <a:off x="1551643" y="3961764"/>
              <a:ext cx="241300" cy="1019175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2" name="Rectangle 15"/>
            <p:cNvSpPr>
              <a:spLocks noChangeArrowheads="1"/>
            </p:cNvSpPr>
            <p:nvPr/>
          </p:nvSpPr>
          <p:spPr bwMode="auto">
            <a:xfrm flipH="1">
              <a:off x="1504795" y="4791106"/>
              <a:ext cx="209037" cy="1189088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3" name="Rectangle 13"/>
            <p:cNvSpPr>
              <a:spLocks noChangeArrowheads="1"/>
            </p:cNvSpPr>
            <p:nvPr/>
          </p:nvSpPr>
          <p:spPr bwMode="auto">
            <a:xfrm rot="811954" flipH="1">
              <a:off x="2384593" y="4006620"/>
              <a:ext cx="143915" cy="300064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4" name="Rectangle 14"/>
            <p:cNvSpPr>
              <a:spLocks noChangeArrowheads="1"/>
            </p:cNvSpPr>
            <p:nvPr/>
          </p:nvSpPr>
          <p:spPr bwMode="auto">
            <a:xfrm rot="11244453" flipH="1">
              <a:off x="1319151" y="3460533"/>
              <a:ext cx="169239" cy="704850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5" name="Rectangle 54"/>
            <p:cNvSpPr>
              <a:spLocks noChangeArrowheads="1"/>
            </p:cNvSpPr>
            <p:nvPr/>
          </p:nvSpPr>
          <p:spPr bwMode="auto">
            <a:xfrm rot="12761612" flipH="1">
              <a:off x="1514614" y="2863204"/>
              <a:ext cx="183140" cy="701857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6" name="Rectangle 13"/>
            <p:cNvSpPr>
              <a:spLocks noChangeArrowheads="1"/>
            </p:cNvSpPr>
            <p:nvPr/>
          </p:nvSpPr>
          <p:spPr bwMode="auto">
            <a:xfrm rot="7497537" flipH="1">
              <a:off x="1303841" y="4035577"/>
              <a:ext cx="165219" cy="261372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57" name="Oval 56"/>
          <p:cNvSpPr/>
          <p:nvPr/>
        </p:nvSpPr>
        <p:spPr>
          <a:xfrm>
            <a:off x="7654085" y="3972244"/>
            <a:ext cx="513289" cy="711625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/>
          <p:cNvGrpSpPr/>
          <p:nvPr/>
        </p:nvGrpSpPr>
        <p:grpSpPr>
          <a:xfrm>
            <a:off x="7855139" y="3671497"/>
            <a:ext cx="121920" cy="753290"/>
            <a:chOff x="3770811" y="2873829"/>
            <a:chExt cx="448492" cy="2475098"/>
          </a:xfrm>
          <a:solidFill>
            <a:schemeClr val="bg1"/>
          </a:solidFill>
        </p:grpSpPr>
        <p:sp>
          <p:nvSpPr>
            <p:cNvPr id="59" name="Isosceles Triangle 58"/>
            <p:cNvSpPr/>
            <p:nvPr/>
          </p:nvSpPr>
          <p:spPr>
            <a:xfrm rot="10800000">
              <a:off x="3770811" y="2873829"/>
              <a:ext cx="435429" cy="33963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Isosceles Triangle 59"/>
            <p:cNvSpPr/>
            <p:nvPr/>
          </p:nvSpPr>
          <p:spPr>
            <a:xfrm rot="10800000" flipV="1">
              <a:off x="3775163" y="3200400"/>
              <a:ext cx="435429" cy="183315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Isosceles Triangle 60"/>
            <p:cNvSpPr/>
            <p:nvPr/>
          </p:nvSpPr>
          <p:spPr>
            <a:xfrm rot="10800000">
              <a:off x="3783874" y="5009292"/>
              <a:ext cx="435429" cy="33963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4630366" y="6138153"/>
            <a:ext cx="1249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Professor 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21685" y="6096000"/>
            <a:ext cx="1241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Professor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6111" y="359923"/>
            <a:ext cx="61169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For which professor is the sound louder?</a:t>
            </a:r>
          </a:p>
        </p:txBody>
      </p:sp>
      <p:sp>
        <p:nvSpPr>
          <p:cNvPr id="65" name="Line 15"/>
          <p:cNvSpPr>
            <a:spLocks noChangeShapeType="1"/>
          </p:cNvSpPr>
          <p:nvPr/>
        </p:nvSpPr>
        <p:spPr bwMode="auto">
          <a:xfrm flipV="1">
            <a:off x="2334638" y="3563026"/>
            <a:ext cx="1987685" cy="181637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" name="Text Box 16"/>
          <p:cNvSpPr txBox="1">
            <a:spLocks noChangeArrowheads="1"/>
          </p:cNvSpPr>
          <p:nvPr/>
        </p:nvSpPr>
        <p:spPr bwMode="auto">
          <a:xfrm>
            <a:off x="979251" y="5228076"/>
            <a:ext cx="149225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Point Source</a:t>
            </a:r>
          </a:p>
        </p:txBody>
      </p:sp>
    </p:spTree>
    <p:extLst>
      <p:ext uri="{BB962C8B-B14F-4D97-AF65-F5344CB8AC3E}">
        <p14:creationId xmlns:p14="http://schemas.microsoft.com/office/powerpoint/2010/main" val="3276883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Question 223.4.7   123.22.3</a:t>
            </a:r>
          </a:p>
        </p:txBody>
      </p:sp>
      <p:sp>
        <p:nvSpPr>
          <p:cNvPr id="6349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dirty="0"/>
              <a:t>Tuning Fork: Which tuning fork is louder, the 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mounted one 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free one</a:t>
            </a:r>
          </a:p>
          <a:p>
            <a:pPr marL="609600" indent="-609600" eaLnBrk="1" hangingPunct="1"/>
            <a:endParaRPr lang="en-US" dirty="0"/>
          </a:p>
        </p:txBody>
      </p:sp>
      <p:sp>
        <p:nvSpPr>
          <p:cNvPr id="634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7EC24E5-89AC-43BC-95C0-434346ACF2A9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431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163638" y="1122363"/>
            <a:ext cx="6262687" cy="4262437"/>
            <a:chOff x="1163783" y="1122218"/>
            <a:chExt cx="6262252" cy="4262460"/>
          </a:xfrm>
        </p:grpSpPr>
        <p:pic>
          <p:nvPicPr>
            <p:cNvPr id="540674" name="Picture 1"/>
            <p:cNvPicPr>
              <a:picLocks noChangeAspect="1" noChangeArrowheads="1"/>
            </p:cNvPicPr>
            <p:nvPr/>
          </p:nvPicPr>
          <p:blipFill>
            <a:blip r:embed="rId2" cstate="print"/>
            <a:srcRect l="20950" b="11513"/>
            <a:stretch>
              <a:fillRect/>
            </a:stretch>
          </p:blipFill>
          <p:spPr bwMode="auto">
            <a:xfrm>
              <a:off x="2355273" y="1122218"/>
              <a:ext cx="5070762" cy="37268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40675" name="TextBox 3"/>
            <p:cNvSpPr txBox="1">
              <a:spLocks noChangeArrowheads="1"/>
            </p:cNvSpPr>
            <p:nvPr/>
          </p:nvSpPr>
          <p:spPr bwMode="auto">
            <a:xfrm>
              <a:off x="1163783" y="2549235"/>
              <a:ext cx="1122218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/>
                <a:t>Intensity in W/m</a:t>
              </a:r>
              <a:r>
                <a:rPr lang="en-US" baseline="30000"/>
                <a:t>2</a:t>
              </a:r>
              <a:r>
                <a:rPr lang="en-US"/>
                <a:t> </a:t>
              </a:r>
            </a:p>
          </p:txBody>
        </p:sp>
        <p:sp>
          <p:nvSpPr>
            <p:cNvPr id="540676" name="TextBox 4"/>
            <p:cNvSpPr txBox="1">
              <a:spLocks noChangeArrowheads="1"/>
            </p:cNvSpPr>
            <p:nvPr/>
          </p:nvSpPr>
          <p:spPr bwMode="auto">
            <a:xfrm>
              <a:off x="4308764" y="5015346"/>
              <a:ext cx="192206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Distance in meters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6567258" y="4697287"/>
              <a:ext cx="290492" cy="3873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42273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514" name="Title 6"/>
          <p:cNvSpPr>
            <a:spLocks noGrp="1"/>
          </p:cNvSpPr>
          <p:nvPr>
            <p:ph type="title"/>
          </p:nvPr>
        </p:nvSpPr>
        <p:spPr>
          <a:xfrm>
            <a:off x="457201" y="274638"/>
            <a:ext cx="4480560" cy="11430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Question 223.4.9</a:t>
            </a:r>
          </a:p>
        </p:txBody>
      </p:sp>
      <p:sp>
        <p:nvSpPr>
          <p:cNvPr id="64516" name="Content Placeholder 7"/>
          <p:cNvSpPr>
            <a:spLocks noGrp="1"/>
          </p:cNvSpPr>
          <p:nvPr>
            <p:ph sz="half" idx="2"/>
          </p:nvPr>
        </p:nvSpPr>
        <p:spPr>
          <a:xfrm>
            <a:off x="524435" y="1210234"/>
            <a:ext cx="4450977" cy="5338483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sz="1800" dirty="0">
                <a:solidFill>
                  <a:schemeClr val="bg1"/>
                </a:solidFill>
              </a:rPr>
              <a:t>The Pioneer 10 spacecraft has a large dish antenna, the Earth Observation System spacecraft has a much smaller antenna. Why?</a:t>
            </a:r>
          </a:p>
          <a:p>
            <a:pPr>
              <a:buFontTx/>
              <a:buAutoNum type="alphaUcPeriod"/>
            </a:pPr>
            <a:r>
              <a:rPr lang="en-US" sz="1800" dirty="0">
                <a:solidFill>
                  <a:schemeClr val="bg1"/>
                </a:solidFill>
              </a:rPr>
              <a:t>Pioneer 10 is really smaller, it just looks like it is big in the picture.</a:t>
            </a:r>
          </a:p>
          <a:p>
            <a:pPr>
              <a:buFontTx/>
              <a:buAutoNum type="alphaUcPeriod"/>
            </a:pPr>
            <a:r>
              <a:rPr lang="en-US" sz="1800" dirty="0">
                <a:solidFill>
                  <a:schemeClr val="bg1"/>
                </a:solidFill>
              </a:rPr>
              <a:t>The intensity of the communication signal goes down with the square of the distance. Pioneer 10 must be designed to work farther away.</a:t>
            </a:r>
          </a:p>
          <a:p>
            <a:pPr>
              <a:buFontTx/>
              <a:buAutoNum type="alphaUcPeriod"/>
            </a:pPr>
            <a:r>
              <a:rPr lang="en-US" sz="1800" dirty="0">
                <a:solidFill>
                  <a:schemeClr val="bg1"/>
                </a:solidFill>
              </a:rPr>
              <a:t>The EOS satellite probably does not need to communicate as much as the Pioneer 10 spacecraft.</a:t>
            </a:r>
          </a:p>
          <a:p>
            <a:pPr>
              <a:buFontTx/>
              <a:buAutoNum type="alphaUcPeriod"/>
            </a:pPr>
            <a:r>
              <a:rPr lang="en-US" sz="1800" dirty="0">
                <a:solidFill>
                  <a:schemeClr val="bg1"/>
                </a:solidFill>
              </a:rPr>
              <a:t>The Pioneer 10 spacecraft must have a wimpy transceiver.</a:t>
            </a:r>
          </a:p>
          <a:p>
            <a:pPr>
              <a:buFontTx/>
              <a:buAutoNum type="alphaUcPeriod"/>
            </a:pPr>
            <a:r>
              <a:rPr lang="en-US" sz="1800" dirty="0">
                <a:solidFill>
                  <a:schemeClr val="bg1"/>
                </a:solidFill>
              </a:rPr>
              <a:t>No good reason, they have artists design the look of these things so they look far out and cool</a:t>
            </a:r>
          </a:p>
        </p:txBody>
      </p:sp>
      <p:sp>
        <p:nvSpPr>
          <p:cNvPr id="6451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B5A48A1-FA10-4297-9A45-A4DF9393E8E1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8396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56487" y="3886087"/>
            <a:ext cx="2482044" cy="24413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39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13495" y="582305"/>
            <a:ext cx="2367887" cy="3157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484660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21" name="Title 1"/>
          <p:cNvSpPr>
            <a:spLocks noGrp="1"/>
          </p:cNvSpPr>
          <p:nvPr>
            <p:ph type="title"/>
          </p:nvPr>
        </p:nvSpPr>
        <p:spPr>
          <a:xfrm>
            <a:off x="4616450" y="90488"/>
            <a:ext cx="4305300" cy="914400"/>
          </a:xfrm>
        </p:spPr>
        <p:txBody>
          <a:bodyPr/>
          <a:lstStyle/>
          <a:p>
            <a:r>
              <a:rPr lang="en-US"/>
              <a:t>Intensity</a:t>
            </a:r>
          </a:p>
        </p:txBody>
      </p:sp>
      <p:grpSp>
        <p:nvGrpSpPr>
          <p:cNvPr id="2" name="Group 76"/>
          <p:cNvGrpSpPr>
            <a:grpSpLocks/>
          </p:cNvGrpSpPr>
          <p:nvPr/>
        </p:nvGrpSpPr>
        <p:grpSpPr bwMode="auto">
          <a:xfrm>
            <a:off x="461963" y="682625"/>
            <a:ext cx="5638800" cy="5486400"/>
            <a:chOff x="1676400" y="1371600"/>
            <a:chExt cx="5638800" cy="5486400"/>
          </a:xfrm>
        </p:grpSpPr>
        <p:sp>
          <p:nvSpPr>
            <p:cNvPr id="6" name="Oval 5"/>
            <p:cNvSpPr/>
            <p:nvPr/>
          </p:nvSpPr>
          <p:spPr>
            <a:xfrm>
              <a:off x="1828800" y="1371600"/>
              <a:ext cx="5486400" cy="5486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4" name="Arc 53"/>
            <p:cNvSpPr/>
            <p:nvPr/>
          </p:nvSpPr>
          <p:spPr>
            <a:xfrm>
              <a:off x="1676400" y="1371600"/>
              <a:ext cx="5638800" cy="5486400"/>
            </a:xfrm>
            <a:prstGeom prst="arc">
              <a:avLst>
                <a:gd name="adj1" fmla="val 19422644"/>
                <a:gd name="adj2" fmla="val 2217654"/>
              </a:avLst>
            </a:prstGeom>
            <a:solidFill>
              <a:schemeClr val="accent1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" name="Oval 3"/>
            <p:cNvSpPr/>
            <p:nvPr/>
          </p:nvSpPr>
          <p:spPr>
            <a:xfrm>
              <a:off x="2743200" y="2247900"/>
              <a:ext cx="3657600" cy="3733800"/>
            </a:xfrm>
            <a:prstGeom prst="ellipse">
              <a:avLst/>
            </a:prstGeom>
            <a:solidFill>
              <a:schemeClr val="accent1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cxnSp>
          <p:nvCxnSpPr>
            <p:cNvPr id="15" name="Straight Connector 14"/>
            <p:cNvCxnSpPr>
              <a:endCxn id="34" idx="0"/>
            </p:cNvCxnSpPr>
            <p:nvPr/>
          </p:nvCxnSpPr>
          <p:spPr>
            <a:xfrm flipV="1">
              <a:off x="4572000" y="2438400"/>
              <a:ext cx="2171700" cy="1676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>
              <a:endCxn id="34" idx="4"/>
            </p:cNvCxnSpPr>
            <p:nvPr/>
          </p:nvCxnSpPr>
          <p:spPr>
            <a:xfrm>
              <a:off x="4572000" y="4114800"/>
              <a:ext cx="2171700" cy="1676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ectangle 55"/>
            <p:cNvSpPr/>
            <p:nvPr/>
          </p:nvSpPr>
          <p:spPr>
            <a:xfrm>
              <a:off x="6019800" y="2362200"/>
              <a:ext cx="685800" cy="34480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4" name="Oval 33"/>
            <p:cNvSpPr/>
            <p:nvPr/>
          </p:nvSpPr>
          <p:spPr>
            <a:xfrm>
              <a:off x="6629400" y="2438400"/>
              <a:ext cx="228600" cy="3352800"/>
            </a:xfrm>
            <a:prstGeom prst="ellipse">
              <a:avLst/>
            </a:prstGeom>
            <a:solidFill>
              <a:schemeClr val="accent1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5" name="Arc 54"/>
            <p:cNvSpPr/>
            <p:nvPr/>
          </p:nvSpPr>
          <p:spPr>
            <a:xfrm>
              <a:off x="2743200" y="2252663"/>
              <a:ext cx="3657600" cy="3690937"/>
            </a:xfrm>
            <a:prstGeom prst="arc">
              <a:avLst>
                <a:gd name="adj1" fmla="val 19331133"/>
                <a:gd name="adj2" fmla="val 2328634"/>
              </a:avLst>
            </a:prstGeom>
            <a:solidFill>
              <a:schemeClr val="accent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5257800" y="2971800"/>
              <a:ext cx="762000" cy="2286000"/>
            </a:xfrm>
            <a:prstGeom prst="rect">
              <a:avLst/>
            </a:prstGeom>
            <a:solidFill>
              <a:schemeClr val="accent1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3657600" y="3124200"/>
              <a:ext cx="1828800" cy="198120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0" name="Arc 59"/>
            <p:cNvSpPr/>
            <p:nvPr/>
          </p:nvSpPr>
          <p:spPr>
            <a:xfrm>
              <a:off x="3581400" y="3124200"/>
              <a:ext cx="1905000" cy="1981200"/>
            </a:xfrm>
            <a:prstGeom prst="arc">
              <a:avLst>
                <a:gd name="adj1" fmla="val 19422644"/>
                <a:gd name="adj2" fmla="val 2125500"/>
              </a:avLst>
            </a:prstGeom>
            <a:solidFill>
              <a:srgbClr val="32757A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600" b="1" dirty="0"/>
            </a:p>
          </p:txBody>
        </p:sp>
        <p:sp>
          <p:nvSpPr>
            <p:cNvPr id="46" name="Oval 45"/>
            <p:cNvSpPr/>
            <p:nvPr/>
          </p:nvSpPr>
          <p:spPr>
            <a:xfrm>
              <a:off x="5943600" y="2986088"/>
              <a:ext cx="152400" cy="2233612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4114800" y="3581400"/>
              <a:ext cx="1219200" cy="10668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cxnSp>
          <p:nvCxnSpPr>
            <p:cNvPr id="63" name="Straight Connector 62"/>
            <p:cNvCxnSpPr>
              <a:endCxn id="34" idx="0"/>
            </p:cNvCxnSpPr>
            <p:nvPr/>
          </p:nvCxnSpPr>
          <p:spPr>
            <a:xfrm flipV="1">
              <a:off x="4572000" y="2438400"/>
              <a:ext cx="2171700" cy="1676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>
              <a:endCxn id="34" idx="4"/>
            </p:cNvCxnSpPr>
            <p:nvPr/>
          </p:nvCxnSpPr>
          <p:spPr>
            <a:xfrm>
              <a:off x="4572000" y="4114800"/>
              <a:ext cx="2171700" cy="1676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Oval 46"/>
            <p:cNvSpPr/>
            <p:nvPr/>
          </p:nvSpPr>
          <p:spPr>
            <a:xfrm>
              <a:off x="5257800" y="3552825"/>
              <a:ext cx="76200" cy="1119188"/>
            </a:xfrm>
            <a:prstGeom prst="ellipse">
              <a:avLst/>
            </a:prstGeom>
            <a:solidFill>
              <a:srgbClr val="32757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3" name="Group 80"/>
          <p:cNvGrpSpPr>
            <a:grpSpLocks/>
          </p:cNvGrpSpPr>
          <p:nvPr/>
        </p:nvGrpSpPr>
        <p:grpSpPr bwMode="auto">
          <a:xfrm rot="-5400000">
            <a:off x="3034506" y="3331370"/>
            <a:ext cx="581025" cy="233362"/>
            <a:chOff x="957263" y="4371974"/>
            <a:chExt cx="581026" cy="233365"/>
          </a:xfrm>
        </p:grpSpPr>
        <p:sp>
          <p:nvSpPr>
            <p:cNvPr id="78" name="Trapezoid 77"/>
            <p:cNvSpPr/>
            <p:nvPr/>
          </p:nvSpPr>
          <p:spPr>
            <a:xfrm>
              <a:off x="957264" y="4449763"/>
              <a:ext cx="581026" cy="155577"/>
            </a:xfrm>
            <a:prstGeom prst="trapezoid">
              <a:avLst>
                <a:gd name="adj" fmla="val 104546"/>
              </a:avLst>
            </a:prstGeom>
            <a:solidFill>
              <a:schemeClr val="accent3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1109663" y="4371974"/>
              <a:ext cx="276225" cy="8890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cxnSp>
        <p:nvCxnSpPr>
          <p:cNvPr id="83" name="Straight Connector 82"/>
          <p:cNvCxnSpPr/>
          <p:nvPr/>
        </p:nvCxnSpPr>
        <p:spPr>
          <a:xfrm rot="5400000" flipH="1" flipV="1">
            <a:off x="1786731" y="5003007"/>
            <a:ext cx="3133725" cy="2063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 rot="5400000" flipH="1" flipV="1">
            <a:off x="2523331" y="5003007"/>
            <a:ext cx="3133725" cy="2063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 rot="5400000" flipH="1" flipV="1">
            <a:off x="3245644" y="5003007"/>
            <a:ext cx="3133725" cy="2063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 rot="5400000" flipH="1" flipV="1">
            <a:off x="3967162" y="5003801"/>
            <a:ext cx="3133725" cy="1905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2728" name="TextBox 86"/>
          <p:cNvSpPr txBox="1">
            <a:spLocks noChangeArrowheads="1"/>
          </p:cNvSpPr>
          <p:nvPr/>
        </p:nvSpPr>
        <p:spPr bwMode="auto">
          <a:xfrm>
            <a:off x="3432175" y="6340475"/>
            <a:ext cx="6334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10m</a:t>
            </a:r>
          </a:p>
        </p:txBody>
      </p:sp>
      <p:cxnSp>
        <p:nvCxnSpPr>
          <p:cNvPr id="89" name="Straight Arrow Connector 88"/>
          <p:cNvCxnSpPr/>
          <p:nvPr/>
        </p:nvCxnSpPr>
        <p:spPr>
          <a:xfrm>
            <a:off x="3343275" y="6310313"/>
            <a:ext cx="749300" cy="1587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/>
          <p:nvPr/>
        </p:nvCxnSpPr>
        <p:spPr>
          <a:xfrm flipV="1">
            <a:off x="3344863" y="5965825"/>
            <a:ext cx="1452562" cy="3175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/>
          <p:nvPr/>
        </p:nvCxnSpPr>
        <p:spPr>
          <a:xfrm flipV="1">
            <a:off x="3362325" y="5607050"/>
            <a:ext cx="2214563" cy="4763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2732" name="TextBox 102"/>
          <p:cNvSpPr txBox="1">
            <a:spLocks noChangeArrowheads="1"/>
          </p:cNvSpPr>
          <p:nvPr/>
        </p:nvSpPr>
        <p:spPr bwMode="auto">
          <a:xfrm>
            <a:off x="4035425" y="5938838"/>
            <a:ext cx="63341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20m</a:t>
            </a:r>
          </a:p>
        </p:txBody>
      </p:sp>
      <p:sp>
        <p:nvSpPr>
          <p:cNvPr id="542733" name="TextBox 103"/>
          <p:cNvSpPr txBox="1">
            <a:spLocks noChangeArrowheads="1"/>
          </p:cNvSpPr>
          <p:nvPr/>
        </p:nvSpPr>
        <p:spPr bwMode="auto">
          <a:xfrm>
            <a:off x="4832350" y="5626100"/>
            <a:ext cx="6334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30m</a:t>
            </a:r>
          </a:p>
        </p:txBody>
      </p:sp>
      <p:cxnSp>
        <p:nvCxnSpPr>
          <p:cNvPr id="105" name="Straight Connector 104"/>
          <p:cNvCxnSpPr/>
          <p:nvPr/>
        </p:nvCxnSpPr>
        <p:spPr>
          <a:xfrm flipH="1" flipV="1">
            <a:off x="4089400" y="4002088"/>
            <a:ext cx="3133725" cy="2063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 flipH="1" flipV="1">
            <a:off x="4106863" y="2879725"/>
            <a:ext cx="3133725" cy="2063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 flipH="1" flipV="1">
            <a:off x="4811713" y="4514850"/>
            <a:ext cx="3133725" cy="1905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 flipH="1" flipV="1">
            <a:off x="4829175" y="2298700"/>
            <a:ext cx="3133725" cy="1905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/>
          <p:nvPr/>
        </p:nvCxnSpPr>
        <p:spPr>
          <a:xfrm flipH="1" flipV="1">
            <a:off x="5535613" y="1760538"/>
            <a:ext cx="3133725" cy="2063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 flipH="1" flipV="1">
            <a:off x="5538788" y="5076825"/>
            <a:ext cx="3133725" cy="1905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/>
          <p:cNvCxnSpPr/>
          <p:nvPr/>
        </p:nvCxnSpPr>
        <p:spPr>
          <a:xfrm rot="5400000">
            <a:off x="6183312" y="3440113"/>
            <a:ext cx="1154113" cy="1588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/>
          <p:nvPr/>
        </p:nvCxnSpPr>
        <p:spPr>
          <a:xfrm rot="16200000" flipH="1">
            <a:off x="6549231" y="3418682"/>
            <a:ext cx="2162175" cy="1588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/>
          <p:nvPr/>
        </p:nvCxnSpPr>
        <p:spPr>
          <a:xfrm rot="5400000">
            <a:off x="6639719" y="3437731"/>
            <a:ext cx="3317875" cy="11113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2743" name="TextBox 119"/>
          <p:cNvSpPr txBox="1">
            <a:spLocks noChangeArrowheads="1"/>
          </p:cNvSpPr>
          <p:nvPr/>
        </p:nvSpPr>
        <p:spPr bwMode="auto">
          <a:xfrm>
            <a:off x="6837363" y="3240088"/>
            <a:ext cx="50641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1m</a:t>
            </a:r>
          </a:p>
        </p:txBody>
      </p:sp>
      <p:sp>
        <p:nvSpPr>
          <p:cNvPr id="542744" name="TextBox 120"/>
          <p:cNvSpPr txBox="1">
            <a:spLocks noChangeArrowheads="1"/>
          </p:cNvSpPr>
          <p:nvPr/>
        </p:nvSpPr>
        <p:spPr bwMode="auto">
          <a:xfrm>
            <a:off x="7634288" y="3243263"/>
            <a:ext cx="5064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2m</a:t>
            </a:r>
          </a:p>
        </p:txBody>
      </p:sp>
      <p:sp>
        <p:nvSpPr>
          <p:cNvPr id="542745" name="TextBox 121"/>
          <p:cNvSpPr txBox="1">
            <a:spLocks noChangeArrowheads="1"/>
          </p:cNvSpPr>
          <p:nvPr/>
        </p:nvSpPr>
        <p:spPr bwMode="auto">
          <a:xfrm>
            <a:off x="8356600" y="3244850"/>
            <a:ext cx="5064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3m</a:t>
            </a:r>
          </a:p>
        </p:txBody>
      </p:sp>
    </p:spTree>
    <p:extLst>
      <p:ext uri="{BB962C8B-B14F-4D97-AF65-F5344CB8AC3E}">
        <p14:creationId xmlns:p14="http://schemas.microsoft.com/office/powerpoint/2010/main" val="3767951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431A4-527D-F3C0-1236-207303B10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4BE52-2A60-F9D7-FB11-89D0E3624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File:USFL Championship parabolic microphone 2022.png">
            <a:extLst>
              <a:ext uri="{FF2B5EF4-FFF2-40B4-BE49-F238E27FC236}">
                <a16:creationId xmlns:a16="http://schemas.microsoft.com/office/drawing/2014/main" id="{8705922C-80EF-38BF-C11D-D39AD60CC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447" y="889882"/>
            <a:ext cx="6013106" cy="449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0865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6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223.4.10  123.22.5</a:t>
            </a:r>
          </a:p>
        </p:txBody>
      </p:sp>
      <p:sp>
        <p:nvSpPr>
          <p:cNvPr id="53965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dirty="0"/>
              <a:t>I have 100W of power coming from my speaker. What is the intensity 0.5m from the speaker?</a:t>
            </a:r>
          </a:p>
          <a:p>
            <a:pPr>
              <a:buFontTx/>
              <a:buNone/>
            </a:pPr>
            <a:r>
              <a:rPr lang="en-US" dirty="0"/>
              <a:t>a) 0.01W</a:t>
            </a:r>
          </a:p>
          <a:p>
            <a:pPr>
              <a:buFontTx/>
              <a:buNone/>
            </a:pPr>
            <a:r>
              <a:rPr lang="en-US" dirty="0"/>
              <a:t>b) Just under 1W</a:t>
            </a:r>
          </a:p>
          <a:p>
            <a:pPr>
              <a:buFontTx/>
              <a:buNone/>
            </a:pPr>
            <a:r>
              <a:rPr lang="en-US" dirty="0"/>
              <a:t>c) A little over 10W</a:t>
            </a:r>
          </a:p>
          <a:p>
            <a:pPr>
              <a:buFontTx/>
              <a:buNone/>
            </a:pPr>
            <a:r>
              <a:rPr lang="en-US" dirty="0"/>
              <a:t>d) A little over 30W</a:t>
            </a:r>
          </a:p>
          <a:p>
            <a:pPr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9567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Winter 2007</a:t>
            </a:r>
          </a:p>
        </p:txBody>
      </p:sp>
      <p:sp>
        <p:nvSpPr>
          <p:cNvPr id="5837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583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20877BE-92C3-491C-93AD-A4AD9F2A15F2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83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Case One: Fixed End</a:t>
            </a:r>
          </a:p>
        </p:txBody>
      </p:sp>
      <p:sp>
        <p:nvSpPr>
          <p:cNvPr id="583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5167313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/>
              <a:t> There is a big change in the medium at the end of the rope.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/>
              <a:t>The rope ends.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/>
              <a:t>There is a person or (as in the figure) some thing holding the rope in place. </a:t>
            </a:r>
          </a:p>
          <a:p>
            <a:pPr eaLnBrk="1" hangingPunct="1">
              <a:lnSpc>
                <a:spcPct val="80000"/>
              </a:lnSpc>
            </a:pPr>
            <a:r>
              <a:rPr lang="en-US" sz="2800"/>
              <a:t>This change in medium causes a reflection.    </a:t>
            </a:r>
          </a:p>
          <a:p>
            <a:pPr eaLnBrk="1" hangingPunct="1">
              <a:lnSpc>
                <a:spcPct val="80000"/>
              </a:lnSpc>
            </a:pPr>
            <a:r>
              <a:rPr lang="en-US" sz="2800"/>
              <a:t>In the fixed end case, the pulse is inverted. </a:t>
            </a:r>
          </a:p>
          <a:p>
            <a:pPr eaLnBrk="1" hangingPunct="1">
              <a:lnSpc>
                <a:spcPct val="80000"/>
              </a:lnSpc>
            </a:pPr>
            <a:r>
              <a:rPr lang="en-US" sz="2800"/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14371892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1709273" y="176212"/>
            <a:ext cx="5725454" cy="6505575"/>
            <a:chOff x="294346" y="123825"/>
            <a:chExt cx="5725454" cy="6505575"/>
          </a:xfrm>
        </p:grpSpPr>
        <p:pic>
          <p:nvPicPr>
            <p:cNvPr id="5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68325" y="123825"/>
              <a:ext cx="2327275" cy="15525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6" name="Picture 5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68325" y="1752600"/>
              <a:ext cx="2327275" cy="15525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7" name="Picture 6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68325" y="3429000"/>
              <a:ext cx="2327275" cy="15525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8" name="Picture 7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33400" y="5029200"/>
              <a:ext cx="2327275" cy="15525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9" name="Picture 8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692525" y="152400"/>
              <a:ext cx="2327275" cy="15525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0" name="Picture 9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3657600" y="1752600"/>
              <a:ext cx="2327275" cy="15525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1" name="Picture 10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3657600" y="3476625"/>
              <a:ext cx="2327275" cy="15525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2" name="Picture 11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3657600" y="5076825"/>
              <a:ext cx="2327275" cy="15525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3" name="TextBox 9"/>
            <p:cNvSpPr txBox="1"/>
            <p:nvPr/>
          </p:nvSpPr>
          <p:spPr>
            <a:xfrm>
              <a:off x="294346" y="685800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0s</a:t>
              </a:r>
            </a:p>
          </p:txBody>
        </p:sp>
        <p:sp>
          <p:nvSpPr>
            <p:cNvPr id="14" name="TextBox 10"/>
            <p:cNvSpPr txBox="1"/>
            <p:nvPr/>
          </p:nvSpPr>
          <p:spPr>
            <a:xfrm>
              <a:off x="294346" y="2297668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1s</a:t>
              </a:r>
            </a:p>
          </p:txBody>
        </p:sp>
        <p:sp>
          <p:nvSpPr>
            <p:cNvPr id="15" name="TextBox 11"/>
            <p:cNvSpPr txBox="1"/>
            <p:nvPr/>
          </p:nvSpPr>
          <p:spPr>
            <a:xfrm>
              <a:off x="294346" y="3886200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2s</a:t>
              </a:r>
            </a:p>
          </p:txBody>
        </p:sp>
        <p:sp>
          <p:nvSpPr>
            <p:cNvPr id="16" name="TextBox 12"/>
            <p:cNvSpPr txBox="1"/>
            <p:nvPr/>
          </p:nvSpPr>
          <p:spPr>
            <a:xfrm>
              <a:off x="294346" y="5486400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3s</a:t>
              </a:r>
            </a:p>
          </p:txBody>
        </p:sp>
        <p:sp>
          <p:nvSpPr>
            <p:cNvPr id="17" name="TextBox 13"/>
            <p:cNvSpPr txBox="1"/>
            <p:nvPr/>
          </p:nvSpPr>
          <p:spPr>
            <a:xfrm>
              <a:off x="3113746" y="697468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4s</a:t>
              </a:r>
            </a:p>
          </p:txBody>
        </p:sp>
        <p:sp>
          <p:nvSpPr>
            <p:cNvPr id="18" name="TextBox 14"/>
            <p:cNvSpPr txBox="1"/>
            <p:nvPr/>
          </p:nvSpPr>
          <p:spPr>
            <a:xfrm>
              <a:off x="3113746" y="2309336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5s</a:t>
              </a:r>
            </a:p>
          </p:txBody>
        </p:sp>
        <p:sp>
          <p:nvSpPr>
            <p:cNvPr id="19" name="TextBox 15"/>
            <p:cNvSpPr txBox="1"/>
            <p:nvPr/>
          </p:nvSpPr>
          <p:spPr>
            <a:xfrm>
              <a:off x="3113746" y="3897868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6s</a:t>
              </a:r>
            </a:p>
          </p:txBody>
        </p:sp>
        <p:sp>
          <p:nvSpPr>
            <p:cNvPr id="20" name="TextBox 16"/>
            <p:cNvSpPr txBox="1"/>
            <p:nvPr/>
          </p:nvSpPr>
          <p:spPr>
            <a:xfrm>
              <a:off x="3113746" y="5498068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7s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11612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C6ZAOiIfKo"/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762000" y="1719263"/>
            <a:ext cx="8001000" cy="450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1685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Winter 2007</a:t>
            </a:r>
          </a:p>
        </p:txBody>
      </p:sp>
      <p:sp>
        <p:nvSpPr>
          <p:cNvPr id="5939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593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6E64E3-294D-42DF-BB91-93B1EBA0D53D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93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Forces on the End of the Rope</a:t>
            </a:r>
          </a:p>
        </p:txBody>
      </p:sp>
      <p:grpSp>
        <p:nvGrpSpPr>
          <p:cNvPr id="2" name="Group 87"/>
          <p:cNvGrpSpPr>
            <a:grpSpLocks/>
          </p:cNvGrpSpPr>
          <p:nvPr/>
        </p:nvGrpSpPr>
        <p:grpSpPr bwMode="auto">
          <a:xfrm>
            <a:off x="0" y="1192213"/>
            <a:ext cx="8824913" cy="5072062"/>
            <a:chOff x="0" y="751"/>
            <a:chExt cx="5559" cy="3195"/>
          </a:xfrm>
        </p:grpSpPr>
        <p:sp>
          <p:nvSpPr>
            <p:cNvPr id="59399" name="Rectangle 18"/>
            <p:cNvSpPr>
              <a:spLocks noChangeArrowheads="1"/>
            </p:cNvSpPr>
            <p:nvPr/>
          </p:nvSpPr>
          <p:spPr bwMode="auto">
            <a:xfrm>
              <a:off x="5083" y="796"/>
              <a:ext cx="476" cy="2939"/>
            </a:xfrm>
            <a:prstGeom prst="rect">
              <a:avLst/>
            </a:prstGeom>
            <a:gradFill rotWithShape="1">
              <a:gsLst>
                <a:gs pos="0">
                  <a:srgbClr val="993300"/>
                </a:gs>
                <a:gs pos="100000">
                  <a:srgbClr val="471800"/>
                </a:gs>
              </a:gsLst>
              <a:lin ang="0" scaled="1"/>
            </a:gra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" name="Group 85"/>
            <p:cNvGrpSpPr>
              <a:grpSpLocks/>
            </p:cNvGrpSpPr>
            <p:nvPr/>
          </p:nvGrpSpPr>
          <p:grpSpPr bwMode="auto">
            <a:xfrm>
              <a:off x="444" y="751"/>
              <a:ext cx="4847" cy="1224"/>
              <a:chOff x="444" y="868"/>
              <a:chExt cx="4847" cy="1224"/>
            </a:xfrm>
          </p:grpSpPr>
          <p:sp>
            <p:nvSpPr>
              <p:cNvPr id="59438" name="AutoShape 82"/>
              <p:cNvSpPr>
                <a:spLocks noChangeArrowheads="1"/>
              </p:cNvSpPr>
              <p:nvPr/>
            </p:nvSpPr>
            <p:spPr bwMode="auto">
              <a:xfrm rot="8906288" flipH="1">
                <a:off x="444" y="1873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439" name="AutoShape 81"/>
              <p:cNvSpPr>
                <a:spLocks noChangeArrowheads="1"/>
              </p:cNvSpPr>
              <p:nvPr/>
            </p:nvSpPr>
            <p:spPr bwMode="auto">
              <a:xfrm rot="8685633" flipH="1">
                <a:off x="766" y="1647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440" name="AutoShape 80"/>
              <p:cNvSpPr>
                <a:spLocks noChangeArrowheads="1"/>
              </p:cNvSpPr>
              <p:nvPr/>
            </p:nvSpPr>
            <p:spPr bwMode="auto">
              <a:xfrm rot="8843297" flipH="1">
                <a:off x="1069" y="1435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441" name="AutoShape 78"/>
              <p:cNvSpPr>
                <a:spLocks noChangeArrowheads="1"/>
              </p:cNvSpPr>
              <p:nvPr/>
            </p:nvSpPr>
            <p:spPr bwMode="auto">
              <a:xfrm rot="8937746" flipH="1">
                <a:off x="1373" y="1228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442" name="AutoShape 77"/>
              <p:cNvSpPr>
                <a:spLocks noChangeArrowheads="1"/>
              </p:cNvSpPr>
              <p:nvPr/>
            </p:nvSpPr>
            <p:spPr bwMode="auto">
              <a:xfrm rot="9387045" flipH="1">
                <a:off x="1693" y="1051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443" name="AutoShape 76"/>
              <p:cNvSpPr>
                <a:spLocks noChangeArrowheads="1"/>
              </p:cNvSpPr>
              <p:nvPr/>
            </p:nvSpPr>
            <p:spPr bwMode="auto">
              <a:xfrm rot="9822954" flipH="1">
                <a:off x="2027" y="918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444" name="AutoShape 75"/>
              <p:cNvSpPr>
                <a:spLocks noChangeArrowheads="1"/>
              </p:cNvSpPr>
              <p:nvPr/>
            </p:nvSpPr>
            <p:spPr bwMode="auto">
              <a:xfrm rot="10699326" flipH="1">
                <a:off x="2379" y="868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445" name="AutoShape 13"/>
              <p:cNvSpPr>
                <a:spLocks noChangeArrowheads="1"/>
              </p:cNvSpPr>
              <p:nvPr/>
            </p:nvSpPr>
            <p:spPr bwMode="auto">
              <a:xfrm rot="321144">
                <a:off x="2784" y="873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446" name="AutoShape 9"/>
              <p:cNvSpPr>
                <a:spLocks noChangeArrowheads="1"/>
              </p:cNvSpPr>
              <p:nvPr/>
            </p:nvSpPr>
            <p:spPr bwMode="auto">
              <a:xfrm rot="1103145">
                <a:off x="3145" y="959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447" name="AutoShape 12"/>
              <p:cNvSpPr>
                <a:spLocks noChangeArrowheads="1"/>
              </p:cNvSpPr>
              <p:nvPr/>
            </p:nvSpPr>
            <p:spPr bwMode="auto">
              <a:xfrm rot="1507549">
                <a:off x="3497" y="1065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448" name="AutoShape 11"/>
              <p:cNvSpPr>
                <a:spLocks noChangeArrowheads="1"/>
              </p:cNvSpPr>
              <p:nvPr/>
            </p:nvSpPr>
            <p:spPr bwMode="auto">
              <a:xfrm rot="2051297">
                <a:off x="3817" y="1242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" name="Group 7"/>
              <p:cNvGrpSpPr>
                <a:grpSpLocks/>
              </p:cNvGrpSpPr>
              <p:nvPr/>
            </p:nvGrpSpPr>
            <p:grpSpPr bwMode="auto">
              <a:xfrm rot="2051297">
                <a:off x="4052" y="1663"/>
                <a:ext cx="1239" cy="230"/>
                <a:chOff x="2742" y="2660"/>
                <a:chExt cx="1239" cy="230"/>
              </a:xfrm>
            </p:grpSpPr>
            <p:sp>
              <p:nvSpPr>
                <p:cNvPr id="59450" name="AutoShape 4"/>
                <p:cNvSpPr>
                  <a:spLocks noChangeArrowheads="1"/>
                </p:cNvSpPr>
                <p:nvPr/>
              </p:nvSpPr>
              <p:spPr bwMode="auto">
                <a:xfrm>
                  <a:off x="2742" y="2660"/>
                  <a:ext cx="476" cy="219"/>
                </a:xfrm>
                <a:prstGeom prst="flowChartMagneticDrum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451" name="AutoShape 5"/>
                <p:cNvSpPr>
                  <a:spLocks noChangeArrowheads="1"/>
                </p:cNvSpPr>
                <p:nvPr/>
              </p:nvSpPr>
              <p:spPr bwMode="auto">
                <a:xfrm>
                  <a:off x="3112" y="2665"/>
                  <a:ext cx="476" cy="219"/>
                </a:xfrm>
                <a:prstGeom prst="flowChartMagneticDrum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452" name="AutoShape 6"/>
                <p:cNvSpPr>
                  <a:spLocks noChangeArrowheads="1"/>
                </p:cNvSpPr>
                <p:nvPr/>
              </p:nvSpPr>
              <p:spPr bwMode="auto">
                <a:xfrm>
                  <a:off x="3505" y="2671"/>
                  <a:ext cx="476" cy="219"/>
                </a:xfrm>
                <a:prstGeom prst="flowChartMagneticDrum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59401" name="AutoShape 17"/>
            <p:cNvSpPr>
              <a:spLocks noChangeArrowheads="1"/>
            </p:cNvSpPr>
            <p:nvPr/>
          </p:nvSpPr>
          <p:spPr bwMode="auto">
            <a:xfrm rot="-8976195">
              <a:off x="5136" y="1528"/>
              <a:ext cx="56" cy="503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2" name="Oval 16"/>
            <p:cNvSpPr>
              <a:spLocks noChangeArrowheads="1"/>
            </p:cNvSpPr>
            <p:nvPr/>
          </p:nvSpPr>
          <p:spPr bwMode="auto">
            <a:xfrm rot="2292968">
              <a:off x="5147" y="1563"/>
              <a:ext cx="275" cy="101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3" name="Oval 47"/>
            <p:cNvSpPr>
              <a:spLocks noChangeArrowheads="1"/>
            </p:cNvSpPr>
            <p:nvPr/>
          </p:nvSpPr>
          <p:spPr bwMode="auto">
            <a:xfrm>
              <a:off x="4631" y="1669"/>
              <a:ext cx="621" cy="613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4" name="Line 48"/>
            <p:cNvSpPr>
              <a:spLocks noChangeShapeType="1"/>
            </p:cNvSpPr>
            <p:nvPr/>
          </p:nvSpPr>
          <p:spPr bwMode="auto">
            <a:xfrm flipH="1">
              <a:off x="3548" y="1673"/>
              <a:ext cx="1325" cy="2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5" name="Line 49"/>
            <p:cNvSpPr>
              <a:spLocks noChangeShapeType="1"/>
            </p:cNvSpPr>
            <p:nvPr/>
          </p:nvSpPr>
          <p:spPr bwMode="auto">
            <a:xfrm flipH="1">
              <a:off x="4374" y="2133"/>
              <a:ext cx="832" cy="11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" name="Group 86"/>
            <p:cNvGrpSpPr>
              <a:grpSpLocks/>
            </p:cNvGrpSpPr>
            <p:nvPr/>
          </p:nvGrpSpPr>
          <p:grpSpPr bwMode="auto">
            <a:xfrm>
              <a:off x="2825" y="1902"/>
              <a:ext cx="1764" cy="1709"/>
              <a:chOff x="2825" y="1902"/>
              <a:chExt cx="1764" cy="1709"/>
            </a:xfrm>
          </p:grpSpPr>
          <p:sp>
            <p:nvSpPr>
              <p:cNvPr id="59417" name="Oval 46"/>
              <p:cNvSpPr>
                <a:spLocks noChangeArrowheads="1"/>
              </p:cNvSpPr>
              <p:nvPr/>
            </p:nvSpPr>
            <p:spPr bwMode="auto">
              <a:xfrm>
                <a:off x="2825" y="1902"/>
                <a:ext cx="1764" cy="1709"/>
              </a:xfrm>
              <a:prstGeom prst="ellipse">
                <a:avLst/>
              </a:prstGeom>
              <a:solidFill>
                <a:schemeClr val="bg1"/>
              </a:solidFill>
              <a:ln w="2857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6" name="Group 44"/>
              <p:cNvGrpSpPr>
                <a:grpSpLocks/>
              </p:cNvGrpSpPr>
              <p:nvPr/>
            </p:nvGrpSpPr>
            <p:grpSpPr bwMode="auto">
              <a:xfrm>
                <a:off x="2961" y="2081"/>
                <a:ext cx="1565" cy="1353"/>
                <a:chOff x="2961" y="2081"/>
                <a:chExt cx="1565" cy="1353"/>
              </a:xfrm>
            </p:grpSpPr>
            <p:sp>
              <p:nvSpPr>
                <p:cNvPr id="59420" name="Line 40"/>
                <p:cNvSpPr>
                  <a:spLocks noChangeShapeType="1"/>
                </p:cNvSpPr>
                <p:nvPr/>
              </p:nvSpPr>
              <p:spPr bwMode="auto">
                <a:xfrm>
                  <a:off x="3708" y="2796"/>
                  <a:ext cx="0" cy="264"/>
                </a:xfrm>
                <a:prstGeom prst="line">
                  <a:avLst/>
                </a:prstGeom>
                <a:noFill/>
                <a:ln w="28575">
                  <a:solidFill>
                    <a:srgbClr val="33CCCC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7" name="Group 39"/>
                <p:cNvGrpSpPr>
                  <a:grpSpLocks/>
                </p:cNvGrpSpPr>
                <p:nvPr/>
              </p:nvGrpSpPr>
              <p:grpSpPr bwMode="auto">
                <a:xfrm>
                  <a:off x="2961" y="2081"/>
                  <a:ext cx="1565" cy="1258"/>
                  <a:chOff x="3235" y="2328"/>
                  <a:chExt cx="1565" cy="1258"/>
                </a:xfrm>
              </p:grpSpPr>
              <p:sp>
                <p:nvSpPr>
                  <p:cNvPr id="59425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3860" y="2941"/>
                    <a:ext cx="251" cy="4"/>
                  </a:xfrm>
                  <a:prstGeom prst="line">
                    <a:avLst/>
                  </a:prstGeom>
                  <a:noFill/>
                  <a:ln w="28575">
                    <a:solidFill>
                      <a:srgbClr val="3366FF"/>
                    </a:solidFill>
                    <a:round/>
                    <a:headEnd/>
                    <a:tailEnd type="triangle" w="med" len="med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9426" name="AutoShape 23"/>
                  <p:cNvSpPr>
                    <a:spLocks noChangeArrowheads="1"/>
                  </p:cNvSpPr>
                  <p:nvPr/>
                </p:nvSpPr>
                <p:spPr bwMode="auto">
                  <a:xfrm rot="2051297">
                    <a:off x="3781" y="2925"/>
                    <a:ext cx="476" cy="219"/>
                  </a:xfrm>
                  <a:prstGeom prst="flowChartMagneticDrum">
                    <a:avLst/>
                  </a:prstGeom>
                  <a:solidFill>
                    <a:schemeClr val="accent1">
                      <a:alpha val="52156"/>
                    </a:schemeClr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9427" name="Line 2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870" y="2532"/>
                    <a:ext cx="0" cy="402"/>
                  </a:xfrm>
                  <a:prstGeom prst="line">
                    <a:avLst/>
                  </a:prstGeom>
                  <a:noFill/>
                  <a:ln w="28575">
                    <a:solidFill>
                      <a:srgbClr val="3366FF"/>
                    </a:solidFill>
                    <a:round/>
                    <a:headEnd/>
                    <a:tailEnd type="triangle" w="med" len="med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9428" name="Line 26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3479" y="2643"/>
                    <a:ext cx="393" cy="302"/>
                  </a:xfrm>
                  <a:prstGeom prst="line">
                    <a:avLst/>
                  </a:prstGeom>
                  <a:noFill/>
                  <a:ln w="28575">
                    <a:solidFill>
                      <a:srgbClr val="3366FF"/>
                    </a:solidFill>
                    <a:round/>
                    <a:headEnd/>
                    <a:tailEnd type="triangle" w="med" len="med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9429" name="Text Box 2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35" y="2455"/>
                    <a:ext cx="204" cy="231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solidFill>
                          <a:srgbClr val="3366FF"/>
                        </a:solidFill>
                      </a:rPr>
                      <a:t>T</a:t>
                    </a:r>
                  </a:p>
                </p:txBody>
              </p:sp>
              <p:sp>
                <p:nvSpPr>
                  <p:cNvPr id="59430" name="Text Box 2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39" y="2835"/>
                    <a:ext cx="257" cy="231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solidFill>
                          <a:srgbClr val="3366FF"/>
                        </a:solidFill>
                      </a:rPr>
                      <a:t>T</a:t>
                    </a:r>
                    <a:r>
                      <a:rPr lang="en-US" b="1" baseline="-25000">
                        <a:solidFill>
                          <a:srgbClr val="3366FF"/>
                        </a:solidFill>
                      </a:rPr>
                      <a:t>x</a:t>
                    </a:r>
                  </a:p>
                </p:txBody>
              </p:sp>
              <p:sp>
                <p:nvSpPr>
                  <p:cNvPr id="59431" name="Text Box 2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11" y="2328"/>
                    <a:ext cx="257" cy="231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solidFill>
                          <a:srgbClr val="3366FF"/>
                        </a:solidFill>
                      </a:rPr>
                      <a:t>T</a:t>
                    </a:r>
                    <a:r>
                      <a:rPr lang="en-US" b="1" baseline="-25000">
                        <a:solidFill>
                          <a:srgbClr val="3366FF"/>
                        </a:solidFill>
                      </a:rPr>
                      <a:t>y</a:t>
                    </a:r>
                  </a:p>
                </p:txBody>
              </p:sp>
              <p:sp>
                <p:nvSpPr>
                  <p:cNvPr id="59432" name="Line 3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149" y="2709"/>
                    <a:ext cx="8" cy="430"/>
                  </a:xfrm>
                  <a:prstGeom prst="line">
                    <a:avLst/>
                  </a:prstGeom>
                  <a:noFill/>
                  <a:ln w="28575">
                    <a:solidFill>
                      <a:srgbClr val="99CCFF"/>
                    </a:solidFill>
                    <a:round/>
                    <a:headEnd/>
                    <a:tailEnd type="triangle" w="med" len="med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9433" name="Line 3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159" y="3132"/>
                    <a:ext cx="357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99CCFF"/>
                    </a:solidFill>
                    <a:round/>
                    <a:headEnd/>
                    <a:tailEnd type="triangle" w="med" len="med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9434" name="Line 34"/>
                  <p:cNvSpPr>
                    <a:spLocks noChangeShapeType="1"/>
                  </p:cNvSpPr>
                  <p:nvPr/>
                </p:nvSpPr>
                <p:spPr bwMode="auto">
                  <a:xfrm>
                    <a:off x="4147" y="3128"/>
                    <a:ext cx="393" cy="302"/>
                  </a:xfrm>
                  <a:prstGeom prst="line">
                    <a:avLst/>
                  </a:prstGeom>
                  <a:noFill/>
                  <a:ln w="28575">
                    <a:solidFill>
                      <a:srgbClr val="99CCFF"/>
                    </a:solidFill>
                    <a:round/>
                    <a:headEnd/>
                    <a:tailEnd type="triangle" w="med" len="med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9435" name="Text Box 3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527" y="3355"/>
                    <a:ext cx="204" cy="231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solidFill>
                          <a:srgbClr val="7DC4C9"/>
                        </a:solidFill>
                      </a:rPr>
                      <a:t>T</a:t>
                    </a:r>
                  </a:p>
                </p:txBody>
              </p:sp>
              <p:sp>
                <p:nvSpPr>
                  <p:cNvPr id="59436" name="Text Box 3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83" y="2579"/>
                    <a:ext cx="257" cy="231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r>
                      <a:rPr lang="en-US" b="1">
                        <a:solidFill>
                          <a:srgbClr val="7DC4C9"/>
                        </a:solidFill>
                      </a:rPr>
                      <a:t>T</a:t>
                    </a:r>
                    <a:r>
                      <a:rPr lang="en-US" b="1" baseline="-25000">
                        <a:solidFill>
                          <a:srgbClr val="7DC4C9"/>
                        </a:solidFill>
                      </a:rPr>
                      <a:t>y</a:t>
                    </a:r>
                  </a:p>
                </p:txBody>
              </p:sp>
              <p:sp>
                <p:nvSpPr>
                  <p:cNvPr id="59437" name="Text Box 3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543" y="2987"/>
                    <a:ext cx="257" cy="231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solidFill>
                          <a:srgbClr val="7DC4C9"/>
                        </a:solidFill>
                      </a:rPr>
                      <a:t>T</a:t>
                    </a:r>
                    <a:r>
                      <a:rPr lang="en-US" b="1" baseline="-25000">
                        <a:solidFill>
                          <a:srgbClr val="7DC4C9"/>
                        </a:solidFill>
                      </a:rPr>
                      <a:t>x</a:t>
                    </a:r>
                  </a:p>
                </p:txBody>
              </p:sp>
            </p:grpSp>
            <p:sp>
              <p:nvSpPr>
                <p:cNvPr id="59422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3393" y="2903"/>
                  <a:ext cx="257" cy="23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>
                      <a:solidFill>
                        <a:srgbClr val="7DC4C9"/>
                      </a:solidFill>
                    </a:rPr>
                    <a:t>F</a:t>
                  </a:r>
                  <a:r>
                    <a:rPr lang="en-US" baseline="-25000">
                      <a:solidFill>
                        <a:srgbClr val="7DC4C9"/>
                      </a:solidFill>
                    </a:rPr>
                    <a:t>g</a:t>
                  </a:r>
                </a:p>
              </p:txBody>
            </p:sp>
            <p:sp>
              <p:nvSpPr>
                <p:cNvPr id="59423" name="Line 42"/>
                <p:cNvSpPr>
                  <a:spLocks noChangeShapeType="1"/>
                </p:cNvSpPr>
                <p:nvPr/>
              </p:nvSpPr>
              <p:spPr bwMode="auto">
                <a:xfrm>
                  <a:off x="3876" y="2880"/>
                  <a:ext cx="0" cy="3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424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3579" y="3203"/>
                  <a:ext cx="368" cy="23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>
                      <a:solidFill>
                        <a:schemeClr val="accent2"/>
                      </a:solidFill>
                    </a:rPr>
                    <a:t>F</a:t>
                  </a:r>
                  <a:r>
                    <a:rPr lang="en-US" baseline="-25000">
                      <a:solidFill>
                        <a:schemeClr val="accent2"/>
                      </a:solidFill>
                    </a:rPr>
                    <a:t>wall</a:t>
                  </a:r>
                </a:p>
              </p:txBody>
            </p:sp>
          </p:grpSp>
          <p:sp>
            <p:nvSpPr>
              <p:cNvPr id="59419" name="Oval 50"/>
              <p:cNvSpPr>
                <a:spLocks noChangeArrowheads="1"/>
              </p:cNvSpPr>
              <p:nvPr/>
            </p:nvSpPr>
            <p:spPr bwMode="auto">
              <a:xfrm>
                <a:off x="3648" y="2671"/>
                <a:ext cx="438" cy="429"/>
              </a:xfrm>
              <a:prstGeom prst="ellipse">
                <a:avLst/>
              </a:prstGeom>
              <a:noFill/>
              <a:ln w="2857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9407" name="Line 52"/>
            <p:cNvSpPr>
              <a:spLocks noChangeShapeType="1"/>
            </p:cNvSpPr>
            <p:nvPr/>
          </p:nvSpPr>
          <p:spPr bwMode="auto">
            <a:xfrm flipH="1" flipV="1">
              <a:off x="1536" y="1316"/>
              <a:ext cx="2350" cy="59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8" name="Line 53"/>
            <p:cNvSpPr>
              <a:spLocks noChangeShapeType="1"/>
            </p:cNvSpPr>
            <p:nvPr/>
          </p:nvSpPr>
          <p:spPr bwMode="auto">
            <a:xfrm flipH="1">
              <a:off x="1367" y="3587"/>
              <a:ext cx="2542" cy="35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9" name="Oval 51"/>
            <p:cNvSpPr>
              <a:spLocks noChangeArrowheads="1"/>
            </p:cNvSpPr>
            <p:nvPr/>
          </p:nvSpPr>
          <p:spPr bwMode="auto">
            <a:xfrm>
              <a:off x="0" y="1295"/>
              <a:ext cx="2610" cy="2651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10" name="Text Box 68"/>
            <p:cNvSpPr txBox="1">
              <a:spLocks noChangeArrowheads="1"/>
            </p:cNvSpPr>
            <p:nvPr/>
          </p:nvSpPr>
          <p:spPr bwMode="auto">
            <a:xfrm>
              <a:off x="805" y="1669"/>
              <a:ext cx="497" cy="3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3200" b="1">
                  <a:solidFill>
                    <a:srgbClr val="7DC4C9"/>
                  </a:solidFill>
                </a:rPr>
                <a:t>T</a:t>
              </a:r>
              <a:r>
                <a:rPr lang="en-US" sz="3200" b="1" baseline="-25000">
                  <a:solidFill>
                    <a:srgbClr val="7DC4C9"/>
                  </a:solidFill>
                </a:rPr>
                <a:t>y</a:t>
              </a:r>
            </a:p>
          </p:txBody>
        </p:sp>
        <p:sp>
          <p:nvSpPr>
            <p:cNvPr id="59411" name="Text Box 70"/>
            <p:cNvSpPr txBox="1">
              <a:spLocks noChangeArrowheads="1"/>
            </p:cNvSpPr>
            <p:nvPr/>
          </p:nvSpPr>
          <p:spPr bwMode="auto">
            <a:xfrm>
              <a:off x="777" y="2690"/>
              <a:ext cx="366" cy="3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3200">
                  <a:solidFill>
                    <a:srgbClr val="7DC4C9"/>
                  </a:solidFill>
                </a:rPr>
                <a:t>F</a:t>
              </a:r>
              <a:r>
                <a:rPr lang="en-US" sz="3200" baseline="-25000">
                  <a:solidFill>
                    <a:srgbClr val="7DC4C9"/>
                  </a:solidFill>
                </a:rPr>
                <a:t>g</a:t>
              </a:r>
            </a:p>
          </p:txBody>
        </p:sp>
        <p:sp>
          <p:nvSpPr>
            <p:cNvPr id="59412" name="Line 55"/>
            <p:cNvSpPr>
              <a:spLocks noChangeShapeType="1"/>
            </p:cNvSpPr>
            <p:nvPr/>
          </p:nvSpPr>
          <p:spPr bwMode="auto">
            <a:xfrm>
              <a:off x="1273" y="2673"/>
              <a:ext cx="0" cy="451"/>
            </a:xfrm>
            <a:prstGeom prst="line">
              <a:avLst/>
            </a:prstGeom>
            <a:noFill/>
            <a:ln w="28575">
              <a:solidFill>
                <a:srgbClr val="33CCCC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13" name="AutoShape 58"/>
            <p:cNvSpPr>
              <a:spLocks noChangeArrowheads="1"/>
            </p:cNvSpPr>
            <p:nvPr/>
          </p:nvSpPr>
          <p:spPr bwMode="auto">
            <a:xfrm rot="2051297">
              <a:off x="1170" y="2342"/>
              <a:ext cx="433" cy="375"/>
            </a:xfrm>
            <a:prstGeom prst="flowChartMagneticDrum">
              <a:avLst/>
            </a:prstGeom>
            <a:solidFill>
              <a:schemeClr val="accent1">
                <a:alpha val="52156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14" name="Line 64"/>
            <p:cNvSpPr>
              <a:spLocks noChangeShapeType="1"/>
            </p:cNvSpPr>
            <p:nvPr/>
          </p:nvSpPr>
          <p:spPr bwMode="auto">
            <a:xfrm flipH="1" flipV="1">
              <a:off x="1335" y="1448"/>
              <a:ext cx="4" cy="829"/>
            </a:xfrm>
            <a:prstGeom prst="line">
              <a:avLst/>
            </a:prstGeom>
            <a:noFill/>
            <a:ln w="28575">
              <a:solidFill>
                <a:srgbClr val="99CCFF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15" name="Line 71"/>
            <p:cNvSpPr>
              <a:spLocks noChangeShapeType="1"/>
            </p:cNvSpPr>
            <p:nvPr/>
          </p:nvSpPr>
          <p:spPr bwMode="auto">
            <a:xfrm>
              <a:off x="1344" y="2735"/>
              <a:ext cx="0" cy="749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16" name="Text Box 72"/>
            <p:cNvSpPr txBox="1">
              <a:spLocks noChangeArrowheads="1"/>
            </p:cNvSpPr>
            <p:nvPr/>
          </p:nvSpPr>
          <p:spPr bwMode="auto">
            <a:xfrm>
              <a:off x="1396" y="2875"/>
              <a:ext cx="559" cy="36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3200">
                  <a:solidFill>
                    <a:schemeClr val="accent2"/>
                  </a:solidFill>
                </a:rPr>
                <a:t>F</a:t>
              </a:r>
              <a:r>
                <a:rPr lang="en-US" sz="3200" baseline="-25000">
                  <a:solidFill>
                    <a:schemeClr val="accent2"/>
                  </a:solidFill>
                </a:rPr>
                <a:t>wall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552806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Winter 2007</a:t>
            </a:r>
          </a:p>
        </p:txBody>
      </p:sp>
      <p:sp>
        <p:nvSpPr>
          <p:cNvPr id="1741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174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031D312-1489-4696-8AD3-D2B5D5D832E9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741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Reasonable?</a:t>
            </a:r>
          </a:p>
        </p:txBody>
      </p:sp>
      <p:sp>
        <p:nvSpPr>
          <p:cNvPr id="174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44704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Remember back in PH 121 (or statics) the book on the table?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Book has a force due to gravity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Table exerts a force equal to </a:t>
            </a:r>
            <a:r>
              <a:rPr lang="en-US" i="1" dirty="0" err="1"/>
              <a:t>m</a:t>
            </a:r>
            <a:r>
              <a:rPr lang="en-US" i="1" baseline="-25000" dirty="0" err="1"/>
              <a:t>book</a:t>
            </a:r>
            <a:r>
              <a:rPr lang="en-US" i="1" dirty="0" err="1"/>
              <a:t>g</a:t>
            </a:r>
            <a:r>
              <a:rPr lang="en-US" dirty="0"/>
              <a:t> on the book</a:t>
            </a:r>
          </a:p>
        </p:txBody>
      </p:sp>
      <p:sp>
        <p:nvSpPr>
          <p:cNvPr id="17418" name="Rectangle 5"/>
          <p:cNvSpPr>
            <a:spLocks noChangeArrowheads="1"/>
          </p:cNvSpPr>
          <p:nvPr/>
        </p:nvSpPr>
        <p:spPr bwMode="auto">
          <a:xfrm>
            <a:off x="5369719" y="2215356"/>
            <a:ext cx="2466975" cy="88900"/>
          </a:xfrm>
          <a:prstGeom prst="rect">
            <a:avLst/>
          </a:prstGeom>
          <a:solidFill>
            <a:srgbClr val="800000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9" name="Rectangle 6"/>
          <p:cNvSpPr>
            <a:spLocks noChangeArrowheads="1"/>
          </p:cNvSpPr>
          <p:nvPr/>
        </p:nvSpPr>
        <p:spPr bwMode="auto">
          <a:xfrm rot="16200000">
            <a:off x="5109369" y="2815431"/>
            <a:ext cx="1117600" cy="58738"/>
          </a:xfrm>
          <a:prstGeom prst="rect">
            <a:avLst/>
          </a:prstGeom>
          <a:solidFill>
            <a:srgbClr val="800000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20" name="Rectangle 7"/>
          <p:cNvSpPr>
            <a:spLocks noChangeArrowheads="1"/>
          </p:cNvSpPr>
          <p:nvPr/>
        </p:nvSpPr>
        <p:spPr bwMode="auto">
          <a:xfrm rot="16200000">
            <a:off x="7076282" y="2815431"/>
            <a:ext cx="1117600" cy="58738"/>
          </a:xfrm>
          <a:prstGeom prst="rect">
            <a:avLst/>
          </a:prstGeom>
          <a:solidFill>
            <a:srgbClr val="800000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5936457" y="1897856"/>
            <a:ext cx="1473200" cy="342900"/>
            <a:chOff x="3886" y="2322"/>
            <a:chExt cx="928" cy="216"/>
          </a:xfrm>
        </p:grpSpPr>
        <p:sp>
          <p:nvSpPr>
            <p:cNvPr id="17429" name="Rectangle 8" descr="Light horizontal"/>
            <p:cNvSpPr>
              <a:spLocks noChangeArrowheads="1"/>
            </p:cNvSpPr>
            <p:nvPr/>
          </p:nvSpPr>
          <p:spPr bwMode="auto">
            <a:xfrm>
              <a:off x="3940" y="2359"/>
              <a:ext cx="823" cy="155"/>
            </a:xfrm>
            <a:prstGeom prst="rect">
              <a:avLst/>
            </a:prstGeom>
            <a:pattFill prst="ltHorz">
              <a:fgClr>
                <a:srgbClr val="C0C0C0"/>
              </a:fgClr>
              <a:bgClr>
                <a:schemeClr val="bg1"/>
              </a:bgClr>
            </a:patt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0" name="Rectangle 9"/>
            <p:cNvSpPr>
              <a:spLocks noChangeArrowheads="1"/>
            </p:cNvSpPr>
            <p:nvPr/>
          </p:nvSpPr>
          <p:spPr bwMode="auto">
            <a:xfrm>
              <a:off x="3931" y="2333"/>
              <a:ext cx="878" cy="27"/>
            </a:xfrm>
            <a:prstGeom prst="rect">
              <a:avLst/>
            </a:prstGeom>
            <a:solidFill>
              <a:schemeClr val="tx2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1" name="Rectangle 10"/>
            <p:cNvSpPr>
              <a:spLocks noChangeArrowheads="1"/>
            </p:cNvSpPr>
            <p:nvPr/>
          </p:nvSpPr>
          <p:spPr bwMode="auto">
            <a:xfrm>
              <a:off x="3936" y="2511"/>
              <a:ext cx="878" cy="27"/>
            </a:xfrm>
            <a:prstGeom prst="rect">
              <a:avLst/>
            </a:prstGeom>
            <a:solidFill>
              <a:schemeClr val="tx2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2" name="Freeform 11"/>
            <p:cNvSpPr>
              <a:spLocks/>
            </p:cNvSpPr>
            <p:nvPr/>
          </p:nvSpPr>
          <p:spPr bwMode="auto">
            <a:xfrm>
              <a:off x="3886" y="2322"/>
              <a:ext cx="64" cy="211"/>
            </a:xfrm>
            <a:custGeom>
              <a:avLst/>
              <a:gdLst>
                <a:gd name="T0" fmla="*/ 45 w 64"/>
                <a:gd name="T1" fmla="*/ 0 h 211"/>
                <a:gd name="T2" fmla="*/ 9 w 64"/>
                <a:gd name="T3" fmla="*/ 64 h 211"/>
                <a:gd name="T4" fmla="*/ 0 w 64"/>
                <a:gd name="T5" fmla="*/ 156 h 211"/>
                <a:gd name="T6" fmla="*/ 64 w 64"/>
                <a:gd name="T7" fmla="*/ 211 h 211"/>
                <a:gd name="T8" fmla="*/ 36 w 64"/>
                <a:gd name="T9" fmla="*/ 137 h 211"/>
                <a:gd name="T10" fmla="*/ 36 w 64"/>
                <a:gd name="T11" fmla="*/ 73 h 211"/>
                <a:gd name="T12" fmla="*/ 45 w 64"/>
                <a:gd name="T13" fmla="*/ 0 h 2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4"/>
                <a:gd name="T22" fmla="*/ 0 h 211"/>
                <a:gd name="T23" fmla="*/ 64 w 64"/>
                <a:gd name="T24" fmla="*/ 211 h 21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4" h="211">
                  <a:moveTo>
                    <a:pt x="45" y="0"/>
                  </a:moveTo>
                  <a:lnTo>
                    <a:pt x="9" y="64"/>
                  </a:lnTo>
                  <a:lnTo>
                    <a:pt x="0" y="156"/>
                  </a:lnTo>
                  <a:lnTo>
                    <a:pt x="64" y="211"/>
                  </a:lnTo>
                  <a:lnTo>
                    <a:pt x="36" y="137"/>
                  </a:lnTo>
                  <a:lnTo>
                    <a:pt x="36" y="73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6019800" y="4768851"/>
            <a:ext cx="1473200" cy="342900"/>
            <a:chOff x="3886" y="2322"/>
            <a:chExt cx="928" cy="216"/>
          </a:xfrm>
        </p:grpSpPr>
        <p:sp>
          <p:nvSpPr>
            <p:cNvPr id="17425" name="Rectangle 14" descr="Light horizontal"/>
            <p:cNvSpPr>
              <a:spLocks noChangeArrowheads="1"/>
            </p:cNvSpPr>
            <p:nvPr/>
          </p:nvSpPr>
          <p:spPr bwMode="auto">
            <a:xfrm>
              <a:off x="3940" y="2359"/>
              <a:ext cx="823" cy="155"/>
            </a:xfrm>
            <a:prstGeom prst="rect">
              <a:avLst/>
            </a:prstGeom>
            <a:pattFill prst="ltHorz">
              <a:fgClr>
                <a:srgbClr val="C0C0C0"/>
              </a:fgClr>
              <a:bgClr>
                <a:schemeClr val="bg1"/>
              </a:bgClr>
            </a:patt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6" name="Rectangle 15"/>
            <p:cNvSpPr>
              <a:spLocks noChangeArrowheads="1"/>
            </p:cNvSpPr>
            <p:nvPr/>
          </p:nvSpPr>
          <p:spPr bwMode="auto">
            <a:xfrm>
              <a:off x="3931" y="2333"/>
              <a:ext cx="878" cy="27"/>
            </a:xfrm>
            <a:prstGeom prst="rect">
              <a:avLst/>
            </a:prstGeom>
            <a:solidFill>
              <a:schemeClr val="tx2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7" name="Rectangle 16"/>
            <p:cNvSpPr>
              <a:spLocks noChangeArrowheads="1"/>
            </p:cNvSpPr>
            <p:nvPr/>
          </p:nvSpPr>
          <p:spPr bwMode="auto">
            <a:xfrm>
              <a:off x="3936" y="2511"/>
              <a:ext cx="878" cy="27"/>
            </a:xfrm>
            <a:prstGeom prst="rect">
              <a:avLst/>
            </a:prstGeom>
            <a:solidFill>
              <a:schemeClr val="tx2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8" name="Freeform 17"/>
            <p:cNvSpPr>
              <a:spLocks/>
            </p:cNvSpPr>
            <p:nvPr/>
          </p:nvSpPr>
          <p:spPr bwMode="auto">
            <a:xfrm>
              <a:off x="3886" y="2322"/>
              <a:ext cx="64" cy="211"/>
            </a:xfrm>
            <a:custGeom>
              <a:avLst/>
              <a:gdLst>
                <a:gd name="T0" fmla="*/ 45 w 64"/>
                <a:gd name="T1" fmla="*/ 0 h 211"/>
                <a:gd name="T2" fmla="*/ 9 w 64"/>
                <a:gd name="T3" fmla="*/ 64 h 211"/>
                <a:gd name="T4" fmla="*/ 0 w 64"/>
                <a:gd name="T5" fmla="*/ 156 h 211"/>
                <a:gd name="T6" fmla="*/ 64 w 64"/>
                <a:gd name="T7" fmla="*/ 211 h 211"/>
                <a:gd name="T8" fmla="*/ 36 w 64"/>
                <a:gd name="T9" fmla="*/ 137 h 211"/>
                <a:gd name="T10" fmla="*/ 36 w 64"/>
                <a:gd name="T11" fmla="*/ 73 h 211"/>
                <a:gd name="T12" fmla="*/ 45 w 64"/>
                <a:gd name="T13" fmla="*/ 0 h 2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4"/>
                <a:gd name="T22" fmla="*/ 0 h 211"/>
                <a:gd name="T23" fmla="*/ 64 w 64"/>
                <a:gd name="T24" fmla="*/ 211 h 21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4" h="211">
                  <a:moveTo>
                    <a:pt x="45" y="0"/>
                  </a:moveTo>
                  <a:lnTo>
                    <a:pt x="9" y="64"/>
                  </a:lnTo>
                  <a:lnTo>
                    <a:pt x="0" y="156"/>
                  </a:lnTo>
                  <a:lnTo>
                    <a:pt x="64" y="211"/>
                  </a:lnTo>
                  <a:lnTo>
                    <a:pt x="36" y="137"/>
                  </a:lnTo>
                  <a:lnTo>
                    <a:pt x="36" y="73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423" name="Line 18"/>
          <p:cNvSpPr>
            <a:spLocks noChangeShapeType="1"/>
          </p:cNvSpPr>
          <p:nvPr/>
        </p:nvSpPr>
        <p:spPr bwMode="auto">
          <a:xfrm>
            <a:off x="6765925" y="5095876"/>
            <a:ext cx="0" cy="73977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7410" name="Object 19"/>
          <p:cNvGraphicFramePr>
            <a:graphicFrameLocks noChangeAspect="1"/>
          </p:cNvGraphicFramePr>
          <p:nvPr/>
        </p:nvGraphicFramePr>
        <p:xfrm>
          <a:off x="6888163" y="5589588"/>
          <a:ext cx="498475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0440" imgH="241200" progId="Equation.3">
                  <p:embed/>
                </p:oleObj>
              </mc:Choice>
              <mc:Fallback>
                <p:oleObj name="Equation" r:id="rId2" imgW="190440" imgH="241200" progId="Equation.3">
                  <p:embed/>
                  <p:pic>
                    <p:nvPicPr>
                      <p:cNvPr id="1741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163" y="5589588"/>
                        <a:ext cx="498475" cy="631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4" name="Line 21"/>
          <p:cNvSpPr>
            <a:spLocks noChangeShapeType="1"/>
          </p:cNvSpPr>
          <p:nvPr/>
        </p:nvSpPr>
        <p:spPr bwMode="auto">
          <a:xfrm flipV="1">
            <a:off x="6757988" y="4059238"/>
            <a:ext cx="0" cy="73977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7411" name="Object 22"/>
          <p:cNvGraphicFramePr>
            <a:graphicFrameLocks noChangeAspect="1"/>
          </p:cNvGraphicFramePr>
          <p:nvPr/>
        </p:nvGraphicFramePr>
        <p:xfrm>
          <a:off x="6859588" y="3856038"/>
          <a:ext cx="831850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7160" imgH="228600" progId="Equation.3">
                  <p:embed/>
                </p:oleObj>
              </mc:Choice>
              <mc:Fallback>
                <p:oleObj name="Equation" r:id="rId4" imgW="317160" imgH="228600" progId="Equation.3">
                  <p:embed/>
                  <p:pic>
                    <p:nvPicPr>
                      <p:cNvPr id="17411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9588" y="3856038"/>
                        <a:ext cx="831850" cy="598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828366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Winter 2007</a:t>
            </a:r>
          </a:p>
        </p:txBody>
      </p:sp>
      <p:sp>
        <p:nvSpPr>
          <p:cNvPr id="6041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6042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08F9FDA-4605-470B-B956-789B87D2F90C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04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Demo</a:t>
            </a:r>
          </a:p>
        </p:txBody>
      </p:sp>
      <p:sp>
        <p:nvSpPr>
          <p:cNvPr id="604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See if you can feel that you must provide the force</a:t>
            </a:r>
          </a:p>
        </p:txBody>
      </p:sp>
    </p:spTree>
    <p:extLst>
      <p:ext uri="{BB962C8B-B14F-4D97-AF65-F5344CB8AC3E}">
        <p14:creationId xmlns:p14="http://schemas.microsoft.com/office/powerpoint/2010/main" val="28507010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381000"/>
            <a:ext cx="24384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47800" y="1917699"/>
            <a:ext cx="2362201" cy="1295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47800" y="3365500"/>
            <a:ext cx="2321437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509713" y="4965700"/>
            <a:ext cx="2300287" cy="128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343400" y="533400"/>
            <a:ext cx="25146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343400" y="1841500"/>
            <a:ext cx="2514600" cy="1358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343400" y="3365500"/>
            <a:ext cx="25146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6" name="Picture 10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343401" y="4889500"/>
            <a:ext cx="2590800" cy="1358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" name="Group 34"/>
          <p:cNvGrpSpPr/>
          <p:nvPr/>
        </p:nvGrpSpPr>
        <p:grpSpPr>
          <a:xfrm>
            <a:off x="1447800" y="609600"/>
            <a:ext cx="3210854" cy="5181600"/>
            <a:chOff x="1709273" y="738187"/>
            <a:chExt cx="3210854" cy="5181600"/>
          </a:xfrm>
        </p:grpSpPr>
        <p:sp>
          <p:nvSpPr>
            <p:cNvPr id="36" name="TextBox 9"/>
            <p:cNvSpPr txBox="1"/>
            <p:nvPr/>
          </p:nvSpPr>
          <p:spPr>
            <a:xfrm>
              <a:off x="1709273" y="738187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0s</a:t>
              </a:r>
            </a:p>
          </p:txBody>
        </p:sp>
        <p:sp>
          <p:nvSpPr>
            <p:cNvPr id="37" name="TextBox 10"/>
            <p:cNvSpPr txBox="1"/>
            <p:nvPr/>
          </p:nvSpPr>
          <p:spPr>
            <a:xfrm>
              <a:off x="1709273" y="2350055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1s</a:t>
              </a:r>
            </a:p>
          </p:txBody>
        </p:sp>
        <p:sp>
          <p:nvSpPr>
            <p:cNvPr id="38" name="TextBox 11"/>
            <p:cNvSpPr txBox="1"/>
            <p:nvPr/>
          </p:nvSpPr>
          <p:spPr>
            <a:xfrm>
              <a:off x="1709273" y="3938587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2s</a:t>
              </a:r>
            </a:p>
          </p:txBody>
        </p:sp>
        <p:sp>
          <p:nvSpPr>
            <p:cNvPr id="39" name="TextBox 12"/>
            <p:cNvSpPr txBox="1"/>
            <p:nvPr/>
          </p:nvSpPr>
          <p:spPr>
            <a:xfrm>
              <a:off x="1709273" y="5538787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3s</a:t>
              </a:r>
            </a:p>
          </p:txBody>
        </p:sp>
        <p:sp>
          <p:nvSpPr>
            <p:cNvPr id="40" name="TextBox 13"/>
            <p:cNvSpPr txBox="1"/>
            <p:nvPr/>
          </p:nvSpPr>
          <p:spPr>
            <a:xfrm>
              <a:off x="4528673" y="749855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4s</a:t>
              </a:r>
            </a:p>
          </p:txBody>
        </p:sp>
        <p:sp>
          <p:nvSpPr>
            <p:cNvPr id="41" name="TextBox 14"/>
            <p:cNvSpPr txBox="1"/>
            <p:nvPr/>
          </p:nvSpPr>
          <p:spPr>
            <a:xfrm>
              <a:off x="4528673" y="2361723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5s</a:t>
              </a:r>
            </a:p>
          </p:txBody>
        </p:sp>
        <p:sp>
          <p:nvSpPr>
            <p:cNvPr id="42" name="TextBox 15"/>
            <p:cNvSpPr txBox="1"/>
            <p:nvPr/>
          </p:nvSpPr>
          <p:spPr>
            <a:xfrm>
              <a:off x="4528673" y="3950255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6s</a:t>
              </a:r>
            </a:p>
          </p:txBody>
        </p:sp>
        <p:sp>
          <p:nvSpPr>
            <p:cNvPr id="43" name="TextBox 16"/>
            <p:cNvSpPr txBox="1"/>
            <p:nvPr/>
          </p:nvSpPr>
          <p:spPr>
            <a:xfrm>
              <a:off x="4528673" y="5550455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7s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62682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xoKNyUpnn20"/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76200" y="1333500"/>
            <a:ext cx="9067800" cy="510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4471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Winter 2007</a:t>
            </a:r>
          </a:p>
        </p:txBody>
      </p:sp>
      <p:sp>
        <p:nvSpPr>
          <p:cNvPr id="6246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6246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9D292EC-ADB3-4B5F-956B-BE6C725E96E4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246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Forces on the End of the Rope</a:t>
            </a:r>
          </a:p>
        </p:txBody>
      </p:sp>
      <p:grpSp>
        <p:nvGrpSpPr>
          <p:cNvPr id="2" name="Group 57"/>
          <p:cNvGrpSpPr>
            <a:grpSpLocks/>
          </p:cNvGrpSpPr>
          <p:nvPr/>
        </p:nvGrpSpPr>
        <p:grpSpPr bwMode="auto">
          <a:xfrm>
            <a:off x="285750" y="1192213"/>
            <a:ext cx="8399463" cy="5072062"/>
            <a:chOff x="180" y="751"/>
            <a:chExt cx="5291" cy="3195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624" y="751"/>
              <a:ext cx="4847" cy="1224"/>
              <a:chOff x="444" y="868"/>
              <a:chExt cx="4847" cy="1224"/>
            </a:xfrm>
          </p:grpSpPr>
          <p:sp>
            <p:nvSpPr>
              <p:cNvPr id="62501" name="AutoShape 5"/>
              <p:cNvSpPr>
                <a:spLocks noChangeArrowheads="1"/>
              </p:cNvSpPr>
              <p:nvPr/>
            </p:nvSpPr>
            <p:spPr bwMode="auto">
              <a:xfrm rot="8906288" flipH="1">
                <a:off x="444" y="1873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02" name="AutoShape 6"/>
              <p:cNvSpPr>
                <a:spLocks noChangeArrowheads="1"/>
              </p:cNvSpPr>
              <p:nvPr/>
            </p:nvSpPr>
            <p:spPr bwMode="auto">
              <a:xfrm rot="8685633" flipH="1">
                <a:off x="766" y="1647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03" name="AutoShape 7"/>
              <p:cNvSpPr>
                <a:spLocks noChangeArrowheads="1"/>
              </p:cNvSpPr>
              <p:nvPr/>
            </p:nvSpPr>
            <p:spPr bwMode="auto">
              <a:xfrm rot="8843297" flipH="1">
                <a:off x="1069" y="1435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04" name="AutoShape 8"/>
              <p:cNvSpPr>
                <a:spLocks noChangeArrowheads="1"/>
              </p:cNvSpPr>
              <p:nvPr/>
            </p:nvSpPr>
            <p:spPr bwMode="auto">
              <a:xfrm rot="8937746" flipH="1">
                <a:off x="1373" y="1228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05" name="AutoShape 9"/>
              <p:cNvSpPr>
                <a:spLocks noChangeArrowheads="1"/>
              </p:cNvSpPr>
              <p:nvPr/>
            </p:nvSpPr>
            <p:spPr bwMode="auto">
              <a:xfrm rot="9387045" flipH="1">
                <a:off x="1693" y="1051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06" name="AutoShape 10"/>
              <p:cNvSpPr>
                <a:spLocks noChangeArrowheads="1"/>
              </p:cNvSpPr>
              <p:nvPr/>
            </p:nvSpPr>
            <p:spPr bwMode="auto">
              <a:xfrm rot="9822954" flipH="1">
                <a:off x="2027" y="918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07" name="AutoShape 11"/>
              <p:cNvSpPr>
                <a:spLocks noChangeArrowheads="1"/>
              </p:cNvSpPr>
              <p:nvPr/>
            </p:nvSpPr>
            <p:spPr bwMode="auto">
              <a:xfrm rot="10699326" flipH="1">
                <a:off x="2379" y="868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08" name="AutoShape 12"/>
              <p:cNvSpPr>
                <a:spLocks noChangeArrowheads="1"/>
              </p:cNvSpPr>
              <p:nvPr/>
            </p:nvSpPr>
            <p:spPr bwMode="auto">
              <a:xfrm rot="321144">
                <a:off x="2784" y="873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09" name="AutoShape 13"/>
              <p:cNvSpPr>
                <a:spLocks noChangeArrowheads="1"/>
              </p:cNvSpPr>
              <p:nvPr/>
            </p:nvSpPr>
            <p:spPr bwMode="auto">
              <a:xfrm rot="1103145">
                <a:off x="3145" y="959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10" name="AutoShape 14"/>
              <p:cNvSpPr>
                <a:spLocks noChangeArrowheads="1"/>
              </p:cNvSpPr>
              <p:nvPr/>
            </p:nvSpPr>
            <p:spPr bwMode="auto">
              <a:xfrm rot="1507549">
                <a:off x="3497" y="1065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11" name="AutoShape 15"/>
              <p:cNvSpPr>
                <a:spLocks noChangeArrowheads="1"/>
              </p:cNvSpPr>
              <p:nvPr/>
            </p:nvSpPr>
            <p:spPr bwMode="auto">
              <a:xfrm rot="2051297">
                <a:off x="3817" y="1242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" name="Group 16"/>
              <p:cNvGrpSpPr>
                <a:grpSpLocks/>
              </p:cNvGrpSpPr>
              <p:nvPr/>
            </p:nvGrpSpPr>
            <p:grpSpPr bwMode="auto">
              <a:xfrm rot="2051297">
                <a:off x="4052" y="1663"/>
                <a:ext cx="1239" cy="230"/>
                <a:chOff x="2742" y="2660"/>
                <a:chExt cx="1239" cy="230"/>
              </a:xfrm>
            </p:grpSpPr>
            <p:sp>
              <p:nvSpPr>
                <p:cNvPr id="62513" name="AutoShape 17"/>
                <p:cNvSpPr>
                  <a:spLocks noChangeArrowheads="1"/>
                </p:cNvSpPr>
                <p:nvPr/>
              </p:nvSpPr>
              <p:spPr bwMode="auto">
                <a:xfrm>
                  <a:off x="2742" y="2660"/>
                  <a:ext cx="476" cy="219"/>
                </a:xfrm>
                <a:prstGeom prst="flowChartMagneticDrum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514" name="AutoShape 18"/>
                <p:cNvSpPr>
                  <a:spLocks noChangeArrowheads="1"/>
                </p:cNvSpPr>
                <p:nvPr/>
              </p:nvSpPr>
              <p:spPr bwMode="auto">
                <a:xfrm>
                  <a:off x="3112" y="2665"/>
                  <a:ext cx="476" cy="219"/>
                </a:xfrm>
                <a:prstGeom prst="flowChartMagneticDrum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515" name="AutoShape 19"/>
                <p:cNvSpPr>
                  <a:spLocks noChangeArrowheads="1"/>
                </p:cNvSpPr>
                <p:nvPr/>
              </p:nvSpPr>
              <p:spPr bwMode="auto">
                <a:xfrm>
                  <a:off x="3505" y="2671"/>
                  <a:ext cx="476" cy="219"/>
                </a:xfrm>
                <a:prstGeom prst="flowChartMagneticDrum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62472" name="Oval 22"/>
            <p:cNvSpPr>
              <a:spLocks noChangeArrowheads="1"/>
            </p:cNvSpPr>
            <p:nvPr/>
          </p:nvSpPr>
          <p:spPr bwMode="auto">
            <a:xfrm>
              <a:off x="4811" y="1669"/>
              <a:ext cx="621" cy="613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73" name="Line 23"/>
            <p:cNvSpPr>
              <a:spLocks noChangeShapeType="1"/>
            </p:cNvSpPr>
            <p:nvPr/>
          </p:nvSpPr>
          <p:spPr bwMode="auto">
            <a:xfrm flipH="1">
              <a:off x="3728" y="1673"/>
              <a:ext cx="1325" cy="2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74" name="Line 24"/>
            <p:cNvSpPr>
              <a:spLocks noChangeShapeType="1"/>
            </p:cNvSpPr>
            <p:nvPr/>
          </p:nvSpPr>
          <p:spPr bwMode="auto">
            <a:xfrm flipH="1">
              <a:off x="4554" y="2143"/>
              <a:ext cx="832" cy="11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75" name="Oval 26"/>
            <p:cNvSpPr>
              <a:spLocks noChangeArrowheads="1"/>
            </p:cNvSpPr>
            <p:nvPr/>
          </p:nvSpPr>
          <p:spPr bwMode="auto">
            <a:xfrm>
              <a:off x="3005" y="1902"/>
              <a:ext cx="1764" cy="1709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76" name="Line 28"/>
            <p:cNvSpPr>
              <a:spLocks noChangeShapeType="1"/>
            </p:cNvSpPr>
            <p:nvPr/>
          </p:nvSpPr>
          <p:spPr bwMode="auto">
            <a:xfrm>
              <a:off x="3888" y="2796"/>
              <a:ext cx="0" cy="264"/>
            </a:xfrm>
            <a:prstGeom prst="line">
              <a:avLst/>
            </a:prstGeom>
            <a:noFill/>
            <a:ln w="28575">
              <a:solidFill>
                <a:srgbClr val="33CCCC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" name="Group 29"/>
            <p:cNvGrpSpPr>
              <a:grpSpLocks/>
            </p:cNvGrpSpPr>
            <p:nvPr/>
          </p:nvGrpSpPr>
          <p:grpSpPr bwMode="auto">
            <a:xfrm>
              <a:off x="3141" y="2081"/>
              <a:ext cx="1565" cy="1258"/>
              <a:chOff x="3235" y="2328"/>
              <a:chExt cx="1565" cy="1258"/>
            </a:xfrm>
          </p:grpSpPr>
          <p:sp>
            <p:nvSpPr>
              <p:cNvPr id="62488" name="Line 30"/>
              <p:cNvSpPr>
                <a:spLocks noChangeShapeType="1"/>
              </p:cNvSpPr>
              <p:nvPr/>
            </p:nvSpPr>
            <p:spPr bwMode="auto">
              <a:xfrm>
                <a:off x="3860" y="2941"/>
                <a:ext cx="251" cy="4"/>
              </a:xfrm>
              <a:prstGeom prst="line">
                <a:avLst/>
              </a:prstGeom>
              <a:noFill/>
              <a:ln w="28575">
                <a:solidFill>
                  <a:srgbClr val="3366FF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89" name="AutoShape 31"/>
              <p:cNvSpPr>
                <a:spLocks noChangeArrowheads="1"/>
              </p:cNvSpPr>
              <p:nvPr/>
            </p:nvSpPr>
            <p:spPr bwMode="auto">
              <a:xfrm rot="2051297">
                <a:off x="3781" y="2925"/>
                <a:ext cx="476" cy="219"/>
              </a:xfrm>
              <a:prstGeom prst="flowChartMagneticDrum">
                <a:avLst/>
              </a:prstGeom>
              <a:solidFill>
                <a:schemeClr val="accent1">
                  <a:alpha val="52156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90" name="Line 32"/>
              <p:cNvSpPr>
                <a:spLocks noChangeShapeType="1"/>
              </p:cNvSpPr>
              <p:nvPr/>
            </p:nvSpPr>
            <p:spPr bwMode="auto">
              <a:xfrm flipV="1">
                <a:off x="3870" y="2532"/>
                <a:ext cx="0" cy="402"/>
              </a:xfrm>
              <a:prstGeom prst="line">
                <a:avLst/>
              </a:prstGeom>
              <a:noFill/>
              <a:ln w="28575">
                <a:solidFill>
                  <a:srgbClr val="3366FF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91" name="Line 33"/>
              <p:cNvSpPr>
                <a:spLocks noChangeShapeType="1"/>
              </p:cNvSpPr>
              <p:nvPr/>
            </p:nvSpPr>
            <p:spPr bwMode="auto">
              <a:xfrm flipH="1" flipV="1">
                <a:off x="3479" y="2643"/>
                <a:ext cx="393" cy="302"/>
              </a:xfrm>
              <a:prstGeom prst="line">
                <a:avLst/>
              </a:prstGeom>
              <a:noFill/>
              <a:ln w="28575">
                <a:solidFill>
                  <a:srgbClr val="3366FF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92" name="Text Box 34"/>
              <p:cNvSpPr txBox="1">
                <a:spLocks noChangeArrowheads="1"/>
              </p:cNvSpPr>
              <p:nvPr/>
            </p:nvSpPr>
            <p:spPr bwMode="auto">
              <a:xfrm>
                <a:off x="3235" y="2455"/>
                <a:ext cx="204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b="1">
                    <a:solidFill>
                      <a:srgbClr val="3366FF"/>
                    </a:solidFill>
                  </a:rPr>
                  <a:t>T</a:t>
                </a:r>
              </a:p>
            </p:txBody>
          </p:sp>
          <p:sp>
            <p:nvSpPr>
              <p:cNvPr id="62493" name="Text Box 35"/>
              <p:cNvSpPr txBox="1">
                <a:spLocks noChangeArrowheads="1"/>
              </p:cNvSpPr>
              <p:nvPr/>
            </p:nvSpPr>
            <p:spPr bwMode="auto">
              <a:xfrm>
                <a:off x="3239" y="2835"/>
                <a:ext cx="257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b="1">
                    <a:solidFill>
                      <a:srgbClr val="3366FF"/>
                    </a:solidFill>
                  </a:rPr>
                  <a:t>T</a:t>
                </a:r>
                <a:r>
                  <a:rPr lang="en-US" b="1" baseline="-25000">
                    <a:solidFill>
                      <a:srgbClr val="3366FF"/>
                    </a:solidFill>
                  </a:rPr>
                  <a:t>x</a:t>
                </a:r>
              </a:p>
            </p:txBody>
          </p:sp>
          <p:sp>
            <p:nvSpPr>
              <p:cNvPr id="62494" name="Text Box 36"/>
              <p:cNvSpPr txBox="1">
                <a:spLocks noChangeArrowheads="1"/>
              </p:cNvSpPr>
              <p:nvPr/>
            </p:nvSpPr>
            <p:spPr bwMode="auto">
              <a:xfrm>
                <a:off x="3811" y="2328"/>
                <a:ext cx="257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b="1">
                    <a:solidFill>
                      <a:srgbClr val="3366FF"/>
                    </a:solidFill>
                  </a:rPr>
                  <a:t>T</a:t>
                </a:r>
                <a:r>
                  <a:rPr lang="en-US" b="1" baseline="-25000">
                    <a:solidFill>
                      <a:srgbClr val="3366FF"/>
                    </a:solidFill>
                  </a:rPr>
                  <a:t>y</a:t>
                </a:r>
              </a:p>
            </p:txBody>
          </p:sp>
          <p:sp>
            <p:nvSpPr>
              <p:cNvPr id="62495" name="Line 37"/>
              <p:cNvSpPr>
                <a:spLocks noChangeShapeType="1"/>
              </p:cNvSpPr>
              <p:nvPr/>
            </p:nvSpPr>
            <p:spPr bwMode="auto">
              <a:xfrm flipV="1">
                <a:off x="4149" y="2709"/>
                <a:ext cx="8" cy="430"/>
              </a:xfrm>
              <a:prstGeom prst="line">
                <a:avLst/>
              </a:prstGeom>
              <a:noFill/>
              <a:ln w="28575">
                <a:solidFill>
                  <a:srgbClr val="99CCFF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96" name="Line 38"/>
              <p:cNvSpPr>
                <a:spLocks noChangeShapeType="1"/>
              </p:cNvSpPr>
              <p:nvPr/>
            </p:nvSpPr>
            <p:spPr bwMode="auto">
              <a:xfrm flipV="1">
                <a:off x="4159" y="3132"/>
                <a:ext cx="357" cy="0"/>
              </a:xfrm>
              <a:prstGeom prst="line">
                <a:avLst/>
              </a:prstGeom>
              <a:noFill/>
              <a:ln w="28575">
                <a:solidFill>
                  <a:srgbClr val="99CCFF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97" name="Line 39"/>
              <p:cNvSpPr>
                <a:spLocks noChangeShapeType="1"/>
              </p:cNvSpPr>
              <p:nvPr/>
            </p:nvSpPr>
            <p:spPr bwMode="auto">
              <a:xfrm>
                <a:off x="4147" y="3128"/>
                <a:ext cx="393" cy="302"/>
              </a:xfrm>
              <a:prstGeom prst="line">
                <a:avLst/>
              </a:prstGeom>
              <a:noFill/>
              <a:ln w="28575">
                <a:solidFill>
                  <a:srgbClr val="99CCFF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98" name="Text Box 40"/>
              <p:cNvSpPr txBox="1">
                <a:spLocks noChangeArrowheads="1"/>
              </p:cNvSpPr>
              <p:nvPr/>
            </p:nvSpPr>
            <p:spPr bwMode="auto">
              <a:xfrm>
                <a:off x="4527" y="3355"/>
                <a:ext cx="204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b="1">
                    <a:solidFill>
                      <a:srgbClr val="7DC4C9"/>
                    </a:solidFill>
                  </a:rPr>
                  <a:t>T</a:t>
                </a:r>
              </a:p>
            </p:txBody>
          </p:sp>
          <p:sp>
            <p:nvSpPr>
              <p:cNvPr id="62499" name="Text Box 41"/>
              <p:cNvSpPr txBox="1">
                <a:spLocks noChangeArrowheads="1"/>
              </p:cNvSpPr>
              <p:nvPr/>
            </p:nvSpPr>
            <p:spPr bwMode="auto">
              <a:xfrm>
                <a:off x="4183" y="2579"/>
                <a:ext cx="257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b="1">
                    <a:solidFill>
                      <a:srgbClr val="7DC4C9"/>
                    </a:solidFill>
                  </a:rPr>
                  <a:t>T</a:t>
                </a:r>
                <a:r>
                  <a:rPr lang="en-US" b="1" baseline="-25000">
                    <a:solidFill>
                      <a:srgbClr val="7DC4C9"/>
                    </a:solidFill>
                  </a:rPr>
                  <a:t>y</a:t>
                </a:r>
              </a:p>
            </p:txBody>
          </p:sp>
          <p:sp>
            <p:nvSpPr>
              <p:cNvPr id="62500" name="Text Box 42"/>
              <p:cNvSpPr txBox="1">
                <a:spLocks noChangeArrowheads="1"/>
              </p:cNvSpPr>
              <p:nvPr/>
            </p:nvSpPr>
            <p:spPr bwMode="auto">
              <a:xfrm>
                <a:off x="4543" y="2987"/>
                <a:ext cx="257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b="1">
                    <a:solidFill>
                      <a:srgbClr val="7DC4C9"/>
                    </a:solidFill>
                  </a:rPr>
                  <a:t>T</a:t>
                </a:r>
                <a:r>
                  <a:rPr lang="en-US" b="1" baseline="-25000">
                    <a:solidFill>
                      <a:srgbClr val="7DC4C9"/>
                    </a:solidFill>
                  </a:rPr>
                  <a:t>x</a:t>
                </a:r>
              </a:p>
            </p:txBody>
          </p:sp>
        </p:grpSp>
        <p:sp>
          <p:nvSpPr>
            <p:cNvPr id="62478" name="Text Box 43"/>
            <p:cNvSpPr txBox="1">
              <a:spLocks noChangeArrowheads="1"/>
            </p:cNvSpPr>
            <p:nvPr/>
          </p:nvSpPr>
          <p:spPr bwMode="auto">
            <a:xfrm>
              <a:off x="3573" y="2903"/>
              <a:ext cx="257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DC4C9"/>
                  </a:solidFill>
                </a:rPr>
                <a:t>F</a:t>
              </a:r>
              <a:r>
                <a:rPr lang="en-US" baseline="-25000">
                  <a:solidFill>
                    <a:srgbClr val="7DC4C9"/>
                  </a:solidFill>
                </a:rPr>
                <a:t>g</a:t>
              </a:r>
            </a:p>
          </p:txBody>
        </p:sp>
        <p:sp>
          <p:nvSpPr>
            <p:cNvPr id="62479" name="Oval 46"/>
            <p:cNvSpPr>
              <a:spLocks noChangeArrowheads="1"/>
            </p:cNvSpPr>
            <p:nvPr/>
          </p:nvSpPr>
          <p:spPr bwMode="auto">
            <a:xfrm>
              <a:off x="3828" y="2671"/>
              <a:ext cx="438" cy="429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80" name="Line 47"/>
            <p:cNvSpPr>
              <a:spLocks noChangeShapeType="1"/>
            </p:cNvSpPr>
            <p:nvPr/>
          </p:nvSpPr>
          <p:spPr bwMode="auto">
            <a:xfrm flipH="1" flipV="1">
              <a:off x="1716" y="1316"/>
              <a:ext cx="2350" cy="59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81" name="Line 48"/>
            <p:cNvSpPr>
              <a:spLocks noChangeShapeType="1"/>
            </p:cNvSpPr>
            <p:nvPr/>
          </p:nvSpPr>
          <p:spPr bwMode="auto">
            <a:xfrm flipH="1">
              <a:off x="1547" y="3587"/>
              <a:ext cx="2542" cy="35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82" name="Oval 49"/>
            <p:cNvSpPr>
              <a:spLocks noChangeArrowheads="1"/>
            </p:cNvSpPr>
            <p:nvPr/>
          </p:nvSpPr>
          <p:spPr bwMode="auto">
            <a:xfrm>
              <a:off x="180" y="1295"/>
              <a:ext cx="2610" cy="2651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83" name="Text Box 50"/>
            <p:cNvSpPr txBox="1">
              <a:spLocks noChangeArrowheads="1"/>
            </p:cNvSpPr>
            <p:nvPr/>
          </p:nvSpPr>
          <p:spPr bwMode="auto">
            <a:xfrm>
              <a:off x="985" y="1669"/>
              <a:ext cx="497" cy="3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3200" b="1">
                  <a:solidFill>
                    <a:srgbClr val="7DC4C9"/>
                  </a:solidFill>
                </a:rPr>
                <a:t>T</a:t>
              </a:r>
              <a:r>
                <a:rPr lang="en-US" sz="3200" b="1" baseline="-25000">
                  <a:solidFill>
                    <a:srgbClr val="7DC4C9"/>
                  </a:solidFill>
                </a:rPr>
                <a:t>y</a:t>
              </a:r>
            </a:p>
          </p:txBody>
        </p:sp>
        <p:sp>
          <p:nvSpPr>
            <p:cNvPr id="62484" name="Text Box 51"/>
            <p:cNvSpPr txBox="1">
              <a:spLocks noChangeArrowheads="1"/>
            </p:cNvSpPr>
            <p:nvPr/>
          </p:nvSpPr>
          <p:spPr bwMode="auto">
            <a:xfrm>
              <a:off x="1067" y="2772"/>
              <a:ext cx="366" cy="3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3200">
                  <a:solidFill>
                    <a:srgbClr val="7DC4C9"/>
                  </a:solidFill>
                </a:rPr>
                <a:t>F</a:t>
              </a:r>
              <a:r>
                <a:rPr lang="en-US" sz="3200" baseline="-25000">
                  <a:solidFill>
                    <a:srgbClr val="7DC4C9"/>
                  </a:solidFill>
                </a:rPr>
                <a:t>g</a:t>
              </a:r>
            </a:p>
          </p:txBody>
        </p:sp>
        <p:sp>
          <p:nvSpPr>
            <p:cNvPr id="62485" name="Line 52"/>
            <p:cNvSpPr>
              <a:spLocks noChangeShapeType="1"/>
            </p:cNvSpPr>
            <p:nvPr/>
          </p:nvSpPr>
          <p:spPr bwMode="auto">
            <a:xfrm>
              <a:off x="1526" y="2673"/>
              <a:ext cx="0" cy="451"/>
            </a:xfrm>
            <a:prstGeom prst="line">
              <a:avLst/>
            </a:prstGeom>
            <a:noFill/>
            <a:ln w="28575">
              <a:solidFill>
                <a:srgbClr val="33CCCC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86" name="AutoShape 53"/>
            <p:cNvSpPr>
              <a:spLocks noChangeArrowheads="1"/>
            </p:cNvSpPr>
            <p:nvPr/>
          </p:nvSpPr>
          <p:spPr bwMode="auto">
            <a:xfrm rot="2051297">
              <a:off x="1350" y="2342"/>
              <a:ext cx="433" cy="375"/>
            </a:xfrm>
            <a:prstGeom prst="flowChartMagneticDrum">
              <a:avLst/>
            </a:prstGeom>
            <a:solidFill>
              <a:schemeClr val="accent1">
                <a:alpha val="52156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87" name="Line 54"/>
            <p:cNvSpPr>
              <a:spLocks noChangeShapeType="1"/>
            </p:cNvSpPr>
            <p:nvPr/>
          </p:nvSpPr>
          <p:spPr bwMode="auto">
            <a:xfrm flipH="1" flipV="1">
              <a:off x="1515" y="1448"/>
              <a:ext cx="4" cy="829"/>
            </a:xfrm>
            <a:prstGeom prst="line">
              <a:avLst/>
            </a:prstGeom>
            <a:noFill/>
            <a:ln w="28575">
              <a:solidFill>
                <a:srgbClr val="99CCFF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827901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Winter 2007</a:t>
            </a:r>
          </a:p>
        </p:txBody>
      </p:sp>
      <p:sp>
        <p:nvSpPr>
          <p:cNvPr id="6349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6349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EC60645-FEDE-4321-8C90-8A445AB3CA12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34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Case 3: Semi-loose End</a:t>
            </a:r>
          </a:p>
        </p:txBody>
      </p:sp>
      <p:sp>
        <p:nvSpPr>
          <p:cNvPr id="634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3367088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/>
              <a:t>Now the pulse is partially reflected</a:t>
            </a:r>
          </a:p>
          <a:p>
            <a:pPr eaLnBrk="1" hangingPunct="1">
              <a:lnSpc>
                <a:spcPct val="80000"/>
              </a:lnSpc>
            </a:pPr>
            <a:r>
              <a:rPr lang="en-US" sz="2800"/>
              <a:t>RHS rope sees a semi-fixed end point</a:t>
            </a:r>
          </a:p>
          <a:p>
            <a:pPr eaLnBrk="1" hangingPunct="1">
              <a:lnSpc>
                <a:spcPct val="80000"/>
              </a:lnSpc>
            </a:pPr>
            <a:r>
              <a:rPr lang="en-US" sz="2800"/>
              <a:t>LHS receives part of the pulse energy</a:t>
            </a:r>
          </a:p>
          <a:p>
            <a:pPr eaLnBrk="1" hangingPunct="1">
              <a:lnSpc>
                <a:spcPct val="80000"/>
              </a:lnSpc>
            </a:pPr>
            <a:r>
              <a:rPr lang="en-US" sz="2800"/>
              <a:t>New pulse has been “transmitted”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E5FC2A-0A7E-59BF-C54F-818F688A1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125" y="1851025"/>
            <a:ext cx="4321985" cy="3384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8431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Winter 2007</a:t>
            </a:r>
          </a:p>
        </p:txBody>
      </p:sp>
      <p:sp>
        <p:nvSpPr>
          <p:cNvPr id="6451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6451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AE0FC15-F05C-481F-90B8-18635F0468E7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451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Forces on the End of the Rope</a:t>
            </a:r>
          </a:p>
        </p:txBody>
      </p:sp>
      <p:grpSp>
        <p:nvGrpSpPr>
          <p:cNvPr id="2" name="Group 59"/>
          <p:cNvGrpSpPr>
            <a:grpSpLocks/>
          </p:cNvGrpSpPr>
          <p:nvPr/>
        </p:nvGrpSpPr>
        <p:grpSpPr bwMode="auto">
          <a:xfrm>
            <a:off x="0" y="1192213"/>
            <a:ext cx="9142413" cy="5072062"/>
            <a:chOff x="0" y="751"/>
            <a:chExt cx="5759" cy="3195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444" y="751"/>
              <a:ext cx="4847" cy="1224"/>
              <a:chOff x="444" y="868"/>
              <a:chExt cx="4847" cy="1224"/>
            </a:xfrm>
          </p:grpSpPr>
          <p:sp>
            <p:nvSpPr>
              <p:cNvPr id="64555" name="AutoShape 5"/>
              <p:cNvSpPr>
                <a:spLocks noChangeArrowheads="1"/>
              </p:cNvSpPr>
              <p:nvPr/>
            </p:nvSpPr>
            <p:spPr bwMode="auto">
              <a:xfrm rot="8906288" flipH="1">
                <a:off x="444" y="1873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556" name="AutoShape 6"/>
              <p:cNvSpPr>
                <a:spLocks noChangeArrowheads="1"/>
              </p:cNvSpPr>
              <p:nvPr/>
            </p:nvSpPr>
            <p:spPr bwMode="auto">
              <a:xfrm rot="8685633" flipH="1">
                <a:off x="766" y="1647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557" name="AutoShape 7"/>
              <p:cNvSpPr>
                <a:spLocks noChangeArrowheads="1"/>
              </p:cNvSpPr>
              <p:nvPr/>
            </p:nvSpPr>
            <p:spPr bwMode="auto">
              <a:xfrm rot="8843297" flipH="1">
                <a:off x="1069" y="1435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558" name="AutoShape 8"/>
              <p:cNvSpPr>
                <a:spLocks noChangeArrowheads="1"/>
              </p:cNvSpPr>
              <p:nvPr/>
            </p:nvSpPr>
            <p:spPr bwMode="auto">
              <a:xfrm rot="8937746" flipH="1">
                <a:off x="1373" y="1228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559" name="AutoShape 9"/>
              <p:cNvSpPr>
                <a:spLocks noChangeArrowheads="1"/>
              </p:cNvSpPr>
              <p:nvPr/>
            </p:nvSpPr>
            <p:spPr bwMode="auto">
              <a:xfrm rot="9387045" flipH="1">
                <a:off x="1693" y="1051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560" name="AutoShape 10"/>
              <p:cNvSpPr>
                <a:spLocks noChangeArrowheads="1"/>
              </p:cNvSpPr>
              <p:nvPr/>
            </p:nvSpPr>
            <p:spPr bwMode="auto">
              <a:xfrm rot="9822954" flipH="1">
                <a:off x="2027" y="918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561" name="AutoShape 11"/>
              <p:cNvSpPr>
                <a:spLocks noChangeArrowheads="1"/>
              </p:cNvSpPr>
              <p:nvPr/>
            </p:nvSpPr>
            <p:spPr bwMode="auto">
              <a:xfrm rot="10699326" flipH="1">
                <a:off x="2379" y="868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562" name="AutoShape 12"/>
              <p:cNvSpPr>
                <a:spLocks noChangeArrowheads="1"/>
              </p:cNvSpPr>
              <p:nvPr/>
            </p:nvSpPr>
            <p:spPr bwMode="auto">
              <a:xfrm rot="321144">
                <a:off x="2784" y="873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563" name="AutoShape 13"/>
              <p:cNvSpPr>
                <a:spLocks noChangeArrowheads="1"/>
              </p:cNvSpPr>
              <p:nvPr/>
            </p:nvSpPr>
            <p:spPr bwMode="auto">
              <a:xfrm rot="1103145">
                <a:off x="3145" y="959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564" name="AutoShape 14"/>
              <p:cNvSpPr>
                <a:spLocks noChangeArrowheads="1"/>
              </p:cNvSpPr>
              <p:nvPr/>
            </p:nvSpPr>
            <p:spPr bwMode="auto">
              <a:xfrm rot="1507549">
                <a:off x="3497" y="1065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565" name="AutoShape 15"/>
              <p:cNvSpPr>
                <a:spLocks noChangeArrowheads="1"/>
              </p:cNvSpPr>
              <p:nvPr/>
            </p:nvSpPr>
            <p:spPr bwMode="auto">
              <a:xfrm rot="2051297">
                <a:off x="3817" y="1242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" name="Group 16"/>
              <p:cNvGrpSpPr>
                <a:grpSpLocks/>
              </p:cNvGrpSpPr>
              <p:nvPr/>
            </p:nvGrpSpPr>
            <p:grpSpPr bwMode="auto">
              <a:xfrm rot="2051297">
                <a:off x="4052" y="1663"/>
                <a:ext cx="1239" cy="230"/>
                <a:chOff x="2742" y="2660"/>
                <a:chExt cx="1239" cy="230"/>
              </a:xfrm>
            </p:grpSpPr>
            <p:sp>
              <p:nvSpPr>
                <p:cNvPr id="64567" name="AutoShape 17"/>
                <p:cNvSpPr>
                  <a:spLocks noChangeArrowheads="1"/>
                </p:cNvSpPr>
                <p:nvPr/>
              </p:nvSpPr>
              <p:spPr bwMode="auto">
                <a:xfrm>
                  <a:off x="2742" y="2660"/>
                  <a:ext cx="476" cy="219"/>
                </a:xfrm>
                <a:prstGeom prst="flowChartMagneticDrum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568" name="AutoShape 18"/>
                <p:cNvSpPr>
                  <a:spLocks noChangeArrowheads="1"/>
                </p:cNvSpPr>
                <p:nvPr/>
              </p:nvSpPr>
              <p:spPr bwMode="auto">
                <a:xfrm>
                  <a:off x="3112" y="2665"/>
                  <a:ext cx="476" cy="219"/>
                </a:xfrm>
                <a:prstGeom prst="flowChartMagneticDrum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569" name="AutoShape 19"/>
                <p:cNvSpPr>
                  <a:spLocks noChangeArrowheads="1"/>
                </p:cNvSpPr>
                <p:nvPr/>
              </p:nvSpPr>
              <p:spPr bwMode="auto">
                <a:xfrm>
                  <a:off x="3505" y="2671"/>
                  <a:ext cx="476" cy="219"/>
                </a:xfrm>
                <a:prstGeom prst="flowChartMagneticDrum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64520" name="Line 23"/>
            <p:cNvSpPr>
              <a:spLocks noChangeShapeType="1"/>
            </p:cNvSpPr>
            <p:nvPr/>
          </p:nvSpPr>
          <p:spPr bwMode="auto">
            <a:xfrm flipH="1">
              <a:off x="3548" y="1600"/>
              <a:ext cx="1388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521" name="Oval 26"/>
            <p:cNvSpPr>
              <a:spLocks noChangeArrowheads="1"/>
            </p:cNvSpPr>
            <p:nvPr/>
          </p:nvSpPr>
          <p:spPr bwMode="auto">
            <a:xfrm>
              <a:off x="2825" y="1902"/>
              <a:ext cx="1764" cy="1709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522" name="Line 28"/>
            <p:cNvSpPr>
              <a:spLocks noChangeShapeType="1"/>
            </p:cNvSpPr>
            <p:nvPr/>
          </p:nvSpPr>
          <p:spPr bwMode="auto">
            <a:xfrm>
              <a:off x="3708" y="2796"/>
              <a:ext cx="0" cy="264"/>
            </a:xfrm>
            <a:prstGeom prst="line">
              <a:avLst/>
            </a:prstGeom>
            <a:noFill/>
            <a:ln w="28575">
              <a:solidFill>
                <a:srgbClr val="33CCCC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" name="Group 29"/>
            <p:cNvGrpSpPr>
              <a:grpSpLocks/>
            </p:cNvGrpSpPr>
            <p:nvPr/>
          </p:nvGrpSpPr>
          <p:grpSpPr bwMode="auto">
            <a:xfrm>
              <a:off x="2961" y="2081"/>
              <a:ext cx="1565" cy="1258"/>
              <a:chOff x="3235" y="2328"/>
              <a:chExt cx="1565" cy="1258"/>
            </a:xfrm>
          </p:grpSpPr>
          <p:sp>
            <p:nvSpPr>
              <p:cNvPr id="64542" name="Line 30"/>
              <p:cNvSpPr>
                <a:spLocks noChangeShapeType="1"/>
              </p:cNvSpPr>
              <p:nvPr/>
            </p:nvSpPr>
            <p:spPr bwMode="auto">
              <a:xfrm>
                <a:off x="3860" y="2941"/>
                <a:ext cx="251" cy="4"/>
              </a:xfrm>
              <a:prstGeom prst="line">
                <a:avLst/>
              </a:prstGeom>
              <a:noFill/>
              <a:ln w="28575">
                <a:solidFill>
                  <a:srgbClr val="3366FF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543" name="AutoShape 31"/>
              <p:cNvSpPr>
                <a:spLocks noChangeArrowheads="1"/>
              </p:cNvSpPr>
              <p:nvPr/>
            </p:nvSpPr>
            <p:spPr bwMode="auto">
              <a:xfrm rot="2051297">
                <a:off x="3781" y="2925"/>
                <a:ext cx="476" cy="219"/>
              </a:xfrm>
              <a:prstGeom prst="flowChartMagneticDrum">
                <a:avLst/>
              </a:prstGeom>
              <a:solidFill>
                <a:schemeClr val="accent1">
                  <a:alpha val="52156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544" name="Line 32"/>
              <p:cNvSpPr>
                <a:spLocks noChangeShapeType="1"/>
              </p:cNvSpPr>
              <p:nvPr/>
            </p:nvSpPr>
            <p:spPr bwMode="auto">
              <a:xfrm flipV="1">
                <a:off x="3870" y="2532"/>
                <a:ext cx="0" cy="402"/>
              </a:xfrm>
              <a:prstGeom prst="line">
                <a:avLst/>
              </a:prstGeom>
              <a:noFill/>
              <a:ln w="28575">
                <a:solidFill>
                  <a:srgbClr val="3366FF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545" name="Line 33"/>
              <p:cNvSpPr>
                <a:spLocks noChangeShapeType="1"/>
              </p:cNvSpPr>
              <p:nvPr/>
            </p:nvSpPr>
            <p:spPr bwMode="auto">
              <a:xfrm flipH="1" flipV="1">
                <a:off x="3479" y="2643"/>
                <a:ext cx="393" cy="302"/>
              </a:xfrm>
              <a:prstGeom prst="line">
                <a:avLst/>
              </a:prstGeom>
              <a:noFill/>
              <a:ln w="28575">
                <a:solidFill>
                  <a:srgbClr val="3366FF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546" name="Text Box 34"/>
              <p:cNvSpPr txBox="1">
                <a:spLocks noChangeArrowheads="1"/>
              </p:cNvSpPr>
              <p:nvPr/>
            </p:nvSpPr>
            <p:spPr bwMode="auto">
              <a:xfrm>
                <a:off x="3235" y="2455"/>
                <a:ext cx="204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b="1">
                    <a:solidFill>
                      <a:srgbClr val="3366FF"/>
                    </a:solidFill>
                  </a:rPr>
                  <a:t>T</a:t>
                </a:r>
              </a:p>
            </p:txBody>
          </p:sp>
          <p:sp>
            <p:nvSpPr>
              <p:cNvPr id="64547" name="Text Box 35"/>
              <p:cNvSpPr txBox="1">
                <a:spLocks noChangeArrowheads="1"/>
              </p:cNvSpPr>
              <p:nvPr/>
            </p:nvSpPr>
            <p:spPr bwMode="auto">
              <a:xfrm>
                <a:off x="3239" y="2835"/>
                <a:ext cx="257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b="1">
                    <a:solidFill>
                      <a:srgbClr val="3366FF"/>
                    </a:solidFill>
                  </a:rPr>
                  <a:t>T</a:t>
                </a:r>
                <a:r>
                  <a:rPr lang="en-US" b="1" baseline="-25000">
                    <a:solidFill>
                      <a:srgbClr val="3366FF"/>
                    </a:solidFill>
                  </a:rPr>
                  <a:t>x</a:t>
                </a:r>
              </a:p>
            </p:txBody>
          </p:sp>
          <p:sp>
            <p:nvSpPr>
              <p:cNvPr id="64548" name="Text Box 36"/>
              <p:cNvSpPr txBox="1">
                <a:spLocks noChangeArrowheads="1"/>
              </p:cNvSpPr>
              <p:nvPr/>
            </p:nvSpPr>
            <p:spPr bwMode="auto">
              <a:xfrm>
                <a:off x="3811" y="2328"/>
                <a:ext cx="257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b="1">
                    <a:solidFill>
                      <a:srgbClr val="3366FF"/>
                    </a:solidFill>
                  </a:rPr>
                  <a:t>T</a:t>
                </a:r>
                <a:r>
                  <a:rPr lang="en-US" b="1" baseline="-25000">
                    <a:solidFill>
                      <a:srgbClr val="3366FF"/>
                    </a:solidFill>
                  </a:rPr>
                  <a:t>y</a:t>
                </a:r>
              </a:p>
            </p:txBody>
          </p:sp>
          <p:sp>
            <p:nvSpPr>
              <p:cNvPr id="64549" name="Line 37"/>
              <p:cNvSpPr>
                <a:spLocks noChangeShapeType="1"/>
              </p:cNvSpPr>
              <p:nvPr/>
            </p:nvSpPr>
            <p:spPr bwMode="auto">
              <a:xfrm flipV="1">
                <a:off x="4149" y="2709"/>
                <a:ext cx="8" cy="430"/>
              </a:xfrm>
              <a:prstGeom prst="line">
                <a:avLst/>
              </a:prstGeom>
              <a:noFill/>
              <a:ln w="28575">
                <a:solidFill>
                  <a:srgbClr val="99CCFF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550" name="Line 38"/>
              <p:cNvSpPr>
                <a:spLocks noChangeShapeType="1"/>
              </p:cNvSpPr>
              <p:nvPr/>
            </p:nvSpPr>
            <p:spPr bwMode="auto">
              <a:xfrm flipV="1">
                <a:off x="4159" y="3132"/>
                <a:ext cx="357" cy="0"/>
              </a:xfrm>
              <a:prstGeom prst="line">
                <a:avLst/>
              </a:prstGeom>
              <a:noFill/>
              <a:ln w="28575">
                <a:solidFill>
                  <a:srgbClr val="99CCFF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551" name="Line 39"/>
              <p:cNvSpPr>
                <a:spLocks noChangeShapeType="1"/>
              </p:cNvSpPr>
              <p:nvPr/>
            </p:nvSpPr>
            <p:spPr bwMode="auto">
              <a:xfrm>
                <a:off x="4147" y="3128"/>
                <a:ext cx="393" cy="302"/>
              </a:xfrm>
              <a:prstGeom prst="line">
                <a:avLst/>
              </a:prstGeom>
              <a:noFill/>
              <a:ln w="28575">
                <a:solidFill>
                  <a:srgbClr val="99CCFF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552" name="Text Box 40"/>
              <p:cNvSpPr txBox="1">
                <a:spLocks noChangeArrowheads="1"/>
              </p:cNvSpPr>
              <p:nvPr/>
            </p:nvSpPr>
            <p:spPr bwMode="auto">
              <a:xfrm>
                <a:off x="4527" y="3355"/>
                <a:ext cx="204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b="1">
                    <a:solidFill>
                      <a:srgbClr val="7DC4C9"/>
                    </a:solidFill>
                  </a:rPr>
                  <a:t>T</a:t>
                </a:r>
              </a:p>
            </p:txBody>
          </p:sp>
          <p:sp>
            <p:nvSpPr>
              <p:cNvPr id="64553" name="Text Box 41"/>
              <p:cNvSpPr txBox="1">
                <a:spLocks noChangeArrowheads="1"/>
              </p:cNvSpPr>
              <p:nvPr/>
            </p:nvSpPr>
            <p:spPr bwMode="auto">
              <a:xfrm>
                <a:off x="4183" y="2579"/>
                <a:ext cx="257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b="1">
                    <a:solidFill>
                      <a:srgbClr val="7DC4C9"/>
                    </a:solidFill>
                  </a:rPr>
                  <a:t>T</a:t>
                </a:r>
                <a:r>
                  <a:rPr lang="en-US" b="1" baseline="-25000">
                    <a:solidFill>
                      <a:srgbClr val="7DC4C9"/>
                    </a:solidFill>
                  </a:rPr>
                  <a:t>y</a:t>
                </a:r>
              </a:p>
            </p:txBody>
          </p:sp>
          <p:sp>
            <p:nvSpPr>
              <p:cNvPr id="64554" name="Text Box 42"/>
              <p:cNvSpPr txBox="1">
                <a:spLocks noChangeArrowheads="1"/>
              </p:cNvSpPr>
              <p:nvPr/>
            </p:nvSpPr>
            <p:spPr bwMode="auto">
              <a:xfrm>
                <a:off x="4543" y="2987"/>
                <a:ext cx="257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b="1">
                    <a:solidFill>
                      <a:srgbClr val="7DC4C9"/>
                    </a:solidFill>
                  </a:rPr>
                  <a:t>T</a:t>
                </a:r>
                <a:r>
                  <a:rPr lang="en-US" b="1" baseline="-25000">
                    <a:solidFill>
                      <a:srgbClr val="7DC4C9"/>
                    </a:solidFill>
                  </a:rPr>
                  <a:t>x</a:t>
                </a:r>
              </a:p>
            </p:txBody>
          </p:sp>
        </p:grpSp>
        <p:sp>
          <p:nvSpPr>
            <p:cNvPr id="64524" name="Text Box 43"/>
            <p:cNvSpPr txBox="1">
              <a:spLocks noChangeArrowheads="1"/>
            </p:cNvSpPr>
            <p:nvPr/>
          </p:nvSpPr>
          <p:spPr bwMode="auto">
            <a:xfrm>
              <a:off x="3393" y="2903"/>
              <a:ext cx="257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DC4C9"/>
                  </a:solidFill>
                </a:rPr>
                <a:t>F</a:t>
              </a:r>
              <a:r>
                <a:rPr lang="en-US" baseline="-25000">
                  <a:solidFill>
                    <a:srgbClr val="7DC4C9"/>
                  </a:solidFill>
                </a:rPr>
                <a:t>g</a:t>
              </a:r>
            </a:p>
          </p:txBody>
        </p:sp>
        <p:sp>
          <p:nvSpPr>
            <p:cNvPr id="64525" name="Line 44"/>
            <p:cNvSpPr>
              <a:spLocks noChangeShapeType="1"/>
            </p:cNvSpPr>
            <p:nvPr/>
          </p:nvSpPr>
          <p:spPr bwMode="auto">
            <a:xfrm>
              <a:off x="3876" y="2880"/>
              <a:ext cx="0" cy="295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526" name="Text Box 45"/>
            <p:cNvSpPr txBox="1">
              <a:spLocks noChangeArrowheads="1"/>
            </p:cNvSpPr>
            <p:nvPr/>
          </p:nvSpPr>
          <p:spPr bwMode="auto">
            <a:xfrm>
              <a:off x="3714" y="3120"/>
              <a:ext cx="427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</a:rPr>
                <a:t>F</a:t>
              </a:r>
              <a:r>
                <a:rPr lang="en-US" baseline="-25000">
                  <a:solidFill>
                    <a:schemeClr val="accent2"/>
                  </a:solidFill>
                </a:rPr>
                <a:t>RHSl</a:t>
              </a:r>
            </a:p>
          </p:txBody>
        </p:sp>
        <p:sp>
          <p:nvSpPr>
            <p:cNvPr id="64527" name="Oval 46"/>
            <p:cNvSpPr>
              <a:spLocks noChangeArrowheads="1"/>
            </p:cNvSpPr>
            <p:nvPr/>
          </p:nvSpPr>
          <p:spPr bwMode="auto">
            <a:xfrm>
              <a:off x="3648" y="2671"/>
              <a:ext cx="438" cy="429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528" name="Line 47"/>
            <p:cNvSpPr>
              <a:spLocks noChangeShapeType="1"/>
            </p:cNvSpPr>
            <p:nvPr/>
          </p:nvSpPr>
          <p:spPr bwMode="auto">
            <a:xfrm flipH="1" flipV="1">
              <a:off x="1536" y="1316"/>
              <a:ext cx="2350" cy="59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529" name="Line 48"/>
            <p:cNvSpPr>
              <a:spLocks noChangeShapeType="1"/>
            </p:cNvSpPr>
            <p:nvPr/>
          </p:nvSpPr>
          <p:spPr bwMode="auto">
            <a:xfrm flipH="1">
              <a:off x="1367" y="3587"/>
              <a:ext cx="2542" cy="35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530" name="Oval 49"/>
            <p:cNvSpPr>
              <a:spLocks noChangeArrowheads="1"/>
            </p:cNvSpPr>
            <p:nvPr/>
          </p:nvSpPr>
          <p:spPr bwMode="auto">
            <a:xfrm>
              <a:off x="0" y="1295"/>
              <a:ext cx="2610" cy="2651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531" name="Text Box 50"/>
            <p:cNvSpPr txBox="1">
              <a:spLocks noChangeArrowheads="1"/>
            </p:cNvSpPr>
            <p:nvPr/>
          </p:nvSpPr>
          <p:spPr bwMode="auto">
            <a:xfrm>
              <a:off x="805" y="1669"/>
              <a:ext cx="497" cy="3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3200" b="1">
                  <a:solidFill>
                    <a:srgbClr val="7DC4C9"/>
                  </a:solidFill>
                </a:rPr>
                <a:t>T</a:t>
              </a:r>
              <a:r>
                <a:rPr lang="en-US" sz="3200" b="1" baseline="-25000">
                  <a:solidFill>
                    <a:srgbClr val="7DC4C9"/>
                  </a:solidFill>
                </a:rPr>
                <a:t>y</a:t>
              </a:r>
            </a:p>
          </p:txBody>
        </p:sp>
        <p:sp>
          <p:nvSpPr>
            <p:cNvPr id="64532" name="Text Box 51"/>
            <p:cNvSpPr txBox="1">
              <a:spLocks noChangeArrowheads="1"/>
            </p:cNvSpPr>
            <p:nvPr/>
          </p:nvSpPr>
          <p:spPr bwMode="auto">
            <a:xfrm>
              <a:off x="777" y="2690"/>
              <a:ext cx="366" cy="3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3200">
                  <a:solidFill>
                    <a:srgbClr val="7DC4C9"/>
                  </a:solidFill>
                </a:rPr>
                <a:t>F</a:t>
              </a:r>
              <a:r>
                <a:rPr lang="en-US" sz="3200" baseline="-25000">
                  <a:solidFill>
                    <a:srgbClr val="7DC4C9"/>
                  </a:solidFill>
                </a:rPr>
                <a:t>g</a:t>
              </a:r>
            </a:p>
          </p:txBody>
        </p:sp>
        <p:sp>
          <p:nvSpPr>
            <p:cNvPr id="64533" name="Line 52"/>
            <p:cNvSpPr>
              <a:spLocks noChangeShapeType="1"/>
            </p:cNvSpPr>
            <p:nvPr/>
          </p:nvSpPr>
          <p:spPr bwMode="auto">
            <a:xfrm>
              <a:off x="1273" y="2673"/>
              <a:ext cx="0" cy="451"/>
            </a:xfrm>
            <a:prstGeom prst="line">
              <a:avLst/>
            </a:prstGeom>
            <a:noFill/>
            <a:ln w="28575">
              <a:solidFill>
                <a:srgbClr val="33CCCC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534" name="AutoShape 53"/>
            <p:cNvSpPr>
              <a:spLocks noChangeArrowheads="1"/>
            </p:cNvSpPr>
            <p:nvPr/>
          </p:nvSpPr>
          <p:spPr bwMode="auto">
            <a:xfrm rot="2051297">
              <a:off x="1170" y="2342"/>
              <a:ext cx="433" cy="375"/>
            </a:xfrm>
            <a:prstGeom prst="flowChartMagneticDrum">
              <a:avLst/>
            </a:prstGeom>
            <a:solidFill>
              <a:schemeClr val="accent1">
                <a:alpha val="52156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535" name="Line 54"/>
            <p:cNvSpPr>
              <a:spLocks noChangeShapeType="1"/>
            </p:cNvSpPr>
            <p:nvPr/>
          </p:nvSpPr>
          <p:spPr bwMode="auto">
            <a:xfrm flipH="1" flipV="1">
              <a:off x="1326" y="1485"/>
              <a:ext cx="13" cy="792"/>
            </a:xfrm>
            <a:prstGeom prst="line">
              <a:avLst/>
            </a:prstGeom>
            <a:noFill/>
            <a:ln w="38100">
              <a:solidFill>
                <a:srgbClr val="99CCFF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536" name="Line 55"/>
            <p:cNvSpPr>
              <a:spLocks noChangeShapeType="1"/>
            </p:cNvSpPr>
            <p:nvPr/>
          </p:nvSpPr>
          <p:spPr bwMode="auto">
            <a:xfrm>
              <a:off x="1344" y="2735"/>
              <a:ext cx="9" cy="457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537" name="Text Box 56"/>
            <p:cNvSpPr txBox="1">
              <a:spLocks noChangeArrowheads="1"/>
            </p:cNvSpPr>
            <p:nvPr/>
          </p:nvSpPr>
          <p:spPr bwMode="auto">
            <a:xfrm>
              <a:off x="1363" y="2875"/>
              <a:ext cx="626" cy="3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3200">
                  <a:solidFill>
                    <a:schemeClr val="accent2"/>
                  </a:solidFill>
                </a:rPr>
                <a:t>F</a:t>
              </a:r>
              <a:r>
                <a:rPr lang="en-US" sz="3200" baseline="-25000">
                  <a:solidFill>
                    <a:schemeClr val="accent2"/>
                  </a:solidFill>
                </a:rPr>
                <a:t>RHS</a:t>
              </a:r>
            </a:p>
          </p:txBody>
        </p:sp>
        <p:sp>
          <p:nvSpPr>
            <p:cNvPr id="64538" name="AutoShape 57"/>
            <p:cNvSpPr>
              <a:spLocks noChangeArrowheads="1"/>
            </p:cNvSpPr>
            <p:nvPr/>
          </p:nvSpPr>
          <p:spPr bwMode="auto">
            <a:xfrm rot="6374373">
              <a:off x="5046" y="1757"/>
              <a:ext cx="430" cy="521"/>
            </a:xfrm>
            <a:prstGeom prst="can">
              <a:avLst>
                <a:gd name="adj" fmla="val 60581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539" name="AutoShape 58"/>
            <p:cNvSpPr>
              <a:spLocks noChangeArrowheads="1"/>
            </p:cNvSpPr>
            <p:nvPr/>
          </p:nvSpPr>
          <p:spPr bwMode="auto">
            <a:xfrm rot="6068705">
              <a:off x="5310" y="1858"/>
              <a:ext cx="430" cy="468"/>
            </a:xfrm>
            <a:prstGeom prst="can">
              <a:avLst>
                <a:gd name="adj" fmla="val 54419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540" name="Oval 22"/>
            <p:cNvSpPr>
              <a:spLocks noChangeArrowheads="1"/>
            </p:cNvSpPr>
            <p:nvPr/>
          </p:nvSpPr>
          <p:spPr bwMode="auto">
            <a:xfrm>
              <a:off x="4722" y="1586"/>
              <a:ext cx="621" cy="613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541" name="Line 24"/>
            <p:cNvSpPr>
              <a:spLocks noChangeShapeType="1"/>
            </p:cNvSpPr>
            <p:nvPr/>
          </p:nvSpPr>
          <p:spPr bwMode="auto">
            <a:xfrm flipH="1">
              <a:off x="4374" y="2051"/>
              <a:ext cx="942" cy="126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34737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2DA8EDD-E190-4DCB-BB40-24D9141A10B8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1157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123.21.6</a:t>
            </a:r>
          </a:p>
        </p:txBody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dirty="0"/>
              <a:t>Does a wave on a string move faster for a heavier or lighter rope?</a:t>
            </a:r>
          </a:p>
          <a:p>
            <a:pPr marL="609600" indent="-609600">
              <a:buFont typeface="+mj-lt"/>
              <a:buAutoNum type="alphaLcParenR"/>
            </a:pPr>
            <a:r>
              <a:rPr lang="en-US" dirty="0"/>
              <a:t>heavier </a:t>
            </a:r>
          </a:p>
          <a:p>
            <a:pPr marL="609600" indent="-609600">
              <a:buFont typeface="+mj-lt"/>
              <a:buAutoNum type="alphaLcParenR"/>
            </a:pPr>
            <a:r>
              <a:rPr lang="en-US" dirty="0"/>
              <a:t>lighter</a:t>
            </a:r>
          </a:p>
        </p:txBody>
      </p:sp>
    </p:spTree>
    <p:extLst>
      <p:ext uri="{BB962C8B-B14F-4D97-AF65-F5344CB8AC3E}">
        <p14:creationId xmlns:p14="http://schemas.microsoft.com/office/powerpoint/2010/main" val="37489424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FFCD0D3-C27D-45E7-B26E-D48722990FFA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167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123.21.7</a:t>
            </a:r>
          </a:p>
        </p:txBody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dirty="0"/>
              <a:t>A wave is traveling on a rope. Does the wave speed increase or decrease as you pull harder on a rope</a:t>
            </a:r>
          </a:p>
          <a:p>
            <a:pPr marL="609600" indent="-609600" eaLnBrk="1" hangingPunct="1">
              <a:buFont typeface="+mj-lt"/>
              <a:buAutoNum type="alphaLcParenR"/>
            </a:pPr>
            <a:r>
              <a:rPr lang="en-US" dirty="0"/>
              <a:t>Increase</a:t>
            </a:r>
          </a:p>
          <a:p>
            <a:pPr marL="609600" indent="-609600" eaLnBrk="1" hangingPunct="1">
              <a:buFont typeface="+mj-lt"/>
              <a:buAutoNum type="alphaLcParenR"/>
            </a:pPr>
            <a:r>
              <a:rPr lang="en-US" dirty="0"/>
              <a:t>Decrease</a:t>
            </a:r>
          </a:p>
        </p:txBody>
      </p:sp>
    </p:spTree>
    <p:extLst>
      <p:ext uri="{BB962C8B-B14F-4D97-AF65-F5344CB8AC3E}">
        <p14:creationId xmlns:p14="http://schemas.microsoft.com/office/powerpoint/2010/main" val="35217824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Question 16.9</a:t>
            </a:r>
          </a:p>
        </p:txBody>
      </p:sp>
      <p:sp>
        <p:nvSpPr>
          <p:cNvPr id="5222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/>
              <a:t>A wave travels across a boundary between two different weight ropes. If it goes from the heavier to the lighter rope, the wave speed</a:t>
            </a:r>
          </a:p>
          <a:p>
            <a:pPr marL="990600" lvl="1" indent="-533400" eaLnBrk="1" hangingPunct="1">
              <a:buFontTx/>
              <a:buAutoNum type="alphaLcParenR"/>
            </a:pPr>
            <a:r>
              <a:rPr lang="en-US"/>
              <a:t>Increases</a:t>
            </a:r>
          </a:p>
          <a:p>
            <a:pPr marL="990600" lvl="1" indent="-533400" eaLnBrk="1" hangingPunct="1">
              <a:buFontTx/>
              <a:buAutoNum type="alphaLcParenR"/>
            </a:pPr>
            <a:r>
              <a:rPr lang="en-US"/>
              <a:t>Decreases</a:t>
            </a:r>
          </a:p>
          <a:p>
            <a:pPr marL="990600" lvl="1" indent="-533400" eaLnBrk="1" hangingPunct="1">
              <a:buFontTx/>
              <a:buAutoNum type="alphaLcParenR"/>
            </a:pPr>
            <a:r>
              <a:rPr lang="en-US"/>
              <a:t>Stays the same</a:t>
            </a:r>
          </a:p>
          <a:p>
            <a:pPr marL="990600" lvl="1" indent="-533400" eaLnBrk="1" hangingPunct="1">
              <a:buFontTx/>
              <a:buAutoNum type="alphaLcParenR"/>
            </a:pPr>
            <a:r>
              <a:rPr lang="en-US"/>
              <a:t>Can’t tell</a:t>
            </a:r>
          </a:p>
        </p:txBody>
      </p:sp>
      <p:sp>
        <p:nvSpPr>
          <p:cNvPr id="522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A354CA6-2371-4C3D-9BCD-3813C9281DF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3635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16.10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/>
              <a:t>A wave travels across a boundary between two different weight ropes. If it goes from the lighter to the heavier rope, the reflected wave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Is inverted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Is not inverted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Can’t tell</a:t>
            </a:r>
          </a:p>
        </p:txBody>
      </p:sp>
      <p:sp>
        <p:nvSpPr>
          <p:cNvPr id="532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4CD2813-E4C4-402A-A221-FA93E480D86C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5807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Question 16.11</a:t>
            </a:r>
          </a:p>
        </p:txBody>
      </p:sp>
      <p:sp>
        <p:nvSpPr>
          <p:cNvPr id="5427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sz="2800"/>
              <a:t>If one end of the rope is fixed to a pole, the reflected wave is inverted because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en-US" sz="2800"/>
              <a:t>The rope dissipates energy so the pulse must be lower to account for the lower potential energy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en-US" sz="2800"/>
              <a:t>The pole exerts an equal but opposite force on the end of the rope, so it is forced downward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en-US" sz="2800"/>
              <a:t>The pull of gravity increases for the end of ropes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en-US" sz="2800"/>
              <a:t>Can’t tell</a:t>
            </a:r>
          </a:p>
        </p:txBody>
      </p:sp>
      <p:sp>
        <p:nvSpPr>
          <p:cNvPr id="542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7F00098-A586-4021-A6FD-B25936B14AFD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1168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123.21.8</a:t>
            </a:r>
          </a:p>
        </p:txBody>
      </p:sp>
      <p:sp>
        <p:nvSpPr>
          <p:cNvPr id="5939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/>
              <a:t>The speed of sound in water is about 1.4km/s. Will the speed of sound be faster or slower in air?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Faster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Slower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Can’t tell</a:t>
            </a:r>
          </a:p>
          <a:p>
            <a:pPr marL="609600" indent="-609600" eaLnBrk="1" hangingPunct="1"/>
            <a:endParaRPr lang="en-US"/>
          </a:p>
        </p:txBody>
      </p:sp>
      <p:sp>
        <p:nvSpPr>
          <p:cNvPr id="593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D24A40A-39FE-434B-BF0F-F604B45A6121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454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Winter 2007</a:t>
            </a:r>
          </a:p>
        </p:txBody>
      </p:sp>
      <p:sp>
        <p:nvSpPr>
          <p:cNvPr id="1843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1843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983E60E-D79A-4609-A31C-60EED159D95A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184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Consider momentum</a:t>
            </a:r>
          </a:p>
        </p:txBody>
      </p:sp>
      <p:sp>
        <p:nvSpPr>
          <p:cNvPr id="184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3105150" cy="4525963"/>
          </a:xfrm>
        </p:spPr>
        <p:txBody>
          <a:bodyPr/>
          <a:lstStyle/>
          <a:p>
            <a:pPr eaLnBrk="1" hangingPunct="1"/>
            <a:r>
              <a:rPr lang="en-US" sz="2800"/>
              <a:t>When we move from a less dense medium to a more dense medium </a:t>
            </a:r>
          </a:p>
          <a:p>
            <a:pPr lvl="1" eaLnBrk="1" hangingPunct="1"/>
            <a:r>
              <a:rPr lang="en-US" sz="2400"/>
              <a:t>Reflected pulse is inverted</a:t>
            </a:r>
          </a:p>
          <a:p>
            <a:pPr lvl="1" eaLnBrk="1" hangingPunct="1"/>
            <a:r>
              <a:rPr lang="en-US" sz="2400"/>
              <a:t>Pulse slows down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2916238" y="3084513"/>
            <a:ext cx="5994400" cy="1957387"/>
            <a:chOff x="1837" y="1943"/>
            <a:chExt cx="3776" cy="1233"/>
          </a:xfrm>
        </p:grpSpPr>
        <p:sp>
          <p:nvSpPr>
            <p:cNvPr id="18441" name="AutoShape 5"/>
            <p:cNvSpPr>
              <a:spLocks noChangeArrowheads="1"/>
            </p:cNvSpPr>
            <p:nvPr/>
          </p:nvSpPr>
          <p:spPr bwMode="auto">
            <a:xfrm rot="5400000" flipH="1">
              <a:off x="2010" y="2822"/>
              <a:ext cx="101" cy="448"/>
            </a:xfrm>
            <a:prstGeom prst="can">
              <a:avLst>
                <a:gd name="adj" fmla="val 48525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2" name="AutoShape 6"/>
            <p:cNvSpPr>
              <a:spLocks noChangeArrowheads="1"/>
            </p:cNvSpPr>
            <p:nvPr/>
          </p:nvSpPr>
          <p:spPr bwMode="auto">
            <a:xfrm rot="5400000" flipH="1">
              <a:off x="2426" y="2822"/>
              <a:ext cx="101" cy="448"/>
            </a:xfrm>
            <a:prstGeom prst="can">
              <a:avLst>
                <a:gd name="adj" fmla="val 48525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3" name="AutoShape 7"/>
            <p:cNvSpPr>
              <a:spLocks noChangeArrowheads="1"/>
            </p:cNvSpPr>
            <p:nvPr/>
          </p:nvSpPr>
          <p:spPr bwMode="auto">
            <a:xfrm rot="5400000" flipH="1">
              <a:off x="2842" y="2822"/>
              <a:ext cx="101" cy="448"/>
            </a:xfrm>
            <a:prstGeom prst="can">
              <a:avLst>
                <a:gd name="adj" fmla="val 48525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4" name="AutoShape 8"/>
            <p:cNvSpPr>
              <a:spLocks noChangeArrowheads="1"/>
            </p:cNvSpPr>
            <p:nvPr/>
          </p:nvSpPr>
          <p:spPr bwMode="auto">
            <a:xfrm rot="5400000" flipH="1">
              <a:off x="3258" y="2822"/>
              <a:ext cx="101" cy="448"/>
            </a:xfrm>
            <a:prstGeom prst="can">
              <a:avLst>
                <a:gd name="adj" fmla="val 48525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5" name="AutoShape 9"/>
            <p:cNvSpPr>
              <a:spLocks noChangeArrowheads="1"/>
            </p:cNvSpPr>
            <p:nvPr/>
          </p:nvSpPr>
          <p:spPr bwMode="auto">
            <a:xfrm rot="5400000" flipH="1">
              <a:off x="3590" y="2818"/>
              <a:ext cx="253" cy="448"/>
            </a:xfrm>
            <a:prstGeom prst="can">
              <a:avLst>
                <a:gd name="adj" fmla="val 19372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6" name="AutoShape 10"/>
            <p:cNvSpPr>
              <a:spLocks noChangeArrowheads="1"/>
            </p:cNvSpPr>
            <p:nvPr/>
          </p:nvSpPr>
          <p:spPr bwMode="auto">
            <a:xfrm rot="5400000" flipH="1">
              <a:off x="4006" y="2826"/>
              <a:ext cx="253" cy="448"/>
            </a:xfrm>
            <a:prstGeom prst="can">
              <a:avLst>
                <a:gd name="adj" fmla="val 19372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7" name="AutoShape 11"/>
            <p:cNvSpPr>
              <a:spLocks noChangeArrowheads="1"/>
            </p:cNvSpPr>
            <p:nvPr/>
          </p:nvSpPr>
          <p:spPr bwMode="auto">
            <a:xfrm rot="5400000" flipH="1">
              <a:off x="4422" y="2826"/>
              <a:ext cx="253" cy="448"/>
            </a:xfrm>
            <a:prstGeom prst="can">
              <a:avLst>
                <a:gd name="adj" fmla="val 19372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8" name="AutoShape 12"/>
            <p:cNvSpPr>
              <a:spLocks noChangeArrowheads="1"/>
            </p:cNvSpPr>
            <p:nvPr/>
          </p:nvSpPr>
          <p:spPr bwMode="auto">
            <a:xfrm rot="5400000" flipH="1">
              <a:off x="4838" y="2826"/>
              <a:ext cx="253" cy="448"/>
            </a:xfrm>
            <a:prstGeom prst="can">
              <a:avLst>
                <a:gd name="adj" fmla="val 19372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9" name="AutoShape 13"/>
            <p:cNvSpPr>
              <a:spLocks noChangeArrowheads="1"/>
            </p:cNvSpPr>
            <p:nvPr/>
          </p:nvSpPr>
          <p:spPr bwMode="auto">
            <a:xfrm rot="5400000" flipH="1">
              <a:off x="5262" y="2826"/>
              <a:ext cx="253" cy="448"/>
            </a:xfrm>
            <a:prstGeom prst="can">
              <a:avLst>
                <a:gd name="adj" fmla="val 19372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0" name="Line 14"/>
            <p:cNvSpPr>
              <a:spLocks noChangeShapeType="1"/>
            </p:cNvSpPr>
            <p:nvPr/>
          </p:nvSpPr>
          <p:spPr bwMode="auto">
            <a:xfrm flipH="1">
              <a:off x="3320" y="2304"/>
              <a:ext cx="224" cy="6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1" name="Line 15"/>
            <p:cNvSpPr>
              <a:spLocks noChangeShapeType="1"/>
            </p:cNvSpPr>
            <p:nvPr/>
          </p:nvSpPr>
          <p:spPr bwMode="auto">
            <a:xfrm>
              <a:off x="3592" y="2296"/>
              <a:ext cx="120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2" name="Text Box 16"/>
            <p:cNvSpPr txBox="1">
              <a:spLocks noChangeArrowheads="1"/>
            </p:cNvSpPr>
            <p:nvPr/>
          </p:nvSpPr>
          <p:spPr bwMode="auto">
            <a:xfrm>
              <a:off x="3038" y="1943"/>
              <a:ext cx="2132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Which piece is harder to move?</a:t>
              </a:r>
            </a:p>
          </p:txBody>
        </p:sp>
      </p:grpSp>
      <p:graphicFrame>
        <p:nvGraphicFramePr>
          <p:cNvPr id="18434" name="Object 17"/>
          <p:cNvGraphicFramePr>
            <a:graphicFrameLocks noChangeAspect="1"/>
          </p:cNvGraphicFramePr>
          <p:nvPr/>
        </p:nvGraphicFramePr>
        <p:xfrm>
          <a:off x="5842000" y="1936750"/>
          <a:ext cx="81280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07960" imgH="469800" progId="Equation.3">
                  <p:embed/>
                </p:oleObj>
              </mc:Choice>
              <mc:Fallback>
                <p:oleObj name="Equation" r:id="rId2" imgW="507960" imgH="469800" progId="Equation.3">
                  <p:embed/>
                  <p:pic>
                    <p:nvPicPr>
                      <p:cNvPr id="18434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000" y="1936750"/>
                        <a:ext cx="812800" cy="752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896588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Superposition With and Inverted Pulse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2003425" cy="4525963"/>
          </a:xfrm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6628" name="Rectangle 5"/>
          <p:cNvSpPr>
            <a:spLocks noChangeArrowheads="1"/>
          </p:cNvSpPr>
          <p:nvPr/>
        </p:nvSpPr>
        <p:spPr bwMode="auto">
          <a:xfrm>
            <a:off x="2816225" y="1682750"/>
            <a:ext cx="5080000" cy="407987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371600"/>
            <a:ext cx="6248400" cy="4879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770812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129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Question 223.5.5 Question 123.22.16</a:t>
            </a:r>
          </a:p>
        </p:txBody>
      </p:sp>
      <p:pic>
        <p:nvPicPr>
          <p:cNvPr id="5601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1625" y="1631950"/>
            <a:ext cx="381317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6013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0200" y="3859213"/>
            <a:ext cx="3721100" cy="1169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6013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35550" y="1395413"/>
            <a:ext cx="4197350" cy="132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60133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035550" y="3179763"/>
            <a:ext cx="4206875" cy="1008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60134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262563" y="4876800"/>
            <a:ext cx="3881437" cy="105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0135" name="TextBox 11"/>
          <p:cNvSpPr txBox="1">
            <a:spLocks noChangeArrowheads="1"/>
          </p:cNvSpPr>
          <p:nvPr/>
        </p:nvSpPr>
        <p:spPr bwMode="auto">
          <a:xfrm>
            <a:off x="5619750" y="1430338"/>
            <a:ext cx="458788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560136" name="TextBox 12"/>
          <p:cNvSpPr txBox="1">
            <a:spLocks noChangeArrowheads="1"/>
          </p:cNvSpPr>
          <p:nvPr/>
        </p:nvSpPr>
        <p:spPr bwMode="auto">
          <a:xfrm>
            <a:off x="5624513" y="2881313"/>
            <a:ext cx="458787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560137" name="TextBox 13"/>
          <p:cNvSpPr txBox="1">
            <a:spLocks noChangeArrowheads="1"/>
          </p:cNvSpPr>
          <p:nvPr/>
        </p:nvSpPr>
        <p:spPr bwMode="auto">
          <a:xfrm>
            <a:off x="5688013" y="4581525"/>
            <a:ext cx="481012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>
                <a:solidFill>
                  <a:srgbClr val="FF0000"/>
                </a:solidFill>
              </a:rPr>
              <a:t>C</a:t>
            </a: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836738" y="3006725"/>
            <a:ext cx="619125" cy="620713"/>
            <a:chOff x="4239950" y="2048691"/>
            <a:chExt cx="620486" cy="620486"/>
          </a:xfrm>
        </p:grpSpPr>
        <p:sp>
          <p:nvSpPr>
            <p:cNvPr id="15" name="Rectangle 14"/>
            <p:cNvSpPr/>
            <p:nvPr/>
          </p:nvSpPr>
          <p:spPr>
            <a:xfrm>
              <a:off x="4239950" y="2301012"/>
              <a:ext cx="620486" cy="11584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 rot="16200000">
              <a:off x="4239949" y="2301659"/>
              <a:ext cx="620486" cy="11455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18" name="Rectangle 17"/>
          <p:cNvSpPr/>
          <p:nvPr/>
        </p:nvSpPr>
        <p:spPr>
          <a:xfrm>
            <a:off x="4217988" y="3367088"/>
            <a:ext cx="620712" cy="114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222750" y="3567113"/>
            <a:ext cx="620713" cy="114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476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gH-6JG0NeGg"/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932873"/>
            <a:ext cx="8991858" cy="505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9206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0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red_green_and_resultant_wave.avi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450" y="2541588"/>
            <a:ext cx="8947150" cy="275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06323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910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98675" y="825500"/>
            <a:ext cx="4938713" cy="155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5910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82800" y="3111500"/>
            <a:ext cx="4938713" cy="155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59107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82800" y="5332413"/>
            <a:ext cx="4938713" cy="155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4262438" y="4826000"/>
            <a:ext cx="619125" cy="114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267200" y="5027613"/>
            <a:ext cx="620713" cy="114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240213" y="2817813"/>
            <a:ext cx="620712" cy="114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 rot="16200000">
            <a:off x="4239418" y="2818607"/>
            <a:ext cx="620713" cy="114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084388" y="392113"/>
            <a:ext cx="4975225" cy="608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6172046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1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11.3</a:t>
            </a:r>
          </a:p>
        </p:txBody>
      </p:sp>
      <p:pic>
        <p:nvPicPr>
          <p:cNvPr id="5601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1625" y="1631950"/>
            <a:ext cx="381317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6013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0200" y="3859213"/>
            <a:ext cx="3721100" cy="1169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6013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35550" y="1395413"/>
            <a:ext cx="4197350" cy="132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60133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035550" y="3179763"/>
            <a:ext cx="4206875" cy="1008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60134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262563" y="4876800"/>
            <a:ext cx="3881437" cy="105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0135" name="TextBox 11"/>
          <p:cNvSpPr txBox="1">
            <a:spLocks noChangeArrowheads="1"/>
          </p:cNvSpPr>
          <p:nvPr/>
        </p:nvSpPr>
        <p:spPr bwMode="auto">
          <a:xfrm>
            <a:off x="5619750" y="1430338"/>
            <a:ext cx="458788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560136" name="TextBox 12"/>
          <p:cNvSpPr txBox="1">
            <a:spLocks noChangeArrowheads="1"/>
          </p:cNvSpPr>
          <p:nvPr/>
        </p:nvSpPr>
        <p:spPr bwMode="auto">
          <a:xfrm>
            <a:off x="5624513" y="2881313"/>
            <a:ext cx="458787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560137" name="TextBox 13"/>
          <p:cNvSpPr txBox="1">
            <a:spLocks noChangeArrowheads="1"/>
          </p:cNvSpPr>
          <p:nvPr/>
        </p:nvSpPr>
        <p:spPr bwMode="auto">
          <a:xfrm>
            <a:off x="5688013" y="4581525"/>
            <a:ext cx="481012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>
                <a:solidFill>
                  <a:srgbClr val="FF0000"/>
                </a:solidFill>
              </a:rPr>
              <a:t>C</a:t>
            </a: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836738" y="3006725"/>
            <a:ext cx="619125" cy="620713"/>
            <a:chOff x="4239950" y="2048691"/>
            <a:chExt cx="620486" cy="620486"/>
          </a:xfrm>
        </p:grpSpPr>
        <p:sp>
          <p:nvSpPr>
            <p:cNvPr id="15" name="Rectangle 14"/>
            <p:cNvSpPr/>
            <p:nvPr/>
          </p:nvSpPr>
          <p:spPr>
            <a:xfrm>
              <a:off x="4239950" y="2301012"/>
              <a:ext cx="620486" cy="11584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 rot="16200000">
              <a:off x="4239949" y="2301659"/>
              <a:ext cx="620486" cy="11455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18" name="Rectangle 17"/>
          <p:cNvSpPr/>
          <p:nvPr/>
        </p:nvSpPr>
        <p:spPr>
          <a:xfrm>
            <a:off x="4217988" y="3367088"/>
            <a:ext cx="620712" cy="114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222750" y="3567113"/>
            <a:ext cx="620713" cy="114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3196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8AECC-1563-18CB-52DF-D67311E7F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92E87-9D64-FEF1-F05F-143B84D81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C6ZAOiIfKo">
            <a:extLst>
              <a:ext uri="{FF2B5EF4-FFF2-40B4-BE49-F238E27FC236}">
                <a16:creationId xmlns:a16="http://schemas.microsoft.com/office/drawing/2014/main" id="{B78A4F52-3416-5502-A169-10DBE2D1D304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762000" y="1719263"/>
            <a:ext cx="8001000" cy="450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1969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BEF48-DDB6-B109-9250-E6B55295A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BF613-F866-5543-8B68-2B3E438EF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xoKNyUpnn20">
            <a:extLst>
              <a:ext uri="{FF2B5EF4-FFF2-40B4-BE49-F238E27FC236}">
                <a16:creationId xmlns:a16="http://schemas.microsoft.com/office/drawing/2014/main" id="{37523D85-4506-B491-2381-51F7EB3E055E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76200" y="1333500"/>
            <a:ext cx="9067800" cy="510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3958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reg_gree_purple_separate.avi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301875"/>
            <a:ext cx="9058275" cy="278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09518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177" name="Picture 3" descr="wave_addition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50" y="0"/>
            <a:ext cx="85725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908020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k7IxJ52u7U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369454" y="1042555"/>
            <a:ext cx="8054109" cy="4530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2791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GN_HO7_lUg"/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40146" y="774701"/>
            <a:ext cx="8802254" cy="4951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6193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223.5.6</a:t>
            </a:r>
          </a:p>
        </p:txBody>
      </p:sp>
      <p:sp>
        <p:nvSpPr>
          <p:cNvPr id="70660" name="Rectangle 3"/>
          <p:cNvSpPr>
            <a:spLocks noGrp="1" noChangeArrowheads="1"/>
          </p:cNvSpPr>
          <p:nvPr>
            <p:ph idx="1"/>
          </p:nvPr>
        </p:nvSpPr>
        <p:spPr>
          <a:xfrm>
            <a:off x="476250" y="1371600"/>
            <a:ext cx="8229600" cy="4525963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dirty="0"/>
              <a:t>Two pulses travel along a string in opposite directions. One pulse is inverted. When they meet, the string looks flat. Something must have canceled out.  What is it?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en-US" dirty="0"/>
              <a:t>Wave velocities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en-US" dirty="0"/>
              <a:t>Segment velocities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en-US" dirty="0"/>
              <a:t>Energy of the waves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en-US" dirty="0"/>
              <a:t>Power of the waves</a:t>
            </a:r>
          </a:p>
        </p:txBody>
      </p:sp>
      <p:sp>
        <p:nvSpPr>
          <p:cNvPr id="706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5539879-F00E-4549-815A-3F0634DD4490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6392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05CFB2C-8482-45E7-1C60-1EC4FF387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554" y="1225549"/>
            <a:ext cx="2500313" cy="29603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E74B5DD-1502-7F70-F943-FA98E0CB0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3132" y="1291408"/>
            <a:ext cx="2963991" cy="36785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94D4C04-DFB7-07C9-41F5-EF5B7B27FA7D}"/>
              </a:ext>
            </a:extLst>
          </p:cNvPr>
          <p:cNvSpPr txBox="1"/>
          <p:nvPr/>
        </p:nvSpPr>
        <p:spPr>
          <a:xfrm>
            <a:off x="2593710" y="6099992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/>
              <a:t>http://commons.wikimedia.org/wiki/File:Destructive_interference1.svg)</a:t>
            </a:r>
            <a:endParaRPr lang="en-US" sz="10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282A0F-BDA5-59B5-B104-AAEECDD47CB5}"/>
              </a:ext>
            </a:extLst>
          </p:cNvPr>
          <p:cNvSpPr txBox="1"/>
          <p:nvPr/>
        </p:nvSpPr>
        <p:spPr>
          <a:xfrm>
            <a:off x="2593710" y="6361602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http://commons.wikimedia.org/wiki/File:Destructive_interference1.svg)</a:t>
            </a:r>
          </a:p>
        </p:txBody>
      </p:sp>
    </p:spTree>
    <p:extLst>
      <p:ext uri="{BB962C8B-B14F-4D97-AF65-F5344CB8AC3E}">
        <p14:creationId xmlns:p14="http://schemas.microsoft.com/office/powerpoint/2010/main" val="17246849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65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223.5.7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Tx/>
              <a:buNone/>
              <a:defRPr/>
            </a:pPr>
            <a:r>
              <a:rPr lang="en-US" dirty="0"/>
              <a:t>I add two sinusoidal waves on a string and the two waves have the same amplitude and frequency, but are going the opposite direction. If the phase difference is equal to a half a wavelength, what do I get?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Twice the amplitude of the original waves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Half the amplitude of the original waves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A negative amplitude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Nothing</a:t>
            </a:r>
          </a:p>
        </p:txBody>
      </p:sp>
      <p:pic>
        <p:nvPicPr>
          <p:cNvPr id="50882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078" y="5383129"/>
            <a:ext cx="3068637" cy="950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00789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223.5.8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Tx/>
              <a:buNone/>
              <a:defRPr/>
            </a:pPr>
            <a:r>
              <a:rPr lang="en-US" dirty="0"/>
              <a:t>I add two sinusoidal waves on a string and the two waves have the same amplitude and frequency, but are going the opposite direction. If the phase difference is equal to a whole wavelength, what do I get?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Constructive Interference 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Destructive Interference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A negative amplitude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Nothing</a:t>
            </a:r>
          </a:p>
        </p:txBody>
      </p:sp>
      <p:pic>
        <p:nvPicPr>
          <p:cNvPr id="50872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3677" y="5106402"/>
            <a:ext cx="3068637" cy="950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77147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223.6.0.1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 have two sinusoidal waves in the same medium. The waves travel the same direction (unlike our class demonstration).  If the resultant wave has a larger amplitude than the original waves we call this…</a:t>
            </a:r>
          </a:p>
          <a:p>
            <a:pPr marL="514350" indent="-514350">
              <a:buAutoNum type="alphaLcParenR"/>
            </a:pPr>
            <a:r>
              <a:rPr lang="en-US" dirty="0"/>
              <a:t>Constructive interference</a:t>
            </a:r>
          </a:p>
          <a:p>
            <a:pPr marL="514350" indent="-514350">
              <a:buAutoNum type="alphaLcParenR"/>
            </a:pPr>
            <a:r>
              <a:rPr lang="en-US" dirty="0"/>
              <a:t>Destructive interference</a:t>
            </a:r>
          </a:p>
          <a:p>
            <a:pPr marL="514350" indent="-514350">
              <a:buAutoNum type="alphaLcParenR"/>
            </a:pPr>
            <a:r>
              <a:rPr lang="en-US" dirty="0"/>
              <a:t>A miracle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7B81-8888-4253-92EC-0AED2A590749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1806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223.6.0.2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 have two sinusoidal waves in the same medium. The waves travel the same direction (unlike our class demonstration).  If the resultant wave has a smaller amplitude than the original waves we call this…</a:t>
            </a:r>
          </a:p>
          <a:p>
            <a:pPr marL="514350" indent="-514350">
              <a:buAutoNum type="alphaLcParenR"/>
            </a:pPr>
            <a:r>
              <a:rPr lang="en-US" dirty="0"/>
              <a:t>Constructive interference</a:t>
            </a:r>
          </a:p>
          <a:p>
            <a:pPr marL="514350" indent="-514350">
              <a:buAutoNum type="alphaLcParenR"/>
            </a:pPr>
            <a:r>
              <a:rPr lang="en-US" dirty="0"/>
              <a:t>Destructive interference</a:t>
            </a:r>
          </a:p>
          <a:p>
            <a:pPr marL="514350" indent="-514350">
              <a:buAutoNum type="alphaLcParenR"/>
            </a:pPr>
            <a:r>
              <a:rPr lang="en-US" dirty="0"/>
              <a:t>Depressing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7B81-8888-4253-92EC-0AED2A590749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61787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223.6.0.3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 have two sinusoidal waves in the same medium. The waves travel the same direction (unlike our class demonstration).  Sometimes we get constructive and sometimes destructive interference. What makes the difference?</a:t>
            </a:r>
          </a:p>
          <a:p>
            <a:pPr marL="514350" indent="-514350">
              <a:buAutoNum type="alphaLcParenR"/>
            </a:pPr>
            <a:r>
              <a:rPr lang="en-US" dirty="0"/>
              <a:t>The relative amplitude of the waves</a:t>
            </a:r>
          </a:p>
          <a:p>
            <a:pPr marL="514350" indent="-514350">
              <a:buAutoNum type="alphaLcParenR"/>
            </a:pPr>
            <a:r>
              <a:rPr lang="en-US" dirty="0"/>
              <a:t>The relative phase constant of the waves</a:t>
            </a:r>
          </a:p>
          <a:p>
            <a:pPr marL="514350" indent="-514350">
              <a:buAutoNum type="alphaLcParenR"/>
            </a:pPr>
            <a:r>
              <a:rPr lang="en-US" dirty="0"/>
              <a:t>The wavelength of the waves</a:t>
            </a:r>
          </a:p>
          <a:p>
            <a:pPr marL="514350" indent="-514350">
              <a:buAutoNum type="alphaLcParenR"/>
            </a:pPr>
            <a:r>
              <a:rPr lang="en-US" dirty="0"/>
              <a:t>Random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7B81-8888-4253-92EC-0AED2A590749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79800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</a:t>
            </a:r>
          </a:p>
        </p:txBody>
      </p:sp>
      <p:sp>
        <p:nvSpPr>
          <p:cNvPr id="10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103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8275" y="1550988"/>
            <a:ext cx="2695575" cy="1790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03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73613" y="1546225"/>
            <a:ext cx="2847975" cy="1885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034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38488" y="3502025"/>
            <a:ext cx="2981325" cy="1981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1035" name="Rectangle 8"/>
          <p:cNvSpPr>
            <a:spLocks noChangeArrowheads="1"/>
          </p:cNvSpPr>
          <p:nvPr/>
        </p:nvSpPr>
        <p:spPr bwMode="auto">
          <a:xfrm>
            <a:off x="0" y="3248025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026" name="Object 7"/>
          <p:cNvGraphicFramePr>
            <a:graphicFrameLocks noChangeAspect="1"/>
          </p:cNvGraphicFramePr>
          <p:nvPr/>
        </p:nvGraphicFramePr>
        <p:xfrm>
          <a:off x="2401888" y="3190875"/>
          <a:ext cx="1144587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43000" imgH="215640" progId="Equation.3">
                  <p:embed/>
                </p:oleObj>
              </mc:Choice>
              <mc:Fallback>
                <p:oleObj name="Equation" r:id="rId5" imgW="1143000" imgH="215640" progId="Equation.3">
                  <p:embed/>
                  <p:pic>
                    <p:nvPicPr>
                      <p:cNvPr id="102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1888" y="3190875"/>
                        <a:ext cx="1144587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6" name="Rectangle 10"/>
          <p:cNvSpPr>
            <a:spLocks noChangeArrowheads="1"/>
          </p:cNvSpPr>
          <p:nvPr/>
        </p:nvSpPr>
        <p:spPr bwMode="auto">
          <a:xfrm>
            <a:off x="0" y="3248025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027" name="Object 9"/>
          <p:cNvGraphicFramePr>
            <a:graphicFrameLocks noChangeAspect="1"/>
          </p:cNvGraphicFramePr>
          <p:nvPr/>
        </p:nvGraphicFramePr>
        <p:xfrm>
          <a:off x="5705475" y="3262313"/>
          <a:ext cx="1373188" cy="217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71600" imgH="215640" progId="Equation.3">
                  <p:embed/>
                </p:oleObj>
              </mc:Choice>
              <mc:Fallback>
                <p:oleObj name="Equation" r:id="rId7" imgW="1371600" imgH="215640" progId="Equation.3">
                  <p:embed/>
                  <p:pic>
                    <p:nvPicPr>
                      <p:cNvPr id="102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5475" y="3262313"/>
                        <a:ext cx="1373188" cy="217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7" name="Rectangle 12"/>
          <p:cNvSpPr>
            <a:spLocks noChangeArrowheads="1"/>
          </p:cNvSpPr>
          <p:nvPr/>
        </p:nvSpPr>
        <p:spPr bwMode="auto">
          <a:xfrm>
            <a:off x="0" y="2757488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028" name="Object 11"/>
          <p:cNvGraphicFramePr>
            <a:graphicFrameLocks noChangeAspect="1"/>
          </p:cNvGraphicFramePr>
          <p:nvPr/>
        </p:nvGraphicFramePr>
        <p:xfrm>
          <a:off x="885825" y="4295775"/>
          <a:ext cx="419100" cy="134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19100" imgH="1346200" progId="Equation.3">
                  <p:embed/>
                </p:oleObj>
              </mc:Choice>
              <mc:Fallback>
                <p:oleObj name="Equation" r:id="rId9" imgW="419100" imgH="1346200" progId="Equation.3">
                  <p:embed/>
                  <p:pic>
                    <p:nvPicPr>
                      <p:cNvPr id="1028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825" y="4295775"/>
                        <a:ext cx="419100" cy="1343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8" name="Rectangle 14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029" name="Object 13"/>
          <p:cNvGraphicFramePr>
            <a:graphicFrameLocks noChangeAspect="1"/>
          </p:cNvGraphicFramePr>
          <p:nvPr/>
        </p:nvGraphicFramePr>
        <p:xfrm>
          <a:off x="3787775" y="5581650"/>
          <a:ext cx="20193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019300" imgH="431800" progId="Equation.3">
                  <p:embed/>
                </p:oleObj>
              </mc:Choice>
              <mc:Fallback>
                <p:oleObj name="Equation" r:id="rId11" imgW="2019300" imgH="431800" progId="Equation.3">
                  <p:embed/>
                  <p:pic>
                    <p:nvPicPr>
                      <p:cNvPr id="102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7775" y="5581650"/>
                        <a:ext cx="2019300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459577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Amplitude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2053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59313" y="2090738"/>
            <a:ext cx="3832225" cy="25431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050" name="Object 5"/>
          <p:cNvGraphicFramePr>
            <a:graphicFrameLocks noChangeAspect="1"/>
          </p:cNvGraphicFramePr>
          <p:nvPr/>
        </p:nvGraphicFramePr>
        <p:xfrm>
          <a:off x="1322388" y="2909888"/>
          <a:ext cx="1711325" cy="105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98197" imgH="431613" progId="Equation.3">
                  <p:embed/>
                </p:oleObj>
              </mc:Choice>
              <mc:Fallback>
                <p:oleObj name="Equation" r:id="rId3" imgW="698197" imgH="431613" progId="Equation.3">
                  <p:embed/>
                  <p:pic>
                    <p:nvPicPr>
                      <p:cNvPr id="205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2388" y="2909888"/>
                        <a:ext cx="1711325" cy="1055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846752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Effect of </a:t>
            </a:r>
            <a:r>
              <a:rPr lang="en-US">
                <a:sym typeface="Symbol" pitchFamily="18" charset="2"/>
              </a:rPr>
              <a:t></a:t>
            </a: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3613150" cy="4525963"/>
          </a:xfrm>
        </p:spPr>
        <p:txBody>
          <a:bodyPr/>
          <a:lstStyle/>
          <a:p>
            <a:pPr eaLnBrk="1" hangingPunct="1"/>
            <a:r>
              <a:rPr lang="en-US"/>
              <a:t>Same example, but with different values of </a:t>
            </a:r>
            <a:r>
              <a:rPr lang="en-US">
                <a:sym typeface="Symbol" pitchFamily="18" charset="2"/>
              </a:rPr>
              <a:t></a:t>
            </a:r>
            <a:r>
              <a:rPr lang="en-US"/>
              <a:t> </a:t>
            </a:r>
          </a:p>
        </p:txBody>
      </p:sp>
      <p:pic>
        <p:nvPicPr>
          <p:cNvPr id="307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73538" y="2097088"/>
            <a:ext cx="4521200" cy="30146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graphicFrame>
        <p:nvGraphicFramePr>
          <p:cNvPr id="3074" name="Object 5"/>
          <p:cNvGraphicFramePr>
            <a:graphicFrameLocks noChangeAspect="1"/>
          </p:cNvGraphicFramePr>
          <p:nvPr/>
        </p:nvGraphicFramePr>
        <p:xfrm>
          <a:off x="5557838" y="5305425"/>
          <a:ext cx="20193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19300" imgH="431800" progId="Equation.3">
                  <p:embed/>
                </p:oleObj>
              </mc:Choice>
              <mc:Fallback>
                <p:oleObj name="Equation" r:id="rId3" imgW="2019300" imgH="431800" progId="Equation.3">
                  <p:embed/>
                  <p:pic>
                    <p:nvPicPr>
                      <p:cNvPr id="307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7838" y="5305425"/>
                        <a:ext cx="2019300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6"/>
          <p:cNvGraphicFramePr>
            <a:graphicFrameLocks noChangeAspect="1"/>
          </p:cNvGraphicFramePr>
          <p:nvPr/>
        </p:nvGraphicFramePr>
        <p:xfrm>
          <a:off x="8201025" y="4760913"/>
          <a:ext cx="419100" cy="134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19040" imgH="1346040" progId="Equation.3">
                  <p:embed/>
                </p:oleObj>
              </mc:Choice>
              <mc:Fallback>
                <p:oleObj name="Equation" r:id="rId5" imgW="419040" imgH="1346040" progId="Equation.3">
                  <p:embed/>
                  <p:pic>
                    <p:nvPicPr>
                      <p:cNvPr id="307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1025" y="4760913"/>
                        <a:ext cx="419100" cy="1343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1815176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Oval 61"/>
          <p:cNvSpPr/>
          <p:nvPr/>
        </p:nvSpPr>
        <p:spPr>
          <a:xfrm>
            <a:off x="1410409" y="3224142"/>
            <a:ext cx="338493" cy="342189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-3914774" y="-1114425"/>
            <a:ext cx="8486773" cy="7394575"/>
            <a:chOff x="947057" y="-1"/>
            <a:chExt cx="5573520" cy="5600701"/>
          </a:xfrm>
        </p:grpSpPr>
        <p:sp>
          <p:nvSpPr>
            <p:cNvPr id="20" name="Arc 19"/>
            <p:cNvSpPr/>
            <p:nvPr/>
          </p:nvSpPr>
          <p:spPr>
            <a:xfrm>
              <a:off x="947057" y="-1"/>
              <a:ext cx="5573520" cy="5600701"/>
            </a:xfrm>
            <a:prstGeom prst="arc">
              <a:avLst>
                <a:gd name="adj1" fmla="val 19224137"/>
                <a:gd name="adj2" fmla="val 5740503"/>
              </a:avLst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Arc 21"/>
            <p:cNvSpPr/>
            <p:nvPr/>
          </p:nvSpPr>
          <p:spPr>
            <a:xfrm>
              <a:off x="1844699" y="930644"/>
              <a:ext cx="3768364" cy="3722578"/>
            </a:xfrm>
            <a:prstGeom prst="arc">
              <a:avLst>
                <a:gd name="adj1" fmla="val 16954389"/>
                <a:gd name="adj2" fmla="val 5823047"/>
              </a:avLst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3" name="Arc 22"/>
            <p:cNvSpPr/>
            <p:nvPr/>
          </p:nvSpPr>
          <p:spPr>
            <a:xfrm>
              <a:off x="2906025" y="1811991"/>
              <a:ext cx="1852870" cy="1943051"/>
            </a:xfrm>
            <a:prstGeom prst="arc">
              <a:avLst>
                <a:gd name="adj1" fmla="val 15132351"/>
                <a:gd name="adj2" fmla="val 6529481"/>
              </a:avLst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3" name="Group 24"/>
          <p:cNvGrpSpPr>
            <a:grpSpLocks/>
          </p:cNvGrpSpPr>
          <p:nvPr/>
        </p:nvGrpSpPr>
        <p:grpSpPr bwMode="auto">
          <a:xfrm flipV="1">
            <a:off x="-3852245" y="546100"/>
            <a:ext cx="8710850" cy="7392988"/>
            <a:chOff x="947056" y="-1"/>
            <a:chExt cx="5845629" cy="5600701"/>
          </a:xfrm>
        </p:grpSpPr>
        <p:sp>
          <p:nvSpPr>
            <p:cNvPr id="26" name="Arc 25"/>
            <p:cNvSpPr/>
            <p:nvPr/>
          </p:nvSpPr>
          <p:spPr>
            <a:xfrm>
              <a:off x="947056" y="-1"/>
              <a:ext cx="5845629" cy="5600701"/>
            </a:xfrm>
            <a:prstGeom prst="arc">
              <a:avLst>
                <a:gd name="adj1" fmla="val 19224137"/>
                <a:gd name="adj2" fmla="val 5740503"/>
              </a:avLst>
            </a:prstGeom>
            <a:ln w="25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7" name="Arc 26"/>
            <p:cNvSpPr/>
            <p:nvPr/>
          </p:nvSpPr>
          <p:spPr>
            <a:xfrm>
              <a:off x="1844700" y="930843"/>
              <a:ext cx="3952342" cy="3723378"/>
            </a:xfrm>
            <a:prstGeom prst="arc">
              <a:avLst>
                <a:gd name="adj1" fmla="val 16954389"/>
                <a:gd name="adj2" fmla="val 5823047"/>
              </a:avLst>
            </a:prstGeom>
            <a:ln w="25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8" name="Arc 27"/>
            <p:cNvSpPr/>
            <p:nvPr/>
          </p:nvSpPr>
          <p:spPr>
            <a:xfrm>
              <a:off x="2906025" y="1812380"/>
              <a:ext cx="1943330" cy="1943468"/>
            </a:xfrm>
            <a:prstGeom prst="arc">
              <a:avLst>
                <a:gd name="adj1" fmla="val 15132351"/>
                <a:gd name="adj2" fmla="val 6529481"/>
              </a:avLst>
            </a:prstGeom>
            <a:ln w="25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200025" y="2166938"/>
            <a:ext cx="571500" cy="638175"/>
            <a:chOff x="1828800" y="1596115"/>
            <a:chExt cx="571500" cy="636814"/>
          </a:xfrm>
        </p:grpSpPr>
        <p:sp>
          <p:nvSpPr>
            <p:cNvPr id="30" name="Rectangle 29"/>
            <p:cNvSpPr/>
            <p:nvPr/>
          </p:nvSpPr>
          <p:spPr>
            <a:xfrm>
              <a:off x="1828800" y="1596115"/>
              <a:ext cx="571500" cy="636814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2" name="Trapezoid 31"/>
            <p:cNvSpPr/>
            <p:nvPr/>
          </p:nvSpPr>
          <p:spPr>
            <a:xfrm rot="16200000">
              <a:off x="2001672" y="1820060"/>
              <a:ext cx="587707" cy="193675"/>
            </a:xfrm>
            <a:prstGeom prst="trapezoid">
              <a:avLst>
                <a:gd name="adj" fmla="val 113746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 rot="16200000">
              <a:off x="2052007" y="1845459"/>
              <a:ext cx="152075" cy="14446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5" name="Group 35"/>
          <p:cNvGrpSpPr>
            <a:grpSpLocks/>
          </p:cNvGrpSpPr>
          <p:nvPr/>
        </p:nvGrpSpPr>
        <p:grpSpPr bwMode="auto">
          <a:xfrm>
            <a:off x="204788" y="3867150"/>
            <a:ext cx="571500" cy="636588"/>
            <a:chOff x="1834243" y="3695700"/>
            <a:chExt cx="571500" cy="636814"/>
          </a:xfrm>
        </p:grpSpPr>
        <p:sp>
          <p:nvSpPr>
            <p:cNvPr id="31" name="Rectangle 30"/>
            <p:cNvSpPr/>
            <p:nvPr/>
          </p:nvSpPr>
          <p:spPr>
            <a:xfrm>
              <a:off x="1834243" y="3695700"/>
              <a:ext cx="571500" cy="636814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4" name="Trapezoid 33"/>
            <p:cNvSpPr/>
            <p:nvPr/>
          </p:nvSpPr>
          <p:spPr>
            <a:xfrm rot="16200000">
              <a:off x="2000826" y="3927592"/>
              <a:ext cx="587584" cy="193675"/>
            </a:xfrm>
            <a:prstGeom prst="trapezoid">
              <a:avLst>
                <a:gd name="adj" fmla="val 113746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 rot="16200000">
              <a:off x="2051703" y="3952992"/>
              <a:ext cx="150867" cy="14446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cxnSp>
        <p:nvCxnSpPr>
          <p:cNvPr id="36" name="Straight Connector 35"/>
          <p:cNvCxnSpPr>
            <a:stCxn id="32" idx="2"/>
          </p:cNvCxnSpPr>
          <p:nvPr/>
        </p:nvCxnSpPr>
        <p:spPr>
          <a:xfrm>
            <a:off x="763588" y="2488406"/>
            <a:ext cx="808037" cy="85486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4" idx="2"/>
          </p:cNvCxnSpPr>
          <p:nvPr/>
        </p:nvCxnSpPr>
        <p:spPr>
          <a:xfrm flipV="1">
            <a:off x="762000" y="3400425"/>
            <a:ext cx="809625" cy="79533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954805" y="3067028"/>
            <a:ext cx="206178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Loud Spot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Oval 61"/>
          <p:cNvSpPr/>
          <p:nvPr/>
        </p:nvSpPr>
        <p:spPr>
          <a:xfrm>
            <a:off x="1610434" y="1909692"/>
            <a:ext cx="338493" cy="342189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-3914774" y="-1114425"/>
            <a:ext cx="8486773" cy="7394575"/>
            <a:chOff x="947057" y="-1"/>
            <a:chExt cx="5573520" cy="5600701"/>
          </a:xfrm>
        </p:grpSpPr>
        <p:sp>
          <p:nvSpPr>
            <p:cNvPr id="20" name="Arc 19"/>
            <p:cNvSpPr/>
            <p:nvPr/>
          </p:nvSpPr>
          <p:spPr>
            <a:xfrm>
              <a:off x="947057" y="-1"/>
              <a:ext cx="5573520" cy="5600701"/>
            </a:xfrm>
            <a:prstGeom prst="arc">
              <a:avLst>
                <a:gd name="adj1" fmla="val 19224137"/>
                <a:gd name="adj2" fmla="val 5740503"/>
              </a:avLst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Arc 21"/>
            <p:cNvSpPr/>
            <p:nvPr/>
          </p:nvSpPr>
          <p:spPr>
            <a:xfrm>
              <a:off x="1844699" y="930644"/>
              <a:ext cx="3768364" cy="3722578"/>
            </a:xfrm>
            <a:prstGeom prst="arc">
              <a:avLst>
                <a:gd name="adj1" fmla="val 16954389"/>
                <a:gd name="adj2" fmla="val 5823047"/>
              </a:avLst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3" name="Arc 22"/>
            <p:cNvSpPr/>
            <p:nvPr/>
          </p:nvSpPr>
          <p:spPr>
            <a:xfrm>
              <a:off x="2906025" y="1811991"/>
              <a:ext cx="1852870" cy="1943051"/>
            </a:xfrm>
            <a:prstGeom prst="arc">
              <a:avLst>
                <a:gd name="adj1" fmla="val 15132351"/>
                <a:gd name="adj2" fmla="val 6529481"/>
              </a:avLst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3" name="Group 24"/>
          <p:cNvGrpSpPr>
            <a:grpSpLocks/>
          </p:cNvGrpSpPr>
          <p:nvPr/>
        </p:nvGrpSpPr>
        <p:grpSpPr bwMode="auto">
          <a:xfrm flipV="1">
            <a:off x="-3852245" y="546100"/>
            <a:ext cx="8710850" cy="7392988"/>
            <a:chOff x="947056" y="-1"/>
            <a:chExt cx="5845629" cy="5600701"/>
          </a:xfrm>
        </p:grpSpPr>
        <p:sp>
          <p:nvSpPr>
            <p:cNvPr id="26" name="Arc 25"/>
            <p:cNvSpPr/>
            <p:nvPr/>
          </p:nvSpPr>
          <p:spPr>
            <a:xfrm>
              <a:off x="947056" y="-1"/>
              <a:ext cx="5845629" cy="5600701"/>
            </a:xfrm>
            <a:prstGeom prst="arc">
              <a:avLst>
                <a:gd name="adj1" fmla="val 19224137"/>
                <a:gd name="adj2" fmla="val 5740503"/>
              </a:avLst>
            </a:prstGeom>
            <a:ln w="25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7" name="Arc 26"/>
            <p:cNvSpPr/>
            <p:nvPr/>
          </p:nvSpPr>
          <p:spPr>
            <a:xfrm>
              <a:off x="1844700" y="930843"/>
              <a:ext cx="3952342" cy="3723378"/>
            </a:xfrm>
            <a:prstGeom prst="arc">
              <a:avLst>
                <a:gd name="adj1" fmla="val 16954389"/>
                <a:gd name="adj2" fmla="val 5823047"/>
              </a:avLst>
            </a:prstGeom>
            <a:ln w="25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8" name="Arc 27"/>
            <p:cNvSpPr/>
            <p:nvPr/>
          </p:nvSpPr>
          <p:spPr>
            <a:xfrm>
              <a:off x="2906025" y="1812380"/>
              <a:ext cx="1943330" cy="1943468"/>
            </a:xfrm>
            <a:prstGeom prst="arc">
              <a:avLst>
                <a:gd name="adj1" fmla="val 15132351"/>
                <a:gd name="adj2" fmla="val 6529481"/>
              </a:avLst>
            </a:prstGeom>
            <a:ln w="25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200025" y="2166938"/>
            <a:ext cx="571500" cy="638175"/>
            <a:chOff x="1828800" y="1596115"/>
            <a:chExt cx="571500" cy="636814"/>
          </a:xfrm>
        </p:grpSpPr>
        <p:sp>
          <p:nvSpPr>
            <p:cNvPr id="30" name="Rectangle 29"/>
            <p:cNvSpPr/>
            <p:nvPr/>
          </p:nvSpPr>
          <p:spPr>
            <a:xfrm>
              <a:off x="1828800" y="1596115"/>
              <a:ext cx="571500" cy="636814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2" name="Trapezoid 31"/>
            <p:cNvSpPr/>
            <p:nvPr/>
          </p:nvSpPr>
          <p:spPr>
            <a:xfrm rot="16200000">
              <a:off x="2001672" y="1820060"/>
              <a:ext cx="587707" cy="193675"/>
            </a:xfrm>
            <a:prstGeom prst="trapezoid">
              <a:avLst>
                <a:gd name="adj" fmla="val 113746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 rot="16200000">
              <a:off x="2052007" y="1845459"/>
              <a:ext cx="152075" cy="14446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5" name="Group 35"/>
          <p:cNvGrpSpPr>
            <a:grpSpLocks/>
          </p:cNvGrpSpPr>
          <p:nvPr/>
        </p:nvGrpSpPr>
        <p:grpSpPr bwMode="auto">
          <a:xfrm>
            <a:off x="204788" y="3867150"/>
            <a:ext cx="571500" cy="636588"/>
            <a:chOff x="1834243" y="3695700"/>
            <a:chExt cx="571500" cy="636814"/>
          </a:xfrm>
        </p:grpSpPr>
        <p:sp>
          <p:nvSpPr>
            <p:cNvPr id="31" name="Rectangle 30"/>
            <p:cNvSpPr/>
            <p:nvPr/>
          </p:nvSpPr>
          <p:spPr>
            <a:xfrm>
              <a:off x="1834243" y="3695700"/>
              <a:ext cx="571500" cy="636814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4" name="Trapezoid 33"/>
            <p:cNvSpPr/>
            <p:nvPr/>
          </p:nvSpPr>
          <p:spPr>
            <a:xfrm rot="16200000">
              <a:off x="2000826" y="3927592"/>
              <a:ext cx="587584" cy="193675"/>
            </a:xfrm>
            <a:prstGeom prst="trapezoid">
              <a:avLst>
                <a:gd name="adj" fmla="val 113746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 rot="16200000">
              <a:off x="2051703" y="3952992"/>
              <a:ext cx="150867" cy="14446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cxnSp>
        <p:nvCxnSpPr>
          <p:cNvPr id="36" name="Straight Connector 35"/>
          <p:cNvCxnSpPr>
            <a:stCxn id="32" idx="2"/>
          </p:cNvCxnSpPr>
          <p:nvPr/>
        </p:nvCxnSpPr>
        <p:spPr>
          <a:xfrm flipV="1">
            <a:off x="763588" y="2088107"/>
            <a:ext cx="1010621" cy="40029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4" idx="2"/>
          </p:cNvCxnSpPr>
          <p:nvPr/>
        </p:nvCxnSpPr>
        <p:spPr>
          <a:xfrm flipV="1">
            <a:off x="762000" y="2115403"/>
            <a:ext cx="998561" cy="208035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097680" y="2066903"/>
            <a:ext cx="206178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Loud Spot</a:t>
            </a:r>
          </a:p>
        </p:txBody>
      </p:sp>
      <p:cxnSp>
        <p:nvCxnSpPr>
          <p:cNvPr id="58" name="Straight Arrow Connector 57"/>
          <p:cNvCxnSpPr/>
          <p:nvPr/>
        </p:nvCxnSpPr>
        <p:spPr>
          <a:xfrm flipV="1">
            <a:off x="846446" y="3234519"/>
            <a:ext cx="518330" cy="103652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4714" name="TextBox 62"/>
          <p:cNvSpPr txBox="1">
            <a:spLocks noChangeArrowheads="1"/>
          </p:cNvSpPr>
          <p:nvPr/>
        </p:nvSpPr>
        <p:spPr bwMode="auto">
          <a:xfrm>
            <a:off x="1158522" y="3648576"/>
            <a:ext cx="3606800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dirty="0"/>
              <a:t>Full wavelength farther from the green wave center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Oval 61"/>
          <p:cNvSpPr/>
          <p:nvPr/>
        </p:nvSpPr>
        <p:spPr>
          <a:xfrm>
            <a:off x="1610434" y="1909692"/>
            <a:ext cx="338493" cy="342189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-3914774" y="-1114425"/>
            <a:ext cx="8486773" cy="7394575"/>
            <a:chOff x="947057" y="-1"/>
            <a:chExt cx="5573520" cy="5600701"/>
          </a:xfrm>
        </p:grpSpPr>
        <p:sp>
          <p:nvSpPr>
            <p:cNvPr id="20" name="Arc 19"/>
            <p:cNvSpPr/>
            <p:nvPr/>
          </p:nvSpPr>
          <p:spPr>
            <a:xfrm>
              <a:off x="947057" y="-1"/>
              <a:ext cx="5573520" cy="5600701"/>
            </a:xfrm>
            <a:prstGeom prst="arc">
              <a:avLst>
                <a:gd name="adj1" fmla="val 19224137"/>
                <a:gd name="adj2" fmla="val 5740503"/>
              </a:avLst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Arc 21"/>
            <p:cNvSpPr/>
            <p:nvPr/>
          </p:nvSpPr>
          <p:spPr>
            <a:xfrm>
              <a:off x="1844699" y="930644"/>
              <a:ext cx="3768364" cy="3722578"/>
            </a:xfrm>
            <a:prstGeom prst="arc">
              <a:avLst>
                <a:gd name="adj1" fmla="val 16954389"/>
                <a:gd name="adj2" fmla="val 5823047"/>
              </a:avLst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3" name="Arc 22"/>
            <p:cNvSpPr/>
            <p:nvPr/>
          </p:nvSpPr>
          <p:spPr>
            <a:xfrm>
              <a:off x="2906025" y="1811991"/>
              <a:ext cx="1852870" cy="1943051"/>
            </a:xfrm>
            <a:prstGeom prst="arc">
              <a:avLst>
                <a:gd name="adj1" fmla="val 15132351"/>
                <a:gd name="adj2" fmla="val 6529481"/>
              </a:avLst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3" name="Group 24"/>
          <p:cNvGrpSpPr>
            <a:grpSpLocks/>
          </p:cNvGrpSpPr>
          <p:nvPr/>
        </p:nvGrpSpPr>
        <p:grpSpPr bwMode="auto">
          <a:xfrm flipV="1">
            <a:off x="-3852245" y="546100"/>
            <a:ext cx="8710850" cy="7392988"/>
            <a:chOff x="947056" y="-1"/>
            <a:chExt cx="5845629" cy="5600701"/>
          </a:xfrm>
        </p:grpSpPr>
        <p:sp>
          <p:nvSpPr>
            <p:cNvPr id="26" name="Arc 25"/>
            <p:cNvSpPr/>
            <p:nvPr/>
          </p:nvSpPr>
          <p:spPr>
            <a:xfrm>
              <a:off x="947056" y="-1"/>
              <a:ext cx="5845629" cy="5600701"/>
            </a:xfrm>
            <a:prstGeom prst="arc">
              <a:avLst>
                <a:gd name="adj1" fmla="val 19224137"/>
                <a:gd name="adj2" fmla="val 5740503"/>
              </a:avLst>
            </a:prstGeom>
            <a:ln w="25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7" name="Arc 26"/>
            <p:cNvSpPr/>
            <p:nvPr/>
          </p:nvSpPr>
          <p:spPr>
            <a:xfrm>
              <a:off x="1844700" y="930843"/>
              <a:ext cx="3952342" cy="3723378"/>
            </a:xfrm>
            <a:prstGeom prst="arc">
              <a:avLst>
                <a:gd name="adj1" fmla="val 16954389"/>
                <a:gd name="adj2" fmla="val 5823047"/>
              </a:avLst>
            </a:prstGeom>
            <a:ln w="25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8" name="Arc 27"/>
            <p:cNvSpPr/>
            <p:nvPr/>
          </p:nvSpPr>
          <p:spPr>
            <a:xfrm>
              <a:off x="2906025" y="1812380"/>
              <a:ext cx="1943330" cy="1943468"/>
            </a:xfrm>
            <a:prstGeom prst="arc">
              <a:avLst>
                <a:gd name="adj1" fmla="val 15132351"/>
                <a:gd name="adj2" fmla="val 6529481"/>
              </a:avLst>
            </a:prstGeom>
            <a:ln w="25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200025" y="2166938"/>
            <a:ext cx="571500" cy="638175"/>
            <a:chOff x="1828800" y="1596115"/>
            <a:chExt cx="571500" cy="636814"/>
          </a:xfrm>
        </p:grpSpPr>
        <p:sp>
          <p:nvSpPr>
            <p:cNvPr id="30" name="Rectangle 29"/>
            <p:cNvSpPr/>
            <p:nvPr/>
          </p:nvSpPr>
          <p:spPr>
            <a:xfrm>
              <a:off x="1828800" y="1596115"/>
              <a:ext cx="571500" cy="636814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2" name="Trapezoid 31"/>
            <p:cNvSpPr/>
            <p:nvPr/>
          </p:nvSpPr>
          <p:spPr>
            <a:xfrm rot="16200000">
              <a:off x="2001672" y="1820060"/>
              <a:ext cx="587707" cy="193675"/>
            </a:xfrm>
            <a:prstGeom prst="trapezoid">
              <a:avLst>
                <a:gd name="adj" fmla="val 113746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 rot="16200000">
              <a:off x="2052007" y="1845459"/>
              <a:ext cx="152075" cy="14446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5" name="Group 35"/>
          <p:cNvGrpSpPr>
            <a:grpSpLocks/>
          </p:cNvGrpSpPr>
          <p:nvPr/>
        </p:nvGrpSpPr>
        <p:grpSpPr bwMode="auto">
          <a:xfrm>
            <a:off x="204788" y="3867150"/>
            <a:ext cx="571500" cy="636588"/>
            <a:chOff x="1834243" y="3695700"/>
            <a:chExt cx="571500" cy="636814"/>
          </a:xfrm>
        </p:grpSpPr>
        <p:sp>
          <p:nvSpPr>
            <p:cNvPr id="31" name="Rectangle 30"/>
            <p:cNvSpPr/>
            <p:nvPr/>
          </p:nvSpPr>
          <p:spPr>
            <a:xfrm>
              <a:off x="1834243" y="3695700"/>
              <a:ext cx="571500" cy="636814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4" name="Trapezoid 33"/>
            <p:cNvSpPr/>
            <p:nvPr/>
          </p:nvSpPr>
          <p:spPr>
            <a:xfrm rot="16200000">
              <a:off x="2000826" y="3927592"/>
              <a:ext cx="587584" cy="193675"/>
            </a:xfrm>
            <a:prstGeom prst="trapezoid">
              <a:avLst>
                <a:gd name="adj" fmla="val 113746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 rot="16200000">
              <a:off x="2051703" y="3952992"/>
              <a:ext cx="150867" cy="14446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cxnSp>
        <p:nvCxnSpPr>
          <p:cNvPr id="36" name="Straight Connector 35"/>
          <p:cNvCxnSpPr>
            <a:stCxn id="32" idx="2"/>
          </p:cNvCxnSpPr>
          <p:nvPr/>
        </p:nvCxnSpPr>
        <p:spPr>
          <a:xfrm flipV="1">
            <a:off x="763588" y="2088107"/>
            <a:ext cx="1010621" cy="40029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4" idx="2"/>
          </p:cNvCxnSpPr>
          <p:nvPr/>
        </p:nvCxnSpPr>
        <p:spPr>
          <a:xfrm flipV="1">
            <a:off x="762000" y="2115403"/>
            <a:ext cx="998561" cy="208035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725477" y="1630175"/>
            <a:ext cx="224292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Loud Spots</a:t>
            </a:r>
          </a:p>
        </p:txBody>
      </p:sp>
      <p:sp>
        <p:nvSpPr>
          <p:cNvPr id="24" name="Oval 23"/>
          <p:cNvSpPr/>
          <p:nvPr/>
        </p:nvSpPr>
        <p:spPr>
          <a:xfrm>
            <a:off x="2349688" y="820146"/>
            <a:ext cx="338493" cy="342189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2010769" y="1381979"/>
            <a:ext cx="338493" cy="342189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2777318" y="224195"/>
            <a:ext cx="338493" cy="342189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2929718" y="3062645"/>
            <a:ext cx="338493" cy="342189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1453343" y="3243620"/>
            <a:ext cx="338493" cy="342189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4377518" y="2681645"/>
            <a:ext cx="338493" cy="342189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2158193" y="3119795"/>
            <a:ext cx="338493" cy="342189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3625043" y="2900720"/>
            <a:ext cx="338493" cy="342189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1705684" y="4462392"/>
            <a:ext cx="338493" cy="342189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2902138" y="5258796"/>
            <a:ext cx="338493" cy="342189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2363194" y="4849079"/>
            <a:ext cx="338493" cy="342189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3529793" y="5691545"/>
            <a:ext cx="338493" cy="342189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Oval 61"/>
          <p:cNvSpPr/>
          <p:nvPr/>
        </p:nvSpPr>
        <p:spPr>
          <a:xfrm>
            <a:off x="1675121" y="2701264"/>
            <a:ext cx="344748" cy="27395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-3914774" y="-1114425"/>
            <a:ext cx="8486773" cy="7394575"/>
            <a:chOff x="947057" y="-1"/>
            <a:chExt cx="5573520" cy="5600701"/>
          </a:xfrm>
        </p:grpSpPr>
        <p:sp>
          <p:nvSpPr>
            <p:cNvPr id="20" name="Arc 19"/>
            <p:cNvSpPr/>
            <p:nvPr/>
          </p:nvSpPr>
          <p:spPr>
            <a:xfrm>
              <a:off x="947057" y="-1"/>
              <a:ext cx="5573520" cy="5600701"/>
            </a:xfrm>
            <a:prstGeom prst="arc">
              <a:avLst>
                <a:gd name="adj1" fmla="val 19224137"/>
                <a:gd name="adj2" fmla="val 5740503"/>
              </a:avLst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Arc 21"/>
            <p:cNvSpPr/>
            <p:nvPr/>
          </p:nvSpPr>
          <p:spPr>
            <a:xfrm>
              <a:off x="1844699" y="930644"/>
              <a:ext cx="3768364" cy="3722578"/>
            </a:xfrm>
            <a:prstGeom prst="arc">
              <a:avLst>
                <a:gd name="adj1" fmla="val 16954389"/>
                <a:gd name="adj2" fmla="val 5823047"/>
              </a:avLst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3" name="Arc 22"/>
            <p:cNvSpPr/>
            <p:nvPr/>
          </p:nvSpPr>
          <p:spPr>
            <a:xfrm>
              <a:off x="2906025" y="1811991"/>
              <a:ext cx="1852870" cy="1943051"/>
            </a:xfrm>
            <a:prstGeom prst="arc">
              <a:avLst>
                <a:gd name="adj1" fmla="val 15132351"/>
                <a:gd name="adj2" fmla="val 6529481"/>
              </a:avLst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3" name="Group 24"/>
          <p:cNvGrpSpPr>
            <a:grpSpLocks/>
          </p:cNvGrpSpPr>
          <p:nvPr/>
        </p:nvGrpSpPr>
        <p:grpSpPr bwMode="auto">
          <a:xfrm flipV="1">
            <a:off x="-3852245" y="546100"/>
            <a:ext cx="8710850" cy="7392988"/>
            <a:chOff x="947056" y="-1"/>
            <a:chExt cx="5845629" cy="5600701"/>
          </a:xfrm>
        </p:grpSpPr>
        <p:sp>
          <p:nvSpPr>
            <p:cNvPr id="26" name="Arc 25"/>
            <p:cNvSpPr/>
            <p:nvPr/>
          </p:nvSpPr>
          <p:spPr>
            <a:xfrm>
              <a:off x="947056" y="-1"/>
              <a:ext cx="5845629" cy="5600701"/>
            </a:xfrm>
            <a:prstGeom prst="arc">
              <a:avLst>
                <a:gd name="adj1" fmla="val 19224137"/>
                <a:gd name="adj2" fmla="val 5740503"/>
              </a:avLst>
            </a:prstGeom>
            <a:ln w="25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7" name="Arc 26"/>
            <p:cNvSpPr/>
            <p:nvPr/>
          </p:nvSpPr>
          <p:spPr>
            <a:xfrm>
              <a:off x="1844700" y="930843"/>
              <a:ext cx="3952342" cy="3723378"/>
            </a:xfrm>
            <a:prstGeom prst="arc">
              <a:avLst>
                <a:gd name="adj1" fmla="val 16954389"/>
                <a:gd name="adj2" fmla="val 5823047"/>
              </a:avLst>
            </a:prstGeom>
            <a:ln w="25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8" name="Arc 27"/>
            <p:cNvSpPr/>
            <p:nvPr/>
          </p:nvSpPr>
          <p:spPr>
            <a:xfrm>
              <a:off x="2906025" y="1812380"/>
              <a:ext cx="1943330" cy="1943468"/>
            </a:xfrm>
            <a:prstGeom prst="arc">
              <a:avLst>
                <a:gd name="adj1" fmla="val 15132351"/>
                <a:gd name="adj2" fmla="val 6529481"/>
              </a:avLst>
            </a:prstGeom>
            <a:ln w="25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200025" y="2166938"/>
            <a:ext cx="571500" cy="638175"/>
            <a:chOff x="1828800" y="1596115"/>
            <a:chExt cx="571500" cy="636814"/>
          </a:xfrm>
        </p:grpSpPr>
        <p:sp>
          <p:nvSpPr>
            <p:cNvPr id="30" name="Rectangle 29"/>
            <p:cNvSpPr/>
            <p:nvPr/>
          </p:nvSpPr>
          <p:spPr>
            <a:xfrm>
              <a:off x="1828800" y="1596115"/>
              <a:ext cx="571500" cy="636814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2" name="Trapezoid 31"/>
            <p:cNvSpPr/>
            <p:nvPr/>
          </p:nvSpPr>
          <p:spPr>
            <a:xfrm rot="16200000">
              <a:off x="2001672" y="1820060"/>
              <a:ext cx="587707" cy="193675"/>
            </a:xfrm>
            <a:prstGeom prst="trapezoid">
              <a:avLst>
                <a:gd name="adj" fmla="val 113746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 rot="16200000">
              <a:off x="2052007" y="1845459"/>
              <a:ext cx="152075" cy="14446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5" name="Group 35"/>
          <p:cNvGrpSpPr>
            <a:grpSpLocks/>
          </p:cNvGrpSpPr>
          <p:nvPr/>
        </p:nvGrpSpPr>
        <p:grpSpPr bwMode="auto">
          <a:xfrm>
            <a:off x="204788" y="3867150"/>
            <a:ext cx="571500" cy="636588"/>
            <a:chOff x="1834243" y="3695700"/>
            <a:chExt cx="571500" cy="636814"/>
          </a:xfrm>
        </p:grpSpPr>
        <p:sp>
          <p:nvSpPr>
            <p:cNvPr id="31" name="Rectangle 30"/>
            <p:cNvSpPr/>
            <p:nvPr/>
          </p:nvSpPr>
          <p:spPr>
            <a:xfrm>
              <a:off x="1834243" y="3695700"/>
              <a:ext cx="571500" cy="636814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4" name="Trapezoid 33"/>
            <p:cNvSpPr/>
            <p:nvPr/>
          </p:nvSpPr>
          <p:spPr>
            <a:xfrm rot="16200000">
              <a:off x="2000826" y="3927592"/>
              <a:ext cx="587584" cy="193675"/>
            </a:xfrm>
            <a:prstGeom prst="trapezoid">
              <a:avLst>
                <a:gd name="adj" fmla="val 113746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 rot="16200000">
              <a:off x="2051703" y="3952992"/>
              <a:ext cx="150867" cy="14446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cxnSp>
        <p:nvCxnSpPr>
          <p:cNvPr id="36" name="Straight Connector 35"/>
          <p:cNvCxnSpPr>
            <a:stCxn id="32" idx="2"/>
          </p:cNvCxnSpPr>
          <p:nvPr/>
        </p:nvCxnSpPr>
        <p:spPr>
          <a:xfrm>
            <a:off x="763588" y="2488406"/>
            <a:ext cx="1092508" cy="35032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4" idx="2"/>
          </p:cNvCxnSpPr>
          <p:nvPr/>
        </p:nvCxnSpPr>
        <p:spPr>
          <a:xfrm flipV="1">
            <a:off x="762000" y="2879678"/>
            <a:ext cx="1080448" cy="131608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056737" y="2230675"/>
            <a:ext cx="2116138" cy="64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Dead Spot</a:t>
            </a:r>
          </a:p>
        </p:txBody>
      </p:sp>
      <p:cxnSp>
        <p:nvCxnSpPr>
          <p:cNvPr id="58" name="Straight Arrow Connector 57"/>
          <p:cNvCxnSpPr/>
          <p:nvPr/>
        </p:nvCxnSpPr>
        <p:spPr>
          <a:xfrm rot="5400000" flipH="1" flipV="1">
            <a:off x="1513906" y="3015302"/>
            <a:ext cx="438150" cy="38100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4714" name="TextBox 62"/>
          <p:cNvSpPr txBox="1">
            <a:spLocks noChangeArrowheads="1"/>
          </p:cNvSpPr>
          <p:nvPr/>
        </p:nvSpPr>
        <p:spPr bwMode="auto">
          <a:xfrm>
            <a:off x="1963738" y="3252788"/>
            <a:ext cx="3606800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dirty="0"/>
              <a:t>Half a wavelength farther from the green wave center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Oval 61"/>
          <p:cNvSpPr/>
          <p:nvPr/>
        </p:nvSpPr>
        <p:spPr>
          <a:xfrm>
            <a:off x="1675121" y="2701264"/>
            <a:ext cx="344748" cy="27395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-3914774" y="-1114425"/>
            <a:ext cx="8486773" cy="7394575"/>
            <a:chOff x="947057" y="-1"/>
            <a:chExt cx="5573520" cy="5600701"/>
          </a:xfrm>
        </p:grpSpPr>
        <p:sp>
          <p:nvSpPr>
            <p:cNvPr id="20" name="Arc 19"/>
            <p:cNvSpPr/>
            <p:nvPr/>
          </p:nvSpPr>
          <p:spPr>
            <a:xfrm>
              <a:off x="947057" y="-1"/>
              <a:ext cx="5573520" cy="5600701"/>
            </a:xfrm>
            <a:prstGeom prst="arc">
              <a:avLst>
                <a:gd name="adj1" fmla="val 19224137"/>
                <a:gd name="adj2" fmla="val 5740503"/>
              </a:avLst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Arc 21"/>
            <p:cNvSpPr/>
            <p:nvPr/>
          </p:nvSpPr>
          <p:spPr>
            <a:xfrm>
              <a:off x="1844699" y="930644"/>
              <a:ext cx="3768364" cy="3722578"/>
            </a:xfrm>
            <a:prstGeom prst="arc">
              <a:avLst>
                <a:gd name="adj1" fmla="val 16954389"/>
                <a:gd name="adj2" fmla="val 5823047"/>
              </a:avLst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3" name="Arc 22"/>
            <p:cNvSpPr/>
            <p:nvPr/>
          </p:nvSpPr>
          <p:spPr>
            <a:xfrm>
              <a:off x="2906025" y="1811991"/>
              <a:ext cx="1852870" cy="1943051"/>
            </a:xfrm>
            <a:prstGeom prst="arc">
              <a:avLst>
                <a:gd name="adj1" fmla="val 15132351"/>
                <a:gd name="adj2" fmla="val 6529481"/>
              </a:avLst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3" name="Group 24"/>
          <p:cNvGrpSpPr>
            <a:grpSpLocks/>
          </p:cNvGrpSpPr>
          <p:nvPr/>
        </p:nvGrpSpPr>
        <p:grpSpPr bwMode="auto">
          <a:xfrm flipV="1">
            <a:off x="-3852245" y="546100"/>
            <a:ext cx="8710850" cy="7392988"/>
            <a:chOff x="947056" y="-1"/>
            <a:chExt cx="5845629" cy="5600701"/>
          </a:xfrm>
        </p:grpSpPr>
        <p:sp>
          <p:nvSpPr>
            <p:cNvPr id="26" name="Arc 25"/>
            <p:cNvSpPr/>
            <p:nvPr/>
          </p:nvSpPr>
          <p:spPr>
            <a:xfrm>
              <a:off x="947056" y="-1"/>
              <a:ext cx="5845629" cy="5600701"/>
            </a:xfrm>
            <a:prstGeom prst="arc">
              <a:avLst>
                <a:gd name="adj1" fmla="val 19224137"/>
                <a:gd name="adj2" fmla="val 5740503"/>
              </a:avLst>
            </a:prstGeom>
            <a:ln w="25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7" name="Arc 26"/>
            <p:cNvSpPr/>
            <p:nvPr/>
          </p:nvSpPr>
          <p:spPr>
            <a:xfrm>
              <a:off x="1844700" y="930843"/>
              <a:ext cx="3952342" cy="3723378"/>
            </a:xfrm>
            <a:prstGeom prst="arc">
              <a:avLst>
                <a:gd name="adj1" fmla="val 16954389"/>
                <a:gd name="adj2" fmla="val 5823047"/>
              </a:avLst>
            </a:prstGeom>
            <a:ln w="25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8" name="Arc 27"/>
            <p:cNvSpPr/>
            <p:nvPr/>
          </p:nvSpPr>
          <p:spPr>
            <a:xfrm>
              <a:off x="2906025" y="1812380"/>
              <a:ext cx="1943330" cy="1943468"/>
            </a:xfrm>
            <a:prstGeom prst="arc">
              <a:avLst>
                <a:gd name="adj1" fmla="val 15132351"/>
                <a:gd name="adj2" fmla="val 6529481"/>
              </a:avLst>
            </a:prstGeom>
            <a:ln w="25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200025" y="2166938"/>
            <a:ext cx="571500" cy="638175"/>
            <a:chOff x="1828800" y="1596115"/>
            <a:chExt cx="571500" cy="636814"/>
          </a:xfrm>
        </p:grpSpPr>
        <p:sp>
          <p:nvSpPr>
            <p:cNvPr id="30" name="Rectangle 29"/>
            <p:cNvSpPr/>
            <p:nvPr/>
          </p:nvSpPr>
          <p:spPr>
            <a:xfrm>
              <a:off x="1828800" y="1596115"/>
              <a:ext cx="571500" cy="636814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2" name="Trapezoid 31"/>
            <p:cNvSpPr/>
            <p:nvPr/>
          </p:nvSpPr>
          <p:spPr>
            <a:xfrm rot="16200000">
              <a:off x="2001672" y="1820060"/>
              <a:ext cx="587707" cy="193675"/>
            </a:xfrm>
            <a:prstGeom prst="trapezoid">
              <a:avLst>
                <a:gd name="adj" fmla="val 113746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 rot="16200000">
              <a:off x="2052007" y="1845459"/>
              <a:ext cx="152075" cy="14446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5" name="Group 35"/>
          <p:cNvGrpSpPr>
            <a:grpSpLocks/>
          </p:cNvGrpSpPr>
          <p:nvPr/>
        </p:nvGrpSpPr>
        <p:grpSpPr bwMode="auto">
          <a:xfrm>
            <a:off x="204788" y="3867150"/>
            <a:ext cx="571500" cy="636588"/>
            <a:chOff x="1834243" y="3695700"/>
            <a:chExt cx="571500" cy="636814"/>
          </a:xfrm>
        </p:grpSpPr>
        <p:sp>
          <p:nvSpPr>
            <p:cNvPr id="31" name="Rectangle 30"/>
            <p:cNvSpPr/>
            <p:nvPr/>
          </p:nvSpPr>
          <p:spPr>
            <a:xfrm>
              <a:off x="1834243" y="3695700"/>
              <a:ext cx="571500" cy="636814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4" name="Trapezoid 33"/>
            <p:cNvSpPr/>
            <p:nvPr/>
          </p:nvSpPr>
          <p:spPr>
            <a:xfrm rot="16200000">
              <a:off x="2000826" y="3927592"/>
              <a:ext cx="587584" cy="193675"/>
            </a:xfrm>
            <a:prstGeom prst="trapezoid">
              <a:avLst>
                <a:gd name="adj" fmla="val 113746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 rot="16200000">
              <a:off x="2051703" y="3952992"/>
              <a:ext cx="150867" cy="14446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3312331" y="2640107"/>
            <a:ext cx="229742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Dead Spots</a:t>
            </a:r>
          </a:p>
        </p:txBody>
      </p:sp>
      <p:sp>
        <p:nvSpPr>
          <p:cNvPr id="24" name="Oval 23"/>
          <p:cNvSpPr/>
          <p:nvPr/>
        </p:nvSpPr>
        <p:spPr>
          <a:xfrm>
            <a:off x="2318841" y="2362344"/>
            <a:ext cx="344748" cy="27395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2948913" y="1968833"/>
            <a:ext cx="344748" cy="27395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3592633" y="1698152"/>
            <a:ext cx="344748" cy="27395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1713221" y="3739489"/>
            <a:ext cx="344748" cy="27395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2471241" y="3943494"/>
            <a:ext cx="344748" cy="27395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3187038" y="4092908"/>
            <a:ext cx="344748" cy="27395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3916483" y="4222277"/>
            <a:ext cx="344748" cy="27395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7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223.8.3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r>
              <a:rPr lang="en-US" dirty="0"/>
              <a:t>I have two waves coming from speakers in my room. I am sitting 3 wavelengths away from one speaker and 4.5 wavelengths away from the other speaker. I hear..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Twice the normal loudness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4 times the normal loudness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8 times the normal loudness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Practically nothing</a:t>
            </a:r>
          </a:p>
        </p:txBody>
      </p:sp>
    </p:spTree>
    <p:extLst>
      <p:ext uri="{BB962C8B-B14F-4D97-AF65-F5344CB8AC3E}">
        <p14:creationId xmlns:p14="http://schemas.microsoft.com/office/powerpoint/2010/main" val="34251927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7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223.8.4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r>
              <a:rPr lang="en-US" dirty="0"/>
              <a:t>I have two waves coming from speakers in my room. I am sitting 3 wavelengths away from one speaker and 6 wavelengths away from the other speaker. I hear..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Twice the normal loudness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4 times the normal loudness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8 times the normal loudness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Practically nothing</a:t>
            </a:r>
          </a:p>
        </p:txBody>
      </p:sp>
    </p:spTree>
    <p:extLst>
      <p:ext uri="{BB962C8B-B14F-4D97-AF65-F5344CB8AC3E}">
        <p14:creationId xmlns:p14="http://schemas.microsoft.com/office/powerpoint/2010/main" val="199010572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1343025" y="1252538"/>
            <a:ext cx="571500" cy="638175"/>
            <a:chOff x="1828800" y="1596115"/>
            <a:chExt cx="571500" cy="636814"/>
          </a:xfrm>
        </p:grpSpPr>
        <p:sp>
          <p:nvSpPr>
            <p:cNvPr id="30" name="Rectangle 29"/>
            <p:cNvSpPr/>
            <p:nvPr/>
          </p:nvSpPr>
          <p:spPr>
            <a:xfrm>
              <a:off x="1828800" y="1596115"/>
              <a:ext cx="571500" cy="636814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2" name="Trapezoid 31"/>
            <p:cNvSpPr/>
            <p:nvPr/>
          </p:nvSpPr>
          <p:spPr>
            <a:xfrm rot="16200000">
              <a:off x="2001672" y="1820060"/>
              <a:ext cx="587707" cy="193675"/>
            </a:xfrm>
            <a:prstGeom prst="trapezoid">
              <a:avLst>
                <a:gd name="adj" fmla="val 113746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 rot="16200000">
              <a:off x="2052007" y="1845459"/>
              <a:ext cx="152075" cy="14446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5" name="Group 35"/>
          <p:cNvGrpSpPr>
            <a:grpSpLocks/>
          </p:cNvGrpSpPr>
          <p:nvPr/>
        </p:nvGrpSpPr>
        <p:grpSpPr bwMode="auto">
          <a:xfrm>
            <a:off x="1319213" y="4924425"/>
            <a:ext cx="571500" cy="636588"/>
            <a:chOff x="1834243" y="3695700"/>
            <a:chExt cx="571500" cy="636814"/>
          </a:xfrm>
        </p:grpSpPr>
        <p:sp>
          <p:nvSpPr>
            <p:cNvPr id="31" name="Rectangle 30"/>
            <p:cNvSpPr/>
            <p:nvPr/>
          </p:nvSpPr>
          <p:spPr>
            <a:xfrm>
              <a:off x="1834243" y="3695700"/>
              <a:ext cx="571500" cy="636814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4" name="Trapezoid 33"/>
            <p:cNvSpPr/>
            <p:nvPr/>
          </p:nvSpPr>
          <p:spPr>
            <a:xfrm rot="16200000">
              <a:off x="2000826" y="3927592"/>
              <a:ext cx="587584" cy="193675"/>
            </a:xfrm>
            <a:prstGeom prst="trapezoid">
              <a:avLst>
                <a:gd name="adj" fmla="val 113746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 rot="16200000">
              <a:off x="2051703" y="3952992"/>
              <a:ext cx="150867" cy="14446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cxnSp>
        <p:nvCxnSpPr>
          <p:cNvPr id="38" name="Straight Connector 37"/>
          <p:cNvCxnSpPr/>
          <p:nvPr/>
        </p:nvCxnSpPr>
        <p:spPr>
          <a:xfrm flipH="1">
            <a:off x="742950" y="3400425"/>
            <a:ext cx="4772025" cy="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V="1">
            <a:off x="1171575" y="1548594"/>
            <a:ext cx="21751" cy="1851831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V="1">
            <a:off x="1152525" y="3386919"/>
            <a:ext cx="21751" cy="1851831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57250" y="2200275"/>
            <a:ext cx="654346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2m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200" y="4010025"/>
            <a:ext cx="654346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2m</a:t>
            </a:r>
          </a:p>
        </p:txBody>
      </p:sp>
      <p:sp>
        <p:nvSpPr>
          <p:cNvPr id="64" name="Oval 63"/>
          <p:cNvSpPr/>
          <p:nvPr/>
        </p:nvSpPr>
        <p:spPr>
          <a:xfrm>
            <a:off x="4421308" y="1440977"/>
            <a:ext cx="236417" cy="27352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68" name="Straight Connector 67"/>
          <p:cNvCxnSpPr>
            <a:stCxn id="32" idx="2"/>
            <a:endCxn id="64" idx="2"/>
          </p:cNvCxnSpPr>
          <p:nvPr/>
        </p:nvCxnSpPr>
        <p:spPr>
          <a:xfrm>
            <a:off x="1906588" y="1574006"/>
            <a:ext cx="2514720" cy="37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34" idx="2"/>
            <a:endCxn id="64" idx="7"/>
          </p:cNvCxnSpPr>
          <p:nvPr/>
        </p:nvCxnSpPr>
        <p:spPr>
          <a:xfrm flipV="1">
            <a:off x="1876425" y="1481033"/>
            <a:ext cx="2746678" cy="37720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H="1">
            <a:off x="1771651" y="914400"/>
            <a:ext cx="2800349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2895600" y="609600"/>
            <a:ext cx="654346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3m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0358E7-5ABA-69A2-E2B3-B3C44C1A06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0BA4F39-95C8-22FC-D198-3A41F6A5CD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95855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9281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1835150"/>
            <a:ext cx="5894388" cy="393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Arrow Connector 4"/>
          <p:cNvCxnSpPr/>
          <p:nvPr/>
        </p:nvCxnSpPr>
        <p:spPr>
          <a:xfrm rot="5400000" flipH="1" flipV="1">
            <a:off x="4248150" y="4772025"/>
            <a:ext cx="2154238" cy="4079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rot="16200000" flipV="1">
            <a:off x="3382963" y="4281488"/>
            <a:ext cx="2024062" cy="14208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9284" name="TextBox 9"/>
          <p:cNvSpPr txBox="1">
            <a:spLocks noChangeArrowheads="1"/>
          </p:cNvSpPr>
          <p:nvPr/>
        </p:nvSpPr>
        <p:spPr bwMode="auto">
          <a:xfrm>
            <a:off x="4518025" y="6037263"/>
            <a:ext cx="124618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dirty="0"/>
              <a:t>Nodes</a:t>
            </a:r>
          </a:p>
        </p:txBody>
      </p:sp>
      <p:sp>
        <p:nvSpPr>
          <p:cNvPr id="609285" name="TextBox 10"/>
          <p:cNvSpPr txBox="1">
            <a:spLocks noChangeArrowheads="1"/>
          </p:cNvSpPr>
          <p:nvPr/>
        </p:nvSpPr>
        <p:spPr bwMode="auto">
          <a:xfrm>
            <a:off x="3052763" y="1389063"/>
            <a:ext cx="20542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dirty="0"/>
              <a:t>Anti-Nodes</a:t>
            </a:r>
          </a:p>
        </p:txBody>
      </p:sp>
      <p:cxnSp>
        <p:nvCxnSpPr>
          <p:cNvPr id="13" name="Straight Arrow Connector 12"/>
          <p:cNvCxnSpPr>
            <a:stCxn id="609285" idx="2"/>
          </p:cNvCxnSpPr>
          <p:nvPr/>
        </p:nvCxnSpPr>
        <p:spPr>
          <a:xfrm rot="5400000">
            <a:off x="3197225" y="1644651"/>
            <a:ext cx="554037" cy="12112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609285" idx="2"/>
          </p:cNvCxnSpPr>
          <p:nvPr/>
        </p:nvCxnSpPr>
        <p:spPr>
          <a:xfrm rot="16200000" flipH="1">
            <a:off x="4071144" y="1981994"/>
            <a:ext cx="536575" cy="5191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609285" idx="2"/>
          </p:cNvCxnSpPr>
          <p:nvPr/>
        </p:nvCxnSpPr>
        <p:spPr>
          <a:xfrm rot="16200000" flipH="1">
            <a:off x="4903788" y="1149350"/>
            <a:ext cx="554037" cy="220186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609284" idx="0"/>
          </p:cNvCxnSpPr>
          <p:nvPr/>
        </p:nvCxnSpPr>
        <p:spPr>
          <a:xfrm rot="5400000" flipH="1" flipV="1">
            <a:off x="5164137" y="3825876"/>
            <a:ext cx="2187575" cy="2235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609284" idx="0"/>
          </p:cNvCxnSpPr>
          <p:nvPr/>
        </p:nvCxnSpPr>
        <p:spPr>
          <a:xfrm rot="16200000" flipV="1">
            <a:off x="2396331" y="3293269"/>
            <a:ext cx="2252663" cy="32353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223.4.5.1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the index of refraction is  n = 2, how fast is the light going in the material medium?</a:t>
            </a:r>
          </a:p>
          <a:p>
            <a:pPr marL="514350" indent="-514350">
              <a:buAutoNum type="alphaLcParenR"/>
            </a:pPr>
            <a:r>
              <a:rPr lang="en-US" dirty="0"/>
              <a:t>Twice the speed of light</a:t>
            </a:r>
          </a:p>
          <a:p>
            <a:pPr marL="514350" indent="-514350">
              <a:buAutoNum type="alphaLcParenR"/>
            </a:pPr>
            <a:r>
              <a:rPr lang="en-US" dirty="0"/>
              <a:t>Half the speed of light</a:t>
            </a:r>
          </a:p>
          <a:p>
            <a:pPr marL="514350" indent="-514350">
              <a:buAutoNum type="alphaLcParenR"/>
            </a:pPr>
            <a:r>
              <a:rPr lang="en-US" dirty="0"/>
              <a:t>A quarter the speed of light</a:t>
            </a:r>
          </a:p>
          <a:p>
            <a:pPr marL="514350" indent="-514350">
              <a:buAutoNum type="alphaLcParenR"/>
            </a:pPr>
            <a:r>
              <a:rPr lang="en-US" dirty="0"/>
              <a:t>1/16 the speed of light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7B81-8888-4253-92EC-0AED2A590749}" type="slidenum">
              <a:rPr lang="en-US" smtClean="0"/>
              <a:pPr>
                <a:defRPr/>
              </a:pPr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89646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79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223.4.11  123.22.7</a:t>
            </a:r>
          </a:p>
        </p:txBody>
      </p:sp>
      <p:sp>
        <p:nvSpPr>
          <p:cNvPr id="54579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1" dirty="0"/>
              <a:t>Suppose I have a loud speaker and 1m away from that loud speaker I measure an intensity of 1W /m². What is the sound level? </a:t>
            </a:r>
          </a:p>
          <a:p>
            <a:pPr>
              <a:buFontTx/>
              <a:buNone/>
            </a:pPr>
            <a:r>
              <a:rPr lang="en-US" b="1" dirty="0"/>
              <a:t>a)  3dB</a:t>
            </a:r>
          </a:p>
          <a:p>
            <a:pPr>
              <a:buFontTx/>
              <a:buNone/>
            </a:pPr>
            <a:r>
              <a:rPr lang="en-US" b="1" dirty="0"/>
              <a:t>b) 10dB</a:t>
            </a:r>
          </a:p>
          <a:p>
            <a:pPr>
              <a:buFontTx/>
              <a:buNone/>
            </a:pPr>
            <a:r>
              <a:rPr lang="en-US" b="1" dirty="0"/>
              <a:t>c) 120dB</a:t>
            </a:r>
          </a:p>
          <a:p>
            <a:pPr>
              <a:buFontTx/>
              <a:buNone/>
            </a:pPr>
            <a:r>
              <a:rPr lang="en-US" b="1" dirty="0"/>
              <a:t>d) 150dB</a:t>
            </a:r>
          </a:p>
        </p:txBody>
      </p:sp>
    </p:spTree>
    <p:extLst>
      <p:ext uri="{BB962C8B-B14F-4D97-AF65-F5344CB8AC3E}">
        <p14:creationId xmlns:p14="http://schemas.microsoft.com/office/powerpoint/2010/main" val="226530111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1745" name="Object 1"/>
          <p:cNvGraphicFramePr>
            <a:graphicFrameLocks noChangeAspect="1"/>
          </p:cNvGraphicFramePr>
          <p:nvPr/>
        </p:nvGraphicFramePr>
        <p:xfrm>
          <a:off x="519113" y="685800"/>
          <a:ext cx="8183562" cy="525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32040" imgH="2336760" progId="Equation.3">
                  <p:embed/>
                </p:oleObj>
              </mc:Choice>
              <mc:Fallback>
                <p:oleObj name="Equation" r:id="rId2" imgW="3632040" imgH="2336760" progId="Equation.3">
                  <p:embed/>
                  <p:pic>
                    <p:nvPicPr>
                      <p:cNvPr id="31745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113" y="685800"/>
                        <a:ext cx="8183562" cy="5257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2583060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81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223.4.12 123.22.8</a:t>
            </a:r>
          </a:p>
        </p:txBody>
      </p:sp>
      <p:sp>
        <p:nvSpPr>
          <p:cNvPr id="54681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1" dirty="0"/>
              <a:t>Suppose I have a loud speaker and 10m away from that loud speaker I measure an intensity of 0.01 W /m². What is the sound level? </a:t>
            </a:r>
          </a:p>
          <a:p>
            <a:pPr>
              <a:buFontTx/>
              <a:buNone/>
            </a:pPr>
            <a:r>
              <a:rPr lang="en-US" b="1" dirty="0"/>
              <a:t>a)  30dB</a:t>
            </a:r>
          </a:p>
          <a:p>
            <a:pPr>
              <a:buFontTx/>
              <a:buNone/>
            </a:pPr>
            <a:r>
              <a:rPr lang="en-US" b="1" dirty="0"/>
              <a:t>b) 100dB</a:t>
            </a:r>
          </a:p>
          <a:p>
            <a:pPr>
              <a:buFontTx/>
              <a:buNone/>
            </a:pPr>
            <a:r>
              <a:rPr lang="en-US" b="1" dirty="0"/>
              <a:t>c) 120dB</a:t>
            </a:r>
          </a:p>
          <a:p>
            <a:pPr>
              <a:buFontTx/>
              <a:buNone/>
            </a:pPr>
            <a:r>
              <a:rPr lang="en-US" b="1" dirty="0"/>
              <a:t>d) 150dB</a:t>
            </a:r>
          </a:p>
        </p:txBody>
      </p:sp>
    </p:spTree>
    <p:extLst>
      <p:ext uri="{BB962C8B-B14F-4D97-AF65-F5344CB8AC3E}">
        <p14:creationId xmlns:p14="http://schemas.microsoft.com/office/powerpoint/2010/main" val="227708992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8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223.4.13 123.22.9</a:t>
            </a:r>
          </a:p>
        </p:txBody>
      </p:sp>
      <p:sp>
        <p:nvSpPr>
          <p:cNvPr id="547842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b="1" dirty="0"/>
              <a:t>Suppose I have two French horn players both playing the same note at the same time.  I stand a meter away and find that they are each playing with an intensity of  0.00001 W/m</a:t>
            </a:r>
            <a:r>
              <a:rPr lang="en-US" b="1" baseline="30000" dirty="0"/>
              <a:t>2</a:t>
            </a:r>
            <a:r>
              <a:rPr lang="en-US" b="1" dirty="0"/>
              <a:t>. What is the sound level? </a:t>
            </a:r>
          </a:p>
          <a:p>
            <a:pPr>
              <a:buFontTx/>
              <a:buNone/>
            </a:pPr>
            <a:r>
              <a:rPr lang="en-US" b="1" dirty="0"/>
              <a:t>a) 0.00001</a:t>
            </a:r>
          </a:p>
          <a:p>
            <a:pPr>
              <a:buFontTx/>
              <a:buNone/>
            </a:pPr>
            <a:r>
              <a:rPr lang="en-US" b="1" dirty="0"/>
              <a:t>b) 70dB</a:t>
            </a:r>
          </a:p>
          <a:p>
            <a:pPr>
              <a:buFontTx/>
              <a:buNone/>
            </a:pPr>
            <a:r>
              <a:rPr lang="en-US" b="1" dirty="0"/>
              <a:t>c) 73dB</a:t>
            </a:r>
          </a:p>
          <a:p>
            <a:pPr>
              <a:buFontTx/>
              <a:buNone/>
            </a:pPr>
            <a:r>
              <a:rPr lang="en-US" b="1" dirty="0"/>
              <a:t>d) 1400dB</a:t>
            </a:r>
          </a:p>
        </p:txBody>
      </p:sp>
    </p:spTree>
    <p:extLst>
      <p:ext uri="{BB962C8B-B14F-4D97-AF65-F5344CB8AC3E}">
        <p14:creationId xmlns:p14="http://schemas.microsoft.com/office/powerpoint/2010/main" val="323551458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86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Question 223.4.14  123.22.10</a:t>
            </a:r>
          </a:p>
        </p:txBody>
      </p:sp>
      <p:sp>
        <p:nvSpPr>
          <p:cNvPr id="548866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dirty="0"/>
              <a:t>You are sitting in church. The speaker is talking into a microphone. The sound system radiates sound with a power of 50W . You are 20m  from the sound system output. What is the sound level? </a:t>
            </a:r>
          </a:p>
          <a:p>
            <a:pPr>
              <a:buFontTx/>
              <a:buNone/>
            </a:pPr>
            <a:r>
              <a:rPr lang="en-US" b="1" dirty="0"/>
              <a:t>a) 78dB</a:t>
            </a:r>
          </a:p>
          <a:p>
            <a:pPr>
              <a:buFontTx/>
              <a:buNone/>
            </a:pPr>
            <a:r>
              <a:rPr lang="en-US" b="1" dirty="0"/>
              <a:t>b) 80dB</a:t>
            </a:r>
          </a:p>
          <a:p>
            <a:pPr>
              <a:buFontTx/>
              <a:buNone/>
            </a:pPr>
            <a:r>
              <a:rPr lang="en-US" b="1" dirty="0"/>
              <a:t>c) 100dB</a:t>
            </a:r>
          </a:p>
          <a:p>
            <a:pPr>
              <a:buFontTx/>
              <a:buNone/>
            </a:pPr>
            <a:r>
              <a:rPr lang="en-US" b="1" dirty="0"/>
              <a:t>d) 120dB</a:t>
            </a:r>
          </a:p>
        </p:txBody>
      </p:sp>
    </p:spTree>
    <p:extLst>
      <p:ext uri="{BB962C8B-B14F-4D97-AF65-F5344CB8AC3E}">
        <p14:creationId xmlns:p14="http://schemas.microsoft.com/office/powerpoint/2010/main" val="112396318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889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Question 223.4.15 GR 123.22.11 GR</a:t>
            </a:r>
          </a:p>
        </p:txBody>
      </p:sp>
      <p:sp>
        <p:nvSpPr>
          <p:cNvPr id="549890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Tx/>
              <a:buNone/>
            </a:pPr>
            <a:r>
              <a:rPr lang="en-US" dirty="0"/>
              <a:t>You are standing outside a Guns &amp; Roses Concert. The concert is in a stadium. You are 40 m from the stadium. You have a sound level meter with you and find that where you stand the sound level is 120dB. How much acoustic power are the “musicians” creating at their output location?</a:t>
            </a:r>
          </a:p>
          <a:p>
            <a:pPr>
              <a:buFontTx/>
              <a:buNone/>
            </a:pPr>
            <a:r>
              <a:rPr lang="en-US" b="1" dirty="0"/>
              <a:t>a) 78W</a:t>
            </a:r>
          </a:p>
          <a:p>
            <a:pPr>
              <a:buFontTx/>
              <a:buNone/>
            </a:pPr>
            <a:r>
              <a:rPr lang="en-US" b="1" dirty="0"/>
              <a:t>b) 134W</a:t>
            </a:r>
          </a:p>
          <a:p>
            <a:pPr>
              <a:buFontTx/>
              <a:buNone/>
            </a:pPr>
            <a:r>
              <a:rPr lang="en-US" b="1" dirty="0"/>
              <a:t>c) 545W</a:t>
            </a:r>
          </a:p>
          <a:p>
            <a:pPr>
              <a:buFontTx/>
              <a:buNone/>
            </a:pPr>
            <a:r>
              <a:rPr lang="en-US" b="1" dirty="0"/>
              <a:t>d) 20106W</a:t>
            </a:r>
          </a:p>
        </p:txBody>
      </p:sp>
    </p:spTree>
    <p:extLst>
      <p:ext uri="{BB962C8B-B14F-4D97-AF65-F5344CB8AC3E}">
        <p14:creationId xmlns:p14="http://schemas.microsoft.com/office/powerpoint/2010/main" val="391273771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9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223.4.16  123.22.12</a:t>
            </a:r>
          </a:p>
        </p:txBody>
      </p:sp>
      <p:sp>
        <p:nvSpPr>
          <p:cNvPr id="55091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Tx/>
              <a:buNone/>
            </a:pPr>
            <a:r>
              <a:rPr lang="en-US" dirty="0"/>
              <a:t>You are sitting in church. The speaker is talking into a microphone. The sound system radiates sound with a power of 100W . You are 10m  from the sound system output. What is the sound level? We can find this using our new SIL equation that includes power and distance.</a:t>
            </a:r>
          </a:p>
          <a:p>
            <a:pPr>
              <a:buFontTx/>
              <a:buNone/>
            </a:pPr>
            <a:r>
              <a:rPr lang="en-US" b="1" dirty="0"/>
              <a:t>a)50dB</a:t>
            </a:r>
          </a:p>
          <a:p>
            <a:pPr>
              <a:buFontTx/>
              <a:buNone/>
            </a:pPr>
            <a:r>
              <a:rPr lang="en-US" b="1" dirty="0"/>
              <a:t>b) 78dB</a:t>
            </a:r>
          </a:p>
          <a:p>
            <a:pPr>
              <a:buFontTx/>
              <a:buNone/>
            </a:pPr>
            <a:r>
              <a:rPr lang="en-US" b="1" dirty="0"/>
              <a:t>c) 109dB</a:t>
            </a:r>
          </a:p>
          <a:p>
            <a:pPr>
              <a:buFontTx/>
              <a:buNone/>
            </a:pPr>
            <a:r>
              <a:rPr lang="en-US" b="1" dirty="0"/>
              <a:t>d) 140dB</a:t>
            </a:r>
          </a:p>
        </p:txBody>
      </p:sp>
    </p:spTree>
    <p:extLst>
      <p:ext uri="{BB962C8B-B14F-4D97-AF65-F5344CB8AC3E}">
        <p14:creationId xmlns:p14="http://schemas.microsoft.com/office/powerpoint/2010/main" val="332562265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0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223.5.1  123.22.13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Tx/>
              <a:buNone/>
              <a:defRPr/>
            </a:pPr>
            <a:r>
              <a:rPr lang="en-US" dirty="0"/>
              <a:t>You are a parent standing at platform 9.75. The Hogwarts Express is just leaving the station. The whistle blows. The engineer (if there is one) hears a perfect middle C (256 Hz). What do you hear as the train leaves?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A higher pitch than 256 Hz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A lower pitch than 256 Hz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Middle C (256 Hz)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Nothing</a:t>
            </a:r>
          </a:p>
        </p:txBody>
      </p:sp>
    </p:spTree>
    <p:extLst>
      <p:ext uri="{BB962C8B-B14F-4D97-AF65-F5344CB8AC3E}">
        <p14:creationId xmlns:p14="http://schemas.microsoft.com/office/powerpoint/2010/main" val="316120931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Inertial Frames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29210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Remember Inertial Reference Frames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The two observers can both take the view that they are stationary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Newton’s laws are all good in either frame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584575" y="3113088"/>
            <a:ext cx="4987925" cy="1803400"/>
            <a:chOff x="802" y="2409"/>
            <a:chExt cx="3142" cy="1136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802" y="2409"/>
              <a:ext cx="3142" cy="1136"/>
              <a:chOff x="802" y="2409"/>
              <a:chExt cx="3142" cy="1136"/>
            </a:xfrm>
          </p:grpSpPr>
          <p:grpSp>
            <p:nvGrpSpPr>
              <p:cNvPr id="4" name="Group 6"/>
              <p:cNvGrpSpPr>
                <a:grpSpLocks/>
              </p:cNvGrpSpPr>
              <p:nvPr/>
            </p:nvGrpSpPr>
            <p:grpSpPr bwMode="auto">
              <a:xfrm>
                <a:off x="802" y="2409"/>
                <a:ext cx="3142" cy="1136"/>
                <a:chOff x="802" y="2409"/>
                <a:chExt cx="3142" cy="1136"/>
              </a:xfrm>
            </p:grpSpPr>
            <p:sp>
              <p:nvSpPr>
                <p:cNvPr id="38937" name="Rectangle 7"/>
                <p:cNvSpPr>
                  <a:spLocks noChangeArrowheads="1"/>
                </p:cNvSpPr>
                <p:nvPr/>
              </p:nvSpPr>
              <p:spPr bwMode="auto">
                <a:xfrm>
                  <a:off x="987" y="3355"/>
                  <a:ext cx="1774" cy="56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miter lim="800000"/>
                  <a:headEnd/>
                  <a:tailEnd/>
                </a:ln>
                <a:scene3d>
                  <a:camera prst="legacyPerspectiveTop"/>
                  <a:lightRig rig="legacyFlat3" dir="b"/>
                </a:scene3d>
                <a:sp3d extrusionH="887400" prstMaterial="legacyMatte">
                  <a:bevelT w="13500" h="13500" prst="angle"/>
                  <a:bevelB w="13500" h="13500" prst="angle"/>
                  <a:extrusionClr>
                    <a:schemeClr val="accent1"/>
                  </a:extrusionClr>
                </a:sp3d>
              </p:spPr>
              <p:txBody>
                <a:bodyPr wrap="none" anchor="ctr">
                  <a:flatTx/>
                </a:bodyPr>
                <a:lstStyle/>
                <a:p>
                  <a:endParaRPr lang="en-US"/>
                </a:p>
              </p:txBody>
            </p:sp>
            <p:sp>
              <p:nvSpPr>
                <p:cNvPr id="38938" name="Rectangle 8"/>
                <p:cNvSpPr>
                  <a:spLocks noChangeArrowheads="1"/>
                </p:cNvSpPr>
                <p:nvPr/>
              </p:nvSpPr>
              <p:spPr bwMode="auto">
                <a:xfrm>
                  <a:off x="2170" y="3030"/>
                  <a:ext cx="1774" cy="56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miter lim="800000"/>
                  <a:headEnd/>
                  <a:tailEnd/>
                </a:ln>
                <a:scene3d>
                  <a:camera prst="legacyPerspectiveTop"/>
                  <a:lightRig rig="legacyFlat3" dir="b"/>
                </a:scene3d>
                <a:sp3d extrusionH="887400" prstMaterial="legacyMatte">
                  <a:bevelT w="13500" h="13500" prst="angle"/>
                  <a:bevelB w="13500" h="13500" prst="angle"/>
                  <a:extrusionClr>
                    <a:schemeClr val="accent1"/>
                  </a:extrusionClr>
                </a:sp3d>
              </p:spPr>
              <p:txBody>
                <a:bodyPr wrap="none" anchor="ctr">
                  <a:flatTx/>
                </a:bodyPr>
                <a:lstStyle/>
                <a:p>
                  <a:endParaRPr lang="en-US"/>
                </a:p>
              </p:txBody>
            </p:sp>
            <p:sp>
              <p:nvSpPr>
                <p:cNvPr id="38939" name="Line 9"/>
                <p:cNvSpPr>
                  <a:spLocks noChangeShapeType="1"/>
                </p:cNvSpPr>
                <p:nvPr/>
              </p:nvSpPr>
              <p:spPr bwMode="auto">
                <a:xfrm flipV="1">
                  <a:off x="1024" y="2587"/>
                  <a:ext cx="0" cy="7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940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1028" y="3387"/>
                  <a:ext cx="267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941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802" y="2482"/>
                  <a:ext cx="188" cy="23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/>
                    <a:t>y</a:t>
                  </a:r>
                </a:p>
              </p:txBody>
            </p:sp>
            <p:sp>
              <p:nvSpPr>
                <p:cNvPr id="38942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3691" y="3314"/>
                  <a:ext cx="188" cy="23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/>
                    <a:t>x</a:t>
                  </a:r>
                </a:p>
              </p:txBody>
            </p:sp>
            <p:sp>
              <p:nvSpPr>
                <p:cNvPr id="38943" name="Line 13"/>
                <p:cNvSpPr>
                  <a:spLocks noChangeShapeType="1"/>
                </p:cNvSpPr>
                <p:nvPr/>
              </p:nvSpPr>
              <p:spPr bwMode="auto">
                <a:xfrm>
                  <a:off x="3072" y="2724"/>
                  <a:ext cx="411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944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3182" y="2409"/>
                  <a:ext cx="236" cy="23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>
                      <a:solidFill>
                        <a:srgbClr val="FF0000"/>
                      </a:solidFill>
                    </a:rPr>
                    <a:t>v</a:t>
                  </a:r>
                  <a:r>
                    <a:rPr lang="en-US" baseline="-25000">
                      <a:solidFill>
                        <a:srgbClr val="FF0000"/>
                      </a:solidFill>
                    </a:rPr>
                    <a:t>x</a:t>
                  </a:r>
                </a:p>
              </p:txBody>
            </p:sp>
          </p:grpSp>
          <p:grpSp>
            <p:nvGrpSpPr>
              <p:cNvPr id="5" name="Group 15"/>
              <p:cNvGrpSpPr>
                <a:grpSpLocks/>
              </p:cNvGrpSpPr>
              <p:nvPr/>
            </p:nvGrpSpPr>
            <p:grpSpPr bwMode="auto">
              <a:xfrm flipH="1">
                <a:off x="3759" y="2701"/>
                <a:ext cx="74" cy="275"/>
                <a:chOff x="4491" y="2017"/>
                <a:chExt cx="422" cy="1421"/>
              </a:xfrm>
            </p:grpSpPr>
            <p:sp>
              <p:nvSpPr>
                <p:cNvPr id="38930" name="Oval 16"/>
                <p:cNvSpPr>
                  <a:spLocks noChangeArrowheads="1"/>
                </p:cNvSpPr>
                <p:nvPr/>
              </p:nvSpPr>
              <p:spPr bwMode="auto">
                <a:xfrm>
                  <a:off x="4675" y="2017"/>
                  <a:ext cx="238" cy="275"/>
                </a:xfrm>
                <a:prstGeom prst="ellipse">
                  <a:avLst/>
                </a:prstGeom>
                <a:solidFill>
                  <a:schemeClr val="tx1"/>
                </a:solidFill>
                <a:ln w="9525" algn="ctr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931" name="Oval 17"/>
                <p:cNvSpPr>
                  <a:spLocks noChangeArrowheads="1"/>
                </p:cNvSpPr>
                <p:nvPr/>
              </p:nvSpPr>
              <p:spPr bwMode="auto">
                <a:xfrm>
                  <a:off x="4681" y="2277"/>
                  <a:ext cx="201" cy="594"/>
                </a:xfrm>
                <a:prstGeom prst="ellipse">
                  <a:avLst/>
                </a:prstGeom>
                <a:solidFill>
                  <a:schemeClr val="tx1"/>
                </a:solidFill>
                <a:ln w="9525" algn="ctr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932" name="Rectangle 18"/>
                <p:cNvSpPr>
                  <a:spLocks noChangeArrowheads="1"/>
                </p:cNvSpPr>
                <p:nvPr/>
              </p:nvSpPr>
              <p:spPr bwMode="auto">
                <a:xfrm rot="3194042">
                  <a:off x="4624" y="2261"/>
                  <a:ext cx="51" cy="318"/>
                </a:xfrm>
                <a:prstGeom prst="rect">
                  <a:avLst/>
                </a:prstGeom>
                <a:solidFill>
                  <a:schemeClr val="tx1"/>
                </a:solidFill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933" name="Rectangle 19"/>
                <p:cNvSpPr>
                  <a:spLocks noChangeArrowheads="1"/>
                </p:cNvSpPr>
                <p:nvPr/>
              </p:nvSpPr>
              <p:spPr bwMode="auto">
                <a:xfrm rot="-2837193">
                  <a:off x="4615" y="2443"/>
                  <a:ext cx="66" cy="289"/>
                </a:xfrm>
                <a:prstGeom prst="rect">
                  <a:avLst/>
                </a:prstGeom>
                <a:solidFill>
                  <a:schemeClr val="tx1"/>
                </a:solidFill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934" name="Rectangle 20"/>
                <p:cNvSpPr>
                  <a:spLocks noChangeArrowheads="1"/>
                </p:cNvSpPr>
                <p:nvPr/>
              </p:nvSpPr>
              <p:spPr bwMode="auto">
                <a:xfrm rot="-725482">
                  <a:off x="4755" y="2780"/>
                  <a:ext cx="94" cy="339"/>
                </a:xfrm>
                <a:prstGeom prst="rect">
                  <a:avLst/>
                </a:prstGeom>
                <a:solidFill>
                  <a:schemeClr val="tx1"/>
                </a:solidFill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935" name="Rectangle 21"/>
                <p:cNvSpPr>
                  <a:spLocks noChangeArrowheads="1"/>
                </p:cNvSpPr>
                <p:nvPr/>
              </p:nvSpPr>
              <p:spPr bwMode="auto">
                <a:xfrm rot="1101632">
                  <a:off x="4746" y="3071"/>
                  <a:ext cx="94" cy="339"/>
                </a:xfrm>
                <a:prstGeom prst="rect">
                  <a:avLst/>
                </a:prstGeom>
                <a:solidFill>
                  <a:schemeClr val="tx1"/>
                </a:solidFill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936" name="Rectangle 22"/>
                <p:cNvSpPr>
                  <a:spLocks noChangeArrowheads="1"/>
                </p:cNvSpPr>
                <p:nvPr/>
              </p:nvSpPr>
              <p:spPr bwMode="auto">
                <a:xfrm>
                  <a:off x="4695" y="3366"/>
                  <a:ext cx="195" cy="72"/>
                </a:xfrm>
                <a:prstGeom prst="rect">
                  <a:avLst/>
                </a:prstGeom>
                <a:solidFill>
                  <a:schemeClr val="tx1"/>
                </a:solidFill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6" name="Group 23"/>
              <p:cNvGrpSpPr>
                <a:grpSpLocks/>
              </p:cNvGrpSpPr>
              <p:nvPr/>
            </p:nvGrpSpPr>
            <p:grpSpPr bwMode="auto">
              <a:xfrm>
                <a:off x="1101" y="3043"/>
                <a:ext cx="74" cy="275"/>
                <a:chOff x="4491" y="2017"/>
                <a:chExt cx="422" cy="1421"/>
              </a:xfrm>
            </p:grpSpPr>
            <p:sp>
              <p:nvSpPr>
                <p:cNvPr id="38923" name="Oval 24"/>
                <p:cNvSpPr>
                  <a:spLocks noChangeArrowheads="1"/>
                </p:cNvSpPr>
                <p:nvPr/>
              </p:nvSpPr>
              <p:spPr bwMode="auto">
                <a:xfrm>
                  <a:off x="4675" y="2017"/>
                  <a:ext cx="238" cy="275"/>
                </a:xfrm>
                <a:prstGeom prst="ellipse">
                  <a:avLst/>
                </a:prstGeom>
                <a:solidFill>
                  <a:schemeClr val="tx1"/>
                </a:solidFill>
                <a:ln w="9525" algn="ctr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924" name="Oval 25"/>
                <p:cNvSpPr>
                  <a:spLocks noChangeArrowheads="1"/>
                </p:cNvSpPr>
                <p:nvPr/>
              </p:nvSpPr>
              <p:spPr bwMode="auto">
                <a:xfrm>
                  <a:off x="4681" y="2277"/>
                  <a:ext cx="201" cy="594"/>
                </a:xfrm>
                <a:prstGeom prst="ellipse">
                  <a:avLst/>
                </a:prstGeom>
                <a:solidFill>
                  <a:schemeClr val="tx1"/>
                </a:solidFill>
                <a:ln w="9525" algn="ctr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925" name="Rectangle 26"/>
                <p:cNvSpPr>
                  <a:spLocks noChangeArrowheads="1"/>
                </p:cNvSpPr>
                <p:nvPr/>
              </p:nvSpPr>
              <p:spPr bwMode="auto">
                <a:xfrm rot="3194042">
                  <a:off x="4624" y="2261"/>
                  <a:ext cx="51" cy="318"/>
                </a:xfrm>
                <a:prstGeom prst="rect">
                  <a:avLst/>
                </a:prstGeom>
                <a:solidFill>
                  <a:schemeClr val="tx1"/>
                </a:solidFill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926" name="Rectangle 27"/>
                <p:cNvSpPr>
                  <a:spLocks noChangeArrowheads="1"/>
                </p:cNvSpPr>
                <p:nvPr/>
              </p:nvSpPr>
              <p:spPr bwMode="auto">
                <a:xfrm rot="-2837193">
                  <a:off x="4615" y="2443"/>
                  <a:ext cx="66" cy="289"/>
                </a:xfrm>
                <a:prstGeom prst="rect">
                  <a:avLst/>
                </a:prstGeom>
                <a:solidFill>
                  <a:schemeClr val="tx1"/>
                </a:solidFill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927" name="Rectangle 28"/>
                <p:cNvSpPr>
                  <a:spLocks noChangeArrowheads="1"/>
                </p:cNvSpPr>
                <p:nvPr/>
              </p:nvSpPr>
              <p:spPr bwMode="auto">
                <a:xfrm rot="-725482">
                  <a:off x="4755" y="2780"/>
                  <a:ext cx="94" cy="339"/>
                </a:xfrm>
                <a:prstGeom prst="rect">
                  <a:avLst/>
                </a:prstGeom>
                <a:solidFill>
                  <a:schemeClr val="tx1"/>
                </a:solidFill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928" name="Rectangle 29"/>
                <p:cNvSpPr>
                  <a:spLocks noChangeArrowheads="1"/>
                </p:cNvSpPr>
                <p:nvPr/>
              </p:nvSpPr>
              <p:spPr bwMode="auto">
                <a:xfrm rot="1101632">
                  <a:off x="4746" y="3071"/>
                  <a:ext cx="94" cy="339"/>
                </a:xfrm>
                <a:prstGeom prst="rect">
                  <a:avLst/>
                </a:prstGeom>
                <a:solidFill>
                  <a:schemeClr val="tx1"/>
                </a:solidFill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929" name="Rectangle 30"/>
                <p:cNvSpPr>
                  <a:spLocks noChangeArrowheads="1"/>
                </p:cNvSpPr>
                <p:nvPr/>
              </p:nvSpPr>
              <p:spPr bwMode="auto">
                <a:xfrm>
                  <a:off x="4695" y="3366"/>
                  <a:ext cx="195" cy="72"/>
                </a:xfrm>
                <a:prstGeom prst="rect">
                  <a:avLst/>
                </a:prstGeom>
                <a:solidFill>
                  <a:schemeClr val="tx1"/>
                </a:solidFill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38918" name="Text Box 31"/>
            <p:cNvSpPr txBox="1">
              <a:spLocks noChangeArrowheads="1"/>
            </p:cNvSpPr>
            <p:nvPr/>
          </p:nvSpPr>
          <p:spPr bwMode="auto">
            <a:xfrm>
              <a:off x="1055" y="2684"/>
              <a:ext cx="212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A</a:t>
              </a:r>
            </a:p>
          </p:txBody>
        </p:sp>
        <p:sp>
          <p:nvSpPr>
            <p:cNvPr id="38919" name="Text Box 32"/>
            <p:cNvSpPr txBox="1">
              <a:spLocks noChangeArrowheads="1"/>
            </p:cNvSpPr>
            <p:nvPr/>
          </p:nvSpPr>
          <p:spPr bwMode="auto">
            <a:xfrm>
              <a:off x="2330" y="2606"/>
              <a:ext cx="212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224217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Spherical Emitter Setup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71488" y="1743075"/>
            <a:ext cx="7713662" cy="4386263"/>
            <a:chOff x="297" y="1098"/>
            <a:chExt cx="4859" cy="2763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1490" y="1098"/>
              <a:ext cx="2871" cy="2763"/>
              <a:chOff x="1056" y="1824"/>
              <a:chExt cx="1536" cy="1584"/>
            </a:xfrm>
          </p:grpSpPr>
          <p:sp>
            <p:nvSpPr>
              <p:cNvPr id="39949" name="Oval 5"/>
              <p:cNvSpPr>
                <a:spLocks noChangeArrowheads="1"/>
              </p:cNvSpPr>
              <p:nvPr/>
            </p:nvSpPr>
            <p:spPr bwMode="auto">
              <a:xfrm>
                <a:off x="1056" y="1824"/>
                <a:ext cx="1536" cy="1584"/>
              </a:xfrm>
              <a:prstGeom prst="ellipse">
                <a:avLst/>
              </a:prstGeom>
              <a:solidFill>
                <a:srgbClr val="FFFF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50" name="Oval 6"/>
              <p:cNvSpPr>
                <a:spLocks noChangeArrowheads="1"/>
              </p:cNvSpPr>
              <p:nvPr/>
            </p:nvSpPr>
            <p:spPr bwMode="auto">
              <a:xfrm>
                <a:off x="1224" y="1992"/>
                <a:ext cx="1200" cy="1248"/>
              </a:xfrm>
              <a:prstGeom prst="ellipse">
                <a:avLst/>
              </a:prstGeom>
              <a:solidFill>
                <a:srgbClr val="FFFF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51" name="Oval 7"/>
              <p:cNvSpPr>
                <a:spLocks noChangeArrowheads="1"/>
              </p:cNvSpPr>
              <p:nvPr/>
            </p:nvSpPr>
            <p:spPr bwMode="auto">
              <a:xfrm>
                <a:off x="1392" y="2136"/>
                <a:ext cx="864" cy="960"/>
              </a:xfrm>
              <a:prstGeom prst="ellipse">
                <a:avLst/>
              </a:prstGeom>
              <a:solidFill>
                <a:srgbClr val="FFFF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52" name="Oval 8"/>
              <p:cNvSpPr>
                <a:spLocks noChangeArrowheads="1"/>
              </p:cNvSpPr>
              <p:nvPr/>
            </p:nvSpPr>
            <p:spPr bwMode="auto">
              <a:xfrm>
                <a:off x="1512" y="2256"/>
                <a:ext cx="624" cy="720"/>
              </a:xfrm>
              <a:prstGeom prst="ellipse">
                <a:avLst/>
              </a:prstGeom>
              <a:solidFill>
                <a:srgbClr val="FFFF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53" name="Oval 9"/>
              <p:cNvSpPr>
                <a:spLocks noChangeArrowheads="1"/>
              </p:cNvSpPr>
              <p:nvPr/>
            </p:nvSpPr>
            <p:spPr bwMode="auto">
              <a:xfrm>
                <a:off x="1644" y="2400"/>
                <a:ext cx="360" cy="432"/>
              </a:xfrm>
              <a:prstGeom prst="ellipse">
                <a:avLst/>
              </a:prstGeom>
              <a:solidFill>
                <a:srgbClr val="FFFF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54" name="Oval 10"/>
              <p:cNvSpPr>
                <a:spLocks noChangeArrowheads="1"/>
              </p:cNvSpPr>
              <p:nvPr/>
            </p:nvSpPr>
            <p:spPr bwMode="auto">
              <a:xfrm>
                <a:off x="1752" y="2520"/>
                <a:ext cx="144" cy="192"/>
              </a:xfrm>
              <a:prstGeom prst="ellipse">
                <a:avLst/>
              </a:prstGeom>
              <a:solidFill>
                <a:srgbClr val="FFFF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55" name="Oval 11"/>
              <p:cNvSpPr>
                <a:spLocks noChangeArrowheads="1"/>
              </p:cNvSpPr>
              <p:nvPr/>
            </p:nvSpPr>
            <p:spPr bwMode="auto">
              <a:xfrm>
                <a:off x="1800" y="2592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9941" name="Line 12"/>
            <p:cNvSpPr>
              <a:spLocks noChangeShapeType="1"/>
            </p:cNvSpPr>
            <p:nvPr/>
          </p:nvSpPr>
          <p:spPr bwMode="auto">
            <a:xfrm flipV="1">
              <a:off x="1252" y="2452"/>
              <a:ext cx="1573" cy="101"/>
            </a:xfrm>
            <a:prstGeom prst="line">
              <a:avLst/>
            </a:prstGeom>
            <a:noFill/>
            <a:ln w="9525">
              <a:solidFill>
                <a:srgbClr val="0066FF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42" name="Text Box 13"/>
            <p:cNvSpPr txBox="1">
              <a:spLocks noChangeArrowheads="1"/>
            </p:cNvSpPr>
            <p:nvPr/>
          </p:nvSpPr>
          <p:spPr bwMode="auto">
            <a:xfrm>
              <a:off x="297" y="2422"/>
              <a:ext cx="940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66FF"/>
                  </a:solidFill>
                </a:rPr>
                <a:t>Point Source</a:t>
              </a:r>
            </a:p>
          </p:txBody>
        </p:sp>
        <p:sp>
          <p:nvSpPr>
            <p:cNvPr id="39943" name="Line 14"/>
            <p:cNvSpPr>
              <a:spLocks noChangeShapeType="1"/>
            </p:cNvSpPr>
            <p:nvPr/>
          </p:nvSpPr>
          <p:spPr bwMode="auto">
            <a:xfrm>
              <a:off x="1435" y="1804"/>
              <a:ext cx="202" cy="45"/>
            </a:xfrm>
            <a:prstGeom prst="line">
              <a:avLst/>
            </a:prstGeom>
            <a:noFill/>
            <a:ln w="9525">
              <a:solidFill>
                <a:srgbClr val="0066FF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44" name="Text Box 15"/>
            <p:cNvSpPr txBox="1">
              <a:spLocks noChangeArrowheads="1"/>
            </p:cNvSpPr>
            <p:nvPr/>
          </p:nvSpPr>
          <p:spPr bwMode="auto">
            <a:xfrm>
              <a:off x="393" y="1540"/>
              <a:ext cx="1095" cy="40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>
                  <a:solidFill>
                    <a:srgbClr val="0066FF"/>
                  </a:solidFill>
                </a:rPr>
                <a:t>Spherical Wave Crests</a:t>
              </a:r>
            </a:p>
          </p:txBody>
        </p:sp>
        <p:sp>
          <p:nvSpPr>
            <p:cNvPr id="39945" name="Line 16"/>
            <p:cNvSpPr>
              <a:spLocks noChangeShapeType="1"/>
            </p:cNvSpPr>
            <p:nvPr/>
          </p:nvSpPr>
          <p:spPr bwMode="auto">
            <a:xfrm>
              <a:off x="1430" y="1800"/>
              <a:ext cx="431" cy="327"/>
            </a:xfrm>
            <a:prstGeom prst="line">
              <a:avLst/>
            </a:prstGeom>
            <a:noFill/>
            <a:ln w="9525">
              <a:solidFill>
                <a:srgbClr val="0066FF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46" name="Oval 17"/>
            <p:cNvSpPr>
              <a:spLocks noChangeArrowheads="1"/>
            </p:cNvSpPr>
            <p:nvPr/>
          </p:nvSpPr>
          <p:spPr bwMode="auto">
            <a:xfrm>
              <a:off x="3831" y="2359"/>
              <a:ext cx="119" cy="119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47" name="Line 18"/>
            <p:cNvSpPr>
              <a:spLocks noChangeShapeType="1"/>
            </p:cNvSpPr>
            <p:nvPr/>
          </p:nvSpPr>
          <p:spPr bwMode="auto">
            <a:xfrm flipH="1">
              <a:off x="3968" y="2077"/>
              <a:ext cx="648" cy="311"/>
            </a:xfrm>
            <a:prstGeom prst="line">
              <a:avLst/>
            </a:prstGeom>
            <a:noFill/>
            <a:ln w="9525">
              <a:solidFill>
                <a:srgbClr val="0066FF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48" name="Text Box 19"/>
            <p:cNvSpPr txBox="1">
              <a:spLocks noChangeArrowheads="1"/>
            </p:cNvSpPr>
            <p:nvPr/>
          </p:nvSpPr>
          <p:spPr bwMode="auto">
            <a:xfrm>
              <a:off x="4496" y="1846"/>
              <a:ext cx="660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66FF"/>
                  </a:solidFill>
                </a:rPr>
                <a:t>Detector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937426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Moving Detector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517775" y="1895475"/>
            <a:ext cx="4557713" cy="4386263"/>
            <a:chOff x="1586" y="1194"/>
            <a:chExt cx="2871" cy="2763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1586" y="1194"/>
              <a:ext cx="2871" cy="2763"/>
              <a:chOff x="1056" y="1824"/>
              <a:chExt cx="1536" cy="1584"/>
            </a:xfrm>
          </p:grpSpPr>
          <p:sp>
            <p:nvSpPr>
              <p:cNvPr id="40968" name="Oval 6"/>
              <p:cNvSpPr>
                <a:spLocks noChangeArrowheads="1"/>
              </p:cNvSpPr>
              <p:nvPr/>
            </p:nvSpPr>
            <p:spPr bwMode="auto">
              <a:xfrm>
                <a:off x="1056" y="1824"/>
                <a:ext cx="1536" cy="1584"/>
              </a:xfrm>
              <a:prstGeom prst="ellipse">
                <a:avLst/>
              </a:prstGeom>
              <a:solidFill>
                <a:srgbClr val="FFFF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969" name="Oval 7"/>
              <p:cNvSpPr>
                <a:spLocks noChangeArrowheads="1"/>
              </p:cNvSpPr>
              <p:nvPr/>
            </p:nvSpPr>
            <p:spPr bwMode="auto">
              <a:xfrm>
                <a:off x="1224" y="1992"/>
                <a:ext cx="1200" cy="1248"/>
              </a:xfrm>
              <a:prstGeom prst="ellipse">
                <a:avLst/>
              </a:prstGeom>
              <a:solidFill>
                <a:srgbClr val="FFFF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970" name="Oval 8"/>
              <p:cNvSpPr>
                <a:spLocks noChangeArrowheads="1"/>
              </p:cNvSpPr>
              <p:nvPr/>
            </p:nvSpPr>
            <p:spPr bwMode="auto">
              <a:xfrm>
                <a:off x="1392" y="2136"/>
                <a:ext cx="864" cy="960"/>
              </a:xfrm>
              <a:prstGeom prst="ellipse">
                <a:avLst/>
              </a:prstGeom>
              <a:solidFill>
                <a:srgbClr val="FFFF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971" name="Oval 9"/>
              <p:cNvSpPr>
                <a:spLocks noChangeArrowheads="1"/>
              </p:cNvSpPr>
              <p:nvPr/>
            </p:nvSpPr>
            <p:spPr bwMode="auto">
              <a:xfrm>
                <a:off x="1512" y="2256"/>
                <a:ext cx="624" cy="720"/>
              </a:xfrm>
              <a:prstGeom prst="ellipse">
                <a:avLst/>
              </a:prstGeom>
              <a:solidFill>
                <a:srgbClr val="FFFF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972" name="Oval 10"/>
              <p:cNvSpPr>
                <a:spLocks noChangeArrowheads="1"/>
              </p:cNvSpPr>
              <p:nvPr/>
            </p:nvSpPr>
            <p:spPr bwMode="auto">
              <a:xfrm>
                <a:off x="1644" y="2400"/>
                <a:ext cx="360" cy="432"/>
              </a:xfrm>
              <a:prstGeom prst="ellipse">
                <a:avLst/>
              </a:prstGeom>
              <a:solidFill>
                <a:srgbClr val="FFFF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973" name="Oval 11"/>
              <p:cNvSpPr>
                <a:spLocks noChangeArrowheads="1"/>
              </p:cNvSpPr>
              <p:nvPr/>
            </p:nvSpPr>
            <p:spPr bwMode="auto">
              <a:xfrm>
                <a:off x="1752" y="2520"/>
                <a:ext cx="144" cy="192"/>
              </a:xfrm>
              <a:prstGeom prst="ellipse">
                <a:avLst/>
              </a:prstGeom>
              <a:solidFill>
                <a:srgbClr val="FFFF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974" name="Oval 12"/>
              <p:cNvSpPr>
                <a:spLocks noChangeArrowheads="1"/>
              </p:cNvSpPr>
              <p:nvPr/>
            </p:nvSpPr>
            <p:spPr bwMode="auto">
              <a:xfrm>
                <a:off x="1800" y="2592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0966" name="Oval 13"/>
            <p:cNvSpPr>
              <a:spLocks noChangeArrowheads="1"/>
            </p:cNvSpPr>
            <p:nvPr/>
          </p:nvSpPr>
          <p:spPr bwMode="auto">
            <a:xfrm>
              <a:off x="3927" y="2455"/>
              <a:ext cx="119" cy="119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67" name="Line 14"/>
            <p:cNvSpPr>
              <a:spLocks noChangeShapeType="1"/>
            </p:cNvSpPr>
            <p:nvPr/>
          </p:nvSpPr>
          <p:spPr bwMode="auto">
            <a:xfrm flipH="1">
              <a:off x="3675" y="2515"/>
              <a:ext cx="25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3446339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Moving Detector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670175" y="2047875"/>
            <a:ext cx="4557713" cy="4386263"/>
            <a:chOff x="1682" y="1290"/>
            <a:chExt cx="2871" cy="2763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1682" y="1290"/>
              <a:ext cx="2871" cy="2763"/>
              <a:chOff x="1056" y="1824"/>
              <a:chExt cx="1536" cy="1584"/>
            </a:xfrm>
          </p:grpSpPr>
          <p:sp>
            <p:nvSpPr>
              <p:cNvPr id="41992" name="Oval 6"/>
              <p:cNvSpPr>
                <a:spLocks noChangeArrowheads="1"/>
              </p:cNvSpPr>
              <p:nvPr/>
            </p:nvSpPr>
            <p:spPr bwMode="auto">
              <a:xfrm>
                <a:off x="1056" y="1824"/>
                <a:ext cx="1536" cy="1584"/>
              </a:xfrm>
              <a:prstGeom prst="ellipse">
                <a:avLst/>
              </a:prstGeom>
              <a:solidFill>
                <a:srgbClr val="FFFF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993" name="Oval 7"/>
              <p:cNvSpPr>
                <a:spLocks noChangeArrowheads="1"/>
              </p:cNvSpPr>
              <p:nvPr/>
            </p:nvSpPr>
            <p:spPr bwMode="auto">
              <a:xfrm>
                <a:off x="1224" y="1992"/>
                <a:ext cx="1200" cy="1248"/>
              </a:xfrm>
              <a:prstGeom prst="ellipse">
                <a:avLst/>
              </a:prstGeom>
              <a:solidFill>
                <a:srgbClr val="FFFF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994" name="Oval 8"/>
              <p:cNvSpPr>
                <a:spLocks noChangeArrowheads="1"/>
              </p:cNvSpPr>
              <p:nvPr/>
            </p:nvSpPr>
            <p:spPr bwMode="auto">
              <a:xfrm>
                <a:off x="1392" y="2136"/>
                <a:ext cx="864" cy="960"/>
              </a:xfrm>
              <a:prstGeom prst="ellipse">
                <a:avLst/>
              </a:prstGeom>
              <a:solidFill>
                <a:srgbClr val="FFFF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995" name="Oval 9"/>
              <p:cNvSpPr>
                <a:spLocks noChangeArrowheads="1"/>
              </p:cNvSpPr>
              <p:nvPr/>
            </p:nvSpPr>
            <p:spPr bwMode="auto">
              <a:xfrm>
                <a:off x="1512" y="2256"/>
                <a:ext cx="624" cy="720"/>
              </a:xfrm>
              <a:prstGeom prst="ellipse">
                <a:avLst/>
              </a:prstGeom>
              <a:solidFill>
                <a:srgbClr val="FFFF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996" name="Oval 10"/>
              <p:cNvSpPr>
                <a:spLocks noChangeArrowheads="1"/>
              </p:cNvSpPr>
              <p:nvPr/>
            </p:nvSpPr>
            <p:spPr bwMode="auto">
              <a:xfrm>
                <a:off x="1644" y="2400"/>
                <a:ext cx="360" cy="432"/>
              </a:xfrm>
              <a:prstGeom prst="ellipse">
                <a:avLst/>
              </a:prstGeom>
              <a:solidFill>
                <a:srgbClr val="FFFF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997" name="Oval 11"/>
              <p:cNvSpPr>
                <a:spLocks noChangeArrowheads="1"/>
              </p:cNvSpPr>
              <p:nvPr/>
            </p:nvSpPr>
            <p:spPr bwMode="auto">
              <a:xfrm>
                <a:off x="1752" y="2520"/>
                <a:ext cx="144" cy="192"/>
              </a:xfrm>
              <a:prstGeom prst="ellipse">
                <a:avLst/>
              </a:prstGeom>
              <a:solidFill>
                <a:srgbClr val="FFFF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998" name="Oval 12"/>
              <p:cNvSpPr>
                <a:spLocks noChangeArrowheads="1"/>
              </p:cNvSpPr>
              <p:nvPr/>
            </p:nvSpPr>
            <p:spPr bwMode="auto">
              <a:xfrm>
                <a:off x="1800" y="2592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1990" name="Oval 13"/>
            <p:cNvSpPr>
              <a:spLocks noChangeArrowheads="1"/>
            </p:cNvSpPr>
            <p:nvPr/>
          </p:nvSpPr>
          <p:spPr bwMode="auto">
            <a:xfrm>
              <a:off x="4023" y="2551"/>
              <a:ext cx="119" cy="119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1" name="Line 14"/>
            <p:cNvSpPr>
              <a:spLocks noChangeShapeType="1"/>
            </p:cNvSpPr>
            <p:nvPr/>
          </p:nvSpPr>
          <p:spPr bwMode="auto">
            <a:xfrm>
              <a:off x="4137" y="2611"/>
              <a:ext cx="25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730326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Question 223.5.2 Question 123.22.14</a:t>
            </a:r>
          </a:p>
        </p:txBody>
      </p:sp>
      <p:sp>
        <p:nvSpPr>
          <p:cNvPr id="6861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sz="2800" dirty="0"/>
              <a:t>A train passes you while blowing its whistle. Describe the frequency change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en-US" sz="2800" dirty="0"/>
              <a:t>The change is nearly instantaneous 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en-US" sz="2800" dirty="0"/>
              <a:t>The change is gradual, as the train approaches the frequency changes proportionately with the distance from you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en-US" sz="2800" dirty="0"/>
              <a:t>The change is gradual, as the train approaches the frequency changes inverse proportionately with the distance from you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en-US" sz="2800" dirty="0"/>
              <a:t>Can’t tell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endParaRPr lang="en-US" sz="2800" dirty="0"/>
          </a:p>
        </p:txBody>
      </p:sp>
      <p:sp>
        <p:nvSpPr>
          <p:cNvPr id="686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3A722F0-04E0-4C85-BB4F-F38C170A22CE}" type="slidenum">
              <a:rPr lang="en-US" smtClean="0"/>
              <a:pPr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21339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089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Question 223.5.3 Question 123.22.15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Tx/>
              <a:buNone/>
              <a:defRPr/>
            </a:pPr>
            <a:r>
              <a:rPr lang="en-US" dirty="0"/>
              <a:t>You are sitting on the Hogwarts Express. It  is just leaving the station. The whistle blows. The engineer (if there is one) hears a perfect middle C (256 Hz). What do you hear as the train leaves?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A higher pitch than 256 Hz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A lower pitch than 256 Hz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Middle C (256 Hz)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Nothing</a:t>
            </a:r>
          </a:p>
        </p:txBody>
      </p:sp>
    </p:spTree>
    <p:extLst>
      <p:ext uri="{BB962C8B-B14F-4D97-AF65-F5344CB8AC3E}">
        <p14:creationId xmlns:p14="http://schemas.microsoft.com/office/powerpoint/2010/main" val="291876820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225.5.4</a:t>
            </a:r>
          </a:p>
        </p:txBody>
      </p:sp>
      <p:sp>
        <p:nvSpPr>
          <p:cNvPr id="6963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dirty="0"/>
              <a:t>Often a single jet will create two sonic booms, why?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en-US" dirty="0"/>
              <a:t>One is from the plane and one is from the condensation trail that follows the plane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en-US" dirty="0"/>
              <a:t>The nose and the tail both act as wave sources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en-US" dirty="0"/>
              <a:t>One is from the plane and one is a Newton's third law reaction</a:t>
            </a:r>
          </a:p>
        </p:txBody>
      </p:sp>
      <p:sp>
        <p:nvSpPr>
          <p:cNvPr id="696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444647A-B62D-46AC-8BB6-871103D5B2E6}" type="slidenum">
              <a:rPr lang="en-US" smtClean="0"/>
              <a:pPr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37870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223.5.4.1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 are playing your Irish tin whistle at 440Hz. Your friend runs toward you at 10m/s. What frequency does your friend hear? (take 343m.s as the speed of sound)</a:t>
            </a:r>
          </a:p>
          <a:p>
            <a:pPr marL="514350" indent="-514350">
              <a:buAutoNum type="alphaLcParenR"/>
            </a:pPr>
            <a:r>
              <a:rPr lang="en-US" dirty="0"/>
              <a:t>453.8Hz</a:t>
            </a:r>
          </a:p>
          <a:p>
            <a:pPr marL="514350" indent="-514350">
              <a:buAutoNum type="alphaLcParenR"/>
            </a:pPr>
            <a:r>
              <a:rPr lang="en-US" dirty="0"/>
              <a:t>427.1Hz</a:t>
            </a:r>
          </a:p>
          <a:p>
            <a:pPr marL="514350" indent="-514350">
              <a:buAutoNum type="alphaLcParenR"/>
            </a:pPr>
            <a:r>
              <a:rPr lang="en-US" dirty="0"/>
              <a:t>453.2</a:t>
            </a:r>
          </a:p>
          <a:p>
            <a:pPr marL="514350" indent="-514350">
              <a:buAutoNum type="alphaLcParenR"/>
            </a:pPr>
            <a:r>
              <a:rPr lang="en-US" dirty="0"/>
              <a:t>427.5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7B81-8888-4253-92EC-0AED2A590749}" type="slidenum">
              <a:rPr lang="en-US" smtClean="0"/>
              <a:pPr>
                <a:defRPr/>
              </a:pPr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18801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Sonic Boom Setup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1873250" cy="4525963"/>
          </a:xfrm>
        </p:spPr>
        <p:txBody>
          <a:bodyPr/>
          <a:lstStyle/>
          <a:p>
            <a:pPr eaLnBrk="1" hangingPunct="1"/>
            <a:endParaRPr 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797300" y="1571625"/>
            <a:ext cx="4897438" cy="4876800"/>
            <a:chOff x="2392" y="990"/>
            <a:chExt cx="3085" cy="3072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2392" y="990"/>
              <a:ext cx="3085" cy="3072"/>
              <a:chOff x="2392" y="990"/>
              <a:chExt cx="3085" cy="3072"/>
            </a:xfrm>
          </p:grpSpPr>
          <p:sp>
            <p:nvSpPr>
              <p:cNvPr id="50185" name="AutoShape 6"/>
              <p:cNvSpPr>
                <a:spLocks noChangeArrowheads="1"/>
              </p:cNvSpPr>
              <p:nvPr/>
            </p:nvSpPr>
            <p:spPr bwMode="auto">
              <a:xfrm rot="5400000">
                <a:off x="2158" y="1326"/>
                <a:ext cx="3072" cy="2400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186" name="Line 7"/>
              <p:cNvSpPr>
                <a:spLocks noChangeShapeType="1"/>
              </p:cNvSpPr>
              <p:nvPr/>
            </p:nvSpPr>
            <p:spPr bwMode="auto">
              <a:xfrm flipV="1">
                <a:off x="2392" y="2530"/>
                <a:ext cx="3085" cy="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187" name="Oval 8"/>
              <p:cNvSpPr>
                <a:spLocks noChangeArrowheads="1"/>
              </p:cNvSpPr>
              <p:nvPr/>
            </p:nvSpPr>
            <p:spPr bwMode="auto">
              <a:xfrm>
                <a:off x="2706" y="1746"/>
                <a:ext cx="1518" cy="1554"/>
              </a:xfrm>
              <a:prstGeom prst="ellipse">
                <a:avLst/>
              </a:prstGeom>
              <a:noFill/>
              <a:ln w="9525" algn="ctr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188" name="Oval 9"/>
              <p:cNvSpPr>
                <a:spLocks noChangeArrowheads="1"/>
              </p:cNvSpPr>
              <p:nvPr/>
            </p:nvSpPr>
            <p:spPr bwMode="auto">
              <a:xfrm>
                <a:off x="3437" y="2495"/>
                <a:ext cx="56" cy="56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" name="Group 10"/>
              <p:cNvGrpSpPr>
                <a:grpSpLocks/>
              </p:cNvGrpSpPr>
              <p:nvPr/>
            </p:nvGrpSpPr>
            <p:grpSpPr bwMode="auto">
              <a:xfrm>
                <a:off x="3251" y="1932"/>
                <a:ext cx="1116" cy="1189"/>
                <a:chOff x="2706" y="1746"/>
                <a:chExt cx="1518" cy="1554"/>
              </a:xfrm>
            </p:grpSpPr>
            <p:sp>
              <p:nvSpPr>
                <p:cNvPr id="50215" name="Oval 11"/>
                <p:cNvSpPr>
                  <a:spLocks noChangeArrowheads="1"/>
                </p:cNvSpPr>
                <p:nvPr/>
              </p:nvSpPr>
              <p:spPr bwMode="auto">
                <a:xfrm>
                  <a:off x="2706" y="1746"/>
                  <a:ext cx="1518" cy="1554"/>
                </a:xfrm>
                <a:prstGeom prst="ellipse">
                  <a:avLst/>
                </a:prstGeom>
                <a:noFill/>
                <a:ln w="9525" algn="ctr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216" name="Oval 12"/>
                <p:cNvSpPr>
                  <a:spLocks noChangeArrowheads="1"/>
                </p:cNvSpPr>
                <p:nvPr/>
              </p:nvSpPr>
              <p:spPr bwMode="auto">
                <a:xfrm>
                  <a:off x="3437" y="2495"/>
                  <a:ext cx="56" cy="56"/>
                </a:xfrm>
                <a:prstGeom prst="ellipse">
                  <a:avLst/>
                </a:prstGeom>
                <a:solidFill>
                  <a:srgbClr val="FF000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" name="Group 13"/>
              <p:cNvGrpSpPr>
                <a:grpSpLocks/>
              </p:cNvGrpSpPr>
              <p:nvPr/>
            </p:nvGrpSpPr>
            <p:grpSpPr bwMode="auto">
              <a:xfrm>
                <a:off x="3777" y="2128"/>
                <a:ext cx="749" cy="796"/>
                <a:chOff x="2706" y="1746"/>
                <a:chExt cx="1518" cy="1554"/>
              </a:xfrm>
            </p:grpSpPr>
            <p:sp>
              <p:nvSpPr>
                <p:cNvPr id="50213" name="Oval 14"/>
                <p:cNvSpPr>
                  <a:spLocks noChangeArrowheads="1"/>
                </p:cNvSpPr>
                <p:nvPr/>
              </p:nvSpPr>
              <p:spPr bwMode="auto">
                <a:xfrm>
                  <a:off x="2706" y="1746"/>
                  <a:ext cx="1518" cy="1554"/>
                </a:xfrm>
                <a:prstGeom prst="ellipse">
                  <a:avLst/>
                </a:prstGeom>
                <a:noFill/>
                <a:ln w="9525" algn="ctr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214" name="Oval 15"/>
                <p:cNvSpPr>
                  <a:spLocks noChangeArrowheads="1"/>
                </p:cNvSpPr>
                <p:nvPr/>
              </p:nvSpPr>
              <p:spPr bwMode="auto">
                <a:xfrm>
                  <a:off x="3437" y="2495"/>
                  <a:ext cx="56" cy="56"/>
                </a:xfrm>
                <a:prstGeom prst="ellipse">
                  <a:avLst/>
                </a:prstGeom>
                <a:solidFill>
                  <a:srgbClr val="FF000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6" name="Group 16"/>
              <p:cNvGrpSpPr>
                <a:grpSpLocks/>
              </p:cNvGrpSpPr>
              <p:nvPr/>
            </p:nvGrpSpPr>
            <p:grpSpPr bwMode="auto">
              <a:xfrm>
                <a:off x="4295" y="2317"/>
                <a:ext cx="409" cy="419"/>
                <a:chOff x="2706" y="1746"/>
                <a:chExt cx="1518" cy="1554"/>
              </a:xfrm>
            </p:grpSpPr>
            <p:sp>
              <p:nvSpPr>
                <p:cNvPr id="50211" name="Oval 17"/>
                <p:cNvSpPr>
                  <a:spLocks noChangeArrowheads="1"/>
                </p:cNvSpPr>
                <p:nvPr/>
              </p:nvSpPr>
              <p:spPr bwMode="auto">
                <a:xfrm>
                  <a:off x="2706" y="1746"/>
                  <a:ext cx="1518" cy="1554"/>
                </a:xfrm>
                <a:prstGeom prst="ellipse">
                  <a:avLst/>
                </a:prstGeom>
                <a:noFill/>
                <a:ln w="9525" algn="ctr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212" name="Oval 18"/>
                <p:cNvSpPr>
                  <a:spLocks noChangeArrowheads="1"/>
                </p:cNvSpPr>
                <p:nvPr/>
              </p:nvSpPr>
              <p:spPr bwMode="auto">
                <a:xfrm>
                  <a:off x="3437" y="2495"/>
                  <a:ext cx="56" cy="56"/>
                </a:xfrm>
                <a:prstGeom prst="ellipse">
                  <a:avLst/>
                </a:prstGeom>
                <a:solidFill>
                  <a:srgbClr val="FF000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7" name="Group 19"/>
              <p:cNvGrpSpPr>
                <a:grpSpLocks/>
              </p:cNvGrpSpPr>
              <p:nvPr/>
            </p:nvGrpSpPr>
            <p:grpSpPr bwMode="auto">
              <a:xfrm>
                <a:off x="4746" y="2467"/>
                <a:ext cx="99" cy="115"/>
                <a:chOff x="2706" y="1746"/>
                <a:chExt cx="1518" cy="1554"/>
              </a:xfrm>
            </p:grpSpPr>
            <p:sp>
              <p:nvSpPr>
                <p:cNvPr id="50209" name="Oval 20"/>
                <p:cNvSpPr>
                  <a:spLocks noChangeArrowheads="1"/>
                </p:cNvSpPr>
                <p:nvPr/>
              </p:nvSpPr>
              <p:spPr bwMode="auto">
                <a:xfrm>
                  <a:off x="2706" y="1746"/>
                  <a:ext cx="1518" cy="1554"/>
                </a:xfrm>
                <a:prstGeom prst="ellipse">
                  <a:avLst/>
                </a:prstGeom>
                <a:noFill/>
                <a:ln w="9525" algn="ctr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210" name="Oval 21"/>
                <p:cNvSpPr>
                  <a:spLocks noChangeArrowheads="1"/>
                </p:cNvSpPr>
                <p:nvPr/>
              </p:nvSpPr>
              <p:spPr bwMode="auto">
                <a:xfrm>
                  <a:off x="3437" y="2495"/>
                  <a:ext cx="56" cy="56"/>
                </a:xfrm>
                <a:prstGeom prst="ellipse">
                  <a:avLst/>
                </a:prstGeom>
                <a:solidFill>
                  <a:srgbClr val="FF000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50193" name="Oval 22"/>
              <p:cNvSpPr>
                <a:spLocks noChangeArrowheads="1"/>
              </p:cNvSpPr>
              <p:nvPr/>
            </p:nvSpPr>
            <p:spPr bwMode="auto">
              <a:xfrm>
                <a:off x="3785" y="2499"/>
                <a:ext cx="56" cy="56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194" name="Oval 23"/>
              <p:cNvSpPr>
                <a:spLocks noChangeArrowheads="1"/>
              </p:cNvSpPr>
              <p:nvPr/>
            </p:nvSpPr>
            <p:spPr bwMode="auto">
              <a:xfrm>
                <a:off x="4129" y="2499"/>
                <a:ext cx="56" cy="56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195" name="Oval 24"/>
              <p:cNvSpPr>
                <a:spLocks noChangeArrowheads="1"/>
              </p:cNvSpPr>
              <p:nvPr/>
            </p:nvSpPr>
            <p:spPr bwMode="auto">
              <a:xfrm>
                <a:off x="4477" y="2499"/>
                <a:ext cx="56" cy="56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196" name="Oval 25"/>
              <p:cNvSpPr>
                <a:spLocks noChangeArrowheads="1"/>
              </p:cNvSpPr>
              <p:nvPr/>
            </p:nvSpPr>
            <p:spPr bwMode="auto">
              <a:xfrm>
                <a:off x="4769" y="2499"/>
                <a:ext cx="56" cy="56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197" name="Text Box 26"/>
              <p:cNvSpPr txBox="1">
                <a:spLocks noChangeArrowheads="1"/>
              </p:cNvSpPr>
              <p:nvPr/>
            </p:nvSpPr>
            <p:spPr bwMode="auto">
              <a:xfrm>
                <a:off x="3447" y="2495"/>
                <a:ext cx="241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/>
                  <a:t>s</a:t>
                </a:r>
                <a:r>
                  <a:rPr lang="en-US" baseline="-25000"/>
                  <a:t>o</a:t>
                </a:r>
              </a:p>
            </p:txBody>
          </p:sp>
          <p:sp>
            <p:nvSpPr>
              <p:cNvPr id="50198" name="Text Box 27"/>
              <p:cNvSpPr txBox="1">
                <a:spLocks noChangeArrowheads="1"/>
              </p:cNvSpPr>
              <p:nvPr/>
            </p:nvSpPr>
            <p:spPr bwMode="auto">
              <a:xfrm>
                <a:off x="3759" y="2495"/>
                <a:ext cx="241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/>
                  <a:t>s</a:t>
                </a:r>
                <a:r>
                  <a:rPr lang="en-US" baseline="-25000"/>
                  <a:t>1</a:t>
                </a:r>
              </a:p>
            </p:txBody>
          </p:sp>
          <p:sp>
            <p:nvSpPr>
              <p:cNvPr id="50199" name="Text Box 28"/>
              <p:cNvSpPr txBox="1">
                <a:spLocks noChangeArrowheads="1"/>
              </p:cNvSpPr>
              <p:nvPr/>
            </p:nvSpPr>
            <p:spPr bwMode="auto">
              <a:xfrm>
                <a:off x="4127" y="2479"/>
                <a:ext cx="241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/>
                  <a:t>s</a:t>
                </a:r>
                <a:r>
                  <a:rPr lang="en-US" baseline="-25000"/>
                  <a:t>2</a:t>
                </a:r>
              </a:p>
            </p:txBody>
          </p:sp>
          <p:sp>
            <p:nvSpPr>
              <p:cNvPr id="50200" name="Text Box 29"/>
              <p:cNvSpPr txBox="1">
                <a:spLocks noChangeArrowheads="1"/>
              </p:cNvSpPr>
              <p:nvPr/>
            </p:nvSpPr>
            <p:spPr bwMode="auto">
              <a:xfrm>
                <a:off x="4463" y="2487"/>
                <a:ext cx="241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/>
                  <a:t>s</a:t>
                </a:r>
                <a:r>
                  <a:rPr lang="en-US" baseline="-25000"/>
                  <a:t>3</a:t>
                </a:r>
              </a:p>
            </p:txBody>
          </p:sp>
          <p:sp>
            <p:nvSpPr>
              <p:cNvPr id="50201" name="Text Box 30"/>
              <p:cNvSpPr txBox="1">
                <a:spLocks noChangeArrowheads="1"/>
              </p:cNvSpPr>
              <p:nvPr/>
            </p:nvSpPr>
            <p:spPr bwMode="auto">
              <a:xfrm>
                <a:off x="4679" y="2543"/>
                <a:ext cx="241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/>
                  <a:t>s</a:t>
                </a:r>
                <a:r>
                  <a:rPr lang="en-US" baseline="-25000"/>
                  <a:t>4</a:t>
                </a:r>
              </a:p>
            </p:txBody>
          </p:sp>
          <p:sp>
            <p:nvSpPr>
              <p:cNvPr id="50202" name="Text Box 31"/>
              <p:cNvSpPr txBox="1">
                <a:spLocks noChangeArrowheads="1"/>
              </p:cNvSpPr>
              <p:nvPr/>
            </p:nvSpPr>
            <p:spPr bwMode="auto">
              <a:xfrm>
                <a:off x="4879" y="2271"/>
                <a:ext cx="241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/>
                  <a:t>s</a:t>
                </a:r>
                <a:r>
                  <a:rPr lang="en-US" baseline="-25000"/>
                  <a:t>n</a:t>
                </a:r>
              </a:p>
            </p:txBody>
          </p:sp>
          <p:sp>
            <p:nvSpPr>
              <p:cNvPr id="50203" name="Line 32"/>
              <p:cNvSpPr>
                <a:spLocks noChangeShapeType="1"/>
              </p:cNvSpPr>
              <p:nvPr/>
            </p:nvSpPr>
            <p:spPr bwMode="auto">
              <a:xfrm>
                <a:off x="3456" y="2536"/>
                <a:ext cx="0" cy="11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204" name="Line 33"/>
              <p:cNvSpPr>
                <a:spLocks noChangeShapeType="1"/>
              </p:cNvSpPr>
              <p:nvPr/>
            </p:nvSpPr>
            <p:spPr bwMode="auto">
              <a:xfrm>
                <a:off x="4896" y="2536"/>
                <a:ext cx="0" cy="11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205" name="Line 34"/>
              <p:cNvSpPr>
                <a:spLocks noChangeShapeType="1"/>
              </p:cNvSpPr>
              <p:nvPr/>
            </p:nvSpPr>
            <p:spPr bwMode="auto">
              <a:xfrm>
                <a:off x="3464" y="3544"/>
                <a:ext cx="1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206" name="Text Box 35"/>
              <p:cNvSpPr txBox="1">
                <a:spLocks noChangeArrowheads="1"/>
              </p:cNvSpPr>
              <p:nvPr/>
            </p:nvSpPr>
            <p:spPr bwMode="auto">
              <a:xfrm>
                <a:off x="4085" y="3423"/>
                <a:ext cx="276" cy="231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/>
                  <a:t>v</a:t>
                </a:r>
                <a:r>
                  <a:rPr lang="en-US" baseline="-25000"/>
                  <a:t>s</a:t>
                </a:r>
                <a:r>
                  <a:rPr lang="en-US"/>
                  <a:t>t</a:t>
                </a:r>
                <a:endParaRPr lang="en-US" baseline="-25000"/>
              </a:p>
            </p:txBody>
          </p:sp>
          <p:sp>
            <p:nvSpPr>
              <p:cNvPr id="50207" name="Line 36"/>
              <p:cNvSpPr>
                <a:spLocks noChangeShapeType="1"/>
              </p:cNvSpPr>
              <p:nvPr/>
            </p:nvSpPr>
            <p:spPr bwMode="auto">
              <a:xfrm>
                <a:off x="4376" y="1800"/>
                <a:ext cx="480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208" name="Text Box 37"/>
              <p:cNvSpPr txBox="1">
                <a:spLocks noChangeArrowheads="1"/>
              </p:cNvSpPr>
              <p:nvPr/>
            </p:nvSpPr>
            <p:spPr bwMode="auto">
              <a:xfrm>
                <a:off x="4423" y="1455"/>
                <a:ext cx="241" cy="231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>
                    <a:solidFill>
                      <a:srgbClr val="FF0000"/>
                    </a:solidFill>
                  </a:rPr>
                  <a:t>v</a:t>
                </a:r>
                <a:r>
                  <a:rPr lang="en-US" baseline="-25000">
                    <a:solidFill>
                      <a:srgbClr val="FF0000"/>
                    </a:solidFill>
                  </a:rPr>
                  <a:t>s</a:t>
                </a:r>
              </a:p>
            </p:txBody>
          </p:sp>
        </p:grpSp>
        <p:sp>
          <p:nvSpPr>
            <p:cNvPr id="50182" name="Line 38"/>
            <p:cNvSpPr>
              <a:spLocks noChangeShapeType="1"/>
            </p:cNvSpPr>
            <p:nvPr/>
          </p:nvSpPr>
          <p:spPr bwMode="auto">
            <a:xfrm flipH="1" flipV="1">
              <a:off x="2496" y="992"/>
              <a:ext cx="2400" cy="1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83" name="Arc 39"/>
            <p:cNvSpPr>
              <a:spLocks/>
            </p:cNvSpPr>
            <p:nvPr/>
          </p:nvSpPr>
          <p:spPr bwMode="auto">
            <a:xfrm flipH="1">
              <a:off x="3632" y="1891"/>
              <a:ext cx="328" cy="637"/>
            </a:xfrm>
            <a:custGeom>
              <a:avLst/>
              <a:gdLst>
                <a:gd name="T0" fmla="*/ 0 w 21600"/>
                <a:gd name="T1" fmla="*/ 0 h 20092"/>
                <a:gd name="T2" fmla="*/ 0 w 21600"/>
                <a:gd name="T3" fmla="*/ 1 h 20092"/>
                <a:gd name="T4" fmla="*/ 0 w 21600"/>
                <a:gd name="T5" fmla="*/ 1 h 20092"/>
                <a:gd name="T6" fmla="*/ 0 60000 65536"/>
                <a:gd name="T7" fmla="*/ 0 60000 65536"/>
                <a:gd name="T8" fmla="*/ 0 60000 65536"/>
                <a:gd name="T9" fmla="*/ 0 w 21600"/>
                <a:gd name="T10" fmla="*/ 0 h 20092"/>
                <a:gd name="T11" fmla="*/ 21600 w 21600"/>
                <a:gd name="T12" fmla="*/ 20092 h 200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0092" fill="none" extrusionOk="0">
                  <a:moveTo>
                    <a:pt x="7929" y="0"/>
                  </a:moveTo>
                  <a:cubicBezTo>
                    <a:pt x="16179" y="3256"/>
                    <a:pt x="21600" y="11223"/>
                    <a:pt x="21600" y="20092"/>
                  </a:cubicBezTo>
                </a:path>
                <a:path w="21600" h="20092" stroke="0" extrusionOk="0">
                  <a:moveTo>
                    <a:pt x="7929" y="0"/>
                  </a:moveTo>
                  <a:cubicBezTo>
                    <a:pt x="16179" y="3256"/>
                    <a:pt x="21600" y="11223"/>
                    <a:pt x="21600" y="20092"/>
                  </a:cubicBezTo>
                  <a:lnTo>
                    <a:pt x="0" y="2009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84" name="Text Box 40"/>
            <p:cNvSpPr txBox="1">
              <a:spLocks noChangeArrowheads="1"/>
            </p:cNvSpPr>
            <p:nvPr/>
          </p:nvSpPr>
          <p:spPr bwMode="auto">
            <a:xfrm>
              <a:off x="3457" y="2085"/>
              <a:ext cx="191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ym typeface="Symbol" pitchFamily="18" charset="2"/>
                </a:rPr>
                <a:t>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2626194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ttps://upload.wikimedia.org/wikipedia/commons/thumb/0/0d/US_Navy_070205-N-6436W-127_Patrol_Boats_assigned_to_Inshore_Boat_Units_Five_One_%28IBU-51%29_and_IBU-52_conduct_operations_near_Coronado_Bay_Bridge.jpg/800px-US_Navy_070205-N-6436W-127_Patrol_Boats_assigned_to_Inshore_Boat_Units_Five_One_%28IBU-51%29_and_IBU-52_conduct_operations_near_Coronado_Bay_Bridge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43"/>
          <a:stretch/>
        </p:blipFill>
        <p:spPr bwMode="auto">
          <a:xfrm>
            <a:off x="1539324" y="-1"/>
            <a:ext cx="6312905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623691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 descr="https://upload.wikimedia.org/wikipedia/commons/5/52/Sonic_boom_clou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74" y="0"/>
            <a:ext cx="7682139" cy="6845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888053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QX04ySm4TTk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370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948218" y="1812928"/>
            <a:ext cx="243378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Top: Normal 'dark' spectral line positions at rest. Middle: Source moving away from observer. Bottom: Source moving towards observer. (Public domain image courtesy NASA: http://www.jwst.nasa.gov/education/7Page45.pdf)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077" y="1919020"/>
            <a:ext cx="3880424" cy="3382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14432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6068289" y="2071454"/>
            <a:ext cx="230447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High </a:t>
            </a:r>
            <a:r>
              <a:rPr lang="en-US" dirty="0"/>
              <a:t>Redshift Galaxy Cluster shown here in false color from the Spitzer Space Telescope. (Public domain image courtesy NASA/JPL-Caltech/S.A. Stanford (UC Davis/LLNL)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811" y="1844759"/>
            <a:ext cx="3725044" cy="4180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56180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2667000"/>
            <a:ext cx="652462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1106</TotalTime>
  <Words>2249</Words>
  <Application>Microsoft Office PowerPoint</Application>
  <PresentationFormat>On-screen Show (4:3)</PresentationFormat>
  <Paragraphs>382</Paragraphs>
  <Slides>89</Slides>
  <Notes>1</Notes>
  <HiddenSlides>0</HiddenSlides>
  <MMClips>10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94" baseType="lpstr">
      <vt:lpstr>Arial</vt:lpstr>
      <vt:lpstr>Calibri</vt:lpstr>
      <vt:lpstr>Symbol</vt:lpstr>
      <vt:lpstr>Office Theme</vt:lpstr>
      <vt:lpstr>Equation</vt:lpstr>
      <vt:lpstr>Lecture 5</vt:lpstr>
      <vt:lpstr>Question</vt:lpstr>
      <vt:lpstr>PowerPoint Presentation</vt:lpstr>
      <vt:lpstr>Question  223.4.5     123.22.1</vt:lpstr>
      <vt:lpstr>Question 223.4.6   123.22.2</vt:lpstr>
      <vt:lpstr>Question 223.4.8  123.22.4</vt:lpstr>
      <vt:lpstr>PowerPoint Presentation</vt:lpstr>
      <vt:lpstr>Intensity</vt:lpstr>
      <vt:lpstr>PowerPoint Presentation</vt:lpstr>
      <vt:lpstr>Question 223.4.7   123.22.3</vt:lpstr>
      <vt:lpstr>PowerPoint Presentation</vt:lpstr>
      <vt:lpstr>Question 223.4.9</vt:lpstr>
      <vt:lpstr>Intensity</vt:lpstr>
      <vt:lpstr>PowerPoint Presentation</vt:lpstr>
      <vt:lpstr>Question 223.4.10  123.22.5</vt:lpstr>
      <vt:lpstr>Case One: Fixed End</vt:lpstr>
      <vt:lpstr>PowerPoint Presentation</vt:lpstr>
      <vt:lpstr>PowerPoint Presentation</vt:lpstr>
      <vt:lpstr>Forces on the End of the Rope</vt:lpstr>
      <vt:lpstr>Reasonable?</vt:lpstr>
      <vt:lpstr>Demo</vt:lpstr>
      <vt:lpstr>PowerPoint Presentation</vt:lpstr>
      <vt:lpstr>PowerPoint Presentation</vt:lpstr>
      <vt:lpstr>Forces on the End of the Rope</vt:lpstr>
      <vt:lpstr>Case 3: Semi-loose End</vt:lpstr>
      <vt:lpstr>Forces on the End of the Rope</vt:lpstr>
      <vt:lpstr>Question 123.21.6</vt:lpstr>
      <vt:lpstr>Question 123.21.7</vt:lpstr>
      <vt:lpstr>Question 16.9</vt:lpstr>
      <vt:lpstr>Question 16.10</vt:lpstr>
      <vt:lpstr>Question 16.11</vt:lpstr>
      <vt:lpstr>Question 123.21.8</vt:lpstr>
      <vt:lpstr>Consider momentum</vt:lpstr>
      <vt:lpstr>Superposition With and Inverted Pulse</vt:lpstr>
      <vt:lpstr>Question 223.5.5 Question 123.22.16</vt:lpstr>
      <vt:lpstr>PowerPoint Presentation</vt:lpstr>
      <vt:lpstr>PowerPoint Presentation</vt:lpstr>
      <vt:lpstr>PowerPoint Presentation</vt:lpstr>
      <vt:lpstr>Question 11.3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 223.5.6</vt:lpstr>
      <vt:lpstr>PowerPoint Presentation</vt:lpstr>
      <vt:lpstr>Question 223.5.7</vt:lpstr>
      <vt:lpstr>Question 223.5.8</vt:lpstr>
      <vt:lpstr>Question 223.6.0.1</vt:lpstr>
      <vt:lpstr>Question 223.6.0.2</vt:lpstr>
      <vt:lpstr>Question 223.6.0.3</vt:lpstr>
      <vt:lpstr>Example</vt:lpstr>
      <vt:lpstr>Amplitude</vt:lpstr>
      <vt:lpstr>Effect of 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 223.8.3</vt:lpstr>
      <vt:lpstr>Question 223.8.4</vt:lpstr>
      <vt:lpstr>PowerPoint Presentation</vt:lpstr>
      <vt:lpstr>End</vt:lpstr>
      <vt:lpstr>PowerPoint Presentation</vt:lpstr>
      <vt:lpstr>Question 223.4.5.1</vt:lpstr>
      <vt:lpstr>Question 223.4.11  123.22.7</vt:lpstr>
      <vt:lpstr>PowerPoint Presentation</vt:lpstr>
      <vt:lpstr>Question 223.4.12 123.22.8</vt:lpstr>
      <vt:lpstr>Question 223.4.13 123.22.9</vt:lpstr>
      <vt:lpstr>Question 223.4.14  123.22.10</vt:lpstr>
      <vt:lpstr>Question 223.4.15 GR 123.22.11 GR</vt:lpstr>
      <vt:lpstr>Question 223.4.16  123.22.12</vt:lpstr>
      <vt:lpstr>Question 223.5.1  123.22.13</vt:lpstr>
      <vt:lpstr>Inertial Frames</vt:lpstr>
      <vt:lpstr>Spherical Emitter Setup</vt:lpstr>
      <vt:lpstr>Moving Detector</vt:lpstr>
      <vt:lpstr>Moving Detector</vt:lpstr>
      <vt:lpstr>Question 223.5.2 Question 123.22.14</vt:lpstr>
      <vt:lpstr>Question 223.5.3 Question 123.22.15</vt:lpstr>
      <vt:lpstr>Question 225.5.4</vt:lpstr>
      <vt:lpstr>Question 223.5.4.1</vt:lpstr>
      <vt:lpstr>Sonic Boom Setup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BYU-Idaho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Intensity</dc:title>
  <dc:creator>rtlines</dc:creator>
  <cp:lastModifiedBy>Todd Lines</cp:lastModifiedBy>
  <cp:revision>6</cp:revision>
  <dcterms:created xsi:type="dcterms:W3CDTF">2011-11-04T18:22:03Z</dcterms:created>
  <dcterms:modified xsi:type="dcterms:W3CDTF">2026-09-21T22:45:08Z</dcterms:modified>
</cp:coreProperties>
</file>