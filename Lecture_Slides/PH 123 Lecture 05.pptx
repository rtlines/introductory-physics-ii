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sldIdLst>
    <p:sldId id="343" r:id="rId2"/>
    <p:sldId id="309" r:id="rId3"/>
    <p:sldId id="289" r:id="rId4"/>
    <p:sldId id="310" r:id="rId5"/>
    <p:sldId id="311" r:id="rId6"/>
    <p:sldId id="312" r:id="rId7"/>
    <p:sldId id="313" r:id="rId8"/>
    <p:sldId id="314" r:id="rId9"/>
    <p:sldId id="315" r:id="rId10"/>
    <p:sldId id="316" r:id="rId11"/>
    <p:sldId id="293" r:id="rId12"/>
    <p:sldId id="294" r:id="rId13"/>
    <p:sldId id="295" r:id="rId14"/>
    <p:sldId id="345" r:id="rId15"/>
    <p:sldId id="296" r:id="rId16"/>
    <p:sldId id="317" r:id="rId17"/>
    <p:sldId id="318" r:id="rId18"/>
    <p:sldId id="319" r:id="rId19"/>
    <p:sldId id="341" r:id="rId20"/>
    <p:sldId id="340" r:id="rId21"/>
    <p:sldId id="342" r:id="rId22"/>
    <p:sldId id="292" r:id="rId23"/>
    <p:sldId id="320" r:id="rId24"/>
    <p:sldId id="321" r:id="rId25"/>
    <p:sldId id="297" r:id="rId26"/>
    <p:sldId id="322" r:id="rId27"/>
    <p:sldId id="323" r:id="rId28"/>
    <p:sldId id="344" r:id="rId29"/>
    <p:sldId id="298" r:id="rId30"/>
    <p:sldId id="299" r:id="rId31"/>
    <p:sldId id="300" r:id="rId32"/>
    <p:sldId id="324" r:id="rId33"/>
    <p:sldId id="325" r:id="rId34"/>
    <p:sldId id="326" r:id="rId35"/>
    <p:sldId id="327" r:id="rId36"/>
    <p:sldId id="328" r:id="rId37"/>
    <p:sldId id="329" r:id="rId38"/>
    <p:sldId id="301" r:id="rId39"/>
    <p:sldId id="302" r:id="rId40"/>
    <p:sldId id="330" r:id="rId41"/>
    <p:sldId id="332" r:id="rId42"/>
    <p:sldId id="333" r:id="rId43"/>
    <p:sldId id="334" r:id="rId44"/>
    <p:sldId id="335" r:id="rId45"/>
    <p:sldId id="336" r:id="rId46"/>
    <p:sldId id="337" r:id="rId47"/>
    <p:sldId id="303" r:id="rId48"/>
    <p:sldId id="304" r:id="rId49"/>
    <p:sldId id="338" r:id="rId50"/>
    <p:sldId id="305" r:id="rId51"/>
    <p:sldId id="306" r:id="rId52"/>
    <p:sldId id="307" r:id="rId53"/>
    <p:sldId id="308" r:id="rId54"/>
    <p:sldId id="281" r:id="rId55"/>
    <p:sldId id="339" r:id="rId56"/>
    <p:sldId id="283" r:id="rId57"/>
    <p:sldId id="290" r:id="rId58"/>
    <p:sldId id="291" r:id="rId5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AE77D0-F62C-4E39-A1BA-97E45B6E9CD8}" v="4" dt="2026-04-23T21:25:49.7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662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undo custSel addSld modSld">
      <pc:chgData name="Lines, Todd" userId="afaf7c3a-e8aa-4568-882a-02ad8f9e19b0" providerId="ADAL" clId="{5FF5AC1B-ABA9-43D7-A1E3-2D92732CD6E2}" dt="2026-04-23T21:25:55.095" v="9" actId="20577"/>
      <pc:docMkLst>
        <pc:docMk/>
      </pc:docMkLst>
      <pc:sldChg chg="addSp delSp modSp mod">
        <pc:chgData name="Lines, Todd" userId="afaf7c3a-e8aa-4568-882a-02ad8f9e19b0" providerId="ADAL" clId="{5FF5AC1B-ABA9-43D7-A1E3-2D92732CD6E2}" dt="2026-04-23T21:22:20.331" v="7" actId="21"/>
        <pc:sldMkLst>
          <pc:docMk/>
          <pc:sldMk cId="2224883554" sldId="313"/>
        </pc:sldMkLst>
        <pc:spChg chg="add del">
          <ac:chgData name="Lines, Todd" userId="afaf7c3a-e8aa-4568-882a-02ad8f9e19b0" providerId="ADAL" clId="{5FF5AC1B-ABA9-43D7-A1E3-2D92732CD6E2}" dt="2026-04-23T21:21:53.890" v="1" actId="22"/>
          <ac:spMkLst>
            <pc:docMk/>
            <pc:sldMk cId="2224883554" sldId="313"/>
            <ac:spMk id="3" creationId="{B950B44E-EC0F-9A8E-5ABF-7D01B31BBD16}"/>
          </ac:spMkLst>
        </pc:spChg>
        <pc:picChg chg="add mod">
          <ac:chgData name="Lines, Todd" userId="afaf7c3a-e8aa-4568-882a-02ad8f9e19b0" providerId="ADAL" clId="{5FF5AC1B-ABA9-43D7-A1E3-2D92732CD6E2}" dt="2026-04-23T21:22:07.069" v="5" actId="1076"/>
          <ac:picMkLst>
            <pc:docMk/>
            <pc:sldMk cId="2224883554" sldId="313"/>
            <ac:picMk id="5" creationId="{8001DD01-72A3-0AAC-F515-5EB673183406}"/>
          </ac:picMkLst>
        </pc:picChg>
        <pc:picChg chg="del mod">
          <ac:chgData name="Lines, Todd" userId="afaf7c3a-e8aa-4568-882a-02ad8f9e19b0" providerId="ADAL" clId="{5FF5AC1B-ABA9-43D7-A1E3-2D92732CD6E2}" dt="2026-04-23T21:22:20.331" v="7" actId="21"/>
          <ac:picMkLst>
            <pc:docMk/>
            <pc:sldMk cId="2224883554" sldId="313"/>
            <ac:picMk id="6" creationId="{44A34F58-4C8F-1B95-7031-D2BFEFE8630F}"/>
          </ac:picMkLst>
        </pc:picChg>
        <pc:picChg chg="del">
          <ac:chgData name="Lines, Todd" userId="afaf7c3a-e8aa-4568-882a-02ad8f9e19b0" providerId="ADAL" clId="{5FF5AC1B-ABA9-43D7-A1E3-2D92732CD6E2}" dt="2026-04-23T21:22:04.730" v="4" actId="478"/>
          <ac:picMkLst>
            <pc:docMk/>
            <pc:sldMk cId="2224883554" sldId="313"/>
            <ac:picMk id="52231" creationId="{00000000-0000-0000-0000-000000000000}"/>
          </ac:picMkLst>
        </pc:picChg>
      </pc:sldChg>
      <pc:sldChg chg="modSp add mod">
        <pc:chgData name="Lines, Todd" userId="afaf7c3a-e8aa-4568-882a-02ad8f9e19b0" providerId="ADAL" clId="{5FF5AC1B-ABA9-43D7-A1E3-2D92732CD6E2}" dt="2026-04-23T21:25:55.095" v="9" actId="20577"/>
        <pc:sldMkLst>
          <pc:docMk/>
          <pc:sldMk cId="4029346737" sldId="345"/>
        </pc:sldMkLst>
        <pc:spChg chg="mod">
          <ac:chgData name="Lines, Todd" userId="afaf7c3a-e8aa-4568-882a-02ad8f9e19b0" providerId="ADAL" clId="{5FF5AC1B-ABA9-43D7-A1E3-2D92732CD6E2}" dt="2026-04-23T21:25:55.095" v="9" actId="20577"/>
          <ac:spMkLst>
            <pc:docMk/>
            <pc:sldMk cId="4029346737" sldId="345"/>
            <ac:spMk id="3" creationId="{1FD2476B-A95E-AFF7-964C-69C58A3EB54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2CA0F8-BD70-4694-BD56-6665D6FFBF3C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489AA8-7E2F-40B2-8B7D-8CA2E9EFC19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032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329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83330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/>
          </a:p>
        </p:txBody>
      </p:sp>
      <p:sp>
        <p:nvSpPr>
          <p:cNvPr id="483331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78F86D75-E367-43A2-B6DF-15A7ED0B922B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00491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401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86402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/>
          </a:p>
        </p:txBody>
      </p:sp>
      <p:sp>
        <p:nvSpPr>
          <p:cNvPr id="486403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4C4A227C-E1E0-4E81-9FA8-CE169FC7D120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2003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449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88450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/>
          </a:p>
        </p:txBody>
      </p:sp>
      <p:sp>
        <p:nvSpPr>
          <p:cNvPr id="488451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1B871EA4-265B-4F34-BC43-0F00B897E940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7187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63FC6-F0D5-4376-9B97-08D3CD3871A3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AC77B-132B-4E14-98C3-60B9E946667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63FC6-F0D5-4376-9B97-08D3CD3871A3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AC77B-132B-4E14-98C3-60B9E946667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63FC6-F0D5-4376-9B97-08D3CD3871A3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AC77B-132B-4E14-98C3-60B9E946667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63FC6-F0D5-4376-9B97-08D3CD3871A3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AC77B-132B-4E14-98C3-60B9E946667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63FC6-F0D5-4376-9B97-08D3CD3871A3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AC77B-132B-4E14-98C3-60B9E946667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63FC6-F0D5-4376-9B97-08D3CD3871A3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AC77B-132B-4E14-98C3-60B9E946667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63FC6-F0D5-4376-9B97-08D3CD3871A3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AC77B-132B-4E14-98C3-60B9E946667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63FC6-F0D5-4376-9B97-08D3CD3871A3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AC77B-132B-4E14-98C3-60B9E946667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63FC6-F0D5-4376-9B97-08D3CD3871A3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AC77B-132B-4E14-98C3-60B9E946667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63FC6-F0D5-4376-9B97-08D3CD3871A3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AC77B-132B-4E14-98C3-60B9E946667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63FC6-F0D5-4376-9B97-08D3CD3871A3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3AC77B-132B-4E14-98C3-60B9E946667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6477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Winter 2007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62DE290-74FB-4D07-887E-CE0DE2BEF64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003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363FC6-F0D5-4376-9B97-08D3CD3871A3}" type="datetimeFigureOut">
              <a:rPr lang="en-US" smtClean="0"/>
              <a:pPr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3AC77B-132B-4E14-98C3-60B9E946667D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7.w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wmf"/><Relationship Id="rId3" Type="http://schemas.openxmlformats.org/officeDocument/2006/relationships/image" Target="../media/image9.wmf"/><Relationship Id="rId7" Type="http://schemas.openxmlformats.org/officeDocument/2006/relationships/oleObject" Target="../embeddings/oleObject5.bin"/><Relationship Id="rId12" Type="http://schemas.openxmlformats.org/officeDocument/2006/relationships/image" Target="../media/image13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11" Type="http://schemas.openxmlformats.org/officeDocument/2006/relationships/oleObject" Target="../embeddings/oleObject7.bin"/><Relationship Id="rId5" Type="http://schemas.openxmlformats.org/officeDocument/2006/relationships/oleObject" Target="../embeddings/oleObject4.bin"/><Relationship Id="rId10" Type="http://schemas.openxmlformats.org/officeDocument/2006/relationships/image" Target="../media/image12.wmf"/><Relationship Id="rId4" Type="http://schemas.openxmlformats.org/officeDocument/2006/relationships/image" Target="../media/image6.emf"/><Relationship Id="rId9" Type="http://schemas.openxmlformats.org/officeDocument/2006/relationships/oleObject" Target="../embeddings/oleObject6.bin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6l2vSsavVZs" TargetMode="Externa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7" Type="http://schemas.openxmlformats.org/officeDocument/2006/relationships/image" Target="../media/image21.wm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9.bin"/><Relationship Id="rId5" Type="http://schemas.openxmlformats.org/officeDocument/2006/relationships/image" Target="../media/image20.wmf"/><Relationship Id="rId4" Type="http://schemas.openxmlformats.org/officeDocument/2006/relationships/oleObject" Target="../embeddings/oleObject8.bin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7" Type="http://schemas.openxmlformats.org/officeDocument/2006/relationships/image" Target="../media/image25.wmf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1.bin"/><Relationship Id="rId5" Type="http://schemas.openxmlformats.org/officeDocument/2006/relationships/image" Target="../media/image24.wmf"/><Relationship Id="rId4" Type="http://schemas.openxmlformats.org/officeDocument/2006/relationships/oleObject" Target="../embeddings/oleObject10.bin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image" Target="../media/image29.w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wmf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wmf"/><Relationship Id="rId2" Type="http://schemas.openxmlformats.org/officeDocument/2006/relationships/image" Target="../media/image29.wmf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wmf"/><Relationship Id="rId2" Type="http://schemas.openxmlformats.org/officeDocument/2006/relationships/oleObject" Target="../embeddings/oleObject1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wmf"/><Relationship Id="rId4" Type="http://schemas.openxmlformats.org/officeDocument/2006/relationships/oleObject" Target="../embeddings/oleObject14.bin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wmf"/><Relationship Id="rId2" Type="http://schemas.openxmlformats.org/officeDocument/2006/relationships/oleObject" Target="../embeddings/oleObject15.bin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4.wmf"/><Relationship Id="rId4" Type="http://schemas.openxmlformats.org/officeDocument/2006/relationships/oleObject" Target="../embeddings/oleObject16.bin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wmf"/><Relationship Id="rId7" Type="http://schemas.openxmlformats.org/officeDocument/2006/relationships/image" Target="../media/image34.wmf"/><Relationship Id="rId2" Type="http://schemas.openxmlformats.org/officeDocument/2006/relationships/oleObject" Target="../embeddings/oleObject1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9.bin"/><Relationship Id="rId5" Type="http://schemas.openxmlformats.org/officeDocument/2006/relationships/image" Target="../media/image33.wmf"/><Relationship Id="rId4" Type="http://schemas.openxmlformats.org/officeDocument/2006/relationships/oleObject" Target="../embeddings/oleObject18.bin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3.bin"/><Relationship Id="rId13" Type="http://schemas.openxmlformats.org/officeDocument/2006/relationships/image" Target="../media/image39.wmf"/><Relationship Id="rId3" Type="http://schemas.openxmlformats.org/officeDocument/2006/relationships/image" Target="../media/image33.wmf"/><Relationship Id="rId7" Type="http://schemas.openxmlformats.org/officeDocument/2006/relationships/image" Target="../media/image36.wmf"/><Relationship Id="rId12" Type="http://schemas.openxmlformats.org/officeDocument/2006/relationships/oleObject" Target="../embeddings/oleObject25.bin"/><Relationship Id="rId2" Type="http://schemas.openxmlformats.org/officeDocument/2006/relationships/oleObject" Target="../embeddings/oleObject2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2.bin"/><Relationship Id="rId11" Type="http://schemas.openxmlformats.org/officeDocument/2006/relationships/image" Target="../media/image38.wmf"/><Relationship Id="rId5" Type="http://schemas.openxmlformats.org/officeDocument/2006/relationships/image" Target="../media/image34.wmf"/><Relationship Id="rId15" Type="http://schemas.openxmlformats.org/officeDocument/2006/relationships/oleObject" Target="../embeddings/oleObject27.bin"/><Relationship Id="rId10" Type="http://schemas.openxmlformats.org/officeDocument/2006/relationships/oleObject" Target="../embeddings/oleObject24.bin"/><Relationship Id="rId4" Type="http://schemas.openxmlformats.org/officeDocument/2006/relationships/oleObject" Target="../embeddings/oleObject21.bin"/><Relationship Id="rId9" Type="http://schemas.openxmlformats.org/officeDocument/2006/relationships/image" Target="../media/image37.wmf"/><Relationship Id="rId14" Type="http://schemas.openxmlformats.org/officeDocument/2006/relationships/oleObject" Target="../embeddings/oleObject26.bin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1.bin"/><Relationship Id="rId3" Type="http://schemas.openxmlformats.org/officeDocument/2006/relationships/image" Target="../media/image40.wmf"/><Relationship Id="rId7" Type="http://schemas.openxmlformats.org/officeDocument/2006/relationships/image" Target="../media/image33.wmf"/><Relationship Id="rId2" Type="http://schemas.openxmlformats.org/officeDocument/2006/relationships/oleObject" Target="../embeddings/oleObject2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0.bin"/><Relationship Id="rId11" Type="http://schemas.openxmlformats.org/officeDocument/2006/relationships/image" Target="../media/image42.wmf"/><Relationship Id="rId5" Type="http://schemas.openxmlformats.org/officeDocument/2006/relationships/image" Target="../media/image41.wmf"/><Relationship Id="rId10" Type="http://schemas.openxmlformats.org/officeDocument/2006/relationships/oleObject" Target="../embeddings/oleObject32.bin"/><Relationship Id="rId4" Type="http://schemas.openxmlformats.org/officeDocument/2006/relationships/oleObject" Target="../embeddings/oleObject29.bin"/><Relationship Id="rId9" Type="http://schemas.openxmlformats.org/officeDocument/2006/relationships/image" Target="../media/image34.wmf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6.bin"/><Relationship Id="rId13" Type="http://schemas.openxmlformats.org/officeDocument/2006/relationships/image" Target="../media/image46.wmf"/><Relationship Id="rId3" Type="http://schemas.openxmlformats.org/officeDocument/2006/relationships/image" Target="../media/image43.wmf"/><Relationship Id="rId7" Type="http://schemas.openxmlformats.org/officeDocument/2006/relationships/image" Target="../media/image34.wmf"/><Relationship Id="rId12" Type="http://schemas.openxmlformats.org/officeDocument/2006/relationships/oleObject" Target="../embeddings/oleObject38.bin"/><Relationship Id="rId2" Type="http://schemas.openxmlformats.org/officeDocument/2006/relationships/oleObject" Target="../embeddings/oleObject3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5.bin"/><Relationship Id="rId11" Type="http://schemas.openxmlformats.org/officeDocument/2006/relationships/image" Target="../media/image45.wmf"/><Relationship Id="rId5" Type="http://schemas.openxmlformats.org/officeDocument/2006/relationships/image" Target="../media/image33.wmf"/><Relationship Id="rId10" Type="http://schemas.openxmlformats.org/officeDocument/2006/relationships/oleObject" Target="../embeddings/oleObject37.bin"/><Relationship Id="rId4" Type="http://schemas.openxmlformats.org/officeDocument/2006/relationships/oleObject" Target="../embeddings/oleObject34.bin"/><Relationship Id="rId9" Type="http://schemas.openxmlformats.org/officeDocument/2006/relationships/image" Target="../media/image44.wmf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-assXMb3eYk" TargetMode="Externa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slideLayout" Target="../slideLayouts/slideLayout6.xml"/><Relationship Id="rId1" Type="http://schemas.openxmlformats.org/officeDocument/2006/relationships/video" Target="https://www.youtube.com/embed/cvBtQmY2B5I" TargetMode="Externa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48031-827F-38BB-1D13-8F93B6BD8A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28F9D3-822D-D796-3F3D-8A18FA26B3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575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49155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4915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49D2939-641E-4F08-8F10-3E88662DB609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4915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Sinusoidal Waves</a:t>
            </a:r>
          </a:p>
        </p:txBody>
      </p:sp>
      <p:sp>
        <p:nvSpPr>
          <p:cNvPr id="4915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42913" y="1427163"/>
            <a:ext cx="4165600" cy="4525962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400"/>
              <a:t>A continuous wave can be created by shaking the end of the string in simple harmonic motion</a:t>
            </a:r>
          </a:p>
          <a:p>
            <a:pPr eaLnBrk="1" hangingPunct="1">
              <a:lnSpc>
                <a:spcPct val="90000"/>
              </a:lnSpc>
            </a:pPr>
            <a:r>
              <a:rPr lang="en-US" sz="2400"/>
              <a:t>The shape of the wave is called </a:t>
            </a:r>
            <a:r>
              <a:rPr lang="en-US" sz="2400" b="1"/>
              <a:t>sinusoidal</a:t>
            </a:r>
            <a:r>
              <a:rPr lang="en-US" sz="2400"/>
              <a:t> since the waveform is that of a sine curve</a:t>
            </a:r>
          </a:p>
          <a:p>
            <a:pPr eaLnBrk="1" hangingPunct="1">
              <a:lnSpc>
                <a:spcPct val="90000"/>
              </a:lnSpc>
            </a:pPr>
            <a:r>
              <a:rPr lang="en-US" sz="2400"/>
              <a:t>The shape remains the same but moves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/>
              <a:t>Toward the right in the text diagrams</a:t>
            </a:r>
          </a:p>
        </p:txBody>
      </p:sp>
      <p:pic>
        <p:nvPicPr>
          <p:cNvPr id="49159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408113"/>
            <a:ext cx="3662363" cy="2992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540087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223.3.1</a:t>
            </a:r>
          </a:p>
        </p:txBody>
      </p:sp>
      <p:sp>
        <p:nvSpPr>
          <p:cNvPr id="4710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What is a crest?</a:t>
            </a:r>
          </a:p>
          <a:p>
            <a:pPr marL="1112838" lvl="1" indent="-533400" eaLnBrk="1" hangingPunct="1">
              <a:buFontTx/>
              <a:buAutoNum type="alphaLcParenR"/>
            </a:pPr>
            <a:r>
              <a:rPr lang="en-US" dirty="0"/>
              <a:t>A toothpaste</a:t>
            </a:r>
          </a:p>
          <a:p>
            <a:pPr marL="1112838" lvl="1" indent="-533400" eaLnBrk="1" hangingPunct="1">
              <a:buFontTx/>
              <a:buAutoNum type="alphaLcParenR"/>
            </a:pPr>
            <a:r>
              <a:rPr lang="en-US" dirty="0"/>
              <a:t>The place a wave crosses the x-axis</a:t>
            </a:r>
          </a:p>
          <a:p>
            <a:pPr marL="1112838" lvl="1" indent="-533400" eaLnBrk="1" hangingPunct="1">
              <a:buFontTx/>
              <a:buAutoNum type="alphaLcParenR"/>
            </a:pPr>
            <a:r>
              <a:rPr lang="en-US" dirty="0"/>
              <a:t>The peak of a wave</a:t>
            </a:r>
          </a:p>
          <a:p>
            <a:pPr marL="1112838" lvl="1" indent="-533400" eaLnBrk="1" hangingPunct="1">
              <a:buFontTx/>
              <a:buAutoNum type="alphaLcParenR"/>
            </a:pPr>
            <a:r>
              <a:rPr lang="en-US" dirty="0"/>
              <a:t>The lowest point in the wave</a:t>
            </a:r>
          </a:p>
        </p:txBody>
      </p:sp>
      <p:sp>
        <p:nvSpPr>
          <p:cNvPr id="4710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7D81F2B-99C7-4FA4-B084-E4E2302DE9D9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6369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Date Placeholder 4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50179" name="Footer Placeholder 5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0180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DCED46C-3496-4F4D-B6B4-CABD5763A9F2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018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Amplitude and Wavelength</a:t>
            </a:r>
          </a:p>
        </p:txBody>
      </p:sp>
      <p:sp>
        <p:nvSpPr>
          <p:cNvPr id="50182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879975" cy="4525963"/>
          </a:xfrm>
        </p:spPr>
        <p:txBody>
          <a:bodyPr/>
          <a:lstStyle/>
          <a:p>
            <a:pPr eaLnBrk="1" hangingPunct="1"/>
            <a:r>
              <a:rPr lang="en-US" sz="2400"/>
              <a:t>The </a:t>
            </a:r>
            <a:r>
              <a:rPr lang="en-US" sz="2400" b="1"/>
              <a:t>crest</a:t>
            </a:r>
            <a:r>
              <a:rPr lang="en-US" sz="2400"/>
              <a:t> of the wave is the location of the maximum displacement of the element from its normal position</a:t>
            </a:r>
          </a:p>
          <a:p>
            <a:pPr lvl="1" eaLnBrk="1" hangingPunct="1"/>
            <a:r>
              <a:rPr lang="en-US" sz="2000"/>
              <a:t>This distance is called the </a:t>
            </a:r>
            <a:r>
              <a:rPr lang="en-US" sz="2000" b="1"/>
              <a:t>amplitude</a:t>
            </a:r>
            <a:r>
              <a:rPr lang="en-US" sz="2000"/>
              <a:t>, </a:t>
            </a:r>
            <a:r>
              <a:rPr lang="en-US" sz="2000" i="1"/>
              <a:t>A</a:t>
            </a:r>
          </a:p>
          <a:p>
            <a:pPr lvl="1" eaLnBrk="1" hangingPunct="1"/>
            <a:r>
              <a:rPr lang="en-US" sz="2000"/>
              <a:t>The point at the negative amplitude is called the </a:t>
            </a:r>
            <a:r>
              <a:rPr lang="en-US" sz="2000" b="1"/>
              <a:t>trough</a:t>
            </a:r>
            <a:endParaRPr lang="en-US" sz="2000"/>
          </a:p>
          <a:p>
            <a:pPr eaLnBrk="1" hangingPunct="1"/>
            <a:r>
              <a:rPr lang="en-US" sz="2400"/>
              <a:t>The </a:t>
            </a:r>
            <a:r>
              <a:rPr lang="en-US" sz="2400" b="1"/>
              <a:t>wavelength</a:t>
            </a:r>
            <a:r>
              <a:rPr lang="en-US" sz="2400"/>
              <a:t>, </a:t>
            </a:r>
            <a:r>
              <a:rPr lang="en-US" sz="2400" i="1">
                <a:latin typeface="Symbol" pitchFamily="18" charset="2"/>
              </a:rPr>
              <a:t>l</a:t>
            </a:r>
            <a:r>
              <a:rPr lang="en-US" sz="2400"/>
              <a:t>, is the distance from one crest to the next</a:t>
            </a:r>
          </a:p>
        </p:txBody>
      </p:sp>
      <p:sp>
        <p:nvSpPr>
          <p:cNvPr id="9" name="ClipArt Placeholder 8"/>
          <p:cNvSpPr>
            <a:spLocks noGrp="1"/>
          </p:cNvSpPr>
          <p:nvPr>
            <p:ph type="clipArt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111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27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0" y="24039"/>
            <a:ext cx="3873500" cy="68339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33780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51203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120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CE0B612-0B94-463A-9AD6-D3899DCBBD70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5120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Wavelength and Period</a:t>
            </a:r>
          </a:p>
        </p:txBody>
      </p:sp>
      <p:sp>
        <p:nvSpPr>
          <p:cNvPr id="5120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/>
              <a:t>More generally, the </a:t>
            </a:r>
            <a:r>
              <a:rPr lang="en-US" b="1"/>
              <a:t>wavelength</a:t>
            </a:r>
            <a:r>
              <a:rPr lang="en-US"/>
              <a:t> is the minimum distance between any two identical points on adjacent waves</a:t>
            </a:r>
          </a:p>
          <a:p>
            <a:pPr eaLnBrk="1" hangingPunct="1">
              <a:lnSpc>
                <a:spcPct val="90000"/>
              </a:lnSpc>
            </a:pPr>
            <a:r>
              <a:rPr lang="en-US"/>
              <a:t>The </a:t>
            </a:r>
            <a:r>
              <a:rPr lang="en-US" b="1"/>
              <a:t>period</a:t>
            </a:r>
            <a:r>
              <a:rPr lang="en-US" i="1"/>
              <a:t>,</a:t>
            </a:r>
            <a:r>
              <a:rPr lang="en-US" b="1" i="1"/>
              <a:t> </a:t>
            </a:r>
            <a:r>
              <a:rPr lang="en-US" i="1"/>
              <a:t>T ,</a:t>
            </a:r>
            <a:r>
              <a:rPr lang="en-US"/>
              <a:t> is the time interval required for two identical points of adjacent waves to pass by a point</a:t>
            </a:r>
          </a:p>
          <a:p>
            <a:pPr lvl="1" eaLnBrk="1" hangingPunct="1">
              <a:lnSpc>
                <a:spcPct val="90000"/>
              </a:lnSpc>
            </a:pPr>
            <a:r>
              <a:rPr lang="en-US"/>
              <a:t>The period of the wave is the same as the period of the simple harmonic oscillation of one element of the medium</a:t>
            </a:r>
          </a:p>
        </p:txBody>
      </p:sp>
    </p:spTree>
    <p:extLst>
      <p:ext uri="{BB962C8B-B14F-4D97-AF65-F5344CB8AC3E}">
        <p14:creationId xmlns:p14="http://schemas.microsoft.com/office/powerpoint/2010/main" val="2710526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756F50B-7866-470A-8715-38CA1645C162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5222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Frequency</a:t>
            </a:r>
          </a:p>
        </p:txBody>
      </p:sp>
      <p:sp>
        <p:nvSpPr>
          <p:cNvPr id="5223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4267200" cy="45259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800"/>
              <a:t>The </a:t>
            </a:r>
            <a:r>
              <a:rPr lang="en-US" sz="2800" b="1"/>
              <a:t>frequency</a:t>
            </a:r>
            <a:r>
              <a:rPr lang="en-US" sz="2800"/>
              <a:t>, ƒ, is the number of crests (or any point on the wave) that pass a given point in a unit time interval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400"/>
              <a:t>The time interval is most commonly the second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400"/>
              <a:t>The frequency of the wave is the same as the frequency of the simple harmonic motion of one element of the medium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01DD01-72A3-0AAC-F515-5EB673183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0125" y="1600200"/>
            <a:ext cx="3486150" cy="2314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8835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53251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32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03D31FD-9B7F-4D94-878A-4AD12AC2E9A2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5325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Frequency, cont</a:t>
            </a:r>
          </a:p>
        </p:txBody>
      </p:sp>
      <p:sp>
        <p:nvSpPr>
          <p:cNvPr id="5325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The frequency and the period are related</a:t>
            </a:r>
          </a:p>
          <a:p>
            <a:pPr eaLnBrk="1" hangingPunct="1"/>
            <a:endParaRPr lang="en-US"/>
          </a:p>
          <a:p>
            <a:pPr eaLnBrk="1" hangingPunct="1"/>
            <a:endParaRPr lang="en-US"/>
          </a:p>
          <a:p>
            <a:pPr eaLnBrk="1" hangingPunct="1"/>
            <a:r>
              <a:rPr lang="en-US"/>
              <a:t>When the time interval is the second, the units of frequency are s</a:t>
            </a:r>
            <a:r>
              <a:rPr lang="en-US" baseline="30000"/>
              <a:t>-1</a:t>
            </a:r>
            <a:r>
              <a:rPr lang="en-US"/>
              <a:t> = Hz</a:t>
            </a:r>
          </a:p>
          <a:p>
            <a:pPr lvl="1" eaLnBrk="1" hangingPunct="1"/>
            <a:r>
              <a:rPr lang="en-US"/>
              <a:t>Hz is a hertz</a:t>
            </a:r>
          </a:p>
        </p:txBody>
      </p:sp>
      <p:pic>
        <p:nvPicPr>
          <p:cNvPr id="53255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51338" y="2206625"/>
            <a:ext cx="1176337" cy="1049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3728728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6601" y="1011238"/>
            <a:ext cx="7323138" cy="48483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573620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6875" y="419099"/>
            <a:ext cx="8074025" cy="62738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5340859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223.3.4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We know that frequency and period are inversely related. If the frequency is 0.2Hz what is the period?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20 sec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5 sec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2 sec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 sec</a:t>
            </a:r>
          </a:p>
          <a:p>
            <a:pPr marL="514350" indent="-514350">
              <a:buFont typeface="+mj-lt"/>
              <a:buAutoNum type="alphaLcParenR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035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223.3.5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7379"/>
            <a:ext cx="8229600" cy="4525963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sz="2800" dirty="0"/>
              <a:t>When we talk about the period of a sinusoidal wave, what do we mean?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2800" dirty="0"/>
              <a:t>Considering the snapshot view, it is the distance between wave crests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2800" dirty="0"/>
              <a:t>Considering the history graph view (video camera view), it is the period of oscillation of a single medium element.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2800" dirty="0"/>
              <a:t>Considering the snapshot view, it is the distance in maximum displacement between to medium points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2800" dirty="0"/>
              <a:t>Considering the  history graph view, it is the distance between two wave crests.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619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223.3.6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7379"/>
            <a:ext cx="8229600" cy="4525963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sz="2800" dirty="0"/>
              <a:t>When we talk about the wavelength of a sinusoidal wave, what do we mean?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2800" dirty="0"/>
              <a:t>Considering the snapshot view, it is the distance between wave crests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2800" dirty="0"/>
              <a:t>Considering the history graph view (video camera view), it is the period of oscillation of a single medium element.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2800" dirty="0"/>
              <a:t>Considering the snapshot view, it is the distance in maximum displacement between to medium points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2800" dirty="0"/>
              <a:t>Considering the  history graph view, it is the distance between two wave crests.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0979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D758D-9AFB-4454-4AA8-F9DD427E9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0C94C-6D3E-44C0-517D-234B12BBB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223.3.8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D2476B-A95E-AFF7-964C-69C58A3EB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What does</a:t>
            </a:r>
            <a:r>
              <a:rPr lang="en-US">
                <a:sym typeface="Symbol" panose="05050102010706020507" pitchFamily="18" charset="2"/>
              </a:rPr>
              <a:t></a:t>
            </a:r>
            <a:r>
              <a:rPr lang="en-US"/>
              <a:t> </a:t>
            </a:r>
            <a:r>
              <a:rPr lang="en-US" dirty="0"/>
              <a:t>tell us?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How far apart wave crests are in distance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How often we get a wave crest in distance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How far apart wave crests are in time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How often we get a wave crest in time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Nothing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54FD9-7F3B-C471-C0C6-6689E29F4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3467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223.3.8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does k tell us?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How far apart wave crests are in distance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How often we get a wave crest in distance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How far apart wave crests are in time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How often we get a wave crest in time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Nothing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3539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8197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819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99C4FF6E-0BC5-4353-B174-029A48221FCC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81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Wavenumber</a:t>
            </a:r>
          </a:p>
        </p:txBody>
      </p:sp>
      <p:sp>
        <p:nvSpPr>
          <p:cNvPr id="820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5051425" cy="4525963"/>
          </a:xfrm>
        </p:spPr>
        <p:txBody>
          <a:bodyPr/>
          <a:lstStyle/>
          <a:p>
            <a:pPr eaLnBrk="1" hangingPunct="1"/>
            <a:r>
              <a:rPr lang="en-US" sz="2400" dirty="0"/>
              <a:t>Consider again a sinusoidal wave</a:t>
            </a:r>
          </a:p>
          <a:p>
            <a:pPr eaLnBrk="1" hangingPunct="1"/>
            <a:endParaRPr lang="en-US" sz="2400" dirty="0"/>
          </a:p>
          <a:p>
            <a:pPr eaLnBrk="1" hangingPunct="1"/>
            <a:endParaRPr lang="en-US" sz="2400" dirty="0"/>
          </a:p>
          <a:p>
            <a:pPr eaLnBrk="1" hangingPunct="1"/>
            <a:r>
              <a:rPr lang="en-US" sz="2400" dirty="0"/>
              <a:t> A is the amplitude (</a:t>
            </a:r>
            <a:r>
              <a:rPr lang="en-US" sz="2400" dirty="0" err="1"/>
              <a:t>x</a:t>
            </a:r>
            <a:r>
              <a:rPr lang="en-US" sz="2400" baseline="-25000" dirty="0" err="1"/>
              <a:t>max</a:t>
            </a:r>
            <a:r>
              <a:rPr lang="en-US" sz="2400" dirty="0"/>
              <a:t>). </a:t>
            </a:r>
          </a:p>
          <a:p>
            <a:pPr eaLnBrk="1" hangingPunct="1"/>
            <a:r>
              <a:rPr lang="en-US" sz="2400" dirty="0"/>
              <a:t>We need to find a (like for SHM we found </a:t>
            </a:r>
            <a:r>
              <a:rPr lang="en-US" sz="2400" dirty="0">
                <a:sym typeface="Symbol" pitchFamily="18" charset="2"/>
              </a:rPr>
              <a:t></a:t>
            </a:r>
            <a:r>
              <a:rPr lang="en-US" sz="2400" dirty="0"/>
              <a:t>). </a:t>
            </a:r>
          </a:p>
          <a:p>
            <a:pPr eaLnBrk="1" hangingPunct="1"/>
            <a:r>
              <a:rPr lang="en-US" sz="2400" dirty="0"/>
              <a:t>Use initial conditions</a:t>
            </a:r>
          </a:p>
          <a:p>
            <a:pPr eaLnBrk="1" hangingPunct="1"/>
            <a:endParaRPr lang="en-US" sz="2400" dirty="0"/>
          </a:p>
        </p:txBody>
      </p:sp>
      <p:pic>
        <p:nvPicPr>
          <p:cNvPr id="8201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19763" y="2598738"/>
            <a:ext cx="2987675" cy="1978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202" name="Rectangle 6"/>
          <p:cNvSpPr>
            <a:spLocks noChangeArrowheads="1"/>
          </p:cNvSpPr>
          <p:nvPr/>
        </p:nvSpPr>
        <p:spPr bwMode="auto">
          <a:xfrm>
            <a:off x="0" y="330041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8194" name="Object 5"/>
          <p:cNvGraphicFramePr>
            <a:graphicFrameLocks noChangeAspect="1"/>
          </p:cNvGraphicFramePr>
          <p:nvPr/>
        </p:nvGraphicFramePr>
        <p:xfrm>
          <a:off x="1330325" y="2208213"/>
          <a:ext cx="2841625" cy="5413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30040" imgH="215640" progId="Equation.3">
                  <p:embed/>
                </p:oleObj>
              </mc:Choice>
              <mc:Fallback>
                <p:oleObj name="Equation" r:id="rId3" imgW="1130040" imgH="215640" progId="Equation.3">
                  <p:embed/>
                  <p:pic>
                    <p:nvPicPr>
                      <p:cNvPr id="8194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0325" y="2208213"/>
                        <a:ext cx="2841625" cy="5413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03" name="Rectangle 8"/>
          <p:cNvSpPr>
            <a:spLocks noChangeArrowheads="1"/>
          </p:cNvSpPr>
          <p:nvPr/>
        </p:nvSpPr>
        <p:spPr bwMode="auto">
          <a:xfrm>
            <a:off x="0" y="330041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8195" name="Object 7"/>
          <p:cNvGraphicFramePr>
            <a:graphicFrameLocks noChangeAspect="1"/>
          </p:cNvGraphicFramePr>
          <p:nvPr/>
        </p:nvGraphicFramePr>
        <p:xfrm>
          <a:off x="1501775" y="4672013"/>
          <a:ext cx="2635250" cy="392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447560" imgH="215640" progId="Equation.3">
                  <p:embed/>
                </p:oleObj>
              </mc:Choice>
              <mc:Fallback>
                <p:oleObj name="Equation" r:id="rId5" imgW="1447560" imgH="215640" progId="Equation.3">
                  <p:embed/>
                  <p:pic>
                    <p:nvPicPr>
                      <p:cNvPr id="819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01775" y="4672013"/>
                        <a:ext cx="2635250" cy="3921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04" name="Rectangle 10"/>
          <p:cNvSpPr>
            <a:spLocks noChangeArrowheads="1"/>
          </p:cNvSpPr>
          <p:nvPr/>
        </p:nvSpPr>
        <p:spPr bwMode="auto">
          <a:xfrm>
            <a:off x="0" y="326231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5982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3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9224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92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C2515EE-4685-49E6-8473-10370292C8B7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92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Wavenumber</a:t>
            </a:r>
          </a:p>
        </p:txBody>
      </p:sp>
      <p:sp>
        <p:nvSpPr>
          <p:cNvPr id="92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4310063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400"/>
              <a:t>The next time y=0 will be when x=</a:t>
            </a:r>
            <a:r>
              <a:rPr lang="en-US" sz="2400">
                <a:sym typeface="Symbol" pitchFamily="18" charset="2"/>
              </a:rPr>
              <a:t>/2</a:t>
            </a:r>
          </a:p>
          <a:p>
            <a:pPr eaLnBrk="1" hangingPunct="1">
              <a:lnSpc>
                <a:spcPct val="90000"/>
              </a:lnSpc>
            </a:pPr>
            <a:endParaRPr lang="en-US" sz="2400">
              <a:sym typeface="Symbol" pitchFamily="18" charset="2"/>
            </a:endParaRPr>
          </a:p>
          <a:p>
            <a:pPr eaLnBrk="1" hangingPunct="1">
              <a:lnSpc>
                <a:spcPct val="90000"/>
              </a:lnSpc>
            </a:pPr>
            <a:endParaRPr lang="en-US" sz="2400">
              <a:sym typeface="Symbol" pitchFamily="18" charset="2"/>
            </a:endParaRPr>
          </a:p>
          <a:p>
            <a:pPr eaLnBrk="1" hangingPunct="1">
              <a:lnSpc>
                <a:spcPct val="90000"/>
              </a:lnSpc>
            </a:pPr>
            <a:r>
              <a:rPr lang="en-US" sz="2400">
                <a:sym typeface="Symbol" pitchFamily="18" charset="2"/>
              </a:rPr>
              <a:t>This is true when</a:t>
            </a:r>
          </a:p>
          <a:p>
            <a:pPr eaLnBrk="1" hangingPunct="1">
              <a:lnSpc>
                <a:spcPct val="90000"/>
              </a:lnSpc>
            </a:pPr>
            <a:endParaRPr lang="en-US" sz="2400">
              <a:sym typeface="Symbol" pitchFamily="18" charset="2"/>
            </a:endParaRPr>
          </a:p>
          <a:p>
            <a:pPr eaLnBrk="1" hangingPunct="1">
              <a:lnSpc>
                <a:spcPct val="90000"/>
              </a:lnSpc>
            </a:pPr>
            <a:endParaRPr lang="en-US" sz="2400">
              <a:sym typeface="Symbol" pitchFamily="18" charset="2"/>
            </a:endParaRPr>
          </a:p>
          <a:p>
            <a:pPr eaLnBrk="1" hangingPunct="1">
              <a:lnSpc>
                <a:spcPct val="90000"/>
              </a:lnSpc>
            </a:pPr>
            <a:r>
              <a:rPr lang="en-US" sz="2400">
                <a:sym typeface="Symbol" pitchFamily="18" charset="2"/>
              </a:rPr>
              <a:t>So</a:t>
            </a:r>
          </a:p>
          <a:p>
            <a:pPr eaLnBrk="1" hangingPunct="1">
              <a:lnSpc>
                <a:spcPct val="90000"/>
              </a:lnSpc>
            </a:pPr>
            <a:endParaRPr lang="en-US" sz="2400"/>
          </a:p>
        </p:txBody>
      </p:sp>
      <p:graphicFrame>
        <p:nvGraphicFramePr>
          <p:cNvPr id="9218" name="Object 4"/>
          <p:cNvGraphicFramePr>
            <a:graphicFrameLocks noChangeAspect="1"/>
          </p:cNvGraphicFramePr>
          <p:nvPr/>
        </p:nvGraphicFramePr>
        <p:xfrm>
          <a:off x="981075" y="2352675"/>
          <a:ext cx="2765425" cy="74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87240" imgH="431640" progId="Equation.3">
                  <p:embed/>
                </p:oleObj>
              </mc:Choice>
              <mc:Fallback>
                <p:oleObj name="Equation" r:id="rId2" imgW="1587240" imgH="431640" progId="Equation.3">
                  <p:embed/>
                  <p:pic>
                    <p:nvPicPr>
                      <p:cNvPr id="921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81075" y="2352675"/>
                        <a:ext cx="2765425" cy="7461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228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816475" y="1320800"/>
            <a:ext cx="4094163" cy="318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229" name="Rectangle 7"/>
          <p:cNvSpPr>
            <a:spLocks noChangeArrowheads="1"/>
          </p:cNvSpPr>
          <p:nvPr/>
        </p:nvSpPr>
        <p:spPr bwMode="auto">
          <a:xfrm>
            <a:off x="0" y="326231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9219" name="Object 6"/>
          <p:cNvGraphicFramePr>
            <a:graphicFrameLocks noChangeAspect="1"/>
          </p:cNvGraphicFramePr>
          <p:nvPr/>
        </p:nvGraphicFramePr>
        <p:xfrm>
          <a:off x="1636713" y="3597275"/>
          <a:ext cx="989012" cy="74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520560" imgH="393480" progId="Equation.3">
                  <p:embed/>
                </p:oleObj>
              </mc:Choice>
              <mc:Fallback>
                <p:oleObj name="Equation" r:id="rId5" imgW="520560" imgH="393480" progId="Equation.3">
                  <p:embed/>
                  <p:pic>
                    <p:nvPicPr>
                      <p:cNvPr id="9219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36713" y="3597275"/>
                        <a:ext cx="989012" cy="7461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20" name="Object 9"/>
          <p:cNvGraphicFramePr>
            <a:graphicFrameLocks noChangeAspect="1"/>
          </p:cNvGraphicFramePr>
          <p:nvPr/>
        </p:nvGraphicFramePr>
        <p:xfrm>
          <a:off x="1557338" y="4433888"/>
          <a:ext cx="977900" cy="793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482400" imgH="393480" progId="Equation.3">
                  <p:embed/>
                </p:oleObj>
              </mc:Choice>
              <mc:Fallback>
                <p:oleObj name="Equation" r:id="rId7" imgW="482400" imgH="393480" progId="Equation.3">
                  <p:embed/>
                  <p:pic>
                    <p:nvPicPr>
                      <p:cNvPr id="922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57338" y="4433888"/>
                        <a:ext cx="977900" cy="793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21" name="Object 8"/>
          <p:cNvGraphicFramePr>
            <a:graphicFrameLocks noChangeAspect="1"/>
          </p:cNvGraphicFramePr>
          <p:nvPr/>
        </p:nvGraphicFramePr>
        <p:xfrm>
          <a:off x="839788" y="5194300"/>
          <a:ext cx="2374900" cy="763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333440" imgH="431640" progId="Equation.3">
                  <p:embed/>
                </p:oleObj>
              </mc:Choice>
              <mc:Fallback>
                <p:oleObj name="Equation" r:id="rId9" imgW="1333440" imgH="431640" progId="Equation.3">
                  <p:embed/>
                  <p:pic>
                    <p:nvPicPr>
                      <p:cNvPr id="9221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9788" y="5194300"/>
                        <a:ext cx="2374900" cy="7635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30" name="Rectangle 10"/>
          <p:cNvSpPr>
            <a:spLocks noChangeArrowheads="1"/>
          </p:cNvSpPr>
          <p:nvPr/>
        </p:nvSpPr>
        <p:spPr bwMode="auto">
          <a:xfrm>
            <a:off x="0" y="283686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9231" name="Text Box 12"/>
          <p:cNvSpPr txBox="1">
            <a:spLocks noChangeArrowheads="1"/>
          </p:cNvSpPr>
          <p:nvPr/>
        </p:nvSpPr>
        <p:spPr bwMode="auto">
          <a:xfrm>
            <a:off x="5195888" y="4594225"/>
            <a:ext cx="3529012" cy="91598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/>
              <a:t>We have a special name for a, it is the wavenumber, and we give it the symbol </a:t>
            </a:r>
            <a:r>
              <a:rPr lang="en-US" i="1"/>
              <a:t>k</a:t>
            </a:r>
            <a:endParaRPr lang="en-US"/>
          </a:p>
        </p:txBody>
      </p:sp>
      <p:sp>
        <p:nvSpPr>
          <p:cNvPr id="9232" name="Rectangle 14"/>
          <p:cNvSpPr>
            <a:spLocks noChangeArrowheads="1"/>
          </p:cNvSpPr>
          <p:nvPr/>
        </p:nvSpPr>
        <p:spPr bwMode="auto">
          <a:xfrm>
            <a:off x="0" y="326231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9222" name="Object 13"/>
          <p:cNvGraphicFramePr>
            <a:graphicFrameLocks noChangeAspect="1"/>
          </p:cNvGraphicFramePr>
          <p:nvPr/>
        </p:nvGraphicFramePr>
        <p:xfrm>
          <a:off x="6361113" y="5449888"/>
          <a:ext cx="1036637" cy="844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482400" imgH="393480" progId="Equation.3">
                  <p:embed/>
                </p:oleObj>
              </mc:Choice>
              <mc:Fallback>
                <p:oleObj name="Equation" r:id="rId11" imgW="482400" imgH="393480" progId="Equation.3">
                  <p:embed/>
                  <p:pic>
                    <p:nvPicPr>
                      <p:cNvPr id="9222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61113" y="5449888"/>
                        <a:ext cx="1036637" cy="8445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1379881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63570" y="4012442"/>
            <a:ext cx="3323230" cy="2113721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From </a:t>
            </a:r>
            <a:r>
              <a:rPr lang="en-US" dirty="0" err="1"/>
              <a:t>Alemily</a:t>
            </a:r>
            <a:r>
              <a:rPr lang="en-US" dirty="0"/>
              <a:t>, licensed under the Creative Commons Attribution-Share Alike 2.5 Generic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5336275" cy="69136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3829000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2B7B-EFB8-4C7F-90D0-1B2BAF160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EB5EA-4A30-43C0-845A-0A13288A23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7106" name="Picture 2" descr="File:9522Plowing with Carabaos in the Philippines 19.jpg">
            <a:extLst>
              <a:ext uri="{FF2B5EF4-FFF2-40B4-BE49-F238E27FC236}">
                <a16:creationId xmlns:a16="http://schemas.microsoft.com/office/drawing/2014/main" id="{A27E2C75-F56E-44F0-898D-F296214648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097" r="31476" b="18661"/>
          <a:stretch/>
        </p:blipFill>
        <p:spPr bwMode="auto">
          <a:xfrm>
            <a:off x="930676" y="2228295"/>
            <a:ext cx="5221549" cy="2814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EC44253-38CF-4A03-BA5D-5C8CCC819E63}"/>
              </a:ext>
            </a:extLst>
          </p:cNvPr>
          <p:cNvCxnSpPr/>
          <p:nvPr/>
        </p:nvCxnSpPr>
        <p:spPr>
          <a:xfrm>
            <a:off x="1828800" y="4199138"/>
            <a:ext cx="1074198" cy="0"/>
          </a:xfrm>
          <a:prstGeom prst="straightConnector1">
            <a:avLst/>
          </a:prstGeom>
          <a:ln w="57150"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C7C303D-EC7B-41AB-8E18-63C1FE9326F7}"/>
              </a:ext>
            </a:extLst>
          </p:cNvPr>
          <p:cNvSpPr txBox="1"/>
          <p:nvPr/>
        </p:nvSpPr>
        <p:spPr>
          <a:xfrm>
            <a:off x="1358283" y="3338004"/>
            <a:ext cx="20684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About two furrows per meter</a:t>
            </a:r>
          </a:p>
        </p:txBody>
      </p:sp>
    </p:spTree>
    <p:extLst>
      <p:ext uri="{BB962C8B-B14F-4D97-AF65-F5344CB8AC3E}">
        <p14:creationId xmlns:p14="http://schemas.microsoft.com/office/powerpoint/2010/main" val="35738170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7106" name="Picture 2" descr="https://upload.wikimedia.org/wikipedia/commons/thumb/c/c7/2008_03_28_-_I70_Cable_Barrier.JPG/1920px-2008_03_28_-_I70_Cable_Barrier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69" r="4354"/>
          <a:stretch/>
        </p:blipFill>
        <p:spPr bwMode="auto">
          <a:xfrm>
            <a:off x="0" y="461819"/>
            <a:ext cx="9162474" cy="61341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ight Arrow 3"/>
          <p:cNvSpPr/>
          <p:nvPr/>
        </p:nvSpPr>
        <p:spPr>
          <a:xfrm rot="3891752">
            <a:off x="4507346" y="4174837"/>
            <a:ext cx="1533236" cy="9328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860800" y="5615709"/>
            <a:ext cx="28729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Rumble Strip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08770"/>
            <a:ext cx="89816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Thisisbossi</a:t>
            </a:r>
            <a:r>
              <a:rPr lang="en-US" b="1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  https://commons.wikimedia.org/wiki/File:2008_03_28_-_I70_Cable_Barrier.JPG</a:t>
            </a:r>
          </a:p>
        </p:txBody>
      </p:sp>
    </p:spTree>
    <p:extLst>
      <p:ext uri="{BB962C8B-B14F-4D97-AF65-F5344CB8AC3E}">
        <p14:creationId xmlns:p14="http://schemas.microsoft.com/office/powerpoint/2010/main" val="28454610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268D4-DACB-4F3E-98B4-621A6F58B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Musical Rumble Strip Route 66</a:t>
            </a:r>
          </a:p>
        </p:txBody>
      </p:sp>
      <p:pic>
        <p:nvPicPr>
          <p:cNvPr id="4" name="Online Media 3">
            <a:hlinkClick r:id="" action="ppaction://media"/>
            <a:extLst>
              <a:ext uri="{FF2B5EF4-FFF2-40B4-BE49-F238E27FC236}">
                <a16:creationId xmlns:a16="http://schemas.microsoft.com/office/drawing/2014/main" id="{F0CF56A6-97D1-4F63-A90A-A65B0DA633C4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10214" y="1599692"/>
            <a:ext cx="7730395" cy="434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1771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223.3.3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I have a sinusoidal wave traveling with a wave speed of 10m/s.  The wavelength is 5m. What is the frequency?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5m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2 sec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2 Hz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50 1/sec</a:t>
            </a:r>
          </a:p>
          <a:p>
            <a:pPr marL="514350" indent="-514350">
              <a:buFont typeface="+mj-lt"/>
              <a:buAutoNum type="alphaLcParenR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2375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90695" y="1665027"/>
            <a:ext cx="7176933" cy="12054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174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44403" y="4580720"/>
            <a:ext cx="7586029" cy="12741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1750" name="Rectangle 6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31749" name="Object 5"/>
          <p:cNvGraphicFramePr>
            <a:graphicFrameLocks noChangeAspect="1"/>
          </p:cNvGraphicFramePr>
          <p:nvPr/>
        </p:nvGraphicFramePr>
        <p:xfrm>
          <a:off x="2292824" y="368490"/>
          <a:ext cx="4124960" cy="914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930400" imgH="431800" progId="Equation.3">
                  <p:embed/>
                </p:oleObj>
              </mc:Choice>
              <mc:Fallback>
                <p:oleObj name="Equation" r:id="rId4" imgW="1930400" imgH="431800" progId="Equation.3">
                  <p:embed/>
                  <p:pic>
                    <p:nvPicPr>
                      <p:cNvPr id="31749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92824" y="368490"/>
                        <a:ext cx="4124960" cy="914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752" name="Rectangle 8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31751" name="Object 7"/>
          <p:cNvGraphicFramePr>
            <a:graphicFrameLocks noChangeAspect="1"/>
          </p:cNvGraphicFramePr>
          <p:nvPr/>
        </p:nvGraphicFramePr>
        <p:xfrm>
          <a:off x="2412033" y="3283778"/>
          <a:ext cx="3863975" cy="804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057400" imgH="431640" progId="Equation.3">
                  <p:embed/>
                </p:oleObj>
              </mc:Choice>
              <mc:Fallback>
                <p:oleObj name="Equation" r:id="rId6" imgW="2057400" imgH="431640" progId="Equation.3">
                  <p:embed/>
                  <p:pic>
                    <p:nvPicPr>
                      <p:cNvPr id="31751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12033" y="3283778"/>
                        <a:ext cx="3863975" cy="8048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80386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1829" y="1796575"/>
            <a:ext cx="7261017" cy="1219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481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38308" y="4594366"/>
            <a:ext cx="7098504" cy="11922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4821" name="Rectangle 5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34820" name="Object 4"/>
          <p:cNvGraphicFramePr>
            <a:graphicFrameLocks noChangeAspect="1"/>
          </p:cNvGraphicFramePr>
          <p:nvPr/>
        </p:nvGraphicFramePr>
        <p:xfrm>
          <a:off x="2373313" y="409575"/>
          <a:ext cx="3948112" cy="9001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879560" imgH="431640" progId="Equation.3">
                  <p:embed/>
                </p:oleObj>
              </mc:Choice>
              <mc:Fallback>
                <p:oleObj name="Equation" r:id="rId4" imgW="1879560" imgH="431640" progId="Equation.3">
                  <p:embed/>
                  <p:pic>
                    <p:nvPicPr>
                      <p:cNvPr id="3482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73313" y="409575"/>
                        <a:ext cx="3948112" cy="9001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823" name="Rectangle 7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34822" name="Object 6"/>
          <p:cNvGraphicFramePr>
            <a:graphicFrameLocks noChangeAspect="1"/>
          </p:cNvGraphicFramePr>
          <p:nvPr/>
        </p:nvGraphicFramePr>
        <p:xfrm>
          <a:off x="2354263" y="3248025"/>
          <a:ext cx="4408487" cy="819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311200" imgH="431640" progId="Equation.3">
                  <p:embed/>
                </p:oleObj>
              </mc:Choice>
              <mc:Fallback>
                <p:oleObj name="Equation" r:id="rId6" imgW="2311200" imgH="431640" progId="Equation.3">
                  <p:embed/>
                  <p:pic>
                    <p:nvPicPr>
                      <p:cNvPr id="34822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54263" y="3248025"/>
                        <a:ext cx="4408487" cy="8191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9649067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223.3.9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shape are sound waves?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linear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circular</a:t>
            </a:r>
          </a:p>
          <a:p>
            <a:pPr marL="514350" indent="-514350">
              <a:buFont typeface="+mj-lt"/>
              <a:buAutoNum type="alphaLcParenR"/>
            </a:pPr>
            <a:r>
              <a:rPr lang="en-US"/>
              <a:t>Spherical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1049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9713" y="5105400"/>
            <a:ext cx="6400800" cy="1752600"/>
          </a:xfrm>
        </p:spPr>
        <p:txBody>
          <a:bodyPr>
            <a:normAutofit/>
          </a:bodyPr>
          <a:lstStyle/>
          <a:p>
            <a:r>
              <a:rPr lang="en-US" sz="2000" dirty="0"/>
              <a:t>Water Drop and wave From Julian Evil: Attribution-Share Alike 2.0 Generic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07409" y="0"/>
            <a:ext cx="7620000" cy="5086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6835495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 l="1445" t="4200" b="4743"/>
          <a:stretch>
            <a:fillRect/>
          </a:stretch>
        </p:blipFill>
        <p:spPr bwMode="auto">
          <a:xfrm>
            <a:off x="2971800" y="2895600"/>
            <a:ext cx="3248025" cy="106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extBox 4"/>
          <p:cNvSpPr txBox="1"/>
          <p:nvPr/>
        </p:nvSpPr>
        <p:spPr>
          <a:xfrm>
            <a:off x="2819400" y="4876800"/>
            <a:ext cx="4038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Portion of a Spherical Wave: Wave becomes more flat as it expands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rot="16200000" flipV="1">
            <a:off x="3276600" y="4191000"/>
            <a:ext cx="914400" cy="3048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rot="5400000" flipH="1" flipV="1">
            <a:off x="3619500" y="3848100"/>
            <a:ext cx="1219200" cy="6858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3886200" y="3581400"/>
            <a:ext cx="1447800" cy="12192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V="1">
            <a:off x="3886200" y="3657600"/>
            <a:ext cx="2209800" cy="11430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33298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92F779A-5D6A-858C-4A69-5A500F40FF2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DDA31AA-F4F9-0FFC-A350-87D5B842DC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2012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223.4.0.1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For sound waves, what is a compression?</a:t>
            </a:r>
          </a:p>
          <a:p>
            <a:pPr marL="514350" indent="-514350">
              <a:buAutoNum type="alphaLcParenR"/>
            </a:pPr>
            <a:r>
              <a:rPr lang="en-US" dirty="0"/>
              <a:t>It is a region of higher pressure</a:t>
            </a:r>
          </a:p>
          <a:p>
            <a:pPr marL="514350" indent="-514350">
              <a:buAutoNum type="alphaLcParenR"/>
            </a:pPr>
            <a:r>
              <a:rPr lang="en-US" dirty="0"/>
              <a:t>It is a region of lower pressure</a:t>
            </a:r>
          </a:p>
          <a:p>
            <a:pPr marL="514350" indent="-514350">
              <a:buAutoNum type="alphaLcParenR"/>
            </a:pPr>
            <a:r>
              <a:rPr lang="en-US" dirty="0"/>
              <a:t>It is an area over which a force is applied</a:t>
            </a:r>
          </a:p>
          <a:p>
            <a:pPr marL="514350" indent="-514350">
              <a:buAutoNum type="alphaLcParenR"/>
            </a:pPr>
            <a:r>
              <a:rPr lang="en-US" dirty="0"/>
              <a:t>It refers to the collision time of molecules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1479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223.4.0.2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For sound waves, a compression is a high pressure region, what do we call a low pressure region?</a:t>
            </a:r>
          </a:p>
          <a:p>
            <a:pPr marL="514350" indent="-514350">
              <a:buAutoNum type="alphaLcParenR"/>
            </a:pPr>
            <a:r>
              <a:rPr lang="en-US" dirty="0"/>
              <a:t>Low pressure region</a:t>
            </a:r>
          </a:p>
          <a:p>
            <a:pPr marL="514350" indent="-514350">
              <a:buAutoNum type="alphaLcParenR"/>
            </a:pPr>
            <a:r>
              <a:rPr lang="en-US" dirty="0"/>
              <a:t>Pressure </a:t>
            </a:r>
            <a:r>
              <a:rPr lang="en-US" dirty="0" err="1"/>
              <a:t>minimimization</a:t>
            </a:r>
            <a:endParaRPr lang="en-US" dirty="0"/>
          </a:p>
          <a:p>
            <a:pPr marL="514350" indent="-514350">
              <a:buAutoNum type="alphaLcParenR"/>
            </a:pPr>
            <a:r>
              <a:rPr lang="en-US" dirty="0" err="1"/>
              <a:t>hypopresurization</a:t>
            </a:r>
            <a:endParaRPr lang="en-US" dirty="0"/>
          </a:p>
          <a:p>
            <a:pPr marL="514350" indent="-514350">
              <a:buAutoNum type="alphaLcParenR"/>
            </a:pPr>
            <a:r>
              <a:rPr lang="en-US" dirty="0"/>
              <a:t>Rarefaction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039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223.4.0.3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can represent a sound wave as displacement, s(</a:t>
                </a:r>
                <a:r>
                  <a:rPr lang="en-US" dirty="0" err="1"/>
                  <a:t>x,t</a:t>
                </a:r>
                <a:r>
                  <a:rPr lang="en-US" dirty="0"/>
                  <a:t>), or pressure difference, </a:t>
                </a:r>
                <a:r>
                  <a:rPr lang="en-US" dirty="0">
                    <a:sym typeface="Symbol"/>
                  </a:rPr>
                  <a:t>P(</a:t>
                </a:r>
                <a:r>
                  <a:rPr lang="en-US" dirty="0" err="1">
                    <a:sym typeface="Symbol"/>
                  </a:rPr>
                  <a:t>x,t</a:t>
                </a:r>
                <a:r>
                  <a:rPr lang="en-US" dirty="0">
                    <a:sym typeface="Symbol"/>
                  </a:rPr>
                  <a:t>). By how much </a:t>
                </a:r>
                <a:r>
                  <a:rPr lang="en-US">
                    <a:sym typeface="Symbol"/>
                  </a:rPr>
                  <a:t>is P(</a:t>
                </a:r>
                <a:r>
                  <a:rPr lang="en-US" dirty="0" err="1">
                    <a:sym typeface="Symbol"/>
                  </a:rPr>
                  <a:t>x,t</a:t>
                </a:r>
                <a:r>
                  <a:rPr lang="en-US" dirty="0">
                    <a:sym typeface="Symbol"/>
                  </a:rPr>
                  <a:t>) out of phase with </a:t>
                </a:r>
                <a:r>
                  <a:rPr lang="en-US" dirty="0"/>
                  <a:t>s(</a:t>
                </a:r>
                <a:r>
                  <a:rPr lang="en-US" dirty="0" err="1"/>
                  <a:t>x,t</a:t>
                </a:r>
                <a:r>
                  <a:rPr lang="en-US" dirty="0"/>
                  <a:t>)?</a:t>
                </a:r>
              </a:p>
              <a:p>
                <a:pPr marL="514350" indent="-514350">
                  <a:buAutoNum type="alphaLcParenR"/>
                </a:pPr>
                <a:r>
                  <a:rPr lang="en-US" dirty="0"/>
                  <a:t>They are not out of phase</a:t>
                </a:r>
              </a:p>
              <a:p>
                <a:pPr marL="514350" indent="-514350">
                  <a:buAutoNum type="alphaLcParenR"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/>
                        <a:sym typeface="Symbol"/>
                      </a:rPr>
                      <m:t></m:t>
                    </m:r>
                  </m:oMath>
                </a14:m>
                <a:r>
                  <a:rPr lang="en-US" dirty="0"/>
                  <a:t>/2</a:t>
                </a:r>
              </a:p>
              <a:p>
                <a:pPr marL="514350" indent="-514350">
                  <a:buAutoNum type="alphaLcParenR"/>
                </a:pP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sym typeface="Symbol"/>
                      </a:rPr>
                      <m:t></m:t>
                    </m:r>
                  </m:oMath>
                </a14:m>
                <a:endParaRPr lang="en-US" dirty="0"/>
              </a:p>
              <a:p>
                <a:pPr marL="514350" indent="-514350">
                  <a:buFont typeface="Arial" pitchFamily="34" charset="0"/>
                  <a:buAutoNum type="alphaLcParenR"/>
                </a:pPr>
                <a:r>
                  <a:rPr lang="en-US" dirty="0"/>
                  <a:t>2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/>
                        <a:sym typeface="Symbol"/>
                      </a:rPr>
                      <m:t></m:t>
                    </m:r>
                  </m:oMath>
                </a14:m>
                <a:endParaRPr lang="en-US" dirty="0"/>
              </a:p>
              <a:p>
                <a:pPr marL="514350" indent="-514350">
                  <a:buAutoNum type="alphaLcParenR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1926" t="-1752" b="-14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471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281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2025" y="-4763"/>
            <a:ext cx="4352925" cy="68675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4423746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305" name="Rectangle 41"/>
          <p:cNvSpPr>
            <a:spLocks noChangeArrowheads="1"/>
          </p:cNvSpPr>
          <p:nvPr/>
        </p:nvSpPr>
        <p:spPr bwMode="auto">
          <a:xfrm>
            <a:off x="3238500" y="2032000"/>
            <a:ext cx="2900363" cy="831850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04" name="Rectangle 39"/>
          <p:cNvSpPr>
            <a:spLocks noChangeArrowheads="1"/>
          </p:cNvSpPr>
          <p:nvPr/>
        </p:nvSpPr>
        <p:spPr bwMode="auto">
          <a:xfrm>
            <a:off x="708025" y="2011363"/>
            <a:ext cx="3054350" cy="8001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482307" name="Rectangle 41"/>
          <p:cNvSpPr>
            <a:spLocks noChangeArrowheads="1"/>
          </p:cNvSpPr>
          <p:nvPr/>
        </p:nvSpPr>
        <p:spPr bwMode="auto">
          <a:xfrm>
            <a:off x="6308725" y="2011363"/>
            <a:ext cx="2633663" cy="830262"/>
          </a:xfrm>
          <a:prstGeom prst="rect">
            <a:avLst/>
          </a:prstGeom>
          <a:solidFill>
            <a:schemeClr val="accent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19" name="Rectangle 39"/>
          <p:cNvSpPr>
            <a:spLocks noChangeArrowheads="1"/>
          </p:cNvSpPr>
          <p:nvPr/>
        </p:nvSpPr>
        <p:spPr bwMode="auto">
          <a:xfrm>
            <a:off x="5502275" y="2000250"/>
            <a:ext cx="2986088" cy="830263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+mn-lt"/>
            </a:endParaRPr>
          </a:p>
        </p:txBody>
      </p:sp>
      <p:sp>
        <p:nvSpPr>
          <p:cNvPr id="120" name="Rectangle 119"/>
          <p:cNvSpPr/>
          <p:nvPr/>
        </p:nvSpPr>
        <p:spPr>
          <a:xfrm>
            <a:off x="477838" y="2003425"/>
            <a:ext cx="1744662" cy="815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82310" name="Rectangle 44"/>
          <p:cNvSpPr>
            <a:spLocks noChangeArrowheads="1"/>
          </p:cNvSpPr>
          <p:nvPr/>
        </p:nvSpPr>
        <p:spPr bwMode="auto">
          <a:xfrm>
            <a:off x="1150938" y="2260600"/>
            <a:ext cx="1000125" cy="29845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482311" name="Rectangle 45"/>
          <p:cNvSpPr>
            <a:spLocks noChangeArrowheads="1"/>
          </p:cNvSpPr>
          <p:nvPr/>
        </p:nvSpPr>
        <p:spPr bwMode="auto">
          <a:xfrm>
            <a:off x="2151063" y="2011363"/>
            <a:ext cx="212725" cy="796925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23" name="Oval 122"/>
          <p:cNvSpPr/>
          <p:nvPr/>
        </p:nvSpPr>
        <p:spPr>
          <a:xfrm>
            <a:off x="2460625" y="2441575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24" name="Oval 123"/>
          <p:cNvSpPr/>
          <p:nvPr/>
        </p:nvSpPr>
        <p:spPr>
          <a:xfrm>
            <a:off x="2484438" y="2273300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26" name="Oval 125"/>
          <p:cNvSpPr/>
          <p:nvPr/>
        </p:nvSpPr>
        <p:spPr>
          <a:xfrm>
            <a:off x="2471738" y="2095500"/>
            <a:ext cx="114300" cy="14605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82315" name="Rectangle 43"/>
          <p:cNvSpPr>
            <a:spLocks noChangeArrowheads="1"/>
          </p:cNvSpPr>
          <p:nvPr/>
        </p:nvSpPr>
        <p:spPr bwMode="auto">
          <a:xfrm>
            <a:off x="1196975" y="2808288"/>
            <a:ext cx="7726363" cy="13176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28" name="Oval 127"/>
          <p:cNvSpPr/>
          <p:nvPr/>
        </p:nvSpPr>
        <p:spPr>
          <a:xfrm>
            <a:off x="2493963" y="2667000"/>
            <a:ext cx="114300" cy="147638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482317" name="Rectangle 42"/>
          <p:cNvSpPr>
            <a:spLocks noChangeArrowheads="1"/>
          </p:cNvSpPr>
          <p:nvPr/>
        </p:nvSpPr>
        <p:spPr bwMode="auto">
          <a:xfrm>
            <a:off x="1196975" y="1911350"/>
            <a:ext cx="7726363" cy="131763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/>
          </a:p>
        </p:txBody>
      </p:sp>
      <p:cxnSp>
        <p:nvCxnSpPr>
          <p:cNvPr id="130" name="Straight Connector 129"/>
          <p:cNvCxnSpPr/>
          <p:nvPr/>
        </p:nvCxnSpPr>
        <p:spPr>
          <a:xfrm>
            <a:off x="1360488" y="4341813"/>
            <a:ext cx="7837487" cy="158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ectangle 130"/>
          <p:cNvSpPr/>
          <p:nvPr/>
        </p:nvSpPr>
        <p:spPr>
          <a:xfrm>
            <a:off x="3798888" y="4289425"/>
            <a:ext cx="239712" cy="75088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32" name="Rectangle 131"/>
          <p:cNvSpPr/>
          <p:nvPr/>
        </p:nvSpPr>
        <p:spPr>
          <a:xfrm>
            <a:off x="4278313" y="4371975"/>
            <a:ext cx="266700" cy="47307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33" name="Rectangle 132"/>
          <p:cNvSpPr/>
          <p:nvPr/>
        </p:nvSpPr>
        <p:spPr>
          <a:xfrm flipV="1">
            <a:off x="4789488" y="4391025"/>
            <a:ext cx="277812" cy="225425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34" name="Rectangle 133"/>
          <p:cNvSpPr/>
          <p:nvPr/>
        </p:nvSpPr>
        <p:spPr>
          <a:xfrm>
            <a:off x="5302250" y="4305300"/>
            <a:ext cx="238125" cy="10160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35" name="Rectangle 134"/>
          <p:cNvSpPr/>
          <p:nvPr/>
        </p:nvSpPr>
        <p:spPr>
          <a:xfrm>
            <a:off x="5878513" y="4208463"/>
            <a:ext cx="266700" cy="182562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36" name="Rectangle 135"/>
          <p:cNvSpPr/>
          <p:nvPr/>
        </p:nvSpPr>
        <p:spPr>
          <a:xfrm>
            <a:off x="6324600" y="3881438"/>
            <a:ext cx="261938" cy="50958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37" name="Rectangle 136"/>
          <p:cNvSpPr/>
          <p:nvPr/>
        </p:nvSpPr>
        <p:spPr>
          <a:xfrm>
            <a:off x="6819900" y="3686175"/>
            <a:ext cx="190500" cy="70485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38" name="Rectangle 137"/>
          <p:cNvSpPr/>
          <p:nvPr/>
        </p:nvSpPr>
        <p:spPr>
          <a:xfrm>
            <a:off x="7250113" y="3930650"/>
            <a:ext cx="233362" cy="46037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39" name="Rectangle 138"/>
          <p:cNvSpPr/>
          <p:nvPr/>
        </p:nvSpPr>
        <p:spPr>
          <a:xfrm flipV="1">
            <a:off x="7713663" y="4154488"/>
            <a:ext cx="276225" cy="19367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8143875" y="4319588"/>
            <a:ext cx="227013" cy="7143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1" name="Rectangle 140"/>
          <p:cNvSpPr/>
          <p:nvPr/>
        </p:nvSpPr>
        <p:spPr>
          <a:xfrm>
            <a:off x="8605838" y="4319588"/>
            <a:ext cx="228600" cy="7143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2" name="Rectangle 141"/>
          <p:cNvSpPr/>
          <p:nvPr/>
        </p:nvSpPr>
        <p:spPr>
          <a:xfrm flipV="1">
            <a:off x="1965325" y="4143375"/>
            <a:ext cx="276225" cy="201613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4" name="Rectangle 143"/>
          <p:cNvSpPr/>
          <p:nvPr/>
        </p:nvSpPr>
        <p:spPr>
          <a:xfrm>
            <a:off x="2406650" y="4319588"/>
            <a:ext cx="254000" cy="9207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8" name="Rectangle 147"/>
          <p:cNvSpPr/>
          <p:nvPr/>
        </p:nvSpPr>
        <p:spPr>
          <a:xfrm>
            <a:off x="2814638" y="4316413"/>
            <a:ext cx="228600" cy="26670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9" name="Rectangle 148"/>
          <p:cNvSpPr/>
          <p:nvPr/>
        </p:nvSpPr>
        <p:spPr>
          <a:xfrm>
            <a:off x="3282950" y="4316413"/>
            <a:ext cx="314325" cy="56038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0" name="Oval 149"/>
          <p:cNvSpPr/>
          <p:nvPr/>
        </p:nvSpPr>
        <p:spPr>
          <a:xfrm>
            <a:off x="6362700" y="2371725"/>
            <a:ext cx="114300" cy="146050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1" name="Oval 150"/>
          <p:cNvSpPr/>
          <p:nvPr/>
        </p:nvSpPr>
        <p:spPr>
          <a:xfrm>
            <a:off x="5338763" y="2354263"/>
            <a:ext cx="114300" cy="14763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2" name="Oval 151"/>
          <p:cNvSpPr/>
          <p:nvPr/>
        </p:nvSpPr>
        <p:spPr>
          <a:xfrm flipH="1">
            <a:off x="8256588" y="2589213"/>
            <a:ext cx="114300" cy="14605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3" name="Oval 152"/>
          <p:cNvSpPr/>
          <p:nvPr/>
        </p:nvSpPr>
        <p:spPr>
          <a:xfrm flipH="1">
            <a:off x="8202613" y="2114550"/>
            <a:ext cx="114300" cy="14763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4" name="Oval 153"/>
          <p:cNvSpPr/>
          <p:nvPr/>
        </p:nvSpPr>
        <p:spPr>
          <a:xfrm flipH="1">
            <a:off x="7413625" y="2327275"/>
            <a:ext cx="114300" cy="147638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18" name="Oval 217"/>
          <p:cNvSpPr/>
          <p:nvPr/>
        </p:nvSpPr>
        <p:spPr>
          <a:xfrm flipH="1">
            <a:off x="2557463" y="2484438"/>
            <a:ext cx="114300" cy="146050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19" name="Oval 218"/>
          <p:cNvSpPr/>
          <p:nvPr/>
        </p:nvSpPr>
        <p:spPr>
          <a:xfrm flipH="1">
            <a:off x="3319463" y="2373313"/>
            <a:ext cx="114300" cy="147637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20" name="Oval 219"/>
          <p:cNvSpPr/>
          <p:nvPr/>
        </p:nvSpPr>
        <p:spPr>
          <a:xfrm flipH="1">
            <a:off x="4289425" y="2397125"/>
            <a:ext cx="114300" cy="14605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21" name="Oval 220"/>
          <p:cNvSpPr/>
          <p:nvPr/>
        </p:nvSpPr>
        <p:spPr>
          <a:xfrm>
            <a:off x="8339138" y="2228850"/>
            <a:ext cx="114300" cy="147638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22" name="Oval 221"/>
          <p:cNvSpPr/>
          <p:nvPr/>
        </p:nvSpPr>
        <p:spPr>
          <a:xfrm>
            <a:off x="8245475" y="2392363"/>
            <a:ext cx="114300" cy="147637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23" name="Oval 222"/>
          <p:cNvSpPr/>
          <p:nvPr/>
        </p:nvSpPr>
        <p:spPr>
          <a:xfrm>
            <a:off x="8675688" y="2392363"/>
            <a:ext cx="114300" cy="147637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2" name="Group 332"/>
          <p:cNvGrpSpPr>
            <a:grpSpLocks/>
          </p:cNvGrpSpPr>
          <p:nvPr/>
        </p:nvGrpSpPr>
        <p:grpSpPr bwMode="auto">
          <a:xfrm>
            <a:off x="1927225" y="3675063"/>
            <a:ext cx="7016750" cy="1365250"/>
            <a:chOff x="1103665" y="397777"/>
            <a:chExt cx="7252679" cy="1452358"/>
          </a:xfrm>
        </p:grpSpPr>
        <p:sp>
          <p:nvSpPr>
            <p:cNvPr id="482347" name="Line 23"/>
            <p:cNvSpPr>
              <a:spLocks noChangeShapeType="1"/>
            </p:cNvSpPr>
            <p:nvPr/>
          </p:nvSpPr>
          <p:spPr bwMode="auto">
            <a:xfrm>
              <a:off x="1103665" y="748468"/>
              <a:ext cx="100365" cy="6376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48" name="Line 24"/>
            <p:cNvSpPr>
              <a:spLocks noChangeShapeType="1"/>
            </p:cNvSpPr>
            <p:nvPr/>
          </p:nvSpPr>
          <p:spPr bwMode="auto">
            <a:xfrm>
              <a:off x="1204030" y="812230"/>
              <a:ext cx="100365" cy="6730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49" name="Line 25"/>
            <p:cNvSpPr>
              <a:spLocks noChangeShapeType="1"/>
            </p:cNvSpPr>
            <p:nvPr/>
          </p:nvSpPr>
          <p:spPr bwMode="auto">
            <a:xfrm>
              <a:off x="1304394" y="879535"/>
              <a:ext cx="100365" cy="7084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50" name="Line 26"/>
            <p:cNvSpPr>
              <a:spLocks noChangeShapeType="1"/>
            </p:cNvSpPr>
            <p:nvPr/>
          </p:nvSpPr>
          <p:spPr bwMode="auto">
            <a:xfrm>
              <a:off x="1404760" y="950381"/>
              <a:ext cx="100365" cy="7084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51" name="Line 27"/>
            <p:cNvSpPr>
              <a:spLocks noChangeShapeType="1"/>
            </p:cNvSpPr>
            <p:nvPr/>
          </p:nvSpPr>
          <p:spPr bwMode="auto">
            <a:xfrm>
              <a:off x="1505125" y="1021229"/>
              <a:ext cx="100365" cy="7438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52" name="Line 28"/>
            <p:cNvSpPr>
              <a:spLocks noChangeShapeType="1"/>
            </p:cNvSpPr>
            <p:nvPr/>
          </p:nvSpPr>
          <p:spPr bwMode="auto">
            <a:xfrm>
              <a:off x="1605489" y="1095617"/>
              <a:ext cx="95082" cy="7084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53" name="Line 29"/>
            <p:cNvSpPr>
              <a:spLocks noChangeShapeType="1"/>
            </p:cNvSpPr>
            <p:nvPr/>
          </p:nvSpPr>
          <p:spPr bwMode="auto">
            <a:xfrm>
              <a:off x="1700572" y="1166464"/>
              <a:ext cx="100365" cy="7438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54" name="Line 30"/>
            <p:cNvSpPr>
              <a:spLocks noChangeShapeType="1"/>
            </p:cNvSpPr>
            <p:nvPr/>
          </p:nvSpPr>
          <p:spPr bwMode="auto">
            <a:xfrm>
              <a:off x="1800936" y="1240853"/>
              <a:ext cx="100365" cy="7084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55" name="Line 31"/>
            <p:cNvSpPr>
              <a:spLocks noChangeShapeType="1"/>
            </p:cNvSpPr>
            <p:nvPr/>
          </p:nvSpPr>
          <p:spPr bwMode="auto">
            <a:xfrm>
              <a:off x="1901301" y="1311700"/>
              <a:ext cx="100365" cy="7084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56" name="Line 32"/>
            <p:cNvSpPr>
              <a:spLocks noChangeShapeType="1"/>
            </p:cNvSpPr>
            <p:nvPr/>
          </p:nvSpPr>
          <p:spPr bwMode="auto">
            <a:xfrm>
              <a:off x="2001665" y="1382546"/>
              <a:ext cx="100365" cy="6730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57" name="Line 33"/>
            <p:cNvSpPr>
              <a:spLocks noChangeShapeType="1"/>
            </p:cNvSpPr>
            <p:nvPr/>
          </p:nvSpPr>
          <p:spPr bwMode="auto">
            <a:xfrm>
              <a:off x="2102032" y="1449851"/>
              <a:ext cx="95082" cy="6376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58" name="Line 34"/>
            <p:cNvSpPr>
              <a:spLocks noChangeShapeType="1"/>
            </p:cNvSpPr>
            <p:nvPr/>
          </p:nvSpPr>
          <p:spPr bwMode="auto">
            <a:xfrm>
              <a:off x="2197114" y="1513613"/>
              <a:ext cx="100365" cy="6022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59" name="Line 35"/>
            <p:cNvSpPr>
              <a:spLocks noChangeShapeType="1"/>
            </p:cNvSpPr>
            <p:nvPr/>
          </p:nvSpPr>
          <p:spPr bwMode="auto">
            <a:xfrm>
              <a:off x="2297478" y="1573832"/>
              <a:ext cx="100365" cy="5313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60" name="Line 36"/>
            <p:cNvSpPr>
              <a:spLocks noChangeShapeType="1"/>
            </p:cNvSpPr>
            <p:nvPr/>
          </p:nvSpPr>
          <p:spPr bwMode="auto">
            <a:xfrm>
              <a:off x="2397843" y="1626967"/>
              <a:ext cx="100365" cy="5313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61" name="Line 37"/>
            <p:cNvSpPr>
              <a:spLocks noChangeShapeType="1"/>
            </p:cNvSpPr>
            <p:nvPr/>
          </p:nvSpPr>
          <p:spPr bwMode="auto">
            <a:xfrm>
              <a:off x="2498208" y="1680102"/>
              <a:ext cx="100365" cy="4250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62" name="Line 38"/>
            <p:cNvSpPr>
              <a:spLocks noChangeShapeType="1"/>
            </p:cNvSpPr>
            <p:nvPr/>
          </p:nvSpPr>
          <p:spPr bwMode="auto">
            <a:xfrm>
              <a:off x="2598572" y="1722610"/>
              <a:ext cx="95082" cy="3896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63" name="Line 39"/>
            <p:cNvSpPr>
              <a:spLocks noChangeShapeType="1"/>
            </p:cNvSpPr>
            <p:nvPr/>
          </p:nvSpPr>
          <p:spPr bwMode="auto">
            <a:xfrm>
              <a:off x="2693656" y="1761577"/>
              <a:ext cx="100365" cy="3188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64" name="Line 40"/>
            <p:cNvSpPr>
              <a:spLocks noChangeShapeType="1"/>
            </p:cNvSpPr>
            <p:nvPr/>
          </p:nvSpPr>
          <p:spPr bwMode="auto">
            <a:xfrm>
              <a:off x="2794021" y="1793457"/>
              <a:ext cx="100365" cy="2479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65" name="Line 41"/>
            <p:cNvSpPr>
              <a:spLocks noChangeShapeType="1"/>
            </p:cNvSpPr>
            <p:nvPr/>
          </p:nvSpPr>
          <p:spPr bwMode="auto">
            <a:xfrm>
              <a:off x="2894385" y="1818253"/>
              <a:ext cx="100365" cy="1771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66" name="Line 42"/>
            <p:cNvSpPr>
              <a:spLocks noChangeShapeType="1"/>
            </p:cNvSpPr>
            <p:nvPr/>
          </p:nvSpPr>
          <p:spPr bwMode="auto">
            <a:xfrm>
              <a:off x="2994750" y="1835965"/>
              <a:ext cx="100365" cy="1062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67" name="Line 43"/>
            <p:cNvSpPr>
              <a:spLocks noChangeShapeType="1"/>
            </p:cNvSpPr>
            <p:nvPr/>
          </p:nvSpPr>
          <p:spPr bwMode="auto">
            <a:xfrm>
              <a:off x="3095114" y="1846593"/>
              <a:ext cx="100365" cy="354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68" name="Line 44"/>
            <p:cNvSpPr>
              <a:spLocks noChangeShapeType="1"/>
            </p:cNvSpPr>
            <p:nvPr/>
          </p:nvSpPr>
          <p:spPr bwMode="auto">
            <a:xfrm flipV="1">
              <a:off x="3195479" y="1846593"/>
              <a:ext cx="95082" cy="354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69" name="Line 45"/>
            <p:cNvSpPr>
              <a:spLocks noChangeShapeType="1"/>
            </p:cNvSpPr>
            <p:nvPr/>
          </p:nvSpPr>
          <p:spPr bwMode="auto">
            <a:xfrm flipV="1">
              <a:off x="3290561" y="1835965"/>
              <a:ext cx="100365" cy="1062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70" name="Line 46"/>
            <p:cNvSpPr>
              <a:spLocks noChangeShapeType="1"/>
            </p:cNvSpPr>
            <p:nvPr/>
          </p:nvSpPr>
          <p:spPr bwMode="auto">
            <a:xfrm flipV="1">
              <a:off x="3390927" y="1814711"/>
              <a:ext cx="100365" cy="2125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71" name="Line 47"/>
            <p:cNvSpPr>
              <a:spLocks noChangeShapeType="1"/>
            </p:cNvSpPr>
            <p:nvPr/>
          </p:nvSpPr>
          <p:spPr bwMode="auto">
            <a:xfrm flipV="1">
              <a:off x="3491292" y="1789915"/>
              <a:ext cx="100365" cy="2479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72" name="Line 48"/>
            <p:cNvSpPr>
              <a:spLocks noChangeShapeType="1"/>
            </p:cNvSpPr>
            <p:nvPr/>
          </p:nvSpPr>
          <p:spPr bwMode="auto">
            <a:xfrm flipV="1">
              <a:off x="3591657" y="1758034"/>
              <a:ext cx="100365" cy="3188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73" name="Line 49"/>
            <p:cNvSpPr>
              <a:spLocks noChangeShapeType="1"/>
            </p:cNvSpPr>
            <p:nvPr/>
          </p:nvSpPr>
          <p:spPr bwMode="auto">
            <a:xfrm flipV="1">
              <a:off x="3692021" y="1719068"/>
              <a:ext cx="95082" cy="3896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74" name="Line 50"/>
            <p:cNvSpPr>
              <a:spLocks noChangeShapeType="1"/>
            </p:cNvSpPr>
            <p:nvPr/>
          </p:nvSpPr>
          <p:spPr bwMode="auto">
            <a:xfrm flipV="1">
              <a:off x="3787103" y="1673017"/>
              <a:ext cx="100365" cy="4605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75" name="Line 51"/>
            <p:cNvSpPr>
              <a:spLocks noChangeShapeType="1"/>
            </p:cNvSpPr>
            <p:nvPr/>
          </p:nvSpPr>
          <p:spPr bwMode="auto">
            <a:xfrm flipV="1">
              <a:off x="3887468" y="1623425"/>
              <a:ext cx="100365" cy="4959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76" name="Line 52"/>
            <p:cNvSpPr>
              <a:spLocks noChangeShapeType="1"/>
            </p:cNvSpPr>
            <p:nvPr/>
          </p:nvSpPr>
          <p:spPr bwMode="auto">
            <a:xfrm flipV="1">
              <a:off x="3987833" y="1566747"/>
              <a:ext cx="100365" cy="5667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77" name="Line 53"/>
            <p:cNvSpPr>
              <a:spLocks noChangeShapeType="1"/>
            </p:cNvSpPr>
            <p:nvPr/>
          </p:nvSpPr>
          <p:spPr bwMode="auto">
            <a:xfrm flipV="1">
              <a:off x="4088199" y="1506528"/>
              <a:ext cx="100365" cy="6022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78" name="Line 54"/>
            <p:cNvSpPr>
              <a:spLocks noChangeShapeType="1"/>
            </p:cNvSpPr>
            <p:nvPr/>
          </p:nvSpPr>
          <p:spPr bwMode="auto">
            <a:xfrm flipV="1">
              <a:off x="4188563" y="1442766"/>
              <a:ext cx="95082" cy="6376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79" name="Line 55"/>
            <p:cNvSpPr>
              <a:spLocks noChangeShapeType="1"/>
            </p:cNvSpPr>
            <p:nvPr/>
          </p:nvSpPr>
          <p:spPr bwMode="auto">
            <a:xfrm flipV="1">
              <a:off x="4283646" y="1375461"/>
              <a:ext cx="100365" cy="6730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80" name="Line 56"/>
            <p:cNvSpPr>
              <a:spLocks noChangeShapeType="1"/>
            </p:cNvSpPr>
            <p:nvPr/>
          </p:nvSpPr>
          <p:spPr bwMode="auto">
            <a:xfrm flipV="1">
              <a:off x="4384010" y="1304615"/>
              <a:ext cx="100365" cy="7084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81" name="Line 57"/>
            <p:cNvSpPr>
              <a:spLocks noChangeShapeType="1"/>
            </p:cNvSpPr>
            <p:nvPr/>
          </p:nvSpPr>
          <p:spPr bwMode="auto">
            <a:xfrm flipV="1">
              <a:off x="4484375" y="1233768"/>
              <a:ext cx="100365" cy="7084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82" name="Line 58"/>
            <p:cNvSpPr>
              <a:spLocks noChangeShapeType="1"/>
            </p:cNvSpPr>
            <p:nvPr/>
          </p:nvSpPr>
          <p:spPr bwMode="auto">
            <a:xfrm flipV="1">
              <a:off x="4584739" y="1159379"/>
              <a:ext cx="100365" cy="7438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83" name="Line 59"/>
            <p:cNvSpPr>
              <a:spLocks noChangeShapeType="1"/>
            </p:cNvSpPr>
            <p:nvPr/>
          </p:nvSpPr>
          <p:spPr bwMode="auto">
            <a:xfrm flipV="1">
              <a:off x="4685104" y="1088532"/>
              <a:ext cx="95082" cy="7084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84" name="Line 60"/>
            <p:cNvSpPr>
              <a:spLocks noChangeShapeType="1"/>
            </p:cNvSpPr>
            <p:nvPr/>
          </p:nvSpPr>
          <p:spPr bwMode="auto">
            <a:xfrm flipV="1">
              <a:off x="4780188" y="1014144"/>
              <a:ext cx="100365" cy="7438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85" name="Line 61"/>
            <p:cNvSpPr>
              <a:spLocks noChangeShapeType="1"/>
            </p:cNvSpPr>
            <p:nvPr/>
          </p:nvSpPr>
          <p:spPr bwMode="auto">
            <a:xfrm flipV="1">
              <a:off x="4880552" y="943296"/>
              <a:ext cx="100365" cy="7084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86" name="Line 62"/>
            <p:cNvSpPr>
              <a:spLocks noChangeShapeType="1"/>
            </p:cNvSpPr>
            <p:nvPr/>
          </p:nvSpPr>
          <p:spPr bwMode="auto">
            <a:xfrm flipV="1">
              <a:off x="4980917" y="872450"/>
              <a:ext cx="100365" cy="7084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87" name="Line 63"/>
            <p:cNvSpPr>
              <a:spLocks noChangeShapeType="1"/>
            </p:cNvSpPr>
            <p:nvPr/>
          </p:nvSpPr>
          <p:spPr bwMode="auto">
            <a:xfrm flipV="1">
              <a:off x="5081282" y="805146"/>
              <a:ext cx="100365" cy="6730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88" name="Line 64"/>
            <p:cNvSpPr>
              <a:spLocks noChangeShapeType="1"/>
            </p:cNvSpPr>
            <p:nvPr/>
          </p:nvSpPr>
          <p:spPr bwMode="auto">
            <a:xfrm flipV="1">
              <a:off x="5181646" y="741383"/>
              <a:ext cx="95082" cy="6376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89" name="Line 65"/>
            <p:cNvSpPr>
              <a:spLocks noChangeShapeType="1"/>
            </p:cNvSpPr>
            <p:nvPr/>
          </p:nvSpPr>
          <p:spPr bwMode="auto">
            <a:xfrm flipV="1">
              <a:off x="5276728" y="681164"/>
              <a:ext cx="100365" cy="6022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90" name="Line 66"/>
            <p:cNvSpPr>
              <a:spLocks noChangeShapeType="1"/>
            </p:cNvSpPr>
            <p:nvPr/>
          </p:nvSpPr>
          <p:spPr bwMode="auto">
            <a:xfrm flipV="1">
              <a:off x="5377093" y="624487"/>
              <a:ext cx="100365" cy="5667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91" name="Line 67"/>
            <p:cNvSpPr>
              <a:spLocks noChangeShapeType="1"/>
            </p:cNvSpPr>
            <p:nvPr/>
          </p:nvSpPr>
          <p:spPr bwMode="auto">
            <a:xfrm flipV="1">
              <a:off x="5477459" y="574894"/>
              <a:ext cx="100365" cy="4959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92" name="Line 68"/>
            <p:cNvSpPr>
              <a:spLocks noChangeShapeType="1"/>
            </p:cNvSpPr>
            <p:nvPr/>
          </p:nvSpPr>
          <p:spPr bwMode="auto">
            <a:xfrm flipV="1">
              <a:off x="5577824" y="528844"/>
              <a:ext cx="95082" cy="4605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93" name="Line 69"/>
            <p:cNvSpPr>
              <a:spLocks noChangeShapeType="1"/>
            </p:cNvSpPr>
            <p:nvPr/>
          </p:nvSpPr>
          <p:spPr bwMode="auto">
            <a:xfrm flipV="1">
              <a:off x="5672906" y="489878"/>
              <a:ext cx="100365" cy="3896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94" name="Line 70"/>
            <p:cNvSpPr>
              <a:spLocks noChangeShapeType="1"/>
            </p:cNvSpPr>
            <p:nvPr/>
          </p:nvSpPr>
          <p:spPr bwMode="auto">
            <a:xfrm flipV="1">
              <a:off x="5773271" y="457997"/>
              <a:ext cx="100365" cy="3188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95" name="Line 71"/>
            <p:cNvSpPr>
              <a:spLocks noChangeShapeType="1"/>
            </p:cNvSpPr>
            <p:nvPr/>
          </p:nvSpPr>
          <p:spPr bwMode="auto">
            <a:xfrm flipV="1">
              <a:off x="5873635" y="433201"/>
              <a:ext cx="100365" cy="2479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96" name="Line 72"/>
            <p:cNvSpPr>
              <a:spLocks noChangeShapeType="1"/>
            </p:cNvSpPr>
            <p:nvPr/>
          </p:nvSpPr>
          <p:spPr bwMode="auto">
            <a:xfrm flipV="1">
              <a:off x="5974000" y="411946"/>
              <a:ext cx="100365" cy="2125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97" name="Line 73"/>
            <p:cNvSpPr>
              <a:spLocks noChangeShapeType="1"/>
            </p:cNvSpPr>
            <p:nvPr/>
          </p:nvSpPr>
          <p:spPr bwMode="auto">
            <a:xfrm flipV="1">
              <a:off x="6074364" y="401319"/>
              <a:ext cx="100365" cy="1062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98" name="Line 74"/>
            <p:cNvSpPr>
              <a:spLocks noChangeShapeType="1"/>
            </p:cNvSpPr>
            <p:nvPr/>
          </p:nvSpPr>
          <p:spPr bwMode="auto">
            <a:xfrm flipV="1">
              <a:off x="6174730" y="397777"/>
              <a:ext cx="95082" cy="354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399" name="Line 75"/>
            <p:cNvSpPr>
              <a:spLocks noChangeShapeType="1"/>
            </p:cNvSpPr>
            <p:nvPr/>
          </p:nvSpPr>
          <p:spPr bwMode="auto">
            <a:xfrm>
              <a:off x="6269813" y="397777"/>
              <a:ext cx="100365" cy="354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400" name="Line 76"/>
            <p:cNvSpPr>
              <a:spLocks noChangeShapeType="1"/>
            </p:cNvSpPr>
            <p:nvPr/>
          </p:nvSpPr>
          <p:spPr bwMode="auto">
            <a:xfrm>
              <a:off x="6370177" y="401319"/>
              <a:ext cx="100365" cy="1062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401" name="Line 77"/>
            <p:cNvSpPr>
              <a:spLocks noChangeShapeType="1"/>
            </p:cNvSpPr>
            <p:nvPr/>
          </p:nvSpPr>
          <p:spPr bwMode="auto">
            <a:xfrm>
              <a:off x="6470542" y="411946"/>
              <a:ext cx="100365" cy="1771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402" name="Line 78"/>
            <p:cNvSpPr>
              <a:spLocks noChangeShapeType="1"/>
            </p:cNvSpPr>
            <p:nvPr/>
          </p:nvSpPr>
          <p:spPr bwMode="auto">
            <a:xfrm>
              <a:off x="6570906" y="429658"/>
              <a:ext cx="100365" cy="24796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403" name="Line 79"/>
            <p:cNvSpPr>
              <a:spLocks noChangeShapeType="1"/>
            </p:cNvSpPr>
            <p:nvPr/>
          </p:nvSpPr>
          <p:spPr bwMode="auto">
            <a:xfrm>
              <a:off x="6671271" y="454454"/>
              <a:ext cx="95082" cy="31881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404" name="Line 80"/>
            <p:cNvSpPr>
              <a:spLocks noChangeShapeType="1"/>
            </p:cNvSpPr>
            <p:nvPr/>
          </p:nvSpPr>
          <p:spPr bwMode="auto">
            <a:xfrm>
              <a:off x="6766353" y="486336"/>
              <a:ext cx="100365" cy="3896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405" name="Line 81"/>
            <p:cNvSpPr>
              <a:spLocks noChangeShapeType="1"/>
            </p:cNvSpPr>
            <p:nvPr/>
          </p:nvSpPr>
          <p:spPr bwMode="auto">
            <a:xfrm>
              <a:off x="6866719" y="525301"/>
              <a:ext cx="100365" cy="4250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406" name="Line 82"/>
            <p:cNvSpPr>
              <a:spLocks noChangeShapeType="1"/>
            </p:cNvSpPr>
            <p:nvPr/>
          </p:nvSpPr>
          <p:spPr bwMode="auto">
            <a:xfrm>
              <a:off x="6967084" y="567809"/>
              <a:ext cx="100365" cy="49593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407" name="Line 83"/>
            <p:cNvSpPr>
              <a:spLocks noChangeShapeType="1"/>
            </p:cNvSpPr>
            <p:nvPr/>
          </p:nvSpPr>
          <p:spPr bwMode="auto">
            <a:xfrm>
              <a:off x="7067449" y="617402"/>
              <a:ext cx="100365" cy="5667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408" name="Line 84"/>
            <p:cNvSpPr>
              <a:spLocks noChangeShapeType="1"/>
            </p:cNvSpPr>
            <p:nvPr/>
          </p:nvSpPr>
          <p:spPr bwMode="auto">
            <a:xfrm>
              <a:off x="7167813" y="674080"/>
              <a:ext cx="95082" cy="60220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409" name="Line 85"/>
            <p:cNvSpPr>
              <a:spLocks noChangeShapeType="1"/>
            </p:cNvSpPr>
            <p:nvPr/>
          </p:nvSpPr>
          <p:spPr bwMode="auto">
            <a:xfrm>
              <a:off x="7262895" y="734300"/>
              <a:ext cx="100365" cy="6376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410" name="Line 86"/>
            <p:cNvSpPr>
              <a:spLocks noChangeShapeType="1"/>
            </p:cNvSpPr>
            <p:nvPr/>
          </p:nvSpPr>
          <p:spPr bwMode="auto">
            <a:xfrm>
              <a:off x="7363260" y="798061"/>
              <a:ext cx="100365" cy="6730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411" name="Line 87"/>
            <p:cNvSpPr>
              <a:spLocks noChangeShapeType="1"/>
            </p:cNvSpPr>
            <p:nvPr/>
          </p:nvSpPr>
          <p:spPr bwMode="auto">
            <a:xfrm>
              <a:off x="7463626" y="865366"/>
              <a:ext cx="100365" cy="7084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412" name="Line 88"/>
            <p:cNvSpPr>
              <a:spLocks noChangeShapeType="1"/>
            </p:cNvSpPr>
            <p:nvPr/>
          </p:nvSpPr>
          <p:spPr bwMode="auto">
            <a:xfrm>
              <a:off x="7563991" y="936212"/>
              <a:ext cx="100365" cy="7084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413" name="Line 89"/>
            <p:cNvSpPr>
              <a:spLocks noChangeShapeType="1"/>
            </p:cNvSpPr>
            <p:nvPr/>
          </p:nvSpPr>
          <p:spPr bwMode="auto">
            <a:xfrm>
              <a:off x="7664355" y="1007059"/>
              <a:ext cx="100365" cy="7438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414" name="Line 90"/>
            <p:cNvSpPr>
              <a:spLocks noChangeShapeType="1"/>
            </p:cNvSpPr>
            <p:nvPr/>
          </p:nvSpPr>
          <p:spPr bwMode="auto">
            <a:xfrm>
              <a:off x="7764720" y="1081447"/>
              <a:ext cx="95082" cy="7084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415" name="Line 91"/>
            <p:cNvSpPr>
              <a:spLocks noChangeShapeType="1"/>
            </p:cNvSpPr>
            <p:nvPr/>
          </p:nvSpPr>
          <p:spPr bwMode="auto">
            <a:xfrm>
              <a:off x="7859802" y="1152295"/>
              <a:ext cx="100365" cy="74388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416" name="Line 92"/>
            <p:cNvSpPr>
              <a:spLocks noChangeShapeType="1"/>
            </p:cNvSpPr>
            <p:nvPr/>
          </p:nvSpPr>
          <p:spPr bwMode="auto">
            <a:xfrm>
              <a:off x="7960167" y="1226683"/>
              <a:ext cx="100365" cy="7084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417" name="Line 93"/>
            <p:cNvSpPr>
              <a:spLocks noChangeShapeType="1"/>
            </p:cNvSpPr>
            <p:nvPr/>
          </p:nvSpPr>
          <p:spPr bwMode="auto">
            <a:xfrm>
              <a:off x="8060531" y="1297530"/>
              <a:ext cx="100365" cy="70847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418" name="Line 94"/>
            <p:cNvSpPr>
              <a:spLocks noChangeShapeType="1"/>
            </p:cNvSpPr>
            <p:nvPr/>
          </p:nvSpPr>
          <p:spPr bwMode="auto">
            <a:xfrm>
              <a:off x="8160898" y="1368378"/>
              <a:ext cx="100365" cy="67305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2419" name="Line 95"/>
            <p:cNvSpPr>
              <a:spLocks noChangeShapeType="1"/>
            </p:cNvSpPr>
            <p:nvPr/>
          </p:nvSpPr>
          <p:spPr bwMode="auto">
            <a:xfrm>
              <a:off x="8261262" y="1435681"/>
              <a:ext cx="95082" cy="63762"/>
            </a:xfrm>
            <a:prstGeom prst="line">
              <a:avLst/>
            </a:prstGeom>
            <a:noFill/>
            <a:ln w="3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482346" name="TextBox 333"/>
          <p:cNvSpPr txBox="1">
            <a:spLocks noChangeArrowheads="1"/>
          </p:cNvSpPr>
          <p:nvPr/>
        </p:nvSpPr>
        <p:spPr bwMode="auto">
          <a:xfrm>
            <a:off x="173038" y="3502025"/>
            <a:ext cx="1209675" cy="954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400" dirty="0"/>
              <a:t>Bar Graph of Displacement from  Original Position</a:t>
            </a:r>
          </a:p>
        </p:txBody>
      </p:sp>
    </p:spTree>
    <p:extLst>
      <p:ext uri="{BB962C8B-B14F-4D97-AF65-F5344CB8AC3E}">
        <p14:creationId xmlns:p14="http://schemas.microsoft.com/office/powerpoint/2010/main" val="28214424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Wave Function</a:t>
            </a:r>
          </a:p>
        </p:txBody>
      </p:sp>
      <p:sp>
        <p:nvSpPr>
          <p:cNvPr id="3076" name="Text Box 30"/>
          <p:cNvSpPr txBox="1">
            <a:spLocks noChangeArrowheads="1"/>
          </p:cNvSpPr>
          <p:nvPr/>
        </p:nvSpPr>
        <p:spPr bwMode="auto">
          <a:xfrm>
            <a:off x="4729713" y="3715657"/>
            <a:ext cx="1585913" cy="91598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Fluid displaced to fill void</a:t>
            </a:r>
          </a:p>
        </p:txBody>
      </p:sp>
      <p:sp>
        <p:nvSpPr>
          <p:cNvPr id="18437" name="Rectangle 5"/>
          <p:cNvSpPr>
            <a:spLocks noChangeArrowheads="1"/>
          </p:cNvSpPr>
          <p:nvPr/>
        </p:nvSpPr>
        <p:spPr bwMode="auto">
          <a:xfrm>
            <a:off x="6826250" y="2449513"/>
            <a:ext cx="828675" cy="6096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18438" name="Rectangle 6"/>
          <p:cNvSpPr>
            <a:spLocks noChangeArrowheads="1"/>
          </p:cNvSpPr>
          <p:nvPr/>
        </p:nvSpPr>
        <p:spPr bwMode="auto">
          <a:xfrm>
            <a:off x="7654925" y="2449513"/>
            <a:ext cx="828675" cy="6096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1">
                  <a:gamma/>
                  <a:shade val="46275"/>
                  <a:invGamma/>
                </a:schemeClr>
              </a:gs>
              <a:gs pos="100000">
                <a:schemeClr val="accent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3079" name="Rectangle 8"/>
          <p:cNvSpPr>
            <a:spLocks noChangeArrowheads="1"/>
          </p:cNvSpPr>
          <p:nvPr/>
        </p:nvSpPr>
        <p:spPr bwMode="auto">
          <a:xfrm>
            <a:off x="6072188" y="2373313"/>
            <a:ext cx="2462212" cy="7461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0" name="Rectangle 9"/>
          <p:cNvSpPr>
            <a:spLocks noChangeArrowheads="1"/>
          </p:cNvSpPr>
          <p:nvPr/>
        </p:nvSpPr>
        <p:spPr bwMode="auto">
          <a:xfrm>
            <a:off x="6072188" y="3059113"/>
            <a:ext cx="2462212" cy="61912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100000">
                <a:srgbClr val="C0C0C0"/>
              </a:gs>
            </a:gsLst>
            <a:lin ang="189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1" name="Rectangle 10"/>
          <p:cNvSpPr>
            <a:spLocks noChangeArrowheads="1"/>
          </p:cNvSpPr>
          <p:nvPr/>
        </p:nvSpPr>
        <p:spPr bwMode="auto">
          <a:xfrm>
            <a:off x="5543550" y="2640013"/>
            <a:ext cx="1055688" cy="22860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2" name="Rectangle 11"/>
          <p:cNvSpPr>
            <a:spLocks noChangeArrowheads="1"/>
          </p:cNvSpPr>
          <p:nvPr/>
        </p:nvSpPr>
        <p:spPr bwMode="auto">
          <a:xfrm>
            <a:off x="6599238" y="2449513"/>
            <a:ext cx="227012" cy="609600"/>
          </a:xfrm>
          <a:prstGeom prst="rect">
            <a:avLst/>
          </a:prstGeom>
          <a:gradFill rotWithShape="1">
            <a:gsLst>
              <a:gs pos="0">
                <a:srgbClr val="595959"/>
              </a:gs>
              <a:gs pos="50000">
                <a:srgbClr val="C0C0C0"/>
              </a:gs>
              <a:gs pos="100000">
                <a:srgbClr val="595959"/>
              </a:gs>
            </a:gsLst>
            <a:lin ang="5400000" scaled="1"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pic>
        <p:nvPicPr>
          <p:cNvPr id="3083" name="Picture 1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05663" y="3589338"/>
            <a:ext cx="1177925" cy="132080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3084" name="Text Box 19"/>
          <p:cNvSpPr txBox="1">
            <a:spLocks noChangeArrowheads="1"/>
          </p:cNvSpPr>
          <p:nvPr/>
        </p:nvSpPr>
        <p:spPr bwMode="auto">
          <a:xfrm>
            <a:off x="6727825" y="3605213"/>
            <a:ext cx="452438" cy="2746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200">
                <a:sym typeface="Symbol" pitchFamily="18" charset="2"/>
              </a:rPr>
              <a:t>s</a:t>
            </a:r>
            <a:r>
              <a:rPr lang="en-US" sz="1200" baseline="-25000">
                <a:sym typeface="Symbol" pitchFamily="18" charset="2"/>
              </a:rPr>
              <a:t>max</a:t>
            </a:r>
          </a:p>
        </p:txBody>
      </p:sp>
      <p:sp>
        <p:nvSpPr>
          <p:cNvPr id="3085" name="Text Box 20"/>
          <p:cNvSpPr txBox="1">
            <a:spLocks noChangeArrowheads="1"/>
          </p:cNvSpPr>
          <p:nvPr/>
        </p:nvSpPr>
        <p:spPr bwMode="auto">
          <a:xfrm>
            <a:off x="8180388" y="4119563"/>
            <a:ext cx="257175" cy="2746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200"/>
              <a:t>x</a:t>
            </a:r>
          </a:p>
        </p:txBody>
      </p:sp>
      <p:sp>
        <p:nvSpPr>
          <p:cNvPr id="3086" name="Text Box 22"/>
          <p:cNvSpPr txBox="1">
            <a:spLocks noChangeArrowheads="1"/>
          </p:cNvSpPr>
          <p:nvPr/>
        </p:nvSpPr>
        <p:spPr bwMode="auto">
          <a:xfrm>
            <a:off x="6972300" y="3287713"/>
            <a:ext cx="260350" cy="27463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200"/>
              <a:t>s</a:t>
            </a:r>
          </a:p>
        </p:txBody>
      </p:sp>
      <p:sp>
        <p:nvSpPr>
          <p:cNvPr id="3087" name="Line 13"/>
          <p:cNvSpPr>
            <a:spLocks noChangeShapeType="1"/>
          </p:cNvSpPr>
          <p:nvPr/>
        </p:nvSpPr>
        <p:spPr bwMode="auto">
          <a:xfrm flipV="1">
            <a:off x="7224713" y="2449513"/>
            <a:ext cx="0" cy="2438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8" name="Line 15"/>
          <p:cNvSpPr>
            <a:spLocks noChangeShapeType="1"/>
          </p:cNvSpPr>
          <p:nvPr/>
        </p:nvSpPr>
        <p:spPr bwMode="auto">
          <a:xfrm flipV="1">
            <a:off x="8021638" y="2449513"/>
            <a:ext cx="0" cy="25146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89" name="Line 29"/>
          <p:cNvSpPr>
            <a:spLocks noChangeShapeType="1"/>
          </p:cNvSpPr>
          <p:nvPr/>
        </p:nvSpPr>
        <p:spPr bwMode="auto">
          <a:xfrm flipV="1">
            <a:off x="6199188" y="2906713"/>
            <a:ext cx="684212" cy="68580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90" name="Line 31"/>
          <p:cNvSpPr>
            <a:spLocks noChangeShapeType="1"/>
          </p:cNvSpPr>
          <p:nvPr/>
        </p:nvSpPr>
        <p:spPr bwMode="auto">
          <a:xfrm flipH="1">
            <a:off x="7642225" y="2144713"/>
            <a:ext cx="303213" cy="68580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091" name="Text Box 32"/>
          <p:cNvSpPr txBox="1">
            <a:spLocks noChangeArrowheads="1"/>
          </p:cNvSpPr>
          <p:nvPr/>
        </p:nvSpPr>
        <p:spPr bwMode="auto">
          <a:xfrm>
            <a:off x="7359229" y="1471354"/>
            <a:ext cx="1585912" cy="6413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Propagating rarefaction</a:t>
            </a:r>
          </a:p>
        </p:txBody>
      </p:sp>
      <p:sp>
        <p:nvSpPr>
          <p:cNvPr id="3092" name="Rectangle 35"/>
          <p:cNvSpPr>
            <a:spLocks noChangeArrowheads="1"/>
          </p:cNvSpPr>
          <p:nvPr/>
        </p:nvSpPr>
        <p:spPr bwMode="auto">
          <a:xfrm>
            <a:off x="0" y="3248025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3074" name="Object 34"/>
          <p:cNvGraphicFramePr>
            <a:graphicFrameLocks noChangeAspect="1"/>
          </p:cNvGraphicFramePr>
          <p:nvPr/>
        </p:nvGraphicFramePr>
        <p:xfrm>
          <a:off x="958850" y="3268663"/>
          <a:ext cx="3008313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511280" imgH="228600" progId="Equation.3">
                  <p:embed/>
                </p:oleObj>
              </mc:Choice>
              <mc:Fallback>
                <p:oleObj name="Equation" r:id="rId3" imgW="1511280" imgH="228600" progId="Equation.3">
                  <p:embed/>
                  <p:pic>
                    <p:nvPicPr>
                      <p:cNvPr id="3074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8850" y="3268663"/>
                        <a:ext cx="3008313" cy="457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035668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Rectangle 33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2" name="Group 349"/>
          <p:cNvGrpSpPr>
            <a:grpSpLocks/>
          </p:cNvGrpSpPr>
          <p:nvPr/>
        </p:nvGrpSpPr>
        <p:grpSpPr bwMode="auto">
          <a:xfrm>
            <a:off x="0" y="228600"/>
            <a:ext cx="10115550" cy="6564313"/>
            <a:chOff x="0" y="229344"/>
            <a:chExt cx="10115265" cy="6564135"/>
          </a:xfrm>
        </p:grpSpPr>
        <p:sp>
          <p:nvSpPr>
            <p:cNvPr id="485379" name="Rectangle 41"/>
            <p:cNvSpPr>
              <a:spLocks noChangeArrowheads="1"/>
            </p:cNvSpPr>
            <p:nvPr/>
          </p:nvSpPr>
          <p:spPr bwMode="auto">
            <a:xfrm>
              <a:off x="1317191" y="3752504"/>
              <a:ext cx="3162280" cy="831124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5380" name="Rectangle 41"/>
            <p:cNvSpPr>
              <a:spLocks noChangeArrowheads="1"/>
            </p:cNvSpPr>
            <p:nvPr/>
          </p:nvSpPr>
          <p:spPr bwMode="auto">
            <a:xfrm>
              <a:off x="3238520" y="350718"/>
              <a:ext cx="3162280" cy="831124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04" name="Rectangle 39"/>
            <p:cNvSpPr>
              <a:spLocks noChangeArrowheads="1"/>
            </p:cNvSpPr>
            <p:nvPr/>
          </p:nvSpPr>
          <p:spPr bwMode="auto">
            <a:xfrm>
              <a:off x="708005" y="329354"/>
              <a:ext cx="3054264" cy="800078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85382" name="Rectangle 41"/>
            <p:cNvSpPr>
              <a:spLocks noChangeArrowheads="1"/>
            </p:cNvSpPr>
            <p:nvPr/>
          </p:nvSpPr>
          <p:spPr bwMode="auto">
            <a:xfrm>
              <a:off x="6308289" y="328950"/>
              <a:ext cx="2634337" cy="831124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19" name="Rectangle 39"/>
            <p:cNvSpPr>
              <a:spLocks noChangeArrowheads="1"/>
            </p:cNvSpPr>
            <p:nvPr/>
          </p:nvSpPr>
          <p:spPr bwMode="auto">
            <a:xfrm>
              <a:off x="6743510" y="318242"/>
              <a:ext cx="2986004" cy="830240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120" name="Rectangle 119"/>
            <p:cNvSpPr/>
            <p:nvPr/>
          </p:nvSpPr>
          <p:spPr>
            <a:xfrm>
              <a:off x="477825" y="321417"/>
              <a:ext cx="1744613" cy="81754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85385" name="Rectangle 44"/>
            <p:cNvSpPr>
              <a:spLocks noChangeArrowheads="1"/>
            </p:cNvSpPr>
            <p:nvPr/>
          </p:nvSpPr>
          <p:spPr bwMode="auto">
            <a:xfrm>
              <a:off x="1150889" y="577959"/>
              <a:ext cx="999461" cy="298812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5386" name="Rectangle 45"/>
            <p:cNvSpPr>
              <a:spLocks noChangeArrowheads="1"/>
            </p:cNvSpPr>
            <p:nvPr/>
          </p:nvSpPr>
          <p:spPr bwMode="auto">
            <a:xfrm>
              <a:off x="2150350" y="328949"/>
              <a:ext cx="214170" cy="79683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23" name="Oval 122"/>
            <p:cNvSpPr/>
            <p:nvPr/>
          </p:nvSpPr>
          <p:spPr>
            <a:xfrm>
              <a:off x="2460556" y="759555"/>
              <a:ext cx="114297" cy="147634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4" name="Oval 123"/>
            <p:cNvSpPr/>
            <p:nvPr/>
          </p:nvSpPr>
          <p:spPr>
            <a:xfrm>
              <a:off x="2484368" y="591284"/>
              <a:ext cx="114297" cy="14763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6" name="Oval 125"/>
            <p:cNvSpPr/>
            <p:nvPr/>
          </p:nvSpPr>
          <p:spPr>
            <a:xfrm>
              <a:off x="2471668" y="413489"/>
              <a:ext cx="114297" cy="146046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8" name="Oval 127"/>
            <p:cNvSpPr/>
            <p:nvPr/>
          </p:nvSpPr>
          <p:spPr>
            <a:xfrm>
              <a:off x="2493893" y="986561"/>
              <a:ext cx="114297" cy="146046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130" name="Straight Connector 129"/>
            <p:cNvCxnSpPr/>
            <p:nvPr/>
          </p:nvCxnSpPr>
          <p:spPr>
            <a:xfrm>
              <a:off x="1360450" y="2169216"/>
              <a:ext cx="7837266" cy="1587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Rectangle 130"/>
            <p:cNvSpPr/>
            <p:nvPr/>
          </p:nvSpPr>
          <p:spPr>
            <a:xfrm>
              <a:off x="3800368" y="2199379"/>
              <a:ext cx="238118" cy="750867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2" name="Rectangle 131"/>
            <p:cNvSpPr/>
            <p:nvPr/>
          </p:nvSpPr>
          <p:spPr>
            <a:xfrm>
              <a:off x="4278192" y="2199379"/>
              <a:ext cx="266692" cy="47306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3" name="Rectangle 132"/>
            <p:cNvSpPr/>
            <p:nvPr/>
          </p:nvSpPr>
          <p:spPr>
            <a:xfrm flipV="1">
              <a:off x="4790940" y="2218428"/>
              <a:ext cx="276217" cy="225419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5302101" y="2134292"/>
              <a:ext cx="238118" cy="101597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5" name="Rectangle 134"/>
            <p:cNvSpPr/>
            <p:nvPr/>
          </p:nvSpPr>
          <p:spPr>
            <a:xfrm>
              <a:off x="5878347" y="2035870"/>
              <a:ext cx="266692" cy="182558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6324422" y="1710442"/>
              <a:ext cx="190495" cy="507986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7" name="Rectangle 136"/>
            <p:cNvSpPr/>
            <p:nvPr/>
          </p:nvSpPr>
          <p:spPr>
            <a:xfrm>
              <a:off x="6819708" y="1513597"/>
              <a:ext cx="234943" cy="704831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8" name="Rectangle 137"/>
            <p:cNvSpPr/>
            <p:nvPr/>
          </p:nvSpPr>
          <p:spPr>
            <a:xfrm>
              <a:off x="7249909" y="1758066"/>
              <a:ext cx="233355" cy="460363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9" name="Rectangle 138"/>
            <p:cNvSpPr/>
            <p:nvPr/>
          </p:nvSpPr>
          <p:spPr>
            <a:xfrm flipV="1">
              <a:off x="7713446" y="1983484"/>
              <a:ext cx="276217" cy="192082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0" name="Rectangle 139"/>
            <p:cNvSpPr/>
            <p:nvPr/>
          </p:nvSpPr>
          <p:spPr>
            <a:xfrm>
              <a:off x="8143646" y="2146992"/>
              <a:ext cx="227007" cy="7143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1" name="Rectangle 140"/>
            <p:cNvSpPr/>
            <p:nvPr/>
          </p:nvSpPr>
          <p:spPr>
            <a:xfrm>
              <a:off x="8588133" y="2146992"/>
              <a:ext cx="246056" cy="269868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2" name="Rectangle 141"/>
            <p:cNvSpPr/>
            <p:nvPr/>
          </p:nvSpPr>
          <p:spPr>
            <a:xfrm flipV="1">
              <a:off x="1965270" y="1970785"/>
              <a:ext cx="276217" cy="203194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4" name="Rectangle 143"/>
            <p:cNvSpPr/>
            <p:nvPr/>
          </p:nvSpPr>
          <p:spPr>
            <a:xfrm>
              <a:off x="2406582" y="2148580"/>
              <a:ext cx="253993" cy="92073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2814559" y="2145405"/>
              <a:ext cx="228594" cy="266693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9" name="Rectangle 148"/>
            <p:cNvSpPr/>
            <p:nvPr/>
          </p:nvSpPr>
          <p:spPr>
            <a:xfrm>
              <a:off x="3282858" y="2145405"/>
              <a:ext cx="314316" cy="560372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0" name="Oval 149"/>
            <p:cNvSpPr/>
            <p:nvPr/>
          </p:nvSpPr>
          <p:spPr>
            <a:xfrm>
              <a:off x="6362521" y="689707"/>
              <a:ext cx="114297" cy="146046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1" name="Oval 150"/>
            <p:cNvSpPr/>
            <p:nvPr/>
          </p:nvSpPr>
          <p:spPr>
            <a:xfrm>
              <a:off x="5340200" y="672245"/>
              <a:ext cx="114297" cy="147633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2" name="Oval 151"/>
            <p:cNvSpPr/>
            <p:nvPr/>
          </p:nvSpPr>
          <p:spPr>
            <a:xfrm flipH="1">
              <a:off x="8256355" y="907189"/>
              <a:ext cx="114297" cy="14604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362" name="Rectangle 361"/>
            <p:cNvSpPr/>
            <p:nvPr/>
          </p:nvSpPr>
          <p:spPr>
            <a:xfrm>
              <a:off x="8865938" y="234107"/>
              <a:ext cx="1249327" cy="10397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3" name="Oval 152"/>
            <p:cNvSpPr/>
            <p:nvPr/>
          </p:nvSpPr>
          <p:spPr>
            <a:xfrm flipH="1">
              <a:off x="8202382" y="432538"/>
              <a:ext cx="114297" cy="147634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4" name="Oval 153"/>
            <p:cNvSpPr/>
            <p:nvPr/>
          </p:nvSpPr>
          <p:spPr>
            <a:xfrm flipH="1">
              <a:off x="7413416" y="645258"/>
              <a:ext cx="114297" cy="14763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8" name="Oval 217"/>
            <p:cNvSpPr/>
            <p:nvPr/>
          </p:nvSpPr>
          <p:spPr>
            <a:xfrm flipH="1">
              <a:off x="2557391" y="802416"/>
              <a:ext cx="114297" cy="146046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9" name="Oval 218"/>
            <p:cNvSpPr/>
            <p:nvPr/>
          </p:nvSpPr>
          <p:spPr>
            <a:xfrm flipH="1">
              <a:off x="3320956" y="691294"/>
              <a:ext cx="114297" cy="147633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0" name="Oval 219"/>
            <p:cNvSpPr/>
            <p:nvPr/>
          </p:nvSpPr>
          <p:spPr>
            <a:xfrm flipH="1">
              <a:off x="4289304" y="715106"/>
              <a:ext cx="114297" cy="146046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1" name="Oval 220"/>
            <p:cNvSpPr/>
            <p:nvPr/>
          </p:nvSpPr>
          <p:spPr>
            <a:xfrm>
              <a:off x="8338903" y="546835"/>
              <a:ext cx="114297" cy="147634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2" name="Oval 221"/>
            <p:cNvSpPr/>
            <p:nvPr/>
          </p:nvSpPr>
          <p:spPr>
            <a:xfrm>
              <a:off x="8245243" y="710344"/>
              <a:ext cx="114297" cy="14763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3" name="Oval 222"/>
            <p:cNvSpPr/>
            <p:nvPr/>
          </p:nvSpPr>
          <p:spPr>
            <a:xfrm>
              <a:off x="8350015" y="808766"/>
              <a:ext cx="114297" cy="147633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grpSp>
          <p:nvGrpSpPr>
            <p:cNvPr id="3" name="Group 332"/>
            <p:cNvGrpSpPr>
              <a:grpSpLocks/>
            </p:cNvGrpSpPr>
            <p:nvPr/>
          </p:nvGrpSpPr>
          <p:grpSpPr bwMode="auto">
            <a:xfrm>
              <a:off x="1926771" y="1585004"/>
              <a:ext cx="7017400" cy="1365709"/>
              <a:chOff x="1103665" y="397777"/>
              <a:chExt cx="7252679" cy="1452358"/>
            </a:xfrm>
          </p:grpSpPr>
          <p:sp>
            <p:nvSpPr>
              <p:cNvPr id="485543" name="Line 23"/>
              <p:cNvSpPr>
                <a:spLocks noChangeShapeType="1"/>
              </p:cNvSpPr>
              <p:nvPr/>
            </p:nvSpPr>
            <p:spPr bwMode="auto">
              <a:xfrm>
                <a:off x="1103665" y="748468"/>
                <a:ext cx="100365" cy="6376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44" name="Line 24"/>
              <p:cNvSpPr>
                <a:spLocks noChangeShapeType="1"/>
              </p:cNvSpPr>
              <p:nvPr/>
            </p:nvSpPr>
            <p:spPr bwMode="auto">
              <a:xfrm>
                <a:off x="1204030" y="812230"/>
                <a:ext cx="100365" cy="6730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45" name="Line 25"/>
              <p:cNvSpPr>
                <a:spLocks noChangeShapeType="1"/>
              </p:cNvSpPr>
              <p:nvPr/>
            </p:nvSpPr>
            <p:spPr bwMode="auto">
              <a:xfrm>
                <a:off x="1304394" y="879535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46" name="Line 26"/>
              <p:cNvSpPr>
                <a:spLocks noChangeShapeType="1"/>
              </p:cNvSpPr>
              <p:nvPr/>
            </p:nvSpPr>
            <p:spPr bwMode="auto">
              <a:xfrm>
                <a:off x="1404760" y="950381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47" name="Line 27"/>
              <p:cNvSpPr>
                <a:spLocks noChangeShapeType="1"/>
              </p:cNvSpPr>
              <p:nvPr/>
            </p:nvSpPr>
            <p:spPr bwMode="auto">
              <a:xfrm>
                <a:off x="1505125" y="1021229"/>
                <a:ext cx="100365" cy="7438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48" name="Line 28"/>
              <p:cNvSpPr>
                <a:spLocks noChangeShapeType="1"/>
              </p:cNvSpPr>
              <p:nvPr/>
            </p:nvSpPr>
            <p:spPr bwMode="auto">
              <a:xfrm>
                <a:off x="1605489" y="1095617"/>
                <a:ext cx="95082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49" name="Line 29"/>
              <p:cNvSpPr>
                <a:spLocks noChangeShapeType="1"/>
              </p:cNvSpPr>
              <p:nvPr/>
            </p:nvSpPr>
            <p:spPr bwMode="auto">
              <a:xfrm>
                <a:off x="1700572" y="1166464"/>
                <a:ext cx="100365" cy="7438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50" name="Line 30"/>
              <p:cNvSpPr>
                <a:spLocks noChangeShapeType="1"/>
              </p:cNvSpPr>
              <p:nvPr/>
            </p:nvSpPr>
            <p:spPr bwMode="auto">
              <a:xfrm>
                <a:off x="1800936" y="1240853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51" name="Line 31"/>
              <p:cNvSpPr>
                <a:spLocks noChangeShapeType="1"/>
              </p:cNvSpPr>
              <p:nvPr/>
            </p:nvSpPr>
            <p:spPr bwMode="auto">
              <a:xfrm>
                <a:off x="1901301" y="1311700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52" name="Line 32"/>
              <p:cNvSpPr>
                <a:spLocks noChangeShapeType="1"/>
              </p:cNvSpPr>
              <p:nvPr/>
            </p:nvSpPr>
            <p:spPr bwMode="auto">
              <a:xfrm>
                <a:off x="2001665" y="1382546"/>
                <a:ext cx="100365" cy="6730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53" name="Line 33"/>
              <p:cNvSpPr>
                <a:spLocks noChangeShapeType="1"/>
              </p:cNvSpPr>
              <p:nvPr/>
            </p:nvSpPr>
            <p:spPr bwMode="auto">
              <a:xfrm>
                <a:off x="2102032" y="1449851"/>
                <a:ext cx="95082" cy="6376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54" name="Line 34"/>
              <p:cNvSpPr>
                <a:spLocks noChangeShapeType="1"/>
              </p:cNvSpPr>
              <p:nvPr/>
            </p:nvSpPr>
            <p:spPr bwMode="auto">
              <a:xfrm>
                <a:off x="2197114" y="1513613"/>
                <a:ext cx="100365" cy="602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55" name="Line 35"/>
              <p:cNvSpPr>
                <a:spLocks noChangeShapeType="1"/>
              </p:cNvSpPr>
              <p:nvPr/>
            </p:nvSpPr>
            <p:spPr bwMode="auto">
              <a:xfrm>
                <a:off x="2297478" y="1573832"/>
                <a:ext cx="100365" cy="5313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56" name="Line 36"/>
              <p:cNvSpPr>
                <a:spLocks noChangeShapeType="1"/>
              </p:cNvSpPr>
              <p:nvPr/>
            </p:nvSpPr>
            <p:spPr bwMode="auto">
              <a:xfrm>
                <a:off x="2397843" y="1626967"/>
                <a:ext cx="100365" cy="5313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57" name="Line 37"/>
              <p:cNvSpPr>
                <a:spLocks noChangeShapeType="1"/>
              </p:cNvSpPr>
              <p:nvPr/>
            </p:nvSpPr>
            <p:spPr bwMode="auto">
              <a:xfrm>
                <a:off x="2498208" y="1680102"/>
                <a:ext cx="100365" cy="4250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58" name="Line 38"/>
              <p:cNvSpPr>
                <a:spLocks noChangeShapeType="1"/>
              </p:cNvSpPr>
              <p:nvPr/>
            </p:nvSpPr>
            <p:spPr bwMode="auto">
              <a:xfrm>
                <a:off x="2598572" y="1722610"/>
                <a:ext cx="95082" cy="3896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59" name="Line 39"/>
              <p:cNvSpPr>
                <a:spLocks noChangeShapeType="1"/>
              </p:cNvSpPr>
              <p:nvPr/>
            </p:nvSpPr>
            <p:spPr bwMode="auto">
              <a:xfrm>
                <a:off x="2693656" y="1761577"/>
                <a:ext cx="100365" cy="31881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60" name="Line 40"/>
              <p:cNvSpPr>
                <a:spLocks noChangeShapeType="1"/>
              </p:cNvSpPr>
              <p:nvPr/>
            </p:nvSpPr>
            <p:spPr bwMode="auto">
              <a:xfrm>
                <a:off x="2794021" y="1793457"/>
                <a:ext cx="100365" cy="24796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61" name="Line 41"/>
              <p:cNvSpPr>
                <a:spLocks noChangeShapeType="1"/>
              </p:cNvSpPr>
              <p:nvPr/>
            </p:nvSpPr>
            <p:spPr bwMode="auto">
              <a:xfrm>
                <a:off x="2894385" y="1818253"/>
                <a:ext cx="100365" cy="1771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62" name="Line 42"/>
              <p:cNvSpPr>
                <a:spLocks noChangeShapeType="1"/>
              </p:cNvSpPr>
              <p:nvPr/>
            </p:nvSpPr>
            <p:spPr bwMode="auto">
              <a:xfrm>
                <a:off x="2994750" y="1835965"/>
                <a:ext cx="100365" cy="1062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63" name="Line 43"/>
              <p:cNvSpPr>
                <a:spLocks noChangeShapeType="1"/>
              </p:cNvSpPr>
              <p:nvPr/>
            </p:nvSpPr>
            <p:spPr bwMode="auto">
              <a:xfrm>
                <a:off x="3095114" y="1846593"/>
                <a:ext cx="100365" cy="354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64" name="Line 44"/>
              <p:cNvSpPr>
                <a:spLocks noChangeShapeType="1"/>
              </p:cNvSpPr>
              <p:nvPr/>
            </p:nvSpPr>
            <p:spPr bwMode="auto">
              <a:xfrm flipV="1">
                <a:off x="3195479" y="1846593"/>
                <a:ext cx="95082" cy="354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65" name="Line 45"/>
              <p:cNvSpPr>
                <a:spLocks noChangeShapeType="1"/>
              </p:cNvSpPr>
              <p:nvPr/>
            </p:nvSpPr>
            <p:spPr bwMode="auto">
              <a:xfrm flipV="1">
                <a:off x="3290561" y="1835965"/>
                <a:ext cx="100365" cy="1062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66" name="Line 46"/>
              <p:cNvSpPr>
                <a:spLocks noChangeShapeType="1"/>
              </p:cNvSpPr>
              <p:nvPr/>
            </p:nvSpPr>
            <p:spPr bwMode="auto">
              <a:xfrm flipV="1">
                <a:off x="3390927" y="1814711"/>
                <a:ext cx="100365" cy="2125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67" name="Line 47"/>
              <p:cNvSpPr>
                <a:spLocks noChangeShapeType="1"/>
              </p:cNvSpPr>
              <p:nvPr/>
            </p:nvSpPr>
            <p:spPr bwMode="auto">
              <a:xfrm flipV="1">
                <a:off x="3491292" y="1789915"/>
                <a:ext cx="100365" cy="24796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68" name="Line 48"/>
              <p:cNvSpPr>
                <a:spLocks noChangeShapeType="1"/>
              </p:cNvSpPr>
              <p:nvPr/>
            </p:nvSpPr>
            <p:spPr bwMode="auto">
              <a:xfrm flipV="1">
                <a:off x="3591657" y="1758034"/>
                <a:ext cx="100365" cy="31881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69" name="Line 49"/>
              <p:cNvSpPr>
                <a:spLocks noChangeShapeType="1"/>
              </p:cNvSpPr>
              <p:nvPr/>
            </p:nvSpPr>
            <p:spPr bwMode="auto">
              <a:xfrm flipV="1">
                <a:off x="3692021" y="1719068"/>
                <a:ext cx="95082" cy="3896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70" name="Line 50"/>
              <p:cNvSpPr>
                <a:spLocks noChangeShapeType="1"/>
              </p:cNvSpPr>
              <p:nvPr/>
            </p:nvSpPr>
            <p:spPr bwMode="auto">
              <a:xfrm flipV="1">
                <a:off x="3787103" y="1673017"/>
                <a:ext cx="100365" cy="4605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71" name="Line 51"/>
              <p:cNvSpPr>
                <a:spLocks noChangeShapeType="1"/>
              </p:cNvSpPr>
              <p:nvPr/>
            </p:nvSpPr>
            <p:spPr bwMode="auto">
              <a:xfrm flipV="1">
                <a:off x="3887468" y="1623425"/>
                <a:ext cx="100365" cy="4959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72" name="Line 52"/>
              <p:cNvSpPr>
                <a:spLocks noChangeShapeType="1"/>
              </p:cNvSpPr>
              <p:nvPr/>
            </p:nvSpPr>
            <p:spPr bwMode="auto">
              <a:xfrm flipV="1">
                <a:off x="3987833" y="1566747"/>
                <a:ext cx="100365" cy="5667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73" name="Line 53"/>
              <p:cNvSpPr>
                <a:spLocks noChangeShapeType="1"/>
              </p:cNvSpPr>
              <p:nvPr/>
            </p:nvSpPr>
            <p:spPr bwMode="auto">
              <a:xfrm flipV="1">
                <a:off x="4088199" y="1506528"/>
                <a:ext cx="100365" cy="602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74" name="Line 54"/>
              <p:cNvSpPr>
                <a:spLocks noChangeShapeType="1"/>
              </p:cNvSpPr>
              <p:nvPr/>
            </p:nvSpPr>
            <p:spPr bwMode="auto">
              <a:xfrm flipV="1">
                <a:off x="4188563" y="1442766"/>
                <a:ext cx="95082" cy="6376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75" name="Line 55"/>
              <p:cNvSpPr>
                <a:spLocks noChangeShapeType="1"/>
              </p:cNvSpPr>
              <p:nvPr/>
            </p:nvSpPr>
            <p:spPr bwMode="auto">
              <a:xfrm flipV="1">
                <a:off x="4283646" y="1375461"/>
                <a:ext cx="100365" cy="6730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76" name="Line 56"/>
              <p:cNvSpPr>
                <a:spLocks noChangeShapeType="1"/>
              </p:cNvSpPr>
              <p:nvPr/>
            </p:nvSpPr>
            <p:spPr bwMode="auto">
              <a:xfrm flipV="1">
                <a:off x="4384010" y="1304615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77" name="Line 57"/>
              <p:cNvSpPr>
                <a:spLocks noChangeShapeType="1"/>
              </p:cNvSpPr>
              <p:nvPr/>
            </p:nvSpPr>
            <p:spPr bwMode="auto">
              <a:xfrm flipV="1">
                <a:off x="4484375" y="1233768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78" name="Line 58"/>
              <p:cNvSpPr>
                <a:spLocks noChangeShapeType="1"/>
              </p:cNvSpPr>
              <p:nvPr/>
            </p:nvSpPr>
            <p:spPr bwMode="auto">
              <a:xfrm flipV="1">
                <a:off x="4584739" y="1159379"/>
                <a:ext cx="100365" cy="7438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79" name="Line 59"/>
              <p:cNvSpPr>
                <a:spLocks noChangeShapeType="1"/>
              </p:cNvSpPr>
              <p:nvPr/>
            </p:nvSpPr>
            <p:spPr bwMode="auto">
              <a:xfrm flipV="1">
                <a:off x="4685104" y="1088532"/>
                <a:ext cx="95082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80" name="Line 60"/>
              <p:cNvSpPr>
                <a:spLocks noChangeShapeType="1"/>
              </p:cNvSpPr>
              <p:nvPr/>
            </p:nvSpPr>
            <p:spPr bwMode="auto">
              <a:xfrm flipV="1">
                <a:off x="4780188" y="1014144"/>
                <a:ext cx="100365" cy="7438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81" name="Line 61"/>
              <p:cNvSpPr>
                <a:spLocks noChangeShapeType="1"/>
              </p:cNvSpPr>
              <p:nvPr/>
            </p:nvSpPr>
            <p:spPr bwMode="auto">
              <a:xfrm flipV="1">
                <a:off x="4880552" y="943296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82" name="Line 62"/>
              <p:cNvSpPr>
                <a:spLocks noChangeShapeType="1"/>
              </p:cNvSpPr>
              <p:nvPr/>
            </p:nvSpPr>
            <p:spPr bwMode="auto">
              <a:xfrm flipV="1">
                <a:off x="4980917" y="872450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83" name="Line 63"/>
              <p:cNvSpPr>
                <a:spLocks noChangeShapeType="1"/>
              </p:cNvSpPr>
              <p:nvPr/>
            </p:nvSpPr>
            <p:spPr bwMode="auto">
              <a:xfrm flipV="1">
                <a:off x="5081282" y="805146"/>
                <a:ext cx="100365" cy="6730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84" name="Line 64"/>
              <p:cNvSpPr>
                <a:spLocks noChangeShapeType="1"/>
              </p:cNvSpPr>
              <p:nvPr/>
            </p:nvSpPr>
            <p:spPr bwMode="auto">
              <a:xfrm flipV="1">
                <a:off x="5181646" y="741383"/>
                <a:ext cx="95082" cy="6376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85" name="Line 65"/>
              <p:cNvSpPr>
                <a:spLocks noChangeShapeType="1"/>
              </p:cNvSpPr>
              <p:nvPr/>
            </p:nvSpPr>
            <p:spPr bwMode="auto">
              <a:xfrm flipV="1">
                <a:off x="5276728" y="681164"/>
                <a:ext cx="100365" cy="602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86" name="Line 66"/>
              <p:cNvSpPr>
                <a:spLocks noChangeShapeType="1"/>
              </p:cNvSpPr>
              <p:nvPr/>
            </p:nvSpPr>
            <p:spPr bwMode="auto">
              <a:xfrm flipV="1">
                <a:off x="5377093" y="624487"/>
                <a:ext cx="100365" cy="5667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87" name="Line 67"/>
              <p:cNvSpPr>
                <a:spLocks noChangeShapeType="1"/>
              </p:cNvSpPr>
              <p:nvPr/>
            </p:nvSpPr>
            <p:spPr bwMode="auto">
              <a:xfrm flipV="1">
                <a:off x="5477459" y="574894"/>
                <a:ext cx="100365" cy="4959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88" name="Line 68"/>
              <p:cNvSpPr>
                <a:spLocks noChangeShapeType="1"/>
              </p:cNvSpPr>
              <p:nvPr/>
            </p:nvSpPr>
            <p:spPr bwMode="auto">
              <a:xfrm flipV="1">
                <a:off x="5577824" y="528844"/>
                <a:ext cx="95082" cy="4605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89" name="Line 69"/>
              <p:cNvSpPr>
                <a:spLocks noChangeShapeType="1"/>
              </p:cNvSpPr>
              <p:nvPr/>
            </p:nvSpPr>
            <p:spPr bwMode="auto">
              <a:xfrm flipV="1">
                <a:off x="5672906" y="489878"/>
                <a:ext cx="100365" cy="3896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90" name="Line 70"/>
              <p:cNvSpPr>
                <a:spLocks noChangeShapeType="1"/>
              </p:cNvSpPr>
              <p:nvPr/>
            </p:nvSpPr>
            <p:spPr bwMode="auto">
              <a:xfrm flipV="1">
                <a:off x="5773271" y="457997"/>
                <a:ext cx="100365" cy="31881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91" name="Line 71"/>
              <p:cNvSpPr>
                <a:spLocks noChangeShapeType="1"/>
              </p:cNvSpPr>
              <p:nvPr/>
            </p:nvSpPr>
            <p:spPr bwMode="auto">
              <a:xfrm flipV="1">
                <a:off x="5873635" y="433201"/>
                <a:ext cx="100365" cy="24796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92" name="Line 72"/>
              <p:cNvSpPr>
                <a:spLocks noChangeShapeType="1"/>
              </p:cNvSpPr>
              <p:nvPr/>
            </p:nvSpPr>
            <p:spPr bwMode="auto">
              <a:xfrm flipV="1">
                <a:off x="5974000" y="411946"/>
                <a:ext cx="100365" cy="2125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93" name="Line 73"/>
              <p:cNvSpPr>
                <a:spLocks noChangeShapeType="1"/>
              </p:cNvSpPr>
              <p:nvPr/>
            </p:nvSpPr>
            <p:spPr bwMode="auto">
              <a:xfrm flipV="1">
                <a:off x="6074364" y="401319"/>
                <a:ext cx="100365" cy="1062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94" name="Line 74"/>
              <p:cNvSpPr>
                <a:spLocks noChangeShapeType="1"/>
              </p:cNvSpPr>
              <p:nvPr/>
            </p:nvSpPr>
            <p:spPr bwMode="auto">
              <a:xfrm flipV="1">
                <a:off x="6174730" y="397777"/>
                <a:ext cx="95082" cy="354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95" name="Line 75"/>
              <p:cNvSpPr>
                <a:spLocks noChangeShapeType="1"/>
              </p:cNvSpPr>
              <p:nvPr/>
            </p:nvSpPr>
            <p:spPr bwMode="auto">
              <a:xfrm>
                <a:off x="6269813" y="397777"/>
                <a:ext cx="100365" cy="354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96" name="Line 76"/>
              <p:cNvSpPr>
                <a:spLocks noChangeShapeType="1"/>
              </p:cNvSpPr>
              <p:nvPr/>
            </p:nvSpPr>
            <p:spPr bwMode="auto">
              <a:xfrm>
                <a:off x="6370177" y="401319"/>
                <a:ext cx="100365" cy="1062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97" name="Line 77"/>
              <p:cNvSpPr>
                <a:spLocks noChangeShapeType="1"/>
              </p:cNvSpPr>
              <p:nvPr/>
            </p:nvSpPr>
            <p:spPr bwMode="auto">
              <a:xfrm>
                <a:off x="6470542" y="411946"/>
                <a:ext cx="100365" cy="1771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98" name="Line 78"/>
              <p:cNvSpPr>
                <a:spLocks noChangeShapeType="1"/>
              </p:cNvSpPr>
              <p:nvPr/>
            </p:nvSpPr>
            <p:spPr bwMode="auto">
              <a:xfrm>
                <a:off x="6570906" y="429658"/>
                <a:ext cx="100365" cy="24796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99" name="Line 79"/>
              <p:cNvSpPr>
                <a:spLocks noChangeShapeType="1"/>
              </p:cNvSpPr>
              <p:nvPr/>
            </p:nvSpPr>
            <p:spPr bwMode="auto">
              <a:xfrm>
                <a:off x="6671271" y="454454"/>
                <a:ext cx="95082" cy="31881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600" name="Line 80"/>
              <p:cNvSpPr>
                <a:spLocks noChangeShapeType="1"/>
              </p:cNvSpPr>
              <p:nvPr/>
            </p:nvSpPr>
            <p:spPr bwMode="auto">
              <a:xfrm>
                <a:off x="6766353" y="486336"/>
                <a:ext cx="100365" cy="3896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601" name="Line 81"/>
              <p:cNvSpPr>
                <a:spLocks noChangeShapeType="1"/>
              </p:cNvSpPr>
              <p:nvPr/>
            </p:nvSpPr>
            <p:spPr bwMode="auto">
              <a:xfrm>
                <a:off x="6866719" y="525301"/>
                <a:ext cx="100365" cy="4250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602" name="Line 82"/>
              <p:cNvSpPr>
                <a:spLocks noChangeShapeType="1"/>
              </p:cNvSpPr>
              <p:nvPr/>
            </p:nvSpPr>
            <p:spPr bwMode="auto">
              <a:xfrm>
                <a:off x="6967084" y="567809"/>
                <a:ext cx="100365" cy="4959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603" name="Line 83"/>
              <p:cNvSpPr>
                <a:spLocks noChangeShapeType="1"/>
              </p:cNvSpPr>
              <p:nvPr/>
            </p:nvSpPr>
            <p:spPr bwMode="auto">
              <a:xfrm>
                <a:off x="7067449" y="617402"/>
                <a:ext cx="100365" cy="5667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604" name="Line 84"/>
              <p:cNvSpPr>
                <a:spLocks noChangeShapeType="1"/>
              </p:cNvSpPr>
              <p:nvPr/>
            </p:nvSpPr>
            <p:spPr bwMode="auto">
              <a:xfrm>
                <a:off x="7167813" y="674080"/>
                <a:ext cx="95082" cy="602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605" name="Line 85"/>
              <p:cNvSpPr>
                <a:spLocks noChangeShapeType="1"/>
              </p:cNvSpPr>
              <p:nvPr/>
            </p:nvSpPr>
            <p:spPr bwMode="auto">
              <a:xfrm>
                <a:off x="7262895" y="734300"/>
                <a:ext cx="100365" cy="6376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606" name="Line 86"/>
              <p:cNvSpPr>
                <a:spLocks noChangeShapeType="1"/>
              </p:cNvSpPr>
              <p:nvPr/>
            </p:nvSpPr>
            <p:spPr bwMode="auto">
              <a:xfrm>
                <a:off x="7363260" y="798061"/>
                <a:ext cx="100365" cy="6730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607" name="Line 87"/>
              <p:cNvSpPr>
                <a:spLocks noChangeShapeType="1"/>
              </p:cNvSpPr>
              <p:nvPr/>
            </p:nvSpPr>
            <p:spPr bwMode="auto">
              <a:xfrm>
                <a:off x="7463626" y="865366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608" name="Line 88"/>
              <p:cNvSpPr>
                <a:spLocks noChangeShapeType="1"/>
              </p:cNvSpPr>
              <p:nvPr/>
            </p:nvSpPr>
            <p:spPr bwMode="auto">
              <a:xfrm>
                <a:off x="7563991" y="936212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609" name="Line 89"/>
              <p:cNvSpPr>
                <a:spLocks noChangeShapeType="1"/>
              </p:cNvSpPr>
              <p:nvPr/>
            </p:nvSpPr>
            <p:spPr bwMode="auto">
              <a:xfrm>
                <a:off x="7664355" y="1007059"/>
                <a:ext cx="100365" cy="7438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610" name="Line 90"/>
              <p:cNvSpPr>
                <a:spLocks noChangeShapeType="1"/>
              </p:cNvSpPr>
              <p:nvPr/>
            </p:nvSpPr>
            <p:spPr bwMode="auto">
              <a:xfrm>
                <a:off x="7764720" y="1081447"/>
                <a:ext cx="95082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611" name="Line 91"/>
              <p:cNvSpPr>
                <a:spLocks noChangeShapeType="1"/>
              </p:cNvSpPr>
              <p:nvPr/>
            </p:nvSpPr>
            <p:spPr bwMode="auto">
              <a:xfrm>
                <a:off x="7859802" y="1152295"/>
                <a:ext cx="100365" cy="7438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612" name="Line 92"/>
              <p:cNvSpPr>
                <a:spLocks noChangeShapeType="1"/>
              </p:cNvSpPr>
              <p:nvPr/>
            </p:nvSpPr>
            <p:spPr bwMode="auto">
              <a:xfrm>
                <a:off x="7960167" y="1226683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613" name="Line 93"/>
              <p:cNvSpPr>
                <a:spLocks noChangeShapeType="1"/>
              </p:cNvSpPr>
              <p:nvPr/>
            </p:nvSpPr>
            <p:spPr bwMode="auto">
              <a:xfrm>
                <a:off x="8060531" y="1297530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614" name="Line 94"/>
              <p:cNvSpPr>
                <a:spLocks noChangeShapeType="1"/>
              </p:cNvSpPr>
              <p:nvPr/>
            </p:nvSpPr>
            <p:spPr bwMode="auto">
              <a:xfrm>
                <a:off x="8160898" y="1368378"/>
                <a:ext cx="100365" cy="6730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615" name="Line 95"/>
              <p:cNvSpPr>
                <a:spLocks noChangeShapeType="1"/>
              </p:cNvSpPr>
              <p:nvPr/>
            </p:nvSpPr>
            <p:spPr bwMode="auto">
              <a:xfrm>
                <a:off x="8261262" y="1435681"/>
                <a:ext cx="95082" cy="6376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</p:grpSp>
        <p:sp>
          <p:nvSpPr>
            <p:cNvPr id="485420" name="Rectangle 41"/>
            <p:cNvSpPr>
              <a:spLocks noChangeArrowheads="1"/>
            </p:cNvSpPr>
            <p:nvPr/>
          </p:nvSpPr>
          <p:spPr bwMode="auto">
            <a:xfrm>
              <a:off x="3243959" y="3785247"/>
              <a:ext cx="2900958" cy="831124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5421" name="Rectangle 41"/>
            <p:cNvSpPr>
              <a:spLocks noChangeArrowheads="1"/>
            </p:cNvSpPr>
            <p:nvPr/>
          </p:nvSpPr>
          <p:spPr bwMode="auto">
            <a:xfrm>
              <a:off x="6313728" y="3763479"/>
              <a:ext cx="2634337" cy="831124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45" name="Rectangle 39"/>
            <p:cNvSpPr>
              <a:spLocks noChangeArrowheads="1"/>
            </p:cNvSpPr>
            <p:nvPr/>
          </p:nvSpPr>
          <p:spPr bwMode="auto">
            <a:xfrm>
              <a:off x="4152783" y="3751911"/>
              <a:ext cx="2986004" cy="831827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146" name="Rectangle 145"/>
            <p:cNvSpPr/>
            <p:nvPr/>
          </p:nvSpPr>
          <p:spPr>
            <a:xfrm>
              <a:off x="0" y="3756673"/>
              <a:ext cx="1249328" cy="8159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85424" name="Rectangle 44"/>
            <p:cNvSpPr>
              <a:spLocks noChangeArrowheads="1"/>
            </p:cNvSpPr>
            <p:nvPr/>
          </p:nvSpPr>
          <p:spPr bwMode="auto">
            <a:xfrm>
              <a:off x="176588" y="4012488"/>
              <a:ext cx="999461" cy="298812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5425" name="Rectangle 45"/>
            <p:cNvSpPr>
              <a:spLocks noChangeArrowheads="1"/>
            </p:cNvSpPr>
            <p:nvPr/>
          </p:nvSpPr>
          <p:spPr bwMode="auto">
            <a:xfrm>
              <a:off x="1176049" y="3763478"/>
              <a:ext cx="214170" cy="79683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56" name="Oval 155"/>
            <p:cNvSpPr/>
            <p:nvPr/>
          </p:nvSpPr>
          <p:spPr>
            <a:xfrm>
              <a:off x="1681116" y="4161475"/>
              <a:ext cx="114297" cy="147633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7" name="Oval 156"/>
            <p:cNvSpPr/>
            <p:nvPr/>
          </p:nvSpPr>
          <p:spPr>
            <a:xfrm>
              <a:off x="2489130" y="4024954"/>
              <a:ext cx="114297" cy="147633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8" name="Oval 157"/>
            <p:cNvSpPr/>
            <p:nvPr/>
          </p:nvSpPr>
          <p:spPr>
            <a:xfrm>
              <a:off x="3359055" y="4109089"/>
              <a:ext cx="114297" cy="146046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85429" name="Rectangle 43"/>
            <p:cNvSpPr>
              <a:spLocks noChangeArrowheads="1"/>
            </p:cNvSpPr>
            <p:nvPr/>
          </p:nvSpPr>
          <p:spPr bwMode="auto">
            <a:xfrm>
              <a:off x="1201868" y="4560310"/>
              <a:ext cx="7727044" cy="13226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60" name="Oval 159"/>
            <p:cNvSpPr/>
            <p:nvPr/>
          </p:nvSpPr>
          <p:spPr>
            <a:xfrm>
              <a:off x="4263905" y="4044004"/>
              <a:ext cx="114297" cy="147633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85431" name="Rectangle 42"/>
            <p:cNvSpPr>
              <a:spLocks noChangeArrowheads="1"/>
            </p:cNvSpPr>
            <p:nvPr/>
          </p:nvSpPr>
          <p:spPr bwMode="auto">
            <a:xfrm>
              <a:off x="1201868" y="3663873"/>
              <a:ext cx="7727044" cy="13226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78" name="Oval 177"/>
            <p:cNvSpPr/>
            <p:nvPr/>
          </p:nvSpPr>
          <p:spPr>
            <a:xfrm>
              <a:off x="5535457" y="3910657"/>
              <a:ext cx="114297" cy="147633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9" name="Oval 178"/>
            <p:cNvSpPr/>
            <p:nvPr/>
          </p:nvSpPr>
          <p:spPr>
            <a:xfrm>
              <a:off x="5344962" y="4107502"/>
              <a:ext cx="114297" cy="146046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0" name="Oval 179"/>
            <p:cNvSpPr/>
            <p:nvPr/>
          </p:nvSpPr>
          <p:spPr>
            <a:xfrm flipH="1">
              <a:off x="8197619" y="4096389"/>
              <a:ext cx="114297" cy="14763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1" name="Oval 180"/>
            <p:cNvSpPr/>
            <p:nvPr/>
          </p:nvSpPr>
          <p:spPr>
            <a:xfrm flipH="1">
              <a:off x="5627529" y="4112264"/>
              <a:ext cx="114297" cy="147634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2" name="Oval 181"/>
            <p:cNvSpPr/>
            <p:nvPr/>
          </p:nvSpPr>
          <p:spPr>
            <a:xfrm flipH="1">
              <a:off x="5557681" y="4309108"/>
              <a:ext cx="114297" cy="146046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3" name="Oval 182"/>
            <p:cNvSpPr/>
            <p:nvPr/>
          </p:nvSpPr>
          <p:spPr>
            <a:xfrm flipH="1">
              <a:off x="5387823" y="3926532"/>
              <a:ext cx="114297" cy="146046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4" name="Oval 183"/>
            <p:cNvSpPr/>
            <p:nvPr/>
          </p:nvSpPr>
          <p:spPr>
            <a:xfrm flipH="1">
              <a:off x="5416397" y="4371020"/>
              <a:ext cx="114297" cy="147633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5" name="Oval 184"/>
            <p:cNvSpPr/>
            <p:nvPr/>
          </p:nvSpPr>
          <p:spPr>
            <a:xfrm flipH="1">
              <a:off x="5486245" y="4166237"/>
              <a:ext cx="114297" cy="146046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6" name="Oval 185"/>
            <p:cNvSpPr/>
            <p:nvPr/>
          </p:nvSpPr>
          <p:spPr>
            <a:xfrm>
              <a:off x="7283245" y="4063053"/>
              <a:ext cx="114297" cy="147633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7" name="Oval 186"/>
            <p:cNvSpPr/>
            <p:nvPr/>
          </p:nvSpPr>
          <p:spPr>
            <a:xfrm>
              <a:off x="6406969" y="4112264"/>
              <a:ext cx="114297" cy="14763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8" name="Oval 187"/>
            <p:cNvSpPr/>
            <p:nvPr/>
          </p:nvSpPr>
          <p:spPr>
            <a:xfrm>
              <a:off x="9029446" y="4080515"/>
              <a:ext cx="114297" cy="146046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162" name="Straight Connector 161"/>
            <p:cNvCxnSpPr/>
            <p:nvPr/>
          </p:nvCxnSpPr>
          <p:spPr>
            <a:xfrm flipV="1">
              <a:off x="1366799" y="6110873"/>
              <a:ext cx="7837266" cy="1587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3" name="Rectangle 162"/>
            <p:cNvSpPr/>
            <p:nvPr/>
          </p:nvSpPr>
          <p:spPr>
            <a:xfrm flipV="1">
              <a:off x="3805131" y="5428266"/>
              <a:ext cx="239705" cy="750867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4" name="Rectangle 163"/>
            <p:cNvSpPr/>
            <p:nvPr/>
          </p:nvSpPr>
          <p:spPr>
            <a:xfrm flipV="1">
              <a:off x="4284542" y="5623523"/>
              <a:ext cx="265105" cy="47306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5" name="Rectangle 164"/>
            <p:cNvSpPr/>
            <p:nvPr/>
          </p:nvSpPr>
          <p:spPr>
            <a:xfrm>
              <a:off x="4795703" y="5852117"/>
              <a:ext cx="277804" cy="225419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6" name="Rectangle 165"/>
            <p:cNvSpPr/>
            <p:nvPr/>
          </p:nvSpPr>
          <p:spPr>
            <a:xfrm flipV="1">
              <a:off x="5306863" y="6061661"/>
              <a:ext cx="239705" cy="101597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7" name="Rectangle 166"/>
            <p:cNvSpPr/>
            <p:nvPr/>
          </p:nvSpPr>
          <p:spPr>
            <a:xfrm flipV="1">
              <a:off x="5884697" y="6077535"/>
              <a:ext cx="265105" cy="182558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8" name="Rectangle 167"/>
            <p:cNvSpPr/>
            <p:nvPr/>
          </p:nvSpPr>
          <p:spPr>
            <a:xfrm flipV="1">
              <a:off x="6330772" y="6077535"/>
              <a:ext cx="260343" cy="509574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69" name="Rectangle 168"/>
            <p:cNvSpPr/>
            <p:nvPr/>
          </p:nvSpPr>
          <p:spPr>
            <a:xfrm flipV="1">
              <a:off x="6826058" y="6077535"/>
              <a:ext cx="190495" cy="704831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0" name="Rectangle 169"/>
            <p:cNvSpPr/>
            <p:nvPr/>
          </p:nvSpPr>
          <p:spPr>
            <a:xfrm flipV="1">
              <a:off x="7256259" y="6077535"/>
              <a:ext cx="233355" cy="460363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1" name="Rectangle 170"/>
            <p:cNvSpPr/>
            <p:nvPr/>
          </p:nvSpPr>
          <p:spPr>
            <a:xfrm>
              <a:off x="7718208" y="6120397"/>
              <a:ext cx="277805" cy="193670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2" name="Rectangle 171"/>
            <p:cNvSpPr/>
            <p:nvPr/>
          </p:nvSpPr>
          <p:spPr>
            <a:xfrm flipV="1">
              <a:off x="8148408" y="6077535"/>
              <a:ext cx="228594" cy="7143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3" name="Rectangle 172"/>
            <p:cNvSpPr/>
            <p:nvPr/>
          </p:nvSpPr>
          <p:spPr>
            <a:xfrm flipV="1">
              <a:off x="8611945" y="5910853"/>
              <a:ext cx="222244" cy="238119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4" name="Rectangle 173"/>
            <p:cNvSpPr/>
            <p:nvPr/>
          </p:nvSpPr>
          <p:spPr>
            <a:xfrm>
              <a:off x="1970032" y="6123572"/>
              <a:ext cx="276217" cy="201607"/>
            </a:xfrm>
            <a:prstGeom prst="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5" name="Rectangle 174"/>
            <p:cNvSpPr/>
            <p:nvPr/>
          </p:nvSpPr>
          <p:spPr>
            <a:xfrm flipV="1">
              <a:off x="2411345" y="6056899"/>
              <a:ext cx="253993" cy="92073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6" name="Rectangle 175"/>
            <p:cNvSpPr/>
            <p:nvPr/>
          </p:nvSpPr>
          <p:spPr>
            <a:xfrm flipV="1">
              <a:off x="2819321" y="5885454"/>
              <a:ext cx="228594" cy="266693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7" name="Rectangle 176"/>
            <p:cNvSpPr/>
            <p:nvPr/>
          </p:nvSpPr>
          <p:spPr>
            <a:xfrm flipV="1">
              <a:off x="3287620" y="5591774"/>
              <a:ext cx="315903" cy="560373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grpSp>
          <p:nvGrpSpPr>
            <p:cNvPr id="4" name="Group 332"/>
            <p:cNvGrpSpPr>
              <a:grpSpLocks/>
            </p:cNvGrpSpPr>
            <p:nvPr/>
          </p:nvGrpSpPr>
          <p:grpSpPr bwMode="auto">
            <a:xfrm flipV="1">
              <a:off x="1932210" y="5427770"/>
              <a:ext cx="7017400" cy="1365709"/>
              <a:chOff x="1103665" y="397777"/>
              <a:chExt cx="7252679" cy="1452358"/>
            </a:xfrm>
          </p:grpSpPr>
          <p:sp>
            <p:nvSpPr>
              <p:cNvPr id="485470" name="Line 23"/>
              <p:cNvSpPr>
                <a:spLocks noChangeShapeType="1"/>
              </p:cNvSpPr>
              <p:nvPr/>
            </p:nvSpPr>
            <p:spPr bwMode="auto">
              <a:xfrm>
                <a:off x="1103665" y="748468"/>
                <a:ext cx="100365" cy="6376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71" name="Line 24"/>
              <p:cNvSpPr>
                <a:spLocks noChangeShapeType="1"/>
              </p:cNvSpPr>
              <p:nvPr/>
            </p:nvSpPr>
            <p:spPr bwMode="auto">
              <a:xfrm>
                <a:off x="1204030" y="812230"/>
                <a:ext cx="100365" cy="6730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72" name="Line 25"/>
              <p:cNvSpPr>
                <a:spLocks noChangeShapeType="1"/>
              </p:cNvSpPr>
              <p:nvPr/>
            </p:nvSpPr>
            <p:spPr bwMode="auto">
              <a:xfrm>
                <a:off x="1304394" y="879535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73" name="Line 26"/>
              <p:cNvSpPr>
                <a:spLocks noChangeShapeType="1"/>
              </p:cNvSpPr>
              <p:nvPr/>
            </p:nvSpPr>
            <p:spPr bwMode="auto">
              <a:xfrm>
                <a:off x="1404760" y="950381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74" name="Line 27"/>
              <p:cNvSpPr>
                <a:spLocks noChangeShapeType="1"/>
              </p:cNvSpPr>
              <p:nvPr/>
            </p:nvSpPr>
            <p:spPr bwMode="auto">
              <a:xfrm>
                <a:off x="1505125" y="1021229"/>
                <a:ext cx="100365" cy="7438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75" name="Line 28"/>
              <p:cNvSpPr>
                <a:spLocks noChangeShapeType="1"/>
              </p:cNvSpPr>
              <p:nvPr/>
            </p:nvSpPr>
            <p:spPr bwMode="auto">
              <a:xfrm>
                <a:off x="1605489" y="1095617"/>
                <a:ext cx="95082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76" name="Line 29"/>
              <p:cNvSpPr>
                <a:spLocks noChangeShapeType="1"/>
              </p:cNvSpPr>
              <p:nvPr/>
            </p:nvSpPr>
            <p:spPr bwMode="auto">
              <a:xfrm>
                <a:off x="1700572" y="1166464"/>
                <a:ext cx="100365" cy="7438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77" name="Line 30"/>
              <p:cNvSpPr>
                <a:spLocks noChangeShapeType="1"/>
              </p:cNvSpPr>
              <p:nvPr/>
            </p:nvSpPr>
            <p:spPr bwMode="auto">
              <a:xfrm>
                <a:off x="1800936" y="1240853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78" name="Line 31"/>
              <p:cNvSpPr>
                <a:spLocks noChangeShapeType="1"/>
              </p:cNvSpPr>
              <p:nvPr/>
            </p:nvSpPr>
            <p:spPr bwMode="auto">
              <a:xfrm>
                <a:off x="1901301" y="1311700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79" name="Line 32"/>
              <p:cNvSpPr>
                <a:spLocks noChangeShapeType="1"/>
              </p:cNvSpPr>
              <p:nvPr/>
            </p:nvSpPr>
            <p:spPr bwMode="auto">
              <a:xfrm>
                <a:off x="2001665" y="1382546"/>
                <a:ext cx="100365" cy="6730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80" name="Line 33"/>
              <p:cNvSpPr>
                <a:spLocks noChangeShapeType="1"/>
              </p:cNvSpPr>
              <p:nvPr/>
            </p:nvSpPr>
            <p:spPr bwMode="auto">
              <a:xfrm>
                <a:off x="2102032" y="1449851"/>
                <a:ext cx="95082" cy="6376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81" name="Line 34"/>
              <p:cNvSpPr>
                <a:spLocks noChangeShapeType="1"/>
              </p:cNvSpPr>
              <p:nvPr/>
            </p:nvSpPr>
            <p:spPr bwMode="auto">
              <a:xfrm>
                <a:off x="2197114" y="1513613"/>
                <a:ext cx="100365" cy="602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82" name="Line 35"/>
              <p:cNvSpPr>
                <a:spLocks noChangeShapeType="1"/>
              </p:cNvSpPr>
              <p:nvPr/>
            </p:nvSpPr>
            <p:spPr bwMode="auto">
              <a:xfrm>
                <a:off x="2297478" y="1573832"/>
                <a:ext cx="100365" cy="5313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83" name="Line 36"/>
              <p:cNvSpPr>
                <a:spLocks noChangeShapeType="1"/>
              </p:cNvSpPr>
              <p:nvPr/>
            </p:nvSpPr>
            <p:spPr bwMode="auto">
              <a:xfrm>
                <a:off x="2397843" y="1626967"/>
                <a:ext cx="100365" cy="5313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84" name="Line 37"/>
              <p:cNvSpPr>
                <a:spLocks noChangeShapeType="1"/>
              </p:cNvSpPr>
              <p:nvPr/>
            </p:nvSpPr>
            <p:spPr bwMode="auto">
              <a:xfrm>
                <a:off x="2498208" y="1680102"/>
                <a:ext cx="100365" cy="4250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85" name="Line 38"/>
              <p:cNvSpPr>
                <a:spLocks noChangeShapeType="1"/>
              </p:cNvSpPr>
              <p:nvPr/>
            </p:nvSpPr>
            <p:spPr bwMode="auto">
              <a:xfrm>
                <a:off x="2598572" y="1722610"/>
                <a:ext cx="95082" cy="3896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86" name="Line 39"/>
              <p:cNvSpPr>
                <a:spLocks noChangeShapeType="1"/>
              </p:cNvSpPr>
              <p:nvPr/>
            </p:nvSpPr>
            <p:spPr bwMode="auto">
              <a:xfrm>
                <a:off x="2693656" y="1761577"/>
                <a:ext cx="100365" cy="31881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87" name="Line 40"/>
              <p:cNvSpPr>
                <a:spLocks noChangeShapeType="1"/>
              </p:cNvSpPr>
              <p:nvPr/>
            </p:nvSpPr>
            <p:spPr bwMode="auto">
              <a:xfrm>
                <a:off x="2794021" y="1793457"/>
                <a:ext cx="100365" cy="24796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88" name="Line 41"/>
              <p:cNvSpPr>
                <a:spLocks noChangeShapeType="1"/>
              </p:cNvSpPr>
              <p:nvPr/>
            </p:nvSpPr>
            <p:spPr bwMode="auto">
              <a:xfrm>
                <a:off x="2894385" y="1818253"/>
                <a:ext cx="100365" cy="1771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89" name="Line 42"/>
              <p:cNvSpPr>
                <a:spLocks noChangeShapeType="1"/>
              </p:cNvSpPr>
              <p:nvPr/>
            </p:nvSpPr>
            <p:spPr bwMode="auto">
              <a:xfrm>
                <a:off x="2994750" y="1835965"/>
                <a:ext cx="100365" cy="1062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90" name="Line 43"/>
              <p:cNvSpPr>
                <a:spLocks noChangeShapeType="1"/>
              </p:cNvSpPr>
              <p:nvPr/>
            </p:nvSpPr>
            <p:spPr bwMode="auto">
              <a:xfrm>
                <a:off x="3095114" y="1846593"/>
                <a:ext cx="100365" cy="354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91" name="Line 44"/>
              <p:cNvSpPr>
                <a:spLocks noChangeShapeType="1"/>
              </p:cNvSpPr>
              <p:nvPr/>
            </p:nvSpPr>
            <p:spPr bwMode="auto">
              <a:xfrm flipV="1">
                <a:off x="3195479" y="1846593"/>
                <a:ext cx="95082" cy="354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92" name="Line 45"/>
              <p:cNvSpPr>
                <a:spLocks noChangeShapeType="1"/>
              </p:cNvSpPr>
              <p:nvPr/>
            </p:nvSpPr>
            <p:spPr bwMode="auto">
              <a:xfrm flipV="1">
                <a:off x="3290561" y="1835965"/>
                <a:ext cx="100365" cy="1062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93" name="Line 46"/>
              <p:cNvSpPr>
                <a:spLocks noChangeShapeType="1"/>
              </p:cNvSpPr>
              <p:nvPr/>
            </p:nvSpPr>
            <p:spPr bwMode="auto">
              <a:xfrm flipV="1">
                <a:off x="3390927" y="1814711"/>
                <a:ext cx="100365" cy="2125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94" name="Line 47"/>
              <p:cNvSpPr>
                <a:spLocks noChangeShapeType="1"/>
              </p:cNvSpPr>
              <p:nvPr/>
            </p:nvSpPr>
            <p:spPr bwMode="auto">
              <a:xfrm flipV="1">
                <a:off x="3491292" y="1789915"/>
                <a:ext cx="100365" cy="24796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95" name="Line 48"/>
              <p:cNvSpPr>
                <a:spLocks noChangeShapeType="1"/>
              </p:cNvSpPr>
              <p:nvPr/>
            </p:nvSpPr>
            <p:spPr bwMode="auto">
              <a:xfrm flipV="1">
                <a:off x="3591657" y="1758034"/>
                <a:ext cx="100365" cy="31881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96" name="Line 49"/>
              <p:cNvSpPr>
                <a:spLocks noChangeShapeType="1"/>
              </p:cNvSpPr>
              <p:nvPr/>
            </p:nvSpPr>
            <p:spPr bwMode="auto">
              <a:xfrm flipV="1">
                <a:off x="3692021" y="1719068"/>
                <a:ext cx="95082" cy="3896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97" name="Line 50"/>
              <p:cNvSpPr>
                <a:spLocks noChangeShapeType="1"/>
              </p:cNvSpPr>
              <p:nvPr/>
            </p:nvSpPr>
            <p:spPr bwMode="auto">
              <a:xfrm flipV="1">
                <a:off x="3787103" y="1673017"/>
                <a:ext cx="100365" cy="4605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98" name="Line 51"/>
              <p:cNvSpPr>
                <a:spLocks noChangeShapeType="1"/>
              </p:cNvSpPr>
              <p:nvPr/>
            </p:nvSpPr>
            <p:spPr bwMode="auto">
              <a:xfrm flipV="1">
                <a:off x="3887468" y="1623425"/>
                <a:ext cx="100365" cy="4959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499" name="Line 52"/>
              <p:cNvSpPr>
                <a:spLocks noChangeShapeType="1"/>
              </p:cNvSpPr>
              <p:nvPr/>
            </p:nvSpPr>
            <p:spPr bwMode="auto">
              <a:xfrm flipV="1">
                <a:off x="3987833" y="1566747"/>
                <a:ext cx="100365" cy="5667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00" name="Line 53"/>
              <p:cNvSpPr>
                <a:spLocks noChangeShapeType="1"/>
              </p:cNvSpPr>
              <p:nvPr/>
            </p:nvSpPr>
            <p:spPr bwMode="auto">
              <a:xfrm flipV="1">
                <a:off x="4088199" y="1506528"/>
                <a:ext cx="100365" cy="602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01" name="Line 54"/>
              <p:cNvSpPr>
                <a:spLocks noChangeShapeType="1"/>
              </p:cNvSpPr>
              <p:nvPr/>
            </p:nvSpPr>
            <p:spPr bwMode="auto">
              <a:xfrm flipV="1">
                <a:off x="4188563" y="1442766"/>
                <a:ext cx="95082" cy="6376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02" name="Line 55"/>
              <p:cNvSpPr>
                <a:spLocks noChangeShapeType="1"/>
              </p:cNvSpPr>
              <p:nvPr/>
            </p:nvSpPr>
            <p:spPr bwMode="auto">
              <a:xfrm flipV="1">
                <a:off x="4283646" y="1375461"/>
                <a:ext cx="100365" cy="6730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03" name="Line 56"/>
              <p:cNvSpPr>
                <a:spLocks noChangeShapeType="1"/>
              </p:cNvSpPr>
              <p:nvPr/>
            </p:nvSpPr>
            <p:spPr bwMode="auto">
              <a:xfrm flipV="1">
                <a:off x="4384010" y="1304615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04" name="Line 57"/>
              <p:cNvSpPr>
                <a:spLocks noChangeShapeType="1"/>
              </p:cNvSpPr>
              <p:nvPr/>
            </p:nvSpPr>
            <p:spPr bwMode="auto">
              <a:xfrm flipV="1">
                <a:off x="4484375" y="1233768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05" name="Line 58"/>
              <p:cNvSpPr>
                <a:spLocks noChangeShapeType="1"/>
              </p:cNvSpPr>
              <p:nvPr/>
            </p:nvSpPr>
            <p:spPr bwMode="auto">
              <a:xfrm flipV="1">
                <a:off x="4584739" y="1159379"/>
                <a:ext cx="100365" cy="7438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06" name="Line 59"/>
              <p:cNvSpPr>
                <a:spLocks noChangeShapeType="1"/>
              </p:cNvSpPr>
              <p:nvPr/>
            </p:nvSpPr>
            <p:spPr bwMode="auto">
              <a:xfrm flipV="1">
                <a:off x="4685104" y="1088532"/>
                <a:ext cx="95082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07" name="Line 60"/>
              <p:cNvSpPr>
                <a:spLocks noChangeShapeType="1"/>
              </p:cNvSpPr>
              <p:nvPr/>
            </p:nvSpPr>
            <p:spPr bwMode="auto">
              <a:xfrm flipV="1">
                <a:off x="4780188" y="1014144"/>
                <a:ext cx="100365" cy="7438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08" name="Line 61"/>
              <p:cNvSpPr>
                <a:spLocks noChangeShapeType="1"/>
              </p:cNvSpPr>
              <p:nvPr/>
            </p:nvSpPr>
            <p:spPr bwMode="auto">
              <a:xfrm flipV="1">
                <a:off x="4880552" y="943296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09" name="Line 62"/>
              <p:cNvSpPr>
                <a:spLocks noChangeShapeType="1"/>
              </p:cNvSpPr>
              <p:nvPr/>
            </p:nvSpPr>
            <p:spPr bwMode="auto">
              <a:xfrm flipV="1">
                <a:off x="4980917" y="872450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10" name="Line 63"/>
              <p:cNvSpPr>
                <a:spLocks noChangeShapeType="1"/>
              </p:cNvSpPr>
              <p:nvPr/>
            </p:nvSpPr>
            <p:spPr bwMode="auto">
              <a:xfrm flipV="1">
                <a:off x="5081282" y="805146"/>
                <a:ext cx="100365" cy="6730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11" name="Line 64"/>
              <p:cNvSpPr>
                <a:spLocks noChangeShapeType="1"/>
              </p:cNvSpPr>
              <p:nvPr/>
            </p:nvSpPr>
            <p:spPr bwMode="auto">
              <a:xfrm flipV="1">
                <a:off x="5181646" y="741383"/>
                <a:ext cx="95082" cy="6376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12" name="Line 65"/>
              <p:cNvSpPr>
                <a:spLocks noChangeShapeType="1"/>
              </p:cNvSpPr>
              <p:nvPr/>
            </p:nvSpPr>
            <p:spPr bwMode="auto">
              <a:xfrm flipV="1">
                <a:off x="5276728" y="681164"/>
                <a:ext cx="100365" cy="602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13" name="Line 66"/>
              <p:cNvSpPr>
                <a:spLocks noChangeShapeType="1"/>
              </p:cNvSpPr>
              <p:nvPr/>
            </p:nvSpPr>
            <p:spPr bwMode="auto">
              <a:xfrm flipV="1">
                <a:off x="5377093" y="624487"/>
                <a:ext cx="100365" cy="5667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14" name="Line 67"/>
              <p:cNvSpPr>
                <a:spLocks noChangeShapeType="1"/>
              </p:cNvSpPr>
              <p:nvPr/>
            </p:nvSpPr>
            <p:spPr bwMode="auto">
              <a:xfrm flipV="1">
                <a:off x="5477459" y="574894"/>
                <a:ext cx="100365" cy="4959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15" name="Line 68"/>
              <p:cNvSpPr>
                <a:spLocks noChangeShapeType="1"/>
              </p:cNvSpPr>
              <p:nvPr/>
            </p:nvSpPr>
            <p:spPr bwMode="auto">
              <a:xfrm flipV="1">
                <a:off x="5577824" y="528844"/>
                <a:ext cx="95082" cy="4605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16" name="Line 69"/>
              <p:cNvSpPr>
                <a:spLocks noChangeShapeType="1"/>
              </p:cNvSpPr>
              <p:nvPr/>
            </p:nvSpPr>
            <p:spPr bwMode="auto">
              <a:xfrm flipV="1">
                <a:off x="5672906" y="489878"/>
                <a:ext cx="100365" cy="3896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17" name="Line 70"/>
              <p:cNvSpPr>
                <a:spLocks noChangeShapeType="1"/>
              </p:cNvSpPr>
              <p:nvPr/>
            </p:nvSpPr>
            <p:spPr bwMode="auto">
              <a:xfrm flipV="1">
                <a:off x="5773271" y="457997"/>
                <a:ext cx="100365" cy="31881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18" name="Line 71"/>
              <p:cNvSpPr>
                <a:spLocks noChangeShapeType="1"/>
              </p:cNvSpPr>
              <p:nvPr/>
            </p:nvSpPr>
            <p:spPr bwMode="auto">
              <a:xfrm flipV="1">
                <a:off x="5873635" y="433201"/>
                <a:ext cx="100365" cy="24796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19" name="Line 72"/>
              <p:cNvSpPr>
                <a:spLocks noChangeShapeType="1"/>
              </p:cNvSpPr>
              <p:nvPr/>
            </p:nvSpPr>
            <p:spPr bwMode="auto">
              <a:xfrm flipV="1">
                <a:off x="5974000" y="411946"/>
                <a:ext cx="100365" cy="2125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20" name="Line 73"/>
              <p:cNvSpPr>
                <a:spLocks noChangeShapeType="1"/>
              </p:cNvSpPr>
              <p:nvPr/>
            </p:nvSpPr>
            <p:spPr bwMode="auto">
              <a:xfrm flipV="1">
                <a:off x="6074364" y="401319"/>
                <a:ext cx="100365" cy="1062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21" name="Line 74"/>
              <p:cNvSpPr>
                <a:spLocks noChangeShapeType="1"/>
              </p:cNvSpPr>
              <p:nvPr/>
            </p:nvSpPr>
            <p:spPr bwMode="auto">
              <a:xfrm flipV="1">
                <a:off x="6174730" y="397777"/>
                <a:ext cx="95082" cy="354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22" name="Line 75"/>
              <p:cNvSpPr>
                <a:spLocks noChangeShapeType="1"/>
              </p:cNvSpPr>
              <p:nvPr/>
            </p:nvSpPr>
            <p:spPr bwMode="auto">
              <a:xfrm>
                <a:off x="6269813" y="397777"/>
                <a:ext cx="100365" cy="354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23" name="Line 76"/>
              <p:cNvSpPr>
                <a:spLocks noChangeShapeType="1"/>
              </p:cNvSpPr>
              <p:nvPr/>
            </p:nvSpPr>
            <p:spPr bwMode="auto">
              <a:xfrm>
                <a:off x="6370177" y="401319"/>
                <a:ext cx="100365" cy="1062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24" name="Line 77"/>
              <p:cNvSpPr>
                <a:spLocks noChangeShapeType="1"/>
              </p:cNvSpPr>
              <p:nvPr/>
            </p:nvSpPr>
            <p:spPr bwMode="auto">
              <a:xfrm>
                <a:off x="6470542" y="411946"/>
                <a:ext cx="100365" cy="1771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25" name="Line 78"/>
              <p:cNvSpPr>
                <a:spLocks noChangeShapeType="1"/>
              </p:cNvSpPr>
              <p:nvPr/>
            </p:nvSpPr>
            <p:spPr bwMode="auto">
              <a:xfrm>
                <a:off x="6570906" y="429658"/>
                <a:ext cx="100365" cy="24796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26" name="Line 79"/>
              <p:cNvSpPr>
                <a:spLocks noChangeShapeType="1"/>
              </p:cNvSpPr>
              <p:nvPr/>
            </p:nvSpPr>
            <p:spPr bwMode="auto">
              <a:xfrm>
                <a:off x="6671271" y="454454"/>
                <a:ext cx="95082" cy="31881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27" name="Line 80"/>
              <p:cNvSpPr>
                <a:spLocks noChangeShapeType="1"/>
              </p:cNvSpPr>
              <p:nvPr/>
            </p:nvSpPr>
            <p:spPr bwMode="auto">
              <a:xfrm>
                <a:off x="6766353" y="486336"/>
                <a:ext cx="100365" cy="3896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28" name="Line 81"/>
              <p:cNvSpPr>
                <a:spLocks noChangeShapeType="1"/>
              </p:cNvSpPr>
              <p:nvPr/>
            </p:nvSpPr>
            <p:spPr bwMode="auto">
              <a:xfrm>
                <a:off x="6866719" y="525301"/>
                <a:ext cx="100365" cy="4250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29" name="Line 82"/>
              <p:cNvSpPr>
                <a:spLocks noChangeShapeType="1"/>
              </p:cNvSpPr>
              <p:nvPr/>
            </p:nvSpPr>
            <p:spPr bwMode="auto">
              <a:xfrm>
                <a:off x="6967084" y="567809"/>
                <a:ext cx="100365" cy="4959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30" name="Line 83"/>
              <p:cNvSpPr>
                <a:spLocks noChangeShapeType="1"/>
              </p:cNvSpPr>
              <p:nvPr/>
            </p:nvSpPr>
            <p:spPr bwMode="auto">
              <a:xfrm>
                <a:off x="7067449" y="617402"/>
                <a:ext cx="100365" cy="5667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31" name="Line 84"/>
              <p:cNvSpPr>
                <a:spLocks noChangeShapeType="1"/>
              </p:cNvSpPr>
              <p:nvPr/>
            </p:nvSpPr>
            <p:spPr bwMode="auto">
              <a:xfrm>
                <a:off x="7167813" y="674080"/>
                <a:ext cx="95082" cy="602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32" name="Line 85"/>
              <p:cNvSpPr>
                <a:spLocks noChangeShapeType="1"/>
              </p:cNvSpPr>
              <p:nvPr/>
            </p:nvSpPr>
            <p:spPr bwMode="auto">
              <a:xfrm>
                <a:off x="7262895" y="734300"/>
                <a:ext cx="100365" cy="6376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33" name="Line 86"/>
              <p:cNvSpPr>
                <a:spLocks noChangeShapeType="1"/>
              </p:cNvSpPr>
              <p:nvPr/>
            </p:nvSpPr>
            <p:spPr bwMode="auto">
              <a:xfrm>
                <a:off x="7363260" y="798061"/>
                <a:ext cx="100365" cy="6730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34" name="Line 87"/>
              <p:cNvSpPr>
                <a:spLocks noChangeShapeType="1"/>
              </p:cNvSpPr>
              <p:nvPr/>
            </p:nvSpPr>
            <p:spPr bwMode="auto">
              <a:xfrm>
                <a:off x="7463626" y="865366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35" name="Line 88"/>
              <p:cNvSpPr>
                <a:spLocks noChangeShapeType="1"/>
              </p:cNvSpPr>
              <p:nvPr/>
            </p:nvSpPr>
            <p:spPr bwMode="auto">
              <a:xfrm>
                <a:off x="7563991" y="936212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36" name="Line 89"/>
              <p:cNvSpPr>
                <a:spLocks noChangeShapeType="1"/>
              </p:cNvSpPr>
              <p:nvPr/>
            </p:nvSpPr>
            <p:spPr bwMode="auto">
              <a:xfrm>
                <a:off x="7664355" y="1007059"/>
                <a:ext cx="100365" cy="7438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37" name="Line 90"/>
              <p:cNvSpPr>
                <a:spLocks noChangeShapeType="1"/>
              </p:cNvSpPr>
              <p:nvPr/>
            </p:nvSpPr>
            <p:spPr bwMode="auto">
              <a:xfrm>
                <a:off x="7764720" y="1081447"/>
                <a:ext cx="95082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38" name="Line 91"/>
              <p:cNvSpPr>
                <a:spLocks noChangeShapeType="1"/>
              </p:cNvSpPr>
              <p:nvPr/>
            </p:nvSpPr>
            <p:spPr bwMode="auto">
              <a:xfrm>
                <a:off x="7859802" y="1152295"/>
                <a:ext cx="100365" cy="7438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39" name="Line 92"/>
              <p:cNvSpPr>
                <a:spLocks noChangeShapeType="1"/>
              </p:cNvSpPr>
              <p:nvPr/>
            </p:nvSpPr>
            <p:spPr bwMode="auto">
              <a:xfrm>
                <a:off x="7960167" y="1226683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40" name="Line 93"/>
              <p:cNvSpPr>
                <a:spLocks noChangeShapeType="1"/>
              </p:cNvSpPr>
              <p:nvPr/>
            </p:nvSpPr>
            <p:spPr bwMode="auto">
              <a:xfrm>
                <a:off x="8060531" y="1297530"/>
                <a:ext cx="100365" cy="7084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41" name="Line 94"/>
              <p:cNvSpPr>
                <a:spLocks noChangeShapeType="1"/>
              </p:cNvSpPr>
              <p:nvPr/>
            </p:nvSpPr>
            <p:spPr bwMode="auto">
              <a:xfrm>
                <a:off x="8160898" y="1368378"/>
                <a:ext cx="100365" cy="6730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5542" name="Line 95"/>
              <p:cNvSpPr>
                <a:spLocks noChangeShapeType="1"/>
              </p:cNvSpPr>
              <p:nvPr/>
            </p:nvSpPr>
            <p:spPr bwMode="auto">
              <a:xfrm>
                <a:off x="8261262" y="1435681"/>
                <a:ext cx="95082" cy="6376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</p:grpSp>
        <p:sp>
          <p:nvSpPr>
            <p:cNvPr id="485460" name="Rectangle 43"/>
            <p:cNvSpPr>
              <a:spLocks noChangeArrowheads="1"/>
            </p:cNvSpPr>
            <p:nvPr/>
          </p:nvSpPr>
          <p:spPr bwMode="auto">
            <a:xfrm>
              <a:off x="1196429" y="1125781"/>
              <a:ext cx="7727044" cy="13226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5461" name="Rectangle 42"/>
            <p:cNvSpPr>
              <a:spLocks noChangeArrowheads="1"/>
            </p:cNvSpPr>
            <p:nvPr/>
          </p:nvSpPr>
          <p:spPr bwMode="auto">
            <a:xfrm>
              <a:off x="1196429" y="229344"/>
              <a:ext cx="7727044" cy="13226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5462" name="TextBox 343"/>
            <p:cNvSpPr txBox="1">
              <a:spLocks noChangeArrowheads="1"/>
            </p:cNvSpPr>
            <p:nvPr/>
          </p:nvSpPr>
          <p:spPr bwMode="auto">
            <a:xfrm>
              <a:off x="0" y="1485901"/>
              <a:ext cx="1469571" cy="120032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2400" dirty="0"/>
                <a:t>Pressure change is large here</a:t>
              </a:r>
            </a:p>
          </p:txBody>
        </p:sp>
        <p:cxnSp>
          <p:nvCxnSpPr>
            <p:cNvPr id="363" name="Straight Arrow Connector 362"/>
            <p:cNvCxnSpPr/>
            <p:nvPr/>
          </p:nvCxnSpPr>
          <p:spPr>
            <a:xfrm flipV="1">
              <a:off x="1338225" y="1159594"/>
              <a:ext cx="1046133" cy="669907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Arrow Connector 364"/>
            <p:cNvCxnSpPr/>
            <p:nvPr/>
          </p:nvCxnSpPr>
          <p:spPr>
            <a:xfrm flipV="1">
              <a:off x="1338225" y="996086"/>
              <a:ext cx="6646675" cy="815953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Arrow Connector 369"/>
            <p:cNvCxnSpPr/>
            <p:nvPr/>
          </p:nvCxnSpPr>
          <p:spPr>
            <a:xfrm>
              <a:off x="1355687" y="1845375"/>
              <a:ext cx="3836880" cy="2236727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5466" name="TextBox 370"/>
            <p:cNvSpPr txBox="1">
              <a:spLocks noChangeArrowheads="1"/>
            </p:cNvSpPr>
            <p:nvPr/>
          </p:nvSpPr>
          <p:spPr bwMode="auto">
            <a:xfrm>
              <a:off x="0" y="4724400"/>
              <a:ext cx="1469571" cy="156966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2400" dirty="0"/>
                <a:t>Pressure change is almost zero here</a:t>
              </a:r>
            </a:p>
          </p:txBody>
        </p:sp>
        <p:cxnSp>
          <p:nvCxnSpPr>
            <p:cNvPr id="374" name="Straight Arrow Connector 373"/>
            <p:cNvCxnSpPr/>
            <p:nvPr/>
          </p:nvCxnSpPr>
          <p:spPr>
            <a:xfrm flipV="1">
              <a:off x="1387436" y="4359907"/>
              <a:ext cx="2041467" cy="1028672"/>
            </a:xfrm>
            <a:prstGeom prst="straightConnector1">
              <a:avLst/>
            </a:prstGeom>
            <a:ln>
              <a:solidFill>
                <a:srgbClr val="FFC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Straight Arrow Connector 377"/>
            <p:cNvCxnSpPr/>
            <p:nvPr/>
          </p:nvCxnSpPr>
          <p:spPr>
            <a:xfrm rot="5400000" flipH="1" flipV="1">
              <a:off x="505602" y="1844583"/>
              <a:ext cx="4425830" cy="2662163"/>
            </a:xfrm>
            <a:prstGeom prst="straightConnector1">
              <a:avLst/>
            </a:prstGeom>
            <a:ln>
              <a:solidFill>
                <a:srgbClr val="FFC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Straight Arrow Connector 380"/>
            <p:cNvCxnSpPr/>
            <p:nvPr/>
          </p:nvCxnSpPr>
          <p:spPr>
            <a:xfrm flipV="1">
              <a:off x="1420773" y="4359907"/>
              <a:ext cx="5405285" cy="1028672"/>
            </a:xfrm>
            <a:prstGeom prst="straightConnector1">
              <a:avLst/>
            </a:prstGeom>
            <a:ln>
              <a:solidFill>
                <a:srgbClr val="FFC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73759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Rectangle 24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grpSp>
        <p:nvGrpSpPr>
          <p:cNvPr id="2" name="Group 248"/>
          <p:cNvGrpSpPr>
            <a:grpSpLocks/>
          </p:cNvGrpSpPr>
          <p:nvPr/>
        </p:nvGrpSpPr>
        <p:grpSpPr bwMode="auto">
          <a:xfrm>
            <a:off x="0" y="228600"/>
            <a:ext cx="10115550" cy="6342063"/>
            <a:chOff x="0" y="229344"/>
            <a:chExt cx="10115265" cy="6340791"/>
          </a:xfrm>
        </p:grpSpPr>
        <p:sp>
          <p:nvSpPr>
            <p:cNvPr id="487427" name="Rectangle 41"/>
            <p:cNvSpPr>
              <a:spLocks noChangeArrowheads="1"/>
            </p:cNvSpPr>
            <p:nvPr/>
          </p:nvSpPr>
          <p:spPr bwMode="auto">
            <a:xfrm>
              <a:off x="1317191" y="3752504"/>
              <a:ext cx="3162280" cy="831124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7428" name="Rectangle 41"/>
            <p:cNvSpPr>
              <a:spLocks noChangeArrowheads="1"/>
            </p:cNvSpPr>
            <p:nvPr/>
          </p:nvSpPr>
          <p:spPr bwMode="auto">
            <a:xfrm>
              <a:off x="3238520" y="350718"/>
              <a:ext cx="3162280" cy="831124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04" name="Rectangle 39"/>
            <p:cNvSpPr>
              <a:spLocks noChangeArrowheads="1"/>
            </p:cNvSpPr>
            <p:nvPr/>
          </p:nvSpPr>
          <p:spPr bwMode="auto">
            <a:xfrm>
              <a:off x="708005" y="329337"/>
              <a:ext cx="3054264" cy="801526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487430" name="Rectangle 41"/>
            <p:cNvSpPr>
              <a:spLocks noChangeArrowheads="1"/>
            </p:cNvSpPr>
            <p:nvPr/>
          </p:nvSpPr>
          <p:spPr bwMode="auto">
            <a:xfrm>
              <a:off x="6308289" y="328950"/>
              <a:ext cx="2634337" cy="831124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19" name="Rectangle 39"/>
            <p:cNvSpPr>
              <a:spLocks noChangeArrowheads="1"/>
            </p:cNvSpPr>
            <p:nvPr/>
          </p:nvSpPr>
          <p:spPr bwMode="auto">
            <a:xfrm>
              <a:off x="6743510" y="318226"/>
              <a:ext cx="2986004" cy="831683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120" name="Rectangle 119"/>
            <p:cNvSpPr/>
            <p:nvPr/>
          </p:nvSpPr>
          <p:spPr>
            <a:xfrm>
              <a:off x="477825" y="321401"/>
              <a:ext cx="1744613" cy="8173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87433" name="Rectangle 44"/>
            <p:cNvSpPr>
              <a:spLocks noChangeArrowheads="1"/>
            </p:cNvSpPr>
            <p:nvPr/>
          </p:nvSpPr>
          <p:spPr bwMode="auto">
            <a:xfrm>
              <a:off x="1150889" y="577959"/>
              <a:ext cx="999461" cy="298812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7434" name="Rectangle 45"/>
            <p:cNvSpPr>
              <a:spLocks noChangeArrowheads="1"/>
            </p:cNvSpPr>
            <p:nvPr/>
          </p:nvSpPr>
          <p:spPr bwMode="auto">
            <a:xfrm>
              <a:off x="2150350" y="328949"/>
              <a:ext cx="214170" cy="79683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23" name="Oval 122"/>
            <p:cNvSpPr/>
            <p:nvPr/>
          </p:nvSpPr>
          <p:spPr>
            <a:xfrm>
              <a:off x="2460556" y="759463"/>
              <a:ext cx="114297" cy="147608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4" name="Oval 123"/>
            <p:cNvSpPr/>
            <p:nvPr/>
          </p:nvSpPr>
          <p:spPr>
            <a:xfrm>
              <a:off x="2484368" y="591221"/>
              <a:ext cx="114297" cy="14760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6" name="Oval 125"/>
            <p:cNvSpPr/>
            <p:nvPr/>
          </p:nvSpPr>
          <p:spPr>
            <a:xfrm>
              <a:off x="2471668" y="413457"/>
              <a:ext cx="114297" cy="146021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28" name="Oval 127"/>
            <p:cNvSpPr/>
            <p:nvPr/>
          </p:nvSpPr>
          <p:spPr>
            <a:xfrm>
              <a:off x="2493893" y="986430"/>
              <a:ext cx="114297" cy="146021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130" name="Straight Connector 129"/>
            <p:cNvCxnSpPr/>
            <p:nvPr/>
          </p:nvCxnSpPr>
          <p:spPr>
            <a:xfrm>
              <a:off x="1360450" y="2168880"/>
              <a:ext cx="7837266" cy="174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0" name="Oval 149"/>
            <p:cNvSpPr/>
            <p:nvPr/>
          </p:nvSpPr>
          <p:spPr>
            <a:xfrm>
              <a:off x="6362521" y="689627"/>
              <a:ext cx="114297" cy="14602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1" name="Oval 150"/>
            <p:cNvSpPr/>
            <p:nvPr/>
          </p:nvSpPr>
          <p:spPr>
            <a:xfrm>
              <a:off x="5340200" y="672168"/>
              <a:ext cx="114297" cy="14760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2" name="Oval 151"/>
            <p:cNvSpPr/>
            <p:nvPr/>
          </p:nvSpPr>
          <p:spPr>
            <a:xfrm flipH="1">
              <a:off x="8256355" y="907071"/>
              <a:ext cx="114297" cy="14602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362" name="Rectangle 361"/>
            <p:cNvSpPr/>
            <p:nvPr/>
          </p:nvSpPr>
          <p:spPr>
            <a:xfrm>
              <a:off x="8865938" y="234106"/>
              <a:ext cx="1249327" cy="103960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3" name="Oval 152"/>
            <p:cNvSpPr/>
            <p:nvPr/>
          </p:nvSpPr>
          <p:spPr>
            <a:xfrm flipH="1">
              <a:off x="8202382" y="432503"/>
              <a:ext cx="114297" cy="147608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4" name="Oval 153"/>
            <p:cNvSpPr/>
            <p:nvPr/>
          </p:nvSpPr>
          <p:spPr>
            <a:xfrm flipH="1">
              <a:off x="7413416" y="645186"/>
              <a:ext cx="114297" cy="147608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8" name="Oval 217"/>
            <p:cNvSpPr/>
            <p:nvPr/>
          </p:nvSpPr>
          <p:spPr>
            <a:xfrm flipH="1">
              <a:off x="2557391" y="802317"/>
              <a:ext cx="114297" cy="14602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19" name="Oval 218"/>
            <p:cNvSpPr/>
            <p:nvPr/>
          </p:nvSpPr>
          <p:spPr>
            <a:xfrm flipH="1">
              <a:off x="3320956" y="691214"/>
              <a:ext cx="114297" cy="14760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0" name="Oval 219"/>
            <p:cNvSpPr/>
            <p:nvPr/>
          </p:nvSpPr>
          <p:spPr>
            <a:xfrm flipH="1">
              <a:off x="4289304" y="715022"/>
              <a:ext cx="114297" cy="147608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1" name="Oval 220"/>
            <p:cNvSpPr/>
            <p:nvPr/>
          </p:nvSpPr>
          <p:spPr>
            <a:xfrm>
              <a:off x="8338903" y="546780"/>
              <a:ext cx="114297" cy="147608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2" name="Oval 221"/>
            <p:cNvSpPr/>
            <p:nvPr/>
          </p:nvSpPr>
          <p:spPr>
            <a:xfrm>
              <a:off x="8245243" y="710261"/>
              <a:ext cx="114297" cy="147607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223" name="Oval 222"/>
            <p:cNvSpPr/>
            <p:nvPr/>
          </p:nvSpPr>
          <p:spPr>
            <a:xfrm>
              <a:off x="8350015" y="808666"/>
              <a:ext cx="114297" cy="147607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87452" name="Rectangle 41"/>
            <p:cNvSpPr>
              <a:spLocks noChangeArrowheads="1"/>
            </p:cNvSpPr>
            <p:nvPr/>
          </p:nvSpPr>
          <p:spPr bwMode="auto">
            <a:xfrm>
              <a:off x="3243959" y="3785247"/>
              <a:ext cx="2900958" cy="831124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7453" name="Rectangle 41"/>
            <p:cNvSpPr>
              <a:spLocks noChangeArrowheads="1"/>
            </p:cNvSpPr>
            <p:nvPr/>
          </p:nvSpPr>
          <p:spPr bwMode="auto">
            <a:xfrm>
              <a:off x="6313728" y="3763479"/>
              <a:ext cx="2634337" cy="831124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45" name="Rectangle 39"/>
            <p:cNvSpPr>
              <a:spLocks noChangeArrowheads="1"/>
            </p:cNvSpPr>
            <p:nvPr/>
          </p:nvSpPr>
          <p:spPr bwMode="auto">
            <a:xfrm>
              <a:off x="4152783" y="3752887"/>
              <a:ext cx="2986004" cy="830096"/>
            </a:xfrm>
            <a:prstGeom prst="rect">
              <a:avLst/>
            </a:prstGeom>
            <a:gradFill rotWithShape="1">
              <a:gsLst>
                <a:gs pos="0">
                  <a:schemeClr val="accent1"/>
                </a:gs>
                <a:gs pos="50000">
                  <a:schemeClr val="accent1">
                    <a:gamma/>
                    <a:shade val="46275"/>
                    <a:invGamma/>
                  </a:schemeClr>
                </a:gs>
                <a:gs pos="100000">
                  <a:schemeClr val="accent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>
                <a:latin typeface="+mn-lt"/>
              </a:endParaRPr>
            </a:p>
          </p:txBody>
        </p:sp>
        <p:sp>
          <p:nvSpPr>
            <p:cNvPr id="146" name="Rectangle 145"/>
            <p:cNvSpPr/>
            <p:nvPr/>
          </p:nvSpPr>
          <p:spPr>
            <a:xfrm>
              <a:off x="0" y="3756062"/>
              <a:ext cx="1249328" cy="8173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87456" name="Rectangle 44"/>
            <p:cNvSpPr>
              <a:spLocks noChangeArrowheads="1"/>
            </p:cNvSpPr>
            <p:nvPr/>
          </p:nvSpPr>
          <p:spPr bwMode="auto">
            <a:xfrm>
              <a:off x="176588" y="4012488"/>
              <a:ext cx="999461" cy="298812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7457" name="Rectangle 45"/>
            <p:cNvSpPr>
              <a:spLocks noChangeArrowheads="1"/>
            </p:cNvSpPr>
            <p:nvPr/>
          </p:nvSpPr>
          <p:spPr bwMode="auto">
            <a:xfrm>
              <a:off x="1176049" y="3763478"/>
              <a:ext cx="214170" cy="79683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56" name="Oval 155"/>
            <p:cNvSpPr/>
            <p:nvPr/>
          </p:nvSpPr>
          <p:spPr>
            <a:xfrm>
              <a:off x="1681116" y="4162380"/>
              <a:ext cx="114297" cy="146021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7" name="Oval 156"/>
            <p:cNvSpPr/>
            <p:nvPr/>
          </p:nvSpPr>
          <p:spPr>
            <a:xfrm>
              <a:off x="2489130" y="4025882"/>
              <a:ext cx="114297" cy="14602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58" name="Oval 157"/>
            <p:cNvSpPr/>
            <p:nvPr/>
          </p:nvSpPr>
          <p:spPr>
            <a:xfrm>
              <a:off x="3359055" y="4108416"/>
              <a:ext cx="114297" cy="147608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87461" name="Rectangle 43"/>
            <p:cNvSpPr>
              <a:spLocks noChangeArrowheads="1"/>
            </p:cNvSpPr>
            <p:nvPr/>
          </p:nvSpPr>
          <p:spPr bwMode="auto">
            <a:xfrm>
              <a:off x="1201868" y="4560310"/>
              <a:ext cx="7727044" cy="13226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60" name="Oval 159"/>
            <p:cNvSpPr/>
            <p:nvPr/>
          </p:nvSpPr>
          <p:spPr>
            <a:xfrm>
              <a:off x="4263905" y="4044929"/>
              <a:ext cx="114297" cy="146021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87463" name="Rectangle 42"/>
            <p:cNvSpPr>
              <a:spLocks noChangeArrowheads="1"/>
            </p:cNvSpPr>
            <p:nvPr/>
          </p:nvSpPr>
          <p:spPr bwMode="auto">
            <a:xfrm>
              <a:off x="1201868" y="3663873"/>
              <a:ext cx="7727044" cy="13226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78" name="Oval 177"/>
            <p:cNvSpPr/>
            <p:nvPr/>
          </p:nvSpPr>
          <p:spPr>
            <a:xfrm>
              <a:off x="5535457" y="3911605"/>
              <a:ext cx="114297" cy="14602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79" name="Oval 178"/>
            <p:cNvSpPr/>
            <p:nvPr/>
          </p:nvSpPr>
          <p:spPr>
            <a:xfrm>
              <a:off x="5344962" y="4106829"/>
              <a:ext cx="114297" cy="147607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0" name="Oval 179"/>
            <p:cNvSpPr/>
            <p:nvPr/>
          </p:nvSpPr>
          <p:spPr>
            <a:xfrm flipH="1">
              <a:off x="8197619" y="4095718"/>
              <a:ext cx="114297" cy="147608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1" name="Oval 180"/>
            <p:cNvSpPr/>
            <p:nvPr/>
          </p:nvSpPr>
          <p:spPr>
            <a:xfrm flipH="1">
              <a:off x="5627529" y="4113178"/>
              <a:ext cx="114297" cy="146021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2" name="Oval 181"/>
            <p:cNvSpPr/>
            <p:nvPr/>
          </p:nvSpPr>
          <p:spPr>
            <a:xfrm flipH="1">
              <a:off x="5557681" y="4308401"/>
              <a:ext cx="114297" cy="147608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3" name="Oval 182"/>
            <p:cNvSpPr/>
            <p:nvPr/>
          </p:nvSpPr>
          <p:spPr>
            <a:xfrm flipH="1">
              <a:off x="5387823" y="3925890"/>
              <a:ext cx="114297" cy="147607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4" name="Oval 183"/>
            <p:cNvSpPr/>
            <p:nvPr/>
          </p:nvSpPr>
          <p:spPr>
            <a:xfrm flipH="1">
              <a:off x="5416397" y="4371888"/>
              <a:ext cx="114297" cy="146021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5" name="Oval 184"/>
            <p:cNvSpPr/>
            <p:nvPr/>
          </p:nvSpPr>
          <p:spPr>
            <a:xfrm flipH="1">
              <a:off x="5486245" y="4165554"/>
              <a:ext cx="114297" cy="147608"/>
            </a:xfrm>
            <a:prstGeom prst="ellips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6" name="Oval 185"/>
            <p:cNvSpPr/>
            <p:nvPr/>
          </p:nvSpPr>
          <p:spPr>
            <a:xfrm>
              <a:off x="7283245" y="4063975"/>
              <a:ext cx="114297" cy="146021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7" name="Oval 186"/>
            <p:cNvSpPr/>
            <p:nvPr/>
          </p:nvSpPr>
          <p:spPr>
            <a:xfrm>
              <a:off x="6406969" y="4113178"/>
              <a:ext cx="114297" cy="14602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88" name="Oval 187"/>
            <p:cNvSpPr/>
            <p:nvPr/>
          </p:nvSpPr>
          <p:spPr>
            <a:xfrm>
              <a:off x="9029446" y="4079847"/>
              <a:ext cx="114297" cy="147608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87475" name="Rectangle 43"/>
            <p:cNvSpPr>
              <a:spLocks noChangeArrowheads="1"/>
            </p:cNvSpPr>
            <p:nvPr/>
          </p:nvSpPr>
          <p:spPr bwMode="auto">
            <a:xfrm>
              <a:off x="1196429" y="1125781"/>
              <a:ext cx="7727044" cy="13226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7476" name="Rectangle 42"/>
            <p:cNvSpPr>
              <a:spLocks noChangeArrowheads="1"/>
            </p:cNvSpPr>
            <p:nvPr/>
          </p:nvSpPr>
          <p:spPr bwMode="auto">
            <a:xfrm>
              <a:off x="1196429" y="229344"/>
              <a:ext cx="7727044" cy="13226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87477" name="TextBox 343"/>
            <p:cNvSpPr txBox="1">
              <a:spLocks noChangeArrowheads="1"/>
            </p:cNvSpPr>
            <p:nvPr/>
          </p:nvSpPr>
          <p:spPr bwMode="auto">
            <a:xfrm>
              <a:off x="244979" y="1433930"/>
              <a:ext cx="1469571" cy="19389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2400" dirty="0"/>
                <a:t>Pressure is higher than normal here</a:t>
              </a:r>
            </a:p>
          </p:txBody>
        </p:sp>
        <p:cxnSp>
          <p:nvCxnSpPr>
            <p:cNvPr id="363" name="Straight Arrow Connector 362"/>
            <p:cNvCxnSpPr/>
            <p:nvPr/>
          </p:nvCxnSpPr>
          <p:spPr>
            <a:xfrm flipV="1">
              <a:off x="1616029" y="1107056"/>
              <a:ext cx="1012796" cy="623762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Arrow Connector 364"/>
            <p:cNvCxnSpPr/>
            <p:nvPr/>
          </p:nvCxnSpPr>
          <p:spPr>
            <a:xfrm flipV="1">
              <a:off x="1600155" y="943576"/>
              <a:ext cx="6629213" cy="803114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Arrow Connector 369"/>
            <p:cNvCxnSpPr/>
            <p:nvPr/>
          </p:nvCxnSpPr>
          <p:spPr>
            <a:xfrm>
              <a:off x="1616029" y="1746690"/>
              <a:ext cx="3821005" cy="2283955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7481" name="TextBox 370"/>
            <p:cNvSpPr txBox="1">
              <a:spLocks noChangeArrowheads="1"/>
            </p:cNvSpPr>
            <p:nvPr/>
          </p:nvSpPr>
          <p:spPr bwMode="auto">
            <a:xfrm>
              <a:off x="0" y="4724400"/>
              <a:ext cx="1469571" cy="156966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2400" dirty="0"/>
                <a:t>Pressure change is almost zero here</a:t>
              </a:r>
            </a:p>
          </p:txBody>
        </p:sp>
        <p:cxnSp>
          <p:nvCxnSpPr>
            <p:cNvPr id="374" name="Straight Arrow Connector 373"/>
            <p:cNvCxnSpPr/>
            <p:nvPr/>
          </p:nvCxnSpPr>
          <p:spPr>
            <a:xfrm flipV="1">
              <a:off x="1508083" y="4359191"/>
              <a:ext cx="1920821" cy="1241176"/>
            </a:xfrm>
            <a:prstGeom prst="straightConnector1">
              <a:avLst/>
            </a:prstGeom>
            <a:ln>
              <a:solidFill>
                <a:srgbClr val="FFC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Straight Arrow Connector 377"/>
            <p:cNvCxnSpPr/>
            <p:nvPr/>
          </p:nvCxnSpPr>
          <p:spPr>
            <a:xfrm rot="5400000" flipH="1" flipV="1">
              <a:off x="473462" y="2024230"/>
              <a:ext cx="4637745" cy="2514529"/>
            </a:xfrm>
            <a:prstGeom prst="straightConnector1">
              <a:avLst/>
            </a:prstGeom>
            <a:ln>
              <a:solidFill>
                <a:srgbClr val="FFC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Straight Arrow Connector 380"/>
            <p:cNvCxnSpPr/>
            <p:nvPr/>
          </p:nvCxnSpPr>
          <p:spPr>
            <a:xfrm flipV="1">
              <a:off x="1519195" y="4359191"/>
              <a:ext cx="5306862" cy="1225304"/>
            </a:xfrm>
            <a:prstGeom prst="straightConnector1">
              <a:avLst/>
            </a:prstGeom>
            <a:ln>
              <a:solidFill>
                <a:srgbClr val="FFC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Rectangle 130"/>
            <p:cNvSpPr/>
            <p:nvPr/>
          </p:nvSpPr>
          <p:spPr>
            <a:xfrm flipV="1">
              <a:off x="2428807" y="1478456"/>
              <a:ext cx="263518" cy="67931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2" name="Rectangle 131"/>
            <p:cNvSpPr/>
            <p:nvPr/>
          </p:nvSpPr>
          <p:spPr>
            <a:xfrm flipV="1">
              <a:off x="2890757" y="1684790"/>
              <a:ext cx="266692" cy="4729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3" name="Rectangle 132"/>
            <p:cNvSpPr/>
            <p:nvPr/>
          </p:nvSpPr>
          <p:spPr>
            <a:xfrm>
              <a:off x="3401917" y="1913344"/>
              <a:ext cx="277804" cy="2253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4" name="Rectangle 133"/>
            <p:cNvSpPr/>
            <p:nvPr/>
          </p:nvSpPr>
          <p:spPr>
            <a:xfrm flipV="1">
              <a:off x="3914665" y="2122852"/>
              <a:ext cx="238118" cy="9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5" name="Rectangle 134"/>
            <p:cNvSpPr/>
            <p:nvPr/>
          </p:nvSpPr>
          <p:spPr>
            <a:xfrm flipV="1">
              <a:off x="4457574" y="2138724"/>
              <a:ext cx="266692" cy="42377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6" name="Rectangle 135"/>
            <p:cNvSpPr/>
            <p:nvPr/>
          </p:nvSpPr>
          <p:spPr>
            <a:xfrm flipV="1">
              <a:off x="4936986" y="2138724"/>
              <a:ext cx="227007" cy="64439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7" name="Rectangle 136"/>
            <p:cNvSpPr/>
            <p:nvPr/>
          </p:nvSpPr>
          <p:spPr>
            <a:xfrm flipV="1">
              <a:off x="5432272" y="2138724"/>
              <a:ext cx="233356" cy="70470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8" name="Rectangle 137"/>
            <p:cNvSpPr/>
            <p:nvPr/>
          </p:nvSpPr>
          <p:spPr>
            <a:xfrm flipV="1">
              <a:off x="5862473" y="2138724"/>
              <a:ext cx="233355" cy="57614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39" name="Rectangle 138"/>
            <p:cNvSpPr/>
            <p:nvPr/>
          </p:nvSpPr>
          <p:spPr>
            <a:xfrm>
              <a:off x="6324422" y="2181577"/>
              <a:ext cx="277805" cy="19363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0" name="Rectangle 139"/>
            <p:cNvSpPr/>
            <p:nvPr/>
          </p:nvSpPr>
          <p:spPr>
            <a:xfrm flipV="1">
              <a:off x="6754623" y="2138724"/>
              <a:ext cx="228594" cy="7142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1" name="Rectangle 140"/>
            <p:cNvSpPr/>
            <p:nvPr/>
          </p:nvSpPr>
          <p:spPr>
            <a:xfrm flipV="1">
              <a:off x="7200697" y="1833985"/>
              <a:ext cx="300030" cy="32537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8" name="Rectangle 147"/>
            <p:cNvSpPr/>
            <p:nvPr/>
          </p:nvSpPr>
          <p:spPr>
            <a:xfrm flipV="1">
              <a:off x="8626232" y="1564164"/>
              <a:ext cx="212719" cy="59995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149" name="Rectangle 148"/>
            <p:cNvSpPr/>
            <p:nvPr/>
          </p:nvSpPr>
          <p:spPr>
            <a:xfrm flipV="1">
              <a:off x="8161108" y="1495915"/>
              <a:ext cx="304791" cy="66026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grpSp>
          <p:nvGrpSpPr>
            <p:cNvPr id="3" name="Group 542"/>
            <p:cNvGrpSpPr>
              <a:grpSpLocks/>
            </p:cNvGrpSpPr>
            <p:nvPr/>
          </p:nvGrpSpPr>
          <p:grpSpPr bwMode="auto">
            <a:xfrm>
              <a:off x="2573838" y="1496023"/>
              <a:ext cx="6640042" cy="1382644"/>
              <a:chOff x="2573838" y="1496023"/>
              <a:chExt cx="6640042" cy="1382644"/>
            </a:xfrm>
          </p:grpSpPr>
          <p:sp>
            <p:nvSpPr>
              <p:cNvPr id="487594" name="Line 44"/>
              <p:cNvSpPr>
                <a:spLocks noChangeShapeType="1"/>
              </p:cNvSpPr>
              <p:nvPr/>
            </p:nvSpPr>
            <p:spPr bwMode="auto">
              <a:xfrm>
                <a:off x="2573838" y="1512958"/>
                <a:ext cx="86879" cy="3331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95" name="Line 45"/>
              <p:cNvSpPr>
                <a:spLocks noChangeShapeType="1"/>
              </p:cNvSpPr>
              <p:nvPr/>
            </p:nvSpPr>
            <p:spPr bwMode="auto">
              <a:xfrm>
                <a:off x="2660716" y="1516290"/>
                <a:ext cx="91705" cy="999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96" name="Line 46"/>
              <p:cNvSpPr>
                <a:spLocks noChangeShapeType="1"/>
              </p:cNvSpPr>
              <p:nvPr/>
            </p:nvSpPr>
            <p:spPr bwMode="auto">
              <a:xfrm>
                <a:off x="2752423" y="1526282"/>
                <a:ext cx="91705" cy="1998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97" name="Line 47"/>
              <p:cNvSpPr>
                <a:spLocks noChangeShapeType="1"/>
              </p:cNvSpPr>
              <p:nvPr/>
            </p:nvSpPr>
            <p:spPr bwMode="auto">
              <a:xfrm>
                <a:off x="2844128" y="1546268"/>
                <a:ext cx="91705" cy="2331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98" name="Line 48"/>
              <p:cNvSpPr>
                <a:spLocks noChangeShapeType="1"/>
              </p:cNvSpPr>
              <p:nvPr/>
            </p:nvSpPr>
            <p:spPr bwMode="auto">
              <a:xfrm>
                <a:off x="2935833" y="1569585"/>
                <a:ext cx="91705" cy="29979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99" name="Line 49"/>
              <p:cNvSpPr>
                <a:spLocks noChangeShapeType="1"/>
              </p:cNvSpPr>
              <p:nvPr/>
            </p:nvSpPr>
            <p:spPr bwMode="auto">
              <a:xfrm>
                <a:off x="3027537" y="1599565"/>
                <a:ext cx="86879" cy="3664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00" name="Line 50"/>
              <p:cNvSpPr>
                <a:spLocks noChangeShapeType="1"/>
              </p:cNvSpPr>
              <p:nvPr/>
            </p:nvSpPr>
            <p:spPr bwMode="auto">
              <a:xfrm>
                <a:off x="3114414" y="1636206"/>
                <a:ext cx="91705" cy="4330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01" name="Line 51"/>
              <p:cNvSpPr>
                <a:spLocks noChangeShapeType="1"/>
              </p:cNvSpPr>
              <p:nvPr/>
            </p:nvSpPr>
            <p:spPr bwMode="auto">
              <a:xfrm>
                <a:off x="3206121" y="1679508"/>
                <a:ext cx="91705" cy="46634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02" name="Line 52"/>
              <p:cNvSpPr>
                <a:spLocks noChangeShapeType="1"/>
              </p:cNvSpPr>
              <p:nvPr/>
            </p:nvSpPr>
            <p:spPr bwMode="auto">
              <a:xfrm>
                <a:off x="3297826" y="1726142"/>
                <a:ext cx="91705" cy="5329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03" name="Line 53"/>
              <p:cNvSpPr>
                <a:spLocks noChangeShapeType="1"/>
              </p:cNvSpPr>
              <p:nvPr/>
            </p:nvSpPr>
            <p:spPr bwMode="auto">
              <a:xfrm>
                <a:off x="3389532" y="1779438"/>
                <a:ext cx="91705" cy="5662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04" name="Line 54"/>
              <p:cNvSpPr>
                <a:spLocks noChangeShapeType="1"/>
              </p:cNvSpPr>
              <p:nvPr/>
            </p:nvSpPr>
            <p:spPr bwMode="auto">
              <a:xfrm>
                <a:off x="3481236" y="1836065"/>
                <a:ext cx="86879" cy="5995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05" name="Line 55"/>
              <p:cNvSpPr>
                <a:spLocks noChangeShapeType="1"/>
              </p:cNvSpPr>
              <p:nvPr/>
            </p:nvSpPr>
            <p:spPr bwMode="auto">
              <a:xfrm>
                <a:off x="3568114" y="1896023"/>
                <a:ext cx="91705" cy="6329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06" name="Line 56"/>
              <p:cNvSpPr>
                <a:spLocks noChangeShapeType="1"/>
              </p:cNvSpPr>
              <p:nvPr/>
            </p:nvSpPr>
            <p:spPr bwMode="auto">
              <a:xfrm>
                <a:off x="3659819" y="1959312"/>
                <a:ext cx="91705" cy="666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07" name="Line 57"/>
              <p:cNvSpPr>
                <a:spLocks noChangeShapeType="1"/>
              </p:cNvSpPr>
              <p:nvPr/>
            </p:nvSpPr>
            <p:spPr bwMode="auto">
              <a:xfrm>
                <a:off x="3751525" y="2025932"/>
                <a:ext cx="91705" cy="666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08" name="Line 58"/>
              <p:cNvSpPr>
                <a:spLocks noChangeShapeType="1"/>
              </p:cNvSpPr>
              <p:nvPr/>
            </p:nvSpPr>
            <p:spPr bwMode="auto">
              <a:xfrm>
                <a:off x="3843229" y="2092553"/>
                <a:ext cx="91705" cy="6995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09" name="Line 59"/>
              <p:cNvSpPr>
                <a:spLocks noChangeShapeType="1"/>
              </p:cNvSpPr>
              <p:nvPr/>
            </p:nvSpPr>
            <p:spPr bwMode="auto">
              <a:xfrm>
                <a:off x="3934934" y="2162503"/>
                <a:ext cx="86879" cy="666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10" name="Line 60"/>
              <p:cNvSpPr>
                <a:spLocks noChangeShapeType="1"/>
              </p:cNvSpPr>
              <p:nvPr/>
            </p:nvSpPr>
            <p:spPr bwMode="auto">
              <a:xfrm>
                <a:off x="4021814" y="2229123"/>
                <a:ext cx="91705" cy="6995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11" name="Line 61"/>
              <p:cNvSpPr>
                <a:spLocks noChangeShapeType="1"/>
              </p:cNvSpPr>
              <p:nvPr/>
            </p:nvSpPr>
            <p:spPr bwMode="auto">
              <a:xfrm>
                <a:off x="4113518" y="2299074"/>
                <a:ext cx="91705" cy="666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12" name="Line 62"/>
              <p:cNvSpPr>
                <a:spLocks noChangeShapeType="1"/>
              </p:cNvSpPr>
              <p:nvPr/>
            </p:nvSpPr>
            <p:spPr bwMode="auto">
              <a:xfrm>
                <a:off x="4205223" y="2365693"/>
                <a:ext cx="91705" cy="666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13" name="Line 63"/>
              <p:cNvSpPr>
                <a:spLocks noChangeShapeType="1"/>
              </p:cNvSpPr>
              <p:nvPr/>
            </p:nvSpPr>
            <p:spPr bwMode="auto">
              <a:xfrm>
                <a:off x="4296929" y="2432312"/>
                <a:ext cx="91705" cy="6329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14" name="Line 64"/>
              <p:cNvSpPr>
                <a:spLocks noChangeShapeType="1"/>
              </p:cNvSpPr>
              <p:nvPr/>
            </p:nvSpPr>
            <p:spPr bwMode="auto">
              <a:xfrm>
                <a:off x="4388633" y="2495603"/>
                <a:ext cx="86879" cy="5995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15" name="Line 65"/>
              <p:cNvSpPr>
                <a:spLocks noChangeShapeType="1"/>
              </p:cNvSpPr>
              <p:nvPr/>
            </p:nvSpPr>
            <p:spPr bwMode="auto">
              <a:xfrm>
                <a:off x="4475511" y="2555560"/>
                <a:ext cx="91705" cy="5662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16" name="Line 66"/>
              <p:cNvSpPr>
                <a:spLocks noChangeShapeType="1"/>
              </p:cNvSpPr>
              <p:nvPr/>
            </p:nvSpPr>
            <p:spPr bwMode="auto">
              <a:xfrm>
                <a:off x="4567216" y="2612186"/>
                <a:ext cx="91705" cy="5329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17" name="Line 67"/>
              <p:cNvSpPr>
                <a:spLocks noChangeShapeType="1"/>
              </p:cNvSpPr>
              <p:nvPr/>
            </p:nvSpPr>
            <p:spPr bwMode="auto">
              <a:xfrm>
                <a:off x="4658922" y="2665483"/>
                <a:ext cx="91705" cy="46634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18" name="Line 68"/>
              <p:cNvSpPr>
                <a:spLocks noChangeShapeType="1"/>
              </p:cNvSpPr>
              <p:nvPr/>
            </p:nvSpPr>
            <p:spPr bwMode="auto">
              <a:xfrm>
                <a:off x="4750627" y="2712117"/>
                <a:ext cx="86879" cy="4330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19" name="Line 69"/>
              <p:cNvSpPr>
                <a:spLocks noChangeShapeType="1"/>
              </p:cNvSpPr>
              <p:nvPr/>
            </p:nvSpPr>
            <p:spPr bwMode="auto">
              <a:xfrm>
                <a:off x="4837506" y="2755421"/>
                <a:ext cx="91705" cy="3664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20" name="Line 70"/>
              <p:cNvSpPr>
                <a:spLocks noChangeShapeType="1"/>
              </p:cNvSpPr>
              <p:nvPr/>
            </p:nvSpPr>
            <p:spPr bwMode="auto">
              <a:xfrm>
                <a:off x="4929211" y="2792061"/>
                <a:ext cx="91705" cy="29979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21" name="Line 71"/>
              <p:cNvSpPr>
                <a:spLocks noChangeShapeType="1"/>
              </p:cNvSpPr>
              <p:nvPr/>
            </p:nvSpPr>
            <p:spPr bwMode="auto">
              <a:xfrm>
                <a:off x="5020915" y="2822039"/>
                <a:ext cx="91705" cy="2331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22" name="Line 72"/>
              <p:cNvSpPr>
                <a:spLocks noChangeShapeType="1"/>
              </p:cNvSpPr>
              <p:nvPr/>
            </p:nvSpPr>
            <p:spPr bwMode="auto">
              <a:xfrm>
                <a:off x="5112620" y="2845356"/>
                <a:ext cx="91705" cy="1998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23" name="Line 73"/>
              <p:cNvSpPr>
                <a:spLocks noChangeShapeType="1"/>
              </p:cNvSpPr>
              <p:nvPr/>
            </p:nvSpPr>
            <p:spPr bwMode="auto">
              <a:xfrm>
                <a:off x="5204324" y="2865343"/>
                <a:ext cx="91705" cy="999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24" name="Line 74"/>
              <p:cNvSpPr>
                <a:spLocks noChangeShapeType="1"/>
              </p:cNvSpPr>
              <p:nvPr/>
            </p:nvSpPr>
            <p:spPr bwMode="auto">
              <a:xfrm>
                <a:off x="5296030" y="2875336"/>
                <a:ext cx="86879" cy="3331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25" name="Line 75"/>
              <p:cNvSpPr>
                <a:spLocks noChangeShapeType="1"/>
              </p:cNvSpPr>
              <p:nvPr/>
            </p:nvSpPr>
            <p:spPr bwMode="auto">
              <a:xfrm flipV="1">
                <a:off x="5382910" y="2875336"/>
                <a:ext cx="91705" cy="3331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26" name="Line 76"/>
              <p:cNvSpPr>
                <a:spLocks noChangeShapeType="1"/>
              </p:cNvSpPr>
              <p:nvPr/>
            </p:nvSpPr>
            <p:spPr bwMode="auto">
              <a:xfrm flipV="1">
                <a:off x="5474614" y="2865343"/>
                <a:ext cx="91705" cy="999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27" name="Line 77"/>
              <p:cNvSpPr>
                <a:spLocks noChangeShapeType="1"/>
              </p:cNvSpPr>
              <p:nvPr/>
            </p:nvSpPr>
            <p:spPr bwMode="auto">
              <a:xfrm flipV="1">
                <a:off x="5566319" y="2848688"/>
                <a:ext cx="91705" cy="1665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28" name="Line 78"/>
              <p:cNvSpPr>
                <a:spLocks noChangeShapeType="1"/>
              </p:cNvSpPr>
              <p:nvPr/>
            </p:nvSpPr>
            <p:spPr bwMode="auto">
              <a:xfrm flipV="1">
                <a:off x="5658023" y="2825371"/>
                <a:ext cx="91705" cy="2331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29" name="Line 79"/>
              <p:cNvSpPr>
                <a:spLocks noChangeShapeType="1"/>
              </p:cNvSpPr>
              <p:nvPr/>
            </p:nvSpPr>
            <p:spPr bwMode="auto">
              <a:xfrm flipV="1">
                <a:off x="5749728" y="2795392"/>
                <a:ext cx="86879" cy="29979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30" name="Line 80"/>
              <p:cNvSpPr>
                <a:spLocks noChangeShapeType="1"/>
              </p:cNvSpPr>
              <p:nvPr/>
            </p:nvSpPr>
            <p:spPr bwMode="auto">
              <a:xfrm flipV="1">
                <a:off x="5836607" y="2758752"/>
                <a:ext cx="91705" cy="3664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31" name="Line 81"/>
              <p:cNvSpPr>
                <a:spLocks noChangeShapeType="1"/>
              </p:cNvSpPr>
              <p:nvPr/>
            </p:nvSpPr>
            <p:spPr bwMode="auto">
              <a:xfrm flipV="1">
                <a:off x="5928313" y="2718779"/>
                <a:ext cx="91705" cy="3997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32" name="Line 82"/>
              <p:cNvSpPr>
                <a:spLocks noChangeShapeType="1"/>
              </p:cNvSpPr>
              <p:nvPr/>
            </p:nvSpPr>
            <p:spPr bwMode="auto">
              <a:xfrm flipV="1">
                <a:off x="6020018" y="2672145"/>
                <a:ext cx="91705" cy="46634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33" name="Line 83"/>
              <p:cNvSpPr>
                <a:spLocks noChangeShapeType="1"/>
              </p:cNvSpPr>
              <p:nvPr/>
            </p:nvSpPr>
            <p:spPr bwMode="auto">
              <a:xfrm flipV="1">
                <a:off x="6111723" y="2618848"/>
                <a:ext cx="91705" cy="5329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34" name="Line 84"/>
              <p:cNvSpPr>
                <a:spLocks noChangeShapeType="1"/>
              </p:cNvSpPr>
              <p:nvPr/>
            </p:nvSpPr>
            <p:spPr bwMode="auto">
              <a:xfrm flipV="1">
                <a:off x="6203427" y="2562221"/>
                <a:ext cx="86879" cy="5662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35" name="Line 85"/>
              <p:cNvSpPr>
                <a:spLocks noChangeShapeType="1"/>
              </p:cNvSpPr>
              <p:nvPr/>
            </p:nvSpPr>
            <p:spPr bwMode="auto">
              <a:xfrm flipV="1">
                <a:off x="6290306" y="2502263"/>
                <a:ext cx="91705" cy="5995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36" name="Line 86"/>
              <p:cNvSpPr>
                <a:spLocks noChangeShapeType="1"/>
              </p:cNvSpPr>
              <p:nvPr/>
            </p:nvSpPr>
            <p:spPr bwMode="auto">
              <a:xfrm flipV="1">
                <a:off x="6382011" y="2438974"/>
                <a:ext cx="91705" cy="6329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37" name="Line 87"/>
              <p:cNvSpPr>
                <a:spLocks noChangeShapeType="1"/>
              </p:cNvSpPr>
              <p:nvPr/>
            </p:nvSpPr>
            <p:spPr bwMode="auto">
              <a:xfrm flipV="1">
                <a:off x="6473717" y="2372355"/>
                <a:ext cx="91705" cy="666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38" name="Line 88"/>
              <p:cNvSpPr>
                <a:spLocks noChangeShapeType="1"/>
              </p:cNvSpPr>
              <p:nvPr/>
            </p:nvSpPr>
            <p:spPr bwMode="auto">
              <a:xfrm flipV="1">
                <a:off x="6565422" y="2305736"/>
                <a:ext cx="91705" cy="666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39" name="Line 89"/>
              <p:cNvSpPr>
                <a:spLocks noChangeShapeType="1"/>
              </p:cNvSpPr>
              <p:nvPr/>
            </p:nvSpPr>
            <p:spPr bwMode="auto">
              <a:xfrm flipV="1">
                <a:off x="6657126" y="2235785"/>
                <a:ext cx="91705" cy="6995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40" name="Line 90"/>
              <p:cNvSpPr>
                <a:spLocks noChangeShapeType="1"/>
              </p:cNvSpPr>
              <p:nvPr/>
            </p:nvSpPr>
            <p:spPr bwMode="auto">
              <a:xfrm flipV="1">
                <a:off x="6748831" y="2169165"/>
                <a:ext cx="86879" cy="666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41" name="Line 91"/>
              <p:cNvSpPr>
                <a:spLocks noChangeShapeType="1"/>
              </p:cNvSpPr>
              <p:nvPr/>
            </p:nvSpPr>
            <p:spPr bwMode="auto">
              <a:xfrm flipV="1">
                <a:off x="6835710" y="2099214"/>
                <a:ext cx="91705" cy="6995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42" name="Line 92"/>
              <p:cNvSpPr>
                <a:spLocks noChangeShapeType="1"/>
              </p:cNvSpPr>
              <p:nvPr/>
            </p:nvSpPr>
            <p:spPr bwMode="auto">
              <a:xfrm flipV="1">
                <a:off x="6927415" y="2032594"/>
                <a:ext cx="91705" cy="666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43" name="Line 93"/>
              <p:cNvSpPr>
                <a:spLocks noChangeShapeType="1"/>
              </p:cNvSpPr>
              <p:nvPr/>
            </p:nvSpPr>
            <p:spPr bwMode="auto">
              <a:xfrm flipV="1">
                <a:off x="7019119" y="1965974"/>
                <a:ext cx="91705" cy="666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44" name="Line 94"/>
              <p:cNvSpPr>
                <a:spLocks noChangeShapeType="1"/>
              </p:cNvSpPr>
              <p:nvPr/>
            </p:nvSpPr>
            <p:spPr bwMode="auto">
              <a:xfrm flipV="1">
                <a:off x="7110826" y="1902683"/>
                <a:ext cx="91705" cy="6329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45" name="Line 95"/>
              <p:cNvSpPr>
                <a:spLocks noChangeShapeType="1"/>
              </p:cNvSpPr>
              <p:nvPr/>
            </p:nvSpPr>
            <p:spPr bwMode="auto">
              <a:xfrm flipV="1">
                <a:off x="7202530" y="1842727"/>
                <a:ext cx="86879" cy="5995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46" name="Line 33"/>
              <p:cNvSpPr>
                <a:spLocks noChangeShapeType="1"/>
              </p:cNvSpPr>
              <p:nvPr/>
            </p:nvSpPr>
            <p:spPr bwMode="auto">
              <a:xfrm flipH="1" flipV="1">
                <a:off x="9127001" y="1812468"/>
                <a:ext cx="86879" cy="5995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47" name="Line 34"/>
              <p:cNvSpPr>
                <a:spLocks noChangeShapeType="1"/>
              </p:cNvSpPr>
              <p:nvPr/>
            </p:nvSpPr>
            <p:spPr bwMode="auto">
              <a:xfrm flipH="1" flipV="1">
                <a:off x="9035296" y="1755841"/>
                <a:ext cx="91705" cy="5662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48" name="Line 35"/>
              <p:cNvSpPr>
                <a:spLocks noChangeShapeType="1"/>
              </p:cNvSpPr>
              <p:nvPr/>
            </p:nvSpPr>
            <p:spPr bwMode="auto">
              <a:xfrm flipH="1" flipV="1">
                <a:off x="8943592" y="1705877"/>
                <a:ext cx="91705" cy="4996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49" name="Line 36"/>
              <p:cNvSpPr>
                <a:spLocks noChangeShapeType="1"/>
              </p:cNvSpPr>
              <p:nvPr/>
            </p:nvSpPr>
            <p:spPr bwMode="auto">
              <a:xfrm flipH="1" flipV="1">
                <a:off x="8851886" y="1655912"/>
                <a:ext cx="91705" cy="4996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50" name="Line 37"/>
              <p:cNvSpPr>
                <a:spLocks noChangeShapeType="1"/>
              </p:cNvSpPr>
              <p:nvPr/>
            </p:nvSpPr>
            <p:spPr bwMode="auto">
              <a:xfrm flipH="1" flipV="1">
                <a:off x="8760181" y="1615940"/>
                <a:ext cx="91705" cy="3997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51" name="Line 38"/>
              <p:cNvSpPr>
                <a:spLocks noChangeShapeType="1"/>
              </p:cNvSpPr>
              <p:nvPr/>
            </p:nvSpPr>
            <p:spPr bwMode="auto">
              <a:xfrm flipH="1" flipV="1">
                <a:off x="8673304" y="1579300"/>
                <a:ext cx="86879" cy="3664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52" name="Line 39"/>
              <p:cNvSpPr>
                <a:spLocks noChangeShapeType="1"/>
              </p:cNvSpPr>
              <p:nvPr/>
            </p:nvSpPr>
            <p:spPr bwMode="auto">
              <a:xfrm flipH="1" flipV="1">
                <a:off x="8581597" y="1549319"/>
                <a:ext cx="91705" cy="29979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53" name="Line 40"/>
              <p:cNvSpPr>
                <a:spLocks noChangeShapeType="1"/>
              </p:cNvSpPr>
              <p:nvPr/>
            </p:nvSpPr>
            <p:spPr bwMode="auto">
              <a:xfrm flipH="1" flipV="1">
                <a:off x="8489892" y="1526003"/>
                <a:ext cx="91705" cy="2331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54" name="Line 41"/>
              <p:cNvSpPr>
                <a:spLocks noChangeShapeType="1"/>
              </p:cNvSpPr>
              <p:nvPr/>
            </p:nvSpPr>
            <p:spPr bwMode="auto">
              <a:xfrm flipH="1" flipV="1">
                <a:off x="8398187" y="1509348"/>
                <a:ext cx="91705" cy="1665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55" name="Line 42"/>
              <p:cNvSpPr>
                <a:spLocks noChangeShapeType="1"/>
              </p:cNvSpPr>
              <p:nvPr/>
            </p:nvSpPr>
            <p:spPr bwMode="auto">
              <a:xfrm flipH="1" flipV="1">
                <a:off x="8306482" y="1499355"/>
                <a:ext cx="91705" cy="999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56" name="Line 43"/>
              <p:cNvSpPr>
                <a:spLocks noChangeShapeType="1"/>
              </p:cNvSpPr>
              <p:nvPr/>
            </p:nvSpPr>
            <p:spPr bwMode="auto">
              <a:xfrm flipH="1" flipV="1">
                <a:off x="8214778" y="1496023"/>
                <a:ext cx="91705" cy="3331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57" name="Line 44"/>
              <p:cNvSpPr>
                <a:spLocks noChangeShapeType="1"/>
              </p:cNvSpPr>
              <p:nvPr/>
            </p:nvSpPr>
            <p:spPr bwMode="auto">
              <a:xfrm flipH="1">
                <a:off x="8127900" y="1496023"/>
                <a:ext cx="86879" cy="3331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58" name="Line 45"/>
              <p:cNvSpPr>
                <a:spLocks noChangeShapeType="1"/>
              </p:cNvSpPr>
              <p:nvPr/>
            </p:nvSpPr>
            <p:spPr bwMode="auto">
              <a:xfrm flipH="1">
                <a:off x="8036194" y="1499355"/>
                <a:ext cx="91705" cy="999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59" name="Line 46"/>
              <p:cNvSpPr>
                <a:spLocks noChangeShapeType="1"/>
              </p:cNvSpPr>
              <p:nvPr/>
            </p:nvSpPr>
            <p:spPr bwMode="auto">
              <a:xfrm flipH="1">
                <a:off x="7944488" y="1509347"/>
                <a:ext cx="91705" cy="1998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60" name="Line 47"/>
              <p:cNvSpPr>
                <a:spLocks noChangeShapeType="1"/>
              </p:cNvSpPr>
              <p:nvPr/>
            </p:nvSpPr>
            <p:spPr bwMode="auto">
              <a:xfrm flipH="1">
                <a:off x="7852783" y="1529333"/>
                <a:ext cx="91705" cy="2331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61" name="Line 48"/>
              <p:cNvSpPr>
                <a:spLocks noChangeShapeType="1"/>
              </p:cNvSpPr>
              <p:nvPr/>
            </p:nvSpPr>
            <p:spPr bwMode="auto">
              <a:xfrm flipH="1">
                <a:off x="7761078" y="1552650"/>
                <a:ext cx="91705" cy="29979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62" name="Line 49"/>
              <p:cNvSpPr>
                <a:spLocks noChangeShapeType="1"/>
              </p:cNvSpPr>
              <p:nvPr/>
            </p:nvSpPr>
            <p:spPr bwMode="auto">
              <a:xfrm flipH="1">
                <a:off x="7674201" y="1582630"/>
                <a:ext cx="86879" cy="3664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63" name="Line 50"/>
              <p:cNvSpPr>
                <a:spLocks noChangeShapeType="1"/>
              </p:cNvSpPr>
              <p:nvPr/>
            </p:nvSpPr>
            <p:spPr bwMode="auto">
              <a:xfrm flipH="1">
                <a:off x="7582495" y="1619271"/>
                <a:ext cx="91705" cy="4330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64" name="Line 51"/>
              <p:cNvSpPr>
                <a:spLocks noChangeShapeType="1"/>
              </p:cNvSpPr>
              <p:nvPr/>
            </p:nvSpPr>
            <p:spPr bwMode="auto">
              <a:xfrm flipH="1">
                <a:off x="7490790" y="1662573"/>
                <a:ext cx="91705" cy="46634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65" name="Line 52"/>
              <p:cNvSpPr>
                <a:spLocks noChangeShapeType="1"/>
              </p:cNvSpPr>
              <p:nvPr/>
            </p:nvSpPr>
            <p:spPr bwMode="auto">
              <a:xfrm flipH="1">
                <a:off x="7399085" y="1709207"/>
                <a:ext cx="91705" cy="5329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66" name="Line 53"/>
              <p:cNvSpPr>
                <a:spLocks noChangeShapeType="1"/>
              </p:cNvSpPr>
              <p:nvPr/>
            </p:nvSpPr>
            <p:spPr bwMode="auto">
              <a:xfrm flipH="1">
                <a:off x="7307379" y="1771735"/>
                <a:ext cx="91705" cy="5662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667" name="Line 54"/>
              <p:cNvSpPr>
                <a:spLocks noChangeShapeType="1"/>
              </p:cNvSpPr>
              <p:nvPr/>
            </p:nvSpPr>
            <p:spPr bwMode="auto">
              <a:xfrm flipH="1">
                <a:off x="7220501" y="1830743"/>
                <a:ext cx="86879" cy="5995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</p:grpSp>
        <p:sp>
          <p:nvSpPr>
            <p:cNvPr id="437" name="Rectangle 436"/>
            <p:cNvSpPr/>
            <p:nvPr/>
          </p:nvSpPr>
          <p:spPr>
            <a:xfrm flipV="1">
              <a:off x="7710271" y="1580036"/>
              <a:ext cx="214306" cy="60154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40" name="Rectangle 439"/>
            <p:cNvSpPr/>
            <p:nvPr/>
          </p:nvSpPr>
          <p:spPr>
            <a:xfrm>
              <a:off x="2395471" y="5890821"/>
              <a:ext cx="263518" cy="67931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41" name="Rectangle 440"/>
            <p:cNvSpPr/>
            <p:nvPr/>
          </p:nvSpPr>
          <p:spPr>
            <a:xfrm>
              <a:off x="2857419" y="5890821"/>
              <a:ext cx="265106" cy="47456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42" name="Rectangle 441"/>
            <p:cNvSpPr/>
            <p:nvPr/>
          </p:nvSpPr>
          <p:spPr>
            <a:xfrm flipV="1">
              <a:off x="3368580" y="5909867"/>
              <a:ext cx="276217" cy="2253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43" name="Rectangle 442"/>
            <p:cNvSpPr/>
            <p:nvPr/>
          </p:nvSpPr>
          <p:spPr>
            <a:xfrm>
              <a:off x="3879741" y="5825746"/>
              <a:ext cx="239706" cy="1015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44" name="Rectangle 443"/>
            <p:cNvSpPr/>
            <p:nvPr/>
          </p:nvSpPr>
          <p:spPr>
            <a:xfrm>
              <a:off x="4422650" y="5486089"/>
              <a:ext cx="268280" cy="42377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45" name="Rectangle 444"/>
            <p:cNvSpPr/>
            <p:nvPr/>
          </p:nvSpPr>
          <p:spPr>
            <a:xfrm>
              <a:off x="4903650" y="5267058"/>
              <a:ext cx="227006" cy="64280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46" name="Rectangle 445"/>
            <p:cNvSpPr/>
            <p:nvPr/>
          </p:nvSpPr>
          <p:spPr>
            <a:xfrm>
              <a:off x="5398936" y="5205159"/>
              <a:ext cx="233355" cy="70470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47" name="Rectangle 446"/>
            <p:cNvSpPr/>
            <p:nvPr/>
          </p:nvSpPr>
          <p:spPr>
            <a:xfrm>
              <a:off x="5829136" y="5333720"/>
              <a:ext cx="233356" cy="5761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48" name="Rectangle 447"/>
            <p:cNvSpPr/>
            <p:nvPr/>
          </p:nvSpPr>
          <p:spPr>
            <a:xfrm flipV="1">
              <a:off x="6291086" y="5674965"/>
              <a:ext cx="277804" cy="19204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49" name="Rectangle 448"/>
            <p:cNvSpPr/>
            <p:nvPr/>
          </p:nvSpPr>
          <p:spPr>
            <a:xfrm>
              <a:off x="6721286" y="5838444"/>
              <a:ext cx="228594" cy="7142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50" name="Rectangle 449"/>
            <p:cNvSpPr/>
            <p:nvPr/>
          </p:nvSpPr>
          <p:spPr>
            <a:xfrm>
              <a:off x="7167361" y="5889234"/>
              <a:ext cx="300029" cy="32537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53" name="Rectangle 452"/>
            <p:cNvSpPr/>
            <p:nvPr/>
          </p:nvSpPr>
          <p:spPr>
            <a:xfrm>
              <a:off x="8591308" y="5884473"/>
              <a:ext cx="214307" cy="60154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sp>
          <p:nvSpPr>
            <p:cNvPr id="454" name="Rectangle 453"/>
            <p:cNvSpPr/>
            <p:nvPr/>
          </p:nvSpPr>
          <p:spPr>
            <a:xfrm>
              <a:off x="8127771" y="5892408"/>
              <a:ext cx="304791" cy="66026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grpSp>
          <p:nvGrpSpPr>
            <p:cNvPr id="4" name="Group 541"/>
            <p:cNvGrpSpPr>
              <a:grpSpLocks/>
            </p:cNvGrpSpPr>
            <p:nvPr/>
          </p:nvGrpSpPr>
          <p:grpSpPr bwMode="auto">
            <a:xfrm>
              <a:off x="2539993" y="5170636"/>
              <a:ext cx="6640101" cy="1382644"/>
              <a:chOff x="2539993" y="5170636"/>
              <a:chExt cx="6640101" cy="1382644"/>
            </a:xfrm>
          </p:grpSpPr>
          <p:sp>
            <p:nvSpPr>
              <p:cNvPr id="487520" name="Line 44"/>
              <p:cNvSpPr>
                <a:spLocks noChangeShapeType="1"/>
              </p:cNvSpPr>
              <p:nvPr/>
            </p:nvSpPr>
            <p:spPr bwMode="auto">
              <a:xfrm flipV="1">
                <a:off x="2539993" y="6533014"/>
                <a:ext cx="86879" cy="3331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21" name="Line 45"/>
              <p:cNvSpPr>
                <a:spLocks noChangeShapeType="1"/>
              </p:cNvSpPr>
              <p:nvPr/>
            </p:nvSpPr>
            <p:spPr bwMode="auto">
              <a:xfrm flipV="1">
                <a:off x="2626871" y="6523020"/>
                <a:ext cx="91706" cy="999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22" name="Line 46"/>
              <p:cNvSpPr>
                <a:spLocks noChangeShapeType="1"/>
              </p:cNvSpPr>
              <p:nvPr/>
            </p:nvSpPr>
            <p:spPr bwMode="auto">
              <a:xfrm flipV="1">
                <a:off x="2718579" y="6503034"/>
                <a:ext cx="91706" cy="1998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23" name="Line 47"/>
              <p:cNvSpPr>
                <a:spLocks noChangeShapeType="1"/>
              </p:cNvSpPr>
              <p:nvPr/>
            </p:nvSpPr>
            <p:spPr bwMode="auto">
              <a:xfrm flipV="1">
                <a:off x="2810285" y="6479718"/>
                <a:ext cx="91706" cy="2331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24" name="Line 48"/>
              <p:cNvSpPr>
                <a:spLocks noChangeShapeType="1"/>
              </p:cNvSpPr>
              <p:nvPr/>
            </p:nvSpPr>
            <p:spPr bwMode="auto">
              <a:xfrm flipV="1">
                <a:off x="2901991" y="6449739"/>
                <a:ext cx="91706" cy="29979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25" name="Line 49"/>
              <p:cNvSpPr>
                <a:spLocks noChangeShapeType="1"/>
              </p:cNvSpPr>
              <p:nvPr/>
            </p:nvSpPr>
            <p:spPr bwMode="auto">
              <a:xfrm flipV="1">
                <a:off x="2993696" y="6413098"/>
                <a:ext cx="86879" cy="3664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26" name="Line 50"/>
              <p:cNvSpPr>
                <a:spLocks noChangeShapeType="1"/>
              </p:cNvSpPr>
              <p:nvPr/>
            </p:nvSpPr>
            <p:spPr bwMode="auto">
              <a:xfrm flipV="1">
                <a:off x="3080574" y="6369794"/>
                <a:ext cx="91706" cy="4330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27" name="Line 51"/>
              <p:cNvSpPr>
                <a:spLocks noChangeShapeType="1"/>
              </p:cNvSpPr>
              <p:nvPr/>
            </p:nvSpPr>
            <p:spPr bwMode="auto">
              <a:xfrm flipV="1">
                <a:off x="3172281" y="6323161"/>
                <a:ext cx="91706" cy="46634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28" name="Line 52"/>
              <p:cNvSpPr>
                <a:spLocks noChangeShapeType="1"/>
              </p:cNvSpPr>
              <p:nvPr/>
            </p:nvSpPr>
            <p:spPr bwMode="auto">
              <a:xfrm flipV="1">
                <a:off x="3263987" y="6269864"/>
                <a:ext cx="91706" cy="5329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29" name="Line 53"/>
              <p:cNvSpPr>
                <a:spLocks noChangeShapeType="1"/>
              </p:cNvSpPr>
              <p:nvPr/>
            </p:nvSpPr>
            <p:spPr bwMode="auto">
              <a:xfrm flipV="1">
                <a:off x="3355694" y="6213238"/>
                <a:ext cx="91706" cy="5662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30" name="Line 54"/>
              <p:cNvSpPr>
                <a:spLocks noChangeShapeType="1"/>
              </p:cNvSpPr>
              <p:nvPr/>
            </p:nvSpPr>
            <p:spPr bwMode="auto">
              <a:xfrm flipV="1">
                <a:off x="3447399" y="6153280"/>
                <a:ext cx="86879" cy="5995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31" name="Line 55"/>
              <p:cNvSpPr>
                <a:spLocks noChangeShapeType="1"/>
              </p:cNvSpPr>
              <p:nvPr/>
            </p:nvSpPr>
            <p:spPr bwMode="auto">
              <a:xfrm flipV="1">
                <a:off x="3534278" y="6089990"/>
                <a:ext cx="91706" cy="6329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32" name="Line 56"/>
              <p:cNvSpPr>
                <a:spLocks noChangeShapeType="1"/>
              </p:cNvSpPr>
              <p:nvPr/>
            </p:nvSpPr>
            <p:spPr bwMode="auto">
              <a:xfrm flipV="1">
                <a:off x="3625984" y="6023371"/>
                <a:ext cx="91706" cy="666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33" name="Line 57"/>
              <p:cNvSpPr>
                <a:spLocks noChangeShapeType="1"/>
              </p:cNvSpPr>
              <p:nvPr/>
            </p:nvSpPr>
            <p:spPr bwMode="auto">
              <a:xfrm flipV="1">
                <a:off x="3717690" y="5956751"/>
                <a:ext cx="91706" cy="666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34" name="Line 58"/>
              <p:cNvSpPr>
                <a:spLocks noChangeShapeType="1"/>
              </p:cNvSpPr>
              <p:nvPr/>
            </p:nvSpPr>
            <p:spPr bwMode="auto">
              <a:xfrm flipV="1">
                <a:off x="3809395" y="5886800"/>
                <a:ext cx="91706" cy="6995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35" name="Line 59"/>
              <p:cNvSpPr>
                <a:spLocks noChangeShapeType="1"/>
              </p:cNvSpPr>
              <p:nvPr/>
            </p:nvSpPr>
            <p:spPr bwMode="auto">
              <a:xfrm flipV="1">
                <a:off x="3901101" y="5820180"/>
                <a:ext cx="86879" cy="666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36" name="Line 60"/>
              <p:cNvSpPr>
                <a:spLocks noChangeShapeType="1"/>
              </p:cNvSpPr>
              <p:nvPr/>
            </p:nvSpPr>
            <p:spPr bwMode="auto">
              <a:xfrm flipV="1">
                <a:off x="3987982" y="5750230"/>
                <a:ext cx="91706" cy="6995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37" name="Line 61"/>
              <p:cNvSpPr>
                <a:spLocks noChangeShapeType="1"/>
              </p:cNvSpPr>
              <p:nvPr/>
            </p:nvSpPr>
            <p:spPr bwMode="auto">
              <a:xfrm flipV="1">
                <a:off x="4079687" y="5683609"/>
                <a:ext cx="91706" cy="666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38" name="Line 62"/>
              <p:cNvSpPr>
                <a:spLocks noChangeShapeType="1"/>
              </p:cNvSpPr>
              <p:nvPr/>
            </p:nvSpPr>
            <p:spPr bwMode="auto">
              <a:xfrm flipV="1">
                <a:off x="4171393" y="5616990"/>
                <a:ext cx="91706" cy="666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39" name="Line 63"/>
              <p:cNvSpPr>
                <a:spLocks noChangeShapeType="1"/>
              </p:cNvSpPr>
              <p:nvPr/>
            </p:nvSpPr>
            <p:spPr bwMode="auto">
              <a:xfrm flipV="1">
                <a:off x="4263099" y="5553701"/>
                <a:ext cx="91706" cy="6329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40" name="Line 64"/>
              <p:cNvSpPr>
                <a:spLocks noChangeShapeType="1"/>
              </p:cNvSpPr>
              <p:nvPr/>
            </p:nvSpPr>
            <p:spPr bwMode="auto">
              <a:xfrm flipV="1">
                <a:off x="4354804" y="5493742"/>
                <a:ext cx="86879" cy="5995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41" name="Line 65"/>
              <p:cNvSpPr>
                <a:spLocks noChangeShapeType="1"/>
              </p:cNvSpPr>
              <p:nvPr/>
            </p:nvSpPr>
            <p:spPr bwMode="auto">
              <a:xfrm flipV="1">
                <a:off x="4441683" y="5437116"/>
                <a:ext cx="91706" cy="5662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42" name="Line 66"/>
              <p:cNvSpPr>
                <a:spLocks noChangeShapeType="1"/>
              </p:cNvSpPr>
              <p:nvPr/>
            </p:nvSpPr>
            <p:spPr bwMode="auto">
              <a:xfrm flipV="1">
                <a:off x="4533389" y="5383820"/>
                <a:ext cx="91706" cy="5329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43" name="Line 67"/>
              <p:cNvSpPr>
                <a:spLocks noChangeShapeType="1"/>
              </p:cNvSpPr>
              <p:nvPr/>
            </p:nvSpPr>
            <p:spPr bwMode="auto">
              <a:xfrm flipV="1">
                <a:off x="4625096" y="5337186"/>
                <a:ext cx="91706" cy="46634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44" name="Line 68"/>
              <p:cNvSpPr>
                <a:spLocks noChangeShapeType="1"/>
              </p:cNvSpPr>
              <p:nvPr/>
            </p:nvSpPr>
            <p:spPr bwMode="auto">
              <a:xfrm flipV="1">
                <a:off x="4716802" y="5293883"/>
                <a:ext cx="86879" cy="4330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45" name="Line 69"/>
              <p:cNvSpPr>
                <a:spLocks noChangeShapeType="1"/>
              </p:cNvSpPr>
              <p:nvPr/>
            </p:nvSpPr>
            <p:spPr bwMode="auto">
              <a:xfrm flipV="1">
                <a:off x="4803681" y="5257242"/>
                <a:ext cx="91706" cy="3664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46" name="Line 70"/>
              <p:cNvSpPr>
                <a:spLocks noChangeShapeType="1"/>
              </p:cNvSpPr>
              <p:nvPr/>
            </p:nvSpPr>
            <p:spPr bwMode="auto">
              <a:xfrm flipV="1">
                <a:off x="4895387" y="5227263"/>
                <a:ext cx="91706" cy="29979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47" name="Line 71"/>
              <p:cNvSpPr>
                <a:spLocks noChangeShapeType="1"/>
              </p:cNvSpPr>
              <p:nvPr/>
            </p:nvSpPr>
            <p:spPr bwMode="auto">
              <a:xfrm flipV="1">
                <a:off x="4987092" y="5203947"/>
                <a:ext cx="91706" cy="2331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48" name="Line 72"/>
              <p:cNvSpPr>
                <a:spLocks noChangeShapeType="1"/>
              </p:cNvSpPr>
              <p:nvPr/>
            </p:nvSpPr>
            <p:spPr bwMode="auto">
              <a:xfrm flipV="1">
                <a:off x="5078798" y="5183960"/>
                <a:ext cx="91706" cy="1998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49" name="Line 73"/>
              <p:cNvSpPr>
                <a:spLocks noChangeShapeType="1"/>
              </p:cNvSpPr>
              <p:nvPr/>
            </p:nvSpPr>
            <p:spPr bwMode="auto">
              <a:xfrm flipV="1">
                <a:off x="5170503" y="5173967"/>
                <a:ext cx="91706" cy="999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50" name="Line 74"/>
              <p:cNvSpPr>
                <a:spLocks noChangeShapeType="1"/>
              </p:cNvSpPr>
              <p:nvPr/>
            </p:nvSpPr>
            <p:spPr bwMode="auto">
              <a:xfrm flipV="1">
                <a:off x="5262210" y="5170636"/>
                <a:ext cx="86879" cy="3331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51" name="Line 75"/>
              <p:cNvSpPr>
                <a:spLocks noChangeShapeType="1"/>
              </p:cNvSpPr>
              <p:nvPr/>
            </p:nvSpPr>
            <p:spPr bwMode="auto">
              <a:xfrm>
                <a:off x="5349090" y="5170636"/>
                <a:ext cx="91706" cy="3331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52" name="Line 76"/>
              <p:cNvSpPr>
                <a:spLocks noChangeShapeType="1"/>
              </p:cNvSpPr>
              <p:nvPr/>
            </p:nvSpPr>
            <p:spPr bwMode="auto">
              <a:xfrm>
                <a:off x="5440795" y="5173967"/>
                <a:ext cx="91706" cy="999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53" name="Line 77"/>
              <p:cNvSpPr>
                <a:spLocks noChangeShapeType="1"/>
              </p:cNvSpPr>
              <p:nvPr/>
            </p:nvSpPr>
            <p:spPr bwMode="auto">
              <a:xfrm>
                <a:off x="5532501" y="5183960"/>
                <a:ext cx="91706" cy="1665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54" name="Line 78"/>
              <p:cNvSpPr>
                <a:spLocks noChangeShapeType="1"/>
              </p:cNvSpPr>
              <p:nvPr/>
            </p:nvSpPr>
            <p:spPr bwMode="auto">
              <a:xfrm>
                <a:off x="5624206" y="5200615"/>
                <a:ext cx="91706" cy="2331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55" name="Line 79"/>
              <p:cNvSpPr>
                <a:spLocks noChangeShapeType="1"/>
              </p:cNvSpPr>
              <p:nvPr/>
            </p:nvSpPr>
            <p:spPr bwMode="auto">
              <a:xfrm>
                <a:off x="5715912" y="5223932"/>
                <a:ext cx="86879" cy="29979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56" name="Line 80"/>
              <p:cNvSpPr>
                <a:spLocks noChangeShapeType="1"/>
              </p:cNvSpPr>
              <p:nvPr/>
            </p:nvSpPr>
            <p:spPr bwMode="auto">
              <a:xfrm>
                <a:off x="5802791" y="5253911"/>
                <a:ext cx="91706" cy="3664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57" name="Line 81"/>
              <p:cNvSpPr>
                <a:spLocks noChangeShapeType="1"/>
              </p:cNvSpPr>
              <p:nvPr/>
            </p:nvSpPr>
            <p:spPr bwMode="auto">
              <a:xfrm>
                <a:off x="5894498" y="5290552"/>
                <a:ext cx="91706" cy="3997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58" name="Line 82"/>
              <p:cNvSpPr>
                <a:spLocks noChangeShapeType="1"/>
              </p:cNvSpPr>
              <p:nvPr/>
            </p:nvSpPr>
            <p:spPr bwMode="auto">
              <a:xfrm>
                <a:off x="5986204" y="5330524"/>
                <a:ext cx="91706" cy="46634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59" name="Line 83"/>
              <p:cNvSpPr>
                <a:spLocks noChangeShapeType="1"/>
              </p:cNvSpPr>
              <p:nvPr/>
            </p:nvSpPr>
            <p:spPr bwMode="auto">
              <a:xfrm>
                <a:off x="6077910" y="5377158"/>
                <a:ext cx="91706" cy="5329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60" name="Line 84"/>
              <p:cNvSpPr>
                <a:spLocks noChangeShapeType="1"/>
              </p:cNvSpPr>
              <p:nvPr/>
            </p:nvSpPr>
            <p:spPr bwMode="auto">
              <a:xfrm>
                <a:off x="6169615" y="5430455"/>
                <a:ext cx="86879" cy="5662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61" name="Line 85"/>
              <p:cNvSpPr>
                <a:spLocks noChangeShapeType="1"/>
              </p:cNvSpPr>
              <p:nvPr/>
            </p:nvSpPr>
            <p:spPr bwMode="auto">
              <a:xfrm>
                <a:off x="6256494" y="5487082"/>
                <a:ext cx="91706" cy="5995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62" name="Line 86"/>
              <p:cNvSpPr>
                <a:spLocks noChangeShapeType="1"/>
              </p:cNvSpPr>
              <p:nvPr/>
            </p:nvSpPr>
            <p:spPr bwMode="auto">
              <a:xfrm>
                <a:off x="6348200" y="5547039"/>
                <a:ext cx="91706" cy="6329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63" name="Line 87"/>
              <p:cNvSpPr>
                <a:spLocks noChangeShapeType="1"/>
              </p:cNvSpPr>
              <p:nvPr/>
            </p:nvSpPr>
            <p:spPr bwMode="auto">
              <a:xfrm>
                <a:off x="6439907" y="5610328"/>
                <a:ext cx="91706" cy="666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64" name="Line 88"/>
              <p:cNvSpPr>
                <a:spLocks noChangeShapeType="1"/>
              </p:cNvSpPr>
              <p:nvPr/>
            </p:nvSpPr>
            <p:spPr bwMode="auto">
              <a:xfrm>
                <a:off x="6531613" y="5676947"/>
                <a:ext cx="91706" cy="666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65" name="Line 89"/>
              <p:cNvSpPr>
                <a:spLocks noChangeShapeType="1"/>
              </p:cNvSpPr>
              <p:nvPr/>
            </p:nvSpPr>
            <p:spPr bwMode="auto">
              <a:xfrm>
                <a:off x="6623318" y="5743568"/>
                <a:ext cx="91706" cy="6995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66" name="Line 90"/>
              <p:cNvSpPr>
                <a:spLocks noChangeShapeType="1"/>
              </p:cNvSpPr>
              <p:nvPr/>
            </p:nvSpPr>
            <p:spPr bwMode="auto">
              <a:xfrm>
                <a:off x="6715024" y="5813518"/>
                <a:ext cx="86879" cy="666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67" name="Line 91"/>
              <p:cNvSpPr>
                <a:spLocks noChangeShapeType="1"/>
              </p:cNvSpPr>
              <p:nvPr/>
            </p:nvSpPr>
            <p:spPr bwMode="auto">
              <a:xfrm>
                <a:off x="6801903" y="5880139"/>
                <a:ext cx="91706" cy="6995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68" name="Line 92"/>
              <p:cNvSpPr>
                <a:spLocks noChangeShapeType="1"/>
              </p:cNvSpPr>
              <p:nvPr/>
            </p:nvSpPr>
            <p:spPr bwMode="auto">
              <a:xfrm>
                <a:off x="6893609" y="5950089"/>
                <a:ext cx="91706" cy="666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69" name="Line 93"/>
              <p:cNvSpPr>
                <a:spLocks noChangeShapeType="1"/>
              </p:cNvSpPr>
              <p:nvPr/>
            </p:nvSpPr>
            <p:spPr bwMode="auto">
              <a:xfrm>
                <a:off x="6985314" y="6016709"/>
                <a:ext cx="91706" cy="6662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70" name="Line 94"/>
              <p:cNvSpPr>
                <a:spLocks noChangeShapeType="1"/>
              </p:cNvSpPr>
              <p:nvPr/>
            </p:nvSpPr>
            <p:spPr bwMode="auto">
              <a:xfrm>
                <a:off x="7077022" y="6083330"/>
                <a:ext cx="91706" cy="6329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71" name="Line 95"/>
              <p:cNvSpPr>
                <a:spLocks noChangeShapeType="1"/>
              </p:cNvSpPr>
              <p:nvPr/>
            </p:nvSpPr>
            <p:spPr bwMode="auto">
              <a:xfrm>
                <a:off x="7168727" y="6146618"/>
                <a:ext cx="86879" cy="5995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72" name="Line 33"/>
              <p:cNvSpPr>
                <a:spLocks noChangeShapeType="1"/>
              </p:cNvSpPr>
              <p:nvPr/>
            </p:nvSpPr>
            <p:spPr bwMode="auto">
              <a:xfrm flipH="1">
                <a:off x="9093215" y="6176877"/>
                <a:ext cx="86879" cy="5995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73" name="Line 34"/>
              <p:cNvSpPr>
                <a:spLocks noChangeShapeType="1"/>
              </p:cNvSpPr>
              <p:nvPr/>
            </p:nvSpPr>
            <p:spPr bwMode="auto">
              <a:xfrm flipH="1">
                <a:off x="9001509" y="6236835"/>
                <a:ext cx="91706" cy="5662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74" name="Line 35"/>
              <p:cNvSpPr>
                <a:spLocks noChangeShapeType="1"/>
              </p:cNvSpPr>
              <p:nvPr/>
            </p:nvSpPr>
            <p:spPr bwMode="auto">
              <a:xfrm flipH="1">
                <a:off x="8909804" y="6293461"/>
                <a:ext cx="91706" cy="4996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75" name="Line 36"/>
              <p:cNvSpPr>
                <a:spLocks noChangeShapeType="1"/>
              </p:cNvSpPr>
              <p:nvPr/>
            </p:nvSpPr>
            <p:spPr bwMode="auto">
              <a:xfrm flipH="1">
                <a:off x="8818097" y="6343426"/>
                <a:ext cx="91706" cy="4996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76" name="Line 37"/>
              <p:cNvSpPr>
                <a:spLocks noChangeShapeType="1"/>
              </p:cNvSpPr>
              <p:nvPr/>
            </p:nvSpPr>
            <p:spPr bwMode="auto">
              <a:xfrm flipH="1">
                <a:off x="8726391" y="6393391"/>
                <a:ext cx="91706" cy="39972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77" name="Line 38"/>
              <p:cNvSpPr>
                <a:spLocks noChangeShapeType="1"/>
              </p:cNvSpPr>
              <p:nvPr/>
            </p:nvSpPr>
            <p:spPr bwMode="auto">
              <a:xfrm flipH="1">
                <a:off x="8639514" y="6433363"/>
                <a:ext cx="86879" cy="3664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78" name="Line 39"/>
              <p:cNvSpPr>
                <a:spLocks noChangeShapeType="1"/>
              </p:cNvSpPr>
              <p:nvPr/>
            </p:nvSpPr>
            <p:spPr bwMode="auto">
              <a:xfrm flipH="1">
                <a:off x="8547806" y="6470005"/>
                <a:ext cx="91706" cy="29979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79" name="Line 40"/>
              <p:cNvSpPr>
                <a:spLocks noChangeShapeType="1"/>
              </p:cNvSpPr>
              <p:nvPr/>
            </p:nvSpPr>
            <p:spPr bwMode="auto">
              <a:xfrm flipH="1">
                <a:off x="8456100" y="6499983"/>
                <a:ext cx="91706" cy="2331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80" name="Line 41"/>
              <p:cNvSpPr>
                <a:spLocks noChangeShapeType="1"/>
              </p:cNvSpPr>
              <p:nvPr/>
            </p:nvSpPr>
            <p:spPr bwMode="auto">
              <a:xfrm flipH="1">
                <a:off x="8364394" y="6523300"/>
                <a:ext cx="91706" cy="16655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81" name="Line 42"/>
              <p:cNvSpPr>
                <a:spLocks noChangeShapeType="1"/>
              </p:cNvSpPr>
              <p:nvPr/>
            </p:nvSpPr>
            <p:spPr bwMode="auto">
              <a:xfrm flipH="1">
                <a:off x="8272688" y="6539955"/>
                <a:ext cx="91706" cy="999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82" name="Line 43"/>
              <p:cNvSpPr>
                <a:spLocks noChangeShapeType="1"/>
              </p:cNvSpPr>
              <p:nvPr/>
            </p:nvSpPr>
            <p:spPr bwMode="auto">
              <a:xfrm flipH="1">
                <a:off x="8180983" y="6549949"/>
                <a:ext cx="91706" cy="3331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83" name="Line 44"/>
              <p:cNvSpPr>
                <a:spLocks noChangeShapeType="1"/>
              </p:cNvSpPr>
              <p:nvPr/>
            </p:nvSpPr>
            <p:spPr bwMode="auto">
              <a:xfrm flipH="1" flipV="1">
                <a:off x="8094105" y="6549949"/>
                <a:ext cx="86879" cy="3331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84" name="Line 45"/>
              <p:cNvSpPr>
                <a:spLocks noChangeShapeType="1"/>
              </p:cNvSpPr>
              <p:nvPr/>
            </p:nvSpPr>
            <p:spPr bwMode="auto">
              <a:xfrm flipH="1" flipV="1">
                <a:off x="8002398" y="6539955"/>
                <a:ext cx="91706" cy="999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85" name="Line 46"/>
              <p:cNvSpPr>
                <a:spLocks noChangeShapeType="1"/>
              </p:cNvSpPr>
              <p:nvPr/>
            </p:nvSpPr>
            <p:spPr bwMode="auto">
              <a:xfrm flipH="1" flipV="1">
                <a:off x="7910691" y="6519969"/>
                <a:ext cx="91706" cy="1998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86" name="Line 47"/>
              <p:cNvSpPr>
                <a:spLocks noChangeShapeType="1"/>
              </p:cNvSpPr>
              <p:nvPr/>
            </p:nvSpPr>
            <p:spPr bwMode="auto">
              <a:xfrm flipH="1" flipV="1">
                <a:off x="7818985" y="6496653"/>
                <a:ext cx="91706" cy="2331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87" name="Line 48"/>
              <p:cNvSpPr>
                <a:spLocks noChangeShapeType="1"/>
              </p:cNvSpPr>
              <p:nvPr/>
            </p:nvSpPr>
            <p:spPr bwMode="auto">
              <a:xfrm flipH="1" flipV="1">
                <a:off x="7727279" y="6466674"/>
                <a:ext cx="91706" cy="29979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88" name="Line 49"/>
              <p:cNvSpPr>
                <a:spLocks noChangeShapeType="1"/>
              </p:cNvSpPr>
              <p:nvPr/>
            </p:nvSpPr>
            <p:spPr bwMode="auto">
              <a:xfrm flipH="1" flipV="1">
                <a:off x="7640402" y="6430033"/>
                <a:ext cx="86879" cy="36640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89" name="Line 50"/>
              <p:cNvSpPr>
                <a:spLocks noChangeShapeType="1"/>
              </p:cNvSpPr>
              <p:nvPr/>
            </p:nvSpPr>
            <p:spPr bwMode="auto">
              <a:xfrm flipH="1" flipV="1">
                <a:off x="7548695" y="6386729"/>
                <a:ext cx="91706" cy="43303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90" name="Line 51"/>
              <p:cNvSpPr>
                <a:spLocks noChangeShapeType="1"/>
              </p:cNvSpPr>
              <p:nvPr/>
            </p:nvSpPr>
            <p:spPr bwMode="auto">
              <a:xfrm flipH="1" flipV="1">
                <a:off x="7456989" y="6340096"/>
                <a:ext cx="91706" cy="46634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91" name="Line 52"/>
              <p:cNvSpPr>
                <a:spLocks noChangeShapeType="1"/>
              </p:cNvSpPr>
              <p:nvPr/>
            </p:nvSpPr>
            <p:spPr bwMode="auto">
              <a:xfrm flipH="1" flipV="1">
                <a:off x="7365283" y="6286799"/>
                <a:ext cx="91706" cy="5329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92" name="Line 53"/>
              <p:cNvSpPr>
                <a:spLocks noChangeShapeType="1"/>
              </p:cNvSpPr>
              <p:nvPr/>
            </p:nvSpPr>
            <p:spPr bwMode="auto">
              <a:xfrm flipH="1" flipV="1">
                <a:off x="7273576" y="6220941"/>
                <a:ext cx="91706" cy="56627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87593" name="Line 54"/>
              <p:cNvSpPr>
                <a:spLocks noChangeShapeType="1"/>
              </p:cNvSpPr>
              <p:nvPr/>
            </p:nvSpPr>
            <p:spPr bwMode="auto">
              <a:xfrm flipH="1" flipV="1">
                <a:off x="7186698" y="6158602"/>
                <a:ext cx="86879" cy="59958"/>
              </a:xfrm>
              <a:prstGeom prst="line">
                <a:avLst/>
              </a:prstGeom>
              <a:noFill/>
              <a:ln w="3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</p:grpSp>
        <p:sp>
          <p:nvSpPr>
            <p:cNvPr id="456" name="Rectangle 455"/>
            <p:cNvSpPr/>
            <p:nvPr/>
          </p:nvSpPr>
          <p:spPr>
            <a:xfrm>
              <a:off x="7676934" y="5868601"/>
              <a:ext cx="214307" cy="59995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dirty="0"/>
            </a:p>
          </p:txBody>
        </p:sp>
        <p:cxnSp>
          <p:nvCxnSpPr>
            <p:cNvPr id="541" name="Straight Connector 540"/>
            <p:cNvCxnSpPr/>
            <p:nvPr/>
          </p:nvCxnSpPr>
          <p:spPr>
            <a:xfrm>
              <a:off x="1631904" y="5860664"/>
              <a:ext cx="7837267" cy="15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7516" name="TextBox 543"/>
            <p:cNvSpPr txBox="1">
              <a:spLocks noChangeArrowheads="1"/>
            </p:cNvSpPr>
            <p:nvPr/>
          </p:nvSpPr>
          <p:spPr bwMode="auto">
            <a:xfrm>
              <a:off x="7397810" y="2319869"/>
              <a:ext cx="2015078" cy="120032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2400" dirty="0"/>
                <a:t>Pressure is  lower than normal here</a:t>
              </a:r>
            </a:p>
          </p:txBody>
        </p:sp>
        <p:cxnSp>
          <p:nvCxnSpPr>
            <p:cNvPr id="545" name="Straight Arrow Connector 544"/>
            <p:cNvCxnSpPr>
              <a:stCxn id="487516" idx="1"/>
            </p:cNvCxnSpPr>
            <p:nvPr/>
          </p:nvCxnSpPr>
          <p:spPr>
            <a:xfrm rot="10800000">
              <a:off x="5517995" y="813427"/>
              <a:ext cx="1879547" cy="2106190"/>
            </a:xfrm>
            <a:prstGeom prst="straightConnector1">
              <a:avLst/>
            </a:prstGeom>
            <a:ln>
              <a:solidFill>
                <a:srgbClr val="080808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8" name="Straight Arrow Connector 547"/>
            <p:cNvCxnSpPr>
              <a:stCxn id="487516" idx="1"/>
            </p:cNvCxnSpPr>
            <p:nvPr/>
          </p:nvCxnSpPr>
          <p:spPr>
            <a:xfrm rot="10800000" flipH="1" flipV="1">
              <a:off x="7397542" y="2919617"/>
              <a:ext cx="931837" cy="1449096"/>
            </a:xfrm>
            <a:prstGeom prst="straightConnector1">
              <a:avLst/>
            </a:prstGeom>
            <a:ln>
              <a:solidFill>
                <a:srgbClr val="080808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3" name="Straight Arrow Connector 552"/>
            <p:cNvCxnSpPr>
              <a:stCxn id="487516" idx="1"/>
            </p:cNvCxnSpPr>
            <p:nvPr/>
          </p:nvCxnSpPr>
          <p:spPr>
            <a:xfrm rot="10800000" flipV="1">
              <a:off x="2724073" y="2919617"/>
              <a:ext cx="4673468" cy="1449096"/>
            </a:xfrm>
            <a:prstGeom prst="straightConnector1">
              <a:avLst/>
            </a:prstGeom>
            <a:ln>
              <a:solidFill>
                <a:srgbClr val="080808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235737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4"/>
          <p:cNvGrpSpPr>
            <a:grpSpLocks/>
          </p:cNvGrpSpPr>
          <p:nvPr/>
        </p:nvGrpSpPr>
        <p:grpSpPr bwMode="auto">
          <a:xfrm>
            <a:off x="2525713" y="1752600"/>
            <a:ext cx="4102100" cy="4419600"/>
            <a:chOff x="4752975" y="1752600"/>
            <a:chExt cx="4102100" cy="4419600"/>
          </a:xfrm>
        </p:grpSpPr>
        <p:pic>
          <p:nvPicPr>
            <p:cNvPr id="493570" name="Picture 5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6589713" y="2968625"/>
              <a:ext cx="2160588" cy="1320800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</p:pic>
        <p:pic>
          <p:nvPicPr>
            <p:cNvPr id="493571" name="Picture 6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6586084" y="4568825"/>
              <a:ext cx="2198687" cy="1603375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</p:pic>
        <p:sp>
          <p:nvSpPr>
            <p:cNvPr id="493572" name="Line 7"/>
            <p:cNvSpPr>
              <a:spLocks noChangeShapeType="1"/>
            </p:cNvSpPr>
            <p:nvPr/>
          </p:nvSpPr>
          <p:spPr bwMode="auto">
            <a:xfrm flipV="1">
              <a:off x="6648450" y="1828800"/>
              <a:ext cx="0" cy="40354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73" name="Line 8"/>
            <p:cNvSpPr>
              <a:spLocks noChangeShapeType="1"/>
            </p:cNvSpPr>
            <p:nvPr/>
          </p:nvSpPr>
          <p:spPr bwMode="auto">
            <a:xfrm flipV="1">
              <a:off x="7375071" y="1828800"/>
              <a:ext cx="0" cy="40354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74" name="Line 9"/>
            <p:cNvSpPr>
              <a:spLocks noChangeShapeType="1"/>
            </p:cNvSpPr>
            <p:nvPr/>
          </p:nvSpPr>
          <p:spPr bwMode="auto">
            <a:xfrm flipV="1">
              <a:off x="8105775" y="1828800"/>
              <a:ext cx="0" cy="40354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grpSp>
          <p:nvGrpSpPr>
            <p:cNvPr id="3" name="Group 10"/>
            <p:cNvGrpSpPr>
              <a:grpSpLocks/>
            </p:cNvGrpSpPr>
            <p:nvPr/>
          </p:nvGrpSpPr>
          <p:grpSpPr bwMode="auto">
            <a:xfrm>
              <a:off x="6059488" y="1828800"/>
              <a:ext cx="2670175" cy="609600"/>
              <a:chOff x="3936" y="1152"/>
              <a:chExt cx="1600" cy="384"/>
            </a:xfrm>
          </p:grpSpPr>
          <p:sp>
            <p:nvSpPr>
              <p:cNvPr id="20" name="Rectangle 11"/>
              <p:cNvSpPr>
                <a:spLocks noChangeArrowheads="1"/>
              </p:cNvSpPr>
              <p:nvPr/>
            </p:nvSpPr>
            <p:spPr bwMode="auto">
              <a:xfrm>
                <a:off x="3936" y="1152"/>
                <a:ext cx="800" cy="384"/>
              </a:xfrm>
              <a:prstGeom prst="rect">
                <a:avLst/>
              </a:prstGeom>
              <a:gradFill rotWithShape="1">
                <a:gsLst>
                  <a:gs pos="0">
                    <a:schemeClr val="accent1"/>
                  </a:gs>
                  <a:gs pos="50000">
                    <a:schemeClr val="accent1">
                      <a:gamma/>
                      <a:shade val="46275"/>
                      <a:invGamma/>
                    </a:schemeClr>
                  </a:gs>
                  <a:gs pos="100000">
                    <a:schemeClr val="accent1"/>
                  </a:gs>
                </a:gsLst>
                <a:lin ang="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>
                  <a:latin typeface="+mn-lt"/>
                </a:endParaRPr>
              </a:p>
            </p:txBody>
          </p:sp>
          <p:sp>
            <p:nvSpPr>
              <p:cNvPr id="21" name="Rectangle 12"/>
              <p:cNvSpPr>
                <a:spLocks noChangeArrowheads="1"/>
              </p:cNvSpPr>
              <p:nvPr/>
            </p:nvSpPr>
            <p:spPr bwMode="auto">
              <a:xfrm>
                <a:off x="4736" y="1152"/>
                <a:ext cx="800" cy="384"/>
              </a:xfrm>
              <a:prstGeom prst="rect">
                <a:avLst/>
              </a:prstGeom>
              <a:gradFill rotWithShape="1">
                <a:gsLst>
                  <a:gs pos="0">
                    <a:schemeClr val="accent1"/>
                  </a:gs>
                  <a:gs pos="50000">
                    <a:schemeClr val="accent1">
                      <a:gamma/>
                      <a:shade val="46275"/>
                      <a:invGamma/>
                    </a:schemeClr>
                  </a:gs>
                  <a:gs pos="100000">
                    <a:schemeClr val="accent1"/>
                  </a:gs>
                </a:gsLst>
                <a:lin ang="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dirty="0">
                  <a:latin typeface="+mn-lt"/>
                </a:endParaRPr>
              </a:p>
            </p:txBody>
          </p:sp>
        </p:grpSp>
        <p:sp>
          <p:nvSpPr>
            <p:cNvPr id="493576" name="Rectangle 13"/>
            <p:cNvSpPr>
              <a:spLocks noChangeArrowheads="1"/>
            </p:cNvSpPr>
            <p:nvPr/>
          </p:nvSpPr>
          <p:spPr bwMode="auto">
            <a:xfrm>
              <a:off x="5486400" y="1752600"/>
              <a:ext cx="3352800" cy="74613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77" name="Rectangle 14"/>
            <p:cNvSpPr>
              <a:spLocks noChangeArrowheads="1"/>
            </p:cNvSpPr>
            <p:nvPr/>
          </p:nvSpPr>
          <p:spPr bwMode="auto">
            <a:xfrm>
              <a:off x="4752975" y="2019300"/>
              <a:ext cx="1066800" cy="22860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78" name="Rectangle 15"/>
            <p:cNvSpPr>
              <a:spLocks noChangeArrowheads="1"/>
            </p:cNvSpPr>
            <p:nvPr/>
          </p:nvSpPr>
          <p:spPr bwMode="auto">
            <a:xfrm>
              <a:off x="5819775" y="1828800"/>
              <a:ext cx="228600" cy="60960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50000">
                  <a:srgbClr val="C0C0C0"/>
                </a:gs>
                <a:gs pos="100000">
                  <a:srgbClr val="595959"/>
                </a:gs>
              </a:gsLst>
              <a:lin ang="54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79" name="Text Box 16"/>
            <p:cNvSpPr txBox="1">
              <a:spLocks noChangeArrowheads="1"/>
            </p:cNvSpPr>
            <p:nvPr/>
          </p:nvSpPr>
          <p:spPr bwMode="auto">
            <a:xfrm>
              <a:off x="8580444" y="5350558"/>
              <a:ext cx="272832" cy="33855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600" dirty="0"/>
                <a:t>x</a:t>
              </a:r>
            </a:p>
          </p:txBody>
        </p:sp>
        <p:sp>
          <p:nvSpPr>
            <p:cNvPr id="493580" name="Rectangle 17"/>
            <p:cNvSpPr>
              <a:spLocks noChangeArrowheads="1"/>
            </p:cNvSpPr>
            <p:nvPr/>
          </p:nvSpPr>
          <p:spPr bwMode="auto">
            <a:xfrm>
              <a:off x="5537200" y="2438400"/>
              <a:ext cx="3317875" cy="7620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C0C0C0"/>
                </a:gs>
              </a:gsLst>
              <a:lin ang="1890000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493581" name="Text Box 20"/>
            <p:cNvSpPr txBox="1">
              <a:spLocks noChangeArrowheads="1"/>
            </p:cNvSpPr>
            <p:nvPr/>
          </p:nvSpPr>
          <p:spPr bwMode="auto">
            <a:xfrm>
              <a:off x="5590216" y="2743200"/>
              <a:ext cx="1037656" cy="276999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dirty="0"/>
                <a:t>Displacement</a:t>
              </a:r>
            </a:p>
          </p:txBody>
        </p:sp>
        <p:sp>
          <p:nvSpPr>
            <p:cNvPr id="493582" name="Text Box 22"/>
            <p:cNvSpPr txBox="1">
              <a:spLocks noChangeArrowheads="1"/>
            </p:cNvSpPr>
            <p:nvPr/>
          </p:nvSpPr>
          <p:spPr bwMode="auto">
            <a:xfrm>
              <a:off x="5255957" y="4343400"/>
              <a:ext cx="1371915" cy="276999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200" dirty="0">
                  <a:sym typeface="Symbol" pitchFamily="18" charset="2"/>
                </a:rPr>
                <a:t>Change in Pressure</a:t>
              </a:r>
            </a:p>
          </p:txBody>
        </p:sp>
        <p:sp>
          <p:nvSpPr>
            <p:cNvPr id="493583" name="Text Box 16"/>
            <p:cNvSpPr txBox="1">
              <a:spLocks noChangeArrowheads="1"/>
            </p:cNvSpPr>
            <p:nvPr/>
          </p:nvSpPr>
          <p:spPr bwMode="auto">
            <a:xfrm>
              <a:off x="8580444" y="3625123"/>
              <a:ext cx="272832" cy="33855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 sz="1600" dirty="0"/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535128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223.4.2</a:t>
            </a:r>
          </a:p>
        </p:txBody>
      </p:sp>
      <p:sp>
        <p:nvSpPr>
          <p:cNvPr id="5939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The speed of sound in water is about 1.4km/s. Will the speed of sound be faster or slower in air?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Faster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Slower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Can’t tell</a:t>
            </a:r>
          </a:p>
          <a:p>
            <a:pPr marL="609600" indent="-609600" eaLnBrk="1" hangingPunct="1"/>
            <a:endParaRPr lang="en-US" dirty="0"/>
          </a:p>
        </p:txBody>
      </p:sp>
      <p:sp>
        <p:nvSpPr>
          <p:cNvPr id="5939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D24A40A-39FE-434B-BF0F-F604B45A6121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2839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223.4.2</a:t>
            </a:r>
          </a:p>
        </p:txBody>
      </p:sp>
      <p:sp>
        <p:nvSpPr>
          <p:cNvPr id="6042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Will sound travel faster on a hot day or a cold day?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Hot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Cold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Can’t tell</a:t>
            </a:r>
          </a:p>
          <a:p>
            <a:pPr marL="609600" indent="-609600" eaLnBrk="1" hangingPunct="1"/>
            <a:endParaRPr lang="en-US" dirty="0"/>
          </a:p>
        </p:txBody>
      </p:sp>
      <p:sp>
        <p:nvSpPr>
          <p:cNvPr id="6041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E300C31-1AEF-40A0-A6E9-08C5FA527675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08261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54275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5427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51AC80D-74C9-41DC-A482-5937D870D373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5427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Speed of Waves</a:t>
            </a:r>
          </a:p>
        </p:txBody>
      </p:sp>
      <p:sp>
        <p:nvSpPr>
          <p:cNvPr id="5427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2800"/>
              <a:t>Waves travel with a specific speed</a:t>
            </a:r>
          </a:p>
          <a:p>
            <a:pPr lvl="1" eaLnBrk="1" hangingPunct="1"/>
            <a:r>
              <a:rPr lang="en-US" sz="2400"/>
              <a:t>The speed depends on the properties of the medium being disturbed</a:t>
            </a:r>
          </a:p>
          <a:p>
            <a:pPr eaLnBrk="1" hangingPunct="1"/>
            <a:r>
              <a:rPr lang="en-US" sz="2800"/>
              <a:t>The wave function is given by</a:t>
            </a:r>
          </a:p>
          <a:p>
            <a:pPr eaLnBrk="1" hangingPunct="1"/>
            <a:endParaRPr lang="en-US" sz="2800"/>
          </a:p>
          <a:p>
            <a:pPr eaLnBrk="1" hangingPunct="1"/>
            <a:endParaRPr lang="en-US" sz="2800"/>
          </a:p>
          <a:p>
            <a:pPr lvl="1" eaLnBrk="1" hangingPunct="1"/>
            <a:r>
              <a:rPr lang="en-US" sz="2400"/>
              <a:t>This is for a wave moving to the right</a:t>
            </a:r>
          </a:p>
          <a:p>
            <a:pPr lvl="1" eaLnBrk="1" hangingPunct="1"/>
            <a:r>
              <a:rPr lang="en-US" sz="2400"/>
              <a:t>For a wave moving to the left, replace </a:t>
            </a:r>
            <a:r>
              <a:rPr lang="en-US" sz="2400" i="1"/>
              <a:t>x</a:t>
            </a:r>
            <a:r>
              <a:rPr lang="en-US" sz="2400"/>
              <a:t> – </a:t>
            </a:r>
            <a:r>
              <a:rPr lang="en-US" sz="2400" i="1"/>
              <a:t>vt </a:t>
            </a:r>
            <a:r>
              <a:rPr lang="en-US" sz="2400"/>
              <a:t>with </a:t>
            </a:r>
            <a:r>
              <a:rPr lang="en-US" sz="2400" i="1"/>
              <a:t>x</a:t>
            </a:r>
            <a:r>
              <a:rPr lang="en-US" sz="2400"/>
              <a:t> + </a:t>
            </a:r>
            <a:r>
              <a:rPr lang="en-US" sz="2400" i="1"/>
              <a:t>vt </a:t>
            </a:r>
          </a:p>
        </p:txBody>
      </p:sp>
      <p:pic>
        <p:nvPicPr>
          <p:cNvPr id="54279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51113" y="3546475"/>
            <a:ext cx="3397250" cy="788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4055795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sp>
        <p:nvSpPr>
          <p:cNvPr id="1024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sp>
        <p:nvSpPr>
          <p:cNvPr id="10246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0247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024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44B496DA-9A26-4127-B4DB-65938A21EBFF}" type="slidenum">
              <a:rPr lang="en-US" smtClean="0"/>
              <a:pPr/>
              <a:t>41</a:t>
            </a:fld>
            <a:endParaRPr lang="en-US"/>
          </a:p>
        </p:txBody>
      </p:sp>
      <p:grpSp>
        <p:nvGrpSpPr>
          <p:cNvPr id="2" name="Group 62"/>
          <p:cNvGrpSpPr>
            <a:grpSpLocks/>
          </p:cNvGrpSpPr>
          <p:nvPr/>
        </p:nvGrpSpPr>
        <p:grpSpPr bwMode="auto">
          <a:xfrm>
            <a:off x="2452688" y="2206625"/>
            <a:ext cx="5108575" cy="2635250"/>
            <a:chOff x="2287" y="1006"/>
            <a:chExt cx="3218" cy="1660"/>
          </a:xfrm>
        </p:grpSpPr>
        <p:sp>
          <p:nvSpPr>
            <p:cNvPr id="10250" name="Oval 41"/>
            <p:cNvSpPr>
              <a:spLocks noChangeArrowheads="1"/>
            </p:cNvSpPr>
            <p:nvPr/>
          </p:nvSpPr>
          <p:spPr bwMode="auto">
            <a:xfrm>
              <a:off x="2974" y="1066"/>
              <a:ext cx="324" cy="309"/>
            </a:xfrm>
            <a:prstGeom prst="ellipse">
              <a:avLst/>
            </a:prstGeom>
            <a:solidFill>
              <a:schemeClr val="bg1"/>
            </a:solidFill>
            <a:ln w="254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aphicFrame>
          <p:nvGraphicFramePr>
            <p:cNvPr id="10242" name="Object 2"/>
            <p:cNvGraphicFramePr>
              <a:graphicFrameLocks noChangeAspect="1"/>
            </p:cNvGraphicFramePr>
            <p:nvPr/>
          </p:nvGraphicFramePr>
          <p:xfrm>
            <a:off x="3078" y="1055"/>
            <a:ext cx="128" cy="1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203040" imgH="177480" progId="Equation.3">
                    <p:embed/>
                  </p:oleObj>
                </mc:Choice>
                <mc:Fallback>
                  <p:oleObj name="Equation" r:id="rId2" imgW="203040" imgH="177480" progId="Equation.3">
                    <p:embed/>
                    <p:pic>
                      <p:nvPicPr>
                        <p:cNvPr id="10242" name="Object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78" y="1055"/>
                          <a:ext cx="128" cy="1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251" name="Freeform 28"/>
            <p:cNvSpPr>
              <a:spLocks/>
            </p:cNvSpPr>
            <p:nvPr/>
          </p:nvSpPr>
          <p:spPr bwMode="auto">
            <a:xfrm>
              <a:off x="2287" y="1216"/>
              <a:ext cx="855" cy="558"/>
            </a:xfrm>
            <a:custGeom>
              <a:avLst/>
              <a:gdLst>
                <a:gd name="T0" fmla="*/ 855 w 855"/>
                <a:gd name="T1" fmla="*/ 0 h 558"/>
                <a:gd name="T2" fmla="*/ 759 w 855"/>
                <a:gd name="T3" fmla="*/ 9 h 558"/>
                <a:gd name="T4" fmla="*/ 657 w 855"/>
                <a:gd name="T5" fmla="*/ 57 h 558"/>
                <a:gd name="T6" fmla="*/ 561 w 855"/>
                <a:gd name="T7" fmla="*/ 141 h 558"/>
                <a:gd name="T8" fmla="*/ 414 w 855"/>
                <a:gd name="T9" fmla="*/ 333 h 558"/>
                <a:gd name="T10" fmla="*/ 285 w 855"/>
                <a:gd name="T11" fmla="*/ 429 h 558"/>
                <a:gd name="T12" fmla="*/ 0 w 855"/>
                <a:gd name="T13" fmla="*/ 558 h 55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55"/>
                <a:gd name="T22" fmla="*/ 0 h 558"/>
                <a:gd name="T23" fmla="*/ 855 w 855"/>
                <a:gd name="T24" fmla="*/ 558 h 55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55" h="558">
                  <a:moveTo>
                    <a:pt x="855" y="0"/>
                  </a:moveTo>
                  <a:cubicBezTo>
                    <a:pt x="823" y="0"/>
                    <a:pt x="792" y="0"/>
                    <a:pt x="759" y="9"/>
                  </a:cubicBezTo>
                  <a:cubicBezTo>
                    <a:pt x="726" y="18"/>
                    <a:pt x="690" y="35"/>
                    <a:pt x="657" y="57"/>
                  </a:cubicBezTo>
                  <a:cubicBezTo>
                    <a:pt x="624" y="79"/>
                    <a:pt x="601" y="95"/>
                    <a:pt x="561" y="141"/>
                  </a:cubicBezTo>
                  <a:cubicBezTo>
                    <a:pt x="521" y="187"/>
                    <a:pt x="460" y="285"/>
                    <a:pt x="414" y="333"/>
                  </a:cubicBezTo>
                  <a:cubicBezTo>
                    <a:pt x="368" y="381"/>
                    <a:pt x="354" y="392"/>
                    <a:pt x="285" y="429"/>
                  </a:cubicBezTo>
                  <a:cubicBezTo>
                    <a:pt x="216" y="466"/>
                    <a:pt x="47" y="537"/>
                    <a:pt x="0" y="558"/>
                  </a:cubicBezTo>
                </a:path>
              </a:pathLst>
            </a:custGeom>
            <a:noFill/>
            <a:ln w="38100">
              <a:solidFill>
                <a:srgbClr val="FFCC6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52" name="Freeform 29"/>
            <p:cNvSpPr>
              <a:spLocks/>
            </p:cNvSpPr>
            <p:nvPr/>
          </p:nvSpPr>
          <p:spPr bwMode="auto">
            <a:xfrm flipH="1">
              <a:off x="3139" y="1219"/>
              <a:ext cx="855" cy="558"/>
            </a:xfrm>
            <a:custGeom>
              <a:avLst/>
              <a:gdLst>
                <a:gd name="T0" fmla="*/ 855 w 855"/>
                <a:gd name="T1" fmla="*/ 0 h 558"/>
                <a:gd name="T2" fmla="*/ 759 w 855"/>
                <a:gd name="T3" fmla="*/ 9 h 558"/>
                <a:gd name="T4" fmla="*/ 657 w 855"/>
                <a:gd name="T5" fmla="*/ 57 h 558"/>
                <a:gd name="T6" fmla="*/ 561 w 855"/>
                <a:gd name="T7" fmla="*/ 141 h 558"/>
                <a:gd name="T8" fmla="*/ 414 w 855"/>
                <a:gd name="T9" fmla="*/ 333 h 558"/>
                <a:gd name="T10" fmla="*/ 285 w 855"/>
                <a:gd name="T11" fmla="*/ 429 h 558"/>
                <a:gd name="T12" fmla="*/ 0 w 855"/>
                <a:gd name="T13" fmla="*/ 558 h 55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55"/>
                <a:gd name="T22" fmla="*/ 0 h 558"/>
                <a:gd name="T23" fmla="*/ 855 w 855"/>
                <a:gd name="T24" fmla="*/ 558 h 55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55" h="558">
                  <a:moveTo>
                    <a:pt x="855" y="0"/>
                  </a:moveTo>
                  <a:cubicBezTo>
                    <a:pt x="823" y="0"/>
                    <a:pt x="792" y="0"/>
                    <a:pt x="759" y="9"/>
                  </a:cubicBezTo>
                  <a:cubicBezTo>
                    <a:pt x="726" y="18"/>
                    <a:pt x="690" y="35"/>
                    <a:pt x="657" y="57"/>
                  </a:cubicBezTo>
                  <a:cubicBezTo>
                    <a:pt x="624" y="79"/>
                    <a:pt x="601" y="95"/>
                    <a:pt x="561" y="141"/>
                  </a:cubicBezTo>
                  <a:cubicBezTo>
                    <a:pt x="521" y="187"/>
                    <a:pt x="460" y="285"/>
                    <a:pt x="414" y="333"/>
                  </a:cubicBezTo>
                  <a:cubicBezTo>
                    <a:pt x="368" y="381"/>
                    <a:pt x="354" y="392"/>
                    <a:pt x="285" y="429"/>
                  </a:cubicBezTo>
                  <a:cubicBezTo>
                    <a:pt x="216" y="466"/>
                    <a:pt x="47" y="537"/>
                    <a:pt x="0" y="558"/>
                  </a:cubicBezTo>
                </a:path>
              </a:pathLst>
            </a:custGeom>
            <a:noFill/>
            <a:ln w="38100">
              <a:solidFill>
                <a:srgbClr val="FFCC6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53" name="Arc 24"/>
            <p:cNvSpPr>
              <a:spLocks/>
            </p:cNvSpPr>
            <p:nvPr/>
          </p:nvSpPr>
          <p:spPr bwMode="auto">
            <a:xfrm>
              <a:off x="3008" y="1216"/>
              <a:ext cx="268" cy="320"/>
            </a:xfrm>
            <a:custGeom>
              <a:avLst/>
              <a:gdLst>
                <a:gd name="T0" fmla="*/ 0 w 17927"/>
                <a:gd name="T1" fmla="*/ 0 h 21600"/>
                <a:gd name="T2" fmla="*/ 4 w 17927"/>
                <a:gd name="T3" fmla="*/ 0 h 21600"/>
                <a:gd name="T4" fmla="*/ 2 w 17927"/>
                <a:gd name="T5" fmla="*/ 5 h 21600"/>
                <a:gd name="T6" fmla="*/ 0 60000 65536"/>
                <a:gd name="T7" fmla="*/ 0 60000 65536"/>
                <a:gd name="T8" fmla="*/ 0 60000 65536"/>
                <a:gd name="T9" fmla="*/ 0 w 17927"/>
                <a:gd name="T10" fmla="*/ 0 h 21600"/>
                <a:gd name="T11" fmla="*/ 17927 w 1792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7927" h="21600" fill="none" extrusionOk="0">
                  <a:moveTo>
                    <a:pt x="0" y="1858"/>
                  </a:moveTo>
                  <a:cubicBezTo>
                    <a:pt x="2759" y="633"/>
                    <a:pt x="5745" y="-1"/>
                    <a:pt x="8765" y="0"/>
                  </a:cubicBezTo>
                  <a:cubicBezTo>
                    <a:pt x="11931" y="0"/>
                    <a:pt x="15059" y="696"/>
                    <a:pt x="17927" y="2039"/>
                  </a:cubicBezTo>
                </a:path>
                <a:path w="17927" h="21600" stroke="0" extrusionOk="0">
                  <a:moveTo>
                    <a:pt x="0" y="1858"/>
                  </a:moveTo>
                  <a:cubicBezTo>
                    <a:pt x="2759" y="633"/>
                    <a:pt x="5745" y="-1"/>
                    <a:pt x="8765" y="0"/>
                  </a:cubicBezTo>
                  <a:cubicBezTo>
                    <a:pt x="11931" y="0"/>
                    <a:pt x="15059" y="696"/>
                    <a:pt x="17927" y="2039"/>
                  </a:cubicBezTo>
                  <a:lnTo>
                    <a:pt x="8765" y="21600"/>
                  </a:lnTo>
                  <a:close/>
                </a:path>
              </a:pathLst>
            </a:custGeom>
            <a:noFill/>
            <a:ln w="38100">
              <a:solidFill>
                <a:srgbClr val="9933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51"/>
            <p:cNvGrpSpPr>
              <a:grpSpLocks/>
            </p:cNvGrpSpPr>
            <p:nvPr/>
          </p:nvGrpSpPr>
          <p:grpSpPr bwMode="auto">
            <a:xfrm>
              <a:off x="3852" y="1007"/>
              <a:ext cx="1653" cy="1659"/>
              <a:chOff x="3047" y="961"/>
              <a:chExt cx="1653" cy="1659"/>
            </a:xfrm>
          </p:grpSpPr>
          <p:sp>
            <p:nvSpPr>
              <p:cNvPr id="10257" name="Oval 42"/>
              <p:cNvSpPr>
                <a:spLocks noChangeArrowheads="1"/>
              </p:cNvSpPr>
              <p:nvPr/>
            </p:nvSpPr>
            <p:spPr bwMode="auto">
              <a:xfrm>
                <a:off x="3047" y="961"/>
                <a:ext cx="1653" cy="1659"/>
              </a:xfrm>
              <a:prstGeom prst="ellipse">
                <a:avLst/>
              </a:prstGeom>
              <a:solidFill>
                <a:schemeClr val="bg1"/>
              </a:solidFill>
              <a:ln w="25400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aphicFrame>
            <p:nvGraphicFramePr>
              <p:cNvPr id="10243" name="Object 3"/>
              <p:cNvGraphicFramePr>
                <a:graphicFrameLocks noChangeAspect="1"/>
              </p:cNvGraphicFramePr>
              <p:nvPr/>
            </p:nvGraphicFramePr>
            <p:xfrm>
              <a:off x="3808" y="1230"/>
              <a:ext cx="173" cy="17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203040" imgH="177480" progId="Equation.3">
                      <p:embed/>
                    </p:oleObj>
                  </mc:Choice>
                  <mc:Fallback>
                    <p:oleObj name="Equation" r:id="rId4" imgW="203040" imgH="177480" progId="Equation.3">
                      <p:embed/>
                      <p:pic>
                        <p:nvPicPr>
                          <p:cNvPr id="10243" name="Object 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08" y="1230"/>
                            <a:ext cx="173" cy="17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0258" name="Arc 36"/>
              <p:cNvSpPr>
                <a:spLocks/>
              </p:cNvSpPr>
              <p:nvPr/>
            </p:nvSpPr>
            <p:spPr bwMode="auto">
              <a:xfrm>
                <a:off x="3532" y="1522"/>
                <a:ext cx="709" cy="964"/>
              </a:xfrm>
              <a:custGeom>
                <a:avLst/>
                <a:gdLst>
                  <a:gd name="T0" fmla="*/ 0 w 17927"/>
                  <a:gd name="T1" fmla="*/ 4 h 21600"/>
                  <a:gd name="T2" fmla="*/ 28 w 17927"/>
                  <a:gd name="T3" fmla="*/ 4 h 21600"/>
                  <a:gd name="T4" fmla="*/ 14 w 17927"/>
                  <a:gd name="T5" fmla="*/ 43 h 21600"/>
                  <a:gd name="T6" fmla="*/ 0 60000 65536"/>
                  <a:gd name="T7" fmla="*/ 0 60000 65536"/>
                  <a:gd name="T8" fmla="*/ 0 60000 65536"/>
                  <a:gd name="T9" fmla="*/ 0 w 17927"/>
                  <a:gd name="T10" fmla="*/ 0 h 21600"/>
                  <a:gd name="T11" fmla="*/ 17927 w 17927"/>
                  <a:gd name="T12" fmla="*/ 21600 h 21600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7927" h="21600" fill="none" extrusionOk="0">
                    <a:moveTo>
                      <a:pt x="0" y="1858"/>
                    </a:moveTo>
                    <a:cubicBezTo>
                      <a:pt x="2759" y="633"/>
                      <a:pt x="5745" y="-1"/>
                      <a:pt x="8765" y="0"/>
                    </a:cubicBezTo>
                    <a:cubicBezTo>
                      <a:pt x="11931" y="0"/>
                      <a:pt x="15059" y="696"/>
                      <a:pt x="17927" y="2039"/>
                    </a:cubicBezTo>
                  </a:path>
                  <a:path w="17927" h="21600" stroke="0" extrusionOk="0">
                    <a:moveTo>
                      <a:pt x="0" y="1858"/>
                    </a:moveTo>
                    <a:cubicBezTo>
                      <a:pt x="2759" y="633"/>
                      <a:pt x="5745" y="-1"/>
                      <a:pt x="8765" y="0"/>
                    </a:cubicBezTo>
                    <a:cubicBezTo>
                      <a:pt x="11931" y="0"/>
                      <a:pt x="15059" y="696"/>
                      <a:pt x="17927" y="2039"/>
                    </a:cubicBezTo>
                    <a:lnTo>
                      <a:pt x="8765" y="21600"/>
                    </a:lnTo>
                    <a:close/>
                  </a:path>
                </a:pathLst>
              </a:custGeom>
              <a:noFill/>
              <a:ln w="76200">
                <a:solidFill>
                  <a:srgbClr val="9933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0259" name="Line 37"/>
              <p:cNvSpPr>
                <a:spLocks noChangeShapeType="1"/>
              </p:cNvSpPr>
              <p:nvPr/>
            </p:nvSpPr>
            <p:spPr bwMode="auto">
              <a:xfrm flipH="1">
                <a:off x="3878" y="1603"/>
                <a:ext cx="350" cy="8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0260" name="Line 38"/>
              <p:cNvSpPr>
                <a:spLocks noChangeShapeType="1"/>
              </p:cNvSpPr>
              <p:nvPr/>
            </p:nvSpPr>
            <p:spPr bwMode="auto">
              <a:xfrm>
                <a:off x="3521" y="1567"/>
                <a:ext cx="349" cy="8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0261" name="Line 39"/>
              <p:cNvSpPr>
                <a:spLocks noChangeShapeType="1"/>
              </p:cNvSpPr>
              <p:nvPr/>
            </p:nvSpPr>
            <p:spPr bwMode="auto">
              <a:xfrm>
                <a:off x="3878" y="1468"/>
                <a:ext cx="0" cy="98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0262" name="Text Box 40"/>
              <p:cNvSpPr txBox="1">
                <a:spLocks noChangeArrowheads="1"/>
              </p:cNvSpPr>
              <p:nvPr/>
            </p:nvSpPr>
            <p:spPr bwMode="auto">
              <a:xfrm>
                <a:off x="3866" y="1988"/>
                <a:ext cx="183" cy="212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>
                    <a:sym typeface="Symbol" pitchFamily="18" charset="2"/>
                  </a:rPr>
                  <a:t></a:t>
                </a:r>
              </a:p>
            </p:txBody>
          </p:sp>
          <p:sp>
            <p:nvSpPr>
              <p:cNvPr id="10263" name="Line 44"/>
              <p:cNvSpPr>
                <a:spLocks noChangeShapeType="1"/>
              </p:cNvSpPr>
              <p:nvPr/>
            </p:nvSpPr>
            <p:spPr bwMode="auto">
              <a:xfrm flipH="1">
                <a:off x="3319" y="1600"/>
                <a:ext cx="201" cy="110"/>
              </a:xfrm>
              <a:prstGeom prst="line">
                <a:avLst/>
              </a:prstGeom>
              <a:noFill/>
              <a:ln w="952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0264" name="Line 45"/>
              <p:cNvSpPr>
                <a:spLocks noChangeShapeType="1"/>
              </p:cNvSpPr>
              <p:nvPr/>
            </p:nvSpPr>
            <p:spPr bwMode="auto">
              <a:xfrm>
                <a:off x="4247" y="1614"/>
                <a:ext cx="201" cy="110"/>
              </a:xfrm>
              <a:prstGeom prst="line">
                <a:avLst/>
              </a:prstGeom>
              <a:noFill/>
              <a:ln w="952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0265" name="Text Box 46"/>
              <p:cNvSpPr txBox="1">
                <a:spLocks noChangeArrowheads="1"/>
              </p:cNvSpPr>
              <p:nvPr/>
            </p:nvSpPr>
            <p:spPr bwMode="auto">
              <a:xfrm>
                <a:off x="4442" y="1614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10266" name="Text Box 47"/>
              <p:cNvSpPr txBox="1">
                <a:spLocks noChangeArrowheads="1"/>
              </p:cNvSpPr>
              <p:nvPr/>
            </p:nvSpPr>
            <p:spPr bwMode="auto">
              <a:xfrm>
                <a:off x="3093" y="1627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10267" name="Line 48"/>
              <p:cNvSpPr>
                <a:spLocks noChangeShapeType="1"/>
              </p:cNvSpPr>
              <p:nvPr/>
            </p:nvSpPr>
            <p:spPr bwMode="auto">
              <a:xfrm>
                <a:off x="3173" y="1509"/>
                <a:ext cx="140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0268" name="Text Box 49"/>
              <p:cNvSpPr txBox="1">
                <a:spLocks noChangeArrowheads="1"/>
              </p:cNvSpPr>
              <p:nvPr/>
            </p:nvSpPr>
            <p:spPr bwMode="auto">
              <a:xfrm>
                <a:off x="4310" y="1489"/>
                <a:ext cx="183" cy="212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>
                    <a:sym typeface="Symbol" pitchFamily="18" charset="2"/>
                  </a:rPr>
                  <a:t></a:t>
                </a:r>
              </a:p>
            </p:txBody>
          </p:sp>
          <p:sp>
            <p:nvSpPr>
              <p:cNvPr id="10269" name="Text Box 50"/>
              <p:cNvSpPr txBox="1">
                <a:spLocks noChangeArrowheads="1"/>
              </p:cNvSpPr>
              <p:nvPr/>
            </p:nvSpPr>
            <p:spPr bwMode="auto">
              <a:xfrm>
                <a:off x="3227" y="1484"/>
                <a:ext cx="183" cy="212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>
                    <a:sym typeface="Symbol" pitchFamily="18" charset="2"/>
                  </a:rPr>
                  <a:t></a:t>
                </a:r>
              </a:p>
            </p:txBody>
          </p:sp>
        </p:grpSp>
        <p:sp>
          <p:nvSpPr>
            <p:cNvPr id="10255" name="Line 52"/>
            <p:cNvSpPr>
              <a:spLocks noChangeShapeType="1"/>
            </p:cNvSpPr>
            <p:nvPr/>
          </p:nvSpPr>
          <p:spPr bwMode="auto">
            <a:xfrm flipH="1">
              <a:off x="3118" y="1006"/>
              <a:ext cx="1682" cy="5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56" name="Line 53"/>
            <p:cNvSpPr>
              <a:spLocks noChangeShapeType="1"/>
            </p:cNvSpPr>
            <p:nvPr/>
          </p:nvSpPr>
          <p:spPr bwMode="auto">
            <a:xfrm flipH="1" flipV="1">
              <a:off x="2981" y="1280"/>
              <a:ext cx="1115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543930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8" name="Date Placeholder 4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1269" name="Footer Placeholder 5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1270" name="Slide Number Placeholder 6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C7A3FB9-8224-4B6F-9F67-0AF968C11E12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11271" name="Rectangle 5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a Segment of String</a:t>
            </a:r>
          </a:p>
        </p:txBody>
      </p:sp>
      <p:sp>
        <p:nvSpPr>
          <p:cNvPr id="11272" name="Rectangle 58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 eaLnBrk="1" hangingPunct="1"/>
            <a:r>
              <a:rPr lang="en-US" sz="2400"/>
              <a:t>Tension on the RHS of the element from the rest of the string on the right,  </a:t>
            </a:r>
          </a:p>
          <a:p>
            <a:pPr eaLnBrk="1" hangingPunct="1"/>
            <a:endParaRPr lang="en-US" sz="2400"/>
          </a:p>
          <a:p>
            <a:pPr eaLnBrk="1" hangingPunct="1"/>
            <a:r>
              <a:rPr lang="en-US" sz="2400"/>
              <a:t>Tension on the LHS of the element from the rest of the string on the left</a:t>
            </a:r>
          </a:p>
          <a:p>
            <a:pPr eaLnBrk="1" hangingPunct="1"/>
            <a:endParaRPr lang="en-US" sz="2400"/>
          </a:p>
          <a:p>
            <a:pPr eaLnBrk="1" hangingPunct="1"/>
            <a:r>
              <a:rPr lang="en-US" sz="2400"/>
              <a:t>Force due to gravity</a:t>
            </a:r>
          </a:p>
        </p:txBody>
      </p:sp>
      <p:grpSp>
        <p:nvGrpSpPr>
          <p:cNvPr id="2" name="Group 62"/>
          <p:cNvGrpSpPr>
            <a:grpSpLocks/>
          </p:cNvGrpSpPr>
          <p:nvPr/>
        </p:nvGrpSpPr>
        <p:grpSpPr bwMode="auto">
          <a:xfrm>
            <a:off x="3630613" y="1597025"/>
            <a:ext cx="5108575" cy="2635250"/>
            <a:chOff x="2287" y="1006"/>
            <a:chExt cx="3218" cy="1660"/>
          </a:xfrm>
        </p:grpSpPr>
        <p:sp>
          <p:nvSpPr>
            <p:cNvPr id="11275" name="Oval 41"/>
            <p:cNvSpPr>
              <a:spLocks noChangeArrowheads="1"/>
            </p:cNvSpPr>
            <p:nvPr/>
          </p:nvSpPr>
          <p:spPr bwMode="auto">
            <a:xfrm>
              <a:off x="2974" y="1066"/>
              <a:ext cx="324" cy="309"/>
            </a:xfrm>
            <a:prstGeom prst="ellipse">
              <a:avLst/>
            </a:prstGeom>
            <a:solidFill>
              <a:schemeClr val="bg1"/>
            </a:solidFill>
            <a:ln w="254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aphicFrame>
          <p:nvGraphicFramePr>
            <p:cNvPr id="11266" name="Object 23"/>
            <p:cNvGraphicFramePr>
              <a:graphicFrameLocks noChangeAspect="1"/>
            </p:cNvGraphicFramePr>
            <p:nvPr/>
          </p:nvGraphicFramePr>
          <p:xfrm>
            <a:off x="3078" y="1055"/>
            <a:ext cx="128" cy="1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203040" imgH="177480" progId="Equation.3">
                    <p:embed/>
                  </p:oleObj>
                </mc:Choice>
                <mc:Fallback>
                  <p:oleObj name="Equation" r:id="rId2" imgW="203040" imgH="177480" progId="Equation.3">
                    <p:embed/>
                    <p:pic>
                      <p:nvPicPr>
                        <p:cNvPr id="11266" name="Object 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78" y="1055"/>
                          <a:ext cx="128" cy="1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76" name="Freeform 28"/>
            <p:cNvSpPr>
              <a:spLocks/>
            </p:cNvSpPr>
            <p:nvPr/>
          </p:nvSpPr>
          <p:spPr bwMode="auto">
            <a:xfrm>
              <a:off x="2287" y="1216"/>
              <a:ext cx="855" cy="558"/>
            </a:xfrm>
            <a:custGeom>
              <a:avLst/>
              <a:gdLst>
                <a:gd name="T0" fmla="*/ 855 w 855"/>
                <a:gd name="T1" fmla="*/ 0 h 558"/>
                <a:gd name="T2" fmla="*/ 759 w 855"/>
                <a:gd name="T3" fmla="*/ 9 h 558"/>
                <a:gd name="T4" fmla="*/ 657 w 855"/>
                <a:gd name="T5" fmla="*/ 57 h 558"/>
                <a:gd name="T6" fmla="*/ 561 w 855"/>
                <a:gd name="T7" fmla="*/ 141 h 558"/>
                <a:gd name="T8" fmla="*/ 414 w 855"/>
                <a:gd name="T9" fmla="*/ 333 h 558"/>
                <a:gd name="T10" fmla="*/ 285 w 855"/>
                <a:gd name="T11" fmla="*/ 429 h 558"/>
                <a:gd name="T12" fmla="*/ 0 w 855"/>
                <a:gd name="T13" fmla="*/ 558 h 55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55"/>
                <a:gd name="T22" fmla="*/ 0 h 558"/>
                <a:gd name="T23" fmla="*/ 855 w 855"/>
                <a:gd name="T24" fmla="*/ 558 h 55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55" h="558">
                  <a:moveTo>
                    <a:pt x="855" y="0"/>
                  </a:moveTo>
                  <a:cubicBezTo>
                    <a:pt x="823" y="0"/>
                    <a:pt x="792" y="0"/>
                    <a:pt x="759" y="9"/>
                  </a:cubicBezTo>
                  <a:cubicBezTo>
                    <a:pt x="726" y="18"/>
                    <a:pt x="690" y="35"/>
                    <a:pt x="657" y="57"/>
                  </a:cubicBezTo>
                  <a:cubicBezTo>
                    <a:pt x="624" y="79"/>
                    <a:pt x="601" y="95"/>
                    <a:pt x="561" y="141"/>
                  </a:cubicBezTo>
                  <a:cubicBezTo>
                    <a:pt x="521" y="187"/>
                    <a:pt x="460" y="285"/>
                    <a:pt x="414" y="333"/>
                  </a:cubicBezTo>
                  <a:cubicBezTo>
                    <a:pt x="368" y="381"/>
                    <a:pt x="354" y="392"/>
                    <a:pt x="285" y="429"/>
                  </a:cubicBezTo>
                  <a:cubicBezTo>
                    <a:pt x="216" y="466"/>
                    <a:pt x="47" y="537"/>
                    <a:pt x="0" y="558"/>
                  </a:cubicBezTo>
                </a:path>
              </a:pathLst>
            </a:custGeom>
            <a:noFill/>
            <a:ln w="38100">
              <a:solidFill>
                <a:srgbClr val="FFCC6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277" name="Freeform 29"/>
            <p:cNvSpPr>
              <a:spLocks/>
            </p:cNvSpPr>
            <p:nvPr/>
          </p:nvSpPr>
          <p:spPr bwMode="auto">
            <a:xfrm flipH="1">
              <a:off x="3139" y="1219"/>
              <a:ext cx="855" cy="558"/>
            </a:xfrm>
            <a:custGeom>
              <a:avLst/>
              <a:gdLst>
                <a:gd name="T0" fmla="*/ 855 w 855"/>
                <a:gd name="T1" fmla="*/ 0 h 558"/>
                <a:gd name="T2" fmla="*/ 759 w 855"/>
                <a:gd name="T3" fmla="*/ 9 h 558"/>
                <a:gd name="T4" fmla="*/ 657 w 855"/>
                <a:gd name="T5" fmla="*/ 57 h 558"/>
                <a:gd name="T6" fmla="*/ 561 w 855"/>
                <a:gd name="T7" fmla="*/ 141 h 558"/>
                <a:gd name="T8" fmla="*/ 414 w 855"/>
                <a:gd name="T9" fmla="*/ 333 h 558"/>
                <a:gd name="T10" fmla="*/ 285 w 855"/>
                <a:gd name="T11" fmla="*/ 429 h 558"/>
                <a:gd name="T12" fmla="*/ 0 w 855"/>
                <a:gd name="T13" fmla="*/ 558 h 55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55"/>
                <a:gd name="T22" fmla="*/ 0 h 558"/>
                <a:gd name="T23" fmla="*/ 855 w 855"/>
                <a:gd name="T24" fmla="*/ 558 h 55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55" h="558">
                  <a:moveTo>
                    <a:pt x="855" y="0"/>
                  </a:moveTo>
                  <a:cubicBezTo>
                    <a:pt x="823" y="0"/>
                    <a:pt x="792" y="0"/>
                    <a:pt x="759" y="9"/>
                  </a:cubicBezTo>
                  <a:cubicBezTo>
                    <a:pt x="726" y="18"/>
                    <a:pt x="690" y="35"/>
                    <a:pt x="657" y="57"/>
                  </a:cubicBezTo>
                  <a:cubicBezTo>
                    <a:pt x="624" y="79"/>
                    <a:pt x="601" y="95"/>
                    <a:pt x="561" y="141"/>
                  </a:cubicBezTo>
                  <a:cubicBezTo>
                    <a:pt x="521" y="187"/>
                    <a:pt x="460" y="285"/>
                    <a:pt x="414" y="333"/>
                  </a:cubicBezTo>
                  <a:cubicBezTo>
                    <a:pt x="368" y="381"/>
                    <a:pt x="354" y="392"/>
                    <a:pt x="285" y="429"/>
                  </a:cubicBezTo>
                  <a:cubicBezTo>
                    <a:pt x="216" y="466"/>
                    <a:pt x="47" y="537"/>
                    <a:pt x="0" y="558"/>
                  </a:cubicBezTo>
                </a:path>
              </a:pathLst>
            </a:custGeom>
            <a:noFill/>
            <a:ln w="38100">
              <a:solidFill>
                <a:srgbClr val="FFCC6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278" name="Arc 24"/>
            <p:cNvSpPr>
              <a:spLocks/>
            </p:cNvSpPr>
            <p:nvPr/>
          </p:nvSpPr>
          <p:spPr bwMode="auto">
            <a:xfrm>
              <a:off x="3008" y="1216"/>
              <a:ext cx="268" cy="320"/>
            </a:xfrm>
            <a:custGeom>
              <a:avLst/>
              <a:gdLst>
                <a:gd name="T0" fmla="*/ 0 w 17927"/>
                <a:gd name="T1" fmla="*/ 0 h 21600"/>
                <a:gd name="T2" fmla="*/ 4 w 17927"/>
                <a:gd name="T3" fmla="*/ 0 h 21600"/>
                <a:gd name="T4" fmla="*/ 2 w 17927"/>
                <a:gd name="T5" fmla="*/ 5 h 21600"/>
                <a:gd name="T6" fmla="*/ 0 60000 65536"/>
                <a:gd name="T7" fmla="*/ 0 60000 65536"/>
                <a:gd name="T8" fmla="*/ 0 60000 65536"/>
                <a:gd name="T9" fmla="*/ 0 w 17927"/>
                <a:gd name="T10" fmla="*/ 0 h 21600"/>
                <a:gd name="T11" fmla="*/ 17927 w 1792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7927" h="21600" fill="none" extrusionOk="0">
                  <a:moveTo>
                    <a:pt x="0" y="1858"/>
                  </a:moveTo>
                  <a:cubicBezTo>
                    <a:pt x="2759" y="633"/>
                    <a:pt x="5745" y="-1"/>
                    <a:pt x="8765" y="0"/>
                  </a:cubicBezTo>
                  <a:cubicBezTo>
                    <a:pt x="11931" y="0"/>
                    <a:pt x="15059" y="696"/>
                    <a:pt x="17927" y="2039"/>
                  </a:cubicBezTo>
                </a:path>
                <a:path w="17927" h="21600" stroke="0" extrusionOk="0">
                  <a:moveTo>
                    <a:pt x="0" y="1858"/>
                  </a:moveTo>
                  <a:cubicBezTo>
                    <a:pt x="2759" y="633"/>
                    <a:pt x="5745" y="-1"/>
                    <a:pt x="8765" y="0"/>
                  </a:cubicBezTo>
                  <a:cubicBezTo>
                    <a:pt x="11931" y="0"/>
                    <a:pt x="15059" y="696"/>
                    <a:pt x="17927" y="2039"/>
                  </a:cubicBezTo>
                  <a:lnTo>
                    <a:pt x="8765" y="21600"/>
                  </a:lnTo>
                  <a:close/>
                </a:path>
              </a:pathLst>
            </a:custGeom>
            <a:noFill/>
            <a:ln w="38100">
              <a:solidFill>
                <a:srgbClr val="9933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51"/>
            <p:cNvGrpSpPr>
              <a:grpSpLocks/>
            </p:cNvGrpSpPr>
            <p:nvPr/>
          </p:nvGrpSpPr>
          <p:grpSpPr bwMode="auto">
            <a:xfrm>
              <a:off x="3852" y="1007"/>
              <a:ext cx="1653" cy="1659"/>
              <a:chOff x="3047" y="961"/>
              <a:chExt cx="1653" cy="1659"/>
            </a:xfrm>
          </p:grpSpPr>
          <p:sp>
            <p:nvSpPr>
              <p:cNvPr id="11282" name="Oval 42"/>
              <p:cNvSpPr>
                <a:spLocks noChangeArrowheads="1"/>
              </p:cNvSpPr>
              <p:nvPr/>
            </p:nvSpPr>
            <p:spPr bwMode="auto">
              <a:xfrm>
                <a:off x="3047" y="961"/>
                <a:ext cx="1653" cy="1659"/>
              </a:xfrm>
              <a:prstGeom prst="ellipse">
                <a:avLst/>
              </a:prstGeom>
              <a:solidFill>
                <a:schemeClr val="bg1"/>
              </a:solidFill>
              <a:ln w="25400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aphicFrame>
            <p:nvGraphicFramePr>
              <p:cNvPr id="11267" name="Object 35"/>
              <p:cNvGraphicFramePr>
                <a:graphicFrameLocks noChangeAspect="1"/>
              </p:cNvGraphicFramePr>
              <p:nvPr/>
            </p:nvGraphicFramePr>
            <p:xfrm>
              <a:off x="3808" y="1230"/>
              <a:ext cx="173" cy="17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203040" imgH="177480" progId="Equation.3">
                      <p:embed/>
                    </p:oleObj>
                  </mc:Choice>
                  <mc:Fallback>
                    <p:oleObj name="Equation" r:id="rId4" imgW="203040" imgH="177480" progId="Equation.3">
                      <p:embed/>
                      <p:pic>
                        <p:nvPicPr>
                          <p:cNvPr id="11267" name="Object 3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08" y="1230"/>
                            <a:ext cx="173" cy="17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1283" name="Arc 36"/>
              <p:cNvSpPr>
                <a:spLocks/>
              </p:cNvSpPr>
              <p:nvPr/>
            </p:nvSpPr>
            <p:spPr bwMode="auto">
              <a:xfrm>
                <a:off x="3532" y="1522"/>
                <a:ext cx="709" cy="964"/>
              </a:xfrm>
              <a:custGeom>
                <a:avLst/>
                <a:gdLst>
                  <a:gd name="T0" fmla="*/ 0 w 17927"/>
                  <a:gd name="T1" fmla="*/ 4 h 21600"/>
                  <a:gd name="T2" fmla="*/ 28 w 17927"/>
                  <a:gd name="T3" fmla="*/ 4 h 21600"/>
                  <a:gd name="T4" fmla="*/ 14 w 17927"/>
                  <a:gd name="T5" fmla="*/ 43 h 21600"/>
                  <a:gd name="T6" fmla="*/ 0 60000 65536"/>
                  <a:gd name="T7" fmla="*/ 0 60000 65536"/>
                  <a:gd name="T8" fmla="*/ 0 60000 65536"/>
                  <a:gd name="T9" fmla="*/ 0 w 17927"/>
                  <a:gd name="T10" fmla="*/ 0 h 21600"/>
                  <a:gd name="T11" fmla="*/ 17927 w 17927"/>
                  <a:gd name="T12" fmla="*/ 21600 h 21600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7927" h="21600" fill="none" extrusionOk="0">
                    <a:moveTo>
                      <a:pt x="0" y="1858"/>
                    </a:moveTo>
                    <a:cubicBezTo>
                      <a:pt x="2759" y="633"/>
                      <a:pt x="5745" y="-1"/>
                      <a:pt x="8765" y="0"/>
                    </a:cubicBezTo>
                    <a:cubicBezTo>
                      <a:pt x="11931" y="0"/>
                      <a:pt x="15059" y="696"/>
                      <a:pt x="17927" y="2039"/>
                    </a:cubicBezTo>
                  </a:path>
                  <a:path w="17927" h="21600" stroke="0" extrusionOk="0">
                    <a:moveTo>
                      <a:pt x="0" y="1858"/>
                    </a:moveTo>
                    <a:cubicBezTo>
                      <a:pt x="2759" y="633"/>
                      <a:pt x="5745" y="-1"/>
                      <a:pt x="8765" y="0"/>
                    </a:cubicBezTo>
                    <a:cubicBezTo>
                      <a:pt x="11931" y="0"/>
                      <a:pt x="15059" y="696"/>
                      <a:pt x="17927" y="2039"/>
                    </a:cubicBezTo>
                    <a:lnTo>
                      <a:pt x="8765" y="21600"/>
                    </a:lnTo>
                    <a:close/>
                  </a:path>
                </a:pathLst>
              </a:custGeom>
              <a:noFill/>
              <a:ln w="76200">
                <a:solidFill>
                  <a:srgbClr val="9933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1284" name="Line 37"/>
              <p:cNvSpPr>
                <a:spLocks noChangeShapeType="1"/>
              </p:cNvSpPr>
              <p:nvPr/>
            </p:nvSpPr>
            <p:spPr bwMode="auto">
              <a:xfrm flipH="1">
                <a:off x="3878" y="1603"/>
                <a:ext cx="350" cy="8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1285" name="Line 38"/>
              <p:cNvSpPr>
                <a:spLocks noChangeShapeType="1"/>
              </p:cNvSpPr>
              <p:nvPr/>
            </p:nvSpPr>
            <p:spPr bwMode="auto">
              <a:xfrm>
                <a:off x="3521" y="1567"/>
                <a:ext cx="349" cy="8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1286" name="Line 39"/>
              <p:cNvSpPr>
                <a:spLocks noChangeShapeType="1"/>
              </p:cNvSpPr>
              <p:nvPr/>
            </p:nvSpPr>
            <p:spPr bwMode="auto">
              <a:xfrm>
                <a:off x="3878" y="1468"/>
                <a:ext cx="0" cy="98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1287" name="Text Box 40"/>
              <p:cNvSpPr txBox="1">
                <a:spLocks noChangeArrowheads="1"/>
              </p:cNvSpPr>
              <p:nvPr/>
            </p:nvSpPr>
            <p:spPr bwMode="auto">
              <a:xfrm>
                <a:off x="3866" y="1988"/>
                <a:ext cx="183" cy="212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>
                    <a:sym typeface="Symbol" pitchFamily="18" charset="2"/>
                  </a:rPr>
                  <a:t></a:t>
                </a:r>
              </a:p>
            </p:txBody>
          </p:sp>
          <p:sp>
            <p:nvSpPr>
              <p:cNvPr id="11288" name="Line 44"/>
              <p:cNvSpPr>
                <a:spLocks noChangeShapeType="1"/>
              </p:cNvSpPr>
              <p:nvPr/>
            </p:nvSpPr>
            <p:spPr bwMode="auto">
              <a:xfrm flipH="1">
                <a:off x="3319" y="1600"/>
                <a:ext cx="201" cy="110"/>
              </a:xfrm>
              <a:prstGeom prst="line">
                <a:avLst/>
              </a:prstGeom>
              <a:noFill/>
              <a:ln w="952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1289" name="Line 45"/>
              <p:cNvSpPr>
                <a:spLocks noChangeShapeType="1"/>
              </p:cNvSpPr>
              <p:nvPr/>
            </p:nvSpPr>
            <p:spPr bwMode="auto">
              <a:xfrm>
                <a:off x="4247" y="1614"/>
                <a:ext cx="201" cy="110"/>
              </a:xfrm>
              <a:prstGeom prst="line">
                <a:avLst/>
              </a:prstGeom>
              <a:noFill/>
              <a:ln w="952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1290" name="Text Box 46"/>
              <p:cNvSpPr txBox="1">
                <a:spLocks noChangeArrowheads="1"/>
              </p:cNvSpPr>
              <p:nvPr/>
            </p:nvSpPr>
            <p:spPr bwMode="auto">
              <a:xfrm>
                <a:off x="4442" y="1614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11291" name="Text Box 47"/>
              <p:cNvSpPr txBox="1">
                <a:spLocks noChangeArrowheads="1"/>
              </p:cNvSpPr>
              <p:nvPr/>
            </p:nvSpPr>
            <p:spPr bwMode="auto">
              <a:xfrm>
                <a:off x="3093" y="1627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11292" name="Line 48"/>
              <p:cNvSpPr>
                <a:spLocks noChangeShapeType="1"/>
              </p:cNvSpPr>
              <p:nvPr/>
            </p:nvSpPr>
            <p:spPr bwMode="auto">
              <a:xfrm>
                <a:off x="3173" y="1509"/>
                <a:ext cx="140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1293" name="Text Box 49"/>
              <p:cNvSpPr txBox="1">
                <a:spLocks noChangeArrowheads="1"/>
              </p:cNvSpPr>
              <p:nvPr/>
            </p:nvSpPr>
            <p:spPr bwMode="auto">
              <a:xfrm>
                <a:off x="4310" y="1489"/>
                <a:ext cx="183" cy="212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>
                    <a:sym typeface="Symbol" pitchFamily="18" charset="2"/>
                  </a:rPr>
                  <a:t></a:t>
                </a:r>
              </a:p>
            </p:txBody>
          </p:sp>
          <p:sp>
            <p:nvSpPr>
              <p:cNvPr id="11294" name="Text Box 50"/>
              <p:cNvSpPr txBox="1">
                <a:spLocks noChangeArrowheads="1"/>
              </p:cNvSpPr>
              <p:nvPr/>
            </p:nvSpPr>
            <p:spPr bwMode="auto">
              <a:xfrm>
                <a:off x="3227" y="1484"/>
                <a:ext cx="183" cy="212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>
                    <a:sym typeface="Symbol" pitchFamily="18" charset="2"/>
                  </a:rPr>
                  <a:t></a:t>
                </a:r>
              </a:p>
            </p:txBody>
          </p:sp>
        </p:grpSp>
        <p:sp>
          <p:nvSpPr>
            <p:cNvPr id="11280" name="Line 52"/>
            <p:cNvSpPr>
              <a:spLocks noChangeShapeType="1"/>
            </p:cNvSpPr>
            <p:nvPr/>
          </p:nvSpPr>
          <p:spPr bwMode="auto">
            <a:xfrm flipH="1">
              <a:off x="3118" y="1006"/>
              <a:ext cx="1682" cy="5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281" name="Line 53"/>
            <p:cNvSpPr>
              <a:spLocks noChangeShapeType="1"/>
            </p:cNvSpPr>
            <p:nvPr/>
          </p:nvSpPr>
          <p:spPr bwMode="auto">
            <a:xfrm flipH="1" flipV="1">
              <a:off x="2981" y="1280"/>
              <a:ext cx="1115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1274" name="Rectangle 55"/>
          <p:cNvSpPr>
            <a:spLocks noChangeArrowheads="1"/>
          </p:cNvSpPr>
          <p:nvPr/>
        </p:nvSpPr>
        <p:spPr bwMode="auto">
          <a:xfrm>
            <a:off x="4876800" y="4514850"/>
            <a:ext cx="3367088" cy="163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290513" indent="-290513" algn="l">
              <a:spcBef>
                <a:spcPct val="20000"/>
              </a:spcBef>
              <a:buFontTx/>
              <a:buChar char="•"/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8487952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3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2294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229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B937D73-E016-4D34-A007-D3CAB01028EC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12296" name="Rectangle 3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a Segment of String</a:t>
            </a:r>
          </a:p>
        </p:txBody>
      </p:sp>
      <p:sp>
        <p:nvSpPr>
          <p:cNvPr id="12297" name="Rectangle 3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989388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400"/>
              <a:t>Assume that </a:t>
            </a:r>
            <a:r>
              <a:rPr lang="en-US" sz="2400">
                <a:sym typeface="Symbol" pitchFamily="18" charset="2"/>
              </a:rPr>
              <a:t>s</a:t>
            </a:r>
            <a:r>
              <a:rPr lang="en-US" sz="2400"/>
              <a:t> an arc of a circle with radius R.</a:t>
            </a:r>
          </a:p>
          <a:p>
            <a:pPr eaLnBrk="1" hangingPunct="1">
              <a:lnSpc>
                <a:spcPct val="90000"/>
              </a:lnSpc>
            </a:pPr>
            <a:r>
              <a:rPr lang="en-US" sz="2400"/>
              <a:t>There is a force pulling left on the left end of the element that is tangent to the arc, </a:t>
            </a:r>
          </a:p>
          <a:p>
            <a:pPr eaLnBrk="1" hangingPunct="1">
              <a:lnSpc>
                <a:spcPct val="90000"/>
              </a:lnSpc>
            </a:pPr>
            <a:r>
              <a:rPr lang="en-US" sz="2400"/>
              <a:t>there is a force pulling right at the right end of the element which is tangent to the arc. </a:t>
            </a:r>
          </a:p>
          <a:p>
            <a:pPr eaLnBrk="1" hangingPunct="1">
              <a:lnSpc>
                <a:spcPct val="90000"/>
              </a:lnSpc>
            </a:pPr>
            <a:r>
              <a:rPr lang="en-US" sz="2400"/>
              <a:t>These forces produce centripetal accelerations</a:t>
            </a:r>
          </a:p>
        </p:txBody>
      </p:sp>
      <p:graphicFrame>
        <p:nvGraphicFramePr>
          <p:cNvPr id="12290" name="Object 30"/>
          <p:cNvGraphicFramePr>
            <a:graphicFrameLocks noChangeAspect="1"/>
          </p:cNvGraphicFramePr>
          <p:nvPr/>
        </p:nvGraphicFramePr>
        <p:xfrm>
          <a:off x="6126163" y="4743450"/>
          <a:ext cx="1042987" cy="976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44307" imgH="418918" progId="Equation.3">
                  <p:embed/>
                </p:oleObj>
              </mc:Choice>
              <mc:Fallback>
                <p:oleObj name="Equation" r:id="rId2" imgW="444307" imgH="418918" progId="Equation.3">
                  <p:embed/>
                  <p:pic>
                    <p:nvPicPr>
                      <p:cNvPr id="12290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26163" y="4743450"/>
                        <a:ext cx="1042987" cy="9763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57"/>
          <p:cNvGrpSpPr>
            <a:grpSpLocks/>
          </p:cNvGrpSpPr>
          <p:nvPr/>
        </p:nvGrpSpPr>
        <p:grpSpPr bwMode="auto">
          <a:xfrm>
            <a:off x="3630613" y="1597025"/>
            <a:ext cx="5108575" cy="2635250"/>
            <a:chOff x="2287" y="1006"/>
            <a:chExt cx="3218" cy="1660"/>
          </a:xfrm>
        </p:grpSpPr>
        <p:sp>
          <p:nvSpPr>
            <p:cNvPr id="12299" name="Oval 58"/>
            <p:cNvSpPr>
              <a:spLocks noChangeArrowheads="1"/>
            </p:cNvSpPr>
            <p:nvPr/>
          </p:nvSpPr>
          <p:spPr bwMode="auto">
            <a:xfrm>
              <a:off x="2974" y="1066"/>
              <a:ext cx="324" cy="309"/>
            </a:xfrm>
            <a:prstGeom prst="ellipse">
              <a:avLst/>
            </a:prstGeom>
            <a:solidFill>
              <a:schemeClr val="bg1"/>
            </a:solidFill>
            <a:ln w="254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aphicFrame>
          <p:nvGraphicFramePr>
            <p:cNvPr id="12291" name="Object 59"/>
            <p:cNvGraphicFramePr>
              <a:graphicFrameLocks noChangeAspect="1"/>
            </p:cNvGraphicFramePr>
            <p:nvPr/>
          </p:nvGraphicFramePr>
          <p:xfrm>
            <a:off x="3078" y="1055"/>
            <a:ext cx="128" cy="1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203040" imgH="177480" progId="Equation.3">
                    <p:embed/>
                  </p:oleObj>
                </mc:Choice>
                <mc:Fallback>
                  <p:oleObj name="Equation" r:id="rId4" imgW="203040" imgH="177480" progId="Equation.3">
                    <p:embed/>
                    <p:pic>
                      <p:nvPicPr>
                        <p:cNvPr id="12291" name="Object 5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78" y="1055"/>
                          <a:ext cx="128" cy="1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300" name="Freeform 60"/>
            <p:cNvSpPr>
              <a:spLocks/>
            </p:cNvSpPr>
            <p:nvPr/>
          </p:nvSpPr>
          <p:spPr bwMode="auto">
            <a:xfrm>
              <a:off x="2287" y="1216"/>
              <a:ext cx="855" cy="558"/>
            </a:xfrm>
            <a:custGeom>
              <a:avLst/>
              <a:gdLst>
                <a:gd name="T0" fmla="*/ 855 w 855"/>
                <a:gd name="T1" fmla="*/ 0 h 558"/>
                <a:gd name="T2" fmla="*/ 759 w 855"/>
                <a:gd name="T3" fmla="*/ 9 h 558"/>
                <a:gd name="T4" fmla="*/ 657 w 855"/>
                <a:gd name="T5" fmla="*/ 57 h 558"/>
                <a:gd name="T6" fmla="*/ 561 w 855"/>
                <a:gd name="T7" fmla="*/ 141 h 558"/>
                <a:gd name="T8" fmla="*/ 414 w 855"/>
                <a:gd name="T9" fmla="*/ 333 h 558"/>
                <a:gd name="T10" fmla="*/ 285 w 855"/>
                <a:gd name="T11" fmla="*/ 429 h 558"/>
                <a:gd name="T12" fmla="*/ 0 w 855"/>
                <a:gd name="T13" fmla="*/ 558 h 55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55"/>
                <a:gd name="T22" fmla="*/ 0 h 558"/>
                <a:gd name="T23" fmla="*/ 855 w 855"/>
                <a:gd name="T24" fmla="*/ 558 h 55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55" h="558">
                  <a:moveTo>
                    <a:pt x="855" y="0"/>
                  </a:moveTo>
                  <a:cubicBezTo>
                    <a:pt x="823" y="0"/>
                    <a:pt x="792" y="0"/>
                    <a:pt x="759" y="9"/>
                  </a:cubicBezTo>
                  <a:cubicBezTo>
                    <a:pt x="726" y="18"/>
                    <a:pt x="690" y="35"/>
                    <a:pt x="657" y="57"/>
                  </a:cubicBezTo>
                  <a:cubicBezTo>
                    <a:pt x="624" y="79"/>
                    <a:pt x="601" y="95"/>
                    <a:pt x="561" y="141"/>
                  </a:cubicBezTo>
                  <a:cubicBezTo>
                    <a:pt x="521" y="187"/>
                    <a:pt x="460" y="285"/>
                    <a:pt x="414" y="333"/>
                  </a:cubicBezTo>
                  <a:cubicBezTo>
                    <a:pt x="368" y="381"/>
                    <a:pt x="354" y="392"/>
                    <a:pt x="285" y="429"/>
                  </a:cubicBezTo>
                  <a:cubicBezTo>
                    <a:pt x="216" y="466"/>
                    <a:pt x="47" y="537"/>
                    <a:pt x="0" y="558"/>
                  </a:cubicBezTo>
                </a:path>
              </a:pathLst>
            </a:custGeom>
            <a:noFill/>
            <a:ln w="38100">
              <a:solidFill>
                <a:srgbClr val="FFCC6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301" name="Freeform 61"/>
            <p:cNvSpPr>
              <a:spLocks/>
            </p:cNvSpPr>
            <p:nvPr/>
          </p:nvSpPr>
          <p:spPr bwMode="auto">
            <a:xfrm flipH="1">
              <a:off x="3139" y="1219"/>
              <a:ext cx="855" cy="558"/>
            </a:xfrm>
            <a:custGeom>
              <a:avLst/>
              <a:gdLst>
                <a:gd name="T0" fmla="*/ 855 w 855"/>
                <a:gd name="T1" fmla="*/ 0 h 558"/>
                <a:gd name="T2" fmla="*/ 759 w 855"/>
                <a:gd name="T3" fmla="*/ 9 h 558"/>
                <a:gd name="T4" fmla="*/ 657 w 855"/>
                <a:gd name="T5" fmla="*/ 57 h 558"/>
                <a:gd name="T6" fmla="*/ 561 w 855"/>
                <a:gd name="T7" fmla="*/ 141 h 558"/>
                <a:gd name="T8" fmla="*/ 414 w 855"/>
                <a:gd name="T9" fmla="*/ 333 h 558"/>
                <a:gd name="T10" fmla="*/ 285 w 855"/>
                <a:gd name="T11" fmla="*/ 429 h 558"/>
                <a:gd name="T12" fmla="*/ 0 w 855"/>
                <a:gd name="T13" fmla="*/ 558 h 55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55"/>
                <a:gd name="T22" fmla="*/ 0 h 558"/>
                <a:gd name="T23" fmla="*/ 855 w 855"/>
                <a:gd name="T24" fmla="*/ 558 h 55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55" h="558">
                  <a:moveTo>
                    <a:pt x="855" y="0"/>
                  </a:moveTo>
                  <a:cubicBezTo>
                    <a:pt x="823" y="0"/>
                    <a:pt x="792" y="0"/>
                    <a:pt x="759" y="9"/>
                  </a:cubicBezTo>
                  <a:cubicBezTo>
                    <a:pt x="726" y="18"/>
                    <a:pt x="690" y="35"/>
                    <a:pt x="657" y="57"/>
                  </a:cubicBezTo>
                  <a:cubicBezTo>
                    <a:pt x="624" y="79"/>
                    <a:pt x="601" y="95"/>
                    <a:pt x="561" y="141"/>
                  </a:cubicBezTo>
                  <a:cubicBezTo>
                    <a:pt x="521" y="187"/>
                    <a:pt x="460" y="285"/>
                    <a:pt x="414" y="333"/>
                  </a:cubicBezTo>
                  <a:cubicBezTo>
                    <a:pt x="368" y="381"/>
                    <a:pt x="354" y="392"/>
                    <a:pt x="285" y="429"/>
                  </a:cubicBezTo>
                  <a:cubicBezTo>
                    <a:pt x="216" y="466"/>
                    <a:pt x="47" y="537"/>
                    <a:pt x="0" y="558"/>
                  </a:cubicBezTo>
                </a:path>
              </a:pathLst>
            </a:custGeom>
            <a:noFill/>
            <a:ln w="38100">
              <a:solidFill>
                <a:srgbClr val="FFCC6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302" name="Arc 62"/>
            <p:cNvSpPr>
              <a:spLocks/>
            </p:cNvSpPr>
            <p:nvPr/>
          </p:nvSpPr>
          <p:spPr bwMode="auto">
            <a:xfrm>
              <a:off x="3008" y="1216"/>
              <a:ext cx="268" cy="320"/>
            </a:xfrm>
            <a:custGeom>
              <a:avLst/>
              <a:gdLst>
                <a:gd name="T0" fmla="*/ 0 w 17927"/>
                <a:gd name="T1" fmla="*/ 0 h 21600"/>
                <a:gd name="T2" fmla="*/ 4 w 17927"/>
                <a:gd name="T3" fmla="*/ 0 h 21600"/>
                <a:gd name="T4" fmla="*/ 2 w 17927"/>
                <a:gd name="T5" fmla="*/ 5 h 21600"/>
                <a:gd name="T6" fmla="*/ 0 60000 65536"/>
                <a:gd name="T7" fmla="*/ 0 60000 65536"/>
                <a:gd name="T8" fmla="*/ 0 60000 65536"/>
                <a:gd name="T9" fmla="*/ 0 w 17927"/>
                <a:gd name="T10" fmla="*/ 0 h 21600"/>
                <a:gd name="T11" fmla="*/ 17927 w 1792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7927" h="21600" fill="none" extrusionOk="0">
                  <a:moveTo>
                    <a:pt x="0" y="1858"/>
                  </a:moveTo>
                  <a:cubicBezTo>
                    <a:pt x="2759" y="633"/>
                    <a:pt x="5745" y="-1"/>
                    <a:pt x="8765" y="0"/>
                  </a:cubicBezTo>
                  <a:cubicBezTo>
                    <a:pt x="11931" y="0"/>
                    <a:pt x="15059" y="696"/>
                    <a:pt x="17927" y="2039"/>
                  </a:cubicBezTo>
                </a:path>
                <a:path w="17927" h="21600" stroke="0" extrusionOk="0">
                  <a:moveTo>
                    <a:pt x="0" y="1858"/>
                  </a:moveTo>
                  <a:cubicBezTo>
                    <a:pt x="2759" y="633"/>
                    <a:pt x="5745" y="-1"/>
                    <a:pt x="8765" y="0"/>
                  </a:cubicBezTo>
                  <a:cubicBezTo>
                    <a:pt x="11931" y="0"/>
                    <a:pt x="15059" y="696"/>
                    <a:pt x="17927" y="2039"/>
                  </a:cubicBezTo>
                  <a:lnTo>
                    <a:pt x="8765" y="21600"/>
                  </a:lnTo>
                  <a:close/>
                </a:path>
              </a:pathLst>
            </a:custGeom>
            <a:noFill/>
            <a:ln w="38100">
              <a:solidFill>
                <a:srgbClr val="9933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63"/>
            <p:cNvGrpSpPr>
              <a:grpSpLocks/>
            </p:cNvGrpSpPr>
            <p:nvPr/>
          </p:nvGrpSpPr>
          <p:grpSpPr bwMode="auto">
            <a:xfrm>
              <a:off x="3852" y="1007"/>
              <a:ext cx="1653" cy="1659"/>
              <a:chOff x="3047" y="961"/>
              <a:chExt cx="1653" cy="1659"/>
            </a:xfrm>
          </p:grpSpPr>
          <p:sp>
            <p:nvSpPr>
              <p:cNvPr id="12306" name="Oval 64"/>
              <p:cNvSpPr>
                <a:spLocks noChangeArrowheads="1"/>
              </p:cNvSpPr>
              <p:nvPr/>
            </p:nvSpPr>
            <p:spPr bwMode="auto">
              <a:xfrm>
                <a:off x="3047" y="961"/>
                <a:ext cx="1653" cy="1659"/>
              </a:xfrm>
              <a:prstGeom prst="ellipse">
                <a:avLst/>
              </a:prstGeom>
              <a:solidFill>
                <a:schemeClr val="bg1"/>
              </a:solidFill>
              <a:ln w="25400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aphicFrame>
            <p:nvGraphicFramePr>
              <p:cNvPr id="12292" name="Object 65"/>
              <p:cNvGraphicFramePr>
                <a:graphicFrameLocks noChangeAspect="1"/>
              </p:cNvGraphicFramePr>
              <p:nvPr/>
            </p:nvGraphicFramePr>
            <p:xfrm>
              <a:off x="3808" y="1230"/>
              <a:ext cx="173" cy="17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6" imgW="203040" imgH="177480" progId="Equation.3">
                      <p:embed/>
                    </p:oleObj>
                  </mc:Choice>
                  <mc:Fallback>
                    <p:oleObj name="Equation" r:id="rId6" imgW="203040" imgH="177480" progId="Equation.3">
                      <p:embed/>
                      <p:pic>
                        <p:nvPicPr>
                          <p:cNvPr id="12292" name="Object 6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08" y="1230"/>
                            <a:ext cx="173" cy="17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2307" name="Arc 66"/>
              <p:cNvSpPr>
                <a:spLocks/>
              </p:cNvSpPr>
              <p:nvPr/>
            </p:nvSpPr>
            <p:spPr bwMode="auto">
              <a:xfrm>
                <a:off x="3532" y="1522"/>
                <a:ext cx="709" cy="964"/>
              </a:xfrm>
              <a:custGeom>
                <a:avLst/>
                <a:gdLst>
                  <a:gd name="T0" fmla="*/ 0 w 17927"/>
                  <a:gd name="T1" fmla="*/ 4 h 21600"/>
                  <a:gd name="T2" fmla="*/ 28 w 17927"/>
                  <a:gd name="T3" fmla="*/ 4 h 21600"/>
                  <a:gd name="T4" fmla="*/ 14 w 17927"/>
                  <a:gd name="T5" fmla="*/ 43 h 21600"/>
                  <a:gd name="T6" fmla="*/ 0 60000 65536"/>
                  <a:gd name="T7" fmla="*/ 0 60000 65536"/>
                  <a:gd name="T8" fmla="*/ 0 60000 65536"/>
                  <a:gd name="T9" fmla="*/ 0 w 17927"/>
                  <a:gd name="T10" fmla="*/ 0 h 21600"/>
                  <a:gd name="T11" fmla="*/ 17927 w 17927"/>
                  <a:gd name="T12" fmla="*/ 21600 h 21600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7927" h="21600" fill="none" extrusionOk="0">
                    <a:moveTo>
                      <a:pt x="0" y="1858"/>
                    </a:moveTo>
                    <a:cubicBezTo>
                      <a:pt x="2759" y="633"/>
                      <a:pt x="5745" y="-1"/>
                      <a:pt x="8765" y="0"/>
                    </a:cubicBezTo>
                    <a:cubicBezTo>
                      <a:pt x="11931" y="0"/>
                      <a:pt x="15059" y="696"/>
                      <a:pt x="17927" y="2039"/>
                    </a:cubicBezTo>
                  </a:path>
                  <a:path w="17927" h="21600" stroke="0" extrusionOk="0">
                    <a:moveTo>
                      <a:pt x="0" y="1858"/>
                    </a:moveTo>
                    <a:cubicBezTo>
                      <a:pt x="2759" y="633"/>
                      <a:pt x="5745" y="-1"/>
                      <a:pt x="8765" y="0"/>
                    </a:cubicBezTo>
                    <a:cubicBezTo>
                      <a:pt x="11931" y="0"/>
                      <a:pt x="15059" y="696"/>
                      <a:pt x="17927" y="2039"/>
                    </a:cubicBezTo>
                    <a:lnTo>
                      <a:pt x="8765" y="21600"/>
                    </a:lnTo>
                    <a:close/>
                  </a:path>
                </a:pathLst>
              </a:custGeom>
              <a:noFill/>
              <a:ln w="76200">
                <a:solidFill>
                  <a:srgbClr val="9933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308" name="Line 67"/>
              <p:cNvSpPr>
                <a:spLocks noChangeShapeType="1"/>
              </p:cNvSpPr>
              <p:nvPr/>
            </p:nvSpPr>
            <p:spPr bwMode="auto">
              <a:xfrm flipH="1">
                <a:off x="3878" y="1603"/>
                <a:ext cx="350" cy="8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309" name="Line 68"/>
              <p:cNvSpPr>
                <a:spLocks noChangeShapeType="1"/>
              </p:cNvSpPr>
              <p:nvPr/>
            </p:nvSpPr>
            <p:spPr bwMode="auto">
              <a:xfrm>
                <a:off x="3521" y="1567"/>
                <a:ext cx="349" cy="8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310" name="Line 69"/>
              <p:cNvSpPr>
                <a:spLocks noChangeShapeType="1"/>
              </p:cNvSpPr>
              <p:nvPr/>
            </p:nvSpPr>
            <p:spPr bwMode="auto">
              <a:xfrm>
                <a:off x="3878" y="1468"/>
                <a:ext cx="0" cy="98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311" name="Text Box 70"/>
              <p:cNvSpPr txBox="1">
                <a:spLocks noChangeArrowheads="1"/>
              </p:cNvSpPr>
              <p:nvPr/>
            </p:nvSpPr>
            <p:spPr bwMode="auto">
              <a:xfrm>
                <a:off x="3866" y="1988"/>
                <a:ext cx="183" cy="212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>
                    <a:sym typeface="Symbol" pitchFamily="18" charset="2"/>
                  </a:rPr>
                  <a:t></a:t>
                </a:r>
              </a:p>
            </p:txBody>
          </p:sp>
          <p:sp>
            <p:nvSpPr>
              <p:cNvPr id="12312" name="Line 71"/>
              <p:cNvSpPr>
                <a:spLocks noChangeShapeType="1"/>
              </p:cNvSpPr>
              <p:nvPr/>
            </p:nvSpPr>
            <p:spPr bwMode="auto">
              <a:xfrm flipH="1">
                <a:off x="3319" y="1600"/>
                <a:ext cx="201" cy="110"/>
              </a:xfrm>
              <a:prstGeom prst="line">
                <a:avLst/>
              </a:prstGeom>
              <a:noFill/>
              <a:ln w="952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313" name="Line 72"/>
              <p:cNvSpPr>
                <a:spLocks noChangeShapeType="1"/>
              </p:cNvSpPr>
              <p:nvPr/>
            </p:nvSpPr>
            <p:spPr bwMode="auto">
              <a:xfrm>
                <a:off x="4247" y="1614"/>
                <a:ext cx="201" cy="110"/>
              </a:xfrm>
              <a:prstGeom prst="line">
                <a:avLst/>
              </a:prstGeom>
              <a:noFill/>
              <a:ln w="952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314" name="Text Box 73"/>
              <p:cNvSpPr txBox="1">
                <a:spLocks noChangeArrowheads="1"/>
              </p:cNvSpPr>
              <p:nvPr/>
            </p:nvSpPr>
            <p:spPr bwMode="auto">
              <a:xfrm>
                <a:off x="4442" y="1614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12315" name="Text Box 74"/>
              <p:cNvSpPr txBox="1">
                <a:spLocks noChangeArrowheads="1"/>
              </p:cNvSpPr>
              <p:nvPr/>
            </p:nvSpPr>
            <p:spPr bwMode="auto">
              <a:xfrm>
                <a:off x="3093" y="1627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12316" name="Line 75"/>
              <p:cNvSpPr>
                <a:spLocks noChangeShapeType="1"/>
              </p:cNvSpPr>
              <p:nvPr/>
            </p:nvSpPr>
            <p:spPr bwMode="auto">
              <a:xfrm>
                <a:off x="3173" y="1509"/>
                <a:ext cx="140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2317" name="Text Box 76"/>
              <p:cNvSpPr txBox="1">
                <a:spLocks noChangeArrowheads="1"/>
              </p:cNvSpPr>
              <p:nvPr/>
            </p:nvSpPr>
            <p:spPr bwMode="auto">
              <a:xfrm>
                <a:off x="4310" y="1489"/>
                <a:ext cx="183" cy="212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>
                    <a:sym typeface="Symbol" pitchFamily="18" charset="2"/>
                  </a:rPr>
                  <a:t></a:t>
                </a:r>
              </a:p>
            </p:txBody>
          </p:sp>
          <p:sp>
            <p:nvSpPr>
              <p:cNvPr id="12318" name="Text Box 77"/>
              <p:cNvSpPr txBox="1">
                <a:spLocks noChangeArrowheads="1"/>
              </p:cNvSpPr>
              <p:nvPr/>
            </p:nvSpPr>
            <p:spPr bwMode="auto">
              <a:xfrm>
                <a:off x="3227" y="1484"/>
                <a:ext cx="183" cy="212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>
                    <a:sym typeface="Symbol" pitchFamily="18" charset="2"/>
                  </a:rPr>
                  <a:t></a:t>
                </a:r>
              </a:p>
            </p:txBody>
          </p:sp>
        </p:grpSp>
        <p:sp>
          <p:nvSpPr>
            <p:cNvPr id="12304" name="Line 78"/>
            <p:cNvSpPr>
              <a:spLocks noChangeShapeType="1"/>
            </p:cNvSpPr>
            <p:nvPr/>
          </p:nvSpPr>
          <p:spPr bwMode="auto">
            <a:xfrm flipH="1">
              <a:off x="3118" y="1006"/>
              <a:ext cx="1682" cy="5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305" name="Line 79"/>
            <p:cNvSpPr>
              <a:spLocks noChangeShapeType="1"/>
            </p:cNvSpPr>
            <p:nvPr/>
          </p:nvSpPr>
          <p:spPr bwMode="auto">
            <a:xfrm flipH="1" flipV="1">
              <a:off x="2981" y="1280"/>
              <a:ext cx="1115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860905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2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3323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332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00B0964-3FFB-4881-9119-45BABDCA57FB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1332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a Segment of String</a:t>
            </a:r>
          </a:p>
        </p:txBody>
      </p:sp>
      <p:sp>
        <p:nvSpPr>
          <p:cNvPr id="1332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425825" cy="45259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000"/>
              <a:t>The horizontal components of the forces cancel </a:t>
            </a:r>
          </a:p>
          <a:p>
            <a:pPr eaLnBrk="1" hangingPunct="1">
              <a:lnSpc>
                <a:spcPct val="80000"/>
              </a:lnSpc>
            </a:pPr>
            <a:endParaRPr lang="en-US" sz="2000"/>
          </a:p>
          <a:p>
            <a:pPr eaLnBrk="1" hangingPunct="1">
              <a:lnSpc>
                <a:spcPct val="80000"/>
              </a:lnSpc>
            </a:pPr>
            <a:endParaRPr lang="en-US" sz="2000"/>
          </a:p>
          <a:p>
            <a:pPr eaLnBrk="1" hangingPunct="1">
              <a:lnSpc>
                <a:spcPct val="80000"/>
              </a:lnSpc>
            </a:pPr>
            <a:r>
              <a:rPr lang="en-US" sz="2000"/>
              <a:t>The vertical component,    is directed toward the center of the arc </a:t>
            </a:r>
          </a:p>
          <a:p>
            <a:pPr eaLnBrk="1" hangingPunct="1">
              <a:lnSpc>
                <a:spcPct val="80000"/>
              </a:lnSpc>
            </a:pPr>
            <a:endParaRPr lang="en-US" sz="2000"/>
          </a:p>
          <a:p>
            <a:pPr eaLnBrk="1" hangingPunct="1">
              <a:lnSpc>
                <a:spcPct val="80000"/>
              </a:lnSpc>
            </a:pPr>
            <a:endParaRPr lang="en-US" sz="2000"/>
          </a:p>
          <a:p>
            <a:pPr eaLnBrk="1" hangingPunct="1">
              <a:lnSpc>
                <a:spcPct val="80000"/>
              </a:lnSpc>
            </a:pPr>
            <a:r>
              <a:rPr lang="en-US" sz="2000"/>
              <a:t>If the rope is not moving in the  x direction, then </a:t>
            </a:r>
          </a:p>
          <a:p>
            <a:pPr eaLnBrk="1" hangingPunct="1">
              <a:lnSpc>
                <a:spcPct val="80000"/>
              </a:lnSpc>
            </a:pPr>
            <a:endParaRPr lang="en-US" sz="2000"/>
          </a:p>
          <a:p>
            <a:pPr eaLnBrk="1" hangingPunct="1">
              <a:lnSpc>
                <a:spcPct val="80000"/>
              </a:lnSpc>
            </a:pPr>
            <a:endParaRPr lang="en-US" sz="2000"/>
          </a:p>
          <a:p>
            <a:pPr eaLnBrk="1" hangingPunct="1">
              <a:lnSpc>
                <a:spcPct val="80000"/>
              </a:lnSpc>
            </a:pPr>
            <a:endParaRPr lang="en-US" sz="2000"/>
          </a:p>
          <a:p>
            <a:pPr eaLnBrk="1" hangingPunct="1">
              <a:lnSpc>
                <a:spcPct val="80000"/>
              </a:lnSpc>
            </a:pPr>
            <a:r>
              <a:rPr lang="en-US" sz="2000"/>
              <a:t>Then the force is </a:t>
            </a:r>
          </a:p>
        </p:txBody>
      </p:sp>
      <p:sp>
        <p:nvSpPr>
          <p:cNvPr id="13327" name="Oval 5"/>
          <p:cNvSpPr>
            <a:spLocks noChangeArrowheads="1"/>
          </p:cNvSpPr>
          <p:nvPr/>
        </p:nvSpPr>
        <p:spPr bwMode="auto">
          <a:xfrm>
            <a:off x="4721225" y="1692275"/>
            <a:ext cx="514350" cy="490538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13314" name="Object 6"/>
          <p:cNvGraphicFramePr>
            <a:graphicFrameLocks noChangeAspect="1"/>
          </p:cNvGraphicFramePr>
          <p:nvPr/>
        </p:nvGraphicFramePr>
        <p:xfrm>
          <a:off x="4886325" y="1674813"/>
          <a:ext cx="2032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3040" imgH="177480" progId="Equation.3">
                  <p:embed/>
                </p:oleObj>
              </mc:Choice>
              <mc:Fallback>
                <p:oleObj name="Equation" r:id="rId2" imgW="203040" imgH="177480" progId="Equation.3">
                  <p:embed/>
                  <p:pic>
                    <p:nvPicPr>
                      <p:cNvPr id="13314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86325" y="1674813"/>
                        <a:ext cx="203200" cy="177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28" name="Freeform 7"/>
          <p:cNvSpPr>
            <a:spLocks/>
          </p:cNvSpPr>
          <p:nvPr/>
        </p:nvSpPr>
        <p:spPr bwMode="auto">
          <a:xfrm>
            <a:off x="3630613" y="1930400"/>
            <a:ext cx="1357312" cy="885825"/>
          </a:xfrm>
          <a:custGeom>
            <a:avLst/>
            <a:gdLst>
              <a:gd name="T0" fmla="*/ 1357312 w 855"/>
              <a:gd name="T1" fmla="*/ 0 h 558"/>
              <a:gd name="T2" fmla="*/ 1204912 w 855"/>
              <a:gd name="T3" fmla="*/ 14287 h 558"/>
              <a:gd name="T4" fmla="*/ 1042987 w 855"/>
              <a:gd name="T5" fmla="*/ 90487 h 558"/>
              <a:gd name="T6" fmla="*/ 890587 w 855"/>
              <a:gd name="T7" fmla="*/ 223837 h 558"/>
              <a:gd name="T8" fmla="*/ 657225 w 855"/>
              <a:gd name="T9" fmla="*/ 528637 h 558"/>
              <a:gd name="T10" fmla="*/ 452437 w 855"/>
              <a:gd name="T11" fmla="*/ 681037 h 558"/>
              <a:gd name="T12" fmla="*/ 0 w 855"/>
              <a:gd name="T13" fmla="*/ 885825 h 55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55"/>
              <a:gd name="T22" fmla="*/ 0 h 558"/>
              <a:gd name="T23" fmla="*/ 855 w 855"/>
              <a:gd name="T24" fmla="*/ 558 h 55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55" h="558">
                <a:moveTo>
                  <a:pt x="855" y="0"/>
                </a:moveTo>
                <a:cubicBezTo>
                  <a:pt x="823" y="0"/>
                  <a:pt x="792" y="0"/>
                  <a:pt x="759" y="9"/>
                </a:cubicBezTo>
                <a:cubicBezTo>
                  <a:pt x="726" y="18"/>
                  <a:pt x="690" y="35"/>
                  <a:pt x="657" y="57"/>
                </a:cubicBezTo>
                <a:cubicBezTo>
                  <a:pt x="624" y="79"/>
                  <a:pt x="601" y="95"/>
                  <a:pt x="561" y="141"/>
                </a:cubicBezTo>
                <a:cubicBezTo>
                  <a:pt x="521" y="187"/>
                  <a:pt x="460" y="285"/>
                  <a:pt x="414" y="333"/>
                </a:cubicBezTo>
                <a:cubicBezTo>
                  <a:pt x="368" y="381"/>
                  <a:pt x="354" y="392"/>
                  <a:pt x="285" y="429"/>
                </a:cubicBezTo>
                <a:cubicBezTo>
                  <a:pt x="216" y="466"/>
                  <a:pt x="47" y="537"/>
                  <a:pt x="0" y="558"/>
                </a:cubicBezTo>
              </a:path>
            </a:pathLst>
          </a:custGeom>
          <a:noFill/>
          <a:ln w="38100">
            <a:solidFill>
              <a:srgbClr val="FFCC66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3329" name="Freeform 8"/>
          <p:cNvSpPr>
            <a:spLocks/>
          </p:cNvSpPr>
          <p:nvPr/>
        </p:nvSpPr>
        <p:spPr bwMode="auto">
          <a:xfrm flipH="1">
            <a:off x="4983163" y="1935163"/>
            <a:ext cx="1357312" cy="885825"/>
          </a:xfrm>
          <a:custGeom>
            <a:avLst/>
            <a:gdLst>
              <a:gd name="T0" fmla="*/ 1357312 w 855"/>
              <a:gd name="T1" fmla="*/ 0 h 558"/>
              <a:gd name="T2" fmla="*/ 1204912 w 855"/>
              <a:gd name="T3" fmla="*/ 14287 h 558"/>
              <a:gd name="T4" fmla="*/ 1042987 w 855"/>
              <a:gd name="T5" fmla="*/ 90487 h 558"/>
              <a:gd name="T6" fmla="*/ 890587 w 855"/>
              <a:gd name="T7" fmla="*/ 223837 h 558"/>
              <a:gd name="T8" fmla="*/ 657225 w 855"/>
              <a:gd name="T9" fmla="*/ 528637 h 558"/>
              <a:gd name="T10" fmla="*/ 452437 w 855"/>
              <a:gd name="T11" fmla="*/ 681037 h 558"/>
              <a:gd name="T12" fmla="*/ 0 w 855"/>
              <a:gd name="T13" fmla="*/ 885825 h 55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55"/>
              <a:gd name="T22" fmla="*/ 0 h 558"/>
              <a:gd name="T23" fmla="*/ 855 w 855"/>
              <a:gd name="T24" fmla="*/ 558 h 55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55" h="558">
                <a:moveTo>
                  <a:pt x="855" y="0"/>
                </a:moveTo>
                <a:cubicBezTo>
                  <a:pt x="823" y="0"/>
                  <a:pt x="792" y="0"/>
                  <a:pt x="759" y="9"/>
                </a:cubicBezTo>
                <a:cubicBezTo>
                  <a:pt x="726" y="18"/>
                  <a:pt x="690" y="35"/>
                  <a:pt x="657" y="57"/>
                </a:cubicBezTo>
                <a:cubicBezTo>
                  <a:pt x="624" y="79"/>
                  <a:pt x="601" y="95"/>
                  <a:pt x="561" y="141"/>
                </a:cubicBezTo>
                <a:cubicBezTo>
                  <a:pt x="521" y="187"/>
                  <a:pt x="460" y="285"/>
                  <a:pt x="414" y="333"/>
                </a:cubicBezTo>
                <a:cubicBezTo>
                  <a:pt x="368" y="381"/>
                  <a:pt x="354" y="392"/>
                  <a:pt x="285" y="429"/>
                </a:cubicBezTo>
                <a:cubicBezTo>
                  <a:pt x="216" y="466"/>
                  <a:pt x="47" y="537"/>
                  <a:pt x="0" y="558"/>
                </a:cubicBezTo>
              </a:path>
            </a:pathLst>
          </a:custGeom>
          <a:noFill/>
          <a:ln w="38100">
            <a:solidFill>
              <a:srgbClr val="FFCC66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3330" name="Arc 9"/>
          <p:cNvSpPr>
            <a:spLocks/>
          </p:cNvSpPr>
          <p:nvPr/>
        </p:nvSpPr>
        <p:spPr bwMode="auto">
          <a:xfrm>
            <a:off x="4775200" y="1930400"/>
            <a:ext cx="425450" cy="508000"/>
          </a:xfrm>
          <a:custGeom>
            <a:avLst/>
            <a:gdLst>
              <a:gd name="T0" fmla="*/ 0 w 17927"/>
              <a:gd name="T1" fmla="*/ 1027689 h 21600"/>
              <a:gd name="T2" fmla="*/ 10096931 w 17927"/>
              <a:gd name="T3" fmla="*/ 1128371 h 21600"/>
              <a:gd name="T4" fmla="*/ 4936662 w 17927"/>
              <a:gd name="T5" fmla="*/ 11947406 h 21600"/>
              <a:gd name="T6" fmla="*/ 0 60000 65536"/>
              <a:gd name="T7" fmla="*/ 0 60000 65536"/>
              <a:gd name="T8" fmla="*/ 0 60000 65536"/>
              <a:gd name="T9" fmla="*/ 0 w 17927"/>
              <a:gd name="T10" fmla="*/ 0 h 21600"/>
              <a:gd name="T11" fmla="*/ 17927 w 17927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7927" h="21600" fill="none" extrusionOk="0">
                <a:moveTo>
                  <a:pt x="0" y="1858"/>
                </a:moveTo>
                <a:cubicBezTo>
                  <a:pt x="2759" y="633"/>
                  <a:pt x="5745" y="-1"/>
                  <a:pt x="8765" y="0"/>
                </a:cubicBezTo>
                <a:cubicBezTo>
                  <a:pt x="11931" y="0"/>
                  <a:pt x="15059" y="696"/>
                  <a:pt x="17927" y="2039"/>
                </a:cubicBezTo>
              </a:path>
              <a:path w="17927" h="21600" stroke="0" extrusionOk="0">
                <a:moveTo>
                  <a:pt x="0" y="1858"/>
                </a:moveTo>
                <a:cubicBezTo>
                  <a:pt x="2759" y="633"/>
                  <a:pt x="5745" y="-1"/>
                  <a:pt x="8765" y="0"/>
                </a:cubicBezTo>
                <a:cubicBezTo>
                  <a:pt x="11931" y="0"/>
                  <a:pt x="15059" y="696"/>
                  <a:pt x="17927" y="2039"/>
                </a:cubicBezTo>
                <a:lnTo>
                  <a:pt x="8765" y="21600"/>
                </a:lnTo>
                <a:close/>
              </a:path>
            </a:pathLst>
          </a:custGeom>
          <a:noFill/>
          <a:ln w="38100">
            <a:solidFill>
              <a:srgbClr val="9933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3331" name="Oval 11"/>
          <p:cNvSpPr>
            <a:spLocks noChangeArrowheads="1"/>
          </p:cNvSpPr>
          <p:nvPr/>
        </p:nvSpPr>
        <p:spPr bwMode="auto">
          <a:xfrm>
            <a:off x="6115050" y="1598613"/>
            <a:ext cx="2624138" cy="2633662"/>
          </a:xfrm>
          <a:prstGeom prst="ellipse">
            <a:avLst/>
          </a:prstGeom>
          <a:solidFill>
            <a:schemeClr val="bg1"/>
          </a:solidFill>
          <a:ln w="25400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13315" name="Object 12"/>
          <p:cNvGraphicFramePr>
            <a:graphicFrameLocks noChangeAspect="1"/>
          </p:cNvGraphicFramePr>
          <p:nvPr/>
        </p:nvGraphicFramePr>
        <p:xfrm>
          <a:off x="7323138" y="2025650"/>
          <a:ext cx="274637" cy="273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03040" imgH="177480" progId="Equation.3">
                  <p:embed/>
                </p:oleObj>
              </mc:Choice>
              <mc:Fallback>
                <p:oleObj name="Equation" r:id="rId4" imgW="203040" imgH="177480" progId="Equation.3">
                  <p:embed/>
                  <p:pic>
                    <p:nvPicPr>
                      <p:cNvPr id="13315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23138" y="2025650"/>
                        <a:ext cx="274637" cy="2730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32" name="Arc 13"/>
          <p:cNvSpPr>
            <a:spLocks/>
          </p:cNvSpPr>
          <p:nvPr/>
        </p:nvSpPr>
        <p:spPr bwMode="auto">
          <a:xfrm>
            <a:off x="6884988" y="2489200"/>
            <a:ext cx="1125537" cy="1530350"/>
          </a:xfrm>
          <a:custGeom>
            <a:avLst/>
            <a:gdLst>
              <a:gd name="T0" fmla="*/ 0 w 17927"/>
              <a:gd name="T1" fmla="*/ 9326492 h 21600"/>
              <a:gd name="T2" fmla="*/ 70666232 w 17927"/>
              <a:gd name="T3" fmla="*/ 10240097 h 21600"/>
              <a:gd name="T4" fmla="*/ 34550665 w 17927"/>
              <a:gd name="T5" fmla="*/ 108424585 h 21600"/>
              <a:gd name="T6" fmla="*/ 0 60000 65536"/>
              <a:gd name="T7" fmla="*/ 0 60000 65536"/>
              <a:gd name="T8" fmla="*/ 0 60000 65536"/>
              <a:gd name="T9" fmla="*/ 0 w 17927"/>
              <a:gd name="T10" fmla="*/ 0 h 21600"/>
              <a:gd name="T11" fmla="*/ 17927 w 17927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7927" h="21600" fill="none" extrusionOk="0">
                <a:moveTo>
                  <a:pt x="0" y="1858"/>
                </a:moveTo>
                <a:cubicBezTo>
                  <a:pt x="2759" y="633"/>
                  <a:pt x="5745" y="-1"/>
                  <a:pt x="8765" y="0"/>
                </a:cubicBezTo>
                <a:cubicBezTo>
                  <a:pt x="11931" y="0"/>
                  <a:pt x="15059" y="696"/>
                  <a:pt x="17927" y="2039"/>
                </a:cubicBezTo>
              </a:path>
              <a:path w="17927" h="21600" stroke="0" extrusionOk="0">
                <a:moveTo>
                  <a:pt x="0" y="1858"/>
                </a:moveTo>
                <a:cubicBezTo>
                  <a:pt x="2759" y="633"/>
                  <a:pt x="5745" y="-1"/>
                  <a:pt x="8765" y="0"/>
                </a:cubicBezTo>
                <a:cubicBezTo>
                  <a:pt x="11931" y="0"/>
                  <a:pt x="15059" y="696"/>
                  <a:pt x="17927" y="2039"/>
                </a:cubicBezTo>
                <a:lnTo>
                  <a:pt x="8765" y="21600"/>
                </a:lnTo>
                <a:close/>
              </a:path>
            </a:pathLst>
          </a:custGeom>
          <a:noFill/>
          <a:ln w="76200">
            <a:solidFill>
              <a:srgbClr val="9933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3333" name="Line 14"/>
          <p:cNvSpPr>
            <a:spLocks noChangeShapeType="1"/>
          </p:cNvSpPr>
          <p:nvPr/>
        </p:nvSpPr>
        <p:spPr bwMode="auto">
          <a:xfrm flipH="1">
            <a:off x="7434263" y="2617788"/>
            <a:ext cx="555625" cy="140652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3334" name="Line 15"/>
          <p:cNvSpPr>
            <a:spLocks noChangeShapeType="1"/>
          </p:cNvSpPr>
          <p:nvPr/>
        </p:nvSpPr>
        <p:spPr bwMode="auto">
          <a:xfrm>
            <a:off x="6867525" y="2560638"/>
            <a:ext cx="554038" cy="1406525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3335" name="Line 16"/>
          <p:cNvSpPr>
            <a:spLocks noChangeShapeType="1"/>
          </p:cNvSpPr>
          <p:nvPr/>
        </p:nvSpPr>
        <p:spPr bwMode="auto">
          <a:xfrm>
            <a:off x="7434263" y="2403475"/>
            <a:ext cx="0" cy="1563688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3336" name="Text Box 17"/>
          <p:cNvSpPr txBox="1">
            <a:spLocks noChangeArrowheads="1"/>
          </p:cNvSpPr>
          <p:nvPr/>
        </p:nvSpPr>
        <p:spPr bwMode="auto">
          <a:xfrm>
            <a:off x="7415213" y="3228975"/>
            <a:ext cx="290512" cy="3365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600">
                <a:sym typeface="Symbol" pitchFamily="18" charset="2"/>
              </a:rPr>
              <a:t></a:t>
            </a:r>
          </a:p>
        </p:txBody>
      </p:sp>
      <p:sp>
        <p:nvSpPr>
          <p:cNvPr id="13337" name="Line 18"/>
          <p:cNvSpPr>
            <a:spLocks noChangeShapeType="1"/>
          </p:cNvSpPr>
          <p:nvPr/>
        </p:nvSpPr>
        <p:spPr bwMode="auto">
          <a:xfrm flipH="1">
            <a:off x="6546850" y="2613025"/>
            <a:ext cx="319088" cy="174625"/>
          </a:xfrm>
          <a:prstGeom prst="line">
            <a:avLst/>
          </a:prstGeom>
          <a:noFill/>
          <a:ln w="9525">
            <a:solidFill>
              <a:srgbClr val="3366FF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3338" name="Line 19"/>
          <p:cNvSpPr>
            <a:spLocks noChangeShapeType="1"/>
          </p:cNvSpPr>
          <p:nvPr/>
        </p:nvSpPr>
        <p:spPr bwMode="auto">
          <a:xfrm>
            <a:off x="8020050" y="2635250"/>
            <a:ext cx="319088" cy="174625"/>
          </a:xfrm>
          <a:prstGeom prst="line">
            <a:avLst/>
          </a:prstGeom>
          <a:noFill/>
          <a:ln w="9525">
            <a:solidFill>
              <a:srgbClr val="3366FF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3339" name="Text Box 20"/>
          <p:cNvSpPr txBox="1">
            <a:spLocks noChangeArrowheads="1"/>
          </p:cNvSpPr>
          <p:nvPr/>
        </p:nvSpPr>
        <p:spPr bwMode="auto">
          <a:xfrm>
            <a:off x="8154988" y="2779713"/>
            <a:ext cx="3238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3366FF"/>
                </a:solidFill>
              </a:rPr>
              <a:t>T</a:t>
            </a:r>
          </a:p>
        </p:txBody>
      </p:sp>
      <p:sp>
        <p:nvSpPr>
          <p:cNvPr id="13340" name="Text Box 21"/>
          <p:cNvSpPr txBox="1">
            <a:spLocks noChangeArrowheads="1"/>
          </p:cNvSpPr>
          <p:nvPr/>
        </p:nvSpPr>
        <p:spPr bwMode="auto">
          <a:xfrm>
            <a:off x="6346825" y="2801938"/>
            <a:ext cx="3238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3366FF"/>
                </a:solidFill>
              </a:rPr>
              <a:t>T</a:t>
            </a:r>
          </a:p>
        </p:txBody>
      </p:sp>
      <p:sp>
        <p:nvSpPr>
          <p:cNvPr id="13341" name="Line 22"/>
          <p:cNvSpPr>
            <a:spLocks noChangeShapeType="1"/>
          </p:cNvSpPr>
          <p:nvPr/>
        </p:nvSpPr>
        <p:spPr bwMode="auto">
          <a:xfrm>
            <a:off x="6329363" y="2468563"/>
            <a:ext cx="22352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3342" name="Text Box 23"/>
          <p:cNvSpPr txBox="1">
            <a:spLocks noChangeArrowheads="1"/>
          </p:cNvSpPr>
          <p:nvPr/>
        </p:nvSpPr>
        <p:spPr bwMode="auto">
          <a:xfrm>
            <a:off x="8234363" y="2420938"/>
            <a:ext cx="290512" cy="3365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600">
                <a:sym typeface="Symbol" pitchFamily="18" charset="2"/>
              </a:rPr>
              <a:t></a:t>
            </a:r>
          </a:p>
        </p:txBody>
      </p:sp>
      <p:sp>
        <p:nvSpPr>
          <p:cNvPr id="13343" name="Text Box 24"/>
          <p:cNvSpPr txBox="1">
            <a:spLocks noChangeArrowheads="1"/>
          </p:cNvSpPr>
          <p:nvPr/>
        </p:nvSpPr>
        <p:spPr bwMode="auto">
          <a:xfrm>
            <a:off x="6384925" y="2427288"/>
            <a:ext cx="290513" cy="3365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600">
                <a:sym typeface="Symbol" pitchFamily="18" charset="2"/>
              </a:rPr>
              <a:t></a:t>
            </a:r>
          </a:p>
        </p:txBody>
      </p:sp>
      <p:sp>
        <p:nvSpPr>
          <p:cNvPr id="13344" name="Line 25"/>
          <p:cNvSpPr>
            <a:spLocks noChangeShapeType="1"/>
          </p:cNvSpPr>
          <p:nvPr/>
        </p:nvSpPr>
        <p:spPr bwMode="auto">
          <a:xfrm flipH="1">
            <a:off x="4949825" y="1597025"/>
            <a:ext cx="2670175" cy="873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3345" name="Rectangle 30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3316" name="Object 29"/>
          <p:cNvGraphicFramePr>
            <a:graphicFrameLocks noChangeAspect="1"/>
          </p:cNvGraphicFramePr>
          <p:nvPr/>
        </p:nvGraphicFramePr>
        <p:xfrm>
          <a:off x="1503363" y="2409825"/>
          <a:ext cx="1249362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40" imgH="215640" progId="Equation.3">
                  <p:embed/>
                </p:oleObj>
              </mc:Choice>
              <mc:Fallback>
                <p:oleObj name="Equation" r:id="rId6" imgW="672840" imgH="215640" progId="Equation.3">
                  <p:embed/>
                  <p:pic>
                    <p:nvPicPr>
                      <p:cNvPr id="13316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03363" y="2409825"/>
                        <a:ext cx="1249362" cy="406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46" name="Rectangle 32"/>
          <p:cNvSpPr>
            <a:spLocks noChangeArrowheads="1"/>
          </p:cNvSpPr>
          <p:nvPr/>
        </p:nvSpPr>
        <p:spPr bwMode="auto">
          <a:xfrm>
            <a:off x="0" y="331946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3317" name="Object 31"/>
          <p:cNvGraphicFramePr>
            <a:graphicFrameLocks noChangeAspect="1"/>
          </p:cNvGraphicFramePr>
          <p:nvPr/>
        </p:nvGraphicFramePr>
        <p:xfrm>
          <a:off x="1682750" y="3913188"/>
          <a:ext cx="1001713" cy="360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09336" imgH="215806" progId="Equation.3">
                  <p:embed/>
                </p:oleObj>
              </mc:Choice>
              <mc:Fallback>
                <p:oleObj name="Equation" r:id="rId8" imgW="609336" imgH="215806" progId="Equation.3">
                  <p:embed/>
                  <p:pic>
                    <p:nvPicPr>
                      <p:cNvPr id="13317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82750" y="3913188"/>
                        <a:ext cx="1001713" cy="3603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47" name="Rectangle 34"/>
          <p:cNvSpPr>
            <a:spLocks noChangeArrowheads="1"/>
          </p:cNvSpPr>
          <p:nvPr/>
        </p:nvSpPr>
        <p:spPr bwMode="auto">
          <a:xfrm>
            <a:off x="0" y="331470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3318" name="Object 33"/>
          <p:cNvGraphicFramePr>
            <a:graphicFrameLocks noChangeAspect="1"/>
          </p:cNvGraphicFramePr>
          <p:nvPr/>
        </p:nvGraphicFramePr>
        <p:xfrm>
          <a:off x="1514475" y="5114925"/>
          <a:ext cx="1298575" cy="4270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98400" imgH="228600" progId="Equation.3">
                  <p:embed/>
                </p:oleObj>
              </mc:Choice>
              <mc:Fallback>
                <p:oleObj name="Equation" r:id="rId10" imgW="698400" imgH="228600" progId="Equation.3">
                  <p:embed/>
                  <p:pic>
                    <p:nvPicPr>
                      <p:cNvPr id="13318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14475" y="5114925"/>
                        <a:ext cx="1298575" cy="4270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9" name="Object 35"/>
          <p:cNvGraphicFramePr>
            <a:graphicFrameLocks noChangeAspect="1"/>
          </p:cNvGraphicFramePr>
          <p:nvPr/>
        </p:nvGraphicFramePr>
        <p:xfrm>
          <a:off x="5424488" y="4835525"/>
          <a:ext cx="1676400" cy="450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901440" imgH="241200" progId="Equation.3">
                  <p:embed/>
                </p:oleObj>
              </mc:Choice>
              <mc:Fallback>
                <p:oleObj name="Equation" r:id="rId12" imgW="901440" imgH="241200" progId="Equation.3">
                  <p:embed/>
                  <p:pic>
                    <p:nvPicPr>
                      <p:cNvPr id="13319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24488" y="4835525"/>
                        <a:ext cx="1676400" cy="4508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36"/>
          <p:cNvGrpSpPr>
            <a:grpSpLocks/>
          </p:cNvGrpSpPr>
          <p:nvPr/>
        </p:nvGrpSpPr>
        <p:grpSpPr bwMode="auto">
          <a:xfrm>
            <a:off x="3630613" y="1597025"/>
            <a:ext cx="5108575" cy="2635250"/>
            <a:chOff x="2287" y="1006"/>
            <a:chExt cx="3218" cy="1660"/>
          </a:xfrm>
        </p:grpSpPr>
        <p:sp>
          <p:nvSpPr>
            <p:cNvPr id="13349" name="Oval 37"/>
            <p:cNvSpPr>
              <a:spLocks noChangeArrowheads="1"/>
            </p:cNvSpPr>
            <p:nvPr/>
          </p:nvSpPr>
          <p:spPr bwMode="auto">
            <a:xfrm>
              <a:off x="2974" y="1066"/>
              <a:ext cx="324" cy="309"/>
            </a:xfrm>
            <a:prstGeom prst="ellipse">
              <a:avLst/>
            </a:prstGeom>
            <a:solidFill>
              <a:schemeClr val="bg1"/>
            </a:solidFill>
            <a:ln w="254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aphicFrame>
          <p:nvGraphicFramePr>
            <p:cNvPr id="13320" name="Object 38"/>
            <p:cNvGraphicFramePr>
              <a:graphicFrameLocks noChangeAspect="1"/>
            </p:cNvGraphicFramePr>
            <p:nvPr/>
          </p:nvGraphicFramePr>
          <p:xfrm>
            <a:off x="3078" y="1055"/>
            <a:ext cx="128" cy="1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203040" imgH="177480" progId="Equation.3">
                    <p:embed/>
                  </p:oleObj>
                </mc:Choice>
                <mc:Fallback>
                  <p:oleObj name="Equation" r:id="rId14" imgW="203040" imgH="177480" progId="Equation.3">
                    <p:embed/>
                    <p:pic>
                      <p:nvPicPr>
                        <p:cNvPr id="13320" name="Object 3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78" y="1055"/>
                          <a:ext cx="128" cy="1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50" name="Freeform 39"/>
            <p:cNvSpPr>
              <a:spLocks/>
            </p:cNvSpPr>
            <p:nvPr/>
          </p:nvSpPr>
          <p:spPr bwMode="auto">
            <a:xfrm>
              <a:off x="2287" y="1216"/>
              <a:ext cx="855" cy="558"/>
            </a:xfrm>
            <a:custGeom>
              <a:avLst/>
              <a:gdLst>
                <a:gd name="T0" fmla="*/ 855 w 855"/>
                <a:gd name="T1" fmla="*/ 0 h 558"/>
                <a:gd name="T2" fmla="*/ 759 w 855"/>
                <a:gd name="T3" fmla="*/ 9 h 558"/>
                <a:gd name="T4" fmla="*/ 657 w 855"/>
                <a:gd name="T5" fmla="*/ 57 h 558"/>
                <a:gd name="T6" fmla="*/ 561 w 855"/>
                <a:gd name="T7" fmla="*/ 141 h 558"/>
                <a:gd name="T8" fmla="*/ 414 w 855"/>
                <a:gd name="T9" fmla="*/ 333 h 558"/>
                <a:gd name="T10" fmla="*/ 285 w 855"/>
                <a:gd name="T11" fmla="*/ 429 h 558"/>
                <a:gd name="T12" fmla="*/ 0 w 855"/>
                <a:gd name="T13" fmla="*/ 558 h 55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55"/>
                <a:gd name="T22" fmla="*/ 0 h 558"/>
                <a:gd name="T23" fmla="*/ 855 w 855"/>
                <a:gd name="T24" fmla="*/ 558 h 55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55" h="558">
                  <a:moveTo>
                    <a:pt x="855" y="0"/>
                  </a:moveTo>
                  <a:cubicBezTo>
                    <a:pt x="823" y="0"/>
                    <a:pt x="792" y="0"/>
                    <a:pt x="759" y="9"/>
                  </a:cubicBezTo>
                  <a:cubicBezTo>
                    <a:pt x="726" y="18"/>
                    <a:pt x="690" y="35"/>
                    <a:pt x="657" y="57"/>
                  </a:cubicBezTo>
                  <a:cubicBezTo>
                    <a:pt x="624" y="79"/>
                    <a:pt x="601" y="95"/>
                    <a:pt x="561" y="141"/>
                  </a:cubicBezTo>
                  <a:cubicBezTo>
                    <a:pt x="521" y="187"/>
                    <a:pt x="460" y="285"/>
                    <a:pt x="414" y="333"/>
                  </a:cubicBezTo>
                  <a:cubicBezTo>
                    <a:pt x="368" y="381"/>
                    <a:pt x="354" y="392"/>
                    <a:pt x="285" y="429"/>
                  </a:cubicBezTo>
                  <a:cubicBezTo>
                    <a:pt x="216" y="466"/>
                    <a:pt x="47" y="537"/>
                    <a:pt x="0" y="558"/>
                  </a:cubicBezTo>
                </a:path>
              </a:pathLst>
            </a:custGeom>
            <a:noFill/>
            <a:ln w="38100">
              <a:solidFill>
                <a:srgbClr val="FFCC6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351" name="Freeform 40"/>
            <p:cNvSpPr>
              <a:spLocks/>
            </p:cNvSpPr>
            <p:nvPr/>
          </p:nvSpPr>
          <p:spPr bwMode="auto">
            <a:xfrm flipH="1">
              <a:off x="3139" y="1219"/>
              <a:ext cx="855" cy="558"/>
            </a:xfrm>
            <a:custGeom>
              <a:avLst/>
              <a:gdLst>
                <a:gd name="T0" fmla="*/ 855 w 855"/>
                <a:gd name="T1" fmla="*/ 0 h 558"/>
                <a:gd name="T2" fmla="*/ 759 w 855"/>
                <a:gd name="T3" fmla="*/ 9 h 558"/>
                <a:gd name="T4" fmla="*/ 657 w 855"/>
                <a:gd name="T5" fmla="*/ 57 h 558"/>
                <a:gd name="T6" fmla="*/ 561 w 855"/>
                <a:gd name="T7" fmla="*/ 141 h 558"/>
                <a:gd name="T8" fmla="*/ 414 w 855"/>
                <a:gd name="T9" fmla="*/ 333 h 558"/>
                <a:gd name="T10" fmla="*/ 285 w 855"/>
                <a:gd name="T11" fmla="*/ 429 h 558"/>
                <a:gd name="T12" fmla="*/ 0 w 855"/>
                <a:gd name="T13" fmla="*/ 558 h 55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55"/>
                <a:gd name="T22" fmla="*/ 0 h 558"/>
                <a:gd name="T23" fmla="*/ 855 w 855"/>
                <a:gd name="T24" fmla="*/ 558 h 55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55" h="558">
                  <a:moveTo>
                    <a:pt x="855" y="0"/>
                  </a:moveTo>
                  <a:cubicBezTo>
                    <a:pt x="823" y="0"/>
                    <a:pt x="792" y="0"/>
                    <a:pt x="759" y="9"/>
                  </a:cubicBezTo>
                  <a:cubicBezTo>
                    <a:pt x="726" y="18"/>
                    <a:pt x="690" y="35"/>
                    <a:pt x="657" y="57"/>
                  </a:cubicBezTo>
                  <a:cubicBezTo>
                    <a:pt x="624" y="79"/>
                    <a:pt x="601" y="95"/>
                    <a:pt x="561" y="141"/>
                  </a:cubicBezTo>
                  <a:cubicBezTo>
                    <a:pt x="521" y="187"/>
                    <a:pt x="460" y="285"/>
                    <a:pt x="414" y="333"/>
                  </a:cubicBezTo>
                  <a:cubicBezTo>
                    <a:pt x="368" y="381"/>
                    <a:pt x="354" y="392"/>
                    <a:pt x="285" y="429"/>
                  </a:cubicBezTo>
                  <a:cubicBezTo>
                    <a:pt x="216" y="466"/>
                    <a:pt x="47" y="537"/>
                    <a:pt x="0" y="558"/>
                  </a:cubicBezTo>
                </a:path>
              </a:pathLst>
            </a:custGeom>
            <a:noFill/>
            <a:ln w="38100">
              <a:solidFill>
                <a:srgbClr val="FFCC6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352" name="Arc 41"/>
            <p:cNvSpPr>
              <a:spLocks/>
            </p:cNvSpPr>
            <p:nvPr/>
          </p:nvSpPr>
          <p:spPr bwMode="auto">
            <a:xfrm>
              <a:off x="3008" y="1216"/>
              <a:ext cx="268" cy="320"/>
            </a:xfrm>
            <a:custGeom>
              <a:avLst/>
              <a:gdLst>
                <a:gd name="T0" fmla="*/ 0 w 17927"/>
                <a:gd name="T1" fmla="*/ 0 h 21600"/>
                <a:gd name="T2" fmla="*/ 4 w 17927"/>
                <a:gd name="T3" fmla="*/ 0 h 21600"/>
                <a:gd name="T4" fmla="*/ 2 w 17927"/>
                <a:gd name="T5" fmla="*/ 5 h 21600"/>
                <a:gd name="T6" fmla="*/ 0 60000 65536"/>
                <a:gd name="T7" fmla="*/ 0 60000 65536"/>
                <a:gd name="T8" fmla="*/ 0 60000 65536"/>
                <a:gd name="T9" fmla="*/ 0 w 17927"/>
                <a:gd name="T10" fmla="*/ 0 h 21600"/>
                <a:gd name="T11" fmla="*/ 17927 w 1792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7927" h="21600" fill="none" extrusionOk="0">
                  <a:moveTo>
                    <a:pt x="0" y="1858"/>
                  </a:moveTo>
                  <a:cubicBezTo>
                    <a:pt x="2759" y="633"/>
                    <a:pt x="5745" y="-1"/>
                    <a:pt x="8765" y="0"/>
                  </a:cubicBezTo>
                  <a:cubicBezTo>
                    <a:pt x="11931" y="0"/>
                    <a:pt x="15059" y="696"/>
                    <a:pt x="17927" y="2039"/>
                  </a:cubicBezTo>
                </a:path>
                <a:path w="17927" h="21600" stroke="0" extrusionOk="0">
                  <a:moveTo>
                    <a:pt x="0" y="1858"/>
                  </a:moveTo>
                  <a:cubicBezTo>
                    <a:pt x="2759" y="633"/>
                    <a:pt x="5745" y="-1"/>
                    <a:pt x="8765" y="0"/>
                  </a:cubicBezTo>
                  <a:cubicBezTo>
                    <a:pt x="11931" y="0"/>
                    <a:pt x="15059" y="696"/>
                    <a:pt x="17927" y="2039"/>
                  </a:cubicBezTo>
                  <a:lnTo>
                    <a:pt x="8765" y="21600"/>
                  </a:lnTo>
                  <a:close/>
                </a:path>
              </a:pathLst>
            </a:custGeom>
            <a:noFill/>
            <a:ln w="38100">
              <a:solidFill>
                <a:srgbClr val="9933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42"/>
            <p:cNvGrpSpPr>
              <a:grpSpLocks/>
            </p:cNvGrpSpPr>
            <p:nvPr/>
          </p:nvGrpSpPr>
          <p:grpSpPr bwMode="auto">
            <a:xfrm>
              <a:off x="3852" y="1007"/>
              <a:ext cx="1653" cy="1659"/>
              <a:chOff x="3047" y="961"/>
              <a:chExt cx="1653" cy="1659"/>
            </a:xfrm>
          </p:grpSpPr>
          <p:sp>
            <p:nvSpPr>
              <p:cNvPr id="13356" name="Oval 43"/>
              <p:cNvSpPr>
                <a:spLocks noChangeArrowheads="1"/>
              </p:cNvSpPr>
              <p:nvPr/>
            </p:nvSpPr>
            <p:spPr bwMode="auto">
              <a:xfrm>
                <a:off x="3047" y="961"/>
                <a:ext cx="1653" cy="1659"/>
              </a:xfrm>
              <a:prstGeom prst="ellipse">
                <a:avLst/>
              </a:prstGeom>
              <a:solidFill>
                <a:schemeClr val="bg1"/>
              </a:solidFill>
              <a:ln w="25400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aphicFrame>
            <p:nvGraphicFramePr>
              <p:cNvPr id="13321" name="Object 44"/>
              <p:cNvGraphicFramePr>
                <a:graphicFrameLocks noChangeAspect="1"/>
              </p:cNvGraphicFramePr>
              <p:nvPr/>
            </p:nvGraphicFramePr>
            <p:xfrm>
              <a:off x="3808" y="1230"/>
              <a:ext cx="173" cy="17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5" imgW="203040" imgH="177480" progId="Equation.3">
                      <p:embed/>
                    </p:oleObj>
                  </mc:Choice>
                  <mc:Fallback>
                    <p:oleObj name="Equation" r:id="rId15" imgW="203040" imgH="177480" progId="Equation.3">
                      <p:embed/>
                      <p:pic>
                        <p:nvPicPr>
                          <p:cNvPr id="13321" name="Object 4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08" y="1230"/>
                            <a:ext cx="173" cy="17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3357" name="Arc 45"/>
              <p:cNvSpPr>
                <a:spLocks/>
              </p:cNvSpPr>
              <p:nvPr/>
            </p:nvSpPr>
            <p:spPr bwMode="auto">
              <a:xfrm>
                <a:off x="3532" y="1522"/>
                <a:ext cx="709" cy="964"/>
              </a:xfrm>
              <a:custGeom>
                <a:avLst/>
                <a:gdLst>
                  <a:gd name="T0" fmla="*/ 0 w 17927"/>
                  <a:gd name="T1" fmla="*/ 4 h 21600"/>
                  <a:gd name="T2" fmla="*/ 28 w 17927"/>
                  <a:gd name="T3" fmla="*/ 4 h 21600"/>
                  <a:gd name="T4" fmla="*/ 14 w 17927"/>
                  <a:gd name="T5" fmla="*/ 43 h 21600"/>
                  <a:gd name="T6" fmla="*/ 0 60000 65536"/>
                  <a:gd name="T7" fmla="*/ 0 60000 65536"/>
                  <a:gd name="T8" fmla="*/ 0 60000 65536"/>
                  <a:gd name="T9" fmla="*/ 0 w 17927"/>
                  <a:gd name="T10" fmla="*/ 0 h 21600"/>
                  <a:gd name="T11" fmla="*/ 17927 w 17927"/>
                  <a:gd name="T12" fmla="*/ 21600 h 21600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7927" h="21600" fill="none" extrusionOk="0">
                    <a:moveTo>
                      <a:pt x="0" y="1858"/>
                    </a:moveTo>
                    <a:cubicBezTo>
                      <a:pt x="2759" y="633"/>
                      <a:pt x="5745" y="-1"/>
                      <a:pt x="8765" y="0"/>
                    </a:cubicBezTo>
                    <a:cubicBezTo>
                      <a:pt x="11931" y="0"/>
                      <a:pt x="15059" y="696"/>
                      <a:pt x="17927" y="2039"/>
                    </a:cubicBezTo>
                  </a:path>
                  <a:path w="17927" h="21600" stroke="0" extrusionOk="0">
                    <a:moveTo>
                      <a:pt x="0" y="1858"/>
                    </a:moveTo>
                    <a:cubicBezTo>
                      <a:pt x="2759" y="633"/>
                      <a:pt x="5745" y="-1"/>
                      <a:pt x="8765" y="0"/>
                    </a:cubicBezTo>
                    <a:cubicBezTo>
                      <a:pt x="11931" y="0"/>
                      <a:pt x="15059" y="696"/>
                      <a:pt x="17927" y="2039"/>
                    </a:cubicBezTo>
                    <a:lnTo>
                      <a:pt x="8765" y="21600"/>
                    </a:lnTo>
                    <a:close/>
                  </a:path>
                </a:pathLst>
              </a:custGeom>
              <a:noFill/>
              <a:ln w="76200">
                <a:solidFill>
                  <a:srgbClr val="9933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358" name="Line 46"/>
              <p:cNvSpPr>
                <a:spLocks noChangeShapeType="1"/>
              </p:cNvSpPr>
              <p:nvPr/>
            </p:nvSpPr>
            <p:spPr bwMode="auto">
              <a:xfrm flipH="1">
                <a:off x="3878" y="1603"/>
                <a:ext cx="350" cy="8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359" name="Line 47"/>
              <p:cNvSpPr>
                <a:spLocks noChangeShapeType="1"/>
              </p:cNvSpPr>
              <p:nvPr/>
            </p:nvSpPr>
            <p:spPr bwMode="auto">
              <a:xfrm>
                <a:off x="3521" y="1567"/>
                <a:ext cx="349" cy="8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360" name="Line 48"/>
              <p:cNvSpPr>
                <a:spLocks noChangeShapeType="1"/>
              </p:cNvSpPr>
              <p:nvPr/>
            </p:nvSpPr>
            <p:spPr bwMode="auto">
              <a:xfrm>
                <a:off x="3878" y="1468"/>
                <a:ext cx="0" cy="98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361" name="Text Box 49"/>
              <p:cNvSpPr txBox="1">
                <a:spLocks noChangeArrowheads="1"/>
              </p:cNvSpPr>
              <p:nvPr/>
            </p:nvSpPr>
            <p:spPr bwMode="auto">
              <a:xfrm>
                <a:off x="3866" y="1988"/>
                <a:ext cx="183" cy="212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>
                    <a:sym typeface="Symbol" pitchFamily="18" charset="2"/>
                  </a:rPr>
                  <a:t></a:t>
                </a:r>
              </a:p>
            </p:txBody>
          </p:sp>
          <p:sp>
            <p:nvSpPr>
              <p:cNvPr id="13362" name="Line 50"/>
              <p:cNvSpPr>
                <a:spLocks noChangeShapeType="1"/>
              </p:cNvSpPr>
              <p:nvPr/>
            </p:nvSpPr>
            <p:spPr bwMode="auto">
              <a:xfrm flipH="1">
                <a:off x="3319" y="1600"/>
                <a:ext cx="201" cy="110"/>
              </a:xfrm>
              <a:prstGeom prst="line">
                <a:avLst/>
              </a:prstGeom>
              <a:noFill/>
              <a:ln w="952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363" name="Line 51"/>
              <p:cNvSpPr>
                <a:spLocks noChangeShapeType="1"/>
              </p:cNvSpPr>
              <p:nvPr/>
            </p:nvSpPr>
            <p:spPr bwMode="auto">
              <a:xfrm>
                <a:off x="4247" y="1614"/>
                <a:ext cx="201" cy="110"/>
              </a:xfrm>
              <a:prstGeom prst="line">
                <a:avLst/>
              </a:prstGeom>
              <a:noFill/>
              <a:ln w="952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364" name="Text Box 52"/>
              <p:cNvSpPr txBox="1">
                <a:spLocks noChangeArrowheads="1"/>
              </p:cNvSpPr>
              <p:nvPr/>
            </p:nvSpPr>
            <p:spPr bwMode="auto">
              <a:xfrm>
                <a:off x="4442" y="1614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13365" name="Text Box 53"/>
              <p:cNvSpPr txBox="1">
                <a:spLocks noChangeArrowheads="1"/>
              </p:cNvSpPr>
              <p:nvPr/>
            </p:nvSpPr>
            <p:spPr bwMode="auto">
              <a:xfrm>
                <a:off x="3093" y="1627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13366" name="Line 54"/>
              <p:cNvSpPr>
                <a:spLocks noChangeShapeType="1"/>
              </p:cNvSpPr>
              <p:nvPr/>
            </p:nvSpPr>
            <p:spPr bwMode="auto">
              <a:xfrm>
                <a:off x="3173" y="1509"/>
                <a:ext cx="140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367" name="Text Box 55"/>
              <p:cNvSpPr txBox="1">
                <a:spLocks noChangeArrowheads="1"/>
              </p:cNvSpPr>
              <p:nvPr/>
            </p:nvSpPr>
            <p:spPr bwMode="auto">
              <a:xfrm>
                <a:off x="4310" y="1489"/>
                <a:ext cx="183" cy="212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>
                    <a:sym typeface="Symbol" pitchFamily="18" charset="2"/>
                  </a:rPr>
                  <a:t></a:t>
                </a:r>
              </a:p>
            </p:txBody>
          </p:sp>
          <p:sp>
            <p:nvSpPr>
              <p:cNvPr id="13368" name="Text Box 56"/>
              <p:cNvSpPr txBox="1">
                <a:spLocks noChangeArrowheads="1"/>
              </p:cNvSpPr>
              <p:nvPr/>
            </p:nvSpPr>
            <p:spPr bwMode="auto">
              <a:xfrm>
                <a:off x="3227" y="1484"/>
                <a:ext cx="183" cy="212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>
                    <a:sym typeface="Symbol" pitchFamily="18" charset="2"/>
                  </a:rPr>
                  <a:t></a:t>
                </a:r>
              </a:p>
            </p:txBody>
          </p:sp>
        </p:grpSp>
        <p:sp>
          <p:nvSpPr>
            <p:cNvPr id="13354" name="Line 57"/>
            <p:cNvSpPr>
              <a:spLocks noChangeShapeType="1"/>
            </p:cNvSpPr>
            <p:nvPr/>
          </p:nvSpPr>
          <p:spPr bwMode="auto">
            <a:xfrm flipH="1">
              <a:off x="3118" y="1006"/>
              <a:ext cx="1682" cy="5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355" name="Line 58"/>
            <p:cNvSpPr>
              <a:spLocks noChangeShapeType="1"/>
            </p:cNvSpPr>
            <p:nvPr/>
          </p:nvSpPr>
          <p:spPr bwMode="auto">
            <a:xfrm flipH="1" flipV="1">
              <a:off x="2981" y="1280"/>
              <a:ext cx="1115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591034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3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4344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434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310E9A9-CDC9-4C8C-AA01-E7907DAB06D4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143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a Segment of String</a:t>
            </a:r>
          </a:p>
        </p:txBody>
      </p:sp>
      <p:sp>
        <p:nvSpPr>
          <p:cNvPr id="143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425825" cy="45259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000"/>
              <a:t>Small Angle Aprox.</a:t>
            </a:r>
          </a:p>
          <a:p>
            <a:pPr eaLnBrk="1" hangingPunct="1">
              <a:lnSpc>
                <a:spcPct val="80000"/>
              </a:lnSpc>
            </a:pPr>
            <a:endParaRPr lang="en-US" sz="2000"/>
          </a:p>
          <a:p>
            <a:pPr eaLnBrk="1" hangingPunct="1">
              <a:lnSpc>
                <a:spcPct val="80000"/>
              </a:lnSpc>
            </a:pPr>
            <a:endParaRPr lang="en-US" sz="2000"/>
          </a:p>
          <a:p>
            <a:pPr eaLnBrk="1" hangingPunct="1">
              <a:lnSpc>
                <a:spcPct val="80000"/>
              </a:lnSpc>
            </a:pPr>
            <a:r>
              <a:rPr lang="en-US" sz="2000"/>
              <a:t>Define </a:t>
            </a:r>
          </a:p>
          <a:p>
            <a:pPr eaLnBrk="1" hangingPunct="1">
              <a:lnSpc>
                <a:spcPct val="80000"/>
              </a:lnSpc>
            </a:pPr>
            <a:endParaRPr lang="en-US" sz="2000"/>
          </a:p>
          <a:p>
            <a:pPr eaLnBrk="1" hangingPunct="1">
              <a:lnSpc>
                <a:spcPct val="80000"/>
              </a:lnSpc>
            </a:pPr>
            <a:endParaRPr lang="en-US" sz="2000"/>
          </a:p>
          <a:p>
            <a:pPr eaLnBrk="1" hangingPunct="1">
              <a:lnSpc>
                <a:spcPct val="80000"/>
              </a:lnSpc>
            </a:pPr>
            <a:r>
              <a:rPr lang="en-US" sz="2000"/>
              <a:t>so</a:t>
            </a:r>
          </a:p>
          <a:p>
            <a:pPr eaLnBrk="1" hangingPunct="1">
              <a:lnSpc>
                <a:spcPct val="80000"/>
              </a:lnSpc>
            </a:pPr>
            <a:endParaRPr lang="en-US" sz="2000"/>
          </a:p>
          <a:p>
            <a:pPr eaLnBrk="1" hangingPunct="1">
              <a:lnSpc>
                <a:spcPct val="80000"/>
              </a:lnSpc>
            </a:pPr>
            <a:endParaRPr lang="en-US" sz="2000"/>
          </a:p>
          <a:p>
            <a:pPr eaLnBrk="1" hangingPunct="1">
              <a:lnSpc>
                <a:spcPct val="80000"/>
              </a:lnSpc>
            </a:pPr>
            <a:endParaRPr lang="en-US" sz="2000"/>
          </a:p>
        </p:txBody>
      </p:sp>
      <p:sp>
        <p:nvSpPr>
          <p:cNvPr id="14348" name="Rectangle 25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4349" name="Rectangle 27"/>
          <p:cNvSpPr>
            <a:spLocks noChangeArrowheads="1"/>
          </p:cNvSpPr>
          <p:nvPr/>
        </p:nvSpPr>
        <p:spPr bwMode="auto">
          <a:xfrm>
            <a:off x="0" y="331946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4350" name="Rectangle 29"/>
          <p:cNvSpPr>
            <a:spLocks noChangeArrowheads="1"/>
          </p:cNvSpPr>
          <p:nvPr/>
        </p:nvSpPr>
        <p:spPr bwMode="auto">
          <a:xfrm>
            <a:off x="0" y="331470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4338" name="Object 30"/>
          <p:cNvGraphicFramePr>
            <a:graphicFrameLocks noChangeAspect="1"/>
          </p:cNvGraphicFramePr>
          <p:nvPr/>
        </p:nvGraphicFramePr>
        <p:xfrm>
          <a:off x="941388" y="3875088"/>
          <a:ext cx="1982787" cy="379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66680" imgH="203040" progId="Equation.3">
                  <p:embed/>
                </p:oleObj>
              </mc:Choice>
              <mc:Fallback>
                <p:oleObj name="Equation" r:id="rId2" imgW="1066680" imgH="203040" progId="Equation.3">
                  <p:embed/>
                  <p:pic>
                    <p:nvPicPr>
                      <p:cNvPr id="14338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1388" y="3875088"/>
                        <a:ext cx="1982787" cy="3794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39" name="Object 31"/>
          <p:cNvGraphicFramePr>
            <a:graphicFrameLocks noChangeAspect="1"/>
          </p:cNvGraphicFramePr>
          <p:nvPr/>
        </p:nvGraphicFramePr>
        <p:xfrm>
          <a:off x="1290638" y="2005013"/>
          <a:ext cx="1700212" cy="450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241200" progId="Equation.3">
                  <p:embed/>
                </p:oleObj>
              </mc:Choice>
              <mc:Fallback>
                <p:oleObj name="Equation" r:id="rId4" imgW="914400" imgH="241200" progId="Equation.3">
                  <p:embed/>
                  <p:pic>
                    <p:nvPicPr>
                      <p:cNvPr id="14339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90638" y="2005013"/>
                        <a:ext cx="1700212" cy="4508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32"/>
          <p:cNvGrpSpPr>
            <a:grpSpLocks/>
          </p:cNvGrpSpPr>
          <p:nvPr/>
        </p:nvGrpSpPr>
        <p:grpSpPr bwMode="auto">
          <a:xfrm>
            <a:off x="3630613" y="1597025"/>
            <a:ext cx="5108575" cy="2635250"/>
            <a:chOff x="2287" y="1006"/>
            <a:chExt cx="3218" cy="1660"/>
          </a:xfrm>
        </p:grpSpPr>
        <p:sp>
          <p:nvSpPr>
            <p:cNvPr id="14352" name="Oval 33"/>
            <p:cNvSpPr>
              <a:spLocks noChangeArrowheads="1"/>
            </p:cNvSpPr>
            <p:nvPr/>
          </p:nvSpPr>
          <p:spPr bwMode="auto">
            <a:xfrm>
              <a:off x="2974" y="1066"/>
              <a:ext cx="324" cy="309"/>
            </a:xfrm>
            <a:prstGeom prst="ellipse">
              <a:avLst/>
            </a:prstGeom>
            <a:solidFill>
              <a:schemeClr val="bg1"/>
            </a:solidFill>
            <a:ln w="254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aphicFrame>
          <p:nvGraphicFramePr>
            <p:cNvPr id="14341" name="Object 34"/>
            <p:cNvGraphicFramePr>
              <a:graphicFrameLocks noChangeAspect="1"/>
            </p:cNvGraphicFramePr>
            <p:nvPr/>
          </p:nvGraphicFramePr>
          <p:xfrm>
            <a:off x="3078" y="1055"/>
            <a:ext cx="128" cy="1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203040" imgH="177480" progId="Equation.3">
                    <p:embed/>
                  </p:oleObj>
                </mc:Choice>
                <mc:Fallback>
                  <p:oleObj name="Equation" r:id="rId6" imgW="203040" imgH="177480" progId="Equation.3">
                    <p:embed/>
                    <p:pic>
                      <p:nvPicPr>
                        <p:cNvPr id="14341" name="Object 3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78" y="1055"/>
                          <a:ext cx="128" cy="1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4353" name="Freeform 35"/>
            <p:cNvSpPr>
              <a:spLocks/>
            </p:cNvSpPr>
            <p:nvPr/>
          </p:nvSpPr>
          <p:spPr bwMode="auto">
            <a:xfrm>
              <a:off x="2287" y="1216"/>
              <a:ext cx="855" cy="558"/>
            </a:xfrm>
            <a:custGeom>
              <a:avLst/>
              <a:gdLst>
                <a:gd name="T0" fmla="*/ 855 w 855"/>
                <a:gd name="T1" fmla="*/ 0 h 558"/>
                <a:gd name="T2" fmla="*/ 759 w 855"/>
                <a:gd name="T3" fmla="*/ 9 h 558"/>
                <a:gd name="T4" fmla="*/ 657 w 855"/>
                <a:gd name="T5" fmla="*/ 57 h 558"/>
                <a:gd name="T6" fmla="*/ 561 w 855"/>
                <a:gd name="T7" fmla="*/ 141 h 558"/>
                <a:gd name="T8" fmla="*/ 414 w 855"/>
                <a:gd name="T9" fmla="*/ 333 h 558"/>
                <a:gd name="T10" fmla="*/ 285 w 855"/>
                <a:gd name="T11" fmla="*/ 429 h 558"/>
                <a:gd name="T12" fmla="*/ 0 w 855"/>
                <a:gd name="T13" fmla="*/ 558 h 55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55"/>
                <a:gd name="T22" fmla="*/ 0 h 558"/>
                <a:gd name="T23" fmla="*/ 855 w 855"/>
                <a:gd name="T24" fmla="*/ 558 h 55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55" h="558">
                  <a:moveTo>
                    <a:pt x="855" y="0"/>
                  </a:moveTo>
                  <a:cubicBezTo>
                    <a:pt x="823" y="0"/>
                    <a:pt x="792" y="0"/>
                    <a:pt x="759" y="9"/>
                  </a:cubicBezTo>
                  <a:cubicBezTo>
                    <a:pt x="726" y="18"/>
                    <a:pt x="690" y="35"/>
                    <a:pt x="657" y="57"/>
                  </a:cubicBezTo>
                  <a:cubicBezTo>
                    <a:pt x="624" y="79"/>
                    <a:pt x="601" y="95"/>
                    <a:pt x="561" y="141"/>
                  </a:cubicBezTo>
                  <a:cubicBezTo>
                    <a:pt x="521" y="187"/>
                    <a:pt x="460" y="285"/>
                    <a:pt x="414" y="333"/>
                  </a:cubicBezTo>
                  <a:cubicBezTo>
                    <a:pt x="368" y="381"/>
                    <a:pt x="354" y="392"/>
                    <a:pt x="285" y="429"/>
                  </a:cubicBezTo>
                  <a:cubicBezTo>
                    <a:pt x="216" y="466"/>
                    <a:pt x="47" y="537"/>
                    <a:pt x="0" y="558"/>
                  </a:cubicBezTo>
                </a:path>
              </a:pathLst>
            </a:custGeom>
            <a:noFill/>
            <a:ln w="38100">
              <a:solidFill>
                <a:srgbClr val="FFCC6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354" name="Freeform 36"/>
            <p:cNvSpPr>
              <a:spLocks/>
            </p:cNvSpPr>
            <p:nvPr/>
          </p:nvSpPr>
          <p:spPr bwMode="auto">
            <a:xfrm flipH="1">
              <a:off x="3139" y="1219"/>
              <a:ext cx="855" cy="558"/>
            </a:xfrm>
            <a:custGeom>
              <a:avLst/>
              <a:gdLst>
                <a:gd name="T0" fmla="*/ 855 w 855"/>
                <a:gd name="T1" fmla="*/ 0 h 558"/>
                <a:gd name="T2" fmla="*/ 759 w 855"/>
                <a:gd name="T3" fmla="*/ 9 h 558"/>
                <a:gd name="T4" fmla="*/ 657 w 855"/>
                <a:gd name="T5" fmla="*/ 57 h 558"/>
                <a:gd name="T6" fmla="*/ 561 w 855"/>
                <a:gd name="T7" fmla="*/ 141 h 558"/>
                <a:gd name="T8" fmla="*/ 414 w 855"/>
                <a:gd name="T9" fmla="*/ 333 h 558"/>
                <a:gd name="T10" fmla="*/ 285 w 855"/>
                <a:gd name="T11" fmla="*/ 429 h 558"/>
                <a:gd name="T12" fmla="*/ 0 w 855"/>
                <a:gd name="T13" fmla="*/ 558 h 55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55"/>
                <a:gd name="T22" fmla="*/ 0 h 558"/>
                <a:gd name="T23" fmla="*/ 855 w 855"/>
                <a:gd name="T24" fmla="*/ 558 h 55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55" h="558">
                  <a:moveTo>
                    <a:pt x="855" y="0"/>
                  </a:moveTo>
                  <a:cubicBezTo>
                    <a:pt x="823" y="0"/>
                    <a:pt x="792" y="0"/>
                    <a:pt x="759" y="9"/>
                  </a:cubicBezTo>
                  <a:cubicBezTo>
                    <a:pt x="726" y="18"/>
                    <a:pt x="690" y="35"/>
                    <a:pt x="657" y="57"/>
                  </a:cubicBezTo>
                  <a:cubicBezTo>
                    <a:pt x="624" y="79"/>
                    <a:pt x="601" y="95"/>
                    <a:pt x="561" y="141"/>
                  </a:cubicBezTo>
                  <a:cubicBezTo>
                    <a:pt x="521" y="187"/>
                    <a:pt x="460" y="285"/>
                    <a:pt x="414" y="333"/>
                  </a:cubicBezTo>
                  <a:cubicBezTo>
                    <a:pt x="368" y="381"/>
                    <a:pt x="354" y="392"/>
                    <a:pt x="285" y="429"/>
                  </a:cubicBezTo>
                  <a:cubicBezTo>
                    <a:pt x="216" y="466"/>
                    <a:pt x="47" y="537"/>
                    <a:pt x="0" y="558"/>
                  </a:cubicBezTo>
                </a:path>
              </a:pathLst>
            </a:custGeom>
            <a:noFill/>
            <a:ln w="38100">
              <a:solidFill>
                <a:srgbClr val="FFCC6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355" name="Arc 37"/>
            <p:cNvSpPr>
              <a:spLocks/>
            </p:cNvSpPr>
            <p:nvPr/>
          </p:nvSpPr>
          <p:spPr bwMode="auto">
            <a:xfrm>
              <a:off x="3008" y="1216"/>
              <a:ext cx="268" cy="320"/>
            </a:xfrm>
            <a:custGeom>
              <a:avLst/>
              <a:gdLst>
                <a:gd name="T0" fmla="*/ 0 w 17927"/>
                <a:gd name="T1" fmla="*/ 0 h 21600"/>
                <a:gd name="T2" fmla="*/ 4 w 17927"/>
                <a:gd name="T3" fmla="*/ 0 h 21600"/>
                <a:gd name="T4" fmla="*/ 2 w 17927"/>
                <a:gd name="T5" fmla="*/ 5 h 21600"/>
                <a:gd name="T6" fmla="*/ 0 60000 65536"/>
                <a:gd name="T7" fmla="*/ 0 60000 65536"/>
                <a:gd name="T8" fmla="*/ 0 60000 65536"/>
                <a:gd name="T9" fmla="*/ 0 w 17927"/>
                <a:gd name="T10" fmla="*/ 0 h 21600"/>
                <a:gd name="T11" fmla="*/ 17927 w 1792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7927" h="21600" fill="none" extrusionOk="0">
                  <a:moveTo>
                    <a:pt x="0" y="1858"/>
                  </a:moveTo>
                  <a:cubicBezTo>
                    <a:pt x="2759" y="633"/>
                    <a:pt x="5745" y="-1"/>
                    <a:pt x="8765" y="0"/>
                  </a:cubicBezTo>
                  <a:cubicBezTo>
                    <a:pt x="11931" y="0"/>
                    <a:pt x="15059" y="696"/>
                    <a:pt x="17927" y="2039"/>
                  </a:cubicBezTo>
                </a:path>
                <a:path w="17927" h="21600" stroke="0" extrusionOk="0">
                  <a:moveTo>
                    <a:pt x="0" y="1858"/>
                  </a:moveTo>
                  <a:cubicBezTo>
                    <a:pt x="2759" y="633"/>
                    <a:pt x="5745" y="-1"/>
                    <a:pt x="8765" y="0"/>
                  </a:cubicBezTo>
                  <a:cubicBezTo>
                    <a:pt x="11931" y="0"/>
                    <a:pt x="15059" y="696"/>
                    <a:pt x="17927" y="2039"/>
                  </a:cubicBezTo>
                  <a:lnTo>
                    <a:pt x="8765" y="21600"/>
                  </a:lnTo>
                  <a:close/>
                </a:path>
              </a:pathLst>
            </a:custGeom>
            <a:noFill/>
            <a:ln w="38100">
              <a:solidFill>
                <a:srgbClr val="9933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38"/>
            <p:cNvGrpSpPr>
              <a:grpSpLocks/>
            </p:cNvGrpSpPr>
            <p:nvPr/>
          </p:nvGrpSpPr>
          <p:grpSpPr bwMode="auto">
            <a:xfrm>
              <a:off x="3852" y="1007"/>
              <a:ext cx="1653" cy="1659"/>
              <a:chOff x="3047" y="961"/>
              <a:chExt cx="1653" cy="1659"/>
            </a:xfrm>
          </p:grpSpPr>
          <p:sp>
            <p:nvSpPr>
              <p:cNvPr id="14359" name="Oval 39"/>
              <p:cNvSpPr>
                <a:spLocks noChangeArrowheads="1"/>
              </p:cNvSpPr>
              <p:nvPr/>
            </p:nvSpPr>
            <p:spPr bwMode="auto">
              <a:xfrm>
                <a:off x="3047" y="961"/>
                <a:ext cx="1653" cy="1659"/>
              </a:xfrm>
              <a:prstGeom prst="ellipse">
                <a:avLst/>
              </a:prstGeom>
              <a:solidFill>
                <a:schemeClr val="bg1"/>
              </a:solidFill>
              <a:ln w="25400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aphicFrame>
            <p:nvGraphicFramePr>
              <p:cNvPr id="14342" name="Object 40"/>
              <p:cNvGraphicFramePr>
                <a:graphicFrameLocks noChangeAspect="1"/>
              </p:cNvGraphicFramePr>
              <p:nvPr/>
            </p:nvGraphicFramePr>
            <p:xfrm>
              <a:off x="3808" y="1230"/>
              <a:ext cx="173" cy="17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8" imgW="203040" imgH="177480" progId="Equation.3">
                      <p:embed/>
                    </p:oleObj>
                  </mc:Choice>
                  <mc:Fallback>
                    <p:oleObj name="Equation" r:id="rId8" imgW="203040" imgH="177480" progId="Equation.3">
                      <p:embed/>
                      <p:pic>
                        <p:nvPicPr>
                          <p:cNvPr id="14342" name="Object 4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08" y="1230"/>
                            <a:ext cx="173" cy="17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4360" name="Arc 41"/>
              <p:cNvSpPr>
                <a:spLocks/>
              </p:cNvSpPr>
              <p:nvPr/>
            </p:nvSpPr>
            <p:spPr bwMode="auto">
              <a:xfrm>
                <a:off x="3532" y="1522"/>
                <a:ext cx="709" cy="964"/>
              </a:xfrm>
              <a:custGeom>
                <a:avLst/>
                <a:gdLst>
                  <a:gd name="T0" fmla="*/ 0 w 17927"/>
                  <a:gd name="T1" fmla="*/ 4 h 21600"/>
                  <a:gd name="T2" fmla="*/ 28 w 17927"/>
                  <a:gd name="T3" fmla="*/ 4 h 21600"/>
                  <a:gd name="T4" fmla="*/ 14 w 17927"/>
                  <a:gd name="T5" fmla="*/ 43 h 21600"/>
                  <a:gd name="T6" fmla="*/ 0 60000 65536"/>
                  <a:gd name="T7" fmla="*/ 0 60000 65536"/>
                  <a:gd name="T8" fmla="*/ 0 60000 65536"/>
                  <a:gd name="T9" fmla="*/ 0 w 17927"/>
                  <a:gd name="T10" fmla="*/ 0 h 21600"/>
                  <a:gd name="T11" fmla="*/ 17927 w 17927"/>
                  <a:gd name="T12" fmla="*/ 21600 h 21600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7927" h="21600" fill="none" extrusionOk="0">
                    <a:moveTo>
                      <a:pt x="0" y="1858"/>
                    </a:moveTo>
                    <a:cubicBezTo>
                      <a:pt x="2759" y="633"/>
                      <a:pt x="5745" y="-1"/>
                      <a:pt x="8765" y="0"/>
                    </a:cubicBezTo>
                    <a:cubicBezTo>
                      <a:pt x="11931" y="0"/>
                      <a:pt x="15059" y="696"/>
                      <a:pt x="17927" y="2039"/>
                    </a:cubicBezTo>
                  </a:path>
                  <a:path w="17927" h="21600" stroke="0" extrusionOk="0">
                    <a:moveTo>
                      <a:pt x="0" y="1858"/>
                    </a:moveTo>
                    <a:cubicBezTo>
                      <a:pt x="2759" y="633"/>
                      <a:pt x="5745" y="-1"/>
                      <a:pt x="8765" y="0"/>
                    </a:cubicBezTo>
                    <a:cubicBezTo>
                      <a:pt x="11931" y="0"/>
                      <a:pt x="15059" y="696"/>
                      <a:pt x="17927" y="2039"/>
                    </a:cubicBezTo>
                    <a:lnTo>
                      <a:pt x="8765" y="21600"/>
                    </a:lnTo>
                    <a:close/>
                  </a:path>
                </a:pathLst>
              </a:custGeom>
              <a:noFill/>
              <a:ln w="76200">
                <a:solidFill>
                  <a:srgbClr val="9933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4361" name="Line 42"/>
              <p:cNvSpPr>
                <a:spLocks noChangeShapeType="1"/>
              </p:cNvSpPr>
              <p:nvPr/>
            </p:nvSpPr>
            <p:spPr bwMode="auto">
              <a:xfrm flipH="1">
                <a:off x="3878" y="1603"/>
                <a:ext cx="350" cy="8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4362" name="Line 43"/>
              <p:cNvSpPr>
                <a:spLocks noChangeShapeType="1"/>
              </p:cNvSpPr>
              <p:nvPr/>
            </p:nvSpPr>
            <p:spPr bwMode="auto">
              <a:xfrm>
                <a:off x="3521" y="1567"/>
                <a:ext cx="349" cy="8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4363" name="Line 44"/>
              <p:cNvSpPr>
                <a:spLocks noChangeShapeType="1"/>
              </p:cNvSpPr>
              <p:nvPr/>
            </p:nvSpPr>
            <p:spPr bwMode="auto">
              <a:xfrm>
                <a:off x="3878" y="1468"/>
                <a:ext cx="0" cy="98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4364" name="Text Box 45"/>
              <p:cNvSpPr txBox="1">
                <a:spLocks noChangeArrowheads="1"/>
              </p:cNvSpPr>
              <p:nvPr/>
            </p:nvSpPr>
            <p:spPr bwMode="auto">
              <a:xfrm>
                <a:off x="3866" y="1988"/>
                <a:ext cx="183" cy="212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>
                    <a:sym typeface="Symbol" pitchFamily="18" charset="2"/>
                  </a:rPr>
                  <a:t></a:t>
                </a:r>
              </a:p>
            </p:txBody>
          </p:sp>
          <p:sp>
            <p:nvSpPr>
              <p:cNvPr id="14365" name="Line 46"/>
              <p:cNvSpPr>
                <a:spLocks noChangeShapeType="1"/>
              </p:cNvSpPr>
              <p:nvPr/>
            </p:nvSpPr>
            <p:spPr bwMode="auto">
              <a:xfrm flipH="1">
                <a:off x="3319" y="1600"/>
                <a:ext cx="201" cy="110"/>
              </a:xfrm>
              <a:prstGeom prst="line">
                <a:avLst/>
              </a:prstGeom>
              <a:noFill/>
              <a:ln w="952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4366" name="Line 47"/>
              <p:cNvSpPr>
                <a:spLocks noChangeShapeType="1"/>
              </p:cNvSpPr>
              <p:nvPr/>
            </p:nvSpPr>
            <p:spPr bwMode="auto">
              <a:xfrm>
                <a:off x="4247" y="1614"/>
                <a:ext cx="201" cy="110"/>
              </a:xfrm>
              <a:prstGeom prst="line">
                <a:avLst/>
              </a:prstGeom>
              <a:noFill/>
              <a:ln w="952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4367" name="Text Box 48"/>
              <p:cNvSpPr txBox="1">
                <a:spLocks noChangeArrowheads="1"/>
              </p:cNvSpPr>
              <p:nvPr/>
            </p:nvSpPr>
            <p:spPr bwMode="auto">
              <a:xfrm>
                <a:off x="4442" y="1614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14368" name="Text Box 49"/>
              <p:cNvSpPr txBox="1">
                <a:spLocks noChangeArrowheads="1"/>
              </p:cNvSpPr>
              <p:nvPr/>
            </p:nvSpPr>
            <p:spPr bwMode="auto">
              <a:xfrm>
                <a:off x="3093" y="1627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14369" name="Line 50"/>
              <p:cNvSpPr>
                <a:spLocks noChangeShapeType="1"/>
              </p:cNvSpPr>
              <p:nvPr/>
            </p:nvSpPr>
            <p:spPr bwMode="auto">
              <a:xfrm>
                <a:off x="3173" y="1509"/>
                <a:ext cx="140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4370" name="Text Box 51"/>
              <p:cNvSpPr txBox="1">
                <a:spLocks noChangeArrowheads="1"/>
              </p:cNvSpPr>
              <p:nvPr/>
            </p:nvSpPr>
            <p:spPr bwMode="auto">
              <a:xfrm>
                <a:off x="4310" y="1489"/>
                <a:ext cx="183" cy="212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>
                    <a:sym typeface="Symbol" pitchFamily="18" charset="2"/>
                  </a:rPr>
                  <a:t></a:t>
                </a:r>
              </a:p>
            </p:txBody>
          </p:sp>
          <p:sp>
            <p:nvSpPr>
              <p:cNvPr id="14371" name="Text Box 52"/>
              <p:cNvSpPr txBox="1">
                <a:spLocks noChangeArrowheads="1"/>
              </p:cNvSpPr>
              <p:nvPr/>
            </p:nvSpPr>
            <p:spPr bwMode="auto">
              <a:xfrm>
                <a:off x="3227" y="1484"/>
                <a:ext cx="183" cy="212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>
                    <a:sym typeface="Symbol" pitchFamily="18" charset="2"/>
                  </a:rPr>
                  <a:t></a:t>
                </a:r>
              </a:p>
            </p:txBody>
          </p:sp>
        </p:grpSp>
        <p:sp>
          <p:nvSpPr>
            <p:cNvPr id="14357" name="Line 53"/>
            <p:cNvSpPr>
              <a:spLocks noChangeShapeType="1"/>
            </p:cNvSpPr>
            <p:nvPr/>
          </p:nvSpPr>
          <p:spPr bwMode="auto">
            <a:xfrm flipH="1">
              <a:off x="3118" y="1006"/>
              <a:ext cx="1682" cy="5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358" name="Line 54"/>
            <p:cNvSpPr>
              <a:spLocks noChangeShapeType="1"/>
            </p:cNvSpPr>
            <p:nvPr/>
          </p:nvSpPr>
          <p:spPr bwMode="auto">
            <a:xfrm flipH="1" flipV="1">
              <a:off x="2981" y="1280"/>
              <a:ext cx="1115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aphicFrame>
        <p:nvGraphicFramePr>
          <p:cNvPr id="14340" name="Object 55"/>
          <p:cNvGraphicFramePr>
            <a:graphicFrameLocks noChangeAspect="1"/>
          </p:cNvGraphicFramePr>
          <p:nvPr/>
        </p:nvGraphicFramePr>
        <p:xfrm>
          <a:off x="1725613" y="2755900"/>
          <a:ext cx="896937" cy="736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82400" imgH="393480" progId="Equation.3">
                  <p:embed/>
                </p:oleObj>
              </mc:Choice>
              <mc:Fallback>
                <p:oleObj name="Equation" r:id="rId10" imgW="482400" imgH="393480" progId="Equation.3">
                  <p:embed/>
                  <p:pic>
                    <p:nvPicPr>
                      <p:cNvPr id="14340" name="Object 5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25613" y="2755900"/>
                        <a:ext cx="896937" cy="7366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392072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8" name="Date Placeholder 3"/>
          <p:cNvSpPr>
            <a:spLocks noGrp="1"/>
          </p:cNvSpPr>
          <p:nvPr>
            <p:ph type="dt" sz="quarter" idx="10"/>
          </p:nvPr>
        </p:nvSpPr>
        <p:spPr>
          <a:noFill/>
        </p:spPr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15369" name="Footer Placeholder 4"/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1537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BEC6F0E-A2C5-4AC2-BD25-525A6BEF0D8E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153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Forces on a Segment of String</a:t>
            </a:r>
          </a:p>
        </p:txBody>
      </p:sp>
      <p:sp>
        <p:nvSpPr>
          <p:cNvPr id="1537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425825" cy="4525963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sz="2000"/>
              <a:t>Use Newton’ Second in Radial Direction</a:t>
            </a:r>
          </a:p>
          <a:p>
            <a:pPr eaLnBrk="1" hangingPunct="1">
              <a:lnSpc>
                <a:spcPct val="80000"/>
              </a:lnSpc>
            </a:pPr>
            <a:endParaRPr lang="en-US" sz="2000"/>
          </a:p>
          <a:p>
            <a:pPr eaLnBrk="1" hangingPunct="1">
              <a:lnSpc>
                <a:spcPct val="80000"/>
              </a:lnSpc>
            </a:pPr>
            <a:endParaRPr lang="en-US" sz="2000"/>
          </a:p>
          <a:p>
            <a:pPr eaLnBrk="1" hangingPunct="1">
              <a:lnSpc>
                <a:spcPct val="80000"/>
              </a:lnSpc>
            </a:pPr>
            <a:endParaRPr lang="en-US" sz="2000"/>
          </a:p>
          <a:p>
            <a:pPr eaLnBrk="1" hangingPunct="1">
              <a:lnSpc>
                <a:spcPct val="80000"/>
              </a:lnSpc>
            </a:pPr>
            <a:endParaRPr lang="en-US" sz="2000"/>
          </a:p>
        </p:txBody>
      </p:sp>
      <p:sp>
        <p:nvSpPr>
          <p:cNvPr id="15373" name="Rectangle 4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5374" name="Rectangle 5"/>
          <p:cNvSpPr>
            <a:spLocks noChangeArrowheads="1"/>
          </p:cNvSpPr>
          <p:nvPr/>
        </p:nvSpPr>
        <p:spPr bwMode="auto">
          <a:xfrm>
            <a:off x="0" y="3319463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5375" name="Rectangle 6"/>
          <p:cNvSpPr>
            <a:spLocks noChangeArrowheads="1"/>
          </p:cNvSpPr>
          <p:nvPr/>
        </p:nvSpPr>
        <p:spPr bwMode="auto">
          <a:xfrm>
            <a:off x="0" y="3314700"/>
            <a:ext cx="9144000" cy="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5362" name="Object 8"/>
          <p:cNvGraphicFramePr>
            <a:graphicFrameLocks noChangeAspect="1"/>
          </p:cNvGraphicFramePr>
          <p:nvPr/>
        </p:nvGraphicFramePr>
        <p:xfrm>
          <a:off x="1214438" y="2174875"/>
          <a:ext cx="1793875" cy="782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65160" imgH="419040" progId="Equation.3">
                  <p:embed/>
                </p:oleObj>
              </mc:Choice>
              <mc:Fallback>
                <p:oleObj name="Equation" r:id="rId2" imgW="965160" imgH="419040" progId="Equation.3">
                  <p:embed/>
                  <p:pic>
                    <p:nvPicPr>
                      <p:cNvPr id="15362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14438" y="2174875"/>
                        <a:ext cx="1793875" cy="7826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3630613" y="1597025"/>
            <a:ext cx="5108575" cy="2635250"/>
            <a:chOff x="2287" y="1006"/>
            <a:chExt cx="3218" cy="1660"/>
          </a:xfrm>
        </p:grpSpPr>
        <p:sp>
          <p:nvSpPr>
            <p:cNvPr id="15382" name="Oval 10"/>
            <p:cNvSpPr>
              <a:spLocks noChangeArrowheads="1"/>
            </p:cNvSpPr>
            <p:nvPr/>
          </p:nvSpPr>
          <p:spPr bwMode="auto">
            <a:xfrm>
              <a:off x="2974" y="1066"/>
              <a:ext cx="324" cy="309"/>
            </a:xfrm>
            <a:prstGeom prst="ellipse">
              <a:avLst/>
            </a:prstGeom>
            <a:solidFill>
              <a:schemeClr val="bg1"/>
            </a:solidFill>
            <a:ln w="25400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aphicFrame>
          <p:nvGraphicFramePr>
            <p:cNvPr id="15366" name="Object 11"/>
            <p:cNvGraphicFramePr>
              <a:graphicFrameLocks noChangeAspect="1"/>
            </p:cNvGraphicFramePr>
            <p:nvPr/>
          </p:nvGraphicFramePr>
          <p:xfrm>
            <a:off x="3078" y="1055"/>
            <a:ext cx="128" cy="1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203040" imgH="177480" progId="Equation.3">
                    <p:embed/>
                  </p:oleObj>
                </mc:Choice>
                <mc:Fallback>
                  <p:oleObj name="Equation" r:id="rId4" imgW="203040" imgH="177480" progId="Equation.3">
                    <p:embed/>
                    <p:pic>
                      <p:nvPicPr>
                        <p:cNvPr id="15366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78" y="1055"/>
                          <a:ext cx="128" cy="1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5383" name="Freeform 12"/>
            <p:cNvSpPr>
              <a:spLocks/>
            </p:cNvSpPr>
            <p:nvPr/>
          </p:nvSpPr>
          <p:spPr bwMode="auto">
            <a:xfrm>
              <a:off x="2287" y="1216"/>
              <a:ext cx="855" cy="558"/>
            </a:xfrm>
            <a:custGeom>
              <a:avLst/>
              <a:gdLst>
                <a:gd name="T0" fmla="*/ 855 w 855"/>
                <a:gd name="T1" fmla="*/ 0 h 558"/>
                <a:gd name="T2" fmla="*/ 759 w 855"/>
                <a:gd name="T3" fmla="*/ 9 h 558"/>
                <a:gd name="T4" fmla="*/ 657 w 855"/>
                <a:gd name="T5" fmla="*/ 57 h 558"/>
                <a:gd name="T6" fmla="*/ 561 w 855"/>
                <a:gd name="T7" fmla="*/ 141 h 558"/>
                <a:gd name="T8" fmla="*/ 414 w 855"/>
                <a:gd name="T9" fmla="*/ 333 h 558"/>
                <a:gd name="T10" fmla="*/ 285 w 855"/>
                <a:gd name="T11" fmla="*/ 429 h 558"/>
                <a:gd name="T12" fmla="*/ 0 w 855"/>
                <a:gd name="T13" fmla="*/ 558 h 55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55"/>
                <a:gd name="T22" fmla="*/ 0 h 558"/>
                <a:gd name="T23" fmla="*/ 855 w 855"/>
                <a:gd name="T24" fmla="*/ 558 h 55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55" h="558">
                  <a:moveTo>
                    <a:pt x="855" y="0"/>
                  </a:moveTo>
                  <a:cubicBezTo>
                    <a:pt x="823" y="0"/>
                    <a:pt x="792" y="0"/>
                    <a:pt x="759" y="9"/>
                  </a:cubicBezTo>
                  <a:cubicBezTo>
                    <a:pt x="726" y="18"/>
                    <a:pt x="690" y="35"/>
                    <a:pt x="657" y="57"/>
                  </a:cubicBezTo>
                  <a:cubicBezTo>
                    <a:pt x="624" y="79"/>
                    <a:pt x="601" y="95"/>
                    <a:pt x="561" y="141"/>
                  </a:cubicBezTo>
                  <a:cubicBezTo>
                    <a:pt x="521" y="187"/>
                    <a:pt x="460" y="285"/>
                    <a:pt x="414" y="333"/>
                  </a:cubicBezTo>
                  <a:cubicBezTo>
                    <a:pt x="368" y="381"/>
                    <a:pt x="354" y="392"/>
                    <a:pt x="285" y="429"/>
                  </a:cubicBezTo>
                  <a:cubicBezTo>
                    <a:pt x="216" y="466"/>
                    <a:pt x="47" y="537"/>
                    <a:pt x="0" y="558"/>
                  </a:cubicBezTo>
                </a:path>
              </a:pathLst>
            </a:custGeom>
            <a:noFill/>
            <a:ln w="38100">
              <a:solidFill>
                <a:srgbClr val="FFCC6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384" name="Freeform 13"/>
            <p:cNvSpPr>
              <a:spLocks/>
            </p:cNvSpPr>
            <p:nvPr/>
          </p:nvSpPr>
          <p:spPr bwMode="auto">
            <a:xfrm flipH="1">
              <a:off x="3139" y="1219"/>
              <a:ext cx="855" cy="558"/>
            </a:xfrm>
            <a:custGeom>
              <a:avLst/>
              <a:gdLst>
                <a:gd name="T0" fmla="*/ 855 w 855"/>
                <a:gd name="T1" fmla="*/ 0 h 558"/>
                <a:gd name="T2" fmla="*/ 759 w 855"/>
                <a:gd name="T3" fmla="*/ 9 h 558"/>
                <a:gd name="T4" fmla="*/ 657 w 855"/>
                <a:gd name="T5" fmla="*/ 57 h 558"/>
                <a:gd name="T6" fmla="*/ 561 w 855"/>
                <a:gd name="T7" fmla="*/ 141 h 558"/>
                <a:gd name="T8" fmla="*/ 414 w 855"/>
                <a:gd name="T9" fmla="*/ 333 h 558"/>
                <a:gd name="T10" fmla="*/ 285 w 855"/>
                <a:gd name="T11" fmla="*/ 429 h 558"/>
                <a:gd name="T12" fmla="*/ 0 w 855"/>
                <a:gd name="T13" fmla="*/ 558 h 55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55"/>
                <a:gd name="T22" fmla="*/ 0 h 558"/>
                <a:gd name="T23" fmla="*/ 855 w 855"/>
                <a:gd name="T24" fmla="*/ 558 h 55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55" h="558">
                  <a:moveTo>
                    <a:pt x="855" y="0"/>
                  </a:moveTo>
                  <a:cubicBezTo>
                    <a:pt x="823" y="0"/>
                    <a:pt x="792" y="0"/>
                    <a:pt x="759" y="9"/>
                  </a:cubicBezTo>
                  <a:cubicBezTo>
                    <a:pt x="726" y="18"/>
                    <a:pt x="690" y="35"/>
                    <a:pt x="657" y="57"/>
                  </a:cubicBezTo>
                  <a:cubicBezTo>
                    <a:pt x="624" y="79"/>
                    <a:pt x="601" y="95"/>
                    <a:pt x="561" y="141"/>
                  </a:cubicBezTo>
                  <a:cubicBezTo>
                    <a:pt x="521" y="187"/>
                    <a:pt x="460" y="285"/>
                    <a:pt x="414" y="333"/>
                  </a:cubicBezTo>
                  <a:cubicBezTo>
                    <a:pt x="368" y="381"/>
                    <a:pt x="354" y="392"/>
                    <a:pt x="285" y="429"/>
                  </a:cubicBezTo>
                  <a:cubicBezTo>
                    <a:pt x="216" y="466"/>
                    <a:pt x="47" y="537"/>
                    <a:pt x="0" y="558"/>
                  </a:cubicBezTo>
                </a:path>
              </a:pathLst>
            </a:custGeom>
            <a:noFill/>
            <a:ln w="38100">
              <a:solidFill>
                <a:srgbClr val="FFCC66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385" name="Arc 14"/>
            <p:cNvSpPr>
              <a:spLocks/>
            </p:cNvSpPr>
            <p:nvPr/>
          </p:nvSpPr>
          <p:spPr bwMode="auto">
            <a:xfrm>
              <a:off x="3008" y="1216"/>
              <a:ext cx="268" cy="320"/>
            </a:xfrm>
            <a:custGeom>
              <a:avLst/>
              <a:gdLst>
                <a:gd name="T0" fmla="*/ 0 w 17927"/>
                <a:gd name="T1" fmla="*/ 0 h 21600"/>
                <a:gd name="T2" fmla="*/ 4 w 17927"/>
                <a:gd name="T3" fmla="*/ 0 h 21600"/>
                <a:gd name="T4" fmla="*/ 2 w 17927"/>
                <a:gd name="T5" fmla="*/ 5 h 21600"/>
                <a:gd name="T6" fmla="*/ 0 60000 65536"/>
                <a:gd name="T7" fmla="*/ 0 60000 65536"/>
                <a:gd name="T8" fmla="*/ 0 60000 65536"/>
                <a:gd name="T9" fmla="*/ 0 w 17927"/>
                <a:gd name="T10" fmla="*/ 0 h 21600"/>
                <a:gd name="T11" fmla="*/ 17927 w 1792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7927" h="21600" fill="none" extrusionOk="0">
                  <a:moveTo>
                    <a:pt x="0" y="1858"/>
                  </a:moveTo>
                  <a:cubicBezTo>
                    <a:pt x="2759" y="633"/>
                    <a:pt x="5745" y="-1"/>
                    <a:pt x="8765" y="0"/>
                  </a:cubicBezTo>
                  <a:cubicBezTo>
                    <a:pt x="11931" y="0"/>
                    <a:pt x="15059" y="696"/>
                    <a:pt x="17927" y="2039"/>
                  </a:cubicBezTo>
                </a:path>
                <a:path w="17927" h="21600" stroke="0" extrusionOk="0">
                  <a:moveTo>
                    <a:pt x="0" y="1858"/>
                  </a:moveTo>
                  <a:cubicBezTo>
                    <a:pt x="2759" y="633"/>
                    <a:pt x="5745" y="-1"/>
                    <a:pt x="8765" y="0"/>
                  </a:cubicBezTo>
                  <a:cubicBezTo>
                    <a:pt x="11931" y="0"/>
                    <a:pt x="15059" y="696"/>
                    <a:pt x="17927" y="2039"/>
                  </a:cubicBezTo>
                  <a:lnTo>
                    <a:pt x="8765" y="21600"/>
                  </a:lnTo>
                  <a:close/>
                </a:path>
              </a:pathLst>
            </a:custGeom>
            <a:noFill/>
            <a:ln w="38100">
              <a:solidFill>
                <a:srgbClr val="9933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3" name="Group 15"/>
            <p:cNvGrpSpPr>
              <a:grpSpLocks/>
            </p:cNvGrpSpPr>
            <p:nvPr/>
          </p:nvGrpSpPr>
          <p:grpSpPr bwMode="auto">
            <a:xfrm>
              <a:off x="3852" y="1007"/>
              <a:ext cx="1653" cy="1659"/>
              <a:chOff x="3047" y="961"/>
              <a:chExt cx="1653" cy="1659"/>
            </a:xfrm>
          </p:grpSpPr>
          <p:sp>
            <p:nvSpPr>
              <p:cNvPr id="15389" name="Oval 16"/>
              <p:cNvSpPr>
                <a:spLocks noChangeArrowheads="1"/>
              </p:cNvSpPr>
              <p:nvPr/>
            </p:nvSpPr>
            <p:spPr bwMode="auto">
              <a:xfrm>
                <a:off x="3047" y="961"/>
                <a:ext cx="1653" cy="1659"/>
              </a:xfrm>
              <a:prstGeom prst="ellipse">
                <a:avLst/>
              </a:prstGeom>
              <a:solidFill>
                <a:schemeClr val="bg1"/>
              </a:solidFill>
              <a:ln w="25400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aphicFrame>
            <p:nvGraphicFramePr>
              <p:cNvPr id="15367" name="Object 17"/>
              <p:cNvGraphicFramePr>
                <a:graphicFrameLocks noChangeAspect="1"/>
              </p:cNvGraphicFramePr>
              <p:nvPr/>
            </p:nvGraphicFramePr>
            <p:xfrm>
              <a:off x="3808" y="1230"/>
              <a:ext cx="173" cy="17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6" imgW="203040" imgH="177480" progId="Equation.3">
                      <p:embed/>
                    </p:oleObj>
                  </mc:Choice>
                  <mc:Fallback>
                    <p:oleObj name="Equation" r:id="rId6" imgW="203040" imgH="177480" progId="Equation.3">
                      <p:embed/>
                      <p:pic>
                        <p:nvPicPr>
                          <p:cNvPr id="15367" name="Object 1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08" y="1230"/>
                            <a:ext cx="173" cy="17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5390" name="Arc 18"/>
              <p:cNvSpPr>
                <a:spLocks/>
              </p:cNvSpPr>
              <p:nvPr/>
            </p:nvSpPr>
            <p:spPr bwMode="auto">
              <a:xfrm>
                <a:off x="3532" y="1522"/>
                <a:ext cx="709" cy="964"/>
              </a:xfrm>
              <a:custGeom>
                <a:avLst/>
                <a:gdLst>
                  <a:gd name="T0" fmla="*/ 0 w 17927"/>
                  <a:gd name="T1" fmla="*/ 4 h 21600"/>
                  <a:gd name="T2" fmla="*/ 28 w 17927"/>
                  <a:gd name="T3" fmla="*/ 4 h 21600"/>
                  <a:gd name="T4" fmla="*/ 14 w 17927"/>
                  <a:gd name="T5" fmla="*/ 43 h 21600"/>
                  <a:gd name="T6" fmla="*/ 0 60000 65536"/>
                  <a:gd name="T7" fmla="*/ 0 60000 65536"/>
                  <a:gd name="T8" fmla="*/ 0 60000 65536"/>
                  <a:gd name="T9" fmla="*/ 0 w 17927"/>
                  <a:gd name="T10" fmla="*/ 0 h 21600"/>
                  <a:gd name="T11" fmla="*/ 17927 w 17927"/>
                  <a:gd name="T12" fmla="*/ 21600 h 21600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7927" h="21600" fill="none" extrusionOk="0">
                    <a:moveTo>
                      <a:pt x="0" y="1858"/>
                    </a:moveTo>
                    <a:cubicBezTo>
                      <a:pt x="2759" y="633"/>
                      <a:pt x="5745" y="-1"/>
                      <a:pt x="8765" y="0"/>
                    </a:cubicBezTo>
                    <a:cubicBezTo>
                      <a:pt x="11931" y="0"/>
                      <a:pt x="15059" y="696"/>
                      <a:pt x="17927" y="2039"/>
                    </a:cubicBezTo>
                  </a:path>
                  <a:path w="17927" h="21600" stroke="0" extrusionOk="0">
                    <a:moveTo>
                      <a:pt x="0" y="1858"/>
                    </a:moveTo>
                    <a:cubicBezTo>
                      <a:pt x="2759" y="633"/>
                      <a:pt x="5745" y="-1"/>
                      <a:pt x="8765" y="0"/>
                    </a:cubicBezTo>
                    <a:cubicBezTo>
                      <a:pt x="11931" y="0"/>
                      <a:pt x="15059" y="696"/>
                      <a:pt x="17927" y="2039"/>
                    </a:cubicBezTo>
                    <a:lnTo>
                      <a:pt x="8765" y="21600"/>
                    </a:lnTo>
                    <a:close/>
                  </a:path>
                </a:pathLst>
              </a:custGeom>
              <a:noFill/>
              <a:ln w="76200">
                <a:solidFill>
                  <a:srgbClr val="9933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5391" name="Line 19"/>
              <p:cNvSpPr>
                <a:spLocks noChangeShapeType="1"/>
              </p:cNvSpPr>
              <p:nvPr/>
            </p:nvSpPr>
            <p:spPr bwMode="auto">
              <a:xfrm flipH="1">
                <a:off x="3878" y="1603"/>
                <a:ext cx="350" cy="8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5392" name="Line 20"/>
              <p:cNvSpPr>
                <a:spLocks noChangeShapeType="1"/>
              </p:cNvSpPr>
              <p:nvPr/>
            </p:nvSpPr>
            <p:spPr bwMode="auto">
              <a:xfrm>
                <a:off x="3521" y="1567"/>
                <a:ext cx="349" cy="886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5393" name="Line 21"/>
              <p:cNvSpPr>
                <a:spLocks noChangeShapeType="1"/>
              </p:cNvSpPr>
              <p:nvPr/>
            </p:nvSpPr>
            <p:spPr bwMode="auto">
              <a:xfrm>
                <a:off x="3878" y="1468"/>
                <a:ext cx="0" cy="98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5394" name="Text Box 22"/>
              <p:cNvSpPr txBox="1">
                <a:spLocks noChangeArrowheads="1"/>
              </p:cNvSpPr>
              <p:nvPr/>
            </p:nvSpPr>
            <p:spPr bwMode="auto">
              <a:xfrm>
                <a:off x="3866" y="1988"/>
                <a:ext cx="183" cy="212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>
                    <a:sym typeface="Symbol" pitchFamily="18" charset="2"/>
                  </a:rPr>
                  <a:t></a:t>
                </a:r>
              </a:p>
            </p:txBody>
          </p:sp>
          <p:sp>
            <p:nvSpPr>
              <p:cNvPr id="15395" name="Line 23"/>
              <p:cNvSpPr>
                <a:spLocks noChangeShapeType="1"/>
              </p:cNvSpPr>
              <p:nvPr/>
            </p:nvSpPr>
            <p:spPr bwMode="auto">
              <a:xfrm flipH="1">
                <a:off x="3319" y="1600"/>
                <a:ext cx="201" cy="110"/>
              </a:xfrm>
              <a:prstGeom prst="line">
                <a:avLst/>
              </a:prstGeom>
              <a:noFill/>
              <a:ln w="952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5396" name="Line 24"/>
              <p:cNvSpPr>
                <a:spLocks noChangeShapeType="1"/>
              </p:cNvSpPr>
              <p:nvPr/>
            </p:nvSpPr>
            <p:spPr bwMode="auto">
              <a:xfrm>
                <a:off x="4247" y="1614"/>
                <a:ext cx="201" cy="110"/>
              </a:xfrm>
              <a:prstGeom prst="line">
                <a:avLst/>
              </a:prstGeom>
              <a:noFill/>
              <a:ln w="9525">
                <a:solidFill>
                  <a:srgbClr val="3366FF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5397" name="Text Box 25"/>
              <p:cNvSpPr txBox="1">
                <a:spLocks noChangeArrowheads="1"/>
              </p:cNvSpPr>
              <p:nvPr/>
            </p:nvSpPr>
            <p:spPr bwMode="auto">
              <a:xfrm>
                <a:off x="4442" y="1614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15398" name="Text Box 26"/>
              <p:cNvSpPr txBox="1">
                <a:spLocks noChangeArrowheads="1"/>
              </p:cNvSpPr>
              <p:nvPr/>
            </p:nvSpPr>
            <p:spPr bwMode="auto">
              <a:xfrm>
                <a:off x="3093" y="1627"/>
                <a:ext cx="204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b="1">
                    <a:solidFill>
                      <a:srgbClr val="3366FF"/>
                    </a:solidFill>
                  </a:rPr>
                  <a:t>T</a:t>
                </a:r>
              </a:p>
            </p:txBody>
          </p:sp>
          <p:sp>
            <p:nvSpPr>
              <p:cNvPr id="15399" name="Line 27"/>
              <p:cNvSpPr>
                <a:spLocks noChangeShapeType="1"/>
              </p:cNvSpPr>
              <p:nvPr/>
            </p:nvSpPr>
            <p:spPr bwMode="auto">
              <a:xfrm>
                <a:off x="3173" y="1509"/>
                <a:ext cx="140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5400" name="Text Box 28"/>
              <p:cNvSpPr txBox="1">
                <a:spLocks noChangeArrowheads="1"/>
              </p:cNvSpPr>
              <p:nvPr/>
            </p:nvSpPr>
            <p:spPr bwMode="auto">
              <a:xfrm>
                <a:off x="4310" y="1489"/>
                <a:ext cx="183" cy="212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>
                    <a:sym typeface="Symbol" pitchFamily="18" charset="2"/>
                  </a:rPr>
                  <a:t></a:t>
                </a:r>
              </a:p>
            </p:txBody>
          </p:sp>
          <p:sp>
            <p:nvSpPr>
              <p:cNvPr id="15401" name="Text Box 29"/>
              <p:cNvSpPr txBox="1">
                <a:spLocks noChangeArrowheads="1"/>
              </p:cNvSpPr>
              <p:nvPr/>
            </p:nvSpPr>
            <p:spPr bwMode="auto">
              <a:xfrm>
                <a:off x="3227" y="1484"/>
                <a:ext cx="183" cy="212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600">
                    <a:sym typeface="Symbol" pitchFamily="18" charset="2"/>
                  </a:rPr>
                  <a:t></a:t>
                </a:r>
              </a:p>
            </p:txBody>
          </p:sp>
        </p:grpSp>
        <p:sp>
          <p:nvSpPr>
            <p:cNvPr id="15387" name="Line 30"/>
            <p:cNvSpPr>
              <a:spLocks noChangeShapeType="1"/>
            </p:cNvSpPr>
            <p:nvPr/>
          </p:nvSpPr>
          <p:spPr bwMode="auto">
            <a:xfrm flipH="1">
              <a:off x="3118" y="1006"/>
              <a:ext cx="1682" cy="5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388" name="Line 31"/>
            <p:cNvSpPr>
              <a:spLocks noChangeShapeType="1"/>
            </p:cNvSpPr>
            <p:nvPr/>
          </p:nvSpPr>
          <p:spPr bwMode="auto">
            <a:xfrm flipH="1" flipV="1">
              <a:off x="2981" y="1280"/>
              <a:ext cx="1115" cy="115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aphicFrame>
        <p:nvGraphicFramePr>
          <p:cNvPr id="15363" name="Object 33"/>
          <p:cNvGraphicFramePr>
            <a:graphicFrameLocks noChangeAspect="1"/>
          </p:cNvGraphicFramePr>
          <p:nvPr/>
        </p:nvGraphicFramePr>
        <p:xfrm>
          <a:off x="1320800" y="3363913"/>
          <a:ext cx="1346200" cy="782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23600" imgH="419040" progId="Equation.3">
                  <p:embed/>
                </p:oleObj>
              </mc:Choice>
              <mc:Fallback>
                <p:oleObj name="Equation" r:id="rId8" imgW="723600" imgH="419040" progId="Equation.3">
                  <p:embed/>
                  <p:pic>
                    <p:nvPicPr>
                      <p:cNvPr id="15363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20800" y="3363913"/>
                        <a:ext cx="1346200" cy="7826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64" name="Object 34"/>
          <p:cNvGraphicFramePr>
            <a:graphicFrameLocks noChangeAspect="1"/>
          </p:cNvGraphicFramePr>
          <p:nvPr/>
        </p:nvGraphicFramePr>
        <p:xfrm>
          <a:off x="1042988" y="4706938"/>
          <a:ext cx="1771650" cy="782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952200" imgH="419040" progId="Equation.3">
                  <p:embed/>
                </p:oleObj>
              </mc:Choice>
              <mc:Fallback>
                <p:oleObj name="Equation" r:id="rId10" imgW="952200" imgH="419040" progId="Equation.3">
                  <p:embed/>
                  <p:pic>
                    <p:nvPicPr>
                      <p:cNvPr id="15364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2988" y="4706938"/>
                        <a:ext cx="1771650" cy="7826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77" name="Line 35"/>
          <p:cNvSpPr>
            <a:spLocks noChangeShapeType="1"/>
          </p:cNvSpPr>
          <p:nvPr/>
        </p:nvSpPr>
        <p:spPr bwMode="auto">
          <a:xfrm flipH="1">
            <a:off x="987425" y="4833938"/>
            <a:ext cx="333375" cy="4778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8" name="Line 36"/>
          <p:cNvSpPr>
            <a:spLocks noChangeShapeType="1"/>
          </p:cNvSpPr>
          <p:nvPr/>
        </p:nvSpPr>
        <p:spPr bwMode="auto">
          <a:xfrm flipH="1">
            <a:off x="1314450" y="4899025"/>
            <a:ext cx="333375" cy="477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79" name="Line 37"/>
          <p:cNvSpPr>
            <a:spLocks noChangeShapeType="1"/>
          </p:cNvSpPr>
          <p:nvPr/>
        </p:nvSpPr>
        <p:spPr bwMode="auto">
          <a:xfrm flipH="1">
            <a:off x="1873250" y="4791075"/>
            <a:ext cx="130175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0" name="Line 38"/>
          <p:cNvSpPr>
            <a:spLocks noChangeShapeType="1"/>
          </p:cNvSpPr>
          <p:nvPr/>
        </p:nvSpPr>
        <p:spPr bwMode="auto">
          <a:xfrm flipH="1">
            <a:off x="2389188" y="4797425"/>
            <a:ext cx="130175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5381" name="Line 39"/>
          <p:cNvSpPr>
            <a:spLocks noChangeShapeType="1"/>
          </p:cNvSpPr>
          <p:nvPr/>
        </p:nvSpPr>
        <p:spPr bwMode="auto">
          <a:xfrm>
            <a:off x="3005138" y="5094288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15365" name="Object 40"/>
          <p:cNvGraphicFramePr>
            <a:graphicFrameLocks noChangeAspect="1"/>
          </p:cNvGraphicFramePr>
          <p:nvPr/>
        </p:nvGraphicFramePr>
        <p:xfrm>
          <a:off x="4067175" y="4586288"/>
          <a:ext cx="946150" cy="8778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07960" imgH="469800" progId="Equation.3">
                  <p:embed/>
                </p:oleObj>
              </mc:Choice>
              <mc:Fallback>
                <p:oleObj name="Equation" r:id="rId12" imgW="507960" imgH="469800" progId="Equation.3">
                  <p:embed/>
                  <p:pic>
                    <p:nvPicPr>
                      <p:cNvPr id="15365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67175" y="4586288"/>
                        <a:ext cx="946150" cy="8778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215099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223.4.3</a:t>
            </a:r>
          </a:p>
        </p:txBody>
      </p:sp>
      <p:sp>
        <p:nvSpPr>
          <p:cNvPr id="6144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533400" indent="-533400" eaLnBrk="1" hangingPunct="1">
              <a:lnSpc>
                <a:spcPct val="125000"/>
              </a:lnSpc>
              <a:spcBef>
                <a:spcPct val="50000"/>
              </a:spcBef>
              <a:buFontTx/>
              <a:buNone/>
            </a:pPr>
            <a:r>
              <a:rPr lang="en-US" sz="2800" b="1" dirty="0"/>
              <a:t>When a sound wave passes from air into water, what properties of the wave will change?</a:t>
            </a:r>
          </a:p>
          <a:p>
            <a:pPr marL="533400" indent="-533400" eaLnBrk="1" hangingPunct="1">
              <a:lnSpc>
                <a:spcPct val="130000"/>
              </a:lnSpc>
              <a:buFontTx/>
              <a:buAutoNum type="alphaLcParenR"/>
            </a:pPr>
            <a:r>
              <a:rPr lang="en-US" sz="2800" b="1" dirty="0">
                <a:solidFill>
                  <a:schemeClr val="tx2"/>
                </a:solidFill>
              </a:rPr>
              <a:t>the frequency </a:t>
            </a:r>
            <a:r>
              <a:rPr lang="en-US" sz="2800" i="1" dirty="0">
                <a:solidFill>
                  <a:schemeClr val="tx2"/>
                </a:solidFill>
                <a:latin typeface="Arial Black" pitchFamily="34" charset="0"/>
              </a:rPr>
              <a:t>f</a:t>
            </a:r>
          </a:p>
          <a:p>
            <a:pPr marL="533400" indent="-533400" eaLnBrk="1" hangingPunct="1">
              <a:lnSpc>
                <a:spcPct val="130000"/>
              </a:lnSpc>
              <a:buFontTx/>
              <a:buAutoNum type="alphaLcParenR"/>
            </a:pPr>
            <a:r>
              <a:rPr lang="en-US" sz="2800" b="1" dirty="0">
                <a:solidFill>
                  <a:schemeClr val="tx2"/>
                </a:solidFill>
              </a:rPr>
              <a:t>the wavelength </a:t>
            </a:r>
            <a:r>
              <a:rPr lang="en-US" sz="2800" b="1" dirty="0">
                <a:solidFill>
                  <a:schemeClr val="tx2"/>
                </a:solidFill>
                <a:latin typeface="Symbol" pitchFamily="18" charset="2"/>
              </a:rPr>
              <a:t>l</a:t>
            </a:r>
            <a:endParaRPr lang="en-US" sz="2800" b="1" dirty="0">
              <a:solidFill>
                <a:schemeClr val="tx2"/>
              </a:solidFill>
            </a:endParaRPr>
          </a:p>
          <a:p>
            <a:pPr marL="533400" indent="-533400" eaLnBrk="1" hangingPunct="1">
              <a:lnSpc>
                <a:spcPct val="130000"/>
              </a:lnSpc>
              <a:buFontTx/>
              <a:buAutoNum type="alphaLcParenR"/>
            </a:pPr>
            <a:r>
              <a:rPr lang="en-US" sz="2800" b="1" dirty="0">
                <a:solidFill>
                  <a:schemeClr val="tx2"/>
                </a:solidFill>
              </a:rPr>
              <a:t>the speed of the wave</a:t>
            </a:r>
          </a:p>
          <a:p>
            <a:pPr marL="533400" indent="-533400" eaLnBrk="1" hangingPunct="1">
              <a:lnSpc>
                <a:spcPct val="130000"/>
              </a:lnSpc>
              <a:buFontTx/>
              <a:buAutoNum type="alphaLcParenR"/>
            </a:pPr>
            <a:r>
              <a:rPr lang="en-US" sz="2800" b="1" dirty="0">
                <a:solidFill>
                  <a:schemeClr val="tx2"/>
                </a:solidFill>
              </a:rPr>
              <a:t>both </a:t>
            </a:r>
            <a:r>
              <a:rPr lang="en-US" sz="2800" b="1" i="1" dirty="0">
                <a:solidFill>
                  <a:schemeClr val="tx2"/>
                </a:solidFill>
              </a:rPr>
              <a:t>f</a:t>
            </a:r>
            <a:r>
              <a:rPr lang="en-US" sz="2800" b="1" dirty="0">
                <a:solidFill>
                  <a:schemeClr val="tx2"/>
                </a:solidFill>
              </a:rPr>
              <a:t> and </a:t>
            </a:r>
            <a:r>
              <a:rPr lang="en-US" sz="2800" b="1" dirty="0">
                <a:solidFill>
                  <a:schemeClr val="tx2"/>
                </a:solidFill>
                <a:latin typeface="Symbol" pitchFamily="18" charset="2"/>
              </a:rPr>
              <a:t>l</a:t>
            </a:r>
          </a:p>
          <a:p>
            <a:pPr marL="533400" indent="-533400" eaLnBrk="1" hangingPunct="1">
              <a:lnSpc>
                <a:spcPct val="130000"/>
              </a:lnSpc>
              <a:buFontTx/>
              <a:buAutoNum type="alphaLcParenR"/>
            </a:pPr>
            <a:r>
              <a:rPr lang="en-US" sz="2800" b="1" dirty="0">
                <a:solidFill>
                  <a:schemeClr val="tx2"/>
                </a:solidFill>
              </a:rPr>
              <a:t>both </a:t>
            </a:r>
            <a:r>
              <a:rPr lang="en-US" sz="2800" b="1" i="1" dirty="0" err="1">
                <a:solidFill>
                  <a:schemeClr val="tx2"/>
                </a:solidFill>
              </a:rPr>
              <a:t>v</a:t>
            </a:r>
            <a:r>
              <a:rPr lang="en-US" sz="2800" b="1" baseline="-25000" dirty="0" err="1">
                <a:solidFill>
                  <a:schemeClr val="tx2"/>
                </a:solidFill>
              </a:rPr>
              <a:t>wave</a:t>
            </a:r>
            <a:r>
              <a:rPr lang="en-US" sz="2800" b="1" dirty="0">
                <a:solidFill>
                  <a:schemeClr val="tx2"/>
                </a:solidFill>
              </a:rPr>
              <a:t> and </a:t>
            </a:r>
            <a:r>
              <a:rPr lang="en-US" sz="2800" b="1" dirty="0">
                <a:solidFill>
                  <a:schemeClr val="tx2"/>
                </a:solidFill>
                <a:latin typeface="Symbol" pitchFamily="18" charset="2"/>
              </a:rPr>
              <a:t>l</a:t>
            </a:r>
            <a:endParaRPr lang="en-US" sz="2800" b="1" dirty="0">
              <a:solidFill>
                <a:schemeClr val="tx2"/>
              </a:solidFill>
            </a:endParaRPr>
          </a:p>
          <a:p>
            <a:pPr marL="533400" indent="-533400" eaLnBrk="1" hangingPunct="1"/>
            <a:endParaRPr lang="en-US" sz="2800" dirty="0"/>
          </a:p>
        </p:txBody>
      </p:sp>
      <p:sp>
        <p:nvSpPr>
          <p:cNvPr id="6144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E643066-6A67-4F35-A09C-605218B5A8FD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0959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223.4.4</a:t>
            </a:r>
          </a:p>
        </p:txBody>
      </p:sp>
      <p:sp>
        <p:nvSpPr>
          <p:cNvPr id="5222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A wave travels across a boundary between two different weight ropes. If it goes from the heavier to the lighter rope, the wave speed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dirty="0"/>
              <a:t>Increases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dirty="0"/>
              <a:t>Decreases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dirty="0"/>
              <a:t>Stays the same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dirty="0"/>
              <a:t>Can’t tell</a:t>
            </a:r>
          </a:p>
        </p:txBody>
      </p:sp>
      <p:sp>
        <p:nvSpPr>
          <p:cNvPr id="5222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A354CA6-2371-4C3D-9BCD-3813C9281DFB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24473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86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0093" y="762000"/>
            <a:ext cx="8803907" cy="487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7193066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223.4.4.5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Two ropes of different linear mass density are tied together.  A sinusoidal wave goes from rope A rope where the wave speed is 4.0 m/s to rope B where the wave speed is 2.0 m/s. If the initial wave has a wavelength of 3.0 m, what is the wavelength in rope B?</a:t>
            </a:r>
          </a:p>
          <a:p>
            <a:pPr marL="514350" indent="-514350">
              <a:buAutoNum type="alphaLcParenR"/>
            </a:pPr>
            <a:r>
              <a:rPr lang="en-US" dirty="0"/>
              <a:t>2/3 m</a:t>
            </a:r>
          </a:p>
          <a:p>
            <a:pPr marL="514350" indent="-514350">
              <a:buAutoNum type="alphaLcParenR"/>
            </a:pPr>
            <a:r>
              <a:rPr lang="en-US" dirty="0"/>
              <a:t>3/2 m</a:t>
            </a:r>
          </a:p>
          <a:p>
            <a:pPr marL="514350" indent="-514350">
              <a:buAutoNum type="alphaLcParenR"/>
            </a:pPr>
            <a:r>
              <a:rPr lang="en-US" dirty="0"/>
              <a:t>3 m</a:t>
            </a:r>
          </a:p>
          <a:p>
            <a:pPr marL="514350" indent="-514350">
              <a:buAutoNum type="alphaLcParenR"/>
            </a:pPr>
            <a:r>
              <a:rPr lang="en-US" dirty="0"/>
              <a:t>6 m</a:t>
            </a:r>
          </a:p>
          <a:p>
            <a:pPr marL="514350" indent="-514350">
              <a:buAutoNum type="alphaLcParenR"/>
            </a:pPr>
            <a:r>
              <a:rPr lang="en-US" dirty="0"/>
              <a:t>1/6 m</a:t>
            </a:r>
          </a:p>
          <a:p>
            <a:pPr marL="514350" indent="-514350">
              <a:buAutoNum type="alphaLcParenR"/>
            </a:pPr>
            <a:endParaRPr lang="en-US" dirty="0"/>
          </a:p>
          <a:p>
            <a:pPr marL="514350" indent="-514350">
              <a:buAutoNum type="alphaLcParenR"/>
            </a:pPr>
            <a:endParaRPr lang="en-US" dirty="0"/>
          </a:p>
          <a:p>
            <a:pPr marL="514350" indent="-514350">
              <a:buAutoNum type="alphaLcParenR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9644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89030" y="374754"/>
            <a:ext cx="3854970" cy="114300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FFFF00"/>
                </a:solidFill>
              </a:rPr>
              <a:t>Question 223.4.4.1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51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-108857" y="192314"/>
            <a:ext cx="4404632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FF00"/>
                </a:solidFill>
              </a:rPr>
              <a:t>Can sound travel through space?</a:t>
            </a:r>
          </a:p>
          <a:p>
            <a:pPr marL="514350" indent="-514350">
              <a:buAutoNum type="alphaLcParenR"/>
            </a:pPr>
            <a:r>
              <a:rPr lang="en-US" dirty="0">
                <a:solidFill>
                  <a:srgbClr val="FFFF00"/>
                </a:solidFill>
              </a:rPr>
              <a:t>Yes</a:t>
            </a:r>
          </a:p>
          <a:p>
            <a:pPr marL="514350" indent="-514350">
              <a:buAutoNum type="alphaLcParenR"/>
            </a:pPr>
            <a:r>
              <a:rPr lang="en-US" dirty="0">
                <a:solidFill>
                  <a:srgbClr val="FFFF00"/>
                </a:solidFill>
              </a:rPr>
              <a:t>No</a:t>
            </a:r>
          </a:p>
          <a:p>
            <a:pPr marL="514350" indent="-514350">
              <a:buAutoNum type="alphaLcParenR"/>
            </a:pPr>
            <a:r>
              <a:rPr lang="en-US" dirty="0">
                <a:solidFill>
                  <a:srgbClr val="FFFF00"/>
                </a:solidFill>
              </a:rPr>
              <a:t>Only if you are George Lucas?</a:t>
            </a:r>
          </a:p>
        </p:txBody>
      </p:sp>
      <p:pic>
        <p:nvPicPr>
          <p:cNvPr id="7" name="-assXMb3eYk"/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4147127" y="3924300"/>
            <a:ext cx="3657600" cy="205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769550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223.4.4.2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Can light travel through space?</a:t>
            </a:r>
          </a:p>
          <a:p>
            <a:pPr marL="514350" indent="-514350"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AutoNum type="alphaLcParenR"/>
            </a:pPr>
            <a:r>
              <a:rPr lang="en-US" dirty="0"/>
              <a:t>No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9636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223.4.4.3</a:t>
            </a:r>
          </a:p>
        </p:txBody>
      </p:sp>
      <p:sp>
        <p:nvSpPr>
          <p:cNvPr id="44036" name="Rectangle 3"/>
          <p:cNvSpPr>
            <a:spLocks noGrp="1" noChangeArrowheads="1"/>
          </p:cNvSpPr>
          <p:nvPr>
            <p:ph idx="1"/>
          </p:nvPr>
        </p:nvSpPr>
        <p:spPr>
          <a:xfrm>
            <a:off x="457199" y="1600200"/>
            <a:ext cx="7932058" cy="4525963"/>
          </a:xfrm>
        </p:spPr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What is the medium for a light wave?… 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dirty="0"/>
              <a:t>The electromagnetic field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dirty="0"/>
              <a:t>Air molecules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dirty="0"/>
              <a:t>Free space</a:t>
            </a:r>
          </a:p>
          <a:p>
            <a:pPr marL="990600" lvl="1" indent="-533400" eaLnBrk="1" hangingPunct="1">
              <a:buFontTx/>
              <a:buAutoNum type="alphaLcParenR"/>
            </a:pPr>
            <a:r>
              <a:rPr lang="en-US" dirty="0"/>
              <a:t>Water  molecules</a:t>
            </a:r>
          </a:p>
        </p:txBody>
      </p:sp>
      <p:sp>
        <p:nvSpPr>
          <p:cNvPr id="4403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4AD62F2E-7083-45D0-8919-2DFD6873DB31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068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robinson dadson curves.jpg"/>
          <p:cNvPicPr>
            <a:picLocks noChangeAspect="1"/>
          </p:cNvPicPr>
          <p:nvPr/>
        </p:nvPicPr>
        <p:blipFill>
          <a:blip r:embed="rId2" cstate="print"/>
          <a:srcRect l="12404" t="14208" r="15377" b="10601"/>
          <a:stretch>
            <a:fillRect/>
          </a:stretch>
        </p:blipFill>
        <p:spPr>
          <a:xfrm>
            <a:off x="1521283" y="914614"/>
            <a:ext cx="6190937" cy="51566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33288" y="6291687"/>
            <a:ext cx="73008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William Strong and </a:t>
            </a:r>
            <a:r>
              <a:rPr lang="en-US" sz="1400" dirty="0" err="1"/>
              <a:t>Grorge</a:t>
            </a:r>
            <a:r>
              <a:rPr lang="en-US" sz="1400" dirty="0"/>
              <a:t> </a:t>
            </a:r>
            <a:r>
              <a:rPr lang="en-US" sz="1400" dirty="0" err="1"/>
              <a:t>Plitnik</a:t>
            </a:r>
            <a:r>
              <a:rPr lang="en-US" sz="1400" dirty="0"/>
              <a:t>, </a:t>
            </a:r>
            <a:r>
              <a:rPr lang="en-US" sz="1400" i="1" dirty="0"/>
              <a:t>Music Speech Audio,</a:t>
            </a:r>
            <a:r>
              <a:rPr lang="en-US" sz="1400" dirty="0"/>
              <a:t> 2</a:t>
            </a:r>
            <a:r>
              <a:rPr lang="en-US" sz="1400" baseline="30000" dirty="0"/>
              <a:t>nd</a:t>
            </a:r>
            <a:r>
              <a:rPr lang="en-US" sz="1400" dirty="0"/>
              <a:t>. </a:t>
            </a:r>
            <a:r>
              <a:rPr lang="en-US" sz="1400" dirty="0" err="1"/>
              <a:t>Ed.,BYU</a:t>
            </a:r>
            <a:r>
              <a:rPr lang="en-US" sz="1400" dirty="0"/>
              <a:t> Academic Publishing, 2005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117882"/>
            <a:ext cx="8229600" cy="483008"/>
          </a:xfrm>
        </p:spPr>
        <p:txBody>
          <a:bodyPr>
            <a:normAutofit fontScale="90000"/>
          </a:bodyPr>
          <a:lstStyle/>
          <a:p>
            <a:r>
              <a:rPr lang="en-US" dirty="0"/>
              <a:t>Frequency Response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Online Media 3">
            <a:hlinkClick r:id="" action="ppaction://media"/>
            <a:extLst>
              <a:ext uri="{FF2B5EF4-FFF2-40B4-BE49-F238E27FC236}">
                <a16:creationId xmlns:a16="http://schemas.microsoft.com/office/drawing/2014/main" id="{550A5104-046C-40F8-8172-02896F65E1EC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498763" y="1177142"/>
            <a:ext cx="8209808" cy="4618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48680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 rot="5400000">
            <a:off x="1827354" y="-989152"/>
            <a:ext cx="5867401" cy="89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3"/>
          <p:cNvSpPr/>
          <p:nvPr/>
        </p:nvSpPr>
        <p:spPr>
          <a:xfrm>
            <a:off x="228600" y="5867400"/>
            <a:ext cx="2286000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From </a:t>
            </a:r>
            <a:r>
              <a:rPr lang="en-US" sz="1100" dirty="0" err="1"/>
              <a:t>Materialscientist</a:t>
            </a:r>
            <a:r>
              <a:rPr lang="en-US" sz="1100" dirty="0"/>
              <a:t>, used under the Creative Commons Attribution-Share Alike 2.5 Generic License.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223.3.2</a:t>
            </a:r>
          </a:p>
        </p:txBody>
      </p:sp>
      <p:sp>
        <p:nvSpPr>
          <p:cNvPr id="433155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3251200" cy="4525963"/>
          </a:xfrm>
        </p:spPr>
        <p:txBody>
          <a:bodyPr/>
          <a:lstStyle/>
          <a:p>
            <a:pPr eaLnBrk="1" hangingPunct="1">
              <a:lnSpc>
                <a:spcPct val="130000"/>
              </a:lnSpc>
              <a:spcBef>
                <a:spcPct val="50000"/>
              </a:spcBef>
              <a:buFontTx/>
              <a:buNone/>
              <a:defRPr/>
            </a:pPr>
            <a:r>
              <a:rPr lang="en-US" sz="2000" b="1" dirty="0"/>
              <a:t>Does a longitudinal wave, such as a sound wave, have an amplitude ?</a:t>
            </a:r>
            <a:endParaRPr lang="en-US" sz="2200" b="1" dirty="0"/>
          </a:p>
          <a:p>
            <a:pPr eaLnBrk="1" hangingPunct="1">
              <a:lnSpc>
                <a:spcPct val="140000"/>
              </a:lnSpc>
              <a:buFontTx/>
              <a:buNone/>
              <a:defRPr/>
            </a:pPr>
            <a:r>
              <a:rPr lang="en-US" sz="2000" b="1" dirty="0">
                <a:solidFill>
                  <a:schemeClr val="tx2"/>
                </a:solidFill>
              </a:rPr>
              <a:t>a)  yes</a:t>
            </a:r>
          </a:p>
          <a:p>
            <a:pPr eaLnBrk="1" hangingPunct="1">
              <a:lnSpc>
                <a:spcPct val="140000"/>
              </a:lnSpc>
              <a:buFontTx/>
              <a:buNone/>
              <a:defRPr/>
            </a:pPr>
            <a:r>
              <a:rPr lang="en-US" sz="2000" b="1" dirty="0">
                <a:solidFill>
                  <a:schemeClr val="tx2"/>
                </a:solidFill>
              </a:rPr>
              <a:t>b)  no</a:t>
            </a:r>
          </a:p>
          <a:p>
            <a:pPr eaLnBrk="1" hangingPunct="1">
              <a:lnSpc>
                <a:spcPct val="130000"/>
              </a:lnSpc>
              <a:buFontTx/>
              <a:buNone/>
              <a:defRPr/>
            </a:pPr>
            <a:r>
              <a:rPr lang="en-US" sz="2000" b="1" dirty="0">
                <a:solidFill>
                  <a:schemeClr val="tx2"/>
                </a:solidFill>
              </a:rPr>
              <a:t>c)  it depends on the medium the wave is in</a:t>
            </a:r>
            <a:endParaRPr lang="en-US" sz="2000" b="1" dirty="0">
              <a:solidFill>
                <a:schemeClr val="tx2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eaLnBrk="1" hangingPunct="1">
              <a:lnSpc>
                <a:spcPct val="80000"/>
              </a:lnSpc>
              <a:defRPr/>
            </a:pPr>
            <a:endParaRPr lang="en-US" sz="2000" dirty="0"/>
          </a:p>
        </p:txBody>
      </p:sp>
      <p:sp>
        <p:nvSpPr>
          <p:cNvPr id="4505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590F4AF-F7D9-43D4-9D0C-E33F993FEEBD}" type="slidenum">
              <a:rPr lang="en-US" smtClean="0"/>
              <a:pPr/>
              <a:t>57</a:t>
            </a:fld>
            <a:endParaRPr lang="en-US"/>
          </a:p>
        </p:txBody>
      </p:sp>
      <p:grpSp>
        <p:nvGrpSpPr>
          <p:cNvPr id="45061" name="Group 4"/>
          <p:cNvGrpSpPr>
            <a:grpSpLocks/>
          </p:cNvGrpSpPr>
          <p:nvPr/>
        </p:nvGrpSpPr>
        <p:grpSpPr bwMode="auto">
          <a:xfrm>
            <a:off x="4827588" y="2038350"/>
            <a:ext cx="3805237" cy="1216025"/>
            <a:chOff x="3160" y="2326"/>
            <a:chExt cx="2397" cy="766"/>
          </a:xfrm>
        </p:grpSpPr>
        <p:grpSp>
          <p:nvGrpSpPr>
            <p:cNvPr id="45075" name="Group 5"/>
            <p:cNvGrpSpPr>
              <a:grpSpLocks/>
            </p:cNvGrpSpPr>
            <p:nvPr/>
          </p:nvGrpSpPr>
          <p:grpSpPr bwMode="auto">
            <a:xfrm>
              <a:off x="3544" y="2331"/>
              <a:ext cx="2013" cy="348"/>
              <a:chOff x="1920" y="2928"/>
              <a:chExt cx="2013" cy="480"/>
            </a:xfrm>
          </p:grpSpPr>
          <p:sp>
            <p:nvSpPr>
              <p:cNvPr id="45081" name="Rectangle 6"/>
              <p:cNvSpPr>
                <a:spLocks noChangeArrowheads="1"/>
              </p:cNvSpPr>
              <p:nvPr/>
            </p:nvSpPr>
            <p:spPr bwMode="auto">
              <a:xfrm>
                <a:off x="1920" y="2928"/>
                <a:ext cx="672" cy="480"/>
              </a:xfrm>
              <a:prstGeom prst="rect">
                <a:avLst/>
              </a:prstGeom>
              <a:gradFill rotWithShape="0">
                <a:gsLst>
                  <a:gs pos="0">
                    <a:srgbClr val="666666"/>
                  </a:gs>
                  <a:gs pos="50000">
                    <a:srgbClr val="DDDDDD"/>
                  </a:gs>
                  <a:gs pos="100000">
                    <a:srgbClr val="666666"/>
                  </a:gs>
                </a:gsLst>
                <a:lin ang="0" scaled="1"/>
              </a:gradFill>
              <a:ln w="19050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5082" name="Rectangle 7"/>
              <p:cNvSpPr>
                <a:spLocks noChangeArrowheads="1"/>
              </p:cNvSpPr>
              <p:nvPr/>
            </p:nvSpPr>
            <p:spPr bwMode="auto">
              <a:xfrm>
                <a:off x="2589" y="2928"/>
                <a:ext cx="672" cy="480"/>
              </a:xfrm>
              <a:prstGeom prst="rect">
                <a:avLst/>
              </a:prstGeom>
              <a:gradFill rotWithShape="0">
                <a:gsLst>
                  <a:gs pos="0">
                    <a:srgbClr val="666666"/>
                  </a:gs>
                  <a:gs pos="50000">
                    <a:srgbClr val="DDDDDD"/>
                  </a:gs>
                  <a:gs pos="100000">
                    <a:srgbClr val="666666"/>
                  </a:gs>
                </a:gsLst>
                <a:lin ang="0" scaled="1"/>
              </a:gradFill>
              <a:ln w="19050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5083" name="Rectangle 8"/>
              <p:cNvSpPr>
                <a:spLocks noChangeArrowheads="1"/>
              </p:cNvSpPr>
              <p:nvPr/>
            </p:nvSpPr>
            <p:spPr bwMode="auto">
              <a:xfrm>
                <a:off x="3261" y="2928"/>
                <a:ext cx="672" cy="480"/>
              </a:xfrm>
              <a:prstGeom prst="rect">
                <a:avLst/>
              </a:prstGeom>
              <a:gradFill rotWithShape="0">
                <a:gsLst>
                  <a:gs pos="0">
                    <a:srgbClr val="666666"/>
                  </a:gs>
                  <a:gs pos="50000">
                    <a:srgbClr val="DDDDDD"/>
                  </a:gs>
                  <a:gs pos="100000">
                    <a:srgbClr val="666666"/>
                  </a:gs>
                </a:gsLst>
                <a:lin ang="0" scaled="1"/>
              </a:gradFill>
              <a:ln w="19050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grpSp>
          <p:nvGrpSpPr>
            <p:cNvPr id="45076" name="Group 9"/>
            <p:cNvGrpSpPr>
              <a:grpSpLocks/>
            </p:cNvGrpSpPr>
            <p:nvPr/>
          </p:nvGrpSpPr>
          <p:grpSpPr bwMode="auto">
            <a:xfrm flipH="1">
              <a:off x="3160" y="2326"/>
              <a:ext cx="330" cy="357"/>
              <a:chOff x="1499" y="1255"/>
              <a:chExt cx="576" cy="624"/>
            </a:xfrm>
          </p:grpSpPr>
          <p:sp>
            <p:nvSpPr>
              <p:cNvPr id="45079" name="AutoShape 10"/>
              <p:cNvSpPr>
                <a:spLocks noChangeArrowheads="1"/>
              </p:cNvSpPr>
              <p:nvPr/>
            </p:nvSpPr>
            <p:spPr bwMode="auto">
              <a:xfrm rot="-5400000">
                <a:off x="1379" y="1375"/>
                <a:ext cx="624" cy="38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w 21600"/>
                  <a:gd name="T7" fmla="*/ 0 h 21600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4085 w 21600"/>
                  <a:gd name="T13" fmla="*/ 4106 h 21600"/>
                  <a:gd name="T14" fmla="*/ 17515 w 21600"/>
                  <a:gd name="T15" fmla="*/ 17494 h 21600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600" h="21600">
                    <a:moveTo>
                      <a:pt x="0" y="0"/>
                    </a:moveTo>
                    <a:lnTo>
                      <a:pt x="4569" y="21600"/>
                    </a:lnTo>
                    <a:lnTo>
                      <a:pt x="17031" y="21600"/>
                    </a:lnTo>
                    <a:lnTo>
                      <a:pt x="21600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DDDDDD"/>
                  </a:gs>
                  <a:gs pos="100000">
                    <a:srgbClr val="1B1B1B"/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5080" name="Rectangle 11"/>
              <p:cNvSpPr>
                <a:spLocks noChangeArrowheads="1"/>
              </p:cNvSpPr>
              <p:nvPr/>
            </p:nvSpPr>
            <p:spPr bwMode="auto">
              <a:xfrm rot="-5400000">
                <a:off x="1799" y="1471"/>
                <a:ext cx="360" cy="192"/>
              </a:xfrm>
              <a:prstGeom prst="rect">
                <a:avLst/>
              </a:prstGeom>
              <a:gradFill rotWithShape="0">
                <a:gsLst>
                  <a:gs pos="0">
                    <a:srgbClr val="DDDDDD"/>
                  </a:gs>
                  <a:gs pos="100000">
                    <a:srgbClr val="1B1B1B"/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5077" name="Line 12"/>
            <p:cNvSpPr>
              <a:spLocks noChangeShapeType="1"/>
            </p:cNvSpPr>
            <p:nvPr/>
          </p:nvSpPr>
          <p:spPr bwMode="auto">
            <a:xfrm>
              <a:off x="4201" y="2779"/>
              <a:ext cx="651" cy="0"/>
            </a:xfrm>
            <a:prstGeom prst="line">
              <a:avLst/>
            </a:prstGeom>
            <a:noFill/>
            <a:ln w="57150">
              <a:solidFill>
                <a:schemeClr val="accent2"/>
              </a:solidFill>
              <a:round/>
              <a:headEnd type="triangle" w="med" len="med"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3165" name="Text Box 13"/>
            <p:cNvSpPr txBox="1">
              <a:spLocks noChangeArrowheads="1"/>
            </p:cNvSpPr>
            <p:nvPr/>
          </p:nvSpPr>
          <p:spPr bwMode="auto">
            <a:xfrm>
              <a:off x="4398" y="2727"/>
              <a:ext cx="257" cy="365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0" hangingPunct="0">
                <a:defRPr/>
              </a:pPr>
              <a:r>
                <a:rPr lang="en-US" sz="3200" b="1">
                  <a:solidFill>
                    <a:schemeClr val="accent2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Tahoma" pitchFamily="34" charset="0"/>
                  <a:sym typeface="Symbol" pitchFamily="18" charset="2"/>
                </a:rPr>
                <a:t></a:t>
              </a:r>
              <a:endParaRPr lang="en-US" sz="28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itchFamily="34" charset="0"/>
              </a:endParaRPr>
            </a:p>
          </p:txBody>
        </p:sp>
      </p:grpSp>
      <p:grpSp>
        <p:nvGrpSpPr>
          <p:cNvPr id="45062" name="Group 14"/>
          <p:cNvGrpSpPr>
            <a:grpSpLocks/>
          </p:cNvGrpSpPr>
          <p:nvPr/>
        </p:nvGrpSpPr>
        <p:grpSpPr bwMode="auto">
          <a:xfrm>
            <a:off x="4322763" y="2749550"/>
            <a:ext cx="4467225" cy="2454275"/>
            <a:chOff x="2842" y="2774"/>
            <a:chExt cx="2814" cy="1546"/>
          </a:xfrm>
        </p:grpSpPr>
        <p:sp>
          <p:nvSpPr>
            <p:cNvPr id="433167" name="Text Box 15"/>
            <p:cNvSpPr txBox="1">
              <a:spLocks noChangeArrowheads="1"/>
            </p:cNvSpPr>
            <p:nvPr/>
          </p:nvSpPr>
          <p:spPr bwMode="auto">
            <a:xfrm>
              <a:off x="3045" y="3826"/>
              <a:ext cx="382" cy="25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0" hangingPunct="0">
                <a:defRPr/>
              </a:pPr>
              <a:r>
                <a:rPr lang="en-US" sz="2000" b="1" dirty="0">
                  <a:effectLst>
                    <a:outerShdw blurRad="38100" dist="38100" dir="2700000" algn="tl">
                      <a:srgbClr val="C0C0C0"/>
                    </a:outerShdw>
                  </a:effectLst>
                </a:rPr>
                <a:t>low</a:t>
              </a:r>
            </a:p>
          </p:txBody>
        </p:sp>
        <p:sp>
          <p:nvSpPr>
            <p:cNvPr id="433168" name="Text Box 16"/>
            <p:cNvSpPr txBox="1">
              <a:spLocks noChangeArrowheads="1"/>
            </p:cNvSpPr>
            <p:nvPr/>
          </p:nvSpPr>
          <p:spPr bwMode="auto">
            <a:xfrm>
              <a:off x="2998" y="3304"/>
              <a:ext cx="454" cy="25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0" hangingPunct="0">
                <a:defRPr/>
              </a:pPr>
              <a:r>
                <a:rPr lang="en-US" sz="2000" b="1" dirty="0">
                  <a:effectLst>
                    <a:outerShdw blurRad="38100" dist="38100" dir="2700000" algn="tl">
                      <a:srgbClr val="C0C0C0"/>
                    </a:outerShdw>
                  </a:effectLst>
                </a:rPr>
                <a:t>high</a:t>
              </a:r>
            </a:p>
          </p:txBody>
        </p:sp>
        <p:sp>
          <p:nvSpPr>
            <p:cNvPr id="433169" name="Text Box 17"/>
            <p:cNvSpPr txBox="1">
              <a:spLocks noChangeArrowheads="1"/>
            </p:cNvSpPr>
            <p:nvPr/>
          </p:nvSpPr>
          <p:spPr bwMode="auto">
            <a:xfrm>
              <a:off x="2842" y="3583"/>
              <a:ext cx="649" cy="250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0" hangingPunct="0">
                <a:defRPr/>
              </a:pPr>
              <a:r>
                <a:rPr lang="en-US" sz="2000" b="1" dirty="0">
                  <a:effectLst>
                    <a:outerShdw blurRad="38100" dist="38100" dir="2700000" algn="tl">
                      <a:srgbClr val="C0C0C0"/>
                    </a:outerShdw>
                  </a:effectLst>
                </a:rPr>
                <a:t>normal</a:t>
              </a:r>
            </a:p>
          </p:txBody>
        </p:sp>
        <p:sp>
          <p:nvSpPr>
            <p:cNvPr id="45066" name="Line 18"/>
            <p:cNvSpPr>
              <a:spLocks noChangeShapeType="1"/>
            </p:cNvSpPr>
            <p:nvPr/>
          </p:nvSpPr>
          <p:spPr bwMode="auto">
            <a:xfrm flipV="1">
              <a:off x="3460" y="4084"/>
              <a:ext cx="2000" cy="1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 type="none" w="sm" len="sm"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067" name="Line 19"/>
            <p:cNvSpPr>
              <a:spLocks noChangeShapeType="1"/>
            </p:cNvSpPr>
            <p:nvPr/>
          </p:nvSpPr>
          <p:spPr bwMode="auto">
            <a:xfrm flipH="1" flipV="1">
              <a:off x="3472" y="3146"/>
              <a:ext cx="1" cy="944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 type="none" w="sm" len="sm"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3172" name="Text Box 20"/>
            <p:cNvSpPr txBox="1">
              <a:spLocks noChangeArrowheads="1"/>
            </p:cNvSpPr>
            <p:nvPr/>
          </p:nvSpPr>
          <p:spPr bwMode="auto">
            <a:xfrm>
              <a:off x="3077" y="2774"/>
              <a:ext cx="792" cy="384"/>
            </a:xfrm>
            <a:prstGeom prst="rect">
              <a:avLst/>
            </a:prstGeom>
            <a:noFill/>
            <a:ln w="9525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 wrap="none">
              <a:spAutoFit/>
            </a:bodyPr>
            <a:lstStyle/>
            <a:p>
              <a:pPr algn="ctr" eaLnBrk="0" hangingPunct="0">
                <a:defRPr/>
              </a:pPr>
              <a:r>
                <a:rPr lang="en-US" sz="2000" b="1">
                  <a:effectLst>
                    <a:outerShdw blurRad="38100" dist="38100" dir="2700000" algn="tl">
                      <a:srgbClr val="C0C0C0"/>
                    </a:outerShdw>
                  </a:effectLst>
                </a:rPr>
                <a:t>air</a:t>
              </a:r>
            </a:p>
            <a:p>
              <a:pPr algn="ctr" eaLnBrk="0" hangingPunct="0">
                <a:lnSpc>
                  <a:spcPct val="70000"/>
                </a:lnSpc>
                <a:defRPr/>
              </a:pPr>
              <a:r>
                <a:rPr lang="en-US" sz="2000" b="1">
                  <a:effectLst>
                    <a:outerShdw blurRad="38100" dist="38100" dir="2700000" algn="tl">
                      <a:srgbClr val="C0C0C0"/>
                    </a:outerShdw>
                  </a:effectLst>
                </a:rPr>
                <a:t>pressure</a:t>
              </a:r>
              <a:endParaRPr lang="en-US" sz="2000">
                <a:effectLst>
                  <a:outerShdw blurRad="38100" dist="38100" dir="2700000" algn="tl">
                    <a:srgbClr val="C0C0C0"/>
                  </a:outerShdw>
                </a:effectLst>
              </a:endParaRPr>
            </a:p>
          </p:txBody>
        </p:sp>
        <p:sp>
          <p:nvSpPr>
            <p:cNvPr id="433173" name="Text Box 21"/>
            <p:cNvSpPr txBox="1">
              <a:spLocks noChangeArrowheads="1"/>
            </p:cNvSpPr>
            <p:nvPr/>
          </p:nvSpPr>
          <p:spPr bwMode="auto">
            <a:xfrm>
              <a:off x="5387" y="4032"/>
              <a:ext cx="269" cy="288"/>
            </a:xfrm>
            <a:prstGeom prst="rect">
              <a:avLst/>
            </a:prstGeom>
            <a:noFill/>
            <a:ln w="9525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>
              <a:spAutoFit/>
            </a:bodyPr>
            <a:lstStyle/>
            <a:p>
              <a:pPr eaLnBrk="0" hangingPunct="0">
                <a:defRPr/>
              </a:pPr>
              <a:r>
                <a:rPr lang="en-US" sz="2400" i="1">
                  <a:effectLst>
                    <a:outerShdw blurRad="38100" dist="38100" dir="2700000" algn="tl">
                      <a:srgbClr val="C0C0C0"/>
                    </a:outerShdw>
                  </a:effectLst>
                  <a:latin typeface="Arial Black" pitchFamily="34" charset="0"/>
                </a:rPr>
                <a:t>x</a:t>
              </a:r>
              <a:endParaRPr lang="en-US" sz="2400" i="1">
                <a:effectLst>
                  <a:outerShdw blurRad="38100" dist="38100" dir="2700000" algn="tl">
                    <a:srgbClr val="C0C0C0"/>
                  </a:outerShdw>
                </a:effectLst>
              </a:endParaRPr>
            </a:p>
          </p:txBody>
        </p:sp>
        <p:sp>
          <p:nvSpPr>
            <p:cNvPr id="45070" name="Freeform 22"/>
            <p:cNvSpPr>
              <a:spLocks/>
            </p:cNvSpPr>
            <p:nvPr/>
          </p:nvSpPr>
          <p:spPr bwMode="auto">
            <a:xfrm>
              <a:off x="3498" y="3444"/>
              <a:ext cx="1730" cy="534"/>
            </a:xfrm>
            <a:custGeom>
              <a:avLst/>
              <a:gdLst>
                <a:gd name="T0" fmla="*/ 2147483647 w 272"/>
                <a:gd name="T1" fmla="*/ 12755434 h 168"/>
                <a:gd name="T2" fmla="*/ 2147483647 w 272"/>
                <a:gd name="T3" fmla="*/ 1062304 h 168"/>
                <a:gd name="T4" fmla="*/ 2147483647 w 272"/>
                <a:gd name="T5" fmla="*/ 0 h 168"/>
                <a:gd name="T6" fmla="*/ 2147483647 w 272"/>
                <a:gd name="T7" fmla="*/ 0 h 168"/>
                <a:gd name="T8" fmla="*/ 2147483647 w 272"/>
                <a:gd name="T9" fmla="*/ 0 h 168"/>
                <a:gd name="T10" fmla="*/ 2147483647 w 272"/>
                <a:gd name="T11" fmla="*/ 4303678 h 168"/>
                <a:gd name="T12" fmla="*/ 2147483647 w 272"/>
                <a:gd name="T13" fmla="*/ 46827880 h 168"/>
                <a:gd name="T14" fmla="*/ 2147483647 w 272"/>
                <a:gd name="T15" fmla="*/ 157286795 h 168"/>
                <a:gd name="T16" fmla="*/ 2147483647 w 272"/>
                <a:gd name="T17" fmla="*/ 175375148 h 168"/>
                <a:gd name="T18" fmla="*/ 2147483647 w 272"/>
                <a:gd name="T19" fmla="*/ 178647601 h 168"/>
                <a:gd name="T20" fmla="*/ 2147483647 w 272"/>
                <a:gd name="T21" fmla="*/ 178647601 h 168"/>
                <a:gd name="T22" fmla="*/ 2147483647 w 272"/>
                <a:gd name="T23" fmla="*/ 178647601 h 168"/>
                <a:gd name="T24" fmla="*/ 2147483647 w 272"/>
                <a:gd name="T25" fmla="*/ 171300475 h 168"/>
                <a:gd name="T26" fmla="*/ 2147483647 w 272"/>
                <a:gd name="T27" fmla="*/ 88328984 h 168"/>
                <a:gd name="T28" fmla="*/ 2147483647 w 272"/>
                <a:gd name="T29" fmla="*/ 12755434 h 168"/>
                <a:gd name="T30" fmla="*/ 2147483647 w 272"/>
                <a:gd name="T31" fmla="*/ 1062304 h 168"/>
                <a:gd name="T32" fmla="*/ 2147483647 w 272"/>
                <a:gd name="T33" fmla="*/ 0 h 168"/>
                <a:gd name="T34" fmla="*/ 2147483647 w 272"/>
                <a:gd name="T35" fmla="*/ 0 h 168"/>
                <a:gd name="T36" fmla="*/ 2147483647 w 272"/>
                <a:gd name="T37" fmla="*/ 1062304 h 168"/>
                <a:gd name="T38" fmla="*/ 2147483647 w 272"/>
                <a:gd name="T39" fmla="*/ 12755434 h 168"/>
                <a:gd name="T40" fmla="*/ 2147483647 w 272"/>
                <a:gd name="T41" fmla="*/ 131819480 h 168"/>
                <a:gd name="T42" fmla="*/ 2147483647 w 272"/>
                <a:gd name="T43" fmla="*/ 172320364 h 168"/>
                <a:gd name="T44" fmla="*/ 2147483647 w 272"/>
                <a:gd name="T45" fmla="*/ 177686299 h 168"/>
                <a:gd name="T46" fmla="*/ 2147483647 w 272"/>
                <a:gd name="T47" fmla="*/ 178647601 h 168"/>
                <a:gd name="T48" fmla="*/ 2147483647 w 272"/>
                <a:gd name="T49" fmla="*/ 178647601 h 168"/>
                <a:gd name="T50" fmla="*/ 2147483647 w 272"/>
                <a:gd name="T51" fmla="*/ 176667530 h 168"/>
                <a:gd name="T52" fmla="*/ 2147483647 w 272"/>
                <a:gd name="T53" fmla="*/ 150959863 h 168"/>
                <a:gd name="T54" fmla="*/ 2147483647 w 272"/>
                <a:gd name="T55" fmla="*/ 39481746 h 168"/>
                <a:gd name="T56" fmla="*/ 2147483647 w 272"/>
                <a:gd name="T57" fmla="*/ 5365883 h 168"/>
                <a:gd name="T58" fmla="*/ 2147483647 w 272"/>
                <a:gd name="T59" fmla="*/ 1062304 h 168"/>
                <a:gd name="T60" fmla="*/ 2147483647 w 272"/>
                <a:gd name="T61" fmla="*/ 0 h 168"/>
                <a:gd name="T62" fmla="*/ 2147483647 w 272"/>
                <a:gd name="T63" fmla="*/ 0 h 168"/>
                <a:gd name="T64" fmla="*/ 2147483647 w 272"/>
                <a:gd name="T65" fmla="*/ 1062304 h 168"/>
                <a:gd name="T66" fmla="*/ 2147483647 w 272"/>
                <a:gd name="T67" fmla="*/ 12755434 h 168"/>
                <a:gd name="T68" fmla="*/ 2147483647 w 272"/>
                <a:gd name="T69" fmla="*/ 117074779 h 168"/>
                <a:gd name="T70" fmla="*/ 2147483647 w 272"/>
                <a:gd name="T71" fmla="*/ 168976712 h 168"/>
                <a:gd name="T72" fmla="*/ 2147483647 w 272"/>
                <a:gd name="T73" fmla="*/ 177686299 h 168"/>
                <a:gd name="T74" fmla="*/ 2147483647 w 272"/>
                <a:gd name="T75" fmla="*/ 178647601 h 168"/>
                <a:gd name="T76" fmla="*/ 2147483647 w 272"/>
                <a:gd name="T77" fmla="*/ 178647601 h 168"/>
                <a:gd name="T78" fmla="*/ 2147483647 w 272"/>
                <a:gd name="T79" fmla="*/ 176667530 h 168"/>
                <a:gd name="T80" fmla="*/ 2147483647 w 272"/>
                <a:gd name="T81" fmla="*/ 150959863 h 168"/>
                <a:gd name="T82" fmla="*/ 2147483647 w 272"/>
                <a:gd name="T83" fmla="*/ 27788905 h 168"/>
                <a:gd name="T84" fmla="*/ 2147483647 w 272"/>
                <a:gd name="T85" fmla="*/ 4303678 h 168"/>
                <a:gd name="T86" fmla="*/ 2147483647 w 272"/>
                <a:gd name="T87" fmla="*/ 0 h 168"/>
                <a:gd name="T88" fmla="*/ 2147483647 w 272"/>
                <a:gd name="T89" fmla="*/ 0 h 168"/>
                <a:gd name="T90" fmla="*/ 2147483647 w 272"/>
                <a:gd name="T91" fmla="*/ 0 h 168"/>
                <a:gd name="T92" fmla="*/ 2147483647 w 272"/>
                <a:gd name="T93" fmla="*/ 4303678 h 168"/>
                <a:gd name="T94" fmla="*/ 2147483647 w 272"/>
                <a:gd name="T95" fmla="*/ 43481379 h 168"/>
                <a:gd name="T96" fmla="*/ 2147483647 w 272"/>
                <a:gd name="T97" fmla="*/ 159607405 h 168"/>
                <a:gd name="T98" fmla="*/ 2147483647 w 272"/>
                <a:gd name="T99" fmla="*/ 176667530 h 168"/>
                <a:gd name="T100" fmla="*/ 2147483647 w 272"/>
                <a:gd name="T101" fmla="*/ 178647601 h 168"/>
                <a:gd name="T102" fmla="*/ 2147483647 w 272"/>
                <a:gd name="T103" fmla="*/ 178647601 h 168"/>
                <a:gd name="T104" fmla="*/ 2147483647 w 272"/>
                <a:gd name="T105" fmla="*/ 177686299 h 168"/>
                <a:gd name="T106" fmla="*/ 2147483647 w 272"/>
                <a:gd name="T107" fmla="*/ 166954429 h 168"/>
                <a:gd name="T108" fmla="*/ 2147483647 w 272"/>
                <a:gd name="T109" fmla="*/ 89390423 h 168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w 272"/>
                <a:gd name="T166" fmla="*/ 0 h 168"/>
                <a:gd name="T167" fmla="*/ 272 w 272"/>
                <a:gd name="T168" fmla="*/ 168 h 168"/>
              </a:gdLst>
              <a:ahLst/>
              <a:cxnLst>
                <a:cxn ang="T110">
                  <a:pos x="T0" y="T1"/>
                </a:cxn>
                <a:cxn ang="T111">
                  <a:pos x="T2" y="T3"/>
                </a:cxn>
                <a:cxn ang="T112">
                  <a:pos x="T4" y="T5"/>
                </a:cxn>
                <a:cxn ang="T113">
                  <a:pos x="T6" y="T7"/>
                </a:cxn>
                <a:cxn ang="T114">
                  <a:pos x="T8" y="T9"/>
                </a:cxn>
                <a:cxn ang="T115">
                  <a:pos x="T10" y="T11"/>
                </a:cxn>
                <a:cxn ang="T116">
                  <a:pos x="T12" y="T13"/>
                </a:cxn>
                <a:cxn ang="T117">
                  <a:pos x="T14" y="T15"/>
                </a:cxn>
                <a:cxn ang="T118">
                  <a:pos x="T16" y="T17"/>
                </a:cxn>
                <a:cxn ang="T119">
                  <a:pos x="T18" y="T19"/>
                </a:cxn>
                <a:cxn ang="T120">
                  <a:pos x="T20" y="T21"/>
                </a:cxn>
                <a:cxn ang="T121">
                  <a:pos x="T22" y="T23"/>
                </a:cxn>
                <a:cxn ang="T122">
                  <a:pos x="T24" y="T25"/>
                </a:cxn>
                <a:cxn ang="T123">
                  <a:pos x="T26" y="T27"/>
                </a:cxn>
                <a:cxn ang="T124">
                  <a:pos x="T28" y="T29"/>
                </a:cxn>
                <a:cxn ang="T125">
                  <a:pos x="T30" y="T31"/>
                </a:cxn>
                <a:cxn ang="T126">
                  <a:pos x="T32" y="T33"/>
                </a:cxn>
                <a:cxn ang="T127">
                  <a:pos x="T34" y="T35"/>
                </a:cxn>
                <a:cxn ang="T128">
                  <a:pos x="T36" y="T37"/>
                </a:cxn>
                <a:cxn ang="T129">
                  <a:pos x="T38" y="T39"/>
                </a:cxn>
                <a:cxn ang="T130">
                  <a:pos x="T40" y="T41"/>
                </a:cxn>
                <a:cxn ang="T131">
                  <a:pos x="T42" y="T43"/>
                </a:cxn>
                <a:cxn ang="T132">
                  <a:pos x="T44" y="T45"/>
                </a:cxn>
                <a:cxn ang="T133">
                  <a:pos x="T46" y="T47"/>
                </a:cxn>
                <a:cxn ang="T134">
                  <a:pos x="T48" y="T49"/>
                </a:cxn>
                <a:cxn ang="T135">
                  <a:pos x="T50" y="T51"/>
                </a:cxn>
                <a:cxn ang="T136">
                  <a:pos x="T52" y="T53"/>
                </a:cxn>
                <a:cxn ang="T137">
                  <a:pos x="T54" y="T55"/>
                </a:cxn>
                <a:cxn ang="T138">
                  <a:pos x="T56" y="T57"/>
                </a:cxn>
                <a:cxn ang="T139">
                  <a:pos x="T58" y="T59"/>
                </a:cxn>
                <a:cxn ang="T140">
                  <a:pos x="T60" y="T61"/>
                </a:cxn>
                <a:cxn ang="T141">
                  <a:pos x="T62" y="T63"/>
                </a:cxn>
                <a:cxn ang="T142">
                  <a:pos x="T64" y="T65"/>
                </a:cxn>
                <a:cxn ang="T143">
                  <a:pos x="T66" y="T67"/>
                </a:cxn>
                <a:cxn ang="T144">
                  <a:pos x="T68" y="T69"/>
                </a:cxn>
                <a:cxn ang="T145">
                  <a:pos x="T70" y="T71"/>
                </a:cxn>
                <a:cxn ang="T146">
                  <a:pos x="T72" y="T73"/>
                </a:cxn>
                <a:cxn ang="T147">
                  <a:pos x="T74" y="T75"/>
                </a:cxn>
                <a:cxn ang="T148">
                  <a:pos x="T76" y="T77"/>
                </a:cxn>
                <a:cxn ang="T149">
                  <a:pos x="T78" y="T79"/>
                </a:cxn>
                <a:cxn ang="T150">
                  <a:pos x="T80" y="T81"/>
                </a:cxn>
                <a:cxn ang="T151">
                  <a:pos x="T82" y="T83"/>
                </a:cxn>
                <a:cxn ang="T152">
                  <a:pos x="T84" y="T85"/>
                </a:cxn>
                <a:cxn ang="T153">
                  <a:pos x="T86" y="T87"/>
                </a:cxn>
                <a:cxn ang="T154">
                  <a:pos x="T88" y="T89"/>
                </a:cxn>
                <a:cxn ang="T155">
                  <a:pos x="T90" y="T91"/>
                </a:cxn>
                <a:cxn ang="T156">
                  <a:pos x="T92" y="T93"/>
                </a:cxn>
                <a:cxn ang="T157">
                  <a:pos x="T94" y="T95"/>
                </a:cxn>
                <a:cxn ang="T158">
                  <a:pos x="T96" y="T97"/>
                </a:cxn>
                <a:cxn ang="T159">
                  <a:pos x="T98" y="T99"/>
                </a:cxn>
                <a:cxn ang="T160">
                  <a:pos x="T100" y="T101"/>
                </a:cxn>
                <a:cxn ang="T161">
                  <a:pos x="T102" y="T103"/>
                </a:cxn>
                <a:cxn ang="T162">
                  <a:pos x="T104" y="T105"/>
                </a:cxn>
                <a:cxn ang="T163">
                  <a:pos x="T106" y="T107"/>
                </a:cxn>
                <a:cxn ang="T164">
                  <a:pos x="T108" y="T109"/>
                </a:cxn>
              </a:cxnLst>
              <a:rect l="T165" t="T166" r="T167" b="T168"/>
              <a:pathLst>
                <a:path w="272" h="168">
                  <a:moveTo>
                    <a:pt x="0" y="84"/>
                  </a:moveTo>
                  <a:lnTo>
                    <a:pt x="5" y="44"/>
                  </a:lnTo>
                  <a:lnTo>
                    <a:pt x="8" y="27"/>
                  </a:lnTo>
                  <a:lnTo>
                    <a:pt x="11" y="12"/>
                  </a:lnTo>
                  <a:lnTo>
                    <a:pt x="12" y="7"/>
                  </a:lnTo>
                  <a:lnTo>
                    <a:pt x="14" y="3"/>
                  </a:lnTo>
                  <a:lnTo>
                    <a:pt x="14" y="2"/>
                  </a:lnTo>
                  <a:lnTo>
                    <a:pt x="15" y="1"/>
                  </a:lnTo>
                  <a:lnTo>
                    <a:pt x="15" y="0"/>
                  </a:lnTo>
                  <a:lnTo>
                    <a:pt x="16" y="0"/>
                  </a:lnTo>
                  <a:lnTo>
                    <a:pt x="17" y="0"/>
                  </a:lnTo>
                  <a:lnTo>
                    <a:pt x="18" y="0"/>
                  </a:lnTo>
                  <a:lnTo>
                    <a:pt x="18" y="1"/>
                  </a:lnTo>
                  <a:lnTo>
                    <a:pt x="19" y="1"/>
                  </a:lnTo>
                  <a:lnTo>
                    <a:pt x="20" y="3"/>
                  </a:lnTo>
                  <a:lnTo>
                    <a:pt x="20" y="4"/>
                  </a:lnTo>
                  <a:lnTo>
                    <a:pt x="21" y="7"/>
                  </a:lnTo>
                  <a:lnTo>
                    <a:pt x="23" y="13"/>
                  </a:lnTo>
                  <a:lnTo>
                    <a:pt x="26" y="27"/>
                  </a:lnTo>
                  <a:lnTo>
                    <a:pt x="28" y="44"/>
                  </a:lnTo>
                  <a:lnTo>
                    <a:pt x="34" y="89"/>
                  </a:lnTo>
                  <a:lnTo>
                    <a:pt x="37" y="111"/>
                  </a:lnTo>
                  <a:lnTo>
                    <a:pt x="40" y="132"/>
                  </a:lnTo>
                  <a:lnTo>
                    <a:pt x="43" y="148"/>
                  </a:lnTo>
                  <a:lnTo>
                    <a:pt x="45" y="154"/>
                  </a:lnTo>
                  <a:lnTo>
                    <a:pt x="46" y="159"/>
                  </a:lnTo>
                  <a:lnTo>
                    <a:pt x="47" y="163"/>
                  </a:lnTo>
                  <a:lnTo>
                    <a:pt x="48" y="165"/>
                  </a:lnTo>
                  <a:lnTo>
                    <a:pt x="48" y="166"/>
                  </a:lnTo>
                  <a:lnTo>
                    <a:pt x="49" y="167"/>
                  </a:lnTo>
                  <a:lnTo>
                    <a:pt x="50" y="168"/>
                  </a:lnTo>
                  <a:lnTo>
                    <a:pt x="51" y="168"/>
                  </a:lnTo>
                  <a:lnTo>
                    <a:pt x="52" y="168"/>
                  </a:lnTo>
                  <a:lnTo>
                    <a:pt x="52" y="167"/>
                  </a:lnTo>
                  <a:lnTo>
                    <a:pt x="53" y="166"/>
                  </a:lnTo>
                  <a:lnTo>
                    <a:pt x="54" y="165"/>
                  </a:lnTo>
                  <a:lnTo>
                    <a:pt x="55" y="161"/>
                  </a:lnTo>
                  <a:lnTo>
                    <a:pt x="57" y="156"/>
                  </a:lnTo>
                  <a:lnTo>
                    <a:pt x="60" y="141"/>
                  </a:lnTo>
                  <a:lnTo>
                    <a:pt x="63" y="123"/>
                  </a:lnTo>
                  <a:lnTo>
                    <a:pt x="68" y="83"/>
                  </a:lnTo>
                  <a:lnTo>
                    <a:pt x="73" y="44"/>
                  </a:lnTo>
                  <a:lnTo>
                    <a:pt x="76" y="25"/>
                  </a:lnTo>
                  <a:lnTo>
                    <a:pt x="78" y="18"/>
                  </a:lnTo>
                  <a:lnTo>
                    <a:pt x="79" y="12"/>
                  </a:lnTo>
                  <a:lnTo>
                    <a:pt x="80" y="7"/>
                  </a:lnTo>
                  <a:lnTo>
                    <a:pt x="82" y="3"/>
                  </a:lnTo>
                  <a:lnTo>
                    <a:pt x="83" y="2"/>
                  </a:lnTo>
                  <a:lnTo>
                    <a:pt x="83" y="1"/>
                  </a:lnTo>
                  <a:lnTo>
                    <a:pt x="84" y="0"/>
                  </a:lnTo>
                  <a:lnTo>
                    <a:pt x="85" y="0"/>
                  </a:lnTo>
                  <a:lnTo>
                    <a:pt x="86" y="0"/>
                  </a:lnTo>
                  <a:lnTo>
                    <a:pt x="87" y="1"/>
                  </a:lnTo>
                  <a:lnTo>
                    <a:pt x="88" y="3"/>
                  </a:lnTo>
                  <a:lnTo>
                    <a:pt x="88" y="4"/>
                  </a:lnTo>
                  <a:lnTo>
                    <a:pt x="89" y="7"/>
                  </a:lnTo>
                  <a:lnTo>
                    <a:pt x="91" y="12"/>
                  </a:lnTo>
                  <a:lnTo>
                    <a:pt x="93" y="25"/>
                  </a:lnTo>
                  <a:lnTo>
                    <a:pt x="96" y="43"/>
                  </a:lnTo>
                  <a:lnTo>
                    <a:pt x="102" y="82"/>
                  </a:lnTo>
                  <a:lnTo>
                    <a:pt x="107" y="124"/>
                  </a:lnTo>
                  <a:lnTo>
                    <a:pt x="110" y="143"/>
                  </a:lnTo>
                  <a:lnTo>
                    <a:pt x="112" y="151"/>
                  </a:lnTo>
                  <a:lnTo>
                    <a:pt x="113" y="158"/>
                  </a:lnTo>
                  <a:lnTo>
                    <a:pt x="115" y="162"/>
                  </a:lnTo>
                  <a:lnTo>
                    <a:pt x="116" y="164"/>
                  </a:lnTo>
                  <a:lnTo>
                    <a:pt x="116" y="166"/>
                  </a:lnTo>
                  <a:lnTo>
                    <a:pt x="117" y="167"/>
                  </a:lnTo>
                  <a:lnTo>
                    <a:pt x="118" y="168"/>
                  </a:lnTo>
                  <a:lnTo>
                    <a:pt x="119" y="168"/>
                  </a:lnTo>
                  <a:lnTo>
                    <a:pt x="120" y="168"/>
                  </a:lnTo>
                  <a:lnTo>
                    <a:pt x="121" y="167"/>
                  </a:lnTo>
                  <a:lnTo>
                    <a:pt x="121" y="166"/>
                  </a:lnTo>
                  <a:lnTo>
                    <a:pt x="122" y="165"/>
                  </a:lnTo>
                  <a:lnTo>
                    <a:pt x="123" y="161"/>
                  </a:lnTo>
                  <a:lnTo>
                    <a:pt x="125" y="156"/>
                  </a:lnTo>
                  <a:lnTo>
                    <a:pt x="128" y="142"/>
                  </a:lnTo>
                  <a:lnTo>
                    <a:pt x="131" y="125"/>
                  </a:lnTo>
                  <a:lnTo>
                    <a:pt x="137" y="80"/>
                  </a:lnTo>
                  <a:lnTo>
                    <a:pt x="139" y="58"/>
                  </a:lnTo>
                  <a:lnTo>
                    <a:pt x="142" y="37"/>
                  </a:lnTo>
                  <a:lnTo>
                    <a:pt x="145" y="20"/>
                  </a:lnTo>
                  <a:lnTo>
                    <a:pt x="147" y="14"/>
                  </a:lnTo>
                  <a:lnTo>
                    <a:pt x="148" y="9"/>
                  </a:lnTo>
                  <a:lnTo>
                    <a:pt x="149" y="5"/>
                  </a:lnTo>
                  <a:lnTo>
                    <a:pt x="150" y="3"/>
                  </a:lnTo>
                  <a:lnTo>
                    <a:pt x="151" y="2"/>
                  </a:lnTo>
                  <a:lnTo>
                    <a:pt x="151" y="1"/>
                  </a:lnTo>
                  <a:lnTo>
                    <a:pt x="152" y="1"/>
                  </a:lnTo>
                  <a:lnTo>
                    <a:pt x="152" y="0"/>
                  </a:lnTo>
                  <a:lnTo>
                    <a:pt x="153" y="0"/>
                  </a:lnTo>
                  <a:lnTo>
                    <a:pt x="154" y="0"/>
                  </a:lnTo>
                  <a:lnTo>
                    <a:pt x="155" y="1"/>
                  </a:lnTo>
                  <a:lnTo>
                    <a:pt x="155" y="2"/>
                  </a:lnTo>
                  <a:lnTo>
                    <a:pt x="156" y="3"/>
                  </a:lnTo>
                  <a:lnTo>
                    <a:pt x="158" y="7"/>
                  </a:lnTo>
                  <a:lnTo>
                    <a:pt x="159" y="12"/>
                  </a:lnTo>
                  <a:lnTo>
                    <a:pt x="162" y="26"/>
                  </a:lnTo>
                  <a:lnTo>
                    <a:pt x="165" y="43"/>
                  </a:lnTo>
                  <a:lnTo>
                    <a:pt x="171" y="88"/>
                  </a:lnTo>
                  <a:lnTo>
                    <a:pt x="173" y="110"/>
                  </a:lnTo>
                  <a:lnTo>
                    <a:pt x="176" y="131"/>
                  </a:lnTo>
                  <a:lnTo>
                    <a:pt x="179" y="146"/>
                  </a:lnTo>
                  <a:lnTo>
                    <a:pt x="181" y="153"/>
                  </a:lnTo>
                  <a:lnTo>
                    <a:pt x="182" y="159"/>
                  </a:lnTo>
                  <a:lnTo>
                    <a:pt x="183" y="161"/>
                  </a:lnTo>
                  <a:lnTo>
                    <a:pt x="184" y="164"/>
                  </a:lnTo>
                  <a:lnTo>
                    <a:pt x="184" y="165"/>
                  </a:lnTo>
                  <a:lnTo>
                    <a:pt x="185" y="167"/>
                  </a:lnTo>
                  <a:lnTo>
                    <a:pt x="186" y="167"/>
                  </a:lnTo>
                  <a:lnTo>
                    <a:pt x="186" y="168"/>
                  </a:lnTo>
                  <a:lnTo>
                    <a:pt x="187" y="168"/>
                  </a:lnTo>
                  <a:lnTo>
                    <a:pt x="188" y="168"/>
                  </a:lnTo>
                  <a:lnTo>
                    <a:pt x="189" y="167"/>
                  </a:lnTo>
                  <a:lnTo>
                    <a:pt x="190" y="166"/>
                  </a:lnTo>
                  <a:lnTo>
                    <a:pt x="190" y="165"/>
                  </a:lnTo>
                  <a:lnTo>
                    <a:pt x="192" y="161"/>
                  </a:lnTo>
                  <a:lnTo>
                    <a:pt x="193" y="156"/>
                  </a:lnTo>
                  <a:lnTo>
                    <a:pt x="196" y="142"/>
                  </a:lnTo>
                  <a:lnTo>
                    <a:pt x="199" y="124"/>
                  </a:lnTo>
                  <a:lnTo>
                    <a:pt x="204" y="84"/>
                  </a:lnTo>
                  <a:lnTo>
                    <a:pt x="209" y="45"/>
                  </a:lnTo>
                  <a:lnTo>
                    <a:pt x="212" y="26"/>
                  </a:lnTo>
                  <a:lnTo>
                    <a:pt x="214" y="18"/>
                  </a:lnTo>
                  <a:lnTo>
                    <a:pt x="215" y="12"/>
                  </a:lnTo>
                  <a:lnTo>
                    <a:pt x="216" y="8"/>
                  </a:lnTo>
                  <a:lnTo>
                    <a:pt x="218" y="4"/>
                  </a:lnTo>
                  <a:lnTo>
                    <a:pt x="219" y="2"/>
                  </a:lnTo>
                  <a:lnTo>
                    <a:pt x="219" y="1"/>
                  </a:lnTo>
                  <a:lnTo>
                    <a:pt x="220" y="0"/>
                  </a:lnTo>
                  <a:lnTo>
                    <a:pt x="221" y="0"/>
                  </a:lnTo>
                  <a:lnTo>
                    <a:pt x="222" y="0"/>
                  </a:lnTo>
                  <a:lnTo>
                    <a:pt x="223" y="0"/>
                  </a:lnTo>
                  <a:lnTo>
                    <a:pt x="223" y="1"/>
                  </a:lnTo>
                  <a:lnTo>
                    <a:pt x="224" y="2"/>
                  </a:lnTo>
                  <a:lnTo>
                    <a:pt x="225" y="4"/>
                  </a:lnTo>
                  <a:lnTo>
                    <a:pt x="225" y="6"/>
                  </a:lnTo>
                  <a:lnTo>
                    <a:pt x="227" y="11"/>
                  </a:lnTo>
                  <a:lnTo>
                    <a:pt x="230" y="24"/>
                  </a:lnTo>
                  <a:lnTo>
                    <a:pt x="232" y="41"/>
                  </a:lnTo>
                  <a:lnTo>
                    <a:pt x="238" y="80"/>
                  </a:lnTo>
                  <a:lnTo>
                    <a:pt x="243" y="122"/>
                  </a:lnTo>
                  <a:lnTo>
                    <a:pt x="246" y="141"/>
                  </a:lnTo>
                  <a:lnTo>
                    <a:pt x="248" y="150"/>
                  </a:lnTo>
                  <a:lnTo>
                    <a:pt x="250" y="157"/>
                  </a:lnTo>
                  <a:lnTo>
                    <a:pt x="251" y="162"/>
                  </a:lnTo>
                  <a:lnTo>
                    <a:pt x="252" y="164"/>
                  </a:lnTo>
                  <a:lnTo>
                    <a:pt x="253" y="166"/>
                  </a:lnTo>
                  <a:lnTo>
                    <a:pt x="253" y="167"/>
                  </a:lnTo>
                  <a:lnTo>
                    <a:pt x="254" y="167"/>
                  </a:lnTo>
                  <a:lnTo>
                    <a:pt x="254" y="168"/>
                  </a:lnTo>
                  <a:lnTo>
                    <a:pt x="255" y="168"/>
                  </a:lnTo>
                  <a:lnTo>
                    <a:pt x="256" y="168"/>
                  </a:lnTo>
                  <a:lnTo>
                    <a:pt x="257" y="167"/>
                  </a:lnTo>
                  <a:lnTo>
                    <a:pt x="258" y="166"/>
                  </a:lnTo>
                  <a:lnTo>
                    <a:pt x="258" y="165"/>
                  </a:lnTo>
                  <a:lnTo>
                    <a:pt x="260" y="162"/>
                  </a:lnTo>
                  <a:lnTo>
                    <a:pt x="261" y="157"/>
                  </a:lnTo>
                  <a:lnTo>
                    <a:pt x="264" y="144"/>
                  </a:lnTo>
                  <a:lnTo>
                    <a:pt x="267" y="127"/>
                  </a:lnTo>
                  <a:lnTo>
                    <a:pt x="272" y="88"/>
                  </a:lnTo>
                  <a:lnTo>
                    <a:pt x="272" y="84"/>
                  </a:lnTo>
                </a:path>
              </a:pathLst>
            </a:custGeom>
            <a:noFill/>
            <a:ln w="57150">
              <a:solidFill>
                <a:schemeClr val="accent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3175" name="Text Box 23"/>
            <p:cNvSpPr txBox="1">
              <a:spLocks noChangeArrowheads="1"/>
            </p:cNvSpPr>
            <p:nvPr/>
          </p:nvSpPr>
          <p:spPr bwMode="auto">
            <a:xfrm>
              <a:off x="5375" y="3414"/>
              <a:ext cx="265" cy="288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0" hangingPunct="0">
                <a:defRPr/>
              </a:pPr>
              <a:r>
                <a:rPr lang="en-US" sz="2400">
                  <a:solidFill>
                    <a:schemeClr val="tx2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Arial Black" pitchFamily="34" charset="0"/>
                </a:rPr>
                <a:t>A</a:t>
              </a:r>
              <a:endParaRPr lang="en-US" sz="2400">
                <a:effectLst>
                  <a:outerShdw blurRad="38100" dist="38100" dir="2700000" algn="tl">
                    <a:srgbClr val="C0C0C0"/>
                  </a:outerShdw>
                </a:effectLst>
                <a:latin typeface="Arial Black" pitchFamily="34" charset="0"/>
              </a:endParaRPr>
            </a:p>
          </p:txBody>
        </p:sp>
        <p:sp>
          <p:nvSpPr>
            <p:cNvPr id="45072" name="Line 24"/>
            <p:cNvSpPr>
              <a:spLocks noChangeShapeType="1"/>
            </p:cNvSpPr>
            <p:nvPr/>
          </p:nvSpPr>
          <p:spPr bwMode="auto">
            <a:xfrm rot="16200000" flipH="1">
              <a:off x="5213" y="3566"/>
              <a:ext cx="267" cy="0"/>
            </a:xfrm>
            <a:prstGeom prst="line">
              <a:avLst/>
            </a:prstGeom>
            <a:noFill/>
            <a:ln w="57150">
              <a:solidFill>
                <a:schemeClr val="tx2"/>
              </a:solidFill>
              <a:round/>
              <a:headEnd type="triangle" w="med" len="sm"/>
              <a:tailEnd type="triangle" w="med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073" name="Line 25"/>
            <p:cNvSpPr>
              <a:spLocks noChangeShapeType="1"/>
            </p:cNvSpPr>
            <p:nvPr/>
          </p:nvSpPr>
          <p:spPr bwMode="auto">
            <a:xfrm>
              <a:off x="3488" y="3708"/>
              <a:ext cx="1963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074" name="Line 26"/>
            <p:cNvSpPr>
              <a:spLocks noChangeShapeType="1"/>
            </p:cNvSpPr>
            <p:nvPr/>
          </p:nvSpPr>
          <p:spPr bwMode="auto">
            <a:xfrm>
              <a:off x="4745" y="3421"/>
              <a:ext cx="677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prstDash val="sysDot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4996869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223.3.2.5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do we mean when we say “amplitude” for a sound wave?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maximum displacement from equilibrium of the molecule perpendicular to the wave direction.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maximum displacement of one air molecule from it’s equilibrium point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maximum distance an air particle travels</a:t>
            </a:r>
          </a:p>
          <a:p>
            <a:pPr marL="514350" indent="-514350">
              <a:buFont typeface="+mj-lt"/>
              <a:buAutoNum type="alphaLcParenR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5427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1694</Words>
  <Application>Microsoft Office PowerPoint</Application>
  <PresentationFormat>On-screen Show (4:3)</PresentationFormat>
  <Paragraphs>344</Paragraphs>
  <Slides>58</Slides>
  <Notes>3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6" baseType="lpstr">
      <vt:lpstr>Arial</vt:lpstr>
      <vt:lpstr>Arial Black</vt:lpstr>
      <vt:lpstr>Calibri</vt:lpstr>
      <vt:lpstr>Cambria Math</vt:lpstr>
      <vt:lpstr>Symbol</vt:lpstr>
      <vt:lpstr>Tahoma</vt:lpstr>
      <vt:lpstr>Office Theme</vt:lpstr>
      <vt:lpstr>Equation</vt:lpstr>
      <vt:lpstr>Lecture 5</vt:lpstr>
      <vt:lpstr>Sinusoidal Waves</vt:lpstr>
      <vt:lpstr>Question 223.3.1</vt:lpstr>
      <vt:lpstr>Amplitude and Wavelength</vt:lpstr>
      <vt:lpstr>PowerPoint Presentation</vt:lpstr>
      <vt:lpstr>Wavelength and Period</vt:lpstr>
      <vt:lpstr>Frequency</vt:lpstr>
      <vt:lpstr>Frequency, cont</vt:lpstr>
      <vt:lpstr>PowerPoint Presentation</vt:lpstr>
      <vt:lpstr>PowerPoint Presentation</vt:lpstr>
      <vt:lpstr>Question 223.3.4</vt:lpstr>
      <vt:lpstr>Question 223.3.5</vt:lpstr>
      <vt:lpstr>Question 223.3.6</vt:lpstr>
      <vt:lpstr>Question 223.3.8</vt:lpstr>
      <vt:lpstr>Question 223.3.8</vt:lpstr>
      <vt:lpstr>Wavenumber</vt:lpstr>
      <vt:lpstr>Wavenumber</vt:lpstr>
      <vt:lpstr>PowerPoint Presentation</vt:lpstr>
      <vt:lpstr>PowerPoint Presentation</vt:lpstr>
      <vt:lpstr>PowerPoint Presentation</vt:lpstr>
      <vt:lpstr>Musical Rumble Strip Route 66</vt:lpstr>
      <vt:lpstr>Question 223.3.3</vt:lpstr>
      <vt:lpstr>PowerPoint Presentation</vt:lpstr>
      <vt:lpstr>PowerPoint Presentation</vt:lpstr>
      <vt:lpstr>Question 223.3.9</vt:lpstr>
      <vt:lpstr>PowerPoint Presentation</vt:lpstr>
      <vt:lpstr>PowerPoint Presentation</vt:lpstr>
      <vt:lpstr>END</vt:lpstr>
      <vt:lpstr>Question 223.4.0.1</vt:lpstr>
      <vt:lpstr>Question 223.4.0.2</vt:lpstr>
      <vt:lpstr>Question 223.4.0.3</vt:lpstr>
      <vt:lpstr>PowerPoint Presentation</vt:lpstr>
      <vt:lpstr>PowerPoint Presentation</vt:lpstr>
      <vt:lpstr>Wave Function</vt:lpstr>
      <vt:lpstr>PowerPoint Presentation</vt:lpstr>
      <vt:lpstr>PowerPoint Presentation</vt:lpstr>
      <vt:lpstr>PowerPoint Presentation</vt:lpstr>
      <vt:lpstr>Question 223.4.2</vt:lpstr>
      <vt:lpstr>Question 223.4.2</vt:lpstr>
      <vt:lpstr>Speed of Waves</vt:lpstr>
      <vt:lpstr>PowerPoint Presentation</vt:lpstr>
      <vt:lpstr>Forces on a Segment of String</vt:lpstr>
      <vt:lpstr>Forces on a Segment of String</vt:lpstr>
      <vt:lpstr>Forces on a Segment of String</vt:lpstr>
      <vt:lpstr>Forces on a Segment of String</vt:lpstr>
      <vt:lpstr>Forces on a Segment of String</vt:lpstr>
      <vt:lpstr>Question 223.4.3</vt:lpstr>
      <vt:lpstr>Question 223.4.4</vt:lpstr>
      <vt:lpstr>PowerPoint Presentation</vt:lpstr>
      <vt:lpstr>Question 223.4.4.5</vt:lpstr>
      <vt:lpstr>Question 223.4.4.1</vt:lpstr>
      <vt:lpstr>Question 223.4.4.2</vt:lpstr>
      <vt:lpstr>Question 223.4.4.3</vt:lpstr>
      <vt:lpstr>Frequency Response</vt:lpstr>
      <vt:lpstr>PowerPoint Presentation</vt:lpstr>
      <vt:lpstr>PowerPoint Presentation</vt:lpstr>
      <vt:lpstr>Question 223.3.2</vt:lpstr>
      <vt:lpstr>Question 223.3.2.5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13</cp:revision>
  <dcterms:created xsi:type="dcterms:W3CDTF">2011-09-12T21:35:14Z</dcterms:created>
  <dcterms:modified xsi:type="dcterms:W3CDTF">2026-04-23T21:26:00Z</dcterms:modified>
</cp:coreProperties>
</file>