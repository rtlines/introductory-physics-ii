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93" r:id="rId2"/>
    <p:sldId id="373" r:id="rId3"/>
    <p:sldId id="374" r:id="rId4"/>
    <p:sldId id="375" r:id="rId5"/>
    <p:sldId id="376" r:id="rId6"/>
    <p:sldId id="377" r:id="rId7"/>
    <p:sldId id="378" r:id="rId8"/>
    <p:sldId id="380" r:id="rId9"/>
    <p:sldId id="381" r:id="rId10"/>
    <p:sldId id="382" r:id="rId11"/>
    <p:sldId id="383" r:id="rId12"/>
    <p:sldId id="384" r:id="rId13"/>
    <p:sldId id="270" r:id="rId14"/>
    <p:sldId id="282" r:id="rId15"/>
    <p:sldId id="283" r:id="rId16"/>
    <p:sldId id="284" r:id="rId17"/>
    <p:sldId id="285" r:id="rId18"/>
    <p:sldId id="271" r:id="rId19"/>
    <p:sldId id="272" r:id="rId20"/>
    <p:sldId id="273" r:id="rId21"/>
    <p:sldId id="324" r:id="rId22"/>
    <p:sldId id="274" r:id="rId23"/>
    <p:sldId id="275" r:id="rId24"/>
    <p:sldId id="286" r:id="rId25"/>
    <p:sldId id="317" r:id="rId26"/>
    <p:sldId id="318" r:id="rId27"/>
    <p:sldId id="313" r:id="rId28"/>
    <p:sldId id="320" r:id="rId29"/>
    <p:sldId id="314" r:id="rId30"/>
    <p:sldId id="315" r:id="rId31"/>
    <p:sldId id="385" r:id="rId32"/>
    <p:sldId id="294" r:id="rId33"/>
    <p:sldId id="276" r:id="rId34"/>
    <p:sldId id="287" r:id="rId35"/>
    <p:sldId id="288" r:id="rId36"/>
    <p:sldId id="277" r:id="rId37"/>
    <p:sldId id="289" r:id="rId38"/>
    <p:sldId id="278" r:id="rId39"/>
    <p:sldId id="290" r:id="rId40"/>
    <p:sldId id="291" r:id="rId41"/>
    <p:sldId id="292" r:id="rId42"/>
    <p:sldId id="279" r:id="rId43"/>
    <p:sldId id="262" r:id="rId44"/>
    <p:sldId id="263" r:id="rId4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9C7A8-7265-40BC-BF0B-28D359BA5996}" v="29" dt="2026-02-17T19:10:55.2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2-17T19:11:00.910" v="76" actId="21"/>
      <pc:docMkLst>
        <pc:docMk/>
      </pc:docMkLst>
      <pc:sldChg chg="addSp delSp modSp mod">
        <pc:chgData name="Lines, Todd" userId="afaf7c3a-e8aa-4568-882a-02ad8f9e19b0" providerId="ADAL" clId="{5FF5AC1B-ABA9-43D7-A1E3-2D92732CD6E2}" dt="2026-02-17T19:06:27.974" v="39"/>
        <pc:sldMkLst>
          <pc:docMk/>
          <pc:sldMk cId="873789064" sldId="315"/>
        </pc:sldMkLst>
        <pc:spChg chg="add mod">
          <ac:chgData name="Lines, Todd" userId="afaf7c3a-e8aa-4568-882a-02ad8f9e19b0" providerId="ADAL" clId="{5FF5AC1B-ABA9-43D7-A1E3-2D92732CD6E2}" dt="2026-02-17T18:33:17.343" v="36" actId="1076"/>
          <ac:spMkLst>
            <pc:docMk/>
            <pc:sldMk cId="873789064" sldId="315"/>
            <ac:spMk id="4" creationId="{3BCC316E-14B1-061A-5D0E-93BD23D11A6A}"/>
          </ac:spMkLst>
        </pc:spChg>
        <pc:picChg chg="del mod">
          <ac:chgData name="Lines, Todd" userId="afaf7c3a-e8aa-4568-882a-02ad8f9e19b0" providerId="ADAL" clId="{5FF5AC1B-ABA9-43D7-A1E3-2D92732CD6E2}" dt="2026-02-17T19:00:37.240" v="38" actId="21"/>
          <ac:picMkLst>
            <pc:docMk/>
            <pc:sldMk cId="873789064" sldId="315"/>
            <ac:picMk id="12" creationId="{36B847ED-0F67-EA6E-7867-760A4F23BADA}"/>
          </ac:picMkLst>
        </pc:picChg>
        <pc:picChg chg="add mod">
          <ac:chgData name="Lines, Todd" userId="afaf7c3a-e8aa-4568-882a-02ad8f9e19b0" providerId="ADAL" clId="{5FF5AC1B-ABA9-43D7-A1E3-2D92732CD6E2}" dt="2026-02-17T19:06:27.974" v="39"/>
          <ac:picMkLst>
            <pc:docMk/>
            <pc:sldMk cId="873789064" sldId="315"/>
            <ac:picMk id="15" creationId="{36B847ED-0F67-EA6E-7867-760A4F23BADA}"/>
          </ac:picMkLst>
        </pc:picChg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2745865935" sldId="373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4174033270" sldId="374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1330426859" sldId="375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3179350182" sldId="376"/>
        </pc:sldMkLst>
      </pc:sldChg>
      <pc:sldChg chg="addSp delSp modSp add mod">
        <pc:chgData name="Lines, Todd" userId="afaf7c3a-e8aa-4568-882a-02ad8f9e19b0" providerId="ADAL" clId="{5FF5AC1B-ABA9-43D7-A1E3-2D92732CD6E2}" dt="2026-02-17T17:48:07.024" v="34" actId="1076"/>
        <pc:sldMkLst>
          <pc:docMk/>
          <pc:sldMk cId="653680892" sldId="377"/>
        </pc:sldMkLst>
        <pc:spChg chg="add del mod">
          <ac:chgData name="Lines, Todd" userId="afaf7c3a-e8aa-4568-882a-02ad8f9e19b0" providerId="ADAL" clId="{5FF5AC1B-ABA9-43D7-A1E3-2D92732CD6E2}" dt="2026-02-17T17:45:02.048" v="10" actId="478"/>
          <ac:spMkLst>
            <pc:docMk/>
            <pc:sldMk cId="653680892" sldId="377"/>
            <ac:spMk id="3" creationId="{09E01B28-CB67-A01E-9A48-F18918773E6B}"/>
          </ac:spMkLst>
        </pc:spChg>
        <pc:spChg chg="add mod">
          <ac:chgData name="Lines, Todd" userId="afaf7c3a-e8aa-4568-882a-02ad8f9e19b0" providerId="ADAL" clId="{5FF5AC1B-ABA9-43D7-A1E3-2D92732CD6E2}" dt="2026-02-17T17:47:16.158" v="27" actId="1035"/>
          <ac:spMkLst>
            <pc:docMk/>
            <pc:sldMk cId="653680892" sldId="377"/>
            <ac:spMk id="5" creationId="{F2AD214E-C362-4A73-0ADE-08F9C7454802}"/>
          </ac:spMkLst>
        </pc:spChg>
        <pc:spChg chg="add mod">
          <ac:chgData name="Lines, Todd" userId="afaf7c3a-e8aa-4568-882a-02ad8f9e19b0" providerId="ADAL" clId="{5FF5AC1B-ABA9-43D7-A1E3-2D92732CD6E2}" dt="2026-02-17T17:48:07.024" v="34" actId="1076"/>
          <ac:spMkLst>
            <pc:docMk/>
            <pc:sldMk cId="653680892" sldId="377"/>
            <ac:spMk id="7" creationId="{09681BFE-C5CE-A222-F010-FEC4215C469B}"/>
          </ac:spMkLst>
        </pc:spChg>
        <pc:spChg chg="del mod">
          <ac:chgData name="Lines, Todd" userId="afaf7c3a-e8aa-4568-882a-02ad8f9e19b0" providerId="ADAL" clId="{5FF5AC1B-ABA9-43D7-A1E3-2D92732CD6E2}" dt="2026-02-17T17:44:39.199" v="2" actId="478"/>
          <ac:spMkLst>
            <pc:docMk/>
            <pc:sldMk cId="653680892" sldId="377"/>
            <ac:spMk id="28676" creationId="{00000000-0000-0000-0000-000000000000}"/>
          </ac:spMkLst>
        </pc:spChg>
        <pc:picChg chg="add del mod">
          <ac:chgData name="Lines, Todd" userId="afaf7c3a-e8aa-4568-882a-02ad8f9e19b0" providerId="ADAL" clId="{5FF5AC1B-ABA9-43D7-A1E3-2D92732CD6E2}" dt="2026-02-17T17:45:13.753" v="14" actId="478"/>
          <ac:picMkLst>
            <pc:docMk/>
            <pc:sldMk cId="653680892" sldId="377"/>
            <ac:picMk id="1026" creationId="{CBC53A2A-2DEC-F598-50D1-EC464BDE3130}"/>
          </ac:picMkLst>
        </pc:picChg>
        <pc:picChg chg="add mod">
          <ac:chgData name="Lines, Todd" userId="afaf7c3a-e8aa-4568-882a-02ad8f9e19b0" providerId="ADAL" clId="{5FF5AC1B-ABA9-43D7-A1E3-2D92732CD6E2}" dt="2026-02-17T17:46:40.893" v="21" actId="1076"/>
          <ac:picMkLst>
            <pc:docMk/>
            <pc:sldMk cId="653680892" sldId="377"/>
            <ac:picMk id="1028" creationId="{F999D2C5-627A-68AF-E3C4-4AB8F44CDB8F}"/>
          </ac:picMkLst>
        </pc:picChg>
        <pc:picChg chg="add mod">
          <ac:chgData name="Lines, Todd" userId="afaf7c3a-e8aa-4568-882a-02ad8f9e19b0" providerId="ADAL" clId="{5FF5AC1B-ABA9-43D7-A1E3-2D92732CD6E2}" dt="2026-02-17T17:46:44.775" v="22" actId="1076"/>
          <ac:picMkLst>
            <pc:docMk/>
            <pc:sldMk cId="653680892" sldId="377"/>
            <ac:picMk id="1030" creationId="{3BFB9750-3E64-C873-34D4-51A2A75695E0}"/>
          </ac:picMkLst>
        </pc:picChg>
        <pc:picChg chg="del">
          <ac:chgData name="Lines, Todd" userId="afaf7c3a-e8aa-4568-882a-02ad8f9e19b0" providerId="ADAL" clId="{5FF5AC1B-ABA9-43D7-A1E3-2D92732CD6E2}" dt="2026-02-17T17:44:56.535" v="7" actId="478"/>
          <ac:picMkLst>
            <pc:docMk/>
            <pc:sldMk cId="653680892" sldId="377"/>
            <ac:picMk id="28674" creationId="{00000000-0000-0000-0000-000000000000}"/>
          </ac:picMkLst>
        </pc:picChg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1780190630" sldId="378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2112717928" sldId="380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3249820034" sldId="381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206940518" sldId="382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0" sldId="383"/>
        </pc:sldMkLst>
      </pc:sldChg>
      <pc:sldChg chg="add">
        <pc:chgData name="Lines, Todd" userId="afaf7c3a-e8aa-4568-882a-02ad8f9e19b0" providerId="ADAL" clId="{5FF5AC1B-ABA9-43D7-A1E3-2D92732CD6E2}" dt="2026-02-17T17:40:56.776" v="0"/>
        <pc:sldMkLst>
          <pc:docMk/>
          <pc:sldMk cId="0" sldId="384"/>
        </pc:sldMkLst>
      </pc:sldChg>
      <pc:sldChg chg="addSp delSp modSp add mod">
        <pc:chgData name="Lines, Todd" userId="afaf7c3a-e8aa-4568-882a-02ad8f9e19b0" providerId="ADAL" clId="{5FF5AC1B-ABA9-43D7-A1E3-2D92732CD6E2}" dt="2026-02-17T19:11:00.910" v="76" actId="21"/>
        <pc:sldMkLst>
          <pc:docMk/>
          <pc:sldMk cId="855844419" sldId="385"/>
        </pc:sldMkLst>
        <pc:spChg chg="del">
          <ac:chgData name="Lines, Todd" userId="afaf7c3a-e8aa-4568-882a-02ad8f9e19b0" providerId="ADAL" clId="{5FF5AC1B-ABA9-43D7-A1E3-2D92732CD6E2}" dt="2026-02-17T19:10:44.985" v="74" actId="478"/>
          <ac:spMkLst>
            <pc:docMk/>
            <pc:sldMk cId="855844419" sldId="385"/>
            <ac:spMk id="6" creationId="{C2846985-35DB-E79E-4988-7C48858D41F7}"/>
          </ac:spMkLst>
        </pc:spChg>
        <pc:spChg chg="del">
          <ac:chgData name="Lines, Todd" userId="afaf7c3a-e8aa-4568-882a-02ad8f9e19b0" providerId="ADAL" clId="{5FF5AC1B-ABA9-43D7-A1E3-2D92732CD6E2}" dt="2026-02-17T19:10:23.899" v="70" actId="478"/>
          <ac:spMkLst>
            <pc:docMk/>
            <pc:sldMk cId="855844419" sldId="385"/>
            <ac:spMk id="11" creationId="{F79A119A-E9A4-1E5F-4902-935FB519A762}"/>
          </ac:spMkLst>
        </pc:spChg>
        <pc:spChg chg="add mod">
          <ac:chgData name="Lines, Todd" userId="afaf7c3a-e8aa-4568-882a-02ad8f9e19b0" providerId="ADAL" clId="{5FF5AC1B-ABA9-43D7-A1E3-2D92732CD6E2}" dt="2026-02-17T19:06:48.250" v="44" actId="2085"/>
          <ac:spMkLst>
            <pc:docMk/>
            <pc:sldMk cId="855844419" sldId="385"/>
            <ac:spMk id="12" creationId="{7A60A404-5F26-A6AB-FA92-97262AE6C916}"/>
          </ac:spMkLst>
        </pc:spChg>
        <pc:spChg chg="add mod">
          <ac:chgData name="Lines, Todd" userId="afaf7c3a-e8aa-4568-882a-02ad8f9e19b0" providerId="ADAL" clId="{5FF5AC1B-ABA9-43D7-A1E3-2D92732CD6E2}" dt="2026-02-17T19:08:21.822" v="61" actId="207"/>
          <ac:spMkLst>
            <pc:docMk/>
            <pc:sldMk cId="855844419" sldId="385"/>
            <ac:spMk id="22" creationId="{FF579F81-C611-AF56-9E16-81264727CD9E}"/>
          </ac:spMkLst>
        </pc:spChg>
        <pc:spChg chg="add mod">
          <ac:chgData name="Lines, Todd" userId="afaf7c3a-e8aa-4568-882a-02ad8f9e19b0" providerId="ADAL" clId="{5FF5AC1B-ABA9-43D7-A1E3-2D92732CD6E2}" dt="2026-02-17T19:10:03.798" v="69" actId="1076"/>
          <ac:spMkLst>
            <pc:docMk/>
            <pc:sldMk cId="855844419" sldId="385"/>
            <ac:spMk id="25" creationId="{2BEE2BAD-9820-2BD8-B7AC-ADC9829791B3}"/>
          </ac:spMkLst>
        </pc:spChg>
        <pc:picChg chg="mod">
          <ac:chgData name="Lines, Todd" userId="afaf7c3a-e8aa-4568-882a-02ad8f9e19b0" providerId="ADAL" clId="{5FF5AC1B-ABA9-43D7-A1E3-2D92732CD6E2}" dt="2026-02-17T19:10:40.613" v="73" actId="732"/>
          <ac:picMkLst>
            <pc:docMk/>
            <pc:sldMk cId="855844419" sldId="385"/>
            <ac:picMk id="5" creationId="{3DB73F6E-2D3E-AFFE-E838-25A499833C66}"/>
          </ac:picMkLst>
        </pc:picChg>
        <pc:picChg chg="del mod">
          <ac:chgData name="Lines, Todd" userId="afaf7c3a-e8aa-4568-882a-02ad8f9e19b0" providerId="ADAL" clId="{5FF5AC1B-ABA9-43D7-A1E3-2D92732CD6E2}" dt="2026-02-17T19:11:00.910" v="76" actId="21"/>
          <ac:picMkLst>
            <pc:docMk/>
            <pc:sldMk cId="855844419" sldId="385"/>
            <ac:picMk id="27" creationId="{3FDB90C5-9E17-2F00-0514-4866385FFA89}"/>
          </ac:picMkLst>
        </pc:picChg>
        <pc:cxnChg chg="del">
          <ac:chgData name="Lines, Todd" userId="afaf7c3a-e8aa-4568-882a-02ad8f9e19b0" providerId="ADAL" clId="{5FF5AC1B-ABA9-43D7-A1E3-2D92732CD6E2}" dt="2026-02-17T19:10:28.578" v="71" actId="478"/>
          <ac:cxnSpMkLst>
            <pc:docMk/>
            <pc:sldMk cId="855844419" sldId="385"/>
            <ac:cxnSpMk id="8" creationId="{960CBCFF-C368-B04E-501C-F96B403AE5C0}"/>
          </ac:cxnSpMkLst>
        </pc:cxnChg>
        <pc:cxnChg chg="mod ord">
          <ac:chgData name="Lines, Todd" userId="afaf7c3a-e8aa-4568-882a-02ad8f9e19b0" providerId="ADAL" clId="{5FF5AC1B-ABA9-43D7-A1E3-2D92732CD6E2}" dt="2026-02-17T19:10:32.834" v="72" actId="14100"/>
          <ac:cxnSpMkLst>
            <pc:docMk/>
            <pc:sldMk cId="855844419" sldId="385"/>
            <ac:cxnSpMk id="10" creationId="{F844211F-6B62-2DF3-155B-F8B55F40E33A}"/>
          </ac:cxnSpMkLst>
        </pc:cxnChg>
        <pc:cxnChg chg="del">
          <ac:chgData name="Lines, Todd" userId="afaf7c3a-e8aa-4568-882a-02ad8f9e19b0" providerId="ADAL" clId="{5FF5AC1B-ABA9-43D7-A1E3-2D92732CD6E2}" dt="2026-02-17T19:10:23.899" v="70" actId="478"/>
          <ac:cxnSpMkLst>
            <pc:docMk/>
            <pc:sldMk cId="855844419" sldId="385"/>
            <ac:cxnSpMk id="13" creationId="{DAE52538-65FB-5A4C-6AD7-415DFFAC1650}"/>
          </ac:cxnSpMkLst>
        </pc:cxnChg>
        <pc:cxnChg chg="add mod">
          <ac:chgData name="Lines, Todd" userId="afaf7c3a-e8aa-4568-882a-02ad8f9e19b0" providerId="ADAL" clId="{5FF5AC1B-ABA9-43D7-A1E3-2D92732CD6E2}" dt="2026-02-17T19:07:30.189" v="52" actId="14100"/>
          <ac:cxnSpMkLst>
            <pc:docMk/>
            <pc:sldMk cId="855844419" sldId="385"/>
            <ac:cxnSpMk id="16" creationId="{AF4B9E8A-D3D0-393B-0F3B-42C9C3E877D8}"/>
          </ac:cxnSpMkLst>
        </pc:cxnChg>
        <pc:cxnChg chg="add mod">
          <ac:chgData name="Lines, Todd" userId="afaf7c3a-e8aa-4568-882a-02ad8f9e19b0" providerId="ADAL" clId="{5FF5AC1B-ABA9-43D7-A1E3-2D92732CD6E2}" dt="2026-02-17T19:08:06.681" v="57" actId="1582"/>
          <ac:cxnSpMkLst>
            <pc:docMk/>
            <pc:sldMk cId="855844419" sldId="385"/>
            <ac:cxnSpMk id="21" creationId="{70E7C15F-4CD4-9C43-BD1D-D907E35AD5D9}"/>
          </ac:cxnSpMkLst>
        </pc:cxnChg>
        <pc:cxnChg chg="add mod">
          <ac:chgData name="Lines, Todd" userId="afaf7c3a-e8aa-4568-882a-02ad8f9e19b0" providerId="ADAL" clId="{5FF5AC1B-ABA9-43D7-A1E3-2D92732CD6E2}" dt="2026-02-17T19:08:41.501" v="66" actId="1582"/>
          <ac:cxnSpMkLst>
            <pc:docMk/>
            <pc:sldMk cId="855844419" sldId="385"/>
            <ac:cxnSpMk id="23" creationId="{3E42D5FE-1662-1927-3CF2-EC86929AF629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B61-E92B-448B-901B-F4BC73FBCE5B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7FEAC-7D78-4C92-B820-5C978C5ED1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761B540-B85A-48EC-9EF6-9AE02BDF169E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neuro4e-fig-11-02-0.jpg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20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9BA69C-0CAC-4F69-8A3E-75C9C4CFA572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neuro4e-box-11-a(2)-0.jpg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863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7FEAC-7D78-4C92-B820-5C978C5ED1B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31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6AD5-E8FB-07E6-2435-25E574DE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4A1A8-E14E-3C67-D656-E7FE86C5B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ECBC6-5A5E-2B4B-9284-5430EBF77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08844-9685-FE46-5A96-D5DC0A5DFF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7FEAC-7D78-4C92-B820-5C978C5ED1B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784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761B540-B85A-48EC-9EF6-9AE02BDF169E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neuro4e-fig-11-02-0.jpg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20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AFE06D5-8120-4702-8799-49873C1A47AF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neuro4e-box-11-a(1)-0.jpg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734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9BA69C-0CAC-4F69-8A3E-75C9C4CFA572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neuro4e-box-11-a(2)-0.jpg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863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Fall 2007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R. Todd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2AA56286-A981-4095-9D47-F7358FA48D0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18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20BF63-FE06-4C95-BA80-0CD72D356A6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User:Erin_Silversmith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CADF4-F559-BA3C-D698-6E1C146A74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20597-3A2F-FA81-A812-6BC1F5E529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176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522729-DB03-484C-B934-8304638AC9B4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84323" name="Text Box 2"/>
          <p:cNvSpPr txBox="1">
            <a:spLocks noChangeArrowheads="1"/>
          </p:cNvSpPr>
          <p:nvPr/>
        </p:nvSpPr>
        <p:spPr bwMode="auto">
          <a:xfrm>
            <a:off x="1714500" y="1143001"/>
            <a:ext cx="5715000" cy="27503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2700" dirty="0">
                <a:solidFill>
                  <a:schemeClr val="tx2"/>
                </a:solidFill>
              </a:rPr>
              <a:t>Question 223.18.1</a:t>
            </a:r>
          </a:p>
        </p:txBody>
      </p:sp>
      <p:sp>
        <p:nvSpPr>
          <p:cNvPr id="184324" name="Text Box 3"/>
          <p:cNvSpPr txBox="1">
            <a:spLocks noChangeArrowheads="1"/>
          </p:cNvSpPr>
          <p:nvPr/>
        </p:nvSpPr>
        <p:spPr bwMode="auto">
          <a:xfrm>
            <a:off x="1714500" y="1828800"/>
            <a:ext cx="5715000" cy="24468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57175" indent="-257175">
              <a:spcBef>
                <a:spcPct val="50000"/>
              </a:spcBef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Two campers wish to start a fire during the day. One camper is nearsighted and one is farsighted. Whose glasses should be used to focus the Sun’s rays onto some paper to start the fire?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either camper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nearsighted camper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farsighted camper</a:t>
            </a:r>
          </a:p>
        </p:txBody>
      </p:sp>
      <p:sp>
        <p:nvSpPr>
          <p:cNvPr id="184325" name="Line 4"/>
          <p:cNvSpPr>
            <a:spLocks noChangeShapeType="1"/>
          </p:cNvSpPr>
          <p:nvPr/>
        </p:nvSpPr>
        <p:spPr bwMode="auto">
          <a:xfrm>
            <a:off x="3200400" y="1600200"/>
            <a:ext cx="28003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745865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5638B6-2773-E6A8-22F7-4C7809473F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053156"/>
            <a:ext cx="6858000" cy="4622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4033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2"/>
          <p:cNvGrpSpPr/>
          <p:nvPr/>
        </p:nvGrpSpPr>
        <p:grpSpPr>
          <a:xfrm>
            <a:off x="1461024" y="2077741"/>
            <a:ext cx="6018555" cy="2240657"/>
            <a:chOff x="123984" y="1627321"/>
            <a:chExt cx="8024740" cy="2987542"/>
          </a:xfrm>
        </p:grpSpPr>
        <p:sp>
          <p:nvSpPr>
            <p:cNvPr id="3" name="Oval 2"/>
            <p:cNvSpPr/>
            <p:nvPr/>
          </p:nvSpPr>
          <p:spPr>
            <a:xfrm>
              <a:off x="5297838" y="1779721"/>
              <a:ext cx="2606298" cy="2745783"/>
            </a:xfrm>
            <a:prstGeom prst="ellipse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" name="Oval 3"/>
            <p:cNvSpPr/>
            <p:nvPr/>
          </p:nvSpPr>
          <p:spPr>
            <a:xfrm>
              <a:off x="5486400" y="1999281"/>
              <a:ext cx="2247255" cy="2355744"/>
            </a:xfrm>
            <a:prstGeom prst="ellipse">
              <a:avLst/>
            </a:prstGeom>
            <a:gradFill flip="none" rotWithShape="1"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5" name="Arc 4"/>
            <p:cNvSpPr/>
            <p:nvPr/>
          </p:nvSpPr>
          <p:spPr>
            <a:xfrm>
              <a:off x="5036945" y="2293751"/>
              <a:ext cx="1456846" cy="1642819"/>
            </a:xfrm>
            <a:prstGeom prst="arc">
              <a:avLst>
                <a:gd name="adj1" fmla="val 6516941"/>
                <a:gd name="adj2" fmla="val 15325950"/>
              </a:avLst>
            </a:prstGeom>
            <a:gradFill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</a:gradFill>
            <a:ln>
              <a:solidFill>
                <a:srgbClr val="99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Oval 5"/>
            <p:cNvSpPr/>
            <p:nvPr/>
          </p:nvSpPr>
          <p:spPr>
            <a:xfrm rot="21414298">
              <a:off x="5412929" y="2634184"/>
              <a:ext cx="410724" cy="1005921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" name="Parallelogram 6"/>
            <p:cNvSpPr/>
            <p:nvPr/>
          </p:nvSpPr>
          <p:spPr>
            <a:xfrm rot="553477" flipH="1">
              <a:off x="7086514" y="2802348"/>
              <a:ext cx="616057" cy="723751"/>
            </a:xfrm>
            <a:prstGeom prst="parallelogram">
              <a:avLst>
                <a:gd name="adj" fmla="val 2431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Oval 7"/>
            <p:cNvSpPr/>
            <p:nvPr/>
          </p:nvSpPr>
          <p:spPr>
            <a:xfrm>
              <a:off x="123984" y="1627321"/>
              <a:ext cx="2681207" cy="2293749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9" name="Group 47"/>
            <p:cNvGrpSpPr/>
            <p:nvPr/>
          </p:nvGrpSpPr>
          <p:grpSpPr>
            <a:xfrm>
              <a:off x="774893" y="1766812"/>
              <a:ext cx="1363850" cy="2848051"/>
              <a:chOff x="2045756" y="1999283"/>
              <a:chExt cx="1363850" cy="2696707"/>
            </a:xfrm>
          </p:grpSpPr>
          <p:sp>
            <p:nvSpPr>
              <p:cNvPr id="22" name="Flowchart: Terminator 21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" name="Trapezoid 22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" name="Double Bracket 23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" name="Trapezoid 24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10" name="Group 60"/>
            <p:cNvGrpSpPr/>
            <p:nvPr/>
          </p:nvGrpSpPr>
          <p:grpSpPr>
            <a:xfrm>
              <a:off x="7175728" y="2960179"/>
              <a:ext cx="418444" cy="526943"/>
              <a:chOff x="4383429" y="1596327"/>
              <a:chExt cx="638012" cy="836908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4383429" y="1764224"/>
                <a:ext cx="638012" cy="669011"/>
              </a:xfrm>
              <a:prstGeom prst="ellipse">
                <a:avLst/>
              </a:prstGeom>
              <a:gradFill flip="none" rotWithShape="1">
                <a:gsLst>
                  <a:gs pos="32000">
                    <a:srgbClr val="FFFF00">
                      <a:tint val="66000"/>
                      <a:satMod val="160000"/>
                    </a:srgbClr>
                  </a:gs>
                  <a:gs pos="50000">
                    <a:srgbClr val="FFFF00">
                      <a:tint val="44500"/>
                      <a:satMod val="160000"/>
                      <a:alpha val="46000"/>
                    </a:srgbClr>
                  </a:gs>
                  <a:gs pos="100000">
                    <a:srgbClr val="FFFF00">
                      <a:tint val="23500"/>
                      <a:satMod val="160000"/>
                      <a:alpha val="0"/>
                    </a:srgbClr>
                  </a:gs>
                  <a:gs pos="66000">
                    <a:srgbClr val="FFFF00">
                      <a:tint val="23500"/>
                      <a:satMod val="160000"/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grpSp>
            <p:nvGrpSpPr>
              <p:cNvPr id="11" name="Group 55"/>
              <p:cNvGrpSpPr/>
              <p:nvPr/>
            </p:nvGrpSpPr>
            <p:grpSpPr>
              <a:xfrm flipV="1">
                <a:off x="4571992" y="1596327"/>
                <a:ext cx="291863" cy="663847"/>
                <a:chOff x="2045756" y="1999283"/>
                <a:chExt cx="1363850" cy="2696707"/>
              </a:xfrm>
            </p:grpSpPr>
            <p:sp>
              <p:nvSpPr>
                <p:cNvPr id="18" name="Flowchart: Terminator 17"/>
                <p:cNvSpPr/>
                <p:nvPr/>
              </p:nvSpPr>
              <p:spPr>
                <a:xfrm rot="5400000">
                  <a:off x="2208487" y="3696347"/>
                  <a:ext cx="976396" cy="557939"/>
                </a:xfrm>
                <a:prstGeom prst="flowChartTerminator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9" name="Trapezoid 18"/>
                <p:cNvSpPr/>
                <p:nvPr/>
              </p:nvSpPr>
              <p:spPr>
                <a:xfrm>
                  <a:off x="2340224" y="4355027"/>
                  <a:ext cx="712922" cy="340963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20" name="Double Bracket 19"/>
                <p:cNvSpPr/>
                <p:nvPr/>
              </p:nvSpPr>
              <p:spPr>
                <a:xfrm flipH="1">
                  <a:off x="2572700" y="3068664"/>
                  <a:ext cx="247973" cy="402956"/>
                </a:xfrm>
                <a:prstGeom prst="bracketPair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21" name="Trapezoid 20"/>
                <p:cNvSpPr/>
                <p:nvPr/>
              </p:nvSpPr>
              <p:spPr>
                <a:xfrm>
                  <a:off x="2045756" y="1999283"/>
                  <a:ext cx="1363850" cy="1301857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rgbClr val="FFC000">
                        <a:tint val="66000"/>
                        <a:satMod val="160000"/>
                      </a:srgbClr>
                    </a:gs>
                    <a:gs pos="50000">
                      <a:srgbClr val="FFC000">
                        <a:tint val="44500"/>
                        <a:satMod val="160000"/>
                      </a:srgbClr>
                    </a:gs>
                    <a:gs pos="100000">
                      <a:srgbClr val="FFC000">
                        <a:tint val="23500"/>
                        <a:satMod val="160000"/>
                      </a:srgbClr>
                    </a:gs>
                  </a:gsLst>
                  <a:lin ang="2700000" scaled="1"/>
                  <a:tileRect/>
                </a:gra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  <p:sp>
          <p:nvSpPr>
            <p:cNvPr id="14" name="Can 13"/>
            <p:cNvSpPr/>
            <p:nvPr/>
          </p:nvSpPr>
          <p:spPr>
            <a:xfrm rot="8068981">
              <a:off x="7546708" y="3911559"/>
              <a:ext cx="429117" cy="774915"/>
            </a:xfrm>
            <a:prstGeom prst="can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5" name="Oval 14"/>
            <p:cNvSpPr/>
            <p:nvPr/>
          </p:nvSpPr>
          <p:spPr>
            <a:xfrm rot="2663597">
              <a:off x="7448049" y="3838599"/>
              <a:ext cx="123987" cy="461387"/>
            </a:xfrm>
            <a:prstGeom prst="ellipse">
              <a:avLst/>
            </a:prstGeom>
            <a:solidFill>
              <a:srgbClr val="FFFF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2" name="Group 56"/>
            <p:cNvGrpSpPr/>
            <p:nvPr/>
          </p:nvGrpSpPr>
          <p:grpSpPr>
            <a:xfrm>
              <a:off x="1828800" y="1771650"/>
              <a:ext cx="5500688" cy="1619250"/>
              <a:chOff x="1828800" y="1771650"/>
              <a:chExt cx="5500688" cy="1619250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57"/>
            <p:cNvGrpSpPr/>
            <p:nvPr/>
          </p:nvGrpSpPr>
          <p:grpSpPr>
            <a:xfrm flipV="1">
              <a:off x="1852612" y="2924175"/>
              <a:ext cx="5500688" cy="1619250"/>
              <a:chOff x="1828800" y="1771650"/>
              <a:chExt cx="5500688" cy="1619250"/>
            </a:xfrm>
          </p:grpSpPr>
          <p:cxnSp>
            <p:nvCxnSpPr>
              <p:cNvPr id="59" name="Straight Connector 58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330426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biologists call the process of focusing the light in the eye?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focusing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accommodation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image formation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Contraction of the </a:t>
            </a:r>
            <a:r>
              <a:rPr lang="en-US" dirty="0" err="1"/>
              <a:t>ciliary</a:t>
            </a:r>
            <a:r>
              <a:rPr lang="en-US" dirty="0"/>
              <a:t> muscle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50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1485900" y="1143000"/>
            <a:ext cx="6172200" cy="45720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B050"/>
                </a:solidFill>
              </a:rPr>
              <a:t>Accommodation by the Lens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999D2C5-627A-68AF-E3C4-4AB8F44CD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716" y="87600"/>
            <a:ext cx="5683348" cy="3025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BFB9750-3E64-C873-34D4-51A2A75695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71900"/>
            <a:ext cx="914400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AD214E-C362-4A73-0ADE-08F9C7454802}"/>
              </a:ext>
            </a:extLst>
          </p:cNvPr>
          <p:cNvSpPr txBox="1"/>
          <p:nvPr/>
        </p:nvSpPr>
        <p:spPr>
          <a:xfrm>
            <a:off x="274319" y="6571666"/>
            <a:ext cx="67173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https://commons.wikimedia.org/wiki/File:Focus_in_an_eye.svg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81BFE-C5CE-A222-F010-FEC4215C469B}"/>
              </a:ext>
            </a:extLst>
          </p:cNvPr>
          <p:cNvSpPr txBox="1"/>
          <p:nvPr/>
        </p:nvSpPr>
        <p:spPr>
          <a:xfrm>
            <a:off x="4572000" y="6633221"/>
            <a:ext cx="509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400" b="1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 tooltip="User:Erin Silversmith"/>
              </a:rPr>
              <a:t>Erin Silversmith</a:t>
            </a:r>
            <a:endParaRPr lang="en-US" sz="1400" b="1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68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we call the position of the closest thing we can see?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Near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Far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Squint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conjunctiva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190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/>
          <p:cNvSpPr/>
          <p:nvPr/>
        </p:nvSpPr>
        <p:spPr>
          <a:xfrm>
            <a:off x="1143000" y="857250"/>
            <a:ext cx="4286250" cy="51435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Oval 2"/>
          <p:cNvSpPr/>
          <p:nvPr/>
        </p:nvSpPr>
        <p:spPr>
          <a:xfrm>
            <a:off x="3670359" y="1203050"/>
            <a:ext cx="1073091" cy="1081894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5" name="Oval 104"/>
          <p:cNvSpPr/>
          <p:nvPr/>
        </p:nvSpPr>
        <p:spPr>
          <a:xfrm>
            <a:off x="3756220" y="1300639"/>
            <a:ext cx="930080" cy="928211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Oval 3"/>
          <p:cNvSpPr/>
          <p:nvPr/>
        </p:nvSpPr>
        <p:spPr>
          <a:xfrm>
            <a:off x="3756220" y="1289560"/>
            <a:ext cx="930080" cy="928211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Arc 4"/>
          <p:cNvSpPr/>
          <p:nvPr/>
        </p:nvSpPr>
        <p:spPr>
          <a:xfrm>
            <a:off x="3551562" y="1405587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Oval 5"/>
          <p:cNvSpPr/>
          <p:nvPr/>
        </p:nvSpPr>
        <p:spPr>
          <a:xfrm rot="21414298">
            <a:off x="3722766" y="1539726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Oval 7"/>
          <p:cNvSpPr/>
          <p:nvPr/>
        </p:nvSpPr>
        <p:spPr>
          <a:xfrm>
            <a:off x="1314451" y="1143001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2" name="Group 47"/>
          <p:cNvGrpSpPr/>
          <p:nvPr/>
        </p:nvGrpSpPr>
        <p:grpSpPr>
          <a:xfrm>
            <a:off x="1610843" y="1197963"/>
            <a:ext cx="621028" cy="1122190"/>
            <a:chOff x="2045756" y="1999283"/>
            <a:chExt cx="1363850" cy="2696707"/>
          </a:xfrm>
        </p:grpSpPr>
        <p:sp>
          <p:nvSpPr>
            <p:cNvPr id="22" name="Flowchart: Terminator 21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3" name="Trapezoid 22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4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5" name="Trapezoid 24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7" name="Group 60"/>
          <p:cNvGrpSpPr/>
          <p:nvPr/>
        </p:nvGrpSpPr>
        <p:grpSpPr>
          <a:xfrm>
            <a:off x="4525456" y="1668175"/>
            <a:ext cx="190538" cy="207626"/>
            <a:chOff x="4383429" y="1596327"/>
            <a:chExt cx="638012" cy="836908"/>
          </a:xfrm>
        </p:grpSpPr>
        <p:sp>
          <p:nvSpPr>
            <p:cNvPr id="16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9" name="Group 55"/>
            <p:cNvGrpSpPr/>
            <p:nvPr/>
          </p:nvGrpSpPr>
          <p:grpSpPr>
            <a:xfrm flipV="1">
              <a:off x="4571992" y="1596327"/>
              <a:ext cx="291863" cy="663847"/>
              <a:chOff x="2045756" y="1999283"/>
              <a:chExt cx="1363850" cy="2696707"/>
            </a:xfrm>
          </p:grpSpPr>
          <p:sp>
            <p:nvSpPr>
              <p:cNvPr id="18" name="Flowchart: Terminator 17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" name="Trapezoid 18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" name="Double Bracket 19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" name="Trapezoid 20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10" name="Group 56"/>
          <p:cNvGrpSpPr/>
          <p:nvPr/>
        </p:nvGrpSpPr>
        <p:grpSpPr>
          <a:xfrm>
            <a:off x="2090738" y="1199869"/>
            <a:ext cx="2504732" cy="638018"/>
            <a:chOff x="1828800" y="1771650"/>
            <a:chExt cx="5500688" cy="1619250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57"/>
          <p:cNvGrpSpPr/>
          <p:nvPr/>
        </p:nvGrpSpPr>
        <p:grpSpPr>
          <a:xfrm flipV="1">
            <a:off x="2101581" y="1653987"/>
            <a:ext cx="2504732" cy="638018"/>
            <a:chOff x="1828800" y="1771650"/>
            <a:chExt cx="5500688" cy="1619250"/>
          </a:xfrm>
        </p:grpSpPr>
        <p:cxnSp>
          <p:nvCxnSpPr>
            <p:cNvPr id="59" name="Straight Connector 58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Oval 33"/>
          <p:cNvSpPr/>
          <p:nvPr/>
        </p:nvSpPr>
        <p:spPr>
          <a:xfrm>
            <a:off x="3613209" y="2705190"/>
            <a:ext cx="1644591" cy="108189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6" name="Oval 105"/>
          <p:cNvSpPr/>
          <p:nvPr/>
        </p:nvSpPr>
        <p:spPr>
          <a:xfrm>
            <a:off x="3699070" y="2800350"/>
            <a:ext cx="1501580" cy="914400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5" name="Oval 34"/>
          <p:cNvSpPr/>
          <p:nvPr/>
        </p:nvSpPr>
        <p:spPr>
          <a:xfrm>
            <a:off x="3699070" y="2800350"/>
            <a:ext cx="1501580" cy="914400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6" name="Arc 35"/>
          <p:cNvSpPr/>
          <p:nvPr/>
        </p:nvSpPr>
        <p:spPr>
          <a:xfrm>
            <a:off x="3565726" y="2907728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7" name="Oval 36"/>
          <p:cNvSpPr/>
          <p:nvPr/>
        </p:nvSpPr>
        <p:spPr>
          <a:xfrm rot="21414298">
            <a:off x="3745763" y="3041867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9" name="Oval 38"/>
          <p:cNvSpPr/>
          <p:nvPr/>
        </p:nvSpPr>
        <p:spPr>
          <a:xfrm>
            <a:off x="1314451" y="2645142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2" name="Group 47"/>
          <p:cNvGrpSpPr/>
          <p:nvPr/>
        </p:nvGrpSpPr>
        <p:grpSpPr>
          <a:xfrm>
            <a:off x="1610842" y="2700105"/>
            <a:ext cx="621028" cy="1122190"/>
            <a:chOff x="2045756" y="1999283"/>
            <a:chExt cx="1363850" cy="2696707"/>
          </a:xfrm>
        </p:grpSpPr>
        <p:sp>
          <p:nvSpPr>
            <p:cNvPr id="65" name="Flowchart: Terminator 64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6" name="Trapezoid 65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7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8" name="Trapezoid 67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13" name="Group 60"/>
          <p:cNvGrpSpPr/>
          <p:nvPr/>
        </p:nvGrpSpPr>
        <p:grpSpPr>
          <a:xfrm>
            <a:off x="4468305" y="3170315"/>
            <a:ext cx="190538" cy="207626"/>
            <a:chOff x="4383429" y="1596327"/>
            <a:chExt cx="638012" cy="836908"/>
          </a:xfrm>
        </p:grpSpPr>
        <p:sp>
          <p:nvSpPr>
            <p:cNvPr id="55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4" name="Group 55"/>
            <p:cNvGrpSpPr/>
            <p:nvPr/>
          </p:nvGrpSpPr>
          <p:grpSpPr>
            <a:xfrm flipV="1">
              <a:off x="4571994" y="1596327"/>
              <a:ext cx="291863" cy="663847"/>
              <a:chOff x="2045756" y="1999283"/>
              <a:chExt cx="1363850" cy="2696707"/>
            </a:xfrm>
          </p:grpSpPr>
          <p:sp>
            <p:nvSpPr>
              <p:cNvPr id="57" name="Flowchart: Terminator 56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8" name="Trapezoid 57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3" name="Double Bracket 62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4" name="Trapezoid 63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15" name="Group 56"/>
          <p:cNvGrpSpPr/>
          <p:nvPr/>
        </p:nvGrpSpPr>
        <p:grpSpPr>
          <a:xfrm>
            <a:off x="2090737" y="2702010"/>
            <a:ext cx="2504732" cy="638018"/>
            <a:chOff x="1828800" y="1771650"/>
            <a:chExt cx="5500688" cy="1619250"/>
          </a:xfrm>
        </p:grpSpPr>
        <p:cxnSp>
          <p:nvCxnSpPr>
            <p:cNvPr id="51" name="Straight Connector 5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57"/>
          <p:cNvGrpSpPr/>
          <p:nvPr/>
        </p:nvGrpSpPr>
        <p:grpSpPr>
          <a:xfrm flipV="1">
            <a:off x="2101579" y="3156128"/>
            <a:ext cx="2504732" cy="638018"/>
            <a:chOff x="1828800" y="1771650"/>
            <a:chExt cx="5500688" cy="1619250"/>
          </a:xfrm>
        </p:grpSpPr>
        <p:cxnSp>
          <p:nvCxnSpPr>
            <p:cNvPr id="46" name="Straight Connector 4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Oval 69"/>
          <p:cNvSpPr/>
          <p:nvPr/>
        </p:nvSpPr>
        <p:spPr>
          <a:xfrm>
            <a:off x="3670359" y="4460599"/>
            <a:ext cx="730192" cy="108189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4" name="Oval 103"/>
          <p:cNvSpPr/>
          <p:nvPr/>
        </p:nvSpPr>
        <p:spPr>
          <a:xfrm>
            <a:off x="3756221" y="4558190"/>
            <a:ext cx="587180" cy="928211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1" name="Oval 70"/>
          <p:cNvSpPr/>
          <p:nvPr/>
        </p:nvSpPr>
        <p:spPr>
          <a:xfrm>
            <a:off x="3756221" y="4558190"/>
            <a:ext cx="587180" cy="928211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2" name="Arc 71"/>
          <p:cNvSpPr/>
          <p:nvPr/>
        </p:nvSpPr>
        <p:spPr>
          <a:xfrm>
            <a:off x="3551561" y="4663137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3" name="Oval 72"/>
          <p:cNvSpPr/>
          <p:nvPr/>
        </p:nvSpPr>
        <p:spPr>
          <a:xfrm rot="21414298">
            <a:off x="3722765" y="4797276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5" name="Oval 74"/>
          <p:cNvSpPr/>
          <p:nvPr/>
        </p:nvSpPr>
        <p:spPr>
          <a:xfrm>
            <a:off x="1314450" y="4400551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26" name="Group 47"/>
          <p:cNvGrpSpPr/>
          <p:nvPr/>
        </p:nvGrpSpPr>
        <p:grpSpPr>
          <a:xfrm>
            <a:off x="1610841" y="4455514"/>
            <a:ext cx="621028" cy="1122190"/>
            <a:chOff x="2045756" y="1999283"/>
            <a:chExt cx="1363850" cy="2696707"/>
          </a:xfrm>
        </p:grpSpPr>
        <p:sp>
          <p:nvSpPr>
            <p:cNvPr id="77" name="Flowchart: Terminator 76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8" name="Trapezoid 77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9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0" name="Trapezoid 79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29" name="Group 60"/>
          <p:cNvGrpSpPr/>
          <p:nvPr/>
        </p:nvGrpSpPr>
        <p:grpSpPr>
          <a:xfrm>
            <a:off x="4525454" y="4925724"/>
            <a:ext cx="190538" cy="207626"/>
            <a:chOff x="4383429" y="1596327"/>
            <a:chExt cx="638012" cy="836908"/>
          </a:xfrm>
        </p:grpSpPr>
        <p:sp>
          <p:nvSpPr>
            <p:cNvPr id="82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31" name="Group 55"/>
            <p:cNvGrpSpPr/>
            <p:nvPr/>
          </p:nvGrpSpPr>
          <p:grpSpPr>
            <a:xfrm flipV="1">
              <a:off x="4571996" y="1596327"/>
              <a:ext cx="291863" cy="663847"/>
              <a:chOff x="2045756" y="1999283"/>
              <a:chExt cx="1363850" cy="2696707"/>
            </a:xfrm>
          </p:grpSpPr>
          <p:sp>
            <p:nvSpPr>
              <p:cNvPr id="84" name="Flowchart: Terminator 83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5" name="Trapezoid 84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6" name="Double Bracket 85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7" name="Trapezoid 86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32" name="Group 56"/>
          <p:cNvGrpSpPr/>
          <p:nvPr/>
        </p:nvGrpSpPr>
        <p:grpSpPr>
          <a:xfrm>
            <a:off x="2090736" y="4457419"/>
            <a:ext cx="2504732" cy="638018"/>
            <a:chOff x="1828800" y="1771650"/>
            <a:chExt cx="5500688" cy="1619250"/>
          </a:xfrm>
        </p:grpSpPr>
        <p:cxnSp>
          <p:nvCxnSpPr>
            <p:cNvPr id="91" name="Straight Connector 9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57"/>
          <p:cNvGrpSpPr/>
          <p:nvPr/>
        </p:nvGrpSpPr>
        <p:grpSpPr>
          <a:xfrm flipV="1">
            <a:off x="2101579" y="4911537"/>
            <a:ext cx="2504732" cy="638018"/>
            <a:chOff x="1828800" y="1771650"/>
            <a:chExt cx="5500688" cy="1619250"/>
          </a:xfrm>
        </p:grpSpPr>
        <p:cxnSp>
          <p:nvCxnSpPr>
            <p:cNvPr id="96" name="Straight Connector 9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/>
          <p:cNvSpPr/>
          <p:nvPr/>
        </p:nvSpPr>
        <p:spPr>
          <a:xfrm>
            <a:off x="5486401" y="3028950"/>
            <a:ext cx="20613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Myopia – nearsightedness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86401" y="4914900"/>
            <a:ext cx="2058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 err="1"/>
              <a:t>Hyperopia</a:t>
            </a:r>
            <a:r>
              <a:rPr lang="en-US" sz="1350" dirty="0"/>
              <a:t> - farsightedness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86401" y="1657350"/>
            <a:ext cx="710451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2112717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4" descr="neuro4e-box-11-a(2)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65535" y="857250"/>
            <a:ext cx="6710613" cy="50423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49820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438276" y="2416969"/>
            <a:ext cx="6132910" cy="2570972"/>
            <a:chOff x="393894" y="1327691"/>
            <a:chExt cx="8176647" cy="3427373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383" y="2843492"/>
              <a:ext cx="2758600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601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/>
            <p:cNvSpPr/>
            <p:nvPr/>
          </p:nvSpPr>
          <p:spPr>
            <a:xfrm flipH="1">
              <a:off x="4138548" y="1810208"/>
              <a:ext cx="3966887" cy="2234815"/>
            </a:xfrm>
            <a:custGeom>
              <a:avLst/>
              <a:gdLst>
                <a:gd name="connsiteX0" fmla="*/ 0 w 3967566"/>
                <a:gd name="connsiteY0" fmla="*/ 1025471 h 2234339"/>
                <a:gd name="connsiteX1" fmla="*/ 480447 w 3967566"/>
                <a:gd name="connsiteY1" fmla="*/ 715505 h 2234339"/>
                <a:gd name="connsiteX2" fmla="*/ 960895 w 3967566"/>
                <a:gd name="connsiteY2" fmla="*/ 219559 h 2234339"/>
                <a:gd name="connsiteX3" fmla="*/ 1379349 w 3967566"/>
                <a:gd name="connsiteY3" fmla="*/ 18081 h 2234339"/>
                <a:gd name="connsiteX4" fmla="*/ 1766806 w 3967566"/>
                <a:gd name="connsiteY4" fmla="*/ 111071 h 2234339"/>
                <a:gd name="connsiteX5" fmla="*/ 2107769 w 3967566"/>
                <a:gd name="connsiteY5" fmla="*/ 545023 h 2234339"/>
                <a:gd name="connsiteX6" fmla="*/ 2433234 w 3967566"/>
                <a:gd name="connsiteY6" fmla="*/ 1195952 h 2234339"/>
                <a:gd name="connsiteX7" fmla="*/ 2944678 w 3967566"/>
                <a:gd name="connsiteY7" fmla="*/ 1800386 h 2234339"/>
                <a:gd name="connsiteX8" fmla="*/ 3564610 w 3967566"/>
                <a:gd name="connsiteY8" fmla="*/ 2141349 h 2234339"/>
                <a:gd name="connsiteX9" fmla="*/ 3967566 w 3967566"/>
                <a:gd name="connsiteY9" fmla="*/ 2234339 h 2234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7566" h="2234339">
                  <a:moveTo>
                    <a:pt x="0" y="1025471"/>
                  </a:moveTo>
                  <a:cubicBezTo>
                    <a:pt x="160149" y="937647"/>
                    <a:pt x="320298" y="849824"/>
                    <a:pt x="480447" y="715505"/>
                  </a:cubicBezTo>
                  <a:cubicBezTo>
                    <a:pt x="640596" y="581186"/>
                    <a:pt x="811078" y="335796"/>
                    <a:pt x="960895" y="219559"/>
                  </a:cubicBezTo>
                  <a:cubicBezTo>
                    <a:pt x="1110712" y="103322"/>
                    <a:pt x="1245031" y="36162"/>
                    <a:pt x="1379349" y="18081"/>
                  </a:cubicBezTo>
                  <a:cubicBezTo>
                    <a:pt x="1513668" y="0"/>
                    <a:pt x="1645403" y="23247"/>
                    <a:pt x="1766806" y="111071"/>
                  </a:cubicBezTo>
                  <a:cubicBezTo>
                    <a:pt x="1888209" y="198895"/>
                    <a:pt x="1996698" y="364210"/>
                    <a:pt x="2107769" y="545023"/>
                  </a:cubicBezTo>
                  <a:cubicBezTo>
                    <a:pt x="2218840" y="725836"/>
                    <a:pt x="2293749" y="986725"/>
                    <a:pt x="2433234" y="1195952"/>
                  </a:cubicBezTo>
                  <a:cubicBezTo>
                    <a:pt x="2572719" y="1405179"/>
                    <a:pt x="2756115" y="1642820"/>
                    <a:pt x="2944678" y="1800386"/>
                  </a:cubicBezTo>
                  <a:cubicBezTo>
                    <a:pt x="3133241" y="1957952"/>
                    <a:pt x="3394129" y="2069023"/>
                    <a:pt x="3564610" y="2141349"/>
                  </a:cubicBezTo>
                  <a:cubicBezTo>
                    <a:pt x="3735091" y="2213675"/>
                    <a:pt x="3851328" y="2224007"/>
                    <a:pt x="3967566" y="2234339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3192463" y="1837191"/>
              <a:ext cx="4138326" cy="2096726"/>
            </a:xfrm>
            <a:custGeom>
              <a:avLst/>
              <a:gdLst>
                <a:gd name="connsiteX0" fmla="*/ 0 w 4138047"/>
                <a:gd name="connsiteY0" fmla="*/ 1526583 h 2097438"/>
                <a:gd name="connsiteX1" fmla="*/ 805912 w 4138047"/>
                <a:gd name="connsiteY1" fmla="*/ 1495587 h 2097438"/>
                <a:gd name="connsiteX2" fmla="*/ 1503335 w 4138047"/>
                <a:gd name="connsiteY2" fmla="*/ 1263112 h 2097438"/>
                <a:gd name="connsiteX3" fmla="*/ 1968285 w 4138047"/>
                <a:gd name="connsiteY3" fmla="*/ 829160 h 2097438"/>
                <a:gd name="connsiteX4" fmla="*/ 2309247 w 4138047"/>
                <a:gd name="connsiteY4" fmla="*/ 131736 h 2097438"/>
                <a:gd name="connsiteX5" fmla="*/ 2665708 w 4138047"/>
                <a:gd name="connsiteY5" fmla="*/ 54244 h 2097438"/>
                <a:gd name="connsiteX6" fmla="*/ 2960176 w 4138047"/>
                <a:gd name="connsiteY6" fmla="*/ 457200 h 2097438"/>
                <a:gd name="connsiteX7" fmla="*/ 3254644 w 4138047"/>
                <a:gd name="connsiteY7" fmla="*/ 1232115 h 2097438"/>
                <a:gd name="connsiteX8" fmla="*/ 3564610 w 4138047"/>
                <a:gd name="connsiteY8" fmla="*/ 1805553 h 2097438"/>
                <a:gd name="connsiteX9" fmla="*/ 3921071 w 4138047"/>
                <a:gd name="connsiteY9" fmla="*/ 2053526 h 2097438"/>
                <a:gd name="connsiteX10" fmla="*/ 4138047 w 4138047"/>
                <a:gd name="connsiteY10" fmla="*/ 2069024 h 209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047" h="2097438">
                  <a:moveTo>
                    <a:pt x="0" y="1526583"/>
                  </a:moveTo>
                  <a:cubicBezTo>
                    <a:pt x="277678" y="1533041"/>
                    <a:pt x="555356" y="1539499"/>
                    <a:pt x="805912" y="1495587"/>
                  </a:cubicBezTo>
                  <a:cubicBezTo>
                    <a:pt x="1056468" y="1451675"/>
                    <a:pt x="1309606" y="1374183"/>
                    <a:pt x="1503335" y="1263112"/>
                  </a:cubicBezTo>
                  <a:cubicBezTo>
                    <a:pt x="1697064" y="1152041"/>
                    <a:pt x="1833966" y="1017723"/>
                    <a:pt x="1968285" y="829160"/>
                  </a:cubicBezTo>
                  <a:cubicBezTo>
                    <a:pt x="2102604" y="640597"/>
                    <a:pt x="2193010" y="260889"/>
                    <a:pt x="2309247" y="131736"/>
                  </a:cubicBezTo>
                  <a:cubicBezTo>
                    <a:pt x="2425484" y="2583"/>
                    <a:pt x="2557220" y="0"/>
                    <a:pt x="2665708" y="54244"/>
                  </a:cubicBezTo>
                  <a:cubicBezTo>
                    <a:pt x="2774196" y="108488"/>
                    <a:pt x="2862020" y="260888"/>
                    <a:pt x="2960176" y="457200"/>
                  </a:cubicBezTo>
                  <a:cubicBezTo>
                    <a:pt x="3058332" y="653512"/>
                    <a:pt x="3153905" y="1007390"/>
                    <a:pt x="3254644" y="1232115"/>
                  </a:cubicBezTo>
                  <a:cubicBezTo>
                    <a:pt x="3355383" y="1456840"/>
                    <a:pt x="3453539" y="1668651"/>
                    <a:pt x="3564610" y="1805553"/>
                  </a:cubicBezTo>
                  <a:cubicBezTo>
                    <a:pt x="3675681" y="1942455"/>
                    <a:pt x="3825498" y="2009614"/>
                    <a:pt x="3921071" y="2053526"/>
                  </a:cubicBezTo>
                  <a:cubicBezTo>
                    <a:pt x="4016644" y="2097438"/>
                    <a:pt x="4077345" y="2083231"/>
                    <a:pt x="4138047" y="2069024"/>
                  </a:cubicBezTo>
                </a:path>
              </a:pathLst>
            </a:cu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9" name="Freeform 8"/>
            <p:cNvSpPr/>
            <p:nvPr/>
          </p:nvSpPr>
          <p:spPr>
            <a:xfrm flipH="1">
              <a:off x="2447977" y="1851476"/>
              <a:ext cx="4262143" cy="1852294"/>
            </a:xfrm>
            <a:custGeom>
              <a:avLst/>
              <a:gdLst>
                <a:gd name="connsiteX0" fmla="*/ 0 w 4262034"/>
                <a:gd name="connsiteY0" fmla="*/ 1464589 h 1852047"/>
                <a:gd name="connsiteX1" fmla="*/ 945397 w 4262034"/>
                <a:gd name="connsiteY1" fmla="*/ 1619572 h 1852047"/>
                <a:gd name="connsiteX2" fmla="*/ 1534332 w 4262034"/>
                <a:gd name="connsiteY2" fmla="*/ 1666067 h 1852047"/>
                <a:gd name="connsiteX3" fmla="*/ 1983783 w 4262034"/>
                <a:gd name="connsiteY3" fmla="*/ 1480088 h 1852047"/>
                <a:gd name="connsiteX4" fmla="*/ 2355742 w 4262034"/>
                <a:gd name="connsiteY4" fmla="*/ 984142 h 1852047"/>
                <a:gd name="connsiteX5" fmla="*/ 2665709 w 4262034"/>
                <a:gd name="connsiteY5" fmla="*/ 271220 h 1852047"/>
                <a:gd name="connsiteX6" fmla="*/ 2944678 w 4262034"/>
                <a:gd name="connsiteY6" fmla="*/ 23247 h 1852047"/>
                <a:gd name="connsiteX7" fmla="*/ 3177153 w 4262034"/>
                <a:gd name="connsiteY7" fmla="*/ 131735 h 1852047"/>
                <a:gd name="connsiteX8" fmla="*/ 3394129 w 4262034"/>
                <a:gd name="connsiteY8" fmla="*/ 674176 h 1852047"/>
                <a:gd name="connsiteX9" fmla="*/ 3750590 w 4262034"/>
                <a:gd name="connsiteY9" fmla="*/ 1464589 h 1852047"/>
                <a:gd name="connsiteX10" fmla="*/ 3874576 w 4262034"/>
                <a:gd name="connsiteY10" fmla="*/ 1635071 h 1852047"/>
                <a:gd name="connsiteX11" fmla="*/ 4262034 w 4262034"/>
                <a:gd name="connsiteY11" fmla="*/ 1852047 h 1852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62034" h="1852047">
                  <a:moveTo>
                    <a:pt x="0" y="1464589"/>
                  </a:moveTo>
                  <a:cubicBezTo>
                    <a:pt x="344837" y="1525290"/>
                    <a:pt x="689675" y="1585992"/>
                    <a:pt x="945397" y="1619572"/>
                  </a:cubicBezTo>
                  <a:cubicBezTo>
                    <a:pt x="1201119" y="1653152"/>
                    <a:pt x="1361268" y="1689314"/>
                    <a:pt x="1534332" y="1666067"/>
                  </a:cubicBezTo>
                  <a:cubicBezTo>
                    <a:pt x="1707396" y="1642820"/>
                    <a:pt x="1846881" y="1593742"/>
                    <a:pt x="1983783" y="1480088"/>
                  </a:cubicBezTo>
                  <a:cubicBezTo>
                    <a:pt x="2120685" y="1366434"/>
                    <a:pt x="2242088" y="1185620"/>
                    <a:pt x="2355742" y="984142"/>
                  </a:cubicBezTo>
                  <a:cubicBezTo>
                    <a:pt x="2469396" y="782664"/>
                    <a:pt x="2567553" y="431369"/>
                    <a:pt x="2665709" y="271220"/>
                  </a:cubicBezTo>
                  <a:cubicBezTo>
                    <a:pt x="2763865" y="111071"/>
                    <a:pt x="2859437" y="46495"/>
                    <a:pt x="2944678" y="23247"/>
                  </a:cubicBezTo>
                  <a:cubicBezTo>
                    <a:pt x="3029919" y="0"/>
                    <a:pt x="3102245" y="23247"/>
                    <a:pt x="3177153" y="131735"/>
                  </a:cubicBezTo>
                  <a:cubicBezTo>
                    <a:pt x="3252061" y="240223"/>
                    <a:pt x="3298556" y="452034"/>
                    <a:pt x="3394129" y="674176"/>
                  </a:cubicBezTo>
                  <a:cubicBezTo>
                    <a:pt x="3489702" y="896318"/>
                    <a:pt x="3670516" y="1304440"/>
                    <a:pt x="3750590" y="1464589"/>
                  </a:cubicBezTo>
                  <a:cubicBezTo>
                    <a:pt x="3830664" y="1624738"/>
                    <a:pt x="3789335" y="1570495"/>
                    <a:pt x="3874576" y="1635071"/>
                  </a:cubicBezTo>
                  <a:cubicBezTo>
                    <a:pt x="3959817" y="1699647"/>
                    <a:pt x="4110925" y="1775847"/>
                    <a:pt x="4262034" y="1852047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676871" name="TextBox 10"/>
            <p:cNvSpPr txBox="1">
              <a:spLocks noChangeArrowheads="1"/>
            </p:cNvSpPr>
            <p:nvPr/>
          </p:nvSpPr>
          <p:spPr bwMode="auto">
            <a:xfrm>
              <a:off x="2789677" y="1425843"/>
              <a:ext cx="1487912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532THz (red)</a:t>
              </a:r>
            </a:p>
          </p:txBody>
        </p:sp>
        <p:sp>
          <p:nvSpPr>
            <p:cNvPr id="676872" name="TextBox 11"/>
            <p:cNvSpPr txBox="1">
              <a:spLocks noChangeArrowheads="1"/>
            </p:cNvSpPr>
            <p:nvPr/>
          </p:nvSpPr>
          <p:spPr bwMode="auto">
            <a:xfrm>
              <a:off x="4507402" y="1438763"/>
              <a:ext cx="1705905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562THz (green)</a:t>
              </a:r>
            </a:p>
          </p:txBody>
        </p:sp>
        <p:sp>
          <p:nvSpPr>
            <p:cNvPr id="676873" name="TextBox 12"/>
            <p:cNvSpPr txBox="1">
              <a:spLocks noChangeArrowheads="1"/>
            </p:cNvSpPr>
            <p:nvPr/>
          </p:nvSpPr>
          <p:spPr bwMode="auto">
            <a:xfrm>
              <a:off x="6395612" y="1327691"/>
              <a:ext cx="1586222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714THz (blue)</a:t>
              </a:r>
            </a:p>
          </p:txBody>
        </p:sp>
        <p:sp>
          <p:nvSpPr>
            <p:cNvPr id="67687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230508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Frequency</a:t>
              </a:r>
            </a:p>
          </p:txBody>
        </p:sp>
        <p:sp>
          <p:nvSpPr>
            <p:cNvPr id="67687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769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 sz="1350"/>
                <a:t>Relative Sensitivity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438276" y="2702719"/>
            <a:ext cx="6132910" cy="2461553"/>
            <a:chOff x="393894" y="1472338"/>
            <a:chExt cx="8176647" cy="3282896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593" y="2843492"/>
              <a:ext cx="2758181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399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892" name="TextBox 11"/>
            <p:cNvSpPr txBox="1">
              <a:spLocks noChangeArrowheads="1"/>
            </p:cNvSpPr>
            <p:nvPr/>
          </p:nvSpPr>
          <p:spPr bwMode="auto">
            <a:xfrm>
              <a:off x="4677883" y="1591161"/>
              <a:ext cx="917282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(green)</a:t>
              </a:r>
            </a:p>
          </p:txBody>
        </p:sp>
        <p:sp>
          <p:nvSpPr>
            <p:cNvPr id="677893" name="TextBox 12"/>
            <p:cNvSpPr txBox="1">
              <a:spLocks noChangeArrowheads="1"/>
            </p:cNvSpPr>
            <p:nvPr/>
          </p:nvSpPr>
          <p:spPr bwMode="auto">
            <a:xfrm>
              <a:off x="6535097" y="1591161"/>
              <a:ext cx="855303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 (blue)</a:t>
              </a:r>
            </a:p>
          </p:txBody>
        </p:sp>
        <p:sp>
          <p:nvSpPr>
            <p:cNvPr id="67789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230508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Frequency</a:t>
              </a:r>
            </a:p>
          </p:txBody>
        </p:sp>
        <p:sp>
          <p:nvSpPr>
            <p:cNvPr id="67789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772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 sz="1350"/>
                <a:t>Relative Sensitivity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114681" y="1575553"/>
              <a:ext cx="636544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4259189" y="1572377"/>
              <a:ext cx="634956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210091" y="1586668"/>
              <a:ext cx="634956" cy="2685138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677899" name="TextBox 19"/>
            <p:cNvSpPr txBox="1">
              <a:spLocks noChangeArrowheads="1"/>
            </p:cNvSpPr>
            <p:nvPr/>
          </p:nvSpPr>
          <p:spPr bwMode="auto">
            <a:xfrm>
              <a:off x="3559421" y="1591161"/>
              <a:ext cx="699289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(red)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223.17.3</a:t>
            </a:r>
          </a:p>
        </p:txBody>
      </p:sp>
      <p:sp>
        <p:nvSpPr>
          <p:cNvPr id="18022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 have two lenses placed with a separation of 1m  to form an optical system. The focal length of the combined system is…..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25cm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+ f</a:t>
            </a:r>
            <a:r>
              <a:rPr lang="en-US" baseline="-25000" dirty="0"/>
              <a:t>2</a:t>
            </a:r>
            <a:r>
              <a:rPr lang="en-US" dirty="0"/>
              <a:t> 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x f</a:t>
            </a:r>
            <a:r>
              <a:rPr lang="en-US" baseline="-25000" dirty="0"/>
              <a:t>2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No simple relationship</a:t>
            </a:r>
          </a:p>
        </p:txBody>
      </p:sp>
      <p:sp>
        <p:nvSpPr>
          <p:cNvPr id="180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01146B-F335-4073-85A8-072265A7A27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364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364865" name="Object 1"/>
          <p:cNvGraphicFramePr>
            <a:graphicFrameLocks noChangeAspect="1"/>
          </p:cNvGraphicFramePr>
          <p:nvPr/>
        </p:nvGraphicFramePr>
        <p:xfrm>
          <a:off x="1094282" y="3192904"/>
          <a:ext cx="1050644" cy="5696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400" imgH="431800" progId="Equation.3">
                  <p:embed/>
                </p:oleObj>
              </mc:Choice>
              <mc:Fallback>
                <p:oleObj name="Equation" r:id="rId2" imgW="787400" imgH="431800" progId="Equation.3">
                  <p:embed/>
                  <p:pic>
                    <p:nvPicPr>
                      <p:cNvPr id="336486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4282" y="3192904"/>
                        <a:ext cx="1050644" cy="56962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85833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ttp://www.imaging-resource.com/PRODS/NEX5/znew5phantom_50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836762"/>
            <a:ext cx="6115050" cy="5356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4430204" y="5516002"/>
            <a:ext cx="3429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350" dirty="0"/>
              <a:t>http://www.imaging-resource.com/PRODS/NEX5/NEX5A.HTM</a:t>
            </a:r>
          </a:p>
        </p:txBody>
      </p:sp>
    </p:spTree>
    <p:extLst>
      <p:ext uri="{BB962C8B-B14F-4D97-AF65-F5344CB8AC3E}">
        <p14:creationId xmlns:p14="http://schemas.microsoft.com/office/powerpoint/2010/main" val="1756771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ttp://2.bp.blogspot.com/-FD-fCN20D0g/UY20rE7AtCI/AAAAAAAAE0I/gDs_VMWxIeE/s1600/zeiss-touit-32mm-planar-cutaway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0" y="1023414"/>
            <a:ext cx="5486400" cy="457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2914651" y="5600700"/>
            <a:ext cx="2687402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http://sonyalphanex.blogspot.com/</a:t>
            </a:r>
          </a:p>
        </p:txBody>
      </p:sp>
    </p:spTree>
    <p:extLst>
      <p:ext uri="{BB962C8B-B14F-4D97-AF65-F5344CB8AC3E}">
        <p14:creationId xmlns:p14="http://schemas.microsoft.com/office/powerpoint/2010/main" val="2984556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371600"/>
            <a:ext cx="67246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Freeform 6"/>
          <p:cNvSpPr/>
          <p:nvPr/>
        </p:nvSpPr>
        <p:spPr>
          <a:xfrm>
            <a:off x="4312693" y="2088107"/>
            <a:ext cx="327546" cy="1269242"/>
          </a:xfrm>
          <a:custGeom>
            <a:avLst/>
            <a:gdLst>
              <a:gd name="connsiteX0" fmla="*/ 0 w 327546"/>
              <a:gd name="connsiteY0" fmla="*/ 0 h 1269242"/>
              <a:gd name="connsiteX1" fmla="*/ 313898 w 327546"/>
              <a:gd name="connsiteY1" fmla="*/ 436729 h 1269242"/>
              <a:gd name="connsiteX2" fmla="*/ 81886 w 327546"/>
              <a:gd name="connsiteY2" fmla="*/ 1269242 h 1269242"/>
              <a:gd name="connsiteX3" fmla="*/ 81886 w 327546"/>
              <a:gd name="connsiteY3" fmla="*/ 1269242 h 1269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7546" h="1269242">
                <a:moveTo>
                  <a:pt x="0" y="0"/>
                </a:moveTo>
                <a:cubicBezTo>
                  <a:pt x="150125" y="112594"/>
                  <a:pt x="300250" y="225189"/>
                  <a:pt x="313898" y="436729"/>
                </a:cubicBezTo>
                <a:cubicBezTo>
                  <a:pt x="327546" y="648269"/>
                  <a:pt x="81886" y="1269242"/>
                  <a:pt x="81886" y="1269242"/>
                </a:cubicBezTo>
                <a:lnTo>
                  <a:pt x="81886" y="1269242"/>
                </a:ln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1752600"/>
            <a:ext cx="1026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Aperture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AD8C82-9D8F-23F1-5B6D-1B9B24720670}"/>
              </a:ext>
            </a:extLst>
          </p:cNvPr>
          <p:cNvSpPr txBox="1"/>
          <p:nvPr/>
        </p:nvSpPr>
        <p:spPr>
          <a:xfrm>
            <a:off x="2542032" y="4783693"/>
            <a:ext cx="45557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  <a:r>
              <a:rPr lang="en-US" sz="24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F9D42-9A70-FE15-007E-F7B363C43D83}"/>
              </a:ext>
            </a:extLst>
          </p:cNvPr>
          <p:cNvSpPr txBox="1"/>
          <p:nvPr/>
        </p:nvSpPr>
        <p:spPr>
          <a:xfrm>
            <a:off x="4742688" y="4783693"/>
            <a:ext cx="393056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  <a:r>
              <a:rPr lang="en-US" sz="24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672325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04900" y="0"/>
            <a:ext cx="69723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101347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If that is true, about how big is the image distance?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10cm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focal 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diameter of the lens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68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If that is true, what can we say about the image size?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It’s 10cm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focal 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diameter of the lens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67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What can we say about the intensity of the light that strikes the focal plane array?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It’s 10</a:t>
            </a:r>
            <a:r>
              <a:rPr lang="en-US" baseline="30000" dirty="0"/>
              <a:t>2</a:t>
            </a:r>
            <a:r>
              <a:rPr lang="en-US" dirty="0"/>
              <a:t>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focal length squared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diameter of the lens squared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 squared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72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9847E-CAF6-18F5-19BE-E424281DB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CDD83D-75B3-1F56-1F36-54A4B81104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579170"/>
              </p:ext>
            </p:extLst>
          </p:nvPr>
        </p:nvGraphicFramePr>
        <p:xfrm>
          <a:off x="850392" y="1570736"/>
          <a:ext cx="7699248" cy="3330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9624">
                  <a:extLst>
                    <a:ext uri="{9D8B030D-6E8A-4147-A177-3AD203B41FA5}">
                      <a16:colId xmlns:a16="http://schemas.microsoft.com/office/drawing/2014/main" val="678332985"/>
                    </a:ext>
                  </a:extLst>
                </a:gridCol>
                <a:gridCol w="3849624">
                  <a:extLst>
                    <a:ext uri="{9D8B030D-6E8A-4147-A177-3AD203B41FA5}">
                      <a16:colId xmlns:a16="http://schemas.microsoft.com/office/drawing/2014/main" val="2614024108"/>
                    </a:ext>
                  </a:extLst>
                </a:gridCol>
              </a:tblGrid>
              <a:tr h="103358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f/#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Intensity change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6241554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f/11 to f/8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818210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f/8 to f/5.6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930052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f/5.6 to f/4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5182968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f/4 to 4f/2.8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4821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160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223.17.6.5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will a larger or a smaller aperture let in more light?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Larger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Smaller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 to tell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0888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does the f/# tell you?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gives you a relative intensity measurement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tells you how large your lens is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tells you how flat your focal plan array is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Still nothing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46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38400" y="5029200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http://hubblesite.org/the_telescope/hubble_essentials/graphics/telescope_essentials_howworks2_lg.gif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762000"/>
            <a:ext cx="6677025" cy="3867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432196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164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Simple Magnifier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A simple magnifier consists of a single converging lens</a:t>
            </a:r>
          </a:p>
          <a:p>
            <a:pPr eaLnBrk="1" hangingPunct="1"/>
            <a:r>
              <a:rPr lang="en-US"/>
              <a:t>This device is used to increase the apparent size of an object</a:t>
            </a:r>
          </a:p>
          <a:p>
            <a:pPr eaLnBrk="1" hangingPunct="1"/>
            <a:r>
              <a:rPr lang="en-US"/>
              <a:t>The size of an image formed on the retina depends on the angle subtended by the eye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2009774"/>
            <a:ext cx="8294230" cy="2200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16F8DD-C01D-5C7C-FEB8-2C902B1BA7F1}"/>
              </a:ext>
            </a:extLst>
          </p:cNvPr>
          <p:cNvSpPr txBox="1"/>
          <p:nvPr/>
        </p:nvSpPr>
        <p:spPr>
          <a:xfrm>
            <a:off x="8505721" y="2711514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784141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90" y="1320774"/>
            <a:ext cx="7924419" cy="43744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DF46F8-3B5B-D9AC-71C2-28F10D4D4FA6}"/>
              </a:ext>
            </a:extLst>
          </p:cNvPr>
          <p:cNvSpPr txBox="1"/>
          <p:nvPr/>
        </p:nvSpPr>
        <p:spPr>
          <a:xfrm>
            <a:off x="8222257" y="1769682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65AE3-D2E6-481C-2A4E-1EC8F4F15114}"/>
              </a:ext>
            </a:extLst>
          </p:cNvPr>
          <p:cNvSpPr txBox="1"/>
          <p:nvPr/>
        </p:nvSpPr>
        <p:spPr>
          <a:xfrm>
            <a:off x="6390409" y="4427538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2905864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The Size of a Magnified Image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524000"/>
            <a:ext cx="3810000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When an object is placed at the near point, the angle subtended is a maximum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The near point is about 25 cm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When the object is placed near the focal point of a converging lens, the lens forms a virtual, upright, and enlarged image</a:t>
            </a:r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0587" y="1683274"/>
            <a:ext cx="4443413" cy="3967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0B59E6-2626-C593-2C49-611106027E49}"/>
              </a:ext>
            </a:extLst>
          </p:cNvPr>
          <p:cNvSpPr txBox="1"/>
          <p:nvPr/>
        </p:nvSpPr>
        <p:spPr>
          <a:xfrm>
            <a:off x="6181344" y="4780957"/>
            <a:ext cx="3193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E7D871-C4A1-426C-20B3-F7FF84DEEB00}"/>
              </a:ext>
            </a:extLst>
          </p:cNvPr>
          <p:cNvSpPr txBox="1"/>
          <p:nvPr/>
        </p:nvSpPr>
        <p:spPr>
          <a:xfrm>
            <a:off x="6615799" y="5103676"/>
            <a:ext cx="30649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54D0C-FE0B-2C7D-DB48-4766EAE3944B}"/>
              </a:ext>
            </a:extLst>
          </p:cNvPr>
          <p:cNvSpPr txBox="1"/>
          <p:nvPr/>
        </p:nvSpPr>
        <p:spPr>
          <a:xfrm>
            <a:off x="8077200" y="1870266"/>
            <a:ext cx="409086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h</a:t>
            </a:r>
            <a:r>
              <a:rPr lang="en-US" sz="2000" baseline="-25000" dirty="0"/>
              <a:t>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18E8A7-2833-0F6D-B1D3-DBB6DFF52558}"/>
              </a:ext>
            </a:extLst>
          </p:cNvPr>
          <p:cNvSpPr/>
          <p:nvPr/>
        </p:nvSpPr>
        <p:spPr>
          <a:xfrm>
            <a:off x="6995160" y="3822234"/>
            <a:ext cx="128016" cy="219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5FBD5-0017-AE4E-CA78-7F9A2CF89232}"/>
              </a:ext>
            </a:extLst>
          </p:cNvPr>
          <p:cNvSpPr txBox="1"/>
          <p:nvPr/>
        </p:nvSpPr>
        <p:spPr>
          <a:xfrm>
            <a:off x="6922293" y="3793441"/>
            <a:ext cx="3193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</a:t>
            </a:r>
            <a:r>
              <a:rPr lang="en-US" sz="1200" baseline="-25000" dirty="0"/>
              <a:t>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5FC6F8-DA48-F83E-2E14-B41C3B3EE6F7}"/>
              </a:ext>
            </a:extLst>
          </p:cNvPr>
          <p:cNvSpPr txBox="1"/>
          <p:nvPr/>
        </p:nvSpPr>
        <p:spPr>
          <a:xfrm>
            <a:off x="8077200" y="3560624"/>
            <a:ext cx="32412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/>
              <a:t>h</a:t>
            </a:r>
            <a:r>
              <a:rPr lang="en-US" sz="1600" baseline="-25000" dirty="0"/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5F7BC4-0D4B-BB8F-CEF3-1876FF391D89}"/>
              </a:ext>
            </a:extLst>
          </p:cNvPr>
          <p:cNvSpPr txBox="1"/>
          <p:nvPr/>
        </p:nvSpPr>
        <p:spPr>
          <a:xfrm>
            <a:off x="6263096" y="395682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21292-7C9F-47D7-9DB1-AFE0D524BE77}"/>
              </a:ext>
            </a:extLst>
          </p:cNvPr>
          <p:cNvSpPr txBox="1"/>
          <p:nvPr/>
        </p:nvSpPr>
        <p:spPr>
          <a:xfrm>
            <a:off x="7265888" y="3780038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0076725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381000"/>
            <a:ext cx="6576023" cy="586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8" name="Straight Connector 7"/>
          <p:cNvCxnSpPr/>
          <p:nvPr/>
        </p:nvCxnSpPr>
        <p:spPr>
          <a:xfrm>
            <a:off x="1727200" y="979054"/>
            <a:ext cx="0" cy="30941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2941782" y="1011381"/>
            <a:ext cx="0" cy="30941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801090" y="2272145"/>
            <a:ext cx="105294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124363" y="2078181"/>
            <a:ext cx="319318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92EEAA-8BD1-5B38-BE47-898AAE524286}"/>
              </a:ext>
            </a:extLst>
          </p:cNvPr>
          <p:cNvSpPr txBox="1"/>
          <p:nvPr/>
        </p:nvSpPr>
        <p:spPr>
          <a:xfrm>
            <a:off x="4252682" y="5026285"/>
            <a:ext cx="3193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66AE53-5D3A-0E2B-FB6E-AC3C113C4134}"/>
              </a:ext>
            </a:extLst>
          </p:cNvPr>
          <p:cNvSpPr txBox="1"/>
          <p:nvPr/>
        </p:nvSpPr>
        <p:spPr>
          <a:xfrm>
            <a:off x="5061319" y="5487724"/>
            <a:ext cx="30649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0E018C-88F4-B7D0-7F33-01B19D1F3C04}"/>
              </a:ext>
            </a:extLst>
          </p:cNvPr>
          <p:cNvSpPr txBox="1"/>
          <p:nvPr/>
        </p:nvSpPr>
        <p:spPr>
          <a:xfrm>
            <a:off x="7306311" y="609600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E7980-AAEE-08EE-DFF3-4CEB2174EADC}"/>
              </a:ext>
            </a:extLst>
          </p:cNvPr>
          <p:cNvSpPr txBox="1"/>
          <p:nvPr/>
        </p:nvSpPr>
        <p:spPr>
          <a:xfrm>
            <a:off x="7262438" y="3167390"/>
            <a:ext cx="428322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79FF3-B452-EDC5-90EF-61446EC81961}"/>
              </a:ext>
            </a:extLst>
          </p:cNvPr>
          <p:cNvSpPr txBox="1"/>
          <p:nvPr/>
        </p:nvSpPr>
        <p:spPr>
          <a:xfrm>
            <a:off x="5547398" y="340967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51F14E-1772-DBE7-7933-F266BF68D1FC}"/>
              </a:ext>
            </a:extLst>
          </p:cNvPr>
          <p:cNvSpPr txBox="1"/>
          <p:nvPr/>
        </p:nvSpPr>
        <p:spPr>
          <a:xfrm>
            <a:off x="3399332" y="373134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CC316E-14B1-061A-5D0E-93BD23D11A6A}"/>
              </a:ext>
            </a:extLst>
          </p:cNvPr>
          <p:cNvSpPr txBox="1"/>
          <p:nvPr/>
        </p:nvSpPr>
        <p:spPr>
          <a:xfrm>
            <a:off x="2284022" y="3942431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8737890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EA070-AD8F-1B0E-B33F-20FEBB2B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3DB73F6E-2D3E-AFFE-E838-25A499833C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013"/>
          <a:stretch>
            <a:fillRect/>
          </a:stretch>
        </p:blipFill>
        <p:spPr bwMode="auto">
          <a:xfrm>
            <a:off x="1143000" y="1965960"/>
            <a:ext cx="6576023" cy="4282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465165-FE0C-72FF-F27E-50040A3EEE09}"/>
              </a:ext>
            </a:extLst>
          </p:cNvPr>
          <p:cNvSpPr txBox="1"/>
          <p:nvPr/>
        </p:nvSpPr>
        <p:spPr>
          <a:xfrm>
            <a:off x="4252682" y="5026285"/>
            <a:ext cx="3193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AF2C7C-30E9-1176-290E-A5DDED8026FB}"/>
              </a:ext>
            </a:extLst>
          </p:cNvPr>
          <p:cNvSpPr txBox="1"/>
          <p:nvPr/>
        </p:nvSpPr>
        <p:spPr>
          <a:xfrm>
            <a:off x="5061319" y="5487724"/>
            <a:ext cx="30649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565300-E9C2-6A20-FE6C-8CD267E127F2}"/>
              </a:ext>
            </a:extLst>
          </p:cNvPr>
          <p:cNvSpPr txBox="1"/>
          <p:nvPr/>
        </p:nvSpPr>
        <p:spPr>
          <a:xfrm>
            <a:off x="7262438" y="3167390"/>
            <a:ext cx="428322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C17D14-3B66-C55C-75BA-866F61060409}"/>
              </a:ext>
            </a:extLst>
          </p:cNvPr>
          <p:cNvSpPr txBox="1"/>
          <p:nvPr/>
        </p:nvSpPr>
        <p:spPr>
          <a:xfrm>
            <a:off x="5547398" y="340967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C26C1A-5C69-4D2D-5568-286A3EC771C3}"/>
              </a:ext>
            </a:extLst>
          </p:cNvPr>
          <p:cNvSpPr txBox="1"/>
          <p:nvPr/>
        </p:nvSpPr>
        <p:spPr>
          <a:xfrm>
            <a:off x="3399332" y="373134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94AA0-024C-32DE-81DE-D8807A41EFB3}"/>
              </a:ext>
            </a:extLst>
          </p:cNvPr>
          <p:cNvSpPr txBox="1"/>
          <p:nvPr/>
        </p:nvSpPr>
        <p:spPr>
          <a:xfrm>
            <a:off x="2284022" y="3942431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60A404-5F26-A6AB-FA92-97262AE6C916}"/>
              </a:ext>
            </a:extLst>
          </p:cNvPr>
          <p:cNvSpPr/>
          <p:nvPr/>
        </p:nvSpPr>
        <p:spPr>
          <a:xfrm>
            <a:off x="2500748" y="5816103"/>
            <a:ext cx="4530983" cy="7456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4B9E8A-D3D0-393B-0F3B-42C9C3E877D8}"/>
              </a:ext>
            </a:extLst>
          </p:cNvPr>
          <p:cNvCxnSpPr>
            <a:cxnSpLocks/>
          </p:cNvCxnSpPr>
          <p:nvPr/>
        </p:nvCxnSpPr>
        <p:spPr>
          <a:xfrm>
            <a:off x="6550614" y="5559552"/>
            <a:ext cx="0" cy="5769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844211F-6B62-2DF3-155B-F8B55F40E33A}"/>
              </a:ext>
            </a:extLst>
          </p:cNvPr>
          <p:cNvCxnSpPr>
            <a:cxnSpLocks/>
          </p:cNvCxnSpPr>
          <p:nvPr/>
        </p:nvCxnSpPr>
        <p:spPr>
          <a:xfrm>
            <a:off x="2941782" y="3862147"/>
            <a:ext cx="0" cy="238625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0E7C15F-4CD4-9C43-BD1D-D907E35AD5D9}"/>
              </a:ext>
            </a:extLst>
          </p:cNvPr>
          <p:cNvCxnSpPr/>
          <p:nvPr/>
        </p:nvCxnSpPr>
        <p:spPr>
          <a:xfrm>
            <a:off x="2941782" y="5985181"/>
            <a:ext cx="3608832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F579F81-C611-AF56-9E16-81264727CD9E}"/>
              </a:ext>
            </a:extLst>
          </p:cNvPr>
          <p:cNvSpPr txBox="1"/>
          <p:nvPr/>
        </p:nvSpPr>
        <p:spPr>
          <a:xfrm>
            <a:off x="4625014" y="5816103"/>
            <a:ext cx="28245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42D5FE-1662-1927-3CF2-EC86929AF629}"/>
              </a:ext>
            </a:extLst>
          </p:cNvPr>
          <p:cNvCxnSpPr>
            <a:cxnSpLocks/>
          </p:cNvCxnSpPr>
          <p:nvPr/>
        </p:nvCxnSpPr>
        <p:spPr>
          <a:xfrm>
            <a:off x="2941782" y="5471157"/>
            <a:ext cx="88955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BEE2BAD-9820-2BD8-B7AC-ADC9829791B3}"/>
              </a:ext>
            </a:extLst>
          </p:cNvPr>
          <p:cNvSpPr txBox="1"/>
          <p:nvPr/>
        </p:nvSpPr>
        <p:spPr>
          <a:xfrm>
            <a:off x="3247687" y="5318083"/>
            <a:ext cx="2600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Script MT Bold" panose="03040602040607080904" pitchFamily="66" charset="0"/>
              </a:rPr>
              <a:t>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58444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2A867-10CE-CCEE-1AF5-5945F8C5CF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29B2DC-9D67-EA05-E426-34867E0B93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5789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522729-DB03-484C-B934-8304638AC9B4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84323" name="Text Box 2"/>
          <p:cNvSpPr txBox="1">
            <a:spLocks noChangeArrowheads="1"/>
          </p:cNvSpPr>
          <p:nvPr/>
        </p:nvSpPr>
        <p:spPr bwMode="auto">
          <a:xfrm>
            <a:off x="762000" y="381000"/>
            <a:ext cx="762000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Question 223.18.1</a:t>
            </a:r>
          </a:p>
        </p:txBody>
      </p:sp>
      <p:sp>
        <p:nvSpPr>
          <p:cNvPr id="184324" name="Text Box 3"/>
          <p:cNvSpPr txBox="1">
            <a:spLocks noChangeArrowheads="1"/>
          </p:cNvSpPr>
          <p:nvPr/>
        </p:nvSpPr>
        <p:spPr bwMode="auto">
          <a:xfrm>
            <a:off x="762000" y="1295400"/>
            <a:ext cx="7620000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Two campers wish to start a fire during the day. One camper is nearsighted and one is farsighted. Whose glasses should be used to focus the Sun’s rays onto some paper to start the fire?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either camper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nearsighted camper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farsighted camper</a:t>
            </a:r>
          </a:p>
        </p:txBody>
      </p:sp>
      <p:sp>
        <p:nvSpPr>
          <p:cNvPr id="184325" name="Line 4"/>
          <p:cNvSpPr>
            <a:spLocks noChangeShapeType="1"/>
          </p:cNvSpPr>
          <p:nvPr/>
        </p:nvSpPr>
        <p:spPr bwMode="auto">
          <a:xfrm>
            <a:off x="2743200" y="9906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4250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415926"/>
            <a:ext cx="6442074" cy="64420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6934200" y="4876800"/>
            <a:ext cx="16448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Retina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9326" y="762000"/>
            <a:ext cx="12202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4876800"/>
            <a:ext cx="182934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Cornea</a:t>
            </a:r>
          </a:p>
        </p:txBody>
      </p:sp>
      <p:sp>
        <p:nvSpPr>
          <p:cNvPr id="8" name="Freeform 7"/>
          <p:cNvSpPr/>
          <p:nvPr/>
        </p:nvSpPr>
        <p:spPr>
          <a:xfrm>
            <a:off x="2171700" y="1543050"/>
            <a:ext cx="771525" cy="1771650"/>
          </a:xfrm>
          <a:custGeom>
            <a:avLst/>
            <a:gdLst>
              <a:gd name="connsiteX0" fmla="*/ 0 w 771525"/>
              <a:gd name="connsiteY0" fmla="*/ 0 h 1771650"/>
              <a:gd name="connsiteX1" fmla="*/ 200025 w 771525"/>
              <a:gd name="connsiteY1" fmla="*/ 400050 h 1771650"/>
              <a:gd name="connsiteX2" fmla="*/ 228600 w 771525"/>
              <a:gd name="connsiteY2" fmla="*/ 228600 h 1771650"/>
              <a:gd name="connsiteX3" fmla="*/ 771525 w 771525"/>
              <a:gd name="connsiteY3" fmla="*/ 1771650 h 1771650"/>
              <a:gd name="connsiteX4" fmla="*/ 771525 w 771525"/>
              <a:gd name="connsiteY4" fmla="*/ 177165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1525" h="1771650">
                <a:moveTo>
                  <a:pt x="0" y="0"/>
                </a:moveTo>
                <a:cubicBezTo>
                  <a:pt x="80962" y="180975"/>
                  <a:pt x="161925" y="361950"/>
                  <a:pt x="200025" y="400050"/>
                </a:cubicBezTo>
                <a:cubicBezTo>
                  <a:pt x="238125" y="438150"/>
                  <a:pt x="133350" y="0"/>
                  <a:pt x="228600" y="228600"/>
                </a:cubicBezTo>
                <a:cubicBezTo>
                  <a:pt x="323850" y="457200"/>
                  <a:pt x="771525" y="1771650"/>
                  <a:pt x="771525" y="1771650"/>
                </a:cubicBezTo>
                <a:lnTo>
                  <a:pt x="771525" y="177165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447800" y="4191000"/>
            <a:ext cx="742950" cy="1028700"/>
          </a:xfrm>
          <a:custGeom>
            <a:avLst/>
            <a:gdLst>
              <a:gd name="connsiteX0" fmla="*/ 0 w 742950"/>
              <a:gd name="connsiteY0" fmla="*/ 1028700 h 1028700"/>
              <a:gd name="connsiteX1" fmla="*/ 428625 w 742950"/>
              <a:gd name="connsiteY1" fmla="*/ 371475 h 1028700"/>
              <a:gd name="connsiteX2" fmla="*/ 400050 w 742950"/>
              <a:gd name="connsiteY2" fmla="*/ 628650 h 1028700"/>
              <a:gd name="connsiteX3" fmla="*/ 742950 w 742950"/>
              <a:gd name="connsiteY3" fmla="*/ 0 h 102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2950" h="1028700">
                <a:moveTo>
                  <a:pt x="0" y="1028700"/>
                </a:moveTo>
                <a:cubicBezTo>
                  <a:pt x="180975" y="733425"/>
                  <a:pt x="361950" y="438150"/>
                  <a:pt x="428625" y="371475"/>
                </a:cubicBezTo>
                <a:cubicBezTo>
                  <a:pt x="495300" y="304800"/>
                  <a:pt x="347663" y="690562"/>
                  <a:pt x="400050" y="628650"/>
                </a:cubicBezTo>
                <a:cubicBezTo>
                  <a:pt x="452437" y="566738"/>
                  <a:pt x="685800" y="90487"/>
                  <a:pt x="742950" y="0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5200650" y="4143375"/>
            <a:ext cx="1685925" cy="1028700"/>
          </a:xfrm>
          <a:custGeom>
            <a:avLst/>
            <a:gdLst>
              <a:gd name="connsiteX0" fmla="*/ 1685925 w 1685925"/>
              <a:gd name="connsiteY0" fmla="*/ 1028700 h 1028700"/>
              <a:gd name="connsiteX1" fmla="*/ 1171575 w 1685925"/>
              <a:gd name="connsiteY1" fmla="*/ 685800 h 1028700"/>
              <a:gd name="connsiteX2" fmla="*/ 1257300 w 1685925"/>
              <a:gd name="connsiteY2" fmla="*/ 857250 h 1028700"/>
              <a:gd name="connsiteX3" fmla="*/ 0 w 1685925"/>
              <a:gd name="connsiteY3" fmla="*/ 0 h 102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85925" h="1028700">
                <a:moveTo>
                  <a:pt x="1685925" y="1028700"/>
                </a:moveTo>
                <a:lnTo>
                  <a:pt x="1171575" y="685800"/>
                </a:lnTo>
                <a:lnTo>
                  <a:pt x="1257300" y="857250"/>
                </a:lnTo>
                <a:lnTo>
                  <a:pt x="0" y="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0" y="1676400"/>
            <a:ext cx="205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Aqueous humor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533400"/>
            <a:ext cx="205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Vitreous humor</a:t>
            </a:r>
          </a:p>
        </p:txBody>
      </p:sp>
      <p:sp>
        <p:nvSpPr>
          <p:cNvPr id="15" name="Freeform 14"/>
          <p:cNvSpPr/>
          <p:nvPr/>
        </p:nvSpPr>
        <p:spPr>
          <a:xfrm>
            <a:off x="4914900" y="1600200"/>
            <a:ext cx="1457325" cy="1914525"/>
          </a:xfrm>
          <a:custGeom>
            <a:avLst/>
            <a:gdLst>
              <a:gd name="connsiteX0" fmla="*/ 1457325 w 1457325"/>
              <a:gd name="connsiteY0" fmla="*/ 0 h 1914525"/>
              <a:gd name="connsiteX1" fmla="*/ 600075 w 1457325"/>
              <a:gd name="connsiteY1" fmla="*/ 1000125 h 1914525"/>
              <a:gd name="connsiteX2" fmla="*/ 971550 w 1457325"/>
              <a:gd name="connsiteY2" fmla="*/ 857250 h 1914525"/>
              <a:gd name="connsiteX3" fmla="*/ 0 w 1457325"/>
              <a:gd name="connsiteY3" fmla="*/ 1914525 h 1914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7325" h="1914525">
                <a:moveTo>
                  <a:pt x="1457325" y="0"/>
                </a:moveTo>
                <a:cubicBezTo>
                  <a:pt x="1069181" y="428625"/>
                  <a:pt x="681037" y="857250"/>
                  <a:pt x="600075" y="1000125"/>
                </a:cubicBezTo>
                <a:cubicBezTo>
                  <a:pt x="519113" y="1143000"/>
                  <a:pt x="1071562" y="704850"/>
                  <a:pt x="971550" y="857250"/>
                </a:cubicBezTo>
                <a:cubicBezTo>
                  <a:pt x="871538" y="1009650"/>
                  <a:pt x="176212" y="1752600"/>
                  <a:pt x="0" y="1914525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371600" y="2362200"/>
            <a:ext cx="1028700" cy="628650"/>
          </a:xfrm>
          <a:custGeom>
            <a:avLst/>
            <a:gdLst>
              <a:gd name="connsiteX0" fmla="*/ 0 w 1028700"/>
              <a:gd name="connsiteY0" fmla="*/ 0 h 628650"/>
              <a:gd name="connsiteX1" fmla="*/ 600075 w 1028700"/>
              <a:gd name="connsiteY1" fmla="*/ 171450 h 628650"/>
              <a:gd name="connsiteX2" fmla="*/ 285750 w 1028700"/>
              <a:gd name="connsiteY2" fmla="*/ 314325 h 628650"/>
              <a:gd name="connsiteX3" fmla="*/ 1028700 w 1028700"/>
              <a:gd name="connsiteY3" fmla="*/ 628650 h 628650"/>
              <a:gd name="connsiteX4" fmla="*/ 1028700 w 1028700"/>
              <a:gd name="connsiteY4" fmla="*/ 628650 h 62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8700" h="628650">
                <a:moveTo>
                  <a:pt x="0" y="0"/>
                </a:moveTo>
                <a:cubicBezTo>
                  <a:pt x="276225" y="59531"/>
                  <a:pt x="552450" y="119063"/>
                  <a:pt x="600075" y="171450"/>
                </a:cubicBezTo>
                <a:cubicBezTo>
                  <a:pt x="647700" y="223838"/>
                  <a:pt x="214313" y="238125"/>
                  <a:pt x="285750" y="314325"/>
                </a:cubicBezTo>
                <a:cubicBezTo>
                  <a:pt x="357188" y="390525"/>
                  <a:pt x="1028700" y="628650"/>
                  <a:pt x="1028700" y="628650"/>
                </a:cubicBezTo>
                <a:lnTo>
                  <a:pt x="1028700" y="62865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 flipV="1">
            <a:off x="1257300" y="3352800"/>
            <a:ext cx="1200150" cy="119063"/>
          </a:xfrm>
          <a:custGeom>
            <a:avLst/>
            <a:gdLst>
              <a:gd name="connsiteX0" fmla="*/ 0 w 1200150"/>
              <a:gd name="connsiteY0" fmla="*/ 271462 h 271462"/>
              <a:gd name="connsiteX1" fmla="*/ 800100 w 1200150"/>
              <a:gd name="connsiteY1" fmla="*/ 42862 h 271462"/>
              <a:gd name="connsiteX2" fmla="*/ 1200150 w 1200150"/>
              <a:gd name="connsiteY2" fmla="*/ 14287 h 271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0150" h="271462">
                <a:moveTo>
                  <a:pt x="0" y="271462"/>
                </a:moveTo>
                <a:cubicBezTo>
                  <a:pt x="300037" y="178593"/>
                  <a:pt x="600075" y="85725"/>
                  <a:pt x="800100" y="42862"/>
                </a:cubicBezTo>
                <a:cubicBezTo>
                  <a:pt x="1000125" y="0"/>
                  <a:pt x="1100137" y="7143"/>
                  <a:pt x="1200150" y="14287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228600" y="2971800"/>
            <a:ext cx="1371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Pupil</a:t>
            </a:r>
          </a:p>
        </p:txBody>
      </p:sp>
      <p:sp>
        <p:nvSpPr>
          <p:cNvPr id="21" name="Freeform 20"/>
          <p:cNvSpPr/>
          <p:nvPr/>
        </p:nvSpPr>
        <p:spPr>
          <a:xfrm flipV="1">
            <a:off x="1371600" y="3886200"/>
            <a:ext cx="1200150" cy="119063"/>
          </a:xfrm>
          <a:custGeom>
            <a:avLst/>
            <a:gdLst>
              <a:gd name="connsiteX0" fmla="*/ 0 w 1200150"/>
              <a:gd name="connsiteY0" fmla="*/ 271462 h 271462"/>
              <a:gd name="connsiteX1" fmla="*/ 800100 w 1200150"/>
              <a:gd name="connsiteY1" fmla="*/ 42862 h 271462"/>
              <a:gd name="connsiteX2" fmla="*/ 1200150 w 1200150"/>
              <a:gd name="connsiteY2" fmla="*/ 14287 h 271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0150" h="271462">
                <a:moveTo>
                  <a:pt x="0" y="271462"/>
                </a:moveTo>
                <a:cubicBezTo>
                  <a:pt x="300037" y="178593"/>
                  <a:pt x="600075" y="85725"/>
                  <a:pt x="800100" y="42862"/>
                </a:cubicBezTo>
                <a:cubicBezTo>
                  <a:pt x="1000125" y="0"/>
                  <a:pt x="1100137" y="7143"/>
                  <a:pt x="1200150" y="14287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3581400"/>
            <a:ext cx="1371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Irisl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425876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2"/>
          <p:cNvGrpSpPr/>
          <p:nvPr/>
        </p:nvGrpSpPr>
        <p:grpSpPr>
          <a:xfrm>
            <a:off x="424032" y="1627321"/>
            <a:ext cx="8024740" cy="2987542"/>
            <a:chOff x="123984" y="1627321"/>
            <a:chExt cx="8024740" cy="2987542"/>
          </a:xfrm>
        </p:grpSpPr>
        <p:sp>
          <p:nvSpPr>
            <p:cNvPr id="3" name="Oval 2"/>
            <p:cNvSpPr/>
            <p:nvPr/>
          </p:nvSpPr>
          <p:spPr>
            <a:xfrm>
              <a:off x="5297838" y="1779721"/>
              <a:ext cx="2606298" cy="2745783"/>
            </a:xfrm>
            <a:prstGeom prst="ellipse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5486400" y="1999281"/>
              <a:ext cx="2247255" cy="2355744"/>
            </a:xfrm>
            <a:prstGeom prst="ellipse">
              <a:avLst/>
            </a:prstGeom>
            <a:gradFill flip="none" rotWithShape="1"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c 4"/>
            <p:cNvSpPr/>
            <p:nvPr/>
          </p:nvSpPr>
          <p:spPr>
            <a:xfrm>
              <a:off x="5036945" y="2293751"/>
              <a:ext cx="1456846" cy="1642819"/>
            </a:xfrm>
            <a:prstGeom prst="arc">
              <a:avLst>
                <a:gd name="adj1" fmla="val 6516941"/>
                <a:gd name="adj2" fmla="val 15325950"/>
              </a:avLst>
            </a:prstGeom>
            <a:gradFill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</a:gradFill>
            <a:ln>
              <a:solidFill>
                <a:srgbClr val="99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 rot="21414298">
              <a:off x="5412929" y="2634184"/>
              <a:ext cx="410724" cy="1005921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Parallelogram 6"/>
            <p:cNvSpPr/>
            <p:nvPr/>
          </p:nvSpPr>
          <p:spPr>
            <a:xfrm rot="553477" flipH="1">
              <a:off x="7086514" y="2802348"/>
              <a:ext cx="616057" cy="723751"/>
            </a:xfrm>
            <a:prstGeom prst="parallelogram">
              <a:avLst>
                <a:gd name="adj" fmla="val 2431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123984" y="1627321"/>
              <a:ext cx="2681207" cy="2293749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47"/>
            <p:cNvGrpSpPr/>
            <p:nvPr/>
          </p:nvGrpSpPr>
          <p:grpSpPr>
            <a:xfrm>
              <a:off x="774893" y="1766812"/>
              <a:ext cx="1363850" cy="2848051"/>
              <a:chOff x="2045756" y="1999283"/>
              <a:chExt cx="1363850" cy="2696707"/>
            </a:xfrm>
          </p:grpSpPr>
          <p:sp>
            <p:nvSpPr>
              <p:cNvPr id="22" name="Flowchart: Terminator 21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rapezoid 22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Double Bracket 23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rapezoid 24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60"/>
            <p:cNvGrpSpPr/>
            <p:nvPr/>
          </p:nvGrpSpPr>
          <p:grpSpPr>
            <a:xfrm>
              <a:off x="7175728" y="2960179"/>
              <a:ext cx="418444" cy="526943"/>
              <a:chOff x="4383429" y="1596327"/>
              <a:chExt cx="638012" cy="836908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4383429" y="1764224"/>
                <a:ext cx="638012" cy="669011"/>
              </a:xfrm>
              <a:prstGeom prst="ellipse">
                <a:avLst/>
              </a:prstGeom>
              <a:gradFill flip="none" rotWithShape="1">
                <a:gsLst>
                  <a:gs pos="32000">
                    <a:srgbClr val="FFFF00">
                      <a:tint val="66000"/>
                      <a:satMod val="160000"/>
                    </a:srgbClr>
                  </a:gs>
                  <a:gs pos="50000">
                    <a:srgbClr val="FFFF00">
                      <a:tint val="44500"/>
                      <a:satMod val="160000"/>
                      <a:alpha val="46000"/>
                    </a:srgbClr>
                  </a:gs>
                  <a:gs pos="100000">
                    <a:srgbClr val="FFFF00">
                      <a:tint val="23500"/>
                      <a:satMod val="160000"/>
                      <a:alpha val="0"/>
                    </a:srgbClr>
                  </a:gs>
                  <a:gs pos="66000">
                    <a:srgbClr val="FFFF00">
                      <a:tint val="23500"/>
                      <a:satMod val="160000"/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" name="Group 55"/>
              <p:cNvGrpSpPr/>
              <p:nvPr/>
            </p:nvGrpSpPr>
            <p:grpSpPr>
              <a:xfrm flipV="1">
                <a:off x="4571992" y="1596327"/>
                <a:ext cx="291863" cy="663847"/>
                <a:chOff x="2045756" y="1999283"/>
                <a:chExt cx="1363850" cy="2696707"/>
              </a:xfrm>
            </p:grpSpPr>
            <p:sp>
              <p:nvSpPr>
                <p:cNvPr id="18" name="Flowchart: Terminator 17"/>
                <p:cNvSpPr/>
                <p:nvPr/>
              </p:nvSpPr>
              <p:spPr>
                <a:xfrm rot="5400000">
                  <a:off x="2208487" y="3696347"/>
                  <a:ext cx="976396" cy="557939"/>
                </a:xfrm>
                <a:prstGeom prst="flowChartTerminator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Trapezoid 18"/>
                <p:cNvSpPr/>
                <p:nvPr/>
              </p:nvSpPr>
              <p:spPr>
                <a:xfrm>
                  <a:off x="2340224" y="4355027"/>
                  <a:ext cx="712922" cy="340963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Double Bracket 19"/>
                <p:cNvSpPr/>
                <p:nvPr/>
              </p:nvSpPr>
              <p:spPr>
                <a:xfrm flipH="1">
                  <a:off x="2572700" y="3068664"/>
                  <a:ext cx="247973" cy="402956"/>
                </a:xfrm>
                <a:prstGeom prst="bracketPair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Trapezoid 20"/>
                <p:cNvSpPr/>
                <p:nvPr/>
              </p:nvSpPr>
              <p:spPr>
                <a:xfrm>
                  <a:off x="2045756" y="1999283"/>
                  <a:ext cx="1363850" cy="1301857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rgbClr val="FFC000">
                        <a:tint val="66000"/>
                        <a:satMod val="160000"/>
                      </a:srgbClr>
                    </a:gs>
                    <a:gs pos="50000">
                      <a:srgbClr val="FFC000">
                        <a:tint val="44500"/>
                        <a:satMod val="160000"/>
                      </a:srgbClr>
                    </a:gs>
                    <a:gs pos="100000">
                      <a:srgbClr val="FFC000">
                        <a:tint val="23500"/>
                        <a:satMod val="160000"/>
                      </a:srgbClr>
                    </a:gs>
                  </a:gsLst>
                  <a:lin ang="2700000" scaled="1"/>
                  <a:tileRect/>
                </a:gra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4" name="Can 13"/>
            <p:cNvSpPr/>
            <p:nvPr/>
          </p:nvSpPr>
          <p:spPr>
            <a:xfrm rot="8068981">
              <a:off x="7546708" y="3911559"/>
              <a:ext cx="429117" cy="774915"/>
            </a:xfrm>
            <a:prstGeom prst="can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 rot="2663597">
              <a:off x="7448049" y="3838599"/>
              <a:ext cx="123987" cy="461387"/>
            </a:xfrm>
            <a:prstGeom prst="ellipse">
              <a:avLst/>
            </a:prstGeom>
            <a:solidFill>
              <a:srgbClr val="FFFF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56"/>
            <p:cNvGrpSpPr/>
            <p:nvPr/>
          </p:nvGrpSpPr>
          <p:grpSpPr>
            <a:xfrm>
              <a:off x="1828800" y="1771650"/>
              <a:ext cx="5500688" cy="1619250"/>
              <a:chOff x="1828800" y="1771650"/>
              <a:chExt cx="5500688" cy="1619250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57"/>
            <p:cNvGrpSpPr/>
            <p:nvPr/>
          </p:nvGrpSpPr>
          <p:grpSpPr>
            <a:xfrm flipV="1">
              <a:off x="1852612" y="2924175"/>
              <a:ext cx="5500688" cy="1619250"/>
              <a:chOff x="1828800" y="1771650"/>
              <a:chExt cx="5500688" cy="1619250"/>
            </a:xfrm>
          </p:grpSpPr>
          <p:cxnSp>
            <p:nvCxnSpPr>
              <p:cNvPr id="59" name="Straight Connector 58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7449901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biologists call the process of focusing the light in the eye?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focusing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accommodation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image formation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Contraction of the </a:t>
            </a:r>
            <a:r>
              <a:rPr lang="en-US" dirty="0" err="1"/>
              <a:t>ciliary</a:t>
            </a:r>
            <a:r>
              <a:rPr lang="en-US" dirty="0"/>
              <a:t> muscle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6168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4" descr="neuro4e-fig-11-02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91000" y="1143000"/>
            <a:ext cx="4854575" cy="3581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81000"/>
            <a:ext cx="8229600" cy="60960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00B050"/>
                </a:solidFill>
              </a:rPr>
              <a:t>Accommodation by the Lens</a:t>
            </a:r>
          </a:p>
        </p:txBody>
      </p:sp>
      <p:sp>
        <p:nvSpPr>
          <p:cNvPr id="28676" name="Content Placeholder 4"/>
          <p:cNvSpPr>
            <a:spLocks noGrp="1"/>
          </p:cNvSpPr>
          <p:nvPr>
            <p:ph idx="1"/>
          </p:nvPr>
        </p:nvSpPr>
        <p:spPr>
          <a:xfrm>
            <a:off x="228600" y="1219200"/>
            <a:ext cx="3810000" cy="5257800"/>
          </a:xfrm>
        </p:spPr>
        <p:txBody>
          <a:bodyPr/>
          <a:lstStyle/>
          <a:p>
            <a:r>
              <a:rPr lang="en-US" sz="2000"/>
              <a:t>Accommodation refers to  dynamic changes in the shape of the lens.</a:t>
            </a:r>
          </a:p>
          <a:p>
            <a:r>
              <a:rPr lang="en-US" sz="2000"/>
              <a:t>As an object comes within about 20 feet the light rays originating at a point are no longer considered to be parallel.</a:t>
            </a:r>
          </a:p>
          <a:p>
            <a:r>
              <a:rPr lang="en-US" sz="2000"/>
              <a:t>Rather these light rays diverge and a greater refractive power is required to bring them into focus. </a:t>
            </a:r>
          </a:p>
          <a:p>
            <a:r>
              <a:rPr lang="en-US" sz="2000"/>
              <a:t>The lens can contribute about 12 or more diopters to the focusing of light rays on the back of the eye by rounding up.</a:t>
            </a:r>
          </a:p>
        </p:txBody>
      </p:sp>
    </p:spTree>
    <p:extLst>
      <p:ext uri="{BB962C8B-B14F-4D97-AF65-F5344CB8AC3E}">
        <p14:creationId xmlns:p14="http://schemas.microsoft.com/office/powerpoint/2010/main" val="29399198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we call the position of the closest thing we can see?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Near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Far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Squint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conjunctiva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772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98" name="Picture 4" descr="neuro4e-box-11-a(1)-0"/>
          <p:cNvPicPr>
            <a:picLocks noChangeAspect="1" noChangeArrowheads="1"/>
          </p:cNvPicPr>
          <p:nvPr/>
        </p:nvPicPr>
        <p:blipFill>
          <a:blip r:embed="rId3" cstate="print"/>
          <a:srcRect l="30489" r="28049" b="6947"/>
          <a:stretch>
            <a:fillRect/>
          </a:stretch>
        </p:blipFill>
        <p:spPr bwMode="auto">
          <a:xfrm>
            <a:off x="5410200" y="1371600"/>
            <a:ext cx="2971800" cy="501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Myopia and Other Refractive Errors</a:t>
            </a:r>
          </a:p>
        </p:txBody>
      </p:sp>
      <p:sp>
        <p:nvSpPr>
          <p:cNvPr id="29700" name="Content Placeholder 3"/>
          <p:cNvSpPr>
            <a:spLocks noGrp="1"/>
          </p:cNvSpPr>
          <p:nvPr>
            <p:ph idx="1"/>
          </p:nvPr>
        </p:nvSpPr>
        <p:spPr>
          <a:xfrm>
            <a:off x="228600" y="1295400"/>
            <a:ext cx="5029200" cy="4724400"/>
          </a:xfrm>
        </p:spPr>
        <p:txBody>
          <a:bodyPr/>
          <a:lstStyle/>
          <a:p>
            <a:r>
              <a:rPr lang="en-US" sz="2400" dirty="0">
                <a:solidFill>
                  <a:srgbClr val="00B050"/>
                </a:solidFill>
              </a:rPr>
              <a:t>Myopia </a:t>
            </a:r>
            <a:r>
              <a:rPr lang="en-US" sz="2400" dirty="0"/>
              <a:t>– nearsightedness </a:t>
            </a:r>
          </a:p>
          <a:p>
            <a:pPr lvl="1"/>
            <a:r>
              <a:rPr lang="en-US" sz="2000" dirty="0"/>
              <a:t>The ability to see close objects clearly but distant objects are blurry</a:t>
            </a:r>
          </a:p>
          <a:p>
            <a:pPr lvl="1"/>
            <a:r>
              <a:rPr lang="en-US" sz="2000" dirty="0"/>
              <a:t>Cornea and lens focus object in front of the retina</a:t>
            </a:r>
          </a:p>
          <a:p>
            <a:pPr lvl="1"/>
            <a:r>
              <a:rPr lang="en-US" sz="2000" dirty="0"/>
              <a:t>Corrected by concave lens (minus lens), radial keratotomy, laser corneal sculpting.</a:t>
            </a:r>
          </a:p>
          <a:p>
            <a:r>
              <a:rPr lang="en-US" sz="2400" dirty="0" err="1">
                <a:solidFill>
                  <a:srgbClr val="00B050"/>
                </a:solidFill>
              </a:rPr>
              <a:t>Hyperopia</a:t>
            </a:r>
            <a:r>
              <a:rPr lang="en-US" sz="2400" dirty="0"/>
              <a:t> - farsightedness</a:t>
            </a:r>
          </a:p>
          <a:p>
            <a:pPr lvl="1"/>
            <a:r>
              <a:rPr lang="en-US" sz="2000" dirty="0"/>
              <a:t>Ability to see distant objects but close objects are blurry</a:t>
            </a:r>
          </a:p>
          <a:p>
            <a:pPr lvl="1"/>
            <a:r>
              <a:rPr lang="en-US" sz="2000" dirty="0"/>
              <a:t>Image is focused behind the retina.</a:t>
            </a:r>
          </a:p>
          <a:p>
            <a:pPr lvl="1"/>
            <a:r>
              <a:rPr lang="en-US" sz="2000" dirty="0"/>
              <a:t>Corrected by convex lenses.</a:t>
            </a:r>
          </a:p>
        </p:txBody>
      </p:sp>
    </p:spTree>
    <p:extLst>
      <p:ext uri="{BB962C8B-B14F-4D97-AF65-F5344CB8AC3E}">
        <p14:creationId xmlns:p14="http://schemas.microsoft.com/office/powerpoint/2010/main" val="15980007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3369812" y="461065"/>
            <a:ext cx="1430788" cy="14425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3484294" y="591186"/>
            <a:ext cx="1240106" cy="1237614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3484294" y="576413"/>
            <a:ext cx="1240106" cy="1237614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c 4"/>
          <p:cNvSpPr/>
          <p:nvPr/>
        </p:nvSpPr>
        <p:spPr>
          <a:xfrm>
            <a:off x="3211416" y="731116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 rot="21414298">
            <a:off x="3439688" y="909966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28601" y="381000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47"/>
          <p:cNvGrpSpPr/>
          <p:nvPr/>
        </p:nvGrpSpPr>
        <p:grpSpPr>
          <a:xfrm>
            <a:off x="623789" y="454283"/>
            <a:ext cx="828037" cy="1496253"/>
            <a:chOff x="2045756" y="1999283"/>
            <a:chExt cx="1363850" cy="2696707"/>
          </a:xfrm>
        </p:grpSpPr>
        <p:sp>
          <p:nvSpPr>
            <p:cNvPr id="22" name="Flowchart: Terminator 21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rapezoid 22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rapezoid 24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0"/>
          <p:cNvGrpSpPr/>
          <p:nvPr/>
        </p:nvGrpSpPr>
        <p:grpSpPr>
          <a:xfrm>
            <a:off x="4509939" y="1081231"/>
            <a:ext cx="254051" cy="276835"/>
            <a:chOff x="4383429" y="1596327"/>
            <a:chExt cx="638012" cy="836908"/>
          </a:xfrm>
        </p:grpSpPr>
        <p:sp>
          <p:nvSpPr>
            <p:cNvPr id="16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55"/>
            <p:cNvGrpSpPr/>
            <p:nvPr/>
          </p:nvGrpSpPr>
          <p:grpSpPr>
            <a:xfrm flipV="1">
              <a:off x="4571992" y="1596327"/>
              <a:ext cx="291863" cy="663847"/>
              <a:chOff x="2045756" y="1999283"/>
              <a:chExt cx="1363850" cy="2696707"/>
            </a:xfrm>
          </p:grpSpPr>
          <p:sp>
            <p:nvSpPr>
              <p:cNvPr id="18" name="Flowchart: Terminator 17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rapezoid 18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Double Bracket 19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rapezoid 20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56"/>
          <p:cNvGrpSpPr/>
          <p:nvPr/>
        </p:nvGrpSpPr>
        <p:grpSpPr>
          <a:xfrm>
            <a:off x="1263649" y="456825"/>
            <a:ext cx="3339643" cy="850690"/>
            <a:chOff x="1828800" y="1771650"/>
            <a:chExt cx="5500688" cy="1619250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57"/>
          <p:cNvGrpSpPr/>
          <p:nvPr/>
        </p:nvGrpSpPr>
        <p:grpSpPr>
          <a:xfrm flipV="1">
            <a:off x="1278106" y="1062316"/>
            <a:ext cx="3339643" cy="850690"/>
            <a:chOff x="1828800" y="1771650"/>
            <a:chExt cx="5500688" cy="1619250"/>
          </a:xfrm>
        </p:grpSpPr>
        <p:cxnSp>
          <p:nvCxnSpPr>
            <p:cNvPr id="59" name="Straight Connector 58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Oval 33"/>
          <p:cNvSpPr/>
          <p:nvPr/>
        </p:nvSpPr>
        <p:spPr>
          <a:xfrm>
            <a:off x="3293612" y="2463920"/>
            <a:ext cx="2192788" cy="144252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3408094" y="2590800"/>
            <a:ext cx="2002106" cy="1219200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08094" y="2590800"/>
            <a:ext cx="2002106" cy="1219200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/>
          <p:cNvSpPr/>
          <p:nvPr/>
        </p:nvSpPr>
        <p:spPr>
          <a:xfrm>
            <a:off x="3230302" y="2733971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 rot="21414298">
            <a:off x="3470351" y="2912821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8601" y="2383855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47"/>
          <p:cNvGrpSpPr/>
          <p:nvPr/>
        </p:nvGrpSpPr>
        <p:grpSpPr>
          <a:xfrm>
            <a:off x="623788" y="2457139"/>
            <a:ext cx="828037" cy="1496253"/>
            <a:chOff x="2045756" y="1999283"/>
            <a:chExt cx="1363850" cy="2696707"/>
          </a:xfrm>
        </p:grpSpPr>
        <p:sp>
          <p:nvSpPr>
            <p:cNvPr id="65" name="Flowchart: Terminator 64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rapezoid 65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rapezoid 67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60"/>
          <p:cNvGrpSpPr/>
          <p:nvPr/>
        </p:nvGrpSpPr>
        <p:grpSpPr>
          <a:xfrm>
            <a:off x="4433740" y="3084085"/>
            <a:ext cx="254050" cy="276835"/>
            <a:chOff x="4383429" y="1596327"/>
            <a:chExt cx="638012" cy="836908"/>
          </a:xfrm>
        </p:grpSpPr>
        <p:sp>
          <p:nvSpPr>
            <p:cNvPr id="55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55"/>
            <p:cNvGrpSpPr/>
            <p:nvPr/>
          </p:nvGrpSpPr>
          <p:grpSpPr>
            <a:xfrm flipV="1">
              <a:off x="4571994" y="1596327"/>
              <a:ext cx="291863" cy="663847"/>
              <a:chOff x="2045756" y="1999283"/>
              <a:chExt cx="1363850" cy="2696707"/>
            </a:xfrm>
          </p:grpSpPr>
          <p:sp>
            <p:nvSpPr>
              <p:cNvPr id="57" name="Flowchart: Terminator 56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rapezoid 57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Double Bracket 62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rapezoid 63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56"/>
          <p:cNvGrpSpPr/>
          <p:nvPr/>
        </p:nvGrpSpPr>
        <p:grpSpPr>
          <a:xfrm>
            <a:off x="1263649" y="2459680"/>
            <a:ext cx="3339642" cy="850690"/>
            <a:chOff x="1828800" y="1771650"/>
            <a:chExt cx="5500688" cy="1619250"/>
          </a:xfrm>
        </p:grpSpPr>
        <p:cxnSp>
          <p:nvCxnSpPr>
            <p:cNvPr id="51" name="Straight Connector 5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57"/>
          <p:cNvGrpSpPr/>
          <p:nvPr/>
        </p:nvGrpSpPr>
        <p:grpSpPr>
          <a:xfrm flipV="1">
            <a:off x="1278106" y="3065171"/>
            <a:ext cx="3339642" cy="850690"/>
            <a:chOff x="1828800" y="1771650"/>
            <a:chExt cx="5500688" cy="1619250"/>
          </a:xfrm>
        </p:grpSpPr>
        <p:cxnSp>
          <p:nvCxnSpPr>
            <p:cNvPr id="46" name="Straight Connector 4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Oval 69"/>
          <p:cNvSpPr/>
          <p:nvPr/>
        </p:nvSpPr>
        <p:spPr>
          <a:xfrm>
            <a:off x="3369811" y="4804465"/>
            <a:ext cx="973589" cy="144252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3484293" y="4934585"/>
            <a:ext cx="782907" cy="1237615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3484293" y="4934585"/>
            <a:ext cx="782907" cy="1237615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c 71"/>
          <p:cNvSpPr/>
          <p:nvPr/>
        </p:nvSpPr>
        <p:spPr>
          <a:xfrm>
            <a:off x="3211415" y="5074516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 rot="21414298">
            <a:off x="3439687" y="5253366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228600" y="4724400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47"/>
          <p:cNvGrpSpPr/>
          <p:nvPr/>
        </p:nvGrpSpPr>
        <p:grpSpPr>
          <a:xfrm>
            <a:off x="623787" y="4797684"/>
            <a:ext cx="828037" cy="1496253"/>
            <a:chOff x="2045756" y="1999283"/>
            <a:chExt cx="1363850" cy="2696707"/>
          </a:xfrm>
        </p:grpSpPr>
        <p:sp>
          <p:nvSpPr>
            <p:cNvPr id="77" name="Flowchart: Terminator 76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rapezoid 77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rapezoid 79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60"/>
          <p:cNvGrpSpPr/>
          <p:nvPr/>
        </p:nvGrpSpPr>
        <p:grpSpPr>
          <a:xfrm>
            <a:off x="4509939" y="5424630"/>
            <a:ext cx="254050" cy="276835"/>
            <a:chOff x="4383429" y="1596327"/>
            <a:chExt cx="638012" cy="836908"/>
          </a:xfrm>
        </p:grpSpPr>
        <p:sp>
          <p:nvSpPr>
            <p:cNvPr id="82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55"/>
            <p:cNvGrpSpPr/>
            <p:nvPr/>
          </p:nvGrpSpPr>
          <p:grpSpPr>
            <a:xfrm flipV="1">
              <a:off x="4571996" y="1596327"/>
              <a:ext cx="291863" cy="663847"/>
              <a:chOff x="2045756" y="1999283"/>
              <a:chExt cx="1363850" cy="2696707"/>
            </a:xfrm>
          </p:grpSpPr>
          <p:sp>
            <p:nvSpPr>
              <p:cNvPr id="84" name="Flowchart: Terminator 83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Trapezoid 84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Double Bracket 85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Trapezoid 86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56"/>
          <p:cNvGrpSpPr/>
          <p:nvPr/>
        </p:nvGrpSpPr>
        <p:grpSpPr>
          <a:xfrm>
            <a:off x="1263648" y="4800225"/>
            <a:ext cx="3339642" cy="850690"/>
            <a:chOff x="1828800" y="1771650"/>
            <a:chExt cx="5500688" cy="1619250"/>
          </a:xfrm>
        </p:grpSpPr>
        <p:cxnSp>
          <p:nvCxnSpPr>
            <p:cNvPr id="91" name="Straight Connector 9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57"/>
          <p:cNvGrpSpPr/>
          <p:nvPr/>
        </p:nvGrpSpPr>
        <p:grpSpPr>
          <a:xfrm flipV="1">
            <a:off x="1278105" y="5405716"/>
            <a:ext cx="3339642" cy="850690"/>
            <a:chOff x="1828800" y="1771650"/>
            <a:chExt cx="5500688" cy="1619250"/>
          </a:xfrm>
        </p:grpSpPr>
        <p:cxnSp>
          <p:nvCxnSpPr>
            <p:cNvPr id="96" name="Straight Connector 9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/>
          <p:cNvSpPr/>
          <p:nvPr/>
        </p:nvSpPr>
        <p:spPr>
          <a:xfrm>
            <a:off x="5791200" y="2895600"/>
            <a:ext cx="29418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Myopia – nearsightedness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91200" y="5410200"/>
            <a:ext cx="29418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Hyperopia</a:t>
            </a:r>
            <a:r>
              <a:rPr lang="en-US" dirty="0"/>
              <a:t> - farsightedness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91200" y="1066800"/>
            <a:ext cx="928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37140478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4" descr="neuro4e-box-11-a(2)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95800" y="2133600"/>
            <a:ext cx="4271963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28600"/>
            <a:ext cx="8229600" cy="563563"/>
          </a:xfrm>
        </p:spPr>
        <p:txBody>
          <a:bodyPr>
            <a:normAutofit fontScale="90000"/>
          </a:bodyPr>
          <a:lstStyle/>
          <a:p>
            <a:r>
              <a:rPr lang="en-US" sz="3200"/>
              <a:t>Myopia and Other Refractive Errors</a:t>
            </a:r>
          </a:p>
        </p:txBody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143000"/>
            <a:ext cx="4191000" cy="5105400"/>
          </a:xfrm>
        </p:spPr>
        <p:txBody>
          <a:bodyPr>
            <a:normAutofit lnSpcReduction="10000"/>
          </a:bodyPr>
          <a:lstStyle/>
          <a:p>
            <a:r>
              <a:rPr lang="en-US" sz="2400" dirty="0" err="1">
                <a:solidFill>
                  <a:srgbClr val="00B050"/>
                </a:solidFill>
              </a:rPr>
              <a:t>Presbyopia</a:t>
            </a:r>
            <a:r>
              <a:rPr lang="en-US" sz="2400" dirty="0"/>
              <a:t> - degeneration of accommodation</a:t>
            </a:r>
          </a:p>
          <a:p>
            <a:pPr lvl="1"/>
            <a:r>
              <a:rPr lang="en-US" sz="2000" dirty="0"/>
              <a:t>Lens becomes less flexible with age probably because new cells are being generated but old ones are not being destroyed.</a:t>
            </a:r>
          </a:p>
          <a:p>
            <a:pPr lvl="1"/>
            <a:r>
              <a:rPr lang="en-US" sz="2000" dirty="0"/>
              <a:t>Near point of vision has increased past 9 inches</a:t>
            </a:r>
          </a:p>
          <a:p>
            <a:pPr lvl="1"/>
            <a:r>
              <a:rPr lang="en-US" sz="2000" dirty="0"/>
              <a:t>Generally develops after 40 years or in people who do fine, close work.</a:t>
            </a:r>
          </a:p>
          <a:p>
            <a:pPr lvl="1"/>
            <a:r>
              <a:rPr lang="en-US" sz="2000" dirty="0"/>
              <a:t>What is your near point of vision?</a:t>
            </a:r>
          </a:p>
          <a:p>
            <a:r>
              <a:rPr lang="en-US" sz="2400" dirty="0"/>
              <a:t>Corrected by “reading glasses” or bifocal glasses used only for close work.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7091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4796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3700" y="2079625"/>
            <a:ext cx="8177213" cy="3397250"/>
            <a:chOff x="393894" y="1327691"/>
            <a:chExt cx="8176647" cy="3396665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383" y="2843492"/>
              <a:ext cx="2758600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601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/>
            <p:cNvSpPr/>
            <p:nvPr/>
          </p:nvSpPr>
          <p:spPr>
            <a:xfrm flipH="1">
              <a:off x="4138548" y="1810208"/>
              <a:ext cx="3966887" cy="2234815"/>
            </a:xfrm>
            <a:custGeom>
              <a:avLst/>
              <a:gdLst>
                <a:gd name="connsiteX0" fmla="*/ 0 w 3967566"/>
                <a:gd name="connsiteY0" fmla="*/ 1025471 h 2234339"/>
                <a:gd name="connsiteX1" fmla="*/ 480447 w 3967566"/>
                <a:gd name="connsiteY1" fmla="*/ 715505 h 2234339"/>
                <a:gd name="connsiteX2" fmla="*/ 960895 w 3967566"/>
                <a:gd name="connsiteY2" fmla="*/ 219559 h 2234339"/>
                <a:gd name="connsiteX3" fmla="*/ 1379349 w 3967566"/>
                <a:gd name="connsiteY3" fmla="*/ 18081 h 2234339"/>
                <a:gd name="connsiteX4" fmla="*/ 1766806 w 3967566"/>
                <a:gd name="connsiteY4" fmla="*/ 111071 h 2234339"/>
                <a:gd name="connsiteX5" fmla="*/ 2107769 w 3967566"/>
                <a:gd name="connsiteY5" fmla="*/ 545023 h 2234339"/>
                <a:gd name="connsiteX6" fmla="*/ 2433234 w 3967566"/>
                <a:gd name="connsiteY6" fmla="*/ 1195952 h 2234339"/>
                <a:gd name="connsiteX7" fmla="*/ 2944678 w 3967566"/>
                <a:gd name="connsiteY7" fmla="*/ 1800386 h 2234339"/>
                <a:gd name="connsiteX8" fmla="*/ 3564610 w 3967566"/>
                <a:gd name="connsiteY8" fmla="*/ 2141349 h 2234339"/>
                <a:gd name="connsiteX9" fmla="*/ 3967566 w 3967566"/>
                <a:gd name="connsiteY9" fmla="*/ 2234339 h 2234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7566" h="2234339">
                  <a:moveTo>
                    <a:pt x="0" y="1025471"/>
                  </a:moveTo>
                  <a:cubicBezTo>
                    <a:pt x="160149" y="937647"/>
                    <a:pt x="320298" y="849824"/>
                    <a:pt x="480447" y="715505"/>
                  </a:cubicBezTo>
                  <a:cubicBezTo>
                    <a:pt x="640596" y="581186"/>
                    <a:pt x="811078" y="335796"/>
                    <a:pt x="960895" y="219559"/>
                  </a:cubicBezTo>
                  <a:cubicBezTo>
                    <a:pt x="1110712" y="103322"/>
                    <a:pt x="1245031" y="36162"/>
                    <a:pt x="1379349" y="18081"/>
                  </a:cubicBezTo>
                  <a:cubicBezTo>
                    <a:pt x="1513668" y="0"/>
                    <a:pt x="1645403" y="23247"/>
                    <a:pt x="1766806" y="111071"/>
                  </a:cubicBezTo>
                  <a:cubicBezTo>
                    <a:pt x="1888209" y="198895"/>
                    <a:pt x="1996698" y="364210"/>
                    <a:pt x="2107769" y="545023"/>
                  </a:cubicBezTo>
                  <a:cubicBezTo>
                    <a:pt x="2218840" y="725836"/>
                    <a:pt x="2293749" y="986725"/>
                    <a:pt x="2433234" y="1195952"/>
                  </a:cubicBezTo>
                  <a:cubicBezTo>
                    <a:pt x="2572719" y="1405179"/>
                    <a:pt x="2756115" y="1642820"/>
                    <a:pt x="2944678" y="1800386"/>
                  </a:cubicBezTo>
                  <a:cubicBezTo>
                    <a:pt x="3133241" y="1957952"/>
                    <a:pt x="3394129" y="2069023"/>
                    <a:pt x="3564610" y="2141349"/>
                  </a:cubicBezTo>
                  <a:cubicBezTo>
                    <a:pt x="3735091" y="2213675"/>
                    <a:pt x="3851328" y="2224007"/>
                    <a:pt x="3967566" y="2234339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3192463" y="1837191"/>
              <a:ext cx="4138326" cy="2096726"/>
            </a:xfrm>
            <a:custGeom>
              <a:avLst/>
              <a:gdLst>
                <a:gd name="connsiteX0" fmla="*/ 0 w 4138047"/>
                <a:gd name="connsiteY0" fmla="*/ 1526583 h 2097438"/>
                <a:gd name="connsiteX1" fmla="*/ 805912 w 4138047"/>
                <a:gd name="connsiteY1" fmla="*/ 1495587 h 2097438"/>
                <a:gd name="connsiteX2" fmla="*/ 1503335 w 4138047"/>
                <a:gd name="connsiteY2" fmla="*/ 1263112 h 2097438"/>
                <a:gd name="connsiteX3" fmla="*/ 1968285 w 4138047"/>
                <a:gd name="connsiteY3" fmla="*/ 829160 h 2097438"/>
                <a:gd name="connsiteX4" fmla="*/ 2309247 w 4138047"/>
                <a:gd name="connsiteY4" fmla="*/ 131736 h 2097438"/>
                <a:gd name="connsiteX5" fmla="*/ 2665708 w 4138047"/>
                <a:gd name="connsiteY5" fmla="*/ 54244 h 2097438"/>
                <a:gd name="connsiteX6" fmla="*/ 2960176 w 4138047"/>
                <a:gd name="connsiteY6" fmla="*/ 457200 h 2097438"/>
                <a:gd name="connsiteX7" fmla="*/ 3254644 w 4138047"/>
                <a:gd name="connsiteY7" fmla="*/ 1232115 h 2097438"/>
                <a:gd name="connsiteX8" fmla="*/ 3564610 w 4138047"/>
                <a:gd name="connsiteY8" fmla="*/ 1805553 h 2097438"/>
                <a:gd name="connsiteX9" fmla="*/ 3921071 w 4138047"/>
                <a:gd name="connsiteY9" fmla="*/ 2053526 h 2097438"/>
                <a:gd name="connsiteX10" fmla="*/ 4138047 w 4138047"/>
                <a:gd name="connsiteY10" fmla="*/ 2069024 h 209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047" h="2097438">
                  <a:moveTo>
                    <a:pt x="0" y="1526583"/>
                  </a:moveTo>
                  <a:cubicBezTo>
                    <a:pt x="277678" y="1533041"/>
                    <a:pt x="555356" y="1539499"/>
                    <a:pt x="805912" y="1495587"/>
                  </a:cubicBezTo>
                  <a:cubicBezTo>
                    <a:pt x="1056468" y="1451675"/>
                    <a:pt x="1309606" y="1374183"/>
                    <a:pt x="1503335" y="1263112"/>
                  </a:cubicBezTo>
                  <a:cubicBezTo>
                    <a:pt x="1697064" y="1152041"/>
                    <a:pt x="1833966" y="1017723"/>
                    <a:pt x="1968285" y="829160"/>
                  </a:cubicBezTo>
                  <a:cubicBezTo>
                    <a:pt x="2102604" y="640597"/>
                    <a:pt x="2193010" y="260889"/>
                    <a:pt x="2309247" y="131736"/>
                  </a:cubicBezTo>
                  <a:cubicBezTo>
                    <a:pt x="2425484" y="2583"/>
                    <a:pt x="2557220" y="0"/>
                    <a:pt x="2665708" y="54244"/>
                  </a:cubicBezTo>
                  <a:cubicBezTo>
                    <a:pt x="2774196" y="108488"/>
                    <a:pt x="2862020" y="260888"/>
                    <a:pt x="2960176" y="457200"/>
                  </a:cubicBezTo>
                  <a:cubicBezTo>
                    <a:pt x="3058332" y="653512"/>
                    <a:pt x="3153905" y="1007390"/>
                    <a:pt x="3254644" y="1232115"/>
                  </a:cubicBezTo>
                  <a:cubicBezTo>
                    <a:pt x="3355383" y="1456840"/>
                    <a:pt x="3453539" y="1668651"/>
                    <a:pt x="3564610" y="1805553"/>
                  </a:cubicBezTo>
                  <a:cubicBezTo>
                    <a:pt x="3675681" y="1942455"/>
                    <a:pt x="3825498" y="2009614"/>
                    <a:pt x="3921071" y="2053526"/>
                  </a:cubicBezTo>
                  <a:cubicBezTo>
                    <a:pt x="4016644" y="2097438"/>
                    <a:pt x="4077345" y="2083231"/>
                    <a:pt x="4138047" y="2069024"/>
                  </a:cubicBezTo>
                </a:path>
              </a:pathLst>
            </a:cu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 flipH="1">
              <a:off x="2447977" y="1851476"/>
              <a:ext cx="4262143" cy="1852294"/>
            </a:xfrm>
            <a:custGeom>
              <a:avLst/>
              <a:gdLst>
                <a:gd name="connsiteX0" fmla="*/ 0 w 4262034"/>
                <a:gd name="connsiteY0" fmla="*/ 1464589 h 1852047"/>
                <a:gd name="connsiteX1" fmla="*/ 945397 w 4262034"/>
                <a:gd name="connsiteY1" fmla="*/ 1619572 h 1852047"/>
                <a:gd name="connsiteX2" fmla="*/ 1534332 w 4262034"/>
                <a:gd name="connsiteY2" fmla="*/ 1666067 h 1852047"/>
                <a:gd name="connsiteX3" fmla="*/ 1983783 w 4262034"/>
                <a:gd name="connsiteY3" fmla="*/ 1480088 h 1852047"/>
                <a:gd name="connsiteX4" fmla="*/ 2355742 w 4262034"/>
                <a:gd name="connsiteY4" fmla="*/ 984142 h 1852047"/>
                <a:gd name="connsiteX5" fmla="*/ 2665709 w 4262034"/>
                <a:gd name="connsiteY5" fmla="*/ 271220 h 1852047"/>
                <a:gd name="connsiteX6" fmla="*/ 2944678 w 4262034"/>
                <a:gd name="connsiteY6" fmla="*/ 23247 h 1852047"/>
                <a:gd name="connsiteX7" fmla="*/ 3177153 w 4262034"/>
                <a:gd name="connsiteY7" fmla="*/ 131735 h 1852047"/>
                <a:gd name="connsiteX8" fmla="*/ 3394129 w 4262034"/>
                <a:gd name="connsiteY8" fmla="*/ 674176 h 1852047"/>
                <a:gd name="connsiteX9" fmla="*/ 3750590 w 4262034"/>
                <a:gd name="connsiteY9" fmla="*/ 1464589 h 1852047"/>
                <a:gd name="connsiteX10" fmla="*/ 3874576 w 4262034"/>
                <a:gd name="connsiteY10" fmla="*/ 1635071 h 1852047"/>
                <a:gd name="connsiteX11" fmla="*/ 4262034 w 4262034"/>
                <a:gd name="connsiteY11" fmla="*/ 1852047 h 1852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62034" h="1852047">
                  <a:moveTo>
                    <a:pt x="0" y="1464589"/>
                  </a:moveTo>
                  <a:cubicBezTo>
                    <a:pt x="344837" y="1525290"/>
                    <a:pt x="689675" y="1585992"/>
                    <a:pt x="945397" y="1619572"/>
                  </a:cubicBezTo>
                  <a:cubicBezTo>
                    <a:pt x="1201119" y="1653152"/>
                    <a:pt x="1361268" y="1689314"/>
                    <a:pt x="1534332" y="1666067"/>
                  </a:cubicBezTo>
                  <a:cubicBezTo>
                    <a:pt x="1707396" y="1642820"/>
                    <a:pt x="1846881" y="1593742"/>
                    <a:pt x="1983783" y="1480088"/>
                  </a:cubicBezTo>
                  <a:cubicBezTo>
                    <a:pt x="2120685" y="1366434"/>
                    <a:pt x="2242088" y="1185620"/>
                    <a:pt x="2355742" y="984142"/>
                  </a:cubicBezTo>
                  <a:cubicBezTo>
                    <a:pt x="2469396" y="782664"/>
                    <a:pt x="2567553" y="431369"/>
                    <a:pt x="2665709" y="271220"/>
                  </a:cubicBezTo>
                  <a:cubicBezTo>
                    <a:pt x="2763865" y="111071"/>
                    <a:pt x="2859437" y="46495"/>
                    <a:pt x="2944678" y="23247"/>
                  </a:cubicBezTo>
                  <a:cubicBezTo>
                    <a:pt x="3029919" y="0"/>
                    <a:pt x="3102245" y="23247"/>
                    <a:pt x="3177153" y="131735"/>
                  </a:cubicBezTo>
                  <a:cubicBezTo>
                    <a:pt x="3252061" y="240223"/>
                    <a:pt x="3298556" y="452034"/>
                    <a:pt x="3394129" y="674176"/>
                  </a:cubicBezTo>
                  <a:cubicBezTo>
                    <a:pt x="3489702" y="896318"/>
                    <a:pt x="3670516" y="1304440"/>
                    <a:pt x="3750590" y="1464589"/>
                  </a:cubicBezTo>
                  <a:cubicBezTo>
                    <a:pt x="3830664" y="1624738"/>
                    <a:pt x="3789335" y="1570495"/>
                    <a:pt x="3874576" y="1635071"/>
                  </a:cubicBezTo>
                  <a:cubicBezTo>
                    <a:pt x="3959817" y="1699647"/>
                    <a:pt x="4110925" y="1775847"/>
                    <a:pt x="4262034" y="1852047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76871" name="TextBox 10"/>
            <p:cNvSpPr txBox="1">
              <a:spLocks noChangeArrowheads="1"/>
            </p:cNvSpPr>
            <p:nvPr/>
          </p:nvSpPr>
          <p:spPr bwMode="auto">
            <a:xfrm>
              <a:off x="2789677" y="1425844"/>
              <a:ext cx="142641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532THz (red)</a:t>
              </a:r>
            </a:p>
          </p:txBody>
        </p:sp>
        <p:sp>
          <p:nvSpPr>
            <p:cNvPr id="676872" name="TextBox 11"/>
            <p:cNvSpPr txBox="1">
              <a:spLocks noChangeArrowheads="1"/>
            </p:cNvSpPr>
            <p:nvPr/>
          </p:nvSpPr>
          <p:spPr bwMode="auto">
            <a:xfrm>
              <a:off x="4507402" y="1438762"/>
              <a:ext cx="164442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562THz (green)</a:t>
              </a:r>
            </a:p>
          </p:txBody>
        </p:sp>
        <p:sp>
          <p:nvSpPr>
            <p:cNvPr id="676873" name="TextBox 12"/>
            <p:cNvSpPr txBox="1">
              <a:spLocks noChangeArrowheads="1"/>
            </p:cNvSpPr>
            <p:nvPr/>
          </p:nvSpPr>
          <p:spPr bwMode="auto">
            <a:xfrm>
              <a:off x="6395612" y="1327691"/>
              <a:ext cx="152477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714THz (blue)</a:t>
              </a:r>
            </a:p>
          </p:txBody>
        </p:sp>
        <p:sp>
          <p:nvSpPr>
            <p:cNvPr id="67687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16589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Frequency</a:t>
              </a:r>
            </a:p>
          </p:txBody>
        </p:sp>
        <p:sp>
          <p:nvSpPr>
            <p:cNvPr id="67687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Relative Sensitivity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393700" y="2460625"/>
            <a:ext cx="8177213" cy="3251200"/>
            <a:chOff x="393894" y="1472339"/>
            <a:chExt cx="8176647" cy="3252017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593" y="2843492"/>
              <a:ext cx="2758181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399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892" name="TextBox 11"/>
            <p:cNvSpPr txBox="1">
              <a:spLocks noChangeArrowheads="1"/>
            </p:cNvSpPr>
            <p:nvPr/>
          </p:nvSpPr>
          <p:spPr bwMode="auto">
            <a:xfrm>
              <a:off x="4677883" y="1591161"/>
              <a:ext cx="85574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(green)</a:t>
              </a:r>
            </a:p>
          </p:txBody>
        </p:sp>
        <p:sp>
          <p:nvSpPr>
            <p:cNvPr id="677893" name="TextBox 12"/>
            <p:cNvSpPr txBox="1">
              <a:spLocks noChangeArrowheads="1"/>
            </p:cNvSpPr>
            <p:nvPr/>
          </p:nvSpPr>
          <p:spPr bwMode="auto">
            <a:xfrm>
              <a:off x="6535097" y="1591161"/>
              <a:ext cx="79380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 (blue)</a:t>
              </a:r>
            </a:p>
          </p:txBody>
        </p:sp>
        <p:sp>
          <p:nvSpPr>
            <p:cNvPr id="67789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16589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Frequency</a:t>
              </a:r>
            </a:p>
          </p:txBody>
        </p:sp>
        <p:sp>
          <p:nvSpPr>
            <p:cNvPr id="67789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Relative Sensitivity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114681" y="1575553"/>
              <a:ext cx="636544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4259189" y="1572377"/>
              <a:ext cx="634956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210091" y="1586668"/>
              <a:ext cx="634956" cy="2685138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77899" name="TextBox 19"/>
            <p:cNvSpPr txBox="1">
              <a:spLocks noChangeArrowheads="1"/>
            </p:cNvSpPr>
            <p:nvPr/>
          </p:nvSpPr>
          <p:spPr bwMode="auto">
            <a:xfrm>
              <a:off x="3559422" y="1591161"/>
              <a:ext cx="637739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(red)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1119</Words>
  <Application>Microsoft Office PowerPoint</Application>
  <PresentationFormat>On-screen Show (4:3)</PresentationFormat>
  <Paragraphs>228</Paragraphs>
  <Slides>44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Script MT Bold</vt:lpstr>
      <vt:lpstr>Times New Roman</vt:lpstr>
      <vt:lpstr>Office Theme</vt:lpstr>
      <vt:lpstr>Equation</vt:lpstr>
      <vt:lpstr>Lecture 18</vt:lpstr>
      <vt:lpstr>PowerPoint Presentation</vt:lpstr>
      <vt:lpstr>PowerPoint Presentation</vt:lpstr>
      <vt:lpstr>PowerPoint Presentation</vt:lpstr>
      <vt:lpstr>Question 223.18.2</vt:lpstr>
      <vt:lpstr>Accommodation by the Lens</vt:lpstr>
      <vt:lpstr>Question 223.18.3</vt:lpstr>
      <vt:lpstr>PowerPoint Presentation</vt:lpstr>
      <vt:lpstr>PowerPoint Presentation</vt:lpstr>
      <vt:lpstr>Question 223.18.4</vt:lpstr>
      <vt:lpstr>PowerPoint Presentation</vt:lpstr>
      <vt:lpstr>PowerPoint Presentation</vt:lpstr>
      <vt:lpstr>Question 223.17.3</vt:lpstr>
      <vt:lpstr>PowerPoint Presentation</vt:lpstr>
      <vt:lpstr>PowerPoint Presentation</vt:lpstr>
      <vt:lpstr>PowerPoint Presentation</vt:lpstr>
      <vt:lpstr>PowerPoint Presentation</vt:lpstr>
      <vt:lpstr>Question 223.17.4</vt:lpstr>
      <vt:lpstr>Question 223.17.5</vt:lpstr>
      <vt:lpstr>Question 223.17.6</vt:lpstr>
      <vt:lpstr>PowerPoint Presentation</vt:lpstr>
      <vt:lpstr>Question 223.17.6.5</vt:lpstr>
      <vt:lpstr>Question 223.17.7</vt:lpstr>
      <vt:lpstr>PowerPoint Presentation</vt:lpstr>
      <vt:lpstr>Question 223.18.4</vt:lpstr>
      <vt:lpstr>Simple Magnifier</vt:lpstr>
      <vt:lpstr>PowerPoint Presentation</vt:lpstr>
      <vt:lpstr>PowerPoint Presentation</vt:lpstr>
      <vt:lpstr>The Size of a Magnified Image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Question 223.18.2</vt:lpstr>
      <vt:lpstr>Accommodation by the Lens</vt:lpstr>
      <vt:lpstr>Question 223.18.3</vt:lpstr>
      <vt:lpstr>Myopia and Other Refractive Errors</vt:lpstr>
      <vt:lpstr>PowerPoint Presentation</vt:lpstr>
      <vt:lpstr>Myopia and Other Refractive Errors</vt:lpstr>
      <vt:lpstr>Question 223.18.4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3</cp:revision>
  <dcterms:created xsi:type="dcterms:W3CDTF">2011-12-07T16:04:48Z</dcterms:created>
  <dcterms:modified xsi:type="dcterms:W3CDTF">2026-02-17T19:11:09Z</dcterms:modified>
</cp:coreProperties>
</file>