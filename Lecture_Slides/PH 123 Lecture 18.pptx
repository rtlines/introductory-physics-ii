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324" r:id="rId2"/>
    <p:sldId id="354" r:id="rId3"/>
    <p:sldId id="355" r:id="rId4"/>
    <p:sldId id="356" r:id="rId5"/>
    <p:sldId id="386" r:id="rId6"/>
    <p:sldId id="388" r:id="rId7"/>
    <p:sldId id="389" r:id="rId8"/>
    <p:sldId id="385" r:id="rId9"/>
    <p:sldId id="391" r:id="rId10"/>
    <p:sldId id="343" r:id="rId11"/>
    <p:sldId id="344" r:id="rId12"/>
    <p:sldId id="350" r:id="rId13"/>
    <p:sldId id="351" r:id="rId14"/>
    <p:sldId id="352" r:id="rId15"/>
    <p:sldId id="353" r:id="rId16"/>
    <p:sldId id="345" r:id="rId17"/>
    <p:sldId id="326" r:id="rId18"/>
    <p:sldId id="327" r:id="rId19"/>
    <p:sldId id="348" r:id="rId20"/>
    <p:sldId id="347" r:id="rId21"/>
    <p:sldId id="328" r:id="rId22"/>
    <p:sldId id="329" r:id="rId23"/>
    <p:sldId id="349" r:id="rId24"/>
    <p:sldId id="330" r:id="rId25"/>
    <p:sldId id="331" r:id="rId26"/>
    <p:sldId id="332" r:id="rId27"/>
    <p:sldId id="289" r:id="rId28"/>
    <p:sldId id="390" r:id="rId29"/>
    <p:sldId id="387" r:id="rId30"/>
    <p:sldId id="280" r:id="rId31"/>
    <p:sldId id="333" r:id="rId32"/>
    <p:sldId id="256" r:id="rId33"/>
    <p:sldId id="258" r:id="rId34"/>
    <p:sldId id="284" r:id="rId35"/>
    <p:sldId id="334" r:id="rId36"/>
    <p:sldId id="260" r:id="rId37"/>
    <p:sldId id="346" r:id="rId38"/>
    <p:sldId id="290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259" r:id="rId48"/>
    <p:sldId id="281" r:id="rId49"/>
    <p:sldId id="282" r:id="rId50"/>
    <p:sldId id="317" r:id="rId51"/>
    <p:sldId id="272" r:id="rId52"/>
    <p:sldId id="313" r:id="rId53"/>
    <p:sldId id="320" r:id="rId54"/>
    <p:sldId id="314" r:id="rId55"/>
    <p:sldId id="315" r:id="rId56"/>
    <p:sldId id="274" r:id="rId57"/>
    <p:sldId id="275" r:id="rId58"/>
    <p:sldId id="276" r:id="rId59"/>
    <p:sldId id="277" r:id="rId60"/>
    <p:sldId id="311" r:id="rId61"/>
    <p:sldId id="283" r:id="rId62"/>
    <p:sldId id="321" r:id="rId63"/>
    <p:sldId id="310" r:id="rId64"/>
    <p:sldId id="312" r:id="rId65"/>
    <p:sldId id="291" r:id="rId66"/>
    <p:sldId id="257" r:id="rId67"/>
    <p:sldId id="318" r:id="rId68"/>
    <p:sldId id="319" r:id="rId69"/>
    <p:sldId id="292" r:id="rId70"/>
    <p:sldId id="293" r:id="rId71"/>
    <p:sldId id="294" r:id="rId72"/>
    <p:sldId id="295" r:id="rId73"/>
    <p:sldId id="322" r:id="rId74"/>
    <p:sldId id="323" r:id="rId75"/>
    <p:sldId id="296" r:id="rId76"/>
    <p:sldId id="297" r:id="rId77"/>
    <p:sldId id="298" r:id="rId78"/>
    <p:sldId id="299" r:id="rId79"/>
    <p:sldId id="300" r:id="rId80"/>
    <p:sldId id="301" r:id="rId81"/>
    <p:sldId id="302" r:id="rId82"/>
    <p:sldId id="303" r:id="rId83"/>
    <p:sldId id="304" r:id="rId84"/>
    <p:sldId id="305" r:id="rId85"/>
    <p:sldId id="306" r:id="rId86"/>
    <p:sldId id="307" r:id="rId87"/>
    <p:sldId id="308" r:id="rId88"/>
    <p:sldId id="309" r:id="rId89"/>
    <p:sldId id="316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0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2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modSld">
      <pc:chgData name="Todd Lines" userId="afaf7c3a-e8aa-4568-882a-02ad8f9e19b0" providerId="ADAL" clId="{5FF5AC1B-ABA9-43D7-A1E3-2D92732CD6E2}" dt="2026-08-26T19:21:48.530" v="1" actId="20577"/>
      <pc:docMkLst>
        <pc:docMk/>
      </pc:docMkLst>
      <pc:sldChg chg="modSp mod">
        <pc:chgData name="Todd Lines" userId="afaf7c3a-e8aa-4568-882a-02ad8f9e19b0" providerId="ADAL" clId="{5FF5AC1B-ABA9-43D7-A1E3-2D92732CD6E2}" dt="2026-08-26T19:21:48.530" v="1" actId="20577"/>
        <pc:sldMkLst>
          <pc:docMk/>
          <pc:sldMk cId="2910655548" sldId="324"/>
        </pc:sldMkLst>
        <pc:spChg chg="mod">
          <ac:chgData name="Todd Lines" userId="afaf7c3a-e8aa-4568-882a-02ad8f9e19b0" providerId="ADAL" clId="{5FF5AC1B-ABA9-43D7-A1E3-2D92732CD6E2}" dt="2026-08-26T19:21:48.530" v="1" actId="20577"/>
          <ac:spMkLst>
            <pc:docMk/>
            <pc:sldMk cId="2910655548" sldId="324"/>
            <ac:spMk id="2" creationId="{85A4D019-5A60-8BF8-AF0B-4CEDD68383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3999-E303-462C-885E-CF7F831CB255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022EE-90FE-4729-9BD1-021E6204A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8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6AD5-E8FB-07E6-2435-25E574DE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4A1A8-E14E-3C67-D656-E7FE86C5B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ECBC6-5A5E-2B4B-9284-5430EBF77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08844-9685-FE46-5A96-D5DC0A5DF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7FEAC-7D78-4C92-B820-5C978C5ED1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7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D0358-3329-469A-BCA1-D8D8893B456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0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E031-CD40-20C9-9E48-BE203484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5EB70-0A6F-206B-B38E-9F9B6B4EB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2E057-3D12-1EEE-1E2A-3B73800E6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8F70-3556-4B94-5907-230B5E321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D0358-3329-469A-BCA1-D8D8893B456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4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97EAF7-FDA6-4FCF-9BFA-77ED1CC63C6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4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61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A4BD26-79A4-4C91-A125-3C51306F2DD4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4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55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56800A-0521-431A-9067-021CC688FAE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4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84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6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FD9EBF-BDEA-44E3-BA99-9F017A6469C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4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84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41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DA0EBF-8E67-400F-B227-0F2EB2D8D4D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4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91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E1336D-9E47-4483-9C08-F5FC5FB06A1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4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01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49BE01-CBBE-4B89-A79E-BABBC7D1BE4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4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4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DD77AA-5B11-485A-96AF-6A502AEEED6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5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8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3C6B7-F269-45C2-AC1E-46A4A9003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82CF4-FE8B-4D9D-A641-E9728F564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5ACCD-540D-418B-B305-1960902B460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D019-5A60-8BF8-AF0B-4CEDD6838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093B7-33D5-757E-FB45-AE8D1D801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55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Simple Magnifier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simple magnifier consists of a single converging lens</a:t>
            </a:r>
          </a:p>
          <a:p>
            <a:pPr eaLnBrk="1" hangingPunct="1"/>
            <a:r>
              <a:rPr lang="en-US"/>
              <a:t>This device is used to increase the apparent size of an object</a:t>
            </a:r>
          </a:p>
          <a:p>
            <a:pPr eaLnBrk="1" hangingPunct="1"/>
            <a:r>
              <a:rPr lang="en-US"/>
              <a:t>The size of an image formed on the retina depends on the angle subtended by the eye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24B42E-0A7C-27DA-0B98-EB93CC4DE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962" y="2471737"/>
            <a:ext cx="74580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4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0" y="1332064"/>
            <a:ext cx="7924419" cy="4374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F46F8-3B5B-D9AC-71C2-28F10D4D4FA6}"/>
              </a:ext>
            </a:extLst>
          </p:cNvPr>
          <p:cNvSpPr txBox="1"/>
          <p:nvPr/>
        </p:nvSpPr>
        <p:spPr>
          <a:xfrm>
            <a:off x="8222257" y="1769682"/>
            <a:ext cx="50045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65AE3-D2E6-481C-2A4E-1EC8F4F15114}"/>
              </a:ext>
            </a:extLst>
          </p:cNvPr>
          <p:cNvSpPr txBox="1"/>
          <p:nvPr/>
        </p:nvSpPr>
        <p:spPr>
          <a:xfrm>
            <a:off x="6390409" y="4427538"/>
            <a:ext cx="50045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08204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0B48957-55BA-B0EF-D9FF-C3411203B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02763"/>
            <a:ext cx="9144000" cy="425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6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67DE5E-3DE9-FC5C-EECC-E233593B9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118176"/>
            <a:ext cx="9144000" cy="46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8CE27FC2-0AA0-9EE0-BCF1-9E04B0185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532" y="0"/>
            <a:ext cx="7294936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447808C-FB77-A0F5-6182-3F6E360A15F2}"/>
              </a:ext>
            </a:extLst>
          </p:cNvPr>
          <p:cNvGrpSpPr/>
          <p:nvPr/>
        </p:nvGrpSpPr>
        <p:grpSpPr>
          <a:xfrm>
            <a:off x="1761067" y="1298222"/>
            <a:ext cx="1281289" cy="609600"/>
            <a:chOff x="1761067" y="1298222"/>
            <a:chExt cx="1281289" cy="6096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0C16A0F-E1E8-33C4-A992-D3D9B94FCA4F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45CADA5-E28F-06EE-5B64-45FA731C7E72}"/>
                </a:ext>
              </a:extLst>
            </p:cNvPr>
            <p:cNvCxnSpPr>
              <a:cxnSpLocks/>
            </p:cNvCxnSpPr>
            <p:nvPr/>
          </p:nvCxnSpPr>
          <p:spPr>
            <a:xfrm>
              <a:off x="3042356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4007F80-DF72-CE6F-D5EC-E7C477A521A8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636888"/>
              <a:ext cx="1281289" cy="0"/>
            </a:xfrm>
            <a:prstGeom prst="straightConnector1">
              <a:avLst/>
            </a:prstGeom>
            <a:ln w="22225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370AAA-5077-E913-FEFD-E38F3B8C5DF4}"/>
                </a:ext>
              </a:extLst>
            </p:cNvPr>
            <p:cNvSpPr txBox="1"/>
            <p:nvPr/>
          </p:nvSpPr>
          <p:spPr>
            <a:xfrm>
              <a:off x="2248464" y="1538490"/>
              <a:ext cx="3064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D75928-C2AA-A496-70B2-8DA1D6E9233B}"/>
              </a:ext>
            </a:extLst>
          </p:cNvPr>
          <p:cNvGrpSpPr/>
          <p:nvPr/>
        </p:nvGrpSpPr>
        <p:grpSpPr>
          <a:xfrm>
            <a:off x="1652975" y="4916312"/>
            <a:ext cx="1281289" cy="609600"/>
            <a:chOff x="1761067" y="1298222"/>
            <a:chExt cx="1281289" cy="6096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056505-7A0A-4AD6-CF72-D15F6DE0ACC1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909BCC5-ED11-0400-14EF-21C327334430}"/>
                </a:ext>
              </a:extLst>
            </p:cNvPr>
            <p:cNvCxnSpPr>
              <a:cxnSpLocks/>
            </p:cNvCxnSpPr>
            <p:nvPr/>
          </p:nvCxnSpPr>
          <p:spPr>
            <a:xfrm>
              <a:off x="3042356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23E685-7FCD-8BAC-2334-9C02D2EB3EAE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636888"/>
              <a:ext cx="1281289" cy="0"/>
            </a:xfrm>
            <a:prstGeom prst="straightConnector1">
              <a:avLst/>
            </a:prstGeom>
            <a:ln w="22225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5C2FDC-CE19-4101-06E5-4E873244FDC0}"/>
                </a:ext>
              </a:extLst>
            </p:cNvPr>
            <p:cNvSpPr txBox="1"/>
            <p:nvPr/>
          </p:nvSpPr>
          <p:spPr>
            <a:xfrm>
              <a:off x="2248464" y="1538490"/>
              <a:ext cx="3064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43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A070-AD8F-1B0E-B33F-20FEBB2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DB73F6E-2D3E-AFFE-E838-25A499833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3"/>
          <a:stretch>
            <a:fillRect/>
          </a:stretch>
        </p:blipFill>
        <p:spPr bwMode="auto">
          <a:xfrm>
            <a:off x="1143000" y="1965960"/>
            <a:ext cx="6576023" cy="428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65165-FE0C-72FF-F27E-50040A3EEE09}"/>
              </a:ext>
            </a:extLst>
          </p:cNvPr>
          <p:cNvSpPr txBox="1"/>
          <p:nvPr/>
        </p:nvSpPr>
        <p:spPr>
          <a:xfrm>
            <a:off x="4252682" y="5026285"/>
            <a:ext cx="37061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baseline="-25000" dirty="0"/>
              <a:t>o1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F2C7C-30E9-1176-290E-A5DDED8026FB}"/>
              </a:ext>
            </a:extLst>
          </p:cNvPr>
          <p:cNvSpPr txBox="1"/>
          <p:nvPr/>
        </p:nvSpPr>
        <p:spPr>
          <a:xfrm>
            <a:off x="5061319" y="548772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d</a:t>
            </a:r>
            <a:r>
              <a:rPr lang="en-US" sz="1400" baseline="-25000"/>
              <a:t>i1</a:t>
            </a:r>
            <a:endParaRPr lang="en-US" sz="14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65300-E9C2-6A20-FE6C-8CD267E127F2}"/>
              </a:ext>
            </a:extLst>
          </p:cNvPr>
          <p:cNvSpPr txBox="1"/>
          <p:nvPr/>
        </p:nvSpPr>
        <p:spPr>
          <a:xfrm>
            <a:off x="7262438" y="3167390"/>
            <a:ext cx="55015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i1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17D14-3B66-C55C-75BA-866F61060409}"/>
              </a:ext>
            </a:extLst>
          </p:cNvPr>
          <p:cNvSpPr txBox="1"/>
          <p:nvPr/>
        </p:nvSpPr>
        <p:spPr>
          <a:xfrm>
            <a:off x="5547398" y="3409676"/>
            <a:ext cx="388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26C1A-5C69-4D2D-5568-286A3EC771C3}"/>
              </a:ext>
            </a:extLst>
          </p:cNvPr>
          <p:cNvSpPr txBox="1"/>
          <p:nvPr/>
        </p:nvSpPr>
        <p:spPr>
          <a:xfrm>
            <a:off x="3399332" y="3731342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94AA0-024C-32DE-81DE-D8807A41EFB3}"/>
              </a:ext>
            </a:extLst>
          </p:cNvPr>
          <p:cNvSpPr txBox="1"/>
          <p:nvPr/>
        </p:nvSpPr>
        <p:spPr>
          <a:xfrm>
            <a:off x="2284022" y="3942431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0A404-5F26-A6AB-FA92-97262AE6C916}"/>
              </a:ext>
            </a:extLst>
          </p:cNvPr>
          <p:cNvSpPr/>
          <p:nvPr/>
        </p:nvSpPr>
        <p:spPr>
          <a:xfrm>
            <a:off x="2500748" y="5816103"/>
            <a:ext cx="4530983" cy="745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4B9E8A-D3D0-393B-0F3B-42C9C3E877D8}"/>
              </a:ext>
            </a:extLst>
          </p:cNvPr>
          <p:cNvCxnSpPr>
            <a:cxnSpLocks/>
          </p:cNvCxnSpPr>
          <p:nvPr/>
        </p:nvCxnSpPr>
        <p:spPr>
          <a:xfrm>
            <a:off x="6550614" y="5559552"/>
            <a:ext cx="0" cy="5769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44211F-6B62-2DF3-155B-F8B55F40E33A}"/>
              </a:ext>
            </a:extLst>
          </p:cNvPr>
          <p:cNvCxnSpPr>
            <a:cxnSpLocks/>
          </p:cNvCxnSpPr>
          <p:nvPr/>
        </p:nvCxnSpPr>
        <p:spPr>
          <a:xfrm>
            <a:off x="2941782" y="3862147"/>
            <a:ext cx="0" cy="23862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E7C15F-4CD4-9C43-BD1D-D907E35AD5D9}"/>
              </a:ext>
            </a:extLst>
          </p:cNvPr>
          <p:cNvCxnSpPr/>
          <p:nvPr/>
        </p:nvCxnSpPr>
        <p:spPr>
          <a:xfrm>
            <a:off x="2941782" y="5985181"/>
            <a:ext cx="360883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579F81-C611-AF56-9E16-81264727CD9E}"/>
              </a:ext>
            </a:extLst>
          </p:cNvPr>
          <p:cNvSpPr txBox="1"/>
          <p:nvPr/>
        </p:nvSpPr>
        <p:spPr>
          <a:xfrm>
            <a:off x="4625014" y="5816103"/>
            <a:ext cx="28245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42D5FE-1662-1927-3CF2-EC86929AF629}"/>
              </a:ext>
            </a:extLst>
          </p:cNvPr>
          <p:cNvCxnSpPr>
            <a:cxnSpLocks/>
          </p:cNvCxnSpPr>
          <p:nvPr/>
        </p:nvCxnSpPr>
        <p:spPr>
          <a:xfrm>
            <a:off x="2941782" y="5471157"/>
            <a:ext cx="88955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EE2BAD-9820-2BD8-B7AC-ADC9829791B3}"/>
              </a:ext>
            </a:extLst>
          </p:cNvPr>
          <p:cNvSpPr txBox="1"/>
          <p:nvPr/>
        </p:nvSpPr>
        <p:spPr>
          <a:xfrm>
            <a:off x="3247687" y="5318083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Script MT Bold" panose="03040602040607080904" pitchFamily="66" charset="0"/>
              </a:rPr>
              <a:t>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BAE7E-2531-3CDB-CD71-CDD4992E9972}"/>
              </a:ext>
            </a:extLst>
          </p:cNvPr>
          <p:cNvSpPr txBox="1"/>
          <p:nvPr/>
        </p:nvSpPr>
        <p:spPr>
          <a:xfrm>
            <a:off x="1048396" y="4019375"/>
            <a:ext cx="6675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h</a:t>
            </a:r>
            <a:r>
              <a:rPr lang="en-US" baseline="-25000" dirty="0"/>
              <a:t>i2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FA4C704-C712-2354-C670-D1048D1F5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3540"/>
          <a:stretch>
            <a:fillRect/>
          </a:stretch>
        </p:blipFill>
        <p:spPr>
          <a:xfrm>
            <a:off x="1048396" y="-105101"/>
            <a:ext cx="7294936" cy="18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4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4416-450B-C49D-0B0C-04B7D7D8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F81473-9E41-AF4C-5C5B-D7DEEC1E4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Did this help you understand how the simple magnifier works?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 already understood from the reading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Yes, this helped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Maybe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Not much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No, try again</a:t>
            </a:r>
          </a:p>
        </p:txBody>
      </p:sp>
    </p:spTree>
    <p:extLst>
      <p:ext uri="{BB962C8B-B14F-4D97-AF65-F5344CB8AC3E}">
        <p14:creationId xmlns:p14="http://schemas.microsoft.com/office/powerpoint/2010/main" val="276002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8E99-9BED-BDCC-4ED7-EB32E4B3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5D3F7590-E13C-3FFF-F21A-772B28DE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E531505-C412-4D69-E1EF-1D669AF716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Combination of Lenses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B29EF69-6421-3B3F-B100-2CE5224334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2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5905786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4927095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3134010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026979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R. Todd Lines</a:t>
            </a:r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5400953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/>
          <p:cNvSpPr>
            <a:spLocks/>
          </p:cNvSpPr>
          <p:nvPr/>
        </p:nvSpPr>
        <p:spPr bwMode="auto">
          <a:xfrm>
            <a:off x="3562621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2119592" y="3206354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2555993" y="3192556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/>
              <a:t>1</a:t>
            </a:r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2699425" y="2924177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2688711" y="2927747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3682605" y="2928939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2674422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 flipV="1">
            <a:off x="2681567" y="4014192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4" name="Text Box 13"/>
          <p:cNvSpPr txBox="1">
            <a:spLocks noChangeArrowheads="1"/>
          </p:cNvSpPr>
          <p:nvPr/>
        </p:nvSpPr>
        <p:spPr bwMode="auto">
          <a:xfrm>
            <a:off x="2898484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1</a:t>
            </a:r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6515378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6" name="Line 15"/>
          <p:cNvSpPr>
            <a:spLocks noChangeShapeType="1"/>
          </p:cNvSpPr>
          <p:nvPr/>
        </p:nvSpPr>
        <p:spPr bwMode="auto">
          <a:xfrm flipV="1">
            <a:off x="3694788" y="4012510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7" name="Text Box 16"/>
          <p:cNvSpPr txBox="1">
            <a:spLocks noChangeArrowheads="1"/>
          </p:cNvSpPr>
          <p:nvPr/>
        </p:nvSpPr>
        <p:spPr bwMode="auto">
          <a:xfrm>
            <a:off x="3961479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1</a:t>
            </a:r>
          </a:p>
        </p:txBody>
      </p:sp>
      <p:sp>
        <p:nvSpPr>
          <p:cNvPr id="20498" name="Line 20"/>
          <p:cNvSpPr>
            <a:spLocks noChangeShapeType="1"/>
          </p:cNvSpPr>
          <p:nvPr/>
        </p:nvSpPr>
        <p:spPr bwMode="auto">
          <a:xfrm>
            <a:off x="3668594" y="3893344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/>
          <p:cNvSpPr>
            <a:spLocks noChangeArrowheads="1"/>
          </p:cNvSpPr>
          <p:nvPr/>
        </p:nvSpPr>
        <p:spPr bwMode="auto">
          <a:xfrm>
            <a:off x="2663704" y="2930129"/>
            <a:ext cx="66675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/>
          <p:cNvSpPr>
            <a:spLocks noChangeArrowheads="1"/>
          </p:cNvSpPr>
          <p:nvPr/>
        </p:nvSpPr>
        <p:spPr bwMode="auto">
          <a:xfrm flipV="1">
            <a:off x="4477028" y="3207544"/>
            <a:ext cx="78582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/>
          <p:cNvSpPr>
            <a:spLocks noChangeShapeType="1"/>
          </p:cNvSpPr>
          <p:nvPr/>
        </p:nvSpPr>
        <p:spPr bwMode="auto">
          <a:xfrm>
            <a:off x="2689623" y="2925366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/>
          <p:cNvSpPr>
            <a:spLocks noChangeShapeType="1"/>
          </p:cNvSpPr>
          <p:nvPr/>
        </p:nvSpPr>
        <p:spPr bwMode="auto">
          <a:xfrm>
            <a:off x="3689748" y="3443288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/>
          <p:cNvSpPr>
            <a:spLocks noChangeShapeType="1"/>
          </p:cNvSpPr>
          <p:nvPr/>
        </p:nvSpPr>
        <p:spPr bwMode="auto">
          <a:xfrm flipV="1">
            <a:off x="4512747" y="2832498"/>
            <a:ext cx="2524126" cy="61079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/>
          <p:cNvSpPr>
            <a:spLocks noChangeShapeType="1"/>
          </p:cNvSpPr>
          <p:nvPr/>
        </p:nvSpPr>
        <p:spPr bwMode="auto">
          <a:xfrm flipV="1">
            <a:off x="5520017" y="2728913"/>
            <a:ext cx="1446609" cy="72151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/>
          <p:cNvSpPr>
            <a:spLocks noChangeShapeType="1"/>
          </p:cNvSpPr>
          <p:nvPr/>
        </p:nvSpPr>
        <p:spPr bwMode="auto">
          <a:xfrm flipV="1">
            <a:off x="4505604" y="2971800"/>
            <a:ext cx="1025129" cy="471486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/>
          <p:cNvSpPr>
            <a:spLocks noChangeShapeType="1"/>
          </p:cNvSpPr>
          <p:nvPr/>
        </p:nvSpPr>
        <p:spPr bwMode="auto">
          <a:xfrm flipV="1">
            <a:off x="5527160" y="2964657"/>
            <a:ext cx="1507331" cy="714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/>
          <p:cNvSpPr>
            <a:spLocks noChangeArrowheads="1"/>
          </p:cNvSpPr>
          <p:nvPr/>
        </p:nvSpPr>
        <p:spPr bwMode="auto">
          <a:xfrm>
            <a:off x="6449894" y="2971800"/>
            <a:ext cx="63104" cy="23336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8" name="Line 66"/>
          <p:cNvSpPr>
            <a:spLocks noChangeShapeType="1"/>
          </p:cNvSpPr>
          <p:nvPr/>
        </p:nvSpPr>
        <p:spPr bwMode="auto">
          <a:xfrm>
            <a:off x="3231635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9" name="Line 67"/>
          <p:cNvSpPr>
            <a:spLocks noChangeShapeType="1"/>
          </p:cNvSpPr>
          <p:nvPr/>
        </p:nvSpPr>
        <p:spPr bwMode="auto">
          <a:xfrm flipV="1">
            <a:off x="3231634" y="4326136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0" name="Text Box 68"/>
          <p:cNvSpPr txBox="1">
            <a:spLocks noChangeArrowheads="1"/>
          </p:cNvSpPr>
          <p:nvPr/>
        </p:nvSpPr>
        <p:spPr bwMode="auto">
          <a:xfrm>
            <a:off x="3316169" y="4368404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1</a:t>
            </a:r>
          </a:p>
        </p:txBody>
      </p:sp>
      <p:sp>
        <p:nvSpPr>
          <p:cNvPr id="20511" name="Line 69"/>
          <p:cNvSpPr>
            <a:spLocks noChangeShapeType="1"/>
          </p:cNvSpPr>
          <p:nvPr/>
        </p:nvSpPr>
        <p:spPr bwMode="auto">
          <a:xfrm>
            <a:off x="4507706" y="4013404"/>
            <a:ext cx="1014413" cy="15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2" name="Line 70"/>
          <p:cNvSpPr>
            <a:spLocks noChangeShapeType="1"/>
          </p:cNvSpPr>
          <p:nvPr/>
        </p:nvSpPr>
        <p:spPr bwMode="auto">
          <a:xfrm>
            <a:off x="4517510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3" name="Text Box 71"/>
          <p:cNvSpPr txBox="1">
            <a:spLocks noChangeArrowheads="1"/>
          </p:cNvSpPr>
          <p:nvPr/>
        </p:nvSpPr>
        <p:spPr bwMode="auto">
          <a:xfrm>
            <a:off x="4934453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2</a:t>
            </a:r>
          </a:p>
        </p:txBody>
      </p:sp>
      <p:sp>
        <p:nvSpPr>
          <p:cNvPr id="20514" name="Line 72"/>
          <p:cNvSpPr>
            <a:spLocks noChangeShapeType="1"/>
          </p:cNvSpPr>
          <p:nvPr/>
        </p:nvSpPr>
        <p:spPr bwMode="auto">
          <a:xfrm>
            <a:off x="5525969" y="3850481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5" name="Line 73"/>
          <p:cNvSpPr>
            <a:spLocks noChangeShapeType="1"/>
          </p:cNvSpPr>
          <p:nvPr/>
        </p:nvSpPr>
        <p:spPr bwMode="auto">
          <a:xfrm>
            <a:off x="6003410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6" name="Line 74"/>
          <p:cNvSpPr>
            <a:spLocks noChangeShapeType="1"/>
          </p:cNvSpPr>
          <p:nvPr/>
        </p:nvSpPr>
        <p:spPr bwMode="auto">
          <a:xfrm>
            <a:off x="5524779" y="4326136"/>
            <a:ext cx="475972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7" name="Text Box 75"/>
          <p:cNvSpPr txBox="1">
            <a:spLocks noChangeArrowheads="1"/>
          </p:cNvSpPr>
          <p:nvPr/>
        </p:nvSpPr>
        <p:spPr bwMode="auto">
          <a:xfrm>
            <a:off x="5652175" y="4352856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20518" name="Line 76"/>
          <p:cNvSpPr>
            <a:spLocks noChangeShapeType="1"/>
          </p:cNvSpPr>
          <p:nvPr/>
        </p:nvSpPr>
        <p:spPr bwMode="auto">
          <a:xfrm flipV="1">
            <a:off x="3673358" y="4324351"/>
            <a:ext cx="1769269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9" name="Text Box 77"/>
          <p:cNvSpPr txBox="1">
            <a:spLocks noChangeArrowheads="1"/>
          </p:cNvSpPr>
          <p:nvPr/>
        </p:nvSpPr>
        <p:spPr bwMode="auto">
          <a:xfrm>
            <a:off x="4355584" y="418861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d</a:t>
            </a:r>
            <a:endParaRPr lang="en-US" sz="1350" baseline="-25000"/>
          </a:p>
        </p:txBody>
      </p:sp>
      <p:sp>
        <p:nvSpPr>
          <p:cNvPr id="20520" name="Line 79"/>
          <p:cNvSpPr>
            <a:spLocks noChangeShapeType="1"/>
          </p:cNvSpPr>
          <p:nvPr/>
        </p:nvSpPr>
        <p:spPr bwMode="auto">
          <a:xfrm flipV="1">
            <a:off x="5530733" y="4012406"/>
            <a:ext cx="983456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21" name="Text Box 78"/>
          <p:cNvSpPr txBox="1">
            <a:spLocks noChangeArrowheads="1"/>
          </p:cNvSpPr>
          <p:nvPr/>
        </p:nvSpPr>
        <p:spPr bwMode="auto">
          <a:xfrm>
            <a:off x="5868860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2</a:t>
            </a: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6359083" y="3192556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V="1">
            <a:off x="4511278" y="3443286"/>
            <a:ext cx="1014413" cy="357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/>
          <p:cNvSpPr/>
          <p:nvPr/>
        </p:nvSpPr>
        <p:spPr bwMode="auto">
          <a:xfrm>
            <a:off x="3209850" y="319111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4117189" y="3187531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5006668" y="319109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5985452" y="3191080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4371331" y="2722751"/>
            <a:ext cx="35779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sz="1350" dirty="0"/>
              <a:t>O</a:t>
            </a:r>
            <a:r>
              <a:rPr lang="en-US" sz="1350" baseline="-25000" dirty="0"/>
              <a:t>2</a:t>
            </a:r>
          </a:p>
          <a:p>
            <a:endParaRPr lang="en-US" sz="135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/>
          <p:cNvSpPr/>
          <p:nvPr/>
        </p:nvSpPr>
        <p:spPr bwMode="auto">
          <a:xfrm>
            <a:off x="450286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FAC28-98FA-C997-6707-3179DC19B0F5}"/>
              </a:ext>
            </a:extLst>
          </p:cNvPr>
          <p:cNvSpPr txBox="1"/>
          <p:nvPr/>
        </p:nvSpPr>
        <p:spPr>
          <a:xfrm>
            <a:off x="2896999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6A710-9F4E-0216-5167-09A458AA2B9C}"/>
              </a:ext>
            </a:extLst>
          </p:cNvPr>
          <p:cNvSpPr txBox="1"/>
          <p:nvPr/>
        </p:nvSpPr>
        <p:spPr>
          <a:xfrm>
            <a:off x="3926223" y="386030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CA8C6-FA62-2E53-CB5D-8A650168A7A9}"/>
              </a:ext>
            </a:extLst>
          </p:cNvPr>
          <p:cNvSpPr txBox="1"/>
          <p:nvPr/>
        </p:nvSpPr>
        <p:spPr>
          <a:xfrm>
            <a:off x="4876562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DB93F-1AE0-6D50-94C8-6E4D01BFBD3A}"/>
              </a:ext>
            </a:extLst>
          </p:cNvPr>
          <p:cNvSpPr txBox="1"/>
          <p:nvPr/>
        </p:nvSpPr>
        <p:spPr>
          <a:xfrm>
            <a:off x="5851284" y="3806345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193443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B5D5-6CB8-90A1-15BB-DDAABBFE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3D601B-1751-2F55-17A6-D124D958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3608E-6F43-7632-4FC1-5B2CB6A8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what is the object for the second lens?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first lens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second lens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first lens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6FAA5-F10E-1472-E10B-824FF442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76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D55E-9043-2BA0-9F68-D39BE511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12474D-C798-A865-8ECC-14E93DD9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49AEA-067F-1AD9-5B61-8D22C2DE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is the image formed by the first lens inverted?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Sometimes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Never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29748-7B7E-3F3E-47B4-C4949B1E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04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D201-D5A3-72A5-B9FD-DC696FC9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16405-4577-96C1-E51D-CE55BD02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A4EB3-9B24-80E5-1AB1-5D3D09F3A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is the image formed by the second lens inverted?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Sometimes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Never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87DA6-4A70-146D-1457-0255B9BE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4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AB3C-0FA8-3E9D-AA3E-98A8A8E5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3">
            <a:extLst>
              <a:ext uri="{FF2B5EF4-FFF2-40B4-BE49-F238E27FC236}">
                <a16:creationId xmlns:a16="http://schemas.microsoft.com/office/drawing/2014/main" id="{EEE8C250-C4B1-80EF-8B00-87A12D7A1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786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>
            <a:extLst>
              <a:ext uri="{FF2B5EF4-FFF2-40B4-BE49-F238E27FC236}">
                <a16:creationId xmlns:a16="http://schemas.microsoft.com/office/drawing/2014/main" id="{A1E76DFF-E439-5965-A408-40D1B97E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095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>
            <a:extLst>
              <a:ext uri="{FF2B5EF4-FFF2-40B4-BE49-F238E27FC236}">
                <a16:creationId xmlns:a16="http://schemas.microsoft.com/office/drawing/2014/main" id="{40E1B7DB-E7EC-149D-1B7B-963FBC7A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4010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>
            <a:extLst>
              <a:ext uri="{FF2B5EF4-FFF2-40B4-BE49-F238E27FC236}">
                <a16:creationId xmlns:a16="http://schemas.microsoft.com/office/drawing/2014/main" id="{454DCB63-8FC5-662C-03AF-F9C9D2ED7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6979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C7BF08B5-4A1B-C23B-759A-7D0CC84A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R. Todd Lines</a:t>
            </a:r>
          </a:p>
        </p:txBody>
      </p:sp>
      <p:sp>
        <p:nvSpPr>
          <p:cNvPr id="20485" name="Freeform 4">
            <a:extLst>
              <a:ext uri="{FF2B5EF4-FFF2-40B4-BE49-F238E27FC236}">
                <a16:creationId xmlns:a16="http://schemas.microsoft.com/office/drawing/2014/main" id="{2CAEBB63-E2D3-0461-11BC-29F2B821082F}"/>
              </a:ext>
            </a:extLst>
          </p:cNvPr>
          <p:cNvSpPr>
            <a:spLocks/>
          </p:cNvSpPr>
          <p:nvPr/>
        </p:nvSpPr>
        <p:spPr bwMode="auto">
          <a:xfrm>
            <a:off x="5400953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>
            <a:extLst>
              <a:ext uri="{FF2B5EF4-FFF2-40B4-BE49-F238E27FC236}">
                <a16:creationId xmlns:a16="http://schemas.microsoft.com/office/drawing/2014/main" id="{8B50B5CB-5A15-FB77-BA3A-EB751B2F33A5}"/>
              </a:ext>
            </a:extLst>
          </p:cNvPr>
          <p:cNvSpPr>
            <a:spLocks/>
          </p:cNvSpPr>
          <p:nvPr/>
        </p:nvSpPr>
        <p:spPr bwMode="auto">
          <a:xfrm>
            <a:off x="3562621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>
            <a:extLst>
              <a:ext uri="{FF2B5EF4-FFF2-40B4-BE49-F238E27FC236}">
                <a16:creationId xmlns:a16="http://schemas.microsoft.com/office/drawing/2014/main" id="{34BAC582-6213-58FB-7F4B-6B23340D6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9592" y="3206354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>
            <a:extLst>
              <a:ext uri="{FF2B5EF4-FFF2-40B4-BE49-F238E27FC236}">
                <a16:creationId xmlns:a16="http://schemas.microsoft.com/office/drawing/2014/main" id="{64661501-BEFC-21E7-E660-AADB0666D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993" y="3192556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/>
              <a:t>1</a:t>
            </a:r>
          </a:p>
        </p:txBody>
      </p:sp>
      <p:sp>
        <p:nvSpPr>
          <p:cNvPr id="20489" name="Line 8">
            <a:extLst>
              <a:ext uri="{FF2B5EF4-FFF2-40B4-BE49-F238E27FC236}">
                <a16:creationId xmlns:a16="http://schemas.microsoft.com/office/drawing/2014/main" id="{2D8FB0D9-351B-B6B4-0A63-4DC20643C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9425" y="2924177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82DCCAF1-A281-1B36-6095-4AED2A02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8711" y="2927747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8E69EA04-11DF-8AC2-731C-6BC8A6C85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2605" y="2928939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2" name="Line 11">
            <a:extLst>
              <a:ext uri="{FF2B5EF4-FFF2-40B4-BE49-F238E27FC236}">
                <a16:creationId xmlns:a16="http://schemas.microsoft.com/office/drawing/2014/main" id="{2EEEB157-784D-517B-B8C7-A8F7112BE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4422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3" name="Line 12">
            <a:extLst>
              <a:ext uri="{FF2B5EF4-FFF2-40B4-BE49-F238E27FC236}">
                <a16:creationId xmlns:a16="http://schemas.microsoft.com/office/drawing/2014/main" id="{40B61084-C85F-9F95-4F6E-834F166565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567" y="4014192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4" name="Text Box 13">
            <a:extLst>
              <a:ext uri="{FF2B5EF4-FFF2-40B4-BE49-F238E27FC236}">
                <a16:creationId xmlns:a16="http://schemas.microsoft.com/office/drawing/2014/main" id="{AA916E86-6634-6A06-515C-36C9B0AF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484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1</a:t>
            </a:r>
          </a:p>
        </p:txBody>
      </p:sp>
      <p:sp>
        <p:nvSpPr>
          <p:cNvPr id="20495" name="Line 14">
            <a:extLst>
              <a:ext uri="{FF2B5EF4-FFF2-40B4-BE49-F238E27FC236}">
                <a16:creationId xmlns:a16="http://schemas.microsoft.com/office/drawing/2014/main" id="{61858754-A9D9-0B91-D0D0-FA2245DE7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378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6" name="Line 15">
            <a:extLst>
              <a:ext uri="{FF2B5EF4-FFF2-40B4-BE49-F238E27FC236}">
                <a16:creationId xmlns:a16="http://schemas.microsoft.com/office/drawing/2014/main" id="{1085D0C9-D959-4539-B890-425B39553D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4788" y="4012510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7" name="Text Box 16">
            <a:extLst>
              <a:ext uri="{FF2B5EF4-FFF2-40B4-BE49-F238E27FC236}">
                <a16:creationId xmlns:a16="http://schemas.microsoft.com/office/drawing/2014/main" id="{5EBE1554-7799-C2C9-BDAF-FF9DC3253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479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1</a:t>
            </a:r>
          </a:p>
        </p:txBody>
      </p:sp>
      <p:sp>
        <p:nvSpPr>
          <p:cNvPr id="20498" name="Line 20">
            <a:extLst>
              <a:ext uri="{FF2B5EF4-FFF2-40B4-BE49-F238E27FC236}">
                <a16:creationId xmlns:a16="http://schemas.microsoft.com/office/drawing/2014/main" id="{20549B8E-81C2-C17F-1229-001C7CF1F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8594" y="3893344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>
            <a:extLst>
              <a:ext uri="{FF2B5EF4-FFF2-40B4-BE49-F238E27FC236}">
                <a16:creationId xmlns:a16="http://schemas.microsoft.com/office/drawing/2014/main" id="{3D5DC9E4-BE52-41A1-33D4-75AF84FF2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704" y="2930129"/>
            <a:ext cx="66675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>
            <a:extLst>
              <a:ext uri="{FF2B5EF4-FFF2-40B4-BE49-F238E27FC236}">
                <a16:creationId xmlns:a16="http://schemas.microsoft.com/office/drawing/2014/main" id="{18792CDB-F04C-7A4A-8616-C01AD3D2A4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77028" y="3207544"/>
            <a:ext cx="78582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>
            <a:extLst>
              <a:ext uri="{FF2B5EF4-FFF2-40B4-BE49-F238E27FC236}">
                <a16:creationId xmlns:a16="http://schemas.microsoft.com/office/drawing/2014/main" id="{0B5FC207-D48D-9047-05D0-D714B7251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623" y="2925366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>
            <a:extLst>
              <a:ext uri="{FF2B5EF4-FFF2-40B4-BE49-F238E27FC236}">
                <a16:creationId xmlns:a16="http://schemas.microsoft.com/office/drawing/2014/main" id="{EAD6F3D2-2D03-DCE7-DF40-EB7934B21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9748" y="3443288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>
            <a:extLst>
              <a:ext uri="{FF2B5EF4-FFF2-40B4-BE49-F238E27FC236}">
                <a16:creationId xmlns:a16="http://schemas.microsoft.com/office/drawing/2014/main" id="{9EAE63AC-23F1-C23C-1378-BA69FC922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2747" y="2832498"/>
            <a:ext cx="2524126" cy="61079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>
            <a:extLst>
              <a:ext uri="{FF2B5EF4-FFF2-40B4-BE49-F238E27FC236}">
                <a16:creationId xmlns:a16="http://schemas.microsoft.com/office/drawing/2014/main" id="{43B14747-7EEB-0B71-99D4-61CDD85FD3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0017" y="2728913"/>
            <a:ext cx="1446609" cy="72151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>
            <a:extLst>
              <a:ext uri="{FF2B5EF4-FFF2-40B4-BE49-F238E27FC236}">
                <a16:creationId xmlns:a16="http://schemas.microsoft.com/office/drawing/2014/main" id="{7880744A-2B3E-7F4B-8FA9-0A71A0AEFF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5604" y="2971800"/>
            <a:ext cx="1025129" cy="471486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>
            <a:extLst>
              <a:ext uri="{FF2B5EF4-FFF2-40B4-BE49-F238E27FC236}">
                <a16:creationId xmlns:a16="http://schemas.microsoft.com/office/drawing/2014/main" id="{F0FF7A2A-D016-CD4A-4305-4D5C7919B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7160" y="2964657"/>
            <a:ext cx="1507331" cy="714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>
            <a:extLst>
              <a:ext uri="{FF2B5EF4-FFF2-40B4-BE49-F238E27FC236}">
                <a16:creationId xmlns:a16="http://schemas.microsoft.com/office/drawing/2014/main" id="{4568412C-4969-C136-2A99-B6568DB22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894" y="2971800"/>
            <a:ext cx="63104" cy="23336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8" name="Line 66">
            <a:extLst>
              <a:ext uri="{FF2B5EF4-FFF2-40B4-BE49-F238E27FC236}">
                <a16:creationId xmlns:a16="http://schemas.microsoft.com/office/drawing/2014/main" id="{23E505EC-BCFE-A89E-532B-DDCB1DD2E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1635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9" name="Line 67">
            <a:extLst>
              <a:ext uri="{FF2B5EF4-FFF2-40B4-BE49-F238E27FC236}">
                <a16:creationId xmlns:a16="http://schemas.microsoft.com/office/drawing/2014/main" id="{82BDEAD5-F233-C950-B75D-F15755F5D6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1634" y="4326136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0" name="Text Box 68">
            <a:extLst>
              <a:ext uri="{FF2B5EF4-FFF2-40B4-BE49-F238E27FC236}">
                <a16:creationId xmlns:a16="http://schemas.microsoft.com/office/drawing/2014/main" id="{7E1934FD-D656-3698-DA83-81C16C1FC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169" y="4368404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1</a:t>
            </a:r>
          </a:p>
        </p:txBody>
      </p:sp>
      <p:sp>
        <p:nvSpPr>
          <p:cNvPr id="20511" name="Line 69">
            <a:extLst>
              <a:ext uri="{FF2B5EF4-FFF2-40B4-BE49-F238E27FC236}">
                <a16:creationId xmlns:a16="http://schemas.microsoft.com/office/drawing/2014/main" id="{AA98C068-3D1A-6B28-A329-EB9460868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7706" y="4013404"/>
            <a:ext cx="1014413" cy="15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2" name="Line 70">
            <a:extLst>
              <a:ext uri="{FF2B5EF4-FFF2-40B4-BE49-F238E27FC236}">
                <a16:creationId xmlns:a16="http://schemas.microsoft.com/office/drawing/2014/main" id="{ABE60881-73BC-3D8D-2D0D-A636CFBA9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7510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3" name="Text Box 71">
            <a:extLst>
              <a:ext uri="{FF2B5EF4-FFF2-40B4-BE49-F238E27FC236}">
                <a16:creationId xmlns:a16="http://schemas.microsoft.com/office/drawing/2014/main" id="{AA0B28D4-A36A-0A66-2DD9-EA499CCE4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453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2</a:t>
            </a:r>
          </a:p>
        </p:txBody>
      </p:sp>
      <p:sp>
        <p:nvSpPr>
          <p:cNvPr id="20514" name="Line 72">
            <a:extLst>
              <a:ext uri="{FF2B5EF4-FFF2-40B4-BE49-F238E27FC236}">
                <a16:creationId xmlns:a16="http://schemas.microsoft.com/office/drawing/2014/main" id="{26A67704-14C0-FED1-24EE-10C7835DB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5969" y="3850481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5" name="Line 73">
            <a:extLst>
              <a:ext uri="{FF2B5EF4-FFF2-40B4-BE49-F238E27FC236}">
                <a16:creationId xmlns:a16="http://schemas.microsoft.com/office/drawing/2014/main" id="{9BBC2B84-0E35-2371-BF8F-A7D49537E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3410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6" name="Line 74">
            <a:extLst>
              <a:ext uri="{FF2B5EF4-FFF2-40B4-BE49-F238E27FC236}">
                <a16:creationId xmlns:a16="http://schemas.microsoft.com/office/drawing/2014/main" id="{E17FF7C4-960D-F241-F0AA-A7507A17E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779" y="4326136"/>
            <a:ext cx="475972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7" name="Text Box 75">
            <a:extLst>
              <a:ext uri="{FF2B5EF4-FFF2-40B4-BE49-F238E27FC236}">
                <a16:creationId xmlns:a16="http://schemas.microsoft.com/office/drawing/2014/main" id="{97C9C4A3-2A4B-D60F-8AEB-36BE04E62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75" y="4352856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20518" name="Line 76">
            <a:extLst>
              <a:ext uri="{FF2B5EF4-FFF2-40B4-BE49-F238E27FC236}">
                <a16:creationId xmlns:a16="http://schemas.microsoft.com/office/drawing/2014/main" id="{F11DF595-833E-A952-523F-4055ECAE12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3358" y="4324351"/>
            <a:ext cx="1769269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9" name="Text Box 77">
            <a:extLst>
              <a:ext uri="{FF2B5EF4-FFF2-40B4-BE49-F238E27FC236}">
                <a16:creationId xmlns:a16="http://schemas.microsoft.com/office/drawing/2014/main" id="{61606C78-2DE5-7F52-34A5-69E4B849E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584" y="418861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d</a:t>
            </a:r>
            <a:endParaRPr lang="en-US" sz="1350" baseline="-25000"/>
          </a:p>
        </p:txBody>
      </p:sp>
      <p:sp>
        <p:nvSpPr>
          <p:cNvPr id="20520" name="Line 79">
            <a:extLst>
              <a:ext uri="{FF2B5EF4-FFF2-40B4-BE49-F238E27FC236}">
                <a16:creationId xmlns:a16="http://schemas.microsoft.com/office/drawing/2014/main" id="{302A0178-529A-9BF9-529C-E60A6B1ACD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0733" y="4012406"/>
            <a:ext cx="983456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21" name="Text Box 78">
            <a:extLst>
              <a:ext uri="{FF2B5EF4-FFF2-40B4-BE49-F238E27FC236}">
                <a16:creationId xmlns:a16="http://schemas.microsoft.com/office/drawing/2014/main" id="{8A36BEAD-F6B2-7C9C-B40C-C78328192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860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2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C9A7DC9E-200A-315E-BE5D-37ABAB461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083" y="3192556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DF1EEA18-B903-95E8-AF9B-F04C30C39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278" y="3443286"/>
            <a:ext cx="1014413" cy="357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28695C-C1BF-56C1-4979-49685459A432}"/>
              </a:ext>
            </a:extLst>
          </p:cNvPr>
          <p:cNvSpPr/>
          <p:nvPr/>
        </p:nvSpPr>
        <p:spPr bwMode="auto">
          <a:xfrm>
            <a:off x="3209850" y="319111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D8F65B3-68AD-41A4-F992-DEE41E4AD6BA}"/>
              </a:ext>
            </a:extLst>
          </p:cNvPr>
          <p:cNvSpPr/>
          <p:nvPr/>
        </p:nvSpPr>
        <p:spPr bwMode="auto">
          <a:xfrm>
            <a:off x="4117189" y="3187531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95744BA-61BB-75CC-E4B4-F8399EA3F7E8}"/>
              </a:ext>
            </a:extLst>
          </p:cNvPr>
          <p:cNvSpPr/>
          <p:nvPr/>
        </p:nvSpPr>
        <p:spPr bwMode="auto">
          <a:xfrm>
            <a:off x="5006668" y="319109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83DB71-CFE3-1F78-248C-480485E669A3}"/>
              </a:ext>
            </a:extLst>
          </p:cNvPr>
          <p:cNvSpPr/>
          <p:nvPr/>
        </p:nvSpPr>
        <p:spPr bwMode="auto">
          <a:xfrm>
            <a:off x="5985452" y="3191080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D5E11724-61D5-E041-AAE2-38A4B3CF6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331" y="2722751"/>
            <a:ext cx="35779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sz="1350" dirty="0"/>
              <a:t>O</a:t>
            </a:r>
            <a:r>
              <a:rPr lang="en-US" sz="1350" baseline="-25000" dirty="0"/>
              <a:t>2</a:t>
            </a:r>
          </a:p>
          <a:p>
            <a:endParaRPr lang="en-US" sz="135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B4FA43E-ED8C-EB54-B117-3534A243A908}"/>
              </a:ext>
            </a:extLst>
          </p:cNvPr>
          <p:cNvSpPr/>
          <p:nvPr/>
        </p:nvSpPr>
        <p:spPr bwMode="auto">
          <a:xfrm>
            <a:off x="450286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96A5F3-4697-F637-80DD-8760E6E7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AB16A-2E35-EFBC-337F-114B5362E31F}"/>
              </a:ext>
            </a:extLst>
          </p:cNvPr>
          <p:cNvSpPr txBox="1"/>
          <p:nvPr/>
        </p:nvSpPr>
        <p:spPr>
          <a:xfrm>
            <a:off x="2896999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A9F76-63D5-FB40-3B3C-663682A0E406}"/>
              </a:ext>
            </a:extLst>
          </p:cNvPr>
          <p:cNvSpPr txBox="1"/>
          <p:nvPr/>
        </p:nvSpPr>
        <p:spPr>
          <a:xfrm>
            <a:off x="3926223" y="386030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03561-DAB9-AA61-16D6-FDA147B6E17D}"/>
              </a:ext>
            </a:extLst>
          </p:cNvPr>
          <p:cNvSpPr txBox="1"/>
          <p:nvPr/>
        </p:nvSpPr>
        <p:spPr>
          <a:xfrm>
            <a:off x="4876562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5586C-281E-C8E6-123F-EC49852D668D}"/>
              </a:ext>
            </a:extLst>
          </p:cNvPr>
          <p:cNvSpPr txBox="1"/>
          <p:nvPr/>
        </p:nvSpPr>
        <p:spPr>
          <a:xfrm>
            <a:off x="5851284" y="3806345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4221447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3336439" y="2937062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5733498" y="320516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4669082" y="2980130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3534060" y="320516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427029" y="2980130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Combination of Lenses</a:t>
            </a:r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5185803" y="2007395"/>
            <a:ext cx="242888" cy="2350293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/>
          <p:cNvSpPr>
            <a:spLocks/>
          </p:cNvSpPr>
          <p:nvPr/>
        </p:nvSpPr>
        <p:spPr bwMode="auto">
          <a:xfrm>
            <a:off x="3962671" y="2512814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2519642" y="3199210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2916186" y="3169444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350" dirty="0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3099475" y="2917033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3088761" y="2920603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4082655" y="2921795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/>
          <p:cNvSpPr>
            <a:spLocks noChangeArrowheads="1"/>
          </p:cNvSpPr>
          <p:nvPr/>
        </p:nvSpPr>
        <p:spPr bwMode="auto">
          <a:xfrm>
            <a:off x="3063755" y="2922986"/>
            <a:ext cx="34289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/>
          <p:cNvSpPr>
            <a:spLocks noChangeArrowheads="1"/>
          </p:cNvSpPr>
          <p:nvPr/>
        </p:nvSpPr>
        <p:spPr bwMode="auto">
          <a:xfrm flipV="1">
            <a:off x="4905653" y="3200400"/>
            <a:ext cx="52110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/>
          <p:cNvSpPr>
            <a:spLocks noChangeShapeType="1"/>
          </p:cNvSpPr>
          <p:nvPr/>
        </p:nvSpPr>
        <p:spPr bwMode="auto">
          <a:xfrm>
            <a:off x="3089673" y="2918222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/>
          <p:cNvSpPr>
            <a:spLocks noChangeShapeType="1"/>
          </p:cNvSpPr>
          <p:nvPr/>
        </p:nvSpPr>
        <p:spPr bwMode="auto">
          <a:xfrm>
            <a:off x="4089798" y="3436144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/>
          <p:cNvSpPr>
            <a:spLocks noChangeShapeType="1"/>
          </p:cNvSpPr>
          <p:nvPr/>
        </p:nvSpPr>
        <p:spPr bwMode="auto">
          <a:xfrm flipV="1">
            <a:off x="5248552" y="4200526"/>
            <a:ext cx="1123673" cy="7142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/>
          <p:cNvSpPr>
            <a:spLocks noChangeShapeType="1"/>
          </p:cNvSpPr>
          <p:nvPr/>
        </p:nvSpPr>
        <p:spPr bwMode="auto">
          <a:xfrm flipV="1">
            <a:off x="5312848" y="2778919"/>
            <a:ext cx="1466571" cy="660797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/>
          <p:cNvSpPr>
            <a:spLocks noChangeShapeType="1"/>
          </p:cNvSpPr>
          <p:nvPr/>
        </p:nvSpPr>
        <p:spPr bwMode="auto">
          <a:xfrm flipV="1">
            <a:off x="4905654" y="2557464"/>
            <a:ext cx="1516579" cy="87868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/>
          <p:cNvSpPr>
            <a:spLocks noChangeShapeType="1"/>
          </p:cNvSpPr>
          <p:nvPr/>
        </p:nvSpPr>
        <p:spPr bwMode="auto">
          <a:xfrm>
            <a:off x="4914900" y="3436144"/>
            <a:ext cx="400051" cy="771525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/>
          <p:cNvSpPr>
            <a:spLocks noChangeArrowheads="1"/>
          </p:cNvSpPr>
          <p:nvPr/>
        </p:nvSpPr>
        <p:spPr bwMode="auto">
          <a:xfrm flipV="1">
            <a:off x="3498687" y="3207544"/>
            <a:ext cx="101764" cy="101441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V="1">
            <a:off x="4911328" y="3436143"/>
            <a:ext cx="414338" cy="3572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/>
          <p:cNvSpPr/>
          <p:nvPr/>
        </p:nvSpPr>
        <p:spPr bwMode="auto">
          <a:xfrm>
            <a:off x="353131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4517239" y="3180388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4762942" y="3183948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5813164" y="318393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2" name="Line 62"/>
          <p:cNvSpPr>
            <a:spLocks noChangeShapeType="1"/>
          </p:cNvSpPr>
          <p:nvPr/>
        </p:nvSpPr>
        <p:spPr bwMode="auto">
          <a:xfrm flipV="1">
            <a:off x="3171825" y="3421856"/>
            <a:ext cx="2157413" cy="9715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3" name="Line 62"/>
          <p:cNvSpPr>
            <a:spLocks noChangeShapeType="1"/>
          </p:cNvSpPr>
          <p:nvPr/>
        </p:nvSpPr>
        <p:spPr bwMode="auto">
          <a:xfrm flipV="1">
            <a:off x="3186114" y="3428999"/>
            <a:ext cx="1743074" cy="99298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" name="Line 62"/>
          <p:cNvSpPr>
            <a:spLocks noChangeShapeType="1"/>
          </p:cNvSpPr>
          <p:nvPr/>
        </p:nvSpPr>
        <p:spPr bwMode="auto">
          <a:xfrm flipV="1">
            <a:off x="3036095" y="4214812"/>
            <a:ext cx="2250281" cy="714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3088760" y="441677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2" name="Line 12"/>
          <p:cNvSpPr>
            <a:spLocks noChangeShapeType="1"/>
          </p:cNvSpPr>
          <p:nvPr/>
        </p:nvSpPr>
        <p:spPr bwMode="auto">
          <a:xfrm flipV="1">
            <a:off x="3095904" y="4502504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3321839" y="4375547"/>
            <a:ext cx="296876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1</a:t>
            </a:r>
          </a:p>
        </p:txBody>
      </p:sp>
      <p:sp>
        <p:nvSpPr>
          <p:cNvPr id="64" name="Line 14"/>
          <p:cNvSpPr>
            <a:spLocks noChangeShapeType="1"/>
          </p:cNvSpPr>
          <p:nvPr/>
        </p:nvSpPr>
        <p:spPr bwMode="auto">
          <a:xfrm>
            <a:off x="3543578" y="515972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5" name="Line 15"/>
          <p:cNvSpPr>
            <a:spLocks noChangeShapeType="1"/>
          </p:cNvSpPr>
          <p:nvPr/>
        </p:nvSpPr>
        <p:spPr bwMode="auto">
          <a:xfrm flipV="1">
            <a:off x="4109125" y="4500824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4387238" y="4375547"/>
            <a:ext cx="335348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s’</a:t>
            </a:r>
            <a:r>
              <a:rPr lang="en-US" sz="1200" baseline="-25000" dirty="0"/>
              <a:t>1</a:t>
            </a:r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4082932" y="4414837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3660260" y="4761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9" name="Line 67"/>
          <p:cNvSpPr>
            <a:spLocks noChangeShapeType="1"/>
          </p:cNvSpPr>
          <p:nvPr/>
        </p:nvSpPr>
        <p:spPr bwMode="auto">
          <a:xfrm flipV="1">
            <a:off x="3653116" y="4847630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0" name="Text Box 68"/>
          <p:cNvSpPr txBox="1">
            <a:spLocks noChangeArrowheads="1"/>
          </p:cNvSpPr>
          <p:nvPr/>
        </p:nvSpPr>
        <p:spPr bwMode="auto">
          <a:xfrm>
            <a:off x="3709075" y="4889898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f</a:t>
            </a:r>
            <a:r>
              <a:rPr lang="en-US" sz="1350" baseline="-25000"/>
              <a:t>1</a:t>
            </a: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>
            <a:off x="4922045" y="4495361"/>
            <a:ext cx="378619" cy="520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auto">
          <a:xfrm>
            <a:off x="4931847" y="441677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4" name="Line 72"/>
          <p:cNvSpPr>
            <a:spLocks noChangeShapeType="1"/>
          </p:cNvSpPr>
          <p:nvPr/>
        </p:nvSpPr>
        <p:spPr bwMode="auto">
          <a:xfrm>
            <a:off x="5304514" y="4421981"/>
            <a:ext cx="3293" cy="9429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5" name="Line 73"/>
          <p:cNvSpPr>
            <a:spLocks noChangeShapeType="1"/>
          </p:cNvSpPr>
          <p:nvPr/>
        </p:nvSpPr>
        <p:spPr bwMode="auto">
          <a:xfrm>
            <a:off x="5831960" y="4761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6" name="Line 74"/>
          <p:cNvSpPr>
            <a:spLocks noChangeShapeType="1"/>
          </p:cNvSpPr>
          <p:nvPr/>
        </p:nvSpPr>
        <p:spPr bwMode="auto">
          <a:xfrm>
            <a:off x="5310466" y="4847630"/>
            <a:ext cx="511691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4" name="Rectangle 83"/>
          <p:cNvSpPr/>
          <p:nvPr/>
        </p:nvSpPr>
        <p:spPr bwMode="auto">
          <a:xfrm>
            <a:off x="5043489" y="4386264"/>
            <a:ext cx="150019" cy="19288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77" name="Text Box 75"/>
          <p:cNvSpPr txBox="1">
            <a:spLocks noChangeArrowheads="1"/>
          </p:cNvSpPr>
          <p:nvPr/>
        </p:nvSpPr>
        <p:spPr bwMode="auto">
          <a:xfrm>
            <a:off x="5445007" y="4874350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>
            <a:off x="4087696" y="4849417"/>
            <a:ext cx="1212968" cy="119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9" name="Text Box 77"/>
          <p:cNvSpPr txBox="1">
            <a:spLocks noChangeArrowheads="1"/>
          </p:cNvSpPr>
          <p:nvPr/>
        </p:nvSpPr>
        <p:spPr bwMode="auto">
          <a:xfrm>
            <a:off x="4598472" y="470296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d</a:t>
            </a:r>
            <a:endParaRPr lang="en-US" sz="1350" baseline="-25000" dirty="0"/>
          </a:p>
        </p:txBody>
      </p:sp>
      <p:sp>
        <p:nvSpPr>
          <p:cNvPr id="80" name="Line 79"/>
          <p:cNvSpPr>
            <a:spLocks noChangeShapeType="1"/>
          </p:cNvSpPr>
          <p:nvPr/>
        </p:nvSpPr>
        <p:spPr bwMode="auto">
          <a:xfrm flipV="1">
            <a:off x="3550444" y="5286529"/>
            <a:ext cx="1763595" cy="6989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4244363" y="5154216"/>
            <a:ext cx="335348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s’</a:t>
            </a:r>
            <a:r>
              <a:rPr lang="en-US" sz="1200" baseline="-25000" dirty="0"/>
              <a:t>2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977315" y="4375547"/>
            <a:ext cx="31620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2</a:t>
            </a:r>
          </a:p>
        </p:txBody>
      </p:sp>
      <p:sp>
        <p:nvSpPr>
          <p:cNvPr id="85" name="Text Box 7"/>
          <p:cNvSpPr txBox="1">
            <a:spLocks noChangeArrowheads="1"/>
          </p:cNvSpPr>
          <p:nvPr/>
        </p:nvSpPr>
        <p:spPr bwMode="auto">
          <a:xfrm>
            <a:off x="4804323" y="2843214"/>
            <a:ext cx="289172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82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825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825" dirty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sz="825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86" name="Oval 85"/>
          <p:cNvSpPr/>
          <p:nvPr/>
        </p:nvSpPr>
        <p:spPr bwMode="auto">
          <a:xfrm>
            <a:off x="4917206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545DA-C84E-6A8D-3C84-DE47F48BA1EF}"/>
              </a:ext>
            </a:extLst>
          </p:cNvPr>
          <p:cNvSpPr txBox="1"/>
          <p:nvPr/>
        </p:nvSpPr>
        <p:spPr>
          <a:xfrm>
            <a:off x="3326694" y="4388463"/>
            <a:ext cx="35618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d</a:t>
            </a:r>
            <a:r>
              <a:rPr lang="en-US" sz="1050" baseline="-25000" dirty="0"/>
              <a:t>o1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6CFD7-0887-72AF-B9B2-907A04876BF8}"/>
              </a:ext>
            </a:extLst>
          </p:cNvPr>
          <p:cNvSpPr txBox="1"/>
          <p:nvPr/>
        </p:nvSpPr>
        <p:spPr>
          <a:xfrm>
            <a:off x="4329857" y="4407192"/>
            <a:ext cx="32733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FB389-C8F3-D2B8-EA35-43FEDEFD43C7}"/>
              </a:ext>
            </a:extLst>
          </p:cNvPr>
          <p:cNvSpPr/>
          <p:nvPr/>
        </p:nvSpPr>
        <p:spPr>
          <a:xfrm>
            <a:off x="5063177" y="4414837"/>
            <a:ext cx="110554" cy="201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DEC5A-13AD-1AB6-8CA6-CD3DDBBE2E01}"/>
              </a:ext>
            </a:extLst>
          </p:cNvPr>
          <p:cNvSpPr txBox="1"/>
          <p:nvPr/>
        </p:nvSpPr>
        <p:spPr>
          <a:xfrm>
            <a:off x="4973496" y="4414123"/>
            <a:ext cx="3113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</a:t>
            </a:r>
            <a:r>
              <a:rPr lang="en-US" sz="800" baseline="-25000" dirty="0"/>
              <a:t>o2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878A6-1F87-E81D-79B0-41A5F0A06A23}"/>
              </a:ext>
            </a:extLst>
          </p:cNvPr>
          <p:cNvSpPr txBox="1"/>
          <p:nvPr/>
        </p:nvSpPr>
        <p:spPr>
          <a:xfrm>
            <a:off x="4263362" y="5182369"/>
            <a:ext cx="32733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317208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3686-3E59-5FBF-F628-80813852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C6927CFF-A931-E0C6-7225-676641B1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F88FE49-9A6E-E319-EDF3-6E46A50708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Compound Microscope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DC24DC9-71A7-03DE-CD16-B6EC20FB2F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1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CB59-8DF6-6F95-DFC3-9CF73D77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41CD5E08-F61B-488B-91B9-ADF319193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F64A69-9941-06EA-A4E9-A54B44DD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65EE6-D05F-16DA-6E1D-79D4F1647668}"/>
              </a:ext>
            </a:extLst>
          </p:cNvPr>
          <p:cNvSpPr txBox="1"/>
          <p:nvPr/>
        </p:nvSpPr>
        <p:spPr>
          <a:xfrm>
            <a:off x="3456300" y="2170830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B3A32-9F16-F70D-F2EA-8C2F807079E4}"/>
              </a:ext>
            </a:extLst>
          </p:cNvPr>
          <p:cNvSpPr txBox="1"/>
          <p:nvPr/>
        </p:nvSpPr>
        <p:spPr>
          <a:xfrm>
            <a:off x="4354568" y="2170830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9030A-0A87-75BE-36A2-513B31E9E33D}"/>
              </a:ext>
            </a:extLst>
          </p:cNvPr>
          <p:cNvSpPr txBox="1"/>
          <p:nvPr/>
        </p:nvSpPr>
        <p:spPr>
          <a:xfrm>
            <a:off x="5217570" y="2174532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DF698-590F-F320-82F8-CCEE8C8D62AA}"/>
              </a:ext>
            </a:extLst>
          </p:cNvPr>
          <p:cNvSpPr txBox="1"/>
          <p:nvPr/>
        </p:nvSpPr>
        <p:spPr>
          <a:xfrm>
            <a:off x="3677675" y="1727614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4C089-B89A-F03C-0CD6-7267526C97A2}"/>
              </a:ext>
            </a:extLst>
          </p:cNvPr>
          <p:cNvSpPr txBox="1"/>
          <p:nvPr/>
        </p:nvSpPr>
        <p:spPr>
          <a:xfrm>
            <a:off x="6565739" y="2807563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6C069-9736-4CE5-B544-EAEDDBF57942}"/>
              </a:ext>
            </a:extLst>
          </p:cNvPr>
          <p:cNvSpPr txBox="1"/>
          <p:nvPr/>
        </p:nvSpPr>
        <p:spPr>
          <a:xfrm>
            <a:off x="4669883" y="2813659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FF936-7E6E-8164-DF7A-443D240F1B93}"/>
              </a:ext>
            </a:extLst>
          </p:cNvPr>
          <p:cNvSpPr txBox="1"/>
          <p:nvPr/>
        </p:nvSpPr>
        <p:spPr>
          <a:xfrm>
            <a:off x="3456300" y="3259723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18618-3109-DC11-4CCE-AEFAE997158A}"/>
              </a:ext>
            </a:extLst>
          </p:cNvPr>
          <p:cNvSpPr txBox="1"/>
          <p:nvPr/>
        </p:nvSpPr>
        <p:spPr>
          <a:xfrm>
            <a:off x="4237067" y="2804592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75FFB-7987-3C55-1CFB-9D557977A0D1}"/>
              </a:ext>
            </a:extLst>
          </p:cNvPr>
          <p:cNvSpPr txBox="1"/>
          <p:nvPr/>
        </p:nvSpPr>
        <p:spPr>
          <a:xfrm>
            <a:off x="2946911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604F0-E05B-BF1D-2A56-AB3EBA3A6925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306981-AE81-FCC3-CCB7-EB431B7811F8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940D89-A622-FA6B-FAD9-A9226C33BF1B}"/>
              </a:ext>
            </a:extLst>
          </p:cNvPr>
          <p:cNvSpPr/>
          <p:nvPr/>
        </p:nvSpPr>
        <p:spPr>
          <a:xfrm>
            <a:off x="4901184" y="3666744"/>
            <a:ext cx="333946" cy="298514"/>
          </a:xfrm>
          <a:custGeom>
            <a:avLst/>
            <a:gdLst>
              <a:gd name="connsiteX0" fmla="*/ 329184 w 329184"/>
              <a:gd name="connsiteY0" fmla="*/ 155448 h 265176"/>
              <a:gd name="connsiteX1" fmla="*/ 155448 w 329184"/>
              <a:gd name="connsiteY1" fmla="*/ 0 h 265176"/>
              <a:gd name="connsiteX2" fmla="*/ 0 w 329184"/>
              <a:gd name="connsiteY2" fmla="*/ 118872 h 265176"/>
              <a:gd name="connsiteX3" fmla="*/ 109728 w 329184"/>
              <a:gd name="connsiteY3" fmla="*/ 265176 h 265176"/>
              <a:gd name="connsiteX4" fmla="*/ 329184 w 329184"/>
              <a:gd name="connsiteY4" fmla="*/ 155448 h 265176"/>
              <a:gd name="connsiteX0" fmla="*/ 333946 w 333946"/>
              <a:gd name="connsiteY0" fmla="*/ 193548 h 265176"/>
              <a:gd name="connsiteX1" fmla="*/ 155448 w 333946"/>
              <a:gd name="connsiteY1" fmla="*/ 0 h 265176"/>
              <a:gd name="connsiteX2" fmla="*/ 0 w 333946"/>
              <a:gd name="connsiteY2" fmla="*/ 118872 h 265176"/>
              <a:gd name="connsiteX3" fmla="*/ 109728 w 333946"/>
              <a:gd name="connsiteY3" fmla="*/ 265176 h 265176"/>
              <a:gd name="connsiteX4" fmla="*/ 333946 w 333946"/>
              <a:gd name="connsiteY4" fmla="*/ 193548 h 265176"/>
              <a:gd name="connsiteX0" fmla="*/ 333946 w 333946"/>
              <a:gd name="connsiteY0" fmla="*/ 193548 h 298514"/>
              <a:gd name="connsiteX1" fmla="*/ 155448 w 333946"/>
              <a:gd name="connsiteY1" fmla="*/ 0 h 298514"/>
              <a:gd name="connsiteX2" fmla="*/ 0 w 333946"/>
              <a:gd name="connsiteY2" fmla="*/ 118872 h 298514"/>
              <a:gd name="connsiteX3" fmla="*/ 114491 w 333946"/>
              <a:gd name="connsiteY3" fmla="*/ 298514 h 298514"/>
              <a:gd name="connsiteX4" fmla="*/ 333946 w 333946"/>
              <a:gd name="connsiteY4" fmla="*/ 193548 h 29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46" h="298514">
                <a:moveTo>
                  <a:pt x="333946" y="193548"/>
                </a:moveTo>
                <a:lnTo>
                  <a:pt x="155448" y="0"/>
                </a:lnTo>
                <a:lnTo>
                  <a:pt x="0" y="118872"/>
                </a:lnTo>
                <a:lnTo>
                  <a:pt x="114491" y="298514"/>
                </a:lnTo>
                <a:lnTo>
                  <a:pt x="333946" y="1935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097A4-8D4F-D2DC-F925-45CFE53FC85A}"/>
              </a:ext>
            </a:extLst>
          </p:cNvPr>
          <p:cNvSpPr txBox="1"/>
          <p:nvPr/>
        </p:nvSpPr>
        <p:spPr>
          <a:xfrm>
            <a:off x="4894291" y="3600263"/>
            <a:ext cx="62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baseline="-25000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D7EEAB-02E3-C0E7-1E73-B8FC4E8DA8E8}"/>
              </a:ext>
            </a:extLst>
          </p:cNvPr>
          <p:cNvSpPr txBox="1"/>
          <p:nvPr/>
        </p:nvSpPr>
        <p:spPr>
          <a:xfrm>
            <a:off x="4964039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178C1-9165-E793-1629-F9A0DF914171}"/>
              </a:ext>
            </a:extLst>
          </p:cNvPr>
          <p:cNvSpPr txBox="1"/>
          <p:nvPr/>
        </p:nvSpPr>
        <p:spPr>
          <a:xfrm>
            <a:off x="1287389" y="281746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67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7B75DE-5F6C-5493-FEC0-6D0D4EFE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49888-B55C-A34E-9082-978CFBE0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536510"/>
            <a:ext cx="5040334" cy="51111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In a microscope the objective lens makes an image of an object like a single celled organism like a paramecium (right). But the eyepiece also makes an image. What is the object for the eyepiece?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paramecium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of the paramecium formed by the objective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eyepiece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objective lens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A63D952-03DA-C8A8-6DC3-BF0B520B7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05" y="1536510"/>
            <a:ext cx="4009243" cy="299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C7CF9B-7763-E4B5-243D-151ECF355395}"/>
              </a:ext>
            </a:extLst>
          </p:cNvPr>
          <p:cNvCxnSpPr>
            <a:cxnSpLocks/>
          </p:cNvCxnSpPr>
          <p:nvPr/>
        </p:nvCxnSpPr>
        <p:spPr>
          <a:xfrm flipV="1">
            <a:off x="6821424" y="4069080"/>
            <a:ext cx="310896" cy="932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8D5405-4B63-539A-68F5-84863B9F5141}"/>
              </a:ext>
            </a:extLst>
          </p:cNvPr>
          <p:cNvSpPr txBox="1"/>
          <p:nvPr/>
        </p:nvSpPr>
        <p:spPr>
          <a:xfrm>
            <a:off x="6272784" y="4997878"/>
            <a:ext cx="174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Paramecium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71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383F-7849-23C4-FF8D-5DC1424C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01B84802-C90F-7C05-2080-115C8E121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4A8DE8A-2769-EFAB-CF02-5C2F62CA4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0D7A39-E885-4547-AFB0-3B8E0051B12B}"/>
              </a:ext>
            </a:extLst>
          </p:cNvPr>
          <p:cNvSpPr txBox="1"/>
          <p:nvPr/>
        </p:nvSpPr>
        <p:spPr>
          <a:xfrm>
            <a:off x="3456300" y="2170830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D8817-52A9-1367-D1DF-DE37F1A2E0F8}"/>
              </a:ext>
            </a:extLst>
          </p:cNvPr>
          <p:cNvSpPr txBox="1"/>
          <p:nvPr/>
        </p:nvSpPr>
        <p:spPr>
          <a:xfrm>
            <a:off x="4354568" y="2170830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14D77-D81E-3D76-D1B4-E68FA123404A}"/>
              </a:ext>
            </a:extLst>
          </p:cNvPr>
          <p:cNvSpPr txBox="1"/>
          <p:nvPr/>
        </p:nvSpPr>
        <p:spPr>
          <a:xfrm>
            <a:off x="5217570" y="2174532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0920D-30AE-D754-7205-01F3CDDE518E}"/>
              </a:ext>
            </a:extLst>
          </p:cNvPr>
          <p:cNvSpPr txBox="1"/>
          <p:nvPr/>
        </p:nvSpPr>
        <p:spPr>
          <a:xfrm>
            <a:off x="3677675" y="1727614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24A4D-AB41-B337-0906-CBD0AAC6CFAA}"/>
              </a:ext>
            </a:extLst>
          </p:cNvPr>
          <p:cNvSpPr txBox="1"/>
          <p:nvPr/>
        </p:nvSpPr>
        <p:spPr>
          <a:xfrm>
            <a:off x="6565739" y="2807563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B68F-35D7-B388-1EC3-F7620A168001}"/>
              </a:ext>
            </a:extLst>
          </p:cNvPr>
          <p:cNvSpPr txBox="1"/>
          <p:nvPr/>
        </p:nvSpPr>
        <p:spPr>
          <a:xfrm>
            <a:off x="4669883" y="2813659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F8B4A-12EE-5682-1051-F18FC420AF2B}"/>
              </a:ext>
            </a:extLst>
          </p:cNvPr>
          <p:cNvSpPr txBox="1"/>
          <p:nvPr/>
        </p:nvSpPr>
        <p:spPr>
          <a:xfrm>
            <a:off x="3456300" y="3259723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194F4-5A75-5DA8-FEE6-1AB6821F38F8}"/>
              </a:ext>
            </a:extLst>
          </p:cNvPr>
          <p:cNvSpPr txBox="1"/>
          <p:nvPr/>
        </p:nvSpPr>
        <p:spPr>
          <a:xfrm>
            <a:off x="4237067" y="2804592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DAC71-580E-B5EE-AA8A-67F255703DDF}"/>
              </a:ext>
            </a:extLst>
          </p:cNvPr>
          <p:cNvSpPr txBox="1"/>
          <p:nvPr/>
        </p:nvSpPr>
        <p:spPr>
          <a:xfrm>
            <a:off x="2946911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BC12EE-654B-DB37-43DD-BDA232DB8A41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23DE0-AFCA-E59E-FFA6-4103E36B42D5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A812381-9C4D-7EE9-77E2-F1BC864CA83C}"/>
              </a:ext>
            </a:extLst>
          </p:cNvPr>
          <p:cNvSpPr/>
          <p:nvPr/>
        </p:nvSpPr>
        <p:spPr>
          <a:xfrm>
            <a:off x="4901184" y="3666744"/>
            <a:ext cx="333946" cy="298514"/>
          </a:xfrm>
          <a:custGeom>
            <a:avLst/>
            <a:gdLst>
              <a:gd name="connsiteX0" fmla="*/ 329184 w 329184"/>
              <a:gd name="connsiteY0" fmla="*/ 155448 h 265176"/>
              <a:gd name="connsiteX1" fmla="*/ 155448 w 329184"/>
              <a:gd name="connsiteY1" fmla="*/ 0 h 265176"/>
              <a:gd name="connsiteX2" fmla="*/ 0 w 329184"/>
              <a:gd name="connsiteY2" fmla="*/ 118872 h 265176"/>
              <a:gd name="connsiteX3" fmla="*/ 109728 w 329184"/>
              <a:gd name="connsiteY3" fmla="*/ 265176 h 265176"/>
              <a:gd name="connsiteX4" fmla="*/ 329184 w 329184"/>
              <a:gd name="connsiteY4" fmla="*/ 155448 h 265176"/>
              <a:gd name="connsiteX0" fmla="*/ 333946 w 333946"/>
              <a:gd name="connsiteY0" fmla="*/ 193548 h 265176"/>
              <a:gd name="connsiteX1" fmla="*/ 155448 w 333946"/>
              <a:gd name="connsiteY1" fmla="*/ 0 h 265176"/>
              <a:gd name="connsiteX2" fmla="*/ 0 w 333946"/>
              <a:gd name="connsiteY2" fmla="*/ 118872 h 265176"/>
              <a:gd name="connsiteX3" fmla="*/ 109728 w 333946"/>
              <a:gd name="connsiteY3" fmla="*/ 265176 h 265176"/>
              <a:gd name="connsiteX4" fmla="*/ 333946 w 333946"/>
              <a:gd name="connsiteY4" fmla="*/ 193548 h 265176"/>
              <a:gd name="connsiteX0" fmla="*/ 333946 w 333946"/>
              <a:gd name="connsiteY0" fmla="*/ 193548 h 298514"/>
              <a:gd name="connsiteX1" fmla="*/ 155448 w 333946"/>
              <a:gd name="connsiteY1" fmla="*/ 0 h 298514"/>
              <a:gd name="connsiteX2" fmla="*/ 0 w 333946"/>
              <a:gd name="connsiteY2" fmla="*/ 118872 h 298514"/>
              <a:gd name="connsiteX3" fmla="*/ 114491 w 333946"/>
              <a:gd name="connsiteY3" fmla="*/ 298514 h 298514"/>
              <a:gd name="connsiteX4" fmla="*/ 333946 w 333946"/>
              <a:gd name="connsiteY4" fmla="*/ 193548 h 29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46" h="298514">
                <a:moveTo>
                  <a:pt x="333946" y="193548"/>
                </a:moveTo>
                <a:lnTo>
                  <a:pt x="155448" y="0"/>
                </a:lnTo>
                <a:lnTo>
                  <a:pt x="0" y="118872"/>
                </a:lnTo>
                <a:lnTo>
                  <a:pt x="114491" y="298514"/>
                </a:lnTo>
                <a:lnTo>
                  <a:pt x="333946" y="1935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3B41C2-4F10-C188-BFBE-1755ACBBD67F}"/>
              </a:ext>
            </a:extLst>
          </p:cNvPr>
          <p:cNvSpPr txBox="1"/>
          <p:nvPr/>
        </p:nvSpPr>
        <p:spPr>
          <a:xfrm>
            <a:off x="4894291" y="3600263"/>
            <a:ext cx="62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baseline="-25000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EE52A-AF42-A861-F33E-19F528A34220}"/>
              </a:ext>
            </a:extLst>
          </p:cNvPr>
          <p:cNvSpPr txBox="1"/>
          <p:nvPr/>
        </p:nvSpPr>
        <p:spPr>
          <a:xfrm>
            <a:off x="4964039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26435-473F-14D5-2B2C-7149297A3505}"/>
              </a:ext>
            </a:extLst>
          </p:cNvPr>
          <p:cNvSpPr txBox="1"/>
          <p:nvPr/>
        </p:nvSpPr>
        <p:spPr>
          <a:xfrm>
            <a:off x="1287389" y="281746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770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9711-9731-B756-9E43-58DA0088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03624477-592D-2BCB-92D3-E2B6761D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65F7281-281F-05C1-4557-9DBA9C05E6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telescope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D8863BB6-3E68-7424-1D0C-DC0D6C4ED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5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51E3-2981-5EC1-7468-E8ABE5E5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17E825-BF26-400C-294F-450F4CD6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837"/>
            <a:ext cx="9129247" cy="42973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7C2B0-2C16-0FDE-3DD4-6C76A447BA47}"/>
              </a:ext>
            </a:extLst>
          </p:cNvPr>
          <p:cNvSpPr txBox="1"/>
          <p:nvPr/>
        </p:nvSpPr>
        <p:spPr>
          <a:xfrm>
            <a:off x="5166228" y="1512242"/>
            <a:ext cx="35779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oo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FBA64-CD0E-B06A-1B3E-2BE9C2E80686}"/>
              </a:ext>
            </a:extLst>
          </p:cNvPr>
          <p:cNvSpPr txBox="1"/>
          <p:nvPr/>
        </p:nvSpPr>
        <p:spPr>
          <a:xfrm>
            <a:off x="6415908" y="1503098"/>
            <a:ext cx="32893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d</a:t>
            </a:r>
            <a:r>
              <a:rPr lang="en-US" sz="1100" baseline="-25000" dirty="0" err="1"/>
              <a:t>io</a:t>
            </a:r>
            <a:endParaRPr lang="en-US" sz="11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E41CC-0FCE-1B3D-391A-E4EB51182BE7}"/>
              </a:ext>
            </a:extLst>
          </p:cNvPr>
          <p:cNvSpPr txBox="1"/>
          <p:nvPr/>
        </p:nvSpPr>
        <p:spPr>
          <a:xfrm>
            <a:off x="7037576" y="1512242"/>
            <a:ext cx="35458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oe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8A7E4-7FE7-361B-F3A3-248AF6E0B86C}"/>
              </a:ext>
            </a:extLst>
          </p:cNvPr>
          <p:cNvSpPr txBox="1"/>
          <p:nvPr/>
        </p:nvSpPr>
        <p:spPr>
          <a:xfrm>
            <a:off x="4026276" y="1012032"/>
            <a:ext cx="32573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251E1C9-7E2D-B4E8-E0CC-47CAFC9B0494}"/>
              </a:ext>
            </a:extLst>
          </p:cNvPr>
          <p:cNvSpPr/>
          <p:nvPr/>
        </p:nvSpPr>
        <p:spPr>
          <a:xfrm>
            <a:off x="7004304" y="2587752"/>
            <a:ext cx="292608" cy="182880"/>
          </a:xfrm>
          <a:custGeom>
            <a:avLst/>
            <a:gdLst>
              <a:gd name="connsiteX0" fmla="*/ 292608 w 292608"/>
              <a:gd name="connsiteY0" fmla="*/ 73152 h 182880"/>
              <a:gd name="connsiteX1" fmla="*/ 82296 w 292608"/>
              <a:gd name="connsiteY1" fmla="*/ 182880 h 182880"/>
              <a:gd name="connsiteX2" fmla="*/ 0 w 292608"/>
              <a:gd name="connsiteY2" fmla="*/ 73152 h 182880"/>
              <a:gd name="connsiteX3" fmla="*/ 18288 w 292608"/>
              <a:gd name="connsiteY3" fmla="*/ 0 h 182880"/>
              <a:gd name="connsiteX4" fmla="*/ 237744 w 292608"/>
              <a:gd name="connsiteY4" fmla="*/ 18288 h 182880"/>
              <a:gd name="connsiteX5" fmla="*/ 292608 w 292608"/>
              <a:gd name="connsiteY5" fmla="*/ 73152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2608" h="182880">
                <a:moveTo>
                  <a:pt x="292608" y="73152"/>
                </a:moveTo>
                <a:lnTo>
                  <a:pt x="82296" y="182880"/>
                </a:lnTo>
                <a:lnTo>
                  <a:pt x="0" y="73152"/>
                </a:lnTo>
                <a:lnTo>
                  <a:pt x="18288" y="0"/>
                </a:lnTo>
                <a:lnTo>
                  <a:pt x="237744" y="18288"/>
                </a:lnTo>
                <a:lnTo>
                  <a:pt x="292608" y="731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FAAA6-F655-0588-B380-951C07E22D73}"/>
              </a:ext>
            </a:extLst>
          </p:cNvPr>
          <p:cNvSpPr txBox="1"/>
          <p:nvPr/>
        </p:nvSpPr>
        <p:spPr>
          <a:xfrm>
            <a:off x="6931956" y="252240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h</a:t>
            </a:r>
            <a:r>
              <a:rPr lang="en-US" sz="1200" baseline="-25000" dirty="0" err="1">
                <a:solidFill>
                  <a:srgbClr val="FF0000"/>
                </a:solidFill>
              </a:rPr>
              <a:t>io</a:t>
            </a:r>
            <a:endParaRPr lang="en-US" sz="12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6FE0E-481E-1DE5-A108-19093A95C373}"/>
              </a:ext>
            </a:extLst>
          </p:cNvPr>
          <p:cNvSpPr txBox="1"/>
          <p:nvPr/>
        </p:nvSpPr>
        <p:spPr>
          <a:xfrm>
            <a:off x="7862277" y="2447466"/>
            <a:ext cx="213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470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A4E8-8B8B-2E8B-D635-209CD4CD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8322B9-818C-03CD-1D64-B130D5F0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58223-240F-E5A1-81E8-FC636729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536510"/>
            <a:ext cx="5040334" cy="51111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In a telescope the objective lens makes an image of an object like The planet Saturn (right). But the eyepiece also makes an image. What is the object for the eyepiece?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Saturn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of Saturn formed by the objective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eyepiece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objective lens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BA079-98D1-E27C-0916-F32AEFEB3A51}"/>
              </a:ext>
            </a:extLst>
          </p:cNvPr>
          <p:cNvSpPr txBox="1"/>
          <p:nvPr/>
        </p:nvSpPr>
        <p:spPr>
          <a:xfrm>
            <a:off x="6236208" y="4684355"/>
            <a:ext cx="174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Saturn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620AE-DAA9-93DC-ED27-642C320BE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44" y="1490790"/>
            <a:ext cx="3840056" cy="288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AB5B76-C1B4-5A0A-8A2D-F728041F3E87}"/>
              </a:ext>
            </a:extLst>
          </p:cNvPr>
          <p:cNvCxnSpPr>
            <a:cxnSpLocks/>
          </p:cNvCxnSpPr>
          <p:nvPr/>
        </p:nvCxnSpPr>
        <p:spPr>
          <a:xfrm flipV="1">
            <a:off x="6656832" y="3751667"/>
            <a:ext cx="310896" cy="93268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408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445E-36D6-68F4-6C46-993FFE5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7854D267-2E48-9EFE-6979-C6956212B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Refracting Telescope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74CA564A-7CAD-7001-DD22-C2A79ACBC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30" y="1409699"/>
            <a:ext cx="8585920" cy="49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A3DADA-B0BC-2B41-9800-CC763BF5731C}"/>
              </a:ext>
            </a:extLst>
          </p:cNvPr>
          <p:cNvSpPr txBox="1"/>
          <p:nvPr/>
        </p:nvSpPr>
        <p:spPr>
          <a:xfrm>
            <a:off x="3255132" y="2042594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124E3-3743-FF40-EB39-D9F4334B64DA}"/>
              </a:ext>
            </a:extLst>
          </p:cNvPr>
          <p:cNvSpPr txBox="1"/>
          <p:nvPr/>
        </p:nvSpPr>
        <p:spPr>
          <a:xfrm>
            <a:off x="5053452" y="2042594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026EF-C7D7-700C-DA2D-54589005EE1E}"/>
              </a:ext>
            </a:extLst>
          </p:cNvPr>
          <p:cNvSpPr txBox="1"/>
          <p:nvPr/>
        </p:nvSpPr>
        <p:spPr>
          <a:xfrm>
            <a:off x="6022592" y="2042594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9E0F7-22FB-C2A1-4DA3-E9CF1BB6D61F}"/>
              </a:ext>
            </a:extLst>
          </p:cNvPr>
          <p:cNvSpPr txBox="1"/>
          <p:nvPr/>
        </p:nvSpPr>
        <p:spPr>
          <a:xfrm>
            <a:off x="4277660" y="1382267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1DD6ED5-8357-1D9E-39B5-5B901BB7B6F0}"/>
              </a:ext>
            </a:extLst>
          </p:cNvPr>
          <p:cNvSpPr/>
          <p:nvPr/>
        </p:nvSpPr>
        <p:spPr>
          <a:xfrm>
            <a:off x="5803118" y="3583109"/>
            <a:ext cx="386226" cy="292048"/>
          </a:xfrm>
          <a:custGeom>
            <a:avLst/>
            <a:gdLst>
              <a:gd name="connsiteX0" fmla="*/ 292608 w 292608"/>
              <a:gd name="connsiteY0" fmla="*/ 73152 h 182880"/>
              <a:gd name="connsiteX1" fmla="*/ 82296 w 292608"/>
              <a:gd name="connsiteY1" fmla="*/ 182880 h 182880"/>
              <a:gd name="connsiteX2" fmla="*/ 0 w 292608"/>
              <a:gd name="connsiteY2" fmla="*/ 73152 h 182880"/>
              <a:gd name="connsiteX3" fmla="*/ 18288 w 292608"/>
              <a:gd name="connsiteY3" fmla="*/ 0 h 182880"/>
              <a:gd name="connsiteX4" fmla="*/ 237744 w 292608"/>
              <a:gd name="connsiteY4" fmla="*/ 18288 h 182880"/>
              <a:gd name="connsiteX5" fmla="*/ 292608 w 292608"/>
              <a:gd name="connsiteY5" fmla="*/ 73152 h 182880"/>
              <a:gd name="connsiteX0" fmla="*/ 319594 w 319594"/>
              <a:gd name="connsiteY0" fmla="*/ 55041 h 164769"/>
              <a:gd name="connsiteX1" fmla="*/ 109282 w 319594"/>
              <a:gd name="connsiteY1" fmla="*/ 164769 h 164769"/>
              <a:gd name="connsiteX2" fmla="*/ 26986 w 319594"/>
              <a:gd name="connsiteY2" fmla="*/ 55041 h 164769"/>
              <a:gd name="connsiteX3" fmla="*/ 0 w 319594"/>
              <a:gd name="connsiteY3" fmla="*/ 0 h 164769"/>
              <a:gd name="connsiteX4" fmla="*/ 264730 w 319594"/>
              <a:gd name="connsiteY4" fmla="*/ 177 h 164769"/>
              <a:gd name="connsiteX5" fmla="*/ 319594 w 319594"/>
              <a:gd name="connsiteY5" fmla="*/ 55041 h 164769"/>
              <a:gd name="connsiteX0" fmla="*/ 319594 w 319594"/>
              <a:gd name="connsiteY0" fmla="*/ 55041 h 170806"/>
              <a:gd name="connsiteX1" fmla="*/ 11187 w 319594"/>
              <a:gd name="connsiteY1" fmla="*/ 170806 h 170806"/>
              <a:gd name="connsiteX2" fmla="*/ 26986 w 319594"/>
              <a:gd name="connsiteY2" fmla="*/ 55041 h 170806"/>
              <a:gd name="connsiteX3" fmla="*/ 0 w 319594"/>
              <a:gd name="connsiteY3" fmla="*/ 0 h 170806"/>
              <a:gd name="connsiteX4" fmla="*/ 264730 w 319594"/>
              <a:gd name="connsiteY4" fmla="*/ 177 h 170806"/>
              <a:gd name="connsiteX5" fmla="*/ 319594 w 319594"/>
              <a:gd name="connsiteY5" fmla="*/ 55041 h 170806"/>
              <a:gd name="connsiteX0" fmla="*/ 319594 w 319594"/>
              <a:gd name="connsiteY0" fmla="*/ 55041 h 170806"/>
              <a:gd name="connsiteX1" fmla="*/ 11187 w 319594"/>
              <a:gd name="connsiteY1" fmla="*/ 170806 h 170806"/>
              <a:gd name="connsiteX2" fmla="*/ 4349 w 319594"/>
              <a:gd name="connsiteY2" fmla="*/ 55041 h 170806"/>
              <a:gd name="connsiteX3" fmla="*/ 0 w 319594"/>
              <a:gd name="connsiteY3" fmla="*/ 0 h 170806"/>
              <a:gd name="connsiteX4" fmla="*/ 264730 w 319594"/>
              <a:gd name="connsiteY4" fmla="*/ 177 h 170806"/>
              <a:gd name="connsiteX5" fmla="*/ 319594 w 319594"/>
              <a:gd name="connsiteY5" fmla="*/ 55041 h 170806"/>
              <a:gd name="connsiteX0" fmla="*/ 359489 w 359489"/>
              <a:gd name="connsiteY0" fmla="*/ 111638 h 170806"/>
              <a:gd name="connsiteX1" fmla="*/ 11187 w 359489"/>
              <a:gd name="connsiteY1" fmla="*/ 170806 h 170806"/>
              <a:gd name="connsiteX2" fmla="*/ 4349 w 359489"/>
              <a:gd name="connsiteY2" fmla="*/ 55041 h 170806"/>
              <a:gd name="connsiteX3" fmla="*/ 0 w 359489"/>
              <a:gd name="connsiteY3" fmla="*/ 0 h 170806"/>
              <a:gd name="connsiteX4" fmla="*/ 264730 w 359489"/>
              <a:gd name="connsiteY4" fmla="*/ 177 h 170806"/>
              <a:gd name="connsiteX5" fmla="*/ 359489 w 359489"/>
              <a:gd name="connsiteY5" fmla="*/ 111638 h 170806"/>
              <a:gd name="connsiteX0" fmla="*/ 359489 w 359489"/>
              <a:gd name="connsiteY0" fmla="*/ 111638 h 192816"/>
              <a:gd name="connsiteX1" fmla="*/ 64381 w 359489"/>
              <a:gd name="connsiteY1" fmla="*/ 192816 h 192816"/>
              <a:gd name="connsiteX2" fmla="*/ 4349 w 359489"/>
              <a:gd name="connsiteY2" fmla="*/ 55041 h 192816"/>
              <a:gd name="connsiteX3" fmla="*/ 0 w 359489"/>
              <a:gd name="connsiteY3" fmla="*/ 0 h 192816"/>
              <a:gd name="connsiteX4" fmla="*/ 264730 w 359489"/>
              <a:gd name="connsiteY4" fmla="*/ 177 h 192816"/>
              <a:gd name="connsiteX5" fmla="*/ 359489 w 359489"/>
              <a:gd name="connsiteY5" fmla="*/ 111638 h 1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9489" h="192816">
                <a:moveTo>
                  <a:pt x="359489" y="111638"/>
                </a:moveTo>
                <a:lnTo>
                  <a:pt x="64381" y="192816"/>
                </a:lnTo>
                <a:lnTo>
                  <a:pt x="4349" y="55041"/>
                </a:lnTo>
                <a:lnTo>
                  <a:pt x="0" y="0"/>
                </a:lnTo>
                <a:lnTo>
                  <a:pt x="264730" y="177"/>
                </a:lnTo>
                <a:lnTo>
                  <a:pt x="359489" y="1116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AB735-4C8B-21FE-4313-08571F3FD692}"/>
              </a:ext>
            </a:extLst>
          </p:cNvPr>
          <p:cNvSpPr txBox="1"/>
          <p:nvPr/>
        </p:nvSpPr>
        <p:spPr>
          <a:xfrm>
            <a:off x="5740527" y="3598158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h</a:t>
            </a:r>
            <a:r>
              <a:rPr lang="en-US" sz="1200" baseline="-25000" dirty="0" err="1">
                <a:solidFill>
                  <a:srgbClr val="FF0000"/>
                </a:solidFill>
              </a:rPr>
              <a:t>io</a:t>
            </a:r>
            <a:endParaRPr lang="en-US" sz="1200" baseline="-25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37B70-9F99-D933-32FE-84D8971E48A3}"/>
              </a:ext>
            </a:extLst>
          </p:cNvPr>
          <p:cNvSpPr txBox="1"/>
          <p:nvPr/>
        </p:nvSpPr>
        <p:spPr>
          <a:xfrm>
            <a:off x="7114679" y="3364319"/>
            <a:ext cx="213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D014B-3208-64F4-4B9B-3A24FF135782}"/>
              </a:ext>
            </a:extLst>
          </p:cNvPr>
          <p:cNvSpPr txBox="1"/>
          <p:nvPr/>
        </p:nvSpPr>
        <p:spPr>
          <a:xfrm>
            <a:off x="3563604" y="3598158"/>
            <a:ext cx="2979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</a:t>
            </a:r>
            <a:r>
              <a:rPr lang="en-US" sz="1400" baseline="-25000" dirty="0" err="1">
                <a:solidFill>
                  <a:srgbClr val="FF0000"/>
                </a:solidFill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D31FD-7054-596A-B4FB-279C7977AF10}"/>
              </a:ext>
            </a:extLst>
          </p:cNvPr>
          <p:cNvSpPr txBox="1"/>
          <p:nvPr/>
        </p:nvSpPr>
        <p:spPr>
          <a:xfrm>
            <a:off x="5891442" y="3223474"/>
            <a:ext cx="2979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</a:t>
            </a:r>
            <a:r>
              <a:rPr lang="en-US" sz="1400" baseline="-25000" dirty="0" err="1">
                <a:solidFill>
                  <a:srgbClr val="FF0000"/>
                </a:solidFill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83890-4B6E-6F6E-A76F-6A9B8C33E5A2}"/>
              </a:ext>
            </a:extLst>
          </p:cNvPr>
          <p:cNvSpPr txBox="1"/>
          <p:nvPr/>
        </p:nvSpPr>
        <p:spPr>
          <a:xfrm>
            <a:off x="5395104" y="3223474"/>
            <a:ext cx="2939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4308B8"/>
                </a:solidFill>
              </a:rPr>
              <a:t>f</a:t>
            </a:r>
            <a:r>
              <a:rPr lang="en-US" sz="1400" baseline="-25000" dirty="0" err="1">
                <a:solidFill>
                  <a:srgbClr val="4308B8"/>
                </a:solidFill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B8FA2-DB0E-26DA-C031-2FB3813638CD}"/>
              </a:ext>
            </a:extLst>
          </p:cNvPr>
          <p:cNvSpPr txBox="1"/>
          <p:nvPr/>
        </p:nvSpPr>
        <p:spPr>
          <a:xfrm>
            <a:off x="7631390" y="3175074"/>
            <a:ext cx="2939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4308B8"/>
                </a:solidFill>
              </a:rPr>
              <a:t>f</a:t>
            </a:r>
            <a:r>
              <a:rPr lang="en-US" sz="1400" baseline="-25000" dirty="0" err="1">
                <a:solidFill>
                  <a:srgbClr val="4308B8"/>
                </a:solidFill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C5506-31C8-DB8E-45A4-14FFA5E53407}"/>
              </a:ext>
            </a:extLst>
          </p:cNvPr>
          <p:cNvSpPr txBox="1"/>
          <p:nvPr/>
        </p:nvSpPr>
        <p:spPr>
          <a:xfrm>
            <a:off x="1074188" y="3121223"/>
            <a:ext cx="30328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solidFill>
                  <a:srgbClr val="4308B8"/>
                </a:solidFill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D3EDA8-828F-922F-7B33-23D1BDD06013}"/>
              </a:ext>
            </a:extLst>
          </p:cNvPr>
          <p:cNvSpPr txBox="1"/>
          <p:nvPr/>
        </p:nvSpPr>
        <p:spPr>
          <a:xfrm>
            <a:off x="5640978" y="3157031"/>
            <a:ext cx="30328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B0D8B0-B3CF-2617-51D7-94EAF4B80511}"/>
              </a:ext>
            </a:extLst>
          </p:cNvPr>
          <p:cNvSpPr txBox="1"/>
          <p:nvPr/>
        </p:nvSpPr>
        <p:spPr>
          <a:xfrm>
            <a:off x="2041369" y="2120711"/>
            <a:ext cx="37382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BD534E-B300-6F42-C8E4-D7530DA71995}"/>
              </a:ext>
            </a:extLst>
          </p:cNvPr>
          <p:cNvSpPr/>
          <p:nvPr/>
        </p:nvSpPr>
        <p:spPr>
          <a:xfrm>
            <a:off x="5640978" y="4032504"/>
            <a:ext cx="162140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06F35B-AA7B-49FC-70D2-448576785092}"/>
              </a:ext>
            </a:extLst>
          </p:cNvPr>
          <p:cNvSpPr txBox="1"/>
          <p:nvPr/>
        </p:nvSpPr>
        <p:spPr>
          <a:xfrm>
            <a:off x="5581296" y="3927015"/>
            <a:ext cx="369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baseline="-250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8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ED0C-A4C7-F47B-1E08-5FF3E767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6B821335-BEF7-D79A-CFF6-29A9D9EC9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4138" y="0"/>
            <a:ext cx="7507287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Reflecting Telescope: Newtonian 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E02C9FD4-A2A1-7F16-4F77-0BC2AE975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337" y="1162050"/>
            <a:ext cx="719556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3865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DC21-F002-5EA1-95E2-A3C8021A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BE04BDFC-75B9-75E1-86D6-7EED6B08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5539563-263F-95BD-0FF6-3D78039DD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 of Telescopes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FC37708-B058-8E2F-CC1A-0C1CC4A95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Reflecting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are the 10-m diameter Keck telescopes on Mauna Kea in Hawaii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Each contains 36 hexagonally shaped, computer-controlled mirrors that work together to form a large reflecting surface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Refracting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is Yerkes Observatory in Williams Bay, Wisconsin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Has a diameter of 1 m</a:t>
            </a:r>
          </a:p>
        </p:txBody>
      </p:sp>
    </p:spTree>
    <p:extLst>
      <p:ext uri="{BB962C8B-B14F-4D97-AF65-F5344CB8AC3E}">
        <p14:creationId xmlns:p14="http://schemas.microsoft.com/office/powerpoint/2010/main" val="2764156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223.10.5</a:t>
            </a:r>
          </a:p>
        </p:txBody>
      </p:sp>
      <p:sp>
        <p:nvSpPr>
          <p:cNvPr id="1894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you see a bright fringe in a “Young’s Experiment,” it must be due to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Constructive interference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Destructive interference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>
                <a:sym typeface="Symbol" pitchFamily="18" charset="2"/>
              </a:rPr>
              <a:t>Beating due to different frequencies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>
                <a:sym typeface="Symbol" pitchFamily="18" charset="2"/>
              </a:rPr>
              <a:t>Alians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189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011D49-4984-4E8B-879F-EA7B3C82F5A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2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A867-10CE-CCEE-1AF5-5945F8C5C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9B2DC-9D67-EA05-E426-34867E0B9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78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The Size of a Magnified Image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When an object is placed at the near point, the angle subtended is a maximum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near point is about 25 cm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When the object is placed near the focal point of a converging lens, the lens forms a virtual, upright, and enlarged image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1683274"/>
            <a:ext cx="4443413" cy="3967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0B59E6-2626-C593-2C49-611106027E49}"/>
              </a:ext>
            </a:extLst>
          </p:cNvPr>
          <p:cNvSpPr txBox="1"/>
          <p:nvPr/>
        </p:nvSpPr>
        <p:spPr>
          <a:xfrm>
            <a:off x="6181344" y="4780957"/>
            <a:ext cx="31931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baseline="-250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7D871-C4A1-426C-20B3-F7FF84DEEB00}"/>
              </a:ext>
            </a:extLst>
          </p:cNvPr>
          <p:cNvSpPr txBox="1"/>
          <p:nvPr/>
        </p:nvSpPr>
        <p:spPr>
          <a:xfrm>
            <a:off x="6615799" y="5103676"/>
            <a:ext cx="30649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54D0C-FE0B-2C7D-DB48-4766EAE3944B}"/>
              </a:ext>
            </a:extLst>
          </p:cNvPr>
          <p:cNvSpPr txBox="1"/>
          <p:nvPr/>
        </p:nvSpPr>
        <p:spPr>
          <a:xfrm>
            <a:off x="8077200" y="1870266"/>
            <a:ext cx="40908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h</a:t>
            </a:r>
            <a:r>
              <a:rPr lang="en-US" sz="2000" baseline="-25000" dirty="0"/>
              <a:t>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8E8A7-2833-0F6D-B1D3-DBB6DFF52558}"/>
              </a:ext>
            </a:extLst>
          </p:cNvPr>
          <p:cNvSpPr/>
          <p:nvPr/>
        </p:nvSpPr>
        <p:spPr>
          <a:xfrm>
            <a:off x="6995160" y="3822234"/>
            <a:ext cx="128016" cy="219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5FBD5-0017-AE4E-CA78-7F9A2CF89232}"/>
              </a:ext>
            </a:extLst>
          </p:cNvPr>
          <p:cNvSpPr txBox="1"/>
          <p:nvPr/>
        </p:nvSpPr>
        <p:spPr>
          <a:xfrm>
            <a:off x="6922293" y="3793441"/>
            <a:ext cx="3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</a:t>
            </a:r>
            <a:r>
              <a:rPr lang="en-US" sz="1200" baseline="-25000" dirty="0"/>
              <a:t>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FC6F8-DA48-F83E-2E14-B41C3B3EE6F7}"/>
              </a:ext>
            </a:extLst>
          </p:cNvPr>
          <p:cNvSpPr txBox="1"/>
          <p:nvPr/>
        </p:nvSpPr>
        <p:spPr>
          <a:xfrm>
            <a:off x="8077200" y="3560624"/>
            <a:ext cx="3241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  <a:r>
              <a:rPr lang="en-US" sz="1600" baseline="-25000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F7BC4-0D4B-BB8F-CEF3-1876FF391D89}"/>
              </a:ext>
            </a:extLst>
          </p:cNvPr>
          <p:cNvSpPr txBox="1"/>
          <p:nvPr/>
        </p:nvSpPr>
        <p:spPr>
          <a:xfrm>
            <a:off x="6263096" y="3956822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21292-7C9F-47D7-9DB1-AFE0D524BE77}"/>
              </a:ext>
            </a:extLst>
          </p:cNvPr>
          <p:cNvSpPr txBox="1"/>
          <p:nvPr/>
        </p:nvSpPr>
        <p:spPr>
          <a:xfrm>
            <a:off x="7265888" y="3780038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7574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6532" y="1364776"/>
            <a:ext cx="4323653" cy="411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0747" y="1105468"/>
            <a:ext cx="4484143" cy="525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23" y="2183642"/>
            <a:ext cx="8420184" cy="264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 flipV="1">
            <a:off x="3133165" y="2837329"/>
            <a:ext cx="1492623" cy="4034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9718" y="2864224"/>
            <a:ext cx="1398494" cy="12102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121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Triangle 4"/>
          <p:cNvSpPr/>
          <p:nvPr/>
        </p:nvSpPr>
        <p:spPr>
          <a:xfrm rot="16200000">
            <a:off x="3489516" y="2568390"/>
            <a:ext cx="813546" cy="1351423"/>
          </a:xfrm>
          <a:prstGeom prst="rtTriangle">
            <a:avLst/>
          </a:prstGeom>
          <a:solidFill>
            <a:srgbClr val="FCFF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19828714" flipH="1">
            <a:off x="2960980" y="3310963"/>
            <a:ext cx="360342" cy="695732"/>
          </a:xfrm>
          <a:prstGeom prst="rtTriangle">
            <a:avLst/>
          </a:prstGeom>
          <a:solidFill>
            <a:srgbClr val="91F0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133165" y="2810435"/>
            <a:ext cx="1479176" cy="4303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9718" y="2837329"/>
            <a:ext cx="1465729" cy="12371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27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536" y="1801506"/>
            <a:ext cx="3230282" cy="339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558107" y="2975211"/>
            <a:ext cx="1471696" cy="1095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1542197" y="955343"/>
            <a:ext cx="2838734" cy="200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029803" y="3848670"/>
            <a:ext cx="5813946" cy="204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94571" y="965575"/>
            <a:ext cx="4503762" cy="289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213" y="988729"/>
            <a:ext cx="42672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3BF-7CAA-904E-AD69-6CE0E288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>
            <a:extLst>
              <a:ext uri="{FF2B5EF4-FFF2-40B4-BE49-F238E27FC236}">
                <a16:creationId xmlns:a16="http://schemas.microsoft.com/office/drawing/2014/main" id="{3A9C306E-674F-CDA0-2524-11772FD91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223.10.5</a:t>
            </a:r>
          </a:p>
        </p:txBody>
      </p:sp>
      <p:sp>
        <p:nvSpPr>
          <p:cNvPr id="189444" name="Rectangle 3">
            <a:extLst>
              <a:ext uri="{FF2B5EF4-FFF2-40B4-BE49-F238E27FC236}">
                <a16:creationId xmlns:a16="http://schemas.microsoft.com/office/drawing/2014/main" id="{28AB9547-7DE9-AB1F-0B95-302100231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you see a bright fringe in a “Young’s Experiment,” the path difference from the fringe to the slits must be equal to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And integer number of wavelengths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And integer number of half wavelengths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>
                <a:sym typeface="Symbol" pitchFamily="18" charset="2"/>
              </a:rPr>
              <a:t>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>
                <a:sym typeface="Symbol" pitchFamily="18" charset="2"/>
              </a:rPr>
              <a:t>Arctan</a:t>
            </a:r>
            <a:r>
              <a:rPr lang="en-US" dirty="0">
                <a:sym typeface="Symbol" pitchFamily="18" charset="2"/>
              </a:rPr>
              <a:t>()</a:t>
            </a:r>
          </a:p>
        </p:txBody>
      </p:sp>
      <p:sp>
        <p:nvSpPr>
          <p:cNvPr id="189442" name="Slide Number Placeholder 5">
            <a:extLst>
              <a:ext uri="{FF2B5EF4-FFF2-40B4-BE49-F238E27FC236}">
                <a16:creationId xmlns:a16="http://schemas.microsoft.com/office/drawing/2014/main" id="{72F1C857-5094-61E2-F851-CBC2AEE5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011D49-4984-4E8B-879F-EA7B3C82F5A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77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223.10.6</a:t>
            </a:r>
            <a:endParaRPr lang="en-US" dirty="0"/>
          </a:p>
        </p:txBody>
      </p:sp>
      <p:sp>
        <p:nvSpPr>
          <p:cNvPr id="1904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When considering order numbers, m, the possible orders are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1, 2, 3, . . .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0, 1, 2, 3, . . .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0, </a:t>
            </a:r>
            <a:r>
              <a:rPr lang="en-US">
                <a:cs typeface="Arial" charset="0"/>
              </a:rPr>
              <a:t>±</a:t>
            </a:r>
            <a:r>
              <a:rPr lang="en-US"/>
              <a:t>1, </a:t>
            </a:r>
            <a:r>
              <a:rPr lang="en-US">
                <a:cs typeface="Arial" charset="0"/>
              </a:rPr>
              <a:t>±</a:t>
            </a:r>
            <a:r>
              <a:rPr lang="en-US"/>
              <a:t> 2, </a:t>
            </a:r>
            <a:r>
              <a:rPr lang="en-US">
                <a:cs typeface="Arial" charset="0"/>
              </a:rPr>
              <a:t>±</a:t>
            </a:r>
            <a:r>
              <a:rPr lang="en-US"/>
              <a:t>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>
                <a:cs typeface="Arial" charset="0"/>
              </a:rPr>
              <a:t>±</a:t>
            </a:r>
            <a:r>
              <a:rPr lang="en-US"/>
              <a:t>1, </a:t>
            </a:r>
            <a:r>
              <a:rPr lang="en-US">
                <a:cs typeface="Arial" charset="0"/>
              </a:rPr>
              <a:t>±</a:t>
            </a:r>
            <a:r>
              <a:rPr lang="en-US"/>
              <a:t> 2, </a:t>
            </a:r>
            <a:r>
              <a:rPr lang="en-US">
                <a:cs typeface="Arial" charset="0"/>
              </a:rPr>
              <a:t>±</a:t>
            </a:r>
            <a:r>
              <a:rPr lang="en-US"/>
              <a:t> 3, . . .</a:t>
            </a:r>
          </a:p>
          <a:p>
            <a:pPr marL="609600" indent="-609600" eaLnBrk="1" hangingPunct="1"/>
            <a:endParaRPr lang="en-US"/>
          </a:p>
        </p:txBody>
      </p:sp>
      <p:sp>
        <p:nvSpPr>
          <p:cNvPr id="190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BB3221-CAE7-46FB-81E3-40CF3F77139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23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 dirty="0" err="1"/>
              <a:t>ConcepTest</a:t>
            </a:r>
            <a:r>
              <a:rPr lang="en-US" sz="2800" i="1" dirty="0"/>
              <a:t> 24.3a	</a:t>
            </a:r>
            <a:r>
              <a:rPr lang="en-US" sz="2800" dirty="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1999897" name="Rectangle 25"/>
          <p:cNvSpPr>
            <a:spLocks noGrp="1" noChangeArrowheads="1"/>
          </p:cNvSpPr>
          <p:nvPr>
            <p:ph idx="1"/>
          </p:nvPr>
        </p:nvSpPr>
        <p:spPr>
          <a:xfrm>
            <a:off x="231775" y="1301935"/>
            <a:ext cx="4286437" cy="4560981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2200" b="1" dirty="0"/>
              <a:t>	</a:t>
            </a:r>
            <a:r>
              <a:rPr lang="en-US" b="1" dirty="0"/>
              <a:t>In a double-slit experiment, when the </a:t>
            </a:r>
            <a:r>
              <a:rPr lang="en-US" b="1" dirty="0">
                <a:solidFill>
                  <a:schemeClr val="accent2"/>
                </a:solidFill>
              </a:rPr>
              <a:t>wavelength</a:t>
            </a:r>
            <a:r>
              <a:rPr lang="en-US" b="1" dirty="0"/>
              <a:t> of the light is </a:t>
            </a:r>
            <a:r>
              <a:rPr lang="en-US" b="1" dirty="0">
                <a:solidFill>
                  <a:schemeClr val="accent2"/>
                </a:solidFill>
              </a:rPr>
              <a:t>increased</a:t>
            </a:r>
            <a:r>
              <a:rPr lang="en-US" b="1" dirty="0"/>
              <a:t>, the interference pattern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999876" name="Rectangle 4"/>
          <p:cNvSpPr>
            <a:spLocks noChangeArrowheads="1"/>
          </p:cNvSpPr>
          <p:nvPr/>
        </p:nvSpPr>
        <p:spPr bwMode="auto">
          <a:xfrm>
            <a:off x="5110163" y="1379723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78887" name="AutoShape 6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8888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8895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8902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3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4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5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8898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899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0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1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78891" name="Rectangle 21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8893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8894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4151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AutoShape 2"/>
          <p:cNvSpPr>
            <a:spLocks noChangeArrowheads="1"/>
          </p:cNvSpPr>
          <p:nvPr/>
        </p:nvSpPr>
        <p:spPr bwMode="auto">
          <a:xfrm>
            <a:off x="0" y="3644900"/>
            <a:ext cx="3970338" cy="27257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001923" name="Rectangle 3"/>
          <p:cNvSpPr>
            <a:spLocks noChangeArrowheads="1"/>
          </p:cNvSpPr>
          <p:nvPr/>
        </p:nvSpPr>
        <p:spPr bwMode="auto">
          <a:xfrm>
            <a:off x="0" y="4471988"/>
            <a:ext cx="3940175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ct val="50000"/>
              </a:spcBef>
              <a:defRPr/>
            </a:pPr>
            <a:r>
              <a:rPr lang="en-US" sz="2200" b="1">
                <a:solidFill>
                  <a:schemeClr val="bg2"/>
                </a:solidFill>
              </a:rPr>
              <a:t>	</a:t>
            </a:r>
            <a:r>
              <a:rPr lang="en-US" sz="2000" b="1">
                <a:solidFill>
                  <a:schemeClr val="bg2"/>
                </a:solidFill>
              </a:rPr>
              <a:t>If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increased</a:t>
            </a:r>
            <a:r>
              <a:rPr lang="en-US" sz="2000" b="1">
                <a:solidFill>
                  <a:schemeClr val="bg2"/>
                </a:solidFill>
              </a:rPr>
              <a:t> and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does not change</a:t>
            </a:r>
            <a:r>
              <a:rPr lang="en-US" sz="2000" b="1">
                <a:solidFill>
                  <a:schemeClr val="bg2"/>
                </a:solidFill>
              </a:rPr>
              <a:t>, then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must increase</a:t>
            </a:r>
            <a:r>
              <a:rPr lang="en-US" sz="2000" b="1">
                <a:solidFill>
                  <a:schemeClr val="bg2"/>
                </a:solidFill>
              </a:rPr>
              <a:t>, so the pattern spreads out.</a:t>
            </a:r>
          </a:p>
        </p:txBody>
      </p:sp>
      <p:sp>
        <p:nvSpPr>
          <p:cNvPr id="2001925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24.3a	</a:t>
            </a:r>
            <a:r>
              <a:rPr lang="en-US" sz="280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2001949" name="Rectangle 29"/>
          <p:cNvSpPr>
            <a:spLocks noGrp="1" noChangeArrowheads="1"/>
          </p:cNvSpPr>
          <p:nvPr>
            <p:ph idx="1"/>
          </p:nvPr>
        </p:nvSpPr>
        <p:spPr>
          <a:xfrm>
            <a:off x="231775" y="1117981"/>
            <a:ext cx="4572000" cy="1890713"/>
          </a:xfrm>
        </p:spPr>
        <p:txBody>
          <a:bodyPr>
            <a:normAutofit fontScale="925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In a double-slit experiment, when the </a:t>
            </a:r>
            <a:r>
              <a:rPr lang="en-US" sz="2400" b="1" dirty="0">
                <a:solidFill>
                  <a:schemeClr val="accent2"/>
                </a:solidFill>
              </a:rPr>
              <a:t>wavelength</a:t>
            </a:r>
            <a:r>
              <a:rPr lang="en-US" sz="2400" b="1" dirty="0"/>
              <a:t> of the light is </a:t>
            </a:r>
            <a:r>
              <a:rPr lang="en-US" sz="2400" b="1" dirty="0">
                <a:solidFill>
                  <a:schemeClr val="accent2"/>
                </a:solidFill>
              </a:rPr>
              <a:t>increased</a:t>
            </a:r>
            <a:r>
              <a:rPr lang="en-US" sz="2400" b="1" dirty="0"/>
              <a:t>, the interference pattern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2001926" name="Rectangle 6"/>
          <p:cNvSpPr>
            <a:spLocks noChangeArrowheads="1"/>
          </p:cNvSpPr>
          <p:nvPr/>
        </p:nvSpPr>
        <p:spPr bwMode="auto">
          <a:xfrm>
            <a:off x="5110163" y="1514193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79915" name="AutoShape 8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9916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9923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9930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1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2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3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9926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7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8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9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79919" name="Rectangle 23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9921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9922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1947" name="Rectangle 27"/>
          <p:cNvSpPr>
            <a:spLocks noChangeArrowheads="1"/>
          </p:cNvSpPr>
          <p:nvPr/>
        </p:nvSpPr>
        <p:spPr bwMode="auto">
          <a:xfrm>
            <a:off x="476250" y="3944938"/>
            <a:ext cx="2782888" cy="5334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 m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</a:t>
            </a:r>
            <a:endParaRPr lang="en-US" sz="2000" b="1">
              <a:solidFill>
                <a:srgbClr val="FF0000"/>
              </a:solidFill>
              <a:latin typeface="Symbol" pitchFamily="18" charset="2"/>
            </a:endParaRPr>
          </a:p>
        </p:txBody>
      </p:sp>
      <p:sp>
        <p:nvSpPr>
          <p:cNvPr id="379913" name="Oval 28"/>
          <p:cNvSpPr>
            <a:spLocks noChangeArrowheads="1"/>
          </p:cNvSpPr>
          <p:nvPr/>
        </p:nvSpPr>
        <p:spPr bwMode="auto">
          <a:xfrm>
            <a:off x="4775200" y="1496730"/>
            <a:ext cx="2847975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3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1947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971" name="Rectangle 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3993" name="Rectangle 25"/>
          <p:cNvSpPr>
            <a:spLocks noGrp="1" noChangeArrowheads="1"/>
          </p:cNvSpPr>
          <p:nvPr>
            <p:ph idx="1"/>
          </p:nvPr>
        </p:nvSpPr>
        <p:spPr>
          <a:xfrm>
            <a:off x="0" y="1215835"/>
            <a:ext cx="4732338" cy="3502469"/>
          </a:xfrm>
        </p:spPr>
        <p:txBody>
          <a:bodyPr>
            <a:normAutofit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b="1" dirty="0"/>
              <a:t>If instead the </a:t>
            </a:r>
            <a:r>
              <a:rPr lang="en-US" b="1" dirty="0">
                <a:solidFill>
                  <a:schemeClr val="tx2"/>
                </a:solidFill>
              </a:rPr>
              <a:t>slits</a:t>
            </a:r>
            <a:r>
              <a:rPr lang="en-US" b="1" dirty="0"/>
              <a:t> are moved </a:t>
            </a:r>
            <a:r>
              <a:rPr lang="en-US" b="1" dirty="0">
                <a:solidFill>
                  <a:schemeClr val="tx2"/>
                </a:solidFill>
              </a:rPr>
              <a:t>farther apart</a:t>
            </a:r>
            <a:r>
              <a:rPr lang="en-US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b="1" dirty="0"/>
          </a:p>
        </p:txBody>
      </p:sp>
      <p:sp>
        <p:nvSpPr>
          <p:cNvPr id="2003972" name="Rectangle 4"/>
          <p:cNvSpPr>
            <a:spLocks noChangeArrowheads="1"/>
          </p:cNvSpPr>
          <p:nvPr/>
        </p:nvSpPr>
        <p:spPr bwMode="auto">
          <a:xfrm>
            <a:off x="5319078" y="1402398"/>
            <a:ext cx="35163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80935" name="AutoShape 6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0936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0943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0950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1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2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3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0946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7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8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9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80939" name="Rectangle 21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0941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0942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32618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AutoShape 2"/>
          <p:cNvSpPr>
            <a:spLocks noChangeArrowheads="1"/>
          </p:cNvSpPr>
          <p:nvPr/>
        </p:nvSpPr>
        <p:spPr bwMode="auto">
          <a:xfrm>
            <a:off x="0" y="3644900"/>
            <a:ext cx="3970338" cy="2530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81955" name="Rectangle 3"/>
          <p:cNvSpPr>
            <a:spLocks noChangeArrowheads="1"/>
          </p:cNvSpPr>
          <p:nvPr/>
        </p:nvSpPr>
        <p:spPr bwMode="auto">
          <a:xfrm>
            <a:off x="0" y="4471988"/>
            <a:ext cx="39401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If instead </a:t>
            </a:r>
            <a:r>
              <a:rPr lang="en-US" sz="2000" b="1" i="1">
                <a:solidFill>
                  <a:schemeClr val="bg2"/>
                </a:solidFill>
              </a:rPr>
              <a:t>d</a:t>
            </a:r>
            <a:r>
              <a:rPr lang="en-US" sz="2000" b="1">
                <a:solidFill>
                  <a:schemeClr val="bg2"/>
                </a:solidFill>
              </a:rPr>
              <a:t> is increased and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</a:t>
            </a:r>
            <a:r>
              <a:rPr lang="en-US" sz="2000" b="1">
                <a:solidFill>
                  <a:schemeClr val="bg2"/>
                </a:solidFill>
              </a:rPr>
              <a:t> does not change, then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</a:t>
            </a:r>
            <a:r>
              <a:rPr lang="en-US" sz="2000" b="1">
                <a:solidFill>
                  <a:schemeClr val="bg2"/>
                </a:solidFill>
              </a:rPr>
              <a:t> must decrease, so the pattern shrinks together</a:t>
            </a:r>
          </a:p>
        </p:txBody>
      </p:sp>
      <p:sp>
        <p:nvSpPr>
          <p:cNvPr id="2006021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6045" name="Rectangle 29"/>
          <p:cNvSpPr>
            <a:spLocks noGrp="1" noChangeArrowheads="1"/>
          </p:cNvSpPr>
          <p:nvPr>
            <p:ph idx="1"/>
          </p:nvPr>
        </p:nvSpPr>
        <p:spPr>
          <a:xfrm>
            <a:off x="0" y="1124395"/>
            <a:ext cx="4732338" cy="2154237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If instead the </a:t>
            </a:r>
            <a:r>
              <a:rPr lang="en-US" sz="2400" b="1" dirty="0">
                <a:solidFill>
                  <a:schemeClr val="tx2"/>
                </a:solidFill>
              </a:rPr>
              <a:t>slits</a:t>
            </a:r>
            <a:r>
              <a:rPr lang="en-US" sz="2400" b="1" dirty="0"/>
              <a:t> are moved </a:t>
            </a:r>
            <a:r>
              <a:rPr lang="en-US" sz="2400" b="1" dirty="0">
                <a:solidFill>
                  <a:schemeClr val="tx2"/>
                </a:solidFill>
              </a:rPr>
              <a:t>farther apart</a:t>
            </a:r>
            <a:r>
              <a:rPr lang="en-US" sz="2400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sz="2400" b="1" dirty="0"/>
          </a:p>
        </p:txBody>
      </p:sp>
      <p:sp>
        <p:nvSpPr>
          <p:cNvPr id="2006022" name="Rectangle 6"/>
          <p:cNvSpPr>
            <a:spLocks noChangeArrowheads="1"/>
          </p:cNvSpPr>
          <p:nvPr/>
        </p:nvSpPr>
        <p:spPr bwMode="auto">
          <a:xfrm>
            <a:off x="5227638" y="1128078"/>
            <a:ext cx="35163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81964" name="AutoShape 8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1965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1972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1979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0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1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2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1975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6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7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8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81968" name="Rectangle 23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1970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1971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6043" name="Rectangle 27"/>
          <p:cNvSpPr>
            <a:spLocks noChangeArrowheads="1"/>
          </p:cNvSpPr>
          <p:nvPr/>
        </p:nvSpPr>
        <p:spPr bwMode="auto">
          <a:xfrm>
            <a:off x="476250" y="3944938"/>
            <a:ext cx="2782888" cy="51435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i="1">
                <a:solidFill>
                  <a:srgbClr val="990000"/>
                </a:solidFill>
              </a:rPr>
              <a:t>d</a:t>
            </a:r>
            <a:r>
              <a:rPr lang="en-US" sz="2800" b="1">
                <a:solidFill>
                  <a:srgbClr val="990000"/>
                </a:solidFill>
              </a:rPr>
              <a:t> sin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990000"/>
                </a:solidFill>
              </a:rPr>
              <a:t>=  m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</a:t>
            </a:r>
            <a:endParaRPr lang="en-US" sz="2000" b="1">
              <a:solidFill>
                <a:schemeClr val="accent1"/>
              </a:solidFill>
              <a:latin typeface="Symbol" pitchFamily="18" charset="2"/>
            </a:endParaRPr>
          </a:p>
        </p:txBody>
      </p:sp>
      <p:sp>
        <p:nvSpPr>
          <p:cNvPr id="381961" name="Oval 28"/>
          <p:cNvSpPr>
            <a:spLocks noChangeArrowheads="1"/>
          </p:cNvSpPr>
          <p:nvPr/>
        </p:nvSpPr>
        <p:spPr bwMode="auto">
          <a:xfrm>
            <a:off x="4875213" y="1980565"/>
            <a:ext cx="3430587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6046" name="Text Box 30"/>
          <p:cNvSpPr txBox="1">
            <a:spLocks noChangeArrowheads="1"/>
          </p:cNvSpPr>
          <p:nvPr/>
        </p:nvSpPr>
        <p:spPr bwMode="auto">
          <a:xfrm>
            <a:off x="368300" y="6451600"/>
            <a:ext cx="7440613" cy="406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/>
              <a:t>When would the interference pattern disappear?</a:t>
            </a:r>
            <a:endParaRPr lang="en-US" sz="2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774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6043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Text Box 3"/>
          <p:cNvSpPr txBox="1">
            <a:spLocks noChangeArrowheads="1"/>
          </p:cNvSpPr>
          <p:nvPr/>
        </p:nvSpPr>
        <p:spPr bwMode="auto">
          <a:xfrm>
            <a:off x="4630738" y="1286955"/>
            <a:ext cx="451326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there is no difference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half a wavelength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one wavelength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three wavelengths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more than three wavelengths</a:t>
            </a:r>
            <a:endParaRPr lang="en-US" sz="2000" b="1" dirty="0"/>
          </a:p>
        </p:txBody>
      </p:sp>
      <p:sp>
        <p:nvSpPr>
          <p:cNvPr id="2008098" name="Rectangle 34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24.4	</a:t>
            </a:r>
            <a:r>
              <a:rPr lang="en-US" sz="2800">
                <a:solidFill>
                  <a:schemeClr val="accent2"/>
                </a:solidFill>
              </a:rPr>
              <a:t>Path Difference</a:t>
            </a:r>
          </a:p>
        </p:txBody>
      </p:sp>
      <p:sp>
        <p:nvSpPr>
          <p:cNvPr id="382980" name="Rectangle 4"/>
          <p:cNvSpPr>
            <a:spLocks noGrp="1" noChangeArrowheads="1"/>
          </p:cNvSpPr>
          <p:nvPr>
            <p:ph idx="1"/>
          </p:nvPr>
        </p:nvSpPr>
        <p:spPr>
          <a:xfrm>
            <a:off x="0" y="1088009"/>
            <a:ext cx="4572000" cy="2390775"/>
          </a:xfrm>
          <a:noFill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b="1" dirty="0"/>
              <a:t>	In a double-slit experiment, what </a:t>
            </a:r>
            <a:r>
              <a:rPr lang="en-US" b="1" i="1" dirty="0"/>
              <a:t>path difference</a:t>
            </a:r>
            <a:r>
              <a:rPr lang="en-US" b="1" dirty="0"/>
              <a:t>  have the waves from each slit traveled to give a minimum at the indicated position?</a:t>
            </a:r>
            <a:r>
              <a:rPr lang="en-US" dirty="0"/>
              <a:t>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160963" y="4203192"/>
            <a:ext cx="3975100" cy="1422400"/>
            <a:chOff x="2855" y="192"/>
            <a:chExt cx="2504" cy="896"/>
          </a:xfrm>
        </p:grpSpPr>
        <p:sp>
          <p:nvSpPr>
            <p:cNvPr id="383000" name="Freeform 8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3007" name="Freeform 10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8" name="Freeform 11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9" name="Freeform 12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10" name="Freeform 13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3003" name="Freeform 15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4" name="Freeform 16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5" name="Freeform 17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6" name="Freeform 18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82997" name="Line 19"/>
          <p:cNvSpPr>
            <a:spLocks noChangeShapeType="1"/>
          </p:cNvSpPr>
          <p:nvPr/>
        </p:nvSpPr>
        <p:spPr bwMode="auto">
          <a:xfrm flipV="1">
            <a:off x="5105400" y="4184142"/>
            <a:ext cx="0" cy="1543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2998" name="Line 20"/>
          <p:cNvSpPr>
            <a:spLocks noChangeShapeType="1"/>
          </p:cNvSpPr>
          <p:nvPr/>
        </p:nvSpPr>
        <p:spPr bwMode="auto">
          <a:xfrm flipV="1">
            <a:off x="8705850" y="5708142"/>
            <a:ext cx="0" cy="419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2999" name="Text Box 21"/>
          <p:cNvSpPr txBox="1">
            <a:spLocks noChangeArrowheads="1"/>
          </p:cNvSpPr>
          <p:nvPr/>
        </p:nvSpPr>
        <p:spPr bwMode="auto">
          <a:xfrm rot="16200000">
            <a:off x="4125913" y="4722304"/>
            <a:ext cx="122872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Intensity</a:t>
            </a: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5168900" y="4227005"/>
            <a:ext cx="3975100" cy="1422400"/>
            <a:chOff x="2855" y="192"/>
            <a:chExt cx="2504" cy="896"/>
          </a:xfrm>
        </p:grpSpPr>
        <p:sp>
          <p:nvSpPr>
            <p:cNvPr id="382985" name="Freeform 23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2992" name="Freeform 25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3" name="Freeform 26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4" name="Freeform 27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5" name="Freeform 28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9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2988" name="Freeform 30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89" name="Freeform 31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0" name="Freeform 32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1" name="Freeform 33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0016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76838" y="4145788"/>
            <a:ext cx="3975100" cy="1422400"/>
            <a:chOff x="2855" y="192"/>
            <a:chExt cx="2504" cy="896"/>
          </a:xfrm>
        </p:grpSpPr>
        <p:sp>
          <p:nvSpPr>
            <p:cNvPr id="384033" name="Freeform 4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4040" name="Freeform 6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1" name="Freeform 7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2" name="Freeform 8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3" name="Freeform 9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4036" name="Freeform 11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7" name="Freeform 12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8" name="Freeform 13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9" name="Freeform 14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84004" name="Line 15"/>
          <p:cNvSpPr>
            <a:spLocks noChangeShapeType="1"/>
          </p:cNvSpPr>
          <p:nvPr/>
        </p:nvSpPr>
        <p:spPr bwMode="auto">
          <a:xfrm flipV="1">
            <a:off x="5121275" y="4126738"/>
            <a:ext cx="0" cy="1543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05" name="Text Box 16"/>
          <p:cNvSpPr txBox="1">
            <a:spLocks noChangeArrowheads="1"/>
          </p:cNvSpPr>
          <p:nvPr/>
        </p:nvSpPr>
        <p:spPr bwMode="auto">
          <a:xfrm rot="-5400000">
            <a:off x="4140994" y="4665694"/>
            <a:ext cx="122872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Intensity</a:t>
            </a:r>
          </a:p>
        </p:txBody>
      </p:sp>
      <p:sp>
        <p:nvSpPr>
          <p:cNvPr id="384006" name="Oval 17"/>
          <p:cNvSpPr>
            <a:spLocks noChangeArrowheads="1"/>
          </p:cNvSpPr>
          <p:nvPr/>
        </p:nvSpPr>
        <p:spPr bwMode="auto">
          <a:xfrm>
            <a:off x="4303713" y="3201226"/>
            <a:ext cx="4740275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07" name="Line 18"/>
          <p:cNvSpPr>
            <a:spLocks noChangeShapeType="1"/>
          </p:cNvSpPr>
          <p:nvPr/>
        </p:nvSpPr>
        <p:spPr bwMode="auto">
          <a:xfrm flipV="1">
            <a:off x="8705850" y="5712651"/>
            <a:ext cx="0" cy="4191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10131" name="Text Box 19"/>
          <p:cNvSpPr txBox="1">
            <a:spLocks noChangeArrowheads="1"/>
          </p:cNvSpPr>
          <p:nvPr/>
        </p:nvSpPr>
        <p:spPr bwMode="auto">
          <a:xfrm rot="-5400000">
            <a:off x="8376444" y="6280182"/>
            <a:ext cx="67627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>
                <a:solidFill>
                  <a:schemeClr val="accent2"/>
                </a:solidFill>
                <a:sym typeface="Symbol" pitchFamily="18" charset="2"/>
              </a:rPr>
              <a:t>7/2</a:t>
            </a:r>
            <a:endParaRPr lang="en-US" sz="2000" b="1">
              <a:solidFill>
                <a:schemeClr val="accent2"/>
              </a:solidFill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261225" y="5712651"/>
            <a:ext cx="366713" cy="947737"/>
            <a:chOff x="4171" y="1140"/>
            <a:chExt cx="231" cy="597"/>
          </a:xfrm>
        </p:grpSpPr>
        <p:sp>
          <p:nvSpPr>
            <p:cNvPr id="384031" name="Text Box 21"/>
            <p:cNvSpPr txBox="1">
              <a:spLocks noChangeArrowheads="1"/>
            </p:cNvSpPr>
            <p:nvPr/>
          </p:nvSpPr>
          <p:spPr bwMode="auto">
            <a:xfrm rot="-5400000">
              <a:off x="4118" y="1453"/>
              <a:ext cx="33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32" name="Line 22"/>
            <p:cNvSpPr>
              <a:spLocks noChangeShapeType="1"/>
            </p:cNvSpPr>
            <p:nvPr/>
          </p:nvSpPr>
          <p:spPr bwMode="auto">
            <a:xfrm flipV="1">
              <a:off x="4284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705725" y="5712651"/>
            <a:ext cx="366713" cy="1073150"/>
            <a:chOff x="4451" y="1140"/>
            <a:chExt cx="231" cy="676"/>
          </a:xfrm>
        </p:grpSpPr>
        <p:sp>
          <p:nvSpPr>
            <p:cNvPr id="384029" name="Text Box 24"/>
            <p:cNvSpPr txBox="1">
              <a:spLocks noChangeArrowheads="1"/>
            </p:cNvSpPr>
            <p:nvPr/>
          </p:nvSpPr>
          <p:spPr bwMode="auto">
            <a:xfrm rot="-5400000">
              <a:off x="4354" y="1487"/>
              <a:ext cx="42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3/2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30" name="Line 25"/>
            <p:cNvSpPr>
              <a:spLocks noChangeShapeType="1"/>
            </p:cNvSpPr>
            <p:nvPr/>
          </p:nvSpPr>
          <p:spPr bwMode="auto">
            <a:xfrm flipV="1">
              <a:off x="4548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8120063" y="5712651"/>
            <a:ext cx="366712" cy="1089025"/>
            <a:chOff x="4712" y="1140"/>
            <a:chExt cx="231" cy="686"/>
          </a:xfrm>
        </p:grpSpPr>
        <p:sp>
          <p:nvSpPr>
            <p:cNvPr id="384027" name="Text Box 27"/>
            <p:cNvSpPr txBox="1">
              <a:spLocks noChangeArrowheads="1"/>
            </p:cNvSpPr>
            <p:nvPr/>
          </p:nvSpPr>
          <p:spPr bwMode="auto">
            <a:xfrm rot="-5400000">
              <a:off x="4615" y="1497"/>
              <a:ext cx="42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5/2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8" name="Line 28"/>
            <p:cNvSpPr>
              <a:spLocks noChangeShapeType="1"/>
            </p:cNvSpPr>
            <p:nvPr/>
          </p:nvSpPr>
          <p:spPr bwMode="auto">
            <a:xfrm flipV="1">
              <a:off x="4812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4012" name="AutoShape 29"/>
          <p:cNvSpPr>
            <a:spLocks noChangeArrowheads="1"/>
          </p:cNvSpPr>
          <p:nvPr/>
        </p:nvSpPr>
        <p:spPr bwMode="auto">
          <a:xfrm>
            <a:off x="0" y="3998913"/>
            <a:ext cx="4329113" cy="2251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84013" name="Text Box 30"/>
          <p:cNvSpPr txBox="1">
            <a:spLocks noChangeArrowheads="1"/>
          </p:cNvSpPr>
          <p:nvPr/>
        </p:nvSpPr>
        <p:spPr bwMode="auto">
          <a:xfrm>
            <a:off x="0" y="4225925"/>
            <a:ext cx="5070475" cy="18288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280988">
              <a:lnSpc>
                <a:spcPct val="120000"/>
              </a:lnSpc>
            </a:pPr>
            <a:r>
              <a:rPr lang="en-US" sz="2000" b="1">
                <a:solidFill>
                  <a:schemeClr val="bg2"/>
                </a:solidFill>
                <a:sym typeface="Symbol" pitchFamily="18" charset="2"/>
              </a:rPr>
              <a:t>For Destructive Interference</a:t>
            </a:r>
          </a:p>
          <a:p>
            <a:pPr defTabSz="280988">
              <a:lnSpc>
                <a:spcPct val="120000"/>
              </a:lnSpc>
            </a:pPr>
            <a:r>
              <a:rPr lang="en-US" sz="900" b="1">
                <a:solidFill>
                  <a:schemeClr val="bg2"/>
                </a:solidFill>
                <a:sym typeface="Symbol" pitchFamily="18" charset="2"/>
              </a:rPr>
              <a:t> </a:t>
            </a:r>
          </a:p>
          <a:p>
            <a:pPr defTabSz="280988">
              <a:lnSpc>
                <a:spcPct val="120000"/>
              </a:lnSpc>
            </a:pP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	= 1/2 , 3/2 , 5/2 , 7/2 , …</a:t>
            </a:r>
            <a:endParaRPr lang="en-US" sz="1000" b="1">
              <a:solidFill>
                <a:schemeClr val="bg2"/>
              </a:solidFill>
              <a:sym typeface="Symbol" pitchFamily="18" charset="2"/>
            </a:endParaRPr>
          </a:p>
          <a:p>
            <a:pPr defTabSz="280988">
              <a:lnSpc>
                <a:spcPct val="120000"/>
              </a:lnSpc>
            </a:pPr>
            <a:r>
              <a:rPr lang="en-US" sz="1000" b="1">
                <a:solidFill>
                  <a:schemeClr val="bg2"/>
                </a:solidFill>
                <a:sym typeface="Symbol" pitchFamily="18" charset="2"/>
              </a:rPr>
              <a:t> </a:t>
            </a:r>
          </a:p>
          <a:p>
            <a:pPr defTabSz="280988">
              <a:lnSpc>
                <a:spcPct val="120000"/>
              </a:lnSpc>
            </a:pP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	= </a:t>
            </a:r>
            <a:r>
              <a:rPr lang="en-US" b="1">
                <a:solidFill>
                  <a:schemeClr val="bg2"/>
                </a:solidFill>
                <a:sym typeface="Symbol" pitchFamily="18" charset="2"/>
              </a:rPr>
              <a:t>(m +</a:t>
            </a: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 </a:t>
            </a:r>
            <a:r>
              <a:rPr lang="en-US" b="1">
                <a:solidFill>
                  <a:schemeClr val="bg2"/>
                </a:solidFill>
                <a:sym typeface="Symbol" pitchFamily="18" charset="2"/>
              </a:rPr>
              <a:t>1/2) </a:t>
            </a: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</a:t>
            </a:r>
          </a:p>
        </p:txBody>
      </p:sp>
      <p:sp>
        <p:nvSpPr>
          <p:cNvPr id="384014" name="Line 31"/>
          <p:cNvSpPr>
            <a:spLocks noChangeShapeType="1"/>
          </p:cNvSpPr>
          <p:nvPr/>
        </p:nvSpPr>
        <p:spPr bwMode="auto">
          <a:xfrm>
            <a:off x="7177088" y="3942588"/>
            <a:ext cx="0" cy="1604963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 rot="5400000">
            <a:off x="7289006" y="4008470"/>
            <a:ext cx="714375" cy="420688"/>
            <a:chOff x="3678" y="3614"/>
            <a:chExt cx="450" cy="265"/>
          </a:xfrm>
        </p:grpSpPr>
        <p:sp>
          <p:nvSpPr>
            <p:cNvPr id="384025" name="Text Box 33"/>
            <p:cNvSpPr txBox="1">
              <a:spLocks noChangeArrowheads="1"/>
            </p:cNvSpPr>
            <p:nvPr/>
          </p:nvSpPr>
          <p:spPr bwMode="auto">
            <a:xfrm rot="10800000" flipH="1" flipV="1">
              <a:off x="3678" y="3614"/>
              <a:ext cx="221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6" name="Line 34"/>
            <p:cNvSpPr>
              <a:spLocks noChangeShapeType="1"/>
            </p:cNvSpPr>
            <p:nvPr/>
          </p:nvSpPr>
          <p:spPr bwMode="auto">
            <a:xfrm rot="16200000" flipH="1">
              <a:off x="3996" y="3622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 rot="5400000">
            <a:off x="7619207" y="4148169"/>
            <a:ext cx="920750" cy="420687"/>
            <a:chOff x="2928" y="3818"/>
            <a:chExt cx="580" cy="265"/>
          </a:xfrm>
        </p:grpSpPr>
        <p:sp>
          <p:nvSpPr>
            <p:cNvPr id="384023" name="Text Box 36"/>
            <p:cNvSpPr txBox="1">
              <a:spLocks noChangeArrowheads="1"/>
            </p:cNvSpPr>
            <p:nvPr/>
          </p:nvSpPr>
          <p:spPr bwMode="auto">
            <a:xfrm rot="10800000" flipH="1" flipV="1">
              <a:off x="2928" y="3818"/>
              <a:ext cx="310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2</a:t>
              </a: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4" name="Line 37"/>
            <p:cNvSpPr>
              <a:spLocks noChangeShapeType="1"/>
            </p:cNvSpPr>
            <p:nvPr/>
          </p:nvSpPr>
          <p:spPr bwMode="auto">
            <a:xfrm rot="16200000" flipH="1">
              <a:off x="3376" y="3827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 rot="5400000">
            <a:off x="8052594" y="4448207"/>
            <a:ext cx="920750" cy="420688"/>
            <a:chOff x="3862" y="3889"/>
            <a:chExt cx="580" cy="265"/>
          </a:xfrm>
        </p:grpSpPr>
        <p:sp>
          <p:nvSpPr>
            <p:cNvPr id="384021" name="Text Box 39"/>
            <p:cNvSpPr txBox="1">
              <a:spLocks noChangeArrowheads="1"/>
            </p:cNvSpPr>
            <p:nvPr/>
          </p:nvSpPr>
          <p:spPr bwMode="auto">
            <a:xfrm rot="10800000" flipH="1" flipV="1">
              <a:off x="3862" y="3889"/>
              <a:ext cx="310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3</a:t>
              </a: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2" name="Line 40"/>
            <p:cNvSpPr>
              <a:spLocks noChangeShapeType="1"/>
            </p:cNvSpPr>
            <p:nvPr/>
          </p:nvSpPr>
          <p:spPr bwMode="auto">
            <a:xfrm rot="16200000" flipH="1">
              <a:off x="4310" y="3898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4018" name="Text Box 41"/>
          <p:cNvSpPr txBox="1">
            <a:spLocks noChangeArrowheads="1"/>
          </p:cNvSpPr>
          <p:nvPr/>
        </p:nvSpPr>
        <p:spPr bwMode="auto">
          <a:xfrm>
            <a:off x="4630738" y="1140651"/>
            <a:ext cx="451326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there is no difference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half a wavelength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one wavelength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three wavelengths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more than three wavelengths</a:t>
            </a:r>
            <a:endParaRPr lang="en-US" sz="2000" b="1" dirty="0"/>
          </a:p>
        </p:txBody>
      </p:sp>
      <p:sp>
        <p:nvSpPr>
          <p:cNvPr id="2010155" name="Rectangle 4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24.4	</a:t>
            </a:r>
            <a:r>
              <a:rPr lang="en-US" sz="2800">
                <a:solidFill>
                  <a:schemeClr val="accent2"/>
                </a:solidFill>
              </a:rPr>
              <a:t>Path Difference</a:t>
            </a:r>
          </a:p>
        </p:txBody>
      </p:sp>
      <p:sp>
        <p:nvSpPr>
          <p:cNvPr id="384019" name="Rectangle 42"/>
          <p:cNvSpPr>
            <a:spLocks noGrp="1" noChangeArrowheads="1"/>
          </p:cNvSpPr>
          <p:nvPr>
            <p:ph idx="1"/>
          </p:nvPr>
        </p:nvSpPr>
        <p:spPr>
          <a:xfrm>
            <a:off x="0" y="1216025"/>
            <a:ext cx="4572000" cy="2390775"/>
          </a:xfrm>
          <a:noFill/>
        </p:spPr>
        <p:txBody>
          <a:bodyPr>
            <a:normAutofit fontScale="925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sz="2400" b="1" dirty="0"/>
              <a:t>	In a double-slit experiment, what </a:t>
            </a:r>
            <a:r>
              <a:rPr lang="en-US" sz="2400" b="1" i="1" dirty="0"/>
              <a:t>path difference</a:t>
            </a:r>
            <a:r>
              <a:rPr lang="en-US" sz="2400" b="1" dirty="0"/>
              <a:t>  have the waves from each slit traveled to give a minimum at the indicated position?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11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013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5246688" y="1083501"/>
            <a:ext cx="36052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vanishes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expands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bright and dark spots       are interchanged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pattern shrinks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no change at all</a:t>
            </a:r>
            <a:endParaRPr lang="en-US" sz="2000" b="1" dirty="0"/>
          </a:p>
        </p:txBody>
      </p:sp>
      <p:sp>
        <p:nvSpPr>
          <p:cNvPr id="2012164" name="Rectangle 4"/>
          <p:cNvSpPr>
            <a:spLocks noChangeArrowheads="1"/>
          </p:cNvSpPr>
          <p:nvPr/>
        </p:nvSpPr>
        <p:spPr bwMode="auto">
          <a:xfrm>
            <a:off x="0" y="1480312"/>
            <a:ext cx="5097463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dirty="0"/>
              <a:t>	An interference pattern is seen from two slits.  Now cover one slit with </a:t>
            </a:r>
            <a:r>
              <a:rPr lang="en-US" sz="2000" b="1" dirty="0">
                <a:solidFill>
                  <a:schemeClr val="tx2"/>
                </a:solidFill>
              </a:rPr>
              <a:t>glass</a:t>
            </a:r>
            <a:r>
              <a:rPr lang="en-US" sz="2000" b="1" dirty="0"/>
              <a:t>,  introducing a </a:t>
            </a:r>
            <a:r>
              <a:rPr lang="en-US" sz="2000" b="1" i="1" u="sng" dirty="0">
                <a:solidFill>
                  <a:schemeClr val="accent2"/>
                </a:solidFill>
              </a:rPr>
              <a:t>phase difference  of 180</a:t>
            </a:r>
            <a:r>
              <a:rPr lang="en-US" sz="2000" b="1" i="1" dirty="0">
                <a:solidFill>
                  <a:schemeClr val="accent2"/>
                </a:solidFill>
              </a:rPr>
              <a:t>°  (1/2 wavelength)</a:t>
            </a:r>
            <a:r>
              <a:rPr lang="en-US" sz="2000" b="1" dirty="0"/>
              <a:t> at the slits.  How is the pattern altered?</a:t>
            </a:r>
          </a:p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endParaRPr lang="en-US" sz="2000" b="1" dirty="0"/>
          </a:p>
        </p:txBody>
      </p:sp>
      <p:sp>
        <p:nvSpPr>
          <p:cNvPr id="385032" name="Rectangle 6"/>
          <p:cNvSpPr>
            <a:spLocks noChangeArrowheads="1"/>
          </p:cNvSpPr>
          <p:nvPr/>
        </p:nvSpPr>
        <p:spPr bwMode="auto">
          <a:xfrm>
            <a:off x="5740401" y="5423789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385036" name="Picture 9"/>
          <p:cNvPicPr>
            <a:picLocks noChangeAspect="1" noChangeArrowheads="1"/>
          </p:cNvPicPr>
          <p:nvPr/>
        </p:nvPicPr>
        <p:blipFill>
          <a:blip r:embed="rId3" cstate="print">
            <a:lum bright="-30000" contrast="48000"/>
          </a:blip>
          <a:srcRect l="5534" t="8684" r="36778" b="6480"/>
          <a:stretch>
            <a:fillRect/>
          </a:stretch>
        </p:blipFill>
        <p:spPr bwMode="auto">
          <a:xfrm>
            <a:off x="4491038" y="3755327"/>
            <a:ext cx="4275138" cy="28194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2012170" name="Text Box 10"/>
          <p:cNvSpPr txBox="1">
            <a:spLocks noChangeArrowheads="1"/>
          </p:cNvSpPr>
          <p:nvPr/>
        </p:nvSpPr>
        <p:spPr bwMode="auto">
          <a:xfrm>
            <a:off x="4557713" y="3859860"/>
            <a:ext cx="4213225" cy="397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Double slit     Interference pattern</a:t>
            </a:r>
            <a:endParaRPr lang="en-US" dirty="0"/>
          </a:p>
        </p:txBody>
      </p:sp>
      <p:sp>
        <p:nvSpPr>
          <p:cNvPr id="2012171" name="Text Box 11"/>
          <p:cNvSpPr txBox="1">
            <a:spLocks noChangeArrowheads="1"/>
          </p:cNvSpPr>
          <p:nvPr/>
        </p:nvSpPr>
        <p:spPr bwMode="auto">
          <a:xfrm>
            <a:off x="4591876" y="4399361"/>
            <a:ext cx="1150938" cy="398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wave</a:t>
            </a:r>
            <a:endParaRPr lang="en-US" dirty="0"/>
          </a:p>
        </p:txBody>
      </p:sp>
      <p:sp>
        <p:nvSpPr>
          <p:cNvPr id="385035" name="Line 12"/>
          <p:cNvSpPr>
            <a:spLocks noChangeShapeType="1"/>
          </p:cNvSpPr>
          <p:nvPr/>
        </p:nvSpPr>
        <p:spPr bwMode="auto">
          <a:xfrm>
            <a:off x="2513013" y="3699764"/>
            <a:ext cx="3141663" cy="1992313"/>
          </a:xfrm>
          <a:prstGeom prst="line">
            <a:avLst/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12173" name="Rectangle 13"/>
          <p:cNvSpPr>
            <a:spLocks noChangeArrowheads="1"/>
          </p:cNvSpPr>
          <p:nvPr/>
        </p:nvSpPr>
        <p:spPr bwMode="auto">
          <a:xfrm>
            <a:off x="660400" y="0"/>
            <a:ext cx="80502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defRPr/>
            </a:pPr>
            <a:r>
              <a:rPr lang="en-US" sz="28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ConcepTest 24.5	</a:t>
            </a: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Interference Pattern</a:t>
            </a:r>
          </a:p>
        </p:txBody>
      </p:sp>
      <p:sp>
        <p:nvSpPr>
          <p:cNvPr id="385031" name="Rectangle 14"/>
          <p:cNvSpPr>
            <a:spLocks noChangeArrowheads="1"/>
          </p:cNvSpPr>
          <p:nvPr/>
        </p:nvSpPr>
        <p:spPr bwMode="auto">
          <a:xfrm>
            <a:off x="5715000" y="5255514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38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AutoShape 2"/>
          <p:cNvSpPr>
            <a:spLocks noChangeArrowheads="1"/>
          </p:cNvSpPr>
          <p:nvPr/>
        </p:nvSpPr>
        <p:spPr bwMode="auto">
          <a:xfrm>
            <a:off x="0" y="3282950"/>
            <a:ext cx="4614863" cy="29749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014211" name="Rectangle 3"/>
          <p:cNvSpPr>
            <a:spLocks noChangeArrowheads="1"/>
          </p:cNvSpPr>
          <p:nvPr/>
        </p:nvSpPr>
        <p:spPr bwMode="auto">
          <a:xfrm>
            <a:off x="0" y="3330575"/>
            <a:ext cx="4613275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sz="2000" b="1">
                <a:solidFill>
                  <a:schemeClr val="bg2"/>
                </a:solidFill>
              </a:rPr>
              <a:t>    If the waves originating from the two slits have a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phase difference of 180°</a:t>
            </a:r>
            <a:r>
              <a:rPr lang="en-US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chemeClr val="bg2"/>
                </a:solidFill>
              </a:rPr>
              <a:t>when they start off, the central spot will now be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dark</a:t>
            </a:r>
            <a:r>
              <a:rPr lang="en-US" sz="2000" b="1">
                <a:solidFill>
                  <a:schemeClr val="bg2"/>
                </a:solidFill>
              </a:rPr>
              <a:t> !!     To the left and the right, there will be bright spots.  Thus,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bright and dark spots are interchanged</a:t>
            </a:r>
            <a:r>
              <a:rPr lang="en-US" sz="2000" b="1">
                <a:solidFill>
                  <a:schemeClr val="bg2"/>
                </a:solidFill>
              </a:rPr>
              <a:t>.  </a:t>
            </a:r>
          </a:p>
        </p:txBody>
      </p:sp>
      <p:sp>
        <p:nvSpPr>
          <p:cNvPr id="386054" name="Line 6"/>
          <p:cNvSpPr>
            <a:spLocks noChangeShapeType="1"/>
          </p:cNvSpPr>
          <p:nvPr/>
        </p:nvSpPr>
        <p:spPr bwMode="auto">
          <a:xfrm>
            <a:off x="7764463" y="3727450"/>
            <a:ext cx="795337" cy="6778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6055" name="Line 7"/>
          <p:cNvSpPr>
            <a:spLocks noChangeShapeType="1"/>
          </p:cNvSpPr>
          <p:nvPr/>
        </p:nvSpPr>
        <p:spPr bwMode="auto">
          <a:xfrm flipH="1">
            <a:off x="7947025" y="4656138"/>
            <a:ext cx="598488" cy="5159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14223" name="Rectangle 15"/>
          <p:cNvSpPr>
            <a:spLocks noChangeArrowheads="1"/>
          </p:cNvSpPr>
          <p:nvPr/>
        </p:nvSpPr>
        <p:spPr bwMode="auto">
          <a:xfrm>
            <a:off x="0" y="1127252"/>
            <a:ext cx="5097463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b="1" dirty="0"/>
              <a:t>	An interference pattern is seen from two slits.  Now cover one slit with </a:t>
            </a:r>
            <a:r>
              <a:rPr lang="en-US" b="1" dirty="0">
                <a:solidFill>
                  <a:schemeClr val="tx2"/>
                </a:solidFill>
              </a:rPr>
              <a:t>glass</a:t>
            </a:r>
            <a:r>
              <a:rPr lang="en-US" b="1" dirty="0"/>
              <a:t>,  introducing a </a:t>
            </a:r>
            <a:r>
              <a:rPr lang="en-US" b="1" i="1" u="sng" dirty="0">
                <a:solidFill>
                  <a:schemeClr val="accent2"/>
                </a:solidFill>
              </a:rPr>
              <a:t>phase difference  of 180</a:t>
            </a:r>
            <a:r>
              <a:rPr lang="en-US" b="1" i="1" dirty="0">
                <a:solidFill>
                  <a:schemeClr val="accent2"/>
                </a:solidFill>
              </a:rPr>
              <a:t>°  (1/2 wavelength)</a:t>
            </a:r>
            <a:r>
              <a:rPr lang="en-US" b="1" dirty="0"/>
              <a:t> at the slits.  How is the pattern altered?</a:t>
            </a:r>
          </a:p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endParaRPr lang="en-US" b="1" dirty="0"/>
          </a:p>
        </p:txBody>
      </p:sp>
      <p:sp>
        <p:nvSpPr>
          <p:cNvPr id="2014224" name="Rectangle 16"/>
          <p:cNvSpPr>
            <a:spLocks noChangeArrowheads="1"/>
          </p:cNvSpPr>
          <p:nvPr/>
        </p:nvSpPr>
        <p:spPr bwMode="auto">
          <a:xfrm>
            <a:off x="660400" y="0"/>
            <a:ext cx="80502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defRPr/>
            </a:pPr>
            <a:r>
              <a:rPr lang="en-US" sz="2800" b="1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ConcepTest</a:t>
            </a:r>
            <a:r>
              <a:rPr lang="en-US" sz="2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24.5	</a:t>
            </a:r>
            <a:r>
              <a:rPr 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Interference Pattern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356416" y="1083501"/>
            <a:ext cx="36052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vanishes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expands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bright and dark spots       are interchanged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pattern shrinks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no change at all</a:t>
            </a:r>
            <a:endParaRPr lang="en-US" sz="2000" b="1" dirty="0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5850129" y="5423789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6" name="Picture 9"/>
          <p:cNvPicPr>
            <a:picLocks noChangeAspect="1" noChangeArrowheads="1"/>
          </p:cNvPicPr>
          <p:nvPr/>
        </p:nvPicPr>
        <p:blipFill>
          <a:blip r:embed="rId3" cstate="print">
            <a:lum bright="-30000" contrast="48000"/>
          </a:blip>
          <a:srcRect l="5534" t="8684" r="36778" b="6480"/>
          <a:stretch>
            <a:fillRect/>
          </a:stretch>
        </p:blipFill>
        <p:spPr bwMode="auto">
          <a:xfrm>
            <a:off x="4600766" y="3755327"/>
            <a:ext cx="4275138" cy="28194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4667441" y="3859860"/>
            <a:ext cx="4213225" cy="397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Double slit     Interference pattern</a:t>
            </a:r>
            <a:endParaRPr lang="en-US" dirty="0"/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4701604" y="4399361"/>
            <a:ext cx="1150938" cy="398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wave</a:t>
            </a:r>
            <a:endParaRPr lang="en-US" dirty="0"/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24728" y="5255514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193792" y="1773936"/>
            <a:ext cx="3602736" cy="12435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4225" name="Text Box 17"/>
          <p:cNvSpPr txBox="1">
            <a:spLocks noChangeArrowheads="1"/>
          </p:cNvSpPr>
          <p:nvPr/>
        </p:nvSpPr>
        <p:spPr bwMode="auto">
          <a:xfrm>
            <a:off x="368300" y="6440488"/>
            <a:ext cx="7500938" cy="406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 dirty="0"/>
              <a:t>What happens when the phase difference is 90</a:t>
            </a:r>
            <a:r>
              <a:rPr lang="en-US" sz="20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°</a:t>
            </a:r>
            <a:r>
              <a:rPr lang="en-US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6017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856" y="1398351"/>
            <a:ext cx="7203043" cy="479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847" y="1033321"/>
            <a:ext cx="7840355" cy="52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4298" t="28617" r="15657" b="23033"/>
          <a:stretch>
            <a:fillRect/>
          </a:stretch>
        </p:blipFill>
        <p:spPr bwMode="auto">
          <a:xfrm>
            <a:off x="1478280" y="3581400"/>
            <a:ext cx="589788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40" y="1752600"/>
            <a:ext cx="5334000" cy="138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89788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2480" y="310134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160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3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-3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0" y="310134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4696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-5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4200" y="292608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/2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196840" y="1844040"/>
            <a:ext cx="914400" cy="2743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87440" y="1584960"/>
            <a:ext cx="211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Interference fringes:</a:t>
            </a:r>
          </a:p>
          <a:p>
            <a:r>
              <a:rPr lang="en-US" sz="1600" dirty="0"/>
              <a:t> due to having two slits.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8120" y="146304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038826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223.18.4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is the power (in </a:t>
            </a:r>
            <a:r>
              <a:rPr lang="en-US" dirty="0" err="1"/>
              <a:t>Diopters</a:t>
            </a:r>
            <a:r>
              <a:rPr lang="en-US" dirty="0"/>
              <a:t>) of a lens with a focal distance of 0.5m?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4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10819-D402-4D92-A9F3-11EFF80A126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164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Simple Magnifier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simple magnifier consists of a single converging lens</a:t>
            </a:r>
          </a:p>
          <a:p>
            <a:pPr eaLnBrk="1" hangingPunct="1"/>
            <a:r>
              <a:rPr lang="en-US"/>
              <a:t>This device is used to increase the apparent size of an object</a:t>
            </a:r>
          </a:p>
          <a:p>
            <a:pPr eaLnBrk="1" hangingPunct="1"/>
            <a:r>
              <a:rPr lang="en-US"/>
              <a:t>The size of an image formed on the retina depends on the angle subtended by the eye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09774"/>
            <a:ext cx="8294230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141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952500"/>
            <a:ext cx="89725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64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The Size of a Magnified Image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When an object is placed at the near point, the angle subtended is a maximum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near point is about 25 cm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When the object is placed near the focal point of a converging lens, the lens forms a virtual, upright, and enlarged image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1683274"/>
            <a:ext cx="4443413" cy="3967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7672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"/>
            <a:ext cx="6576023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1727200" y="979054"/>
            <a:ext cx="0" cy="3094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41782" y="1011381"/>
            <a:ext cx="0" cy="3094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801090" y="2272145"/>
            <a:ext cx="10529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24363" y="2078181"/>
            <a:ext cx="31931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73789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Angular Magnification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/>
              <a:t>Angular magnification</a:t>
            </a:r>
            <a:r>
              <a:rPr lang="en-US" dirty="0"/>
              <a:t> is defined as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The angular magnification is at a maximum when the image formed by the lens is at the near point of the eye</a:t>
            </a:r>
          </a:p>
          <a:p>
            <a:pPr lvl="1" eaLnBrk="1" hangingPunct="1">
              <a:lnSpc>
                <a:spcPct val="90000"/>
              </a:lnSpc>
            </a:pPr>
            <a:r>
              <a:rPr lang="en-US" i="1" dirty="0"/>
              <a:t>s’</a:t>
            </a:r>
            <a:r>
              <a:rPr lang="en-US" dirty="0"/>
              <a:t> = - 25 cm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Calculated by 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655888" y="2159000"/>
          <a:ext cx="3835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431640" progId="">
                  <p:embed/>
                </p:oleObj>
              </mc:Choice>
              <mc:Fallback>
                <p:oleObj name="Equation" r:id="rId2" imgW="1879560" imgH="431640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159000"/>
                        <a:ext cx="3835400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4354513" y="5014913"/>
          <a:ext cx="24701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419040" progId="">
                  <p:embed/>
                </p:oleObj>
              </mc:Choice>
              <mc:Fallback>
                <p:oleObj name="Equation" r:id="rId4" imgW="1193760" imgH="419040" progId="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5014913"/>
                        <a:ext cx="2470150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Angular Magnification, cont.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The eye is most relaxed when the image is at infinity</a:t>
            </a:r>
          </a:p>
          <a:p>
            <a:pPr lvl="1" eaLnBrk="1" hangingPunct="1"/>
            <a:r>
              <a:rPr lang="en-US" sz="2400"/>
              <a:t>Although the eye can focus on an object anywhere between the near point and infinity</a:t>
            </a:r>
          </a:p>
          <a:p>
            <a:pPr eaLnBrk="1" hangingPunct="1"/>
            <a:r>
              <a:rPr lang="en-US" sz="2800"/>
              <a:t>For the image formed by a magnifying glass to appear at infinity, the object has to be at the focal point of the lens</a:t>
            </a:r>
          </a:p>
          <a:p>
            <a:pPr eaLnBrk="1" hangingPunct="1"/>
            <a:r>
              <a:rPr lang="en-US" sz="2800"/>
              <a:t>The angular magnification is 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5997575" y="4808538"/>
          <a:ext cx="27813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431640" progId="">
                  <p:embed/>
                </p:oleObj>
              </mc:Choice>
              <mc:Fallback>
                <p:oleObj name="Equation" r:id="rId2" imgW="1231560" imgH="431640" progId="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4808538"/>
                        <a:ext cx="2781300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Magnification by a Lens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With a single lens, it is possible to achieve angular magnification up to about 4 without serious aberrations</a:t>
            </a:r>
          </a:p>
          <a:p>
            <a:pPr eaLnBrk="1" hangingPunct="1"/>
            <a:r>
              <a:rPr lang="en-US"/>
              <a:t>With multiple lenses, magnifications of up to about 20 can be achieved</a:t>
            </a:r>
          </a:p>
          <a:p>
            <a:pPr lvl="1" eaLnBrk="1" hangingPunct="1"/>
            <a:r>
              <a:rPr lang="en-US"/>
              <a:t>The multiple lenses can correct for aberrations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Compound Microscope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849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telescope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837"/>
            <a:ext cx="9129247" cy="42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44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Refracting Telescope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30" y="1409699"/>
            <a:ext cx="8585920" cy="49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43139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4138" y="0"/>
            <a:ext cx="7507287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Reflecting Telescope: Newtonian 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337" y="1162050"/>
            <a:ext cx="719556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29838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 of Telescopes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Reflecting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are the 10-m diameter Keck telescopes on Mauna Kea in Hawaii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Each contains 36 hexagonally shaped, computer-controlled mirrors that work together to form a large reflecting surface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Refracting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is Yerkes Observatory in Williams Bay, Wisconsin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Has a diameter of 1 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223.19.1</a:t>
            </a:r>
          </a:p>
        </p:txBody>
      </p:sp>
      <p:sp>
        <p:nvSpPr>
          <p:cNvPr id="195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Resolution is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ending argument in a debate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ability to distinguish separate point sources in an optical image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distance between bright fringes in a diffraction pattern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distance between dark fringes in a diffraction pattern</a:t>
            </a:r>
          </a:p>
        </p:txBody>
      </p:sp>
      <p:sp>
        <p:nvSpPr>
          <p:cNvPr id="195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B6D810-F590-4B45-A8A0-3E825ED5BC2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2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233.19.2</a:t>
            </a:r>
          </a:p>
        </p:txBody>
      </p:sp>
      <p:sp>
        <p:nvSpPr>
          <p:cNvPr id="196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Cat’s eyes have pupils that can be modeled as vertical slits. At night, would cats be more successful in resolving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Headlights on a distant car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Vertically separated lights on the mast of a distant boat?</a:t>
            </a:r>
          </a:p>
        </p:txBody>
      </p:sp>
      <p:sp>
        <p:nvSpPr>
          <p:cNvPr id="196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552729-230B-4551-825F-256A285AE3F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1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06859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90461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705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images are said to be </a:t>
            </a:r>
            <a:r>
              <a:rPr lang="en-US" sz="2400" i="1"/>
              <a:t>resolved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20521211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2381250"/>
            <a:ext cx="22669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616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2381250"/>
            <a:ext cx="24860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51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Resolved Images, Example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5886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Barely Resolved, Example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76200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910634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Images Not Resolved, Example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39097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images are said to be </a:t>
            </a:r>
            <a:r>
              <a:rPr lang="en-US" sz="2400" i="1"/>
              <a:t>resolved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35771642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533400"/>
            <a:ext cx="4495800" cy="169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2438400"/>
            <a:ext cx="4495800" cy="163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599" y="4343400"/>
            <a:ext cx="4419601" cy="160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27957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7191375" cy="21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2025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9170" y="4343400"/>
            <a:ext cx="377483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209800"/>
            <a:ext cx="378955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411799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277081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Resolution, Rayleigh’s Criterion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When the central maximum of one image falls on the first minimum of another image, the images are said to be just resolved</a:t>
            </a:r>
          </a:p>
          <a:p>
            <a:pPr eaLnBrk="1" hangingPunct="1"/>
            <a:r>
              <a:rPr lang="en-US"/>
              <a:t>This limiting condition of resolution is called </a:t>
            </a:r>
            <a:r>
              <a:rPr lang="en-US" b="1"/>
              <a:t>Rayleigh’s criterion</a:t>
            </a:r>
            <a:endParaRPr lang="en-US"/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095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2713" y="0"/>
            <a:ext cx="7535862" cy="1143000"/>
          </a:xfrm>
        </p:spPr>
        <p:txBody>
          <a:bodyPr/>
          <a:lstStyle/>
          <a:p>
            <a:pPr eaLnBrk="1" hangingPunct="1"/>
            <a:r>
              <a:rPr lang="en-US" sz="2800"/>
              <a:t>Resolution, Rayleigh’s Criterion, Equation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638" y="1306513"/>
            <a:ext cx="7772400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The angle of separation,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 baseline="-25000"/>
              <a:t>min</a:t>
            </a:r>
            <a:r>
              <a:rPr lang="en-US" sz="2800"/>
              <a:t>, is the angle subtended by the sources for which the images are just resolved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Since </a:t>
            </a:r>
            <a:r>
              <a:rPr lang="en-US" i="1">
                <a:cs typeface="Arial" charset="0"/>
              </a:rPr>
              <a:t>λ</a:t>
            </a:r>
            <a:r>
              <a:rPr lang="en-US" sz="2800"/>
              <a:t> &lt;&lt; </a:t>
            </a:r>
            <a:r>
              <a:rPr lang="en-US" sz="2800" i="1"/>
              <a:t>a</a:t>
            </a:r>
            <a:r>
              <a:rPr lang="en-US" sz="2800"/>
              <a:t> in most situations, sin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/>
              <a:t> is very small and sin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/>
              <a:t> </a:t>
            </a:r>
            <a:r>
              <a:rPr lang="en-US" sz="2800">
                <a:latin typeface="Symbol" pitchFamily="18" charset="2"/>
              </a:rPr>
              <a:t>» </a:t>
            </a:r>
            <a:r>
              <a:rPr lang="en-US" sz="2800" i="1">
                <a:cs typeface="Arial" charset="0"/>
              </a:rPr>
              <a:t>θ</a:t>
            </a:r>
            <a:endParaRPr lang="en-US" sz="2800"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/>
              <a:t>Therefore, the limiting angle (in rad) of resolution for a slit of width </a:t>
            </a:r>
            <a:r>
              <a:rPr lang="en-US" sz="2800" i="1"/>
              <a:t>a</a:t>
            </a:r>
            <a:r>
              <a:rPr lang="en-US" sz="2800"/>
              <a:t> is </a:t>
            </a:r>
          </a:p>
          <a:p>
            <a:pPr eaLnBrk="1" hangingPunct="1">
              <a:lnSpc>
                <a:spcPct val="80000"/>
              </a:lnSpc>
            </a:pPr>
            <a:endParaRPr lang="en-US" sz="2800"/>
          </a:p>
          <a:p>
            <a:pPr eaLnBrk="1" hangingPunct="1">
              <a:lnSpc>
                <a:spcPct val="80000"/>
              </a:lnSpc>
            </a:pPr>
            <a:endParaRPr lang="en-US" sz="2800"/>
          </a:p>
          <a:p>
            <a:pPr eaLnBrk="1" hangingPunct="1">
              <a:lnSpc>
                <a:spcPct val="80000"/>
              </a:lnSpc>
            </a:pPr>
            <a:r>
              <a:rPr lang="en-US" sz="2800"/>
              <a:t>To be resolved, the angle subtended by the two sources must be greater than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 baseline="-25000"/>
              <a:t>min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4002088" y="4086225"/>
          <a:ext cx="15335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04560" progId="">
                  <p:embed/>
                </p:oleObj>
              </mc:Choice>
              <mc:Fallback>
                <p:oleObj name="Equation" r:id="rId2" imgW="622080" imgH="304560" progId="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4086225"/>
                        <a:ext cx="153352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542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Circular Apertures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The diffraction pattern of a circular aperture consists of a central bright disk surrounded by progressively fainter bright and dark rings</a:t>
            </a:r>
          </a:p>
          <a:p>
            <a:pPr eaLnBrk="1" hangingPunct="1"/>
            <a:r>
              <a:rPr lang="en-US" sz="2800"/>
              <a:t>The limiting angle of resolution of the circular aperture is</a:t>
            </a:r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lvl="1" eaLnBrk="1" hangingPunct="1"/>
            <a:r>
              <a:rPr lang="en-US" sz="2400" i="1"/>
              <a:t>D</a:t>
            </a:r>
            <a:r>
              <a:rPr lang="en-US" sz="2400"/>
              <a:t> is the diameter of the aperture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3041650" y="3948113"/>
          <a:ext cx="21336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393480" progId="">
                  <p:embed/>
                </p:oleObj>
              </mc:Choice>
              <mc:Fallback>
                <p:oleObj name="Equation" r:id="rId2" imgW="863280" imgH="393480" progId="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3948113"/>
                        <a:ext cx="2133600" cy="97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343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Well Resolved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4350" y="1639888"/>
            <a:ext cx="3810000" cy="4383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sources are far apart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images are well resolved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solid curves are the individual diffraction patterns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dashed lines are the resultant pattern</a:t>
            </a:r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629275" y="1500188"/>
          <a:ext cx="2417763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400900" imgH="6485714" progId="">
                  <p:embed/>
                </p:oleObj>
              </mc:Choice>
              <mc:Fallback>
                <p:oleObj name="Photo Editor Photo" r:id="rId2" imgW="3400900" imgH="6485714" progId="">
                  <p:embed/>
                  <p:pic>
                    <p:nvPicPr>
                      <p:cNvPr id="112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1500188"/>
                        <a:ext cx="2417763" cy="461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3768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Just Resolved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5600" y="1481138"/>
            <a:ext cx="3810000" cy="4383087"/>
          </a:xfrm>
        </p:spPr>
        <p:txBody>
          <a:bodyPr/>
          <a:lstStyle/>
          <a:p>
            <a:pPr eaLnBrk="1" hangingPunct="1"/>
            <a:r>
              <a:rPr lang="en-US" sz="2400"/>
              <a:t>The sources are separated by an angle that satisfies Rayleigh’s criterion</a:t>
            </a:r>
          </a:p>
          <a:p>
            <a:pPr eaLnBrk="1" hangingPunct="1"/>
            <a:r>
              <a:rPr lang="en-US" sz="2400"/>
              <a:t>The images are just resolved</a:t>
            </a:r>
          </a:p>
          <a:p>
            <a:pPr eaLnBrk="1" hangingPunct="1"/>
            <a:r>
              <a:rPr lang="en-US" sz="2400"/>
              <a:t>The solid curves are the individual diffraction patterns</a:t>
            </a:r>
          </a:p>
          <a:p>
            <a:pPr eaLnBrk="1" hangingPunct="1"/>
            <a:r>
              <a:rPr lang="en-US" sz="2400"/>
              <a:t>The dashed lines are the resultant pattern</a:t>
            </a:r>
          </a:p>
        </p:txBody>
      </p:sp>
      <p:graphicFrame>
        <p:nvGraphicFramePr>
          <p:cNvPr id="1229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726113" y="1514475"/>
          <a:ext cx="2200275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323810" imgH="6582694" progId="">
                  <p:embed/>
                </p:oleObj>
              </mc:Choice>
              <mc:Fallback>
                <p:oleObj name="Photo Editor Photo" r:id="rId2" imgW="3323810" imgH="6582694" progId="">
                  <p:embed/>
                  <p:pic>
                    <p:nvPicPr>
                      <p:cNvPr id="122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1514475"/>
                        <a:ext cx="2200275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4101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Not Resolved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09713"/>
            <a:ext cx="3810000" cy="4383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sources are close together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images are unresolved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solid curves are the individual diffraction patterns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dashed lines are the resultant pattern</a:t>
            </a:r>
          </a:p>
        </p:txBody>
      </p:sp>
      <p:graphicFrame>
        <p:nvGraphicFramePr>
          <p:cNvPr id="13314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819775" y="1600200"/>
          <a:ext cx="1700213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2734057" imgH="7000000" progId="">
                  <p:embed/>
                </p:oleObj>
              </mc:Choice>
              <mc:Fallback>
                <p:oleObj name="Photo Editor Photo" r:id="rId2" imgW="2734057" imgH="7000000" progId="">
                  <p:embed/>
                  <p:pic>
                    <p:nvPicPr>
                      <p:cNvPr id="133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1600200"/>
                        <a:ext cx="1700213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7017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1336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3528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50292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609600"/>
            <a:ext cx="3340100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410200" y="1219200"/>
            <a:ext cx="214315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Completely Resolved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Rayleigh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Sparrow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Unresolved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066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Resolution, Example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990600" y="43434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 dirty="0"/>
              <a:t>Pluto and its moon, </a:t>
            </a:r>
            <a:r>
              <a:rPr lang="en-US" sz="2800" dirty="0" err="1"/>
              <a:t>Charon</a:t>
            </a:r>
            <a:endParaRPr lang="en-US" sz="2800" dirty="0"/>
          </a:p>
          <a:p>
            <a:pPr eaLnBrk="1" hangingPunct="1"/>
            <a:r>
              <a:rPr lang="en-US" sz="2800" dirty="0"/>
              <a:t>Left: Earth-based telescope is blurred</a:t>
            </a:r>
          </a:p>
          <a:p>
            <a:pPr eaLnBrk="1" hangingPunct="1"/>
            <a:r>
              <a:rPr lang="en-US" sz="2800" dirty="0"/>
              <a:t>Right: Hubble Space Telescope clearly resolves the two objects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881187"/>
            <a:ext cx="2473657" cy="187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990600" y="2947987"/>
            <a:ext cx="9144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90600" y="2947987"/>
            <a:ext cx="22860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800" y="3657600"/>
            <a:ext cx="67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52600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Charon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19200" y="2133600"/>
            <a:ext cx="6858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199" y="1828800"/>
            <a:ext cx="380245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6177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2168</Words>
  <Application>Microsoft Office PowerPoint</Application>
  <PresentationFormat>On-screen Show (4:3)</PresentationFormat>
  <Paragraphs>456</Paragraphs>
  <Slides>89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9" baseType="lpstr">
      <vt:lpstr>Aptos</vt:lpstr>
      <vt:lpstr>Arial</vt:lpstr>
      <vt:lpstr>Calibri</vt:lpstr>
      <vt:lpstr>Monotype Sorts</vt:lpstr>
      <vt:lpstr>Script MT Bold</vt:lpstr>
      <vt:lpstr>Symbol</vt:lpstr>
      <vt:lpstr>Times New Roman</vt:lpstr>
      <vt:lpstr>Office Theme</vt:lpstr>
      <vt:lpstr>Equation</vt:lpstr>
      <vt:lpstr>Photo Editor Photo</vt:lpstr>
      <vt:lpstr>Lecture 18</vt:lpstr>
      <vt:lpstr>Simple Magnifier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Combination of Lenses</vt:lpstr>
      <vt:lpstr>PowerPoint Presentation</vt:lpstr>
      <vt:lpstr>Question</vt:lpstr>
      <vt:lpstr>Question</vt:lpstr>
      <vt:lpstr>Question</vt:lpstr>
      <vt:lpstr>PowerPoint Presentation</vt:lpstr>
      <vt:lpstr>Combination of Lenses</vt:lpstr>
      <vt:lpstr>The Compound Microscope</vt:lpstr>
      <vt:lpstr>Compound Microscope</vt:lpstr>
      <vt:lpstr>Question</vt:lpstr>
      <vt:lpstr>Compound Microscope</vt:lpstr>
      <vt:lpstr>The telescope</vt:lpstr>
      <vt:lpstr>PowerPoint Presentation</vt:lpstr>
      <vt:lpstr>Question</vt:lpstr>
      <vt:lpstr>Refracting Telescope</vt:lpstr>
      <vt:lpstr>Reflecting Telescope: Newtonian </vt:lpstr>
      <vt:lpstr>Examples of Telescopes</vt:lpstr>
      <vt:lpstr>Question 223.10.5</vt:lpstr>
      <vt:lpstr>END</vt:lpstr>
      <vt:lpstr>The Size of a Magnified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223.10.5</vt:lpstr>
      <vt:lpstr>Question 223.10.6</vt:lpstr>
      <vt:lpstr>ConcepTest 24.3a Double Slits I</vt:lpstr>
      <vt:lpstr>ConcepTest 24.3a Double Slits I</vt:lpstr>
      <vt:lpstr>ConcepTest 24.3b  Double Slits II</vt:lpstr>
      <vt:lpstr>ConcepTest 24.3b  Double Slits II</vt:lpstr>
      <vt:lpstr>ConcepTest 24.4 Path Difference</vt:lpstr>
      <vt:lpstr>ConcepTest 24.4 Path 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223.18.4</vt:lpstr>
      <vt:lpstr>Simple Magnifier</vt:lpstr>
      <vt:lpstr>PowerPoint Presentation</vt:lpstr>
      <vt:lpstr>PowerPoint Presentation</vt:lpstr>
      <vt:lpstr>The Size of a Magnified Image</vt:lpstr>
      <vt:lpstr>PowerPoint Presentation</vt:lpstr>
      <vt:lpstr>Angular Magnification</vt:lpstr>
      <vt:lpstr>Angular Magnification, cont.</vt:lpstr>
      <vt:lpstr>Magnification by a Lens</vt:lpstr>
      <vt:lpstr>The Compound Microscope</vt:lpstr>
      <vt:lpstr>Compound Microscope</vt:lpstr>
      <vt:lpstr>The telescope</vt:lpstr>
      <vt:lpstr>PowerPoint Presentation</vt:lpstr>
      <vt:lpstr>Refracting Telescope</vt:lpstr>
      <vt:lpstr>Reflecting Telescope: Newtonian </vt:lpstr>
      <vt:lpstr>Examples of Telescopes</vt:lpstr>
      <vt:lpstr>Resolution</vt:lpstr>
      <vt:lpstr>Question 223.19.1</vt:lpstr>
      <vt:lpstr>Question 233.19.2</vt:lpstr>
      <vt:lpstr>PowerPoint Presentation</vt:lpstr>
      <vt:lpstr>PowerPoint Presentation</vt:lpstr>
      <vt:lpstr>Resolution</vt:lpstr>
      <vt:lpstr>Resolution</vt:lpstr>
      <vt:lpstr>PowerPoint Presentation</vt:lpstr>
      <vt:lpstr>PowerPoint Presentation</vt:lpstr>
      <vt:lpstr>Resolved Images, Example</vt:lpstr>
      <vt:lpstr>Barely Resolved, Example</vt:lpstr>
      <vt:lpstr>Images Not Resolved, Example</vt:lpstr>
      <vt:lpstr>Resolution</vt:lpstr>
      <vt:lpstr>PowerPoint Presentation</vt:lpstr>
      <vt:lpstr>PowerPoint Presentation</vt:lpstr>
      <vt:lpstr>PowerPoint Presentation</vt:lpstr>
      <vt:lpstr>Resolution, Rayleigh’s Criterion</vt:lpstr>
      <vt:lpstr>Resolution, Rayleigh’s Criterion, Equation</vt:lpstr>
      <vt:lpstr>Circular Apertures</vt:lpstr>
      <vt:lpstr>Circular Apertures, Well Resolved</vt:lpstr>
      <vt:lpstr>Circular Apertures, Just Resolved</vt:lpstr>
      <vt:lpstr>Circular Apertures, Not Resolved</vt:lpstr>
      <vt:lpstr>PowerPoint Presentation</vt:lpstr>
      <vt:lpstr>Resolution, Example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Magnifier</dc:title>
  <dc:creator>rtlines</dc:creator>
  <cp:lastModifiedBy>Todd Lines</cp:lastModifiedBy>
  <cp:revision>9</cp:revision>
  <dcterms:created xsi:type="dcterms:W3CDTF">2011-12-09T16:42:40Z</dcterms:created>
  <dcterms:modified xsi:type="dcterms:W3CDTF">2026-08-26T19:21:53Z</dcterms:modified>
</cp:coreProperties>
</file>