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337" r:id="rId3"/>
    <p:sldId id="338" r:id="rId4"/>
    <p:sldId id="339" r:id="rId5"/>
    <p:sldId id="340" r:id="rId6"/>
    <p:sldId id="341" r:id="rId7"/>
    <p:sldId id="1398" r:id="rId8"/>
    <p:sldId id="258" r:id="rId9"/>
    <p:sldId id="259" r:id="rId10"/>
    <p:sldId id="281" r:id="rId11"/>
    <p:sldId id="282" r:id="rId12"/>
    <p:sldId id="1397" r:id="rId13"/>
    <p:sldId id="1390" r:id="rId14"/>
    <p:sldId id="1391" r:id="rId15"/>
    <p:sldId id="1392" r:id="rId16"/>
    <p:sldId id="1393" r:id="rId17"/>
    <p:sldId id="1394" r:id="rId18"/>
    <p:sldId id="1395" r:id="rId19"/>
    <p:sldId id="261" r:id="rId20"/>
    <p:sldId id="262" r:id="rId21"/>
    <p:sldId id="260" r:id="rId22"/>
    <p:sldId id="264" r:id="rId23"/>
    <p:sldId id="265" r:id="rId24"/>
    <p:sldId id="1396" r:id="rId25"/>
    <p:sldId id="292" r:id="rId26"/>
    <p:sldId id="1399" r:id="rId27"/>
    <p:sldId id="266" r:id="rId28"/>
    <p:sldId id="267" r:id="rId29"/>
    <p:sldId id="257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1" autoAdjust="0"/>
    <p:restoredTop sz="94660"/>
  </p:normalViewPr>
  <p:slideViewPr>
    <p:cSldViewPr snapToGrid="0">
      <p:cViewPr varScale="1">
        <p:scale>
          <a:sx n="51" d="100"/>
          <a:sy n="51" d="100"/>
        </p:scale>
        <p:origin x="96" y="8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dd Lines" userId="afaf7c3a-e8aa-4568-882a-02ad8f9e19b0" providerId="ADAL" clId="{5FF5AC1B-ABA9-43D7-A1E3-2D92732CD6E2}"/>
    <pc:docChg chg="modSld">
      <pc:chgData name="Todd Lines" userId="afaf7c3a-e8aa-4568-882a-02ad8f9e19b0" providerId="ADAL" clId="{5FF5AC1B-ABA9-43D7-A1E3-2D92732CD6E2}" dt="2026-08-26T19:29:09.476" v="1" actId="20577"/>
      <pc:docMkLst>
        <pc:docMk/>
      </pc:docMkLst>
      <pc:sldChg chg="modSp mod">
        <pc:chgData name="Todd Lines" userId="afaf7c3a-e8aa-4568-882a-02ad8f9e19b0" providerId="ADAL" clId="{5FF5AC1B-ABA9-43D7-A1E3-2D92732CD6E2}" dt="2026-08-26T19:29:09.476" v="1" actId="20577"/>
        <pc:sldMkLst>
          <pc:docMk/>
          <pc:sldMk cId="3735458647" sldId="256"/>
        </pc:sldMkLst>
        <pc:spChg chg="mod">
          <ac:chgData name="Todd Lines" userId="afaf7c3a-e8aa-4568-882a-02ad8f9e19b0" providerId="ADAL" clId="{5FF5AC1B-ABA9-43D7-A1E3-2D92732CD6E2}" dt="2026-08-26T19:29:09.476" v="1" actId="20577"/>
          <ac:spMkLst>
            <pc:docMk/>
            <pc:sldMk cId="3735458647" sldId="256"/>
            <ac:spMk id="2" creationId="{7D89CBB1-9548-62E9-F9C8-6EEE29E477D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35A402-DC33-4026-A5D6-FA4DBC86703F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7AFC0E-4947-4DA4-9D85-3E25D3E5B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949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77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C97EAF7-FDA6-4FCF-9BFA-77ED1CC63C6E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843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3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6653" tIns="48326" rIns="96653" bIns="48326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0614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80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A4BD26-79A4-4C91-A125-3C51306F2DD4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844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4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6653" tIns="48326" rIns="96653" bIns="48326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1556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82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C56800A-0521-431A-9067-021CC688FAE6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845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9900" y="727075"/>
            <a:ext cx="6375400" cy="3586163"/>
          </a:xfrm>
          <a:ln/>
        </p:spPr>
      </p:sp>
      <p:sp>
        <p:nvSpPr>
          <p:cNvPr id="845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9963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85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4FD9EBF-BDEA-44E3-BA99-9F017A6469CE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846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81550" cy="3586163"/>
          </a:xfrm>
          <a:ln/>
        </p:spPr>
      </p:sp>
      <p:sp>
        <p:nvSpPr>
          <p:cNvPr id="846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9419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47FCC-BFAA-25C3-E74B-85C76D4BE1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91F439-7109-5D6E-98C8-72130BE0C5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6F39A5-BB20-1D0D-D2B5-EC596E16E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3CA87-7F77-4F2E-8C50-67EE07F57F0E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EAA65-F8E7-AD6C-2F54-732C72FC7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2CF427-80A7-DBF2-EFD8-83E73C367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8EEA4-F741-4958-92C9-D0AA9095D3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570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63775-DFA7-6505-75DC-89D68DA5D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FFB826-2DCF-59D2-B461-56E52BE482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EB7891-1607-3EF2-5F21-5D319334F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3CA87-7F77-4F2E-8C50-67EE07F57F0E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21D069-A57A-C472-BB32-1A3E53C6E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AD1E2-8D6D-D4B3-AB2B-87AA49DC1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8EEA4-F741-4958-92C9-D0AA9095D3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052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15A07-E3E5-6286-3D7A-418C2D6E6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D62191-0DCE-4447-76E9-BBF13FF87A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2E4C3-9565-3770-7F8C-372C2B20F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3CA87-7F77-4F2E-8C50-67EE07F57F0E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83EEF-81AF-3D1D-2019-F3B839868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D280C4-19ED-77BD-897C-D14DA9D94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8EEA4-F741-4958-92C9-D0AA9095D3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678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ACE42-D889-5BD4-E661-1E6AB7E09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AD4A90-9896-24C1-B753-D7F67FDAE2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41153F-060A-9244-58A9-D7DD06CFBB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D4CF5B-1F87-4FC4-669C-2E6E37E0D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3CA87-7F77-4F2E-8C50-67EE07F57F0E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64123D-DDB2-547B-7105-5661B852E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26FA54-F667-0F22-5FAA-ADA101122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8EEA4-F741-4958-92C9-D0AA9095D3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157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F6330-31D3-4B8B-4FBA-EB6D17B5C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B491FF-4630-1377-1033-A153133AD6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218CE9-C086-E13C-C6E6-993544585C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5C56CC-FCC3-4939-F518-6E7E7DA4D3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28DB1D-4ACF-C93C-E0EF-8DC4E36479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C37D89-A574-915E-EF55-257BC600C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3CA87-7F77-4F2E-8C50-67EE07F57F0E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2A311B-A610-A095-C629-FC4F203B1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7CFA15-A9E7-4A89-5B5B-15FAB66E8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8EEA4-F741-4958-92C9-D0AA9095D3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481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CD435-F436-B9D0-5B42-A23C11199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307B11-5E89-07CB-5615-7A2730D94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3CA87-7F77-4F2E-8C50-67EE07F57F0E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7B2A12-17AE-DD72-9C8D-1B316B7CF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ABF7A2-6D97-D398-28B5-5E22AC8C0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8EEA4-F741-4958-92C9-D0AA9095D3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688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FCECCE-93D6-F94C-B0BF-7E14CA434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3CA87-7F77-4F2E-8C50-67EE07F57F0E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C59967-E353-4EE7-B081-C872C2DA7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1EA6CF-D5D1-CF6D-AE95-71569BFE9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8EEA4-F741-4958-92C9-D0AA9095D3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25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7A6FA-E4B1-AFED-654E-F4AB6EC3F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084BF0-2B0F-055C-AF07-F50E6DB89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B76D58-8B9C-56D4-8834-3E22E10700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C0AA17-4F63-BD39-141F-16B517BA5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3CA87-7F77-4F2E-8C50-67EE07F57F0E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E5F221-0832-F27B-3254-119011856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5EF71-8158-50D8-24CE-D3DCBBD93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8EEA4-F741-4958-92C9-D0AA9095D3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878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EF7FF-C145-6159-B9C0-FA07D727B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A4619B-7CD9-AD33-2057-335EA896EB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971A07-0E5C-18A2-7A40-F304D77A0E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D805EC-8D39-1E9B-A676-B613B7B62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3CA87-7F77-4F2E-8C50-67EE07F57F0E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665937-6477-843D-AADA-269F660CA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5CC2A9-D98F-1D15-81E7-4FAFFE8D5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8EEA4-F741-4958-92C9-D0AA9095D3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475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F6C3D-02F5-BE1F-B58F-A4279542A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604AE9-5784-029D-7D1D-5C480B0577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2E2DB8-8EFD-7961-A6C8-B13551D42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3CA87-7F77-4F2E-8C50-67EE07F57F0E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89CCB5-9A65-2A5E-4BD5-14141A6D5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3B525-4A1F-AC38-F926-D05F16CE0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8EEA4-F741-4958-92C9-D0AA9095D3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814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48DF34-F5DC-51F7-753C-0835AADBCC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615778-6B11-9ECD-C689-F16CF57D0E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98E2D0-F6B0-0503-A54A-21401BE73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3CA87-7F77-4F2E-8C50-67EE07F57F0E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C133E6-6E5A-6966-940D-7848AAA28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C361EB-66F8-738C-8CCD-3BA4D0E36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8EEA4-F741-4958-92C9-D0AA9095D3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392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0"/>
            <a:ext cx="86360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R. Todd Lines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1D7B0D-279D-4F93-970A-63C79FA4C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42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693DCE-5CC8-F855-CA74-FD33BC016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19F2C0-F87C-2D51-6104-A8E2217875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347858-F424-FEF1-BCEA-FC451B3BE5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D3CA87-7F77-4F2E-8C50-67EE07F57F0E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545FDE-102B-2D8D-FF9A-A196CBEF14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ACF33F-E558-9786-9043-7014CF437D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88EEA4-F741-4958-92C9-D0AA9095D3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657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jpg"/><Relationship Id="rId4" Type="http://schemas.openxmlformats.org/officeDocument/2006/relationships/image" Target="../media/image22.jp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9CBB1-9548-62E9-F9C8-6EEE29E477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22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B6825F-8637-9310-E45C-189EE78627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458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19536" y="1801506"/>
            <a:ext cx="3230282" cy="3392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6"/>
          <p:cNvSpPr/>
          <p:nvPr/>
        </p:nvSpPr>
        <p:spPr>
          <a:xfrm>
            <a:off x="3082107" y="2975212"/>
            <a:ext cx="1471696" cy="109523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3066197" y="955344"/>
            <a:ext cx="2838734" cy="20062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4553803" y="3848671"/>
            <a:ext cx="5813946" cy="2047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918571" y="965576"/>
            <a:ext cx="4503762" cy="289673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23213" y="988730"/>
            <a:ext cx="4267200" cy="286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A636285-FDDC-FDE3-B4BE-DC102A963C7A}"/>
              </a:ext>
            </a:extLst>
          </p:cNvPr>
          <p:cNvSpPr/>
          <p:nvPr/>
        </p:nvSpPr>
        <p:spPr>
          <a:xfrm rot="19982334">
            <a:off x="7100171" y="3001687"/>
            <a:ext cx="210312" cy="2047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D74AE34-98DA-7187-157B-35209083E0F2}"/>
                  </a:ext>
                </a:extLst>
              </p:cNvPr>
              <p:cNvSpPr txBox="1"/>
              <p:nvPr/>
            </p:nvSpPr>
            <p:spPr>
              <a:xfrm>
                <a:off x="6874545" y="2961564"/>
                <a:ext cx="4894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D74AE34-98DA-7187-157B-35209083E0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4545" y="2961564"/>
                <a:ext cx="489493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9875" name="Rectangle 3"/>
          <p:cNvSpPr>
            <a:spLocks noGrp="1" noChangeArrowheads="1"/>
          </p:cNvSpPr>
          <p:nvPr>
            <p:ph type="title"/>
          </p:nvPr>
        </p:nvSpPr>
        <p:spPr>
          <a:xfrm>
            <a:off x="2184401" y="0"/>
            <a:ext cx="8050213" cy="838200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sz="2800" i="1" dirty="0" err="1"/>
              <a:t>ConcepTest</a:t>
            </a:r>
            <a:r>
              <a:rPr lang="en-US" sz="2800" i="1" dirty="0"/>
              <a:t> 24.3a	</a:t>
            </a:r>
            <a:r>
              <a:rPr lang="en-US" sz="2800" dirty="0">
                <a:solidFill>
                  <a:schemeClr val="accent2"/>
                </a:solidFill>
              </a:rPr>
              <a:t>Double Slits I</a:t>
            </a:r>
          </a:p>
        </p:txBody>
      </p:sp>
      <p:sp>
        <p:nvSpPr>
          <p:cNvPr id="1999897" name="Rectangle 25"/>
          <p:cNvSpPr>
            <a:spLocks noGrp="1" noChangeArrowheads="1"/>
          </p:cNvSpPr>
          <p:nvPr>
            <p:ph idx="1"/>
          </p:nvPr>
        </p:nvSpPr>
        <p:spPr>
          <a:xfrm>
            <a:off x="1755776" y="1301936"/>
            <a:ext cx="4286437" cy="4560981"/>
          </a:xfrm>
        </p:spPr>
        <p:txBody>
          <a:bodyPr/>
          <a:lstStyle/>
          <a:p>
            <a:pPr marL="401638" indent="-401638">
              <a:lnSpc>
                <a:spcPct val="140000"/>
              </a:lnSpc>
              <a:buNone/>
              <a:defRPr/>
            </a:pPr>
            <a:r>
              <a:rPr lang="en-US" sz="2200" b="1" dirty="0"/>
              <a:t>	</a:t>
            </a:r>
            <a:r>
              <a:rPr lang="en-US" b="1" dirty="0"/>
              <a:t>In a double-slit experiment, when the </a:t>
            </a:r>
            <a:r>
              <a:rPr lang="en-US" b="1" dirty="0">
                <a:solidFill>
                  <a:schemeClr val="accent2"/>
                </a:solidFill>
              </a:rPr>
              <a:t>wavelength</a:t>
            </a:r>
            <a:r>
              <a:rPr lang="en-US" b="1" dirty="0"/>
              <a:t> of the light is </a:t>
            </a:r>
            <a:r>
              <a:rPr lang="en-US" b="1" dirty="0">
                <a:solidFill>
                  <a:schemeClr val="accent2"/>
                </a:solidFill>
              </a:rPr>
              <a:t>increased</a:t>
            </a:r>
            <a:r>
              <a:rPr lang="en-US" b="1" dirty="0"/>
              <a:t>, the interference pattern</a:t>
            </a:r>
            <a:r>
              <a:rPr lang="en-US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</a:p>
        </p:txBody>
      </p:sp>
      <p:sp>
        <p:nvSpPr>
          <p:cNvPr id="1999876" name="Rectangle 4"/>
          <p:cNvSpPr>
            <a:spLocks noChangeArrowheads="1"/>
          </p:cNvSpPr>
          <p:nvPr/>
        </p:nvSpPr>
        <p:spPr bwMode="auto">
          <a:xfrm>
            <a:off x="6634163" y="1379724"/>
            <a:ext cx="3763962" cy="24012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457200" indent="-457200">
              <a:lnSpc>
                <a:spcPct val="110000"/>
              </a:lnSpc>
              <a:spcBef>
                <a:spcPct val="50000"/>
              </a:spcBef>
              <a:buFont typeface="+mj-lt"/>
              <a:buAutoNum type="alphaLcParenR"/>
              <a:defRPr/>
            </a:pPr>
            <a:r>
              <a:rPr lang="en-US" sz="2000" b="1" dirty="0">
                <a:solidFill>
                  <a:schemeClr val="tx2"/>
                </a:solidFill>
              </a:rPr>
              <a:t>spreads out</a:t>
            </a:r>
          </a:p>
          <a:p>
            <a:pPr marL="457200" indent="-457200">
              <a:lnSpc>
                <a:spcPct val="110000"/>
              </a:lnSpc>
              <a:spcBef>
                <a:spcPct val="50000"/>
              </a:spcBef>
              <a:buFont typeface="+mj-lt"/>
              <a:buAutoNum type="alphaLcParenR"/>
              <a:defRPr/>
            </a:pPr>
            <a:r>
              <a:rPr lang="en-US" sz="2000" b="1" dirty="0">
                <a:solidFill>
                  <a:schemeClr val="tx2"/>
                </a:solidFill>
              </a:rPr>
              <a:t>stays the same </a:t>
            </a:r>
            <a:endParaRPr lang="en-US" sz="2000" b="1" baseline="30000" dirty="0">
              <a:solidFill>
                <a:schemeClr val="tx2"/>
              </a:solidFill>
            </a:endParaRPr>
          </a:p>
          <a:p>
            <a:pPr marL="457200" indent="-457200">
              <a:lnSpc>
                <a:spcPct val="110000"/>
              </a:lnSpc>
              <a:spcBef>
                <a:spcPct val="50000"/>
              </a:spcBef>
              <a:buFont typeface="+mj-lt"/>
              <a:buAutoNum type="alphaLcParenR"/>
              <a:defRPr/>
            </a:pPr>
            <a:r>
              <a:rPr lang="en-US" sz="2000" b="1" dirty="0">
                <a:solidFill>
                  <a:schemeClr val="tx2"/>
                </a:solidFill>
              </a:rPr>
              <a:t>shrinks together</a:t>
            </a:r>
          </a:p>
          <a:p>
            <a:pPr marL="457200" indent="-457200">
              <a:lnSpc>
                <a:spcPct val="110000"/>
              </a:lnSpc>
              <a:spcBef>
                <a:spcPct val="50000"/>
              </a:spcBef>
              <a:buFont typeface="+mj-lt"/>
              <a:buAutoNum type="alphaLcParenR"/>
              <a:defRPr/>
            </a:pPr>
            <a:r>
              <a:rPr lang="en-US" sz="2000" b="1" dirty="0">
                <a:solidFill>
                  <a:schemeClr val="tx2"/>
                </a:solidFill>
              </a:rPr>
              <a:t>disappears</a:t>
            </a:r>
            <a:endParaRPr lang="en-US" sz="2000" b="1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285750" indent="-285750">
              <a:lnSpc>
                <a:spcPct val="110000"/>
              </a:lnSpc>
              <a:spcBef>
                <a:spcPct val="50000"/>
              </a:spcBef>
              <a:defRPr/>
            </a:pPr>
            <a:endParaRPr lang="en-US" sz="2000" b="1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5661025" y="3424238"/>
            <a:ext cx="3843338" cy="3103562"/>
            <a:chOff x="2606" y="2157"/>
            <a:chExt cx="2421" cy="1955"/>
          </a:xfrm>
        </p:grpSpPr>
        <p:sp>
          <p:nvSpPr>
            <p:cNvPr id="378887" name="AutoShape 6"/>
            <p:cNvSpPr>
              <a:spLocks noChangeArrowheads="1"/>
            </p:cNvSpPr>
            <p:nvPr/>
          </p:nvSpPr>
          <p:spPr bwMode="auto">
            <a:xfrm>
              <a:off x="2606" y="2996"/>
              <a:ext cx="179" cy="296"/>
            </a:xfrm>
            <a:prstGeom prst="cube">
              <a:avLst>
                <a:gd name="adj" fmla="val 35593"/>
              </a:avLst>
            </a:prstGeom>
            <a:noFill/>
            <a:ln w="38100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78888" name="Line 7"/>
            <p:cNvSpPr>
              <a:spLocks noChangeShapeType="1"/>
            </p:cNvSpPr>
            <p:nvPr/>
          </p:nvSpPr>
          <p:spPr bwMode="auto">
            <a:xfrm>
              <a:off x="3223" y="3144"/>
              <a:ext cx="794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grpSp>
          <p:nvGrpSpPr>
            <p:cNvPr id="3" name="Group 8"/>
            <p:cNvGrpSpPr>
              <a:grpSpLocks/>
            </p:cNvGrpSpPr>
            <p:nvPr/>
          </p:nvGrpSpPr>
          <p:grpSpPr bwMode="auto">
            <a:xfrm rot="-5400000">
              <a:off x="3821" y="2906"/>
              <a:ext cx="1955" cy="457"/>
              <a:chOff x="2855" y="192"/>
              <a:chExt cx="2504" cy="896"/>
            </a:xfrm>
          </p:grpSpPr>
          <p:sp>
            <p:nvSpPr>
              <p:cNvPr id="378895" name="Freeform 9"/>
              <p:cNvSpPr>
                <a:spLocks/>
              </p:cNvSpPr>
              <p:nvPr/>
            </p:nvSpPr>
            <p:spPr bwMode="auto">
              <a:xfrm>
                <a:off x="3953" y="192"/>
                <a:ext cx="312" cy="896"/>
              </a:xfrm>
              <a:custGeom>
                <a:avLst/>
                <a:gdLst>
                  <a:gd name="T0" fmla="*/ 0 w 272"/>
                  <a:gd name="T1" fmla="*/ 724992 h 168"/>
                  <a:gd name="T2" fmla="*/ 1 w 272"/>
                  <a:gd name="T3" fmla="*/ 724992 h 168"/>
                  <a:gd name="T4" fmla="*/ 2 w 272"/>
                  <a:gd name="T5" fmla="*/ 724992 h 168"/>
                  <a:gd name="T6" fmla="*/ 3 w 272"/>
                  <a:gd name="T7" fmla="*/ 724992 h 168"/>
                  <a:gd name="T8" fmla="*/ 10 w 272"/>
                  <a:gd name="T9" fmla="*/ 724992 h 168"/>
                  <a:gd name="T10" fmla="*/ 15 w 272"/>
                  <a:gd name="T11" fmla="*/ 720896 h 168"/>
                  <a:gd name="T12" fmla="*/ 28 w 272"/>
                  <a:gd name="T13" fmla="*/ 708011 h 168"/>
                  <a:gd name="T14" fmla="*/ 45 w 272"/>
                  <a:gd name="T15" fmla="*/ 677205 h 168"/>
                  <a:gd name="T16" fmla="*/ 91 w 272"/>
                  <a:gd name="T17" fmla="*/ 543717 h 168"/>
                  <a:gd name="T18" fmla="*/ 134 w 272"/>
                  <a:gd name="T19" fmla="*/ 362411 h 168"/>
                  <a:gd name="T20" fmla="*/ 179 w 272"/>
                  <a:gd name="T21" fmla="*/ 177179 h 168"/>
                  <a:gd name="T22" fmla="*/ 214 w 272"/>
                  <a:gd name="T23" fmla="*/ 73584 h 168"/>
                  <a:gd name="T24" fmla="*/ 239 w 272"/>
                  <a:gd name="T25" fmla="*/ 21845 h 168"/>
                  <a:gd name="T26" fmla="*/ 248 w 272"/>
                  <a:gd name="T27" fmla="*/ 8960 h 168"/>
                  <a:gd name="T28" fmla="*/ 256 w 272"/>
                  <a:gd name="T29" fmla="*/ 4096 h 168"/>
                  <a:gd name="T30" fmla="*/ 259 w 272"/>
                  <a:gd name="T31" fmla="*/ 0 h 168"/>
                  <a:gd name="T32" fmla="*/ 265 w 272"/>
                  <a:gd name="T33" fmla="*/ 0 h 168"/>
                  <a:gd name="T34" fmla="*/ 267 w 272"/>
                  <a:gd name="T35" fmla="*/ 0 h 168"/>
                  <a:gd name="T36" fmla="*/ 268 w 272"/>
                  <a:gd name="T37" fmla="*/ 0 h 168"/>
                  <a:gd name="T38" fmla="*/ 270 w 272"/>
                  <a:gd name="T39" fmla="*/ 0 h 168"/>
                  <a:gd name="T40" fmla="*/ 270 w 272"/>
                  <a:gd name="T41" fmla="*/ 0 h 168"/>
                  <a:gd name="T42" fmla="*/ 271 w 272"/>
                  <a:gd name="T43" fmla="*/ 0 h 168"/>
                  <a:gd name="T44" fmla="*/ 274 w 272"/>
                  <a:gd name="T45" fmla="*/ 0 h 168"/>
                  <a:gd name="T46" fmla="*/ 275 w 272"/>
                  <a:gd name="T47" fmla="*/ 0 h 168"/>
                  <a:gd name="T48" fmla="*/ 280 w 272"/>
                  <a:gd name="T49" fmla="*/ 0 h 168"/>
                  <a:gd name="T50" fmla="*/ 287 w 272"/>
                  <a:gd name="T51" fmla="*/ 8960 h 168"/>
                  <a:gd name="T52" fmla="*/ 304 w 272"/>
                  <a:gd name="T53" fmla="*/ 25941 h 168"/>
                  <a:gd name="T54" fmla="*/ 338 w 272"/>
                  <a:gd name="T55" fmla="*/ 107547 h 168"/>
                  <a:gd name="T56" fmla="*/ 382 w 272"/>
                  <a:gd name="T57" fmla="*/ 271845 h 168"/>
                  <a:gd name="T58" fmla="*/ 428 w 272"/>
                  <a:gd name="T59" fmla="*/ 453147 h 168"/>
                  <a:gd name="T60" fmla="*/ 473 w 272"/>
                  <a:gd name="T61" fmla="*/ 617275 h 168"/>
                  <a:gd name="T62" fmla="*/ 496 w 272"/>
                  <a:gd name="T63" fmla="*/ 677205 h 168"/>
                  <a:gd name="T64" fmla="*/ 514 w 272"/>
                  <a:gd name="T65" fmla="*/ 708011 h 168"/>
                  <a:gd name="T66" fmla="*/ 525 w 272"/>
                  <a:gd name="T67" fmla="*/ 720896 h 168"/>
                  <a:gd name="T68" fmla="*/ 531 w 272"/>
                  <a:gd name="T69" fmla="*/ 724992 h 168"/>
                  <a:gd name="T70" fmla="*/ 537 w 272"/>
                  <a:gd name="T71" fmla="*/ 724992 h 168"/>
                  <a:gd name="T72" fmla="*/ 538 w 272"/>
                  <a:gd name="T73" fmla="*/ 724992 h 168"/>
                  <a:gd name="T74" fmla="*/ 538 w 272"/>
                  <a:gd name="T75" fmla="*/ 724992 h 168"/>
                  <a:gd name="T76" fmla="*/ 540 w 272"/>
                  <a:gd name="T77" fmla="*/ 724992 h 168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272"/>
                  <a:gd name="T118" fmla="*/ 0 h 168"/>
                  <a:gd name="T119" fmla="*/ 272 w 272"/>
                  <a:gd name="T120" fmla="*/ 168 h 168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272" h="168">
                    <a:moveTo>
                      <a:pt x="0" y="168"/>
                    </a:moveTo>
                    <a:lnTo>
                      <a:pt x="0" y="168"/>
                    </a:lnTo>
                    <a:lnTo>
                      <a:pt x="1" y="168"/>
                    </a:lnTo>
                    <a:lnTo>
                      <a:pt x="2" y="168"/>
                    </a:lnTo>
                    <a:lnTo>
                      <a:pt x="3" y="168"/>
                    </a:lnTo>
                    <a:lnTo>
                      <a:pt x="4" y="168"/>
                    </a:lnTo>
                    <a:lnTo>
                      <a:pt x="5" y="168"/>
                    </a:lnTo>
                    <a:lnTo>
                      <a:pt x="6" y="167"/>
                    </a:lnTo>
                    <a:lnTo>
                      <a:pt x="8" y="167"/>
                    </a:lnTo>
                    <a:lnTo>
                      <a:pt x="11" y="166"/>
                    </a:lnTo>
                    <a:lnTo>
                      <a:pt x="14" y="164"/>
                    </a:lnTo>
                    <a:lnTo>
                      <a:pt x="17" y="162"/>
                    </a:lnTo>
                    <a:lnTo>
                      <a:pt x="23" y="157"/>
                    </a:lnTo>
                    <a:lnTo>
                      <a:pt x="34" y="143"/>
                    </a:lnTo>
                    <a:lnTo>
                      <a:pt x="45" y="126"/>
                    </a:lnTo>
                    <a:lnTo>
                      <a:pt x="57" y="105"/>
                    </a:lnTo>
                    <a:lnTo>
                      <a:pt x="68" y="84"/>
                    </a:lnTo>
                    <a:lnTo>
                      <a:pt x="80" y="61"/>
                    </a:lnTo>
                    <a:lnTo>
                      <a:pt x="91" y="41"/>
                    </a:lnTo>
                    <a:lnTo>
                      <a:pt x="102" y="24"/>
                    </a:lnTo>
                    <a:lnTo>
                      <a:pt x="108" y="17"/>
                    </a:lnTo>
                    <a:lnTo>
                      <a:pt x="114" y="10"/>
                    </a:lnTo>
                    <a:lnTo>
                      <a:pt x="120" y="5"/>
                    </a:lnTo>
                    <a:lnTo>
                      <a:pt x="123" y="4"/>
                    </a:lnTo>
                    <a:lnTo>
                      <a:pt x="125" y="2"/>
                    </a:lnTo>
                    <a:lnTo>
                      <a:pt x="127" y="2"/>
                    </a:lnTo>
                    <a:lnTo>
                      <a:pt x="128" y="1"/>
                    </a:lnTo>
                    <a:lnTo>
                      <a:pt x="130" y="1"/>
                    </a:lnTo>
                    <a:lnTo>
                      <a:pt x="131" y="0"/>
                    </a:lnTo>
                    <a:lnTo>
                      <a:pt x="132" y="0"/>
                    </a:lnTo>
                    <a:lnTo>
                      <a:pt x="133" y="0"/>
                    </a:lnTo>
                    <a:lnTo>
                      <a:pt x="134" y="0"/>
                    </a:lnTo>
                    <a:lnTo>
                      <a:pt x="135" y="0"/>
                    </a:lnTo>
                    <a:lnTo>
                      <a:pt x="136" y="0"/>
                    </a:lnTo>
                    <a:lnTo>
                      <a:pt x="137" y="0"/>
                    </a:lnTo>
                    <a:lnTo>
                      <a:pt x="138" y="0"/>
                    </a:lnTo>
                    <a:lnTo>
                      <a:pt x="139" y="0"/>
                    </a:lnTo>
                    <a:lnTo>
                      <a:pt x="141" y="0"/>
                    </a:lnTo>
                    <a:lnTo>
                      <a:pt x="142" y="1"/>
                    </a:lnTo>
                    <a:lnTo>
                      <a:pt x="145" y="2"/>
                    </a:lnTo>
                    <a:lnTo>
                      <a:pt x="148" y="3"/>
                    </a:lnTo>
                    <a:lnTo>
                      <a:pt x="153" y="6"/>
                    </a:lnTo>
                    <a:lnTo>
                      <a:pt x="159" y="11"/>
                    </a:lnTo>
                    <a:lnTo>
                      <a:pt x="170" y="25"/>
                    </a:lnTo>
                    <a:lnTo>
                      <a:pt x="181" y="42"/>
                    </a:lnTo>
                    <a:lnTo>
                      <a:pt x="193" y="63"/>
                    </a:lnTo>
                    <a:lnTo>
                      <a:pt x="204" y="84"/>
                    </a:lnTo>
                    <a:lnTo>
                      <a:pt x="215" y="105"/>
                    </a:lnTo>
                    <a:lnTo>
                      <a:pt x="227" y="126"/>
                    </a:lnTo>
                    <a:lnTo>
                      <a:pt x="238" y="143"/>
                    </a:lnTo>
                    <a:lnTo>
                      <a:pt x="244" y="151"/>
                    </a:lnTo>
                    <a:lnTo>
                      <a:pt x="250" y="157"/>
                    </a:lnTo>
                    <a:lnTo>
                      <a:pt x="256" y="162"/>
                    </a:lnTo>
                    <a:lnTo>
                      <a:pt x="259" y="164"/>
                    </a:lnTo>
                    <a:lnTo>
                      <a:pt x="261" y="166"/>
                    </a:lnTo>
                    <a:lnTo>
                      <a:pt x="264" y="167"/>
                    </a:lnTo>
                    <a:lnTo>
                      <a:pt x="267" y="167"/>
                    </a:lnTo>
                    <a:lnTo>
                      <a:pt x="268" y="168"/>
                    </a:lnTo>
                    <a:lnTo>
                      <a:pt x="269" y="168"/>
                    </a:lnTo>
                    <a:lnTo>
                      <a:pt x="270" y="168"/>
                    </a:lnTo>
                    <a:lnTo>
                      <a:pt x="271" y="168"/>
                    </a:lnTo>
                    <a:lnTo>
                      <a:pt x="272" y="168"/>
                    </a:lnTo>
                  </a:path>
                </a:pathLst>
              </a:cu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" name="Group 10"/>
              <p:cNvGrpSpPr>
                <a:grpSpLocks/>
              </p:cNvGrpSpPr>
              <p:nvPr/>
            </p:nvGrpSpPr>
            <p:grpSpPr bwMode="auto">
              <a:xfrm>
                <a:off x="4264" y="422"/>
                <a:ext cx="1095" cy="666"/>
                <a:chOff x="4920" y="3603"/>
                <a:chExt cx="688" cy="435"/>
              </a:xfrm>
            </p:grpSpPr>
            <p:sp>
              <p:nvSpPr>
                <p:cNvPr id="378902" name="Freeform 11"/>
                <p:cNvSpPr>
                  <a:spLocks/>
                </p:cNvSpPr>
                <p:nvPr/>
              </p:nvSpPr>
              <p:spPr bwMode="auto">
                <a:xfrm>
                  <a:off x="4920" y="3603"/>
                  <a:ext cx="172" cy="435"/>
                </a:xfrm>
                <a:custGeom>
                  <a:avLst/>
                  <a:gdLst>
                    <a:gd name="T0" fmla="*/ 0 w 272"/>
                    <a:gd name="T1" fmla="*/ 19549 h 168"/>
                    <a:gd name="T2" fmla="*/ 1 w 272"/>
                    <a:gd name="T3" fmla="*/ 19549 h 168"/>
                    <a:gd name="T4" fmla="*/ 1 w 272"/>
                    <a:gd name="T5" fmla="*/ 19549 h 168"/>
                    <a:gd name="T6" fmla="*/ 1 w 272"/>
                    <a:gd name="T7" fmla="*/ 19549 h 168"/>
                    <a:gd name="T8" fmla="*/ 1 w 272"/>
                    <a:gd name="T9" fmla="*/ 19549 h 168"/>
                    <a:gd name="T10" fmla="*/ 1 w 272"/>
                    <a:gd name="T11" fmla="*/ 19422 h 168"/>
                    <a:gd name="T12" fmla="*/ 2 w 272"/>
                    <a:gd name="T13" fmla="*/ 19093 h 168"/>
                    <a:gd name="T14" fmla="*/ 3 w 272"/>
                    <a:gd name="T15" fmla="*/ 18296 h 168"/>
                    <a:gd name="T16" fmla="*/ 4 w 272"/>
                    <a:gd name="T17" fmla="*/ 14650 h 168"/>
                    <a:gd name="T18" fmla="*/ 7 w 272"/>
                    <a:gd name="T19" fmla="*/ 9787 h 168"/>
                    <a:gd name="T20" fmla="*/ 9 w 272"/>
                    <a:gd name="T21" fmla="*/ 4754 h 168"/>
                    <a:gd name="T22" fmla="*/ 11 w 272"/>
                    <a:gd name="T23" fmla="*/ 1978 h 168"/>
                    <a:gd name="T24" fmla="*/ 12 w 272"/>
                    <a:gd name="T25" fmla="*/ 590 h 168"/>
                    <a:gd name="T26" fmla="*/ 13 w 272"/>
                    <a:gd name="T27" fmla="*/ 228 h 168"/>
                    <a:gd name="T28" fmla="*/ 13 w 272"/>
                    <a:gd name="T29" fmla="*/ 140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228 h 168"/>
                    <a:gd name="T52" fmla="*/ 16 w 272"/>
                    <a:gd name="T53" fmla="*/ 709 h 168"/>
                    <a:gd name="T54" fmla="*/ 17 w 272"/>
                    <a:gd name="T55" fmla="*/ 2916 h 168"/>
                    <a:gd name="T56" fmla="*/ 20 w 272"/>
                    <a:gd name="T57" fmla="*/ 7328 h 168"/>
                    <a:gd name="T58" fmla="*/ 22 w 272"/>
                    <a:gd name="T59" fmla="*/ 12221 h 168"/>
                    <a:gd name="T60" fmla="*/ 24 w 272"/>
                    <a:gd name="T61" fmla="*/ 16634 h 168"/>
                    <a:gd name="T62" fmla="*/ 25 w 272"/>
                    <a:gd name="T63" fmla="*/ 18296 h 168"/>
                    <a:gd name="T64" fmla="*/ 27 w 272"/>
                    <a:gd name="T65" fmla="*/ 19093 h 168"/>
                    <a:gd name="T66" fmla="*/ 27 w 272"/>
                    <a:gd name="T67" fmla="*/ 19422 h 168"/>
                    <a:gd name="T68" fmla="*/ 27 w 272"/>
                    <a:gd name="T69" fmla="*/ 19549 h 168"/>
                    <a:gd name="T70" fmla="*/ 27 w 272"/>
                    <a:gd name="T71" fmla="*/ 19549 h 168"/>
                    <a:gd name="T72" fmla="*/ 27 w 272"/>
                    <a:gd name="T73" fmla="*/ 19549 h 168"/>
                    <a:gd name="T74" fmla="*/ 27 w 272"/>
                    <a:gd name="T75" fmla="*/ 19549 h 168"/>
                    <a:gd name="T76" fmla="*/ 28 w 272"/>
                    <a:gd name="T77" fmla="*/ 19549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8903" name="Freeform 12"/>
                <p:cNvSpPr>
                  <a:spLocks/>
                </p:cNvSpPr>
                <p:nvPr/>
              </p:nvSpPr>
              <p:spPr bwMode="auto">
                <a:xfrm>
                  <a:off x="5094" y="3729"/>
                  <a:ext cx="172" cy="309"/>
                </a:xfrm>
                <a:custGeom>
                  <a:avLst/>
                  <a:gdLst>
                    <a:gd name="T0" fmla="*/ 0 w 272"/>
                    <a:gd name="T1" fmla="*/ 3535 h 168"/>
                    <a:gd name="T2" fmla="*/ 1 w 272"/>
                    <a:gd name="T3" fmla="*/ 3535 h 168"/>
                    <a:gd name="T4" fmla="*/ 1 w 272"/>
                    <a:gd name="T5" fmla="*/ 3535 h 168"/>
                    <a:gd name="T6" fmla="*/ 1 w 272"/>
                    <a:gd name="T7" fmla="*/ 3535 h 168"/>
                    <a:gd name="T8" fmla="*/ 1 w 272"/>
                    <a:gd name="T9" fmla="*/ 3535 h 168"/>
                    <a:gd name="T10" fmla="*/ 1 w 272"/>
                    <a:gd name="T11" fmla="*/ 3515 h 168"/>
                    <a:gd name="T12" fmla="*/ 2 w 272"/>
                    <a:gd name="T13" fmla="*/ 3454 h 168"/>
                    <a:gd name="T14" fmla="*/ 3 w 272"/>
                    <a:gd name="T15" fmla="*/ 3313 h 168"/>
                    <a:gd name="T16" fmla="*/ 4 w 272"/>
                    <a:gd name="T17" fmla="*/ 2656 h 168"/>
                    <a:gd name="T18" fmla="*/ 7 w 272"/>
                    <a:gd name="T19" fmla="*/ 1773 h 168"/>
                    <a:gd name="T20" fmla="*/ 9 w 272"/>
                    <a:gd name="T21" fmla="*/ 859 h 168"/>
                    <a:gd name="T22" fmla="*/ 11 w 272"/>
                    <a:gd name="T23" fmla="*/ 355 h 168"/>
                    <a:gd name="T24" fmla="*/ 12 w 272"/>
                    <a:gd name="T25" fmla="*/ 105 h 168"/>
                    <a:gd name="T26" fmla="*/ 13 w 272"/>
                    <a:gd name="T27" fmla="*/ 44 h 168"/>
                    <a:gd name="T28" fmla="*/ 13 w 272"/>
                    <a:gd name="T29" fmla="*/ 24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44 h 168"/>
                    <a:gd name="T52" fmla="*/ 16 w 272"/>
                    <a:gd name="T53" fmla="*/ 125 h 168"/>
                    <a:gd name="T54" fmla="*/ 17 w 272"/>
                    <a:gd name="T55" fmla="*/ 528 h 168"/>
                    <a:gd name="T56" fmla="*/ 20 w 272"/>
                    <a:gd name="T57" fmla="*/ 1326 h 168"/>
                    <a:gd name="T58" fmla="*/ 22 w 272"/>
                    <a:gd name="T59" fmla="*/ 2209 h 168"/>
                    <a:gd name="T60" fmla="*/ 24 w 272"/>
                    <a:gd name="T61" fmla="*/ 3011 h 168"/>
                    <a:gd name="T62" fmla="*/ 25 w 272"/>
                    <a:gd name="T63" fmla="*/ 3313 h 168"/>
                    <a:gd name="T64" fmla="*/ 27 w 272"/>
                    <a:gd name="T65" fmla="*/ 3454 h 168"/>
                    <a:gd name="T66" fmla="*/ 27 w 272"/>
                    <a:gd name="T67" fmla="*/ 3515 h 168"/>
                    <a:gd name="T68" fmla="*/ 27 w 272"/>
                    <a:gd name="T69" fmla="*/ 3535 h 168"/>
                    <a:gd name="T70" fmla="*/ 27 w 272"/>
                    <a:gd name="T71" fmla="*/ 3535 h 168"/>
                    <a:gd name="T72" fmla="*/ 27 w 272"/>
                    <a:gd name="T73" fmla="*/ 3535 h 168"/>
                    <a:gd name="T74" fmla="*/ 27 w 272"/>
                    <a:gd name="T75" fmla="*/ 3535 h 168"/>
                    <a:gd name="T76" fmla="*/ 28 w 272"/>
                    <a:gd name="T77" fmla="*/ 3535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8904" name="Freeform 13"/>
                <p:cNvSpPr>
                  <a:spLocks/>
                </p:cNvSpPr>
                <p:nvPr/>
              </p:nvSpPr>
              <p:spPr bwMode="auto">
                <a:xfrm>
                  <a:off x="5268" y="3873"/>
                  <a:ext cx="172" cy="165"/>
                </a:xfrm>
                <a:custGeom>
                  <a:avLst/>
                  <a:gdLst>
                    <a:gd name="T0" fmla="*/ 0 w 272"/>
                    <a:gd name="T1" fmla="*/ 153 h 168"/>
                    <a:gd name="T2" fmla="*/ 1 w 272"/>
                    <a:gd name="T3" fmla="*/ 153 h 168"/>
                    <a:gd name="T4" fmla="*/ 1 w 272"/>
                    <a:gd name="T5" fmla="*/ 153 h 168"/>
                    <a:gd name="T6" fmla="*/ 1 w 272"/>
                    <a:gd name="T7" fmla="*/ 153 h 168"/>
                    <a:gd name="T8" fmla="*/ 1 w 272"/>
                    <a:gd name="T9" fmla="*/ 153 h 168"/>
                    <a:gd name="T10" fmla="*/ 1 w 272"/>
                    <a:gd name="T11" fmla="*/ 152 h 168"/>
                    <a:gd name="T12" fmla="*/ 2 w 272"/>
                    <a:gd name="T13" fmla="*/ 149 h 168"/>
                    <a:gd name="T14" fmla="*/ 3 w 272"/>
                    <a:gd name="T15" fmla="*/ 142 h 168"/>
                    <a:gd name="T16" fmla="*/ 4 w 272"/>
                    <a:gd name="T17" fmla="*/ 116 h 168"/>
                    <a:gd name="T18" fmla="*/ 7 w 272"/>
                    <a:gd name="T19" fmla="*/ 79 h 168"/>
                    <a:gd name="T20" fmla="*/ 9 w 272"/>
                    <a:gd name="T21" fmla="*/ 36 h 168"/>
                    <a:gd name="T22" fmla="*/ 11 w 272"/>
                    <a:gd name="T23" fmla="*/ 17 h 168"/>
                    <a:gd name="T24" fmla="*/ 12 w 272"/>
                    <a:gd name="T25" fmla="*/ 5 h 168"/>
                    <a:gd name="T26" fmla="*/ 13 w 272"/>
                    <a:gd name="T27" fmla="*/ 2 h 168"/>
                    <a:gd name="T28" fmla="*/ 13 w 272"/>
                    <a:gd name="T29" fmla="*/ 1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2 h 168"/>
                    <a:gd name="T52" fmla="*/ 16 w 272"/>
                    <a:gd name="T53" fmla="*/ 6 h 168"/>
                    <a:gd name="T54" fmla="*/ 17 w 272"/>
                    <a:gd name="T55" fmla="*/ 25 h 168"/>
                    <a:gd name="T56" fmla="*/ 20 w 272"/>
                    <a:gd name="T57" fmla="*/ 58 h 168"/>
                    <a:gd name="T58" fmla="*/ 22 w 272"/>
                    <a:gd name="T59" fmla="*/ 95 h 168"/>
                    <a:gd name="T60" fmla="*/ 24 w 272"/>
                    <a:gd name="T61" fmla="*/ 132 h 168"/>
                    <a:gd name="T62" fmla="*/ 25 w 272"/>
                    <a:gd name="T63" fmla="*/ 142 h 168"/>
                    <a:gd name="T64" fmla="*/ 27 w 272"/>
                    <a:gd name="T65" fmla="*/ 149 h 168"/>
                    <a:gd name="T66" fmla="*/ 27 w 272"/>
                    <a:gd name="T67" fmla="*/ 152 h 168"/>
                    <a:gd name="T68" fmla="*/ 27 w 272"/>
                    <a:gd name="T69" fmla="*/ 153 h 168"/>
                    <a:gd name="T70" fmla="*/ 27 w 272"/>
                    <a:gd name="T71" fmla="*/ 153 h 168"/>
                    <a:gd name="T72" fmla="*/ 27 w 272"/>
                    <a:gd name="T73" fmla="*/ 153 h 168"/>
                    <a:gd name="T74" fmla="*/ 27 w 272"/>
                    <a:gd name="T75" fmla="*/ 153 h 168"/>
                    <a:gd name="T76" fmla="*/ 28 w 272"/>
                    <a:gd name="T77" fmla="*/ 153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8905" name="Freeform 14"/>
                <p:cNvSpPr>
                  <a:spLocks/>
                </p:cNvSpPr>
                <p:nvPr/>
              </p:nvSpPr>
              <p:spPr bwMode="auto">
                <a:xfrm>
                  <a:off x="5436" y="3975"/>
                  <a:ext cx="172" cy="63"/>
                </a:xfrm>
                <a:custGeom>
                  <a:avLst/>
                  <a:gdLst>
                    <a:gd name="T0" fmla="*/ 0 w 272"/>
                    <a:gd name="T1" fmla="*/ 1 h 168"/>
                    <a:gd name="T2" fmla="*/ 1 w 272"/>
                    <a:gd name="T3" fmla="*/ 1 h 168"/>
                    <a:gd name="T4" fmla="*/ 1 w 272"/>
                    <a:gd name="T5" fmla="*/ 1 h 168"/>
                    <a:gd name="T6" fmla="*/ 1 w 272"/>
                    <a:gd name="T7" fmla="*/ 1 h 168"/>
                    <a:gd name="T8" fmla="*/ 1 w 272"/>
                    <a:gd name="T9" fmla="*/ 1 h 168"/>
                    <a:gd name="T10" fmla="*/ 1 w 272"/>
                    <a:gd name="T11" fmla="*/ 1 h 168"/>
                    <a:gd name="T12" fmla="*/ 2 w 272"/>
                    <a:gd name="T13" fmla="*/ 1 h 168"/>
                    <a:gd name="T14" fmla="*/ 3 w 272"/>
                    <a:gd name="T15" fmla="*/ 1 h 168"/>
                    <a:gd name="T16" fmla="*/ 4 w 272"/>
                    <a:gd name="T17" fmla="*/ 1 h 168"/>
                    <a:gd name="T18" fmla="*/ 7 w 272"/>
                    <a:gd name="T19" fmla="*/ 1 h 168"/>
                    <a:gd name="T20" fmla="*/ 9 w 272"/>
                    <a:gd name="T21" fmla="*/ 0 h 168"/>
                    <a:gd name="T22" fmla="*/ 11 w 272"/>
                    <a:gd name="T23" fmla="*/ 0 h 168"/>
                    <a:gd name="T24" fmla="*/ 12 w 272"/>
                    <a:gd name="T25" fmla="*/ 0 h 168"/>
                    <a:gd name="T26" fmla="*/ 13 w 272"/>
                    <a:gd name="T27" fmla="*/ 0 h 168"/>
                    <a:gd name="T28" fmla="*/ 13 w 272"/>
                    <a:gd name="T29" fmla="*/ 0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0 h 168"/>
                    <a:gd name="T52" fmla="*/ 16 w 272"/>
                    <a:gd name="T53" fmla="*/ 0 h 168"/>
                    <a:gd name="T54" fmla="*/ 17 w 272"/>
                    <a:gd name="T55" fmla="*/ 0 h 168"/>
                    <a:gd name="T56" fmla="*/ 20 w 272"/>
                    <a:gd name="T57" fmla="*/ 0 h 168"/>
                    <a:gd name="T58" fmla="*/ 22 w 272"/>
                    <a:gd name="T59" fmla="*/ 1 h 168"/>
                    <a:gd name="T60" fmla="*/ 24 w 272"/>
                    <a:gd name="T61" fmla="*/ 1 h 168"/>
                    <a:gd name="T62" fmla="*/ 25 w 272"/>
                    <a:gd name="T63" fmla="*/ 1 h 168"/>
                    <a:gd name="T64" fmla="*/ 27 w 272"/>
                    <a:gd name="T65" fmla="*/ 1 h 168"/>
                    <a:gd name="T66" fmla="*/ 27 w 272"/>
                    <a:gd name="T67" fmla="*/ 1 h 168"/>
                    <a:gd name="T68" fmla="*/ 27 w 272"/>
                    <a:gd name="T69" fmla="*/ 1 h 168"/>
                    <a:gd name="T70" fmla="*/ 27 w 272"/>
                    <a:gd name="T71" fmla="*/ 1 h 168"/>
                    <a:gd name="T72" fmla="*/ 27 w 272"/>
                    <a:gd name="T73" fmla="*/ 1 h 168"/>
                    <a:gd name="T74" fmla="*/ 27 w 272"/>
                    <a:gd name="T75" fmla="*/ 1 h 168"/>
                    <a:gd name="T76" fmla="*/ 28 w 272"/>
                    <a:gd name="T77" fmla="*/ 1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" name="Group 15"/>
              <p:cNvGrpSpPr>
                <a:grpSpLocks/>
              </p:cNvGrpSpPr>
              <p:nvPr/>
            </p:nvGrpSpPr>
            <p:grpSpPr bwMode="auto">
              <a:xfrm flipH="1">
                <a:off x="2855" y="422"/>
                <a:ext cx="1095" cy="666"/>
                <a:chOff x="4920" y="3603"/>
                <a:chExt cx="688" cy="435"/>
              </a:xfrm>
            </p:grpSpPr>
            <p:sp>
              <p:nvSpPr>
                <p:cNvPr id="378898" name="Freeform 16"/>
                <p:cNvSpPr>
                  <a:spLocks/>
                </p:cNvSpPr>
                <p:nvPr/>
              </p:nvSpPr>
              <p:spPr bwMode="auto">
                <a:xfrm>
                  <a:off x="4920" y="3603"/>
                  <a:ext cx="172" cy="435"/>
                </a:xfrm>
                <a:custGeom>
                  <a:avLst/>
                  <a:gdLst>
                    <a:gd name="T0" fmla="*/ 0 w 272"/>
                    <a:gd name="T1" fmla="*/ 19549 h 168"/>
                    <a:gd name="T2" fmla="*/ 1 w 272"/>
                    <a:gd name="T3" fmla="*/ 19549 h 168"/>
                    <a:gd name="T4" fmla="*/ 1 w 272"/>
                    <a:gd name="T5" fmla="*/ 19549 h 168"/>
                    <a:gd name="T6" fmla="*/ 1 w 272"/>
                    <a:gd name="T7" fmla="*/ 19549 h 168"/>
                    <a:gd name="T8" fmla="*/ 1 w 272"/>
                    <a:gd name="T9" fmla="*/ 19549 h 168"/>
                    <a:gd name="T10" fmla="*/ 1 w 272"/>
                    <a:gd name="T11" fmla="*/ 19422 h 168"/>
                    <a:gd name="T12" fmla="*/ 2 w 272"/>
                    <a:gd name="T13" fmla="*/ 19093 h 168"/>
                    <a:gd name="T14" fmla="*/ 3 w 272"/>
                    <a:gd name="T15" fmla="*/ 18296 h 168"/>
                    <a:gd name="T16" fmla="*/ 4 w 272"/>
                    <a:gd name="T17" fmla="*/ 14650 h 168"/>
                    <a:gd name="T18" fmla="*/ 7 w 272"/>
                    <a:gd name="T19" fmla="*/ 9787 h 168"/>
                    <a:gd name="T20" fmla="*/ 9 w 272"/>
                    <a:gd name="T21" fmla="*/ 4754 h 168"/>
                    <a:gd name="T22" fmla="*/ 11 w 272"/>
                    <a:gd name="T23" fmla="*/ 1978 h 168"/>
                    <a:gd name="T24" fmla="*/ 12 w 272"/>
                    <a:gd name="T25" fmla="*/ 590 h 168"/>
                    <a:gd name="T26" fmla="*/ 13 w 272"/>
                    <a:gd name="T27" fmla="*/ 228 h 168"/>
                    <a:gd name="T28" fmla="*/ 13 w 272"/>
                    <a:gd name="T29" fmla="*/ 140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228 h 168"/>
                    <a:gd name="T52" fmla="*/ 16 w 272"/>
                    <a:gd name="T53" fmla="*/ 709 h 168"/>
                    <a:gd name="T54" fmla="*/ 17 w 272"/>
                    <a:gd name="T55" fmla="*/ 2916 h 168"/>
                    <a:gd name="T56" fmla="*/ 20 w 272"/>
                    <a:gd name="T57" fmla="*/ 7328 h 168"/>
                    <a:gd name="T58" fmla="*/ 22 w 272"/>
                    <a:gd name="T59" fmla="*/ 12221 h 168"/>
                    <a:gd name="T60" fmla="*/ 24 w 272"/>
                    <a:gd name="T61" fmla="*/ 16634 h 168"/>
                    <a:gd name="T62" fmla="*/ 25 w 272"/>
                    <a:gd name="T63" fmla="*/ 18296 h 168"/>
                    <a:gd name="T64" fmla="*/ 27 w 272"/>
                    <a:gd name="T65" fmla="*/ 19093 h 168"/>
                    <a:gd name="T66" fmla="*/ 27 w 272"/>
                    <a:gd name="T67" fmla="*/ 19422 h 168"/>
                    <a:gd name="T68" fmla="*/ 27 w 272"/>
                    <a:gd name="T69" fmla="*/ 19549 h 168"/>
                    <a:gd name="T70" fmla="*/ 27 w 272"/>
                    <a:gd name="T71" fmla="*/ 19549 h 168"/>
                    <a:gd name="T72" fmla="*/ 27 w 272"/>
                    <a:gd name="T73" fmla="*/ 19549 h 168"/>
                    <a:gd name="T74" fmla="*/ 27 w 272"/>
                    <a:gd name="T75" fmla="*/ 19549 h 168"/>
                    <a:gd name="T76" fmla="*/ 28 w 272"/>
                    <a:gd name="T77" fmla="*/ 19549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8899" name="Freeform 17"/>
                <p:cNvSpPr>
                  <a:spLocks/>
                </p:cNvSpPr>
                <p:nvPr/>
              </p:nvSpPr>
              <p:spPr bwMode="auto">
                <a:xfrm>
                  <a:off x="5094" y="3729"/>
                  <a:ext cx="172" cy="309"/>
                </a:xfrm>
                <a:custGeom>
                  <a:avLst/>
                  <a:gdLst>
                    <a:gd name="T0" fmla="*/ 0 w 272"/>
                    <a:gd name="T1" fmla="*/ 3535 h 168"/>
                    <a:gd name="T2" fmla="*/ 1 w 272"/>
                    <a:gd name="T3" fmla="*/ 3535 h 168"/>
                    <a:gd name="T4" fmla="*/ 1 w 272"/>
                    <a:gd name="T5" fmla="*/ 3535 h 168"/>
                    <a:gd name="T6" fmla="*/ 1 w 272"/>
                    <a:gd name="T7" fmla="*/ 3535 h 168"/>
                    <a:gd name="T8" fmla="*/ 1 w 272"/>
                    <a:gd name="T9" fmla="*/ 3535 h 168"/>
                    <a:gd name="T10" fmla="*/ 1 w 272"/>
                    <a:gd name="T11" fmla="*/ 3515 h 168"/>
                    <a:gd name="T12" fmla="*/ 2 w 272"/>
                    <a:gd name="T13" fmla="*/ 3454 h 168"/>
                    <a:gd name="T14" fmla="*/ 3 w 272"/>
                    <a:gd name="T15" fmla="*/ 3313 h 168"/>
                    <a:gd name="T16" fmla="*/ 4 w 272"/>
                    <a:gd name="T17" fmla="*/ 2656 h 168"/>
                    <a:gd name="T18" fmla="*/ 7 w 272"/>
                    <a:gd name="T19" fmla="*/ 1773 h 168"/>
                    <a:gd name="T20" fmla="*/ 9 w 272"/>
                    <a:gd name="T21" fmla="*/ 859 h 168"/>
                    <a:gd name="T22" fmla="*/ 11 w 272"/>
                    <a:gd name="T23" fmla="*/ 355 h 168"/>
                    <a:gd name="T24" fmla="*/ 12 w 272"/>
                    <a:gd name="T25" fmla="*/ 105 h 168"/>
                    <a:gd name="T26" fmla="*/ 13 w 272"/>
                    <a:gd name="T27" fmla="*/ 44 h 168"/>
                    <a:gd name="T28" fmla="*/ 13 w 272"/>
                    <a:gd name="T29" fmla="*/ 24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44 h 168"/>
                    <a:gd name="T52" fmla="*/ 16 w 272"/>
                    <a:gd name="T53" fmla="*/ 125 h 168"/>
                    <a:gd name="T54" fmla="*/ 17 w 272"/>
                    <a:gd name="T55" fmla="*/ 528 h 168"/>
                    <a:gd name="T56" fmla="*/ 20 w 272"/>
                    <a:gd name="T57" fmla="*/ 1326 h 168"/>
                    <a:gd name="T58" fmla="*/ 22 w 272"/>
                    <a:gd name="T59" fmla="*/ 2209 h 168"/>
                    <a:gd name="T60" fmla="*/ 24 w 272"/>
                    <a:gd name="T61" fmla="*/ 3011 h 168"/>
                    <a:gd name="T62" fmla="*/ 25 w 272"/>
                    <a:gd name="T63" fmla="*/ 3313 h 168"/>
                    <a:gd name="T64" fmla="*/ 27 w 272"/>
                    <a:gd name="T65" fmla="*/ 3454 h 168"/>
                    <a:gd name="T66" fmla="*/ 27 w 272"/>
                    <a:gd name="T67" fmla="*/ 3515 h 168"/>
                    <a:gd name="T68" fmla="*/ 27 w 272"/>
                    <a:gd name="T69" fmla="*/ 3535 h 168"/>
                    <a:gd name="T70" fmla="*/ 27 w 272"/>
                    <a:gd name="T71" fmla="*/ 3535 h 168"/>
                    <a:gd name="T72" fmla="*/ 27 w 272"/>
                    <a:gd name="T73" fmla="*/ 3535 h 168"/>
                    <a:gd name="T74" fmla="*/ 27 w 272"/>
                    <a:gd name="T75" fmla="*/ 3535 h 168"/>
                    <a:gd name="T76" fmla="*/ 28 w 272"/>
                    <a:gd name="T77" fmla="*/ 3535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8900" name="Freeform 18"/>
                <p:cNvSpPr>
                  <a:spLocks/>
                </p:cNvSpPr>
                <p:nvPr/>
              </p:nvSpPr>
              <p:spPr bwMode="auto">
                <a:xfrm>
                  <a:off x="5268" y="3873"/>
                  <a:ext cx="172" cy="165"/>
                </a:xfrm>
                <a:custGeom>
                  <a:avLst/>
                  <a:gdLst>
                    <a:gd name="T0" fmla="*/ 0 w 272"/>
                    <a:gd name="T1" fmla="*/ 153 h 168"/>
                    <a:gd name="T2" fmla="*/ 1 w 272"/>
                    <a:gd name="T3" fmla="*/ 153 h 168"/>
                    <a:gd name="T4" fmla="*/ 1 w 272"/>
                    <a:gd name="T5" fmla="*/ 153 h 168"/>
                    <a:gd name="T6" fmla="*/ 1 w 272"/>
                    <a:gd name="T7" fmla="*/ 153 h 168"/>
                    <a:gd name="T8" fmla="*/ 1 w 272"/>
                    <a:gd name="T9" fmla="*/ 153 h 168"/>
                    <a:gd name="T10" fmla="*/ 1 w 272"/>
                    <a:gd name="T11" fmla="*/ 152 h 168"/>
                    <a:gd name="T12" fmla="*/ 2 w 272"/>
                    <a:gd name="T13" fmla="*/ 149 h 168"/>
                    <a:gd name="T14" fmla="*/ 3 w 272"/>
                    <a:gd name="T15" fmla="*/ 142 h 168"/>
                    <a:gd name="T16" fmla="*/ 4 w 272"/>
                    <a:gd name="T17" fmla="*/ 116 h 168"/>
                    <a:gd name="T18" fmla="*/ 7 w 272"/>
                    <a:gd name="T19" fmla="*/ 79 h 168"/>
                    <a:gd name="T20" fmla="*/ 9 w 272"/>
                    <a:gd name="T21" fmla="*/ 36 h 168"/>
                    <a:gd name="T22" fmla="*/ 11 w 272"/>
                    <a:gd name="T23" fmla="*/ 17 h 168"/>
                    <a:gd name="T24" fmla="*/ 12 w 272"/>
                    <a:gd name="T25" fmla="*/ 5 h 168"/>
                    <a:gd name="T26" fmla="*/ 13 w 272"/>
                    <a:gd name="T27" fmla="*/ 2 h 168"/>
                    <a:gd name="T28" fmla="*/ 13 w 272"/>
                    <a:gd name="T29" fmla="*/ 1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2 h 168"/>
                    <a:gd name="T52" fmla="*/ 16 w 272"/>
                    <a:gd name="T53" fmla="*/ 6 h 168"/>
                    <a:gd name="T54" fmla="*/ 17 w 272"/>
                    <a:gd name="T55" fmla="*/ 25 h 168"/>
                    <a:gd name="T56" fmla="*/ 20 w 272"/>
                    <a:gd name="T57" fmla="*/ 58 h 168"/>
                    <a:gd name="T58" fmla="*/ 22 w 272"/>
                    <a:gd name="T59" fmla="*/ 95 h 168"/>
                    <a:gd name="T60" fmla="*/ 24 w 272"/>
                    <a:gd name="T61" fmla="*/ 132 h 168"/>
                    <a:gd name="T62" fmla="*/ 25 w 272"/>
                    <a:gd name="T63" fmla="*/ 142 h 168"/>
                    <a:gd name="T64" fmla="*/ 27 w 272"/>
                    <a:gd name="T65" fmla="*/ 149 h 168"/>
                    <a:gd name="T66" fmla="*/ 27 w 272"/>
                    <a:gd name="T67" fmla="*/ 152 h 168"/>
                    <a:gd name="T68" fmla="*/ 27 w 272"/>
                    <a:gd name="T69" fmla="*/ 153 h 168"/>
                    <a:gd name="T70" fmla="*/ 27 w 272"/>
                    <a:gd name="T71" fmla="*/ 153 h 168"/>
                    <a:gd name="T72" fmla="*/ 27 w 272"/>
                    <a:gd name="T73" fmla="*/ 153 h 168"/>
                    <a:gd name="T74" fmla="*/ 27 w 272"/>
                    <a:gd name="T75" fmla="*/ 153 h 168"/>
                    <a:gd name="T76" fmla="*/ 28 w 272"/>
                    <a:gd name="T77" fmla="*/ 153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8901" name="Freeform 19"/>
                <p:cNvSpPr>
                  <a:spLocks/>
                </p:cNvSpPr>
                <p:nvPr/>
              </p:nvSpPr>
              <p:spPr bwMode="auto">
                <a:xfrm>
                  <a:off x="5436" y="3975"/>
                  <a:ext cx="172" cy="63"/>
                </a:xfrm>
                <a:custGeom>
                  <a:avLst/>
                  <a:gdLst>
                    <a:gd name="T0" fmla="*/ 0 w 272"/>
                    <a:gd name="T1" fmla="*/ 1 h 168"/>
                    <a:gd name="T2" fmla="*/ 1 w 272"/>
                    <a:gd name="T3" fmla="*/ 1 h 168"/>
                    <a:gd name="T4" fmla="*/ 1 w 272"/>
                    <a:gd name="T5" fmla="*/ 1 h 168"/>
                    <a:gd name="T6" fmla="*/ 1 w 272"/>
                    <a:gd name="T7" fmla="*/ 1 h 168"/>
                    <a:gd name="T8" fmla="*/ 1 w 272"/>
                    <a:gd name="T9" fmla="*/ 1 h 168"/>
                    <a:gd name="T10" fmla="*/ 1 w 272"/>
                    <a:gd name="T11" fmla="*/ 1 h 168"/>
                    <a:gd name="T12" fmla="*/ 2 w 272"/>
                    <a:gd name="T13" fmla="*/ 1 h 168"/>
                    <a:gd name="T14" fmla="*/ 3 w 272"/>
                    <a:gd name="T15" fmla="*/ 1 h 168"/>
                    <a:gd name="T16" fmla="*/ 4 w 272"/>
                    <a:gd name="T17" fmla="*/ 1 h 168"/>
                    <a:gd name="T18" fmla="*/ 7 w 272"/>
                    <a:gd name="T19" fmla="*/ 1 h 168"/>
                    <a:gd name="T20" fmla="*/ 9 w 272"/>
                    <a:gd name="T21" fmla="*/ 0 h 168"/>
                    <a:gd name="T22" fmla="*/ 11 w 272"/>
                    <a:gd name="T23" fmla="*/ 0 h 168"/>
                    <a:gd name="T24" fmla="*/ 12 w 272"/>
                    <a:gd name="T25" fmla="*/ 0 h 168"/>
                    <a:gd name="T26" fmla="*/ 13 w 272"/>
                    <a:gd name="T27" fmla="*/ 0 h 168"/>
                    <a:gd name="T28" fmla="*/ 13 w 272"/>
                    <a:gd name="T29" fmla="*/ 0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0 h 168"/>
                    <a:gd name="T52" fmla="*/ 16 w 272"/>
                    <a:gd name="T53" fmla="*/ 0 h 168"/>
                    <a:gd name="T54" fmla="*/ 17 w 272"/>
                    <a:gd name="T55" fmla="*/ 0 h 168"/>
                    <a:gd name="T56" fmla="*/ 20 w 272"/>
                    <a:gd name="T57" fmla="*/ 0 h 168"/>
                    <a:gd name="T58" fmla="*/ 22 w 272"/>
                    <a:gd name="T59" fmla="*/ 1 h 168"/>
                    <a:gd name="T60" fmla="*/ 24 w 272"/>
                    <a:gd name="T61" fmla="*/ 1 h 168"/>
                    <a:gd name="T62" fmla="*/ 25 w 272"/>
                    <a:gd name="T63" fmla="*/ 1 h 168"/>
                    <a:gd name="T64" fmla="*/ 27 w 272"/>
                    <a:gd name="T65" fmla="*/ 1 h 168"/>
                    <a:gd name="T66" fmla="*/ 27 w 272"/>
                    <a:gd name="T67" fmla="*/ 1 h 168"/>
                    <a:gd name="T68" fmla="*/ 27 w 272"/>
                    <a:gd name="T69" fmla="*/ 1 h 168"/>
                    <a:gd name="T70" fmla="*/ 27 w 272"/>
                    <a:gd name="T71" fmla="*/ 1 h 168"/>
                    <a:gd name="T72" fmla="*/ 27 w 272"/>
                    <a:gd name="T73" fmla="*/ 1 h 168"/>
                    <a:gd name="T74" fmla="*/ 27 w 272"/>
                    <a:gd name="T75" fmla="*/ 1 h 168"/>
                    <a:gd name="T76" fmla="*/ 28 w 272"/>
                    <a:gd name="T77" fmla="*/ 1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6" name="Group 20"/>
            <p:cNvGrpSpPr>
              <a:grpSpLocks/>
            </p:cNvGrpSpPr>
            <p:nvPr/>
          </p:nvGrpSpPr>
          <p:grpSpPr bwMode="auto">
            <a:xfrm>
              <a:off x="4064" y="3015"/>
              <a:ext cx="271" cy="264"/>
              <a:chOff x="4454" y="1277"/>
              <a:chExt cx="271" cy="264"/>
            </a:xfrm>
          </p:grpSpPr>
          <p:sp>
            <p:nvSpPr>
              <p:cNvPr id="378891" name="Rectangle 21"/>
              <p:cNvSpPr>
                <a:spLocks noChangeArrowheads="1"/>
              </p:cNvSpPr>
              <p:nvPr/>
            </p:nvSpPr>
            <p:spPr bwMode="auto">
              <a:xfrm>
                <a:off x="4454" y="1293"/>
                <a:ext cx="116" cy="233"/>
              </a:xfrm>
              <a:prstGeom prst="rect">
                <a:avLst/>
              </a:prstGeom>
              <a:solidFill>
                <a:schemeClr val="accent2"/>
              </a:solidFill>
              <a:ln w="38100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grpSp>
            <p:nvGrpSpPr>
              <p:cNvPr id="7" name="Group 22"/>
              <p:cNvGrpSpPr>
                <a:grpSpLocks/>
              </p:cNvGrpSpPr>
              <p:nvPr/>
            </p:nvGrpSpPr>
            <p:grpSpPr bwMode="auto">
              <a:xfrm>
                <a:off x="4619" y="1277"/>
                <a:ext cx="106" cy="264"/>
                <a:chOff x="4600" y="1291"/>
                <a:chExt cx="106" cy="264"/>
              </a:xfrm>
            </p:grpSpPr>
            <p:sp>
              <p:nvSpPr>
                <p:cNvPr id="378893" name="Line 23"/>
                <p:cNvSpPr>
                  <a:spLocks noChangeShapeType="1"/>
                </p:cNvSpPr>
                <p:nvPr/>
              </p:nvSpPr>
              <p:spPr bwMode="auto">
                <a:xfrm>
                  <a:off x="4600" y="1291"/>
                  <a:ext cx="0" cy="264"/>
                </a:xfrm>
                <a:prstGeom prst="line">
                  <a:avLst/>
                </a:prstGeom>
                <a:noFill/>
                <a:ln w="38100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378894" name="Line 24"/>
                <p:cNvSpPr>
                  <a:spLocks noChangeShapeType="1"/>
                </p:cNvSpPr>
                <p:nvPr/>
              </p:nvSpPr>
              <p:spPr bwMode="auto">
                <a:xfrm>
                  <a:off x="4706" y="1291"/>
                  <a:ext cx="0" cy="264"/>
                </a:xfrm>
                <a:prstGeom prst="line">
                  <a:avLst/>
                </a:prstGeom>
                <a:noFill/>
                <a:ln w="38100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534151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906" name="AutoShape 2"/>
          <p:cNvSpPr>
            <a:spLocks noChangeArrowheads="1"/>
          </p:cNvSpPr>
          <p:nvPr/>
        </p:nvSpPr>
        <p:spPr bwMode="auto">
          <a:xfrm>
            <a:off x="1524000" y="3644900"/>
            <a:ext cx="3970338" cy="272573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381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en-US">
              <a:latin typeface="Times New Roman" pitchFamily="18" charset="0"/>
            </a:endParaRPr>
          </a:p>
        </p:txBody>
      </p:sp>
      <p:sp>
        <p:nvSpPr>
          <p:cNvPr id="2001923" name="Rectangle 3"/>
          <p:cNvSpPr>
            <a:spLocks noChangeArrowheads="1"/>
          </p:cNvSpPr>
          <p:nvPr/>
        </p:nvSpPr>
        <p:spPr bwMode="auto">
          <a:xfrm>
            <a:off x="1524001" y="4471988"/>
            <a:ext cx="3940175" cy="184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285750" indent="-285750">
              <a:lnSpc>
                <a:spcPct val="140000"/>
              </a:lnSpc>
              <a:spcBef>
                <a:spcPct val="50000"/>
              </a:spcBef>
              <a:defRPr/>
            </a:pPr>
            <a:r>
              <a:rPr lang="en-US" sz="2200" b="1">
                <a:solidFill>
                  <a:schemeClr val="bg2"/>
                </a:solidFill>
              </a:rPr>
              <a:t>	</a:t>
            </a:r>
            <a:r>
              <a:rPr lang="en-US" sz="2000" b="1">
                <a:solidFill>
                  <a:schemeClr val="bg2"/>
                </a:solidFill>
              </a:rPr>
              <a:t>If </a:t>
            </a:r>
            <a:r>
              <a:rPr lang="en-US" sz="20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</a:t>
            </a:r>
            <a:r>
              <a:rPr lang="en-US" sz="20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is increased</a:t>
            </a:r>
            <a:r>
              <a:rPr lang="en-US" sz="2000" b="1">
                <a:solidFill>
                  <a:schemeClr val="bg2"/>
                </a:solidFill>
              </a:rPr>
              <a:t> and </a:t>
            </a:r>
            <a:r>
              <a:rPr lang="en-US" sz="2000" b="1" i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</a:t>
            </a:r>
            <a:r>
              <a:rPr lang="en-US" sz="20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does not change</a:t>
            </a:r>
            <a:r>
              <a:rPr lang="en-US" sz="2000" b="1">
                <a:solidFill>
                  <a:schemeClr val="bg2"/>
                </a:solidFill>
              </a:rPr>
              <a:t>, then </a:t>
            </a:r>
            <a:r>
              <a:rPr lang="en-US" sz="2000" b="1">
                <a:solidFill>
                  <a:srgbClr val="0066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</a:t>
            </a:r>
            <a:r>
              <a:rPr lang="en-US" sz="2000" b="1">
                <a:solidFill>
                  <a:srgbClr val="0066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must increase</a:t>
            </a:r>
            <a:r>
              <a:rPr lang="en-US" sz="2000" b="1">
                <a:solidFill>
                  <a:schemeClr val="bg2"/>
                </a:solidFill>
              </a:rPr>
              <a:t>, so the pattern spreads out.</a:t>
            </a:r>
          </a:p>
        </p:txBody>
      </p:sp>
      <p:sp>
        <p:nvSpPr>
          <p:cNvPr id="2001925" name="Rectangle 5"/>
          <p:cNvSpPr>
            <a:spLocks noGrp="1" noChangeArrowheads="1"/>
          </p:cNvSpPr>
          <p:nvPr>
            <p:ph type="title"/>
          </p:nvPr>
        </p:nvSpPr>
        <p:spPr>
          <a:xfrm>
            <a:off x="2184401" y="0"/>
            <a:ext cx="8050213" cy="838200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sz="2800" i="1"/>
              <a:t>ConcepTest 24.3a	</a:t>
            </a:r>
            <a:r>
              <a:rPr lang="en-US" sz="2800">
                <a:solidFill>
                  <a:schemeClr val="accent2"/>
                </a:solidFill>
              </a:rPr>
              <a:t>Double Slits I</a:t>
            </a:r>
          </a:p>
        </p:txBody>
      </p:sp>
      <p:sp>
        <p:nvSpPr>
          <p:cNvPr id="2001949" name="Rectangle 29"/>
          <p:cNvSpPr>
            <a:spLocks noGrp="1" noChangeArrowheads="1"/>
          </p:cNvSpPr>
          <p:nvPr>
            <p:ph idx="1"/>
          </p:nvPr>
        </p:nvSpPr>
        <p:spPr>
          <a:xfrm>
            <a:off x="1755775" y="1117982"/>
            <a:ext cx="4572000" cy="1890713"/>
          </a:xfrm>
        </p:spPr>
        <p:txBody>
          <a:bodyPr>
            <a:normAutofit fontScale="92500" lnSpcReduction="10000"/>
          </a:bodyPr>
          <a:lstStyle/>
          <a:p>
            <a:pPr marL="401638" indent="-401638">
              <a:lnSpc>
                <a:spcPct val="140000"/>
              </a:lnSpc>
              <a:buNone/>
              <a:defRPr/>
            </a:pPr>
            <a:r>
              <a:rPr lang="en-US" sz="1800" b="1" dirty="0"/>
              <a:t>	</a:t>
            </a:r>
            <a:r>
              <a:rPr lang="en-US" sz="2400" b="1" dirty="0"/>
              <a:t>In a double-slit experiment, when the </a:t>
            </a:r>
            <a:r>
              <a:rPr lang="en-US" sz="2400" b="1" dirty="0">
                <a:solidFill>
                  <a:schemeClr val="accent2"/>
                </a:solidFill>
              </a:rPr>
              <a:t>wavelength</a:t>
            </a:r>
            <a:r>
              <a:rPr lang="en-US" sz="2400" b="1" dirty="0"/>
              <a:t> of the light is </a:t>
            </a:r>
            <a:r>
              <a:rPr lang="en-US" sz="2400" b="1" dirty="0">
                <a:solidFill>
                  <a:schemeClr val="accent2"/>
                </a:solidFill>
              </a:rPr>
              <a:t>increased</a:t>
            </a:r>
            <a:r>
              <a:rPr lang="en-US" sz="2400" b="1" dirty="0"/>
              <a:t>, the interference pattern</a:t>
            </a:r>
            <a:r>
              <a:rPr lang="en-US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</a:p>
        </p:txBody>
      </p:sp>
      <p:sp>
        <p:nvSpPr>
          <p:cNvPr id="2001926" name="Rectangle 6"/>
          <p:cNvSpPr>
            <a:spLocks noChangeArrowheads="1"/>
          </p:cNvSpPr>
          <p:nvPr/>
        </p:nvSpPr>
        <p:spPr bwMode="auto">
          <a:xfrm>
            <a:off x="6634163" y="1514194"/>
            <a:ext cx="3763962" cy="24012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457200" indent="-457200">
              <a:lnSpc>
                <a:spcPct val="110000"/>
              </a:lnSpc>
              <a:spcBef>
                <a:spcPct val="50000"/>
              </a:spcBef>
              <a:buFont typeface="+mj-lt"/>
              <a:buAutoNum type="alphaLcParenR"/>
              <a:defRPr/>
            </a:pPr>
            <a:r>
              <a:rPr lang="en-US" sz="2000" b="1" dirty="0">
                <a:solidFill>
                  <a:schemeClr val="tx2"/>
                </a:solidFill>
              </a:rPr>
              <a:t>spreads out</a:t>
            </a:r>
          </a:p>
          <a:p>
            <a:pPr marL="457200" indent="-457200">
              <a:lnSpc>
                <a:spcPct val="110000"/>
              </a:lnSpc>
              <a:spcBef>
                <a:spcPct val="50000"/>
              </a:spcBef>
              <a:buFont typeface="+mj-lt"/>
              <a:buAutoNum type="alphaLcParenR"/>
              <a:defRPr/>
            </a:pPr>
            <a:r>
              <a:rPr lang="en-US" sz="2000" b="1" dirty="0">
                <a:solidFill>
                  <a:schemeClr val="tx2"/>
                </a:solidFill>
              </a:rPr>
              <a:t>stays the same </a:t>
            </a:r>
            <a:endParaRPr lang="en-US" sz="2000" b="1" baseline="30000" dirty="0">
              <a:solidFill>
                <a:schemeClr val="tx2"/>
              </a:solidFill>
            </a:endParaRPr>
          </a:p>
          <a:p>
            <a:pPr marL="457200" indent="-457200">
              <a:lnSpc>
                <a:spcPct val="110000"/>
              </a:lnSpc>
              <a:spcBef>
                <a:spcPct val="50000"/>
              </a:spcBef>
              <a:buFont typeface="+mj-lt"/>
              <a:buAutoNum type="alphaLcParenR"/>
              <a:defRPr/>
            </a:pPr>
            <a:r>
              <a:rPr lang="en-US" sz="2000" b="1" dirty="0">
                <a:solidFill>
                  <a:schemeClr val="tx2"/>
                </a:solidFill>
              </a:rPr>
              <a:t>shrinks together</a:t>
            </a:r>
          </a:p>
          <a:p>
            <a:pPr marL="457200" indent="-457200">
              <a:lnSpc>
                <a:spcPct val="110000"/>
              </a:lnSpc>
              <a:spcBef>
                <a:spcPct val="50000"/>
              </a:spcBef>
              <a:buFont typeface="+mj-lt"/>
              <a:buAutoNum type="alphaLcParenR"/>
              <a:defRPr/>
            </a:pPr>
            <a:r>
              <a:rPr lang="en-US" sz="2000" b="1" dirty="0">
                <a:solidFill>
                  <a:schemeClr val="tx2"/>
                </a:solidFill>
              </a:rPr>
              <a:t>disappears</a:t>
            </a:r>
            <a:endParaRPr lang="en-US" sz="2000" b="1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285750" indent="-285750">
              <a:lnSpc>
                <a:spcPct val="110000"/>
              </a:lnSpc>
              <a:spcBef>
                <a:spcPct val="50000"/>
              </a:spcBef>
              <a:defRPr/>
            </a:pPr>
            <a:endParaRPr lang="en-US" sz="2000" b="1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5661025" y="3424238"/>
            <a:ext cx="3843338" cy="3103562"/>
            <a:chOff x="2606" y="2157"/>
            <a:chExt cx="2421" cy="1955"/>
          </a:xfrm>
        </p:grpSpPr>
        <p:sp>
          <p:nvSpPr>
            <p:cNvPr id="379915" name="AutoShape 8"/>
            <p:cNvSpPr>
              <a:spLocks noChangeArrowheads="1"/>
            </p:cNvSpPr>
            <p:nvPr/>
          </p:nvSpPr>
          <p:spPr bwMode="auto">
            <a:xfrm>
              <a:off x="2606" y="2996"/>
              <a:ext cx="179" cy="296"/>
            </a:xfrm>
            <a:prstGeom prst="cube">
              <a:avLst>
                <a:gd name="adj" fmla="val 35593"/>
              </a:avLst>
            </a:prstGeom>
            <a:noFill/>
            <a:ln w="38100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79916" name="Line 9"/>
            <p:cNvSpPr>
              <a:spLocks noChangeShapeType="1"/>
            </p:cNvSpPr>
            <p:nvPr/>
          </p:nvSpPr>
          <p:spPr bwMode="auto">
            <a:xfrm>
              <a:off x="3223" y="3144"/>
              <a:ext cx="794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grpSp>
          <p:nvGrpSpPr>
            <p:cNvPr id="3" name="Group 10"/>
            <p:cNvGrpSpPr>
              <a:grpSpLocks/>
            </p:cNvGrpSpPr>
            <p:nvPr/>
          </p:nvGrpSpPr>
          <p:grpSpPr bwMode="auto">
            <a:xfrm rot="-5400000">
              <a:off x="3821" y="2906"/>
              <a:ext cx="1955" cy="457"/>
              <a:chOff x="2855" y="192"/>
              <a:chExt cx="2504" cy="896"/>
            </a:xfrm>
          </p:grpSpPr>
          <p:sp>
            <p:nvSpPr>
              <p:cNvPr id="379923" name="Freeform 11"/>
              <p:cNvSpPr>
                <a:spLocks/>
              </p:cNvSpPr>
              <p:nvPr/>
            </p:nvSpPr>
            <p:spPr bwMode="auto">
              <a:xfrm>
                <a:off x="3953" y="192"/>
                <a:ext cx="312" cy="896"/>
              </a:xfrm>
              <a:custGeom>
                <a:avLst/>
                <a:gdLst>
                  <a:gd name="T0" fmla="*/ 0 w 272"/>
                  <a:gd name="T1" fmla="*/ 724992 h 168"/>
                  <a:gd name="T2" fmla="*/ 1 w 272"/>
                  <a:gd name="T3" fmla="*/ 724992 h 168"/>
                  <a:gd name="T4" fmla="*/ 2 w 272"/>
                  <a:gd name="T5" fmla="*/ 724992 h 168"/>
                  <a:gd name="T6" fmla="*/ 3 w 272"/>
                  <a:gd name="T7" fmla="*/ 724992 h 168"/>
                  <a:gd name="T8" fmla="*/ 10 w 272"/>
                  <a:gd name="T9" fmla="*/ 724992 h 168"/>
                  <a:gd name="T10" fmla="*/ 15 w 272"/>
                  <a:gd name="T11" fmla="*/ 720896 h 168"/>
                  <a:gd name="T12" fmla="*/ 28 w 272"/>
                  <a:gd name="T13" fmla="*/ 708011 h 168"/>
                  <a:gd name="T14" fmla="*/ 45 w 272"/>
                  <a:gd name="T15" fmla="*/ 677205 h 168"/>
                  <a:gd name="T16" fmla="*/ 91 w 272"/>
                  <a:gd name="T17" fmla="*/ 543717 h 168"/>
                  <a:gd name="T18" fmla="*/ 134 w 272"/>
                  <a:gd name="T19" fmla="*/ 362411 h 168"/>
                  <a:gd name="T20" fmla="*/ 179 w 272"/>
                  <a:gd name="T21" fmla="*/ 177179 h 168"/>
                  <a:gd name="T22" fmla="*/ 214 w 272"/>
                  <a:gd name="T23" fmla="*/ 73584 h 168"/>
                  <a:gd name="T24" fmla="*/ 239 w 272"/>
                  <a:gd name="T25" fmla="*/ 21845 h 168"/>
                  <a:gd name="T26" fmla="*/ 248 w 272"/>
                  <a:gd name="T27" fmla="*/ 8960 h 168"/>
                  <a:gd name="T28" fmla="*/ 256 w 272"/>
                  <a:gd name="T29" fmla="*/ 4096 h 168"/>
                  <a:gd name="T30" fmla="*/ 259 w 272"/>
                  <a:gd name="T31" fmla="*/ 0 h 168"/>
                  <a:gd name="T32" fmla="*/ 265 w 272"/>
                  <a:gd name="T33" fmla="*/ 0 h 168"/>
                  <a:gd name="T34" fmla="*/ 267 w 272"/>
                  <a:gd name="T35" fmla="*/ 0 h 168"/>
                  <a:gd name="T36" fmla="*/ 268 w 272"/>
                  <a:gd name="T37" fmla="*/ 0 h 168"/>
                  <a:gd name="T38" fmla="*/ 270 w 272"/>
                  <a:gd name="T39" fmla="*/ 0 h 168"/>
                  <a:gd name="T40" fmla="*/ 270 w 272"/>
                  <a:gd name="T41" fmla="*/ 0 h 168"/>
                  <a:gd name="T42" fmla="*/ 271 w 272"/>
                  <a:gd name="T43" fmla="*/ 0 h 168"/>
                  <a:gd name="T44" fmla="*/ 274 w 272"/>
                  <a:gd name="T45" fmla="*/ 0 h 168"/>
                  <a:gd name="T46" fmla="*/ 275 w 272"/>
                  <a:gd name="T47" fmla="*/ 0 h 168"/>
                  <a:gd name="T48" fmla="*/ 280 w 272"/>
                  <a:gd name="T49" fmla="*/ 0 h 168"/>
                  <a:gd name="T50" fmla="*/ 287 w 272"/>
                  <a:gd name="T51" fmla="*/ 8960 h 168"/>
                  <a:gd name="T52" fmla="*/ 304 w 272"/>
                  <a:gd name="T53" fmla="*/ 25941 h 168"/>
                  <a:gd name="T54" fmla="*/ 338 w 272"/>
                  <a:gd name="T55" fmla="*/ 107547 h 168"/>
                  <a:gd name="T56" fmla="*/ 382 w 272"/>
                  <a:gd name="T57" fmla="*/ 271845 h 168"/>
                  <a:gd name="T58" fmla="*/ 428 w 272"/>
                  <a:gd name="T59" fmla="*/ 453147 h 168"/>
                  <a:gd name="T60" fmla="*/ 473 w 272"/>
                  <a:gd name="T61" fmla="*/ 617275 h 168"/>
                  <a:gd name="T62" fmla="*/ 496 w 272"/>
                  <a:gd name="T63" fmla="*/ 677205 h 168"/>
                  <a:gd name="T64" fmla="*/ 514 w 272"/>
                  <a:gd name="T65" fmla="*/ 708011 h 168"/>
                  <a:gd name="T66" fmla="*/ 525 w 272"/>
                  <a:gd name="T67" fmla="*/ 720896 h 168"/>
                  <a:gd name="T68" fmla="*/ 531 w 272"/>
                  <a:gd name="T69" fmla="*/ 724992 h 168"/>
                  <a:gd name="T70" fmla="*/ 537 w 272"/>
                  <a:gd name="T71" fmla="*/ 724992 h 168"/>
                  <a:gd name="T72" fmla="*/ 538 w 272"/>
                  <a:gd name="T73" fmla="*/ 724992 h 168"/>
                  <a:gd name="T74" fmla="*/ 538 w 272"/>
                  <a:gd name="T75" fmla="*/ 724992 h 168"/>
                  <a:gd name="T76" fmla="*/ 540 w 272"/>
                  <a:gd name="T77" fmla="*/ 724992 h 168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272"/>
                  <a:gd name="T118" fmla="*/ 0 h 168"/>
                  <a:gd name="T119" fmla="*/ 272 w 272"/>
                  <a:gd name="T120" fmla="*/ 168 h 168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272" h="168">
                    <a:moveTo>
                      <a:pt x="0" y="168"/>
                    </a:moveTo>
                    <a:lnTo>
                      <a:pt x="0" y="168"/>
                    </a:lnTo>
                    <a:lnTo>
                      <a:pt x="1" y="168"/>
                    </a:lnTo>
                    <a:lnTo>
                      <a:pt x="2" y="168"/>
                    </a:lnTo>
                    <a:lnTo>
                      <a:pt x="3" y="168"/>
                    </a:lnTo>
                    <a:lnTo>
                      <a:pt x="4" y="168"/>
                    </a:lnTo>
                    <a:lnTo>
                      <a:pt x="5" y="168"/>
                    </a:lnTo>
                    <a:lnTo>
                      <a:pt x="6" y="167"/>
                    </a:lnTo>
                    <a:lnTo>
                      <a:pt x="8" y="167"/>
                    </a:lnTo>
                    <a:lnTo>
                      <a:pt x="11" y="166"/>
                    </a:lnTo>
                    <a:lnTo>
                      <a:pt x="14" y="164"/>
                    </a:lnTo>
                    <a:lnTo>
                      <a:pt x="17" y="162"/>
                    </a:lnTo>
                    <a:lnTo>
                      <a:pt x="23" y="157"/>
                    </a:lnTo>
                    <a:lnTo>
                      <a:pt x="34" y="143"/>
                    </a:lnTo>
                    <a:lnTo>
                      <a:pt x="45" y="126"/>
                    </a:lnTo>
                    <a:lnTo>
                      <a:pt x="57" y="105"/>
                    </a:lnTo>
                    <a:lnTo>
                      <a:pt x="68" y="84"/>
                    </a:lnTo>
                    <a:lnTo>
                      <a:pt x="80" y="61"/>
                    </a:lnTo>
                    <a:lnTo>
                      <a:pt x="91" y="41"/>
                    </a:lnTo>
                    <a:lnTo>
                      <a:pt x="102" y="24"/>
                    </a:lnTo>
                    <a:lnTo>
                      <a:pt x="108" y="17"/>
                    </a:lnTo>
                    <a:lnTo>
                      <a:pt x="114" y="10"/>
                    </a:lnTo>
                    <a:lnTo>
                      <a:pt x="120" y="5"/>
                    </a:lnTo>
                    <a:lnTo>
                      <a:pt x="123" y="4"/>
                    </a:lnTo>
                    <a:lnTo>
                      <a:pt x="125" y="2"/>
                    </a:lnTo>
                    <a:lnTo>
                      <a:pt x="127" y="2"/>
                    </a:lnTo>
                    <a:lnTo>
                      <a:pt x="128" y="1"/>
                    </a:lnTo>
                    <a:lnTo>
                      <a:pt x="130" y="1"/>
                    </a:lnTo>
                    <a:lnTo>
                      <a:pt x="131" y="0"/>
                    </a:lnTo>
                    <a:lnTo>
                      <a:pt x="132" y="0"/>
                    </a:lnTo>
                    <a:lnTo>
                      <a:pt x="133" y="0"/>
                    </a:lnTo>
                    <a:lnTo>
                      <a:pt x="134" y="0"/>
                    </a:lnTo>
                    <a:lnTo>
                      <a:pt x="135" y="0"/>
                    </a:lnTo>
                    <a:lnTo>
                      <a:pt x="136" y="0"/>
                    </a:lnTo>
                    <a:lnTo>
                      <a:pt x="137" y="0"/>
                    </a:lnTo>
                    <a:lnTo>
                      <a:pt x="138" y="0"/>
                    </a:lnTo>
                    <a:lnTo>
                      <a:pt x="139" y="0"/>
                    </a:lnTo>
                    <a:lnTo>
                      <a:pt x="141" y="0"/>
                    </a:lnTo>
                    <a:lnTo>
                      <a:pt x="142" y="1"/>
                    </a:lnTo>
                    <a:lnTo>
                      <a:pt x="145" y="2"/>
                    </a:lnTo>
                    <a:lnTo>
                      <a:pt x="148" y="3"/>
                    </a:lnTo>
                    <a:lnTo>
                      <a:pt x="153" y="6"/>
                    </a:lnTo>
                    <a:lnTo>
                      <a:pt x="159" y="11"/>
                    </a:lnTo>
                    <a:lnTo>
                      <a:pt x="170" y="25"/>
                    </a:lnTo>
                    <a:lnTo>
                      <a:pt x="181" y="42"/>
                    </a:lnTo>
                    <a:lnTo>
                      <a:pt x="193" y="63"/>
                    </a:lnTo>
                    <a:lnTo>
                      <a:pt x="204" y="84"/>
                    </a:lnTo>
                    <a:lnTo>
                      <a:pt x="215" y="105"/>
                    </a:lnTo>
                    <a:lnTo>
                      <a:pt x="227" y="126"/>
                    </a:lnTo>
                    <a:lnTo>
                      <a:pt x="238" y="143"/>
                    </a:lnTo>
                    <a:lnTo>
                      <a:pt x="244" y="151"/>
                    </a:lnTo>
                    <a:lnTo>
                      <a:pt x="250" y="157"/>
                    </a:lnTo>
                    <a:lnTo>
                      <a:pt x="256" y="162"/>
                    </a:lnTo>
                    <a:lnTo>
                      <a:pt x="259" y="164"/>
                    </a:lnTo>
                    <a:lnTo>
                      <a:pt x="261" y="166"/>
                    </a:lnTo>
                    <a:lnTo>
                      <a:pt x="264" y="167"/>
                    </a:lnTo>
                    <a:lnTo>
                      <a:pt x="267" y="167"/>
                    </a:lnTo>
                    <a:lnTo>
                      <a:pt x="268" y="168"/>
                    </a:lnTo>
                    <a:lnTo>
                      <a:pt x="269" y="168"/>
                    </a:lnTo>
                    <a:lnTo>
                      <a:pt x="270" y="168"/>
                    </a:lnTo>
                    <a:lnTo>
                      <a:pt x="271" y="168"/>
                    </a:lnTo>
                    <a:lnTo>
                      <a:pt x="272" y="168"/>
                    </a:lnTo>
                  </a:path>
                </a:pathLst>
              </a:cu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" name="Group 12"/>
              <p:cNvGrpSpPr>
                <a:grpSpLocks/>
              </p:cNvGrpSpPr>
              <p:nvPr/>
            </p:nvGrpSpPr>
            <p:grpSpPr bwMode="auto">
              <a:xfrm>
                <a:off x="4264" y="422"/>
                <a:ext cx="1095" cy="666"/>
                <a:chOff x="4920" y="3603"/>
                <a:chExt cx="688" cy="435"/>
              </a:xfrm>
            </p:grpSpPr>
            <p:sp>
              <p:nvSpPr>
                <p:cNvPr id="379930" name="Freeform 13"/>
                <p:cNvSpPr>
                  <a:spLocks/>
                </p:cNvSpPr>
                <p:nvPr/>
              </p:nvSpPr>
              <p:spPr bwMode="auto">
                <a:xfrm>
                  <a:off x="4920" y="3603"/>
                  <a:ext cx="172" cy="435"/>
                </a:xfrm>
                <a:custGeom>
                  <a:avLst/>
                  <a:gdLst>
                    <a:gd name="T0" fmla="*/ 0 w 272"/>
                    <a:gd name="T1" fmla="*/ 19549 h 168"/>
                    <a:gd name="T2" fmla="*/ 1 w 272"/>
                    <a:gd name="T3" fmla="*/ 19549 h 168"/>
                    <a:gd name="T4" fmla="*/ 1 w 272"/>
                    <a:gd name="T5" fmla="*/ 19549 h 168"/>
                    <a:gd name="T6" fmla="*/ 1 w 272"/>
                    <a:gd name="T7" fmla="*/ 19549 h 168"/>
                    <a:gd name="T8" fmla="*/ 1 w 272"/>
                    <a:gd name="T9" fmla="*/ 19549 h 168"/>
                    <a:gd name="T10" fmla="*/ 1 w 272"/>
                    <a:gd name="T11" fmla="*/ 19422 h 168"/>
                    <a:gd name="T12" fmla="*/ 2 w 272"/>
                    <a:gd name="T13" fmla="*/ 19093 h 168"/>
                    <a:gd name="T14" fmla="*/ 3 w 272"/>
                    <a:gd name="T15" fmla="*/ 18296 h 168"/>
                    <a:gd name="T16" fmla="*/ 4 w 272"/>
                    <a:gd name="T17" fmla="*/ 14650 h 168"/>
                    <a:gd name="T18" fmla="*/ 7 w 272"/>
                    <a:gd name="T19" fmla="*/ 9787 h 168"/>
                    <a:gd name="T20" fmla="*/ 9 w 272"/>
                    <a:gd name="T21" fmla="*/ 4754 h 168"/>
                    <a:gd name="T22" fmla="*/ 11 w 272"/>
                    <a:gd name="T23" fmla="*/ 1978 h 168"/>
                    <a:gd name="T24" fmla="*/ 12 w 272"/>
                    <a:gd name="T25" fmla="*/ 590 h 168"/>
                    <a:gd name="T26" fmla="*/ 13 w 272"/>
                    <a:gd name="T27" fmla="*/ 228 h 168"/>
                    <a:gd name="T28" fmla="*/ 13 w 272"/>
                    <a:gd name="T29" fmla="*/ 140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228 h 168"/>
                    <a:gd name="T52" fmla="*/ 16 w 272"/>
                    <a:gd name="T53" fmla="*/ 709 h 168"/>
                    <a:gd name="T54" fmla="*/ 17 w 272"/>
                    <a:gd name="T55" fmla="*/ 2916 h 168"/>
                    <a:gd name="T56" fmla="*/ 20 w 272"/>
                    <a:gd name="T57" fmla="*/ 7328 h 168"/>
                    <a:gd name="T58" fmla="*/ 22 w 272"/>
                    <a:gd name="T59" fmla="*/ 12221 h 168"/>
                    <a:gd name="T60" fmla="*/ 24 w 272"/>
                    <a:gd name="T61" fmla="*/ 16634 h 168"/>
                    <a:gd name="T62" fmla="*/ 25 w 272"/>
                    <a:gd name="T63" fmla="*/ 18296 h 168"/>
                    <a:gd name="T64" fmla="*/ 27 w 272"/>
                    <a:gd name="T65" fmla="*/ 19093 h 168"/>
                    <a:gd name="T66" fmla="*/ 27 w 272"/>
                    <a:gd name="T67" fmla="*/ 19422 h 168"/>
                    <a:gd name="T68" fmla="*/ 27 w 272"/>
                    <a:gd name="T69" fmla="*/ 19549 h 168"/>
                    <a:gd name="T70" fmla="*/ 27 w 272"/>
                    <a:gd name="T71" fmla="*/ 19549 h 168"/>
                    <a:gd name="T72" fmla="*/ 27 w 272"/>
                    <a:gd name="T73" fmla="*/ 19549 h 168"/>
                    <a:gd name="T74" fmla="*/ 27 w 272"/>
                    <a:gd name="T75" fmla="*/ 19549 h 168"/>
                    <a:gd name="T76" fmla="*/ 28 w 272"/>
                    <a:gd name="T77" fmla="*/ 19549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9931" name="Freeform 14"/>
                <p:cNvSpPr>
                  <a:spLocks/>
                </p:cNvSpPr>
                <p:nvPr/>
              </p:nvSpPr>
              <p:spPr bwMode="auto">
                <a:xfrm>
                  <a:off x="5094" y="3729"/>
                  <a:ext cx="172" cy="309"/>
                </a:xfrm>
                <a:custGeom>
                  <a:avLst/>
                  <a:gdLst>
                    <a:gd name="T0" fmla="*/ 0 w 272"/>
                    <a:gd name="T1" fmla="*/ 3535 h 168"/>
                    <a:gd name="T2" fmla="*/ 1 w 272"/>
                    <a:gd name="T3" fmla="*/ 3535 h 168"/>
                    <a:gd name="T4" fmla="*/ 1 w 272"/>
                    <a:gd name="T5" fmla="*/ 3535 h 168"/>
                    <a:gd name="T6" fmla="*/ 1 w 272"/>
                    <a:gd name="T7" fmla="*/ 3535 h 168"/>
                    <a:gd name="T8" fmla="*/ 1 w 272"/>
                    <a:gd name="T9" fmla="*/ 3535 h 168"/>
                    <a:gd name="T10" fmla="*/ 1 w 272"/>
                    <a:gd name="T11" fmla="*/ 3515 h 168"/>
                    <a:gd name="T12" fmla="*/ 2 w 272"/>
                    <a:gd name="T13" fmla="*/ 3454 h 168"/>
                    <a:gd name="T14" fmla="*/ 3 w 272"/>
                    <a:gd name="T15" fmla="*/ 3313 h 168"/>
                    <a:gd name="T16" fmla="*/ 4 w 272"/>
                    <a:gd name="T17" fmla="*/ 2656 h 168"/>
                    <a:gd name="T18" fmla="*/ 7 w 272"/>
                    <a:gd name="T19" fmla="*/ 1773 h 168"/>
                    <a:gd name="T20" fmla="*/ 9 w 272"/>
                    <a:gd name="T21" fmla="*/ 859 h 168"/>
                    <a:gd name="T22" fmla="*/ 11 w 272"/>
                    <a:gd name="T23" fmla="*/ 355 h 168"/>
                    <a:gd name="T24" fmla="*/ 12 w 272"/>
                    <a:gd name="T25" fmla="*/ 105 h 168"/>
                    <a:gd name="T26" fmla="*/ 13 w 272"/>
                    <a:gd name="T27" fmla="*/ 44 h 168"/>
                    <a:gd name="T28" fmla="*/ 13 w 272"/>
                    <a:gd name="T29" fmla="*/ 24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44 h 168"/>
                    <a:gd name="T52" fmla="*/ 16 w 272"/>
                    <a:gd name="T53" fmla="*/ 125 h 168"/>
                    <a:gd name="T54" fmla="*/ 17 w 272"/>
                    <a:gd name="T55" fmla="*/ 528 h 168"/>
                    <a:gd name="T56" fmla="*/ 20 w 272"/>
                    <a:gd name="T57" fmla="*/ 1326 h 168"/>
                    <a:gd name="T58" fmla="*/ 22 w 272"/>
                    <a:gd name="T59" fmla="*/ 2209 h 168"/>
                    <a:gd name="T60" fmla="*/ 24 w 272"/>
                    <a:gd name="T61" fmla="*/ 3011 h 168"/>
                    <a:gd name="T62" fmla="*/ 25 w 272"/>
                    <a:gd name="T63" fmla="*/ 3313 h 168"/>
                    <a:gd name="T64" fmla="*/ 27 w 272"/>
                    <a:gd name="T65" fmla="*/ 3454 h 168"/>
                    <a:gd name="T66" fmla="*/ 27 w 272"/>
                    <a:gd name="T67" fmla="*/ 3515 h 168"/>
                    <a:gd name="T68" fmla="*/ 27 w 272"/>
                    <a:gd name="T69" fmla="*/ 3535 h 168"/>
                    <a:gd name="T70" fmla="*/ 27 w 272"/>
                    <a:gd name="T71" fmla="*/ 3535 h 168"/>
                    <a:gd name="T72" fmla="*/ 27 w 272"/>
                    <a:gd name="T73" fmla="*/ 3535 h 168"/>
                    <a:gd name="T74" fmla="*/ 27 w 272"/>
                    <a:gd name="T75" fmla="*/ 3535 h 168"/>
                    <a:gd name="T76" fmla="*/ 28 w 272"/>
                    <a:gd name="T77" fmla="*/ 3535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9932" name="Freeform 15"/>
                <p:cNvSpPr>
                  <a:spLocks/>
                </p:cNvSpPr>
                <p:nvPr/>
              </p:nvSpPr>
              <p:spPr bwMode="auto">
                <a:xfrm>
                  <a:off x="5268" y="3873"/>
                  <a:ext cx="172" cy="165"/>
                </a:xfrm>
                <a:custGeom>
                  <a:avLst/>
                  <a:gdLst>
                    <a:gd name="T0" fmla="*/ 0 w 272"/>
                    <a:gd name="T1" fmla="*/ 153 h 168"/>
                    <a:gd name="T2" fmla="*/ 1 w 272"/>
                    <a:gd name="T3" fmla="*/ 153 h 168"/>
                    <a:gd name="T4" fmla="*/ 1 w 272"/>
                    <a:gd name="T5" fmla="*/ 153 h 168"/>
                    <a:gd name="T6" fmla="*/ 1 w 272"/>
                    <a:gd name="T7" fmla="*/ 153 h 168"/>
                    <a:gd name="T8" fmla="*/ 1 w 272"/>
                    <a:gd name="T9" fmla="*/ 153 h 168"/>
                    <a:gd name="T10" fmla="*/ 1 w 272"/>
                    <a:gd name="T11" fmla="*/ 152 h 168"/>
                    <a:gd name="T12" fmla="*/ 2 w 272"/>
                    <a:gd name="T13" fmla="*/ 149 h 168"/>
                    <a:gd name="T14" fmla="*/ 3 w 272"/>
                    <a:gd name="T15" fmla="*/ 142 h 168"/>
                    <a:gd name="T16" fmla="*/ 4 w 272"/>
                    <a:gd name="T17" fmla="*/ 116 h 168"/>
                    <a:gd name="T18" fmla="*/ 7 w 272"/>
                    <a:gd name="T19" fmla="*/ 79 h 168"/>
                    <a:gd name="T20" fmla="*/ 9 w 272"/>
                    <a:gd name="T21" fmla="*/ 36 h 168"/>
                    <a:gd name="T22" fmla="*/ 11 w 272"/>
                    <a:gd name="T23" fmla="*/ 17 h 168"/>
                    <a:gd name="T24" fmla="*/ 12 w 272"/>
                    <a:gd name="T25" fmla="*/ 5 h 168"/>
                    <a:gd name="T26" fmla="*/ 13 w 272"/>
                    <a:gd name="T27" fmla="*/ 2 h 168"/>
                    <a:gd name="T28" fmla="*/ 13 w 272"/>
                    <a:gd name="T29" fmla="*/ 1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2 h 168"/>
                    <a:gd name="T52" fmla="*/ 16 w 272"/>
                    <a:gd name="T53" fmla="*/ 6 h 168"/>
                    <a:gd name="T54" fmla="*/ 17 w 272"/>
                    <a:gd name="T55" fmla="*/ 25 h 168"/>
                    <a:gd name="T56" fmla="*/ 20 w 272"/>
                    <a:gd name="T57" fmla="*/ 58 h 168"/>
                    <a:gd name="T58" fmla="*/ 22 w 272"/>
                    <a:gd name="T59" fmla="*/ 95 h 168"/>
                    <a:gd name="T60" fmla="*/ 24 w 272"/>
                    <a:gd name="T61" fmla="*/ 132 h 168"/>
                    <a:gd name="T62" fmla="*/ 25 w 272"/>
                    <a:gd name="T63" fmla="*/ 142 h 168"/>
                    <a:gd name="T64" fmla="*/ 27 w 272"/>
                    <a:gd name="T65" fmla="*/ 149 h 168"/>
                    <a:gd name="T66" fmla="*/ 27 w 272"/>
                    <a:gd name="T67" fmla="*/ 152 h 168"/>
                    <a:gd name="T68" fmla="*/ 27 w 272"/>
                    <a:gd name="T69" fmla="*/ 153 h 168"/>
                    <a:gd name="T70" fmla="*/ 27 w 272"/>
                    <a:gd name="T71" fmla="*/ 153 h 168"/>
                    <a:gd name="T72" fmla="*/ 27 w 272"/>
                    <a:gd name="T73" fmla="*/ 153 h 168"/>
                    <a:gd name="T74" fmla="*/ 27 w 272"/>
                    <a:gd name="T75" fmla="*/ 153 h 168"/>
                    <a:gd name="T76" fmla="*/ 28 w 272"/>
                    <a:gd name="T77" fmla="*/ 153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9933" name="Freeform 16"/>
                <p:cNvSpPr>
                  <a:spLocks/>
                </p:cNvSpPr>
                <p:nvPr/>
              </p:nvSpPr>
              <p:spPr bwMode="auto">
                <a:xfrm>
                  <a:off x="5436" y="3975"/>
                  <a:ext cx="172" cy="63"/>
                </a:xfrm>
                <a:custGeom>
                  <a:avLst/>
                  <a:gdLst>
                    <a:gd name="T0" fmla="*/ 0 w 272"/>
                    <a:gd name="T1" fmla="*/ 1 h 168"/>
                    <a:gd name="T2" fmla="*/ 1 w 272"/>
                    <a:gd name="T3" fmla="*/ 1 h 168"/>
                    <a:gd name="T4" fmla="*/ 1 w 272"/>
                    <a:gd name="T5" fmla="*/ 1 h 168"/>
                    <a:gd name="T6" fmla="*/ 1 w 272"/>
                    <a:gd name="T7" fmla="*/ 1 h 168"/>
                    <a:gd name="T8" fmla="*/ 1 w 272"/>
                    <a:gd name="T9" fmla="*/ 1 h 168"/>
                    <a:gd name="T10" fmla="*/ 1 w 272"/>
                    <a:gd name="T11" fmla="*/ 1 h 168"/>
                    <a:gd name="T12" fmla="*/ 2 w 272"/>
                    <a:gd name="T13" fmla="*/ 1 h 168"/>
                    <a:gd name="T14" fmla="*/ 3 w 272"/>
                    <a:gd name="T15" fmla="*/ 1 h 168"/>
                    <a:gd name="T16" fmla="*/ 4 w 272"/>
                    <a:gd name="T17" fmla="*/ 1 h 168"/>
                    <a:gd name="T18" fmla="*/ 7 w 272"/>
                    <a:gd name="T19" fmla="*/ 1 h 168"/>
                    <a:gd name="T20" fmla="*/ 9 w 272"/>
                    <a:gd name="T21" fmla="*/ 0 h 168"/>
                    <a:gd name="T22" fmla="*/ 11 w 272"/>
                    <a:gd name="T23" fmla="*/ 0 h 168"/>
                    <a:gd name="T24" fmla="*/ 12 w 272"/>
                    <a:gd name="T25" fmla="*/ 0 h 168"/>
                    <a:gd name="T26" fmla="*/ 13 w 272"/>
                    <a:gd name="T27" fmla="*/ 0 h 168"/>
                    <a:gd name="T28" fmla="*/ 13 w 272"/>
                    <a:gd name="T29" fmla="*/ 0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0 h 168"/>
                    <a:gd name="T52" fmla="*/ 16 w 272"/>
                    <a:gd name="T53" fmla="*/ 0 h 168"/>
                    <a:gd name="T54" fmla="*/ 17 w 272"/>
                    <a:gd name="T55" fmla="*/ 0 h 168"/>
                    <a:gd name="T56" fmla="*/ 20 w 272"/>
                    <a:gd name="T57" fmla="*/ 0 h 168"/>
                    <a:gd name="T58" fmla="*/ 22 w 272"/>
                    <a:gd name="T59" fmla="*/ 1 h 168"/>
                    <a:gd name="T60" fmla="*/ 24 w 272"/>
                    <a:gd name="T61" fmla="*/ 1 h 168"/>
                    <a:gd name="T62" fmla="*/ 25 w 272"/>
                    <a:gd name="T63" fmla="*/ 1 h 168"/>
                    <a:gd name="T64" fmla="*/ 27 w 272"/>
                    <a:gd name="T65" fmla="*/ 1 h 168"/>
                    <a:gd name="T66" fmla="*/ 27 w 272"/>
                    <a:gd name="T67" fmla="*/ 1 h 168"/>
                    <a:gd name="T68" fmla="*/ 27 w 272"/>
                    <a:gd name="T69" fmla="*/ 1 h 168"/>
                    <a:gd name="T70" fmla="*/ 27 w 272"/>
                    <a:gd name="T71" fmla="*/ 1 h 168"/>
                    <a:gd name="T72" fmla="*/ 27 w 272"/>
                    <a:gd name="T73" fmla="*/ 1 h 168"/>
                    <a:gd name="T74" fmla="*/ 27 w 272"/>
                    <a:gd name="T75" fmla="*/ 1 h 168"/>
                    <a:gd name="T76" fmla="*/ 28 w 272"/>
                    <a:gd name="T77" fmla="*/ 1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" name="Group 17"/>
              <p:cNvGrpSpPr>
                <a:grpSpLocks/>
              </p:cNvGrpSpPr>
              <p:nvPr/>
            </p:nvGrpSpPr>
            <p:grpSpPr bwMode="auto">
              <a:xfrm flipH="1">
                <a:off x="2855" y="422"/>
                <a:ext cx="1095" cy="666"/>
                <a:chOff x="4920" y="3603"/>
                <a:chExt cx="688" cy="435"/>
              </a:xfrm>
            </p:grpSpPr>
            <p:sp>
              <p:nvSpPr>
                <p:cNvPr id="379926" name="Freeform 18"/>
                <p:cNvSpPr>
                  <a:spLocks/>
                </p:cNvSpPr>
                <p:nvPr/>
              </p:nvSpPr>
              <p:spPr bwMode="auto">
                <a:xfrm>
                  <a:off x="4920" y="3603"/>
                  <a:ext cx="172" cy="435"/>
                </a:xfrm>
                <a:custGeom>
                  <a:avLst/>
                  <a:gdLst>
                    <a:gd name="T0" fmla="*/ 0 w 272"/>
                    <a:gd name="T1" fmla="*/ 19549 h 168"/>
                    <a:gd name="T2" fmla="*/ 1 w 272"/>
                    <a:gd name="T3" fmla="*/ 19549 h 168"/>
                    <a:gd name="T4" fmla="*/ 1 w 272"/>
                    <a:gd name="T5" fmla="*/ 19549 h 168"/>
                    <a:gd name="T6" fmla="*/ 1 w 272"/>
                    <a:gd name="T7" fmla="*/ 19549 h 168"/>
                    <a:gd name="T8" fmla="*/ 1 w 272"/>
                    <a:gd name="T9" fmla="*/ 19549 h 168"/>
                    <a:gd name="T10" fmla="*/ 1 w 272"/>
                    <a:gd name="T11" fmla="*/ 19422 h 168"/>
                    <a:gd name="T12" fmla="*/ 2 w 272"/>
                    <a:gd name="T13" fmla="*/ 19093 h 168"/>
                    <a:gd name="T14" fmla="*/ 3 w 272"/>
                    <a:gd name="T15" fmla="*/ 18296 h 168"/>
                    <a:gd name="T16" fmla="*/ 4 w 272"/>
                    <a:gd name="T17" fmla="*/ 14650 h 168"/>
                    <a:gd name="T18" fmla="*/ 7 w 272"/>
                    <a:gd name="T19" fmla="*/ 9787 h 168"/>
                    <a:gd name="T20" fmla="*/ 9 w 272"/>
                    <a:gd name="T21" fmla="*/ 4754 h 168"/>
                    <a:gd name="T22" fmla="*/ 11 w 272"/>
                    <a:gd name="T23" fmla="*/ 1978 h 168"/>
                    <a:gd name="T24" fmla="*/ 12 w 272"/>
                    <a:gd name="T25" fmla="*/ 590 h 168"/>
                    <a:gd name="T26" fmla="*/ 13 w 272"/>
                    <a:gd name="T27" fmla="*/ 228 h 168"/>
                    <a:gd name="T28" fmla="*/ 13 w 272"/>
                    <a:gd name="T29" fmla="*/ 140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228 h 168"/>
                    <a:gd name="T52" fmla="*/ 16 w 272"/>
                    <a:gd name="T53" fmla="*/ 709 h 168"/>
                    <a:gd name="T54" fmla="*/ 17 w 272"/>
                    <a:gd name="T55" fmla="*/ 2916 h 168"/>
                    <a:gd name="T56" fmla="*/ 20 w 272"/>
                    <a:gd name="T57" fmla="*/ 7328 h 168"/>
                    <a:gd name="T58" fmla="*/ 22 w 272"/>
                    <a:gd name="T59" fmla="*/ 12221 h 168"/>
                    <a:gd name="T60" fmla="*/ 24 w 272"/>
                    <a:gd name="T61" fmla="*/ 16634 h 168"/>
                    <a:gd name="T62" fmla="*/ 25 w 272"/>
                    <a:gd name="T63" fmla="*/ 18296 h 168"/>
                    <a:gd name="T64" fmla="*/ 27 w 272"/>
                    <a:gd name="T65" fmla="*/ 19093 h 168"/>
                    <a:gd name="T66" fmla="*/ 27 w 272"/>
                    <a:gd name="T67" fmla="*/ 19422 h 168"/>
                    <a:gd name="T68" fmla="*/ 27 w 272"/>
                    <a:gd name="T69" fmla="*/ 19549 h 168"/>
                    <a:gd name="T70" fmla="*/ 27 w 272"/>
                    <a:gd name="T71" fmla="*/ 19549 h 168"/>
                    <a:gd name="T72" fmla="*/ 27 w 272"/>
                    <a:gd name="T73" fmla="*/ 19549 h 168"/>
                    <a:gd name="T74" fmla="*/ 27 w 272"/>
                    <a:gd name="T75" fmla="*/ 19549 h 168"/>
                    <a:gd name="T76" fmla="*/ 28 w 272"/>
                    <a:gd name="T77" fmla="*/ 19549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9927" name="Freeform 19"/>
                <p:cNvSpPr>
                  <a:spLocks/>
                </p:cNvSpPr>
                <p:nvPr/>
              </p:nvSpPr>
              <p:spPr bwMode="auto">
                <a:xfrm>
                  <a:off x="5094" y="3729"/>
                  <a:ext cx="172" cy="309"/>
                </a:xfrm>
                <a:custGeom>
                  <a:avLst/>
                  <a:gdLst>
                    <a:gd name="T0" fmla="*/ 0 w 272"/>
                    <a:gd name="T1" fmla="*/ 3535 h 168"/>
                    <a:gd name="T2" fmla="*/ 1 w 272"/>
                    <a:gd name="T3" fmla="*/ 3535 h 168"/>
                    <a:gd name="T4" fmla="*/ 1 w 272"/>
                    <a:gd name="T5" fmla="*/ 3535 h 168"/>
                    <a:gd name="T6" fmla="*/ 1 w 272"/>
                    <a:gd name="T7" fmla="*/ 3535 h 168"/>
                    <a:gd name="T8" fmla="*/ 1 w 272"/>
                    <a:gd name="T9" fmla="*/ 3535 h 168"/>
                    <a:gd name="T10" fmla="*/ 1 w 272"/>
                    <a:gd name="T11" fmla="*/ 3515 h 168"/>
                    <a:gd name="T12" fmla="*/ 2 w 272"/>
                    <a:gd name="T13" fmla="*/ 3454 h 168"/>
                    <a:gd name="T14" fmla="*/ 3 w 272"/>
                    <a:gd name="T15" fmla="*/ 3313 h 168"/>
                    <a:gd name="T16" fmla="*/ 4 w 272"/>
                    <a:gd name="T17" fmla="*/ 2656 h 168"/>
                    <a:gd name="T18" fmla="*/ 7 w 272"/>
                    <a:gd name="T19" fmla="*/ 1773 h 168"/>
                    <a:gd name="T20" fmla="*/ 9 w 272"/>
                    <a:gd name="T21" fmla="*/ 859 h 168"/>
                    <a:gd name="T22" fmla="*/ 11 w 272"/>
                    <a:gd name="T23" fmla="*/ 355 h 168"/>
                    <a:gd name="T24" fmla="*/ 12 w 272"/>
                    <a:gd name="T25" fmla="*/ 105 h 168"/>
                    <a:gd name="T26" fmla="*/ 13 w 272"/>
                    <a:gd name="T27" fmla="*/ 44 h 168"/>
                    <a:gd name="T28" fmla="*/ 13 w 272"/>
                    <a:gd name="T29" fmla="*/ 24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44 h 168"/>
                    <a:gd name="T52" fmla="*/ 16 w 272"/>
                    <a:gd name="T53" fmla="*/ 125 h 168"/>
                    <a:gd name="T54" fmla="*/ 17 w 272"/>
                    <a:gd name="T55" fmla="*/ 528 h 168"/>
                    <a:gd name="T56" fmla="*/ 20 w 272"/>
                    <a:gd name="T57" fmla="*/ 1326 h 168"/>
                    <a:gd name="T58" fmla="*/ 22 w 272"/>
                    <a:gd name="T59" fmla="*/ 2209 h 168"/>
                    <a:gd name="T60" fmla="*/ 24 w 272"/>
                    <a:gd name="T61" fmla="*/ 3011 h 168"/>
                    <a:gd name="T62" fmla="*/ 25 w 272"/>
                    <a:gd name="T63" fmla="*/ 3313 h 168"/>
                    <a:gd name="T64" fmla="*/ 27 w 272"/>
                    <a:gd name="T65" fmla="*/ 3454 h 168"/>
                    <a:gd name="T66" fmla="*/ 27 w 272"/>
                    <a:gd name="T67" fmla="*/ 3515 h 168"/>
                    <a:gd name="T68" fmla="*/ 27 w 272"/>
                    <a:gd name="T69" fmla="*/ 3535 h 168"/>
                    <a:gd name="T70" fmla="*/ 27 w 272"/>
                    <a:gd name="T71" fmla="*/ 3535 h 168"/>
                    <a:gd name="T72" fmla="*/ 27 w 272"/>
                    <a:gd name="T73" fmla="*/ 3535 h 168"/>
                    <a:gd name="T74" fmla="*/ 27 w 272"/>
                    <a:gd name="T75" fmla="*/ 3535 h 168"/>
                    <a:gd name="T76" fmla="*/ 28 w 272"/>
                    <a:gd name="T77" fmla="*/ 3535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9928" name="Freeform 20"/>
                <p:cNvSpPr>
                  <a:spLocks/>
                </p:cNvSpPr>
                <p:nvPr/>
              </p:nvSpPr>
              <p:spPr bwMode="auto">
                <a:xfrm>
                  <a:off x="5268" y="3873"/>
                  <a:ext cx="172" cy="165"/>
                </a:xfrm>
                <a:custGeom>
                  <a:avLst/>
                  <a:gdLst>
                    <a:gd name="T0" fmla="*/ 0 w 272"/>
                    <a:gd name="T1" fmla="*/ 153 h 168"/>
                    <a:gd name="T2" fmla="*/ 1 w 272"/>
                    <a:gd name="T3" fmla="*/ 153 h 168"/>
                    <a:gd name="T4" fmla="*/ 1 w 272"/>
                    <a:gd name="T5" fmla="*/ 153 h 168"/>
                    <a:gd name="T6" fmla="*/ 1 w 272"/>
                    <a:gd name="T7" fmla="*/ 153 h 168"/>
                    <a:gd name="T8" fmla="*/ 1 w 272"/>
                    <a:gd name="T9" fmla="*/ 153 h 168"/>
                    <a:gd name="T10" fmla="*/ 1 w 272"/>
                    <a:gd name="T11" fmla="*/ 152 h 168"/>
                    <a:gd name="T12" fmla="*/ 2 w 272"/>
                    <a:gd name="T13" fmla="*/ 149 h 168"/>
                    <a:gd name="T14" fmla="*/ 3 w 272"/>
                    <a:gd name="T15" fmla="*/ 142 h 168"/>
                    <a:gd name="T16" fmla="*/ 4 w 272"/>
                    <a:gd name="T17" fmla="*/ 116 h 168"/>
                    <a:gd name="T18" fmla="*/ 7 w 272"/>
                    <a:gd name="T19" fmla="*/ 79 h 168"/>
                    <a:gd name="T20" fmla="*/ 9 w 272"/>
                    <a:gd name="T21" fmla="*/ 36 h 168"/>
                    <a:gd name="T22" fmla="*/ 11 w 272"/>
                    <a:gd name="T23" fmla="*/ 17 h 168"/>
                    <a:gd name="T24" fmla="*/ 12 w 272"/>
                    <a:gd name="T25" fmla="*/ 5 h 168"/>
                    <a:gd name="T26" fmla="*/ 13 w 272"/>
                    <a:gd name="T27" fmla="*/ 2 h 168"/>
                    <a:gd name="T28" fmla="*/ 13 w 272"/>
                    <a:gd name="T29" fmla="*/ 1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2 h 168"/>
                    <a:gd name="T52" fmla="*/ 16 w 272"/>
                    <a:gd name="T53" fmla="*/ 6 h 168"/>
                    <a:gd name="T54" fmla="*/ 17 w 272"/>
                    <a:gd name="T55" fmla="*/ 25 h 168"/>
                    <a:gd name="T56" fmla="*/ 20 w 272"/>
                    <a:gd name="T57" fmla="*/ 58 h 168"/>
                    <a:gd name="T58" fmla="*/ 22 w 272"/>
                    <a:gd name="T59" fmla="*/ 95 h 168"/>
                    <a:gd name="T60" fmla="*/ 24 w 272"/>
                    <a:gd name="T61" fmla="*/ 132 h 168"/>
                    <a:gd name="T62" fmla="*/ 25 w 272"/>
                    <a:gd name="T63" fmla="*/ 142 h 168"/>
                    <a:gd name="T64" fmla="*/ 27 w 272"/>
                    <a:gd name="T65" fmla="*/ 149 h 168"/>
                    <a:gd name="T66" fmla="*/ 27 w 272"/>
                    <a:gd name="T67" fmla="*/ 152 h 168"/>
                    <a:gd name="T68" fmla="*/ 27 w 272"/>
                    <a:gd name="T69" fmla="*/ 153 h 168"/>
                    <a:gd name="T70" fmla="*/ 27 w 272"/>
                    <a:gd name="T71" fmla="*/ 153 h 168"/>
                    <a:gd name="T72" fmla="*/ 27 w 272"/>
                    <a:gd name="T73" fmla="*/ 153 h 168"/>
                    <a:gd name="T74" fmla="*/ 27 w 272"/>
                    <a:gd name="T75" fmla="*/ 153 h 168"/>
                    <a:gd name="T76" fmla="*/ 28 w 272"/>
                    <a:gd name="T77" fmla="*/ 153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9929" name="Freeform 21"/>
                <p:cNvSpPr>
                  <a:spLocks/>
                </p:cNvSpPr>
                <p:nvPr/>
              </p:nvSpPr>
              <p:spPr bwMode="auto">
                <a:xfrm>
                  <a:off x="5436" y="3975"/>
                  <a:ext cx="172" cy="63"/>
                </a:xfrm>
                <a:custGeom>
                  <a:avLst/>
                  <a:gdLst>
                    <a:gd name="T0" fmla="*/ 0 w 272"/>
                    <a:gd name="T1" fmla="*/ 1 h 168"/>
                    <a:gd name="T2" fmla="*/ 1 w 272"/>
                    <a:gd name="T3" fmla="*/ 1 h 168"/>
                    <a:gd name="T4" fmla="*/ 1 w 272"/>
                    <a:gd name="T5" fmla="*/ 1 h 168"/>
                    <a:gd name="T6" fmla="*/ 1 w 272"/>
                    <a:gd name="T7" fmla="*/ 1 h 168"/>
                    <a:gd name="T8" fmla="*/ 1 w 272"/>
                    <a:gd name="T9" fmla="*/ 1 h 168"/>
                    <a:gd name="T10" fmla="*/ 1 w 272"/>
                    <a:gd name="T11" fmla="*/ 1 h 168"/>
                    <a:gd name="T12" fmla="*/ 2 w 272"/>
                    <a:gd name="T13" fmla="*/ 1 h 168"/>
                    <a:gd name="T14" fmla="*/ 3 w 272"/>
                    <a:gd name="T15" fmla="*/ 1 h 168"/>
                    <a:gd name="T16" fmla="*/ 4 w 272"/>
                    <a:gd name="T17" fmla="*/ 1 h 168"/>
                    <a:gd name="T18" fmla="*/ 7 w 272"/>
                    <a:gd name="T19" fmla="*/ 1 h 168"/>
                    <a:gd name="T20" fmla="*/ 9 w 272"/>
                    <a:gd name="T21" fmla="*/ 0 h 168"/>
                    <a:gd name="T22" fmla="*/ 11 w 272"/>
                    <a:gd name="T23" fmla="*/ 0 h 168"/>
                    <a:gd name="T24" fmla="*/ 12 w 272"/>
                    <a:gd name="T25" fmla="*/ 0 h 168"/>
                    <a:gd name="T26" fmla="*/ 13 w 272"/>
                    <a:gd name="T27" fmla="*/ 0 h 168"/>
                    <a:gd name="T28" fmla="*/ 13 w 272"/>
                    <a:gd name="T29" fmla="*/ 0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0 h 168"/>
                    <a:gd name="T52" fmla="*/ 16 w 272"/>
                    <a:gd name="T53" fmla="*/ 0 h 168"/>
                    <a:gd name="T54" fmla="*/ 17 w 272"/>
                    <a:gd name="T55" fmla="*/ 0 h 168"/>
                    <a:gd name="T56" fmla="*/ 20 w 272"/>
                    <a:gd name="T57" fmla="*/ 0 h 168"/>
                    <a:gd name="T58" fmla="*/ 22 w 272"/>
                    <a:gd name="T59" fmla="*/ 1 h 168"/>
                    <a:gd name="T60" fmla="*/ 24 w 272"/>
                    <a:gd name="T61" fmla="*/ 1 h 168"/>
                    <a:gd name="T62" fmla="*/ 25 w 272"/>
                    <a:gd name="T63" fmla="*/ 1 h 168"/>
                    <a:gd name="T64" fmla="*/ 27 w 272"/>
                    <a:gd name="T65" fmla="*/ 1 h 168"/>
                    <a:gd name="T66" fmla="*/ 27 w 272"/>
                    <a:gd name="T67" fmla="*/ 1 h 168"/>
                    <a:gd name="T68" fmla="*/ 27 w 272"/>
                    <a:gd name="T69" fmla="*/ 1 h 168"/>
                    <a:gd name="T70" fmla="*/ 27 w 272"/>
                    <a:gd name="T71" fmla="*/ 1 h 168"/>
                    <a:gd name="T72" fmla="*/ 27 w 272"/>
                    <a:gd name="T73" fmla="*/ 1 h 168"/>
                    <a:gd name="T74" fmla="*/ 27 w 272"/>
                    <a:gd name="T75" fmla="*/ 1 h 168"/>
                    <a:gd name="T76" fmla="*/ 28 w 272"/>
                    <a:gd name="T77" fmla="*/ 1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6" name="Group 22"/>
            <p:cNvGrpSpPr>
              <a:grpSpLocks/>
            </p:cNvGrpSpPr>
            <p:nvPr/>
          </p:nvGrpSpPr>
          <p:grpSpPr bwMode="auto">
            <a:xfrm>
              <a:off x="4064" y="3015"/>
              <a:ext cx="271" cy="264"/>
              <a:chOff x="4454" y="1277"/>
              <a:chExt cx="271" cy="264"/>
            </a:xfrm>
          </p:grpSpPr>
          <p:sp>
            <p:nvSpPr>
              <p:cNvPr id="379919" name="Rectangle 23"/>
              <p:cNvSpPr>
                <a:spLocks noChangeArrowheads="1"/>
              </p:cNvSpPr>
              <p:nvPr/>
            </p:nvSpPr>
            <p:spPr bwMode="auto">
              <a:xfrm>
                <a:off x="4454" y="1293"/>
                <a:ext cx="116" cy="233"/>
              </a:xfrm>
              <a:prstGeom prst="rect">
                <a:avLst/>
              </a:prstGeom>
              <a:solidFill>
                <a:schemeClr val="accent2"/>
              </a:solidFill>
              <a:ln w="38100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grpSp>
            <p:nvGrpSpPr>
              <p:cNvPr id="7" name="Group 24"/>
              <p:cNvGrpSpPr>
                <a:grpSpLocks/>
              </p:cNvGrpSpPr>
              <p:nvPr/>
            </p:nvGrpSpPr>
            <p:grpSpPr bwMode="auto">
              <a:xfrm>
                <a:off x="4619" y="1277"/>
                <a:ext cx="106" cy="264"/>
                <a:chOff x="4600" y="1291"/>
                <a:chExt cx="106" cy="264"/>
              </a:xfrm>
            </p:grpSpPr>
            <p:sp>
              <p:nvSpPr>
                <p:cNvPr id="379921" name="Line 25"/>
                <p:cNvSpPr>
                  <a:spLocks noChangeShapeType="1"/>
                </p:cNvSpPr>
                <p:nvPr/>
              </p:nvSpPr>
              <p:spPr bwMode="auto">
                <a:xfrm>
                  <a:off x="4600" y="1291"/>
                  <a:ext cx="0" cy="264"/>
                </a:xfrm>
                <a:prstGeom prst="line">
                  <a:avLst/>
                </a:prstGeom>
                <a:noFill/>
                <a:ln w="38100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379922" name="Line 26"/>
                <p:cNvSpPr>
                  <a:spLocks noChangeShapeType="1"/>
                </p:cNvSpPr>
                <p:nvPr/>
              </p:nvSpPr>
              <p:spPr bwMode="auto">
                <a:xfrm>
                  <a:off x="4706" y="1291"/>
                  <a:ext cx="0" cy="264"/>
                </a:xfrm>
                <a:prstGeom prst="line">
                  <a:avLst/>
                </a:prstGeom>
                <a:noFill/>
                <a:ln w="38100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2001947" name="Rectangle 27"/>
          <p:cNvSpPr>
            <a:spLocks noChangeArrowheads="1"/>
          </p:cNvSpPr>
          <p:nvPr/>
        </p:nvSpPr>
        <p:spPr bwMode="auto">
          <a:xfrm>
            <a:off x="2000250" y="3944939"/>
            <a:ext cx="2782888" cy="480131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2800" b="1" i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</a:t>
            </a:r>
            <a:r>
              <a:rPr 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sin </a:t>
            </a:r>
            <a:r>
              <a:rPr 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 </a:t>
            </a:r>
            <a:r>
              <a:rPr 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=  m </a:t>
            </a:r>
            <a:r>
              <a:rPr lang="en-US"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ymbol" pitchFamily="18" charset="2"/>
              </a:rPr>
              <a:t></a:t>
            </a:r>
            <a:endParaRPr lang="en-US" sz="2000" b="1">
              <a:solidFill>
                <a:srgbClr val="FF0000"/>
              </a:solidFill>
              <a:latin typeface="Symbol" pitchFamily="18" charset="2"/>
            </a:endParaRPr>
          </a:p>
        </p:txBody>
      </p:sp>
      <p:sp>
        <p:nvSpPr>
          <p:cNvPr id="379913" name="Oval 28"/>
          <p:cNvSpPr>
            <a:spLocks noChangeArrowheads="1"/>
          </p:cNvSpPr>
          <p:nvPr/>
        </p:nvSpPr>
        <p:spPr bwMode="auto">
          <a:xfrm>
            <a:off x="6299201" y="1496730"/>
            <a:ext cx="2847975" cy="52705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936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1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01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1947" grpId="0" animBg="1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3971" name="Rectangle 3"/>
          <p:cNvSpPr>
            <a:spLocks noGrp="1" noChangeArrowheads="1"/>
          </p:cNvSpPr>
          <p:nvPr>
            <p:ph type="title"/>
          </p:nvPr>
        </p:nvSpPr>
        <p:spPr>
          <a:xfrm>
            <a:off x="2184401" y="0"/>
            <a:ext cx="8050213" cy="838200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sz="2800" i="1"/>
              <a:t>ConcepTest 24.3b	 </a:t>
            </a:r>
            <a:r>
              <a:rPr lang="en-US" sz="2800">
                <a:solidFill>
                  <a:schemeClr val="accent2"/>
                </a:solidFill>
              </a:rPr>
              <a:t>Double Slits II</a:t>
            </a:r>
          </a:p>
        </p:txBody>
      </p:sp>
      <p:sp>
        <p:nvSpPr>
          <p:cNvPr id="2003993" name="Rectangle 25"/>
          <p:cNvSpPr>
            <a:spLocks noGrp="1" noChangeArrowheads="1"/>
          </p:cNvSpPr>
          <p:nvPr>
            <p:ph idx="1"/>
          </p:nvPr>
        </p:nvSpPr>
        <p:spPr>
          <a:xfrm>
            <a:off x="1524000" y="1215836"/>
            <a:ext cx="4732338" cy="3502469"/>
          </a:xfrm>
        </p:spPr>
        <p:txBody>
          <a:bodyPr>
            <a:normAutofit/>
          </a:bodyPr>
          <a:lstStyle/>
          <a:p>
            <a:pPr marL="401638" indent="-401638">
              <a:lnSpc>
                <a:spcPct val="140000"/>
              </a:lnSpc>
              <a:buNone/>
              <a:defRPr/>
            </a:pPr>
            <a:r>
              <a:rPr lang="en-US" sz="2400" b="1" dirty="0"/>
              <a:t>	</a:t>
            </a:r>
            <a:r>
              <a:rPr lang="en-US" b="1" dirty="0"/>
              <a:t>If instead the </a:t>
            </a:r>
            <a:r>
              <a:rPr lang="en-US" b="1" dirty="0">
                <a:solidFill>
                  <a:schemeClr val="tx2"/>
                </a:solidFill>
              </a:rPr>
              <a:t>slits</a:t>
            </a:r>
            <a:r>
              <a:rPr lang="en-US" b="1" dirty="0"/>
              <a:t> are moved </a:t>
            </a:r>
            <a:r>
              <a:rPr lang="en-US" b="1" dirty="0">
                <a:solidFill>
                  <a:schemeClr val="tx2"/>
                </a:solidFill>
              </a:rPr>
              <a:t>farther apart</a:t>
            </a:r>
            <a:r>
              <a:rPr lang="en-US" b="1" dirty="0"/>
              <a:t> (without changing the wavelength) the interference pattern </a:t>
            </a:r>
          </a:p>
          <a:p>
            <a:pPr marL="401638" indent="-401638">
              <a:lnSpc>
                <a:spcPct val="140000"/>
              </a:lnSpc>
              <a:spcBef>
                <a:spcPct val="50000"/>
              </a:spcBef>
              <a:defRPr/>
            </a:pPr>
            <a:endParaRPr lang="en-US" b="1" dirty="0"/>
          </a:p>
        </p:txBody>
      </p:sp>
      <p:sp>
        <p:nvSpPr>
          <p:cNvPr id="2003972" name="Rectangle 4"/>
          <p:cNvSpPr>
            <a:spLocks noChangeArrowheads="1"/>
          </p:cNvSpPr>
          <p:nvPr/>
        </p:nvSpPr>
        <p:spPr bwMode="auto">
          <a:xfrm>
            <a:off x="6843078" y="1402398"/>
            <a:ext cx="3516312" cy="2195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457200" indent="-457200">
              <a:spcBef>
                <a:spcPct val="50000"/>
              </a:spcBef>
              <a:buFont typeface="+mj-lt"/>
              <a:buAutoNum type="alphaLcParenR"/>
              <a:defRPr/>
            </a:pPr>
            <a:r>
              <a:rPr lang="en-US" sz="2000" b="1" dirty="0">
                <a:solidFill>
                  <a:schemeClr val="tx2"/>
                </a:solidFill>
              </a:rPr>
              <a:t>spreads out</a:t>
            </a:r>
          </a:p>
          <a:p>
            <a:pPr marL="457200" indent="-457200">
              <a:spcBef>
                <a:spcPct val="50000"/>
              </a:spcBef>
              <a:buFont typeface="+mj-lt"/>
              <a:buAutoNum type="alphaLcParenR"/>
              <a:defRPr/>
            </a:pPr>
            <a:r>
              <a:rPr lang="en-US" sz="2000" b="1" dirty="0">
                <a:solidFill>
                  <a:schemeClr val="tx2"/>
                </a:solidFill>
              </a:rPr>
              <a:t>stays the same </a:t>
            </a:r>
            <a:endParaRPr lang="en-US" sz="2000" b="1" baseline="30000" dirty="0">
              <a:solidFill>
                <a:schemeClr val="tx2"/>
              </a:solidFill>
            </a:endParaRPr>
          </a:p>
          <a:p>
            <a:pPr marL="457200" indent="-457200">
              <a:spcBef>
                <a:spcPct val="50000"/>
              </a:spcBef>
              <a:buFont typeface="+mj-lt"/>
              <a:buAutoNum type="alphaLcParenR"/>
              <a:defRPr/>
            </a:pPr>
            <a:r>
              <a:rPr lang="en-US" sz="2000" b="1" dirty="0">
                <a:solidFill>
                  <a:schemeClr val="tx2"/>
                </a:solidFill>
              </a:rPr>
              <a:t>shrinks together</a:t>
            </a:r>
          </a:p>
          <a:p>
            <a:pPr marL="457200" indent="-457200">
              <a:spcBef>
                <a:spcPct val="50000"/>
              </a:spcBef>
              <a:buFont typeface="+mj-lt"/>
              <a:buAutoNum type="alphaLcParenR"/>
              <a:defRPr/>
            </a:pPr>
            <a:r>
              <a:rPr lang="en-US" sz="2000" b="1" dirty="0">
                <a:solidFill>
                  <a:schemeClr val="tx2"/>
                </a:solidFill>
              </a:rPr>
              <a:t>disappears</a:t>
            </a:r>
            <a:endParaRPr lang="en-US" sz="2000" b="1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285750" indent="-285750">
              <a:lnSpc>
                <a:spcPct val="80000"/>
              </a:lnSpc>
              <a:spcBef>
                <a:spcPct val="50000"/>
              </a:spcBef>
              <a:defRPr/>
            </a:pPr>
            <a:endParaRPr lang="en-US" sz="2000" b="1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5661025" y="3424238"/>
            <a:ext cx="3843338" cy="3103562"/>
            <a:chOff x="2606" y="2157"/>
            <a:chExt cx="2421" cy="1955"/>
          </a:xfrm>
        </p:grpSpPr>
        <p:sp>
          <p:nvSpPr>
            <p:cNvPr id="380935" name="AutoShape 6"/>
            <p:cNvSpPr>
              <a:spLocks noChangeArrowheads="1"/>
            </p:cNvSpPr>
            <p:nvPr/>
          </p:nvSpPr>
          <p:spPr bwMode="auto">
            <a:xfrm>
              <a:off x="2606" y="2996"/>
              <a:ext cx="179" cy="296"/>
            </a:xfrm>
            <a:prstGeom prst="cube">
              <a:avLst>
                <a:gd name="adj" fmla="val 35593"/>
              </a:avLst>
            </a:prstGeom>
            <a:noFill/>
            <a:ln w="38100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80936" name="Line 7"/>
            <p:cNvSpPr>
              <a:spLocks noChangeShapeType="1"/>
            </p:cNvSpPr>
            <p:nvPr/>
          </p:nvSpPr>
          <p:spPr bwMode="auto">
            <a:xfrm>
              <a:off x="3223" y="3144"/>
              <a:ext cx="794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grpSp>
          <p:nvGrpSpPr>
            <p:cNvPr id="3" name="Group 8"/>
            <p:cNvGrpSpPr>
              <a:grpSpLocks/>
            </p:cNvGrpSpPr>
            <p:nvPr/>
          </p:nvGrpSpPr>
          <p:grpSpPr bwMode="auto">
            <a:xfrm rot="-5400000">
              <a:off x="3821" y="2906"/>
              <a:ext cx="1955" cy="457"/>
              <a:chOff x="2855" y="192"/>
              <a:chExt cx="2504" cy="896"/>
            </a:xfrm>
          </p:grpSpPr>
          <p:sp>
            <p:nvSpPr>
              <p:cNvPr id="380943" name="Freeform 9"/>
              <p:cNvSpPr>
                <a:spLocks/>
              </p:cNvSpPr>
              <p:nvPr/>
            </p:nvSpPr>
            <p:spPr bwMode="auto">
              <a:xfrm>
                <a:off x="3953" y="192"/>
                <a:ext cx="312" cy="896"/>
              </a:xfrm>
              <a:custGeom>
                <a:avLst/>
                <a:gdLst>
                  <a:gd name="T0" fmla="*/ 0 w 272"/>
                  <a:gd name="T1" fmla="*/ 724992 h 168"/>
                  <a:gd name="T2" fmla="*/ 1 w 272"/>
                  <a:gd name="T3" fmla="*/ 724992 h 168"/>
                  <a:gd name="T4" fmla="*/ 2 w 272"/>
                  <a:gd name="T5" fmla="*/ 724992 h 168"/>
                  <a:gd name="T6" fmla="*/ 3 w 272"/>
                  <a:gd name="T7" fmla="*/ 724992 h 168"/>
                  <a:gd name="T8" fmla="*/ 10 w 272"/>
                  <a:gd name="T9" fmla="*/ 724992 h 168"/>
                  <a:gd name="T10" fmla="*/ 15 w 272"/>
                  <a:gd name="T11" fmla="*/ 720896 h 168"/>
                  <a:gd name="T12" fmla="*/ 28 w 272"/>
                  <a:gd name="T13" fmla="*/ 708011 h 168"/>
                  <a:gd name="T14" fmla="*/ 45 w 272"/>
                  <a:gd name="T15" fmla="*/ 677205 h 168"/>
                  <a:gd name="T16" fmla="*/ 91 w 272"/>
                  <a:gd name="T17" fmla="*/ 543717 h 168"/>
                  <a:gd name="T18" fmla="*/ 134 w 272"/>
                  <a:gd name="T19" fmla="*/ 362411 h 168"/>
                  <a:gd name="T20" fmla="*/ 179 w 272"/>
                  <a:gd name="T21" fmla="*/ 177179 h 168"/>
                  <a:gd name="T22" fmla="*/ 214 w 272"/>
                  <a:gd name="T23" fmla="*/ 73584 h 168"/>
                  <a:gd name="T24" fmla="*/ 239 w 272"/>
                  <a:gd name="T25" fmla="*/ 21845 h 168"/>
                  <a:gd name="T26" fmla="*/ 248 w 272"/>
                  <a:gd name="T27" fmla="*/ 8960 h 168"/>
                  <a:gd name="T28" fmla="*/ 256 w 272"/>
                  <a:gd name="T29" fmla="*/ 4096 h 168"/>
                  <a:gd name="T30" fmla="*/ 259 w 272"/>
                  <a:gd name="T31" fmla="*/ 0 h 168"/>
                  <a:gd name="T32" fmla="*/ 265 w 272"/>
                  <a:gd name="T33" fmla="*/ 0 h 168"/>
                  <a:gd name="T34" fmla="*/ 267 w 272"/>
                  <a:gd name="T35" fmla="*/ 0 h 168"/>
                  <a:gd name="T36" fmla="*/ 268 w 272"/>
                  <a:gd name="T37" fmla="*/ 0 h 168"/>
                  <a:gd name="T38" fmla="*/ 270 w 272"/>
                  <a:gd name="T39" fmla="*/ 0 h 168"/>
                  <a:gd name="T40" fmla="*/ 270 w 272"/>
                  <a:gd name="T41" fmla="*/ 0 h 168"/>
                  <a:gd name="T42" fmla="*/ 271 w 272"/>
                  <a:gd name="T43" fmla="*/ 0 h 168"/>
                  <a:gd name="T44" fmla="*/ 274 w 272"/>
                  <a:gd name="T45" fmla="*/ 0 h 168"/>
                  <a:gd name="T46" fmla="*/ 275 w 272"/>
                  <a:gd name="T47" fmla="*/ 0 h 168"/>
                  <a:gd name="T48" fmla="*/ 280 w 272"/>
                  <a:gd name="T49" fmla="*/ 0 h 168"/>
                  <a:gd name="T50" fmla="*/ 287 w 272"/>
                  <a:gd name="T51" fmla="*/ 8960 h 168"/>
                  <a:gd name="T52" fmla="*/ 304 w 272"/>
                  <a:gd name="T53" fmla="*/ 25941 h 168"/>
                  <a:gd name="T54" fmla="*/ 338 w 272"/>
                  <a:gd name="T55" fmla="*/ 107547 h 168"/>
                  <a:gd name="T56" fmla="*/ 382 w 272"/>
                  <a:gd name="T57" fmla="*/ 271845 h 168"/>
                  <a:gd name="T58" fmla="*/ 428 w 272"/>
                  <a:gd name="T59" fmla="*/ 453147 h 168"/>
                  <a:gd name="T60" fmla="*/ 473 w 272"/>
                  <a:gd name="T61" fmla="*/ 617275 h 168"/>
                  <a:gd name="T62" fmla="*/ 496 w 272"/>
                  <a:gd name="T63" fmla="*/ 677205 h 168"/>
                  <a:gd name="T64" fmla="*/ 514 w 272"/>
                  <a:gd name="T65" fmla="*/ 708011 h 168"/>
                  <a:gd name="T66" fmla="*/ 525 w 272"/>
                  <a:gd name="T67" fmla="*/ 720896 h 168"/>
                  <a:gd name="T68" fmla="*/ 531 w 272"/>
                  <a:gd name="T69" fmla="*/ 724992 h 168"/>
                  <a:gd name="T70" fmla="*/ 537 w 272"/>
                  <a:gd name="T71" fmla="*/ 724992 h 168"/>
                  <a:gd name="T72" fmla="*/ 538 w 272"/>
                  <a:gd name="T73" fmla="*/ 724992 h 168"/>
                  <a:gd name="T74" fmla="*/ 538 w 272"/>
                  <a:gd name="T75" fmla="*/ 724992 h 168"/>
                  <a:gd name="T76" fmla="*/ 540 w 272"/>
                  <a:gd name="T77" fmla="*/ 724992 h 168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272"/>
                  <a:gd name="T118" fmla="*/ 0 h 168"/>
                  <a:gd name="T119" fmla="*/ 272 w 272"/>
                  <a:gd name="T120" fmla="*/ 168 h 168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272" h="168">
                    <a:moveTo>
                      <a:pt x="0" y="168"/>
                    </a:moveTo>
                    <a:lnTo>
                      <a:pt x="0" y="168"/>
                    </a:lnTo>
                    <a:lnTo>
                      <a:pt x="1" y="168"/>
                    </a:lnTo>
                    <a:lnTo>
                      <a:pt x="2" y="168"/>
                    </a:lnTo>
                    <a:lnTo>
                      <a:pt x="3" y="168"/>
                    </a:lnTo>
                    <a:lnTo>
                      <a:pt x="4" y="168"/>
                    </a:lnTo>
                    <a:lnTo>
                      <a:pt x="5" y="168"/>
                    </a:lnTo>
                    <a:lnTo>
                      <a:pt x="6" y="167"/>
                    </a:lnTo>
                    <a:lnTo>
                      <a:pt x="8" y="167"/>
                    </a:lnTo>
                    <a:lnTo>
                      <a:pt x="11" y="166"/>
                    </a:lnTo>
                    <a:lnTo>
                      <a:pt x="14" y="164"/>
                    </a:lnTo>
                    <a:lnTo>
                      <a:pt x="17" y="162"/>
                    </a:lnTo>
                    <a:lnTo>
                      <a:pt x="23" y="157"/>
                    </a:lnTo>
                    <a:lnTo>
                      <a:pt x="34" y="143"/>
                    </a:lnTo>
                    <a:lnTo>
                      <a:pt x="45" y="126"/>
                    </a:lnTo>
                    <a:lnTo>
                      <a:pt x="57" y="105"/>
                    </a:lnTo>
                    <a:lnTo>
                      <a:pt x="68" y="84"/>
                    </a:lnTo>
                    <a:lnTo>
                      <a:pt x="80" y="61"/>
                    </a:lnTo>
                    <a:lnTo>
                      <a:pt x="91" y="41"/>
                    </a:lnTo>
                    <a:lnTo>
                      <a:pt x="102" y="24"/>
                    </a:lnTo>
                    <a:lnTo>
                      <a:pt x="108" y="17"/>
                    </a:lnTo>
                    <a:lnTo>
                      <a:pt x="114" y="10"/>
                    </a:lnTo>
                    <a:lnTo>
                      <a:pt x="120" y="5"/>
                    </a:lnTo>
                    <a:lnTo>
                      <a:pt x="123" y="4"/>
                    </a:lnTo>
                    <a:lnTo>
                      <a:pt x="125" y="2"/>
                    </a:lnTo>
                    <a:lnTo>
                      <a:pt x="127" y="2"/>
                    </a:lnTo>
                    <a:lnTo>
                      <a:pt x="128" y="1"/>
                    </a:lnTo>
                    <a:lnTo>
                      <a:pt x="130" y="1"/>
                    </a:lnTo>
                    <a:lnTo>
                      <a:pt x="131" y="0"/>
                    </a:lnTo>
                    <a:lnTo>
                      <a:pt x="132" y="0"/>
                    </a:lnTo>
                    <a:lnTo>
                      <a:pt x="133" y="0"/>
                    </a:lnTo>
                    <a:lnTo>
                      <a:pt x="134" y="0"/>
                    </a:lnTo>
                    <a:lnTo>
                      <a:pt x="135" y="0"/>
                    </a:lnTo>
                    <a:lnTo>
                      <a:pt x="136" y="0"/>
                    </a:lnTo>
                    <a:lnTo>
                      <a:pt x="137" y="0"/>
                    </a:lnTo>
                    <a:lnTo>
                      <a:pt x="138" y="0"/>
                    </a:lnTo>
                    <a:lnTo>
                      <a:pt x="139" y="0"/>
                    </a:lnTo>
                    <a:lnTo>
                      <a:pt x="141" y="0"/>
                    </a:lnTo>
                    <a:lnTo>
                      <a:pt x="142" y="1"/>
                    </a:lnTo>
                    <a:lnTo>
                      <a:pt x="145" y="2"/>
                    </a:lnTo>
                    <a:lnTo>
                      <a:pt x="148" y="3"/>
                    </a:lnTo>
                    <a:lnTo>
                      <a:pt x="153" y="6"/>
                    </a:lnTo>
                    <a:lnTo>
                      <a:pt x="159" y="11"/>
                    </a:lnTo>
                    <a:lnTo>
                      <a:pt x="170" y="25"/>
                    </a:lnTo>
                    <a:lnTo>
                      <a:pt x="181" y="42"/>
                    </a:lnTo>
                    <a:lnTo>
                      <a:pt x="193" y="63"/>
                    </a:lnTo>
                    <a:lnTo>
                      <a:pt x="204" y="84"/>
                    </a:lnTo>
                    <a:lnTo>
                      <a:pt x="215" y="105"/>
                    </a:lnTo>
                    <a:lnTo>
                      <a:pt x="227" y="126"/>
                    </a:lnTo>
                    <a:lnTo>
                      <a:pt x="238" y="143"/>
                    </a:lnTo>
                    <a:lnTo>
                      <a:pt x="244" y="151"/>
                    </a:lnTo>
                    <a:lnTo>
                      <a:pt x="250" y="157"/>
                    </a:lnTo>
                    <a:lnTo>
                      <a:pt x="256" y="162"/>
                    </a:lnTo>
                    <a:lnTo>
                      <a:pt x="259" y="164"/>
                    </a:lnTo>
                    <a:lnTo>
                      <a:pt x="261" y="166"/>
                    </a:lnTo>
                    <a:lnTo>
                      <a:pt x="264" y="167"/>
                    </a:lnTo>
                    <a:lnTo>
                      <a:pt x="267" y="167"/>
                    </a:lnTo>
                    <a:lnTo>
                      <a:pt x="268" y="168"/>
                    </a:lnTo>
                    <a:lnTo>
                      <a:pt x="269" y="168"/>
                    </a:lnTo>
                    <a:lnTo>
                      <a:pt x="270" y="168"/>
                    </a:lnTo>
                    <a:lnTo>
                      <a:pt x="271" y="168"/>
                    </a:lnTo>
                    <a:lnTo>
                      <a:pt x="272" y="168"/>
                    </a:lnTo>
                  </a:path>
                </a:pathLst>
              </a:cu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" name="Group 10"/>
              <p:cNvGrpSpPr>
                <a:grpSpLocks/>
              </p:cNvGrpSpPr>
              <p:nvPr/>
            </p:nvGrpSpPr>
            <p:grpSpPr bwMode="auto">
              <a:xfrm>
                <a:off x="4264" y="422"/>
                <a:ext cx="1095" cy="666"/>
                <a:chOff x="4920" y="3603"/>
                <a:chExt cx="688" cy="435"/>
              </a:xfrm>
            </p:grpSpPr>
            <p:sp>
              <p:nvSpPr>
                <p:cNvPr id="380950" name="Freeform 11"/>
                <p:cNvSpPr>
                  <a:spLocks/>
                </p:cNvSpPr>
                <p:nvPr/>
              </p:nvSpPr>
              <p:spPr bwMode="auto">
                <a:xfrm>
                  <a:off x="4920" y="3603"/>
                  <a:ext cx="172" cy="435"/>
                </a:xfrm>
                <a:custGeom>
                  <a:avLst/>
                  <a:gdLst>
                    <a:gd name="T0" fmla="*/ 0 w 272"/>
                    <a:gd name="T1" fmla="*/ 19549 h 168"/>
                    <a:gd name="T2" fmla="*/ 1 w 272"/>
                    <a:gd name="T3" fmla="*/ 19549 h 168"/>
                    <a:gd name="T4" fmla="*/ 1 w 272"/>
                    <a:gd name="T5" fmla="*/ 19549 h 168"/>
                    <a:gd name="T6" fmla="*/ 1 w 272"/>
                    <a:gd name="T7" fmla="*/ 19549 h 168"/>
                    <a:gd name="T8" fmla="*/ 1 w 272"/>
                    <a:gd name="T9" fmla="*/ 19549 h 168"/>
                    <a:gd name="T10" fmla="*/ 1 w 272"/>
                    <a:gd name="T11" fmla="*/ 19422 h 168"/>
                    <a:gd name="T12" fmla="*/ 2 w 272"/>
                    <a:gd name="T13" fmla="*/ 19093 h 168"/>
                    <a:gd name="T14" fmla="*/ 3 w 272"/>
                    <a:gd name="T15" fmla="*/ 18296 h 168"/>
                    <a:gd name="T16" fmla="*/ 4 w 272"/>
                    <a:gd name="T17" fmla="*/ 14650 h 168"/>
                    <a:gd name="T18" fmla="*/ 7 w 272"/>
                    <a:gd name="T19" fmla="*/ 9787 h 168"/>
                    <a:gd name="T20" fmla="*/ 9 w 272"/>
                    <a:gd name="T21" fmla="*/ 4754 h 168"/>
                    <a:gd name="T22" fmla="*/ 11 w 272"/>
                    <a:gd name="T23" fmla="*/ 1978 h 168"/>
                    <a:gd name="T24" fmla="*/ 12 w 272"/>
                    <a:gd name="T25" fmla="*/ 590 h 168"/>
                    <a:gd name="T26" fmla="*/ 13 w 272"/>
                    <a:gd name="T27" fmla="*/ 228 h 168"/>
                    <a:gd name="T28" fmla="*/ 13 w 272"/>
                    <a:gd name="T29" fmla="*/ 140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228 h 168"/>
                    <a:gd name="T52" fmla="*/ 16 w 272"/>
                    <a:gd name="T53" fmla="*/ 709 h 168"/>
                    <a:gd name="T54" fmla="*/ 17 w 272"/>
                    <a:gd name="T55" fmla="*/ 2916 h 168"/>
                    <a:gd name="T56" fmla="*/ 20 w 272"/>
                    <a:gd name="T57" fmla="*/ 7328 h 168"/>
                    <a:gd name="T58" fmla="*/ 22 w 272"/>
                    <a:gd name="T59" fmla="*/ 12221 h 168"/>
                    <a:gd name="T60" fmla="*/ 24 w 272"/>
                    <a:gd name="T61" fmla="*/ 16634 h 168"/>
                    <a:gd name="T62" fmla="*/ 25 w 272"/>
                    <a:gd name="T63" fmla="*/ 18296 h 168"/>
                    <a:gd name="T64" fmla="*/ 27 w 272"/>
                    <a:gd name="T65" fmla="*/ 19093 h 168"/>
                    <a:gd name="T66" fmla="*/ 27 w 272"/>
                    <a:gd name="T67" fmla="*/ 19422 h 168"/>
                    <a:gd name="T68" fmla="*/ 27 w 272"/>
                    <a:gd name="T69" fmla="*/ 19549 h 168"/>
                    <a:gd name="T70" fmla="*/ 27 w 272"/>
                    <a:gd name="T71" fmla="*/ 19549 h 168"/>
                    <a:gd name="T72" fmla="*/ 27 w 272"/>
                    <a:gd name="T73" fmla="*/ 19549 h 168"/>
                    <a:gd name="T74" fmla="*/ 27 w 272"/>
                    <a:gd name="T75" fmla="*/ 19549 h 168"/>
                    <a:gd name="T76" fmla="*/ 28 w 272"/>
                    <a:gd name="T77" fmla="*/ 19549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0951" name="Freeform 12"/>
                <p:cNvSpPr>
                  <a:spLocks/>
                </p:cNvSpPr>
                <p:nvPr/>
              </p:nvSpPr>
              <p:spPr bwMode="auto">
                <a:xfrm>
                  <a:off x="5094" y="3729"/>
                  <a:ext cx="172" cy="309"/>
                </a:xfrm>
                <a:custGeom>
                  <a:avLst/>
                  <a:gdLst>
                    <a:gd name="T0" fmla="*/ 0 w 272"/>
                    <a:gd name="T1" fmla="*/ 3535 h 168"/>
                    <a:gd name="T2" fmla="*/ 1 w 272"/>
                    <a:gd name="T3" fmla="*/ 3535 h 168"/>
                    <a:gd name="T4" fmla="*/ 1 w 272"/>
                    <a:gd name="T5" fmla="*/ 3535 h 168"/>
                    <a:gd name="T6" fmla="*/ 1 w 272"/>
                    <a:gd name="T7" fmla="*/ 3535 h 168"/>
                    <a:gd name="T8" fmla="*/ 1 w 272"/>
                    <a:gd name="T9" fmla="*/ 3535 h 168"/>
                    <a:gd name="T10" fmla="*/ 1 w 272"/>
                    <a:gd name="T11" fmla="*/ 3515 h 168"/>
                    <a:gd name="T12" fmla="*/ 2 w 272"/>
                    <a:gd name="T13" fmla="*/ 3454 h 168"/>
                    <a:gd name="T14" fmla="*/ 3 w 272"/>
                    <a:gd name="T15" fmla="*/ 3313 h 168"/>
                    <a:gd name="T16" fmla="*/ 4 w 272"/>
                    <a:gd name="T17" fmla="*/ 2656 h 168"/>
                    <a:gd name="T18" fmla="*/ 7 w 272"/>
                    <a:gd name="T19" fmla="*/ 1773 h 168"/>
                    <a:gd name="T20" fmla="*/ 9 w 272"/>
                    <a:gd name="T21" fmla="*/ 859 h 168"/>
                    <a:gd name="T22" fmla="*/ 11 w 272"/>
                    <a:gd name="T23" fmla="*/ 355 h 168"/>
                    <a:gd name="T24" fmla="*/ 12 w 272"/>
                    <a:gd name="T25" fmla="*/ 105 h 168"/>
                    <a:gd name="T26" fmla="*/ 13 w 272"/>
                    <a:gd name="T27" fmla="*/ 44 h 168"/>
                    <a:gd name="T28" fmla="*/ 13 w 272"/>
                    <a:gd name="T29" fmla="*/ 24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44 h 168"/>
                    <a:gd name="T52" fmla="*/ 16 w 272"/>
                    <a:gd name="T53" fmla="*/ 125 h 168"/>
                    <a:gd name="T54" fmla="*/ 17 w 272"/>
                    <a:gd name="T55" fmla="*/ 528 h 168"/>
                    <a:gd name="T56" fmla="*/ 20 w 272"/>
                    <a:gd name="T57" fmla="*/ 1326 h 168"/>
                    <a:gd name="T58" fmla="*/ 22 w 272"/>
                    <a:gd name="T59" fmla="*/ 2209 h 168"/>
                    <a:gd name="T60" fmla="*/ 24 w 272"/>
                    <a:gd name="T61" fmla="*/ 3011 h 168"/>
                    <a:gd name="T62" fmla="*/ 25 w 272"/>
                    <a:gd name="T63" fmla="*/ 3313 h 168"/>
                    <a:gd name="T64" fmla="*/ 27 w 272"/>
                    <a:gd name="T65" fmla="*/ 3454 h 168"/>
                    <a:gd name="T66" fmla="*/ 27 w 272"/>
                    <a:gd name="T67" fmla="*/ 3515 h 168"/>
                    <a:gd name="T68" fmla="*/ 27 w 272"/>
                    <a:gd name="T69" fmla="*/ 3535 h 168"/>
                    <a:gd name="T70" fmla="*/ 27 w 272"/>
                    <a:gd name="T71" fmla="*/ 3535 h 168"/>
                    <a:gd name="T72" fmla="*/ 27 w 272"/>
                    <a:gd name="T73" fmla="*/ 3535 h 168"/>
                    <a:gd name="T74" fmla="*/ 27 w 272"/>
                    <a:gd name="T75" fmla="*/ 3535 h 168"/>
                    <a:gd name="T76" fmla="*/ 28 w 272"/>
                    <a:gd name="T77" fmla="*/ 3535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0952" name="Freeform 13"/>
                <p:cNvSpPr>
                  <a:spLocks/>
                </p:cNvSpPr>
                <p:nvPr/>
              </p:nvSpPr>
              <p:spPr bwMode="auto">
                <a:xfrm>
                  <a:off x="5268" y="3873"/>
                  <a:ext cx="172" cy="165"/>
                </a:xfrm>
                <a:custGeom>
                  <a:avLst/>
                  <a:gdLst>
                    <a:gd name="T0" fmla="*/ 0 w 272"/>
                    <a:gd name="T1" fmla="*/ 153 h 168"/>
                    <a:gd name="T2" fmla="*/ 1 w 272"/>
                    <a:gd name="T3" fmla="*/ 153 h 168"/>
                    <a:gd name="T4" fmla="*/ 1 w 272"/>
                    <a:gd name="T5" fmla="*/ 153 h 168"/>
                    <a:gd name="T6" fmla="*/ 1 w 272"/>
                    <a:gd name="T7" fmla="*/ 153 h 168"/>
                    <a:gd name="T8" fmla="*/ 1 w 272"/>
                    <a:gd name="T9" fmla="*/ 153 h 168"/>
                    <a:gd name="T10" fmla="*/ 1 w 272"/>
                    <a:gd name="T11" fmla="*/ 152 h 168"/>
                    <a:gd name="T12" fmla="*/ 2 w 272"/>
                    <a:gd name="T13" fmla="*/ 149 h 168"/>
                    <a:gd name="T14" fmla="*/ 3 w 272"/>
                    <a:gd name="T15" fmla="*/ 142 h 168"/>
                    <a:gd name="T16" fmla="*/ 4 w 272"/>
                    <a:gd name="T17" fmla="*/ 116 h 168"/>
                    <a:gd name="T18" fmla="*/ 7 w 272"/>
                    <a:gd name="T19" fmla="*/ 79 h 168"/>
                    <a:gd name="T20" fmla="*/ 9 w 272"/>
                    <a:gd name="T21" fmla="*/ 36 h 168"/>
                    <a:gd name="T22" fmla="*/ 11 w 272"/>
                    <a:gd name="T23" fmla="*/ 17 h 168"/>
                    <a:gd name="T24" fmla="*/ 12 w 272"/>
                    <a:gd name="T25" fmla="*/ 5 h 168"/>
                    <a:gd name="T26" fmla="*/ 13 w 272"/>
                    <a:gd name="T27" fmla="*/ 2 h 168"/>
                    <a:gd name="T28" fmla="*/ 13 w 272"/>
                    <a:gd name="T29" fmla="*/ 1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2 h 168"/>
                    <a:gd name="T52" fmla="*/ 16 w 272"/>
                    <a:gd name="T53" fmla="*/ 6 h 168"/>
                    <a:gd name="T54" fmla="*/ 17 w 272"/>
                    <a:gd name="T55" fmla="*/ 25 h 168"/>
                    <a:gd name="T56" fmla="*/ 20 w 272"/>
                    <a:gd name="T57" fmla="*/ 58 h 168"/>
                    <a:gd name="T58" fmla="*/ 22 w 272"/>
                    <a:gd name="T59" fmla="*/ 95 h 168"/>
                    <a:gd name="T60" fmla="*/ 24 w 272"/>
                    <a:gd name="T61" fmla="*/ 132 h 168"/>
                    <a:gd name="T62" fmla="*/ 25 w 272"/>
                    <a:gd name="T63" fmla="*/ 142 h 168"/>
                    <a:gd name="T64" fmla="*/ 27 w 272"/>
                    <a:gd name="T65" fmla="*/ 149 h 168"/>
                    <a:gd name="T66" fmla="*/ 27 w 272"/>
                    <a:gd name="T67" fmla="*/ 152 h 168"/>
                    <a:gd name="T68" fmla="*/ 27 w 272"/>
                    <a:gd name="T69" fmla="*/ 153 h 168"/>
                    <a:gd name="T70" fmla="*/ 27 w 272"/>
                    <a:gd name="T71" fmla="*/ 153 h 168"/>
                    <a:gd name="T72" fmla="*/ 27 w 272"/>
                    <a:gd name="T73" fmla="*/ 153 h 168"/>
                    <a:gd name="T74" fmla="*/ 27 w 272"/>
                    <a:gd name="T75" fmla="*/ 153 h 168"/>
                    <a:gd name="T76" fmla="*/ 28 w 272"/>
                    <a:gd name="T77" fmla="*/ 153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0953" name="Freeform 14"/>
                <p:cNvSpPr>
                  <a:spLocks/>
                </p:cNvSpPr>
                <p:nvPr/>
              </p:nvSpPr>
              <p:spPr bwMode="auto">
                <a:xfrm>
                  <a:off x="5436" y="3975"/>
                  <a:ext cx="172" cy="63"/>
                </a:xfrm>
                <a:custGeom>
                  <a:avLst/>
                  <a:gdLst>
                    <a:gd name="T0" fmla="*/ 0 w 272"/>
                    <a:gd name="T1" fmla="*/ 1 h 168"/>
                    <a:gd name="T2" fmla="*/ 1 w 272"/>
                    <a:gd name="T3" fmla="*/ 1 h 168"/>
                    <a:gd name="T4" fmla="*/ 1 w 272"/>
                    <a:gd name="T5" fmla="*/ 1 h 168"/>
                    <a:gd name="T6" fmla="*/ 1 w 272"/>
                    <a:gd name="T7" fmla="*/ 1 h 168"/>
                    <a:gd name="T8" fmla="*/ 1 w 272"/>
                    <a:gd name="T9" fmla="*/ 1 h 168"/>
                    <a:gd name="T10" fmla="*/ 1 w 272"/>
                    <a:gd name="T11" fmla="*/ 1 h 168"/>
                    <a:gd name="T12" fmla="*/ 2 w 272"/>
                    <a:gd name="T13" fmla="*/ 1 h 168"/>
                    <a:gd name="T14" fmla="*/ 3 w 272"/>
                    <a:gd name="T15" fmla="*/ 1 h 168"/>
                    <a:gd name="T16" fmla="*/ 4 w 272"/>
                    <a:gd name="T17" fmla="*/ 1 h 168"/>
                    <a:gd name="T18" fmla="*/ 7 w 272"/>
                    <a:gd name="T19" fmla="*/ 1 h 168"/>
                    <a:gd name="T20" fmla="*/ 9 w 272"/>
                    <a:gd name="T21" fmla="*/ 0 h 168"/>
                    <a:gd name="T22" fmla="*/ 11 w 272"/>
                    <a:gd name="T23" fmla="*/ 0 h 168"/>
                    <a:gd name="T24" fmla="*/ 12 w 272"/>
                    <a:gd name="T25" fmla="*/ 0 h 168"/>
                    <a:gd name="T26" fmla="*/ 13 w 272"/>
                    <a:gd name="T27" fmla="*/ 0 h 168"/>
                    <a:gd name="T28" fmla="*/ 13 w 272"/>
                    <a:gd name="T29" fmla="*/ 0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0 h 168"/>
                    <a:gd name="T52" fmla="*/ 16 w 272"/>
                    <a:gd name="T53" fmla="*/ 0 h 168"/>
                    <a:gd name="T54" fmla="*/ 17 w 272"/>
                    <a:gd name="T55" fmla="*/ 0 h 168"/>
                    <a:gd name="T56" fmla="*/ 20 w 272"/>
                    <a:gd name="T57" fmla="*/ 0 h 168"/>
                    <a:gd name="T58" fmla="*/ 22 w 272"/>
                    <a:gd name="T59" fmla="*/ 1 h 168"/>
                    <a:gd name="T60" fmla="*/ 24 w 272"/>
                    <a:gd name="T61" fmla="*/ 1 h 168"/>
                    <a:gd name="T62" fmla="*/ 25 w 272"/>
                    <a:gd name="T63" fmla="*/ 1 h 168"/>
                    <a:gd name="T64" fmla="*/ 27 w 272"/>
                    <a:gd name="T65" fmla="*/ 1 h 168"/>
                    <a:gd name="T66" fmla="*/ 27 w 272"/>
                    <a:gd name="T67" fmla="*/ 1 h 168"/>
                    <a:gd name="T68" fmla="*/ 27 w 272"/>
                    <a:gd name="T69" fmla="*/ 1 h 168"/>
                    <a:gd name="T70" fmla="*/ 27 w 272"/>
                    <a:gd name="T71" fmla="*/ 1 h 168"/>
                    <a:gd name="T72" fmla="*/ 27 w 272"/>
                    <a:gd name="T73" fmla="*/ 1 h 168"/>
                    <a:gd name="T74" fmla="*/ 27 w 272"/>
                    <a:gd name="T75" fmla="*/ 1 h 168"/>
                    <a:gd name="T76" fmla="*/ 28 w 272"/>
                    <a:gd name="T77" fmla="*/ 1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" name="Group 15"/>
              <p:cNvGrpSpPr>
                <a:grpSpLocks/>
              </p:cNvGrpSpPr>
              <p:nvPr/>
            </p:nvGrpSpPr>
            <p:grpSpPr bwMode="auto">
              <a:xfrm flipH="1">
                <a:off x="2855" y="422"/>
                <a:ext cx="1095" cy="666"/>
                <a:chOff x="4920" y="3603"/>
                <a:chExt cx="688" cy="435"/>
              </a:xfrm>
            </p:grpSpPr>
            <p:sp>
              <p:nvSpPr>
                <p:cNvPr id="380946" name="Freeform 16"/>
                <p:cNvSpPr>
                  <a:spLocks/>
                </p:cNvSpPr>
                <p:nvPr/>
              </p:nvSpPr>
              <p:spPr bwMode="auto">
                <a:xfrm>
                  <a:off x="4920" y="3603"/>
                  <a:ext cx="172" cy="435"/>
                </a:xfrm>
                <a:custGeom>
                  <a:avLst/>
                  <a:gdLst>
                    <a:gd name="T0" fmla="*/ 0 w 272"/>
                    <a:gd name="T1" fmla="*/ 19549 h 168"/>
                    <a:gd name="T2" fmla="*/ 1 w 272"/>
                    <a:gd name="T3" fmla="*/ 19549 h 168"/>
                    <a:gd name="T4" fmla="*/ 1 w 272"/>
                    <a:gd name="T5" fmla="*/ 19549 h 168"/>
                    <a:gd name="T6" fmla="*/ 1 w 272"/>
                    <a:gd name="T7" fmla="*/ 19549 h 168"/>
                    <a:gd name="T8" fmla="*/ 1 w 272"/>
                    <a:gd name="T9" fmla="*/ 19549 h 168"/>
                    <a:gd name="T10" fmla="*/ 1 w 272"/>
                    <a:gd name="T11" fmla="*/ 19422 h 168"/>
                    <a:gd name="T12" fmla="*/ 2 w 272"/>
                    <a:gd name="T13" fmla="*/ 19093 h 168"/>
                    <a:gd name="T14" fmla="*/ 3 w 272"/>
                    <a:gd name="T15" fmla="*/ 18296 h 168"/>
                    <a:gd name="T16" fmla="*/ 4 w 272"/>
                    <a:gd name="T17" fmla="*/ 14650 h 168"/>
                    <a:gd name="T18" fmla="*/ 7 w 272"/>
                    <a:gd name="T19" fmla="*/ 9787 h 168"/>
                    <a:gd name="T20" fmla="*/ 9 w 272"/>
                    <a:gd name="T21" fmla="*/ 4754 h 168"/>
                    <a:gd name="T22" fmla="*/ 11 w 272"/>
                    <a:gd name="T23" fmla="*/ 1978 h 168"/>
                    <a:gd name="T24" fmla="*/ 12 w 272"/>
                    <a:gd name="T25" fmla="*/ 590 h 168"/>
                    <a:gd name="T26" fmla="*/ 13 w 272"/>
                    <a:gd name="T27" fmla="*/ 228 h 168"/>
                    <a:gd name="T28" fmla="*/ 13 w 272"/>
                    <a:gd name="T29" fmla="*/ 140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228 h 168"/>
                    <a:gd name="T52" fmla="*/ 16 w 272"/>
                    <a:gd name="T53" fmla="*/ 709 h 168"/>
                    <a:gd name="T54" fmla="*/ 17 w 272"/>
                    <a:gd name="T55" fmla="*/ 2916 h 168"/>
                    <a:gd name="T56" fmla="*/ 20 w 272"/>
                    <a:gd name="T57" fmla="*/ 7328 h 168"/>
                    <a:gd name="T58" fmla="*/ 22 w 272"/>
                    <a:gd name="T59" fmla="*/ 12221 h 168"/>
                    <a:gd name="T60" fmla="*/ 24 w 272"/>
                    <a:gd name="T61" fmla="*/ 16634 h 168"/>
                    <a:gd name="T62" fmla="*/ 25 w 272"/>
                    <a:gd name="T63" fmla="*/ 18296 h 168"/>
                    <a:gd name="T64" fmla="*/ 27 w 272"/>
                    <a:gd name="T65" fmla="*/ 19093 h 168"/>
                    <a:gd name="T66" fmla="*/ 27 w 272"/>
                    <a:gd name="T67" fmla="*/ 19422 h 168"/>
                    <a:gd name="T68" fmla="*/ 27 w 272"/>
                    <a:gd name="T69" fmla="*/ 19549 h 168"/>
                    <a:gd name="T70" fmla="*/ 27 w 272"/>
                    <a:gd name="T71" fmla="*/ 19549 h 168"/>
                    <a:gd name="T72" fmla="*/ 27 w 272"/>
                    <a:gd name="T73" fmla="*/ 19549 h 168"/>
                    <a:gd name="T74" fmla="*/ 27 w 272"/>
                    <a:gd name="T75" fmla="*/ 19549 h 168"/>
                    <a:gd name="T76" fmla="*/ 28 w 272"/>
                    <a:gd name="T77" fmla="*/ 19549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0947" name="Freeform 17"/>
                <p:cNvSpPr>
                  <a:spLocks/>
                </p:cNvSpPr>
                <p:nvPr/>
              </p:nvSpPr>
              <p:spPr bwMode="auto">
                <a:xfrm>
                  <a:off x="5094" y="3729"/>
                  <a:ext cx="172" cy="309"/>
                </a:xfrm>
                <a:custGeom>
                  <a:avLst/>
                  <a:gdLst>
                    <a:gd name="T0" fmla="*/ 0 w 272"/>
                    <a:gd name="T1" fmla="*/ 3535 h 168"/>
                    <a:gd name="T2" fmla="*/ 1 w 272"/>
                    <a:gd name="T3" fmla="*/ 3535 h 168"/>
                    <a:gd name="T4" fmla="*/ 1 w 272"/>
                    <a:gd name="T5" fmla="*/ 3535 h 168"/>
                    <a:gd name="T6" fmla="*/ 1 w 272"/>
                    <a:gd name="T7" fmla="*/ 3535 h 168"/>
                    <a:gd name="T8" fmla="*/ 1 w 272"/>
                    <a:gd name="T9" fmla="*/ 3535 h 168"/>
                    <a:gd name="T10" fmla="*/ 1 w 272"/>
                    <a:gd name="T11" fmla="*/ 3515 h 168"/>
                    <a:gd name="T12" fmla="*/ 2 w 272"/>
                    <a:gd name="T13" fmla="*/ 3454 h 168"/>
                    <a:gd name="T14" fmla="*/ 3 w 272"/>
                    <a:gd name="T15" fmla="*/ 3313 h 168"/>
                    <a:gd name="T16" fmla="*/ 4 w 272"/>
                    <a:gd name="T17" fmla="*/ 2656 h 168"/>
                    <a:gd name="T18" fmla="*/ 7 w 272"/>
                    <a:gd name="T19" fmla="*/ 1773 h 168"/>
                    <a:gd name="T20" fmla="*/ 9 w 272"/>
                    <a:gd name="T21" fmla="*/ 859 h 168"/>
                    <a:gd name="T22" fmla="*/ 11 w 272"/>
                    <a:gd name="T23" fmla="*/ 355 h 168"/>
                    <a:gd name="T24" fmla="*/ 12 w 272"/>
                    <a:gd name="T25" fmla="*/ 105 h 168"/>
                    <a:gd name="T26" fmla="*/ 13 w 272"/>
                    <a:gd name="T27" fmla="*/ 44 h 168"/>
                    <a:gd name="T28" fmla="*/ 13 w 272"/>
                    <a:gd name="T29" fmla="*/ 24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44 h 168"/>
                    <a:gd name="T52" fmla="*/ 16 w 272"/>
                    <a:gd name="T53" fmla="*/ 125 h 168"/>
                    <a:gd name="T54" fmla="*/ 17 w 272"/>
                    <a:gd name="T55" fmla="*/ 528 h 168"/>
                    <a:gd name="T56" fmla="*/ 20 w 272"/>
                    <a:gd name="T57" fmla="*/ 1326 h 168"/>
                    <a:gd name="T58" fmla="*/ 22 w 272"/>
                    <a:gd name="T59" fmla="*/ 2209 h 168"/>
                    <a:gd name="T60" fmla="*/ 24 w 272"/>
                    <a:gd name="T61" fmla="*/ 3011 h 168"/>
                    <a:gd name="T62" fmla="*/ 25 w 272"/>
                    <a:gd name="T63" fmla="*/ 3313 h 168"/>
                    <a:gd name="T64" fmla="*/ 27 w 272"/>
                    <a:gd name="T65" fmla="*/ 3454 h 168"/>
                    <a:gd name="T66" fmla="*/ 27 w 272"/>
                    <a:gd name="T67" fmla="*/ 3515 h 168"/>
                    <a:gd name="T68" fmla="*/ 27 w 272"/>
                    <a:gd name="T69" fmla="*/ 3535 h 168"/>
                    <a:gd name="T70" fmla="*/ 27 w 272"/>
                    <a:gd name="T71" fmla="*/ 3535 h 168"/>
                    <a:gd name="T72" fmla="*/ 27 w 272"/>
                    <a:gd name="T73" fmla="*/ 3535 h 168"/>
                    <a:gd name="T74" fmla="*/ 27 w 272"/>
                    <a:gd name="T75" fmla="*/ 3535 h 168"/>
                    <a:gd name="T76" fmla="*/ 28 w 272"/>
                    <a:gd name="T77" fmla="*/ 3535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0948" name="Freeform 18"/>
                <p:cNvSpPr>
                  <a:spLocks/>
                </p:cNvSpPr>
                <p:nvPr/>
              </p:nvSpPr>
              <p:spPr bwMode="auto">
                <a:xfrm>
                  <a:off x="5268" y="3873"/>
                  <a:ext cx="172" cy="165"/>
                </a:xfrm>
                <a:custGeom>
                  <a:avLst/>
                  <a:gdLst>
                    <a:gd name="T0" fmla="*/ 0 w 272"/>
                    <a:gd name="T1" fmla="*/ 153 h 168"/>
                    <a:gd name="T2" fmla="*/ 1 w 272"/>
                    <a:gd name="T3" fmla="*/ 153 h 168"/>
                    <a:gd name="T4" fmla="*/ 1 w 272"/>
                    <a:gd name="T5" fmla="*/ 153 h 168"/>
                    <a:gd name="T6" fmla="*/ 1 w 272"/>
                    <a:gd name="T7" fmla="*/ 153 h 168"/>
                    <a:gd name="T8" fmla="*/ 1 w 272"/>
                    <a:gd name="T9" fmla="*/ 153 h 168"/>
                    <a:gd name="T10" fmla="*/ 1 w 272"/>
                    <a:gd name="T11" fmla="*/ 152 h 168"/>
                    <a:gd name="T12" fmla="*/ 2 w 272"/>
                    <a:gd name="T13" fmla="*/ 149 h 168"/>
                    <a:gd name="T14" fmla="*/ 3 w 272"/>
                    <a:gd name="T15" fmla="*/ 142 h 168"/>
                    <a:gd name="T16" fmla="*/ 4 w 272"/>
                    <a:gd name="T17" fmla="*/ 116 h 168"/>
                    <a:gd name="T18" fmla="*/ 7 w 272"/>
                    <a:gd name="T19" fmla="*/ 79 h 168"/>
                    <a:gd name="T20" fmla="*/ 9 w 272"/>
                    <a:gd name="T21" fmla="*/ 36 h 168"/>
                    <a:gd name="T22" fmla="*/ 11 w 272"/>
                    <a:gd name="T23" fmla="*/ 17 h 168"/>
                    <a:gd name="T24" fmla="*/ 12 w 272"/>
                    <a:gd name="T25" fmla="*/ 5 h 168"/>
                    <a:gd name="T26" fmla="*/ 13 w 272"/>
                    <a:gd name="T27" fmla="*/ 2 h 168"/>
                    <a:gd name="T28" fmla="*/ 13 w 272"/>
                    <a:gd name="T29" fmla="*/ 1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2 h 168"/>
                    <a:gd name="T52" fmla="*/ 16 w 272"/>
                    <a:gd name="T53" fmla="*/ 6 h 168"/>
                    <a:gd name="T54" fmla="*/ 17 w 272"/>
                    <a:gd name="T55" fmla="*/ 25 h 168"/>
                    <a:gd name="T56" fmla="*/ 20 w 272"/>
                    <a:gd name="T57" fmla="*/ 58 h 168"/>
                    <a:gd name="T58" fmla="*/ 22 w 272"/>
                    <a:gd name="T59" fmla="*/ 95 h 168"/>
                    <a:gd name="T60" fmla="*/ 24 w 272"/>
                    <a:gd name="T61" fmla="*/ 132 h 168"/>
                    <a:gd name="T62" fmla="*/ 25 w 272"/>
                    <a:gd name="T63" fmla="*/ 142 h 168"/>
                    <a:gd name="T64" fmla="*/ 27 w 272"/>
                    <a:gd name="T65" fmla="*/ 149 h 168"/>
                    <a:gd name="T66" fmla="*/ 27 w 272"/>
                    <a:gd name="T67" fmla="*/ 152 h 168"/>
                    <a:gd name="T68" fmla="*/ 27 w 272"/>
                    <a:gd name="T69" fmla="*/ 153 h 168"/>
                    <a:gd name="T70" fmla="*/ 27 w 272"/>
                    <a:gd name="T71" fmla="*/ 153 h 168"/>
                    <a:gd name="T72" fmla="*/ 27 w 272"/>
                    <a:gd name="T73" fmla="*/ 153 h 168"/>
                    <a:gd name="T74" fmla="*/ 27 w 272"/>
                    <a:gd name="T75" fmla="*/ 153 h 168"/>
                    <a:gd name="T76" fmla="*/ 28 w 272"/>
                    <a:gd name="T77" fmla="*/ 153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0949" name="Freeform 19"/>
                <p:cNvSpPr>
                  <a:spLocks/>
                </p:cNvSpPr>
                <p:nvPr/>
              </p:nvSpPr>
              <p:spPr bwMode="auto">
                <a:xfrm>
                  <a:off x="5436" y="3975"/>
                  <a:ext cx="172" cy="63"/>
                </a:xfrm>
                <a:custGeom>
                  <a:avLst/>
                  <a:gdLst>
                    <a:gd name="T0" fmla="*/ 0 w 272"/>
                    <a:gd name="T1" fmla="*/ 1 h 168"/>
                    <a:gd name="T2" fmla="*/ 1 w 272"/>
                    <a:gd name="T3" fmla="*/ 1 h 168"/>
                    <a:gd name="T4" fmla="*/ 1 w 272"/>
                    <a:gd name="T5" fmla="*/ 1 h 168"/>
                    <a:gd name="T6" fmla="*/ 1 w 272"/>
                    <a:gd name="T7" fmla="*/ 1 h 168"/>
                    <a:gd name="T8" fmla="*/ 1 w 272"/>
                    <a:gd name="T9" fmla="*/ 1 h 168"/>
                    <a:gd name="T10" fmla="*/ 1 w 272"/>
                    <a:gd name="T11" fmla="*/ 1 h 168"/>
                    <a:gd name="T12" fmla="*/ 2 w 272"/>
                    <a:gd name="T13" fmla="*/ 1 h 168"/>
                    <a:gd name="T14" fmla="*/ 3 w 272"/>
                    <a:gd name="T15" fmla="*/ 1 h 168"/>
                    <a:gd name="T16" fmla="*/ 4 w 272"/>
                    <a:gd name="T17" fmla="*/ 1 h 168"/>
                    <a:gd name="T18" fmla="*/ 7 w 272"/>
                    <a:gd name="T19" fmla="*/ 1 h 168"/>
                    <a:gd name="T20" fmla="*/ 9 w 272"/>
                    <a:gd name="T21" fmla="*/ 0 h 168"/>
                    <a:gd name="T22" fmla="*/ 11 w 272"/>
                    <a:gd name="T23" fmla="*/ 0 h 168"/>
                    <a:gd name="T24" fmla="*/ 12 w 272"/>
                    <a:gd name="T25" fmla="*/ 0 h 168"/>
                    <a:gd name="T26" fmla="*/ 13 w 272"/>
                    <a:gd name="T27" fmla="*/ 0 h 168"/>
                    <a:gd name="T28" fmla="*/ 13 w 272"/>
                    <a:gd name="T29" fmla="*/ 0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0 h 168"/>
                    <a:gd name="T52" fmla="*/ 16 w 272"/>
                    <a:gd name="T53" fmla="*/ 0 h 168"/>
                    <a:gd name="T54" fmla="*/ 17 w 272"/>
                    <a:gd name="T55" fmla="*/ 0 h 168"/>
                    <a:gd name="T56" fmla="*/ 20 w 272"/>
                    <a:gd name="T57" fmla="*/ 0 h 168"/>
                    <a:gd name="T58" fmla="*/ 22 w 272"/>
                    <a:gd name="T59" fmla="*/ 1 h 168"/>
                    <a:gd name="T60" fmla="*/ 24 w 272"/>
                    <a:gd name="T61" fmla="*/ 1 h 168"/>
                    <a:gd name="T62" fmla="*/ 25 w 272"/>
                    <a:gd name="T63" fmla="*/ 1 h 168"/>
                    <a:gd name="T64" fmla="*/ 27 w 272"/>
                    <a:gd name="T65" fmla="*/ 1 h 168"/>
                    <a:gd name="T66" fmla="*/ 27 w 272"/>
                    <a:gd name="T67" fmla="*/ 1 h 168"/>
                    <a:gd name="T68" fmla="*/ 27 w 272"/>
                    <a:gd name="T69" fmla="*/ 1 h 168"/>
                    <a:gd name="T70" fmla="*/ 27 w 272"/>
                    <a:gd name="T71" fmla="*/ 1 h 168"/>
                    <a:gd name="T72" fmla="*/ 27 w 272"/>
                    <a:gd name="T73" fmla="*/ 1 h 168"/>
                    <a:gd name="T74" fmla="*/ 27 w 272"/>
                    <a:gd name="T75" fmla="*/ 1 h 168"/>
                    <a:gd name="T76" fmla="*/ 28 w 272"/>
                    <a:gd name="T77" fmla="*/ 1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6" name="Group 20"/>
            <p:cNvGrpSpPr>
              <a:grpSpLocks/>
            </p:cNvGrpSpPr>
            <p:nvPr/>
          </p:nvGrpSpPr>
          <p:grpSpPr bwMode="auto">
            <a:xfrm>
              <a:off x="4064" y="3015"/>
              <a:ext cx="271" cy="264"/>
              <a:chOff x="4454" y="1277"/>
              <a:chExt cx="271" cy="264"/>
            </a:xfrm>
          </p:grpSpPr>
          <p:sp>
            <p:nvSpPr>
              <p:cNvPr id="380939" name="Rectangle 21"/>
              <p:cNvSpPr>
                <a:spLocks noChangeArrowheads="1"/>
              </p:cNvSpPr>
              <p:nvPr/>
            </p:nvSpPr>
            <p:spPr bwMode="auto">
              <a:xfrm>
                <a:off x="4454" y="1293"/>
                <a:ext cx="116" cy="233"/>
              </a:xfrm>
              <a:prstGeom prst="rect">
                <a:avLst/>
              </a:prstGeom>
              <a:solidFill>
                <a:schemeClr val="accent2"/>
              </a:solidFill>
              <a:ln w="38100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grpSp>
            <p:nvGrpSpPr>
              <p:cNvPr id="7" name="Group 22"/>
              <p:cNvGrpSpPr>
                <a:grpSpLocks/>
              </p:cNvGrpSpPr>
              <p:nvPr/>
            </p:nvGrpSpPr>
            <p:grpSpPr bwMode="auto">
              <a:xfrm>
                <a:off x="4619" y="1277"/>
                <a:ext cx="106" cy="264"/>
                <a:chOff x="4600" y="1291"/>
                <a:chExt cx="106" cy="264"/>
              </a:xfrm>
            </p:grpSpPr>
            <p:sp>
              <p:nvSpPr>
                <p:cNvPr id="380941" name="Line 23"/>
                <p:cNvSpPr>
                  <a:spLocks noChangeShapeType="1"/>
                </p:cNvSpPr>
                <p:nvPr/>
              </p:nvSpPr>
              <p:spPr bwMode="auto">
                <a:xfrm>
                  <a:off x="4600" y="1291"/>
                  <a:ext cx="0" cy="264"/>
                </a:xfrm>
                <a:prstGeom prst="line">
                  <a:avLst/>
                </a:prstGeom>
                <a:noFill/>
                <a:ln w="38100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380942" name="Line 24"/>
                <p:cNvSpPr>
                  <a:spLocks noChangeShapeType="1"/>
                </p:cNvSpPr>
                <p:nvPr/>
              </p:nvSpPr>
              <p:spPr bwMode="auto">
                <a:xfrm>
                  <a:off x="4706" y="1291"/>
                  <a:ext cx="0" cy="264"/>
                </a:xfrm>
                <a:prstGeom prst="line">
                  <a:avLst/>
                </a:prstGeom>
                <a:noFill/>
                <a:ln w="38100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132618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954" name="AutoShape 2"/>
          <p:cNvSpPr>
            <a:spLocks noChangeArrowheads="1"/>
          </p:cNvSpPr>
          <p:nvPr/>
        </p:nvSpPr>
        <p:spPr bwMode="auto">
          <a:xfrm>
            <a:off x="1524000" y="3644901"/>
            <a:ext cx="3970338" cy="253047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381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en-US">
              <a:latin typeface="Times New Roman" pitchFamily="18" charset="0"/>
            </a:endParaRPr>
          </a:p>
        </p:txBody>
      </p:sp>
      <p:sp>
        <p:nvSpPr>
          <p:cNvPr id="381955" name="Rectangle 3"/>
          <p:cNvSpPr>
            <a:spLocks noChangeArrowheads="1"/>
          </p:cNvSpPr>
          <p:nvPr/>
        </p:nvSpPr>
        <p:spPr bwMode="auto">
          <a:xfrm>
            <a:off x="1524001" y="4471989"/>
            <a:ext cx="3940175" cy="1431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marL="285750" indent="-285750">
              <a:lnSpc>
                <a:spcPct val="110000"/>
              </a:lnSpc>
              <a:spcBef>
                <a:spcPct val="50000"/>
              </a:spcBef>
            </a:pPr>
            <a:r>
              <a:rPr lang="en-US" sz="2000" b="1">
                <a:solidFill>
                  <a:schemeClr val="bg2"/>
                </a:solidFill>
              </a:rPr>
              <a:t>	If instead </a:t>
            </a:r>
            <a:r>
              <a:rPr lang="en-US" sz="2000" b="1" i="1">
                <a:solidFill>
                  <a:schemeClr val="bg2"/>
                </a:solidFill>
              </a:rPr>
              <a:t>d</a:t>
            </a:r>
            <a:r>
              <a:rPr lang="en-US" sz="2000" b="1">
                <a:solidFill>
                  <a:schemeClr val="bg2"/>
                </a:solidFill>
              </a:rPr>
              <a:t> is increased and </a:t>
            </a:r>
            <a:r>
              <a:rPr lang="en-US" sz="2000" b="1">
                <a:solidFill>
                  <a:schemeClr val="bg2"/>
                </a:solidFill>
                <a:latin typeface="Symbol" pitchFamily="18" charset="2"/>
              </a:rPr>
              <a:t></a:t>
            </a:r>
            <a:r>
              <a:rPr lang="en-US" sz="2000" b="1">
                <a:solidFill>
                  <a:schemeClr val="bg2"/>
                </a:solidFill>
              </a:rPr>
              <a:t> does not change, then </a:t>
            </a:r>
            <a:r>
              <a:rPr lang="en-US" sz="2000" b="1">
                <a:solidFill>
                  <a:schemeClr val="bg2"/>
                </a:solidFill>
                <a:latin typeface="Symbol" pitchFamily="18" charset="2"/>
              </a:rPr>
              <a:t></a:t>
            </a:r>
            <a:r>
              <a:rPr lang="en-US" sz="2000" b="1">
                <a:solidFill>
                  <a:schemeClr val="bg2"/>
                </a:solidFill>
              </a:rPr>
              <a:t> must decrease, so the pattern shrinks together</a:t>
            </a:r>
          </a:p>
        </p:txBody>
      </p:sp>
      <p:sp>
        <p:nvSpPr>
          <p:cNvPr id="2006021" name="Rectangle 5"/>
          <p:cNvSpPr>
            <a:spLocks noGrp="1" noChangeArrowheads="1"/>
          </p:cNvSpPr>
          <p:nvPr>
            <p:ph type="title"/>
          </p:nvPr>
        </p:nvSpPr>
        <p:spPr>
          <a:xfrm>
            <a:off x="2184401" y="0"/>
            <a:ext cx="8050213" cy="838200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sz="2800" i="1"/>
              <a:t>ConcepTest 24.3b	 </a:t>
            </a:r>
            <a:r>
              <a:rPr lang="en-US" sz="2800">
                <a:solidFill>
                  <a:schemeClr val="accent2"/>
                </a:solidFill>
              </a:rPr>
              <a:t>Double Slits II</a:t>
            </a:r>
          </a:p>
        </p:txBody>
      </p:sp>
      <p:sp>
        <p:nvSpPr>
          <p:cNvPr id="2006045" name="Rectangle 29"/>
          <p:cNvSpPr>
            <a:spLocks noGrp="1" noChangeArrowheads="1"/>
          </p:cNvSpPr>
          <p:nvPr>
            <p:ph idx="1"/>
          </p:nvPr>
        </p:nvSpPr>
        <p:spPr>
          <a:xfrm>
            <a:off x="1524000" y="1124396"/>
            <a:ext cx="4732338" cy="2154237"/>
          </a:xfrm>
        </p:spPr>
        <p:txBody>
          <a:bodyPr/>
          <a:lstStyle/>
          <a:p>
            <a:pPr marL="401638" indent="-401638">
              <a:lnSpc>
                <a:spcPct val="140000"/>
              </a:lnSpc>
              <a:buNone/>
              <a:defRPr/>
            </a:pPr>
            <a:r>
              <a:rPr lang="en-US" sz="1800" b="1" dirty="0"/>
              <a:t>	</a:t>
            </a:r>
            <a:r>
              <a:rPr lang="en-US" sz="2400" b="1" dirty="0"/>
              <a:t>If instead the </a:t>
            </a:r>
            <a:r>
              <a:rPr lang="en-US" sz="2400" b="1" dirty="0">
                <a:solidFill>
                  <a:schemeClr val="tx2"/>
                </a:solidFill>
              </a:rPr>
              <a:t>slits</a:t>
            </a:r>
            <a:r>
              <a:rPr lang="en-US" sz="2400" b="1" dirty="0"/>
              <a:t> are moved </a:t>
            </a:r>
            <a:r>
              <a:rPr lang="en-US" sz="2400" b="1" dirty="0">
                <a:solidFill>
                  <a:schemeClr val="tx2"/>
                </a:solidFill>
              </a:rPr>
              <a:t>farther apart</a:t>
            </a:r>
            <a:r>
              <a:rPr lang="en-US" sz="2400" b="1" dirty="0"/>
              <a:t> (without changing the wavelength) the interference pattern </a:t>
            </a:r>
          </a:p>
          <a:p>
            <a:pPr marL="401638" indent="-401638">
              <a:lnSpc>
                <a:spcPct val="140000"/>
              </a:lnSpc>
              <a:spcBef>
                <a:spcPct val="50000"/>
              </a:spcBef>
              <a:defRPr/>
            </a:pPr>
            <a:endParaRPr lang="en-US" sz="2400" b="1" dirty="0"/>
          </a:p>
        </p:txBody>
      </p:sp>
      <p:sp>
        <p:nvSpPr>
          <p:cNvPr id="2006022" name="Rectangle 6"/>
          <p:cNvSpPr>
            <a:spLocks noChangeArrowheads="1"/>
          </p:cNvSpPr>
          <p:nvPr/>
        </p:nvSpPr>
        <p:spPr bwMode="auto">
          <a:xfrm>
            <a:off x="6751638" y="1128078"/>
            <a:ext cx="3516312" cy="2195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marL="457200" indent="-457200">
              <a:spcBef>
                <a:spcPct val="50000"/>
              </a:spcBef>
              <a:buFont typeface="+mj-lt"/>
              <a:buAutoNum type="alphaLcParenR"/>
              <a:defRPr/>
            </a:pPr>
            <a:r>
              <a:rPr lang="en-US" sz="2000" b="1" dirty="0">
                <a:solidFill>
                  <a:schemeClr val="tx2"/>
                </a:solidFill>
              </a:rPr>
              <a:t>spreads out</a:t>
            </a:r>
          </a:p>
          <a:p>
            <a:pPr marL="457200" indent="-457200">
              <a:spcBef>
                <a:spcPct val="50000"/>
              </a:spcBef>
              <a:buFont typeface="+mj-lt"/>
              <a:buAutoNum type="alphaLcParenR"/>
              <a:defRPr/>
            </a:pPr>
            <a:r>
              <a:rPr lang="en-US" sz="2000" b="1" dirty="0">
                <a:solidFill>
                  <a:schemeClr val="tx2"/>
                </a:solidFill>
              </a:rPr>
              <a:t>stays the same </a:t>
            </a:r>
            <a:endParaRPr lang="en-US" sz="2000" b="1" baseline="30000" dirty="0">
              <a:solidFill>
                <a:schemeClr val="tx2"/>
              </a:solidFill>
            </a:endParaRPr>
          </a:p>
          <a:p>
            <a:pPr marL="457200" indent="-457200">
              <a:spcBef>
                <a:spcPct val="50000"/>
              </a:spcBef>
              <a:buFont typeface="+mj-lt"/>
              <a:buAutoNum type="alphaLcParenR"/>
              <a:defRPr/>
            </a:pPr>
            <a:r>
              <a:rPr lang="en-US" sz="2000" b="1" dirty="0">
                <a:solidFill>
                  <a:schemeClr val="tx2"/>
                </a:solidFill>
              </a:rPr>
              <a:t>shrinks together</a:t>
            </a:r>
          </a:p>
          <a:p>
            <a:pPr marL="457200" indent="-457200">
              <a:spcBef>
                <a:spcPct val="50000"/>
              </a:spcBef>
              <a:buFont typeface="+mj-lt"/>
              <a:buAutoNum type="alphaLcParenR"/>
              <a:defRPr/>
            </a:pPr>
            <a:r>
              <a:rPr lang="en-US" sz="2000" b="1" dirty="0">
                <a:solidFill>
                  <a:schemeClr val="tx2"/>
                </a:solidFill>
              </a:rPr>
              <a:t>disappears</a:t>
            </a:r>
            <a:endParaRPr lang="en-US" sz="2000" b="1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285750" indent="-285750">
              <a:lnSpc>
                <a:spcPct val="80000"/>
              </a:lnSpc>
              <a:spcBef>
                <a:spcPct val="50000"/>
              </a:spcBef>
              <a:defRPr/>
            </a:pPr>
            <a:endParaRPr lang="en-US" sz="2000" b="1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5661025" y="3424238"/>
            <a:ext cx="3843338" cy="3103562"/>
            <a:chOff x="2606" y="2157"/>
            <a:chExt cx="2421" cy="1955"/>
          </a:xfrm>
        </p:grpSpPr>
        <p:sp>
          <p:nvSpPr>
            <p:cNvPr id="381964" name="AutoShape 8"/>
            <p:cNvSpPr>
              <a:spLocks noChangeArrowheads="1"/>
            </p:cNvSpPr>
            <p:nvPr/>
          </p:nvSpPr>
          <p:spPr bwMode="auto">
            <a:xfrm>
              <a:off x="2606" y="2996"/>
              <a:ext cx="179" cy="296"/>
            </a:xfrm>
            <a:prstGeom prst="cube">
              <a:avLst>
                <a:gd name="adj" fmla="val 35593"/>
              </a:avLst>
            </a:prstGeom>
            <a:noFill/>
            <a:ln w="38100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81965" name="Line 9"/>
            <p:cNvSpPr>
              <a:spLocks noChangeShapeType="1"/>
            </p:cNvSpPr>
            <p:nvPr/>
          </p:nvSpPr>
          <p:spPr bwMode="auto">
            <a:xfrm>
              <a:off x="3223" y="3144"/>
              <a:ext cx="794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grpSp>
          <p:nvGrpSpPr>
            <p:cNvPr id="3" name="Group 10"/>
            <p:cNvGrpSpPr>
              <a:grpSpLocks/>
            </p:cNvGrpSpPr>
            <p:nvPr/>
          </p:nvGrpSpPr>
          <p:grpSpPr bwMode="auto">
            <a:xfrm rot="-5400000">
              <a:off x="3821" y="2906"/>
              <a:ext cx="1955" cy="457"/>
              <a:chOff x="2855" y="192"/>
              <a:chExt cx="2504" cy="896"/>
            </a:xfrm>
          </p:grpSpPr>
          <p:sp>
            <p:nvSpPr>
              <p:cNvPr id="381972" name="Freeform 11"/>
              <p:cNvSpPr>
                <a:spLocks/>
              </p:cNvSpPr>
              <p:nvPr/>
            </p:nvSpPr>
            <p:spPr bwMode="auto">
              <a:xfrm>
                <a:off x="3953" y="192"/>
                <a:ext cx="312" cy="896"/>
              </a:xfrm>
              <a:custGeom>
                <a:avLst/>
                <a:gdLst>
                  <a:gd name="T0" fmla="*/ 0 w 272"/>
                  <a:gd name="T1" fmla="*/ 724992 h 168"/>
                  <a:gd name="T2" fmla="*/ 1 w 272"/>
                  <a:gd name="T3" fmla="*/ 724992 h 168"/>
                  <a:gd name="T4" fmla="*/ 2 w 272"/>
                  <a:gd name="T5" fmla="*/ 724992 h 168"/>
                  <a:gd name="T6" fmla="*/ 3 w 272"/>
                  <a:gd name="T7" fmla="*/ 724992 h 168"/>
                  <a:gd name="T8" fmla="*/ 10 w 272"/>
                  <a:gd name="T9" fmla="*/ 724992 h 168"/>
                  <a:gd name="T10" fmla="*/ 15 w 272"/>
                  <a:gd name="T11" fmla="*/ 720896 h 168"/>
                  <a:gd name="T12" fmla="*/ 28 w 272"/>
                  <a:gd name="T13" fmla="*/ 708011 h 168"/>
                  <a:gd name="T14" fmla="*/ 45 w 272"/>
                  <a:gd name="T15" fmla="*/ 677205 h 168"/>
                  <a:gd name="T16" fmla="*/ 91 w 272"/>
                  <a:gd name="T17" fmla="*/ 543717 h 168"/>
                  <a:gd name="T18" fmla="*/ 134 w 272"/>
                  <a:gd name="T19" fmla="*/ 362411 h 168"/>
                  <a:gd name="T20" fmla="*/ 179 w 272"/>
                  <a:gd name="T21" fmla="*/ 177179 h 168"/>
                  <a:gd name="T22" fmla="*/ 214 w 272"/>
                  <a:gd name="T23" fmla="*/ 73584 h 168"/>
                  <a:gd name="T24" fmla="*/ 239 w 272"/>
                  <a:gd name="T25" fmla="*/ 21845 h 168"/>
                  <a:gd name="T26" fmla="*/ 248 w 272"/>
                  <a:gd name="T27" fmla="*/ 8960 h 168"/>
                  <a:gd name="T28" fmla="*/ 256 w 272"/>
                  <a:gd name="T29" fmla="*/ 4096 h 168"/>
                  <a:gd name="T30" fmla="*/ 259 w 272"/>
                  <a:gd name="T31" fmla="*/ 0 h 168"/>
                  <a:gd name="T32" fmla="*/ 265 w 272"/>
                  <a:gd name="T33" fmla="*/ 0 h 168"/>
                  <a:gd name="T34" fmla="*/ 267 w 272"/>
                  <a:gd name="T35" fmla="*/ 0 h 168"/>
                  <a:gd name="T36" fmla="*/ 268 w 272"/>
                  <a:gd name="T37" fmla="*/ 0 h 168"/>
                  <a:gd name="T38" fmla="*/ 270 w 272"/>
                  <a:gd name="T39" fmla="*/ 0 h 168"/>
                  <a:gd name="T40" fmla="*/ 270 w 272"/>
                  <a:gd name="T41" fmla="*/ 0 h 168"/>
                  <a:gd name="T42" fmla="*/ 271 w 272"/>
                  <a:gd name="T43" fmla="*/ 0 h 168"/>
                  <a:gd name="T44" fmla="*/ 274 w 272"/>
                  <a:gd name="T45" fmla="*/ 0 h 168"/>
                  <a:gd name="T46" fmla="*/ 275 w 272"/>
                  <a:gd name="T47" fmla="*/ 0 h 168"/>
                  <a:gd name="T48" fmla="*/ 280 w 272"/>
                  <a:gd name="T49" fmla="*/ 0 h 168"/>
                  <a:gd name="T50" fmla="*/ 287 w 272"/>
                  <a:gd name="T51" fmla="*/ 8960 h 168"/>
                  <a:gd name="T52" fmla="*/ 304 w 272"/>
                  <a:gd name="T53" fmla="*/ 25941 h 168"/>
                  <a:gd name="T54" fmla="*/ 338 w 272"/>
                  <a:gd name="T55" fmla="*/ 107547 h 168"/>
                  <a:gd name="T56" fmla="*/ 382 w 272"/>
                  <a:gd name="T57" fmla="*/ 271845 h 168"/>
                  <a:gd name="T58" fmla="*/ 428 w 272"/>
                  <a:gd name="T59" fmla="*/ 453147 h 168"/>
                  <a:gd name="T60" fmla="*/ 473 w 272"/>
                  <a:gd name="T61" fmla="*/ 617275 h 168"/>
                  <a:gd name="T62" fmla="*/ 496 w 272"/>
                  <a:gd name="T63" fmla="*/ 677205 h 168"/>
                  <a:gd name="T64" fmla="*/ 514 w 272"/>
                  <a:gd name="T65" fmla="*/ 708011 h 168"/>
                  <a:gd name="T66" fmla="*/ 525 w 272"/>
                  <a:gd name="T67" fmla="*/ 720896 h 168"/>
                  <a:gd name="T68" fmla="*/ 531 w 272"/>
                  <a:gd name="T69" fmla="*/ 724992 h 168"/>
                  <a:gd name="T70" fmla="*/ 537 w 272"/>
                  <a:gd name="T71" fmla="*/ 724992 h 168"/>
                  <a:gd name="T72" fmla="*/ 538 w 272"/>
                  <a:gd name="T73" fmla="*/ 724992 h 168"/>
                  <a:gd name="T74" fmla="*/ 538 w 272"/>
                  <a:gd name="T75" fmla="*/ 724992 h 168"/>
                  <a:gd name="T76" fmla="*/ 540 w 272"/>
                  <a:gd name="T77" fmla="*/ 724992 h 168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272"/>
                  <a:gd name="T118" fmla="*/ 0 h 168"/>
                  <a:gd name="T119" fmla="*/ 272 w 272"/>
                  <a:gd name="T120" fmla="*/ 168 h 168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272" h="168">
                    <a:moveTo>
                      <a:pt x="0" y="168"/>
                    </a:moveTo>
                    <a:lnTo>
                      <a:pt x="0" y="168"/>
                    </a:lnTo>
                    <a:lnTo>
                      <a:pt x="1" y="168"/>
                    </a:lnTo>
                    <a:lnTo>
                      <a:pt x="2" y="168"/>
                    </a:lnTo>
                    <a:lnTo>
                      <a:pt x="3" y="168"/>
                    </a:lnTo>
                    <a:lnTo>
                      <a:pt x="4" y="168"/>
                    </a:lnTo>
                    <a:lnTo>
                      <a:pt x="5" y="168"/>
                    </a:lnTo>
                    <a:lnTo>
                      <a:pt x="6" y="167"/>
                    </a:lnTo>
                    <a:lnTo>
                      <a:pt x="8" y="167"/>
                    </a:lnTo>
                    <a:lnTo>
                      <a:pt x="11" y="166"/>
                    </a:lnTo>
                    <a:lnTo>
                      <a:pt x="14" y="164"/>
                    </a:lnTo>
                    <a:lnTo>
                      <a:pt x="17" y="162"/>
                    </a:lnTo>
                    <a:lnTo>
                      <a:pt x="23" y="157"/>
                    </a:lnTo>
                    <a:lnTo>
                      <a:pt x="34" y="143"/>
                    </a:lnTo>
                    <a:lnTo>
                      <a:pt x="45" y="126"/>
                    </a:lnTo>
                    <a:lnTo>
                      <a:pt x="57" y="105"/>
                    </a:lnTo>
                    <a:lnTo>
                      <a:pt x="68" y="84"/>
                    </a:lnTo>
                    <a:lnTo>
                      <a:pt x="80" y="61"/>
                    </a:lnTo>
                    <a:lnTo>
                      <a:pt x="91" y="41"/>
                    </a:lnTo>
                    <a:lnTo>
                      <a:pt x="102" y="24"/>
                    </a:lnTo>
                    <a:lnTo>
                      <a:pt x="108" y="17"/>
                    </a:lnTo>
                    <a:lnTo>
                      <a:pt x="114" y="10"/>
                    </a:lnTo>
                    <a:lnTo>
                      <a:pt x="120" y="5"/>
                    </a:lnTo>
                    <a:lnTo>
                      <a:pt x="123" y="4"/>
                    </a:lnTo>
                    <a:lnTo>
                      <a:pt x="125" y="2"/>
                    </a:lnTo>
                    <a:lnTo>
                      <a:pt x="127" y="2"/>
                    </a:lnTo>
                    <a:lnTo>
                      <a:pt x="128" y="1"/>
                    </a:lnTo>
                    <a:lnTo>
                      <a:pt x="130" y="1"/>
                    </a:lnTo>
                    <a:lnTo>
                      <a:pt x="131" y="0"/>
                    </a:lnTo>
                    <a:lnTo>
                      <a:pt x="132" y="0"/>
                    </a:lnTo>
                    <a:lnTo>
                      <a:pt x="133" y="0"/>
                    </a:lnTo>
                    <a:lnTo>
                      <a:pt x="134" y="0"/>
                    </a:lnTo>
                    <a:lnTo>
                      <a:pt x="135" y="0"/>
                    </a:lnTo>
                    <a:lnTo>
                      <a:pt x="136" y="0"/>
                    </a:lnTo>
                    <a:lnTo>
                      <a:pt x="137" y="0"/>
                    </a:lnTo>
                    <a:lnTo>
                      <a:pt x="138" y="0"/>
                    </a:lnTo>
                    <a:lnTo>
                      <a:pt x="139" y="0"/>
                    </a:lnTo>
                    <a:lnTo>
                      <a:pt x="141" y="0"/>
                    </a:lnTo>
                    <a:lnTo>
                      <a:pt x="142" y="1"/>
                    </a:lnTo>
                    <a:lnTo>
                      <a:pt x="145" y="2"/>
                    </a:lnTo>
                    <a:lnTo>
                      <a:pt x="148" y="3"/>
                    </a:lnTo>
                    <a:lnTo>
                      <a:pt x="153" y="6"/>
                    </a:lnTo>
                    <a:lnTo>
                      <a:pt x="159" y="11"/>
                    </a:lnTo>
                    <a:lnTo>
                      <a:pt x="170" y="25"/>
                    </a:lnTo>
                    <a:lnTo>
                      <a:pt x="181" y="42"/>
                    </a:lnTo>
                    <a:lnTo>
                      <a:pt x="193" y="63"/>
                    </a:lnTo>
                    <a:lnTo>
                      <a:pt x="204" y="84"/>
                    </a:lnTo>
                    <a:lnTo>
                      <a:pt x="215" y="105"/>
                    </a:lnTo>
                    <a:lnTo>
                      <a:pt x="227" y="126"/>
                    </a:lnTo>
                    <a:lnTo>
                      <a:pt x="238" y="143"/>
                    </a:lnTo>
                    <a:lnTo>
                      <a:pt x="244" y="151"/>
                    </a:lnTo>
                    <a:lnTo>
                      <a:pt x="250" y="157"/>
                    </a:lnTo>
                    <a:lnTo>
                      <a:pt x="256" y="162"/>
                    </a:lnTo>
                    <a:lnTo>
                      <a:pt x="259" y="164"/>
                    </a:lnTo>
                    <a:lnTo>
                      <a:pt x="261" y="166"/>
                    </a:lnTo>
                    <a:lnTo>
                      <a:pt x="264" y="167"/>
                    </a:lnTo>
                    <a:lnTo>
                      <a:pt x="267" y="167"/>
                    </a:lnTo>
                    <a:lnTo>
                      <a:pt x="268" y="168"/>
                    </a:lnTo>
                    <a:lnTo>
                      <a:pt x="269" y="168"/>
                    </a:lnTo>
                    <a:lnTo>
                      <a:pt x="270" y="168"/>
                    </a:lnTo>
                    <a:lnTo>
                      <a:pt x="271" y="168"/>
                    </a:lnTo>
                    <a:lnTo>
                      <a:pt x="272" y="168"/>
                    </a:lnTo>
                  </a:path>
                </a:pathLst>
              </a:cu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4" name="Group 12"/>
              <p:cNvGrpSpPr>
                <a:grpSpLocks/>
              </p:cNvGrpSpPr>
              <p:nvPr/>
            </p:nvGrpSpPr>
            <p:grpSpPr bwMode="auto">
              <a:xfrm>
                <a:off x="4264" y="422"/>
                <a:ext cx="1095" cy="666"/>
                <a:chOff x="4920" y="3603"/>
                <a:chExt cx="688" cy="435"/>
              </a:xfrm>
            </p:grpSpPr>
            <p:sp>
              <p:nvSpPr>
                <p:cNvPr id="381979" name="Freeform 13"/>
                <p:cNvSpPr>
                  <a:spLocks/>
                </p:cNvSpPr>
                <p:nvPr/>
              </p:nvSpPr>
              <p:spPr bwMode="auto">
                <a:xfrm>
                  <a:off x="4920" y="3603"/>
                  <a:ext cx="172" cy="435"/>
                </a:xfrm>
                <a:custGeom>
                  <a:avLst/>
                  <a:gdLst>
                    <a:gd name="T0" fmla="*/ 0 w 272"/>
                    <a:gd name="T1" fmla="*/ 19549 h 168"/>
                    <a:gd name="T2" fmla="*/ 1 w 272"/>
                    <a:gd name="T3" fmla="*/ 19549 h 168"/>
                    <a:gd name="T4" fmla="*/ 1 w 272"/>
                    <a:gd name="T5" fmla="*/ 19549 h 168"/>
                    <a:gd name="T6" fmla="*/ 1 w 272"/>
                    <a:gd name="T7" fmla="*/ 19549 h 168"/>
                    <a:gd name="T8" fmla="*/ 1 w 272"/>
                    <a:gd name="T9" fmla="*/ 19549 h 168"/>
                    <a:gd name="T10" fmla="*/ 1 w 272"/>
                    <a:gd name="T11" fmla="*/ 19422 h 168"/>
                    <a:gd name="T12" fmla="*/ 2 w 272"/>
                    <a:gd name="T13" fmla="*/ 19093 h 168"/>
                    <a:gd name="T14" fmla="*/ 3 w 272"/>
                    <a:gd name="T15" fmla="*/ 18296 h 168"/>
                    <a:gd name="T16" fmla="*/ 4 w 272"/>
                    <a:gd name="T17" fmla="*/ 14650 h 168"/>
                    <a:gd name="T18" fmla="*/ 7 w 272"/>
                    <a:gd name="T19" fmla="*/ 9787 h 168"/>
                    <a:gd name="T20" fmla="*/ 9 w 272"/>
                    <a:gd name="T21" fmla="*/ 4754 h 168"/>
                    <a:gd name="T22" fmla="*/ 11 w 272"/>
                    <a:gd name="T23" fmla="*/ 1978 h 168"/>
                    <a:gd name="T24" fmla="*/ 12 w 272"/>
                    <a:gd name="T25" fmla="*/ 590 h 168"/>
                    <a:gd name="T26" fmla="*/ 13 w 272"/>
                    <a:gd name="T27" fmla="*/ 228 h 168"/>
                    <a:gd name="T28" fmla="*/ 13 w 272"/>
                    <a:gd name="T29" fmla="*/ 140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228 h 168"/>
                    <a:gd name="T52" fmla="*/ 16 w 272"/>
                    <a:gd name="T53" fmla="*/ 709 h 168"/>
                    <a:gd name="T54" fmla="*/ 17 w 272"/>
                    <a:gd name="T55" fmla="*/ 2916 h 168"/>
                    <a:gd name="T56" fmla="*/ 20 w 272"/>
                    <a:gd name="T57" fmla="*/ 7328 h 168"/>
                    <a:gd name="T58" fmla="*/ 22 w 272"/>
                    <a:gd name="T59" fmla="*/ 12221 h 168"/>
                    <a:gd name="T60" fmla="*/ 24 w 272"/>
                    <a:gd name="T61" fmla="*/ 16634 h 168"/>
                    <a:gd name="T62" fmla="*/ 25 w 272"/>
                    <a:gd name="T63" fmla="*/ 18296 h 168"/>
                    <a:gd name="T64" fmla="*/ 27 w 272"/>
                    <a:gd name="T65" fmla="*/ 19093 h 168"/>
                    <a:gd name="T66" fmla="*/ 27 w 272"/>
                    <a:gd name="T67" fmla="*/ 19422 h 168"/>
                    <a:gd name="T68" fmla="*/ 27 w 272"/>
                    <a:gd name="T69" fmla="*/ 19549 h 168"/>
                    <a:gd name="T70" fmla="*/ 27 w 272"/>
                    <a:gd name="T71" fmla="*/ 19549 h 168"/>
                    <a:gd name="T72" fmla="*/ 27 w 272"/>
                    <a:gd name="T73" fmla="*/ 19549 h 168"/>
                    <a:gd name="T74" fmla="*/ 27 w 272"/>
                    <a:gd name="T75" fmla="*/ 19549 h 168"/>
                    <a:gd name="T76" fmla="*/ 28 w 272"/>
                    <a:gd name="T77" fmla="*/ 19549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1980" name="Freeform 14"/>
                <p:cNvSpPr>
                  <a:spLocks/>
                </p:cNvSpPr>
                <p:nvPr/>
              </p:nvSpPr>
              <p:spPr bwMode="auto">
                <a:xfrm>
                  <a:off x="5094" y="3729"/>
                  <a:ext cx="172" cy="309"/>
                </a:xfrm>
                <a:custGeom>
                  <a:avLst/>
                  <a:gdLst>
                    <a:gd name="T0" fmla="*/ 0 w 272"/>
                    <a:gd name="T1" fmla="*/ 3535 h 168"/>
                    <a:gd name="T2" fmla="*/ 1 w 272"/>
                    <a:gd name="T3" fmla="*/ 3535 h 168"/>
                    <a:gd name="T4" fmla="*/ 1 w 272"/>
                    <a:gd name="T5" fmla="*/ 3535 h 168"/>
                    <a:gd name="T6" fmla="*/ 1 w 272"/>
                    <a:gd name="T7" fmla="*/ 3535 h 168"/>
                    <a:gd name="T8" fmla="*/ 1 w 272"/>
                    <a:gd name="T9" fmla="*/ 3535 h 168"/>
                    <a:gd name="T10" fmla="*/ 1 w 272"/>
                    <a:gd name="T11" fmla="*/ 3515 h 168"/>
                    <a:gd name="T12" fmla="*/ 2 w 272"/>
                    <a:gd name="T13" fmla="*/ 3454 h 168"/>
                    <a:gd name="T14" fmla="*/ 3 w 272"/>
                    <a:gd name="T15" fmla="*/ 3313 h 168"/>
                    <a:gd name="T16" fmla="*/ 4 w 272"/>
                    <a:gd name="T17" fmla="*/ 2656 h 168"/>
                    <a:gd name="T18" fmla="*/ 7 w 272"/>
                    <a:gd name="T19" fmla="*/ 1773 h 168"/>
                    <a:gd name="T20" fmla="*/ 9 w 272"/>
                    <a:gd name="T21" fmla="*/ 859 h 168"/>
                    <a:gd name="T22" fmla="*/ 11 w 272"/>
                    <a:gd name="T23" fmla="*/ 355 h 168"/>
                    <a:gd name="T24" fmla="*/ 12 w 272"/>
                    <a:gd name="T25" fmla="*/ 105 h 168"/>
                    <a:gd name="T26" fmla="*/ 13 w 272"/>
                    <a:gd name="T27" fmla="*/ 44 h 168"/>
                    <a:gd name="T28" fmla="*/ 13 w 272"/>
                    <a:gd name="T29" fmla="*/ 24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44 h 168"/>
                    <a:gd name="T52" fmla="*/ 16 w 272"/>
                    <a:gd name="T53" fmla="*/ 125 h 168"/>
                    <a:gd name="T54" fmla="*/ 17 w 272"/>
                    <a:gd name="T55" fmla="*/ 528 h 168"/>
                    <a:gd name="T56" fmla="*/ 20 w 272"/>
                    <a:gd name="T57" fmla="*/ 1326 h 168"/>
                    <a:gd name="T58" fmla="*/ 22 w 272"/>
                    <a:gd name="T59" fmla="*/ 2209 h 168"/>
                    <a:gd name="T60" fmla="*/ 24 w 272"/>
                    <a:gd name="T61" fmla="*/ 3011 h 168"/>
                    <a:gd name="T62" fmla="*/ 25 w 272"/>
                    <a:gd name="T63" fmla="*/ 3313 h 168"/>
                    <a:gd name="T64" fmla="*/ 27 w 272"/>
                    <a:gd name="T65" fmla="*/ 3454 h 168"/>
                    <a:gd name="T66" fmla="*/ 27 w 272"/>
                    <a:gd name="T67" fmla="*/ 3515 h 168"/>
                    <a:gd name="T68" fmla="*/ 27 w 272"/>
                    <a:gd name="T69" fmla="*/ 3535 h 168"/>
                    <a:gd name="T70" fmla="*/ 27 w 272"/>
                    <a:gd name="T71" fmla="*/ 3535 h 168"/>
                    <a:gd name="T72" fmla="*/ 27 w 272"/>
                    <a:gd name="T73" fmla="*/ 3535 h 168"/>
                    <a:gd name="T74" fmla="*/ 27 w 272"/>
                    <a:gd name="T75" fmla="*/ 3535 h 168"/>
                    <a:gd name="T76" fmla="*/ 28 w 272"/>
                    <a:gd name="T77" fmla="*/ 3535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1981" name="Freeform 15"/>
                <p:cNvSpPr>
                  <a:spLocks/>
                </p:cNvSpPr>
                <p:nvPr/>
              </p:nvSpPr>
              <p:spPr bwMode="auto">
                <a:xfrm>
                  <a:off x="5268" y="3873"/>
                  <a:ext cx="172" cy="165"/>
                </a:xfrm>
                <a:custGeom>
                  <a:avLst/>
                  <a:gdLst>
                    <a:gd name="T0" fmla="*/ 0 w 272"/>
                    <a:gd name="T1" fmla="*/ 153 h 168"/>
                    <a:gd name="T2" fmla="*/ 1 w 272"/>
                    <a:gd name="T3" fmla="*/ 153 h 168"/>
                    <a:gd name="T4" fmla="*/ 1 w 272"/>
                    <a:gd name="T5" fmla="*/ 153 h 168"/>
                    <a:gd name="T6" fmla="*/ 1 w 272"/>
                    <a:gd name="T7" fmla="*/ 153 h 168"/>
                    <a:gd name="T8" fmla="*/ 1 w 272"/>
                    <a:gd name="T9" fmla="*/ 153 h 168"/>
                    <a:gd name="T10" fmla="*/ 1 w 272"/>
                    <a:gd name="T11" fmla="*/ 152 h 168"/>
                    <a:gd name="T12" fmla="*/ 2 w 272"/>
                    <a:gd name="T13" fmla="*/ 149 h 168"/>
                    <a:gd name="T14" fmla="*/ 3 w 272"/>
                    <a:gd name="T15" fmla="*/ 142 h 168"/>
                    <a:gd name="T16" fmla="*/ 4 w 272"/>
                    <a:gd name="T17" fmla="*/ 116 h 168"/>
                    <a:gd name="T18" fmla="*/ 7 w 272"/>
                    <a:gd name="T19" fmla="*/ 79 h 168"/>
                    <a:gd name="T20" fmla="*/ 9 w 272"/>
                    <a:gd name="T21" fmla="*/ 36 h 168"/>
                    <a:gd name="T22" fmla="*/ 11 w 272"/>
                    <a:gd name="T23" fmla="*/ 17 h 168"/>
                    <a:gd name="T24" fmla="*/ 12 w 272"/>
                    <a:gd name="T25" fmla="*/ 5 h 168"/>
                    <a:gd name="T26" fmla="*/ 13 w 272"/>
                    <a:gd name="T27" fmla="*/ 2 h 168"/>
                    <a:gd name="T28" fmla="*/ 13 w 272"/>
                    <a:gd name="T29" fmla="*/ 1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2 h 168"/>
                    <a:gd name="T52" fmla="*/ 16 w 272"/>
                    <a:gd name="T53" fmla="*/ 6 h 168"/>
                    <a:gd name="T54" fmla="*/ 17 w 272"/>
                    <a:gd name="T55" fmla="*/ 25 h 168"/>
                    <a:gd name="T56" fmla="*/ 20 w 272"/>
                    <a:gd name="T57" fmla="*/ 58 h 168"/>
                    <a:gd name="T58" fmla="*/ 22 w 272"/>
                    <a:gd name="T59" fmla="*/ 95 h 168"/>
                    <a:gd name="T60" fmla="*/ 24 w 272"/>
                    <a:gd name="T61" fmla="*/ 132 h 168"/>
                    <a:gd name="T62" fmla="*/ 25 w 272"/>
                    <a:gd name="T63" fmla="*/ 142 h 168"/>
                    <a:gd name="T64" fmla="*/ 27 w 272"/>
                    <a:gd name="T65" fmla="*/ 149 h 168"/>
                    <a:gd name="T66" fmla="*/ 27 w 272"/>
                    <a:gd name="T67" fmla="*/ 152 h 168"/>
                    <a:gd name="T68" fmla="*/ 27 w 272"/>
                    <a:gd name="T69" fmla="*/ 153 h 168"/>
                    <a:gd name="T70" fmla="*/ 27 w 272"/>
                    <a:gd name="T71" fmla="*/ 153 h 168"/>
                    <a:gd name="T72" fmla="*/ 27 w 272"/>
                    <a:gd name="T73" fmla="*/ 153 h 168"/>
                    <a:gd name="T74" fmla="*/ 27 w 272"/>
                    <a:gd name="T75" fmla="*/ 153 h 168"/>
                    <a:gd name="T76" fmla="*/ 28 w 272"/>
                    <a:gd name="T77" fmla="*/ 153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1982" name="Freeform 16"/>
                <p:cNvSpPr>
                  <a:spLocks/>
                </p:cNvSpPr>
                <p:nvPr/>
              </p:nvSpPr>
              <p:spPr bwMode="auto">
                <a:xfrm>
                  <a:off x="5436" y="3975"/>
                  <a:ext cx="172" cy="63"/>
                </a:xfrm>
                <a:custGeom>
                  <a:avLst/>
                  <a:gdLst>
                    <a:gd name="T0" fmla="*/ 0 w 272"/>
                    <a:gd name="T1" fmla="*/ 1 h 168"/>
                    <a:gd name="T2" fmla="*/ 1 w 272"/>
                    <a:gd name="T3" fmla="*/ 1 h 168"/>
                    <a:gd name="T4" fmla="*/ 1 w 272"/>
                    <a:gd name="T5" fmla="*/ 1 h 168"/>
                    <a:gd name="T6" fmla="*/ 1 w 272"/>
                    <a:gd name="T7" fmla="*/ 1 h 168"/>
                    <a:gd name="T8" fmla="*/ 1 w 272"/>
                    <a:gd name="T9" fmla="*/ 1 h 168"/>
                    <a:gd name="T10" fmla="*/ 1 w 272"/>
                    <a:gd name="T11" fmla="*/ 1 h 168"/>
                    <a:gd name="T12" fmla="*/ 2 w 272"/>
                    <a:gd name="T13" fmla="*/ 1 h 168"/>
                    <a:gd name="T14" fmla="*/ 3 w 272"/>
                    <a:gd name="T15" fmla="*/ 1 h 168"/>
                    <a:gd name="T16" fmla="*/ 4 w 272"/>
                    <a:gd name="T17" fmla="*/ 1 h 168"/>
                    <a:gd name="T18" fmla="*/ 7 w 272"/>
                    <a:gd name="T19" fmla="*/ 1 h 168"/>
                    <a:gd name="T20" fmla="*/ 9 w 272"/>
                    <a:gd name="T21" fmla="*/ 0 h 168"/>
                    <a:gd name="T22" fmla="*/ 11 w 272"/>
                    <a:gd name="T23" fmla="*/ 0 h 168"/>
                    <a:gd name="T24" fmla="*/ 12 w 272"/>
                    <a:gd name="T25" fmla="*/ 0 h 168"/>
                    <a:gd name="T26" fmla="*/ 13 w 272"/>
                    <a:gd name="T27" fmla="*/ 0 h 168"/>
                    <a:gd name="T28" fmla="*/ 13 w 272"/>
                    <a:gd name="T29" fmla="*/ 0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0 h 168"/>
                    <a:gd name="T52" fmla="*/ 16 w 272"/>
                    <a:gd name="T53" fmla="*/ 0 h 168"/>
                    <a:gd name="T54" fmla="*/ 17 w 272"/>
                    <a:gd name="T55" fmla="*/ 0 h 168"/>
                    <a:gd name="T56" fmla="*/ 20 w 272"/>
                    <a:gd name="T57" fmla="*/ 0 h 168"/>
                    <a:gd name="T58" fmla="*/ 22 w 272"/>
                    <a:gd name="T59" fmla="*/ 1 h 168"/>
                    <a:gd name="T60" fmla="*/ 24 w 272"/>
                    <a:gd name="T61" fmla="*/ 1 h 168"/>
                    <a:gd name="T62" fmla="*/ 25 w 272"/>
                    <a:gd name="T63" fmla="*/ 1 h 168"/>
                    <a:gd name="T64" fmla="*/ 27 w 272"/>
                    <a:gd name="T65" fmla="*/ 1 h 168"/>
                    <a:gd name="T66" fmla="*/ 27 w 272"/>
                    <a:gd name="T67" fmla="*/ 1 h 168"/>
                    <a:gd name="T68" fmla="*/ 27 w 272"/>
                    <a:gd name="T69" fmla="*/ 1 h 168"/>
                    <a:gd name="T70" fmla="*/ 27 w 272"/>
                    <a:gd name="T71" fmla="*/ 1 h 168"/>
                    <a:gd name="T72" fmla="*/ 27 w 272"/>
                    <a:gd name="T73" fmla="*/ 1 h 168"/>
                    <a:gd name="T74" fmla="*/ 27 w 272"/>
                    <a:gd name="T75" fmla="*/ 1 h 168"/>
                    <a:gd name="T76" fmla="*/ 28 w 272"/>
                    <a:gd name="T77" fmla="*/ 1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" name="Group 17"/>
              <p:cNvGrpSpPr>
                <a:grpSpLocks/>
              </p:cNvGrpSpPr>
              <p:nvPr/>
            </p:nvGrpSpPr>
            <p:grpSpPr bwMode="auto">
              <a:xfrm flipH="1">
                <a:off x="2855" y="422"/>
                <a:ext cx="1095" cy="666"/>
                <a:chOff x="4920" y="3603"/>
                <a:chExt cx="688" cy="435"/>
              </a:xfrm>
            </p:grpSpPr>
            <p:sp>
              <p:nvSpPr>
                <p:cNvPr id="381975" name="Freeform 18"/>
                <p:cNvSpPr>
                  <a:spLocks/>
                </p:cNvSpPr>
                <p:nvPr/>
              </p:nvSpPr>
              <p:spPr bwMode="auto">
                <a:xfrm>
                  <a:off x="4920" y="3603"/>
                  <a:ext cx="172" cy="435"/>
                </a:xfrm>
                <a:custGeom>
                  <a:avLst/>
                  <a:gdLst>
                    <a:gd name="T0" fmla="*/ 0 w 272"/>
                    <a:gd name="T1" fmla="*/ 19549 h 168"/>
                    <a:gd name="T2" fmla="*/ 1 w 272"/>
                    <a:gd name="T3" fmla="*/ 19549 h 168"/>
                    <a:gd name="T4" fmla="*/ 1 w 272"/>
                    <a:gd name="T5" fmla="*/ 19549 h 168"/>
                    <a:gd name="T6" fmla="*/ 1 w 272"/>
                    <a:gd name="T7" fmla="*/ 19549 h 168"/>
                    <a:gd name="T8" fmla="*/ 1 w 272"/>
                    <a:gd name="T9" fmla="*/ 19549 h 168"/>
                    <a:gd name="T10" fmla="*/ 1 w 272"/>
                    <a:gd name="T11" fmla="*/ 19422 h 168"/>
                    <a:gd name="T12" fmla="*/ 2 w 272"/>
                    <a:gd name="T13" fmla="*/ 19093 h 168"/>
                    <a:gd name="T14" fmla="*/ 3 w 272"/>
                    <a:gd name="T15" fmla="*/ 18296 h 168"/>
                    <a:gd name="T16" fmla="*/ 4 w 272"/>
                    <a:gd name="T17" fmla="*/ 14650 h 168"/>
                    <a:gd name="T18" fmla="*/ 7 w 272"/>
                    <a:gd name="T19" fmla="*/ 9787 h 168"/>
                    <a:gd name="T20" fmla="*/ 9 w 272"/>
                    <a:gd name="T21" fmla="*/ 4754 h 168"/>
                    <a:gd name="T22" fmla="*/ 11 w 272"/>
                    <a:gd name="T23" fmla="*/ 1978 h 168"/>
                    <a:gd name="T24" fmla="*/ 12 w 272"/>
                    <a:gd name="T25" fmla="*/ 590 h 168"/>
                    <a:gd name="T26" fmla="*/ 13 w 272"/>
                    <a:gd name="T27" fmla="*/ 228 h 168"/>
                    <a:gd name="T28" fmla="*/ 13 w 272"/>
                    <a:gd name="T29" fmla="*/ 140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228 h 168"/>
                    <a:gd name="T52" fmla="*/ 16 w 272"/>
                    <a:gd name="T53" fmla="*/ 709 h 168"/>
                    <a:gd name="T54" fmla="*/ 17 w 272"/>
                    <a:gd name="T55" fmla="*/ 2916 h 168"/>
                    <a:gd name="T56" fmla="*/ 20 w 272"/>
                    <a:gd name="T57" fmla="*/ 7328 h 168"/>
                    <a:gd name="T58" fmla="*/ 22 w 272"/>
                    <a:gd name="T59" fmla="*/ 12221 h 168"/>
                    <a:gd name="T60" fmla="*/ 24 w 272"/>
                    <a:gd name="T61" fmla="*/ 16634 h 168"/>
                    <a:gd name="T62" fmla="*/ 25 w 272"/>
                    <a:gd name="T63" fmla="*/ 18296 h 168"/>
                    <a:gd name="T64" fmla="*/ 27 w 272"/>
                    <a:gd name="T65" fmla="*/ 19093 h 168"/>
                    <a:gd name="T66" fmla="*/ 27 w 272"/>
                    <a:gd name="T67" fmla="*/ 19422 h 168"/>
                    <a:gd name="T68" fmla="*/ 27 w 272"/>
                    <a:gd name="T69" fmla="*/ 19549 h 168"/>
                    <a:gd name="T70" fmla="*/ 27 w 272"/>
                    <a:gd name="T71" fmla="*/ 19549 h 168"/>
                    <a:gd name="T72" fmla="*/ 27 w 272"/>
                    <a:gd name="T73" fmla="*/ 19549 h 168"/>
                    <a:gd name="T74" fmla="*/ 27 w 272"/>
                    <a:gd name="T75" fmla="*/ 19549 h 168"/>
                    <a:gd name="T76" fmla="*/ 28 w 272"/>
                    <a:gd name="T77" fmla="*/ 19549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1976" name="Freeform 19"/>
                <p:cNvSpPr>
                  <a:spLocks/>
                </p:cNvSpPr>
                <p:nvPr/>
              </p:nvSpPr>
              <p:spPr bwMode="auto">
                <a:xfrm>
                  <a:off x="5094" y="3729"/>
                  <a:ext cx="172" cy="309"/>
                </a:xfrm>
                <a:custGeom>
                  <a:avLst/>
                  <a:gdLst>
                    <a:gd name="T0" fmla="*/ 0 w 272"/>
                    <a:gd name="T1" fmla="*/ 3535 h 168"/>
                    <a:gd name="T2" fmla="*/ 1 w 272"/>
                    <a:gd name="T3" fmla="*/ 3535 h 168"/>
                    <a:gd name="T4" fmla="*/ 1 w 272"/>
                    <a:gd name="T5" fmla="*/ 3535 h 168"/>
                    <a:gd name="T6" fmla="*/ 1 w 272"/>
                    <a:gd name="T7" fmla="*/ 3535 h 168"/>
                    <a:gd name="T8" fmla="*/ 1 w 272"/>
                    <a:gd name="T9" fmla="*/ 3535 h 168"/>
                    <a:gd name="T10" fmla="*/ 1 w 272"/>
                    <a:gd name="T11" fmla="*/ 3515 h 168"/>
                    <a:gd name="T12" fmla="*/ 2 w 272"/>
                    <a:gd name="T13" fmla="*/ 3454 h 168"/>
                    <a:gd name="T14" fmla="*/ 3 w 272"/>
                    <a:gd name="T15" fmla="*/ 3313 h 168"/>
                    <a:gd name="T16" fmla="*/ 4 w 272"/>
                    <a:gd name="T17" fmla="*/ 2656 h 168"/>
                    <a:gd name="T18" fmla="*/ 7 w 272"/>
                    <a:gd name="T19" fmla="*/ 1773 h 168"/>
                    <a:gd name="T20" fmla="*/ 9 w 272"/>
                    <a:gd name="T21" fmla="*/ 859 h 168"/>
                    <a:gd name="T22" fmla="*/ 11 w 272"/>
                    <a:gd name="T23" fmla="*/ 355 h 168"/>
                    <a:gd name="T24" fmla="*/ 12 w 272"/>
                    <a:gd name="T25" fmla="*/ 105 h 168"/>
                    <a:gd name="T26" fmla="*/ 13 w 272"/>
                    <a:gd name="T27" fmla="*/ 44 h 168"/>
                    <a:gd name="T28" fmla="*/ 13 w 272"/>
                    <a:gd name="T29" fmla="*/ 24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44 h 168"/>
                    <a:gd name="T52" fmla="*/ 16 w 272"/>
                    <a:gd name="T53" fmla="*/ 125 h 168"/>
                    <a:gd name="T54" fmla="*/ 17 w 272"/>
                    <a:gd name="T55" fmla="*/ 528 h 168"/>
                    <a:gd name="T56" fmla="*/ 20 w 272"/>
                    <a:gd name="T57" fmla="*/ 1326 h 168"/>
                    <a:gd name="T58" fmla="*/ 22 w 272"/>
                    <a:gd name="T59" fmla="*/ 2209 h 168"/>
                    <a:gd name="T60" fmla="*/ 24 w 272"/>
                    <a:gd name="T61" fmla="*/ 3011 h 168"/>
                    <a:gd name="T62" fmla="*/ 25 w 272"/>
                    <a:gd name="T63" fmla="*/ 3313 h 168"/>
                    <a:gd name="T64" fmla="*/ 27 w 272"/>
                    <a:gd name="T65" fmla="*/ 3454 h 168"/>
                    <a:gd name="T66" fmla="*/ 27 w 272"/>
                    <a:gd name="T67" fmla="*/ 3515 h 168"/>
                    <a:gd name="T68" fmla="*/ 27 w 272"/>
                    <a:gd name="T69" fmla="*/ 3535 h 168"/>
                    <a:gd name="T70" fmla="*/ 27 w 272"/>
                    <a:gd name="T71" fmla="*/ 3535 h 168"/>
                    <a:gd name="T72" fmla="*/ 27 w 272"/>
                    <a:gd name="T73" fmla="*/ 3535 h 168"/>
                    <a:gd name="T74" fmla="*/ 27 w 272"/>
                    <a:gd name="T75" fmla="*/ 3535 h 168"/>
                    <a:gd name="T76" fmla="*/ 28 w 272"/>
                    <a:gd name="T77" fmla="*/ 3535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1977" name="Freeform 20"/>
                <p:cNvSpPr>
                  <a:spLocks/>
                </p:cNvSpPr>
                <p:nvPr/>
              </p:nvSpPr>
              <p:spPr bwMode="auto">
                <a:xfrm>
                  <a:off x="5268" y="3873"/>
                  <a:ext cx="172" cy="165"/>
                </a:xfrm>
                <a:custGeom>
                  <a:avLst/>
                  <a:gdLst>
                    <a:gd name="T0" fmla="*/ 0 w 272"/>
                    <a:gd name="T1" fmla="*/ 153 h 168"/>
                    <a:gd name="T2" fmla="*/ 1 w 272"/>
                    <a:gd name="T3" fmla="*/ 153 h 168"/>
                    <a:gd name="T4" fmla="*/ 1 w 272"/>
                    <a:gd name="T5" fmla="*/ 153 h 168"/>
                    <a:gd name="T6" fmla="*/ 1 w 272"/>
                    <a:gd name="T7" fmla="*/ 153 h 168"/>
                    <a:gd name="T8" fmla="*/ 1 w 272"/>
                    <a:gd name="T9" fmla="*/ 153 h 168"/>
                    <a:gd name="T10" fmla="*/ 1 w 272"/>
                    <a:gd name="T11" fmla="*/ 152 h 168"/>
                    <a:gd name="T12" fmla="*/ 2 w 272"/>
                    <a:gd name="T13" fmla="*/ 149 h 168"/>
                    <a:gd name="T14" fmla="*/ 3 w 272"/>
                    <a:gd name="T15" fmla="*/ 142 h 168"/>
                    <a:gd name="T16" fmla="*/ 4 w 272"/>
                    <a:gd name="T17" fmla="*/ 116 h 168"/>
                    <a:gd name="T18" fmla="*/ 7 w 272"/>
                    <a:gd name="T19" fmla="*/ 79 h 168"/>
                    <a:gd name="T20" fmla="*/ 9 w 272"/>
                    <a:gd name="T21" fmla="*/ 36 h 168"/>
                    <a:gd name="T22" fmla="*/ 11 w 272"/>
                    <a:gd name="T23" fmla="*/ 17 h 168"/>
                    <a:gd name="T24" fmla="*/ 12 w 272"/>
                    <a:gd name="T25" fmla="*/ 5 h 168"/>
                    <a:gd name="T26" fmla="*/ 13 w 272"/>
                    <a:gd name="T27" fmla="*/ 2 h 168"/>
                    <a:gd name="T28" fmla="*/ 13 w 272"/>
                    <a:gd name="T29" fmla="*/ 1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2 h 168"/>
                    <a:gd name="T52" fmla="*/ 16 w 272"/>
                    <a:gd name="T53" fmla="*/ 6 h 168"/>
                    <a:gd name="T54" fmla="*/ 17 w 272"/>
                    <a:gd name="T55" fmla="*/ 25 h 168"/>
                    <a:gd name="T56" fmla="*/ 20 w 272"/>
                    <a:gd name="T57" fmla="*/ 58 h 168"/>
                    <a:gd name="T58" fmla="*/ 22 w 272"/>
                    <a:gd name="T59" fmla="*/ 95 h 168"/>
                    <a:gd name="T60" fmla="*/ 24 w 272"/>
                    <a:gd name="T61" fmla="*/ 132 h 168"/>
                    <a:gd name="T62" fmla="*/ 25 w 272"/>
                    <a:gd name="T63" fmla="*/ 142 h 168"/>
                    <a:gd name="T64" fmla="*/ 27 w 272"/>
                    <a:gd name="T65" fmla="*/ 149 h 168"/>
                    <a:gd name="T66" fmla="*/ 27 w 272"/>
                    <a:gd name="T67" fmla="*/ 152 h 168"/>
                    <a:gd name="T68" fmla="*/ 27 w 272"/>
                    <a:gd name="T69" fmla="*/ 153 h 168"/>
                    <a:gd name="T70" fmla="*/ 27 w 272"/>
                    <a:gd name="T71" fmla="*/ 153 h 168"/>
                    <a:gd name="T72" fmla="*/ 27 w 272"/>
                    <a:gd name="T73" fmla="*/ 153 h 168"/>
                    <a:gd name="T74" fmla="*/ 27 w 272"/>
                    <a:gd name="T75" fmla="*/ 153 h 168"/>
                    <a:gd name="T76" fmla="*/ 28 w 272"/>
                    <a:gd name="T77" fmla="*/ 153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1978" name="Freeform 21"/>
                <p:cNvSpPr>
                  <a:spLocks/>
                </p:cNvSpPr>
                <p:nvPr/>
              </p:nvSpPr>
              <p:spPr bwMode="auto">
                <a:xfrm>
                  <a:off x="5436" y="3975"/>
                  <a:ext cx="172" cy="63"/>
                </a:xfrm>
                <a:custGeom>
                  <a:avLst/>
                  <a:gdLst>
                    <a:gd name="T0" fmla="*/ 0 w 272"/>
                    <a:gd name="T1" fmla="*/ 1 h 168"/>
                    <a:gd name="T2" fmla="*/ 1 w 272"/>
                    <a:gd name="T3" fmla="*/ 1 h 168"/>
                    <a:gd name="T4" fmla="*/ 1 w 272"/>
                    <a:gd name="T5" fmla="*/ 1 h 168"/>
                    <a:gd name="T6" fmla="*/ 1 w 272"/>
                    <a:gd name="T7" fmla="*/ 1 h 168"/>
                    <a:gd name="T8" fmla="*/ 1 w 272"/>
                    <a:gd name="T9" fmla="*/ 1 h 168"/>
                    <a:gd name="T10" fmla="*/ 1 w 272"/>
                    <a:gd name="T11" fmla="*/ 1 h 168"/>
                    <a:gd name="T12" fmla="*/ 2 w 272"/>
                    <a:gd name="T13" fmla="*/ 1 h 168"/>
                    <a:gd name="T14" fmla="*/ 3 w 272"/>
                    <a:gd name="T15" fmla="*/ 1 h 168"/>
                    <a:gd name="T16" fmla="*/ 4 w 272"/>
                    <a:gd name="T17" fmla="*/ 1 h 168"/>
                    <a:gd name="T18" fmla="*/ 7 w 272"/>
                    <a:gd name="T19" fmla="*/ 1 h 168"/>
                    <a:gd name="T20" fmla="*/ 9 w 272"/>
                    <a:gd name="T21" fmla="*/ 0 h 168"/>
                    <a:gd name="T22" fmla="*/ 11 w 272"/>
                    <a:gd name="T23" fmla="*/ 0 h 168"/>
                    <a:gd name="T24" fmla="*/ 12 w 272"/>
                    <a:gd name="T25" fmla="*/ 0 h 168"/>
                    <a:gd name="T26" fmla="*/ 13 w 272"/>
                    <a:gd name="T27" fmla="*/ 0 h 168"/>
                    <a:gd name="T28" fmla="*/ 13 w 272"/>
                    <a:gd name="T29" fmla="*/ 0 h 168"/>
                    <a:gd name="T30" fmla="*/ 13 w 272"/>
                    <a:gd name="T31" fmla="*/ 0 h 168"/>
                    <a:gd name="T32" fmla="*/ 14 w 272"/>
                    <a:gd name="T33" fmla="*/ 0 h 168"/>
                    <a:gd name="T34" fmla="*/ 14 w 272"/>
                    <a:gd name="T35" fmla="*/ 0 h 168"/>
                    <a:gd name="T36" fmla="*/ 14 w 272"/>
                    <a:gd name="T37" fmla="*/ 0 h 168"/>
                    <a:gd name="T38" fmla="*/ 14 w 272"/>
                    <a:gd name="T39" fmla="*/ 0 h 168"/>
                    <a:gd name="T40" fmla="*/ 14 w 272"/>
                    <a:gd name="T41" fmla="*/ 0 h 168"/>
                    <a:gd name="T42" fmla="*/ 14 w 272"/>
                    <a:gd name="T43" fmla="*/ 0 h 168"/>
                    <a:gd name="T44" fmla="*/ 14 w 272"/>
                    <a:gd name="T45" fmla="*/ 0 h 168"/>
                    <a:gd name="T46" fmla="*/ 14 w 272"/>
                    <a:gd name="T47" fmla="*/ 0 h 168"/>
                    <a:gd name="T48" fmla="*/ 14 w 272"/>
                    <a:gd name="T49" fmla="*/ 0 h 168"/>
                    <a:gd name="T50" fmla="*/ 15 w 272"/>
                    <a:gd name="T51" fmla="*/ 0 h 168"/>
                    <a:gd name="T52" fmla="*/ 16 w 272"/>
                    <a:gd name="T53" fmla="*/ 0 h 168"/>
                    <a:gd name="T54" fmla="*/ 17 w 272"/>
                    <a:gd name="T55" fmla="*/ 0 h 168"/>
                    <a:gd name="T56" fmla="*/ 20 w 272"/>
                    <a:gd name="T57" fmla="*/ 0 h 168"/>
                    <a:gd name="T58" fmla="*/ 22 w 272"/>
                    <a:gd name="T59" fmla="*/ 1 h 168"/>
                    <a:gd name="T60" fmla="*/ 24 w 272"/>
                    <a:gd name="T61" fmla="*/ 1 h 168"/>
                    <a:gd name="T62" fmla="*/ 25 w 272"/>
                    <a:gd name="T63" fmla="*/ 1 h 168"/>
                    <a:gd name="T64" fmla="*/ 27 w 272"/>
                    <a:gd name="T65" fmla="*/ 1 h 168"/>
                    <a:gd name="T66" fmla="*/ 27 w 272"/>
                    <a:gd name="T67" fmla="*/ 1 h 168"/>
                    <a:gd name="T68" fmla="*/ 27 w 272"/>
                    <a:gd name="T69" fmla="*/ 1 h 168"/>
                    <a:gd name="T70" fmla="*/ 27 w 272"/>
                    <a:gd name="T71" fmla="*/ 1 h 168"/>
                    <a:gd name="T72" fmla="*/ 27 w 272"/>
                    <a:gd name="T73" fmla="*/ 1 h 168"/>
                    <a:gd name="T74" fmla="*/ 27 w 272"/>
                    <a:gd name="T75" fmla="*/ 1 h 168"/>
                    <a:gd name="T76" fmla="*/ 28 w 272"/>
                    <a:gd name="T77" fmla="*/ 1 h 168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272"/>
                    <a:gd name="T118" fmla="*/ 0 h 168"/>
                    <a:gd name="T119" fmla="*/ 272 w 272"/>
                    <a:gd name="T120" fmla="*/ 168 h 168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272" h="168">
                      <a:moveTo>
                        <a:pt x="0" y="168"/>
                      </a:moveTo>
                      <a:lnTo>
                        <a:pt x="0" y="168"/>
                      </a:lnTo>
                      <a:lnTo>
                        <a:pt x="1" y="168"/>
                      </a:lnTo>
                      <a:lnTo>
                        <a:pt x="2" y="168"/>
                      </a:lnTo>
                      <a:lnTo>
                        <a:pt x="3" y="168"/>
                      </a:lnTo>
                      <a:lnTo>
                        <a:pt x="4" y="168"/>
                      </a:lnTo>
                      <a:lnTo>
                        <a:pt x="5" y="168"/>
                      </a:lnTo>
                      <a:lnTo>
                        <a:pt x="6" y="167"/>
                      </a:lnTo>
                      <a:lnTo>
                        <a:pt x="8" y="167"/>
                      </a:lnTo>
                      <a:lnTo>
                        <a:pt x="11" y="166"/>
                      </a:lnTo>
                      <a:lnTo>
                        <a:pt x="14" y="164"/>
                      </a:lnTo>
                      <a:lnTo>
                        <a:pt x="17" y="162"/>
                      </a:lnTo>
                      <a:lnTo>
                        <a:pt x="23" y="157"/>
                      </a:lnTo>
                      <a:lnTo>
                        <a:pt x="34" y="143"/>
                      </a:lnTo>
                      <a:lnTo>
                        <a:pt x="45" y="126"/>
                      </a:lnTo>
                      <a:lnTo>
                        <a:pt x="57" y="105"/>
                      </a:lnTo>
                      <a:lnTo>
                        <a:pt x="68" y="84"/>
                      </a:lnTo>
                      <a:lnTo>
                        <a:pt x="80" y="61"/>
                      </a:lnTo>
                      <a:lnTo>
                        <a:pt x="91" y="41"/>
                      </a:lnTo>
                      <a:lnTo>
                        <a:pt x="102" y="24"/>
                      </a:lnTo>
                      <a:lnTo>
                        <a:pt x="108" y="17"/>
                      </a:lnTo>
                      <a:lnTo>
                        <a:pt x="114" y="10"/>
                      </a:lnTo>
                      <a:lnTo>
                        <a:pt x="120" y="5"/>
                      </a:lnTo>
                      <a:lnTo>
                        <a:pt x="123" y="4"/>
                      </a:lnTo>
                      <a:lnTo>
                        <a:pt x="125" y="2"/>
                      </a:lnTo>
                      <a:lnTo>
                        <a:pt x="127" y="2"/>
                      </a:lnTo>
                      <a:lnTo>
                        <a:pt x="128" y="1"/>
                      </a:lnTo>
                      <a:lnTo>
                        <a:pt x="130" y="1"/>
                      </a:lnTo>
                      <a:lnTo>
                        <a:pt x="131" y="0"/>
                      </a:lnTo>
                      <a:lnTo>
                        <a:pt x="132" y="0"/>
                      </a:lnTo>
                      <a:lnTo>
                        <a:pt x="133" y="0"/>
                      </a:lnTo>
                      <a:lnTo>
                        <a:pt x="134" y="0"/>
                      </a:lnTo>
                      <a:lnTo>
                        <a:pt x="135" y="0"/>
                      </a:lnTo>
                      <a:lnTo>
                        <a:pt x="136" y="0"/>
                      </a:lnTo>
                      <a:lnTo>
                        <a:pt x="137" y="0"/>
                      </a:lnTo>
                      <a:lnTo>
                        <a:pt x="138" y="0"/>
                      </a:lnTo>
                      <a:lnTo>
                        <a:pt x="139" y="0"/>
                      </a:lnTo>
                      <a:lnTo>
                        <a:pt x="141" y="0"/>
                      </a:lnTo>
                      <a:lnTo>
                        <a:pt x="142" y="1"/>
                      </a:lnTo>
                      <a:lnTo>
                        <a:pt x="145" y="2"/>
                      </a:lnTo>
                      <a:lnTo>
                        <a:pt x="148" y="3"/>
                      </a:lnTo>
                      <a:lnTo>
                        <a:pt x="153" y="6"/>
                      </a:lnTo>
                      <a:lnTo>
                        <a:pt x="159" y="11"/>
                      </a:lnTo>
                      <a:lnTo>
                        <a:pt x="170" y="25"/>
                      </a:lnTo>
                      <a:lnTo>
                        <a:pt x="181" y="42"/>
                      </a:lnTo>
                      <a:lnTo>
                        <a:pt x="193" y="63"/>
                      </a:lnTo>
                      <a:lnTo>
                        <a:pt x="204" y="84"/>
                      </a:lnTo>
                      <a:lnTo>
                        <a:pt x="215" y="105"/>
                      </a:lnTo>
                      <a:lnTo>
                        <a:pt x="227" y="126"/>
                      </a:lnTo>
                      <a:lnTo>
                        <a:pt x="238" y="143"/>
                      </a:lnTo>
                      <a:lnTo>
                        <a:pt x="244" y="151"/>
                      </a:lnTo>
                      <a:lnTo>
                        <a:pt x="250" y="157"/>
                      </a:lnTo>
                      <a:lnTo>
                        <a:pt x="256" y="162"/>
                      </a:lnTo>
                      <a:lnTo>
                        <a:pt x="259" y="164"/>
                      </a:lnTo>
                      <a:lnTo>
                        <a:pt x="261" y="166"/>
                      </a:lnTo>
                      <a:lnTo>
                        <a:pt x="264" y="167"/>
                      </a:lnTo>
                      <a:lnTo>
                        <a:pt x="267" y="167"/>
                      </a:lnTo>
                      <a:lnTo>
                        <a:pt x="268" y="168"/>
                      </a:lnTo>
                      <a:lnTo>
                        <a:pt x="269" y="168"/>
                      </a:lnTo>
                      <a:lnTo>
                        <a:pt x="270" y="168"/>
                      </a:lnTo>
                      <a:lnTo>
                        <a:pt x="271" y="168"/>
                      </a:lnTo>
                      <a:lnTo>
                        <a:pt x="272" y="168"/>
                      </a:lnTo>
                    </a:path>
                  </a:pathLst>
                </a:cu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6" name="Group 22"/>
            <p:cNvGrpSpPr>
              <a:grpSpLocks/>
            </p:cNvGrpSpPr>
            <p:nvPr/>
          </p:nvGrpSpPr>
          <p:grpSpPr bwMode="auto">
            <a:xfrm>
              <a:off x="4064" y="3015"/>
              <a:ext cx="271" cy="264"/>
              <a:chOff x="4454" y="1277"/>
              <a:chExt cx="271" cy="264"/>
            </a:xfrm>
          </p:grpSpPr>
          <p:sp>
            <p:nvSpPr>
              <p:cNvPr id="381968" name="Rectangle 23"/>
              <p:cNvSpPr>
                <a:spLocks noChangeArrowheads="1"/>
              </p:cNvSpPr>
              <p:nvPr/>
            </p:nvSpPr>
            <p:spPr bwMode="auto">
              <a:xfrm>
                <a:off x="4454" y="1293"/>
                <a:ext cx="116" cy="233"/>
              </a:xfrm>
              <a:prstGeom prst="rect">
                <a:avLst/>
              </a:prstGeom>
              <a:solidFill>
                <a:schemeClr val="accent2"/>
              </a:solidFill>
              <a:ln w="38100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grpSp>
            <p:nvGrpSpPr>
              <p:cNvPr id="7" name="Group 24"/>
              <p:cNvGrpSpPr>
                <a:grpSpLocks/>
              </p:cNvGrpSpPr>
              <p:nvPr/>
            </p:nvGrpSpPr>
            <p:grpSpPr bwMode="auto">
              <a:xfrm>
                <a:off x="4619" y="1277"/>
                <a:ext cx="106" cy="264"/>
                <a:chOff x="4600" y="1291"/>
                <a:chExt cx="106" cy="264"/>
              </a:xfrm>
            </p:grpSpPr>
            <p:sp>
              <p:nvSpPr>
                <p:cNvPr id="381970" name="Line 25"/>
                <p:cNvSpPr>
                  <a:spLocks noChangeShapeType="1"/>
                </p:cNvSpPr>
                <p:nvPr/>
              </p:nvSpPr>
              <p:spPr bwMode="auto">
                <a:xfrm>
                  <a:off x="4600" y="1291"/>
                  <a:ext cx="0" cy="264"/>
                </a:xfrm>
                <a:prstGeom prst="line">
                  <a:avLst/>
                </a:prstGeom>
                <a:noFill/>
                <a:ln w="38100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381971" name="Line 26"/>
                <p:cNvSpPr>
                  <a:spLocks noChangeShapeType="1"/>
                </p:cNvSpPr>
                <p:nvPr/>
              </p:nvSpPr>
              <p:spPr bwMode="auto">
                <a:xfrm>
                  <a:off x="4706" y="1291"/>
                  <a:ext cx="0" cy="264"/>
                </a:xfrm>
                <a:prstGeom prst="line">
                  <a:avLst/>
                </a:prstGeom>
                <a:noFill/>
                <a:ln w="38100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2006043" name="Rectangle 27"/>
          <p:cNvSpPr>
            <a:spLocks noChangeArrowheads="1"/>
          </p:cNvSpPr>
          <p:nvPr/>
        </p:nvSpPr>
        <p:spPr bwMode="auto">
          <a:xfrm>
            <a:off x="2000250" y="3944939"/>
            <a:ext cx="2782888" cy="480131"/>
          </a:xfrm>
          <a:prstGeom prst="rect">
            <a:avLst/>
          </a:prstGeom>
          <a:noFill/>
          <a:ln w="38100">
            <a:solidFill>
              <a:srgbClr val="99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i="1">
                <a:solidFill>
                  <a:srgbClr val="990000"/>
                </a:solidFill>
              </a:rPr>
              <a:t>d</a:t>
            </a:r>
            <a:r>
              <a:rPr lang="en-US" sz="2800" b="1">
                <a:solidFill>
                  <a:srgbClr val="990000"/>
                </a:solidFill>
              </a:rPr>
              <a:t> sin </a:t>
            </a:r>
            <a:r>
              <a:rPr lang="en-US" sz="2800" b="1">
                <a:solidFill>
                  <a:srgbClr val="990000"/>
                </a:solidFill>
                <a:latin typeface="Symbol" pitchFamily="18" charset="2"/>
              </a:rPr>
              <a:t> </a:t>
            </a:r>
            <a:r>
              <a:rPr lang="en-US" sz="2800" b="1">
                <a:solidFill>
                  <a:srgbClr val="990000"/>
                </a:solidFill>
              </a:rPr>
              <a:t>=  m </a:t>
            </a:r>
            <a:r>
              <a:rPr lang="en-US" sz="2800" b="1">
                <a:solidFill>
                  <a:srgbClr val="990000"/>
                </a:solidFill>
                <a:latin typeface="Symbol" pitchFamily="18" charset="2"/>
              </a:rPr>
              <a:t></a:t>
            </a:r>
            <a:endParaRPr lang="en-US" sz="2000" b="1">
              <a:solidFill>
                <a:schemeClr val="accent1"/>
              </a:solidFill>
              <a:latin typeface="Symbol" pitchFamily="18" charset="2"/>
            </a:endParaRPr>
          </a:p>
        </p:txBody>
      </p:sp>
      <p:sp>
        <p:nvSpPr>
          <p:cNvPr id="381961" name="Oval 28"/>
          <p:cNvSpPr>
            <a:spLocks noChangeArrowheads="1"/>
          </p:cNvSpPr>
          <p:nvPr/>
        </p:nvSpPr>
        <p:spPr bwMode="auto">
          <a:xfrm>
            <a:off x="6399214" y="1980565"/>
            <a:ext cx="3430587" cy="52705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006046" name="Text Box 30"/>
          <p:cNvSpPr txBox="1">
            <a:spLocks noChangeArrowheads="1"/>
          </p:cNvSpPr>
          <p:nvPr/>
        </p:nvSpPr>
        <p:spPr bwMode="auto">
          <a:xfrm>
            <a:off x="1892301" y="6451600"/>
            <a:ext cx="7440613" cy="406400"/>
          </a:xfrm>
          <a:prstGeom prst="rect">
            <a:avLst/>
          </a:prstGeom>
          <a:solidFill>
            <a:srgbClr val="3366FF"/>
          </a:solidFill>
          <a:ln w="9525">
            <a:solidFill>
              <a:schemeClr val="tx2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0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Follow-up:</a:t>
            </a:r>
            <a:r>
              <a:rPr lang="en-US" sz="2000" b="1">
                <a:effectLst>
                  <a:outerShdw blurRad="38100" dist="38100" dir="2700000" algn="tl">
                    <a:srgbClr val="000000"/>
                  </a:outerShdw>
                </a:effectLst>
              </a:rPr>
              <a:t>  </a:t>
            </a:r>
            <a:r>
              <a:rPr lang="en-US" sz="2000" b="1"/>
              <a:t>When would the interference pattern disappear?</a:t>
            </a:r>
            <a:endParaRPr lang="en-US" sz="2000" b="1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07741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6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06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6043" grpId="0" animBg="1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9C7B1-B0C9-8AA8-118F-E61333335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>
            <a:extLst>
              <a:ext uri="{FF2B5EF4-FFF2-40B4-BE49-F238E27FC236}">
                <a16:creationId xmlns:a16="http://schemas.microsoft.com/office/drawing/2014/main" id="{C159777F-C408-5E2F-EAFA-4B91088108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19536" y="1801506"/>
            <a:ext cx="3230282" cy="3392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B2C903D-8F53-4588-C421-3F431FB63066}"/>
              </a:ext>
            </a:extLst>
          </p:cNvPr>
          <p:cNvSpPr/>
          <p:nvPr/>
        </p:nvSpPr>
        <p:spPr>
          <a:xfrm>
            <a:off x="3082107" y="2975212"/>
            <a:ext cx="1471696" cy="109523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CB5121F-B53A-D43A-05B8-72741219B617}"/>
              </a:ext>
            </a:extLst>
          </p:cNvPr>
          <p:cNvCxnSpPr/>
          <p:nvPr/>
        </p:nvCxnSpPr>
        <p:spPr>
          <a:xfrm flipV="1">
            <a:off x="3066197" y="955344"/>
            <a:ext cx="2838734" cy="20062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E7E472B-9EA3-3DAA-5C72-22532A521062}"/>
              </a:ext>
            </a:extLst>
          </p:cNvPr>
          <p:cNvCxnSpPr/>
          <p:nvPr/>
        </p:nvCxnSpPr>
        <p:spPr>
          <a:xfrm flipV="1">
            <a:off x="4553803" y="3848671"/>
            <a:ext cx="5813946" cy="2047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FA70B599-EA09-0FAD-315B-FE9B31AA8119}"/>
              </a:ext>
            </a:extLst>
          </p:cNvPr>
          <p:cNvSpPr/>
          <p:nvPr/>
        </p:nvSpPr>
        <p:spPr>
          <a:xfrm>
            <a:off x="5918571" y="965576"/>
            <a:ext cx="4503762" cy="289673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7E91E876-FD83-4288-A56C-E03199FC5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23213" y="988730"/>
            <a:ext cx="4267200" cy="286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EEEE21A-F28D-5B49-AA50-6AEB1E7E0059}"/>
              </a:ext>
            </a:extLst>
          </p:cNvPr>
          <p:cNvSpPr/>
          <p:nvPr/>
        </p:nvSpPr>
        <p:spPr>
          <a:xfrm rot="19982334">
            <a:off x="7100171" y="3001687"/>
            <a:ext cx="210312" cy="2047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015A4EF-3F6F-A2E4-3A5E-BF31E85AB440}"/>
                  </a:ext>
                </a:extLst>
              </p:cNvPr>
              <p:cNvSpPr txBox="1"/>
              <p:nvPr/>
            </p:nvSpPr>
            <p:spPr>
              <a:xfrm>
                <a:off x="6874545" y="2961564"/>
                <a:ext cx="4894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015A4EF-3F6F-A2E4-3A5E-BF31E85AB4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4545" y="2961564"/>
                <a:ext cx="489493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10002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ED9865D-386A-44E5-B073-C17F51DC57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2618" y="1155010"/>
            <a:ext cx="5426764" cy="4050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5635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25857" y="1398352"/>
            <a:ext cx="7203043" cy="47977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99848" y="1033322"/>
            <a:ext cx="7840355" cy="52353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l="14298" t="28617" r="15657" b="23033"/>
          <a:stretch>
            <a:fillRect/>
          </a:stretch>
        </p:blipFill>
        <p:spPr bwMode="auto">
          <a:xfrm>
            <a:off x="3002280" y="3581400"/>
            <a:ext cx="5897880" cy="1280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15640" y="1752600"/>
            <a:ext cx="5334000" cy="13868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7421880" y="3101340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US" sz="1600" dirty="0">
                <a:latin typeface="Times New Roman" pitchFamily="18" charset="0"/>
                <a:cs typeface="Times New Roman" pitchFamily="18" charset="0"/>
                <a:sym typeface="Symbol"/>
              </a:rPr>
              <a:t>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126480" y="3101340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itchFamily="18" charset="0"/>
                <a:cs typeface="Times New Roman" pitchFamily="18" charset="0"/>
                <a:sym typeface="Symbol"/>
              </a:rPr>
              <a:t>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705600" y="3101340"/>
            <a:ext cx="39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itchFamily="18" charset="0"/>
                <a:cs typeface="Times New Roman" pitchFamily="18" charset="0"/>
                <a:sym typeface="Symbol"/>
              </a:rPr>
              <a:t>3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41520" y="3101340"/>
            <a:ext cx="4683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-3</a:t>
            </a:r>
            <a:r>
              <a:rPr lang="en-US" sz="1600" dirty="0">
                <a:latin typeface="Times New Roman" pitchFamily="18" charset="0"/>
                <a:cs typeface="Times New Roman" pitchFamily="18" charset="0"/>
                <a:sym typeface="Symbol"/>
              </a:rPr>
              <a:t>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334000" y="3101340"/>
            <a:ext cx="365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itchFamily="18" charset="0"/>
                <a:cs typeface="Times New Roman" pitchFamily="18" charset="0"/>
                <a:sym typeface="Symbol"/>
              </a:rPr>
              <a:t>-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870960" y="3101340"/>
            <a:ext cx="4683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itchFamily="18" charset="0"/>
                <a:cs typeface="Times New Roman" pitchFamily="18" charset="0"/>
                <a:sym typeface="Symbol"/>
              </a:rPr>
              <a:t>-5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458201" y="2926080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Symbol"/>
              </a:rPr>
              <a:t>/2</a:t>
            </a:r>
            <a:endParaRPr lang="en-US" dirty="0"/>
          </a:p>
        </p:txBody>
      </p:sp>
      <p:cxnSp>
        <p:nvCxnSpPr>
          <p:cNvPr id="14" name="Straight Arrow Connector 13"/>
          <p:cNvCxnSpPr/>
          <p:nvPr/>
        </p:nvCxnSpPr>
        <p:spPr>
          <a:xfrm flipH="1">
            <a:off x="6720840" y="1844040"/>
            <a:ext cx="914400" cy="27432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11440" y="1584961"/>
            <a:ext cx="21183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Interference fringes:</a:t>
            </a:r>
          </a:p>
          <a:p>
            <a:r>
              <a:rPr lang="en-US" sz="1600" dirty="0"/>
              <a:t> due to having two slits.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463040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 New Roman" pitchFamily="18" charset="0"/>
                <a:cs typeface="Times New Roman" pitchFamily="18" charset="0"/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15038826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D2C1A0E-21EE-72F0-4370-206665E051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703" y="814379"/>
            <a:ext cx="8064593" cy="4503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2966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1" y="274638"/>
            <a:ext cx="4584357" cy="1143000"/>
          </a:xfrm>
        </p:spPr>
        <p:txBody>
          <a:bodyPr/>
          <a:lstStyle/>
          <a:p>
            <a:r>
              <a:rPr lang="en-US" dirty="0"/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1"/>
            <a:ext cx="4497859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At point A, there will be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Constructive interference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Destructive interference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Partial constructive interference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Partial destructive interference</a:t>
            </a:r>
          </a:p>
          <a:p>
            <a:pPr marL="514350" indent="-514350">
              <a:buFont typeface="+mj-lt"/>
              <a:buAutoNum type="alphaLcParenR"/>
            </a:pP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13839" y="274638"/>
            <a:ext cx="3287653" cy="584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0F33C2B-F1CD-21D3-C981-131CF70D97F4}"/>
              </a:ext>
            </a:extLst>
          </p:cNvPr>
          <p:cNvSpPr txBox="1"/>
          <p:nvPr/>
        </p:nvSpPr>
        <p:spPr>
          <a:xfrm>
            <a:off x="9470897" y="2434282"/>
            <a:ext cx="4716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4320766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1" y="152400"/>
            <a:ext cx="3287653" cy="584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7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33689" y="785814"/>
            <a:ext cx="6524625" cy="5286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62401" y="0"/>
            <a:ext cx="3819263" cy="652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1" y="274638"/>
            <a:ext cx="4584357" cy="1143000"/>
          </a:xfrm>
        </p:spPr>
        <p:txBody>
          <a:bodyPr/>
          <a:lstStyle/>
          <a:p>
            <a:r>
              <a:rPr lang="en-US" dirty="0"/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1"/>
            <a:ext cx="4497859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Which will be a brighter spot, pint A or point B?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A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B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They will be the same</a:t>
            </a:r>
          </a:p>
          <a:p>
            <a:pPr marL="514350" indent="-514350">
              <a:buFont typeface="+mj-lt"/>
              <a:buAutoNum type="alphaLcParenR"/>
            </a:pP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13839" y="274638"/>
            <a:ext cx="3287653" cy="584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0F33C2B-F1CD-21D3-C981-131CF70D97F4}"/>
              </a:ext>
            </a:extLst>
          </p:cNvPr>
          <p:cNvSpPr txBox="1"/>
          <p:nvPr/>
        </p:nvSpPr>
        <p:spPr>
          <a:xfrm>
            <a:off x="9470897" y="2434282"/>
            <a:ext cx="4716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DBFF4C-BCD8-13B6-07F3-6BB27892273A}"/>
              </a:ext>
            </a:extLst>
          </p:cNvPr>
          <p:cNvSpPr txBox="1"/>
          <p:nvPr/>
        </p:nvSpPr>
        <p:spPr>
          <a:xfrm>
            <a:off x="9747415" y="2973749"/>
            <a:ext cx="4700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FBE7A73-7D94-3A7B-556F-4DC4E6DF4FE3}"/>
              </a:ext>
            </a:extLst>
          </p:cNvPr>
          <p:cNvSpPr/>
          <p:nvPr/>
        </p:nvSpPr>
        <p:spPr>
          <a:xfrm>
            <a:off x="9681039" y="3310702"/>
            <a:ext cx="87177" cy="11121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1990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62489" y="1828800"/>
            <a:ext cx="2081319" cy="5151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56323" name="Rectangle 2"/>
          <p:cNvSpPr>
            <a:spLocks noGrp="1" noChangeArrowheads="1"/>
          </p:cNvSpPr>
          <p:nvPr>
            <p:ph type="title"/>
          </p:nvPr>
        </p:nvSpPr>
        <p:spPr>
          <a:xfrm>
            <a:off x="3124200" y="0"/>
            <a:ext cx="7304088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/>
              <a:t>Diffraction Grating Spectrometer</a:t>
            </a:r>
          </a:p>
        </p:txBody>
      </p:sp>
      <p:sp>
        <p:nvSpPr>
          <p:cNvPr id="5632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133600" y="1371601"/>
            <a:ext cx="4154488" cy="46116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dirty="0"/>
              <a:t>The collimated beam is incident on the grating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The diffracted light leaves the gratings and the telescope is used to view the image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The wavelength can be determined by measuring the precise angles at which the images of the slit appear for the various orders</a:t>
            </a:r>
          </a:p>
        </p:txBody>
      </p:sp>
      <p:pic>
        <p:nvPicPr>
          <p:cNvPr id="8193" name="Picture 1"/>
          <p:cNvPicPr>
            <a:picLocks noGrp="1" noChangeAspect="1" noChangeArrowheads="1"/>
          </p:cNvPicPr>
          <p:nvPr>
            <p:ph type="clipArt" sz="half" idx="2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00801" y="2286001"/>
            <a:ext cx="4033837" cy="19349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Details</a:t>
            </a:r>
          </a:p>
        </p:txBody>
      </p:sp>
      <p:pic>
        <p:nvPicPr>
          <p:cNvPr id="7169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43201" y="1905000"/>
            <a:ext cx="7267575" cy="348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7353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00" y="5029200"/>
            <a:ext cx="3543300" cy="14287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55299" name="Rectangle 2"/>
          <p:cNvSpPr>
            <a:spLocks noGrp="1" noChangeArrowheads="1"/>
          </p:cNvSpPr>
          <p:nvPr>
            <p:ph type="title"/>
          </p:nvPr>
        </p:nvSpPr>
        <p:spPr>
          <a:xfrm>
            <a:off x="2760664" y="0"/>
            <a:ext cx="7362825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/>
              <a:t>Diffraction Grating, Intensity, cont.</a:t>
            </a:r>
          </a:p>
        </p:txBody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Characteristics of the intensity pattern</a:t>
            </a:r>
          </a:p>
          <a:p>
            <a:pPr lvl="1" eaLnBrk="1" hangingPunct="1"/>
            <a:r>
              <a:rPr lang="en-US"/>
              <a:t>The sharp peaks are in contrast to the broad, bright fringes characteristic of the two-slit interference pattern</a:t>
            </a:r>
          </a:p>
          <a:p>
            <a:pPr lvl="1" eaLnBrk="1" hangingPunct="1"/>
            <a:r>
              <a:rPr lang="en-US"/>
              <a:t>Because the principle maxima are so sharp, they are much brighter than two-slit interference patterns</a:t>
            </a:r>
          </a:p>
          <a:p>
            <a:pPr eaLnBrk="1" hangingPunct="1"/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593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Grating Light Valve</a:t>
            </a:r>
          </a:p>
        </p:txBody>
      </p:sp>
      <p:sp>
        <p:nvSpPr>
          <p:cNvPr id="5939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524000" y="1481139"/>
            <a:ext cx="4230688" cy="4459287"/>
          </a:xfrm>
        </p:spPr>
        <p:txBody>
          <a:bodyPr/>
          <a:lstStyle/>
          <a:p>
            <a:pPr eaLnBrk="1" hangingPunct="1"/>
            <a:r>
              <a:rPr lang="en-US" sz="2200"/>
              <a:t>A grating light valve consists of a silicon microchip fitted with an array of parallel silicon nitride ribbons coated with a thin layer of aluminum</a:t>
            </a:r>
          </a:p>
          <a:p>
            <a:pPr eaLnBrk="1" hangingPunct="1"/>
            <a:r>
              <a:rPr lang="en-US" sz="2200"/>
              <a:t>When a voltage is applied between a ribbon and the electrode on the silicon substrate, an electric force pulls the ribbon down</a:t>
            </a:r>
          </a:p>
          <a:p>
            <a:pPr eaLnBrk="1" hangingPunct="1"/>
            <a:r>
              <a:rPr lang="en-US" sz="2200"/>
              <a:t>The array of ribbons acts as a diffraction grating</a:t>
            </a:r>
          </a:p>
        </p:txBody>
      </p:sp>
      <p:pic>
        <p:nvPicPr>
          <p:cNvPr id="59397" name="Picture 4" descr="38-19"/>
          <p:cNvPicPr>
            <a:picLocks noGrp="1" noChangeAspect="1" noChangeArrowheads="1"/>
          </p:cNvPicPr>
          <p:nvPr>
            <p:ph type="clipArt" sz="half" idx="2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6176964" y="2190751"/>
            <a:ext cx="4033837" cy="3343275"/>
          </a:xfr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>
          <a:xfrm>
            <a:off x="2790825" y="0"/>
            <a:ext cx="7551738" cy="1143000"/>
          </a:xfrm>
        </p:spPr>
        <p:txBody>
          <a:bodyPr/>
          <a:lstStyle/>
          <a:p>
            <a:pPr eaLnBrk="1" hangingPunct="1"/>
            <a:r>
              <a:rPr lang="en-US" sz="3200"/>
              <a:t>Resolving Power of a Diffraction Grating</a:t>
            </a:r>
          </a:p>
        </p:txBody>
      </p:sp>
      <p:sp>
        <p:nvSpPr>
          <p:cNvPr id="1536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/>
              <a:t>For two nearly equal wavelengths, </a:t>
            </a:r>
            <a:r>
              <a:rPr lang="en-US" i="1">
                <a:cs typeface="Arial" charset="0"/>
              </a:rPr>
              <a:t>λ</a:t>
            </a:r>
            <a:r>
              <a:rPr lang="en-US" baseline="-25000"/>
              <a:t>1</a:t>
            </a:r>
            <a:r>
              <a:rPr lang="en-US"/>
              <a:t> and </a:t>
            </a:r>
            <a:r>
              <a:rPr lang="en-US" i="1">
                <a:cs typeface="Arial" charset="0"/>
              </a:rPr>
              <a:t>λ</a:t>
            </a:r>
            <a:r>
              <a:rPr lang="en-US" baseline="-25000"/>
              <a:t>2</a:t>
            </a:r>
            <a:r>
              <a:rPr lang="en-US"/>
              <a:t>, between which a diffraction grating can just barely distinguish, the </a:t>
            </a:r>
            <a:r>
              <a:rPr lang="en-US" b="1"/>
              <a:t>resolving power</a:t>
            </a:r>
            <a:r>
              <a:rPr lang="en-US"/>
              <a:t>, </a:t>
            </a:r>
            <a:r>
              <a:rPr lang="en-US" i="1"/>
              <a:t>R</a:t>
            </a:r>
            <a:r>
              <a:rPr lang="en-US"/>
              <a:t>, of the grating is defined as </a:t>
            </a:r>
          </a:p>
          <a:p>
            <a:pPr eaLnBrk="1" hangingPunct="1">
              <a:lnSpc>
                <a:spcPct val="90000"/>
              </a:lnSpc>
            </a:pPr>
            <a:endParaRPr lang="en-US"/>
          </a:p>
          <a:p>
            <a:pPr eaLnBrk="1" hangingPunct="1">
              <a:lnSpc>
                <a:spcPct val="90000"/>
              </a:lnSpc>
            </a:pPr>
            <a:endParaRPr lang="en-US"/>
          </a:p>
          <a:p>
            <a:pPr eaLnBrk="1" hangingPunct="1">
              <a:lnSpc>
                <a:spcPct val="90000"/>
              </a:lnSpc>
            </a:pPr>
            <a:r>
              <a:rPr lang="en-US"/>
              <a:t>Therefore, a grating with a high resolution can distinguish between small differences in wavelength</a:t>
            </a:r>
          </a:p>
        </p:txBody>
      </p:sp>
      <p:graphicFrame>
        <p:nvGraphicFramePr>
          <p:cNvPr id="15362" name="Object 4"/>
          <p:cNvGraphicFramePr>
            <a:graphicFrameLocks noChangeAspect="1"/>
          </p:cNvGraphicFramePr>
          <p:nvPr/>
        </p:nvGraphicFramePr>
        <p:xfrm>
          <a:off x="4876800" y="3251200"/>
          <a:ext cx="2381250" cy="954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79280" imgH="431640" progId="">
                  <p:embed/>
                </p:oleObj>
              </mc:Choice>
              <mc:Fallback>
                <p:oleObj name="Equation" r:id="rId2" imgW="1079280" imgH="431640" progId="">
                  <p:embed/>
                  <p:pic>
                    <p:nvPicPr>
                      <p:cNvPr id="1536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3251200"/>
                        <a:ext cx="2381250" cy="954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5E0A8329-D581-D634-3B7A-576DD2D2B6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68803" y="3904063"/>
            <a:ext cx="2308386" cy="27074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1" y="274638"/>
            <a:ext cx="4584357" cy="1143000"/>
          </a:xfrm>
        </p:spPr>
        <p:txBody>
          <a:bodyPr/>
          <a:lstStyle/>
          <a:p>
            <a:r>
              <a:rPr lang="en-US" dirty="0"/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1"/>
            <a:ext cx="4497859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Which will be a narrower, pint A or point B?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A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B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They will be the same</a:t>
            </a:r>
          </a:p>
          <a:p>
            <a:pPr marL="514350" indent="-514350">
              <a:buFont typeface="+mj-lt"/>
              <a:buAutoNum type="alphaLcParenR"/>
            </a:pP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13839" y="274639"/>
            <a:ext cx="2062900" cy="36656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0F33C2B-F1CD-21D3-C981-131CF70D97F4}"/>
              </a:ext>
            </a:extLst>
          </p:cNvPr>
          <p:cNvSpPr txBox="1"/>
          <p:nvPr/>
        </p:nvSpPr>
        <p:spPr>
          <a:xfrm>
            <a:off x="8471595" y="1563131"/>
            <a:ext cx="4716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DBFF4C-BCD8-13B6-07F3-6BB27892273A}"/>
              </a:ext>
            </a:extLst>
          </p:cNvPr>
          <p:cNvSpPr txBox="1"/>
          <p:nvPr/>
        </p:nvSpPr>
        <p:spPr>
          <a:xfrm>
            <a:off x="8728362" y="4905637"/>
            <a:ext cx="4700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FBE7A73-7D94-3A7B-556F-4DC4E6DF4FE3}"/>
              </a:ext>
            </a:extLst>
          </p:cNvPr>
          <p:cNvSpPr/>
          <p:nvPr/>
        </p:nvSpPr>
        <p:spPr>
          <a:xfrm>
            <a:off x="8691668" y="5203179"/>
            <a:ext cx="87177" cy="11121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6172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55036" y="243840"/>
            <a:ext cx="5221473" cy="640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8" name="Straight Arrow Connector 7"/>
          <p:cNvCxnSpPr>
            <a:stCxn id="9" idx="3"/>
          </p:cNvCxnSpPr>
          <p:nvPr/>
        </p:nvCxnSpPr>
        <p:spPr>
          <a:xfrm>
            <a:off x="4568950" y="428954"/>
            <a:ext cx="216410" cy="16540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798320" y="198121"/>
            <a:ext cx="27706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Single Slit Envelope</a:t>
            </a:r>
          </a:p>
        </p:txBody>
      </p:sp>
      <p:cxnSp>
        <p:nvCxnSpPr>
          <p:cNvPr id="10" name="Straight Arrow Connector 9"/>
          <p:cNvCxnSpPr>
            <a:stCxn id="12" idx="3"/>
          </p:cNvCxnSpPr>
          <p:nvPr/>
        </p:nvCxnSpPr>
        <p:spPr>
          <a:xfrm flipV="1">
            <a:off x="4199896" y="929641"/>
            <a:ext cx="463545" cy="44419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783081" y="1143001"/>
            <a:ext cx="24168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Intensity pattern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63638" y="518161"/>
            <a:ext cx="9625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 slits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63638" y="1584961"/>
            <a:ext cx="9625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3 slits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638" y="2667001"/>
            <a:ext cx="9625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4 slits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63638" y="3749041"/>
            <a:ext cx="9625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5 slits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6618" y="4831081"/>
            <a:ext cx="11276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10 slits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5867401"/>
            <a:ext cx="12927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100 slits</a:t>
            </a:r>
          </a:p>
        </p:txBody>
      </p:sp>
      <p:graphicFrame>
        <p:nvGraphicFramePr>
          <p:cNvPr id="21" name="Object 20"/>
          <p:cNvGraphicFramePr>
            <a:graphicFrameLocks noChangeAspect="1"/>
          </p:cNvGraphicFramePr>
          <p:nvPr/>
        </p:nvGraphicFramePr>
        <p:xfrm>
          <a:off x="8487410" y="6521450"/>
          <a:ext cx="811679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20560" imgH="215640" progId="Equation.3">
                  <p:embed/>
                </p:oleObj>
              </mc:Choice>
              <mc:Fallback>
                <p:oleObj name="Equation" r:id="rId3" imgW="520560" imgH="215640" progId="Equation.3">
                  <p:embed/>
                  <p:pic>
                    <p:nvPicPr>
                      <p:cNvPr id="21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87410" y="6521450"/>
                        <a:ext cx="811679" cy="336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5DEC7-F6C7-D77B-ED7E-B4CE5118D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blurry image of a rainbow colored line&#10;&#10;AI-generated content may be incorrect.">
            <a:extLst>
              <a:ext uri="{FF2B5EF4-FFF2-40B4-BE49-F238E27FC236}">
                <a16:creationId xmlns:a16="http://schemas.microsoft.com/office/drawing/2014/main" id="{96167AED-50A6-2AFA-5DCA-057802A184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9810" y="3317054"/>
            <a:ext cx="5805600" cy="4351338"/>
          </a:xfrm>
        </p:spPr>
      </p:pic>
      <p:pic>
        <p:nvPicPr>
          <p:cNvPr id="7" name="Picture 6" descr="A graph of a neon brightness&#10;&#10;AI-generated content may be incorrect.">
            <a:extLst>
              <a:ext uri="{FF2B5EF4-FFF2-40B4-BE49-F238E27FC236}">
                <a16:creationId xmlns:a16="http://schemas.microsoft.com/office/drawing/2014/main" id="{A1E3B2F9-AC3C-3252-B340-E89477B3C4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3127" y="-61283"/>
            <a:ext cx="5852172" cy="4389129"/>
          </a:xfrm>
          <a:prstGeom prst="rect">
            <a:avLst/>
          </a:prstGeom>
        </p:spPr>
      </p:pic>
      <p:pic>
        <p:nvPicPr>
          <p:cNvPr id="9" name="Picture 8" descr="A group of people looking at a computer&#10;&#10;AI-generated content may be incorrect.">
            <a:extLst>
              <a:ext uri="{FF2B5EF4-FFF2-40B4-BE49-F238E27FC236}">
                <a16:creationId xmlns:a16="http://schemas.microsoft.com/office/drawing/2014/main" id="{2A264CE0-9744-0C82-71E9-23866F9A23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3574" y="0"/>
            <a:ext cx="6411311" cy="4808483"/>
          </a:xfrm>
          <a:prstGeom prst="rect">
            <a:avLst/>
          </a:prstGeom>
        </p:spPr>
      </p:pic>
      <p:pic>
        <p:nvPicPr>
          <p:cNvPr id="11" name="Picture 10" descr="A machine on a table&#10;&#10;AI-generated content may be incorrect.">
            <a:extLst>
              <a:ext uri="{FF2B5EF4-FFF2-40B4-BE49-F238E27FC236}">
                <a16:creationId xmlns:a16="http://schemas.microsoft.com/office/drawing/2014/main" id="{19B0E32D-CE40-5900-7C73-0D0BA7D8F9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6073" y="3582468"/>
            <a:ext cx="4813737" cy="3610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928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60419" name="Rectangle 2"/>
          <p:cNvSpPr>
            <a:spLocks noGrp="1" noChangeArrowheads="1"/>
          </p:cNvSpPr>
          <p:nvPr>
            <p:ph type="title"/>
          </p:nvPr>
        </p:nvSpPr>
        <p:spPr>
          <a:xfrm>
            <a:off x="3124200" y="-142875"/>
            <a:ext cx="64770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/>
              <a:t>Resolving Power of a Diffraction Grating, cont</a:t>
            </a:r>
          </a:p>
        </p:txBody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The resolving power in the </a:t>
            </a:r>
            <a:r>
              <a:rPr lang="en-US" i="1"/>
              <a:t>m</a:t>
            </a:r>
            <a:r>
              <a:rPr lang="en-US"/>
              <a:t>th-order diffraction is </a:t>
            </a:r>
            <a:r>
              <a:rPr lang="en-US" i="1"/>
              <a:t>R</a:t>
            </a:r>
            <a:r>
              <a:rPr lang="en-US"/>
              <a:t> = </a:t>
            </a:r>
            <a:r>
              <a:rPr lang="en-US" i="1"/>
              <a:t>Nm</a:t>
            </a:r>
          </a:p>
          <a:p>
            <a:pPr lvl="1" eaLnBrk="1" hangingPunct="1"/>
            <a:r>
              <a:rPr lang="en-US" i="1"/>
              <a:t>N</a:t>
            </a:r>
            <a:r>
              <a:rPr lang="en-US"/>
              <a:t> is the number of slits</a:t>
            </a:r>
          </a:p>
          <a:p>
            <a:pPr lvl="1" eaLnBrk="1" hangingPunct="1"/>
            <a:r>
              <a:rPr lang="en-US" i="1"/>
              <a:t>m</a:t>
            </a:r>
            <a:r>
              <a:rPr lang="en-US"/>
              <a:t> is the order number</a:t>
            </a:r>
          </a:p>
          <a:p>
            <a:pPr eaLnBrk="1" hangingPunct="1"/>
            <a:r>
              <a:rPr lang="en-US"/>
              <a:t>Resolving power increases with increasing order number and with increasing number of illuminated slits</a:t>
            </a:r>
          </a:p>
          <a:p>
            <a:pPr lvl="1" eaLnBrk="1" hangingPunct="1"/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R. Todd Lines</a:t>
            </a:r>
          </a:p>
        </p:txBody>
      </p:sp>
      <p:sp>
        <p:nvSpPr>
          <p:cNvPr id="61443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-177292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/>
              <a:t>AIRS</a:t>
            </a:r>
          </a:p>
        </p:txBody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  <p:pic>
        <p:nvPicPr>
          <p:cNvPr id="61445" name="Picture 4" descr="airsinst4_th2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1" y="679134"/>
            <a:ext cx="4244975" cy="285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46" name="Picture 5" descr="Scan_Geo_th30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30538" y="3252470"/>
            <a:ext cx="3810000" cy="267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673" name="Picture 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343776" y="3629026"/>
            <a:ext cx="3019425" cy="300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216969" y="944880"/>
            <a:ext cx="3629025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B65AB56-F571-2189-14A0-EE228DC327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END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40A52A0-C8A8-A815-1256-1484F1C272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6052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592</Words>
  <Application>Microsoft Office PowerPoint</Application>
  <PresentationFormat>Widescreen</PresentationFormat>
  <Paragraphs>106</Paragraphs>
  <Slides>29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Aptos</vt:lpstr>
      <vt:lpstr>Aptos Display</vt:lpstr>
      <vt:lpstr>Arial</vt:lpstr>
      <vt:lpstr>Cambria Math</vt:lpstr>
      <vt:lpstr>Symbol</vt:lpstr>
      <vt:lpstr>Times New Roman</vt:lpstr>
      <vt:lpstr>Office Theme</vt:lpstr>
      <vt:lpstr>Equation</vt:lpstr>
      <vt:lpstr>Lecture 22</vt:lpstr>
      <vt:lpstr>PowerPoint Presentation</vt:lpstr>
      <vt:lpstr>ConcepTest 24.3a Double Slits I</vt:lpstr>
      <vt:lpstr>ConcepTest 24.3a Double Slits I</vt:lpstr>
      <vt:lpstr>ConcepTest 24.3b  Double Slits II</vt:lpstr>
      <vt:lpstr>ConcepTest 24.3b  Double Slits II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</vt:lpstr>
      <vt:lpstr>PowerPoint Presentation</vt:lpstr>
      <vt:lpstr>PowerPoint Presentation</vt:lpstr>
      <vt:lpstr>PowerPoint Presentation</vt:lpstr>
      <vt:lpstr>Question</vt:lpstr>
      <vt:lpstr>PowerPoint Presentation</vt:lpstr>
      <vt:lpstr>Diffraction Grating Spectrometer</vt:lpstr>
      <vt:lpstr>Details</vt:lpstr>
      <vt:lpstr>Diffraction Grating, Intensity, cont.</vt:lpstr>
      <vt:lpstr>Grating Light Valve</vt:lpstr>
      <vt:lpstr>Resolving Power of a Diffraction Grating</vt:lpstr>
      <vt:lpstr>Question</vt:lpstr>
      <vt:lpstr>PowerPoint Presentation</vt:lpstr>
      <vt:lpstr>PowerPoint Presentation</vt:lpstr>
      <vt:lpstr>Resolving Power of a Diffraction Grating, cont</vt:lpstr>
      <vt:lpstr>AIRS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Lines, Todd</dc:creator>
  <cp:lastModifiedBy>Todd Lines</cp:lastModifiedBy>
  <cp:revision>1</cp:revision>
  <dcterms:created xsi:type="dcterms:W3CDTF">2025-05-22T22:37:32Z</dcterms:created>
  <dcterms:modified xsi:type="dcterms:W3CDTF">2026-08-26T19:29:16Z</dcterms:modified>
</cp:coreProperties>
</file>