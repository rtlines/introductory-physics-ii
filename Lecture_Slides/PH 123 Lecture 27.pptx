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50" r:id="rId3"/>
    <p:sldId id="349" r:id="rId4"/>
    <p:sldId id="312" r:id="rId5"/>
    <p:sldId id="313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51" r:id="rId18"/>
    <p:sldId id="337" r:id="rId19"/>
    <p:sldId id="320" r:id="rId20"/>
    <p:sldId id="352" r:id="rId21"/>
    <p:sldId id="353" r:id="rId22"/>
    <p:sldId id="326" r:id="rId23"/>
    <p:sldId id="325" r:id="rId24"/>
    <p:sldId id="334" r:id="rId25"/>
    <p:sldId id="335" r:id="rId26"/>
    <p:sldId id="336" r:id="rId27"/>
    <p:sldId id="371" r:id="rId28"/>
    <p:sldId id="370" r:id="rId29"/>
    <p:sldId id="369" r:id="rId30"/>
    <p:sldId id="374" r:id="rId31"/>
    <p:sldId id="372" r:id="rId32"/>
    <p:sldId id="373" r:id="rId33"/>
    <p:sldId id="37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C2BD"/>
    <a:srgbClr val="C1E9E7"/>
    <a:srgbClr val="49C9B1"/>
    <a:srgbClr val="7DD1CD"/>
    <a:srgbClr val="9CDCD9"/>
    <a:srgbClr val="9FDDDA"/>
    <a:srgbClr val="74CECA"/>
    <a:srgbClr val="50C2BD"/>
    <a:srgbClr val="B8D0EE"/>
    <a:srgbClr val="E4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48C8D-2450-469F-8E14-4B938B2D8096}" v="1" dt="2026-08-26T21:39:38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addSld delSld modSld">
      <pc:chgData name="Todd Lines" userId="afaf7c3a-e8aa-4568-882a-02ad8f9e19b0" providerId="ADAL" clId="{5FF5AC1B-ABA9-43D7-A1E3-2D92732CD6E2}" dt="2026-08-26T21:41:48.366" v="8" actId="2696"/>
      <pc:docMkLst>
        <pc:docMk/>
      </pc:docMkLst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57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58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59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0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1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2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3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4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5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6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7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8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69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0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1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2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4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5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6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7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8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79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0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1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2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3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5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6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7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0" sldId="288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879635185" sldId="289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1278518977" sldId="290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2761796057" sldId="291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2370672761" sldId="292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2545873160" sldId="293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2218832806" sldId="294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3341167782" sldId="295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1831814280" sldId="296"/>
        </pc:sldMkLst>
      </pc:sldChg>
      <pc:sldChg chg="del">
        <pc:chgData name="Todd Lines" userId="afaf7c3a-e8aa-4568-882a-02ad8f9e19b0" providerId="ADAL" clId="{5FF5AC1B-ABA9-43D7-A1E3-2D92732CD6E2}" dt="2026-08-26T21:33:11.917" v="1" actId="2696"/>
        <pc:sldMkLst>
          <pc:docMk/>
          <pc:sldMk cId="3067245618" sldId="297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570198271" sldId="298"/>
        </pc:sldMkLst>
      </pc:sldChg>
      <pc:sldChg chg="del">
        <pc:chgData name="Todd Lines" userId="afaf7c3a-e8aa-4568-882a-02ad8f9e19b0" providerId="ADAL" clId="{5FF5AC1B-ABA9-43D7-A1E3-2D92732CD6E2}" dt="2026-08-26T21:41:48.366" v="8" actId="2696"/>
        <pc:sldMkLst>
          <pc:docMk/>
          <pc:sldMk cId="1373451021" sldId="299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1893603730" sldId="300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4046887057" sldId="301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759403102" sldId="302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081948480" sldId="303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181218864" sldId="304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2001605216" sldId="305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132322049" sldId="306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670746391" sldId="307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20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25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26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34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35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36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37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51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083834933" sldId="351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52"/>
        </pc:sldMkLst>
      </pc:sldChg>
      <pc:sldChg chg="del">
        <pc:chgData name="Todd Lines" userId="afaf7c3a-e8aa-4568-882a-02ad8f9e19b0" providerId="ADAL" clId="{5FF5AC1B-ABA9-43D7-A1E3-2D92732CD6E2}" dt="2026-08-26T21:30:05.112" v="0" actId="47"/>
        <pc:sldMkLst>
          <pc:docMk/>
          <pc:sldMk cId="3567783856" sldId="352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53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3530130268" sldId="369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274739437" sldId="370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3723244273" sldId="371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72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0" sldId="373"/>
        </pc:sldMkLst>
      </pc:sldChg>
      <pc:sldChg chg="add">
        <pc:chgData name="Todd Lines" userId="afaf7c3a-e8aa-4568-882a-02ad8f9e19b0" providerId="ADAL" clId="{5FF5AC1B-ABA9-43D7-A1E3-2D92732CD6E2}" dt="2026-08-26T21:39:38.899" v="2"/>
        <pc:sldMkLst>
          <pc:docMk/>
          <pc:sldMk cId="2726091357" sldId="374"/>
        </pc:sldMkLst>
      </pc:sldChg>
      <pc:sldChg chg="addSp delSp modSp new mod modClrScheme chgLayout">
        <pc:chgData name="Todd Lines" userId="afaf7c3a-e8aa-4568-882a-02ad8f9e19b0" providerId="ADAL" clId="{5FF5AC1B-ABA9-43D7-A1E3-2D92732CD6E2}" dt="2026-08-26T21:40:30.189" v="7" actId="20577"/>
        <pc:sldMkLst>
          <pc:docMk/>
          <pc:sldMk cId="1357082402" sldId="375"/>
        </pc:sldMkLst>
        <pc:spChg chg="del mod ord">
          <ac:chgData name="Todd Lines" userId="afaf7c3a-e8aa-4568-882a-02ad8f9e19b0" providerId="ADAL" clId="{5FF5AC1B-ABA9-43D7-A1E3-2D92732CD6E2}" dt="2026-08-26T21:40:27.180" v="4" actId="700"/>
          <ac:spMkLst>
            <pc:docMk/>
            <pc:sldMk cId="1357082402" sldId="375"/>
            <ac:spMk id="2" creationId="{33E9FEC6-DB77-E965-3A52-87C9EA29A4DE}"/>
          </ac:spMkLst>
        </pc:spChg>
        <pc:spChg chg="del mod ord">
          <ac:chgData name="Todd Lines" userId="afaf7c3a-e8aa-4568-882a-02ad8f9e19b0" providerId="ADAL" clId="{5FF5AC1B-ABA9-43D7-A1E3-2D92732CD6E2}" dt="2026-08-26T21:40:27.180" v="4" actId="700"/>
          <ac:spMkLst>
            <pc:docMk/>
            <pc:sldMk cId="1357082402" sldId="375"/>
            <ac:spMk id="3" creationId="{DADB0A9D-8AD7-6A2F-287F-B840B06B4F1D}"/>
          </ac:spMkLst>
        </pc:spChg>
        <pc:spChg chg="add mod ord">
          <ac:chgData name="Todd Lines" userId="afaf7c3a-e8aa-4568-882a-02ad8f9e19b0" providerId="ADAL" clId="{5FF5AC1B-ABA9-43D7-A1E3-2D92732CD6E2}" dt="2026-08-26T21:40:30.189" v="7" actId="20577"/>
          <ac:spMkLst>
            <pc:docMk/>
            <pc:sldMk cId="1357082402" sldId="375"/>
            <ac:spMk id="4" creationId="{25EA43CD-C55B-FBB2-EB2C-AD25E1B8A730}"/>
          </ac:spMkLst>
        </pc:spChg>
        <pc:spChg chg="add mod ord">
          <ac:chgData name="Todd Lines" userId="afaf7c3a-e8aa-4568-882a-02ad8f9e19b0" providerId="ADAL" clId="{5FF5AC1B-ABA9-43D7-A1E3-2D92732CD6E2}" dt="2026-08-26T21:40:27.180" v="4" actId="700"/>
          <ac:spMkLst>
            <pc:docMk/>
            <pc:sldMk cId="1357082402" sldId="375"/>
            <ac:spMk id="5" creationId="{1E0A1AA8-5F73-517B-B2A0-B4632FA51272}"/>
          </ac:spMkLst>
        </pc:spChg>
      </pc:sldChg>
      <pc:sldMasterChg chg="delSldLayout">
        <pc:chgData name="Todd Lines" userId="afaf7c3a-e8aa-4568-882a-02ad8f9e19b0" providerId="ADAL" clId="{5FF5AC1B-ABA9-43D7-A1E3-2D92732CD6E2}" dt="2026-08-26T21:41:48.366" v="8" actId="2696"/>
        <pc:sldMasterMkLst>
          <pc:docMk/>
          <pc:sldMasterMk cId="0" sldId="2147483648"/>
        </pc:sldMasterMkLst>
        <pc:sldLayoutChg chg="del">
          <pc:chgData name="Todd Lines" userId="afaf7c3a-e8aa-4568-882a-02ad8f9e19b0" providerId="ADAL" clId="{5FF5AC1B-ABA9-43D7-A1E3-2D92732CD6E2}" dt="2026-08-26T21:41:48.366" v="8" actId="2696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92725-F166-4357-BC82-0228278E906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13280-CF9E-41AA-A7CE-A23C7C4F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4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09D0E-00BC-47FC-BC29-A6800C1C6B5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00442-1A43-4849-9E49-86BB6AEBA6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B9F034-4F73-6557-53A8-855F3D285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Thermodynamics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629482-FB07-59A6-8217-69C0135BE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2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4406FFDE-662B-61E2-EC99-BC63E69C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5386C3-04E3-4289-A7C5-F6AF646FDDE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D7A7126-94AD-328B-A696-BA8D92C6B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123.7.4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661FC4F-799E-C51C-32AD-5A397F1C7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If two samples of matter are measured to be at the same temperature, what can we say about them.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material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state of matter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the same phase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/>
              <a:t>They must be in thermal equilibrium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B029157-CCEF-1104-C173-E73AF1FE0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Thermal Contact Defined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ED2A12D-02E8-6CB9-AB2E-E70B4384A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4128699"/>
            <a:ext cx="2046288" cy="1160463"/>
          </a:xfrm>
          <a:prstGeom prst="rect">
            <a:avLst/>
          </a:prstGeom>
          <a:solidFill>
            <a:srgbClr val="C1E9E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9BFB895B-311D-B692-7C3D-306340B7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4132263"/>
            <a:ext cx="2046288" cy="1160463"/>
          </a:xfrm>
          <a:prstGeom prst="rect">
            <a:avLst/>
          </a:prstGeom>
          <a:solidFill>
            <a:srgbClr val="52C2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</a:t>
            </a:r>
          </a:p>
        </p:txBody>
      </p:sp>
      <p:grpSp>
        <p:nvGrpSpPr>
          <p:cNvPr id="27655" name="Group 27">
            <a:extLst>
              <a:ext uri="{FF2B5EF4-FFF2-40B4-BE49-F238E27FC236}">
                <a16:creationId xmlns:a16="http://schemas.microsoft.com/office/drawing/2014/main" id="{3DF92164-E2E4-7220-D5AE-6C99BC871B1E}"/>
              </a:ext>
            </a:extLst>
          </p:cNvPr>
          <p:cNvGrpSpPr>
            <a:grpSpLocks/>
          </p:cNvGrpSpPr>
          <p:nvPr/>
        </p:nvGrpSpPr>
        <p:grpSpPr bwMode="auto">
          <a:xfrm>
            <a:off x="3727450" y="2197100"/>
            <a:ext cx="173038" cy="2178050"/>
            <a:chOff x="4279" y="1535"/>
            <a:chExt cx="164" cy="1692"/>
          </a:xfrm>
        </p:grpSpPr>
        <p:sp>
          <p:nvSpPr>
            <p:cNvPr id="27679" name="Oval 6">
              <a:extLst>
                <a:ext uri="{FF2B5EF4-FFF2-40B4-BE49-F238E27FC236}">
                  <a16:creationId xmlns:a16="http://schemas.microsoft.com/office/drawing/2014/main" id="{8C0A4B69-F2A5-3571-C8B7-657297092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7680" name="Group 24">
              <a:extLst>
                <a:ext uri="{FF2B5EF4-FFF2-40B4-BE49-F238E27FC236}">
                  <a16:creationId xmlns:a16="http://schemas.microsoft.com/office/drawing/2014/main" id="{4AEB029E-EA78-258A-60E7-D4CA43078C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7683" name="AutoShape 7">
                <a:extLst>
                  <a:ext uri="{FF2B5EF4-FFF2-40B4-BE49-F238E27FC236}">
                    <a16:creationId xmlns:a16="http://schemas.microsoft.com/office/drawing/2014/main" id="{CD78C8C1-77C7-261E-101C-30FAE4E13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84" name="Line 8">
                <a:extLst>
                  <a:ext uri="{FF2B5EF4-FFF2-40B4-BE49-F238E27FC236}">
                    <a16:creationId xmlns:a16="http://schemas.microsoft.com/office/drawing/2014/main" id="{654AF582-8FF1-097D-8640-3D0CCE59C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Line 9">
                <a:extLst>
                  <a:ext uri="{FF2B5EF4-FFF2-40B4-BE49-F238E27FC236}">
                    <a16:creationId xmlns:a16="http://schemas.microsoft.com/office/drawing/2014/main" id="{B9675882-8624-B0DD-10DC-C43553437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Line 10">
                <a:extLst>
                  <a:ext uri="{FF2B5EF4-FFF2-40B4-BE49-F238E27FC236}">
                    <a16:creationId xmlns:a16="http://schemas.microsoft.com/office/drawing/2014/main" id="{02220069-BF3B-19D3-3029-41BF0E2F5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Line 11">
                <a:extLst>
                  <a:ext uri="{FF2B5EF4-FFF2-40B4-BE49-F238E27FC236}">
                    <a16:creationId xmlns:a16="http://schemas.microsoft.com/office/drawing/2014/main" id="{FE119637-2B88-73AC-9559-C8F2B1339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8" name="Line 12">
                <a:extLst>
                  <a:ext uri="{FF2B5EF4-FFF2-40B4-BE49-F238E27FC236}">
                    <a16:creationId xmlns:a16="http://schemas.microsoft.com/office/drawing/2014/main" id="{E24CFF7F-95E3-263A-11BC-BB0A99239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Line 13">
                <a:extLst>
                  <a:ext uri="{FF2B5EF4-FFF2-40B4-BE49-F238E27FC236}">
                    <a16:creationId xmlns:a16="http://schemas.microsoft.com/office/drawing/2014/main" id="{46981B3A-DFFA-3188-BE5D-FA1A0336E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Line 14">
                <a:extLst>
                  <a:ext uri="{FF2B5EF4-FFF2-40B4-BE49-F238E27FC236}">
                    <a16:creationId xmlns:a16="http://schemas.microsoft.com/office/drawing/2014/main" id="{7EDFAA49-CB8D-E6AB-7E28-08BDB77CA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Line 15">
                <a:extLst>
                  <a:ext uri="{FF2B5EF4-FFF2-40B4-BE49-F238E27FC236}">
                    <a16:creationId xmlns:a16="http://schemas.microsoft.com/office/drawing/2014/main" id="{44A09C5E-6A86-3624-97B2-D830F7093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2" name="Line 16">
                <a:extLst>
                  <a:ext uri="{FF2B5EF4-FFF2-40B4-BE49-F238E27FC236}">
                    <a16:creationId xmlns:a16="http://schemas.microsoft.com/office/drawing/2014/main" id="{DD022C79-DDFD-ABCE-6741-DECF8F69D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Line 17">
                <a:extLst>
                  <a:ext uri="{FF2B5EF4-FFF2-40B4-BE49-F238E27FC236}">
                    <a16:creationId xmlns:a16="http://schemas.microsoft.com/office/drawing/2014/main" id="{85FA4D7A-ABEB-21B8-D3B0-FD4C5DB0D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Line 18">
                <a:extLst>
                  <a:ext uri="{FF2B5EF4-FFF2-40B4-BE49-F238E27FC236}">
                    <a16:creationId xmlns:a16="http://schemas.microsoft.com/office/drawing/2014/main" id="{855D2DF8-B55A-A7B5-A6A8-FD3A2D760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Line 19">
                <a:extLst>
                  <a:ext uri="{FF2B5EF4-FFF2-40B4-BE49-F238E27FC236}">
                    <a16:creationId xmlns:a16="http://schemas.microsoft.com/office/drawing/2014/main" id="{4D559A70-8A76-3F77-70C2-6E3DBC962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Line 20">
                <a:extLst>
                  <a:ext uri="{FF2B5EF4-FFF2-40B4-BE49-F238E27FC236}">
                    <a16:creationId xmlns:a16="http://schemas.microsoft.com/office/drawing/2014/main" id="{CB68B99C-FD86-0F27-B881-2C256BA20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Line 21">
                <a:extLst>
                  <a:ext uri="{FF2B5EF4-FFF2-40B4-BE49-F238E27FC236}">
                    <a16:creationId xmlns:a16="http://schemas.microsoft.com/office/drawing/2014/main" id="{465FD172-8D28-D152-59B1-BB37AC55D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Line 22">
                <a:extLst>
                  <a:ext uri="{FF2B5EF4-FFF2-40B4-BE49-F238E27FC236}">
                    <a16:creationId xmlns:a16="http://schemas.microsoft.com/office/drawing/2014/main" id="{347240AF-7EAF-9293-1210-0C96E61E4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Line 23">
                <a:extLst>
                  <a:ext uri="{FF2B5EF4-FFF2-40B4-BE49-F238E27FC236}">
                    <a16:creationId xmlns:a16="http://schemas.microsoft.com/office/drawing/2014/main" id="{A065E91A-7EFC-5B8F-ED5A-7895028F3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1" name="Oval 25">
              <a:extLst>
                <a:ext uri="{FF2B5EF4-FFF2-40B4-BE49-F238E27FC236}">
                  <a16:creationId xmlns:a16="http://schemas.microsoft.com/office/drawing/2014/main" id="{98951955-0030-AF8D-5AD0-5F492EA9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82" name="Rectangle 26">
              <a:extLst>
                <a:ext uri="{FF2B5EF4-FFF2-40B4-BE49-F238E27FC236}">
                  <a16:creationId xmlns:a16="http://schemas.microsoft.com/office/drawing/2014/main" id="{8ED8A6B9-1C63-679D-679E-7B32BCB17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7656" name="Group 28">
            <a:extLst>
              <a:ext uri="{FF2B5EF4-FFF2-40B4-BE49-F238E27FC236}">
                <a16:creationId xmlns:a16="http://schemas.microsoft.com/office/drawing/2014/main" id="{08A15BE6-5D1A-A388-7FFC-398C5457B911}"/>
              </a:ext>
            </a:extLst>
          </p:cNvPr>
          <p:cNvGrpSpPr>
            <a:grpSpLocks/>
          </p:cNvGrpSpPr>
          <p:nvPr/>
        </p:nvGrpSpPr>
        <p:grpSpPr bwMode="auto">
          <a:xfrm>
            <a:off x="5229225" y="2197100"/>
            <a:ext cx="173038" cy="2178050"/>
            <a:chOff x="4279" y="1535"/>
            <a:chExt cx="164" cy="1692"/>
          </a:xfrm>
        </p:grpSpPr>
        <p:sp>
          <p:nvSpPr>
            <p:cNvPr id="27658" name="Oval 29">
              <a:extLst>
                <a:ext uri="{FF2B5EF4-FFF2-40B4-BE49-F238E27FC236}">
                  <a16:creationId xmlns:a16="http://schemas.microsoft.com/office/drawing/2014/main" id="{B1C2B2D1-815D-1360-2ED3-9AA52A8F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7659" name="Group 30">
              <a:extLst>
                <a:ext uri="{FF2B5EF4-FFF2-40B4-BE49-F238E27FC236}">
                  <a16:creationId xmlns:a16="http://schemas.microsoft.com/office/drawing/2014/main" id="{61982A42-07B1-C528-A8F6-F120E5317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7662" name="AutoShape 31">
                <a:extLst>
                  <a:ext uri="{FF2B5EF4-FFF2-40B4-BE49-F238E27FC236}">
                    <a16:creationId xmlns:a16="http://schemas.microsoft.com/office/drawing/2014/main" id="{C50DB443-9795-697B-A44C-DC95F98DF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63" name="Line 32">
                <a:extLst>
                  <a:ext uri="{FF2B5EF4-FFF2-40B4-BE49-F238E27FC236}">
                    <a16:creationId xmlns:a16="http://schemas.microsoft.com/office/drawing/2014/main" id="{658AD403-6A3A-E8DD-600D-05FA58E3A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Line 33">
                <a:extLst>
                  <a:ext uri="{FF2B5EF4-FFF2-40B4-BE49-F238E27FC236}">
                    <a16:creationId xmlns:a16="http://schemas.microsoft.com/office/drawing/2014/main" id="{30F6511F-BA50-E622-CC99-92C094BA3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Line 34">
                <a:extLst>
                  <a:ext uri="{FF2B5EF4-FFF2-40B4-BE49-F238E27FC236}">
                    <a16:creationId xmlns:a16="http://schemas.microsoft.com/office/drawing/2014/main" id="{890DFB14-6D87-051B-A41A-34DD2E0E9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Line 35">
                <a:extLst>
                  <a:ext uri="{FF2B5EF4-FFF2-40B4-BE49-F238E27FC236}">
                    <a16:creationId xmlns:a16="http://schemas.microsoft.com/office/drawing/2014/main" id="{A176EFDD-9D26-5CAE-FBEE-4322D92A3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Line 36">
                <a:extLst>
                  <a:ext uri="{FF2B5EF4-FFF2-40B4-BE49-F238E27FC236}">
                    <a16:creationId xmlns:a16="http://schemas.microsoft.com/office/drawing/2014/main" id="{D3DE25AC-9EE1-D5E6-9495-BDBAA54C5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Line 37">
                <a:extLst>
                  <a:ext uri="{FF2B5EF4-FFF2-40B4-BE49-F238E27FC236}">
                    <a16:creationId xmlns:a16="http://schemas.microsoft.com/office/drawing/2014/main" id="{808959BD-4D08-2B64-1F5F-7660A4C39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Line 38">
                <a:extLst>
                  <a:ext uri="{FF2B5EF4-FFF2-40B4-BE49-F238E27FC236}">
                    <a16:creationId xmlns:a16="http://schemas.microsoft.com/office/drawing/2014/main" id="{4FA36ABB-30DD-F2D8-B7A7-DC4CFB752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Line 39">
                <a:extLst>
                  <a:ext uri="{FF2B5EF4-FFF2-40B4-BE49-F238E27FC236}">
                    <a16:creationId xmlns:a16="http://schemas.microsoft.com/office/drawing/2014/main" id="{3CA69308-FA34-39C7-B94C-15BB5A269E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Line 40">
                <a:extLst>
                  <a:ext uri="{FF2B5EF4-FFF2-40B4-BE49-F238E27FC236}">
                    <a16:creationId xmlns:a16="http://schemas.microsoft.com/office/drawing/2014/main" id="{1145B962-075C-C37F-B1E7-FCE2C3EC2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Line 41">
                <a:extLst>
                  <a:ext uri="{FF2B5EF4-FFF2-40B4-BE49-F238E27FC236}">
                    <a16:creationId xmlns:a16="http://schemas.microsoft.com/office/drawing/2014/main" id="{E62B8306-360A-A7DF-24F6-B069D14EB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Line 42">
                <a:extLst>
                  <a:ext uri="{FF2B5EF4-FFF2-40B4-BE49-F238E27FC236}">
                    <a16:creationId xmlns:a16="http://schemas.microsoft.com/office/drawing/2014/main" id="{89B44D66-BF38-F3CB-77D7-C134A7A03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4" name="Line 43">
                <a:extLst>
                  <a:ext uri="{FF2B5EF4-FFF2-40B4-BE49-F238E27FC236}">
                    <a16:creationId xmlns:a16="http://schemas.microsoft.com/office/drawing/2014/main" id="{0A248C09-2800-E7F4-216D-AB2C9237E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Line 44">
                <a:extLst>
                  <a:ext uri="{FF2B5EF4-FFF2-40B4-BE49-F238E27FC236}">
                    <a16:creationId xmlns:a16="http://schemas.microsoft.com/office/drawing/2014/main" id="{A83AA51E-BE5A-9A2E-261D-C9B843C52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6" name="Line 45">
                <a:extLst>
                  <a:ext uri="{FF2B5EF4-FFF2-40B4-BE49-F238E27FC236}">
                    <a16:creationId xmlns:a16="http://schemas.microsoft.com/office/drawing/2014/main" id="{798AE3A4-3CA0-C20B-B6EF-3B0126160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7" name="Line 46">
                <a:extLst>
                  <a:ext uri="{FF2B5EF4-FFF2-40B4-BE49-F238E27FC236}">
                    <a16:creationId xmlns:a16="http://schemas.microsoft.com/office/drawing/2014/main" id="{AF3CDAFA-E730-51C7-BDD8-BC3362B72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8" name="Line 47">
                <a:extLst>
                  <a:ext uri="{FF2B5EF4-FFF2-40B4-BE49-F238E27FC236}">
                    <a16:creationId xmlns:a16="http://schemas.microsoft.com/office/drawing/2014/main" id="{4F33DE2C-A97C-DE3B-B2AB-8C27381D5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60" name="Oval 48">
              <a:extLst>
                <a:ext uri="{FF2B5EF4-FFF2-40B4-BE49-F238E27FC236}">
                  <a16:creationId xmlns:a16="http://schemas.microsoft.com/office/drawing/2014/main" id="{A3298B4F-FFDB-B587-29BD-4F271F042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61" name="Rectangle 49">
              <a:extLst>
                <a:ext uri="{FF2B5EF4-FFF2-40B4-BE49-F238E27FC236}">
                  <a16:creationId xmlns:a16="http://schemas.microsoft.com/office/drawing/2014/main" id="{D6B8B8AC-B433-BB8A-6D81-3B6375745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7657" name="Line 50">
            <a:extLst>
              <a:ext uri="{FF2B5EF4-FFF2-40B4-BE49-F238E27FC236}">
                <a16:creationId xmlns:a16="http://schemas.microsoft.com/office/drawing/2014/main" id="{447B12C3-6ED8-AB17-8564-D836E6016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175" y="3106738"/>
            <a:ext cx="2859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FBB6EFA-E781-D5FF-41FB-D99B25A91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Thermal Contact Defined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A55195D3-9BF2-F6FC-4469-DABC837C9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4185849"/>
            <a:ext cx="2046288" cy="1160462"/>
          </a:xfrm>
          <a:prstGeom prst="rect">
            <a:avLst/>
          </a:prstGeom>
          <a:solidFill>
            <a:srgbClr val="C1E9E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5E1179CD-30E3-A1D9-C740-E1FC29C2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5" y="4175125"/>
            <a:ext cx="2046288" cy="1160463"/>
          </a:xfrm>
          <a:prstGeom prst="rect">
            <a:avLst/>
          </a:prstGeom>
          <a:solidFill>
            <a:srgbClr val="52C2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grpSp>
        <p:nvGrpSpPr>
          <p:cNvPr id="28677" name="Group 7">
            <a:extLst>
              <a:ext uri="{FF2B5EF4-FFF2-40B4-BE49-F238E27FC236}">
                <a16:creationId xmlns:a16="http://schemas.microsoft.com/office/drawing/2014/main" id="{C554C726-8253-791C-9119-C7E6976DA79E}"/>
              </a:ext>
            </a:extLst>
          </p:cNvPr>
          <p:cNvGrpSpPr>
            <a:grpSpLocks/>
          </p:cNvGrpSpPr>
          <p:nvPr/>
        </p:nvGrpSpPr>
        <p:grpSpPr bwMode="auto">
          <a:xfrm>
            <a:off x="3870325" y="2254250"/>
            <a:ext cx="173038" cy="2178050"/>
            <a:chOff x="4279" y="1535"/>
            <a:chExt cx="164" cy="1692"/>
          </a:xfrm>
        </p:grpSpPr>
        <p:sp>
          <p:nvSpPr>
            <p:cNvPr id="28701" name="Oval 8">
              <a:extLst>
                <a:ext uri="{FF2B5EF4-FFF2-40B4-BE49-F238E27FC236}">
                  <a16:creationId xmlns:a16="http://schemas.microsoft.com/office/drawing/2014/main" id="{10DD6520-17A7-CCC3-B346-D8287C5CB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8702" name="Group 9">
              <a:extLst>
                <a:ext uri="{FF2B5EF4-FFF2-40B4-BE49-F238E27FC236}">
                  <a16:creationId xmlns:a16="http://schemas.microsoft.com/office/drawing/2014/main" id="{37434835-2920-D429-F377-29E47760C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8705" name="AutoShape 10">
                <a:extLst>
                  <a:ext uri="{FF2B5EF4-FFF2-40B4-BE49-F238E27FC236}">
                    <a16:creationId xmlns:a16="http://schemas.microsoft.com/office/drawing/2014/main" id="{C5DB03B8-4025-9D16-EA25-B95BA6C0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706" name="Line 11">
                <a:extLst>
                  <a:ext uri="{FF2B5EF4-FFF2-40B4-BE49-F238E27FC236}">
                    <a16:creationId xmlns:a16="http://schemas.microsoft.com/office/drawing/2014/main" id="{C3F31269-FCE0-FE33-4915-E69DD6178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7" name="Line 12">
                <a:extLst>
                  <a:ext uri="{FF2B5EF4-FFF2-40B4-BE49-F238E27FC236}">
                    <a16:creationId xmlns:a16="http://schemas.microsoft.com/office/drawing/2014/main" id="{BA94FBDD-7561-6146-03C4-578F4ECC0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13">
                <a:extLst>
                  <a:ext uri="{FF2B5EF4-FFF2-40B4-BE49-F238E27FC236}">
                    <a16:creationId xmlns:a16="http://schemas.microsoft.com/office/drawing/2014/main" id="{CEC45797-E4CF-77DB-C190-B53C814DF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14">
                <a:extLst>
                  <a:ext uri="{FF2B5EF4-FFF2-40B4-BE49-F238E27FC236}">
                    <a16:creationId xmlns:a16="http://schemas.microsoft.com/office/drawing/2014/main" id="{68A42055-DCE9-D213-C2A6-98B1C924F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Line 15">
                <a:extLst>
                  <a:ext uri="{FF2B5EF4-FFF2-40B4-BE49-F238E27FC236}">
                    <a16:creationId xmlns:a16="http://schemas.microsoft.com/office/drawing/2014/main" id="{1E33B36D-8398-1F40-9954-C24E9F71C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1" name="Line 16">
                <a:extLst>
                  <a:ext uri="{FF2B5EF4-FFF2-40B4-BE49-F238E27FC236}">
                    <a16:creationId xmlns:a16="http://schemas.microsoft.com/office/drawing/2014/main" id="{49F7E54D-7644-F4F7-3381-356C7563F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17">
                <a:extLst>
                  <a:ext uri="{FF2B5EF4-FFF2-40B4-BE49-F238E27FC236}">
                    <a16:creationId xmlns:a16="http://schemas.microsoft.com/office/drawing/2014/main" id="{E8810FF2-5B23-CD35-4FC3-9399400F5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3" name="Line 18">
                <a:extLst>
                  <a:ext uri="{FF2B5EF4-FFF2-40B4-BE49-F238E27FC236}">
                    <a16:creationId xmlns:a16="http://schemas.microsoft.com/office/drawing/2014/main" id="{E5E9B9CB-11C1-8732-B778-E3C31EA49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4" name="Line 19">
                <a:extLst>
                  <a:ext uri="{FF2B5EF4-FFF2-40B4-BE49-F238E27FC236}">
                    <a16:creationId xmlns:a16="http://schemas.microsoft.com/office/drawing/2014/main" id="{FB0B454A-3E96-D183-5972-FB37C49F1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5" name="Line 20">
                <a:extLst>
                  <a:ext uri="{FF2B5EF4-FFF2-40B4-BE49-F238E27FC236}">
                    <a16:creationId xmlns:a16="http://schemas.microsoft.com/office/drawing/2014/main" id="{45879D62-D4BF-84FB-D507-A9367A822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6" name="Line 21">
                <a:extLst>
                  <a:ext uri="{FF2B5EF4-FFF2-40B4-BE49-F238E27FC236}">
                    <a16:creationId xmlns:a16="http://schemas.microsoft.com/office/drawing/2014/main" id="{69C2A927-CEEB-0C0F-4AD7-9052F03DE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7" name="Line 22">
                <a:extLst>
                  <a:ext uri="{FF2B5EF4-FFF2-40B4-BE49-F238E27FC236}">
                    <a16:creationId xmlns:a16="http://schemas.microsoft.com/office/drawing/2014/main" id="{7DCF419E-8A74-9D31-DF6D-BEBEA4768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8" name="Line 23">
                <a:extLst>
                  <a:ext uri="{FF2B5EF4-FFF2-40B4-BE49-F238E27FC236}">
                    <a16:creationId xmlns:a16="http://schemas.microsoft.com/office/drawing/2014/main" id="{7A2BC897-F12A-BC4A-0085-7B1F02E9C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9" name="Line 24">
                <a:extLst>
                  <a:ext uri="{FF2B5EF4-FFF2-40B4-BE49-F238E27FC236}">
                    <a16:creationId xmlns:a16="http://schemas.microsoft.com/office/drawing/2014/main" id="{81D419FC-D45C-8BAC-A8E6-DEFFE820B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20" name="Line 25">
                <a:extLst>
                  <a:ext uri="{FF2B5EF4-FFF2-40B4-BE49-F238E27FC236}">
                    <a16:creationId xmlns:a16="http://schemas.microsoft.com/office/drawing/2014/main" id="{0AA4B495-2BAD-70B8-0CCF-166937127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21" name="Line 26">
                <a:extLst>
                  <a:ext uri="{FF2B5EF4-FFF2-40B4-BE49-F238E27FC236}">
                    <a16:creationId xmlns:a16="http://schemas.microsoft.com/office/drawing/2014/main" id="{BD000996-FAE8-7EE6-670B-FE63EE429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03" name="Oval 27">
              <a:extLst>
                <a:ext uri="{FF2B5EF4-FFF2-40B4-BE49-F238E27FC236}">
                  <a16:creationId xmlns:a16="http://schemas.microsoft.com/office/drawing/2014/main" id="{A1A96FC6-D39B-CD58-4974-72D548166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04" name="Rectangle 28">
              <a:extLst>
                <a:ext uri="{FF2B5EF4-FFF2-40B4-BE49-F238E27FC236}">
                  <a16:creationId xmlns:a16="http://schemas.microsoft.com/office/drawing/2014/main" id="{B4ADFD6F-FA0E-1F52-4540-535039FD9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8678" name="Group 29">
            <a:extLst>
              <a:ext uri="{FF2B5EF4-FFF2-40B4-BE49-F238E27FC236}">
                <a16:creationId xmlns:a16="http://schemas.microsoft.com/office/drawing/2014/main" id="{0154CD95-251D-C347-C940-F56E5E1D9765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2254250"/>
            <a:ext cx="173038" cy="2178050"/>
            <a:chOff x="4279" y="1535"/>
            <a:chExt cx="164" cy="1692"/>
          </a:xfrm>
        </p:grpSpPr>
        <p:sp>
          <p:nvSpPr>
            <p:cNvPr id="28680" name="Oval 30">
              <a:extLst>
                <a:ext uri="{FF2B5EF4-FFF2-40B4-BE49-F238E27FC236}">
                  <a16:creationId xmlns:a16="http://schemas.microsoft.com/office/drawing/2014/main" id="{6ADABE03-7390-73EF-52A3-A7F75CE0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8681" name="Group 31">
              <a:extLst>
                <a:ext uri="{FF2B5EF4-FFF2-40B4-BE49-F238E27FC236}">
                  <a16:creationId xmlns:a16="http://schemas.microsoft.com/office/drawing/2014/main" id="{CB61A85D-0FEF-DC21-A61C-B5A58701C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28684" name="AutoShape 32">
                <a:extLst>
                  <a:ext uri="{FF2B5EF4-FFF2-40B4-BE49-F238E27FC236}">
                    <a16:creationId xmlns:a16="http://schemas.microsoft.com/office/drawing/2014/main" id="{B2115B86-3A03-5F49-1678-9D4BB757D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685" name="Line 33">
                <a:extLst>
                  <a:ext uri="{FF2B5EF4-FFF2-40B4-BE49-F238E27FC236}">
                    <a16:creationId xmlns:a16="http://schemas.microsoft.com/office/drawing/2014/main" id="{FE05F389-E0A9-3E03-1962-6A44CB58E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6" name="Line 34">
                <a:extLst>
                  <a:ext uri="{FF2B5EF4-FFF2-40B4-BE49-F238E27FC236}">
                    <a16:creationId xmlns:a16="http://schemas.microsoft.com/office/drawing/2014/main" id="{B36B36F6-11BF-5FC4-215E-AC0BB6A31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7" name="Line 35">
                <a:extLst>
                  <a:ext uri="{FF2B5EF4-FFF2-40B4-BE49-F238E27FC236}">
                    <a16:creationId xmlns:a16="http://schemas.microsoft.com/office/drawing/2014/main" id="{80DC2FEE-61EA-3065-A413-92F0C336C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8" name="Line 36">
                <a:extLst>
                  <a:ext uri="{FF2B5EF4-FFF2-40B4-BE49-F238E27FC236}">
                    <a16:creationId xmlns:a16="http://schemas.microsoft.com/office/drawing/2014/main" id="{31BB6892-A580-A419-8E7D-6F720F552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9" name="Line 37">
                <a:extLst>
                  <a:ext uri="{FF2B5EF4-FFF2-40B4-BE49-F238E27FC236}">
                    <a16:creationId xmlns:a16="http://schemas.microsoft.com/office/drawing/2014/main" id="{BCD2AFF5-E8B2-76EB-2701-04AC61500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0" name="Line 38">
                <a:extLst>
                  <a:ext uri="{FF2B5EF4-FFF2-40B4-BE49-F238E27FC236}">
                    <a16:creationId xmlns:a16="http://schemas.microsoft.com/office/drawing/2014/main" id="{8195E368-E9F6-51C7-408B-6B06DA742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1" name="Line 39">
                <a:extLst>
                  <a:ext uri="{FF2B5EF4-FFF2-40B4-BE49-F238E27FC236}">
                    <a16:creationId xmlns:a16="http://schemas.microsoft.com/office/drawing/2014/main" id="{6B504CB9-29EC-4D60-A65B-AACF3D9FC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2" name="Line 40">
                <a:extLst>
                  <a:ext uri="{FF2B5EF4-FFF2-40B4-BE49-F238E27FC236}">
                    <a16:creationId xmlns:a16="http://schemas.microsoft.com/office/drawing/2014/main" id="{B2502789-5212-FE84-B8A1-B02F6FF6E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41">
                <a:extLst>
                  <a:ext uri="{FF2B5EF4-FFF2-40B4-BE49-F238E27FC236}">
                    <a16:creationId xmlns:a16="http://schemas.microsoft.com/office/drawing/2014/main" id="{F1717D34-E54B-7A43-D184-6BAC4D9E6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42">
                <a:extLst>
                  <a:ext uri="{FF2B5EF4-FFF2-40B4-BE49-F238E27FC236}">
                    <a16:creationId xmlns:a16="http://schemas.microsoft.com/office/drawing/2014/main" id="{C340E01E-85C0-3069-A38E-2982B98D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43">
                <a:extLst>
                  <a:ext uri="{FF2B5EF4-FFF2-40B4-BE49-F238E27FC236}">
                    <a16:creationId xmlns:a16="http://schemas.microsoft.com/office/drawing/2014/main" id="{3D6C0463-5D54-9BEF-B4B0-7BD232AA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44">
                <a:extLst>
                  <a:ext uri="{FF2B5EF4-FFF2-40B4-BE49-F238E27FC236}">
                    <a16:creationId xmlns:a16="http://schemas.microsoft.com/office/drawing/2014/main" id="{50ED5CAD-C8FD-484A-79BA-80C619AB1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45">
                <a:extLst>
                  <a:ext uri="{FF2B5EF4-FFF2-40B4-BE49-F238E27FC236}">
                    <a16:creationId xmlns:a16="http://schemas.microsoft.com/office/drawing/2014/main" id="{1DB2552D-1F28-CB25-8E49-D79CC7BB6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Line 46">
                <a:extLst>
                  <a:ext uri="{FF2B5EF4-FFF2-40B4-BE49-F238E27FC236}">
                    <a16:creationId xmlns:a16="http://schemas.microsoft.com/office/drawing/2014/main" id="{D5229163-6AB6-2486-91AA-94C878572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9" name="Line 47">
                <a:extLst>
                  <a:ext uri="{FF2B5EF4-FFF2-40B4-BE49-F238E27FC236}">
                    <a16:creationId xmlns:a16="http://schemas.microsoft.com/office/drawing/2014/main" id="{EF8BEC95-1DAE-A9A7-2439-F5496FAC5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0" name="Line 48">
                <a:extLst>
                  <a:ext uri="{FF2B5EF4-FFF2-40B4-BE49-F238E27FC236}">
                    <a16:creationId xmlns:a16="http://schemas.microsoft.com/office/drawing/2014/main" id="{0736AE19-D13A-3FAB-6FB0-A0E89E30D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82" name="Oval 49">
              <a:extLst>
                <a:ext uri="{FF2B5EF4-FFF2-40B4-BE49-F238E27FC236}">
                  <a16:creationId xmlns:a16="http://schemas.microsoft.com/office/drawing/2014/main" id="{BEF9A2C6-BBB2-3253-AE9C-26068DCB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683" name="Rectangle 50">
              <a:extLst>
                <a:ext uri="{FF2B5EF4-FFF2-40B4-BE49-F238E27FC236}">
                  <a16:creationId xmlns:a16="http://schemas.microsoft.com/office/drawing/2014/main" id="{E5DF1E1F-5664-442A-7E80-3A286DBB4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8679" name="Line 51">
            <a:extLst>
              <a:ext uri="{FF2B5EF4-FFF2-40B4-BE49-F238E27FC236}">
                <a16:creationId xmlns:a16="http://schemas.microsoft.com/office/drawing/2014/main" id="{FC13694B-AB28-A815-3D0A-CCE156A7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8050" y="3163888"/>
            <a:ext cx="2859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DB3A392-8332-F7FC-54D3-33ED607C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123.8.1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308F8E87-4A34-C31A-3618-7CF28BFD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88" y="1354138"/>
            <a:ext cx="8229600" cy="4525962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/>
              <a:t>About how big is an atom?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AutoNum type="alphaLcParenR"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 </a:t>
            </a:r>
          </a:p>
          <a:p>
            <a:pPr>
              <a:buFontTx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D5E9F71A-C231-FA77-4299-0DFBCC6C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091EEB-30BE-4E58-8949-AAA601050958}" type="slidenum">
              <a:rPr lang="en-US" altLang="en-US"/>
              <a:pPr/>
              <a:t>6</a:t>
            </a:fld>
            <a:endParaRPr lang="en-US" altLang="en-US"/>
          </a:p>
        </p:txBody>
      </p:sp>
      <p:graphicFrame>
        <p:nvGraphicFramePr>
          <p:cNvPr id="3077" name="Object 2">
            <a:extLst>
              <a:ext uri="{FF2B5EF4-FFF2-40B4-BE49-F238E27FC236}">
                <a16:creationId xmlns:a16="http://schemas.microsoft.com/office/drawing/2014/main" id="{099DEB48-EFA8-96E0-18A1-C650B176A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32228"/>
              </p:ext>
            </p:extLst>
          </p:nvPr>
        </p:nvGraphicFramePr>
        <p:xfrm>
          <a:off x="1051631" y="3873501"/>
          <a:ext cx="1589718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002" imgH="203112" progId="Equation.3">
                  <p:embed/>
                </p:oleObj>
              </mc:Choice>
              <mc:Fallback>
                <p:oleObj name="Equation" r:id="rId2" imgW="457002" imgH="203112" progId="Equation.3">
                  <p:embed/>
                  <p:pic>
                    <p:nvPicPr>
                      <p:cNvPr id="3077" name="Object 2">
                        <a:extLst>
                          <a:ext uri="{FF2B5EF4-FFF2-40B4-BE49-F238E27FC236}">
                            <a16:creationId xmlns:a16="http://schemas.microsoft.com/office/drawing/2014/main" id="{099DEB48-EFA8-96E0-18A1-C650B176A0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3873501"/>
                        <a:ext cx="1589718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3">
            <a:extLst>
              <a:ext uri="{FF2B5EF4-FFF2-40B4-BE49-F238E27FC236}">
                <a16:creationId xmlns:a16="http://schemas.microsoft.com/office/drawing/2014/main" id="{C47D92B3-CC2E-9935-E1CD-AA17B3B35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260281"/>
              </p:ext>
            </p:extLst>
          </p:nvPr>
        </p:nvGraphicFramePr>
        <p:xfrm>
          <a:off x="1051631" y="2970212"/>
          <a:ext cx="1456016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03040" progId="Equation.3">
                  <p:embed/>
                </p:oleObj>
              </mc:Choice>
              <mc:Fallback>
                <p:oleObj name="Equation" r:id="rId4" imgW="419040" imgH="203040" progId="Equation.3">
                  <p:embed/>
                  <p:pic>
                    <p:nvPicPr>
                      <p:cNvPr id="3078" name="Object 3">
                        <a:extLst>
                          <a:ext uri="{FF2B5EF4-FFF2-40B4-BE49-F238E27FC236}">
                            <a16:creationId xmlns:a16="http://schemas.microsoft.com/office/drawing/2014/main" id="{C47D92B3-CC2E-9935-E1CD-AA17B3B35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2970212"/>
                        <a:ext cx="1456016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4">
            <a:extLst>
              <a:ext uri="{FF2B5EF4-FFF2-40B4-BE49-F238E27FC236}">
                <a16:creationId xmlns:a16="http://schemas.microsoft.com/office/drawing/2014/main" id="{32ABA143-3212-373A-D5BE-2D949ED03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87039"/>
              </p:ext>
            </p:extLst>
          </p:nvPr>
        </p:nvGraphicFramePr>
        <p:xfrm>
          <a:off x="1053219" y="4833938"/>
          <a:ext cx="1588381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203112" progId="Equation.3">
                  <p:embed/>
                </p:oleObj>
              </mc:Choice>
              <mc:Fallback>
                <p:oleObj name="Equation" r:id="rId6" imgW="457002" imgH="203112" progId="Equation.3">
                  <p:embed/>
                  <p:pic>
                    <p:nvPicPr>
                      <p:cNvPr id="3079" name="Object 4">
                        <a:extLst>
                          <a:ext uri="{FF2B5EF4-FFF2-40B4-BE49-F238E27FC236}">
                            <a16:creationId xmlns:a16="http://schemas.microsoft.com/office/drawing/2014/main" id="{32ABA143-3212-373A-D5BE-2D949ED03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219" y="4833938"/>
                        <a:ext cx="1588381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5">
            <a:extLst>
              <a:ext uri="{FF2B5EF4-FFF2-40B4-BE49-F238E27FC236}">
                <a16:creationId xmlns:a16="http://schemas.microsoft.com/office/drawing/2014/main" id="{DB91CBBC-AD96-F6A8-6738-FCB73C178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14490"/>
              </p:ext>
            </p:extLst>
          </p:nvPr>
        </p:nvGraphicFramePr>
        <p:xfrm>
          <a:off x="1051631" y="2009775"/>
          <a:ext cx="1456016" cy="82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918" imgH="203112" progId="Equation.3">
                  <p:embed/>
                </p:oleObj>
              </mc:Choice>
              <mc:Fallback>
                <p:oleObj name="Equation" r:id="rId8" imgW="418918" imgH="203112" progId="Equation.3">
                  <p:embed/>
                  <p:pic>
                    <p:nvPicPr>
                      <p:cNvPr id="3080" name="Object 5">
                        <a:extLst>
                          <a:ext uri="{FF2B5EF4-FFF2-40B4-BE49-F238E27FC236}">
                            <a16:creationId xmlns:a16="http://schemas.microsoft.com/office/drawing/2014/main" id="{DB91CBBC-AD96-F6A8-6738-FCB73C178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31" y="2009775"/>
                        <a:ext cx="1456016" cy="82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4698E74-31EF-A934-3D5D-37F767DA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123.8.2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0867DEF9-7689-05BD-DB4F-1DBA19D9B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800" dirty="0"/>
              <a:t>About how many atoms (rough order of magnitude) are in a typical sample of material?</a:t>
            </a:r>
          </a:p>
          <a:p>
            <a:pPr>
              <a:buFontTx/>
              <a:buNone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AutoNum type="alphaLcParenR"/>
            </a:pPr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sz="2800" dirty="0"/>
              <a:t> </a:t>
            </a:r>
          </a:p>
          <a:p>
            <a:pPr>
              <a:buFontTx/>
              <a:buNone/>
            </a:pPr>
            <a:endParaRPr lang="en-US" altLang="en-US" sz="2800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B5E105EF-1F8B-8AE8-1EAD-A8854D86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25D6A9-E9E7-4299-B105-E7EBF66315AC}" type="slidenum">
              <a:rPr lang="en-US" altLang="en-US"/>
              <a:pPr/>
              <a:t>7</a:t>
            </a:fld>
            <a:endParaRPr lang="en-US" altLang="en-US"/>
          </a:p>
        </p:txBody>
      </p:sp>
      <p:graphicFrame>
        <p:nvGraphicFramePr>
          <p:cNvPr id="4101" name="Object 2">
            <a:extLst>
              <a:ext uri="{FF2B5EF4-FFF2-40B4-BE49-F238E27FC236}">
                <a16:creationId xmlns:a16="http://schemas.microsoft.com/office/drawing/2014/main" id="{26EA647A-F2F3-4DCF-685A-6A2119209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890397"/>
              </p:ext>
            </p:extLst>
          </p:nvPr>
        </p:nvGraphicFramePr>
        <p:xfrm>
          <a:off x="1105605" y="4588800"/>
          <a:ext cx="652961" cy="45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03040" progId="Equation.3">
                  <p:embed/>
                </p:oleObj>
              </mc:Choice>
              <mc:Fallback>
                <p:oleObj name="Equation" r:id="rId2" imgW="266400" imgH="203040" progId="Equation.3">
                  <p:embed/>
                  <p:pic>
                    <p:nvPicPr>
                      <p:cNvPr id="4101" name="Object 2">
                        <a:extLst>
                          <a:ext uri="{FF2B5EF4-FFF2-40B4-BE49-F238E27FC236}">
                            <a16:creationId xmlns:a16="http://schemas.microsoft.com/office/drawing/2014/main" id="{26EA647A-F2F3-4DCF-685A-6A2119209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605" y="4588800"/>
                        <a:ext cx="652961" cy="456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3">
            <a:extLst>
              <a:ext uri="{FF2B5EF4-FFF2-40B4-BE49-F238E27FC236}">
                <a16:creationId xmlns:a16="http://schemas.microsoft.com/office/drawing/2014/main" id="{72832127-93A8-F8C0-E368-13D1DE7D3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044267"/>
              </p:ext>
            </p:extLst>
          </p:nvPr>
        </p:nvGraphicFramePr>
        <p:xfrm>
          <a:off x="1146880" y="3633442"/>
          <a:ext cx="559681" cy="47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03040" progId="Equation.3">
                  <p:embed/>
                </p:oleObj>
              </mc:Choice>
              <mc:Fallback>
                <p:oleObj name="Equation" r:id="rId4" imgW="228600" imgH="203040" progId="Equation.3">
                  <p:embed/>
                  <p:pic>
                    <p:nvPicPr>
                      <p:cNvPr id="4102" name="Object 3">
                        <a:extLst>
                          <a:ext uri="{FF2B5EF4-FFF2-40B4-BE49-F238E27FC236}">
                            <a16:creationId xmlns:a16="http://schemas.microsoft.com/office/drawing/2014/main" id="{72832127-93A8-F8C0-E368-13D1DE7D3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880" y="3633442"/>
                        <a:ext cx="559681" cy="479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4">
            <a:extLst>
              <a:ext uri="{FF2B5EF4-FFF2-40B4-BE49-F238E27FC236}">
                <a16:creationId xmlns:a16="http://schemas.microsoft.com/office/drawing/2014/main" id="{F95DB921-E241-E18D-F277-1305474F8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6924"/>
              </p:ext>
            </p:extLst>
          </p:nvPr>
        </p:nvGraphicFramePr>
        <p:xfrm>
          <a:off x="1167518" y="5460949"/>
          <a:ext cx="684055" cy="477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203040" progId="Equation.3">
                  <p:embed/>
                </p:oleObj>
              </mc:Choice>
              <mc:Fallback>
                <p:oleObj name="Equation" r:id="rId6" imgW="279360" imgH="203040" progId="Equation.3">
                  <p:embed/>
                  <p:pic>
                    <p:nvPicPr>
                      <p:cNvPr id="4103" name="Object 4">
                        <a:extLst>
                          <a:ext uri="{FF2B5EF4-FFF2-40B4-BE49-F238E27FC236}">
                            <a16:creationId xmlns:a16="http://schemas.microsoft.com/office/drawing/2014/main" id="{F95DB921-E241-E18D-F277-1305474F8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518" y="5460949"/>
                        <a:ext cx="684055" cy="477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5">
            <a:extLst>
              <a:ext uri="{FF2B5EF4-FFF2-40B4-BE49-F238E27FC236}">
                <a16:creationId xmlns:a16="http://schemas.microsoft.com/office/drawing/2014/main" id="{500B984E-FB25-57D6-41A1-A9D140967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648947"/>
              </p:ext>
            </p:extLst>
          </p:nvPr>
        </p:nvGraphicFramePr>
        <p:xfrm>
          <a:off x="1167518" y="2860600"/>
          <a:ext cx="559681" cy="4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03040" progId="Equation.3">
                  <p:embed/>
                </p:oleObj>
              </mc:Choice>
              <mc:Fallback>
                <p:oleObj name="Equation" r:id="rId8" imgW="228600" imgH="203040" progId="Equation.3">
                  <p:embed/>
                  <p:pic>
                    <p:nvPicPr>
                      <p:cNvPr id="4104" name="Object 5">
                        <a:extLst>
                          <a:ext uri="{FF2B5EF4-FFF2-40B4-BE49-F238E27FC236}">
                            <a16:creationId xmlns:a16="http://schemas.microsoft.com/office/drawing/2014/main" id="{500B984E-FB25-57D6-41A1-A9D1409675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518" y="2860600"/>
                        <a:ext cx="559681" cy="4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2C856E7-35C7-1B73-F57F-BD45446B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123.8.2.5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03DB7EC5-BE1A-EBF1-5F4E-1AF34793C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800"/>
              <a:t>Suppose we have 25 students in a room of volume 100m</a:t>
            </a:r>
            <a:r>
              <a:rPr lang="en-US" altLang="en-US" sz="2800" baseline="30000"/>
              <a:t>3</a:t>
            </a:r>
            <a:r>
              <a:rPr lang="en-US" altLang="en-US" sz="2800"/>
              <a:t>. What would we call the quantity 25/100m</a:t>
            </a:r>
            <a:r>
              <a:rPr lang="en-US" altLang="en-US" sz="2800" baseline="30000"/>
              <a:t>3</a:t>
            </a:r>
            <a:r>
              <a:rPr lang="en-US" altLang="en-US" sz="2800"/>
              <a:t>?</a:t>
            </a:r>
          </a:p>
          <a:p>
            <a:pPr>
              <a:buFontTx/>
              <a:buNone/>
            </a:pPr>
            <a:endParaRPr lang="en-US" altLang="en-US" sz="2800"/>
          </a:p>
          <a:p>
            <a:pPr>
              <a:buFontTx/>
              <a:buAutoNum type="alphaLcParenR"/>
            </a:pPr>
            <a:r>
              <a:rPr lang="en-US" altLang="en-US" sz="2800"/>
              <a:t>  Crowding factor </a:t>
            </a:r>
          </a:p>
          <a:p>
            <a:pPr>
              <a:buFontTx/>
              <a:buAutoNum type="alphaLcParenR"/>
            </a:pPr>
            <a:r>
              <a:rPr lang="en-US" altLang="en-US" sz="2800"/>
              <a:t>  Number density</a:t>
            </a:r>
          </a:p>
          <a:p>
            <a:pPr>
              <a:buFontTx/>
              <a:buAutoNum type="alphaLcParenR"/>
            </a:pPr>
            <a:r>
              <a:rPr lang="en-US" altLang="en-US" sz="2800"/>
              <a:t>  Dating opportunity factor</a:t>
            </a:r>
          </a:p>
          <a:p>
            <a:pPr>
              <a:buFontTx/>
              <a:buAutoNum type="alphaLcParenR"/>
            </a:pPr>
            <a:r>
              <a:rPr lang="en-US" altLang="en-US" sz="2800"/>
              <a:t>  Population</a:t>
            </a:r>
          </a:p>
          <a:p>
            <a:pPr>
              <a:buFontTx/>
              <a:buNone/>
            </a:pPr>
            <a:endParaRPr lang="en-US" altLang="en-US" sz="280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A3EC29F9-F8D3-37D7-6B7B-BA2798D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B374F1-47C5-40A7-AAB1-AB5C67DB2ED5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E77D020-2FB1-BA1C-2E5E-3EEC1686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123.8.3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4277E70-BDB6-124A-DC4E-C60281446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What is a number density?</a:t>
            </a:r>
          </a:p>
          <a:p>
            <a:pPr>
              <a:buFontTx/>
              <a:buAutoNum type="alphaLcParenR"/>
            </a:pPr>
            <a:r>
              <a:rPr lang="en-US" altLang="en-US"/>
              <a:t>How compact numbers in a particular domain. For example, real numbers are infinitely dense</a:t>
            </a:r>
          </a:p>
          <a:p>
            <a:pPr>
              <a:buFontTx/>
              <a:buAutoNum type="alphaLcParenR"/>
            </a:pPr>
            <a:r>
              <a:rPr lang="en-US" altLang="en-US"/>
              <a:t>The number of something in a unit of volume</a:t>
            </a:r>
          </a:p>
          <a:p>
            <a:pPr>
              <a:buFontTx/>
              <a:buAutoNum type="alphaLcParenR"/>
            </a:pPr>
            <a:r>
              <a:rPr lang="en-US" altLang="en-US"/>
              <a:t>The quantity of undatable people in your FHE group</a:t>
            </a:r>
          </a:p>
          <a:p>
            <a:pPr>
              <a:buFontTx/>
              <a:buAutoNum type="alphaLcParenR"/>
            </a:pPr>
            <a:r>
              <a:rPr lang="en-US" altLang="en-US"/>
              <a:t>A measure of total mass of an object</a:t>
            </a:r>
          </a:p>
          <a:p>
            <a:pPr>
              <a:buFontTx/>
              <a:buAutoNum type="alphaLcParenR"/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41C3C68-E3A7-33D3-A0D6-3CA679ED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F533A0-F7C5-41EE-9E83-05232CDEC8B3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93EA0C2-3B6B-0E49-B409-207354C8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123.8.4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2DBED6A-709D-6FAF-9F0E-7BD33F14A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dirty="0"/>
              <a:t>If I have 1000 hydrogen atoms in a 1 liter volume, what is my number density?</a:t>
            </a:r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</a:t>
            </a:r>
          </a:p>
          <a:p>
            <a:pPr>
              <a:buFontTx/>
              <a:buAutoNum type="alphaLcParenR"/>
            </a:pPr>
            <a:endParaRPr lang="en-US" altLang="en-US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7BE8931-B3BA-F594-3477-C0F93BDE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C513BB-7BDC-410C-813C-07679D6DC53E}" type="slidenum">
              <a:rPr lang="en-US" altLang="en-US"/>
              <a:pPr/>
              <a:t>10</a:t>
            </a:fld>
            <a:endParaRPr lang="en-US" altLang="en-US"/>
          </a:p>
        </p:txBody>
      </p:sp>
      <p:graphicFrame>
        <p:nvGraphicFramePr>
          <p:cNvPr id="7173" name="Object 2">
            <a:extLst>
              <a:ext uri="{FF2B5EF4-FFF2-40B4-BE49-F238E27FC236}">
                <a16:creationId xmlns:a16="http://schemas.microsoft.com/office/drawing/2014/main" id="{215E9A03-BC25-0421-0F86-4A43E13BC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97067"/>
              </p:ext>
            </p:extLst>
          </p:nvPr>
        </p:nvGraphicFramePr>
        <p:xfrm>
          <a:off x="1190625" y="2495550"/>
          <a:ext cx="994113" cy="64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393529" progId="Equation.3">
                  <p:embed/>
                </p:oleObj>
              </mc:Choice>
              <mc:Fallback>
                <p:oleObj name="Equation" r:id="rId2" imgW="634725" imgH="393529" progId="Equation.3">
                  <p:embed/>
                  <p:pic>
                    <p:nvPicPr>
                      <p:cNvPr id="7173" name="Object 2">
                        <a:extLst>
                          <a:ext uri="{FF2B5EF4-FFF2-40B4-BE49-F238E27FC236}">
                            <a16:creationId xmlns:a16="http://schemas.microsoft.com/office/drawing/2014/main" id="{215E9A03-BC25-0421-0F86-4A43E13BC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2495550"/>
                        <a:ext cx="994113" cy="648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3">
            <a:extLst>
              <a:ext uri="{FF2B5EF4-FFF2-40B4-BE49-F238E27FC236}">
                <a16:creationId xmlns:a16="http://schemas.microsoft.com/office/drawing/2014/main" id="{D98D3F37-3792-E89A-65A1-DF17F66A2C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518716"/>
              </p:ext>
            </p:extLst>
          </p:nvPr>
        </p:nvGraphicFramePr>
        <p:xfrm>
          <a:off x="1250575" y="3390901"/>
          <a:ext cx="874211" cy="64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558" imgH="393529" progId="Equation.3">
                  <p:embed/>
                </p:oleObj>
              </mc:Choice>
              <mc:Fallback>
                <p:oleObj name="Equation" r:id="rId4" imgW="558558" imgH="393529" progId="Equation.3">
                  <p:embed/>
                  <p:pic>
                    <p:nvPicPr>
                      <p:cNvPr id="7174" name="Object 3">
                        <a:extLst>
                          <a:ext uri="{FF2B5EF4-FFF2-40B4-BE49-F238E27FC236}">
                            <a16:creationId xmlns:a16="http://schemas.microsoft.com/office/drawing/2014/main" id="{D98D3F37-3792-E89A-65A1-DF17F66A2C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575" y="3390901"/>
                        <a:ext cx="874211" cy="64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4">
            <a:extLst>
              <a:ext uri="{FF2B5EF4-FFF2-40B4-BE49-F238E27FC236}">
                <a16:creationId xmlns:a16="http://schemas.microsoft.com/office/drawing/2014/main" id="{00B8D53F-7239-79D5-3B7F-AB86ABB36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36349"/>
              </p:ext>
            </p:extLst>
          </p:nvPr>
        </p:nvGraphicFramePr>
        <p:xfrm>
          <a:off x="1439375" y="4434170"/>
          <a:ext cx="496609" cy="64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225" imgH="393359" progId="Equation.3">
                  <p:embed/>
                </p:oleObj>
              </mc:Choice>
              <mc:Fallback>
                <p:oleObj name="Equation" r:id="rId6" imgW="317225" imgH="393359" progId="Equation.3">
                  <p:embed/>
                  <p:pic>
                    <p:nvPicPr>
                      <p:cNvPr id="7175" name="Object 4">
                        <a:extLst>
                          <a:ext uri="{FF2B5EF4-FFF2-40B4-BE49-F238E27FC236}">
                            <a16:creationId xmlns:a16="http://schemas.microsoft.com/office/drawing/2014/main" id="{00B8D53F-7239-79D5-3B7F-AB86ABB36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5" y="4434170"/>
                        <a:ext cx="496609" cy="64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5">
            <a:extLst>
              <a:ext uri="{FF2B5EF4-FFF2-40B4-BE49-F238E27FC236}">
                <a16:creationId xmlns:a16="http://schemas.microsoft.com/office/drawing/2014/main" id="{20B0C28D-4298-68E6-CDFD-980EF2758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346646"/>
              </p:ext>
            </p:extLst>
          </p:nvPr>
        </p:nvGraphicFramePr>
        <p:xfrm>
          <a:off x="1439375" y="5531127"/>
          <a:ext cx="814260" cy="595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474" imgH="393529" progId="Equation.3">
                  <p:embed/>
                </p:oleObj>
              </mc:Choice>
              <mc:Fallback>
                <p:oleObj name="Equation" r:id="rId8" imgW="520474" imgH="393529" progId="Equation.3">
                  <p:embed/>
                  <p:pic>
                    <p:nvPicPr>
                      <p:cNvPr id="7176" name="Object 5">
                        <a:extLst>
                          <a:ext uri="{FF2B5EF4-FFF2-40B4-BE49-F238E27FC236}">
                            <a16:creationId xmlns:a16="http://schemas.microsoft.com/office/drawing/2014/main" id="{20B0C28D-4298-68E6-CDFD-980EF2758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5" y="5531127"/>
                        <a:ext cx="814260" cy="595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212FBC36-A308-D29E-F7F4-F51DC321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123.8.5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ECFB535-26C7-C270-916F-CC2BED7C3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What is the atomic weight of      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12u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14u</a:t>
            </a:r>
          </a:p>
          <a:p>
            <a:pPr>
              <a:buFontTx/>
              <a:buAutoNum type="alphaLcParenR"/>
            </a:pPr>
            <a:r>
              <a:rPr lang="en-US" altLang="en-US" dirty="0"/>
              <a:t> 13.567u 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D38EA326-376F-0975-B559-6A7BC943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7793E4-57A0-4F93-8A0A-EE487F0ABAFF}" type="slidenum">
              <a:rPr lang="en-US" altLang="en-US"/>
              <a:pPr/>
              <a:t>11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2">
                <a:extLst>
                  <a:ext uri="{FF2B5EF4-FFF2-40B4-BE49-F238E27FC236}">
                    <a16:creationId xmlns:a16="http://schemas.microsoft.com/office/drawing/2014/main" id="{247BF5AB-B2DD-D835-71EC-175D6AB994BC}"/>
                  </a:ext>
                </a:extLst>
              </p:cNvPr>
              <p:cNvSpPr txBox="1"/>
              <p:nvPr/>
            </p:nvSpPr>
            <p:spPr bwMode="auto">
              <a:xfrm>
                <a:off x="5292789" y="1752791"/>
                <a:ext cx="706437" cy="484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Pre>
                        <m:sPre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sPre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97" name="Object 2">
                <a:extLst>
                  <a:ext uri="{FF2B5EF4-FFF2-40B4-BE49-F238E27FC236}">
                    <a16:creationId xmlns:a16="http://schemas.microsoft.com/office/drawing/2014/main" id="{247BF5AB-B2DD-D835-71EC-175D6AB9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789" y="1752791"/>
                <a:ext cx="706437" cy="484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DEF3256-EAD5-7E7B-322B-3A2C1F15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123.8.6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AA17F58-DFFE-7D0B-05E4-61DC1075D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a dozen eggs, how many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</a:t>
            </a:r>
          </a:p>
          <a:p>
            <a:pPr>
              <a:buFontTx/>
              <a:buAutoNum type="alphaLcParenR"/>
            </a:pPr>
            <a:r>
              <a:rPr lang="en-US" altLang="en-US" dirty="0"/>
              <a:t> 12</a:t>
            </a:r>
          </a:p>
          <a:p>
            <a:pPr>
              <a:buFontTx/>
              <a:buAutoNum type="alphaLcParenR"/>
            </a:pPr>
            <a:r>
              <a:rPr lang="en-US" altLang="en-US" dirty="0"/>
              <a:t> 13</a:t>
            </a:r>
          </a:p>
          <a:p>
            <a:pPr>
              <a:buFontTx/>
              <a:buAutoNum type="alphaLcParenR"/>
            </a:pPr>
            <a:r>
              <a:rPr lang="en-US" altLang="en-US" dirty="0"/>
              <a:t> 24</a:t>
            </a: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D93113CE-A807-7D3A-1C53-D80F1464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F971F0-046C-4B3C-849E-4DCFC47B684D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5102852-6740-D32F-A294-D0CA4578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123.8.7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3BC8066-551E-6EB1-3B01-C902944F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a mole </a:t>
            </a:r>
            <a:r>
              <a:rPr lang="en-US" altLang="en-US"/>
              <a:t>of eggs</a:t>
            </a:r>
            <a:r>
              <a:rPr lang="en-US" altLang="en-US" dirty="0"/>
              <a:t>, how many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6.02 x 10</a:t>
            </a:r>
            <a:r>
              <a:rPr lang="en-US" altLang="en-US" baseline="30000" dirty="0"/>
              <a:t>23</a:t>
            </a:r>
            <a:endParaRPr lang="en-US" altLang="en-US" dirty="0"/>
          </a:p>
          <a:p>
            <a:pPr>
              <a:buFontTx/>
              <a:buAutoNum type="alphaLcParenR"/>
            </a:pPr>
            <a:r>
              <a:rPr lang="en-US" altLang="en-US" dirty="0"/>
              <a:t> 12</a:t>
            </a:r>
          </a:p>
          <a:p>
            <a:pPr>
              <a:buFontTx/>
              <a:buAutoNum type="alphaLcParenR"/>
            </a:pPr>
            <a:r>
              <a:rPr lang="en-US" altLang="en-US" dirty="0"/>
              <a:t> 1000</a:t>
            </a:r>
          </a:p>
          <a:p>
            <a:pPr>
              <a:buFontTx/>
              <a:buAutoNum type="alphaLcParenR"/>
            </a:pPr>
            <a:r>
              <a:rPr lang="en-US" altLang="en-US" dirty="0"/>
              <a:t> 1.0 x 10</a:t>
            </a:r>
            <a:r>
              <a:rPr lang="en-US" altLang="en-US" baseline="30000" dirty="0"/>
              <a:t>8</a:t>
            </a:r>
            <a:endParaRPr lang="en-US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94BD91FF-87F6-31A2-0467-98AFAF7D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D3F2B2-1D64-4248-92F6-91CEF1E1A690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DB55069-EFE3-63AB-5111-A0D6A558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123.8.8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9924C3BE-8249-B464-C83D-1BA32F8D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I have 24 eggs, how many dozens of eggs do I have?</a:t>
            </a:r>
          </a:p>
          <a:p>
            <a:pPr>
              <a:buFontTx/>
              <a:buAutoNum type="alphaLcParenR"/>
            </a:pPr>
            <a:r>
              <a:rPr lang="en-US" altLang="en-US" dirty="0"/>
              <a:t> 1</a:t>
            </a:r>
          </a:p>
          <a:p>
            <a:pPr>
              <a:buFontTx/>
              <a:buAutoNum type="alphaLcParenR"/>
            </a:pPr>
            <a:r>
              <a:rPr lang="en-US" altLang="en-US" dirty="0"/>
              <a:t> 2</a:t>
            </a:r>
          </a:p>
          <a:p>
            <a:pPr>
              <a:buFontTx/>
              <a:buAutoNum type="alphaLcParenR"/>
            </a:pPr>
            <a:r>
              <a:rPr lang="en-US" altLang="en-US" dirty="0"/>
              <a:t> 3</a:t>
            </a:r>
          </a:p>
          <a:p>
            <a:pPr>
              <a:buFontTx/>
              <a:buAutoNum type="alphaLcParenR"/>
            </a:pPr>
            <a:r>
              <a:rPr lang="en-US" altLang="en-US" dirty="0"/>
              <a:t> 4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7F32726-A76A-F5B2-6D1F-5BE95927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27105B-A942-494C-95AE-309AC29EB4C4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898376E-7137-E7E5-6AD8-F2B87009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123.8.9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505103AA-346B-D1D9-5D5F-A4E67376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If I have 1.24 x 10</a:t>
            </a:r>
            <a:r>
              <a:rPr lang="en-US" altLang="en-US" baseline="30000"/>
              <a:t>24</a:t>
            </a:r>
            <a:r>
              <a:rPr lang="en-US" altLang="en-US"/>
              <a:t> eggs, how many moles of eggs do I have?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AutoNum type="alphaLcParenR"/>
            </a:pPr>
            <a:r>
              <a:rPr lang="en-US" altLang="en-US"/>
              <a:t>1</a:t>
            </a:r>
          </a:p>
          <a:p>
            <a:pPr>
              <a:buFontTx/>
              <a:buAutoNum type="alphaLcParenR"/>
            </a:pPr>
            <a:r>
              <a:rPr lang="en-US" altLang="en-US"/>
              <a:t>2</a:t>
            </a:r>
          </a:p>
          <a:p>
            <a:pPr>
              <a:buFontTx/>
              <a:buAutoNum type="alphaLcParenR"/>
            </a:pPr>
            <a:r>
              <a:rPr lang="en-US" altLang="en-US"/>
              <a:t>3</a:t>
            </a:r>
          </a:p>
          <a:p>
            <a:pPr>
              <a:buFontTx/>
              <a:buAutoNum type="alphaLcParenR"/>
            </a:pPr>
            <a:r>
              <a:rPr lang="en-US" altLang="en-US"/>
              <a:t>4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CC448B3C-C418-C1BF-0B3E-E603CB4E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3E3301-4269-48F6-A799-E0EEBC75AA17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3842ABF-45E5-C5A2-F149-EA6A296D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FB04-7877-6D14-5137-E64183F5B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Oxygen has an atomic mass of about 16u, what is the molar mass of O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8g/mol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16 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 32 g/mol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64 g/mol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AAD50E6C-7C07-2416-2195-017E91A1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C6CCC5-FD66-45E4-881A-FF538AC733AE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1A7CE2B-B0E1-8648-6066-A3BDB44C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123.8.10.2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72443DA-3137-3A35-13C2-3E72A48D2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888288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/>
              <a:t>What might be the problem with calibrating your Celsius scale thermometer here in Rexburg, ID?</a:t>
            </a:r>
          </a:p>
          <a:p>
            <a:pPr>
              <a:buFontTx/>
              <a:buAutoNum type="alphaLcParenR"/>
            </a:pPr>
            <a:r>
              <a:rPr lang="en-US" altLang="en-US" sz="2800"/>
              <a:t>No problem, the Celsius scale is well established</a:t>
            </a:r>
          </a:p>
          <a:p>
            <a:pPr>
              <a:buFontTx/>
              <a:buAutoNum type="alphaLcParenR"/>
            </a:pPr>
            <a:r>
              <a:rPr lang="en-US" altLang="en-US" sz="2800"/>
              <a:t>Because it is so cold here, you might drop the thermometer while you work on it.</a:t>
            </a:r>
          </a:p>
          <a:p>
            <a:pPr>
              <a:buFontTx/>
              <a:buAutoNum type="alphaLcParenR"/>
            </a:pPr>
            <a:r>
              <a:rPr lang="en-US" altLang="en-US" sz="2800"/>
              <a:t>Water does not boil at 100 </a:t>
            </a:r>
            <a:r>
              <a:rPr lang="en-US" altLang="en-US" sz="2800">
                <a:sym typeface="Symbol" panose="05050102010706020507" pitchFamily="18" charset="2"/>
              </a:rPr>
              <a:t></a:t>
            </a:r>
            <a:r>
              <a:rPr lang="en-US" altLang="en-US" sz="2800"/>
              <a:t>C here</a:t>
            </a:r>
          </a:p>
          <a:p>
            <a:pPr>
              <a:buFontTx/>
              <a:buAutoNum type="alphaLcParenR"/>
            </a:pPr>
            <a:r>
              <a:rPr lang="en-US" altLang="en-US" sz="2800"/>
              <a:t>The scale does not work well for temperatures outside the 0 </a:t>
            </a:r>
            <a:r>
              <a:rPr lang="en-US" altLang="en-US" sz="2800">
                <a:sym typeface="Symbol" panose="05050102010706020507" pitchFamily="18" charset="2"/>
              </a:rPr>
              <a:t></a:t>
            </a:r>
            <a:r>
              <a:rPr lang="en-US" altLang="en-US" sz="2800"/>
              <a:t>C to 100 </a:t>
            </a:r>
            <a:r>
              <a:rPr lang="en-US" altLang="en-US" sz="2800">
                <a:sym typeface="Symbol" panose="05050102010706020507" pitchFamily="18" charset="2"/>
              </a:rPr>
              <a:t></a:t>
            </a:r>
            <a:r>
              <a:rPr lang="en-US" altLang="en-US" sz="2800"/>
              <a:t>C range.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0EF3720-203A-B212-82F3-9C5B6F82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654DEF-B766-4EEA-AA8C-871A53D157A7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8100CBD-C628-1F49-C38C-C32D4F0B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C80659AD-6476-B010-BB54-CC3FFDDA557E}"/>
              </a:ext>
            </a:extLst>
          </p:cNvPr>
          <p:cNvGrpSpPr>
            <a:grpSpLocks/>
          </p:cNvGrpSpPr>
          <p:nvPr/>
        </p:nvGrpSpPr>
        <p:grpSpPr bwMode="auto">
          <a:xfrm>
            <a:off x="2471738" y="2174875"/>
            <a:ext cx="1477962" cy="1843088"/>
            <a:chOff x="3262" y="1863"/>
            <a:chExt cx="931" cy="1161"/>
          </a:xfrm>
        </p:grpSpPr>
        <p:grpSp>
          <p:nvGrpSpPr>
            <p:cNvPr id="16445" name="Group 5">
              <a:extLst>
                <a:ext uri="{FF2B5EF4-FFF2-40B4-BE49-F238E27FC236}">
                  <a16:creationId xmlns:a16="http://schemas.microsoft.com/office/drawing/2014/main" id="{52DF44B3-CF25-AA0F-82B1-EB318DBE0D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863"/>
              <a:ext cx="931" cy="1161"/>
              <a:chOff x="3733" y="1510"/>
              <a:chExt cx="1416" cy="1628"/>
            </a:xfrm>
          </p:grpSpPr>
          <p:grpSp>
            <p:nvGrpSpPr>
              <p:cNvPr id="16448" name="Group 6">
                <a:extLst>
                  <a:ext uri="{FF2B5EF4-FFF2-40B4-BE49-F238E27FC236}">
                    <a16:creationId xmlns:a16="http://schemas.microsoft.com/office/drawing/2014/main" id="{7C7E886E-AC30-A8B0-C35A-5987F36D73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3" y="1514"/>
                <a:ext cx="1416" cy="1624"/>
                <a:chOff x="3596" y="1780"/>
                <a:chExt cx="1416" cy="1624"/>
              </a:xfrm>
            </p:grpSpPr>
            <p:sp>
              <p:nvSpPr>
                <p:cNvPr id="16453" name="Freeform 7">
                  <a:extLst>
                    <a:ext uri="{FF2B5EF4-FFF2-40B4-BE49-F238E27FC236}">
                      <a16:creationId xmlns:a16="http://schemas.microsoft.com/office/drawing/2014/main" id="{B7F3E3C6-176F-C1B8-0785-9EBE631AE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1780"/>
                  <a:ext cx="724" cy="1624"/>
                </a:xfrm>
                <a:custGeom>
                  <a:avLst/>
                  <a:gdLst>
                    <a:gd name="T0" fmla="*/ 92 w 724"/>
                    <a:gd name="T1" fmla="*/ 0 h 1624"/>
                    <a:gd name="T2" fmla="*/ 40 w 724"/>
                    <a:gd name="T3" fmla="*/ 4 h 1624"/>
                    <a:gd name="T4" fmla="*/ 0 w 724"/>
                    <a:gd name="T5" fmla="*/ 28 h 1624"/>
                    <a:gd name="T6" fmla="*/ 4 w 724"/>
                    <a:gd name="T7" fmla="*/ 84 h 1624"/>
                    <a:gd name="T8" fmla="*/ 36 w 724"/>
                    <a:gd name="T9" fmla="*/ 128 h 1624"/>
                    <a:gd name="T10" fmla="*/ 72 w 724"/>
                    <a:gd name="T11" fmla="*/ 164 h 1624"/>
                    <a:gd name="T12" fmla="*/ 96 w 724"/>
                    <a:gd name="T13" fmla="*/ 260 h 1624"/>
                    <a:gd name="T14" fmla="*/ 100 w 724"/>
                    <a:gd name="T15" fmla="*/ 1432 h 1624"/>
                    <a:gd name="T16" fmla="*/ 112 w 724"/>
                    <a:gd name="T17" fmla="*/ 1512 h 1624"/>
                    <a:gd name="T18" fmla="*/ 160 w 724"/>
                    <a:gd name="T19" fmla="*/ 1568 h 1624"/>
                    <a:gd name="T20" fmla="*/ 220 w 724"/>
                    <a:gd name="T21" fmla="*/ 1616 h 1624"/>
                    <a:gd name="T22" fmla="*/ 272 w 724"/>
                    <a:gd name="T23" fmla="*/ 1624 h 1624"/>
                    <a:gd name="T24" fmla="*/ 724 w 724"/>
                    <a:gd name="T25" fmla="*/ 1624 h 16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724"/>
                    <a:gd name="T40" fmla="*/ 0 h 1624"/>
                    <a:gd name="T41" fmla="*/ 724 w 724"/>
                    <a:gd name="T42" fmla="*/ 1624 h 162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724" h="1624">
                      <a:moveTo>
                        <a:pt x="92" y="0"/>
                      </a:moveTo>
                      <a:lnTo>
                        <a:pt x="40" y="4"/>
                      </a:lnTo>
                      <a:lnTo>
                        <a:pt x="0" y="28"/>
                      </a:lnTo>
                      <a:lnTo>
                        <a:pt x="4" y="84"/>
                      </a:lnTo>
                      <a:lnTo>
                        <a:pt x="36" y="128"/>
                      </a:lnTo>
                      <a:lnTo>
                        <a:pt x="72" y="164"/>
                      </a:lnTo>
                      <a:lnTo>
                        <a:pt x="96" y="260"/>
                      </a:lnTo>
                      <a:lnTo>
                        <a:pt x="100" y="1432"/>
                      </a:lnTo>
                      <a:lnTo>
                        <a:pt x="112" y="1512"/>
                      </a:lnTo>
                      <a:lnTo>
                        <a:pt x="160" y="1568"/>
                      </a:lnTo>
                      <a:lnTo>
                        <a:pt x="220" y="1616"/>
                      </a:lnTo>
                      <a:lnTo>
                        <a:pt x="272" y="1624"/>
                      </a:lnTo>
                      <a:lnTo>
                        <a:pt x="724" y="1624"/>
                      </a:lnTo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54" name="Freeform 8">
                  <a:extLst>
                    <a:ext uri="{FF2B5EF4-FFF2-40B4-BE49-F238E27FC236}">
                      <a16:creationId xmlns:a16="http://schemas.microsoft.com/office/drawing/2014/main" id="{28B63E41-EB01-873C-0777-BBDDCAC08B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4288" y="1780"/>
                  <a:ext cx="724" cy="1624"/>
                </a:xfrm>
                <a:custGeom>
                  <a:avLst/>
                  <a:gdLst>
                    <a:gd name="T0" fmla="*/ 92 w 724"/>
                    <a:gd name="T1" fmla="*/ 0 h 1624"/>
                    <a:gd name="T2" fmla="*/ 40 w 724"/>
                    <a:gd name="T3" fmla="*/ 4 h 1624"/>
                    <a:gd name="T4" fmla="*/ 0 w 724"/>
                    <a:gd name="T5" fmla="*/ 28 h 1624"/>
                    <a:gd name="T6" fmla="*/ 4 w 724"/>
                    <a:gd name="T7" fmla="*/ 84 h 1624"/>
                    <a:gd name="T8" fmla="*/ 36 w 724"/>
                    <a:gd name="T9" fmla="*/ 128 h 1624"/>
                    <a:gd name="T10" fmla="*/ 72 w 724"/>
                    <a:gd name="T11" fmla="*/ 164 h 1624"/>
                    <a:gd name="T12" fmla="*/ 96 w 724"/>
                    <a:gd name="T13" fmla="*/ 260 h 1624"/>
                    <a:gd name="T14" fmla="*/ 100 w 724"/>
                    <a:gd name="T15" fmla="*/ 1432 h 1624"/>
                    <a:gd name="T16" fmla="*/ 112 w 724"/>
                    <a:gd name="T17" fmla="*/ 1512 h 1624"/>
                    <a:gd name="T18" fmla="*/ 160 w 724"/>
                    <a:gd name="T19" fmla="*/ 1568 h 1624"/>
                    <a:gd name="T20" fmla="*/ 220 w 724"/>
                    <a:gd name="T21" fmla="*/ 1616 h 1624"/>
                    <a:gd name="T22" fmla="*/ 272 w 724"/>
                    <a:gd name="T23" fmla="*/ 1624 h 1624"/>
                    <a:gd name="T24" fmla="*/ 724 w 724"/>
                    <a:gd name="T25" fmla="*/ 1624 h 16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724"/>
                    <a:gd name="T40" fmla="*/ 0 h 1624"/>
                    <a:gd name="T41" fmla="*/ 724 w 724"/>
                    <a:gd name="T42" fmla="*/ 1624 h 162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724" h="1624">
                      <a:moveTo>
                        <a:pt x="92" y="0"/>
                      </a:moveTo>
                      <a:lnTo>
                        <a:pt x="40" y="4"/>
                      </a:lnTo>
                      <a:lnTo>
                        <a:pt x="0" y="28"/>
                      </a:lnTo>
                      <a:lnTo>
                        <a:pt x="4" y="84"/>
                      </a:lnTo>
                      <a:lnTo>
                        <a:pt x="36" y="128"/>
                      </a:lnTo>
                      <a:lnTo>
                        <a:pt x="72" y="164"/>
                      </a:lnTo>
                      <a:lnTo>
                        <a:pt x="96" y="260"/>
                      </a:lnTo>
                      <a:lnTo>
                        <a:pt x="100" y="1432"/>
                      </a:lnTo>
                      <a:lnTo>
                        <a:pt x="112" y="1512"/>
                      </a:lnTo>
                      <a:lnTo>
                        <a:pt x="160" y="1568"/>
                      </a:lnTo>
                      <a:lnTo>
                        <a:pt x="220" y="1616"/>
                      </a:lnTo>
                      <a:lnTo>
                        <a:pt x="272" y="1624"/>
                      </a:lnTo>
                      <a:lnTo>
                        <a:pt x="724" y="1624"/>
                      </a:lnTo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449" name="AutoShape 9">
                <a:extLst>
                  <a:ext uri="{FF2B5EF4-FFF2-40B4-BE49-F238E27FC236}">
                    <a16:creationId xmlns:a16="http://schemas.microsoft.com/office/drawing/2014/main" id="{40A52164-3AA1-FEA9-C04D-9D841B5F0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814"/>
                <a:ext cx="1088" cy="1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6450" name="Rectangle 10">
                <a:extLst>
                  <a:ext uri="{FF2B5EF4-FFF2-40B4-BE49-F238E27FC236}">
                    <a16:creationId xmlns:a16="http://schemas.microsoft.com/office/drawing/2014/main" id="{A28B7264-4C27-8FCA-ACC7-E01BCB158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" y="1794"/>
                <a:ext cx="1076" cy="2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6451" name="Freeform 11">
                <a:extLst>
                  <a:ext uri="{FF2B5EF4-FFF2-40B4-BE49-F238E27FC236}">
                    <a16:creationId xmlns:a16="http://schemas.microsoft.com/office/drawing/2014/main" id="{1EB7C814-67FD-29EB-E506-0A7BE04F6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1510"/>
                <a:ext cx="624" cy="1588"/>
              </a:xfrm>
              <a:custGeom>
                <a:avLst/>
                <a:gdLst>
                  <a:gd name="T0" fmla="*/ 0 w 624"/>
                  <a:gd name="T1" fmla="*/ 0 h 1588"/>
                  <a:gd name="T2" fmla="*/ 44 w 624"/>
                  <a:gd name="T3" fmla="*/ 16 h 1588"/>
                  <a:gd name="T4" fmla="*/ 64 w 624"/>
                  <a:gd name="T5" fmla="*/ 56 h 1588"/>
                  <a:gd name="T6" fmla="*/ 80 w 624"/>
                  <a:gd name="T7" fmla="*/ 144 h 1588"/>
                  <a:gd name="T8" fmla="*/ 88 w 624"/>
                  <a:gd name="T9" fmla="*/ 420 h 1588"/>
                  <a:gd name="T10" fmla="*/ 84 w 624"/>
                  <a:gd name="T11" fmla="*/ 884 h 1588"/>
                  <a:gd name="T12" fmla="*/ 84 w 624"/>
                  <a:gd name="T13" fmla="*/ 1260 h 1588"/>
                  <a:gd name="T14" fmla="*/ 92 w 624"/>
                  <a:gd name="T15" fmla="*/ 1444 h 1588"/>
                  <a:gd name="T16" fmla="*/ 124 w 624"/>
                  <a:gd name="T17" fmla="*/ 1508 h 1588"/>
                  <a:gd name="T18" fmla="*/ 172 w 624"/>
                  <a:gd name="T19" fmla="*/ 1552 h 1588"/>
                  <a:gd name="T20" fmla="*/ 244 w 624"/>
                  <a:gd name="T21" fmla="*/ 1588 h 1588"/>
                  <a:gd name="T22" fmla="*/ 380 w 624"/>
                  <a:gd name="T23" fmla="*/ 1588 h 1588"/>
                  <a:gd name="T24" fmla="*/ 584 w 624"/>
                  <a:gd name="T25" fmla="*/ 1588 h 1588"/>
                  <a:gd name="T26" fmla="*/ 624 w 624"/>
                  <a:gd name="T27" fmla="*/ 1588 h 15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24"/>
                  <a:gd name="T43" fmla="*/ 0 h 1588"/>
                  <a:gd name="T44" fmla="*/ 624 w 624"/>
                  <a:gd name="T45" fmla="*/ 1588 h 15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24" h="1588">
                    <a:moveTo>
                      <a:pt x="0" y="0"/>
                    </a:moveTo>
                    <a:lnTo>
                      <a:pt x="44" y="16"/>
                    </a:lnTo>
                    <a:lnTo>
                      <a:pt x="64" y="56"/>
                    </a:lnTo>
                    <a:lnTo>
                      <a:pt x="80" y="144"/>
                    </a:lnTo>
                    <a:lnTo>
                      <a:pt x="88" y="420"/>
                    </a:lnTo>
                    <a:lnTo>
                      <a:pt x="84" y="884"/>
                    </a:lnTo>
                    <a:lnTo>
                      <a:pt x="84" y="1260"/>
                    </a:lnTo>
                    <a:lnTo>
                      <a:pt x="92" y="1444"/>
                    </a:lnTo>
                    <a:lnTo>
                      <a:pt x="124" y="1508"/>
                    </a:lnTo>
                    <a:lnTo>
                      <a:pt x="172" y="1552"/>
                    </a:lnTo>
                    <a:lnTo>
                      <a:pt x="244" y="1588"/>
                    </a:lnTo>
                    <a:lnTo>
                      <a:pt x="380" y="1588"/>
                    </a:lnTo>
                    <a:lnTo>
                      <a:pt x="584" y="1588"/>
                    </a:lnTo>
                    <a:lnTo>
                      <a:pt x="624" y="158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52" name="Freeform 12">
                <a:extLst>
                  <a:ext uri="{FF2B5EF4-FFF2-40B4-BE49-F238E27FC236}">
                    <a16:creationId xmlns:a16="http://schemas.microsoft.com/office/drawing/2014/main" id="{691F0EDF-9F0A-3823-C598-F6624C95B4E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441" y="1510"/>
                <a:ext cx="624" cy="1588"/>
              </a:xfrm>
              <a:custGeom>
                <a:avLst/>
                <a:gdLst>
                  <a:gd name="T0" fmla="*/ 0 w 624"/>
                  <a:gd name="T1" fmla="*/ 0 h 1588"/>
                  <a:gd name="T2" fmla="*/ 44 w 624"/>
                  <a:gd name="T3" fmla="*/ 16 h 1588"/>
                  <a:gd name="T4" fmla="*/ 64 w 624"/>
                  <a:gd name="T5" fmla="*/ 56 h 1588"/>
                  <a:gd name="T6" fmla="*/ 80 w 624"/>
                  <a:gd name="T7" fmla="*/ 144 h 1588"/>
                  <a:gd name="T8" fmla="*/ 88 w 624"/>
                  <a:gd name="T9" fmla="*/ 420 h 1588"/>
                  <a:gd name="T10" fmla="*/ 84 w 624"/>
                  <a:gd name="T11" fmla="*/ 884 h 1588"/>
                  <a:gd name="T12" fmla="*/ 84 w 624"/>
                  <a:gd name="T13" fmla="*/ 1260 h 1588"/>
                  <a:gd name="T14" fmla="*/ 92 w 624"/>
                  <a:gd name="T15" fmla="*/ 1444 h 1588"/>
                  <a:gd name="T16" fmla="*/ 124 w 624"/>
                  <a:gd name="T17" fmla="*/ 1508 h 1588"/>
                  <a:gd name="T18" fmla="*/ 172 w 624"/>
                  <a:gd name="T19" fmla="*/ 1552 h 1588"/>
                  <a:gd name="T20" fmla="*/ 244 w 624"/>
                  <a:gd name="T21" fmla="*/ 1588 h 1588"/>
                  <a:gd name="T22" fmla="*/ 380 w 624"/>
                  <a:gd name="T23" fmla="*/ 1588 h 1588"/>
                  <a:gd name="T24" fmla="*/ 584 w 624"/>
                  <a:gd name="T25" fmla="*/ 1588 h 1588"/>
                  <a:gd name="T26" fmla="*/ 624 w 624"/>
                  <a:gd name="T27" fmla="*/ 1588 h 15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24"/>
                  <a:gd name="T43" fmla="*/ 0 h 1588"/>
                  <a:gd name="T44" fmla="*/ 624 w 624"/>
                  <a:gd name="T45" fmla="*/ 1588 h 15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24" h="1588">
                    <a:moveTo>
                      <a:pt x="0" y="0"/>
                    </a:moveTo>
                    <a:lnTo>
                      <a:pt x="44" y="16"/>
                    </a:lnTo>
                    <a:lnTo>
                      <a:pt x="64" y="56"/>
                    </a:lnTo>
                    <a:lnTo>
                      <a:pt x="80" y="144"/>
                    </a:lnTo>
                    <a:lnTo>
                      <a:pt x="88" y="420"/>
                    </a:lnTo>
                    <a:lnTo>
                      <a:pt x="84" y="884"/>
                    </a:lnTo>
                    <a:lnTo>
                      <a:pt x="84" y="1260"/>
                    </a:lnTo>
                    <a:lnTo>
                      <a:pt x="92" y="1444"/>
                    </a:lnTo>
                    <a:lnTo>
                      <a:pt x="124" y="1508"/>
                    </a:lnTo>
                    <a:lnTo>
                      <a:pt x="172" y="1552"/>
                    </a:lnTo>
                    <a:lnTo>
                      <a:pt x="244" y="1588"/>
                    </a:lnTo>
                    <a:lnTo>
                      <a:pt x="380" y="1588"/>
                    </a:lnTo>
                    <a:lnTo>
                      <a:pt x="584" y="1588"/>
                    </a:lnTo>
                    <a:lnTo>
                      <a:pt x="624" y="158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46" name="AutoShape 13">
              <a:extLst>
                <a:ext uri="{FF2B5EF4-FFF2-40B4-BE49-F238E27FC236}">
                  <a16:creationId xmlns:a16="http://schemas.microsoft.com/office/drawing/2014/main" id="{DF2BB825-9814-F9E4-BFF3-23A19DE615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06696">
              <a:off x="3492" y="1929"/>
              <a:ext cx="357" cy="366"/>
            </a:xfrm>
            <a:prstGeom prst="cube">
              <a:avLst>
                <a:gd name="adj" fmla="val 25000"/>
              </a:avLst>
            </a:prstGeom>
            <a:solidFill>
              <a:schemeClr val="accent1">
                <a:alpha val="2705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47" name="AutoShape 14">
              <a:extLst>
                <a:ext uri="{FF2B5EF4-FFF2-40B4-BE49-F238E27FC236}">
                  <a16:creationId xmlns:a16="http://schemas.microsoft.com/office/drawing/2014/main" id="{E3F3C35A-99F2-95D8-ED52-BF89762A1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943"/>
              <a:ext cx="357" cy="366"/>
            </a:xfrm>
            <a:prstGeom prst="cube">
              <a:avLst>
                <a:gd name="adj" fmla="val 25000"/>
              </a:avLst>
            </a:prstGeom>
            <a:solidFill>
              <a:schemeClr val="accent1">
                <a:alpha val="2705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16388" name="Group 17">
            <a:extLst>
              <a:ext uri="{FF2B5EF4-FFF2-40B4-BE49-F238E27FC236}">
                <a16:creationId xmlns:a16="http://schemas.microsoft.com/office/drawing/2014/main" id="{E9D07B79-7010-B1B1-8C7B-142E534BD18C}"/>
              </a:ext>
            </a:extLst>
          </p:cNvPr>
          <p:cNvGrpSpPr>
            <a:grpSpLocks/>
          </p:cNvGrpSpPr>
          <p:nvPr/>
        </p:nvGrpSpPr>
        <p:grpSpPr bwMode="auto">
          <a:xfrm>
            <a:off x="5348288" y="2174875"/>
            <a:ext cx="1477962" cy="1843088"/>
            <a:chOff x="3733" y="1510"/>
            <a:chExt cx="1416" cy="1628"/>
          </a:xfrm>
        </p:grpSpPr>
        <p:grpSp>
          <p:nvGrpSpPr>
            <p:cNvPr id="16438" name="Group 18">
              <a:extLst>
                <a:ext uri="{FF2B5EF4-FFF2-40B4-BE49-F238E27FC236}">
                  <a16:creationId xmlns:a16="http://schemas.microsoft.com/office/drawing/2014/main" id="{3A2E1A9D-8585-DC5B-3BB3-AD6CA8FFE5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" y="1514"/>
              <a:ext cx="1416" cy="1624"/>
              <a:chOff x="3596" y="1780"/>
              <a:chExt cx="1416" cy="1624"/>
            </a:xfrm>
          </p:grpSpPr>
          <p:sp>
            <p:nvSpPr>
              <p:cNvPr id="16443" name="Freeform 19">
                <a:extLst>
                  <a:ext uri="{FF2B5EF4-FFF2-40B4-BE49-F238E27FC236}">
                    <a16:creationId xmlns:a16="http://schemas.microsoft.com/office/drawing/2014/main" id="{A6D0E7C7-C57B-5D7E-2E62-32BD75306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1780"/>
                <a:ext cx="724" cy="1624"/>
              </a:xfrm>
              <a:custGeom>
                <a:avLst/>
                <a:gdLst>
                  <a:gd name="T0" fmla="*/ 92 w 724"/>
                  <a:gd name="T1" fmla="*/ 0 h 1624"/>
                  <a:gd name="T2" fmla="*/ 40 w 724"/>
                  <a:gd name="T3" fmla="*/ 4 h 1624"/>
                  <a:gd name="T4" fmla="*/ 0 w 724"/>
                  <a:gd name="T5" fmla="*/ 28 h 1624"/>
                  <a:gd name="T6" fmla="*/ 4 w 724"/>
                  <a:gd name="T7" fmla="*/ 84 h 1624"/>
                  <a:gd name="T8" fmla="*/ 36 w 724"/>
                  <a:gd name="T9" fmla="*/ 128 h 1624"/>
                  <a:gd name="T10" fmla="*/ 72 w 724"/>
                  <a:gd name="T11" fmla="*/ 164 h 1624"/>
                  <a:gd name="T12" fmla="*/ 96 w 724"/>
                  <a:gd name="T13" fmla="*/ 260 h 1624"/>
                  <a:gd name="T14" fmla="*/ 100 w 724"/>
                  <a:gd name="T15" fmla="*/ 1432 h 1624"/>
                  <a:gd name="T16" fmla="*/ 112 w 724"/>
                  <a:gd name="T17" fmla="*/ 1512 h 1624"/>
                  <a:gd name="T18" fmla="*/ 160 w 724"/>
                  <a:gd name="T19" fmla="*/ 1568 h 1624"/>
                  <a:gd name="T20" fmla="*/ 220 w 724"/>
                  <a:gd name="T21" fmla="*/ 1616 h 1624"/>
                  <a:gd name="T22" fmla="*/ 272 w 724"/>
                  <a:gd name="T23" fmla="*/ 1624 h 1624"/>
                  <a:gd name="T24" fmla="*/ 724 w 724"/>
                  <a:gd name="T25" fmla="*/ 1624 h 16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24"/>
                  <a:gd name="T40" fmla="*/ 0 h 1624"/>
                  <a:gd name="T41" fmla="*/ 724 w 724"/>
                  <a:gd name="T42" fmla="*/ 1624 h 16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24" h="1624">
                    <a:moveTo>
                      <a:pt x="92" y="0"/>
                    </a:moveTo>
                    <a:lnTo>
                      <a:pt x="40" y="4"/>
                    </a:lnTo>
                    <a:lnTo>
                      <a:pt x="0" y="28"/>
                    </a:lnTo>
                    <a:lnTo>
                      <a:pt x="4" y="84"/>
                    </a:lnTo>
                    <a:lnTo>
                      <a:pt x="36" y="128"/>
                    </a:lnTo>
                    <a:lnTo>
                      <a:pt x="72" y="164"/>
                    </a:lnTo>
                    <a:lnTo>
                      <a:pt x="96" y="260"/>
                    </a:lnTo>
                    <a:lnTo>
                      <a:pt x="100" y="1432"/>
                    </a:lnTo>
                    <a:lnTo>
                      <a:pt x="112" y="1512"/>
                    </a:lnTo>
                    <a:lnTo>
                      <a:pt x="160" y="1568"/>
                    </a:lnTo>
                    <a:lnTo>
                      <a:pt x="220" y="1616"/>
                    </a:lnTo>
                    <a:lnTo>
                      <a:pt x="272" y="1624"/>
                    </a:lnTo>
                    <a:lnTo>
                      <a:pt x="724" y="162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44" name="Freeform 20">
                <a:extLst>
                  <a:ext uri="{FF2B5EF4-FFF2-40B4-BE49-F238E27FC236}">
                    <a16:creationId xmlns:a16="http://schemas.microsoft.com/office/drawing/2014/main" id="{6D4B918C-5FD8-D20E-5B48-AF8447245FE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288" y="1780"/>
                <a:ext cx="724" cy="1624"/>
              </a:xfrm>
              <a:custGeom>
                <a:avLst/>
                <a:gdLst>
                  <a:gd name="T0" fmla="*/ 92 w 724"/>
                  <a:gd name="T1" fmla="*/ 0 h 1624"/>
                  <a:gd name="T2" fmla="*/ 40 w 724"/>
                  <a:gd name="T3" fmla="*/ 4 h 1624"/>
                  <a:gd name="T4" fmla="*/ 0 w 724"/>
                  <a:gd name="T5" fmla="*/ 28 h 1624"/>
                  <a:gd name="T6" fmla="*/ 4 w 724"/>
                  <a:gd name="T7" fmla="*/ 84 h 1624"/>
                  <a:gd name="T8" fmla="*/ 36 w 724"/>
                  <a:gd name="T9" fmla="*/ 128 h 1624"/>
                  <a:gd name="T10" fmla="*/ 72 w 724"/>
                  <a:gd name="T11" fmla="*/ 164 h 1624"/>
                  <a:gd name="T12" fmla="*/ 96 w 724"/>
                  <a:gd name="T13" fmla="*/ 260 h 1624"/>
                  <a:gd name="T14" fmla="*/ 100 w 724"/>
                  <a:gd name="T15" fmla="*/ 1432 h 1624"/>
                  <a:gd name="T16" fmla="*/ 112 w 724"/>
                  <a:gd name="T17" fmla="*/ 1512 h 1624"/>
                  <a:gd name="T18" fmla="*/ 160 w 724"/>
                  <a:gd name="T19" fmla="*/ 1568 h 1624"/>
                  <a:gd name="T20" fmla="*/ 220 w 724"/>
                  <a:gd name="T21" fmla="*/ 1616 h 1624"/>
                  <a:gd name="T22" fmla="*/ 272 w 724"/>
                  <a:gd name="T23" fmla="*/ 1624 h 1624"/>
                  <a:gd name="T24" fmla="*/ 724 w 724"/>
                  <a:gd name="T25" fmla="*/ 1624 h 16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24"/>
                  <a:gd name="T40" fmla="*/ 0 h 1624"/>
                  <a:gd name="T41" fmla="*/ 724 w 724"/>
                  <a:gd name="T42" fmla="*/ 1624 h 16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24" h="1624">
                    <a:moveTo>
                      <a:pt x="92" y="0"/>
                    </a:moveTo>
                    <a:lnTo>
                      <a:pt x="40" y="4"/>
                    </a:lnTo>
                    <a:lnTo>
                      <a:pt x="0" y="28"/>
                    </a:lnTo>
                    <a:lnTo>
                      <a:pt x="4" y="84"/>
                    </a:lnTo>
                    <a:lnTo>
                      <a:pt x="36" y="128"/>
                    </a:lnTo>
                    <a:lnTo>
                      <a:pt x="72" y="164"/>
                    </a:lnTo>
                    <a:lnTo>
                      <a:pt x="96" y="260"/>
                    </a:lnTo>
                    <a:lnTo>
                      <a:pt x="100" y="1432"/>
                    </a:lnTo>
                    <a:lnTo>
                      <a:pt x="112" y="1512"/>
                    </a:lnTo>
                    <a:lnTo>
                      <a:pt x="160" y="1568"/>
                    </a:lnTo>
                    <a:lnTo>
                      <a:pt x="220" y="1616"/>
                    </a:lnTo>
                    <a:lnTo>
                      <a:pt x="272" y="1624"/>
                    </a:lnTo>
                    <a:lnTo>
                      <a:pt x="724" y="162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39" name="AutoShape 21">
              <a:extLst>
                <a:ext uri="{FF2B5EF4-FFF2-40B4-BE49-F238E27FC236}">
                  <a16:creationId xmlns:a16="http://schemas.microsoft.com/office/drawing/2014/main" id="{580A115E-4900-D991-5D6A-44C1658BA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1814"/>
              <a:ext cx="1088" cy="1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40" name="Rectangle 22">
              <a:extLst>
                <a:ext uri="{FF2B5EF4-FFF2-40B4-BE49-F238E27FC236}">
                  <a16:creationId xmlns:a16="http://schemas.microsoft.com/office/drawing/2014/main" id="{C390D5BC-1868-627D-B6BE-3E69680D3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1794"/>
              <a:ext cx="1076" cy="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41" name="Freeform 23">
              <a:extLst>
                <a:ext uri="{FF2B5EF4-FFF2-40B4-BE49-F238E27FC236}">
                  <a16:creationId xmlns:a16="http://schemas.microsoft.com/office/drawing/2014/main" id="{168A8136-FD0D-64C4-E2AE-288B32E22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510"/>
              <a:ext cx="624" cy="1588"/>
            </a:xfrm>
            <a:custGeom>
              <a:avLst/>
              <a:gdLst>
                <a:gd name="T0" fmla="*/ 0 w 624"/>
                <a:gd name="T1" fmla="*/ 0 h 1588"/>
                <a:gd name="T2" fmla="*/ 44 w 624"/>
                <a:gd name="T3" fmla="*/ 16 h 1588"/>
                <a:gd name="T4" fmla="*/ 64 w 624"/>
                <a:gd name="T5" fmla="*/ 56 h 1588"/>
                <a:gd name="T6" fmla="*/ 80 w 624"/>
                <a:gd name="T7" fmla="*/ 144 h 1588"/>
                <a:gd name="T8" fmla="*/ 88 w 624"/>
                <a:gd name="T9" fmla="*/ 420 h 1588"/>
                <a:gd name="T10" fmla="*/ 84 w 624"/>
                <a:gd name="T11" fmla="*/ 884 h 1588"/>
                <a:gd name="T12" fmla="*/ 84 w 624"/>
                <a:gd name="T13" fmla="*/ 1260 h 1588"/>
                <a:gd name="T14" fmla="*/ 92 w 624"/>
                <a:gd name="T15" fmla="*/ 1444 h 1588"/>
                <a:gd name="T16" fmla="*/ 124 w 624"/>
                <a:gd name="T17" fmla="*/ 1508 h 1588"/>
                <a:gd name="T18" fmla="*/ 172 w 624"/>
                <a:gd name="T19" fmla="*/ 1552 h 1588"/>
                <a:gd name="T20" fmla="*/ 244 w 624"/>
                <a:gd name="T21" fmla="*/ 1588 h 1588"/>
                <a:gd name="T22" fmla="*/ 380 w 624"/>
                <a:gd name="T23" fmla="*/ 1588 h 1588"/>
                <a:gd name="T24" fmla="*/ 584 w 624"/>
                <a:gd name="T25" fmla="*/ 1588 h 1588"/>
                <a:gd name="T26" fmla="*/ 624 w 624"/>
                <a:gd name="T27" fmla="*/ 1588 h 15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4"/>
                <a:gd name="T43" fmla="*/ 0 h 1588"/>
                <a:gd name="T44" fmla="*/ 624 w 624"/>
                <a:gd name="T45" fmla="*/ 1588 h 15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4" h="1588">
                  <a:moveTo>
                    <a:pt x="0" y="0"/>
                  </a:moveTo>
                  <a:lnTo>
                    <a:pt x="44" y="16"/>
                  </a:lnTo>
                  <a:lnTo>
                    <a:pt x="64" y="56"/>
                  </a:lnTo>
                  <a:lnTo>
                    <a:pt x="80" y="144"/>
                  </a:lnTo>
                  <a:lnTo>
                    <a:pt x="88" y="420"/>
                  </a:lnTo>
                  <a:lnTo>
                    <a:pt x="84" y="884"/>
                  </a:lnTo>
                  <a:lnTo>
                    <a:pt x="84" y="1260"/>
                  </a:lnTo>
                  <a:lnTo>
                    <a:pt x="92" y="1444"/>
                  </a:lnTo>
                  <a:lnTo>
                    <a:pt x="124" y="1508"/>
                  </a:lnTo>
                  <a:lnTo>
                    <a:pt x="172" y="1552"/>
                  </a:lnTo>
                  <a:lnTo>
                    <a:pt x="244" y="1588"/>
                  </a:lnTo>
                  <a:lnTo>
                    <a:pt x="380" y="1588"/>
                  </a:lnTo>
                  <a:lnTo>
                    <a:pt x="584" y="1588"/>
                  </a:lnTo>
                  <a:lnTo>
                    <a:pt x="624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24">
              <a:extLst>
                <a:ext uri="{FF2B5EF4-FFF2-40B4-BE49-F238E27FC236}">
                  <a16:creationId xmlns:a16="http://schemas.microsoft.com/office/drawing/2014/main" id="{8BC24691-D387-1F7F-E9C2-FEDC7BF3090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41" y="1510"/>
              <a:ext cx="624" cy="1588"/>
            </a:xfrm>
            <a:custGeom>
              <a:avLst/>
              <a:gdLst>
                <a:gd name="T0" fmla="*/ 0 w 624"/>
                <a:gd name="T1" fmla="*/ 0 h 1588"/>
                <a:gd name="T2" fmla="*/ 44 w 624"/>
                <a:gd name="T3" fmla="*/ 16 h 1588"/>
                <a:gd name="T4" fmla="*/ 64 w 624"/>
                <a:gd name="T5" fmla="*/ 56 h 1588"/>
                <a:gd name="T6" fmla="*/ 80 w 624"/>
                <a:gd name="T7" fmla="*/ 144 h 1588"/>
                <a:gd name="T8" fmla="*/ 88 w 624"/>
                <a:gd name="T9" fmla="*/ 420 h 1588"/>
                <a:gd name="T10" fmla="*/ 84 w 624"/>
                <a:gd name="T11" fmla="*/ 884 h 1588"/>
                <a:gd name="T12" fmla="*/ 84 w 624"/>
                <a:gd name="T13" fmla="*/ 1260 h 1588"/>
                <a:gd name="T14" fmla="*/ 92 w 624"/>
                <a:gd name="T15" fmla="*/ 1444 h 1588"/>
                <a:gd name="T16" fmla="*/ 124 w 624"/>
                <a:gd name="T17" fmla="*/ 1508 h 1588"/>
                <a:gd name="T18" fmla="*/ 172 w 624"/>
                <a:gd name="T19" fmla="*/ 1552 h 1588"/>
                <a:gd name="T20" fmla="*/ 244 w 624"/>
                <a:gd name="T21" fmla="*/ 1588 h 1588"/>
                <a:gd name="T22" fmla="*/ 380 w 624"/>
                <a:gd name="T23" fmla="*/ 1588 h 1588"/>
                <a:gd name="T24" fmla="*/ 584 w 624"/>
                <a:gd name="T25" fmla="*/ 1588 h 1588"/>
                <a:gd name="T26" fmla="*/ 624 w 624"/>
                <a:gd name="T27" fmla="*/ 1588 h 15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4"/>
                <a:gd name="T43" fmla="*/ 0 h 1588"/>
                <a:gd name="T44" fmla="*/ 624 w 624"/>
                <a:gd name="T45" fmla="*/ 1588 h 15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4" h="1588">
                  <a:moveTo>
                    <a:pt x="0" y="0"/>
                  </a:moveTo>
                  <a:lnTo>
                    <a:pt x="44" y="16"/>
                  </a:lnTo>
                  <a:lnTo>
                    <a:pt x="64" y="56"/>
                  </a:lnTo>
                  <a:lnTo>
                    <a:pt x="80" y="144"/>
                  </a:lnTo>
                  <a:lnTo>
                    <a:pt x="88" y="420"/>
                  </a:lnTo>
                  <a:lnTo>
                    <a:pt x="84" y="884"/>
                  </a:lnTo>
                  <a:lnTo>
                    <a:pt x="84" y="1260"/>
                  </a:lnTo>
                  <a:lnTo>
                    <a:pt x="92" y="1444"/>
                  </a:lnTo>
                  <a:lnTo>
                    <a:pt x="124" y="1508"/>
                  </a:lnTo>
                  <a:lnTo>
                    <a:pt x="172" y="1552"/>
                  </a:lnTo>
                  <a:lnTo>
                    <a:pt x="244" y="1588"/>
                  </a:lnTo>
                  <a:lnTo>
                    <a:pt x="380" y="1588"/>
                  </a:lnTo>
                  <a:lnTo>
                    <a:pt x="584" y="1588"/>
                  </a:lnTo>
                  <a:lnTo>
                    <a:pt x="624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89" name="Picture 4" descr="https://openclipart.org/image/2400px/svg_to_png/25348/boobaloo_Bunzen_burner.png">
            <a:extLst>
              <a:ext uri="{FF2B5EF4-FFF2-40B4-BE49-F238E27FC236}">
                <a16:creationId xmlns:a16="http://schemas.microsoft.com/office/drawing/2014/main" id="{8B09CCF0-70B0-126F-3E76-14251826F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3943350"/>
            <a:ext cx="91757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0" name="Group 7">
            <a:extLst>
              <a:ext uri="{FF2B5EF4-FFF2-40B4-BE49-F238E27FC236}">
                <a16:creationId xmlns:a16="http://schemas.microsoft.com/office/drawing/2014/main" id="{757C1332-B5D4-5440-124C-9C736E64ABEA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208088"/>
            <a:ext cx="173038" cy="2178050"/>
            <a:chOff x="4279" y="1535"/>
            <a:chExt cx="164" cy="1692"/>
          </a:xfrm>
        </p:grpSpPr>
        <p:sp>
          <p:nvSpPr>
            <p:cNvPr id="16417" name="Oval 8">
              <a:extLst>
                <a:ext uri="{FF2B5EF4-FFF2-40B4-BE49-F238E27FC236}">
                  <a16:creationId xmlns:a16="http://schemas.microsoft.com/office/drawing/2014/main" id="{D1D3CA50-A870-0C5A-D6A5-0946DDB61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16418" name="Group 9">
              <a:extLst>
                <a:ext uri="{FF2B5EF4-FFF2-40B4-BE49-F238E27FC236}">
                  <a16:creationId xmlns:a16="http://schemas.microsoft.com/office/drawing/2014/main" id="{0A6B81AD-1BA0-0E7E-015C-058F4AC7C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16421" name="AutoShape 10">
                <a:extLst>
                  <a:ext uri="{FF2B5EF4-FFF2-40B4-BE49-F238E27FC236}">
                    <a16:creationId xmlns:a16="http://schemas.microsoft.com/office/drawing/2014/main" id="{57C41A0B-6A1E-2174-1550-BFF2BA863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6422" name="Line 11">
                <a:extLst>
                  <a:ext uri="{FF2B5EF4-FFF2-40B4-BE49-F238E27FC236}">
                    <a16:creationId xmlns:a16="http://schemas.microsoft.com/office/drawing/2014/main" id="{57D07246-9255-9156-9287-1F6A5044C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3" name="Line 12">
                <a:extLst>
                  <a:ext uri="{FF2B5EF4-FFF2-40B4-BE49-F238E27FC236}">
                    <a16:creationId xmlns:a16="http://schemas.microsoft.com/office/drawing/2014/main" id="{4196CF25-1BF9-E208-3661-0C8F90D52C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4" name="Line 13">
                <a:extLst>
                  <a:ext uri="{FF2B5EF4-FFF2-40B4-BE49-F238E27FC236}">
                    <a16:creationId xmlns:a16="http://schemas.microsoft.com/office/drawing/2014/main" id="{69F3718E-056C-4BF5-A5CF-F5EC68F1E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5" name="Line 14">
                <a:extLst>
                  <a:ext uri="{FF2B5EF4-FFF2-40B4-BE49-F238E27FC236}">
                    <a16:creationId xmlns:a16="http://schemas.microsoft.com/office/drawing/2014/main" id="{3F1A257D-B0BA-664D-2CD2-D69542FF8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6" name="Line 15">
                <a:extLst>
                  <a:ext uri="{FF2B5EF4-FFF2-40B4-BE49-F238E27FC236}">
                    <a16:creationId xmlns:a16="http://schemas.microsoft.com/office/drawing/2014/main" id="{DD90FA79-4E61-2E1B-2222-B48133391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Line 16">
                <a:extLst>
                  <a:ext uri="{FF2B5EF4-FFF2-40B4-BE49-F238E27FC236}">
                    <a16:creationId xmlns:a16="http://schemas.microsoft.com/office/drawing/2014/main" id="{0B034711-EDCF-3B34-F3C7-D92B43526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8" name="Line 17">
                <a:extLst>
                  <a:ext uri="{FF2B5EF4-FFF2-40B4-BE49-F238E27FC236}">
                    <a16:creationId xmlns:a16="http://schemas.microsoft.com/office/drawing/2014/main" id="{1AEF5A69-6CE6-4C17-48F8-837C7C577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9" name="Line 18">
                <a:extLst>
                  <a:ext uri="{FF2B5EF4-FFF2-40B4-BE49-F238E27FC236}">
                    <a16:creationId xmlns:a16="http://schemas.microsoft.com/office/drawing/2014/main" id="{10CCD990-9D94-11C8-C896-FD81632BD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0" name="Line 19">
                <a:extLst>
                  <a:ext uri="{FF2B5EF4-FFF2-40B4-BE49-F238E27FC236}">
                    <a16:creationId xmlns:a16="http://schemas.microsoft.com/office/drawing/2014/main" id="{085FEEB4-4D65-BF66-FC34-E8A6D9B25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1" name="Line 20">
                <a:extLst>
                  <a:ext uri="{FF2B5EF4-FFF2-40B4-BE49-F238E27FC236}">
                    <a16:creationId xmlns:a16="http://schemas.microsoft.com/office/drawing/2014/main" id="{3B789EE2-0622-D7A9-C8B8-58B9DBA5D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2" name="Line 21">
                <a:extLst>
                  <a:ext uri="{FF2B5EF4-FFF2-40B4-BE49-F238E27FC236}">
                    <a16:creationId xmlns:a16="http://schemas.microsoft.com/office/drawing/2014/main" id="{F9B1D163-F5B2-95F8-727E-9671A0B72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3" name="Line 22">
                <a:extLst>
                  <a:ext uri="{FF2B5EF4-FFF2-40B4-BE49-F238E27FC236}">
                    <a16:creationId xmlns:a16="http://schemas.microsoft.com/office/drawing/2014/main" id="{36CF413C-ECF4-E902-2371-315E28F80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4" name="Line 23">
                <a:extLst>
                  <a:ext uri="{FF2B5EF4-FFF2-40B4-BE49-F238E27FC236}">
                    <a16:creationId xmlns:a16="http://schemas.microsoft.com/office/drawing/2014/main" id="{5B917917-D441-C04F-16A0-3EE57AF7A6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5" name="Line 24">
                <a:extLst>
                  <a:ext uri="{FF2B5EF4-FFF2-40B4-BE49-F238E27FC236}">
                    <a16:creationId xmlns:a16="http://schemas.microsoft.com/office/drawing/2014/main" id="{49D5BE67-B77F-0A3E-76C1-E390BE475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6" name="Line 25">
                <a:extLst>
                  <a:ext uri="{FF2B5EF4-FFF2-40B4-BE49-F238E27FC236}">
                    <a16:creationId xmlns:a16="http://schemas.microsoft.com/office/drawing/2014/main" id="{BA005044-90F7-E0FD-D8ED-C60E24016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7" name="Line 26">
                <a:extLst>
                  <a:ext uri="{FF2B5EF4-FFF2-40B4-BE49-F238E27FC236}">
                    <a16:creationId xmlns:a16="http://schemas.microsoft.com/office/drawing/2014/main" id="{D531BF51-55BE-A56A-2208-8725AA23F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19" name="Oval 27">
              <a:extLst>
                <a:ext uri="{FF2B5EF4-FFF2-40B4-BE49-F238E27FC236}">
                  <a16:creationId xmlns:a16="http://schemas.microsoft.com/office/drawing/2014/main" id="{EDDDA456-6843-B349-6725-CAEC165CB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20" name="Rectangle 28">
              <a:extLst>
                <a:ext uri="{FF2B5EF4-FFF2-40B4-BE49-F238E27FC236}">
                  <a16:creationId xmlns:a16="http://schemas.microsoft.com/office/drawing/2014/main" id="{7A3F6AA1-25F1-3DED-CFE5-DDDB2EE82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240"/>
              <a:ext cx="27" cy="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16391" name="Group 29">
            <a:extLst>
              <a:ext uri="{FF2B5EF4-FFF2-40B4-BE49-F238E27FC236}">
                <a16:creationId xmlns:a16="http://schemas.microsoft.com/office/drawing/2014/main" id="{E84F83F4-8E69-9F14-4418-D2760D1EA726}"/>
              </a:ext>
            </a:extLst>
          </p:cNvPr>
          <p:cNvGrpSpPr>
            <a:grpSpLocks/>
          </p:cNvGrpSpPr>
          <p:nvPr/>
        </p:nvGrpSpPr>
        <p:grpSpPr bwMode="auto">
          <a:xfrm>
            <a:off x="6430963" y="1208088"/>
            <a:ext cx="173037" cy="2178050"/>
            <a:chOff x="4279" y="1535"/>
            <a:chExt cx="164" cy="1692"/>
          </a:xfrm>
        </p:grpSpPr>
        <p:sp>
          <p:nvSpPr>
            <p:cNvPr id="16396" name="Oval 30">
              <a:extLst>
                <a:ext uri="{FF2B5EF4-FFF2-40B4-BE49-F238E27FC236}">
                  <a16:creationId xmlns:a16="http://schemas.microsoft.com/office/drawing/2014/main" id="{E8AEF562-A6D4-8DA5-1DAF-C5056B280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3035"/>
              <a:ext cx="164" cy="192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16397" name="Group 31">
              <a:extLst>
                <a:ext uri="{FF2B5EF4-FFF2-40B4-BE49-F238E27FC236}">
                  <a16:creationId xmlns:a16="http://schemas.microsoft.com/office/drawing/2014/main" id="{5BAF23DD-222C-54BD-3188-2C6D6B3BEE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535"/>
              <a:ext cx="65" cy="1591"/>
              <a:chOff x="4917" y="2212"/>
              <a:chExt cx="202" cy="1591"/>
            </a:xfrm>
          </p:grpSpPr>
          <p:sp>
            <p:nvSpPr>
              <p:cNvPr id="16400" name="AutoShape 32">
                <a:extLst>
                  <a:ext uri="{FF2B5EF4-FFF2-40B4-BE49-F238E27FC236}">
                    <a16:creationId xmlns:a16="http://schemas.microsoft.com/office/drawing/2014/main" id="{69AAA7F3-D511-4E19-668F-A1B1AB9C4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6401" name="Line 33">
                <a:extLst>
                  <a:ext uri="{FF2B5EF4-FFF2-40B4-BE49-F238E27FC236}">
                    <a16:creationId xmlns:a16="http://schemas.microsoft.com/office/drawing/2014/main" id="{528A3365-C76B-4378-A814-9BDFD9489C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2" name="Line 34">
                <a:extLst>
                  <a:ext uri="{FF2B5EF4-FFF2-40B4-BE49-F238E27FC236}">
                    <a16:creationId xmlns:a16="http://schemas.microsoft.com/office/drawing/2014/main" id="{3F5DDDB4-E825-6475-8AD3-E92E8B5D4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3" name="Line 35">
                <a:extLst>
                  <a:ext uri="{FF2B5EF4-FFF2-40B4-BE49-F238E27FC236}">
                    <a16:creationId xmlns:a16="http://schemas.microsoft.com/office/drawing/2014/main" id="{BA0DCD39-7FCC-38D9-1FA9-100BB0506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4" name="Line 36">
                <a:extLst>
                  <a:ext uri="{FF2B5EF4-FFF2-40B4-BE49-F238E27FC236}">
                    <a16:creationId xmlns:a16="http://schemas.microsoft.com/office/drawing/2014/main" id="{24691188-857E-0159-E03A-A0F999A26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5" name="Line 37">
                <a:extLst>
                  <a:ext uri="{FF2B5EF4-FFF2-40B4-BE49-F238E27FC236}">
                    <a16:creationId xmlns:a16="http://schemas.microsoft.com/office/drawing/2014/main" id="{525AA9F1-9FEB-6A88-DB01-23D9DC460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6" name="Line 38">
                <a:extLst>
                  <a:ext uri="{FF2B5EF4-FFF2-40B4-BE49-F238E27FC236}">
                    <a16:creationId xmlns:a16="http://schemas.microsoft.com/office/drawing/2014/main" id="{611CCC3E-D866-A0D4-90A1-0C06EE580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7" name="Line 39">
                <a:extLst>
                  <a:ext uri="{FF2B5EF4-FFF2-40B4-BE49-F238E27FC236}">
                    <a16:creationId xmlns:a16="http://schemas.microsoft.com/office/drawing/2014/main" id="{DF7E9B81-964E-DB7A-A7C6-A2202EA46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8" name="Line 40">
                <a:extLst>
                  <a:ext uri="{FF2B5EF4-FFF2-40B4-BE49-F238E27FC236}">
                    <a16:creationId xmlns:a16="http://schemas.microsoft.com/office/drawing/2014/main" id="{3D747533-F5C1-8EA3-C4E1-6B45761EF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9" name="Line 41">
                <a:extLst>
                  <a:ext uri="{FF2B5EF4-FFF2-40B4-BE49-F238E27FC236}">
                    <a16:creationId xmlns:a16="http://schemas.microsoft.com/office/drawing/2014/main" id="{D0FAF3DD-06F2-7BB7-7228-D2ED6E2CF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0" name="Line 42">
                <a:extLst>
                  <a:ext uri="{FF2B5EF4-FFF2-40B4-BE49-F238E27FC236}">
                    <a16:creationId xmlns:a16="http://schemas.microsoft.com/office/drawing/2014/main" id="{EEC19E05-7D07-0EF8-04EC-60D3F8904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1" name="Line 43">
                <a:extLst>
                  <a:ext uri="{FF2B5EF4-FFF2-40B4-BE49-F238E27FC236}">
                    <a16:creationId xmlns:a16="http://schemas.microsoft.com/office/drawing/2014/main" id="{BDB4E141-AB6C-1A15-0EE4-17D789635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2" name="Line 44">
                <a:extLst>
                  <a:ext uri="{FF2B5EF4-FFF2-40B4-BE49-F238E27FC236}">
                    <a16:creationId xmlns:a16="http://schemas.microsoft.com/office/drawing/2014/main" id="{C5F40988-260C-9430-6136-22F12A73B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45">
                <a:extLst>
                  <a:ext uri="{FF2B5EF4-FFF2-40B4-BE49-F238E27FC236}">
                    <a16:creationId xmlns:a16="http://schemas.microsoft.com/office/drawing/2014/main" id="{3B86B0E8-0FED-E501-43DB-4665B223C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4" name="Line 46">
                <a:extLst>
                  <a:ext uri="{FF2B5EF4-FFF2-40B4-BE49-F238E27FC236}">
                    <a16:creationId xmlns:a16="http://schemas.microsoft.com/office/drawing/2014/main" id="{EE0C97CE-2482-5D87-BB42-97971348C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5" name="Line 47">
                <a:extLst>
                  <a:ext uri="{FF2B5EF4-FFF2-40B4-BE49-F238E27FC236}">
                    <a16:creationId xmlns:a16="http://schemas.microsoft.com/office/drawing/2014/main" id="{8C6769F2-BCA1-0B18-A5F3-811600F88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6" name="Line 48">
                <a:extLst>
                  <a:ext uri="{FF2B5EF4-FFF2-40B4-BE49-F238E27FC236}">
                    <a16:creationId xmlns:a16="http://schemas.microsoft.com/office/drawing/2014/main" id="{22CB95A2-8066-8AF1-0B3D-D57B06AE1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398" name="Oval 49">
              <a:extLst>
                <a:ext uri="{FF2B5EF4-FFF2-40B4-BE49-F238E27FC236}">
                  <a16:creationId xmlns:a16="http://schemas.microsoft.com/office/drawing/2014/main" id="{3FACAA43-494F-C8C2-EDC0-43D1DB06F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3063"/>
              <a:ext cx="91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9" name="Rectangle 50">
              <a:extLst>
                <a:ext uri="{FF2B5EF4-FFF2-40B4-BE49-F238E27FC236}">
                  <a16:creationId xmlns:a16="http://schemas.microsoft.com/office/drawing/2014/main" id="{75B30882-76F9-9886-3863-5366815FA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1627"/>
              <a:ext cx="43" cy="14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cxnSp>
        <p:nvCxnSpPr>
          <p:cNvPr id="16392" name="Straight Arrow Connector 58">
            <a:extLst>
              <a:ext uri="{FF2B5EF4-FFF2-40B4-BE49-F238E27FC236}">
                <a16:creationId xmlns:a16="http://schemas.microsoft.com/office/drawing/2014/main" id="{860E5881-FAC1-E302-E4EE-F61780AD87D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00825" y="1333500"/>
            <a:ext cx="4016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3" name="TextBox 59">
            <a:extLst>
              <a:ext uri="{FF2B5EF4-FFF2-40B4-BE49-F238E27FC236}">
                <a16:creationId xmlns:a16="http://schemas.microsoft.com/office/drawing/2014/main" id="{AB9E7FFB-C0C4-F79B-0360-180F18467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2613" y="1135063"/>
            <a:ext cx="828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100</a:t>
            </a:r>
            <a:r>
              <a:rPr lang="en-US" altLang="en-US" sz="1800">
                <a:sym typeface="Symbol" panose="05050102010706020507" pitchFamily="18" charset="2"/>
              </a:rPr>
              <a:t>C</a:t>
            </a:r>
            <a:endParaRPr lang="en-US" altLang="en-US" sz="1800"/>
          </a:p>
        </p:txBody>
      </p:sp>
      <p:cxnSp>
        <p:nvCxnSpPr>
          <p:cNvPr id="16394" name="Straight Arrow Connector 108">
            <a:extLst>
              <a:ext uri="{FF2B5EF4-FFF2-40B4-BE49-F238E27FC236}">
                <a16:creationId xmlns:a16="http://schemas.microsoft.com/office/drawing/2014/main" id="{FF95EBE5-6315-485C-44E4-D208A65ECA9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57613" y="2074863"/>
            <a:ext cx="40163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5" name="TextBox 109">
            <a:extLst>
              <a:ext uri="{FF2B5EF4-FFF2-40B4-BE49-F238E27FC236}">
                <a16:creationId xmlns:a16="http://schemas.microsoft.com/office/drawing/2014/main" id="{63126170-D9E0-A492-8F76-8FFA22F57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1876425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</a:t>
            </a:r>
            <a:r>
              <a:rPr lang="en-US" altLang="en-US" sz="1800">
                <a:sym typeface="Symbol" panose="05050102010706020507" pitchFamily="18" charset="2"/>
              </a:rPr>
              <a:t>C</a:t>
            </a:r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FAAAEB2-9520-8217-DB0B-2470FBCBB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Temperature from the Zeroth Law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DBDC3C2-A5CD-B535-1192-DA7D59E2F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objects in thermal equilibrium with each other are at the </a:t>
            </a:r>
            <a:r>
              <a:rPr lang="en-US" altLang="en-US" i="1"/>
              <a:t>same temperature</a:t>
            </a:r>
            <a:endParaRPr lang="en-US" altLang="en-US"/>
          </a:p>
          <a:p>
            <a:pPr eaLnBrk="1" hangingPunct="1"/>
            <a:r>
              <a:rPr lang="en-US" altLang="en-US" i="1"/>
              <a:t>Temperature</a:t>
            </a:r>
            <a:r>
              <a:rPr lang="en-US" altLang="en-US"/>
              <a:t> is the property that determines whether or not an object is in thermal equilibrium with other objects</a:t>
            </a:r>
            <a:endParaRPr lang="en-US" altLang="en-US"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91524D7-66BF-17D7-7066-947992426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123.8.10.3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83CED22-866C-28A1-B555-61A8BFCCE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/>
              <a:t>The pressure in a constant-volume gas thermometer extrapolates to zero at what temperature?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0</a:t>
            </a:r>
            <a:r>
              <a:rPr lang="en-US" altLang="en-US">
                <a:sym typeface="Symbol" panose="05050102010706020507" pitchFamily="18" charset="2"/>
              </a:rPr>
              <a:t></a:t>
            </a:r>
            <a:r>
              <a:rPr lang="en-US" altLang="en-US"/>
              <a:t>C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0 K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0</a:t>
            </a:r>
            <a:r>
              <a:rPr lang="en-US" altLang="en-US">
                <a:sym typeface="Symbol" panose="05050102010706020507" pitchFamily="18" charset="2"/>
              </a:rPr>
              <a:t></a:t>
            </a:r>
            <a:r>
              <a:rPr lang="en-US" altLang="en-US"/>
              <a:t>F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0 Pa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828706F-685E-BA85-BF73-17FCDD555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123.8.10.4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5D26279-D439-17C2-4B3E-16D41271AA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2738" y="1280097"/>
            <a:ext cx="3889375" cy="45259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We have a complicated gadget as shown. At points  C and  D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en-US" sz="2400"/>
              <a:t>The pressure is the same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en-US" sz="2400"/>
              <a:t>The pressure at point D is larger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en-US" sz="2400"/>
              <a:t>The pressure at point C is larger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en-US" sz="2400"/>
              <a:t>You can’t tell unless you know the pressure of the gas 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879DD9FA-D16D-30C0-3329-FDBB2895D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1464247"/>
            <a:ext cx="5140325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1" name="Oval 5">
            <a:extLst>
              <a:ext uri="{FF2B5EF4-FFF2-40B4-BE49-F238E27FC236}">
                <a16:creationId xmlns:a16="http://schemas.microsoft.com/office/drawing/2014/main" id="{435F1FCF-4661-3FDB-7A75-C18E970F7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2654872"/>
            <a:ext cx="88900" cy="131762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9462" name="Oval 6">
            <a:extLst>
              <a:ext uri="{FF2B5EF4-FFF2-40B4-BE49-F238E27FC236}">
                <a16:creationId xmlns:a16="http://schemas.microsoft.com/office/drawing/2014/main" id="{82885D51-CC86-295B-65EB-4B0BC47D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2664397"/>
            <a:ext cx="88900" cy="131762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11F904B3-7D45-FFA6-D936-78DE2B136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975" y="2307209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 Black" panose="020B0A04020102020204" pitchFamily="34" charset="0"/>
              </a:rPr>
              <a:t>C</a:t>
            </a:r>
          </a:p>
        </p:txBody>
      </p:sp>
      <p:sp>
        <p:nvSpPr>
          <p:cNvPr id="19464" name="Text Box 8">
            <a:extLst>
              <a:ext uri="{FF2B5EF4-FFF2-40B4-BE49-F238E27FC236}">
                <a16:creationId xmlns:a16="http://schemas.microsoft.com/office/drawing/2014/main" id="{8CEFAE56-1C3C-02BC-CF6E-CCAB67224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2329434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 Black" panose="020B0A04020102020204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58454A9-4AE2-C8B7-BBF5-B710E777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3" name="Date Placeholder 3">
            <a:extLst>
              <a:ext uri="{FF2B5EF4-FFF2-40B4-BE49-F238E27FC236}">
                <a16:creationId xmlns:a16="http://schemas.microsoft.com/office/drawing/2014/main" id="{30F3D3B0-132B-DA5D-6741-1D616FB354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Oct 11-13, 2006</a:t>
            </a:r>
          </a:p>
        </p:txBody>
      </p:sp>
      <p:sp>
        <p:nvSpPr>
          <p:cNvPr id="20484" name="Footer Placeholder 4">
            <a:extLst>
              <a:ext uri="{FF2B5EF4-FFF2-40B4-BE49-F238E27FC236}">
                <a16:creationId xmlns:a16="http://schemas.microsoft.com/office/drawing/2014/main" id="{5D4045D8-9F23-9371-FEDC-67547712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R. Todd Lines</a:t>
            </a:r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CEE62E2C-F865-87A2-F4BB-9770020F6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2055813"/>
            <a:ext cx="4389438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6" name="TextBox 6">
            <a:extLst>
              <a:ext uri="{FF2B5EF4-FFF2-40B4-BE49-F238E27FC236}">
                <a16:creationId xmlns:a16="http://schemas.microsoft.com/office/drawing/2014/main" id="{A0E29281-A536-F164-0373-60B952637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713" y="3573463"/>
            <a:ext cx="24272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Fluid at temperature, T</a:t>
            </a:r>
          </a:p>
        </p:txBody>
      </p:sp>
      <p:cxnSp>
        <p:nvCxnSpPr>
          <p:cNvPr id="20487" name="Straight Arrow Connector 8">
            <a:extLst>
              <a:ext uri="{FF2B5EF4-FFF2-40B4-BE49-F238E27FC236}">
                <a16:creationId xmlns:a16="http://schemas.microsoft.com/office/drawing/2014/main" id="{EC474F62-328E-ECE0-E2CF-613BEA85660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15000" y="4090988"/>
            <a:ext cx="1001713" cy="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8" name="Straight Arrow Connector 14">
            <a:extLst>
              <a:ext uri="{FF2B5EF4-FFF2-40B4-BE49-F238E27FC236}">
                <a16:creationId xmlns:a16="http://schemas.microsoft.com/office/drawing/2014/main" id="{198F2D70-AC02-DF93-B1BA-B1242551B6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30850" y="2189163"/>
            <a:ext cx="684213" cy="2254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9" name="TextBox 10">
            <a:extLst>
              <a:ext uri="{FF2B5EF4-FFF2-40B4-BE49-F238E27FC236}">
                <a16:creationId xmlns:a16="http://schemas.microsoft.com/office/drawing/2014/main" id="{299C7D4E-5A07-BADC-C78C-AC16597C9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2005013"/>
            <a:ext cx="749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Gas</a:t>
            </a:r>
          </a:p>
        </p:txBody>
      </p:sp>
      <p:cxnSp>
        <p:nvCxnSpPr>
          <p:cNvPr id="20490" name="Straight Arrow Connector 17">
            <a:extLst>
              <a:ext uri="{FF2B5EF4-FFF2-40B4-BE49-F238E27FC236}">
                <a16:creationId xmlns:a16="http://schemas.microsoft.com/office/drawing/2014/main" id="{60A91CDA-BDE5-1599-0AF9-62CB3293C53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05025" y="3897313"/>
            <a:ext cx="762000" cy="842962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TextBox 12">
            <a:extLst>
              <a:ext uri="{FF2B5EF4-FFF2-40B4-BE49-F238E27FC236}">
                <a16:creationId xmlns:a16="http://schemas.microsoft.com/office/drawing/2014/main" id="{24C30346-74AD-39F2-0670-C0259FA17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740275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Mercury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BAA97F17-C503-765E-4529-745868286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3425031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FA44A62B-397B-812C-0E8D-69692C1CD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451" y="4081844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 Black" panose="020B0A040201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B75FAD3-32BC-569C-1EDF-F58DDD9B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cxnSp>
        <p:nvCxnSpPr>
          <p:cNvPr id="21507" name="Straight Connector 7">
            <a:extLst>
              <a:ext uri="{FF2B5EF4-FFF2-40B4-BE49-F238E27FC236}">
                <a16:creationId xmlns:a16="http://schemas.microsoft.com/office/drawing/2014/main" id="{9BE03237-0B00-E34C-6D97-6D0B4DAB0B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0763" y="1600200"/>
            <a:ext cx="0" cy="36337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8" name="Straight Connector 9">
            <a:extLst>
              <a:ext uri="{FF2B5EF4-FFF2-40B4-BE49-F238E27FC236}">
                <a16:creationId xmlns:a16="http://schemas.microsoft.com/office/drawing/2014/main" id="{E4CF7457-A3C4-7412-7835-7956EE33BD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850" y="5233988"/>
            <a:ext cx="7326313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09" name="Straight Connector 3">
            <a:extLst>
              <a:ext uri="{FF2B5EF4-FFF2-40B4-BE49-F238E27FC236}">
                <a16:creationId xmlns:a16="http://schemas.microsoft.com/office/drawing/2014/main" id="{30C7B7A8-3BE6-5247-47F5-28643B7868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9000" y="1600200"/>
            <a:ext cx="5969000" cy="3633788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Straight Connector 11">
            <a:extLst>
              <a:ext uri="{FF2B5EF4-FFF2-40B4-BE49-F238E27FC236}">
                <a16:creationId xmlns:a16="http://schemas.microsoft.com/office/drawing/2014/main" id="{2C39070D-3A10-7A95-3F07-563353A74F6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2706688"/>
            <a:ext cx="7002463" cy="2527300"/>
          </a:xfrm>
          <a:prstGeom prst="line">
            <a:avLst/>
          </a:prstGeom>
          <a:noFill/>
          <a:ln w="28575" algn="ctr">
            <a:solidFill>
              <a:srgbClr val="00B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Straight Connector 14">
            <a:extLst>
              <a:ext uri="{FF2B5EF4-FFF2-40B4-BE49-F238E27FC236}">
                <a16:creationId xmlns:a16="http://schemas.microsoft.com/office/drawing/2014/main" id="{9BD6BA5E-84F5-EE99-9F81-94AC8C9854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3970338"/>
            <a:ext cx="7002463" cy="1263650"/>
          </a:xfrm>
          <a:prstGeom prst="line">
            <a:avLst/>
          </a:prstGeom>
          <a:noFill/>
          <a:ln w="28575" algn="ctr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2" name="Straight Connector 27">
            <a:extLst>
              <a:ext uri="{FF2B5EF4-FFF2-40B4-BE49-F238E27FC236}">
                <a16:creationId xmlns:a16="http://schemas.microsoft.com/office/drawing/2014/main" id="{6036BEE6-3879-1FAE-CDC2-FC5DE719B6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3938" y="1366838"/>
            <a:ext cx="7937" cy="42005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3" name="Straight Connector 33">
            <a:extLst>
              <a:ext uri="{FF2B5EF4-FFF2-40B4-BE49-F238E27FC236}">
                <a16:creationId xmlns:a16="http://schemas.microsoft.com/office/drawing/2014/main" id="{51B86921-7F24-E1C4-071E-34A41BF331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48225" y="3970338"/>
            <a:ext cx="3055938" cy="55245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4" name="Straight Connector 40">
            <a:extLst>
              <a:ext uri="{FF2B5EF4-FFF2-40B4-BE49-F238E27FC236}">
                <a16:creationId xmlns:a16="http://schemas.microsoft.com/office/drawing/2014/main" id="{3682D3DA-AAA1-670C-0850-F63DE426FE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8700" y="2706688"/>
            <a:ext cx="3065463" cy="1106487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5" name="Straight Connector 43">
            <a:extLst>
              <a:ext uri="{FF2B5EF4-FFF2-40B4-BE49-F238E27FC236}">
                <a16:creationId xmlns:a16="http://schemas.microsoft.com/office/drawing/2014/main" id="{7143B221-9D71-3FEE-59BA-D202C26A4A7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0763" y="1600200"/>
            <a:ext cx="2027237" cy="123190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6" name="Oval 20">
            <a:extLst>
              <a:ext uri="{FF2B5EF4-FFF2-40B4-BE49-F238E27FC236}">
                <a16:creationId xmlns:a16="http://schemas.microsoft.com/office/drawing/2014/main" id="{17CFB962-B01B-9116-CACA-184D06CE9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1933575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7" name="Oval 21">
            <a:extLst>
              <a:ext uri="{FF2B5EF4-FFF2-40B4-BE49-F238E27FC236}">
                <a16:creationId xmlns:a16="http://schemas.microsoft.com/office/drawing/2014/main" id="{A8344753-DC81-B653-45C9-3B865CA4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3252788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8" name="Oval 22">
            <a:extLst>
              <a:ext uri="{FF2B5EF4-FFF2-40B4-BE49-F238E27FC236}">
                <a16:creationId xmlns:a16="http://schemas.microsoft.com/office/drawing/2014/main" id="{D51667C8-C2F7-A23A-8765-ACC2215D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4211638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9" name="Oval 8">
            <a:extLst>
              <a:ext uri="{FF2B5EF4-FFF2-40B4-BE49-F238E27FC236}">
                <a16:creationId xmlns:a16="http://schemas.microsoft.com/office/drawing/2014/main" id="{6C5E5E9C-C21A-2A16-A816-7649B6CC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755900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0" name="Oval 18">
            <a:extLst>
              <a:ext uri="{FF2B5EF4-FFF2-40B4-BE49-F238E27FC236}">
                <a16:creationId xmlns:a16="http://schemas.microsoft.com/office/drawing/2014/main" id="{D56CDA6E-9A3C-BA50-55E2-B20592C5C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738563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1" name="Oval 19">
            <a:extLst>
              <a:ext uri="{FF2B5EF4-FFF2-40B4-BE49-F238E27FC236}">
                <a16:creationId xmlns:a16="http://schemas.microsoft.com/office/drawing/2014/main" id="{B0A24A1B-D48B-D97C-C1E0-C20FE34A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4456113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2" name="TextBox 37">
            <a:extLst>
              <a:ext uri="{FF2B5EF4-FFF2-40B4-BE49-F238E27FC236}">
                <a16:creationId xmlns:a16="http://schemas.microsoft.com/office/drawing/2014/main" id="{3E40D6AF-4776-AD04-071F-655052224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55753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21523" name="TextBox 47">
            <a:extLst>
              <a:ext uri="{FF2B5EF4-FFF2-40B4-BE49-F238E27FC236}">
                <a16:creationId xmlns:a16="http://schemas.microsoft.com/office/drawing/2014/main" id="{962302A7-6677-3105-52FD-20E6AD25F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38" y="5575300"/>
            <a:ext cx="568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100</a:t>
            </a:r>
          </a:p>
        </p:txBody>
      </p:sp>
      <p:sp>
        <p:nvSpPr>
          <p:cNvPr id="21524" name="TextBox 48">
            <a:extLst>
              <a:ext uri="{FF2B5EF4-FFF2-40B4-BE49-F238E27FC236}">
                <a16:creationId xmlns:a16="http://schemas.microsoft.com/office/drawing/2014/main" id="{B8954C98-5723-D584-CB9B-64DC533E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-100</a:t>
            </a:r>
          </a:p>
        </p:txBody>
      </p:sp>
      <p:sp>
        <p:nvSpPr>
          <p:cNvPr id="21525" name="Oval 52">
            <a:extLst>
              <a:ext uri="{FF2B5EF4-FFF2-40B4-BE49-F238E27FC236}">
                <a16:creationId xmlns:a16="http://schemas.microsoft.com/office/drawing/2014/main" id="{9A9C5AA9-14FF-B315-FA36-78894D16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5145088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26" name="TextBox 53">
            <a:extLst>
              <a:ext uri="{FF2B5EF4-FFF2-40B4-BE49-F238E27FC236}">
                <a16:creationId xmlns:a16="http://schemas.microsoft.com/office/drawing/2014/main" id="{96A48E2D-A2E1-44A7-4D17-81542D86A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-200</a:t>
            </a:r>
          </a:p>
        </p:txBody>
      </p:sp>
      <p:sp>
        <p:nvSpPr>
          <p:cNvPr id="21527" name="TextBox 54">
            <a:extLst>
              <a:ext uri="{FF2B5EF4-FFF2-40B4-BE49-F238E27FC236}">
                <a16:creationId xmlns:a16="http://schemas.microsoft.com/office/drawing/2014/main" id="{19E7E98C-82E2-714B-D61F-3BB7EB9B0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5326063"/>
            <a:ext cx="1957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Temperature (</a:t>
            </a:r>
            <a:r>
              <a:rPr lang="en-US" altLang="en-US" sz="1800">
                <a:sym typeface="Symbol" panose="05050102010706020507" pitchFamily="18" charset="2"/>
              </a:rPr>
              <a:t></a:t>
            </a:r>
            <a:r>
              <a:rPr lang="en-US" altLang="en-US" sz="1800"/>
              <a:t>C)</a:t>
            </a:r>
          </a:p>
        </p:txBody>
      </p:sp>
      <p:sp>
        <p:nvSpPr>
          <p:cNvPr id="21528" name="TextBox 55">
            <a:extLst>
              <a:ext uri="{FF2B5EF4-FFF2-40B4-BE49-F238E27FC236}">
                <a16:creationId xmlns:a16="http://schemas.microsoft.com/office/drawing/2014/main" id="{0475D8D8-9280-EEC7-DEB7-F53AEEE17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1331913"/>
            <a:ext cx="835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 (</a:t>
            </a:r>
            <a:r>
              <a:rPr lang="en-US" altLang="en-US" sz="1800">
                <a:sym typeface="Symbol" panose="05050102010706020507" pitchFamily="18" charset="2"/>
              </a:rPr>
              <a:t>Pa</a:t>
            </a:r>
            <a:r>
              <a:rPr lang="en-US" altLang="en-US" sz="1800"/>
              <a:t>)</a:t>
            </a:r>
          </a:p>
        </p:txBody>
      </p:sp>
      <p:cxnSp>
        <p:nvCxnSpPr>
          <p:cNvPr id="21529" name="Straight Connector 56">
            <a:extLst>
              <a:ext uri="{FF2B5EF4-FFF2-40B4-BE49-F238E27FC236}">
                <a16:creationId xmlns:a16="http://schemas.microsoft.com/office/drawing/2014/main" id="{928FF643-C1C0-6B62-0626-7BC024B55D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97600" y="5041900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Straight Connector 58">
            <a:extLst>
              <a:ext uri="{FF2B5EF4-FFF2-40B4-BE49-F238E27FC236}">
                <a16:creationId xmlns:a16="http://schemas.microsoft.com/office/drawing/2014/main" id="{F075E86A-6777-FE49-BCAF-09316BE3D3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49638" y="5049838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Straight Connector 59">
            <a:extLst>
              <a:ext uri="{FF2B5EF4-FFF2-40B4-BE49-F238E27FC236}">
                <a16:creationId xmlns:a16="http://schemas.microsoft.com/office/drawing/2014/main" id="{4DCE0796-CA91-CD99-1F5D-F634DAD325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11375" y="5068888"/>
            <a:ext cx="0" cy="3540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65CF5F19-74B1-DF29-DC1A-02D9A9BA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cxnSp>
        <p:nvCxnSpPr>
          <p:cNvPr id="22531" name="Straight Connector 7">
            <a:extLst>
              <a:ext uri="{FF2B5EF4-FFF2-40B4-BE49-F238E27FC236}">
                <a16:creationId xmlns:a16="http://schemas.microsoft.com/office/drawing/2014/main" id="{2CB324AE-A7D0-4831-A62F-86D23B1F4D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0763" y="1600200"/>
            <a:ext cx="0" cy="36337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2" name="Straight Connector 9">
            <a:extLst>
              <a:ext uri="{FF2B5EF4-FFF2-40B4-BE49-F238E27FC236}">
                <a16:creationId xmlns:a16="http://schemas.microsoft.com/office/drawing/2014/main" id="{D6CAA9AF-51BF-F678-4F56-8BF0859680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850" y="5233988"/>
            <a:ext cx="7326313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3" name="Straight Connector 3">
            <a:extLst>
              <a:ext uri="{FF2B5EF4-FFF2-40B4-BE49-F238E27FC236}">
                <a16:creationId xmlns:a16="http://schemas.microsoft.com/office/drawing/2014/main" id="{B725A2BA-3E03-8524-B942-C5D2C6D5305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9000" y="1600200"/>
            <a:ext cx="5969000" cy="3633788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4" name="Straight Connector 11">
            <a:extLst>
              <a:ext uri="{FF2B5EF4-FFF2-40B4-BE49-F238E27FC236}">
                <a16:creationId xmlns:a16="http://schemas.microsoft.com/office/drawing/2014/main" id="{DC0D4FEE-7A16-30E7-F925-2FCDC19B31F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2706688"/>
            <a:ext cx="7002463" cy="2527300"/>
          </a:xfrm>
          <a:prstGeom prst="line">
            <a:avLst/>
          </a:prstGeom>
          <a:noFill/>
          <a:ln w="28575" algn="ctr">
            <a:solidFill>
              <a:srgbClr val="00B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Straight Connector 14">
            <a:extLst>
              <a:ext uri="{FF2B5EF4-FFF2-40B4-BE49-F238E27FC236}">
                <a16:creationId xmlns:a16="http://schemas.microsoft.com/office/drawing/2014/main" id="{53B7025F-FD97-D325-E52A-9427E36128C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3970338"/>
            <a:ext cx="7002463" cy="1263650"/>
          </a:xfrm>
          <a:prstGeom prst="line">
            <a:avLst/>
          </a:prstGeom>
          <a:noFill/>
          <a:ln w="28575" algn="ctr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Straight Connector 27">
            <a:extLst>
              <a:ext uri="{FF2B5EF4-FFF2-40B4-BE49-F238E27FC236}">
                <a16:creationId xmlns:a16="http://schemas.microsoft.com/office/drawing/2014/main" id="{FA2AB7B4-4FE7-5538-89EC-92E3282244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3938" y="1366838"/>
            <a:ext cx="7937" cy="42005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7" name="Straight Connector 33">
            <a:extLst>
              <a:ext uri="{FF2B5EF4-FFF2-40B4-BE49-F238E27FC236}">
                <a16:creationId xmlns:a16="http://schemas.microsoft.com/office/drawing/2014/main" id="{371735ED-3056-ECEA-1EA8-E3E4FF0FDB7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48225" y="3970338"/>
            <a:ext cx="3055938" cy="55245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Straight Connector 40">
            <a:extLst>
              <a:ext uri="{FF2B5EF4-FFF2-40B4-BE49-F238E27FC236}">
                <a16:creationId xmlns:a16="http://schemas.microsoft.com/office/drawing/2014/main" id="{5C5CAE21-2285-694F-AEA0-86B55CA0E2B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8700" y="2706688"/>
            <a:ext cx="3065463" cy="1106487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9" name="Straight Connector 43">
            <a:extLst>
              <a:ext uri="{FF2B5EF4-FFF2-40B4-BE49-F238E27FC236}">
                <a16:creationId xmlns:a16="http://schemas.microsoft.com/office/drawing/2014/main" id="{CA9C4EFE-F951-889F-C90A-97DA9E0863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0763" y="1600200"/>
            <a:ext cx="2027237" cy="123190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0" name="Oval 20">
            <a:extLst>
              <a:ext uri="{FF2B5EF4-FFF2-40B4-BE49-F238E27FC236}">
                <a16:creationId xmlns:a16="http://schemas.microsoft.com/office/drawing/2014/main" id="{6241E33F-2F40-53C1-2027-DA221F0BB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1933575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1" name="Oval 21">
            <a:extLst>
              <a:ext uri="{FF2B5EF4-FFF2-40B4-BE49-F238E27FC236}">
                <a16:creationId xmlns:a16="http://schemas.microsoft.com/office/drawing/2014/main" id="{B74F1270-ECC8-48C3-24A3-D91523D00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3252788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2" name="Oval 22">
            <a:extLst>
              <a:ext uri="{FF2B5EF4-FFF2-40B4-BE49-F238E27FC236}">
                <a16:creationId xmlns:a16="http://schemas.microsoft.com/office/drawing/2014/main" id="{28E086C0-1715-8784-96E3-8146166ED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4211638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3" name="Oval 8">
            <a:extLst>
              <a:ext uri="{FF2B5EF4-FFF2-40B4-BE49-F238E27FC236}">
                <a16:creationId xmlns:a16="http://schemas.microsoft.com/office/drawing/2014/main" id="{B5CA9FD4-16AD-E802-7E36-6462F9B9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755900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4" name="Oval 18">
            <a:extLst>
              <a:ext uri="{FF2B5EF4-FFF2-40B4-BE49-F238E27FC236}">
                <a16:creationId xmlns:a16="http://schemas.microsoft.com/office/drawing/2014/main" id="{9A51C05C-8198-B65F-A57D-73D6B020A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738563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5" name="Oval 19">
            <a:extLst>
              <a:ext uri="{FF2B5EF4-FFF2-40B4-BE49-F238E27FC236}">
                <a16:creationId xmlns:a16="http://schemas.microsoft.com/office/drawing/2014/main" id="{6EE8B522-D985-9771-D0F8-602B546F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4456113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6" name="TextBox 37">
            <a:extLst>
              <a:ext uri="{FF2B5EF4-FFF2-40B4-BE49-F238E27FC236}">
                <a16:creationId xmlns:a16="http://schemas.microsoft.com/office/drawing/2014/main" id="{A136B975-15EC-69E6-E6AA-42831291D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55753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22547" name="TextBox 47">
            <a:extLst>
              <a:ext uri="{FF2B5EF4-FFF2-40B4-BE49-F238E27FC236}">
                <a16:creationId xmlns:a16="http://schemas.microsoft.com/office/drawing/2014/main" id="{4EED5EA8-5387-37FD-848E-AB152B49C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38" y="5575300"/>
            <a:ext cx="568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100</a:t>
            </a:r>
          </a:p>
        </p:txBody>
      </p:sp>
      <p:sp>
        <p:nvSpPr>
          <p:cNvPr id="22548" name="TextBox 48">
            <a:extLst>
              <a:ext uri="{FF2B5EF4-FFF2-40B4-BE49-F238E27FC236}">
                <a16:creationId xmlns:a16="http://schemas.microsoft.com/office/drawing/2014/main" id="{4C21A052-C1A1-6F2B-8F49-861ED67B2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-100</a:t>
            </a:r>
          </a:p>
        </p:txBody>
      </p:sp>
      <p:sp>
        <p:nvSpPr>
          <p:cNvPr id="22549" name="Oval 52">
            <a:extLst>
              <a:ext uri="{FF2B5EF4-FFF2-40B4-BE49-F238E27FC236}">
                <a16:creationId xmlns:a16="http://schemas.microsoft.com/office/drawing/2014/main" id="{0FF2C8B8-79A0-9800-A570-9DFA97668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5145088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50" name="TextBox 53">
            <a:extLst>
              <a:ext uri="{FF2B5EF4-FFF2-40B4-BE49-F238E27FC236}">
                <a16:creationId xmlns:a16="http://schemas.microsoft.com/office/drawing/2014/main" id="{42EF91B4-3650-4F2B-D8B2-B846859A5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-200</a:t>
            </a:r>
          </a:p>
        </p:txBody>
      </p:sp>
      <p:sp>
        <p:nvSpPr>
          <p:cNvPr id="22551" name="TextBox 54">
            <a:extLst>
              <a:ext uri="{FF2B5EF4-FFF2-40B4-BE49-F238E27FC236}">
                <a16:creationId xmlns:a16="http://schemas.microsoft.com/office/drawing/2014/main" id="{C31F674E-FF41-97E2-965A-DCD83F695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5326063"/>
            <a:ext cx="1957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Temperature (</a:t>
            </a:r>
            <a:r>
              <a:rPr lang="en-US" altLang="en-US" sz="1800">
                <a:sym typeface="Symbol" panose="05050102010706020507" pitchFamily="18" charset="2"/>
              </a:rPr>
              <a:t></a:t>
            </a:r>
            <a:r>
              <a:rPr lang="en-US" altLang="en-US" sz="1800"/>
              <a:t>C)</a:t>
            </a:r>
          </a:p>
        </p:txBody>
      </p:sp>
      <p:sp>
        <p:nvSpPr>
          <p:cNvPr id="22552" name="TextBox 55">
            <a:extLst>
              <a:ext uri="{FF2B5EF4-FFF2-40B4-BE49-F238E27FC236}">
                <a16:creationId xmlns:a16="http://schemas.microsoft.com/office/drawing/2014/main" id="{7E8675EF-093B-CC76-4678-7DEEA79BF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1331913"/>
            <a:ext cx="835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 (</a:t>
            </a:r>
            <a:r>
              <a:rPr lang="en-US" altLang="en-US" sz="1800">
                <a:sym typeface="Symbol" panose="05050102010706020507" pitchFamily="18" charset="2"/>
              </a:rPr>
              <a:t>Pa</a:t>
            </a:r>
            <a:r>
              <a:rPr lang="en-US" altLang="en-US" sz="1800"/>
              <a:t>)</a:t>
            </a:r>
          </a:p>
        </p:txBody>
      </p:sp>
      <p:cxnSp>
        <p:nvCxnSpPr>
          <p:cNvPr id="22553" name="Straight Connector 56">
            <a:extLst>
              <a:ext uri="{FF2B5EF4-FFF2-40B4-BE49-F238E27FC236}">
                <a16:creationId xmlns:a16="http://schemas.microsoft.com/office/drawing/2014/main" id="{5F90A4FD-9AEB-7DEA-A6C8-9647C337BF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97600" y="5041900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Straight Connector 58">
            <a:extLst>
              <a:ext uri="{FF2B5EF4-FFF2-40B4-BE49-F238E27FC236}">
                <a16:creationId xmlns:a16="http://schemas.microsoft.com/office/drawing/2014/main" id="{A2190968-7ACF-1D20-0F32-AEA491F3BE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49638" y="5049838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Straight Connector 59">
            <a:extLst>
              <a:ext uri="{FF2B5EF4-FFF2-40B4-BE49-F238E27FC236}">
                <a16:creationId xmlns:a16="http://schemas.microsoft.com/office/drawing/2014/main" id="{43721423-28CE-8B0B-DA5D-A13CDF8093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11375" y="5068888"/>
            <a:ext cx="0" cy="3540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TextBox 1">
            <a:extLst>
              <a:ext uri="{FF2B5EF4-FFF2-40B4-BE49-F238E27FC236}">
                <a16:creationId xmlns:a16="http://schemas.microsoft.com/office/drawing/2014/main" id="{C5190293-AAC8-B17F-2144-32EBA2804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2820988"/>
            <a:ext cx="1370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 = 0 Pa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 = -273</a:t>
            </a:r>
            <a:r>
              <a:rPr lang="en-US" altLang="en-US" sz="1800">
                <a:sym typeface="Symbol" panose="05050102010706020507" pitchFamily="18" charset="2"/>
              </a:rPr>
              <a:t> </a:t>
            </a:r>
            <a:r>
              <a:rPr lang="en-US" altLang="en-US" sz="1800"/>
              <a:t>C</a:t>
            </a:r>
          </a:p>
        </p:txBody>
      </p:sp>
      <p:sp>
        <p:nvSpPr>
          <p:cNvPr id="22557" name="Freeform 4">
            <a:extLst>
              <a:ext uri="{FF2B5EF4-FFF2-40B4-BE49-F238E27FC236}">
                <a16:creationId xmlns:a16="http://schemas.microsoft.com/office/drawing/2014/main" id="{9ADA9580-F659-084A-091D-BC0831FF6A60}"/>
              </a:ext>
            </a:extLst>
          </p:cNvPr>
          <p:cNvSpPr>
            <a:spLocks/>
          </p:cNvSpPr>
          <p:nvPr/>
        </p:nvSpPr>
        <p:spPr bwMode="auto">
          <a:xfrm>
            <a:off x="890588" y="3500438"/>
            <a:ext cx="157162" cy="1516062"/>
          </a:xfrm>
          <a:custGeom>
            <a:avLst/>
            <a:gdLst>
              <a:gd name="T0" fmla="*/ 158183 w 156808"/>
              <a:gd name="T1" fmla="*/ 0 h 1515979"/>
              <a:gd name="T2" fmla="*/ 0 w 156808"/>
              <a:gd name="T3" fmla="*/ 553603 h 1515979"/>
              <a:gd name="T4" fmla="*/ 158183 w 156808"/>
              <a:gd name="T5" fmla="*/ 529535 h 1515979"/>
              <a:gd name="T6" fmla="*/ 36504 w 156808"/>
              <a:gd name="T7" fmla="*/ 1516394 h 15159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6808" h="1515979">
                <a:moveTo>
                  <a:pt x="156410" y="0"/>
                </a:moveTo>
                <a:cubicBezTo>
                  <a:pt x="78205" y="232610"/>
                  <a:pt x="0" y="465221"/>
                  <a:pt x="0" y="553453"/>
                </a:cubicBezTo>
                <a:cubicBezTo>
                  <a:pt x="0" y="641685"/>
                  <a:pt x="150394" y="368969"/>
                  <a:pt x="156410" y="529390"/>
                </a:cubicBezTo>
                <a:cubicBezTo>
                  <a:pt x="162426" y="689811"/>
                  <a:pt x="99260" y="1102895"/>
                  <a:pt x="36095" y="151597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6E29661-3BA5-7D3D-6B21-612007F8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cxnSp>
        <p:nvCxnSpPr>
          <p:cNvPr id="23555" name="Straight Connector 7">
            <a:extLst>
              <a:ext uri="{FF2B5EF4-FFF2-40B4-BE49-F238E27FC236}">
                <a16:creationId xmlns:a16="http://schemas.microsoft.com/office/drawing/2014/main" id="{F2F72BDD-CF26-78AE-4039-1B5B908747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0763" y="1600200"/>
            <a:ext cx="0" cy="36337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6" name="Straight Connector 9">
            <a:extLst>
              <a:ext uri="{FF2B5EF4-FFF2-40B4-BE49-F238E27FC236}">
                <a16:creationId xmlns:a16="http://schemas.microsoft.com/office/drawing/2014/main" id="{84D12743-778A-4D98-6D50-B36C4CFF00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850" y="5233988"/>
            <a:ext cx="7326313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7" name="Straight Connector 3">
            <a:extLst>
              <a:ext uri="{FF2B5EF4-FFF2-40B4-BE49-F238E27FC236}">
                <a16:creationId xmlns:a16="http://schemas.microsoft.com/office/drawing/2014/main" id="{B8E892F2-F4FB-E2C3-6FAB-623EEEA58C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9000" y="1600200"/>
            <a:ext cx="5969000" cy="3633788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8" name="Straight Connector 11">
            <a:extLst>
              <a:ext uri="{FF2B5EF4-FFF2-40B4-BE49-F238E27FC236}">
                <a16:creationId xmlns:a16="http://schemas.microsoft.com/office/drawing/2014/main" id="{C4FEA278-7005-0E9A-6144-01273B5E31A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2706688"/>
            <a:ext cx="7002463" cy="2527300"/>
          </a:xfrm>
          <a:prstGeom prst="line">
            <a:avLst/>
          </a:prstGeom>
          <a:noFill/>
          <a:ln w="28575" algn="ctr">
            <a:solidFill>
              <a:srgbClr val="00B05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9" name="Straight Connector 14">
            <a:extLst>
              <a:ext uri="{FF2B5EF4-FFF2-40B4-BE49-F238E27FC236}">
                <a16:creationId xmlns:a16="http://schemas.microsoft.com/office/drawing/2014/main" id="{E3EE393A-029A-49D8-E4DA-244AAD8636F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1700" y="3970338"/>
            <a:ext cx="7002463" cy="1263650"/>
          </a:xfrm>
          <a:prstGeom prst="line">
            <a:avLst/>
          </a:prstGeom>
          <a:noFill/>
          <a:ln w="28575" algn="ctr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0" name="Straight Connector 27">
            <a:extLst>
              <a:ext uri="{FF2B5EF4-FFF2-40B4-BE49-F238E27FC236}">
                <a16:creationId xmlns:a16="http://schemas.microsoft.com/office/drawing/2014/main" id="{7E9FD3CB-FBB6-7D54-E836-E35819DE90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33938" y="1366838"/>
            <a:ext cx="7937" cy="42005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1" name="Straight Connector 33">
            <a:extLst>
              <a:ext uri="{FF2B5EF4-FFF2-40B4-BE49-F238E27FC236}">
                <a16:creationId xmlns:a16="http://schemas.microsoft.com/office/drawing/2014/main" id="{275CDDF9-5310-CFBF-65CE-1474279C12A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48225" y="3970338"/>
            <a:ext cx="3055938" cy="55245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Straight Connector 40">
            <a:extLst>
              <a:ext uri="{FF2B5EF4-FFF2-40B4-BE49-F238E27FC236}">
                <a16:creationId xmlns:a16="http://schemas.microsoft.com/office/drawing/2014/main" id="{5835FFCC-27C9-FDA6-CB81-178FE7D993A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8700" y="2706688"/>
            <a:ext cx="3065463" cy="1106487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Straight Connector 43">
            <a:extLst>
              <a:ext uri="{FF2B5EF4-FFF2-40B4-BE49-F238E27FC236}">
                <a16:creationId xmlns:a16="http://schemas.microsoft.com/office/drawing/2014/main" id="{9184DEEA-9F97-9932-2444-B0D9BF534DC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0763" y="1600200"/>
            <a:ext cx="2027237" cy="123190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4" name="Oval 20">
            <a:extLst>
              <a:ext uri="{FF2B5EF4-FFF2-40B4-BE49-F238E27FC236}">
                <a16:creationId xmlns:a16="http://schemas.microsoft.com/office/drawing/2014/main" id="{BB62C2BE-F06B-3707-CE35-C5E70FB75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1933575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5" name="Oval 21">
            <a:extLst>
              <a:ext uri="{FF2B5EF4-FFF2-40B4-BE49-F238E27FC236}">
                <a16:creationId xmlns:a16="http://schemas.microsoft.com/office/drawing/2014/main" id="{5BAE17DC-4491-5302-4F4C-AE2D57826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3252788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6" name="Oval 22">
            <a:extLst>
              <a:ext uri="{FF2B5EF4-FFF2-40B4-BE49-F238E27FC236}">
                <a16:creationId xmlns:a16="http://schemas.microsoft.com/office/drawing/2014/main" id="{F1AE61CF-77CB-FEA1-E164-39F4443DB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4211638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7" name="Oval 8">
            <a:extLst>
              <a:ext uri="{FF2B5EF4-FFF2-40B4-BE49-F238E27FC236}">
                <a16:creationId xmlns:a16="http://schemas.microsoft.com/office/drawing/2014/main" id="{63B94841-007B-02B9-D755-C082FD68B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755900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8" name="Oval 18">
            <a:extLst>
              <a:ext uri="{FF2B5EF4-FFF2-40B4-BE49-F238E27FC236}">
                <a16:creationId xmlns:a16="http://schemas.microsoft.com/office/drawing/2014/main" id="{50616CD4-2E6F-CEA6-553A-AC218068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738563"/>
            <a:ext cx="173038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9" name="Oval 19">
            <a:extLst>
              <a:ext uri="{FF2B5EF4-FFF2-40B4-BE49-F238E27FC236}">
                <a16:creationId xmlns:a16="http://schemas.microsoft.com/office/drawing/2014/main" id="{ACE2534A-29E9-DABD-1933-B855AE6AD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4456113"/>
            <a:ext cx="173037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0" name="TextBox 37">
            <a:extLst>
              <a:ext uri="{FF2B5EF4-FFF2-40B4-BE49-F238E27FC236}">
                <a16:creationId xmlns:a16="http://schemas.microsoft.com/office/drawing/2014/main" id="{91458064-1372-76AB-2225-8B8AE9919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55753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23571" name="TextBox 47">
            <a:extLst>
              <a:ext uri="{FF2B5EF4-FFF2-40B4-BE49-F238E27FC236}">
                <a16:creationId xmlns:a16="http://schemas.microsoft.com/office/drawing/2014/main" id="{FBF90824-6535-1B5B-295E-1481B6BF4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38" y="5575300"/>
            <a:ext cx="568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100</a:t>
            </a:r>
          </a:p>
        </p:txBody>
      </p:sp>
      <p:sp>
        <p:nvSpPr>
          <p:cNvPr id="23572" name="TextBox 48">
            <a:extLst>
              <a:ext uri="{FF2B5EF4-FFF2-40B4-BE49-F238E27FC236}">
                <a16:creationId xmlns:a16="http://schemas.microsoft.com/office/drawing/2014/main" id="{00597647-F604-6CCF-AF77-C91BF6359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-100</a:t>
            </a:r>
          </a:p>
        </p:txBody>
      </p:sp>
      <p:sp>
        <p:nvSpPr>
          <p:cNvPr id="23573" name="Oval 52">
            <a:extLst>
              <a:ext uri="{FF2B5EF4-FFF2-40B4-BE49-F238E27FC236}">
                <a16:creationId xmlns:a16="http://schemas.microsoft.com/office/drawing/2014/main" id="{049B9DE3-D4AE-EAB8-C308-3C1F92666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5145088"/>
            <a:ext cx="174625" cy="16827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4" name="TextBox 53">
            <a:extLst>
              <a:ext uri="{FF2B5EF4-FFF2-40B4-BE49-F238E27FC236}">
                <a16:creationId xmlns:a16="http://schemas.microsoft.com/office/drawing/2014/main" id="{947B078A-752F-71C5-F7A4-A1BE0B723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5575300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-200</a:t>
            </a:r>
          </a:p>
        </p:txBody>
      </p:sp>
      <p:sp>
        <p:nvSpPr>
          <p:cNvPr id="23575" name="TextBox 54">
            <a:extLst>
              <a:ext uri="{FF2B5EF4-FFF2-40B4-BE49-F238E27FC236}">
                <a16:creationId xmlns:a16="http://schemas.microsoft.com/office/drawing/2014/main" id="{CCF7155A-0C12-0AD0-4994-9D9A42E08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5326063"/>
            <a:ext cx="1957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Temperature (</a:t>
            </a:r>
            <a:r>
              <a:rPr lang="en-US" altLang="en-US" sz="1800">
                <a:sym typeface="Symbol" panose="05050102010706020507" pitchFamily="18" charset="2"/>
              </a:rPr>
              <a:t></a:t>
            </a:r>
            <a:r>
              <a:rPr lang="en-US" altLang="en-US" sz="1800"/>
              <a:t>C)</a:t>
            </a:r>
          </a:p>
        </p:txBody>
      </p:sp>
      <p:sp>
        <p:nvSpPr>
          <p:cNvPr id="23576" name="TextBox 55">
            <a:extLst>
              <a:ext uri="{FF2B5EF4-FFF2-40B4-BE49-F238E27FC236}">
                <a16:creationId xmlns:a16="http://schemas.microsoft.com/office/drawing/2014/main" id="{37F145F2-719A-3011-2D10-5563283F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1331913"/>
            <a:ext cx="835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 (</a:t>
            </a:r>
            <a:r>
              <a:rPr lang="en-US" altLang="en-US" sz="1800">
                <a:sym typeface="Symbol" panose="05050102010706020507" pitchFamily="18" charset="2"/>
              </a:rPr>
              <a:t>Pa</a:t>
            </a:r>
            <a:r>
              <a:rPr lang="en-US" altLang="en-US" sz="1800"/>
              <a:t>)</a:t>
            </a:r>
          </a:p>
        </p:txBody>
      </p:sp>
      <p:cxnSp>
        <p:nvCxnSpPr>
          <p:cNvPr id="23577" name="Straight Connector 56">
            <a:extLst>
              <a:ext uri="{FF2B5EF4-FFF2-40B4-BE49-F238E27FC236}">
                <a16:creationId xmlns:a16="http://schemas.microsoft.com/office/drawing/2014/main" id="{4E89D5BA-6E6C-D980-FD24-C5733AB1A7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97600" y="5041900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8" name="Straight Connector 58">
            <a:extLst>
              <a:ext uri="{FF2B5EF4-FFF2-40B4-BE49-F238E27FC236}">
                <a16:creationId xmlns:a16="http://schemas.microsoft.com/office/drawing/2014/main" id="{33AC526C-B172-B9C4-0318-EAE2DA863D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49638" y="5049838"/>
            <a:ext cx="0" cy="35242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9" name="Straight Connector 59">
            <a:extLst>
              <a:ext uri="{FF2B5EF4-FFF2-40B4-BE49-F238E27FC236}">
                <a16:creationId xmlns:a16="http://schemas.microsoft.com/office/drawing/2014/main" id="{CE6B13D6-D8FB-FD47-1E88-4CA292EBF3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11375" y="5068888"/>
            <a:ext cx="0" cy="3540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0" name="TextBox 1">
            <a:extLst>
              <a:ext uri="{FF2B5EF4-FFF2-40B4-BE49-F238E27FC236}">
                <a16:creationId xmlns:a16="http://schemas.microsoft.com/office/drawing/2014/main" id="{1D118BC3-06A5-61A5-B9B7-20A5FE6CE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2820988"/>
            <a:ext cx="1098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 = 0 Pa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 = 0</a:t>
            </a:r>
            <a:r>
              <a:rPr lang="en-US" altLang="en-US" sz="1800">
                <a:sym typeface="Symbol" panose="05050102010706020507" pitchFamily="18" charset="2"/>
              </a:rPr>
              <a:t> K</a:t>
            </a:r>
            <a:endParaRPr lang="en-US" altLang="en-US" sz="1800"/>
          </a:p>
        </p:txBody>
      </p:sp>
      <p:sp>
        <p:nvSpPr>
          <p:cNvPr id="23581" name="Freeform 4">
            <a:extLst>
              <a:ext uri="{FF2B5EF4-FFF2-40B4-BE49-F238E27FC236}">
                <a16:creationId xmlns:a16="http://schemas.microsoft.com/office/drawing/2014/main" id="{D268899F-2753-965A-B2BC-5814452DB7A4}"/>
              </a:ext>
            </a:extLst>
          </p:cNvPr>
          <p:cNvSpPr>
            <a:spLocks/>
          </p:cNvSpPr>
          <p:nvPr/>
        </p:nvSpPr>
        <p:spPr bwMode="auto">
          <a:xfrm>
            <a:off x="890588" y="3500438"/>
            <a:ext cx="157162" cy="1516062"/>
          </a:xfrm>
          <a:custGeom>
            <a:avLst/>
            <a:gdLst>
              <a:gd name="T0" fmla="*/ 158183 w 156808"/>
              <a:gd name="T1" fmla="*/ 0 h 1515979"/>
              <a:gd name="T2" fmla="*/ 0 w 156808"/>
              <a:gd name="T3" fmla="*/ 553603 h 1515979"/>
              <a:gd name="T4" fmla="*/ 158183 w 156808"/>
              <a:gd name="T5" fmla="*/ 529535 h 1515979"/>
              <a:gd name="T6" fmla="*/ 36504 w 156808"/>
              <a:gd name="T7" fmla="*/ 1516394 h 15159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6808" h="1515979">
                <a:moveTo>
                  <a:pt x="156410" y="0"/>
                </a:moveTo>
                <a:cubicBezTo>
                  <a:pt x="78205" y="232610"/>
                  <a:pt x="0" y="465221"/>
                  <a:pt x="0" y="553453"/>
                </a:cubicBezTo>
                <a:cubicBezTo>
                  <a:pt x="0" y="641685"/>
                  <a:pt x="150394" y="368969"/>
                  <a:pt x="156410" y="529390"/>
                </a:cubicBezTo>
                <a:cubicBezTo>
                  <a:pt x="162426" y="689811"/>
                  <a:pt x="99260" y="1102895"/>
                  <a:pt x="36095" y="151597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B6809FC-F3A9-2879-000C-785F567D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pSp>
        <p:nvGrpSpPr>
          <p:cNvPr id="24579" name="Group 51">
            <a:extLst>
              <a:ext uri="{FF2B5EF4-FFF2-40B4-BE49-F238E27FC236}">
                <a16:creationId xmlns:a16="http://schemas.microsoft.com/office/drawing/2014/main" id="{8DB5F1BA-30C4-362F-4B86-24D02C8D75A4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1757363"/>
            <a:ext cx="3814763" cy="3930650"/>
            <a:chOff x="4032335" y="2418366"/>
            <a:chExt cx="3814884" cy="3930772"/>
          </a:xfrm>
        </p:grpSpPr>
        <p:grpSp>
          <p:nvGrpSpPr>
            <p:cNvPr id="24580" name="Group 48">
              <a:extLst>
                <a:ext uri="{FF2B5EF4-FFF2-40B4-BE49-F238E27FC236}">
                  <a16:creationId xmlns:a16="http://schemas.microsoft.com/office/drawing/2014/main" id="{80FF7F37-02CA-00E5-24D7-769AE2DA9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097" y="2572256"/>
              <a:ext cx="308819" cy="3587911"/>
              <a:chOff x="4612097" y="2572256"/>
              <a:chExt cx="830180" cy="3587911"/>
            </a:xfrm>
          </p:grpSpPr>
          <p:cxnSp>
            <p:nvCxnSpPr>
              <p:cNvPr id="24603" name="Straight Connector 9">
                <a:extLst>
                  <a:ext uri="{FF2B5EF4-FFF2-40B4-BE49-F238E27FC236}">
                    <a16:creationId xmlns:a16="http://schemas.microsoft.com/office/drawing/2014/main" id="{7C8F3D72-D9B8-BBDA-9787-03DBC66C13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6160167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4" name="Straight Connector 12">
                <a:extLst>
                  <a:ext uri="{FF2B5EF4-FFF2-40B4-BE49-F238E27FC236}">
                    <a16:creationId xmlns:a16="http://schemas.microsoft.com/office/drawing/2014/main" id="{35CC82FA-C064-C5D3-DF88-C7B0BCD422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5759937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5" name="Straight Connector 13">
                <a:extLst>
                  <a:ext uri="{FF2B5EF4-FFF2-40B4-BE49-F238E27FC236}">
                    <a16:creationId xmlns:a16="http://schemas.microsoft.com/office/drawing/2014/main" id="{0FE6023C-54E8-EF96-49E0-B6972E3A287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5364421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6" name="Straight Connector 14">
                <a:extLst>
                  <a:ext uri="{FF2B5EF4-FFF2-40B4-BE49-F238E27FC236}">
                    <a16:creationId xmlns:a16="http://schemas.microsoft.com/office/drawing/2014/main" id="{8E87EC45-8761-FD65-6C12-7EDA8DD057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4964190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7" name="Straight Connector 19">
                <a:extLst>
                  <a:ext uri="{FF2B5EF4-FFF2-40B4-BE49-F238E27FC236}">
                    <a16:creationId xmlns:a16="http://schemas.microsoft.com/office/drawing/2014/main" id="{846EC3CD-E738-D0F6-233D-4A7543EE843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4559264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8" name="Straight Connector 20">
                <a:extLst>
                  <a:ext uri="{FF2B5EF4-FFF2-40B4-BE49-F238E27FC236}">
                    <a16:creationId xmlns:a16="http://schemas.microsoft.com/office/drawing/2014/main" id="{B4C3096F-B58F-3F13-CE3D-A7C22E3A61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4159034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9" name="Straight Connector 21">
                <a:extLst>
                  <a:ext uri="{FF2B5EF4-FFF2-40B4-BE49-F238E27FC236}">
                    <a16:creationId xmlns:a16="http://schemas.microsoft.com/office/drawing/2014/main" id="{7035EA0A-4EA9-FE7E-7C1B-12B4328433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3763518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10" name="Straight Connector 22">
                <a:extLst>
                  <a:ext uri="{FF2B5EF4-FFF2-40B4-BE49-F238E27FC236}">
                    <a16:creationId xmlns:a16="http://schemas.microsoft.com/office/drawing/2014/main" id="{29682E45-8520-E5BB-8C30-4E33FDBE18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3363287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11" name="Straight Connector 23">
                <a:extLst>
                  <a:ext uri="{FF2B5EF4-FFF2-40B4-BE49-F238E27FC236}">
                    <a16:creationId xmlns:a16="http://schemas.microsoft.com/office/drawing/2014/main" id="{4464C4F7-6A64-DE35-394A-BD827C02DD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2972487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12" name="Straight Connector 24">
                <a:extLst>
                  <a:ext uri="{FF2B5EF4-FFF2-40B4-BE49-F238E27FC236}">
                    <a16:creationId xmlns:a16="http://schemas.microsoft.com/office/drawing/2014/main" id="{A0548398-47F5-F7E8-CFCD-AD0C490BAE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12097" y="2572256"/>
                <a:ext cx="83018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4581" name="TextBox 11">
              <a:extLst>
                <a:ext uri="{FF2B5EF4-FFF2-40B4-BE49-F238E27FC236}">
                  <a16:creationId xmlns:a16="http://schemas.microsoft.com/office/drawing/2014/main" id="{51107260-A047-922C-9CFD-5CBB16517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400" y="2418366"/>
              <a:ext cx="52610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9</a:t>
              </a:r>
            </a:p>
          </p:txBody>
        </p:sp>
        <p:sp>
          <p:nvSpPr>
            <p:cNvPr id="24582" name="TextBox 28">
              <a:extLst>
                <a:ext uri="{FF2B5EF4-FFF2-40B4-BE49-F238E27FC236}">
                  <a16:creationId xmlns:a16="http://schemas.microsoft.com/office/drawing/2014/main" id="{2A438061-63A2-8783-8205-F215EB9D9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383" y="2823438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8</a:t>
              </a:r>
            </a:p>
          </p:txBody>
        </p:sp>
        <p:sp>
          <p:nvSpPr>
            <p:cNvPr id="24583" name="TextBox 29">
              <a:extLst>
                <a:ext uri="{FF2B5EF4-FFF2-40B4-BE49-F238E27FC236}">
                  <a16:creationId xmlns:a16="http://schemas.microsoft.com/office/drawing/2014/main" id="{C6E5757D-3F16-3411-1550-B37446713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335" y="3216478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7</a:t>
              </a:r>
            </a:p>
          </p:txBody>
        </p:sp>
        <p:sp>
          <p:nvSpPr>
            <p:cNvPr id="24584" name="TextBox 30">
              <a:extLst>
                <a:ext uri="{FF2B5EF4-FFF2-40B4-BE49-F238E27FC236}">
                  <a16:creationId xmlns:a16="http://schemas.microsoft.com/office/drawing/2014/main" id="{B7B917C9-CD79-C63D-08FD-B9BF07BFF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4367" y="3589470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6</a:t>
              </a:r>
            </a:p>
          </p:txBody>
        </p:sp>
        <p:sp>
          <p:nvSpPr>
            <p:cNvPr id="24585" name="TextBox 31">
              <a:extLst>
                <a:ext uri="{FF2B5EF4-FFF2-40B4-BE49-F238E27FC236}">
                  <a16:creationId xmlns:a16="http://schemas.microsoft.com/office/drawing/2014/main" id="{13FBA1FD-8E67-51D1-E29B-E4B993B0F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383" y="4006574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5</a:t>
              </a:r>
            </a:p>
          </p:txBody>
        </p:sp>
        <p:sp>
          <p:nvSpPr>
            <p:cNvPr id="24586" name="TextBox 32">
              <a:extLst>
                <a:ext uri="{FF2B5EF4-FFF2-40B4-BE49-F238E27FC236}">
                  <a16:creationId xmlns:a16="http://schemas.microsoft.com/office/drawing/2014/main" id="{C9A6F01E-48EC-CBE0-D739-A33C0275E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383" y="4391598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4</a:t>
              </a:r>
            </a:p>
          </p:txBody>
        </p:sp>
        <p:sp>
          <p:nvSpPr>
            <p:cNvPr id="24587" name="TextBox 33">
              <a:extLst>
                <a:ext uri="{FF2B5EF4-FFF2-40B4-BE49-F238E27FC236}">
                  <a16:creationId xmlns:a16="http://schemas.microsoft.com/office/drawing/2014/main" id="{C18D55D1-CB57-59E6-13DD-721E40486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383" y="4812718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3</a:t>
              </a:r>
            </a:p>
          </p:txBody>
        </p:sp>
        <p:sp>
          <p:nvSpPr>
            <p:cNvPr id="24588" name="TextBox 34">
              <a:extLst>
                <a:ext uri="{FF2B5EF4-FFF2-40B4-BE49-F238E27FC236}">
                  <a16:creationId xmlns:a16="http://schemas.microsoft.com/office/drawing/2014/main" id="{E361FF08-CAC2-B0D5-041E-41BAB6DCB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367" y="5193726"/>
              <a:ext cx="5261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r>
                <a:rPr lang="en-US" altLang="en-US" sz="1800" baseline="30000"/>
                <a:t>2</a:t>
              </a:r>
            </a:p>
          </p:txBody>
        </p:sp>
        <p:sp>
          <p:nvSpPr>
            <p:cNvPr id="24589" name="TextBox 35">
              <a:extLst>
                <a:ext uri="{FF2B5EF4-FFF2-40B4-BE49-F238E27FC236}">
                  <a16:creationId xmlns:a16="http://schemas.microsoft.com/office/drawing/2014/main" id="{D274F9EF-6241-D2F8-87BE-6E491985C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735" y="5586766"/>
              <a:ext cx="4411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10</a:t>
              </a:r>
              <a:endParaRPr lang="en-US" altLang="en-US" sz="1800" baseline="30000"/>
            </a:p>
          </p:txBody>
        </p:sp>
        <p:sp>
          <p:nvSpPr>
            <p:cNvPr id="24590" name="TextBox 36">
              <a:extLst>
                <a:ext uri="{FF2B5EF4-FFF2-40B4-BE49-F238E27FC236}">
                  <a16:creationId xmlns:a16="http://schemas.microsoft.com/office/drawing/2014/main" id="{E918DC22-E85B-649D-10CC-2CBBACB66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063" y="5979806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</a:t>
              </a:r>
              <a:endParaRPr lang="en-US" altLang="en-US" sz="1800" baseline="30000"/>
            </a:p>
          </p:txBody>
        </p:sp>
        <p:sp>
          <p:nvSpPr>
            <p:cNvPr id="24591" name="TextBox 40">
              <a:extLst>
                <a:ext uri="{FF2B5EF4-FFF2-40B4-BE49-F238E27FC236}">
                  <a16:creationId xmlns:a16="http://schemas.microsoft.com/office/drawing/2014/main" id="{20518123-5B68-23D1-D99A-C88E91916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805" y="3172536"/>
              <a:ext cx="15055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Solar Interior</a:t>
              </a:r>
            </a:p>
          </p:txBody>
        </p:sp>
        <p:sp>
          <p:nvSpPr>
            <p:cNvPr id="24592" name="TextBox 42">
              <a:extLst>
                <a:ext uri="{FF2B5EF4-FFF2-40B4-BE49-F238E27FC236}">
                  <a16:creationId xmlns:a16="http://schemas.microsoft.com/office/drawing/2014/main" id="{E9D1CDAE-2482-F903-859A-D7997D5EB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7492" y="4564232"/>
              <a:ext cx="17027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Solar “surface”</a:t>
              </a:r>
            </a:p>
          </p:txBody>
        </p:sp>
        <p:sp>
          <p:nvSpPr>
            <p:cNvPr id="24593" name="TextBox 43">
              <a:extLst>
                <a:ext uri="{FF2B5EF4-FFF2-40B4-BE49-F238E27FC236}">
                  <a16:creationId xmlns:a16="http://schemas.microsoft.com/office/drawing/2014/main" id="{E4C22C1B-9E01-008C-1DF5-9C2B2F7DD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116" y="4788824"/>
              <a:ext cx="233910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Copper Melting Point</a:t>
              </a:r>
            </a:p>
          </p:txBody>
        </p:sp>
        <p:sp>
          <p:nvSpPr>
            <p:cNvPr id="24594" name="TextBox 44">
              <a:extLst>
                <a:ext uri="{FF2B5EF4-FFF2-40B4-BE49-F238E27FC236}">
                  <a16:creationId xmlns:a16="http://schemas.microsoft.com/office/drawing/2014/main" id="{301C7530-C109-5AE1-88C5-F4F2E1EB5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198" y="5097640"/>
              <a:ext cx="16893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Water Freezes</a:t>
              </a:r>
            </a:p>
          </p:txBody>
        </p:sp>
        <p:sp>
          <p:nvSpPr>
            <p:cNvPr id="24595" name="TextBox 45">
              <a:extLst>
                <a:ext uri="{FF2B5EF4-FFF2-40B4-BE49-F238E27FC236}">
                  <a16:creationId xmlns:a16="http://schemas.microsoft.com/office/drawing/2014/main" id="{D07EB873-7B02-5347-6C15-B6CCF584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0653" y="5382392"/>
              <a:ext cx="17363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Liquid Nitrogen</a:t>
              </a:r>
            </a:p>
          </p:txBody>
        </p:sp>
        <p:sp>
          <p:nvSpPr>
            <p:cNvPr id="24596" name="TextBox 46">
              <a:extLst>
                <a:ext uri="{FF2B5EF4-FFF2-40B4-BE49-F238E27FC236}">
                  <a16:creationId xmlns:a16="http://schemas.microsoft.com/office/drawing/2014/main" id="{E996A1CC-87D9-A239-A1A1-955BD4BC8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9358" y="5907784"/>
              <a:ext cx="15824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Liquid Helium</a:t>
              </a:r>
            </a:p>
          </p:txBody>
        </p:sp>
        <p:cxnSp>
          <p:nvCxnSpPr>
            <p:cNvPr id="24597" name="Straight Arrow Connector 50">
              <a:extLst>
                <a:ext uri="{FF2B5EF4-FFF2-40B4-BE49-F238E27FC236}">
                  <a16:creationId xmlns:a16="http://schemas.microsoft.com/office/drawing/2014/main" id="{78BB6118-2E9A-5DC7-9054-AB4A8A6D14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3373080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8" name="Straight Arrow Connector 52">
              <a:extLst>
                <a:ext uri="{FF2B5EF4-FFF2-40B4-BE49-F238E27FC236}">
                  <a16:creationId xmlns:a16="http://schemas.microsoft.com/office/drawing/2014/main" id="{387A37E0-AC17-158E-51D7-1B6D4E0A7A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4752744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9" name="Straight Arrow Connector 53">
              <a:extLst>
                <a:ext uri="{FF2B5EF4-FFF2-40B4-BE49-F238E27FC236}">
                  <a16:creationId xmlns:a16="http://schemas.microsoft.com/office/drawing/2014/main" id="{8D276436-C334-C645-3478-A5427B4F2F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4977336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0" name="Straight Arrow Connector 54">
              <a:extLst>
                <a:ext uri="{FF2B5EF4-FFF2-40B4-BE49-F238E27FC236}">
                  <a16:creationId xmlns:a16="http://schemas.microsoft.com/office/drawing/2014/main" id="{36237A2C-DEAC-0967-74B2-BFC481E46F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5310216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1" name="Straight Arrow Connector 55">
              <a:extLst>
                <a:ext uri="{FF2B5EF4-FFF2-40B4-BE49-F238E27FC236}">
                  <a16:creationId xmlns:a16="http://schemas.microsoft.com/office/drawing/2014/main" id="{FA9DBA3D-4D65-6FA9-EDB1-8B4AF5FEC9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5558872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2" name="Straight Arrow Connector 56">
              <a:extLst>
                <a:ext uri="{FF2B5EF4-FFF2-40B4-BE49-F238E27FC236}">
                  <a16:creationId xmlns:a16="http://schemas.microsoft.com/office/drawing/2014/main" id="{13EA3838-2772-D183-5016-0F5389C0AE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13401" y="6096296"/>
              <a:ext cx="397042" cy="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5C95-BA51-4AA4-8DBF-1D4034B9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820AF-5DE7-42DE-977B-CE87B0A8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E3C4A-9B18-410A-B60F-309A332F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838200"/>
            <a:ext cx="8493939" cy="510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C10EA-00B5-4648-9CCD-AE413FFBC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19400"/>
            <a:ext cx="1431900" cy="171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44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" y="228600"/>
          <a:ext cx="8991600" cy="625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4163259318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3885287205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Average </a:t>
                      </a:r>
                      <a:r>
                        <a:rPr lang="el-GR" sz="3600" dirty="0"/>
                        <a:t>α(</a:t>
                      </a:r>
                      <a:r>
                        <a:rPr lang="en-US" sz="3600" dirty="0"/>
                        <a:t>K⁻¹)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63436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25×10⁻⁶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86252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17×10⁻⁶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34527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14×10⁻⁶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85715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29×10⁻⁶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2729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Brass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18.7×10⁻⁶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1467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11×10⁻⁶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17402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9×10⁻⁶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18938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12×10⁻⁶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53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39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6946"/>
            <a:ext cx="7086600" cy="269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130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3602-45DB-3F4A-3C7D-25648EF4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C15A-51FB-68D4-5B82-B9C119E3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C89719-6BD7-6278-29C6-EA4AF39F4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559" y="1417638"/>
            <a:ext cx="5100882" cy="312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091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799"/>
            <a:ext cx="6172200" cy="4948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8839200" cy="6843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A43CD-C55B-FBB2-EB2C-AD25E1B8A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0A1AA8-5F73-517B-B2A0-B4632FA51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8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701</Words>
  <Application>Microsoft Office PowerPoint</Application>
  <PresentationFormat>On-screen Show (4:3)</PresentationFormat>
  <Paragraphs>196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Arial</vt:lpstr>
      <vt:lpstr>Arial Black</vt:lpstr>
      <vt:lpstr>Calibri</vt:lpstr>
      <vt:lpstr>Cambria Math</vt:lpstr>
      <vt:lpstr>Symbol</vt:lpstr>
      <vt:lpstr>Office Theme</vt:lpstr>
      <vt:lpstr>Equation</vt:lpstr>
      <vt:lpstr>Lecture 28</vt:lpstr>
      <vt:lpstr>Thermodynamics</vt:lpstr>
      <vt:lpstr>Question 123.7.4</vt:lpstr>
      <vt:lpstr>Thermal Contact Defined</vt:lpstr>
      <vt:lpstr>Thermal Contact Defined</vt:lpstr>
      <vt:lpstr>Question 123.8.1</vt:lpstr>
      <vt:lpstr>Question 123.8.2</vt:lpstr>
      <vt:lpstr>Question 123.8.2.5</vt:lpstr>
      <vt:lpstr>Question 123.8.3</vt:lpstr>
      <vt:lpstr>Question 123.8.4</vt:lpstr>
      <vt:lpstr>Question 123.8.5</vt:lpstr>
      <vt:lpstr>Question 123.8.6</vt:lpstr>
      <vt:lpstr>Question 123.8.7</vt:lpstr>
      <vt:lpstr>Question 123.8.8</vt:lpstr>
      <vt:lpstr>Question 123.8.9</vt:lpstr>
      <vt:lpstr>Question 123.8.10</vt:lpstr>
      <vt:lpstr>Question 123.8.10.2</vt:lpstr>
      <vt:lpstr>PowerPoint Presentation</vt:lpstr>
      <vt:lpstr>Temperature from the Zeroth Law</vt:lpstr>
      <vt:lpstr>Question 123.8.10.3</vt:lpstr>
      <vt:lpstr>Question 123.8.10.4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Todd Lines</cp:lastModifiedBy>
  <cp:revision>9</cp:revision>
  <dcterms:created xsi:type="dcterms:W3CDTF">2011-10-09T01:31:08Z</dcterms:created>
  <dcterms:modified xsi:type="dcterms:W3CDTF">2026-08-26T21:41:57Z</dcterms:modified>
</cp:coreProperties>
</file>