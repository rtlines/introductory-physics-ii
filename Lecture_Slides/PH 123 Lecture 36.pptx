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84" r:id="rId3"/>
    <p:sldId id="485" r:id="rId4"/>
    <p:sldId id="341" r:id="rId5"/>
    <p:sldId id="487" r:id="rId6"/>
    <p:sldId id="486" r:id="rId7"/>
    <p:sldId id="488" r:id="rId8"/>
    <p:sldId id="489" r:id="rId9"/>
    <p:sldId id="490" r:id="rId10"/>
    <p:sldId id="265" r:id="rId11"/>
    <p:sldId id="285" r:id="rId12"/>
    <p:sldId id="340" r:id="rId13"/>
    <p:sldId id="283" r:id="rId14"/>
    <p:sldId id="306" r:id="rId15"/>
    <p:sldId id="307" r:id="rId16"/>
    <p:sldId id="308" r:id="rId17"/>
    <p:sldId id="25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A8F3B3-0951-41A8-9538-BC546DF3340D}" v="1" dt="2026-01-22T22:05:22.8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85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addSld modSld">
      <pc:chgData name="Lines, Todd" userId="afaf7c3a-e8aa-4568-882a-02ad8f9e19b0" providerId="ADAL" clId="{5FF5AC1B-ABA9-43D7-A1E3-2D92732CD6E2}" dt="2026-01-22T22:05:22.797" v="0"/>
      <pc:docMkLst>
        <pc:docMk/>
      </pc:docMkLst>
      <pc:sldChg chg="add">
        <pc:chgData name="Lines, Todd" userId="afaf7c3a-e8aa-4568-882a-02ad8f9e19b0" providerId="ADAL" clId="{5FF5AC1B-ABA9-43D7-A1E3-2D92732CD6E2}" dt="2026-01-22T22:05:22.797" v="0"/>
        <pc:sldMkLst>
          <pc:docMk/>
          <pc:sldMk cId="1247448808" sldId="306"/>
        </pc:sldMkLst>
      </pc:sldChg>
      <pc:sldChg chg="add">
        <pc:chgData name="Lines, Todd" userId="afaf7c3a-e8aa-4568-882a-02ad8f9e19b0" providerId="ADAL" clId="{5FF5AC1B-ABA9-43D7-A1E3-2D92732CD6E2}" dt="2026-01-22T22:05:22.797" v="0"/>
        <pc:sldMkLst>
          <pc:docMk/>
          <pc:sldMk cId="4168904192" sldId="307"/>
        </pc:sldMkLst>
      </pc:sldChg>
      <pc:sldChg chg="add">
        <pc:chgData name="Lines, Todd" userId="afaf7c3a-e8aa-4568-882a-02ad8f9e19b0" providerId="ADAL" clId="{5FF5AC1B-ABA9-43D7-A1E3-2D92732CD6E2}" dt="2026-01-22T22:05:22.797" v="0"/>
        <pc:sldMkLst>
          <pc:docMk/>
          <pc:sldMk cId="1325716157" sldId="30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0A238-A1F3-A736-B7EC-976384423A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144D96-A55B-A928-FA20-63E4A8CA49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C9AC2-2E41-F679-20F6-61FA3E575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EFFD9-63A4-95F1-7134-DCBFD68D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4F844-2BD9-532B-E4D1-3F33DCB32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010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3EC93-FCFF-CFDD-4100-D50E0A805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215F6-2099-A6FE-C0D9-206B3A538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6C8F4-48C8-E15D-8AB5-925B3112D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E466C-D372-8FCB-0A16-17B2B4CB3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481E8-CC91-3401-9362-9280BD974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763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E9C1-979D-710B-4456-AAA0751A1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E0728-76C2-C078-38CA-8A55CB8E1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8BA47-CD34-1443-A6D8-14A086847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987B6-8B03-4F14-C2E1-305804B18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4784F-CAF1-FD20-5F39-86CEB2E0B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206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05969-8546-5A5D-98E8-A16D6293F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B9A55-5216-D38F-557F-FA1954B8B6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609F8-4D12-CDAF-3FD6-F79D7A487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C9E50-828D-A311-F58C-B827C34C1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BB2294-7B60-7C60-25EF-1C902882A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177C3-1298-0EF5-1901-06C9852C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56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8BCB8-D1E4-9777-0011-01FDACDB4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FEE2C2-764D-75DD-24B9-73235857A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7F8EC7-720F-0895-8799-E66C5E3A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4C5139-AC0A-1140-F5E3-2C82F79763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821314-BC77-19B8-7A01-CD1372834F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B9B0E5-1504-5143-AF1B-473511F7F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4D180-29BC-C360-E2B0-D84A10E1C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27357-D394-8720-E19D-AE9DC0293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255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55D9F-0697-CCB7-3FEF-3509CB62B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E8CFCF-3273-D533-141B-912368B99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DD8AB2-6BC1-9F0A-B51F-E0F1B74DD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61C1E7-17C5-8427-D5EA-B37DA81BE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271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4D47E2-8AE0-57D9-5984-4766A9B48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ED9473-9F3D-858F-C6FD-B85F97C97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F62CB-139D-7620-ED42-BC92C36E5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46A62-85E3-AB9D-747C-304B08BE0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2B5E5-09CA-9B76-386D-31BE81B9E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10C0A9-3DB9-19E8-1253-052B3383BC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6731DE-A839-8BB8-651B-4A21E4F47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45950-5766-5EB3-3B8B-828778F07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F05604-BE60-FAFD-8FF8-5F1A34290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365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FA40F-6F03-C9AF-67D8-ABD1A6D8A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5420F2-8849-F0DE-77D0-DAB4E47068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A1F36-4666-8317-F4DF-A0BDE3B83B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D72E8E-CC8E-F008-00C2-766D03A89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C2C65-7674-57C7-14F0-20B552C56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EBA09-DB23-74C5-4B72-46560157C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346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19FD8-1E16-3358-4807-3F350F3EA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AFB8B-13D3-C527-D52A-C0707B477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0F7BA-E6CB-DA75-18B2-FC121253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42CC7-E532-A24A-7C49-43B9C14EF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C6A87-E964-9DFC-DB96-0BEEA57AC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217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935719-5A12-AE6C-AC40-EA037C32D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5BB5AC-DF35-267D-56A8-A3393CB56E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F54E9-849D-5C3D-C92C-E1CAA4C5E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C9AF2-12A9-85C9-AF49-F06B243E6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8DE94-282E-31B2-D26E-001B0F004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981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24461D-50F6-CB64-1395-874A57780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182433-F1E4-65F2-0F57-8DE47C7B3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47706-E194-0E23-E386-CB12C837BA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14FE54-3E4B-43AC-AC6A-78E009FC7A62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406C9-AD06-DC4D-3F26-D8C29CCE9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2DD70-A68A-28AE-68ED-BF50481DB0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148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F5993-F601-E2E9-268C-C8A5F1C288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020D93-E313-3C42-F245-7695576BCB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685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F43ACF25-DEF1-F1E0-E112-C04FCEC49A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123.11.4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25E6F564-0ACC-BFA0-5D1C-098F0645008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You put a gas in a cylinder with a piston through a process that changes the temperature. </a:t>
            </a:r>
            <a:r>
              <a:rPr lang="en-US" altLang="en-US"/>
              <a:t>Can Q = 0</a:t>
            </a:r>
            <a:r>
              <a:rPr lang="en-US" altLang="en-US" dirty="0"/>
              <a:t>?</a:t>
            </a:r>
          </a:p>
          <a:p>
            <a:pPr>
              <a:buFontTx/>
              <a:buAutoNum type="alphaLcParenR"/>
            </a:pPr>
            <a:r>
              <a:rPr lang="en-US" altLang="en-US" dirty="0"/>
              <a:t>Yes, if it is the right process</a:t>
            </a:r>
          </a:p>
          <a:p>
            <a:pPr>
              <a:buFontTx/>
              <a:buAutoNum type="alphaLcParenR"/>
            </a:pPr>
            <a:r>
              <a:rPr lang="en-US" altLang="en-US" dirty="0"/>
              <a:t>No</a:t>
            </a:r>
          </a:p>
          <a:p>
            <a:pPr>
              <a:buFontTx/>
              <a:buAutoNum type="alphaLcParenR"/>
            </a:pPr>
            <a:r>
              <a:rPr lang="en-US" altLang="en-US" dirty="0"/>
              <a:t>Maybe</a:t>
            </a:r>
          </a:p>
        </p:txBody>
      </p:sp>
      <p:sp>
        <p:nvSpPr>
          <p:cNvPr id="35844" name="Slide Number Placeholder 3">
            <a:extLst>
              <a:ext uri="{FF2B5EF4-FFF2-40B4-BE49-F238E27FC236}">
                <a16:creationId xmlns:a16="http://schemas.microsoft.com/office/drawing/2014/main" id="{57E8B4B4-1F76-2700-68DE-DCC42345C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DC6CAC7-B115-4CA8-825E-3F1ADFC365D7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2</a:t>
            </a:fld>
            <a:endParaRPr lang="en-US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5F1B2-C636-F26E-1AE6-A14E36C7B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E5D43F17-A7AA-2648-7985-50828A29E9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123.11.4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0880A836-F3E8-694F-BE88-C7B0C83B837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We can have a process where Q = 0? What do we call that process?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</p:txBody>
      </p:sp>
      <p:sp>
        <p:nvSpPr>
          <p:cNvPr id="35844" name="Slide Number Placeholder 3">
            <a:extLst>
              <a:ext uri="{FF2B5EF4-FFF2-40B4-BE49-F238E27FC236}">
                <a16:creationId xmlns:a16="http://schemas.microsoft.com/office/drawing/2014/main" id="{1F23F20B-1AE1-D064-E6B6-EA8701D98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DC6CAC7-B115-4CA8-825E-3F1ADFC365D7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3</a:t>
            </a:fld>
            <a:endParaRPr lang="en-US" altLang="en-US" sz="1800"/>
          </a:p>
        </p:txBody>
      </p:sp>
    </p:spTree>
    <p:extLst>
      <p:ext uri="{BB962C8B-B14F-4D97-AF65-F5344CB8AC3E}">
        <p14:creationId xmlns:p14="http://schemas.microsoft.com/office/powerpoint/2010/main" val="3842804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E9C3FC7-9DC0-D72B-55CE-8DD1D7DE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772" y="809625"/>
            <a:ext cx="7224827" cy="4793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862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10E40-E486-E84C-682C-6002987BB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537D8D-6AC6-1433-021B-54F0CF486F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For an adiabatic path, how does P depend on V?</a:t>
                </a:r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𝑛𝑅𝑇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den>
                    </m:f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𝑛𝑅𝑇</m:t>
                        </m:r>
                      </m:den>
                    </m:f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sup>
                        </m:sSup>
                      </m:den>
                    </m:f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P is a constant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537D8D-6AC6-1433-021B-54F0CF486F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63333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CBB96-8612-AF3D-29E1-BC5BEC309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E903580-2AB8-B212-8019-F97B758FE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772" y="809625"/>
            <a:ext cx="7224827" cy="4793170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FC79ABE-F59B-9F93-9EFF-8D33E3DC38ED}"/>
              </a:ext>
            </a:extLst>
          </p:cNvPr>
          <p:cNvCxnSpPr>
            <a:cxnSpLocks/>
          </p:cNvCxnSpPr>
          <p:nvPr/>
        </p:nvCxnSpPr>
        <p:spPr>
          <a:xfrm>
            <a:off x="5892800" y="3429000"/>
            <a:ext cx="203200" cy="210127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5067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6703A-134E-E542-D780-AF3EE16C5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82AB9-9123-611E-824E-4DB8A8649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64307E-3582-259B-6FFF-E34800D936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Which of the following is true?</a:t>
                </a:r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p>
                            </m:sSup>
                          </m:e>
                        </m:func>
                      </m:e>
                    </m:func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𝑎𝑏</m:t>
                            </m:r>
                          </m:e>
                        </m:func>
                      </m:e>
                    </m:func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h𝑜𝑢𝑠𝑒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𝑐𝑎𝑏𝑖𝑛</m:t>
                        </m:r>
                      </m:e>
                    </m:func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I don’t remember anything about log functions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64307E-3582-259B-6FFF-E34800D936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9341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32002-FF55-F810-0DAE-FAE499C32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605CA-880A-29C8-6C74-7E7688FE4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I add two constants, is the result still constant?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Maybe</a:t>
            </a:r>
          </a:p>
        </p:txBody>
      </p:sp>
    </p:spTree>
    <p:extLst>
      <p:ext uri="{BB962C8B-B14F-4D97-AF65-F5344CB8AC3E}">
        <p14:creationId xmlns:p14="http://schemas.microsoft.com/office/powerpoint/2010/main" val="2851887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05A08-BBAD-733F-9214-FFCA080F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BFD40-4C1B-BCE6-1015-757E5ACBD3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do we like conservation laws in physics?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They tell us how the universe works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They make everything easy to understand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They make solving problems easier</a:t>
            </a:r>
          </a:p>
        </p:txBody>
      </p:sp>
    </p:spTree>
    <p:extLst>
      <p:ext uri="{BB962C8B-B14F-4D97-AF65-F5344CB8AC3E}">
        <p14:creationId xmlns:p14="http://schemas.microsoft.com/office/powerpoint/2010/main" val="33788142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642082"/>
            <a:ext cx="8650174" cy="5758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62801" y="1828800"/>
            <a:ext cx="1869243" cy="182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2743201" y="3519488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2743201" y="1676401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" name="Line 6"/>
          <p:cNvSpPr>
            <a:spLocks noChangeShapeType="1"/>
          </p:cNvSpPr>
          <p:nvPr/>
        </p:nvSpPr>
        <p:spPr bwMode="auto">
          <a:xfrm>
            <a:off x="2728913" y="3533775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7" name="Text Box 7"/>
          <p:cNvSpPr txBox="1">
            <a:spLocks noChangeArrowheads="1"/>
          </p:cNvSpPr>
          <p:nvPr/>
        </p:nvSpPr>
        <p:spPr bwMode="auto">
          <a:xfrm>
            <a:off x="3438525" y="2147888"/>
            <a:ext cx="11366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Vacuum</a:t>
            </a:r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2619376" y="2954338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9" name="Line 9"/>
          <p:cNvSpPr>
            <a:spLocks noChangeShapeType="1"/>
          </p:cNvSpPr>
          <p:nvPr/>
        </p:nvSpPr>
        <p:spPr bwMode="auto">
          <a:xfrm flipH="1">
            <a:off x="3367087" y="3243263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6629401" y="1676401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" name="Line 6"/>
          <p:cNvSpPr>
            <a:spLocks noChangeShapeType="1"/>
          </p:cNvSpPr>
          <p:nvPr/>
        </p:nvSpPr>
        <p:spPr bwMode="auto">
          <a:xfrm>
            <a:off x="6615113" y="3533775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6505576" y="2954338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15" name="Line 9"/>
          <p:cNvSpPr>
            <a:spLocks noChangeShapeType="1"/>
          </p:cNvSpPr>
          <p:nvPr/>
        </p:nvSpPr>
        <p:spPr bwMode="auto">
          <a:xfrm flipH="1">
            <a:off x="7253287" y="3243263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Rectangle 2"/>
          <p:cNvSpPr>
            <a:spLocks noChangeArrowheads="1"/>
          </p:cNvSpPr>
          <p:nvPr/>
        </p:nvSpPr>
        <p:spPr bwMode="auto">
          <a:xfrm>
            <a:off x="6629401" y="3519488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82000" y="3505200"/>
            <a:ext cx="152400" cy="76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533401"/>
            <a:ext cx="5181600" cy="52523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2812B8D-E844-4807-B20D-B92C141DEBC2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183299" name="Rectangle 2"/>
          <p:cNvSpPr>
            <a:spLocks noChangeArrowheads="1"/>
          </p:cNvSpPr>
          <p:nvPr/>
        </p:nvSpPr>
        <p:spPr bwMode="auto">
          <a:xfrm>
            <a:off x="7402514" y="3657601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183300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123.10.7</a:t>
            </a:r>
            <a:endParaRPr lang="en-US" dirty="0"/>
          </a:p>
        </p:txBody>
      </p:sp>
      <p:sp>
        <p:nvSpPr>
          <p:cNvPr id="183301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1981201" y="1600201"/>
            <a:ext cx="3978275" cy="4525963"/>
          </a:xfrm>
        </p:spPr>
        <p:txBody>
          <a:bodyPr/>
          <a:lstStyle/>
          <a:p>
            <a:pPr marL="609600" indent="-609600">
              <a:lnSpc>
                <a:spcPct val="80000"/>
              </a:lnSpc>
              <a:buNone/>
            </a:pPr>
            <a:r>
              <a:rPr lang="en-US"/>
              <a:t>The initial state of a system is shown, if the membrane is broken, the gas fills the entire container. Is there work done by the gas in filling the container?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Yes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No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183302" name="Rectangle 5"/>
          <p:cNvSpPr>
            <a:spLocks noChangeArrowheads="1"/>
          </p:cNvSpPr>
          <p:nvPr/>
        </p:nvSpPr>
        <p:spPr bwMode="auto">
          <a:xfrm>
            <a:off x="7402514" y="1814514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3303" name="Line 6"/>
          <p:cNvSpPr>
            <a:spLocks noChangeShapeType="1"/>
          </p:cNvSpPr>
          <p:nvPr/>
        </p:nvSpPr>
        <p:spPr bwMode="auto">
          <a:xfrm>
            <a:off x="7388226" y="3671888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3304" name="Text Box 7"/>
          <p:cNvSpPr txBox="1">
            <a:spLocks noChangeArrowheads="1"/>
          </p:cNvSpPr>
          <p:nvPr/>
        </p:nvSpPr>
        <p:spPr bwMode="auto">
          <a:xfrm>
            <a:off x="8097838" y="2286001"/>
            <a:ext cx="11366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Vacuum</a:t>
            </a:r>
          </a:p>
        </p:txBody>
      </p:sp>
      <p:sp>
        <p:nvSpPr>
          <p:cNvPr id="183305" name="Text Box 8"/>
          <p:cNvSpPr txBox="1">
            <a:spLocks noChangeArrowheads="1"/>
          </p:cNvSpPr>
          <p:nvPr/>
        </p:nvSpPr>
        <p:spPr bwMode="auto">
          <a:xfrm>
            <a:off x="7278689" y="3092451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183306" name="Line 9"/>
          <p:cNvSpPr>
            <a:spLocks noChangeShapeType="1"/>
          </p:cNvSpPr>
          <p:nvPr/>
        </p:nvSpPr>
        <p:spPr bwMode="auto">
          <a:xfrm flipH="1">
            <a:off x="8026400" y="3381376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1888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ylinder 3">
            <a:extLst>
              <a:ext uri="{FF2B5EF4-FFF2-40B4-BE49-F238E27FC236}">
                <a16:creationId xmlns:a16="http://schemas.microsoft.com/office/drawing/2014/main" id="{C7CEA9B5-10E1-0690-20A5-E941D70EF6CE}"/>
              </a:ext>
            </a:extLst>
          </p:cNvPr>
          <p:cNvSpPr/>
          <p:nvPr/>
        </p:nvSpPr>
        <p:spPr>
          <a:xfrm rot="16200000">
            <a:off x="5327904" y="329184"/>
            <a:ext cx="932688" cy="4681728"/>
          </a:xfrm>
          <a:prstGeom prst="can">
            <a:avLst>
              <a:gd name="adj" fmla="val 52451"/>
            </a:avLst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ylinder 4">
            <a:extLst>
              <a:ext uri="{FF2B5EF4-FFF2-40B4-BE49-F238E27FC236}">
                <a16:creationId xmlns:a16="http://schemas.microsoft.com/office/drawing/2014/main" id="{0117D1E6-05E3-328B-3F36-AFC8B477D456}"/>
              </a:ext>
            </a:extLst>
          </p:cNvPr>
          <p:cNvSpPr/>
          <p:nvPr/>
        </p:nvSpPr>
        <p:spPr>
          <a:xfrm rot="16200000">
            <a:off x="5353812" y="1754125"/>
            <a:ext cx="932688" cy="1831848"/>
          </a:xfrm>
          <a:prstGeom prst="can">
            <a:avLst>
              <a:gd name="adj" fmla="val 52451"/>
            </a:avLst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B82AD0-A576-E02B-3403-FC95165C25E7}"/>
              </a:ext>
            </a:extLst>
          </p:cNvPr>
          <p:cNvSpPr txBox="1"/>
          <p:nvPr/>
        </p:nvSpPr>
        <p:spPr>
          <a:xfrm>
            <a:off x="4992262" y="248538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ACF803B-B61B-F4CF-3CBB-0086E5811D65}"/>
              </a:ext>
            </a:extLst>
          </p:cNvPr>
          <p:cNvCxnSpPr/>
          <p:nvPr/>
        </p:nvCxnSpPr>
        <p:spPr>
          <a:xfrm flipV="1">
            <a:off x="5151120" y="1618488"/>
            <a:ext cx="0" cy="52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3595B2-A95D-A8D4-51D7-931603F86545}"/>
              </a:ext>
            </a:extLst>
          </p:cNvPr>
          <p:cNvCxnSpPr/>
          <p:nvPr/>
        </p:nvCxnSpPr>
        <p:spPr>
          <a:xfrm flipV="1">
            <a:off x="6556248" y="1618488"/>
            <a:ext cx="0" cy="52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1A9A135-2042-0657-03DA-4F1D50813C6D}"/>
              </a:ext>
            </a:extLst>
          </p:cNvPr>
          <p:cNvCxnSpPr/>
          <p:nvPr/>
        </p:nvCxnSpPr>
        <p:spPr>
          <a:xfrm>
            <a:off x="5151120" y="1879092"/>
            <a:ext cx="139293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3C3B7EB-4075-93A1-F1D5-130146D4AB9C}"/>
              </a:ext>
            </a:extLst>
          </p:cNvPr>
          <p:cNvSpPr txBox="1"/>
          <p:nvPr/>
        </p:nvSpPr>
        <p:spPr>
          <a:xfrm>
            <a:off x="5738796" y="1694426"/>
            <a:ext cx="42511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</a:t>
            </a:r>
            <a:r>
              <a:rPr lang="en-US" dirty="0"/>
              <a:t>x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8877B15-2AAF-441A-8BB6-E91D4626B716}"/>
              </a:ext>
            </a:extLst>
          </p:cNvPr>
          <p:cNvSpPr/>
          <p:nvPr/>
        </p:nvSpPr>
        <p:spPr>
          <a:xfrm>
            <a:off x="6251089" y="2203703"/>
            <a:ext cx="487680" cy="932689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9525"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C8CB2D2C-A259-ACC4-DFDD-B2C86AA527A1}"/>
              </a:ext>
            </a:extLst>
          </p:cNvPr>
          <p:cNvSpPr/>
          <p:nvPr/>
        </p:nvSpPr>
        <p:spPr>
          <a:xfrm>
            <a:off x="6248040" y="2203704"/>
            <a:ext cx="487680" cy="932689"/>
          </a:xfrm>
          <a:prstGeom prst="arc">
            <a:avLst>
              <a:gd name="adj1" fmla="val 16200000"/>
              <a:gd name="adj2" fmla="val 523665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FA60F47-8906-0C8E-78DA-8CF2FFEB52BC}"/>
              </a:ext>
            </a:extLst>
          </p:cNvPr>
          <p:cNvSpPr/>
          <p:nvPr/>
        </p:nvSpPr>
        <p:spPr>
          <a:xfrm>
            <a:off x="7647432" y="2203703"/>
            <a:ext cx="487680" cy="93268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D2453E8-F171-5CE9-7C13-324E3A854047}"/>
              </a:ext>
            </a:extLst>
          </p:cNvPr>
          <p:cNvCxnSpPr>
            <a:cxnSpLocks/>
          </p:cNvCxnSpPr>
          <p:nvPr/>
        </p:nvCxnSpPr>
        <p:spPr>
          <a:xfrm>
            <a:off x="6824472" y="2670046"/>
            <a:ext cx="551688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2FD0FCE-7FAC-FFE3-03DC-DD75ECB7FD13}"/>
              </a:ext>
            </a:extLst>
          </p:cNvPr>
          <p:cNvSpPr txBox="1"/>
          <p:nvPr/>
        </p:nvSpPr>
        <p:spPr>
          <a:xfrm>
            <a:off x="6892398" y="2300713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</a:t>
            </a:r>
          </a:p>
        </p:txBody>
      </p:sp>
    </p:spTree>
    <p:extLst>
      <p:ext uri="{BB962C8B-B14F-4D97-AF65-F5344CB8AC3E}">
        <p14:creationId xmlns:p14="http://schemas.microsoft.com/office/powerpoint/2010/main" val="12474488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9B3595E-FFD0-BA39-FCC8-3F4E86448FCA}"/>
              </a:ext>
            </a:extLst>
          </p:cNvPr>
          <p:cNvSpPr/>
          <p:nvPr/>
        </p:nvSpPr>
        <p:spPr>
          <a:xfrm>
            <a:off x="2182368" y="1243584"/>
            <a:ext cx="7488936" cy="31912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be 3">
            <a:extLst>
              <a:ext uri="{FF2B5EF4-FFF2-40B4-BE49-F238E27FC236}">
                <a16:creationId xmlns:a16="http://schemas.microsoft.com/office/drawing/2014/main" id="{6FF530C8-B8D8-CF2D-9FC9-D3F61AFF3C1E}"/>
              </a:ext>
            </a:extLst>
          </p:cNvPr>
          <p:cNvSpPr/>
          <p:nvPr/>
        </p:nvSpPr>
        <p:spPr>
          <a:xfrm>
            <a:off x="4568952" y="1911096"/>
            <a:ext cx="2212848" cy="1517904"/>
          </a:xfrm>
          <a:prstGeom prst="cub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B800A5-898B-76A1-23F2-09ED707F8D43}"/>
              </a:ext>
            </a:extLst>
          </p:cNvPr>
          <p:cNvSpPr txBox="1"/>
          <p:nvPr/>
        </p:nvSpPr>
        <p:spPr>
          <a:xfrm>
            <a:off x="2612136" y="2105275"/>
            <a:ext cx="1647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Sound Wave In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3B41E67-32F0-8666-BCC8-E8CBDD178FD5}"/>
              </a:ext>
            </a:extLst>
          </p:cNvPr>
          <p:cNvCxnSpPr>
            <a:cxnSpLocks/>
          </p:cNvCxnSpPr>
          <p:nvPr/>
        </p:nvCxnSpPr>
        <p:spPr>
          <a:xfrm>
            <a:off x="2815800" y="2794599"/>
            <a:ext cx="1380744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F6F487-2D99-7F36-5867-097A34B08853}"/>
              </a:ext>
            </a:extLst>
          </p:cNvPr>
          <p:cNvCxnSpPr>
            <a:cxnSpLocks/>
          </p:cNvCxnSpPr>
          <p:nvPr/>
        </p:nvCxnSpPr>
        <p:spPr>
          <a:xfrm>
            <a:off x="7000098" y="2794599"/>
            <a:ext cx="1380744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2652880-E3BA-1526-C57B-FAF4325E25A5}"/>
                  </a:ext>
                </a:extLst>
              </p:cNvPr>
              <p:cNvSpPr txBox="1"/>
              <p:nvPr/>
            </p:nvSpPr>
            <p:spPr>
              <a:xfrm>
                <a:off x="2612136" y="2996028"/>
                <a:ext cx="13161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ym typeface="Symbol" panose="05050102010706020507" pitchFamily="18" charset="2"/>
                  </a:rPr>
                  <a:t>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𝑖𝑛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𝑖𝑛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𝑖𝑛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2652880-E3BA-1526-C57B-FAF4325E25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2136" y="2996028"/>
                <a:ext cx="1316130" cy="369332"/>
              </a:xfrm>
              <a:prstGeom prst="rect">
                <a:avLst/>
              </a:prstGeom>
              <a:blipFill>
                <a:blip r:embed="rId2"/>
                <a:stretch>
                  <a:fillRect l="-4186" t="-11475" b="-213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29EBA03-A8F7-8263-C359-5DE180645ECE}"/>
                  </a:ext>
                </a:extLst>
              </p:cNvPr>
              <p:cNvSpPr txBox="1"/>
              <p:nvPr/>
            </p:nvSpPr>
            <p:spPr>
              <a:xfrm>
                <a:off x="7000098" y="2996028"/>
                <a:ext cx="1662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ym typeface="Symbol" panose="05050102010706020507" pitchFamily="18" charset="2"/>
                  </a:rPr>
                  <a:t>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𝑜𝑢𝑡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𝑜𝑢𝑡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𝑜𝑢𝑡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29EBA03-A8F7-8263-C359-5DE180645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0098" y="2996028"/>
                <a:ext cx="1662378" cy="369332"/>
              </a:xfrm>
              <a:prstGeom prst="rect">
                <a:avLst/>
              </a:prstGeom>
              <a:blipFill>
                <a:blip r:embed="rId3"/>
                <a:stretch>
                  <a:fillRect l="-2930" t="-11475" b="-213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C7E8B9-6AB3-FFE6-52BA-931BFBB171E9}"/>
              </a:ext>
            </a:extLst>
          </p:cNvPr>
          <p:cNvCxnSpPr>
            <a:cxnSpLocks/>
          </p:cNvCxnSpPr>
          <p:nvPr/>
        </p:nvCxnSpPr>
        <p:spPr>
          <a:xfrm>
            <a:off x="4943856" y="1911096"/>
            <a:ext cx="0" cy="114552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8EA8E0F-34FE-7F7D-0D65-F49892AABB9A}"/>
              </a:ext>
            </a:extLst>
          </p:cNvPr>
          <p:cNvCxnSpPr>
            <a:cxnSpLocks/>
          </p:cNvCxnSpPr>
          <p:nvPr/>
        </p:nvCxnSpPr>
        <p:spPr>
          <a:xfrm flipH="1">
            <a:off x="4943856" y="3044428"/>
            <a:ext cx="183794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539441F-EAA9-837A-93F1-CCFB58048557}"/>
              </a:ext>
            </a:extLst>
          </p:cNvPr>
          <p:cNvCxnSpPr>
            <a:cxnSpLocks/>
          </p:cNvCxnSpPr>
          <p:nvPr/>
        </p:nvCxnSpPr>
        <p:spPr>
          <a:xfrm flipH="1">
            <a:off x="4568952" y="3056620"/>
            <a:ext cx="374904" cy="369332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0529782-63D2-9A27-B18E-5660AC840788}"/>
              </a:ext>
            </a:extLst>
          </p:cNvPr>
          <p:cNvSpPr txBox="1"/>
          <p:nvPr/>
        </p:nvSpPr>
        <p:spPr>
          <a:xfrm>
            <a:off x="6464084" y="2560748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403000-451C-72F1-9B6E-1F8C53CF126C}"/>
              </a:ext>
            </a:extLst>
          </p:cNvPr>
          <p:cNvSpPr txBox="1"/>
          <p:nvPr/>
        </p:nvSpPr>
        <p:spPr>
          <a:xfrm>
            <a:off x="7000098" y="2105275"/>
            <a:ext cx="1833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Sound Wave Out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5EF259-62C8-1D0A-772E-A1AD883B08CB}"/>
              </a:ext>
            </a:extLst>
          </p:cNvPr>
          <p:cNvSpPr txBox="1"/>
          <p:nvPr/>
        </p:nvSpPr>
        <p:spPr>
          <a:xfrm>
            <a:off x="4962144" y="3543348"/>
            <a:ext cx="1366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Parcel of Air</a:t>
            </a:r>
          </a:p>
        </p:txBody>
      </p:sp>
    </p:spTree>
    <p:extLst>
      <p:ext uri="{BB962C8B-B14F-4D97-AF65-F5344CB8AC3E}">
        <p14:creationId xmlns:p14="http://schemas.microsoft.com/office/powerpoint/2010/main" val="41689041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86AD2-BCB5-92CD-EE00-289A1BFC3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D3BE6317-D1B2-E0D8-8603-E3F69B778159}"/>
              </a:ext>
            </a:extLst>
          </p:cNvPr>
          <p:cNvSpPr/>
          <p:nvPr/>
        </p:nvSpPr>
        <p:spPr>
          <a:xfrm>
            <a:off x="2250948" y="1198971"/>
            <a:ext cx="7488936" cy="31912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</a:p>
        </p:txBody>
      </p:sp>
      <p:sp>
        <p:nvSpPr>
          <p:cNvPr id="4" name="Cube 3">
            <a:extLst>
              <a:ext uri="{FF2B5EF4-FFF2-40B4-BE49-F238E27FC236}">
                <a16:creationId xmlns:a16="http://schemas.microsoft.com/office/drawing/2014/main" id="{59DFCA99-EC97-278E-AAE4-8423188FEC52}"/>
              </a:ext>
            </a:extLst>
          </p:cNvPr>
          <p:cNvSpPr/>
          <p:nvPr/>
        </p:nvSpPr>
        <p:spPr>
          <a:xfrm>
            <a:off x="4568952" y="1911096"/>
            <a:ext cx="2212848" cy="1517904"/>
          </a:xfrm>
          <a:prstGeom prst="cub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27D5FB6-7D29-746E-1F5E-AED189F8769D}"/>
              </a:ext>
            </a:extLst>
          </p:cNvPr>
          <p:cNvCxnSpPr>
            <a:cxnSpLocks/>
          </p:cNvCxnSpPr>
          <p:nvPr/>
        </p:nvCxnSpPr>
        <p:spPr>
          <a:xfrm>
            <a:off x="3828288" y="2794599"/>
            <a:ext cx="740664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0D5F3AA-D694-FAB8-ECD5-256D6B66F29F}"/>
              </a:ext>
            </a:extLst>
          </p:cNvPr>
          <p:cNvCxnSpPr>
            <a:cxnSpLocks/>
          </p:cNvCxnSpPr>
          <p:nvPr/>
        </p:nvCxnSpPr>
        <p:spPr>
          <a:xfrm flipH="1">
            <a:off x="6515466" y="2767595"/>
            <a:ext cx="933846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D8C1748-0B21-B782-ECD1-80EC5F45D008}"/>
              </a:ext>
            </a:extLst>
          </p:cNvPr>
          <p:cNvCxnSpPr>
            <a:cxnSpLocks/>
          </p:cNvCxnSpPr>
          <p:nvPr/>
        </p:nvCxnSpPr>
        <p:spPr>
          <a:xfrm>
            <a:off x="4943856" y="1911096"/>
            <a:ext cx="0" cy="114552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92FC43E-3A3D-E256-5BC7-DD648457C115}"/>
              </a:ext>
            </a:extLst>
          </p:cNvPr>
          <p:cNvCxnSpPr>
            <a:cxnSpLocks/>
          </p:cNvCxnSpPr>
          <p:nvPr/>
        </p:nvCxnSpPr>
        <p:spPr>
          <a:xfrm flipH="1">
            <a:off x="4943856" y="3044428"/>
            <a:ext cx="183794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4ED8DB1-4EFA-B861-6ABD-DA0779AE5525}"/>
              </a:ext>
            </a:extLst>
          </p:cNvPr>
          <p:cNvCxnSpPr>
            <a:cxnSpLocks/>
          </p:cNvCxnSpPr>
          <p:nvPr/>
        </p:nvCxnSpPr>
        <p:spPr>
          <a:xfrm flipH="1">
            <a:off x="4568952" y="3056620"/>
            <a:ext cx="374904" cy="369332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B312B2C5-1958-7B69-85F4-8FF656F6F56E}"/>
              </a:ext>
            </a:extLst>
          </p:cNvPr>
          <p:cNvCxnSpPr/>
          <p:nvPr/>
        </p:nvCxnSpPr>
        <p:spPr>
          <a:xfrm flipV="1">
            <a:off x="4943856" y="1325880"/>
            <a:ext cx="0" cy="52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7B02CF7-E812-19A8-4B11-D7076EC55086}"/>
              </a:ext>
            </a:extLst>
          </p:cNvPr>
          <p:cNvCxnSpPr/>
          <p:nvPr/>
        </p:nvCxnSpPr>
        <p:spPr>
          <a:xfrm flipV="1">
            <a:off x="4568952" y="1725168"/>
            <a:ext cx="0" cy="52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D26FF9B-056F-AE83-B094-016B369BD14B}"/>
              </a:ext>
            </a:extLst>
          </p:cNvPr>
          <p:cNvCxnSpPr>
            <a:cxnSpLocks/>
          </p:cNvCxnSpPr>
          <p:nvPr/>
        </p:nvCxnSpPr>
        <p:spPr>
          <a:xfrm flipV="1">
            <a:off x="4568952" y="1581330"/>
            <a:ext cx="374904" cy="38010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D173A3B-5D3E-FBEA-F0A4-1FC55D0B6085}"/>
              </a:ext>
            </a:extLst>
          </p:cNvPr>
          <p:cNvSpPr txBox="1"/>
          <p:nvPr/>
        </p:nvSpPr>
        <p:spPr>
          <a:xfrm>
            <a:off x="4495879" y="1296389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ym typeface="Symbol" panose="05050102010706020507" pitchFamily="18" charset="2"/>
              </a:rPr>
              <a:t>d</a:t>
            </a:r>
            <a:r>
              <a:rPr lang="en-US" dirty="0" err="1"/>
              <a:t>z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CE21D82-5BB2-7B20-4B76-32D44A3F31D6}"/>
              </a:ext>
            </a:extLst>
          </p:cNvPr>
          <p:cNvCxnSpPr/>
          <p:nvPr/>
        </p:nvCxnSpPr>
        <p:spPr>
          <a:xfrm flipV="1">
            <a:off x="4568952" y="3520702"/>
            <a:ext cx="0" cy="52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D11ADD0-C44A-A4CF-B328-B85E48DB8A42}"/>
              </a:ext>
            </a:extLst>
          </p:cNvPr>
          <p:cNvCxnSpPr/>
          <p:nvPr/>
        </p:nvCxnSpPr>
        <p:spPr>
          <a:xfrm flipV="1">
            <a:off x="6385560" y="3444764"/>
            <a:ext cx="0" cy="52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76D556B-E548-114E-10DA-CE5E435BBBB1}"/>
              </a:ext>
            </a:extLst>
          </p:cNvPr>
          <p:cNvCxnSpPr>
            <a:cxnSpLocks/>
          </p:cNvCxnSpPr>
          <p:nvPr/>
        </p:nvCxnSpPr>
        <p:spPr>
          <a:xfrm>
            <a:off x="4568952" y="3781306"/>
            <a:ext cx="178765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6BD8E51-928B-6538-9DE3-75C3BE796E18}"/>
              </a:ext>
            </a:extLst>
          </p:cNvPr>
          <p:cNvSpPr txBox="1"/>
          <p:nvPr/>
        </p:nvSpPr>
        <p:spPr>
          <a:xfrm>
            <a:off x="5264698" y="3596640"/>
            <a:ext cx="41710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d</a:t>
            </a:r>
            <a:r>
              <a:rPr lang="en-US" dirty="0"/>
              <a:t>x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6912471-0A70-708E-897C-E86A10876C71}"/>
              </a:ext>
            </a:extLst>
          </p:cNvPr>
          <p:cNvCxnSpPr>
            <a:cxnSpLocks/>
          </p:cNvCxnSpPr>
          <p:nvPr/>
        </p:nvCxnSpPr>
        <p:spPr>
          <a:xfrm flipH="1">
            <a:off x="4105735" y="2316480"/>
            <a:ext cx="4084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16C13D7-78AB-6F8F-5255-33E8C51B6E3D}"/>
              </a:ext>
            </a:extLst>
          </p:cNvPr>
          <p:cNvCxnSpPr>
            <a:cxnSpLocks/>
          </p:cNvCxnSpPr>
          <p:nvPr/>
        </p:nvCxnSpPr>
        <p:spPr>
          <a:xfrm flipH="1">
            <a:off x="4111831" y="3429000"/>
            <a:ext cx="4084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64582FE-08BD-FCC6-657F-10BBC29128F9}"/>
              </a:ext>
            </a:extLst>
          </p:cNvPr>
          <p:cNvCxnSpPr>
            <a:cxnSpLocks/>
          </p:cNvCxnSpPr>
          <p:nvPr/>
        </p:nvCxnSpPr>
        <p:spPr>
          <a:xfrm flipV="1">
            <a:off x="4308348" y="2316480"/>
            <a:ext cx="0" cy="11021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7BE651B-D294-EA86-5F53-24780C613604}"/>
              </a:ext>
            </a:extLst>
          </p:cNvPr>
          <p:cNvSpPr txBox="1"/>
          <p:nvPr/>
        </p:nvSpPr>
        <p:spPr>
          <a:xfrm>
            <a:off x="4111515" y="2923460"/>
            <a:ext cx="41870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ym typeface="Symbol" panose="05050102010706020507" pitchFamily="18" charset="2"/>
              </a:rPr>
              <a:t>dy</a:t>
            </a:r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9DC9B8-FE62-186B-4C4B-54EDA73AA9B5}"/>
              </a:ext>
            </a:extLst>
          </p:cNvPr>
          <p:cNvSpPr txBox="1"/>
          <p:nvPr/>
        </p:nvSpPr>
        <p:spPr>
          <a:xfrm>
            <a:off x="3383618" y="2549236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P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2A560B1-56B2-9197-9B9F-10AA18A1D6A5}"/>
              </a:ext>
            </a:extLst>
          </p:cNvPr>
          <p:cNvSpPr txBox="1"/>
          <p:nvPr/>
        </p:nvSpPr>
        <p:spPr>
          <a:xfrm>
            <a:off x="7529090" y="2536210"/>
            <a:ext cx="8787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solidFill>
                  <a:srgbClr val="00B050"/>
                </a:solidFill>
              </a:rPr>
              <a:t>P+dP</a:t>
            </a:r>
            <a:endParaRPr lang="en-US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57161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E2971-ABB3-3665-9E07-6648A45C5E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D541E2D-86A8-F412-3392-CC7332FB94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625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247</Words>
  <Application>Microsoft Office PowerPoint</Application>
  <PresentationFormat>Widescreen</PresentationFormat>
  <Paragraphs>66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Symbol</vt:lpstr>
      <vt:lpstr>Office Theme</vt:lpstr>
      <vt:lpstr>Lecture 36</vt:lpstr>
      <vt:lpstr>Question 123.11.4</vt:lpstr>
      <vt:lpstr>Question 123.11.4</vt:lpstr>
      <vt:lpstr>PowerPoint Presentation</vt:lpstr>
      <vt:lpstr>Question</vt:lpstr>
      <vt:lpstr>PowerPoint Presentation</vt:lpstr>
      <vt:lpstr>Question</vt:lpstr>
      <vt:lpstr>Question</vt:lpstr>
      <vt:lpstr>Question</vt:lpstr>
      <vt:lpstr>PowerPoint Presentation</vt:lpstr>
      <vt:lpstr>PowerPoint Presentation</vt:lpstr>
      <vt:lpstr>PowerPoint Presentation</vt:lpstr>
      <vt:lpstr>Question 123.10.7</vt:lpstr>
      <vt:lpstr>PowerPoint Presentation</vt:lpstr>
      <vt:lpstr>PowerPoint Presentation</vt:lpstr>
      <vt:lpstr>PowerPoint Presentation</vt:lpstr>
      <vt:lpstr>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Lines, Todd</cp:lastModifiedBy>
  <cp:revision>1</cp:revision>
  <dcterms:created xsi:type="dcterms:W3CDTF">2025-07-03T22:42:33Z</dcterms:created>
  <dcterms:modified xsi:type="dcterms:W3CDTF">2026-01-22T22:05:25Z</dcterms:modified>
</cp:coreProperties>
</file>