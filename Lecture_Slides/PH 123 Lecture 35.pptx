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81" r:id="rId2"/>
    <p:sldId id="485" r:id="rId3"/>
    <p:sldId id="483" r:id="rId4"/>
    <p:sldId id="482" r:id="rId5"/>
    <p:sldId id="465" r:id="rId6"/>
    <p:sldId id="480" r:id="rId7"/>
    <p:sldId id="481" r:id="rId8"/>
    <p:sldId id="474" r:id="rId9"/>
    <p:sldId id="284" r:id="rId10"/>
    <p:sldId id="467" r:id="rId11"/>
    <p:sldId id="466" r:id="rId12"/>
    <p:sldId id="476" r:id="rId13"/>
    <p:sldId id="475" r:id="rId14"/>
    <p:sldId id="468" r:id="rId15"/>
    <p:sldId id="469" r:id="rId16"/>
    <p:sldId id="477" r:id="rId17"/>
    <p:sldId id="470" r:id="rId18"/>
    <p:sldId id="471" r:id="rId19"/>
    <p:sldId id="478" r:id="rId20"/>
    <p:sldId id="472" r:id="rId21"/>
    <p:sldId id="479" r:id="rId22"/>
    <p:sldId id="473" r:id="rId23"/>
    <p:sldId id="484" r:id="rId24"/>
    <p:sldId id="282" r:id="rId25"/>
    <p:sldId id="256" r:id="rId26"/>
    <p:sldId id="257" r:id="rId27"/>
    <p:sldId id="258" r:id="rId28"/>
    <p:sldId id="259" r:id="rId29"/>
    <p:sldId id="260" r:id="rId30"/>
    <p:sldId id="261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9" r:id="rId39"/>
    <p:sldId id="280" r:id="rId40"/>
    <p:sldId id="267" r:id="rId41"/>
    <p:sldId id="269" r:id="rId42"/>
    <p:sldId id="268" r:id="rId43"/>
    <p:sldId id="262" r:id="rId44"/>
    <p:sldId id="263" r:id="rId45"/>
    <p:sldId id="264" r:id="rId46"/>
    <p:sldId id="265" r:id="rId47"/>
    <p:sldId id="266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B77558-8216-4B44-BA84-D4E5472E7BA5}" v="3" dt="2026-03-27T17:11:35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154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es, Todd" userId="afaf7c3a-e8aa-4568-882a-02ad8f9e19b0" providerId="ADAL" clId="{5FF5AC1B-ABA9-43D7-A1E3-2D92732CD6E2}"/>
    <pc:docChg chg="custSel modSld">
      <pc:chgData name="Lines, Todd" userId="afaf7c3a-e8aa-4568-882a-02ad8f9e19b0" providerId="ADAL" clId="{5FF5AC1B-ABA9-43D7-A1E3-2D92732CD6E2}" dt="2026-04-06T18:16:04.981" v="37" actId="20577"/>
      <pc:docMkLst>
        <pc:docMk/>
      </pc:docMkLst>
      <pc:sldChg chg="delSp modSp mod">
        <pc:chgData name="Lines, Todd" userId="afaf7c3a-e8aa-4568-882a-02ad8f9e19b0" providerId="ADAL" clId="{5FF5AC1B-ABA9-43D7-A1E3-2D92732CD6E2}" dt="2026-03-27T17:11:39.022" v="6" actId="21"/>
        <pc:sldMkLst>
          <pc:docMk/>
          <pc:sldMk cId="975446107" sldId="466"/>
        </pc:sldMkLst>
      </pc:sldChg>
      <pc:sldChg chg="addSp delSp modSp mod">
        <pc:chgData name="Lines, Todd" userId="afaf7c3a-e8aa-4568-882a-02ad8f9e19b0" providerId="ADAL" clId="{5FF5AC1B-ABA9-43D7-A1E3-2D92732CD6E2}" dt="2026-03-27T17:11:16.865" v="4" actId="21"/>
        <pc:sldMkLst>
          <pc:docMk/>
          <pc:sldMk cId="3225564050" sldId="467"/>
        </pc:sldMkLst>
        <pc:cxnChg chg="add mod">
          <ac:chgData name="Lines, Todd" userId="afaf7c3a-e8aa-4568-882a-02ad8f9e19b0" providerId="ADAL" clId="{5FF5AC1B-ABA9-43D7-A1E3-2D92732CD6E2}" dt="2026-03-27T17:10:56.316" v="1" actId="1076"/>
          <ac:cxnSpMkLst>
            <pc:docMk/>
            <pc:sldMk cId="3225564050" sldId="467"/>
            <ac:cxnSpMk id="2" creationId="{534048EF-BCD1-8FD4-F157-9933F29C4079}"/>
          </ac:cxnSpMkLst>
        </pc:cxnChg>
        <pc:cxnChg chg="add mod">
          <ac:chgData name="Lines, Todd" userId="afaf7c3a-e8aa-4568-882a-02ad8f9e19b0" providerId="ADAL" clId="{5FF5AC1B-ABA9-43D7-A1E3-2D92732CD6E2}" dt="2026-03-27T17:11:01.240" v="2" actId="14100"/>
          <ac:cxnSpMkLst>
            <pc:docMk/>
            <pc:sldMk cId="3225564050" sldId="467"/>
            <ac:cxnSpMk id="3" creationId="{0216E21E-2912-1332-6E5F-46E529E61FA8}"/>
          </ac:cxnSpMkLst>
        </pc:cxnChg>
      </pc:sldChg>
      <pc:sldChg chg="modSp mod">
        <pc:chgData name="Lines, Todd" userId="afaf7c3a-e8aa-4568-882a-02ad8f9e19b0" providerId="ADAL" clId="{5FF5AC1B-ABA9-43D7-A1E3-2D92732CD6E2}" dt="2026-04-06T18:16:04.981" v="37" actId="20577"/>
        <pc:sldMkLst>
          <pc:docMk/>
          <pc:sldMk cId="0" sldId="481"/>
        </pc:sldMkLst>
        <pc:spChg chg="mod">
          <ac:chgData name="Lines, Todd" userId="afaf7c3a-e8aa-4568-882a-02ad8f9e19b0" providerId="ADAL" clId="{5FF5AC1B-ABA9-43D7-A1E3-2D92732CD6E2}" dt="2026-04-06T18:16:04.981" v="37" actId="20577"/>
          <ac:spMkLst>
            <pc:docMk/>
            <pc:sldMk cId="0" sldId="481"/>
            <ac:spMk id="30723" creationId="{BFD3E110-E51C-752A-979B-B4EEE4BBF8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53586-FF55-42A0-B419-AF2ACE7CF08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65AF27-32A6-4D2B-8C54-2780EFC37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04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5AF27-32A6-4D2B-8C54-2780EFC37AB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9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4AAD-F2F7-440E-A41C-6B3FA172D4A3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317B-EAB0-47B8-B28D-6D69CD63B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4AAD-F2F7-440E-A41C-6B3FA172D4A3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317B-EAB0-47B8-B28D-6D69CD63B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4AAD-F2F7-440E-A41C-6B3FA172D4A3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317B-EAB0-47B8-B28D-6D69CD63B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4AAD-F2F7-440E-A41C-6B3FA172D4A3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317B-EAB0-47B8-B28D-6D69CD63B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4AAD-F2F7-440E-A41C-6B3FA172D4A3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317B-EAB0-47B8-B28D-6D69CD63B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4AAD-F2F7-440E-A41C-6B3FA172D4A3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317B-EAB0-47B8-B28D-6D69CD63B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4AAD-F2F7-440E-A41C-6B3FA172D4A3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317B-EAB0-47B8-B28D-6D69CD63B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4AAD-F2F7-440E-A41C-6B3FA172D4A3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317B-EAB0-47B8-B28D-6D69CD63B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4AAD-F2F7-440E-A41C-6B3FA172D4A3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317B-EAB0-47B8-B28D-6D69CD63B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4AAD-F2F7-440E-A41C-6B3FA172D4A3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317B-EAB0-47B8-B28D-6D69CD63B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4AAD-F2F7-440E-A41C-6B3FA172D4A3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317B-EAB0-47B8-B28D-6D69CD63B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84AAD-F2F7-440E-A41C-6B3FA172D4A3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6317B-EAB0-47B8-B28D-6D69CD63B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6B6F5-A6EB-37BB-85A9-10085F3A30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35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18106-E341-A28A-91F0-00360CF4F7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75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A4BD83C5-81EE-152C-FD29-C1D4F5CC0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F5D545-BF0B-49DD-909A-BCF13FDF15EB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8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966ECDB1-A4DC-562A-1853-2983CD5B5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 123.11.5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DAABCBB7-A059-A233-6F41-51139C8CF2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en-US"/>
              <a:t>Which quantity is independent of path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Q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</a:t>
            </a:r>
            <a:r>
              <a:rPr lang="en-US" altLang="en-US"/>
              <a:t>E</a:t>
            </a:r>
            <a:r>
              <a:rPr lang="en-US" altLang="en-US" baseline="-25000"/>
              <a:t>int </a:t>
            </a:r>
            <a:endParaRPr lang="en-US" altLang="en-US"/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W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/>
              <a:t>Can’t tell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8708F3D8-B515-9867-E589-EFBB3B3B6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123.11.2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9252E4EE-7586-CBA2-4336-5504B67044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You use Joule’s paddle apparatus to raise the temperature of a fluid. Is any heat involved?</a:t>
            </a:r>
          </a:p>
          <a:p>
            <a:pPr>
              <a:buFontTx/>
              <a:buAutoNum type="alphaLcParenR"/>
            </a:pPr>
            <a:r>
              <a:rPr lang="en-US" altLang="en-US"/>
              <a:t>Yes</a:t>
            </a:r>
          </a:p>
          <a:p>
            <a:pPr>
              <a:buFontTx/>
              <a:buAutoNum type="alphaLcParenR"/>
            </a:pPr>
            <a:r>
              <a:rPr lang="en-US" altLang="en-US"/>
              <a:t>No</a:t>
            </a:r>
          </a:p>
          <a:p>
            <a:pPr>
              <a:buFontTx/>
              <a:buAutoNum type="alphaLcParenR"/>
            </a:pPr>
            <a:r>
              <a:rPr lang="en-US" altLang="en-US"/>
              <a:t>Maybe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563A9C66-03F0-A484-721F-B8E33EDE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F2C5DA-4F56-43CB-9048-2DAE67243C76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E6D39776-0E6E-C21B-F667-CEE4AFDB8B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Question 123.11.1.5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9DDAEF39-43C0-F461-FEF1-3FC64669D5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You open your freezer (or a door in January in Rexburg), energy flows out. What is the sign of Q?</a:t>
            </a:r>
          </a:p>
          <a:p>
            <a:pPr>
              <a:buFontTx/>
              <a:buAutoNum type="alphaLcParenR"/>
            </a:pPr>
            <a:r>
              <a:rPr lang="en-US" altLang="en-US" dirty="0"/>
              <a:t> Positive</a:t>
            </a:r>
          </a:p>
          <a:p>
            <a:pPr>
              <a:buFontTx/>
              <a:buAutoNum type="alphaLcParenR"/>
            </a:pPr>
            <a:r>
              <a:rPr lang="en-US" altLang="en-US" dirty="0"/>
              <a:t> Negative</a:t>
            </a:r>
          </a:p>
          <a:p>
            <a:pPr>
              <a:buFontTx/>
              <a:buAutoNum type="alphaLcParenR"/>
            </a:pPr>
            <a:r>
              <a:rPr lang="en-US" altLang="en-US" dirty="0"/>
              <a:t> Other</a:t>
            </a:r>
          </a:p>
          <a:p>
            <a:pPr>
              <a:buFontTx/>
              <a:buAutoNum type="alphaLcParenR"/>
            </a:pPr>
            <a:endParaRPr lang="en-US" altLang="en-US" dirty="0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D7937BA5-0088-7427-67A0-499124E48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19BD07-071A-408D-BD8B-D617EACAFF6B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BD7BC364-554B-BF01-12CB-17EE3C1741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9699" name="Picture 5">
            <a:extLst>
              <a:ext uri="{FF2B5EF4-FFF2-40B4-BE49-F238E27FC236}">
                <a16:creationId xmlns:a16="http://schemas.microsoft.com/office/drawing/2014/main" id="{E35D5D87-03FD-1861-EC7A-7DD295F2B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770063"/>
            <a:ext cx="1703387" cy="2525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0" name="Picture 2" descr="Bunsen burner by gsagri04">
            <a:extLst>
              <a:ext uri="{FF2B5EF4-FFF2-40B4-BE49-F238E27FC236}">
                <a16:creationId xmlns:a16="http://schemas.microsoft.com/office/drawing/2014/main" id="{0D3175AE-CC06-109F-3CE2-0FE9951F3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938" y="4843463"/>
            <a:ext cx="1363662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Down Arrow 6">
            <a:extLst>
              <a:ext uri="{FF2B5EF4-FFF2-40B4-BE49-F238E27FC236}">
                <a16:creationId xmlns:a16="http://schemas.microsoft.com/office/drawing/2014/main" id="{3BA6EC95-2153-18BE-167D-222A7F2C393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308225" y="3832225"/>
            <a:ext cx="957263" cy="855663"/>
          </a:xfrm>
          <a:prstGeom prst="down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9E5710"/>
              </a:gs>
              <a:gs pos="50000">
                <a:srgbClr val="E3801C"/>
              </a:gs>
              <a:gs pos="100000">
                <a:srgbClr val="FF9924"/>
              </a:gs>
            </a:gsLst>
            <a:lin ang="16200000" scaled="1"/>
          </a:gra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02" name="TextBox 7">
            <a:extLst>
              <a:ext uri="{FF2B5EF4-FFF2-40B4-BE49-F238E27FC236}">
                <a16:creationId xmlns:a16="http://schemas.microsoft.com/office/drawing/2014/main" id="{8BDE6928-DC14-56E4-2AE1-1AD9EF6E4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8150" y="4427538"/>
            <a:ext cx="2276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Q positive</a:t>
            </a:r>
          </a:p>
        </p:txBody>
      </p:sp>
      <p:sp>
        <p:nvSpPr>
          <p:cNvPr id="29703" name="Down Arrow 9">
            <a:extLst>
              <a:ext uri="{FF2B5EF4-FFF2-40B4-BE49-F238E27FC236}">
                <a16:creationId xmlns:a16="http://schemas.microsoft.com/office/drawing/2014/main" id="{16DE3692-E1D7-2384-2449-2D6DAC2D0536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3331368" y="2793207"/>
            <a:ext cx="957263" cy="857250"/>
          </a:xfrm>
          <a:prstGeom prst="down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9E5710"/>
              </a:gs>
              <a:gs pos="50000">
                <a:srgbClr val="E3801C"/>
              </a:gs>
              <a:gs pos="100000">
                <a:srgbClr val="FF9924"/>
              </a:gs>
            </a:gsLst>
            <a:lin ang="16200000" scaled="1"/>
          </a:gra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9704" name="TextBox 10">
            <a:extLst>
              <a:ext uri="{FF2B5EF4-FFF2-40B4-BE49-F238E27FC236}">
                <a16:creationId xmlns:a16="http://schemas.microsoft.com/office/drawing/2014/main" id="{D8DA5F4A-9EA0-1CFE-2CDA-B54BDDDBC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750" y="2954338"/>
            <a:ext cx="2276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Q negative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FFD6-ADB8-4963-BA4A-E6F3FC004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E5FE3-BCE3-0DB7-0B68-DBBD6F5B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BFB42F-3F0E-C08B-4644-798D61BFA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9349"/>
            <a:ext cx="9144000" cy="363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24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20CEB71E-042F-236B-55A0-7ACCAA167B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123.11.3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BFD3E110-E51C-752A-979B-B4EEE4BBF8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You increase the temperature of a gas in a cylinder with a piston. Is there heat involved?</a:t>
            </a:r>
          </a:p>
          <a:p>
            <a:pPr>
              <a:buFontTx/>
              <a:buAutoNum type="alphaLcParenR"/>
            </a:pPr>
            <a:r>
              <a:rPr lang="en-US" altLang="en-US" dirty="0"/>
              <a:t>Yes</a:t>
            </a:r>
          </a:p>
          <a:p>
            <a:pPr>
              <a:buFontTx/>
              <a:buAutoNum type="alphaLcParenR"/>
            </a:pPr>
            <a:r>
              <a:rPr lang="en-US" altLang="en-US" dirty="0"/>
              <a:t>No</a:t>
            </a:r>
          </a:p>
          <a:p>
            <a:pPr>
              <a:buFontTx/>
              <a:buAutoNum type="alphaLcParenR"/>
            </a:pPr>
            <a:r>
              <a:rPr lang="en-US" altLang="en-US" dirty="0"/>
              <a:t>Maybe</a:t>
            </a: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47BCF7B8-40BC-717A-E843-93BF273E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2325F1-2933-41EE-85FF-C4288F5FF8CA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521BB-6821-6DFD-74A4-12A2BD25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CD3C38-E32A-DCD7-C449-240C2C4A2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25" y="2239138"/>
            <a:ext cx="4887306" cy="32480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AA1F2A-A60F-5CC6-29F9-7C434BDC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64571-AD3A-7F73-C2F0-EC24A6C54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495675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is not changing in the process shown in this PV diagram?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Pressure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Volume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Number of Moles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The Universal Gass Constant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Temperature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CE3B62-BC43-1B02-EA7C-DEE19FE26AF3}"/>
              </a:ext>
            </a:extLst>
          </p:cNvPr>
          <p:cNvCxnSpPr/>
          <p:nvPr/>
        </p:nvCxnSpPr>
        <p:spPr>
          <a:xfrm flipV="1">
            <a:off x="7162800" y="2914650"/>
            <a:ext cx="0" cy="2857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738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50B44E-422D-0F5E-1EA7-B9FCC089D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1495365"/>
            <a:ext cx="5372100" cy="3570277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CA90B52-F499-88B4-8BE1-FD851213A876}"/>
              </a:ext>
            </a:extLst>
          </p:cNvPr>
          <p:cNvCxnSpPr/>
          <p:nvPr/>
        </p:nvCxnSpPr>
        <p:spPr>
          <a:xfrm flipV="1">
            <a:off x="5279136" y="2676906"/>
            <a:ext cx="0" cy="2857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071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BEDA1-2E2F-1F13-D234-0B692E47C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762000"/>
            <a:ext cx="7515224" cy="501015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34048EF-BCD1-8FD4-F157-9933F29C4079}"/>
              </a:ext>
            </a:extLst>
          </p:cNvPr>
          <p:cNvCxnSpPr/>
          <p:nvPr/>
        </p:nvCxnSpPr>
        <p:spPr>
          <a:xfrm flipV="1">
            <a:off x="5306568" y="2283714"/>
            <a:ext cx="0" cy="28575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16E21E-2912-1332-6E5F-46E529E61FA8}"/>
              </a:ext>
            </a:extLst>
          </p:cNvPr>
          <p:cNvCxnSpPr>
            <a:cxnSpLocks/>
          </p:cNvCxnSpPr>
          <p:nvPr/>
        </p:nvCxnSpPr>
        <p:spPr>
          <a:xfrm>
            <a:off x="5306568" y="1545336"/>
            <a:ext cx="0" cy="22494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564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3EB732-A7A6-1C91-AB4F-AB9333387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068" y="1285480"/>
            <a:ext cx="6448424" cy="428704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D1BAB16-90DD-3275-B8BF-0A11B1D71F90}"/>
              </a:ext>
            </a:extLst>
          </p:cNvPr>
          <p:cNvCxnSpPr/>
          <p:nvPr/>
        </p:nvCxnSpPr>
        <p:spPr>
          <a:xfrm flipV="1">
            <a:off x="5279136" y="2676906"/>
            <a:ext cx="0" cy="28575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D97E3C-8D7F-755B-E041-AF4D2A522FB4}"/>
              </a:ext>
            </a:extLst>
          </p:cNvPr>
          <p:cNvCxnSpPr/>
          <p:nvPr/>
        </p:nvCxnSpPr>
        <p:spPr>
          <a:xfrm>
            <a:off x="5279136" y="1938528"/>
            <a:ext cx="0" cy="19568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446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3501E-BB92-893F-17B4-2F328E00A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A98E3F-4F8B-3DC5-8D36-8C98A26CB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25" y="2239138"/>
            <a:ext cx="4887306" cy="32480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0E25E1-5C74-A364-56A7-4E182E14C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41BFB-98F0-D02C-5367-860D80FB6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49567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do we call a process where the volume doesn’t change?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Isobaric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Isochoric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Adiabatic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Isothermal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288DE1-220D-7983-F7AC-10FFCB1A5B7D}"/>
              </a:ext>
            </a:extLst>
          </p:cNvPr>
          <p:cNvCxnSpPr/>
          <p:nvPr/>
        </p:nvCxnSpPr>
        <p:spPr>
          <a:xfrm flipV="1">
            <a:off x="7162800" y="2914650"/>
            <a:ext cx="0" cy="2857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337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25DB3-685E-FAD5-F8F9-EEAE0624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CE7247-AF99-178F-8AA3-BACE43C1D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2315369"/>
            <a:ext cx="4655528" cy="30956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409BF1-7F1A-384E-E00B-13CC48F5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D196C-BB3E-22D9-E532-A4D9C029B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495675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is not changing in the process shown in this PV diagram?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Pressure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Volume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Number of Moles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The Universal Gass Constant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err="1"/>
              <a:t>Temperatuere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7F3268-0BAF-BFCA-29DE-39D5DA409961}"/>
              </a:ext>
            </a:extLst>
          </p:cNvPr>
          <p:cNvCxnSpPr>
            <a:cxnSpLocks/>
          </p:cNvCxnSpPr>
          <p:nvPr/>
        </p:nvCxnSpPr>
        <p:spPr>
          <a:xfrm>
            <a:off x="6962775" y="3581781"/>
            <a:ext cx="438150" cy="0"/>
          </a:xfrm>
          <a:prstGeom prst="straightConnector1">
            <a:avLst/>
          </a:prstGeom>
          <a:ln w="63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729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649D0B-6325-EE19-60F5-1B96276F7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901" y="981851"/>
            <a:ext cx="6717692" cy="4466829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90AD6E6-3547-0EDD-4101-F1F57F1FF309}"/>
              </a:ext>
            </a:extLst>
          </p:cNvPr>
          <p:cNvCxnSpPr>
            <a:cxnSpLocks/>
          </p:cNvCxnSpPr>
          <p:nvPr/>
        </p:nvCxnSpPr>
        <p:spPr>
          <a:xfrm>
            <a:off x="4813935" y="2822829"/>
            <a:ext cx="438150" cy="0"/>
          </a:xfrm>
          <a:prstGeom prst="straightConnector1">
            <a:avLst/>
          </a:prstGeom>
          <a:ln w="63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950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FF82DA-979A-3AFB-D691-10055ACDC352}"/>
              </a:ext>
            </a:extLst>
          </p:cNvPr>
          <p:cNvCxnSpPr/>
          <p:nvPr/>
        </p:nvCxnSpPr>
        <p:spPr>
          <a:xfrm>
            <a:off x="4087368" y="2953512"/>
            <a:ext cx="2377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BF6BC9-6961-A8F3-984A-481B042B1B81}"/>
              </a:ext>
            </a:extLst>
          </p:cNvPr>
          <p:cNvCxnSpPr/>
          <p:nvPr/>
        </p:nvCxnSpPr>
        <p:spPr>
          <a:xfrm flipV="1">
            <a:off x="4087368" y="2953512"/>
            <a:ext cx="2377440" cy="64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E9D90FE-9859-9131-6FEF-9302CAFC1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19" y="1143000"/>
            <a:ext cx="7196007" cy="479107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CC3A4AD-E3C7-1F8F-8E47-BEF3A11FA1EB}"/>
              </a:ext>
            </a:extLst>
          </p:cNvPr>
          <p:cNvCxnSpPr/>
          <p:nvPr/>
        </p:nvCxnSpPr>
        <p:spPr>
          <a:xfrm>
            <a:off x="4239768" y="3105912"/>
            <a:ext cx="2377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B70B8F-6FCD-7EBD-F47D-134E1E54C66E}"/>
              </a:ext>
            </a:extLst>
          </p:cNvPr>
          <p:cNvCxnSpPr/>
          <p:nvPr/>
        </p:nvCxnSpPr>
        <p:spPr>
          <a:xfrm flipV="1">
            <a:off x="4239768" y="3105912"/>
            <a:ext cx="2377440" cy="64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1F59622-C043-2EC3-B061-4FFA439E6FEB}"/>
              </a:ext>
            </a:extLst>
          </p:cNvPr>
          <p:cNvCxnSpPr>
            <a:cxnSpLocks/>
          </p:cNvCxnSpPr>
          <p:nvPr/>
        </p:nvCxnSpPr>
        <p:spPr>
          <a:xfrm>
            <a:off x="5048631" y="3112389"/>
            <a:ext cx="438150" cy="0"/>
          </a:xfrm>
          <a:prstGeom prst="straightConnector1">
            <a:avLst/>
          </a:prstGeom>
          <a:ln w="19050">
            <a:solidFill>
              <a:schemeClr val="accent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036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8B5AB-D1BA-D882-EA0A-A21E76FB5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DE270-1E20-C787-B7FF-7D7671D20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1B880-867C-8BBF-96DF-5846F92C1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49567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do we call a process where the volume doesn’t change?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Isobaric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Isochoric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Adiabatic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Isothermal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53FE4-1737-7FA7-D99D-6BC35F8D0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2315369"/>
            <a:ext cx="4655528" cy="309562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141E50-A300-85A4-7692-1C3F2329E3A7}"/>
              </a:ext>
            </a:extLst>
          </p:cNvPr>
          <p:cNvCxnSpPr>
            <a:cxnSpLocks/>
          </p:cNvCxnSpPr>
          <p:nvPr/>
        </p:nvCxnSpPr>
        <p:spPr>
          <a:xfrm>
            <a:off x="6962775" y="3581781"/>
            <a:ext cx="43815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43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5A76F3-495D-894A-F2FD-44A0958FC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211" y="741283"/>
            <a:ext cx="7451577" cy="498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091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an 6"/>
          <p:cNvSpPr/>
          <p:nvPr/>
        </p:nvSpPr>
        <p:spPr>
          <a:xfrm>
            <a:off x="2438400" y="1828800"/>
            <a:ext cx="4953000" cy="4114800"/>
          </a:xfrm>
          <a:prstGeom prst="can">
            <a:avLst>
              <a:gd name="adj" fmla="val 933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n 9"/>
          <p:cNvSpPr/>
          <p:nvPr/>
        </p:nvSpPr>
        <p:spPr>
          <a:xfrm flipV="1">
            <a:off x="2438400" y="3352800"/>
            <a:ext cx="4953000" cy="2590800"/>
          </a:xfrm>
          <a:prstGeom prst="can">
            <a:avLst>
              <a:gd name="adj" fmla="val 15700"/>
            </a:avLst>
          </a:prstGeom>
          <a:gradFill flip="none" rotWithShape="1">
            <a:gsLst>
              <a:gs pos="0">
                <a:srgbClr val="FFFF00">
                  <a:tint val="66000"/>
                  <a:satMod val="160000"/>
                  <a:alpha val="1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an 8"/>
          <p:cNvSpPr/>
          <p:nvPr/>
        </p:nvSpPr>
        <p:spPr>
          <a:xfrm>
            <a:off x="2438400" y="3048000"/>
            <a:ext cx="4953000" cy="685800"/>
          </a:xfrm>
          <a:prstGeom prst="can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4724400" y="3581400"/>
            <a:ext cx="381000" cy="1371600"/>
          </a:xfrm>
          <a:prstGeom prst="downArrow">
            <a:avLst>
              <a:gd name="adj1" fmla="val 31841"/>
              <a:gd name="adj2" fmla="val 6311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81600" y="4343400"/>
            <a:ext cx="5896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err="1">
                <a:solidFill>
                  <a:srgbClr val="FF0000"/>
                </a:solidFill>
              </a:rPr>
              <a:t>F</a:t>
            </a:r>
            <a:r>
              <a:rPr lang="en-US" sz="4000" i="1" baseline="-25000" dirty="0" err="1">
                <a:solidFill>
                  <a:srgbClr val="FF0000"/>
                </a:solidFill>
              </a:rPr>
              <a:t>g</a:t>
            </a:r>
            <a:endParaRPr lang="en-US" sz="4000" i="1" baseline="-25000" dirty="0">
              <a:solidFill>
                <a:srgbClr val="FF0000"/>
              </a:solidFill>
            </a:endParaRPr>
          </a:p>
        </p:txBody>
      </p:sp>
      <p:sp>
        <p:nvSpPr>
          <p:cNvPr id="13" name="Down Arrow 12"/>
          <p:cNvSpPr/>
          <p:nvPr/>
        </p:nvSpPr>
        <p:spPr>
          <a:xfrm flipV="1">
            <a:off x="4267200" y="3733800"/>
            <a:ext cx="381000" cy="1676400"/>
          </a:xfrm>
          <a:prstGeom prst="downArrow">
            <a:avLst>
              <a:gd name="adj1" fmla="val 31841"/>
              <a:gd name="adj2" fmla="val 6311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048000" y="4191000"/>
            <a:ext cx="11605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err="1">
                <a:solidFill>
                  <a:schemeClr val="accent3"/>
                </a:solidFill>
              </a:rPr>
              <a:t>F</a:t>
            </a:r>
            <a:r>
              <a:rPr lang="en-US" sz="4000" i="1" baseline="-25000" dirty="0" err="1">
                <a:solidFill>
                  <a:schemeClr val="accent3"/>
                </a:solidFill>
              </a:rPr>
              <a:t>p,gas</a:t>
            </a:r>
            <a:endParaRPr lang="en-US" sz="4000" i="1" baseline="-25000" dirty="0">
              <a:solidFill>
                <a:schemeClr val="accent3"/>
              </a:solidFill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4495800" y="2514600"/>
            <a:ext cx="381000" cy="609600"/>
          </a:xfrm>
          <a:prstGeom prst="downArrow">
            <a:avLst>
              <a:gd name="adj1" fmla="val 31841"/>
              <a:gd name="adj2" fmla="val 6311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876800" y="2209800"/>
            <a:ext cx="10467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err="1">
                <a:solidFill>
                  <a:schemeClr val="accent3"/>
                </a:solidFill>
              </a:rPr>
              <a:t>F</a:t>
            </a:r>
            <a:r>
              <a:rPr lang="en-US" sz="4000" i="1" baseline="-25000" dirty="0" err="1">
                <a:solidFill>
                  <a:schemeClr val="accent3"/>
                </a:solidFill>
              </a:rPr>
              <a:t>p,air</a:t>
            </a:r>
            <a:endParaRPr lang="en-US" sz="4000" i="1" baseline="-250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D6B20-1277-2264-8EDF-6F4258315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902A-B84D-A514-37D7-D098D0C2D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33359-F837-BC48-4156-8016D7E11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495675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is not changing in the process shown in this PV diagram?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Pressure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Volume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Number of Moles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The Universal Gass Constant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Temperature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193EE2-C47E-7850-F4DD-C8F3EEC1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28850"/>
            <a:ext cx="3926427" cy="260985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81A4D1-E4E2-F7A7-A308-0E91C696AE34}"/>
              </a:ext>
            </a:extLst>
          </p:cNvPr>
          <p:cNvCxnSpPr>
            <a:cxnSpLocks/>
          </p:cNvCxnSpPr>
          <p:nvPr/>
        </p:nvCxnSpPr>
        <p:spPr>
          <a:xfrm>
            <a:off x="6886575" y="3600450"/>
            <a:ext cx="200025" cy="104775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3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7E6E97-3A9B-1B9A-33BE-F5A5B5A2D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985174"/>
            <a:ext cx="6829255" cy="453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913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C65D-E100-362F-5F1F-572E43EA7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0DF89-A007-5A8C-B431-6C403789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A9422-D97A-8366-B323-205D84934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49567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do we call a process where the volume doesn’t change?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Isobaric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Isochoric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Adiabatic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Isothermal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62E8B0-9050-503B-9091-1EDA47E2D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57450"/>
            <a:ext cx="3926427" cy="260985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CEA0B4-9B95-6447-98D6-0F38E0037934}"/>
              </a:ext>
            </a:extLst>
          </p:cNvPr>
          <p:cNvCxnSpPr>
            <a:cxnSpLocks/>
          </p:cNvCxnSpPr>
          <p:nvPr/>
        </p:nvCxnSpPr>
        <p:spPr>
          <a:xfrm>
            <a:off x="6886575" y="3829050"/>
            <a:ext cx="200025" cy="1047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796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9" name="Group 5"/>
          <p:cNvGrpSpPr>
            <a:grpSpLocks/>
          </p:cNvGrpSpPr>
          <p:nvPr/>
        </p:nvGrpSpPr>
        <p:grpSpPr bwMode="auto">
          <a:xfrm>
            <a:off x="990600" y="1524000"/>
            <a:ext cx="7467599" cy="4724400"/>
            <a:chOff x="3733" y="1510"/>
            <a:chExt cx="1416" cy="1628"/>
          </a:xfrm>
        </p:grpSpPr>
        <p:grpSp>
          <p:nvGrpSpPr>
            <p:cNvPr id="23" name="Group 22"/>
            <p:cNvGrpSpPr>
              <a:grpSpLocks/>
            </p:cNvGrpSpPr>
            <p:nvPr/>
          </p:nvGrpSpPr>
          <p:grpSpPr bwMode="auto">
            <a:xfrm>
              <a:off x="3733" y="1514"/>
              <a:ext cx="1416" cy="1624"/>
              <a:chOff x="3596" y="1780"/>
              <a:chExt cx="1416" cy="1624"/>
            </a:xfrm>
          </p:grpSpPr>
          <p:sp>
            <p:nvSpPr>
              <p:cNvPr id="28" name="Freeform 7"/>
              <p:cNvSpPr>
                <a:spLocks/>
              </p:cNvSpPr>
              <p:nvPr/>
            </p:nvSpPr>
            <p:spPr bwMode="auto">
              <a:xfrm>
                <a:off x="3596" y="1780"/>
                <a:ext cx="724" cy="1624"/>
              </a:xfrm>
              <a:custGeom>
                <a:avLst/>
                <a:gdLst>
                  <a:gd name="T0" fmla="*/ 92 w 724"/>
                  <a:gd name="T1" fmla="*/ 0 h 1624"/>
                  <a:gd name="T2" fmla="*/ 40 w 724"/>
                  <a:gd name="T3" fmla="*/ 4 h 1624"/>
                  <a:gd name="T4" fmla="*/ 0 w 724"/>
                  <a:gd name="T5" fmla="*/ 28 h 1624"/>
                  <a:gd name="T6" fmla="*/ 4 w 724"/>
                  <a:gd name="T7" fmla="*/ 84 h 1624"/>
                  <a:gd name="T8" fmla="*/ 36 w 724"/>
                  <a:gd name="T9" fmla="*/ 128 h 1624"/>
                  <a:gd name="T10" fmla="*/ 72 w 724"/>
                  <a:gd name="T11" fmla="*/ 164 h 1624"/>
                  <a:gd name="T12" fmla="*/ 96 w 724"/>
                  <a:gd name="T13" fmla="*/ 260 h 1624"/>
                  <a:gd name="T14" fmla="*/ 100 w 724"/>
                  <a:gd name="T15" fmla="*/ 1432 h 1624"/>
                  <a:gd name="T16" fmla="*/ 112 w 724"/>
                  <a:gd name="T17" fmla="*/ 1512 h 1624"/>
                  <a:gd name="T18" fmla="*/ 160 w 724"/>
                  <a:gd name="T19" fmla="*/ 1568 h 1624"/>
                  <a:gd name="T20" fmla="*/ 220 w 724"/>
                  <a:gd name="T21" fmla="*/ 1616 h 1624"/>
                  <a:gd name="T22" fmla="*/ 272 w 724"/>
                  <a:gd name="T23" fmla="*/ 1624 h 1624"/>
                  <a:gd name="T24" fmla="*/ 724 w 724"/>
                  <a:gd name="T25" fmla="*/ 1624 h 16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24"/>
                  <a:gd name="T40" fmla="*/ 0 h 1624"/>
                  <a:gd name="T41" fmla="*/ 724 w 724"/>
                  <a:gd name="T42" fmla="*/ 1624 h 16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24" h="1624">
                    <a:moveTo>
                      <a:pt x="92" y="0"/>
                    </a:moveTo>
                    <a:lnTo>
                      <a:pt x="40" y="4"/>
                    </a:lnTo>
                    <a:lnTo>
                      <a:pt x="0" y="28"/>
                    </a:lnTo>
                    <a:lnTo>
                      <a:pt x="4" y="84"/>
                    </a:lnTo>
                    <a:lnTo>
                      <a:pt x="36" y="128"/>
                    </a:lnTo>
                    <a:lnTo>
                      <a:pt x="72" y="164"/>
                    </a:lnTo>
                    <a:lnTo>
                      <a:pt x="96" y="260"/>
                    </a:lnTo>
                    <a:lnTo>
                      <a:pt x="100" y="1432"/>
                    </a:lnTo>
                    <a:lnTo>
                      <a:pt x="112" y="1512"/>
                    </a:lnTo>
                    <a:lnTo>
                      <a:pt x="160" y="1568"/>
                    </a:lnTo>
                    <a:lnTo>
                      <a:pt x="220" y="1616"/>
                    </a:lnTo>
                    <a:lnTo>
                      <a:pt x="272" y="1624"/>
                    </a:lnTo>
                    <a:lnTo>
                      <a:pt x="724" y="1624"/>
                    </a:lnTo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8"/>
              <p:cNvSpPr>
                <a:spLocks/>
              </p:cNvSpPr>
              <p:nvPr/>
            </p:nvSpPr>
            <p:spPr bwMode="auto">
              <a:xfrm flipH="1">
                <a:off x="4288" y="1780"/>
                <a:ext cx="724" cy="1624"/>
              </a:xfrm>
              <a:custGeom>
                <a:avLst/>
                <a:gdLst>
                  <a:gd name="T0" fmla="*/ 92 w 724"/>
                  <a:gd name="T1" fmla="*/ 0 h 1624"/>
                  <a:gd name="T2" fmla="*/ 40 w 724"/>
                  <a:gd name="T3" fmla="*/ 4 h 1624"/>
                  <a:gd name="T4" fmla="*/ 0 w 724"/>
                  <a:gd name="T5" fmla="*/ 28 h 1624"/>
                  <a:gd name="T6" fmla="*/ 4 w 724"/>
                  <a:gd name="T7" fmla="*/ 84 h 1624"/>
                  <a:gd name="T8" fmla="*/ 36 w 724"/>
                  <a:gd name="T9" fmla="*/ 128 h 1624"/>
                  <a:gd name="T10" fmla="*/ 72 w 724"/>
                  <a:gd name="T11" fmla="*/ 164 h 1624"/>
                  <a:gd name="T12" fmla="*/ 96 w 724"/>
                  <a:gd name="T13" fmla="*/ 260 h 1624"/>
                  <a:gd name="T14" fmla="*/ 100 w 724"/>
                  <a:gd name="T15" fmla="*/ 1432 h 1624"/>
                  <a:gd name="T16" fmla="*/ 112 w 724"/>
                  <a:gd name="T17" fmla="*/ 1512 h 1624"/>
                  <a:gd name="T18" fmla="*/ 160 w 724"/>
                  <a:gd name="T19" fmla="*/ 1568 h 1624"/>
                  <a:gd name="T20" fmla="*/ 220 w 724"/>
                  <a:gd name="T21" fmla="*/ 1616 h 1624"/>
                  <a:gd name="T22" fmla="*/ 272 w 724"/>
                  <a:gd name="T23" fmla="*/ 1624 h 1624"/>
                  <a:gd name="T24" fmla="*/ 724 w 724"/>
                  <a:gd name="T25" fmla="*/ 1624 h 16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24"/>
                  <a:gd name="T40" fmla="*/ 0 h 1624"/>
                  <a:gd name="T41" fmla="*/ 724 w 724"/>
                  <a:gd name="T42" fmla="*/ 1624 h 16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24" h="1624">
                    <a:moveTo>
                      <a:pt x="92" y="0"/>
                    </a:moveTo>
                    <a:lnTo>
                      <a:pt x="40" y="4"/>
                    </a:lnTo>
                    <a:lnTo>
                      <a:pt x="0" y="28"/>
                    </a:lnTo>
                    <a:lnTo>
                      <a:pt x="4" y="84"/>
                    </a:lnTo>
                    <a:lnTo>
                      <a:pt x="36" y="128"/>
                    </a:lnTo>
                    <a:lnTo>
                      <a:pt x="72" y="164"/>
                    </a:lnTo>
                    <a:lnTo>
                      <a:pt x="96" y="260"/>
                    </a:lnTo>
                    <a:lnTo>
                      <a:pt x="100" y="1432"/>
                    </a:lnTo>
                    <a:lnTo>
                      <a:pt x="112" y="1512"/>
                    </a:lnTo>
                    <a:lnTo>
                      <a:pt x="160" y="1568"/>
                    </a:lnTo>
                    <a:lnTo>
                      <a:pt x="220" y="1616"/>
                    </a:lnTo>
                    <a:lnTo>
                      <a:pt x="272" y="1624"/>
                    </a:lnTo>
                    <a:lnTo>
                      <a:pt x="724" y="1624"/>
                    </a:lnTo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" name="AutoShape 9"/>
            <p:cNvSpPr>
              <a:spLocks noChangeArrowheads="1"/>
            </p:cNvSpPr>
            <p:nvPr/>
          </p:nvSpPr>
          <p:spPr bwMode="auto">
            <a:xfrm>
              <a:off x="3897" y="1814"/>
              <a:ext cx="1088" cy="1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3897" y="1794"/>
              <a:ext cx="1076" cy="24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auto">
            <a:xfrm>
              <a:off x="3817" y="1510"/>
              <a:ext cx="624" cy="1588"/>
            </a:xfrm>
            <a:custGeom>
              <a:avLst/>
              <a:gdLst>
                <a:gd name="T0" fmla="*/ 0 w 624"/>
                <a:gd name="T1" fmla="*/ 0 h 1588"/>
                <a:gd name="T2" fmla="*/ 44 w 624"/>
                <a:gd name="T3" fmla="*/ 16 h 1588"/>
                <a:gd name="T4" fmla="*/ 64 w 624"/>
                <a:gd name="T5" fmla="*/ 56 h 1588"/>
                <a:gd name="T6" fmla="*/ 80 w 624"/>
                <a:gd name="T7" fmla="*/ 144 h 1588"/>
                <a:gd name="T8" fmla="*/ 88 w 624"/>
                <a:gd name="T9" fmla="*/ 420 h 1588"/>
                <a:gd name="T10" fmla="*/ 84 w 624"/>
                <a:gd name="T11" fmla="*/ 884 h 1588"/>
                <a:gd name="T12" fmla="*/ 84 w 624"/>
                <a:gd name="T13" fmla="*/ 1260 h 1588"/>
                <a:gd name="T14" fmla="*/ 92 w 624"/>
                <a:gd name="T15" fmla="*/ 1444 h 1588"/>
                <a:gd name="T16" fmla="*/ 124 w 624"/>
                <a:gd name="T17" fmla="*/ 1508 h 1588"/>
                <a:gd name="T18" fmla="*/ 172 w 624"/>
                <a:gd name="T19" fmla="*/ 1552 h 1588"/>
                <a:gd name="T20" fmla="*/ 244 w 624"/>
                <a:gd name="T21" fmla="*/ 1588 h 1588"/>
                <a:gd name="T22" fmla="*/ 380 w 624"/>
                <a:gd name="T23" fmla="*/ 1588 h 1588"/>
                <a:gd name="T24" fmla="*/ 584 w 624"/>
                <a:gd name="T25" fmla="*/ 1588 h 1588"/>
                <a:gd name="T26" fmla="*/ 624 w 624"/>
                <a:gd name="T27" fmla="*/ 1588 h 158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24"/>
                <a:gd name="T43" fmla="*/ 0 h 1588"/>
                <a:gd name="T44" fmla="*/ 624 w 624"/>
                <a:gd name="T45" fmla="*/ 1588 h 158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24" h="1588">
                  <a:moveTo>
                    <a:pt x="0" y="0"/>
                  </a:moveTo>
                  <a:lnTo>
                    <a:pt x="44" y="16"/>
                  </a:lnTo>
                  <a:lnTo>
                    <a:pt x="64" y="56"/>
                  </a:lnTo>
                  <a:lnTo>
                    <a:pt x="80" y="144"/>
                  </a:lnTo>
                  <a:lnTo>
                    <a:pt x="88" y="420"/>
                  </a:lnTo>
                  <a:lnTo>
                    <a:pt x="84" y="884"/>
                  </a:lnTo>
                  <a:lnTo>
                    <a:pt x="84" y="1260"/>
                  </a:lnTo>
                  <a:lnTo>
                    <a:pt x="92" y="1444"/>
                  </a:lnTo>
                  <a:lnTo>
                    <a:pt x="124" y="1508"/>
                  </a:lnTo>
                  <a:lnTo>
                    <a:pt x="172" y="1552"/>
                  </a:lnTo>
                  <a:lnTo>
                    <a:pt x="244" y="1588"/>
                  </a:lnTo>
                  <a:lnTo>
                    <a:pt x="380" y="1588"/>
                  </a:lnTo>
                  <a:lnTo>
                    <a:pt x="584" y="1588"/>
                  </a:lnTo>
                  <a:lnTo>
                    <a:pt x="624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auto">
            <a:xfrm flipH="1">
              <a:off x="4441" y="1510"/>
              <a:ext cx="624" cy="1588"/>
            </a:xfrm>
            <a:custGeom>
              <a:avLst/>
              <a:gdLst>
                <a:gd name="T0" fmla="*/ 0 w 624"/>
                <a:gd name="T1" fmla="*/ 0 h 1588"/>
                <a:gd name="T2" fmla="*/ 44 w 624"/>
                <a:gd name="T3" fmla="*/ 16 h 1588"/>
                <a:gd name="T4" fmla="*/ 64 w 624"/>
                <a:gd name="T5" fmla="*/ 56 h 1588"/>
                <a:gd name="T6" fmla="*/ 80 w 624"/>
                <a:gd name="T7" fmla="*/ 144 h 1588"/>
                <a:gd name="T8" fmla="*/ 88 w 624"/>
                <a:gd name="T9" fmla="*/ 420 h 1588"/>
                <a:gd name="T10" fmla="*/ 84 w 624"/>
                <a:gd name="T11" fmla="*/ 884 h 1588"/>
                <a:gd name="T12" fmla="*/ 84 w 624"/>
                <a:gd name="T13" fmla="*/ 1260 h 1588"/>
                <a:gd name="T14" fmla="*/ 92 w 624"/>
                <a:gd name="T15" fmla="*/ 1444 h 1588"/>
                <a:gd name="T16" fmla="*/ 124 w 624"/>
                <a:gd name="T17" fmla="*/ 1508 h 1588"/>
                <a:gd name="T18" fmla="*/ 172 w 624"/>
                <a:gd name="T19" fmla="*/ 1552 h 1588"/>
                <a:gd name="T20" fmla="*/ 244 w 624"/>
                <a:gd name="T21" fmla="*/ 1588 h 1588"/>
                <a:gd name="T22" fmla="*/ 380 w 624"/>
                <a:gd name="T23" fmla="*/ 1588 h 1588"/>
                <a:gd name="T24" fmla="*/ 584 w 624"/>
                <a:gd name="T25" fmla="*/ 1588 h 1588"/>
                <a:gd name="T26" fmla="*/ 624 w 624"/>
                <a:gd name="T27" fmla="*/ 1588 h 158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24"/>
                <a:gd name="T43" fmla="*/ 0 h 1588"/>
                <a:gd name="T44" fmla="*/ 624 w 624"/>
                <a:gd name="T45" fmla="*/ 1588 h 158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24" h="1588">
                  <a:moveTo>
                    <a:pt x="0" y="0"/>
                  </a:moveTo>
                  <a:lnTo>
                    <a:pt x="44" y="16"/>
                  </a:lnTo>
                  <a:lnTo>
                    <a:pt x="64" y="56"/>
                  </a:lnTo>
                  <a:lnTo>
                    <a:pt x="80" y="144"/>
                  </a:lnTo>
                  <a:lnTo>
                    <a:pt x="88" y="420"/>
                  </a:lnTo>
                  <a:lnTo>
                    <a:pt x="84" y="884"/>
                  </a:lnTo>
                  <a:lnTo>
                    <a:pt x="84" y="1260"/>
                  </a:lnTo>
                  <a:lnTo>
                    <a:pt x="92" y="1444"/>
                  </a:lnTo>
                  <a:lnTo>
                    <a:pt x="124" y="1508"/>
                  </a:lnTo>
                  <a:lnTo>
                    <a:pt x="172" y="1552"/>
                  </a:lnTo>
                  <a:lnTo>
                    <a:pt x="244" y="1588"/>
                  </a:lnTo>
                  <a:lnTo>
                    <a:pt x="380" y="1588"/>
                  </a:lnTo>
                  <a:lnTo>
                    <a:pt x="584" y="1588"/>
                  </a:lnTo>
                  <a:lnTo>
                    <a:pt x="624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AutoShape 13"/>
          <p:cNvSpPr>
            <a:spLocks noChangeArrowheads="1"/>
          </p:cNvSpPr>
          <p:nvPr/>
        </p:nvSpPr>
        <p:spPr bwMode="auto">
          <a:xfrm rot="20293304">
            <a:off x="2484784" y="1892864"/>
            <a:ext cx="1425775" cy="1345844"/>
          </a:xfrm>
          <a:prstGeom prst="cube">
            <a:avLst>
              <a:gd name="adj" fmla="val 25000"/>
            </a:avLst>
          </a:prstGeom>
          <a:solidFill>
            <a:schemeClr val="accent1">
              <a:alpha val="2705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AutoShape 14"/>
          <p:cNvSpPr>
            <a:spLocks noChangeArrowheads="1"/>
          </p:cNvSpPr>
          <p:nvPr/>
        </p:nvSpPr>
        <p:spPr bwMode="auto">
          <a:xfrm>
            <a:off x="3902243" y="1849540"/>
            <a:ext cx="1812758" cy="1489346"/>
          </a:xfrm>
          <a:prstGeom prst="cube">
            <a:avLst>
              <a:gd name="adj" fmla="val 25000"/>
            </a:avLst>
          </a:prstGeom>
          <a:solidFill>
            <a:schemeClr val="accent1">
              <a:alpha val="2705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3621505" y="4266675"/>
            <a:ext cx="1700463" cy="939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7" name="Can 6"/>
          <p:cNvSpPr/>
          <p:nvPr/>
        </p:nvSpPr>
        <p:spPr>
          <a:xfrm>
            <a:off x="4419600" y="3810000"/>
            <a:ext cx="1295400" cy="1828800"/>
          </a:xfrm>
          <a:prstGeom prst="can">
            <a:avLst>
              <a:gd name="adj" fmla="val 9335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n 9"/>
          <p:cNvSpPr/>
          <p:nvPr/>
        </p:nvSpPr>
        <p:spPr>
          <a:xfrm flipV="1">
            <a:off x="4419600" y="4487333"/>
            <a:ext cx="1295400" cy="1151467"/>
          </a:xfrm>
          <a:prstGeom prst="can">
            <a:avLst>
              <a:gd name="adj" fmla="val 15700"/>
            </a:avLst>
          </a:prstGeom>
          <a:gradFill flip="none" rotWithShape="1">
            <a:gsLst>
              <a:gs pos="0">
                <a:srgbClr val="FFFF00">
                  <a:tint val="66000"/>
                  <a:satMod val="160000"/>
                  <a:alpha val="1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an 8"/>
          <p:cNvSpPr/>
          <p:nvPr/>
        </p:nvSpPr>
        <p:spPr>
          <a:xfrm>
            <a:off x="4419600" y="4351867"/>
            <a:ext cx="1295400" cy="304800"/>
          </a:xfrm>
          <a:prstGeom prst="can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utoShape 13"/>
          <p:cNvSpPr>
            <a:spLocks noChangeArrowheads="1"/>
          </p:cNvSpPr>
          <p:nvPr/>
        </p:nvSpPr>
        <p:spPr bwMode="auto">
          <a:xfrm rot="3345085">
            <a:off x="5502354" y="1971464"/>
            <a:ext cx="1425775" cy="1345844"/>
          </a:xfrm>
          <a:prstGeom prst="cube">
            <a:avLst>
              <a:gd name="adj" fmla="val 25000"/>
            </a:avLst>
          </a:prstGeom>
          <a:solidFill>
            <a:schemeClr val="accent1">
              <a:alpha val="27058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F43ACF25-DEF1-F1E0-E112-C04FCEC49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123.11.4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25E6F564-0ACC-BFA0-5D1C-098F064500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You put a gas in a cylinder with a piston through a process that changes the temperature. Can Q=0?</a:t>
            </a:r>
          </a:p>
          <a:p>
            <a:pPr>
              <a:buFontTx/>
              <a:buAutoNum type="alphaLcParenR"/>
            </a:pPr>
            <a:r>
              <a:rPr lang="en-US" altLang="en-US" dirty="0"/>
              <a:t>Yes, if it is the right process</a:t>
            </a:r>
          </a:p>
          <a:p>
            <a:pPr>
              <a:buFontTx/>
              <a:buAutoNum type="alphaLcParenR"/>
            </a:pPr>
            <a:r>
              <a:rPr lang="en-US" altLang="en-US" dirty="0"/>
              <a:t>No</a:t>
            </a:r>
          </a:p>
          <a:p>
            <a:pPr>
              <a:buFontTx/>
              <a:buAutoNum type="alphaLcParenR"/>
            </a:pPr>
            <a:r>
              <a:rPr lang="en-US" altLang="en-US" dirty="0"/>
              <a:t>Maybe</a:t>
            </a:r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57E8B4B4-1F76-2700-68DE-DCC42345C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C6CAC7-B115-4CA8-825E-3F1ADFC365D7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BC53A5-796C-A723-6550-FECB380815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D4F83FA-4E9E-5E98-6273-B37625F466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3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Carnot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645206"/>
            <a:ext cx="8230018" cy="5679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Oval 5"/>
          <p:cNvSpPr/>
          <p:nvPr/>
        </p:nvSpPr>
        <p:spPr>
          <a:xfrm>
            <a:off x="2514600" y="99294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24200" y="333154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10200" y="444958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239000" y="5233891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714470" y="698291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5738" y="3360293"/>
            <a:ext cx="437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2746" y="3871206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3895" y="501530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22839" y="1244177"/>
            <a:ext cx="3777521" cy="46688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490728" y="1244177"/>
            <a:ext cx="2241743" cy="4541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78343" y="3025226"/>
            <a:ext cx="2254127" cy="2760627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478343" y="2605407"/>
            <a:ext cx="2254127" cy="432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>
            <a:off x="2246232" y="1943875"/>
            <a:ext cx="705963" cy="1518846"/>
          </a:xfrm>
          <a:prstGeom prst="upArrow">
            <a:avLst/>
          </a:prstGeom>
          <a:gradFill flip="none" rotWithShape="1">
            <a:gsLst>
              <a:gs pos="100000">
                <a:srgbClr val="FF0000">
                  <a:shade val="30000"/>
                  <a:satMod val="115000"/>
                  <a:alpha val="23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Up Arrow 11"/>
          <p:cNvSpPr/>
          <p:nvPr/>
        </p:nvSpPr>
        <p:spPr>
          <a:xfrm>
            <a:off x="2260682" y="5164606"/>
            <a:ext cx="705963" cy="801472"/>
          </a:xfrm>
          <a:prstGeom prst="upArrow">
            <a:avLst/>
          </a:prstGeom>
          <a:gradFill flip="none" rotWithShape="1">
            <a:gsLst>
              <a:gs pos="100000">
                <a:schemeClr val="accent6">
                  <a:lumMod val="75000"/>
                  <a:shade val="30000"/>
                  <a:satMod val="115000"/>
                  <a:alpha val="28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941382" y="5171599"/>
            <a:ext cx="657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Q</a:t>
            </a:r>
            <a:r>
              <a:rPr lang="en-US" sz="3600" baseline="-25000" dirty="0" err="1"/>
              <a:t>h</a:t>
            </a:r>
            <a:endParaRPr lang="en-US" sz="3600" baseline="-25000" dirty="0"/>
          </a:p>
        </p:txBody>
      </p:sp>
      <p:sp>
        <p:nvSpPr>
          <p:cNvPr id="16" name="Rectangle 15"/>
          <p:cNvSpPr/>
          <p:nvPr/>
        </p:nvSpPr>
        <p:spPr>
          <a:xfrm>
            <a:off x="1465851" y="3492325"/>
            <a:ext cx="2254127" cy="432541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0692" y="6130970"/>
            <a:ext cx="895584" cy="740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664960" y="211138"/>
            <a:ext cx="8229600" cy="1143000"/>
          </a:xfrm>
        </p:spPr>
        <p:txBody>
          <a:bodyPr/>
          <a:lstStyle/>
          <a:p>
            <a:r>
              <a:rPr lang="en-US" dirty="0"/>
              <a:t>Process A to B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7" y="1588654"/>
            <a:ext cx="4341384" cy="3034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30619" y="1469027"/>
            <a:ext cx="3777521" cy="46688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98508" y="1469027"/>
            <a:ext cx="2241743" cy="4541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86123" y="2653250"/>
            <a:ext cx="2254127" cy="3357453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86123" y="2230657"/>
            <a:ext cx="2254127" cy="432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>
            <a:off x="2469002" y="1704030"/>
            <a:ext cx="705963" cy="1518846"/>
          </a:xfrm>
          <a:prstGeom prst="upArrow">
            <a:avLst/>
          </a:prstGeom>
          <a:gradFill flip="none" rotWithShape="1">
            <a:gsLst>
              <a:gs pos="100000">
                <a:srgbClr val="FF0000">
                  <a:shade val="30000"/>
                  <a:satMod val="115000"/>
                  <a:alpha val="23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673631" y="3117569"/>
            <a:ext cx="2254127" cy="432541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31800" y="326027"/>
            <a:ext cx="8229600" cy="1143000"/>
          </a:xfrm>
        </p:spPr>
        <p:txBody>
          <a:bodyPr/>
          <a:lstStyle/>
          <a:p>
            <a:r>
              <a:rPr lang="en-US" dirty="0"/>
              <a:t>Process B to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777" y="6100997"/>
            <a:ext cx="4317167" cy="44970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Insulator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942" y="2368374"/>
            <a:ext cx="4094629" cy="287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15629" y="1484017"/>
            <a:ext cx="3777521" cy="46688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83518" y="1484017"/>
            <a:ext cx="2241743" cy="4541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71133" y="3207886"/>
            <a:ext cx="2254127" cy="2817807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71133" y="2785287"/>
            <a:ext cx="2254127" cy="432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 flipV="1">
            <a:off x="2454012" y="2258660"/>
            <a:ext cx="705963" cy="1518846"/>
          </a:xfrm>
          <a:prstGeom prst="upArrow">
            <a:avLst/>
          </a:prstGeom>
          <a:gradFill flip="none" rotWithShape="1">
            <a:gsLst>
              <a:gs pos="100000">
                <a:srgbClr val="FF0000">
                  <a:shade val="30000"/>
                  <a:satMod val="115000"/>
                  <a:alpha val="23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658641" y="2128229"/>
            <a:ext cx="2254127" cy="432541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 Arrow 12"/>
          <p:cNvSpPr/>
          <p:nvPr/>
        </p:nvSpPr>
        <p:spPr>
          <a:xfrm flipV="1">
            <a:off x="2453472" y="5674266"/>
            <a:ext cx="705963" cy="801472"/>
          </a:xfrm>
          <a:prstGeom prst="upArrow">
            <a:avLst/>
          </a:prstGeom>
          <a:gradFill flip="none" rotWithShape="1">
            <a:gsLst>
              <a:gs pos="100000">
                <a:schemeClr val="accent1">
                  <a:shade val="30000"/>
                  <a:satMod val="115000"/>
                  <a:alpha val="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074212" y="5411439"/>
            <a:ext cx="625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</a:t>
            </a:r>
            <a:r>
              <a:rPr lang="en-US" sz="3600" baseline="-25000" dirty="0"/>
              <a:t>c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341017"/>
            <a:ext cx="8229600" cy="1143000"/>
          </a:xfrm>
        </p:spPr>
        <p:txBody>
          <a:bodyPr/>
          <a:lstStyle/>
          <a:p>
            <a:r>
              <a:rPr lang="en-US" dirty="0"/>
              <a:t>Process C to D</a:t>
            </a:r>
          </a:p>
        </p:txBody>
      </p:sp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239" y="1701800"/>
            <a:ext cx="4322761" cy="3016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17919" y="1484017"/>
            <a:ext cx="3777521" cy="46688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85808" y="1484017"/>
            <a:ext cx="2241743" cy="4541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73423" y="3612620"/>
            <a:ext cx="2254127" cy="2413073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73423" y="3219997"/>
            <a:ext cx="2254127" cy="432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 flipV="1">
            <a:off x="2456302" y="2693370"/>
            <a:ext cx="705963" cy="1518846"/>
          </a:xfrm>
          <a:prstGeom prst="upArrow">
            <a:avLst/>
          </a:prstGeom>
          <a:gradFill flip="none" rotWithShape="1">
            <a:gsLst>
              <a:gs pos="100000">
                <a:srgbClr val="FF0000">
                  <a:shade val="30000"/>
                  <a:satMod val="115000"/>
                  <a:alpha val="23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660931" y="2562939"/>
            <a:ext cx="2254127" cy="432541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49300" y="274638"/>
            <a:ext cx="8229600" cy="1143000"/>
          </a:xfrm>
        </p:spPr>
        <p:txBody>
          <a:bodyPr/>
          <a:lstStyle/>
          <a:p>
            <a:r>
              <a:rPr lang="en-US" dirty="0"/>
              <a:t>Process D to 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077" y="6100997"/>
            <a:ext cx="4317167" cy="44970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Insulator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034" y="2239749"/>
            <a:ext cx="4421966" cy="30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3" y="53472"/>
            <a:ext cx="8923181" cy="618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Oval 5"/>
          <p:cNvSpPr/>
          <p:nvPr/>
        </p:nvSpPr>
        <p:spPr>
          <a:xfrm>
            <a:off x="2198077" y="1059757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953000" y="5158252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679756" y="3219616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365731" y="5225129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350477" y="698290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8848" y="5158252"/>
            <a:ext cx="437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302" y="2641242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4189" y="4932741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79446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22839" y="1244177"/>
            <a:ext cx="3777521" cy="46688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490728" y="1244177"/>
            <a:ext cx="2241743" cy="4541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78343" y="3025226"/>
            <a:ext cx="2254127" cy="2760627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478343" y="2605407"/>
            <a:ext cx="2254127" cy="432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>
            <a:off x="2246232" y="1943875"/>
            <a:ext cx="705963" cy="1518846"/>
          </a:xfrm>
          <a:prstGeom prst="upArrow">
            <a:avLst/>
          </a:prstGeom>
          <a:gradFill flip="none" rotWithShape="1">
            <a:gsLst>
              <a:gs pos="100000">
                <a:srgbClr val="FF0000">
                  <a:shade val="30000"/>
                  <a:satMod val="115000"/>
                  <a:alpha val="23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Up Arrow 11"/>
          <p:cNvSpPr/>
          <p:nvPr/>
        </p:nvSpPr>
        <p:spPr>
          <a:xfrm>
            <a:off x="2260682" y="5164606"/>
            <a:ext cx="705963" cy="801472"/>
          </a:xfrm>
          <a:prstGeom prst="upArrow">
            <a:avLst/>
          </a:prstGeom>
          <a:gradFill flip="none" rotWithShape="1">
            <a:gsLst>
              <a:gs pos="100000">
                <a:schemeClr val="accent6">
                  <a:lumMod val="75000"/>
                  <a:shade val="30000"/>
                  <a:satMod val="115000"/>
                  <a:alpha val="28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941382" y="5171599"/>
            <a:ext cx="657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Q</a:t>
            </a:r>
            <a:r>
              <a:rPr lang="en-US" sz="3600" baseline="-25000" dirty="0" err="1"/>
              <a:t>h</a:t>
            </a:r>
            <a:endParaRPr lang="en-US" sz="3600" baseline="-25000" dirty="0"/>
          </a:p>
        </p:txBody>
      </p:sp>
      <p:sp>
        <p:nvSpPr>
          <p:cNvPr id="16" name="Rectangle 15"/>
          <p:cNvSpPr/>
          <p:nvPr/>
        </p:nvSpPr>
        <p:spPr>
          <a:xfrm>
            <a:off x="1465851" y="3492325"/>
            <a:ext cx="2254127" cy="432541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0692" y="6130970"/>
            <a:ext cx="895584" cy="740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664960" y="211138"/>
            <a:ext cx="8229600" cy="1143000"/>
          </a:xfrm>
        </p:spPr>
        <p:txBody>
          <a:bodyPr/>
          <a:lstStyle/>
          <a:p>
            <a:r>
              <a:rPr lang="en-US" dirty="0"/>
              <a:t>Process A</a:t>
            </a:r>
            <a:r>
              <a:rPr lang="en-US" dirty="0">
                <a:latin typeface="Wingdings 3" pitchFamily="18" charset="2"/>
              </a:rPr>
              <a:t>’</a:t>
            </a:r>
            <a:r>
              <a:rPr lang="en-US" dirty="0"/>
              <a:t>B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517" y="1942723"/>
            <a:ext cx="4294483" cy="2976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Oval 16"/>
          <p:cNvSpPr/>
          <p:nvPr/>
        </p:nvSpPr>
        <p:spPr>
          <a:xfrm>
            <a:off x="5919768" y="243961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8" name="Oval 17"/>
          <p:cNvSpPr/>
          <p:nvPr/>
        </p:nvSpPr>
        <p:spPr>
          <a:xfrm>
            <a:off x="6143541" y="3485784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9" name="TextBox 18"/>
          <p:cNvSpPr txBox="1"/>
          <p:nvPr/>
        </p:nvSpPr>
        <p:spPr>
          <a:xfrm>
            <a:off x="6060883" y="217530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455" y="329000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6066672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30619" y="1469027"/>
            <a:ext cx="3777521" cy="46688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98508" y="1469027"/>
            <a:ext cx="2241743" cy="4541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86123" y="2653250"/>
            <a:ext cx="2254127" cy="3357453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86123" y="2230657"/>
            <a:ext cx="2254127" cy="432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>
            <a:off x="2469002" y="1704030"/>
            <a:ext cx="705963" cy="1518846"/>
          </a:xfrm>
          <a:prstGeom prst="upArrow">
            <a:avLst/>
          </a:prstGeom>
          <a:gradFill flip="none" rotWithShape="1">
            <a:gsLst>
              <a:gs pos="100000">
                <a:srgbClr val="FF0000">
                  <a:shade val="30000"/>
                  <a:satMod val="115000"/>
                  <a:alpha val="23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673631" y="3117569"/>
            <a:ext cx="2254127" cy="432541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31800" y="326027"/>
            <a:ext cx="8229600" cy="1143000"/>
          </a:xfrm>
        </p:spPr>
        <p:txBody>
          <a:bodyPr/>
          <a:lstStyle/>
          <a:p>
            <a:r>
              <a:rPr lang="en-US" dirty="0"/>
              <a:t>Process B</a:t>
            </a:r>
            <a:r>
              <a:rPr lang="en-US" dirty="0">
                <a:latin typeface="Wingdings 3" pitchFamily="18" charset="2"/>
              </a:rPr>
              <a:t>’</a:t>
            </a:r>
            <a:r>
              <a:rPr lang="en-US" dirty="0"/>
              <a:t>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777" y="6100997"/>
            <a:ext cx="4317167" cy="44970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Insulator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883" y="2061829"/>
            <a:ext cx="4012271" cy="2780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Oval 20"/>
          <p:cNvSpPr/>
          <p:nvPr/>
        </p:nvSpPr>
        <p:spPr>
          <a:xfrm>
            <a:off x="8709860" y="4362194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22" name="Oval 21"/>
          <p:cNvSpPr/>
          <p:nvPr/>
        </p:nvSpPr>
        <p:spPr>
          <a:xfrm>
            <a:off x="6143541" y="3485784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23" name="TextBox 22"/>
          <p:cNvSpPr txBox="1"/>
          <p:nvPr/>
        </p:nvSpPr>
        <p:spPr>
          <a:xfrm>
            <a:off x="8815806" y="417994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455" y="329000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9201909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15629" y="1484017"/>
            <a:ext cx="3777521" cy="46688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83518" y="1484017"/>
            <a:ext cx="2241743" cy="4541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71133" y="3207886"/>
            <a:ext cx="2254127" cy="2817807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71133" y="2785287"/>
            <a:ext cx="2254127" cy="432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 flipV="1">
            <a:off x="2454012" y="2258660"/>
            <a:ext cx="705963" cy="1518846"/>
          </a:xfrm>
          <a:prstGeom prst="upArrow">
            <a:avLst/>
          </a:prstGeom>
          <a:gradFill flip="none" rotWithShape="1">
            <a:gsLst>
              <a:gs pos="100000">
                <a:srgbClr val="FF0000">
                  <a:shade val="30000"/>
                  <a:satMod val="115000"/>
                  <a:alpha val="23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658641" y="2128229"/>
            <a:ext cx="2254127" cy="432541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 Arrow 12"/>
          <p:cNvSpPr/>
          <p:nvPr/>
        </p:nvSpPr>
        <p:spPr>
          <a:xfrm flipV="1">
            <a:off x="2453472" y="5674266"/>
            <a:ext cx="705963" cy="801472"/>
          </a:xfrm>
          <a:prstGeom prst="upArrow">
            <a:avLst/>
          </a:prstGeom>
          <a:gradFill flip="none" rotWithShape="1">
            <a:gsLst>
              <a:gs pos="100000">
                <a:schemeClr val="accent1">
                  <a:shade val="30000"/>
                  <a:satMod val="115000"/>
                  <a:alpha val="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074212" y="5411439"/>
            <a:ext cx="625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</a:t>
            </a:r>
            <a:r>
              <a:rPr lang="en-US" sz="3600" baseline="-25000" dirty="0"/>
              <a:t>c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341017"/>
            <a:ext cx="8229600" cy="1143000"/>
          </a:xfrm>
        </p:spPr>
        <p:txBody>
          <a:bodyPr/>
          <a:lstStyle/>
          <a:p>
            <a:r>
              <a:rPr lang="en-US" dirty="0"/>
              <a:t>Process C</a:t>
            </a:r>
            <a:r>
              <a:rPr lang="en-US" dirty="0">
                <a:latin typeface="Wingdings 3" pitchFamily="18" charset="2"/>
              </a:rPr>
              <a:t>’</a:t>
            </a:r>
            <a:r>
              <a:rPr lang="en-US" dirty="0"/>
              <a:t>D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165" y="2010999"/>
            <a:ext cx="4079018" cy="2826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Oval 16"/>
          <p:cNvSpPr/>
          <p:nvPr/>
        </p:nvSpPr>
        <p:spPr>
          <a:xfrm>
            <a:off x="7174137" y="432948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9" name="TextBox 18"/>
          <p:cNvSpPr txBox="1"/>
          <p:nvPr/>
        </p:nvSpPr>
        <p:spPr>
          <a:xfrm>
            <a:off x="6983917" y="3998253"/>
            <a:ext cx="2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2" name="Oval 21"/>
          <p:cNvSpPr/>
          <p:nvPr/>
        </p:nvSpPr>
        <p:spPr>
          <a:xfrm>
            <a:off x="8709860" y="4362194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23" name="TextBox 22"/>
          <p:cNvSpPr txBox="1"/>
          <p:nvPr/>
        </p:nvSpPr>
        <p:spPr>
          <a:xfrm>
            <a:off x="8815806" y="417994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128268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17919" y="1484017"/>
            <a:ext cx="3777521" cy="46688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85808" y="1484017"/>
            <a:ext cx="2241743" cy="4541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73423" y="3612620"/>
            <a:ext cx="2254127" cy="2413073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73423" y="3219997"/>
            <a:ext cx="2254127" cy="432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 flipV="1">
            <a:off x="2456302" y="2693370"/>
            <a:ext cx="705963" cy="1518846"/>
          </a:xfrm>
          <a:prstGeom prst="upArrow">
            <a:avLst/>
          </a:prstGeom>
          <a:gradFill flip="none" rotWithShape="1">
            <a:gsLst>
              <a:gs pos="100000">
                <a:srgbClr val="FF0000">
                  <a:shade val="30000"/>
                  <a:satMod val="115000"/>
                  <a:alpha val="23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660931" y="2562939"/>
            <a:ext cx="2254127" cy="432541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49300" y="274638"/>
            <a:ext cx="8229600" cy="1143000"/>
          </a:xfrm>
        </p:spPr>
        <p:txBody>
          <a:bodyPr/>
          <a:lstStyle/>
          <a:p>
            <a:r>
              <a:rPr lang="en-US" dirty="0"/>
              <a:t>Process D</a:t>
            </a:r>
            <a:r>
              <a:rPr lang="en-US" dirty="0">
                <a:latin typeface="Wingdings 3" pitchFamily="18" charset="2"/>
              </a:rPr>
              <a:t>’</a:t>
            </a:r>
            <a:r>
              <a:rPr lang="en-US" dirty="0"/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077" y="6100997"/>
            <a:ext cx="4317167" cy="44970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Insulator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792" y="2014965"/>
            <a:ext cx="4084008" cy="2830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Oval 13"/>
          <p:cNvSpPr/>
          <p:nvPr/>
        </p:nvSpPr>
        <p:spPr>
          <a:xfrm>
            <a:off x="5919768" y="243961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8" name="TextBox 17"/>
          <p:cNvSpPr txBox="1"/>
          <p:nvPr/>
        </p:nvSpPr>
        <p:spPr>
          <a:xfrm>
            <a:off x="6060883" y="217530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7174137" y="4329485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21" name="TextBox 20"/>
          <p:cNvSpPr txBox="1"/>
          <p:nvPr/>
        </p:nvSpPr>
        <p:spPr>
          <a:xfrm>
            <a:off x="6983917" y="3998253"/>
            <a:ext cx="2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258765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00" y="1295400"/>
            <a:ext cx="9242828" cy="273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26465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520700"/>
            <a:ext cx="8229600" cy="2616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Identify the type of process</a:t>
            </a:r>
          </a:p>
          <a:p>
            <a:r>
              <a:rPr lang="en-US" dirty="0"/>
              <a:t>Write out the special equations for that process</a:t>
            </a:r>
          </a:p>
          <a:p>
            <a:r>
              <a:rPr lang="en-US" dirty="0"/>
              <a:t>Symbolically solve for </a:t>
            </a:r>
            <a:r>
              <a:rPr lang="en-US" dirty="0">
                <a:sym typeface="Symbol"/>
              </a:rPr>
              <a:t>E, Q, W, P, V, and T</a:t>
            </a:r>
          </a:p>
          <a:p>
            <a:r>
              <a:rPr lang="en-US" dirty="0">
                <a:sym typeface="Symbol"/>
              </a:rPr>
              <a:t>Identify your contribution to </a:t>
            </a:r>
            <a:r>
              <a:rPr lang="en-US" dirty="0" err="1">
                <a:sym typeface="Symbol"/>
              </a:rPr>
              <a:t>Q</a:t>
            </a:r>
            <a:r>
              <a:rPr lang="en-US" baseline="-25000" dirty="0" err="1">
                <a:sym typeface="Symbol"/>
              </a:rPr>
              <a:t>h</a:t>
            </a:r>
            <a:r>
              <a:rPr lang="en-US" dirty="0">
                <a:sym typeface="Symbol"/>
              </a:rPr>
              <a:t> and  Q</a:t>
            </a:r>
            <a:r>
              <a:rPr lang="en-US" baseline="-25000" dirty="0">
                <a:sym typeface="Symbol"/>
              </a:rPr>
              <a:t>c</a:t>
            </a:r>
            <a:r>
              <a:rPr lang="en-US" dirty="0">
                <a:sym typeface="Symbol"/>
              </a:rPr>
              <a:t> </a:t>
            </a:r>
          </a:p>
          <a:p>
            <a:r>
              <a:rPr lang="en-US" dirty="0">
                <a:sym typeface="Symbol"/>
              </a:rPr>
              <a:t>Fill in with numbers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78183" y="3517226"/>
                <a:ext cx="2557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=0.001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183" y="3517226"/>
                <a:ext cx="2557931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78183" y="3998598"/>
                <a:ext cx="2557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=0.0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15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183" y="3998598"/>
                <a:ext cx="2557931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22683" y="4477216"/>
                <a:ext cx="2557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1023</m:t>
                    </m:r>
                  </m:oMath>
                </a14:m>
                <a:r>
                  <a:rPr lang="en-US" dirty="0"/>
                  <a:t>K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683" y="4477216"/>
                <a:ext cx="2557931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86083" y="4901168"/>
                <a:ext cx="25579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293</m:t>
                      </m:r>
                      <m:r>
                        <m:rPr>
                          <m:nor/>
                        </m:rPr>
                        <a:rPr lang="en-US" dirty="0"/>
                        <m:t>K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083" y="4901168"/>
                <a:ext cx="2557931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22682" y="5331936"/>
                <a:ext cx="2557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/>
                  <a:t>1mol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682" y="5331936"/>
                <a:ext cx="2557931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99050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3" y="53472"/>
            <a:ext cx="8923181" cy="618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Oval 5"/>
          <p:cNvSpPr/>
          <p:nvPr/>
        </p:nvSpPr>
        <p:spPr>
          <a:xfrm>
            <a:off x="2198077" y="1059757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953000" y="5158252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679756" y="3219616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365731" y="5225129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350477" y="698290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8848" y="5158252"/>
            <a:ext cx="437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302" y="2641242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4189" y="4932741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782425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3" y="53472"/>
            <a:ext cx="8923181" cy="618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Oval 5"/>
          <p:cNvSpPr/>
          <p:nvPr/>
        </p:nvSpPr>
        <p:spPr>
          <a:xfrm>
            <a:off x="2198077" y="1059757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953000" y="5158252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679756" y="3219616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365731" y="5225129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350477" y="698290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8848" y="5158252"/>
            <a:ext cx="437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302" y="2641242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4189" y="4932741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</a:t>
            </a:r>
          </a:p>
        </p:txBody>
      </p:sp>
      <p:sp>
        <p:nvSpPr>
          <p:cNvPr id="12" name="Up Arrow 11"/>
          <p:cNvSpPr/>
          <p:nvPr/>
        </p:nvSpPr>
        <p:spPr>
          <a:xfrm flipV="1">
            <a:off x="2755956" y="3379770"/>
            <a:ext cx="705963" cy="801472"/>
          </a:xfrm>
          <a:prstGeom prst="upArrow">
            <a:avLst/>
          </a:prstGeom>
          <a:gradFill flip="none" rotWithShape="1">
            <a:gsLst>
              <a:gs pos="100000">
                <a:schemeClr val="accent6">
                  <a:lumMod val="75000"/>
                  <a:shade val="30000"/>
                  <a:satMod val="115000"/>
                  <a:alpha val="28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461919" y="3409279"/>
            <a:ext cx="657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Q</a:t>
            </a:r>
            <a:r>
              <a:rPr lang="en-US" sz="3600" baseline="-25000" dirty="0" err="1"/>
              <a:t>h</a:t>
            </a:r>
            <a:endParaRPr lang="en-US" sz="3600" baseline="-25000" dirty="0"/>
          </a:p>
        </p:txBody>
      </p:sp>
      <p:sp>
        <p:nvSpPr>
          <p:cNvPr id="17" name="Up Arrow 16"/>
          <p:cNvSpPr/>
          <p:nvPr/>
        </p:nvSpPr>
        <p:spPr>
          <a:xfrm flipV="1">
            <a:off x="2681230" y="4421355"/>
            <a:ext cx="705963" cy="801472"/>
          </a:xfrm>
          <a:prstGeom prst="upArrow">
            <a:avLst/>
          </a:prstGeom>
          <a:gradFill flip="none" rotWithShape="1">
            <a:gsLst>
              <a:gs pos="100000">
                <a:schemeClr val="accent1">
                  <a:shade val="30000"/>
                  <a:satMod val="115000"/>
                  <a:alpha val="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146895" y="4664321"/>
            <a:ext cx="625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</a:t>
            </a:r>
            <a:r>
              <a:rPr lang="en-US" sz="3600" baseline="-250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1130476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00" y="1295400"/>
            <a:ext cx="9242828" cy="273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67380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520700"/>
            <a:ext cx="8229600" cy="2616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Identify the type of process</a:t>
            </a:r>
          </a:p>
          <a:p>
            <a:r>
              <a:rPr lang="en-US" dirty="0"/>
              <a:t>Write out the special equations for that process</a:t>
            </a:r>
          </a:p>
          <a:p>
            <a:r>
              <a:rPr lang="en-US" dirty="0"/>
              <a:t>Symbolically solve for </a:t>
            </a:r>
            <a:r>
              <a:rPr lang="en-US" dirty="0">
                <a:sym typeface="Symbol"/>
              </a:rPr>
              <a:t>E, Q, W, P, V, and T</a:t>
            </a:r>
          </a:p>
          <a:p>
            <a:r>
              <a:rPr lang="en-US" dirty="0">
                <a:sym typeface="Symbol"/>
              </a:rPr>
              <a:t>Identify your contribution to </a:t>
            </a:r>
            <a:r>
              <a:rPr lang="en-US" dirty="0" err="1">
                <a:sym typeface="Symbol"/>
              </a:rPr>
              <a:t>Q</a:t>
            </a:r>
            <a:r>
              <a:rPr lang="en-US" baseline="-25000" dirty="0" err="1">
                <a:sym typeface="Symbol"/>
              </a:rPr>
              <a:t>h</a:t>
            </a:r>
            <a:r>
              <a:rPr lang="en-US" dirty="0">
                <a:sym typeface="Symbol"/>
              </a:rPr>
              <a:t> and  Q</a:t>
            </a:r>
            <a:r>
              <a:rPr lang="en-US" baseline="-25000" dirty="0">
                <a:sym typeface="Symbol"/>
              </a:rPr>
              <a:t>c</a:t>
            </a:r>
            <a:r>
              <a:rPr lang="en-US" dirty="0">
                <a:sym typeface="Symbol"/>
              </a:rPr>
              <a:t> </a:t>
            </a:r>
          </a:p>
          <a:p>
            <a:r>
              <a:rPr lang="en-US" dirty="0">
                <a:sym typeface="Symbol"/>
              </a:rPr>
              <a:t>Fill in with numbers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78183" y="3517226"/>
                <a:ext cx="2557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=0.001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183" y="3517226"/>
                <a:ext cx="2557931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78183" y="3998598"/>
                <a:ext cx="2557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=0.00431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183" y="3998598"/>
                <a:ext cx="255793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22683" y="4477216"/>
                <a:ext cx="2557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373</m:t>
                    </m:r>
                  </m:oMath>
                </a14:m>
                <a:r>
                  <a:rPr lang="en-US" dirty="0"/>
                  <a:t>K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683" y="4477216"/>
                <a:ext cx="255793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86083" y="4901168"/>
                <a:ext cx="25579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293</m:t>
                      </m:r>
                      <m:r>
                        <m:rPr>
                          <m:nor/>
                        </m:rPr>
                        <a:rPr lang="en-US" dirty="0"/>
                        <m:t>K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083" y="4901168"/>
                <a:ext cx="2557931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22682" y="5331936"/>
                <a:ext cx="2557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/>
                  <a:t>1mol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682" y="5331936"/>
                <a:ext cx="2557931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6840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645206"/>
            <a:ext cx="8230018" cy="5679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Oval 5"/>
          <p:cNvSpPr/>
          <p:nvPr/>
        </p:nvSpPr>
        <p:spPr>
          <a:xfrm>
            <a:off x="2514600" y="99294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24200" y="333154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10200" y="444958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239000" y="5233891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714470" y="698291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5738" y="3360293"/>
            <a:ext cx="437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2746" y="3871206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3895" y="501530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4922008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645206"/>
            <a:ext cx="8230018" cy="5679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Oval 5"/>
          <p:cNvSpPr/>
          <p:nvPr/>
        </p:nvSpPr>
        <p:spPr>
          <a:xfrm>
            <a:off x="2514600" y="99294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24200" y="333154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10200" y="444958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239000" y="5233891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714470" y="698291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5738" y="3360293"/>
            <a:ext cx="437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2746" y="3871206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3895" y="501530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4" name="Up Arrow 13"/>
          <p:cNvSpPr/>
          <p:nvPr/>
        </p:nvSpPr>
        <p:spPr>
          <a:xfrm flipV="1">
            <a:off x="4191082" y="3215884"/>
            <a:ext cx="705963" cy="801472"/>
          </a:xfrm>
          <a:prstGeom prst="upArrow">
            <a:avLst/>
          </a:prstGeom>
          <a:gradFill flip="none" rotWithShape="1">
            <a:gsLst>
              <a:gs pos="100000">
                <a:schemeClr val="accent6">
                  <a:lumMod val="75000"/>
                  <a:shade val="30000"/>
                  <a:satMod val="115000"/>
                  <a:alpha val="28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841801" y="3192898"/>
            <a:ext cx="657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Q</a:t>
            </a:r>
            <a:r>
              <a:rPr lang="en-US" sz="3600" baseline="-25000" dirty="0" err="1"/>
              <a:t>h</a:t>
            </a:r>
            <a:endParaRPr lang="en-US" sz="3600" baseline="-25000" dirty="0"/>
          </a:p>
        </p:txBody>
      </p:sp>
      <p:sp>
        <p:nvSpPr>
          <p:cNvPr id="18" name="Up Arrow 17"/>
          <p:cNvSpPr/>
          <p:nvPr/>
        </p:nvSpPr>
        <p:spPr>
          <a:xfrm flipV="1">
            <a:off x="4086151" y="4535013"/>
            <a:ext cx="705963" cy="801472"/>
          </a:xfrm>
          <a:prstGeom prst="upArrow">
            <a:avLst/>
          </a:prstGeom>
          <a:gradFill flip="none" rotWithShape="1">
            <a:gsLst>
              <a:gs pos="100000">
                <a:schemeClr val="accent1">
                  <a:shade val="30000"/>
                  <a:satMod val="115000"/>
                  <a:alpha val="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706891" y="4751871"/>
            <a:ext cx="625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</a:t>
            </a:r>
            <a:r>
              <a:rPr lang="en-US" sz="3600" baseline="-25000" dirty="0"/>
              <a:t>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53" y="647700"/>
            <a:ext cx="8145947" cy="566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Oval 6"/>
          <p:cNvSpPr/>
          <p:nvPr/>
        </p:nvSpPr>
        <p:spPr>
          <a:xfrm>
            <a:off x="2514600" y="99294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10200" y="444958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714470" y="698291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2746" y="3871206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2581848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558800"/>
            <a:ext cx="8204200" cy="575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Oval 8"/>
          <p:cNvSpPr/>
          <p:nvPr/>
        </p:nvSpPr>
        <p:spPr>
          <a:xfrm>
            <a:off x="5410200" y="444958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239000" y="5233891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342746" y="3871206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3895" y="501530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076100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25" y="571291"/>
            <a:ext cx="8211575" cy="5727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Oval 6"/>
          <p:cNvSpPr/>
          <p:nvPr/>
        </p:nvSpPr>
        <p:spPr>
          <a:xfrm>
            <a:off x="3124200" y="333154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239000" y="5233891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685738" y="3360293"/>
            <a:ext cx="437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3895" y="501530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756452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634790"/>
            <a:ext cx="8255000" cy="5639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Oval 5"/>
          <p:cNvSpPr/>
          <p:nvPr/>
        </p:nvSpPr>
        <p:spPr>
          <a:xfrm>
            <a:off x="2514600" y="99294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24200" y="3331546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714470" y="698291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5738" y="3360293"/>
            <a:ext cx="437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75366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465</Words>
  <Application>Microsoft Office PowerPoint</Application>
  <PresentationFormat>On-screen Show (4:3)</PresentationFormat>
  <Paragraphs>160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</vt:lpstr>
      <vt:lpstr>Arial</vt:lpstr>
      <vt:lpstr>Calibri</vt:lpstr>
      <vt:lpstr>Cambria Math</vt:lpstr>
      <vt:lpstr>Symbol</vt:lpstr>
      <vt:lpstr>Wingdings 3</vt:lpstr>
      <vt:lpstr>Office Theme</vt:lpstr>
      <vt:lpstr>Lecture 35</vt:lpstr>
      <vt:lpstr>Question 123.11.5</vt:lpstr>
      <vt:lpstr>Question 123.11.2</vt:lpstr>
      <vt:lpstr>Question 123.11.1.5</vt:lpstr>
      <vt:lpstr>PowerPoint Presentation</vt:lpstr>
      <vt:lpstr>PowerPoint Presentation</vt:lpstr>
      <vt:lpstr>Question 123.11.3</vt:lpstr>
      <vt:lpstr>Question</vt:lpstr>
      <vt:lpstr>PowerPoint Presentation</vt:lpstr>
      <vt:lpstr>PowerPoint Presentation</vt:lpstr>
      <vt:lpstr>PowerPoint Presentation</vt:lpstr>
      <vt:lpstr>Question</vt:lpstr>
      <vt:lpstr>Question</vt:lpstr>
      <vt:lpstr>PowerPoint Presentation</vt:lpstr>
      <vt:lpstr>PowerPoint Presentation</vt:lpstr>
      <vt:lpstr>Question</vt:lpstr>
      <vt:lpstr>PowerPoint Presentation</vt:lpstr>
      <vt:lpstr>PowerPoint Presentation</vt:lpstr>
      <vt:lpstr>Question</vt:lpstr>
      <vt:lpstr>PowerPoint Presentation</vt:lpstr>
      <vt:lpstr>Question</vt:lpstr>
      <vt:lpstr>PowerPoint Presentation</vt:lpstr>
      <vt:lpstr>Question 123.11.4</vt:lpstr>
      <vt:lpstr>END</vt:lpstr>
      <vt:lpstr>Carnot Engine</vt:lpstr>
      <vt:lpstr>PowerPoint Presentation</vt:lpstr>
      <vt:lpstr>Process A to B</vt:lpstr>
      <vt:lpstr>Process B to C</vt:lpstr>
      <vt:lpstr>Process C to D</vt:lpstr>
      <vt:lpstr>Process D to A</vt:lpstr>
      <vt:lpstr>PowerPoint Presentation</vt:lpstr>
      <vt:lpstr>Process A’B</vt:lpstr>
      <vt:lpstr>Process B’C</vt:lpstr>
      <vt:lpstr>Process C’D</vt:lpstr>
      <vt:lpstr>Process D’A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rtlines</dc:creator>
  <cp:lastModifiedBy>Lines, Todd</cp:lastModifiedBy>
  <cp:revision>18</cp:revision>
  <dcterms:created xsi:type="dcterms:W3CDTF">2011-10-26T03:11:30Z</dcterms:created>
  <dcterms:modified xsi:type="dcterms:W3CDTF">2026-04-06T18:16:13Z</dcterms:modified>
</cp:coreProperties>
</file>