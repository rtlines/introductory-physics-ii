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3" r:id="rId2"/>
    <p:sldId id="267" r:id="rId3"/>
    <p:sldId id="268" r:id="rId4"/>
    <p:sldId id="344" r:id="rId5"/>
    <p:sldId id="345" r:id="rId6"/>
    <p:sldId id="298" r:id="rId7"/>
    <p:sldId id="314" r:id="rId8"/>
    <p:sldId id="1456" r:id="rId9"/>
    <p:sldId id="315" r:id="rId10"/>
    <p:sldId id="316" r:id="rId11"/>
    <p:sldId id="317" r:id="rId12"/>
    <p:sldId id="299" r:id="rId13"/>
    <p:sldId id="300" r:id="rId14"/>
    <p:sldId id="302" r:id="rId15"/>
    <p:sldId id="339" r:id="rId16"/>
    <p:sldId id="340" r:id="rId17"/>
    <p:sldId id="294" r:id="rId18"/>
    <p:sldId id="30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1" autoAdjust="0"/>
    <p:restoredTop sz="86322" autoAdjust="0"/>
  </p:normalViewPr>
  <p:slideViewPr>
    <p:cSldViewPr snapToGrid="0">
      <p:cViewPr varScale="1">
        <p:scale>
          <a:sx n="90" d="100"/>
          <a:sy n="90" d="100"/>
        </p:scale>
        <p:origin x="127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64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modSld">
      <pc:chgData name="Todd Lines" userId="afaf7c3a-e8aa-4568-882a-02ad8f9e19b0" providerId="ADAL" clId="{5FF5AC1B-ABA9-43D7-A1E3-2D92732CD6E2}" dt="2026-09-29T17:16:15.321" v="11" actId="21"/>
      <pc:docMkLst>
        <pc:docMk/>
      </pc:docMkLst>
      <pc:sldChg chg="addSp delSp modSp mod">
        <pc:chgData name="Todd Lines" userId="afaf7c3a-e8aa-4568-882a-02ad8f9e19b0" providerId="ADAL" clId="{5FF5AC1B-ABA9-43D7-A1E3-2D92732CD6E2}" dt="2026-09-29T17:15:48.668" v="8" actId="21"/>
        <pc:sldMkLst>
          <pc:docMk/>
          <pc:sldMk cId="0" sldId="267"/>
        </pc:sldMkLst>
        <pc:picChg chg="add del mod">
          <ac:chgData name="Todd Lines" userId="afaf7c3a-e8aa-4568-882a-02ad8f9e19b0" providerId="ADAL" clId="{5FF5AC1B-ABA9-43D7-A1E3-2D92732CD6E2}" dt="2026-09-29T17:15:32.300" v="5" actId="21"/>
          <ac:picMkLst>
            <pc:docMk/>
            <pc:sldMk cId="0" sldId="267"/>
            <ac:picMk id="5" creationId="{C6A39308-D40C-EF7C-D923-77CF60EE4087}"/>
          </ac:picMkLst>
        </pc:picChg>
        <pc:picChg chg="add del mod">
          <ac:chgData name="Todd Lines" userId="afaf7c3a-e8aa-4568-882a-02ad8f9e19b0" providerId="ADAL" clId="{5FF5AC1B-ABA9-43D7-A1E3-2D92732CD6E2}" dt="2026-09-29T17:15:48.668" v="8" actId="21"/>
          <ac:picMkLst>
            <pc:docMk/>
            <pc:sldMk cId="0" sldId="267"/>
            <ac:picMk id="7" creationId="{5646AB2E-CB7F-322E-BCE7-FD085403AA3D}"/>
          </ac:picMkLst>
        </pc:picChg>
      </pc:sldChg>
      <pc:sldChg chg="addSp delSp modSp mod">
        <pc:chgData name="Todd Lines" userId="afaf7c3a-e8aa-4568-882a-02ad8f9e19b0" providerId="ADAL" clId="{5FF5AC1B-ABA9-43D7-A1E3-2D92732CD6E2}" dt="2026-09-29T17:16:15.321" v="11" actId="21"/>
        <pc:sldMkLst>
          <pc:docMk/>
          <pc:sldMk cId="0" sldId="268"/>
        </pc:sldMkLst>
        <pc:picChg chg="add del mod">
          <ac:chgData name="Todd Lines" userId="afaf7c3a-e8aa-4568-882a-02ad8f9e19b0" providerId="ADAL" clId="{5FF5AC1B-ABA9-43D7-A1E3-2D92732CD6E2}" dt="2026-09-29T17:16:15.321" v="11" actId="21"/>
          <ac:picMkLst>
            <pc:docMk/>
            <pc:sldMk cId="0" sldId="268"/>
            <ac:picMk id="3" creationId="{62E52D13-07F4-30EE-9CDC-D2618834A3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20DDF-410A-4A2E-BE2B-BF9258AB4EB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45037-B36C-428B-80E4-B5F1332A9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0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5995E9-268A-47CD-8EB6-6898CE55DF2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D32CF-726D-406C-8E04-892C3237510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A76A9-D8C5-4554-9094-501E768039D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hysics.com/w11.html" TargetMode="External"/><Relationship Id="rId2" Type="http://schemas.openxmlformats.org/officeDocument/2006/relationships/hyperlink" Target="https://astro.unl.edu/classaction/animations/light/dopplershift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7102-2D8F-05F0-C316-945DA29AB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9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5088B-237F-94EB-D3B6-B3BF8AFFB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9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9950" y="1249045"/>
            <a:ext cx="5114290" cy="2379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Beats</a:t>
            </a: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0" y="22002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2178050" y="3019425"/>
          <a:ext cx="12763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2480" imgH="399600" progId="Equation.3">
                  <p:embed/>
                </p:oleObj>
              </mc:Choice>
              <mc:Fallback>
                <p:oleObj name="Equation" r:id="rId3" imgW="1392480" imgH="399600" progId="Equation.3">
                  <p:embed/>
                  <p:pic>
                    <p:nvPicPr>
                      <p:cNvPr id="10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3019425"/>
                        <a:ext cx="12763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5748338" y="3017838"/>
          <a:ext cx="12763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2480" imgH="399600" progId="Equation.3">
                  <p:embed/>
                </p:oleObj>
              </mc:Choice>
              <mc:Fallback>
                <p:oleObj name="Equation" r:id="rId5" imgW="1392480" imgH="399600" progId="Equation.3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8338" y="3017838"/>
                        <a:ext cx="12763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0" y="3619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5087938" y="5637213"/>
          <a:ext cx="26336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28720" imgH="457200" progId="Equation.3">
                  <p:embed/>
                </p:oleObj>
              </mc:Choice>
              <mc:Fallback>
                <p:oleObj name="Equation" r:id="rId7" imgW="2628720" imgH="457200" progId="Equation.3">
                  <p:embed/>
                  <p:pic>
                    <p:nvPicPr>
                      <p:cNvPr id="10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5637213"/>
                        <a:ext cx="2633662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70760" y="3529648"/>
            <a:ext cx="4922520" cy="204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5" y="1524000"/>
            <a:ext cx="8459788" cy="3948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223.9.1</a:t>
            </a:r>
          </a:p>
        </p:txBody>
      </p:sp>
      <p:sp>
        <p:nvSpPr>
          <p:cNvPr id="573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Two graphs are shown below. Each graph represents the result of adding two waves together. For which graph is the frequency difference greater between the two original waves?.</a:t>
            </a:r>
          </a:p>
        </p:txBody>
      </p:sp>
      <p:pic>
        <p:nvPicPr>
          <p:cNvPr id="5734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3288" y="4618038"/>
            <a:ext cx="3433762" cy="160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4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350" y="4618038"/>
            <a:ext cx="3433763" cy="160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45" name="TextBox 5"/>
          <p:cNvSpPr txBox="1">
            <a:spLocks noChangeArrowheads="1"/>
          </p:cNvSpPr>
          <p:nvPr/>
        </p:nvSpPr>
        <p:spPr bwMode="auto">
          <a:xfrm>
            <a:off x="2152650" y="3967163"/>
            <a:ext cx="4587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73446" name="TextBox 6"/>
          <p:cNvSpPr txBox="1">
            <a:spLocks noChangeArrowheads="1"/>
          </p:cNvSpPr>
          <p:nvPr/>
        </p:nvSpPr>
        <p:spPr bwMode="auto">
          <a:xfrm>
            <a:off x="6243638" y="4002088"/>
            <a:ext cx="4587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2412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223.9.2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sz="2800" dirty="0"/>
              <a:t>You are tuning a guitar by comparing the sound of the string with that of a standard tuning fork. </a:t>
            </a:r>
            <a:r>
              <a:rPr lang="en-US" sz="2800"/>
              <a:t>You notice a beat frequency of 5Hz. </a:t>
            </a:r>
            <a:r>
              <a:rPr lang="en-US" sz="2800" dirty="0"/>
              <a:t>You tighten the guitar string and the beat frequency rises to 8Hz. In order to tune the string exactly to the tuning fork, you should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Continue to tighten the string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Loosen the string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Impossible to determine</a:t>
            </a:r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164D1B-69C2-4734-9A54-A71F13ACE6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5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223.5.1  123.22.13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You are a parent standing at platform 9.75. The Hogwarts Express is just leaving the station. The whistle blows. The engineer (if there is one) hears a perfect middle C (256 Hz). What do you hear as the train leaves?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higher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lower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Middle C (256 Hz)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316120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Inertial Frames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921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Remember Inertial Reference Frames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The two observers can both take the view that they are stationary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Newton’s laws are all good in either frame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4575" y="3113088"/>
            <a:ext cx="4987925" cy="1803400"/>
            <a:chOff x="802" y="2409"/>
            <a:chExt cx="3142" cy="113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802" y="2409"/>
              <a:ext cx="3142" cy="1136"/>
              <a:chOff x="802" y="2409"/>
              <a:chExt cx="3142" cy="1136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802" y="2409"/>
                <a:ext cx="3142" cy="1136"/>
                <a:chOff x="802" y="2409"/>
                <a:chExt cx="3142" cy="1136"/>
              </a:xfrm>
            </p:grpSpPr>
            <p:sp>
              <p:nvSpPr>
                <p:cNvPr id="38937" name="Rectangle 7"/>
                <p:cNvSpPr>
                  <a:spLocks noChangeArrowheads="1"/>
                </p:cNvSpPr>
                <p:nvPr/>
              </p:nvSpPr>
              <p:spPr bwMode="auto">
                <a:xfrm>
                  <a:off x="987" y="3355"/>
                  <a:ext cx="1774" cy="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scene3d>
                  <a:camera prst="legacyPerspectiveTop"/>
                  <a:lightRig rig="legacyFlat3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</a:sp3d>
              </p:spPr>
              <p:txBody>
                <a:bodyPr wrap="none" anchor="ctr">
                  <a:flatTx/>
                </a:bodyPr>
                <a:lstStyle/>
                <a:p>
                  <a:endParaRPr lang="en-US"/>
                </a:p>
              </p:txBody>
            </p:sp>
            <p:sp>
              <p:nvSpPr>
                <p:cNvPr id="38938" name="Rectangle 8"/>
                <p:cNvSpPr>
                  <a:spLocks noChangeArrowheads="1"/>
                </p:cNvSpPr>
                <p:nvPr/>
              </p:nvSpPr>
              <p:spPr bwMode="auto">
                <a:xfrm>
                  <a:off x="2170" y="3030"/>
                  <a:ext cx="1774" cy="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scene3d>
                  <a:camera prst="legacyPerspectiveTop"/>
                  <a:lightRig rig="legacyFlat3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</a:sp3d>
              </p:spPr>
              <p:txBody>
                <a:bodyPr wrap="none" anchor="ctr">
                  <a:flatTx/>
                </a:bodyPr>
                <a:lstStyle/>
                <a:p>
                  <a:endParaRPr lang="en-US"/>
                </a:p>
              </p:txBody>
            </p:sp>
            <p:sp>
              <p:nvSpPr>
                <p:cNvPr id="3893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1024" y="2587"/>
                  <a:ext cx="0" cy="7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028" y="3387"/>
                  <a:ext cx="26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02" y="2482"/>
                  <a:ext cx="18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y</a:t>
                  </a:r>
                </a:p>
              </p:txBody>
            </p:sp>
            <p:sp>
              <p:nvSpPr>
                <p:cNvPr id="3894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691" y="3314"/>
                  <a:ext cx="18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x</a:t>
                  </a:r>
                </a:p>
              </p:txBody>
            </p:sp>
            <p:sp>
              <p:nvSpPr>
                <p:cNvPr id="38943" name="Line 13"/>
                <p:cNvSpPr>
                  <a:spLocks noChangeShapeType="1"/>
                </p:cNvSpPr>
                <p:nvPr/>
              </p:nvSpPr>
              <p:spPr bwMode="auto">
                <a:xfrm>
                  <a:off x="3072" y="2724"/>
                  <a:ext cx="41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182" y="2409"/>
                  <a:ext cx="290" cy="23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solidFill>
                        <a:srgbClr val="FF0000"/>
                      </a:solidFill>
                    </a:rPr>
                    <a:t>v</a:t>
                  </a:r>
                  <a:r>
                    <a:rPr lang="en-US" baseline="-25000" dirty="0" err="1">
                      <a:solidFill>
                        <a:srgbClr val="FF0000"/>
                      </a:solidFill>
                    </a:rPr>
                    <a:t>BA</a:t>
                  </a:r>
                  <a:endParaRPr lang="en-US" baseline="-250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3759" y="2701"/>
                <a:ext cx="74" cy="275"/>
                <a:chOff x="4491" y="2017"/>
                <a:chExt cx="422" cy="1421"/>
              </a:xfrm>
            </p:grpSpPr>
            <p:sp>
              <p:nvSpPr>
                <p:cNvPr id="38930" name="Oval 16"/>
                <p:cNvSpPr>
                  <a:spLocks noChangeArrowheads="1"/>
                </p:cNvSpPr>
                <p:nvPr/>
              </p:nvSpPr>
              <p:spPr bwMode="auto">
                <a:xfrm>
                  <a:off x="4675" y="2017"/>
                  <a:ext cx="238" cy="275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1" name="Oval 17"/>
                <p:cNvSpPr>
                  <a:spLocks noChangeArrowheads="1"/>
                </p:cNvSpPr>
                <p:nvPr/>
              </p:nvSpPr>
              <p:spPr bwMode="auto">
                <a:xfrm>
                  <a:off x="4681" y="2277"/>
                  <a:ext cx="201" cy="594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2" name="Rectangle 18"/>
                <p:cNvSpPr>
                  <a:spLocks noChangeArrowheads="1"/>
                </p:cNvSpPr>
                <p:nvPr/>
              </p:nvSpPr>
              <p:spPr bwMode="auto">
                <a:xfrm rot="3194042">
                  <a:off x="4624" y="2261"/>
                  <a:ext cx="51" cy="318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3" name="Rectangle 19"/>
                <p:cNvSpPr>
                  <a:spLocks noChangeArrowheads="1"/>
                </p:cNvSpPr>
                <p:nvPr/>
              </p:nvSpPr>
              <p:spPr bwMode="auto">
                <a:xfrm rot="-2837193">
                  <a:off x="4615" y="2443"/>
                  <a:ext cx="66" cy="28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4" name="Rectangle 20"/>
                <p:cNvSpPr>
                  <a:spLocks noChangeArrowheads="1"/>
                </p:cNvSpPr>
                <p:nvPr/>
              </p:nvSpPr>
              <p:spPr bwMode="auto">
                <a:xfrm rot="-725482">
                  <a:off x="4755" y="2780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5" name="Rectangle 21"/>
                <p:cNvSpPr>
                  <a:spLocks noChangeArrowheads="1"/>
                </p:cNvSpPr>
                <p:nvPr/>
              </p:nvSpPr>
              <p:spPr bwMode="auto">
                <a:xfrm rot="1101632">
                  <a:off x="4746" y="3071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6" name="Rectangle 22"/>
                <p:cNvSpPr>
                  <a:spLocks noChangeArrowheads="1"/>
                </p:cNvSpPr>
                <p:nvPr/>
              </p:nvSpPr>
              <p:spPr bwMode="auto">
                <a:xfrm>
                  <a:off x="4695" y="3366"/>
                  <a:ext cx="195" cy="72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23"/>
              <p:cNvGrpSpPr>
                <a:grpSpLocks/>
              </p:cNvGrpSpPr>
              <p:nvPr/>
            </p:nvGrpSpPr>
            <p:grpSpPr bwMode="auto">
              <a:xfrm>
                <a:off x="1101" y="3043"/>
                <a:ext cx="74" cy="275"/>
                <a:chOff x="4491" y="2017"/>
                <a:chExt cx="422" cy="1421"/>
              </a:xfrm>
            </p:grpSpPr>
            <p:sp>
              <p:nvSpPr>
                <p:cNvPr id="38923" name="Oval 24"/>
                <p:cNvSpPr>
                  <a:spLocks noChangeArrowheads="1"/>
                </p:cNvSpPr>
                <p:nvPr/>
              </p:nvSpPr>
              <p:spPr bwMode="auto">
                <a:xfrm>
                  <a:off x="4675" y="2017"/>
                  <a:ext cx="238" cy="275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4" name="Oval 25"/>
                <p:cNvSpPr>
                  <a:spLocks noChangeArrowheads="1"/>
                </p:cNvSpPr>
                <p:nvPr/>
              </p:nvSpPr>
              <p:spPr bwMode="auto">
                <a:xfrm>
                  <a:off x="4681" y="2277"/>
                  <a:ext cx="201" cy="594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5" name="Rectangle 26"/>
                <p:cNvSpPr>
                  <a:spLocks noChangeArrowheads="1"/>
                </p:cNvSpPr>
                <p:nvPr/>
              </p:nvSpPr>
              <p:spPr bwMode="auto">
                <a:xfrm rot="3194042">
                  <a:off x="4624" y="2261"/>
                  <a:ext cx="51" cy="318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6" name="Rectangle 27"/>
                <p:cNvSpPr>
                  <a:spLocks noChangeArrowheads="1"/>
                </p:cNvSpPr>
                <p:nvPr/>
              </p:nvSpPr>
              <p:spPr bwMode="auto">
                <a:xfrm rot="-2837193">
                  <a:off x="4615" y="2443"/>
                  <a:ext cx="66" cy="28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7" name="Rectangle 28"/>
                <p:cNvSpPr>
                  <a:spLocks noChangeArrowheads="1"/>
                </p:cNvSpPr>
                <p:nvPr/>
              </p:nvSpPr>
              <p:spPr bwMode="auto">
                <a:xfrm rot="-725482">
                  <a:off x="4755" y="2780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8" name="Rectangle 29"/>
                <p:cNvSpPr>
                  <a:spLocks noChangeArrowheads="1"/>
                </p:cNvSpPr>
                <p:nvPr/>
              </p:nvSpPr>
              <p:spPr bwMode="auto">
                <a:xfrm rot="1101632">
                  <a:off x="4746" y="3071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9" name="Rectangle 30"/>
                <p:cNvSpPr>
                  <a:spLocks noChangeArrowheads="1"/>
                </p:cNvSpPr>
                <p:nvPr/>
              </p:nvSpPr>
              <p:spPr bwMode="auto">
                <a:xfrm>
                  <a:off x="4695" y="3366"/>
                  <a:ext cx="195" cy="72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8918" name="Text Box 31"/>
            <p:cNvSpPr txBox="1">
              <a:spLocks noChangeArrowheads="1"/>
            </p:cNvSpPr>
            <p:nvPr/>
          </p:nvSpPr>
          <p:spPr bwMode="auto">
            <a:xfrm>
              <a:off x="1055" y="2684"/>
              <a:ext cx="21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8919" name="Text Box 32"/>
            <p:cNvSpPr txBox="1">
              <a:spLocks noChangeArrowheads="1"/>
            </p:cNvSpPr>
            <p:nvPr/>
          </p:nvSpPr>
          <p:spPr bwMode="auto">
            <a:xfrm>
              <a:off x="2330" y="2606"/>
              <a:ext cx="21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24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74E6-6806-4E3B-6B2F-6835AC6B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2F1B5-ED77-092A-339A-73D1B416E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https://astro.unl.edu/classaction/animations/light/dopplershift.html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https://ophysics.com/w11.html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1006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Spherical Emitter Setup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1488" y="1743075"/>
            <a:ext cx="7713662" cy="4386263"/>
            <a:chOff x="297" y="1098"/>
            <a:chExt cx="4859" cy="27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90" y="1098"/>
              <a:ext cx="2871" cy="2763"/>
              <a:chOff x="1056" y="1824"/>
              <a:chExt cx="1536" cy="1584"/>
            </a:xfrm>
          </p:grpSpPr>
          <p:sp>
            <p:nvSpPr>
              <p:cNvPr id="39949" name="Oval 5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0" name="Oval 6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1" name="Oval 7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2" name="Oval 8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3" name="Oval 9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4" name="Oval 10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5" name="Oval 11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1" name="Line 12"/>
            <p:cNvSpPr>
              <a:spLocks noChangeShapeType="1"/>
            </p:cNvSpPr>
            <p:nvPr/>
          </p:nvSpPr>
          <p:spPr bwMode="auto">
            <a:xfrm flipV="1">
              <a:off x="1252" y="2452"/>
              <a:ext cx="1573" cy="10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2" name="Text Box 13"/>
            <p:cNvSpPr txBox="1">
              <a:spLocks noChangeArrowheads="1"/>
            </p:cNvSpPr>
            <p:nvPr/>
          </p:nvSpPr>
          <p:spPr bwMode="auto">
            <a:xfrm>
              <a:off x="297" y="2422"/>
              <a:ext cx="94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Point Source</a:t>
              </a:r>
            </a:p>
          </p:txBody>
        </p:sp>
        <p:sp>
          <p:nvSpPr>
            <p:cNvPr id="39943" name="Line 14"/>
            <p:cNvSpPr>
              <a:spLocks noChangeShapeType="1"/>
            </p:cNvSpPr>
            <p:nvPr/>
          </p:nvSpPr>
          <p:spPr bwMode="auto">
            <a:xfrm>
              <a:off x="1435" y="1804"/>
              <a:ext cx="202" cy="45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4" name="Text Box 15"/>
            <p:cNvSpPr txBox="1">
              <a:spLocks noChangeArrowheads="1"/>
            </p:cNvSpPr>
            <p:nvPr/>
          </p:nvSpPr>
          <p:spPr bwMode="auto">
            <a:xfrm>
              <a:off x="393" y="1540"/>
              <a:ext cx="1095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Spherical Wave Crests</a:t>
              </a:r>
            </a:p>
          </p:txBody>
        </p:sp>
        <p:sp>
          <p:nvSpPr>
            <p:cNvPr id="39945" name="Line 16"/>
            <p:cNvSpPr>
              <a:spLocks noChangeShapeType="1"/>
            </p:cNvSpPr>
            <p:nvPr/>
          </p:nvSpPr>
          <p:spPr bwMode="auto">
            <a:xfrm>
              <a:off x="1430" y="1800"/>
              <a:ext cx="431" cy="327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6" name="Oval 17"/>
            <p:cNvSpPr>
              <a:spLocks noChangeArrowheads="1"/>
            </p:cNvSpPr>
            <p:nvPr/>
          </p:nvSpPr>
          <p:spPr bwMode="auto">
            <a:xfrm>
              <a:off x="3831" y="235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Line 18"/>
            <p:cNvSpPr>
              <a:spLocks noChangeShapeType="1"/>
            </p:cNvSpPr>
            <p:nvPr/>
          </p:nvSpPr>
          <p:spPr bwMode="auto">
            <a:xfrm flipH="1">
              <a:off x="3968" y="2077"/>
              <a:ext cx="648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8" name="Text Box 19"/>
            <p:cNvSpPr txBox="1">
              <a:spLocks noChangeArrowheads="1"/>
            </p:cNvSpPr>
            <p:nvPr/>
          </p:nvSpPr>
          <p:spPr bwMode="auto">
            <a:xfrm>
              <a:off x="4496" y="1846"/>
              <a:ext cx="6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Detector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37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Moving Detector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7775" y="1895475"/>
            <a:ext cx="4557713" cy="4386263"/>
            <a:chOff x="1586" y="1194"/>
            <a:chExt cx="2871" cy="276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586" y="1194"/>
              <a:ext cx="2871" cy="2763"/>
              <a:chOff x="1056" y="1824"/>
              <a:chExt cx="1536" cy="1584"/>
            </a:xfrm>
          </p:grpSpPr>
          <p:sp>
            <p:nvSpPr>
              <p:cNvPr id="40968" name="Oval 6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69" name="Oval 7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0" name="Oval 8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1" name="Oval 9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2" name="Oval 10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3" name="Oval 11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4" name="Oval 12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966" name="Oval 13"/>
            <p:cNvSpPr>
              <a:spLocks noChangeArrowheads="1"/>
            </p:cNvSpPr>
            <p:nvPr/>
          </p:nvSpPr>
          <p:spPr bwMode="auto">
            <a:xfrm>
              <a:off x="3927" y="2455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14"/>
            <p:cNvSpPr>
              <a:spLocks noChangeShapeType="1"/>
            </p:cNvSpPr>
            <p:nvPr/>
          </p:nvSpPr>
          <p:spPr bwMode="auto">
            <a:xfrm flipH="1">
              <a:off x="3675" y="2515"/>
              <a:ext cx="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446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Moving Detector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70175" y="2047875"/>
            <a:ext cx="4557713" cy="4386263"/>
            <a:chOff x="1682" y="1290"/>
            <a:chExt cx="2871" cy="276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682" y="1290"/>
              <a:ext cx="2871" cy="2763"/>
              <a:chOff x="1056" y="1824"/>
              <a:chExt cx="1536" cy="1584"/>
            </a:xfrm>
          </p:grpSpPr>
          <p:sp>
            <p:nvSpPr>
              <p:cNvPr id="41992" name="Oval 6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3" name="Oval 7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4" name="Oval 8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5" name="Oval 9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6" name="Oval 10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7" name="Oval 11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8" name="Oval 12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0" name="Oval 13"/>
            <p:cNvSpPr>
              <a:spLocks noChangeArrowheads="1"/>
            </p:cNvSpPr>
            <p:nvPr/>
          </p:nvSpPr>
          <p:spPr bwMode="auto">
            <a:xfrm>
              <a:off x="4023" y="2551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4"/>
            <p:cNvSpPr>
              <a:spLocks noChangeShapeType="1"/>
            </p:cNvSpPr>
            <p:nvPr/>
          </p:nvSpPr>
          <p:spPr bwMode="auto">
            <a:xfrm>
              <a:off x="4137" y="2611"/>
              <a:ext cx="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730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223.5.2 Question 123.22.14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A train passes you while blowing its whistle. Describe the frequency change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nearly instantaneous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gradual, as the train approaches the frequency changes proportionately with the distance from you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gradual, as the train approaches the frequency changes inverse proportionately with the distance from you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Can’t tell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endParaRPr lang="en-US" sz="2800" dirty="0"/>
          </a:p>
        </p:txBody>
      </p:sp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A722F0-04E0-4C85-BB4F-F38C170A22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13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8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223.5.3 Question 123.22.15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You are sitting on the Hogwarts Express. It  is just leaving the station. The whistle blows. The engineer (if there is one) hears a perfect middle C (256 Hz). What do you hear as the train leaves?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higher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lower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Middle C (256 Hz)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291876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223.5.4.1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are playing your Irish tin whistle at 440Hz. Your friend runs toward you at 10m/s. What frequency does your friend hear? (take 343m.s as the speed of sound)</a:t>
            </a:r>
          </a:p>
          <a:p>
            <a:pPr marL="514350" indent="-514350">
              <a:buAutoNum type="alphaLcParenR"/>
            </a:pPr>
            <a:r>
              <a:rPr lang="en-US" dirty="0"/>
              <a:t>453.8Hz</a:t>
            </a:r>
          </a:p>
          <a:p>
            <a:pPr marL="514350" indent="-514350">
              <a:buAutoNum type="alphaLcParenR"/>
            </a:pPr>
            <a:r>
              <a:rPr lang="en-US" dirty="0"/>
              <a:t>427.1Hz</a:t>
            </a:r>
          </a:p>
          <a:p>
            <a:pPr marL="514350" indent="-514350">
              <a:buAutoNum type="alphaLcParenR"/>
            </a:pPr>
            <a:r>
              <a:rPr lang="en-US" dirty="0"/>
              <a:t>453.2</a:t>
            </a:r>
          </a:p>
          <a:p>
            <a:pPr marL="514350" indent="-514350">
              <a:buAutoNum type="alphaLcParenR"/>
            </a:pPr>
            <a:r>
              <a:rPr lang="en-US" dirty="0"/>
              <a:t>427.5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8218" y="1812928"/>
            <a:ext cx="24337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Top: Normal 'dark' spectral line positions at rest. Middle: Source moving away from observer. Bottom: Source moving towards observer. (Public domain image courtesy NASA: http://www.jwst.nasa.gov/education/7Page45.pdf)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77" y="1919020"/>
            <a:ext cx="3880424" cy="338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4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68289" y="2071454"/>
            <a:ext cx="23044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High </a:t>
            </a:r>
            <a:r>
              <a:rPr lang="en-US" dirty="0"/>
              <a:t>Redshift Galaxy Cluster shown here in false color from the Spitzer Space Telescope. (Public domain image courtesy NASA/JPL-Caltech/S.A. Stanford (UC Davis/LLNL)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11" y="1844759"/>
            <a:ext cx="3725044" cy="41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61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1D2D3B-F41E-C06A-1F2D-426F9E65B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5CFEB2-8707-0CD2-0E57-CE8294094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56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225.5.4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Often a single jet will create two sonic booms, why?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One is from the plane and one is from the condensation trail that follows the plane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The nose and the tail both act as wave sources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One is from the plane and one is a Newton's third law reaction</a:t>
            </a:r>
          </a:p>
        </p:txBody>
      </p:sp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44647A-B62D-46AC-8BB6-871103D5B2E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7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565</Words>
  <Application>Microsoft Office PowerPoint</Application>
  <PresentationFormat>On-screen Show (4:3)</PresentationFormat>
  <Paragraphs>68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Office Theme</vt:lpstr>
      <vt:lpstr>Equation</vt:lpstr>
      <vt:lpstr>Lecture 9</vt:lpstr>
      <vt:lpstr>Example of Beats</vt:lpstr>
      <vt:lpstr>PowerPoint Presentation</vt:lpstr>
      <vt:lpstr>Question 223.9.1</vt:lpstr>
      <vt:lpstr>Question 223.9.2</vt:lpstr>
      <vt:lpstr>Question 223.5.1  123.22.13</vt:lpstr>
      <vt:lpstr>Inertial Frames</vt:lpstr>
      <vt:lpstr>Demonstration</vt:lpstr>
      <vt:lpstr>Spherical Emitter Setup</vt:lpstr>
      <vt:lpstr>Moving Detector</vt:lpstr>
      <vt:lpstr>Moving Detector</vt:lpstr>
      <vt:lpstr>Question 223.5.2 Question 123.22.14</vt:lpstr>
      <vt:lpstr>Question 223.5.3 Question 123.22.15</vt:lpstr>
      <vt:lpstr>Question 223.5.4.1</vt:lpstr>
      <vt:lpstr>PowerPoint Presentation</vt:lpstr>
      <vt:lpstr>PowerPoint Presentation</vt:lpstr>
      <vt:lpstr>END</vt:lpstr>
      <vt:lpstr>Question 225.5.4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Todd Lines</cp:lastModifiedBy>
  <cp:revision>13</cp:revision>
  <dcterms:created xsi:type="dcterms:W3CDTF">2011-09-23T00:44:42Z</dcterms:created>
  <dcterms:modified xsi:type="dcterms:W3CDTF">2026-09-29T17:16:16Z</dcterms:modified>
</cp:coreProperties>
</file>