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9"/>
  </p:notesMasterIdLst>
  <p:sldIdLst>
    <p:sldId id="325" r:id="rId2"/>
    <p:sldId id="362" r:id="rId3"/>
    <p:sldId id="370" r:id="rId4"/>
    <p:sldId id="333" r:id="rId5"/>
    <p:sldId id="371" r:id="rId6"/>
    <p:sldId id="334" r:id="rId7"/>
    <p:sldId id="338" r:id="rId8"/>
    <p:sldId id="304" r:id="rId9"/>
    <p:sldId id="305" r:id="rId10"/>
    <p:sldId id="307" r:id="rId11"/>
    <p:sldId id="308" r:id="rId12"/>
    <p:sldId id="332" r:id="rId13"/>
    <p:sldId id="335" r:id="rId14"/>
    <p:sldId id="336" r:id="rId15"/>
    <p:sldId id="372" r:id="rId16"/>
    <p:sldId id="342" r:id="rId17"/>
    <p:sldId id="343" r:id="rId18"/>
    <p:sldId id="344" r:id="rId19"/>
    <p:sldId id="345" r:id="rId20"/>
    <p:sldId id="363" r:id="rId21"/>
    <p:sldId id="364" r:id="rId22"/>
    <p:sldId id="366" r:id="rId23"/>
    <p:sldId id="365" r:id="rId24"/>
    <p:sldId id="367" r:id="rId25"/>
    <p:sldId id="346" r:id="rId26"/>
    <p:sldId id="347" r:id="rId27"/>
    <p:sldId id="348" r:id="rId28"/>
    <p:sldId id="349" r:id="rId29"/>
    <p:sldId id="368" r:id="rId30"/>
    <p:sldId id="350" r:id="rId31"/>
    <p:sldId id="351" r:id="rId32"/>
    <p:sldId id="352" r:id="rId33"/>
    <p:sldId id="353" r:id="rId34"/>
    <p:sldId id="354" r:id="rId35"/>
    <p:sldId id="355" r:id="rId36"/>
    <p:sldId id="356" r:id="rId37"/>
    <p:sldId id="357" r:id="rId38"/>
    <p:sldId id="358" r:id="rId39"/>
    <p:sldId id="359" r:id="rId40"/>
    <p:sldId id="360" r:id="rId41"/>
    <p:sldId id="361" r:id="rId42"/>
    <p:sldId id="293" r:id="rId43"/>
    <p:sldId id="339" r:id="rId44"/>
    <p:sldId id="294" r:id="rId45"/>
    <p:sldId id="369" r:id="rId46"/>
    <p:sldId id="306" r:id="rId47"/>
    <p:sldId id="340" r:id="rId48"/>
    <p:sldId id="327" r:id="rId49"/>
    <p:sldId id="373" r:id="rId50"/>
    <p:sldId id="328" r:id="rId51"/>
    <p:sldId id="329" r:id="rId52"/>
    <p:sldId id="330" r:id="rId53"/>
    <p:sldId id="331" r:id="rId54"/>
    <p:sldId id="326" r:id="rId55"/>
    <p:sldId id="337" r:id="rId56"/>
    <p:sldId id="290" r:id="rId57"/>
    <p:sldId id="291" r:id="rId58"/>
    <p:sldId id="292" r:id="rId59"/>
    <p:sldId id="273" r:id="rId60"/>
    <p:sldId id="274" r:id="rId61"/>
    <p:sldId id="275" r:id="rId62"/>
    <p:sldId id="276" r:id="rId63"/>
    <p:sldId id="277" r:id="rId64"/>
    <p:sldId id="278" r:id="rId65"/>
    <p:sldId id="279" r:id="rId66"/>
    <p:sldId id="280" r:id="rId67"/>
    <p:sldId id="281" r:id="rId68"/>
    <p:sldId id="282" r:id="rId69"/>
    <p:sldId id="283" r:id="rId70"/>
    <p:sldId id="309" r:id="rId71"/>
    <p:sldId id="310" r:id="rId72"/>
    <p:sldId id="311" r:id="rId73"/>
    <p:sldId id="312" r:id="rId74"/>
    <p:sldId id="313" r:id="rId75"/>
    <p:sldId id="314" r:id="rId76"/>
    <p:sldId id="315" r:id="rId77"/>
    <p:sldId id="316" r:id="rId78"/>
    <p:sldId id="317" r:id="rId79"/>
    <p:sldId id="318" r:id="rId80"/>
    <p:sldId id="284" r:id="rId81"/>
    <p:sldId id="285" r:id="rId82"/>
    <p:sldId id="286" r:id="rId83"/>
    <p:sldId id="287" r:id="rId84"/>
    <p:sldId id="288" r:id="rId85"/>
    <p:sldId id="289" r:id="rId86"/>
    <p:sldId id="257" r:id="rId87"/>
    <p:sldId id="258" r:id="rId88"/>
    <p:sldId id="259" r:id="rId89"/>
    <p:sldId id="260" r:id="rId90"/>
    <p:sldId id="261" r:id="rId91"/>
    <p:sldId id="324" r:id="rId92"/>
    <p:sldId id="262" r:id="rId93"/>
    <p:sldId id="263" r:id="rId94"/>
    <p:sldId id="264" r:id="rId95"/>
    <p:sldId id="265" r:id="rId96"/>
    <p:sldId id="266" r:id="rId97"/>
    <p:sldId id="267" r:id="rId98"/>
    <p:sldId id="268" r:id="rId99"/>
    <p:sldId id="269" r:id="rId100"/>
    <p:sldId id="270" r:id="rId101"/>
    <p:sldId id="319" r:id="rId102"/>
    <p:sldId id="320" r:id="rId103"/>
    <p:sldId id="321" r:id="rId104"/>
    <p:sldId id="322" r:id="rId105"/>
    <p:sldId id="323" r:id="rId106"/>
    <p:sldId id="271" r:id="rId107"/>
    <p:sldId id="272" r:id="rId10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C02E00-75F4-4581-9716-F1C75FFC6848}" v="19" dt="2026-02-10T22:23:35.2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40" d="100"/>
          <a:sy n="140" d="100"/>
        </p:scale>
        <p:origin x="-564" y="-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heme" Target="theme/theme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presProps" Target="presProps.xml"/><Relationship Id="rId115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">
      <pc:chgData name="Lines, Todd" userId="afaf7c3a-e8aa-4568-882a-02ad8f9e19b0" providerId="ADAL" clId="{5FF5AC1B-ABA9-43D7-A1E3-2D92732CD6E2}" dt="2026-02-10T22:23:44.105" v="94" actId="21"/>
      <pc:docMkLst>
        <pc:docMk/>
      </pc:docMkLst>
      <pc:sldChg chg="delSp mod">
        <pc:chgData name="Lines, Todd" userId="afaf7c3a-e8aa-4568-882a-02ad8f9e19b0" providerId="ADAL" clId="{5FF5AC1B-ABA9-43D7-A1E3-2D92732CD6E2}" dt="2026-02-10T21:45:23.537" v="0" actId="478"/>
        <pc:sldMkLst>
          <pc:docMk/>
          <pc:sldMk cId="551592500" sldId="307"/>
        </pc:sldMkLst>
        <pc:cxnChg chg="del">
          <ac:chgData name="Lines, Todd" userId="afaf7c3a-e8aa-4568-882a-02ad8f9e19b0" providerId="ADAL" clId="{5FF5AC1B-ABA9-43D7-A1E3-2D92732CD6E2}" dt="2026-02-10T21:45:23.537" v="0" actId="478"/>
          <ac:cxnSpMkLst>
            <pc:docMk/>
            <pc:sldMk cId="551592500" sldId="307"/>
            <ac:cxnSpMk id="65" creationId="{00000000-0000-0000-0000-000000000000}"/>
          </ac:cxnSpMkLst>
        </pc:cxnChg>
      </pc:sldChg>
      <pc:sldChg chg="addSp delSp modSp add mod">
        <pc:chgData name="Lines, Todd" userId="afaf7c3a-e8aa-4568-882a-02ad8f9e19b0" providerId="ADAL" clId="{5FF5AC1B-ABA9-43D7-A1E3-2D92732CD6E2}" dt="2026-02-10T22:23:44.105" v="94" actId="21"/>
        <pc:sldMkLst>
          <pc:docMk/>
          <pc:sldMk cId="484604644" sldId="373"/>
        </pc:sldMkLst>
        <pc:grpChg chg="mod">
          <ac:chgData name="Lines, Todd" userId="afaf7c3a-e8aa-4568-882a-02ad8f9e19b0" providerId="ADAL" clId="{5FF5AC1B-ABA9-43D7-A1E3-2D92732CD6E2}" dt="2026-02-10T22:21:20.131" v="69" actId="1076"/>
          <ac:grpSpMkLst>
            <pc:docMk/>
            <pc:sldMk cId="484604644" sldId="373"/>
            <ac:grpSpMk id="3" creationId="{8743C2A4-BC03-0BAA-FD10-6B3DC05E35AC}"/>
          </ac:grpSpMkLst>
        </pc:grpChg>
        <pc:grpChg chg="add del mod">
          <ac:chgData name="Lines, Todd" userId="afaf7c3a-e8aa-4568-882a-02ad8f9e19b0" providerId="ADAL" clId="{5FF5AC1B-ABA9-43D7-A1E3-2D92732CD6E2}" dt="2026-02-10T22:18:47.715" v="5" actId="165"/>
          <ac:grpSpMkLst>
            <pc:docMk/>
            <pc:sldMk cId="484604644" sldId="373"/>
            <ac:grpSpMk id="5" creationId="{E5B27FA1-90E9-540B-B621-709490D9C8E2}"/>
          </ac:grpSpMkLst>
        </pc:grpChg>
        <pc:grpChg chg="add mod">
          <ac:chgData name="Lines, Todd" userId="afaf7c3a-e8aa-4568-882a-02ad8f9e19b0" providerId="ADAL" clId="{5FF5AC1B-ABA9-43D7-A1E3-2D92732CD6E2}" dt="2026-02-10T22:21:03.344" v="59" actId="164"/>
          <ac:grpSpMkLst>
            <pc:docMk/>
            <pc:sldMk cId="484604644" sldId="373"/>
            <ac:grpSpMk id="46" creationId="{80D7AE06-C2ED-304B-74B6-1ABCAD4C3A9D}"/>
          </ac:grpSpMkLst>
        </pc:grpChg>
        <pc:grpChg chg="add mod">
          <ac:chgData name="Lines, Todd" userId="afaf7c3a-e8aa-4568-882a-02ad8f9e19b0" providerId="ADAL" clId="{5FF5AC1B-ABA9-43D7-A1E3-2D92732CD6E2}" dt="2026-02-10T22:21:01.484" v="57" actId="197"/>
          <ac:grpSpMkLst>
            <pc:docMk/>
            <pc:sldMk cId="484604644" sldId="373"/>
            <ac:grpSpMk id="47" creationId="{3250B4EF-A150-7970-EE39-32C6B49A8B29}"/>
          </ac:grpSpMkLst>
        </pc:grpChg>
        <pc:picChg chg="del mod">
          <ac:chgData name="Lines, Todd" userId="afaf7c3a-e8aa-4568-882a-02ad8f9e19b0" providerId="ADAL" clId="{5FF5AC1B-ABA9-43D7-A1E3-2D92732CD6E2}" dt="2026-02-10T22:22:51.302" v="92" actId="21"/>
          <ac:picMkLst>
            <pc:docMk/>
            <pc:sldMk cId="484604644" sldId="373"/>
            <ac:picMk id="66" creationId="{159ADC99-13F3-38CE-05CF-A1F6243B16FF}"/>
          </ac:picMkLst>
        </pc:picChg>
        <pc:picChg chg="del mod">
          <ac:chgData name="Lines, Todd" userId="afaf7c3a-e8aa-4568-882a-02ad8f9e19b0" providerId="ADAL" clId="{5FF5AC1B-ABA9-43D7-A1E3-2D92732CD6E2}" dt="2026-02-10T22:23:44.105" v="94" actId="21"/>
          <ac:picMkLst>
            <pc:docMk/>
            <pc:sldMk cId="484604644" sldId="373"/>
            <ac:picMk id="67" creationId="{F090EDB5-C3AD-2B4C-8091-905CA7EE31E5}"/>
          </ac:picMkLst>
        </pc:picChg>
        <pc:cxnChg chg="add del mod topLvl">
          <ac:chgData name="Lines, Todd" userId="afaf7c3a-e8aa-4568-882a-02ad8f9e19b0" providerId="ADAL" clId="{5FF5AC1B-ABA9-43D7-A1E3-2D92732CD6E2}" dt="2026-02-10T22:22:14.512" v="89" actId="478"/>
          <ac:cxnSpMkLst>
            <pc:docMk/>
            <pc:sldMk cId="484604644" sldId="373"/>
            <ac:cxnSpMk id="14" creationId="{092C643C-5494-5928-38D0-704339B70D70}"/>
          </ac:cxnSpMkLst>
        </pc:cxnChg>
        <pc:cxnChg chg="add del mod topLvl">
          <ac:chgData name="Lines, Todd" userId="afaf7c3a-e8aa-4568-882a-02ad8f9e19b0" providerId="ADAL" clId="{5FF5AC1B-ABA9-43D7-A1E3-2D92732CD6E2}" dt="2026-02-10T22:22:15.983" v="90" actId="478"/>
          <ac:cxnSpMkLst>
            <pc:docMk/>
            <pc:sldMk cId="484604644" sldId="373"/>
            <ac:cxnSpMk id="15" creationId="{EB889968-51B4-FC6F-0F32-1F4FD621D74F}"/>
          </ac:cxnSpMkLst>
        </pc:cxnChg>
        <pc:cxnChg chg="mod topLvl">
          <ac:chgData name="Lines, Todd" userId="afaf7c3a-e8aa-4568-882a-02ad8f9e19b0" providerId="ADAL" clId="{5FF5AC1B-ABA9-43D7-A1E3-2D92732CD6E2}" dt="2026-02-10T22:21:03.344" v="59" actId="164"/>
          <ac:cxnSpMkLst>
            <pc:docMk/>
            <pc:sldMk cId="484604644" sldId="373"/>
            <ac:cxnSpMk id="17" creationId="{CB0798A8-46FD-FFAD-DDD8-8E420663EA63}"/>
          </ac:cxnSpMkLst>
        </pc:cxnChg>
        <pc:cxnChg chg="add del mod">
          <ac:chgData name="Lines, Todd" userId="afaf7c3a-e8aa-4568-882a-02ad8f9e19b0" providerId="ADAL" clId="{5FF5AC1B-ABA9-43D7-A1E3-2D92732CD6E2}" dt="2026-02-10T22:22:13.470" v="88" actId="478"/>
          <ac:cxnSpMkLst>
            <pc:docMk/>
            <pc:sldMk cId="484604644" sldId="373"/>
            <ac:cxnSpMk id="21" creationId="{55D293A6-CDF2-67A5-FEAC-841D8327582C}"/>
          </ac:cxnSpMkLst>
        </pc:cxnChg>
        <pc:cxnChg chg="add del mod">
          <ac:chgData name="Lines, Todd" userId="afaf7c3a-e8aa-4568-882a-02ad8f9e19b0" providerId="ADAL" clId="{5FF5AC1B-ABA9-43D7-A1E3-2D92732CD6E2}" dt="2026-02-10T22:22:12.013" v="87" actId="478"/>
          <ac:cxnSpMkLst>
            <pc:docMk/>
            <pc:sldMk cId="484604644" sldId="373"/>
            <ac:cxnSpMk id="26" creationId="{9FB94372-2BD0-ED2A-CDF8-17CFBDB5AB55}"/>
          </ac:cxnSpMkLst>
        </pc:cxnChg>
        <pc:cxnChg chg="add mod">
          <ac:chgData name="Lines, Todd" userId="afaf7c3a-e8aa-4568-882a-02ad8f9e19b0" providerId="ADAL" clId="{5FF5AC1B-ABA9-43D7-A1E3-2D92732CD6E2}" dt="2026-02-10T22:21:03.344" v="59" actId="164"/>
          <ac:cxnSpMkLst>
            <pc:docMk/>
            <pc:sldMk cId="484604644" sldId="373"/>
            <ac:cxnSpMk id="39" creationId="{3CA38053-5406-5EBC-E3B1-72597E294727}"/>
          </ac:cxnSpMkLst>
        </pc:cxnChg>
        <pc:cxnChg chg="add mod">
          <ac:chgData name="Lines, Todd" userId="afaf7c3a-e8aa-4568-882a-02ad8f9e19b0" providerId="ADAL" clId="{5FF5AC1B-ABA9-43D7-A1E3-2D92732CD6E2}" dt="2026-02-10T22:21:03.344" v="59" actId="164"/>
          <ac:cxnSpMkLst>
            <pc:docMk/>
            <pc:sldMk cId="484604644" sldId="373"/>
            <ac:cxnSpMk id="44" creationId="{AB8E84D1-02F8-174C-5FC2-2271174833FC}"/>
          </ac:cxnSpMkLst>
        </pc:cxnChg>
        <pc:cxnChg chg="mod">
          <ac:chgData name="Lines, Todd" userId="afaf7c3a-e8aa-4568-882a-02ad8f9e19b0" providerId="ADAL" clId="{5FF5AC1B-ABA9-43D7-A1E3-2D92732CD6E2}" dt="2026-02-10T22:20:39.634" v="53"/>
          <ac:cxnSpMkLst>
            <pc:docMk/>
            <pc:sldMk cId="484604644" sldId="373"/>
            <ac:cxnSpMk id="48" creationId="{53986248-EDA3-20FB-8941-EE5E7CA5D2C3}"/>
          </ac:cxnSpMkLst>
        </pc:cxnChg>
        <pc:cxnChg chg="mod">
          <ac:chgData name="Lines, Todd" userId="afaf7c3a-e8aa-4568-882a-02ad8f9e19b0" providerId="ADAL" clId="{5FF5AC1B-ABA9-43D7-A1E3-2D92732CD6E2}" dt="2026-02-10T22:20:39.634" v="53"/>
          <ac:cxnSpMkLst>
            <pc:docMk/>
            <pc:sldMk cId="484604644" sldId="373"/>
            <ac:cxnSpMk id="49" creationId="{3EF81759-36EF-0D30-E1A9-EE4AD37EA327}"/>
          </ac:cxnSpMkLst>
        </pc:cxnChg>
        <pc:cxnChg chg="mod">
          <ac:chgData name="Lines, Todd" userId="afaf7c3a-e8aa-4568-882a-02ad8f9e19b0" providerId="ADAL" clId="{5FF5AC1B-ABA9-43D7-A1E3-2D92732CD6E2}" dt="2026-02-10T22:20:39.634" v="53"/>
          <ac:cxnSpMkLst>
            <pc:docMk/>
            <pc:sldMk cId="484604644" sldId="373"/>
            <ac:cxnSpMk id="50" creationId="{20B5C6BE-24DC-9C6D-AAB8-0A0057402D82}"/>
          </ac:cxnSpMkLst>
        </pc:cxnChg>
        <pc:cxnChg chg="add del mod">
          <ac:chgData name="Lines, Todd" userId="afaf7c3a-e8aa-4568-882a-02ad8f9e19b0" providerId="ADAL" clId="{5FF5AC1B-ABA9-43D7-A1E3-2D92732CD6E2}" dt="2026-02-10T22:22:07.908" v="84" actId="478"/>
          <ac:cxnSpMkLst>
            <pc:docMk/>
            <pc:sldMk cId="484604644" sldId="373"/>
            <ac:cxnSpMk id="51" creationId="{4B4AC9FA-8320-05B1-8C74-F81EB2BB395B}"/>
          </ac:cxnSpMkLst>
        </pc:cxnChg>
        <pc:cxnChg chg="add del mod">
          <ac:chgData name="Lines, Todd" userId="afaf7c3a-e8aa-4568-882a-02ad8f9e19b0" providerId="ADAL" clId="{5FF5AC1B-ABA9-43D7-A1E3-2D92732CD6E2}" dt="2026-02-10T22:22:09.249" v="85" actId="478"/>
          <ac:cxnSpMkLst>
            <pc:docMk/>
            <pc:sldMk cId="484604644" sldId="373"/>
            <ac:cxnSpMk id="55" creationId="{31594C9B-979D-C9F7-4D80-6AFF232D845A}"/>
          </ac:cxnSpMkLst>
        </pc:cxnChg>
        <pc:cxnChg chg="add del mod">
          <ac:chgData name="Lines, Todd" userId="afaf7c3a-e8aa-4568-882a-02ad8f9e19b0" providerId="ADAL" clId="{5FF5AC1B-ABA9-43D7-A1E3-2D92732CD6E2}" dt="2026-02-10T22:22:10.527" v="86" actId="478"/>
          <ac:cxnSpMkLst>
            <pc:docMk/>
            <pc:sldMk cId="484604644" sldId="373"/>
            <ac:cxnSpMk id="57" creationId="{A902A4FC-D978-9167-ADD7-2CA12FBE124F}"/>
          </ac:cxnSpMkLst>
        </pc:cxnChg>
        <pc:cxnChg chg="add mod">
          <ac:chgData name="Lines, Todd" userId="afaf7c3a-e8aa-4568-882a-02ad8f9e19b0" providerId="ADAL" clId="{5FF5AC1B-ABA9-43D7-A1E3-2D92732CD6E2}" dt="2026-02-10T22:21:46.704" v="77" actId="14100"/>
          <ac:cxnSpMkLst>
            <pc:docMk/>
            <pc:sldMk cId="484604644" sldId="373"/>
            <ac:cxnSpMk id="60" creationId="{ED26FC1A-DFF3-96C1-C44E-3B8463BD2459}"/>
          </ac:cxnSpMkLst>
        </pc:cxnChg>
        <pc:cxnChg chg="add mod">
          <ac:chgData name="Lines, Todd" userId="afaf7c3a-e8aa-4568-882a-02ad8f9e19b0" providerId="ADAL" clId="{5FF5AC1B-ABA9-43D7-A1E3-2D92732CD6E2}" dt="2026-02-10T22:21:56.480" v="80" actId="14100"/>
          <ac:cxnSpMkLst>
            <pc:docMk/>
            <pc:sldMk cId="484604644" sldId="373"/>
            <ac:cxnSpMk id="62" creationId="{E5042110-E59B-578F-7537-D81BF08E98BE}"/>
          </ac:cxnSpMkLst>
        </pc:cxnChg>
        <pc:cxnChg chg="add mod">
          <ac:chgData name="Lines, Todd" userId="afaf7c3a-e8aa-4568-882a-02ad8f9e19b0" providerId="ADAL" clId="{5FF5AC1B-ABA9-43D7-A1E3-2D92732CD6E2}" dt="2026-02-10T22:22:05.227" v="83" actId="14100"/>
          <ac:cxnSpMkLst>
            <pc:docMk/>
            <pc:sldMk cId="484604644" sldId="373"/>
            <ac:cxnSpMk id="64" creationId="{97D2941F-F5B8-68B3-8C8E-9ED975E1284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7F9DAC-AE63-4A2C-B4F3-3CD9856A378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21FAB9-D0D2-4006-8FF1-550EF91B5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613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853B9-F27C-AB3A-B685-EF6167E9A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0ACB04-BA1E-B595-2916-27FBA94ED5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053FB9-13A6-C4F3-F646-5E43879598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DDDB22-4900-18C7-56F8-741B948FE9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4FC209-D922-4430-B76C-E541F64006FD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2123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4FC209-D922-4430-B76C-E541F64006FD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977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B2F98B-7E2E-4CBF-AB70-34620DF85441}" type="slidenum">
              <a:rPr lang="en-US" smtClean="0"/>
              <a:pPr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89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936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5143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914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82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914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340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559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9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232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89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5458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0"/>
            <a:ext cx="8636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10972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3938589"/>
            <a:ext cx="10972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Fall 2007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C4A7099-A97C-42EB-8F29-163705505F1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3339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0"/>
            <a:ext cx="8636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245225"/>
            <a:ext cx="28448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Fall 2007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600" y="6245225"/>
            <a:ext cx="38608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R. Todd Lines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245225"/>
            <a:ext cx="2844800" cy="476250"/>
          </a:xfrm>
        </p:spPr>
        <p:txBody>
          <a:bodyPr/>
          <a:lstStyle>
            <a:lvl1pPr>
              <a:defRPr/>
            </a:lvl1pPr>
          </a:lstStyle>
          <a:p>
            <a:fld id="{2AA56286-A981-4095-9D47-F7358FA48D0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099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3D1B78-44ED-47D4-B870-54561AF7033B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2AA0F6-87F7-492B-97C4-379D8542E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399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548EC-64A2-303C-5886-ED004770DD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16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321699-C64F-B260-4F91-1F4CC39E32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920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98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1" y="2200494"/>
            <a:ext cx="4617719" cy="29257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300759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3C56C562-C01F-30E0-8A92-FBC559CCC1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52272" y="1885950"/>
            <a:ext cx="790575" cy="308610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230322C0-C387-0EC9-68C2-62BF47D33737}"/>
              </a:ext>
            </a:extLst>
          </p:cNvPr>
          <p:cNvGrpSpPr/>
          <p:nvPr/>
        </p:nvGrpSpPr>
        <p:grpSpPr>
          <a:xfrm>
            <a:off x="6425635" y="1991468"/>
            <a:ext cx="1159883" cy="1194793"/>
            <a:chOff x="6782251" y="1991468"/>
            <a:chExt cx="1159883" cy="1194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468861C-E83D-E1C9-0A67-AB031356A5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82251" y="1991468"/>
              <a:ext cx="748725" cy="559708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0C95D29-2197-098B-9A16-2B01BB9F5A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99534" y="2442410"/>
              <a:ext cx="882646" cy="374243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8694401-8C61-56D5-0B89-2C6625B59F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91158" y="3012525"/>
              <a:ext cx="950976" cy="173736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30DF8E4-578B-2A4F-9631-EDE3026B8CAD}"/>
              </a:ext>
            </a:extLst>
          </p:cNvPr>
          <p:cNvCxnSpPr>
            <a:cxnSpLocks/>
          </p:cNvCxnSpPr>
          <p:nvPr/>
        </p:nvCxnSpPr>
        <p:spPr>
          <a:xfrm flipH="1">
            <a:off x="6646579" y="3429000"/>
            <a:ext cx="1055562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5628087-5A7F-CB32-1EB1-441D12CED5C3}"/>
              </a:ext>
            </a:extLst>
          </p:cNvPr>
          <p:cNvGrpSpPr/>
          <p:nvPr/>
        </p:nvGrpSpPr>
        <p:grpSpPr>
          <a:xfrm flipV="1">
            <a:off x="6425635" y="3707893"/>
            <a:ext cx="1159883" cy="1194793"/>
            <a:chOff x="6782251" y="1991468"/>
            <a:chExt cx="1159883" cy="1194793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6148674-D21D-2F7E-8A4C-E098B10D59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82251" y="1991468"/>
              <a:ext cx="748725" cy="559708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5B7D497-1333-27D3-A1CC-21B527EAB1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99534" y="2442410"/>
              <a:ext cx="882646" cy="374243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D64EAE9-DF34-C109-0D07-2BD7CEE2BC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91158" y="3012525"/>
              <a:ext cx="950976" cy="173736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6296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8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56561" y="1879690"/>
            <a:ext cx="5094721" cy="325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74DB942-3C2C-41AB-DDF0-B79DF6E243DC}"/>
              </a:ext>
            </a:extLst>
          </p:cNvPr>
          <p:cNvGrpSpPr/>
          <p:nvPr/>
        </p:nvGrpSpPr>
        <p:grpSpPr>
          <a:xfrm>
            <a:off x="6782251" y="2423160"/>
            <a:ext cx="932415" cy="900949"/>
            <a:chOff x="6782251" y="2423160"/>
            <a:chExt cx="932415" cy="900949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E2E1A12-4E6D-DAB4-8C4C-EFC369E22B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82251" y="2423160"/>
              <a:ext cx="609646" cy="357479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314F8E4-343E-3CAE-4741-B05B06EE05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15776" y="2836273"/>
              <a:ext cx="798890" cy="23902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D91368C-648E-AD8B-A4A1-34EFAD8DF4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15776" y="3268627"/>
              <a:ext cx="786609" cy="5548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B8C424-8B60-0FFF-F64B-EFB80BD4FC86}"/>
              </a:ext>
            </a:extLst>
          </p:cNvPr>
          <p:cNvCxnSpPr>
            <a:cxnSpLocks/>
          </p:cNvCxnSpPr>
          <p:nvPr/>
        </p:nvCxnSpPr>
        <p:spPr>
          <a:xfrm flipH="1" flipV="1">
            <a:off x="6842872" y="4237434"/>
            <a:ext cx="609646" cy="357479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316DCFC-7FC2-FF7D-FFDE-A007DFE016EC}"/>
              </a:ext>
            </a:extLst>
          </p:cNvPr>
          <p:cNvCxnSpPr>
            <a:cxnSpLocks/>
          </p:cNvCxnSpPr>
          <p:nvPr/>
        </p:nvCxnSpPr>
        <p:spPr>
          <a:xfrm flipH="1" flipV="1">
            <a:off x="6922007" y="3912368"/>
            <a:ext cx="798890" cy="239025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27E24C6-FF8B-181A-230A-04995B96F764}"/>
              </a:ext>
            </a:extLst>
          </p:cNvPr>
          <p:cNvCxnSpPr>
            <a:cxnSpLocks/>
          </p:cNvCxnSpPr>
          <p:nvPr/>
        </p:nvCxnSpPr>
        <p:spPr>
          <a:xfrm flipH="1" flipV="1">
            <a:off x="6903405" y="3636830"/>
            <a:ext cx="798980" cy="8774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1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A1792-D3FA-C7FD-2A97-0CF7D1F2A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898" name="Picture 2">
            <a:extLst>
              <a:ext uri="{FF2B5EF4-FFF2-40B4-BE49-F238E27FC236}">
                <a16:creationId xmlns:a16="http://schemas.microsoft.com/office/drawing/2014/main" id="{74C9A8BC-BFDB-9956-BCB5-B45689DED4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56561" y="1879690"/>
            <a:ext cx="5094721" cy="325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779560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2218545"/>
            <a:ext cx="9144000" cy="28481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67316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0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Paraxial Rays</a:t>
            </a:r>
          </a:p>
        </p:txBody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 use only rays that diverge from the object and make a small angle with the principal axis</a:t>
            </a:r>
          </a:p>
          <a:p>
            <a:r>
              <a:rPr lang="en-US"/>
              <a:t>Such rays are called </a:t>
            </a:r>
            <a:r>
              <a:rPr lang="en-US" b="1"/>
              <a:t>paraxial rays</a:t>
            </a:r>
            <a:endParaRPr lang="en-US"/>
          </a:p>
          <a:p>
            <a:r>
              <a:rPr lang="en-US"/>
              <a:t>All paraxial rays reflect through the image point</a:t>
            </a:r>
          </a:p>
        </p:txBody>
      </p:sp>
    </p:spTree>
    <p:extLst>
      <p:ext uri="{BB962C8B-B14F-4D97-AF65-F5344CB8AC3E}">
        <p14:creationId xmlns:p14="http://schemas.microsoft.com/office/powerpoint/2010/main" val="158233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223.26.4.6</a:t>
            </a:r>
          </a:p>
        </p:txBody>
      </p:sp>
      <p:sp>
        <p:nvSpPr>
          <p:cNvPr id="17920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Suppose I have a spherical mirror and I tell you that  d</a:t>
            </a:r>
            <a:r>
              <a:rPr lang="en-US" baseline="-25000" dirty="0"/>
              <a:t>o</a:t>
            </a:r>
            <a:r>
              <a:rPr lang="en-US" dirty="0"/>
              <a:t> is positive and d</a:t>
            </a:r>
            <a:r>
              <a:rPr lang="en-US" baseline="-25000" dirty="0"/>
              <a:t>i</a:t>
            </a:r>
            <a:r>
              <a:rPr lang="en-US" dirty="0"/>
              <a:t> is negative. What type of mirror might I have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Concave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Convex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Can’t tell</a:t>
            </a:r>
          </a:p>
        </p:txBody>
      </p:sp>
      <p:sp>
        <p:nvSpPr>
          <p:cNvPr id="17920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28D86B5-83CD-4D93-94A1-4F4526CB8A06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744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223.16.11</a:t>
            </a:r>
          </a:p>
        </p:txBody>
      </p:sp>
      <p:sp>
        <p:nvSpPr>
          <p:cNvPr id="178180" name="Rectangle 3"/>
          <p:cNvSpPr>
            <a:spLocks noGrp="1" noChangeArrowheads="1"/>
          </p:cNvSpPr>
          <p:nvPr>
            <p:ph idx="1"/>
          </p:nvPr>
        </p:nvSpPr>
        <p:spPr>
          <a:xfrm>
            <a:off x="1771650" y="1600201"/>
            <a:ext cx="8896350" cy="4525963"/>
          </a:xfrm>
        </p:spPr>
        <p:txBody>
          <a:bodyPr/>
          <a:lstStyle/>
          <a:p>
            <a:pPr marL="609600" indent="-609600">
              <a:buNone/>
            </a:pPr>
            <a:r>
              <a:rPr lang="en-US" sz="2400" dirty="0"/>
              <a:t>I have a concave mirror. If I place an object closer than the focal distance, the image is </a:t>
            </a:r>
          </a:p>
          <a:p>
            <a:pPr marL="609600" indent="-609600">
              <a:buFontTx/>
              <a:buAutoNum type="alphaLcParenR"/>
            </a:pPr>
            <a:r>
              <a:rPr lang="en-US" sz="2400" dirty="0"/>
              <a:t>Inverted and has a magnification greater than 1</a:t>
            </a:r>
          </a:p>
          <a:p>
            <a:pPr marL="609600" indent="-609600">
              <a:buFontTx/>
              <a:buAutoNum type="alphaLcParenR"/>
            </a:pPr>
            <a:r>
              <a:rPr lang="en-US" sz="2400" dirty="0"/>
              <a:t>Not inverted and has a magnification greater than 1</a:t>
            </a:r>
          </a:p>
          <a:p>
            <a:pPr marL="609600" indent="-609600">
              <a:buFontTx/>
              <a:buAutoNum type="alphaLcParenR"/>
            </a:pPr>
            <a:r>
              <a:rPr lang="en-US" sz="2400" dirty="0"/>
              <a:t>Inverted and has a magnification smaller than 1</a:t>
            </a:r>
          </a:p>
          <a:p>
            <a:pPr marL="609600" indent="-609600">
              <a:buFontTx/>
              <a:buAutoNum type="alphaLcParenR"/>
            </a:pPr>
            <a:r>
              <a:rPr lang="en-US" sz="2400" dirty="0"/>
              <a:t>Not inverted and has a magnification smaller than 1</a:t>
            </a:r>
          </a:p>
        </p:txBody>
      </p:sp>
      <p:sp>
        <p:nvSpPr>
          <p:cNvPr id="1781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1AFD0C0-ED82-408F-96C4-6BE67E0F2B8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672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7116" y="-229451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223.15.8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302369"/>
            <a:ext cx="4038600" cy="232788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mirror as shown above. Which of the choices to the right shows how the ray will exit the mirror?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077200" y="6016384"/>
            <a:ext cx="2133600" cy="365125"/>
          </a:xfrm>
        </p:spPr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524002" y="691957"/>
            <a:ext cx="3786553" cy="3610412"/>
            <a:chOff x="1" y="691957"/>
            <a:chExt cx="3786553" cy="3610412"/>
          </a:xfrm>
        </p:grpSpPr>
        <p:sp>
          <p:nvSpPr>
            <p:cNvPr id="6" name="Rectangle 5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785621" y="1593518"/>
              <a:ext cx="2813364" cy="1045168"/>
              <a:chOff x="890954" y="2508738"/>
              <a:chExt cx="2766646" cy="996452"/>
            </a:xfrm>
          </p:grpSpPr>
          <p:cxnSp>
            <p:nvCxnSpPr>
              <p:cNvPr id="50" name="Straight Connector 49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50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Connector 52"/>
              <p:cNvCxnSpPr/>
              <p:nvPr/>
            </p:nvCxnSpPr>
            <p:spPr>
              <a:xfrm>
                <a:off x="890954" y="2508738"/>
                <a:ext cx="2541841" cy="28773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/>
            <p:cNvSpPr txBox="1"/>
            <p:nvPr/>
          </p:nvSpPr>
          <p:spPr>
            <a:xfrm>
              <a:off x="1596264" y="266329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526100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5089284" name="Isosceles Triangle 5089283"/>
            <p:cNvSpPr/>
            <p:nvPr/>
          </p:nvSpPr>
          <p:spPr>
            <a:xfrm rot="5400000">
              <a:off x="1367428" y="153005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7519645" y="29479"/>
            <a:ext cx="1995530" cy="2189315"/>
            <a:chOff x="1" y="691957"/>
            <a:chExt cx="3786553" cy="3610412"/>
          </a:xfrm>
        </p:grpSpPr>
        <p:sp>
          <p:nvSpPr>
            <p:cNvPr id="55" name="Rectangle 54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8" name="Group 67"/>
            <p:cNvGrpSpPr/>
            <p:nvPr/>
          </p:nvGrpSpPr>
          <p:grpSpPr>
            <a:xfrm>
              <a:off x="785621" y="1593518"/>
              <a:ext cx="2813364" cy="1045168"/>
              <a:chOff x="890954" y="2508738"/>
              <a:chExt cx="2766646" cy="996452"/>
            </a:xfrm>
          </p:grpSpPr>
          <p:cxnSp>
            <p:nvCxnSpPr>
              <p:cNvPr id="72" name="Straight Connector 71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Oval 72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5" name="Straight Connector 74"/>
              <p:cNvCxnSpPr/>
              <p:nvPr/>
            </p:nvCxnSpPr>
            <p:spPr>
              <a:xfrm>
                <a:off x="890954" y="2508738"/>
                <a:ext cx="2541841" cy="28773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TextBox 68"/>
            <p:cNvSpPr txBox="1"/>
            <p:nvPr/>
          </p:nvSpPr>
          <p:spPr>
            <a:xfrm>
              <a:off x="1596265" y="2663291"/>
              <a:ext cx="584621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2526100" y="2663291"/>
              <a:ext cx="484243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71" name="Isosceles Triangle 70"/>
            <p:cNvSpPr/>
            <p:nvPr/>
          </p:nvSpPr>
          <p:spPr>
            <a:xfrm rot="5400000">
              <a:off x="1367428" y="153005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" name="Straight Connector 30"/>
          <p:cNvCxnSpPr/>
          <p:nvPr/>
        </p:nvCxnSpPr>
        <p:spPr>
          <a:xfrm flipV="1">
            <a:off x="7701747" y="600042"/>
            <a:ext cx="1605750" cy="10231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9280" name="TextBox 5089279"/>
          <p:cNvSpPr txBox="1"/>
          <p:nvPr/>
        </p:nvSpPr>
        <p:spPr>
          <a:xfrm>
            <a:off x="7033846" y="91439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33847" y="307143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33848" y="515812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87" name="Group 86"/>
          <p:cNvGrpSpPr/>
          <p:nvPr/>
        </p:nvGrpSpPr>
        <p:grpSpPr>
          <a:xfrm>
            <a:off x="7495135" y="2371194"/>
            <a:ext cx="1995530" cy="2189315"/>
            <a:chOff x="1" y="691957"/>
            <a:chExt cx="3786553" cy="3610412"/>
          </a:xfrm>
        </p:grpSpPr>
        <p:sp>
          <p:nvSpPr>
            <p:cNvPr id="88" name="Rectangle 87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/>
            <p:cNvGrpSpPr/>
            <p:nvPr/>
          </p:nvGrpSpPr>
          <p:grpSpPr>
            <a:xfrm>
              <a:off x="785621" y="1593518"/>
              <a:ext cx="2813364" cy="1045168"/>
              <a:chOff x="890954" y="2508738"/>
              <a:chExt cx="2766646" cy="996452"/>
            </a:xfrm>
          </p:grpSpPr>
          <p:cxnSp>
            <p:nvCxnSpPr>
              <p:cNvPr id="94" name="Straight Connector 93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Oval 94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Oval 95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Straight Connector 96"/>
              <p:cNvCxnSpPr/>
              <p:nvPr/>
            </p:nvCxnSpPr>
            <p:spPr>
              <a:xfrm>
                <a:off x="890954" y="2508738"/>
                <a:ext cx="2541841" cy="28773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1596265" y="2663291"/>
              <a:ext cx="584621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2526100" y="2663291"/>
              <a:ext cx="484243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3" name="Isosceles Triangle 92"/>
            <p:cNvSpPr/>
            <p:nvPr/>
          </p:nvSpPr>
          <p:spPr>
            <a:xfrm rot="5400000">
              <a:off x="1367428" y="153005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8" name="Straight Connector 97"/>
          <p:cNvCxnSpPr/>
          <p:nvPr/>
        </p:nvCxnSpPr>
        <p:spPr>
          <a:xfrm flipV="1">
            <a:off x="8546061" y="2941757"/>
            <a:ext cx="736926" cy="10231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9" name="Group 98"/>
          <p:cNvGrpSpPr/>
          <p:nvPr/>
        </p:nvGrpSpPr>
        <p:grpSpPr>
          <a:xfrm>
            <a:off x="7495136" y="4622011"/>
            <a:ext cx="1995530" cy="2189315"/>
            <a:chOff x="1" y="691957"/>
            <a:chExt cx="3786553" cy="3610412"/>
          </a:xfrm>
        </p:grpSpPr>
        <p:sp>
          <p:nvSpPr>
            <p:cNvPr id="100" name="Rectangle 99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785621" y="1593518"/>
              <a:ext cx="2813364" cy="1045168"/>
              <a:chOff x="890954" y="2508738"/>
              <a:chExt cx="2766646" cy="996452"/>
            </a:xfrm>
          </p:grpSpPr>
          <p:cxnSp>
            <p:nvCxnSpPr>
              <p:cNvPr id="106" name="Straight Connector 105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Oval 106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9" name="Straight Connector 108"/>
              <p:cNvCxnSpPr/>
              <p:nvPr/>
            </p:nvCxnSpPr>
            <p:spPr>
              <a:xfrm>
                <a:off x="890954" y="2508738"/>
                <a:ext cx="2541841" cy="28773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TextBox 102"/>
            <p:cNvSpPr txBox="1"/>
            <p:nvPr/>
          </p:nvSpPr>
          <p:spPr>
            <a:xfrm>
              <a:off x="1596265" y="2663291"/>
              <a:ext cx="584621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2526100" y="2663291"/>
              <a:ext cx="484243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5" name="Isosceles Triangle 104"/>
            <p:cNvSpPr/>
            <p:nvPr/>
          </p:nvSpPr>
          <p:spPr>
            <a:xfrm rot="5400000">
              <a:off x="1367428" y="153005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10" name="Straight Connector 109"/>
          <p:cNvCxnSpPr/>
          <p:nvPr/>
        </p:nvCxnSpPr>
        <p:spPr>
          <a:xfrm flipV="1">
            <a:off x="7909160" y="5192574"/>
            <a:ext cx="1373828" cy="4227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15925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7116" y="-229451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223.15.8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302369"/>
            <a:ext cx="4038600" cy="232788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mirror as shown above. Which of the choices to the right shows how the ray will exit the mirror?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077200" y="6016384"/>
            <a:ext cx="2133600" cy="365125"/>
          </a:xfrm>
        </p:spPr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524002" y="691957"/>
            <a:ext cx="3786553" cy="3610412"/>
            <a:chOff x="1" y="691957"/>
            <a:chExt cx="3786553" cy="3610412"/>
          </a:xfrm>
        </p:grpSpPr>
        <p:sp>
          <p:nvSpPr>
            <p:cNvPr id="6" name="Rectangle 5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785621" y="1593518"/>
              <a:ext cx="2813364" cy="1377069"/>
              <a:chOff x="890954" y="2508738"/>
              <a:chExt cx="2766646" cy="1312883"/>
            </a:xfrm>
          </p:grpSpPr>
          <p:cxnSp>
            <p:nvCxnSpPr>
              <p:cNvPr id="50" name="Straight Connector 49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50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Connector 52"/>
              <p:cNvCxnSpPr/>
              <p:nvPr/>
            </p:nvCxnSpPr>
            <p:spPr>
              <a:xfrm>
                <a:off x="890954" y="2508738"/>
                <a:ext cx="2685947" cy="1312883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/>
            <p:cNvSpPr txBox="1"/>
            <p:nvPr/>
          </p:nvSpPr>
          <p:spPr>
            <a:xfrm>
              <a:off x="1596264" y="266329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526100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5089284" name="Isosceles Triangle 5089283"/>
            <p:cNvSpPr/>
            <p:nvPr/>
          </p:nvSpPr>
          <p:spPr>
            <a:xfrm rot="7196341">
              <a:off x="1367428" y="1858672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7519645" y="29479"/>
            <a:ext cx="1995530" cy="2189315"/>
            <a:chOff x="1" y="691957"/>
            <a:chExt cx="3786553" cy="3610412"/>
          </a:xfrm>
        </p:grpSpPr>
        <p:sp>
          <p:nvSpPr>
            <p:cNvPr id="55" name="Rectangle 54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8" name="Group 67"/>
            <p:cNvGrpSpPr/>
            <p:nvPr/>
          </p:nvGrpSpPr>
          <p:grpSpPr>
            <a:xfrm>
              <a:off x="785621" y="1593519"/>
              <a:ext cx="2813364" cy="1439105"/>
              <a:chOff x="890954" y="2508738"/>
              <a:chExt cx="2766646" cy="1372027"/>
            </a:xfrm>
          </p:grpSpPr>
          <p:cxnSp>
            <p:nvCxnSpPr>
              <p:cNvPr id="72" name="Straight Connector 71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Oval 72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5" name="Straight Connector 74"/>
              <p:cNvCxnSpPr/>
              <p:nvPr/>
            </p:nvCxnSpPr>
            <p:spPr>
              <a:xfrm>
                <a:off x="890954" y="2508738"/>
                <a:ext cx="2720910" cy="1372027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TextBox 68"/>
            <p:cNvSpPr txBox="1"/>
            <p:nvPr/>
          </p:nvSpPr>
          <p:spPr>
            <a:xfrm>
              <a:off x="1596265" y="2663291"/>
              <a:ext cx="584621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2526100" y="2663291"/>
              <a:ext cx="484243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31" name="Straight Connector 30"/>
          <p:cNvCxnSpPr/>
          <p:nvPr/>
        </p:nvCxnSpPr>
        <p:spPr>
          <a:xfrm>
            <a:off x="7676518" y="1448060"/>
            <a:ext cx="1690068" cy="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9280" name="TextBox 5089279"/>
          <p:cNvSpPr txBox="1"/>
          <p:nvPr/>
        </p:nvSpPr>
        <p:spPr>
          <a:xfrm>
            <a:off x="7033846" y="91439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33847" y="307143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33848" y="515812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87" name="Group 86"/>
          <p:cNvGrpSpPr/>
          <p:nvPr/>
        </p:nvGrpSpPr>
        <p:grpSpPr>
          <a:xfrm>
            <a:off x="7495135" y="2371194"/>
            <a:ext cx="1995530" cy="2189315"/>
            <a:chOff x="1" y="691957"/>
            <a:chExt cx="3786553" cy="3610412"/>
          </a:xfrm>
        </p:grpSpPr>
        <p:sp>
          <p:nvSpPr>
            <p:cNvPr id="88" name="Rectangle 87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/>
            <p:cNvGrpSpPr/>
            <p:nvPr/>
          </p:nvGrpSpPr>
          <p:grpSpPr>
            <a:xfrm>
              <a:off x="785621" y="1593519"/>
              <a:ext cx="2813364" cy="1439105"/>
              <a:chOff x="890954" y="2508738"/>
              <a:chExt cx="2766646" cy="1372027"/>
            </a:xfrm>
          </p:grpSpPr>
          <p:cxnSp>
            <p:nvCxnSpPr>
              <p:cNvPr id="94" name="Straight Connector 93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Oval 94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Oval 95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Straight Connector 96"/>
              <p:cNvCxnSpPr/>
              <p:nvPr/>
            </p:nvCxnSpPr>
            <p:spPr>
              <a:xfrm>
                <a:off x="890954" y="2508738"/>
                <a:ext cx="2719568" cy="1372027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1596265" y="2663291"/>
              <a:ext cx="584621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2526100" y="2663291"/>
              <a:ext cx="484243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98" name="Straight Connector 97"/>
          <p:cNvCxnSpPr/>
          <p:nvPr/>
        </p:nvCxnSpPr>
        <p:spPr>
          <a:xfrm flipH="1">
            <a:off x="8170985" y="3801497"/>
            <a:ext cx="1195602" cy="65327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9" name="Group 98"/>
          <p:cNvGrpSpPr/>
          <p:nvPr/>
        </p:nvGrpSpPr>
        <p:grpSpPr>
          <a:xfrm>
            <a:off x="7495136" y="4622011"/>
            <a:ext cx="1995530" cy="2189315"/>
            <a:chOff x="1" y="691957"/>
            <a:chExt cx="3786553" cy="3610412"/>
          </a:xfrm>
        </p:grpSpPr>
        <p:sp>
          <p:nvSpPr>
            <p:cNvPr id="100" name="Rectangle 99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785621" y="1593518"/>
              <a:ext cx="2813364" cy="1457160"/>
              <a:chOff x="890954" y="2508738"/>
              <a:chExt cx="2766646" cy="1389241"/>
            </a:xfrm>
          </p:grpSpPr>
          <p:cxnSp>
            <p:nvCxnSpPr>
              <p:cNvPr id="106" name="Straight Connector 105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Oval 106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9" name="Straight Connector 108"/>
              <p:cNvCxnSpPr/>
              <p:nvPr/>
            </p:nvCxnSpPr>
            <p:spPr>
              <a:xfrm>
                <a:off x="890954" y="2508738"/>
                <a:ext cx="2719567" cy="1389241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TextBox 102"/>
            <p:cNvSpPr txBox="1"/>
            <p:nvPr/>
          </p:nvSpPr>
          <p:spPr>
            <a:xfrm>
              <a:off x="1596265" y="2663291"/>
              <a:ext cx="584621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2526100" y="2663291"/>
              <a:ext cx="484243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110" name="Straight Connector 109"/>
          <p:cNvCxnSpPr/>
          <p:nvPr/>
        </p:nvCxnSpPr>
        <p:spPr>
          <a:xfrm>
            <a:off x="7963574" y="5610511"/>
            <a:ext cx="1373828" cy="43085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0932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7116" y="-229451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223.15.8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302369"/>
            <a:ext cx="4038600" cy="232788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mirror as shown above. Which of the choices to the right shows how </a:t>
            </a:r>
            <a:r>
              <a:rPr lang="en-US"/>
              <a:t>the ray </a:t>
            </a:r>
            <a:r>
              <a:rPr lang="en-US" dirty="0"/>
              <a:t>will exit the mirror?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077200" y="6016384"/>
            <a:ext cx="2133600" cy="365125"/>
          </a:xfrm>
        </p:spPr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524002" y="691957"/>
            <a:ext cx="3786553" cy="3610412"/>
            <a:chOff x="1" y="691957"/>
            <a:chExt cx="3786553" cy="3610412"/>
          </a:xfrm>
        </p:grpSpPr>
        <p:sp>
          <p:nvSpPr>
            <p:cNvPr id="6" name="Rectangle 5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785621" y="1593518"/>
              <a:ext cx="2813364" cy="2207979"/>
              <a:chOff x="890954" y="2508738"/>
              <a:chExt cx="2766646" cy="2105064"/>
            </a:xfrm>
          </p:grpSpPr>
          <p:cxnSp>
            <p:nvCxnSpPr>
              <p:cNvPr id="50" name="Straight Connector 49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50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Connector 52"/>
              <p:cNvCxnSpPr/>
              <p:nvPr/>
            </p:nvCxnSpPr>
            <p:spPr>
              <a:xfrm>
                <a:off x="890954" y="2508738"/>
                <a:ext cx="2132583" cy="2105064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/>
            <p:cNvSpPr txBox="1"/>
            <p:nvPr/>
          </p:nvSpPr>
          <p:spPr>
            <a:xfrm>
              <a:off x="1596264" y="266329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526100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5089284" name="Isosceles Triangle 5089283"/>
            <p:cNvSpPr/>
            <p:nvPr/>
          </p:nvSpPr>
          <p:spPr>
            <a:xfrm rot="7807187">
              <a:off x="1226752" y="2051003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7519645" y="29479"/>
            <a:ext cx="1995530" cy="2189315"/>
            <a:chOff x="1" y="691957"/>
            <a:chExt cx="3786553" cy="3610412"/>
          </a:xfrm>
        </p:grpSpPr>
        <p:sp>
          <p:nvSpPr>
            <p:cNvPr id="55" name="Rectangle 54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8" name="Group 67"/>
            <p:cNvGrpSpPr/>
            <p:nvPr/>
          </p:nvGrpSpPr>
          <p:grpSpPr>
            <a:xfrm>
              <a:off x="785621" y="1593519"/>
              <a:ext cx="2813364" cy="2310601"/>
              <a:chOff x="890954" y="2508738"/>
              <a:chExt cx="2766646" cy="2202902"/>
            </a:xfrm>
          </p:grpSpPr>
          <p:cxnSp>
            <p:nvCxnSpPr>
              <p:cNvPr id="72" name="Straight Connector 71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Oval 72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5" name="Straight Connector 74"/>
              <p:cNvCxnSpPr/>
              <p:nvPr/>
            </p:nvCxnSpPr>
            <p:spPr>
              <a:xfrm>
                <a:off x="890954" y="2508738"/>
                <a:ext cx="2086848" cy="2202902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TextBox 68"/>
            <p:cNvSpPr txBox="1"/>
            <p:nvPr/>
          </p:nvSpPr>
          <p:spPr>
            <a:xfrm>
              <a:off x="1596265" y="2663291"/>
              <a:ext cx="584621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2526100" y="2663291"/>
              <a:ext cx="484243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sp>
        <p:nvSpPr>
          <p:cNvPr id="5089280" name="TextBox 5089279"/>
          <p:cNvSpPr txBox="1"/>
          <p:nvPr/>
        </p:nvSpPr>
        <p:spPr>
          <a:xfrm>
            <a:off x="7033846" y="91439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33847" y="307143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33848" y="515812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87" name="Group 86"/>
          <p:cNvGrpSpPr/>
          <p:nvPr/>
        </p:nvGrpSpPr>
        <p:grpSpPr>
          <a:xfrm>
            <a:off x="7495135" y="2371194"/>
            <a:ext cx="1995530" cy="2189315"/>
            <a:chOff x="1" y="691957"/>
            <a:chExt cx="3786553" cy="3610412"/>
          </a:xfrm>
        </p:grpSpPr>
        <p:sp>
          <p:nvSpPr>
            <p:cNvPr id="88" name="Rectangle 87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/>
            <p:cNvGrpSpPr/>
            <p:nvPr/>
          </p:nvGrpSpPr>
          <p:grpSpPr>
            <a:xfrm>
              <a:off x="785621" y="1593519"/>
              <a:ext cx="2813364" cy="2180117"/>
              <a:chOff x="890954" y="2508738"/>
              <a:chExt cx="2766646" cy="2078500"/>
            </a:xfrm>
          </p:grpSpPr>
          <p:cxnSp>
            <p:nvCxnSpPr>
              <p:cNvPr id="94" name="Straight Connector 93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Oval 94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Oval 95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Straight Connector 96"/>
              <p:cNvCxnSpPr>
                <a:endCxn id="89" idx="5"/>
              </p:cNvCxnSpPr>
              <p:nvPr/>
            </p:nvCxnSpPr>
            <p:spPr>
              <a:xfrm>
                <a:off x="890954" y="2508738"/>
                <a:ext cx="2248340" cy="207850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1596265" y="2663291"/>
              <a:ext cx="584621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2526100" y="2663291"/>
              <a:ext cx="484243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7495136" y="4622011"/>
            <a:ext cx="1995530" cy="2189315"/>
            <a:chOff x="1" y="691957"/>
            <a:chExt cx="3786553" cy="3610412"/>
          </a:xfrm>
        </p:grpSpPr>
        <p:sp>
          <p:nvSpPr>
            <p:cNvPr id="100" name="Rectangle 99"/>
            <p:cNvSpPr/>
            <p:nvPr/>
          </p:nvSpPr>
          <p:spPr>
            <a:xfrm>
              <a:off x="2954215" y="691957"/>
              <a:ext cx="832339" cy="36104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/>
            <p:cNvSpPr/>
            <p:nvPr/>
          </p:nvSpPr>
          <p:spPr>
            <a:xfrm>
              <a:off x="1" y="691957"/>
              <a:ext cx="3598984" cy="361041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785621" y="1593517"/>
              <a:ext cx="2813364" cy="2180118"/>
              <a:chOff x="890954" y="2508738"/>
              <a:chExt cx="2766646" cy="2078502"/>
            </a:xfrm>
          </p:grpSpPr>
          <p:cxnSp>
            <p:nvCxnSpPr>
              <p:cNvPr id="106" name="Straight Connector 105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Oval 106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9" name="Straight Connector 108"/>
              <p:cNvCxnSpPr>
                <a:endCxn id="101" idx="5"/>
              </p:cNvCxnSpPr>
              <p:nvPr/>
            </p:nvCxnSpPr>
            <p:spPr>
              <a:xfrm>
                <a:off x="890954" y="2508738"/>
                <a:ext cx="2248340" cy="2078502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TextBox 102"/>
            <p:cNvSpPr txBox="1"/>
            <p:nvPr/>
          </p:nvSpPr>
          <p:spPr>
            <a:xfrm>
              <a:off x="1596265" y="2663291"/>
              <a:ext cx="584621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2526100" y="2663291"/>
              <a:ext cx="484243" cy="609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76" name="Straight Connector 75"/>
          <p:cNvCxnSpPr/>
          <p:nvPr/>
        </p:nvCxnSpPr>
        <p:spPr>
          <a:xfrm>
            <a:off x="8650488" y="2546463"/>
            <a:ext cx="463567" cy="169342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>
            <a:off x="7909160" y="1977298"/>
            <a:ext cx="115457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1415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0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0"/>
            <a:ext cx="8153400" cy="1143000"/>
          </a:xfrm>
        </p:spPr>
        <p:txBody>
          <a:bodyPr>
            <a:normAutofit/>
          </a:bodyPr>
          <a:lstStyle/>
          <a:p>
            <a:r>
              <a:rPr lang="en-US"/>
              <a:t>Image Formed by a Concave Mirror</a:t>
            </a:r>
          </a:p>
        </p:txBody>
      </p:sp>
      <p:sp>
        <p:nvSpPr>
          <p:cNvPr id="34406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67132" y="1600201"/>
            <a:ext cx="4033838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/>
              <a:t>Geometry can be used to determine the magnification of the image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endParaRPr lang="en-US" dirty="0"/>
          </a:p>
          <a:p>
            <a:pPr lvl="1">
              <a:lnSpc>
                <a:spcPct val="90000"/>
              </a:lnSpc>
            </a:pPr>
            <a:r>
              <a:rPr lang="en-US" i="1" dirty="0"/>
              <a:t>h</a:t>
            </a:r>
            <a:r>
              <a:rPr lang="en-US" i="1" baseline="-25000" dirty="0"/>
              <a:t>i</a:t>
            </a:r>
            <a:r>
              <a:rPr lang="en-US" dirty="0"/>
              <a:t> is negative when the image is inverted with respect to the object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7"/>
              <p:cNvSpPr txBox="1"/>
              <p:nvPr/>
            </p:nvSpPr>
            <p:spPr bwMode="auto">
              <a:xfrm>
                <a:off x="3014664" y="3175001"/>
                <a:ext cx="1958975" cy="950913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14664" y="3175001"/>
                <a:ext cx="1958975" cy="950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49328" y="1739998"/>
            <a:ext cx="5218465" cy="31886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535E6FC-4942-06AB-9939-F08B7DB4EF45}"/>
              </a:ext>
            </a:extLst>
          </p:cNvPr>
          <p:cNvSpPr txBox="1"/>
          <p:nvPr/>
        </p:nvSpPr>
        <p:spPr>
          <a:xfrm>
            <a:off x="8676849" y="4729007"/>
            <a:ext cx="52201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D6FE2-A699-4109-A128-9751C5DE03A0}"/>
              </a:ext>
            </a:extLst>
          </p:cNvPr>
          <p:cNvSpPr txBox="1"/>
          <p:nvPr/>
        </p:nvSpPr>
        <p:spPr>
          <a:xfrm>
            <a:off x="10049940" y="4095315"/>
            <a:ext cx="36814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100" dirty="0"/>
              <a:t>d</a:t>
            </a:r>
            <a:r>
              <a:rPr lang="en-US" sz="1100" baseline="-25000" dirty="0"/>
              <a:t>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6ECFE5-071D-3A3A-A8DA-5913DEC014A0}"/>
              </a:ext>
            </a:extLst>
          </p:cNvPr>
          <p:cNvSpPr txBox="1"/>
          <p:nvPr/>
        </p:nvSpPr>
        <p:spPr>
          <a:xfrm>
            <a:off x="5868145" y="2368296"/>
            <a:ext cx="3882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</a:t>
            </a:r>
            <a:r>
              <a:rPr lang="en-US" baseline="-25000" dirty="0"/>
              <a:t>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675803-7E7E-57C8-9035-31EC0307EC9B}"/>
              </a:ext>
            </a:extLst>
          </p:cNvPr>
          <p:cNvSpPr/>
          <p:nvPr/>
        </p:nvSpPr>
        <p:spPr>
          <a:xfrm>
            <a:off x="10588752" y="3175001"/>
            <a:ext cx="146304" cy="162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26883B-5098-4103-F924-4EB2EFDF7FDF}"/>
              </a:ext>
            </a:extLst>
          </p:cNvPr>
          <p:cNvSpPr txBox="1"/>
          <p:nvPr/>
        </p:nvSpPr>
        <p:spPr>
          <a:xfrm>
            <a:off x="10503780" y="3102391"/>
            <a:ext cx="316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</a:t>
            </a:r>
            <a:r>
              <a:rPr lang="en-US" sz="1400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5436544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9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Concave Mirror, Notation</a:t>
            </a:r>
          </a:p>
        </p:txBody>
      </p:sp>
      <p:sp>
        <p:nvSpPr>
          <p:cNvPr id="3409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761344" y="1682644"/>
            <a:ext cx="3420256" cy="4553264"/>
          </a:xfrm>
        </p:spPr>
        <p:txBody>
          <a:bodyPr>
            <a:normAutofit lnSpcReduction="10000"/>
          </a:bodyPr>
          <a:lstStyle/>
          <a:p>
            <a:r>
              <a:rPr lang="en-US" sz="2600" dirty="0"/>
              <a:t>The mirror has a </a:t>
            </a:r>
            <a:r>
              <a:rPr lang="en-US" sz="2600" i="1" dirty="0"/>
              <a:t>radius of curvature</a:t>
            </a:r>
            <a:r>
              <a:rPr lang="en-US" sz="2600" dirty="0"/>
              <a:t> of </a:t>
            </a:r>
            <a:r>
              <a:rPr lang="en-US" sz="2600" i="1" dirty="0"/>
              <a:t>R</a:t>
            </a:r>
          </a:p>
          <a:p>
            <a:r>
              <a:rPr lang="en-US" sz="2600" dirty="0"/>
              <a:t>Its </a:t>
            </a:r>
            <a:r>
              <a:rPr lang="en-US" sz="2600" i="1" dirty="0"/>
              <a:t>center of curvature</a:t>
            </a:r>
            <a:r>
              <a:rPr lang="en-US" sz="2600" dirty="0"/>
              <a:t> is the point </a:t>
            </a:r>
            <a:r>
              <a:rPr lang="en-US" sz="2600" i="1" dirty="0"/>
              <a:t>C</a:t>
            </a:r>
          </a:p>
          <a:p>
            <a:r>
              <a:rPr lang="en-US" sz="2600" dirty="0"/>
              <a:t>Point </a:t>
            </a:r>
            <a:r>
              <a:rPr lang="en-US" sz="2600" i="1" dirty="0"/>
              <a:t>V</a:t>
            </a:r>
            <a:r>
              <a:rPr lang="en-US" sz="2600" dirty="0"/>
              <a:t> is the center of the spherical segment</a:t>
            </a:r>
          </a:p>
          <a:p>
            <a:r>
              <a:rPr lang="en-US" sz="2600" dirty="0"/>
              <a:t>A line drawn from </a:t>
            </a:r>
            <a:r>
              <a:rPr lang="en-US" sz="2600" i="1" dirty="0"/>
              <a:t>C</a:t>
            </a:r>
            <a:r>
              <a:rPr lang="en-US" sz="2600" dirty="0"/>
              <a:t> to </a:t>
            </a:r>
            <a:r>
              <a:rPr lang="en-US" sz="2600" i="1" dirty="0"/>
              <a:t>V</a:t>
            </a:r>
            <a:r>
              <a:rPr lang="en-US" sz="2600" dirty="0"/>
              <a:t> is called the </a:t>
            </a:r>
            <a:r>
              <a:rPr lang="en-US" sz="2600" i="1" dirty="0"/>
              <a:t>principal axis</a:t>
            </a:r>
            <a:r>
              <a:rPr lang="en-US" sz="2600" dirty="0"/>
              <a:t> of the mirror</a:t>
            </a:r>
          </a:p>
        </p:txBody>
      </p:sp>
      <p:pic>
        <p:nvPicPr>
          <p:cNvPr id="535553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86191" y="2223797"/>
            <a:ext cx="4705350" cy="3062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6605450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F7A77-93A3-C7A2-1DBB-762A478F5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066" name="Rectangle 2">
            <a:extLst>
              <a:ext uri="{FF2B5EF4-FFF2-40B4-BE49-F238E27FC236}">
                <a16:creationId xmlns:a16="http://schemas.microsoft.com/office/drawing/2014/main" id="{C8E946E1-A5AE-5B17-2795-C4CF3CD92F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14600" y="0"/>
            <a:ext cx="8153400" cy="1143000"/>
          </a:xfrm>
        </p:spPr>
        <p:txBody>
          <a:bodyPr>
            <a:normAutofit/>
          </a:bodyPr>
          <a:lstStyle/>
          <a:p>
            <a:r>
              <a:rPr lang="en-US"/>
              <a:t>Image Formed by a Concave Mirror</a:t>
            </a:r>
          </a:p>
        </p:txBody>
      </p:sp>
      <p:sp>
        <p:nvSpPr>
          <p:cNvPr id="344067" name="Rectangle 3">
            <a:extLst>
              <a:ext uri="{FF2B5EF4-FFF2-40B4-BE49-F238E27FC236}">
                <a16:creationId xmlns:a16="http://schemas.microsoft.com/office/drawing/2014/main" id="{DDC1DC28-90BE-35F0-11C1-A890B93180F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967132" y="1600201"/>
            <a:ext cx="4033838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/>
              <a:t>Geometry can be used to determine the magnification of the image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endParaRPr lang="en-US" dirty="0"/>
          </a:p>
          <a:p>
            <a:pPr lvl="1">
              <a:lnSpc>
                <a:spcPct val="90000"/>
              </a:lnSpc>
            </a:pPr>
            <a:r>
              <a:rPr lang="en-US" i="1" dirty="0"/>
              <a:t>h</a:t>
            </a:r>
            <a:r>
              <a:rPr lang="en-US" i="1" baseline="-25000" dirty="0"/>
              <a:t>i</a:t>
            </a:r>
            <a:r>
              <a:rPr lang="en-US" dirty="0"/>
              <a:t> is negative when the image is inverted with respect to the object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7">
                <a:extLst>
                  <a:ext uri="{FF2B5EF4-FFF2-40B4-BE49-F238E27FC236}">
                    <a16:creationId xmlns:a16="http://schemas.microsoft.com/office/drawing/2014/main" id="{5DF5F0D3-A6A2-8E19-B16F-4AFFA6F0EA23}"/>
                  </a:ext>
                </a:extLst>
              </p:cNvPr>
              <p:cNvSpPr txBox="1"/>
              <p:nvPr/>
            </p:nvSpPr>
            <p:spPr bwMode="auto">
              <a:xfrm>
                <a:off x="3014664" y="3175001"/>
                <a:ext cx="1958975" cy="950913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14664" y="3175001"/>
                <a:ext cx="1958975" cy="950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AF8C595-7EA1-327B-2FFB-4263654EA6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49328" y="1739998"/>
            <a:ext cx="5218465" cy="31886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0A7001-A041-3CCD-B8A6-858F710123AC}"/>
              </a:ext>
            </a:extLst>
          </p:cNvPr>
          <p:cNvSpPr txBox="1"/>
          <p:nvPr/>
        </p:nvSpPr>
        <p:spPr>
          <a:xfrm>
            <a:off x="8676849" y="4729007"/>
            <a:ext cx="52201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F0F40E-A5DE-F12A-557B-E0523A6E780F}"/>
              </a:ext>
            </a:extLst>
          </p:cNvPr>
          <p:cNvSpPr txBox="1"/>
          <p:nvPr/>
        </p:nvSpPr>
        <p:spPr>
          <a:xfrm>
            <a:off x="10049940" y="4095315"/>
            <a:ext cx="36814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100" dirty="0"/>
              <a:t>d</a:t>
            </a:r>
            <a:r>
              <a:rPr lang="en-US" sz="1100" baseline="-25000" dirty="0"/>
              <a:t>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C3465-D94C-FB68-B8EF-BCA277C2AAD2}"/>
              </a:ext>
            </a:extLst>
          </p:cNvPr>
          <p:cNvSpPr txBox="1"/>
          <p:nvPr/>
        </p:nvSpPr>
        <p:spPr>
          <a:xfrm>
            <a:off x="5868145" y="2368296"/>
            <a:ext cx="3882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</a:t>
            </a:r>
            <a:r>
              <a:rPr lang="en-US" baseline="-25000" dirty="0"/>
              <a:t>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3F21FC-E362-6BAD-0A02-4B15EE13931C}"/>
              </a:ext>
            </a:extLst>
          </p:cNvPr>
          <p:cNvSpPr/>
          <p:nvPr/>
        </p:nvSpPr>
        <p:spPr>
          <a:xfrm>
            <a:off x="10588752" y="3175001"/>
            <a:ext cx="146304" cy="162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291790-056D-3263-072E-1C66B6F165E0}"/>
              </a:ext>
            </a:extLst>
          </p:cNvPr>
          <p:cNvSpPr txBox="1"/>
          <p:nvPr/>
        </p:nvSpPr>
        <p:spPr>
          <a:xfrm>
            <a:off x="10503780" y="3102391"/>
            <a:ext cx="316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</a:t>
            </a:r>
            <a:r>
              <a:rPr lang="en-US" sz="1400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78331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1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Focal Length</a:t>
            </a:r>
          </a:p>
        </p:txBody>
      </p:sp>
      <p:sp>
        <p:nvSpPr>
          <p:cNvPr id="3461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787769" y="1656413"/>
            <a:ext cx="3810000" cy="468788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400" dirty="0"/>
              <a:t>When the object is very far away, then s</a:t>
            </a:r>
            <a:r>
              <a:rPr lang="en-US" sz="2400" dirty="0">
                <a:cs typeface="Arial" pitchFamily="34" charset="0"/>
              </a:rPr>
              <a:t>→ ∞</a:t>
            </a:r>
            <a:r>
              <a:rPr lang="en-US" sz="2400" dirty="0">
                <a:sym typeface="Symbol" pitchFamily="18" charset="2"/>
              </a:rPr>
              <a:t> and the incoming rays are essentially parallel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sym typeface="Symbol" pitchFamily="18" charset="2"/>
              </a:rPr>
              <a:t>In this special case, the image point is called the </a:t>
            </a:r>
            <a:r>
              <a:rPr lang="en-US" sz="2400" b="1" dirty="0">
                <a:sym typeface="Symbol" pitchFamily="18" charset="2"/>
              </a:rPr>
              <a:t>focal point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sym typeface="Symbol" pitchFamily="18" charset="2"/>
              </a:rPr>
              <a:t>The distance from the mirror to the focal point is called the </a:t>
            </a:r>
            <a:r>
              <a:rPr lang="en-US" sz="2400" b="1" dirty="0">
                <a:sym typeface="Symbol" pitchFamily="18" charset="2"/>
              </a:rPr>
              <a:t>focal length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sym typeface="Symbol" pitchFamily="18" charset="2"/>
              </a:rPr>
              <a:t>The focal length is </a:t>
            </a:r>
            <a:r>
              <a:rPr lang="en-US" sz="2000" dirty="0">
                <a:cs typeface="Arial" pitchFamily="34" charset="0"/>
                <a:sym typeface="Symbol" pitchFamily="18" charset="2"/>
              </a:rPr>
              <a:t>½</a:t>
            </a:r>
            <a:r>
              <a:rPr lang="en-US" sz="2000" dirty="0">
                <a:sym typeface="Symbol" pitchFamily="18" charset="2"/>
              </a:rPr>
              <a:t> the radius of curvature</a:t>
            </a:r>
          </a:p>
        </p:txBody>
      </p:sp>
      <p:pic>
        <p:nvPicPr>
          <p:cNvPr id="545793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08041" y="1547619"/>
            <a:ext cx="4714875" cy="2981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961093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1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Focal Point, cont.</a:t>
            </a:r>
          </a:p>
        </p:txBody>
      </p:sp>
      <p:sp>
        <p:nvSpPr>
          <p:cNvPr id="3471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09800" y="1600200"/>
            <a:ext cx="3810000" cy="445928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The colored beams are traveling parallel to the principal axis</a:t>
            </a:r>
          </a:p>
          <a:p>
            <a:pPr>
              <a:lnSpc>
                <a:spcPct val="90000"/>
              </a:lnSpc>
            </a:pPr>
            <a:r>
              <a:rPr lang="en-US"/>
              <a:t>The mirror reflects all three beams to the focal point</a:t>
            </a:r>
          </a:p>
          <a:p>
            <a:pPr>
              <a:lnSpc>
                <a:spcPct val="90000"/>
              </a:lnSpc>
            </a:pPr>
            <a:r>
              <a:rPr lang="en-US"/>
              <a:t>The focal point is where all the beams intersect</a:t>
            </a:r>
          </a:p>
          <a:p>
            <a:pPr lvl="1">
              <a:lnSpc>
                <a:spcPct val="90000"/>
              </a:lnSpc>
            </a:pPr>
            <a:r>
              <a:rPr lang="en-US"/>
              <a:t>It is the white point</a:t>
            </a:r>
          </a:p>
        </p:txBody>
      </p:sp>
      <p:pic>
        <p:nvPicPr>
          <p:cNvPr id="347140" name="Picture 4" descr="36-08"/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6623050" y="1600201"/>
            <a:ext cx="3138488" cy="4525963"/>
          </a:xfrm>
          <a:noFill/>
          <a:ln/>
        </p:spPr>
      </p:pic>
    </p:spTree>
    <p:extLst>
      <p:ext uri="{BB962C8B-B14F-4D97-AF65-F5344CB8AC3E}">
        <p14:creationId xmlns:p14="http://schemas.microsoft.com/office/powerpoint/2010/main" val="37154377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2007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348162" name="Rectangle 2"/>
          <p:cNvSpPr>
            <a:spLocks noGrp="1" noChangeArrowheads="1"/>
          </p:cNvSpPr>
          <p:nvPr>
            <p:ph type="title"/>
          </p:nvPr>
        </p:nvSpPr>
        <p:spPr>
          <a:xfrm>
            <a:off x="2667000" y="0"/>
            <a:ext cx="7772400" cy="1143000"/>
          </a:xfrm>
        </p:spPr>
        <p:txBody>
          <a:bodyPr>
            <a:normAutofit fontScale="90000"/>
          </a:bodyPr>
          <a:lstStyle/>
          <a:p>
            <a:r>
              <a:rPr lang="en-US"/>
              <a:t>Focal Point and Focal Length, cont.</a:t>
            </a:r>
          </a:p>
        </p:txBody>
      </p:sp>
      <p:sp>
        <p:nvSpPr>
          <p:cNvPr id="3481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dirty="0"/>
              <a:t>The focal point is dependent solely on the curvature of the mirror, not on the location of the object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It also does not depend on the material from which the mirror is made</a:t>
            </a:r>
          </a:p>
          <a:p>
            <a:pPr>
              <a:lnSpc>
                <a:spcPct val="90000"/>
              </a:lnSpc>
            </a:pPr>
            <a:r>
              <a:rPr lang="en-US" i="1" dirty="0"/>
              <a:t>ƒ</a:t>
            </a:r>
            <a:r>
              <a:rPr lang="en-US" dirty="0"/>
              <a:t> = </a:t>
            </a:r>
            <a:r>
              <a:rPr lang="en-US" i="1" dirty="0"/>
              <a:t>R</a:t>
            </a:r>
            <a:r>
              <a:rPr lang="en-US" dirty="0"/>
              <a:t> / 2</a:t>
            </a:r>
          </a:p>
          <a:p>
            <a:pPr>
              <a:lnSpc>
                <a:spcPct val="90000"/>
              </a:lnSpc>
            </a:pPr>
            <a:r>
              <a:rPr lang="en-US" dirty="0"/>
              <a:t>The mirror equation can be expressed 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0499" name="Object 3"/>
              <p:cNvSpPr txBox="1"/>
              <p:nvPr/>
            </p:nvSpPr>
            <p:spPr bwMode="auto">
              <a:xfrm>
                <a:off x="5005389" y="5119689"/>
                <a:ext cx="1673225" cy="1042987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90499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05389" y="5119689"/>
                <a:ext cx="1673225" cy="10429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37228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2007</a:t>
            </a:r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349186" name="Rectangle 2"/>
          <p:cNvSpPr>
            <a:spLocks noGrp="1" noChangeArrowheads="1"/>
          </p:cNvSpPr>
          <p:nvPr>
            <p:ph type="title"/>
          </p:nvPr>
        </p:nvSpPr>
        <p:spPr>
          <a:xfrm>
            <a:off x="2667000" y="0"/>
            <a:ext cx="8001000" cy="1143000"/>
          </a:xfrm>
        </p:spPr>
        <p:txBody>
          <a:bodyPr>
            <a:normAutofit fontScale="90000"/>
          </a:bodyPr>
          <a:lstStyle/>
          <a:p>
            <a:r>
              <a:rPr lang="en-US"/>
              <a:t>Focal Length Shown by Parallel Rays</a:t>
            </a:r>
          </a:p>
        </p:txBody>
      </p:sp>
      <p:pic>
        <p:nvPicPr>
          <p:cNvPr id="349187" name="Picture 3" descr="36-12b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371600"/>
            <a:ext cx="5181600" cy="47450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47487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F3FBE-02AF-47E6-8D12-8E0F57FC7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1C4C30B-8AF3-F53B-BC02-29DA8DFE2E6E}"/>
              </a:ext>
            </a:extLst>
          </p:cNvPr>
          <p:cNvCxnSpPr>
            <a:cxnSpLocks/>
          </p:cNvCxnSpPr>
          <p:nvPr/>
        </p:nvCxnSpPr>
        <p:spPr>
          <a:xfrm flipV="1">
            <a:off x="612648" y="3424427"/>
            <a:ext cx="7726680" cy="457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03CDD19C-9DE0-6BA2-99F2-849CF59CF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08888" y="1885950"/>
            <a:ext cx="790575" cy="308610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D6D4E5-A65C-7107-0DE1-DA4715991A96}"/>
              </a:ext>
            </a:extLst>
          </p:cNvPr>
          <p:cNvCxnSpPr/>
          <p:nvPr/>
        </p:nvCxnSpPr>
        <p:spPr>
          <a:xfrm>
            <a:off x="1630680" y="2276856"/>
            <a:ext cx="5666232" cy="0"/>
          </a:xfrm>
          <a:prstGeom prst="line">
            <a:avLst/>
          </a:prstGeom>
          <a:ln w="3810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EC4002F-430B-4953-E93C-B3706D8304CD}"/>
              </a:ext>
            </a:extLst>
          </p:cNvPr>
          <p:cNvSpPr/>
          <p:nvPr/>
        </p:nvSpPr>
        <p:spPr>
          <a:xfrm>
            <a:off x="6309360" y="3355848"/>
            <a:ext cx="128016" cy="13715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14884ED-9FBA-941F-EC4C-8A3848EBBC63}"/>
              </a:ext>
            </a:extLst>
          </p:cNvPr>
          <p:cNvCxnSpPr>
            <a:cxnSpLocks/>
            <a:stCxn id="9" idx="7"/>
          </p:cNvCxnSpPr>
          <p:nvPr/>
        </p:nvCxnSpPr>
        <p:spPr>
          <a:xfrm flipV="1">
            <a:off x="6418628" y="2276856"/>
            <a:ext cx="878284" cy="1099078"/>
          </a:xfrm>
          <a:prstGeom prst="line">
            <a:avLst/>
          </a:prstGeom>
          <a:ln w="3810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D4E9CA2-FEDA-B20C-E41B-4E75658048FE}"/>
              </a:ext>
            </a:extLst>
          </p:cNvPr>
          <p:cNvCxnSpPr>
            <a:cxnSpLocks/>
          </p:cNvCxnSpPr>
          <p:nvPr/>
        </p:nvCxnSpPr>
        <p:spPr>
          <a:xfrm flipV="1">
            <a:off x="5455706" y="3472919"/>
            <a:ext cx="878284" cy="1099078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439D23A-E506-EC32-11CF-FC89A25EFE73}"/>
              </a:ext>
            </a:extLst>
          </p:cNvPr>
          <p:cNvSpPr txBox="1"/>
          <p:nvPr/>
        </p:nvSpPr>
        <p:spPr>
          <a:xfrm>
            <a:off x="1497211" y="1873235"/>
            <a:ext cx="1489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Parallel Ray In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587F04-FE4D-0142-7B7C-DB499DE4C5E7}"/>
              </a:ext>
            </a:extLst>
          </p:cNvPr>
          <p:cNvSpPr txBox="1"/>
          <p:nvPr/>
        </p:nvSpPr>
        <p:spPr>
          <a:xfrm>
            <a:off x="6054162" y="3055095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7470B1-21AF-B1AA-BEA8-5CEA1119AB80}"/>
              </a:ext>
            </a:extLst>
          </p:cNvPr>
          <p:cNvSpPr txBox="1"/>
          <p:nvPr/>
        </p:nvSpPr>
        <p:spPr>
          <a:xfrm>
            <a:off x="3773975" y="3502153"/>
            <a:ext cx="19568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Don’t Draw the ray past the focal point even though it keeps going.</a:t>
            </a:r>
          </a:p>
        </p:txBody>
      </p:sp>
    </p:spTree>
    <p:extLst>
      <p:ext uri="{BB962C8B-B14F-4D97-AF65-F5344CB8AC3E}">
        <p14:creationId xmlns:p14="http://schemas.microsoft.com/office/powerpoint/2010/main" val="4236682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E613C-24AC-43A6-CC4C-8EC513BC0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B049B6D-AD4D-30B8-CBBA-87261B4B1D12}"/>
              </a:ext>
            </a:extLst>
          </p:cNvPr>
          <p:cNvCxnSpPr>
            <a:cxnSpLocks/>
          </p:cNvCxnSpPr>
          <p:nvPr/>
        </p:nvCxnSpPr>
        <p:spPr>
          <a:xfrm>
            <a:off x="612648" y="3429000"/>
            <a:ext cx="7607808" cy="1205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9DB0371B-54FD-08D0-C856-19D3DAD03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08888" y="1885950"/>
            <a:ext cx="790575" cy="308610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1D3D48E-2766-D10F-610D-E7CCD09CA8AE}"/>
              </a:ext>
            </a:extLst>
          </p:cNvPr>
          <p:cNvGrpSpPr/>
          <p:nvPr/>
        </p:nvGrpSpPr>
        <p:grpSpPr>
          <a:xfrm>
            <a:off x="1499616" y="2276856"/>
            <a:ext cx="6152626" cy="1164197"/>
            <a:chOff x="1499616" y="2276856"/>
            <a:chExt cx="6152626" cy="1164197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4B6FFA3-8693-95AA-82EB-0235005CD208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2276856"/>
              <a:ext cx="579729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6F68A39-1057-FB8D-AFF0-A040DFC9FB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2288911"/>
              <a:ext cx="932442" cy="1140089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3E0C2F54-B40A-48C3-E56A-D951C8DFCC3A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2721864"/>
              <a:ext cx="604113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3492CDE-5F4F-F4B1-C04E-EC64D0B21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2720410"/>
              <a:ext cx="1176282" cy="708589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464331F-AF3E-92BF-947C-19AC6D9DCFB6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3073145"/>
              <a:ext cx="614781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23A3B08-ED54-47BC-E3A8-8417307E8A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3073145"/>
              <a:ext cx="1287772" cy="367908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377F9B6-FAD7-A3D4-0EDF-E6436907C54C}"/>
              </a:ext>
            </a:extLst>
          </p:cNvPr>
          <p:cNvGrpSpPr/>
          <p:nvPr/>
        </p:nvGrpSpPr>
        <p:grpSpPr>
          <a:xfrm flipV="1">
            <a:off x="1497211" y="3404615"/>
            <a:ext cx="6152626" cy="1164197"/>
            <a:chOff x="1499616" y="2276856"/>
            <a:chExt cx="6152626" cy="1164197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2F8EC99-A9EE-9221-1047-C1B5F6969403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2276856"/>
              <a:ext cx="579729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2A929CA-3487-FA91-8363-14D4430239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2288911"/>
              <a:ext cx="932442" cy="1140089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08F711A-9683-0FF2-FEBD-66A370C526AA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2721864"/>
              <a:ext cx="604113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FC4E0F6-2A59-EF56-8EDE-0EA729AAE2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2720410"/>
              <a:ext cx="1176282" cy="708589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565256F-A805-A085-73A3-ECEB5FF1BF1A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3073145"/>
              <a:ext cx="614781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166408A-8307-8573-0F30-D65293F03D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3073145"/>
              <a:ext cx="1287772" cy="367908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74191807-B7B3-06A5-9876-8FA65EDAB988}"/>
              </a:ext>
            </a:extLst>
          </p:cNvPr>
          <p:cNvSpPr/>
          <p:nvPr/>
        </p:nvSpPr>
        <p:spPr>
          <a:xfrm>
            <a:off x="6337038" y="3360421"/>
            <a:ext cx="128016" cy="13715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14716B-E3B5-F055-00C0-88FB4B1A087D}"/>
              </a:ext>
            </a:extLst>
          </p:cNvPr>
          <p:cNvSpPr txBox="1"/>
          <p:nvPr/>
        </p:nvSpPr>
        <p:spPr>
          <a:xfrm>
            <a:off x="6081840" y="3412217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A7651D-5F67-381A-4C89-987BD64A1013}"/>
              </a:ext>
            </a:extLst>
          </p:cNvPr>
          <p:cNvSpPr txBox="1"/>
          <p:nvPr/>
        </p:nvSpPr>
        <p:spPr>
          <a:xfrm>
            <a:off x="1497211" y="1873235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Parallel Rays In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60582F-B1F0-76BF-A799-46053538B9DC}"/>
              </a:ext>
            </a:extLst>
          </p:cNvPr>
          <p:cNvSpPr txBox="1"/>
          <p:nvPr/>
        </p:nvSpPr>
        <p:spPr>
          <a:xfrm>
            <a:off x="5168124" y="3094720"/>
            <a:ext cx="1050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Meet at f</a:t>
            </a:r>
          </a:p>
        </p:txBody>
      </p:sp>
    </p:spTree>
    <p:extLst>
      <p:ext uri="{BB962C8B-B14F-4D97-AF65-F5344CB8AC3E}">
        <p14:creationId xmlns:p14="http://schemas.microsoft.com/office/powerpoint/2010/main" val="1078836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829EA061-0429-B7B4-82E3-F248A08B7F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F9CBBD7-F2FA-9F11-F5FE-2CDF8F2A7F5E}"/>
              </a:ext>
            </a:extLst>
          </p:cNvPr>
          <p:cNvSpPr txBox="1"/>
          <p:nvPr/>
        </p:nvSpPr>
        <p:spPr>
          <a:xfrm>
            <a:off x="168442" y="6596390"/>
            <a:ext cx="60976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https://commons.wikimedia.org/wiki/File:%22Sungril%22_solar_cooker_photo1.jpg</a:t>
            </a:r>
          </a:p>
        </p:txBody>
      </p:sp>
    </p:spTree>
    <p:extLst>
      <p:ext uri="{BB962C8B-B14F-4D97-AF65-F5344CB8AC3E}">
        <p14:creationId xmlns:p14="http://schemas.microsoft.com/office/powerpoint/2010/main" val="26036636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BFF0C-531F-75D8-ABE8-5A44A539F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5BA1BF7-C645-3489-6229-612D9B5A6120}"/>
              </a:ext>
            </a:extLst>
          </p:cNvPr>
          <p:cNvCxnSpPr>
            <a:cxnSpLocks/>
          </p:cNvCxnSpPr>
          <p:nvPr/>
        </p:nvCxnSpPr>
        <p:spPr>
          <a:xfrm>
            <a:off x="612648" y="3429000"/>
            <a:ext cx="7562088" cy="1205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EF7E7BD0-F0A3-95F2-947D-8E82F185CC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08888" y="1885950"/>
            <a:ext cx="790575" cy="308610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C7C9A3A3-D8D3-D5AF-2D76-40C268465BAD}"/>
              </a:ext>
            </a:extLst>
          </p:cNvPr>
          <p:cNvGrpSpPr/>
          <p:nvPr/>
        </p:nvGrpSpPr>
        <p:grpSpPr>
          <a:xfrm>
            <a:off x="1499616" y="2276856"/>
            <a:ext cx="6152626" cy="1164197"/>
            <a:chOff x="1499616" y="2276856"/>
            <a:chExt cx="6152626" cy="1164197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1ADEB03-0414-13C8-75E2-3125DE46B984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2276856"/>
              <a:ext cx="579729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C21727-78CE-4D34-194C-C83C57BAB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2288911"/>
              <a:ext cx="932442" cy="1140089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4B28A9C2-30EA-1981-4EEB-E01C0F0EE2E6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2721864"/>
              <a:ext cx="604113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B20F0B5-EC0F-8544-DD94-274DC3EDC1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2720410"/>
              <a:ext cx="1176282" cy="708589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00D581C-8C4B-4370-2CA7-8CD7CE5EA10F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3073145"/>
              <a:ext cx="614781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007440E-1FDC-B528-706E-BAD8B8FBD3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3073145"/>
              <a:ext cx="1287772" cy="367908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F351D5E-A574-A9AD-CC05-F1C21EC5BC6C}"/>
              </a:ext>
            </a:extLst>
          </p:cNvPr>
          <p:cNvGrpSpPr/>
          <p:nvPr/>
        </p:nvGrpSpPr>
        <p:grpSpPr>
          <a:xfrm flipV="1">
            <a:off x="1497211" y="3404615"/>
            <a:ext cx="6152626" cy="1164197"/>
            <a:chOff x="1499616" y="2276856"/>
            <a:chExt cx="6152626" cy="1164197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D619479-1CB8-99F9-8F9B-8BEB1FD77DF1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2276856"/>
              <a:ext cx="579729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B322C9A-F3AE-6136-F5AE-A9581E05A1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2288911"/>
              <a:ext cx="932442" cy="1140089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118F902-CF57-2DB9-6CE8-F714B2C99DED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2721864"/>
              <a:ext cx="604113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EFB8637-5EF9-EF7E-1E31-9C9183E0BC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2720410"/>
              <a:ext cx="1176282" cy="708589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E9A4EA2-E3FD-6206-6E2A-609013D19EDE}"/>
                </a:ext>
              </a:extLst>
            </p:cNvPr>
            <p:cNvCxnSpPr>
              <a:cxnSpLocks/>
            </p:cNvCxnSpPr>
            <p:nvPr/>
          </p:nvCxnSpPr>
          <p:spPr>
            <a:xfrm>
              <a:off x="1499616" y="3073145"/>
              <a:ext cx="6147816" cy="0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D8B63B0-247D-DB82-BDE3-C5FE487337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4470" y="3073145"/>
              <a:ext cx="1287772" cy="367908"/>
            </a:xfrm>
            <a:prstGeom prst="line">
              <a:avLst/>
            </a:prstGeom>
            <a:ln w="38100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25CC6CA6-8B98-0B3D-E20C-9781A0AECAD7}"/>
              </a:ext>
            </a:extLst>
          </p:cNvPr>
          <p:cNvSpPr/>
          <p:nvPr/>
        </p:nvSpPr>
        <p:spPr>
          <a:xfrm>
            <a:off x="6337038" y="3360421"/>
            <a:ext cx="128016" cy="13715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E640208-1F46-D6BF-8186-B20D3F29B9E9}"/>
              </a:ext>
            </a:extLst>
          </p:cNvPr>
          <p:cNvSpPr txBox="1"/>
          <p:nvPr/>
        </p:nvSpPr>
        <p:spPr>
          <a:xfrm>
            <a:off x="6081840" y="3412217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1316CB-175E-DDB0-2676-E8229DC3A482}"/>
              </a:ext>
            </a:extLst>
          </p:cNvPr>
          <p:cNvSpPr txBox="1"/>
          <p:nvPr/>
        </p:nvSpPr>
        <p:spPr>
          <a:xfrm>
            <a:off x="1497211" y="1873235"/>
            <a:ext cx="1898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Rays leave parallel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781BB5-FC67-2519-616A-4A4AB7A110CF}"/>
              </a:ext>
            </a:extLst>
          </p:cNvPr>
          <p:cNvSpPr txBox="1"/>
          <p:nvPr/>
        </p:nvSpPr>
        <p:spPr>
          <a:xfrm>
            <a:off x="4666811" y="3099487"/>
            <a:ext cx="173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Light source at f</a:t>
            </a:r>
          </a:p>
        </p:txBody>
      </p:sp>
      <p:sp>
        <p:nvSpPr>
          <p:cNvPr id="4" name="Explosion: 8 Points 3">
            <a:extLst>
              <a:ext uri="{FF2B5EF4-FFF2-40B4-BE49-F238E27FC236}">
                <a16:creationId xmlns:a16="http://schemas.microsoft.com/office/drawing/2014/main" id="{08ECA817-9E93-993A-C215-F2C305B38DE1}"/>
              </a:ext>
            </a:extLst>
          </p:cNvPr>
          <p:cNvSpPr/>
          <p:nvPr/>
        </p:nvSpPr>
        <p:spPr>
          <a:xfrm flipH="1">
            <a:off x="6286746" y="3290180"/>
            <a:ext cx="224028" cy="281384"/>
          </a:xfrm>
          <a:prstGeom prst="irregularSeal1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0457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87778A91-F9A0-3B13-8386-AF1030260F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000" y="0"/>
            <a:ext cx="71104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A6631F-7645-EDCA-E9C0-ED66F6572D8B}"/>
              </a:ext>
            </a:extLst>
          </p:cNvPr>
          <p:cNvSpPr txBox="1"/>
          <p:nvPr/>
        </p:nvSpPr>
        <p:spPr>
          <a:xfrm>
            <a:off x="730" y="6657945"/>
            <a:ext cx="609447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/>
              <a:t>https://commons.wikimedia.org/wiki/File:The_Auxiliary_Territorial_Service_in_the_United_Kingdom_1939_-_1945_H36315.jpg</a:t>
            </a:r>
          </a:p>
        </p:txBody>
      </p:sp>
    </p:spTree>
    <p:extLst>
      <p:ext uri="{BB962C8B-B14F-4D97-AF65-F5344CB8AC3E}">
        <p14:creationId xmlns:p14="http://schemas.microsoft.com/office/powerpoint/2010/main" val="23476627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3714" y="1981200"/>
            <a:ext cx="6124575" cy="2895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801572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3714" y="1981200"/>
            <a:ext cx="6124575" cy="2895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680429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3714" y="1566864"/>
            <a:ext cx="6124575" cy="3724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535444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3714" y="1566864"/>
            <a:ext cx="6124575" cy="3724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245596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10645C5-D827-8B30-BFC6-6429E32E1A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8450" y="1447800"/>
            <a:ext cx="65151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238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2007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3502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Convex Mirrors</a:t>
            </a:r>
          </a:p>
        </p:txBody>
      </p:sp>
      <p:sp>
        <p:nvSpPr>
          <p:cNvPr id="3502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A convex mirror is sometimes called a </a:t>
            </a:r>
            <a:r>
              <a:rPr lang="en-US" b="1"/>
              <a:t>diverging mirror</a:t>
            </a:r>
          </a:p>
          <a:p>
            <a:pPr lvl="1">
              <a:lnSpc>
                <a:spcPct val="90000"/>
              </a:lnSpc>
            </a:pPr>
            <a:r>
              <a:rPr lang="en-US"/>
              <a:t>The light reflects from the outer, convex side</a:t>
            </a:r>
          </a:p>
          <a:p>
            <a:pPr>
              <a:lnSpc>
                <a:spcPct val="90000"/>
              </a:lnSpc>
            </a:pPr>
            <a:r>
              <a:rPr lang="en-US"/>
              <a:t>The rays from any point on the object diverge after reflection as though they were coming from some point behind the mirror </a:t>
            </a:r>
          </a:p>
          <a:p>
            <a:pPr>
              <a:lnSpc>
                <a:spcPct val="90000"/>
              </a:lnSpc>
            </a:pPr>
            <a:r>
              <a:rPr lang="en-US"/>
              <a:t>The image is virtual because the reflected rays only appear to originate at the image point</a:t>
            </a:r>
          </a:p>
        </p:txBody>
      </p:sp>
    </p:spTree>
    <p:extLst>
      <p:ext uri="{BB962C8B-B14F-4D97-AF65-F5344CB8AC3E}">
        <p14:creationId xmlns:p14="http://schemas.microsoft.com/office/powerpoint/2010/main" val="41510751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234" name="Rectangle 2"/>
          <p:cNvSpPr>
            <a:spLocks noGrp="1" noChangeArrowheads="1"/>
          </p:cNvSpPr>
          <p:nvPr>
            <p:ph type="title"/>
          </p:nvPr>
        </p:nvSpPr>
        <p:spPr>
          <a:xfrm>
            <a:off x="2819400" y="0"/>
            <a:ext cx="7848600" cy="1143000"/>
          </a:xfrm>
        </p:spPr>
        <p:txBody>
          <a:bodyPr>
            <a:normAutofit/>
          </a:bodyPr>
          <a:lstStyle/>
          <a:p>
            <a:r>
              <a:rPr lang="en-US"/>
              <a:t>Image Formed by a Convex Mirror</a:t>
            </a:r>
          </a:p>
        </p:txBody>
      </p:sp>
      <p:sp>
        <p:nvSpPr>
          <p:cNvPr id="351235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438400" y="5189090"/>
            <a:ext cx="7772400" cy="1411288"/>
          </a:xfrm>
        </p:spPr>
        <p:txBody>
          <a:bodyPr/>
          <a:lstStyle/>
          <a:p>
            <a:r>
              <a:rPr lang="en-US" dirty="0"/>
              <a:t>In general, the image formed by a convex mirror is upright, virtual, and smaller than the object</a:t>
            </a:r>
          </a:p>
          <a:p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4886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1626" y="1868488"/>
            <a:ext cx="3967163" cy="3128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1119954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0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4339" name="Object 3"/>
          <p:cNvGraphicFramePr>
            <a:graphicFrameLocks noChangeAspect="1"/>
          </p:cNvGraphicFramePr>
          <p:nvPr/>
        </p:nvGraphicFramePr>
        <p:xfrm>
          <a:off x="1524000" y="1036638"/>
          <a:ext cx="9158288" cy="3916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343400" imgH="1854200" progId="Equation.3">
                  <p:embed/>
                </p:oleObj>
              </mc:Choice>
              <mc:Fallback>
                <p:oleObj name="Equation" r:id="rId2" imgW="4343400" imgH="1854200" progId="Equation.3">
                  <p:embed/>
                  <p:pic>
                    <p:nvPicPr>
                      <p:cNvPr id="1433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1036638"/>
                        <a:ext cx="9158288" cy="39163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2DBA874A-D239-6C17-A5F7-4AEF8B21A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1596" y="850330"/>
            <a:ext cx="12935192" cy="428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2990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13329" y="2059674"/>
            <a:ext cx="4705350" cy="3062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4677508" y="2371763"/>
            <a:ext cx="9642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1" y="2371763"/>
            <a:ext cx="8675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8872138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Ray Diagrams</a:t>
            </a:r>
          </a:p>
        </p:txBody>
      </p:sp>
      <p:sp>
        <p:nvSpPr>
          <p:cNvPr id="3543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</a:t>
            </a:r>
            <a:r>
              <a:rPr lang="en-US" i="1"/>
              <a:t>ray diagram</a:t>
            </a:r>
            <a:r>
              <a:rPr lang="en-US"/>
              <a:t> can be used to determine the position and size of an image</a:t>
            </a:r>
          </a:p>
          <a:p>
            <a:r>
              <a:rPr lang="en-US"/>
              <a:t>They are graphical constructions which reveal the nature of the image</a:t>
            </a:r>
          </a:p>
          <a:p>
            <a:r>
              <a:rPr lang="en-US"/>
              <a:t>They can also be used to check the parameters calculated from the mirror and magnification equations</a:t>
            </a:r>
          </a:p>
        </p:txBody>
      </p:sp>
    </p:spTree>
    <p:extLst>
      <p:ext uri="{BB962C8B-B14F-4D97-AF65-F5344CB8AC3E}">
        <p14:creationId xmlns:p14="http://schemas.microsoft.com/office/powerpoint/2010/main" val="2862343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Drawing a Ray Diagram</a:t>
            </a:r>
          </a:p>
        </p:txBody>
      </p:sp>
      <p:sp>
        <p:nvSpPr>
          <p:cNvPr id="355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draw a ray diagram, you need to know:</a:t>
            </a:r>
          </a:p>
          <a:p>
            <a:pPr lvl="1"/>
            <a:r>
              <a:rPr lang="en-US"/>
              <a:t>The position of the object</a:t>
            </a:r>
          </a:p>
          <a:p>
            <a:pPr lvl="1"/>
            <a:r>
              <a:rPr lang="en-US"/>
              <a:t>The locations of the focal point and the center of curvature</a:t>
            </a:r>
          </a:p>
          <a:p>
            <a:r>
              <a:rPr lang="en-US"/>
              <a:t>Three rays are drawn</a:t>
            </a:r>
          </a:p>
          <a:p>
            <a:pPr lvl="1"/>
            <a:r>
              <a:rPr lang="en-US"/>
              <a:t>They all start from the same position on the object</a:t>
            </a:r>
          </a:p>
          <a:p>
            <a:r>
              <a:rPr lang="en-US"/>
              <a:t>The intersection of any two of the rays at a point locates the image</a:t>
            </a:r>
          </a:p>
          <a:p>
            <a:pPr lvl="1"/>
            <a:r>
              <a:rPr lang="en-US"/>
              <a:t>The third ray serves as a check of the construction</a:t>
            </a:r>
          </a:p>
        </p:txBody>
      </p:sp>
    </p:spTree>
    <p:extLst>
      <p:ext uri="{BB962C8B-B14F-4D97-AF65-F5344CB8AC3E}">
        <p14:creationId xmlns:p14="http://schemas.microsoft.com/office/powerpoint/2010/main" val="20526571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354" name="Rectangle 2"/>
          <p:cNvSpPr>
            <a:spLocks noGrp="1" noChangeArrowheads="1"/>
          </p:cNvSpPr>
          <p:nvPr>
            <p:ph type="title"/>
          </p:nvPr>
        </p:nvSpPr>
        <p:spPr>
          <a:xfrm>
            <a:off x="2819400" y="0"/>
            <a:ext cx="7848600" cy="1143000"/>
          </a:xfrm>
        </p:spPr>
        <p:txBody>
          <a:bodyPr/>
          <a:lstStyle/>
          <a:p>
            <a:r>
              <a:rPr lang="en-US"/>
              <a:t>Ray Diagram – Concave Mirrors</a:t>
            </a:r>
          </a:p>
        </p:txBody>
      </p:sp>
      <p:sp>
        <p:nvSpPr>
          <p:cNvPr id="3563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43854" y="1632082"/>
            <a:ext cx="7772400" cy="4383087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/>
              <a:t>Ray 1 is drawn from the top of the object parallel to the principal axis and is reflected through the focal point, </a:t>
            </a:r>
            <a:r>
              <a:rPr lang="en-US" i="1" dirty="0"/>
              <a:t>F</a:t>
            </a:r>
          </a:p>
          <a:p>
            <a:pPr>
              <a:lnSpc>
                <a:spcPct val="90000"/>
              </a:lnSpc>
            </a:pPr>
            <a:r>
              <a:rPr lang="en-US" dirty="0"/>
              <a:t>Ray 2 is drawn from the top of the object through the focal point and is reflected parallel to the principal axis</a:t>
            </a:r>
          </a:p>
          <a:p>
            <a:pPr>
              <a:lnSpc>
                <a:spcPct val="90000"/>
              </a:lnSpc>
            </a:pPr>
            <a:r>
              <a:rPr lang="en-US" dirty="0"/>
              <a:t>Ray 3 is drawn through the center of curvature, </a:t>
            </a:r>
            <a:r>
              <a:rPr lang="en-US" i="1" dirty="0"/>
              <a:t>C</a:t>
            </a:r>
            <a:r>
              <a:rPr lang="en-US" dirty="0"/>
              <a:t>, and is reflected back on itself</a:t>
            </a:r>
          </a:p>
        </p:txBody>
      </p:sp>
    </p:spTree>
    <p:extLst>
      <p:ext uri="{BB962C8B-B14F-4D97-AF65-F5344CB8AC3E}">
        <p14:creationId xmlns:p14="http://schemas.microsoft.com/office/powerpoint/2010/main" val="21881196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Notes About the Rays</a:t>
            </a:r>
          </a:p>
        </p:txBody>
      </p:sp>
      <p:sp>
        <p:nvSpPr>
          <p:cNvPr id="3573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rays actually go in all directions from the object</a:t>
            </a:r>
          </a:p>
          <a:p>
            <a:r>
              <a:rPr lang="en-US"/>
              <a:t>The three rays were chosen for their ease of construction</a:t>
            </a:r>
          </a:p>
          <a:p>
            <a:r>
              <a:rPr lang="en-US"/>
              <a:t>The image point obtained by the ray diagram must agree with the value of </a:t>
            </a:r>
            <a:r>
              <a:rPr lang="en-US" i="1"/>
              <a:t>q</a:t>
            </a:r>
            <a:r>
              <a:rPr lang="en-US"/>
              <a:t> calculated from the mirror equation</a:t>
            </a:r>
          </a:p>
        </p:txBody>
      </p:sp>
    </p:spTree>
    <p:extLst>
      <p:ext uri="{BB962C8B-B14F-4D97-AF65-F5344CB8AC3E}">
        <p14:creationId xmlns:p14="http://schemas.microsoft.com/office/powerpoint/2010/main" val="205232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02" name="Rectangle 2"/>
          <p:cNvSpPr>
            <a:spLocks noGrp="1" noChangeArrowheads="1"/>
          </p:cNvSpPr>
          <p:nvPr>
            <p:ph type="title"/>
          </p:nvPr>
        </p:nvSpPr>
        <p:spPr>
          <a:xfrm>
            <a:off x="2667000" y="0"/>
            <a:ext cx="8001000" cy="1143000"/>
          </a:xfrm>
        </p:spPr>
        <p:txBody>
          <a:bodyPr/>
          <a:lstStyle/>
          <a:p>
            <a:r>
              <a:rPr lang="en-US" sz="3200" dirty="0"/>
              <a:t>Ray Diagram for a Concave Mirror, </a:t>
            </a:r>
            <a:r>
              <a:rPr lang="en-US" sz="3200" i="1" dirty="0"/>
              <a:t>s</a:t>
            </a:r>
            <a:r>
              <a:rPr lang="en-US" sz="3200" dirty="0"/>
              <a:t> &gt; </a:t>
            </a:r>
            <a:r>
              <a:rPr lang="en-US" sz="3200" i="1" dirty="0"/>
              <a:t>R</a:t>
            </a:r>
          </a:p>
        </p:txBody>
      </p:sp>
      <p:sp>
        <p:nvSpPr>
          <p:cNvPr id="358403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1552575" y="4530150"/>
            <a:ext cx="9144000" cy="198120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sz="2400"/>
              <a:t>The center of curvature is between the object and the  concave mirror surface</a:t>
            </a:r>
          </a:p>
          <a:p>
            <a:pPr>
              <a:lnSpc>
                <a:spcPct val="90000"/>
              </a:lnSpc>
            </a:pPr>
            <a:r>
              <a:rPr lang="en-US" sz="2400"/>
              <a:t>The image is real</a:t>
            </a:r>
          </a:p>
          <a:p>
            <a:pPr>
              <a:lnSpc>
                <a:spcPct val="90000"/>
              </a:lnSpc>
            </a:pPr>
            <a:r>
              <a:rPr lang="en-US" sz="2400"/>
              <a:t>The image is inverted</a:t>
            </a:r>
          </a:p>
          <a:p>
            <a:pPr>
              <a:lnSpc>
                <a:spcPct val="90000"/>
              </a:lnSpc>
            </a:pPr>
            <a:r>
              <a:rPr lang="en-US" sz="2400"/>
              <a:t>The image is smaller than the object (reduced)</a:t>
            </a:r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95323" y="1152288"/>
            <a:ext cx="4320796" cy="2740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33AE350-91F4-60D2-048A-5D9D87482EFE}"/>
              </a:ext>
            </a:extLst>
          </p:cNvPr>
          <p:cNvSpPr txBox="1"/>
          <p:nvPr/>
        </p:nvSpPr>
        <p:spPr>
          <a:xfrm>
            <a:off x="6096000" y="3738727"/>
            <a:ext cx="52201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D8872F-559B-025D-1EFB-D7A63A21E50B}"/>
              </a:ext>
            </a:extLst>
          </p:cNvPr>
          <p:cNvSpPr txBox="1"/>
          <p:nvPr/>
        </p:nvSpPr>
        <p:spPr>
          <a:xfrm>
            <a:off x="7249635" y="3182112"/>
            <a:ext cx="275877" cy="25391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50" dirty="0"/>
              <a:t>d</a:t>
            </a:r>
            <a:r>
              <a:rPr lang="en-US" sz="1050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2149235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42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0"/>
            <a:ext cx="8077200" cy="1143000"/>
          </a:xfrm>
        </p:spPr>
        <p:txBody>
          <a:bodyPr/>
          <a:lstStyle/>
          <a:p>
            <a:r>
              <a:rPr lang="en-US" sz="3200" dirty="0"/>
              <a:t>Ray Diagram for a Concave Mirror, </a:t>
            </a:r>
            <a:r>
              <a:rPr lang="en-US" sz="3200" i="1" dirty="0"/>
              <a:t>s</a:t>
            </a:r>
            <a:r>
              <a:rPr lang="en-US" sz="3200" dirty="0"/>
              <a:t> &lt; </a:t>
            </a:r>
            <a:r>
              <a:rPr lang="en-US" sz="3200" i="1" dirty="0"/>
              <a:t>f</a:t>
            </a:r>
          </a:p>
        </p:txBody>
      </p:sp>
      <p:sp>
        <p:nvSpPr>
          <p:cNvPr id="359427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1524000" y="4572000"/>
            <a:ext cx="9144000" cy="1981200"/>
          </a:xfrm>
        </p:spPr>
        <p:txBody>
          <a:bodyPr/>
          <a:lstStyle/>
          <a:p>
            <a:r>
              <a:rPr lang="en-US" sz="2400" dirty="0"/>
              <a:t>The object is between the mirror surface and the focal point</a:t>
            </a:r>
          </a:p>
          <a:p>
            <a:r>
              <a:rPr lang="en-US" sz="2400" dirty="0"/>
              <a:t>The image is virtual</a:t>
            </a:r>
          </a:p>
          <a:p>
            <a:r>
              <a:rPr lang="en-US" sz="2400" dirty="0"/>
              <a:t>The image is upright</a:t>
            </a:r>
          </a:p>
          <a:p>
            <a:r>
              <a:rPr lang="en-US" sz="2400" dirty="0"/>
              <a:t>The image is larger than the object (enlarged)</a:t>
            </a:r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23682" y="1138640"/>
            <a:ext cx="4674074" cy="2904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5BA358-F8D5-1B40-741A-6760CC0D6C43}"/>
              </a:ext>
            </a:extLst>
          </p:cNvPr>
          <p:cNvSpPr txBox="1"/>
          <p:nvPr/>
        </p:nvSpPr>
        <p:spPr>
          <a:xfrm>
            <a:off x="7069803" y="3801541"/>
            <a:ext cx="359664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C6BF07-EEB2-7EFF-F73B-C87987C7F92D}"/>
              </a:ext>
            </a:extLst>
          </p:cNvPr>
          <p:cNvSpPr txBox="1"/>
          <p:nvPr/>
        </p:nvSpPr>
        <p:spPr>
          <a:xfrm>
            <a:off x="7514811" y="3429000"/>
            <a:ext cx="35966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d</a:t>
            </a:r>
            <a:r>
              <a:rPr lang="en-US" sz="1200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4566806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450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0"/>
            <a:ext cx="8077200" cy="1143000"/>
          </a:xfrm>
        </p:spPr>
        <p:txBody>
          <a:bodyPr/>
          <a:lstStyle/>
          <a:p>
            <a:r>
              <a:rPr lang="en-US" sz="2800"/>
              <a:t>The Rays in a Ray Diagram – Convex Mirrors</a:t>
            </a:r>
          </a:p>
        </p:txBody>
      </p:sp>
      <p:sp>
        <p:nvSpPr>
          <p:cNvPr id="3604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75810" y="1656413"/>
            <a:ext cx="7772400" cy="438308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/>
              <a:t>Ray 1 is drawn from the top of the object parallel to the principal axis and is reflected away from the focal point, </a:t>
            </a:r>
            <a:r>
              <a:rPr lang="en-US" i="1" dirty="0"/>
              <a:t>F</a:t>
            </a:r>
          </a:p>
          <a:p>
            <a:pPr>
              <a:lnSpc>
                <a:spcPct val="90000"/>
              </a:lnSpc>
            </a:pPr>
            <a:r>
              <a:rPr lang="en-US" dirty="0"/>
              <a:t>Ray 2 is drawn from the top of the object toward the focal point and is reflected parallel to the principal axis</a:t>
            </a:r>
          </a:p>
          <a:p>
            <a:pPr>
              <a:lnSpc>
                <a:spcPct val="90000"/>
              </a:lnSpc>
            </a:pPr>
            <a:r>
              <a:rPr lang="en-US" dirty="0"/>
              <a:t>Ray 3 is drawn through the center of curvature, </a:t>
            </a:r>
            <a:r>
              <a:rPr lang="en-US" i="1" dirty="0"/>
              <a:t>C</a:t>
            </a:r>
            <a:r>
              <a:rPr lang="en-US" dirty="0"/>
              <a:t>, on the back side of the mirror and is reflected back on itself</a:t>
            </a:r>
          </a:p>
        </p:txBody>
      </p:sp>
    </p:spTree>
    <p:extLst>
      <p:ext uri="{BB962C8B-B14F-4D97-AF65-F5344CB8AC3E}">
        <p14:creationId xmlns:p14="http://schemas.microsoft.com/office/powerpoint/2010/main" val="26690314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Rectangle 2"/>
          <p:cNvSpPr>
            <a:spLocks noGrp="1" noChangeArrowheads="1"/>
          </p:cNvSpPr>
          <p:nvPr>
            <p:ph type="title"/>
          </p:nvPr>
        </p:nvSpPr>
        <p:spPr>
          <a:xfrm>
            <a:off x="3124200" y="0"/>
            <a:ext cx="7334250" cy="1143000"/>
          </a:xfrm>
        </p:spPr>
        <p:txBody>
          <a:bodyPr>
            <a:normAutofit fontScale="90000"/>
          </a:bodyPr>
          <a:lstStyle/>
          <a:p>
            <a:r>
              <a:rPr lang="en-US"/>
              <a:t>Ray Diagram for a Convex Mirror</a:t>
            </a:r>
          </a:p>
        </p:txBody>
      </p:sp>
      <p:sp>
        <p:nvSpPr>
          <p:cNvPr id="361475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514600" y="4572000"/>
            <a:ext cx="7772400" cy="1981200"/>
          </a:xfrm>
        </p:spPr>
        <p:txBody>
          <a:bodyPr/>
          <a:lstStyle/>
          <a:p>
            <a:r>
              <a:rPr lang="en-US" sz="2400"/>
              <a:t>The object is in front of a convex mirror</a:t>
            </a:r>
          </a:p>
          <a:p>
            <a:r>
              <a:rPr lang="en-US" sz="2400"/>
              <a:t>The image is virtual</a:t>
            </a:r>
          </a:p>
          <a:p>
            <a:r>
              <a:rPr lang="en-US" sz="2400"/>
              <a:t>The image is upright</a:t>
            </a:r>
          </a:p>
          <a:p>
            <a:r>
              <a:rPr lang="en-US" sz="2400"/>
              <a:t>The image is smaller than the object (reduced)</a:t>
            </a:r>
          </a:p>
        </p:txBody>
      </p:sp>
      <p:pic>
        <p:nvPicPr>
          <p:cNvPr id="215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83181" y="1092652"/>
            <a:ext cx="3878097" cy="3053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F04E22-FFA2-5DD3-7DF5-51C3B22D6332}"/>
              </a:ext>
            </a:extLst>
          </p:cNvPr>
          <p:cNvSpPr txBox="1"/>
          <p:nvPr/>
        </p:nvSpPr>
        <p:spPr>
          <a:xfrm>
            <a:off x="5222715" y="3429000"/>
            <a:ext cx="359664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BB446D-B967-7513-A7BE-2EC08589FA64}"/>
              </a:ext>
            </a:extLst>
          </p:cNvPr>
          <p:cNvSpPr/>
          <p:nvPr/>
        </p:nvSpPr>
        <p:spPr>
          <a:xfrm>
            <a:off x="6281928" y="2788920"/>
            <a:ext cx="201168" cy="3017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5C669D-3C0C-CE82-6B73-F6384B05440D}"/>
              </a:ext>
            </a:extLst>
          </p:cNvPr>
          <p:cNvSpPr txBox="1"/>
          <p:nvPr/>
        </p:nvSpPr>
        <p:spPr>
          <a:xfrm>
            <a:off x="6194281" y="2752118"/>
            <a:ext cx="3764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</a:t>
            </a:r>
            <a:r>
              <a:rPr lang="en-US" sz="1600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7355920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Notes on Images</a:t>
            </a:r>
          </a:p>
        </p:txBody>
      </p:sp>
      <p:sp>
        <p:nvSpPr>
          <p:cNvPr id="3635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/>
              <a:t>With a concave mirror, the image may be either real or virtual</a:t>
            </a:r>
          </a:p>
          <a:p>
            <a:pPr lvl="1">
              <a:lnSpc>
                <a:spcPct val="90000"/>
              </a:lnSpc>
            </a:pPr>
            <a:r>
              <a:rPr lang="en-US"/>
              <a:t>When the object is outside the focal point, the image is real</a:t>
            </a:r>
          </a:p>
          <a:p>
            <a:pPr lvl="1">
              <a:lnSpc>
                <a:spcPct val="90000"/>
              </a:lnSpc>
            </a:pPr>
            <a:r>
              <a:rPr lang="en-US"/>
              <a:t>When the object is at the focal point, the image is infinitely far away</a:t>
            </a:r>
          </a:p>
          <a:p>
            <a:pPr lvl="1">
              <a:lnSpc>
                <a:spcPct val="90000"/>
              </a:lnSpc>
            </a:pPr>
            <a:r>
              <a:rPr lang="en-US"/>
              <a:t>When the object is between the mirror and the focal point, the image is virtual</a:t>
            </a:r>
          </a:p>
          <a:p>
            <a:pPr>
              <a:lnSpc>
                <a:spcPct val="90000"/>
              </a:lnSpc>
            </a:pPr>
            <a:r>
              <a:rPr lang="en-US"/>
              <a:t>With a convex mirror, the image is always virtual and upright</a:t>
            </a:r>
          </a:p>
          <a:p>
            <a:pPr lvl="1">
              <a:lnSpc>
                <a:spcPct val="90000"/>
              </a:lnSpc>
            </a:pPr>
            <a:r>
              <a:rPr lang="en-US"/>
              <a:t>As the object distance decreases, the virtual image increases in size</a:t>
            </a:r>
          </a:p>
        </p:txBody>
      </p:sp>
    </p:spTree>
    <p:extLst>
      <p:ext uri="{BB962C8B-B14F-4D97-AF65-F5344CB8AC3E}">
        <p14:creationId xmlns:p14="http://schemas.microsoft.com/office/powerpoint/2010/main" val="10645685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0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Spherical Aberration</a:t>
            </a:r>
          </a:p>
        </p:txBody>
      </p:sp>
      <p:sp>
        <p:nvSpPr>
          <p:cNvPr id="34304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600201"/>
            <a:ext cx="766572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/>
              <a:t>Rays that are far from the principal axis converge to other points on the principal axis</a:t>
            </a:r>
          </a:p>
          <a:p>
            <a:pPr>
              <a:lnSpc>
                <a:spcPct val="90000"/>
              </a:lnSpc>
            </a:pPr>
            <a:r>
              <a:rPr lang="en-US" dirty="0"/>
              <a:t>This produces a blurred image</a:t>
            </a:r>
          </a:p>
          <a:p>
            <a:pPr>
              <a:lnSpc>
                <a:spcPct val="90000"/>
              </a:lnSpc>
            </a:pPr>
            <a:r>
              <a:rPr lang="en-US" dirty="0"/>
              <a:t>The effect is called </a:t>
            </a:r>
            <a:r>
              <a:rPr lang="en-US" b="1" dirty="0"/>
              <a:t>spherical aberration</a:t>
            </a:r>
          </a:p>
        </p:txBody>
      </p:sp>
    </p:spTree>
    <p:extLst>
      <p:ext uri="{BB962C8B-B14F-4D97-AF65-F5344CB8AC3E}">
        <p14:creationId xmlns:p14="http://schemas.microsoft.com/office/powerpoint/2010/main" val="14352476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687" y="1443037"/>
            <a:ext cx="6524625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1250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730EA-8399-E863-2A81-D989B11C2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9F536-7A06-A8E2-266F-DA397B1BD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DE7170A-5ADB-628E-8033-8EE57517C9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3700"/>
            <a:ext cx="12192000" cy="6069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B57EDB-FC61-E42C-C403-AAE1632FBBDB}"/>
              </a:ext>
            </a:extLst>
          </p:cNvPr>
          <p:cNvSpPr txBox="1"/>
          <p:nvPr/>
        </p:nvSpPr>
        <p:spPr>
          <a:xfrm>
            <a:off x="1849374" y="6546152"/>
            <a:ext cx="60944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https://science.nasa.gov/mission/hubble/observatory/design/optics/hubbles-mirror-flaw/</a:t>
            </a:r>
          </a:p>
        </p:txBody>
      </p:sp>
    </p:spTree>
    <p:extLst>
      <p:ext uri="{BB962C8B-B14F-4D97-AF65-F5344CB8AC3E}">
        <p14:creationId xmlns:p14="http://schemas.microsoft.com/office/powerpoint/2010/main" val="24968716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223.16.12</a:t>
            </a:r>
          </a:p>
        </p:txBody>
      </p:sp>
      <p:sp>
        <p:nvSpPr>
          <p:cNvPr id="1802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/>
              <a:t>Will a refractive spherical optic display spherical aberration?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Sometimes yes, sometimes no</a:t>
            </a:r>
          </a:p>
        </p:txBody>
      </p:sp>
      <p:sp>
        <p:nvSpPr>
          <p:cNvPr id="180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01146B-F335-4073-85A8-072265A7A279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4391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741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33675" y="1541464"/>
            <a:ext cx="67246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837865-D4CF-6112-46FF-58F61292DD89}"/>
              </a:ext>
            </a:extLst>
          </p:cNvPr>
          <p:cNvSpPr txBox="1"/>
          <p:nvPr/>
        </p:nvSpPr>
        <p:spPr>
          <a:xfrm>
            <a:off x="3928554" y="5073849"/>
            <a:ext cx="597725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d</a:t>
            </a:r>
            <a:r>
              <a:rPr lang="en-US" sz="2000" baseline="-25000" dirty="0"/>
              <a:t>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A0CBC-79E6-0860-D89E-718B50BFED2A}"/>
              </a:ext>
            </a:extLst>
          </p:cNvPr>
          <p:cNvSpPr txBox="1"/>
          <p:nvPr/>
        </p:nvSpPr>
        <p:spPr>
          <a:xfrm>
            <a:off x="6052629" y="5012294"/>
            <a:ext cx="59772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8869771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80D71-BDE5-E7D0-C0A6-3BC51F9BA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09D50D-0E3C-B7F3-6348-6513402401C3}"/>
              </a:ext>
            </a:extLst>
          </p:cNvPr>
          <p:cNvSpPr/>
          <p:nvPr/>
        </p:nvSpPr>
        <p:spPr>
          <a:xfrm>
            <a:off x="5180429" y="3244334"/>
            <a:ext cx="1831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	[Figure]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DC8929-F18C-35CB-A3A3-BEFB12AA0ED6}"/>
              </a:ext>
            </a:extLst>
          </p:cNvPr>
          <p:cNvSpPr/>
          <p:nvPr/>
        </p:nvSpPr>
        <p:spPr>
          <a:xfrm>
            <a:off x="5608820" y="1906250"/>
            <a:ext cx="5029200" cy="3200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B93BFE97-C47B-F386-8678-F0C7DC8F2128}"/>
              </a:ext>
            </a:extLst>
          </p:cNvPr>
          <p:cNvSpPr/>
          <p:nvPr/>
        </p:nvSpPr>
        <p:spPr>
          <a:xfrm flipH="1">
            <a:off x="5029200" y="762000"/>
            <a:ext cx="5562600" cy="5410200"/>
          </a:xfrm>
          <a:prstGeom prst="arc">
            <a:avLst>
              <a:gd name="adj1" fmla="val 19491412"/>
              <a:gd name="adj2" fmla="val 2196565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ECC3B0-7078-4F94-E2A3-A0774C01FD1C}"/>
              </a:ext>
            </a:extLst>
          </p:cNvPr>
          <p:cNvCxnSpPr/>
          <p:nvPr/>
        </p:nvCxnSpPr>
        <p:spPr>
          <a:xfrm rot="10800000" flipH="1">
            <a:off x="1776250" y="3505200"/>
            <a:ext cx="8891751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30">
            <a:extLst>
              <a:ext uri="{FF2B5EF4-FFF2-40B4-BE49-F238E27FC236}">
                <a16:creationId xmlns:a16="http://schemas.microsoft.com/office/drawing/2014/main" id="{804D22ED-7237-6306-BF5A-29BB81C903DB}"/>
              </a:ext>
            </a:extLst>
          </p:cNvPr>
          <p:cNvGrpSpPr/>
          <p:nvPr/>
        </p:nvGrpSpPr>
        <p:grpSpPr>
          <a:xfrm>
            <a:off x="1905001" y="2362201"/>
            <a:ext cx="7848601" cy="1143001"/>
            <a:chOff x="381000" y="2362200"/>
            <a:chExt cx="7848601" cy="1143001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F0EC286-F893-301E-B84C-A462E868D4B8}"/>
                </a:ext>
              </a:extLst>
            </p:cNvPr>
            <p:cNvCxnSpPr/>
            <p:nvPr/>
          </p:nvCxnSpPr>
          <p:spPr>
            <a:xfrm flipV="1">
              <a:off x="457200" y="2362200"/>
              <a:ext cx="3352800" cy="11430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8C48AA4-59FB-C77F-1A91-0A0C490646F6}"/>
                </a:ext>
              </a:extLst>
            </p:cNvPr>
            <p:cNvCxnSpPr/>
            <p:nvPr/>
          </p:nvCxnSpPr>
          <p:spPr>
            <a:xfrm rot="10800000">
              <a:off x="3810000" y="2362200"/>
              <a:ext cx="4419600" cy="11430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442A7F1-7C56-84BA-5D30-17261C5FBCB8}"/>
                </a:ext>
              </a:extLst>
            </p:cNvPr>
            <p:cNvCxnSpPr/>
            <p:nvPr/>
          </p:nvCxnSpPr>
          <p:spPr>
            <a:xfrm rot="5400000" flipH="1" flipV="1">
              <a:off x="1657350" y="1543050"/>
              <a:ext cx="685800" cy="32385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7B24B7A-2126-3A6C-4200-B82C2709AD35}"/>
                </a:ext>
              </a:extLst>
            </p:cNvPr>
            <p:cNvCxnSpPr/>
            <p:nvPr/>
          </p:nvCxnSpPr>
          <p:spPr>
            <a:xfrm rot="10800000">
              <a:off x="3581402" y="2819402"/>
              <a:ext cx="4648199" cy="685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F203058-47D9-29A8-A2DF-748D76FFDB3A}"/>
                </a:ext>
              </a:extLst>
            </p:cNvPr>
            <p:cNvCxnSpPr/>
            <p:nvPr/>
          </p:nvCxnSpPr>
          <p:spPr>
            <a:xfrm flipV="1">
              <a:off x="457200" y="3200400"/>
              <a:ext cx="3048000" cy="304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A01B2C-01FD-F88B-6961-484093E9FEFF}"/>
                </a:ext>
              </a:extLst>
            </p:cNvPr>
            <p:cNvCxnSpPr/>
            <p:nvPr/>
          </p:nvCxnSpPr>
          <p:spPr>
            <a:xfrm rot="10800000">
              <a:off x="3505202" y="3200402"/>
              <a:ext cx="4724399" cy="304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31">
            <a:extLst>
              <a:ext uri="{FF2B5EF4-FFF2-40B4-BE49-F238E27FC236}">
                <a16:creationId xmlns:a16="http://schemas.microsoft.com/office/drawing/2014/main" id="{5934C6AE-7B1D-ECEE-DF86-1E98443216F8}"/>
              </a:ext>
            </a:extLst>
          </p:cNvPr>
          <p:cNvGrpSpPr/>
          <p:nvPr/>
        </p:nvGrpSpPr>
        <p:grpSpPr>
          <a:xfrm flipV="1">
            <a:off x="1933434" y="3502508"/>
            <a:ext cx="7923664" cy="1397039"/>
            <a:chOff x="381000" y="2341004"/>
            <a:chExt cx="7848601" cy="1164201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65C8F21-52EE-50F4-9361-2F8C89945397}"/>
                </a:ext>
              </a:extLst>
            </p:cNvPr>
            <p:cNvCxnSpPr/>
            <p:nvPr/>
          </p:nvCxnSpPr>
          <p:spPr>
            <a:xfrm flipV="1">
              <a:off x="470719" y="2341004"/>
              <a:ext cx="3398046" cy="113007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6C46231-58A9-9A45-D8FD-9B91DD6A50B1}"/>
                </a:ext>
              </a:extLst>
            </p:cNvPr>
            <p:cNvCxnSpPr>
              <a:stCxn id="10" idx="2"/>
            </p:cNvCxnSpPr>
            <p:nvPr/>
          </p:nvCxnSpPr>
          <p:spPr>
            <a:xfrm flipH="1" flipV="1">
              <a:off x="3841728" y="2352377"/>
              <a:ext cx="4285355" cy="1130207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B6EFE44-8847-B6B3-ACCB-AF4C43C581B6}"/>
                </a:ext>
              </a:extLst>
            </p:cNvPr>
            <p:cNvCxnSpPr/>
            <p:nvPr/>
          </p:nvCxnSpPr>
          <p:spPr>
            <a:xfrm rot="5400000" flipH="1" flipV="1">
              <a:off x="1657349" y="1543053"/>
              <a:ext cx="685801" cy="32385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1F9098A-7A00-EE6F-3A66-A920F3E7FE2A}"/>
                </a:ext>
              </a:extLst>
            </p:cNvPr>
            <p:cNvCxnSpPr/>
            <p:nvPr/>
          </p:nvCxnSpPr>
          <p:spPr>
            <a:xfrm rot="10800000">
              <a:off x="3581401" y="2819405"/>
              <a:ext cx="4648199" cy="685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3C0C4F5-9A42-B69D-7A13-074EB1D23DDB}"/>
                </a:ext>
              </a:extLst>
            </p:cNvPr>
            <p:cNvCxnSpPr/>
            <p:nvPr/>
          </p:nvCxnSpPr>
          <p:spPr>
            <a:xfrm flipV="1">
              <a:off x="457200" y="3200402"/>
              <a:ext cx="3048000" cy="304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7A32226-2551-6773-8D84-1348A8BF895C}"/>
                </a:ext>
              </a:extLst>
            </p:cNvPr>
            <p:cNvCxnSpPr/>
            <p:nvPr/>
          </p:nvCxnSpPr>
          <p:spPr>
            <a:xfrm rot="10800000">
              <a:off x="3505202" y="3200402"/>
              <a:ext cx="4724399" cy="304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117ECE4D-0140-C71D-BF57-16A1E0838F8D}"/>
              </a:ext>
            </a:extLst>
          </p:cNvPr>
          <p:cNvSpPr/>
          <p:nvPr/>
        </p:nvSpPr>
        <p:spPr>
          <a:xfrm>
            <a:off x="1966210" y="347522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BA59CAE-7945-48E3-D646-961BBDEA6900}"/>
              </a:ext>
            </a:extLst>
          </p:cNvPr>
          <p:cNvSpPr/>
          <p:nvPr/>
        </p:nvSpPr>
        <p:spPr>
          <a:xfrm>
            <a:off x="9753600" y="3491552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F96A90-40CB-2CC5-17C0-BD91D885FE1D}"/>
              </a:ext>
            </a:extLst>
          </p:cNvPr>
          <p:cNvSpPr txBox="1"/>
          <p:nvPr/>
        </p:nvSpPr>
        <p:spPr>
          <a:xfrm>
            <a:off x="1703883" y="2758190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Object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22D850-4FB2-78BA-CEBD-B10E756416A6}"/>
              </a:ext>
            </a:extLst>
          </p:cNvPr>
          <p:cNvSpPr txBox="1"/>
          <p:nvPr/>
        </p:nvSpPr>
        <p:spPr>
          <a:xfrm>
            <a:off x="9216454" y="3690080"/>
            <a:ext cx="1451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Convergence Point</a:t>
            </a:r>
          </a:p>
        </p:txBody>
      </p:sp>
    </p:spTree>
    <p:extLst>
      <p:ext uri="{BB962C8B-B14F-4D97-AF65-F5344CB8AC3E}">
        <p14:creationId xmlns:p14="http://schemas.microsoft.com/office/powerpoint/2010/main" val="9226910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99304-5642-3635-D07C-3B3228C25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1C40577-0305-2918-8AA3-C19C3514FC4B}"/>
              </a:ext>
            </a:extLst>
          </p:cNvPr>
          <p:cNvSpPr/>
          <p:nvPr/>
        </p:nvSpPr>
        <p:spPr>
          <a:xfrm>
            <a:off x="5180429" y="3244334"/>
            <a:ext cx="1831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	[Figure]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504522-E0FC-477F-A8DA-D49708F323AA}"/>
              </a:ext>
            </a:extLst>
          </p:cNvPr>
          <p:cNvSpPr/>
          <p:nvPr/>
        </p:nvSpPr>
        <p:spPr>
          <a:xfrm>
            <a:off x="5608820" y="1906250"/>
            <a:ext cx="5029200" cy="3200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60C6FD08-9798-051E-FA55-8CF016A0245B}"/>
              </a:ext>
            </a:extLst>
          </p:cNvPr>
          <p:cNvSpPr/>
          <p:nvPr/>
        </p:nvSpPr>
        <p:spPr>
          <a:xfrm flipH="1">
            <a:off x="5029200" y="762000"/>
            <a:ext cx="5562600" cy="5410200"/>
          </a:xfrm>
          <a:prstGeom prst="arc">
            <a:avLst>
              <a:gd name="adj1" fmla="val 19491412"/>
              <a:gd name="adj2" fmla="val 2196565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BBD081-19B7-EB15-205F-5432B7F40877}"/>
              </a:ext>
            </a:extLst>
          </p:cNvPr>
          <p:cNvCxnSpPr/>
          <p:nvPr/>
        </p:nvCxnSpPr>
        <p:spPr>
          <a:xfrm rot="10800000" flipH="1">
            <a:off x="1776250" y="3505200"/>
            <a:ext cx="8891751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30">
            <a:extLst>
              <a:ext uri="{FF2B5EF4-FFF2-40B4-BE49-F238E27FC236}">
                <a16:creationId xmlns:a16="http://schemas.microsoft.com/office/drawing/2014/main" id="{E6E396BB-E297-F0D5-D09E-AB24D4AB28A1}"/>
              </a:ext>
            </a:extLst>
          </p:cNvPr>
          <p:cNvGrpSpPr/>
          <p:nvPr/>
        </p:nvGrpSpPr>
        <p:grpSpPr>
          <a:xfrm>
            <a:off x="1905001" y="2362201"/>
            <a:ext cx="7848601" cy="1143001"/>
            <a:chOff x="381000" y="2362200"/>
            <a:chExt cx="7848601" cy="1143001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2DC4531-A324-A17D-B90E-189FA70A7350}"/>
                </a:ext>
              </a:extLst>
            </p:cNvPr>
            <p:cNvCxnSpPr/>
            <p:nvPr/>
          </p:nvCxnSpPr>
          <p:spPr>
            <a:xfrm flipV="1">
              <a:off x="457200" y="2362200"/>
              <a:ext cx="3352800" cy="11430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40DB7FD-63C0-E1B3-84CE-13D3F18EA17A}"/>
                </a:ext>
              </a:extLst>
            </p:cNvPr>
            <p:cNvCxnSpPr/>
            <p:nvPr/>
          </p:nvCxnSpPr>
          <p:spPr>
            <a:xfrm rot="10800000">
              <a:off x="3810000" y="2362200"/>
              <a:ext cx="4419600" cy="11430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10D3E20-CE84-410B-5673-BEEAB1B7CFC8}"/>
                </a:ext>
              </a:extLst>
            </p:cNvPr>
            <p:cNvCxnSpPr/>
            <p:nvPr/>
          </p:nvCxnSpPr>
          <p:spPr>
            <a:xfrm rot="5400000" flipH="1" flipV="1">
              <a:off x="1657350" y="1543050"/>
              <a:ext cx="685800" cy="32385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9B6363D-E709-EAF3-C1F5-8D91E0A03373}"/>
                </a:ext>
              </a:extLst>
            </p:cNvPr>
            <p:cNvCxnSpPr/>
            <p:nvPr/>
          </p:nvCxnSpPr>
          <p:spPr>
            <a:xfrm rot="10800000">
              <a:off x="3581402" y="2819402"/>
              <a:ext cx="4648199" cy="685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5CA936C-F358-A6F1-DFE1-2AA129110B54}"/>
                </a:ext>
              </a:extLst>
            </p:cNvPr>
            <p:cNvCxnSpPr/>
            <p:nvPr/>
          </p:nvCxnSpPr>
          <p:spPr>
            <a:xfrm flipV="1">
              <a:off x="457200" y="3200400"/>
              <a:ext cx="3048000" cy="304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BF187F7-CD60-FC1F-7ED5-CBA17932619E}"/>
                </a:ext>
              </a:extLst>
            </p:cNvPr>
            <p:cNvCxnSpPr/>
            <p:nvPr/>
          </p:nvCxnSpPr>
          <p:spPr>
            <a:xfrm rot="10800000">
              <a:off x="3505202" y="3200402"/>
              <a:ext cx="4724399" cy="304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31">
            <a:extLst>
              <a:ext uri="{FF2B5EF4-FFF2-40B4-BE49-F238E27FC236}">
                <a16:creationId xmlns:a16="http://schemas.microsoft.com/office/drawing/2014/main" id="{8743C2A4-BC03-0BAA-FD10-6B3DC05E35AC}"/>
              </a:ext>
            </a:extLst>
          </p:cNvPr>
          <p:cNvGrpSpPr/>
          <p:nvPr/>
        </p:nvGrpSpPr>
        <p:grpSpPr>
          <a:xfrm flipV="1">
            <a:off x="1933434" y="3502508"/>
            <a:ext cx="7923664" cy="1397039"/>
            <a:chOff x="381000" y="2341004"/>
            <a:chExt cx="7848601" cy="1164201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22E5B22-5E81-5F25-0E4A-18CDDA2B212C}"/>
                </a:ext>
              </a:extLst>
            </p:cNvPr>
            <p:cNvCxnSpPr/>
            <p:nvPr/>
          </p:nvCxnSpPr>
          <p:spPr>
            <a:xfrm flipV="1">
              <a:off x="470719" y="2341004"/>
              <a:ext cx="3398046" cy="113007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5619CD4-8151-0D61-4B48-B9F41A49897F}"/>
                </a:ext>
              </a:extLst>
            </p:cNvPr>
            <p:cNvCxnSpPr>
              <a:stCxn id="10" idx="2"/>
            </p:cNvCxnSpPr>
            <p:nvPr/>
          </p:nvCxnSpPr>
          <p:spPr>
            <a:xfrm flipH="1" flipV="1">
              <a:off x="3841728" y="2352377"/>
              <a:ext cx="4285355" cy="1130207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3EBD105-9605-06ED-9050-22A8270E3C8B}"/>
                </a:ext>
              </a:extLst>
            </p:cNvPr>
            <p:cNvCxnSpPr/>
            <p:nvPr/>
          </p:nvCxnSpPr>
          <p:spPr>
            <a:xfrm rot="5400000" flipH="1" flipV="1">
              <a:off x="1657349" y="1543053"/>
              <a:ext cx="685801" cy="32385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95A6120-FDEF-FAFF-059D-1264D0306F3F}"/>
                </a:ext>
              </a:extLst>
            </p:cNvPr>
            <p:cNvCxnSpPr/>
            <p:nvPr/>
          </p:nvCxnSpPr>
          <p:spPr>
            <a:xfrm rot="10800000">
              <a:off x="3581401" y="2819405"/>
              <a:ext cx="4648199" cy="685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93218510-5100-25C9-FE98-919E19576B96}"/>
                </a:ext>
              </a:extLst>
            </p:cNvPr>
            <p:cNvCxnSpPr/>
            <p:nvPr/>
          </p:nvCxnSpPr>
          <p:spPr>
            <a:xfrm flipV="1">
              <a:off x="457200" y="3200402"/>
              <a:ext cx="3048000" cy="304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2621D4C-CF36-4FE5-4F12-6A63E07C5502}"/>
                </a:ext>
              </a:extLst>
            </p:cNvPr>
            <p:cNvCxnSpPr/>
            <p:nvPr/>
          </p:nvCxnSpPr>
          <p:spPr>
            <a:xfrm rot="10800000">
              <a:off x="3505202" y="3200402"/>
              <a:ext cx="4724399" cy="304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085D591-466C-C28B-59BB-9F10CDBA075A}"/>
              </a:ext>
            </a:extLst>
          </p:cNvPr>
          <p:cNvSpPr/>
          <p:nvPr/>
        </p:nvSpPr>
        <p:spPr>
          <a:xfrm>
            <a:off x="1966210" y="347522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5C86FA3-1E88-CCF5-4EF4-220E1CFC0E9A}"/>
              </a:ext>
            </a:extLst>
          </p:cNvPr>
          <p:cNvSpPr/>
          <p:nvPr/>
        </p:nvSpPr>
        <p:spPr>
          <a:xfrm>
            <a:off x="9753600" y="3491552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DED6653-6B2C-F73E-7A05-F695CF329B19}"/>
              </a:ext>
            </a:extLst>
          </p:cNvPr>
          <p:cNvSpPr txBox="1"/>
          <p:nvPr/>
        </p:nvSpPr>
        <p:spPr>
          <a:xfrm>
            <a:off x="1703883" y="2758190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Object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C57454E-7F26-601C-05EF-BA3C73EFEE23}"/>
              </a:ext>
            </a:extLst>
          </p:cNvPr>
          <p:cNvSpPr txBox="1"/>
          <p:nvPr/>
        </p:nvSpPr>
        <p:spPr>
          <a:xfrm>
            <a:off x="9216454" y="3690080"/>
            <a:ext cx="1451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Convergence Point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0798A8-46FD-FFAD-DDD8-8E420663EA63}"/>
              </a:ext>
            </a:extLst>
          </p:cNvPr>
          <p:cNvCxnSpPr>
            <a:cxnSpLocks/>
          </p:cNvCxnSpPr>
          <p:nvPr/>
        </p:nvCxnSpPr>
        <p:spPr>
          <a:xfrm flipH="1" flipV="1">
            <a:off x="4883531" y="2137255"/>
            <a:ext cx="889470" cy="45722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CA38053-5406-5EBC-E3B1-72597E294727}"/>
              </a:ext>
            </a:extLst>
          </p:cNvPr>
          <p:cNvCxnSpPr>
            <a:cxnSpLocks/>
          </p:cNvCxnSpPr>
          <p:nvPr/>
        </p:nvCxnSpPr>
        <p:spPr>
          <a:xfrm flipH="1" flipV="1">
            <a:off x="4546368" y="2659383"/>
            <a:ext cx="1015823" cy="26376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B8E84D1-02F8-174C-5FC2-2271174833FC}"/>
              </a:ext>
            </a:extLst>
          </p:cNvPr>
          <p:cNvCxnSpPr>
            <a:cxnSpLocks/>
          </p:cNvCxnSpPr>
          <p:nvPr/>
        </p:nvCxnSpPr>
        <p:spPr>
          <a:xfrm flipH="1" flipV="1">
            <a:off x="4533765" y="3129862"/>
            <a:ext cx="1028426" cy="12829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D26FC1A-DFF3-96C1-C44E-3B8463BD2459}"/>
              </a:ext>
            </a:extLst>
          </p:cNvPr>
          <p:cNvCxnSpPr>
            <a:cxnSpLocks/>
          </p:cNvCxnSpPr>
          <p:nvPr/>
        </p:nvCxnSpPr>
        <p:spPr>
          <a:xfrm flipH="1">
            <a:off x="4919668" y="4664113"/>
            <a:ext cx="853333" cy="53569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E5042110-E59B-578F-7537-D81BF08E98BE}"/>
              </a:ext>
            </a:extLst>
          </p:cNvPr>
          <p:cNvCxnSpPr>
            <a:cxnSpLocks/>
          </p:cNvCxnSpPr>
          <p:nvPr/>
        </p:nvCxnSpPr>
        <p:spPr>
          <a:xfrm flipH="1">
            <a:off x="4727306" y="4189712"/>
            <a:ext cx="849261" cy="277249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7D2941F-F5B8-68B3-8C8E-9ED975E12844}"/>
              </a:ext>
            </a:extLst>
          </p:cNvPr>
          <p:cNvCxnSpPr>
            <a:cxnSpLocks/>
          </p:cNvCxnSpPr>
          <p:nvPr/>
        </p:nvCxnSpPr>
        <p:spPr>
          <a:xfrm flipH="1">
            <a:off x="4511841" y="3821292"/>
            <a:ext cx="915418" cy="13122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46046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BB374-DEB0-6FEA-7A9C-6B648863C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5235CB57-7090-B773-1F3B-005C520D0CDD}"/>
              </a:ext>
            </a:extLst>
          </p:cNvPr>
          <p:cNvSpPr txBox="1"/>
          <p:nvPr/>
        </p:nvSpPr>
        <p:spPr>
          <a:xfrm>
            <a:off x="5124736" y="1916376"/>
            <a:ext cx="3177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en-US" baseline="-25000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7358E84-D769-2CE6-8B1E-72643E1EFACF}"/>
              </a:ext>
            </a:extLst>
          </p:cNvPr>
          <p:cNvSpPr/>
          <p:nvPr/>
        </p:nvSpPr>
        <p:spPr>
          <a:xfrm>
            <a:off x="5611504" y="1899312"/>
            <a:ext cx="5029200" cy="3200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Arc 38">
            <a:extLst>
              <a:ext uri="{FF2B5EF4-FFF2-40B4-BE49-F238E27FC236}">
                <a16:creationId xmlns:a16="http://schemas.microsoft.com/office/drawing/2014/main" id="{D7D74008-B18B-3589-3C3E-E1EBE38B7467}"/>
              </a:ext>
            </a:extLst>
          </p:cNvPr>
          <p:cNvSpPr/>
          <p:nvPr/>
        </p:nvSpPr>
        <p:spPr>
          <a:xfrm flipH="1">
            <a:off x="5097440" y="762000"/>
            <a:ext cx="5562600" cy="5410200"/>
          </a:xfrm>
          <a:prstGeom prst="arc">
            <a:avLst>
              <a:gd name="adj1" fmla="val 19491412"/>
              <a:gd name="adj2" fmla="val 2196565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967C37-AF99-1F26-3B46-5FBD8258D00E}"/>
              </a:ext>
            </a:extLst>
          </p:cNvPr>
          <p:cNvCxnSpPr/>
          <p:nvPr/>
        </p:nvCxnSpPr>
        <p:spPr>
          <a:xfrm>
            <a:off x="1905000" y="4648200"/>
            <a:ext cx="3124200" cy="1588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492F8C2-DC19-C655-3DD4-6BC9944607B4}"/>
              </a:ext>
            </a:extLst>
          </p:cNvPr>
          <p:cNvCxnSpPr/>
          <p:nvPr/>
        </p:nvCxnSpPr>
        <p:spPr>
          <a:xfrm flipV="1">
            <a:off x="5029200" y="4114800"/>
            <a:ext cx="2819400" cy="1588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DC93DB6-6F2D-9BF3-AEF5-FF4837DD20DB}"/>
              </a:ext>
            </a:extLst>
          </p:cNvPr>
          <p:cNvCxnSpPr/>
          <p:nvPr/>
        </p:nvCxnSpPr>
        <p:spPr>
          <a:xfrm flipV="1">
            <a:off x="5029200" y="4648200"/>
            <a:ext cx="4800600" cy="1588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8CE948E-21E6-BF0A-5256-B7366DEDA7F0}"/>
              </a:ext>
            </a:extLst>
          </p:cNvPr>
          <p:cNvCxnSpPr/>
          <p:nvPr/>
        </p:nvCxnSpPr>
        <p:spPr>
          <a:xfrm rot="5400000">
            <a:off x="1333500" y="4457700"/>
            <a:ext cx="1143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6792E3-271C-E493-B5C0-2E991F7DA823}"/>
              </a:ext>
            </a:extLst>
          </p:cNvPr>
          <p:cNvCxnSpPr/>
          <p:nvPr/>
        </p:nvCxnSpPr>
        <p:spPr>
          <a:xfrm rot="5400000">
            <a:off x="4458494" y="4152106"/>
            <a:ext cx="1143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836A9B6-76BF-E6E7-37AB-292DE993A446}"/>
              </a:ext>
            </a:extLst>
          </p:cNvPr>
          <p:cNvCxnSpPr/>
          <p:nvPr/>
        </p:nvCxnSpPr>
        <p:spPr>
          <a:xfrm rot="5400000">
            <a:off x="9259094" y="4533106"/>
            <a:ext cx="1143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2CDFF0E-9F7D-D68F-DFB7-9DC614C14B3A}"/>
              </a:ext>
            </a:extLst>
          </p:cNvPr>
          <p:cNvCxnSpPr/>
          <p:nvPr/>
        </p:nvCxnSpPr>
        <p:spPr>
          <a:xfrm rot="5400000">
            <a:off x="7581900" y="4229100"/>
            <a:ext cx="6858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1B55A8-69BA-508B-D84F-AC4492DC4D3B}"/>
              </a:ext>
            </a:extLst>
          </p:cNvPr>
          <p:cNvCxnSpPr/>
          <p:nvPr/>
        </p:nvCxnSpPr>
        <p:spPr>
          <a:xfrm rot="5400000">
            <a:off x="4790590" y="2932906"/>
            <a:ext cx="1143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63AA5578-9116-097C-9614-4E6BE1665C06}"/>
              </a:ext>
            </a:extLst>
          </p:cNvPr>
          <p:cNvSpPr/>
          <p:nvPr/>
        </p:nvSpPr>
        <p:spPr>
          <a:xfrm>
            <a:off x="1816100" y="340360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C1B6CA-7CC7-FBC2-C423-F2F941CC1AA2}"/>
              </a:ext>
            </a:extLst>
          </p:cNvPr>
          <p:cNvSpPr txBox="1"/>
          <p:nvPr/>
        </p:nvSpPr>
        <p:spPr>
          <a:xfrm>
            <a:off x="7010400" y="4432301"/>
            <a:ext cx="381836" cy="4616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s’</a:t>
            </a:r>
            <a:endParaRPr lang="en-US" sz="2400" baseline="-25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184F33-C0B9-26E2-F7AB-E31E12CDA4F9}"/>
              </a:ext>
            </a:extLst>
          </p:cNvPr>
          <p:cNvSpPr txBox="1"/>
          <p:nvPr/>
        </p:nvSpPr>
        <p:spPr>
          <a:xfrm>
            <a:off x="3352800" y="4432301"/>
            <a:ext cx="30489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s</a:t>
            </a:r>
            <a:endParaRPr lang="en-US" sz="2400" baseline="-25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DCFF7A-D2AD-007A-2D75-EB415A86B0FE}"/>
              </a:ext>
            </a:extLst>
          </p:cNvPr>
          <p:cNvSpPr txBox="1"/>
          <p:nvPr/>
        </p:nvSpPr>
        <p:spPr>
          <a:xfrm>
            <a:off x="6324600" y="3886200"/>
            <a:ext cx="30970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  <a:endParaRPr lang="en-US" baseline="-25000" dirty="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2ACE617-BEBB-318F-1DF4-E19091ECD852}"/>
              </a:ext>
            </a:extLst>
          </p:cNvPr>
          <p:cNvCxnSpPr>
            <a:stCxn id="23" idx="6"/>
          </p:cNvCxnSpPr>
          <p:nvPr/>
        </p:nvCxnSpPr>
        <p:spPr>
          <a:xfrm flipV="1">
            <a:off x="1892300" y="2336802"/>
            <a:ext cx="3429000" cy="1104899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86E22127-4F4E-C46A-2657-80B8405C8D80}"/>
              </a:ext>
            </a:extLst>
          </p:cNvPr>
          <p:cNvSpPr/>
          <p:nvPr/>
        </p:nvSpPr>
        <p:spPr>
          <a:xfrm>
            <a:off x="9753600" y="342900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E91CCD-44C9-716D-9BF9-2B81B910B13B}"/>
              </a:ext>
            </a:extLst>
          </p:cNvPr>
          <p:cNvSpPr txBox="1"/>
          <p:nvPr/>
        </p:nvSpPr>
        <p:spPr>
          <a:xfrm>
            <a:off x="4267200" y="2133600"/>
            <a:ext cx="38343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1</a:t>
            </a:r>
            <a:endParaRPr lang="en-US" baseline="-25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A5123E-1B91-F01D-43A8-738B761761D2}"/>
              </a:ext>
            </a:extLst>
          </p:cNvPr>
          <p:cNvSpPr txBox="1"/>
          <p:nvPr/>
        </p:nvSpPr>
        <p:spPr>
          <a:xfrm>
            <a:off x="5410200" y="2895600"/>
            <a:ext cx="30970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endParaRPr lang="en-US" baseline="-25000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86B702B-1199-31A5-148A-26B7942587A8}"/>
              </a:ext>
            </a:extLst>
          </p:cNvPr>
          <p:cNvCxnSpPr>
            <a:endCxn id="24" idx="1"/>
          </p:cNvCxnSpPr>
          <p:nvPr/>
        </p:nvCxnSpPr>
        <p:spPr>
          <a:xfrm>
            <a:off x="3886201" y="1676401"/>
            <a:ext cx="3973559" cy="17637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Arc 39">
            <a:extLst>
              <a:ext uri="{FF2B5EF4-FFF2-40B4-BE49-F238E27FC236}">
                <a16:creationId xmlns:a16="http://schemas.microsoft.com/office/drawing/2014/main" id="{248B3F61-3EEF-3CAE-66D1-EEF41DAD5577}"/>
              </a:ext>
            </a:extLst>
          </p:cNvPr>
          <p:cNvSpPr/>
          <p:nvPr/>
        </p:nvSpPr>
        <p:spPr>
          <a:xfrm rot="18949663" flipV="1">
            <a:off x="2592586" y="3042034"/>
            <a:ext cx="457200" cy="533400"/>
          </a:xfrm>
          <a:prstGeom prst="arc">
            <a:avLst>
              <a:gd name="adj1" fmla="val 16937127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122212-67C6-0AC8-8549-F79836D2F861}"/>
              </a:ext>
            </a:extLst>
          </p:cNvPr>
          <p:cNvSpPr txBox="1"/>
          <p:nvPr/>
        </p:nvSpPr>
        <p:spPr>
          <a:xfrm>
            <a:off x="4800600" y="2590800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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1D0343-ABC5-0823-BB9F-8DA12F9CDBCA}"/>
              </a:ext>
            </a:extLst>
          </p:cNvPr>
          <p:cNvSpPr txBox="1"/>
          <p:nvPr/>
        </p:nvSpPr>
        <p:spPr>
          <a:xfrm>
            <a:off x="6449008" y="2085392"/>
            <a:ext cx="38343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2</a:t>
            </a:r>
            <a:endParaRPr lang="en-US" baseline="-25000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1240D465-BC2B-6A57-240F-58FD82578019}"/>
              </a:ext>
            </a:extLst>
          </p:cNvPr>
          <p:cNvSpPr/>
          <p:nvPr/>
        </p:nvSpPr>
        <p:spPr>
          <a:xfrm>
            <a:off x="6324600" y="2362200"/>
            <a:ext cx="257332" cy="374754"/>
          </a:xfrm>
          <a:custGeom>
            <a:avLst/>
            <a:gdLst>
              <a:gd name="connsiteX0" fmla="*/ 194872 w 257332"/>
              <a:gd name="connsiteY0" fmla="*/ 0 h 374754"/>
              <a:gd name="connsiteX1" fmla="*/ 104931 w 257332"/>
              <a:gd name="connsiteY1" fmla="*/ 164892 h 374754"/>
              <a:gd name="connsiteX2" fmla="*/ 239843 w 257332"/>
              <a:gd name="connsiteY2" fmla="*/ 164892 h 374754"/>
              <a:gd name="connsiteX3" fmla="*/ 0 w 257332"/>
              <a:gd name="connsiteY3" fmla="*/ 374754 h 374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332" h="374754">
                <a:moveTo>
                  <a:pt x="194872" y="0"/>
                </a:moveTo>
                <a:cubicBezTo>
                  <a:pt x="146154" y="68705"/>
                  <a:pt x="97436" y="137410"/>
                  <a:pt x="104931" y="164892"/>
                </a:cubicBezTo>
                <a:cubicBezTo>
                  <a:pt x="112426" y="192374"/>
                  <a:pt x="257332" y="129915"/>
                  <a:pt x="239843" y="164892"/>
                </a:cubicBezTo>
                <a:cubicBezTo>
                  <a:pt x="222355" y="199869"/>
                  <a:pt x="0" y="374754"/>
                  <a:pt x="0" y="374754"/>
                </a:cubicBezTo>
              </a:path>
            </a:pathLst>
          </a:cu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BB5AFC-1D28-B737-F856-A0AFA94D63BA}"/>
              </a:ext>
            </a:extLst>
          </p:cNvPr>
          <p:cNvSpPr txBox="1"/>
          <p:nvPr/>
        </p:nvSpPr>
        <p:spPr>
          <a:xfrm>
            <a:off x="6612340" y="3088943"/>
            <a:ext cx="31130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</a:t>
            </a:r>
            <a:endParaRPr lang="en-US" baseline="-25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8BD73C-B518-E55D-BB5F-EFCDF9FA1534}"/>
              </a:ext>
            </a:extLst>
          </p:cNvPr>
          <p:cNvSpPr txBox="1"/>
          <p:nvPr/>
        </p:nvSpPr>
        <p:spPr>
          <a:xfrm>
            <a:off x="8305800" y="3124200"/>
            <a:ext cx="27924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</a:t>
            </a:r>
            <a:endParaRPr lang="en-US" baseline="-25000" dirty="0"/>
          </a:p>
        </p:txBody>
      </p:sp>
      <p:sp>
        <p:nvSpPr>
          <p:cNvPr id="47" name="Arc 46">
            <a:extLst>
              <a:ext uri="{FF2B5EF4-FFF2-40B4-BE49-F238E27FC236}">
                <a16:creationId xmlns:a16="http://schemas.microsoft.com/office/drawing/2014/main" id="{5507559D-0D19-EEBD-2953-B5C63E357ED7}"/>
              </a:ext>
            </a:extLst>
          </p:cNvPr>
          <p:cNvSpPr/>
          <p:nvPr/>
        </p:nvSpPr>
        <p:spPr>
          <a:xfrm>
            <a:off x="5004179" y="2181255"/>
            <a:ext cx="764275" cy="533400"/>
          </a:xfrm>
          <a:prstGeom prst="arc">
            <a:avLst>
              <a:gd name="adj1" fmla="val 690790"/>
              <a:gd name="adj2" fmla="val 1025851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CD19F-0908-DA92-5F33-7F9884E39391}"/>
              </a:ext>
            </a:extLst>
          </p:cNvPr>
          <p:cNvSpPr txBox="1"/>
          <p:nvPr/>
        </p:nvSpPr>
        <p:spPr>
          <a:xfrm>
            <a:off x="3124200" y="3048000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</a:t>
            </a:r>
            <a:endParaRPr lang="en-US" dirty="0"/>
          </a:p>
        </p:txBody>
      </p:sp>
      <p:sp>
        <p:nvSpPr>
          <p:cNvPr id="50" name="Arc 49">
            <a:extLst>
              <a:ext uri="{FF2B5EF4-FFF2-40B4-BE49-F238E27FC236}">
                <a16:creationId xmlns:a16="http://schemas.microsoft.com/office/drawing/2014/main" id="{D2EDFDEE-0EAA-7636-B7A1-C565D98B0029}"/>
              </a:ext>
            </a:extLst>
          </p:cNvPr>
          <p:cNvSpPr/>
          <p:nvPr/>
        </p:nvSpPr>
        <p:spPr>
          <a:xfrm rot="7668653" flipV="1">
            <a:off x="4712846" y="2039188"/>
            <a:ext cx="493331" cy="495896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CB10C824-7FCE-F79D-5CEA-8721DDE31E5B}"/>
              </a:ext>
            </a:extLst>
          </p:cNvPr>
          <p:cNvSpPr/>
          <p:nvPr/>
        </p:nvSpPr>
        <p:spPr>
          <a:xfrm rot="18949663" flipH="1">
            <a:off x="8610328" y="3167074"/>
            <a:ext cx="426874" cy="306274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A32C1E9-6B6B-06B2-E02F-9FD0776F08CD}"/>
              </a:ext>
            </a:extLst>
          </p:cNvPr>
          <p:cNvSpPr txBox="1"/>
          <p:nvPr/>
        </p:nvSpPr>
        <p:spPr>
          <a:xfrm>
            <a:off x="1701454" y="3032354"/>
            <a:ext cx="290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endParaRPr lang="en-US" baseline="-250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9C8C55-6139-4E65-782A-B6537E7028FC}"/>
              </a:ext>
            </a:extLst>
          </p:cNvPr>
          <p:cNvSpPr txBox="1"/>
          <p:nvPr/>
        </p:nvSpPr>
        <p:spPr>
          <a:xfrm>
            <a:off x="9602356" y="3069091"/>
            <a:ext cx="30328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endParaRPr lang="en-US" baseline="-250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5C6C850-9DF8-DAC6-B4B1-DEAB7E8365A4}"/>
              </a:ext>
            </a:extLst>
          </p:cNvPr>
          <p:cNvSpPr txBox="1"/>
          <p:nvPr/>
        </p:nvSpPr>
        <p:spPr>
          <a:xfrm>
            <a:off x="7777399" y="3481466"/>
            <a:ext cx="30809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endParaRPr lang="en-US" baseline="-25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FF8035-E749-96C5-2E28-5CBD28A933B7}"/>
              </a:ext>
            </a:extLst>
          </p:cNvPr>
          <p:cNvCxnSpPr/>
          <p:nvPr/>
        </p:nvCxnSpPr>
        <p:spPr>
          <a:xfrm rot="10800000" flipH="1">
            <a:off x="1776250" y="3475220"/>
            <a:ext cx="8891751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1ED04EE-5173-E49E-8041-5FBA9C8143D0}"/>
              </a:ext>
            </a:extLst>
          </p:cNvPr>
          <p:cNvSpPr/>
          <p:nvPr/>
        </p:nvSpPr>
        <p:spPr>
          <a:xfrm>
            <a:off x="7848600" y="342900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95CD23F-4E04-2C74-C2BA-0A49CBD8C475}"/>
              </a:ext>
            </a:extLst>
          </p:cNvPr>
          <p:cNvCxnSpPr>
            <a:cxnSpLocks/>
            <a:stCxn id="62" idx="2"/>
            <a:endCxn id="57" idx="6"/>
          </p:cNvCxnSpPr>
          <p:nvPr/>
        </p:nvCxnSpPr>
        <p:spPr>
          <a:xfrm flipH="1" flipV="1">
            <a:off x="5410200" y="2337748"/>
            <a:ext cx="4343800" cy="1100675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1FC1894-755B-D198-72FF-FE7446FA21B3}"/>
              </a:ext>
            </a:extLst>
          </p:cNvPr>
          <p:cNvSpPr txBox="1"/>
          <p:nvPr/>
        </p:nvSpPr>
        <p:spPr>
          <a:xfrm>
            <a:off x="5152592" y="3513945"/>
            <a:ext cx="316112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V</a:t>
            </a:r>
            <a:endParaRPr lang="en-US" baseline="-250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982704F-2ED5-0007-4F22-64FD271F9F56}"/>
              </a:ext>
            </a:extLst>
          </p:cNvPr>
          <p:cNvSpPr/>
          <p:nvPr/>
        </p:nvSpPr>
        <p:spPr>
          <a:xfrm>
            <a:off x="5328754" y="344649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96F8173-B87F-A9E9-C7AD-54534ADE0DDB}"/>
              </a:ext>
            </a:extLst>
          </p:cNvPr>
          <p:cNvSpPr/>
          <p:nvPr/>
        </p:nvSpPr>
        <p:spPr>
          <a:xfrm>
            <a:off x="5334000" y="2299648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7BF7AD-7748-DEF3-4D4F-65B73F88989A}"/>
              </a:ext>
            </a:extLst>
          </p:cNvPr>
          <p:cNvSpPr txBox="1"/>
          <p:nvPr/>
        </p:nvSpPr>
        <p:spPr>
          <a:xfrm>
            <a:off x="7585788" y="29951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</a:t>
            </a:r>
            <a:endParaRPr lang="en-US" dirty="0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EF5D6849-11B2-6B84-E899-DA4B1D6BE779}"/>
              </a:ext>
            </a:extLst>
          </p:cNvPr>
          <p:cNvSpPr/>
          <p:nvPr/>
        </p:nvSpPr>
        <p:spPr>
          <a:xfrm rot="14549021" flipV="1">
            <a:off x="7645768" y="3329925"/>
            <a:ext cx="493331" cy="495896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1443A3-C495-53B0-B648-6DCCB3BB407C}"/>
              </a:ext>
            </a:extLst>
          </p:cNvPr>
          <p:cNvSpPr txBox="1"/>
          <p:nvPr/>
        </p:nvSpPr>
        <p:spPr>
          <a:xfrm>
            <a:off x="3249827" y="4523899"/>
            <a:ext cx="51258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baseline="-25000" dirty="0"/>
              <a:t>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2C3C2B-F953-82B2-F48F-89BF94C2962A}"/>
              </a:ext>
            </a:extLst>
          </p:cNvPr>
          <p:cNvSpPr txBox="1"/>
          <p:nvPr/>
        </p:nvSpPr>
        <p:spPr>
          <a:xfrm>
            <a:off x="7032572" y="4519882"/>
            <a:ext cx="35966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7231958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A4343-3EC1-166C-CDC2-67C768712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EA547-B67D-9E47-38A8-6EE632E17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Convention</a:t>
            </a:r>
          </a:p>
        </p:txBody>
      </p:sp>
      <p:sp>
        <p:nvSpPr>
          <p:cNvPr id="25602" name="Rectangle 2">
            <a:extLst>
              <a:ext uri="{FF2B5EF4-FFF2-40B4-BE49-F238E27FC236}">
                <a16:creationId xmlns:a16="http://schemas.microsoft.com/office/drawing/2014/main" id="{E7823AE2-95E0-3ABB-28DE-643493CD2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25601" name="Object 1">
            <a:extLst>
              <a:ext uri="{FF2B5EF4-FFF2-40B4-BE49-F238E27FC236}">
                <a16:creationId xmlns:a16="http://schemas.microsoft.com/office/drawing/2014/main" id="{5A06751A-8BCF-1521-F7CA-BAA1BF58C49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24000" y="1767840"/>
          <a:ext cx="9034895" cy="3581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229100" imgH="1676400" progId="Equation.3">
                  <p:embed/>
                </p:oleObj>
              </mc:Choice>
              <mc:Fallback>
                <p:oleObj name="Equation" r:id="rId2" imgW="4229100" imgH="1676400" progId="Equation.3">
                  <p:embed/>
                  <p:pic>
                    <p:nvPicPr>
                      <p:cNvPr id="25601" name="Object 1">
                        <a:extLst>
                          <a:ext uri="{FF2B5EF4-FFF2-40B4-BE49-F238E27FC236}">
                            <a16:creationId xmlns:a16="http://schemas.microsoft.com/office/drawing/2014/main" id="{5A06751A-8BCF-1521-F7CA-BAA1BF58C49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1767840"/>
                        <a:ext cx="9034895" cy="3581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B883449F-A61B-46CB-7B0E-214E78448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8831" y="1767840"/>
            <a:ext cx="12557006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8524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4587A-D61A-5921-51E3-8DDAA664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6BA70-A0D4-57A2-5756-17D91834F943}"/>
              </a:ext>
            </a:extLst>
          </p:cNvPr>
          <p:cNvSpPr/>
          <p:nvPr/>
        </p:nvSpPr>
        <p:spPr>
          <a:xfrm>
            <a:off x="5180429" y="3244334"/>
            <a:ext cx="1831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	[Figure]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3CA4C8-0AC7-E855-2FBB-F80CAC7F64E6}"/>
              </a:ext>
            </a:extLst>
          </p:cNvPr>
          <p:cNvSpPr/>
          <p:nvPr/>
        </p:nvSpPr>
        <p:spPr>
          <a:xfrm>
            <a:off x="5608820" y="1906250"/>
            <a:ext cx="5029200" cy="3200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DC594474-5073-9DD2-8006-C4041B3037A0}"/>
              </a:ext>
            </a:extLst>
          </p:cNvPr>
          <p:cNvSpPr/>
          <p:nvPr/>
        </p:nvSpPr>
        <p:spPr>
          <a:xfrm flipH="1">
            <a:off x="5029200" y="762000"/>
            <a:ext cx="5562600" cy="5410200"/>
          </a:xfrm>
          <a:prstGeom prst="arc">
            <a:avLst>
              <a:gd name="adj1" fmla="val 19491412"/>
              <a:gd name="adj2" fmla="val 2196565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A85C5C-243A-1A44-4E82-409DCA295A93}"/>
              </a:ext>
            </a:extLst>
          </p:cNvPr>
          <p:cNvCxnSpPr/>
          <p:nvPr/>
        </p:nvCxnSpPr>
        <p:spPr>
          <a:xfrm rot="10800000" flipH="1">
            <a:off x="1776250" y="3505200"/>
            <a:ext cx="8891751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30">
            <a:extLst>
              <a:ext uri="{FF2B5EF4-FFF2-40B4-BE49-F238E27FC236}">
                <a16:creationId xmlns:a16="http://schemas.microsoft.com/office/drawing/2014/main" id="{3DF32FEE-59C9-4904-69F0-586ABDDDF805}"/>
              </a:ext>
            </a:extLst>
          </p:cNvPr>
          <p:cNvGrpSpPr/>
          <p:nvPr/>
        </p:nvGrpSpPr>
        <p:grpSpPr>
          <a:xfrm>
            <a:off x="1905001" y="2362201"/>
            <a:ext cx="7848601" cy="1143001"/>
            <a:chOff x="381000" y="2362200"/>
            <a:chExt cx="7848601" cy="1143001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4B0095-1577-460A-83AF-6A22BEE883C1}"/>
                </a:ext>
              </a:extLst>
            </p:cNvPr>
            <p:cNvCxnSpPr/>
            <p:nvPr/>
          </p:nvCxnSpPr>
          <p:spPr>
            <a:xfrm flipV="1">
              <a:off x="457200" y="2362200"/>
              <a:ext cx="3352800" cy="11430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E860B9E-42F8-678E-A6B2-2BC28C8CBAB3}"/>
                </a:ext>
              </a:extLst>
            </p:cNvPr>
            <p:cNvCxnSpPr/>
            <p:nvPr/>
          </p:nvCxnSpPr>
          <p:spPr>
            <a:xfrm rot="10800000">
              <a:off x="3810000" y="2362200"/>
              <a:ext cx="4419600" cy="11430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7730130-78F5-4CF2-4F14-1EDAFB33CCF5}"/>
                </a:ext>
              </a:extLst>
            </p:cNvPr>
            <p:cNvCxnSpPr/>
            <p:nvPr/>
          </p:nvCxnSpPr>
          <p:spPr>
            <a:xfrm rot="5400000" flipH="1" flipV="1">
              <a:off x="1657350" y="1543050"/>
              <a:ext cx="685800" cy="32385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02A9EF6-9AE4-99F4-C408-3421AD5D3858}"/>
                </a:ext>
              </a:extLst>
            </p:cNvPr>
            <p:cNvCxnSpPr/>
            <p:nvPr/>
          </p:nvCxnSpPr>
          <p:spPr>
            <a:xfrm rot="10800000">
              <a:off x="3581402" y="2819402"/>
              <a:ext cx="4648199" cy="685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1E72FD4-188D-99AD-83EB-F9211C77B423}"/>
                </a:ext>
              </a:extLst>
            </p:cNvPr>
            <p:cNvCxnSpPr/>
            <p:nvPr/>
          </p:nvCxnSpPr>
          <p:spPr>
            <a:xfrm flipV="1">
              <a:off x="457200" y="3200400"/>
              <a:ext cx="3048000" cy="304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49334E1-F176-8E3E-2E38-7587FA0E547D}"/>
                </a:ext>
              </a:extLst>
            </p:cNvPr>
            <p:cNvCxnSpPr/>
            <p:nvPr/>
          </p:nvCxnSpPr>
          <p:spPr>
            <a:xfrm rot="10800000">
              <a:off x="3505202" y="3200402"/>
              <a:ext cx="4724399" cy="304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31">
            <a:extLst>
              <a:ext uri="{FF2B5EF4-FFF2-40B4-BE49-F238E27FC236}">
                <a16:creationId xmlns:a16="http://schemas.microsoft.com/office/drawing/2014/main" id="{C6964EF9-05F2-637B-B04D-C96D627456CC}"/>
              </a:ext>
            </a:extLst>
          </p:cNvPr>
          <p:cNvGrpSpPr/>
          <p:nvPr/>
        </p:nvGrpSpPr>
        <p:grpSpPr>
          <a:xfrm flipV="1">
            <a:off x="1933434" y="3502508"/>
            <a:ext cx="7923664" cy="1397039"/>
            <a:chOff x="381000" y="2341004"/>
            <a:chExt cx="7848601" cy="1164201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719B97E-39DA-3E83-8D0D-4422ABCD01C8}"/>
                </a:ext>
              </a:extLst>
            </p:cNvPr>
            <p:cNvCxnSpPr/>
            <p:nvPr/>
          </p:nvCxnSpPr>
          <p:spPr>
            <a:xfrm flipV="1">
              <a:off x="470719" y="2341004"/>
              <a:ext cx="3398046" cy="113007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CEF650-80E5-A3FB-27B0-C24B5237C4A2}"/>
                </a:ext>
              </a:extLst>
            </p:cNvPr>
            <p:cNvCxnSpPr>
              <a:stCxn id="10" idx="2"/>
            </p:cNvCxnSpPr>
            <p:nvPr/>
          </p:nvCxnSpPr>
          <p:spPr>
            <a:xfrm flipH="1" flipV="1">
              <a:off x="3841728" y="2352377"/>
              <a:ext cx="4285355" cy="1130207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7639F6-B928-3583-1032-F023F639B022}"/>
                </a:ext>
              </a:extLst>
            </p:cNvPr>
            <p:cNvCxnSpPr/>
            <p:nvPr/>
          </p:nvCxnSpPr>
          <p:spPr>
            <a:xfrm rot="5400000" flipH="1" flipV="1">
              <a:off x="1657349" y="1543053"/>
              <a:ext cx="685801" cy="32385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C820163-71BD-D177-7E9E-2EE104280400}"/>
                </a:ext>
              </a:extLst>
            </p:cNvPr>
            <p:cNvCxnSpPr/>
            <p:nvPr/>
          </p:nvCxnSpPr>
          <p:spPr>
            <a:xfrm rot="10800000">
              <a:off x="3581401" y="2819405"/>
              <a:ext cx="4648199" cy="685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B3DDD7-B4AB-D31E-B19C-FA9163E9FD5C}"/>
                </a:ext>
              </a:extLst>
            </p:cNvPr>
            <p:cNvCxnSpPr/>
            <p:nvPr/>
          </p:nvCxnSpPr>
          <p:spPr>
            <a:xfrm flipV="1">
              <a:off x="457200" y="3200402"/>
              <a:ext cx="3048000" cy="304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D805B04-F263-DD68-5EAF-AB3191365A17}"/>
                </a:ext>
              </a:extLst>
            </p:cNvPr>
            <p:cNvCxnSpPr/>
            <p:nvPr/>
          </p:nvCxnSpPr>
          <p:spPr>
            <a:xfrm rot="10800000">
              <a:off x="3505202" y="3200402"/>
              <a:ext cx="4724399" cy="304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A774CA7A-C934-266D-B41A-0F1934AC2C3F}"/>
              </a:ext>
            </a:extLst>
          </p:cNvPr>
          <p:cNvSpPr/>
          <p:nvPr/>
        </p:nvSpPr>
        <p:spPr>
          <a:xfrm>
            <a:off x="1966210" y="347522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68B10F-1D60-555A-49E9-C1EF8D7C7BDE}"/>
              </a:ext>
            </a:extLst>
          </p:cNvPr>
          <p:cNvSpPr/>
          <p:nvPr/>
        </p:nvSpPr>
        <p:spPr>
          <a:xfrm>
            <a:off x="9753600" y="3491552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E6E31C-3E07-9248-FDBE-BA7A07B04FC3}"/>
              </a:ext>
            </a:extLst>
          </p:cNvPr>
          <p:cNvSpPr txBox="1"/>
          <p:nvPr/>
        </p:nvSpPr>
        <p:spPr>
          <a:xfrm>
            <a:off x="1703883" y="2758190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Object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8B2611-57D8-9438-78BB-147920D7F2D2}"/>
              </a:ext>
            </a:extLst>
          </p:cNvPr>
          <p:cNvSpPr txBox="1"/>
          <p:nvPr/>
        </p:nvSpPr>
        <p:spPr>
          <a:xfrm>
            <a:off x="9216454" y="3690080"/>
            <a:ext cx="1451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Convergence Point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988EAA-17A5-412A-905E-46FF427FBBC9}"/>
              </a:ext>
            </a:extLst>
          </p:cNvPr>
          <p:cNvSpPr txBox="1"/>
          <p:nvPr/>
        </p:nvSpPr>
        <p:spPr>
          <a:xfrm>
            <a:off x="3505200" y="1949559"/>
            <a:ext cx="8517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Front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255FBA-F5B4-E7A1-C931-5CAB5A23DEBD}"/>
              </a:ext>
            </a:extLst>
          </p:cNvPr>
          <p:cNvSpPr txBox="1"/>
          <p:nvPr/>
        </p:nvSpPr>
        <p:spPr>
          <a:xfrm>
            <a:off x="6326192" y="1949559"/>
            <a:ext cx="7681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5701950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B78C4-5301-35AB-FC23-3982B2D8D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A5C814-FE40-8D16-1CAE-EBC812B3A16F}"/>
              </a:ext>
            </a:extLst>
          </p:cNvPr>
          <p:cNvSpPr/>
          <p:nvPr/>
        </p:nvSpPr>
        <p:spPr>
          <a:xfrm>
            <a:off x="1533271" y="0"/>
            <a:ext cx="3648364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42929E72-772D-0106-01C2-1482A51C9FC4}"/>
              </a:ext>
            </a:extLst>
          </p:cNvPr>
          <p:cNvGrpSpPr/>
          <p:nvPr/>
        </p:nvGrpSpPr>
        <p:grpSpPr>
          <a:xfrm flipH="1">
            <a:off x="1663411" y="2889703"/>
            <a:ext cx="946760" cy="681885"/>
            <a:chOff x="1653309" y="1182255"/>
            <a:chExt cx="914400" cy="5080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0F6F191-69CB-220E-96A6-3A0377D3A255}"/>
                </a:ext>
              </a:extLst>
            </p:cNvPr>
            <p:cNvSpPr/>
            <p:nvPr/>
          </p:nvSpPr>
          <p:spPr>
            <a:xfrm>
              <a:off x="1662545" y="1191491"/>
              <a:ext cx="544946" cy="397164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A3810181-0A37-675F-5F4F-C9198C882398}"/>
                </a:ext>
              </a:extLst>
            </p:cNvPr>
            <p:cNvSpPr/>
            <p:nvPr/>
          </p:nvSpPr>
          <p:spPr>
            <a:xfrm>
              <a:off x="2087418" y="1182255"/>
              <a:ext cx="480291" cy="406400"/>
            </a:xfrm>
            <a:custGeom>
              <a:avLst/>
              <a:gdLst>
                <a:gd name="connsiteX0" fmla="*/ 83127 w 480291"/>
                <a:gd name="connsiteY0" fmla="*/ 110836 h 406400"/>
                <a:gd name="connsiteX1" fmla="*/ 230909 w 480291"/>
                <a:gd name="connsiteY1" fmla="*/ 92363 h 406400"/>
                <a:gd name="connsiteX2" fmla="*/ 480291 w 480291"/>
                <a:gd name="connsiteY2" fmla="*/ 0 h 406400"/>
                <a:gd name="connsiteX3" fmla="*/ 314037 w 480291"/>
                <a:gd name="connsiteY3" fmla="*/ 157018 h 406400"/>
                <a:gd name="connsiteX4" fmla="*/ 277091 w 480291"/>
                <a:gd name="connsiteY4" fmla="*/ 277090 h 406400"/>
                <a:gd name="connsiteX5" fmla="*/ 387927 w 480291"/>
                <a:gd name="connsiteY5" fmla="*/ 406400 h 406400"/>
                <a:gd name="connsiteX6" fmla="*/ 129309 w 480291"/>
                <a:gd name="connsiteY6" fmla="*/ 304800 h 406400"/>
                <a:gd name="connsiteX7" fmla="*/ 129309 w 480291"/>
                <a:gd name="connsiteY7" fmla="*/ 304800 h 406400"/>
                <a:gd name="connsiteX8" fmla="*/ 0 w 480291"/>
                <a:gd name="connsiteY8" fmla="*/ 277090 h 406400"/>
                <a:gd name="connsiteX9" fmla="*/ 9237 w 480291"/>
                <a:gd name="connsiteY9" fmla="*/ 110836 h 406400"/>
                <a:gd name="connsiteX10" fmla="*/ 83127 w 480291"/>
                <a:gd name="connsiteY10" fmla="*/ 110836 h 406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0291" h="406400">
                  <a:moveTo>
                    <a:pt x="83127" y="110836"/>
                  </a:moveTo>
                  <a:lnTo>
                    <a:pt x="230909" y="92363"/>
                  </a:lnTo>
                  <a:lnTo>
                    <a:pt x="480291" y="0"/>
                  </a:lnTo>
                  <a:lnTo>
                    <a:pt x="314037" y="157018"/>
                  </a:lnTo>
                  <a:lnTo>
                    <a:pt x="277091" y="277090"/>
                  </a:lnTo>
                  <a:lnTo>
                    <a:pt x="387927" y="406400"/>
                  </a:lnTo>
                  <a:lnTo>
                    <a:pt x="129309" y="304800"/>
                  </a:lnTo>
                  <a:lnTo>
                    <a:pt x="129309" y="304800"/>
                  </a:lnTo>
                  <a:lnTo>
                    <a:pt x="0" y="277090"/>
                  </a:lnTo>
                  <a:lnTo>
                    <a:pt x="9237" y="110836"/>
                  </a:lnTo>
                  <a:lnTo>
                    <a:pt x="83127" y="110836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E79417E-E86C-3991-806C-2245A6386F1C}"/>
                </a:ext>
              </a:extLst>
            </p:cNvPr>
            <p:cNvSpPr/>
            <p:nvPr/>
          </p:nvSpPr>
          <p:spPr>
            <a:xfrm>
              <a:off x="1828800" y="1514764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8767B5B5-7AC3-750F-A769-87525D04A580}"/>
                </a:ext>
              </a:extLst>
            </p:cNvPr>
            <p:cNvSpPr/>
            <p:nvPr/>
          </p:nvSpPr>
          <p:spPr>
            <a:xfrm>
              <a:off x="2018144" y="1445500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3F7185C-3AF7-A6A0-978D-C94A1746A814}"/>
                </a:ext>
              </a:extLst>
            </p:cNvPr>
            <p:cNvSpPr/>
            <p:nvPr/>
          </p:nvSpPr>
          <p:spPr>
            <a:xfrm>
              <a:off x="1773382" y="1182255"/>
              <a:ext cx="267854" cy="92363"/>
            </a:xfrm>
            <a:custGeom>
              <a:avLst/>
              <a:gdLst>
                <a:gd name="connsiteX0" fmla="*/ 0 w 267854"/>
                <a:gd name="connsiteY0" fmla="*/ 83127 h 92363"/>
                <a:gd name="connsiteX1" fmla="*/ 55418 w 267854"/>
                <a:gd name="connsiteY1" fmla="*/ 0 h 92363"/>
                <a:gd name="connsiteX2" fmla="*/ 267854 w 267854"/>
                <a:gd name="connsiteY2" fmla="*/ 0 h 92363"/>
                <a:gd name="connsiteX3" fmla="*/ 230909 w 267854"/>
                <a:gd name="connsiteY3" fmla="*/ 92363 h 92363"/>
                <a:gd name="connsiteX4" fmla="*/ 0 w 267854"/>
                <a:gd name="connsiteY4" fmla="*/ 83127 h 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54" h="92363">
                  <a:moveTo>
                    <a:pt x="0" y="83127"/>
                  </a:moveTo>
                  <a:lnTo>
                    <a:pt x="55418" y="0"/>
                  </a:lnTo>
                  <a:lnTo>
                    <a:pt x="267854" y="0"/>
                  </a:lnTo>
                  <a:lnTo>
                    <a:pt x="230909" y="92363"/>
                  </a:lnTo>
                  <a:lnTo>
                    <a:pt x="0" y="83127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95A3FB5-11F1-0DA1-C546-DBA1EE58EE21}"/>
                </a:ext>
              </a:extLst>
            </p:cNvPr>
            <p:cNvSpPr/>
            <p:nvPr/>
          </p:nvSpPr>
          <p:spPr>
            <a:xfrm>
              <a:off x="1653309" y="1311564"/>
              <a:ext cx="258618" cy="18472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21">
            <a:extLst>
              <a:ext uri="{FF2B5EF4-FFF2-40B4-BE49-F238E27FC236}">
                <a16:creationId xmlns:a16="http://schemas.microsoft.com/office/drawing/2014/main" id="{A6D0EF9B-3121-34A8-D5F0-25883FE2E9CD}"/>
              </a:ext>
            </a:extLst>
          </p:cNvPr>
          <p:cNvGrpSpPr/>
          <p:nvPr/>
        </p:nvGrpSpPr>
        <p:grpSpPr>
          <a:xfrm flipH="1">
            <a:off x="3365967" y="2871518"/>
            <a:ext cx="914400" cy="681885"/>
            <a:chOff x="1653309" y="1182255"/>
            <a:chExt cx="914400" cy="508000"/>
          </a:xfrm>
          <a:solidFill>
            <a:srgbClr val="FFC000">
              <a:alpha val="34000"/>
            </a:srgbClr>
          </a:solidFill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DE35A44-C456-741A-5FDD-B4282277BBE0}"/>
                </a:ext>
              </a:extLst>
            </p:cNvPr>
            <p:cNvSpPr/>
            <p:nvPr/>
          </p:nvSpPr>
          <p:spPr>
            <a:xfrm>
              <a:off x="1662545" y="1191491"/>
              <a:ext cx="544946" cy="3971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E3848DC-CCF8-5E0B-9BC4-F84136669C4A}"/>
                </a:ext>
              </a:extLst>
            </p:cNvPr>
            <p:cNvSpPr/>
            <p:nvPr/>
          </p:nvSpPr>
          <p:spPr>
            <a:xfrm>
              <a:off x="2087418" y="1182255"/>
              <a:ext cx="480291" cy="406400"/>
            </a:xfrm>
            <a:custGeom>
              <a:avLst/>
              <a:gdLst>
                <a:gd name="connsiteX0" fmla="*/ 83127 w 480291"/>
                <a:gd name="connsiteY0" fmla="*/ 110836 h 406400"/>
                <a:gd name="connsiteX1" fmla="*/ 230909 w 480291"/>
                <a:gd name="connsiteY1" fmla="*/ 92363 h 406400"/>
                <a:gd name="connsiteX2" fmla="*/ 480291 w 480291"/>
                <a:gd name="connsiteY2" fmla="*/ 0 h 406400"/>
                <a:gd name="connsiteX3" fmla="*/ 314037 w 480291"/>
                <a:gd name="connsiteY3" fmla="*/ 157018 h 406400"/>
                <a:gd name="connsiteX4" fmla="*/ 277091 w 480291"/>
                <a:gd name="connsiteY4" fmla="*/ 277090 h 406400"/>
                <a:gd name="connsiteX5" fmla="*/ 387927 w 480291"/>
                <a:gd name="connsiteY5" fmla="*/ 406400 h 406400"/>
                <a:gd name="connsiteX6" fmla="*/ 129309 w 480291"/>
                <a:gd name="connsiteY6" fmla="*/ 304800 h 406400"/>
                <a:gd name="connsiteX7" fmla="*/ 129309 w 480291"/>
                <a:gd name="connsiteY7" fmla="*/ 304800 h 406400"/>
                <a:gd name="connsiteX8" fmla="*/ 0 w 480291"/>
                <a:gd name="connsiteY8" fmla="*/ 277090 h 406400"/>
                <a:gd name="connsiteX9" fmla="*/ 9237 w 480291"/>
                <a:gd name="connsiteY9" fmla="*/ 110836 h 406400"/>
                <a:gd name="connsiteX10" fmla="*/ 83127 w 480291"/>
                <a:gd name="connsiteY10" fmla="*/ 110836 h 406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0291" h="406400">
                  <a:moveTo>
                    <a:pt x="83127" y="110836"/>
                  </a:moveTo>
                  <a:lnTo>
                    <a:pt x="230909" y="92363"/>
                  </a:lnTo>
                  <a:lnTo>
                    <a:pt x="480291" y="0"/>
                  </a:lnTo>
                  <a:lnTo>
                    <a:pt x="314037" y="157018"/>
                  </a:lnTo>
                  <a:lnTo>
                    <a:pt x="277091" y="277090"/>
                  </a:lnTo>
                  <a:lnTo>
                    <a:pt x="387927" y="406400"/>
                  </a:lnTo>
                  <a:lnTo>
                    <a:pt x="129309" y="304800"/>
                  </a:lnTo>
                  <a:lnTo>
                    <a:pt x="129309" y="304800"/>
                  </a:lnTo>
                  <a:lnTo>
                    <a:pt x="0" y="277090"/>
                  </a:lnTo>
                  <a:lnTo>
                    <a:pt x="9237" y="110836"/>
                  </a:lnTo>
                  <a:lnTo>
                    <a:pt x="83127" y="1108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FD2466C-91C0-25A4-31DF-A5E0DCB61CC5}"/>
                </a:ext>
              </a:extLst>
            </p:cNvPr>
            <p:cNvSpPr/>
            <p:nvPr/>
          </p:nvSpPr>
          <p:spPr>
            <a:xfrm>
              <a:off x="1828800" y="1514764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CAC454C-96B9-D2E4-205D-293FF4B85D4E}"/>
                </a:ext>
              </a:extLst>
            </p:cNvPr>
            <p:cNvSpPr/>
            <p:nvPr/>
          </p:nvSpPr>
          <p:spPr>
            <a:xfrm>
              <a:off x="2018144" y="1445500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D9CF0F72-5ABF-4E3A-5B1E-44F5340871BD}"/>
                </a:ext>
              </a:extLst>
            </p:cNvPr>
            <p:cNvSpPr/>
            <p:nvPr/>
          </p:nvSpPr>
          <p:spPr>
            <a:xfrm>
              <a:off x="1773382" y="1182255"/>
              <a:ext cx="267854" cy="92363"/>
            </a:xfrm>
            <a:custGeom>
              <a:avLst/>
              <a:gdLst>
                <a:gd name="connsiteX0" fmla="*/ 0 w 267854"/>
                <a:gd name="connsiteY0" fmla="*/ 83127 h 92363"/>
                <a:gd name="connsiteX1" fmla="*/ 55418 w 267854"/>
                <a:gd name="connsiteY1" fmla="*/ 0 h 92363"/>
                <a:gd name="connsiteX2" fmla="*/ 267854 w 267854"/>
                <a:gd name="connsiteY2" fmla="*/ 0 h 92363"/>
                <a:gd name="connsiteX3" fmla="*/ 230909 w 267854"/>
                <a:gd name="connsiteY3" fmla="*/ 92363 h 92363"/>
                <a:gd name="connsiteX4" fmla="*/ 0 w 267854"/>
                <a:gd name="connsiteY4" fmla="*/ 83127 h 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54" h="92363">
                  <a:moveTo>
                    <a:pt x="0" y="83127"/>
                  </a:moveTo>
                  <a:lnTo>
                    <a:pt x="55418" y="0"/>
                  </a:lnTo>
                  <a:lnTo>
                    <a:pt x="267854" y="0"/>
                  </a:lnTo>
                  <a:lnTo>
                    <a:pt x="230909" y="92363"/>
                  </a:lnTo>
                  <a:lnTo>
                    <a:pt x="0" y="83127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45D2C93E-A37C-B232-54B8-C085FCEF803B}"/>
                </a:ext>
              </a:extLst>
            </p:cNvPr>
            <p:cNvSpPr/>
            <p:nvPr/>
          </p:nvSpPr>
          <p:spPr>
            <a:xfrm>
              <a:off x="1653309" y="1311564"/>
              <a:ext cx="258618" cy="18472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512F37-42A4-E425-5799-F3F6D565E547}"/>
              </a:ext>
            </a:extLst>
          </p:cNvPr>
          <p:cNvCxnSpPr/>
          <p:nvPr/>
        </p:nvCxnSpPr>
        <p:spPr>
          <a:xfrm flipV="1">
            <a:off x="4289892" y="636154"/>
            <a:ext cx="2545306" cy="253002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037ABB3-F5DE-7A17-E2D4-8043789CC8AA}"/>
              </a:ext>
            </a:extLst>
          </p:cNvPr>
          <p:cNvCxnSpPr/>
          <p:nvPr/>
        </p:nvCxnSpPr>
        <p:spPr>
          <a:xfrm flipV="1">
            <a:off x="5152737" y="685800"/>
            <a:ext cx="1638589" cy="162386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C3569EC-CD7E-D0CD-AB9B-72D4E9ADD82E}"/>
              </a:ext>
            </a:extLst>
          </p:cNvPr>
          <p:cNvCxnSpPr>
            <a:stCxn id="11" idx="2"/>
          </p:cNvCxnSpPr>
          <p:nvPr/>
        </p:nvCxnSpPr>
        <p:spPr>
          <a:xfrm flipV="1">
            <a:off x="2610172" y="2271570"/>
            <a:ext cx="2562193" cy="91568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C758A3D-A283-190D-DE55-3042E27B7CAE}"/>
              </a:ext>
            </a:extLst>
          </p:cNvPr>
          <p:cNvSpPr txBox="1"/>
          <p:nvPr/>
        </p:nvSpPr>
        <p:spPr>
          <a:xfrm>
            <a:off x="1714501" y="4811428"/>
            <a:ext cx="3129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Rays appear to come from here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59F97B-41C1-5DFA-A62D-18E81FC2F019}"/>
              </a:ext>
            </a:extLst>
          </p:cNvPr>
          <p:cNvSpPr txBox="1"/>
          <p:nvPr/>
        </p:nvSpPr>
        <p:spPr>
          <a:xfrm>
            <a:off x="1676436" y="2259882"/>
            <a:ext cx="137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Fish in water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32058F-3615-8F9B-8AE7-9A2168B7F7AA}"/>
              </a:ext>
            </a:extLst>
          </p:cNvPr>
          <p:cNvSpPr txBox="1"/>
          <p:nvPr/>
        </p:nvSpPr>
        <p:spPr>
          <a:xfrm>
            <a:off x="3126511" y="2056821"/>
            <a:ext cx="1584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Rays from fish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6EC595-94BB-3391-6F0B-03546A6D17CD}"/>
              </a:ext>
            </a:extLst>
          </p:cNvPr>
          <p:cNvSpPr txBox="1"/>
          <p:nvPr/>
        </p:nvSpPr>
        <p:spPr>
          <a:xfrm>
            <a:off x="6171082" y="2480979"/>
            <a:ext cx="148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of Fish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2285C80-A756-20A2-C561-E095FACFB633}"/>
              </a:ext>
            </a:extLst>
          </p:cNvPr>
          <p:cNvCxnSpPr/>
          <p:nvPr/>
        </p:nvCxnSpPr>
        <p:spPr>
          <a:xfrm>
            <a:off x="4305301" y="3219451"/>
            <a:ext cx="2533939" cy="250260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DB9B8C8-01BF-2B38-991E-7F14ABD2CF64}"/>
              </a:ext>
            </a:extLst>
          </p:cNvPr>
          <p:cNvCxnSpPr/>
          <p:nvPr/>
        </p:nvCxnSpPr>
        <p:spPr>
          <a:xfrm>
            <a:off x="5204402" y="4105693"/>
            <a:ext cx="1653598" cy="163788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FB39308-996F-D630-42C3-0AE6C932DE3E}"/>
              </a:ext>
            </a:extLst>
          </p:cNvPr>
          <p:cNvCxnSpPr>
            <a:stCxn id="11" idx="2"/>
          </p:cNvCxnSpPr>
          <p:nvPr/>
        </p:nvCxnSpPr>
        <p:spPr>
          <a:xfrm>
            <a:off x="2610172" y="3187253"/>
            <a:ext cx="2575759" cy="9184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68B39F5-772E-C820-2AA8-68D5D71776DE}"/>
              </a:ext>
            </a:extLst>
          </p:cNvPr>
          <p:cNvCxnSpPr/>
          <p:nvPr/>
        </p:nvCxnSpPr>
        <p:spPr>
          <a:xfrm flipV="1">
            <a:off x="4239492" y="1839769"/>
            <a:ext cx="951345" cy="1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7845530-DB47-51E5-7AA0-70FA4BEE64B2}"/>
              </a:ext>
            </a:extLst>
          </p:cNvPr>
          <p:cNvSpPr txBox="1"/>
          <p:nvPr/>
        </p:nvSpPr>
        <p:spPr>
          <a:xfrm>
            <a:off x="4521200" y="1631944"/>
            <a:ext cx="438728" cy="36933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s’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FEF73DB-2BEC-893C-566D-11D8B560EED9}"/>
              </a:ext>
            </a:extLst>
          </p:cNvPr>
          <p:cNvCxnSpPr/>
          <p:nvPr/>
        </p:nvCxnSpPr>
        <p:spPr>
          <a:xfrm>
            <a:off x="2613892" y="1368714"/>
            <a:ext cx="2581562" cy="4619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9250C443-4895-960C-C98C-B668F9F13564}"/>
              </a:ext>
            </a:extLst>
          </p:cNvPr>
          <p:cNvSpPr txBox="1"/>
          <p:nvPr/>
        </p:nvSpPr>
        <p:spPr>
          <a:xfrm>
            <a:off x="3768437" y="1110089"/>
            <a:ext cx="438728" cy="36933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F09400A-B3A2-195D-335E-FC6313885EBF}"/>
              </a:ext>
            </a:extLst>
          </p:cNvPr>
          <p:cNvCxnSpPr/>
          <p:nvPr/>
        </p:nvCxnSpPr>
        <p:spPr>
          <a:xfrm>
            <a:off x="1524001" y="3190875"/>
            <a:ext cx="732497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CE76496-D4D2-76FD-3D33-19A451F35835}"/>
              </a:ext>
            </a:extLst>
          </p:cNvPr>
          <p:cNvSpPr txBox="1"/>
          <p:nvPr/>
        </p:nvSpPr>
        <p:spPr>
          <a:xfrm>
            <a:off x="2743200" y="3533775"/>
            <a:ext cx="3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1</a:t>
            </a:r>
            <a:endParaRPr lang="en-US" baseline="-25000" dirty="0"/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C0F04A54-5AC4-B502-61BE-4748A87AC4FD}"/>
              </a:ext>
            </a:extLst>
          </p:cNvPr>
          <p:cNvSpPr/>
          <p:nvPr/>
        </p:nvSpPr>
        <p:spPr>
          <a:xfrm rot="3544261">
            <a:off x="2771775" y="3124201"/>
            <a:ext cx="285750" cy="257175"/>
          </a:xfrm>
          <a:prstGeom prst="arc">
            <a:avLst>
              <a:gd name="adj1" fmla="val 16200000"/>
              <a:gd name="adj2" fmla="val 20433135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D13BC16F-0ECB-CC70-46E1-C8A081A92657}"/>
              </a:ext>
            </a:extLst>
          </p:cNvPr>
          <p:cNvSpPr/>
          <p:nvPr/>
        </p:nvSpPr>
        <p:spPr>
          <a:xfrm>
            <a:off x="2971800" y="3248025"/>
            <a:ext cx="161925" cy="361950"/>
          </a:xfrm>
          <a:custGeom>
            <a:avLst/>
            <a:gdLst>
              <a:gd name="connsiteX0" fmla="*/ 0 w 152400"/>
              <a:gd name="connsiteY0" fmla="*/ 285750 h 285750"/>
              <a:gd name="connsiteX1" fmla="*/ 76200 w 152400"/>
              <a:gd name="connsiteY1" fmla="*/ 142875 h 285750"/>
              <a:gd name="connsiteX2" fmla="*/ 104775 w 152400"/>
              <a:gd name="connsiteY2" fmla="*/ 209550 h 285750"/>
              <a:gd name="connsiteX3" fmla="*/ 152400 w 152400"/>
              <a:gd name="connsiteY3" fmla="*/ 0 h 285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400" h="285750">
                <a:moveTo>
                  <a:pt x="0" y="285750"/>
                </a:moveTo>
                <a:cubicBezTo>
                  <a:pt x="29369" y="220662"/>
                  <a:pt x="58738" y="155575"/>
                  <a:pt x="76200" y="142875"/>
                </a:cubicBezTo>
                <a:cubicBezTo>
                  <a:pt x="93663" y="130175"/>
                  <a:pt x="92075" y="233363"/>
                  <a:pt x="104775" y="209550"/>
                </a:cubicBezTo>
                <a:cubicBezTo>
                  <a:pt x="117475" y="185738"/>
                  <a:pt x="134937" y="92869"/>
                  <a:pt x="152400" y="0"/>
                </a:cubicBezTo>
              </a:path>
            </a:pathLst>
          </a:cu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9B86FB-59C0-0806-D188-9859C4033F6E}"/>
              </a:ext>
            </a:extLst>
          </p:cNvPr>
          <p:cNvSpPr txBox="1"/>
          <p:nvPr/>
        </p:nvSpPr>
        <p:spPr>
          <a:xfrm>
            <a:off x="4714875" y="3238500"/>
            <a:ext cx="3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2</a:t>
            </a:r>
            <a:endParaRPr lang="en-US" baseline="-25000" dirty="0"/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A771A7EA-594E-BC3F-110D-48F888B16A5C}"/>
              </a:ext>
            </a:extLst>
          </p:cNvPr>
          <p:cNvSpPr/>
          <p:nvPr/>
        </p:nvSpPr>
        <p:spPr>
          <a:xfrm rot="3544261">
            <a:off x="4332054" y="3169675"/>
            <a:ext cx="346540" cy="385301"/>
          </a:xfrm>
          <a:prstGeom prst="arc">
            <a:avLst>
              <a:gd name="adj1" fmla="val 16200000"/>
              <a:gd name="adj2" fmla="val 20433135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4D9C914-D9D6-D01D-5A53-022B3A9247A3}"/>
              </a:ext>
            </a:extLst>
          </p:cNvPr>
          <p:cNvCxnSpPr/>
          <p:nvPr/>
        </p:nvCxnSpPr>
        <p:spPr>
          <a:xfrm>
            <a:off x="4800601" y="2266951"/>
            <a:ext cx="942975" cy="9525"/>
          </a:xfrm>
          <a:prstGeom prst="straightConnector1">
            <a:avLst/>
          </a:prstGeom>
          <a:ln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2F0FD32-DF56-3279-8748-DD28309C06FF}"/>
              </a:ext>
            </a:extLst>
          </p:cNvPr>
          <p:cNvCxnSpPr/>
          <p:nvPr/>
        </p:nvCxnSpPr>
        <p:spPr>
          <a:xfrm flipH="1" flipV="1">
            <a:off x="5400676" y="2286000"/>
            <a:ext cx="9525" cy="895350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8A8AE20-88A2-ABF6-A48C-4233E2BEE83F}"/>
              </a:ext>
            </a:extLst>
          </p:cNvPr>
          <p:cNvSpPr txBox="1"/>
          <p:nvPr/>
        </p:nvSpPr>
        <p:spPr>
          <a:xfrm>
            <a:off x="5276850" y="2543175"/>
            <a:ext cx="26000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OpenSymbol"/>
                <a:ea typeface="OpenSymbol"/>
              </a:rPr>
              <a:t>ℓ</a:t>
            </a:r>
            <a:endParaRPr lang="en-US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56B364D-847B-758D-1CE9-3022D8EE6C3E}"/>
              </a:ext>
            </a:extLst>
          </p:cNvPr>
          <p:cNvSpPr/>
          <p:nvPr/>
        </p:nvSpPr>
        <p:spPr>
          <a:xfrm>
            <a:off x="4016503" y="6162675"/>
            <a:ext cx="10869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1</a:t>
            </a:r>
            <a:r>
              <a:rPr lang="en-US" dirty="0"/>
              <a:t> (Large)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7DEFB0-926D-C170-267A-CE33340F0454}"/>
              </a:ext>
            </a:extLst>
          </p:cNvPr>
          <p:cNvSpPr/>
          <p:nvPr/>
        </p:nvSpPr>
        <p:spPr>
          <a:xfrm>
            <a:off x="5235702" y="6162675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2</a:t>
            </a:r>
            <a:r>
              <a:rPr lang="en-US" dirty="0"/>
              <a:t> (Small)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3ED1D1B-5EDC-03A8-BB78-1DEF03936976}"/>
              </a:ext>
            </a:extLst>
          </p:cNvPr>
          <p:cNvCxnSpPr/>
          <p:nvPr/>
        </p:nvCxnSpPr>
        <p:spPr>
          <a:xfrm flipV="1">
            <a:off x="4257676" y="4114801"/>
            <a:ext cx="1800225" cy="9525"/>
          </a:xfrm>
          <a:prstGeom prst="straightConnector1">
            <a:avLst/>
          </a:prstGeom>
          <a:ln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C4E6EDDE-94CB-FB41-B9EA-AC2C22E2993A}"/>
              </a:ext>
            </a:extLst>
          </p:cNvPr>
          <p:cNvSpPr txBox="1"/>
          <p:nvPr/>
        </p:nvSpPr>
        <p:spPr>
          <a:xfrm>
            <a:off x="4124325" y="3781425"/>
            <a:ext cx="3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1</a:t>
            </a:r>
            <a:endParaRPr lang="en-US" baseline="-25000" dirty="0"/>
          </a:p>
        </p:txBody>
      </p:sp>
      <p:sp>
        <p:nvSpPr>
          <p:cNvPr id="70" name="Arc 69">
            <a:extLst>
              <a:ext uri="{FF2B5EF4-FFF2-40B4-BE49-F238E27FC236}">
                <a16:creationId xmlns:a16="http://schemas.microsoft.com/office/drawing/2014/main" id="{49493CED-BD03-C114-3FAE-B1939BC7C24D}"/>
              </a:ext>
            </a:extLst>
          </p:cNvPr>
          <p:cNvSpPr/>
          <p:nvPr/>
        </p:nvSpPr>
        <p:spPr>
          <a:xfrm rot="18055739" flipH="1">
            <a:off x="4572000" y="3886200"/>
            <a:ext cx="285750" cy="257175"/>
          </a:xfrm>
          <a:prstGeom prst="arc">
            <a:avLst>
              <a:gd name="adj1" fmla="val 16200000"/>
              <a:gd name="adj2" fmla="val 20433135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828B6E6-139F-DB73-D48E-B26102650546}"/>
              </a:ext>
            </a:extLst>
          </p:cNvPr>
          <p:cNvSpPr txBox="1"/>
          <p:nvPr/>
        </p:nvSpPr>
        <p:spPr>
          <a:xfrm>
            <a:off x="5591175" y="4143375"/>
            <a:ext cx="3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2</a:t>
            </a:r>
            <a:endParaRPr lang="en-US" baseline="-25000" dirty="0"/>
          </a:p>
        </p:txBody>
      </p:sp>
      <p:sp>
        <p:nvSpPr>
          <p:cNvPr id="72" name="Arc 71">
            <a:extLst>
              <a:ext uri="{FF2B5EF4-FFF2-40B4-BE49-F238E27FC236}">
                <a16:creationId xmlns:a16="http://schemas.microsoft.com/office/drawing/2014/main" id="{46D0132B-88EF-F0A6-5AAE-765E77529E9B}"/>
              </a:ext>
            </a:extLst>
          </p:cNvPr>
          <p:cNvSpPr/>
          <p:nvPr/>
        </p:nvSpPr>
        <p:spPr>
          <a:xfrm rot="3544261">
            <a:off x="5208354" y="4074550"/>
            <a:ext cx="346540" cy="385301"/>
          </a:xfrm>
          <a:prstGeom prst="arc">
            <a:avLst>
              <a:gd name="adj1" fmla="val 16200000"/>
              <a:gd name="adj2" fmla="val 20433135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1684F3A-0FE3-FE6C-1E70-8807B22AFB94}"/>
              </a:ext>
            </a:extLst>
          </p:cNvPr>
          <p:cNvCxnSpPr/>
          <p:nvPr/>
        </p:nvCxnSpPr>
        <p:spPr>
          <a:xfrm flipH="1" flipV="1">
            <a:off x="5419726" y="3209925"/>
            <a:ext cx="9525" cy="895350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833F5D3-56AF-30F1-BF84-E60391709A31}"/>
              </a:ext>
            </a:extLst>
          </p:cNvPr>
          <p:cNvSpPr txBox="1"/>
          <p:nvPr/>
        </p:nvSpPr>
        <p:spPr>
          <a:xfrm>
            <a:off x="5295900" y="3467100"/>
            <a:ext cx="26000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OpenSymbol"/>
                <a:ea typeface="OpenSymbol"/>
              </a:rPr>
              <a:t>ℓ</a:t>
            </a:r>
            <a:endParaRPr lang="en-US" dirty="0"/>
          </a:p>
        </p:txBody>
      </p:sp>
      <p:sp>
        <p:nvSpPr>
          <p:cNvPr id="75" name="Freeform 74">
            <a:extLst>
              <a:ext uri="{FF2B5EF4-FFF2-40B4-BE49-F238E27FC236}">
                <a16:creationId xmlns:a16="http://schemas.microsoft.com/office/drawing/2014/main" id="{6941FA86-4587-E241-5ADD-6B3A572720C8}"/>
              </a:ext>
            </a:extLst>
          </p:cNvPr>
          <p:cNvSpPr/>
          <p:nvPr/>
        </p:nvSpPr>
        <p:spPr>
          <a:xfrm>
            <a:off x="3228976" y="3324225"/>
            <a:ext cx="1038225" cy="1409700"/>
          </a:xfrm>
          <a:custGeom>
            <a:avLst/>
            <a:gdLst>
              <a:gd name="connsiteX0" fmla="*/ 1038225 w 1038225"/>
              <a:gd name="connsiteY0" fmla="*/ 0 h 1409700"/>
              <a:gd name="connsiteX1" fmla="*/ 628650 w 1038225"/>
              <a:gd name="connsiteY1" fmla="*/ 476250 h 1409700"/>
              <a:gd name="connsiteX2" fmla="*/ 704850 w 1038225"/>
              <a:gd name="connsiteY2" fmla="*/ 485775 h 1409700"/>
              <a:gd name="connsiteX3" fmla="*/ 0 w 1038225"/>
              <a:gd name="connsiteY3" fmla="*/ 1409700 h 1409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38225" h="1409700">
                <a:moveTo>
                  <a:pt x="1038225" y="0"/>
                </a:moveTo>
                <a:cubicBezTo>
                  <a:pt x="861219" y="197644"/>
                  <a:pt x="684213" y="395288"/>
                  <a:pt x="628650" y="476250"/>
                </a:cubicBezTo>
                <a:cubicBezTo>
                  <a:pt x="573088" y="557213"/>
                  <a:pt x="809625" y="330200"/>
                  <a:pt x="704850" y="485775"/>
                </a:cubicBezTo>
                <a:cubicBezTo>
                  <a:pt x="600075" y="641350"/>
                  <a:pt x="0" y="1409700"/>
                  <a:pt x="0" y="1409700"/>
                </a:cubicBezTo>
              </a:path>
            </a:pathLst>
          </a:custGeom>
          <a:ln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A03A01-7889-4CB5-3862-3FEFE796B292}"/>
              </a:ext>
            </a:extLst>
          </p:cNvPr>
          <p:cNvSpPr txBox="1"/>
          <p:nvPr/>
        </p:nvSpPr>
        <p:spPr>
          <a:xfrm>
            <a:off x="3764661" y="1142003"/>
            <a:ext cx="359664" cy="3077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3DE2B3-6B87-3917-D9AC-7F840BFE6E02}"/>
              </a:ext>
            </a:extLst>
          </p:cNvPr>
          <p:cNvSpPr txBox="1"/>
          <p:nvPr/>
        </p:nvSpPr>
        <p:spPr>
          <a:xfrm>
            <a:off x="4484575" y="1674505"/>
            <a:ext cx="316026" cy="3077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5873641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A0149B-A2B3-4297-5C55-DF74D7CEB3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027B0AB-F729-1045-A5EF-29D20D06CA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24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78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46960" y="1534334"/>
            <a:ext cx="7127406" cy="45159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405437850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223.15.3</a:t>
            </a:r>
          </a:p>
        </p:txBody>
      </p:sp>
      <p:sp>
        <p:nvSpPr>
          <p:cNvPr id="16794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/>
              <a:t>You are building a camera with refractive lenses. Would you expect all colors of light to focus at the same point?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1679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0D07768-D6B0-4518-800F-EC5E0B938D94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261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223.15.4</a:t>
            </a:r>
          </a:p>
        </p:txBody>
      </p:sp>
      <p:sp>
        <p:nvSpPr>
          <p:cNvPr id="185348" name="Rectangle 3"/>
          <p:cNvSpPr>
            <a:spLocks noGrp="1" noChangeArrowheads="1"/>
          </p:cNvSpPr>
          <p:nvPr>
            <p:ph idx="1"/>
          </p:nvPr>
        </p:nvSpPr>
        <p:spPr>
          <a:xfrm>
            <a:off x="1981200" y="1600201"/>
            <a:ext cx="7829550" cy="4525963"/>
          </a:xfrm>
        </p:spPr>
        <p:txBody>
          <a:bodyPr/>
          <a:lstStyle/>
          <a:p>
            <a:pPr marL="609600" indent="-609600">
              <a:buNone/>
            </a:pPr>
            <a:r>
              <a:rPr lang="en-US"/>
              <a:t>What type of lens is a simple magnifier?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Convex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Concave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Diverging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Converging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More than one of the above</a:t>
            </a:r>
          </a:p>
        </p:txBody>
      </p:sp>
      <p:sp>
        <p:nvSpPr>
          <p:cNvPr id="18534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03F159C-E831-4FD9-9DC8-B48438885749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113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9144" y="98793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223.15.6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138241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7603729" y="427890"/>
            <a:ext cx="1997471" cy="1957753"/>
            <a:chOff x="890954" y="2168770"/>
            <a:chExt cx="2766646" cy="2520462"/>
          </a:xfrm>
        </p:grpSpPr>
        <p:sp>
          <p:nvSpPr>
            <p:cNvPr id="23" name="Freeform 22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/>
              <p:cNvCxnSpPr/>
              <p:nvPr/>
            </p:nvCxnSpPr>
            <p:spPr>
              <a:xfrm>
                <a:off x="890954" y="2508738"/>
                <a:ext cx="1383323" cy="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/>
            <p:cNvSpPr txBox="1"/>
            <p:nvPr/>
          </p:nvSpPr>
          <p:spPr>
            <a:xfrm>
              <a:off x="1688136" y="3528648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602531" y="3528650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31" name="Straight Connector 30"/>
          <p:cNvCxnSpPr/>
          <p:nvPr/>
        </p:nvCxnSpPr>
        <p:spPr>
          <a:xfrm>
            <a:off x="8602464" y="691957"/>
            <a:ext cx="372414" cy="12892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9280" name="TextBox 5089279"/>
          <p:cNvSpPr txBox="1"/>
          <p:nvPr/>
        </p:nvSpPr>
        <p:spPr>
          <a:xfrm>
            <a:off x="7033846" y="125436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7603730" y="2584923"/>
            <a:ext cx="1997471" cy="1957753"/>
            <a:chOff x="890954" y="2168770"/>
            <a:chExt cx="2766646" cy="2520462"/>
          </a:xfrm>
        </p:grpSpPr>
        <p:sp>
          <p:nvSpPr>
            <p:cNvPr id="35" name="Freeform 34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39" name="Straight Connector 38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Oval 39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/>
              <p:cNvCxnSpPr/>
              <p:nvPr/>
            </p:nvCxnSpPr>
            <p:spPr>
              <a:xfrm>
                <a:off x="890954" y="2508738"/>
                <a:ext cx="1383323" cy="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/>
            <p:cNvSpPr txBox="1"/>
            <p:nvPr/>
          </p:nvSpPr>
          <p:spPr>
            <a:xfrm>
              <a:off x="1688136" y="3528648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602531" y="3528650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43" name="Straight Connector 42"/>
          <p:cNvCxnSpPr/>
          <p:nvPr/>
        </p:nvCxnSpPr>
        <p:spPr>
          <a:xfrm>
            <a:off x="8602465" y="2848990"/>
            <a:ext cx="998734" cy="103162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33847" y="34113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2309621" y="1236930"/>
            <a:ext cx="2813364" cy="2643685"/>
            <a:chOff x="890954" y="2168770"/>
            <a:chExt cx="2766646" cy="2520462"/>
          </a:xfrm>
        </p:grpSpPr>
        <p:sp>
          <p:nvSpPr>
            <p:cNvPr id="46" name="Freeform 45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50" name="Straight Connector 49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50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Connector 52"/>
              <p:cNvCxnSpPr/>
              <p:nvPr/>
            </p:nvCxnSpPr>
            <p:spPr>
              <a:xfrm>
                <a:off x="890954" y="2508738"/>
                <a:ext cx="1383323" cy="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/>
            <p:cNvSpPr txBox="1"/>
            <p:nvPr/>
          </p:nvSpPr>
          <p:spPr>
            <a:xfrm>
              <a:off x="1688136" y="3528649"/>
              <a:ext cx="250960" cy="352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602531" y="3528650"/>
              <a:ext cx="250960" cy="352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grpSp>
        <p:nvGrpSpPr>
          <p:cNvPr id="56" name="Group 55"/>
          <p:cNvGrpSpPr/>
          <p:nvPr/>
        </p:nvGrpSpPr>
        <p:grpSpPr>
          <a:xfrm>
            <a:off x="7603731" y="4671618"/>
            <a:ext cx="1997471" cy="1957753"/>
            <a:chOff x="890954" y="2168770"/>
            <a:chExt cx="2766646" cy="2520462"/>
          </a:xfrm>
        </p:grpSpPr>
        <p:sp>
          <p:nvSpPr>
            <p:cNvPr id="57" name="Freeform 56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8" name="Group 57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61" name="Straight Connector 60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Oval 61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" name="Straight Connector 63"/>
              <p:cNvCxnSpPr/>
              <p:nvPr/>
            </p:nvCxnSpPr>
            <p:spPr>
              <a:xfrm>
                <a:off x="890954" y="2508738"/>
                <a:ext cx="1383323" cy="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TextBox 58"/>
            <p:cNvSpPr txBox="1"/>
            <p:nvPr/>
          </p:nvSpPr>
          <p:spPr>
            <a:xfrm>
              <a:off x="1688136" y="3528648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602531" y="3528650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65" name="Straight Connector 64"/>
          <p:cNvCxnSpPr/>
          <p:nvPr/>
        </p:nvCxnSpPr>
        <p:spPr>
          <a:xfrm>
            <a:off x="8602467" y="4935685"/>
            <a:ext cx="600151" cy="12892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033848" y="5498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5089284" name="Isosceles Triangle 5089283"/>
          <p:cNvSpPr/>
          <p:nvPr/>
        </p:nvSpPr>
        <p:spPr>
          <a:xfrm rot="5400000">
            <a:off x="2860561" y="1526953"/>
            <a:ext cx="164124" cy="13659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6617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19237" y="755650"/>
            <a:ext cx="9153526" cy="535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41042931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19237" y="755650"/>
            <a:ext cx="9153526" cy="535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705692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616314" y="899410"/>
            <a:ext cx="1828800" cy="460198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3850834" y="1503077"/>
            <a:ext cx="1753849" cy="1259173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4282190" y="2758189"/>
            <a:ext cx="272821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6335687" y="3316184"/>
            <a:ext cx="272821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7408422" y="3308064"/>
            <a:ext cx="1753849" cy="1259173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5586413" y="2757488"/>
            <a:ext cx="1828800" cy="55245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7448474">
            <a:off x="4497188" y="1923478"/>
            <a:ext cx="201459" cy="239842"/>
          </a:xfrm>
          <a:prstGeom prst="triangl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/>
          <p:cNvSpPr/>
          <p:nvPr/>
        </p:nvSpPr>
        <p:spPr>
          <a:xfrm rot="7746428">
            <a:off x="9060015" y="4461716"/>
            <a:ext cx="200957" cy="239842"/>
          </a:xfrm>
          <a:prstGeom prst="triangle">
            <a:avLst>
              <a:gd name="adj" fmla="val 42932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6787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7" y="752475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4517045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7" y="752475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720478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89760" y="831145"/>
            <a:ext cx="8549406" cy="485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7434417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31617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907282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19237" y="755650"/>
            <a:ext cx="9153526" cy="535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7" y="1514475"/>
            <a:ext cx="9153526" cy="3829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898092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7" y="752475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769117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7" y="752475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3730" name="Date Placeholder 4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Fall 2007</a:t>
            </a:r>
          </a:p>
        </p:txBody>
      </p:sp>
      <p:sp>
        <p:nvSpPr>
          <p:cNvPr id="73731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R. Todd Lines</a:t>
            </a:r>
          </a:p>
        </p:txBody>
      </p:sp>
      <p:sp>
        <p:nvSpPr>
          <p:cNvPr id="73732" name="Rectangle 2"/>
          <p:cNvSpPr>
            <a:spLocks noGrp="1" noChangeArrowheads="1"/>
          </p:cNvSpPr>
          <p:nvPr>
            <p:ph type="title"/>
          </p:nvPr>
        </p:nvSpPr>
        <p:spPr>
          <a:xfrm>
            <a:off x="3124200" y="-85725"/>
            <a:ext cx="7346950" cy="1143000"/>
          </a:xfrm>
        </p:spPr>
        <p:txBody>
          <a:bodyPr/>
          <a:lstStyle/>
          <a:p>
            <a:pPr eaLnBrk="1" hangingPunct="1"/>
            <a:r>
              <a:rPr lang="en-US" sz="3200" dirty="0"/>
              <a:t>Ray Diagram for Converging Lens, </a:t>
            </a:r>
            <a:r>
              <a:rPr lang="en-US" sz="3200" i="1" dirty="0"/>
              <a:t>s</a:t>
            </a:r>
            <a:r>
              <a:rPr lang="en-US" sz="3200" dirty="0"/>
              <a:t> &gt; </a:t>
            </a:r>
            <a:r>
              <a:rPr lang="en-US" sz="3200" i="1" dirty="0"/>
              <a:t>f</a:t>
            </a:r>
          </a:p>
        </p:txBody>
      </p:sp>
      <p:sp>
        <p:nvSpPr>
          <p:cNvPr id="73733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133600" y="5141384"/>
            <a:ext cx="7772400" cy="1143000"/>
          </a:xfrm>
        </p:spPr>
        <p:txBody>
          <a:bodyPr>
            <a:normAutofit fontScale="9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real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inverted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on the back side of the lens</a:t>
            </a:r>
          </a:p>
        </p:txBody>
      </p:sp>
    </p:spTree>
    <p:extLst>
      <p:ext uri="{BB962C8B-B14F-4D97-AF65-F5344CB8AC3E}">
        <p14:creationId xmlns:p14="http://schemas.microsoft.com/office/powerpoint/2010/main" val="333486058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7" y="752475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3730" name="Date Placeholder 4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Fall 2007</a:t>
            </a:r>
          </a:p>
        </p:txBody>
      </p:sp>
      <p:sp>
        <p:nvSpPr>
          <p:cNvPr id="73731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R. Todd Lines</a:t>
            </a:r>
          </a:p>
        </p:txBody>
      </p:sp>
      <p:sp>
        <p:nvSpPr>
          <p:cNvPr id="73732" name="Rectangle 2"/>
          <p:cNvSpPr>
            <a:spLocks noGrp="1" noChangeArrowheads="1"/>
          </p:cNvSpPr>
          <p:nvPr>
            <p:ph type="title"/>
          </p:nvPr>
        </p:nvSpPr>
        <p:spPr>
          <a:xfrm>
            <a:off x="3124200" y="-85725"/>
            <a:ext cx="7346950" cy="1143000"/>
          </a:xfrm>
        </p:spPr>
        <p:txBody>
          <a:bodyPr/>
          <a:lstStyle/>
          <a:p>
            <a:pPr eaLnBrk="1" hangingPunct="1"/>
            <a:r>
              <a:rPr lang="en-US" sz="3200" dirty="0"/>
              <a:t>Ray Diagram for Converging Lens, </a:t>
            </a:r>
            <a:r>
              <a:rPr lang="en-US" sz="3200" i="1" dirty="0"/>
              <a:t>s</a:t>
            </a:r>
            <a:r>
              <a:rPr lang="en-US" sz="3200" dirty="0"/>
              <a:t> &gt; </a:t>
            </a:r>
            <a:r>
              <a:rPr lang="en-US" sz="3200" i="1" dirty="0"/>
              <a:t>f</a:t>
            </a:r>
          </a:p>
        </p:txBody>
      </p:sp>
      <p:sp>
        <p:nvSpPr>
          <p:cNvPr id="73733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133600" y="5141384"/>
            <a:ext cx="7772400" cy="1143000"/>
          </a:xfrm>
        </p:spPr>
        <p:txBody>
          <a:bodyPr>
            <a:normAutofit fontScale="9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real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inverted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on the back side of the lens</a:t>
            </a:r>
          </a:p>
        </p:txBody>
      </p:sp>
    </p:spTree>
    <p:extLst>
      <p:ext uri="{BB962C8B-B14F-4D97-AF65-F5344CB8AC3E}">
        <p14:creationId xmlns:p14="http://schemas.microsoft.com/office/powerpoint/2010/main" val="16590316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9144" y="98793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223.15.7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138241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7603729" y="427890"/>
            <a:ext cx="1997471" cy="1957753"/>
            <a:chOff x="890954" y="2168770"/>
            <a:chExt cx="2766646" cy="2520462"/>
          </a:xfrm>
        </p:grpSpPr>
        <p:sp>
          <p:nvSpPr>
            <p:cNvPr id="23" name="Freeform 22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/>
            <p:cNvGrpSpPr/>
            <p:nvPr/>
          </p:nvGrpSpPr>
          <p:grpSpPr>
            <a:xfrm>
              <a:off x="890954" y="2508738"/>
              <a:ext cx="2766646" cy="1389242"/>
              <a:chOff x="890954" y="2508738"/>
              <a:chExt cx="2766646" cy="1389242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/>
              <p:cNvCxnSpPr/>
              <p:nvPr/>
            </p:nvCxnSpPr>
            <p:spPr>
              <a:xfrm>
                <a:off x="890954" y="2508738"/>
                <a:ext cx="1383326" cy="1389242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/>
            <p:cNvSpPr txBox="1"/>
            <p:nvPr/>
          </p:nvSpPr>
          <p:spPr>
            <a:xfrm>
              <a:off x="1688136" y="3528648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602531" y="3528650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31" name="Straight Connector 30"/>
          <p:cNvCxnSpPr/>
          <p:nvPr/>
        </p:nvCxnSpPr>
        <p:spPr>
          <a:xfrm>
            <a:off x="8602466" y="1771043"/>
            <a:ext cx="1104242" cy="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9280" name="TextBox 5089279"/>
          <p:cNvSpPr txBox="1"/>
          <p:nvPr/>
        </p:nvSpPr>
        <p:spPr>
          <a:xfrm>
            <a:off x="7033846" y="125436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7603730" y="2584923"/>
            <a:ext cx="1997471" cy="1957753"/>
            <a:chOff x="890954" y="2168770"/>
            <a:chExt cx="2766646" cy="2520462"/>
          </a:xfrm>
        </p:grpSpPr>
        <p:sp>
          <p:nvSpPr>
            <p:cNvPr id="35" name="Freeform 34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/>
            <p:cNvGrpSpPr/>
            <p:nvPr/>
          </p:nvGrpSpPr>
          <p:grpSpPr>
            <a:xfrm>
              <a:off x="890954" y="2508738"/>
              <a:ext cx="2766646" cy="1389243"/>
              <a:chOff x="890954" y="2508738"/>
              <a:chExt cx="2766646" cy="1389243"/>
            </a:xfrm>
          </p:grpSpPr>
          <p:cxnSp>
            <p:nvCxnSpPr>
              <p:cNvPr id="39" name="Straight Connector 38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Oval 39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/>
              <p:cNvCxnSpPr/>
              <p:nvPr/>
            </p:nvCxnSpPr>
            <p:spPr>
              <a:xfrm>
                <a:off x="890954" y="2508738"/>
                <a:ext cx="1383321" cy="1389243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/>
            <p:cNvSpPr txBox="1"/>
            <p:nvPr/>
          </p:nvSpPr>
          <p:spPr>
            <a:xfrm>
              <a:off x="1688136" y="3528648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602531" y="3528650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43" name="Straight Connector 42"/>
          <p:cNvCxnSpPr/>
          <p:nvPr/>
        </p:nvCxnSpPr>
        <p:spPr>
          <a:xfrm flipV="1">
            <a:off x="8602467" y="2965938"/>
            <a:ext cx="811165" cy="96213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33847" y="34113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2309621" y="1236930"/>
            <a:ext cx="2813364" cy="2643685"/>
            <a:chOff x="890954" y="2168770"/>
            <a:chExt cx="2766646" cy="2520462"/>
          </a:xfrm>
        </p:grpSpPr>
        <p:sp>
          <p:nvSpPr>
            <p:cNvPr id="46" name="Freeform 45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890954" y="2508738"/>
              <a:ext cx="2766646" cy="1389243"/>
              <a:chOff x="890954" y="2508738"/>
              <a:chExt cx="2766646" cy="1389243"/>
            </a:xfrm>
          </p:grpSpPr>
          <p:cxnSp>
            <p:nvCxnSpPr>
              <p:cNvPr id="50" name="Straight Connector 49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50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Connector 52"/>
              <p:cNvCxnSpPr/>
              <p:nvPr/>
            </p:nvCxnSpPr>
            <p:spPr>
              <a:xfrm>
                <a:off x="890954" y="2508738"/>
                <a:ext cx="1383323" cy="1389243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/>
            <p:cNvSpPr txBox="1"/>
            <p:nvPr/>
          </p:nvSpPr>
          <p:spPr>
            <a:xfrm>
              <a:off x="1688136" y="3528649"/>
              <a:ext cx="250960" cy="352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602531" y="3528650"/>
              <a:ext cx="250960" cy="352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grpSp>
        <p:nvGrpSpPr>
          <p:cNvPr id="56" name="Group 55"/>
          <p:cNvGrpSpPr/>
          <p:nvPr/>
        </p:nvGrpSpPr>
        <p:grpSpPr>
          <a:xfrm>
            <a:off x="7603731" y="4671618"/>
            <a:ext cx="1997471" cy="1957753"/>
            <a:chOff x="890954" y="2168770"/>
            <a:chExt cx="2766646" cy="2520462"/>
          </a:xfrm>
        </p:grpSpPr>
        <p:sp>
          <p:nvSpPr>
            <p:cNvPr id="57" name="Freeform 56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8" name="Group 57"/>
            <p:cNvGrpSpPr/>
            <p:nvPr/>
          </p:nvGrpSpPr>
          <p:grpSpPr>
            <a:xfrm>
              <a:off x="890954" y="2508738"/>
              <a:ext cx="2766646" cy="1389242"/>
              <a:chOff x="890954" y="2508738"/>
              <a:chExt cx="2766646" cy="1389242"/>
            </a:xfrm>
          </p:grpSpPr>
          <p:cxnSp>
            <p:nvCxnSpPr>
              <p:cNvPr id="61" name="Straight Connector 60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Oval 61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" name="Straight Connector 63"/>
              <p:cNvCxnSpPr/>
              <p:nvPr/>
            </p:nvCxnSpPr>
            <p:spPr>
              <a:xfrm>
                <a:off x="890954" y="2508738"/>
                <a:ext cx="1383324" cy="1389242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TextBox 58"/>
            <p:cNvSpPr txBox="1"/>
            <p:nvPr/>
          </p:nvSpPr>
          <p:spPr>
            <a:xfrm>
              <a:off x="1688136" y="3528648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602531" y="3528650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65" name="Straight Connector 64"/>
          <p:cNvCxnSpPr/>
          <p:nvPr/>
        </p:nvCxnSpPr>
        <p:spPr>
          <a:xfrm>
            <a:off x="8602467" y="6014771"/>
            <a:ext cx="811165" cy="37430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033848" y="5498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5089284" name="Isosceles Triangle 5089283"/>
          <p:cNvSpPr/>
          <p:nvPr/>
        </p:nvSpPr>
        <p:spPr>
          <a:xfrm rot="8224277">
            <a:off x="2714753" y="2024082"/>
            <a:ext cx="164124" cy="13659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4594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9144" y="98793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223.15.8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138241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71</a:t>
            </a:fld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7603729" y="427890"/>
            <a:ext cx="1997471" cy="1957753"/>
            <a:chOff x="890954" y="2168770"/>
            <a:chExt cx="2766646" cy="2520462"/>
          </a:xfrm>
        </p:grpSpPr>
        <p:sp>
          <p:nvSpPr>
            <p:cNvPr id="23" name="Freeform 22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/>
              <p:cNvCxnSpPr/>
              <p:nvPr/>
            </p:nvCxnSpPr>
            <p:spPr>
              <a:xfrm>
                <a:off x="890954" y="2508738"/>
                <a:ext cx="1383326" cy="908529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/>
            <p:cNvSpPr txBox="1"/>
            <p:nvPr/>
          </p:nvSpPr>
          <p:spPr>
            <a:xfrm>
              <a:off x="1688136" y="3528648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602531" y="3528650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31" name="Straight Connector 30"/>
          <p:cNvCxnSpPr/>
          <p:nvPr/>
        </p:nvCxnSpPr>
        <p:spPr>
          <a:xfrm>
            <a:off x="8602463" y="1406766"/>
            <a:ext cx="1104242" cy="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9280" name="TextBox 5089279"/>
          <p:cNvSpPr txBox="1"/>
          <p:nvPr/>
        </p:nvSpPr>
        <p:spPr>
          <a:xfrm>
            <a:off x="7033846" y="125436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7603730" y="2584923"/>
            <a:ext cx="1997471" cy="1957753"/>
            <a:chOff x="890954" y="2168770"/>
            <a:chExt cx="2766646" cy="2520462"/>
          </a:xfrm>
        </p:grpSpPr>
        <p:sp>
          <p:nvSpPr>
            <p:cNvPr id="35" name="Freeform 34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/>
            <p:cNvGrpSpPr/>
            <p:nvPr/>
          </p:nvGrpSpPr>
          <p:grpSpPr>
            <a:xfrm>
              <a:off x="890954" y="2330390"/>
              <a:ext cx="2766646" cy="2049466"/>
              <a:chOff x="890954" y="2330390"/>
              <a:chExt cx="2766646" cy="2049466"/>
            </a:xfrm>
          </p:grpSpPr>
          <p:cxnSp>
            <p:nvCxnSpPr>
              <p:cNvPr id="39" name="Straight Connector 38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Oval 39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/>
              <p:cNvCxnSpPr/>
              <p:nvPr/>
            </p:nvCxnSpPr>
            <p:spPr>
              <a:xfrm>
                <a:off x="1066816" y="2330390"/>
                <a:ext cx="2184851" cy="2049466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/>
            <p:cNvSpPr txBox="1"/>
            <p:nvPr/>
          </p:nvSpPr>
          <p:spPr>
            <a:xfrm>
              <a:off x="1688136" y="3528648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602531" y="3528650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7033847" y="34113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2309621" y="1236930"/>
            <a:ext cx="2813364" cy="2643685"/>
            <a:chOff x="890954" y="2168770"/>
            <a:chExt cx="2766646" cy="2520462"/>
          </a:xfrm>
        </p:grpSpPr>
        <p:sp>
          <p:nvSpPr>
            <p:cNvPr id="46" name="Freeform 45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50" name="Straight Connector 49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50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Connector 52"/>
              <p:cNvCxnSpPr/>
              <p:nvPr/>
            </p:nvCxnSpPr>
            <p:spPr>
              <a:xfrm>
                <a:off x="890954" y="2508738"/>
                <a:ext cx="1383323" cy="91440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/>
            <p:cNvSpPr txBox="1"/>
            <p:nvPr/>
          </p:nvSpPr>
          <p:spPr>
            <a:xfrm>
              <a:off x="1688136" y="3528649"/>
              <a:ext cx="250960" cy="352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602531" y="3528650"/>
              <a:ext cx="250960" cy="352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grpSp>
        <p:nvGrpSpPr>
          <p:cNvPr id="56" name="Group 55"/>
          <p:cNvGrpSpPr/>
          <p:nvPr/>
        </p:nvGrpSpPr>
        <p:grpSpPr>
          <a:xfrm>
            <a:off x="7603731" y="4671618"/>
            <a:ext cx="1997471" cy="1957753"/>
            <a:chOff x="890954" y="2168770"/>
            <a:chExt cx="2766646" cy="2520462"/>
          </a:xfrm>
        </p:grpSpPr>
        <p:sp>
          <p:nvSpPr>
            <p:cNvPr id="57" name="Freeform 56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8" name="Group 57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61" name="Straight Connector 60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Oval 61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" name="Straight Connector 63"/>
              <p:cNvCxnSpPr/>
              <p:nvPr/>
            </p:nvCxnSpPr>
            <p:spPr>
              <a:xfrm>
                <a:off x="890954" y="2508738"/>
                <a:ext cx="1383320" cy="961804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TextBox 58"/>
            <p:cNvSpPr txBox="1"/>
            <p:nvPr/>
          </p:nvSpPr>
          <p:spPr>
            <a:xfrm>
              <a:off x="1688136" y="3528648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602531" y="3528650"/>
              <a:ext cx="353468" cy="4754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65" name="Straight Connector 64"/>
          <p:cNvCxnSpPr/>
          <p:nvPr/>
        </p:nvCxnSpPr>
        <p:spPr>
          <a:xfrm>
            <a:off x="8569297" y="5671453"/>
            <a:ext cx="1031904" cy="37430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033848" y="5498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5089284" name="Isosceles Triangle 5089283"/>
          <p:cNvSpPr/>
          <p:nvPr/>
        </p:nvSpPr>
        <p:spPr>
          <a:xfrm rot="7739718">
            <a:off x="2891428" y="1998979"/>
            <a:ext cx="164124" cy="13659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58970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3883" y="129099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223.15.9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138241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72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7033846" y="125436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33847" y="34113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33848" y="5498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09621" y="1236930"/>
            <a:ext cx="2860256" cy="2678855"/>
            <a:chOff x="785621" y="1236929"/>
            <a:chExt cx="2860256" cy="2678855"/>
          </a:xfrm>
        </p:grpSpPr>
        <p:sp>
          <p:nvSpPr>
            <p:cNvPr id="6" name="Rectangle 5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/>
            <p:nvPr/>
          </p:nvCxnSpPr>
          <p:spPr>
            <a:xfrm>
              <a:off x="785621" y="1593518"/>
              <a:ext cx="1405344" cy="3018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1326635" y="2663291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30189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5089284" name="Isosceles Triangle 5089283"/>
            <p:cNvSpPr/>
            <p:nvPr/>
          </p:nvSpPr>
          <p:spPr>
            <a:xfrm rot="5400000">
              <a:off x="1232520" y="154030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 53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2D66EBE-EEA5-4D97-BDB2-F9E784E90951}"/>
              </a:ext>
            </a:extLst>
          </p:cNvPr>
          <p:cNvGrpSpPr/>
          <p:nvPr/>
        </p:nvGrpSpPr>
        <p:grpSpPr>
          <a:xfrm>
            <a:off x="7561560" y="725723"/>
            <a:ext cx="2092168" cy="1601646"/>
            <a:chOff x="7561560" y="725723"/>
            <a:chExt cx="2092168" cy="1601646"/>
          </a:xfrm>
        </p:grpSpPr>
        <p:sp>
          <p:nvSpPr>
            <p:cNvPr id="78" name="Rectangle 77"/>
            <p:cNvSpPr/>
            <p:nvPr/>
          </p:nvSpPr>
          <p:spPr>
            <a:xfrm>
              <a:off x="8470380" y="725723"/>
              <a:ext cx="281145" cy="1520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8358907" y="725723"/>
              <a:ext cx="221119" cy="1580618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Oval 79"/>
            <p:cNvSpPr/>
            <p:nvPr/>
          </p:nvSpPr>
          <p:spPr>
            <a:xfrm>
              <a:off x="9255693" y="1460887"/>
              <a:ext cx="87198" cy="9557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8009610" y="1468239"/>
              <a:ext cx="87198" cy="9557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2" name="Straight Connector 81"/>
            <p:cNvCxnSpPr/>
            <p:nvPr/>
          </p:nvCxnSpPr>
          <p:spPr>
            <a:xfrm>
              <a:off x="7561560" y="938922"/>
              <a:ext cx="1027955" cy="18044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/>
            <p:cNvSpPr txBox="1"/>
            <p:nvPr/>
          </p:nvSpPr>
          <p:spPr>
            <a:xfrm>
              <a:off x="7957291" y="1578523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9203376" y="1578523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5" name="Isosceles Triangle 84"/>
            <p:cNvSpPr/>
            <p:nvPr/>
          </p:nvSpPr>
          <p:spPr>
            <a:xfrm rot="5400000">
              <a:off x="7899411" y="897986"/>
              <a:ext cx="98127" cy="99916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 85"/>
            <p:cNvSpPr/>
            <p:nvPr/>
          </p:nvSpPr>
          <p:spPr>
            <a:xfrm>
              <a:off x="8641880" y="746751"/>
              <a:ext cx="221119" cy="1580618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Connector 86"/>
            <p:cNvCxnSpPr/>
            <p:nvPr/>
          </p:nvCxnSpPr>
          <p:spPr>
            <a:xfrm>
              <a:off x="7595860" y="1512356"/>
              <a:ext cx="205786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/>
          <p:cNvGrpSpPr/>
          <p:nvPr/>
        </p:nvGrpSpPr>
        <p:grpSpPr>
          <a:xfrm>
            <a:off x="7585007" y="2964817"/>
            <a:ext cx="2092168" cy="1601646"/>
            <a:chOff x="785621" y="1236929"/>
            <a:chExt cx="2860256" cy="2678855"/>
          </a:xfrm>
        </p:grpSpPr>
        <p:sp>
          <p:nvSpPr>
            <p:cNvPr id="89" name="Rectangle 88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reeform 89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3" name="Straight Connector 92"/>
            <p:cNvCxnSpPr/>
            <p:nvPr/>
          </p:nvCxnSpPr>
          <p:spPr>
            <a:xfrm>
              <a:off x="785621" y="1593518"/>
              <a:ext cx="1405344" cy="3018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extBox 93"/>
            <p:cNvSpPr txBox="1"/>
            <p:nvPr/>
          </p:nvSpPr>
          <p:spPr>
            <a:xfrm>
              <a:off x="1326635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3030189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6" name="Isosceles Triangle 95"/>
            <p:cNvSpPr/>
            <p:nvPr/>
          </p:nvSpPr>
          <p:spPr>
            <a:xfrm rot="5400000">
              <a:off x="1232520" y="154030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 96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/>
          <p:cNvGrpSpPr/>
          <p:nvPr/>
        </p:nvGrpSpPr>
        <p:grpSpPr>
          <a:xfrm>
            <a:off x="7596731" y="5016343"/>
            <a:ext cx="2092168" cy="1601646"/>
            <a:chOff x="785621" y="1236929"/>
            <a:chExt cx="2860256" cy="2678855"/>
          </a:xfrm>
        </p:grpSpPr>
        <p:sp>
          <p:nvSpPr>
            <p:cNvPr id="100" name="Rectangle 99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Freeform 100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4" name="Straight Connector 103"/>
            <p:cNvCxnSpPr/>
            <p:nvPr/>
          </p:nvCxnSpPr>
          <p:spPr>
            <a:xfrm>
              <a:off x="785621" y="1593518"/>
              <a:ext cx="1405344" cy="3018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TextBox 104"/>
            <p:cNvSpPr txBox="1"/>
            <p:nvPr/>
          </p:nvSpPr>
          <p:spPr>
            <a:xfrm>
              <a:off x="1326635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030189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7" name="Isosceles Triangle 106"/>
            <p:cNvSpPr/>
            <p:nvPr/>
          </p:nvSpPr>
          <p:spPr>
            <a:xfrm rot="5400000">
              <a:off x="1232520" y="154030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reeform 107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9" name="Straight Connector 108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/>
          <p:cNvCxnSpPr>
            <a:cxnSpLocks/>
          </p:cNvCxnSpPr>
          <p:nvPr/>
        </p:nvCxnSpPr>
        <p:spPr>
          <a:xfrm>
            <a:off x="8570865" y="953549"/>
            <a:ext cx="1123641" cy="87525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/>
          <p:nvPr/>
        </p:nvCxnSpPr>
        <p:spPr>
          <a:xfrm flipH="1">
            <a:off x="8600838" y="2348804"/>
            <a:ext cx="1183348" cy="84725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/>
          <p:nvPr/>
        </p:nvCxnSpPr>
        <p:spPr>
          <a:xfrm flipH="1" flipV="1">
            <a:off x="8589116" y="5247586"/>
            <a:ext cx="1692023" cy="4351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25574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3883" y="129099"/>
            <a:ext cx="4709317" cy="1143000"/>
          </a:xfrm>
        </p:spPr>
        <p:txBody>
          <a:bodyPr>
            <a:normAutofit/>
          </a:bodyPr>
          <a:lstStyle/>
          <a:p>
            <a:r>
              <a:rPr lang="en-US" dirty="0"/>
              <a:t>Question 223.15.10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138241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73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7033846" y="125436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33847" y="34113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33848" y="5498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09621" y="1236930"/>
            <a:ext cx="2860256" cy="2678855"/>
            <a:chOff x="785621" y="1236929"/>
            <a:chExt cx="2860256" cy="2678855"/>
          </a:xfrm>
        </p:grpSpPr>
        <p:sp>
          <p:nvSpPr>
            <p:cNvPr id="6" name="Rectangle 5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/>
            <p:nvPr/>
          </p:nvCxnSpPr>
          <p:spPr>
            <a:xfrm>
              <a:off x="785621" y="1593518"/>
              <a:ext cx="1434651" cy="1000423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1326635" y="2663291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30189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5089284" name="Isosceles Triangle 5089283"/>
            <p:cNvSpPr/>
            <p:nvPr/>
          </p:nvSpPr>
          <p:spPr>
            <a:xfrm rot="7756031">
              <a:off x="1351616" y="1971946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 53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/>
          <p:cNvGrpSpPr/>
          <p:nvPr/>
        </p:nvGrpSpPr>
        <p:grpSpPr>
          <a:xfrm>
            <a:off x="7561560" y="725723"/>
            <a:ext cx="2092168" cy="1601646"/>
            <a:chOff x="785621" y="1236929"/>
            <a:chExt cx="2860256" cy="2678855"/>
          </a:xfrm>
        </p:grpSpPr>
        <p:sp>
          <p:nvSpPr>
            <p:cNvPr id="78" name="Rectangle 77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Oval 79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2" name="Straight Connector 81"/>
            <p:cNvCxnSpPr/>
            <p:nvPr/>
          </p:nvCxnSpPr>
          <p:spPr>
            <a:xfrm>
              <a:off x="785621" y="1593518"/>
              <a:ext cx="1424426" cy="9591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/>
            <p:cNvSpPr txBox="1"/>
            <p:nvPr/>
          </p:nvSpPr>
          <p:spPr>
            <a:xfrm>
              <a:off x="1326635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030189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6" name="Freeform 85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Connector 86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/>
          <p:cNvGrpSpPr/>
          <p:nvPr/>
        </p:nvGrpSpPr>
        <p:grpSpPr>
          <a:xfrm>
            <a:off x="7585007" y="2964817"/>
            <a:ext cx="2092168" cy="1601646"/>
            <a:chOff x="785621" y="1236929"/>
            <a:chExt cx="2860256" cy="2678855"/>
          </a:xfrm>
        </p:grpSpPr>
        <p:sp>
          <p:nvSpPr>
            <p:cNvPr id="89" name="Rectangle 88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reeform 89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3" name="Straight Connector 92"/>
            <p:cNvCxnSpPr/>
            <p:nvPr/>
          </p:nvCxnSpPr>
          <p:spPr>
            <a:xfrm>
              <a:off x="785621" y="1593518"/>
              <a:ext cx="1421519" cy="9591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extBox 93"/>
            <p:cNvSpPr txBox="1"/>
            <p:nvPr/>
          </p:nvSpPr>
          <p:spPr>
            <a:xfrm>
              <a:off x="1326635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3030189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7" name="Freeform 96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/>
          <p:cNvGrpSpPr/>
          <p:nvPr/>
        </p:nvGrpSpPr>
        <p:grpSpPr>
          <a:xfrm>
            <a:off x="7596732" y="5016343"/>
            <a:ext cx="2197569" cy="1601646"/>
            <a:chOff x="785621" y="1236929"/>
            <a:chExt cx="3004352" cy="2678855"/>
          </a:xfrm>
        </p:grpSpPr>
        <p:sp>
          <p:nvSpPr>
            <p:cNvPr id="100" name="Rectangle 99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Freeform 100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1326635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030189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8" name="Freeform 107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9" name="Straight Connector 108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>
            <a:xfrm>
              <a:off x="785621" y="1593518"/>
              <a:ext cx="3004352" cy="199821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/>
          <p:cNvCxnSpPr/>
          <p:nvPr/>
        </p:nvCxnSpPr>
        <p:spPr>
          <a:xfrm flipV="1">
            <a:off x="8610952" y="1512357"/>
            <a:ext cx="1183348" cy="105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/>
          <p:nvPr/>
        </p:nvCxnSpPr>
        <p:spPr>
          <a:xfrm flipH="1">
            <a:off x="8648241" y="3178017"/>
            <a:ext cx="917790" cy="58035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80894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3883" y="129099"/>
            <a:ext cx="4439686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223.15.11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138241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74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7033846" y="125436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33847" y="34113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33848" y="5498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09621" y="1236930"/>
            <a:ext cx="2860256" cy="2678855"/>
            <a:chOff x="785621" y="1236929"/>
            <a:chExt cx="2860256" cy="2678855"/>
          </a:xfrm>
        </p:grpSpPr>
        <p:sp>
          <p:nvSpPr>
            <p:cNvPr id="6" name="Rectangle 5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/>
            <p:nvPr/>
          </p:nvCxnSpPr>
          <p:spPr>
            <a:xfrm>
              <a:off x="785621" y="1593518"/>
              <a:ext cx="1453574" cy="606757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1326635" y="2663291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30189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5089284" name="Isosceles Triangle 5089283"/>
            <p:cNvSpPr/>
            <p:nvPr/>
          </p:nvSpPr>
          <p:spPr>
            <a:xfrm rot="6913568">
              <a:off x="1349390" y="179351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 53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/>
          <p:cNvGrpSpPr/>
          <p:nvPr/>
        </p:nvGrpSpPr>
        <p:grpSpPr>
          <a:xfrm>
            <a:off x="7422358" y="725723"/>
            <a:ext cx="2231371" cy="1601646"/>
            <a:chOff x="595313" y="1236929"/>
            <a:chExt cx="3050564" cy="2678855"/>
          </a:xfrm>
        </p:grpSpPr>
        <p:sp>
          <p:nvSpPr>
            <p:cNvPr id="78" name="Rectangle 77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Oval 79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2" name="Straight Connector 81"/>
            <p:cNvCxnSpPr/>
            <p:nvPr/>
          </p:nvCxnSpPr>
          <p:spPr>
            <a:xfrm>
              <a:off x="595313" y="1272100"/>
              <a:ext cx="1643882" cy="87867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/>
            <p:cNvSpPr txBox="1"/>
            <p:nvPr/>
          </p:nvSpPr>
          <p:spPr>
            <a:xfrm>
              <a:off x="1326635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030189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6" name="Freeform 85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Connector 86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/>
          <p:cNvGrpSpPr/>
          <p:nvPr/>
        </p:nvGrpSpPr>
        <p:grpSpPr>
          <a:xfrm>
            <a:off x="7619307" y="2964817"/>
            <a:ext cx="2057868" cy="1601646"/>
            <a:chOff x="832513" y="1236929"/>
            <a:chExt cx="2813364" cy="2678855"/>
          </a:xfrm>
        </p:grpSpPr>
        <p:sp>
          <p:nvSpPr>
            <p:cNvPr id="89" name="Rectangle 88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reeform 89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3" name="Straight Connector 92"/>
            <p:cNvCxnSpPr/>
            <p:nvPr/>
          </p:nvCxnSpPr>
          <p:spPr>
            <a:xfrm>
              <a:off x="832513" y="1380539"/>
              <a:ext cx="1397986" cy="698317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extBox 93"/>
            <p:cNvSpPr txBox="1"/>
            <p:nvPr/>
          </p:nvSpPr>
          <p:spPr>
            <a:xfrm>
              <a:off x="1326635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3030189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7" name="Freeform 96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/>
          <p:cNvGrpSpPr/>
          <p:nvPr/>
        </p:nvGrpSpPr>
        <p:grpSpPr>
          <a:xfrm>
            <a:off x="7631031" y="5016343"/>
            <a:ext cx="2057868" cy="1601646"/>
            <a:chOff x="832513" y="1236929"/>
            <a:chExt cx="2813364" cy="2678855"/>
          </a:xfrm>
        </p:grpSpPr>
        <p:sp>
          <p:nvSpPr>
            <p:cNvPr id="100" name="Rectangle 99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Freeform 100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4" name="Straight Connector 103"/>
            <p:cNvCxnSpPr/>
            <p:nvPr/>
          </p:nvCxnSpPr>
          <p:spPr>
            <a:xfrm>
              <a:off x="832513" y="1434902"/>
              <a:ext cx="1345479" cy="60778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TextBox 104"/>
            <p:cNvSpPr txBox="1"/>
            <p:nvPr/>
          </p:nvSpPr>
          <p:spPr>
            <a:xfrm>
              <a:off x="1326635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030189" y="2663291"/>
              <a:ext cx="348888" cy="617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8" name="Freeform 107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9" name="Straight Connector 108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/>
          <p:cNvCxnSpPr/>
          <p:nvPr/>
        </p:nvCxnSpPr>
        <p:spPr>
          <a:xfrm flipV="1">
            <a:off x="8610952" y="1272100"/>
            <a:ext cx="1183348" cy="105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/>
          <p:nvPr/>
        </p:nvCxnSpPr>
        <p:spPr>
          <a:xfrm flipH="1">
            <a:off x="8641881" y="3178016"/>
            <a:ext cx="924150" cy="29017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>
            <a:stCxn id="4" idx="0"/>
          </p:cNvCxnSpPr>
          <p:nvPr/>
        </p:nvCxnSpPr>
        <p:spPr>
          <a:xfrm flipH="1" flipV="1">
            <a:off x="8628862" y="5498094"/>
            <a:ext cx="515138" cy="85825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86578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9144" y="98793"/>
            <a:ext cx="4583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223.15.12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138241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75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7033846" y="125436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33847" y="34113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33848" y="5498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2346547" y="1236930"/>
            <a:ext cx="2884869" cy="2643685"/>
            <a:chOff x="822546" y="1236929"/>
            <a:chExt cx="2884869" cy="2643685"/>
          </a:xfrm>
        </p:grpSpPr>
        <p:sp>
          <p:nvSpPr>
            <p:cNvPr id="46" name="Freeform 45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>
              <a:stCxn id="3" idx="2"/>
            </p:cNvCxnSpPr>
            <p:nvPr/>
          </p:nvCxnSpPr>
          <p:spPr>
            <a:xfrm>
              <a:off x="1523940" y="1960521"/>
              <a:ext cx="762147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822546" y="2663291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452217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" name="Down Arrow 2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7481254" y="147402"/>
            <a:ext cx="2467144" cy="2126821"/>
            <a:chOff x="822546" y="1236929"/>
            <a:chExt cx="2933063" cy="2643685"/>
          </a:xfrm>
        </p:grpSpPr>
        <p:sp>
          <p:nvSpPr>
            <p:cNvPr id="74" name="Freeform 7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" name="Straight Connector 7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Straight Connector 77"/>
            <p:cNvCxnSpPr>
              <a:stCxn id="81" idx="2"/>
            </p:cNvCxnSpPr>
            <p:nvPr/>
          </p:nvCxnSpPr>
          <p:spPr>
            <a:xfrm>
              <a:off x="1523940" y="1960521"/>
              <a:ext cx="762147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822546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452217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1" name="Down Arrow 8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Connector 81"/>
          <p:cNvCxnSpPr/>
          <p:nvPr/>
        </p:nvCxnSpPr>
        <p:spPr>
          <a:xfrm>
            <a:off x="8712311" y="729525"/>
            <a:ext cx="1652866" cy="70277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7460494" y="2425011"/>
            <a:ext cx="2467144" cy="2126821"/>
            <a:chOff x="822546" y="1236929"/>
            <a:chExt cx="2933063" cy="2643685"/>
          </a:xfrm>
        </p:grpSpPr>
        <p:sp>
          <p:nvSpPr>
            <p:cNvPr id="94" name="Freeform 9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Connector 9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Oval 9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>
              <a:stCxn id="101" idx="2"/>
            </p:cNvCxnSpPr>
            <p:nvPr/>
          </p:nvCxnSpPr>
          <p:spPr>
            <a:xfrm>
              <a:off x="1523940" y="1960521"/>
              <a:ext cx="762147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/>
            <p:cNvSpPr txBox="1"/>
            <p:nvPr/>
          </p:nvSpPr>
          <p:spPr>
            <a:xfrm>
              <a:off x="822546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452217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1" name="Down Arrow 10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2" name="Straight Connector 101"/>
          <p:cNvCxnSpPr/>
          <p:nvPr/>
        </p:nvCxnSpPr>
        <p:spPr>
          <a:xfrm>
            <a:off x="8691552" y="3007133"/>
            <a:ext cx="1214449" cy="154469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/>
          <p:cNvGrpSpPr/>
          <p:nvPr/>
        </p:nvGrpSpPr>
        <p:grpSpPr>
          <a:xfrm>
            <a:off x="7460494" y="4731180"/>
            <a:ext cx="2467144" cy="2126821"/>
            <a:chOff x="822546" y="1236929"/>
            <a:chExt cx="2933063" cy="2643685"/>
          </a:xfrm>
        </p:grpSpPr>
        <p:sp>
          <p:nvSpPr>
            <p:cNvPr id="104" name="Freeform 10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Straight Connector 10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Oval 10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Oval 10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" name="Straight Connector 107"/>
            <p:cNvCxnSpPr>
              <a:stCxn id="111" idx="2"/>
            </p:cNvCxnSpPr>
            <p:nvPr/>
          </p:nvCxnSpPr>
          <p:spPr>
            <a:xfrm>
              <a:off x="1523940" y="1960521"/>
              <a:ext cx="762147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108"/>
            <p:cNvSpPr txBox="1"/>
            <p:nvPr/>
          </p:nvSpPr>
          <p:spPr>
            <a:xfrm>
              <a:off x="822546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452217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1" name="Down Arrow 11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12" name="Straight Connector 111"/>
          <p:cNvCxnSpPr/>
          <p:nvPr/>
        </p:nvCxnSpPr>
        <p:spPr>
          <a:xfrm flipV="1">
            <a:off x="8691551" y="4731180"/>
            <a:ext cx="1041052" cy="58212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9183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9144" y="98793"/>
            <a:ext cx="4583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223.15.13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138241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76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7033846" y="125436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33847" y="34113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33848" y="5498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2346547" y="1236930"/>
            <a:ext cx="2884869" cy="2643685"/>
            <a:chOff x="822546" y="1236929"/>
            <a:chExt cx="2884869" cy="2643685"/>
          </a:xfrm>
        </p:grpSpPr>
        <p:sp>
          <p:nvSpPr>
            <p:cNvPr id="46" name="Freeform 45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>
              <a:stCxn id="3" idx="2"/>
            </p:cNvCxnSpPr>
            <p:nvPr/>
          </p:nvCxnSpPr>
          <p:spPr>
            <a:xfrm>
              <a:off x="1523940" y="1960521"/>
              <a:ext cx="762147" cy="59825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822546" y="2663291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452217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" name="Down Arrow 2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7481254" y="147402"/>
            <a:ext cx="2467144" cy="2126821"/>
            <a:chOff x="822546" y="1236929"/>
            <a:chExt cx="2933063" cy="2643685"/>
          </a:xfrm>
        </p:grpSpPr>
        <p:sp>
          <p:nvSpPr>
            <p:cNvPr id="74" name="Freeform 7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" name="Straight Connector 7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Straight Connector 77"/>
            <p:cNvCxnSpPr>
              <a:stCxn id="81" idx="2"/>
            </p:cNvCxnSpPr>
            <p:nvPr/>
          </p:nvCxnSpPr>
          <p:spPr>
            <a:xfrm>
              <a:off x="1523940" y="1960521"/>
              <a:ext cx="737467" cy="59825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822546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452217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1" name="Down Arrow 8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Connector 81"/>
          <p:cNvCxnSpPr/>
          <p:nvPr/>
        </p:nvCxnSpPr>
        <p:spPr>
          <a:xfrm>
            <a:off x="8712312" y="1210811"/>
            <a:ext cx="1498489" cy="2611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7460494" y="2425011"/>
            <a:ext cx="2467144" cy="2126821"/>
            <a:chOff x="822546" y="1236929"/>
            <a:chExt cx="2933063" cy="2643685"/>
          </a:xfrm>
        </p:grpSpPr>
        <p:sp>
          <p:nvSpPr>
            <p:cNvPr id="94" name="Freeform 9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Connector 9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Oval 9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>
              <a:stCxn id="101" idx="2"/>
            </p:cNvCxnSpPr>
            <p:nvPr/>
          </p:nvCxnSpPr>
          <p:spPr>
            <a:xfrm>
              <a:off x="1523940" y="1960521"/>
              <a:ext cx="786828" cy="59825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/>
            <p:cNvSpPr txBox="1"/>
            <p:nvPr/>
          </p:nvSpPr>
          <p:spPr>
            <a:xfrm>
              <a:off x="822546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452217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1" name="Down Arrow 10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2" name="Straight Connector 101"/>
          <p:cNvCxnSpPr/>
          <p:nvPr/>
        </p:nvCxnSpPr>
        <p:spPr>
          <a:xfrm flipV="1">
            <a:off x="8712311" y="2856986"/>
            <a:ext cx="1020292" cy="63143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/>
          <p:cNvGrpSpPr/>
          <p:nvPr/>
        </p:nvGrpSpPr>
        <p:grpSpPr>
          <a:xfrm>
            <a:off x="7460494" y="4731180"/>
            <a:ext cx="2467144" cy="2126821"/>
            <a:chOff x="822546" y="1236929"/>
            <a:chExt cx="2933063" cy="2643685"/>
          </a:xfrm>
        </p:grpSpPr>
        <p:sp>
          <p:nvSpPr>
            <p:cNvPr id="104" name="Freeform 10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Straight Connector 10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Oval 10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Oval 10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" name="Straight Connector 107"/>
            <p:cNvCxnSpPr>
              <a:stCxn id="111" idx="2"/>
            </p:cNvCxnSpPr>
            <p:nvPr/>
          </p:nvCxnSpPr>
          <p:spPr>
            <a:xfrm>
              <a:off x="1523940" y="1960521"/>
              <a:ext cx="1677566" cy="1337212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108"/>
            <p:cNvSpPr txBox="1"/>
            <p:nvPr/>
          </p:nvSpPr>
          <p:spPr>
            <a:xfrm>
              <a:off x="822546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452217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1" name="Down Arrow 11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29994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9144" y="98793"/>
            <a:ext cx="4583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223.15.13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1972413" y="4138241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77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7033846" y="125436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33847" y="34113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33848" y="5498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2346547" y="1236930"/>
            <a:ext cx="2884869" cy="2643685"/>
            <a:chOff x="822546" y="1236929"/>
            <a:chExt cx="2884869" cy="2643685"/>
          </a:xfrm>
        </p:grpSpPr>
        <p:sp>
          <p:nvSpPr>
            <p:cNvPr id="46" name="Freeform 45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>
              <a:stCxn id="3" idx="2"/>
            </p:cNvCxnSpPr>
            <p:nvPr/>
          </p:nvCxnSpPr>
          <p:spPr>
            <a:xfrm flipV="1">
              <a:off x="1523940" y="1294897"/>
              <a:ext cx="762147" cy="665624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822546" y="2663291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452217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" name="Down Arrow 2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7481254" y="147402"/>
            <a:ext cx="2467144" cy="2126821"/>
            <a:chOff x="822546" y="1236929"/>
            <a:chExt cx="2933063" cy="2643685"/>
          </a:xfrm>
        </p:grpSpPr>
        <p:sp>
          <p:nvSpPr>
            <p:cNvPr id="74" name="Freeform 7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" name="Straight Connector 7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Straight Connector 77"/>
            <p:cNvCxnSpPr>
              <a:stCxn id="81" idx="2"/>
              <a:endCxn id="74" idx="0"/>
            </p:cNvCxnSpPr>
            <p:nvPr/>
          </p:nvCxnSpPr>
          <p:spPr>
            <a:xfrm flipV="1">
              <a:off x="1523940" y="1236929"/>
              <a:ext cx="769159" cy="723592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822546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452217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1" name="Down Arrow 8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Connector 81"/>
          <p:cNvCxnSpPr/>
          <p:nvPr/>
        </p:nvCxnSpPr>
        <p:spPr>
          <a:xfrm>
            <a:off x="8697450" y="147401"/>
            <a:ext cx="149848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7460494" y="2425011"/>
            <a:ext cx="2467144" cy="2126821"/>
            <a:chOff x="822546" y="1236929"/>
            <a:chExt cx="2933063" cy="2643685"/>
          </a:xfrm>
        </p:grpSpPr>
        <p:sp>
          <p:nvSpPr>
            <p:cNvPr id="94" name="Freeform 9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Connector 9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Oval 9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>
              <a:stCxn id="101" idx="2"/>
              <a:endCxn id="94" idx="0"/>
            </p:cNvCxnSpPr>
            <p:nvPr/>
          </p:nvCxnSpPr>
          <p:spPr>
            <a:xfrm flipV="1">
              <a:off x="1523940" y="1236929"/>
              <a:ext cx="769159" cy="723592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/>
            <p:cNvSpPr txBox="1"/>
            <p:nvPr/>
          </p:nvSpPr>
          <p:spPr>
            <a:xfrm>
              <a:off x="822546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452217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1" name="Down Arrow 10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2" name="Straight Connector 101"/>
          <p:cNvCxnSpPr/>
          <p:nvPr/>
        </p:nvCxnSpPr>
        <p:spPr>
          <a:xfrm>
            <a:off x="8712311" y="2425011"/>
            <a:ext cx="1334366" cy="130332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/>
          <p:cNvGrpSpPr/>
          <p:nvPr/>
        </p:nvGrpSpPr>
        <p:grpSpPr>
          <a:xfrm>
            <a:off x="7460494" y="4731180"/>
            <a:ext cx="2467144" cy="2126821"/>
            <a:chOff x="822546" y="1236929"/>
            <a:chExt cx="2933063" cy="2643685"/>
          </a:xfrm>
        </p:grpSpPr>
        <p:sp>
          <p:nvSpPr>
            <p:cNvPr id="104" name="Freeform 10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Straight Connector 10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Oval 10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Oval 10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" name="Straight Connector 107"/>
            <p:cNvCxnSpPr>
              <a:stCxn id="111" idx="2"/>
              <a:endCxn id="104" idx="0"/>
            </p:cNvCxnSpPr>
            <p:nvPr/>
          </p:nvCxnSpPr>
          <p:spPr>
            <a:xfrm flipV="1">
              <a:off x="1523940" y="1236929"/>
              <a:ext cx="769159" cy="723592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108"/>
            <p:cNvSpPr txBox="1"/>
            <p:nvPr/>
          </p:nvSpPr>
          <p:spPr>
            <a:xfrm>
              <a:off x="822546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452217" y="2663292"/>
              <a:ext cx="303392" cy="4590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1" name="Down Arrow 11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4" name="Straight Connector 53"/>
          <p:cNvCxnSpPr/>
          <p:nvPr/>
        </p:nvCxnSpPr>
        <p:spPr>
          <a:xfrm>
            <a:off x="8712312" y="4731179"/>
            <a:ext cx="537197" cy="145914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404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9144" y="98793"/>
            <a:ext cx="4583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223.15.14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216167" y="1232828"/>
            <a:ext cx="4038600" cy="24920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Three rays leave a glowing object and pass through a lens as shown. After passing through the lens, where do they meet?</a:t>
            </a:r>
          </a:p>
          <a:p>
            <a:pPr marL="514350" indent="-514350">
              <a:buAutoNum type="alphaLcParenR"/>
            </a:pPr>
            <a:r>
              <a:rPr lang="en-US" dirty="0"/>
              <a:t>At f</a:t>
            </a:r>
          </a:p>
          <a:p>
            <a:pPr marL="514350" indent="-514350">
              <a:buAutoNum type="alphaLcParenR"/>
            </a:pPr>
            <a:r>
              <a:rPr lang="en-US" dirty="0"/>
              <a:t>At the center of the lens</a:t>
            </a:r>
          </a:p>
          <a:p>
            <a:pPr marL="514350" indent="-514350">
              <a:buAutoNum type="alphaLcParenR"/>
            </a:pPr>
            <a:r>
              <a:rPr lang="en-US" dirty="0"/>
              <a:t>This is silly, they don’t meet anywhere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2346547" y="1236930"/>
            <a:ext cx="2884869" cy="2643685"/>
            <a:chOff x="822546" y="1236929"/>
            <a:chExt cx="2884869" cy="2643685"/>
          </a:xfrm>
        </p:grpSpPr>
        <p:sp>
          <p:nvSpPr>
            <p:cNvPr id="46" name="Freeform 45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>
              <a:stCxn id="3" idx="2"/>
            </p:cNvCxnSpPr>
            <p:nvPr/>
          </p:nvCxnSpPr>
          <p:spPr>
            <a:xfrm flipV="1">
              <a:off x="1523940" y="1294897"/>
              <a:ext cx="762147" cy="665624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822546" y="2663291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452217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" name="Down Arrow 2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Connector 81"/>
          <p:cNvCxnSpPr/>
          <p:nvPr/>
        </p:nvCxnSpPr>
        <p:spPr>
          <a:xfrm>
            <a:off x="3810088" y="1301621"/>
            <a:ext cx="149848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3" idx="2"/>
          </p:cNvCxnSpPr>
          <p:nvPr/>
        </p:nvCxnSpPr>
        <p:spPr>
          <a:xfrm>
            <a:off x="3047940" y="1960521"/>
            <a:ext cx="2054770" cy="163554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>
            <a:off x="3810087" y="1960521"/>
            <a:ext cx="1863882" cy="89646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3060843" y="1941289"/>
            <a:ext cx="749245" cy="1923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325331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9144" y="98793"/>
            <a:ext cx="4583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223.15.15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216167" y="1232828"/>
            <a:ext cx="4038600" cy="24920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Three rays leave a glowing object and pass through a lens as shown. After passing through the lens, where does our brain think they meet?</a:t>
            </a:r>
          </a:p>
          <a:p>
            <a:pPr marL="514350" indent="-514350">
              <a:buAutoNum type="alphaLcParenR"/>
            </a:pPr>
            <a:r>
              <a:rPr lang="en-US" dirty="0"/>
              <a:t>At f</a:t>
            </a:r>
          </a:p>
          <a:p>
            <a:pPr marL="514350" indent="-514350">
              <a:buAutoNum type="alphaLcParenR"/>
            </a:pPr>
            <a:r>
              <a:rPr lang="en-US" dirty="0"/>
              <a:t>At the center of the lens</a:t>
            </a:r>
          </a:p>
          <a:p>
            <a:pPr marL="514350" indent="-514350">
              <a:buAutoNum type="alphaLcParenR"/>
            </a:pPr>
            <a:r>
              <a:rPr lang="en-US" dirty="0"/>
              <a:t>Somewhere behind the lens off to the left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2346547" y="1236930"/>
            <a:ext cx="2884869" cy="2643685"/>
            <a:chOff x="822546" y="1236929"/>
            <a:chExt cx="2884869" cy="2643685"/>
          </a:xfrm>
        </p:grpSpPr>
        <p:sp>
          <p:nvSpPr>
            <p:cNvPr id="46" name="Freeform 45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>
              <a:stCxn id="3" idx="2"/>
            </p:cNvCxnSpPr>
            <p:nvPr/>
          </p:nvCxnSpPr>
          <p:spPr>
            <a:xfrm flipV="1">
              <a:off x="1523940" y="1294897"/>
              <a:ext cx="762147" cy="665624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822546" y="2663291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452217" y="2663292"/>
              <a:ext cx="2551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" name="Down Arrow 2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Connector 81"/>
          <p:cNvCxnSpPr/>
          <p:nvPr/>
        </p:nvCxnSpPr>
        <p:spPr>
          <a:xfrm>
            <a:off x="3810088" y="1301621"/>
            <a:ext cx="149848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3" idx="2"/>
          </p:cNvCxnSpPr>
          <p:nvPr/>
        </p:nvCxnSpPr>
        <p:spPr>
          <a:xfrm>
            <a:off x="3047940" y="1960521"/>
            <a:ext cx="2054770" cy="163554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>
            <a:off x="3810087" y="1960521"/>
            <a:ext cx="1863882" cy="89646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3060843" y="1941289"/>
            <a:ext cx="749245" cy="1923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7076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25040" y="889496"/>
            <a:ext cx="7982719" cy="5236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85238169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53629" y="530544"/>
            <a:ext cx="7635821" cy="5138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54603610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38839" y="3090864"/>
            <a:ext cx="277580" cy="5972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37760" y="1964056"/>
            <a:ext cx="1774508" cy="3324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10003852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Date Placeholder 4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Fall 2007</a:t>
            </a:r>
          </a:p>
        </p:txBody>
      </p:sp>
      <p:sp>
        <p:nvSpPr>
          <p:cNvPr id="74755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R. Todd Lines</a:t>
            </a:r>
          </a:p>
        </p:txBody>
      </p:sp>
      <p:sp>
        <p:nvSpPr>
          <p:cNvPr id="74756" name="Rectangle 2"/>
          <p:cNvSpPr>
            <a:spLocks noGrp="1" noChangeArrowheads="1"/>
          </p:cNvSpPr>
          <p:nvPr>
            <p:ph type="title"/>
          </p:nvPr>
        </p:nvSpPr>
        <p:spPr>
          <a:xfrm>
            <a:off x="3124200" y="0"/>
            <a:ext cx="7543800" cy="1143000"/>
          </a:xfrm>
        </p:spPr>
        <p:txBody>
          <a:bodyPr/>
          <a:lstStyle/>
          <a:p>
            <a:pPr eaLnBrk="1" hangingPunct="1"/>
            <a:r>
              <a:rPr lang="en-US" sz="3200"/>
              <a:t>Ray Diagram for Converging Lens, </a:t>
            </a:r>
            <a:r>
              <a:rPr lang="en-US" sz="3200" i="1"/>
              <a:t>p</a:t>
            </a:r>
            <a:r>
              <a:rPr lang="en-US" sz="3200"/>
              <a:t> &lt; </a:t>
            </a:r>
            <a:r>
              <a:rPr lang="en-US" sz="3200" i="1"/>
              <a:t>f</a:t>
            </a:r>
          </a:p>
        </p:txBody>
      </p:sp>
      <p:pic>
        <p:nvPicPr>
          <p:cNvPr id="6297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37467" y="1748703"/>
            <a:ext cx="7011193" cy="4559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4757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1761067" y="4842933"/>
            <a:ext cx="7772400" cy="1143000"/>
          </a:xfrm>
        </p:spPr>
        <p:txBody>
          <a:bodyPr>
            <a:normAutofit fontScale="6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virtual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upright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larger than the object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on the front side of the lens</a:t>
            </a:r>
          </a:p>
        </p:txBody>
      </p:sp>
    </p:spTree>
    <p:extLst>
      <p:ext uri="{BB962C8B-B14F-4D97-AF65-F5344CB8AC3E}">
        <p14:creationId xmlns:p14="http://schemas.microsoft.com/office/powerpoint/2010/main" val="163497397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Fall 2007</a:t>
            </a:r>
          </a:p>
        </p:txBody>
      </p:sp>
      <p:sp>
        <p:nvSpPr>
          <p:cNvPr id="7577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R. Todd Lines</a:t>
            </a:r>
          </a:p>
        </p:txBody>
      </p:sp>
      <p:sp>
        <p:nvSpPr>
          <p:cNvPr id="75780" name="Rectangle 2"/>
          <p:cNvSpPr>
            <a:spLocks noGrp="1" noChangeArrowheads="1"/>
          </p:cNvSpPr>
          <p:nvPr>
            <p:ph type="title"/>
          </p:nvPr>
        </p:nvSpPr>
        <p:spPr>
          <a:xfrm>
            <a:off x="2703514" y="0"/>
            <a:ext cx="7964487" cy="1143000"/>
          </a:xfrm>
        </p:spPr>
        <p:txBody>
          <a:bodyPr/>
          <a:lstStyle/>
          <a:p>
            <a:pPr eaLnBrk="1" hangingPunct="1"/>
            <a:r>
              <a:rPr lang="en-US" sz="3200"/>
              <a:t>Ray Diagrams for Thin Lenses – Diverging </a:t>
            </a:r>
          </a:p>
        </p:txBody>
      </p:sp>
      <p:sp>
        <p:nvSpPr>
          <p:cNvPr id="7578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600"/>
              <a:t>For a diverging lens, the following three rays are drawn:</a:t>
            </a:r>
          </a:p>
          <a:p>
            <a:pPr lvl="1" eaLnBrk="1" hangingPunct="1"/>
            <a:r>
              <a:rPr lang="en-US" sz="2200"/>
              <a:t>Ray 1 is drawn parallel to the principal axis and emerges directed away from the focal point on the front side of the lens</a:t>
            </a:r>
          </a:p>
          <a:p>
            <a:pPr lvl="1" eaLnBrk="1" hangingPunct="1"/>
            <a:r>
              <a:rPr lang="en-US" sz="2200"/>
              <a:t>Ray 2 is drawn through the center of the lens and continues in a straight line</a:t>
            </a:r>
          </a:p>
          <a:p>
            <a:pPr lvl="1" eaLnBrk="1" hangingPunct="1"/>
            <a:r>
              <a:rPr lang="en-US" sz="2200"/>
              <a:t>Ray 3 is drawn in the direction toward the focal point on the back side of the lens and emerges from the lens parallel to the principal axis</a:t>
            </a:r>
          </a:p>
        </p:txBody>
      </p:sp>
    </p:spTree>
    <p:extLst>
      <p:ext uri="{BB962C8B-B14F-4D97-AF65-F5344CB8AC3E}">
        <p14:creationId xmlns:p14="http://schemas.microsoft.com/office/powerpoint/2010/main" val="274288874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Date Placeholder 4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Fall 2007</a:t>
            </a:r>
          </a:p>
        </p:txBody>
      </p:sp>
      <p:sp>
        <p:nvSpPr>
          <p:cNvPr id="76803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R. Todd Lines</a:t>
            </a:r>
          </a:p>
        </p:txBody>
      </p:sp>
      <p:sp>
        <p:nvSpPr>
          <p:cNvPr id="76804" name="Rectangle 2"/>
          <p:cNvSpPr>
            <a:spLocks noGrp="1" noChangeArrowheads="1"/>
          </p:cNvSpPr>
          <p:nvPr>
            <p:ph type="title"/>
          </p:nvPr>
        </p:nvSpPr>
        <p:spPr>
          <a:xfrm>
            <a:off x="2703514" y="0"/>
            <a:ext cx="7964487" cy="1143000"/>
          </a:xfrm>
        </p:spPr>
        <p:txBody>
          <a:bodyPr/>
          <a:lstStyle/>
          <a:p>
            <a:pPr eaLnBrk="1" hangingPunct="1"/>
            <a:r>
              <a:rPr lang="en-US"/>
              <a:t>Ray Diagram for Diverging Lens</a:t>
            </a:r>
          </a:p>
        </p:txBody>
      </p:sp>
      <p:pic>
        <p:nvPicPr>
          <p:cNvPr id="6277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09370" y="1667405"/>
            <a:ext cx="6912973" cy="36327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6805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209800" y="4648200"/>
            <a:ext cx="7772400" cy="1143000"/>
          </a:xfrm>
        </p:spPr>
        <p:txBody>
          <a:bodyPr>
            <a:normAutofit fontScale="6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virtual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upright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smaller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on the front side of the lens</a:t>
            </a:r>
          </a:p>
        </p:txBody>
      </p:sp>
    </p:spTree>
    <p:extLst>
      <p:ext uri="{BB962C8B-B14F-4D97-AF65-F5344CB8AC3E}">
        <p14:creationId xmlns:p14="http://schemas.microsoft.com/office/powerpoint/2010/main" val="243383842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180429" y="3244334"/>
            <a:ext cx="1831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	[Figure]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8820" y="1906250"/>
            <a:ext cx="5029200" cy="3200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/>
          <p:cNvSpPr/>
          <p:nvPr/>
        </p:nvSpPr>
        <p:spPr>
          <a:xfrm flipH="1">
            <a:off x="5029200" y="762000"/>
            <a:ext cx="5562600" cy="5410200"/>
          </a:xfrm>
          <a:prstGeom prst="arc">
            <a:avLst>
              <a:gd name="adj1" fmla="val 19491412"/>
              <a:gd name="adj2" fmla="val 2196565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rot="10800000" flipH="1">
            <a:off x="1776250" y="3505200"/>
            <a:ext cx="8891751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30"/>
          <p:cNvGrpSpPr/>
          <p:nvPr/>
        </p:nvGrpSpPr>
        <p:grpSpPr>
          <a:xfrm>
            <a:off x="1905001" y="2362201"/>
            <a:ext cx="7848601" cy="1143001"/>
            <a:chOff x="381000" y="2362200"/>
            <a:chExt cx="7848601" cy="1143001"/>
          </a:xfrm>
        </p:grpSpPr>
        <p:cxnSp>
          <p:nvCxnSpPr>
            <p:cNvPr id="9" name="Straight Connector 8"/>
            <p:cNvCxnSpPr/>
            <p:nvPr/>
          </p:nvCxnSpPr>
          <p:spPr>
            <a:xfrm flipV="1">
              <a:off x="457200" y="2362200"/>
              <a:ext cx="3352800" cy="11430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10800000">
              <a:off x="3810000" y="2362200"/>
              <a:ext cx="4419600" cy="11430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rot="5400000" flipH="1" flipV="1">
              <a:off x="1657350" y="1543050"/>
              <a:ext cx="685800" cy="32385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rot="10800000">
              <a:off x="3581402" y="2819402"/>
              <a:ext cx="4648199" cy="685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457200" y="3200400"/>
              <a:ext cx="3048000" cy="304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rot="10800000">
              <a:off x="3505202" y="3200402"/>
              <a:ext cx="4724399" cy="304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31"/>
          <p:cNvGrpSpPr/>
          <p:nvPr/>
        </p:nvGrpSpPr>
        <p:grpSpPr>
          <a:xfrm flipV="1">
            <a:off x="1933434" y="3502508"/>
            <a:ext cx="7923664" cy="1397039"/>
            <a:chOff x="381000" y="2341004"/>
            <a:chExt cx="7848601" cy="1164201"/>
          </a:xfrm>
        </p:grpSpPr>
        <p:cxnSp>
          <p:nvCxnSpPr>
            <p:cNvPr id="33" name="Straight Connector 32"/>
            <p:cNvCxnSpPr/>
            <p:nvPr/>
          </p:nvCxnSpPr>
          <p:spPr>
            <a:xfrm flipV="1">
              <a:off x="470719" y="2341004"/>
              <a:ext cx="3398046" cy="113007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10" idx="2"/>
            </p:cNvCxnSpPr>
            <p:nvPr/>
          </p:nvCxnSpPr>
          <p:spPr>
            <a:xfrm flipH="1" flipV="1">
              <a:off x="3841728" y="2352377"/>
              <a:ext cx="4285355" cy="1130207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rot="5400000" flipH="1" flipV="1">
              <a:off x="1657349" y="1543053"/>
              <a:ext cx="685801" cy="32385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rot="10800000">
              <a:off x="3581401" y="2819405"/>
              <a:ext cx="4648199" cy="685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 flipV="1">
              <a:off x="457200" y="3200402"/>
              <a:ext cx="3048000" cy="304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 rot="10800000">
              <a:off x="3505202" y="3200402"/>
              <a:ext cx="4724399" cy="304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/>
          <p:cNvSpPr/>
          <p:nvPr/>
        </p:nvSpPr>
        <p:spPr>
          <a:xfrm>
            <a:off x="1966210" y="347522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753600" y="3491552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703883" y="2758190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Object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6454" y="3690080"/>
            <a:ext cx="1451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Convergence Point</a:t>
            </a:r>
          </a:p>
        </p:txBody>
      </p:sp>
    </p:spTree>
    <p:extLst>
      <p:ext uri="{BB962C8B-B14F-4D97-AF65-F5344CB8AC3E}">
        <p14:creationId xmlns:p14="http://schemas.microsoft.com/office/powerpoint/2010/main" val="407410629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5124736" y="1916376"/>
            <a:ext cx="3177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en-US" baseline="-25000" dirty="0"/>
          </a:p>
        </p:txBody>
      </p:sp>
      <p:sp>
        <p:nvSpPr>
          <p:cNvPr id="52" name="Rectangle 51"/>
          <p:cNvSpPr/>
          <p:nvPr/>
        </p:nvSpPr>
        <p:spPr>
          <a:xfrm>
            <a:off x="5611504" y="1899312"/>
            <a:ext cx="5029200" cy="3200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Arc 38"/>
          <p:cNvSpPr/>
          <p:nvPr/>
        </p:nvSpPr>
        <p:spPr>
          <a:xfrm flipH="1">
            <a:off x="5097440" y="762000"/>
            <a:ext cx="5562600" cy="5410200"/>
          </a:xfrm>
          <a:prstGeom prst="arc">
            <a:avLst>
              <a:gd name="adj1" fmla="val 19491412"/>
              <a:gd name="adj2" fmla="val 2196565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905000" y="4648200"/>
            <a:ext cx="3124200" cy="1588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5029200" y="4114800"/>
            <a:ext cx="2819400" cy="1588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5029200" y="4648200"/>
            <a:ext cx="4800600" cy="1588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rot="5400000">
            <a:off x="1333500" y="4457700"/>
            <a:ext cx="1143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rot="5400000">
            <a:off x="4458494" y="4152106"/>
            <a:ext cx="1143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rot="5400000">
            <a:off x="9259094" y="4533106"/>
            <a:ext cx="1143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rot="5400000">
            <a:off x="7581900" y="4229100"/>
            <a:ext cx="6858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rot="5400000">
            <a:off x="4790590" y="2932906"/>
            <a:ext cx="1143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816100" y="340360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7010400" y="4432301"/>
            <a:ext cx="381836" cy="4616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s’</a:t>
            </a:r>
            <a:endParaRPr lang="en-US" sz="2400" baseline="-25000" dirty="0"/>
          </a:p>
        </p:txBody>
      </p:sp>
      <p:sp>
        <p:nvSpPr>
          <p:cNvPr id="26" name="TextBox 25"/>
          <p:cNvSpPr txBox="1"/>
          <p:nvPr/>
        </p:nvSpPr>
        <p:spPr>
          <a:xfrm>
            <a:off x="3352800" y="4432301"/>
            <a:ext cx="30489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s</a:t>
            </a:r>
            <a:endParaRPr lang="en-US" sz="2400" baseline="-25000" dirty="0"/>
          </a:p>
        </p:txBody>
      </p:sp>
      <p:sp>
        <p:nvSpPr>
          <p:cNvPr id="27" name="TextBox 26"/>
          <p:cNvSpPr txBox="1"/>
          <p:nvPr/>
        </p:nvSpPr>
        <p:spPr>
          <a:xfrm>
            <a:off x="6324600" y="3886200"/>
            <a:ext cx="30970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  <a:endParaRPr lang="en-US" baseline="-25000" dirty="0"/>
          </a:p>
        </p:txBody>
      </p:sp>
      <p:cxnSp>
        <p:nvCxnSpPr>
          <p:cNvPr id="29" name="Straight Connector 28"/>
          <p:cNvCxnSpPr>
            <a:stCxn id="23" idx="6"/>
          </p:cNvCxnSpPr>
          <p:nvPr/>
        </p:nvCxnSpPr>
        <p:spPr>
          <a:xfrm flipV="1">
            <a:off x="1892300" y="2336802"/>
            <a:ext cx="3429000" cy="1104899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9753600" y="342900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267200" y="2133600"/>
            <a:ext cx="38343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1</a:t>
            </a:r>
            <a:endParaRPr lang="en-US" baseline="-25000" dirty="0"/>
          </a:p>
        </p:txBody>
      </p:sp>
      <p:sp>
        <p:nvSpPr>
          <p:cNvPr id="35" name="TextBox 34"/>
          <p:cNvSpPr txBox="1"/>
          <p:nvPr/>
        </p:nvSpPr>
        <p:spPr>
          <a:xfrm>
            <a:off x="5410200" y="2895600"/>
            <a:ext cx="30970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endParaRPr lang="en-US" baseline="-25000" dirty="0"/>
          </a:p>
        </p:txBody>
      </p:sp>
      <p:cxnSp>
        <p:nvCxnSpPr>
          <p:cNvPr id="37" name="Straight Connector 36"/>
          <p:cNvCxnSpPr>
            <a:endCxn id="24" idx="1"/>
          </p:cNvCxnSpPr>
          <p:nvPr/>
        </p:nvCxnSpPr>
        <p:spPr>
          <a:xfrm>
            <a:off x="3886201" y="1676401"/>
            <a:ext cx="3973559" cy="17637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Arc 39"/>
          <p:cNvSpPr/>
          <p:nvPr/>
        </p:nvSpPr>
        <p:spPr>
          <a:xfrm rot="18949663" flipV="1">
            <a:off x="2592586" y="3042034"/>
            <a:ext cx="457200" cy="533400"/>
          </a:xfrm>
          <a:prstGeom prst="arc">
            <a:avLst>
              <a:gd name="adj1" fmla="val 16937127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4800600" y="2590800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</a:t>
            </a:r>
            <a:endParaRPr lang="en-US" dirty="0"/>
          </a:p>
        </p:txBody>
      </p:sp>
      <p:sp>
        <p:nvSpPr>
          <p:cNvPr id="42" name="TextBox 41"/>
          <p:cNvSpPr txBox="1"/>
          <p:nvPr/>
        </p:nvSpPr>
        <p:spPr>
          <a:xfrm>
            <a:off x="6449008" y="2085392"/>
            <a:ext cx="38343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2</a:t>
            </a:r>
            <a:endParaRPr lang="en-US" baseline="-25000" dirty="0"/>
          </a:p>
        </p:txBody>
      </p:sp>
      <p:sp>
        <p:nvSpPr>
          <p:cNvPr id="43" name="Freeform 42"/>
          <p:cNvSpPr/>
          <p:nvPr/>
        </p:nvSpPr>
        <p:spPr>
          <a:xfrm>
            <a:off x="6324600" y="2362200"/>
            <a:ext cx="257332" cy="374754"/>
          </a:xfrm>
          <a:custGeom>
            <a:avLst/>
            <a:gdLst>
              <a:gd name="connsiteX0" fmla="*/ 194872 w 257332"/>
              <a:gd name="connsiteY0" fmla="*/ 0 h 374754"/>
              <a:gd name="connsiteX1" fmla="*/ 104931 w 257332"/>
              <a:gd name="connsiteY1" fmla="*/ 164892 h 374754"/>
              <a:gd name="connsiteX2" fmla="*/ 239843 w 257332"/>
              <a:gd name="connsiteY2" fmla="*/ 164892 h 374754"/>
              <a:gd name="connsiteX3" fmla="*/ 0 w 257332"/>
              <a:gd name="connsiteY3" fmla="*/ 374754 h 374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332" h="374754">
                <a:moveTo>
                  <a:pt x="194872" y="0"/>
                </a:moveTo>
                <a:cubicBezTo>
                  <a:pt x="146154" y="68705"/>
                  <a:pt x="97436" y="137410"/>
                  <a:pt x="104931" y="164892"/>
                </a:cubicBezTo>
                <a:cubicBezTo>
                  <a:pt x="112426" y="192374"/>
                  <a:pt x="257332" y="129915"/>
                  <a:pt x="239843" y="164892"/>
                </a:cubicBezTo>
                <a:cubicBezTo>
                  <a:pt x="222355" y="199869"/>
                  <a:pt x="0" y="374754"/>
                  <a:pt x="0" y="374754"/>
                </a:cubicBezTo>
              </a:path>
            </a:pathLst>
          </a:cu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6612340" y="3088943"/>
            <a:ext cx="31130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</a:t>
            </a:r>
            <a:endParaRPr lang="en-US" baseline="-25000" dirty="0"/>
          </a:p>
        </p:txBody>
      </p:sp>
      <p:sp>
        <p:nvSpPr>
          <p:cNvPr id="45" name="TextBox 44"/>
          <p:cNvSpPr txBox="1"/>
          <p:nvPr/>
        </p:nvSpPr>
        <p:spPr>
          <a:xfrm>
            <a:off x="8305800" y="3124200"/>
            <a:ext cx="27924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</a:t>
            </a:r>
            <a:endParaRPr lang="en-US" baseline="-25000" dirty="0"/>
          </a:p>
        </p:txBody>
      </p:sp>
      <p:sp>
        <p:nvSpPr>
          <p:cNvPr id="47" name="Arc 46"/>
          <p:cNvSpPr/>
          <p:nvPr/>
        </p:nvSpPr>
        <p:spPr>
          <a:xfrm>
            <a:off x="5004179" y="2181255"/>
            <a:ext cx="764275" cy="533400"/>
          </a:xfrm>
          <a:prstGeom prst="arc">
            <a:avLst>
              <a:gd name="adj1" fmla="val 690790"/>
              <a:gd name="adj2" fmla="val 1025851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124200" y="3048000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</a:t>
            </a:r>
            <a:endParaRPr lang="en-US" dirty="0"/>
          </a:p>
        </p:txBody>
      </p:sp>
      <p:sp>
        <p:nvSpPr>
          <p:cNvPr id="50" name="Arc 49"/>
          <p:cNvSpPr/>
          <p:nvPr/>
        </p:nvSpPr>
        <p:spPr>
          <a:xfrm rot="7668653" flipV="1">
            <a:off x="4712846" y="2039188"/>
            <a:ext cx="493331" cy="495896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Arc 53"/>
          <p:cNvSpPr/>
          <p:nvPr/>
        </p:nvSpPr>
        <p:spPr>
          <a:xfrm rot="18949663" flipH="1">
            <a:off x="8610328" y="3167074"/>
            <a:ext cx="426874" cy="306274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701454" y="3032354"/>
            <a:ext cx="290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endParaRPr lang="en-US" baseline="-25000" dirty="0"/>
          </a:p>
        </p:txBody>
      </p:sp>
      <p:sp>
        <p:nvSpPr>
          <p:cNvPr id="62" name="TextBox 61"/>
          <p:cNvSpPr txBox="1"/>
          <p:nvPr/>
        </p:nvSpPr>
        <p:spPr>
          <a:xfrm>
            <a:off x="9602356" y="3069091"/>
            <a:ext cx="30328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endParaRPr lang="en-US" baseline="-25000" dirty="0"/>
          </a:p>
        </p:txBody>
      </p:sp>
      <p:sp>
        <p:nvSpPr>
          <p:cNvPr id="64" name="TextBox 63"/>
          <p:cNvSpPr txBox="1"/>
          <p:nvPr/>
        </p:nvSpPr>
        <p:spPr>
          <a:xfrm>
            <a:off x="7777399" y="3481466"/>
            <a:ext cx="30809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endParaRPr lang="en-US" baseline="-25000" dirty="0"/>
          </a:p>
        </p:txBody>
      </p:sp>
      <p:cxnSp>
        <p:nvCxnSpPr>
          <p:cNvPr id="7" name="Straight Connector 6"/>
          <p:cNvCxnSpPr/>
          <p:nvPr/>
        </p:nvCxnSpPr>
        <p:spPr>
          <a:xfrm rot="10800000" flipH="1">
            <a:off x="1776250" y="3475220"/>
            <a:ext cx="8891751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848600" y="342900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>
            <a:cxnSpLocks/>
            <a:stCxn id="62" idx="2"/>
            <a:endCxn id="57" idx="6"/>
          </p:cNvCxnSpPr>
          <p:nvPr/>
        </p:nvCxnSpPr>
        <p:spPr>
          <a:xfrm flipH="1" flipV="1">
            <a:off x="5410200" y="2337748"/>
            <a:ext cx="4343800" cy="1100675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152592" y="3513945"/>
            <a:ext cx="316112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V</a:t>
            </a:r>
            <a:endParaRPr lang="en-US" baseline="-25000" dirty="0"/>
          </a:p>
        </p:txBody>
      </p:sp>
      <p:sp>
        <p:nvSpPr>
          <p:cNvPr id="70" name="Oval 69"/>
          <p:cNvSpPr/>
          <p:nvPr/>
        </p:nvSpPr>
        <p:spPr>
          <a:xfrm>
            <a:off x="5328754" y="344649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5334000" y="2299648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73876F-362E-4406-9173-108215C429F6}"/>
              </a:ext>
            </a:extLst>
          </p:cNvPr>
          <p:cNvSpPr txBox="1"/>
          <p:nvPr/>
        </p:nvSpPr>
        <p:spPr>
          <a:xfrm>
            <a:off x="7585788" y="29951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</a:t>
            </a:r>
            <a:endParaRPr lang="en-US" dirty="0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544414A4-E499-4237-B5BC-721D345FBC67}"/>
              </a:ext>
            </a:extLst>
          </p:cNvPr>
          <p:cNvSpPr/>
          <p:nvPr/>
        </p:nvSpPr>
        <p:spPr>
          <a:xfrm rot="14549021" flipV="1">
            <a:off x="7645768" y="3329925"/>
            <a:ext cx="493331" cy="495896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9103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Convention</a:t>
            </a:r>
          </a:p>
        </p:txBody>
      </p:sp>
      <p:sp>
        <p:nvSpPr>
          <p:cNvPr id="25602" name="Rectangle 2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25601" name="Object 1"/>
          <p:cNvGraphicFramePr>
            <a:graphicFrameLocks noChangeAspect="1"/>
          </p:cNvGraphicFramePr>
          <p:nvPr/>
        </p:nvGraphicFramePr>
        <p:xfrm>
          <a:off x="1524000" y="1767840"/>
          <a:ext cx="9034895" cy="3581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229100" imgH="1676400" progId="Equation.3">
                  <p:embed/>
                </p:oleObj>
              </mc:Choice>
              <mc:Fallback>
                <p:oleObj name="Equation" r:id="rId2" imgW="4229100" imgH="1676400" progId="Equation.3">
                  <p:embed/>
                  <p:pic>
                    <p:nvPicPr>
                      <p:cNvPr id="25601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1767840"/>
                        <a:ext cx="9034895" cy="3581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37876959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180429" y="3244334"/>
            <a:ext cx="1831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	[Figure]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8820" y="1906250"/>
            <a:ext cx="5029200" cy="3200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/>
          <p:cNvSpPr/>
          <p:nvPr/>
        </p:nvSpPr>
        <p:spPr>
          <a:xfrm flipH="1">
            <a:off x="5029200" y="762000"/>
            <a:ext cx="5562600" cy="5410200"/>
          </a:xfrm>
          <a:prstGeom prst="arc">
            <a:avLst>
              <a:gd name="adj1" fmla="val 19491412"/>
              <a:gd name="adj2" fmla="val 2196565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rot="10800000" flipH="1">
            <a:off x="1776250" y="3505200"/>
            <a:ext cx="8891751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30"/>
          <p:cNvGrpSpPr/>
          <p:nvPr/>
        </p:nvGrpSpPr>
        <p:grpSpPr>
          <a:xfrm>
            <a:off x="1905001" y="2362201"/>
            <a:ext cx="7848601" cy="1143001"/>
            <a:chOff x="381000" y="2362200"/>
            <a:chExt cx="7848601" cy="1143001"/>
          </a:xfrm>
        </p:grpSpPr>
        <p:cxnSp>
          <p:nvCxnSpPr>
            <p:cNvPr id="9" name="Straight Connector 8"/>
            <p:cNvCxnSpPr/>
            <p:nvPr/>
          </p:nvCxnSpPr>
          <p:spPr>
            <a:xfrm flipV="1">
              <a:off x="457200" y="2362200"/>
              <a:ext cx="3352800" cy="11430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10800000">
              <a:off x="3810000" y="2362200"/>
              <a:ext cx="4419600" cy="11430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rot="5400000" flipH="1" flipV="1">
              <a:off x="1657350" y="1543050"/>
              <a:ext cx="685800" cy="32385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rot="10800000">
              <a:off x="3581402" y="2819402"/>
              <a:ext cx="4648199" cy="685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457200" y="3200400"/>
              <a:ext cx="3048000" cy="304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rot="10800000">
              <a:off x="3505202" y="3200402"/>
              <a:ext cx="4724399" cy="304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31"/>
          <p:cNvGrpSpPr/>
          <p:nvPr/>
        </p:nvGrpSpPr>
        <p:grpSpPr>
          <a:xfrm flipV="1">
            <a:off x="1933434" y="3502508"/>
            <a:ext cx="7923664" cy="1397039"/>
            <a:chOff x="381000" y="2341004"/>
            <a:chExt cx="7848601" cy="1164201"/>
          </a:xfrm>
        </p:grpSpPr>
        <p:cxnSp>
          <p:nvCxnSpPr>
            <p:cNvPr id="33" name="Straight Connector 32"/>
            <p:cNvCxnSpPr/>
            <p:nvPr/>
          </p:nvCxnSpPr>
          <p:spPr>
            <a:xfrm flipV="1">
              <a:off x="470719" y="2341004"/>
              <a:ext cx="3398046" cy="113007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10" idx="2"/>
            </p:cNvCxnSpPr>
            <p:nvPr/>
          </p:nvCxnSpPr>
          <p:spPr>
            <a:xfrm flipH="1" flipV="1">
              <a:off x="3841728" y="2352377"/>
              <a:ext cx="4285355" cy="1130207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rot="5400000" flipH="1" flipV="1">
              <a:off x="1657349" y="1543053"/>
              <a:ext cx="685801" cy="32385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rot="10800000">
              <a:off x="3581401" y="2819405"/>
              <a:ext cx="4648199" cy="685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 flipV="1">
              <a:off x="457200" y="3200402"/>
              <a:ext cx="3048000" cy="304800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 rot="10800000">
              <a:off x="3505202" y="3200402"/>
              <a:ext cx="4724399" cy="30479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/>
          <p:cNvSpPr/>
          <p:nvPr/>
        </p:nvSpPr>
        <p:spPr>
          <a:xfrm>
            <a:off x="1966210" y="3475220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753600" y="3491552"/>
            <a:ext cx="76200" cy="76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703883" y="2758190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Object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6454" y="3690080"/>
            <a:ext cx="1451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Convergence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5200" y="1949559"/>
            <a:ext cx="8517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Front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6192" y="1949559"/>
            <a:ext cx="7681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34018357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33271" y="0"/>
            <a:ext cx="3648364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4"/>
          <p:cNvGrpSpPr/>
          <p:nvPr/>
        </p:nvGrpSpPr>
        <p:grpSpPr>
          <a:xfrm flipH="1">
            <a:off x="1663411" y="2889703"/>
            <a:ext cx="946760" cy="681885"/>
            <a:chOff x="1653309" y="1182255"/>
            <a:chExt cx="914400" cy="508000"/>
          </a:xfrm>
        </p:grpSpPr>
        <p:sp>
          <p:nvSpPr>
            <p:cNvPr id="6" name="Oval 5"/>
            <p:cNvSpPr/>
            <p:nvPr/>
          </p:nvSpPr>
          <p:spPr>
            <a:xfrm>
              <a:off x="1662545" y="1191491"/>
              <a:ext cx="544946" cy="397164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 6"/>
            <p:cNvSpPr/>
            <p:nvPr/>
          </p:nvSpPr>
          <p:spPr>
            <a:xfrm>
              <a:off x="2087418" y="1182255"/>
              <a:ext cx="480291" cy="406400"/>
            </a:xfrm>
            <a:custGeom>
              <a:avLst/>
              <a:gdLst>
                <a:gd name="connsiteX0" fmla="*/ 83127 w 480291"/>
                <a:gd name="connsiteY0" fmla="*/ 110836 h 406400"/>
                <a:gd name="connsiteX1" fmla="*/ 230909 w 480291"/>
                <a:gd name="connsiteY1" fmla="*/ 92363 h 406400"/>
                <a:gd name="connsiteX2" fmla="*/ 480291 w 480291"/>
                <a:gd name="connsiteY2" fmla="*/ 0 h 406400"/>
                <a:gd name="connsiteX3" fmla="*/ 314037 w 480291"/>
                <a:gd name="connsiteY3" fmla="*/ 157018 h 406400"/>
                <a:gd name="connsiteX4" fmla="*/ 277091 w 480291"/>
                <a:gd name="connsiteY4" fmla="*/ 277090 h 406400"/>
                <a:gd name="connsiteX5" fmla="*/ 387927 w 480291"/>
                <a:gd name="connsiteY5" fmla="*/ 406400 h 406400"/>
                <a:gd name="connsiteX6" fmla="*/ 129309 w 480291"/>
                <a:gd name="connsiteY6" fmla="*/ 304800 h 406400"/>
                <a:gd name="connsiteX7" fmla="*/ 129309 w 480291"/>
                <a:gd name="connsiteY7" fmla="*/ 304800 h 406400"/>
                <a:gd name="connsiteX8" fmla="*/ 0 w 480291"/>
                <a:gd name="connsiteY8" fmla="*/ 277090 h 406400"/>
                <a:gd name="connsiteX9" fmla="*/ 9237 w 480291"/>
                <a:gd name="connsiteY9" fmla="*/ 110836 h 406400"/>
                <a:gd name="connsiteX10" fmla="*/ 83127 w 480291"/>
                <a:gd name="connsiteY10" fmla="*/ 110836 h 406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0291" h="406400">
                  <a:moveTo>
                    <a:pt x="83127" y="110836"/>
                  </a:moveTo>
                  <a:lnTo>
                    <a:pt x="230909" y="92363"/>
                  </a:lnTo>
                  <a:lnTo>
                    <a:pt x="480291" y="0"/>
                  </a:lnTo>
                  <a:lnTo>
                    <a:pt x="314037" y="157018"/>
                  </a:lnTo>
                  <a:lnTo>
                    <a:pt x="277091" y="277090"/>
                  </a:lnTo>
                  <a:lnTo>
                    <a:pt x="387927" y="406400"/>
                  </a:lnTo>
                  <a:lnTo>
                    <a:pt x="129309" y="304800"/>
                  </a:lnTo>
                  <a:lnTo>
                    <a:pt x="129309" y="304800"/>
                  </a:lnTo>
                  <a:lnTo>
                    <a:pt x="0" y="277090"/>
                  </a:lnTo>
                  <a:lnTo>
                    <a:pt x="9237" y="110836"/>
                  </a:lnTo>
                  <a:lnTo>
                    <a:pt x="83127" y="110836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1828800" y="1514764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2018144" y="1445500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1773382" y="1182255"/>
              <a:ext cx="267854" cy="92363"/>
            </a:xfrm>
            <a:custGeom>
              <a:avLst/>
              <a:gdLst>
                <a:gd name="connsiteX0" fmla="*/ 0 w 267854"/>
                <a:gd name="connsiteY0" fmla="*/ 83127 h 92363"/>
                <a:gd name="connsiteX1" fmla="*/ 55418 w 267854"/>
                <a:gd name="connsiteY1" fmla="*/ 0 h 92363"/>
                <a:gd name="connsiteX2" fmla="*/ 267854 w 267854"/>
                <a:gd name="connsiteY2" fmla="*/ 0 h 92363"/>
                <a:gd name="connsiteX3" fmla="*/ 230909 w 267854"/>
                <a:gd name="connsiteY3" fmla="*/ 92363 h 92363"/>
                <a:gd name="connsiteX4" fmla="*/ 0 w 267854"/>
                <a:gd name="connsiteY4" fmla="*/ 83127 h 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54" h="92363">
                  <a:moveTo>
                    <a:pt x="0" y="83127"/>
                  </a:moveTo>
                  <a:lnTo>
                    <a:pt x="55418" y="0"/>
                  </a:lnTo>
                  <a:lnTo>
                    <a:pt x="267854" y="0"/>
                  </a:lnTo>
                  <a:lnTo>
                    <a:pt x="230909" y="92363"/>
                  </a:lnTo>
                  <a:lnTo>
                    <a:pt x="0" y="83127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1653309" y="1311564"/>
              <a:ext cx="258618" cy="18472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21"/>
          <p:cNvGrpSpPr/>
          <p:nvPr/>
        </p:nvGrpSpPr>
        <p:grpSpPr>
          <a:xfrm flipH="1">
            <a:off x="3365967" y="2871518"/>
            <a:ext cx="914400" cy="681885"/>
            <a:chOff x="1653309" y="1182255"/>
            <a:chExt cx="914400" cy="508000"/>
          </a:xfrm>
          <a:solidFill>
            <a:srgbClr val="FFC000">
              <a:alpha val="34000"/>
            </a:srgbClr>
          </a:solidFill>
        </p:grpSpPr>
        <p:sp>
          <p:nvSpPr>
            <p:cNvPr id="23" name="Oval 22"/>
            <p:cNvSpPr/>
            <p:nvPr/>
          </p:nvSpPr>
          <p:spPr>
            <a:xfrm>
              <a:off x="1662545" y="1191491"/>
              <a:ext cx="544946" cy="3971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/>
            <p:cNvSpPr/>
            <p:nvPr/>
          </p:nvSpPr>
          <p:spPr>
            <a:xfrm>
              <a:off x="2087418" y="1182255"/>
              <a:ext cx="480291" cy="406400"/>
            </a:xfrm>
            <a:custGeom>
              <a:avLst/>
              <a:gdLst>
                <a:gd name="connsiteX0" fmla="*/ 83127 w 480291"/>
                <a:gd name="connsiteY0" fmla="*/ 110836 h 406400"/>
                <a:gd name="connsiteX1" fmla="*/ 230909 w 480291"/>
                <a:gd name="connsiteY1" fmla="*/ 92363 h 406400"/>
                <a:gd name="connsiteX2" fmla="*/ 480291 w 480291"/>
                <a:gd name="connsiteY2" fmla="*/ 0 h 406400"/>
                <a:gd name="connsiteX3" fmla="*/ 314037 w 480291"/>
                <a:gd name="connsiteY3" fmla="*/ 157018 h 406400"/>
                <a:gd name="connsiteX4" fmla="*/ 277091 w 480291"/>
                <a:gd name="connsiteY4" fmla="*/ 277090 h 406400"/>
                <a:gd name="connsiteX5" fmla="*/ 387927 w 480291"/>
                <a:gd name="connsiteY5" fmla="*/ 406400 h 406400"/>
                <a:gd name="connsiteX6" fmla="*/ 129309 w 480291"/>
                <a:gd name="connsiteY6" fmla="*/ 304800 h 406400"/>
                <a:gd name="connsiteX7" fmla="*/ 129309 w 480291"/>
                <a:gd name="connsiteY7" fmla="*/ 304800 h 406400"/>
                <a:gd name="connsiteX8" fmla="*/ 0 w 480291"/>
                <a:gd name="connsiteY8" fmla="*/ 277090 h 406400"/>
                <a:gd name="connsiteX9" fmla="*/ 9237 w 480291"/>
                <a:gd name="connsiteY9" fmla="*/ 110836 h 406400"/>
                <a:gd name="connsiteX10" fmla="*/ 83127 w 480291"/>
                <a:gd name="connsiteY10" fmla="*/ 110836 h 406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0291" h="406400">
                  <a:moveTo>
                    <a:pt x="83127" y="110836"/>
                  </a:moveTo>
                  <a:lnTo>
                    <a:pt x="230909" y="92363"/>
                  </a:lnTo>
                  <a:lnTo>
                    <a:pt x="480291" y="0"/>
                  </a:lnTo>
                  <a:lnTo>
                    <a:pt x="314037" y="157018"/>
                  </a:lnTo>
                  <a:lnTo>
                    <a:pt x="277091" y="277090"/>
                  </a:lnTo>
                  <a:lnTo>
                    <a:pt x="387927" y="406400"/>
                  </a:lnTo>
                  <a:lnTo>
                    <a:pt x="129309" y="304800"/>
                  </a:lnTo>
                  <a:lnTo>
                    <a:pt x="129309" y="304800"/>
                  </a:lnTo>
                  <a:lnTo>
                    <a:pt x="0" y="277090"/>
                  </a:lnTo>
                  <a:lnTo>
                    <a:pt x="9237" y="110836"/>
                  </a:lnTo>
                  <a:lnTo>
                    <a:pt x="83127" y="1108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/>
            <p:cNvSpPr/>
            <p:nvPr/>
          </p:nvSpPr>
          <p:spPr>
            <a:xfrm>
              <a:off x="1828800" y="1514764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25"/>
            <p:cNvSpPr/>
            <p:nvPr/>
          </p:nvSpPr>
          <p:spPr>
            <a:xfrm>
              <a:off x="2018144" y="1445500"/>
              <a:ext cx="138545" cy="175491"/>
            </a:xfrm>
            <a:custGeom>
              <a:avLst/>
              <a:gdLst>
                <a:gd name="connsiteX0" fmla="*/ 0 w 138545"/>
                <a:gd name="connsiteY0" fmla="*/ 0 h 175491"/>
                <a:gd name="connsiteX1" fmla="*/ 73891 w 138545"/>
                <a:gd name="connsiteY1" fmla="*/ 138545 h 175491"/>
                <a:gd name="connsiteX2" fmla="*/ 138545 w 138545"/>
                <a:gd name="connsiteY2" fmla="*/ 175491 h 175491"/>
                <a:gd name="connsiteX3" fmla="*/ 110836 w 138545"/>
                <a:gd name="connsiteY3" fmla="*/ 73891 h 175491"/>
                <a:gd name="connsiteX4" fmla="*/ 101600 w 138545"/>
                <a:gd name="connsiteY4" fmla="*/ 9236 h 175491"/>
                <a:gd name="connsiteX5" fmla="*/ 0 w 138545"/>
                <a:gd name="connsiteY5" fmla="*/ 0 h 17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545" h="175491">
                  <a:moveTo>
                    <a:pt x="0" y="0"/>
                  </a:moveTo>
                  <a:lnTo>
                    <a:pt x="73891" y="138545"/>
                  </a:lnTo>
                  <a:lnTo>
                    <a:pt x="138545" y="175491"/>
                  </a:lnTo>
                  <a:lnTo>
                    <a:pt x="110836" y="73891"/>
                  </a:lnTo>
                  <a:lnTo>
                    <a:pt x="101600" y="9236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1773382" y="1182255"/>
              <a:ext cx="267854" cy="92363"/>
            </a:xfrm>
            <a:custGeom>
              <a:avLst/>
              <a:gdLst>
                <a:gd name="connsiteX0" fmla="*/ 0 w 267854"/>
                <a:gd name="connsiteY0" fmla="*/ 83127 h 92363"/>
                <a:gd name="connsiteX1" fmla="*/ 55418 w 267854"/>
                <a:gd name="connsiteY1" fmla="*/ 0 h 92363"/>
                <a:gd name="connsiteX2" fmla="*/ 267854 w 267854"/>
                <a:gd name="connsiteY2" fmla="*/ 0 h 92363"/>
                <a:gd name="connsiteX3" fmla="*/ 230909 w 267854"/>
                <a:gd name="connsiteY3" fmla="*/ 92363 h 92363"/>
                <a:gd name="connsiteX4" fmla="*/ 0 w 267854"/>
                <a:gd name="connsiteY4" fmla="*/ 83127 h 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54" h="92363">
                  <a:moveTo>
                    <a:pt x="0" y="83127"/>
                  </a:moveTo>
                  <a:lnTo>
                    <a:pt x="55418" y="0"/>
                  </a:lnTo>
                  <a:lnTo>
                    <a:pt x="267854" y="0"/>
                  </a:lnTo>
                  <a:lnTo>
                    <a:pt x="230909" y="92363"/>
                  </a:lnTo>
                  <a:lnTo>
                    <a:pt x="0" y="83127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/>
            <p:cNvSpPr/>
            <p:nvPr/>
          </p:nvSpPr>
          <p:spPr>
            <a:xfrm>
              <a:off x="1653309" y="1311564"/>
              <a:ext cx="258618" cy="18472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Straight Connector 11"/>
          <p:cNvCxnSpPr/>
          <p:nvPr/>
        </p:nvCxnSpPr>
        <p:spPr>
          <a:xfrm flipV="1">
            <a:off x="4289892" y="636154"/>
            <a:ext cx="2545306" cy="253002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152737" y="685800"/>
            <a:ext cx="1638589" cy="162386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1" idx="2"/>
          </p:cNvCxnSpPr>
          <p:nvPr/>
        </p:nvCxnSpPr>
        <p:spPr>
          <a:xfrm flipV="1">
            <a:off x="2610172" y="2271570"/>
            <a:ext cx="2562193" cy="91568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714501" y="4811428"/>
            <a:ext cx="3129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Rays appear to come from 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76436" y="2259882"/>
            <a:ext cx="137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Fish in water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26511" y="2056821"/>
            <a:ext cx="1584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Rays from fish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1082" y="2480979"/>
            <a:ext cx="148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of Fish</a:t>
            </a:r>
          </a:p>
        </p:txBody>
      </p:sp>
      <p:cxnSp>
        <p:nvCxnSpPr>
          <p:cNvPr id="55" name="Straight Connector 54"/>
          <p:cNvCxnSpPr/>
          <p:nvPr/>
        </p:nvCxnSpPr>
        <p:spPr>
          <a:xfrm>
            <a:off x="4305301" y="3219451"/>
            <a:ext cx="2533939" cy="250260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>
            <a:off x="5204402" y="4105693"/>
            <a:ext cx="1653598" cy="163788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11" idx="2"/>
          </p:cNvCxnSpPr>
          <p:nvPr/>
        </p:nvCxnSpPr>
        <p:spPr>
          <a:xfrm>
            <a:off x="2610172" y="3187253"/>
            <a:ext cx="2575759" cy="9184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4239492" y="1839769"/>
            <a:ext cx="951345" cy="1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21200" y="1631944"/>
            <a:ext cx="438728" cy="36933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s’</a:t>
            </a:r>
          </a:p>
        </p:txBody>
      </p:sp>
      <p:cxnSp>
        <p:nvCxnSpPr>
          <p:cNvPr id="62" name="Straight Connector 61"/>
          <p:cNvCxnSpPr/>
          <p:nvPr/>
        </p:nvCxnSpPr>
        <p:spPr>
          <a:xfrm>
            <a:off x="2613892" y="1368714"/>
            <a:ext cx="2581562" cy="4619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768437" y="1110089"/>
            <a:ext cx="438728" cy="36933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cxnSp>
        <p:nvCxnSpPr>
          <p:cNvPr id="36" name="Straight Connector 35"/>
          <p:cNvCxnSpPr/>
          <p:nvPr/>
        </p:nvCxnSpPr>
        <p:spPr>
          <a:xfrm>
            <a:off x="1524001" y="3190875"/>
            <a:ext cx="732497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743200" y="3533775"/>
            <a:ext cx="3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1</a:t>
            </a:r>
            <a:endParaRPr lang="en-US" baseline="-25000" dirty="0"/>
          </a:p>
        </p:txBody>
      </p:sp>
      <p:sp>
        <p:nvSpPr>
          <p:cNvPr id="45" name="Arc 44"/>
          <p:cNvSpPr/>
          <p:nvPr/>
        </p:nvSpPr>
        <p:spPr>
          <a:xfrm rot="3544261">
            <a:off x="2771775" y="3124201"/>
            <a:ext cx="285750" cy="257175"/>
          </a:xfrm>
          <a:prstGeom prst="arc">
            <a:avLst>
              <a:gd name="adj1" fmla="val 16200000"/>
              <a:gd name="adj2" fmla="val 20433135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/>
          <p:cNvSpPr/>
          <p:nvPr/>
        </p:nvSpPr>
        <p:spPr>
          <a:xfrm>
            <a:off x="2971800" y="3248025"/>
            <a:ext cx="161925" cy="361950"/>
          </a:xfrm>
          <a:custGeom>
            <a:avLst/>
            <a:gdLst>
              <a:gd name="connsiteX0" fmla="*/ 0 w 152400"/>
              <a:gd name="connsiteY0" fmla="*/ 285750 h 285750"/>
              <a:gd name="connsiteX1" fmla="*/ 76200 w 152400"/>
              <a:gd name="connsiteY1" fmla="*/ 142875 h 285750"/>
              <a:gd name="connsiteX2" fmla="*/ 104775 w 152400"/>
              <a:gd name="connsiteY2" fmla="*/ 209550 h 285750"/>
              <a:gd name="connsiteX3" fmla="*/ 152400 w 152400"/>
              <a:gd name="connsiteY3" fmla="*/ 0 h 285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400" h="285750">
                <a:moveTo>
                  <a:pt x="0" y="285750"/>
                </a:moveTo>
                <a:cubicBezTo>
                  <a:pt x="29369" y="220662"/>
                  <a:pt x="58738" y="155575"/>
                  <a:pt x="76200" y="142875"/>
                </a:cubicBezTo>
                <a:cubicBezTo>
                  <a:pt x="93663" y="130175"/>
                  <a:pt x="92075" y="233363"/>
                  <a:pt x="104775" y="209550"/>
                </a:cubicBezTo>
                <a:cubicBezTo>
                  <a:pt x="117475" y="185738"/>
                  <a:pt x="134937" y="92869"/>
                  <a:pt x="152400" y="0"/>
                </a:cubicBezTo>
              </a:path>
            </a:pathLst>
          </a:cu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4714875" y="3238500"/>
            <a:ext cx="3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2</a:t>
            </a:r>
            <a:endParaRPr lang="en-US" baseline="-25000" dirty="0"/>
          </a:p>
        </p:txBody>
      </p:sp>
      <p:sp>
        <p:nvSpPr>
          <p:cNvPr id="49" name="Arc 48"/>
          <p:cNvSpPr/>
          <p:nvPr/>
        </p:nvSpPr>
        <p:spPr>
          <a:xfrm rot="3544261">
            <a:off x="4332054" y="3169675"/>
            <a:ext cx="346540" cy="385301"/>
          </a:xfrm>
          <a:prstGeom prst="arc">
            <a:avLst>
              <a:gd name="adj1" fmla="val 16200000"/>
              <a:gd name="adj2" fmla="val 20433135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4800601" y="2266951"/>
            <a:ext cx="942975" cy="9525"/>
          </a:xfrm>
          <a:prstGeom prst="straightConnector1">
            <a:avLst/>
          </a:prstGeom>
          <a:ln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5400676" y="2286000"/>
            <a:ext cx="9525" cy="895350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276850" y="2543175"/>
            <a:ext cx="26000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OpenSymbol"/>
                <a:ea typeface="OpenSymbol"/>
              </a:rPr>
              <a:t>ℓ</a:t>
            </a:r>
            <a:endParaRPr lang="en-US" dirty="0"/>
          </a:p>
        </p:txBody>
      </p:sp>
      <p:sp>
        <p:nvSpPr>
          <p:cNvPr id="65" name="Rectangle 64"/>
          <p:cNvSpPr/>
          <p:nvPr/>
        </p:nvSpPr>
        <p:spPr>
          <a:xfrm>
            <a:off x="4016503" y="6162675"/>
            <a:ext cx="10869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1</a:t>
            </a:r>
            <a:r>
              <a:rPr lang="en-US" dirty="0"/>
              <a:t> (Large)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35702" y="6162675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2</a:t>
            </a:r>
            <a:r>
              <a:rPr lang="en-US" dirty="0"/>
              <a:t> (Small)</a:t>
            </a:r>
          </a:p>
        </p:txBody>
      </p:sp>
      <p:cxnSp>
        <p:nvCxnSpPr>
          <p:cNvPr id="67" name="Straight Arrow Connector 66"/>
          <p:cNvCxnSpPr/>
          <p:nvPr/>
        </p:nvCxnSpPr>
        <p:spPr>
          <a:xfrm flipV="1">
            <a:off x="4257676" y="4114801"/>
            <a:ext cx="1800225" cy="9525"/>
          </a:xfrm>
          <a:prstGeom prst="straightConnector1">
            <a:avLst/>
          </a:prstGeom>
          <a:ln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124325" y="3781425"/>
            <a:ext cx="3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1</a:t>
            </a:r>
            <a:endParaRPr lang="en-US" baseline="-25000" dirty="0"/>
          </a:p>
        </p:txBody>
      </p:sp>
      <p:sp>
        <p:nvSpPr>
          <p:cNvPr id="70" name="Arc 69"/>
          <p:cNvSpPr/>
          <p:nvPr/>
        </p:nvSpPr>
        <p:spPr>
          <a:xfrm rot="18055739" flipH="1">
            <a:off x="4572000" y="3886200"/>
            <a:ext cx="285750" cy="257175"/>
          </a:xfrm>
          <a:prstGeom prst="arc">
            <a:avLst>
              <a:gd name="adj1" fmla="val 16200000"/>
              <a:gd name="adj2" fmla="val 20433135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/>
          <p:cNvSpPr txBox="1"/>
          <p:nvPr/>
        </p:nvSpPr>
        <p:spPr>
          <a:xfrm>
            <a:off x="5591175" y="4143375"/>
            <a:ext cx="3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r>
              <a:rPr lang="en-US" baseline="-25000" dirty="0">
                <a:sym typeface="Symbol"/>
              </a:rPr>
              <a:t>2</a:t>
            </a:r>
            <a:endParaRPr lang="en-US" baseline="-25000" dirty="0"/>
          </a:p>
        </p:txBody>
      </p:sp>
      <p:sp>
        <p:nvSpPr>
          <p:cNvPr id="72" name="Arc 71"/>
          <p:cNvSpPr/>
          <p:nvPr/>
        </p:nvSpPr>
        <p:spPr>
          <a:xfrm rot="3544261">
            <a:off x="5208354" y="4074550"/>
            <a:ext cx="346540" cy="385301"/>
          </a:xfrm>
          <a:prstGeom prst="arc">
            <a:avLst>
              <a:gd name="adj1" fmla="val 16200000"/>
              <a:gd name="adj2" fmla="val 20433135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Connector 72"/>
          <p:cNvCxnSpPr/>
          <p:nvPr/>
        </p:nvCxnSpPr>
        <p:spPr>
          <a:xfrm flipH="1" flipV="1">
            <a:off x="5419726" y="3209925"/>
            <a:ext cx="9525" cy="895350"/>
          </a:xfrm>
          <a:prstGeom prst="line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295900" y="3467100"/>
            <a:ext cx="26000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OpenSymbol"/>
                <a:ea typeface="OpenSymbol"/>
              </a:rPr>
              <a:t>ℓ</a:t>
            </a:r>
            <a:endParaRPr lang="en-US" dirty="0"/>
          </a:p>
        </p:txBody>
      </p:sp>
      <p:sp>
        <p:nvSpPr>
          <p:cNvPr id="75" name="Freeform 74"/>
          <p:cNvSpPr/>
          <p:nvPr/>
        </p:nvSpPr>
        <p:spPr>
          <a:xfrm>
            <a:off x="3228976" y="3324225"/>
            <a:ext cx="1038225" cy="1409700"/>
          </a:xfrm>
          <a:custGeom>
            <a:avLst/>
            <a:gdLst>
              <a:gd name="connsiteX0" fmla="*/ 1038225 w 1038225"/>
              <a:gd name="connsiteY0" fmla="*/ 0 h 1409700"/>
              <a:gd name="connsiteX1" fmla="*/ 628650 w 1038225"/>
              <a:gd name="connsiteY1" fmla="*/ 476250 h 1409700"/>
              <a:gd name="connsiteX2" fmla="*/ 704850 w 1038225"/>
              <a:gd name="connsiteY2" fmla="*/ 485775 h 1409700"/>
              <a:gd name="connsiteX3" fmla="*/ 0 w 1038225"/>
              <a:gd name="connsiteY3" fmla="*/ 1409700 h 1409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38225" h="1409700">
                <a:moveTo>
                  <a:pt x="1038225" y="0"/>
                </a:moveTo>
                <a:cubicBezTo>
                  <a:pt x="861219" y="197644"/>
                  <a:pt x="684213" y="395288"/>
                  <a:pt x="628650" y="476250"/>
                </a:cubicBezTo>
                <a:cubicBezTo>
                  <a:pt x="573088" y="557213"/>
                  <a:pt x="809625" y="330200"/>
                  <a:pt x="704850" y="485775"/>
                </a:cubicBezTo>
                <a:cubicBezTo>
                  <a:pt x="600075" y="641350"/>
                  <a:pt x="0" y="1409700"/>
                  <a:pt x="0" y="1409700"/>
                </a:cubicBezTo>
              </a:path>
            </a:pathLst>
          </a:custGeom>
          <a:ln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42746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737D248-6E5F-4FBE-A133-A3DD9DE0A1C4}" type="slidenum">
              <a:rPr lang="en-US" smtClean="0"/>
              <a:pPr/>
              <a:t>91</a:t>
            </a:fld>
            <a:endParaRPr lang="en-US"/>
          </a:p>
        </p:txBody>
      </p:sp>
      <p:sp>
        <p:nvSpPr>
          <p:cNvPr id="181251" name="Text Box 2"/>
          <p:cNvSpPr txBox="1">
            <a:spLocks noChangeArrowheads="1"/>
          </p:cNvSpPr>
          <p:nvPr/>
        </p:nvSpPr>
        <p:spPr bwMode="auto">
          <a:xfrm>
            <a:off x="2286000" y="381001"/>
            <a:ext cx="762000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Question 223.16.1</a:t>
            </a:r>
          </a:p>
        </p:txBody>
      </p:sp>
      <p:sp>
        <p:nvSpPr>
          <p:cNvPr id="181252" name="Text Box 3"/>
          <p:cNvSpPr txBox="1">
            <a:spLocks noChangeArrowheads="1"/>
          </p:cNvSpPr>
          <p:nvPr/>
        </p:nvSpPr>
        <p:spPr bwMode="auto">
          <a:xfrm>
            <a:off x="2286000" y="1295400"/>
            <a:ext cx="762000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>
              <a:spcBef>
                <a:spcPct val="50000"/>
              </a:spcBef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What is the focal length of a pane of window glass?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zero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infinity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thickness of the glass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impossible to determine</a:t>
            </a:r>
          </a:p>
        </p:txBody>
      </p:sp>
      <p:sp>
        <p:nvSpPr>
          <p:cNvPr id="181253" name="Line 4"/>
          <p:cNvSpPr>
            <a:spLocks noChangeShapeType="1"/>
          </p:cNvSpPr>
          <p:nvPr/>
        </p:nvSpPr>
        <p:spPr bwMode="auto">
          <a:xfrm>
            <a:off x="4267200" y="990600"/>
            <a:ext cx="3733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24760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Derivation of the Lens Equ.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4227514" y="2338388"/>
            <a:ext cx="3641725" cy="2463800"/>
            <a:chOff x="2190" y="1526"/>
            <a:chExt cx="2294" cy="1552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5401" name="Oval 4"/>
            <p:cNvSpPr>
              <a:spLocks noChangeArrowheads="1"/>
            </p:cNvSpPr>
            <p:nvPr/>
          </p:nvSpPr>
          <p:spPr bwMode="auto">
            <a:xfrm>
              <a:off x="2190" y="1759"/>
              <a:ext cx="1026" cy="1076"/>
            </a:xfrm>
            <a:prstGeom prst="ellipse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402" name="Oval 5"/>
            <p:cNvSpPr>
              <a:spLocks noChangeArrowheads="1"/>
            </p:cNvSpPr>
            <p:nvPr/>
          </p:nvSpPr>
          <p:spPr bwMode="auto">
            <a:xfrm>
              <a:off x="2860" y="1526"/>
              <a:ext cx="1624" cy="1552"/>
            </a:xfrm>
            <a:prstGeom prst="ellipse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403" name="AutoShape 6"/>
            <p:cNvSpPr>
              <a:spLocks noChangeArrowheads="1"/>
            </p:cNvSpPr>
            <p:nvPr/>
          </p:nvSpPr>
          <p:spPr bwMode="auto">
            <a:xfrm rot="5400000">
              <a:off x="2325" y="1845"/>
              <a:ext cx="1524" cy="91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3402 w 21600"/>
                <a:gd name="T13" fmla="*/ 3411 h 21600"/>
                <a:gd name="T14" fmla="*/ 18198 w 21600"/>
                <a:gd name="T15" fmla="*/ 18189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3203" y="21600"/>
                  </a:lnTo>
                  <a:lnTo>
                    <a:pt x="18397" y="21600"/>
                  </a:lnTo>
                  <a:lnTo>
                    <a:pt x="21600" y="0"/>
                  </a:lnTo>
                  <a:close/>
                </a:path>
              </a:pathLst>
            </a:cu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5365" name="Line 8"/>
          <p:cNvSpPr>
            <a:spLocks noChangeShapeType="1"/>
          </p:cNvSpPr>
          <p:nvPr/>
        </p:nvSpPr>
        <p:spPr bwMode="auto">
          <a:xfrm>
            <a:off x="2217739" y="3560763"/>
            <a:ext cx="677862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66" name="Oval 9"/>
          <p:cNvSpPr>
            <a:spLocks noChangeArrowheads="1"/>
          </p:cNvSpPr>
          <p:nvPr/>
        </p:nvSpPr>
        <p:spPr bwMode="auto">
          <a:xfrm>
            <a:off x="3379788" y="3529013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67" name="Text Box 10"/>
          <p:cNvSpPr txBox="1">
            <a:spLocks noChangeArrowheads="1"/>
          </p:cNvSpPr>
          <p:nvPr/>
        </p:nvSpPr>
        <p:spPr bwMode="auto">
          <a:xfrm>
            <a:off x="3255963" y="3784600"/>
            <a:ext cx="29046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8661400" y="3676650"/>
            <a:ext cx="303288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15369" name="Line 12"/>
          <p:cNvSpPr>
            <a:spLocks noChangeShapeType="1"/>
          </p:cNvSpPr>
          <p:nvPr/>
        </p:nvSpPr>
        <p:spPr bwMode="auto">
          <a:xfrm>
            <a:off x="3436939" y="3559175"/>
            <a:ext cx="769937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0" name="Line 14"/>
          <p:cNvSpPr>
            <a:spLocks noChangeShapeType="1"/>
          </p:cNvSpPr>
          <p:nvPr/>
        </p:nvSpPr>
        <p:spPr bwMode="auto">
          <a:xfrm>
            <a:off x="4241800" y="3567113"/>
            <a:ext cx="3600450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1" name="Oval 16"/>
          <p:cNvSpPr>
            <a:spLocks noChangeArrowheads="1"/>
          </p:cNvSpPr>
          <p:nvPr/>
        </p:nvSpPr>
        <p:spPr bwMode="auto">
          <a:xfrm>
            <a:off x="8685213" y="3522663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2" name="Line 15"/>
          <p:cNvSpPr>
            <a:spLocks noChangeShapeType="1"/>
          </p:cNvSpPr>
          <p:nvPr/>
        </p:nvSpPr>
        <p:spPr bwMode="auto">
          <a:xfrm>
            <a:off x="7877176" y="3560763"/>
            <a:ext cx="1408113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3" name="Line 17"/>
          <p:cNvSpPr>
            <a:spLocks noChangeShapeType="1"/>
          </p:cNvSpPr>
          <p:nvPr/>
        </p:nvSpPr>
        <p:spPr bwMode="auto">
          <a:xfrm flipV="1">
            <a:off x="3457576" y="3101975"/>
            <a:ext cx="900113" cy="465138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4" name="Text Box 18"/>
          <p:cNvSpPr txBox="1">
            <a:spLocks noChangeArrowheads="1"/>
          </p:cNvSpPr>
          <p:nvPr/>
        </p:nvSpPr>
        <p:spPr bwMode="auto">
          <a:xfrm>
            <a:off x="3798888" y="2449513"/>
            <a:ext cx="3492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5375" name="Line 19"/>
          <p:cNvSpPr>
            <a:spLocks noChangeShapeType="1"/>
          </p:cNvSpPr>
          <p:nvPr/>
        </p:nvSpPr>
        <p:spPr bwMode="auto">
          <a:xfrm flipV="1">
            <a:off x="4364039" y="2484438"/>
            <a:ext cx="2903537" cy="59690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6" name="Line 20"/>
          <p:cNvSpPr>
            <a:spLocks noChangeShapeType="1"/>
          </p:cNvSpPr>
          <p:nvPr/>
        </p:nvSpPr>
        <p:spPr bwMode="auto">
          <a:xfrm>
            <a:off x="4192589" y="2833689"/>
            <a:ext cx="522287" cy="7397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7" name="Text Box 21"/>
          <p:cNvSpPr txBox="1">
            <a:spLocks noChangeArrowheads="1"/>
          </p:cNvSpPr>
          <p:nvPr/>
        </p:nvSpPr>
        <p:spPr bwMode="auto">
          <a:xfrm>
            <a:off x="4430714" y="3644901"/>
            <a:ext cx="433387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C</a:t>
            </a:r>
            <a:r>
              <a:rPr lang="en-US" baseline="-25000"/>
              <a:t>1</a:t>
            </a:r>
          </a:p>
        </p:txBody>
      </p:sp>
      <p:sp>
        <p:nvSpPr>
          <p:cNvPr id="15378" name="Text Box 22"/>
          <p:cNvSpPr txBox="1">
            <a:spLocks noChangeArrowheads="1"/>
          </p:cNvSpPr>
          <p:nvPr/>
        </p:nvSpPr>
        <p:spPr bwMode="auto">
          <a:xfrm>
            <a:off x="6500814" y="3681413"/>
            <a:ext cx="433387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C</a:t>
            </a:r>
            <a:r>
              <a:rPr lang="en-US" baseline="-25000"/>
              <a:t>2</a:t>
            </a:r>
          </a:p>
        </p:txBody>
      </p:sp>
      <p:sp>
        <p:nvSpPr>
          <p:cNvPr id="15379" name="Line 23"/>
          <p:cNvSpPr>
            <a:spLocks noChangeShapeType="1"/>
          </p:cNvSpPr>
          <p:nvPr/>
        </p:nvSpPr>
        <p:spPr bwMode="auto">
          <a:xfrm flipH="1">
            <a:off x="6724651" y="2028825"/>
            <a:ext cx="741363" cy="1524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0" name="Line 24"/>
          <p:cNvSpPr>
            <a:spLocks noChangeShapeType="1"/>
          </p:cNvSpPr>
          <p:nvPr/>
        </p:nvSpPr>
        <p:spPr bwMode="auto">
          <a:xfrm>
            <a:off x="7261225" y="2493964"/>
            <a:ext cx="2046288" cy="1495425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1" name="Text Box 25"/>
          <p:cNvSpPr txBox="1">
            <a:spLocks noChangeArrowheads="1"/>
          </p:cNvSpPr>
          <p:nvPr/>
        </p:nvSpPr>
        <p:spPr bwMode="auto">
          <a:xfrm>
            <a:off x="7507288" y="1760538"/>
            <a:ext cx="3492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5382" name="Text Box 26"/>
          <p:cNvSpPr txBox="1">
            <a:spLocks noChangeArrowheads="1"/>
          </p:cNvSpPr>
          <p:nvPr/>
        </p:nvSpPr>
        <p:spPr bwMode="auto">
          <a:xfrm>
            <a:off x="5278438" y="4030663"/>
            <a:ext cx="30649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n</a:t>
            </a:r>
          </a:p>
        </p:txBody>
      </p:sp>
      <p:sp>
        <p:nvSpPr>
          <p:cNvPr id="15383" name="Line 28"/>
          <p:cNvSpPr>
            <a:spLocks noChangeShapeType="1"/>
          </p:cNvSpPr>
          <p:nvPr/>
        </p:nvSpPr>
        <p:spPr bwMode="auto">
          <a:xfrm>
            <a:off x="4222750" y="4783139"/>
            <a:ext cx="0" cy="363537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4" name="Line 29"/>
          <p:cNvSpPr>
            <a:spLocks noChangeShapeType="1"/>
          </p:cNvSpPr>
          <p:nvPr/>
        </p:nvSpPr>
        <p:spPr bwMode="auto">
          <a:xfrm>
            <a:off x="4222750" y="4965700"/>
            <a:ext cx="365760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5" name="Line 30"/>
          <p:cNvSpPr>
            <a:spLocks noChangeShapeType="1"/>
          </p:cNvSpPr>
          <p:nvPr/>
        </p:nvSpPr>
        <p:spPr bwMode="auto">
          <a:xfrm>
            <a:off x="7856538" y="47847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6" name="Text Box 31"/>
          <p:cNvSpPr txBox="1">
            <a:spLocks noChangeArrowheads="1"/>
          </p:cNvSpPr>
          <p:nvPr/>
        </p:nvSpPr>
        <p:spPr bwMode="auto">
          <a:xfrm>
            <a:off x="5880100" y="4768851"/>
            <a:ext cx="260350" cy="366713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t</a:t>
            </a:r>
          </a:p>
        </p:txBody>
      </p:sp>
      <p:sp>
        <p:nvSpPr>
          <p:cNvPr id="15387" name="Line 32"/>
          <p:cNvSpPr>
            <a:spLocks noChangeShapeType="1"/>
          </p:cNvSpPr>
          <p:nvPr/>
        </p:nvSpPr>
        <p:spPr bwMode="auto">
          <a:xfrm>
            <a:off x="3416300" y="52165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8" name="Line 34"/>
          <p:cNvSpPr>
            <a:spLocks noChangeShapeType="1"/>
          </p:cNvSpPr>
          <p:nvPr/>
        </p:nvSpPr>
        <p:spPr bwMode="auto">
          <a:xfrm>
            <a:off x="4211638" y="52260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9" name="Line 35"/>
          <p:cNvSpPr>
            <a:spLocks noChangeShapeType="1"/>
          </p:cNvSpPr>
          <p:nvPr/>
        </p:nvSpPr>
        <p:spPr bwMode="auto">
          <a:xfrm>
            <a:off x="3432176" y="5408613"/>
            <a:ext cx="754063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0" name="Text Box 36"/>
          <p:cNvSpPr txBox="1">
            <a:spLocks noChangeArrowheads="1"/>
          </p:cNvSpPr>
          <p:nvPr/>
        </p:nvSpPr>
        <p:spPr bwMode="auto">
          <a:xfrm>
            <a:off x="3590925" y="5516563"/>
            <a:ext cx="352982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</a:p>
        </p:txBody>
      </p:sp>
      <p:sp>
        <p:nvSpPr>
          <p:cNvPr id="15391" name="Line 37"/>
          <p:cNvSpPr>
            <a:spLocks noChangeShapeType="1"/>
          </p:cNvSpPr>
          <p:nvPr/>
        </p:nvSpPr>
        <p:spPr bwMode="auto">
          <a:xfrm>
            <a:off x="7864475" y="52673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2" name="Line 38"/>
          <p:cNvSpPr>
            <a:spLocks noChangeShapeType="1"/>
          </p:cNvSpPr>
          <p:nvPr/>
        </p:nvSpPr>
        <p:spPr bwMode="auto">
          <a:xfrm>
            <a:off x="8716963" y="52768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3" name="Line 39"/>
          <p:cNvSpPr>
            <a:spLocks noChangeShapeType="1"/>
          </p:cNvSpPr>
          <p:nvPr/>
        </p:nvSpPr>
        <p:spPr bwMode="auto">
          <a:xfrm>
            <a:off x="7850188" y="5459413"/>
            <a:ext cx="855662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4" name="Text Box 40"/>
          <p:cNvSpPr txBox="1">
            <a:spLocks noChangeArrowheads="1"/>
          </p:cNvSpPr>
          <p:nvPr/>
        </p:nvSpPr>
        <p:spPr bwMode="auto">
          <a:xfrm>
            <a:off x="8081963" y="5567363"/>
            <a:ext cx="410690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s’</a:t>
            </a:r>
            <a:r>
              <a:rPr lang="en-US" baseline="-25000" dirty="0"/>
              <a:t>2</a:t>
            </a:r>
          </a:p>
        </p:txBody>
      </p:sp>
      <p:sp>
        <p:nvSpPr>
          <p:cNvPr id="15395" name="Line 41"/>
          <p:cNvSpPr>
            <a:spLocks noChangeShapeType="1"/>
          </p:cNvSpPr>
          <p:nvPr/>
        </p:nvSpPr>
        <p:spPr bwMode="auto">
          <a:xfrm>
            <a:off x="6724650" y="5233989"/>
            <a:ext cx="0" cy="363537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6" name="Line 42"/>
          <p:cNvSpPr>
            <a:spLocks noChangeShapeType="1"/>
          </p:cNvSpPr>
          <p:nvPr/>
        </p:nvSpPr>
        <p:spPr bwMode="auto">
          <a:xfrm>
            <a:off x="6740526" y="5321300"/>
            <a:ext cx="110172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7" name="Text Box 43"/>
          <p:cNvSpPr txBox="1">
            <a:spLocks noChangeArrowheads="1"/>
          </p:cNvSpPr>
          <p:nvPr/>
        </p:nvSpPr>
        <p:spPr bwMode="auto">
          <a:xfrm>
            <a:off x="7059613" y="5168900"/>
            <a:ext cx="388248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R</a:t>
            </a:r>
            <a:r>
              <a:rPr lang="en-US" baseline="-25000"/>
              <a:t>2</a:t>
            </a:r>
          </a:p>
        </p:txBody>
      </p:sp>
      <p:sp>
        <p:nvSpPr>
          <p:cNvPr id="15398" name="Line 44"/>
          <p:cNvSpPr>
            <a:spLocks noChangeShapeType="1"/>
          </p:cNvSpPr>
          <p:nvPr/>
        </p:nvSpPr>
        <p:spPr bwMode="auto">
          <a:xfrm>
            <a:off x="4692650" y="523557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9" name="Line 45"/>
          <p:cNvSpPr>
            <a:spLocks noChangeShapeType="1"/>
          </p:cNvSpPr>
          <p:nvPr/>
        </p:nvSpPr>
        <p:spPr bwMode="auto">
          <a:xfrm>
            <a:off x="4237038" y="5530850"/>
            <a:ext cx="46355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400" name="Text Box 46"/>
          <p:cNvSpPr txBox="1">
            <a:spLocks noChangeArrowheads="1"/>
          </p:cNvSpPr>
          <p:nvPr/>
        </p:nvSpPr>
        <p:spPr bwMode="auto">
          <a:xfrm>
            <a:off x="4251325" y="5668963"/>
            <a:ext cx="388248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R</a:t>
            </a:r>
            <a:r>
              <a:rPr lang="en-US" baseline="-2500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38334747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78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2875" y="623889"/>
            <a:ext cx="4286250" cy="5610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98070840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Derivation of the Lens Equ.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4227514" y="2338388"/>
            <a:ext cx="3641725" cy="2463800"/>
            <a:chOff x="2190" y="1526"/>
            <a:chExt cx="2294" cy="1552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5401" name="Oval 4"/>
            <p:cNvSpPr>
              <a:spLocks noChangeArrowheads="1"/>
            </p:cNvSpPr>
            <p:nvPr/>
          </p:nvSpPr>
          <p:spPr bwMode="auto">
            <a:xfrm>
              <a:off x="2190" y="1759"/>
              <a:ext cx="1026" cy="1076"/>
            </a:xfrm>
            <a:prstGeom prst="ellipse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402" name="Oval 5"/>
            <p:cNvSpPr>
              <a:spLocks noChangeArrowheads="1"/>
            </p:cNvSpPr>
            <p:nvPr/>
          </p:nvSpPr>
          <p:spPr bwMode="auto">
            <a:xfrm>
              <a:off x="2860" y="1526"/>
              <a:ext cx="1624" cy="1552"/>
            </a:xfrm>
            <a:prstGeom prst="ellipse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403" name="AutoShape 6"/>
            <p:cNvSpPr>
              <a:spLocks noChangeArrowheads="1"/>
            </p:cNvSpPr>
            <p:nvPr/>
          </p:nvSpPr>
          <p:spPr bwMode="auto">
            <a:xfrm rot="5400000">
              <a:off x="2325" y="1845"/>
              <a:ext cx="1524" cy="91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3402 w 21600"/>
                <a:gd name="T13" fmla="*/ 3411 h 21600"/>
                <a:gd name="T14" fmla="*/ 18198 w 21600"/>
                <a:gd name="T15" fmla="*/ 18189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3203" y="21600"/>
                  </a:lnTo>
                  <a:lnTo>
                    <a:pt x="18397" y="21600"/>
                  </a:lnTo>
                  <a:lnTo>
                    <a:pt x="21600" y="0"/>
                  </a:lnTo>
                  <a:close/>
                </a:path>
              </a:pathLst>
            </a:cu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5365" name="Line 8"/>
          <p:cNvSpPr>
            <a:spLocks noChangeShapeType="1"/>
          </p:cNvSpPr>
          <p:nvPr/>
        </p:nvSpPr>
        <p:spPr bwMode="auto">
          <a:xfrm>
            <a:off x="2217739" y="3560763"/>
            <a:ext cx="677862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66" name="Oval 9"/>
          <p:cNvSpPr>
            <a:spLocks noChangeArrowheads="1"/>
          </p:cNvSpPr>
          <p:nvPr/>
        </p:nvSpPr>
        <p:spPr bwMode="auto">
          <a:xfrm>
            <a:off x="3379788" y="3529013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67" name="Text Box 10"/>
          <p:cNvSpPr txBox="1">
            <a:spLocks noChangeArrowheads="1"/>
          </p:cNvSpPr>
          <p:nvPr/>
        </p:nvSpPr>
        <p:spPr bwMode="auto">
          <a:xfrm>
            <a:off x="3255963" y="3784600"/>
            <a:ext cx="29046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8661400" y="3676650"/>
            <a:ext cx="303288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15369" name="Line 12"/>
          <p:cNvSpPr>
            <a:spLocks noChangeShapeType="1"/>
          </p:cNvSpPr>
          <p:nvPr/>
        </p:nvSpPr>
        <p:spPr bwMode="auto">
          <a:xfrm>
            <a:off x="3436939" y="3559175"/>
            <a:ext cx="769937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0" name="Line 14"/>
          <p:cNvSpPr>
            <a:spLocks noChangeShapeType="1"/>
          </p:cNvSpPr>
          <p:nvPr/>
        </p:nvSpPr>
        <p:spPr bwMode="auto">
          <a:xfrm>
            <a:off x="4241800" y="3567113"/>
            <a:ext cx="3600450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1" name="Oval 16"/>
          <p:cNvSpPr>
            <a:spLocks noChangeArrowheads="1"/>
          </p:cNvSpPr>
          <p:nvPr/>
        </p:nvSpPr>
        <p:spPr bwMode="auto">
          <a:xfrm>
            <a:off x="8685213" y="3522663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2" name="Line 15"/>
          <p:cNvSpPr>
            <a:spLocks noChangeShapeType="1"/>
          </p:cNvSpPr>
          <p:nvPr/>
        </p:nvSpPr>
        <p:spPr bwMode="auto">
          <a:xfrm>
            <a:off x="7877176" y="3560763"/>
            <a:ext cx="1408113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3" name="Line 17"/>
          <p:cNvSpPr>
            <a:spLocks noChangeShapeType="1"/>
          </p:cNvSpPr>
          <p:nvPr/>
        </p:nvSpPr>
        <p:spPr bwMode="auto">
          <a:xfrm flipV="1">
            <a:off x="3457576" y="3101975"/>
            <a:ext cx="900113" cy="465138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4" name="Text Box 18"/>
          <p:cNvSpPr txBox="1">
            <a:spLocks noChangeArrowheads="1"/>
          </p:cNvSpPr>
          <p:nvPr/>
        </p:nvSpPr>
        <p:spPr bwMode="auto">
          <a:xfrm>
            <a:off x="3798888" y="2449513"/>
            <a:ext cx="3492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5375" name="Line 19"/>
          <p:cNvSpPr>
            <a:spLocks noChangeShapeType="1"/>
          </p:cNvSpPr>
          <p:nvPr/>
        </p:nvSpPr>
        <p:spPr bwMode="auto">
          <a:xfrm flipV="1">
            <a:off x="4364039" y="2484438"/>
            <a:ext cx="2903537" cy="59690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6" name="Line 20"/>
          <p:cNvSpPr>
            <a:spLocks noChangeShapeType="1"/>
          </p:cNvSpPr>
          <p:nvPr/>
        </p:nvSpPr>
        <p:spPr bwMode="auto">
          <a:xfrm>
            <a:off x="4192589" y="2833689"/>
            <a:ext cx="522287" cy="7397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7" name="Text Box 21"/>
          <p:cNvSpPr txBox="1">
            <a:spLocks noChangeArrowheads="1"/>
          </p:cNvSpPr>
          <p:nvPr/>
        </p:nvSpPr>
        <p:spPr bwMode="auto">
          <a:xfrm>
            <a:off x="4430714" y="3644901"/>
            <a:ext cx="433387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C</a:t>
            </a:r>
            <a:r>
              <a:rPr lang="en-US" baseline="-25000"/>
              <a:t>1</a:t>
            </a:r>
          </a:p>
        </p:txBody>
      </p:sp>
      <p:sp>
        <p:nvSpPr>
          <p:cNvPr id="15378" name="Text Box 22"/>
          <p:cNvSpPr txBox="1">
            <a:spLocks noChangeArrowheads="1"/>
          </p:cNvSpPr>
          <p:nvPr/>
        </p:nvSpPr>
        <p:spPr bwMode="auto">
          <a:xfrm>
            <a:off x="6500814" y="3681413"/>
            <a:ext cx="433387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C</a:t>
            </a:r>
            <a:r>
              <a:rPr lang="en-US" baseline="-25000"/>
              <a:t>2</a:t>
            </a:r>
          </a:p>
        </p:txBody>
      </p:sp>
      <p:sp>
        <p:nvSpPr>
          <p:cNvPr id="15379" name="Line 23"/>
          <p:cNvSpPr>
            <a:spLocks noChangeShapeType="1"/>
          </p:cNvSpPr>
          <p:nvPr/>
        </p:nvSpPr>
        <p:spPr bwMode="auto">
          <a:xfrm flipH="1">
            <a:off x="6724651" y="2028825"/>
            <a:ext cx="741363" cy="1524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0" name="Line 24"/>
          <p:cNvSpPr>
            <a:spLocks noChangeShapeType="1"/>
          </p:cNvSpPr>
          <p:nvPr/>
        </p:nvSpPr>
        <p:spPr bwMode="auto">
          <a:xfrm>
            <a:off x="7261225" y="2493964"/>
            <a:ext cx="2046288" cy="1495425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1" name="Text Box 25"/>
          <p:cNvSpPr txBox="1">
            <a:spLocks noChangeArrowheads="1"/>
          </p:cNvSpPr>
          <p:nvPr/>
        </p:nvSpPr>
        <p:spPr bwMode="auto">
          <a:xfrm>
            <a:off x="7507288" y="1760538"/>
            <a:ext cx="3492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5382" name="Text Box 26"/>
          <p:cNvSpPr txBox="1">
            <a:spLocks noChangeArrowheads="1"/>
          </p:cNvSpPr>
          <p:nvPr/>
        </p:nvSpPr>
        <p:spPr bwMode="auto">
          <a:xfrm>
            <a:off x="5278438" y="4030663"/>
            <a:ext cx="30649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n</a:t>
            </a:r>
          </a:p>
        </p:txBody>
      </p:sp>
      <p:sp>
        <p:nvSpPr>
          <p:cNvPr id="15383" name="Line 28"/>
          <p:cNvSpPr>
            <a:spLocks noChangeShapeType="1"/>
          </p:cNvSpPr>
          <p:nvPr/>
        </p:nvSpPr>
        <p:spPr bwMode="auto">
          <a:xfrm>
            <a:off x="4222750" y="4783139"/>
            <a:ext cx="0" cy="363537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4" name="Line 29"/>
          <p:cNvSpPr>
            <a:spLocks noChangeShapeType="1"/>
          </p:cNvSpPr>
          <p:nvPr/>
        </p:nvSpPr>
        <p:spPr bwMode="auto">
          <a:xfrm>
            <a:off x="4222750" y="4965700"/>
            <a:ext cx="365760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5" name="Line 30"/>
          <p:cNvSpPr>
            <a:spLocks noChangeShapeType="1"/>
          </p:cNvSpPr>
          <p:nvPr/>
        </p:nvSpPr>
        <p:spPr bwMode="auto">
          <a:xfrm>
            <a:off x="7856538" y="47847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6" name="Text Box 31"/>
          <p:cNvSpPr txBox="1">
            <a:spLocks noChangeArrowheads="1"/>
          </p:cNvSpPr>
          <p:nvPr/>
        </p:nvSpPr>
        <p:spPr bwMode="auto">
          <a:xfrm>
            <a:off x="5880100" y="4768851"/>
            <a:ext cx="260350" cy="366713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t</a:t>
            </a:r>
          </a:p>
        </p:txBody>
      </p:sp>
      <p:sp>
        <p:nvSpPr>
          <p:cNvPr id="15387" name="Line 32"/>
          <p:cNvSpPr>
            <a:spLocks noChangeShapeType="1"/>
          </p:cNvSpPr>
          <p:nvPr/>
        </p:nvSpPr>
        <p:spPr bwMode="auto">
          <a:xfrm>
            <a:off x="3416300" y="52165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8" name="Line 34"/>
          <p:cNvSpPr>
            <a:spLocks noChangeShapeType="1"/>
          </p:cNvSpPr>
          <p:nvPr/>
        </p:nvSpPr>
        <p:spPr bwMode="auto">
          <a:xfrm>
            <a:off x="4211638" y="52260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9" name="Line 35"/>
          <p:cNvSpPr>
            <a:spLocks noChangeShapeType="1"/>
          </p:cNvSpPr>
          <p:nvPr/>
        </p:nvSpPr>
        <p:spPr bwMode="auto">
          <a:xfrm>
            <a:off x="3432176" y="5408613"/>
            <a:ext cx="754063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0" name="Text Box 36"/>
          <p:cNvSpPr txBox="1">
            <a:spLocks noChangeArrowheads="1"/>
          </p:cNvSpPr>
          <p:nvPr/>
        </p:nvSpPr>
        <p:spPr bwMode="auto">
          <a:xfrm>
            <a:off x="3590925" y="5516563"/>
            <a:ext cx="352982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</a:p>
        </p:txBody>
      </p:sp>
      <p:sp>
        <p:nvSpPr>
          <p:cNvPr id="15391" name="Line 37"/>
          <p:cNvSpPr>
            <a:spLocks noChangeShapeType="1"/>
          </p:cNvSpPr>
          <p:nvPr/>
        </p:nvSpPr>
        <p:spPr bwMode="auto">
          <a:xfrm>
            <a:off x="7864475" y="52673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2" name="Line 38"/>
          <p:cNvSpPr>
            <a:spLocks noChangeShapeType="1"/>
          </p:cNvSpPr>
          <p:nvPr/>
        </p:nvSpPr>
        <p:spPr bwMode="auto">
          <a:xfrm>
            <a:off x="8716963" y="52768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3" name="Line 39"/>
          <p:cNvSpPr>
            <a:spLocks noChangeShapeType="1"/>
          </p:cNvSpPr>
          <p:nvPr/>
        </p:nvSpPr>
        <p:spPr bwMode="auto">
          <a:xfrm>
            <a:off x="7850188" y="5459413"/>
            <a:ext cx="855662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4" name="Text Box 40"/>
          <p:cNvSpPr txBox="1">
            <a:spLocks noChangeArrowheads="1"/>
          </p:cNvSpPr>
          <p:nvPr/>
        </p:nvSpPr>
        <p:spPr bwMode="auto">
          <a:xfrm>
            <a:off x="8081963" y="5567363"/>
            <a:ext cx="410690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s’</a:t>
            </a:r>
            <a:r>
              <a:rPr lang="en-US" baseline="-25000" dirty="0"/>
              <a:t>2</a:t>
            </a:r>
          </a:p>
        </p:txBody>
      </p:sp>
      <p:sp>
        <p:nvSpPr>
          <p:cNvPr id="15395" name="Line 41"/>
          <p:cNvSpPr>
            <a:spLocks noChangeShapeType="1"/>
          </p:cNvSpPr>
          <p:nvPr/>
        </p:nvSpPr>
        <p:spPr bwMode="auto">
          <a:xfrm>
            <a:off x="6724650" y="5233989"/>
            <a:ext cx="0" cy="363537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6" name="Line 42"/>
          <p:cNvSpPr>
            <a:spLocks noChangeShapeType="1"/>
          </p:cNvSpPr>
          <p:nvPr/>
        </p:nvSpPr>
        <p:spPr bwMode="auto">
          <a:xfrm>
            <a:off x="6740526" y="5321300"/>
            <a:ext cx="110172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7" name="Text Box 43"/>
          <p:cNvSpPr txBox="1">
            <a:spLocks noChangeArrowheads="1"/>
          </p:cNvSpPr>
          <p:nvPr/>
        </p:nvSpPr>
        <p:spPr bwMode="auto">
          <a:xfrm>
            <a:off x="7059613" y="5168900"/>
            <a:ext cx="388248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R</a:t>
            </a:r>
            <a:r>
              <a:rPr lang="en-US" baseline="-25000"/>
              <a:t>2</a:t>
            </a:r>
          </a:p>
        </p:txBody>
      </p:sp>
      <p:sp>
        <p:nvSpPr>
          <p:cNvPr id="15398" name="Line 44"/>
          <p:cNvSpPr>
            <a:spLocks noChangeShapeType="1"/>
          </p:cNvSpPr>
          <p:nvPr/>
        </p:nvSpPr>
        <p:spPr bwMode="auto">
          <a:xfrm>
            <a:off x="4692650" y="523557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9" name="Line 45"/>
          <p:cNvSpPr>
            <a:spLocks noChangeShapeType="1"/>
          </p:cNvSpPr>
          <p:nvPr/>
        </p:nvSpPr>
        <p:spPr bwMode="auto">
          <a:xfrm>
            <a:off x="4237038" y="5530850"/>
            <a:ext cx="46355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400" name="Text Box 46"/>
          <p:cNvSpPr txBox="1">
            <a:spLocks noChangeArrowheads="1"/>
          </p:cNvSpPr>
          <p:nvPr/>
        </p:nvSpPr>
        <p:spPr bwMode="auto">
          <a:xfrm>
            <a:off x="4251325" y="5668963"/>
            <a:ext cx="388248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R</a:t>
            </a:r>
            <a:r>
              <a:rPr lang="en-US" baseline="-2500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1252118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Derivation of the Lens Equ.</a:t>
            </a:r>
          </a:p>
        </p:txBody>
      </p:sp>
      <p:sp>
        <p:nvSpPr>
          <p:cNvPr id="16389" name="Oval 5"/>
          <p:cNvSpPr>
            <a:spLocks noChangeArrowheads="1"/>
          </p:cNvSpPr>
          <p:nvPr/>
        </p:nvSpPr>
        <p:spPr bwMode="auto">
          <a:xfrm>
            <a:off x="5794376" y="2860675"/>
            <a:ext cx="1628775" cy="170815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0" name="AutoShape 7"/>
          <p:cNvSpPr>
            <a:spLocks noChangeArrowheads="1"/>
          </p:cNvSpPr>
          <p:nvPr/>
        </p:nvSpPr>
        <p:spPr bwMode="auto">
          <a:xfrm rot="5400000">
            <a:off x="6225637" y="2141131"/>
            <a:ext cx="3640601" cy="3159125"/>
          </a:xfrm>
          <a:custGeom>
            <a:avLst/>
            <a:gdLst>
              <a:gd name="T0" fmla="*/ 2 w 21600"/>
              <a:gd name="T1" fmla="*/ 1 h 21600"/>
              <a:gd name="T2" fmla="*/ 1 w 21600"/>
              <a:gd name="T3" fmla="*/ 2 h 21600"/>
              <a:gd name="T4" fmla="*/ 0 w 21600"/>
              <a:gd name="T5" fmla="*/ 1 h 21600"/>
              <a:gd name="T6" fmla="*/ 1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691 w 21600"/>
              <a:gd name="T13" fmla="*/ 4689 h 21600"/>
              <a:gd name="T14" fmla="*/ 16909 w 21600"/>
              <a:gd name="T15" fmla="*/ 16911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776" y="21600"/>
                </a:lnTo>
                <a:lnTo>
                  <a:pt x="15824" y="21600"/>
                </a:lnTo>
                <a:lnTo>
                  <a:pt x="21600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1" name="Line 8"/>
          <p:cNvSpPr>
            <a:spLocks noChangeShapeType="1"/>
          </p:cNvSpPr>
          <p:nvPr/>
        </p:nvSpPr>
        <p:spPr bwMode="auto">
          <a:xfrm>
            <a:off x="3276601" y="3713163"/>
            <a:ext cx="728662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2" name="Oval 9"/>
          <p:cNvSpPr>
            <a:spLocks noChangeArrowheads="1"/>
          </p:cNvSpPr>
          <p:nvPr/>
        </p:nvSpPr>
        <p:spPr bwMode="auto">
          <a:xfrm>
            <a:off x="4975225" y="3667125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3" name="Text Box 10"/>
          <p:cNvSpPr txBox="1">
            <a:spLocks noChangeArrowheads="1"/>
          </p:cNvSpPr>
          <p:nvPr/>
        </p:nvSpPr>
        <p:spPr bwMode="auto">
          <a:xfrm>
            <a:off x="4822825" y="3937000"/>
            <a:ext cx="29046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6394" name="Line 12"/>
          <p:cNvSpPr>
            <a:spLocks noChangeShapeType="1"/>
          </p:cNvSpPr>
          <p:nvPr/>
        </p:nvSpPr>
        <p:spPr bwMode="auto">
          <a:xfrm>
            <a:off x="5003800" y="3711575"/>
            <a:ext cx="769938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5" name="Line 13"/>
          <p:cNvSpPr>
            <a:spLocks noChangeShapeType="1"/>
          </p:cNvSpPr>
          <p:nvPr/>
        </p:nvSpPr>
        <p:spPr bwMode="auto">
          <a:xfrm>
            <a:off x="5808663" y="3719513"/>
            <a:ext cx="3600450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6" name="Line 16"/>
          <p:cNvSpPr>
            <a:spLocks noChangeShapeType="1"/>
          </p:cNvSpPr>
          <p:nvPr/>
        </p:nvSpPr>
        <p:spPr bwMode="auto">
          <a:xfrm flipV="1">
            <a:off x="5024439" y="3254375"/>
            <a:ext cx="900113" cy="465138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7" name="Text Box 17"/>
          <p:cNvSpPr txBox="1">
            <a:spLocks noChangeArrowheads="1"/>
          </p:cNvSpPr>
          <p:nvPr/>
        </p:nvSpPr>
        <p:spPr bwMode="auto">
          <a:xfrm>
            <a:off x="5365750" y="2601914"/>
            <a:ext cx="349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6398" name="Line 18"/>
          <p:cNvSpPr>
            <a:spLocks noChangeShapeType="1"/>
          </p:cNvSpPr>
          <p:nvPr/>
        </p:nvSpPr>
        <p:spPr bwMode="auto">
          <a:xfrm flipV="1">
            <a:off x="5930900" y="2636838"/>
            <a:ext cx="2903538" cy="59690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399" name="Line 19"/>
          <p:cNvSpPr>
            <a:spLocks noChangeShapeType="1"/>
          </p:cNvSpPr>
          <p:nvPr/>
        </p:nvSpPr>
        <p:spPr bwMode="auto">
          <a:xfrm>
            <a:off x="5759450" y="2986089"/>
            <a:ext cx="522288" cy="7397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00" name="Text Box 20"/>
          <p:cNvSpPr txBox="1">
            <a:spLocks noChangeArrowheads="1"/>
          </p:cNvSpPr>
          <p:nvPr/>
        </p:nvSpPr>
        <p:spPr bwMode="auto">
          <a:xfrm>
            <a:off x="5997575" y="3797301"/>
            <a:ext cx="433388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C</a:t>
            </a:r>
            <a:r>
              <a:rPr lang="en-US" baseline="-25000"/>
              <a:t>1</a:t>
            </a:r>
          </a:p>
        </p:txBody>
      </p:sp>
      <p:sp>
        <p:nvSpPr>
          <p:cNvPr id="16401" name="Text Box 25"/>
          <p:cNvSpPr txBox="1">
            <a:spLocks noChangeArrowheads="1"/>
          </p:cNvSpPr>
          <p:nvPr/>
        </p:nvSpPr>
        <p:spPr bwMode="auto">
          <a:xfrm>
            <a:off x="6845300" y="4183063"/>
            <a:ext cx="30649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n</a:t>
            </a:r>
          </a:p>
        </p:txBody>
      </p:sp>
      <p:sp>
        <p:nvSpPr>
          <p:cNvPr id="16402" name="Line 30"/>
          <p:cNvSpPr>
            <a:spLocks noChangeShapeType="1"/>
          </p:cNvSpPr>
          <p:nvPr/>
        </p:nvSpPr>
        <p:spPr bwMode="auto">
          <a:xfrm>
            <a:off x="4983163" y="53689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03" name="Line 31"/>
          <p:cNvSpPr>
            <a:spLocks noChangeShapeType="1"/>
          </p:cNvSpPr>
          <p:nvPr/>
        </p:nvSpPr>
        <p:spPr bwMode="auto">
          <a:xfrm>
            <a:off x="5778500" y="53784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04" name="Line 32"/>
          <p:cNvSpPr>
            <a:spLocks noChangeShapeType="1"/>
          </p:cNvSpPr>
          <p:nvPr/>
        </p:nvSpPr>
        <p:spPr bwMode="auto">
          <a:xfrm>
            <a:off x="4999039" y="5561013"/>
            <a:ext cx="754063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06" name="Line 41"/>
          <p:cNvSpPr>
            <a:spLocks noChangeShapeType="1"/>
          </p:cNvSpPr>
          <p:nvPr/>
        </p:nvSpPr>
        <p:spPr bwMode="auto">
          <a:xfrm>
            <a:off x="6259513" y="538797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07" name="Line 42"/>
          <p:cNvSpPr>
            <a:spLocks noChangeShapeType="1"/>
          </p:cNvSpPr>
          <p:nvPr/>
        </p:nvSpPr>
        <p:spPr bwMode="auto">
          <a:xfrm>
            <a:off x="5803900" y="5683250"/>
            <a:ext cx="46355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08" name="Text Box 43"/>
          <p:cNvSpPr txBox="1">
            <a:spLocks noChangeArrowheads="1"/>
          </p:cNvSpPr>
          <p:nvPr/>
        </p:nvSpPr>
        <p:spPr bwMode="auto">
          <a:xfrm>
            <a:off x="5818188" y="5821363"/>
            <a:ext cx="388248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R</a:t>
            </a:r>
            <a:r>
              <a:rPr lang="en-US" baseline="-25000"/>
              <a:t>1</a:t>
            </a:r>
          </a:p>
        </p:txBody>
      </p:sp>
      <p:sp>
        <p:nvSpPr>
          <p:cNvPr id="16409" name="Line 44"/>
          <p:cNvSpPr>
            <a:spLocks noChangeShapeType="1"/>
          </p:cNvSpPr>
          <p:nvPr/>
        </p:nvSpPr>
        <p:spPr bwMode="auto">
          <a:xfrm>
            <a:off x="5772150" y="48323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10" name="Line 45"/>
          <p:cNvSpPr>
            <a:spLocks noChangeShapeType="1"/>
          </p:cNvSpPr>
          <p:nvPr/>
        </p:nvSpPr>
        <p:spPr bwMode="auto">
          <a:xfrm flipH="1">
            <a:off x="3498851" y="3227389"/>
            <a:ext cx="2436813" cy="487363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11" name="Line 47"/>
          <p:cNvSpPr>
            <a:spLocks noChangeShapeType="1"/>
          </p:cNvSpPr>
          <p:nvPr/>
        </p:nvSpPr>
        <p:spPr bwMode="auto">
          <a:xfrm>
            <a:off x="3500438" y="3714750"/>
            <a:ext cx="1543050" cy="0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12" name="Text Box 48"/>
          <p:cNvSpPr txBox="1">
            <a:spLocks noChangeArrowheads="1"/>
          </p:cNvSpPr>
          <p:nvPr/>
        </p:nvSpPr>
        <p:spPr bwMode="auto">
          <a:xfrm>
            <a:off x="3294063" y="3910013"/>
            <a:ext cx="381836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1</a:t>
            </a:r>
            <a:endParaRPr lang="en-US" dirty="0"/>
          </a:p>
        </p:txBody>
      </p:sp>
      <p:sp>
        <p:nvSpPr>
          <p:cNvPr id="16413" name="Oval 49"/>
          <p:cNvSpPr>
            <a:spLocks noChangeArrowheads="1"/>
          </p:cNvSpPr>
          <p:nvPr/>
        </p:nvSpPr>
        <p:spPr bwMode="auto">
          <a:xfrm>
            <a:off x="3513138" y="3662363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14" name="Line 50"/>
          <p:cNvSpPr>
            <a:spLocks noChangeShapeType="1"/>
          </p:cNvSpPr>
          <p:nvPr/>
        </p:nvSpPr>
        <p:spPr bwMode="auto">
          <a:xfrm>
            <a:off x="3552825" y="4830763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15" name="Line 52"/>
          <p:cNvSpPr>
            <a:spLocks noChangeShapeType="1"/>
          </p:cNvSpPr>
          <p:nvPr/>
        </p:nvSpPr>
        <p:spPr bwMode="auto">
          <a:xfrm>
            <a:off x="3554413" y="4987925"/>
            <a:ext cx="219075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416" name="Text Box 53"/>
          <p:cNvSpPr txBox="1">
            <a:spLocks noChangeArrowheads="1"/>
          </p:cNvSpPr>
          <p:nvPr/>
        </p:nvSpPr>
        <p:spPr bwMode="auto">
          <a:xfrm>
            <a:off x="4424363" y="4805363"/>
            <a:ext cx="425116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S’</a:t>
            </a:r>
            <a:r>
              <a:rPr lang="en-US" baseline="-25000" dirty="0"/>
              <a:t>1</a:t>
            </a:r>
          </a:p>
        </p:txBody>
      </p:sp>
      <p:sp>
        <p:nvSpPr>
          <p:cNvPr id="33" name="Text Box 53"/>
          <p:cNvSpPr txBox="1">
            <a:spLocks noChangeArrowheads="1"/>
          </p:cNvSpPr>
          <p:nvPr/>
        </p:nvSpPr>
        <p:spPr bwMode="auto">
          <a:xfrm>
            <a:off x="5146390" y="5362502"/>
            <a:ext cx="352982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113635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Derivation of the Lens </a:t>
            </a:r>
            <a:r>
              <a:rPr lang="en-US" dirty="0" err="1"/>
              <a:t>Equ</a:t>
            </a:r>
            <a:r>
              <a:rPr lang="en-US" dirty="0"/>
              <a:t>.</a:t>
            </a:r>
          </a:p>
        </p:txBody>
      </p:sp>
      <p:sp>
        <p:nvSpPr>
          <p:cNvPr id="17413" name="Rectangle 59"/>
          <p:cNvSpPr>
            <a:spLocks noChangeArrowheads="1"/>
          </p:cNvSpPr>
          <p:nvPr/>
        </p:nvSpPr>
        <p:spPr bwMode="auto">
          <a:xfrm>
            <a:off x="2241550" y="2470246"/>
            <a:ext cx="5399088" cy="24668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216526" y="2476500"/>
            <a:ext cx="3641725" cy="2463800"/>
            <a:chOff x="2190" y="1526"/>
            <a:chExt cx="2294" cy="1552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7462" name="Oval 5"/>
            <p:cNvSpPr>
              <a:spLocks noChangeArrowheads="1"/>
            </p:cNvSpPr>
            <p:nvPr/>
          </p:nvSpPr>
          <p:spPr bwMode="auto">
            <a:xfrm>
              <a:off x="2190" y="1759"/>
              <a:ext cx="1026" cy="1076"/>
            </a:xfrm>
            <a:prstGeom prst="ellipse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63" name="Oval 6"/>
            <p:cNvSpPr>
              <a:spLocks noChangeArrowheads="1"/>
            </p:cNvSpPr>
            <p:nvPr/>
          </p:nvSpPr>
          <p:spPr bwMode="auto">
            <a:xfrm>
              <a:off x="2989" y="1526"/>
              <a:ext cx="1495" cy="1552"/>
            </a:xfrm>
            <a:prstGeom prst="ellipse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64" name="AutoShape 7"/>
            <p:cNvSpPr>
              <a:spLocks noChangeArrowheads="1"/>
            </p:cNvSpPr>
            <p:nvPr/>
          </p:nvSpPr>
          <p:spPr bwMode="auto">
            <a:xfrm rot="5400000">
              <a:off x="2325" y="1845"/>
              <a:ext cx="1524" cy="91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3402 w 21600"/>
                <a:gd name="T13" fmla="*/ 3411 h 21600"/>
                <a:gd name="T14" fmla="*/ 18198 w 21600"/>
                <a:gd name="T15" fmla="*/ 18189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3203" y="21600"/>
                  </a:lnTo>
                  <a:lnTo>
                    <a:pt x="18397" y="21600"/>
                  </a:lnTo>
                  <a:lnTo>
                    <a:pt x="21600" y="0"/>
                  </a:lnTo>
                  <a:close/>
                </a:path>
              </a:pathLst>
            </a:cu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7415" name="Line 8"/>
          <p:cNvSpPr>
            <a:spLocks noChangeShapeType="1"/>
          </p:cNvSpPr>
          <p:nvPr/>
        </p:nvSpPr>
        <p:spPr bwMode="auto">
          <a:xfrm>
            <a:off x="3206751" y="3698875"/>
            <a:ext cx="677862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6" name="Oval 9"/>
          <p:cNvSpPr>
            <a:spLocks noChangeArrowheads="1"/>
          </p:cNvSpPr>
          <p:nvPr/>
        </p:nvSpPr>
        <p:spPr bwMode="auto">
          <a:xfrm>
            <a:off x="4397375" y="3652838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7" name="Text Box 10"/>
          <p:cNvSpPr txBox="1">
            <a:spLocks noChangeArrowheads="1"/>
          </p:cNvSpPr>
          <p:nvPr/>
        </p:nvSpPr>
        <p:spPr bwMode="auto">
          <a:xfrm>
            <a:off x="4244976" y="3922713"/>
            <a:ext cx="290513" cy="3698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7418" name="Text Box 11"/>
          <p:cNvSpPr txBox="1">
            <a:spLocks noChangeArrowheads="1"/>
          </p:cNvSpPr>
          <p:nvPr/>
        </p:nvSpPr>
        <p:spPr bwMode="auto">
          <a:xfrm>
            <a:off x="9650413" y="3814763"/>
            <a:ext cx="382588" cy="3698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2</a:t>
            </a:r>
          </a:p>
        </p:txBody>
      </p:sp>
      <p:sp>
        <p:nvSpPr>
          <p:cNvPr id="17419" name="Line 12"/>
          <p:cNvSpPr>
            <a:spLocks noChangeShapeType="1"/>
          </p:cNvSpPr>
          <p:nvPr/>
        </p:nvSpPr>
        <p:spPr bwMode="auto">
          <a:xfrm>
            <a:off x="4425950" y="3697288"/>
            <a:ext cx="769938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0" name="Line 13"/>
          <p:cNvSpPr>
            <a:spLocks noChangeShapeType="1"/>
          </p:cNvSpPr>
          <p:nvPr/>
        </p:nvSpPr>
        <p:spPr bwMode="auto">
          <a:xfrm>
            <a:off x="5230813" y="3690938"/>
            <a:ext cx="3600450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1" name="Oval 14"/>
          <p:cNvSpPr>
            <a:spLocks noChangeArrowheads="1"/>
          </p:cNvSpPr>
          <p:nvPr/>
        </p:nvSpPr>
        <p:spPr bwMode="auto">
          <a:xfrm>
            <a:off x="9674225" y="3660775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2" name="Line 15"/>
          <p:cNvSpPr>
            <a:spLocks noChangeShapeType="1"/>
          </p:cNvSpPr>
          <p:nvPr/>
        </p:nvSpPr>
        <p:spPr bwMode="auto">
          <a:xfrm>
            <a:off x="8866189" y="3698875"/>
            <a:ext cx="1408113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3" name="Line 16"/>
          <p:cNvSpPr>
            <a:spLocks noChangeShapeType="1"/>
          </p:cNvSpPr>
          <p:nvPr/>
        </p:nvSpPr>
        <p:spPr bwMode="auto">
          <a:xfrm flipV="1">
            <a:off x="4446589" y="3240088"/>
            <a:ext cx="900113" cy="465138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4" name="Text Box 17"/>
          <p:cNvSpPr txBox="1">
            <a:spLocks noChangeArrowheads="1"/>
          </p:cNvSpPr>
          <p:nvPr/>
        </p:nvSpPr>
        <p:spPr bwMode="auto">
          <a:xfrm>
            <a:off x="4787900" y="2587626"/>
            <a:ext cx="349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7425" name="Line 18"/>
          <p:cNvSpPr>
            <a:spLocks noChangeShapeType="1"/>
          </p:cNvSpPr>
          <p:nvPr/>
        </p:nvSpPr>
        <p:spPr bwMode="auto">
          <a:xfrm flipV="1">
            <a:off x="5353050" y="2622550"/>
            <a:ext cx="2903538" cy="59690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6" name="Line 19"/>
          <p:cNvSpPr>
            <a:spLocks noChangeShapeType="1"/>
          </p:cNvSpPr>
          <p:nvPr/>
        </p:nvSpPr>
        <p:spPr bwMode="auto">
          <a:xfrm>
            <a:off x="5181600" y="2971801"/>
            <a:ext cx="522288" cy="7397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7" name="Text Box 20"/>
          <p:cNvSpPr txBox="1">
            <a:spLocks noChangeArrowheads="1"/>
          </p:cNvSpPr>
          <p:nvPr/>
        </p:nvSpPr>
        <p:spPr bwMode="auto">
          <a:xfrm>
            <a:off x="5419725" y="3783014"/>
            <a:ext cx="433388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C</a:t>
            </a:r>
            <a:r>
              <a:rPr lang="en-US" baseline="-25000"/>
              <a:t>1</a:t>
            </a:r>
          </a:p>
        </p:txBody>
      </p:sp>
      <p:sp>
        <p:nvSpPr>
          <p:cNvPr id="17428" name="Text Box 21"/>
          <p:cNvSpPr txBox="1">
            <a:spLocks noChangeArrowheads="1"/>
          </p:cNvSpPr>
          <p:nvPr/>
        </p:nvSpPr>
        <p:spPr bwMode="auto">
          <a:xfrm>
            <a:off x="7489825" y="3819526"/>
            <a:ext cx="433388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C</a:t>
            </a:r>
            <a:r>
              <a:rPr lang="en-US" baseline="-25000"/>
              <a:t>2</a:t>
            </a:r>
          </a:p>
        </p:txBody>
      </p:sp>
      <p:sp>
        <p:nvSpPr>
          <p:cNvPr id="17429" name="Line 22"/>
          <p:cNvSpPr>
            <a:spLocks noChangeShapeType="1"/>
          </p:cNvSpPr>
          <p:nvPr/>
        </p:nvSpPr>
        <p:spPr bwMode="auto">
          <a:xfrm flipH="1">
            <a:off x="7713664" y="2166938"/>
            <a:ext cx="741363" cy="1524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30" name="Line 23"/>
          <p:cNvSpPr>
            <a:spLocks noChangeShapeType="1"/>
          </p:cNvSpPr>
          <p:nvPr/>
        </p:nvSpPr>
        <p:spPr bwMode="auto">
          <a:xfrm>
            <a:off x="8250238" y="2632076"/>
            <a:ext cx="2046288" cy="1495425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31" name="Text Box 24"/>
          <p:cNvSpPr txBox="1">
            <a:spLocks noChangeArrowheads="1"/>
          </p:cNvSpPr>
          <p:nvPr/>
        </p:nvSpPr>
        <p:spPr bwMode="auto">
          <a:xfrm>
            <a:off x="8496300" y="1898651"/>
            <a:ext cx="349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7432" name="Text Box 25"/>
          <p:cNvSpPr txBox="1">
            <a:spLocks noChangeArrowheads="1"/>
          </p:cNvSpPr>
          <p:nvPr/>
        </p:nvSpPr>
        <p:spPr bwMode="auto">
          <a:xfrm>
            <a:off x="6267450" y="4168775"/>
            <a:ext cx="30649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n</a:t>
            </a:r>
          </a:p>
        </p:txBody>
      </p:sp>
      <p:sp>
        <p:nvSpPr>
          <p:cNvPr id="17433" name="Line 26"/>
          <p:cNvSpPr>
            <a:spLocks noChangeShapeType="1"/>
          </p:cNvSpPr>
          <p:nvPr/>
        </p:nvSpPr>
        <p:spPr bwMode="auto">
          <a:xfrm>
            <a:off x="5211763" y="49212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34" name="Line 27"/>
          <p:cNvSpPr>
            <a:spLocks noChangeShapeType="1"/>
          </p:cNvSpPr>
          <p:nvPr/>
        </p:nvSpPr>
        <p:spPr bwMode="auto">
          <a:xfrm>
            <a:off x="5211763" y="5103813"/>
            <a:ext cx="365760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35" name="Line 28"/>
          <p:cNvSpPr>
            <a:spLocks noChangeShapeType="1"/>
          </p:cNvSpPr>
          <p:nvPr/>
        </p:nvSpPr>
        <p:spPr bwMode="auto">
          <a:xfrm>
            <a:off x="8845550" y="4922838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36" name="Text Box 29"/>
          <p:cNvSpPr txBox="1">
            <a:spLocks noChangeArrowheads="1"/>
          </p:cNvSpPr>
          <p:nvPr/>
        </p:nvSpPr>
        <p:spPr bwMode="auto">
          <a:xfrm>
            <a:off x="6869113" y="4978401"/>
            <a:ext cx="260350" cy="366713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t</a:t>
            </a:r>
          </a:p>
        </p:txBody>
      </p:sp>
      <p:sp>
        <p:nvSpPr>
          <p:cNvPr id="17437" name="Line 34"/>
          <p:cNvSpPr>
            <a:spLocks noChangeShapeType="1"/>
          </p:cNvSpPr>
          <p:nvPr/>
        </p:nvSpPr>
        <p:spPr bwMode="auto">
          <a:xfrm>
            <a:off x="8853488" y="43910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38" name="Line 35"/>
          <p:cNvSpPr>
            <a:spLocks noChangeShapeType="1"/>
          </p:cNvSpPr>
          <p:nvPr/>
        </p:nvSpPr>
        <p:spPr bwMode="auto">
          <a:xfrm>
            <a:off x="9705975" y="44005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39" name="Line 36"/>
          <p:cNvSpPr>
            <a:spLocks noChangeShapeType="1"/>
          </p:cNvSpPr>
          <p:nvPr/>
        </p:nvSpPr>
        <p:spPr bwMode="auto">
          <a:xfrm>
            <a:off x="8839201" y="4583113"/>
            <a:ext cx="855663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41" name="Line 38"/>
          <p:cNvSpPr>
            <a:spLocks noChangeShapeType="1"/>
          </p:cNvSpPr>
          <p:nvPr/>
        </p:nvSpPr>
        <p:spPr bwMode="auto">
          <a:xfrm>
            <a:off x="7713663" y="4357688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42" name="Line 39"/>
          <p:cNvSpPr>
            <a:spLocks noChangeShapeType="1"/>
          </p:cNvSpPr>
          <p:nvPr/>
        </p:nvSpPr>
        <p:spPr bwMode="auto">
          <a:xfrm>
            <a:off x="7729539" y="4445000"/>
            <a:ext cx="110172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43" name="Text Box 40"/>
          <p:cNvSpPr txBox="1">
            <a:spLocks noChangeArrowheads="1"/>
          </p:cNvSpPr>
          <p:nvPr/>
        </p:nvSpPr>
        <p:spPr bwMode="auto">
          <a:xfrm>
            <a:off x="8020050" y="4264025"/>
            <a:ext cx="38824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R</a:t>
            </a:r>
            <a:r>
              <a:rPr lang="en-US" baseline="-25000" dirty="0"/>
              <a:t>2</a:t>
            </a:r>
          </a:p>
        </p:txBody>
      </p:sp>
      <p:sp>
        <p:nvSpPr>
          <p:cNvPr id="17445" name="Line 46"/>
          <p:cNvSpPr>
            <a:spLocks noChangeShapeType="1"/>
          </p:cNvSpPr>
          <p:nvPr/>
        </p:nvSpPr>
        <p:spPr bwMode="auto">
          <a:xfrm>
            <a:off x="4432300" y="3697288"/>
            <a:ext cx="769938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46" name="Line 47"/>
          <p:cNvSpPr>
            <a:spLocks noChangeShapeType="1"/>
          </p:cNvSpPr>
          <p:nvPr/>
        </p:nvSpPr>
        <p:spPr bwMode="auto">
          <a:xfrm flipV="1">
            <a:off x="4452939" y="3240088"/>
            <a:ext cx="900113" cy="465138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47" name="Text Box 48"/>
          <p:cNvSpPr txBox="1">
            <a:spLocks noChangeArrowheads="1"/>
          </p:cNvSpPr>
          <p:nvPr/>
        </p:nvSpPr>
        <p:spPr bwMode="auto">
          <a:xfrm>
            <a:off x="4794250" y="2587626"/>
            <a:ext cx="349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7448" name="Line 49"/>
          <p:cNvSpPr>
            <a:spLocks noChangeShapeType="1"/>
          </p:cNvSpPr>
          <p:nvPr/>
        </p:nvSpPr>
        <p:spPr bwMode="auto">
          <a:xfrm>
            <a:off x="5187950" y="2971801"/>
            <a:ext cx="522288" cy="7397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49" name="Text Box 50"/>
          <p:cNvSpPr txBox="1">
            <a:spLocks noChangeArrowheads="1"/>
          </p:cNvSpPr>
          <p:nvPr/>
        </p:nvSpPr>
        <p:spPr bwMode="auto">
          <a:xfrm>
            <a:off x="5426075" y="3783014"/>
            <a:ext cx="433388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C</a:t>
            </a:r>
            <a:r>
              <a:rPr lang="en-US" baseline="-25000"/>
              <a:t>1</a:t>
            </a:r>
          </a:p>
        </p:txBody>
      </p:sp>
      <p:sp>
        <p:nvSpPr>
          <p:cNvPr id="17450" name="Line 51"/>
          <p:cNvSpPr>
            <a:spLocks noChangeShapeType="1"/>
          </p:cNvSpPr>
          <p:nvPr/>
        </p:nvSpPr>
        <p:spPr bwMode="auto">
          <a:xfrm>
            <a:off x="5200650" y="4446588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51" name="Line 52"/>
          <p:cNvSpPr>
            <a:spLocks noChangeShapeType="1"/>
          </p:cNvSpPr>
          <p:nvPr/>
        </p:nvSpPr>
        <p:spPr bwMode="auto">
          <a:xfrm flipH="1">
            <a:off x="2927351" y="3213101"/>
            <a:ext cx="2436813" cy="487363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52" name="Line 53"/>
          <p:cNvSpPr>
            <a:spLocks noChangeShapeType="1"/>
          </p:cNvSpPr>
          <p:nvPr/>
        </p:nvSpPr>
        <p:spPr bwMode="auto">
          <a:xfrm>
            <a:off x="2928938" y="3700463"/>
            <a:ext cx="1543050" cy="0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53" name="Text Box 54"/>
          <p:cNvSpPr txBox="1">
            <a:spLocks noChangeArrowheads="1"/>
          </p:cNvSpPr>
          <p:nvPr/>
        </p:nvSpPr>
        <p:spPr bwMode="auto">
          <a:xfrm>
            <a:off x="2722563" y="3895725"/>
            <a:ext cx="382588" cy="3698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1</a:t>
            </a:r>
            <a:endParaRPr lang="en-US" dirty="0"/>
          </a:p>
        </p:txBody>
      </p:sp>
      <p:sp>
        <p:nvSpPr>
          <p:cNvPr id="17454" name="Oval 55"/>
          <p:cNvSpPr>
            <a:spLocks noChangeArrowheads="1"/>
          </p:cNvSpPr>
          <p:nvPr/>
        </p:nvSpPr>
        <p:spPr bwMode="auto">
          <a:xfrm>
            <a:off x="2941638" y="3648075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55" name="Line 56"/>
          <p:cNvSpPr>
            <a:spLocks noChangeShapeType="1"/>
          </p:cNvSpPr>
          <p:nvPr/>
        </p:nvSpPr>
        <p:spPr bwMode="auto">
          <a:xfrm>
            <a:off x="2981325" y="444500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56" name="Line 57"/>
          <p:cNvSpPr>
            <a:spLocks noChangeShapeType="1"/>
          </p:cNvSpPr>
          <p:nvPr/>
        </p:nvSpPr>
        <p:spPr bwMode="auto">
          <a:xfrm>
            <a:off x="2982913" y="4602163"/>
            <a:ext cx="219075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58" name="Line 60"/>
          <p:cNvSpPr>
            <a:spLocks noChangeShapeType="1"/>
          </p:cNvSpPr>
          <p:nvPr/>
        </p:nvSpPr>
        <p:spPr bwMode="auto">
          <a:xfrm>
            <a:off x="2990850" y="5497513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59" name="Line 61"/>
          <p:cNvSpPr>
            <a:spLocks noChangeShapeType="1"/>
          </p:cNvSpPr>
          <p:nvPr/>
        </p:nvSpPr>
        <p:spPr bwMode="auto">
          <a:xfrm>
            <a:off x="8855075" y="55181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60" name="Line 62"/>
          <p:cNvSpPr>
            <a:spLocks noChangeShapeType="1"/>
          </p:cNvSpPr>
          <p:nvPr/>
        </p:nvSpPr>
        <p:spPr bwMode="auto">
          <a:xfrm>
            <a:off x="2997200" y="5662613"/>
            <a:ext cx="5849938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" name="Text Box 53"/>
          <p:cNvSpPr txBox="1">
            <a:spLocks noChangeArrowheads="1"/>
          </p:cNvSpPr>
          <p:nvPr/>
        </p:nvSpPr>
        <p:spPr bwMode="auto">
          <a:xfrm>
            <a:off x="6075781" y="5497413"/>
            <a:ext cx="352982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2</a:t>
            </a:r>
          </a:p>
        </p:txBody>
      </p:sp>
      <p:sp>
        <p:nvSpPr>
          <p:cNvPr id="59" name="Text Box 53"/>
          <p:cNvSpPr txBox="1">
            <a:spLocks noChangeArrowheads="1"/>
          </p:cNvSpPr>
          <p:nvPr/>
        </p:nvSpPr>
        <p:spPr bwMode="auto">
          <a:xfrm>
            <a:off x="9016352" y="4735414"/>
            <a:ext cx="410690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s’</a:t>
            </a:r>
            <a:r>
              <a:rPr lang="en-US" baseline="-25000" dirty="0"/>
              <a:t>2</a:t>
            </a:r>
          </a:p>
        </p:txBody>
      </p:sp>
      <p:sp>
        <p:nvSpPr>
          <p:cNvPr id="54" name="Text Box 53"/>
          <p:cNvSpPr txBox="1">
            <a:spLocks noChangeArrowheads="1"/>
          </p:cNvSpPr>
          <p:nvPr/>
        </p:nvSpPr>
        <p:spPr bwMode="auto">
          <a:xfrm>
            <a:off x="3906203" y="4439603"/>
            <a:ext cx="42511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S’</a:t>
            </a:r>
            <a:r>
              <a:rPr lang="en-US" baseline="-250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630063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Derivation of the Lens Equ.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4227514" y="2338388"/>
            <a:ext cx="3641725" cy="2463800"/>
            <a:chOff x="2190" y="1526"/>
            <a:chExt cx="2294" cy="1552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5401" name="Oval 4"/>
            <p:cNvSpPr>
              <a:spLocks noChangeArrowheads="1"/>
            </p:cNvSpPr>
            <p:nvPr/>
          </p:nvSpPr>
          <p:spPr bwMode="auto">
            <a:xfrm>
              <a:off x="2190" y="1759"/>
              <a:ext cx="1026" cy="1076"/>
            </a:xfrm>
            <a:prstGeom prst="ellipse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402" name="Oval 5"/>
            <p:cNvSpPr>
              <a:spLocks noChangeArrowheads="1"/>
            </p:cNvSpPr>
            <p:nvPr/>
          </p:nvSpPr>
          <p:spPr bwMode="auto">
            <a:xfrm>
              <a:off x="2989" y="1526"/>
              <a:ext cx="1495" cy="1552"/>
            </a:xfrm>
            <a:prstGeom prst="ellipse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403" name="AutoShape 6"/>
            <p:cNvSpPr>
              <a:spLocks noChangeArrowheads="1"/>
            </p:cNvSpPr>
            <p:nvPr/>
          </p:nvSpPr>
          <p:spPr bwMode="auto">
            <a:xfrm rot="5400000">
              <a:off x="2325" y="1845"/>
              <a:ext cx="1524" cy="91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3402 w 21600"/>
                <a:gd name="T13" fmla="*/ 3411 h 21600"/>
                <a:gd name="T14" fmla="*/ 18198 w 21600"/>
                <a:gd name="T15" fmla="*/ 18189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3203" y="21600"/>
                  </a:lnTo>
                  <a:lnTo>
                    <a:pt x="18397" y="21600"/>
                  </a:lnTo>
                  <a:lnTo>
                    <a:pt x="21600" y="0"/>
                  </a:lnTo>
                  <a:close/>
                </a:path>
              </a:pathLst>
            </a:cu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5365" name="Line 8"/>
          <p:cNvSpPr>
            <a:spLocks noChangeShapeType="1"/>
          </p:cNvSpPr>
          <p:nvPr/>
        </p:nvSpPr>
        <p:spPr bwMode="auto">
          <a:xfrm>
            <a:off x="2217739" y="3560763"/>
            <a:ext cx="677862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66" name="Oval 9"/>
          <p:cNvSpPr>
            <a:spLocks noChangeArrowheads="1"/>
          </p:cNvSpPr>
          <p:nvPr/>
        </p:nvSpPr>
        <p:spPr bwMode="auto">
          <a:xfrm>
            <a:off x="3379788" y="3529013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67" name="Text Box 10"/>
          <p:cNvSpPr txBox="1">
            <a:spLocks noChangeArrowheads="1"/>
          </p:cNvSpPr>
          <p:nvPr/>
        </p:nvSpPr>
        <p:spPr bwMode="auto">
          <a:xfrm>
            <a:off x="3255963" y="3784600"/>
            <a:ext cx="29046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8661400" y="3676650"/>
            <a:ext cx="303288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15369" name="Line 12"/>
          <p:cNvSpPr>
            <a:spLocks noChangeShapeType="1"/>
          </p:cNvSpPr>
          <p:nvPr/>
        </p:nvSpPr>
        <p:spPr bwMode="auto">
          <a:xfrm>
            <a:off x="3436939" y="3559175"/>
            <a:ext cx="769937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0" name="Line 14"/>
          <p:cNvSpPr>
            <a:spLocks noChangeShapeType="1"/>
          </p:cNvSpPr>
          <p:nvPr/>
        </p:nvSpPr>
        <p:spPr bwMode="auto">
          <a:xfrm>
            <a:off x="4241800" y="3567113"/>
            <a:ext cx="3600450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1" name="Oval 16"/>
          <p:cNvSpPr>
            <a:spLocks noChangeArrowheads="1"/>
          </p:cNvSpPr>
          <p:nvPr/>
        </p:nvSpPr>
        <p:spPr bwMode="auto">
          <a:xfrm>
            <a:off x="8685213" y="3522663"/>
            <a:ext cx="88900" cy="889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2" name="Line 15"/>
          <p:cNvSpPr>
            <a:spLocks noChangeShapeType="1"/>
          </p:cNvSpPr>
          <p:nvPr/>
        </p:nvSpPr>
        <p:spPr bwMode="auto">
          <a:xfrm>
            <a:off x="7877176" y="3560763"/>
            <a:ext cx="1408113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3" name="Line 17"/>
          <p:cNvSpPr>
            <a:spLocks noChangeShapeType="1"/>
          </p:cNvSpPr>
          <p:nvPr/>
        </p:nvSpPr>
        <p:spPr bwMode="auto">
          <a:xfrm flipV="1">
            <a:off x="3457576" y="3101975"/>
            <a:ext cx="900113" cy="465138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4" name="Text Box 18"/>
          <p:cNvSpPr txBox="1">
            <a:spLocks noChangeArrowheads="1"/>
          </p:cNvSpPr>
          <p:nvPr/>
        </p:nvSpPr>
        <p:spPr bwMode="auto">
          <a:xfrm>
            <a:off x="3798888" y="2449513"/>
            <a:ext cx="3492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5375" name="Line 19"/>
          <p:cNvSpPr>
            <a:spLocks noChangeShapeType="1"/>
          </p:cNvSpPr>
          <p:nvPr/>
        </p:nvSpPr>
        <p:spPr bwMode="auto">
          <a:xfrm flipV="1">
            <a:off x="4364039" y="2484438"/>
            <a:ext cx="2903537" cy="59690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6" name="Line 20"/>
          <p:cNvSpPr>
            <a:spLocks noChangeShapeType="1"/>
          </p:cNvSpPr>
          <p:nvPr/>
        </p:nvSpPr>
        <p:spPr bwMode="auto">
          <a:xfrm>
            <a:off x="4192589" y="2833689"/>
            <a:ext cx="522287" cy="7397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7" name="Text Box 21"/>
          <p:cNvSpPr txBox="1">
            <a:spLocks noChangeArrowheads="1"/>
          </p:cNvSpPr>
          <p:nvPr/>
        </p:nvSpPr>
        <p:spPr bwMode="auto">
          <a:xfrm>
            <a:off x="4430714" y="3644901"/>
            <a:ext cx="433387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C</a:t>
            </a:r>
            <a:r>
              <a:rPr lang="en-US" baseline="-25000"/>
              <a:t>1</a:t>
            </a:r>
          </a:p>
        </p:txBody>
      </p:sp>
      <p:sp>
        <p:nvSpPr>
          <p:cNvPr id="15378" name="Text Box 22"/>
          <p:cNvSpPr txBox="1">
            <a:spLocks noChangeArrowheads="1"/>
          </p:cNvSpPr>
          <p:nvPr/>
        </p:nvSpPr>
        <p:spPr bwMode="auto">
          <a:xfrm>
            <a:off x="6500814" y="3681413"/>
            <a:ext cx="433387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C</a:t>
            </a:r>
            <a:r>
              <a:rPr lang="en-US" baseline="-25000"/>
              <a:t>2</a:t>
            </a:r>
          </a:p>
        </p:txBody>
      </p:sp>
      <p:sp>
        <p:nvSpPr>
          <p:cNvPr id="15379" name="Line 23"/>
          <p:cNvSpPr>
            <a:spLocks noChangeShapeType="1"/>
          </p:cNvSpPr>
          <p:nvPr/>
        </p:nvSpPr>
        <p:spPr bwMode="auto">
          <a:xfrm flipH="1">
            <a:off x="6724651" y="2028825"/>
            <a:ext cx="741363" cy="1524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0" name="Line 24"/>
          <p:cNvSpPr>
            <a:spLocks noChangeShapeType="1"/>
          </p:cNvSpPr>
          <p:nvPr/>
        </p:nvSpPr>
        <p:spPr bwMode="auto">
          <a:xfrm>
            <a:off x="7261225" y="2493964"/>
            <a:ext cx="2046288" cy="1495425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1" name="Text Box 25"/>
          <p:cNvSpPr txBox="1">
            <a:spLocks noChangeArrowheads="1"/>
          </p:cNvSpPr>
          <p:nvPr/>
        </p:nvSpPr>
        <p:spPr bwMode="auto">
          <a:xfrm>
            <a:off x="7507288" y="1760538"/>
            <a:ext cx="3492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5382" name="Text Box 26"/>
          <p:cNvSpPr txBox="1">
            <a:spLocks noChangeArrowheads="1"/>
          </p:cNvSpPr>
          <p:nvPr/>
        </p:nvSpPr>
        <p:spPr bwMode="auto">
          <a:xfrm>
            <a:off x="5278438" y="4030663"/>
            <a:ext cx="30649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n</a:t>
            </a:r>
          </a:p>
        </p:txBody>
      </p:sp>
      <p:sp>
        <p:nvSpPr>
          <p:cNvPr id="15383" name="Line 28"/>
          <p:cNvSpPr>
            <a:spLocks noChangeShapeType="1"/>
          </p:cNvSpPr>
          <p:nvPr/>
        </p:nvSpPr>
        <p:spPr bwMode="auto">
          <a:xfrm>
            <a:off x="4222750" y="4783139"/>
            <a:ext cx="0" cy="363537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4" name="Line 29"/>
          <p:cNvSpPr>
            <a:spLocks noChangeShapeType="1"/>
          </p:cNvSpPr>
          <p:nvPr/>
        </p:nvSpPr>
        <p:spPr bwMode="auto">
          <a:xfrm>
            <a:off x="4222750" y="4965700"/>
            <a:ext cx="365760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5" name="Line 30"/>
          <p:cNvSpPr>
            <a:spLocks noChangeShapeType="1"/>
          </p:cNvSpPr>
          <p:nvPr/>
        </p:nvSpPr>
        <p:spPr bwMode="auto">
          <a:xfrm>
            <a:off x="7856538" y="47847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6" name="Text Box 31"/>
          <p:cNvSpPr txBox="1">
            <a:spLocks noChangeArrowheads="1"/>
          </p:cNvSpPr>
          <p:nvPr/>
        </p:nvSpPr>
        <p:spPr bwMode="auto">
          <a:xfrm>
            <a:off x="5880100" y="4768851"/>
            <a:ext cx="260350" cy="366713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t</a:t>
            </a:r>
          </a:p>
        </p:txBody>
      </p:sp>
      <p:sp>
        <p:nvSpPr>
          <p:cNvPr id="15387" name="Line 32"/>
          <p:cNvSpPr>
            <a:spLocks noChangeShapeType="1"/>
          </p:cNvSpPr>
          <p:nvPr/>
        </p:nvSpPr>
        <p:spPr bwMode="auto">
          <a:xfrm>
            <a:off x="3416300" y="52165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8" name="Line 34"/>
          <p:cNvSpPr>
            <a:spLocks noChangeShapeType="1"/>
          </p:cNvSpPr>
          <p:nvPr/>
        </p:nvSpPr>
        <p:spPr bwMode="auto">
          <a:xfrm>
            <a:off x="4211638" y="52260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9" name="Line 35"/>
          <p:cNvSpPr>
            <a:spLocks noChangeShapeType="1"/>
          </p:cNvSpPr>
          <p:nvPr/>
        </p:nvSpPr>
        <p:spPr bwMode="auto">
          <a:xfrm>
            <a:off x="3432176" y="5408613"/>
            <a:ext cx="754063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0" name="Text Box 36"/>
          <p:cNvSpPr txBox="1">
            <a:spLocks noChangeArrowheads="1"/>
          </p:cNvSpPr>
          <p:nvPr/>
        </p:nvSpPr>
        <p:spPr bwMode="auto">
          <a:xfrm>
            <a:off x="3590925" y="5516563"/>
            <a:ext cx="352982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</a:p>
        </p:txBody>
      </p:sp>
      <p:sp>
        <p:nvSpPr>
          <p:cNvPr id="15391" name="Line 37"/>
          <p:cNvSpPr>
            <a:spLocks noChangeShapeType="1"/>
          </p:cNvSpPr>
          <p:nvPr/>
        </p:nvSpPr>
        <p:spPr bwMode="auto">
          <a:xfrm>
            <a:off x="7864475" y="526732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2" name="Line 38"/>
          <p:cNvSpPr>
            <a:spLocks noChangeShapeType="1"/>
          </p:cNvSpPr>
          <p:nvPr/>
        </p:nvSpPr>
        <p:spPr bwMode="auto">
          <a:xfrm>
            <a:off x="8716963" y="5276850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3" name="Line 39"/>
          <p:cNvSpPr>
            <a:spLocks noChangeShapeType="1"/>
          </p:cNvSpPr>
          <p:nvPr/>
        </p:nvSpPr>
        <p:spPr bwMode="auto">
          <a:xfrm>
            <a:off x="7850188" y="5459413"/>
            <a:ext cx="855662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4" name="Text Box 40"/>
          <p:cNvSpPr txBox="1">
            <a:spLocks noChangeArrowheads="1"/>
          </p:cNvSpPr>
          <p:nvPr/>
        </p:nvSpPr>
        <p:spPr bwMode="auto">
          <a:xfrm>
            <a:off x="8081963" y="5567363"/>
            <a:ext cx="425116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S’</a:t>
            </a:r>
            <a:r>
              <a:rPr lang="en-US" baseline="-25000" dirty="0"/>
              <a:t>2</a:t>
            </a:r>
          </a:p>
        </p:txBody>
      </p:sp>
      <p:sp>
        <p:nvSpPr>
          <p:cNvPr id="15395" name="Line 41"/>
          <p:cNvSpPr>
            <a:spLocks noChangeShapeType="1"/>
          </p:cNvSpPr>
          <p:nvPr/>
        </p:nvSpPr>
        <p:spPr bwMode="auto">
          <a:xfrm>
            <a:off x="6724650" y="5233989"/>
            <a:ext cx="0" cy="363537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6" name="Line 42"/>
          <p:cNvSpPr>
            <a:spLocks noChangeShapeType="1"/>
          </p:cNvSpPr>
          <p:nvPr/>
        </p:nvSpPr>
        <p:spPr bwMode="auto">
          <a:xfrm>
            <a:off x="6740526" y="5321300"/>
            <a:ext cx="110172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7" name="Text Box 43"/>
          <p:cNvSpPr txBox="1">
            <a:spLocks noChangeArrowheads="1"/>
          </p:cNvSpPr>
          <p:nvPr/>
        </p:nvSpPr>
        <p:spPr bwMode="auto">
          <a:xfrm>
            <a:off x="7059613" y="5168900"/>
            <a:ext cx="388248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R</a:t>
            </a:r>
            <a:r>
              <a:rPr lang="en-US" baseline="-25000"/>
              <a:t>2</a:t>
            </a:r>
          </a:p>
        </p:txBody>
      </p:sp>
      <p:sp>
        <p:nvSpPr>
          <p:cNvPr id="15398" name="Line 44"/>
          <p:cNvSpPr>
            <a:spLocks noChangeShapeType="1"/>
          </p:cNvSpPr>
          <p:nvPr/>
        </p:nvSpPr>
        <p:spPr bwMode="auto">
          <a:xfrm>
            <a:off x="4692650" y="5235575"/>
            <a:ext cx="0" cy="3635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99" name="Line 45"/>
          <p:cNvSpPr>
            <a:spLocks noChangeShapeType="1"/>
          </p:cNvSpPr>
          <p:nvPr/>
        </p:nvSpPr>
        <p:spPr bwMode="auto">
          <a:xfrm>
            <a:off x="4237038" y="5530850"/>
            <a:ext cx="46355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400" name="Text Box 46"/>
          <p:cNvSpPr txBox="1">
            <a:spLocks noChangeArrowheads="1"/>
          </p:cNvSpPr>
          <p:nvPr/>
        </p:nvSpPr>
        <p:spPr bwMode="auto">
          <a:xfrm>
            <a:off x="4251325" y="5668963"/>
            <a:ext cx="388248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R</a:t>
            </a:r>
            <a:r>
              <a:rPr lang="en-US" baseline="-2500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18408467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Derivation of the Lens Equ.</a:t>
            </a:r>
          </a:p>
        </p:txBody>
      </p:sp>
      <p:sp>
        <p:nvSpPr>
          <p:cNvPr id="19461" name="Freeform 51"/>
          <p:cNvSpPr>
            <a:spLocks/>
          </p:cNvSpPr>
          <p:nvPr/>
        </p:nvSpPr>
        <p:spPr bwMode="auto">
          <a:xfrm>
            <a:off x="5553076" y="2119314"/>
            <a:ext cx="323850" cy="1671638"/>
          </a:xfrm>
          <a:custGeom>
            <a:avLst/>
            <a:gdLst>
              <a:gd name="T0" fmla="*/ 105 w 204"/>
              <a:gd name="T1" fmla="*/ 0 h 1053"/>
              <a:gd name="T2" fmla="*/ 66 w 204"/>
              <a:gd name="T3" fmla="*/ 102 h 1053"/>
              <a:gd name="T4" fmla="*/ 36 w 204"/>
              <a:gd name="T5" fmla="*/ 210 h 1053"/>
              <a:gd name="T6" fmla="*/ 15 w 204"/>
              <a:gd name="T7" fmla="*/ 339 h 1053"/>
              <a:gd name="T8" fmla="*/ 0 w 204"/>
              <a:gd name="T9" fmla="*/ 513 h 1053"/>
              <a:gd name="T10" fmla="*/ 3 w 204"/>
              <a:gd name="T11" fmla="*/ 618 h 1053"/>
              <a:gd name="T12" fmla="*/ 21 w 204"/>
              <a:gd name="T13" fmla="*/ 777 h 1053"/>
              <a:gd name="T14" fmla="*/ 66 w 204"/>
              <a:gd name="T15" fmla="*/ 957 h 1053"/>
              <a:gd name="T16" fmla="*/ 102 w 204"/>
              <a:gd name="T17" fmla="*/ 1053 h 1053"/>
              <a:gd name="T18" fmla="*/ 126 w 204"/>
              <a:gd name="T19" fmla="*/ 999 h 1053"/>
              <a:gd name="T20" fmla="*/ 174 w 204"/>
              <a:gd name="T21" fmla="*/ 834 h 1053"/>
              <a:gd name="T22" fmla="*/ 204 w 204"/>
              <a:gd name="T23" fmla="*/ 621 h 1053"/>
              <a:gd name="T24" fmla="*/ 204 w 204"/>
              <a:gd name="T25" fmla="*/ 480 h 1053"/>
              <a:gd name="T26" fmla="*/ 192 w 204"/>
              <a:gd name="T27" fmla="*/ 315 h 1053"/>
              <a:gd name="T28" fmla="*/ 165 w 204"/>
              <a:gd name="T29" fmla="*/ 180 h 1053"/>
              <a:gd name="T30" fmla="*/ 135 w 204"/>
              <a:gd name="T31" fmla="*/ 69 h 1053"/>
              <a:gd name="T32" fmla="*/ 105 w 204"/>
              <a:gd name="T33" fmla="*/ 0 h 1053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204"/>
              <a:gd name="T52" fmla="*/ 0 h 1053"/>
              <a:gd name="T53" fmla="*/ 204 w 204"/>
              <a:gd name="T54" fmla="*/ 1053 h 1053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204" h="1053">
                <a:moveTo>
                  <a:pt x="105" y="0"/>
                </a:moveTo>
                <a:lnTo>
                  <a:pt x="66" y="102"/>
                </a:lnTo>
                <a:lnTo>
                  <a:pt x="36" y="210"/>
                </a:lnTo>
                <a:lnTo>
                  <a:pt x="15" y="339"/>
                </a:lnTo>
                <a:lnTo>
                  <a:pt x="0" y="513"/>
                </a:lnTo>
                <a:lnTo>
                  <a:pt x="3" y="618"/>
                </a:lnTo>
                <a:lnTo>
                  <a:pt x="21" y="777"/>
                </a:lnTo>
                <a:lnTo>
                  <a:pt x="66" y="957"/>
                </a:lnTo>
                <a:lnTo>
                  <a:pt x="102" y="1053"/>
                </a:lnTo>
                <a:lnTo>
                  <a:pt x="126" y="999"/>
                </a:lnTo>
                <a:lnTo>
                  <a:pt x="174" y="834"/>
                </a:lnTo>
                <a:lnTo>
                  <a:pt x="204" y="621"/>
                </a:lnTo>
                <a:lnTo>
                  <a:pt x="204" y="480"/>
                </a:lnTo>
                <a:lnTo>
                  <a:pt x="192" y="315"/>
                </a:lnTo>
                <a:lnTo>
                  <a:pt x="165" y="180"/>
                </a:lnTo>
                <a:lnTo>
                  <a:pt x="135" y="69"/>
                </a:lnTo>
                <a:lnTo>
                  <a:pt x="105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2" name="Line 9"/>
          <p:cNvSpPr>
            <a:spLocks noChangeShapeType="1"/>
          </p:cNvSpPr>
          <p:nvPr/>
        </p:nvSpPr>
        <p:spPr bwMode="auto">
          <a:xfrm>
            <a:off x="2347914" y="2973389"/>
            <a:ext cx="715327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3" name="Oval 10"/>
          <p:cNvSpPr>
            <a:spLocks noChangeArrowheads="1"/>
          </p:cNvSpPr>
          <p:nvPr/>
        </p:nvSpPr>
        <p:spPr bwMode="auto">
          <a:xfrm>
            <a:off x="3124202" y="2954340"/>
            <a:ext cx="68263" cy="5556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4" name="Text Box 11"/>
          <p:cNvSpPr txBox="1">
            <a:spLocks noChangeArrowheads="1"/>
          </p:cNvSpPr>
          <p:nvPr/>
        </p:nvSpPr>
        <p:spPr bwMode="auto">
          <a:xfrm>
            <a:off x="2973389" y="3057527"/>
            <a:ext cx="290513" cy="3698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9465" name="Text Box 12"/>
          <p:cNvSpPr txBox="1">
            <a:spLocks noChangeArrowheads="1"/>
          </p:cNvSpPr>
          <p:nvPr/>
        </p:nvSpPr>
        <p:spPr bwMode="auto">
          <a:xfrm>
            <a:off x="8391527" y="3016252"/>
            <a:ext cx="303213" cy="3698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19466" name="Line 13"/>
          <p:cNvSpPr>
            <a:spLocks noChangeShapeType="1"/>
          </p:cNvSpPr>
          <p:nvPr/>
        </p:nvSpPr>
        <p:spPr bwMode="auto">
          <a:xfrm>
            <a:off x="3125789" y="2957514"/>
            <a:ext cx="6137275" cy="1588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7" name="Oval 15"/>
          <p:cNvSpPr>
            <a:spLocks noChangeArrowheads="1"/>
          </p:cNvSpPr>
          <p:nvPr/>
        </p:nvSpPr>
        <p:spPr bwMode="auto">
          <a:xfrm>
            <a:off x="8396289" y="2935289"/>
            <a:ext cx="42863" cy="5715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8" name="Line 17"/>
          <p:cNvSpPr>
            <a:spLocks noChangeShapeType="1"/>
          </p:cNvSpPr>
          <p:nvPr/>
        </p:nvSpPr>
        <p:spPr bwMode="auto">
          <a:xfrm flipV="1">
            <a:off x="3119439" y="2366964"/>
            <a:ext cx="2613025" cy="61595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9" name="Line 20"/>
          <p:cNvSpPr>
            <a:spLocks noChangeShapeType="1"/>
          </p:cNvSpPr>
          <p:nvPr/>
        </p:nvSpPr>
        <p:spPr bwMode="auto">
          <a:xfrm>
            <a:off x="5586413" y="2520952"/>
            <a:ext cx="1766888" cy="43973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 type="arrow" w="med" len="med"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0" name="Text Box 21"/>
          <p:cNvSpPr txBox="1">
            <a:spLocks noChangeArrowheads="1"/>
          </p:cNvSpPr>
          <p:nvPr/>
        </p:nvSpPr>
        <p:spPr bwMode="auto">
          <a:xfrm>
            <a:off x="7086601" y="3060702"/>
            <a:ext cx="560388" cy="336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600"/>
              <a:t>C</a:t>
            </a:r>
            <a:r>
              <a:rPr lang="en-US" sz="1600" baseline="-25000"/>
              <a:t>1</a:t>
            </a:r>
          </a:p>
        </p:txBody>
      </p:sp>
      <p:sp>
        <p:nvSpPr>
          <p:cNvPr id="19471" name="Text Box 22"/>
          <p:cNvSpPr txBox="1">
            <a:spLocks noChangeArrowheads="1"/>
          </p:cNvSpPr>
          <p:nvPr/>
        </p:nvSpPr>
        <p:spPr bwMode="auto">
          <a:xfrm>
            <a:off x="3714751" y="3013077"/>
            <a:ext cx="558800" cy="336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600"/>
              <a:t>C</a:t>
            </a:r>
            <a:r>
              <a:rPr lang="en-US" sz="1600" baseline="-25000"/>
              <a:t>2</a:t>
            </a:r>
          </a:p>
        </p:txBody>
      </p:sp>
      <p:sp>
        <p:nvSpPr>
          <p:cNvPr id="19472" name="Line 24"/>
          <p:cNvSpPr>
            <a:spLocks noChangeShapeType="1"/>
          </p:cNvSpPr>
          <p:nvPr/>
        </p:nvSpPr>
        <p:spPr bwMode="auto">
          <a:xfrm>
            <a:off x="5734052" y="2368552"/>
            <a:ext cx="3275013" cy="73025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3" name="Text Box 26"/>
          <p:cNvSpPr txBox="1">
            <a:spLocks noChangeArrowheads="1"/>
          </p:cNvSpPr>
          <p:nvPr/>
        </p:nvSpPr>
        <p:spPr bwMode="auto">
          <a:xfrm>
            <a:off x="5559426" y="3051177"/>
            <a:ext cx="30649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n</a:t>
            </a:r>
          </a:p>
        </p:txBody>
      </p:sp>
      <p:sp>
        <p:nvSpPr>
          <p:cNvPr id="19474" name="Line 31"/>
          <p:cNvSpPr>
            <a:spLocks noChangeShapeType="1"/>
          </p:cNvSpPr>
          <p:nvPr/>
        </p:nvSpPr>
        <p:spPr bwMode="auto">
          <a:xfrm>
            <a:off x="3154363" y="390366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5" name="Line 33"/>
          <p:cNvSpPr>
            <a:spLocks noChangeShapeType="1"/>
          </p:cNvSpPr>
          <p:nvPr/>
        </p:nvSpPr>
        <p:spPr bwMode="auto">
          <a:xfrm>
            <a:off x="3192464" y="4017964"/>
            <a:ext cx="2532063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6" name="Text Box 34"/>
          <p:cNvSpPr txBox="1">
            <a:spLocks noChangeArrowheads="1"/>
          </p:cNvSpPr>
          <p:nvPr/>
        </p:nvSpPr>
        <p:spPr bwMode="auto">
          <a:xfrm>
            <a:off x="4594226" y="3833814"/>
            <a:ext cx="274434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endParaRPr lang="en-US" baseline="-25000" dirty="0"/>
          </a:p>
        </p:txBody>
      </p:sp>
      <p:sp>
        <p:nvSpPr>
          <p:cNvPr id="19477" name="Line 36"/>
          <p:cNvSpPr>
            <a:spLocks noChangeShapeType="1"/>
          </p:cNvSpPr>
          <p:nvPr/>
        </p:nvSpPr>
        <p:spPr bwMode="auto">
          <a:xfrm>
            <a:off x="8513763" y="390366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8" name="Line 37"/>
          <p:cNvSpPr>
            <a:spLocks noChangeShapeType="1"/>
          </p:cNvSpPr>
          <p:nvPr/>
        </p:nvSpPr>
        <p:spPr bwMode="auto">
          <a:xfrm>
            <a:off x="5748338" y="4013203"/>
            <a:ext cx="2719388" cy="952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80" name="Text Box 41"/>
          <p:cNvSpPr txBox="1">
            <a:spLocks noChangeArrowheads="1"/>
          </p:cNvSpPr>
          <p:nvPr/>
        </p:nvSpPr>
        <p:spPr bwMode="auto">
          <a:xfrm>
            <a:off x="4764088" y="3246439"/>
            <a:ext cx="285656" cy="2308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900"/>
              <a:t>R</a:t>
            </a:r>
            <a:r>
              <a:rPr lang="en-US" sz="900" baseline="-25000"/>
              <a:t>2</a:t>
            </a:r>
          </a:p>
        </p:txBody>
      </p:sp>
      <p:sp>
        <p:nvSpPr>
          <p:cNvPr id="19481" name="Text Box 44"/>
          <p:cNvSpPr txBox="1">
            <a:spLocks noChangeArrowheads="1"/>
          </p:cNvSpPr>
          <p:nvPr/>
        </p:nvSpPr>
        <p:spPr bwMode="auto">
          <a:xfrm>
            <a:off x="6059488" y="2678114"/>
            <a:ext cx="285656" cy="2308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900"/>
              <a:t>R</a:t>
            </a:r>
            <a:r>
              <a:rPr lang="en-US" sz="900" baseline="-25000"/>
              <a:t>1</a:t>
            </a:r>
          </a:p>
        </p:txBody>
      </p:sp>
      <p:grpSp>
        <p:nvGrpSpPr>
          <p:cNvPr id="3" name="Group 47"/>
          <p:cNvGrpSpPr>
            <a:grpSpLocks/>
          </p:cNvGrpSpPr>
          <p:nvPr/>
        </p:nvGrpSpPr>
        <p:grpSpPr bwMode="auto">
          <a:xfrm>
            <a:off x="4406902" y="2109790"/>
            <a:ext cx="2625725" cy="1687513"/>
            <a:chOff x="2740" y="1019"/>
            <a:chExt cx="3182" cy="1694"/>
          </a:xfrm>
        </p:grpSpPr>
        <p:sp>
          <p:nvSpPr>
            <p:cNvPr id="19485" name="Arc 45"/>
            <p:cNvSpPr>
              <a:spLocks/>
            </p:cNvSpPr>
            <p:nvPr/>
          </p:nvSpPr>
          <p:spPr bwMode="auto">
            <a:xfrm>
              <a:off x="2740" y="1019"/>
              <a:ext cx="1787" cy="1675"/>
            </a:xfrm>
            <a:custGeom>
              <a:avLst/>
              <a:gdLst>
                <a:gd name="T0" fmla="*/ 1 w 21600"/>
                <a:gd name="T1" fmla="*/ 0 h 19474"/>
                <a:gd name="T2" fmla="*/ 1 w 21600"/>
                <a:gd name="T3" fmla="*/ 1 h 19474"/>
                <a:gd name="T4" fmla="*/ 0 w 21600"/>
                <a:gd name="T5" fmla="*/ 1 h 19474"/>
                <a:gd name="T6" fmla="*/ 0 60000 65536"/>
                <a:gd name="T7" fmla="*/ 0 60000 65536"/>
                <a:gd name="T8" fmla="*/ 0 60000 65536"/>
                <a:gd name="T9" fmla="*/ 0 w 21600"/>
                <a:gd name="T10" fmla="*/ 0 h 19474"/>
                <a:gd name="T11" fmla="*/ 21600 w 21600"/>
                <a:gd name="T12" fmla="*/ 19474 h 1947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19474" fill="none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38"/>
                    <a:pt x="20811" y="16462"/>
                    <a:pt x="19296" y="19473"/>
                  </a:cubicBezTo>
                </a:path>
                <a:path w="21600" h="19474" stroke="0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38"/>
                    <a:pt x="20811" y="16462"/>
                    <a:pt x="19296" y="19473"/>
                  </a:cubicBezTo>
                  <a:lnTo>
                    <a:pt x="0" y="976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486" name="Arc 46"/>
            <p:cNvSpPr>
              <a:spLocks/>
            </p:cNvSpPr>
            <p:nvPr/>
          </p:nvSpPr>
          <p:spPr bwMode="auto">
            <a:xfrm flipH="1">
              <a:off x="4135" y="1032"/>
              <a:ext cx="1787" cy="1681"/>
            </a:xfrm>
            <a:custGeom>
              <a:avLst/>
              <a:gdLst>
                <a:gd name="T0" fmla="*/ 1 w 21600"/>
                <a:gd name="T1" fmla="*/ 0 h 19545"/>
                <a:gd name="T2" fmla="*/ 1 w 21600"/>
                <a:gd name="T3" fmla="*/ 1 h 19545"/>
                <a:gd name="T4" fmla="*/ 0 w 21600"/>
                <a:gd name="T5" fmla="*/ 1 h 19545"/>
                <a:gd name="T6" fmla="*/ 0 60000 65536"/>
                <a:gd name="T7" fmla="*/ 0 60000 65536"/>
                <a:gd name="T8" fmla="*/ 0 60000 65536"/>
                <a:gd name="T9" fmla="*/ 0 w 21600"/>
                <a:gd name="T10" fmla="*/ 0 h 19545"/>
                <a:gd name="T11" fmla="*/ 21600 w 21600"/>
                <a:gd name="T12" fmla="*/ 19545 h 1954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19545" fill="none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65"/>
                    <a:pt x="20798" y="16515"/>
                    <a:pt x="19260" y="19545"/>
                  </a:cubicBezTo>
                </a:path>
                <a:path w="21600" h="19545" stroke="0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65"/>
                    <a:pt x="20798" y="16515"/>
                    <a:pt x="19260" y="19545"/>
                  </a:cubicBezTo>
                  <a:lnTo>
                    <a:pt x="0" y="976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9483" name="Line 48"/>
          <p:cNvSpPr>
            <a:spLocks noChangeShapeType="1"/>
          </p:cNvSpPr>
          <p:nvPr/>
        </p:nvSpPr>
        <p:spPr bwMode="auto">
          <a:xfrm>
            <a:off x="5746751" y="390366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84" name="Line 50"/>
          <p:cNvSpPr>
            <a:spLocks noChangeShapeType="1"/>
          </p:cNvSpPr>
          <p:nvPr/>
        </p:nvSpPr>
        <p:spPr bwMode="auto">
          <a:xfrm>
            <a:off x="3979864" y="2968628"/>
            <a:ext cx="1857375" cy="4921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4"/>
          <p:cNvSpPr txBox="1">
            <a:spLocks noChangeArrowheads="1"/>
          </p:cNvSpPr>
          <p:nvPr/>
        </p:nvSpPr>
        <p:spPr bwMode="auto">
          <a:xfrm>
            <a:off x="6815246" y="3806333"/>
            <a:ext cx="332142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s’</a:t>
            </a: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50652095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Oval 59"/>
          <p:cNvSpPr/>
          <p:nvPr/>
        </p:nvSpPr>
        <p:spPr>
          <a:xfrm>
            <a:off x="3157929" y="272323"/>
            <a:ext cx="6013554" cy="58286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3157929" y="419725"/>
            <a:ext cx="5576341" cy="551638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3757535" y="209862"/>
            <a:ext cx="4991724" cy="6175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62" name="Line 9"/>
          <p:cNvSpPr>
            <a:spLocks noChangeShapeType="1"/>
          </p:cNvSpPr>
          <p:nvPr/>
        </p:nvSpPr>
        <p:spPr bwMode="auto">
          <a:xfrm>
            <a:off x="2347914" y="2973389"/>
            <a:ext cx="715327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4" name="Text Box 11"/>
          <p:cNvSpPr txBox="1">
            <a:spLocks noChangeArrowheads="1"/>
          </p:cNvSpPr>
          <p:nvPr/>
        </p:nvSpPr>
        <p:spPr bwMode="auto">
          <a:xfrm>
            <a:off x="2778515" y="3027546"/>
            <a:ext cx="369012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</a:p>
        </p:txBody>
      </p:sp>
      <p:sp>
        <p:nvSpPr>
          <p:cNvPr id="19467" name="Oval 15"/>
          <p:cNvSpPr>
            <a:spLocks noChangeArrowheads="1"/>
          </p:cNvSpPr>
          <p:nvPr/>
        </p:nvSpPr>
        <p:spPr bwMode="auto">
          <a:xfrm>
            <a:off x="9100826" y="2545546"/>
            <a:ext cx="42863" cy="5715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4" name="Line 31"/>
          <p:cNvSpPr>
            <a:spLocks noChangeShapeType="1"/>
          </p:cNvSpPr>
          <p:nvPr/>
        </p:nvSpPr>
        <p:spPr bwMode="auto">
          <a:xfrm>
            <a:off x="3154363" y="462318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5" name="Line 33"/>
          <p:cNvSpPr>
            <a:spLocks noChangeShapeType="1"/>
          </p:cNvSpPr>
          <p:nvPr/>
        </p:nvSpPr>
        <p:spPr bwMode="auto">
          <a:xfrm>
            <a:off x="3192464" y="4737484"/>
            <a:ext cx="2532063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6" name="Text Box 34"/>
          <p:cNvSpPr txBox="1">
            <a:spLocks noChangeArrowheads="1"/>
          </p:cNvSpPr>
          <p:nvPr/>
        </p:nvSpPr>
        <p:spPr bwMode="auto">
          <a:xfrm>
            <a:off x="4594226" y="4553334"/>
            <a:ext cx="290464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endParaRPr lang="en-US" baseline="-25000" dirty="0"/>
          </a:p>
        </p:txBody>
      </p:sp>
      <p:sp>
        <p:nvSpPr>
          <p:cNvPr id="19477" name="Line 36"/>
          <p:cNvSpPr>
            <a:spLocks noChangeShapeType="1"/>
          </p:cNvSpPr>
          <p:nvPr/>
        </p:nvSpPr>
        <p:spPr bwMode="auto">
          <a:xfrm>
            <a:off x="8513763" y="462318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8" name="Line 37"/>
          <p:cNvSpPr>
            <a:spLocks noChangeShapeType="1"/>
          </p:cNvSpPr>
          <p:nvPr/>
        </p:nvSpPr>
        <p:spPr bwMode="auto">
          <a:xfrm>
            <a:off x="5748338" y="4732723"/>
            <a:ext cx="2719388" cy="952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2" name="Group 47"/>
          <p:cNvGrpSpPr>
            <a:grpSpLocks/>
          </p:cNvGrpSpPr>
          <p:nvPr/>
        </p:nvGrpSpPr>
        <p:grpSpPr bwMode="auto">
          <a:xfrm>
            <a:off x="4406902" y="374754"/>
            <a:ext cx="2625725" cy="5501390"/>
            <a:chOff x="2740" y="1019"/>
            <a:chExt cx="3182" cy="1694"/>
          </a:xfrm>
        </p:grpSpPr>
        <p:sp>
          <p:nvSpPr>
            <p:cNvPr id="19485" name="Arc 45"/>
            <p:cNvSpPr>
              <a:spLocks/>
            </p:cNvSpPr>
            <p:nvPr/>
          </p:nvSpPr>
          <p:spPr bwMode="auto">
            <a:xfrm>
              <a:off x="2740" y="1019"/>
              <a:ext cx="1787" cy="1675"/>
            </a:xfrm>
            <a:custGeom>
              <a:avLst/>
              <a:gdLst>
                <a:gd name="T0" fmla="*/ 1 w 21600"/>
                <a:gd name="T1" fmla="*/ 0 h 19474"/>
                <a:gd name="T2" fmla="*/ 1 w 21600"/>
                <a:gd name="T3" fmla="*/ 1 h 19474"/>
                <a:gd name="T4" fmla="*/ 0 w 21600"/>
                <a:gd name="T5" fmla="*/ 1 h 19474"/>
                <a:gd name="T6" fmla="*/ 0 60000 65536"/>
                <a:gd name="T7" fmla="*/ 0 60000 65536"/>
                <a:gd name="T8" fmla="*/ 0 60000 65536"/>
                <a:gd name="T9" fmla="*/ 0 w 21600"/>
                <a:gd name="T10" fmla="*/ 0 h 19474"/>
                <a:gd name="T11" fmla="*/ 21600 w 21600"/>
                <a:gd name="T12" fmla="*/ 19474 h 1947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19474" fill="none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38"/>
                    <a:pt x="20811" y="16462"/>
                    <a:pt x="19296" y="19473"/>
                  </a:cubicBezTo>
                </a:path>
                <a:path w="21600" h="19474" stroke="0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38"/>
                    <a:pt x="20811" y="16462"/>
                    <a:pt x="19296" y="19473"/>
                  </a:cubicBezTo>
                  <a:lnTo>
                    <a:pt x="0" y="976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486" name="Arc 46"/>
            <p:cNvSpPr>
              <a:spLocks/>
            </p:cNvSpPr>
            <p:nvPr/>
          </p:nvSpPr>
          <p:spPr bwMode="auto">
            <a:xfrm flipH="1">
              <a:off x="4135" y="1032"/>
              <a:ext cx="1787" cy="1681"/>
            </a:xfrm>
            <a:custGeom>
              <a:avLst/>
              <a:gdLst>
                <a:gd name="T0" fmla="*/ 1 w 21600"/>
                <a:gd name="T1" fmla="*/ 0 h 19545"/>
                <a:gd name="T2" fmla="*/ 1 w 21600"/>
                <a:gd name="T3" fmla="*/ 1 h 19545"/>
                <a:gd name="T4" fmla="*/ 0 w 21600"/>
                <a:gd name="T5" fmla="*/ 1 h 19545"/>
                <a:gd name="T6" fmla="*/ 0 60000 65536"/>
                <a:gd name="T7" fmla="*/ 0 60000 65536"/>
                <a:gd name="T8" fmla="*/ 0 60000 65536"/>
                <a:gd name="T9" fmla="*/ 0 w 21600"/>
                <a:gd name="T10" fmla="*/ 0 h 19545"/>
                <a:gd name="T11" fmla="*/ 21600 w 21600"/>
                <a:gd name="T12" fmla="*/ 19545 h 1954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19545" fill="none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65"/>
                    <a:pt x="20798" y="16515"/>
                    <a:pt x="19260" y="19545"/>
                  </a:cubicBezTo>
                </a:path>
                <a:path w="21600" h="19545" stroke="0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65"/>
                    <a:pt x="20798" y="16515"/>
                    <a:pt x="19260" y="19545"/>
                  </a:cubicBezTo>
                  <a:lnTo>
                    <a:pt x="0" y="976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9483" name="Line 48"/>
          <p:cNvSpPr>
            <a:spLocks noChangeShapeType="1"/>
          </p:cNvSpPr>
          <p:nvPr/>
        </p:nvSpPr>
        <p:spPr bwMode="auto">
          <a:xfrm>
            <a:off x="5746751" y="462318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4"/>
          <p:cNvSpPr txBox="1">
            <a:spLocks noChangeArrowheads="1"/>
          </p:cNvSpPr>
          <p:nvPr/>
        </p:nvSpPr>
        <p:spPr bwMode="auto">
          <a:xfrm>
            <a:off x="6815246" y="4525853"/>
            <a:ext cx="346570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S’</a:t>
            </a:r>
            <a:endParaRPr lang="en-US" baseline="-25000" dirty="0"/>
          </a:p>
        </p:txBody>
      </p:sp>
      <p:sp>
        <p:nvSpPr>
          <p:cNvPr id="34" name="Oval 10"/>
          <p:cNvSpPr>
            <a:spLocks noChangeArrowheads="1"/>
          </p:cNvSpPr>
          <p:nvPr/>
        </p:nvSpPr>
        <p:spPr bwMode="auto">
          <a:xfrm>
            <a:off x="3155432" y="3199178"/>
            <a:ext cx="68263" cy="5556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5" name="Line 17"/>
          <p:cNvSpPr>
            <a:spLocks noChangeShapeType="1"/>
          </p:cNvSpPr>
          <p:nvPr/>
        </p:nvSpPr>
        <p:spPr bwMode="auto">
          <a:xfrm flipV="1">
            <a:off x="3187910" y="2593298"/>
            <a:ext cx="2563317" cy="644577"/>
          </a:xfrm>
          <a:prstGeom prst="line">
            <a:avLst/>
          </a:prstGeom>
          <a:noFill/>
          <a:ln w="9525">
            <a:solidFill>
              <a:srgbClr val="00B0F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" name="Line 17"/>
          <p:cNvSpPr>
            <a:spLocks noChangeShapeType="1"/>
          </p:cNvSpPr>
          <p:nvPr/>
        </p:nvSpPr>
        <p:spPr bwMode="auto">
          <a:xfrm flipV="1">
            <a:off x="5702742" y="2548328"/>
            <a:ext cx="3781035" cy="49838"/>
          </a:xfrm>
          <a:prstGeom prst="line">
            <a:avLst/>
          </a:prstGeom>
          <a:noFill/>
          <a:ln w="9525">
            <a:solidFill>
              <a:srgbClr val="00B0F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7" name="Line 17"/>
          <p:cNvSpPr>
            <a:spLocks noChangeShapeType="1"/>
          </p:cNvSpPr>
          <p:nvPr/>
        </p:nvSpPr>
        <p:spPr bwMode="auto">
          <a:xfrm flipV="1">
            <a:off x="3142937" y="2458387"/>
            <a:ext cx="6730585" cy="809466"/>
          </a:xfrm>
          <a:prstGeom prst="line">
            <a:avLst/>
          </a:prstGeom>
          <a:noFill/>
          <a:ln w="9525">
            <a:solidFill>
              <a:srgbClr val="00B0F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8" name="Oval 10"/>
          <p:cNvSpPr>
            <a:spLocks noChangeArrowheads="1"/>
          </p:cNvSpPr>
          <p:nvPr/>
        </p:nvSpPr>
        <p:spPr bwMode="auto">
          <a:xfrm>
            <a:off x="3170422" y="3561437"/>
            <a:ext cx="68263" cy="5556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9" name="Line 17"/>
          <p:cNvSpPr>
            <a:spLocks noChangeShapeType="1"/>
          </p:cNvSpPr>
          <p:nvPr/>
        </p:nvSpPr>
        <p:spPr bwMode="auto">
          <a:xfrm flipV="1">
            <a:off x="3157929" y="2098623"/>
            <a:ext cx="6086005" cy="1484025"/>
          </a:xfrm>
          <a:prstGeom prst="line">
            <a:avLst/>
          </a:prstGeom>
          <a:noFill/>
          <a:ln w="9525">
            <a:solidFill>
              <a:srgbClr val="00B05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0" name="Oval 10"/>
          <p:cNvSpPr>
            <a:spLocks noChangeArrowheads="1"/>
          </p:cNvSpPr>
          <p:nvPr/>
        </p:nvSpPr>
        <p:spPr bwMode="auto">
          <a:xfrm>
            <a:off x="4267192" y="2944350"/>
            <a:ext cx="68263" cy="5556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" name="Line 17"/>
          <p:cNvSpPr>
            <a:spLocks noChangeShapeType="1"/>
          </p:cNvSpPr>
          <p:nvPr/>
        </p:nvSpPr>
        <p:spPr bwMode="auto">
          <a:xfrm flipV="1">
            <a:off x="3187910" y="2113613"/>
            <a:ext cx="2518347" cy="1499012"/>
          </a:xfrm>
          <a:prstGeom prst="line">
            <a:avLst/>
          </a:prstGeom>
          <a:noFill/>
          <a:ln w="9525">
            <a:solidFill>
              <a:srgbClr val="00B05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2" name="Line 17"/>
          <p:cNvSpPr>
            <a:spLocks noChangeShapeType="1"/>
          </p:cNvSpPr>
          <p:nvPr/>
        </p:nvSpPr>
        <p:spPr bwMode="auto">
          <a:xfrm>
            <a:off x="5736236" y="2130354"/>
            <a:ext cx="3867462" cy="45719"/>
          </a:xfrm>
          <a:prstGeom prst="line">
            <a:avLst/>
          </a:prstGeom>
          <a:noFill/>
          <a:ln w="9525">
            <a:solidFill>
              <a:srgbClr val="00B05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3" name="Oval 10"/>
          <p:cNvSpPr>
            <a:spLocks noChangeArrowheads="1"/>
          </p:cNvSpPr>
          <p:nvPr/>
        </p:nvSpPr>
        <p:spPr bwMode="auto">
          <a:xfrm>
            <a:off x="3247873" y="3818765"/>
            <a:ext cx="68263" cy="5556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4" name="Line 17"/>
          <p:cNvSpPr>
            <a:spLocks noChangeShapeType="1"/>
          </p:cNvSpPr>
          <p:nvPr/>
        </p:nvSpPr>
        <p:spPr bwMode="auto">
          <a:xfrm flipV="1">
            <a:off x="3277849" y="1798819"/>
            <a:ext cx="2458387" cy="2053650"/>
          </a:xfrm>
          <a:prstGeom prst="line">
            <a:avLst/>
          </a:prstGeom>
          <a:noFill/>
          <a:ln w="9525">
            <a:solidFill>
              <a:srgbClr val="7030A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5" name="Line 17"/>
          <p:cNvSpPr>
            <a:spLocks noChangeShapeType="1"/>
          </p:cNvSpPr>
          <p:nvPr/>
        </p:nvSpPr>
        <p:spPr bwMode="auto">
          <a:xfrm>
            <a:off x="5646295" y="1813811"/>
            <a:ext cx="4287186" cy="64958"/>
          </a:xfrm>
          <a:prstGeom prst="line">
            <a:avLst/>
          </a:prstGeom>
          <a:noFill/>
          <a:ln w="9525">
            <a:solidFill>
              <a:srgbClr val="7030A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" name="Line 17"/>
          <p:cNvSpPr>
            <a:spLocks noChangeShapeType="1"/>
          </p:cNvSpPr>
          <p:nvPr/>
        </p:nvSpPr>
        <p:spPr bwMode="auto">
          <a:xfrm flipV="1">
            <a:off x="3262859" y="1633928"/>
            <a:ext cx="6235909" cy="2203552"/>
          </a:xfrm>
          <a:prstGeom prst="line">
            <a:avLst/>
          </a:prstGeom>
          <a:noFill/>
          <a:ln w="9525">
            <a:solidFill>
              <a:srgbClr val="7030A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1" name="Oval 15"/>
          <p:cNvSpPr>
            <a:spLocks noChangeArrowheads="1"/>
          </p:cNvSpPr>
          <p:nvPr/>
        </p:nvSpPr>
        <p:spPr bwMode="auto">
          <a:xfrm>
            <a:off x="8983406" y="2128326"/>
            <a:ext cx="42863" cy="5715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2" name="Oval 15"/>
          <p:cNvSpPr>
            <a:spLocks noChangeArrowheads="1"/>
          </p:cNvSpPr>
          <p:nvPr/>
        </p:nvSpPr>
        <p:spPr bwMode="auto">
          <a:xfrm>
            <a:off x="8836006" y="1846016"/>
            <a:ext cx="42863" cy="5715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3" name="Text Box 11"/>
          <p:cNvSpPr txBox="1">
            <a:spLocks noChangeArrowheads="1"/>
          </p:cNvSpPr>
          <p:nvPr/>
        </p:nvSpPr>
        <p:spPr bwMode="auto">
          <a:xfrm>
            <a:off x="2840974" y="3419788"/>
            <a:ext cx="369012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2</a:t>
            </a:r>
          </a:p>
        </p:txBody>
      </p:sp>
      <p:sp>
        <p:nvSpPr>
          <p:cNvPr id="64" name="Text Box 11"/>
          <p:cNvSpPr txBox="1">
            <a:spLocks noChangeArrowheads="1"/>
          </p:cNvSpPr>
          <p:nvPr/>
        </p:nvSpPr>
        <p:spPr bwMode="auto">
          <a:xfrm>
            <a:off x="2870955" y="3794542"/>
            <a:ext cx="369012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3</a:t>
            </a:r>
          </a:p>
        </p:txBody>
      </p:sp>
      <p:sp>
        <p:nvSpPr>
          <p:cNvPr id="65" name="Text Box 11"/>
          <p:cNvSpPr txBox="1">
            <a:spLocks noChangeArrowheads="1"/>
          </p:cNvSpPr>
          <p:nvPr/>
        </p:nvSpPr>
        <p:spPr bwMode="auto">
          <a:xfrm>
            <a:off x="9151833" y="2550359"/>
            <a:ext cx="381836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1</a:t>
            </a:r>
          </a:p>
        </p:txBody>
      </p:sp>
      <p:sp>
        <p:nvSpPr>
          <p:cNvPr id="66" name="Text Box 11"/>
          <p:cNvSpPr txBox="1">
            <a:spLocks noChangeArrowheads="1"/>
          </p:cNvSpPr>
          <p:nvPr/>
        </p:nvSpPr>
        <p:spPr bwMode="auto">
          <a:xfrm>
            <a:off x="9019420" y="2133133"/>
            <a:ext cx="381836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2</a:t>
            </a:r>
          </a:p>
        </p:txBody>
      </p:sp>
      <p:sp>
        <p:nvSpPr>
          <p:cNvPr id="67" name="Text Box 11"/>
          <p:cNvSpPr txBox="1">
            <a:spLocks noChangeArrowheads="1"/>
          </p:cNvSpPr>
          <p:nvPr/>
        </p:nvSpPr>
        <p:spPr bwMode="auto">
          <a:xfrm>
            <a:off x="8899499" y="1773369"/>
            <a:ext cx="381836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0119054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2" name="Object 2"/>
          <p:cNvGraphicFramePr>
            <a:graphicFrameLocks noChangeAspect="1"/>
          </p:cNvGraphicFramePr>
          <p:nvPr/>
        </p:nvGraphicFramePr>
        <p:xfrm>
          <a:off x="1498444" y="1325880"/>
          <a:ext cx="9169556" cy="39471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318000" imgH="1854200" progId="Equation.3">
                  <p:embed/>
                </p:oleObj>
              </mc:Choice>
              <mc:Fallback>
                <p:oleObj name="Equation" r:id="rId2" imgW="4318000" imgH="1854200" progId="Equation.3">
                  <p:embed/>
                  <p:pic>
                    <p:nvPicPr>
                      <p:cNvPr id="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98444" y="1325880"/>
                        <a:ext cx="9169556" cy="394716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001153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737D248-6E5F-4FBE-A133-A3DD9DE0A1C4}" type="slidenum">
              <a:rPr lang="en-US" smtClean="0"/>
              <a:pPr/>
              <a:t>101</a:t>
            </a:fld>
            <a:endParaRPr lang="en-US"/>
          </a:p>
        </p:txBody>
      </p:sp>
      <p:sp>
        <p:nvSpPr>
          <p:cNvPr id="181251" name="Text Box 2"/>
          <p:cNvSpPr txBox="1">
            <a:spLocks noChangeArrowheads="1"/>
          </p:cNvSpPr>
          <p:nvPr/>
        </p:nvSpPr>
        <p:spPr bwMode="auto">
          <a:xfrm>
            <a:off x="2318479" y="299804"/>
            <a:ext cx="7587521" cy="4479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3600" dirty="0"/>
              <a:t>Question 223.16.2</a:t>
            </a:r>
          </a:p>
        </p:txBody>
      </p:sp>
      <p:sp>
        <p:nvSpPr>
          <p:cNvPr id="181252" name="Text Box 3"/>
          <p:cNvSpPr txBox="1">
            <a:spLocks noChangeArrowheads="1"/>
          </p:cNvSpPr>
          <p:nvPr/>
        </p:nvSpPr>
        <p:spPr bwMode="auto">
          <a:xfrm>
            <a:off x="2286000" y="1295400"/>
            <a:ext cx="7620000" cy="48013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>
              <a:spcBef>
                <a:spcPct val="50000"/>
              </a:spcBef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If the image is on the same side of the air-glass interface as the object, we call this a virtual image. What would be the sign of the image distance, s’?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Positive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Negative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Neutral</a:t>
            </a:r>
          </a:p>
        </p:txBody>
      </p:sp>
    </p:spTree>
    <p:extLst>
      <p:ext uri="{BB962C8B-B14F-4D97-AF65-F5344CB8AC3E}">
        <p14:creationId xmlns:p14="http://schemas.microsoft.com/office/powerpoint/2010/main" val="26653997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737D248-6E5F-4FBE-A133-A3DD9DE0A1C4}" type="slidenum">
              <a:rPr lang="en-US" smtClean="0"/>
              <a:pPr/>
              <a:t>102</a:t>
            </a:fld>
            <a:endParaRPr lang="en-US"/>
          </a:p>
        </p:txBody>
      </p:sp>
      <p:sp>
        <p:nvSpPr>
          <p:cNvPr id="181251" name="Text Box 2"/>
          <p:cNvSpPr txBox="1">
            <a:spLocks noChangeArrowheads="1"/>
          </p:cNvSpPr>
          <p:nvPr/>
        </p:nvSpPr>
        <p:spPr bwMode="auto">
          <a:xfrm>
            <a:off x="2318479" y="299804"/>
            <a:ext cx="7587521" cy="4479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3600" dirty="0"/>
              <a:t>Question 223.16.3</a:t>
            </a:r>
          </a:p>
        </p:txBody>
      </p:sp>
      <p:sp>
        <p:nvSpPr>
          <p:cNvPr id="181252" name="Text Box 3"/>
          <p:cNvSpPr txBox="1">
            <a:spLocks noChangeArrowheads="1"/>
          </p:cNvSpPr>
          <p:nvPr/>
        </p:nvSpPr>
        <p:spPr bwMode="auto">
          <a:xfrm>
            <a:off x="2286000" y="1295401"/>
            <a:ext cx="7620000" cy="36933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>
              <a:spcBef>
                <a:spcPct val="50000"/>
              </a:spcBef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If the image inverted, what is the sign of the image height?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Positive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Negative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Neutral</a:t>
            </a:r>
          </a:p>
        </p:txBody>
      </p:sp>
    </p:spTree>
    <p:extLst>
      <p:ext uri="{BB962C8B-B14F-4D97-AF65-F5344CB8AC3E}">
        <p14:creationId xmlns:p14="http://schemas.microsoft.com/office/powerpoint/2010/main" val="173211335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737D248-6E5F-4FBE-A133-A3DD9DE0A1C4}" type="slidenum">
              <a:rPr lang="en-US" smtClean="0"/>
              <a:pPr/>
              <a:t>103</a:t>
            </a:fld>
            <a:endParaRPr lang="en-US"/>
          </a:p>
        </p:txBody>
      </p:sp>
      <p:sp>
        <p:nvSpPr>
          <p:cNvPr id="181251" name="Text Box 2"/>
          <p:cNvSpPr txBox="1">
            <a:spLocks noChangeArrowheads="1"/>
          </p:cNvSpPr>
          <p:nvPr/>
        </p:nvSpPr>
        <p:spPr bwMode="auto">
          <a:xfrm>
            <a:off x="2318479" y="299804"/>
            <a:ext cx="7587521" cy="4479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3600" dirty="0"/>
              <a:t>Question 223.16.4</a:t>
            </a:r>
          </a:p>
        </p:txBody>
      </p:sp>
      <p:sp>
        <p:nvSpPr>
          <p:cNvPr id="181252" name="Text Box 3"/>
          <p:cNvSpPr txBox="1">
            <a:spLocks noChangeArrowheads="1"/>
          </p:cNvSpPr>
          <p:nvPr/>
        </p:nvSpPr>
        <p:spPr bwMode="auto">
          <a:xfrm>
            <a:off x="2286000" y="1295401"/>
            <a:ext cx="7620000" cy="36933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>
              <a:spcBef>
                <a:spcPct val="50000"/>
              </a:spcBef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If the image is inverted, what is the sign of the magnification?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Positive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Negative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Neutral</a:t>
            </a:r>
          </a:p>
        </p:txBody>
      </p:sp>
    </p:spTree>
    <p:extLst>
      <p:ext uri="{BB962C8B-B14F-4D97-AF65-F5344CB8AC3E}">
        <p14:creationId xmlns:p14="http://schemas.microsoft.com/office/powerpoint/2010/main" val="206373705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104</a:t>
            </a:fld>
            <a:endParaRPr lang="en-US"/>
          </a:p>
        </p:txBody>
      </p:sp>
      <p:sp>
        <p:nvSpPr>
          <p:cNvPr id="3" name="Text Box 2"/>
          <p:cNvSpPr txBox="1">
            <a:spLocks noChangeArrowheads="1"/>
          </p:cNvSpPr>
          <p:nvPr/>
        </p:nvSpPr>
        <p:spPr bwMode="auto">
          <a:xfrm>
            <a:off x="2318479" y="299804"/>
            <a:ext cx="7587521" cy="4479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3600" dirty="0"/>
              <a:t>Question 223.16.5</a:t>
            </a:r>
          </a:p>
        </p:txBody>
      </p:sp>
      <p:sp>
        <p:nvSpPr>
          <p:cNvPr id="4" name="Text Box 3"/>
          <p:cNvSpPr txBox="1">
            <a:spLocks noChangeArrowheads="1"/>
          </p:cNvSpPr>
          <p:nvPr/>
        </p:nvSpPr>
        <p:spPr bwMode="auto">
          <a:xfrm>
            <a:off x="2286000" y="1295400"/>
            <a:ext cx="7620000" cy="48013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>
              <a:spcBef>
                <a:spcPct val="50000"/>
              </a:spcBef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What would</a:t>
            </a:r>
          </a:p>
          <a:p>
            <a:pPr marL="342900" indent="-342900">
              <a:spcBef>
                <a:spcPct val="50000"/>
              </a:spcBef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Be for </a:t>
            </a:r>
            <a:r>
              <a:rPr lang="en-US" sz="360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a thin lens? </a:t>
            </a:r>
            <a:endParaRPr lang="en-US" sz="36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radius ratio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lens thickness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lens width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36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focal length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4"/>
              <p:cNvSpPr txBox="1"/>
              <p:nvPr/>
            </p:nvSpPr>
            <p:spPr bwMode="auto">
              <a:xfrm>
                <a:off x="5924551" y="1284289"/>
                <a:ext cx="2481263" cy="82232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24551" y="1284289"/>
                <a:ext cx="2481263" cy="8223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843341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105</a:t>
            </a:fld>
            <a:endParaRPr lang="en-US"/>
          </a:p>
        </p:txBody>
      </p:sp>
      <p:sp>
        <p:nvSpPr>
          <p:cNvPr id="3" name="Text Box 2"/>
          <p:cNvSpPr txBox="1">
            <a:spLocks noChangeArrowheads="1"/>
          </p:cNvSpPr>
          <p:nvPr/>
        </p:nvSpPr>
        <p:spPr bwMode="auto">
          <a:xfrm>
            <a:off x="2318479" y="299804"/>
            <a:ext cx="7587521" cy="4479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3600" dirty="0"/>
              <a:t>Question 223.16.6</a:t>
            </a:r>
          </a:p>
        </p:txBody>
      </p:sp>
      <p:sp>
        <p:nvSpPr>
          <p:cNvPr id="4" name="Text Box 3"/>
          <p:cNvSpPr txBox="1">
            <a:spLocks noChangeArrowheads="1"/>
          </p:cNvSpPr>
          <p:nvPr/>
        </p:nvSpPr>
        <p:spPr bwMode="auto">
          <a:xfrm>
            <a:off x="1928735" y="950626"/>
            <a:ext cx="8364511" cy="5909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Bef>
                <a:spcPct val="50000"/>
              </a:spcBef>
            </a:pPr>
            <a:r>
              <a:rPr lang="en-US" sz="28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professor tells us that we will find the thin lens formula by making the image of a dot of light. This is OK because…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28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No one takes pictures of anything but dot’s of light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28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He is lazy and does not want to do anything bigger than a dot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28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A dot of light images into a complete picture, like the Mona Lisa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r>
              <a:rPr lang="en-US" sz="28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We can think about any extended body as consisting of emitting or reflecting dots.</a:t>
            </a:r>
          </a:p>
          <a:p>
            <a:pPr marL="742950" indent="-742950">
              <a:spcBef>
                <a:spcPct val="50000"/>
              </a:spcBef>
              <a:buAutoNum type="alphaLcParenR"/>
            </a:pPr>
            <a:endParaRPr lang="en-US" sz="28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14099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Derivation of the Lens Equ.</a:t>
            </a:r>
          </a:p>
        </p:txBody>
      </p:sp>
      <p:sp>
        <p:nvSpPr>
          <p:cNvPr id="19461" name="Freeform 51"/>
          <p:cNvSpPr>
            <a:spLocks/>
          </p:cNvSpPr>
          <p:nvPr/>
        </p:nvSpPr>
        <p:spPr bwMode="auto">
          <a:xfrm>
            <a:off x="5553076" y="2119314"/>
            <a:ext cx="323850" cy="1671638"/>
          </a:xfrm>
          <a:custGeom>
            <a:avLst/>
            <a:gdLst>
              <a:gd name="T0" fmla="*/ 105 w 204"/>
              <a:gd name="T1" fmla="*/ 0 h 1053"/>
              <a:gd name="T2" fmla="*/ 66 w 204"/>
              <a:gd name="T3" fmla="*/ 102 h 1053"/>
              <a:gd name="T4" fmla="*/ 36 w 204"/>
              <a:gd name="T5" fmla="*/ 210 h 1053"/>
              <a:gd name="T6" fmla="*/ 15 w 204"/>
              <a:gd name="T7" fmla="*/ 339 h 1053"/>
              <a:gd name="T8" fmla="*/ 0 w 204"/>
              <a:gd name="T9" fmla="*/ 513 h 1053"/>
              <a:gd name="T10" fmla="*/ 3 w 204"/>
              <a:gd name="T11" fmla="*/ 618 h 1053"/>
              <a:gd name="T12" fmla="*/ 21 w 204"/>
              <a:gd name="T13" fmla="*/ 777 h 1053"/>
              <a:gd name="T14" fmla="*/ 66 w 204"/>
              <a:gd name="T15" fmla="*/ 957 h 1053"/>
              <a:gd name="T16" fmla="*/ 102 w 204"/>
              <a:gd name="T17" fmla="*/ 1053 h 1053"/>
              <a:gd name="T18" fmla="*/ 126 w 204"/>
              <a:gd name="T19" fmla="*/ 999 h 1053"/>
              <a:gd name="T20" fmla="*/ 174 w 204"/>
              <a:gd name="T21" fmla="*/ 834 h 1053"/>
              <a:gd name="T22" fmla="*/ 204 w 204"/>
              <a:gd name="T23" fmla="*/ 621 h 1053"/>
              <a:gd name="T24" fmla="*/ 204 w 204"/>
              <a:gd name="T25" fmla="*/ 480 h 1053"/>
              <a:gd name="T26" fmla="*/ 192 w 204"/>
              <a:gd name="T27" fmla="*/ 315 h 1053"/>
              <a:gd name="T28" fmla="*/ 165 w 204"/>
              <a:gd name="T29" fmla="*/ 180 h 1053"/>
              <a:gd name="T30" fmla="*/ 135 w 204"/>
              <a:gd name="T31" fmla="*/ 69 h 1053"/>
              <a:gd name="T32" fmla="*/ 105 w 204"/>
              <a:gd name="T33" fmla="*/ 0 h 1053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204"/>
              <a:gd name="T52" fmla="*/ 0 h 1053"/>
              <a:gd name="T53" fmla="*/ 204 w 204"/>
              <a:gd name="T54" fmla="*/ 1053 h 1053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204" h="1053">
                <a:moveTo>
                  <a:pt x="105" y="0"/>
                </a:moveTo>
                <a:lnTo>
                  <a:pt x="66" y="102"/>
                </a:lnTo>
                <a:lnTo>
                  <a:pt x="36" y="210"/>
                </a:lnTo>
                <a:lnTo>
                  <a:pt x="15" y="339"/>
                </a:lnTo>
                <a:lnTo>
                  <a:pt x="0" y="513"/>
                </a:lnTo>
                <a:lnTo>
                  <a:pt x="3" y="618"/>
                </a:lnTo>
                <a:lnTo>
                  <a:pt x="21" y="777"/>
                </a:lnTo>
                <a:lnTo>
                  <a:pt x="66" y="957"/>
                </a:lnTo>
                <a:lnTo>
                  <a:pt x="102" y="1053"/>
                </a:lnTo>
                <a:lnTo>
                  <a:pt x="126" y="999"/>
                </a:lnTo>
                <a:lnTo>
                  <a:pt x="174" y="834"/>
                </a:lnTo>
                <a:lnTo>
                  <a:pt x="204" y="621"/>
                </a:lnTo>
                <a:lnTo>
                  <a:pt x="204" y="480"/>
                </a:lnTo>
                <a:lnTo>
                  <a:pt x="192" y="315"/>
                </a:lnTo>
                <a:lnTo>
                  <a:pt x="165" y="180"/>
                </a:lnTo>
                <a:lnTo>
                  <a:pt x="135" y="69"/>
                </a:lnTo>
                <a:lnTo>
                  <a:pt x="105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2" name="Line 9"/>
          <p:cNvSpPr>
            <a:spLocks noChangeShapeType="1"/>
          </p:cNvSpPr>
          <p:nvPr/>
        </p:nvSpPr>
        <p:spPr bwMode="auto">
          <a:xfrm>
            <a:off x="2347914" y="2973389"/>
            <a:ext cx="715327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3" name="Oval 10"/>
          <p:cNvSpPr>
            <a:spLocks noChangeArrowheads="1"/>
          </p:cNvSpPr>
          <p:nvPr/>
        </p:nvSpPr>
        <p:spPr bwMode="auto">
          <a:xfrm>
            <a:off x="3124202" y="2954340"/>
            <a:ext cx="68263" cy="5556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4" name="Text Box 11"/>
          <p:cNvSpPr txBox="1">
            <a:spLocks noChangeArrowheads="1"/>
          </p:cNvSpPr>
          <p:nvPr/>
        </p:nvSpPr>
        <p:spPr bwMode="auto">
          <a:xfrm>
            <a:off x="2973389" y="3057527"/>
            <a:ext cx="290513" cy="3698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9465" name="Text Box 12"/>
          <p:cNvSpPr txBox="1">
            <a:spLocks noChangeArrowheads="1"/>
          </p:cNvSpPr>
          <p:nvPr/>
        </p:nvSpPr>
        <p:spPr bwMode="auto">
          <a:xfrm>
            <a:off x="8391527" y="3016252"/>
            <a:ext cx="303213" cy="3698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19466" name="Line 13"/>
          <p:cNvSpPr>
            <a:spLocks noChangeShapeType="1"/>
          </p:cNvSpPr>
          <p:nvPr/>
        </p:nvSpPr>
        <p:spPr bwMode="auto">
          <a:xfrm>
            <a:off x="3125789" y="2957514"/>
            <a:ext cx="6137275" cy="1588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7" name="Oval 15"/>
          <p:cNvSpPr>
            <a:spLocks noChangeArrowheads="1"/>
          </p:cNvSpPr>
          <p:nvPr/>
        </p:nvSpPr>
        <p:spPr bwMode="auto">
          <a:xfrm>
            <a:off x="8396289" y="2935289"/>
            <a:ext cx="42863" cy="5715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8" name="Line 17"/>
          <p:cNvSpPr>
            <a:spLocks noChangeShapeType="1"/>
          </p:cNvSpPr>
          <p:nvPr/>
        </p:nvSpPr>
        <p:spPr bwMode="auto">
          <a:xfrm flipV="1">
            <a:off x="3119439" y="2366964"/>
            <a:ext cx="2613025" cy="61595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9" name="Line 20"/>
          <p:cNvSpPr>
            <a:spLocks noChangeShapeType="1"/>
          </p:cNvSpPr>
          <p:nvPr/>
        </p:nvSpPr>
        <p:spPr bwMode="auto">
          <a:xfrm>
            <a:off x="5586413" y="2520952"/>
            <a:ext cx="1766888" cy="43973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 type="arrow" w="med" len="med"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0" name="Text Box 21"/>
          <p:cNvSpPr txBox="1">
            <a:spLocks noChangeArrowheads="1"/>
          </p:cNvSpPr>
          <p:nvPr/>
        </p:nvSpPr>
        <p:spPr bwMode="auto">
          <a:xfrm>
            <a:off x="7086601" y="3060702"/>
            <a:ext cx="560388" cy="336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600"/>
              <a:t>C</a:t>
            </a:r>
            <a:r>
              <a:rPr lang="en-US" sz="1600" baseline="-25000"/>
              <a:t>1</a:t>
            </a:r>
          </a:p>
        </p:txBody>
      </p:sp>
      <p:sp>
        <p:nvSpPr>
          <p:cNvPr id="19471" name="Text Box 22"/>
          <p:cNvSpPr txBox="1">
            <a:spLocks noChangeArrowheads="1"/>
          </p:cNvSpPr>
          <p:nvPr/>
        </p:nvSpPr>
        <p:spPr bwMode="auto">
          <a:xfrm>
            <a:off x="3714751" y="3013077"/>
            <a:ext cx="558800" cy="336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600"/>
              <a:t>C</a:t>
            </a:r>
            <a:r>
              <a:rPr lang="en-US" sz="1600" baseline="-25000"/>
              <a:t>2</a:t>
            </a:r>
          </a:p>
        </p:txBody>
      </p:sp>
      <p:sp>
        <p:nvSpPr>
          <p:cNvPr id="19472" name="Line 24"/>
          <p:cNvSpPr>
            <a:spLocks noChangeShapeType="1"/>
          </p:cNvSpPr>
          <p:nvPr/>
        </p:nvSpPr>
        <p:spPr bwMode="auto">
          <a:xfrm>
            <a:off x="5734052" y="2368552"/>
            <a:ext cx="3275013" cy="73025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3" name="Text Box 26"/>
          <p:cNvSpPr txBox="1">
            <a:spLocks noChangeArrowheads="1"/>
          </p:cNvSpPr>
          <p:nvPr/>
        </p:nvSpPr>
        <p:spPr bwMode="auto">
          <a:xfrm>
            <a:off x="5559426" y="3051177"/>
            <a:ext cx="30649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n</a:t>
            </a:r>
          </a:p>
        </p:txBody>
      </p:sp>
      <p:sp>
        <p:nvSpPr>
          <p:cNvPr id="19474" name="Line 31"/>
          <p:cNvSpPr>
            <a:spLocks noChangeShapeType="1"/>
          </p:cNvSpPr>
          <p:nvPr/>
        </p:nvSpPr>
        <p:spPr bwMode="auto">
          <a:xfrm>
            <a:off x="3154363" y="390366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5" name="Line 33"/>
          <p:cNvSpPr>
            <a:spLocks noChangeShapeType="1"/>
          </p:cNvSpPr>
          <p:nvPr/>
        </p:nvSpPr>
        <p:spPr bwMode="auto">
          <a:xfrm>
            <a:off x="3192464" y="4017964"/>
            <a:ext cx="2532063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6" name="Text Box 34"/>
          <p:cNvSpPr txBox="1">
            <a:spLocks noChangeArrowheads="1"/>
          </p:cNvSpPr>
          <p:nvPr/>
        </p:nvSpPr>
        <p:spPr bwMode="auto">
          <a:xfrm>
            <a:off x="4594226" y="3833814"/>
            <a:ext cx="274434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</a:t>
            </a:r>
            <a:endParaRPr lang="en-US" baseline="-25000" dirty="0"/>
          </a:p>
        </p:txBody>
      </p:sp>
      <p:sp>
        <p:nvSpPr>
          <p:cNvPr id="19477" name="Line 36"/>
          <p:cNvSpPr>
            <a:spLocks noChangeShapeType="1"/>
          </p:cNvSpPr>
          <p:nvPr/>
        </p:nvSpPr>
        <p:spPr bwMode="auto">
          <a:xfrm>
            <a:off x="8513763" y="390366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8" name="Line 37"/>
          <p:cNvSpPr>
            <a:spLocks noChangeShapeType="1"/>
          </p:cNvSpPr>
          <p:nvPr/>
        </p:nvSpPr>
        <p:spPr bwMode="auto">
          <a:xfrm>
            <a:off x="5748338" y="4013203"/>
            <a:ext cx="2719388" cy="952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80" name="Text Box 41"/>
          <p:cNvSpPr txBox="1">
            <a:spLocks noChangeArrowheads="1"/>
          </p:cNvSpPr>
          <p:nvPr/>
        </p:nvSpPr>
        <p:spPr bwMode="auto">
          <a:xfrm>
            <a:off x="4764088" y="3246439"/>
            <a:ext cx="285656" cy="2308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900"/>
              <a:t>R</a:t>
            </a:r>
            <a:r>
              <a:rPr lang="en-US" sz="900" baseline="-25000"/>
              <a:t>2</a:t>
            </a:r>
          </a:p>
        </p:txBody>
      </p:sp>
      <p:sp>
        <p:nvSpPr>
          <p:cNvPr id="19481" name="Text Box 44"/>
          <p:cNvSpPr txBox="1">
            <a:spLocks noChangeArrowheads="1"/>
          </p:cNvSpPr>
          <p:nvPr/>
        </p:nvSpPr>
        <p:spPr bwMode="auto">
          <a:xfrm>
            <a:off x="6059488" y="2678114"/>
            <a:ext cx="285656" cy="2308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900"/>
              <a:t>R</a:t>
            </a:r>
            <a:r>
              <a:rPr lang="en-US" sz="900" baseline="-25000"/>
              <a:t>1</a:t>
            </a:r>
          </a:p>
        </p:txBody>
      </p:sp>
      <p:grpSp>
        <p:nvGrpSpPr>
          <p:cNvPr id="3" name="Group 47"/>
          <p:cNvGrpSpPr>
            <a:grpSpLocks/>
          </p:cNvGrpSpPr>
          <p:nvPr/>
        </p:nvGrpSpPr>
        <p:grpSpPr bwMode="auto">
          <a:xfrm>
            <a:off x="4406902" y="2109790"/>
            <a:ext cx="2625725" cy="1687513"/>
            <a:chOff x="2740" y="1019"/>
            <a:chExt cx="3182" cy="1694"/>
          </a:xfrm>
        </p:grpSpPr>
        <p:sp>
          <p:nvSpPr>
            <p:cNvPr id="19485" name="Arc 45"/>
            <p:cNvSpPr>
              <a:spLocks/>
            </p:cNvSpPr>
            <p:nvPr/>
          </p:nvSpPr>
          <p:spPr bwMode="auto">
            <a:xfrm>
              <a:off x="2740" y="1019"/>
              <a:ext cx="1787" cy="1675"/>
            </a:xfrm>
            <a:custGeom>
              <a:avLst/>
              <a:gdLst>
                <a:gd name="T0" fmla="*/ 1 w 21600"/>
                <a:gd name="T1" fmla="*/ 0 h 19474"/>
                <a:gd name="T2" fmla="*/ 1 w 21600"/>
                <a:gd name="T3" fmla="*/ 1 h 19474"/>
                <a:gd name="T4" fmla="*/ 0 w 21600"/>
                <a:gd name="T5" fmla="*/ 1 h 19474"/>
                <a:gd name="T6" fmla="*/ 0 60000 65536"/>
                <a:gd name="T7" fmla="*/ 0 60000 65536"/>
                <a:gd name="T8" fmla="*/ 0 60000 65536"/>
                <a:gd name="T9" fmla="*/ 0 w 21600"/>
                <a:gd name="T10" fmla="*/ 0 h 19474"/>
                <a:gd name="T11" fmla="*/ 21600 w 21600"/>
                <a:gd name="T12" fmla="*/ 19474 h 1947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19474" fill="none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38"/>
                    <a:pt x="20811" y="16462"/>
                    <a:pt x="19296" y="19473"/>
                  </a:cubicBezTo>
                </a:path>
                <a:path w="21600" h="19474" stroke="0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38"/>
                    <a:pt x="20811" y="16462"/>
                    <a:pt x="19296" y="19473"/>
                  </a:cubicBezTo>
                  <a:lnTo>
                    <a:pt x="0" y="976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486" name="Arc 46"/>
            <p:cNvSpPr>
              <a:spLocks/>
            </p:cNvSpPr>
            <p:nvPr/>
          </p:nvSpPr>
          <p:spPr bwMode="auto">
            <a:xfrm flipH="1">
              <a:off x="4135" y="1032"/>
              <a:ext cx="1787" cy="1681"/>
            </a:xfrm>
            <a:custGeom>
              <a:avLst/>
              <a:gdLst>
                <a:gd name="T0" fmla="*/ 1 w 21600"/>
                <a:gd name="T1" fmla="*/ 0 h 19545"/>
                <a:gd name="T2" fmla="*/ 1 w 21600"/>
                <a:gd name="T3" fmla="*/ 1 h 19545"/>
                <a:gd name="T4" fmla="*/ 0 w 21600"/>
                <a:gd name="T5" fmla="*/ 1 h 19545"/>
                <a:gd name="T6" fmla="*/ 0 60000 65536"/>
                <a:gd name="T7" fmla="*/ 0 60000 65536"/>
                <a:gd name="T8" fmla="*/ 0 60000 65536"/>
                <a:gd name="T9" fmla="*/ 0 w 21600"/>
                <a:gd name="T10" fmla="*/ 0 h 19545"/>
                <a:gd name="T11" fmla="*/ 21600 w 21600"/>
                <a:gd name="T12" fmla="*/ 19545 h 1954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19545" fill="none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65"/>
                    <a:pt x="20798" y="16515"/>
                    <a:pt x="19260" y="19545"/>
                  </a:cubicBezTo>
                </a:path>
                <a:path w="21600" h="19545" stroke="0" extrusionOk="0">
                  <a:moveTo>
                    <a:pt x="19265" y="-1"/>
                  </a:moveTo>
                  <a:cubicBezTo>
                    <a:pt x="20800" y="3027"/>
                    <a:pt x="21600" y="6373"/>
                    <a:pt x="21600" y="9768"/>
                  </a:cubicBezTo>
                  <a:cubicBezTo>
                    <a:pt x="21600" y="13165"/>
                    <a:pt x="20798" y="16515"/>
                    <a:pt x="19260" y="19545"/>
                  </a:cubicBezTo>
                  <a:lnTo>
                    <a:pt x="0" y="976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9483" name="Line 48"/>
          <p:cNvSpPr>
            <a:spLocks noChangeShapeType="1"/>
          </p:cNvSpPr>
          <p:nvPr/>
        </p:nvSpPr>
        <p:spPr bwMode="auto">
          <a:xfrm>
            <a:off x="5746751" y="390366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84" name="Line 50"/>
          <p:cNvSpPr>
            <a:spLocks noChangeShapeType="1"/>
          </p:cNvSpPr>
          <p:nvPr/>
        </p:nvSpPr>
        <p:spPr bwMode="auto">
          <a:xfrm>
            <a:off x="3979864" y="2968628"/>
            <a:ext cx="1857375" cy="4921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4"/>
          <p:cNvSpPr txBox="1">
            <a:spLocks noChangeArrowheads="1"/>
          </p:cNvSpPr>
          <p:nvPr/>
        </p:nvSpPr>
        <p:spPr bwMode="auto">
          <a:xfrm>
            <a:off x="6815246" y="3806333"/>
            <a:ext cx="332142" cy="369332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s’</a:t>
            </a:r>
            <a:endParaRPr lang="en-US" baseline="-25000" dirty="0"/>
          </a:p>
        </p:txBody>
      </p:sp>
      <p:sp>
        <p:nvSpPr>
          <p:cNvPr id="2" name="TextBox 1"/>
          <p:cNvSpPr txBox="1"/>
          <p:nvPr/>
        </p:nvSpPr>
        <p:spPr>
          <a:xfrm>
            <a:off x="4426406" y="1878245"/>
            <a:ext cx="14855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Front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1407" y="1878245"/>
            <a:ext cx="14855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9979898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Freeform 51"/>
          <p:cNvSpPr>
            <a:spLocks/>
          </p:cNvSpPr>
          <p:nvPr/>
        </p:nvSpPr>
        <p:spPr bwMode="auto">
          <a:xfrm>
            <a:off x="5553076" y="1181100"/>
            <a:ext cx="323850" cy="3365500"/>
          </a:xfrm>
          <a:custGeom>
            <a:avLst/>
            <a:gdLst>
              <a:gd name="T0" fmla="*/ 105 w 204"/>
              <a:gd name="T1" fmla="*/ 0 h 1053"/>
              <a:gd name="T2" fmla="*/ 66 w 204"/>
              <a:gd name="T3" fmla="*/ 102 h 1053"/>
              <a:gd name="T4" fmla="*/ 36 w 204"/>
              <a:gd name="T5" fmla="*/ 210 h 1053"/>
              <a:gd name="T6" fmla="*/ 15 w 204"/>
              <a:gd name="T7" fmla="*/ 339 h 1053"/>
              <a:gd name="T8" fmla="*/ 0 w 204"/>
              <a:gd name="T9" fmla="*/ 513 h 1053"/>
              <a:gd name="T10" fmla="*/ 3 w 204"/>
              <a:gd name="T11" fmla="*/ 618 h 1053"/>
              <a:gd name="T12" fmla="*/ 21 w 204"/>
              <a:gd name="T13" fmla="*/ 777 h 1053"/>
              <a:gd name="T14" fmla="*/ 66 w 204"/>
              <a:gd name="T15" fmla="*/ 957 h 1053"/>
              <a:gd name="T16" fmla="*/ 102 w 204"/>
              <a:gd name="T17" fmla="*/ 1053 h 1053"/>
              <a:gd name="T18" fmla="*/ 126 w 204"/>
              <a:gd name="T19" fmla="*/ 999 h 1053"/>
              <a:gd name="T20" fmla="*/ 174 w 204"/>
              <a:gd name="T21" fmla="*/ 834 h 1053"/>
              <a:gd name="T22" fmla="*/ 204 w 204"/>
              <a:gd name="T23" fmla="*/ 621 h 1053"/>
              <a:gd name="T24" fmla="*/ 204 w 204"/>
              <a:gd name="T25" fmla="*/ 480 h 1053"/>
              <a:gd name="T26" fmla="*/ 192 w 204"/>
              <a:gd name="T27" fmla="*/ 315 h 1053"/>
              <a:gd name="T28" fmla="*/ 165 w 204"/>
              <a:gd name="T29" fmla="*/ 180 h 1053"/>
              <a:gd name="T30" fmla="*/ 135 w 204"/>
              <a:gd name="T31" fmla="*/ 69 h 1053"/>
              <a:gd name="T32" fmla="*/ 105 w 204"/>
              <a:gd name="T33" fmla="*/ 0 h 1053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204"/>
              <a:gd name="T52" fmla="*/ 0 h 1053"/>
              <a:gd name="T53" fmla="*/ 204 w 204"/>
              <a:gd name="T54" fmla="*/ 1053 h 1053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204" h="1053">
                <a:moveTo>
                  <a:pt x="105" y="0"/>
                </a:moveTo>
                <a:lnTo>
                  <a:pt x="66" y="102"/>
                </a:lnTo>
                <a:lnTo>
                  <a:pt x="36" y="210"/>
                </a:lnTo>
                <a:lnTo>
                  <a:pt x="15" y="339"/>
                </a:lnTo>
                <a:lnTo>
                  <a:pt x="0" y="513"/>
                </a:lnTo>
                <a:lnTo>
                  <a:pt x="3" y="618"/>
                </a:lnTo>
                <a:lnTo>
                  <a:pt x="21" y="777"/>
                </a:lnTo>
                <a:lnTo>
                  <a:pt x="66" y="957"/>
                </a:lnTo>
                <a:lnTo>
                  <a:pt x="102" y="1053"/>
                </a:lnTo>
                <a:lnTo>
                  <a:pt x="126" y="999"/>
                </a:lnTo>
                <a:lnTo>
                  <a:pt x="174" y="834"/>
                </a:lnTo>
                <a:lnTo>
                  <a:pt x="204" y="621"/>
                </a:lnTo>
                <a:lnTo>
                  <a:pt x="204" y="480"/>
                </a:lnTo>
                <a:lnTo>
                  <a:pt x="192" y="315"/>
                </a:lnTo>
                <a:lnTo>
                  <a:pt x="165" y="180"/>
                </a:lnTo>
                <a:lnTo>
                  <a:pt x="135" y="69"/>
                </a:lnTo>
                <a:lnTo>
                  <a:pt x="105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2" name="Line 9"/>
          <p:cNvSpPr>
            <a:spLocks noChangeShapeType="1"/>
          </p:cNvSpPr>
          <p:nvPr/>
        </p:nvSpPr>
        <p:spPr bwMode="auto">
          <a:xfrm>
            <a:off x="2347914" y="2973389"/>
            <a:ext cx="715327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3" name="Oval 10"/>
          <p:cNvSpPr>
            <a:spLocks noChangeArrowheads="1"/>
          </p:cNvSpPr>
          <p:nvPr/>
        </p:nvSpPr>
        <p:spPr bwMode="auto">
          <a:xfrm>
            <a:off x="3124202" y="2954340"/>
            <a:ext cx="68263" cy="5556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4" name="Text Box 11"/>
          <p:cNvSpPr txBox="1">
            <a:spLocks noChangeArrowheads="1"/>
          </p:cNvSpPr>
          <p:nvPr/>
        </p:nvSpPr>
        <p:spPr bwMode="auto">
          <a:xfrm>
            <a:off x="2973388" y="3057527"/>
            <a:ext cx="336952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O</a:t>
            </a:r>
          </a:p>
        </p:txBody>
      </p:sp>
      <p:sp>
        <p:nvSpPr>
          <p:cNvPr id="19465" name="Text Box 12"/>
          <p:cNvSpPr txBox="1">
            <a:spLocks noChangeArrowheads="1"/>
          </p:cNvSpPr>
          <p:nvPr/>
        </p:nvSpPr>
        <p:spPr bwMode="auto">
          <a:xfrm>
            <a:off x="7038346" y="2488169"/>
            <a:ext cx="261610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19466" name="Line 13"/>
          <p:cNvSpPr>
            <a:spLocks noChangeShapeType="1"/>
          </p:cNvSpPr>
          <p:nvPr/>
        </p:nvSpPr>
        <p:spPr bwMode="auto">
          <a:xfrm>
            <a:off x="3125789" y="2957514"/>
            <a:ext cx="6137275" cy="1588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7" name="Oval 15"/>
          <p:cNvSpPr>
            <a:spLocks noChangeArrowheads="1"/>
          </p:cNvSpPr>
          <p:nvPr/>
        </p:nvSpPr>
        <p:spPr bwMode="auto">
          <a:xfrm>
            <a:off x="7126289" y="2935289"/>
            <a:ext cx="42863" cy="5715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68" name="Line 17"/>
          <p:cNvSpPr>
            <a:spLocks noChangeShapeType="1"/>
          </p:cNvSpPr>
          <p:nvPr/>
        </p:nvSpPr>
        <p:spPr bwMode="auto">
          <a:xfrm>
            <a:off x="3162301" y="1836342"/>
            <a:ext cx="2552700" cy="0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2" name="Line 24"/>
          <p:cNvSpPr>
            <a:spLocks noChangeShapeType="1"/>
          </p:cNvSpPr>
          <p:nvPr/>
        </p:nvSpPr>
        <p:spPr bwMode="auto">
          <a:xfrm>
            <a:off x="5705478" y="1836342"/>
            <a:ext cx="2234479" cy="2710258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3" name="Text Box 26"/>
          <p:cNvSpPr txBox="1">
            <a:spLocks noChangeArrowheads="1"/>
          </p:cNvSpPr>
          <p:nvPr/>
        </p:nvSpPr>
        <p:spPr bwMode="auto">
          <a:xfrm>
            <a:off x="5559426" y="3051177"/>
            <a:ext cx="30649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n</a:t>
            </a:r>
          </a:p>
        </p:txBody>
      </p:sp>
      <p:sp>
        <p:nvSpPr>
          <p:cNvPr id="19474" name="Line 31"/>
          <p:cNvSpPr>
            <a:spLocks noChangeShapeType="1"/>
          </p:cNvSpPr>
          <p:nvPr/>
        </p:nvSpPr>
        <p:spPr bwMode="auto">
          <a:xfrm>
            <a:off x="3154363" y="455136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5" name="Line 33"/>
          <p:cNvSpPr>
            <a:spLocks noChangeShapeType="1"/>
          </p:cNvSpPr>
          <p:nvPr/>
        </p:nvSpPr>
        <p:spPr bwMode="auto">
          <a:xfrm>
            <a:off x="3192464" y="4665664"/>
            <a:ext cx="2532063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6" name="Text Box 34"/>
          <p:cNvSpPr txBox="1">
            <a:spLocks noChangeArrowheads="1"/>
          </p:cNvSpPr>
          <p:nvPr/>
        </p:nvSpPr>
        <p:spPr bwMode="auto">
          <a:xfrm>
            <a:off x="4365626" y="4341815"/>
            <a:ext cx="344966" cy="5847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s</a:t>
            </a:r>
            <a:endParaRPr lang="en-US" sz="3200" baseline="-25000" dirty="0"/>
          </a:p>
        </p:txBody>
      </p:sp>
      <p:sp>
        <p:nvSpPr>
          <p:cNvPr id="19477" name="Line 36"/>
          <p:cNvSpPr>
            <a:spLocks noChangeShapeType="1"/>
          </p:cNvSpPr>
          <p:nvPr/>
        </p:nvSpPr>
        <p:spPr bwMode="auto">
          <a:xfrm>
            <a:off x="8513763" y="455136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78" name="Line 37"/>
          <p:cNvSpPr>
            <a:spLocks noChangeShapeType="1"/>
          </p:cNvSpPr>
          <p:nvPr/>
        </p:nvSpPr>
        <p:spPr bwMode="auto">
          <a:xfrm>
            <a:off x="5748338" y="4660903"/>
            <a:ext cx="2719388" cy="952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83" name="Line 48"/>
          <p:cNvSpPr>
            <a:spLocks noChangeShapeType="1"/>
          </p:cNvSpPr>
          <p:nvPr/>
        </p:nvSpPr>
        <p:spPr bwMode="auto">
          <a:xfrm>
            <a:off x="5746751" y="4551364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4"/>
          <p:cNvSpPr txBox="1">
            <a:spLocks noChangeArrowheads="1"/>
          </p:cNvSpPr>
          <p:nvPr/>
        </p:nvSpPr>
        <p:spPr bwMode="auto">
          <a:xfrm>
            <a:off x="6967646" y="4276234"/>
            <a:ext cx="481222" cy="646331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600" dirty="0"/>
              <a:t>s’</a:t>
            </a:r>
            <a:endParaRPr lang="en-US" sz="3600" baseline="-25000" dirty="0"/>
          </a:p>
        </p:txBody>
      </p:sp>
      <p:sp>
        <p:nvSpPr>
          <p:cNvPr id="2" name="Down Arrow 1"/>
          <p:cNvSpPr/>
          <p:nvPr/>
        </p:nvSpPr>
        <p:spPr>
          <a:xfrm flipV="1">
            <a:off x="2937273" y="1836343"/>
            <a:ext cx="450056" cy="1140619"/>
          </a:xfrm>
          <a:prstGeom prst="downArrow">
            <a:avLst>
              <a:gd name="adj1" fmla="val 27425"/>
              <a:gd name="adj2" fmla="val 895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Down Arrow 29"/>
          <p:cNvSpPr/>
          <p:nvPr/>
        </p:nvSpPr>
        <p:spPr>
          <a:xfrm>
            <a:off x="7032626" y="3002362"/>
            <a:ext cx="251221" cy="619661"/>
          </a:xfrm>
          <a:prstGeom prst="downArrow">
            <a:avLst>
              <a:gd name="adj1" fmla="val 27425"/>
              <a:gd name="adj2" fmla="val 89506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565400" y="1836343"/>
            <a:ext cx="12700" cy="1137047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108200" y="2170770"/>
            <a:ext cx="3738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</a:p>
        </p:txBody>
      </p:sp>
      <p:cxnSp>
        <p:nvCxnSpPr>
          <p:cNvPr id="8" name="Straight Connector 7"/>
          <p:cNvCxnSpPr>
            <a:stCxn id="2" idx="2"/>
          </p:cNvCxnSpPr>
          <p:nvPr/>
        </p:nvCxnSpPr>
        <p:spPr>
          <a:xfrm flipH="1">
            <a:off x="2347913" y="1836342"/>
            <a:ext cx="814388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7147719" y="3622022"/>
            <a:ext cx="814388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476368" y="3098802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h’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>
            <a:off x="7423468" y="2963864"/>
            <a:ext cx="12700" cy="65815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Line 24"/>
          <p:cNvSpPr>
            <a:spLocks noChangeShapeType="1"/>
          </p:cNvSpPr>
          <p:nvPr/>
        </p:nvSpPr>
        <p:spPr bwMode="auto">
          <a:xfrm>
            <a:off x="3162302" y="1836342"/>
            <a:ext cx="5489575" cy="2439891"/>
          </a:xfrm>
          <a:prstGeom prst="line">
            <a:avLst/>
          </a:prstGeom>
          <a:noFill/>
          <a:ln w="9525">
            <a:solidFill>
              <a:srgbClr val="FF0000"/>
            </a:solidFill>
            <a:miter lim="800000"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 flipH="1">
            <a:off x="4127500" y="2449654"/>
            <a:ext cx="3817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ym typeface="Symbol"/>
              </a:rPr>
              <a:t></a:t>
            </a:r>
            <a:endParaRPr lang="en-US" sz="2800" dirty="0"/>
          </a:p>
        </p:txBody>
      </p:sp>
      <p:sp>
        <p:nvSpPr>
          <p:cNvPr id="43" name="TextBox 42"/>
          <p:cNvSpPr txBox="1"/>
          <p:nvPr/>
        </p:nvSpPr>
        <p:spPr>
          <a:xfrm>
            <a:off x="6331088" y="2971010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endParaRPr lang="en-US" dirty="0"/>
          </a:p>
        </p:txBody>
      </p:sp>
      <p:sp>
        <p:nvSpPr>
          <p:cNvPr id="12" name="Arc 11"/>
          <p:cNvSpPr/>
          <p:nvPr/>
        </p:nvSpPr>
        <p:spPr>
          <a:xfrm rot="14674690">
            <a:off x="4443186" y="2566223"/>
            <a:ext cx="685800" cy="545069"/>
          </a:xfrm>
          <a:prstGeom prst="arc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Arc 44"/>
          <p:cNvSpPr/>
          <p:nvPr/>
        </p:nvSpPr>
        <p:spPr>
          <a:xfrm rot="3517125">
            <a:off x="6022395" y="2949510"/>
            <a:ext cx="344058" cy="271984"/>
          </a:xfrm>
          <a:prstGeom prst="arc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392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2549</Words>
  <Application>Microsoft Office PowerPoint</Application>
  <PresentationFormat>Widescreen</PresentationFormat>
  <Paragraphs>613</Paragraphs>
  <Slides>107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6" baseType="lpstr">
      <vt:lpstr>Arial</vt:lpstr>
      <vt:lpstr>Calibri</vt:lpstr>
      <vt:lpstr>Calibri Light</vt:lpstr>
      <vt:lpstr>Cambria Math</vt:lpstr>
      <vt:lpstr>OpenSymbol</vt:lpstr>
      <vt:lpstr>Symbol</vt:lpstr>
      <vt:lpstr>Times New Roman</vt:lpstr>
      <vt:lpstr>Office Theme</vt:lpstr>
      <vt:lpstr>Equation</vt:lpstr>
      <vt:lpstr>Lecture 16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Paraxial Rays</vt:lpstr>
      <vt:lpstr>Question 223.26.4.6</vt:lpstr>
      <vt:lpstr>Question 223.16.11</vt:lpstr>
      <vt:lpstr>Question 223.15.8</vt:lpstr>
      <vt:lpstr>Question 223.15.8</vt:lpstr>
      <vt:lpstr>Question 223.15.8</vt:lpstr>
      <vt:lpstr>Image Formed by a Concave Mirror</vt:lpstr>
      <vt:lpstr>Concave Mirror, Notation</vt:lpstr>
      <vt:lpstr>Image Formed by a Concave Mirror</vt:lpstr>
      <vt:lpstr>Focal Length</vt:lpstr>
      <vt:lpstr>Focal Point, cont.</vt:lpstr>
      <vt:lpstr>Focal Point and Focal Length, cont.</vt:lpstr>
      <vt:lpstr>Focal Length Shown by Parallel Rays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Convex Mirrors</vt:lpstr>
      <vt:lpstr>Image Formed by a Convex Mirror</vt:lpstr>
      <vt:lpstr>PowerPoint Presentation</vt:lpstr>
      <vt:lpstr>PowerPoint Presentation</vt:lpstr>
      <vt:lpstr>Ray Diagrams</vt:lpstr>
      <vt:lpstr>Drawing a Ray Diagram</vt:lpstr>
      <vt:lpstr>Ray Diagram – Concave Mirrors</vt:lpstr>
      <vt:lpstr>Notes About the Rays</vt:lpstr>
      <vt:lpstr>Ray Diagram for a Concave Mirror, s &gt; R</vt:lpstr>
      <vt:lpstr>Ray Diagram for a Concave Mirror, s &lt; f</vt:lpstr>
      <vt:lpstr>The Rays in a Ray Diagram – Convex Mirrors</vt:lpstr>
      <vt:lpstr>Ray Diagram for a Convex Mirror</vt:lpstr>
      <vt:lpstr>Notes on Images</vt:lpstr>
      <vt:lpstr>Spherical Aberration</vt:lpstr>
      <vt:lpstr>PowerPoint Presentation</vt:lpstr>
      <vt:lpstr>PowerPoint Presentation</vt:lpstr>
      <vt:lpstr>Question 223.16.12</vt:lpstr>
      <vt:lpstr>PowerPoint Presentation</vt:lpstr>
      <vt:lpstr>PowerPoint Presentation</vt:lpstr>
      <vt:lpstr>PowerPoint Presentation</vt:lpstr>
      <vt:lpstr>PowerPoint Presentation</vt:lpstr>
      <vt:lpstr>Sign Convention</vt:lpstr>
      <vt:lpstr>PowerPoint Presentation</vt:lpstr>
      <vt:lpstr>PowerPoint Presentation</vt:lpstr>
      <vt:lpstr>END</vt:lpstr>
      <vt:lpstr>PowerPoint Presentation</vt:lpstr>
      <vt:lpstr>Question 223.15.3</vt:lpstr>
      <vt:lpstr>Question 223.15.4</vt:lpstr>
      <vt:lpstr>Question 223.15.6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Ray Diagram for Converging Lens, s &gt; f</vt:lpstr>
      <vt:lpstr>Ray Diagram for Converging Lens, s &gt; f</vt:lpstr>
      <vt:lpstr>Question 223.15.7</vt:lpstr>
      <vt:lpstr>Question 223.15.8</vt:lpstr>
      <vt:lpstr>Question 223.15.9</vt:lpstr>
      <vt:lpstr>Question 223.15.10</vt:lpstr>
      <vt:lpstr>Question 223.15.11</vt:lpstr>
      <vt:lpstr>Question 223.15.12</vt:lpstr>
      <vt:lpstr>Question 223.15.13</vt:lpstr>
      <vt:lpstr>Question 223.15.13</vt:lpstr>
      <vt:lpstr>Question 223.15.14</vt:lpstr>
      <vt:lpstr>Question 223.15.15</vt:lpstr>
      <vt:lpstr>PowerPoint Presentation</vt:lpstr>
      <vt:lpstr>PowerPoint Presentation</vt:lpstr>
      <vt:lpstr>PowerPoint Presentation</vt:lpstr>
      <vt:lpstr>Ray Diagram for Converging Lens, p &lt; f</vt:lpstr>
      <vt:lpstr>Ray Diagrams for Thin Lenses – Diverging </vt:lpstr>
      <vt:lpstr>Ray Diagram for Diverging Lens</vt:lpstr>
      <vt:lpstr>PowerPoint Presentation</vt:lpstr>
      <vt:lpstr>PowerPoint Presentation</vt:lpstr>
      <vt:lpstr>Sign Convention</vt:lpstr>
      <vt:lpstr>PowerPoint Presentation</vt:lpstr>
      <vt:lpstr>PowerPoint Presentation</vt:lpstr>
      <vt:lpstr>PowerPoint Presentation</vt:lpstr>
      <vt:lpstr>Derivation of the Lens Equ.</vt:lpstr>
      <vt:lpstr>PowerPoint Presentation</vt:lpstr>
      <vt:lpstr>Derivation of the Lens Equ.</vt:lpstr>
      <vt:lpstr>Derivation of the Lens Equ.</vt:lpstr>
      <vt:lpstr>Derivation of the Lens Equ.</vt:lpstr>
      <vt:lpstr>Derivation of the Lens Equ.</vt:lpstr>
      <vt:lpstr>Derivation of the Lens Equ.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Derivation of the Lens Equ.</vt:lpstr>
      <vt:lpstr>PowerPoint Presentation</vt:lpstr>
    </vt:vector>
  </TitlesOfParts>
  <Company>Brigham Young University - 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Lines, Todd</dc:creator>
  <cp:lastModifiedBy>Lines, Todd</cp:lastModifiedBy>
  <cp:revision>2</cp:revision>
  <dcterms:created xsi:type="dcterms:W3CDTF">2017-02-09T02:45:49Z</dcterms:created>
  <dcterms:modified xsi:type="dcterms:W3CDTF">2026-02-10T22:23:44Z</dcterms:modified>
</cp:coreProperties>
</file>