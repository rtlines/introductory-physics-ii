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jp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97"/>
  </p:notesMasterIdLst>
  <p:sldIdLst>
    <p:sldId id="302" r:id="rId2"/>
    <p:sldId id="304" r:id="rId3"/>
    <p:sldId id="305" r:id="rId4"/>
    <p:sldId id="287" r:id="rId5"/>
    <p:sldId id="306" r:id="rId6"/>
    <p:sldId id="307" r:id="rId7"/>
    <p:sldId id="308" r:id="rId8"/>
    <p:sldId id="1475" r:id="rId9"/>
    <p:sldId id="309" r:id="rId10"/>
    <p:sldId id="310" r:id="rId11"/>
    <p:sldId id="311" r:id="rId12"/>
    <p:sldId id="1476" r:id="rId13"/>
    <p:sldId id="312" r:id="rId14"/>
    <p:sldId id="1477" r:id="rId15"/>
    <p:sldId id="313" r:id="rId16"/>
    <p:sldId id="314" r:id="rId17"/>
    <p:sldId id="315" r:id="rId18"/>
    <p:sldId id="316" r:id="rId19"/>
    <p:sldId id="317" r:id="rId20"/>
    <p:sldId id="272" r:id="rId21"/>
    <p:sldId id="1478" r:id="rId22"/>
    <p:sldId id="318" r:id="rId23"/>
    <p:sldId id="274" r:id="rId24"/>
    <p:sldId id="319" r:id="rId25"/>
    <p:sldId id="320" r:id="rId26"/>
    <p:sldId id="321" r:id="rId27"/>
    <p:sldId id="1479" r:id="rId28"/>
    <p:sldId id="322" r:id="rId29"/>
    <p:sldId id="323" r:id="rId30"/>
    <p:sldId id="324" r:id="rId31"/>
    <p:sldId id="325" r:id="rId32"/>
    <p:sldId id="326" r:id="rId33"/>
    <p:sldId id="1454" r:id="rId34"/>
    <p:sldId id="1455" r:id="rId35"/>
    <p:sldId id="1456" r:id="rId36"/>
    <p:sldId id="1457" r:id="rId37"/>
    <p:sldId id="1458" r:id="rId38"/>
    <p:sldId id="1474" r:id="rId39"/>
    <p:sldId id="1459" r:id="rId40"/>
    <p:sldId id="1460" r:id="rId41"/>
    <p:sldId id="298" r:id="rId42"/>
    <p:sldId id="1461" r:id="rId43"/>
    <p:sldId id="1462" r:id="rId44"/>
    <p:sldId id="1463" r:id="rId45"/>
    <p:sldId id="1464" r:id="rId46"/>
    <p:sldId id="1465" r:id="rId47"/>
    <p:sldId id="1466" r:id="rId48"/>
    <p:sldId id="1467" r:id="rId49"/>
    <p:sldId id="1468" r:id="rId50"/>
    <p:sldId id="1469" r:id="rId51"/>
    <p:sldId id="1470" r:id="rId52"/>
    <p:sldId id="1471" r:id="rId53"/>
    <p:sldId id="1472" r:id="rId54"/>
    <p:sldId id="1473" r:id="rId55"/>
    <p:sldId id="303" r:id="rId56"/>
    <p:sldId id="256" r:id="rId57"/>
    <p:sldId id="257" r:id="rId58"/>
    <p:sldId id="258" r:id="rId59"/>
    <p:sldId id="259" r:id="rId60"/>
    <p:sldId id="260" r:id="rId61"/>
    <p:sldId id="261" r:id="rId62"/>
    <p:sldId id="262" r:id="rId63"/>
    <p:sldId id="263" r:id="rId64"/>
    <p:sldId id="264" r:id="rId65"/>
    <p:sldId id="265" r:id="rId66"/>
    <p:sldId id="266" r:id="rId67"/>
    <p:sldId id="267" r:id="rId68"/>
    <p:sldId id="268" r:id="rId69"/>
    <p:sldId id="301" r:id="rId70"/>
    <p:sldId id="299" r:id="rId71"/>
    <p:sldId id="300" r:id="rId72"/>
    <p:sldId id="269" r:id="rId73"/>
    <p:sldId id="270" r:id="rId74"/>
    <p:sldId id="271" r:id="rId75"/>
    <p:sldId id="273" r:id="rId76"/>
    <p:sldId id="275" r:id="rId77"/>
    <p:sldId id="276" r:id="rId78"/>
    <p:sldId id="277" r:id="rId79"/>
    <p:sldId id="278" r:id="rId80"/>
    <p:sldId id="279" r:id="rId81"/>
    <p:sldId id="280" r:id="rId82"/>
    <p:sldId id="281" r:id="rId83"/>
    <p:sldId id="283" r:id="rId84"/>
    <p:sldId id="284" r:id="rId85"/>
    <p:sldId id="285" r:id="rId86"/>
    <p:sldId id="286" r:id="rId87"/>
    <p:sldId id="288" r:id="rId88"/>
    <p:sldId id="289" r:id="rId89"/>
    <p:sldId id="290" r:id="rId90"/>
    <p:sldId id="291" r:id="rId91"/>
    <p:sldId id="292" r:id="rId92"/>
    <p:sldId id="294" r:id="rId93"/>
    <p:sldId id="295" r:id="rId94"/>
    <p:sldId id="296" r:id="rId95"/>
    <p:sldId id="297" r:id="rId9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189" autoAdjust="0"/>
    <p:restoredTop sz="94660"/>
  </p:normalViewPr>
  <p:slideViewPr>
    <p:cSldViewPr snapToGrid="0">
      <p:cViewPr varScale="1">
        <p:scale>
          <a:sx n="42" d="100"/>
          <a:sy n="42" d="100"/>
        </p:scale>
        <p:origin x="66" y="101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microsoft.com/office/2016/11/relationships/changesInfo" Target="changesInfos/changesInfo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viewProps" Target="viewProps.xml"/><Relationship Id="rId10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notesMaster" Target="notesMasters/notesMaster1.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presProps" Target="presProps.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Todd Lines" userId="afaf7c3a-e8aa-4568-882a-02ad8f9e19b0" providerId="ADAL" clId="{5FF5AC1B-ABA9-43D7-A1E3-2D92732CD6E2}"/>
    <pc:docChg chg="modSld">
      <pc:chgData name="Todd Lines" userId="afaf7c3a-e8aa-4568-882a-02ad8f9e19b0" providerId="ADAL" clId="{5FF5AC1B-ABA9-43D7-A1E3-2D92732CD6E2}" dt="2026-08-26T18:58:01.949" v="1" actId="20577"/>
      <pc:docMkLst>
        <pc:docMk/>
      </pc:docMkLst>
      <pc:sldChg chg="modSp mod">
        <pc:chgData name="Todd Lines" userId="afaf7c3a-e8aa-4568-882a-02ad8f9e19b0" providerId="ADAL" clId="{5FF5AC1B-ABA9-43D7-A1E3-2D92732CD6E2}" dt="2026-08-26T18:58:01.949" v="1" actId="20577"/>
        <pc:sldMkLst>
          <pc:docMk/>
          <pc:sldMk cId="1572566239" sldId="302"/>
        </pc:sldMkLst>
        <pc:spChg chg="mod">
          <ac:chgData name="Todd Lines" userId="afaf7c3a-e8aa-4568-882a-02ad8f9e19b0" providerId="ADAL" clId="{5FF5AC1B-ABA9-43D7-A1E3-2D92732CD6E2}" dt="2026-08-26T18:58:01.949" v="1" actId="20577"/>
          <ac:spMkLst>
            <pc:docMk/>
            <pc:sldMk cId="1572566239" sldId="302"/>
            <ac:spMk id="2" creationId="{13C77790-090C-D567-D973-9AD18ABC434D}"/>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04926A9-87CD-4262-A2D0-EE283E8661F0}" type="datetimeFigureOut">
              <a:rPr lang="en-US" smtClean="0"/>
              <a:t>8/26/2026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7201FA4-B678-4596-8A9E-103BE6114909}" type="slidenum">
              <a:rPr lang="en-US" smtClean="0"/>
              <a:t>‹#›</a:t>
            </a:fld>
            <a:endParaRPr lang="en-US"/>
          </a:p>
        </p:txBody>
      </p:sp>
    </p:spTree>
    <p:extLst>
      <p:ext uri="{BB962C8B-B14F-4D97-AF65-F5344CB8AC3E}">
        <p14:creationId xmlns:p14="http://schemas.microsoft.com/office/powerpoint/2010/main" val="413287437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67201FA4-B678-4596-8A9E-103BE6114909}" type="slidenum">
              <a:rPr lang="en-US" smtClean="0"/>
              <a:t>82</a:t>
            </a:fld>
            <a:endParaRPr lang="en-US"/>
          </a:p>
        </p:txBody>
      </p:sp>
    </p:spTree>
    <p:extLst>
      <p:ext uri="{BB962C8B-B14F-4D97-AF65-F5344CB8AC3E}">
        <p14:creationId xmlns:p14="http://schemas.microsoft.com/office/powerpoint/2010/main" val="117749279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7CA8F24B-83B8-43FD-8E70-8390B55350E9}" type="datetimeFigureOut">
              <a:rPr lang="en-US" smtClean="0"/>
              <a:t>8/26/2026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75A8E96-12D2-4B57-A4F5-5089C5CB5340}" type="slidenum">
              <a:rPr lang="en-US" smtClean="0"/>
              <a:t>‹#›</a:t>
            </a:fld>
            <a:endParaRPr lang="en-US"/>
          </a:p>
        </p:txBody>
      </p:sp>
    </p:spTree>
    <p:extLst>
      <p:ext uri="{BB962C8B-B14F-4D97-AF65-F5344CB8AC3E}">
        <p14:creationId xmlns:p14="http://schemas.microsoft.com/office/powerpoint/2010/main" val="357293330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CA8F24B-83B8-43FD-8E70-8390B55350E9}" type="datetimeFigureOut">
              <a:rPr lang="en-US" smtClean="0"/>
              <a:t>8/26/2026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75A8E96-12D2-4B57-A4F5-5089C5CB5340}" type="slidenum">
              <a:rPr lang="en-US" smtClean="0"/>
              <a:t>‹#›</a:t>
            </a:fld>
            <a:endParaRPr lang="en-US"/>
          </a:p>
        </p:txBody>
      </p:sp>
    </p:spTree>
    <p:extLst>
      <p:ext uri="{BB962C8B-B14F-4D97-AF65-F5344CB8AC3E}">
        <p14:creationId xmlns:p14="http://schemas.microsoft.com/office/powerpoint/2010/main" val="20742333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7CA8F24B-83B8-43FD-8E70-8390B55350E9}" type="datetimeFigureOut">
              <a:rPr lang="en-US" smtClean="0"/>
              <a:t>8/26/2026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75A8E96-12D2-4B57-A4F5-5089C5CB5340}" type="slidenum">
              <a:rPr lang="en-US" smtClean="0"/>
              <a:t>‹#›</a:t>
            </a:fld>
            <a:endParaRPr lang="en-US"/>
          </a:p>
        </p:txBody>
      </p:sp>
    </p:spTree>
    <p:extLst>
      <p:ext uri="{BB962C8B-B14F-4D97-AF65-F5344CB8AC3E}">
        <p14:creationId xmlns:p14="http://schemas.microsoft.com/office/powerpoint/2010/main" val="2854233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7CA8F24B-83B8-43FD-8E70-8390B55350E9}" type="datetimeFigureOut">
              <a:rPr lang="en-US" smtClean="0"/>
              <a:t>8/26/2026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75A8E96-12D2-4B57-A4F5-5089C5CB5340}" type="slidenum">
              <a:rPr lang="en-US" smtClean="0"/>
              <a:t>‹#›</a:t>
            </a:fld>
            <a:endParaRPr lang="en-US"/>
          </a:p>
        </p:txBody>
      </p:sp>
    </p:spTree>
    <p:extLst>
      <p:ext uri="{BB962C8B-B14F-4D97-AF65-F5344CB8AC3E}">
        <p14:creationId xmlns:p14="http://schemas.microsoft.com/office/powerpoint/2010/main" val="138098509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7CA8F24B-83B8-43FD-8E70-8390B55350E9}" type="datetimeFigureOut">
              <a:rPr lang="en-US" smtClean="0"/>
              <a:t>8/26/2026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D75A8E96-12D2-4B57-A4F5-5089C5CB5340}" type="slidenum">
              <a:rPr lang="en-US" smtClean="0"/>
              <a:t>‹#›</a:t>
            </a:fld>
            <a:endParaRPr lang="en-US"/>
          </a:p>
        </p:txBody>
      </p:sp>
    </p:spTree>
    <p:extLst>
      <p:ext uri="{BB962C8B-B14F-4D97-AF65-F5344CB8AC3E}">
        <p14:creationId xmlns:p14="http://schemas.microsoft.com/office/powerpoint/2010/main" val="18993858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7CA8F24B-83B8-43FD-8E70-8390B55350E9}" type="datetimeFigureOut">
              <a:rPr lang="en-US" smtClean="0"/>
              <a:t>8/26/2026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D75A8E96-12D2-4B57-A4F5-5089C5CB5340}" type="slidenum">
              <a:rPr lang="en-US" smtClean="0"/>
              <a:t>‹#›</a:t>
            </a:fld>
            <a:endParaRPr lang="en-US"/>
          </a:p>
        </p:txBody>
      </p:sp>
    </p:spTree>
    <p:extLst>
      <p:ext uri="{BB962C8B-B14F-4D97-AF65-F5344CB8AC3E}">
        <p14:creationId xmlns:p14="http://schemas.microsoft.com/office/powerpoint/2010/main" val="382974377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7CA8F24B-83B8-43FD-8E70-8390B55350E9}" type="datetimeFigureOut">
              <a:rPr lang="en-US" smtClean="0"/>
              <a:t>8/26/2026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D75A8E96-12D2-4B57-A4F5-5089C5CB5340}" type="slidenum">
              <a:rPr lang="en-US" smtClean="0"/>
              <a:t>‹#›</a:t>
            </a:fld>
            <a:endParaRPr lang="en-US"/>
          </a:p>
        </p:txBody>
      </p:sp>
    </p:spTree>
    <p:extLst>
      <p:ext uri="{BB962C8B-B14F-4D97-AF65-F5344CB8AC3E}">
        <p14:creationId xmlns:p14="http://schemas.microsoft.com/office/powerpoint/2010/main" val="37311603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7CA8F24B-83B8-43FD-8E70-8390B55350E9}" type="datetimeFigureOut">
              <a:rPr lang="en-US" smtClean="0"/>
              <a:t>8/26/2026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75A8E96-12D2-4B57-A4F5-5089C5CB5340}" type="slidenum">
              <a:rPr lang="en-US" smtClean="0"/>
              <a:t>‹#›</a:t>
            </a:fld>
            <a:endParaRPr lang="en-US"/>
          </a:p>
        </p:txBody>
      </p:sp>
    </p:spTree>
    <p:extLst>
      <p:ext uri="{BB962C8B-B14F-4D97-AF65-F5344CB8AC3E}">
        <p14:creationId xmlns:p14="http://schemas.microsoft.com/office/powerpoint/2010/main" val="254401925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7CA8F24B-83B8-43FD-8E70-8390B55350E9}" type="datetimeFigureOut">
              <a:rPr lang="en-US" smtClean="0"/>
              <a:t>8/26/2026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75A8E96-12D2-4B57-A4F5-5089C5CB5340}" type="slidenum">
              <a:rPr lang="en-US" smtClean="0"/>
              <a:t>‹#›</a:t>
            </a:fld>
            <a:endParaRPr lang="en-US"/>
          </a:p>
        </p:txBody>
      </p:sp>
    </p:spTree>
    <p:extLst>
      <p:ext uri="{BB962C8B-B14F-4D97-AF65-F5344CB8AC3E}">
        <p14:creationId xmlns:p14="http://schemas.microsoft.com/office/powerpoint/2010/main" val="422762228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CA8F24B-83B8-43FD-8E70-8390B55350E9}" type="datetimeFigureOut">
              <a:rPr lang="en-US" smtClean="0"/>
              <a:t>8/26/2026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75A8E96-12D2-4B57-A4F5-5089C5CB5340}" type="slidenum">
              <a:rPr lang="en-US" smtClean="0"/>
              <a:t>‹#›</a:t>
            </a:fld>
            <a:endParaRPr lang="en-US"/>
          </a:p>
        </p:txBody>
      </p:sp>
    </p:spTree>
    <p:extLst>
      <p:ext uri="{BB962C8B-B14F-4D97-AF65-F5344CB8AC3E}">
        <p14:creationId xmlns:p14="http://schemas.microsoft.com/office/powerpoint/2010/main" val="372132953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CA8F24B-83B8-43FD-8E70-8390B55350E9}" type="datetimeFigureOut">
              <a:rPr lang="en-US" smtClean="0"/>
              <a:t>8/26/2026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75A8E96-12D2-4B57-A4F5-5089C5CB5340}" type="slidenum">
              <a:rPr lang="en-US" smtClean="0"/>
              <a:t>‹#›</a:t>
            </a:fld>
            <a:endParaRPr lang="en-US"/>
          </a:p>
        </p:txBody>
      </p:sp>
    </p:spTree>
    <p:extLst>
      <p:ext uri="{BB962C8B-B14F-4D97-AF65-F5344CB8AC3E}">
        <p14:creationId xmlns:p14="http://schemas.microsoft.com/office/powerpoint/2010/main" val="260819392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AndClipArt">
  <p:cSld name="Title, Text and Clip Art">
    <p:spTree>
      <p:nvGrpSpPr>
        <p:cNvPr id="1" name=""/>
        <p:cNvGrpSpPr/>
        <p:nvPr/>
      </p:nvGrpSpPr>
      <p:grpSpPr>
        <a:xfrm>
          <a:off x="0" y="0"/>
          <a:ext cx="0" cy="0"/>
          <a:chOff x="0" y="0"/>
          <a:chExt cx="0" cy="0"/>
        </a:xfrm>
      </p:grpSpPr>
      <p:sp>
        <p:nvSpPr>
          <p:cNvPr id="2" name="Title 1"/>
          <p:cNvSpPr>
            <a:spLocks noGrp="1"/>
          </p:cNvSpPr>
          <p:nvPr>
            <p:ph type="title"/>
          </p:nvPr>
        </p:nvSpPr>
        <p:spPr>
          <a:xfrm>
            <a:off x="2133600" y="0"/>
            <a:ext cx="8636000" cy="1143000"/>
          </a:xfrm>
        </p:spPr>
        <p:txBody>
          <a:bodyPr/>
          <a:lstStyle/>
          <a:p>
            <a:r>
              <a:rPr lang="en-US"/>
              <a:t>Click to edit Master title style</a:t>
            </a:r>
          </a:p>
        </p:txBody>
      </p:sp>
      <p:sp>
        <p:nvSpPr>
          <p:cNvPr id="3" name="Text Placeholder 2"/>
          <p:cNvSpPr>
            <a:spLocks noGrp="1"/>
          </p:cNvSpPr>
          <p:nvPr>
            <p:ph type="body" sz="half" idx="1"/>
          </p:nvPr>
        </p:nvSpPr>
        <p:spPr>
          <a:xfrm>
            <a:off x="609600" y="1600201"/>
            <a:ext cx="5384800" cy="45259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lipArt Placeholder 3"/>
          <p:cNvSpPr>
            <a:spLocks noGrp="1"/>
          </p:cNvSpPr>
          <p:nvPr>
            <p:ph type="clipArt" sz="half" idx="2"/>
          </p:nvPr>
        </p:nvSpPr>
        <p:spPr>
          <a:xfrm>
            <a:off x="6197600" y="1600201"/>
            <a:ext cx="5384800" cy="4525963"/>
          </a:xfrm>
        </p:spPr>
        <p:txBody>
          <a:bodyPr/>
          <a:lstStyle/>
          <a:p>
            <a:pPr lvl="0"/>
            <a:endParaRPr lang="en-US" noProof="0"/>
          </a:p>
        </p:txBody>
      </p:sp>
      <p:sp>
        <p:nvSpPr>
          <p:cNvPr id="5" name="Rectangle 4"/>
          <p:cNvSpPr>
            <a:spLocks noGrp="1" noChangeArrowheads="1"/>
          </p:cNvSpPr>
          <p:nvPr>
            <p:ph type="dt" sz="half" idx="10"/>
          </p:nvPr>
        </p:nvSpPr>
        <p:spPr>
          <a:ln/>
        </p:spPr>
        <p:txBody>
          <a:bodyPr/>
          <a:lstStyle>
            <a:lvl1pPr>
              <a:defRPr/>
            </a:lvl1pPr>
          </a:lstStyle>
          <a:p>
            <a:pPr>
              <a:defRPr/>
            </a:pPr>
            <a:endParaRPr lang="en-US"/>
          </a:p>
        </p:txBody>
      </p:sp>
      <p:sp>
        <p:nvSpPr>
          <p:cNvPr id="6" name="Rectangle 5"/>
          <p:cNvSpPr>
            <a:spLocks noGrp="1" noChangeArrowheads="1"/>
          </p:cNvSpPr>
          <p:nvPr>
            <p:ph type="ftr" sz="quarter" idx="11"/>
          </p:nvPr>
        </p:nvSpPr>
        <p:spPr>
          <a:ln/>
        </p:spPr>
        <p:txBody>
          <a:bodyPr/>
          <a:lstStyle>
            <a:lvl1pPr>
              <a:defRPr/>
            </a:lvl1pPr>
          </a:lstStyle>
          <a:p>
            <a:pPr>
              <a:defRPr/>
            </a:pPr>
            <a:r>
              <a:rPr lang="en-US"/>
              <a:t>R. Todd Lines</a:t>
            </a:r>
          </a:p>
        </p:txBody>
      </p:sp>
      <p:sp>
        <p:nvSpPr>
          <p:cNvPr id="7" name="Rectangle 6"/>
          <p:cNvSpPr>
            <a:spLocks noGrp="1" noChangeArrowheads="1"/>
          </p:cNvSpPr>
          <p:nvPr>
            <p:ph type="sldNum" sz="quarter" idx="12"/>
          </p:nvPr>
        </p:nvSpPr>
        <p:spPr>
          <a:ln/>
        </p:spPr>
        <p:txBody>
          <a:bodyPr/>
          <a:lstStyle>
            <a:lvl1pPr>
              <a:defRPr/>
            </a:lvl1pPr>
          </a:lstStyle>
          <a:p>
            <a:pPr>
              <a:defRPr/>
            </a:pPr>
            <a:fld id="{001D7B0D-279D-4F93-970A-63C79FA4C0BA}" type="slidenum">
              <a:rPr lang="en-US"/>
              <a:pPr>
                <a:defRPr/>
              </a:pPr>
              <a:t>‹#›</a:t>
            </a:fld>
            <a:endParaRPr lang="en-US"/>
          </a:p>
        </p:txBody>
      </p:sp>
    </p:spTree>
    <p:extLst>
      <p:ext uri="{BB962C8B-B14F-4D97-AF65-F5344CB8AC3E}">
        <p14:creationId xmlns:p14="http://schemas.microsoft.com/office/powerpoint/2010/main" val="193457019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7CA8F24B-83B8-43FD-8E70-8390B55350E9}" type="datetimeFigureOut">
              <a:rPr lang="en-US" smtClean="0"/>
              <a:t>8/26/2026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75A8E96-12D2-4B57-A4F5-5089C5CB5340}" type="slidenum">
              <a:rPr lang="en-US" smtClean="0"/>
              <a:t>‹#›</a:t>
            </a:fld>
            <a:endParaRPr lang="en-US"/>
          </a:p>
        </p:txBody>
      </p:sp>
    </p:spTree>
    <p:extLst>
      <p:ext uri="{BB962C8B-B14F-4D97-AF65-F5344CB8AC3E}">
        <p14:creationId xmlns:p14="http://schemas.microsoft.com/office/powerpoint/2010/main" val="19419040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2.xml"/></Relationships>
</file>

<file path=ppt/slides/_rels/slide29.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5.emf"/><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image" Target="../media/image6.jpe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image" Target="../media/image8.jpeg"/><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49.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image" Target="../media/image11.jpeg"/><Relationship Id="rId1" Type="http://schemas.openxmlformats.org/officeDocument/2006/relationships/slideLayout" Target="../slideLayouts/slideLayout2.xml"/><Relationship Id="rId4" Type="http://schemas.openxmlformats.org/officeDocument/2006/relationships/image" Target="../media/image13.jpeg"/></Relationships>
</file>

<file path=ppt/slides/_rels/slide5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51.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21.wmf"/><Relationship Id="rId2" Type="http://schemas.openxmlformats.org/officeDocument/2006/relationships/oleObject" Target="../embeddings/oleObject1.bin"/><Relationship Id="rId1" Type="http://schemas.openxmlformats.org/officeDocument/2006/relationships/slideLayout" Target="../slideLayouts/slideLayout2.xml"/><Relationship Id="rId5" Type="http://schemas.openxmlformats.org/officeDocument/2006/relationships/image" Target="../media/image22.wmf"/><Relationship Id="rId4" Type="http://schemas.openxmlformats.org/officeDocument/2006/relationships/oleObject" Target="../embeddings/oleObject2.bin"/></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12.xml"/></Relationships>
</file>

<file path=ppt/slides/_rels/slide62.xml.rels><?xml version="1.0" encoding="UTF-8" standalone="yes"?>
<Relationships xmlns="http://schemas.openxmlformats.org/package/2006/relationships"><Relationship Id="rId3" Type="http://schemas.openxmlformats.org/officeDocument/2006/relationships/image" Target="../media/image28.wmf"/><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image" Target="../media/image29.jpeg"/><Relationship Id="rId1" Type="http://schemas.openxmlformats.org/officeDocument/2006/relationships/slideLayout" Target="../slideLayouts/slideLayout12.xml"/></Relationships>
</file>

<file path=ppt/slides/_rels/slide65.xml.rels><?xml version="1.0" encoding="UTF-8" standalone="yes"?>
<Relationships xmlns="http://schemas.openxmlformats.org/package/2006/relationships"><Relationship Id="rId3" Type="http://schemas.openxmlformats.org/officeDocument/2006/relationships/image" Target="../media/image30.wmf"/><Relationship Id="rId2" Type="http://schemas.openxmlformats.org/officeDocument/2006/relationships/oleObject" Target="../embeddings/oleObject3.bin"/><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oleObject" Target="../embeddings/oleObject4.bin"/><Relationship Id="rId2" Type="http://schemas.openxmlformats.org/officeDocument/2006/relationships/image" Target="../media/image31.emf"/><Relationship Id="rId1" Type="http://schemas.openxmlformats.org/officeDocument/2006/relationships/slideLayout" Target="../slideLayouts/slideLayout2.xml"/><Relationship Id="rId4" Type="http://schemas.openxmlformats.org/officeDocument/2006/relationships/image" Target="../media/image32.wmf"/></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3" Type="http://schemas.openxmlformats.org/officeDocument/2006/relationships/image" Target="../media/image34.jpeg"/><Relationship Id="rId2" Type="http://schemas.openxmlformats.org/officeDocument/2006/relationships/image" Target="../media/image33.jpeg"/><Relationship Id="rId1" Type="http://schemas.openxmlformats.org/officeDocument/2006/relationships/slideLayout" Target="../slideLayouts/slideLayout2.xml"/><Relationship Id="rId5" Type="http://schemas.openxmlformats.org/officeDocument/2006/relationships/image" Target="../media/image36.png"/><Relationship Id="rId4" Type="http://schemas.openxmlformats.org/officeDocument/2006/relationships/image" Target="../media/image35.png"/></Relationships>
</file>

<file path=ppt/slides/_rels/slide69.xml.rels><?xml version="1.0" encoding="UTF-8" standalone="yes"?>
<Relationships xmlns="http://schemas.openxmlformats.org/package/2006/relationships"><Relationship Id="rId8" Type="http://schemas.openxmlformats.org/officeDocument/2006/relationships/oleObject" Target="../embeddings/oleObject8.bin"/><Relationship Id="rId3" Type="http://schemas.openxmlformats.org/officeDocument/2006/relationships/image" Target="../media/image37.wmf"/><Relationship Id="rId7" Type="http://schemas.openxmlformats.org/officeDocument/2006/relationships/image" Target="../media/image39.wmf"/><Relationship Id="rId2" Type="http://schemas.openxmlformats.org/officeDocument/2006/relationships/oleObject" Target="../embeddings/oleObject5.bin"/><Relationship Id="rId1" Type="http://schemas.openxmlformats.org/officeDocument/2006/relationships/slideLayout" Target="../slideLayouts/slideLayout2.xml"/><Relationship Id="rId6" Type="http://schemas.openxmlformats.org/officeDocument/2006/relationships/oleObject" Target="../embeddings/oleObject7.bin"/><Relationship Id="rId5" Type="http://schemas.openxmlformats.org/officeDocument/2006/relationships/image" Target="../media/image38.wmf"/><Relationship Id="rId4" Type="http://schemas.openxmlformats.org/officeDocument/2006/relationships/oleObject" Target="../embeddings/oleObject6.bin"/><Relationship Id="rId9" Type="http://schemas.openxmlformats.org/officeDocument/2006/relationships/image" Target="../media/image40.wmf"/></Relationships>
</file>

<file path=ppt/slides/_rels/slide70.xml.rels><?xml version="1.0" encoding="UTF-8" standalone="yes"?>
<Relationships xmlns="http://schemas.openxmlformats.org/package/2006/relationships"><Relationship Id="rId2" Type="http://schemas.openxmlformats.org/officeDocument/2006/relationships/image" Target="../media/image41.emf"/><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3" Type="http://schemas.openxmlformats.org/officeDocument/2006/relationships/image" Target="../media/image37.wmf"/><Relationship Id="rId2" Type="http://schemas.openxmlformats.org/officeDocument/2006/relationships/oleObject" Target="../embeddings/oleObject9.bin"/><Relationship Id="rId1" Type="http://schemas.openxmlformats.org/officeDocument/2006/relationships/slideLayout" Target="../slideLayouts/slideLayout12.xml"/></Relationships>
</file>

<file path=ppt/slides/_rels/slide74.xml.rels><?xml version="1.0" encoding="UTF-8" standalone="yes"?>
<Relationships xmlns="http://schemas.openxmlformats.org/package/2006/relationships"><Relationship Id="rId2" Type="http://schemas.openxmlformats.org/officeDocument/2006/relationships/image" Target="../media/image43.jpeg"/><Relationship Id="rId1" Type="http://schemas.openxmlformats.org/officeDocument/2006/relationships/slideLayout" Target="../slideLayouts/slideLayout12.xml"/></Relationships>
</file>

<file path=ppt/slides/_rels/slide75.xml.rels><?xml version="1.0" encoding="UTF-8" standalone="yes"?>
<Relationships xmlns="http://schemas.openxmlformats.org/package/2006/relationships"><Relationship Id="rId2" Type="http://schemas.openxmlformats.org/officeDocument/2006/relationships/image" Target="../media/image41.emf"/><Relationship Id="rId1" Type="http://schemas.openxmlformats.org/officeDocument/2006/relationships/slideLayout" Target="../slideLayouts/slideLayout1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3" Type="http://schemas.openxmlformats.org/officeDocument/2006/relationships/image" Target="../media/image37.wmf"/><Relationship Id="rId2" Type="http://schemas.openxmlformats.org/officeDocument/2006/relationships/oleObject" Target="../embeddings/oleObject10.bin"/><Relationship Id="rId1" Type="http://schemas.openxmlformats.org/officeDocument/2006/relationships/slideLayout" Target="../slideLayouts/slideLayout12.xml"/></Relationships>
</file>

<file path=ppt/slides/_rels/slide78.xml.rels><?xml version="1.0" encoding="UTF-8" standalone="yes"?>
<Relationships xmlns="http://schemas.openxmlformats.org/package/2006/relationships"><Relationship Id="rId3" Type="http://schemas.openxmlformats.org/officeDocument/2006/relationships/image" Target="../media/image44.wmf"/><Relationship Id="rId2" Type="http://schemas.openxmlformats.org/officeDocument/2006/relationships/oleObject" Target="../embeddings/oleObject11.bin"/><Relationship Id="rId1" Type="http://schemas.openxmlformats.org/officeDocument/2006/relationships/slideLayout" Target="../slideLayouts/slideLayout1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3" Type="http://schemas.openxmlformats.org/officeDocument/2006/relationships/image" Target="../media/image41.emf"/><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83.xml.rels><?xml version="1.0" encoding="UTF-8" standalone="yes"?>
<Relationships xmlns="http://schemas.openxmlformats.org/package/2006/relationships"><Relationship Id="rId3" Type="http://schemas.openxmlformats.org/officeDocument/2006/relationships/image" Target="../media/image45.wmf"/><Relationship Id="rId2" Type="http://schemas.openxmlformats.org/officeDocument/2006/relationships/oleObject" Target="../embeddings/oleObject12.bin"/><Relationship Id="rId1" Type="http://schemas.openxmlformats.org/officeDocument/2006/relationships/slideLayout" Target="../slideLayouts/slideLayout2.xml"/><Relationship Id="rId5" Type="http://schemas.openxmlformats.org/officeDocument/2006/relationships/image" Target="../media/image46.wmf"/><Relationship Id="rId4" Type="http://schemas.openxmlformats.org/officeDocument/2006/relationships/oleObject" Target="../embeddings/oleObject13.bin"/></Relationships>
</file>

<file path=ppt/slides/_rels/slide84.xml.rels><?xml version="1.0" encoding="UTF-8" standalone="yes"?>
<Relationships xmlns="http://schemas.openxmlformats.org/package/2006/relationships"><Relationship Id="rId2" Type="http://schemas.openxmlformats.org/officeDocument/2006/relationships/image" Target="../media/image47.emf"/><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image" Target="../media/image41.emf"/><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48.emf"/><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3" Type="http://schemas.openxmlformats.org/officeDocument/2006/relationships/image" Target="../media/image50.wmf"/><Relationship Id="rId2" Type="http://schemas.openxmlformats.org/officeDocument/2006/relationships/oleObject" Target="../embeddings/oleObject14.bin"/><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3" Type="http://schemas.openxmlformats.org/officeDocument/2006/relationships/image" Target="../media/image51.wmf"/><Relationship Id="rId2" Type="http://schemas.openxmlformats.org/officeDocument/2006/relationships/oleObject" Target="../embeddings/oleObject15.bin"/><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3" Type="http://schemas.openxmlformats.org/officeDocument/2006/relationships/image" Target="../media/image53.emf"/><Relationship Id="rId2" Type="http://schemas.openxmlformats.org/officeDocument/2006/relationships/image" Target="../media/image52.jpeg"/><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image" Target="../media/image54.emf"/><Relationship Id="rId1" Type="http://schemas.openxmlformats.org/officeDocument/2006/relationships/slideLayout" Target="../slideLayouts/slideLayout1.xml"/></Relationships>
</file>

<file path=ppt/slides/_rels/slide92.xml.rels><?xml version="1.0" encoding="UTF-8" standalone="yes"?>
<Relationships xmlns="http://schemas.openxmlformats.org/package/2006/relationships"><Relationship Id="rId2" Type="http://schemas.openxmlformats.org/officeDocument/2006/relationships/image" Target="../media/image56.emf"/><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2" Type="http://schemas.openxmlformats.org/officeDocument/2006/relationships/image" Target="../media/image57.emf"/><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2" Type="http://schemas.openxmlformats.org/officeDocument/2006/relationships/image" Target="../media/image58.emf"/><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2" Type="http://schemas.openxmlformats.org/officeDocument/2006/relationships/image" Target="../media/image59.emf"/><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C77790-090C-D567-D973-9AD18ABC434D}"/>
              </a:ext>
            </a:extLst>
          </p:cNvPr>
          <p:cNvSpPr>
            <a:spLocks noGrp="1"/>
          </p:cNvSpPr>
          <p:nvPr>
            <p:ph type="ctrTitle"/>
          </p:nvPr>
        </p:nvSpPr>
        <p:spPr/>
        <p:txBody>
          <a:bodyPr/>
          <a:lstStyle/>
          <a:p>
            <a:r>
              <a:rPr lang="en-US" dirty="0"/>
              <a:t>Lecture 11</a:t>
            </a:r>
          </a:p>
        </p:txBody>
      </p:sp>
      <p:sp>
        <p:nvSpPr>
          <p:cNvPr id="3" name="Subtitle 2">
            <a:extLst>
              <a:ext uri="{FF2B5EF4-FFF2-40B4-BE49-F238E27FC236}">
                <a16:creationId xmlns:a16="http://schemas.microsoft.com/office/drawing/2014/main" id="{E5C83423-C79D-36F5-D6F9-01AECD6A9BEF}"/>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157256623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7459" name="Rectangle 2"/>
          <p:cNvSpPr>
            <a:spLocks noGrp="1" noChangeArrowheads="1"/>
          </p:cNvSpPr>
          <p:nvPr>
            <p:ph type="title"/>
          </p:nvPr>
        </p:nvSpPr>
        <p:spPr/>
        <p:txBody>
          <a:bodyPr/>
          <a:lstStyle/>
          <a:p>
            <a:pPr eaLnBrk="1" hangingPunct="1"/>
            <a:r>
              <a:rPr lang="en-US" dirty="0"/>
              <a:t>Question 223.10.1</a:t>
            </a:r>
          </a:p>
        </p:txBody>
      </p:sp>
      <p:sp>
        <p:nvSpPr>
          <p:cNvPr id="147460" name="Rectangle 3"/>
          <p:cNvSpPr>
            <a:spLocks noGrp="1" noChangeArrowheads="1"/>
          </p:cNvSpPr>
          <p:nvPr>
            <p:ph idx="1"/>
          </p:nvPr>
        </p:nvSpPr>
        <p:spPr/>
        <p:txBody>
          <a:bodyPr/>
          <a:lstStyle/>
          <a:p>
            <a:pPr marL="609600" indent="-609600">
              <a:buNone/>
            </a:pPr>
            <a:r>
              <a:rPr lang="en-US" dirty="0"/>
              <a:t>Light is a …</a:t>
            </a:r>
          </a:p>
          <a:p>
            <a:pPr marL="609600" indent="-609600">
              <a:buFontTx/>
              <a:buAutoNum type="alphaLcParenR"/>
            </a:pPr>
            <a:r>
              <a:rPr lang="en-US" dirty="0"/>
              <a:t>Electromagnetic Wave </a:t>
            </a:r>
          </a:p>
          <a:p>
            <a:pPr marL="609600" indent="-609600">
              <a:buFontTx/>
              <a:buAutoNum type="alphaLcParenR"/>
            </a:pPr>
            <a:r>
              <a:rPr lang="en-US" dirty="0"/>
              <a:t>Particle</a:t>
            </a:r>
          </a:p>
          <a:p>
            <a:pPr marL="609600" indent="-609600">
              <a:buFontTx/>
              <a:buAutoNum type="alphaLcParenR"/>
            </a:pPr>
            <a:r>
              <a:rPr lang="en-US" dirty="0"/>
              <a:t>Neither</a:t>
            </a:r>
          </a:p>
          <a:p>
            <a:pPr marL="609600" indent="-609600">
              <a:buFontTx/>
              <a:buAutoNum type="alphaLcParenR"/>
            </a:pPr>
            <a:r>
              <a:rPr lang="en-US" dirty="0"/>
              <a:t>Both</a:t>
            </a:r>
          </a:p>
        </p:txBody>
      </p:sp>
      <p:sp>
        <p:nvSpPr>
          <p:cNvPr id="147458" name="Slide Number Placeholder 5"/>
          <p:cNvSpPr>
            <a:spLocks noGrp="1"/>
          </p:cNvSpPr>
          <p:nvPr>
            <p:ph type="sldNum" sz="quarter" idx="12"/>
          </p:nvPr>
        </p:nvSpPr>
        <p:spPr>
          <a:noFill/>
        </p:spPr>
        <p:txBody>
          <a:bodyPr/>
          <a:lstStyle/>
          <a:p>
            <a:fld id="{C2C12A0F-1836-420C-B65D-7E17BED4DCB0}" type="slidenum">
              <a:rPr lang="en-US" smtClean="0"/>
              <a:pPr/>
              <a:t>2</a:t>
            </a:fld>
            <a:endParaRPr lang="en-US"/>
          </a:p>
        </p:txBody>
      </p:sp>
    </p:spTree>
    <p:extLst>
      <p:ext uri="{BB962C8B-B14F-4D97-AF65-F5344CB8AC3E}">
        <p14:creationId xmlns:p14="http://schemas.microsoft.com/office/powerpoint/2010/main" val="252581200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8483" name="Rectangle 2"/>
          <p:cNvSpPr>
            <a:spLocks noGrp="1" noChangeArrowheads="1"/>
          </p:cNvSpPr>
          <p:nvPr>
            <p:ph type="title"/>
          </p:nvPr>
        </p:nvSpPr>
        <p:spPr/>
        <p:txBody>
          <a:bodyPr/>
          <a:lstStyle/>
          <a:p>
            <a:r>
              <a:rPr lang="en-US" dirty="0"/>
              <a:t>Question 223.10.2</a:t>
            </a:r>
          </a:p>
        </p:txBody>
      </p:sp>
      <p:sp>
        <p:nvSpPr>
          <p:cNvPr id="148484" name="Rectangle 3"/>
          <p:cNvSpPr>
            <a:spLocks noGrp="1" noChangeArrowheads="1"/>
          </p:cNvSpPr>
          <p:nvPr>
            <p:ph idx="1"/>
          </p:nvPr>
        </p:nvSpPr>
        <p:spPr/>
        <p:txBody>
          <a:bodyPr/>
          <a:lstStyle/>
          <a:p>
            <a:pPr marL="609600" indent="-609600">
              <a:buNone/>
            </a:pPr>
            <a:r>
              <a:rPr lang="en-US"/>
              <a:t>The energy of a photon is proportional to </a:t>
            </a:r>
          </a:p>
          <a:p>
            <a:pPr marL="609600" indent="-609600">
              <a:buFontTx/>
              <a:buAutoNum type="alphaLcParenR"/>
            </a:pPr>
            <a:r>
              <a:rPr lang="en-US"/>
              <a:t>The wavelength</a:t>
            </a:r>
          </a:p>
          <a:p>
            <a:pPr marL="609600" indent="-609600">
              <a:buFontTx/>
              <a:buAutoNum type="alphaLcParenR"/>
            </a:pPr>
            <a:r>
              <a:rPr lang="en-US"/>
              <a:t>The period</a:t>
            </a:r>
          </a:p>
          <a:p>
            <a:pPr marL="609600" indent="-609600">
              <a:buFontTx/>
              <a:buAutoNum type="alphaLcParenR"/>
            </a:pPr>
            <a:r>
              <a:rPr lang="en-US"/>
              <a:t>The frequency</a:t>
            </a:r>
          </a:p>
          <a:p>
            <a:pPr marL="609600" indent="-609600">
              <a:buFontTx/>
              <a:buAutoNum type="alphaLcParenR"/>
            </a:pPr>
            <a:r>
              <a:rPr lang="en-US">
                <a:sym typeface="Symbol" pitchFamily="18" charset="2"/>
              </a:rPr>
              <a:t></a:t>
            </a:r>
          </a:p>
        </p:txBody>
      </p:sp>
      <p:sp>
        <p:nvSpPr>
          <p:cNvPr id="148482" name="Slide Number Placeholder 5"/>
          <p:cNvSpPr>
            <a:spLocks noGrp="1"/>
          </p:cNvSpPr>
          <p:nvPr>
            <p:ph type="sldNum" sz="quarter" idx="12"/>
          </p:nvPr>
        </p:nvSpPr>
        <p:spPr>
          <a:noFill/>
        </p:spPr>
        <p:txBody>
          <a:bodyPr/>
          <a:lstStyle/>
          <a:p>
            <a:fld id="{55D2D622-B04C-41CE-9A18-30BE77436C65}" type="slidenum">
              <a:rPr lang="en-US" smtClean="0"/>
              <a:pPr/>
              <a:t>3</a:t>
            </a:fld>
            <a:endParaRPr lang="en-US"/>
          </a:p>
        </p:txBody>
      </p:sp>
    </p:spTree>
    <p:extLst>
      <p:ext uri="{BB962C8B-B14F-4D97-AF65-F5344CB8AC3E}">
        <p14:creationId xmlns:p14="http://schemas.microsoft.com/office/powerpoint/2010/main" val="232150757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9507" name="Rectangle 2"/>
          <p:cNvSpPr>
            <a:spLocks noGrp="1" noChangeArrowheads="1"/>
          </p:cNvSpPr>
          <p:nvPr>
            <p:ph type="title"/>
          </p:nvPr>
        </p:nvSpPr>
        <p:spPr/>
        <p:txBody>
          <a:bodyPr/>
          <a:lstStyle/>
          <a:p>
            <a:r>
              <a:rPr lang="en-US" dirty="0"/>
              <a:t>Question 223.10.3</a:t>
            </a:r>
          </a:p>
        </p:txBody>
      </p:sp>
      <p:sp>
        <p:nvSpPr>
          <p:cNvPr id="149508" name="Rectangle 3"/>
          <p:cNvSpPr>
            <a:spLocks noGrp="1" noChangeArrowheads="1"/>
          </p:cNvSpPr>
          <p:nvPr>
            <p:ph idx="1"/>
          </p:nvPr>
        </p:nvSpPr>
        <p:spPr/>
        <p:txBody>
          <a:bodyPr/>
          <a:lstStyle/>
          <a:p>
            <a:pPr marL="609600" indent="-609600">
              <a:buNone/>
            </a:pPr>
            <a:r>
              <a:rPr lang="en-US"/>
              <a:t>The speed of light is always constant</a:t>
            </a:r>
          </a:p>
          <a:p>
            <a:pPr marL="609600" indent="-609600">
              <a:buFontTx/>
              <a:buAutoNum type="alphaLcParenR"/>
            </a:pPr>
            <a:r>
              <a:rPr lang="en-US"/>
              <a:t>True</a:t>
            </a:r>
          </a:p>
          <a:p>
            <a:pPr marL="609600" indent="-609600">
              <a:buFontTx/>
              <a:buAutoNum type="alphaLcParenR"/>
            </a:pPr>
            <a:r>
              <a:rPr lang="en-US"/>
              <a:t>False</a:t>
            </a:r>
          </a:p>
          <a:p>
            <a:pPr marL="609600" indent="-609600"/>
            <a:endParaRPr lang="en-US"/>
          </a:p>
        </p:txBody>
      </p:sp>
      <p:sp>
        <p:nvSpPr>
          <p:cNvPr id="149506" name="Slide Number Placeholder 5"/>
          <p:cNvSpPr>
            <a:spLocks noGrp="1"/>
          </p:cNvSpPr>
          <p:nvPr>
            <p:ph type="sldNum" sz="quarter" idx="12"/>
          </p:nvPr>
        </p:nvSpPr>
        <p:spPr>
          <a:noFill/>
        </p:spPr>
        <p:txBody>
          <a:bodyPr/>
          <a:lstStyle/>
          <a:p>
            <a:fld id="{EB9F4E97-DFD9-491A-B656-B1C0E42ADD5C}" type="slidenum">
              <a:rPr lang="en-US" smtClean="0"/>
              <a:pPr/>
              <a:t>4</a:t>
            </a:fld>
            <a:endParaRPr lang="en-US"/>
          </a:p>
        </p:txBody>
      </p:sp>
    </p:spTree>
    <p:extLst>
      <p:ext uri="{BB962C8B-B14F-4D97-AF65-F5344CB8AC3E}">
        <p14:creationId xmlns:p14="http://schemas.microsoft.com/office/powerpoint/2010/main" val="190377190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9507" name="Rectangle 2"/>
          <p:cNvSpPr>
            <a:spLocks noGrp="1" noChangeArrowheads="1"/>
          </p:cNvSpPr>
          <p:nvPr>
            <p:ph type="title"/>
          </p:nvPr>
        </p:nvSpPr>
        <p:spPr/>
        <p:txBody>
          <a:bodyPr/>
          <a:lstStyle/>
          <a:p>
            <a:r>
              <a:rPr lang="en-US" dirty="0"/>
              <a:t>Question 223.10.4</a:t>
            </a:r>
          </a:p>
        </p:txBody>
      </p:sp>
      <p:sp>
        <p:nvSpPr>
          <p:cNvPr id="149508" name="Rectangle 3"/>
          <p:cNvSpPr>
            <a:spLocks noGrp="1" noChangeArrowheads="1"/>
          </p:cNvSpPr>
          <p:nvPr>
            <p:ph idx="1"/>
          </p:nvPr>
        </p:nvSpPr>
        <p:spPr/>
        <p:txBody>
          <a:bodyPr/>
          <a:lstStyle/>
          <a:p>
            <a:pPr marL="609600" indent="-609600">
              <a:buNone/>
            </a:pPr>
            <a:r>
              <a:rPr lang="en-US" dirty="0"/>
              <a:t>Can anything go faster than light?</a:t>
            </a:r>
          </a:p>
          <a:p>
            <a:pPr marL="609600" indent="-609600">
              <a:buFontTx/>
              <a:buAutoNum type="alphaLcParenR"/>
            </a:pPr>
            <a:r>
              <a:rPr lang="en-US" dirty="0"/>
              <a:t>Yes</a:t>
            </a:r>
          </a:p>
          <a:p>
            <a:pPr marL="609600" indent="-609600">
              <a:buFontTx/>
              <a:buAutoNum type="alphaLcParenR"/>
            </a:pPr>
            <a:r>
              <a:rPr lang="en-US" dirty="0"/>
              <a:t>No</a:t>
            </a:r>
          </a:p>
          <a:p>
            <a:pPr marL="609600" indent="-609600">
              <a:buFontTx/>
              <a:buAutoNum type="alphaLcParenR"/>
            </a:pPr>
            <a:r>
              <a:rPr lang="en-US" dirty="0"/>
              <a:t>maybe</a:t>
            </a:r>
          </a:p>
          <a:p>
            <a:pPr marL="609600" indent="-609600"/>
            <a:endParaRPr lang="en-US" dirty="0"/>
          </a:p>
        </p:txBody>
      </p:sp>
      <p:sp>
        <p:nvSpPr>
          <p:cNvPr id="149506" name="Slide Number Placeholder 5"/>
          <p:cNvSpPr>
            <a:spLocks noGrp="1"/>
          </p:cNvSpPr>
          <p:nvPr>
            <p:ph type="sldNum" sz="quarter" idx="12"/>
          </p:nvPr>
        </p:nvSpPr>
        <p:spPr>
          <a:noFill/>
        </p:spPr>
        <p:txBody>
          <a:bodyPr/>
          <a:lstStyle/>
          <a:p>
            <a:fld id="{EB9F4E97-DFD9-491A-B656-B1C0E42ADD5C}" type="slidenum">
              <a:rPr lang="en-US" smtClean="0"/>
              <a:pPr/>
              <a:t>5</a:t>
            </a:fld>
            <a:endParaRPr lang="en-US"/>
          </a:p>
        </p:txBody>
      </p:sp>
    </p:spTree>
    <p:extLst>
      <p:ext uri="{BB962C8B-B14F-4D97-AF65-F5344CB8AC3E}">
        <p14:creationId xmlns:p14="http://schemas.microsoft.com/office/powerpoint/2010/main" val="85632618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Rectangle 2"/>
          <p:cNvSpPr>
            <a:spLocks noGrp="1" noChangeArrowheads="1"/>
          </p:cNvSpPr>
          <p:nvPr>
            <p:ph type="title"/>
          </p:nvPr>
        </p:nvSpPr>
        <p:spPr/>
        <p:txBody>
          <a:bodyPr/>
          <a:lstStyle/>
          <a:p>
            <a:r>
              <a:rPr lang="en-US"/>
              <a:t>The Nature of Light</a:t>
            </a:r>
          </a:p>
        </p:txBody>
      </p:sp>
      <p:sp>
        <p:nvSpPr>
          <p:cNvPr id="5123" name="Rectangle 3"/>
          <p:cNvSpPr>
            <a:spLocks noGrp="1" noChangeArrowheads="1"/>
          </p:cNvSpPr>
          <p:nvPr>
            <p:ph type="body" idx="1"/>
          </p:nvPr>
        </p:nvSpPr>
        <p:spPr/>
        <p:txBody>
          <a:bodyPr/>
          <a:lstStyle/>
          <a:p>
            <a:pPr>
              <a:lnSpc>
                <a:spcPct val="90000"/>
              </a:lnSpc>
            </a:pPr>
            <a:r>
              <a:rPr lang="en-US" dirty="0"/>
              <a:t>Before the beginning of the nineteenth century, light was considered to be a stream of particles</a:t>
            </a:r>
          </a:p>
          <a:p>
            <a:pPr>
              <a:lnSpc>
                <a:spcPct val="90000"/>
              </a:lnSpc>
            </a:pPr>
            <a:r>
              <a:rPr lang="en-US" dirty="0"/>
              <a:t>The particles were either emitted by the object being viewed or emanated from the eyes of the viewer</a:t>
            </a:r>
          </a:p>
          <a:p>
            <a:pPr>
              <a:lnSpc>
                <a:spcPct val="90000"/>
              </a:lnSpc>
            </a:pPr>
            <a:r>
              <a:rPr lang="en-US" dirty="0"/>
              <a:t>Newton was the chief architect of the particle theory of light</a:t>
            </a:r>
          </a:p>
          <a:p>
            <a:pPr lvl="1">
              <a:lnSpc>
                <a:spcPct val="90000"/>
              </a:lnSpc>
            </a:pPr>
            <a:r>
              <a:rPr lang="en-US" dirty="0"/>
              <a:t>He believed the particles left the object and stimulated the sense of sight upon entering the eyes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ooter Placeholder 4"/>
          <p:cNvSpPr>
            <a:spLocks noGrp="1"/>
          </p:cNvSpPr>
          <p:nvPr>
            <p:ph type="ftr" sz="quarter" idx="11"/>
          </p:nvPr>
        </p:nvSpPr>
        <p:spPr/>
        <p:txBody>
          <a:bodyPr/>
          <a:lstStyle/>
          <a:p>
            <a:r>
              <a:rPr lang="en-US"/>
              <a:t>R. Todd Lines</a:t>
            </a:r>
          </a:p>
        </p:txBody>
      </p:sp>
      <p:sp>
        <p:nvSpPr>
          <p:cNvPr id="6146" name="Rectangle 2"/>
          <p:cNvSpPr>
            <a:spLocks noGrp="1" noChangeArrowheads="1"/>
          </p:cNvSpPr>
          <p:nvPr>
            <p:ph type="title"/>
          </p:nvPr>
        </p:nvSpPr>
        <p:spPr/>
        <p:txBody>
          <a:bodyPr/>
          <a:lstStyle/>
          <a:p>
            <a:r>
              <a:rPr lang="en-US" sz="3200"/>
              <a:t>Nature of Light – Alternative View</a:t>
            </a:r>
          </a:p>
        </p:txBody>
      </p:sp>
      <p:sp>
        <p:nvSpPr>
          <p:cNvPr id="6147" name="Rectangle 3"/>
          <p:cNvSpPr>
            <a:spLocks noGrp="1" noChangeArrowheads="1"/>
          </p:cNvSpPr>
          <p:nvPr>
            <p:ph type="body" idx="1"/>
          </p:nvPr>
        </p:nvSpPr>
        <p:spPr/>
        <p:txBody>
          <a:bodyPr/>
          <a:lstStyle/>
          <a:p>
            <a:pPr>
              <a:lnSpc>
                <a:spcPct val="90000"/>
              </a:lnSpc>
            </a:pPr>
            <a:r>
              <a:rPr lang="en-US"/>
              <a:t>Christian Huygens argued that light might be some sort of a wave motion</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9CBCD812-7262-45D7-E7E6-2C4D17B08F9D}"/>
              </a:ext>
            </a:extLst>
          </p:cNvPr>
          <p:cNvSpPr/>
          <p:nvPr/>
        </p:nvSpPr>
        <p:spPr>
          <a:xfrm>
            <a:off x="620889" y="2971797"/>
            <a:ext cx="10950222" cy="112889"/>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Rectangle 62">
            <a:extLst>
              <a:ext uri="{FF2B5EF4-FFF2-40B4-BE49-F238E27FC236}">
                <a16:creationId xmlns:a16="http://schemas.microsoft.com/office/drawing/2014/main" id="{8A8379D7-E503-AC97-AE9B-9DCD47A14DEB}"/>
              </a:ext>
            </a:extLst>
          </p:cNvPr>
          <p:cNvSpPr/>
          <p:nvPr/>
        </p:nvSpPr>
        <p:spPr>
          <a:xfrm>
            <a:off x="4035774" y="2971797"/>
            <a:ext cx="79022" cy="112889"/>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766D9104-869A-9C99-93BF-935EDCF766FA}"/>
              </a:ext>
            </a:extLst>
          </p:cNvPr>
          <p:cNvSpPr txBox="1"/>
          <p:nvPr/>
        </p:nvSpPr>
        <p:spPr>
          <a:xfrm>
            <a:off x="2066875" y="3384224"/>
            <a:ext cx="652743" cy="369332"/>
          </a:xfrm>
          <a:prstGeom prst="rect">
            <a:avLst/>
          </a:prstGeom>
          <a:noFill/>
        </p:spPr>
        <p:txBody>
          <a:bodyPr wrap="none" rtlCol="0">
            <a:spAutoFit/>
          </a:bodyPr>
          <a:lstStyle/>
          <a:p>
            <a:r>
              <a:rPr lang="en-US" dirty="0"/>
              <a:t>1600</a:t>
            </a:r>
          </a:p>
        </p:txBody>
      </p:sp>
      <p:sp>
        <p:nvSpPr>
          <p:cNvPr id="6" name="TextBox 5">
            <a:extLst>
              <a:ext uri="{FF2B5EF4-FFF2-40B4-BE49-F238E27FC236}">
                <a16:creationId xmlns:a16="http://schemas.microsoft.com/office/drawing/2014/main" id="{AA06FA41-E927-595C-B12B-FC4DD923D89C}"/>
              </a:ext>
            </a:extLst>
          </p:cNvPr>
          <p:cNvSpPr txBox="1"/>
          <p:nvPr/>
        </p:nvSpPr>
        <p:spPr>
          <a:xfrm>
            <a:off x="3923898" y="3417711"/>
            <a:ext cx="2194683" cy="369332"/>
          </a:xfrm>
          <a:prstGeom prst="rect">
            <a:avLst/>
          </a:prstGeom>
          <a:noFill/>
        </p:spPr>
        <p:txBody>
          <a:bodyPr wrap="square" rtlCol="0">
            <a:spAutoFit/>
          </a:bodyPr>
          <a:lstStyle/>
          <a:p>
            <a:r>
              <a:rPr lang="en-US" dirty="0"/>
              <a:t>1700</a:t>
            </a:r>
          </a:p>
        </p:txBody>
      </p:sp>
      <p:sp>
        <p:nvSpPr>
          <p:cNvPr id="7" name="TextBox 6">
            <a:extLst>
              <a:ext uri="{FF2B5EF4-FFF2-40B4-BE49-F238E27FC236}">
                <a16:creationId xmlns:a16="http://schemas.microsoft.com/office/drawing/2014/main" id="{EC47CF0B-7EEC-7637-1500-3C5F569A7F65}"/>
              </a:ext>
            </a:extLst>
          </p:cNvPr>
          <p:cNvSpPr txBox="1"/>
          <p:nvPr/>
        </p:nvSpPr>
        <p:spPr>
          <a:xfrm>
            <a:off x="5792209" y="3417711"/>
            <a:ext cx="652743" cy="369332"/>
          </a:xfrm>
          <a:prstGeom prst="rect">
            <a:avLst/>
          </a:prstGeom>
          <a:noFill/>
        </p:spPr>
        <p:txBody>
          <a:bodyPr wrap="none" rtlCol="0">
            <a:spAutoFit/>
          </a:bodyPr>
          <a:lstStyle/>
          <a:p>
            <a:r>
              <a:rPr lang="en-US" dirty="0"/>
              <a:t>1800</a:t>
            </a:r>
          </a:p>
        </p:txBody>
      </p:sp>
      <p:sp>
        <p:nvSpPr>
          <p:cNvPr id="8" name="TextBox 7">
            <a:extLst>
              <a:ext uri="{FF2B5EF4-FFF2-40B4-BE49-F238E27FC236}">
                <a16:creationId xmlns:a16="http://schemas.microsoft.com/office/drawing/2014/main" id="{9F0A5960-B440-BF07-62FD-21FA0C5FD5B2}"/>
              </a:ext>
            </a:extLst>
          </p:cNvPr>
          <p:cNvSpPr txBox="1"/>
          <p:nvPr/>
        </p:nvSpPr>
        <p:spPr>
          <a:xfrm>
            <a:off x="7541986" y="3417711"/>
            <a:ext cx="652743" cy="369332"/>
          </a:xfrm>
          <a:prstGeom prst="rect">
            <a:avLst/>
          </a:prstGeom>
          <a:noFill/>
        </p:spPr>
        <p:txBody>
          <a:bodyPr wrap="none" rtlCol="0">
            <a:spAutoFit/>
          </a:bodyPr>
          <a:lstStyle/>
          <a:p>
            <a:r>
              <a:rPr lang="en-US" dirty="0"/>
              <a:t>1900</a:t>
            </a:r>
          </a:p>
        </p:txBody>
      </p:sp>
      <p:sp>
        <p:nvSpPr>
          <p:cNvPr id="9" name="TextBox 8">
            <a:extLst>
              <a:ext uri="{FF2B5EF4-FFF2-40B4-BE49-F238E27FC236}">
                <a16:creationId xmlns:a16="http://schemas.microsoft.com/office/drawing/2014/main" id="{E308791A-6393-C395-9A9B-3102682D4C53}"/>
              </a:ext>
            </a:extLst>
          </p:cNvPr>
          <p:cNvSpPr txBox="1"/>
          <p:nvPr/>
        </p:nvSpPr>
        <p:spPr>
          <a:xfrm>
            <a:off x="9347201" y="3417711"/>
            <a:ext cx="652743" cy="369332"/>
          </a:xfrm>
          <a:prstGeom prst="rect">
            <a:avLst/>
          </a:prstGeom>
          <a:noFill/>
        </p:spPr>
        <p:txBody>
          <a:bodyPr wrap="none" rtlCol="0">
            <a:spAutoFit/>
          </a:bodyPr>
          <a:lstStyle/>
          <a:p>
            <a:r>
              <a:rPr lang="en-US" dirty="0"/>
              <a:t>2000</a:t>
            </a:r>
          </a:p>
        </p:txBody>
      </p:sp>
      <p:sp>
        <p:nvSpPr>
          <p:cNvPr id="10" name="TextBox 9">
            <a:extLst>
              <a:ext uri="{FF2B5EF4-FFF2-40B4-BE49-F238E27FC236}">
                <a16:creationId xmlns:a16="http://schemas.microsoft.com/office/drawing/2014/main" id="{FA922DDC-505E-05D4-FB0A-0279827AB769}"/>
              </a:ext>
            </a:extLst>
          </p:cNvPr>
          <p:cNvSpPr txBox="1"/>
          <p:nvPr/>
        </p:nvSpPr>
        <p:spPr>
          <a:xfrm flipH="1">
            <a:off x="2066875" y="1777117"/>
            <a:ext cx="1381314" cy="923330"/>
          </a:xfrm>
          <a:prstGeom prst="rect">
            <a:avLst/>
          </a:prstGeom>
          <a:noFill/>
        </p:spPr>
        <p:txBody>
          <a:bodyPr wrap="square" rtlCol="0">
            <a:spAutoFit/>
          </a:bodyPr>
          <a:lstStyle/>
          <a:p>
            <a:r>
              <a:rPr lang="en-US" dirty="0"/>
              <a:t>Newton: Light is a particle</a:t>
            </a:r>
          </a:p>
        </p:txBody>
      </p:sp>
      <p:sp>
        <p:nvSpPr>
          <p:cNvPr id="11" name="Rectangle 10">
            <a:extLst>
              <a:ext uri="{FF2B5EF4-FFF2-40B4-BE49-F238E27FC236}">
                <a16:creationId xmlns:a16="http://schemas.microsoft.com/office/drawing/2014/main" id="{625B40D1-B2BB-4FB0-CB77-3AF7E2A03532}"/>
              </a:ext>
            </a:extLst>
          </p:cNvPr>
          <p:cNvSpPr/>
          <p:nvPr/>
        </p:nvSpPr>
        <p:spPr>
          <a:xfrm>
            <a:off x="4063998" y="2971797"/>
            <a:ext cx="79022" cy="112889"/>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3DD86BA1-E080-CDC6-8CAC-0E8EA3309760}"/>
              </a:ext>
            </a:extLst>
          </p:cNvPr>
          <p:cNvSpPr txBox="1"/>
          <p:nvPr/>
        </p:nvSpPr>
        <p:spPr>
          <a:xfrm flipH="1">
            <a:off x="3353263" y="996520"/>
            <a:ext cx="1345977" cy="923330"/>
          </a:xfrm>
          <a:prstGeom prst="rect">
            <a:avLst/>
          </a:prstGeom>
          <a:noFill/>
        </p:spPr>
        <p:txBody>
          <a:bodyPr wrap="square" rtlCol="0">
            <a:spAutoFit/>
          </a:bodyPr>
          <a:lstStyle/>
          <a:p>
            <a:r>
              <a:rPr lang="en-US" dirty="0"/>
              <a:t>Huygens: Light is a wave</a:t>
            </a:r>
          </a:p>
        </p:txBody>
      </p:sp>
      <p:sp>
        <p:nvSpPr>
          <p:cNvPr id="13" name="Rectangle 12">
            <a:extLst>
              <a:ext uri="{FF2B5EF4-FFF2-40B4-BE49-F238E27FC236}">
                <a16:creationId xmlns:a16="http://schemas.microsoft.com/office/drawing/2014/main" id="{CBF81636-37B4-5ECC-2F47-A447F4537B6E}"/>
              </a:ext>
            </a:extLst>
          </p:cNvPr>
          <p:cNvSpPr/>
          <p:nvPr/>
        </p:nvSpPr>
        <p:spPr>
          <a:xfrm>
            <a:off x="4148664" y="2971797"/>
            <a:ext cx="79022" cy="112889"/>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5" name="Straight Connector 14">
            <a:extLst>
              <a:ext uri="{FF2B5EF4-FFF2-40B4-BE49-F238E27FC236}">
                <a16:creationId xmlns:a16="http://schemas.microsoft.com/office/drawing/2014/main" id="{93AE6F34-0603-ABA0-8692-858695C90279}"/>
              </a:ext>
            </a:extLst>
          </p:cNvPr>
          <p:cNvCxnSpPr>
            <a:cxnSpLocks/>
            <a:stCxn id="10" idx="2"/>
            <a:endCxn id="11" idx="0"/>
          </p:cNvCxnSpPr>
          <p:nvPr/>
        </p:nvCxnSpPr>
        <p:spPr>
          <a:xfrm>
            <a:off x="2757532" y="2700447"/>
            <a:ext cx="1345977" cy="271350"/>
          </a:xfrm>
          <a:prstGeom prst="line">
            <a:avLst/>
          </a:prstGeom>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964DCBB5-55E6-589B-F1F1-2937919E6396}"/>
              </a:ext>
            </a:extLst>
          </p:cNvPr>
          <p:cNvCxnSpPr>
            <a:cxnSpLocks/>
            <a:stCxn id="12" idx="2"/>
            <a:endCxn id="13" idx="0"/>
          </p:cNvCxnSpPr>
          <p:nvPr/>
        </p:nvCxnSpPr>
        <p:spPr>
          <a:xfrm>
            <a:off x="4026251" y="1919850"/>
            <a:ext cx="161924" cy="1051947"/>
          </a:xfrm>
          <a:prstGeom prst="line">
            <a:avLst/>
          </a:prstGeom>
        </p:spPr>
        <p:style>
          <a:lnRef idx="1">
            <a:schemeClr val="accent1"/>
          </a:lnRef>
          <a:fillRef idx="0">
            <a:schemeClr val="accent1"/>
          </a:fillRef>
          <a:effectRef idx="0">
            <a:schemeClr val="accent1"/>
          </a:effectRef>
          <a:fontRef idx="minor">
            <a:schemeClr val="tx1"/>
          </a:fontRef>
        </p:style>
      </p:cxnSp>
      <p:sp>
        <p:nvSpPr>
          <p:cNvPr id="20" name="Rectangle 19">
            <a:extLst>
              <a:ext uri="{FF2B5EF4-FFF2-40B4-BE49-F238E27FC236}">
                <a16:creationId xmlns:a16="http://schemas.microsoft.com/office/drawing/2014/main" id="{5CB96F28-6D77-A3D8-570F-6930EADECD2C}"/>
              </a:ext>
            </a:extLst>
          </p:cNvPr>
          <p:cNvSpPr/>
          <p:nvPr/>
        </p:nvSpPr>
        <p:spPr>
          <a:xfrm>
            <a:off x="6096000" y="2971797"/>
            <a:ext cx="79022" cy="112889"/>
          </a:xfrm>
          <a:prstGeom prst="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D679A57F-B6EE-BE95-D336-5D0F02B20B31}"/>
              </a:ext>
            </a:extLst>
          </p:cNvPr>
          <p:cNvSpPr txBox="1"/>
          <p:nvPr/>
        </p:nvSpPr>
        <p:spPr>
          <a:xfrm flipH="1">
            <a:off x="5443168" y="1578334"/>
            <a:ext cx="1049582" cy="923330"/>
          </a:xfrm>
          <a:prstGeom prst="rect">
            <a:avLst/>
          </a:prstGeom>
          <a:noFill/>
        </p:spPr>
        <p:txBody>
          <a:bodyPr wrap="square" rtlCol="0">
            <a:spAutoFit/>
          </a:bodyPr>
          <a:lstStyle/>
          <a:p>
            <a:r>
              <a:rPr lang="en-US" dirty="0"/>
              <a:t>Young: Light is a wave</a:t>
            </a:r>
          </a:p>
        </p:txBody>
      </p:sp>
      <p:cxnSp>
        <p:nvCxnSpPr>
          <p:cNvPr id="28" name="Straight Connector 27">
            <a:extLst>
              <a:ext uri="{FF2B5EF4-FFF2-40B4-BE49-F238E27FC236}">
                <a16:creationId xmlns:a16="http://schemas.microsoft.com/office/drawing/2014/main" id="{1BAC20E5-BC82-4629-A8BB-AF1A628F8067}"/>
              </a:ext>
            </a:extLst>
          </p:cNvPr>
          <p:cNvCxnSpPr>
            <a:cxnSpLocks/>
            <a:stCxn id="21" idx="2"/>
            <a:endCxn id="20" idx="3"/>
          </p:cNvCxnSpPr>
          <p:nvPr/>
        </p:nvCxnSpPr>
        <p:spPr>
          <a:xfrm>
            <a:off x="5967959" y="2501664"/>
            <a:ext cx="207063" cy="526578"/>
          </a:xfrm>
          <a:prstGeom prst="line">
            <a:avLst/>
          </a:prstGeom>
        </p:spPr>
        <p:style>
          <a:lnRef idx="1">
            <a:schemeClr val="accent1"/>
          </a:lnRef>
          <a:fillRef idx="0">
            <a:schemeClr val="accent1"/>
          </a:fillRef>
          <a:effectRef idx="0">
            <a:schemeClr val="accent1"/>
          </a:effectRef>
          <a:fontRef idx="minor">
            <a:schemeClr val="tx1"/>
          </a:fontRef>
        </p:style>
      </p:cxnSp>
      <p:sp>
        <p:nvSpPr>
          <p:cNvPr id="32" name="Rectangle 31">
            <a:extLst>
              <a:ext uri="{FF2B5EF4-FFF2-40B4-BE49-F238E27FC236}">
                <a16:creationId xmlns:a16="http://schemas.microsoft.com/office/drawing/2014/main" id="{243ABE2D-E55F-DDFF-6A6A-3077279DDF58}"/>
              </a:ext>
            </a:extLst>
          </p:cNvPr>
          <p:cNvSpPr/>
          <p:nvPr/>
        </p:nvSpPr>
        <p:spPr>
          <a:xfrm>
            <a:off x="6530625" y="2971797"/>
            <a:ext cx="79022" cy="112889"/>
          </a:xfrm>
          <a:prstGeom prst="rect">
            <a:avLst/>
          </a:prstGeom>
          <a:solidFill>
            <a:srgbClr val="FF0000"/>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dirty="0"/>
          </a:p>
        </p:txBody>
      </p:sp>
      <p:sp>
        <p:nvSpPr>
          <p:cNvPr id="33" name="TextBox 32">
            <a:extLst>
              <a:ext uri="{FF2B5EF4-FFF2-40B4-BE49-F238E27FC236}">
                <a16:creationId xmlns:a16="http://schemas.microsoft.com/office/drawing/2014/main" id="{2A86F798-1276-EFB3-502D-6E3F7DFCFC50}"/>
              </a:ext>
            </a:extLst>
          </p:cNvPr>
          <p:cNvSpPr txBox="1"/>
          <p:nvPr/>
        </p:nvSpPr>
        <p:spPr>
          <a:xfrm flipH="1">
            <a:off x="6378221" y="966556"/>
            <a:ext cx="1203788" cy="923330"/>
          </a:xfrm>
          <a:prstGeom prst="rect">
            <a:avLst/>
          </a:prstGeom>
          <a:noFill/>
        </p:spPr>
        <p:txBody>
          <a:bodyPr wrap="square" rtlCol="0">
            <a:spAutoFit/>
          </a:bodyPr>
          <a:lstStyle/>
          <a:p>
            <a:r>
              <a:rPr lang="en-US" dirty="0"/>
              <a:t>Smith: Light is important!</a:t>
            </a:r>
          </a:p>
        </p:txBody>
      </p:sp>
      <p:cxnSp>
        <p:nvCxnSpPr>
          <p:cNvPr id="34" name="Straight Connector 33">
            <a:extLst>
              <a:ext uri="{FF2B5EF4-FFF2-40B4-BE49-F238E27FC236}">
                <a16:creationId xmlns:a16="http://schemas.microsoft.com/office/drawing/2014/main" id="{549ECA8D-94F1-2DF2-6320-012757263D45}"/>
              </a:ext>
            </a:extLst>
          </p:cNvPr>
          <p:cNvCxnSpPr>
            <a:cxnSpLocks/>
            <a:stCxn id="33" idx="2"/>
            <a:endCxn id="32" idx="0"/>
          </p:cNvCxnSpPr>
          <p:nvPr/>
        </p:nvCxnSpPr>
        <p:spPr>
          <a:xfrm flipH="1">
            <a:off x="6570136" y="1889886"/>
            <a:ext cx="409979" cy="1081911"/>
          </a:xfrm>
          <a:prstGeom prst="line">
            <a:avLst/>
          </a:prstGeom>
        </p:spPr>
        <p:style>
          <a:lnRef idx="1">
            <a:schemeClr val="accent1"/>
          </a:lnRef>
          <a:fillRef idx="0">
            <a:schemeClr val="accent1"/>
          </a:fillRef>
          <a:effectRef idx="0">
            <a:schemeClr val="accent1"/>
          </a:effectRef>
          <a:fontRef idx="minor">
            <a:schemeClr val="tx1"/>
          </a:fontRef>
        </p:style>
      </p:cxnSp>
      <p:sp>
        <p:nvSpPr>
          <p:cNvPr id="37" name="Rectangle 36">
            <a:extLst>
              <a:ext uri="{FF2B5EF4-FFF2-40B4-BE49-F238E27FC236}">
                <a16:creationId xmlns:a16="http://schemas.microsoft.com/office/drawing/2014/main" id="{77085DF3-201B-19FF-140E-A8627D5A2A8E}"/>
              </a:ext>
            </a:extLst>
          </p:cNvPr>
          <p:cNvSpPr/>
          <p:nvPr/>
        </p:nvSpPr>
        <p:spPr>
          <a:xfrm>
            <a:off x="6874938" y="2971797"/>
            <a:ext cx="79022" cy="112889"/>
          </a:xfrm>
          <a:prstGeom prst="rect">
            <a:avLst/>
          </a:prstGeom>
          <a:solidFill>
            <a:srgbClr val="FF0000"/>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40" name="TextBox 39">
            <a:extLst>
              <a:ext uri="{FF2B5EF4-FFF2-40B4-BE49-F238E27FC236}">
                <a16:creationId xmlns:a16="http://schemas.microsoft.com/office/drawing/2014/main" id="{CB0EC636-093B-D9B2-8E03-22A195C7417D}"/>
              </a:ext>
            </a:extLst>
          </p:cNvPr>
          <p:cNvSpPr txBox="1"/>
          <p:nvPr/>
        </p:nvSpPr>
        <p:spPr>
          <a:xfrm flipH="1">
            <a:off x="5875802" y="3897948"/>
            <a:ext cx="1203788" cy="923330"/>
          </a:xfrm>
          <a:prstGeom prst="rect">
            <a:avLst/>
          </a:prstGeom>
          <a:noFill/>
        </p:spPr>
        <p:txBody>
          <a:bodyPr wrap="square" rtlCol="0">
            <a:spAutoFit/>
          </a:bodyPr>
          <a:lstStyle/>
          <a:p>
            <a:r>
              <a:rPr lang="en-US" dirty="0"/>
              <a:t>B. Young: Moves us to Utah</a:t>
            </a:r>
          </a:p>
        </p:txBody>
      </p:sp>
      <p:cxnSp>
        <p:nvCxnSpPr>
          <p:cNvPr id="41" name="Straight Connector 40">
            <a:extLst>
              <a:ext uri="{FF2B5EF4-FFF2-40B4-BE49-F238E27FC236}">
                <a16:creationId xmlns:a16="http://schemas.microsoft.com/office/drawing/2014/main" id="{62D94123-53D8-569E-ADFA-06AA8BD5A870}"/>
              </a:ext>
            </a:extLst>
          </p:cNvPr>
          <p:cNvCxnSpPr>
            <a:cxnSpLocks/>
            <a:stCxn id="40" idx="0"/>
          </p:cNvCxnSpPr>
          <p:nvPr/>
        </p:nvCxnSpPr>
        <p:spPr>
          <a:xfrm flipV="1">
            <a:off x="6477696" y="3070198"/>
            <a:ext cx="396149" cy="827750"/>
          </a:xfrm>
          <a:prstGeom prst="line">
            <a:avLst/>
          </a:prstGeom>
        </p:spPr>
        <p:style>
          <a:lnRef idx="1">
            <a:schemeClr val="accent1"/>
          </a:lnRef>
          <a:fillRef idx="0">
            <a:schemeClr val="accent1"/>
          </a:fillRef>
          <a:effectRef idx="0">
            <a:schemeClr val="accent1"/>
          </a:effectRef>
          <a:fontRef idx="minor">
            <a:schemeClr val="tx1"/>
          </a:fontRef>
        </p:style>
      </p:cxnSp>
      <p:sp>
        <p:nvSpPr>
          <p:cNvPr id="44" name="Rectangle 43">
            <a:extLst>
              <a:ext uri="{FF2B5EF4-FFF2-40B4-BE49-F238E27FC236}">
                <a16:creationId xmlns:a16="http://schemas.microsoft.com/office/drawing/2014/main" id="{057CCC03-5EF3-28E8-7485-0B0B2F5C5EDD}"/>
              </a:ext>
            </a:extLst>
          </p:cNvPr>
          <p:cNvSpPr/>
          <p:nvPr/>
        </p:nvSpPr>
        <p:spPr>
          <a:xfrm>
            <a:off x="7574843" y="2971797"/>
            <a:ext cx="79022" cy="112889"/>
          </a:xfrm>
          <a:prstGeom prst="rect">
            <a:avLst/>
          </a:prstGeom>
          <a:solidFill>
            <a:schemeClr val="accent1">
              <a:lumMod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45" name="TextBox 44">
            <a:extLst>
              <a:ext uri="{FF2B5EF4-FFF2-40B4-BE49-F238E27FC236}">
                <a16:creationId xmlns:a16="http://schemas.microsoft.com/office/drawing/2014/main" id="{9BC63B35-F73E-03FD-1E1B-D159600C7C46}"/>
              </a:ext>
            </a:extLst>
          </p:cNvPr>
          <p:cNvSpPr txBox="1"/>
          <p:nvPr/>
        </p:nvSpPr>
        <p:spPr>
          <a:xfrm>
            <a:off x="7779752" y="940472"/>
            <a:ext cx="1758687" cy="1200329"/>
          </a:xfrm>
          <a:prstGeom prst="rect">
            <a:avLst/>
          </a:prstGeom>
          <a:noFill/>
        </p:spPr>
        <p:txBody>
          <a:bodyPr wrap="none" rtlCol="0">
            <a:spAutoFit/>
          </a:bodyPr>
          <a:lstStyle/>
          <a:p>
            <a:r>
              <a:rPr lang="en-US" dirty="0"/>
              <a:t>Maxwell:</a:t>
            </a:r>
          </a:p>
          <a:p>
            <a:r>
              <a:rPr lang="en-US" dirty="0"/>
              <a:t>Light is an </a:t>
            </a:r>
          </a:p>
          <a:p>
            <a:r>
              <a:rPr lang="en-US" dirty="0"/>
              <a:t>Electromagnetic </a:t>
            </a:r>
          </a:p>
          <a:p>
            <a:r>
              <a:rPr lang="en-US" dirty="0"/>
              <a:t>Wave</a:t>
            </a:r>
          </a:p>
        </p:txBody>
      </p:sp>
      <p:cxnSp>
        <p:nvCxnSpPr>
          <p:cNvPr id="46" name="Straight Connector 45">
            <a:extLst>
              <a:ext uri="{FF2B5EF4-FFF2-40B4-BE49-F238E27FC236}">
                <a16:creationId xmlns:a16="http://schemas.microsoft.com/office/drawing/2014/main" id="{A98DA90A-0EBF-DE38-261F-1830194588CE}"/>
              </a:ext>
            </a:extLst>
          </p:cNvPr>
          <p:cNvCxnSpPr>
            <a:cxnSpLocks/>
            <a:endCxn id="44" idx="0"/>
          </p:cNvCxnSpPr>
          <p:nvPr/>
        </p:nvCxnSpPr>
        <p:spPr>
          <a:xfrm flipH="1">
            <a:off x="7614354" y="2102087"/>
            <a:ext cx="406670" cy="869710"/>
          </a:xfrm>
          <a:prstGeom prst="line">
            <a:avLst/>
          </a:prstGeom>
        </p:spPr>
        <p:style>
          <a:lnRef idx="1">
            <a:schemeClr val="accent1"/>
          </a:lnRef>
          <a:fillRef idx="0">
            <a:schemeClr val="accent1"/>
          </a:fillRef>
          <a:effectRef idx="0">
            <a:schemeClr val="accent1"/>
          </a:effectRef>
          <a:fontRef idx="minor">
            <a:schemeClr val="tx1"/>
          </a:fontRef>
        </p:style>
      </p:cxnSp>
      <p:sp>
        <p:nvSpPr>
          <p:cNvPr id="49" name="Rectangle 48">
            <a:extLst>
              <a:ext uri="{FF2B5EF4-FFF2-40B4-BE49-F238E27FC236}">
                <a16:creationId xmlns:a16="http://schemas.microsoft.com/office/drawing/2014/main" id="{D804BB66-32EC-2261-DDAA-A6BDEE67CDEA}"/>
              </a:ext>
            </a:extLst>
          </p:cNvPr>
          <p:cNvSpPr/>
          <p:nvPr/>
        </p:nvSpPr>
        <p:spPr>
          <a:xfrm>
            <a:off x="7840133" y="2971797"/>
            <a:ext cx="79022" cy="112889"/>
          </a:xfrm>
          <a:prstGeom prst="rect">
            <a:avLst/>
          </a:prstGeom>
          <a:solidFill>
            <a:schemeClr val="accent2">
              <a:lumMod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50" name="TextBox 49">
            <a:extLst>
              <a:ext uri="{FF2B5EF4-FFF2-40B4-BE49-F238E27FC236}">
                <a16:creationId xmlns:a16="http://schemas.microsoft.com/office/drawing/2014/main" id="{AC6A82D6-E60A-8C25-B216-CB096F1701F8}"/>
              </a:ext>
            </a:extLst>
          </p:cNvPr>
          <p:cNvSpPr txBox="1"/>
          <p:nvPr/>
        </p:nvSpPr>
        <p:spPr>
          <a:xfrm>
            <a:off x="8313263" y="3787043"/>
            <a:ext cx="1651478" cy="923330"/>
          </a:xfrm>
          <a:prstGeom prst="rect">
            <a:avLst/>
          </a:prstGeom>
          <a:noFill/>
        </p:spPr>
        <p:txBody>
          <a:bodyPr wrap="none" rtlCol="0">
            <a:spAutoFit/>
          </a:bodyPr>
          <a:lstStyle/>
          <a:p>
            <a:r>
              <a:rPr lang="en-US" dirty="0"/>
              <a:t>Plank:</a:t>
            </a:r>
          </a:p>
          <a:p>
            <a:r>
              <a:rPr lang="en-US" dirty="0"/>
              <a:t>Light is a </a:t>
            </a:r>
          </a:p>
          <a:p>
            <a:r>
              <a:rPr lang="en-US" dirty="0"/>
              <a:t>quantized wave</a:t>
            </a:r>
          </a:p>
        </p:txBody>
      </p:sp>
      <p:cxnSp>
        <p:nvCxnSpPr>
          <p:cNvPr id="51" name="Straight Connector 50">
            <a:extLst>
              <a:ext uri="{FF2B5EF4-FFF2-40B4-BE49-F238E27FC236}">
                <a16:creationId xmlns:a16="http://schemas.microsoft.com/office/drawing/2014/main" id="{B5E8DD89-8EAD-E165-F97D-D37F30042564}"/>
              </a:ext>
            </a:extLst>
          </p:cNvPr>
          <p:cNvCxnSpPr>
            <a:cxnSpLocks/>
          </p:cNvCxnSpPr>
          <p:nvPr/>
        </p:nvCxnSpPr>
        <p:spPr>
          <a:xfrm flipH="1" flipV="1">
            <a:off x="7886287" y="3075038"/>
            <a:ext cx="769285" cy="722496"/>
          </a:xfrm>
          <a:prstGeom prst="line">
            <a:avLst/>
          </a:prstGeom>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863BCB32-B757-E51F-962F-9B9E388DEF23}"/>
              </a:ext>
            </a:extLst>
          </p:cNvPr>
          <p:cNvCxnSpPr>
            <a:cxnSpLocks/>
          </p:cNvCxnSpPr>
          <p:nvPr/>
        </p:nvCxnSpPr>
        <p:spPr>
          <a:xfrm flipH="1">
            <a:off x="7969956" y="2216207"/>
            <a:ext cx="1432685" cy="741476"/>
          </a:xfrm>
          <a:prstGeom prst="line">
            <a:avLst/>
          </a:prstGeom>
        </p:spPr>
        <p:style>
          <a:lnRef idx="1">
            <a:schemeClr val="accent1"/>
          </a:lnRef>
          <a:fillRef idx="0">
            <a:schemeClr val="accent1"/>
          </a:fillRef>
          <a:effectRef idx="0">
            <a:schemeClr val="accent1"/>
          </a:effectRef>
          <a:fontRef idx="minor">
            <a:schemeClr val="tx1"/>
          </a:fontRef>
        </p:style>
      </p:cxnSp>
      <p:sp>
        <p:nvSpPr>
          <p:cNvPr id="56" name="Rectangle 55">
            <a:extLst>
              <a:ext uri="{FF2B5EF4-FFF2-40B4-BE49-F238E27FC236}">
                <a16:creationId xmlns:a16="http://schemas.microsoft.com/office/drawing/2014/main" id="{4900B41E-7EAF-C808-DB11-16A7DE3C3060}"/>
              </a:ext>
            </a:extLst>
          </p:cNvPr>
          <p:cNvSpPr/>
          <p:nvPr/>
        </p:nvSpPr>
        <p:spPr>
          <a:xfrm>
            <a:off x="7930445" y="2971797"/>
            <a:ext cx="79022" cy="112889"/>
          </a:xfrm>
          <a:prstGeom prst="rect">
            <a:avLst/>
          </a:prstGeom>
          <a:solidFill>
            <a:schemeClr val="accent4">
              <a:lumMod val="75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57" name="TextBox 56">
            <a:extLst>
              <a:ext uri="{FF2B5EF4-FFF2-40B4-BE49-F238E27FC236}">
                <a16:creationId xmlns:a16="http://schemas.microsoft.com/office/drawing/2014/main" id="{E6F35A5D-F894-345A-110A-C3100C28DBB4}"/>
              </a:ext>
            </a:extLst>
          </p:cNvPr>
          <p:cNvSpPr txBox="1"/>
          <p:nvPr/>
        </p:nvSpPr>
        <p:spPr>
          <a:xfrm>
            <a:off x="9544730" y="1413366"/>
            <a:ext cx="1741246" cy="1200329"/>
          </a:xfrm>
          <a:prstGeom prst="rect">
            <a:avLst/>
          </a:prstGeom>
          <a:noFill/>
        </p:spPr>
        <p:txBody>
          <a:bodyPr wrap="none" rtlCol="0">
            <a:spAutoFit/>
          </a:bodyPr>
          <a:lstStyle/>
          <a:p>
            <a:r>
              <a:rPr lang="en-US" dirty="0"/>
              <a:t>Einstein:</a:t>
            </a:r>
          </a:p>
          <a:p>
            <a:r>
              <a:rPr lang="en-US" dirty="0"/>
              <a:t>Light is a </a:t>
            </a:r>
          </a:p>
          <a:p>
            <a:r>
              <a:rPr lang="en-US" dirty="0"/>
              <a:t>limited EM wave</a:t>
            </a:r>
          </a:p>
          <a:p>
            <a:r>
              <a:rPr lang="en-US" dirty="0"/>
              <a:t>called a Photon</a:t>
            </a:r>
          </a:p>
        </p:txBody>
      </p:sp>
      <p:sp>
        <p:nvSpPr>
          <p:cNvPr id="58" name="TextBox 57">
            <a:extLst>
              <a:ext uri="{FF2B5EF4-FFF2-40B4-BE49-F238E27FC236}">
                <a16:creationId xmlns:a16="http://schemas.microsoft.com/office/drawing/2014/main" id="{885A7D06-D15F-89DE-CDCD-19388CECD8D1}"/>
              </a:ext>
            </a:extLst>
          </p:cNvPr>
          <p:cNvSpPr txBox="1"/>
          <p:nvPr/>
        </p:nvSpPr>
        <p:spPr>
          <a:xfrm>
            <a:off x="10433313" y="3510044"/>
            <a:ext cx="1365567" cy="646331"/>
          </a:xfrm>
          <a:prstGeom prst="rect">
            <a:avLst/>
          </a:prstGeom>
          <a:noFill/>
        </p:spPr>
        <p:txBody>
          <a:bodyPr wrap="none" rtlCol="0">
            <a:spAutoFit/>
          </a:bodyPr>
          <a:lstStyle/>
          <a:p>
            <a:r>
              <a:rPr lang="en-US" dirty="0"/>
              <a:t>You:</a:t>
            </a:r>
          </a:p>
          <a:p>
            <a:r>
              <a:rPr lang="en-US" dirty="0"/>
              <a:t>Studied light</a:t>
            </a:r>
          </a:p>
        </p:txBody>
      </p:sp>
      <p:sp>
        <p:nvSpPr>
          <p:cNvPr id="59" name="Rectangle 58">
            <a:extLst>
              <a:ext uri="{FF2B5EF4-FFF2-40B4-BE49-F238E27FC236}">
                <a16:creationId xmlns:a16="http://schemas.microsoft.com/office/drawing/2014/main" id="{13A239D0-A5F9-9B07-6295-3EA2EAE2EB10}"/>
              </a:ext>
            </a:extLst>
          </p:cNvPr>
          <p:cNvSpPr/>
          <p:nvPr/>
        </p:nvSpPr>
        <p:spPr>
          <a:xfrm>
            <a:off x="9917288" y="2971797"/>
            <a:ext cx="79022" cy="112889"/>
          </a:xfrm>
          <a:prstGeom prst="rect">
            <a:avLst/>
          </a:prstGeom>
          <a:solidFill>
            <a:srgbClr val="FF0000"/>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cxnSp>
        <p:nvCxnSpPr>
          <p:cNvPr id="60" name="Straight Connector 59">
            <a:extLst>
              <a:ext uri="{FF2B5EF4-FFF2-40B4-BE49-F238E27FC236}">
                <a16:creationId xmlns:a16="http://schemas.microsoft.com/office/drawing/2014/main" id="{B24358D2-EDCB-0005-7F21-C03642EEFC20}"/>
              </a:ext>
            </a:extLst>
          </p:cNvPr>
          <p:cNvCxnSpPr>
            <a:cxnSpLocks/>
          </p:cNvCxnSpPr>
          <p:nvPr/>
        </p:nvCxnSpPr>
        <p:spPr>
          <a:xfrm flipH="1" flipV="1">
            <a:off x="10007600" y="3069362"/>
            <a:ext cx="824820" cy="496745"/>
          </a:xfrm>
          <a:prstGeom prst="line">
            <a:avLst/>
          </a:prstGeom>
        </p:spPr>
        <p:style>
          <a:lnRef idx="1">
            <a:schemeClr val="accent1"/>
          </a:lnRef>
          <a:fillRef idx="0">
            <a:schemeClr val="accent1"/>
          </a:fillRef>
          <a:effectRef idx="0">
            <a:schemeClr val="accent1"/>
          </a:effectRef>
          <a:fontRef idx="minor">
            <a:schemeClr val="tx1"/>
          </a:fontRef>
        </p:style>
      </p:cxnSp>
      <p:sp>
        <p:nvSpPr>
          <p:cNvPr id="64" name="TextBox 63">
            <a:extLst>
              <a:ext uri="{FF2B5EF4-FFF2-40B4-BE49-F238E27FC236}">
                <a16:creationId xmlns:a16="http://schemas.microsoft.com/office/drawing/2014/main" id="{EC2FBD5A-9126-5704-CC31-B5F4FAFFDBC1}"/>
              </a:ext>
            </a:extLst>
          </p:cNvPr>
          <p:cNvSpPr txBox="1"/>
          <p:nvPr/>
        </p:nvSpPr>
        <p:spPr>
          <a:xfrm flipH="1">
            <a:off x="2806861" y="3908862"/>
            <a:ext cx="1381314" cy="1200329"/>
          </a:xfrm>
          <a:prstGeom prst="rect">
            <a:avLst/>
          </a:prstGeom>
          <a:noFill/>
        </p:spPr>
        <p:txBody>
          <a:bodyPr wrap="square" rtlCol="0">
            <a:spAutoFit/>
          </a:bodyPr>
          <a:lstStyle/>
          <a:p>
            <a:r>
              <a:rPr lang="en-US" dirty="0"/>
              <a:t>Romer: measures speed of light</a:t>
            </a:r>
          </a:p>
        </p:txBody>
      </p:sp>
      <p:cxnSp>
        <p:nvCxnSpPr>
          <p:cNvPr id="65" name="Straight Connector 64">
            <a:extLst>
              <a:ext uri="{FF2B5EF4-FFF2-40B4-BE49-F238E27FC236}">
                <a16:creationId xmlns:a16="http://schemas.microsoft.com/office/drawing/2014/main" id="{1FD25679-E917-5030-5D09-A8638E3DA35A}"/>
              </a:ext>
            </a:extLst>
          </p:cNvPr>
          <p:cNvCxnSpPr>
            <a:cxnSpLocks/>
            <a:endCxn id="63" idx="1"/>
          </p:cNvCxnSpPr>
          <p:nvPr/>
        </p:nvCxnSpPr>
        <p:spPr>
          <a:xfrm flipV="1">
            <a:off x="3228622" y="3028242"/>
            <a:ext cx="807152" cy="880620"/>
          </a:xfrm>
          <a:prstGeom prst="line">
            <a:avLst/>
          </a:prstGeom>
        </p:spPr>
        <p:style>
          <a:lnRef idx="1">
            <a:schemeClr val="accent1"/>
          </a:lnRef>
          <a:fillRef idx="0">
            <a:schemeClr val="accent1"/>
          </a:fillRef>
          <a:effectRef idx="0">
            <a:schemeClr val="accent1"/>
          </a:effectRef>
          <a:fontRef idx="minor">
            <a:schemeClr val="tx1"/>
          </a:fontRef>
        </p:style>
      </p:cxnSp>
      <p:sp>
        <p:nvSpPr>
          <p:cNvPr id="68" name="Rectangle 67">
            <a:extLst>
              <a:ext uri="{FF2B5EF4-FFF2-40B4-BE49-F238E27FC236}">
                <a16:creationId xmlns:a16="http://schemas.microsoft.com/office/drawing/2014/main" id="{5241B9E0-5E77-893A-36C0-00B50AC5436A}"/>
              </a:ext>
            </a:extLst>
          </p:cNvPr>
          <p:cNvSpPr/>
          <p:nvPr/>
        </p:nvSpPr>
        <p:spPr>
          <a:xfrm>
            <a:off x="2438401" y="2971797"/>
            <a:ext cx="79022" cy="112889"/>
          </a:xfrm>
          <a:prstGeom prst="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TextBox 68">
            <a:extLst>
              <a:ext uri="{FF2B5EF4-FFF2-40B4-BE49-F238E27FC236}">
                <a16:creationId xmlns:a16="http://schemas.microsoft.com/office/drawing/2014/main" id="{C5AEC848-E00C-1CCF-D2D9-7012391914B5}"/>
              </a:ext>
            </a:extLst>
          </p:cNvPr>
          <p:cNvSpPr txBox="1"/>
          <p:nvPr/>
        </p:nvSpPr>
        <p:spPr>
          <a:xfrm flipH="1">
            <a:off x="939967" y="3429000"/>
            <a:ext cx="1381314" cy="1477328"/>
          </a:xfrm>
          <a:prstGeom prst="rect">
            <a:avLst/>
          </a:prstGeom>
          <a:noFill/>
        </p:spPr>
        <p:txBody>
          <a:bodyPr wrap="square" rtlCol="0">
            <a:spAutoFit/>
          </a:bodyPr>
          <a:lstStyle/>
          <a:p>
            <a:r>
              <a:rPr lang="en-US" dirty="0"/>
              <a:t>Galileo: Doesn’t measure speed of light</a:t>
            </a:r>
          </a:p>
        </p:txBody>
      </p:sp>
      <p:cxnSp>
        <p:nvCxnSpPr>
          <p:cNvPr id="70" name="Straight Connector 69">
            <a:extLst>
              <a:ext uri="{FF2B5EF4-FFF2-40B4-BE49-F238E27FC236}">
                <a16:creationId xmlns:a16="http://schemas.microsoft.com/office/drawing/2014/main" id="{2E759D27-ECBC-8BDF-B9DB-056CB449835E}"/>
              </a:ext>
            </a:extLst>
          </p:cNvPr>
          <p:cNvCxnSpPr>
            <a:cxnSpLocks/>
            <a:endCxn id="68" idx="2"/>
          </p:cNvCxnSpPr>
          <p:nvPr/>
        </p:nvCxnSpPr>
        <p:spPr>
          <a:xfrm flipV="1">
            <a:off x="1461911" y="3084686"/>
            <a:ext cx="1016001" cy="376996"/>
          </a:xfrm>
          <a:prstGeom prst="line">
            <a:avLst/>
          </a:prstGeom>
        </p:spPr>
        <p:style>
          <a:lnRef idx="1">
            <a:schemeClr val="accent1"/>
          </a:lnRef>
          <a:fillRef idx="0">
            <a:schemeClr val="accent1"/>
          </a:fillRef>
          <a:effectRef idx="0">
            <a:schemeClr val="accent1"/>
          </a:effectRef>
          <a:fontRef idx="minor">
            <a:schemeClr val="tx1"/>
          </a:fontRef>
        </p:style>
      </p:cxnSp>
      <p:sp>
        <p:nvSpPr>
          <p:cNvPr id="72" name="Rectangle 71">
            <a:extLst>
              <a:ext uri="{FF2B5EF4-FFF2-40B4-BE49-F238E27FC236}">
                <a16:creationId xmlns:a16="http://schemas.microsoft.com/office/drawing/2014/main" id="{8608A442-FD41-14F7-2257-E4C08EE49E81}"/>
              </a:ext>
            </a:extLst>
          </p:cNvPr>
          <p:cNvSpPr/>
          <p:nvPr/>
        </p:nvSpPr>
        <p:spPr>
          <a:xfrm>
            <a:off x="6952260" y="2971797"/>
            <a:ext cx="79022" cy="112889"/>
          </a:xfrm>
          <a:prstGeom prst="rect">
            <a:avLst/>
          </a:prstGeom>
          <a:solidFill>
            <a:srgbClr val="7030A0"/>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73" name="TextBox 72">
            <a:extLst>
              <a:ext uri="{FF2B5EF4-FFF2-40B4-BE49-F238E27FC236}">
                <a16:creationId xmlns:a16="http://schemas.microsoft.com/office/drawing/2014/main" id="{29ECC3FF-3965-D046-138C-4297DD94A2A4}"/>
              </a:ext>
            </a:extLst>
          </p:cNvPr>
          <p:cNvSpPr txBox="1"/>
          <p:nvPr/>
        </p:nvSpPr>
        <p:spPr>
          <a:xfrm flipH="1">
            <a:off x="7050208" y="4509026"/>
            <a:ext cx="1203788" cy="1200329"/>
          </a:xfrm>
          <a:prstGeom prst="rect">
            <a:avLst/>
          </a:prstGeom>
          <a:noFill/>
        </p:spPr>
        <p:txBody>
          <a:bodyPr wrap="square" rtlCol="0">
            <a:spAutoFit/>
          </a:bodyPr>
          <a:lstStyle/>
          <a:p>
            <a:r>
              <a:rPr lang="en-US" dirty="0"/>
              <a:t>Fizeau: Measures speed of light</a:t>
            </a:r>
          </a:p>
        </p:txBody>
      </p:sp>
      <p:cxnSp>
        <p:nvCxnSpPr>
          <p:cNvPr id="75" name="Straight Connector 74">
            <a:extLst>
              <a:ext uri="{FF2B5EF4-FFF2-40B4-BE49-F238E27FC236}">
                <a16:creationId xmlns:a16="http://schemas.microsoft.com/office/drawing/2014/main" id="{B7712C55-4D66-66E3-B27C-4820BA6FFBC2}"/>
              </a:ext>
            </a:extLst>
          </p:cNvPr>
          <p:cNvCxnSpPr>
            <a:cxnSpLocks/>
            <a:endCxn id="72" idx="2"/>
          </p:cNvCxnSpPr>
          <p:nvPr/>
        </p:nvCxnSpPr>
        <p:spPr>
          <a:xfrm flipH="1" flipV="1">
            <a:off x="6991771" y="3084686"/>
            <a:ext cx="390493" cy="152569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1733027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ooter Placeholder 4"/>
          <p:cNvSpPr>
            <a:spLocks noGrp="1"/>
          </p:cNvSpPr>
          <p:nvPr>
            <p:ph type="ftr" sz="quarter" idx="11"/>
          </p:nvPr>
        </p:nvSpPr>
        <p:spPr/>
        <p:txBody>
          <a:bodyPr/>
          <a:lstStyle/>
          <a:p>
            <a:r>
              <a:rPr lang="en-US"/>
              <a:t>R. Todd Lines</a:t>
            </a:r>
          </a:p>
        </p:txBody>
      </p:sp>
      <p:sp>
        <p:nvSpPr>
          <p:cNvPr id="84994" name="Rectangle 2"/>
          <p:cNvSpPr>
            <a:spLocks noGrp="1" noChangeArrowheads="1"/>
          </p:cNvSpPr>
          <p:nvPr>
            <p:ph type="title"/>
          </p:nvPr>
        </p:nvSpPr>
        <p:spPr/>
        <p:txBody>
          <a:bodyPr/>
          <a:lstStyle/>
          <a:p>
            <a:r>
              <a:rPr lang="en-US"/>
              <a:t>Young’s Contribution</a:t>
            </a:r>
          </a:p>
        </p:txBody>
      </p:sp>
      <p:sp>
        <p:nvSpPr>
          <p:cNvPr id="84995" name="Rectangle 3"/>
          <p:cNvSpPr>
            <a:spLocks noGrp="1" noChangeArrowheads="1"/>
          </p:cNvSpPr>
          <p:nvPr>
            <p:ph type="body" idx="1"/>
          </p:nvPr>
        </p:nvSpPr>
        <p:spPr/>
        <p:txBody>
          <a:bodyPr/>
          <a:lstStyle/>
          <a:p>
            <a:r>
              <a:rPr lang="en-US"/>
              <a:t>Thomas Young (1801) provided the first clear demonstration of the wave nature of light</a:t>
            </a:r>
          </a:p>
          <a:p>
            <a:pPr lvl="1"/>
            <a:r>
              <a:rPr lang="en-US"/>
              <a:t>He showed that light rays interfere with each other</a:t>
            </a:r>
          </a:p>
          <a:p>
            <a:pPr lvl="1"/>
            <a:r>
              <a:rPr lang="en-US"/>
              <a:t>Such behavior could not be explained by particles</a:t>
            </a:r>
          </a:p>
          <a:p>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ooter Placeholder 4"/>
          <p:cNvSpPr>
            <a:spLocks noGrp="1"/>
          </p:cNvSpPr>
          <p:nvPr>
            <p:ph type="ftr" sz="quarter" idx="11"/>
          </p:nvPr>
        </p:nvSpPr>
        <p:spPr/>
        <p:txBody>
          <a:bodyPr/>
          <a:lstStyle/>
          <a:p>
            <a:r>
              <a:rPr lang="en-US"/>
              <a:t>R. Todd Lines</a:t>
            </a:r>
          </a:p>
        </p:txBody>
      </p:sp>
      <p:sp>
        <p:nvSpPr>
          <p:cNvPr id="86018" name="Rectangle 2"/>
          <p:cNvSpPr>
            <a:spLocks noGrp="1" noChangeArrowheads="1"/>
          </p:cNvSpPr>
          <p:nvPr>
            <p:ph type="title"/>
          </p:nvPr>
        </p:nvSpPr>
        <p:spPr>
          <a:xfrm>
            <a:off x="666043" y="-152400"/>
            <a:ext cx="9990667" cy="1143000"/>
          </a:xfrm>
        </p:spPr>
        <p:txBody>
          <a:bodyPr/>
          <a:lstStyle/>
          <a:p>
            <a:r>
              <a:rPr lang="en-US" sz="3200" dirty="0"/>
              <a:t>Modern Scriptural Comments on Nature of Light</a:t>
            </a:r>
          </a:p>
        </p:txBody>
      </p:sp>
      <p:sp>
        <p:nvSpPr>
          <p:cNvPr id="86019" name="Rectangle 3"/>
          <p:cNvSpPr>
            <a:spLocks noGrp="1" noChangeArrowheads="1"/>
          </p:cNvSpPr>
          <p:nvPr>
            <p:ph type="body" idx="1"/>
          </p:nvPr>
        </p:nvSpPr>
        <p:spPr/>
        <p:txBody>
          <a:bodyPr/>
          <a:lstStyle/>
          <a:p>
            <a:pPr>
              <a:lnSpc>
                <a:spcPct val="90000"/>
              </a:lnSpc>
            </a:pPr>
            <a:r>
              <a:rPr lang="en-US"/>
              <a:t> In September of 1832 Joseph Smith received a revelation that said in part :</a:t>
            </a:r>
          </a:p>
          <a:p>
            <a:pPr lvl="1">
              <a:lnSpc>
                <a:spcPct val="90000"/>
              </a:lnSpc>
            </a:pPr>
            <a:r>
              <a:rPr lang="en-US"/>
              <a:t>For the word of the Lord is truth, and whatsoever is truth is light, and whatsoever is light is Spirit, even the Spirit of Jesus Christ. And the Spirit giveth light to every man that cometh into the world; and the Spirit enlighteneth every man through the world, that hearkeneth to the voice of the Spirit. (D&amp;C 84:45-46)</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ooter Placeholder 4"/>
          <p:cNvSpPr>
            <a:spLocks noGrp="1"/>
          </p:cNvSpPr>
          <p:nvPr>
            <p:ph type="ftr" sz="quarter" idx="11"/>
          </p:nvPr>
        </p:nvSpPr>
        <p:spPr/>
        <p:txBody>
          <a:bodyPr/>
          <a:lstStyle/>
          <a:p>
            <a:r>
              <a:rPr lang="en-US"/>
              <a:t>R. Todd Lines</a:t>
            </a:r>
          </a:p>
        </p:txBody>
      </p:sp>
      <p:sp>
        <p:nvSpPr>
          <p:cNvPr id="87042" name="Rectangle 2"/>
          <p:cNvSpPr>
            <a:spLocks noGrp="1" noChangeArrowheads="1"/>
          </p:cNvSpPr>
          <p:nvPr>
            <p:ph type="title"/>
          </p:nvPr>
        </p:nvSpPr>
        <p:spPr>
          <a:xfrm>
            <a:off x="838200" y="-152400"/>
            <a:ext cx="8763000" cy="1143000"/>
          </a:xfrm>
        </p:spPr>
        <p:txBody>
          <a:bodyPr/>
          <a:lstStyle/>
          <a:p>
            <a:r>
              <a:rPr lang="en-US" sz="3200" dirty="0"/>
              <a:t>Modern Scriptural Comments on Nature of Light</a:t>
            </a:r>
          </a:p>
        </p:txBody>
      </p:sp>
      <p:sp>
        <p:nvSpPr>
          <p:cNvPr id="87043" name="Rectangle 3"/>
          <p:cNvSpPr>
            <a:spLocks noGrp="1" noChangeArrowheads="1"/>
          </p:cNvSpPr>
          <p:nvPr>
            <p:ph type="body" idx="1"/>
          </p:nvPr>
        </p:nvSpPr>
        <p:spPr/>
        <p:txBody>
          <a:bodyPr>
            <a:normAutofit/>
          </a:bodyPr>
          <a:lstStyle/>
          <a:p>
            <a:pPr>
              <a:lnSpc>
                <a:spcPct val="80000"/>
              </a:lnSpc>
            </a:pPr>
            <a:r>
              <a:rPr lang="en-US" sz="2000"/>
              <a:t> In December of 1832 Joseph Smith received another revelation that says in part:</a:t>
            </a:r>
          </a:p>
          <a:p>
            <a:pPr lvl="1">
              <a:lnSpc>
                <a:spcPct val="80000"/>
              </a:lnSpc>
            </a:pPr>
            <a:r>
              <a:rPr lang="en-US" sz="1800"/>
              <a:t>This Comforter is the promise which I give unto you of eternal life, even the glory of the celestial kingdom; which glory is that of the church of the Firstborn, even of God, the holiest of all, through Jesus Christ his Son---He that ascended up on high, as also he descended below all things, in that he comprehended all things, that he might be in all and through all things, the light of truth; which truth shineth. </a:t>
            </a:r>
            <a:r>
              <a:rPr lang="en-US" sz="1800" i="1">
                <a:solidFill>
                  <a:srgbClr val="3366FF"/>
                </a:solidFill>
              </a:rPr>
              <a:t>This is the light of Christ. As also he is in the sun, and the light of the sun, and the power thereof by which it was made. As also he is in the moon, and is the light of the moon, and the power thereof by which it was made; as also the light of the stars, and the power thereof by which they were made; and the earth also, and the power thereof, even the earth upon which you astand. And the light which shineth, which giveth you light, is through him who enlighteneth your eyes, which is the same light that quickeneth your understandings; which light proceedeth forth from the presence of God to fill the immensity of space---the light which is in all things, which giveth life to all things, which is the law by which all things are governed,</a:t>
            </a:r>
            <a:r>
              <a:rPr lang="en-US" sz="1800">
                <a:solidFill>
                  <a:srgbClr val="3366FF"/>
                </a:solidFill>
              </a:rPr>
              <a:t> even the power of God who sitteth upon his throne</a:t>
            </a:r>
            <a:r>
              <a:rPr lang="en-US" sz="1800"/>
              <a:t>, who is in the bosom of eternity, who is in the midst of all things. (D&amp;C 88:5-12 emphasis added)</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33D191-8E20-4C02-E3DF-F1B9A9C41F25}"/>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9F86E9A1-9DA8-AF6B-B7CB-667ACC66561E}"/>
              </a:ext>
            </a:extLst>
          </p:cNvPr>
          <p:cNvSpPr/>
          <p:nvPr/>
        </p:nvSpPr>
        <p:spPr>
          <a:xfrm>
            <a:off x="620889" y="2971797"/>
            <a:ext cx="10950222" cy="112889"/>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Rectangle 62">
            <a:extLst>
              <a:ext uri="{FF2B5EF4-FFF2-40B4-BE49-F238E27FC236}">
                <a16:creationId xmlns:a16="http://schemas.microsoft.com/office/drawing/2014/main" id="{EA4FC93C-17DA-184A-A75F-E6204DF5EDA7}"/>
              </a:ext>
            </a:extLst>
          </p:cNvPr>
          <p:cNvSpPr/>
          <p:nvPr/>
        </p:nvSpPr>
        <p:spPr>
          <a:xfrm>
            <a:off x="4035774" y="2971797"/>
            <a:ext cx="79022" cy="112889"/>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91C66233-1E24-AC91-7F9E-95BF3084A9B9}"/>
              </a:ext>
            </a:extLst>
          </p:cNvPr>
          <p:cNvSpPr txBox="1"/>
          <p:nvPr/>
        </p:nvSpPr>
        <p:spPr>
          <a:xfrm>
            <a:off x="2066875" y="3384224"/>
            <a:ext cx="652743" cy="369332"/>
          </a:xfrm>
          <a:prstGeom prst="rect">
            <a:avLst/>
          </a:prstGeom>
          <a:noFill/>
        </p:spPr>
        <p:txBody>
          <a:bodyPr wrap="none" rtlCol="0">
            <a:spAutoFit/>
          </a:bodyPr>
          <a:lstStyle/>
          <a:p>
            <a:r>
              <a:rPr lang="en-US" dirty="0"/>
              <a:t>1600</a:t>
            </a:r>
          </a:p>
        </p:txBody>
      </p:sp>
      <p:sp>
        <p:nvSpPr>
          <p:cNvPr id="6" name="TextBox 5">
            <a:extLst>
              <a:ext uri="{FF2B5EF4-FFF2-40B4-BE49-F238E27FC236}">
                <a16:creationId xmlns:a16="http://schemas.microsoft.com/office/drawing/2014/main" id="{6A0EC7DD-3670-FEFC-7042-01A80F6AB224}"/>
              </a:ext>
            </a:extLst>
          </p:cNvPr>
          <p:cNvSpPr txBox="1"/>
          <p:nvPr/>
        </p:nvSpPr>
        <p:spPr>
          <a:xfrm>
            <a:off x="3923898" y="3417711"/>
            <a:ext cx="2194683" cy="369332"/>
          </a:xfrm>
          <a:prstGeom prst="rect">
            <a:avLst/>
          </a:prstGeom>
          <a:noFill/>
        </p:spPr>
        <p:txBody>
          <a:bodyPr wrap="square" rtlCol="0">
            <a:spAutoFit/>
          </a:bodyPr>
          <a:lstStyle/>
          <a:p>
            <a:r>
              <a:rPr lang="en-US" dirty="0"/>
              <a:t>1700</a:t>
            </a:r>
          </a:p>
        </p:txBody>
      </p:sp>
      <p:sp>
        <p:nvSpPr>
          <p:cNvPr id="7" name="TextBox 6">
            <a:extLst>
              <a:ext uri="{FF2B5EF4-FFF2-40B4-BE49-F238E27FC236}">
                <a16:creationId xmlns:a16="http://schemas.microsoft.com/office/drawing/2014/main" id="{FC55676E-29E6-D246-3C2F-48FAE5FE8392}"/>
              </a:ext>
            </a:extLst>
          </p:cNvPr>
          <p:cNvSpPr txBox="1"/>
          <p:nvPr/>
        </p:nvSpPr>
        <p:spPr>
          <a:xfrm>
            <a:off x="5792209" y="3417711"/>
            <a:ext cx="652743" cy="369332"/>
          </a:xfrm>
          <a:prstGeom prst="rect">
            <a:avLst/>
          </a:prstGeom>
          <a:noFill/>
        </p:spPr>
        <p:txBody>
          <a:bodyPr wrap="none" rtlCol="0">
            <a:spAutoFit/>
          </a:bodyPr>
          <a:lstStyle/>
          <a:p>
            <a:r>
              <a:rPr lang="en-US" dirty="0"/>
              <a:t>1800</a:t>
            </a:r>
          </a:p>
        </p:txBody>
      </p:sp>
      <p:sp>
        <p:nvSpPr>
          <p:cNvPr id="8" name="TextBox 7">
            <a:extLst>
              <a:ext uri="{FF2B5EF4-FFF2-40B4-BE49-F238E27FC236}">
                <a16:creationId xmlns:a16="http://schemas.microsoft.com/office/drawing/2014/main" id="{55CCE35B-5DA6-DD2C-7628-63BCCD5D3A8D}"/>
              </a:ext>
            </a:extLst>
          </p:cNvPr>
          <p:cNvSpPr txBox="1"/>
          <p:nvPr/>
        </p:nvSpPr>
        <p:spPr>
          <a:xfrm>
            <a:off x="7541986" y="3417711"/>
            <a:ext cx="652743" cy="369332"/>
          </a:xfrm>
          <a:prstGeom prst="rect">
            <a:avLst/>
          </a:prstGeom>
          <a:noFill/>
        </p:spPr>
        <p:txBody>
          <a:bodyPr wrap="none" rtlCol="0">
            <a:spAutoFit/>
          </a:bodyPr>
          <a:lstStyle/>
          <a:p>
            <a:r>
              <a:rPr lang="en-US" dirty="0"/>
              <a:t>1900</a:t>
            </a:r>
          </a:p>
        </p:txBody>
      </p:sp>
      <p:sp>
        <p:nvSpPr>
          <p:cNvPr id="9" name="TextBox 8">
            <a:extLst>
              <a:ext uri="{FF2B5EF4-FFF2-40B4-BE49-F238E27FC236}">
                <a16:creationId xmlns:a16="http://schemas.microsoft.com/office/drawing/2014/main" id="{FC4C2156-4C44-6284-9076-839D007D38B8}"/>
              </a:ext>
            </a:extLst>
          </p:cNvPr>
          <p:cNvSpPr txBox="1"/>
          <p:nvPr/>
        </p:nvSpPr>
        <p:spPr>
          <a:xfrm>
            <a:off x="9347201" y="3417711"/>
            <a:ext cx="652743" cy="369332"/>
          </a:xfrm>
          <a:prstGeom prst="rect">
            <a:avLst/>
          </a:prstGeom>
          <a:noFill/>
        </p:spPr>
        <p:txBody>
          <a:bodyPr wrap="none" rtlCol="0">
            <a:spAutoFit/>
          </a:bodyPr>
          <a:lstStyle/>
          <a:p>
            <a:r>
              <a:rPr lang="en-US" dirty="0"/>
              <a:t>2000</a:t>
            </a:r>
          </a:p>
        </p:txBody>
      </p:sp>
      <p:sp>
        <p:nvSpPr>
          <p:cNvPr id="10" name="TextBox 9">
            <a:extLst>
              <a:ext uri="{FF2B5EF4-FFF2-40B4-BE49-F238E27FC236}">
                <a16:creationId xmlns:a16="http://schemas.microsoft.com/office/drawing/2014/main" id="{5D437297-2A0B-41C1-EE03-AD22897C47BA}"/>
              </a:ext>
            </a:extLst>
          </p:cNvPr>
          <p:cNvSpPr txBox="1"/>
          <p:nvPr/>
        </p:nvSpPr>
        <p:spPr>
          <a:xfrm flipH="1">
            <a:off x="2066875" y="1777117"/>
            <a:ext cx="1381314" cy="923330"/>
          </a:xfrm>
          <a:prstGeom prst="rect">
            <a:avLst/>
          </a:prstGeom>
          <a:noFill/>
        </p:spPr>
        <p:txBody>
          <a:bodyPr wrap="square" rtlCol="0">
            <a:spAutoFit/>
          </a:bodyPr>
          <a:lstStyle/>
          <a:p>
            <a:r>
              <a:rPr lang="en-US" dirty="0"/>
              <a:t>Newton: Light is a particle</a:t>
            </a:r>
          </a:p>
        </p:txBody>
      </p:sp>
      <p:sp>
        <p:nvSpPr>
          <p:cNvPr id="11" name="Rectangle 10">
            <a:extLst>
              <a:ext uri="{FF2B5EF4-FFF2-40B4-BE49-F238E27FC236}">
                <a16:creationId xmlns:a16="http://schemas.microsoft.com/office/drawing/2014/main" id="{C717A849-0C8C-D311-FBDB-CC971823A958}"/>
              </a:ext>
            </a:extLst>
          </p:cNvPr>
          <p:cNvSpPr/>
          <p:nvPr/>
        </p:nvSpPr>
        <p:spPr>
          <a:xfrm>
            <a:off x="4063998" y="2971797"/>
            <a:ext cx="79022" cy="112889"/>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40DCE3F0-F2BB-E68A-B0ED-977009A23EB8}"/>
              </a:ext>
            </a:extLst>
          </p:cNvPr>
          <p:cNvSpPr txBox="1"/>
          <p:nvPr/>
        </p:nvSpPr>
        <p:spPr>
          <a:xfrm flipH="1">
            <a:off x="3353263" y="996520"/>
            <a:ext cx="1345977" cy="923330"/>
          </a:xfrm>
          <a:prstGeom prst="rect">
            <a:avLst/>
          </a:prstGeom>
          <a:noFill/>
        </p:spPr>
        <p:txBody>
          <a:bodyPr wrap="square" rtlCol="0">
            <a:spAutoFit/>
          </a:bodyPr>
          <a:lstStyle/>
          <a:p>
            <a:r>
              <a:rPr lang="en-US" dirty="0"/>
              <a:t>Huygens: Light is a wave</a:t>
            </a:r>
          </a:p>
        </p:txBody>
      </p:sp>
      <p:sp>
        <p:nvSpPr>
          <p:cNvPr id="13" name="Rectangle 12">
            <a:extLst>
              <a:ext uri="{FF2B5EF4-FFF2-40B4-BE49-F238E27FC236}">
                <a16:creationId xmlns:a16="http://schemas.microsoft.com/office/drawing/2014/main" id="{2BE86EFA-DE91-F0B6-8E16-E957E0B0C546}"/>
              </a:ext>
            </a:extLst>
          </p:cNvPr>
          <p:cNvSpPr/>
          <p:nvPr/>
        </p:nvSpPr>
        <p:spPr>
          <a:xfrm>
            <a:off x="4148664" y="2971797"/>
            <a:ext cx="79022" cy="112889"/>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5" name="Straight Connector 14">
            <a:extLst>
              <a:ext uri="{FF2B5EF4-FFF2-40B4-BE49-F238E27FC236}">
                <a16:creationId xmlns:a16="http://schemas.microsoft.com/office/drawing/2014/main" id="{BD6C58E0-AD97-CB8E-E419-AA6706983F47}"/>
              </a:ext>
            </a:extLst>
          </p:cNvPr>
          <p:cNvCxnSpPr>
            <a:cxnSpLocks/>
            <a:stCxn id="10" idx="2"/>
            <a:endCxn id="11" idx="0"/>
          </p:cNvCxnSpPr>
          <p:nvPr/>
        </p:nvCxnSpPr>
        <p:spPr>
          <a:xfrm>
            <a:off x="2757532" y="2700447"/>
            <a:ext cx="1345977" cy="271350"/>
          </a:xfrm>
          <a:prstGeom prst="line">
            <a:avLst/>
          </a:prstGeom>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E9CEADB5-D03B-4D58-E05B-0B629C832AEB}"/>
              </a:ext>
            </a:extLst>
          </p:cNvPr>
          <p:cNvCxnSpPr>
            <a:cxnSpLocks/>
            <a:stCxn id="12" idx="2"/>
            <a:endCxn id="13" idx="0"/>
          </p:cNvCxnSpPr>
          <p:nvPr/>
        </p:nvCxnSpPr>
        <p:spPr>
          <a:xfrm>
            <a:off x="4026251" y="1919850"/>
            <a:ext cx="161924" cy="1051947"/>
          </a:xfrm>
          <a:prstGeom prst="line">
            <a:avLst/>
          </a:prstGeom>
        </p:spPr>
        <p:style>
          <a:lnRef idx="1">
            <a:schemeClr val="accent1"/>
          </a:lnRef>
          <a:fillRef idx="0">
            <a:schemeClr val="accent1"/>
          </a:fillRef>
          <a:effectRef idx="0">
            <a:schemeClr val="accent1"/>
          </a:effectRef>
          <a:fontRef idx="minor">
            <a:schemeClr val="tx1"/>
          </a:fontRef>
        </p:style>
      </p:cxnSp>
      <p:sp>
        <p:nvSpPr>
          <p:cNvPr id="20" name="Rectangle 19">
            <a:extLst>
              <a:ext uri="{FF2B5EF4-FFF2-40B4-BE49-F238E27FC236}">
                <a16:creationId xmlns:a16="http://schemas.microsoft.com/office/drawing/2014/main" id="{CAC789CE-FAC5-D79F-272D-CD747D1888BD}"/>
              </a:ext>
            </a:extLst>
          </p:cNvPr>
          <p:cNvSpPr/>
          <p:nvPr/>
        </p:nvSpPr>
        <p:spPr>
          <a:xfrm>
            <a:off x="6096000" y="2971797"/>
            <a:ext cx="79022" cy="112889"/>
          </a:xfrm>
          <a:prstGeom prst="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DBBB7347-6519-74E2-0D47-3C5BBFC232F9}"/>
              </a:ext>
            </a:extLst>
          </p:cNvPr>
          <p:cNvSpPr txBox="1"/>
          <p:nvPr/>
        </p:nvSpPr>
        <p:spPr>
          <a:xfrm flipH="1">
            <a:off x="5443168" y="1578334"/>
            <a:ext cx="1049582" cy="923330"/>
          </a:xfrm>
          <a:prstGeom prst="rect">
            <a:avLst/>
          </a:prstGeom>
          <a:noFill/>
        </p:spPr>
        <p:txBody>
          <a:bodyPr wrap="square" rtlCol="0">
            <a:spAutoFit/>
          </a:bodyPr>
          <a:lstStyle/>
          <a:p>
            <a:r>
              <a:rPr lang="en-US" dirty="0"/>
              <a:t>Young: Light is a wave</a:t>
            </a:r>
          </a:p>
        </p:txBody>
      </p:sp>
      <p:cxnSp>
        <p:nvCxnSpPr>
          <p:cNvPr id="28" name="Straight Connector 27">
            <a:extLst>
              <a:ext uri="{FF2B5EF4-FFF2-40B4-BE49-F238E27FC236}">
                <a16:creationId xmlns:a16="http://schemas.microsoft.com/office/drawing/2014/main" id="{95F6D1F4-5866-5DE7-8636-1C596C0D4A74}"/>
              </a:ext>
            </a:extLst>
          </p:cNvPr>
          <p:cNvCxnSpPr>
            <a:cxnSpLocks/>
            <a:stCxn id="21" idx="2"/>
            <a:endCxn id="20" idx="3"/>
          </p:cNvCxnSpPr>
          <p:nvPr/>
        </p:nvCxnSpPr>
        <p:spPr>
          <a:xfrm>
            <a:off x="5967959" y="2501664"/>
            <a:ext cx="207063" cy="526578"/>
          </a:xfrm>
          <a:prstGeom prst="line">
            <a:avLst/>
          </a:prstGeom>
        </p:spPr>
        <p:style>
          <a:lnRef idx="1">
            <a:schemeClr val="accent1"/>
          </a:lnRef>
          <a:fillRef idx="0">
            <a:schemeClr val="accent1"/>
          </a:fillRef>
          <a:effectRef idx="0">
            <a:schemeClr val="accent1"/>
          </a:effectRef>
          <a:fontRef idx="minor">
            <a:schemeClr val="tx1"/>
          </a:fontRef>
        </p:style>
      </p:cxnSp>
      <p:sp>
        <p:nvSpPr>
          <p:cNvPr id="32" name="Rectangle 31">
            <a:extLst>
              <a:ext uri="{FF2B5EF4-FFF2-40B4-BE49-F238E27FC236}">
                <a16:creationId xmlns:a16="http://schemas.microsoft.com/office/drawing/2014/main" id="{1CAF2E86-F0F3-6EF1-B349-66544A1A8993}"/>
              </a:ext>
            </a:extLst>
          </p:cNvPr>
          <p:cNvSpPr/>
          <p:nvPr/>
        </p:nvSpPr>
        <p:spPr>
          <a:xfrm>
            <a:off x="6530625" y="2971797"/>
            <a:ext cx="79022" cy="112889"/>
          </a:xfrm>
          <a:prstGeom prst="rect">
            <a:avLst/>
          </a:prstGeom>
          <a:solidFill>
            <a:srgbClr val="FF0000"/>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dirty="0"/>
          </a:p>
        </p:txBody>
      </p:sp>
      <p:sp>
        <p:nvSpPr>
          <p:cNvPr id="33" name="TextBox 32">
            <a:extLst>
              <a:ext uri="{FF2B5EF4-FFF2-40B4-BE49-F238E27FC236}">
                <a16:creationId xmlns:a16="http://schemas.microsoft.com/office/drawing/2014/main" id="{CE9ADC0C-C74B-9F3D-C5D0-6394A2D300E7}"/>
              </a:ext>
            </a:extLst>
          </p:cNvPr>
          <p:cNvSpPr txBox="1"/>
          <p:nvPr/>
        </p:nvSpPr>
        <p:spPr>
          <a:xfrm flipH="1">
            <a:off x="6378221" y="966556"/>
            <a:ext cx="1203788" cy="923330"/>
          </a:xfrm>
          <a:prstGeom prst="rect">
            <a:avLst/>
          </a:prstGeom>
          <a:noFill/>
        </p:spPr>
        <p:txBody>
          <a:bodyPr wrap="square" rtlCol="0">
            <a:spAutoFit/>
          </a:bodyPr>
          <a:lstStyle/>
          <a:p>
            <a:r>
              <a:rPr lang="en-US" dirty="0"/>
              <a:t>Smith: Light is important!</a:t>
            </a:r>
          </a:p>
        </p:txBody>
      </p:sp>
      <p:cxnSp>
        <p:nvCxnSpPr>
          <p:cNvPr id="34" name="Straight Connector 33">
            <a:extLst>
              <a:ext uri="{FF2B5EF4-FFF2-40B4-BE49-F238E27FC236}">
                <a16:creationId xmlns:a16="http://schemas.microsoft.com/office/drawing/2014/main" id="{581D8822-D758-8B06-E5B2-4089469C7607}"/>
              </a:ext>
            </a:extLst>
          </p:cNvPr>
          <p:cNvCxnSpPr>
            <a:cxnSpLocks/>
            <a:stCxn id="33" idx="2"/>
            <a:endCxn id="32" idx="0"/>
          </p:cNvCxnSpPr>
          <p:nvPr/>
        </p:nvCxnSpPr>
        <p:spPr>
          <a:xfrm flipH="1">
            <a:off x="6570136" y="1889886"/>
            <a:ext cx="409979" cy="1081911"/>
          </a:xfrm>
          <a:prstGeom prst="line">
            <a:avLst/>
          </a:prstGeom>
        </p:spPr>
        <p:style>
          <a:lnRef idx="1">
            <a:schemeClr val="accent1"/>
          </a:lnRef>
          <a:fillRef idx="0">
            <a:schemeClr val="accent1"/>
          </a:fillRef>
          <a:effectRef idx="0">
            <a:schemeClr val="accent1"/>
          </a:effectRef>
          <a:fontRef idx="minor">
            <a:schemeClr val="tx1"/>
          </a:fontRef>
        </p:style>
      </p:cxnSp>
      <p:sp>
        <p:nvSpPr>
          <p:cNvPr id="37" name="Rectangle 36">
            <a:extLst>
              <a:ext uri="{FF2B5EF4-FFF2-40B4-BE49-F238E27FC236}">
                <a16:creationId xmlns:a16="http://schemas.microsoft.com/office/drawing/2014/main" id="{5D35D4B5-49AF-46ED-D3DB-E3125250629C}"/>
              </a:ext>
            </a:extLst>
          </p:cNvPr>
          <p:cNvSpPr/>
          <p:nvPr/>
        </p:nvSpPr>
        <p:spPr>
          <a:xfrm>
            <a:off x="6874938" y="2971797"/>
            <a:ext cx="79022" cy="112889"/>
          </a:xfrm>
          <a:prstGeom prst="rect">
            <a:avLst/>
          </a:prstGeom>
          <a:solidFill>
            <a:srgbClr val="FF0000"/>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40" name="TextBox 39">
            <a:extLst>
              <a:ext uri="{FF2B5EF4-FFF2-40B4-BE49-F238E27FC236}">
                <a16:creationId xmlns:a16="http://schemas.microsoft.com/office/drawing/2014/main" id="{35C18BD9-8AE3-30FE-5719-7EBC5B6BC224}"/>
              </a:ext>
            </a:extLst>
          </p:cNvPr>
          <p:cNvSpPr txBox="1"/>
          <p:nvPr/>
        </p:nvSpPr>
        <p:spPr>
          <a:xfrm flipH="1">
            <a:off x="5875802" y="3897948"/>
            <a:ext cx="1203788" cy="923330"/>
          </a:xfrm>
          <a:prstGeom prst="rect">
            <a:avLst/>
          </a:prstGeom>
          <a:noFill/>
        </p:spPr>
        <p:txBody>
          <a:bodyPr wrap="square" rtlCol="0">
            <a:spAutoFit/>
          </a:bodyPr>
          <a:lstStyle/>
          <a:p>
            <a:r>
              <a:rPr lang="en-US" dirty="0"/>
              <a:t>B. Young: Moves us to Utah</a:t>
            </a:r>
          </a:p>
        </p:txBody>
      </p:sp>
      <p:cxnSp>
        <p:nvCxnSpPr>
          <p:cNvPr id="41" name="Straight Connector 40">
            <a:extLst>
              <a:ext uri="{FF2B5EF4-FFF2-40B4-BE49-F238E27FC236}">
                <a16:creationId xmlns:a16="http://schemas.microsoft.com/office/drawing/2014/main" id="{70CD1E6F-3ECC-5DAE-9151-64557881759F}"/>
              </a:ext>
            </a:extLst>
          </p:cNvPr>
          <p:cNvCxnSpPr>
            <a:cxnSpLocks/>
            <a:stCxn id="40" idx="0"/>
          </p:cNvCxnSpPr>
          <p:nvPr/>
        </p:nvCxnSpPr>
        <p:spPr>
          <a:xfrm flipV="1">
            <a:off x="6477696" y="3070198"/>
            <a:ext cx="396149" cy="827750"/>
          </a:xfrm>
          <a:prstGeom prst="line">
            <a:avLst/>
          </a:prstGeom>
        </p:spPr>
        <p:style>
          <a:lnRef idx="1">
            <a:schemeClr val="accent1"/>
          </a:lnRef>
          <a:fillRef idx="0">
            <a:schemeClr val="accent1"/>
          </a:fillRef>
          <a:effectRef idx="0">
            <a:schemeClr val="accent1"/>
          </a:effectRef>
          <a:fontRef idx="minor">
            <a:schemeClr val="tx1"/>
          </a:fontRef>
        </p:style>
      </p:cxnSp>
      <p:sp>
        <p:nvSpPr>
          <p:cNvPr id="44" name="Rectangle 43">
            <a:extLst>
              <a:ext uri="{FF2B5EF4-FFF2-40B4-BE49-F238E27FC236}">
                <a16:creationId xmlns:a16="http://schemas.microsoft.com/office/drawing/2014/main" id="{C97C78CD-0551-B712-DCCF-94C38F44700E}"/>
              </a:ext>
            </a:extLst>
          </p:cNvPr>
          <p:cNvSpPr/>
          <p:nvPr/>
        </p:nvSpPr>
        <p:spPr>
          <a:xfrm>
            <a:off x="7574843" y="2971797"/>
            <a:ext cx="79022" cy="112889"/>
          </a:xfrm>
          <a:prstGeom prst="rect">
            <a:avLst/>
          </a:prstGeom>
          <a:solidFill>
            <a:schemeClr val="accent1">
              <a:lumMod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45" name="TextBox 44">
            <a:extLst>
              <a:ext uri="{FF2B5EF4-FFF2-40B4-BE49-F238E27FC236}">
                <a16:creationId xmlns:a16="http://schemas.microsoft.com/office/drawing/2014/main" id="{E8B8991F-E26D-54E6-78E7-DEB3396FE6BF}"/>
              </a:ext>
            </a:extLst>
          </p:cNvPr>
          <p:cNvSpPr txBox="1"/>
          <p:nvPr/>
        </p:nvSpPr>
        <p:spPr>
          <a:xfrm>
            <a:off x="7779752" y="940472"/>
            <a:ext cx="1758687" cy="1200329"/>
          </a:xfrm>
          <a:prstGeom prst="rect">
            <a:avLst/>
          </a:prstGeom>
          <a:noFill/>
        </p:spPr>
        <p:txBody>
          <a:bodyPr wrap="none" rtlCol="0">
            <a:spAutoFit/>
          </a:bodyPr>
          <a:lstStyle/>
          <a:p>
            <a:r>
              <a:rPr lang="en-US" dirty="0"/>
              <a:t>Maxwell:</a:t>
            </a:r>
          </a:p>
          <a:p>
            <a:r>
              <a:rPr lang="en-US" dirty="0"/>
              <a:t>Light is an </a:t>
            </a:r>
          </a:p>
          <a:p>
            <a:r>
              <a:rPr lang="en-US" dirty="0"/>
              <a:t>Electromagnetic </a:t>
            </a:r>
          </a:p>
          <a:p>
            <a:r>
              <a:rPr lang="en-US" dirty="0"/>
              <a:t>Wave</a:t>
            </a:r>
          </a:p>
        </p:txBody>
      </p:sp>
      <p:cxnSp>
        <p:nvCxnSpPr>
          <p:cNvPr id="46" name="Straight Connector 45">
            <a:extLst>
              <a:ext uri="{FF2B5EF4-FFF2-40B4-BE49-F238E27FC236}">
                <a16:creationId xmlns:a16="http://schemas.microsoft.com/office/drawing/2014/main" id="{4AE5BA25-0C79-3FDF-F8FB-3CED36B156EB}"/>
              </a:ext>
            </a:extLst>
          </p:cNvPr>
          <p:cNvCxnSpPr>
            <a:cxnSpLocks/>
            <a:endCxn id="44" idx="0"/>
          </p:cNvCxnSpPr>
          <p:nvPr/>
        </p:nvCxnSpPr>
        <p:spPr>
          <a:xfrm flipH="1">
            <a:off x="7614354" y="2102087"/>
            <a:ext cx="406670" cy="869710"/>
          </a:xfrm>
          <a:prstGeom prst="line">
            <a:avLst/>
          </a:prstGeom>
        </p:spPr>
        <p:style>
          <a:lnRef idx="1">
            <a:schemeClr val="accent1"/>
          </a:lnRef>
          <a:fillRef idx="0">
            <a:schemeClr val="accent1"/>
          </a:fillRef>
          <a:effectRef idx="0">
            <a:schemeClr val="accent1"/>
          </a:effectRef>
          <a:fontRef idx="minor">
            <a:schemeClr val="tx1"/>
          </a:fontRef>
        </p:style>
      </p:cxnSp>
      <p:sp>
        <p:nvSpPr>
          <p:cNvPr id="49" name="Rectangle 48">
            <a:extLst>
              <a:ext uri="{FF2B5EF4-FFF2-40B4-BE49-F238E27FC236}">
                <a16:creationId xmlns:a16="http://schemas.microsoft.com/office/drawing/2014/main" id="{53AA7E92-0E96-D330-0CBB-E9FA4A326C3A}"/>
              </a:ext>
            </a:extLst>
          </p:cNvPr>
          <p:cNvSpPr/>
          <p:nvPr/>
        </p:nvSpPr>
        <p:spPr>
          <a:xfrm>
            <a:off x="7840133" y="2971797"/>
            <a:ext cx="79022" cy="112889"/>
          </a:xfrm>
          <a:prstGeom prst="rect">
            <a:avLst/>
          </a:prstGeom>
          <a:solidFill>
            <a:schemeClr val="accent2">
              <a:lumMod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50" name="TextBox 49">
            <a:extLst>
              <a:ext uri="{FF2B5EF4-FFF2-40B4-BE49-F238E27FC236}">
                <a16:creationId xmlns:a16="http://schemas.microsoft.com/office/drawing/2014/main" id="{2FC92F02-D5D0-C42B-1DC7-C3D38571B252}"/>
              </a:ext>
            </a:extLst>
          </p:cNvPr>
          <p:cNvSpPr txBox="1"/>
          <p:nvPr/>
        </p:nvSpPr>
        <p:spPr>
          <a:xfrm>
            <a:off x="8313263" y="3787043"/>
            <a:ext cx="1651478" cy="923330"/>
          </a:xfrm>
          <a:prstGeom prst="rect">
            <a:avLst/>
          </a:prstGeom>
          <a:noFill/>
        </p:spPr>
        <p:txBody>
          <a:bodyPr wrap="none" rtlCol="0">
            <a:spAutoFit/>
          </a:bodyPr>
          <a:lstStyle/>
          <a:p>
            <a:r>
              <a:rPr lang="en-US" dirty="0"/>
              <a:t>Plank:</a:t>
            </a:r>
          </a:p>
          <a:p>
            <a:r>
              <a:rPr lang="en-US" dirty="0"/>
              <a:t>Light is a </a:t>
            </a:r>
          </a:p>
          <a:p>
            <a:r>
              <a:rPr lang="en-US" dirty="0"/>
              <a:t>quantized wave</a:t>
            </a:r>
          </a:p>
        </p:txBody>
      </p:sp>
      <p:cxnSp>
        <p:nvCxnSpPr>
          <p:cNvPr id="51" name="Straight Connector 50">
            <a:extLst>
              <a:ext uri="{FF2B5EF4-FFF2-40B4-BE49-F238E27FC236}">
                <a16:creationId xmlns:a16="http://schemas.microsoft.com/office/drawing/2014/main" id="{3AE6978F-A6C5-399D-2AFB-619D751D706A}"/>
              </a:ext>
            </a:extLst>
          </p:cNvPr>
          <p:cNvCxnSpPr>
            <a:cxnSpLocks/>
          </p:cNvCxnSpPr>
          <p:nvPr/>
        </p:nvCxnSpPr>
        <p:spPr>
          <a:xfrm flipH="1" flipV="1">
            <a:off x="7886287" y="3075038"/>
            <a:ext cx="769285" cy="722496"/>
          </a:xfrm>
          <a:prstGeom prst="line">
            <a:avLst/>
          </a:prstGeom>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68F0657C-4967-BE63-D46B-257825383E06}"/>
              </a:ext>
            </a:extLst>
          </p:cNvPr>
          <p:cNvCxnSpPr>
            <a:cxnSpLocks/>
          </p:cNvCxnSpPr>
          <p:nvPr/>
        </p:nvCxnSpPr>
        <p:spPr>
          <a:xfrm flipH="1">
            <a:off x="7969956" y="2216207"/>
            <a:ext cx="1432685" cy="741476"/>
          </a:xfrm>
          <a:prstGeom prst="line">
            <a:avLst/>
          </a:prstGeom>
        </p:spPr>
        <p:style>
          <a:lnRef idx="1">
            <a:schemeClr val="accent1"/>
          </a:lnRef>
          <a:fillRef idx="0">
            <a:schemeClr val="accent1"/>
          </a:fillRef>
          <a:effectRef idx="0">
            <a:schemeClr val="accent1"/>
          </a:effectRef>
          <a:fontRef idx="minor">
            <a:schemeClr val="tx1"/>
          </a:fontRef>
        </p:style>
      </p:cxnSp>
      <p:sp>
        <p:nvSpPr>
          <p:cNvPr id="56" name="Rectangle 55">
            <a:extLst>
              <a:ext uri="{FF2B5EF4-FFF2-40B4-BE49-F238E27FC236}">
                <a16:creationId xmlns:a16="http://schemas.microsoft.com/office/drawing/2014/main" id="{3F88A3D6-88AA-F7AC-E494-BAEA1319F63B}"/>
              </a:ext>
            </a:extLst>
          </p:cNvPr>
          <p:cNvSpPr/>
          <p:nvPr/>
        </p:nvSpPr>
        <p:spPr>
          <a:xfrm>
            <a:off x="7930445" y="2971797"/>
            <a:ext cx="79022" cy="112889"/>
          </a:xfrm>
          <a:prstGeom prst="rect">
            <a:avLst/>
          </a:prstGeom>
          <a:solidFill>
            <a:schemeClr val="accent4">
              <a:lumMod val="75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57" name="TextBox 56">
            <a:extLst>
              <a:ext uri="{FF2B5EF4-FFF2-40B4-BE49-F238E27FC236}">
                <a16:creationId xmlns:a16="http://schemas.microsoft.com/office/drawing/2014/main" id="{00B9B6CA-7FC0-CB41-6E93-F1053ED29501}"/>
              </a:ext>
            </a:extLst>
          </p:cNvPr>
          <p:cNvSpPr txBox="1"/>
          <p:nvPr/>
        </p:nvSpPr>
        <p:spPr>
          <a:xfrm>
            <a:off x="9544730" y="1413366"/>
            <a:ext cx="1741246" cy="1200329"/>
          </a:xfrm>
          <a:prstGeom prst="rect">
            <a:avLst/>
          </a:prstGeom>
          <a:noFill/>
        </p:spPr>
        <p:txBody>
          <a:bodyPr wrap="none" rtlCol="0">
            <a:spAutoFit/>
          </a:bodyPr>
          <a:lstStyle/>
          <a:p>
            <a:r>
              <a:rPr lang="en-US" dirty="0"/>
              <a:t>Einstein:</a:t>
            </a:r>
          </a:p>
          <a:p>
            <a:r>
              <a:rPr lang="en-US" dirty="0"/>
              <a:t>Light is a </a:t>
            </a:r>
          </a:p>
          <a:p>
            <a:r>
              <a:rPr lang="en-US" dirty="0"/>
              <a:t>limited EM wave</a:t>
            </a:r>
          </a:p>
          <a:p>
            <a:r>
              <a:rPr lang="en-US" dirty="0"/>
              <a:t>called a Photon</a:t>
            </a:r>
          </a:p>
        </p:txBody>
      </p:sp>
      <p:sp>
        <p:nvSpPr>
          <p:cNvPr id="58" name="TextBox 57">
            <a:extLst>
              <a:ext uri="{FF2B5EF4-FFF2-40B4-BE49-F238E27FC236}">
                <a16:creationId xmlns:a16="http://schemas.microsoft.com/office/drawing/2014/main" id="{CD9C1008-0F73-0BEC-3C20-4307E5EBDAE0}"/>
              </a:ext>
            </a:extLst>
          </p:cNvPr>
          <p:cNvSpPr txBox="1"/>
          <p:nvPr/>
        </p:nvSpPr>
        <p:spPr>
          <a:xfrm>
            <a:off x="10433313" y="3510044"/>
            <a:ext cx="1365567" cy="646331"/>
          </a:xfrm>
          <a:prstGeom prst="rect">
            <a:avLst/>
          </a:prstGeom>
          <a:noFill/>
        </p:spPr>
        <p:txBody>
          <a:bodyPr wrap="none" rtlCol="0">
            <a:spAutoFit/>
          </a:bodyPr>
          <a:lstStyle/>
          <a:p>
            <a:r>
              <a:rPr lang="en-US" dirty="0"/>
              <a:t>You:</a:t>
            </a:r>
          </a:p>
          <a:p>
            <a:r>
              <a:rPr lang="en-US" dirty="0"/>
              <a:t>Studied light</a:t>
            </a:r>
          </a:p>
        </p:txBody>
      </p:sp>
      <p:sp>
        <p:nvSpPr>
          <p:cNvPr id="59" name="Rectangle 58">
            <a:extLst>
              <a:ext uri="{FF2B5EF4-FFF2-40B4-BE49-F238E27FC236}">
                <a16:creationId xmlns:a16="http://schemas.microsoft.com/office/drawing/2014/main" id="{6D68CC60-F31E-A3AC-A0E1-266ECBCFDF68}"/>
              </a:ext>
            </a:extLst>
          </p:cNvPr>
          <p:cNvSpPr/>
          <p:nvPr/>
        </p:nvSpPr>
        <p:spPr>
          <a:xfrm>
            <a:off x="9917288" y="2971797"/>
            <a:ext cx="79022" cy="112889"/>
          </a:xfrm>
          <a:prstGeom prst="rect">
            <a:avLst/>
          </a:prstGeom>
          <a:solidFill>
            <a:srgbClr val="FF0000"/>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cxnSp>
        <p:nvCxnSpPr>
          <p:cNvPr id="60" name="Straight Connector 59">
            <a:extLst>
              <a:ext uri="{FF2B5EF4-FFF2-40B4-BE49-F238E27FC236}">
                <a16:creationId xmlns:a16="http://schemas.microsoft.com/office/drawing/2014/main" id="{B3BC737E-6574-C259-4C74-0781DFF81E62}"/>
              </a:ext>
            </a:extLst>
          </p:cNvPr>
          <p:cNvCxnSpPr>
            <a:cxnSpLocks/>
          </p:cNvCxnSpPr>
          <p:nvPr/>
        </p:nvCxnSpPr>
        <p:spPr>
          <a:xfrm flipH="1" flipV="1">
            <a:off x="10007600" y="3069362"/>
            <a:ext cx="824820" cy="496745"/>
          </a:xfrm>
          <a:prstGeom prst="line">
            <a:avLst/>
          </a:prstGeom>
        </p:spPr>
        <p:style>
          <a:lnRef idx="1">
            <a:schemeClr val="accent1"/>
          </a:lnRef>
          <a:fillRef idx="0">
            <a:schemeClr val="accent1"/>
          </a:fillRef>
          <a:effectRef idx="0">
            <a:schemeClr val="accent1"/>
          </a:effectRef>
          <a:fontRef idx="minor">
            <a:schemeClr val="tx1"/>
          </a:fontRef>
        </p:style>
      </p:cxnSp>
      <p:sp>
        <p:nvSpPr>
          <p:cNvPr id="64" name="TextBox 63">
            <a:extLst>
              <a:ext uri="{FF2B5EF4-FFF2-40B4-BE49-F238E27FC236}">
                <a16:creationId xmlns:a16="http://schemas.microsoft.com/office/drawing/2014/main" id="{FD8D5943-F428-2D98-DB49-A561B2B86788}"/>
              </a:ext>
            </a:extLst>
          </p:cNvPr>
          <p:cNvSpPr txBox="1"/>
          <p:nvPr/>
        </p:nvSpPr>
        <p:spPr>
          <a:xfrm flipH="1">
            <a:off x="2806861" y="3908862"/>
            <a:ext cx="1381314" cy="1200329"/>
          </a:xfrm>
          <a:prstGeom prst="rect">
            <a:avLst/>
          </a:prstGeom>
          <a:noFill/>
        </p:spPr>
        <p:txBody>
          <a:bodyPr wrap="square" rtlCol="0">
            <a:spAutoFit/>
          </a:bodyPr>
          <a:lstStyle/>
          <a:p>
            <a:r>
              <a:rPr lang="en-US" dirty="0"/>
              <a:t>Romer: measures speed of light</a:t>
            </a:r>
          </a:p>
        </p:txBody>
      </p:sp>
      <p:cxnSp>
        <p:nvCxnSpPr>
          <p:cNvPr id="65" name="Straight Connector 64">
            <a:extLst>
              <a:ext uri="{FF2B5EF4-FFF2-40B4-BE49-F238E27FC236}">
                <a16:creationId xmlns:a16="http://schemas.microsoft.com/office/drawing/2014/main" id="{EE8F8C2D-1700-C7A1-0304-6DA691676529}"/>
              </a:ext>
            </a:extLst>
          </p:cNvPr>
          <p:cNvCxnSpPr>
            <a:cxnSpLocks/>
            <a:endCxn id="63" idx="1"/>
          </p:cNvCxnSpPr>
          <p:nvPr/>
        </p:nvCxnSpPr>
        <p:spPr>
          <a:xfrm flipV="1">
            <a:off x="3228622" y="3028242"/>
            <a:ext cx="807152" cy="880620"/>
          </a:xfrm>
          <a:prstGeom prst="line">
            <a:avLst/>
          </a:prstGeom>
        </p:spPr>
        <p:style>
          <a:lnRef idx="1">
            <a:schemeClr val="accent1"/>
          </a:lnRef>
          <a:fillRef idx="0">
            <a:schemeClr val="accent1"/>
          </a:fillRef>
          <a:effectRef idx="0">
            <a:schemeClr val="accent1"/>
          </a:effectRef>
          <a:fontRef idx="minor">
            <a:schemeClr val="tx1"/>
          </a:fontRef>
        </p:style>
      </p:cxnSp>
      <p:sp>
        <p:nvSpPr>
          <p:cNvPr id="68" name="Rectangle 67">
            <a:extLst>
              <a:ext uri="{FF2B5EF4-FFF2-40B4-BE49-F238E27FC236}">
                <a16:creationId xmlns:a16="http://schemas.microsoft.com/office/drawing/2014/main" id="{0C3C1E73-F704-3EB8-5517-0593DF82930A}"/>
              </a:ext>
            </a:extLst>
          </p:cNvPr>
          <p:cNvSpPr/>
          <p:nvPr/>
        </p:nvSpPr>
        <p:spPr>
          <a:xfrm>
            <a:off x="2438401" y="2971797"/>
            <a:ext cx="79022" cy="112889"/>
          </a:xfrm>
          <a:prstGeom prst="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TextBox 68">
            <a:extLst>
              <a:ext uri="{FF2B5EF4-FFF2-40B4-BE49-F238E27FC236}">
                <a16:creationId xmlns:a16="http://schemas.microsoft.com/office/drawing/2014/main" id="{A6D5E4CA-A6D5-2236-2AD7-3A658D3FE61B}"/>
              </a:ext>
            </a:extLst>
          </p:cNvPr>
          <p:cNvSpPr txBox="1"/>
          <p:nvPr/>
        </p:nvSpPr>
        <p:spPr>
          <a:xfrm flipH="1">
            <a:off x="939967" y="3429000"/>
            <a:ext cx="1381314" cy="1477328"/>
          </a:xfrm>
          <a:prstGeom prst="rect">
            <a:avLst/>
          </a:prstGeom>
          <a:noFill/>
        </p:spPr>
        <p:txBody>
          <a:bodyPr wrap="square" rtlCol="0">
            <a:spAutoFit/>
          </a:bodyPr>
          <a:lstStyle/>
          <a:p>
            <a:r>
              <a:rPr lang="en-US" dirty="0"/>
              <a:t>Galileo: Doesn’t measure speed of light</a:t>
            </a:r>
          </a:p>
        </p:txBody>
      </p:sp>
      <p:cxnSp>
        <p:nvCxnSpPr>
          <p:cNvPr id="70" name="Straight Connector 69">
            <a:extLst>
              <a:ext uri="{FF2B5EF4-FFF2-40B4-BE49-F238E27FC236}">
                <a16:creationId xmlns:a16="http://schemas.microsoft.com/office/drawing/2014/main" id="{67566662-F8CE-C670-031E-344619941D8D}"/>
              </a:ext>
            </a:extLst>
          </p:cNvPr>
          <p:cNvCxnSpPr>
            <a:cxnSpLocks/>
            <a:endCxn id="68" idx="2"/>
          </p:cNvCxnSpPr>
          <p:nvPr/>
        </p:nvCxnSpPr>
        <p:spPr>
          <a:xfrm flipV="1">
            <a:off x="1461911" y="3084686"/>
            <a:ext cx="1016001" cy="376996"/>
          </a:xfrm>
          <a:prstGeom prst="line">
            <a:avLst/>
          </a:prstGeom>
        </p:spPr>
        <p:style>
          <a:lnRef idx="1">
            <a:schemeClr val="accent1"/>
          </a:lnRef>
          <a:fillRef idx="0">
            <a:schemeClr val="accent1"/>
          </a:fillRef>
          <a:effectRef idx="0">
            <a:schemeClr val="accent1"/>
          </a:effectRef>
          <a:fontRef idx="minor">
            <a:schemeClr val="tx1"/>
          </a:fontRef>
        </p:style>
      </p:cxnSp>
      <p:sp>
        <p:nvSpPr>
          <p:cNvPr id="72" name="Rectangle 71">
            <a:extLst>
              <a:ext uri="{FF2B5EF4-FFF2-40B4-BE49-F238E27FC236}">
                <a16:creationId xmlns:a16="http://schemas.microsoft.com/office/drawing/2014/main" id="{7C80239E-0B00-6359-0894-0A1763B662FF}"/>
              </a:ext>
            </a:extLst>
          </p:cNvPr>
          <p:cNvSpPr/>
          <p:nvPr/>
        </p:nvSpPr>
        <p:spPr>
          <a:xfrm>
            <a:off x="6952260" y="2971797"/>
            <a:ext cx="79022" cy="112889"/>
          </a:xfrm>
          <a:prstGeom prst="rect">
            <a:avLst/>
          </a:prstGeom>
          <a:solidFill>
            <a:srgbClr val="7030A0"/>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73" name="TextBox 72">
            <a:extLst>
              <a:ext uri="{FF2B5EF4-FFF2-40B4-BE49-F238E27FC236}">
                <a16:creationId xmlns:a16="http://schemas.microsoft.com/office/drawing/2014/main" id="{CC08BF8F-73A6-4AAA-816C-3E9C628E71AF}"/>
              </a:ext>
            </a:extLst>
          </p:cNvPr>
          <p:cNvSpPr txBox="1"/>
          <p:nvPr/>
        </p:nvSpPr>
        <p:spPr>
          <a:xfrm flipH="1">
            <a:off x="7050208" y="4509026"/>
            <a:ext cx="1203788" cy="1200329"/>
          </a:xfrm>
          <a:prstGeom prst="rect">
            <a:avLst/>
          </a:prstGeom>
          <a:noFill/>
        </p:spPr>
        <p:txBody>
          <a:bodyPr wrap="square" rtlCol="0">
            <a:spAutoFit/>
          </a:bodyPr>
          <a:lstStyle/>
          <a:p>
            <a:r>
              <a:rPr lang="en-US" dirty="0"/>
              <a:t>Fizeau: Measures speed of light</a:t>
            </a:r>
          </a:p>
        </p:txBody>
      </p:sp>
      <p:cxnSp>
        <p:nvCxnSpPr>
          <p:cNvPr id="75" name="Straight Connector 74">
            <a:extLst>
              <a:ext uri="{FF2B5EF4-FFF2-40B4-BE49-F238E27FC236}">
                <a16:creationId xmlns:a16="http://schemas.microsoft.com/office/drawing/2014/main" id="{4988D9B0-179E-E152-DF7B-A3591D0EA3B8}"/>
              </a:ext>
            </a:extLst>
          </p:cNvPr>
          <p:cNvCxnSpPr>
            <a:cxnSpLocks/>
            <a:endCxn id="72" idx="2"/>
          </p:cNvCxnSpPr>
          <p:nvPr/>
        </p:nvCxnSpPr>
        <p:spPr>
          <a:xfrm flipH="1" flipV="1">
            <a:off x="6991771" y="3084686"/>
            <a:ext cx="390493" cy="152569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2324910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ooter Placeholder 4"/>
          <p:cNvSpPr>
            <a:spLocks noGrp="1"/>
          </p:cNvSpPr>
          <p:nvPr>
            <p:ph type="ftr" sz="quarter" idx="11"/>
          </p:nvPr>
        </p:nvSpPr>
        <p:spPr/>
        <p:txBody>
          <a:bodyPr/>
          <a:lstStyle/>
          <a:p>
            <a:r>
              <a:rPr lang="en-US"/>
              <a:t>R. Todd Lines</a:t>
            </a:r>
          </a:p>
        </p:txBody>
      </p:sp>
      <p:sp>
        <p:nvSpPr>
          <p:cNvPr id="7170" name="Rectangle 2"/>
          <p:cNvSpPr>
            <a:spLocks noGrp="1" noChangeArrowheads="1"/>
          </p:cNvSpPr>
          <p:nvPr>
            <p:ph type="title"/>
          </p:nvPr>
        </p:nvSpPr>
        <p:spPr/>
        <p:txBody>
          <a:bodyPr/>
          <a:lstStyle/>
          <a:p>
            <a:r>
              <a:rPr lang="en-US" sz="3200"/>
              <a:t>More Confirmation of Wave Nature</a:t>
            </a:r>
          </a:p>
        </p:txBody>
      </p:sp>
      <p:sp>
        <p:nvSpPr>
          <p:cNvPr id="7171" name="Rectangle 3"/>
          <p:cNvSpPr>
            <a:spLocks noGrp="1" noChangeArrowheads="1"/>
          </p:cNvSpPr>
          <p:nvPr>
            <p:ph type="body" idx="1"/>
          </p:nvPr>
        </p:nvSpPr>
        <p:spPr/>
        <p:txBody>
          <a:bodyPr/>
          <a:lstStyle/>
          <a:p>
            <a:r>
              <a:rPr lang="en-US" dirty="0"/>
              <a:t>During the nineteenth century, other developments led to the general acceptance of the wave theory of light</a:t>
            </a:r>
          </a:p>
          <a:p>
            <a:r>
              <a:rPr lang="en-US" dirty="0"/>
              <a:t>Maxwell asserted that light was a form of high-frequency electromagnetic wave</a:t>
            </a:r>
          </a:p>
          <a:p>
            <a:r>
              <a:rPr lang="en-US" dirty="0"/>
              <a:t>Hertz confirmed Maxwell’s predictions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971DC4-0B64-04B4-5493-916EFD1FB4D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3E889115-FE03-A144-ECC5-9DDFD89256F6}"/>
              </a:ext>
            </a:extLst>
          </p:cNvPr>
          <p:cNvSpPr/>
          <p:nvPr/>
        </p:nvSpPr>
        <p:spPr>
          <a:xfrm>
            <a:off x="620889" y="2971797"/>
            <a:ext cx="10950222" cy="112889"/>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Rectangle 62">
            <a:extLst>
              <a:ext uri="{FF2B5EF4-FFF2-40B4-BE49-F238E27FC236}">
                <a16:creationId xmlns:a16="http://schemas.microsoft.com/office/drawing/2014/main" id="{7251B9F0-3E84-6A24-99C2-0765996B655E}"/>
              </a:ext>
            </a:extLst>
          </p:cNvPr>
          <p:cNvSpPr/>
          <p:nvPr/>
        </p:nvSpPr>
        <p:spPr>
          <a:xfrm>
            <a:off x="4035774" y="2971797"/>
            <a:ext cx="79022" cy="112889"/>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BE3B37F2-9FAA-106F-10F2-C0F71782D0B4}"/>
              </a:ext>
            </a:extLst>
          </p:cNvPr>
          <p:cNvSpPr txBox="1"/>
          <p:nvPr/>
        </p:nvSpPr>
        <p:spPr>
          <a:xfrm>
            <a:off x="2066875" y="3384224"/>
            <a:ext cx="652743" cy="369332"/>
          </a:xfrm>
          <a:prstGeom prst="rect">
            <a:avLst/>
          </a:prstGeom>
          <a:noFill/>
        </p:spPr>
        <p:txBody>
          <a:bodyPr wrap="none" rtlCol="0">
            <a:spAutoFit/>
          </a:bodyPr>
          <a:lstStyle/>
          <a:p>
            <a:r>
              <a:rPr lang="en-US" dirty="0"/>
              <a:t>1600</a:t>
            </a:r>
          </a:p>
        </p:txBody>
      </p:sp>
      <p:sp>
        <p:nvSpPr>
          <p:cNvPr id="6" name="TextBox 5">
            <a:extLst>
              <a:ext uri="{FF2B5EF4-FFF2-40B4-BE49-F238E27FC236}">
                <a16:creationId xmlns:a16="http://schemas.microsoft.com/office/drawing/2014/main" id="{143342E0-33B7-8FE2-BB9E-486DA916C72A}"/>
              </a:ext>
            </a:extLst>
          </p:cNvPr>
          <p:cNvSpPr txBox="1"/>
          <p:nvPr/>
        </p:nvSpPr>
        <p:spPr>
          <a:xfrm>
            <a:off x="3923898" y="3417711"/>
            <a:ext cx="2194683" cy="369332"/>
          </a:xfrm>
          <a:prstGeom prst="rect">
            <a:avLst/>
          </a:prstGeom>
          <a:noFill/>
        </p:spPr>
        <p:txBody>
          <a:bodyPr wrap="square" rtlCol="0">
            <a:spAutoFit/>
          </a:bodyPr>
          <a:lstStyle/>
          <a:p>
            <a:r>
              <a:rPr lang="en-US" dirty="0"/>
              <a:t>1700</a:t>
            </a:r>
          </a:p>
        </p:txBody>
      </p:sp>
      <p:sp>
        <p:nvSpPr>
          <p:cNvPr id="7" name="TextBox 6">
            <a:extLst>
              <a:ext uri="{FF2B5EF4-FFF2-40B4-BE49-F238E27FC236}">
                <a16:creationId xmlns:a16="http://schemas.microsoft.com/office/drawing/2014/main" id="{4B361EA7-566C-8FE9-7193-BEC7F41E36D1}"/>
              </a:ext>
            </a:extLst>
          </p:cNvPr>
          <p:cNvSpPr txBox="1"/>
          <p:nvPr/>
        </p:nvSpPr>
        <p:spPr>
          <a:xfrm>
            <a:off x="5792209" y="3417711"/>
            <a:ext cx="652743" cy="369332"/>
          </a:xfrm>
          <a:prstGeom prst="rect">
            <a:avLst/>
          </a:prstGeom>
          <a:noFill/>
        </p:spPr>
        <p:txBody>
          <a:bodyPr wrap="none" rtlCol="0">
            <a:spAutoFit/>
          </a:bodyPr>
          <a:lstStyle/>
          <a:p>
            <a:r>
              <a:rPr lang="en-US" dirty="0"/>
              <a:t>1800</a:t>
            </a:r>
          </a:p>
        </p:txBody>
      </p:sp>
      <p:sp>
        <p:nvSpPr>
          <p:cNvPr id="8" name="TextBox 7">
            <a:extLst>
              <a:ext uri="{FF2B5EF4-FFF2-40B4-BE49-F238E27FC236}">
                <a16:creationId xmlns:a16="http://schemas.microsoft.com/office/drawing/2014/main" id="{B0EA01F7-1757-1594-99FD-DE2C26E77153}"/>
              </a:ext>
            </a:extLst>
          </p:cNvPr>
          <p:cNvSpPr txBox="1"/>
          <p:nvPr/>
        </p:nvSpPr>
        <p:spPr>
          <a:xfrm>
            <a:off x="7541986" y="3417711"/>
            <a:ext cx="652743" cy="369332"/>
          </a:xfrm>
          <a:prstGeom prst="rect">
            <a:avLst/>
          </a:prstGeom>
          <a:noFill/>
        </p:spPr>
        <p:txBody>
          <a:bodyPr wrap="none" rtlCol="0">
            <a:spAutoFit/>
          </a:bodyPr>
          <a:lstStyle/>
          <a:p>
            <a:r>
              <a:rPr lang="en-US" dirty="0"/>
              <a:t>1900</a:t>
            </a:r>
          </a:p>
        </p:txBody>
      </p:sp>
      <p:sp>
        <p:nvSpPr>
          <p:cNvPr id="9" name="TextBox 8">
            <a:extLst>
              <a:ext uri="{FF2B5EF4-FFF2-40B4-BE49-F238E27FC236}">
                <a16:creationId xmlns:a16="http://schemas.microsoft.com/office/drawing/2014/main" id="{9C93CA2E-1010-C9F3-A77D-D82F2B0434AF}"/>
              </a:ext>
            </a:extLst>
          </p:cNvPr>
          <p:cNvSpPr txBox="1"/>
          <p:nvPr/>
        </p:nvSpPr>
        <p:spPr>
          <a:xfrm>
            <a:off x="9347201" y="3417711"/>
            <a:ext cx="652743" cy="369332"/>
          </a:xfrm>
          <a:prstGeom prst="rect">
            <a:avLst/>
          </a:prstGeom>
          <a:noFill/>
        </p:spPr>
        <p:txBody>
          <a:bodyPr wrap="none" rtlCol="0">
            <a:spAutoFit/>
          </a:bodyPr>
          <a:lstStyle/>
          <a:p>
            <a:r>
              <a:rPr lang="en-US" dirty="0"/>
              <a:t>2000</a:t>
            </a:r>
          </a:p>
        </p:txBody>
      </p:sp>
      <p:sp>
        <p:nvSpPr>
          <p:cNvPr id="10" name="TextBox 9">
            <a:extLst>
              <a:ext uri="{FF2B5EF4-FFF2-40B4-BE49-F238E27FC236}">
                <a16:creationId xmlns:a16="http://schemas.microsoft.com/office/drawing/2014/main" id="{173FBEEB-4160-60DC-812D-068AE05D56C7}"/>
              </a:ext>
            </a:extLst>
          </p:cNvPr>
          <p:cNvSpPr txBox="1"/>
          <p:nvPr/>
        </p:nvSpPr>
        <p:spPr>
          <a:xfrm flipH="1">
            <a:off x="2066875" y="1777117"/>
            <a:ext cx="1381314" cy="923330"/>
          </a:xfrm>
          <a:prstGeom prst="rect">
            <a:avLst/>
          </a:prstGeom>
          <a:noFill/>
        </p:spPr>
        <p:txBody>
          <a:bodyPr wrap="square" rtlCol="0">
            <a:spAutoFit/>
          </a:bodyPr>
          <a:lstStyle/>
          <a:p>
            <a:r>
              <a:rPr lang="en-US" dirty="0"/>
              <a:t>Newton: Light is a particle</a:t>
            </a:r>
          </a:p>
        </p:txBody>
      </p:sp>
      <p:sp>
        <p:nvSpPr>
          <p:cNvPr id="11" name="Rectangle 10">
            <a:extLst>
              <a:ext uri="{FF2B5EF4-FFF2-40B4-BE49-F238E27FC236}">
                <a16:creationId xmlns:a16="http://schemas.microsoft.com/office/drawing/2014/main" id="{9F884B9B-D464-C3BE-F7B7-978CC9B97D87}"/>
              </a:ext>
            </a:extLst>
          </p:cNvPr>
          <p:cNvSpPr/>
          <p:nvPr/>
        </p:nvSpPr>
        <p:spPr>
          <a:xfrm>
            <a:off x="4063998" y="2971797"/>
            <a:ext cx="79022" cy="112889"/>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A80C20FA-0EB8-BA32-3921-1BD6D0F4E8D4}"/>
              </a:ext>
            </a:extLst>
          </p:cNvPr>
          <p:cNvSpPr txBox="1"/>
          <p:nvPr/>
        </p:nvSpPr>
        <p:spPr>
          <a:xfrm flipH="1">
            <a:off x="3353263" y="996520"/>
            <a:ext cx="1345977" cy="923330"/>
          </a:xfrm>
          <a:prstGeom prst="rect">
            <a:avLst/>
          </a:prstGeom>
          <a:noFill/>
        </p:spPr>
        <p:txBody>
          <a:bodyPr wrap="square" rtlCol="0">
            <a:spAutoFit/>
          </a:bodyPr>
          <a:lstStyle/>
          <a:p>
            <a:r>
              <a:rPr lang="en-US" dirty="0"/>
              <a:t>Huygens: Light is a wave</a:t>
            </a:r>
          </a:p>
        </p:txBody>
      </p:sp>
      <p:sp>
        <p:nvSpPr>
          <p:cNvPr id="13" name="Rectangle 12">
            <a:extLst>
              <a:ext uri="{FF2B5EF4-FFF2-40B4-BE49-F238E27FC236}">
                <a16:creationId xmlns:a16="http://schemas.microsoft.com/office/drawing/2014/main" id="{2599EE3A-DE1D-D086-B6C1-669593234DC5}"/>
              </a:ext>
            </a:extLst>
          </p:cNvPr>
          <p:cNvSpPr/>
          <p:nvPr/>
        </p:nvSpPr>
        <p:spPr>
          <a:xfrm>
            <a:off x="4148664" y="2971797"/>
            <a:ext cx="79022" cy="112889"/>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5" name="Straight Connector 14">
            <a:extLst>
              <a:ext uri="{FF2B5EF4-FFF2-40B4-BE49-F238E27FC236}">
                <a16:creationId xmlns:a16="http://schemas.microsoft.com/office/drawing/2014/main" id="{2FF7CBB8-4CFF-BE32-DE50-BAC9005AFF2C}"/>
              </a:ext>
            </a:extLst>
          </p:cNvPr>
          <p:cNvCxnSpPr>
            <a:cxnSpLocks/>
            <a:stCxn id="10" idx="2"/>
            <a:endCxn id="11" idx="0"/>
          </p:cNvCxnSpPr>
          <p:nvPr/>
        </p:nvCxnSpPr>
        <p:spPr>
          <a:xfrm>
            <a:off x="2757532" y="2700447"/>
            <a:ext cx="1345977" cy="271350"/>
          </a:xfrm>
          <a:prstGeom prst="line">
            <a:avLst/>
          </a:prstGeom>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C013B839-CFD7-18B0-493E-7EA5D38249A6}"/>
              </a:ext>
            </a:extLst>
          </p:cNvPr>
          <p:cNvCxnSpPr>
            <a:cxnSpLocks/>
            <a:stCxn id="12" idx="2"/>
            <a:endCxn id="13" idx="0"/>
          </p:cNvCxnSpPr>
          <p:nvPr/>
        </p:nvCxnSpPr>
        <p:spPr>
          <a:xfrm>
            <a:off x="4026251" y="1919850"/>
            <a:ext cx="161924" cy="1051947"/>
          </a:xfrm>
          <a:prstGeom prst="line">
            <a:avLst/>
          </a:prstGeom>
        </p:spPr>
        <p:style>
          <a:lnRef idx="1">
            <a:schemeClr val="accent1"/>
          </a:lnRef>
          <a:fillRef idx="0">
            <a:schemeClr val="accent1"/>
          </a:fillRef>
          <a:effectRef idx="0">
            <a:schemeClr val="accent1"/>
          </a:effectRef>
          <a:fontRef idx="minor">
            <a:schemeClr val="tx1"/>
          </a:fontRef>
        </p:style>
      </p:cxnSp>
      <p:sp>
        <p:nvSpPr>
          <p:cNvPr id="20" name="Rectangle 19">
            <a:extLst>
              <a:ext uri="{FF2B5EF4-FFF2-40B4-BE49-F238E27FC236}">
                <a16:creationId xmlns:a16="http://schemas.microsoft.com/office/drawing/2014/main" id="{FDC1F17F-BF85-5871-99DE-BF882127F8E4}"/>
              </a:ext>
            </a:extLst>
          </p:cNvPr>
          <p:cNvSpPr/>
          <p:nvPr/>
        </p:nvSpPr>
        <p:spPr>
          <a:xfrm>
            <a:off x="6096000" y="2971797"/>
            <a:ext cx="79022" cy="112889"/>
          </a:xfrm>
          <a:prstGeom prst="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620DA405-331E-48A2-B788-805629873213}"/>
              </a:ext>
            </a:extLst>
          </p:cNvPr>
          <p:cNvSpPr txBox="1"/>
          <p:nvPr/>
        </p:nvSpPr>
        <p:spPr>
          <a:xfrm flipH="1">
            <a:off x="5443168" y="1578334"/>
            <a:ext cx="1049582" cy="923330"/>
          </a:xfrm>
          <a:prstGeom prst="rect">
            <a:avLst/>
          </a:prstGeom>
          <a:noFill/>
        </p:spPr>
        <p:txBody>
          <a:bodyPr wrap="square" rtlCol="0">
            <a:spAutoFit/>
          </a:bodyPr>
          <a:lstStyle/>
          <a:p>
            <a:r>
              <a:rPr lang="en-US" dirty="0"/>
              <a:t>Young: Light is a wave</a:t>
            </a:r>
          </a:p>
        </p:txBody>
      </p:sp>
      <p:cxnSp>
        <p:nvCxnSpPr>
          <p:cNvPr id="28" name="Straight Connector 27">
            <a:extLst>
              <a:ext uri="{FF2B5EF4-FFF2-40B4-BE49-F238E27FC236}">
                <a16:creationId xmlns:a16="http://schemas.microsoft.com/office/drawing/2014/main" id="{6FDAD961-28C9-53E6-6895-134A62CF41E1}"/>
              </a:ext>
            </a:extLst>
          </p:cNvPr>
          <p:cNvCxnSpPr>
            <a:cxnSpLocks/>
            <a:stCxn id="21" idx="2"/>
            <a:endCxn id="20" idx="3"/>
          </p:cNvCxnSpPr>
          <p:nvPr/>
        </p:nvCxnSpPr>
        <p:spPr>
          <a:xfrm>
            <a:off x="5967959" y="2501664"/>
            <a:ext cx="207063" cy="526578"/>
          </a:xfrm>
          <a:prstGeom prst="line">
            <a:avLst/>
          </a:prstGeom>
        </p:spPr>
        <p:style>
          <a:lnRef idx="1">
            <a:schemeClr val="accent1"/>
          </a:lnRef>
          <a:fillRef idx="0">
            <a:schemeClr val="accent1"/>
          </a:fillRef>
          <a:effectRef idx="0">
            <a:schemeClr val="accent1"/>
          </a:effectRef>
          <a:fontRef idx="minor">
            <a:schemeClr val="tx1"/>
          </a:fontRef>
        </p:style>
      </p:cxnSp>
      <p:sp>
        <p:nvSpPr>
          <p:cNvPr id="32" name="Rectangle 31">
            <a:extLst>
              <a:ext uri="{FF2B5EF4-FFF2-40B4-BE49-F238E27FC236}">
                <a16:creationId xmlns:a16="http://schemas.microsoft.com/office/drawing/2014/main" id="{D6C9566C-FCF0-5992-DF79-61F0B56F69C2}"/>
              </a:ext>
            </a:extLst>
          </p:cNvPr>
          <p:cNvSpPr/>
          <p:nvPr/>
        </p:nvSpPr>
        <p:spPr>
          <a:xfrm>
            <a:off x="6530625" y="2971797"/>
            <a:ext cx="79022" cy="112889"/>
          </a:xfrm>
          <a:prstGeom prst="rect">
            <a:avLst/>
          </a:prstGeom>
          <a:solidFill>
            <a:srgbClr val="FF0000"/>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dirty="0"/>
          </a:p>
        </p:txBody>
      </p:sp>
      <p:sp>
        <p:nvSpPr>
          <p:cNvPr id="33" name="TextBox 32">
            <a:extLst>
              <a:ext uri="{FF2B5EF4-FFF2-40B4-BE49-F238E27FC236}">
                <a16:creationId xmlns:a16="http://schemas.microsoft.com/office/drawing/2014/main" id="{F4ACFA7F-864E-BEB4-D1EA-AC2ED5358065}"/>
              </a:ext>
            </a:extLst>
          </p:cNvPr>
          <p:cNvSpPr txBox="1"/>
          <p:nvPr/>
        </p:nvSpPr>
        <p:spPr>
          <a:xfrm flipH="1">
            <a:off x="6378221" y="966556"/>
            <a:ext cx="1203788" cy="923330"/>
          </a:xfrm>
          <a:prstGeom prst="rect">
            <a:avLst/>
          </a:prstGeom>
          <a:noFill/>
        </p:spPr>
        <p:txBody>
          <a:bodyPr wrap="square" rtlCol="0">
            <a:spAutoFit/>
          </a:bodyPr>
          <a:lstStyle/>
          <a:p>
            <a:r>
              <a:rPr lang="en-US" dirty="0"/>
              <a:t>Smith: Light is important!</a:t>
            </a:r>
          </a:p>
        </p:txBody>
      </p:sp>
      <p:cxnSp>
        <p:nvCxnSpPr>
          <p:cNvPr id="34" name="Straight Connector 33">
            <a:extLst>
              <a:ext uri="{FF2B5EF4-FFF2-40B4-BE49-F238E27FC236}">
                <a16:creationId xmlns:a16="http://schemas.microsoft.com/office/drawing/2014/main" id="{4FA04B21-959A-07D0-8E05-BAEBB6436846}"/>
              </a:ext>
            </a:extLst>
          </p:cNvPr>
          <p:cNvCxnSpPr>
            <a:cxnSpLocks/>
            <a:stCxn id="33" idx="2"/>
            <a:endCxn id="32" idx="0"/>
          </p:cNvCxnSpPr>
          <p:nvPr/>
        </p:nvCxnSpPr>
        <p:spPr>
          <a:xfrm flipH="1">
            <a:off x="6570136" y="1889886"/>
            <a:ext cx="409979" cy="1081911"/>
          </a:xfrm>
          <a:prstGeom prst="line">
            <a:avLst/>
          </a:prstGeom>
        </p:spPr>
        <p:style>
          <a:lnRef idx="1">
            <a:schemeClr val="accent1"/>
          </a:lnRef>
          <a:fillRef idx="0">
            <a:schemeClr val="accent1"/>
          </a:fillRef>
          <a:effectRef idx="0">
            <a:schemeClr val="accent1"/>
          </a:effectRef>
          <a:fontRef idx="minor">
            <a:schemeClr val="tx1"/>
          </a:fontRef>
        </p:style>
      </p:cxnSp>
      <p:sp>
        <p:nvSpPr>
          <p:cNvPr id="37" name="Rectangle 36">
            <a:extLst>
              <a:ext uri="{FF2B5EF4-FFF2-40B4-BE49-F238E27FC236}">
                <a16:creationId xmlns:a16="http://schemas.microsoft.com/office/drawing/2014/main" id="{36AB35FA-2CA4-0605-DC91-B36C0C5C0F6B}"/>
              </a:ext>
            </a:extLst>
          </p:cNvPr>
          <p:cNvSpPr/>
          <p:nvPr/>
        </p:nvSpPr>
        <p:spPr>
          <a:xfrm>
            <a:off x="6874938" y="2971797"/>
            <a:ext cx="79022" cy="112889"/>
          </a:xfrm>
          <a:prstGeom prst="rect">
            <a:avLst/>
          </a:prstGeom>
          <a:solidFill>
            <a:srgbClr val="FF0000"/>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40" name="TextBox 39">
            <a:extLst>
              <a:ext uri="{FF2B5EF4-FFF2-40B4-BE49-F238E27FC236}">
                <a16:creationId xmlns:a16="http://schemas.microsoft.com/office/drawing/2014/main" id="{8DEAC481-5B0B-A1AE-C79D-9B0D80601CDB}"/>
              </a:ext>
            </a:extLst>
          </p:cNvPr>
          <p:cNvSpPr txBox="1"/>
          <p:nvPr/>
        </p:nvSpPr>
        <p:spPr>
          <a:xfrm flipH="1">
            <a:off x="5875802" y="3897948"/>
            <a:ext cx="1203788" cy="923330"/>
          </a:xfrm>
          <a:prstGeom prst="rect">
            <a:avLst/>
          </a:prstGeom>
          <a:noFill/>
        </p:spPr>
        <p:txBody>
          <a:bodyPr wrap="square" rtlCol="0">
            <a:spAutoFit/>
          </a:bodyPr>
          <a:lstStyle/>
          <a:p>
            <a:r>
              <a:rPr lang="en-US" dirty="0"/>
              <a:t>B. Young: Moves us to Utah</a:t>
            </a:r>
          </a:p>
        </p:txBody>
      </p:sp>
      <p:cxnSp>
        <p:nvCxnSpPr>
          <p:cNvPr id="41" name="Straight Connector 40">
            <a:extLst>
              <a:ext uri="{FF2B5EF4-FFF2-40B4-BE49-F238E27FC236}">
                <a16:creationId xmlns:a16="http://schemas.microsoft.com/office/drawing/2014/main" id="{0AEE5AAA-C1E6-D1D3-FDED-2B88F52DFEF9}"/>
              </a:ext>
            </a:extLst>
          </p:cNvPr>
          <p:cNvCxnSpPr>
            <a:cxnSpLocks/>
            <a:stCxn id="40" idx="0"/>
          </p:cNvCxnSpPr>
          <p:nvPr/>
        </p:nvCxnSpPr>
        <p:spPr>
          <a:xfrm flipV="1">
            <a:off x="6477696" y="3070198"/>
            <a:ext cx="396149" cy="827750"/>
          </a:xfrm>
          <a:prstGeom prst="line">
            <a:avLst/>
          </a:prstGeom>
        </p:spPr>
        <p:style>
          <a:lnRef idx="1">
            <a:schemeClr val="accent1"/>
          </a:lnRef>
          <a:fillRef idx="0">
            <a:schemeClr val="accent1"/>
          </a:fillRef>
          <a:effectRef idx="0">
            <a:schemeClr val="accent1"/>
          </a:effectRef>
          <a:fontRef idx="minor">
            <a:schemeClr val="tx1"/>
          </a:fontRef>
        </p:style>
      </p:cxnSp>
      <p:sp>
        <p:nvSpPr>
          <p:cNvPr id="44" name="Rectangle 43">
            <a:extLst>
              <a:ext uri="{FF2B5EF4-FFF2-40B4-BE49-F238E27FC236}">
                <a16:creationId xmlns:a16="http://schemas.microsoft.com/office/drawing/2014/main" id="{03AF9EAC-C661-0413-E96E-2A9CCCBB3662}"/>
              </a:ext>
            </a:extLst>
          </p:cNvPr>
          <p:cNvSpPr/>
          <p:nvPr/>
        </p:nvSpPr>
        <p:spPr>
          <a:xfrm>
            <a:off x="7574843" y="2971797"/>
            <a:ext cx="79022" cy="112889"/>
          </a:xfrm>
          <a:prstGeom prst="rect">
            <a:avLst/>
          </a:prstGeom>
          <a:solidFill>
            <a:schemeClr val="accent1">
              <a:lumMod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45" name="TextBox 44">
            <a:extLst>
              <a:ext uri="{FF2B5EF4-FFF2-40B4-BE49-F238E27FC236}">
                <a16:creationId xmlns:a16="http://schemas.microsoft.com/office/drawing/2014/main" id="{E0FC7876-1951-4BFD-B612-A82F19FA4BF5}"/>
              </a:ext>
            </a:extLst>
          </p:cNvPr>
          <p:cNvSpPr txBox="1"/>
          <p:nvPr/>
        </p:nvSpPr>
        <p:spPr>
          <a:xfrm>
            <a:off x="7779752" y="940472"/>
            <a:ext cx="1758687" cy="1200329"/>
          </a:xfrm>
          <a:prstGeom prst="rect">
            <a:avLst/>
          </a:prstGeom>
          <a:noFill/>
        </p:spPr>
        <p:txBody>
          <a:bodyPr wrap="none" rtlCol="0">
            <a:spAutoFit/>
          </a:bodyPr>
          <a:lstStyle/>
          <a:p>
            <a:r>
              <a:rPr lang="en-US" dirty="0"/>
              <a:t>Maxwell:</a:t>
            </a:r>
          </a:p>
          <a:p>
            <a:r>
              <a:rPr lang="en-US" dirty="0"/>
              <a:t>Light is an </a:t>
            </a:r>
          </a:p>
          <a:p>
            <a:r>
              <a:rPr lang="en-US" dirty="0"/>
              <a:t>Electromagnetic </a:t>
            </a:r>
          </a:p>
          <a:p>
            <a:r>
              <a:rPr lang="en-US" dirty="0"/>
              <a:t>Wave</a:t>
            </a:r>
          </a:p>
        </p:txBody>
      </p:sp>
      <p:cxnSp>
        <p:nvCxnSpPr>
          <p:cNvPr id="46" name="Straight Connector 45">
            <a:extLst>
              <a:ext uri="{FF2B5EF4-FFF2-40B4-BE49-F238E27FC236}">
                <a16:creationId xmlns:a16="http://schemas.microsoft.com/office/drawing/2014/main" id="{2BF7ED30-4AF8-E705-210D-95B8E0CF372E}"/>
              </a:ext>
            </a:extLst>
          </p:cNvPr>
          <p:cNvCxnSpPr>
            <a:cxnSpLocks/>
            <a:endCxn id="44" idx="0"/>
          </p:cNvCxnSpPr>
          <p:nvPr/>
        </p:nvCxnSpPr>
        <p:spPr>
          <a:xfrm flipH="1">
            <a:off x="7614354" y="2102087"/>
            <a:ext cx="406670" cy="869710"/>
          </a:xfrm>
          <a:prstGeom prst="line">
            <a:avLst/>
          </a:prstGeom>
        </p:spPr>
        <p:style>
          <a:lnRef idx="1">
            <a:schemeClr val="accent1"/>
          </a:lnRef>
          <a:fillRef idx="0">
            <a:schemeClr val="accent1"/>
          </a:fillRef>
          <a:effectRef idx="0">
            <a:schemeClr val="accent1"/>
          </a:effectRef>
          <a:fontRef idx="minor">
            <a:schemeClr val="tx1"/>
          </a:fontRef>
        </p:style>
      </p:cxnSp>
      <p:sp>
        <p:nvSpPr>
          <p:cNvPr id="49" name="Rectangle 48">
            <a:extLst>
              <a:ext uri="{FF2B5EF4-FFF2-40B4-BE49-F238E27FC236}">
                <a16:creationId xmlns:a16="http://schemas.microsoft.com/office/drawing/2014/main" id="{2BAB5259-9357-CE75-D131-2FEDA386CE49}"/>
              </a:ext>
            </a:extLst>
          </p:cNvPr>
          <p:cNvSpPr/>
          <p:nvPr/>
        </p:nvSpPr>
        <p:spPr>
          <a:xfrm>
            <a:off x="7840133" y="2971797"/>
            <a:ext cx="79022" cy="112889"/>
          </a:xfrm>
          <a:prstGeom prst="rect">
            <a:avLst/>
          </a:prstGeom>
          <a:solidFill>
            <a:schemeClr val="accent2">
              <a:lumMod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50" name="TextBox 49">
            <a:extLst>
              <a:ext uri="{FF2B5EF4-FFF2-40B4-BE49-F238E27FC236}">
                <a16:creationId xmlns:a16="http://schemas.microsoft.com/office/drawing/2014/main" id="{99421E7C-9991-6875-A693-26549AFE0E0A}"/>
              </a:ext>
            </a:extLst>
          </p:cNvPr>
          <p:cNvSpPr txBox="1"/>
          <p:nvPr/>
        </p:nvSpPr>
        <p:spPr>
          <a:xfrm>
            <a:off x="8313263" y="3787043"/>
            <a:ext cx="1651478" cy="923330"/>
          </a:xfrm>
          <a:prstGeom prst="rect">
            <a:avLst/>
          </a:prstGeom>
          <a:noFill/>
        </p:spPr>
        <p:txBody>
          <a:bodyPr wrap="none" rtlCol="0">
            <a:spAutoFit/>
          </a:bodyPr>
          <a:lstStyle/>
          <a:p>
            <a:r>
              <a:rPr lang="en-US" dirty="0"/>
              <a:t>Plank:</a:t>
            </a:r>
          </a:p>
          <a:p>
            <a:r>
              <a:rPr lang="en-US" dirty="0"/>
              <a:t>Light is a </a:t>
            </a:r>
          </a:p>
          <a:p>
            <a:r>
              <a:rPr lang="en-US" dirty="0"/>
              <a:t>quantized wave</a:t>
            </a:r>
          </a:p>
        </p:txBody>
      </p:sp>
      <p:cxnSp>
        <p:nvCxnSpPr>
          <p:cNvPr id="51" name="Straight Connector 50">
            <a:extLst>
              <a:ext uri="{FF2B5EF4-FFF2-40B4-BE49-F238E27FC236}">
                <a16:creationId xmlns:a16="http://schemas.microsoft.com/office/drawing/2014/main" id="{B2C59F69-F22F-680A-AA24-8E7297DC7730}"/>
              </a:ext>
            </a:extLst>
          </p:cNvPr>
          <p:cNvCxnSpPr>
            <a:cxnSpLocks/>
          </p:cNvCxnSpPr>
          <p:nvPr/>
        </p:nvCxnSpPr>
        <p:spPr>
          <a:xfrm flipH="1" flipV="1">
            <a:off x="7886287" y="3075038"/>
            <a:ext cx="769285" cy="722496"/>
          </a:xfrm>
          <a:prstGeom prst="line">
            <a:avLst/>
          </a:prstGeom>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64575534-B3CE-57FE-03BA-FBEC18006799}"/>
              </a:ext>
            </a:extLst>
          </p:cNvPr>
          <p:cNvCxnSpPr>
            <a:cxnSpLocks/>
          </p:cNvCxnSpPr>
          <p:nvPr/>
        </p:nvCxnSpPr>
        <p:spPr>
          <a:xfrm flipH="1">
            <a:off x="7969956" y="2216207"/>
            <a:ext cx="1432685" cy="741476"/>
          </a:xfrm>
          <a:prstGeom prst="line">
            <a:avLst/>
          </a:prstGeom>
        </p:spPr>
        <p:style>
          <a:lnRef idx="1">
            <a:schemeClr val="accent1"/>
          </a:lnRef>
          <a:fillRef idx="0">
            <a:schemeClr val="accent1"/>
          </a:fillRef>
          <a:effectRef idx="0">
            <a:schemeClr val="accent1"/>
          </a:effectRef>
          <a:fontRef idx="minor">
            <a:schemeClr val="tx1"/>
          </a:fontRef>
        </p:style>
      </p:cxnSp>
      <p:sp>
        <p:nvSpPr>
          <p:cNvPr id="56" name="Rectangle 55">
            <a:extLst>
              <a:ext uri="{FF2B5EF4-FFF2-40B4-BE49-F238E27FC236}">
                <a16:creationId xmlns:a16="http://schemas.microsoft.com/office/drawing/2014/main" id="{0EBA10CF-61A3-6DB3-7432-D244F08B38F2}"/>
              </a:ext>
            </a:extLst>
          </p:cNvPr>
          <p:cNvSpPr/>
          <p:nvPr/>
        </p:nvSpPr>
        <p:spPr>
          <a:xfrm>
            <a:off x="7930445" y="2971797"/>
            <a:ext cx="79022" cy="112889"/>
          </a:xfrm>
          <a:prstGeom prst="rect">
            <a:avLst/>
          </a:prstGeom>
          <a:solidFill>
            <a:schemeClr val="accent4">
              <a:lumMod val="75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57" name="TextBox 56">
            <a:extLst>
              <a:ext uri="{FF2B5EF4-FFF2-40B4-BE49-F238E27FC236}">
                <a16:creationId xmlns:a16="http://schemas.microsoft.com/office/drawing/2014/main" id="{F0765092-4B1D-AD13-82C4-73E4ED9EE09A}"/>
              </a:ext>
            </a:extLst>
          </p:cNvPr>
          <p:cNvSpPr txBox="1"/>
          <p:nvPr/>
        </p:nvSpPr>
        <p:spPr>
          <a:xfrm>
            <a:off x="9544730" y="1413366"/>
            <a:ext cx="1741246" cy="1200329"/>
          </a:xfrm>
          <a:prstGeom prst="rect">
            <a:avLst/>
          </a:prstGeom>
          <a:noFill/>
        </p:spPr>
        <p:txBody>
          <a:bodyPr wrap="none" rtlCol="0">
            <a:spAutoFit/>
          </a:bodyPr>
          <a:lstStyle/>
          <a:p>
            <a:r>
              <a:rPr lang="en-US" dirty="0"/>
              <a:t>Einstein:</a:t>
            </a:r>
          </a:p>
          <a:p>
            <a:r>
              <a:rPr lang="en-US" dirty="0"/>
              <a:t>Light is a </a:t>
            </a:r>
          </a:p>
          <a:p>
            <a:r>
              <a:rPr lang="en-US" dirty="0"/>
              <a:t>limited EM wave</a:t>
            </a:r>
          </a:p>
          <a:p>
            <a:r>
              <a:rPr lang="en-US" dirty="0"/>
              <a:t>called a Photon</a:t>
            </a:r>
          </a:p>
        </p:txBody>
      </p:sp>
      <p:sp>
        <p:nvSpPr>
          <p:cNvPr id="58" name="TextBox 57">
            <a:extLst>
              <a:ext uri="{FF2B5EF4-FFF2-40B4-BE49-F238E27FC236}">
                <a16:creationId xmlns:a16="http://schemas.microsoft.com/office/drawing/2014/main" id="{6FE00940-9715-2046-D1C0-96DFF4EBCABB}"/>
              </a:ext>
            </a:extLst>
          </p:cNvPr>
          <p:cNvSpPr txBox="1"/>
          <p:nvPr/>
        </p:nvSpPr>
        <p:spPr>
          <a:xfrm>
            <a:off x="10433313" y="3510044"/>
            <a:ext cx="1365567" cy="646331"/>
          </a:xfrm>
          <a:prstGeom prst="rect">
            <a:avLst/>
          </a:prstGeom>
          <a:noFill/>
        </p:spPr>
        <p:txBody>
          <a:bodyPr wrap="none" rtlCol="0">
            <a:spAutoFit/>
          </a:bodyPr>
          <a:lstStyle/>
          <a:p>
            <a:r>
              <a:rPr lang="en-US" dirty="0"/>
              <a:t>You:</a:t>
            </a:r>
          </a:p>
          <a:p>
            <a:r>
              <a:rPr lang="en-US" dirty="0"/>
              <a:t>Studied light</a:t>
            </a:r>
          </a:p>
        </p:txBody>
      </p:sp>
      <p:sp>
        <p:nvSpPr>
          <p:cNvPr id="59" name="Rectangle 58">
            <a:extLst>
              <a:ext uri="{FF2B5EF4-FFF2-40B4-BE49-F238E27FC236}">
                <a16:creationId xmlns:a16="http://schemas.microsoft.com/office/drawing/2014/main" id="{D278D71A-3853-A90F-479D-C82618C98CB1}"/>
              </a:ext>
            </a:extLst>
          </p:cNvPr>
          <p:cNvSpPr/>
          <p:nvPr/>
        </p:nvSpPr>
        <p:spPr>
          <a:xfrm>
            <a:off x="9917288" y="2971797"/>
            <a:ext cx="79022" cy="112889"/>
          </a:xfrm>
          <a:prstGeom prst="rect">
            <a:avLst/>
          </a:prstGeom>
          <a:solidFill>
            <a:srgbClr val="FF0000"/>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cxnSp>
        <p:nvCxnSpPr>
          <p:cNvPr id="60" name="Straight Connector 59">
            <a:extLst>
              <a:ext uri="{FF2B5EF4-FFF2-40B4-BE49-F238E27FC236}">
                <a16:creationId xmlns:a16="http://schemas.microsoft.com/office/drawing/2014/main" id="{B6BE7769-9668-8CC9-E87B-CC0025B2DCF6}"/>
              </a:ext>
            </a:extLst>
          </p:cNvPr>
          <p:cNvCxnSpPr>
            <a:cxnSpLocks/>
          </p:cNvCxnSpPr>
          <p:nvPr/>
        </p:nvCxnSpPr>
        <p:spPr>
          <a:xfrm flipH="1" flipV="1">
            <a:off x="10007600" y="3069362"/>
            <a:ext cx="824820" cy="496745"/>
          </a:xfrm>
          <a:prstGeom prst="line">
            <a:avLst/>
          </a:prstGeom>
        </p:spPr>
        <p:style>
          <a:lnRef idx="1">
            <a:schemeClr val="accent1"/>
          </a:lnRef>
          <a:fillRef idx="0">
            <a:schemeClr val="accent1"/>
          </a:fillRef>
          <a:effectRef idx="0">
            <a:schemeClr val="accent1"/>
          </a:effectRef>
          <a:fontRef idx="minor">
            <a:schemeClr val="tx1"/>
          </a:fontRef>
        </p:style>
      </p:cxnSp>
      <p:sp>
        <p:nvSpPr>
          <p:cNvPr id="64" name="TextBox 63">
            <a:extLst>
              <a:ext uri="{FF2B5EF4-FFF2-40B4-BE49-F238E27FC236}">
                <a16:creationId xmlns:a16="http://schemas.microsoft.com/office/drawing/2014/main" id="{A20013D6-6D98-1924-EAEB-F60E496B7E9D}"/>
              </a:ext>
            </a:extLst>
          </p:cNvPr>
          <p:cNvSpPr txBox="1"/>
          <p:nvPr/>
        </p:nvSpPr>
        <p:spPr>
          <a:xfrm flipH="1">
            <a:off x="2806861" y="3908862"/>
            <a:ext cx="1381314" cy="1200329"/>
          </a:xfrm>
          <a:prstGeom prst="rect">
            <a:avLst/>
          </a:prstGeom>
          <a:noFill/>
        </p:spPr>
        <p:txBody>
          <a:bodyPr wrap="square" rtlCol="0">
            <a:spAutoFit/>
          </a:bodyPr>
          <a:lstStyle/>
          <a:p>
            <a:r>
              <a:rPr lang="en-US" dirty="0"/>
              <a:t>Romer: measures speed of light</a:t>
            </a:r>
          </a:p>
        </p:txBody>
      </p:sp>
      <p:cxnSp>
        <p:nvCxnSpPr>
          <p:cNvPr id="65" name="Straight Connector 64">
            <a:extLst>
              <a:ext uri="{FF2B5EF4-FFF2-40B4-BE49-F238E27FC236}">
                <a16:creationId xmlns:a16="http://schemas.microsoft.com/office/drawing/2014/main" id="{6B482324-C250-F07F-901C-EE65073C063F}"/>
              </a:ext>
            </a:extLst>
          </p:cNvPr>
          <p:cNvCxnSpPr>
            <a:cxnSpLocks/>
            <a:endCxn id="63" idx="1"/>
          </p:cNvCxnSpPr>
          <p:nvPr/>
        </p:nvCxnSpPr>
        <p:spPr>
          <a:xfrm flipV="1">
            <a:off x="3228622" y="3028242"/>
            <a:ext cx="807152" cy="880620"/>
          </a:xfrm>
          <a:prstGeom prst="line">
            <a:avLst/>
          </a:prstGeom>
        </p:spPr>
        <p:style>
          <a:lnRef idx="1">
            <a:schemeClr val="accent1"/>
          </a:lnRef>
          <a:fillRef idx="0">
            <a:schemeClr val="accent1"/>
          </a:fillRef>
          <a:effectRef idx="0">
            <a:schemeClr val="accent1"/>
          </a:effectRef>
          <a:fontRef idx="minor">
            <a:schemeClr val="tx1"/>
          </a:fontRef>
        </p:style>
      </p:cxnSp>
      <p:sp>
        <p:nvSpPr>
          <p:cNvPr id="68" name="Rectangle 67">
            <a:extLst>
              <a:ext uri="{FF2B5EF4-FFF2-40B4-BE49-F238E27FC236}">
                <a16:creationId xmlns:a16="http://schemas.microsoft.com/office/drawing/2014/main" id="{075463C8-2418-13CF-8C9C-2750EAA75A96}"/>
              </a:ext>
            </a:extLst>
          </p:cNvPr>
          <p:cNvSpPr/>
          <p:nvPr/>
        </p:nvSpPr>
        <p:spPr>
          <a:xfrm>
            <a:off x="2438401" y="2971797"/>
            <a:ext cx="79022" cy="112889"/>
          </a:xfrm>
          <a:prstGeom prst="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TextBox 68">
            <a:extLst>
              <a:ext uri="{FF2B5EF4-FFF2-40B4-BE49-F238E27FC236}">
                <a16:creationId xmlns:a16="http://schemas.microsoft.com/office/drawing/2014/main" id="{8878CDA4-B639-D8EC-CAAF-BF48DDDE939C}"/>
              </a:ext>
            </a:extLst>
          </p:cNvPr>
          <p:cNvSpPr txBox="1"/>
          <p:nvPr/>
        </p:nvSpPr>
        <p:spPr>
          <a:xfrm flipH="1">
            <a:off x="939967" y="3429000"/>
            <a:ext cx="1381314" cy="1477328"/>
          </a:xfrm>
          <a:prstGeom prst="rect">
            <a:avLst/>
          </a:prstGeom>
          <a:noFill/>
        </p:spPr>
        <p:txBody>
          <a:bodyPr wrap="square" rtlCol="0">
            <a:spAutoFit/>
          </a:bodyPr>
          <a:lstStyle/>
          <a:p>
            <a:r>
              <a:rPr lang="en-US" dirty="0"/>
              <a:t>Galileo: Doesn’t measure speed of light</a:t>
            </a:r>
          </a:p>
        </p:txBody>
      </p:sp>
      <p:cxnSp>
        <p:nvCxnSpPr>
          <p:cNvPr id="70" name="Straight Connector 69">
            <a:extLst>
              <a:ext uri="{FF2B5EF4-FFF2-40B4-BE49-F238E27FC236}">
                <a16:creationId xmlns:a16="http://schemas.microsoft.com/office/drawing/2014/main" id="{3BA260CE-4F6F-662D-E961-F28D984EA2A9}"/>
              </a:ext>
            </a:extLst>
          </p:cNvPr>
          <p:cNvCxnSpPr>
            <a:cxnSpLocks/>
            <a:endCxn id="68" idx="2"/>
          </p:cNvCxnSpPr>
          <p:nvPr/>
        </p:nvCxnSpPr>
        <p:spPr>
          <a:xfrm flipV="1">
            <a:off x="1461911" y="3084686"/>
            <a:ext cx="1016001" cy="376996"/>
          </a:xfrm>
          <a:prstGeom prst="line">
            <a:avLst/>
          </a:prstGeom>
        </p:spPr>
        <p:style>
          <a:lnRef idx="1">
            <a:schemeClr val="accent1"/>
          </a:lnRef>
          <a:fillRef idx="0">
            <a:schemeClr val="accent1"/>
          </a:fillRef>
          <a:effectRef idx="0">
            <a:schemeClr val="accent1"/>
          </a:effectRef>
          <a:fontRef idx="minor">
            <a:schemeClr val="tx1"/>
          </a:fontRef>
        </p:style>
      </p:cxnSp>
      <p:sp>
        <p:nvSpPr>
          <p:cNvPr id="72" name="Rectangle 71">
            <a:extLst>
              <a:ext uri="{FF2B5EF4-FFF2-40B4-BE49-F238E27FC236}">
                <a16:creationId xmlns:a16="http://schemas.microsoft.com/office/drawing/2014/main" id="{2A8405B4-AF60-4CBF-53E1-4817735C81AD}"/>
              </a:ext>
            </a:extLst>
          </p:cNvPr>
          <p:cNvSpPr/>
          <p:nvPr/>
        </p:nvSpPr>
        <p:spPr>
          <a:xfrm>
            <a:off x="6952260" y="2971797"/>
            <a:ext cx="79022" cy="112889"/>
          </a:xfrm>
          <a:prstGeom prst="rect">
            <a:avLst/>
          </a:prstGeom>
          <a:solidFill>
            <a:srgbClr val="7030A0"/>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73" name="TextBox 72">
            <a:extLst>
              <a:ext uri="{FF2B5EF4-FFF2-40B4-BE49-F238E27FC236}">
                <a16:creationId xmlns:a16="http://schemas.microsoft.com/office/drawing/2014/main" id="{A5933BFE-503B-436E-3340-7280C42F1238}"/>
              </a:ext>
            </a:extLst>
          </p:cNvPr>
          <p:cNvSpPr txBox="1"/>
          <p:nvPr/>
        </p:nvSpPr>
        <p:spPr>
          <a:xfrm flipH="1">
            <a:off x="7050208" y="4509026"/>
            <a:ext cx="1203788" cy="1200329"/>
          </a:xfrm>
          <a:prstGeom prst="rect">
            <a:avLst/>
          </a:prstGeom>
          <a:noFill/>
        </p:spPr>
        <p:txBody>
          <a:bodyPr wrap="square" rtlCol="0">
            <a:spAutoFit/>
          </a:bodyPr>
          <a:lstStyle/>
          <a:p>
            <a:r>
              <a:rPr lang="en-US" dirty="0"/>
              <a:t>Fizeau: Measures speed of light</a:t>
            </a:r>
          </a:p>
        </p:txBody>
      </p:sp>
      <p:cxnSp>
        <p:nvCxnSpPr>
          <p:cNvPr id="75" name="Straight Connector 74">
            <a:extLst>
              <a:ext uri="{FF2B5EF4-FFF2-40B4-BE49-F238E27FC236}">
                <a16:creationId xmlns:a16="http://schemas.microsoft.com/office/drawing/2014/main" id="{CBC4BD43-9727-54F6-D206-E937F105B5DD}"/>
              </a:ext>
            </a:extLst>
          </p:cNvPr>
          <p:cNvCxnSpPr>
            <a:cxnSpLocks/>
            <a:endCxn id="72" idx="2"/>
          </p:cNvCxnSpPr>
          <p:nvPr/>
        </p:nvCxnSpPr>
        <p:spPr>
          <a:xfrm flipH="1" flipV="1">
            <a:off x="6991771" y="3084686"/>
            <a:ext cx="390493" cy="152569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7602960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ooter Placeholder 4"/>
          <p:cNvSpPr>
            <a:spLocks noGrp="1"/>
          </p:cNvSpPr>
          <p:nvPr>
            <p:ph type="ftr" sz="quarter" idx="11"/>
          </p:nvPr>
        </p:nvSpPr>
        <p:spPr/>
        <p:txBody>
          <a:bodyPr/>
          <a:lstStyle/>
          <a:p>
            <a:r>
              <a:rPr lang="en-US"/>
              <a:t>R. Todd Lines</a:t>
            </a:r>
          </a:p>
        </p:txBody>
      </p:sp>
      <p:sp>
        <p:nvSpPr>
          <p:cNvPr id="8194" name="Rectangle 2"/>
          <p:cNvSpPr>
            <a:spLocks noGrp="1" noChangeArrowheads="1"/>
          </p:cNvSpPr>
          <p:nvPr>
            <p:ph type="title"/>
          </p:nvPr>
        </p:nvSpPr>
        <p:spPr/>
        <p:txBody>
          <a:bodyPr/>
          <a:lstStyle/>
          <a:p>
            <a:r>
              <a:rPr lang="en-US"/>
              <a:t>Particle Nature</a:t>
            </a:r>
          </a:p>
        </p:txBody>
      </p:sp>
      <p:sp>
        <p:nvSpPr>
          <p:cNvPr id="8195" name="Rectangle 3"/>
          <p:cNvSpPr>
            <a:spLocks noGrp="1" noChangeArrowheads="1"/>
          </p:cNvSpPr>
          <p:nvPr>
            <p:ph type="body" idx="1"/>
          </p:nvPr>
        </p:nvSpPr>
        <p:spPr/>
        <p:txBody>
          <a:bodyPr/>
          <a:lstStyle/>
          <a:p>
            <a:pPr>
              <a:lnSpc>
                <a:spcPct val="90000"/>
              </a:lnSpc>
            </a:pPr>
            <a:r>
              <a:rPr lang="en-US" dirty="0"/>
              <a:t>Some experiments could not be explained by the wave nature of light</a:t>
            </a:r>
          </a:p>
          <a:p>
            <a:pPr>
              <a:lnSpc>
                <a:spcPct val="90000"/>
              </a:lnSpc>
            </a:pPr>
            <a:r>
              <a:rPr lang="en-US" dirty="0"/>
              <a:t>The photoelectric effect was a major phenomenon not explained by waves</a:t>
            </a:r>
          </a:p>
          <a:p>
            <a:pPr lvl="1">
              <a:lnSpc>
                <a:spcPct val="90000"/>
              </a:lnSpc>
            </a:pPr>
            <a:r>
              <a:rPr lang="en-US" dirty="0"/>
              <a:t>When light strikes a metal surface, electrons are sometimes ejected from the surface</a:t>
            </a:r>
          </a:p>
          <a:p>
            <a:pPr lvl="1">
              <a:lnSpc>
                <a:spcPct val="90000"/>
              </a:lnSpc>
            </a:pPr>
            <a:r>
              <a:rPr lang="en-US" dirty="0"/>
              <a:t>The kinetic energy of the ejected electron is independent of the frequency of the light</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n 3"/>
          <p:cNvSpPr/>
          <p:nvPr/>
        </p:nvSpPr>
        <p:spPr>
          <a:xfrm rot="16200000">
            <a:off x="5809371" y="-435517"/>
            <a:ext cx="3124200" cy="5334000"/>
          </a:xfrm>
          <a:prstGeom prst="can">
            <a:avLst>
              <a:gd name="adj" fmla="val 13743"/>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2" name="Group 486"/>
          <p:cNvGrpSpPr/>
          <p:nvPr/>
        </p:nvGrpSpPr>
        <p:grpSpPr>
          <a:xfrm>
            <a:off x="7390228" y="2054990"/>
            <a:ext cx="1831058" cy="350199"/>
            <a:chOff x="1228054" y="3000375"/>
            <a:chExt cx="1831058" cy="736334"/>
          </a:xfrm>
        </p:grpSpPr>
        <p:grpSp>
          <p:nvGrpSpPr>
            <p:cNvPr id="3" name="Group 385"/>
            <p:cNvGrpSpPr/>
            <p:nvPr/>
          </p:nvGrpSpPr>
          <p:grpSpPr>
            <a:xfrm>
              <a:off x="1228054" y="3003284"/>
              <a:ext cx="915988" cy="733425"/>
              <a:chOff x="1228054" y="3003284"/>
              <a:chExt cx="915988" cy="733425"/>
            </a:xfrm>
          </p:grpSpPr>
          <p:sp>
            <p:nvSpPr>
              <p:cNvPr id="197" name="Line 8"/>
              <p:cNvSpPr>
                <a:spLocks noChangeShapeType="1"/>
              </p:cNvSpPr>
              <p:nvPr/>
            </p:nvSpPr>
            <p:spPr bwMode="auto">
              <a:xfrm flipV="1">
                <a:off x="1228054" y="333507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98" name="Line 9"/>
              <p:cNvSpPr>
                <a:spLocks noChangeShapeType="1"/>
              </p:cNvSpPr>
              <p:nvPr/>
            </p:nvSpPr>
            <p:spPr bwMode="auto">
              <a:xfrm flipV="1">
                <a:off x="1237579"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99" name="Line 10"/>
              <p:cNvSpPr>
                <a:spLocks noChangeShapeType="1"/>
              </p:cNvSpPr>
              <p:nvPr/>
            </p:nvSpPr>
            <p:spPr bwMode="auto">
              <a:xfrm flipV="1">
                <a:off x="1247104"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00" name="Line 11"/>
              <p:cNvSpPr>
                <a:spLocks noChangeShapeType="1"/>
              </p:cNvSpPr>
              <p:nvPr/>
            </p:nvSpPr>
            <p:spPr bwMode="auto">
              <a:xfrm flipV="1">
                <a:off x="1256629"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01" name="Line 12"/>
              <p:cNvSpPr>
                <a:spLocks noChangeShapeType="1"/>
              </p:cNvSpPr>
              <p:nvPr/>
            </p:nvSpPr>
            <p:spPr bwMode="auto">
              <a:xfrm flipV="1">
                <a:off x="1266154" y="320172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02" name="Line 13"/>
              <p:cNvSpPr>
                <a:spLocks noChangeShapeType="1"/>
              </p:cNvSpPr>
              <p:nvPr/>
            </p:nvSpPr>
            <p:spPr bwMode="auto">
              <a:xfrm flipV="1">
                <a:off x="1275679" y="3171559"/>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03" name="Line 14"/>
              <p:cNvSpPr>
                <a:spLocks noChangeShapeType="1"/>
              </p:cNvSpPr>
              <p:nvPr/>
            </p:nvSpPr>
            <p:spPr bwMode="auto">
              <a:xfrm flipV="1">
                <a:off x="1283617" y="3142984"/>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04" name="Line 15"/>
              <p:cNvSpPr>
                <a:spLocks noChangeShapeType="1"/>
              </p:cNvSpPr>
              <p:nvPr/>
            </p:nvSpPr>
            <p:spPr bwMode="auto">
              <a:xfrm flipV="1">
                <a:off x="1293142"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05" name="Line 16"/>
              <p:cNvSpPr>
                <a:spLocks noChangeShapeType="1"/>
              </p:cNvSpPr>
              <p:nvPr/>
            </p:nvSpPr>
            <p:spPr bwMode="auto">
              <a:xfrm flipV="1">
                <a:off x="1302667"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06" name="Line 17"/>
              <p:cNvSpPr>
                <a:spLocks noChangeShapeType="1"/>
              </p:cNvSpPr>
              <p:nvPr/>
            </p:nvSpPr>
            <p:spPr bwMode="auto">
              <a:xfrm flipV="1">
                <a:off x="1312192" y="3069959"/>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07" name="Line 18"/>
              <p:cNvSpPr>
                <a:spLocks noChangeShapeType="1"/>
              </p:cNvSpPr>
              <p:nvPr/>
            </p:nvSpPr>
            <p:spPr bwMode="auto">
              <a:xfrm flipV="1">
                <a:off x="1321717" y="3050909"/>
                <a:ext cx="7938"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08" name="Line 19"/>
              <p:cNvSpPr>
                <a:spLocks noChangeShapeType="1"/>
              </p:cNvSpPr>
              <p:nvPr/>
            </p:nvSpPr>
            <p:spPr bwMode="auto">
              <a:xfrm flipV="1">
                <a:off x="1329654" y="3035034"/>
                <a:ext cx="9525"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09" name="Line 20"/>
              <p:cNvSpPr>
                <a:spLocks noChangeShapeType="1"/>
              </p:cNvSpPr>
              <p:nvPr/>
            </p:nvSpPr>
            <p:spPr bwMode="auto">
              <a:xfrm flipV="1">
                <a:off x="1339179"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10" name="Line 21"/>
              <p:cNvSpPr>
                <a:spLocks noChangeShapeType="1"/>
              </p:cNvSpPr>
              <p:nvPr/>
            </p:nvSpPr>
            <p:spPr bwMode="auto">
              <a:xfrm flipV="1">
                <a:off x="1348704"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11" name="Line 22"/>
              <p:cNvSpPr>
                <a:spLocks noChangeShapeType="1"/>
              </p:cNvSpPr>
              <p:nvPr/>
            </p:nvSpPr>
            <p:spPr bwMode="auto">
              <a:xfrm flipV="1">
                <a:off x="1358229"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12" name="Line 23"/>
              <p:cNvSpPr>
                <a:spLocks noChangeShapeType="1"/>
              </p:cNvSpPr>
              <p:nvPr/>
            </p:nvSpPr>
            <p:spPr bwMode="auto">
              <a:xfrm flipV="1">
                <a:off x="1367754" y="3003284"/>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13" name="Line 24"/>
              <p:cNvSpPr>
                <a:spLocks noChangeShapeType="1"/>
              </p:cNvSpPr>
              <p:nvPr/>
            </p:nvSpPr>
            <p:spPr bwMode="auto">
              <a:xfrm>
                <a:off x="1377279" y="3003284"/>
                <a:ext cx="7938" cy="15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14" name="Line 25"/>
              <p:cNvSpPr>
                <a:spLocks noChangeShapeType="1"/>
              </p:cNvSpPr>
              <p:nvPr/>
            </p:nvSpPr>
            <p:spPr bwMode="auto">
              <a:xfrm>
                <a:off x="1385217" y="3003284"/>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15" name="Line 26"/>
              <p:cNvSpPr>
                <a:spLocks noChangeShapeType="1"/>
              </p:cNvSpPr>
              <p:nvPr/>
            </p:nvSpPr>
            <p:spPr bwMode="auto">
              <a:xfrm>
                <a:off x="1394742"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16" name="Line 27"/>
              <p:cNvSpPr>
                <a:spLocks noChangeShapeType="1"/>
              </p:cNvSpPr>
              <p:nvPr/>
            </p:nvSpPr>
            <p:spPr bwMode="auto">
              <a:xfrm>
                <a:off x="1404267"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17" name="Line 28"/>
              <p:cNvSpPr>
                <a:spLocks noChangeShapeType="1"/>
              </p:cNvSpPr>
              <p:nvPr/>
            </p:nvSpPr>
            <p:spPr bwMode="auto">
              <a:xfrm>
                <a:off x="1413792"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18" name="Line 29"/>
              <p:cNvSpPr>
                <a:spLocks noChangeShapeType="1"/>
              </p:cNvSpPr>
              <p:nvPr/>
            </p:nvSpPr>
            <p:spPr bwMode="auto">
              <a:xfrm>
                <a:off x="1423317" y="3035034"/>
                <a:ext cx="7938"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19" name="Line 30"/>
              <p:cNvSpPr>
                <a:spLocks noChangeShapeType="1"/>
              </p:cNvSpPr>
              <p:nvPr/>
            </p:nvSpPr>
            <p:spPr bwMode="auto">
              <a:xfrm>
                <a:off x="1431254" y="3050909"/>
                <a:ext cx="9525"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20" name="Line 31"/>
              <p:cNvSpPr>
                <a:spLocks noChangeShapeType="1"/>
              </p:cNvSpPr>
              <p:nvPr/>
            </p:nvSpPr>
            <p:spPr bwMode="auto">
              <a:xfrm>
                <a:off x="1440779" y="3069959"/>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21" name="Line 32"/>
              <p:cNvSpPr>
                <a:spLocks noChangeShapeType="1"/>
              </p:cNvSpPr>
              <p:nvPr/>
            </p:nvSpPr>
            <p:spPr bwMode="auto">
              <a:xfrm>
                <a:off x="1450304"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22" name="Line 33"/>
              <p:cNvSpPr>
                <a:spLocks noChangeShapeType="1"/>
              </p:cNvSpPr>
              <p:nvPr/>
            </p:nvSpPr>
            <p:spPr bwMode="auto">
              <a:xfrm>
                <a:off x="1459829"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23" name="Line 34"/>
              <p:cNvSpPr>
                <a:spLocks noChangeShapeType="1"/>
              </p:cNvSpPr>
              <p:nvPr/>
            </p:nvSpPr>
            <p:spPr bwMode="auto">
              <a:xfrm>
                <a:off x="1469354" y="3142984"/>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24" name="Line 35"/>
              <p:cNvSpPr>
                <a:spLocks noChangeShapeType="1"/>
              </p:cNvSpPr>
              <p:nvPr/>
            </p:nvSpPr>
            <p:spPr bwMode="auto">
              <a:xfrm>
                <a:off x="1478879" y="3171559"/>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25" name="Line 36"/>
              <p:cNvSpPr>
                <a:spLocks noChangeShapeType="1"/>
              </p:cNvSpPr>
              <p:nvPr/>
            </p:nvSpPr>
            <p:spPr bwMode="auto">
              <a:xfrm>
                <a:off x="1486817" y="320172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26" name="Line 37"/>
              <p:cNvSpPr>
                <a:spLocks noChangeShapeType="1"/>
              </p:cNvSpPr>
              <p:nvPr/>
            </p:nvSpPr>
            <p:spPr bwMode="auto">
              <a:xfrm>
                <a:off x="1496342"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27" name="Line 38"/>
              <p:cNvSpPr>
                <a:spLocks noChangeShapeType="1"/>
              </p:cNvSpPr>
              <p:nvPr/>
            </p:nvSpPr>
            <p:spPr bwMode="auto">
              <a:xfrm>
                <a:off x="1505867"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28" name="Line 39"/>
              <p:cNvSpPr>
                <a:spLocks noChangeShapeType="1"/>
              </p:cNvSpPr>
              <p:nvPr/>
            </p:nvSpPr>
            <p:spPr bwMode="auto">
              <a:xfrm>
                <a:off x="1515392"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29" name="Line 40"/>
              <p:cNvSpPr>
                <a:spLocks noChangeShapeType="1"/>
              </p:cNvSpPr>
              <p:nvPr/>
            </p:nvSpPr>
            <p:spPr bwMode="auto">
              <a:xfrm>
                <a:off x="1524917" y="3335071"/>
                <a:ext cx="7938"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30" name="Line 41"/>
              <p:cNvSpPr>
                <a:spLocks noChangeShapeType="1"/>
              </p:cNvSpPr>
              <p:nvPr/>
            </p:nvSpPr>
            <p:spPr bwMode="auto">
              <a:xfrm>
                <a:off x="1532854" y="33699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31" name="Line 42"/>
              <p:cNvSpPr>
                <a:spLocks noChangeShapeType="1"/>
              </p:cNvSpPr>
              <p:nvPr/>
            </p:nvSpPr>
            <p:spPr bwMode="auto">
              <a:xfrm>
                <a:off x="1542379" y="3403334"/>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32" name="Line 43"/>
              <p:cNvSpPr>
                <a:spLocks noChangeShapeType="1"/>
              </p:cNvSpPr>
              <p:nvPr/>
            </p:nvSpPr>
            <p:spPr bwMode="auto">
              <a:xfrm>
                <a:off x="1551904" y="3438259"/>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33" name="Line 44"/>
              <p:cNvSpPr>
                <a:spLocks noChangeShapeType="1"/>
              </p:cNvSpPr>
              <p:nvPr/>
            </p:nvSpPr>
            <p:spPr bwMode="auto">
              <a:xfrm>
                <a:off x="1561429" y="34715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34" name="Line 45"/>
              <p:cNvSpPr>
                <a:spLocks noChangeShapeType="1"/>
              </p:cNvSpPr>
              <p:nvPr/>
            </p:nvSpPr>
            <p:spPr bwMode="auto">
              <a:xfrm>
                <a:off x="1570954" y="3504934"/>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35" name="Line 46"/>
              <p:cNvSpPr>
                <a:spLocks noChangeShapeType="1"/>
              </p:cNvSpPr>
              <p:nvPr/>
            </p:nvSpPr>
            <p:spPr bwMode="auto">
              <a:xfrm>
                <a:off x="1580479" y="3536684"/>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36" name="Line 47"/>
              <p:cNvSpPr>
                <a:spLocks noChangeShapeType="1"/>
              </p:cNvSpPr>
              <p:nvPr/>
            </p:nvSpPr>
            <p:spPr bwMode="auto">
              <a:xfrm>
                <a:off x="1588417" y="3566846"/>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37" name="Line 48"/>
              <p:cNvSpPr>
                <a:spLocks noChangeShapeType="1"/>
              </p:cNvSpPr>
              <p:nvPr/>
            </p:nvSpPr>
            <p:spPr bwMode="auto">
              <a:xfrm>
                <a:off x="1597942" y="3595421"/>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38" name="Line 49"/>
              <p:cNvSpPr>
                <a:spLocks noChangeShapeType="1"/>
              </p:cNvSpPr>
              <p:nvPr/>
            </p:nvSpPr>
            <p:spPr bwMode="auto">
              <a:xfrm>
                <a:off x="1607467" y="3622409"/>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39" name="Line 50"/>
              <p:cNvSpPr>
                <a:spLocks noChangeShapeType="1"/>
              </p:cNvSpPr>
              <p:nvPr/>
            </p:nvSpPr>
            <p:spPr bwMode="auto">
              <a:xfrm>
                <a:off x="1616992" y="3646221"/>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40" name="Line 51"/>
              <p:cNvSpPr>
                <a:spLocks noChangeShapeType="1"/>
              </p:cNvSpPr>
              <p:nvPr/>
            </p:nvSpPr>
            <p:spPr bwMode="auto">
              <a:xfrm>
                <a:off x="1626517" y="3668446"/>
                <a:ext cx="7938"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41" name="Line 52"/>
              <p:cNvSpPr>
                <a:spLocks noChangeShapeType="1"/>
              </p:cNvSpPr>
              <p:nvPr/>
            </p:nvSpPr>
            <p:spPr bwMode="auto">
              <a:xfrm>
                <a:off x="1634454" y="3685909"/>
                <a:ext cx="9525"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42" name="Line 53"/>
              <p:cNvSpPr>
                <a:spLocks noChangeShapeType="1"/>
              </p:cNvSpPr>
              <p:nvPr/>
            </p:nvSpPr>
            <p:spPr bwMode="auto">
              <a:xfrm>
                <a:off x="1643979" y="3703371"/>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43" name="Line 54"/>
              <p:cNvSpPr>
                <a:spLocks noChangeShapeType="1"/>
              </p:cNvSpPr>
              <p:nvPr/>
            </p:nvSpPr>
            <p:spPr bwMode="auto">
              <a:xfrm>
                <a:off x="1653504" y="3716071"/>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44" name="Line 55"/>
              <p:cNvSpPr>
                <a:spLocks noChangeShapeType="1"/>
              </p:cNvSpPr>
              <p:nvPr/>
            </p:nvSpPr>
            <p:spPr bwMode="auto">
              <a:xfrm>
                <a:off x="1663029" y="3725596"/>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45" name="Line 56"/>
              <p:cNvSpPr>
                <a:spLocks noChangeShapeType="1"/>
              </p:cNvSpPr>
              <p:nvPr/>
            </p:nvSpPr>
            <p:spPr bwMode="auto">
              <a:xfrm>
                <a:off x="1672554" y="3731946"/>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46" name="Line 57"/>
              <p:cNvSpPr>
                <a:spLocks noChangeShapeType="1"/>
              </p:cNvSpPr>
              <p:nvPr/>
            </p:nvSpPr>
            <p:spPr bwMode="auto">
              <a:xfrm>
                <a:off x="1682079" y="3735121"/>
                <a:ext cx="7938" cy="15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47" name="Line 58"/>
              <p:cNvSpPr>
                <a:spLocks noChangeShapeType="1"/>
              </p:cNvSpPr>
              <p:nvPr/>
            </p:nvSpPr>
            <p:spPr bwMode="auto">
              <a:xfrm flipV="1">
                <a:off x="1690017" y="3731946"/>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48" name="Line 59"/>
              <p:cNvSpPr>
                <a:spLocks noChangeShapeType="1"/>
              </p:cNvSpPr>
              <p:nvPr/>
            </p:nvSpPr>
            <p:spPr bwMode="auto">
              <a:xfrm flipV="1">
                <a:off x="1699542" y="3725596"/>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49" name="Line 60"/>
              <p:cNvSpPr>
                <a:spLocks noChangeShapeType="1"/>
              </p:cNvSpPr>
              <p:nvPr/>
            </p:nvSpPr>
            <p:spPr bwMode="auto">
              <a:xfrm flipV="1">
                <a:off x="1709067" y="3716071"/>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50" name="Line 61"/>
              <p:cNvSpPr>
                <a:spLocks noChangeShapeType="1"/>
              </p:cNvSpPr>
              <p:nvPr/>
            </p:nvSpPr>
            <p:spPr bwMode="auto">
              <a:xfrm flipV="1">
                <a:off x="1718592" y="3703371"/>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51" name="Line 62"/>
              <p:cNvSpPr>
                <a:spLocks noChangeShapeType="1"/>
              </p:cNvSpPr>
              <p:nvPr/>
            </p:nvSpPr>
            <p:spPr bwMode="auto">
              <a:xfrm flipV="1">
                <a:off x="1728117" y="3685909"/>
                <a:ext cx="9525"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52" name="Line 63"/>
              <p:cNvSpPr>
                <a:spLocks noChangeShapeType="1"/>
              </p:cNvSpPr>
              <p:nvPr/>
            </p:nvSpPr>
            <p:spPr bwMode="auto">
              <a:xfrm flipV="1">
                <a:off x="1737642" y="3668446"/>
                <a:ext cx="7938"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53" name="Line 64"/>
              <p:cNvSpPr>
                <a:spLocks noChangeShapeType="1"/>
              </p:cNvSpPr>
              <p:nvPr/>
            </p:nvSpPr>
            <p:spPr bwMode="auto">
              <a:xfrm flipV="1">
                <a:off x="1745579" y="3646221"/>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54" name="Line 65"/>
              <p:cNvSpPr>
                <a:spLocks noChangeShapeType="1"/>
              </p:cNvSpPr>
              <p:nvPr/>
            </p:nvSpPr>
            <p:spPr bwMode="auto">
              <a:xfrm flipV="1">
                <a:off x="1755104" y="3622409"/>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55" name="Line 66"/>
              <p:cNvSpPr>
                <a:spLocks noChangeShapeType="1"/>
              </p:cNvSpPr>
              <p:nvPr/>
            </p:nvSpPr>
            <p:spPr bwMode="auto">
              <a:xfrm flipV="1">
                <a:off x="1764629" y="3595421"/>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56" name="Line 67"/>
              <p:cNvSpPr>
                <a:spLocks noChangeShapeType="1"/>
              </p:cNvSpPr>
              <p:nvPr/>
            </p:nvSpPr>
            <p:spPr bwMode="auto">
              <a:xfrm flipV="1">
                <a:off x="1774154" y="3566846"/>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57" name="Line 68"/>
              <p:cNvSpPr>
                <a:spLocks noChangeShapeType="1"/>
              </p:cNvSpPr>
              <p:nvPr/>
            </p:nvSpPr>
            <p:spPr bwMode="auto">
              <a:xfrm flipV="1">
                <a:off x="1783679" y="3536684"/>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58" name="Line 69"/>
              <p:cNvSpPr>
                <a:spLocks noChangeShapeType="1"/>
              </p:cNvSpPr>
              <p:nvPr/>
            </p:nvSpPr>
            <p:spPr bwMode="auto">
              <a:xfrm flipV="1">
                <a:off x="1791617" y="3504934"/>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59" name="Line 70"/>
              <p:cNvSpPr>
                <a:spLocks noChangeShapeType="1"/>
              </p:cNvSpPr>
              <p:nvPr/>
            </p:nvSpPr>
            <p:spPr bwMode="auto">
              <a:xfrm flipV="1">
                <a:off x="1801142" y="34715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60" name="Line 71"/>
              <p:cNvSpPr>
                <a:spLocks noChangeShapeType="1"/>
              </p:cNvSpPr>
              <p:nvPr/>
            </p:nvSpPr>
            <p:spPr bwMode="auto">
              <a:xfrm flipV="1">
                <a:off x="1810667" y="3438259"/>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61" name="Line 72"/>
              <p:cNvSpPr>
                <a:spLocks noChangeShapeType="1"/>
              </p:cNvSpPr>
              <p:nvPr/>
            </p:nvSpPr>
            <p:spPr bwMode="auto">
              <a:xfrm flipV="1">
                <a:off x="1820192" y="3403334"/>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62" name="Line 73"/>
              <p:cNvSpPr>
                <a:spLocks noChangeShapeType="1"/>
              </p:cNvSpPr>
              <p:nvPr/>
            </p:nvSpPr>
            <p:spPr bwMode="auto">
              <a:xfrm flipV="1">
                <a:off x="1829717" y="33699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63" name="Line 74"/>
              <p:cNvSpPr>
                <a:spLocks noChangeShapeType="1"/>
              </p:cNvSpPr>
              <p:nvPr/>
            </p:nvSpPr>
            <p:spPr bwMode="auto">
              <a:xfrm flipV="1">
                <a:off x="1839242" y="3335071"/>
                <a:ext cx="7938"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64" name="Line 75"/>
              <p:cNvSpPr>
                <a:spLocks noChangeShapeType="1"/>
              </p:cNvSpPr>
              <p:nvPr/>
            </p:nvSpPr>
            <p:spPr bwMode="auto">
              <a:xfrm flipV="1">
                <a:off x="1847179"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65" name="Line 76"/>
              <p:cNvSpPr>
                <a:spLocks noChangeShapeType="1"/>
              </p:cNvSpPr>
              <p:nvPr/>
            </p:nvSpPr>
            <p:spPr bwMode="auto">
              <a:xfrm flipV="1">
                <a:off x="1856704"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66" name="Line 77"/>
              <p:cNvSpPr>
                <a:spLocks noChangeShapeType="1"/>
              </p:cNvSpPr>
              <p:nvPr/>
            </p:nvSpPr>
            <p:spPr bwMode="auto">
              <a:xfrm flipV="1">
                <a:off x="1866229"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67" name="Line 78"/>
              <p:cNvSpPr>
                <a:spLocks noChangeShapeType="1"/>
              </p:cNvSpPr>
              <p:nvPr/>
            </p:nvSpPr>
            <p:spPr bwMode="auto">
              <a:xfrm flipV="1">
                <a:off x="1875754" y="320172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68" name="Line 79"/>
              <p:cNvSpPr>
                <a:spLocks noChangeShapeType="1"/>
              </p:cNvSpPr>
              <p:nvPr/>
            </p:nvSpPr>
            <p:spPr bwMode="auto">
              <a:xfrm flipV="1">
                <a:off x="1885279" y="3171559"/>
                <a:ext cx="9525"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69" name="Line 80"/>
              <p:cNvSpPr>
                <a:spLocks noChangeShapeType="1"/>
              </p:cNvSpPr>
              <p:nvPr/>
            </p:nvSpPr>
            <p:spPr bwMode="auto">
              <a:xfrm flipV="1">
                <a:off x="1894804" y="3142984"/>
                <a:ext cx="7938"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70" name="Line 81"/>
              <p:cNvSpPr>
                <a:spLocks noChangeShapeType="1"/>
              </p:cNvSpPr>
              <p:nvPr/>
            </p:nvSpPr>
            <p:spPr bwMode="auto">
              <a:xfrm flipV="1">
                <a:off x="1902742"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71" name="Line 82"/>
              <p:cNvSpPr>
                <a:spLocks noChangeShapeType="1"/>
              </p:cNvSpPr>
              <p:nvPr/>
            </p:nvSpPr>
            <p:spPr bwMode="auto">
              <a:xfrm flipV="1">
                <a:off x="1912267"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72" name="Line 83"/>
              <p:cNvSpPr>
                <a:spLocks noChangeShapeType="1"/>
              </p:cNvSpPr>
              <p:nvPr/>
            </p:nvSpPr>
            <p:spPr bwMode="auto">
              <a:xfrm flipV="1">
                <a:off x="1921792" y="3069959"/>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73" name="Line 84"/>
              <p:cNvSpPr>
                <a:spLocks noChangeShapeType="1"/>
              </p:cNvSpPr>
              <p:nvPr/>
            </p:nvSpPr>
            <p:spPr bwMode="auto">
              <a:xfrm flipV="1">
                <a:off x="1931317" y="3050909"/>
                <a:ext cx="9525"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74" name="Line 85"/>
              <p:cNvSpPr>
                <a:spLocks noChangeShapeType="1"/>
              </p:cNvSpPr>
              <p:nvPr/>
            </p:nvSpPr>
            <p:spPr bwMode="auto">
              <a:xfrm flipV="1">
                <a:off x="1940842" y="3035034"/>
                <a:ext cx="7938"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75" name="Line 86"/>
              <p:cNvSpPr>
                <a:spLocks noChangeShapeType="1"/>
              </p:cNvSpPr>
              <p:nvPr/>
            </p:nvSpPr>
            <p:spPr bwMode="auto">
              <a:xfrm flipV="1">
                <a:off x="1948779"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76" name="Line 87"/>
              <p:cNvSpPr>
                <a:spLocks noChangeShapeType="1"/>
              </p:cNvSpPr>
              <p:nvPr/>
            </p:nvSpPr>
            <p:spPr bwMode="auto">
              <a:xfrm flipV="1">
                <a:off x="1958304"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77" name="Line 88"/>
              <p:cNvSpPr>
                <a:spLocks noChangeShapeType="1"/>
              </p:cNvSpPr>
              <p:nvPr/>
            </p:nvSpPr>
            <p:spPr bwMode="auto">
              <a:xfrm flipV="1">
                <a:off x="1967829"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78" name="Line 89"/>
              <p:cNvSpPr>
                <a:spLocks noChangeShapeType="1"/>
              </p:cNvSpPr>
              <p:nvPr/>
            </p:nvSpPr>
            <p:spPr bwMode="auto">
              <a:xfrm flipV="1">
                <a:off x="1977354" y="3003284"/>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79" name="Line 90"/>
              <p:cNvSpPr>
                <a:spLocks noChangeShapeType="1"/>
              </p:cNvSpPr>
              <p:nvPr/>
            </p:nvSpPr>
            <p:spPr bwMode="auto">
              <a:xfrm>
                <a:off x="1986879" y="3003284"/>
                <a:ext cx="9525" cy="15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80" name="Line 91"/>
              <p:cNvSpPr>
                <a:spLocks noChangeShapeType="1"/>
              </p:cNvSpPr>
              <p:nvPr/>
            </p:nvSpPr>
            <p:spPr bwMode="auto">
              <a:xfrm>
                <a:off x="1996404" y="3003284"/>
                <a:ext cx="7938"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81" name="Line 92"/>
              <p:cNvSpPr>
                <a:spLocks noChangeShapeType="1"/>
              </p:cNvSpPr>
              <p:nvPr/>
            </p:nvSpPr>
            <p:spPr bwMode="auto">
              <a:xfrm>
                <a:off x="2004342"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82" name="Line 93"/>
              <p:cNvSpPr>
                <a:spLocks noChangeShapeType="1"/>
              </p:cNvSpPr>
              <p:nvPr/>
            </p:nvSpPr>
            <p:spPr bwMode="auto">
              <a:xfrm>
                <a:off x="2013867"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83" name="Line 94"/>
              <p:cNvSpPr>
                <a:spLocks noChangeShapeType="1"/>
              </p:cNvSpPr>
              <p:nvPr/>
            </p:nvSpPr>
            <p:spPr bwMode="auto">
              <a:xfrm>
                <a:off x="2023392"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84" name="Line 95"/>
              <p:cNvSpPr>
                <a:spLocks noChangeShapeType="1"/>
              </p:cNvSpPr>
              <p:nvPr/>
            </p:nvSpPr>
            <p:spPr bwMode="auto">
              <a:xfrm>
                <a:off x="2032917" y="3035034"/>
                <a:ext cx="9525"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85" name="Line 96"/>
              <p:cNvSpPr>
                <a:spLocks noChangeShapeType="1"/>
              </p:cNvSpPr>
              <p:nvPr/>
            </p:nvSpPr>
            <p:spPr bwMode="auto">
              <a:xfrm>
                <a:off x="2042442" y="3050909"/>
                <a:ext cx="9525"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86" name="Line 97"/>
              <p:cNvSpPr>
                <a:spLocks noChangeShapeType="1"/>
              </p:cNvSpPr>
              <p:nvPr/>
            </p:nvSpPr>
            <p:spPr bwMode="auto">
              <a:xfrm>
                <a:off x="2051967" y="3069959"/>
                <a:ext cx="7938"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87" name="Line 98"/>
              <p:cNvSpPr>
                <a:spLocks noChangeShapeType="1"/>
              </p:cNvSpPr>
              <p:nvPr/>
            </p:nvSpPr>
            <p:spPr bwMode="auto">
              <a:xfrm>
                <a:off x="2059904"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88" name="Line 99"/>
              <p:cNvSpPr>
                <a:spLocks noChangeShapeType="1"/>
              </p:cNvSpPr>
              <p:nvPr/>
            </p:nvSpPr>
            <p:spPr bwMode="auto">
              <a:xfrm>
                <a:off x="2069429"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89" name="Line 100"/>
              <p:cNvSpPr>
                <a:spLocks noChangeShapeType="1"/>
              </p:cNvSpPr>
              <p:nvPr/>
            </p:nvSpPr>
            <p:spPr bwMode="auto">
              <a:xfrm>
                <a:off x="2078954" y="3142984"/>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90" name="Line 101"/>
              <p:cNvSpPr>
                <a:spLocks noChangeShapeType="1"/>
              </p:cNvSpPr>
              <p:nvPr/>
            </p:nvSpPr>
            <p:spPr bwMode="auto">
              <a:xfrm>
                <a:off x="2088479" y="3171559"/>
                <a:ext cx="9525"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91" name="Line 102"/>
              <p:cNvSpPr>
                <a:spLocks noChangeShapeType="1"/>
              </p:cNvSpPr>
              <p:nvPr/>
            </p:nvSpPr>
            <p:spPr bwMode="auto">
              <a:xfrm>
                <a:off x="2098004" y="3201721"/>
                <a:ext cx="7938"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92" name="Line 103"/>
              <p:cNvSpPr>
                <a:spLocks noChangeShapeType="1"/>
              </p:cNvSpPr>
              <p:nvPr/>
            </p:nvSpPr>
            <p:spPr bwMode="auto">
              <a:xfrm>
                <a:off x="2105942"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93" name="Line 104"/>
              <p:cNvSpPr>
                <a:spLocks noChangeShapeType="1"/>
              </p:cNvSpPr>
              <p:nvPr/>
            </p:nvSpPr>
            <p:spPr bwMode="auto">
              <a:xfrm>
                <a:off x="2115467"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94" name="Line 105"/>
              <p:cNvSpPr>
                <a:spLocks noChangeShapeType="1"/>
              </p:cNvSpPr>
              <p:nvPr/>
            </p:nvSpPr>
            <p:spPr bwMode="auto">
              <a:xfrm>
                <a:off x="2124992"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295" name="Line 106"/>
              <p:cNvSpPr>
                <a:spLocks noChangeShapeType="1"/>
              </p:cNvSpPr>
              <p:nvPr/>
            </p:nvSpPr>
            <p:spPr bwMode="auto">
              <a:xfrm>
                <a:off x="2134517" y="333507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grpSp>
        <p:grpSp>
          <p:nvGrpSpPr>
            <p:cNvPr id="5" name="Group 386"/>
            <p:cNvGrpSpPr/>
            <p:nvPr/>
          </p:nvGrpSpPr>
          <p:grpSpPr>
            <a:xfrm flipV="1">
              <a:off x="2143124" y="3000375"/>
              <a:ext cx="915988" cy="733425"/>
              <a:chOff x="1228054" y="3003284"/>
              <a:chExt cx="915988" cy="733425"/>
            </a:xfrm>
          </p:grpSpPr>
          <p:sp>
            <p:nvSpPr>
              <p:cNvPr id="388" name="Line 8"/>
              <p:cNvSpPr>
                <a:spLocks noChangeShapeType="1"/>
              </p:cNvSpPr>
              <p:nvPr/>
            </p:nvSpPr>
            <p:spPr bwMode="auto">
              <a:xfrm flipV="1">
                <a:off x="1228054" y="333507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389" name="Line 9"/>
              <p:cNvSpPr>
                <a:spLocks noChangeShapeType="1"/>
              </p:cNvSpPr>
              <p:nvPr/>
            </p:nvSpPr>
            <p:spPr bwMode="auto">
              <a:xfrm flipV="1">
                <a:off x="1237579"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390" name="Line 10"/>
              <p:cNvSpPr>
                <a:spLocks noChangeShapeType="1"/>
              </p:cNvSpPr>
              <p:nvPr/>
            </p:nvSpPr>
            <p:spPr bwMode="auto">
              <a:xfrm flipV="1">
                <a:off x="1247104"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391" name="Line 11"/>
              <p:cNvSpPr>
                <a:spLocks noChangeShapeType="1"/>
              </p:cNvSpPr>
              <p:nvPr/>
            </p:nvSpPr>
            <p:spPr bwMode="auto">
              <a:xfrm flipV="1">
                <a:off x="1256629"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392" name="Line 12"/>
              <p:cNvSpPr>
                <a:spLocks noChangeShapeType="1"/>
              </p:cNvSpPr>
              <p:nvPr/>
            </p:nvSpPr>
            <p:spPr bwMode="auto">
              <a:xfrm flipV="1">
                <a:off x="1266154" y="320172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393" name="Line 13"/>
              <p:cNvSpPr>
                <a:spLocks noChangeShapeType="1"/>
              </p:cNvSpPr>
              <p:nvPr/>
            </p:nvSpPr>
            <p:spPr bwMode="auto">
              <a:xfrm flipV="1">
                <a:off x="1275679" y="3171559"/>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394" name="Line 14"/>
              <p:cNvSpPr>
                <a:spLocks noChangeShapeType="1"/>
              </p:cNvSpPr>
              <p:nvPr/>
            </p:nvSpPr>
            <p:spPr bwMode="auto">
              <a:xfrm flipV="1">
                <a:off x="1283617" y="3142984"/>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395" name="Line 15"/>
              <p:cNvSpPr>
                <a:spLocks noChangeShapeType="1"/>
              </p:cNvSpPr>
              <p:nvPr/>
            </p:nvSpPr>
            <p:spPr bwMode="auto">
              <a:xfrm flipV="1">
                <a:off x="1293142"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396" name="Line 16"/>
              <p:cNvSpPr>
                <a:spLocks noChangeShapeType="1"/>
              </p:cNvSpPr>
              <p:nvPr/>
            </p:nvSpPr>
            <p:spPr bwMode="auto">
              <a:xfrm flipV="1">
                <a:off x="1302667"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397" name="Line 17"/>
              <p:cNvSpPr>
                <a:spLocks noChangeShapeType="1"/>
              </p:cNvSpPr>
              <p:nvPr/>
            </p:nvSpPr>
            <p:spPr bwMode="auto">
              <a:xfrm flipV="1">
                <a:off x="1312192" y="3069959"/>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398" name="Line 18"/>
              <p:cNvSpPr>
                <a:spLocks noChangeShapeType="1"/>
              </p:cNvSpPr>
              <p:nvPr/>
            </p:nvSpPr>
            <p:spPr bwMode="auto">
              <a:xfrm flipV="1">
                <a:off x="1321717" y="3050909"/>
                <a:ext cx="7938"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399" name="Line 19"/>
              <p:cNvSpPr>
                <a:spLocks noChangeShapeType="1"/>
              </p:cNvSpPr>
              <p:nvPr/>
            </p:nvSpPr>
            <p:spPr bwMode="auto">
              <a:xfrm flipV="1">
                <a:off x="1329654" y="3035034"/>
                <a:ext cx="9525"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00" name="Line 20"/>
              <p:cNvSpPr>
                <a:spLocks noChangeShapeType="1"/>
              </p:cNvSpPr>
              <p:nvPr/>
            </p:nvSpPr>
            <p:spPr bwMode="auto">
              <a:xfrm flipV="1">
                <a:off x="1339179"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01" name="Line 21"/>
              <p:cNvSpPr>
                <a:spLocks noChangeShapeType="1"/>
              </p:cNvSpPr>
              <p:nvPr/>
            </p:nvSpPr>
            <p:spPr bwMode="auto">
              <a:xfrm flipV="1">
                <a:off x="1348704"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02" name="Line 22"/>
              <p:cNvSpPr>
                <a:spLocks noChangeShapeType="1"/>
              </p:cNvSpPr>
              <p:nvPr/>
            </p:nvSpPr>
            <p:spPr bwMode="auto">
              <a:xfrm flipV="1">
                <a:off x="1358229"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03" name="Line 23"/>
              <p:cNvSpPr>
                <a:spLocks noChangeShapeType="1"/>
              </p:cNvSpPr>
              <p:nvPr/>
            </p:nvSpPr>
            <p:spPr bwMode="auto">
              <a:xfrm flipV="1">
                <a:off x="1367754" y="3003284"/>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04" name="Line 24"/>
              <p:cNvSpPr>
                <a:spLocks noChangeShapeType="1"/>
              </p:cNvSpPr>
              <p:nvPr/>
            </p:nvSpPr>
            <p:spPr bwMode="auto">
              <a:xfrm>
                <a:off x="1377279" y="3003284"/>
                <a:ext cx="7938" cy="15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05" name="Line 25"/>
              <p:cNvSpPr>
                <a:spLocks noChangeShapeType="1"/>
              </p:cNvSpPr>
              <p:nvPr/>
            </p:nvSpPr>
            <p:spPr bwMode="auto">
              <a:xfrm>
                <a:off x="1385217" y="3003284"/>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06" name="Line 26"/>
              <p:cNvSpPr>
                <a:spLocks noChangeShapeType="1"/>
              </p:cNvSpPr>
              <p:nvPr/>
            </p:nvSpPr>
            <p:spPr bwMode="auto">
              <a:xfrm>
                <a:off x="1394742"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07" name="Line 27"/>
              <p:cNvSpPr>
                <a:spLocks noChangeShapeType="1"/>
              </p:cNvSpPr>
              <p:nvPr/>
            </p:nvSpPr>
            <p:spPr bwMode="auto">
              <a:xfrm>
                <a:off x="1404267"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08" name="Line 28"/>
              <p:cNvSpPr>
                <a:spLocks noChangeShapeType="1"/>
              </p:cNvSpPr>
              <p:nvPr/>
            </p:nvSpPr>
            <p:spPr bwMode="auto">
              <a:xfrm>
                <a:off x="1413792"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09" name="Line 29"/>
              <p:cNvSpPr>
                <a:spLocks noChangeShapeType="1"/>
              </p:cNvSpPr>
              <p:nvPr/>
            </p:nvSpPr>
            <p:spPr bwMode="auto">
              <a:xfrm>
                <a:off x="1423317" y="3035034"/>
                <a:ext cx="7938"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10" name="Line 30"/>
              <p:cNvSpPr>
                <a:spLocks noChangeShapeType="1"/>
              </p:cNvSpPr>
              <p:nvPr/>
            </p:nvSpPr>
            <p:spPr bwMode="auto">
              <a:xfrm>
                <a:off x="1431254" y="3050909"/>
                <a:ext cx="9525"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11" name="Line 31"/>
              <p:cNvSpPr>
                <a:spLocks noChangeShapeType="1"/>
              </p:cNvSpPr>
              <p:nvPr/>
            </p:nvSpPr>
            <p:spPr bwMode="auto">
              <a:xfrm>
                <a:off x="1440779" y="3069959"/>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12" name="Line 32"/>
              <p:cNvSpPr>
                <a:spLocks noChangeShapeType="1"/>
              </p:cNvSpPr>
              <p:nvPr/>
            </p:nvSpPr>
            <p:spPr bwMode="auto">
              <a:xfrm>
                <a:off x="1450304"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13" name="Line 33"/>
              <p:cNvSpPr>
                <a:spLocks noChangeShapeType="1"/>
              </p:cNvSpPr>
              <p:nvPr/>
            </p:nvSpPr>
            <p:spPr bwMode="auto">
              <a:xfrm>
                <a:off x="1459829"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14" name="Line 34"/>
              <p:cNvSpPr>
                <a:spLocks noChangeShapeType="1"/>
              </p:cNvSpPr>
              <p:nvPr/>
            </p:nvSpPr>
            <p:spPr bwMode="auto">
              <a:xfrm>
                <a:off x="1469354" y="3142984"/>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15" name="Line 35"/>
              <p:cNvSpPr>
                <a:spLocks noChangeShapeType="1"/>
              </p:cNvSpPr>
              <p:nvPr/>
            </p:nvSpPr>
            <p:spPr bwMode="auto">
              <a:xfrm>
                <a:off x="1478879" y="3171559"/>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16" name="Line 36"/>
              <p:cNvSpPr>
                <a:spLocks noChangeShapeType="1"/>
              </p:cNvSpPr>
              <p:nvPr/>
            </p:nvSpPr>
            <p:spPr bwMode="auto">
              <a:xfrm>
                <a:off x="1486817" y="320172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17" name="Line 37"/>
              <p:cNvSpPr>
                <a:spLocks noChangeShapeType="1"/>
              </p:cNvSpPr>
              <p:nvPr/>
            </p:nvSpPr>
            <p:spPr bwMode="auto">
              <a:xfrm>
                <a:off x="1496342"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18" name="Line 38"/>
              <p:cNvSpPr>
                <a:spLocks noChangeShapeType="1"/>
              </p:cNvSpPr>
              <p:nvPr/>
            </p:nvSpPr>
            <p:spPr bwMode="auto">
              <a:xfrm>
                <a:off x="1505867"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19" name="Line 39"/>
              <p:cNvSpPr>
                <a:spLocks noChangeShapeType="1"/>
              </p:cNvSpPr>
              <p:nvPr/>
            </p:nvSpPr>
            <p:spPr bwMode="auto">
              <a:xfrm>
                <a:off x="1515392"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20" name="Line 40"/>
              <p:cNvSpPr>
                <a:spLocks noChangeShapeType="1"/>
              </p:cNvSpPr>
              <p:nvPr/>
            </p:nvSpPr>
            <p:spPr bwMode="auto">
              <a:xfrm>
                <a:off x="1524917" y="3335071"/>
                <a:ext cx="7938"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21" name="Line 41"/>
              <p:cNvSpPr>
                <a:spLocks noChangeShapeType="1"/>
              </p:cNvSpPr>
              <p:nvPr/>
            </p:nvSpPr>
            <p:spPr bwMode="auto">
              <a:xfrm>
                <a:off x="1532854" y="33699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22" name="Line 42"/>
              <p:cNvSpPr>
                <a:spLocks noChangeShapeType="1"/>
              </p:cNvSpPr>
              <p:nvPr/>
            </p:nvSpPr>
            <p:spPr bwMode="auto">
              <a:xfrm>
                <a:off x="1542379" y="3403334"/>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23" name="Line 43"/>
              <p:cNvSpPr>
                <a:spLocks noChangeShapeType="1"/>
              </p:cNvSpPr>
              <p:nvPr/>
            </p:nvSpPr>
            <p:spPr bwMode="auto">
              <a:xfrm>
                <a:off x="1551904" y="3438259"/>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24" name="Line 44"/>
              <p:cNvSpPr>
                <a:spLocks noChangeShapeType="1"/>
              </p:cNvSpPr>
              <p:nvPr/>
            </p:nvSpPr>
            <p:spPr bwMode="auto">
              <a:xfrm>
                <a:off x="1561429" y="34715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25" name="Line 45"/>
              <p:cNvSpPr>
                <a:spLocks noChangeShapeType="1"/>
              </p:cNvSpPr>
              <p:nvPr/>
            </p:nvSpPr>
            <p:spPr bwMode="auto">
              <a:xfrm>
                <a:off x="1570954" y="3504934"/>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26" name="Line 46"/>
              <p:cNvSpPr>
                <a:spLocks noChangeShapeType="1"/>
              </p:cNvSpPr>
              <p:nvPr/>
            </p:nvSpPr>
            <p:spPr bwMode="auto">
              <a:xfrm>
                <a:off x="1580479" y="3536684"/>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27" name="Line 47"/>
              <p:cNvSpPr>
                <a:spLocks noChangeShapeType="1"/>
              </p:cNvSpPr>
              <p:nvPr/>
            </p:nvSpPr>
            <p:spPr bwMode="auto">
              <a:xfrm>
                <a:off x="1588417" y="3566846"/>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28" name="Line 48"/>
              <p:cNvSpPr>
                <a:spLocks noChangeShapeType="1"/>
              </p:cNvSpPr>
              <p:nvPr/>
            </p:nvSpPr>
            <p:spPr bwMode="auto">
              <a:xfrm>
                <a:off x="1597942" y="3595421"/>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29" name="Line 49"/>
              <p:cNvSpPr>
                <a:spLocks noChangeShapeType="1"/>
              </p:cNvSpPr>
              <p:nvPr/>
            </p:nvSpPr>
            <p:spPr bwMode="auto">
              <a:xfrm>
                <a:off x="1607467" y="3622409"/>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30" name="Line 50"/>
              <p:cNvSpPr>
                <a:spLocks noChangeShapeType="1"/>
              </p:cNvSpPr>
              <p:nvPr/>
            </p:nvSpPr>
            <p:spPr bwMode="auto">
              <a:xfrm>
                <a:off x="1616992" y="3646221"/>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31" name="Line 51"/>
              <p:cNvSpPr>
                <a:spLocks noChangeShapeType="1"/>
              </p:cNvSpPr>
              <p:nvPr/>
            </p:nvSpPr>
            <p:spPr bwMode="auto">
              <a:xfrm>
                <a:off x="1626517" y="3668446"/>
                <a:ext cx="7938"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32" name="Line 52"/>
              <p:cNvSpPr>
                <a:spLocks noChangeShapeType="1"/>
              </p:cNvSpPr>
              <p:nvPr/>
            </p:nvSpPr>
            <p:spPr bwMode="auto">
              <a:xfrm>
                <a:off x="1634454" y="3685909"/>
                <a:ext cx="9525"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33" name="Line 53"/>
              <p:cNvSpPr>
                <a:spLocks noChangeShapeType="1"/>
              </p:cNvSpPr>
              <p:nvPr/>
            </p:nvSpPr>
            <p:spPr bwMode="auto">
              <a:xfrm>
                <a:off x="1643979" y="3703371"/>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34" name="Line 54"/>
              <p:cNvSpPr>
                <a:spLocks noChangeShapeType="1"/>
              </p:cNvSpPr>
              <p:nvPr/>
            </p:nvSpPr>
            <p:spPr bwMode="auto">
              <a:xfrm>
                <a:off x="1653504" y="3716071"/>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35" name="Line 55"/>
              <p:cNvSpPr>
                <a:spLocks noChangeShapeType="1"/>
              </p:cNvSpPr>
              <p:nvPr/>
            </p:nvSpPr>
            <p:spPr bwMode="auto">
              <a:xfrm>
                <a:off x="1663029" y="3725596"/>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36" name="Line 56"/>
              <p:cNvSpPr>
                <a:spLocks noChangeShapeType="1"/>
              </p:cNvSpPr>
              <p:nvPr/>
            </p:nvSpPr>
            <p:spPr bwMode="auto">
              <a:xfrm>
                <a:off x="1672554" y="3731946"/>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37" name="Line 57"/>
              <p:cNvSpPr>
                <a:spLocks noChangeShapeType="1"/>
              </p:cNvSpPr>
              <p:nvPr/>
            </p:nvSpPr>
            <p:spPr bwMode="auto">
              <a:xfrm>
                <a:off x="1682079" y="3735121"/>
                <a:ext cx="7938" cy="15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38" name="Line 58"/>
              <p:cNvSpPr>
                <a:spLocks noChangeShapeType="1"/>
              </p:cNvSpPr>
              <p:nvPr/>
            </p:nvSpPr>
            <p:spPr bwMode="auto">
              <a:xfrm flipV="1">
                <a:off x="1690017" y="3731946"/>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39" name="Line 59"/>
              <p:cNvSpPr>
                <a:spLocks noChangeShapeType="1"/>
              </p:cNvSpPr>
              <p:nvPr/>
            </p:nvSpPr>
            <p:spPr bwMode="auto">
              <a:xfrm flipV="1">
                <a:off x="1699542" y="3725596"/>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40" name="Line 60"/>
              <p:cNvSpPr>
                <a:spLocks noChangeShapeType="1"/>
              </p:cNvSpPr>
              <p:nvPr/>
            </p:nvSpPr>
            <p:spPr bwMode="auto">
              <a:xfrm flipV="1">
                <a:off x="1709067" y="3716071"/>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41" name="Line 61"/>
              <p:cNvSpPr>
                <a:spLocks noChangeShapeType="1"/>
              </p:cNvSpPr>
              <p:nvPr/>
            </p:nvSpPr>
            <p:spPr bwMode="auto">
              <a:xfrm flipV="1">
                <a:off x="1718592" y="3703371"/>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42" name="Line 62"/>
              <p:cNvSpPr>
                <a:spLocks noChangeShapeType="1"/>
              </p:cNvSpPr>
              <p:nvPr/>
            </p:nvSpPr>
            <p:spPr bwMode="auto">
              <a:xfrm flipV="1">
                <a:off x="1728117" y="3685909"/>
                <a:ext cx="9525"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43" name="Line 63"/>
              <p:cNvSpPr>
                <a:spLocks noChangeShapeType="1"/>
              </p:cNvSpPr>
              <p:nvPr/>
            </p:nvSpPr>
            <p:spPr bwMode="auto">
              <a:xfrm flipV="1">
                <a:off x="1737642" y="3668446"/>
                <a:ext cx="7938"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44" name="Line 64"/>
              <p:cNvSpPr>
                <a:spLocks noChangeShapeType="1"/>
              </p:cNvSpPr>
              <p:nvPr/>
            </p:nvSpPr>
            <p:spPr bwMode="auto">
              <a:xfrm flipV="1">
                <a:off x="1745579" y="3646221"/>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45" name="Line 65"/>
              <p:cNvSpPr>
                <a:spLocks noChangeShapeType="1"/>
              </p:cNvSpPr>
              <p:nvPr/>
            </p:nvSpPr>
            <p:spPr bwMode="auto">
              <a:xfrm flipV="1">
                <a:off x="1755104" y="3622409"/>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46" name="Line 66"/>
              <p:cNvSpPr>
                <a:spLocks noChangeShapeType="1"/>
              </p:cNvSpPr>
              <p:nvPr/>
            </p:nvSpPr>
            <p:spPr bwMode="auto">
              <a:xfrm flipV="1">
                <a:off x="1764629" y="3595421"/>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47" name="Line 67"/>
              <p:cNvSpPr>
                <a:spLocks noChangeShapeType="1"/>
              </p:cNvSpPr>
              <p:nvPr/>
            </p:nvSpPr>
            <p:spPr bwMode="auto">
              <a:xfrm flipV="1">
                <a:off x="1774154" y="3566846"/>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48" name="Line 68"/>
              <p:cNvSpPr>
                <a:spLocks noChangeShapeType="1"/>
              </p:cNvSpPr>
              <p:nvPr/>
            </p:nvSpPr>
            <p:spPr bwMode="auto">
              <a:xfrm flipV="1">
                <a:off x="1783679" y="3536684"/>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49" name="Line 69"/>
              <p:cNvSpPr>
                <a:spLocks noChangeShapeType="1"/>
              </p:cNvSpPr>
              <p:nvPr/>
            </p:nvSpPr>
            <p:spPr bwMode="auto">
              <a:xfrm flipV="1">
                <a:off x="1791617" y="3504934"/>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50" name="Line 70"/>
              <p:cNvSpPr>
                <a:spLocks noChangeShapeType="1"/>
              </p:cNvSpPr>
              <p:nvPr/>
            </p:nvSpPr>
            <p:spPr bwMode="auto">
              <a:xfrm flipV="1">
                <a:off x="1801142" y="34715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51" name="Line 71"/>
              <p:cNvSpPr>
                <a:spLocks noChangeShapeType="1"/>
              </p:cNvSpPr>
              <p:nvPr/>
            </p:nvSpPr>
            <p:spPr bwMode="auto">
              <a:xfrm flipV="1">
                <a:off x="1810667" y="3438259"/>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52" name="Line 72"/>
              <p:cNvSpPr>
                <a:spLocks noChangeShapeType="1"/>
              </p:cNvSpPr>
              <p:nvPr/>
            </p:nvSpPr>
            <p:spPr bwMode="auto">
              <a:xfrm flipV="1">
                <a:off x="1820192" y="3403334"/>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53" name="Line 73"/>
              <p:cNvSpPr>
                <a:spLocks noChangeShapeType="1"/>
              </p:cNvSpPr>
              <p:nvPr/>
            </p:nvSpPr>
            <p:spPr bwMode="auto">
              <a:xfrm flipV="1">
                <a:off x="1829717" y="33699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54" name="Line 74"/>
              <p:cNvSpPr>
                <a:spLocks noChangeShapeType="1"/>
              </p:cNvSpPr>
              <p:nvPr/>
            </p:nvSpPr>
            <p:spPr bwMode="auto">
              <a:xfrm flipV="1">
                <a:off x="1839242" y="3335071"/>
                <a:ext cx="7938"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55" name="Line 75"/>
              <p:cNvSpPr>
                <a:spLocks noChangeShapeType="1"/>
              </p:cNvSpPr>
              <p:nvPr/>
            </p:nvSpPr>
            <p:spPr bwMode="auto">
              <a:xfrm flipV="1">
                <a:off x="1847179"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56" name="Line 76"/>
              <p:cNvSpPr>
                <a:spLocks noChangeShapeType="1"/>
              </p:cNvSpPr>
              <p:nvPr/>
            </p:nvSpPr>
            <p:spPr bwMode="auto">
              <a:xfrm flipV="1">
                <a:off x="1856704"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57" name="Line 77"/>
              <p:cNvSpPr>
                <a:spLocks noChangeShapeType="1"/>
              </p:cNvSpPr>
              <p:nvPr/>
            </p:nvSpPr>
            <p:spPr bwMode="auto">
              <a:xfrm flipV="1">
                <a:off x="1866229"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58" name="Line 78"/>
              <p:cNvSpPr>
                <a:spLocks noChangeShapeType="1"/>
              </p:cNvSpPr>
              <p:nvPr/>
            </p:nvSpPr>
            <p:spPr bwMode="auto">
              <a:xfrm flipV="1">
                <a:off x="1875754" y="320172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59" name="Line 79"/>
              <p:cNvSpPr>
                <a:spLocks noChangeShapeType="1"/>
              </p:cNvSpPr>
              <p:nvPr/>
            </p:nvSpPr>
            <p:spPr bwMode="auto">
              <a:xfrm flipV="1">
                <a:off x="1885279" y="3171559"/>
                <a:ext cx="9525"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60" name="Line 80"/>
              <p:cNvSpPr>
                <a:spLocks noChangeShapeType="1"/>
              </p:cNvSpPr>
              <p:nvPr/>
            </p:nvSpPr>
            <p:spPr bwMode="auto">
              <a:xfrm flipV="1">
                <a:off x="1894804" y="3142984"/>
                <a:ext cx="7938"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61" name="Line 81"/>
              <p:cNvSpPr>
                <a:spLocks noChangeShapeType="1"/>
              </p:cNvSpPr>
              <p:nvPr/>
            </p:nvSpPr>
            <p:spPr bwMode="auto">
              <a:xfrm flipV="1">
                <a:off x="1902742"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62" name="Line 82"/>
              <p:cNvSpPr>
                <a:spLocks noChangeShapeType="1"/>
              </p:cNvSpPr>
              <p:nvPr/>
            </p:nvSpPr>
            <p:spPr bwMode="auto">
              <a:xfrm flipV="1">
                <a:off x="1912267"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63" name="Line 83"/>
              <p:cNvSpPr>
                <a:spLocks noChangeShapeType="1"/>
              </p:cNvSpPr>
              <p:nvPr/>
            </p:nvSpPr>
            <p:spPr bwMode="auto">
              <a:xfrm flipV="1">
                <a:off x="1921792" y="3069959"/>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64" name="Line 84"/>
              <p:cNvSpPr>
                <a:spLocks noChangeShapeType="1"/>
              </p:cNvSpPr>
              <p:nvPr/>
            </p:nvSpPr>
            <p:spPr bwMode="auto">
              <a:xfrm flipV="1">
                <a:off x="1931317" y="3050909"/>
                <a:ext cx="9525"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65" name="Line 85"/>
              <p:cNvSpPr>
                <a:spLocks noChangeShapeType="1"/>
              </p:cNvSpPr>
              <p:nvPr/>
            </p:nvSpPr>
            <p:spPr bwMode="auto">
              <a:xfrm flipV="1">
                <a:off x="1940842" y="3035034"/>
                <a:ext cx="7938"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66" name="Line 86"/>
              <p:cNvSpPr>
                <a:spLocks noChangeShapeType="1"/>
              </p:cNvSpPr>
              <p:nvPr/>
            </p:nvSpPr>
            <p:spPr bwMode="auto">
              <a:xfrm flipV="1">
                <a:off x="1948779"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67" name="Line 87"/>
              <p:cNvSpPr>
                <a:spLocks noChangeShapeType="1"/>
              </p:cNvSpPr>
              <p:nvPr/>
            </p:nvSpPr>
            <p:spPr bwMode="auto">
              <a:xfrm flipV="1">
                <a:off x="1958304"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68" name="Line 88"/>
              <p:cNvSpPr>
                <a:spLocks noChangeShapeType="1"/>
              </p:cNvSpPr>
              <p:nvPr/>
            </p:nvSpPr>
            <p:spPr bwMode="auto">
              <a:xfrm flipV="1">
                <a:off x="1967829"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69" name="Line 89"/>
              <p:cNvSpPr>
                <a:spLocks noChangeShapeType="1"/>
              </p:cNvSpPr>
              <p:nvPr/>
            </p:nvSpPr>
            <p:spPr bwMode="auto">
              <a:xfrm flipV="1">
                <a:off x="1977354" y="3003284"/>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70" name="Line 90"/>
              <p:cNvSpPr>
                <a:spLocks noChangeShapeType="1"/>
              </p:cNvSpPr>
              <p:nvPr/>
            </p:nvSpPr>
            <p:spPr bwMode="auto">
              <a:xfrm>
                <a:off x="1986879" y="3003284"/>
                <a:ext cx="9525" cy="15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71" name="Line 91"/>
              <p:cNvSpPr>
                <a:spLocks noChangeShapeType="1"/>
              </p:cNvSpPr>
              <p:nvPr/>
            </p:nvSpPr>
            <p:spPr bwMode="auto">
              <a:xfrm>
                <a:off x="1996404" y="3003284"/>
                <a:ext cx="7938"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72" name="Line 92"/>
              <p:cNvSpPr>
                <a:spLocks noChangeShapeType="1"/>
              </p:cNvSpPr>
              <p:nvPr/>
            </p:nvSpPr>
            <p:spPr bwMode="auto">
              <a:xfrm>
                <a:off x="2004342"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73" name="Line 93"/>
              <p:cNvSpPr>
                <a:spLocks noChangeShapeType="1"/>
              </p:cNvSpPr>
              <p:nvPr/>
            </p:nvSpPr>
            <p:spPr bwMode="auto">
              <a:xfrm>
                <a:off x="2013867"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74" name="Line 94"/>
              <p:cNvSpPr>
                <a:spLocks noChangeShapeType="1"/>
              </p:cNvSpPr>
              <p:nvPr/>
            </p:nvSpPr>
            <p:spPr bwMode="auto">
              <a:xfrm>
                <a:off x="2023392"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75" name="Line 95"/>
              <p:cNvSpPr>
                <a:spLocks noChangeShapeType="1"/>
              </p:cNvSpPr>
              <p:nvPr/>
            </p:nvSpPr>
            <p:spPr bwMode="auto">
              <a:xfrm>
                <a:off x="2032917" y="3035034"/>
                <a:ext cx="9525"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76" name="Line 96"/>
              <p:cNvSpPr>
                <a:spLocks noChangeShapeType="1"/>
              </p:cNvSpPr>
              <p:nvPr/>
            </p:nvSpPr>
            <p:spPr bwMode="auto">
              <a:xfrm>
                <a:off x="2042442" y="3050909"/>
                <a:ext cx="9525"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77" name="Line 97"/>
              <p:cNvSpPr>
                <a:spLocks noChangeShapeType="1"/>
              </p:cNvSpPr>
              <p:nvPr/>
            </p:nvSpPr>
            <p:spPr bwMode="auto">
              <a:xfrm>
                <a:off x="2051967" y="3069959"/>
                <a:ext cx="7938"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78" name="Line 98"/>
              <p:cNvSpPr>
                <a:spLocks noChangeShapeType="1"/>
              </p:cNvSpPr>
              <p:nvPr/>
            </p:nvSpPr>
            <p:spPr bwMode="auto">
              <a:xfrm>
                <a:off x="2059904"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79" name="Line 99"/>
              <p:cNvSpPr>
                <a:spLocks noChangeShapeType="1"/>
              </p:cNvSpPr>
              <p:nvPr/>
            </p:nvSpPr>
            <p:spPr bwMode="auto">
              <a:xfrm>
                <a:off x="2069429"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80" name="Line 100"/>
              <p:cNvSpPr>
                <a:spLocks noChangeShapeType="1"/>
              </p:cNvSpPr>
              <p:nvPr/>
            </p:nvSpPr>
            <p:spPr bwMode="auto">
              <a:xfrm>
                <a:off x="2078954" y="3142984"/>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81" name="Line 101"/>
              <p:cNvSpPr>
                <a:spLocks noChangeShapeType="1"/>
              </p:cNvSpPr>
              <p:nvPr/>
            </p:nvSpPr>
            <p:spPr bwMode="auto">
              <a:xfrm>
                <a:off x="2088479" y="3171559"/>
                <a:ext cx="9525"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82" name="Line 102"/>
              <p:cNvSpPr>
                <a:spLocks noChangeShapeType="1"/>
              </p:cNvSpPr>
              <p:nvPr/>
            </p:nvSpPr>
            <p:spPr bwMode="auto">
              <a:xfrm>
                <a:off x="2098004" y="3201721"/>
                <a:ext cx="7938"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83" name="Line 103"/>
              <p:cNvSpPr>
                <a:spLocks noChangeShapeType="1"/>
              </p:cNvSpPr>
              <p:nvPr/>
            </p:nvSpPr>
            <p:spPr bwMode="auto">
              <a:xfrm>
                <a:off x="2105942"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84" name="Line 104"/>
              <p:cNvSpPr>
                <a:spLocks noChangeShapeType="1"/>
              </p:cNvSpPr>
              <p:nvPr/>
            </p:nvSpPr>
            <p:spPr bwMode="auto">
              <a:xfrm>
                <a:off x="2115467"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85" name="Line 105"/>
              <p:cNvSpPr>
                <a:spLocks noChangeShapeType="1"/>
              </p:cNvSpPr>
              <p:nvPr/>
            </p:nvSpPr>
            <p:spPr bwMode="auto">
              <a:xfrm>
                <a:off x="2124992"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86" name="Line 106"/>
              <p:cNvSpPr>
                <a:spLocks noChangeShapeType="1"/>
              </p:cNvSpPr>
              <p:nvPr/>
            </p:nvSpPr>
            <p:spPr bwMode="auto">
              <a:xfrm>
                <a:off x="2134517" y="333507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grpSp>
      </p:grpSp>
      <p:grpSp>
        <p:nvGrpSpPr>
          <p:cNvPr id="6" name="Group 688"/>
          <p:cNvGrpSpPr/>
          <p:nvPr/>
        </p:nvGrpSpPr>
        <p:grpSpPr>
          <a:xfrm>
            <a:off x="5556738" y="2045382"/>
            <a:ext cx="1831058" cy="350199"/>
            <a:chOff x="1228054" y="3000375"/>
            <a:chExt cx="1831058" cy="736334"/>
          </a:xfrm>
        </p:grpSpPr>
        <p:grpSp>
          <p:nvGrpSpPr>
            <p:cNvPr id="7" name="Group 385"/>
            <p:cNvGrpSpPr/>
            <p:nvPr/>
          </p:nvGrpSpPr>
          <p:grpSpPr>
            <a:xfrm>
              <a:off x="1228054" y="3003284"/>
              <a:ext cx="915988" cy="733425"/>
              <a:chOff x="1228054" y="3003284"/>
              <a:chExt cx="915988" cy="733425"/>
            </a:xfrm>
          </p:grpSpPr>
          <p:sp>
            <p:nvSpPr>
              <p:cNvPr id="791" name="Line 8"/>
              <p:cNvSpPr>
                <a:spLocks noChangeShapeType="1"/>
              </p:cNvSpPr>
              <p:nvPr/>
            </p:nvSpPr>
            <p:spPr bwMode="auto">
              <a:xfrm flipV="1">
                <a:off x="1228054" y="333507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92" name="Line 9"/>
              <p:cNvSpPr>
                <a:spLocks noChangeShapeType="1"/>
              </p:cNvSpPr>
              <p:nvPr/>
            </p:nvSpPr>
            <p:spPr bwMode="auto">
              <a:xfrm flipV="1">
                <a:off x="1237579"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93" name="Line 10"/>
              <p:cNvSpPr>
                <a:spLocks noChangeShapeType="1"/>
              </p:cNvSpPr>
              <p:nvPr/>
            </p:nvSpPr>
            <p:spPr bwMode="auto">
              <a:xfrm flipV="1">
                <a:off x="1247104"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94" name="Line 11"/>
              <p:cNvSpPr>
                <a:spLocks noChangeShapeType="1"/>
              </p:cNvSpPr>
              <p:nvPr/>
            </p:nvSpPr>
            <p:spPr bwMode="auto">
              <a:xfrm flipV="1">
                <a:off x="1256629"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95" name="Line 12"/>
              <p:cNvSpPr>
                <a:spLocks noChangeShapeType="1"/>
              </p:cNvSpPr>
              <p:nvPr/>
            </p:nvSpPr>
            <p:spPr bwMode="auto">
              <a:xfrm flipV="1">
                <a:off x="1266154" y="320172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96" name="Line 13"/>
              <p:cNvSpPr>
                <a:spLocks noChangeShapeType="1"/>
              </p:cNvSpPr>
              <p:nvPr/>
            </p:nvSpPr>
            <p:spPr bwMode="auto">
              <a:xfrm flipV="1">
                <a:off x="1275679" y="3171559"/>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97" name="Line 14"/>
              <p:cNvSpPr>
                <a:spLocks noChangeShapeType="1"/>
              </p:cNvSpPr>
              <p:nvPr/>
            </p:nvSpPr>
            <p:spPr bwMode="auto">
              <a:xfrm flipV="1">
                <a:off x="1283617" y="3142984"/>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98" name="Line 15"/>
              <p:cNvSpPr>
                <a:spLocks noChangeShapeType="1"/>
              </p:cNvSpPr>
              <p:nvPr/>
            </p:nvSpPr>
            <p:spPr bwMode="auto">
              <a:xfrm flipV="1">
                <a:off x="1293142"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99" name="Line 16"/>
              <p:cNvSpPr>
                <a:spLocks noChangeShapeType="1"/>
              </p:cNvSpPr>
              <p:nvPr/>
            </p:nvSpPr>
            <p:spPr bwMode="auto">
              <a:xfrm flipV="1">
                <a:off x="1302667"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00" name="Line 17"/>
              <p:cNvSpPr>
                <a:spLocks noChangeShapeType="1"/>
              </p:cNvSpPr>
              <p:nvPr/>
            </p:nvSpPr>
            <p:spPr bwMode="auto">
              <a:xfrm flipV="1">
                <a:off x="1312192" y="3069959"/>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01" name="Line 18"/>
              <p:cNvSpPr>
                <a:spLocks noChangeShapeType="1"/>
              </p:cNvSpPr>
              <p:nvPr/>
            </p:nvSpPr>
            <p:spPr bwMode="auto">
              <a:xfrm flipV="1">
                <a:off x="1321717" y="3050909"/>
                <a:ext cx="7938"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02" name="Line 19"/>
              <p:cNvSpPr>
                <a:spLocks noChangeShapeType="1"/>
              </p:cNvSpPr>
              <p:nvPr/>
            </p:nvSpPr>
            <p:spPr bwMode="auto">
              <a:xfrm flipV="1">
                <a:off x="1329654" y="3035034"/>
                <a:ext cx="9525"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03" name="Line 20"/>
              <p:cNvSpPr>
                <a:spLocks noChangeShapeType="1"/>
              </p:cNvSpPr>
              <p:nvPr/>
            </p:nvSpPr>
            <p:spPr bwMode="auto">
              <a:xfrm flipV="1">
                <a:off x="1339179"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04" name="Line 21"/>
              <p:cNvSpPr>
                <a:spLocks noChangeShapeType="1"/>
              </p:cNvSpPr>
              <p:nvPr/>
            </p:nvSpPr>
            <p:spPr bwMode="auto">
              <a:xfrm flipV="1">
                <a:off x="1348704"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05" name="Line 22"/>
              <p:cNvSpPr>
                <a:spLocks noChangeShapeType="1"/>
              </p:cNvSpPr>
              <p:nvPr/>
            </p:nvSpPr>
            <p:spPr bwMode="auto">
              <a:xfrm flipV="1">
                <a:off x="1358229"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06" name="Line 23"/>
              <p:cNvSpPr>
                <a:spLocks noChangeShapeType="1"/>
              </p:cNvSpPr>
              <p:nvPr/>
            </p:nvSpPr>
            <p:spPr bwMode="auto">
              <a:xfrm flipV="1">
                <a:off x="1367754" y="3003284"/>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07" name="Line 24"/>
              <p:cNvSpPr>
                <a:spLocks noChangeShapeType="1"/>
              </p:cNvSpPr>
              <p:nvPr/>
            </p:nvSpPr>
            <p:spPr bwMode="auto">
              <a:xfrm>
                <a:off x="1377279" y="3003284"/>
                <a:ext cx="7938" cy="15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08" name="Line 25"/>
              <p:cNvSpPr>
                <a:spLocks noChangeShapeType="1"/>
              </p:cNvSpPr>
              <p:nvPr/>
            </p:nvSpPr>
            <p:spPr bwMode="auto">
              <a:xfrm>
                <a:off x="1385217" y="3003284"/>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09" name="Line 26"/>
              <p:cNvSpPr>
                <a:spLocks noChangeShapeType="1"/>
              </p:cNvSpPr>
              <p:nvPr/>
            </p:nvSpPr>
            <p:spPr bwMode="auto">
              <a:xfrm>
                <a:off x="1394742"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10" name="Line 27"/>
              <p:cNvSpPr>
                <a:spLocks noChangeShapeType="1"/>
              </p:cNvSpPr>
              <p:nvPr/>
            </p:nvSpPr>
            <p:spPr bwMode="auto">
              <a:xfrm>
                <a:off x="1404267"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11" name="Line 28"/>
              <p:cNvSpPr>
                <a:spLocks noChangeShapeType="1"/>
              </p:cNvSpPr>
              <p:nvPr/>
            </p:nvSpPr>
            <p:spPr bwMode="auto">
              <a:xfrm>
                <a:off x="1413792"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12" name="Line 29"/>
              <p:cNvSpPr>
                <a:spLocks noChangeShapeType="1"/>
              </p:cNvSpPr>
              <p:nvPr/>
            </p:nvSpPr>
            <p:spPr bwMode="auto">
              <a:xfrm>
                <a:off x="1423317" y="3035034"/>
                <a:ext cx="7938"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13" name="Line 30"/>
              <p:cNvSpPr>
                <a:spLocks noChangeShapeType="1"/>
              </p:cNvSpPr>
              <p:nvPr/>
            </p:nvSpPr>
            <p:spPr bwMode="auto">
              <a:xfrm>
                <a:off x="1431254" y="3050909"/>
                <a:ext cx="9525"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14" name="Line 31"/>
              <p:cNvSpPr>
                <a:spLocks noChangeShapeType="1"/>
              </p:cNvSpPr>
              <p:nvPr/>
            </p:nvSpPr>
            <p:spPr bwMode="auto">
              <a:xfrm>
                <a:off x="1440779" y="3069959"/>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15" name="Line 32"/>
              <p:cNvSpPr>
                <a:spLocks noChangeShapeType="1"/>
              </p:cNvSpPr>
              <p:nvPr/>
            </p:nvSpPr>
            <p:spPr bwMode="auto">
              <a:xfrm>
                <a:off x="1450304"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16" name="Line 33"/>
              <p:cNvSpPr>
                <a:spLocks noChangeShapeType="1"/>
              </p:cNvSpPr>
              <p:nvPr/>
            </p:nvSpPr>
            <p:spPr bwMode="auto">
              <a:xfrm>
                <a:off x="1459829"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17" name="Line 34"/>
              <p:cNvSpPr>
                <a:spLocks noChangeShapeType="1"/>
              </p:cNvSpPr>
              <p:nvPr/>
            </p:nvSpPr>
            <p:spPr bwMode="auto">
              <a:xfrm>
                <a:off x="1469354" y="3142984"/>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18" name="Line 35"/>
              <p:cNvSpPr>
                <a:spLocks noChangeShapeType="1"/>
              </p:cNvSpPr>
              <p:nvPr/>
            </p:nvSpPr>
            <p:spPr bwMode="auto">
              <a:xfrm>
                <a:off x="1478879" y="3171559"/>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19" name="Line 36"/>
              <p:cNvSpPr>
                <a:spLocks noChangeShapeType="1"/>
              </p:cNvSpPr>
              <p:nvPr/>
            </p:nvSpPr>
            <p:spPr bwMode="auto">
              <a:xfrm>
                <a:off x="1486817" y="320172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20" name="Line 37"/>
              <p:cNvSpPr>
                <a:spLocks noChangeShapeType="1"/>
              </p:cNvSpPr>
              <p:nvPr/>
            </p:nvSpPr>
            <p:spPr bwMode="auto">
              <a:xfrm>
                <a:off x="1496342"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21" name="Line 38"/>
              <p:cNvSpPr>
                <a:spLocks noChangeShapeType="1"/>
              </p:cNvSpPr>
              <p:nvPr/>
            </p:nvSpPr>
            <p:spPr bwMode="auto">
              <a:xfrm>
                <a:off x="1505867"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22" name="Line 39"/>
              <p:cNvSpPr>
                <a:spLocks noChangeShapeType="1"/>
              </p:cNvSpPr>
              <p:nvPr/>
            </p:nvSpPr>
            <p:spPr bwMode="auto">
              <a:xfrm>
                <a:off x="1515392"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23" name="Line 40"/>
              <p:cNvSpPr>
                <a:spLocks noChangeShapeType="1"/>
              </p:cNvSpPr>
              <p:nvPr/>
            </p:nvSpPr>
            <p:spPr bwMode="auto">
              <a:xfrm>
                <a:off x="1524917" y="3335071"/>
                <a:ext cx="7938"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24" name="Line 41"/>
              <p:cNvSpPr>
                <a:spLocks noChangeShapeType="1"/>
              </p:cNvSpPr>
              <p:nvPr/>
            </p:nvSpPr>
            <p:spPr bwMode="auto">
              <a:xfrm>
                <a:off x="1532854" y="33699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25" name="Line 42"/>
              <p:cNvSpPr>
                <a:spLocks noChangeShapeType="1"/>
              </p:cNvSpPr>
              <p:nvPr/>
            </p:nvSpPr>
            <p:spPr bwMode="auto">
              <a:xfrm>
                <a:off x="1542379" y="3403334"/>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26" name="Line 43"/>
              <p:cNvSpPr>
                <a:spLocks noChangeShapeType="1"/>
              </p:cNvSpPr>
              <p:nvPr/>
            </p:nvSpPr>
            <p:spPr bwMode="auto">
              <a:xfrm>
                <a:off x="1551904" y="3438259"/>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27" name="Line 44"/>
              <p:cNvSpPr>
                <a:spLocks noChangeShapeType="1"/>
              </p:cNvSpPr>
              <p:nvPr/>
            </p:nvSpPr>
            <p:spPr bwMode="auto">
              <a:xfrm>
                <a:off x="1561429" y="34715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28" name="Line 45"/>
              <p:cNvSpPr>
                <a:spLocks noChangeShapeType="1"/>
              </p:cNvSpPr>
              <p:nvPr/>
            </p:nvSpPr>
            <p:spPr bwMode="auto">
              <a:xfrm>
                <a:off x="1570954" y="3504934"/>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29" name="Line 46"/>
              <p:cNvSpPr>
                <a:spLocks noChangeShapeType="1"/>
              </p:cNvSpPr>
              <p:nvPr/>
            </p:nvSpPr>
            <p:spPr bwMode="auto">
              <a:xfrm>
                <a:off x="1580479" y="3536684"/>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30" name="Line 47"/>
              <p:cNvSpPr>
                <a:spLocks noChangeShapeType="1"/>
              </p:cNvSpPr>
              <p:nvPr/>
            </p:nvSpPr>
            <p:spPr bwMode="auto">
              <a:xfrm>
                <a:off x="1588417" y="3566846"/>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31" name="Line 48"/>
              <p:cNvSpPr>
                <a:spLocks noChangeShapeType="1"/>
              </p:cNvSpPr>
              <p:nvPr/>
            </p:nvSpPr>
            <p:spPr bwMode="auto">
              <a:xfrm>
                <a:off x="1597942" y="3595421"/>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32" name="Line 49"/>
              <p:cNvSpPr>
                <a:spLocks noChangeShapeType="1"/>
              </p:cNvSpPr>
              <p:nvPr/>
            </p:nvSpPr>
            <p:spPr bwMode="auto">
              <a:xfrm>
                <a:off x="1607467" y="3622409"/>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33" name="Line 50"/>
              <p:cNvSpPr>
                <a:spLocks noChangeShapeType="1"/>
              </p:cNvSpPr>
              <p:nvPr/>
            </p:nvSpPr>
            <p:spPr bwMode="auto">
              <a:xfrm>
                <a:off x="1616992" y="3646221"/>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34" name="Line 51"/>
              <p:cNvSpPr>
                <a:spLocks noChangeShapeType="1"/>
              </p:cNvSpPr>
              <p:nvPr/>
            </p:nvSpPr>
            <p:spPr bwMode="auto">
              <a:xfrm>
                <a:off x="1626517" y="3668446"/>
                <a:ext cx="7938"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35" name="Line 52"/>
              <p:cNvSpPr>
                <a:spLocks noChangeShapeType="1"/>
              </p:cNvSpPr>
              <p:nvPr/>
            </p:nvSpPr>
            <p:spPr bwMode="auto">
              <a:xfrm>
                <a:off x="1634454" y="3685909"/>
                <a:ext cx="9525"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36" name="Line 53"/>
              <p:cNvSpPr>
                <a:spLocks noChangeShapeType="1"/>
              </p:cNvSpPr>
              <p:nvPr/>
            </p:nvSpPr>
            <p:spPr bwMode="auto">
              <a:xfrm>
                <a:off x="1643979" y="3703371"/>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37" name="Line 54"/>
              <p:cNvSpPr>
                <a:spLocks noChangeShapeType="1"/>
              </p:cNvSpPr>
              <p:nvPr/>
            </p:nvSpPr>
            <p:spPr bwMode="auto">
              <a:xfrm>
                <a:off x="1653504" y="3716071"/>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38" name="Line 55"/>
              <p:cNvSpPr>
                <a:spLocks noChangeShapeType="1"/>
              </p:cNvSpPr>
              <p:nvPr/>
            </p:nvSpPr>
            <p:spPr bwMode="auto">
              <a:xfrm>
                <a:off x="1663029" y="3725596"/>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39" name="Line 56"/>
              <p:cNvSpPr>
                <a:spLocks noChangeShapeType="1"/>
              </p:cNvSpPr>
              <p:nvPr/>
            </p:nvSpPr>
            <p:spPr bwMode="auto">
              <a:xfrm>
                <a:off x="1672554" y="3731946"/>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40" name="Line 57"/>
              <p:cNvSpPr>
                <a:spLocks noChangeShapeType="1"/>
              </p:cNvSpPr>
              <p:nvPr/>
            </p:nvSpPr>
            <p:spPr bwMode="auto">
              <a:xfrm>
                <a:off x="1682079" y="3735121"/>
                <a:ext cx="7938" cy="15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41" name="Line 58"/>
              <p:cNvSpPr>
                <a:spLocks noChangeShapeType="1"/>
              </p:cNvSpPr>
              <p:nvPr/>
            </p:nvSpPr>
            <p:spPr bwMode="auto">
              <a:xfrm flipV="1">
                <a:off x="1690017" y="3731946"/>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42" name="Line 59"/>
              <p:cNvSpPr>
                <a:spLocks noChangeShapeType="1"/>
              </p:cNvSpPr>
              <p:nvPr/>
            </p:nvSpPr>
            <p:spPr bwMode="auto">
              <a:xfrm flipV="1">
                <a:off x="1699542" y="3725596"/>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43" name="Line 60"/>
              <p:cNvSpPr>
                <a:spLocks noChangeShapeType="1"/>
              </p:cNvSpPr>
              <p:nvPr/>
            </p:nvSpPr>
            <p:spPr bwMode="auto">
              <a:xfrm flipV="1">
                <a:off x="1709067" y="3716071"/>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44" name="Line 61"/>
              <p:cNvSpPr>
                <a:spLocks noChangeShapeType="1"/>
              </p:cNvSpPr>
              <p:nvPr/>
            </p:nvSpPr>
            <p:spPr bwMode="auto">
              <a:xfrm flipV="1">
                <a:off x="1718592" y="3703371"/>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45" name="Line 62"/>
              <p:cNvSpPr>
                <a:spLocks noChangeShapeType="1"/>
              </p:cNvSpPr>
              <p:nvPr/>
            </p:nvSpPr>
            <p:spPr bwMode="auto">
              <a:xfrm flipV="1">
                <a:off x="1728117" y="3685909"/>
                <a:ext cx="9525"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46" name="Line 63"/>
              <p:cNvSpPr>
                <a:spLocks noChangeShapeType="1"/>
              </p:cNvSpPr>
              <p:nvPr/>
            </p:nvSpPr>
            <p:spPr bwMode="auto">
              <a:xfrm flipV="1">
                <a:off x="1737642" y="3668446"/>
                <a:ext cx="7938"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47" name="Line 64"/>
              <p:cNvSpPr>
                <a:spLocks noChangeShapeType="1"/>
              </p:cNvSpPr>
              <p:nvPr/>
            </p:nvSpPr>
            <p:spPr bwMode="auto">
              <a:xfrm flipV="1">
                <a:off x="1745579" y="3646221"/>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48" name="Line 65"/>
              <p:cNvSpPr>
                <a:spLocks noChangeShapeType="1"/>
              </p:cNvSpPr>
              <p:nvPr/>
            </p:nvSpPr>
            <p:spPr bwMode="auto">
              <a:xfrm flipV="1">
                <a:off x="1755104" y="3622409"/>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49" name="Line 66"/>
              <p:cNvSpPr>
                <a:spLocks noChangeShapeType="1"/>
              </p:cNvSpPr>
              <p:nvPr/>
            </p:nvSpPr>
            <p:spPr bwMode="auto">
              <a:xfrm flipV="1">
                <a:off x="1764629" y="3595421"/>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50" name="Line 67"/>
              <p:cNvSpPr>
                <a:spLocks noChangeShapeType="1"/>
              </p:cNvSpPr>
              <p:nvPr/>
            </p:nvSpPr>
            <p:spPr bwMode="auto">
              <a:xfrm flipV="1">
                <a:off x="1774154" y="3566846"/>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51" name="Line 68"/>
              <p:cNvSpPr>
                <a:spLocks noChangeShapeType="1"/>
              </p:cNvSpPr>
              <p:nvPr/>
            </p:nvSpPr>
            <p:spPr bwMode="auto">
              <a:xfrm flipV="1">
                <a:off x="1783679" y="3536684"/>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52" name="Line 69"/>
              <p:cNvSpPr>
                <a:spLocks noChangeShapeType="1"/>
              </p:cNvSpPr>
              <p:nvPr/>
            </p:nvSpPr>
            <p:spPr bwMode="auto">
              <a:xfrm flipV="1">
                <a:off x="1791617" y="3504934"/>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53" name="Line 70"/>
              <p:cNvSpPr>
                <a:spLocks noChangeShapeType="1"/>
              </p:cNvSpPr>
              <p:nvPr/>
            </p:nvSpPr>
            <p:spPr bwMode="auto">
              <a:xfrm flipV="1">
                <a:off x="1801142" y="34715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54" name="Line 71"/>
              <p:cNvSpPr>
                <a:spLocks noChangeShapeType="1"/>
              </p:cNvSpPr>
              <p:nvPr/>
            </p:nvSpPr>
            <p:spPr bwMode="auto">
              <a:xfrm flipV="1">
                <a:off x="1810667" y="3438259"/>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55" name="Line 72"/>
              <p:cNvSpPr>
                <a:spLocks noChangeShapeType="1"/>
              </p:cNvSpPr>
              <p:nvPr/>
            </p:nvSpPr>
            <p:spPr bwMode="auto">
              <a:xfrm flipV="1">
                <a:off x="1820192" y="3403334"/>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56" name="Line 73"/>
              <p:cNvSpPr>
                <a:spLocks noChangeShapeType="1"/>
              </p:cNvSpPr>
              <p:nvPr/>
            </p:nvSpPr>
            <p:spPr bwMode="auto">
              <a:xfrm flipV="1">
                <a:off x="1829717" y="33699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57" name="Line 74"/>
              <p:cNvSpPr>
                <a:spLocks noChangeShapeType="1"/>
              </p:cNvSpPr>
              <p:nvPr/>
            </p:nvSpPr>
            <p:spPr bwMode="auto">
              <a:xfrm flipV="1">
                <a:off x="1839242" y="3335071"/>
                <a:ext cx="7938"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58" name="Line 75"/>
              <p:cNvSpPr>
                <a:spLocks noChangeShapeType="1"/>
              </p:cNvSpPr>
              <p:nvPr/>
            </p:nvSpPr>
            <p:spPr bwMode="auto">
              <a:xfrm flipV="1">
                <a:off x="1847179"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59" name="Line 76"/>
              <p:cNvSpPr>
                <a:spLocks noChangeShapeType="1"/>
              </p:cNvSpPr>
              <p:nvPr/>
            </p:nvSpPr>
            <p:spPr bwMode="auto">
              <a:xfrm flipV="1">
                <a:off x="1856704"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60" name="Line 77"/>
              <p:cNvSpPr>
                <a:spLocks noChangeShapeType="1"/>
              </p:cNvSpPr>
              <p:nvPr/>
            </p:nvSpPr>
            <p:spPr bwMode="auto">
              <a:xfrm flipV="1">
                <a:off x="1866229"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61" name="Line 78"/>
              <p:cNvSpPr>
                <a:spLocks noChangeShapeType="1"/>
              </p:cNvSpPr>
              <p:nvPr/>
            </p:nvSpPr>
            <p:spPr bwMode="auto">
              <a:xfrm flipV="1">
                <a:off x="1875754" y="320172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62" name="Line 79"/>
              <p:cNvSpPr>
                <a:spLocks noChangeShapeType="1"/>
              </p:cNvSpPr>
              <p:nvPr/>
            </p:nvSpPr>
            <p:spPr bwMode="auto">
              <a:xfrm flipV="1">
                <a:off x="1885279" y="3171559"/>
                <a:ext cx="9525"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63" name="Line 80"/>
              <p:cNvSpPr>
                <a:spLocks noChangeShapeType="1"/>
              </p:cNvSpPr>
              <p:nvPr/>
            </p:nvSpPr>
            <p:spPr bwMode="auto">
              <a:xfrm flipV="1">
                <a:off x="1894804" y="3142984"/>
                <a:ext cx="7938"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64" name="Line 81"/>
              <p:cNvSpPr>
                <a:spLocks noChangeShapeType="1"/>
              </p:cNvSpPr>
              <p:nvPr/>
            </p:nvSpPr>
            <p:spPr bwMode="auto">
              <a:xfrm flipV="1">
                <a:off x="1902742"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65" name="Line 82"/>
              <p:cNvSpPr>
                <a:spLocks noChangeShapeType="1"/>
              </p:cNvSpPr>
              <p:nvPr/>
            </p:nvSpPr>
            <p:spPr bwMode="auto">
              <a:xfrm flipV="1">
                <a:off x="1912267"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66" name="Line 83"/>
              <p:cNvSpPr>
                <a:spLocks noChangeShapeType="1"/>
              </p:cNvSpPr>
              <p:nvPr/>
            </p:nvSpPr>
            <p:spPr bwMode="auto">
              <a:xfrm flipV="1">
                <a:off x="1921792" y="3069959"/>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67" name="Line 84"/>
              <p:cNvSpPr>
                <a:spLocks noChangeShapeType="1"/>
              </p:cNvSpPr>
              <p:nvPr/>
            </p:nvSpPr>
            <p:spPr bwMode="auto">
              <a:xfrm flipV="1">
                <a:off x="1931317" y="3050909"/>
                <a:ext cx="9525"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68" name="Line 85"/>
              <p:cNvSpPr>
                <a:spLocks noChangeShapeType="1"/>
              </p:cNvSpPr>
              <p:nvPr/>
            </p:nvSpPr>
            <p:spPr bwMode="auto">
              <a:xfrm flipV="1">
                <a:off x="1940842" y="3035034"/>
                <a:ext cx="7938"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69" name="Line 86"/>
              <p:cNvSpPr>
                <a:spLocks noChangeShapeType="1"/>
              </p:cNvSpPr>
              <p:nvPr/>
            </p:nvSpPr>
            <p:spPr bwMode="auto">
              <a:xfrm flipV="1">
                <a:off x="1948779"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70" name="Line 87"/>
              <p:cNvSpPr>
                <a:spLocks noChangeShapeType="1"/>
              </p:cNvSpPr>
              <p:nvPr/>
            </p:nvSpPr>
            <p:spPr bwMode="auto">
              <a:xfrm flipV="1">
                <a:off x="1958304"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71" name="Line 88"/>
              <p:cNvSpPr>
                <a:spLocks noChangeShapeType="1"/>
              </p:cNvSpPr>
              <p:nvPr/>
            </p:nvSpPr>
            <p:spPr bwMode="auto">
              <a:xfrm flipV="1">
                <a:off x="1967829"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72" name="Line 89"/>
              <p:cNvSpPr>
                <a:spLocks noChangeShapeType="1"/>
              </p:cNvSpPr>
              <p:nvPr/>
            </p:nvSpPr>
            <p:spPr bwMode="auto">
              <a:xfrm flipV="1">
                <a:off x="1977354" y="3003284"/>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73" name="Line 90"/>
              <p:cNvSpPr>
                <a:spLocks noChangeShapeType="1"/>
              </p:cNvSpPr>
              <p:nvPr/>
            </p:nvSpPr>
            <p:spPr bwMode="auto">
              <a:xfrm>
                <a:off x="1986879" y="3003284"/>
                <a:ext cx="9525" cy="15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74" name="Line 91"/>
              <p:cNvSpPr>
                <a:spLocks noChangeShapeType="1"/>
              </p:cNvSpPr>
              <p:nvPr/>
            </p:nvSpPr>
            <p:spPr bwMode="auto">
              <a:xfrm>
                <a:off x="1996404" y="3003284"/>
                <a:ext cx="7938"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75" name="Line 92"/>
              <p:cNvSpPr>
                <a:spLocks noChangeShapeType="1"/>
              </p:cNvSpPr>
              <p:nvPr/>
            </p:nvSpPr>
            <p:spPr bwMode="auto">
              <a:xfrm>
                <a:off x="2004342"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76" name="Line 93"/>
              <p:cNvSpPr>
                <a:spLocks noChangeShapeType="1"/>
              </p:cNvSpPr>
              <p:nvPr/>
            </p:nvSpPr>
            <p:spPr bwMode="auto">
              <a:xfrm>
                <a:off x="2013867"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77" name="Line 94"/>
              <p:cNvSpPr>
                <a:spLocks noChangeShapeType="1"/>
              </p:cNvSpPr>
              <p:nvPr/>
            </p:nvSpPr>
            <p:spPr bwMode="auto">
              <a:xfrm>
                <a:off x="2023392"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78" name="Line 95"/>
              <p:cNvSpPr>
                <a:spLocks noChangeShapeType="1"/>
              </p:cNvSpPr>
              <p:nvPr/>
            </p:nvSpPr>
            <p:spPr bwMode="auto">
              <a:xfrm>
                <a:off x="2032917" y="3035034"/>
                <a:ext cx="9525"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79" name="Line 96"/>
              <p:cNvSpPr>
                <a:spLocks noChangeShapeType="1"/>
              </p:cNvSpPr>
              <p:nvPr/>
            </p:nvSpPr>
            <p:spPr bwMode="auto">
              <a:xfrm>
                <a:off x="2042442" y="3050909"/>
                <a:ext cx="9525"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80" name="Line 97"/>
              <p:cNvSpPr>
                <a:spLocks noChangeShapeType="1"/>
              </p:cNvSpPr>
              <p:nvPr/>
            </p:nvSpPr>
            <p:spPr bwMode="auto">
              <a:xfrm>
                <a:off x="2051967" y="3069959"/>
                <a:ext cx="7938"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81" name="Line 98"/>
              <p:cNvSpPr>
                <a:spLocks noChangeShapeType="1"/>
              </p:cNvSpPr>
              <p:nvPr/>
            </p:nvSpPr>
            <p:spPr bwMode="auto">
              <a:xfrm>
                <a:off x="2059904"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82" name="Line 99"/>
              <p:cNvSpPr>
                <a:spLocks noChangeShapeType="1"/>
              </p:cNvSpPr>
              <p:nvPr/>
            </p:nvSpPr>
            <p:spPr bwMode="auto">
              <a:xfrm>
                <a:off x="2069429"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83" name="Line 100"/>
              <p:cNvSpPr>
                <a:spLocks noChangeShapeType="1"/>
              </p:cNvSpPr>
              <p:nvPr/>
            </p:nvSpPr>
            <p:spPr bwMode="auto">
              <a:xfrm>
                <a:off x="2078954" y="3142984"/>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84" name="Line 101"/>
              <p:cNvSpPr>
                <a:spLocks noChangeShapeType="1"/>
              </p:cNvSpPr>
              <p:nvPr/>
            </p:nvSpPr>
            <p:spPr bwMode="auto">
              <a:xfrm>
                <a:off x="2088479" y="3171559"/>
                <a:ext cx="9525"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85" name="Line 102"/>
              <p:cNvSpPr>
                <a:spLocks noChangeShapeType="1"/>
              </p:cNvSpPr>
              <p:nvPr/>
            </p:nvSpPr>
            <p:spPr bwMode="auto">
              <a:xfrm>
                <a:off x="2098004" y="3201721"/>
                <a:ext cx="7938"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86" name="Line 103"/>
              <p:cNvSpPr>
                <a:spLocks noChangeShapeType="1"/>
              </p:cNvSpPr>
              <p:nvPr/>
            </p:nvSpPr>
            <p:spPr bwMode="auto">
              <a:xfrm>
                <a:off x="2105942"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87" name="Line 104"/>
              <p:cNvSpPr>
                <a:spLocks noChangeShapeType="1"/>
              </p:cNvSpPr>
              <p:nvPr/>
            </p:nvSpPr>
            <p:spPr bwMode="auto">
              <a:xfrm>
                <a:off x="2115467"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88" name="Line 105"/>
              <p:cNvSpPr>
                <a:spLocks noChangeShapeType="1"/>
              </p:cNvSpPr>
              <p:nvPr/>
            </p:nvSpPr>
            <p:spPr bwMode="auto">
              <a:xfrm>
                <a:off x="2124992"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889" name="Line 106"/>
              <p:cNvSpPr>
                <a:spLocks noChangeShapeType="1"/>
              </p:cNvSpPr>
              <p:nvPr/>
            </p:nvSpPr>
            <p:spPr bwMode="auto">
              <a:xfrm>
                <a:off x="2134517" y="333507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grpSp>
        <p:grpSp>
          <p:nvGrpSpPr>
            <p:cNvPr id="8" name="Group 386"/>
            <p:cNvGrpSpPr/>
            <p:nvPr/>
          </p:nvGrpSpPr>
          <p:grpSpPr>
            <a:xfrm flipV="1">
              <a:off x="2143124" y="3000375"/>
              <a:ext cx="915988" cy="733425"/>
              <a:chOff x="1228054" y="3003284"/>
              <a:chExt cx="915988" cy="733425"/>
            </a:xfrm>
          </p:grpSpPr>
          <p:sp>
            <p:nvSpPr>
              <p:cNvPr id="692" name="Line 8"/>
              <p:cNvSpPr>
                <a:spLocks noChangeShapeType="1"/>
              </p:cNvSpPr>
              <p:nvPr/>
            </p:nvSpPr>
            <p:spPr bwMode="auto">
              <a:xfrm flipV="1">
                <a:off x="1228054" y="333507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93" name="Line 9"/>
              <p:cNvSpPr>
                <a:spLocks noChangeShapeType="1"/>
              </p:cNvSpPr>
              <p:nvPr/>
            </p:nvSpPr>
            <p:spPr bwMode="auto">
              <a:xfrm flipV="1">
                <a:off x="1237579"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94" name="Line 10"/>
              <p:cNvSpPr>
                <a:spLocks noChangeShapeType="1"/>
              </p:cNvSpPr>
              <p:nvPr/>
            </p:nvSpPr>
            <p:spPr bwMode="auto">
              <a:xfrm flipV="1">
                <a:off x="1247104"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95" name="Line 11"/>
              <p:cNvSpPr>
                <a:spLocks noChangeShapeType="1"/>
              </p:cNvSpPr>
              <p:nvPr/>
            </p:nvSpPr>
            <p:spPr bwMode="auto">
              <a:xfrm flipV="1">
                <a:off x="1256629"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96" name="Line 12"/>
              <p:cNvSpPr>
                <a:spLocks noChangeShapeType="1"/>
              </p:cNvSpPr>
              <p:nvPr/>
            </p:nvSpPr>
            <p:spPr bwMode="auto">
              <a:xfrm flipV="1">
                <a:off x="1266154" y="320172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97" name="Line 13"/>
              <p:cNvSpPr>
                <a:spLocks noChangeShapeType="1"/>
              </p:cNvSpPr>
              <p:nvPr/>
            </p:nvSpPr>
            <p:spPr bwMode="auto">
              <a:xfrm flipV="1">
                <a:off x="1275679" y="3171559"/>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98" name="Line 14"/>
              <p:cNvSpPr>
                <a:spLocks noChangeShapeType="1"/>
              </p:cNvSpPr>
              <p:nvPr/>
            </p:nvSpPr>
            <p:spPr bwMode="auto">
              <a:xfrm flipV="1">
                <a:off x="1283617" y="3142984"/>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99" name="Line 15"/>
              <p:cNvSpPr>
                <a:spLocks noChangeShapeType="1"/>
              </p:cNvSpPr>
              <p:nvPr/>
            </p:nvSpPr>
            <p:spPr bwMode="auto">
              <a:xfrm flipV="1">
                <a:off x="1293142"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00" name="Line 16"/>
              <p:cNvSpPr>
                <a:spLocks noChangeShapeType="1"/>
              </p:cNvSpPr>
              <p:nvPr/>
            </p:nvSpPr>
            <p:spPr bwMode="auto">
              <a:xfrm flipV="1">
                <a:off x="1302667"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01" name="Line 17"/>
              <p:cNvSpPr>
                <a:spLocks noChangeShapeType="1"/>
              </p:cNvSpPr>
              <p:nvPr/>
            </p:nvSpPr>
            <p:spPr bwMode="auto">
              <a:xfrm flipV="1">
                <a:off x="1312192" y="3069959"/>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02" name="Line 18"/>
              <p:cNvSpPr>
                <a:spLocks noChangeShapeType="1"/>
              </p:cNvSpPr>
              <p:nvPr/>
            </p:nvSpPr>
            <p:spPr bwMode="auto">
              <a:xfrm flipV="1">
                <a:off x="1321717" y="3050909"/>
                <a:ext cx="7938"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03" name="Line 19"/>
              <p:cNvSpPr>
                <a:spLocks noChangeShapeType="1"/>
              </p:cNvSpPr>
              <p:nvPr/>
            </p:nvSpPr>
            <p:spPr bwMode="auto">
              <a:xfrm flipV="1">
                <a:off x="1329654" y="3035034"/>
                <a:ext cx="9525"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04" name="Line 20"/>
              <p:cNvSpPr>
                <a:spLocks noChangeShapeType="1"/>
              </p:cNvSpPr>
              <p:nvPr/>
            </p:nvSpPr>
            <p:spPr bwMode="auto">
              <a:xfrm flipV="1">
                <a:off x="1339179"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05" name="Line 21"/>
              <p:cNvSpPr>
                <a:spLocks noChangeShapeType="1"/>
              </p:cNvSpPr>
              <p:nvPr/>
            </p:nvSpPr>
            <p:spPr bwMode="auto">
              <a:xfrm flipV="1">
                <a:off x="1348704"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06" name="Line 22"/>
              <p:cNvSpPr>
                <a:spLocks noChangeShapeType="1"/>
              </p:cNvSpPr>
              <p:nvPr/>
            </p:nvSpPr>
            <p:spPr bwMode="auto">
              <a:xfrm flipV="1">
                <a:off x="1358229"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07" name="Line 23"/>
              <p:cNvSpPr>
                <a:spLocks noChangeShapeType="1"/>
              </p:cNvSpPr>
              <p:nvPr/>
            </p:nvSpPr>
            <p:spPr bwMode="auto">
              <a:xfrm flipV="1">
                <a:off x="1367754" y="3003284"/>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08" name="Line 24"/>
              <p:cNvSpPr>
                <a:spLocks noChangeShapeType="1"/>
              </p:cNvSpPr>
              <p:nvPr/>
            </p:nvSpPr>
            <p:spPr bwMode="auto">
              <a:xfrm>
                <a:off x="1377279" y="3003284"/>
                <a:ext cx="7938" cy="15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09" name="Line 25"/>
              <p:cNvSpPr>
                <a:spLocks noChangeShapeType="1"/>
              </p:cNvSpPr>
              <p:nvPr/>
            </p:nvSpPr>
            <p:spPr bwMode="auto">
              <a:xfrm>
                <a:off x="1385217" y="3003284"/>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10" name="Line 26"/>
              <p:cNvSpPr>
                <a:spLocks noChangeShapeType="1"/>
              </p:cNvSpPr>
              <p:nvPr/>
            </p:nvSpPr>
            <p:spPr bwMode="auto">
              <a:xfrm>
                <a:off x="1394742"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11" name="Line 27"/>
              <p:cNvSpPr>
                <a:spLocks noChangeShapeType="1"/>
              </p:cNvSpPr>
              <p:nvPr/>
            </p:nvSpPr>
            <p:spPr bwMode="auto">
              <a:xfrm>
                <a:off x="1404267"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12" name="Line 28"/>
              <p:cNvSpPr>
                <a:spLocks noChangeShapeType="1"/>
              </p:cNvSpPr>
              <p:nvPr/>
            </p:nvSpPr>
            <p:spPr bwMode="auto">
              <a:xfrm>
                <a:off x="1413792"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13" name="Line 29"/>
              <p:cNvSpPr>
                <a:spLocks noChangeShapeType="1"/>
              </p:cNvSpPr>
              <p:nvPr/>
            </p:nvSpPr>
            <p:spPr bwMode="auto">
              <a:xfrm>
                <a:off x="1423317" y="3035034"/>
                <a:ext cx="7938"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14" name="Line 30"/>
              <p:cNvSpPr>
                <a:spLocks noChangeShapeType="1"/>
              </p:cNvSpPr>
              <p:nvPr/>
            </p:nvSpPr>
            <p:spPr bwMode="auto">
              <a:xfrm>
                <a:off x="1431254" y="3050909"/>
                <a:ext cx="9525"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15" name="Line 31"/>
              <p:cNvSpPr>
                <a:spLocks noChangeShapeType="1"/>
              </p:cNvSpPr>
              <p:nvPr/>
            </p:nvSpPr>
            <p:spPr bwMode="auto">
              <a:xfrm>
                <a:off x="1440779" y="3069959"/>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16" name="Line 32"/>
              <p:cNvSpPr>
                <a:spLocks noChangeShapeType="1"/>
              </p:cNvSpPr>
              <p:nvPr/>
            </p:nvSpPr>
            <p:spPr bwMode="auto">
              <a:xfrm>
                <a:off x="1450304"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17" name="Line 33"/>
              <p:cNvSpPr>
                <a:spLocks noChangeShapeType="1"/>
              </p:cNvSpPr>
              <p:nvPr/>
            </p:nvSpPr>
            <p:spPr bwMode="auto">
              <a:xfrm>
                <a:off x="1459829"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18" name="Line 34"/>
              <p:cNvSpPr>
                <a:spLocks noChangeShapeType="1"/>
              </p:cNvSpPr>
              <p:nvPr/>
            </p:nvSpPr>
            <p:spPr bwMode="auto">
              <a:xfrm>
                <a:off x="1469354" y="3142984"/>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19" name="Line 35"/>
              <p:cNvSpPr>
                <a:spLocks noChangeShapeType="1"/>
              </p:cNvSpPr>
              <p:nvPr/>
            </p:nvSpPr>
            <p:spPr bwMode="auto">
              <a:xfrm>
                <a:off x="1478879" y="3171559"/>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20" name="Line 36"/>
              <p:cNvSpPr>
                <a:spLocks noChangeShapeType="1"/>
              </p:cNvSpPr>
              <p:nvPr/>
            </p:nvSpPr>
            <p:spPr bwMode="auto">
              <a:xfrm>
                <a:off x="1486817" y="320172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21" name="Line 37"/>
              <p:cNvSpPr>
                <a:spLocks noChangeShapeType="1"/>
              </p:cNvSpPr>
              <p:nvPr/>
            </p:nvSpPr>
            <p:spPr bwMode="auto">
              <a:xfrm>
                <a:off x="1496342"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22" name="Line 38"/>
              <p:cNvSpPr>
                <a:spLocks noChangeShapeType="1"/>
              </p:cNvSpPr>
              <p:nvPr/>
            </p:nvSpPr>
            <p:spPr bwMode="auto">
              <a:xfrm>
                <a:off x="1505867"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23" name="Line 39"/>
              <p:cNvSpPr>
                <a:spLocks noChangeShapeType="1"/>
              </p:cNvSpPr>
              <p:nvPr/>
            </p:nvSpPr>
            <p:spPr bwMode="auto">
              <a:xfrm>
                <a:off x="1515392"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24" name="Line 40"/>
              <p:cNvSpPr>
                <a:spLocks noChangeShapeType="1"/>
              </p:cNvSpPr>
              <p:nvPr/>
            </p:nvSpPr>
            <p:spPr bwMode="auto">
              <a:xfrm>
                <a:off x="1524917" y="3335071"/>
                <a:ext cx="7938"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25" name="Line 41"/>
              <p:cNvSpPr>
                <a:spLocks noChangeShapeType="1"/>
              </p:cNvSpPr>
              <p:nvPr/>
            </p:nvSpPr>
            <p:spPr bwMode="auto">
              <a:xfrm>
                <a:off x="1532854" y="33699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26" name="Line 42"/>
              <p:cNvSpPr>
                <a:spLocks noChangeShapeType="1"/>
              </p:cNvSpPr>
              <p:nvPr/>
            </p:nvSpPr>
            <p:spPr bwMode="auto">
              <a:xfrm>
                <a:off x="1542379" y="3403334"/>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27" name="Line 43"/>
              <p:cNvSpPr>
                <a:spLocks noChangeShapeType="1"/>
              </p:cNvSpPr>
              <p:nvPr/>
            </p:nvSpPr>
            <p:spPr bwMode="auto">
              <a:xfrm>
                <a:off x="1551904" y="3438259"/>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28" name="Line 44"/>
              <p:cNvSpPr>
                <a:spLocks noChangeShapeType="1"/>
              </p:cNvSpPr>
              <p:nvPr/>
            </p:nvSpPr>
            <p:spPr bwMode="auto">
              <a:xfrm>
                <a:off x="1561429" y="34715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29" name="Line 45"/>
              <p:cNvSpPr>
                <a:spLocks noChangeShapeType="1"/>
              </p:cNvSpPr>
              <p:nvPr/>
            </p:nvSpPr>
            <p:spPr bwMode="auto">
              <a:xfrm>
                <a:off x="1570954" y="3504934"/>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30" name="Line 46"/>
              <p:cNvSpPr>
                <a:spLocks noChangeShapeType="1"/>
              </p:cNvSpPr>
              <p:nvPr/>
            </p:nvSpPr>
            <p:spPr bwMode="auto">
              <a:xfrm>
                <a:off x="1580479" y="3536684"/>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31" name="Line 47"/>
              <p:cNvSpPr>
                <a:spLocks noChangeShapeType="1"/>
              </p:cNvSpPr>
              <p:nvPr/>
            </p:nvSpPr>
            <p:spPr bwMode="auto">
              <a:xfrm>
                <a:off x="1588417" y="3566846"/>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32" name="Line 48"/>
              <p:cNvSpPr>
                <a:spLocks noChangeShapeType="1"/>
              </p:cNvSpPr>
              <p:nvPr/>
            </p:nvSpPr>
            <p:spPr bwMode="auto">
              <a:xfrm>
                <a:off x="1597942" y="3595421"/>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33" name="Line 49"/>
              <p:cNvSpPr>
                <a:spLocks noChangeShapeType="1"/>
              </p:cNvSpPr>
              <p:nvPr/>
            </p:nvSpPr>
            <p:spPr bwMode="auto">
              <a:xfrm>
                <a:off x="1607467" y="3622409"/>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34" name="Line 50"/>
              <p:cNvSpPr>
                <a:spLocks noChangeShapeType="1"/>
              </p:cNvSpPr>
              <p:nvPr/>
            </p:nvSpPr>
            <p:spPr bwMode="auto">
              <a:xfrm>
                <a:off x="1616992" y="3646221"/>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35" name="Line 51"/>
              <p:cNvSpPr>
                <a:spLocks noChangeShapeType="1"/>
              </p:cNvSpPr>
              <p:nvPr/>
            </p:nvSpPr>
            <p:spPr bwMode="auto">
              <a:xfrm>
                <a:off x="1626517" y="3668446"/>
                <a:ext cx="7938"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36" name="Line 52"/>
              <p:cNvSpPr>
                <a:spLocks noChangeShapeType="1"/>
              </p:cNvSpPr>
              <p:nvPr/>
            </p:nvSpPr>
            <p:spPr bwMode="auto">
              <a:xfrm>
                <a:off x="1634454" y="3685909"/>
                <a:ext cx="9525"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37" name="Line 53"/>
              <p:cNvSpPr>
                <a:spLocks noChangeShapeType="1"/>
              </p:cNvSpPr>
              <p:nvPr/>
            </p:nvSpPr>
            <p:spPr bwMode="auto">
              <a:xfrm>
                <a:off x="1643979" y="3703371"/>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38" name="Line 54"/>
              <p:cNvSpPr>
                <a:spLocks noChangeShapeType="1"/>
              </p:cNvSpPr>
              <p:nvPr/>
            </p:nvSpPr>
            <p:spPr bwMode="auto">
              <a:xfrm>
                <a:off x="1653504" y="3716071"/>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39" name="Line 55"/>
              <p:cNvSpPr>
                <a:spLocks noChangeShapeType="1"/>
              </p:cNvSpPr>
              <p:nvPr/>
            </p:nvSpPr>
            <p:spPr bwMode="auto">
              <a:xfrm>
                <a:off x="1663029" y="3725596"/>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40" name="Line 56"/>
              <p:cNvSpPr>
                <a:spLocks noChangeShapeType="1"/>
              </p:cNvSpPr>
              <p:nvPr/>
            </p:nvSpPr>
            <p:spPr bwMode="auto">
              <a:xfrm>
                <a:off x="1672554" y="3731946"/>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41" name="Line 57"/>
              <p:cNvSpPr>
                <a:spLocks noChangeShapeType="1"/>
              </p:cNvSpPr>
              <p:nvPr/>
            </p:nvSpPr>
            <p:spPr bwMode="auto">
              <a:xfrm>
                <a:off x="1682079" y="3735121"/>
                <a:ext cx="7938" cy="15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42" name="Line 58"/>
              <p:cNvSpPr>
                <a:spLocks noChangeShapeType="1"/>
              </p:cNvSpPr>
              <p:nvPr/>
            </p:nvSpPr>
            <p:spPr bwMode="auto">
              <a:xfrm flipV="1">
                <a:off x="1690017" y="3731946"/>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43" name="Line 59"/>
              <p:cNvSpPr>
                <a:spLocks noChangeShapeType="1"/>
              </p:cNvSpPr>
              <p:nvPr/>
            </p:nvSpPr>
            <p:spPr bwMode="auto">
              <a:xfrm flipV="1">
                <a:off x="1699542" y="3725596"/>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44" name="Line 60"/>
              <p:cNvSpPr>
                <a:spLocks noChangeShapeType="1"/>
              </p:cNvSpPr>
              <p:nvPr/>
            </p:nvSpPr>
            <p:spPr bwMode="auto">
              <a:xfrm flipV="1">
                <a:off x="1709067" y="3716071"/>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45" name="Line 61"/>
              <p:cNvSpPr>
                <a:spLocks noChangeShapeType="1"/>
              </p:cNvSpPr>
              <p:nvPr/>
            </p:nvSpPr>
            <p:spPr bwMode="auto">
              <a:xfrm flipV="1">
                <a:off x="1718592" y="3703371"/>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46" name="Line 62"/>
              <p:cNvSpPr>
                <a:spLocks noChangeShapeType="1"/>
              </p:cNvSpPr>
              <p:nvPr/>
            </p:nvSpPr>
            <p:spPr bwMode="auto">
              <a:xfrm flipV="1">
                <a:off x="1728117" y="3685909"/>
                <a:ext cx="9525"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47" name="Line 63"/>
              <p:cNvSpPr>
                <a:spLocks noChangeShapeType="1"/>
              </p:cNvSpPr>
              <p:nvPr/>
            </p:nvSpPr>
            <p:spPr bwMode="auto">
              <a:xfrm flipV="1">
                <a:off x="1737642" y="3668446"/>
                <a:ext cx="7938"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48" name="Line 64"/>
              <p:cNvSpPr>
                <a:spLocks noChangeShapeType="1"/>
              </p:cNvSpPr>
              <p:nvPr/>
            </p:nvSpPr>
            <p:spPr bwMode="auto">
              <a:xfrm flipV="1">
                <a:off x="1745579" y="3646221"/>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49" name="Line 65"/>
              <p:cNvSpPr>
                <a:spLocks noChangeShapeType="1"/>
              </p:cNvSpPr>
              <p:nvPr/>
            </p:nvSpPr>
            <p:spPr bwMode="auto">
              <a:xfrm flipV="1">
                <a:off x="1755104" y="3622409"/>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50" name="Line 66"/>
              <p:cNvSpPr>
                <a:spLocks noChangeShapeType="1"/>
              </p:cNvSpPr>
              <p:nvPr/>
            </p:nvSpPr>
            <p:spPr bwMode="auto">
              <a:xfrm flipV="1">
                <a:off x="1764629" y="3595421"/>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51" name="Line 67"/>
              <p:cNvSpPr>
                <a:spLocks noChangeShapeType="1"/>
              </p:cNvSpPr>
              <p:nvPr/>
            </p:nvSpPr>
            <p:spPr bwMode="auto">
              <a:xfrm flipV="1">
                <a:off x="1774154" y="3566846"/>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52" name="Line 68"/>
              <p:cNvSpPr>
                <a:spLocks noChangeShapeType="1"/>
              </p:cNvSpPr>
              <p:nvPr/>
            </p:nvSpPr>
            <p:spPr bwMode="auto">
              <a:xfrm flipV="1">
                <a:off x="1783679" y="3536684"/>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53" name="Line 69"/>
              <p:cNvSpPr>
                <a:spLocks noChangeShapeType="1"/>
              </p:cNvSpPr>
              <p:nvPr/>
            </p:nvSpPr>
            <p:spPr bwMode="auto">
              <a:xfrm flipV="1">
                <a:off x="1791617" y="3504934"/>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54" name="Line 70"/>
              <p:cNvSpPr>
                <a:spLocks noChangeShapeType="1"/>
              </p:cNvSpPr>
              <p:nvPr/>
            </p:nvSpPr>
            <p:spPr bwMode="auto">
              <a:xfrm flipV="1">
                <a:off x="1801142" y="34715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55" name="Line 71"/>
              <p:cNvSpPr>
                <a:spLocks noChangeShapeType="1"/>
              </p:cNvSpPr>
              <p:nvPr/>
            </p:nvSpPr>
            <p:spPr bwMode="auto">
              <a:xfrm flipV="1">
                <a:off x="1810667" y="3438259"/>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56" name="Line 72"/>
              <p:cNvSpPr>
                <a:spLocks noChangeShapeType="1"/>
              </p:cNvSpPr>
              <p:nvPr/>
            </p:nvSpPr>
            <p:spPr bwMode="auto">
              <a:xfrm flipV="1">
                <a:off x="1820192" y="3403334"/>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57" name="Line 73"/>
              <p:cNvSpPr>
                <a:spLocks noChangeShapeType="1"/>
              </p:cNvSpPr>
              <p:nvPr/>
            </p:nvSpPr>
            <p:spPr bwMode="auto">
              <a:xfrm flipV="1">
                <a:off x="1829717" y="33699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58" name="Line 74"/>
              <p:cNvSpPr>
                <a:spLocks noChangeShapeType="1"/>
              </p:cNvSpPr>
              <p:nvPr/>
            </p:nvSpPr>
            <p:spPr bwMode="auto">
              <a:xfrm flipV="1">
                <a:off x="1839242" y="3335071"/>
                <a:ext cx="7938"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59" name="Line 75"/>
              <p:cNvSpPr>
                <a:spLocks noChangeShapeType="1"/>
              </p:cNvSpPr>
              <p:nvPr/>
            </p:nvSpPr>
            <p:spPr bwMode="auto">
              <a:xfrm flipV="1">
                <a:off x="1847179"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60" name="Line 76"/>
              <p:cNvSpPr>
                <a:spLocks noChangeShapeType="1"/>
              </p:cNvSpPr>
              <p:nvPr/>
            </p:nvSpPr>
            <p:spPr bwMode="auto">
              <a:xfrm flipV="1">
                <a:off x="1856704"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61" name="Line 77"/>
              <p:cNvSpPr>
                <a:spLocks noChangeShapeType="1"/>
              </p:cNvSpPr>
              <p:nvPr/>
            </p:nvSpPr>
            <p:spPr bwMode="auto">
              <a:xfrm flipV="1">
                <a:off x="1866229"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62" name="Line 78"/>
              <p:cNvSpPr>
                <a:spLocks noChangeShapeType="1"/>
              </p:cNvSpPr>
              <p:nvPr/>
            </p:nvSpPr>
            <p:spPr bwMode="auto">
              <a:xfrm flipV="1">
                <a:off x="1875754" y="320172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63" name="Line 79"/>
              <p:cNvSpPr>
                <a:spLocks noChangeShapeType="1"/>
              </p:cNvSpPr>
              <p:nvPr/>
            </p:nvSpPr>
            <p:spPr bwMode="auto">
              <a:xfrm flipV="1">
                <a:off x="1885279" y="3171559"/>
                <a:ext cx="9525"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64" name="Line 80"/>
              <p:cNvSpPr>
                <a:spLocks noChangeShapeType="1"/>
              </p:cNvSpPr>
              <p:nvPr/>
            </p:nvSpPr>
            <p:spPr bwMode="auto">
              <a:xfrm flipV="1">
                <a:off x="1894804" y="3142984"/>
                <a:ext cx="7938"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65" name="Line 81"/>
              <p:cNvSpPr>
                <a:spLocks noChangeShapeType="1"/>
              </p:cNvSpPr>
              <p:nvPr/>
            </p:nvSpPr>
            <p:spPr bwMode="auto">
              <a:xfrm flipV="1">
                <a:off x="1902742"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66" name="Line 82"/>
              <p:cNvSpPr>
                <a:spLocks noChangeShapeType="1"/>
              </p:cNvSpPr>
              <p:nvPr/>
            </p:nvSpPr>
            <p:spPr bwMode="auto">
              <a:xfrm flipV="1">
                <a:off x="1912267"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67" name="Line 83"/>
              <p:cNvSpPr>
                <a:spLocks noChangeShapeType="1"/>
              </p:cNvSpPr>
              <p:nvPr/>
            </p:nvSpPr>
            <p:spPr bwMode="auto">
              <a:xfrm flipV="1">
                <a:off x="1921792" y="3069959"/>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68" name="Line 84"/>
              <p:cNvSpPr>
                <a:spLocks noChangeShapeType="1"/>
              </p:cNvSpPr>
              <p:nvPr/>
            </p:nvSpPr>
            <p:spPr bwMode="auto">
              <a:xfrm flipV="1">
                <a:off x="1931317" y="3050909"/>
                <a:ext cx="9525"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69" name="Line 85"/>
              <p:cNvSpPr>
                <a:spLocks noChangeShapeType="1"/>
              </p:cNvSpPr>
              <p:nvPr/>
            </p:nvSpPr>
            <p:spPr bwMode="auto">
              <a:xfrm flipV="1">
                <a:off x="1940842" y="3035034"/>
                <a:ext cx="7938"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70" name="Line 86"/>
              <p:cNvSpPr>
                <a:spLocks noChangeShapeType="1"/>
              </p:cNvSpPr>
              <p:nvPr/>
            </p:nvSpPr>
            <p:spPr bwMode="auto">
              <a:xfrm flipV="1">
                <a:off x="1948779"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71" name="Line 87"/>
              <p:cNvSpPr>
                <a:spLocks noChangeShapeType="1"/>
              </p:cNvSpPr>
              <p:nvPr/>
            </p:nvSpPr>
            <p:spPr bwMode="auto">
              <a:xfrm flipV="1">
                <a:off x="1958304"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72" name="Line 88"/>
              <p:cNvSpPr>
                <a:spLocks noChangeShapeType="1"/>
              </p:cNvSpPr>
              <p:nvPr/>
            </p:nvSpPr>
            <p:spPr bwMode="auto">
              <a:xfrm flipV="1">
                <a:off x="1967829"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73" name="Line 89"/>
              <p:cNvSpPr>
                <a:spLocks noChangeShapeType="1"/>
              </p:cNvSpPr>
              <p:nvPr/>
            </p:nvSpPr>
            <p:spPr bwMode="auto">
              <a:xfrm flipV="1">
                <a:off x="1977354" y="3003284"/>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74" name="Line 90"/>
              <p:cNvSpPr>
                <a:spLocks noChangeShapeType="1"/>
              </p:cNvSpPr>
              <p:nvPr/>
            </p:nvSpPr>
            <p:spPr bwMode="auto">
              <a:xfrm>
                <a:off x="1986879" y="3003284"/>
                <a:ext cx="9525" cy="15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75" name="Line 91"/>
              <p:cNvSpPr>
                <a:spLocks noChangeShapeType="1"/>
              </p:cNvSpPr>
              <p:nvPr/>
            </p:nvSpPr>
            <p:spPr bwMode="auto">
              <a:xfrm>
                <a:off x="1996404" y="3003284"/>
                <a:ext cx="7938"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76" name="Line 92"/>
              <p:cNvSpPr>
                <a:spLocks noChangeShapeType="1"/>
              </p:cNvSpPr>
              <p:nvPr/>
            </p:nvSpPr>
            <p:spPr bwMode="auto">
              <a:xfrm>
                <a:off x="2004342"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77" name="Line 93"/>
              <p:cNvSpPr>
                <a:spLocks noChangeShapeType="1"/>
              </p:cNvSpPr>
              <p:nvPr/>
            </p:nvSpPr>
            <p:spPr bwMode="auto">
              <a:xfrm>
                <a:off x="2013867"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78" name="Line 94"/>
              <p:cNvSpPr>
                <a:spLocks noChangeShapeType="1"/>
              </p:cNvSpPr>
              <p:nvPr/>
            </p:nvSpPr>
            <p:spPr bwMode="auto">
              <a:xfrm>
                <a:off x="2023392"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79" name="Line 95"/>
              <p:cNvSpPr>
                <a:spLocks noChangeShapeType="1"/>
              </p:cNvSpPr>
              <p:nvPr/>
            </p:nvSpPr>
            <p:spPr bwMode="auto">
              <a:xfrm>
                <a:off x="2032917" y="3035034"/>
                <a:ext cx="9525"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80" name="Line 96"/>
              <p:cNvSpPr>
                <a:spLocks noChangeShapeType="1"/>
              </p:cNvSpPr>
              <p:nvPr/>
            </p:nvSpPr>
            <p:spPr bwMode="auto">
              <a:xfrm>
                <a:off x="2042442" y="3050909"/>
                <a:ext cx="9525"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81" name="Line 97"/>
              <p:cNvSpPr>
                <a:spLocks noChangeShapeType="1"/>
              </p:cNvSpPr>
              <p:nvPr/>
            </p:nvSpPr>
            <p:spPr bwMode="auto">
              <a:xfrm>
                <a:off x="2051967" y="3069959"/>
                <a:ext cx="7938"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82" name="Line 98"/>
              <p:cNvSpPr>
                <a:spLocks noChangeShapeType="1"/>
              </p:cNvSpPr>
              <p:nvPr/>
            </p:nvSpPr>
            <p:spPr bwMode="auto">
              <a:xfrm>
                <a:off x="2059904"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83" name="Line 99"/>
              <p:cNvSpPr>
                <a:spLocks noChangeShapeType="1"/>
              </p:cNvSpPr>
              <p:nvPr/>
            </p:nvSpPr>
            <p:spPr bwMode="auto">
              <a:xfrm>
                <a:off x="2069429"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84" name="Line 100"/>
              <p:cNvSpPr>
                <a:spLocks noChangeShapeType="1"/>
              </p:cNvSpPr>
              <p:nvPr/>
            </p:nvSpPr>
            <p:spPr bwMode="auto">
              <a:xfrm>
                <a:off x="2078954" y="3142984"/>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85" name="Line 101"/>
              <p:cNvSpPr>
                <a:spLocks noChangeShapeType="1"/>
              </p:cNvSpPr>
              <p:nvPr/>
            </p:nvSpPr>
            <p:spPr bwMode="auto">
              <a:xfrm>
                <a:off x="2088479" y="3171559"/>
                <a:ext cx="9525"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86" name="Line 102"/>
              <p:cNvSpPr>
                <a:spLocks noChangeShapeType="1"/>
              </p:cNvSpPr>
              <p:nvPr/>
            </p:nvSpPr>
            <p:spPr bwMode="auto">
              <a:xfrm>
                <a:off x="2098004" y="3201721"/>
                <a:ext cx="7938"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87" name="Line 103"/>
              <p:cNvSpPr>
                <a:spLocks noChangeShapeType="1"/>
              </p:cNvSpPr>
              <p:nvPr/>
            </p:nvSpPr>
            <p:spPr bwMode="auto">
              <a:xfrm>
                <a:off x="2105942"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88" name="Line 104"/>
              <p:cNvSpPr>
                <a:spLocks noChangeShapeType="1"/>
              </p:cNvSpPr>
              <p:nvPr/>
            </p:nvSpPr>
            <p:spPr bwMode="auto">
              <a:xfrm>
                <a:off x="2115467"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89" name="Line 105"/>
              <p:cNvSpPr>
                <a:spLocks noChangeShapeType="1"/>
              </p:cNvSpPr>
              <p:nvPr/>
            </p:nvSpPr>
            <p:spPr bwMode="auto">
              <a:xfrm>
                <a:off x="2124992"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790" name="Line 106"/>
              <p:cNvSpPr>
                <a:spLocks noChangeShapeType="1"/>
              </p:cNvSpPr>
              <p:nvPr/>
            </p:nvSpPr>
            <p:spPr bwMode="auto">
              <a:xfrm>
                <a:off x="2134517" y="333507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grpSp>
      </p:grpSp>
      <p:sp>
        <p:nvSpPr>
          <p:cNvPr id="891" name="Oval 890"/>
          <p:cNvSpPr/>
          <p:nvPr/>
        </p:nvSpPr>
        <p:spPr>
          <a:xfrm>
            <a:off x="9612924" y="661177"/>
            <a:ext cx="407963" cy="3108960"/>
          </a:xfrm>
          <a:prstGeom prst="ellipse">
            <a:avLst/>
          </a:prstGeom>
          <a:solidFill>
            <a:schemeClr val="bg1">
              <a:lumMod val="75000"/>
            </a:schemeClr>
          </a:solidFill>
          <a:ln w="31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92" name="Can 891"/>
          <p:cNvSpPr/>
          <p:nvPr/>
        </p:nvSpPr>
        <p:spPr>
          <a:xfrm rot="16200000" flipH="1">
            <a:off x="8251882" y="2064437"/>
            <a:ext cx="2025747" cy="386860"/>
          </a:xfrm>
          <a:prstGeom prst="can">
            <a:avLst>
              <a:gd name="adj" fmla="val 50000"/>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93" name="Cube 892"/>
          <p:cNvSpPr/>
          <p:nvPr/>
        </p:nvSpPr>
        <p:spPr>
          <a:xfrm flipH="1">
            <a:off x="5410200" y="5190977"/>
            <a:ext cx="3352800" cy="1336430"/>
          </a:xfrm>
          <a:prstGeom prst="cube">
            <a:avLst>
              <a:gd name="adj" fmla="val 21742"/>
            </a:avLst>
          </a:prstGeom>
          <a:solidFill>
            <a:schemeClr val="accent2"/>
          </a:solidFill>
          <a:ln>
            <a:solidFill>
              <a:schemeClr val="tx1"/>
            </a:solidFill>
          </a:ln>
          <a:scene3d>
            <a:camera prst="orthographicFront">
              <a:rot lat="0" lon="18899957" rev="0"/>
            </a:camera>
            <a:lightRig rig="threePt" dir="t"/>
          </a:scene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3200" dirty="0"/>
              <a:t>Big Battery</a:t>
            </a:r>
          </a:p>
        </p:txBody>
      </p:sp>
      <p:sp>
        <p:nvSpPr>
          <p:cNvPr id="894" name="Can 893"/>
          <p:cNvSpPr/>
          <p:nvPr/>
        </p:nvSpPr>
        <p:spPr>
          <a:xfrm>
            <a:off x="6503961" y="5120639"/>
            <a:ext cx="422030" cy="211015"/>
          </a:xfrm>
          <a:prstGeom prst="can">
            <a:avLst/>
          </a:prstGeom>
          <a:solidFill>
            <a:schemeClr val="accent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95" name="Can 894"/>
          <p:cNvSpPr/>
          <p:nvPr/>
        </p:nvSpPr>
        <p:spPr>
          <a:xfrm>
            <a:off x="7542626" y="5146430"/>
            <a:ext cx="422030" cy="211015"/>
          </a:xfrm>
          <a:prstGeom prst="can">
            <a:avLst/>
          </a:prstGeom>
          <a:solidFill>
            <a:schemeClr val="accent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96" name="Can 895"/>
          <p:cNvSpPr/>
          <p:nvPr/>
        </p:nvSpPr>
        <p:spPr>
          <a:xfrm rot="16200000" flipH="1">
            <a:off x="4591935" y="2048026"/>
            <a:ext cx="2025747" cy="386860"/>
          </a:xfrm>
          <a:prstGeom prst="can">
            <a:avLst>
              <a:gd name="adj" fmla="val 50000"/>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97" name="Oval 896"/>
          <p:cNvSpPr/>
          <p:nvPr/>
        </p:nvSpPr>
        <p:spPr>
          <a:xfrm>
            <a:off x="5505157" y="1969478"/>
            <a:ext cx="56271" cy="590843"/>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9" name="Group 487"/>
          <p:cNvGrpSpPr/>
          <p:nvPr/>
        </p:nvGrpSpPr>
        <p:grpSpPr>
          <a:xfrm>
            <a:off x="3716217" y="2053875"/>
            <a:ext cx="1831058" cy="350199"/>
            <a:chOff x="1228054" y="3000375"/>
            <a:chExt cx="1831058" cy="736334"/>
          </a:xfrm>
        </p:grpSpPr>
        <p:grpSp>
          <p:nvGrpSpPr>
            <p:cNvPr id="10" name="Group 385"/>
            <p:cNvGrpSpPr/>
            <p:nvPr/>
          </p:nvGrpSpPr>
          <p:grpSpPr>
            <a:xfrm>
              <a:off x="1228054" y="3003284"/>
              <a:ext cx="915988" cy="733425"/>
              <a:chOff x="1228054" y="3003284"/>
              <a:chExt cx="915988" cy="733425"/>
            </a:xfrm>
          </p:grpSpPr>
          <p:sp>
            <p:nvSpPr>
              <p:cNvPr id="590" name="Line 8"/>
              <p:cNvSpPr>
                <a:spLocks noChangeShapeType="1"/>
              </p:cNvSpPr>
              <p:nvPr/>
            </p:nvSpPr>
            <p:spPr bwMode="auto">
              <a:xfrm flipV="1">
                <a:off x="1228054" y="333507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1" name="Line 9"/>
              <p:cNvSpPr>
                <a:spLocks noChangeShapeType="1"/>
              </p:cNvSpPr>
              <p:nvPr/>
            </p:nvSpPr>
            <p:spPr bwMode="auto">
              <a:xfrm flipV="1">
                <a:off x="1237579"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2" name="Line 10"/>
              <p:cNvSpPr>
                <a:spLocks noChangeShapeType="1"/>
              </p:cNvSpPr>
              <p:nvPr/>
            </p:nvSpPr>
            <p:spPr bwMode="auto">
              <a:xfrm flipV="1">
                <a:off x="1247104"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3" name="Line 11"/>
              <p:cNvSpPr>
                <a:spLocks noChangeShapeType="1"/>
              </p:cNvSpPr>
              <p:nvPr/>
            </p:nvSpPr>
            <p:spPr bwMode="auto">
              <a:xfrm flipV="1">
                <a:off x="1256629"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4" name="Line 12"/>
              <p:cNvSpPr>
                <a:spLocks noChangeShapeType="1"/>
              </p:cNvSpPr>
              <p:nvPr/>
            </p:nvSpPr>
            <p:spPr bwMode="auto">
              <a:xfrm flipV="1">
                <a:off x="1266154" y="320172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5" name="Line 13"/>
              <p:cNvSpPr>
                <a:spLocks noChangeShapeType="1"/>
              </p:cNvSpPr>
              <p:nvPr/>
            </p:nvSpPr>
            <p:spPr bwMode="auto">
              <a:xfrm flipV="1">
                <a:off x="1275679" y="3171559"/>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6" name="Line 14"/>
              <p:cNvSpPr>
                <a:spLocks noChangeShapeType="1"/>
              </p:cNvSpPr>
              <p:nvPr/>
            </p:nvSpPr>
            <p:spPr bwMode="auto">
              <a:xfrm flipV="1">
                <a:off x="1283617" y="3142984"/>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7" name="Line 15"/>
              <p:cNvSpPr>
                <a:spLocks noChangeShapeType="1"/>
              </p:cNvSpPr>
              <p:nvPr/>
            </p:nvSpPr>
            <p:spPr bwMode="auto">
              <a:xfrm flipV="1">
                <a:off x="1293142"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8" name="Line 16"/>
              <p:cNvSpPr>
                <a:spLocks noChangeShapeType="1"/>
              </p:cNvSpPr>
              <p:nvPr/>
            </p:nvSpPr>
            <p:spPr bwMode="auto">
              <a:xfrm flipV="1">
                <a:off x="1302667"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99" name="Line 17"/>
              <p:cNvSpPr>
                <a:spLocks noChangeShapeType="1"/>
              </p:cNvSpPr>
              <p:nvPr/>
            </p:nvSpPr>
            <p:spPr bwMode="auto">
              <a:xfrm flipV="1">
                <a:off x="1312192" y="3069959"/>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00" name="Line 18"/>
              <p:cNvSpPr>
                <a:spLocks noChangeShapeType="1"/>
              </p:cNvSpPr>
              <p:nvPr/>
            </p:nvSpPr>
            <p:spPr bwMode="auto">
              <a:xfrm flipV="1">
                <a:off x="1321717" y="3050909"/>
                <a:ext cx="7938"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01" name="Line 19"/>
              <p:cNvSpPr>
                <a:spLocks noChangeShapeType="1"/>
              </p:cNvSpPr>
              <p:nvPr/>
            </p:nvSpPr>
            <p:spPr bwMode="auto">
              <a:xfrm flipV="1">
                <a:off x="1329654" y="3035034"/>
                <a:ext cx="9525"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02" name="Line 20"/>
              <p:cNvSpPr>
                <a:spLocks noChangeShapeType="1"/>
              </p:cNvSpPr>
              <p:nvPr/>
            </p:nvSpPr>
            <p:spPr bwMode="auto">
              <a:xfrm flipV="1">
                <a:off x="1339179"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03" name="Line 21"/>
              <p:cNvSpPr>
                <a:spLocks noChangeShapeType="1"/>
              </p:cNvSpPr>
              <p:nvPr/>
            </p:nvSpPr>
            <p:spPr bwMode="auto">
              <a:xfrm flipV="1">
                <a:off x="1348704"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04" name="Line 22"/>
              <p:cNvSpPr>
                <a:spLocks noChangeShapeType="1"/>
              </p:cNvSpPr>
              <p:nvPr/>
            </p:nvSpPr>
            <p:spPr bwMode="auto">
              <a:xfrm flipV="1">
                <a:off x="1358229"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05" name="Line 23"/>
              <p:cNvSpPr>
                <a:spLocks noChangeShapeType="1"/>
              </p:cNvSpPr>
              <p:nvPr/>
            </p:nvSpPr>
            <p:spPr bwMode="auto">
              <a:xfrm flipV="1">
                <a:off x="1367754" y="3003284"/>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06" name="Line 24"/>
              <p:cNvSpPr>
                <a:spLocks noChangeShapeType="1"/>
              </p:cNvSpPr>
              <p:nvPr/>
            </p:nvSpPr>
            <p:spPr bwMode="auto">
              <a:xfrm>
                <a:off x="1377279" y="3003284"/>
                <a:ext cx="7938" cy="15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07" name="Line 25"/>
              <p:cNvSpPr>
                <a:spLocks noChangeShapeType="1"/>
              </p:cNvSpPr>
              <p:nvPr/>
            </p:nvSpPr>
            <p:spPr bwMode="auto">
              <a:xfrm>
                <a:off x="1385217" y="3003284"/>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08" name="Line 26"/>
              <p:cNvSpPr>
                <a:spLocks noChangeShapeType="1"/>
              </p:cNvSpPr>
              <p:nvPr/>
            </p:nvSpPr>
            <p:spPr bwMode="auto">
              <a:xfrm>
                <a:off x="1394742"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09" name="Line 27"/>
              <p:cNvSpPr>
                <a:spLocks noChangeShapeType="1"/>
              </p:cNvSpPr>
              <p:nvPr/>
            </p:nvSpPr>
            <p:spPr bwMode="auto">
              <a:xfrm>
                <a:off x="1404267"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10" name="Line 28"/>
              <p:cNvSpPr>
                <a:spLocks noChangeShapeType="1"/>
              </p:cNvSpPr>
              <p:nvPr/>
            </p:nvSpPr>
            <p:spPr bwMode="auto">
              <a:xfrm>
                <a:off x="1413792"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11" name="Line 29"/>
              <p:cNvSpPr>
                <a:spLocks noChangeShapeType="1"/>
              </p:cNvSpPr>
              <p:nvPr/>
            </p:nvSpPr>
            <p:spPr bwMode="auto">
              <a:xfrm>
                <a:off x="1423317" y="3035034"/>
                <a:ext cx="7938"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12" name="Line 30"/>
              <p:cNvSpPr>
                <a:spLocks noChangeShapeType="1"/>
              </p:cNvSpPr>
              <p:nvPr/>
            </p:nvSpPr>
            <p:spPr bwMode="auto">
              <a:xfrm>
                <a:off x="1431254" y="3050909"/>
                <a:ext cx="9525"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13" name="Line 31"/>
              <p:cNvSpPr>
                <a:spLocks noChangeShapeType="1"/>
              </p:cNvSpPr>
              <p:nvPr/>
            </p:nvSpPr>
            <p:spPr bwMode="auto">
              <a:xfrm>
                <a:off x="1440779" y="3069959"/>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14" name="Line 32"/>
              <p:cNvSpPr>
                <a:spLocks noChangeShapeType="1"/>
              </p:cNvSpPr>
              <p:nvPr/>
            </p:nvSpPr>
            <p:spPr bwMode="auto">
              <a:xfrm>
                <a:off x="1450304"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15" name="Line 33"/>
              <p:cNvSpPr>
                <a:spLocks noChangeShapeType="1"/>
              </p:cNvSpPr>
              <p:nvPr/>
            </p:nvSpPr>
            <p:spPr bwMode="auto">
              <a:xfrm>
                <a:off x="1459829"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16" name="Line 34"/>
              <p:cNvSpPr>
                <a:spLocks noChangeShapeType="1"/>
              </p:cNvSpPr>
              <p:nvPr/>
            </p:nvSpPr>
            <p:spPr bwMode="auto">
              <a:xfrm>
                <a:off x="1469354" y="3142984"/>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17" name="Line 35"/>
              <p:cNvSpPr>
                <a:spLocks noChangeShapeType="1"/>
              </p:cNvSpPr>
              <p:nvPr/>
            </p:nvSpPr>
            <p:spPr bwMode="auto">
              <a:xfrm>
                <a:off x="1478879" y="3171559"/>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18" name="Line 36"/>
              <p:cNvSpPr>
                <a:spLocks noChangeShapeType="1"/>
              </p:cNvSpPr>
              <p:nvPr/>
            </p:nvSpPr>
            <p:spPr bwMode="auto">
              <a:xfrm>
                <a:off x="1486817" y="320172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19" name="Line 37"/>
              <p:cNvSpPr>
                <a:spLocks noChangeShapeType="1"/>
              </p:cNvSpPr>
              <p:nvPr/>
            </p:nvSpPr>
            <p:spPr bwMode="auto">
              <a:xfrm>
                <a:off x="1496342"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20" name="Line 38"/>
              <p:cNvSpPr>
                <a:spLocks noChangeShapeType="1"/>
              </p:cNvSpPr>
              <p:nvPr/>
            </p:nvSpPr>
            <p:spPr bwMode="auto">
              <a:xfrm>
                <a:off x="1505867"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21" name="Line 39"/>
              <p:cNvSpPr>
                <a:spLocks noChangeShapeType="1"/>
              </p:cNvSpPr>
              <p:nvPr/>
            </p:nvSpPr>
            <p:spPr bwMode="auto">
              <a:xfrm>
                <a:off x="1515392"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22" name="Line 40"/>
              <p:cNvSpPr>
                <a:spLocks noChangeShapeType="1"/>
              </p:cNvSpPr>
              <p:nvPr/>
            </p:nvSpPr>
            <p:spPr bwMode="auto">
              <a:xfrm>
                <a:off x="1524917" y="3335071"/>
                <a:ext cx="7938"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23" name="Line 41"/>
              <p:cNvSpPr>
                <a:spLocks noChangeShapeType="1"/>
              </p:cNvSpPr>
              <p:nvPr/>
            </p:nvSpPr>
            <p:spPr bwMode="auto">
              <a:xfrm>
                <a:off x="1532854" y="33699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24" name="Line 42"/>
              <p:cNvSpPr>
                <a:spLocks noChangeShapeType="1"/>
              </p:cNvSpPr>
              <p:nvPr/>
            </p:nvSpPr>
            <p:spPr bwMode="auto">
              <a:xfrm>
                <a:off x="1542379" y="3403334"/>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25" name="Line 43"/>
              <p:cNvSpPr>
                <a:spLocks noChangeShapeType="1"/>
              </p:cNvSpPr>
              <p:nvPr/>
            </p:nvSpPr>
            <p:spPr bwMode="auto">
              <a:xfrm>
                <a:off x="1551904" y="3438259"/>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26" name="Line 44"/>
              <p:cNvSpPr>
                <a:spLocks noChangeShapeType="1"/>
              </p:cNvSpPr>
              <p:nvPr/>
            </p:nvSpPr>
            <p:spPr bwMode="auto">
              <a:xfrm>
                <a:off x="1561429" y="34715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27" name="Line 45"/>
              <p:cNvSpPr>
                <a:spLocks noChangeShapeType="1"/>
              </p:cNvSpPr>
              <p:nvPr/>
            </p:nvSpPr>
            <p:spPr bwMode="auto">
              <a:xfrm>
                <a:off x="1570954" y="3504934"/>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28" name="Line 46"/>
              <p:cNvSpPr>
                <a:spLocks noChangeShapeType="1"/>
              </p:cNvSpPr>
              <p:nvPr/>
            </p:nvSpPr>
            <p:spPr bwMode="auto">
              <a:xfrm>
                <a:off x="1580479" y="3536684"/>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29" name="Line 47"/>
              <p:cNvSpPr>
                <a:spLocks noChangeShapeType="1"/>
              </p:cNvSpPr>
              <p:nvPr/>
            </p:nvSpPr>
            <p:spPr bwMode="auto">
              <a:xfrm>
                <a:off x="1588417" y="3566846"/>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30" name="Line 48"/>
              <p:cNvSpPr>
                <a:spLocks noChangeShapeType="1"/>
              </p:cNvSpPr>
              <p:nvPr/>
            </p:nvSpPr>
            <p:spPr bwMode="auto">
              <a:xfrm>
                <a:off x="1597942" y="3595421"/>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31" name="Line 49"/>
              <p:cNvSpPr>
                <a:spLocks noChangeShapeType="1"/>
              </p:cNvSpPr>
              <p:nvPr/>
            </p:nvSpPr>
            <p:spPr bwMode="auto">
              <a:xfrm>
                <a:off x="1607467" y="3622409"/>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32" name="Line 50"/>
              <p:cNvSpPr>
                <a:spLocks noChangeShapeType="1"/>
              </p:cNvSpPr>
              <p:nvPr/>
            </p:nvSpPr>
            <p:spPr bwMode="auto">
              <a:xfrm>
                <a:off x="1616992" y="3646221"/>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33" name="Line 51"/>
              <p:cNvSpPr>
                <a:spLocks noChangeShapeType="1"/>
              </p:cNvSpPr>
              <p:nvPr/>
            </p:nvSpPr>
            <p:spPr bwMode="auto">
              <a:xfrm>
                <a:off x="1626517" y="3668446"/>
                <a:ext cx="7938"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34" name="Line 52"/>
              <p:cNvSpPr>
                <a:spLocks noChangeShapeType="1"/>
              </p:cNvSpPr>
              <p:nvPr/>
            </p:nvSpPr>
            <p:spPr bwMode="auto">
              <a:xfrm>
                <a:off x="1634454" y="3685909"/>
                <a:ext cx="9525"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35" name="Line 53"/>
              <p:cNvSpPr>
                <a:spLocks noChangeShapeType="1"/>
              </p:cNvSpPr>
              <p:nvPr/>
            </p:nvSpPr>
            <p:spPr bwMode="auto">
              <a:xfrm>
                <a:off x="1643979" y="3703371"/>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36" name="Line 54"/>
              <p:cNvSpPr>
                <a:spLocks noChangeShapeType="1"/>
              </p:cNvSpPr>
              <p:nvPr/>
            </p:nvSpPr>
            <p:spPr bwMode="auto">
              <a:xfrm>
                <a:off x="1653504" y="3716071"/>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37" name="Line 55"/>
              <p:cNvSpPr>
                <a:spLocks noChangeShapeType="1"/>
              </p:cNvSpPr>
              <p:nvPr/>
            </p:nvSpPr>
            <p:spPr bwMode="auto">
              <a:xfrm>
                <a:off x="1663029" y="3725596"/>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38" name="Line 56"/>
              <p:cNvSpPr>
                <a:spLocks noChangeShapeType="1"/>
              </p:cNvSpPr>
              <p:nvPr/>
            </p:nvSpPr>
            <p:spPr bwMode="auto">
              <a:xfrm>
                <a:off x="1672554" y="3731946"/>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39" name="Line 57"/>
              <p:cNvSpPr>
                <a:spLocks noChangeShapeType="1"/>
              </p:cNvSpPr>
              <p:nvPr/>
            </p:nvSpPr>
            <p:spPr bwMode="auto">
              <a:xfrm>
                <a:off x="1682079" y="3735121"/>
                <a:ext cx="7938" cy="15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40" name="Line 58"/>
              <p:cNvSpPr>
                <a:spLocks noChangeShapeType="1"/>
              </p:cNvSpPr>
              <p:nvPr/>
            </p:nvSpPr>
            <p:spPr bwMode="auto">
              <a:xfrm flipV="1">
                <a:off x="1690017" y="3731946"/>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41" name="Line 59"/>
              <p:cNvSpPr>
                <a:spLocks noChangeShapeType="1"/>
              </p:cNvSpPr>
              <p:nvPr/>
            </p:nvSpPr>
            <p:spPr bwMode="auto">
              <a:xfrm flipV="1">
                <a:off x="1699542" y="3725596"/>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42" name="Line 60"/>
              <p:cNvSpPr>
                <a:spLocks noChangeShapeType="1"/>
              </p:cNvSpPr>
              <p:nvPr/>
            </p:nvSpPr>
            <p:spPr bwMode="auto">
              <a:xfrm flipV="1">
                <a:off x="1709067" y="3716071"/>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43" name="Line 61"/>
              <p:cNvSpPr>
                <a:spLocks noChangeShapeType="1"/>
              </p:cNvSpPr>
              <p:nvPr/>
            </p:nvSpPr>
            <p:spPr bwMode="auto">
              <a:xfrm flipV="1">
                <a:off x="1718592" y="3703371"/>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44" name="Line 62"/>
              <p:cNvSpPr>
                <a:spLocks noChangeShapeType="1"/>
              </p:cNvSpPr>
              <p:nvPr/>
            </p:nvSpPr>
            <p:spPr bwMode="auto">
              <a:xfrm flipV="1">
                <a:off x="1728117" y="3685909"/>
                <a:ext cx="9525"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45" name="Line 63"/>
              <p:cNvSpPr>
                <a:spLocks noChangeShapeType="1"/>
              </p:cNvSpPr>
              <p:nvPr/>
            </p:nvSpPr>
            <p:spPr bwMode="auto">
              <a:xfrm flipV="1">
                <a:off x="1737642" y="3668446"/>
                <a:ext cx="7938"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46" name="Line 64"/>
              <p:cNvSpPr>
                <a:spLocks noChangeShapeType="1"/>
              </p:cNvSpPr>
              <p:nvPr/>
            </p:nvSpPr>
            <p:spPr bwMode="auto">
              <a:xfrm flipV="1">
                <a:off x="1745579" y="3646221"/>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47" name="Line 65"/>
              <p:cNvSpPr>
                <a:spLocks noChangeShapeType="1"/>
              </p:cNvSpPr>
              <p:nvPr/>
            </p:nvSpPr>
            <p:spPr bwMode="auto">
              <a:xfrm flipV="1">
                <a:off x="1755104" y="3622409"/>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48" name="Line 66"/>
              <p:cNvSpPr>
                <a:spLocks noChangeShapeType="1"/>
              </p:cNvSpPr>
              <p:nvPr/>
            </p:nvSpPr>
            <p:spPr bwMode="auto">
              <a:xfrm flipV="1">
                <a:off x="1764629" y="3595421"/>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49" name="Line 67"/>
              <p:cNvSpPr>
                <a:spLocks noChangeShapeType="1"/>
              </p:cNvSpPr>
              <p:nvPr/>
            </p:nvSpPr>
            <p:spPr bwMode="auto">
              <a:xfrm flipV="1">
                <a:off x="1774154" y="3566846"/>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50" name="Line 68"/>
              <p:cNvSpPr>
                <a:spLocks noChangeShapeType="1"/>
              </p:cNvSpPr>
              <p:nvPr/>
            </p:nvSpPr>
            <p:spPr bwMode="auto">
              <a:xfrm flipV="1">
                <a:off x="1783679" y="3536684"/>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51" name="Line 69"/>
              <p:cNvSpPr>
                <a:spLocks noChangeShapeType="1"/>
              </p:cNvSpPr>
              <p:nvPr/>
            </p:nvSpPr>
            <p:spPr bwMode="auto">
              <a:xfrm flipV="1">
                <a:off x="1791617" y="3504934"/>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52" name="Line 70"/>
              <p:cNvSpPr>
                <a:spLocks noChangeShapeType="1"/>
              </p:cNvSpPr>
              <p:nvPr/>
            </p:nvSpPr>
            <p:spPr bwMode="auto">
              <a:xfrm flipV="1">
                <a:off x="1801142" y="34715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53" name="Line 71"/>
              <p:cNvSpPr>
                <a:spLocks noChangeShapeType="1"/>
              </p:cNvSpPr>
              <p:nvPr/>
            </p:nvSpPr>
            <p:spPr bwMode="auto">
              <a:xfrm flipV="1">
                <a:off x="1810667" y="3438259"/>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54" name="Line 72"/>
              <p:cNvSpPr>
                <a:spLocks noChangeShapeType="1"/>
              </p:cNvSpPr>
              <p:nvPr/>
            </p:nvSpPr>
            <p:spPr bwMode="auto">
              <a:xfrm flipV="1">
                <a:off x="1820192" y="3403334"/>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55" name="Line 73"/>
              <p:cNvSpPr>
                <a:spLocks noChangeShapeType="1"/>
              </p:cNvSpPr>
              <p:nvPr/>
            </p:nvSpPr>
            <p:spPr bwMode="auto">
              <a:xfrm flipV="1">
                <a:off x="1829717" y="33699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56" name="Line 74"/>
              <p:cNvSpPr>
                <a:spLocks noChangeShapeType="1"/>
              </p:cNvSpPr>
              <p:nvPr/>
            </p:nvSpPr>
            <p:spPr bwMode="auto">
              <a:xfrm flipV="1">
                <a:off x="1839242" y="3335071"/>
                <a:ext cx="7938"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57" name="Line 75"/>
              <p:cNvSpPr>
                <a:spLocks noChangeShapeType="1"/>
              </p:cNvSpPr>
              <p:nvPr/>
            </p:nvSpPr>
            <p:spPr bwMode="auto">
              <a:xfrm flipV="1">
                <a:off x="1847179"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58" name="Line 76"/>
              <p:cNvSpPr>
                <a:spLocks noChangeShapeType="1"/>
              </p:cNvSpPr>
              <p:nvPr/>
            </p:nvSpPr>
            <p:spPr bwMode="auto">
              <a:xfrm flipV="1">
                <a:off x="1856704"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59" name="Line 77"/>
              <p:cNvSpPr>
                <a:spLocks noChangeShapeType="1"/>
              </p:cNvSpPr>
              <p:nvPr/>
            </p:nvSpPr>
            <p:spPr bwMode="auto">
              <a:xfrm flipV="1">
                <a:off x="1866229"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60" name="Line 78"/>
              <p:cNvSpPr>
                <a:spLocks noChangeShapeType="1"/>
              </p:cNvSpPr>
              <p:nvPr/>
            </p:nvSpPr>
            <p:spPr bwMode="auto">
              <a:xfrm flipV="1">
                <a:off x="1875754" y="320172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61" name="Line 79"/>
              <p:cNvSpPr>
                <a:spLocks noChangeShapeType="1"/>
              </p:cNvSpPr>
              <p:nvPr/>
            </p:nvSpPr>
            <p:spPr bwMode="auto">
              <a:xfrm flipV="1">
                <a:off x="1885279" y="3171559"/>
                <a:ext cx="9525"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62" name="Line 80"/>
              <p:cNvSpPr>
                <a:spLocks noChangeShapeType="1"/>
              </p:cNvSpPr>
              <p:nvPr/>
            </p:nvSpPr>
            <p:spPr bwMode="auto">
              <a:xfrm flipV="1">
                <a:off x="1894804" y="3142984"/>
                <a:ext cx="7938"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63" name="Line 81"/>
              <p:cNvSpPr>
                <a:spLocks noChangeShapeType="1"/>
              </p:cNvSpPr>
              <p:nvPr/>
            </p:nvSpPr>
            <p:spPr bwMode="auto">
              <a:xfrm flipV="1">
                <a:off x="1902742"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64" name="Line 82"/>
              <p:cNvSpPr>
                <a:spLocks noChangeShapeType="1"/>
              </p:cNvSpPr>
              <p:nvPr/>
            </p:nvSpPr>
            <p:spPr bwMode="auto">
              <a:xfrm flipV="1">
                <a:off x="1912267"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65" name="Line 83"/>
              <p:cNvSpPr>
                <a:spLocks noChangeShapeType="1"/>
              </p:cNvSpPr>
              <p:nvPr/>
            </p:nvSpPr>
            <p:spPr bwMode="auto">
              <a:xfrm flipV="1">
                <a:off x="1921792" y="3069959"/>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66" name="Line 84"/>
              <p:cNvSpPr>
                <a:spLocks noChangeShapeType="1"/>
              </p:cNvSpPr>
              <p:nvPr/>
            </p:nvSpPr>
            <p:spPr bwMode="auto">
              <a:xfrm flipV="1">
                <a:off x="1931317" y="3050909"/>
                <a:ext cx="9525"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67" name="Line 85"/>
              <p:cNvSpPr>
                <a:spLocks noChangeShapeType="1"/>
              </p:cNvSpPr>
              <p:nvPr/>
            </p:nvSpPr>
            <p:spPr bwMode="auto">
              <a:xfrm flipV="1">
                <a:off x="1940842" y="3035034"/>
                <a:ext cx="7938"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68" name="Line 86"/>
              <p:cNvSpPr>
                <a:spLocks noChangeShapeType="1"/>
              </p:cNvSpPr>
              <p:nvPr/>
            </p:nvSpPr>
            <p:spPr bwMode="auto">
              <a:xfrm flipV="1">
                <a:off x="1948779"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69" name="Line 87"/>
              <p:cNvSpPr>
                <a:spLocks noChangeShapeType="1"/>
              </p:cNvSpPr>
              <p:nvPr/>
            </p:nvSpPr>
            <p:spPr bwMode="auto">
              <a:xfrm flipV="1">
                <a:off x="1958304"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70" name="Line 88"/>
              <p:cNvSpPr>
                <a:spLocks noChangeShapeType="1"/>
              </p:cNvSpPr>
              <p:nvPr/>
            </p:nvSpPr>
            <p:spPr bwMode="auto">
              <a:xfrm flipV="1">
                <a:off x="1967829"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71" name="Line 89"/>
              <p:cNvSpPr>
                <a:spLocks noChangeShapeType="1"/>
              </p:cNvSpPr>
              <p:nvPr/>
            </p:nvSpPr>
            <p:spPr bwMode="auto">
              <a:xfrm flipV="1">
                <a:off x="1977354" y="3003284"/>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72" name="Line 90"/>
              <p:cNvSpPr>
                <a:spLocks noChangeShapeType="1"/>
              </p:cNvSpPr>
              <p:nvPr/>
            </p:nvSpPr>
            <p:spPr bwMode="auto">
              <a:xfrm>
                <a:off x="1986879" y="3003284"/>
                <a:ext cx="9525" cy="15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73" name="Line 91"/>
              <p:cNvSpPr>
                <a:spLocks noChangeShapeType="1"/>
              </p:cNvSpPr>
              <p:nvPr/>
            </p:nvSpPr>
            <p:spPr bwMode="auto">
              <a:xfrm>
                <a:off x="1996404" y="3003284"/>
                <a:ext cx="7938"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74" name="Line 92"/>
              <p:cNvSpPr>
                <a:spLocks noChangeShapeType="1"/>
              </p:cNvSpPr>
              <p:nvPr/>
            </p:nvSpPr>
            <p:spPr bwMode="auto">
              <a:xfrm>
                <a:off x="2004342"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75" name="Line 93"/>
              <p:cNvSpPr>
                <a:spLocks noChangeShapeType="1"/>
              </p:cNvSpPr>
              <p:nvPr/>
            </p:nvSpPr>
            <p:spPr bwMode="auto">
              <a:xfrm>
                <a:off x="2013867"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76" name="Line 94"/>
              <p:cNvSpPr>
                <a:spLocks noChangeShapeType="1"/>
              </p:cNvSpPr>
              <p:nvPr/>
            </p:nvSpPr>
            <p:spPr bwMode="auto">
              <a:xfrm>
                <a:off x="2023392"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77" name="Line 95"/>
              <p:cNvSpPr>
                <a:spLocks noChangeShapeType="1"/>
              </p:cNvSpPr>
              <p:nvPr/>
            </p:nvSpPr>
            <p:spPr bwMode="auto">
              <a:xfrm>
                <a:off x="2032917" y="3035034"/>
                <a:ext cx="9525"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78" name="Line 96"/>
              <p:cNvSpPr>
                <a:spLocks noChangeShapeType="1"/>
              </p:cNvSpPr>
              <p:nvPr/>
            </p:nvSpPr>
            <p:spPr bwMode="auto">
              <a:xfrm>
                <a:off x="2042442" y="3050909"/>
                <a:ext cx="9525"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79" name="Line 97"/>
              <p:cNvSpPr>
                <a:spLocks noChangeShapeType="1"/>
              </p:cNvSpPr>
              <p:nvPr/>
            </p:nvSpPr>
            <p:spPr bwMode="auto">
              <a:xfrm>
                <a:off x="2051967" y="3069959"/>
                <a:ext cx="7938"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80" name="Line 98"/>
              <p:cNvSpPr>
                <a:spLocks noChangeShapeType="1"/>
              </p:cNvSpPr>
              <p:nvPr/>
            </p:nvSpPr>
            <p:spPr bwMode="auto">
              <a:xfrm>
                <a:off x="2059904"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81" name="Line 99"/>
              <p:cNvSpPr>
                <a:spLocks noChangeShapeType="1"/>
              </p:cNvSpPr>
              <p:nvPr/>
            </p:nvSpPr>
            <p:spPr bwMode="auto">
              <a:xfrm>
                <a:off x="2069429"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82" name="Line 100"/>
              <p:cNvSpPr>
                <a:spLocks noChangeShapeType="1"/>
              </p:cNvSpPr>
              <p:nvPr/>
            </p:nvSpPr>
            <p:spPr bwMode="auto">
              <a:xfrm>
                <a:off x="2078954" y="3142984"/>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83" name="Line 101"/>
              <p:cNvSpPr>
                <a:spLocks noChangeShapeType="1"/>
              </p:cNvSpPr>
              <p:nvPr/>
            </p:nvSpPr>
            <p:spPr bwMode="auto">
              <a:xfrm>
                <a:off x="2088479" y="3171559"/>
                <a:ext cx="9525"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84" name="Line 102"/>
              <p:cNvSpPr>
                <a:spLocks noChangeShapeType="1"/>
              </p:cNvSpPr>
              <p:nvPr/>
            </p:nvSpPr>
            <p:spPr bwMode="auto">
              <a:xfrm>
                <a:off x="2098004" y="3201721"/>
                <a:ext cx="7938"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85" name="Line 103"/>
              <p:cNvSpPr>
                <a:spLocks noChangeShapeType="1"/>
              </p:cNvSpPr>
              <p:nvPr/>
            </p:nvSpPr>
            <p:spPr bwMode="auto">
              <a:xfrm>
                <a:off x="2105942"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86" name="Line 104"/>
              <p:cNvSpPr>
                <a:spLocks noChangeShapeType="1"/>
              </p:cNvSpPr>
              <p:nvPr/>
            </p:nvSpPr>
            <p:spPr bwMode="auto">
              <a:xfrm>
                <a:off x="2115467"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87" name="Line 105"/>
              <p:cNvSpPr>
                <a:spLocks noChangeShapeType="1"/>
              </p:cNvSpPr>
              <p:nvPr/>
            </p:nvSpPr>
            <p:spPr bwMode="auto">
              <a:xfrm>
                <a:off x="2124992"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688" name="Line 106"/>
              <p:cNvSpPr>
                <a:spLocks noChangeShapeType="1"/>
              </p:cNvSpPr>
              <p:nvPr/>
            </p:nvSpPr>
            <p:spPr bwMode="auto">
              <a:xfrm>
                <a:off x="2134517" y="333507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grpSp>
        <p:grpSp>
          <p:nvGrpSpPr>
            <p:cNvPr id="11" name="Group 386"/>
            <p:cNvGrpSpPr/>
            <p:nvPr/>
          </p:nvGrpSpPr>
          <p:grpSpPr>
            <a:xfrm flipV="1">
              <a:off x="2143124" y="3000375"/>
              <a:ext cx="915988" cy="733425"/>
              <a:chOff x="1228054" y="3003284"/>
              <a:chExt cx="915988" cy="733425"/>
            </a:xfrm>
          </p:grpSpPr>
          <p:sp>
            <p:nvSpPr>
              <p:cNvPr id="491" name="Line 8"/>
              <p:cNvSpPr>
                <a:spLocks noChangeShapeType="1"/>
              </p:cNvSpPr>
              <p:nvPr/>
            </p:nvSpPr>
            <p:spPr bwMode="auto">
              <a:xfrm flipV="1">
                <a:off x="1228054" y="333507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92" name="Line 9"/>
              <p:cNvSpPr>
                <a:spLocks noChangeShapeType="1"/>
              </p:cNvSpPr>
              <p:nvPr/>
            </p:nvSpPr>
            <p:spPr bwMode="auto">
              <a:xfrm flipV="1">
                <a:off x="1237579"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93" name="Line 10"/>
              <p:cNvSpPr>
                <a:spLocks noChangeShapeType="1"/>
              </p:cNvSpPr>
              <p:nvPr/>
            </p:nvSpPr>
            <p:spPr bwMode="auto">
              <a:xfrm flipV="1">
                <a:off x="1247104"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94" name="Line 11"/>
              <p:cNvSpPr>
                <a:spLocks noChangeShapeType="1"/>
              </p:cNvSpPr>
              <p:nvPr/>
            </p:nvSpPr>
            <p:spPr bwMode="auto">
              <a:xfrm flipV="1">
                <a:off x="1256629"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95" name="Line 12"/>
              <p:cNvSpPr>
                <a:spLocks noChangeShapeType="1"/>
              </p:cNvSpPr>
              <p:nvPr/>
            </p:nvSpPr>
            <p:spPr bwMode="auto">
              <a:xfrm flipV="1">
                <a:off x="1266154" y="320172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96" name="Line 13"/>
              <p:cNvSpPr>
                <a:spLocks noChangeShapeType="1"/>
              </p:cNvSpPr>
              <p:nvPr/>
            </p:nvSpPr>
            <p:spPr bwMode="auto">
              <a:xfrm flipV="1">
                <a:off x="1275679" y="3171559"/>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97" name="Line 14"/>
              <p:cNvSpPr>
                <a:spLocks noChangeShapeType="1"/>
              </p:cNvSpPr>
              <p:nvPr/>
            </p:nvSpPr>
            <p:spPr bwMode="auto">
              <a:xfrm flipV="1">
                <a:off x="1283617" y="3142984"/>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98" name="Line 15"/>
              <p:cNvSpPr>
                <a:spLocks noChangeShapeType="1"/>
              </p:cNvSpPr>
              <p:nvPr/>
            </p:nvSpPr>
            <p:spPr bwMode="auto">
              <a:xfrm flipV="1">
                <a:off x="1293142"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499" name="Line 16"/>
              <p:cNvSpPr>
                <a:spLocks noChangeShapeType="1"/>
              </p:cNvSpPr>
              <p:nvPr/>
            </p:nvSpPr>
            <p:spPr bwMode="auto">
              <a:xfrm flipV="1">
                <a:off x="1302667"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00" name="Line 17"/>
              <p:cNvSpPr>
                <a:spLocks noChangeShapeType="1"/>
              </p:cNvSpPr>
              <p:nvPr/>
            </p:nvSpPr>
            <p:spPr bwMode="auto">
              <a:xfrm flipV="1">
                <a:off x="1312192" y="3069959"/>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01" name="Line 18"/>
              <p:cNvSpPr>
                <a:spLocks noChangeShapeType="1"/>
              </p:cNvSpPr>
              <p:nvPr/>
            </p:nvSpPr>
            <p:spPr bwMode="auto">
              <a:xfrm flipV="1">
                <a:off x="1321717" y="3050909"/>
                <a:ext cx="7938"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02" name="Line 19"/>
              <p:cNvSpPr>
                <a:spLocks noChangeShapeType="1"/>
              </p:cNvSpPr>
              <p:nvPr/>
            </p:nvSpPr>
            <p:spPr bwMode="auto">
              <a:xfrm flipV="1">
                <a:off x="1329654" y="3035034"/>
                <a:ext cx="9525"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03" name="Line 20"/>
              <p:cNvSpPr>
                <a:spLocks noChangeShapeType="1"/>
              </p:cNvSpPr>
              <p:nvPr/>
            </p:nvSpPr>
            <p:spPr bwMode="auto">
              <a:xfrm flipV="1">
                <a:off x="1339179"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04" name="Line 21"/>
              <p:cNvSpPr>
                <a:spLocks noChangeShapeType="1"/>
              </p:cNvSpPr>
              <p:nvPr/>
            </p:nvSpPr>
            <p:spPr bwMode="auto">
              <a:xfrm flipV="1">
                <a:off x="1348704"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05" name="Line 22"/>
              <p:cNvSpPr>
                <a:spLocks noChangeShapeType="1"/>
              </p:cNvSpPr>
              <p:nvPr/>
            </p:nvSpPr>
            <p:spPr bwMode="auto">
              <a:xfrm flipV="1">
                <a:off x="1358229"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06" name="Line 23"/>
              <p:cNvSpPr>
                <a:spLocks noChangeShapeType="1"/>
              </p:cNvSpPr>
              <p:nvPr/>
            </p:nvSpPr>
            <p:spPr bwMode="auto">
              <a:xfrm flipV="1">
                <a:off x="1367754" y="3003284"/>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07" name="Line 24"/>
              <p:cNvSpPr>
                <a:spLocks noChangeShapeType="1"/>
              </p:cNvSpPr>
              <p:nvPr/>
            </p:nvSpPr>
            <p:spPr bwMode="auto">
              <a:xfrm>
                <a:off x="1377279" y="3003284"/>
                <a:ext cx="7938" cy="15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08" name="Line 25"/>
              <p:cNvSpPr>
                <a:spLocks noChangeShapeType="1"/>
              </p:cNvSpPr>
              <p:nvPr/>
            </p:nvSpPr>
            <p:spPr bwMode="auto">
              <a:xfrm>
                <a:off x="1385217" y="3003284"/>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09" name="Line 26"/>
              <p:cNvSpPr>
                <a:spLocks noChangeShapeType="1"/>
              </p:cNvSpPr>
              <p:nvPr/>
            </p:nvSpPr>
            <p:spPr bwMode="auto">
              <a:xfrm>
                <a:off x="1394742"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10" name="Line 27"/>
              <p:cNvSpPr>
                <a:spLocks noChangeShapeType="1"/>
              </p:cNvSpPr>
              <p:nvPr/>
            </p:nvSpPr>
            <p:spPr bwMode="auto">
              <a:xfrm>
                <a:off x="1404267"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11" name="Line 28"/>
              <p:cNvSpPr>
                <a:spLocks noChangeShapeType="1"/>
              </p:cNvSpPr>
              <p:nvPr/>
            </p:nvSpPr>
            <p:spPr bwMode="auto">
              <a:xfrm>
                <a:off x="1413792"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12" name="Line 29"/>
              <p:cNvSpPr>
                <a:spLocks noChangeShapeType="1"/>
              </p:cNvSpPr>
              <p:nvPr/>
            </p:nvSpPr>
            <p:spPr bwMode="auto">
              <a:xfrm>
                <a:off x="1423317" y="3035034"/>
                <a:ext cx="7938"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13" name="Line 30"/>
              <p:cNvSpPr>
                <a:spLocks noChangeShapeType="1"/>
              </p:cNvSpPr>
              <p:nvPr/>
            </p:nvSpPr>
            <p:spPr bwMode="auto">
              <a:xfrm>
                <a:off x="1431254" y="3050909"/>
                <a:ext cx="9525"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14" name="Line 31"/>
              <p:cNvSpPr>
                <a:spLocks noChangeShapeType="1"/>
              </p:cNvSpPr>
              <p:nvPr/>
            </p:nvSpPr>
            <p:spPr bwMode="auto">
              <a:xfrm>
                <a:off x="1440779" y="3069959"/>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15" name="Line 32"/>
              <p:cNvSpPr>
                <a:spLocks noChangeShapeType="1"/>
              </p:cNvSpPr>
              <p:nvPr/>
            </p:nvSpPr>
            <p:spPr bwMode="auto">
              <a:xfrm>
                <a:off x="1450304"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16" name="Line 33"/>
              <p:cNvSpPr>
                <a:spLocks noChangeShapeType="1"/>
              </p:cNvSpPr>
              <p:nvPr/>
            </p:nvSpPr>
            <p:spPr bwMode="auto">
              <a:xfrm>
                <a:off x="1459829"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17" name="Line 34"/>
              <p:cNvSpPr>
                <a:spLocks noChangeShapeType="1"/>
              </p:cNvSpPr>
              <p:nvPr/>
            </p:nvSpPr>
            <p:spPr bwMode="auto">
              <a:xfrm>
                <a:off x="1469354" y="3142984"/>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18" name="Line 35"/>
              <p:cNvSpPr>
                <a:spLocks noChangeShapeType="1"/>
              </p:cNvSpPr>
              <p:nvPr/>
            </p:nvSpPr>
            <p:spPr bwMode="auto">
              <a:xfrm>
                <a:off x="1478879" y="3171559"/>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19" name="Line 36"/>
              <p:cNvSpPr>
                <a:spLocks noChangeShapeType="1"/>
              </p:cNvSpPr>
              <p:nvPr/>
            </p:nvSpPr>
            <p:spPr bwMode="auto">
              <a:xfrm>
                <a:off x="1486817" y="320172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20" name="Line 37"/>
              <p:cNvSpPr>
                <a:spLocks noChangeShapeType="1"/>
              </p:cNvSpPr>
              <p:nvPr/>
            </p:nvSpPr>
            <p:spPr bwMode="auto">
              <a:xfrm>
                <a:off x="1496342"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21" name="Line 38"/>
              <p:cNvSpPr>
                <a:spLocks noChangeShapeType="1"/>
              </p:cNvSpPr>
              <p:nvPr/>
            </p:nvSpPr>
            <p:spPr bwMode="auto">
              <a:xfrm>
                <a:off x="1505867"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22" name="Line 39"/>
              <p:cNvSpPr>
                <a:spLocks noChangeShapeType="1"/>
              </p:cNvSpPr>
              <p:nvPr/>
            </p:nvSpPr>
            <p:spPr bwMode="auto">
              <a:xfrm>
                <a:off x="1515392"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23" name="Line 40"/>
              <p:cNvSpPr>
                <a:spLocks noChangeShapeType="1"/>
              </p:cNvSpPr>
              <p:nvPr/>
            </p:nvSpPr>
            <p:spPr bwMode="auto">
              <a:xfrm>
                <a:off x="1524917" y="3335071"/>
                <a:ext cx="7938"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24" name="Line 41"/>
              <p:cNvSpPr>
                <a:spLocks noChangeShapeType="1"/>
              </p:cNvSpPr>
              <p:nvPr/>
            </p:nvSpPr>
            <p:spPr bwMode="auto">
              <a:xfrm>
                <a:off x="1532854" y="33699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25" name="Line 42"/>
              <p:cNvSpPr>
                <a:spLocks noChangeShapeType="1"/>
              </p:cNvSpPr>
              <p:nvPr/>
            </p:nvSpPr>
            <p:spPr bwMode="auto">
              <a:xfrm>
                <a:off x="1542379" y="3403334"/>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26" name="Line 43"/>
              <p:cNvSpPr>
                <a:spLocks noChangeShapeType="1"/>
              </p:cNvSpPr>
              <p:nvPr/>
            </p:nvSpPr>
            <p:spPr bwMode="auto">
              <a:xfrm>
                <a:off x="1551904" y="3438259"/>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27" name="Line 44"/>
              <p:cNvSpPr>
                <a:spLocks noChangeShapeType="1"/>
              </p:cNvSpPr>
              <p:nvPr/>
            </p:nvSpPr>
            <p:spPr bwMode="auto">
              <a:xfrm>
                <a:off x="1561429" y="34715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28" name="Line 45"/>
              <p:cNvSpPr>
                <a:spLocks noChangeShapeType="1"/>
              </p:cNvSpPr>
              <p:nvPr/>
            </p:nvSpPr>
            <p:spPr bwMode="auto">
              <a:xfrm>
                <a:off x="1570954" y="3504934"/>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29" name="Line 46"/>
              <p:cNvSpPr>
                <a:spLocks noChangeShapeType="1"/>
              </p:cNvSpPr>
              <p:nvPr/>
            </p:nvSpPr>
            <p:spPr bwMode="auto">
              <a:xfrm>
                <a:off x="1580479" y="3536684"/>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30" name="Line 47"/>
              <p:cNvSpPr>
                <a:spLocks noChangeShapeType="1"/>
              </p:cNvSpPr>
              <p:nvPr/>
            </p:nvSpPr>
            <p:spPr bwMode="auto">
              <a:xfrm>
                <a:off x="1588417" y="3566846"/>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31" name="Line 48"/>
              <p:cNvSpPr>
                <a:spLocks noChangeShapeType="1"/>
              </p:cNvSpPr>
              <p:nvPr/>
            </p:nvSpPr>
            <p:spPr bwMode="auto">
              <a:xfrm>
                <a:off x="1597942" y="3595421"/>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32" name="Line 49"/>
              <p:cNvSpPr>
                <a:spLocks noChangeShapeType="1"/>
              </p:cNvSpPr>
              <p:nvPr/>
            </p:nvSpPr>
            <p:spPr bwMode="auto">
              <a:xfrm>
                <a:off x="1607467" y="3622409"/>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33" name="Line 50"/>
              <p:cNvSpPr>
                <a:spLocks noChangeShapeType="1"/>
              </p:cNvSpPr>
              <p:nvPr/>
            </p:nvSpPr>
            <p:spPr bwMode="auto">
              <a:xfrm>
                <a:off x="1616992" y="3646221"/>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34" name="Line 51"/>
              <p:cNvSpPr>
                <a:spLocks noChangeShapeType="1"/>
              </p:cNvSpPr>
              <p:nvPr/>
            </p:nvSpPr>
            <p:spPr bwMode="auto">
              <a:xfrm>
                <a:off x="1626517" y="3668446"/>
                <a:ext cx="7938"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35" name="Line 52"/>
              <p:cNvSpPr>
                <a:spLocks noChangeShapeType="1"/>
              </p:cNvSpPr>
              <p:nvPr/>
            </p:nvSpPr>
            <p:spPr bwMode="auto">
              <a:xfrm>
                <a:off x="1634454" y="3685909"/>
                <a:ext cx="9525"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36" name="Line 53"/>
              <p:cNvSpPr>
                <a:spLocks noChangeShapeType="1"/>
              </p:cNvSpPr>
              <p:nvPr/>
            </p:nvSpPr>
            <p:spPr bwMode="auto">
              <a:xfrm>
                <a:off x="1643979" y="3703371"/>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37" name="Line 54"/>
              <p:cNvSpPr>
                <a:spLocks noChangeShapeType="1"/>
              </p:cNvSpPr>
              <p:nvPr/>
            </p:nvSpPr>
            <p:spPr bwMode="auto">
              <a:xfrm>
                <a:off x="1653504" y="3716071"/>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38" name="Line 55"/>
              <p:cNvSpPr>
                <a:spLocks noChangeShapeType="1"/>
              </p:cNvSpPr>
              <p:nvPr/>
            </p:nvSpPr>
            <p:spPr bwMode="auto">
              <a:xfrm>
                <a:off x="1663029" y="3725596"/>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39" name="Line 56"/>
              <p:cNvSpPr>
                <a:spLocks noChangeShapeType="1"/>
              </p:cNvSpPr>
              <p:nvPr/>
            </p:nvSpPr>
            <p:spPr bwMode="auto">
              <a:xfrm>
                <a:off x="1672554" y="3731946"/>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40" name="Line 57"/>
              <p:cNvSpPr>
                <a:spLocks noChangeShapeType="1"/>
              </p:cNvSpPr>
              <p:nvPr/>
            </p:nvSpPr>
            <p:spPr bwMode="auto">
              <a:xfrm>
                <a:off x="1682079" y="3735121"/>
                <a:ext cx="7938" cy="15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41" name="Line 58"/>
              <p:cNvSpPr>
                <a:spLocks noChangeShapeType="1"/>
              </p:cNvSpPr>
              <p:nvPr/>
            </p:nvSpPr>
            <p:spPr bwMode="auto">
              <a:xfrm flipV="1">
                <a:off x="1690017" y="3731946"/>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42" name="Line 59"/>
              <p:cNvSpPr>
                <a:spLocks noChangeShapeType="1"/>
              </p:cNvSpPr>
              <p:nvPr/>
            </p:nvSpPr>
            <p:spPr bwMode="auto">
              <a:xfrm flipV="1">
                <a:off x="1699542" y="3725596"/>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43" name="Line 60"/>
              <p:cNvSpPr>
                <a:spLocks noChangeShapeType="1"/>
              </p:cNvSpPr>
              <p:nvPr/>
            </p:nvSpPr>
            <p:spPr bwMode="auto">
              <a:xfrm flipV="1">
                <a:off x="1709067" y="3716071"/>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44" name="Line 61"/>
              <p:cNvSpPr>
                <a:spLocks noChangeShapeType="1"/>
              </p:cNvSpPr>
              <p:nvPr/>
            </p:nvSpPr>
            <p:spPr bwMode="auto">
              <a:xfrm flipV="1">
                <a:off x="1718592" y="3703371"/>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45" name="Line 62"/>
              <p:cNvSpPr>
                <a:spLocks noChangeShapeType="1"/>
              </p:cNvSpPr>
              <p:nvPr/>
            </p:nvSpPr>
            <p:spPr bwMode="auto">
              <a:xfrm flipV="1">
                <a:off x="1728117" y="3685909"/>
                <a:ext cx="9525"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46" name="Line 63"/>
              <p:cNvSpPr>
                <a:spLocks noChangeShapeType="1"/>
              </p:cNvSpPr>
              <p:nvPr/>
            </p:nvSpPr>
            <p:spPr bwMode="auto">
              <a:xfrm flipV="1">
                <a:off x="1737642" y="3668446"/>
                <a:ext cx="7938"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47" name="Line 64"/>
              <p:cNvSpPr>
                <a:spLocks noChangeShapeType="1"/>
              </p:cNvSpPr>
              <p:nvPr/>
            </p:nvSpPr>
            <p:spPr bwMode="auto">
              <a:xfrm flipV="1">
                <a:off x="1745579" y="3646221"/>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48" name="Line 65"/>
              <p:cNvSpPr>
                <a:spLocks noChangeShapeType="1"/>
              </p:cNvSpPr>
              <p:nvPr/>
            </p:nvSpPr>
            <p:spPr bwMode="auto">
              <a:xfrm flipV="1">
                <a:off x="1755104" y="3622409"/>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49" name="Line 66"/>
              <p:cNvSpPr>
                <a:spLocks noChangeShapeType="1"/>
              </p:cNvSpPr>
              <p:nvPr/>
            </p:nvSpPr>
            <p:spPr bwMode="auto">
              <a:xfrm flipV="1">
                <a:off x="1764629" y="3595421"/>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50" name="Line 67"/>
              <p:cNvSpPr>
                <a:spLocks noChangeShapeType="1"/>
              </p:cNvSpPr>
              <p:nvPr/>
            </p:nvSpPr>
            <p:spPr bwMode="auto">
              <a:xfrm flipV="1">
                <a:off x="1774154" y="3566846"/>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51" name="Line 68"/>
              <p:cNvSpPr>
                <a:spLocks noChangeShapeType="1"/>
              </p:cNvSpPr>
              <p:nvPr/>
            </p:nvSpPr>
            <p:spPr bwMode="auto">
              <a:xfrm flipV="1">
                <a:off x="1783679" y="3536684"/>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52" name="Line 69"/>
              <p:cNvSpPr>
                <a:spLocks noChangeShapeType="1"/>
              </p:cNvSpPr>
              <p:nvPr/>
            </p:nvSpPr>
            <p:spPr bwMode="auto">
              <a:xfrm flipV="1">
                <a:off x="1791617" y="3504934"/>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53" name="Line 70"/>
              <p:cNvSpPr>
                <a:spLocks noChangeShapeType="1"/>
              </p:cNvSpPr>
              <p:nvPr/>
            </p:nvSpPr>
            <p:spPr bwMode="auto">
              <a:xfrm flipV="1">
                <a:off x="1801142" y="34715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54" name="Line 71"/>
              <p:cNvSpPr>
                <a:spLocks noChangeShapeType="1"/>
              </p:cNvSpPr>
              <p:nvPr/>
            </p:nvSpPr>
            <p:spPr bwMode="auto">
              <a:xfrm flipV="1">
                <a:off x="1810667" y="3438259"/>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55" name="Line 72"/>
              <p:cNvSpPr>
                <a:spLocks noChangeShapeType="1"/>
              </p:cNvSpPr>
              <p:nvPr/>
            </p:nvSpPr>
            <p:spPr bwMode="auto">
              <a:xfrm flipV="1">
                <a:off x="1820192" y="3403334"/>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56" name="Line 73"/>
              <p:cNvSpPr>
                <a:spLocks noChangeShapeType="1"/>
              </p:cNvSpPr>
              <p:nvPr/>
            </p:nvSpPr>
            <p:spPr bwMode="auto">
              <a:xfrm flipV="1">
                <a:off x="1829717" y="33699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57" name="Line 74"/>
              <p:cNvSpPr>
                <a:spLocks noChangeShapeType="1"/>
              </p:cNvSpPr>
              <p:nvPr/>
            </p:nvSpPr>
            <p:spPr bwMode="auto">
              <a:xfrm flipV="1">
                <a:off x="1839242" y="3335071"/>
                <a:ext cx="7938"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58" name="Line 75"/>
              <p:cNvSpPr>
                <a:spLocks noChangeShapeType="1"/>
              </p:cNvSpPr>
              <p:nvPr/>
            </p:nvSpPr>
            <p:spPr bwMode="auto">
              <a:xfrm flipV="1">
                <a:off x="1847179"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59" name="Line 76"/>
              <p:cNvSpPr>
                <a:spLocks noChangeShapeType="1"/>
              </p:cNvSpPr>
              <p:nvPr/>
            </p:nvSpPr>
            <p:spPr bwMode="auto">
              <a:xfrm flipV="1">
                <a:off x="1856704"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60" name="Line 77"/>
              <p:cNvSpPr>
                <a:spLocks noChangeShapeType="1"/>
              </p:cNvSpPr>
              <p:nvPr/>
            </p:nvSpPr>
            <p:spPr bwMode="auto">
              <a:xfrm flipV="1">
                <a:off x="1866229"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61" name="Line 78"/>
              <p:cNvSpPr>
                <a:spLocks noChangeShapeType="1"/>
              </p:cNvSpPr>
              <p:nvPr/>
            </p:nvSpPr>
            <p:spPr bwMode="auto">
              <a:xfrm flipV="1">
                <a:off x="1875754" y="320172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62" name="Line 79"/>
              <p:cNvSpPr>
                <a:spLocks noChangeShapeType="1"/>
              </p:cNvSpPr>
              <p:nvPr/>
            </p:nvSpPr>
            <p:spPr bwMode="auto">
              <a:xfrm flipV="1">
                <a:off x="1885279" y="3171559"/>
                <a:ext cx="9525"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63" name="Line 80"/>
              <p:cNvSpPr>
                <a:spLocks noChangeShapeType="1"/>
              </p:cNvSpPr>
              <p:nvPr/>
            </p:nvSpPr>
            <p:spPr bwMode="auto">
              <a:xfrm flipV="1">
                <a:off x="1894804" y="3142984"/>
                <a:ext cx="7938"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64" name="Line 81"/>
              <p:cNvSpPr>
                <a:spLocks noChangeShapeType="1"/>
              </p:cNvSpPr>
              <p:nvPr/>
            </p:nvSpPr>
            <p:spPr bwMode="auto">
              <a:xfrm flipV="1">
                <a:off x="1902742"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65" name="Line 82"/>
              <p:cNvSpPr>
                <a:spLocks noChangeShapeType="1"/>
              </p:cNvSpPr>
              <p:nvPr/>
            </p:nvSpPr>
            <p:spPr bwMode="auto">
              <a:xfrm flipV="1">
                <a:off x="1912267"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66" name="Line 83"/>
              <p:cNvSpPr>
                <a:spLocks noChangeShapeType="1"/>
              </p:cNvSpPr>
              <p:nvPr/>
            </p:nvSpPr>
            <p:spPr bwMode="auto">
              <a:xfrm flipV="1">
                <a:off x="1921792" y="3069959"/>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67" name="Line 84"/>
              <p:cNvSpPr>
                <a:spLocks noChangeShapeType="1"/>
              </p:cNvSpPr>
              <p:nvPr/>
            </p:nvSpPr>
            <p:spPr bwMode="auto">
              <a:xfrm flipV="1">
                <a:off x="1931317" y="3050909"/>
                <a:ext cx="9525"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68" name="Line 85"/>
              <p:cNvSpPr>
                <a:spLocks noChangeShapeType="1"/>
              </p:cNvSpPr>
              <p:nvPr/>
            </p:nvSpPr>
            <p:spPr bwMode="auto">
              <a:xfrm flipV="1">
                <a:off x="1940842" y="3035034"/>
                <a:ext cx="7938"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69" name="Line 86"/>
              <p:cNvSpPr>
                <a:spLocks noChangeShapeType="1"/>
              </p:cNvSpPr>
              <p:nvPr/>
            </p:nvSpPr>
            <p:spPr bwMode="auto">
              <a:xfrm flipV="1">
                <a:off x="1948779"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70" name="Line 87"/>
              <p:cNvSpPr>
                <a:spLocks noChangeShapeType="1"/>
              </p:cNvSpPr>
              <p:nvPr/>
            </p:nvSpPr>
            <p:spPr bwMode="auto">
              <a:xfrm flipV="1">
                <a:off x="1958304"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71" name="Line 88"/>
              <p:cNvSpPr>
                <a:spLocks noChangeShapeType="1"/>
              </p:cNvSpPr>
              <p:nvPr/>
            </p:nvSpPr>
            <p:spPr bwMode="auto">
              <a:xfrm flipV="1">
                <a:off x="1967829"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72" name="Line 89"/>
              <p:cNvSpPr>
                <a:spLocks noChangeShapeType="1"/>
              </p:cNvSpPr>
              <p:nvPr/>
            </p:nvSpPr>
            <p:spPr bwMode="auto">
              <a:xfrm flipV="1">
                <a:off x="1977354" y="3003284"/>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73" name="Line 90"/>
              <p:cNvSpPr>
                <a:spLocks noChangeShapeType="1"/>
              </p:cNvSpPr>
              <p:nvPr/>
            </p:nvSpPr>
            <p:spPr bwMode="auto">
              <a:xfrm>
                <a:off x="1986879" y="3003284"/>
                <a:ext cx="9525" cy="15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74" name="Line 91"/>
              <p:cNvSpPr>
                <a:spLocks noChangeShapeType="1"/>
              </p:cNvSpPr>
              <p:nvPr/>
            </p:nvSpPr>
            <p:spPr bwMode="auto">
              <a:xfrm>
                <a:off x="1996404" y="3003284"/>
                <a:ext cx="7938"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75" name="Line 92"/>
              <p:cNvSpPr>
                <a:spLocks noChangeShapeType="1"/>
              </p:cNvSpPr>
              <p:nvPr/>
            </p:nvSpPr>
            <p:spPr bwMode="auto">
              <a:xfrm>
                <a:off x="2004342"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76" name="Line 93"/>
              <p:cNvSpPr>
                <a:spLocks noChangeShapeType="1"/>
              </p:cNvSpPr>
              <p:nvPr/>
            </p:nvSpPr>
            <p:spPr bwMode="auto">
              <a:xfrm>
                <a:off x="2013867"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77" name="Line 94"/>
              <p:cNvSpPr>
                <a:spLocks noChangeShapeType="1"/>
              </p:cNvSpPr>
              <p:nvPr/>
            </p:nvSpPr>
            <p:spPr bwMode="auto">
              <a:xfrm>
                <a:off x="2023392"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78" name="Line 95"/>
              <p:cNvSpPr>
                <a:spLocks noChangeShapeType="1"/>
              </p:cNvSpPr>
              <p:nvPr/>
            </p:nvSpPr>
            <p:spPr bwMode="auto">
              <a:xfrm>
                <a:off x="2032917" y="3035034"/>
                <a:ext cx="9525"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79" name="Line 96"/>
              <p:cNvSpPr>
                <a:spLocks noChangeShapeType="1"/>
              </p:cNvSpPr>
              <p:nvPr/>
            </p:nvSpPr>
            <p:spPr bwMode="auto">
              <a:xfrm>
                <a:off x="2042442" y="3050909"/>
                <a:ext cx="9525"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80" name="Line 97"/>
              <p:cNvSpPr>
                <a:spLocks noChangeShapeType="1"/>
              </p:cNvSpPr>
              <p:nvPr/>
            </p:nvSpPr>
            <p:spPr bwMode="auto">
              <a:xfrm>
                <a:off x="2051967" y="3069959"/>
                <a:ext cx="7938"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81" name="Line 98"/>
              <p:cNvSpPr>
                <a:spLocks noChangeShapeType="1"/>
              </p:cNvSpPr>
              <p:nvPr/>
            </p:nvSpPr>
            <p:spPr bwMode="auto">
              <a:xfrm>
                <a:off x="2059904"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82" name="Line 99"/>
              <p:cNvSpPr>
                <a:spLocks noChangeShapeType="1"/>
              </p:cNvSpPr>
              <p:nvPr/>
            </p:nvSpPr>
            <p:spPr bwMode="auto">
              <a:xfrm>
                <a:off x="2069429"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83" name="Line 100"/>
              <p:cNvSpPr>
                <a:spLocks noChangeShapeType="1"/>
              </p:cNvSpPr>
              <p:nvPr/>
            </p:nvSpPr>
            <p:spPr bwMode="auto">
              <a:xfrm>
                <a:off x="2078954" y="3142984"/>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84" name="Line 101"/>
              <p:cNvSpPr>
                <a:spLocks noChangeShapeType="1"/>
              </p:cNvSpPr>
              <p:nvPr/>
            </p:nvSpPr>
            <p:spPr bwMode="auto">
              <a:xfrm>
                <a:off x="2088479" y="3171559"/>
                <a:ext cx="9525"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85" name="Line 102"/>
              <p:cNvSpPr>
                <a:spLocks noChangeShapeType="1"/>
              </p:cNvSpPr>
              <p:nvPr/>
            </p:nvSpPr>
            <p:spPr bwMode="auto">
              <a:xfrm>
                <a:off x="2098004" y="3201721"/>
                <a:ext cx="7938"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86" name="Line 103"/>
              <p:cNvSpPr>
                <a:spLocks noChangeShapeType="1"/>
              </p:cNvSpPr>
              <p:nvPr/>
            </p:nvSpPr>
            <p:spPr bwMode="auto">
              <a:xfrm>
                <a:off x="2105942"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87" name="Line 104"/>
              <p:cNvSpPr>
                <a:spLocks noChangeShapeType="1"/>
              </p:cNvSpPr>
              <p:nvPr/>
            </p:nvSpPr>
            <p:spPr bwMode="auto">
              <a:xfrm>
                <a:off x="2115467"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88" name="Line 105"/>
              <p:cNvSpPr>
                <a:spLocks noChangeShapeType="1"/>
              </p:cNvSpPr>
              <p:nvPr/>
            </p:nvSpPr>
            <p:spPr bwMode="auto">
              <a:xfrm>
                <a:off x="2124992"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589" name="Line 106"/>
              <p:cNvSpPr>
                <a:spLocks noChangeShapeType="1"/>
              </p:cNvSpPr>
              <p:nvPr/>
            </p:nvSpPr>
            <p:spPr bwMode="auto">
              <a:xfrm>
                <a:off x="2134517" y="333507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grpSp>
      </p:grpSp>
      <p:sp>
        <p:nvSpPr>
          <p:cNvPr id="898" name="Oval 897"/>
          <p:cNvSpPr/>
          <p:nvPr/>
        </p:nvSpPr>
        <p:spPr>
          <a:xfrm>
            <a:off x="8571915" y="1547455"/>
            <a:ext cx="422031" cy="422031"/>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3200" dirty="0"/>
              <a:t>e</a:t>
            </a:r>
          </a:p>
        </p:txBody>
      </p:sp>
      <p:sp>
        <p:nvSpPr>
          <p:cNvPr id="899" name="Oval 898"/>
          <p:cNvSpPr/>
          <p:nvPr/>
        </p:nvSpPr>
        <p:spPr>
          <a:xfrm>
            <a:off x="6079575" y="2459504"/>
            <a:ext cx="422031" cy="422031"/>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3200" dirty="0"/>
              <a:t>e</a:t>
            </a:r>
          </a:p>
        </p:txBody>
      </p:sp>
      <p:sp>
        <p:nvSpPr>
          <p:cNvPr id="900" name="Oval 899"/>
          <p:cNvSpPr/>
          <p:nvPr/>
        </p:nvSpPr>
        <p:spPr>
          <a:xfrm>
            <a:off x="7596554" y="2443090"/>
            <a:ext cx="422031" cy="422031"/>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3200" dirty="0"/>
              <a:t>e</a:t>
            </a:r>
          </a:p>
        </p:txBody>
      </p:sp>
      <p:cxnSp>
        <p:nvCxnSpPr>
          <p:cNvPr id="902" name="Straight Arrow Connector 901"/>
          <p:cNvCxnSpPr/>
          <p:nvPr/>
        </p:nvCxnSpPr>
        <p:spPr>
          <a:xfrm rot="10800000">
            <a:off x="8009209" y="1561516"/>
            <a:ext cx="534575" cy="154745"/>
          </a:xfrm>
          <a:prstGeom prst="straightConnector1">
            <a:avLst/>
          </a:prstGeom>
          <a:ln>
            <a:solidFill>
              <a:srgbClr val="0070C0"/>
            </a:solidFill>
            <a:tailEnd type="arrow"/>
          </a:ln>
        </p:spPr>
        <p:style>
          <a:lnRef idx="1">
            <a:schemeClr val="accent1"/>
          </a:lnRef>
          <a:fillRef idx="0">
            <a:schemeClr val="accent1"/>
          </a:fillRef>
          <a:effectRef idx="0">
            <a:schemeClr val="accent1"/>
          </a:effectRef>
          <a:fontRef idx="minor">
            <a:schemeClr val="tx1"/>
          </a:fontRef>
        </p:style>
      </p:cxnSp>
      <p:cxnSp>
        <p:nvCxnSpPr>
          <p:cNvPr id="904" name="Straight Arrow Connector 903"/>
          <p:cNvCxnSpPr/>
          <p:nvPr/>
        </p:nvCxnSpPr>
        <p:spPr>
          <a:xfrm rot="10800000" flipV="1">
            <a:off x="7080739" y="2670516"/>
            <a:ext cx="475960" cy="2345"/>
          </a:xfrm>
          <a:prstGeom prst="straightConnector1">
            <a:avLst/>
          </a:prstGeom>
          <a:ln>
            <a:solidFill>
              <a:srgbClr val="0070C0"/>
            </a:solidFill>
            <a:tailEnd type="arrow"/>
          </a:ln>
        </p:spPr>
        <p:style>
          <a:lnRef idx="1">
            <a:schemeClr val="accent1"/>
          </a:lnRef>
          <a:fillRef idx="0">
            <a:schemeClr val="accent1"/>
          </a:fillRef>
          <a:effectRef idx="0">
            <a:schemeClr val="accent1"/>
          </a:effectRef>
          <a:fontRef idx="minor">
            <a:schemeClr val="tx1"/>
          </a:fontRef>
        </p:style>
      </p:cxnSp>
      <p:cxnSp>
        <p:nvCxnSpPr>
          <p:cNvPr id="906" name="Straight Arrow Connector 905"/>
          <p:cNvCxnSpPr/>
          <p:nvPr/>
        </p:nvCxnSpPr>
        <p:spPr>
          <a:xfrm rot="10800000" flipV="1">
            <a:off x="5983445" y="2768993"/>
            <a:ext cx="138332" cy="100816"/>
          </a:xfrm>
          <a:prstGeom prst="straightConnector1">
            <a:avLst/>
          </a:prstGeom>
          <a:ln>
            <a:solidFill>
              <a:srgbClr val="0070C0"/>
            </a:solidFill>
            <a:tailEnd type="arrow"/>
          </a:ln>
        </p:spPr>
        <p:style>
          <a:lnRef idx="1">
            <a:schemeClr val="accent1"/>
          </a:lnRef>
          <a:fillRef idx="0">
            <a:schemeClr val="accent1"/>
          </a:fillRef>
          <a:effectRef idx="0">
            <a:schemeClr val="accent1"/>
          </a:effectRef>
          <a:fontRef idx="minor">
            <a:schemeClr val="tx1"/>
          </a:fontRef>
        </p:style>
      </p:cxnSp>
      <p:sp>
        <p:nvSpPr>
          <p:cNvPr id="911" name="Oval 910"/>
          <p:cNvSpPr/>
          <p:nvPr/>
        </p:nvSpPr>
        <p:spPr>
          <a:xfrm>
            <a:off x="6951786" y="1446637"/>
            <a:ext cx="422031" cy="422031"/>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3200" dirty="0"/>
              <a:t>e</a:t>
            </a:r>
          </a:p>
        </p:txBody>
      </p:sp>
      <p:cxnSp>
        <p:nvCxnSpPr>
          <p:cNvPr id="912" name="Straight Arrow Connector 911"/>
          <p:cNvCxnSpPr/>
          <p:nvPr/>
        </p:nvCxnSpPr>
        <p:spPr>
          <a:xfrm rot="10800000">
            <a:off x="6346877" y="1573238"/>
            <a:ext cx="565051" cy="58614"/>
          </a:xfrm>
          <a:prstGeom prst="straightConnector1">
            <a:avLst/>
          </a:prstGeom>
          <a:ln>
            <a:solidFill>
              <a:srgbClr val="0070C0"/>
            </a:solidFill>
            <a:tailEnd type="arrow"/>
          </a:ln>
        </p:spPr>
        <p:style>
          <a:lnRef idx="1">
            <a:schemeClr val="accent1"/>
          </a:lnRef>
          <a:fillRef idx="0">
            <a:schemeClr val="accent1"/>
          </a:fillRef>
          <a:effectRef idx="0">
            <a:schemeClr val="accent1"/>
          </a:effectRef>
          <a:fontRef idx="minor">
            <a:schemeClr val="tx1"/>
          </a:fontRef>
        </p:style>
      </p:cxnSp>
      <p:cxnSp>
        <p:nvCxnSpPr>
          <p:cNvPr id="918" name="Elbow Connector 917"/>
          <p:cNvCxnSpPr>
            <a:stCxn id="896" idx="4"/>
            <a:endCxn id="894" idx="1"/>
          </p:cNvCxnSpPr>
          <p:nvPr/>
        </p:nvCxnSpPr>
        <p:spPr>
          <a:xfrm rot="16200000" flipH="1">
            <a:off x="5226738" y="3632400"/>
            <a:ext cx="1866308" cy="1110168"/>
          </a:xfrm>
          <a:prstGeom prst="bentConnector3">
            <a:avLst>
              <a:gd name="adj1" fmla="val 50000"/>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20" name="Elbow Connector 919"/>
          <p:cNvCxnSpPr>
            <a:stCxn id="892" idx="4"/>
            <a:endCxn id="925" idx="10"/>
          </p:cNvCxnSpPr>
          <p:nvPr/>
        </p:nvCxnSpPr>
        <p:spPr>
          <a:xfrm rot="5400000">
            <a:off x="8341897" y="3551741"/>
            <a:ext cx="1203858" cy="641858"/>
          </a:xfrm>
          <a:prstGeom prst="bentConnector3">
            <a:avLst>
              <a:gd name="adj1" fmla="val 50000"/>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2" name="Group 925"/>
          <p:cNvGrpSpPr/>
          <p:nvPr/>
        </p:nvGrpSpPr>
        <p:grpSpPr>
          <a:xfrm rot="5400000" flipH="1">
            <a:off x="8680938" y="3964484"/>
            <a:ext cx="869252" cy="1348718"/>
            <a:chOff x="1965960" y="1854330"/>
            <a:chExt cx="869252" cy="1348718"/>
          </a:xfrm>
        </p:grpSpPr>
        <p:sp>
          <p:nvSpPr>
            <p:cNvPr id="921" name="Oval 13"/>
            <p:cNvSpPr>
              <a:spLocks noChangeArrowheads="1"/>
            </p:cNvSpPr>
            <p:nvPr/>
          </p:nvSpPr>
          <p:spPr bwMode="auto">
            <a:xfrm>
              <a:off x="1975255" y="1854330"/>
              <a:ext cx="851248" cy="776929"/>
            </a:xfrm>
            <a:prstGeom prst="ellipse">
              <a:avLst/>
            </a:prstGeom>
            <a:solidFill>
              <a:srgbClr val="969696"/>
            </a:solidFill>
            <a:ln w="9525">
              <a:noFill/>
              <a:round/>
              <a:headEnd/>
              <a:tailEnd/>
            </a:ln>
          </p:spPr>
          <p:txBody>
            <a:bodyPr wrap="none" anchor="ctr"/>
            <a:lstStyle/>
            <a:p>
              <a:endParaRPr lang="en-US" dirty="0"/>
            </a:p>
          </p:txBody>
        </p:sp>
        <p:sp>
          <p:nvSpPr>
            <p:cNvPr id="922" name="AutoShape 14"/>
            <p:cNvSpPr>
              <a:spLocks noChangeArrowheads="1"/>
            </p:cNvSpPr>
            <p:nvPr/>
          </p:nvSpPr>
          <p:spPr bwMode="auto">
            <a:xfrm>
              <a:off x="1965960" y="2287472"/>
              <a:ext cx="869252" cy="563228"/>
            </a:xfrm>
            <a:custGeom>
              <a:avLst/>
              <a:gdLst>
                <a:gd name="T0" fmla="*/ 344 w 21600"/>
                <a:gd name="T1" fmla="*/ 156 h 21600"/>
                <a:gd name="T2" fmla="*/ 197 w 21600"/>
                <a:gd name="T3" fmla="*/ 311 h 21600"/>
                <a:gd name="T4" fmla="*/ 49 w 21600"/>
                <a:gd name="T5" fmla="*/ 156 h 21600"/>
                <a:gd name="T6" fmla="*/ 197 w 21600"/>
                <a:gd name="T7" fmla="*/ 0 h 21600"/>
                <a:gd name="T8" fmla="*/ 0 60000 65536"/>
                <a:gd name="T9" fmla="*/ 0 60000 65536"/>
                <a:gd name="T10" fmla="*/ 0 60000 65536"/>
                <a:gd name="T11" fmla="*/ 0 60000 65536"/>
                <a:gd name="T12" fmla="*/ 4507 w 21600"/>
                <a:gd name="T13" fmla="*/ 4514 h 21600"/>
                <a:gd name="T14" fmla="*/ 17093 w 21600"/>
                <a:gd name="T15" fmla="*/ 17086 h 21600"/>
              </a:gdLst>
              <a:ahLst/>
              <a:cxnLst>
                <a:cxn ang="T8">
                  <a:pos x="T0" y="T1"/>
                </a:cxn>
                <a:cxn ang="T9">
                  <a:pos x="T2" y="T3"/>
                </a:cxn>
                <a:cxn ang="T10">
                  <a:pos x="T4" y="T5"/>
                </a:cxn>
                <a:cxn ang="T11">
                  <a:pos x="T6" y="T7"/>
                </a:cxn>
              </a:cxnLst>
              <a:rect l="T12" t="T13" r="T14" b="T15"/>
              <a:pathLst>
                <a:path w="21600" h="21600">
                  <a:moveTo>
                    <a:pt x="0" y="0"/>
                  </a:moveTo>
                  <a:lnTo>
                    <a:pt x="5400" y="21600"/>
                  </a:lnTo>
                  <a:lnTo>
                    <a:pt x="16200" y="21600"/>
                  </a:lnTo>
                  <a:lnTo>
                    <a:pt x="21600" y="0"/>
                  </a:lnTo>
                  <a:close/>
                </a:path>
              </a:pathLst>
            </a:custGeom>
            <a:solidFill>
              <a:srgbClr val="969696"/>
            </a:solidFill>
            <a:ln w="9525">
              <a:noFill/>
              <a:miter lim="800000"/>
              <a:headEnd/>
              <a:tailEnd/>
            </a:ln>
          </p:spPr>
          <p:txBody>
            <a:bodyPr wrap="none" anchor="ctr"/>
            <a:lstStyle/>
            <a:p>
              <a:endParaRPr lang="en-US" dirty="0"/>
            </a:p>
          </p:txBody>
        </p:sp>
        <p:sp>
          <p:nvSpPr>
            <p:cNvPr id="923" name="Oval 13"/>
            <p:cNvSpPr>
              <a:spLocks noChangeArrowheads="1"/>
            </p:cNvSpPr>
            <p:nvPr/>
          </p:nvSpPr>
          <p:spPr bwMode="auto">
            <a:xfrm>
              <a:off x="2005733" y="1884491"/>
              <a:ext cx="791573" cy="742337"/>
            </a:xfrm>
            <a:prstGeom prst="ellipse">
              <a:avLst/>
            </a:prstGeom>
            <a:solidFill>
              <a:srgbClr val="FFFF99"/>
            </a:solidFill>
            <a:ln w="9525">
              <a:noFill/>
              <a:round/>
              <a:headEnd/>
              <a:tailEnd/>
            </a:ln>
          </p:spPr>
          <p:txBody>
            <a:bodyPr wrap="none" anchor="ctr"/>
            <a:lstStyle/>
            <a:p>
              <a:endParaRPr lang="en-US" dirty="0"/>
            </a:p>
          </p:txBody>
        </p:sp>
        <p:sp>
          <p:nvSpPr>
            <p:cNvPr id="924" name="AutoShape 14"/>
            <p:cNvSpPr>
              <a:spLocks noChangeArrowheads="1"/>
            </p:cNvSpPr>
            <p:nvPr/>
          </p:nvSpPr>
          <p:spPr bwMode="auto">
            <a:xfrm>
              <a:off x="2023026" y="2327471"/>
              <a:ext cx="755068" cy="538151"/>
            </a:xfrm>
            <a:custGeom>
              <a:avLst/>
              <a:gdLst>
                <a:gd name="T0" fmla="*/ 344 w 21600"/>
                <a:gd name="T1" fmla="*/ 156 h 21600"/>
                <a:gd name="T2" fmla="*/ 197 w 21600"/>
                <a:gd name="T3" fmla="*/ 311 h 21600"/>
                <a:gd name="T4" fmla="*/ 49 w 21600"/>
                <a:gd name="T5" fmla="*/ 156 h 21600"/>
                <a:gd name="T6" fmla="*/ 197 w 21600"/>
                <a:gd name="T7" fmla="*/ 0 h 21600"/>
                <a:gd name="T8" fmla="*/ 0 60000 65536"/>
                <a:gd name="T9" fmla="*/ 0 60000 65536"/>
                <a:gd name="T10" fmla="*/ 0 60000 65536"/>
                <a:gd name="T11" fmla="*/ 0 60000 65536"/>
                <a:gd name="T12" fmla="*/ 4507 w 21600"/>
                <a:gd name="T13" fmla="*/ 4514 h 21600"/>
                <a:gd name="T14" fmla="*/ 17093 w 21600"/>
                <a:gd name="T15" fmla="*/ 17086 h 21600"/>
              </a:gdLst>
              <a:ahLst/>
              <a:cxnLst>
                <a:cxn ang="T8">
                  <a:pos x="T0" y="T1"/>
                </a:cxn>
                <a:cxn ang="T9">
                  <a:pos x="T2" y="T3"/>
                </a:cxn>
                <a:cxn ang="T10">
                  <a:pos x="T4" y="T5"/>
                </a:cxn>
                <a:cxn ang="T11">
                  <a:pos x="T6" y="T7"/>
                </a:cxn>
              </a:cxnLst>
              <a:rect l="T12" t="T13" r="T14" b="T15"/>
              <a:pathLst>
                <a:path w="21600" h="21600">
                  <a:moveTo>
                    <a:pt x="0" y="0"/>
                  </a:moveTo>
                  <a:lnTo>
                    <a:pt x="5400" y="21600"/>
                  </a:lnTo>
                  <a:lnTo>
                    <a:pt x="16200" y="21600"/>
                  </a:lnTo>
                  <a:lnTo>
                    <a:pt x="21600" y="0"/>
                  </a:lnTo>
                  <a:close/>
                </a:path>
              </a:pathLst>
            </a:custGeom>
            <a:solidFill>
              <a:srgbClr val="FFFF99"/>
            </a:solidFill>
            <a:ln w="9525">
              <a:noFill/>
              <a:miter lim="800000"/>
              <a:headEnd/>
              <a:tailEnd/>
            </a:ln>
          </p:spPr>
          <p:txBody>
            <a:bodyPr wrap="none" anchor="ctr"/>
            <a:lstStyle/>
            <a:p>
              <a:endParaRPr lang="en-US" dirty="0"/>
            </a:p>
          </p:txBody>
        </p:sp>
        <p:sp>
          <p:nvSpPr>
            <p:cNvPr id="925" name="Freeform 15"/>
            <p:cNvSpPr>
              <a:spLocks/>
            </p:cNvSpPr>
            <p:nvPr/>
          </p:nvSpPr>
          <p:spPr bwMode="auto">
            <a:xfrm>
              <a:off x="2201706" y="2860431"/>
              <a:ext cx="391944" cy="342617"/>
            </a:xfrm>
            <a:custGeom>
              <a:avLst/>
              <a:gdLst>
                <a:gd name="T0" fmla="*/ 0 w 204"/>
                <a:gd name="T1" fmla="*/ 0 h 198"/>
                <a:gd name="T2" fmla="*/ 15 w 204"/>
                <a:gd name="T3" fmla="*/ 39 h 198"/>
                <a:gd name="T4" fmla="*/ 0 w 204"/>
                <a:gd name="T5" fmla="*/ 72 h 198"/>
                <a:gd name="T6" fmla="*/ 15 w 204"/>
                <a:gd name="T7" fmla="*/ 108 h 198"/>
                <a:gd name="T8" fmla="*/ 0 w 204"/>
                <a:gd name="T9" fmla="*/ 153 h 198"/>
                <a:gd name="T10" fmla="*/ 36 w 204"/>
                <a:gd name="T11" fmla="*/ 186 h 198"/>
                <a:gd name="T12" fmla="*/ 102 w 204"/>
                <a:gd name="T13" fmla="*/ 198 h 198"/>
                <a:gd name="T14" fmla="*/ 156 w 204"/>
                <a:gd name="T15" fmla="*/ 189 h 198"/>
                <a:gd name="T16" fmla="*/ 204 w 204"/>
                <a:gd name="T17" fmla="*/ 171 h 198"/>
                <a:gd name="T18" fmla="*/ 177 w 204"/>
                <a:gd name="T19" fmla="*/ 141 h 198"/>
                <a:gd name="T20" fmla="*/ 189 w 204"/>
                <a:gd name="T21" fmla="*/ 93 h 198"/>
                <a:gd name="T22" fmla="*/ 177 w 204"/>
                <a:gd name="T23" fmla="*/ 60 h 198"/>
                <a:gd name="T24" fmla="*/ 201 w 204"/>
                <a:gd name="T25" fmla="*/ 24 h 198"/>
                <a:gd name="T26" fmla="*/ 201 w 204"/>
                <a:gd name="T27" fmla="*/ 0 h 198"/>
                <a:gd name="T28" fmla="*/ 0 w 204"/>
                <a:gd name="T29" fmla="*/ 0 h 19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204"/>
                <a:gd name="T46" fmla="*/ 0 h 198"/>
                <a:gd name="T47" fmla="*/ 204 w 204"/>
                <a:gd name="T48" fmla="*/ 198 h 198"/>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204" h="198">
                  <a:moveTo>
                    <a:pt x="0" y="0"/>
                  </a:moveTo>
                  <a:lnTo>
                    <a:pt x="15" y="39"/>
                  </a:lnTo>
                  <a:lnTo>
                    <a:pt x="0" y="72"/>
                  </a:lnTo>
                  <a:lnTo>
                    <a:pt x="15" y="108"/>
                  </a:lnTo>
                  <a:lnTo>
                    <a:pt x="0" y="153"/>
                  </a:lnTo>
                  <a:lnTo>
                    <a:pt x="36" y="186"/>
                  </a:lnTo>
                  <a:lnTo>
                    <a:pt x="102" y="198"/>
                  </a:lnTo>
                  <a:lnTo>
                    <a:pt x="156" y="189"/>
                  </a:lnTo>
                  <a:lnTo>
                    <a:pt x="204" y="171"/>
                  </a:lnTo>
                  <a:lnTo>
                    <a:pt x="177" y="141"/>
                  </a:lnTo>
                  <a:lnTo>
                    <a:pt x="189" y="93"/>
                  </a:lnTo>
                  <a:lnTo>
                    <a:pt x="177" y="60"/>
                  </a:lnTo>
                  <a:lnTo>
                    <a:pt x="201" y="24"/>
                  </a:lnTo>
                  <a:lnTo>
                    <a:pt x="201" y="0"/>
                  </a:lnTo>
                  <a:lnTo>
                    <a:pt x="0" y="0"/>
                  </a:lnTo>
                  <a:close/>
                </a:path>
              </a:pathLst>
            </a:custGeom>
            <a:solidFill>
              <a:srgbClr val="4D4D4D"/>
            </a:solidFill>
            <a:ln w="9525">
              <a:solidFill>
                <a:schemeClr val="tx1"/>
              </a:solidFill>
              <a:round/>
              <a:headEnd/>
              <a:tailEnd/>
            </a:ln>
          </p:spPr>
          <p:txBody>
            <a:bodyPr/>
            <a:lstStyle/>
            <a:p>
              <a:endParaRPr lang="en-US" dirty="0"/>
            </a:p>
          </p:txBody>
        </p:sp>
      </p:grpSp>
      <p:cxnSp>
        <p:nvCxnSpPr>
          <p:cNvPr id="934" name="Elbow Connector 933"/>
          <p:cNvCxnSpPr>
            <a:stCxn id="925" idx="6"/>
            <a:endCxn id="895" idx="1"/>
          </p:cNvCxnSpPr>
          <p:nvPr/>
        </p:nvCxnSpPr>
        <p:spPr>
          <a:xfrm rot="16200000" flipH="1" flipV="1">
            <a:off x="7845086" y="4550308"/>
            <a:ext cx="504677" cy="687565"/>
          </a:xfrm>
          <a:prstGeom prst="bentConnector3">
            <a:avLst>
              <a:gd name="adj1" fmla="val -6767"/>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3" name="Group 938"/>
          <p:cNvGrpSpPr/>
          <p:nvPr/>
        </p:nvGrpSpPr>
        <p:grpSpPr>
          <a:xfrm>
            <a:off x="1899140" y="2037463"/>
            <a:ext cx="1831058" cy="350199"/>
            <a:chOff x="1228054" y="3000375"/>
            <a:chExt cx="1831058" cy="736334"/>
          </a:xfrm>
        </p:grpSpPr>
        <p:grpSp>
          <p:nvGrpSpPr>
            <p:cNvPr id="14" name="Group 385"/>
            <p:cNvGrpSpPr/>
            <p:nvPr/>
          </p:nvGrpSpPr>
          <p:grpSpPr>
            <a:xfrm>
              <a:off x="1228054" y="3003284"/>
              <a:ext cx="915988" cy="733425"/>
              <a:chOff x="1228054" y="3003284"/>
              <a:chExt cx="915988" cy="733425"/>
            </a:xfrm>
          </p:grpSpPr>
          <p:sp>
            <p:nvSpPr>
              <p:cNvPr id="1041" name="Line 8"/>
              <p:cNvSpPr>
                <a:spLocks noChangeShapeType="1"/>
              </p:cNvSpPr>
              <p:nvPr/>
            </p:nvSpPr>
            <p:spPr bwMode="auto">
              <a:xfrm flipV="1">
                <a:off x="1228054" y="333507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42" name="Line 9"/>
              <p:cNvSpPr>
                <a:spLocks noChangeShapeType="1"/>
              </p:cNvSpPr>
              <p:nvPr/>
            </p:nvSpPr>
            <p:spPr bwMode="auto">
              <a:xfrm flipV="1">
                <a:off x="1237579"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43" name="Line 10"/>
              <p:cNvSpPr>
                <a:spLocks noChangeShapeType="1"/>
              </p:cNvSpPr>
              <p:nvPr/>
            </p:nvSpPr>
            <p:spPr bwMode="auto">
              <a:xfrm flipV="1">
                <a:off x="1247104"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44" name="Line 11"/>
              <p:cNvSpPr>
                <a:spLocks noChangeShapeType="1"/>
              </p:cNvSpPr>
              <p:nvPr/>
            </p:nvSpPr>
            <p:spPr bwMode="auto">
              <a:xfrm flipV="1">
                <a:off x="1256629"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45" name="Line 12"/>
              <p:cNvSpPr>
                <a:spLocks noChangeShapeType="1"/>
              </p:cNvSpPr>
              <p:nvPr/>
            </p:nvSpPr>
            <p:spPr bwMode="auto">
              <a:xfrm flipV="1">
                <a:off x="1266154" y="320172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46" name="Line 13"/>
              <p:cNvSpPr>
                <a:spLocks noChangeShapeType="1"/>
              </p:cNvSpPr>
              <p:nvPr/>
            </p:nvSpPr>
            <p:spPr bwMode="auto">
              <a:xfrm flipV="1">
                <a:off x="1275679" y="3171559"/>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47" name="Line 14"/>
              <p:cNvSpPr>
                <a:spLocks noChangeShapeType="1"/>
              </p:cNvSpPr>
              <p:nvPr/>
            </p:nvSpPr>
            <p:spPr bwMode="auto">
              <a:xfrm flipV="1">
                <a:off x="1283617" y="3142984"/>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48" name="Line 15"/>
              <p:cNvSpPr>
                <a:spLocks noChangeShapeType="1"/>
              </p:cNvSpPr>
              <p:nvPr/>
            </p:nvSpPr>
            <p:spPr bwMode="auto">
              <a:xfrm flipV="1">
                <a:off x="1293142"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49" name="Line 16"/>
              <p:cNvSpPr>
                <a:spLocks noChangeShapeType="1"/>
              </p:cNvSpPr>
              <p:nvPr/>
            </p:nvSpPr>
            <p:spPr bwMode="auto">
              <a:xfrm flipV="1">
                <a:off x="1302667"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50" name="Line 17"/>
              <p:cNvSpPr>
                <a:spLocks noChangeShapeType="1"/>
              </p:cNvSpPr>
              <p:nvPr/>
            </p:nvSpPr>
            <p:spPr bwMode="auto">
              <a:xfrm flipV="1">
                <a:off x="1312192" y="3069959"/>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51" name="Line 18"/>
              <p:cNvSpPr>
                <a:spLocks noChangeShapeType="1"/>
              </p:cNvSpPr>
              <p:nvPr/>
            </p:nvSpPr>
            <p:spPr bwMode="auto">
              <a:xfrm flipV="1">
                <a:off x="1321717" y="3050909"/>
                <a:ext cx="7938"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52" name="Line 19"/>
              <p:cNvSpPr>
                <a:spLocks noChangeShapeType="1"/>
              </p:cNvSpPr>
              <p:nvPr/>
            </p:nvSpPr>
            <p:spPr bwMode="auto">
              <a:xfrm flipV="1">
                <a:off x="1329654" y="3035034"/>
                <a:ext cx="9525"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53" name="Line 20"/>
              <p:cNvSpPr>
                <a:spLocks noChangeShapeType="1"/>
              </p:cNvSpPr>
              <p:nvPr/>
            </p:nvSpPr>
            <p:spPr bwMode="auto">
              <a:xfrm flipV="1">
                <a:off x="1339179"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54" name="Line 21"/>
              <p:cNvSpPr>
                <a:spLocks noChangeShapeType="1"/>
              </p:cNvSpPr>
              <p:nvPr/>
            </p:nvSpPr>
            <p:spPr bwMode="auto">
              <a:xfrm flipV="1">
                <a:off x="1348704"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55" name="Line 22"/>
              <p:cNvSpPr>
                <a:spLocks noChangeShapeType="1"/>
              </p:cNvSpPr>
              <p:nvPr/>
            </p:nvSpPr>
            <p:spPr bwMode="auto">
              <a:xfrm flipV="1">
                <a:off x="1358229"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56" name="Line 23"/>
              <p:cNvSpPr>
                <a:spLocks noChangeShapeType="1"/>
              </p:cNvSpPr>
              <p:nvPr/>
            </p:nvSpPr>
            <p:spPr bwMode="auto">
              <a:xfrm flipV="1">
                <a:off x="1367754" y="3003284"/>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57" name="Line 24"/>
              <p:cNvSpPr>
                <a:spLocks noChangeShapeType="1"/>
              </p:cNvSpPr>
              <p:nvPr/>
            </p:nvSpPr>
            <p:spPr bwMode="auto">
              <a:xfrm>
                <a:off x="1377279" y="3003284"/>
                <a:ext cx="7938" cy="15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58" name="Line 25"/>
              <p:cNvSpPr>
                <a:spLocks noChangeShapeType="1"/>
              </p:cNvSpPr>
              <p:nvPr/>
            </p:nvSpPr>
            <p:spPr bwMode="auto">
              <a:xfrm>
                <a:off x="1385217" y="3003284"/>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59" name="Line 26"/>
              <p:cNvSpPr>
                <a:spLocks noChangeShapeType="1"/>
              </p:cNvSpPr>
              <p:nvPr/>
            </p:nvSpPr>
            <p:spPr bwMode="auto">
              <a:xfrm>
                <a:off x="1394742"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60" name="Line 27"/>
              <p:cNvSpPr>
                <a:spLocks noChangeShapeType="1"/>
              </p:cNvSpPr>
              <p:nvPr/>
            </p:nvSpPr>
            <p:spPr bwMode="auto">
              <a:xfrm>
                <a:off x="1404267"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61" name="Line 28"/>
              <p:cNvSpPr>
                <a:spLocks noChangeShapeType="1"/>
              </p:cNvSpPr>
              <p:nvPr/>
            </p:nvSpPr>
            <p:spPr bwMode="auto">
              <a:xfrm>
                <a:off x="1413792"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62" name="Line 29"/>
              <p:cNvSpPr>
                <a:spLocks noChangeShapeType="1"/>
              </p:cNvSpPr>
              <p:nvPr/>
            </p:nvSpPr>
            <p:spPr bwMode="auto">
              <a:xfrm>
                <a:off x="1423317" y="3035034"/>
                <a:ext cx="7938"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63" name="Line 30"/>
              <p:cNvSpPr>
                <a:spLocks noChangeShapeType="1"/>
              </p:cNvSpPr>
              <p:nvPr/>
            </p:nvSpPr>
            <p:spPr bwMode="auto">
              <a:xfrm>
                <a:off x="1431254" y="3050909"/>
                <a:ext cx="9525"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64" name="Line 31"/>
              <p:cNvSpPr>
                <a:spLocks noChangeShapeType="1"/>
              </p:cNvSpPr>
              <p:nvPr/>
            </p:nvSpPr>
            <p:spPr bwMode="auto">
              <a:xfrm>
                <a:off x="1440779" y="3069959"/>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65" name="Line 32"/>
              <p:cNvSpPr>
                <a:spLocks noChangeShapeType="1"/>
              </p:cNvSpPr>
              <p:nvPr/>
            </p:nvSpPr>
            <p:spPr bwMode="auto">
              <a:xfrm>
                <a:off x="1450304"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66" name="Line 33"/>
              <p:cNvSpPr>
                <a:spLocks noChangeShapeType="1"/>
              </p:cNvSpPr>
              <p:nvPr/>
            </p:nvSpPr>
            <p:spPr bwMode="auto">
              <a:xfrm>
                <a:off x="1459829"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67" name="Line 34"/>
              <p:cNvSpPr>
                <a:spLocks noChangeShapeType="1"/>
              </p:cNvSpPr>
              <p:nvPr/>
            </p:nvSpPr>
            <p:spPr bwMode="auto">
              <a:xfrm>
                <a:off x="1469354" y="3142984"/>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68" name="Line 35"/>
              <p:cNvSpPr>
                <a:spLocks noChangeShapeType="1"/>
              </p:cNvSpPr>
              <p:nvPr/>
            </p:nvSpPr>
            <p:spPr bwMode="auto">
              <a:xfrm>
                <a:off x="1478879" y="3171559"/>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69" name="Line 36"/>
              <p:cNvSpPr>
                <a:spLocks noChangeShapeType="1"/>
              </p:cNvSpPr>
              <p:nvPr/>
            </p:nvSpPr>
            <p:spPr bwMode="auto">
              <a:xfrm>
                <a:off x="1486817" y="320172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70" name="Line 37"/>
              <p:cNvSpPr>
                <a:spLocks noChangeShapeType="1"/>
              </p:cNvSpPr>
              <p:nvPr/>
            </p:nvSpPr>
            <p:spPr bwMode="auto">
              <a:xfrm>
                <a:off x="1496342"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71" name="Line 38"/>
              <p:cNvSpPr>
                <a:spLocks noChangeShapeType="1"/>
              </p:cNvSpPr>
              <p:nvPr/>
            </p:nvSpPr>
            <p:spPr bwMode="auto">
              <a:xfrm>
                <a:off x="1505867"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72" name="Line 39"/>
              <p:cNvSpPr>
                <a:spLocks noChangeShapeType="1"/>
              </p:cNvSpPr>
              <p:nvPr/>
            </p:nvSpPr>
            <p:spPr bwMode="auto">
              <a:xfrm>
                <a:off x="1515392"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73" name="Line 40"/>
              <p:cNvSpPr>
                <a:spLocks noChangeShapeType="1"/>
              </p:cNvSpPr>
              <p:nvPr/>
            </p:nvSpPr>
            <p:spPr bwMode="auto">
              <a:xfrm>
                <a:off x="1524917" y="3335071"/>
                <a:ext cx="7938"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74" name="Line 41"/>
              <p:cNvSpPr>
                <a:spLocks noChangeShapeType="1"/>
              </p:cNvSpPr>
              <p:nvPr/>
            </p:nvSpPr>
            <p:spPr bwMode="auto">
              <a:xfrm>
                <a:off x="1532854" y="33699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75" name="Line 42"/>
              <p:cNvSpPr>
                <a:spLocks noChangeShapeType="1"/>
              </p:cNvSpPr>
              <p:nvPr/>
            </p:nvSpPr>
            <p:spPr bwMode="auto">
              <a:xfrm>
                <a:off x="1542379" y="3403334"/>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76" name="Line 43"/>
              <p:cNvSpPr>
                <a:spLocks noChangeShapeType="1"/>
              </p:cNvSpPr>
              <p:nvPr/>
            </p:nvSpPr>
            <p:spPr bwMode="auto">
              <a:xfrm>
                <a:off x="1551904" y="3438259"/>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77" name="Line 44"/>
              <p:cNvSpPr>
                <a:spLocks noChangeShapeType="1"/>
              </p:cNvSpPr>
              <p:nvPr/>
            </p:nvSpPr>
            <p:spPr bwMode="auto">
              <a:xfrm>
                <a:off x="1561429" y="34715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78" name="Line 45"/>
              <p:cNvSpPr>
                <a:spLocks noChangeShapeType="1"/>
              </p:cNvSpPr>
              <p:nvPr/>
            </p:nvSpPr>
            <p:spPr bwMode="auto">
              <a:xfrm>
                <a:off x="1570954" y="3504934"/>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79" name="Line 46"/>
              <p:cNvSpPr>
                <a:spLocks noChangeShapeType="1"/>
              </p:cNvSpPr>
              <p:nvPr/>
            </p:nvSpPr>
            <p:spPr bwMode="auto">
              <a:xfrm>
                <a:off x="1580479" y="3536684"/>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80" name="Line 47"/>
              <p:cNvSpPr>
                <a:spLocks noChangeShapeType="1"/>
              </p:cNvSpPr>
              <p:nvPr/>
            </p:nvSpPr>
            <p:spPr bwMode="auto">
              <a:xfrm>
                <a:off x="1588417" y="3566846"/>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81" name="Line 48"/>
              <p:cNvSpPr>
                <a:spLocks noChangeShapeType="1"/>
              </p:cNvSpPr>
              <p:nvPr/>
            </p:nvSpPr>
            <p:spPr bwMode="auto">
              <a:xfrm>
                <a:off x="1597942" y="3595421"/>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82" name="Line 49"/>
              <p:cNvSpPr>
                <a:spLocks noChangeShapeType="1"/>
              </p:cNvSpPr>
              <p:nvPr/>
            </p:nvSpPr>
            <p:spPr bwMode="auto">
              <a:xfrm>
                <a:off x="1607467" y="3622409"/>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83" name="Line 50"/>
              <p:cNvSpPr>
                <a:spLocks noChangeShapeType="1"/>
              </p:cNvSpPr>
              <p:nvPr/>
            </p:nvSpPr>
            <p:spPr bwMode="auto">
              <a:xfrm>
                <a:off x="1616992" y="3646221"/>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84" name="Line 51"/>
              <p:cNvSpPr>
                <a:spLocks noChangeShapeType="1"/>
              </p:cNvSpPr>
              <p:nvPr/>
            </p:nvSpPr>
            <p:spPr bwMode="auto">
              <a:xfrm>
                <a:off x="1626517" y="3668446"/>
                <a:ext cx="7938"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85" name="Line 52"/>
              <p:cNvSpPr>
                <a:spLocks noChangeShapeType="1"/>
              </p:cNvSpPr>
              <p:nvPr/>
            </p:nvSpPr>
            <p:spPr bwMode="auto">
              <a:xfrm>
                <a:off x="1634454" y="3685909"/>
                <a:ext cx="9525"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86" name="Line 53"/>
              <p:cNvSpPr>
                <a:spLocks noChangeShapeType="1"/>
              </p:cNvSpPr>
              <p:nvPr/>
            </p:nvSpPr>
            <p:spPr bwMode="auto">
              <a:xfrm>
                <a:off x="1643979" y="3703371"/>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87" name="Line 54"/>
              <p:cNvSpPr>
                <a:spLocks noChangeShapeType="1"/>
              </p:cNvSpPr>
              <p:nvPr/>
            </p:nvSpPr>
            <p:spPr bwMode="auto">
              <a:xfrm>
                <a:off x="1653504" y="3716071"/>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88" name="Line 55"/>
              <p:cNvSpPr>
                <a:spLocks noChangeShapeType="1"/>
              </p:cNvSpPr>
              <p:nvPr/>
            </p:nvSpPr>
            <p:spPr bwMode="auto">
              <a:xfrm>
                <a:off x="1663029" y="3725596"/>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89" name="Line 56"/>
              <p:cNvSpPr>
                <a:spLocks noChangeShapeType="1"/>
              </p:cNvSpPr>
              <p:nvPr/>
            </p:nvSpPr>
            <p:spPr bwMode="auto">
              <a:xfrm>
                <a:off x="1672554" y="3731946"/>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90" name="Line 57"/>
              <p:cNvSpPr>
                <a:spLocks noChangeShapeType="1"/>
              </p:cNvSpPr>
              <p:nvPr/>
            </p:nvSpPr>
            <p:spPr bwMode="auto">
              <a:xfrm>
                <a:off x="1682079" y="3735121"/>
                <a:ext cx="7938" cy="15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91" name="Line 58"/>
              <p:cNvSpPr>
                <a:spLocks noChangeShapeType="1"/>
              </p:cNvSpPr>
              <p:nvPr/>
            </p:nvSpPr>
            <p:spPr bwMode="auto">
              <a:xfrm flipV="1">
                <a:off x="1690017" y="3731946"/>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92" name="Line 59"/>
              <p:cNvSpPr>
                <a:spLocks noChangeShapeType="1"/>
              </p:cNvSpPr>
              <p:nvPr/>
            </p:nvSpPr>
            <p:spPr bwMode="auto">
              <a:xfrm flipV="1">
                <a:off x="1699542" y="3725596"/>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93" name="Line 60"/>
              <p:cNvSpPr>
                <a:spLocks noChangeShapeType="1"/>
              </p:cNvSpPr>
              <p:nvPr/>
            </p:nvSpPr>
            <p:spPr bwMode="auto">
              <a:xfrm flipV="1">
                <a:off x="1709067" y="3716071"/>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94" name="Line 61"/>
              <p:cNvSpPr>
                <a:spLocks noChangeShapeType="1"/>
              </p:cNvSpPr>
              <p:nvPr/>
            </p:nvSpPr>
            <p:spPr bwMode="auto">
              <a:xfrm flipV="1">
                <a:off x="1718592" y="3703371"/>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95" name="Line 62"/>
              <p:cNvSpPr>
                <a:spLocks noChangeShapeType="1"/>
              </p:cNvSpPr>
              <p:nvPr/>
            </p:nvSpPr>
            <p:spPr bwMode="auto">
              <a:xfrm flipV="1">
                <a:off x="1728117" y="3685909"/>
                <a:ext cx="9525"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96" name="Line 63"/>
              <p:cNvSpPr>
                <a:spLocks noChangeShapeType="1"/>
              </p:cNvSpPr>
              <p:nvPr/>
            </p:nvSpPr>
            <p:spPr bwMode="auto">
              <a:xfrm flipV="1">
                <a:off x="1737642" y="3668446"/>
                <a:ext cx="7938"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97" name="Line 64"/>
              <p:cNvSpPr>
                <a:spLocks noChangeShapeType="1"/>
              </p:cNvSpPr>
              <p:nvPr/>
            </p:nvSpPr>
            <p:spPr bwMode="auto">
              <a:xfrm flipV="1">
                <a:off x="1745579" y="3646221"/>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98" name="Line 65"/>
              <p:cNvSpPr>
                <a:spLocks noChangeShapeType="1"/>
              </p:cNvSpPr>
              <p:nvPr/>
            </p:nvSpPr>
            <p:spPr bwMode="auto">
              <a:xfrm flipV="1">
                <a:off x="1755104" y="3622409"/>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99" name="Line 66"/>
              <p:cNvSpPr>
                <a:spLocks noChangeShapeType="1"/>
              </p:cNvSpPr>
              <p:nvPr/>
            </p:nvSpPr>
            <p:spPr bwMode="auto">
              <a:xfrm flipV="1">
                <a:off x="1764629" y="3595421"/>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00" name="Line 67"/>
              <p:cNvSpPr>
                <a:spLocks noChangeShapeType="1"/>
              </p:cNvSpPr>
              <p:nvPr/>
            </p:nvSpPr>
            <p:spPr bwMode="auto">
              <a:xfrm flipV="1">
                <a:off x="1774154" y="3566846"/>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01" name="Line 68"/>
              <p:cNvSpPr>
                <a:spLocks noChangeShapeType="1"/>
              </p:cNvSpPr>
              <p:nvPr/>
            </p:nvSpPr>
            <p:spPr bwMode="auto">
              <a:xfrm flipV="1">
                <a:off x="1783679" y="3536684"/>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02" name="Line 69"/>
              <p:cNvSpPr>
                <a:spLocks noChangeShapeType="1"/>
              </p:cNvSpPr>
              <p:nvPr/>
            </p:nvSpPr>
            <p:spPr bwMode="auto">
              <a:xfrm flipV="1">
                <a:off x="1791617" y="3504934"/>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03" name="Line 70"/>
              <p:cNvSpPr>
                <a:spLocks noChangeShapeType="1"/>
              </p:cNvSpPr>
              <p:nvPr/>
            </p:nvSpPr>
            <p:spPr bwMode="auto">
              <a:xfrm flipV="1">
                <a:off x="1801142" y="34715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04" name="Line 71"/>
              <p:cNvSpPr>
                <a:spLocks noChangeShapeType="1"/>
              </p:cNvSpPr>
              <p:nvPr/>
            </p:nvSpPr>
            <p:spPr bwMode="auto">
              <a:xfrm flipV="1">
                <a:off x="1810667" y="3438259"/>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05" name="Line 72"/>
              <p:cNvSpPr>
                <a:spLocks noChangeShapeType="1"/>
              </p:cNvSpPr>
              <p:nvPr/>
            </p:nvSpPr>
            <p:spPr bwMode="auto">
              <a:xfrm flipV="1">
                <a:off x="1820192" y="3403334"/>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06" name="Line 73"/>
              <p:cNvSpPr>
                <a:spLocks noChangeShapeType="1"/>
              </p:cNvSpPr>
              <p:nvPr/>
            </p:nvSpPr>
            <p:spPr bwMode="auto">
              <a:xfrm flipV="1">
                <a:off x="1829717" y="33699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07" name="Line 74"/>
              <p:cNvSpPr>
                <a:spLocks noChangeShapeType="1"/>
              </p:cNvSpPr>
              <p:nvPr/>
            </p:nvSpPr>
            <p:spPr bwMode="auto">
              <a:xfrm flipV="1">
                <a:off x="1839242" y="3335071"/>
                <a:ext cx="7938"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08" name="Line 75"/>
              <p:cNvSpPr>
                <a:spLocks noChangeShapeType="1"/>
              </p:cNvSpPr>
              <p:nvPr/>
            </p:nvSpPr>
            <p:spPr bwMode="auto">
              <a:xfrm flipV="1">
                <a:off x="1847179"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09" name="Line 76"/>
              <p:cNvSpPr>
                <a:spLocks noChangeShapeType="1"/>
              </p:cNvSpPr>
              <p:nvPr/>
            </p:nvSpPr>
            <p:spPr bwMode="auto">
              <a:xfrm flipV="1">
                <a:off x="1856704"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10" name="Line 77"/>
              <p:cNvSpPr>
                <a:spLocks noChangeShapeType="1"/>
              </p:cNvSpPr>
              <p:nvPr/>
            </p:nvSpPr>
            <p:spPr bwMode="auto">
              <a:xfrm flipV="1">
                <a:off x="1866229"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11" name="Line 78"/>
              <p:cNvSpPr>
                <a:spLocks noChangeShapeType="1"/>
              </p:cNvSpPr>
              <p:nvPr/>
            </p:nvSpPr>
            <p:spPr bwMode="auto">
              <a:xfrm flipV="1">
                <a:off x="1875754" y="320172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12" name="Line 79"/>
              <p:cNvSpPr>
                <a:spLocks noChangeShapeType="1"/>
              </p:cNvSpPr>
              <p:nvPr/>
            </p:nvSpPr>
            <p:spPr bwMode="auto">
              <a:xfrm flipV="1">
                <a:off x="1885279" y="3171559"/>
                <a:ext cx="9525"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13" name="Line 80"/>
              <p:cNvSpPr>
                <a:spLocks noChangeShapeType="1"/>
              </p:cNvSpPr>
              <p:nvPr/>
            </p:nvSpPr>
            <p:spPr bwMode="auto">
              <a:xfrm flipV="1">
                <a:off x="1894804" y="3142984"/>
                <a:ext cx="7938"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14" name="Line 81"/>
              <p:cNvSpPr>
                <a:spLocks noChangeShapeType="1"/>
              </p:cNvSpPr>
              <p:nvPr/>
            </p:nvSpPr>
            <p:spPr bwMode="auto">
              <a:xfrm flipV="1">
                <a:off x="1902742"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15" name="Line 82"/>
              <p:cNvSpPr>
                <a:spLocks noChangeShapeType="1"/>
              </p:cNvSpPr>
              <p:nvPr/>
            </p:nvSpPr>
            <p:spPr bwMode="auto">
              <a:xfrm flipV="1">
                <a:off x="1912267"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16" name="Line 83"/>
              <p:cNvSpPr>
                <a:spLocks noChangeShapeType="1"/>
              </p:cNvSpPr>
              <p:nvPr/>
            </p:nvSpPr>
            <p:spPr bwMode="auto">
              <a:xfrm flipV="1">
                <a:off x="1921792" y="3069959"/>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17" name="Line 84"/>
              <p:cNvSpPr>
                <a:spLocks noChangeShapeType="1"/>
              </p:cNvSpPr>
              <p:nvPr/>
            </p:nvSpPr>
            <p:spPr bwMode="auto">
              <a:xfrm flipV="1">
                <a:off x="1931317" y="3050909"/>
                <a:ext cx="9525"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18" name="Line 85"/>
              <p:cNvSpPr>
                <a:spLocks noChangeShapeType="1"/>
              </p:cNvSpPr>
              <p:nvPr/>
            </p:nvSpPr>
            <p:spPr bwMode="auto">
              <a:xfrm flipV="1">
                <a:off x="1940842" y="3035034"/>
                <a:ext cx="7938"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19" name="Line 86"/>
              <p:cNvSpPr>
                <a:spLocks noChangeShapeType="1"/>
              </p:cNvSpPr>
              <p:nvPr/>
            </p:nvSpPr>
            <p:spPr bwMode="auto">
              <a:xfrm flipV="1">
                <a:off x="1948779"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20" name="Line 87"/>
              <p:cNvSpPr>
                <a:spLocks noChangeShapeType="1"/>
              </p:cNvSpPr>
              <p:nvPr/>
            </p:nvSpPr>
            <p:spPr bwMode="auto">
              <a:xfrm flipV="1">
                <a:off x="1958304"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21" name="Line 88"/>
              <p:cNvSpPr>
                <a:spLocks noChangeShapeType="1"/>
              </p:cNvSpPr>
              <p:nvPr/>
            </p:nvSpPr>
            <p:spPr bwMode="auto">
              <a:xfrm flipV="1">
                <a:off x="1967829"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22" name="Line 89"/>
              <p:cNvSpPr>
                <a:spLocks noChangeShapeType="1"/>
              </p:cNvSpPr>
              <p:nvPr/>
            </p:nvSpPr>
            <p:spPr bwMode="auto">
              <a:xfrm flipV="1">
                <a:off x="1977354" y="3003284"/>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23" name="Line 90"/>
              <p:cNvSpPr>
                <a:spLocks noChangeShapeType="1"/>
              </p:cNvSpPr>
              <p:nvPr/>
            </p:nvSpPr>
            <p:spPr bwMode="auto">
              <a:xfrm>
                <a:off x="1986879" y="3003284"/>
                <a:ext cx="9525" cy="15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24" name="Line 91"/>
              <p:cNvSpPr>
                <a:spLocks noChangeShapeType="1"/>
              </p:cNvSpPr>
              <p:nvPr/>
            </p:nvSpPr>
            <p:spPr bwMode="auto">
              <a:xfrm>
                <a:off x="1996404" y="3003284"/>
                <a:ext cx="7938"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25" name="Line 92"/>
              <p:cNvSpPr>
                <a:spLocks noChangeShapeType="1"/>
              </p:cNvSpPr>
              <p:nvPr/>
            </p:nvSpPr>
            <p:spPr bwMode="auto">
              <a:xfrm>
                <a:off x="2004342"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26" name="Line 93"/>
              <p:cNvSpPr>
                <a:spLocks noChangeShapeType="1"/>
              </p:cNvSpPr>
              <p:nvPr/>
            </p:nvSpPr>
            <p:spPr bwMode="auto">
              <a:xfrm>
                <a:off x="2013867"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27" name="Line 94"/>
              <p:cNvSpPr>
                <a:spLocks noChangeShapeType="1"/>
              </p:cNvSpPr>
              <p:nvPr/>
            </p:nvSpPr>
            <p:spPr bwMode="auto">
              <a:xfrm>
                <a:off x="2023392"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28" name="Line 95"/>
              <p:cNvSpPr>
                <a:spLocks noChangeShapeType="1"/>
              </p:cNvSpPr>
              <p:nvPr/>
            </p:nvSpPr>
            <p:spPr bwMode="auto">
              <a:xfrm>
                <a:off x="2032917" y="3035034"/>
                <a:ext cx="9525"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29" name="Line 96"/>
              <p:cNvSpPr>
                <a:spLocks noChangeShapeType="1"/>
              </p:cNvSpPr>
              <p:nvPr/>
            </p:nvSpPr>
            <p:spPr bwMode="auto">
              <a:xfrm>
                <a:off x="2042442" y="3050909"/>
                <a:ext cx="9525"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30" name="Line 97"/>
              <p:cNvSpPr>
                <a:spLocks noChangeShapeType="1"/>
              </p:cNvSpPr>
              <p:nvPr/>
            </p:nvSpPr>
            <p:spPr bwMode="auto">
              <a:xfrm>
                <a:off x="2051967" y="3069959"/>
                <a:ext cx="7938"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31" name="Line 98"/>
              <p:cNvSpPr>
                <a:spLocks noChangeShapeType="1"/>
              </p:cNvSpPr>
              <p:nvPr/>
            </p:nvSpPr>
            <p:spPr bwMode="auto">
              <a:xfrm>
                <a:off x="2059904"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32" name="Line 99"/>
              <p:cNvSpPr>
                <a:spLocks noChangeShapeType="1"/>
              </p:cNvSpPr>
              <p:nvPr/>
            </p:nvSpPr>
            <p:spPr bwMode="auto">
              <a:xfrm>
                <a:off x="2069429"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33" name="Line 100"/>
              <p:cNvSpPr>
                <a:spLocks noChangeShapeType="1"/>
              </p:cNvSpPr>
              <p:nvPr/>
            </p:nvSpPr>
            <p:spPr bwMode="auto">
              <a:xfrm>
                <a:off x="2078954" y="3142984"/>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34" name="Line 101"/>
              <p:cNvSpPr>
                <a:spLocks noChangeShapeType="1"/>
              </p:cNvSpPr>
              <p:nvPr/>
            </p:nvSpPr>
            <p:spPr bwMode="auto">
              <a:xfrm>
                <a:off x="2088479" y="3171559"/>
                <a:ext cx="9525"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35" name="Line 102"/>
              <p:cNvSpPr>
                <a:spLocks noChangeShapeType="1"/>
              </p:cNvSpPr>
              <p:nvPr/>
            </p:nvSpPr>
            <p:spPr bwMode="auto">
              <a:xfrm>
                <a:off x="2098004" y="3201721"/>
                <a:ext cx="7938"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36" name="Line 103"/>
              <p:cNvSpPr>
                <a:spLocks noChangeShapeType="1"/>
              </p:cNvSpPr>
              <p:nvPr/>
            </p:nvSpPr>
            <p:spPr bwMode="auto">
              <a:xfrm>
                <a:off x="2105942"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37" name="Line 104"/>
              <p:cNvSpPr>
                <a:spLocks noChangeShapeType="1"/>
              </p:cNvSpPr>
              <p:nvPr/>
            </p:nvSpPr>
            <p:spPr bwMode="auto">
              <a:xfrm>
                <a:off x="2115467"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38" name="Line 105"/>
              <p:cNvSpPr>
                <a:spLocks noChangeShapeType="1"/>
              </p:cNvSpPr>
              <p:nvPr/>
            </p:nvSpPr>
            <p:spPr bwMode="auto">
              <a:xfrm>
                <a:off x="2124992"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39" name="Line 106"/>
              <p:cNvSpPr>
                <a:spLocks noChangeShapeType="1"/>
              </p:cNvSpPr>
              <p:nvPr/>
            </p:nvSpPr>
            <p:spPr bwMode="auto">
              <a:xfrm>
                <a:off x="2134517" y="333507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grpSp>
        <p:grpSp>
          <p:nvGrpSpPr>
            <p:cNvPr id="15" name="Group 386"/>
            <p:cNvGrpSpPr/>
            <p:nvPr/>
          </p:nvGrpSpPr>
          <p:grpSpPr>
            <a:xfrm flipV="1">
              <a:off x="2143124" y="3000375"/>
              <a:ext cx="915988" cy="733425"/>
              <a:chOff x="1228054" y="3003284"/>
              <a:chExt cx="915988" cy="733425"/>
            </a:xfrm>
          </p:grpSpPr>
          <p:sp>
            <p:nvSpPr>
              <p:cNvPr id="942" name="Line 8"/>
              <p:cNvSpPr>
                <a:spLocks noChangeShapeType="1"/>
              </p:cNvSpPr>
              <p:nvPr/>
            </p:nvSpPr>
            <p:spPr bwMode="auto">
              <a:xfrm flipV="1">
                <a:off x="1228054" y="333507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43" name="Line 9"/>
              <p:cNvSpPr>
                <a:spLocks noChangeShapeType="1"/>
              </p:cNvSpPr>
              <p:nvPr/>
            </p:nvSpPr>
            <p:spPr bwMode="auto">
              <a:xfrm flipV="1">
                <a:off x="1237579"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44" name="Line 10"/>
              <p:cNvSpPr>
                <a:spLocks noChangeShapeType="1"/>
              </p:cNvSpPr>
              <p:nvPr/>
            </p:nvSpPr>
            <p:spPr bwMode="auto">
              <a:xfrm flipV="1">
                <a:off x="1247104"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45" name="Line 11"/>
              <p:cNvSpPr>
                <a:spLocks noChangeShapeType="1"/>
              </p:cNvSpPr>
              <p:nvPr/>
            </p:nvSpPr>
            <p:spPr bwMode="auto">
              <a:xfrm flipV="1">
                <a:off x="1256629"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46" name="Line 12"/>
              <p:cNvSpPr>
                <a:spLocks noChangeShapeType="1"/>
              </p:cNvSpPr>
              <p:nvPr/>
            </p:nvSpPr>
            <p:spPr bwMode="auto">
              <a:xfrm flipV="1">
                <a:off x="1266154" y="320172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47" name="Line 13"/>
              <p:cNvSpPr>
                <a:spLocks noChangeShapeType="1"/>
              </p:cNvSpPr>
              <p:nvPr/>
            </p:nvSpPr>
            <p:spPr bwMode="auto">
              <a:xfrm flipV="1">
                <a:off x="1275679" y="3171559"/>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48" name="Line 14"/>
              <p:cNvSpPr>
                <a:spLocks noChangeShapeType="1"/>
              </p:cNvSpPr>
              <p:nvPr/>
            </p:nvSpPr>
            <p:spPr bwMode="auto">
              <a:xfrm flipV="1">
                <a:off x="1283617" y="3142984"/>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49" name="Line 15"/>
              <p:cNvSpPr>
                <a:spLocks noChangeShapeType="1"/>
              </p:cNvSpPr>
              <p:nvPr/>
            </p:nvSpPr>
            <p:spPr bwMode="auto">
              <a:xfrm flipV="1">
                <a:off x="1293142"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50" name="Line 16"/>
              <p:cNvSpPr>
                <a:spLocks noChangeShapeType="1"/>
              </p:cNvSpPr>
              <p:nvPr/>
            </p:nvSpPr>
            <p:spPr bwMode="auto">
              <a:xfrm flipV="1">
                <a:off x="1302667"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51" name="Line 17"/>
              <p:cNvSpPr>
                <a:spLocks noChangeShapeType="1"/>
              </p:cNvSpPr>
              <p:nvPr/>
            </p:nvSpPr>
            <p:spPr bwMode="auto">
              <a:xfrm flipV="1">
                <a:off x="1312192" y="3069959"/>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52" name="Line 18"/>
              <p:cNvSpPr>
                <a:spLocks noChangeShapeType="1"/>
              </p:cNvSpPr>
              <p:nvPr/>
            </p:nvSpPr>
            <p:spPr bwMode="auto">
              <a:xfrm flipV="1">
                <a:off x="1321717" y="3050909"/>
                <a:ext cx="7938"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53" name="Line 19"/>
              <p:cNvSpPr>
                <a:spLocks noChangeShapeType="1"/>
              </p:cNvSpPr>
              <p:nvPr/>
            </p:nvSpPr>
            <p:spPr bwMode="auto">
              <a:xfrm flipV="1">
                <a:off x="1329654" y="3035034"/>
                <a:ext cx="9525"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54" name="Line 20"/>
              <p:cNvSpPr>
                <a:spLocks noChangeShapeType="1"/>
              </p:cNvSpPr>
              <p:nvPr/>
            </p:nvSpPr>
            <p:spPr bwMode="auto">
              <a:xfrm flipV="1">
                <a:off x="1339179"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55" name="Line 21"/>
              <p:cNvSpPr>
                <a:spLocks noChangeShapeType="1"/>
              </p:cNvSpPr>
              <p:nvPr/>
            </p:nvSpPr>
            <p:spPr bwMode="auto">
              <a:xfrm flipV="1">
                <a:off x="1348704"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56" name="Line 22"/>
              <p:cNvSpPr>
                <a:spLocks noChangeShapeType="1"/>
              </p:cNvSpPr>
              <p:nvPr/>
            </p:nvSpPr>
            <p:spPr bwMode="auto">
              <a:xfrm flipV="1">
                <a:off x="1358229"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57" name="Line 23"/>
              <p:cNvSpPr>
                <a:spLocks noChangeShapeType="1"/>
              </p:cNvSpPr>
              <p:nvPr/>
            </p:nvSpPr>
            <p:spPr bwMode="auto">
              <a:xfrm flipV="1">
                <a:off x="1367754" y="3003284"/>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58" name="Line 24"/>
              <p:cNvSpPr>
                <a:spLocks noChangeShapeType="1"/>
              </p:cNvSpPr>
              <p:nvPr/>
            </p:nvSpPr>
            <p:spPr bwMode="auto">
              <a:xfrm>
                <a:off x="1377279" y="3003284"/>
                <a:ext cx="7938" cy="15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59" name="Line 25"/>
              <p:cNvSpPr>
                <a:spLocks noChangeShapeType="1"/>
              </p:cNvSpPr>
              <p:nvPr/>
            </p:nvSpPr>
            <p:spPr bwMode="auto">
              <a:xfrm>
                <a:off x="1385217" y="3003284"/>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60" name="Line 26"/>
              <p:cNvSpPr>
                <a:spLocks noChangeShapeType="1"/>
              </p:cNvSpPr>
              <p:nvPr/>
            </p:nvSpPr>
            <p:spPr bwMode="auto">
              <a:xfrm>
                <a:off x="1394742"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61" name="Line 27"/>
              <p:cNvSpPr>
                <a:spLocks noChangeShapeType="1"/>
              </p:cNvSpPr>
              <p:nvPr/>
            </p:nvSpPr>
            <p:spPr bwMode="auto">
              <a:xfrm>
                <a:off x="1404267"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62" name="Line 28"/>
              <p:cNvSpPr>
                <a:spLocks noChangeShapeType="1"/>
              </p:cNvSpPr>
              <p:nvPr/>
            </p:nvSpPr>
            <p:spPr bwMode="auto">
              <a:xfrm>
                <a:off x="1413792"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63" name="Line 29"/>
              <p:cNvSpPr>
                <a:spLocks noChangeShapeType="1"/>
              </p:cNvSpPr>
              <p:nvPr/>
            </p:nvSpPr>
            <p:spPr bwMode="auto">
              <a:xfrm>
                <a:off x="1423317" y="3035034"/>
                <a:ext cx="7938"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64" name="Line 30"/>
              <p:cNvSpPr>
                <a:spLocks noChangeShapeType="1"/>
              </p:cNvSpPr>
              <p:nvPr/>
            </p:nvSpPr>
            <p:spPr bwMode="auto">
              <a:xfrm>
                <a:off x="1431254" y="3050909"/>
                <a:ext cx="9525"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65" name="Line 31"/>
              <p:cNvSpPr>
                <a:spLocks noChangeShapeType="1"/>
              </p:cNvSpPr>
              <p:nvPr/>
            </p:nvSpPr>
            <p:spPr bwMode="auto">
              <a:xfrm>
                <a:off x="1440779" y="3069959"/>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66" name="Line 32"/>
              <p:cNvSpPr>
                <a:spLocks noChangeShapeType="1"/>
              </p:cNvSpPr>
              <p:nvPr/>
            </p:nvSpPr>
            <p:spPr bwMode="auto">
              <a:xfrm>
                <a:off x="1450304"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67" name="Line 33"/>
              <p:cNvSpPr>
                <a:spLocks noChangeShapeType="1"/>
              </p:cNvSpPr>
              <p:nvPr/>
            </p:nvSpPr>
            <p:spPr bwMode="auto">
              <a:xfrm>
                <a:off x="1459829"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68" name="Line 34"/>
              <p:cNvSpPr>
                <a:spLocks noChangeShapeType="1"/>
              </p:cNvSpPr>
              <p:nvPr/>
            </p:nvSpPr>
            <p:spPr bwMode="auto">
              <a:xfrm>
                <a:off x="1469354" y="3142984"/>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69" name="Line 35"/>
              <p:cNvSpPr>
                <a:spLocks noChangeShapeType="1"/>
              </p:cNvSpPr>
              <p:nvPr/>
            </p:nvSpPr>
            <p:spPr bwMode="auto">
              <a:xfrm>
                <a:off x="1478879" y="3171559"/>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70" name="Line 36"/>
              <p:cNvSpPr>
                <a:spLocks noChangeShapeType="1"/>
              </p:cNvSpPr>
              <p:nvPr/>
            </p:nvSpPr>
            <p:spPr bwMode="auto">
              <a:xfrm>
                <a:off x="1486817" y="320172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71" name="Line 37"/>
              <p:cNvSpPr>
                <a:spLocks noChangeShapeType="1"/>
              </p:cNvSpPr>
              <p:nvPr/>
            </p:nvSpPr>
            <p:spPr bwMode="auto">
              <a:xfrm>
                <a:off x="1496342"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72" name="Line 38"/>
              <p:cNvSpPr>
                <a:spLocks noChangeShapeType="1"/>
              </p:cNvSpPr>
              <p:nvPr/>
            </p:nvSpPr>
            <p:spPr bwMode="auto">
              <a:xfrm>
                <a:off x="1505867"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73" name="Line 39"/>
              <p:cNvSpPr>
                <a:spLocks noChangeShapeType="1"/>
              </p:cNvSpPr>
              <p:nvPr/>
            </p:nvSpPr>
            <p:spPr bwMode="auto">
              <a:xfrm>
                <a:off x="1515392"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74" name="Line 40"/>
              <p:cNvSpPr>
                <a:spLocks noChangeShapeType="1"/>
              </p:cNvSpPr>
              <p:nvPr/>
            </p:nvSpPr>
            <p:spPr bwMode="auto">
              <a:xfrm>
                <a:off x="1524917" y="3335071"/>
                <a:ext cx="7938"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75" name="Line 41"/>
              <p:cNvSpPr>
                <a:spLocks noChangeShapeType="1"/>
              </p:cNvSpPr>
              <p:nvPr/>
            </p:nvSpPr>
            <p:spPr bwMode="auto">
              <a:xfrm>
                <a:off x="1532854" y="33699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76" name="Line 42"/>
              <p:cNvSpPr>
                <a:spLocks noChangeShapeType="1"/>
              </p:cNvSpPr>
              <p:nvPr/>
            </p:nvSpPr>
            <p:spPr bwMode="auto">
              <a:xfrm>
                <a:off x="1542379" y="3403334"/>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77" name="Line 43"/>
              <p:cNvSpPr>
                <a:spLocks noChangeShapeType="1"/>
              </p:cNvSpPr>
              <p:nvPr/>
            </p:nvSpPr>
            <p:spPr bwMode="auto">
              <a:xfrm>
                <a:off x="1551904" y="3438259"/>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78" name="Line 44"/>
              <p:cNvSpPr>
                <a:spLocks noChangeShapeType="1"/>
              </p:cNvSpPr>
              <p:nvPr/>
            </p:nvSpPr>
            <p:spPr bwMode="auto">
              <a:xfrm>
                <a:off x="1561429" y="34715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79" name="Line 45"/>
              <p:cNvSpPr>
                <a:spLocks noChangeShapeType="1"/>
              </p:cNvSpPr>
              <p:nvPr/>
            </p:nvSpPr>
            <p:spPr bwMode="auto">
              <a:xfrm>
                <a:off x="1570954" y="3504934"/>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80" name="Line 46"/>
              <p:cNvSpPr>
                <a:spLocks noChangeShapeType="1"/>
              </p:cNvSpPr>
              <p:nvPr/>
            </p:nvSpPr>
            <p:spPr bwMode="auto">
              <a:xfrm>
                <a:off x="1580479" y="3536684"/>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81" name="Line 47"/>
              <p:cNvSpPr>
                <a:spLocks noChangeShapeType="1"/>
              </p:cNvSpPr>
              <p:nvPr/>
            </p:nvSpPr>
            <p:spPr bwMode="auto">
              <a:xfrm>
                <a:off x="1588417" y="3566846"/>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82" name="Line 48"/>
              <p:cNvSpPr>
                <a:spLocks noChangeShapeType="1"/>
              </p:cNvSpPr>
              <p:nvPr/>
            </p:nvSpPr>
            <p:spPr bwMode="auto">
              <a:xfrm>
                <a:off x="1597942" y="3595421"/>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83" name="Line 49"/>
              <p:cNvSpPr>
                <a:spLocks noChangeShapeType="1"/>
              </p:cNvSpPr>
              <p:nvPr/>
            </p:nvSpPr>
            <p:spPr bwMode="auto">
              <a:xfrm>
                <a:off x="1607467" y="3622409"/>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84" name="Line 50"/>
              <p:cNvSpPr>
                <a:spLocks noChangeShapeType="1"/>
              </p:cNvSpPr>
              <p:nvPr/>
            </p:nvSpPr>
            <p:spPr bwMode="auto">
              <a:xfrm>
                <a:off x="1616992" y="3646221"/>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85" name="Line 51"/>
              <p:cNvSpPr>
                <a:spLocks noChangeShapeType="1"/>
              </p:cNvSpPr>
              <p:nvPr/>
            </p:nvSpPr>
            <p:spPr bwMode="auto">
              <a:xfrm>
                <a:off x="1626517" y="3668446"/>
                <a:ext cx="7938"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86" name="Line 52"/>
              <p:cNvSpPr>
                <a:spLocks noChangeShapeType="1"/>
              </p:cNvSpPr>
              <p:nvPr/>
            </p:nvSpPr>
            <p:spPr bwMode="auto">
              <a:xfrm>
                <a:off x="1634454" y="3685909"/>
                <a:ext cx="9525"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87" name="Line 53"/>
              <p:cNvSpPr>
                <a:spLocks noChangeShapeType="1"/>
              </p:cNvSpPr>
              <p:nvPr/>
            </p:nvSpPr>
            <p:spPr bwMode="auto">
              <a:xfrm>
                <a:off x="1643979" y="3703371"/>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88" name="Line 54"/>
              <p:cNvSpPr>
                <a:spLocks noChangeShapeType="1"/>
              </p:cNvSpPr>
              <p:nvPr/>
            </p:nvSpPr>
            <p:spPr bwMode="auto">
              <a:xfrm>
                <a:off x="1653504" y="3716071"/>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89" name="Line 55"/>
              <p:cNvSpPr>
                <a:spLocks noChangeShapeType="1"/>
              </p:cNvSpPr>
              <p:nvPr/>
            </p:nvSpPr>
            <p:spPr bwMode="auto">
              <a:xfrm>
                <a:off x="1663029" y="3725596"/>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90" name="Line 56"/>
              <p:cNvSpPr>
                <a:spLocks noChangeShapeType="1"/>
              </p:cNvSpPr>
              <p:nvPr/>
            </p:nvSpPr>
            <p:spPr bwMode="auto">
              <a:xfrm>
                <a:off x="1672554" y="3731946"/>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91" name="Line 57"/>
              <p:cNvSpPr>
                <a:spLocks noChangeShapeType="1"/>
              </p:cNvSpPr>
              <p:nvPr/>
            </p:nvSpPr>
            <p:spPr bwMode="auto">
              <a:xfrm>
                <a:off x="1682079" y="3735121"/>
                <a:ext cx="7938" cy="15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92" name="Line 58"/>
              <p:cNvSpPr>
                <a:spLocks noChangeShapeType="1"/>
              </p:cNvSpPr>
              <p:nvPr/>
            </p:nvSpPr>
            <p:spPr bwMode="auto">
              <a:xfrm flipV="1">
                <a:off x="1690017" y="3731946"/>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93" name="Line 59"/>
              <p:cNvSpPr>
                <a:spLocks noChangeShapeType="1"/>
              </p:cNvSpPr>
              <p:nvPr/>
            </p:nvSpPr>
            <p:spPr bwMode="auto">
              <a:xfrm flipV="1">
                <a:off x="1699542" y="3725596"/>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94" name="Line 60"/>
              <p:cNvSpPr>
                <a:spLocks noChangeShapeType="1"/>
              </p:cNvSpPr>
              <p:nvPr/>
            </p:nvSpPr>
            <p:spPr bwMode="auto">
              <a:xfrm flipV="1">
                <a:off x="1709067" y="3716071"/>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95" name="Line 61"/>
              <p:cNvSpPr>
                <a:spLocks noChangeShapeType="1"/>
              </p:cNvSpPr>
              <p:nvPr/>
            </p:nvSpPr>
            <p:spPr bwMode="auto">
              <a:xfrm flipV="1">
                <a:off x="1718592" y="3703371"/>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96" name="Line 62"/>
              <p:cNvSpPr>
                <a:spLocks noChangeShapeType="1"/>
              </p:cNvSpPr>
              <p:nvPr/>
            </p:nvSpPr>
            <p:spPr bwMode="auto">
              <a:xfrm flipV="1">
                <a:off x="1728117" y="3685909"/>
                <a:ext cx="9525"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97" name="Line 63"/>
              <p:cNvSpPr>
                <a:spLocks noChangeShapeType="1"/>
              </p:cNvSpPr>
              <p:nvPr/>
            </p:nvSpPr>
            <p:spPr bwMode="auto">
              <a:xfrm flipV="1">
                <a:off x="1737642" y="3668446"/>
                <a:ext cx="7938" cy="174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98" name="Line 64"/>
              <p:cNvSpPr>
                <a:spLocks noChangeShapeType="1"/>
              </p:cNvSpPr>
              <p:nvPr/>
            </p:nvSpPr>
            <p:spPr bwMode="auto">
              <a:xfrm flipV="1">
                <a:off x="1745579" y="3646221"/>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999" name="Line 65"/>
              <p:cNvSpPr>
                <a:spLocks noChangeShapeType="1"/>
              </p:cNvSpPr>
              <p:nvPr/>
            </p:nvSpPr>
            <p:spPr bwMode="auto">
              <a:xfrm flipV="1">
                <a:off x="1755104" y="3622409"/>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00" name="Line 66"/>
              <p:cNvSpPr>
                <a:spLocks noChangeShapeType="1"/>
              </p:cNvSpPr>
              <p:nvPr/>
            </p:nvSpPr>
            <p:spPr bwMode="auto">
              <a:xfrm flipV="1">
                <a:off x="1764629" y="3595421"/>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01" name="Line 67"/>
              <p:cNvSpPr>
                <a:spLocks noChangeShapeType="1"/>
              </p:cNvSpPr>
              <p:nvPr/>
            </p:nvSpPr>
            <p:spPr bwMode="auto">
              <a:xfrm flipV="1">
                <a:off x="1774154" y="3566846"/>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02" name="Line 68"/>
              <p:cNvSpPr>
                <a:spLocks noChangeShapeType="1"/>
              </p:cNvSpPr>
              <p:nvPr/>
            </p:nvSpPr>
            <p:spPr bwMode="auto">
              <a:xfrm flipV="1">
                <a:off x="1783679" y="3536684"/>
                <a:ext cx="7938"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03" name="Line 69"/>
              <p:cNvSpPr>
                <a:spLocks noChangeShapeType="1"/>
              </p:cNvSpPr>
              <p:nvPr/>
            </p:nvSpPr>
            <p:spPr bwMode="auto">
              <a:xfrm flipV="1">
                <a:off x="1791617" y="3504934"/>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04" name="Line 70"/>
              <p:cNvSpPr>
                <a:spLocks noChangeShapeType="1"/>
              </p:cNvSpPr>
              <p:nvPr/>
            </p:nvSpPr>
            <p:spPr bwMode="auto">
              <a:xfrm flipV="1">
                <a:off x="1801142" y="34715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05" name="Line 71"/>
              <p:cNvSpPr>
                <a:spLocks noChangeShapeType="1"/>
              </p:cNvSpPr>
              <p:nvPr/>
            </p:nvSpPr>
            <p:spPr bwMode="auto">
              <a:xfrm flipV="1">
                <a:off x="1810667" y="3438259"/>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06" name="Line 72"/>
              <p:cNvSpPr>
                <a:spLocks noChangeShapeType="1"/>
              </p:cNvSpPr>
              <p:nvPr/>
            </p:nvSpPr>
            <p:spPr bwMode="auto">
              <a:xfrm flipV="1">
                <a:off x="1820192" y="3403334"/>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07" name="Line 73"/>
              <p:cNvSpPr>
                <a:spLocks noChangeShapeType="1"/>
              </p:cNvSpPr>
              <p:nvPr/>
            </p:nvSpPr>
            <p:spPr bwMode="auto">
              <a:xfrm flipV="1">
                <a:off x="1829717" y="3369996"/>
                <a:ext cx="9525" cy="3333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08" name="Line 74"/>
              <p:cNvSpPr>
                <a:spLocks noChangeShapeType="1"/>
              </p:cNvSpPr>
              <p:nvPr/>
            </p:nvSpPr>
            <p:spPr bwMode="auto">
              <a:xfrm flipV="1">
                <a:off x="1839242" y="3335071"/>
                <a:ext cx="7938"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09" name="Line 75"/>
              <p:cNvSpPr>
                <a:spLocks noChangeShapeType="1"/>
              </p:cNvSpPr>
              <p:nvPr/>
            </p:nvSpPr>
            <p:spPr bwMode="auto">
              <a:xfrm flipV="1">
                <a:off x="1847179"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10" name="Line 76"/>
              <p:cNvSpPr>
                <a:spLocks noChangeShapeType="1"/>
              </p:cNvSpPr>
              <p:nvPr/>
            </p:nvSpPr>
            <p:spPr bwMode="auto">
              <a:xfrm flipV="1">
                <a:off x="1856704"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11" name="Line 77"/>
              <p:cNvSpPr>
                <a:spLocks noChangeShapeType="1"/>
              </p:cNvSpPr>
              <p:nvPr/>
            </p:nvSpPr>
            <p:spPr bwMode="auto">
              <a:xfrm flipV="1">
                <a:off x="1866229"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12" name="Line 78"/>
              <p:cNvSpPr>
                <a:spLocks noChangeShapeType="1"/>
              </p:cNvSpPr>
              <p:nvPr/>
            </p:nvSpPr>
            <p:spPr bwMode="auto">
              <a:xfrm flipV="1">
                <a:off x="1875754" y="320172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13" name="Line 79"/>
              <p:cNvSpPr>
                <a:spLocks noChangeShapeType="1"/>
              </p:cNvSpPr>
              <p:nvPr/>
            </p:nvSpPr>
            <p:spPr bwMode="auto">
              <a:xfrm flipV="1">
                <a:off x="1885279" y="3171559"/>
                <a:ext cx="9525"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14" name="Line 80"/>
              <p:cNvSpPr>
                <a:spLocks noChangeShapeType="1"/>
              </p:cNvSpPr>
              <p:nvPr/>
            </p:nvSpPr>
            <p:spPr bwMode="auto">
              <a:xfrm flipV="1">
                <a:off x="1894804" y="3142984"/>
                <a:ext cx="7938"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15" name="Line 81"/>
              <p:cNvSpPr>
                <a:spLocks noChangeShapeType="1"/>
              </p:cNvSpPr>
              <p:nvPr/>
            </p:nvSpPr>
            <p:spPr bwMode="auto">
              <a:xfrm flipV="1">
                <a:off x="1902742"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16" name="Line 82"/>
              <p:cNvSpPr>
                <a:spLocks noChangeShapeType="1"/>
              </p:cNvSpPr>
              <p:nvPr/>
            </p:nvSpPr>
            <p:spPr bwMode="auto">
              <a:xfrm flipV="1">
                <a:off x="1912267"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17" name="Line 83"/>
              <p:cNvSpPr>
                <a:spLocks noChangeShapeType="1"/>
              </p:cNvSpPr>
              <p:nvPr/>
            </p:nvSpPr>
            <p:spPr bwMode="auto">
              <a:xfrm flipV="1">
                <a:off x="1921792" y="3069959"/>
                <a:ext cx="9525"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18" name="Line 84"/>
              <p:cNvSpPr>
                <a:spLocks noChangeShapeType="1"/>
              </p:cNvSpPr>
              <p:nvPr/>
            </p:nvSpPr>
            <p:spPr bwMode="auto">
              <a:xfrm flipV="1">
                <a:off x="1931317" y="3050909"/>
                <a:ext cx="9525"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19" name="Line 85"/>
              <p:cNvSpPr>
                <a:spLocks noChangeShapeType="1"/>
              </p:cNvSpPr>
              <p:nvPr/>
            </p:nvSpPr>
            <p:spPr bwMode="auto">
              <a:xfrm flipV="1">
                <a:off x="1940842" y="3035034"/>
                <a:ext cx="7938"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20" name="Line 86"/>
              <p:cNvSpPr>
                <a:spLocks noChangeShapeType="1"/>
              </p:cNvSpPr>
              <p:nvPr/>
            </p:nvSpPr>
            <p:spPr bwMode="auto">
              <a:xfrm flipV="1">
                <a:off x="1948779"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21" name="Line 87"/>
              <p:cNvSpPr>
                <a:spLocks noChangeShapeType="1"/>
              </p:cNvSpPr>
              <p:nvPr/>
            </p:nvSpPr>
            <p:spPr bwMode="auto">
              <a:xfrm flipV="1">
                <a:off x="1958304"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22" name="Line 88"/>
              <p:cNvSpPr>
                <a:spLocks noChangeShapeType="1"/>
              </p:cNvSpPr>
              <p:nvPr/>
            </p:nvSpPr>
            <p:spPr bwMode="auto">
              <a:xfrm flipV="1">
                <a:off x="1967829"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23" name="Line 89"/>
              <p:cNvSpPr>
                <a:spLocks noChangeShapeType="1"/>
              </p:cNvSpPr>
              <p:nvPr/>
            </p:nvSpPr>
            <p:spPr bwMode="auto">
              <a:xfrm flipV="1">
                <a:off x="1977354" y="3003284"/>
                <a:ext cx="9525"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24" name="Line 90"/>
              <p:cNvSpPr>
                <a:spLocks noChangeShapeType="1"/>
              </p:cNvSpPr>
              <p:nvPr/>
            </p:nvSpPr>
            <p:spPr bwMode="auto">
              <a:xfrm>
                <a:off x="1986879" y="3003284"/>
                <a:ext cx="9525" cy="15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25" name="Line 91"/>
              <p:cNvSpPr>
                <a:spLocks noChangeShapeType="1"/>
              </p:cNvSpPr>
              <p:nvPr/>
            </p:nvSpPr>
            <p:spPr bwMode="auto">
              <a:xfrm>
                <a:off x="1996404" y="3003284"/>
                <a:ext cx="7938" cy="31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26" name="Line 92"/>
              <p:cNvSpPr>
                <a:spLocks noChangeShapeType="1"/>
              </p:cNvSpPr>
              <p:nvPr/>
            </p:nvSpPr>
            <p:spPr bwMode="auto">
              <a:xfrm>
                <a:off x="2004342" y="3006459"/>
                <a:ext cx="9525" cy="63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27" name="Line 93"/>
              <p:cNvSpPr>
                <a:spLocks noChangeShapeType="1"/>
              </p:cNvSpPr>
              <p:nvPr/>
            </p:nvSpPr>
            <p:spPr bwMode="auto">
              <a:xfrm>
                <a:off x="2013867" y="3012809"/>
                <a:ext cx="9525" cy="95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28" name="Line 94"/>
              <p:cNvSpPr>
                <a:spLocks noChangeShapeType="1"/>
              </p:cNvSpPr>
              <p:nvPr/>
            </p:nvSpPr>
            <p:spPr bwMode="auto">
              <a:xfrm>
                <a:off x="2023392" y="3022334"/>
                <a:ext cx="9525" cy="1270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29" name="Line 95"/>
              <p:cNvSpPr>
                <a:spLocks noChangeShapeType="1"/>
              </p:cNvSpPr>
              <p:nvPr/>
            </p:nvSpPr>
            <p:spPr bwMode="auto">
              <a:xfrm>
                <a:off x="2032917" y="3035034"/>
                <a:ext cx="9525" cy="158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30" name="Line 96"/>
              <p:cNvSpPr>
                <a:spLocks noChangeShapeType="1"/>
              </p:cNvSpPr>
              <p:nvPr/>
            </p:nvSpPr>
            <p:spPr bwMode="auto">
              <a:xfrm>
                <a:off x="2042442" y="3050909"/>
                <a:ext cx="9525" cy="190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31" name="Line 97"/>
              <p:cNvSpPr>
                <a:spLocks noChangeShapeType="1"/>
              </p:cNvSpPr>
              <p:nvPr/>
            </p:nvSpPr>
            <p:spPr bwMode="auto">
              <a:xfrm>
                <a:off x="2051967" y="3069959"/>
                <a:ext cx="7938" cy="222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32" name="Line 98"/>
              <p:cNvSpPr>
                <a:spLocks noChangeShapeType="1"/>
              </p:cNvSpPr>
              <p:nvPr/>
            </p:nvSpPr>
            <p:spPr bwMode="auto">
              <a:xfrm>
                <a:off x="2059904" y="3092184"/>
                <a:ext cx="9525" cy="2381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33" name="Line 99"/>
              <p:cNvSpPr>
                <a:spLocks noChangeShapeType="1"/>
              </p:cNvSpPr>
              <p:nvPr/>
            </p:nvSpPr>
            <p:spPr bwMode="auto">
              <a:xfrm>
                <a:off x="2069429" y="3115996"/>
                <a:ext cx="9525" cy="26988"/>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34" name="Line 100"/>
              <p:cNvSpPr>
                <a:spLocks noChangeShapeType="1"/>
              </p:cNvSpPr>
              <p:nvPr/>
            </p:nvSpPr>
            <p:spPr bwMode="auto">
              <a:xfrm>
                <a:off x="2078954" y="3142984"/>
                <a:ext cx="9525" cy="2857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35" name="Line 101"/>
              <p:cNvSpPr>
                <a:spLocks noChangeShapeType="1"/>
              </p:cNvSpPr>
              <p:nvPr/>
            </p:nvSpPr>
            <p:spPr bwMode="auto">
              <a:xfrm>
                <a:off x="2088479" y="3171559"/>
                <a:ext cx="9525" cy="30163"/>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36" name="Line 102"/>
              <p:cNvSpPr>
                <a:spLocks noChangeShapeType="1"/>
              </p:cNvSpPr>
              <p:nvPr/>
            </p:nvSpPr>
            <p:spPr bwMode="auto">
              <a:xfrm>
                <a:off x="2098004" y="3201721"/>
                <a:ext cx="7938"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37" name="Line 103"/>
              <p:cNvSpPr>
                <a:spLocks noChangeShapeType="1"/>
              </p:cNvSpPr>
              <p:nvPr/>
            </p:nvSpPr>
            <p:spPr bwMode="auto">
              <a:xfrm>
                <a:off x="2105942" y="3233471"/>
                <a:ext cx="9525" cy="31750"/>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38" name="Line 104"/>
              <p:cNvSpPr>
                <a:spLocks noChangeShapeType="1"/>
              </p:cNvSpPr>
              <p:nvPr/>
            </p:nvSpPr>
            <p:spPr bwMode="auto">
              <a:xfrm>
                <a:off x="2115467" y="326522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39" name="Line 105"/>
              <p:cNvSpPr>
                <a:spLocks noChangeShapeType="1"/>
              </p:cNvSpPr>
              <p:nvPr/>
            </p:nvSpPr>
            <p:spPr bwMode="auto">
              <a:xfrm>
                <a:off x="2124992" y="3300146"/>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40" name="Line 106"/>
              <p:cNvSpPr>
                <a:spLocks noChangeShapeType="1"/>
              </p:cNvSpPr>
              <p:nvPr/>
            </p:nvSpPr>
            <p:spPr bwMode="auto">
              <a:xfrm>
                <a:off x="2134517" y="3335071"/>
                <a:ext cx="9525" cy="34925"/>
              </a:xfrm>
              <a:prstGeom prst="line">
                <a:avLst/>
              </a:prstGeom>
              <a:noFill/>
              <a:ln w="28575">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grpSp>
      </p:grpSp>
      <p:sp>
        <p:nvSpPr>
          <p:cNvPr id="1140" name="Plus 1139"/>
          <p:cNvSpPr/>
          <p:nvPr/>
        </p:nvSpPr>
        <p:spPr>
          <a:xfrm>
            <a:off x="6167510" y="5537982"/>
            <a:ext cx="309490" cy="253218"/>
          </a:xfrm>
          <a:prstGeom prst="mathPlus">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41" name="Plus 1140"/>
          <p:cNvSpPr/>
          <p:nvPr/>
        </p:nvSpPr>
        <p:spPr>
          <a:xfrm>
            <a:off x="6262467" y="4738465"/>
            <a:ext cx="309490" cy="253218"/>
          </a:xfrm>
          <a:prstGeom prst="mathPlus">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42" name="Plus 1141"/>
          <p:cNvSpPr/>
          <p:nvPr/>
        </p:nvSpPr>
        <p:spPr>
          <a:xfrm>
            <a:off x="6246054" y="4257819"/>
            <a:ext cx="309490" cy="253218"/>
          </a:xfrm>
          <a:prstGeom prst="mathPlus">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43" name="Plus 1142"/>
          <p:cNvSpPr/>
          <p:nvPr/>
        </p:nvSpPr>
        <p:spPr>
          <a:xfrm>
            <a:off x="5582528" y="4227339"/>
            <a:ext cx="309490" cy="253218"/>
          </a:xfrm>
          <a:prstGeom prst="mathPlus">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44" name="Plus 1143"/>
          <p:cNvSpPr/>
          <p:nvPr/>
        </p:nvSpPr>
        <p:spPr>
          <a:xfrm>
            <a:off x="5256626" y="3718558"/>
            <a:ext cx="309490" cy="253218"/>
          </a:xfrm>
          <a:prstGeom prst="mathPlus">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45" name="Plus 1144"/>
          <p:cNvSpPr/>
          <p:nvPr/>
        </p:nvSpPr>
        <p:spPr>
          <a:xfrm>
            <a:off x="5268349" y="2858084"/>
            <a:ext cx="309490" cy="253218"/>
          </a:xfrm>
          <a:prstGeom prst="mathPlus">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46" name="Plus 1145"/>
          <p:cNvSpPr/>
          <p:nvPr/>
        </p:nvSpPr>
        <p:spPr>
          <a:xfrm>
            <a:off x="5294139" y="1448970"/>
            <a:ext cx="309490" cy="253218"/>
          </a:xfrm>
          <a:prstGeom prst="mathPlus">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47" name="Plus 1146"/>
          <p:cNvSpPr/>
          <p:nvPr/>
        </p:nvSpPr>
        <p:spPr>
          <a:xfrm>
            <a:off x="5263659" y="1727979"/>
            <a:ext cx="309490" cy="253218"/>
          </a:xfrm>
          <a:prstGeom prst="mathPlus">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49" name="Minus 1148"/>
          <p:cNvSpPr/>
          <p:nvPr/>
        </p:nvSpPr>
        <p:spPr>
          <a:xfrm>
            <a:off x="7854463" y="5562600"/>
            <a:ext cx="295421" cy="168812"/>
          </a:xfrm>
          <a:prstGeom prst="mathMinus">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50" name="Minus 1149"/>
          <p:cNvSpPr/>
          <p:nvPr/>
        </p:nvSpPr>
        <p:spPr>
          <a:xfrm>
            <a:off x="7795847" y="4808806"/>
            <a:ext cx="295421" cy="168812"/>
          </a:xfrm>
          <a:prstGeom prst="mathMinus">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51" name="Minus 1150"/>
          <p:cNvSpPr/>
          <p:nvPr/>
        </p:nvSpPr>
        <p:spPr>
          <a:xfrm>
            <a:off x="8707903" y="3948333"/>
            <a:ext cx="295421" cy="168812"/>
          </a:xfrm>
          <a:prstGeom prst="mathMinus">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52" name="Minus 1151"/>
          <p:cNvSpPr/>
          <p:nvPr/>
        </p:nvSpPr>
        <p:spPr>
          <a:xfrm>
            <a:off x="8255392" y="4522763"/>
            <a:ext cx="295421" cy="168812"/>
          </a:xfrm>
          <a:prstGeom prst="mathMinus">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53" name="Minus 1152"/>
          <p:cNvSpPr/>
          <p:nvPr/>
        </p:nvSpPr>
        <p:spPr>
          <a:xfrm>
            <a:off x="8958777" y="3538025"/>
            <a:ext cx="295421" cy="168812"/>
          </a:xfrm>
          <a:prstGeom prst="mathMinus">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54" name="Minus 1153"/>
          <p:cNvSpPr/>
          <p:nvPr/>
        </p:nvSpPr>
        <p:spPr>
          <a:xfrm>
            <a:off x="9308124" y="2790092"/>
            <a:ext cx="295421" cy="168812"/>
          </a:xfrm>
          <a:prstGeom prst="mathMinus">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55" name="Minus 1154"/>
          <p:cNvSpPr/>
          <p:nvPr/>
        </p:nvSpPr>
        <p:spPr>
          <a:xfrm>
            <a:off x="9432388" y="1465384"/>
            <a:ext cx="295421" cy="168812"/>
          </a:xfrm>
          <a:prstGeom prst="mathMinus">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56" name="Minus 1155"/>
          <p:cNvSpPr/>
          <p:nvPr/>
        </p:nvSpPr>
        <p:spPr>
          <a:xfrm>
            <a:off x="9458179" y="2110153"/>
            <a:ext cx="295421" cy="168812"/>
          </a:xfrm>
          <a:prstGeom prst="mathMinus">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Freeform 18"/>
          <p:cNvSpPr/>
          <p:nvPr/>
        </p:nvSpPr>
        <p:spPr>
          <a:xfrm>
            <a:off x="4968240" y="4141708"/>
            <a:ext cx="2286000" cy="640080"/>
          </a:xfrm>
          <a:custGeom>
            <a:avLst/>
            <a:gdLst>
              <a:gd name="connsiteX0" fmla="*/ 0 w 2682240"/>
              <a:gd name="connsiteY0" fmla="*/ 0 h 1158240"/>
              <a:gd name="connsiteX1" fmla="*/ 670560 w 2682240"/>
              <a:gd name="connsiteY1" fmla="*/ 777240 h 1158240"/>
              <a:gd name="connsiteX2" fmla="*/ 2682240 w 2682240"/>
              <a:gd name="connsiteY2" fmla="*/ 1158240 h 1158240"/>
            </a:gdLst>
            <a:ahLst/>
            <a:cxnLst>
              <a:cxn ang="0">
                <a:pos x="connsiteX0" y="connsiteY0"/>
              </a:cxn>
              <a:cxn ang="0">
                <a:pos x="connsiteX1" y="connsiteY1"/>
              </a:cxn>
              <a:cxn ang="0">
                <a:pos x="connsiteX2" y="connsiteY2"/>
              </a:cxn>
            </a:cxnLst>
            <a:rect l="l" t="t" r="r" b="b"/>
            <a:pathLst>
              <a:path w="2682240" h="1158240">
                <a:moveTo>
                  <a:pt x="0" y="0"/>
                </a:moveTo>
                <a:cubicBezTo>
                  <a:pt x="111760" y="292100"/>
                  <a:pt x="223520" y="584200"/>
                  <a:pt x="670560" y="777240"/>
                </a:cubicBezTo>
                <a:cubicBezTo>
                  <a:pt x="1117600" y="970280"/>
                  <a:pt x="1899920" y="1064260"/>
                  <a:pt x="2682240" y="1158240"/>
                </a:cubicBezTo>
              </a:path>
            </a:pathLst>
          </a:custGeom>
          <a:ln>
            <a:solidFill>
              <a:srgbClr val="969696"/>
            </a:solidFill>
            <a:headEnd type="triangl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22" name="Oval 21"/>
          <p:cNvSpPr/>
          <p:nvPr/>
        </p:nvSpPr>
        <p:spPr>
          <a:xfrm rot="19673694">
            <a:off x="3688080" y="1855708"/>
            <a:ext cx="2423160" cy="4099560"/>
          </a:xfrm>
          <a:prstGeom prst="ellipse">
            <a:avLst/>
          </a:prstGeom>
          <a:noFill/>
          <a:ln w="317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zzzzzzzzzzzzzzzzzzzzzzzz</a:t>
            </a:r>
          </a:p>
        </p:txBody>
      </p:sp>
      <p:grpSp>
        <p:nvGrpSpPr>
          <p:cNvPr id="2" name="Group 30"/>
          <p:cNvGrpSpPr/>
          <p:nvPr/>
        </p:nvGrpSpPr>
        <p:grpSpPr>
          <a:xfrm>
            <a:off x="2804160" y="1886188"/>
            <a:ext cx="4053840" cy="4099560"/>
            <a:chOff x="1280160" y="899160"/>
            <a:chExt cx="4053840" cy="4099560"/>
          </a:xfrm>
        </p:grpSpPr>
        <p:sp>
          <p:nvSpPr>
            <p:cNvPr id="12" name="Oval 11"/>
            <p:cNvSpPr/>
            <p:nvPr/>
          </p:nvSpPr>
          <p:spPr>
            <a:xfrm>
              <a:off x="3126375" y="2907036"/>
              <a:ext cx="224908" cy="221253"/>
            </a:xfrm>
            <a:prstGeom prst="ellipse">
              <a:avLst/>
            </a:prstGeom>
            <a:solidFill>
              <a:srgbClr val="C0C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Oval 3"/>
            <p:cNvSpPr/>
            <p:nvPr/>
          </p:nvSpPr>
          <p:spPr>
            <a:xfrm>
              <a:off x="3144575" y="2779408"/>
              <a:ext cx="224908" cy="221253"/>
            </a:xfrm>
            <a:prstGeom prst="ellipse">
              <a:avLst/>
            </a:prstGeom>
            <a:solidFill>
              <a:srgbClr val="96969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Plus 4"/>
            <p:cNvSpPr/>
            <p:nvPr/>
          </p:nvSpPr>
          <p:spPr>
            <a:xfrm>
              <a:off x="3178420" y="2804937"/>
              <a:ext cx="157217" cy="170194"/>
            </a:xfrm>
            <a:prstGeom prst="mathPlus">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Oval 12"/>
            <p:cNvSpPr/>
            <p:nvPr/>
          </p:nvSpPr>
          <p:spPr>
            <a:xfrm>
              <a:off x="3262878" y="2769591"/>
              <a:ext cx="224908" cy="221253"/>
            </a:xfrm>
            <a:prstGeom prst="ellipse">
              <a:avLst/>
            </a:prstGeom>
            <a:solidFill>
              <a:srgbClr val="C0C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Oval 6"/>
            <p:cNvSpPr/>
            <p:nvPr/>
          </p:nvSpPr>
          <p:spPr>
            <a:xfrm>
              <a:off x="3235577" y="2877583"/>
              <a:ext cx="224908" cy="221253"/>
            </a:xfrm>
            <a:prstGeom prst="ellipse">
              <a:avLst/>
            </a:prstGeom>
            <a:solidFill>
              <a:srgbClr val="96969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Plus 7"/>
            <p:cNvSpPr/>
            <p:nvPr/>
          </p:nvSpPr>
          <p:spPr>
            <a:xfrm>
              <a:off x="3269422" y="2903112"/>
              <a:ext cx="157217" cy="170194"/>
            </a:xfrm>
            <a:prstGeom prst="mathPlus">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Oval 17"/>
            <p:cNvSpPr/>
            <p:nvPr/>
          </p:nvSpPr>
          <p:spPr>
            <a:xfrm>
              <a:off x="1280160" y="899160"/>
              <a:ext cx="4053840" cy="4099560"/>
            </a:xfrm>
            <a:prstGeom prst="ellipse">
              <a:avLst/>
            </a:prstGeom>
            <a:noFill/>
            <a:ln w="317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 name="Oval 14"/>
            <p:cNvSpPr/>
            <p:nvPr/>
          </p:nvSpPr>
          <p:spPr>
            <a:xfrm>
              <a:off x="5042328" y="2079702"/>
              <a:ext cx="261192" cy="282498"/>
            </a:xfrm>
            <a:prstGeom prst="ellipse">
              <a:avLst/>
            </a:prstGeom>
            <a:solidFill>
              <a:srgbClr val="638FC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Minus 15"/>
            <p:cNvSpPr/>
            <p:nvPr/>
          </p:nvSpPr>
          <p:spPr>
            <a:xfrm>
              <a:off x="5067686" y="2154401"/>
              <a:ext cx="210475" cy="133100"/>
            </a:xfrm>
            <a:prstGeom prst="mathMinus">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Oval 23"/>
            <p:cNvSpPr/>
            <p:nvPr/>
          </p:nvSpPr>
          <p:spPr>
            <a:xfrm>
              <a:off x="2725848" y="4030422"/>
              <a:ext cx="261192" cy="282498"/>
            </a:xfrm>
            <a:prstGeom prst="ellipse">
              <a:avLst/>
            </a:prstGeom>
            <a:solidFill>
              <a:srgbClr val="638FC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5" name="Minus 24"/>
            <p:cNvSpPr/>
            <p:nvPr/>
          </p:nvSpPr>
          <p:spPr>
            <a:xfrm>
              <a:off x="2751206" y="4105121"/>
              <a:ext cx="210475" cy="133100"/>
            </a:xfrm>
            <a:prstGeom prst="mathMinus">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20" name="TextBox 19"/>
          <p:cNvSpPr txBox="1"/>
          <p:nvPr/>
        </p:nvSpPr>
        <p:spPr>
          <a:xfrm>
            <a:off x="7223762" y="4324589"/>
            <a:ext cx="3169919" cy="830997"/>
          </a:xfrm>
          <a:prstGeom prst="rect">
            <a:avLst/>
          </a:prstGeom>
          <a:noFill/>
        </p:spPr>
        <p:txBody>
          <a:bodyPr wrap="square" rtlCol="0">
            <a:spAutoFit/>
          </a:bodyPr>
          <a:lstStyle/>
          <a:p>
            <a:r>
              <a:rPr lang="en-US" sz="2400" i="1" dirty="0"/>
              <a:t>Nucleus with protons and neutrons</a:t>
            </a:r>
          </a:p>
        </p:txBody>
      </p:sp>
      <p:sp>
        <p:nvSpPr>
          <p:cNvPr id="21" name="TextBox 20"/>
          <p:cNvSpPr txBox="1"/>
          <p:nvPr/>
        </p:nvSpPr>
        <p:spPr>
          <a:xfrm>
            <a:off x="6902211" y="2861549"/>
            <a:ext cx="1207382" cy="461665"/>
          </a:xfrm>
          <a:prstGeom prst="rect">
            <a:avLst/>
          </a:prstGeom>
          <a:noFill/>
        </p:spPr>
        <p:txBody>
          <a:bodyPr wrap="none" rtlCol="0">
            <a:spAutoFit/>
          </a:bodyPr>
          <a:lstStyle/>
          <a:p>
            <a:r>
              <a:rPr lang="en-US" sz="2400" i="1" dirty="0"/>
              <a:t>Electron</a:t>
            </a:r>
          </a:p>
        </p:txBody>
      </p:sp>
      <p:sp>
        <p:nvSpPr>
          <p:cNvPr id="27" name="TextBox 26"/>
          <p:cNvSpPr txBox="1"/>
          <p:nvPr/>
        </p:nvSpPr>
        <p:spPr>
          <a:xfrm>
            <a:off x="4570491" y="4797029"/>
            <a:ext cx="1207382" cy="461665"/>
          </a:xfrm>
          <a:prstGeom prst="rect">
            <a:avLst/>
          </a:prstGeom>
          <a:noFill/>
        </p:spPr>
        <p:txBody>
          <a:bodyPr wrap="none" rtlCol="0">
            <a:spAutoFit/>
          </a:bodyPr>
          <a:lstStyle/>
          <a:p>
            <a:r>
              <a:rPr lang="en-US" sz="2400" i="1" dirty="0"/>
              <a:t>Electron</a:t>
            </a:r>
          </a:p>
        </p:txBody>
      </p:sp>
      <p:sp>
        <p:nvSpPr>
          <p:cNvPr id="29" name="TextBox 28"/>
          <p:cNvSpPr txBox="1"/>
          <p:nvPr/>
        </p:nvSpPr>
        <p:spPr>
          <a:xfrm>
            <a:off x="5105401" y="6336268"/>
            <a:ext cx="2761269" cy="369332"/>
          </a:xfrm>
          <a:prstGeom prst="rect">
            <a:avLst/>
          </a:prstGeom>
          <a:noFill/>
        </p:spPr>
        <p:txBody>
          <a:bodyPr wrap="none" rtlCol="0">
            <a:spAutoFit/>
          </a:bodyPr>
          <a:lstStyle/>
          <a:p>
            <a:r>
              <a:rPr lang="en-US" i="1" dirty="0"/>
              <a:t>Particles not drawn to scale</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24"/>
          <p:cNvGrpSpPr/>
          <p:nvPr/>
        </p:nvGrpSpPr>
        <p:grpSpPr>
          <a:xfrm rot="2880074">
            <a:off x="4585663" y="3699456"/>
            <a:ext cx="966365" cy="408391"/>
            <a:chOff x="5910898" y="2328546"/>
            <a:chExt cx="2928937" cy="1343025"/>
          </a:xfrm>
        </p:grpSpPr>
        <p:sp>
          <p:nvSpPr>
            <p:cNvPr id="1033" name="Line 9"/>
            <p:cNvSpPr>
              <a:spLocks noChangeShapeType="1"/>
            </p:cNvSpPr>
            <p:nvPr/>
          </p:nvSpPr>
          <p:spPr bwMode="auto">
            <a:xfrm flipV="1">
              <a:off x="5910898" y="3055621"/>
              <a:ext cx="28575" cy="15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34" name="Line 10"/>
            <p:cNvSpPr>
              <a:spLocks noChangeShapeType="1"/>
            </p:cNvSpPr>
            <p:nvPr/>
          </p:nvSpPr>
          <p:spPr bwMode="auto">
            <a:xfrm>
              <a:off x="5939473" y="3055621"/>
              <a:ext cx="30162" cy="15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35" name="Line 11"/>
            <p:cNvSpPr>
              <a:spLocks noChangeShapeType="1"/>
            </p:cNvSpPr>
            <p:nvPr/>
          </p:nvSpPr>
          <p:spPr bwMode="auto">
            <a:xfrm flipV="1">
              <a:off x="5969635" y="3055621"/>
              <a:ext cx="30162" cy="15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36" name="Line 12"/>
            <p:cNvSpPr>
              <a:spLocks noChangeShapeType="1"/>
            </p:cNvSpPr>
            <p:nvPr/>
          </p:nvSpPr>
          <p:spPr bwMode="auto">
            <a:xfrm>
              <a:off x="5999798" y="3055621"/>
              <a:ext cx="30162" cy="15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37" name="Line 13"/>
            <p:cNvSpPr>
              <a:spLocks noChangeShapeType="1"/>
            </p:cNvSpPr>
            <p:nvPr/>
          </p:nvSpPr>
          <p:spPr bwMode="auto">
            <a:xfrm>
              <a:off x="6029960" y="3055621"/>
              <a:ext cx="30162" cy="15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38" name="Line 14"/>
            <p:cNvSpPr>
              <a:spLocks noChangeShapeType="1"/>
            </p:cNvSpPr>
            <p:nvPr/>
          </p:nvSpPr>
          <p:spPr bwMode="auto">
            <a:xfrm>
              <a:off x="6060123" y="3055621"/>
              <a:ext cx="28575" cy="15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39" name="Line 15"/>
            <p:cNvSpPr>
              <a:spLocks noChangeShapeType="1"/>
            </p:cNvSpPr>
            <p:nvPr/>
          </p:nvSpPr>
          <p:spPr bwMode="auto">
            <a:xfrm>
              <a:off x="6088698" y="3055621"/>
              <a:ext cx="30162" cy="15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40" name="Line 16"/>
            <p:cNvSpPr>
              <a:spLocks noChangeShapeType="1"/>
            </p:cNvSpPr>
            <p:nvPr/>
          </p:nvSpPr>
          <p:spPr bwMode="auto">
            <a:xfrm>
              <a:off x="6118860" y="3055621"/>
              <a:ext cx="30162" cy="15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41" name="Line 17"/>
            <p:cNvSpPr>
              <a:spLocks noChangeShapeType="1"/>
            </p:cNvSpPr>
            <p:nvPr/>
          </p:nvSpPr>
          <p:spPr bwMode="auto">
            <a:xfrm>
              <a:off x="6149023" y="3057208"/>
              <a:ext cx="30162" cy="15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42" name="Line 18"/>
            <p:cNvSpPr>
              <a:spLocks noChangeShapeType="1"/>
            </p:cNvSpPr>
            <p:nvPr/>
          </p:nvSpPr>
          <p:spPr bwMode="auto">
            <a:xfrm>
              <a:off x="6179185" y="3058796"/>
              <a:ext cx="30162" cy="15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43" name="Line 19"/>
            <p:cNvSpPr>
              <a:spLocks noChangeShapeType="1"/>
            </p:cNvSpPr>
            <p:nvPr/>
          </p:nvSpPr>
          <p:spPr bwMode="auto">
            <a:xfrm>
              <a:off x="6209348" y="3060383"/>
              <a:ext cx="30162" cy="15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44" name="Line 20"/>
            <p:cNvSpPr>
              <a:spLocks noChangeShapeType="1"/>
            </p:cNvSpPr>
            <p:nvPr/>
          </p:nvSpPr>
          <p:spPr bwMode="auto">
            <a:xfrm>
              <a:off x="6239510" y="3061971"/>
              <a:ext cx="30162" cy="15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45" name="Line 21"/>
            <p:cNvSpPr>
              <a:spLocks noChangeShapeType="1"/>
            </p:cNvSpPr>
            <p:nvPr/>
          </p:nvSpPr>
          <p:spPr bwMode="auto">
            <a:xfrm flipV="1">
              <a:off x="6269673" y="3061971"/>
              <a:ext cx="30162" cy="15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46" name="Line 22"/>
            <p:cNvSpPr>
              <a:spLocks noChangeShapeType="1"/>
            </p:cNvSpPr>
            <p:nvPr/>
          </p:nvSpPr>
          <p:spPr bwMode="auto">
            <a:xfrm flipV="1">
              <a:off x="6299835" y="3058796"/>
              <a:ext cx="28575" cy="3175"/>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47" name="Line 23"/>
            <p:cNvSpPr>
              <a:spLocks noChangeShapeType="1"/>
            </p:cNvSpPr>
            <p:nvPr/>
          </p:nvSpPr>
          <p:spPr bwMode="auto">
            <a:xfrm flipV="1">
              <a:off x="6328410" y="3054033"/>
              <a:ext cx="30162" cy="4763"/>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48" name="Line 24"/>
            <p:cNvSpPr>
              <a:spLocks noChangeShapeType="1"/>
            </p:cNvSpPr>
            <p:nvPr/>
          </p:nvSpPr>
          <p:spPr bwMode="auto">
            <a:xfrm flipV="1">
              <a:off x="6358573" y="3044508"/>
              <a:ext cx="30162" cy="9525"/>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49" name="Line 25"/>
            <p:cNvSpPr>
              <a:spLocks noChangeShapeType="1"/>
            </p:cNvSpPr>
            <p:nvPr/>
          </p:nvSpPr>
          <p:spPr bwMode="auto">
            <a:xfrm flipV="1">
              <a:off x="6388735" y="3036571"/>
              <a:ext cx="30162" cy="793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50" name="Line 26"/>
            <p:cNvSpPr>
              <a:spLocks noChangeShapeType="1"/>
            </p:cNvSpPr>
            <p:nvPr/>
          </p:nvSpPr>
          <p:spPr bwMode="auto">
            <a:xfrm flipV="1">
              <a:off x="6418898" y="3027046"/>
              <a:ext cx="30162" cy="9525"/>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51" name="Line 27"/>
            <p:cNvSpPr>
              <a:spLocks noChangeShapeType="1"/>
            </p:cNvSpPr>
            <p:nvPr/>
          </p:nvSpPr>
          <p:spPr bwMode="auto">
            <a:xfrm flipV="1">
              <a:off x="6449060" y="3020696"/>
              <a:ext cx="28575" cy="6350"/>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52" name="Line 28"/>
            <p:cNvSpPr>
              <a:spLocks noChangeShapeType="1"/>
            </p:cNvSpPr>
            <p:nvPr/>
          </p:nvSpPr>
          <p:spPr bwMode="auto">
            <a:xfrm>
              <a:off x="6477635" y="3020696"/>
              <a:ext cx="30162" cy="15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53" name="Line 29"/>
            <p:cNvSpPr>
              <a:spLocks noChangeShapeType="1"/>
            </p:cNvSpPr>
            <p:nvPr/>
          </p:nvSpPr>
          <p:spPr bwMode="auto">
            <a:xfrm>
              <a:off x="6507798" y="3020696"/>
              <a:ext cx="30162" cy="9525"/>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54" name="Line 30"/>
            <p:cNvSpPr>
              <a:spLocks noChangeShapeType="1"/>
            </p:cNvSpPr>
            <p:nvPr/>
          </p:nvSpPr>
          <p:spPr bwMode="auto">
            <a:xfrm>
              <a:off x="6537960" y="3030221"/>
              <a:ext cx="30162" cy="19050"/>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55" name="Line 31"/>
            <p:cNvSpPr>
              <a:spLocks noChangeShapeType="1"/>
            </p:cNvSpPr>
            <p:nvPr/>
          </p:nvSpPr>
          <p:spPr bwMode="auto">
            <a:xfrm>
              <a:off x="6568123" y="3049271"/>
              <a:ext cx="30162" cy="28575"/>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56" name="Line 32"/>
            <p:cNvSpPr>
              <a:spLocks noChangeShapeType="1"/>
            </p:cNvSpPr>
            <p:nvPr/>
          </p:nvSpPr>
          <p:spPr bwMode="auto">
            <a:xfrm>
              <a:off x="6598285" y="3077846"/>
              <a:ext cx="30162" cy="34925"/>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57" name="Line 33"/>
            <p:cNvSpPr>
              <a:spLocks noChangeShapeType="1"/>
            </p:cNvSpPr>
            <p:nvPr/>
          </p:nvSpPr>
          <p:spPr bwMode="auto">
            <a:xfrm>
              <a:off x="6628448" y="3112771"/>
              <a:ext cx="28575" cy="36513"/>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58" name="Line 34"/>
            <p:cNvSpPr>
              <a:spLocks noChangeShapeType="1"/>
            </p:cNvSpPr>
            <p:nvPr/>
          </p:nvSpPr>
          <p:spPr bwMode="auto">
            <a:xfrm>
              <a:off x="6657023" y="3149283"/>
              <a:ext cx="30162" cy="28575"/>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59" name="Line 35"/>
            <p:cNvSpPr>
              <a:spLocks noChangeShapeType="1"/>
            </p:cNvSpPr>
            <p:nvPr/>
          </p:nvSpPr>
          <p:spPr bwMode="auto">
            <a:xfrm>
              <a:off x="6687185" y="3177858"/>
              <a:ext cx="30162" cy="12700"/>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60" name="Line 36"/>
            <p:cNvSpPr>
              <a:spLocks noChangeShapeType="1"/>
            </p:cNvSpPr>
            <p:nvPr/>
          </p:nvSpPr>
          <p:spPr bwMode="auto">
            <a:xfrm flipV="1">
              <a:off x="6717348" y="3177858"/>
              <a:ext cx="30162" cy="12700"/>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61" name="Line 37"/>
            <p:cNvSpPr>
              <a:spLocks noChangeShapeType="1"/>
            </p:cNvSpPr>
            <p:nvPr/>
          </p:nvSpPr>
          <p:spPr bwMode="auto">
            <a:xfrm flipV="1">
              <a:off x="6747510" y="3134996"/>
              <a:ext cx="30162" cy="42863"/>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62" name="Line 38"/>
            <p:cNvSpPr>
              <a:spLocks noChangeShapeType="1"/>
            </p:cNvSpPr>
            <p:nvPr/>
          </p:nvSpPr>
          <p:spPr bwMode="auto">
            <a:xfrm flipV="1">
              <a:off x="6777673" y="3061971"/>
              <a:ext cx="28575" cy="73025"/>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63" name="Line 39"/>
            <p:cNvSpPr>
              <a:spLocks noChangeShapeType="1"/>
            </p:cNvSpPr>
            <p:nvPr/>
          </p:nvSpPr>
          <p:spPr bwMode="auto">
            <a:xfrm flipV="1">
              <a:off x="6806248" y="2965133"/>
              <a:ext cx="30162" cy="9683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64" name="Line 40"/>
            <p:cNvSpPr>
              <a:spLocks noChangeShapeType="1"/>
            </p:cNvSpPr>
            <p:nvPr/>
          </p:nvSpPr>
          <p:spPr bwMode="auto">
            <a:xfrm flipV="1">
              <a:off x="6836410" y="2863533"/>
              <a:ext cx="30162" cy="101600"/>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65" name="Line 41"/>
            <p:cNvSpPr>
              <a:spLocks noChangeShapeType="1"/>
            </p:cNvSpPr>
            <p:nvPr/>
          </p:nvSpPr>
          <p:spPr bwMode="auto">
            <a:xfrm flipV="1">
              <a:off x="6866573" y="2773046"/>
              <a:ext cx="30162" cy="904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66" name="Line 42"/>
            <p:cNvSpPr>
              <a:spLocks noChangeShapeType="1"/>
            </p:cNvSpPr>
            <p:nvPr/>
          </p:nvSpPr>
          <p:spPr bwMode="auto">
            <a:xfrm flipV="1">
              <a:off x="6896735" y="2717483"/>
              <a:ext cx="30162" cy="55563"/>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67" name="Line 43"/>
            <p:cNvSpPr>
              <a:spLocks noChangeShapeType="1"/>
            </p:cNvSpPr>
            <p:nvPr/>
          </p:nvSpPr>
          <p:spPr bwMode="auto">
            <a:xfrm flipV="1">
              <a:off x="6926898" y="2714308"/>
              <a:ext cx="30162" cy="3175"/>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68" name="Line 44"/>
            <p:cNvSpPr>
              <a:spLocks noChangeShapeType="1"/>
            </p:cNvSpPr>
            <p:nvPr/>
          </p:nvSpPr>
          <p:spPr bwMode="auto">
            <a:xfrm>
              <a:off x="6957060" y="2714308"/>
              <a:ext cx="30162" cy="650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69" name="Line 45"/>
            <p:cNvSpPr>
              <a:spLocks noChangeShapeType="1"/>
            </p:cNvSpPr>
            <p:nvPr/>
          </p:nvSpPr>
          <p:spPr bwMode="auto">
            <a:xfrm>
              <a:off x="6987223" y="2779396"/>
              <a:ext cx="30162" cy="1285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70" name="Line 46"/>
            <p:cNvSpPr>
              <a:spLocks noChangeShapeType="1"/>
            </p:cNvSpPr>
            <p:nvPr/>
          </p:nvSpPr>
          <p:spPr bwMode="auto">
            <a:xfrm>
              <a:off x="7017385" y="2907983"/>
              <a:ext cx="28575" cy="1793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71" name="Line 47"/>
            <p:cNvSpPr>
              <a:spLocks noChangeShapeType="1"/>
            </p:cNvSpPr>
            <p:nvPr/>
          </p:nvSpPr>
          <p:spPr bwMode="auto">
            <a:xfrm>
              <a:off x="7045960" y="3087371"/>
              <a:ext cx="30162" cy="203200"/>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72" name="Line 48"/>
            <p:cNvSpPr>
              <a:spLocks noChangeShapeType="1"/>
            </p:cNvSpPr>
            <p:nvPr/>
          </p:nvSpPr>
          <p:spPr bwMode="auto">
            <a:xfrm>
              <a:off x="7076123" y="3290571"/>
              <a:ext cx="30162" cy="190500"/>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73" name="Line 49"/>
            <p:cNvSpPr>
              <a:spLocks noChangeShapeType="1"/>
            </p:cNvSpPr>
            <p:nvPr/>
          </p:nvSpPr>
          <p:spPr bwMode="auto">
            <a:xfrm>
              <a:off x="7106285" y="3481071"/>
              <a:ext cx="30162" cy="138113"/>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74" name="Line 50"/>
            <p:cNvSpPr>
              <a:spLocks noChangeShapeType="1"/>
            </p:cNvSpPr>
            <p:nvPr/>
          </p:nvSpPr>
          <p:spPr bwMode="auto">
            <a:xfrm>
              <a:off x="7136448" y="3619183"/>
              <a:ext cx="30162" cy="523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75" name="Line 51"/>
            <p:cNvSpPr>
              <a:spLocks noChangeShapeType="1"/>
            </p:cNvSpPr>
            <p:nvPr/>
          </p:nvSpPr>
          <p:spPr bwMode="auto">
            <a:xfrm flipV="1">
              <a:off x="7166610" y="3619183"/>
              <a:ext cx="28575" cy="523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76" name="Line 52"/>
            <p:cNvSpPr>
              <a:spLocks noChangeShapeType="1"/>
            </p:cNvSpPr>
            <p:nvPr/>
          </p:nvSpPr>
          <p:spPr bwMode="auto">
            <a:xfrm flipV="1">
              <a:off x="7195185" y="3465196"/>
              <a:ext cx="30162" cy="1539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77" name="Line 53"/>
            <p:cNvSpPr>
              <a:spLocks noChangeShapeType="1"/>
            </p:cNvSpPr>
            <p:nvPr/>
          </p:nvSpPr>
          <p:spPr bwMode="auto">
            <a:xfrm flipV="1">
              <a:off x="7225348" y="3227071"/>
              <a:ext cx="30162" cy="238125"/>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78" name="Line 54"/>
            <p:cNvSpPr>
              <a:spLocks noChangeShapeType="1"/>
            </p:cNvSpPr>
            <p:nvPr/>
          </p:nvSpPr>
          <p:spPr bwMode="auto">
            <a:xfrm flipV="1">
              <a:off x="7255510" y="2944496"/>
              <a:ext cx="30162" cy="282575"/>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79" name="Line 55"/>
            <p:cNvSpPr>
              <a:spLocks noChangeShapeType="1"/>
            </p:cNvSpPr>
            <p:nvPr/>
          </p:nvSpPr>
          <p:spPr bwMode="auto">
            <a:xfrm flipV="1">
              <a:off x="7285673" y="2668271"/>
              <a:ext cx="30162" cy="276225"/>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80" name="Line 56"/>
            <p:cNvSpPr>
              <a:spLocks noChangeShapeType="1"/>
            </p:cNvSpPr>
            <p:nvPr/>
          </p:nvSpPr>
          <p:spPr bwMode="auto">
            <a:xfrm flipV="1">
              <a:off x="7315835" y="2449196"/>
              <a:ext cx="30162" cy="219075"/>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81" name="Line 57"/>
            <p:cNvSpPr>
              <a:spLocks noChangeShapeType="1"/>
            </p:cNvSpPr>
            <p:nvPr/>
          </p:nvSpPr>
          <p:spPr bwMode="auto">
            <a:xfrm flipV="1">
              <a:off x="7345998" y="2328546"/>
              <a:ext cx="28575" cy="120650"/>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82" name="Line 58"/>
            <p:cNvSpPr>
              <a:spLocks noChangeShapeType="1"/>
            </p:cNvSpPr>
            <p:nvPr/>
          </p:nvSpPr>
          <p:spPr bwMode="auto">
            <a:xfrm>
              <a:off x="7374573" y="2328546"/>
              <a:ext cx="30162" cy="15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83" name="Line 59"/>
            <p:cNvSpPr>
              <a:spLocks noChangeShapeType="1"/>
            </p:cNvSpPr>
            <p:nvPr/>
          </p:nvSpPr>
          <p:spPr bwMode="auto">
            <a:xfrm>
              <a:off x="7404735" y="2328546"/>
              <a:ext cx="30162" cy="120650"/>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84" name="Line 60"/>
            <p:cNvSpPr>
              <a:spLocks noChangeShapeType="1"/>
            </p:cNvSpPr>
            <p:nvPr/>
          </p:nvSpPr>
          <p:spPr bwMode="auto">
            <a:xfrm>
              <a:off x="7434898" y="2449196"/>
              <a:ext cx="30162" cy="219075"/>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85" name="Line 61"/>
            <p:cNvSpPr>
              <a:spLocks noChangeShapeType="1"/>
            </p:cNvSpPr>
            <p:nvPr/>
          </p:nvSpPr>
          <p:spPr bwMode="auto">
            <a:xfrm>
              <a:off x="7465060" y="2668271"/>
              <a:ext cx="30162" cy="276225"/>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86" name="Line 62"/>
            <p:cNvSpPr>
              <a:spLocks noChangeShapeType="1"/>
            </p:cNvSpPr>
            <p:nvPr/>
          </p:nvSpPr>
          <p:spPr bwMode="auto">
            <a:xfrm>
              <a:off x="7495223" y="2944496"/>
              <a:ext cx="28575" cy="282575"/>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87" name="Line 63"/>
            <p:cNvSpPr>
              <a:spLocks noChangeShapeType="1"/>
            </p:cNvSpPr>
            <p:nvPr/>
          </p:nvSpPr>
          <p:spPr bwMode="auto">
            <a:xfrm>
              <a:off x="7523798" y="3227071"/>
              <a:ext cx="30162" cy="238125"/>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88" name="Line 64"/>
            <p:cNvSpPr>
              <a:spLocks noChangeShapeType="1"/>
            </p:cNvSpPr>
            <p:nvPr/>
          </p:nvSpPr>
          <p:spPr bwMode="auto">
            <a:xfrm>
              <a:off x="7553960" y="3465196"/>
              <a:ext cx="30162" cy="1539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89" name="Line 65"/>
            <p:cNvSpPr>
              <a:spLocks noChangeShapeType="1"/>
            </p:cNvSpPr>
            <p:nvPr/>
          </p:nvSpPr>
          <p:spPr bwMode="auto">
            <a:xfrm>
              <a:off x="7584123" y="3619183"/>
              <a:ext cx="30162" cy="523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90" name="Line 66"/>
            <p:cNvSpPr>
              <a:spLocks noChangeShapeType="1"/>
            </p:cNvSpPr>
            <p:nvPr/>
          </p:nvSpPr>
          <p:spPr bwMode="auto">
            <a:xfrm flipV="1">
              <a:off x="7614285" y="3619183"/>
              <a:ext cx="30162" cy="523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91" name="Line 67"/>
            <p:cNvSpPr>
              <a:spLocks noChangeShapeType="1"/>
            </p:cNvSpPr>
            <p:nvPr/>
          </p:nvSpPr>
          <p:spPr bwMode="auto">
            <a:xfrm flipV="1">
              <a:off x="7644448" y="3481071"/>
              <a:ext cx="30162" cy="138113"/>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92" name="Line 68"/>
            <p:cNvSpPr>
              <a:spLocks noChangeShapeType="1"/>
            </p:cNvSpPr>
            <p:nvPr/>
          </p:nvSpPr>
          <p:spPr bwMode="auto">
            <a:xfrm flipV="1">
              <a:off x="7674610" y="3290571"/>
              <a:ext cx="30162" cy="190500"/>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93" name="Line 69"/>
            <p:cNvSpPr>
              <a:spLocks noChangeShapeType="1"/>
            </p:cNvSpPr>
            <p:nvPr/>
          </p:nvSpPr>
          <p:spPr bwMode="auto">
            <a:xfrm flipV="1">
              <a:off x="7704773" y="3087371"/>
              <a:ext cx="30162" cy="203200"/>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94" name="Line 70"/>
            <p:cNvSpPr>
              <a:spLocks noChangeShapeType="1"/>
            </p:cNvSpPr>
            <p:nvPr/>
          </p:nvSpPr>
          <p:spPr bwMode="auto">
            <a:xfrm flipV="1">
              <a:off x="7734935" y="2907983"/>
              <a:ext cx="28575" cy="1793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95" name="Line 71"/>
            <p:cNvSpPr>
              <a:spLocks noChangeShapeType="1"/>
            </p:cNvSpPr>
            <p:nvPr/>
          </p:nvSpPr>
          <p:spPr bwMode="auto">
            <a:xfrm flipV="1">
              <a:off x="7763510" y="2779396"/>
              <a:ext cx="30162" cy="1285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96" name="Line 72"/>
            <p:cNvSpPr>
              <a:spLocks noChangeShapeType="1"/>
            </p:cNvSpPr>
            <p:nvPr/>
          </p:nvSpPr>
          <p:spPr bwMode="auto">
            <a:xfrm flipV="1">
              <a:off x="7793673" y="2714308"/>
              <a:ext cx="30162" cy="650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97" name="Line 73"/>
            <p:cNvSpPr>
              <a:spLocks noChangeShapeType="1"/>
            </p:cNvSpPr>
            <p:nvPr/>
          </p:nvSpPr>
          <p:spPr bwMode="auto">
            <a:xfrm>
              <a:off x="7823835" y="2714308"/>
              <a:ext cx="30162" cy="3175"/>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98" name="Line 74"/>
            <p:cNvSpPr>
              <a:spLocks noChangeShapeType="1"/>
            </p:cNvSpPr>
            <p:nvPr/>
          </p:nvSpPr>
          <p:spPr bwMode="auto">
            <a:xfrm>
              <a:off x="7853998" y="2717483"/>
              <a:ext cx="30162" cy="55563"/>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099" name="Line 75"/>
            <p:cNvSpPr>
              <a:spLocks noChangeShapeType="1"/>
            </p:cNvSpPr>
            <p:nvPr/>
          </p:nvSpPr>
          <p:spPr bwMode="auto">
            <a:xfrm>
              <a:off x="7884160" y="2773046"/>
              <a:ext cx="28575" cy="904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00" name="Line 76"/>
            <p:cNvSpPr>
              <a:spLocks noChangeShapeType="1"/>
            </p:cNvSpPr>
            <p:nvPr/>
          </p:nvSpPr>
          <p:spPr bwMode="auto">
            <a:xfrm>
              <a:off x="7912735" y="2863533"/>
              <a:ext cx="30162" cy="101600"/>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01" name="Line 77"/>
            <p:cNvSpPr>
              <a:spLocks noChangeShapeType="1"/>
            </p:cNvSpPr>
            <p:nvPr/>
          </p:nvSpPr>
          <p:spPr bwMode="auto">
            <a:xfrm>
              <a:off x="7942898" y="2965133"/>
              <a:ext cx="30162" cy="9683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02" name="Line 78"/>
            <p:cNvSpPr>
              <a:spLocks noChangeShapeType="1"/>
            </p:cNvSpPr>
            <p:nvPr/>
          </p:nvSpPr>
          <p:spPr bwMode="auto">
            <a:xfrm>
              <a:off x="7973060" y="3061971"/>
              <a:ext cx="30162" cy="73025"/>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03" name="Line 79"/>
            <p:cNvSpPr>
              <a:spLocks noChangeShapeType="1"/>
            </p:cNvSpPr>
            <p:nvPr/>
          </p:nvSpPr>
          <p:spPr bwMode="auto">
            <a:xfrm>
              <a:off x="8003223" y="3134996"/>
              <a:ext cx="30162" cy="42863"/>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04" name="Line 80"/>
            <p:cNvSpPr>
              <a:spLocks noChangeShapeType="1"/>
            </p:cNvSpPr>
            <p:nvPr/>
          </p:nvSpPr>
          <p:spPr bwMode="auto">
            <a:xfrm>
              <a:off x="8033385" y="3177858"/>
              <a:ext cx="28575" cy="12700"/>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05" name="Line 81"/>
            <p:cNvSpPr>
              <a:spLocks noChangeShapeType="1"/>
            </p:cNvSpPr>
            <p:nvPr/>
          </p:nvSpPr>
          <p:spPr bwMode="auto">
            <a:xfrm flipV="1">
              <a:off x="8061960" y="3177858"/>
              <a:ext cx="30162" cy="12700"/>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06" name="Line 82"/>
            <p:cNvSpPr>
              <a:spLocks noChangeShapeType="1"/>
            </p:cNvSpPr>
            <p:nvPr/>
          </p:nvSpPr>
          <p:spPr bwMode="auto">
            <a:xfrm flipV="1">
              <a:off x="8092123" y="3149283"/>
              <a:ext cx="30162" cy="28575"/>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07" name="Line 83"/>
            <p:cNvSpPr>
              <a:spLocks noChangeShapeType="1"/>
            </p:cNvSpPr>
            <p:nvPr/>
          </p:nvSpPr>
          <p:spPr bwMode="auto">
            <a:xfrm flipV="1">
              <a:off x="8122285" y="3112771"/>
              <a:ext cx="30162" cy="36513"/>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08" name="Line 84"/>
            <p:cNvSpPr>
              <a:spLocks noChangeShapeType="1"/>
            </p:cNvSpPr>
            <p:nvPr/>
          </p:nvSpPr>
          <p:spPr bwMode="auto">
            <a:xfrm flipV="1">
              <a:off x="8152448" y="3077846"/>
              <a:ext cx="30162" cy="34925"/>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09" name="Line 85"/>
            <p:cNvSpPr>
              <a:spLocks noChangeShapeType="1"/>
            </p:cNvSpPr>
            <p:nvPr/>
          </p:nvSpPr>
          <p:spPr bwMode="auto">
            <a:xfrm flipV="1">
              <a:off x="8182610" y="3049271"/>
              <a:ext cx="30162" cy="28575"/>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10" name="Line 86"/>
            <p:cNvSpPr>
              <a:spLocks noChangeShapeType="1"/>
            </p:cNvSpPr>
            <p:nvPr/>
          </p:nvSpPr>
          <p:spPr bwMode="auto">
            <a:xfrm flipV="1">
              <a:off x="8212773" y="3030221"/>
              <a:ext cx="28575" cy="19050"/>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11" name="Line 87"/>
            <p:cNvSpPr>
              <a:spLocks noChangeShapeType="1"/>
            </p:cNvSpPr>
            <p:nvPr/>
          </p:nvSpPr>
          <p:spPr bwMode="auto">
            <a:xfrm flipV="1">
              <a:off x="8241348" y="3020696"/>
              <a:ext cx="30162" cy="9525"/>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12" name="Line 88"/>
            <p:cNvSpPr>
              <a:spLocks noChangeShapeType="1"/>
            </p:cNvSpPr>
            <p:nvPr/>
          </p:nvSpPr>
          <p:spPr bwMode="auto">
            <a:xfrm>
              <a:off x="8271510" y="3020696"/>
              <a:ext cx="30162" cy="15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13" name="Line 89"/>
            <p:cNvSpPr>
              <a:spLocks noChangeShapeType="1"/>
            </p:cNvSpPr>
            <p:nvPr/>
          </p:nvSpPr>
          <p:spPr bwMode="auto">
            <a:xfrm>
              <a:off x="8301673" y="3020696"/>
              <a:ext cx="30162" cy="6350"/>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14" name="Line 90"/>
            <p:cNvSpPr>
              <a:spLocks noChangeShapeType="1"/>
            </p:cNvSpPr>
            <p:nvPr/>
          </p:nvSpPr>
          <p:spPr bwMode="auto">
            <a:xfrm>
              <a:off x="8331835" y="3027046"/>
              <a:ext cx="30162" cy="9525"/>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15" name="Line 91"/>
            <p:cNvSpPr>
              <a:spLocks noChangeShapeType="1"/>
            </p:cNvSpPr>
            <p:nvPr/>
          </p:nvSpPr>
          <p:spPr bwMode="auto">
            <a:xfrm>
              <a:off x="8361998" y="3036571"/>
              <a:ext cx="30162" cy="793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16" name="Line 92"/>
            <p:cNvSpPr>
              <a:spLocks noChangeShapeType="1"/>
            </p:cNvSpPr>
            <p:nvPr/>
          </p:nvSpPr>
          <p:spPr bwMode="auto">
            <a:xfrm>
              <a:off x="8392160" y="3044508"/>
              <a:ext cx="30162" cy="9525"/>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17" name="Line 93"/>
            <p:cNvSpPr>
              <a:spLocks noChangeShapeType="1"/>
            </p:cNvSpPr>
            <p:nvPr/>
          </p:nvSpPr>
          <p:spPr bwMode="auto">
            <a:xfrm>
              <a:off x="8422323" y="3054033"/>
              <a:ext cx="28575" cy="4763"/>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18" name="Line 94"/>
            <p:cNvSpPr>
              <a:spLocks noChangeShapeType="1"/>
            </p:cNvSpPr>
            <p:nvPr/>
          </p:nvSpPr>
          <p:spPr bwMode="auto">
            <a:xfrm>
              <a:off x="8450898" y="3058796"/>
              <a:ext cx="30162" cy="3175"/>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19" name="Line 95"/>
            <p:cNvSpPr>
              <a:spLocks noChangeShapeType="1"/>
            </p:cNvSpPr>
            <p:nvPr/>
          </p:nvSpPr>
          <p:spPr bwMode="auto">
            <a:xfrm>
              <a:off x="8481060" y="3061971"/>
              <a:ext cx="30162" cy="15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20" name="Line 96"/>
            <p:cNvSpPr>
              <a:spLocks noChangeShapeType="1"/>
            </p:cNvSpPr>
            <p:nvPr/>
          </p:nvSpPr>
          <p:spPr bwMode="auto">
            <a:xfrm flipV="1">
              <a:off x="8511223" y="3061971"/>
              <a:ext cx="30162" cy="15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21" name="Line 97"/>
            <p:cNvSpPr>
              <a:spLocks noChangeShapeType="1"/>
            </p:cNvSpPr>
            <p:nvPr/>
          </p:nvSpPr>
          <p:spPr bwMode="auto">
            <a:xfrm flipV="1">
              <a:off x="8541385" y="3060383"/>
              <a:ext cx="30162" cy="15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22" name="Line 98"/>
            <p:cNvSpPr>
              <a:spLocks noChangeShapeType="1"/>
            </p:cNvSpPr>
            <p:nvPr/>
          </p:nvSpPr>
          <p:spPr bwMode="auto">
            <a:xfrm flipV="1">
              <a:off x="8571548" y="3058796"/>
              <a:ext cx="30162" cy="15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23" name="Line 99"/>
            <p:cNvSpPr>
              <a:spLocks noChangeShapeType="1"/>
            </p:cNvSpPr>
            <p:nvPr/>
          </p:nvSpPr>
          <p:spPr bwMode="auto">
            <a:xfrm flipV="1">
              <a:off x="8601710" y="3057208"/>
              <a:ext cx="28575" cy="15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24" name="Line 100"/>
            <p:cNvSpPr>
              <a:spLocks noChangeShapeType="1"/>
            </p:cNvSpPr>
            <p:nvPr/>
          </p:nvSpPr>
          <p:spPr bwMode="auto">
            <a:xfrm flipV="1">
              <a:off x="8630285" y="3055621"/>
              <a:ext cx="30162" cy="15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25" name="Line 101"/>
            <p:cNvSpPr>
              <a:spLocks noChangeShapeType="1"/>
            </p:cNvSpPr>
            <p:nvPr/>
          </p:nvSpPr>
          <p:spPr bwMode="auto">
            <a:xfrm flipV="1">
              <a:off x="8660448" y="3055621"/>
              <a:ext cx="30162" cy="15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26" name="Line 102"/>
            <p:cNvSpPr>
              <a:spLocks noChangeShapeType="1"/>
            </p:cNvSpPr>
            <p:nvPr/>
          </p:nvSpPr>
          <p:spPr bwMode="auto">
            <a:xfrm flipV="1">
              <a:off x="8690610" y="3055621"/>
              <a:ext cx="30162" cy="15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27" name="Line 103"/>
            <p:cNvSpPr>
              <a:spLocks noChangeShapeType="1"/>
            </p:cNvSpPr>
            <p:nvPr/>
          </p:nvSpPr>
          <p:spPr bwMode="auto">
            <a:xfrm>
              <a:off x="8720773" y="3055621"/>
              <a:ext cx="30162" cy="15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28" name="Line 104"/>
            <p:cNvSpPr>
              <a:spLocks noChangeShapeType="1"/>
            </p:cNvSpPr>
            <p:nvPr/>
          </p:nvSpPr>
          <p:spPr bwMode="auto">
            <a:xfrm>
              <a:off x="8750935" y="3055621"/>
              <a:ext cx="28575" cy="15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29" name="Line 105"/>
            <p:cNvSpPr>
              <a:spLocks noChangeShapeType="1"/>
            </p:cNvSpPr>
            <p:nvPr/>
          </p:nvSpPr>
          <p:spPr bwMode="auto">
            <a:xfrm>
              <a:off x="8779510" y="3055621"/>
              <a:ext cx="30162" cy="15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sp>
          <p:nvSpPr>
            <p:cNvPr id="1130" name="Line 106"/>
            <p:cNvSpPr>
              <a:spLocks noChangeShapeType="1"/>
            </p:cNvSpPr>
            <p:nvPr/>
          </p:nvSpPr>
          <p:spPr bwMode="auto">
            <a:xfrm>
              <a:off x="8809673" y="3055621"/>
              <a:ext cx="30162" cy="1588"/>
            </a:xfrm>
            <a:prstGeom prst="line">
              <a:avLst/>
            </a:prstGeom>
            <a:noFill/>
            <a:ln w="38100">
              <a:solidFill>
                <a:srgbClr val="FF0000"/>
              </a:solidFill>
              <a:prstDash val="solid"/>
              <a:round/>
              <a:headEnd/>
              <a:tailEnd/>
            </a:ln>
          </p:spPr>
          <p:txBody>
            <a:bodyPr vert="horz" wrap="square" lIns="91440" tIns="45720" rIns="91440" bIns="45720" numCol="1" anchor="t" anchorCtr="0" compatLnSpc="1">
              <a:prstTxWarp prst="textNoShape">
                <a:avLst/>
              </a:prstTxWarp>
            </a:bodyPr>
            <a:lstStyle/>
            <a:p>
              <a:endParaRPr lang="en-US" dirty="0"/>
            </a:p>
          </p:txBody>
        </p:sp>
      </p:grpSp>
      <p:cxnSp>
        <p:nvCxnSpPr>
          <p:cNvPr id="127" name="Straight Arrow Connector 126"/>
          <p:cNvCxnSpPr/>
          <p:nvPr/>
        </p:nvCxnSpPr>
        <p:spPr>
          <a:xfrm rot="16200000" flipV="1">
            <a:off x="4573740" y="3397342"/>
            <a:ext cx="259811" cy="225839"/>
          </a:xfrm>
          <a:prstGeom prst="straightConnector1">
            <a:avLst/>
          </a:prstGeom>
          <a:ln w="28575">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248" name="Straight Arrow Connector 247"/>
          <p:cNvCxnSpPr/>
          <p:nvPr/>
        </p:nvCxnSpPr>
        <p:spPr>
          <a:xfrm rot="5400000" flipH="1" flipV="1">
            <a:off x="8778240" y="1857423"/>
            <a:ext cx="533400" cy="106680"/>
          </a:xfrm>
          <a:prstGeom prst="straightConnector1">
            <a:avLst/>
          </a:prstGeom>
          <a:ln>
            <a:solidFill>
              <a:srgbClr val="0070C0"/>
            </a:solidFill>
            <a:tailEnd type="arrow"/>
          </a:ln>
        </p:spPr>
        <p:style>
          <a:lnRef idx="1">
            <a:schemeClr val="accent1"/>
          </a:lnRef>
          <a:fillRef idx="0">
            <a:schemeClr val="accent1"/>
          </a:fillRef>
          <a:effectRef idx="0">
            <a:schemeClr val="accent1"/>
          </a:effectRef>
          <a:fontRef idx="minor">
            <a:schemeClr val="tx1"/>
          </a:fontRef>
        </p:style>
      </p:cxnSp>
      <p:sp>
        <p:nvSpPr>
          <p:cNvPr id="249" name="Right Arrow 248"/>
          <p:cNvSpPr/>
          <p:nvPr/>
        </p:nvSpPr>
        <p:spPr>
          <a:xfrm>
            <a:off x="5654040" y="3381423"/>
            <a:ext cx="502920" cy="67056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50" name="TextBox 249"/>
          <p:cNvSpPr txBox="1"/>
          <p:nvPr/>
        </p:nvSpPr>
        <p:spPr>
          <a:xfrm>
            <a:off x="4434840" y="4478703"/>
            <a:ext cx="1786708" cy="369332"/>
          </a:xfrm>
          <a:prstGeom prst="rect">
            <a:avLst/>
          </a:prstGeom>
          <a:noFill/>
        </p:spPr>
        <p:txBody>
          <a:bodyPr wrap="none" rtlCol="0">
            <a:spAutoFit/>
          </a:bodyPr>
          <a:lstStyle/>
          <a:p>
            <a:r>
              <a:rPr lang="en-US" i="1" dirty="0"/>
              <a:t>Incoming photon</a:t>
            </a:r>
          </a:p>
        </p:txBody>
      </p:sp>
      <p:sp>
        <p:nvSpPr>
          <p:cNvPr id="251" name="TextBox 250"/>
          <p:cNvSpPr txBox="1"/>
          <p:nvPr/>
        </p:nvSpPr>
        <p:spPr>
          <a:xfrm>
            <a:off x="8728892" y="2512743"/>
            <a:ext cx="1872692" cy="369332"/>
          </a:xfrm>
          <a:prstGeom prst="rect">
            <a:avLst/>
          </a:prstGeom>
          <a:noFill/>
        </p:spPr>
        <p:txBody>
          <a:bodyPr wrap="none" rtlCol="0">
            <a:spAutoFit/>
          </a:bodyPr>
          <a:lstStyle/>
          <a:p>
            <a:r>
              <a:rPr lang="en-US" i="1" dirty="0"/>
              <a:t>Outgoing Electron</a:t>
            </a:r>
          </a:p>
        </p:txBody>
      </p:sp>
      <p:grpSp>
        <p:nvGrpSpPr>
          <p:cNvPr id="3" name="Group 166"/>
          <p:cNvGrpSpPr/>
          <p:nvPr/>
        </p:nvGrpSpPr>
        <p:grpSpPr>
          <a:xfrm>
            <a:off x="2148840" y="2467023"/>
            <a:ext cx="2377440" cy="2499360"/>
            <a:chOff x="1280160" y="2606040"/>
            <a:chExt cx="4053840" cy="4130040"/>
          </a:xfrm>
        </p:grpSpPr>
        <p:sp>
          <p:nvSpPr>
            <p:cNvPr id="154" name="Oval 153"/>
            <p:cNvSpPr/>
            <p:nvPr/>
          </p:nvSpPr>
          <p:spPr>
            <a:xfrm rot="19673694">
              <a:off x="2164080" y="2606040"/>
              <a:ext cx="2423159" cy="4099561"/>
            </a:xfrm>
            <a:prstGeom prst="ellipse">
              <a:avLst/>
            </a:prstGeom>
            <a:noFill/>
            <a:ln w="2857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6" name="Oval 155"/>
            <p:cNvSpPr/>
            <p:nvPr/>
          </p:nvSpPr>
          <p:spPr>
            <a:xfrm>
              <a:off x="3126375" y="4644396"/>
              <a:ext cx="224908" cy="221253"/>
            </a:xfrm>
            <a:prstGeom prst="ellipse">
              <a:avLst/>
            </a:prstGeom>
            <a:solidFill>
              <a:srgbClr val="C0C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7" name="Oval 156"/>
            <p:cNvSpPr/>
            <p:nvPr/>
          </p:nvSpPr>
          <p:spPr>
            <a:xfrm>
              <a:off x="3144575" y="4516768"/>
              <a:ext cx="224908" cy="221253"/>
            </a:xfrm>
            <a:prstGeom prst="ellipse">
              <a:avLst/>
            </a:prstGeom>
            <a:solidFill>
              <a:srgbClr val="96969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8" name="Plus 157"/>
            <p:cNvSpPr/>
            <p:nvPr/>
          </p:nvSpPr>
          <p:spPr>
            <a:xfrm>
              <a:off x="3178420" y="4542297"/>
              <a:ext cx="157217" cy="170194"/>
            </a:xfrm>
            <a:prstGeom prst="mathPlus">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9" name="Oval 158"/>
            <p:cNvSpPr/>
            <p:nvPr/>
          </p:nvSpPr>
          <p:spPr>
            <a:xfrm>
              <a:off x="3262878" y="4506951"/>
              <a:ext cx="224908" cy="221253"/>
            </a:xfrm>
            <a:prstGeom prst="ellipse">
              <a:avLst/>
            </a:prstGeom>
            <a:solidFill>
              <a:srgbClr val="C0C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0" name="Oval 159"/>
            <p:cNvSpPr/>
            <p:nvPr/>
          </p:nvSpPr>
          <p:spPr>
            <a:xfrm>
              <a:off x="3235577" y="4614943"/>
              <a:ext cx="224908" cy="221253"/>
            </a:xfrm>
            <a:prstGeom prst="ellipse">
              <a:avLst/>
            </a:prstGeom>
            <a:solidFill>
              <a:srgbClr val="96969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1" name="Plus 160"/>
            <p:cNvSpPr/>
            <p:nvPr/>
          </p:nvSpPr>
          <p:spPr>
            <a:xfrm>
              <a:off x="3269422" y="4640472"/>
              <a:ext cx="157217" cy="170194"/>
            </a:xfrm>
            <a:prstGeom prst="mathPlus">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2" name="Oval 161"/>
            <p:cNvSpPr/>
            <p:nvPr/>
          </p:nvSpPr>
          <p:spPr>
            <a:xfrm>
              <a:off x="1280160" y="2636520"/>
              <a:ext cx="4053840" cy="4099560"/>
            </a:xfrm>
            <a:prstGeom prst="ellipse">
              <a:avLst/>
            </a:prstGeom>
            <a:noFill/>
            <a:ln w="2857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3" name="Oval 162"/>
            <p:cNvSpPr/>
            <p:nvPr/>
          </p:nvSpPr>
          <p:spPr>
            <a:xfrm>
              <a:off x="5042328" y="3817062"/>
              <a:ext cx="261192" cy="282498"/>
            </a:xfrm>
            <a:prstGeom prst="ellipse">
              <a:avLst/>
            </a:prstGeom>
            <a:solidFill>
              <a:srgbClr val="638FC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4" name="Minus 163"/>
            <p:cNvSpPr/>
            <p:nvPr/>
          </p:nvSpPr>
          <p:spPr>
            <a:xfrm>
              <a:off x="5067686" y="3891761"/>
              <a:ext cx="210475" cy="133100"/>
            </a:xfrm>
            <a:prstGeom prst="mathMinus">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5" name="Oval 164"/>
            <p:cNvSpPr/>
            <p:nvPr/>
          </p:nvSpPr>
          <p:spPr>
            <a:xfrm>
              <a:off x="2725848" y="5767782"/>
              <a:ext cx="261192" cy="282498"/>
            </a:xfrm>
            <a:prstGeom prst="ellipse">
              <a:avLst/>
            </a:prstGeom>
            <a:solidFill>
              <a:srgbClr val="638FC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6" name="Minus 165"/>
            <p:cNvSpPr/>
            <p:nvPr/>
          </p:nvSpPr>
          <p:spPr>
            <a:xfrm>
              <a:off x="2751206" y="5842481"/>
              <a:ext cx="210475" cy="133100"/>
            </a:xfrm>
            <a:prstGeom prst="mathMinus">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69" name="Oval 168"/>
          <p:cNvSpPr/>
          <p:nvPr/>
        </p:nvSpPr>
        <p:spPr>
          <a:xfrm rot="19673694">
            <a:off x="7027611" y="2436544"/>
            <a:ext cx="1421101" cy="2480915"/>
          </a:xfrm>
          <a:prstGeom prst="ellipse">
            <a:avLst/>
          </a:prstGeom>
          <a:noFill/>
          <a:ln w="2857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0" name="Oval 169"/>
          <p:cNvSpPr/>
          <p:nvPr/>
        </p:nvSpPr>
        <p:spPr>
          <a:xfrm>
            <a:off x="7591965" y="3670088"/>
            <a:ext cx="131901" cy="133895"/>
          </a:xfrm>
          <a:prstGeom prst="ellipse">
            <a:avLst/>
          </a:prstGeom>
          <a:solidFill>
            <a:srgbClr val="C0C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1" name="Oval 170"/>
          <p:cNvSpPr/>
          <p:nvPr/>
        </p:nvSpPr>
        <p:spPr>
          <a:xfrm>
            <a:off x="7602638" y="3592852"/>
            <a:ext cx="131901" cy="133895"/>
          </a:xfrm>
          <a:prstGeom prst="ellipse">
            <a:avLst/>
          </a:prstGeom>
          <a:solidFill>
            <a:srgbClr val="96969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2" name="Plus 171"/>
          <p:cNvSpPr/>
          <p:nvPr/>
        </p:nvSpPr>
        <p:spPr>
          <a:xfrm>
            <a:off x="7622486" y="3608300"/>
            <a:ext cx="92202" cy="102996"/>
          </a:xfrm>
          <a:prstGeom prst="mathPlus">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3" name="Oval 172"/>
          <p:cNvSpPr/>
          <p:nvPr/>
        </p:nvSpPr>
        <p:spPr>
          <a:xfrm>
            <a:off x="7672019" y="3586911"/>
            <a:ext cx="131901" cy="133895"/>
          </a:xfrm>
          <a:prstGeom prst="ellipse">
            <a:avLst/>
          </a:prstGeom>
          <a:solidFill>
            <a:srgbClr val="C0C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4" name="Oval 173"/>
          <p:cNvSpPr/>
          <p:nvPr/>
        </p:nvSpPr>
        <p:spPr>
          <a:xfrm>
            <a:off x="7656008" y="3652264"/>
            <a:ext cx="131901" cy="133895"/>
          </a:xfrm>
          <a:prstGeom prst="ellipse">
            <a:avLst/>
          </a:prstGeom>
          <a:solidFill>
            <a:srgbClr val="96969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5" name="Plus 174"/>
          <p:cNvSpPr/>
          <p:nvPr/>
        </p:nvSpPr>
        <p:spPr>
          <a:xfrm>
            <a:off x="7675856" y="3667712"/>
            <a:ext cx="92202" cy="102996"/>
          </a:xfrm>
          <a:prstGeom prst="mathPlus">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6" name="Oval 175"/>
          <p:cNvSpPr/>
          <p:nvPr/>
        </p:nvSpPr>
        <p:spPr>
          <a:xfrm>
            <a:off x="6509221" y="2454989"/>
            <a:ext cx="2377440" cy="2480915"/>
          </a:xfrm>
          <a:prstGeom prst="ellipse">
            <a:avLst/>
          </a:prstGeom>
          <a:noFill/>
          <a:ln w="2857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4" name="Group 180"/>
          <p:cNvGrpSpPr/>
          <p:nvPr/>
        </p:nvGrpSpPr>
        <p:grpSpPr>
          <a:xfrm>
            <a:off x="8852765" y="2331212"/>
            <a:ext cx="153180" cy="170958"/>
            <a:chOff x="7433704" y="1952069"/>
            <a:chExt cx="153180" cy="170958"/>
          </a:xfrm>
        </p:grpSpPr>
        <p:sp>
          <p:nvSpPr>
            <p:cNvPr id="177" name="Oval 176"/>
            <p:cNvSpPr/>
            <p:nvPr/>
          </p:nvSpPr>
          <p:spPr>
            <a:xfrm>
              <a:off x="7433704" y="1952069"/>
              <a:ext cx="153180" cy="170958"/>
            </a:xfrm>
            <a:prstGeom prst="ellipse">
              <a:avLst/>
            </a:prstGeom>
            <a:solidFill>
              <a:srgbClr val="638FC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8" name="Minus 177"/>
            <p:cNvSpPr/>
            <p:nvPr/>
          </p:nvSpPr>
          <p:spPr>
            <a:xfrm>
              <a:off x="7448576" y="1997275"/>
              <a:ext cx="123436" cy="80548"/>
            </a:xfrm>
            <a:prstGeom prst="mathMinus">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179" name="Oval 178"/>
          <p:cNvSpPr/>
          <p:nvPr/>
        </p:nvSpPr>
        <p:spPr>
          <a:xfrm>
            <a:off x="7357068" y="4349922"/>
            <a:ext cx="153180" cy="170958"/>
          </a:xfrm>
          <a:prstGeom prst="ellipse">
            <a:avLst/>
          </a:prstGeom>
          <a:solidFill>
            <a:srgbClr val="638FC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0" name="Minus 179"/>
          <p:cNvSpPr/>
          <p:nvPr/>
        </p:nvSpPr>
        <p:spPr>
          <a:xfrm>
            <a:off x="7371940" y="4395127"/>
            <a:ext cx="123436" cy="80548"/>
          </a:xfrm>
          <a:prstGeom prst="mathMinus">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ooter Placeholder 4"/>
          <p:cNvSpPr>
            <a:spLocks noGrp="1"/>
          </p:cNvSpPr>
          <p:nvPr>
            <p:ph type="ftr" sz="quarter" idx="11"/>
          </p:nvPr>
        </p:nvSpPr>
        <p:spPr/>
        <p:txBody>
          <a:bodyPr/>
          <a:lstStyle/>
          <a:p>
            <a:r>
              <a:rPr lang="en-US"/>
              <a:t>R. Todd Lines</a:t>
            </a:r>
          </a:p>
        </p:txBody>
      </p:sp>
      <p:sp>
        <p:nvSpPr>
          <p:cNvPr id="9218" name="Rectangle 2"/>
          <p:cNvSpPr>
            <a:spLocks noGrp="1" noChangeArrowheads="1"/>
          </p:cNvSpPr>
          <p:nvPr>
            <p:ph type="title"/>
          </p:nvPr>
        </p:nvSpPr>
        <p:spPr/>
        <p:txBody>
          <a:bodyPr/>
          <a:lstStyle/>
          <a:p>
            <a:r>
              <a:rPr lang="en-US"/>
              <a:t>Particle Nature, cont.</a:t>
            </a:r>
          </a:p>
        </p:txBody>
      </p:sp>
      <p:sp>
        <p:nvSpPr>
          <p:cNvPr id="9219" name="Rectangle 3"/>
          <p:cNvSpPr>
            <a:spLocks noGrp="1" noChangeArrowheads="1"/>
          </p:cNvSpPr>
          <p:nvPr>
            <p:ph type="body" idx="1"/>
          </p:nvPr>
        </p:nvSpPr>
        <p:spPr/>
        <p:txBody>
          <a:bodyPr/>
          <a:lstStyle/>
          <a:p>
            <a:r>
              <a:rPr lang="en-US"/>
              <a:t>Einstein (in 1905) proposed an explanation of the photoelectric effect that used the idea of quantization</a:t>
            </a:r>
          </a:p>
          <a:p>
            <a:pPr lvl="1"/>
            <a:r>
              <a:rPr lang="en-US"/>
              <a:t>The quantization model assumes that the energy of a light wave is present in particles called </a:t>
            </a:r>
            <a:r>
              <a:rPr lang="en-US" i="1"/>
              <a:t>photons</a:t>
            </a:r>
            <a:endParaRPr lang="en-US"/>
          </a:p>
          <a:p>
            <a:pPr lvl="1"/>
            <a:r>
              <a:rPr lang="en-US" i="1"/>
              <a:t>E</a:t>
            </a:r>
            <a:r>
              <a:rPr lang="en-US"/>
              <a:t> = </a:t>
            </a:r>
            <a:r>
              <a:rPr lang="en-US" i="1"/>
              <a:t>h</a:t>
            </a:r>
            <a:r>
              <a:rPr lang="en-US"/>
              <a:t>ƒ</a:t>
            </a:r>
          </a:p>
          <a:p>
            <a:pPr lvl="2"/>
            <a:r>
              <a:rPr lang="en-US" i="1"/>
              <a:t>h</a:t>
            </a:r>
            <a:r>
              <a:rPr lang="en-US"/>
              <a:t> is Planck’s Constant and = 6.63 x 10</a:t>
            </a:r>
            <a:r>
              <a:rPr lang="en-US" baseline="30000"/>
              <a:t>-34</a:t>
            </a:r>
            <a:r>
              <a:rPr lang="en-US"/>
              <a:t> J</a:t>
            </a:r>
            <a:r>
              <a:rPr lang="en-US" baseline="30000"/>
              <a:t>.</a:t>
            </a:r>
            <a:r>
              <a:rPr lang="en-US"/>
              <a:t>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ooter Placeholder 4"/>
          <p:cNvSpPr>
            <a:spLocks noGrp="1"/>
          </p:cNvSpPr>
          <p:nvPr>
            <p:ph type="ftr" sz="quarter" idx="11"/>
          </p:nvPr>
        </p:nvSpPr>
        <p:spPr/>
        <p:txBody>
          <a:bodyPr/>
          <a:lstStyle/>
          <a:p>
            <a:r>
              <a:rPr lang="en-US"/>
              <a:t>R. Todd Lines</a:t>
            </a:r>
          </a:p>
        </p:txBody>
      </p:sp>
      <p:sp>
        <p:nvSpPr>
          <p:cNvPr id="1026" name="Rectangle 2"/>
          <p:cNvSpPr>
            <a:spLocks noGrp="1" noChangeArrowheads="1"/>
          </p:cNvSpPr>
          <p:nvPr>
            <p:ph type="title"/>
          </p:nvPr>
        </p:nvSpPr>
        <p:spPr/>
        <p:txBody>
          <a:bodyPr/>
          <a:lstStyle/>
          <a:p>
            <a:r>
              <a:rPr lang="en-US"/>
              <a:t>Dual Nature of Light</a:t>
            </a:r>
          </a:p>
        </p:txBody>
      </p:sp>
      <p:sp>
        <p:nvSpPr>
          <p:cNvPr id="1027" name="Rectangle 3"/>
          <p:cNvSpPr>
            <a:spLocks noGrp="1" noChangeArrowheads="1"/>
          </p:cNvSpPr>
          <p:nvPr>
            <p:ph type="body" idx="1"/>
          </p:nvPr>
        </p:nvSpPr>
        <p:spPr/>
        <p:txBody>
          <a:bodyPr/>
          <a:lstStyle/>
          <a:p>
            <a:pPr>
              <a:lnSpc>
                <a:spcPct val="90000"/>
              </a:lnSpc>
            </a:pPr>
            <a:r>
              <a:rPr lang="en-US"/>
              <a:t>In view of these developments, light must be regarded as having a dual nature</a:t>
            </a:r>
          </a:p>
          <a:p>
            <a:pPr>
              <a:lnSpc>
                <a:spcPct val="90000"/>
              </a:lnSpc>
            </a:pPr>
            <a:r>
              <a:rPr lang="en-US"/>
              <a:t>Light exhibits the characteristics of a wave in some situations and the characteristics of a particle in other situations</a:t>
            </a:r>
          </a:p>
          <a:p>
            <a:pPr lvl="1">
              <a:lnSpc>
                <a:spcPct val="90000"/>
              </a:lnSpc>
            </a:pPr>
            <a:r>
              <a:rPr lang="en-US"/>
              <a:t>Nature prevents testing both qualities at the same time</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6D3AF2-D5C7-98E7-D6E6-82DEA8AD55F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CB08EA93-133A-39E7-C2E3-643A243EA8D1}"/>
              </a:ext>
            </a:extLst>
          </p:cNvPr>
          <p:cNvSpPr/>
          <p:nvPr/>
        </p:nvSpPr>
        <p:spPr>
          <a:xfrm>
            <a:off x="620889" y="2971797"/>
            <a:ext cx="10950222" cy="112889"/>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Rectangle 62">
            <a:extLst>
              <a:ext uri="{FF2B5EF4-FFF2-40B4-BE49-F238E27FC236}">
                <a16:creationId xmlns:a16="http://schemas.microsoft.com/office/drawing/2014/main" id="{99B5605F-CC22-5F80-8AB1-23D9BD03B09C}"/>
              </a:ext>
            </a:extLst>
          </p:cNvPr>
          <p:cNvSpPr/>
          <p:nvPr/>
        </p:nvSpPr>
        <p:spPr>
          <a:xfrm>
            <a:off x="4035774" y="2971797"/>
            <a:ext cx="79022" cy="112889"/>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29799FEF-53C7-34B1-3554-1135766EA00C}"/>
              </a:ext>
            </a:extLst>
          </p:cNvPr>
          <p:cNvSpPr txBox="1"/>
          <p:nvPr/>
        </p:nvSpPr>
        <p:spPr>
          <a:xfrm>
            <a:off x="2066875" y="3384224"/>
            <a:ext cx="652743" cy="369332"/>
          </a:xfrm>
          <a:prstGeom prst="rect">
            <a:avLst/>
          </a:prstGeom>
          <a:noFill/>
        </p:spPr>
        <p:txBody>
          <a:bodyPr wrap="none" rtlCol="0">
            <a:spAutoFit/>
          </a:bodyPr>
          <a:lstStyle/>
          <a:p>
            <a:r>
              <a:rPr lang="en-US" dirty="0"/>
              <a:t>1600</a:t>
            </a:r>
          </a:p>
        </p:txBody>
      </p:sp>
      <p:sp>
        <p:nvSpPr>
          <p:cNvPr id="6" name="TextBox 5">
            <a:extLst>
              <a:ext uri="{FF2B5EF4-FFF2-40B4-BE49-F238E27FC236}">
                <a16:creationId xmlns:a16="http://schemas.microsoft.com/office/drawing/2014/main" id="{62FE273A-C8FF-79FB-5531-8E85A4386363}"/>
              </a:ext>
            </a:extLst>
          </p:cNvPr>
          <p:cNvSpPr txBox="1"/>
          <p:nvPr/>
        </p:nvSpPr>
        <p:spPr>
          <a:xfrm>
            <a:off x="3923898" y="3417711"/>
            <a:ext cx="2194683" cy="369332"/>
          </a:xfrm>
          <a:prstGeom prst="rect">
            <a:avLst/>
          </a:prstGeom>
          <a:noFill/>
        </p:spPr>
        <p:txBody>
          <a:bodyPr wrap="square" rtlCol="0">
            <a:spAutoFit/>
          </a:bodyPr>
          <a:lstStyle/>
          <a:p>
            <a:r>
              <a:rPr lang="en-US" dirty="0"/>
              <a:t>1700</a:t>
            </a:r>
          </a:p>
        </p:txBody>
      </p:sp>
      <p:sp>
        <p:nvSpPr>
          <p:cNvPr id="7" name="TextBox 6">
            <a:extLst>
              <a:ext uri="{FF2B5EF4-FFF2-40B4-BE49-F238E27FC236}">
                <a16:creationId xmlns:a16="http://schemas.microsoft.com/office/drawing/2014/main" id="{82E4B221-FD9E-9CBF-4090-56D86B4C6068}"/>
              </a:ext>
            </a:extLst>
          </p:cNvPr>
          <p:cNvSpPr txBox="1"/>
          <p:nvPr/>
        </p:nvSpPr>
        <p:spPr>
          <a:xfrm>
            <a:off x="5792209" y="3417711"/>
            <a:ext cx="652743" cy="369332"/>
          </a:xfrm>
          <a:prstGeom prst="rect">
            <a:avLst/>
          </a:prstGeom>
          <a:noFill/>
        </p:spPr>
        <p:txBody>
          <a:bodyPr wrap="none" rtlCol="0">
            <a:spAutoFit/>
          </a:bodyPr>
          <a:lstStyle/>
          <a:p>
            <a:r>
              <a:rPr lang="en-US" dirty="0"/>
              <a:t>1800</a:t>
            </a:r>
          </a:p>
        </p:txBody>
      </p:sp>
      <p:sp>
        <p:nvSpPr>
          <p:cNvPr id="8" name="TextBox 7">
            <a:extLst>
              <a:ext uri="{FF2B5EF4-FFF2-40B4-BE49-F238E27FC236}">
                <a16:creationId xmlns:a16="http://schemas.microsoft.com/office/drawing/2014/main" id="{0B69E9BC-2758-40FC-867F-3EB9EFEA5664}"/>
              </a:ext>
            </a:extLst>
          </p:cNvPr>
          <p:cNvSpPr txBox="1"/>
          <p:nvPr/>
        </p:nvSpPr>
        <p:spPr>
          <a:xfrm>
            <a:off x="7541986" y="3417711"/>
            <a:ext cx="652743" cy="369332"/>
          </a:xfrm>
          <a:prstGeom prst="rect">
            <a:avLst/>
          </a:prstGeom>
          <a:noFill/>
        </p:spPr>
        <p:txBody>
          <a:bodyPr wrap="none" rtlCol="0">
            <a:spAutoFit/>
          </a:bodyPr>
          <a:lstStyle/>
          <a:p>
            <a:r>
              <a:rPr lang="en-US" dirty="0"/>
              <a:t>1900</a:t>
            </a:r>
          </a:p>
        </p:txBody>
      </p:sp>
      <p:sp>
        <p:nvSpPr>
          <p:cNvPr id="9" name="TextBox 8">
            <a:extLst>
              <a:ext uri="{FF2B5EF4-FFF2-40B4-BE49-F238E27FC236}">
                <a16:creationId xmlns:a16="http://schemas.microsoft.com/office/drawing/2014/main" id="{4AF82551-DE2C-4A09-F5A8-86F1891BC166}"/>
              </a:ext>
            </a:extLst>
          </p:cNvPr>
          <p:cNvSpPr txBox="1"/>
          <p:nvPr/>
        </p:nvSpPr>
        <p:spPr>
          <a:xfrm>
            <a:off x="9347201" y="3417711"/>
            <a:ext cx="652743" cy="369332"/>
          </a:xfrm>
          <a:prstGeom prst="rect">
            <a:avLst/>
          </a:prstGeom>
          <a:noFill/>
        </p:spPr>
        <p:txBody>
          <a:bodyPr wrap="none" rtlCol="0">
            <a:spAutoFit/>
          </a:bodyPr>
          <a:lstStyle/>
          <a:p>
            <a:r>
              <a:rPr lang="en-US" dirty="0"/>
              <a:t>2000</a:t>
            </a:r>
          </a:p>
        </p:txBody>
      </p:sp>
      <p:sp>
        <p:nvSpPr>
          <p:cNvPr id="10" name="TextBox 9">
            <a:extLst>
              <a:ext uri="{FF2B5EF4-FFF2-40B4-BE49-F238E27FC236}">
                <a16:creationId xmlns:a16="http://schemas.microsoft.com/office/drawing/2014/main" id="{07A46174-280D-3D4E-2014-3981E9289E56}"/>
              </a:ext>
            </a:extLst>
          </p:cNvPr>
          <p:cNvSpPr txBox="1"/>
          <p:nvPr/>
        </p:nvSpPr>
        <p:spPr>
          <a:xfrm flipH="1">
            <a:off x="2066875" y="1777117"/>
            <a:ext cx="1381314" cy="923330"/>
          </a:xfrm>
          <a:prstGeom prst="rect">
            <a:avLst/>
          </a:prstGeom>
          <a:noFill/>
        </p:spPr>
        <p:txBody>
          <a:bodyPr wrap="square" rtlCol="0">
            <a:spAutoFit/>
          </a:bodyPr>
          <a:lstStyle/>
          <a:p>
            <a:r>
              <a:rPr lang="en-US" dirty="0"/>
              <a:t>Newton: Light is a particle</a:t>
            </a:r>
          </a:p>
        </p:txBody>
      </p:sp>
      <p:sp>
        <p:nvSpPr>
          <p:cNvPr id="11" name="Rectangle 10">
            <a:extLst>
              <a:ext uri="{FF2B5EF4-FFF2-40B4-BE49-F238E27FC236}">
                <a16:creationId xmlns:a16="http://schemas.microsoft.com/office/drawing/2014/main" id="{9E0D1E85-C62E-FE4A-FA19-3A16A88B206F}"/>
              </a:ext>
            </a:extLst>
          </p:cNvPr>
          <p:cNvSpPr/>
          <p:nvPr/>
        </p:nvSpPr>
        <p:spPr>
          <a:xfrm>
            <a:off x="4063998" y="2971797"/>
            <a:ext cx="79022" cy="112889"/>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CEEDBFF3-3CC1-537E-2A09-A3F3265C27C3}"/>
              </a:ext>
            </a:extLst>
          </p:cNvPr>
          <p:cNvSpPr txBox="1"/>
          <p:nvPr/>
        </p:nvSpPr>
        <p:spPr>
          <a:xfrm flipH="1">
            <a:off x="3353263" y="996520"/>
            <a:ext cx="1345977" cy="923330"/>
          </a:xfrm>
          <a:prstGeom prst="rect">
            <a:avLst/>
          </a:prstGeom>
          <a:noFill/>
        </p:spPr>
        <p:txBody>
          <a:bodyPr wrap="square" rtlCol="0">
            <a:spAutoFit/>
          </a:bodyPr>
          <a:lstStyle/>
          <a:p>
            <a:r>
              <a:rPr lang="en-US" dirty="0"/>
              <a:t>Huygens: Light is a wave</a:t>
            </a:r>
          </a:p>
        </p:txBody>
      </p:sp>
      <p:sp>
        <p:nvSpPr>
          <p:cNvPr id="13" name="Rectangle 12">
            <a:extLst>
              <a:ext uri="{FF2B5EF4-FFF2-40B4-BE49-F238E27FC236}">
                <a16:creationId xmlns:a16="http://schemas.microsoft.com/office/drawing/2014/main" id="{7CD18C44-2521-DB67-5AF3-F18EBC5D59BC}"/>
              </a:ext>
            </a:extLst>
          </p:cNvPr>
          <p:cNvSpPr/>
          <p:nvPr/>
        </p:nvSpPr>
        <p:spPr>
          <a:xfrm>
            <a:off x="4148664" y="2971797"/>
            <a:ext cx="79022" cy="112889"/>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5" name="Straight Connector 14">
            <a:extLst>
              <a:ext uri="{FF2B5EF4-FFF2-40B4-BE49-F238E27FC236}">
                <a16:creationId xmlns:a16="http://schemas.microsoft.com/office/drawing/2014/main" id="{06025BD2-E3D5-4D1A-E396-FCA996AD052E}"/>
              </a:ext>
            </a:extLst>
          </p:cNvPr>
          <p:cNvCxnSpPr>
            <a:cxnSpLocks/>
            <a:stCxn id="10" idx="2"/>
            <a:endCxn id="11" idx="0"/>
          </p:cNvCxnSpPr>
          <p:nvPr/>
        </p:nvCxnSpPr>
        <p:spPr>
          <a:xfrm>
            <a:off x="2757532" y="2700447"/>
            <a:ext cx="1345977" cy="271350"/>
          </a:xfrm>
          <a:prstGeom prst="line">
            <a:avLst/>
          </a:prstGeom>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0CF28F9A-C79A-8A89-AC6C-1DFB8B9738E1}"/>
              </a:ext>
            </a:extLst>
          </p:cNvPr>
          <p:cNvCxnSpPr>
            <a:cxnSpLocks/>
            <a:stCxn id="12" idx="2"/>
            <a:endCxn id="13" idx="0"/>
          </p:cNvCxnSpPr>
          <p:nvPr/>
        </p:nvCxnSpPr>
        <p:spPr>
          <a:xfrm>
            <a:off x="4026251" y="1919850"/>
            <a:ext cx="161924" cy="1051947"/>
          </a:xfrm>
          <a:prstGeom prst="line">
            <a:avLst/>
          </a:prstGeom>
        </p:spPr>
        <p:style>
          <a:lnRef idx="1">
            <a:schemeClr val="accent1"/>
          </a:lnRef>
          <a:fillRef idx="0">
            <a:schemeClr val="accent1"/>
          </a:fillRef>
          <a:effectRef idx="0">
            <a:schemeClr val="accent1"/>
          </a:effectRef>
          <a:fontRef idx="minor">
            <a:schemeClr val="tx1"/>
          </a:fontRef>
        </p:style>
      </p:cxnSp>
      <p:sp>
        <p:nvSpPr>
          <p:cNvPr id="20" name="Rectangle 19">
            <a:extLst>
              <a:ext uri="{FF2B5EF4-FFF2-40B4-BE49-F238E27FC236}">
                <a16:creationId xmlns:a16="http://schemas.microsoft.com/office/drawing/2014/main" id="{6282E5CB-E7D3-9159-C992-3C3CC0DBEF50}"/>
              </a:ext>
            </a:extLst>
          </p:cNvPr>
          <p:cNvSpPr/>
          <p:nvPr/>
        </p:nvSpPr>
        <p:spPr>
          <a:xfrm>
            <a:off x="6096000" y="2971797"/>
            <a:ext cx="79022" cy="112889"/>
          </a:xfrm>
          <a:prstGeom prst="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6D37C4A0-FC0A-F256-1BAC-40841A9BEE19}"/>
              </a:ext>
            </a:extLst>
          </p:cNvPr>
          <p:cNvSpPr txBox="1"/>
          <p:nvPr/>
        </p:nvSpPr>
        <p:spPr>
          <a:xfrm flipH="1">
            <a:off x="5443168" y="1578334"/>
            <a:ext cx="1049582" cy="923330"/>
          </a:xfrm>
          <a:prstGeom prst="rect">
            <a:avLst/>
          </a:prstGeom>
          <a:noFill/>
        </p:spPr>
        <p:txBody>
          <a:bodyPr wrap="square" rtlCol="0">
            <a:spAutoFit/>
          </a:bodyPr>
          <a:lstStyle/>
          <a:p>
            <a:r>
              <a:rPr lang="en-US" dirty="0"/>
              <a:t>Young: Light is a wave</a:t>
            </a:r>
          </a:p>
        </p:txBody>
      </p:sp>
      <p:cxnSp>
        <p:nvCxnSpPr>
          <p:cNvPr id="28" name="Straight Connector 27">
            <a:extLst>
              <a:ext uri="{FF2B5EF4-FFF2-40B4-BE49-F238E27FC236}">
                <a16:creationId xmlns:a16="http://schemas.microsoft.com/office/drawing/2014/main" id="{1C4F12F1-3098-2775-45D2-5684B6BC246C}"/>
              </a:ext>
            </a:extLst>
          </p:cNvPr>
          <p:cNvCxnSpPr>
            <a:cxnSpLocks/>
            <a:stCxn id="21" idx="2"/>
            <a:endCxn id="20" idx="3"/>
          </p:cNvCxnSpPr>
          <p:nvPr/>
        </p:nvCxnSpPr>
        <p:spPr>
          <a:xfrm>
            <a:off x="5967959" y="2501664"/>
            <a:ext cx="207063" cy="526578"/>
          </a:xfrm>
          <a:prstGeom prst="line">
            <a:avLst/>
          </a:prstGeom>
        </p:spPr>
        <p:style>
          <a:lnRef idx="1">
            <a:schemeClr val="accent1"/>
          </a:lnRef>
          <a:fillRef idx="0">
            <a:schemeClr val="accent1"/>
          </a:fillRef>
          <a:effectRef idx="0">
            <a:schemeClr val="accent1"/>
          </a:effectRef>
          <a:fontRef idx="minor">
            <a:schemeClr val="tx1"/>
          </a:fontRef>
        </p:style>
      </p:cxnSp>
      <p:sp>
        <p:nvSpPr>
          <p:cNvPr id="32" name="Rectangle 31">
            <a:extLst>
              <a:ext uri="{FF2B5EF4-FFF2-40B4-BE49-F238E27FC236}">
                <a16:creationId xmlns:a16="http://schemas.microsoft.com/office/drawing/2014/main" id="{17441B9E-3827-B242-3A4E-77808DDD4641}"/>
              </a:ext>
            </a:extLst>
          </p:cNvPr>
          <p:cNvSpPr/>
          <p:nvPr/>
        </p:nvSpPr>
        <p:spPr>
          <a:xfrm>
            <a:off x="6530625" y="2971797"/>
            <a:ext cx="79022" cy="112889"/>
          </a:xfrm>
          <a:prstGeom prst="rect">
            <a:avLst/>
          </a:prstGeom>
          <a:solidFill>
            <a:srgbClr val="FF0000"/>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dirty="0"/>
          </a:p>
        </p:txBody>
      </p:sp>
      <p:sp>
        <p:nvSpPr>
          <p:cNvPr id="33" name="TextBox 32">
            <a:extLst>
              <a:ext uri="{FF2B5EF4-FFF2-40B4-BE49-F238E27FC236}">
                <a16:creationId xmlns:a16="http://schemas.microsoft.com/office/drawing/2014/main" id="{3B8387FB-49B6-BEE0-B948-83A44BBB8BA5}"/>
              </a:ext>
            </a:extLst>
          </p:cNvPr>
          <p:cNvSpPr txBox="1"/>
          <p:nvPr/>
        </p:nvSpPr>
        <p:spPr>
          <a:xfrm flipH="1">
            <a:off x="6378221" y="966556"/>
            <a:ext cx="1203788" cy="923330"/>
          </a:xfrm>
          <a:prstGeom prst="rect">
            <a:avLst/>
          </a:prstGeom>
          <a:noFill/>
        </p:spPr>
        <p:txBody>
          <a:bodyPr wrap="square" rtlCol="0">
            <a:spAutoFit/>
          </a:bodyPr>
          <a:lstStyle/>
          <a:p>
            <a:r>
              <a:rPr lang="en-US" dirty="0"/>
              <a:t>Smith: Light is important!</a:t>
            </a:r>
          </a:p>
        </p:txBody>
      </p:sp>
      <p:cxnSp>
        <p:nvCxnSpPr>
          <p:cNvPr id="34" name="Straight Connector 33">
            <a:extLst>
              <a:ext uri="{FF2B5EF4-FFF2-40B4-BE49-F238E27FC236}">
                <a16:creationId xmlns:a16="http://schemas.microsoft.com/office/drawing/2014/main" id="{C12661AD-F9E6-77AC-25C8-A9B2723BAAC7}"/>
              </a:ext>
            </a:extLst>
          </p:cNvPr>
          <p:cNvCxnSpPr>
            <a:cxnSpLocks/>
            <a:stCxn id="33" idx="2"/>
            <a:endCxn id="32" idx="0"/>
          </p:cNvCxnSpPr>
          <p:nvPr/>
        </p:nvCxnSpPr>
        <p:spPr>
          <a:xfrm flipH="1">
            <a:off x="6570136" y="1889886"/>
            <a:ext cx="409979" cy="1081911"/>
          </a:xfrm>
          <a:prstGeom prst="line">
            <a:avLst/>
          </a:prstGeom>
        </p:spPr>
        <p:style>
          <a:lnRef idx="1">
            <a:schemeClr val="accent1"/>
          </a:lnRef>
          <a:fillRef idx="0">
            <a:schemeClr val="accent1"/>
          </a:fillRef>
          <a:effectRef idx="0">
            <a:schemeClr val="accent1"/>
          </a:effectRef>
          <a:fontRef idx="minor">
            <a:schemeClr val="tx1"/>
          </a:fontRef>
        </p:style>
      </p:cxnSp>
      <p:sp>
        <p:nvSpPr>
          <p:cNvPr id="37" name="Rectangle 36">
            <a:extLst>
              <a:ext uri="{FF2B5EF4-FFF2-40B4-BE49-F238E27FC236}">
                <a16:creationId xmlns:a16="http://schemas.microsoft.com/office/drawing/2014/main" id="{B227B16C-BBEA-1908-4265-7C44353F5DBF}"/>
              </a:ext>
            </a:extLst>
          </p:cNvPr>
          <p:cNvSpPr/>
          <p:nvPr/>
        </p:nvSpPr>
        <p:spPr>
          <a:xfrm>
            <a:off x="6874938" y="2971797"/>
            <a:ext cx="79022" cy="112889"/>
          </a:xfrm>
          <a:prstGeom prst="rect">
            <a:avLst/>
          </a:prstGeom>
          <a:solidFill>
            <a:srgbClr val="FF0000"/>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40" name="TextBox 39">
            <a:extLst>
              <a:ext uri="{FF2B5EF4-FFF2-40B4-BE49-F238E27FC236}">
                <a16:creationId xmlns:a16="http://schemas.microsoft.com/office/drawing/2014/main" id="{4E480248-AC8B-1CF6-8EC0-76849289C249}"/>
              </a:ext>
            </a:extLst>
          </p:cNvPr>
          <p:cNvSpPr txBox="1"/>
          <p:nvPr/>
        </p:nvSpPr>
        <p:spPr>
          <a:xfrm flipH="1">
            <a:off x="5875802" y="3897948"/>
            <a:ext cx="1203788" cy="923330"/>
          </a:xfrm>
          <a:prstGeom prst="rect">
            <a:avLst/>
          </a:prstGeom>
          <a:noFill/>
        </p:spPr>
        <p:txBody>
          <a:bodyPr wrap="square" rtlCol="0">
            <a:spAutoFit/>
          </a:bodyPr>
          <a:lstStyle/>
          <a:p>
            <a:r>
              <a:rPr lang="en-US" dirty="0"/>
              <a:t>B. Young: Moves us to Utah</a:t>
            </a:r>
          </a:p>
        </p:txBody>
      </p:sp>
      <p:cxnSp>
        <p:nvCxnSpPr>
          <p:cNvPr id="41" name="Straight Connector 40">
            <a:extLst>
              <a:ext uri="{FF2B5EF4-FFF2-40B4-BE49-F238E27FC236}">
                <a16:creationId xmlns:a16="http://schemas.microsoft.com/office/drawing/2014/main" id="{6EF20E56-0ACB-06FD-6610-9D8872C88C34}"/>
              </a:ext>
            </a:extLst>
          </p:cNvPr>
          <p:cNvCxnSpPr>
            <a:cxnSpLocks/>
            <a:stCxn id="40" idx="0"/>
          </p:cNvCxnSpPr>
          <p:nvPr/>
        </p:nvCxnSpPr>
        <p:spPr>
          <a:xfrm flipV="1">
            <a:off x="6477696" y="3070198"/>
            <a:ext cx="396149" cy="827750"/>
          </a:xfrm>
          <a:prstGeom prst="line">
            <a:avLst/>
          </a:prstGeom>
        </p:spPr>
        <p:style>
          <a:lnRef idx="1">
            <a:schemeClr val="accent1"/>
          </a:lnRef>
          <a:fillRef idx="0">
            <a:schemeClr val="accent1"/>
          </a:fillRef>
          <a:effectRef idx="0">
            <a:schemeClr val="accent1"/>
          </a:effectRef>
          <a:fontRef idx="minor">
            <a:schemeClr val="tx1"/>
          </a:fontRef>
        </p:style>
      </p:cxnSp>
      <p:sp>
        <p:nvSpPr>
          <p:cNvPr id="44" name="Rectangle 43">
            <a:extLst>
              <a:ext uri="{FF2B5EF4-FFF2-40B4-BE49-F238E27FC236}">
                <a16:creationId xmlns:a16="http://schemas.microsoft.com/office/drawing/2014/main" id="{D5D80D24-F0F5-76CE-2CBE-E5F78A9CBB76}"/>
              </a:ext>
            </a:extLst>
          </p:cNvPr>
          <p:cNvSpPr/>
          <p:nvPr/>
        </p:nvSpPr>
        <p:spPr>
          <a:xfrm>
            <a:off x="7574843" y="2971797"/>
            <a:ext cx="79022" cy="112889"/>
          </a:xfrm>
          <a:prstGeom prst="rect">
            <a:avLst/>
          </a:prstGeom>
          <a:solidFill>
            <a:schemeClr val="accent1">
              <a:lumMod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45" name="TextBox 44">
            <a:extLst>
              <a:ext uri="{FF2B5EF4-FFF2-40B4-BE49-F238E27FC236}">
                <a16:creationId xmlns:a16="http://schemas.microsoft.com/office/drawing/2014/main" id="{C4594AC0-C1C0-6319-C6F2-C84BEF43B9A8}"/>
              </a:ext>
            </a:extLst>
          </p:cNvPr>
          <p:cNvSpPr txBox="1"/>
          <p:nvPr/>
        </p:nvSpPr>
        <p:spPr>
          <a:xfrm>
            <a:off x="7779752" y="940472"/>
            <a:ext cx="1758687" cy="1200329"/>
          </a:xfrm>
          <a:prstGeom prst="rect">
            <a:avLst/>
          </a:prstGeom>
          <a:noFill/>
        </p:spPr>
        <p:txBody>
          <a:bodyPr wrap="none" rtlCol="0">
            <a:spAutoFit/>
          </a:bodyPr>
          <a:lstStyle/>
          <a:p>
            <a:r>
              <a:rPr lang="en-US" dirty="0"/>
              <a:t>Maxwell:</a:t>
            </a:r>
          </a:p>
          <a:p>
            <a:r>
              <a:rPr lang="en-US" dirty="0"/>
              <a:t>Light is an </a:t>
            </a:r>
          </a:p>
          <a:p>
            <a:r>
              <a:rPr lang="en-US" dirty="0"/>
              <a:t>Electromagnetic </a:t>
            </a:r>
          </a:p>
          <a:p>
            <a:r>
              <a:rPr lang="en-US" dirty="0"/>
              <a:t>Wave</a:t>
            </a:r>
          </a:p>
        </p:txBody>
      </p:sp>
      <p:cxnSp>
        <p:nvCxnSpPr>
          <p:cNvPr id="46" name="Straight Connector 45">
            <a:extLst>
              <a:ext uri="{FF2B5EF4-FFF2-40B4-BE49-F238E27FC236}">
                <a16:creationId xmlns:a16="http://schemas.microsoft.com/office/drawing/2014/main" id="{DC0CF3B9-8458-BD56-AC3D-5936D6F8457A}"/>
              </a:ext>
            </a:extLst>
          </p:cNvPr>
          <p:cNvCxnSpPr>
            <a:cxnSpLocks/>
            <a:endCxn id="44" idx="0"/>
          </p:cNvCxnSpPr>
          <p:nvPr/>
        </p:nvCxnSpPr>
        <p:spPr>
          <a:xfrm flipH="1">
            <a:off x="7614354" y="2102087"/>
            <a:ext cx="406670" cy="869710"/>
          </a:xfrm>
          <a:prstGeom prst="line">
            <a:avLst/>
          </a:prstGeom>
        </p:spPr>
        <p:style>
          <a:lnRef idx="1">
            <a:schemeClr val="accent1"/>
          </a:lnRef>
          <a:fillRef idx="0">
            <a:schemeClr val="accent1"/>
          </a:fillRef>
          <a:effectRef idx="0">
            <a:schemeClr val="accent1"/>
          </a:effectRef>
          <a:fontRef idx="minor">
            <a:schemeClr val="tx1"/>
          </a:fontRef>
        </p:style>
      </p:cxnSp>
      <p:sp>
        <p:nvSpPr>
          <p:cNvPr id="49" name="Rectangle 48">
            <a:extLst>
              <a:ext uri="{FF2B5EF4-FFF2-40B4-BE49-F238E27FC236}">
                <a16:creationId xmlns:a16="http://schemas.microsoft.com/office/drawing/2014/main" id="{9F7FFC7D-DC00-E95C-25B6-EDFE1D5C6CB1}"/>
              </a:ext>
            </a:extLst>
          </p:cNvPr>
          <p:cNvSpPr/>
          <p:nvPr/>
        </p:nvSpPr>
        <p:spPr>
          <a:xfrm>
            <a:off x="7840133" y="2971797"/>
            <a:ext cx="79022" cy="112889"/>
          </a:xfrm>
          <a:prstGeom prst="rect">
            <a:avLst/>
          </a:prstGeom>
          <a:solidFill>
            <a:schemeClr val="accent2">
              <a:lumMod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50" name="TextBox 49">
            <a:extLst>
              <a:ext uri="{FF2B5EF4-FFF2-40B4-BE49-F238E27FC236}">
                <a16:creationId xmlns:a16="http://schemas.microsoft.com/office/drawing/2014/main" id="{F29FD18A-9834-02F0-DD53-1CFE76316109}"/>
              </a:ext>
            </a:extLst>
          </p:cNvPr>
          <p:cNvSpPr txBox="1"/>
          <p:nvPr/>
        </p:nvSpPr>
        <p:spPr>
          <a:xfrm>
            <a:off x="8313263" y="3787043"/>
            <a:ext cx="1651478" cy="923330"/>
          </a:xfrm>
          <a:prstGeom prst="rect">
            <a:avLst/>
          </a:prstGeom>
          <a:noFill/>
        </p:spPr>
        <p:txBody>
          <a:bodyPr wrap="none" rtlCol="0">
            <a:spAutoFit/>
          </a:bodyPr>
          <a:lstStyle/>
          <a:p>
            <a:r>
              <a:rPr lang="en-US" dirty="0"/>
              <a:t>Plank:</a:t>
            </a:r>
          </a:p>
          <a:p>
            <a:r>
              <a:rPr lang="en-US" dirty="0"/>
              <a:t>Light is a </a:t>
            </a:r>
          </a:p>
          <a:p>
            <a:r>
              <a:rPr lang="en-US" dirty="0"/>
              <a:t>quantized wave</a:t>
            </a:r>
          </a:p>
        </p:txBody>
      </p:sp>
      <p:cxnSp>
        <p:nvCxnSpPr>
          <p:cNvPr id="51" name="Straight Connector 50">
            <a:extLst>
              <a:ext uri="{FF2B5EF4-FFF2-40B4-BE49-F238E27FC236}">
                <a16:creationId xmlns:a16="http://schemas.microsoft.com/office/drawing/2014/main" id="{A7384554-77F0-64FE-1D08-8AF2F8FCF866}"/>
              </a:ext>
            </a:extLst>
          </p:cNvPr>
          <p:cNvCxnSpPr>
            <a:cxnSpLocks/>
          </p:cNvCxnSpPr>
          <p:nvPr/>
        </p:nvCxnSpPr>
        <p:spPr>
          <a:xfrm flipH="1" flipV="1">
            <a:off x="7886287" y="3075038"/>
            <a:ext cx="769285" cy="722496"/>
          </a:xfrm>
          <a:prstGeom prst="line">
            <a:avLst/>
          </a:prstGeom>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6698BA5E-C21E-D128-E531-07E4AD91C7C1}"/>
              </a:ext>
            </a:extLst>
          </p:cNvPr>
          <p:cNvCxnSpPr>
            <a:cxnSpLocks/>
          </p:cNvCxnSpPr>
          <p:nvPr/>
        </p:nvCxnSpPr>
        <p:spPr>
          <a:xfrm flipH="1">
            <a:off x="7969956" y="2216207"/>
            <a:ext cx="1432685" cy="741476"/>
          </a:xfrm>
          <a:prstGeom prst="line">
            <a:avLst/>
          </a:prstGeom>
        </p:spPr>
        <p:style>
          <a:lnRef idx="1">
            <a:schemeClr val="accent1"/>
          </a:lnRef>
          <a:fillRef idx="0">
            <a:schemeClr val="accent1"/>
          </a:fillRef>
          <a:effectRef idx="0">
            <a:schemeClr val="accent1"/>
          </a:effectRef>
          <a:fontRef idx="minor">
            <a:schemeClr val="tx1"/>
          </a:fontRef>
        </p:style>
      </p:cxnSp>
      <p:sp>
        <p:nvSpPr>
          <p:cNvPr id="56" name="Rectangle 55">
            <a:extLst>
              <a:ext uri="{FF2B5EF4-FFF2-40B4-BE49-F238E27FC236}">
                <a16:creationId xmlns:a16="http://schemas.microsoft.com/office/drawing/2014/main" id="{94BF7946-113F-391D-0D77-8963963A6015}"/>
              </a:ext>
            </a:extLst>
          </p:cNvPr>
          <p:cNvSpPr/>
          <p:nvPr/>
        </p:nvSpPr>
        <p:spPr>
          <a:xfrm>
            <a:off x="7930445" y="2971797"/>
            <a:ext cx="79022" cy="112889"/>
          </a:xfrm>
          <a:prstGeom prst="rect">
            <a:avLst/>
          </a:prstGeom>
          <a:solidFill>
            <a:schemeClr val="accent4">
              <a:lumMod val="75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57" name="TextBox 56">
            <a:extLst>
              <a:ext uri="{FF2B5EF4-FFF2-40B4-BE49-F238E27FC236}">
                <a16:creationId xmlns:a16="http://schemas.microsoft.com/office/drawing/2014/main" id="{97E56979-B285-4655-5923-AFE03681289A}"/>
              </a:ext>
            </a:extLst>
          </p:cNvPr>
          <p:cNvSpPr txBox="1"/>
          <p:nvPr/>
        </p:nvSpPr>
        <p:spPr>
          <a:xfrm>
            <a:off x="9544730" y="1413366"/>
            <a:ext cx="1741246" cy="1200329"/>
          </a:xfrm>
          <a:prstGeom prst="rect">
            <a:avLst/>
          </a:prstGeom>
          <a:noFill/>
        </p:spPr>
        <p:txBody>
          <a:bodyPr wrap="none" rtlCol="0">
            <a:spAutoFit/>
          </a:bodyPr>
          <a:lstStyle/>
          <a:p>
            <a:r>
              <a:rPr lang="en-US" dirty="0"/>
              <a:t>Einstein:</a:t>
            </a:r>
          </a:p>
          <a:p>
            <a:r>
              <a:rPr lang="en-US" dirty="0"/>
              <a:t>Light is a </a:t>
            </a:r>
          </a:p>
          <a:p>
            <a:r>
              <a:rPr lang="en-US" dirty="0"/>
              <a:t>limited EM wave</a:t>
            </a:r>
          </a:p>
          <a:p>
            <a:r>
              <a:rPr lang="en-US" dirty="0"/>
              <a:t>called a Photon</a:t>
            </a:r>
          </a:p>
        </p:txBody>
      </p:sp>
      <p:sp>
        <p:nvSpPr>
          <p:cNvPr id="58" name="TextBox 57">
            <a:extLst>
              <a:ext uri="{FF2B5EF4-FFF2-40B4-BE49-F238E27FC236}">
                <a16:creationId xmlns:a16="http://schemas.microsoft.com/office/drawing/2014/main" id="{84A9BBC8-7E2E-B7F0-3AEF-EBDC3A081ED8}"/>
              </a:ext>
            </a:extLst>
          </p:cNvPr>
          <p:cNvSpPr txBox="1"/>
          <p:nvPr/>
        </p:nvSpPr>
        <p:spPr>
          <a:xfrm>
            <a:off x="10433313" y="3510044"/>
            <a:ext cx="1365567" cy="646331"/>
          </a:xfrm>
          <a:prstGeom prst="rect">
            <a:avLst/>
          </a:prstGeom>
          <a:noFill/>
        </p:spPr>
        <p:txBody>
          <a:bodyPr wrap="none" rtlCol="0">
            <a:spAutoFit/>
          </a:bodyPr>
          <a:lstStyle/>
          <a:p>
            <a:r>
              <a:rPr lang="en-US" dirty="0"/>
              <a:t>You:</a:t>
            </a:r>
          </a:p>
          <a:p>
            <a:r>
              <a:rPr lang="en-US" dirty="0"/>
              <a:t>Studied light</a:t>
            </a:r>
          </a:p>
        </p:txBody>
      </p:sp>
      <p:sp>
        <p:nvSpPr>
          <p:cNvPr id="59" name="Rectangle 58">
            <a:extLst>
              <a:ext uri="{FF2B5EF4-FFF2-40B4-BE49-F238E27FC236}">
                <a16:creationId xmlns:a16="http://schemas.microsoft.com/office/drawing/2014/main" id="{B70FE05C-479B-0C59-32FC-B66072328CF0}"/>
              </a:ext>
            </a:extLst>
          </p:cNvPr>
          <p:cNvSpPr/>
          <p:nvPr/>
        </p:nvSpPr>
        <p:spPr>
          <a:xfrm>
            <a:off x="9917288" y="2971797"/>
            <a:ext cx="79022" cy="112889"/>
          </a:xfrm>
          <a:prstGeom prst="rect">
            <a:avLst/>
          </a:prstGeom>
          <a:solidFill>
            <a:srgbClr val="FF0000"/>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cxnSp>
        <p:nvCxnSpPr>
          <p:cNvPr id="60" name="Straight Connector 59">
            <a:extLst>
              <a:ext uri="{FF2B5EF4-FFF2-40B4-BE49-F238E27FC236}">
                <a16:creationId xmlns:a16="http://schemas.microsoft.com/office/drawing/2014/main" id="{EC126B58-39F7-2086-C5A9-41F6A71EECFE}"/>
              </a:ext>
            </a:extLst>
          </p:cNvPr>
          <p:cNvCxnSpPr>
            <a:cxnSpLocks/>
          </p:cNvCxnSpPr>
          <p:nvPr/>
        </p:nvCxnSpPr>
        <p:spPr>
          <a:xfrm flipH="1" flipV="1">
            <a:off x="10007600" y="3069362"/>
            <a:ext cx="824820" cy="496745"/>
          </a:xfrm>
          <a:prstGeom prst="line">
            <a:avLst/>
          </a:prstGeom>
        </p:spPr>
        <p:style>
          <a:lnRef idx="1">
            <a:schemeClr val="accent1"/>
          </a:lnRef>
          <a:fillRef idx="0">
            <a:schemeClr val="accent1"/>
          </a:fillRef>
          <a:effectRef idx="0">
            <a:schemeClr val="accent1"/>
          </a:effectRef>
          <a:fontRef idx="minor">
            <a:schemeClr val="tx1"/>
          </a:fontRef>
        </p:style>
      </p:cxnSp>
      <p:sp>
        <p:nvSpPr>
          <p:cNvPr id="64" name="TextBox 63">
            <a:extLst>
              <a:ext uri="{FF2B5EF4-FFF2-40B4-BE49-F238E27FC236}">
                <a16:creationId xmlns:a16="http://schemas.microsoft.com/office/drawing/2014/main" id="{4FBC2659-DB72-D19E-DF88-9857BBE0776E}"/>
              </a:ext>
            </a:extLst>
          </p:cNvPr>
          <p:cNvSpPr txBox="1"/>
          <p:nvPr/>
        </p:nvSpPr>
        <p:spPr>
          <a:xfrm flipH="1">
            <a:off x="2806861" y="3908862"/>
            <a:ext cx="1381314" cy="1200329"/>
          </a:xfrm>
          <a:prstGeom prst="rect">
            <a:avLst/>
          </a:prstGeom>
          <a:noFill/>
        </p:spPr>
        <p:txBody>
          <a:bodyPr wrap="square" rtlCol="0">
            <a:spAutoFit/>
          </a:bodyPr>
          <a:lstStyle/>
          <a:p>
            <a:r>
              <a:rPr lang="en-US" dirty="0"/>
              <a:t>Romer: measures speed of light</a:t>
            </a:r>
          </a:p>
        </p:txBody>
      </p:sp>
      <p:cxnSp>
        <p:nvCxnSpPr>
          <p:cNvPr id="65" name="Straight Connector 64">
            <a:extLst>
              <a:ext uri="{FF2B5EF4-FFF2-40B4-BE49-F238E27FC236}">
                <a16:creationId xmlns:a16="http://schemas.microsoft.com/office/drawing/2014/main" id="{35D37696-2C35-0CF5-221D-80E038C8D917}"/>
              </a:ext>
            </a:extLst>
          </p:cNvPr>
          <p:cNvCxnSpPr>
            <a:cxnSpLocks/>
            <a:endCxn id="63" idx="1"/>
          </p:cNvCxnSpPr>
          <p:nvPr/>
        </p:nvCxnSpPr>
        <p:spPr>
          <a:xfrm flipV="1">
            <a:off x="3228622" y="3028242"/>
            <a:ext cx="807152" cy="880620"/>
          </a:xfrm>
          <a:prstGeom prst="line">
            <a:avLst/>
          </a:prstGeom>
        </p:spPr>
        <p:style>
          <a:lnRef idx="1">
            <a:schemeClr val="accent1"/>
          </a:lnRef>
          <a:fillRef idx="0">
            <a:schemeClr val="accent1"/>
          </a:fillRef>
          <a:effectRef idx="0">
            <a:schemeClr val="accent1"/>
          </a:effectRef>
          <a:fontRef idx="minor">
            <a:schemeClr val="tx1"/>
          </a:fontRef>
        </p:style>
      </p:cxnSp>
      <p:sp>
        <p:nvSpPr>
          <p:cNvPr id="68" name="Rectangle 67">
            <a:extLst>
              <a:ext uri="{FF2B5EF4-FFF2-40B4-BE49-F238E27FC236}">
                <a16:creationId xmlns:a16="http://schemas.microsoft.com/office/drawing/2014/main" id="{741BF229-2807-01B6-DD6E-AC6886982401}"/>
              </a:ext>
            </a:extLst>
          </p:cNvPr>
          <p:cNvSpPr/>
          <p:nvPr/>
        </p:nvSpPr>
        <p:spPr>
          <a:xfrm>
            <a:off x="2438401" y="2971797"/>
            <a:ext cx="79022" cy="112889"/>
          </a:xfrm>
          <a:prstGeom prst="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TextBox 68">
            <a:extLst>
              <a:ext uri="{FF2B5EF4-FFF2-40B4-BE49-F238E27FC236}">
                <a16:creationId xmlns:a16="http://schemas.microsoft.com/office/drawing/2014/main" id="{45EF52DC-E9CB-D30B-CD0A-62CBE9D39947}"/>
              </a:ext>
            </a:extLst>
          </p:cNvPr>
          <p:cNvSpPr txBox="1"/>
          <p:nvPr/>
        </p:nvSpPr>
        <p:spPr>
          <a:xfrm flipH="1">
            <a:off x="939967" y="3429000"/>
            <a:ext cx="1381314" cy="1477328"/>
          </a:xfrm>
          <a:prstGeom prst="rect">
            <a:avLst/>
          </a:prstGeom>
          <a:noFill/>
        </p:spPr>
        <p:txBody>
          <a:bodyPr wrap="square" rtlCol="0">
            <a:spAutoFit/>
          </a:bodyPr>
          <a:lstStyle/>
          <a:p>
            <a:r>
              <a:rPr lang="en-US" dirty="0"/>
              <a:t>Galileo: Doesn’t measure speed of light</a:t>
            </a:r>
          </a:p>
        </p:txBody>
      </p:sp>
      <p:cxnSp>
        <p:nvCxnSpPr>
          <p:cNvPr id="70" name="Straight Connector 69">
            <a:extLst>
              <a:ext uri="{FF2B5EF4-FFF2-40B4-BE49-F238E27FC236}">
                <a16:creationId xmlns:a16="http://schemas.microsoft.com/office/drawing/2014/main" id="{D349C98C-4B3E-B39D-0946-DD29C9A931F4}"/>
              </a:ext>
            </a:extLst>
          </p:cNvPr>
          <p:cNvCxnSpPr>
            <a:cxnSpLocks/>
            <a:endCxn id="68" idx="2"/>
          </p:cNvCxnSpPr>
          <p:nvPr/>
        </p:nvCxnSpPr>
        <p:spPr>
          <a:xfrm flipV="1">
            <a:off x="1461911" y="3084686"/>
            <a:ext cx="1016001" cy="376996"/>
          </a:xfrm>
          <a:prstGeom prst="line">
            <a:avLst/>
          </a:prstGeom>
        </p:spPr>
        <p:style>
          <a:lnRef idx="1">
            <a:schemeClr val="accent1"/>
          </a:lnRef>
          <a:fillRef idx="0">
            <a:schemeClr val="accent1"/>
          </a:fillRef>
          <a:effectRef idx="0">
            <a:schemeClr val="accent1"/>
          </a:effectRef>
          <a:fontRef idx="minor">
            <a:schemeClr val="tx1"/>
          </a:fontRef>
        </p:style>
      </p:cxnSp>
      <p:sp>
        <p:nvSpPr>
          <p:cNvPr id="72" name="Rectangle 71">
            <a:extLst>
              <a:ext uri="{FF2B5EF4-FFF2-40B4-BE49-F238E27FC236}">
                <a16:creationId xmlns:a16="http://schemas.microsoft.com/office/drawing/2014/main" id="{41FC01AA-B47B-3B80-0A7C-3DF5FA88CA24}"/>
              </a:ext>
            </a:extLst>
          </p:cNvPr>
          <p:cNvSpPr/>
          <p:nvPr/>
        </p:nvSpPr>
        <p:spPr>
          <a:xfrm>
            <a:off x="6952260" y="2971797"/>
            <a:ext cx="79022" cy="112889"/>
          </a:xfrm>
          <a:prstGeom prst="rect">
            <a:avLst/>
          </a:prstGeom>
          <a:solidFill>
            <a:srgbClr val="7030A0"/>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73" name="TextBox 72">
            <a:extLst>
              <a:ext uri="{FF2B5EF4-FFF2-40B4-BE49-F238E27FC236}">
                <a16:creationId xmlns:a16="http://schemas.microsoft.com/office/drawing/2014/main" id="{BD247517-1D1F-28B8-BAD7-B5B2B052DA74}"/>
              </a:ext>
            </a:extLst>
          </p:cNvPr>
          <p:cNvSpPr txBox="1"/>
          <p:nvPr/>
        </p:nvSpPr>
        <p:spPr>
          <a:xfrm flipH="1">
            <a:off x="7050208" y="4509026"/>
            <a:ext cx="1203788" cy="1200329"/>
          </a:xfrm>
          <a:prstGeom prst="rect">
            <a:avLst/>
          </a:prstGeom>
          <a:noFill/>
        </p:spPr>
        <p:txBody>
          <a:bodyPr wrap="square" rtlCol="0">
            <a:spAutoFit/>
          </a:bodyPr>
          <a:lstStyle/>
          <a:p>
            <a:r>
              <a:rPr lang="en-US" dirty="0"/>
              <a:t>Fizeau: Measures speed of light</a:t>
            </a:r>
          </a:p>
        </p:txBody>
      </p:sp>
      <p:cxnSp>
        <p:nvCxnSpPr>
          <p:cNvPr id="75" name="Straight Connector 74">
            <a:extLst>
              <a:ext uri="{FF2B5EF4-FFF2-40B4-BE49-F238E27FC236}">
                <a16:creationId xmlns:a16="http://schemas.microsoft.com/office/drawing/2014/main" id="{4822D019-3763-3432-FB6A-5CC2A463CD9E}"/>
              </a:ext>
            </a:extLst>
          </p:cNvPr>
          <p:cNvCxnSpPr>
            <a:cxnSpLocks/>
            <a:endCxn id="72" idx="2"/>
          </p:cNvCxnSpPr>
          <p:nvPr/>
        </p:nvCxnSpPr>
        <p:spPr>
          <a:xfrm flipH="1" flipV="1">
            <a:off x="6991771" y="3084686"/>
            <a:ext cx="390493" cy="152569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1888168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ooter Placeholder 4"/>
          <p:cNvSpPr>
            <a:spLocks noGrp="1"/>
          </p:cNvSpPr>
          <p:nvPr>
            <p:ph type="ftr" sz="quarter" idx="11"/>
          </p:nvPr>
        </p:nvSpPr>
        <p:spPr/>
        <p:txBody>
          <a:bodyPr/>
          <a:lstStyle/>
          <a:p>
            <a:r>
              <a:rPr lang="en-US"/>
              <a:t>R. Todd Lines</a:t>
            </a:r>
          </a:p>
        </p:txBody>
      </p:sp>
      <p:sp>
        <p:nvSpPr>
          <p:cNvPr id="99332" name="Rectangle 4"/>
          <p:cNvSpPr>
            <a:spLocks noGrp="1" noChangeArrowheads="1"/>
          </p:cNvSpPr>
          <p:nvPr>
            <p:ph type="ctrTitle"/>
          </p:nvPr>
        </p:nvSpPr>
        <p:spPr/>
        <p:txBody>
          <a:bodyPr/>
          <a:lstStyle/>
          <a:p>
            <a:r>
              <a:rPr lang="en-US" dirty="0"/>
              <a:t>Measurement of the Speed of Light</a:t>
            </a:r>
          </a:p>
        </p:txBody>
      </p:sp>
      <p:sp>
        <p:nvSpPr>
          <p:cNvPr id="99333" name="Rectangle 5"/>
          <p:cNvSpPr>
            <a:spLocks noGrp="1" noChangeArrowheads="1"/>
          </p:cNvSpPr>
          <p:nvPr>
            <p:ph type="subTitle" idx="1"/>
          </p:nvPr>
        </p:nvSpPr>
        <p:spPr/>
        <p:txBody>
          <a:bodyPr/>
          <a:lstStyle/>
          <a:p>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ooter Placeholder 4"/>
          <p:cNvSpPr>
            <a:spLocks noGrp="1"/>
          </p:cNvSpPr>
          <p:nvPr>
            <p:ph type="ftr" sz="quarter" idx="11"/>
          </p:nvPr>
        </p:nvSpPr>
        <p:spPr/>
        <p:txBody>
          <a:bodyPr/>
          <a:lstStyle/>
          <a:p>
            <a:r>
              <a:rPr lang="en-US"/>
              <a:t>R. Todd Lines</a:t>
            </a:r>
          </a:p>
        </p:txBody>
      </p:sp>
      <p:sp>
        <p:nvSpPr>
          <p:cNvPr id="10242" name="Rectangle 2"/>
          <p:cNvSpPr>
            <a:spLocks noGrp="1" noChangeArrowheads="1"/>
          </p:cNvSpPr>
          <p:nvPr>
            <p:ph type="title"/>
          </p:nvPr>
        </p:nvSpPr>
        <p:spPr>
          <a:xfrm>
            <a:off x="2743200" y="0"/>
            <a:ext cx="7467600" cy="1143000"/>
          </a:xfrm>
        </p:spPr>
        <p:txBody>
          <a:bodyPr/>
          <a:lstStyle/>
          <a:p>
            <a:r>
              <a:rPr lang="en-US" sz="2800"/>
              <a:t>Measurements of the Speed of Light</a:t>
            </a:r>
          </a:p>
        </p:txBody>
      </p:sp>
      <p:sp>
        <p:nvSpPr>
          <p:cNvPr id="10243" name="Rectangle 3"/>
          <p:cNvSpPr>
            <a:spLocks noGrp="1" noChangeArrowheads="1"/>
          </p:cNvSpPr>
          <p:nvPr>
            <p:ph type="body" idx="1"/>
          </p:nvPr>
        </p:nvSpPr>
        <p:spPr/>
        <p:txBody>
          <a:bodyPr/>
          <a:lstStyle/>
          <a:p>
            <a:r>
              <a:rPr lang="en-US"/>
              <a:t>Since light travels at a very high speed, early attempts to measure its speed were unsuccessful</a:t>
            </a:r>
          </a:p>
          <a:p>
            <a:pPr lvl="1"/>
            <a:r>
              <a:rPr lang="en-US"/>
              <a:t>Remember </a:t>
            </a:r>
            <a:r>
              <a:rPr lang="en-US" i="1"/>
              <a:t>c</a:t>
            </a:r>
            <a:r>
              <a:rPr lang="en-US"/>
              <a:t> = 3.00 x 10</a:t>
            </a:r>
            <a:r>
              <a:rPr lang="en-US" baseline="30000"/>
              <a:t>8</a:t>
            </a:r>
            <a:r>
              <a:rPr lang="en-US"/>
              <a:t> m/s</a:t>
            </a:r>
          </a:p>
          <a:p>
            <a:r>
              <a:rPr lang="en-US"/>
              <a:t>Galileo tried by using two observers separated by about 10 km</a:t>
            </a:r>
          </a:p>
          <a:p>
            <a:pPr lvl="1"/>
            <a:r>
              <a:rPr lang="en-US"/>
              <a:t>The reaction time of the observers was more than the transit time of the light</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Footer Placeholder 5"/>
          <p:cNvSpPr>
            <a:spLocks noGrp="1"/>
          </p:cNvSpPr>
          <p:nvPr>
            <p:ph type="ftr" sz="quarter" idx="11"/>
          </p:nvPr>
        </p:nvSpPr>
        <p:spPr/>
        <p:txBody>
          <a:bodyPr/>
          <a:lstStyle/>
          <a:p>
            <a:r>
              <a:rPr lang="en-US"/>
              <a:t>R. Todd Lines</a:t>
            </a:r>
          </a:p>
        </p:txBody>
      </p:sp>
      <p:sp>
        <p:nvSpPr>
          <p:cNvPr id="11266" name="Rectangle 2"/>
          <p:cNvSpPr>
            <a:spLocks noGrp="1" noChangeArrowheads="1"/>
          </p:cNvSpPr>
          <p:nvPr>
            <p:ph type="title"/>
          </p:nvPr>
        </p:nvSpPr>
        <p:spPr>
          <a:xfrm>
            <a:off x="3124200" y="-152400"/>
            <a:ext cx="6477000" cy="1143000"/>
          </a:xfrm>
        </p:spPr>
        <p:txBody>
          <a:bodyPr/>
          <a:lstStyle/>
          <a:p>
            <a:r>
              <a:rPr lang="en-US" sz="3200"/>
              <a:t>Measurement of the Speed of Light – Roemer’s Method</a:t>
            </a:r>
          </a:p>
        </p:txBody>
      </p:sp>
      <p:sp>
        <p:nvSpPr>
          <p:cNvPr id="11267" name="Rectangle 3"/>
          <p:cNvSpPr>
            <a:spLocks noGrp="1" noChangeArrowheads="1"/>
          </p:cNvSpPr>
          <p:nvPr>
            <p:ph type="body" sz="half" idx="1"/>
          </p:nvPr>
        </p:nvSpPr>
        <p:spPr>
          <a:xfrm>
            <a:off x="2209800" y="1524001"/>
            <a:ext cx="3810000" cy="4459287"/>
          </a:xfrm>
        </p:spPr>
        <p:txBody>
          <a:bodyPr/>
          <a:lstStyle/>
          <a:p>
            <a:r>
              <a:rPr lang="en-US" dirty="0"/>
              <a:t>Ole Roemer (1675) used astronomical observations to estimate the speed of light</a:t>
            </a:r>
          </a:p>
          <a:p>
            <a:r>
              <a:rPr lang="en-US" dirty="0"/>
              <a:t>He used the period of revolution of Io, a moon of Jupiter, as Jupiter revolved around the sun</a:t>
            </a:r>
          </a:p>
        </p:txBody>
      </p:sp>
      <p:sp>
        <p:nvSpPr>
          <p:cNvPr id="2" name="ClipArt Placeholder 1"/>
          <p:cNvSpPr>
            <a:spLocks noGrp="1"/>
          </p:cNvSpPr>
          <p:nvPr>
            <p:ph type="clipArt" sz="half" idx="2"/>
          </p:nvPr>
        </p:nvSpPr>
        <p:spPr/>
        <p:txBody>
          <a:bodyPr/>
          <a:lstStyle/>
          <a:p>
            <a:endParaRPr lang="en-US"/>
          </a:p>
        </p:txBody>
      </p:sp>
      <p:pic>
        <p:nvPicPr>
          <p:cNvPr id="7" name="Picture 2"/>
          <p:cNvPicPr>
            <a:picLocks noChangeAspect="1" noChangeArrowheads="1"/>
          </p:cNvPicPr>
          <p:nvPr/>
        </p:nvPicPr>
        <p:blipFill>
          <a:blip r:embed="rId2" cstate="print"/>
          <a:srcRect/>
          <a:stretch>
            <a:fillRect/>
          </a:stretch>
        </p:blipFill>
        <p:spPr bwMode="auto">
          <a:xfrm>
            <a:off x="7138705" y="1460310"/>
            <a:ext cx="2645188" cy="4693835"/>
          </a:xfrm>
          <a:prstGeom prst="rect">
            <a:avLst/>
          </a:prstGeom>
          <a:noFill/>
          <a:ln w="9525">
            <a:noFill/>
            <a:miter lim="800000"/>
            <a:headEnd/>
            <a:tailEnd/>
          </a:ln>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ooter Placeholder 4"/>
          <p:cNvSpPr>
            <a:spLocks noGrp="1"/>
          </p:cNvSpPr>
          <p:nvPr>
            <p:ph type="ftr" sz="quarter" idx="11"/>
          </p:nvPr>
        </p:nvSpPr>
        <p:spPr/>
        <p:txBody>
          <a:bodyPr/>
          <a:lstStyle/>
          <a:p>
            <a:r>
              <a:rPr lang="en-US"/>
              <a:t>R. Todd Lines</a:t>
            </a:r>
          </a:p>
        </p:txBody>
      </p:sp>
      <p:sp>
        <p:nvSpPr>
          <p:cNvPr id="12290" name="Rectangle 2"/>
          <p:cNvSpPr>
            <a:spLocks noGrp="1" noChangeArrowheads="1"/>
          </p:cNvSpPr>
          <p:nvPr>
            <p:ph type="title"/>
          </p:nvPr>
        </p:nvSpPr>
        <p:spPr/>
        <p:txBody>
          <a:bodyPr/>
          <a:lstStyle/>
          <a:p>
            <a:r>
              <a:rPr lang="en-US"/>
              <a:t>Roemer’s Method, cont.</a:t>
            </a:r>
          </a:p>
        </p:txBody>
      </p:sp>
      <p:sp>
        <p:nvSpPr>
          <p:cNvPr id="12291" name="Rectangle 3"/>
          <p:cNvSpPr>
            <a:spLocks noGrp="1" noChangeArrowheads="1"/>
          </p:cNvSpPr>
          <p:nvPr>
            <p:ph type="body" idx="1"/>
          </p:nvPr>
        </p:nvSpPr>
        <p:spPr>
          <a:xfrm>
            <a:off x="2362200" y="1371600"/>
            <a:ext cx="7772400" cy="4459288"/>
          </a:xfrm>
        </p:spPr>
        <p:txBody>
          <a:bodyPr/>
          <a:lstStyle/>
          <a:p>
            <a:r>
              <a:rPr lang="en-US" sz="3000"/>
              <a:t>The periods of revolution were longer when the Earth was receding from Jupiter</a:t>
            </a:r>
          </a:p>
          <a:p>
            <a:pPr lvl="1"/>
            <a:r>
              <a:rPr lang="en-US" sz="2600"/>
              <a:t>and shorter when the Earth was approaching</a:t>
            </a:r>
          </a:p>
          <a:p>
            <a:r>
              <a:rPr lang="en-US" sz="3000"/>
              <a:t>Using Roemer’s data, Huygens estimated the lower limit of the speed of light to be 2.3 x 10</a:t>
            </a:r>
            <a:r>
              <a:rPr lang="en-US" sz="3000" baseline="30000"/>
              <a:t>8</a:t>
            </a:r>
            <a:r>
              <a:rPr lang="en-US" sz="3000"/>
              <a:t> m/s</a:t>
            </a:r>
          </a:p>
          <a:p>
            <a:pPr lvl="1"/>
            <a:r>
              <a:rPr lang="en-US" sz="2600"/>
              <a:t>This was important because it demonstrated that light has a finite speed as well as giving an estimate of that speed</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ooter Placeholder 4"/>
          <p:cNvSpPr>
            <a:spLocks noGrp="1"/>
          </p:cNvSpPr>
          <p:nvPr>
            <p:ph type="ftr" sz="quarter" idx="11"/>
          </p:nvPr>
        </p:nvSpPr>
        <p:spPr/>
        <p:txBody>
          <a:bodyPr/>
          <a:lstStyle/>
          <a:p>
            <a:r>
              <a:rPr lang="en-US"/>
              <a:t>R. Todd Lines</a:t>
            </a:r>
          </a:p>
        </p:txBody>
      </p:sp>
      <p:sp>
        <p:nvSpPr>
          <p:cNvPr id="13314" name="Rectangle 2"/>
          <p:cNvSpPr>
            <a:spLocks noGrp="1" noChangeArrowheads="1"/>
          </p:cNvSpPr>
          <p:nvPr>
            <p:ph type="title"/>
          </p:nvPr>
        </p:nvSpPr>
        <p:spPr>
          <a:xfrm>
            <a:off x="3124200" y="-152400"/>
            <a:ext cx="6477000" cy="1143000"/>
          </a:xfrm>
        </p:spPr>
        <p:txBody>
          <a:bodyPr/>
          <a:lstStyle/>
          <a:p>
            <a:r>
              <a:rPr lang="en-US" sz="3200"/>
              <a:t>Measurements of the Speed of Light – Fizeau’s Method</a:t>
            </a:r>
          </a:p>
        </p:txBody>
      </p:sp>
      <p:sp>
        <p:nvSpPr>
          <p:cNvPr id="13315" name="Rectangle 3"/>
          <p:cNvSpPr>
            <a:spLocks noGrp="1" noChangeArrowheads="1"/>
          </p:cNvSpPr>
          <p:nvPr>
            <p:ph type="body" idx="1"/>
          </p:nvPr>
        </p:nvSpPr>
        <p:spPr>
          <a:xfrm>
            <a:off x="2706688" y="2017714"/>
            <a:ext cx="7772400" cy="4459287"/>
          </a:xfrm>
        </p:spPr>
        <p:txBody>
          <a:bodyPr/>
          <a:lstStyle/>
          <a:p>
            <a:pPr>
              <a:lnSpc>
                <a:spcPct val="90000"/>
              </a:lnSpc>
            </a:pPr>
            <a:r>
              <a:rPr lang="en-US"/>
              <a:t>This was the first successful method for measuring the speed of light by means of a purely terrestrial technique</a:t>
            </a:r>
          </a:p>
          <a:p>
            <a:pPr>
              <a:lnSpc>
                <a:spcPct val="90000"/>
              </a:lnSpc>
            </a:pPr>
            <a:r>
              <a:rPr lang="en-US"/>
              <a:t>It was developed in 1849 by Armand Fizeau</a:t>
            </a:r>
          </a:p>
          <a:p>
            <a:pPr>
              <a:lnSpc>
                <a:spcPct val="90000"/>
              </a:lnSpc>
            </a:pPr>
            <a:r>
              <a:rPr lang="en-US"/>
              <a:t>He used a rotating toothed wheel</a:t>
            </a:r>
          </a:p>
          <a:p>
            <a:pPr>
              <a:lnSpc>
                <a:spcPct val="90000"/>
              </a:lnSpc>
            </a:pPr>
            <a:r>
              <a:rPr lang="en-US"/>
              <a:t>The distance between the wheel (considered to be the source) and a mirror was known</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4ECEE6-69B7-2ADA-9696-4F5754B55292}"/>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076849AD-C83B-623E-C77A-F8925F8EF930}"/>
              </a:ext>
            </a:extLst>
          </p:cNvPr>
          <p:cNvSpPr/>
          <p:nvPr/>
        </p:nvSpPr>
        <p:spPr>
          <a:xfrm>
            <a:off x="620889" y="2971797"/>
            <a:ext cx="10950222" cy="112889"/>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Rectangle 62">
            <a:extLst>
              <a:ext uri="{FF2B5EF4-FFF2-40B4-BE49-F238E27FC236}">
                <a16:creationId xmlns:a16="http://schemas.microsoft.com/office/drawing/2014/main" id="{0533F73B-5766-42A0-816A-8F7C434159D6}"/>
              </a:ext>
            </a:extLst>
          </p:cNvPr>
          <p:cNvSpPr/>
          <p:nvPr/>
        </p:nvSpPr>
        <p:spPr>
          <a:xfrm>
            <a:off x="4035774" y="2971797"/>
            <a:ext cx="79022" cy="112889"/>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A452F68C-9FF5-065A-D5A9-7834FE966018}"/>
              </a:ext>
            </a:extLst>
          </p:cNvPr>
          <p:cNvSpPr txBox="1"/>
          <p:nvPr/>
        </p:nvSpPr>
        <p:spPr>
          <a:xfrm>
            <a:off x="2066875" y="3384224"/>
            <a:ext cx="652743" cy="369332"/>
          </a:xfrm>
          <a:prstGeom prst="rect">
            <a:avLst/>
          </a:prstGeom>
          <a:noFill/>
        </p:spPr>
        <p:txBody>
          <a:bodyPr wrap="none" rtlCol="0">
            <a:spAutoFit/>
          </a:bodyPr>
          <a:lstStyle/>
          <a:p>
            <a:r>
              <a:rPr lang="en-US" dirty="0"/>
              <a:t>1600</a:t>
            </a:r>
          </a:p>
        </p:txBody>
      </p:sp>
      <p:sp>
        <p:nvSpPr>
          <p:cNvPr id="6" name="TextBox 5">
            <a:extLst>
              <a:ext uri="{FF2B5EF4-FFF2-40B4-BE49-F238E27FC236}">
                <a16:creationId xmlns:a16="http://schemas.microsoft.com/office/drawing/2014/main" id="{78B987DC-1ED4-3DC7-6521-EA7CB38BD28C}"/>
              </a:ext>
            </a:extLst>
          </p:cNvPr>
          <p:cNvSpPr txBox="1"/>
          <p:nvPr/>
        </p:nvSpPr>
        <p:spPr>
          <a:xfrm>
            <a:off x="3923898" y="3417711"/>
            <a:ext cx="2194683" cy="369332"/>
          </a:xfrm>
          <a:prstGeom prst="rect">
            <a:avLst/>
          </a:prstGeom>
          <a:noFill/>
        </p:spPr>
        <p:txBody>
          <a:bodyPr wrap="square" rtlCol="0">
            <a:spAutoFit/>
          </a:bodyPr>
          <a:lstStyle/>
          <a:p>
            <a:r>
              <a:rPr lang="en-US" dirty="0"/>
              <a:t>1700</a:t>
            </a:r>
          </a:p>
        </p:txBody>
      </p:sp>
      <p:sp>
        <p:nvSpPr>
          <p:cNvPr id="7" name="TextBox 6">
            <a:extLst>
              <a:ext uri="{FF2B5EF4-FFF2-40B4-BE49-F238E27FC236}">
                <a16:creationId xmlns:a16="http://schemas.microsoft.com/office/drawing/2014/main" id="{0EBFA86A-4D67-6782-6212-D37C9D88F86F}"/>
              </a:ext>
            </a:extLst>
          </p:cNvPr>
          <p:cNvSpPr txBox="1"/>
          <p:nvPr/>
        </p:nvSpPr>
        <p:spPr>
          <a:xfrm>
            <a:off x="5792209" y="3417711"/>
            <a:ext cx="652743" cy="369332"/>
          </a:xfrm>
          <a:prstGeom prst="rect">
            <a:avLst/>
          </a:prstGeom>
          <a:noFill/>
        </p:spPr>
        <p:txBody>
          <a:bodyPr wrap="none" rtlCol="0">
            <a:spAutoFit/>
          </a:bodyPr>
          <a:lstStyle/>
          <a:p>
            <a:r>
              <a:rPr lang="en-US" dirty="0"/>
              <a:t>1800</a:t>
            </a:r>
          </a:p>
        </p:txBody>
      </p:sp>
      <p:sp>
        <p:nvSpPr>
          <p:cNvPr id="8" name="TextBox 7">
            <a:extLst>
              <a:ext uri="{FF2B5EF4-FFF2-40B4-BE49-F238E27FC236}">
                <a16:creationId xmlns:a16="http://schemas.microsoft.com/office/drawing/2014/main" id="{87E95873-EDC4-C3B1-269A-19678A0282FB}"/>
              </a:ext>
            </a:extLst>
          </p:cNvPr>
          <p:cNvSpPr txBox="1"/>
          <p:nvPr/>
        </p:nvSpPr>
        <p:spPr>
          <a:xfrm>
            <a:off x="7541986" y="3417711"/>
            <a:ext cx="652743" cy="369332"/>
          </a:xfrm>
          <a:prstGeom prst="rect">
            <a:avLst/>
          </a:prstGeom>
          <a:noFill/>
        </p:spPr>
        <p:txBody>
          <a:bodyPr wrap="none" rtlCol="0">
            <a:spAutoFit/>
          </a:bodyPr>
          <a:lstStyle/>
          <a:p>
            <a:r>
              <a:rPr lang="en-US" dirty="0"/>
              <a:t>1900</a:t>
            </a:r>
          </a:p>
        </p:txBody>
      </p:sp>
      <p:sp>
        <p:nvSpPr>
          <p:cNvPr id="9" name="TextBox 8">
            <a:extLst>
              <a:ext uri="{FF2B5EF4-FFF2-40B4-BE49-F238E27FC236}">
                <a16:creationId xmlns:a16="http://schemas.microsoft.com/office/drawing/2014/main" id="{E8389A93-691F-5C8B-D0AC-851C00F0496F}"/>
              </a:ext>
            </a:extLst>
          </p:cNvPr>
          <p:cNvSpPr txBox="1"/>
          <p:nvPr/>
        </p:nvSpPr>
        <p:spPr>
          <a:xfrm>
            <a:off x="9347201" y="3417711"/>
            <a:ext cx="652743" cy="369332"/>
          </a:xfrm>
          <a:prstGeom prst="rect">
            <a:avLst/>
          </a:prstGeom>
          <a:noFill/>
        </p:spPr>
        <p:txBody>
          <a:bodyPr wrap="none" rtlCol="0">
            <a:spAutoFit/>
          </a:bodyPr>
          <a:lstStyle/>
          <a:p>
            <a:r>
              <a:rPr lang="en-US" dirty="0"/>
              <a:t>2000</a:t>
            </a:r>
          </a:p>
        </p:txBody>
      </p:sp>
      <p:sp>
        <p:nvSpPr>
          <p:cNvPr id="10" name="TextBox 9">
            <a:extLst>
              <a:ext uri="{FF2B5EF4-FFF2-40B4-BE49-F238E27FC236}">
                <a16:creationId xmlns:a16="http://schemas.microsoft.com/office/drawing/2014/main" id="{7D92F8BA-1BC4-979B-287F-D23F253BF453}"/>
              </a:ext>
            </a:extLst>
          </p:cNvPr>
          <p:cNvSpPr txBox="1"/>
          <p:nvPr/>
        </p:nvSpPr>
        <p:spPr>
          <a:xfrm flipH="1">
            <a:off x="2066875" y="1777117"/>
            <a:ext cx="1381314" cy="923330"/>
          </a:xfrm>
          <a:prstGeom prst="rect">
            <a:avLst/>
          </a:prstGeom>
          <a:noFill/>
        </p:spPr>
        <p:txBody>
          <a:bodyPr wrap="square" rtlCol="0">
            <a:spAutoFit/>
          </a:bodyPr>
          <a:lstStyle/>
          <a:p>
            <a:r>
              <a:rPr lang="en-US" dirty="0"/>
              <a:t>Newton: Light is a particle</a:t>
            </a:r>
          </a:p>
        </p:txBody>
      </p:sp>
      <p:sp>
        <p:nvSpPr>
          <p:cNvPr id="11" name="Rectangle 10">
            <a:extLst>
              <a:ext uri="{FF2B5EF4-FFF2-40B4-BE49-F238E27FC236}">
                <a16:creationId xmlns:a16="http://schemas.microsoft.com/office/drawing/2014/main" id="{1A7E9B69-E1D6-434E-27E8-39E7A6A9C939}"/>
              </a:ext>
            </a:extLst>
          </p:cNvPr>
          <p:cNvSpPr/>
          <p:nvPr/>
        </p:nvSpPr>
        <p:spPr>
          <a:xfrm>
            <a:off x="4063998" y="2971797"/>
            <a:ext cx="79022" cy="112889"/>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A386C748-F7A5-6E54-DEFD-89B646473A06}"/>
              </a:ext>
            </a:extLst>
          </p:cNvPr>
          <p:cNvSpPr txBox="1"/>
          <p:nvPr/>
        </p:nvSpPr>
        <p:spPr>
          <a:xfrm flipH="1">
            <a:off x="3353263" y="996520"/>
            <a:ext cx="1345977" cy="923330"/>
          </a:xfrm>
          <a:prstGeom prst="rect">
            <a:avLst/>
          </a:prstGeom>
          <a:noFill/>
        </p:spPr>
        <p:txBody>
          <a:bodyPr wrap="square" rtlCol="0">
            <a:spAutoFit/>
          </a:bodyPr>
          <a:lstStyle/>
          <a:p>
            <a:r>
              <a:rPr lang="en-US" dirty="0"/>
              <a:t>Huygens: Light is a wave</a:t>
            </a:r>
          </a:p>
        </p:txBody>
      </p:sp>
      <p:sp>
        <p:nvSpPr>
          <p:cNvPr id="13" name="Rectangle 12">
            <a:extLst>
              <a:ext uri="{FF2B5EF4-FFF2-40B4-BE49-F238E27FC236}">
                <a16:creationId xmlns:a16="http://schemas.microsoft.com/office/drawing/2014/main" id="{EEB28816-6869-AACB-D516-D34EDD4C094C}"/>
              </a:ext>
            </a:extLst>
          </p:cNvPr>
          <p:cNvSpPr/>
          <p:nvPr/>
        </p:nvSpPr>
        <p:spPr>
          <a:xfrm>
            <a:off x="4148664" y="2971797"/>
            <a:ext cx="79022" cy="112889"/>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5" name="Straight Connector 14">
            <a:extLst>
              <a:ext uri="{FF2B5EF4-FFF2-40B4-BE49-F238E27FC236}">
                <a16:creationId xmlns:a16="http://schemas.microsoft.com/office/drawing/2014/main" id="{2F0DA90A-30A6-EA9F-2C05-1D36FA6EEFBA}"/>
              </a:ext>
            </a:extLst>
          </p:cNvPr>
          <p:cNvCxnSpPr>
            <a:cxnSpLocks/>
            <a:stCxn id="10" idx="2"/>
            <a:endCxn id="11" idx="0"/>
          </p:cNvCxnSpPr>
          <p:nvPr/>
        </p:nvCxnSpPr>
        <p:spPr>
          <a:xfrm>
            <a:off x="2757532" y="2700447"/>
            <a:ext cx="1345977" cy="271350"/>
          </a:xfrm>
          <a:prstGeom prst="line">
            <a:avLst/>
          </a:prstGeom>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E9819782-F18D-2BE2-8D4E-471753ED57F7}"/>
              </a:ext>
            </a:extLst>
          </p:cNvPr>
          <p:cNvCxnSpPr>
            <a:cxnSpLocks/>
            <a:stCxn id="12" idx="2"/>
            <a:endCxn id="13" idx="0"/>
          </p:cNvCxnSpPr>
          <p:nvPr/>
        </p:nvCxnSpPr>
        <p:spPr>
          <a:xfrm>
            <a:off x="4026251" y="1919850"/>
            <a:ext cx="161924" cy="1051947"/>
          </a:xfrm>
          <a:prstGeom prst="line">
            <a:avLst/>
          </a:prstGeom>
        </p:spPr>
        <p:style>
          <a:lnRef idx="1">
            <a:schemeClr val="accent1"/>
          </a:lnRef>
          <a:fillRef idx="0">
            <a:schemeClr val="accent1"/>
          </a:fillRef>
          <a:effectRef idx="0">
            <a:schemeClr val="accent1"/>
          </a:effectRef>
          <a:fontRef idx="minor">
            <a:schemeClr val="tx1"/>
          </a:fontRef>
        </p:style>
      </p:cxnSp>
      <p:sp>
        <p:nvSpPr>
          <p:cNvPr id="20" name="Rectangle 19">
            <a:extLst>
              <a:ext uri="{FF2B5EF4-FFF2-40B4-BE49-F238E27FC236}">
                <a16:creationId xmlns:a16="http://schemas.microsoft.com/office/drawing/2014/main" id="{BE2FA7DB-BDC8-1CB8-0929-A22E638D40F8}"/>
              </a:ext>
            </a:extLst>
          </p:cNvPr>
          <p:cNvSpPr/>
          <p:nvPr/>
        </p:nvSpPr>
        <p:spPr>
          <a:xfrm>
            <a:off x="6096000" y="2971797"/>
            <a:ext cx="79022" cy="112889"/>
          </a:xfrm>
          <a:prstGeom prst="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42028F2C-DB35-4E1B-3953-889F91B4AD0F}"/>
              </a:ext>
            </a:extLst>
          </p:cNvPr>
          <p:cNvSpPr txBox="1"/>
          <p:nvPr/>
        </p:nvSpPr>
        <p:spPr>
          <a:xfrm flipH="1">
            <a:off x="5443168" y="1578334"/>
            <a:ext cx="1049582" cy="923330"/>
          </a:xfrm>
          <a:prstGeom prst="rect">
            <a:avLst/>
          </a:prstGeom>
          <a:noFill/>
        </p:spPr>
        <p:txBody>
          <a:bodyPr wrap="square" rtlCol="0">
            <a:spAutoFit/>
          </a:bodyPr>
          <a:lstStyle/>
          <a:p>
            <a:r>
              <a:rPr lang="en-US" dirty="0"/>
              <a:t>Young: Light is a wave</a:t>
            </a:r>
          </a:p>
        </p:txBody>
      </p:sp>
      <p:cxnSp>
        <p:nvCxnSpPr>
          <p:cNvPr id="28" name="Straight Connector 27">
            <a:extLst>
              <a:ext uri="{FF2B5EF4-FFF2-40B4-BE49-F238E27FC236}">
                <a16:creationId xmlns:a16="http://schemas.microsoft.com/office/drawing/2014/main" id="{459FD1FC-F605-BE6C-97DF-06096150E753}"/>
              </a:ext>
            </a:extLst>
          </p:cNvPr>
          <p:cNvCxnSpPr>
            <a:cxnSpLocks/>
            <a:stCxn id="21" idx="2"/>
            <a:endCxn id="20" idx="3"/>
          </p:cNvCxnSpPr>
          <p:nvPr/>
        </p:nvCxnSpPr>
        <p:spPr>
          <a:xfrm>
            <a:off x="5967959" y="2501664"/>
            <a:ext cx="207063" cy="526578"/>
          </a:xfrm>
          <a:prstGeom prst="line">
            <a:avLst/>
          </a:prstGeom>
        </p:spPr>
        <p:style>
          <a:lnRef idx="1">
            <a:schemeClr val="accent1"/>
          </a:lnRef>
          <a:fillRef idx="0">
            <a:schemeClr val="accent1"/>
          </a:fillRef>
          <a:effectRef idx="0">
            <a:schemeClr val="accent1"/>
          </a:effectRef>
          <a:fontRef idx="minor">
            <a:schemeClr val="tx1"/>
          </a:fontRef>
        </p:style>
      </p:cxnSp>
      <p:sp>
        <p:nvSpPr>
          <p:cNvPr id="32" name="Rectangle 31">
            <a:extLst>
              <a:ext uri="{FF2B5EF4-FFF2-40B4-BE49-F238E27FC236}">
                <a16:creationId xmlns:a16="http://schemas.microsoft.com/office/drawing/2014/main" id="{300D5D45-22B4-2D75-029D-B43061B3EFA5}"/>
              </a:ext>
            </a:extLst>
          </p:cNvPr>
          <p:cNvSpPr/>
          <p:nvPr/>
        </p:nvSpPr>
        <p:spPr>
          <a:xfrm>
            <a:off x="6530625" y="2971797"/>
            <a:ext cx="79022" cy="112889"/>
          </a:xfrm>
          <a:prstGeom prst="rect">
            <a:avLst/>
          </a:prstGeom>
          <a:solidFill>
            <a:srgbClr val="FF0000"/>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dirty="0"/>
          </a:p>
        </p:txBody>
      </p:sp>
      <p:sp>
        <p:nvSpPr>
          <p:cNvPr id="33" name="TextBox 32">
            <a:extLst>
              <a:ext uri="{FF2B5EF4-FFF2-40B4-BE49-F238E27FC236}">
                <a16:creationId xmlns:a16="http://schemas.microsoft.com/office/drawing/2014/main" id="{2566178C-1779-60DA-BDEC-CAFDE5889131}"/>
              </a:ext>
            </a:extLst>
          </p:cNvPr>
          <p:cNvSpPr txBox="1"/>
          <p:nvPr/>
        </p:nvSpPr>
        <p:spPr>
          <a:xfrm flipH="1">
            <a:off x="6378221" y="966556"/>
            <a:ext cx="1203788" cy="923330"/>
          </a:xfrm>
          <a:prstGeom prst="rect">
            <a:avLst/>
          </a:prstGeom>
          <a:noFill/>
        </p:spPr>
        <p:txBody>
          <a:bodyPr wrap="square" rtlCol="0">
            <a:spAutoFit/>
          </a:bodyPr>
          <a:lstStyle/>
          <a:p>
            <a:r>
              <a:rPr lang="en-US" dirty="0"/>
              <a:t>Smith: Light is important!</a:t>
            </a:r>
          </a:p>
        </p:txBody>
      </p:sp>
      <p:cxnSp>
        <p:nvCxnSpPr>
          <p:cNvPr id="34" name="Straight Connector 33">
            <a:extLst>
              <a:ext uri="{FF2B5EF4-FFF2-40B4-BE49-F238E27FC236}">
                <a16:creationId xmlns:a16="http://schemas.microsoft.com/office/drawing/2014/main" id="{728C7650-9302-0932-EEF2-B93D622D32DA}"/>
              </a:ext>
            </a:extLst>
          </p:cNvPr>
          <p:cNvCxnSpPr>
            <a:cxnSpLocks/>
            <a:stCxn id="33" idx="2"/>
            <a:endCxn id="32" idx="0"/>
          </p:cNvCxnSpPr>
          <p:nvPr/>
        </p:nvCxnSpPr>
        <p:spPr>
          <a:xfrm flipH="1">
            <a:off x="6570136" y="1889886"/>
            <a:ext cx="409979" cy="1081911"/>
          </a:xfrm>
          <a:prstGeom prst="line">
            <a:avLst/>
          </a:prstGeom>
        </p:spPr>
        <p:style>
          <a:lnRef idx="1">
            <a:schemeClr val="accent1"/>
          </a:lnRef>
          <a:fillRef idx="0">
            <a:schemeClr val="accent1"/>
          </a:fillRef>
          <a:effectRef idx="0">
            <a:schemeClr val="accent1"/>
          </a:effectRef>
          <a:fontRef idx="minor">
            <a:schemeClr val="tx1"/>
          </a:fontRef>
        </p:style>
      </p:cxnSp>
      <p:sp>
        <p:nvSpPr>
          <p:cNvPr id="37" name="Rectangle 36">
            <a:extLst>
              <a:ext uri="{FF2B5EF4-FFF2-40B4-BE49-F238E27FC236}">
                <a16:creationId xmlns:a16="http://schemas.microsoft.com/office/drawing/2014/main" id="{CF5EB9EA-C483-0F7F-E31A-9B5AEAFE83AD}"/>
              </a:ext>
            </a:extLst>
          </p:cNvPr>
          <p:cNvSpPr/>
          <p:nvPr/>
        </p:nvSpPr>
        <p:spPr>
          <a:xfrm>
            <a:off x="6874938" y="2971797"/>
            <a:ext cx="79022" cy="112889"/>
          </a:xfrm>
          <a:prstGeom prst="rect">
            <a:avLst/>
          </a:prstGeom>
          <a:solidFill>
            <a:srgbClr val="FF0000"/>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40" name="TextBox 39">
            <a:extLst>
              <a:ext uri="{FF2B5EF4-FFF2-40B4-BE49-F238E27FC236}">
                <a16:creationId xmlns:a16="http://schemas.microsoft.com/office/drawing/2014/main" id="{A13091D5-8173-A6B1-61C1-A3CCE7994948}"/>
              </a:ext>
            </a:extLst>
          </p:cNvPr>
          <p:cNvSpPr txBox="1"/>
          <p:nvPr/>
        </p:nvSpPr>
        <p:spPr>
          <a:xfrm flipH="1">
            <a:off x="5875802" y="3897948"/>
            <a:ext cx="1203788" cy="923330"/>
          </a:xfrm>
          <a:prstGeom prst="rect">
            <a:avLst/>
          </a:prstGeom>
          <a:noFill/>
        </p:spPr>
        <p:txBody>
          <a:bodyPr wrap="square" rtlCol="0">
            <a:spAutoFit/>
          </a:bodyPr>
          <a:lstStyle/>
          <a:p>
            <a:r>
              <a:rPr lang="en-US" dirty="0"/>
              <a:t>B. Young: Moves us to Utah</a:t>
            </a:r>
          </a:p>
        </p:txBody>
      </p:sp>
      <p:cxnSp>
        <p:nvCxnSpPr>
          <p:cNvPr id="41" name="Straight Connector 40">
            <a:extLst>
              <a:ext uri="{FF2B5EF4-FFF2-40B4-BE49-F238E27FC236}">
                <a16:creationId xmlns:a16="http://schemas.microsoft.com/office/drawing/2014/main" id="{731EEC34-7102-3405-2513-CAB3AEC08522}"/>
              </a:ext>
            </a:extLst>
          </p:cNvPr>
          <p:cNvCxnSpPr>
            <a:cxnSpLocks/>
            <a:stCxn id="40" idx="0"/>
          </p:cNvCxnSpPr>
          <p:nvPr/>
        </p:nvCxnSpPr>
        <p:spPr>
          <a:xfrm flipV="1">
            <a:off x="6477696" y="3070198"/>
            <a:ext cx="396149" cy="827750"/>
          </a:xfrm>
          <a:prstGeom prst="line">
            <a:avLst/>
          </a:prstGeom>
        </p:spPr>
        <p:style>
          <a:lnRef idx="1">
            <a:schemeClr val="accent1"/>
          </a:lnRef>
          <a:fillRef idx="0">
            <a:schemeClr val="accent1"/>
          </a:fillRef>
          <a:effectRef idx="0">
            <a:schemeClr val="accent1"/>
          </a:effectRef>
          <a:fontRef idx="minor">
            <a:schemeClr val="tx1"/>
          </a:fontRef>
        </p:style>
      </p:cxnSp>
      <p:sp>
        <p:nvSpPr>
          <p:cNvPr id="44" name="Rectangle 43">
            <a:extLst>
              <a:ext uri="{FF2B5EF4-FFF2-40B4-BE49-F238E27FC236}">
                <a16:creationId xmlns:a16="http://schemas.microsoft.com/office/drawing/2014/main" id="{769A3B1C-3DE4-1E62-FA62-4431995C1360}"/>
              </a:ext>
            </a:extLst>
          </p:cNvPr>
          <p:cNvSpPr/>
          <p:nvPr/>
        </p:nvSpPr>
        <p:spPr>
          <a:xfrm>
            <a:off x="7574843" y="2971797"/>
            <a:ext cx="79022" cy="112889"/>
          </a:xfrm>
          <a:prstGeom prst="rect">
            <a:avLst/>
          </a:prstGeom>
          <a:solidFill>
            <a:schemeClr val="accent1">
              <a:lumMod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45" name="TextBox 44">
            <a:extLst>
              <a:ext uri="{FF2B5EF4-FFF2-40B4-BE49-F238E27FC236}">
                <a16:creationId xmlns:a16="http://schemas.microsoft.com/office/drawing/2014/main" id="{5D2C4649-AC44-EE06-59A2-D5E4FFD9D0FC}"/>
              </a:ext>
            </a:extLst>
          </p:cNvPr>
          <p:cNvSpPr txBox="1"/>
          <p:nvPr/>
        </p:nvSpPr>
        <p:spPr>
          <a:xfrm>
            <a:off x="7779752" y="940472"/>
            <a:ext cx="1758687" cy="1200329"/>
          </a:xfrm>
          <a:prstGeom prst="rect">
            <a:avLst/>
          </a:prstGeom>
          <a:noFill/>
        </p:spPr>
        <p:txBody>
          <a:bodyPr wrap="none" rtlCol="0">
            <a:spAutoFit/>
          </a:bodyPr>
          <a:lstStyle/>
          <a:p>
            <a:r>
              <a:rPr lang="en-US" dirty="0"/>
              <a:t>Maxwell:</a:t>
            </a:r>
          </a:p>
          <a:p>
            <a:r>
              <a:rPr lang="en-US" dirty="0"/>
              <a:t>Light is an </a:t>
            </a:r>
          </a:p>
          <a:p>
            <a:r>
              <a:rPr lang="en-US" dirty="0"/>
              <a:t>Electromagnetic </a:t>
            </a:r>
          </a:p>
          <a:p>
            <a:r>
              <a:rPr lang="en-US" dirty="0"/>
              <a:t>Wave</a:t>
            </a:r>
          </a:p>
        </p:txBody>
      </p:sp>
      <p:cxnSp>
        <p:nvCxnSpPr>
          <p:cNvPr id="46" name="Straight Connector 45">
            <a:extLst>
              <a:ext uri="{FF2B5EF4-FFF2-40B4-BE49-F238E27FC236}">
                <a16:creationId xmlns:a16="http://schemas.microsoft.com/office/drawing/2014/main" id="{EA706DA1-0ED4-EA53-5F12-F57445211014}"/>
              </a:ext>
            </a:extLst>
          </p:cNvPr>
          <p:cNvCxnSpPr>
            <a:cxnSpLocks/>
            <a:endCxn id="44" idx="0"/>
          </p:cNvCxnSpPr>
          <p:nvPr/>
        </p:nvCxnSpPr>
        <p:spPr>
          <a:xfrm flipH="1">
            <a:off x="7614354" y="2102087"/>
            <a:ext cx="406670" cy="869710"/>
          </a:xfrm>
          <a:prstGeom prst="line">
            <a:avLst/>
          </a:prstGeom>
        </p:spPr>
        <p:style>
          <a:lnRef idx="1">
            <a:schemeClr val="accent1"/>
          </a:lnRef>
          <a:fillRef idx="0">
            <a:schemeClr val="accent1"/>
          </a:fillRef>
          <a:effectRef idx="0">
            <a:schemeClr val="accent1"/>
          </a:effectRef>
          <a:fontRef idx="minor">
            <a:schemeClr val="tx1"/>
          </a:fontRef>
        </p:style>
      </p:cxnSp>
      <p:sp>
        <p:nvSpPr>
          <p:cNvPr id="49" name="Rectangle 48">
            <a:extLst>
              <a:ext uri="{FF2B5EF4-FFF2-40B4-BE49-F238E27FC236}">
                <a16:creationId xmlns:a16="http://schemas.microsoft.com/office/drawing/2014/main" id="{63E788BD-BBB1-C4B0-00C2-3D17F685D9AA}"/>
              </a:ext>
            </a:extLst>
          </p:cNvPr>
          <p:cNvSpPr/>
          <p:nvPr/>
        </p:nvSpPr>
        <p:spPr>
          <a:xfrm>
            <a:off x="7840133" y="2971797"/>
            <a:ext cx="79022" cy="112889"/>
          </a:xfrm>
          <a:prstGeom prst="rect">
            <a:avLst/>
          </a:prstGeom>
          <a:solidFill>
            <a:schemeClr val="accent2">
              <a:lumMod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50" name="TextBox 49">
            <a:extLst>
              <a:ext uri="{FF2B5EF4-FFF2-40B4-BE49-F238E27FC236}">
                <a16:creationId xmlns:a16="http://schemas.microsoft.com/office/drawing/2014/main" id="{7BBCCF18-0737-7511-6F2C-DB07D3B472CE}"/>
              </a:ext>
            </a:extLst>
          </p:cNvPr>
          <p:cNvSpPr txBox="1"/>
          <p:nvPr/>
        </p:nvSpPr>
        <p:spPr>
          <a:xfrm>
            <a:off x="8313263" y="3787043"/>
            <a:ext cx="1651478" cy="923330"/>
          </a:xfrm>
          <a:prstGeom prst="rect">
            <a:avLst/>
          </a:prstGeom>
          <a:noFill/>
        </p:spPr>
        <p:txBody>
          <a:bodyPr wrap="none" rtlCol="0">
            <a:spAutoFit/>
          </a:bodyPr>
          <a:lstStyle/>
          <a:p>
            <a:r>
              <a:rPr lang="en-US" dirty="0"/>
              <a:t>Plank:</a:t>
            </a:r>
          </a:p>
          <a:p>
            <a:r>
              <a:rPr lang="en-US" dirty="0"/>
              <a:t>Light is a </a:t>
            </a:r>
          </a:p>
          <a:p>
            <a:r>
              <a:rPr lang="en-US" dirty="0"/>
              <a:t>quantized wave</a:t>
            </a:r>
          </a:p>
        </p:txBody>
      </p:sp>
      <p:cxnSp>
        <p:nvCxnSpPr>
          <p:cNvPr id="51" name="Straight Connector 50">
            <a:extLst>
              <a:ext uri="{FF2B5EF4-FFF2-40B4-BE49-F238E27FC236}">
                <a16:creationId xmlns:a16="http://schemas.microsoft.com/office/drawing/2014/main" id="{15EE1F87-42A6-7C97-2ACC-5796E8D1A972}"/>
              </a:ext>
            </a:extLst>
          </p:cNvPr>
          <p:cNvCxnSpPr>
            <a:cxnSpLocks/>
          </p:cNvCxnSpPr>
          <p:nvPr/>
        </p:nvCxnSpPr>
        <p:spPr>
          <a:xfrm flipH="1" flipV="1">
            <a:off x="7886287" y="3075038"/>
            <a:ext cx="769285" cy="722496"/>
          </a:xfrm>
          <a:prstGeom prst="line">
            <a:avLst/>
          </a:prstGeom>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AE57C083-7775-687B-A786-51DDE75DF151}"/>
              </a:ext>
            </a:extLst>
          </p:cNvPr>
          <p:cNvCxnSpPr>
            <a:cxnSpLocks/>
          </p:cNvCxnSpPr>
          <p:nvPr/>
        </p:nvCxnSpPr>
        <p:spPr>
          <a:xfrm flipH="1">
            <a:off x="7969956" y="2216207"/>
            <a:ext cx="1432685" cy="741476"/>
          </a:xfrm>
          <a:prstGeom prst="line">
            <a:avLst/>
          </a:prstGeom>
        </p:spPr>
        <p:style>
          <a:lnRef idx="1">
            <a:schemeClr val="accent1"/>
          </a:lnRef>
          <a:fillRef idx="0">
            <a:schemeClr val="accent1"/>
          </a:fillRef>
          <a:effectRef idx="0">
            <a:schemeClr val="accent1"/>
          </a:effectRef>
          <a:fontRef idx="minor">
            <a:schemeClr val="tx1"/>
          </a:fontRef>
        </p:style>
      </p:cxnSp>
      <p:sp>
        <p:nvSpPr>
          <p:cNvPr id="56" name="Rectangle 55">
            <a:extLst>
              <a:ext uri="{FF2B5EF4-FFF2-40B4-BE49-F238E27FC236}">
                <a16:creationId xmlns:a16="http://schemas.microsoft.com/office/drawing/2014/main" id="{0A6F7AE4-8359-C1A3-CD58-B4212A557BEE}"/>
              </a:ext>
            </a:extLst>
          </p:cNvPr>
          <p:cNvSpPr/>
          <p:nvPr/>
        </p:nvSpPr>
        <p:spPr>
          <a:xfrm>
            <a:off x="7930445" y="2971797"/>
            <a:ext cx="79022" cy="112889"/>
          </a:xfrm>
          <a:prstGeom prst="rect">
            <a:avLst/>
          </a:prstGeom>
          <a:solidFill>
            <a:schemeClr val="accent4">
              <a:lumMod val="75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57" name="TextBox 56">
            <a:extLst>
              <a:ext uri="{FF2B5EF4-FFF2-40B4-BE49-F238E27FC236}">
                <a16:creationId xmlns:a16="http://schemas.microsoft.com/office/drawing/2014/main" id="{79F6957B-6C0A-CDBC-6A48-EA2F800B2B44}"/>
              </a:ext>
            </a:extLst>
          </p:cNvPr>
          <p:cNvSpPr txBox="1"/>
          <p:nvPr/>
        </p:nvSpPr>
        <p:spPr>
          <a:xfrm>
            <a:off x="9544730" y="1413366"/>
            <a:ext cx="1741246" cy="1200329"/>
          </a:xfrm>
          <a:prstGeom prst="rect">
            <a:avLst/>
          </a:prstGeom>
          <a:noFill/>
        </p:spPr>
        <p:txBody>
          <a:bodyPr wrap="none" rtlCol="0">
            <a:spAutoFit/>
          </a:bodyPr>
          <a:lstStyle/>
          <a:p>
            <a:r>
              <a:rPr lang="en-US" dirty="0"/>
              <a:t>Einstein:</a:t>
            </a:r>
          </a:p>
          <a:p>
            <a:r>
              <a:rPr lang="en-US" dirty="0"/>
              <a:t>Light is a </a:t>
            </a:r>
          </a:p>
          <a:p>
            <a:r>
              <a:rPr lang="en-US" dirty="0"/>
              <a:t>limited EM wave</a:t>
            </a:r>
          </a:p>
          <a:p>
            <a:r>
              <a:rPr lang="en-US" dirty="0"/>
              <a:t>called a Photon</a:t>
            </a:r>
          </a:p>
        </p:txBody>
      </p:sp>
      <p:sp>
        <p:nvSpPr>
          <p:cNvPr id="58" name="TextBox 57">
            <a:extLst>
              <a:ext uri="{FF2B5EF4-FFF2-40B4-BE49-F238E27FC236}">
                <a16:creationId xmlns:a16="http://schemas.microsoft.com/office/drawing/2014/main" id="{3D8FA491-9BF7-BA5F-3A86-A242DA4DDD38}"/>
              </a:ext>
            </a:extLst>
          </p:cNvPr>
          <p:cNvSpPr txBox="1"/>
          <p:nvPr/>
        </p:nvSpPr>
        <p:spPr>
          <a:xfrm>
            <a:off x="10433313" y="3510044"/>
            <a:ext cx="1365567" cy="646331"/>
          </a:xfrm>
          <a:prstGeom prst="rect">
            <a:avLst/>
          </a:prstGeom>
          <a:noFill/>
        </p:spPr>
        <p:txBody>
          <a:bodyPr wrap="none" rtlCol="0">
            <a:spAutoFit/>
          </a:bodyPr>
          <a:lstStyle/>
          <a:p>
            <a:r>
              <a:rPr lang="en-US" dirty="0"/>
              <a:t>You:</a:t>
            </a:r>
          </a:p>
          <a:p>
            <a:r>
              <a:rPr lang="en-US" dirty="0"/>
              <a:t>Studied light</a:t>
            </a:r>
          </a:p>
        </p:txBody>
      </p:sp>
      <p:sp>
        <p:nvSpPr>
          <p:cNvPr id="59" name="Rectangle 58">
            <a:extLst>
              <a:ext uri="{FF2B5EF4-FFF2-40B4-BE49-F238E27FC236}">
                <a16:creationId xmlns:a16="http://schemas.microsoft.com/office/drawing/2014/main" id="{C09BE5BC-47C7-EABD-5079-DEFEA62D3BFD}"/>
              </a:ext>
            </a:extLst>
          </p:cNvPr>
          <p:cNvSpPr/>
          <p:nvPr/>
        </p:nvSpPr>
        <p:spPr>
          <a:xfrm>
            <a:off x="9917288" y="2971797"/>
            <a:ext cx="79022" cy="112889"/>
          </a:xfrm>
          <a:prstGeom prst="rect">
            <a:avLst/>
          </a:prstGeom>
          <a:solidFill>
            <a:srgbClr val="FF0000"/>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cxnSp>
        <p:nvCxnSpPr>
          <p:cNvPr id="60" name="Straight Connector 59">
            <a:extLst>
              <a:ext uri="{FF2B5EF4-FFF2-40B4-BE49-F238E27FC236}">
                <a16:creationId xmlns:a16="http://schemas.microsoft.com/office/drawing/2014/main" id="{0F30DC11-5F31-93E3-0470-8632CF42D435}"/>
              </a:ext>
            </a:extLst>
          </p:cNvPr>
          <p:cNvCxnSpPr>
            <a:cxnSpLocks/>
          </p:cNvCxnSpPr>
          <p:nvPr/>
        </p:nvCxnSpPr>
        <p:spPr>
          <a:xfrm flipH="1" flipV="1">
            <a:off x="10007600" y="3069362"/>
            <a:ext cx="824820" cy="496745"/>
          </a:xfrm>
          <a:prstGeom prst="line">
            <a:avLst/>
          </a:prstGeom>
        </p:spPr>
        <p:style>
          <a:lnRef idx="1">
            <a:schemeClr val="accent1"/>
          </a:lnRef>
          <a:fillRef idx="0">
            <a:schemeClr val="accent1"/>
          </a:fillRef>
          <a:effectRef idx="0">
            <a:schemeClr val="accent1"/>
          </a:effectRef>
          <a:fontRef idx="minor">
            <a:schemeClr val="tx1"/>
          </a:fontRef>
        </p:style>
      </p:cxnSp>
      <p:sp>
        <p:nvSpPr>
          <p:cNvPr id="64" name="TextBox 63">
            <a:extLst>
              <a:ext uri="{FF2B5EF4-FFF2-40B4-BE49-F238E27FC236}">
                <a16:creationId xmlns:a16="http://schemas.microsoft.com/office/drawing/2014/main" id="{9E325C77-8FBD-2DD9-25E5-9FC5A2FADFD7}"/>
              </a:ext>
            </a:extLst>
          </p:cNvPr>
          <p:cNvSpPr txBox="1"/>
          <p:nvPr/>
        </p:nvSpPr>
        <p:spPr>
          <a:xfrm flipH="1">
            <a:off x="2806861" y="3908862"/>
            <a:ext cx="1381314" cy="1200329"/>
          </a:xfrm>
          <a:prstGeom prst="rect">
            <a:avLst/>
          </a:prstGeom>
          <a:noFill/>
        </p:spPr>
        <p:txBody>
          <a:bodyPr wrap="square" rtlCol="0">
            <a:spAutoFit/>
          </a:bodyPr>
          <a:lstStyle/>
          <a:p>
            <a:r>
              <a:rPr lang="en-US" dirty="0"/>
              <a:t>Romer: measures speed of light</a:t>
            </a:r>
          </a:p>
        </p:txBody>
      </p:sp>
      <p:cxnSp>
        <p:nvCxnSpPr>
          <p:cNvPr id="65" name="Straight Connector 64">
            <a:extLst>
              <a:ext uri="{FF2B5EF4-FFF2-40B4-BE49-F238E27FC236}">
                <a16:creationId xmlns:a16="http://schemas.microsoft.com/office/drawing/2014/main" id="{EE2DC1F2-C21A-2347-9337-9FC158462B0E}"/>
              </a:ext>
            </a:extLst>
          </p:cNvPr>
          <p:cNvCxnSpPr>
            <a:cxnSpLocks/>
            <a:endCxn id="63" idx="1"/>
          </p:cNvCxnSpPr>
          <p:nvPr/>
        </p:nvCxnSpPr>
        <p:spPr>
          <a:xfrm flipV="1">
            <a:off x="3228622" y="3028242"/>
            <a:ext cx="807152" cy="880620"/>
          </a:xfrm>
          <a:prstGeom prst="line">
            <a:avLst/>
          </a:prstGeom>
        </p:spPr>
        <p:style>
          <a:lnRef idx="1">
            <a:schemeClr val="accent1"/>
          </a:lnRef>
          <a:fillRef idx="0">
            <a:schemeClr val="accent1"/>
          </a:fillRef>
          <a:effectRef idx="0">
            <a:schemeClr val="accent1"/>
          </a:effectRef>
          <a:fontRef idx="minor">
            <a:schemeClr val="tx1"/>
          </a:fontRef>
        </p:style>
      </p:cxnSp>
      <p:sp>
        <p:nvSpPr>
          <p:cNvPr id="68" name="Rectangle 67">
            <a:extLst>
              <a:ext uri="{FF2B5EF4-FFF2-40B4-BE49-F238E27FC236}">
                <a16:creationId xmlns:a16="http://schemas.microsoft.com/office/drawing/2014/main" id="{A1E87208-E00C-1422-77E9-4A2F2EC8A66E}"/>
              </a:ext>
            </a:extLst>
          </p:cNvPr>
          <p:cNvSpPr/>
          <p:nvPr/>
        </p:nvSpPr>
        <p:spPr>
          <a:xfrm>
            <a:off x="2438401" y="2971797"/>
            <a:ext cx="79022" cy="112889"/>
          </a:xfrm>
          <a:prstGeom prst="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TextBox 68">
            <a:extLst>
              <a:ext uri="{FF2B5EF4-FFF2-40B4-BE49-F238E27FC236}">
                <a16:creationId xmlns:a16="http://schemas.microsoft.com/office/drawing/2014/main" id="{7F615508-4412-B288-BEFA-2D742D7F864F}"/>
              </a:ext>
            </a:extLst>
          </p:cNvPr>
          <p:cNvSpPr txBox="1"/>
          <p:nvPr/>
        </p:nvSpPr>
        <p:spPr>
          <a:xfrm flipH="1">
            <a:off x="939967" y="3429000"/>
            <a:ext cx="1381314" cy="1477328"/>
          </a:xfrm>
          <a:prstGeom prst="rect">
            <a:avLst/>
          </a:prstGeom>
          <a:noFill/>
        </p:spPr>
        <p:txBody>
          <a:bodyPr wrap="square" rtlCol="0">
            <a:spAutoFit/>
          </a:bodyPr>
          <a:lstStyle/>
          <a:p>
            <a:r>
              <a:rPr lang="en-US" dirty="0"/>
              <a:t>Galileo: Doesn’t measure speed of light</a:t>
            </a:r>
          </a:p>
        </p:txBody>
      </p:sp>
      <p:cxnSp>
        <p:nvCxnSpPr>
          <p:cNvPr id="70" name="Straight Connector 69">
            <a:extLst>
              <a:ext uri="{FF2B5EF4-FFF2-40B4-BE49-F238E27FC236}">
                <a16:creationId xmlns:a16="http://schemas.microsoft.com/office/drawing/2014/main" id="{F05DED7E-B289-D509-B52E-1705C36E1600}"/>
              </a:ext>
            </a:extLst>
          </p:cNvPr>
          <p:cNvCxnSpPr>
            <a:cxnSpLocks/>
            <a:endCxn id="68" idx="2"/>
          </p:cNvCxnSpPr>
          <p:nvPr/>
        </p:nvCxnSpPr>
        <p:spPr>
          <a:xfrm flipV="1">
            <a:off x="1461911" y="3084686"/>
            <a:ext cx="1016001" cy="376996"/>
          </a:xfrm>
          <a:prstGeom prst="line">
            <a:avLst/>
          </a:prstGeom>
        </p:spPr>
        <p:style>
          <a:lnRef idx="1">
            <a:schemeClr val="accent1"/>
          </a:lnRef>
          <a:fillRef idx="0">
            <a:schemeClr val="accent1"/>
          </a:fillRef>
          <a:effectRef idx="0">
            <a:schemeClr val="accent1"/>
          </a:effectRef>
          <a:fontRef idx="minor">
            <a:schemeClr val="tx1"/>
          </a:fontRef>
        </p:style>
      </p:cxnSp>
      <p:sp>
        <p:nvSpPr>
          <p:cNvPr id="72" name="Rectangle 71">
            <a:extLst>
              <a:ext uri="{FF2B5EF4-FFF2-40B4-BE49-F238E27FC236}">
                <a16:creationId xmlns:a16="http://schemas.microsoft.com/office/drawing/2014/main" id="{26C65E83-DA99-8F50-3A03-A387F8982CD7}"/>
              </a:ext>
            </a:extLst>
          </p:cNvPr>
          <p:cNvSpPr/>
          <p:nvPr/>
        </p:nvSpPr>
        <p:spPr>
          <a:xfrm>
            <a:off x="6952260" y="2971797"/>
            <a:ext cx="79022" cy="112889"/>
          </a:xfrm>
          <a:prstGeom prst="rect">
            <a:avLst/>
          </a:prstGeom>
          <a:solidFill>
            <a:srgbClr val="7030A0"/>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73" name="TextBox 72">
            <a:extLst>
              <a:ext uri="{FF2B5EF4-FFF2-40B4-BE49-F238E27FC236}">
                <a16:creationId xmlns:a16="http://schemas.microsoft.com/office/drawing/2014/main" id="{47C814B0-DF10-8534-8595-73E1F2358A70}"/>
              </a:ext>
            </a:extLst>
          </p:cNvPr>
          <p:cNvSpPr txBox="1"/>
          <p:nvPr/>
        </p:nvSpPr>
        <p:spPr>
          <a:xfrm flipH="1">
            <a:off x="7050208" y="4509026"/>
            <a:ext cx="1203788" cy="1200329"/>
          </a:xfrm>
          <a:prstGeom prst="rect">
            <a:avLst/>
          </a:prstGeom>
          <a:noFill/>
        </p:spPr>
        <p:txBody>
          <a:bodyPr wrap="square" rtlCol="0">
            <a:spAutoFit/>
          </a:bodyPr>
          <a:lstStyle/>
          <a:p>
            <a:r>
              <a:rPr lang="en-US" dirty="0"/>
              <a:t>Fizeau: Measures speed of light</a:t>
            </a:r>
          </a:p>
        </p:txBody>
      </p:sp>
      <p:cxnSp>
        <p:nvCxnSpPr>
          <p:cNvPr id="75" name="Straight Connector 74">
            <a:extLst>
              <a:ext uri="{FF2B5EF4-FFF2-40B4-BE49-F238E27FC236}">
                <a16:creationId xmlns:a16="http://schemas.microsoft.com/office/drawing/2014/main" id="{02AE52E6-EB33-1F24-E1A2-9B3A5EB800CC}"/>
              </a:ext>
            </a:extLst>
          </p:cNvPr>
          <p:cNvCxnSpPr>
            <a:cxnSpLocks/>
            <a:endCxn id="72" idx="2"/>
          </p:cNvCxnSpPr>
          <p:nvPr/>
        </p:nvCxnSpPr>
        <p:spPr>
          <a:xfrm flipH="1" flipV="1">
            <a:off x="6991771" y="3084686"/>
            <a:ext cx="390493" cy="152569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7408894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Footer Placeholder 5"/>
          <p:cNvSpPr>
            <a:spLocks noGrp="1"/>
          </p:cNvSpPr>
          <p:nvPr>
            <p:ph type="ftr" sz="quarter" idx="11"/>
          </p:nvPr>
        </p:nvSpPr>
        <p:spPr/>
        <p:txBody>
          <a:bodyPr/>
          <a:lstStyle/>
          <a:p>
            <a:r>
              <a:rPr lang="en-US" dirty="0"/>
              <a:t>R. Todd Lines</a:t>
            </a:r>
          </a:p>
        </p:txBody>
      </p:sp>
      <p:sp>
        <p:nvSpPr>
          <p:cNvPr id="15362" name="Rectangle 2"/>
          <p:cNvSpPr>
            <a:spLocks noGrp="1" noChangeArrowheads="1"/>
          </p:cNvSpPr>
          <p:nvPr>
            <p:ph type="title"/>
          </p:nvPr>
        </p:nvSpPr>
        <p:spPr/>
        <p:txBody>
          <a:bodyPr/>
          <a:lstStyle/>
          <a:p>
            <a:r>
              <a:rPr lang="en-US"/>
              <a:t>Fizeau’s Method, cont.</a:t>
            </a:r>
          </a:p>
        </p:txBody>
      </p:sp>
      <p:sp>
        <p:nvSpPr>
          <p:cNvPr id="15363" name="Rectangle 3"/>
          <p:cNvSpPr>
            <a:spLocks noGrp="1" noChangeArrowheads="1"/>
          </p:cNvSpPr>
          <p:nvPr>
            <p:ph type="body" sz="half" idx="1"/>
          </p:nvPr>
        </p:nvSpPr>
        <p:spPr>
          <a:xfrm>
            <a:off x="1981200" y="1600201"/>
            <a:ext cx="4033838" cy="4525963"/>
          </a:xfrm>
        </p:spPr>
        <p:txBody>
          <a:bodyPr/>
          <a:lstStyle/>
          <a:p>
            <a:pPr>
              <a:lnSpc>
                <a:spcPct val="90000"/>
              </a:lnSpc>
            </a:pPr>
            <a:r>
              <a:rPr lang="en-US" i="1" dirty="0"/>
              <a:t>d</a:t>
            </a:r>
            <a:r>
              <a:rPr lang="en-US" dirty="0"/>
              <a:t> is the distance between the wheel and the mirror</a:t>
            </a:r>
          </a:p>
          <a:p>
            <a:pPr>
              <a:lnSpc>
                <a:spcPct val="90000"/>
              </a:lnSpc>
              <a:buNone/>
            </a:pPr>
            <a:r>
              <a:rPr lang="en-US" dirty="0">
                <a:latin typeface="Symbol" pitchFamily="18" charset="2"/>
                <a:cs typeface="Arial" pitchFamily="34" charset="0"/>
                <a:sym typeface="Symbol"/>
              </a:rPr>
              <a:t></a:t>
            </a:r>
            <a:r>
              <a:rPr lang="en-US" i="1" dirty="0"/>
              <a:t>t</a:t>
            </a:r>
            <a:r>
              <a:rPr lang="en-US" dirty="0"/>
              <a:t> is the time for one round trip</a:t>
            </a:r>
          </a:p>
          <a:p>
            <a:pPr>
              <a:lnSpc>
                <a:spcPct val="90000"/>
              </a:lnSpc>
            </a:pPr>
            <a:r>
              <a:rPr lang="en-US" dirty="0"/>
              <a:t>Then </a:t>
            </a:r>
            <a:r>
              <a:rPr lang="en-US" i="1" dirty="0"/>
              <a:t>c</a:t>
            </a:r>
            <a:r>
              <a:rPr lang="en-US" dirty="0"/>
              <a:t> = 2</a:t>
            </a:r>
            <a:r>
              <a:rPr lang="en-US" i="1" dirty="0"/>
              <a:t>d </a:t>
            </a:r>
            <a:r>
              <a:rPr lang="en-US" dirty="0"/>
              <a:t>/ </a:t>
            </a:r>
            <a:r>
              <a:rPr lang="en-US" dirty="0">
                <a:latin typeface="Symbol" pitchFamily="18" charset="2"/>
                <a:cs typeface="Arial" pitchFamily="34" charset="0"/>
                <a:sym typeface="Symbol"/>
              </a:rPr>
              <a:t> </a:t>
            </a:r>
            <a:r>
              <a:rPr lang="en-US" i="1" dirty="0"/>
              <a:t>t</a:t>
            </a:r>
            <a:endParaRPr lang="en-US" dirty="0"/>
          </a:p>
          <a:p>
            <a:pPr>
              <a:lnSpc>
                <a:spcPct val="90000"/>
              </a:lnSpc>
            </a:pPr>
            <a:r>
              <a:rPr lang="en-US" dirty="0" err="1"/>
              <a:t>Fizeau</a:t>
            </a:r>
            <a:r>
              <a:rPr lang="en-US" dirty="0"/>
              <a:t> found a value of </a:t>
            </a:r>
          </a:p>
          <a:p>
            <a:pPr>
              <a:lnSpc>
                <a:spcPct val="90000"/>
              </a:lnSpc>
              <a:buFontTx/>
              <a:buNone/>
            </a:pPr>
            <a:r>
              <a:rPr lang="en-US" i="1" dirty="0"/>
              <a:t>    c</a:t>
            </a:r>
            <a:r>
              <a:rPr lang="en-US" dirty="0"/>
              <a:t> = 3.1 x 10</a:t>
            </a:r>
            <a:r>
              <a:rPr lang="en-US" baseline="30000" dirty="0"/>
              <a:t>8</a:t>
            </a:r>
            <a:r>
              <a:rPr lang="en-US" dirty="0"/>
              <a:t> m/s</a:t>
            </a:r>
          </a:p>
        </p:txBody>
      </p:sp>
      <p:sp>
        <p:nvSpPr>
          <p:cNvPr id="2" name="ClipArt Placeholder 1"/>
          <p:cNvSpPr>
            <a:spLocks noGrp="1"/>
          </p:cNvSpPr>
          <p:nvPr>
            <p:ph type="clipArt" sz="half" idx="2"/>
          </p:nvPr>
        </p:nvSpPr>
        <p:spPr/>
        <p:txBody>
          <a:bodyPr/>
          <a:lstStyle/>
          <a:p>
            <a:endParaRPr lang="en-US"/>
          </a:p>
        </p:txBody>
      </p:sp>
      <p:pic>
        <p:nvPicPr>
          <p:cNvPr id="7" name="Picture 2"/>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285665" y="2061028"/>
            <a:ext cx="3752098" cy="24501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Footer Placeholder 4"/>
          <p:cNvSpPr>
            <a:spLocks noGrp="1"/>
          </p:cNvSpPr>
          <p:nvPr>
            <p:ph type="ftr" sz="quarter" idx="11"/>
          </p:nvPr>
        </p:nvSpPr>
        <p:spPr/>
        <p:txBody>
          <a:bodyPr/>
          <a:lstStyle/>
          <a:p>
            <a:r>
              <a:rPr lang="en-US"/>
              <a:t>R. Todd Lines</a:t>
            </a:r>
          </a:p>
        </p:txBody>
      </p:sp>
      <p:sp>
        <p:nvSpPr>
          <p:cNvPr id="118786" name="Rectangle 2"/>
          <p:cNvSpPr>
            <a:spLocks noGrp="1" noChangeArrowheads="1"/>
          </p:cNvSpPr>
          <p:nvPr>
            <p:ph type="title"/>
          </p:nvPr>
        </p:nvSpPr>
        <p:spPr/>
        <p:txBody>
          <a:bodyPr/>
          <a:lstStyle/>
          <a:p>
            <a:r>
              <a:rPr lang="en-US"/>
              <a:t>Faster than light?</a:t>
            </a:r>
          </a:p>
        </p:txBody>
      </p:sp>
      <p:sp>
        <p:nvSpPr>
          <p:cNvPr id="118787" name="Rectangle 3"/>
          <p:cNvSpPr>
            <a:spLocks noGrp="1" noChangeArrowheads="1"/>
          </p:cNvSpPr>
          <p:nvPr>
            <p:ph type="body" idx="1"/>
          </p:nvPr>
        </p:nvSpPr>
        <p:spPr/>
        <p:txBody>
          <a:bodyPr/>
          <a:lstStyle/>
          <a:p>
            <a:endParaRPr lang="en-US"/>
          </a:p>
        </p:txBody>
      </p:sp>
      <p:pic>
        <p:nvPicPr>
          <p:cNvPr id="118788" name="Picture 4" descr="TrigaReactorCore"/>
          <p:cNvPicPr>
            <a:picLocks noChangeAspect="1" noChangeArrowheads="1"/>
          </p:cNvPicPr>
          <p:nvPr/>
        </p:nvPicPr>
        <p:blipFill>
          <a:blip r:embed="rId2" cstate="print"/>
          <a:srcRect/>
          <a:stretch>
            <a:fillRect/>
          </a:stretch>
        </p:blipFill>
        <p:spPr bwMode="auto">
          <a:xfrm>
            <a:off x="3124200" y="1295400"/>
            <a:ext cx="6400800" cy="4713288"/>
          </a:xfrm>
          <a:prstGeom prst="rect">
            <a:avLst/>
          </a:prstGeom>
          <a:noFill/>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4405A1-DD5C-1E50-F6C5-A51ADB7091DF}"/>
              </a:ext>
            </a:extLst>
          </p:cNvPr>
          <p:cNvSpPr>
            <a:spLocks noGrp="1"/>
          </p:cNvSpPr>
          <p:nvPr>
            <p:ph type="title"/>
          </p:nvPr>
        </p:nvSpPr>
        <p:spPr/>
        <p:txBody>
          <a:bodyPr/>
          <a:lstStyle/>
          <a:p>
            <a:endParaRPr lang="en-US"/>
          </a:p>
        </p:txBody>
      </p:sp>
      <p:pic>
        <p:nvPicPr>
          <p:cNvPr id="5" name="Content Placeholder 4" descr="A diagram of a solar system&#10;&#10;AI-generated content may be incorrect.">
            <a:extLst>
              <a:ext uri="{FF2B5EF4-FFF2-40B4-BE49-F238E27FC236}">
                <a16:creationId xmlns:a16="http://schemas.microsoft.com/office/drawing/2014/main" id="{3EFF0EDF-0610-BF0B-DB2F-73365FC1FC4C}"/>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838200" y="5334"/>
            <a:ext cx="10515600" cy="6852666"/>
          </a:xfrm>
        </p:spPr>
      </p:pic>
    </p:spTree>
    <p:extLst>
      <p:ext uri="{BB962C8B-B14F-4D97-AF65-F5344CB8AC3E}">
        <p14:creationId xmlns:p14="http://schemas.microsoft.com/office/powerpoint/2010/main" val="273784031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0531" name="Rectangle 2"/>
          <p:cNvSpPr>
            <a:spLocks noGrp="1" noChangeArrowheads="1"/>
          </p:cNvSpPr>
          <p:nvPr>
            <p:ph type="title"/>
          </p:nvPr>
        </p:nvSpPr>
        <p:spPr/>
        <p:txBody>
          <a:bodyPr/>
          <a:lstStyle/>
          <a:p>
            <a:pPr eaLnBrk="1" hangingPunct="1"/>
            <a:r>
              <a:rPr lang="en-US" dirty="0"/>
              <a:t>Question 223.13.4</a:t>
            </a:r>
          </a:p>
        </p:txBody>
      </p:sp>
      <p:sp>
        <p:nvSpPr>
          <p:cNvPr id="150532" name="Rectangle 3"/>
          <p:cNvSpPr>
            <a:spLocks noGrp="1" noChangeArrowheads="1"/>
          </p:cNvSpPr>
          <p:nvPr>
            <p:ph idx="1"/>
          </p:nvPr>
        </p:nvSpPr>
        <p:spPr/>
        <p:txBody>
          <a:bodyPr/>
          <a:lstStyle/>
          <a:p>
            <a:pPr marL="609600" indent="-609600">
              <a:buNone/>
            </a:pPr>
            <a:r>
              <a:rPr lang="en-US" dirty="0"/>
              <a:t>I have a ray of light traveling from left to right across the room near the front. Can you see the ray?</a:t>
            </a:r>
          </a:p>
          <a:p>
            <a:pPr marL="609600" indent="-609600">
              <a:buFontTx/>
              <a:buAutoNum type="alphaLcParenR"/>
            </a:pPr>
            <a:r>
              <a:rPr lang="en-US" dirty="0"/>
              <a:t>No</a:t>
            </a:r>
          </a:p>
          <a:p>
            <a:pPr marL="609600" indent="-609600">
              <a:buFontTx/>
              <a:buAutoNum type="alphaLcParenR"/>
            </a:pPr>
            <a:r>
              <a:rPr lang="en-US" dirty="0"/>
              <a:t>Yes</a:t>
            </a:r>
          </a:p>
          <a:p>
            <a:pPr marL="609600" indent="-609600">
              <a:buFontTx/>
              <a:buAutoNum type="alphaLcParenR"/>
            </a:pPr>
            <a:r>
              <a:rPr lang="en-US" dirty="0"/>
              <a:t>I can see only part of the ray</a:t>
            </a:r>
          </a:p>
        </p:txBody>
      </p:sp>
      <p:sp>
        <p:nvSpPr>
          <p:cNvPr id="150530" name="Slide Number Placeholder 5"/>
          <p:cNvSpPr>
            <a:spLocks noGrp="1"/>
          </p:cNvSpPr>
          <p:nvPr>
            <p:ph type="sldNum" sz="quarter" idx="12"/>
          </p:nvPr>
        </p:nvSpPr>
        <p:spPr>
          <a:noFill/>
        </p:spPr>
        <p:txBody>
          <a:bodyPr/>
          <a:lstStyle/>
          <a:p>
            <a:fld id="{27E09958-A25F-4F9E-A550-B8857377330A}" type="slidenum">
              <a:rPr lang="en-US" smtClean="0"/>
              <a:pPr/>
              <a:t>31</a:t>
            </a:fld>
            <a:endParaRPr lang="en-US"/>
          </a:p>
        </p:txBody>
      </p:sp>
    </p:spTree>
    <p:extLst>
      <p:ext uri="{BB962C8B-B14F-4D97-AF65-F5344CB8AC3E}">
        <p14:creationId xmlns:p14="http://schemas.microsoft.com/office/powerpoint/2010/main" val="164509306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03" name="Rectangle 2"/>
          <p:cNvSpPr>
            <a:spLocks noGrp="1" noChangeArrowheads="1"/>
          </p:cNvSpPr>
          <p:nvPr>
            <p:ph type="title"/>
          </p:nvPr>
        </p:nvSpPr>
        <p:spPr/>
        <p:txBody>
          <a:bodyPr/>
          <a:lstStyle/>
          <a:p>
            <a:pPr eaLnBrk="1" hangingPunct="1"/>
            <a:r>
              <a:rPr lang="en-US" dirty="0"/>
              <a:t>Question 223.13.5</a:t>
            </a:r>
          </a:p>
        </p:txBody>
      </p:sp>
      <p:sp>
        <p:nvSpPr>
          <p:cNvPr id="153604" name="Rectangle 3"/>
          <p:cNvSpPr>
            <a:spLocks noGrp="1" noChangeArrowheads="1"/>
          </p:cNvSpPr>
          <p:nvPr>
            <p:ph idx="1"/>
          </p:nvPr>
        </p:nvSpPr>
        <p:spPr/>
        <p:txBody>
          <a:bodyPr/>
          <a:lstStyle/>
          <a:p>
            <a:pPr marL="609600" indent="-609600">
              <a:buNone/>
            </a:pPr>
            <a:r>
              <a:rPr lang="en-US" dirty="0"/>
              <a:t>A laser beam is incident on a glass sheet. There is no apparent reflected ray. We might conclude that…</a:t>
            </a:r>
          </a:p>
          <a:p>
            <a:pPr marL="609600" indent="-609600">
              <a:buFontTx/>
              <a:buAutoNum type="alphaLcParenR"/>
            </a:pPr>
            <a:r>
              <a:rPr lang="en-US" dirty="0"/>
              <a:t>The glass has a high index of refraction</a:t>
            </a:r>
          </a:p>
          <a:p>
            <a:pPr marL="609600" indent="-609600">
              <a:buFontTx/>
              <a:buAutoNum type="alphaLcParenR"/>
            </a:pPr>
            <a:r>
              <a:rPr lang="en-US" dirty="0"/>
              <a:t>The glass surface is rough</a:t>
            </a:r>
          </a:p>
          <a:p>
            <a:pPr marL="609600" indent="-609600">
              <a:buFontTx/>
              <a:buAutoNum type="alphaLcParenR"/>
            </a:pPr>
            <a:r>
              <a:rPr lang="en-US" dirty="0"/>
              <a:t>The glass has a low index of refraction</a:t>
            </a:r>
          </a:p>
          <a:p>
            <a:pPr marL="609600" indent="-609600">
              <a:buFontTx/>
              <a:buAutoNum type="alphaLcParenR"/>
            </a:pPr>
            <a:r>
              <a:rPr lang="en-US" dirty="0"/>
              <a:t>The glass is opaque</a:t>
            </a:r>
          </a:p>
        </p:txBody>
      </p:sp>
      <p:sp>
        <p:nvSpPr>
          <p:cNvPr id="153602" name="Slide Number Placeholder 5"/>
          <p:cNvSpPr>
            <a:spLocks noGrp="1"/>
          </p:cNvSpPr>
          <p:nvPr>
            <p:ph type="sldNum" sz="quarter" idx="12"/>
          </p:nvPr>
        </p:nvSpPr>
        <p:spPr>
          <a:noFill/>
        </p:spPr>
        <p:txBody>
          <a:bodyPr/>
          <a:lstStyle/>
          <a:p>
            <a:fld id="{978FC868-350C-4584-AECC-B890249EEA2D}" type="slidenum">
              <a:rPr lang="en-US" smtClean="0"/>
              <a:pPr/>
              <a:t>32</a:t>
            </a:fld>
            <a:endParaRPr lang="en-US"/>
          </a:p>
        </p:txBody>
      </p:sp>
    </p:spTree>
    <p:extLst>
      <p:ext uri="{BB962C8B-B14F-4D97-AF65-F5344CB8AC3E}">
        <p14:creationId xmlns:p14="http://schemas.microsoft.com/office/powerpoint/2010/main" val="225236589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 name="Straight Arrow Connector 2"/>
          <p:cNvCxnSpPr/>
          <p:nvPr/>
        </p:nvCxnSpPr>
        <p:spPr>
          <a:xfrm rot="16200000" flipH="1">
            <a:off x="2845594" y="3964782"/>
            <a:ext cx="2195513" cy="1663700"/>
          </a:xfrm>
          <a:prstGeom prst="straightConnector1">
            <a:avLst/>
          </a:prstGeom>
          <a:ln w="3810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3" name="Straight Connector 22"/>
          <p:cNvCxnSpPr/>
          <p:nvPr/>
        </p:nvCxnSpPr>
        <p:spPr>
          <a:xfrm rot="10800000" flipV="1">
            <a:off x="3367089" y="3279775"/>
            <a:ext cx="1468437" cy="121285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nvGrpSpPr>
          <p:cNvPr id="2" name="Group 12"/>
          <p:cNvGrpSpPr>
            <a:grpSpLocks/>
          </p:cNvGrpSpPr>
          <p:nvPr/>
        </p:nvGrpSpPr>
        <p:grpSpPr bwMode="auto">
          <a:xfrm rot="-5400000">
            <a:off x="6253163" y="3711576"/>
            <a:ext cx="180975" cy="5632450"/>
            <a:chOff x="5539563" y="956930"/>
            <a:chExt cx="180753" cy="5633484"/>
          </a:xfrm>
        </p:grpSpPr>
        <p:sp>
          <p:nvSpPr>
            <p:cNvPr id="16" name="Rectangle 15"/>
            <p:cNvSpPr/>
            <p:nvPr/>
          </p:nvSpPr>
          <p:spPr>
            <a:xfrm>
              <a:off x="5539563" y="956931"/>
              <a:ext cx="180753" cy="5623957"/>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dirty="0"/>
            </a:p>
          </p:txBody>
        </p:sp>
        <p:cxnSp>
          <p:nvCxnSpPr>
            <p:cNvPr id="17" name="Straight Connector 16"/>
            <p:cNvCxnSpPr/>
            <p:nvPr/>
          </p:nvCxnSpPr>
          <p:spPr>
            <a:xfrm flipV="1">
              <a:off x="5550663" y="975984"/>
              <a:ext cx="158555" cy="12861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 name="Straight Connector 17"/>
            <p:cNvCxnSpPr/>
            <p:nvPr/>
          </p:nvCxnSpPr>
          <p:spPr>
            <a:xfrm flipV="1">
              <a:off x="5550663" y="1128412"/>
              <a:ext cx="158555" cy="12861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Straight Connector 18"/>
            <p:cNvCxnSpPr/>
            <p:nvPr/>
          </p:nvCxnSpPr>
          <p:spPr>
            <a:xfrm flipV="1">
              <a:off x="5550663" y="1280840"/>
              <a:ext cx="158555" cy="12861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Straight Connector 20"/>
            <p:cNvCxnSpPr/>
            <p:nvPr/>
          </p:nvCxnSpPr>
          <p:spPr>
            <a:xfrm flipV="1">
              <a:off x="5550663" y="1433268"/>
              <a:ext cx="158555" cy="12861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 name="Straight Connector 21"/>
            <p:cNvCxnSpPr/>
            <p:nvPr/>
          </p:nvCxnSpPr>
          <p:spPr>
            <a:xfrm flipV="1">
              <a:off x="5550663" y="1585696"/>
              <a:ext cx="158555" cy="12861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4" name="Straight Connector 23"/>
            <p:cNvCxnSpPr/>
            <p:nvPr/>
          </p:nvCxnSpPr>
          <p:spPr>
            <a:xfrm flipV="1">
              <a:off x="5550663" y="1738124"/>
              <a:ext cx="158555" cy="12861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Straight Connector 24"/>
            <p:cNvCxnSpPr/>
            <p:nvPr/>
          </p:nvCxnSpPr>
          <p:spPr>
            <a:xfrm flipV="1">
              <a:off x="5550663" y="1890552"/>
              <a:ext cx="158555" cy="12861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Straight Connector 26"/>
            <p:cNvCxnSpPr/>
            <p:nvPr/>
          </p:nvCxnSpPr>
          <p:spPr>
            <a:xfrm flipV="1">
              <a:off x="5550663" y="2042980"/>
              <a:ext cx="158555" cy="12861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Straight Connector 27"/>
            <p:cNvCxnSpPr/>
            <p:nvPr/>
          </p:nvCxnSpPr>
          <p:spPr>
            <a:xfrm flipV="1">
              <a:off x="5550663" y="2195408"/>
              <a:ext cx="158555" cy="12702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Straight Connector 28"/>
            <p:cNvCxnSpPr/>
            <p:nvPr/>
          </p:nvCxnSpPr>
          <p:spPr>
            <a:xfrm flipV="1">
              <a:off x="5550663" y="2347836"/>
              <a:ext cx="158555" cy="12702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Straight Connector 29"/>
            <p:cNvCxnSpPr/>
            <p:nvPr/>
          </p:nvCxnSpPr>
          <p:spPr>
            <a:xfrm flipV="1">
              <a:off x="5550663" y="2500264"/>
              <a:ext cx="158555" cy="12702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Straight Connector 30"/>
            <p:cNvCxnSpPr/>
            <p:nvPr/>
          </p:nvCxnSpPr>
          <p:spPr>
            <a:xfrm flipV="1">
              <a:off x="5550663" y="2652692"/>
              <a:ext cx="158555" cy="12702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Straight Connector 31"/>
            <p:cNvCxnSpPr/>
            <p:nvPr/>
          </p:nvCxnSpPr>
          <p:spPr>
            <a:xfrm flipV="1">
              <a:off x="5550663" y="2805120"/>
              <a:ext cx="158555" cy="12702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Straight Connector 32"/>
            <p:cNvCxnSpPr/>
            <p:nvPr/>
          </p:nvCxnSpPr>
          <p:spPr>
            <a:xfrm flipV="1">
              <a:off x="5550663" y="2957548"/>
              <a:ext cx="158555" cy="12702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Straight Connector 33"/>
            <p:cNvCxnSpPr/>
            <p:nvPr/>
          </p:nvCxnSpPr>
          <p:spPr>
            <a:xfrm flipV="1">
              <a:off x="5550663" y="3109976"/>
              <a:ext cx="158555" cy="12702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5" name="Straight Connector 34"/>
            <p:cNvCxnSpPr/>
            <p:nvPr/>
          </p:nvCxnSpPr>
          <p:spPr>
            <a:xfrm flipV="1">
              <a:off x="5550663" y="3262404"/>
              <a:ext cx="158555" cy="12702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 name="Straight Connector 35"/>
            <p:cNvCxnSpPr/>
            <p:nvPr/>
          </p:nvCxnSpPr>
          <p:spPr>
            <a:xfrm flipV="1">
              <a:off x="5550663" y="3414832"/>
              <a:ext cx="158555" cy="12702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 name="Straight Connector 36"/>
            <p:cNvCxnSpPr/>
            <p:nvPr/>
          </p:nvCxnSpPr>
          <p:spPr>
            <a:xfrm flipV="1">
              <a:off x="5550663" y="3567260"/>
              <a:ext cx="158555" cy="12702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8" name="Straight Connector 37"/>
            <p:cNvCxnSpPr/>
            <p:nvPr/>
          </p:nvCxnSpPr>
          <p:spPr>
            <a:xfrm flipV="1">
              <a:off x="5550663" y="3719688"/>
              <a:ext cx="158555" cy="12702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9" name="Straight Connector 38"/>
            <p:cNvCxnSpPr/>
            <p:nvPr/>
          </p:nvCxnSpPr>
          <p:spPr>
            <a:xfrm flipV="1">
              <a:off x="5550663" y="3872116"/>
              <a:ext cx="158555" cy="12702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0" name="Straight Connector 39"/>
            <p:cNvCxnSpPr/>
            <p:nvPr/>
          </p:nvCxnSpPr>
          <p:spPr>
            <a:xfrm flipV="1">
              <a:off x="5550663" y="4024544"/>
              <a:ext cx="158555" cy="12702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1" name="Straight Connector 40"/>
            <p:cNvCxnSpPr/>
            <p:nvPr/>
          </p:nvCxnSpPr>
          <p:spPr>
            <a:xfrm flipV="1">
              <a:off x="5550663" y="4176972"/>
              <a:ext cx="158555" cy="12702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Straight Connector 41"/>
            <p:cNvCxnSpPr/>
            <p:nvPr/>
          </p:nvCxnSpPr>
          <p:spPr>
            <a:xfrm flipV="1">
              <a:off x="5550663" y="4329400"/>
              <a:ext cx="158555" cy="12702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Straight Connector 42"/>
            <p:cNvCxnSpPr/>
            <p:nvPr/>
          </p:nvCxnSpPr>
          <p:spPr>
            <a:xfrm flipV="1">
              <a:off x="5550663" y="4481827"/>
              <a:ext cx="158555" cy="12702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4" name="Straight Connector 43"/>
            <p:cNvCxnSpPr/>
            <p:nvPr/>
          </p:nvCxnSpPr>
          <p:spPr>
            <a:xfrm flipV="1">
              <a:off x="5550663" y="4634255"/>
              <a:ext cx="158555" cy="12702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Straight Connector 44"/>
            <p:cNvCxnSpPr/>
            <p:nvPr/>
          </p:nvCxnSpPr>
          <p:spPr>
            <a:xfrm flipV="1">
              <a:off x="5550663" y="4786683"/>
              <a:ext cx="158555" cy="12702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Straight Connector 45"/>
            <p:cNvCxnSpPr/>
            <p:nvPr/>
          </p:nvCxnSpPr>
          <p:spPr>
            <a:xfrm flipV="1">
              <a:off x="5550663" y="4939111"/>
              <a:ext cx="158555" cy="12702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7" name="Straight Connector 46"/>
            <p:cNvCxnSpPr/>
            <p:nvPr/>
          </p:nvCxnSpPr>
          <p:spPr>
            <a:xfrm flipV="1">
              <a:off x="5550663" y="5091539"/>
              <a:ext cx="158555" cy="12702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8" name="Straight Connector 47"/>
            <p:cNvCxnSpPr/>
            <p:nvPr/>
          </p:nvCxnSpPr>
          <p:spPr>
            <a:xfrm flipV="1">
              <a:off x="5550663" y="5243967"/>
              <a:ext cx="158555" cy="12702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9" name="Straight Connector 48"/>
            <p:cNvCxnSpPr/>
            <p:nvPr/>
          </p:nvCxnSpPr>
          <p:spPr>
            <a:xfrm flipV="1">
              <a:off x="5550663" y="5396395"/>
              <a:ext cx="158555" cy="12702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0" name="Straight Connector 49"/>
            <p:cNvCxnSpPr/>
            <p:nvPr/>
          </p:nvCxnSpPr>
          <p:spPr>
            <a:xfrm flipV="1">
              <a:off x="5550663" y="5548823"/>
              <a:ext cx="158555" cy="12702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1" name="Straight Connector 50"/>
            <p:cNvCxnSpPr/>
            <p:nvPr/>
          </p:nvCxnSpPr>
          <p:spPr>
            <a:xfrm flipV="1">
              <a:off x="5550663" y="5701251"/>
              <a:ext cx="158555" cy="12702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2" name="Straight Connector 51"/>
            <p:cNvCxnSpPr/>
            <p:nvPr/>
          </p:nvCxnSpPr>
          <p:spPr>
            <a:xfrm flipV="1">
              <a:off x="5550663" y="5853679"/>
              <a:ext cx="158555" cy="12702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Straight Connector 52"/>
            <p:cNvCxnSpPr/>
            <p:nvPr/>
          </p:nvCxnSpPr>
          <p:spPr>
            <a:xfrm flipV="1">
              <a:off x="5550663" y="6006107"/>
              <a:ext cx="158555" cy="12702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4" name="Straight Connector 53"/>
            <p:cNvCxnSpPr/>
            <p:nvPr/>
          </p:nvCxnSpPr>
          <p:spPr>
            <a:xfrm flipV="1">
              <a:off x="5550663" y="6158535"/>
              <a:ext cx="158555" cy="12702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5" name="Straight Connector 54"/>
            <p:cNvCxnSpPr/>
            <p:nvPr/>
          </p:nvCxnSpPr>
          <p:spPr>
            <a:xfrm flipV="1">
              <a:off x="5550663" y="6310963"/>
              <a:ext cx="158555" cy="12702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6" name="Straight Connector 55"/>
            <p:cNvCxnSpPr/>
            <p:nvPr/>
          </p:nvCxnSpPr>
          <p:spPr>
            <a:xfrm flipV="1">
              <a:off x="5550663" y="6463391"/>
              <a:ext cx="158555" cy="12702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59" name="Straight Arrow Connector 58"/>
          <p:cNvCxnSpPr/>
          <p:nvPr/>
        </p:nvCxnSpPr>
        <p:spPr>
          <a:xfrm rot="16200000" flipH="1">
            <a:off x="3253582" y="4491832"/>
            <a:ext cx="2195513" cy="1663700"/>
          </a:xfrm>
          <a:prstGeom prst="straightConnector1">
            <a:avLst/>
          </a:prstGeom>
          <a:ln w="381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0" name="Straight Arrow Connector 59"/>
          <p:cNvCxnSpPr/>
          <p:nvPr/>
        </p:nvCxnSpPr>
        <p:spPr>
          <a:xfrm rot="16200000" flipH="1">
            <a:off x="4051301" y="4494213"/>
            <a:ext cx="2193925" cy="1663700"/>
          </a:xfrm>
          <a:prstGeom prst="straightConnector1">
            <a:avLst/>
          </a:prstGeom>
          <a:ln w="381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1" name="Straight Arrow Connector 60"/>
          <p:cNvCxnSpPr/>
          <p:nvPr/>
        </p:nvCxnSpPr>
        <p:spPr>
          <a:xfrm rot="16200000" flipH="1">
            <a:off x="3328194" y="3547269"/>
            <a:ext cx="2195512" cy="1663700"/>
          </a:xfrm>
          <a:prstGeom prst="straightConnector1">
            <a:avLst/>
          </a:prstGeom>
          <a:ln w="3810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62" name="Straight Arrow Connector 61"/>
          <p:cNvCxnSpPr/>
          <p:nvPr/>
        </p:nvCxnSpPr>
        <p:spPr>
          <a:xfrm rot="16200000" flipH="1">
            <a:off x="4787901" y="4481513"/>
            <a:ext cx="2193925" cy="1663700"/>
          </a:xfrm>
          <a:prstGeom prst="straightConnector1">
            <a:avLst/>
          </a:prstGeom>
          <a:ln w="381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4" name="Straight Arrow Connector 63"/>
          <p:cNvCxnSpPr/>
          <p:nvPr/>
        </p:nvCxnSpPr>
        <p:spPr>
          <a:xfrm rot="16200000" flipH="1">
            <a:off x="3765551" y="3130551"/>
            <a:ext cx="2195513" cy="1662113"/>
          </a:xfrm>
          <a:prstGeom prst="straightConnector1">
            <a:avLst/>
          </a:prstGeom>
          <a:ln w="3810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65" name="Straight Arrow Connector 64"/>
          <p:cNvCxnSpPr/>
          <p:nvPr/>
        </p:nvCxnSpPr>
        <p:spPr>
          <a:xfrm rot="5400000" flipH="1" flipV="1">
            <a:off x="6454776" y="4495801"/>
            <a:ext cx="2176463" cy="1662113"/>
          </a:xfrm>
          <a:prstGeom prst="straightConnector1">
            <a:avLst/>
          </a:prstGeom>
          <a:ln w="3810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72" name="Straight Arrow Connector 71"/>
          <p:cNvCxnSpPr/>
          <p:nvPr/>
        </p:nvCxnSpPr>
        <p:spPr>
          <a:xfrm rot="5400000" flipH="1" flipV="1">
            <a:off x="4850607" y="3931444"/>
            <a:ext cx="2825750" cy="2151063"/>
          </a:xfrm>
          <a:prstGeom prst="straightConnector1">
            <a:avLst/>
          </a:prstGeom>
          <a:ln w="3810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75" name="Straight Connector 74"/>
          <p:cNvCxnSpPr/>
          <p:nvPr/>
        </p:nvCxnSpPr>
        <p:spPr>
          <a:xfrm rot="10800000" flipV="1">
            <a:off x="3684589" y="3686175"/>
            <a:ext cx="1468437" cy="121443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6" name="Straight Connector 75"/>
          <p:cNvCxnSpPr/>
          <p:nvPr/>
        </p:nvCxnSpPr>
        <p:spPr>
          <a:xfrm rot="10800000" flipV="1">
            <a:off x="4002089" y="4094163"/>
            <a:ext cx="1468437" cy="121285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7" name="Straight Connector 76"/>
          <p:cNvCxnSpPr/>
          <p:nvPr/>
        </p:nvCxnSpPr>
        <p:spPr>
          <a:xfrm rot="10800000" flipV="1">
            <a:off x="4349750" y="4516438"/>
            <a:ext cx="1468438" cy="121285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0" name="Straight Connector 79"/>
          <p:cNvCxnSpPr/>
          <p:nvPr/>
        </p:nvCxnSpPr>
        <p:spPr>
          <a:xfrm>
            <a:off x="6915150" y="3708401"/>
            <a:ext cx="1308100" cy="108426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6" name="Straight Arrow Connector 85"/>
          <p:cNvCxnSpPr/>
          <p:nvPr/>
        </p:nvCxnSpPr>
        <p:spPr>
          <a:xfrm rot="5400000" flipH="1" flipV="1">
            <a:off x="5653088" y="4240213"/>
            <a:ext cx="2482850" cy="1879600"/>
          </a:xfrm>
          <a:prstGeom prst="straightConnector1">
            <a:avLst/>
          </a:prstGeom>
          <a:ln w="3810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88" name="Straight Connector 87"/>
          <p:cNvCxnSpPr/>
          <p:nvPr/>
        </p:nvCxnSpPr>
        <p:spPr>
          <a:xfrm>
            <a:off x="6572250" y="4160838"/>
            <a:ext cx="1309688" cy="108426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9" name="Straight Connector 88"/>
          <p:cNvCxnSpPr/>
          <p:nvPr/>
        </p:nvCxnSpPr>
        <p:spPr>
          <a:xfrm>
            <a:off x="6200775" y="4627563"/>
            <a:ext cx="1308100" cy="108426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18162" name="TextBox 89"/>
          <p:cNvSpPr txBox="1">
            <a:spLocks noChangeArrowheads="1"/>
          </p:cNvSpPr>
          <p:nvPr/>
        </p:nvSpPr>
        <p:spPr bwMode="auto">
          <a:xfrm>
            <a:off x="3708401" y="1319214"/>
            <a:ext cx="2727325" cy="708025"/>
          </a:xfrm>
          <a:prstGeom prst="rect">
            <a:avLst/>
          </a:prstGeom>
          <a:noFill/>
          <a:ln w="9525">
            <a:noFill/>
            <a:miter lim="800000"/>
            <a:headEnd/>
            <a:tailEnd/>
          </a:ln>
        </p:spPr>
        <p:txBody>
          <a:bodyPr wrap="none">
            <a:spAutoFit/>
          </a:bodyPr>
          <a:lstStyle/>
          <a:p>
            <a:r>
              <a:rPr lang="en-US" sz="4000" dirty="0"/>
              <a:t>Wave Crests</a:t>
            </a:r>
          </a:p>
        </p:txBody>
      </p:sp>
      <p:cxnSp>
        <p:nvCxnSpPr>
          <p:cNvPr id="91" name="Straight Arrow Connector 90"/>
          <p:cNvCxnSpPr/>
          <p:nvPr/>
        </p:nvCxnSpPr>
        <p:spPr>
          <a:xfrm rot="5400000">
            <a:off x="4313239" y="2535239"/>
            <a:ext cx="1266825" cy="250825"/>
          </a:xfrm>
          <a:prstGeom prst="straightConnector1">
            <a:avLst/>
          </a:prstGeom>
          <a:ln>
            <a:solidFill>
              <a:schemeClr val="tx1"/>
            </a:solidFill>
            <a:prstDash val="dash"/>
            <a:tailEnd type="arrow"/>
          </a:ln>
        </p:spPr>
        <p:style>
          <a:lnRef idx="1">
            <a:schemeClr val="accent1"/>
          </a:lnRef>
          <a:fillRef idx="0">
            <a:schemeClr val="accent1"/>
          </a:fillRef>
          <a:effectRef idx="0">
            <a:schemeClr val="accent1"/>
          </a:effectRef>
          <a:fontRef idx="minor">
            <a:schemeClr val="tx1"/>
          </a:fontRef>
        </p:style>
      </p:cxnSp>
      <p:cxnSp>
        <p:nvCxnSpPr>
          <p:cNvPr id="93" name="Straight Arrow Connector 92"/>
          <p:cNvCxnSpPr>
            <a:stCxn id="518162" idx="2"/>
          </p:cNvCxnSpPr>
          <p:nvPr/>
        </p:nvCxnSpPr>
        <p:spPr>
          <a:xfrm rot="16200000" flipH="1">
            <a:off x="4275139" y="2824164"/>
            <a:ext cx="2001837" cy="407987"/>
          </a:xfrm>
          <a:prstGeom prst="straightConnector1">
            <a:avLst/>
          </a:prstGeom>
          <a:ln>
            <a:solidFill>
              <a:schemeClr val="tx1"/>
            </a:solidFill>
            <a:prstDash val="dash"/>
            <a:tailEnd type="arrow"/>
          </a:ln>
        </p:spPr>
        <p:style>
          <a:lnRef idx="1">
            <a:schemeClr val="accent1"/>
          </a:lnRef>
          <a:fillRef idx="0">
            <a:schemeClr val="accent1"/>
          </a:fillRef>
          <a:effectRef idx="0">
            <a:schemeClr val="accent1"/>
          </a:effectRef>
          <a:fontRef idx="minor">
            <a:schemeClr val="tx1"/>
          </a:fontRef>
        </p:style>
      </p:cxnSp>
      <p:cxnSp>
        <p:nvCxnSpPr>
          <p:cNvPr id="97" name="Straight Arrow Connector 96"/>
          <p:cNvCxnSpPr>
            <a:stCxn id="518162" idx="2"/>
          </p:cNvCxnSpPr>
          <p:nvPr/>
        </p:nvCxnSpPr>
        <p:spPr>
          <a:xfrm rot="16200000" flipH="1">
            <a:off x="4748213" y="2351088"/>
            <a:ext cx="2076450" cy="1428750"/>
          </a:xfrm>
          <a:prstGeom prst="straightConnector1">
            <a:avLst/>
          </a:prstGeom>
          <a:ln>
            <a:solidFill>
              <a:schemeClr val="tx1"/>
            </a:solidFill>
            <a:prstDash val="dash"/>
            <a:tailEnd type="arrow"/>
          </a:ln>
        </p:spPr>
        <p:style>
          <a:lnRef idx="1">
            <a:schemeClr val="accent1"/>
          </a:lnRef>
          <a:fillRef idx="0">
            <a:schemeClr val="accent1"/>
          </a:fillRef>
          <a:effectRef idx="0">
            <a:schemeClr val="accent1"/>
          </a:effectRef>
          <a:fontRef idx="minor">
            <a:schemeClr val="tx1"/>
          </a:fontRef>
        </p:style>
      </p:cxnSp>
      <p:sp>
        <p:nvSpPr>
          <p:cNvPr id="518166" name="TextBox 99"/>
          <p:cNvSpPr txBox="1">
            <a:spLocks noChangeArrowheads="1"/>
          </p:cNvSpPr>
          <p:nvPr/>
        </p:nvSpPr>
        <p:spPr bwMode="auto">
          <a:xfrm>
            <a:off x="7038976" y="1320801"/>
            <a:ext cx="1127125" cy="708025"/>
          </a:xfrm>
          <a:prstGeom prst="rect">
            <a:avLst/>
          </a:prstGeom>
          <a:noFill/>
          <a:ln w="9525">
            <a:noFill/>
            <a:miter lim="800000"/>
            <a:headEnd/>
            <a:tailEnd/>
          </a:ln>
        </p:spPr>
        <p:txBody>
          <a:bodyPr wrap="none">
            <a:spAutoFit/>
          </a:bodyPr>
          <a:lstStyle/>
          <a:p>
            <a:r>
              <a:rPr lang="en-US" sz="4000" dirty="0"/>
              <a:t>Rays</a:t>
            </a:r>
          </a:p>
        </p:txBody>
      </p:sp>
      <p:cxnSp>
        <p:nvCxnSpPr>
          <p:cNvPr id="101" name="Straight Arrow Connector 100"/>
          <p:cNvCxnSpPr>
            <a:stCxn id="518166" idx="2"/>
          </p:cNvCxnSpPr>
          <p:nvPr/>
        </p:nvCxnSpPr>
        <p:spPr>
          <a:xfrm rot="16200000" flipH="1">
            <a:off x="6883401" y="2747964"/>
            <a:ext cx="2119313" cy="681037"/>
          </a:xfrm>
          <a:prstGeom prst="straightConnector1">
            <a:avLst/>
          </a:prstGeom>
          <a:ln>
            <a:solidFill>
              <a:schemeClr val="tx1"/>
            </a:solidFill>
            <a:prstDash val="dash"/>
            <a:tailEnd type="arrow"/>
          </a:ln>
        </p:spPr>
        <p:style>
          <a:lnRef idx="1">
            <a:schemeClr val="accent1"/>
          </a:lnRef>
          <a:fillRef idx="0">
            <a:schemeClr val="accent1"/>
          </a:fillRef>
          <a:effectRef idx="0">
            <a:schemeClr val="accent1"/>
          </a:effectRef>
          <a:fontRef idx="minor">
            <a:schemeClr val="tx1"/>
          </a:fontRef>
        </p:style>
      </p:cxnSp>
      <p:cxnSp>
        <p:nvCxnSpPr>
          <p:cNvPr id="105" name="Straight Arrow Connector 104"/>
          <p:cNvCxnSpPr>
            <a:stCxn id="518166" idx="2"/>
          </p:cNvCxnSpPr>
          <p:nvPr/>
        </p:nvCxnSpPr>
        <p:spPr>
          <a:xfrm rot="5400000">
            <a:off x="6718301" y="2679701"/>
            <a:ext cx="1535113" cy="233363"/>
          </a:xfrm>
          <a:prstGeom prst="straightConnector1">
            <a:avLst/>
          </a:prstGeom>
          <a:ln>
            <a:solidFill>
              <a:schemeClr val="tx1"/>
            </a:solidFill>
            <a:prstDash val="dash"/>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9169" name="Title 3"/>
          <p:cNvSpPr>
            <a:spLocks noGrp="1"/>
          </p:cNvSpPr>
          <p:nvPr>
            <p:ph type="title"/>
          </p:nvPr>
        </p:nvSpPr>
        <p:spPr/>
        <p:txBody>
          <a:bodyPr/>
          <a:lstStyle/>
          <a:p>
            <a:r>
              <a:rPr lang="en-US" dirty="0"/>
              <a:t>Question 9.1</a:t>
            </a:r>
          </a:p>
        </p:txBody>
      </p:sp>
      <p:sp>
        <p:nvSpPr>
          <p:cNvPr id="5" name="Content Placeholder 4"/>
          <p:cNvSpPr>
            <a:spLocks noGrp="1"/>
          </p:cNvSpPr>
          <p:nvPr>
            <p:ph idx="1"/>
          </p:nvPr>
        </p:nvSpPr>
        <p:spPr/>
        <p:txBody>
          <a:bodyPr/>
          <a:lstStyle/>
          <a:p>
            <a:pPr>
              <a:buFontTx/>
              <a:buNone/>
              <a:defRPr/>
            </a:pPr>
            <a:r>
              <a:rPr lang="en-US" dirty="0"/>
              <a:t>A specular reflector is ……..</a:t>
            </a:r>
          </a:p>
          <a:p>
            <a:pPr>
              <a:buFontTx/>
              <a:buNone/>
              <a:defRPr/>
            </a:pPr>
            <a:endParaRPr lang="en-US" dirty="0"/>
          </a:p>
          <a:p>
            <a:pPr marL="514350" indent="-514350">
              <a:buFontTx/>
              <a:buAutoNum type="alphaLcParenR"/>
              <a:defRPr/>
            </a:pPr>
            <a:r>
              <a:rPr lang="en-US" dirty="0"/>
              <a:t>A reflector that is spectacular!</a:t>
            </a:r>
          </a:p>
          <a:p>
            <a:pPr marL="514350" indent="-514350">
              <a:buFontTx/>
              <a:buAutoNum type="alphaLcParenR"/>
              <a:defRPr/>
            </a:pPr>
            <a:r>
              <a:rPr lang="en-US" dirty="0"/>
              <a:t>One that can cook a hot dog</a:t>
            </a:r>
          </a:p>
          <a:p>
            <a:pPr marL="514350" indent="-514350">
              <a:buFontTx/>
              <a:buAutoNum type="alphaLcParenR"/>
              <a:defRPr/>
            </a:pPr>
            <a:r>
              <a:rPr lang="en-US" dirty="0"/>
              <a:t>Like a mirror</a:t>
            </a:r>
          </a:p>
          <a:p>
            <a:pPr marL="514350" indent="-514350">
              <a:buFontTx/>
              <a:buAutoNum type="alphaLcParenR"/>
              <a:defRPr/>
            </a:pPr>
            <a:r>
              <a:rPr lang="en-US" dirty="0"/>
              <a:t>A rough surface</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 name="Straight Arrow Connector 2"/>
          <p:cNvCxnSpPr/>
          <p:nvPr/>
        </p:nvCxnSpPr>
        <p:spPr>
          <a:xfrm rot="16200000" flipH="1">
            <a:off x="2611438" y="3978276"/>
            <a:ext cx="2193925" cy="1663700"/>
          </a:xfrm>
          <a:prstGeom prst="straightConnector1">
            <a:avLst/>
          </a:prstGeom>
          <a:ln w="38100">
            <a:solidFill>
              <a:schemeClr val="tx1"/>
            </a:solidFill>
            <a:tailEnd type="arrow"/>
          </a:ln>
        </p:spPr>
        <p:style>
          <a:lnRef idx="1">
            <a:schemeClr val="accent1"/>
          </a:lnRef>
          <a:fillRef idx="0">
            <a:schemeClr val="accent1"/>
          </a:fillRef>
          <a:effectRef idx="0">
            <a:schemeClr val="accent1"/>
          </a:effectRef>
          <a:fontRef idx="minor">
            <a:schemeClr val="tx1"/>
          </a:fontRef>
        </p:style>
      </p:cxnSp>
      <p:grpSp>
        <p:nvGrpSpPr>
          <p:cNvPr id="2" name="Group 12"/>
          <p:cNvGrpSpPr>
            <a:grpSpLocks/>
          </p:cNvGrpSpPr>
          <p:nvPr/>
        </p:nvGrpSpPr>
        <p:grpSpPr bwMode="auto">
          <a:xfrm rot="-5400000">
            <a:off x="6017420" y="3725070"/>
            <a:ext cx="180975" cy="5634037"/>
            <a:chOff x="5539563" y="956930"/>
            <a:chExt cx="180753" cy="5633484"/>
          </a:xfrm>
        </p:grpSpPr>
        <p:sp>
          <p:nvSpPr>
            <p:cNvPr id="16" name="Rectangle 15"/>
            <p:cNvSpPr/>
            <p:nvPr/>
          </p:nvSpPr>
          <p:spPr>
            <a:xfrm>
              <a:off x="5539563" y="956930"/>
              <a:ext cx="180753" cy="5623960"/>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dirty="0"/>
            </a:p>
          </p:txBody>
        </p:sp>
        <p:cxnSp>
          <p:nvCxnSpPr>
            <p:cNvPr id="17" name="Straight Connector 16"/>
            <p:cNvCxnSpPr/>
            <p:nvPr/>
          </p:nvCxnSpPr>
          <p:spPr>
            <a:xfrm flipV="1">
              <a:off x="5550662" y="975979"/>
              <a:ext cx="158555" cy="12857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 name="Straight Connector 17"/>
            <p:cNvCxnSpPr/>
            <p:nvPr/>
          </p:nvCxnSpPr>
          <p:spPr>
            <a:xfrm flipV="1">
              <a:off x="5550662" y="1128364"/>
              <a:ext cx="158555" cy="12857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Straight Connector 18"/>
            <p:cNvCxnSpPr/>
            <p:nvPr/>
          </p:nvCxnSpPr>
          <p:spPr>
            <a:xfrm flipV="1">
              <a:off x="5550662" y="1280749"/>
              <a:ext cx="158555" cy="12857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Straight Connector 20"/>
            <p:cNvCxnSpPr/>
            <p:nvPr/>
          </p:nvCxnSpPr>
          <p:spPr>
            <a:xfrm flipV="1">
              <a:off x="5550662" y="1433134"/>
              <a:ext cx="158555" cy="12857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 name="Straight Connector 21"/>
            <p:cNvCxnSpPr/>
            <p:nvPr/>
          </p:nvCxnSpPr>
          <p:spPr>
            <a:xfrm flipV="1">
              <a:off x="5550662" y="1585519"/>
              <a:ext cx="158555" cy="12857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4" name="Straight Connector 23"/>
            <p:cNvCxnSpPr/>
            <p:nvPr/>
          </p:nvCxnSpPr>
          <p:spPr>
            <a:xfrm flipV="1">
              <a:off x="5550662" y="1737904"/>
              <a:ext cx="158555" cy="12857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Straight Connector 24"/>
            <p:cNvCxnSpPr/>
            <p:nvPr/>
          </p:nvCxnSpPr>
          <p:spPr>
            <a:xfrm flipV="1">
              <a:off x="5550662" y="1890289"/>
              <a:ext cx="158555" cy="12857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Straight Connector 26"/>
            <p:cNvCxnSpPr/>
            <p:nvPr/>
          </p:nvCxnSpPr>
          <p:spPr>
            <a:xfrm flipV="1">
              <a:off x="5550662" y="2042674"/>
              <a:ext cx="158555" cy="12857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Straight Connector 27"/>
            <p:cNvCxnSpPr/>
            <p:nvPr/>
          </p:nvCxnSpPr>
          <p:spPr>
            <a:xfrm flipV="1">
              <a:off x="5550662" y="2195059"/>
              <a:ext cx="158555" cy="12857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Straight Connector 28"/>
            <p:cNvCxnSpPr/>
            <p:nvPr/>
          </p:nvCxnSpPr>
          <p:spPr>
            <a:xfrm flipV="1">
              <a:off x="5550662" y="2347444"/>
              <a:ext cx="158555" cy="12857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Straight Connector 29"/>
            <p:cNvCxnSpPr/>
            <p:nvPr/>
          </p:nvCxnSpPr>
          <p:spPr>
            <a:xfrm flipV="1">
              <a:off x="5550662" y="2499829"/>
              <a:ext cx="158555" cy="12857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Straight Connector 30"/>
            <p:cNvCxnSpPr/>
            <p:nvPr/>
          </p:nvCxnSpPr>
          <p:spPr>
            <a:xfrm flipV="1">
              <a:off x="5550662" y="2652214"/>
              <a:ext cx="158555" cy="12857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Straight Connector 31"/>
            <p:cNvCxnSpPr/>
            <p:nvPr/>
          </p:nvCxnSpPr>
          <p:spPr>
            <a:xfrm flipV="1">
              <a:off x="5550662" y="2804599"/>
              <a:ext cx="158555" cy="12857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Straight Connector 32"/>
            <p:cNvCxnSpPr/>
            <p:nvPr/>
          </p:nvCxnSpPr>
          <p:spPr>
            <a:xfrm flipV="1">
              <a:off x="5550662" y="2956984"/>
              <a:ext cx="158555" cy="12857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Straight Connector 33"/>
            <p:cNvCxnSpPr/>
            <p:nvPr/>
          </p:nvCxnSpPr>
          <p:spPr>
            <a:xfrm flipV="1">
              <a:off x="5550662" y="3109369"/>
              <a:ext cx="158555" cy="12857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5" name="Straight Connector 34"/>
            <p:cNvCxnSpPr/>
            <p:nvPr/>
          </p:nvCxnSpPr>
          <p:spPr>
            <a:xfrm flipV="1">
              <a:off x="5550662" y="3261754"/>
              <a:ext cx="158555" cy="12857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 name="Straight Connector 35"/>
            <p:cNvCxnSpPr/>
            <p:nvPr/>
          </p:nvCxnSpPr>
          <p:spPr>
            <a:xfrm flipV="1">
              <a:off x="5550662" y="3414139"/>
              <a:ext cx="158555" cy="12857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 name="Straight Connector 36"/>
            <p:cNvCxnSpPr/>
            <p:nvPr/>
          </p:nvCxnSpPr>
          <p:spPr>
            <a:xfrm flipV="1">
              <a:off x="5550662" y="3566524"/>
              <a:ext cx="158555" cy="12857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8" name="Straight Connector 37"/>
            <p:cNvCxnSpPr/>
            <p:nvPr/>
          </p:nvCxnSpPr>
          <p:spPr>
            <a:xfrm flipV="1">
              <a:off x="5550662" y="3718909"/>
              <a:ext cx="158555" cy="12857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9" name="Straight Connector 38"/>
            <p:cNvCxnSpPr/>
            <p:nvPr/>
          </p:nvCxnSpPr>
          <p:spPr>
            <a:xfrm flipV="1">
              <a:off x="5550662" y="3871294"/>
              <a:ext cx="158555" cy="12857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0" name="Straight Connector 39"/>
            <p:cNvCxnSpPr/>
            <p:nvPr/>
          </p:nvCxnSpPr>
          <p:spPr>
            <a:xfrm flipV="1">
              <a:off x="5550662" y="4023679"/>
              <a:ext cx="158555" cy="12857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1" name="Straight Connector 40"/>
            <p:cNvCxnSpPr/>
            <p:nvPr/>
          </p:nvCxnSpPr>
          <p:spPr>
            <a:xfrm flipV="1">
              <a:off x="5550662" y="4176064"/>
              <a:ext cx="158555" cy="12857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Straight Connector 41"/>
            <p:cNvCxnSpPr/>
            <p:nvPr/>
          </p:nvCxnSpPr>
          <p:spPr>
            <a:xfrm flipV="1">
              <a:off x="5550662" y="4328450"/>
              <a:ext cx="158555" cy="12857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Straight Connector 42"/>
            <p:cNvCxnSpPr/>
            <p:nvPr/>
          </p:nvCxnSpPr>
          <p:spPr>
            <a:xfrm flipV="1">
              <a:off x="5550662" y="4480835"/>
              <a:ext cx="158555" cy="12857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4" name="Straight Connector 43"/>
            <p:cNvCxnSpPr/>
            <p:nvPr/>
          </p:nvCxnSpPr>
          <p:spPr>
            <a:xfrm flipV="1">
              <a:off x="5550661" y="4634806"/>
              <a:ext cx="158555" cy="12698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Straight Connector 44"/>
            <p:cNvCxnSpPr/>
            <p:nvPr/>
          </p:nvCxnSpPr>
          <p:spPr>
            <a:xfrm flipV="1">
              <a:off x="5550661" y="4787191"/>
              <a:ext cx="158555" cy="12698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Straight Connector 45"/>
            <p:cNvCxnSpPr/>
            <p:nvPr/>
          </p:nvCxnSpPr>
          <p:spPr>
            <a:xfrm flipV="1">
              <a:off x="5550661" y="4939576"/>
              <a:ext cx="158555" cy="12698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7" name="Straight Connector 46"/>
            <p:cNvCxnSpPr/>
            <p:nvPr/>
          </p:nvCxnSpPr>
          <p:spPr>
            <a:xfrm flipV="1">
              <a:off x="5550661" y="5091961"/>
              <a:ext cx="158555" cy="12698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8" name="Straight Connector 47"/>
            <p:cNvCxnSpPr/>
            <p:nvPr/>
          </p:nvCxnSpPr>
          <p:spPr>
            <a:xfrm flipV="1">
              <a:off x="5550661" y="5244346"/>
              <a:ext cx="158555" cy="12698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9" name="Straight Connector 48"/>
            <p:cNvCxnSpPr/>
            <p:nvPr/>
          </p:nvCxnSpPr>
          <p:spPr>
            <a:xfrm flipV="1">
              <a:off x="5550661" y="5396731"/>
              <a:ext cx="158555" cy="12698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0" name="Straight Connector 49"/>
            <p:cNvCxnSpPr/>
            <p:nvPr/>
          </p:nvCxnSpPr>
          <p:spPr>
            <a:xfrm flipV="1">
              <a:off x="5550661" y="5549116"/>
              <a:ext cx="158555" cy="12698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1" name="Straight Connector 50"/>
            <p:cNvCxnSpPr/>
            <p:nvPr/>
          </p:nvCxnSpPr>
          <p:spPr>
            <a:xfrm flipV="1">
              <a:off x="5550661" y="5701501"/>
              <a:ext cx="158555" cy="12698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2" name="Straight Connector 51"/>
            <p:cNvCxnSpPr/>
            <p:nvPr/>
          </p:nvCxnSpPr>
          <p:spPr>
            <a:xfrm flipV="1">
              <a:off x="5550661" y="5853886"/>
              <a:ext cx="158555" cy="12698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Straight Connector 52"/>
            <p:cNvCxnSpPr/>
            <p:nvPr/>
          </p:nvCxnSpPr>
          <p:spPr>
            <a:xfrm flipV="1">
              <a:off x="5550661" y="6006271"/>
              <a:ext cx="158555" cy="12698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4" name="Straight Connector 53"/>
            <p:cNvCxnSpPr/>
            <p:nvPr/>
          </p:nvCxnSpPr>
          <p:spPr>
            <a:xfrm flipV="1">
              <a:off x="5550661" y="6158656"/>
              <a:ext cx="158555" cy="12698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5" name="Straight Connector 54"/>
            <p:cNvCxnSpPr/>
            <p:nvPr/>
          </p:nvCxnSpPr>
          <p:spPr>
            <a:xfrm flipV="1">
              <a:off x="5550661" y="6311041"/>
              <a:ext cx="158555" cy="12698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6" name="Straight Connector 55"/>
            <p:cNvCxnSpPr/>
            <p:nvPr/>
          </p:nvCxnSpPr>
          <p:spPr>
            <a:xfrm flipV="1">
              <a:off x="5550661" y="6463426"/>
              <a:ext cx="158555" cy="12698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59" name="Straight Arrow Connector 58"/>
          <p:cNvCxnSpPr/>
          <p:nvPr/>
        </p:nvCxnSpPr>
        <p:spPr>
          <a:xfrm rot="16200000" flipH="1">
            <a:off x="3018632" y="4506120"/>
            <a:ext cx="2193925" cy="1662112"/>
          </a:xfrm>
          <a:prstGeom prst="straightConnector1">
            <a:avLst/>
          </a:prstGeom>
          <a:ln w="381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0" name="Straight Arrow Connector 59"/>
          <p:cNvCxnSpPr/>
          <p:nvPr/>
        </p:nvCxnSpPr>
        <p:spPr>
          <a:xfrm rot="16200000" flipH="1">
            <a:off x="3814763" y="4508501"/>
            <a:ext cx="2195513" cy="1662112"/>
          </a:xfrm>
          <a:prstGeom prst="straightConnector1">
            <a:avLst/>
          </a:prstGeom>
          <a:ln w="381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1" name="Straight Arrow Connector 60"/>
          <p:cNvCxnSpPr/>
          <p:nvPr/>
        </p:nvCxnSpPr>
        <p:spPr>
          <a:xfrm rot="16200000" flipH="1">
            <a:off x="3094038" y="3560763"/>
            <a:ext cx="2193925" cy="1663700"/>
          </a:xfrm>
          <a:prstGeom prst="straightConnector1">
            <a:avLst/>
          </a:prstGeom>
          <a:ln w="3810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62" name="Straight Arrow Connector 61"/>
          <p:cNvCxnSpPr/>
          <p:nvPr/>
        </p:nvCxnSpPr>
        <p:spPr>
          <a:xfrm rot="16200000" flipH="1">
            <a:off x="4552157" y="4495007"/>
            <a:ext cx="2195513" cy="1663700"/>
          </a:xfrm>
          <a:prstGeom prst="straightConnector1">
            <a:avLst/>
          </a:prstGeom>
          <a:ln w="381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4" name="Straight Arrow Connector 63"/>
          <p:cNvCxnSpPr/>
          <p:nvPr/>
        </p:nvCxnSpPr>
        <p:spPr>
          <a:xfrm rot="16200000" flipH="1">
            <a:off x="3529807" y="3144044"/>
            <a:ext cx="2195512" cy="1663700"/>
          </a:xfrm>
          <a:prstGeom prst="straightConnector1">
            <a:avLst/>
          </a:prstGeom>
          <a:ln w="3810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65" name="Straight Arrow Connector 64"/>
          <p:cNvCxnSpPr/>
          <p:nvPr/>
        </p:nvCxnSpPr>
        <p:spPr>
          <a:xfrm rot="5400000" flipH="1" flipV="1">
            <a:off x="6219826" y="4510089"/>
            <a:ext cx="2174875" cy="1660525"/>
          </a:xfrm>
          <a:prstGeom prst="straightConnector1">
            <a:avLst/>
          </a:prstGeom>
          <a:ln w="3810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72" name="Straight Arrow Connector 71"/>
          <p:cNvCxnSpPr/>
          <p:nvPr/>
        </p:nvCxnSpPr>
        <p:spPr>
          <a:xfrm rot="5400000" flipH="1" flipV="1">
            <a:off x="4616451" y="3944938"/>
            <a:ext cx="2824162" cy="2151063"/>
          </a:xfrm>
          <a:prstGeom prst="straightConnector1">
            <a:avLst/>
          </a:prstGeom>
          <a:ln w="3810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86" name="Straight Arrow Connector 85"/>
          <p:cNvCxnSpPr/>
          <p:nvPr/>
        </p:nvCxnSpPr>
        <p:spPr>
          <a:xfrm rot="5400000" flipH="1" flipV="1">
            <a:off x="5418138" y="4254500"/>
            <a:ext cx="2482850" cy="1879600"/>
          </a:xfrm>
          <a:prstGeom prst="straightConnector1">
            <a:avLst/>
          </a:prstGeom>
          <a:ln w="38100">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520203" name="TextBox 99"/>
          <p:cNvSpPr txBox="1">
            <a:spLocks noChangeArrowheads="1"/>
          </p:cNvSpPr>
          <p:nvPr/>
        </p:nvSpPr>
        <p:spPr bwMode="auto">
          <a:xfrm>
            <a:off x="6802438" y="1335089"/>
            <a:ext cx="1128712" cy="708025"/>
          </a:xfrm>
          <a:prstGeom prst="rect">
            <a:avLst/>
          </a:prstGeom>
          <a:noFill/>
          <a:ln w="9525">
            <a:noFill/>
            <a:miter lim="800000"/>
            <a:headEnd/>
            <a:tailEnd/>
          </a:ln>
        </p:spPr>
        <p:txBody>
          <a:bodyPr wrap="none">
            <a:spAutoFit/>
          </a:bodyPr>
          <a:lstStyle/>
          <a:p>
            <a:r>
              <a:rPr lang="en-US" sz="4000" dirty="0"/>
              <a:t>Rays</a:t>
            </a:r>
          </a:p>
        </p:txBody>
      </p:sp>
      <p:cxnSp>
        <p:nvCxnSpPr>
          <p:cNvPr id="101" name="Straight Arrow Connector 100"/>
          <p:cNvCxnSpPr>
            <a:stCxn id="520203" idx="2"/>
          </p:cNvCxnSpPr>
          <p:nvPr/>
        </p:nvCxnSpPr>
        <p:spPr>
          <a:xfrm rot="16200000" flipH="1">
            <a:off x="6648451" y="2762251"/>
            <a:ext cx="2119312" cy="681037"/>
          </a:xfrm>
          <a:prstGeom prst="straightConnector1">
            <a:avLst/>
          </a:prstGeom>
          <a:ln>
            <a:solidFill>
              <a:schemeClr val="tx1"/>
            </a:solidFill>
            <a:prstDash val="dash"/>
            <a:tailEnd type="arrow"/>
          </a:ln>
        </p:spPr>
        <p:style>
          <a:lnRef idx="1">
            <a:schemeClr val="accent1"/>
          </a:lnRef>
          <a:fillRef idx="0">
            <a:schemeClr val="accent1"/>
          </a:fillRef>
          <a:effectRef idx="0">
            <a:schemeClr val="accent1"/>
          </a:effectRef>
          <a:fontRef idx="minor">
            <a:schemeClr val="tx1"/>
          </a:fontRef>
        </p:style>
      </p:cxnSp>
      <p:cxnSp>
        <p:nvCxnSpPr>
          <p:cNvPr id="105" name="Straight Arrow Connector 104"/>
          <p:cNvCxnSpPr>
            <a:stCxn id="520203" idx="2"/>
          </p:cNvCxnSpPr>
          <p:nvPr/>
        </p:nvCxnSpPr>
        <p:spPr>
          <a:xfrm rot="5400000">
            <a:off x="6483351" y="2693988"/>
            <a:ext cx="1535112" cy="233363"/>
          </a:xfrm>
          <a:prstGeom prst="straightConnector1">
            <a:avLst/>
          </a:prstGeom>
          <a:ln>
            <a:solidFill>
              <a:schemeClr val="tx1"/>
            </a:solidFill>
            <a:prstDash val="dash"/>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59"/>
          <p:cNvGrpSpPr>
            <a:grpSpLocks/>
          </p:cNvGrpSpPr>
          <p:nvPr/>
        </p:nvGrpSpPr>
        <p:grpSpPr bwMode="auto">
          <a:xfrm rot="1063169">
            <a:off x="3928125" y="5324394"/>
            <a:ext cx="5533086" cy="1090247"/>
            <a:chOff x="539762" y="0"/>
            <a:chExt cx="6524625" cy="1333500"/>
          </a:xfrm>
        </p:grpSpPr>
        <p:sp>
          <p:nvSpPr>
            <p:cNvPr id="74" name="Freeform 73"/>
            <p:cNvSpPr/>
            <p:nvPr/>
          </p:nvSpPr>
          <p:spPr>
            <a:xfrm>
              <a:off x="540443" y="-558"/>
              <a:ext cx="6523860" cy="1333948"/>
            </a:xfrm>
            <a:custGeom>
              <a:avLst/>
              <a:gdLst>
                <a:gd name="connsiteX0" fmla="*/ 0 w 6524625"/>
                <a:gd name="connsiteY0" fmla="*/ 857250 h 1333500"/>
                <a:gd name="connsiteX1" fmla="*/ 733425 w 6524625"/>
                <a:gd name="connsiteY1" fmla="*/ 247650 h 1333500"/>
                <a:gd name="connsiteX2" fmla="*/ 1495425 w 6524625"/>
                <a:gd name="connsiteY2" fmla="*/ 666750 h 1333500"/>
                <a:gd name="connsiteX3" fmla="*/ 2257425 w 6524625"/>
                <a:gd name="connsiteY3" fmla="*/ 104775 h 1333500"/>
                <a:gd name="connsiteX4" fmla="*/ 2628900 w 6524625"/>
                <a:gd name="connsiteY4" fmla="*/ 876300 h 1333500"/>
                <a:gd name="connsiteX5" fmla="*/ 3305175 w 6524625"/>
                <a:gd name="connsiteY5" fmla="*/ 1143000 h 1333500"/>
                <a:gd name="connsiteX6" fmla="*/ 3905250 w 6524625"/>
                <a:gd name="connsiteY6" fmla="*/ 514350 h 1333500"/>
                <a:gd name="connsiteX7" fmla="*/ 4676775 w 6524625"/>
                <a:gd name="connsiteY7" fmla="*/ 95250 h 1333500"/>
                <a:gd name="connsiteX8" fmla="*/ 5657850 w 6524625"/>
                <a:gd name="connsiteY8" fmla="*/ 228600 h 1333500"/>
                <a:gd name="connsiteX9" fmla="*/ 6496050 w 6524625"/>
                <a:gd name="connsiteY9" fmla="*/ 0 h 1333500"/>
                <a:gd name="connsiteX10" fmla="*/ 6524625 w 6524625"/>
                <a:gd name="connsiteY10" fmla="*/ 161925 h 1333500"/>
                <a:gd name="connsiteX11" fmla="*/ 5553075 w 6524625"/>
                <a:gd name="connsiteY11" fmla="*/ 390525 h 1333500"/>
                <a:gd name="connsiteX12" fmla="*/ 4686300 w 6524625"/>
                <a:gd name="connsiteY12" fmla="*/ 257175 h 1333500"/>
                <a:gd name="connsiteX13" fmla="*/ 3952875 w 6524625"/>
                <a:gd name="connsiteY13" fmla="*/ 714375 h 1333500"/>
                <a:gd name="connsiteX14" fmla="*/ 3352800 w 6524625"/>
                <a:gd name="connsiteY14" fmla="*/ 1333500 h 1333500"/>
                <a:gd name="connsiteX15" fmla="*/ 2486025 w 6524625"/>
                <a:gd name="connsiteY15" fmla="*/ 1000125 h 1333500"/>
                <a:gd name="connsiteX16" fmla="*/ 2171700 w 6524625"/>
                <a:gd name="connsiteY16" fmla="*/ 371475 h 1333500"/>
                <a:gd name="connsiteX17" fmla="*/ 1457325 w 6524625"/>
                <a:gd name="connsiteY17" fmla="*/ 876300 h 1333500"/>
                <a:gd name="connsiteX18" fmla="*/ 733425 w 6524625"/>
                <a:gd name="connsiteY18" fmla="*/ 447675 h 1333500"/>
                <a:gd name="connsiteX19" fmla="*/ 114300 w 6524625"/>
                <a:gd name="connsiteY19" fmla="*/ 1009650 h 1333500"/>
                <a:gd name="connsiteX20" fmla="*/ 0 w 6524625"/>
                <a:gd name="connsiteY20" fmla="*/ 857250 h 13335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6524625" h="1333500">
                  <a:moveTo>
                    <a:pt x="0" y="857250"/>
                  </a:moveTo>
                  <a:lnTo>
                    <a:pt x="733425" y="247650"/>
                  </a:lnTo>
                  <a:lnTo>
                    <a:pt x="1495425" y="666750"/>
                  </a:lnTo>
                  <a:lnTo>
                    <a:pt x="2257425" y="104775"/>
                  </a:lnTo>
                  <a:lnTo>
                    <a:pt x="2628900" y="876300"/>
                  </a:lnTo>
                  <a:lnTo>
                    <a:pt x="3305175" y="1143000"/>
                  </a:lnTo>
                  <a:lnTo>
                    <a:pt x="3905250" y="514350"/>
                  </a:lnTo>
                  <a:lnTo>
                    <a:pt x="4676775" y="95250"/>
                  </a:lnTo>
                  <a:lnTo>
                    <a:pt x="5657850" y="228600"/>
                  </a:lnTo>
                  <a:lnTo>
                    <a:pt x="6496050" y="0"/>
                  </a:lnTo>
                  <a:lnTo>
                    <a:pt x="6524625" y="161925"/>
                  </a:lnTo>
                  <a:lnTo>
                    <a:pt x="5553075" y="390525"/>
                  </a:lnTo>
                  <a:lnTo>
                    <a:pt x="4686300" y="257175"/>
                  </a:lnTo>
                  <a:lnTo>
                    <a:pt x="3952875" y="714375"/>
                  </a:lnTo>
                  <a:lnTo>
                    <a:pt x="3352800" y="1333500"/>
                  </a:lnTo>
                  <a:lnTo>
                    <a:pt x="2486025" y="1000125"/>
                  </a:lnTo>
                  <a:lnTo>
                    <a:pt x="2171700" y="371475"/>
                  </a:lnTo>
                  <a:lnTo>
                    <a:pt x="1457325" y="876300"/>
                  </a:lnTo>
                  <a:lnTo>
                    <a:pt x="733425" y="447675"/>
                  </a:lnTo>
                  <a:lnTo>
                    <a:pt x="114300" y="1009650"/>
                  </a:lnTo>
                  <a:lnTo>
                    <a:pt x="0" y="857250"/>
                  </a:lnTo>
                  <a:close/>
                </a:path>
              </a:pathLst>
            </a:cu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dirty="0"/>
            </a:p>
          </p:txBody>
        </p:sp>
        <p:cxnSp>
          <p:nvCxnSpPr>
            <p:cNvPr id="17" name="Straight Connector 16"/>
            <p:cNvCxnSpPr/>
            <p:nvPr/>
          </p:nvCxnSpPr>
          <p:spPr>
            <a:xfrm rot="16200000" flipV="1">
              <a:off x="1104035" y="390765"/>
              <a:ext cx="124269" cy="9921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 name="Straight Connector 17"/>
            <p:cNvCxnSpPr/>
            <p:nvPr/>
          </p:nvCxnSpPr>
          <p:spPr>
            <a:xfrm rot="16200000" flipV="1">
              <a:off x="1219971" y="296194"/>
              <a:ext cx="312614" cy="24897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Straight Connector 18"/>
            <p:cNvCxnSpPr/>
            <p:nvPr/>
          </p:nvCxnSpPr>
          <p:spPr>
            <a:xfrm rot="16200000" flipV="1">
              <a:off x="1393564" y="370212"/>
              <a:ext cx="401931" cy="33134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Straight Connector 24"/>
            <p:cNvCxnSpPr/>
            <p:nvPr/>
          </p:nvCxnSpPr>
          <p:spPr>
            <a:xfrm rot="16200000" flipV="1">
              <a:off x="2056028" y="671447"/>
              <a:ext cx="108735" cy="8611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Straight Connector 26"/>
            <p:cNvCxnSpPr/>
            <p:nvPr/>
          </p:nvCxnSpPr>
          <p:spPr>
            <a:xfrm rot="16200000" flipV="1">
              <a:off x="2179900" y="563735"/>
              <a:ext cx="120385" cy="9734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Straight Connector 27"/>
            <p:cNvCxnSpPr/>
            <p:nvPr/>
          </p:nvCxnSpPr>
          <p:spPr>
            <a:xfrm rot="16200000" flipV="1">
              <a:off x="2330147" y="459142"/>
              <a:ext cx="118443" cy="9547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Straight Connector 28"/>
            <p:cNvCxnSpPr/>
            <p:nvPr/>
          </p:nvCxnSpPr>
          <p:spPr>
            <a:xfrm rot="16200000" flipV="1">
              <a:off x="2480780" y="350880"/>
              <a:ext cx="159219" cy="12729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Straight Connector 29"/>
            <p:cNvCxnSpPr/>
            <p:nvPr/>
          </p:nvCxnSpPr>
          <p:spPr>
            <a:xfrm rot="16200000" flipV="1">
              <a:off x="2562460" y="276999"/>
              <a:ext cx="128152" cy="1048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Straight Connector 30"/>
            <p:cNvCxnSpPr/>
            <p:nvPr/>
          </p:nvCxnSpPr>
          <p:spPr>
            <a:xfrm rot="16200000" flipV="1">
              <a:off x="2740349" y="155883"/>
              <a:ext cx="159219" cy="12916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Straight Connector 33"/>
            <p:cNvCxnSpPr/>
            <p:nvPr/>
          </p:nvCxnSpPr>
          <p:spPr>
            <a:xfrm rot="16200000" flipV="1">
              <a:off x="3220929" y="938322"/>
              <a:ext cx="244654" cy="19468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5" name="Straight Connector 34"/>
            <p:cNvCxnSpPr/>
            <p:nvPr/>
          </p:nvCxnSpPr>
          <p:spPr>
            <a:xfrm rot="16200000" flipV="1">
              <a:off x="3382232" y="999085"/>
              <a:ext cx="242713" cy="18907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 name="Straight Connector 35"/>
            <p:cNvCxnSpPr/>
            <p:nvPr/>
          </p:nvCxnSpPr>
          <p:spPr>
            <a:xfrm rot="16200000" flipV="1">
              <a:off x="3538160" y="1063415"/>
              <a:ext cx="221354" cy="17409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 name="Straight Connector 36"/>
            <p:cNvCxnSpPr>
              <a:stCxn id="74" idx="14"/>
            </p:cNvCxnSpPr>
            <p:nvPr/>
          </p:nvCxnSpPr>
          <p:spPr>
            <a:xfrm flipH="1" flipV="1">
              <a:off x="3696420" y="1086149"/>
              <a:ext cx="194686" cy="24659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9" name="Straight Connector 38"/>
            <p:cNvCxnSpPr/>
            <p:nvPr/>
          </p:nvCxnSpPr>
          <p:spPr>
            <a:xfrm rot="16200000" flipV="1">
              <a:off x="4006634" y="995471"/>
              <a:ext cx="122328" cy="9547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0" name="Straight Connector 39"/>
            <p:cNvCxnSpPr/>
            <p:nvPr/>
          </p:nvCxnSpPr>
          <p:spPr>
            <a:xfrm rot="16200000" flipV="1">
              <a:off x="4148360" y="829009"/>
              <a:ext cx="133977" cy="11044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1" name="Straight Connector 40"/>
            <p:cNvCxnSpPr/>
            <p:nvPr/>
          </p:nvCxnSpPr>
          <p:spPr>
            <a:xfrm rot="16200000" flipV="1">
              <a:off x="4292728" y="679590"/>
              <a:ext cx="143686" cy="10857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Straight Connector 41"/>
            <p:cNvCxnSpPr/>
            <p:nvPr/>
          </p:nvCxnSpPr>
          <p:spPr>
            <a:xfrm rot="16200000" flipV="1">
              <a:off x="4460325" y="512230"/>
              <a:ext cx="159219" cy="12729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Straight Connector 42"/>
            <p:cNvCxnSpPr/>
            <p:nvPr/>
          </p:nvCxnSpPr>
          <p:spPr>
            <a:xfrm rot="16200000" flipV="1">
              <a:off x="4613658" y="434086"/>
              <a:ext cx="141745" cy="112319"/>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4" name="Straight Connector 43"/>
            <p:cNvCxnSpPr/>
            <p:nvPr/>
          </p:nvCxnSpPr>
          <p:spPr>
            <a:xfrm rot="16200000" flipV="1">
              <a:off x="4767403" y="355328"/>
              <a:ext cx="128152" cy="10108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Straight Connector 44"/>
            <p:cNvCxnSpPr/>
            <p:nvPr/>
          </p:nvCxnSpPr>
          <p:spPr>
            <a:xfrm rot="16200000" flipV="1">
              <a:off x="4904175" y="265614"/>
              <a:ext cx="132036" cy="10295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Straight Connector 45"/>
            <p:cNvCxnSpPr/>
            <p:nvPr/>
          </p:nvCxnSpPr>
          <p:spPr>
            <a:xfrm rot="16200000" flipV="1">
              <a:off x="5064935" y="185397"/>
              <a:ext cx="120385" cy="9547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7" name="Straight Connector 46"/>
            <p:cNvCxnSpPr/>
            <p:nvPr/>
          </p:nvCxnSpPr>
          <p:spPr>
            <a:xfrm rot="16200000" flipV="1">
              <a:off x="5181117" y="114810"/>
              <a:ext cx="192228" cy="14601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8" name="Straight Connector 47"/>
            <p:cNvCxnSpPr/>
            <p:nvPr/>
          </p:nvCxnSpPr>
          <p:spPr>
            <a:xfrm rot="16200000" flipV="1">
              <a:off x="5374465" y="139636"/>
              <a:ext cx="170869" cy="14039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9" name="Straight Connector 48"/>
            <p:cNvCxnSpPr/>
            <p:nvPr/>
          </p:nvCxnSpPr>
          <p:spPr>
            <a:xfrm rot="16200000" flipV="1">
              <a:off x="5522293" y="163418"/>
              <a:ext cx="188344" cy="14601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0" name="Straight Connector 49"/>
            <p:cNvCxnSpPr/>
            <p:nvPr/>
          </p:nvCxnSpPr>
          <p:spPr>
            <a:xfrm rot="16200000" flipV="1">
              <a:off x="5674357" y="170870"/>
              <a:ext cx="199994" cy="16099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1" name="Straight Connector 50"/>
            <p:cNvCxnSpPr/>
            <p:nvPr/>
          </p:nvCxnSpPr>
          <p:spPr>
            <a:xfrm rot="16200000" flipV="1">
              <a:off x="5823522" y="214352"/>
              <a:ext cx="178636" cy="131039"/>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2" name="Straight Connector 51"/>
            <p:cNvCxnSpPr/>
            <p:nvPr/>
          </p:nvCxnSpPr>
          <p:spPr>
            <a:xfrm rot="16200000" flipV="1">
              <a:off x="5963203" y="214560"/>
              <a:ext cx="184462" cy="14414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Straight Connector 52"/>
            <p:cNvCxnSpPr/>
            <p:nvPr/>
          </p:nvCxnSpPr>
          <p:spPr>
            <a:xfrm rot="16200000" flipV="1">
              <a:off x="6141519" y="240763"/>
              <a:ext cx="118444" cy="9734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4" name="Straight Connector 53"/>
            <p:cNvCxnSpPr/>
            <p:nvPr/>
          </p:nvCxnSpPr>
          <p:spPr>
            <a:xfrm rot="16200000" flipV="1">
              <a:off x="6291980" y="204045"/>
              <a:ext cx="126211" cy="10108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5" name="Straight Connector 54"/>
            <p:cNvCxnSpPr/>
            <p:nvPr/>
          </p:nvCxnSpPr>
          <p:spPr>
            <a:xfrm rot="16200000" flipV="1">
              <a:off x="6445782" y="162110"/>
              <a:ext cx="120385" cy="9921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6" name="Straight Connector 55"/>
            <p:cNvCxnSpPr/>
            <p:nvPr/>
          </p:nvCxnSpPr>
          <p:spPr>
            <a:xfrm rot="16200000" flipV="1">
              <a:off x="6596042" y="117693"/>
              <a:ext cx="133978" cy="11044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5" name="Straight Connector 74"/>
            <p:cNvCxnSpPr/>
            <p:nvPr/>
          </p:nvCxnSpPr>
          <p:spPr>
            <a:xfrm rot="16200000" flipV="1">
              <a:off x="979049" y="487372"/>
              <a:ext cx="132036" cy="10857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6" name="Straight Connector 75"/>
            <p:cNvCxnSpPr/>
            <p:nvPr/>
          </p:nvCxnSpPr>
          <p:spPr>
            <a:xfrm rot="16200000" flipV="1">
              <a:off x="855276" y="612296"/>
              <a:ext cx="120385" cy="9547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7" name="Straight Connector 76"/>
            <p:cNvCxnSpPr/>
            <p:nvPr/>
          </p:nvCxnSpPr>
          <p:spPr>
            <a:xfrm rot="16200000" flipV="1">
              <a:off x="6754065" y="83153"/>
              <a:ext cx="124269" cy="10857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8" name="Straight Connector 77"/>
            <p:cNvCxnSpPr/>
            <p:nvPr/>
          </p:nvCxnSpPr>
          <p:spPr>
            <a:xfrm rot="16200000" flipV="1">
              <a:off x="6897513" y="43637"/>
              <a:ext cx="137861" cy="11044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5" name="Straight Connector 114"/>
            <p:cNvCxnSpPr/>
            <p:nvPr/>
          </p:nvCxnSpPr>
          <p:spPr>
            <a:xfrm rot="16200000" flipV="1">
              <a:off x="3860270" y="1128656"/>
              <a:ext cx="122328" cy="9734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3" name="Straight Connector 122"/>
            <p:cNvCxnSpPr/>
            <p:nvPr/>
          </p:nvCxnSpPr>
          <p:spPr>
            <a:xfrm rot="16200000" flipV="1">
              <a:off x="2764825" y="615921"/>
              <a:ext cx="506783" cy="40060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6" name="Straight Connector 125"/>
            <p:cNvCxnSpPr/>
            <p:nvPr/>
          </p:nvCxnSpPr>
          <p:spPr>
            <a:xfrm rot="16200000" flipV="1">
              <a:off x="2619667" y="255119"/>
              <a:ext cx="532025" cy="42119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9" name="Straight Connector 128"/>
            <p:cNvCxnSpPr/>
            <p:nvPr/>
          </p:nvCxnSpPr>
          <p:spPr>
            <a:xfrm rot="16200000" flipV="1">
              <a:off x="2917996" y="859447"/>
              <a:ext cx="198053" cy="16099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0" name="Straight Connector 139"/>
            <p:cNvCxnSpPr/>
            <p:nvPr/>
          </p:nvCxnSpPr>
          <p:spPr>
            <a:xfrm rot="16200000" flipV="1">
              <a:off x="1658627" y="505654"/>
              <a:ext cx="401931" cy="33321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6" name="Straight Connector 145"/>
            <p:cNvCxnSpPr/>
            <p:nvPr/>
          </p:nvCxnSpPr>
          <p:spPr>
            <a:xfrm rot="16200000" flipV="1">
              <a:off x="726966" y="721153"/>
              <a:ext cx="120385" cy="9734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7" name="Straight Connector 146"/>
            <p:cNvCxnSpPr/>
            <p:nvPr/>
          </p:nvCxnSpPr>
          <p:spPr>
            <a:xfrm rot="16200000" flipV="1">
              <a:off x="616240" y="821039"/>
              <a:ext cx="120385" cy="9734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3" name="Straight Arrow Connector 2"/>
          <p:cNvCxnSpPr/>
          <p:nvPr/>
        </p:nvCxnSpPr>
        <p:spPr bwMode="auto">
          <a:xfrm rot="16200000" flipH="1">
            <a:off x="3431093" y="1219546"/>
            <a:ext cx="1793875" cy="1411288"/>
          </a:xfrm>
          <a:prstGeom prst="straightConnector1">
            <a:avLst/>
          </a:prstGeom>
          <a:ln w="3810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59" name="Straight Arrow Connector 58"/>
          <p:cNvCxnSpPr/>
          <p:nvPr/>
        </p:nvCxnSpPr>
        <p:spPr bwMode="auto">
          <a:xfrm rot="16200000" flipH="1">
            <a:off x="3723193" y="3870671"/>
            <a:ext cx="1504950" cy="1192213"/>
          </a:xfrm>
          <a:prstGeom prst="straightConnector1">
            <a:avLst/>
          </a:prstGeom>
          <a:ln w="381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0" name="Straight Arrow Connector 59"/>
          <p:cNvCxnSpPr/>
          <p:nvPr/>
        </p:nvCxnSpPr>
        <p:spPr bwMode="auto">
          <a:xfrm rot="16200000" flipH="1">
            <a:off x="3484274" y="2715766"/>
            <a:ext cx="2744788" cy="2236787"/>
          </a:xfrm>
          <a:prstGeom prst="straightConnector1">
            <a:avLst/>
          </a:prstGeom>
          <a:ln w="381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1" name="Straight Arrow Connector 60"/>
          <p:cNvCxnSpPr/>
          <p:nvPr/>
        </p:nvCxnSpPr>
        <p:spPr bwMode="auto">
          <a:xfrm rot="16200000" flipH="1">
            <a:off x="2827049" y="1728340"/>
            <a:ext cx="1784350" cy="1438275"/>
          </a:xfrm>
          <a:prstGeom prst="straightConnector1">
            <a:avLst/>
          </a:prstGeom>
          <a:ln w="3810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62" name="Straight Arrow Connector 61"/>
          <p:cNvCxnSpPr/>
          <p:nvPr/>
        </p:nvCxnSpPr>
        <p:spPr bwMode="auto">
          <a:xfrm rot="16200000" flipH="1">
            <a:off x="3789075" y="2220467"/>
            <a:ext cx="4079875" cy="3216275"/>
          </a:xfrm>
          <a:prstGeom prst="straightConnector1">
            <a:avLst/>
          </a:prstGeom>
          <a:ln w="381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5" name="Straight Arrow Connector 64"/>
          <p:cNvCxnSpPr/>
          <p:nvPr/>
        </p:nvCxnSpPr>
        <p:spPr bwMode="auto">
          <a:xfrm rot="5400000" flipH="1" flipV="1">
            <a:off x="6945024" y="4425503"/>
            <a:ext cx="1914525" cy="927100"/>
          </a:xfrm>
          <a:prstGeom prst="straightConnector1">
            <a:avLst/>
          </a:prstGeom>
          <a:ln w="3810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72" name="Straight Arrow Connector 71"/>
          <p:cNvCxnSpPr/>
          <p:nvPr/>
        </p:nvCxnSpPr>
        <p:spPr bwMode="auto">
          <a:xfrm flipV="1">
            <a:off x="5349297" y="2313695"/>
            <a:ext cx="3351358" cy="3055360"/>
          </a:xfrm>
          <a:prstGeom prst="straightConnector1">
            <a:avLst/>
          </a:prstGeom>
          <a:ln w="3810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86" name="Straight Arrow Connector 85"/>
          <p:cNvCxnSpPr/>
          <p:nvPr/>
        </p:nvCxnSpPr>
        <p:spPr bwMode="auto">
          <a:xfrm rot="16200000" flipV="1">
            <a:off x="3595400" y="2815779"/>
            <a:ext cx="3635375" cy="1089025"/>
          </a:xfrm>
          <a:prstGeom prst="straightConnector1">
            <a:avLst/>
          </a:prstGeom>
          <a:ln w="3810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71" name="Straight Arrow Connector 170"/>
          <p:cNvCxnSpPr/>
          <p:nvPr/>
        </p:nvCxnSpPr>
        <p:spPr bwMode="auto">
          <a:xfrm rot="16200000" flipH="1">
            <a:off x="2320637" y="2171253"/>
            <a:ext cx="1784350" cy="1438275"/>
          </a:xfrm>
          <a:prstGeom prst="straightConnector1">
            <a:avLst/>
          </a:prstGeom>
          <a:ln w="3810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57" name="Straight Arrow Connector 56"/>
          <p:cNvCxnSpPr/>
          <p:nvPr/>
        </p:nvCxnSpPr>
        <p:spPr bwMode="auto">
          <a:xfrm>
            <a:off x="5053013" y="5195441"/>
            <a:ext cx="307180" cy="183357"/>
          </a:xfrm>
          <a:prstGeom prst="straightConnector1">
            <a:avLst/>
          </a:prstGeom>
          <a:ln w="38100">
            <a:solidFill>
              <a:schemeClr val="tx1"/>
            </a:solidFill>
            <a:tailEnd type="none"/>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1555" name="Rectangle 2"/>
          <p:cNvSpPr>
            <a:spLocks noGrp="1" noChangeArrowheads="1"/>
          </p:cNvSpPr>
          <p:nvPr>
            <p:ph type="title"/>
          </p:nvPr>
        </p:nvSpPr>
        <p:spPr/>
        <p:txBody>
          <a:bodyPr/>
          <a:lstStyle/>
          <a:p>
            <a:pPr eaLnBrk="1" hangingPunct="1"/>
            <a:r>
              <a:rPr lang="en-US"/>
              <a:t>Question 35.3.6</a:t>
            </a:r>
          </a:p>
        </p:txBody>
      </p:sp>
      <p:sp>
        <p:nvSpPr>
          <p:cNvPr id="151556" name="Rectangle 3"/>
          <p:cNvSpPr>
            <a:spLocks noGrp="1" noChangeArrowheads="1"/>
          </p:cNvSpPr>
          <p:nvPr>
            <p:ph idx="1"/>
          </p:nvPr>
        </p:nvSpPr>
        <p:spPr/>
        <p:txBody>
          <a:bodyPr/>
          <a:lstStyle/>
          <a:p>
            <a:pPr marL="609600" indent="-609600">
              <a:buNone/>
            </a:pPr>
            <a:r>
              <a:rPr lang="en-US" sz="2400"/>
              <a:t>I have a neat demo on the board where light goes from left to right. You can see the path the light takes. How can this be?</a:t>
            </a:r>
          </a:p>
          <a:p>
            <a:pPr marL="609600" indent="-609600">
              <a:buFontTx/>
              <a:buAutoNum type="alphaLcParenR"/>
            </a:pPr>
            <a:r>
              <a:rPr lang="en-US" sz="2400"/>
              <a:t>The light ray is a different color than the laser, so I can see it.</a:t>
            </a:r>
          </a:p>
          <a:p>
            <a:pPr marL="609600" indent="-609600">
              <a:buFontTx/>
              <a:buAutoNum type="alphaLcParenR"/>
            </a:pPr>
            <a:r>
              <a:rPr lang="en-US" sz="2400"/>
              <a:t>The light ray must follow the law of reflection, so it must be bouncing back along it’s original path</a:t>
            </a:r>
          </a:p>
          <a:p>
            <a:pPr marL="609600" indent="-609600">
              <a:buFontTx/>
              <a:buAutoNum type="alphaLcParenR"/>
            </a:pPr>
            <a:r>
              <a:rPr lang="en-US" sz="2400"/>
              <a:t>The light ray must be hitting dust in the air as it travels, so we see the scattered light from the dust.</a:t>
            </a:r>
          </a:p>
          <a:p>
            <a:pPr marL="609600" indent="-609600">
              <a:buFontTx/>
              <a:buAutoNum type="alphaLcParenR"/>
            </a:pPr>
            <a:r>
              <a:rPr lang="en-US" sz="2400"/>
              <a:t>The light is not a single ray, and part of the light beam it hits the board, sending rays to my eyes </a:t>
            </a:r>
          </a:p>
        </p:txBody>
      </p:sp>
      <p:sp>
        <p:nvSpPr>
          <p:cNvPr id="151554" name="Slide Number Placeholder 5"/>
          <p:cNvSpPr>
            <a:spLocks noGrp="1"/>
          </p:cNvSpPr>
          <p:nvPr>
            <p:ph type="sldNum" sz="quarter" idx="12"/>
          </p:nvPr>
        </p:nvSpPr>
        <p:spPr>
          <a:noFill/>
        </p:spPr>
        <p:txBody>
          <a:bodyPr/>
          <a:lstStyle/>
          <a:p>
            <a:fld id="{DAF81AD2-4A78-4F09-9DFB-9A1A5C31FC83}" type="slidenum">
              <a:rPr lang="en-US" smtClean="0"/>
              <a:pPr/>
              <a:t>37</a:t>
            </a:fld>
            <a:endParaRPr lang="en-US"/>
          </a:p>
        </p:txBody>
      </p:sp>
    </p:spTree>
    <p:extLst>
      <p:ext uri="{BB962C8B-B14F-4D97-AF65-F5344CB8AC3E}">
        <p14:creationId xmlns:p14="http://schemas.microsoft.com/office/powerpoint/2010/main" val="269938713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62E6FF-38A2-9EF7-70FD-ADBD47A74782}"/>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E9EF4940-7833-7883-1045-2524FA740431}"/>
              </a:ext>
            </a:extLst>
          </p:cNvPr>
          <p:cNvSpPr>
            <a:spLocks noGrp="1"/>
          </p:cNvSpPr>
          <p:nvPr>
            <p:ph idx="1"/>
          </p:nvPr>
        </p:nvSpPr>
        <p:spPr/>
        <p:txBody>
          <a:bodyPr/>
          <a:lstStyle/>
          <a:p>
            <a:endParaRPr lang="en-US"/>
          </a:p>
        </p:txBody>
      </p:sp>
      <p:pic>
        <p:nvPicPr>
          <p:cNvPr id="7" name="Picture 6">
            <a:extLst>
              <a:ext uri="{FF2B5EF4-FFF2-40B4-BE49-F238E27FC236}">
                <a16:creationId xmlns:a16="http://schemas.microsoft.com/office/drawing/2014/main" id="{DC38C7E9-0D16-41B5-CF4B-520D0066E661}"/>
              </a:ext>
            </a:extLst>
          </p:cNvPr>
          <p:cNvPicPr>
            <a:picLocks noChangeAspect="1"/>
          </p:cNvPicPr>
          <p:nvPr/>
        </p:nvPicPr>
        <p:blipFill>
          <a:blip r:embed="rId2">
            <a:duotone>
              <a:prstClr val="black"/>
              <a:schemeClr val="tx2">
                <a:tint val="45000"/>
                <a:satMod val="400000"/>
              </a:schemeClr>
            </a:duotone>
            <a:lum contrast="-40000"/>
          </a:blip>
          <a:stretch>
            <a:fillRect/>
          </a:stretch>
        </p:blipFill>
        <p:spPr>
          <a:xfrm>
            <a:off x="479752" y="1876667"/>
            <a:ext cx="11712248" cy="3547871"/>
          </a:xfrm>
          <a:prstGeom prst="rect">
            <a:avLst/>
          </a:prstGeom>
        </p:spPr>
      </p:pic>
    </p:spTree>
    <p:extLst>
      <p:ext uri="{BB962C8B-B14F-4D97-AF65-F5344CB8AC3E}">
        <p14:creationId xmlns:p14="http://schemas.microsoft.com/office/powerpoint/2010/main" val="49048905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2"/>
          <p:cNvGrpSpPr>
            <a:grpSpLocks/>
          </p:cNvGrpSpPr>
          <p:nvPr/>
        </p:nvGrpSpPr>
        <p:grpSpPr bwMode="auto">
          <a:xfrm rot="-5400000">
            <a:off x="6314282" y="2336007"/>
            <a:ext cx="180975" cy="5634038"/>
            <a:chOff x="5539563" y="956930"/>
            <a:chExt cx="180753" cy="5633484"/>
          </a:xfrm>
        </p:grpSpPr>
        <p:sp>
          <p:nvSpPr>
            <p:cNvPr id="16" name="Rectangle 15"/>
            <p:cNvSpPr/>
            <p:nvPr/>
          </p:nvSpPr>
          <p:spPr>
            <a:xfrm>
              <a:off x="5539563" y="956930"/>
              <a:ext cx="180753" cy="5623960"/>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dirty="0"/>
            </a:p>
          </p:txBody>
        </p:sp>
        <p:cxnSp>
          <p:nvCxnSpPr>
            <p:cNvPr id="17" name="Straight Connector 16"/>
            <p:cNvCxnSpPr/>
            <p:nvPr/>
          </p:nvCxnSpPr>
          <p:spPr>
            <a:xfrm flipV="1">
              <a:off x="5550663" y="975979"/>
              <a:ext cx="158555" cy="12857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 name="Straight Connector 17"/>
            <p:cNvCxnSpPr/>
            <p:nvPr/>
          </p:nvCxnSpPr>
          <p:spPr>
            <a:xfrm flipV="1">
              <a:off x="5550663" y="1128364"/>
              <a:ext cx="158555" cy="12857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Straight Connector 18"/>
            <p:cNvCxnSpPr/>
            <p:nvPr/>
          </p:nvCxnSpPr>
          <p:spPr>
            <a:xfrm flipV="1">
              <a:off x="5550663" y="1280749"/>
              <a:ext cx="158555" cy="12857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Straight Connector 20"/>
            <p:cNvCxnSpPr/>
            <p:nvPr/>
          </p:nvCxnSpPr>
          <p:spPr>
            <a:xfrm flipV="1">
              <a:off x="5550663" y="1433134"/>
              <a:ext cx="158555" cy="12857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 name="Straight Connector 21"/>
            <p:cNvCxnSpPr/>
            <p:nvPr/>
          </p:nvCxnSpPr>
          <p:spPr>
            <a:xfrm flipV="1">
              <a:off x="5550663" y="1585519"/>
              <a:ext cx="158555" cy="12857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4" name="Straight Connector 23"/>
            <p:cNvCxnSpPr/>
            <p:nvPr/>
          </p:nvCxnSpPr>
          <p:spPr>
            <a:xfrm flipV="1">
              <a:off x="5550663" y="1737904"/>
              <a:ext cx="158555" cy="12857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Straight Connector 24"/>
            <p:cNvCxnSpPr/>
            <p:nvPr/>
          </p:nvCxnSpPr>
          <p:spPr>
            <a:xfrm flipV="1">
              <a:off x="5550663" y="1890289"/>
              <a:ext cx="158555" cy="12857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Straight Connector 26"/>
            <p:cNvCxnSpPr/>
            <p:nvPr/>
          </p:nvCxnSpPr>
          <p:spPr>
            <a:xfrm flipV="1">
              <a:off x="5550663" y="2042674"/>
              <a:ext cx="158555" cy="12857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Straight Connector 27"/>
            <p:cNvCxnSpPr/>
            <p:nvPr/>
          </p:nvCxnSpPr>
          <p:spPr>
            <a:xfrm flipV="1">
              <a:off x="5550663" y="2195059"/>
              <a:ext cx="158555" cy="12857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Straight Connector 28"/>
            <p:cNvCxnSpPr/>
            <p:nvPr/>
          </p:nvCxnSpPr>
          <p:spPr>
            <a:xfrm flipV="1">
              <a:off x="5550663" y="2347444"/>
              <a:ext cx="158555" cy="12857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Straight Connector 29"/>
            <p:cNvCxnSpPr/>
            <p:nvPr/>
          </p:nvCxnSpPr>
          <p:spPr>
            <a:xfrm flipV="1">
              <a:off x="5550663" y="2499829"/>
              <a:ext cx="158555" cy="12857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Straight Connector 30"/>
            <p:cNvCxnSpPr/>
            <p:nvPr/>
          </p:nvCxnSpPr>
          <p:spPr>
            <a:xfrm flipV="1">
              <a:off x="5550663" y="2652214"/>
              <a:ext cx="158555" cy="12857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Straight Connector 31"/>
            <p:cNvCxnSpPr/>
            <p:nvPr/>
          </p:nvCxnSpPr>
          <p:spPr>
            <a:xfrm flipV="1">
              <a:off x="5550663" y="2804599"/>
              <a:ext cx="158555" cy="12857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Straight Connector 32"/>
            <p:cNvCxnSpPr/>
            <p:nvPr/>
          </p:nvCxnSpPr>
          <p:spPr>
            <a:xfrm flipV="1">
              <a:off x="5550663" y="2956984"/>
              <a:ext cx="158555" cy="12857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Straight Connector 33"/>
            <p:cNvCxnSpPr/>
            <p:nvPr/>
          </p:nvCxnSpPr>
          <p:spPr>
            <a:xfrm flipV="1">
              <a:off x="5550663" y="3109369"/>
              <a:ext cx="158555" cy="12857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5" name="Straight Connector 34"/>
            <p:cNvCxnSpPr/>
            <p:nvPr/>
          </p:nvCxnSpPr>
          <p:spPr>
            <a:xfrm flipV="1">
              <a:off x="5550663" y="3261754"/>
              <a:ext cx="158555" cy="12857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 name="Straight Connector 35"/>
            <p:cNvCxnSpPr/>
            <p:nvPr/>
          </p:nvCxnSpPr>
          <p:spPr>
            <a:xfrm flipV="1">
              <a:off x="5550663" y="3414139"/>
              <a:ext cx="158555" cy="12857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 name="Straight Connector 36"/>
            <p:cNvCxnSpPr/>
            <p:nvPr/>
          </p:nvCxnSpPr>
          <p:spPr>
            <a:xfrm flipV="1">
              <a:off x="5550663" y="3566524"/>
              <a:ext cx="158555" cy="12857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8" name="Straight Connector 37"/>
            <p:cNvCxnSpPr/>
            <p:nvPr/>
          </p:nvCxnSpPr>
          <p:spPr>
            <a:xfrm flipV="1">
              <a:off x="5550663" y="3718909"/>
              <a:ext cx="158555" cy="12857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9" name="Straight Connector 38"/>
            <p:cNvCxnSpPr/>
            <p:nvPr/>
          </p:nvCxnSpPr>
          <p:spPr>
            <a:xfrm flipV="1">
              <a:off x="5550663" y="3871294"/>
              <a:ext cx="158555" cy="12857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0" name="Straight Connector 39"/>
            <p:cNvCxnSpPr/>
            <p:nvPr/>
          </p:nvCxnSpPr>
          <p:spPr>
            <a:xfrm flipV="1">
              <a:off x="5550663" y="4023679"/>
              <a:ext cx="158555" cy="12857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1" name="Straight Connector 40"/>
            <p:cNvCxnSpPr/>
            <p:nvPr/>
          </p:nvCxnSpPr>
          <p:spPr>
            <a:xfrm flipV="1">
              <a:off x="5550663" y="4176064"/>
              <a:ext cx="158555" cy="12857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Straight Connector 41"/>
            <p:cNvCxnSpPr/>
            <p:nvPr/>
          </p:nvCxnSpPr>
          <p:spPr>
            <a:xfrm flipV="1">
              <a:off x="5550663" y="4328449"/>
              <a:ext cx="158555" cy="12857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Straight Connector 42"/>
            <p:cNvCxnSpPr/>
            <p:nvPr/>
          </p:nvCxnSpPr>
          <p:spPr>
            <a:xfrm flipV="1">
              <a:off x="5550663" y="4480834"/>
              <a:ext cx="158555" cy="12857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4" name="Straight Connector 43"/>
            <p:cNvCxnSpPr/>
            <p:nvPr/>
          </p:nvCxnSpPr>
          <p:spPr>
            <a:xfrm flipV="1">
              <a:off x="5550663" y="4634807"/>
              <a:ext cx="158555" cy="12698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Straight Connector 44"/>
            <p:cNvCxnSpPr/>
            <p:nvPr/>
          </p:nvCxnSpPr>
          <p:spPr>
            <a:xfrm flipV="1">
              <a:off x="5550663" y="4787192"/>
              <a:ext cx="158555" cy="12698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Straight Connector 45"/>
            <p:cNvCxnSpPr/>
            <p:nvPr/>
          </p:nvCxnSpPr>
          <p:spPr>
            <a:xfrm flipV="1">
              <a:off x="5550663" y="4939577"/>
              <a:ext cx="158555" cy="12698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7" name="Straight Connector 46"/>
            <p:cNvCxnSpPr/>
            <p:nvPr/>
          </p:nvCxnSpPr>
          <p:spPr>
            <a:xfrm flipV="1">
              <a:off x="5550663" y="5091962"/>
              <a:ext cx="158555" cy="12698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8" name="Straight Connector 47"/>
            <p:cNvCxnSpPr/>
            <p:nvPr/>
          </p:nvCxnSpPr>
          <p:spPr>
            <a:xfrm flipV="1">
              <a:off x="5550663" y="5244347"/>
              <a:ext cx="158555" cy="12698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9" name="Straight Connector 48"/>
            <p:cNvCxnSpPr/>
            <p:nvPr/>
          </p:nvCxnSpPr>
          <p:spPr>
            <a:xfrm flipV="1">
              <a:off x="5550663" y="5396732"/>
              <a:ext cx="158555" cy="12698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0" name="Straight Connector 49"/>
            <p:cNvCxnSpPr/>
            <p:nvPr/>
          </p:nvCxnSpPr>
          <p:spPr>
            <a:xfrm flipV="1">
              <a:off x="5550663" y="5549117"/>
              <a:ext cx="158555" cy="12698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1" name="Straight Connector 50"/>
            <p:cNvCxnSpPr/>
            <p:nvPr/>
          </p:nvCxnSpPr>
          <p:spPr>
            <a:xfrm flipV="1">
              <a:off x="5550663" y="5701502"/>
              <a:ext cx="158555" cy="12698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2" name="Straight Connector 51"/>
            <p:cNvCxnSpPr/>
            <p:nvPr/>
          </p:nvCxnSpPr>
          <p:spPr>
            <a:xfrm flipV="1">
              <a:off x="5550663" y="5853887"/>
              <a:ext cx="158555" cy="12698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Straight Connector 52"/>
            <p:cNvCxnSpPr/>
            <p:nvPr/>
          </p:nvCxnSpPr>
          <p:spPr>
            <a:xfrm flipV="1">
              <a:off x="5550663" y="6006272"/>
              <a:ext cx="158555" cy="12698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4" name="Straight Connector 53"/>
            <p:cNvCxnSpPr/>
            <p:nvPr/>
          </p:nvCxnSpPr>
          <p:spPr>
            <a:xfrm flipV="1">
              <a:off x="5550663" y="6158657"/>
              <a:ext cx="158555" cy="12698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5" name="Straight Connector 54"/>
            <p:cNvCxnSpPr/>
            <p:nvPr/>
          </p:nvCxnSpPr>
          <p:spPr>
            <a:xfrm flipV="1">
              <a:off x="5550663" y="6311042"/>
              <a:ext cx="158555" cy="12698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6" name="Straight Connector 55"/>
            <p:cNvCxnSpPr/>
            <p:nvPr/>
          </p:nvCxnSpPr>
          <p:spPr>
            <a:xfrm flipV="1">
              <a:off x="5550663" y="6463427"/>
              <a:ext cx="158555" cy="12698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60" name="Straight Arrow Connector 59"/>
          <p:cNvCxnSpPr/>
          <p:nvPr/>
        </p:nvCxnSpPr>
        <p:spPr>
          <a:xfrm rot="16200000" flipH="1">
            <a:off x="4110832" y="3118644"/>
            <a:ext cx="2195512" cy="1663700"/>
          </a:xfrm>
          <a:prstGeom prst="straightConnector1">
            <a:avLst/>
          </a:prstGeom>
          <a:ln w="381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1" name="Straight Arrow Connector 60"/>
          <p:cNvCxnSpPr/>
          <p:nvPr/>
        </p:nvCxnSpPr>
        <p:spPr>
          <a:xfrm rot="16200000" flipH="1">
            <a:off x="3389313" y="2171701"/>
            <a:ext cx="2193925" cy="1663700"/>
          </a:xfrm>
          <a:prstGeom prst="straightConnector1">
            <a:avLst/>
          </a:prstGeom>
          <a:ln w="3810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86" name="Straight Arrow Connector 85"/>
          <p:cNvCxnSpPr/>
          <p:nvPr/>
        </p:nvCxnSpPr>
        <p:spPr>
          <a:xfrm rot="5400000" flipH="1" flipV="1">
            <a:off x="5714207" y="2866232"/>
            <a:ext cx="2482850" cy="1878013"/>
          </a:xfrm>
          <a:prstGeom prst="straightConnector1">
            <a:avLst/>
          </a:prstGeom>
          <a:ln w="3810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58" name="Straight Connector 57"/>
          <p:cNvCxnSpPr/>
          <p:nvPr/>
        </p:nvCxnSpPr>
        <p:spPr>
          <a:xfrm rot="5400000" flipH="1" flipV="1">
            <a:off x="4356894" y="3358356"/>
            <a:ext cx="3327400" cy="1588"/>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521222" name="TextBox 62"/>
          <p:cNvSpPr txBox="1">
            <a:spLocks noChangeArrowheads="1"/>
          </p:cNvSpPr>
          <p:nvPr/>
        </p:nvSpPr>
        <p:spPr bwMode="auto">
          <a:xfrm>
            <a:off x="5407026" y="3432176"/>
            <a:ext cx="898525" cy="708025"/>
          </a:xfrm>
          <a:prstGeom prst="rect">
            <a:avLst/>
          </a:prstGeom>
          <a:noFill/>
          <a:ln w="9525">
            <a:noFill/>
            <a:miter lim="800000"/>
            <a:headEnd/>
            <a:tailEnd/>
          </a:ln>
        </p:spPr>
        <p:txBody>
          <a:bodyPr>
            <a:spAutoFit/>
          </a:bodyPr>
          <a:lstStyle/>
          <a:p>
            <a:r>
              <a:rPr lang="en-US" sz="4000" dirty="0">
                <a:sym typeface="Symbol" pitchFamily="18" charset="2"/>
              </a:rPr>
              <a:t></a:t>
            </a:r>
            <a:r>
              <a:rPr lang="en-US" sz="4000" baseline="-25000" dirty="0" err="1">
                <a:sym typeface="Symbol" pitchFamily="18" charset="2"/>
              </a:rPr>
              <a:t>i</a:t>
            </a:r>
            <a:endParaRPr lang="en-US" sz="4000" baseline="-25000" dirty="0"/>
          </a:p>
        </p:txBody>
      </p:sp>
      <p:sp>
        <p:nvSpPr>
          <p:cNvPr id="521223" name="TextBox 65"/>
          <p:cNvSpPr txBox="1">
            <a:spLocks noChangeArrowheads="1"/>
          </p:cNvSpPr>
          <p:nvPr/>
        </p:nvSpPr>
        <p:spPr bwMode="auto">
          <a:xfrm>
            <a:off x="6192981" y="3449639"/>
            <a:ext cx="900113" cy="708025"/>
          </a:xfrm>
          <a:prstGeom prst="rect">
            <a:avLst/>
          </a:prstGeom>
          <a:noFill/>
          <a:ln w="9525">
            <a:noFill/>
            <a:miter lim="800000"/>
            <a:headEnd/>
            <a:tailEnd/>
          </a:ln>
        </p:spPr>
        <p:txBody>
          <a:bodyPr>
            <a:spAutoFit/>
          </a:bodyPr>
          <a:lstStyle/>
          <a:p>
            <a:r>
              <a:rPr lang="en-US" sz="4000" dirty="0">
                <a:sym typeface="Symbol" pitchFamily="18" charset="2"/>
              </a:rPr>
              <a:t></a:t>
            </a:r>
            <a:r>
              <a:rPr lang="en-US" sz="4000" baseline="-25000" dirty="0">
                <a:sym typeface="Symbol" pitchFamily="18" charset="2"/>
              </a:rPr>
              <a:t>r</a:t>
            </a:r>
            <a:endParaRPr lang="en-US" sz="4000" baseline="-250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41" name="Title 3"/>
          <p:cNvSpPr>
            <a:spLocks noGrp="1"/>
          </p:cNvSpPr>
          <p:nvPr>
            <p:ph type="title"/>
          </p:nvPr>
        </p:nvSpPr>
        <p:spPr/>
        <p:txBody>
          <a:bodyPr/>
          <a:lstStyle/>
          <a:p>
            <a:r>
              <a:rPr lang="en-US" dirty="0"/>
              <a:t>Question 9.2</a:t>
            </a:r>
          </a:p>
        </p:txBody>
      </p:sp>
      <p:sp>
        <p:nvSpPr>
          <p:cNvPr id="5" name="Content Placeholder 4"/>
          <p:cNvSpPr>
            <a:spLocks noGrp="1"/>
          </p:cNvSpPr>
          <p:nvPr>
            <p:ph idx="1"/>
          </p:nvPr>
        </p:nvSpPr>
        <p:spPr/>
        <p:txBody>
          <a:bodyPr/>
          <a:lstStyle/>
          <a:p>
            <a:pPr>
              <a:buFontTx/>
              <a:buNone/>
              <a:defRPr/>
            </a:pPr>
            <a:r>
              <a:rPr lang="en-US" dirty="0"/>
              <a:t>A diffuse reflector is ……..</a:t>
            </a:r>
          </a:p>
          <a:p>
            <a:pPr>
              <a:buFontTx/>
              <a:buNone/>
              <a:defRPr/>
            </a:pPr>
            <a:endParaRPr lang="en-US" dirty="0"/>
          </a:p>
          <a:p>
            <a:pPr marL="514350" indent="-514350">
              <a:buFontTx/>
              <a:buAutoNum type="alphaLcParenR"/>
              <a:defRPr/>
            </a:pPr>
            <a:r>
              <a:rPr lang="en-US" dirty="0"/>
              <a:t>A reflector that is spectacular!</a:t>
            </a:r>
          </a:p>
          <a:p>
            <a:pPr marL="514350" indent="-514350">
              <a:buFontTx/>
              <a:buAutoNum type="alphaLcParenR"/>
              <a:defRPr/>
            </a:pPr>
            <a:r>
              <a:rPr lang="en-US" dirty="0"/>
              <a:t>One that can cook a hot dog</a:t>
            </a:r>
          </a:p>
          <a:p>
            <a:pPr marL="514350" indent="-514350">
              <a:buFontTx/>
              <a:buAutoNum type="alphaLcParenR"/>
              <a:defRPr/>
            </a:pPr>
            <a:r>
              <a:rPr lang="en-US" dirty="0"/>
              <a:t>Like a mirror</a:t>
            </a:r>
          </a:p>
          <a:p>
            <a:pPr marL="514350" indent="-514350">
              <a:buFontTx/>
              <a:buAutoNum type="alphaLcParenR"/>
              <a:defRPr/>
            </a:pPr>
            <a:r>
              <a:rPr lang="en-US" dirty="0"/>
              <a:t>A rough surface</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4627" name="Rectangle 2"/>
          <p:cNvSpPr>
            <a:spLocks noGrp="1" noChangeArrowheads="1"/>
          </p:cNvSpPr>
          <p:nvPr>
            <p:ph type="title"/>
          </p:nvPr>
        </p:nvSpPr>
        <p:spPr/>
        <p:txBody>
          <a:bodyPr/>
          <a:lstStyle/>
          <a:p>
            <a:r>
              <a:rPr lang="en-US" dirty="0"/>
              <a:t>Question 223.13.6</a:t>
            </a:r>
          </a:p>
        </p:txBody>
      </p:sp>
      <p:sp>
        <p:nvSpPr>
          <p:cNvPr id="154628" name="Rectangle 3"/>
          <p:cNvSpPr>
            <a:spLocks noGrp="1" noChangeArrowheads="1"/>
          </p:cNvSpPr>
          <p:nvPr>
            <p:ph idx="1"/>
          </p:nvPr>
        </p:nvSpPr>
        <p:spPr/>
        <p:txBody>
          <a:bodyPr/>
          <a:lstStyle/>
          <a:p>
            <a:pPr marL="609600" indent="-609600">
              <a:buNone/>
            </a:pPr>
            <a:r>
              <a:rPr lang="en-US"/>
              <a:t>Are most natural surfaces diffuse or specular reflectors?</a:t>
            </a:r>
          </a:p>
          <a:p>
            <a:pPr marL="609600" indent="-609600">
              <a:buFontTx/>
              <a:buAutoNum type="alphaLcParenR"/>
            </a:pPr>
            <a:r>
              <a:rPr lang="en-US"/>
              <a:t>Diffuse</a:t>
            </a:r>
          </a:p>
          <a:p>
            <a:pPr marL="609600" indent="-609600">
              <a:buFontTx/>
              <a:buAutoNum type="alphaLcParenR"/>
            </a:pPr>
            <a:r>
              <a:rPr lang="en-US"/>
              <a:t>Specular</a:t>
            </a:r>
          </a:p>
        </p:txBody>
      </p:sp>
      <p:sp>
        <p:nvSpPr>
          <p:cNvPr id="154626" name="Slide Number Placeholder 5"/>
          <p:cNvSpPr>
            <a:spLocks noGrp="1"/>
          </p:cNvSpPr>
          <p:nvPr>
            <p:ph type="sldNum" sz="quarter" idx="12"/>
          </p:nvPr>
        </p:nvSpPr>
        <p:spPr>
          <a:noFill/>
        </p:spPr>
        <p:txBody>
          <a:bodyPr/>
          <a:lstStyle/>
          <a:p>
            <a:fld id="{B8E6AD27-EB95-4EB1-A594-734B180A987A}" type="slidenum">
              <a:rPr lang="en-US" smtClean="0"/>
              <a:pPr/>
              <a:t>41</a:t>
            </a:fld>
            <a:endParaRPr lang="en-US"/>
          </a:p>
        </p:txBody>
      </p:sp>
    </p:spTree>
    <p:extLst>
      <p:ext uri="{BB962C8B-B14F-4D97-AF65-F5344CB8AC3E}">
        <p14:creationId xmlns:p14="http://schemas.microsoft.com/office/powerpoint/2010/main" val="240970413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Oval 10">
            <a:extLst>
              <a:ext uri="{FF2B5EF4-FFF2-40B4-BE49-F238E27FC236}">
                <a16:creationId xmlns:a16="http://schemas.microsoft.com/office/drawing/2014/main" id="{C77267A5-A00D-4CD4-1AE2-C9DF84889D16}"/>
              </a:ext>
            </a:extLst>
          </p:cNvPr>
          <p:cNvSpPr>
            <a:spLocks noChangeArrowheads="1"/>
          </p:cNvSpPr>
          <p:nvPr/>
        </p:nvSpPr>
        <p:spPr bwMode="auto">
          <a:xfrm>
            <a:off x="8453210" y="5776873"/>
            <a:ext cx="303331" cy="284230"/>
          </a:xfrm>
          <a:prstGeom prst="ellipse">
            <a:avLst/>
          </a:prstGeom>
          <a:solidFill>
            <a:schemeClr val="tx1"/>
          </a:solidFill>
          <a:ln w="9525">
            <a:noFill/>
            <a:round/>
            <a:headEnd/>
            <a:tailEnd/>
          </a:ln>
        </p:spPr>
        <p:txBody>
          <a:bodyPr wrap="square" anchor="ctr">
            <a:spAutoFit/>
          </a:bodyPr>
          <a:lstStyle/>
          <a:p>
            <a:endParaRPr lang="en-US" sz="2000"/>
          </a:p>
        </p:txBody>
      </p:sp>
      <p:sp>
        <p:nvSpPr>
          <p:cNvPr id="4" name="Oval 10">
            <a:extLst>
              <a:ext uri="{FF2B5EF4-FFF2-40B4-BE49-F238E27FC236}">
                <a16:creationId xmlns:a16="http://schemas.microsoft.com/office/drawing/2014/main" id="{E81C1B67-66EB-38B2-AB39-9441319784A5}"/>
              </a:ext>
            </a:extLst>
          </p:cNvPr>
          <p:cNvSpPr>
            <a:spLocks noChangeArrowheads="1"/>
          </p:cNvSpPr>
          <p:nvPr/>
        </p:nvSpPr>
        <p:spPr bwMode="auto">
          <a:xfrm>
            <a:off x="9666638" y="2232475"/>
            <a:ext cx="303331" cy="284230"/>
          </a:xfrm>
          <a:prstGeom prst="ellipse">
            <a:avLst/>
          </a:prstGeom>
          <a:solidFill>
            <a:schemeClr val="tx1"/>
          </a:solidFill>
          <a:ln w="9525">
            <a:noFill/>
            <a:round/>
            <a:headEnd/>
            <a:tailEnd/>
          </a:ln>
        </p:spPr>
        <p:txBody>
          <a:bodyPr wrap="square" anchor="ctr">
            <a:spAutoFit/>
          </a:bodyPr>
          <a:lstStyle/>
          <a:p>
            <a:endParaRPr lang="en-US" sz="2000"/>
          </a:p>
        </p:txBody>
      </p:sp>
      <p:sp>
        <p:nvSpPr>
          <p:cNvPr id="3" name="Oval 10">
            <a:extLst>
              <a:ext uri="{FF2B5EF4-FFF2-40B4-BE49-F238E27FC236}">
                <a16:creationId xmlns:a16="http://schemas.microsoft.com/office/drawing/2014/main" id="{768BA81E-E311-4862-76F8-F543481B3149}"/>
              </a:ext>
            </a:extLst>
          </p:cNvPr>
          <p:cNvSpPr>
            <a:spLocks noChangeArrowheads="1"/>
          </p:cNvSpPr>
          <p:nvPr/>
        </p:nvSpPr>
        <p:spPr bwMode="auto">
          <a:xfrm>
            <a:off x="7727042" y="3709160"/>
            <a:ext cx="303331" cy="284230"/>
          </a:xfrm>
          <a:prstGeom prst="ellipse">
            <a:avLst/>
          </a:prstGeom>
          <a:solidFill>
            <a:schemeClr val="tx1"/>
          </a:solidFill>
          <a:ln w="9525">
            <a:noFill/>
            <a:round/>
            <a:headEnd/>
            <a:tailEnd/>
          </a:ln>
        </p:spPr>
        <p:txBody>
          <a:bodyPr wrap="square" anchor="ctr">
            <a:spAutoFit/>
          </a:bodyPr>
          <a:lstStyle/>
          <a:p>
            <a:endParaRPr lang="en-US" sz="2000"/>
          </a:p>
        </p:txBody>
      </p:sp>
      <p:sp>
        <p:nvSpPr>
          <p:cNvPr id="155651" name="Rectangle 2"/>
          <p:cNvSpPr>
            <a:spLocks noGrp="1" noChangeArrowheads="1"/>
          </p:cNvSpPr>
          <p:nvPr>
            <p:ph type="title"/>
          </p:nvPr>
        </p:nvSpPr>
        <p:spPr/>
        <p:txBody>
          <a:bodyPr/>
          <a:lstStyle/>
          <a:p>
            <a:r>
              <a:rPr lang="en-US" dirty="0"/>
              <a:t>Question 223.13.7</a:t>
            </a:r>
          </a:p>
        </p:txBody>
      </p:sp>
      <p:sp>
        <p:nvSpPr>
          <p:cNvPr id="442371" name="Rectangle 3"/>
          <p:cNvSpPr>
            <a:spLocks noGrp="1" noChangeArrowheads="1"/>
          </p:cNvSpPr>
          <p:nvPr>
            <p:ph idx="1"/>
          </p:nvPr>
        </p:nvSpPr>
        <p:spPr>
          <a:xfrm>
            <a:off x="478749" y="1485901"/>
            <a:ext cx="4222750" cy="4525962"/>
          </a:xfrm>
        </p:spPr>
        <p:txBody>
          <a:bodyPr>
            <a:normAutofit/>
          </a:bodyPr>
          <a:lstStyle/>
          <a:p>
            <a:pPr eaLnBrk="1" hangingPunct="1">
              <a:lnSpc>
                <a:spcPct val="129000"/>
              </a:lnSpc>
              <a:buFontTx/>
              <a:buNone/>
              <a:defRPr/>
            </a:pPr>
            <a:r>
              <a:rPr lang="en-US" dirty="0">
                <a:effectLst>
                  <a:outerShdw blurRad="38100" dist="38100" dir="2700000" algn="tl">
                    <a:srgbClr val="C0C0C0"/>
                  </a:outerShdw>
                </a:effectLst>
              </a:rPr>
              <a:t>An observer at point O is facing a mirror and observes a light source S.    Where does the observer perceive the mirror image of the source to be located?</a:t>
            </a:r>
            <a:endParaRPr lang="en-US" dirty="0"/>
          </a:p>
          <a:p>
            <a:pPr eaLnBrk="1" hangingPunct="1">
              <a:defRPr/>
            </a:pPr>
            <a:endParaRPr lang="en-US" dirty="0"/>
          </a:p>
        </p:txBody>
      </p:sp>
      <p:sp>
        <p:nvSpPr>
          <p:cNvPr id="155650" name="Slide Number Placeholder 5"/>
          <p:cNvSpPr>
            <a:spLocks noGrp="1"/>
          </p:cNvSpPr>
          <p:nvPr>
            <p:ph type="sldNum" sz="quarter" idx="12"/>
          </p:nvPr>
        </p:nvSpPr>
        <p:spPr>
          <a:noFill/>
        </p:spPr>
        <p:txBody>
          <a:bodyPr/>
          <a:lstStyle/>
          <a:p>
            <a:fld id="{F50BF4A1-AE21-4954-9C2A-785BBF0CAE04}" type="slidenum">
              <a:rPr lang="en-US" smtClean="0"/>
              <a:pPr/>
              <a:t>42</a:t>
            </a:fld>
            <a:endParaRPr lang="en-US"/>
          </a:p>
        </p:txBody>
      </p:sp>
      <p:sp>
        <p:nvSpPr>
          <p:cNvPr id="155654" name="Rectangle 7"/>
          <p:cNvSpPr>
            <a:spLocks noChangeArrowheads="1"/>
          </p:cNvSpPr>
          <p:nvPr/>
        </p:nvSpPr>
        <p:spPr bwMode="auto">
          <a:xfrm>
            <a:off x="7818590" y="2093714"/>
            <a:ext cx="174294" cy="1369492"/>
          </a:xfrm>
          <a:prstGeom prst="rect">
            <a:avLst/>
          </a:prstGeom>
          <a:solidFill>
            <a:srgbClr val="C0C0C0"/>
          </a:solidFill>
          <a:ln w="9525">
            <a:solidFill>
              <a:srgbClr val="B2B2B2"/>
            </a:solidFill>
            <a:miter lim="800000"/>
            <a:headEnd/>
            <a:tailEnd/>
          </a:ln>
        </p:spPr>
        <p:txBody>
          <a:bodyPr wrap="square" anchor="ctr">
            <a:spAutoFit/>
          </a:bodyPr>
          <a:lstStyle/>
          <a:p>
            <a:endParaRPr lang="en-US" sz="2000"/>
          </a:p>
        </p:txBody>
      </p:sp>
      <p:sp>
        <p:nvSpPr>
          <p:cNvPr id="155655" name="Oval 8"/>
          <p:cNvSpPr>
            <a:spLocks noChangeArrowheads="1"/>
          </p:cNvSpPr>
          <p:nvPr/>
        </p:nvSpPr>
        <p:spPr bwMode="auto">
          <a:xfrm>
            <a:off x="6558825" y="2237382"/>
            <a:ext cx="226860" cy="276954"/>
          </a:xfrm>
          <a:prstGeom prst="ellipse">
            <a:avLst/>
          </a:prstGeom>
          <a:solidFill>
            <a:srgbClr val="CCFFFF"/>
          </a:solidFill>
          <a:ln w="9525">
            <a:solidFill>
              <a:schemeClr val="tx1"/>
            </a:solidFill>
            <a:round/>
            <a:headEnd/>
            <a:tailEnd/>
          </a:ln>
        </p:spPr>
        <p:txBody>
          <a:bodyPr wrap="square" anchor="ctr">
            <a:spAutoFit/>
          </a:bodyPr>
          <a:lstStyle/>
          <a:p>
            <a:endParaRPr lang="en-US" sz="2000"/>
          </a:p>
        </p:txBody>
      </p:sp>
      <p:sp>
        <p:nvSpPr>
          <p:cNvPr id="155656" name="Oval 9"/>
          <p:cNvSpPr>
            <a:spLocks noChangeArrowheads="1"/>
          </p:cNvSpPr>
          <p:nvPr/>
        </p:nvSpPr>
        <p:spPr bwMode="auto">
          <a:xfrm>
            <a:off x="6854217" y="4204511"/>
            <a:ext cx="303331" cy="284230"/>
          </a:xfrm>
          <a:prstGeom prst="ellipse">
            <a:avLst/>
          </a:prstGeom>
          <a:solidFill>
            <a:srgbClr val="FFFF99"/>
          </a:solidFill>
          <a:ln w="9525">
            <a:solidFill>
              <a:schemeClr val="tx1"/>
            </a:solidFill>
            <a:round/>
            <a:headEnd/>
            <a:tailEnd/>
          </a:ln>
        </p:spPr>
        <p:txBody>
          <a:bodyPr wrap="square" anchor="ctr">
            <a:spAutoFit/>
          </a:bodyPr>
          <a:lstStyle/>
          <a:p>
            <a:endParaRPr lang="en-US" sz="2000"/>
          </a:p>
        </p:txBody>
      </p:sp>
      <p:sp>
        <p:nvSpPr>
          <p:cNvPr id="155657" name="Oval 10"/>
          <p:cNvSpPr>
            <a:spLocks noChangeArrowheads="1"/>
          </p:cNvSpPr>
          <p:nvPr/>
        </p:nvSpPr>
        <p:spPr bwMode="auto">
          <a:xfrm>
            <a:off x="8603838" y="4205992"/>
            <a:ext cx="303331" cy="284230"/>
          </a:xfrm>
          <a:prstGeom prst="ellipse">
            <a:avLst/>
          </a:prstGeom>
          <a:solidFill>
            <a:schemeClr val="tx1"/>
          </a:solidFill>
          <a:ln w="9525">
            <a:noFill/>
            <a:round/>
            <a:headEnd/>
            <a:tailEnd/>
          </a:ln>
        </p:spPr>
        <p:txBody>
          <a:bodyPr wrap="square" anchor="ctr">
            <a:spAutoFit/>
          </a:bodyPr>
          <a:lstStyle/>
          <a:p>
            <a:endParaRPr lang="en-US" sz="2000"/>
          </a:p>
        </p:txBody>
      </p:sp>
      <p:sp>
        <p:nvSpPr>
          <p:cNvPr id="155660" name="Text Box 13"/>
          <p:cNvSpPr txBox="1">
            <a:spLocks noChangeArrowheads="1"/>
          </p:cNvSpPr>
          <p:nvPr/>
        </p:nvSpPr>
        <p:spPr bwMode="auto">
          <a:xfrm>
            <a:off x="6868072" y="4195367"/>
            <a:ext cx="197042" cy="284230"/>
          </a:xfrm>
          <a:prstGeom prst="rect">
            <a:avLst/>
          </a:prstGeom>
          <a:noFill/>
          <a:ln w="9525">
            <a:noFill/>
            <a:miter lim="800000"/>
            <a:headEnd/>
            <a:tailEnd/>
          </a:ln>
        </p:spPr>
        <p:txBody>
          <a:bodyPr wrap="none">
            <a:spAutoFit/>
          </a:bodyPr>
          <a:lstStyle/>
          <a:p>
            <a:pPr eaLnBrk="0" hangingPunct="0">
              <a:lnSpc>
                <a:spcPct val="90000"/>
              </a:lnSpc>
            </a:pPr>
            <a:r>
              <a:rPr lang="en-US" b="1" dirty="0"/>
              <a:t>S</a:t>
            </a:r>
            <a:endParaRPr lang="en-US" sz="2400" dirty="0"/>
          </a:p>
        </p:txBody>
      </p:sp>
      <p:sp>
        <p:nvSpPr>
          <p:cNvPr id="155661" name="Text Box 14"/>
          <p:cNvSpPr txBox="1">
            <a:spLocks noChangeArrowheads="1"/>
          </p:cNvSpPr>
          <p:nvPr/>
        </p:nvSpPr>
        <p:spPr bwMode="auto">
          <a:xfrm>
            <a:off x="6509919" y="2232475"/>
            <a:ext cx="342959" cy="341632"/>
          </a:xfrm>
          <a:prstGeom prst="rect">
            <a:avLst/>
          </a:prstGeom>
          <a:noFill/>
          <a:ln w="9525">
            <a:noFill/>
            <a:miter lim="800000"/>
            <a:headEnd/>
            <a:tailEnd/>
          </a:ln>
        </p:spPr>
        <p:txBody>
          <a:bodyPr wrap="square">
            <a:spAutoFit/>
          </a:bodyPr>
          <a:lstStyle/>
          <a:p>
            <a:pPr eaLnBrk="0" hangingPunct="0">
              <a:lnSpc>
                <a:spcPct val="90000"/>
              </a:lnSpc>
            </a:pPr>
            <a:r>
              <a:rPr lang="en-US" b="1" dirty="0"/>
              <a:t>O</a:t>
            </a:r>
            <a:endParaRPr lang="en-US" sz="2400" dirty="0"/>
          </a:p>
        </p:txBody>
      </p:sp>
      <p:sp>
        <p:nvSpPr>
          <p:cNvPr id="155662" name="Text Box 15"/>
          <p:cNvSpPr txBox="1">
            <a:spLocks noChangeArrowheads="1"/>
          </p:cNvSpPr>
          <p:nvPr/>
        </p:nvSpPr>
        <p:spPr bwMode="auto">
          <a:xfrm>
            <a:off x="7741812" y="3694298"/>
            <a:ext cx="202421" cy="284230"/>
          </a:xfrm>
          <a:prstGeom prst="rect">
            <a:avLst/>
          </a:prstGeom>
          <a:noFill/>
          <a:ln w="9525">
            <a:noFill/>
            <a:miter lim="800000"/>
            <a:headEnd/>
            <a:tailEnd/>
          </a:ln>
        </p:spPr>
        <p:txBody>
          <a:bodyPr wrap="none">
            <a:spAutoFit/>
          </a:bodyPr>
          <a:lstStyle/>
          <a:p>
            <a:pPr eaLnBrk="0" hangingPunct="0">
              <a:lnSpc>
                <a:spcPct val="90000"/>
              </a:lnSpc>
            </a:pPr>
            <a:r>
              <a:rPr lang="en-US" b="1">
                <a:solidFill>
                  <a:schemeClr val="bg2"/>
                </a:solidFill>
              </a:rPr>
              <a:t>1</a:t>
            </a:r>
            <a:endParaRPr lang="en-US" sz="2400">
              <a:solidFill>
                <a:srgbClr val="00DFCA"/>
              </a:solidFill>
            </a:endParaRPr>
          </a:p>
        </p:txBody>
      </p:sp>
      <p:sp>
        <p:nvSpPr>
          <p:cNvPr id="155663" name="Text Box 16"/>
          <p:cNvSpPr txBox="1">
            <a:spLocks noChangeArrowheads="1"/>
          </p:cNvSpPr>
          <p:nvPr/>
        </p:nvSpPr>
        <p:spPr bwMode="auto">
          <a:xfrm>
            <a:off x="8603838" y="4175810"/>
            <a:ext cx="303331" cy="341632"/>
          </a:xfrm>
          <a:prstGeom prst="rect">
            <a:avLst/>
          </a:prstGeom>
          <a:noFill/>
          <a:ln w="9525">
            <a:noFill/>
            <a:miter lim="800000"/>
            <a:headEnd/>
            <a:tailEnd/>
          </a:ln>
        </p:spPr>
        <p:txBody>
          <a:bodyPr wrap="square">
            <a:spAutoFit/>
          </a:bodyPr>
          <a:lstStyle/>
          <a:p>
            <a:pPr eaLnBrk="0" hangingPunct="0">
              <a:lnSpc>
                <a:spcPct val="90000"/>
              </a:lnSpc>
            </a:pPr>
            <a:r>
              <a:rPr lang="en-US" b="1" dirty="0">
                <a:solidFill>
                  <a:schemeClr val="bg2"/>
                </a:solidFill>
              </a:rPr>
              <a:t>2</a:t>
            </a:r>
            <a:endParaRPr lang="en-US" sz="2400" dirty="0">
              <a:solidFill>
                <a:srgbClr val="00DFCA"/>
              </a:solidFill>
            </a:endParaRPr>
          </a:p>
        </p:txBody>
      </p:sp>
      <p:sp>
        <p:nvSpPr>
          <p:cNvPr id="155664" name="Text Box 17"/>
          <p:cNvSpPr txBox="1">
            <a:spLocks noChangeArrowheads="1"/>
          </p:cNvSpPr>
          <p:nvPr/>
        </p:nvSpPr>
        <p:spPr bwMode="auto">
          <a:xfrm>
            <a:off x="9674869" y="2232475"/>
            <a:ext cx="202421" cy="284230"/>
          </a:xfrm>
          <a:prstGeom prst="rect">
            <a:avLst/>
          </a:prstGeom>
          <a:noFill/>
          <a:ln w="9525">
            <a:noFill/>
            <a:miter lim="800000"/>
            <a:headEnd/>
            <a:tailEnd/>
          </a:ln>
        </p:spPr>
        <p:txBody>
          <a:bodyPr wrap="none">
            <a:spAutoFit/>
          </a:bodyPr>
          <a:lstStyle/>
          <a:p>
            <a:pPr eaLnBrk="0" hangingPunct="0">
              <a:lnSpc>
                <a:spcPct val="90000"/>
              </a:lnSpc>
            </a:pPr>
            <a:r>
              <a:rPr lang="en-US" b="1">
                <a:solidFill>
                  <a:schemeClr val="bg2"/>
                </a:solidFill>
              </a:rPr>
              <a:t>3</a:t>
            </a:r>
            <a:endParaRPr lang="en-US" sz="2400">
              <a:solidFill>
                <a:srgbClr val="00DFCA"/>
              </a:solidFill>
            </a:endParaRPr>
          </a:p>
        </p:txBody>
      </p:sp>
      <p:sp>
        <p:nvSpPr>
          <p:cNvPr id="155665" name="Text Box 18"/>
          <p:cNvSpPr txBox="1">
            <a:spLocks noChangeArrowheads="1"/>
          </p:cNvSpPr>
          <p:nvPr/>
        </p:nvSpPr>
        <p:spPr bwMode="auto">
          <a:xfrm>
            <a:off x="8453210" y="5765857"/>
            <a:ext cx="202421" cy="284230"/>
          </a:xfrm>
          <a:prstGeom prst="rect">
            <a:avLst/>
          </a:prstGeom>
          <a:noFill/>
          <a:ln w="9525">
            <a:noFill/>
            <a:miter lim="800000"/>
            <a:headEnd/>
            <a:tailEnd/>
          </a:ln>
        </p:spPr>
        <p:txBody>
          <a:bodyPr wrap="none">
            <a:spAutoFit/>
          </a:bodyPr>
          <a:lstStyle/>
          <a:p>
            <a:pPr eaLnBrk="0" hangingPunct="0">
              <a:lnSpc>
                <a:spcPct val="90000"/>
              </a:lnSpc>
            </a:pPr>
            <a:r>
              <a:rPr lang="en-US" b="1">
                <a:solidFill>
                  <a:schemeClr val="bg2"/>
                </a:solidFill>
              </a:rPr>
              <a:t>4</a:t>
            </a:r>
            <a:endParaRPr lang="en-US" sz="2400">
              <a:solidFill>
                <a:srgbClr val="00DFCA"/>
              </a:solidFill>
            </a:endParaRPr>
          </a:p>
        </p:txBody>
      </p:sp>
      <p:sp>
        <p:nvSpPr>
          <p:cNvPr id="155666" name="Text Box 19"/>
          <p:cNvSpPr txBox="1">
            <a:spLocks noChangeArrowheads="1"/>
          </p:cNvSpPr>
          <p:nvPr/>
        </p:nvSpPr>
        <p:spPr bwMode="auto">
          <a:xfrm>
            <a:off x="7406861" y="1036098"/>
            <a:ext cx="669901" cy="353368"/>
          </a:xfrm>
          <a:prstGeom prst="rect">
            <a:avLst/>
          </a:prstGeom>
          <a:noFill/>
          <a:ln w="9525">
            <a:noFill/>
            <a:miter lim="800000"/>
            <a:headEnd/>
            <a:tailEnd/>
          </a:ln>
        </p:spPr>
        <p:txBody>
          <a:bodyPr wrap="none">
            <a:spAutoFit/>
          </a:bodyPr>
          <a:lstStyle/>
          <a:p>
            <a:pPr eaLnBrk="0" hangingPunct="0">
              <a:lnSpc>
                <a:spcPct val="90000"/>
              </a:lnSpc>
            </a:pPr>
            <a:r>
              <a:rPr lang="en-US" sz="2400" b="1" dirty="0">
                <a:solidFill>
                  <a:schemeClr val="tx2"/>
                </a:solidFill>
              </a:rPr>
              <a:t>mirror</a:t>
            </a:r>
          </a:p>
        </p:txBody>
      </p:sp>
    </p:spTree>
    <p:extLst>
      <p:ext uri="{BB962C8B-B14F-4D97-AF65-F5344CB8AC3E}">
        <p14:creationId xmlns:p14="http://schemas.microsoft.com/office/powerpoint/2010/main" val="293436891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6674" name="Slide Number Placeholder 3"/>
          <p:cNvSpPr>
            <a:spLocks noGrp="1"/>
          </p:cNvSpPr>
          <p:nvPr>
            <p:ph type="sldNum" sz="quarter" idx="12"/>
          </p:nvPr>
        </p:nvSpPr>
        <p:spPr>
          <a:noFill/>
        </p:spPr>
        <p:txBody>
          <a:bodyPr/>
          <a:lstStyle/>
          <a:p>
            <a:fld id="{927AF202-8363-4A3F-874C-13259FD1A7E5}" type="slidenum">
              <a:rPr lang="en-US" smtClean="0"/>
              <a:pPr/>
              <a:t>43</a:t>
            </a:fld>
            <a:endParaRPr lang="en-US"/>
          </a:p>
        </p:txBody>
      </p:sp>
      <p:sp>
        <p:nvSpPr>
          <p:cNvPr id="156675" name="Text Box 3"/>
          <p:cNvSpPr txBox="1">
            <a:spLocks noChangeArrowheads="1"/>
          </p:cNvSpPr>
          <p:nvPr/>
        </p:nvSpPr>
        <p:spPr bwMode="auto">
          <a:xfrm>
            <a:off x="2286000" y="1295400"/>
            <a:ext cx="7620000" cy="4339650"/>
          </a:xfrm>
          <a:prstGeom prst="rect">
            <a:avLst/>
          </a:prstGeom>
          <a:noFill/>
          <a:ln w="9525">
            <a:noFill/>
            <a:miter lim="800000"/>
            <a:headEnd/>
            <a:tailEnd/>
          </a:ln>
        </p:spPr>
        <p:txBody>
          <a:bodyPr>
            <a:spAutoFit/>
          </a:bodyPr>
          <a:lstStyle/>
          <a:p>
            <a:pPr marL="342900" indent="-342900">
              <a:spcBef>
                <a:spcPct val="50000"/>
              </a:spcBef>
            </a:pPr>
            <a:r>
              <a:rPr lang="en-US" sz="2400" dirty="0">
                <a:solidFill>
                  <a:srgbClr val="000000"/>
                </a:solidFill>
                <a:latin typeface="Times New Roman" pitchFamily="18" charset="0"/>
                <a:cs typeface="Times New Roman" pitchFamily="18" charset="0"/>
              </a:rPr>
              <a:t>In the movies, you sometimes see an actor looking in a mirror and you can see his face in the mirror. During the filming of this scene, what does the actor see in the mirror? </a:t>
            </a:r>
          </a:p>
          <a:p>
            <a:pPr marL="342900" indent="-342900">
              <a:spcBef>
                <a:spcPct val="50000"/>
              </a:spcBef>
              <a:buFontTx/>
              <a:buAutoNum type="alphaLcParenR"/>
            </a:pPr>
            <a:r>
              <a:rPr lang="en-US" sz="2400" dirty="0">
                <a:solidFill>
                  <a:srgbClr val="000000"/>
                </a:solidFill>
                <a:latin typeface="Times New Roman" pitchFamily="18" charset="0"/>
                <a:cs typeface="Times New Roman" pitchFamily="18" charset="0"/>
              </a:rPr>
              <a:t>his face </a:t>
            </a:r>
          </a:p>
          <a:p>
            <a:pPr marL="342900" indent="-342900">
              <a:spcBef>
                <a:spcPct val="50000"/>
              </a:spcBef>
              <a:buFontTx/>
              <a:buAutoNum type="alphaLcParenR"/>
            </a:pPr>
            <a:r>
              <a:rPr lang="en-US" sz="2400" dirty="0">
                <a:solidFill>
                  <a:srgbClr val="000000"/>
                </a:solidFill>
                <a:latin typeface="Times New Roman" pitchFamily="18" charset="0"/>
                <a:cs typeface="Times New Roman" pitchFamily="18" charset="0"/>
              </a:rPr>
              <a:t>your face </a:t>
            </a:r>
          </a:p>
          <a:p>
            <a:pPr marL="342900" indent="-342900">
              <a:spcBef>
                <a:spcPct val="50000"/>
              </a:spcBef>
              <a:buFontTx/>
              <a:buAutoNum type="alphaLcParenR"/>
            </a:pPr>
            <a:r>
              <a:rPr lang="en-US" sz="2400" dirty="0">
                <a:solidFill>
                  <a:srgbClr val="000000"/>
                </a:solidFill>
                <a:latin typeface="Times New Roman" pitchFamily="18" charset="0"/>
                <a:cs typeface="Times New Roman" pitchFamily="18" charset="0"/>
              </a:rPr>
              <a:t>the director’s face </a:t>
            </a:r>
          </a:p>
          <a:p>
            <a:pPr marL="342900" indent="-342900">
              <a:spcBef>
                <a:spcPct val="50000"/>
              </a:spcBef>
              <a:buFontTx/>
              <a:buAutoNum type="alphaLcParenR"/>
            </a:pPr>
            <a:r>
              <a:rPr lang="en-US" sz="2400" dirty="0">
                <a:solidFill>
                  <a:srgbClr val="000000"/>
                </a:solidFill>
                <a:latin typeface="Times New Roman" pitchFamily="18" charset="0"/>
                <a:cs typeface="Times New Roman" pitchFamily="18" charset="0"/>
              </a:rPr>
              <a:t>the movie camera </a:t>
            </a:r>
          </a:p>
          <a:p>
            <a:pPr marL="342900" indent="-342900">
              <a:spcBef>
                <a:spcPct val="50000"/>
              </a:spcBef>
              <a:buFontTx/>
              <a:buAutoNum type="alphaLcParenR"/>
            </a:pPr>
            <a:r>
              <a:rPr lang="en-US" sz="2400" dirty="0">
                <a:solidFill>
                  <a:srgbClr val="000000"/>
                </a:solidFill>
                <a:latin typeface="Times New Roman" pitchFamily="18" charset="0"/>
                <a:cs typeface="Times New Roman" pitchFamily="18" charset="0"/>
              </a:rPr>
              <a:t>impossible to determine</a:t>
            </a:r>
          </a:p>
        </p:txBody>
      </p:sp>
      <p:sp>
        <p:nvSpPr>
          <p:cNvPr id="156676" name="Line 4"/>
          <p:cNvSpPr>
            <a:spLocks noChangeShapeType="1"/>
          </p:cNvSpPr>
          <p:nvPr/>
        </p:nvSpPr>
        <p:spPr bwMode="auto">
          <a:xfrm>
            <a:off x="4267200" y="990600"/>
            <a:ext cx="3733800" cy="0"/>
          </a:xfrm>
          <a:prstGeom prst="line">
            <a:avLst/>
          </a:prstGeom>
          <a:noFill/>
          <a:ln w="9525">
            <a:solidFill>
              <a:schemeClr val="tx1"/>
            </a:solidFill>
            <a:round/>
            <a:headEnd/>
            <a:tailEnd/>
          </a:ln>
        </p:spPr>
        <p:txBody>
          <a:bodyPr/>
          <a:lstStyle/>
          <a:p>
            <a:endParaRPr lang="en-US"/>
          </a:p>
        </p:txBody>
      </p:sp>
      <p:sp>
        <p:nvSpPr>
          <p:cNvPr id="156677" name="Rectangle 5"/>
          <p:cNvSpPr>
            <a:spLocks noChangeArrowheads="1"/>
          </p:cNvSpPr>
          <p:nvPr/>
        </p:nvSpPr>
        <p:spPr bwMode="auto">
          <a:xfrm>
            <a:off x="3124200" y="0"/>
            <a:ext cx="6477000" cy="1143000"/>
          </a:xfrm>
          <a:prstGeom prst="rect">
            <a:avLst/>
          </a:prstGeom>
          <a:noFill/>
          <a:ln w="9525">
            <a:noFill/>
            <a:miter lim="800000"/>
            <a:headEnd/>
            <a:tailEnd/>
          </a:ln>
        </p:spPr>
        <p:txBody>
          <a:bodyPr anchor="ctr"/>
          <a:lstStyle/>
          <a:p>
            <a:pPr algn="ctr"/>
            <a:r>
              <a:rPr lang="en-US" sz="3600" dirty="0"/>
              <a:t>Question 223.13.8</a:t>
            </a:r>
            <a:endParaRPr lang="en-US" sz="3600" dirty="0">
              <a:solidFill>
                <a:schemeClr val="tx2"/>
              </a:solidFill>
            </a:endParaRPr>
          </a:p>
        </p:txBody>
      </p:sp>
    </p:spTree>
    <p:extLst>
      <p:ext uri="{BB962C8B-B14F-4D97-AF65-F5344CB8AC3E}">
        <p14:creationId xmlns:p14="http://schemas.microsoft.com/office/powerpoint/2010/main" val="1619683466"/>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7699" name="Rectangle 2"/>
          <p:cNvSpPr>
            <a:spLocks noGrp="1" noChangeArrowheads="1"/>
          </p:cNvSpPr>
          <p:nvPr>
            <p:ph type="title"/>
          </p:nvPr>
        </p:nvSpPr>
        <p:spPr/>
        <p:txBody>
          <a:bodyPr/>
          <a:lstStyle/>
          <a:p>
            <a:r>
              <a:rPr lang="en-US" dirty="0"/>
              <a:t>Question 223.13.9</a:t>
            </a:r>
            <a:endParaRPr lang="en-US" dirty="0">
              <a:solidFill>
                <a:schemeClr val="tx2"/>
              </a:solidFill>
            </a:endParaRPr>
          </a:p>
        </p:txBody>
      </p:sp>
      <p:sp>
        <p:nvSpPr>
          <p:cNvPr id="444419" name="Rectangle 3"/>
          <p:cNvSpPr>
            <a:spLocks noGrp="1" noChangeArrowheads="1"/>
          </p:cNvSpPr>
          <p:nvPr>
            <p:ph idx="1"/>
          </p:nvPr>
        </p:nvSpPr>
        <p:spPr>
          <a:xfrm>
            <a:off x="1981200" y="1266826"/>
            <a:ext cx="8229600" cy="2087563"/>
          </a:xfrm>
        </p:spPr>
        <p:txBody>
          <a:bodyPr/>
          <a:lstStyle/>
          <a:p>
            <a:pPr eaLnBrk="1" hangingPunct="1">
              <a:lnSpc>
                <a:spcPct val="139000"/>
              </a:lnSpc>
              <a:buFontTx/>
              <a:buNone/>
              <a:defRPr/>
            </a:pPr>
            <a:r>
              <a:rPr lang="en-US" b="1" dirty="0"/>
              <a:t>When watching the Moon over the ocean, you often see a long streak of light on the surface of the water.  This occurs because:</a:t>
            </a:r>
            <a:endParaRPr lang="en-US" b="1" dirty="0">
              <a:effectLst>
                <a:outerShdw blurRad="38100" dist="38100" dir="2700000" algn="tl">
                  <a:srgbClr val="C0C0C0"/>
                </a:outerShdw>
              </a:effectLst>
            </a:endParaRPr>
          </a:p>
          <a:p>
            <a:pPr eaLnBrk="1" hangingPunct="1">
              <a:defRPr/>
            </a:pPr>
            <a:endParaRPr lang="en-US" dirty="0"/>
          </a:p>
        </p:txBody>
      </p:sp>
      <p:sp>
        <p:nvSpPr>
          <p:cNvPr id="157698" name="Slide Number Placeholder 5"/>
          <p:cNvSpPr>
            <a:spLocks noGrp="1"/>
          </p:cNvSpPr>
          <p:nvPr>
            <p:ph type="sldNum" sz="quarter" idx="12"/>
          </p:nvPr>
        </p:nvSpPr>
        <p:spPr>
          <a:noFill/>
        </p:spPr>
        <p:txBody>
          <a:bodyPr/>
          <a:lstStyle/>
          <a:p>
            <a:fld id="{B018E07D-EBF8-4CC9-B550-C735294C19A8}" type="slidenum">
              <a:rPr lang="en-US" smtClean="0"/>
              <a:pPr/>
              <a:t>44</a:t>
            </a:fld>
            <a:endParaRPr lang="en-US"/>
          </a:p>
        </p:txBody>
      </p:sp>
      <p:sp>
        <p:nvSpPr>
          <p:cNvPr id="157701" name="Text Box 4"/>
          <p:cNvSpPr txBox="1">
            <a:spLocks noChangeArrowheads="1"/>
          </p:cNvSpPr>
          <p:nvPr/>
        </p:nvSpPr>
        <p:spPr bwMode="auto">
          <a:xfrm>
            <a:off x="8007350" y="6146800"/>
            <a:ext cx="330540" cy="369332"/>
          </a:xfrm>
          <a:prstGeom prst="rect">
            <a:avLst/>
          </a:prstGeom>
          <a:noFill/>
          <a:ln w="9525">
            <a:noFill/>
            <a:miter lim="800000"/>
            <a:headEnd/>
            <a:tailEnd/>
          </a:ln>
        </p:spPr>
        <p:txBody>
          <a:bodyPr wrap="none">
            <a:spAutoFit/>
          </a:bodyPr>
          <a:lstStyle/>
          <a:p>
            <a:r>
              <a:rPr lang="en-US"/>
              <a:t>G</a:t>
            </a:r>
          </a:p>
        </p:txBody>
      </p:sp>
      <p:grpSp>
        <p:nvGrpSpPr>
          <p:cNvPr id="2" name="Group 5"/>
          <p:cNvGrpSpPr>
            <a:grpSpLocks/>
          </p:cNvGrpSpPr>
          <p:nvPr/>
        </p:nvGrpSpPr>
        <p:grpSpPr bwMode="auto">
          <a:xfrm>
            <a:off x="7845425" y="3263901"/>
            <a:ext cx="2254250" cy="2797175"/>
            <a:chOff x="3945" y="2038"/>
            <a:chExt cx="1420" cy="1762"/>
          </a:xfrm>
        </p:grpSpPr>
        <p:sp>
          <p:nvSpPr>
            <p:cNvPr id="157704" name="Rectangle 6"/>
            <p:cNvSpPr>
              <a:spLocks noChangeArrowheads="1"/>
            </p:cNvSpPr>
            <p:nvPr/>
          </p:nvSpPr>
          <p:spPr bwMode="auto">
            <a:xfrm>
              <a:off x="3952" y="2038"/>
              <a:ext cx="1396" cy="1757"/>
            </a:xfrm>
            <a:prstGeom prst="rect">
              <a:avLst/>
            </a:prstGeom>
            <a:solidFill>
              <a:srgbClr val="000099"/>
            </a:solidFill>
            <a:ln w="9525">
              <a:noFill/>
              <a:miter lim="800000"/>
              <a:headEnd type="none" w="sm" len="sm"/>
              <a:tailEnd type="none" w="sm" len="sm"/>
            </a:ln>
          </p:spPr>
          <p:txBody>
            <a:bodyPr wrap="none" anchor="ctr"/>
            <a:lstStyle/>
            <a:p>
              <a:endParaRPr lang="en-US"/>
            </a:p>
          </p:txBody>
        </p:sp>
        <p:grpSp>
          <p:nvGrpSpPr>
            <p:cNvPr id="3" name="Group 7"/>
            <p:cNvGrpSpPr>
              <a:grpSpLocks/>
            </p:cNvGrpSpPr>
            <p:nvPr/>
          </p:nvGrpSpPr>
          <p:grpSpPr bwMode="auto">
            <a:xfrm>
              <a:off x="3945" y="2049"/>
              <a:ext cx="1420" cy="1751"/>
              <a:chOff x="2360" y="627"/>
              <a:chExt cx="988" cy="1218"/>
            </a:xfrm>
          </p:grpSpPr>
          <p:sp>
            <p:nvSpPr>
              <p:cNvPr id="157706" name="Rectangle 8"/>
              <p:cNvSpPr>
                <a:spLocks noChangeArrowheads="1"/>
              </p:cNvSpPr>
              <p:nvPr/>
            </p:nvSpPr>
            <p:spPr bwMode="auto">
              <a:xfrm>
                <a:off x="2364" y="789"/>
                <a:ext cx="975" cy="1056"/>
              </a:xfrm>
              <a:prstGeom prst="rect">
                <a:avLst/>
              </a:prstGeom>
              <a:solidFill>
                <a:srgbClr val="99A3D6"/>
              </a:solidFill>
              <a:ln w="9525">
                <a:noFill/>
                <a:miter lim="800000"/>
                <a:headEnd/>
                <a:tailEnd/>
              </a:ln>
            </p:spPr>
            <p:txBody>
              <a:bodyPr/>
              <a:lstStyle/>
              <a:p>
                <a:endParaRPr lang="en-US"/>
              </a:p>
            </p:txBody>
          </p:sp>
          <p:sp>
            <p:nvSpPr>
              <p:cNvPr id="157707" name="Freeform 9"/>
              <p:cNvSpPr>
                <a:spLocks/>
              </p:cNvSpPr>
              <p:nvPr/>
            </p:nvSpPr>
            <p:spPr bwMode="auto">
              <a:xfrm>
                <a:off x="2789" y="691"/>
                <a:ext cx="219" cy="100"/>
              </a:xfrm>
              <a:custGeom>
                <a:avLst/>
                <a:gdLst>
                  <a:gd name="T0" fmla="*/ 0 w 219"/>
                  <a:gd name="T1" fmla="*/ 96 h 100"/>
                  <a:gd name="T2" fmla="*/ 2 w 219"/>
                  <a:gd name="T3" fmla="*/ 67 h 100"/>
                  <a:gd name="T4" fmla="*/ 24 w 219"/>
                  <a:gd name="T5" fmla="*/ 34 h 100"/>
                  <a:gd name="T6" fmla="*/ 62 w 219"/>
                  <a:gd name="T7" fmla="*/ 9 h 100"/>
                  <a:gd name="T8" fmla="*/ 128 w 219"/>
                  <a:gd name="T9" fmla="*/ 0 h 100"/>
                  <a:gd name="T10" fmla="*/ 177 w 219"/>
                  <a:gd name="T11" fmla="*/ 14 h 100"/>
                  <a:gd name="T12" fmla="*/ 208 w 219"/>
                  <a:gd name="T13" fmla="*/ 42 h 100"/>
                  <a:gd name="T14" fmla="*/ 219 w 219"/>
                  <a:gd name="T15" fmla="*/ 89 h 100"/>
                  <a:gd name="T16" fmla="*/ 153 w 219"/>
                  <a:gd name="T17" fmla="*/ 96 h 100"/>
                  <a:gd name="T18" fmla="*/ 29 w 219"/>
                  <a:gd name="T19" fmla="*/ 100 h 100"/>
                  <a:gd name="T20" fmla="*/ 0 w 219"/>
                  <a:gd name="T21" fmla="*/ 96 h 100"/>
                  <a:gd name="T22" fmla="*/ 0 w 219"/>
                  <a:gd name="T23" fmla="*/ 96 h 10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219"/>
                  <a:gd name="T37" fmla="*/ 0 h 100"/>
                  <a:gd name="T38" fmla="*/ 219 w 219"/>
                  <a:gd name="T39" fmla="*/ 100 h 100"/>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219" h="100">
                    <a:moveTo>
                      <a:pt x="0" y="96"/>
                    </a:moveTo>
                    <a:lnTo>
                      <a:pt x="2" y="67"/>
                    </a:lnTo>
                    <a:lnTo>
                      <a:pt x="24" y="34"/>
                    </a:lnTo>
                    <a:lnTo>
                      <a:pt x="62" y="9"/>
                    </a:lnTo>
                    <a:lnTo>
                      <a:pt x="128" y="0"/>
                    </a:lnTo>
                    <a:lnTo>
                      <a:pt x="177" y="14"/>
                    </a:lnTo>
                    <a:lnTo>
                      <a:pt x="208" y="42"/>
                    </a:lnTo>
                    <a:lnTo>
                      <a:pt x="219" y="89"/>
                    </a:lnTo>
                    <a:lnTo>
                      <a:pt x="153" y="96"/>
                    </a:lnTo>
                    <a:lnTo>
                      <a:pt x="29" y="100"/>
                    </a:lnTo>
                    <a:lnTo>
                      <a:pt x="0" y="96"/>
                    </a:lnTo>
                    <a:close/>
                  </a:path>
                </a:pathLst>
              </a:custGeom>
              <a:solidFill>
                <a:srgbClr val="FFFF85"/>
              </a:solidFill>
              <a:ln w="9525">
                <a:noFill/>
                <a:round/>
                <a:headEnd/>
                <a:tailEnd/>
              </a:ln>
            </p:spPr>
            <p:txBody>
              <a:bodyPr/>
              <a:lstStyle/>
              <a:p>
                <a:endParaRPr lang="en-US"/>
              </a:p>
            </p:txBody>
          </p:sp>
          <p:sp>
            <p:nvSpPr>
              <p:cNvPr id="157708" name="Freeform 10"/>
              <p:cNvSpPr>
                <a:spLocks/>
              </p:cNvSpPr>
              <p:nvPr/>
            </p:nvSpPr>
            <p:spPr bwMode="auto">
              <a:xfrm>
                <a:off x="2360" y="779"/>
                <a:ext cx="988" cy="25"/>
              </a:xfrm>
              <a:custGeom>
                <a:avLst/>
                <a:gdLst>
                  <a:gd name="T0" fmla="*/ 560 w 988"/>
                  <a:gd name="T1" fmla="*/ 7 h 25"/>
                  <a:gd name="T2" fmla="*/ 636 w 988"/>
                  <a:gd name="T3" fmla="*/ 5 h 25"/>
                  <a:gd name="T4" fmla="*/ 709 w 988"/>
                  <a:gd name="T5" fmla="*/ 5 h 25"/>
                  <a:gd name="T6" fmla="*/ 784 w 988"/>
                  <a:gd name="T7" fmla="*/ 5 h 25"/>
                  <a:gd name="T8" fmla="*/ 844 w 988"/>
                  <a:gd name="T9" fmla="*/ 5 h 25"/>
                  <a:gd name="T10" fmla="*/ 882 w 988"/>
                  <a:gd name="T11" fmla="*/ 5 h 25"/>
                  <a:gd name="T12" fmla="*/ 919 w 988"/>
                  <a:gd name="T13" fmla="*/ 5 h 25"/>
                  <a:gd name="T14" fmla="*/ 955 w 988"/>
                  <a:gd name="T15" fmla="*/ 5 h 25"/>
                  <a:gd name="T16" fmla="*/ 977 w 988"/>
                  <a:gd name="T17" fmla="*/ 5 h 25"/>
                  <a:gd name="T18" fmla="*/ 988 w 988"/>
                  <a:gd name="T19" fmla="*/ 7 h 25"/>
                  <a:gd name="T20" fmla="*/ 984 w 988"/>
                  <a:gd name="T21" fmla="*/ 14 h 25"/>
                  <a:gd name="T22" fmla="*/ 959 w 988"/>
                  <a:gd name="T23" fmla="*/ 18 h 25"/>
                  <a:gd name="T24" fmla="*/ 924 w 988"/>
                  <a:gd name="T25" fmla="*/ 18 h 25"/>
                  <a:gd name="T26" fmla="*/ 884 w 988"/>
                  <a:gd name="T27" fmla="*/ 18 h 25"/>
                  <a:gd name="T28" fmla="*/ 857 w 988"/>
                  <a:gd name="T29" fmla="*/ 18 h 25"/>
                  <a:gd name="T30" fmla="*/ 844 w 988"/>
                  <a:gd name="T31" fmla="*/ 18 h 25"/>
                  <a:gd name="T32" fmla="*/ 829 w 988"/>
                  <a:gd name="T33" fmla="*/ 18 h 25"/>
                  <a:gd name="T34" fmla="*/ 815 w 988"/>
                  <a:gd name="T35" fmla="*/ 18 h 25"/>
                  <a:gd name="T36" fmla="*/ 789 w 988"/>
                  <a:gd name="T37" fmla="*/ 18 h 25"/>
                  <a:gd name="T38" fmla="*/ 749 w 988"/>
                  <a:gd name="T39" fmla="*/ 18 h 25"/>
                  <a:gd name="T40" fmla="*/ 711 w 988"/>
                  <a:gd name="T41" fmla="*/ 18 h 25"/>
                  <a:gd name="T42" fmla="*/ 673 w 988"/>
                  <a:gd name="T43" fmla="*/ 18 h 25"/>
                  <a:gd name="T44" fmla="*/ 622 w 988"/>
                  <a:gd name="T45" fmla="*/ 18 h 25"/>
                  <a:gd name="T46" fmla="*/ 556 w 988"/>
                  <a:gd name="T47" fmla="*/ 18 h 25"/>
                  <a:gd name="T48" fmla="*/ 492 w 988"/>
                  <a:gd name="T49" fmla="*/ 20 h 25"/>
                  <a:gd name="T50" fmla="*/ 427 w 988"/>
                  <a:gd name="T51" fmla="*/ 22 h 25"/>
                  <a:gd name="T52" fmla="*/ 387 w 988"/>
                  <a:gd name="T53" fmla="*/ 25 h 25"/>
                  <a:gd name="T54" fmla="*/ 379 w 988"/>
                  <a:gd name="T55" fmla="*/ 25 h 25"/>
                  <a:gd name="T56" fmla="*/ 354 w 988"/>
                  <a:gd name="T57" fmla="*/ 22 h 25"/>
                  <a:gd name="T58" fmla="*/ 319 w 988"/>
                  <a:gd name="T59" fmla="*/ 22 h 25"/>
                  <a:gd name="T60" fmla="*/ 283 w 988"/>
                  <a:gd name="T61" fmla="*/ 25 h 25"/>
                  <a:gd name="T62" fmla="*/ 248 w 988"/>
                  <a:gd name="T63" fmla="*/ 25 h 25"/>
                  <a:gd name="T64" fmla="*/ 215 w 988"/>
                  <a:gd name="T65" fmla="*/ 22 h 25"/>
                  <a:gd name="T66" fmla="*/ 184 w 988"/>
                  <a:gd name="T67" fmla="*/ 25 h 25"/>
                  <a:gd name="T68" fmla="*/ 155 w 988"/>
                  <a:gd name="T69" fmla="*/ 25 h 25"/>
                  <a:gd name="T70" fmla="*/ 121 w 988"/>
                  <a:gd name="T71" fmla="*/ 25 h 25"/>
                  <a:gd name="T72" fmla="*/ 90 w 988"/>
                  <a:gd name="T73" fmla="*/ 22 h 25"/>
                  <a:gd name="T74" fmla="*/ 62 w 988"/>
                  <a:gd name="T75" fmla="*/ 22 h 25"/>
                  <a:gd name="T76" fmla="*/ 37 w 988"/>
                  <a:gd name="T77" fmla="*/ 20 h 25"/>
                  <a:gd name="T78" fmla="*/ 11 w 988"/>
                  <a:gd name="T79" fmla="*/ 18 h 25"/>
                  <a:gd name="T80" fmla="*/ 2 w 988"/>
                  <a:gd name="T81" fmla="*/ 9 h 25"/>
                  <a:gd name="T82" fmla="*/ 0 w 988"/>
                  <a:gd name="T83" fmla="*/ 2 h 25"/>
                  <a:gd name="T84" fmla="*/ 2 w 988"/>
                  <a:gd name="T85" fmla="*/ 0 h 25"/>
                  <a:gd name="T86" fmla="*/ 31 w 988"/>
                  <a:gd name="T87" fmla="*/ 2 h 25"/>
                  <a:gd name="T88" fmla="*/ 82 w 988"/>
                  <a:gd name="T89" fmla="*/ 5 h 25"/>
                  <a:gd name="T90" fmla="*/ 130 w 988"/>
                  <a:gd name="T91" fmla="*/ 7 h 25"/>
                  <a:gd name="T92" fmla="*/ 172 w 988"/>
                  <a:gd name="T93" fmla="*/ 9 h 25"/>
                  <a:gd name="T94" fmla="*/ 217 w 988"/>
                  <a:gd name="T95" fmla="*/ 9 h 25"/>
                  <a:gd name="T96" fmla="*/ 270 w 988"/>
                  <a:gd name="T97" fmla="*/ 9 h 25"/>
                  <a:gd name="T98" fmla="*/ 321 w 988"/>
                  <a:gd name="T99" fmla="*/ 9 h 25"/>
                  <a:gd name="T100" fmla="*/ 376 w 988"/>
                  <a:gd name="T101" fmla="*/ 11 h 25"/>
                  <a:gd name="T102" fmla="*/ 418 w 988"/>
                  <a:gd name="T103" fmla="*/ 11 h 25"/>
                  <a:gd name="T104" fmla="*/ 447 w 988"/>
                  <a:gd name="T105" fmla="*/ 9 h 25"/>
                  <a:gd name="T106" fmla="*/ 478 w 988"/>
                  <a:gd name="T107" fmla="*/ 9 h 25"/>
                  <a:gd name="T108" fmla="*/ 507 w 988"/>
                  <a:gd name="T109" fmla="*/ 9 h 25"/>
                  <a:gd name="T110" fmla="*/ 520 w 988"/>
                  <a:gd name="T111" fmla="*/ 9 h 25"/>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988"/>
                  <a:gd name="T169" fmla="*/ 0 h 25"/>
                  <a:gd name="T170" fmla="*/ 988 w 988"/>
                  <a:gd name="T171" fmla="*/ 25 h 25"/>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988" h="25">
                    <a:moveTo>
                      <a:pt x="520" y="9"/>
                    </a:moveTo>
                    <a:lnTo>
                      <a:pt x="560" y="7"/>
                    </a:lnTo>
                    <a:lnTo>
                      <a:pt x="598" y="7"/>
                    </a:lnTo>
                    <a:lnTo>
                      <a:pt x="636" y="5"/>
                    </a:lnTo>
                    <a:lnTo>
                      <a:pt x="673" y="5"/>
                    </a:lnTo>
                    <a:lnTo>
                      <a:pt x="709" y="5"/>
                    </a:lnTo>
                    <a:lnTo>
                      <a:pt x="747" y="5"/>
                    </a:lnTo>
                    <a:lnTo>
                      <a:pt x="784" y="5"/>
                    </a:lnTo>
                    <a:lnTo>
                      <a:pt x="826" y="7"/>
                    </a:lnTo>
                    <a:lnTo>
                      <a:pt x="844" y="5"/>
                    </a:lnTo>
                    <a:lnTo>
                      <a:pt x="862" y="5"/>
                    </a:lnTo>
                    <a:lnTo>
                      <a:pt x="882" y="5"/>
                    </a:lnTo>
                    <a:lnTo>
                      <a:pt x="899" y="5"/>
                    </a:lnTo>
                    <a:lnTo>
                      <a:pt x="919" y="5"/>
                    </a:lnTo>
                    <a:lnTo>
                      <a:pt x="937" y="5"/>
                    </a:lnTo>
                    <a:lnTo>
                      <a:pt x="955" y="5"/>
                    </a:lnTo>
                    <a:lnTo>
                      <a:pt x="975" y="5"/>
                    </a:lnTo>
                    <a:lnTo>
                      <a:pt x="977" y="5"/>
                    </a:lnTo>
                    <a:lnTo>
                      <a:pt x="986" y="5"/>
                    </a:lnTo>
                    <a:lnTo>
                      <a:pt x="988" y="7"/>
                    </a:lnTo>
                    <a:lnTo>
                      <a:pt x="988" y="11"/>
                    </a:lnTo>
                    <a:lnTo>
                      <a:pt x="984" y="14"/>
                    </a:lnTo>
                    <a:lnTo>
                      <a:pt x="975" y="18"/>
                    </a:lnTo>
                    <a:lnTo>
                      <a:pt x="959" y="18"/>
                    </a:lnTo>
                    <a:lnTo>
                      <a:pt x="944" y="18"/>
                    </a:lnTo>
                    <a:lnTo>
                      <a:pt x="924" y="18"/>
                    </a:lnTo>
                    <a:lnTo>
                      <a:pt x="904" y="18"/>
                    </a:lnTo>
                    <a:lnTo>
                      <a:pt x="884" y="18"/>
                    </a:lnTo>
                    <a:lnTo>
                      <a:pt x="866" y="18"/>
                    </a:lnTo>
                    <a:lnTo>
                      <a:pt x="857" y="18"/>
                    </a:lnTo>
                    <a:lnTo>
                      <a:pt x="851" y="18"/>
                    </a:lnTo>
                    <a:lnTo>
                      <a:pt x="844" y="18"/>
                    </a:lnTo>
                    <a:lnTo>
                      <a:pt x="837" y="18"/>
                    </a:lnTo>
                    <a:lnTo>
                      <a:pt x="829" y="18"/>
                    </a:lnTo>
                    <a:lnTo>
                      <a:pt x="822" y="18"/>
                    </a:lnTo>
                    <a:lnTo>
                      <a:pt x="815" y="18"/>
                    </a:lnTo>
                    <a:lnTo>
                      <a:pt x="809" y="20"/>
                    </a:lnTo>
                    <a:lnTo>
                      <a:pt x="789" y="18"/>
                    </a:lnTo>
                    <a:lnTo>
                      <a:pt x="769" y="18"/>
                    </a:lnTo>
                    <a:lnTo>
                      <a:pt x="749" y="18"/>
                    </a:lnTo>
                    <a:lnTo>
                      <a:pt x="731" y="18"/>
                    </a:lnTo>
                    <a:lnTo>
                      <a:pt x="711" y="18"/>
                    </a:lnTo>
                    <a:lnTo>
                      <a:pt x="693" y="18"/>
                    </a:lnTo>
                    <a:lnTo>
                      <a:pt x="673" y="18"/>
                    </a:lnTo>
                    <a:lnTo>
                      <a:pt x="656" y="18"/>
                    </a:lnTo>
                    <a:lnTo>
                      <a:pt x="622" y="18"/>
                    </a:lnTo>
                    <a:lnTo>
                      <a:pt x="589" y="18"/>
                    </a:lnTo>
                    <a:lnTo>
                      <a:pt x="556" y="18"/>
                    </a:lnTo>
                    <a:lnTo>
                      <a:pt x="523" y="20"/>
                    </a:lnTo>
                    <a:lnTo>
                      <a:pt x="492" y="20"/>
                    </a:lnTo>
                    <a:lnTo>
                      <a:pt x="458" y="22"/>
                    </a:lnTo>
                    <a:lnTo>
                      <a:pt x="427" y="22"/>
                    </a:lnTo>
                    <a:lnTo>
                      <a:pt x="394" y="25"/>
                    </a:lnTo>
                    <a:lnTo>
                      <a:pt x="387" y="25"/>
                    </a:lnTo>
                    <a:lnTo>
                      <a:pt x="383" y="25"/>
                    </a:lnTo>
                    <a:lnTo>
                      <a:pt x="379" y="25"/>
                    </a:lnTo>
                    <a:lnTo>
                      <a:pt x="372" y="25"/>
                    </a:lnTo>
                    <a:lnTo>
                      <a:pt x="354" y="22"/>
                    </a:lnTo>
                    <a:lnTo>
                      <a:pt x="336" y="22"/>
                    </a:lnTo>
                    <a:lnTo>
                      <a:pt x="319" y="22"/>
                    </a:lnTo>
                    <a:lnTo>
                      <a:pt x="301" y="25"/>
                    </a:lnTo>
                    <a:lnTo>
                      <a:pt x="283" y="25"/>
                    </a:lnTo>
                    <a:lnTo>
                      <a:pt x="266" y="25"/>
                    </a:lnTo>
                    <a:lnTo>
                      <a:pt x="248" y="25"/>
                    </a:lnTo>
                    <a:lnTo>
                      <a:pt x="230" y="25"/>
                    </a:lnTo>
                    <a:lnTo>
                      <a:pt x="215" y="22"/>
                    </a:lnTo>
                    <a:lnTo>
                      <a:pt x="199" y="22"/>
                    </a:lnTo>
                    <a:lnTo>
                      <a:pt x="184" y="25"/>
                    </a:lnTo>
                    <a:lnTo>
                      <a:pt x="170" y="25"/>
                    </a:lnTo>
                    <a:lnTo>
                      <a:pt x="155" y="25"/>
                    </a:lnTo>
                    <a:lnTo>
                      <a:pt x="139" y="25"/>
                    </a:lnTo>
                    <a:lnTo>
                      <a:pt x="121" y="25"/>
                    </a:lnTo>
                    <a:lnTo>
                      <a:pt x="104" y="25"/>
                    </a:lnTo>
                    <a:lnTo>
                      <a:pt x="90" y="22"/>
                    </a:lnTo>
                    <a:lnTo>
                      <a:pt x="77" y="22"/>
                    </a:lnTo>
                    <a:lnTo>
                      <a:pt x="62" y="22"/>
                    </a:lnTo>
                    <a:lnTo>
                      <a:pt x="51" y="22"/>
                    </a:lnTo>
                    <a:lnTo>
                      <a:pt x="37" y="20"/>
                    </a:lnTo>
                    <a:lnTo>
                      <a:pt x="24" y="20"/>
                    </a:lnTo>
                    <a:lnTo>
                      <a:pt x="11" y="18"/>
                    </a:lnTo>
                    <a:lnTo>
                      <a:pt x="0" y="14"/>
                    </a:lnTo>
                    <a:lnTo>
                      <a:pt x="2" y="9"/>
                    </a:lnTo>
                    <a:lnTo>
                      <a:pt x="2" y="5"/>
                    </a:lnTo>
                    <a:lnTo>
                      <a:pt x="0" y="2"/>
                    </a:lnTo>
                    <a:lnTo>
                      <a:pt x="0" y="0"/>
                    </a:lnTo>
                    <a:lnTo>
                      <a:pt x="2" y="0"/>
                    </a:lnTo>
                    <a:lnTo>
                      <a:pt x="6" y="0"/>
                    </a:lnTo>
                    <a:lnTo>
                      <a:pt x="31" y="2"/>
                    </a:lnTo>
                    <a:lnTo>
                      <a:pt x="57" y="5"/>
                    </a:lnTo>
                    <a:lnTo>
                      <a:pt x="82" y="5"/>
                    </a:lnTo>
                    <a:lnTo>
                      <a:pt x="106" y="7"/>
                    </a:lnTo>
                    <a:lnTo>
                      <a:pt x="130" y="7"/>
                    </a:lnTo>
                    <a:lnTo>
                      <a:pt x="152" y="9"/>
                    </a:lnTo>
                    <a:lnTo>
                      <a:pt x="172" y="9"/>
                    </a:lnTo>
                    <a:lnTo>
                      <a:pt x="192" y="9"/>
                    </a:lnTo>
                    <a:lnTo>
                      <a:pt x="217" y="9"/>
                    </a:lnTo>
                    <a:lnTo>
                      <a:pt x="246" y="9"/>
                    </a:lnTo>
                    <a:lnTo>
                      <a:pt x="270" y="9"/>
                    </a:lnTo>
                    <a:lnTo>
                      <a:pt x="297" y="9"/>
                    </a:lnTo>
                    <a:lnTo>
                      <a:pt x="321" y="9"/>
                    </a:lnTo>
                    <a:lnTo>
                      <a:pt x="348" y="9"/>
                    </a:lnTo>
                    <a:lnTo>
                      <a:pt x="376" y="11"/>
                    </a:lnTo>
                    <a:lnTo>
                      <a:pt x="405" y="11"/>
                    </a:lnTo>
                    <a:lnTo>
                      <a:pt x="418" y="11"/>
                    </a:lnTo>
                    <a:lnTo>
                      <a:pt x="432" y="11"/>
                    </a:lnTo>
                    <a:lnTo>
                      <a:pt x="447" y="9"/>
                    </a:lnTo>
                    <a:lnTo>
                      <a:pt x="463" y="9"/>
                    </a:lnTo>
                    <a:lnTo>
                      <a:pt x="478" y="9"/>
                    </a:lnTo>
                    <a:lnTo>
                      <a:pt x="494" y="9"/>
                    </a:lnTo>
                    <a:lnTo>
                      <a:pt x="507" y="9"/>
                    </a:lnTo>
                    <a:lnTo>
                      <a:pt x="520" y="9"/>
                    </a:lnTo>
                    <a:close/>
                  </a:path>
                </a:pathLst>
              </a:custGeom>
              <a:solidFill>
                <a:srgbClr val="000000"/>
              </a:solidFill>
              <a:ln w="19050">
                <a:solidFill>
                  <a:srgbClr val="000000"/>
                </a:solidFill>
                <a:round/>
                <a:headEnd/>
                <a:tailEnd/>
              </a:ln>
            </p:spPr>
            <p:txBody>
              <a:bodyPr/>
              <a:lstStyle/>
              <a:p>
                <a:endParaRPr lang="en-US"/>
              </a:p>
            </p:txBody>
          </p:sp>
          <p:sp>
            <p:nvSpPr>
              <p:cNvPr id="157709" name="Freeform 11"/>
              <p:cNvSpPr>
                <a:spLocks/>
              </p:cNvSpPr>
              <p:nvPr/>
            </p:nvSpPr>
            <p:spPr bwMode="auto">
              <a:xfrm>
                <a:off x="2784" y="685"/>
                <a:ext cx="231" cy="106"/>
              </a:xfrm>
              <a:custGeom>
                <a:avLst/>
                <a:gdLst>
                  <a:gd name="T0" fmla="*/ 105 w 231"/>
                  <a:gd name="T1" fmla="*/ 2 h 106"/>
                  <a:gd name="T2" fmla="*/ 127 w 231"/>
                  <a:gd name="T3" fmla="*/ 0 h 106"/>
                  <a:gd name="T4" fmla="*/ 151 w 231"/>
                  <a:gd name="T5" fmla="*/ 4 h 106"/>
                  <a:gd name="T6" fmla="*/ 173 w 231"/>
                  <a:gd name="T7" fmla="*/ 11 h 106"/>
                  <a:gd name="T8" fmla="*/ 193 w 231"/>
                  <a:gd name="T9" fmla="*/ 22 h 106"/>
                  <a:gd name="T10" fmla="*/ 211 w 231"/>
                  <a:gd name="T11" fmla="*/ 37 h 106"/>
                  <a:gd name="T12" fmla="*/ 224 w 231"/>
                  <a:gd name="T13" fmla="*/ 57 h 106"/>
                  <a:gd name="T14" fmla="*/ 229 w 231"/>
                  <a:gd name="T15" fmla="*/ 79 h 106"/>
                  <a:gd name="T16" fmla="*/ 231 w 231"/>
                  <a:gd name="T17" fmla="*/ 104 h 106"/>
                  <a:gd name="T18" fmla="*/ 226 w 231"/>
                  <a:gd name="T19" fmla="*/ 104 h 106"/>
                  <a:gd name="T20" fmla="*/ 222 w 231"/>
                  <a:gd name="T21" fmla="*/ 104 h 106"/>
                  <a:gd name="T22" fmla="*/ 218 w 231"/>
                  <a:gd name="T23" fmla="*/ 104 h 106"/>
                  <a:gd name="T24" fmla="*/ 215 w 231"/>
                  <a:gd name="T25" fmla="*/ 104 h 106"/>
                  <a:gd name="T26" fmla="*/ 213 w 231"/>
                  <a:gd name="T27" fmla="*/ 82 h 106"/>
                  <a:gd name="T28" fmla="*/ 206 w 231"/>
                  <a:gd name="T29" fmla="*/ 59 h 106"/>
                  <a:gd name="T30" fmla="*/ 195 w 231"/>
                  <a:gd name="T31" fmla="*/ 44 h 106"/>
                  <a:gd name="T32" fmla="*/ 180 w 231"/>
                  <a:gd name="T33" fmla="*/ 31 h 106"/>
                  <a:gd name="T34" fmla="*/ 162 w 231"/>
                  <a:gd name="T35" fmla="*/ 20 h 106"/>
                  <a:gd name="T36" fmla="*/ 142 w 231"/>
                  <a:gd name="T37" fmla="*/ 15 h 106"/>
                  <a:gd name="T38" fmla="*/ 122 w 231"/>
                  <a:gd name="T39" fmla="*/ 15 h 106"/>
                  <a:gd name="T40" fmla="*/ 102 w 231"/>
                  <a:gd name="T41" fmla="*/ 20 h 106"/>
                  <a:gd name="T42" fmla="*/ 82 w 231"/>
                  <a:gd name="T43" fmla="*/ 20 h 106"/>
                  <a:gd name="T44" fmla="*/ 65 w 231"/>
                  <a:gd name="T45" fmla="*/ 26 h 106"/>
                  <a:gd name="T46" fmla="*/ 49 w 231"/>
                  <a:gd name="T47" fmla="*/ 33 h 106"/>
                  <a:gd name="T48" fmla="*/ 36 w 231"/>
                  <a:gd name="T49" fmla="*/ 44 h 106"/>
                  <a:gd name="T50" fmla="*/ 25 w 231"/>
                  <a:gd name="T51" fmla="*/ 55 h 106"/>
                  <a:gd name="T52" fmla="*/ 16 w 231"/>
                  <a:gd name="T53" fmla="*/ 71 h 106"/>
                  <a:gd name="T54" fmla="*/ 11 w 231"/>
                  <a:gd name="T55" fmla="*/ 86 h 106"/>
                  <a:gd name="T56" fmla="*/ 11 w 231"/>
                  <a:gd name="T57" fmla="*/ 106 h 106"/>
                  <a:gd name="T58" fmla="*/ 5 w 231"/>
                  <a:gd name="T59" fmla="*/ 104 h 106"/>
                  <a:gd name="T60" fmla="*/ 0 w 231"/>
                  <a:gd name="T61" fmla="*/ 104 h 106"/>
                  <a:gd name="T62" fmla="*/ 0 w 231"/>
                  <a:gd name="T63" fmla="*/ 82 h 106"/>
                  <a:gd name="T64" fmla="*/ 7 w 231"/>
                  <a:gd name="T65" fmla="*/ 62 h 106"/>
                  <a:gd name="T66" fmla="*/ 16 w 231"/>
                  <a:gd name="T67" fmla="*/ 46 h 106"/>
                  <a:gd name="T68" fmla="*/ 31 w 231"/>
                  <a:gd name="T69" fmla="*/ 31 h 106"/>
                  <a:gd name="T70" fmla="*/ 47 w 231"/>
                  <a:gd name="T71" fmla="*/ 20 h 106"/>
                  <a:gd name="T72" fmla="*/ 65 w 231"/>
                  <a:gd name="T73" fmla="*/ 11 h 106"/>
                  <a:gd name="T74" fmla="*/ 85 w 231"/>
                  <a:gd name="T75" fmla="*/ 6 h 106"/>
                  <a:gd name="T76" fmla="*/ 105 w 231"/>
                  <a:gd name="T77" fmla="*/ 2 h 106"/>
                  <a:gd name="T78" fmla="*/ 105 w 231"/>
                  <a:gd name="T79" fmla="*/ 2 h 10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w 231"/>
                  <a:gd name="T121" fmla="*/ 0 h 106"/>
                  <a:gd name="T122" fmla="*/ 231 w 231"/>
                  <a:gd name="T123" fmla="*/ 106 h 106"/>
                </a:gdLst>
                <a:ahLst/>
                <a:cxnLst>
                  <a:cxn ang="T80">
                    <a:pos x="T0" y="T1"/>
                  </a:cxn>
                  <a:cxn ang="T81">
                    <a:pos x="T2" y="T3"/>
                  </a:cxn>
                  <a:cxn ang="T82">
                    <a:pos x="T4" y="T5"/>
                  </a:cxn>
                  <a:cxn ang="T83">
                    <a:pos x="T6" y="T7"/>
                  </a:cxn>
                  <a:cxn ang="T84">
                    <a:pos x="T8" y="T9"/>
                  </a:cxn>
                  <a:cxn ang="T85">
                    <a:pos x="T10" y="T11"/>
                  </a:cxn>
                  <a:cxn ang="T86">
                    <a:pos x="T12" y="T13"/>
                  </a:cxn>
                  <a:cxn ang="T87">
                    <a:pos x="T14" y="T15"/>
                  </a:cxn>
                  <a:cxn ang="T88">
                    <a:pos x="T16" y="T17"/>
                  </a:cxn>
                  <a:cxn ang="T89">
                    <a:pos x="T18" y="T19"/>
                  </a:cxn>
                  <a:cxn ang="T90">
                    <a:pos x="T20" y="T21"/>
                  </a:cxn>
                  <a:cxn ang="T91">
                    <a:pos x="T22" y="T23"/>
                  </a:cxn>
                  <a:cxn ang="T92">
                    <a:pos x="T24" y="T25"/>
                  </a:cxn>
                  <a:cxn ang="T93">
                    <a:pos x="T26" y="T27"/>
                  </a:cxn>
                  <a:cxn ang="T94">
                    <a:pos x="T28" y="T29"/>
                  </a:cxn>
                  <a:cxn ang="T95">
                    <a:pos x="T30" y="T31"/>
                  </a:cxn>
                  <a:cxn ang="T96">
                    <a:pos x="T32" y="T33"/>
                  </a:cxn>
                  <a:cxn ang="T97">
                    <a:pos x="T34" y="T35"/>
                  </a:cxn>
                  <a:cxn ang="T98">
                    <a:pos x="T36" y="T37"/>
                  </a:cxn>
                  <a:cxn ang="T99">
                    <a:pos x="T38" y="T39"/>
                  </a:cxn>
                  <a:cxn ang="T100">
                    <a:pos x="T40" y="T41"/>
                  </a:cxn>
                  <a:cxn ang="T101">
                    <a:pos x="T42" y="T43"/>
                  </a:cxn>
                  <a:cxn ang="T102">
                    <a:pos x="T44" y="T45"/>
                  </a:cxn>
                  <a:cxn ang="T103">
                    <a:pos x="T46" y="T47"/>
                  </a:cxn>
                  <a:cxn ang="T104">
                    <a:pos x="T48" y="T49"/>
                  </a:cxn>
                  <a:cxn ang="T105">
                    <a:pos x="T50" y="T51"/>
                  </a:cxn>
                  <a:cxn ang="T106">
                    <a:pos x="T52" y="T53"/>
                  </a:cxn>
                  <a:cxn ang="T107">
                    <a:pos x="T54" y="T55"/>
                  </a:cxn>
                  <a:cxn ang="T108">
                    <a:pos x="T56" y="T57"/>
                  </a:cxn>
                  <a:cxn ang="T109">
                    <a:pos x="T58" y="T59"/>
                  </a:cxn>
                  <a:cxn ang="T110">
                    <a:pos x="T60" y="T61"/>
                  </a:cxn>
                  <a:cxn ang="T111">
                    <a:pos x="T62" y="T63"/>
                  </a:cxn>
                  <a:cxn ang="T112">
                    <a:pos x="T64" y="T65"/>
                  </a:cxn>
                  <a:cxn ang="T113">
                    <a:pos x="T66" y="T67"/>
                  </a:cxn>
                  <a:cxn ang="T114">
                    <a:pos x="T68" y="T69"/>
                  </a:cxn>
                  <a:cxn ang="T115">
                    <a:pos x="T70" y="T71"/>
                  </a:cxn>
                  <a:cxn ang="T116">
                    <a:pos x="T72" y="T73"/>
                  </a:cxn>
                  <a:cxn ang="T117">
                    <a:pos x="T74" y="T75"/>
                  </a:cxn>
                  <a:cxn ang="T118">
                    <a:pos x="T76" y="T77"/>
                  </a:cxn>
                  <a:cxn ang="T119">
                    <a:pos x="T78" y="T79"/>
                  </a:cxn>
                </a:cxnLst>
                <a:rect l="T120" t="T121" r="T122" b="T123"/>
                <a:pathLst>
                  <a:path w="231" h="106">
                    <a:moveTo>
                      <a:pt x="105" y="2"/>
                    </a:moveTo>
                    <a:lnTo>
                      <a:pt x="127" y="0"/>
                    </a:lnTo>
                    <a:lnTo>
                      <a:pt x="151" y="4"/>
                    </a:lnTo>
                    <a:lnTo>
                      <a:pt x="173" y="11"/>
                    </a:lnTo>
                    <a:lnTo>
                      <a:pt x="193" y="22"/>
                    </a:lnTo>
                    <a:lnTo>
                      <a:pt x="211" y="37"/>
                    </a:lnTo>
                    <a:lnTo>
                      <a:pt x="224" y="57"/>
                    </a:lnTo>
                    <a:lnTo>
                      <a:pt x="229" y="79"/>
                    </a:lnTo>
                    <a:lnTo>
                      <a:pt x="231" y="104"/>
                    </a:lnTo>
                    <a:lnTo>
                      <a:pt x="226" y="104"/>
                    </a:lnTo>
                    <a:lnTo>
                      <a:pt x="222" y="104"/>
                    </a:lnTo>
                    <a:lnTo>
                      <a:pt x="218" y="104"/>
                    </a:lnTo>
                    <a:lnTo>
                      <a:pt x="215" y="104"/>
                    </a:lnTo>
                    <a:lnTo>
                      <a:pt x="213" y="82"/>
                    </a:lnTo>
                    <a:lnTo>
                      <a:pt x="206" y="59"/>
                    </a:lnTo>
                    <a:lnTo>
                      <a:pt x="195" y="44"/>
                    </a:lnTo>
                    <a:lnTo>
                      <a:pt x="180" y="31"/>
                    </a:lnTo>
                    <a:lnTo>
                      <a:pt x="162" y="20"/>
                    </a:lnTo>
                    <a:lnTo>
                      <a:pt x="142" y="15"/>
                    </a:lnTo>
                    <a:lnTo>
                      <a:pt x="122" y="15"/>
                    </a:lnTo>
                    <a:lnTo>
                      <a:pt x="102" y="20"/>
                    </a:lnTo>
                    <a:lnTo>
                      <a:pt x="82" y="20"/>
                    </a:lnTo>
                    <a:lnTo>
                      <a:pt x="65" y="26"/>
                    </a:lnTo>
                    <a:lnTo>
                      <a:pt x="49" y="33"/>
                    </a:lnTo>
                    <a:lnTo>
                      <a:pt x="36" y="44"/>
                    </a:lnTo>
                    <a:lnTo>
                      <a:pt x="25" y="55"/>
                    </a:lnTo>
                    <a:lnTo>
                      <a:pt x="16" y="71"/>
                    </a:lnTo>
                    <a:lnTo>
                      <a:pt x="11" y="86"/>
                    </a:lnTo>
                    <a:lnTo>
                      <a:pt x="11" y="106"/>
                    </a:lnTo>
                    <a:lnTo>
                      <a:pt x="5" y="104"/>
                    </a:lnTo>
                    <a:lnTo>
                      <a:pt x="0" y="104"/>
                    </a:lnTo>
                    <a:lnTo>
                      <a:pt x="0" y="82"/>
                    </a:lnTo>
                    <a:lnTo>
                      <a:pt x="7" y="62"/>
                    </a:lnTo>
                    <a:lnTo>
                      <a:pt x="16" y="46"/>
                    </a:lnTo>
                    <a:lnTo>
                      <a:pt x="31" y="31"/>
                    </a:lnTo>
                    <a:lnTo>
                      <a:pt x="47" y="20"/>
                    </a:lnTo>
                    <a:lnTo>
                      <a:pt x="65" y="11"/>
                    </a:lnTo>
                    <a:lnTo>
                      <a:pt x="85" y="6"/>
                    </a:lnTo>
                    <a:lnTo>
                      <a:pt x="105" y="2"/>
                    </a:lnTo>
                    <a:close/>
                  </a:path>
                </a:pathLst>
              </a:custGeom>
              <a:solidFill>
                <a:srgbClr val="000000"/>
              </a:solidFill>
              <a:ln w="9525">
                <a:noFill/>
                <a:round/>
                <a:headEnd/>
                <a:tailEnd/>
              </a:ln>
            </p:spPr>
            <p:txBody>
              <a:bodyPr/>
              <a:lstStyle/>
              <a:p>
                <a:endParaRPr lang="en-US"/>
              </a:p>
            </p:txBody>
          </p:sp>
          <p:sp>
            <p:nvSpPr>
              <p:cNvPr id="157710" name="Freeform 12"/>
              <p:cNvSpPr>
                <a:spLocks/>
              </p:cNvSpPr>
              <p:nvPr/>
            </p:nvSpPr>
            <p:spPr bwMode="auto">
              <a:xfrm>
                <a:off x="2911" y="627"/>
                <a:ext cx="15" cy="51"/>
              </a:xfrm>
              <a:custGeom>
                <a:avLst/>
                <a:gdLst>
                  <a:gd name="T0" fmla="*/ 9 w 15"/>
                  <a:gd name="T1" fmla="*/ 2 h 51"/>
                  <a:gd name="T2" fmla="*/ 13 w 15"/>
                  <a:gd name="T3" fmla="*/ 0 h 51"/>
                  <a:gd name="T4" fmla="*/ 15 w 15"/>
                  <a:gd name="T5" fmla="*/ 7 h 51"/>
                  <a:gd name="T6" fmla="*/ 15 w 15"/>
                  <a:gd name="T7" fmla="*/ 11 h 51"/>
                  <a:gd name="T8" fmla="*/ 15 w 15"/>
                  <a:gd name="T9" fmla="*/ 16 h 51"/>
                  <a:gd name="T10" fmla="*/ 13 w 15"/>
                  <a:gd name="T11" fmla="*/ 22 h 51"/>
                  <a:gd name="T12" fmla="*/ 13 w 15"/>
                  <a:gd name="T13" fmla="*/ 29 h 51"/>
                  <a:gd name="T14" fmla="*/ 13 w 15"/>
                  <a:gd name="T15" fmla="*/ 33 h 51"/>
                  <a:gd name="T16" fmla="*/ 11 w 15"/>
                  <a:gd name="T17" fmla="*/ 40 h 51"/>
                  <a:gd name="T18" fmla="*/ 11 w 15"/>
                  <a:gd name="T19" fmla="*/ 44 h 51"/>
                  <a:gd name="T20" fmla="*/ 9 w 15"/>
                  <a:gd name="T21" fmla="*/ 49 h 51"/>
                  <a:gd name="T22" fmla="*/ 6 w 15"/>
                  <a:gd name="T23" fmla="*/ 51 h 51"/>
                  <a:gd name="T24" fmla="*/ 4 w 15"/>
                  <a:gd name="T25" fmla="*/ 51 h 51"/>
                  <a:gd name="T26" fmla="*/ 0 w 15"/>
                  <a:gd name="T27" fmla="*/ 51 h 51"/>
                  <a:gd name="T28" fmla="*/ 0 w 15"/>
                  <a:gd name="T29" fmla="*/ 49 h 51"/>
                  <a:gd name="T30" fmla="*/ 0 w 15"/>
                  <a:gd name="T31" fmla="*/ 42 h 51"/>
                  <a:gd name="T32" fmla="*/ 0 w 15"/>
                  <a:gd name="T33" fmla="*/ 35 h 51"/>
                  <a:gd name="T34" fmla="*/ 0 w 15"/>
                  <a:gd name="T35" fmla="*/ 29 h 51"/>
                  <a:gd name="T36" fmla="*/ 0 w 15"/>
                  <a:gd name="T37" fmla="*/ 24 h 51"/>
                  <a:gd name="T38" fmla="*/ 0 w 15"/>
                  <a:gd name="T39" fmla="*/ 16 h 51"/>
                  <a:gd name="T40" fmla="*/ 4 w 15"/>
                  <a:gd name="T41" fmla="*/ 11 h 51"/>
                  <a:gd name="T42" fmla="*/ 4 w 15"/>
                  <a:gd name="T43" fmla="*/ 7 h 51"/>
                  <a:gd name="T44" fmla="*/ 9 w 15"/>
                  <a:gd name="T45" fmla="*/ 2 h 51"/>
                  <a:gd name="T46" fmla="*/ 9 w 15"/>
                  <a:gd name="T47" fmla="*/ 2 h 51"/>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5"/>
                  <a:gd name="T73" fmla="*/ 0 h 51"/>
                  <a:gd name="T74" fmla="*/ 15 w 15"/>
                  <a:gd name="T75" fmla="*/ 51 h 51"/>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5" h="51">
                    <a:moveTo>
                      <a:pt x="9" y="2"/>
                    </a:moveTo>
                    <a:lnTo>
                      <a:pt x="13" y="0"/>
                    </a:lnTo>
                    <a:lnTo>
                      <a:pt x="15" y="7"/>
                    </a:lnTo>
                    <a:lnTo>
                      <a:pt x="15" y="11"/>
                    </a:lnTo>
                    <a:lnTo>
                      <a:pt x="15" y="16"/>
                    </a:lnTo>
                    <a:lnTo>
                      <a:pt x="13" y="22"/>
                    </a:lnTo>
                    <a:lnTo>
                      <a:pt x="13" y="29"/>
                    </a:lnTo>
                    <a:lnTo>
                      <a:pt x="13" y="33"/>
                    </a:lnTo>
                    <a:lnTo>
                      <a:pt x="11" y="40"/>
                    </a:lnTo>
                    <a:lnTo>
                      <a:pt x="11" y="44"/>
                    </a:lnTo>
                    <a:lnTo>
                      <a:pt x="9" y="49"/>
                    </a:lnTo>
                    <a:lnTo>
                      <a:pt x="6" y="51"/>
                    </a:lnTo>
                    <a:lnTo>
                      <a:pt x="4" y="51"/>
                    </a:lnTo>
                    <a:lnTo>
                      <a:pt x="0" y="51"/>
                    </a:lnTo>
                    <a:lnTo>
                      <a:pt x="0" y="49"/>
                    </a:lnTo>
                    <a:lnTo>
                      <a:pt x="0" y="42"/>
                    </a:lnTo>
                    <a:lnTo>
                      <a:pt x="0" y="35"/>
                    </a:lnTo>
                    <a:lnTo>
                      <a:pt x="0" y="29"/>
                    </a:lnTo>
                    <a:lnTo>
                      <a:pt x="0" y="24"/>
                    </a:lnTo>
                    <a:lnTo>
                      <a:pt x="0" y="16"/>
                    </a:lnTo>
                    <a:lnTo>
                      <a:pt x="4" y="11"/>
                    </a:lnTo>
                    <a:lnTo>
                      <a:pt x="4" y="7"/>
                    </a:lnTo>
                    <a:lnTo>
                      <a:pt x="9" y="2"/>
                    </a:lnTo>
                    <a:close/>
                  </a:path>
                </a:pathLst>
              </a:custGeom>
              <a:solidFill>
                <a:srgbClr val="000000"/>
              </a:solidFill>
              <a:ln w="9525">
                <a:noFill/>
                <a:round/>
                <a:headEnd/>
                <a:tailEnd/>
              </a:ln>
            </p:spPr>
            <p:txBody>
              <a:bodyPr/>
              <a:lstStyle/>
              <a:p>
                <a:endParaRPr lang="en-US"/>
              </a:p>
            </p:txBody>
          </p:sp>
          <p:sp>
            <p:nvSpPr>
              <p:cNvPr id="157711" name="Freeform 13"/>
              <p:cNvSpPr>
                <a:spLocks/>
              </p:cNvSpPr>
              <p:nvPr/>
            </p:nvSpPr>
            <p:spPr bwMode="auto">
              <a:xfrm>
                <a:off x="2959" y="638"/>
                <a:ext cx="25" cy="47"/>
              </a:xfrm>
              <a:custGeom>
                <a:avLst/>
                <a:gdLst>
                  <a:gd name="T0" fmla="*/ 16 w 25"/>
                  <a:gd name="T1" fmla="*/ 0 h 47"/>
                  <a:gd name="T2" fmla="*/ 20 w 25"/>
                  <a:gd name="T3" fmla="*/ 0 h 47"/>
                  <a:gd name="T4" fmla="*/ 23 w 25"/>
                  <a:gd name="T5" fmla="*/ 0 h 47"/>
                  <a:gd name="T6" fmla="*/ 25 w 25"/>
                  <a:gd name="T7" fmla="*/ 2 h 47"/>
                  <a:gd name="T8" fmla="*/ 25 w 25"/>
                  <a:gd name="T9" fmla="*/ 7 h 47"/>
                  <a:gd name="T10" fmla="*/ 23 w 25"/>
                  <a:gd name="T11" fmla="*/ 9 h 47"/>
                  <a:gd name="T12" fmla="*/ 20 w 25"/>
                  <a:gd name="T13" fmla="*/ 16 h 47"/>
                  <a:gd name="T14" fmla="*/ 20 w 25"/>
                  <a:gd name="T15" fmla="*/ 20 h 47"/>
                  <a:gd name="T16" fmla="*/ 18 w 25"/>
                  <a:gd name="T17" fmla="*/ 27 h 47"/>
                  <a:gd name="T18" fmla="*/ 16 w 25"/>
                  <a:gd name="T19" fmla="*/ 31 h 47"/>
                  <a:gd name="T20" fmla="*/ 14 w 25"/>
                  <a:gd name="T21" fmla="*/ 38 h 47"/>
                  <a:gd name="T22" fmla="*/ 12 w 25"/>
                  <a:gd name="T23" fmla="*/ 40 h 47"/>
                  <a:gd name="T24" fmla="*/ 9 w 25"/>
                  <a:gd name="T25" fmla="*/ 44 h 47"/>
                  <a:gd name="T26" fmla="*/ 5 w 25"/>
                  <a:gd name="T27" fmla="*/ 47 h 47"/>
                  <a:gd name="T28" fmla="*/ 3 w 25"/>
                  <a:gd name="T29" fmla="*/ 47 h 47"/>
                  <a:gd name="T30" fmla="*/ 0 w 25"/>
                  <a:gd name="T31" fmla="*/ 44 h 47"/>
                  <a:gd name="T32" fmla="*/ 0 w 25"/>
                  <a:gd name="T33" fmla="*/ 40 h 47"/>
                  <a:gd name="T34" fmla="*/ 0 w 25"/>
                  <a:gd name="T35" fmla="*/ 36 h 47"/>
                  <a:gd name="T36" fmla="*/ 0 w 25"/>
                  <a:gd name="T37" fmla="*/ 31 h 47"/>
                  <a:gd name="T38" fmla="*/ 3 w 25"/>
                  <a:gd name="T39" fmla="*/ 24 h 47"/>
                  <a:gd name="T40" fmla="*/ 5 w 25"/>
                  <a:gd name="T41" fmla="*/ 20 h 47"/>
                  <a:gd name="T42" fmla="*/ 7 w 25"/>
                  <a:gd name="T43" fmla="*/ 13 h 47"/>
                  <a:gd name="T44" fmla="*/ 12 w 25"/>
                  <a:gd name="T45" fmla="*/ 7 h 47"/>
                  <a:gd name="T46" fmla="*/ 14 w 25"/>
                  <a:gd name="T47" fmla="*/ 2 h 47"/>
                  <a:gd name="T48" fmla="*/ 16 w 25"/>
                  <a:gd name="T49" fmla="*/ 0 h 47"/>
                  <a:gd name="T50" fmla="*/ 16 w 25"/>
                  <a:gd name="T51" fmla="*/ 0 h 47"/>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w 25"/>
                  <a:gd name="T79" fmla="*/ 0 h 47"/>
                  <a:gd name="T80" fmla="*/ 25 w 25"/>
                  <a:gd name="T81" fmla="*/ 47 h 47"/>
                </a:gdLst>
                <a:ahLst/>
                <a:cxnLst>
                  <a:cxn ang="T52">
                    <a:pos x="T0" y="T1"/>
                  </a:cxn>
                  <a:cxn ang="T53">
                    <a:pos x="T2" y="T3"/>
                  </a:cxn>
                  <a:cxn ang="T54">
                    <a:pos x="T4" y="T5"/>
                  </a:cxn>
                  <a:cxn ang="T55">
                    <a:pos x="T6" y="T7"/>
                  </a:cxn>
                  <a:cxn ang="T56">
                    <a:pos x="T8" y="T9"/>
                  </a:cxn>
                  <a:cxn ang="T57">
                    <a:pos x="T10" y="T11"/>
                  </a:cxn>
                  <a:cxn ang="T58">
                    <a:pos x="T12" y="T13"/>
                  </a:cxn>
                  <a:cxn ang="T59">
                    <a:pos x="T14" y="T15"/>
                  </a:cxn>
                  <a:cxn ang="T60">
                    <a:pos x="T16" y="T17"/>
                  </a:cxn>
                  <a:cxn ang="T61">
                    <a:pos x="T18" y="T19"/>
                  </a:cxn>
                  <a:cxn ang="T62">
                    <a:pos x="T20" y="T21"/>
                  </a:cxn>
                  <a:cxn ang="T63">
                    <a:pos x="T22" y="T23"/>
                  </a:cxn>
                  <a:cxn ang="T64">
                    <a:pos x="T24" y="T25"/>
                  </a:cxn>
                  <a:cxn ang="T65">
                    <a:pos x="T26" y="T27"/>
                  </a:cxn>
                  <a:cxn ang="T66">
                    <a:pos x="T28" y="T29"/>
                  </a:cxn>
                  <a:cxn ang="T67">
                    <a:pos x="T30" y="T31"/>
                  </a:cxn>
                  <a:cxn ang="T68">
                    <a:pos x="T32" y="T33"/>
                  </a:cxn>
                  <a:cxn ang="T69">
                    <a:pos x="T34" y="T35"/>
                  </a:cxn>
                  <a:cxn ang="T70">
                    <a:pos x="T36" y="T37"/>
                  </a:cxn>
                  <a:cxn ang="T71">
                    <a:pos x="T38" y="T39"/>
                  </a:cxn>
                  <a:cxn ang="T72">
                    <a:pos x="T40" y="T41"/>
                  </a:cxn>
                  <a:cxn ang="T73">
                    <a:pos x="T42" y="T43"/>
                  </a:cxn>
                  <a:cxn ang="T74">
                    <a:pos x="T44" y="T45"/>
                  </a:cxn>
                  <a:cxn ang="T75">
                    <a:pos x="T46" y="T47"/>
                  </a:cxn>
                  <a:cxn ang="T76">
                    <a:pos x="T48" y="T49"/>
                  </a:cxn>
                  <a:cxn ang="T77">
                    <a:pos x="T50" y="T51"/>
                  </a:cxn>
                </a:cxnLst>
                <a:rect l="T78" t="T79" r="T80" b="T81"/>
                <a:pathLst>
                  <a:path w="25" h="47">
                    <a:moveTo>
                      <a:pt x="16" y="0"/>
                    </a:moveTo>
                    <a:lnTo>
                      <a:pt x="20" y="0"/>
                    </a:lnTo>
                    <a:lnTo>
                      <a:pt x="23" y="0"/>
                    </a:lnTo>
                    <a:lnTo>
                      <a:pt x="25" y="2"/>
                    </a:lnTo>
                    <a:lnTo>
                      <a:pt x="25" y="7"/>
                    </a:lnTo>
                    <a:lnTo>
                      <a:pt x="23" y="9"/>
                    </a:lnTo>
                    <a:lnTo>
                      <a:pt x="20" y="16"/>
                    </a:lnTo>
                    <a:lnTo>
                      <a:pt x="20" y="20"/>
                    </a:lnTo>
                    <a:lnTo>
                      <a:pt x="18" y="27"/>
                    </a:lnTo>
                    <a:lnTo>
                      <a:pt x="16" y="31"/>
                    </a:lnTo>
                    <a:lnTo>
                      <a:pt x="14" y="38"/>
                    </a:lnTo>
                    <a:lnTo>
                      <a:pt x="12" y="40"/>
                    </a:lnTo>
                    <a:lnTo>
                      <a:pt x="9" y="44"/>
                    </a:lnTo>
                    <a:lnTo>
                      <a:pt x="5" y="47"/>
                    </a:lnTo>
                    <a:lnTo>
                      <a:pt x="3" y="47"/>
                    </a:lnTo>
                    <a:lnTo>
                      <a:pt x="0" y="44"/>
                    </a:lnTo>
                    <a:lnTo>
                      <a:pt x="0" y="40"/>
                    </a:lnTo>
                    <a:lnTo>
                      <a:pt x="0" y="36"/>
                    </a:lnTo>
                    <a:lnTo>
                      <a:pt x="0" y="31"/>
                    </a:lnTo>
                    <a:lnTo>
                      <a:pt x="3" y="24"/>
                    </a:lnTo>
                    <a:lnTo>
                      <a:pt x="5" y="20"/>
                    </a:lnTo>
                    <a:lnTo>
                      <a:pt x="7" y="13"/>
                    </a:lnTo>
                    <a:lnTo>
                      <a:pt x="12" y="7"/>
                    </a:lnTo>
                    <a:lnTo>
                      <a:pt x="14" y="2"/>
                    </a:lnTo>
                    <a:lnTo>
                      <a:pt x="16" y="0"/>
                    </a:lnTo>
                    <a:close/>
                  </a:path>
                </a:pathLst>
              </a:custGeom>
              <a:solidFill>
                <a:srgbClr val="000000"/>
              </a:solidFill>
              <a:ln w="9525">
                <a:noFill/>
                <a:round/>
                <a:headEnd/>
                <a:tailEnd/>
              </a:ln>
            </p:spPr>
            <p:txBody>
              <a:bodyPr/>
              <a:lstStyle/>
              <a:p>
                <a:endParaRPr lang="en-US"/>
              </a:p>
            </p:txBody>
          </p:sp>
          <p:sp>
            <p:nvSpPr>
              <p:cNvPr id="157712" name="Freeform 14"/>
              <p:cNvSpPr>
                <a:spLocks/>
              </p:cNvSpPr>
              <p:nvPr/>
            </p:nvSpPr>
            <p:spPr bwMode="auto">
              <a:xfrm>
                <a:off x="2855" y="638"/>
                <a:ext cx="22" cy="40"/>
              </a:xfrm>
              <a:custGeom>
                <a:avLst/>
                <a:gdLst>
                  <a:gd name="T0" fmla="*/ 7 w 22"/>
                  <a:gd name="T1" fmla="*/ 0 h 40"/>
                  <a:gd name="T2" fmla="*/ 14 w 22"/>
                  <a:gd name="T3" fmla="*/ 7 h 40"/>
                  <a:gd name="T4" fmla="*/ 20 w 22"/>
                  <a:gd name="T5" fmla="*/ 18 h 40"/>
                  <a:gd name="T6" fmla="*/ 20 w 22"/>
                  <a:gd name="T7" fmla="*/ 22 h 40"/>
                  <a:gd name="T8" fmla="*/ 22 w 22"/>
                  <a:gd name="T9" fmla="*/ 27 h 40"/>
                  <a:gd name="T10" fmla="*/ 22 w 22"/>
                  <a:gd name="T11" fmla="*/ 31 h 40"/>
                  <a:gd name="T12" fmla="*/ 22 w 22"/>
                  <a:gd name="T13" fmla="*/ 38 h 40"/>
                  <a:gd name="T14" fmla="*/ 20 w 22"/>
                  <a:gd name="T15" fmla="*/ 40 h 40"/>
                  <a:gd name="T16" fmla="*/ 14 w 22"/>
                  <a:gd name="T17" fmla="*/ 38 h 40"/>
                  <a:gd name="T18" fmla="*/ 9 w 22"/>
                  <a:gd name="T19" fmla="*/ 31 h 40"/>
                  <a:gd name="T20" fmla="*/ 5 w 22"/>
                  <a:gd name="T21" fmla="*/ 24 h 40"/>
                  <a:gd name="T22" fmla="*/ 2 w 22"/>
                  <a:gd name="T23" fmla="*/ 16 h 40"/>
                  <a:gd name="T24" fmla="*/ 0 w 22"/>
                  <a:gd name="T25" fmla="*/ 7 h 40"/>
                  <a:gd name="T26" fmla="*/ 2 w 22"/>
                  <a:gd name="T27" fmla="*/ 2 h 40"/>
                  <a:gd name="T28" fmla="*/ 7 w 22"/>
                  <a:gd name="T29" fmla="*/ 0 h 40"/>
                  <a:gd name="T30" fmla="*/ 7 w 22"/>
                  <a:gd name="T31" fmla="*/ 0 h 4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22"/>
                  <a:gd name="T49" fmla="*/ 0 h 40"/>
                  <a:gd name="T50" fmla="*/ 22 w 22"/>
                  <a:gd name="T51" fmla="*/ 40 h 4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22" h="40">
                    <a:moveTo>
                      <a:pt x="7" y="0"/>
                    </a:moveTo>
                    <a:lnTo>
                      <a:pt x="14" y="7"/>
                    </a:lnTo>
                    <a:lnTo>
                      <a:pt x="20" y="18"/>
                    </a:lnTo>
                    <a:lnTo>
                      <a:pt x="20" y="22"/>
                    </a:lnTo>
                    <a:lnTo>
                      <a:pt x="22" y="27"/>
                    </a:lnTo>
                    <a:lnTo>
                      <a:pt x="22" y="31"/>
                    </a:lnTo>
                    <a:lnTo>
                      <a:pt x="22" y="38"/>
                    </a:lnTo>
                    <a:lnTo>
                      <a:pt x="20" y="40"/>
                    </a:lnTo>
                    <a:lnTo>
                      <a:pt x="14" y="38"/>
                    </a:lnTo>
                    <a:lnTo>
                      <a:pt x="9" y="31"/>
                    </a:lnTo>
                    <a:lnTo>
                      <a:pt x="5" y="24"/>
                    </a:lnTo>
                    <a:lnTo>
                      <a:pt x="2" y="16"/>
                    </a:lnTo>
                    <a:lnTo>
                      <a:pt x="0" y="7"/>
                    </a:lnTo>
                    <a:lnTo>
                      <a:pt x="2" y="2"/>
                    </a:lnTo>
                    <a:lnTo>
                      <a:pt x="7" y="0"/>
                    </a:lnTo>
                    <a:close/>
                  </a:path>
                </a:pathLst>
              </a:custGeom>
              <a:solidFill>
                <a:srgbClr val="000000"/>
              </a:solidFill>
              <a:ln w="9525">
                <a:noFill/>
                <a:round/>
                <a:headEnd/>
                <a:tailEnd/>
              </a:ln>
            </p:spPr>
            <p:txBody>
              <a:bodyPr/>
              <a:lstStyle/>
              <a:p>
                <a:endParaRPr lang="en-US"/>
              </a:p>
            </p:txBody>
          </p:sp>
          <p:sp>
            <p:nvSpPr>
              <p:cNvPr id="157713" name="Freeform 15"/>
              <p:cNvSpPr>
                <a:spLocks/>
              </p:cNvSpPr>
              <p:nvPr/>
            </p:nvSpPr>
            <p:spPr bwMode="auto">
              <a:xfrm>
                <a:off x="2993" y="667"/>
                <a:ext cx="33" cy="42"/>
              </a:xfrm>
              <a:custGeom>
                <a:avLst/>
                <a:gdLst>
                  <a:gd name="T0" fmla="*/ 22 w 33"/>
                  <a:gd name="T1" fmla="*/ 2 h 42"/>
                  <a:gd name="T2" fmla="*/ 26 w 33"/>
                  <a:gd name="T3" fmla="*/ 0 h 42"/>
                  <a:gd name="T4" fmla="*/ 31 w 33"/>
                  <a:gd name="T5" fmla="*/ 0 h 42"/>
                  <a:gd name="T6" fmla="*/ 33 w 33"/>
                  <a:gd name="T7" fmla="*/ 2 h 42"/>
                  <a:gd name="T8" fmla="*/ 33 w 33"/>
                  <a:gd name="T9" fmla="*/ 9 h 42"/>
                  <a:gd name="T10" fmla="*/ 26 w 33"/>
                  <a:gd name="T11" fmla="*/ 15 h 42"/>
                  <a:gd name="T12" fmla="*/ 20 w 33"/>
                  <a:gd name="T13" fmla="*/ 24 h 42"/>
                  <a:gd name="T14" fmla="*/ 15 w 33"/>
                  <a:gd name="T15" fmla="*/ 29 h 42"/>
                  <a:gd name="T16" fmla="*/ 13 w 33"/>
                  <a:gd name="T17" fmla="*/ 33 h 42"/>
                  <a:gd name="T18" fmla="*/ 9 w 33"/>
                  <a:gd name="T19" fmla="*/ 38 h 42"/>
                  <a:gd name="T20" fmla="*/ 6 w 33"/>
                  <a:gd name="T21" fmla="*/ 42 h 42"/>
                  <a:gd name="T22" fmla="*/ 0 w 33"/>
                  <a:gd name="T23" fmla="*/ 40 h 42"/>
                  <a:gd name="T24" fmla="*/ 0 w 33"/>
                  <a:gd name="T25" fmla="*/ 38 h 42"/>
                  <a:gd name="T26" fmla="*/ 0 w 33"/>
                  <a:gd name="T27" fmla="*/ 33 h 42"/>
                  <a:gd name="T28" fmla="*/ 0 w 33"/>
                  <a:gd name="T29" fmla="*/ 33 h 42"/>
                  <a:gd name="T30" fmla="*/ 4 w 33"/>
                  <a:gd name="T31" fmla="*/ 24 h 42"/>
                  <a:gd name="T32" fmla="*/ 11 w 33"/>
                  <a:gd name="T33" fmla="*/ 15 h 42"/>
                  <a:gd name="T34" fmla="*/ 15 w 33"/>
                  <a:gd name="T35" fmla="*/ 9 h 42"/>
                  <a:gd name="T36" fmla="*/ 22 w 33"/>
                  <a:gd name="T37" fmla="*/ 2 h 42"/>
                  <a:gd name="T38" fmla="*/ 22 w 33"/>
                  <a:gd name="T39" fmla="*/ 2 h 42"/>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w 33"/>
                  <a:gd name="T61" fmla="*/ 0 h 42"/>
                  <a:gd name="T62" fmla="*/ 33 w 33"/>
                  <a:gd name="T63" fmla="*/ 42 h 42"/>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T60" t="T61" r="T62" b="T63"/>
                <a:pathLst>
                  <a:path w="33" h="42">
                    <a:moveTo>
                      <a:pt x="22" y="2"/>
                    </a:moveTo>
                    <a:lnTo>
                      <a:pt x="26" y="0"/>
                    </a:lnTo>
                    <a:lnTo>
                      <a:pt x="31" y="0"/>
                    </a:lnTo>
                    <a:lnTo>
                      <a:pt x="33" y="2"/>
                    </a:lnTo>
                    <a:lnTo>
                      <a:pt x="33" y="9"/>
                    </a:lnTo>
                    <a:lnTo>
                      <a:pt x="26" y="15"/>
                    </a:lnTo>
                    <a:lnTo>
                      <a:pt x="20" y="24"/>
                    </a:lnTo>
                    <a:lnTo>
                      <a:pt x="15" y="29"/>
                    </a:lnTo>
                    <a:lnTo>
                      <a:pt x="13" y="33"/>
                    </a:lnTo>
                    <a:lnTo>
                      <a:pt x="9" y="38"/>
                    </a:lnTo>
                    <a:lnTo>
                      <a:pt x="6" y="42"/>
                    </a:lnTo>
                    <a:lnTo>
                      <a:pt x="0" y="40"/>
                    </a:lnTo>
                    <a:lnTo>
                      <a:pt x="0" y="38"/>
                    </a:lnTo>
                    <a:lnTo>
                      <a:pt x="0" y="33"/>
                    </a:lnTo>
                    <a:lnTo>
                      <a:pt x="4" y="24"/>
                    </a:lnTo>
                    <a:lnTo>
                      <a:pt x="11" y="15"/>
                    </a:lnTo>
                    <a:lnTo>
                      <a:pt x="15" y="9"/>
                    </a:lnTo>
                    <a:lnTo>
                      <a:pt x="22" y="2"/>
                    </a:lnTo>
                    <a:close/>
                  </a:path>
                </a:pathLst>
              </a:custGeom>
              <a:solidFill>
                <a:srgbClr val="000000"/>
              </a:solidFill>
              <a:ln w="9525">
                <a:noFill/>
                <a:round/>
                <a:headEnd/>
                <a:tailEnd/>
              </a:ln>
            </p:spPr>
            <p:txBody>
              <a:bodyPr/>
              <a:lstStyle/>
              <a:p>
                <a:endParaRPr lang="en-US"/>
              </a:p>
            </p:txBody>
          </p:sp>
          <p:sp>
            <p:nvSpPr>
              <p:cNvPr id="157714" name="Freeform 16"/>
              <p:cNvSpPr>
                <a:spLocks/>
              </p:cNvSpPr>
              <p:nvPr/>
            </p:nvSpPr>
            <p:spPr bwMode="auto">
              <a:xfrm>
                <a:off x="2791" y="669"/>
                <a:ext cx="33" cy="27"/>
              </a:xfrm>
              <a:custGeom>
                <a:avLst/>
                <a:gdLst>
                  <a:gd name="T0" fmla="*/ 4 w 33"/>
                  <a:gd name="T1" fmla="*/ 0 h 27"/>
                  <a:gd name="T2" fmla="*/ 13 w 33"/>
                  <a:gd name="T3" fmla="*/ 5 h 27"/>
                  <a:gd name="T4" fmla="*/ 22 w 33"/>
                  <a:gd name="T5" fmla="*/ 9 h 27"/>
                  <a:gd name="T6" fmla="*/ 29 w 33"/>
                  <a:gd name="T7" fmla="*/ 13 h 27"/>
                  <a:gd name="T8" fmla="*/ 33 w 33"/>
                  <a:gd name="T9" fmla="*/ 22 h 27"/>
                  <a:gd name="T10" fmla="*/ 33 w 33"/>
                  <a:gd name="T11" fmla="*/ 27 h 27"/>
                  <a:gd name="T12" fmla="*/ 27 w 33"/>
                  <a:gd name="T13" fmla="*/ 27 h 27"/>
                  <a:gd name="T14" fmla="*/ 18 w 33"/>
                  <a:gd name="T15" fmla="*/ 22 h 27"/>
                  <a:gd name="T16" fmla="*/ 11 w 33"/>
                  <a:gd name="T17" fmla="*/ 18 h 27"/>
                  <a:gd name="T18" fmla="*/ 4 w 33"/>
                  <a:gd name="T19" fmla="*/ 13 h 27"/>
                  <a:gd name="T20" fmla="*/ 0 w 33"/>
                  <a:gd name="T21" fmla="*/ 9 h 27"/>
                  <a:gd name="T22" fmla="*/ 0 w 33"/>
                  <a:gd name="T23" fmla="*/ 0 h 27"/>
                  <a:gd name="T24" fmla="*/ 4 w 33"/>
                  <a:gd name="T25" fmla="*/ 0 h 27"/>
                  <a:gd name="T26" fmla="*/ 4 w 33"/>
                  <a:gd name="T27" fmla="*/ 0 h 27"/>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33"/>
                  <a:gd name="T43" fmla="*/ 0 h 27"/>
                  <a:gd name="T44" fmla="*/ 33 w 33"/>
                  <a:gd name="T45" fmla="*/ 27 h 27"/>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33" h="27">
                    <a:moveTo>
                      <a:pt x="4" y="0"/>
                    </a:moveTo>
                    <a:lnTo>
                      <a:pt x="13" y="5"/>
                    </a:lnTo>
                    <a:lnTo>
                      <a:pt x="22" y="9"/>
                    </a:lnTo>
                    <a:lnTo>
                      <a:pt x="29" y="13"/>
                    </a:lnTo>
                    <a:lnTo>
                      <a:pt x="33" y="22"/>
                    </a:lnTo>
                    <a:lnTo>
                      <a:pt x="33" y="27"/>
                    </a:lnTo>
                    <a:lnTo>
                      <a:pt x="27" y="27"/>
                    </a:lnTo>
                    <a:lnTo>
                      <a:pt x="18" y="22"/>
                    </a:lnTo>
                    <a:lnTo>
                      <a:pt x="11" y="18"/>
                    </a:lnTo>
                    <a:lnTo>
                      <a:pt x="4" y="13"/>
                    </a:lnTo>
                    <a:lnTo>
                      <a:pt x="0" y="9"/>
                    </a:lnTo>
                    <a:lnTo>
                      <a:pt x="0" y="0"/>
                    </a:lnTo>
                    <a:lnTo>
                      <a:pt x="4" y="0"/>
                    </a:lnTo>
                    <a:close/>
                  </a:path>
                </a:pathLst>
              </a:custGeom>
              <a:solidFill>
                <a:srgbClr val="000000"/>
              </a:solidFill>
              <a:ln w="9525">
                <a:noFill/>
                <a:round/>
                <a:headEnd/>
                <a:tailEnd/>
              </a:ln>
            </p:spPr>
            <p:txBody>
              <a:bodyPr/>
              <a:lstStyle/>
              <a:p>
                <a:endParaRPr lang="en-US"/>
              </a:p>
            </p:txBody>
          </p:sp>
          <p:sp>
            <p:nvSpPr>
              <p:cNvPr id="157715" name="Freeform 17"/>
              <p:cNvSpPr>
                <a:spLocks/>
              </p:cNvSpPr>
              <p:nvPr/>
            </p:nvSpPr>
            <p:spPr bwMode="auto">
              <a:xfrm>
                <a:off x="3008" y="702"/>
                <a:ext cx="49" cy="31"/>
              </a:xfrm>
              <a:custGeom>
                <a:avLst/>
                <a:gdLst>
                  <a:gd name="T0" fmla="*/ 45 w 49"/>
                  <a:gd name="T1" fmla="*/ 0 h 31"/>
                  <a:gd name="T2" fmla="*/ 47 w 49"/>
                  <a:gd name="T3" fmla="*/ 5 h 31"/>
                  <a:gd name="T4" fmla="*/ 49 w 49"/>
                  <a:gd name="T5" fmla="*/ 9 h 31"/>
                  <a:gd name="T6" fmla="*/ 42 w 49"/>
                  <a:gd name="T7" fmla="*/ 14 h 31"/>
                  <a:gd name="T8" fmla="*/ 38 w 49"/>
                  <a:gd name="T9" fmla="*/ 18 h 31"/>
                  <a:gd name="T10" fmla="*/ 33 w 49"/>
                  <a:gd name="T11" fmla="*/ 23 h 31"/>
                  <a:gd name="T12" fmla="*/ 27 w 49"/>
                  <a:gd name="T13" fmla="*/ 27 h 31"/>
                  <a:gd name="T14" fmla="*/ 20 w 49"/>
                  <a:gd name="T15" fmla="*/ 29 h 31"/>
                  <a:gd name="T16" fmla="*/ 13 w 49"/>
                  <a:gd name="T17" fmla="*/ 31 h 31"/>
                  <a:gd name="T18" fmla="*/ 9 w 49"/>
                  <a:gd name="T19" fmla="*/ 31 h 31"/>
                  <a:gd name="T20" fmla="*/ 5 w 49"/>
                  <a:gd name="T21" fmla="*/ 31 h 31"/>
                  <a:gd name="T22" fmla="*/ 0 w 49"/>
                  <a:gd name="T23" fmla="*/ 27 h 31"/>
                  <a:gd name="T24" fmla="*/ 2 w 49"/>
                  <a:gd name="T25" fmla="*/ 25 h 31"/>
                  <a:gd name="T26" fmla="*/ 5 w 49"/>
                  <a:gd name="T27" fmla="*/ 18 h 31"/>
                  <a:gd name="T28" fmla="*/ 9 w 49"/>
                  <a:gd name="T29" fmla="*/ 16 h 31"/>
                  <a:gd name="T30" fmla="*/ 16 w 49"/>
                  <a:gd name="T31" fmla="*/ 14 h 31"/>
                  <a:gd name="T32" fmla="*/ 22 w 49"/>
                  <a:gd name="T33" fmla="*/ 9 h 31"/>
                  <a:gd name="T34" fmla="*/ 27 w 49"/>
                  <a:gd name="T35" fmla="*/ 7 h 31"/>
                  <a:gd name="T36" fmla="*/ 33 w 49"/>
                  <a:gd name="T37" fmla="*/ 5 h 31"/>
                  <a:gd name="T38" fmla="*/ 38 w 49"/>
                  <a:gd name="T39" fmla="*/ 3 h 31"/>
                  <a:gd name="T40" fmla="*/ 45 w 49"/>
                  <a:gd name="T41" fmla="*/ 0 h 31"/>
                  <a:gd name="T42" fmla="*/ 45 w 49"/>
                  <a:gd name="T43" fmla="*/ 0 h 31"/>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49"/>
                  <a:gd name="T67" fmla="*/ 0 h 31"/>
                  <a:gd name="T68" fmla="*/ 49 w 49"/>
                  <a:gd name="T69" fmla="*/ 31 h 31"/>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49" h="31">
                    <a:moveTo>
                      <a:pt x="45" y="0"/>
                    </a:moveTo>
                    <a:lnTo>
                      <a:pt x="47" y="5"/>
                    </a:lnTo>
                    <a:lnTo>
                      <a:pt x="49" y="9"/>
                    </a:lnTo>
                    <a:lnTo>
                      <a:pt x="42" y="14"/>
                    </a:lnTo>
                    <a:lnTo>
                      <a:pt x="38" y="18"/>
                    </a:lnTo>
                    <a:lnTo>
                      <a:pt x="33" y="23"/>
                    </a:lnTo>
                    <a:lnTo>
                      <a:pt x="27" y="27"/>
                    </a:lnTo>
                    <a:lnTo>
                      <a:pt x="20" y="29"/>
                    </a:lnTo>
                    <a:lnTo>
                      <a:pt x="13" y="31"/>
                    </a:lnTo>
                    <a:lnTo>
                      <a:pt x="9" y="31"/>
                    </a:lnTo>
                    <a:lnTo>
                      <a:pt x="5" y="31"/>
                    </a:lnTo>
                    <a:lnTo>
                      <a:pt x="0" y="27"/>
                    </a:lnTo>
                    <a:lnTo>
                      <a:pt x="2" y="25"/>
                    </a:lnTo>
                    <a:lnTo>
                      <a:pt x="5" y="18"/>
                    </a:lnTo>
                    <a:lnTo>
                      <a:pt x="9" y="16"/>
                    </a:lnTo>
                    <a:lnTo>
                      <a:pt x="16" y="14"/>
                    </a:lnTo>
                    <a:lnTo>
                      <a:pt x="22" y="9"/>
                    </a:lnTo>
                    <a:lnTo>
                      <a:pt x="27" y="7"/>
                    </a:lnTo>
                    <a:lnTo>
                      <a:pt x="33" y="5"/>
                    </a:lnTo>
                    <a:lnTo>
                      <a:pt x="38" y="3"/>
                    </a:lnTo>
                    <a:lnTo>
                      <a:pt x="45" y="0"/>
                    </a:lnTo>
                    <a:close/>
                  </a:path>
                </a:pathLst>
              </a:custGeom>
              <a:solidFill>
                <a:srgbClr val="000000"/>
              </a:solidFill>
              <a:ln w="9525">
                <a:noFill/>
                <a:round/>
                <a:headEnd/>
                <a:tailEnd/>
              </a:ln>
            </p:spPr>
            <p:txBody>
              <a:bodyPr/>
              <a:lstStyle/>
              <a:p>
                <a:endParaRPr lang="en-US"/>
              </a:p>
            </p:txBody>
          </p:sp>
          <p:sp>
            <p:nvSpPr>
              <p:cNvPr id="157716" name="Freeform 18"/>
              <p:cNvSpPr>
                <a:spLocks/>
              </p:cNvSpPr>
              <p:nvPr/>
            </p:nvSpPr>
            <p:spPr bwMode="auto">
              <a:xfrm>
                <a:off x="2742" y="713"/>
                <a:ext cx="47" cy="14"/>
              </a:xfrm>
              <a:custGeom>
                <a:avLst/>
                <a:gdLst>
                  <a:gd name="T0" fmla="*/ 16 w 47"/>
                  <a:gd name="T1" fmla="*/ 0 h 14"/>
                  <a:gd name="T2" fmla="*/ 20 w 47"/>
                  <a:gd name="T3" fmla="*/ 0 h 14"/>
                  <a:gd name="T4" fmla="*/ 27 w 47"/>
                  <a:gd name="T5" fmla="*/ 3 h 14"/>
                  <a:gd name="T6" fmla="*/ 33 w 47"/>
                  <a:gd name="T7" fmla="*/ 3 h 14"/>
                  <a:gd name="T8" fmla="*/ 38 w 47"/>
                  <a:gd name="T9" fmla="*/ 3 h 14"/>
                  <a:gd name="T10" fmla="*/ 42 w 47"/>
                  <a:gd name="T11" fmla="*/ 5 h 14"/>
                  <a:gd name="T12" fmla="*/ 47 w 47"/>
                  <a:gd name="T13" fmla="*/ 7 h 14"/>
                  <a:gd name="T14" fmla="*/ 47 w 47"/>
                  <a:gd name="T15" fmla="*/ 12 h 14"/>
                  <a:gd name="T16" fmla="*/ 42 w 47"/>
                  <a:gd name="T17" fmla="*/ 14 h 14"/>
                  <a:gd name="T18" fmla="*/ 38 w 47"/>
                  <a:gd name="T19" fmla="*/ 14 h 14"/>
                  <a:gd name="T20" fmla="*/ 33 w 47"/>
                  <a:gd name="T21" fmla="*/ 14 h 14"/>
                  <a:gd name="T22" fmla="*/ 29 w 47"/>
                  <a:gd name="T23" fmla="*/ 14 h 14"/>
                  <a:gd name="T24" fmla="*/ 25 w 47"/>
                  <a:gd name="T25" fmla="*/ 14 h 14"/>
                  <a:gd name="T26" fmla="*/ 18 w 47"/>
                  <a:gd name="T27" fmla="*/ 14 h 14"/>
                  <a:gd name="T28" fmla="*/ 14 w 47"/>
                  <a:gd name="T29" fmla="*/ 14 h 14"/>
                  <a:gd name="T30" fmla="*/ 9 w 47"/>
                  <a:gd name="T31" fmla="*/ 12 h 14"/>
                  <a:gd name="T32" fmla="*/ 2 w 47"/>
                  <a:gd name="T33" fmla="*/ 12 h 14"/>
                  <a:gd name="T34" fmla="*/ 0 w 47"/>
                  <a:gd name="T35" fmla="*/ 7 h 14"/>
                  <a:gd name="T36" fmla="*/ 2 w 47"/>
                  <a:gd name="T37" fmla="*/ 5 h 14"/>
                  <a:gd name="T38" fmla="*/ 2 w 47"/>
                  <a:gd name="T39" fmla="*/ 3 h 14"/>
                  <a:gd name="T40" fmla="*/ 7 w 47"/>
                  <a:gd name="T41" fmla="*/ 0 h 14"/>
                  <a:gd name="T42" fmla="*/ 9 w 47"/>
                  <a:gd name="T43" fmla="*/ 0 h 14"/>
                  <a:gd name="T44" fmla="*/ 16 w 47"/>
                  <a:gd name="T45" fmla="*/ 0 h 14"/>
                  <a:gd name="T46" fmla="*/ 16 w 47"/>
                  <a:gd name="T47" fmla="*/ 0 h 14"/>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47"/>
                  <a:gd name="T73" fmla="*/ 0 h 14"/>
                  <a:gd name="T74" fmla="*/ 47 w 47"/>
                  <a:gd name="T75" fmla="*/ 14 h 14"/>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47" h="14">
                    <a:moveTo>
                      <a:pt x="16" y="0"/>
                    </a:moveTo>
                    <a:lnTo>
                      <a:pt x="20" y="0"/>
                    </a:lnTo>
                    <a:lnTo>
                      <a:pt x="27" y="3"/>
                    </a:lnTo>
                    <a:lnTo>
                      <a:pt x="33" y="3"/>
                    </a:lnTo>
                    <a:lnTo>
                      <a:pt x="38" y="3"/>
                    </a:lnTo>
                    <a:lnTo>
                      <a:pt x="42" y="5"/>
                    </a:lnTo>
                    <a:lnTo>
                      <a:pt x="47" y="7"/>
                    </a:lnTo>
                    <a:lnTo>
                      <a:pt x="47" y="12"/>
                    </a:lnTo>
                    <a:lnTo>
                      <a:pt x="42" y="14"/>
                    </a:lnTo>
                    <a:lnTo>
                      <a:pt x="38" y="14"/>
                    </a:lnTo>
                    <a:lnTo>
                      <a:pt x="33" y="14"/>
                    </a:lnTo>
                    <a:lnTo>
                      <a:pt x="29" y="14"/>
                    </a:lnTo>
                    <a:lnTo>
                      <a:pt x="25" y="14"/>
                    </a:lnTo>
                    <a:lnTo>
                      <a:pt x="18" y="14"/>
                    </a:lnTo>
                    <a:lnTo>
                      <a:pt x="14" y="14"/>
                    </a:lnTo>
                    <a:lnTo>
                      <a:pt x="9" y="12"/>
                    </a:lnTo>
                    <a:lnTo>
                      <a:pt x="2" y="12"/>
                    </a:lnTo>
                    <a:lnTo>
                      <a:pt x="0" y="7"/>
                    </a:lnTo>
                    <a:lnTo>
                      <a:pt x="2" y="5"/>
                    </a:lnTo>
                    <a:lnTo>
                      <a:pt x="2" y="3"/>
                    </a:lnTo>
                    <a:lnTo>
                      <a:pt x="7" y="0"/>
                    </a:lnTo>
                    <a:lnTo>
                      <a:pt x="9" y="0"/>
                    </a:lnTo>
                    <a:lnTo>
                      <a:pt x="16" y="0"/>
                    </a:lnTo>
                    <a:close/>
                  </a:path>
                </a:pathLst>
              </a:custGeom>
              <a:solidFill>
                <a:srgbClr val="000000"/>
              </a:solidFill>
              <a:ln w="9525">
                <a:noFill/>
                <a:round/>
                <a:headEnd/>
                <a:tailEnd/>
              </a:ln>
            </p:spPr>
            <p:txBody>
              <a:bodyPr/>
              <a:lstStyle/>
              <a:p>
                <a:endParaRPr lang="en-US"/>
              </a:p>
            </p:txBody>
          </p:sp>
          <p:sp>
            <p:nvSpPr>
              <p:cNvPr id="157717" name="Freeform 19"/>
              <p:cNvSpPr>
                <a:spLocks/>
              </p:cNvSpPr>
              <p:nvPr/>
            </p:nvSpPr>
            <p:spPr bwMode="auto">
              <a:xfrm>
                <a:off x="3026" y="738"/>
                <a:ext cx="51" cy="29"/>
              </a:xfrm>
              <a:custGeom>
                <a:avLst/>
                <a:gdLst>
                  <a:gd name="T0" fmla="*/ 42 w 51"/>
                  <a:gd name="T1" fmla="*/ 2 h 29"/>
                  <a:gd name="T2" fmla="*/ 49 w 51"/>
                  <a:gd name="T3" fmla="*/ 0 h 29"/>
                  <a:gd name="T4" fmla="*/ 51 w 51"/>
                  <a:gd name="T5" fmla="*/ 6 h 29"/>
                  <a:gd name="T6" fmla="*/ 46 w 51"/>
                  <a:gd name="T7" fmla="*/ 11 h 29"/>
                  <a:gd name="T8" fmla="*/ 40 w 51"/>
                  <a:gd name="T9" fmla="*/ 15 h 29"/>
                  <a:gd name="T10" fmla="*/ 35 w 51"/>
                  <a:gd name="T11" fmla="*/ 20 h 29"/>
                  <a:gd name="T12" fmla="*/ 29 w 51"/>
                  <a:gd name="T13" fmla="*/ 22 h 29"/>
                  <a:gd name="T14" fmla="*/ 20 w 51"/>
                  <a:gd name="T15" fmla="*/ 24 h 29"/>
                  <a:gd name="T16" fmla="*/ 13 w 51"/>
                  <a:gd name="T17" fmla="*/ 29 h 29"/>
                  <a:gd name="T18" fmla="*/ 7 w 51"/>
                  <a:gd name="T19" fmla="*/ 26 h 29"/>
                  <a:gd name="T20" fmla="*/ 0 w 51"/>
                  <a:gd name="T21" fmla="*/ 26 h 29"/>
                  <a:gd name="T22" fmla="*/ 0 w 51"/>
                  <a:gd name="T23" fmla="*/ 22 h 29"/>
                  <a:gd name="T24" fmla="*/ 4 w 51"/>
                  <a:gd name="T25" fmla="*/ 20 h 29"/>
                  <a:gd name="T26" fmla="*/ 7 w 51"/>
                  <a:gd name="T27" fmla="*/ 15 h 29"/>
                  <a:gd name="T28" fmla="*/ 13 w 51"/>
                  <a:gd name="T29" fmla="*/ 13 h 29"/>
                  <a:gd name="T30" fmla="*/ 18 w 51"/>
                  <a:gd name="T31" fmla="*/ 11 h 29"/>
                  <a:gd name="T32" fmla="*/ 22 w 51"/>
                  <a:gd name="T33" fmla="*/ 9 h 29"/>
                  <a:gd name="T34" fmla="*/ 27 w 51"/>
                  <a:gd name="T35" fmla="*/ 6 h 29"/>
                  <a:gd name="T36" fmla="*/ 33 w 51"/>
                  <a:gd name="T37" fmla="*/ 4 h 29"/>
                  <a:gd name="T38" fmla="*/ 38 w 51"/>
                  <a:gd name="T39" fmla="*/ 2 h 29"/>
                  <a:gd name="T40" fmla="*/ 42 w 51"/>
                  <a:gd name="T41" fmla="*/ 2 h 29"/>
                  <a:gd name="T42" fmla="*/ 42 w 51"/>
                  <a:gd name="T43" fmla="*/ 2 h 29"/>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w 51"/>
                  <a:gd name="T67" fmla="*/ 0 h 29"/>
                  <a:gd name="T68" fmla="*/ 51 w 51"/>
                  <a:gd name="T69" fmla="*/ 29 h 29"/>
                </a:gdLst>
                <a:ahLst/>
                <a:cxnLst>
                  <a:cxn ang="T44">
                    <a:pos x="T0" y="T1"/>
                  </a:cxn>
                  <a:cxn ang="T45">
                    <a:pos x="T2" y="T3"/>
                  </a:cxn>
                  <a:cxn ang="T46">
                    <a:pos x="T4" y="T5"/>
                  </a:cxn>
                  <a:cxn ang="T47">
                    <a:pos x="T6" y="T7"/>
                  </a:cxn>
                  <a:cxn ang="T48">
                    <a:pos x="T8" y="T9"/>
                  </a:cxn>
                  <a:cxn ang="T49">
                    <a:pos x="T10" y="T11"/>
                  </a:cxn>
                  <a:cxn ang="T50">
                    <a:pos x="T12" y="T13"/>
                  </a:cxn>
                  <a:cxn ang="T51">
                    <a:pos x="T14" y="T15"/>
                  </a:cxn>
                  <a:cxn ang="T52">
                    <a:pos x="T16" y="T17"/>
                  </a:cxn>
                  <a:cxn ang="T53">
                    <a:pos x="T18" y="T19"/>
                  </a:cxn>
                  <a:cxn ang="T54">
                    <a:pos x="T20" y="T21"/>
                  </a:cxn>
                  <a:cxn ang="T55">
                    <a:pos x="T22" y="T23"/>
                  </a:cxn>
                  <a:cxn ang="T56">
                    <a:pos x="T24" y="T25"/>
                  </a:cxn>
                  <a:cxn ang="T57">
                    <a:pos x="T26" y="T27"/>
                  </a:cxn>
                  <a:cxn ang="T58">
                    <a:pos x="T28" y="T29"/>
                  </a:cxn>
                  <a:cxn ang="T59">
                    <a:pos x="T30" y="T31"/>
                  </a:cxn>
                  <a:cxn ang="T60">
                    <a:pos x="T32" y="T33"/>
                  </a:cxn>
                  <a:cxn ang="T61">
                    <a:pos x="T34" y="T35"/>
                  </a:cxn>
                  <a:cxn ang="T62">
                    <a:pos x="T36" y="T37"/>
                  </a:cxn>
                  <a:cxn ang="T63">
                    <a:pos x="T38" y="T39"/>
                  </a:cxn>
                  <a:cxn ang="T64">
                    <a:pos x="T40" y="T41"/>
                  </a:cxn>
                  <a:cxn ang="T65">
                    <a:pos x="T42" y="T43"/>
                  </a:cxn>
                </a:cxnLst>
                <a:rect l="T66" t="T67" r="T68" b="T69"/>
                <a:pathLst>
                  <a:path w="51" h="29">
                    <a:moveTo>
                      <a:pt x="42" y="2"/>
                    </a:moveTo>
                    <a:lnTo>
                      <a:pt x="49" y="0"/>
                    </a:lnTo>
                    <a:lnTo>
                      <a:pt x="51" y="6"/>
                    </a:lnTo>
                    <a:lnTo>
                      <a:pt x="46" y="11"/>
                    </a:lnTo>
                    <a:lnTo>
                      <a:pt x="40" y="15"/>
                    </a:lnTo>
                    <a:lnTo>
                      <a:pt x="35" y="20"/>
                    </a:lnTo>
                    <a:lnTo>
                      <a:pt x="29" y="22"/>
                    </a:lnTo>
                    <a:lnTo>
                      <a:pt x="20" y="24"/>
                    </a:lnTo>
                    <a:lnTo>
                      <a:pt x="13" y="29"/>
                    </a:lnTo>
                    <a:lnTo>
                      <a:pt x="7" y="26"/>
                    </a:lnTo>
                    <a:lnTo>
                      <a:pt x="0" y="26"/>
                    </a:lnTo>
                    <a:lnTo>
                      <a:pt x="0" y="22"/>
                    </a:lnTo>
                    <a:lnTo>
                      <a:pt x="4" y="20"/>
                    </a:lnTo>
                    <a:lnTo>
                      <a:pt x="7" y="15"/>
                    </a:lnTo>
                    <a:lnTo>
                      <a:pt x="13" y="13"/>
                    </a:lnTo>
                    <a:lnTo>
                      <a:pt x="18" y="11"/>
                    </a:lnTo>
                    <a:lnTo>
                      <a:pt x="22" y="9"/>
                    </a:lnTo>
                    <a:lnTo>
                      <a:pt x="27" y="6"/>
                    </a:lnTo>
                    <a:lnTo>
                      <a:pt x="33" y="4"/>
                    </a:lnTo>
                    <a:lnTo>
                      <a:pt x="38" y="2"/>
                    </a:lnTo>
                    <a:lnTo>
                      <a:pt x="42" y="2"/>
                    </a:lnTo>
                    <a:close/>
                  </a:path>
                </a:pathLst>
              </a:custGeom>
              <a:solidFill>
                <a:srgbClr val="000000"/>
              </a:solidFill>
              <a:ln w="9525">
                <a:noFill/>
                <a:round/>
                <a:headEnd/>
                <a:tailEnd/>
              </a:ln>
            </p:spPr>
            <p:txBody>
              <a:bodyPr/>
              <a:lstStyle/>
              <a:p>
                <a:endParaRPr lang="en-US"/>
              </a:p>
            </p:txBody>
          </p:sp>
          <p:sp>
            <p:nvSpPr>
              <p:cNvPr id="157718" name="Freeform 20"/>
              <p:cNvSpPr>
                <a:spLocks/>
              </p:cNvSpPr>
              <p:nvPr/>
            </p:nvSpPr>
            <p:spPr bwMode="auto">
              <a:xfrm>
                <a:off x="2738" y="760"/>
                <a:ext cx="33" cy="13"/>
              </a:xfrm>
              <a:custGeom>
                <a:avLst/>
                <a:gdLst>
                  <a:gd name="T0" fmla="*/ 31 w 33"/>
                  <a:gd name="T1" fmla="*/ 2 h 13"/>
                  <a:gd name="T2" fmla="*/ 33 w 33"/>
                  <a:gd name="T3" fmla="*/ 7 h 13"/>
                  <a:gd name="T4" fmla="*/ 29 w 33"/>
                  <a:gd name="T5" fmla="*/ 11 h 13"/>
                  <a:gd name="T6" fmla="*/ 22 w 33"/>
                  <a:gd name="T7" fmla="*/ 13 h 13"/>
                  <a:gd name="T8" fmla="*/ 15 w 33"/>
                  <a:gd name="T9" fmla="*/ 13 h 13"/>
                  <a:gd name="T10" fmla="*/ 6 w 33"/>
                  <a:gd name="T11" fmla="*/ 11 h 13"/>
                  <a:gd name="T12" fmla="*/ 2 w 33"/>
                  <a:gd name="T13" fmla="*/ 9 h 13"/>
                  <a:gd name="T14" fmla="*/ 0 w 33"/>
                  <a:gd name="T15" fmla="*/ 4 h 13"/>
                  <a:gd name="T16" fmla="*/ 4 w 33"/>
                  <a:gd name="T17" fmla="*/ 0 h 13"/>
                  <a:gd name="T18" fmla="*/ 9 w 33"/>
                  <a:gd name="T19" fmla="*/ 0 h 13"/>
                  <a:gd name="T20" fmla="*/ 18 w 33"/>
                  <a:gd name="T21" fmla="*/ 0 h 13"/>
                  <a:gd name="T22" fmla="*/ 24 w 33"/>
                  <a:gd name="T23" fmla="*/ 0 h 13"/>
                  <a:gd name="T24" fmla="*/ 31 w 33"/>
                  <a:gd name="T25" fmla="*/ 2 h 13"/>
                  <a:gd name="T26" fmla="*/ 31 w 33"/>
                  <a:gd name="T27" fmla="*/ 2 h 13"/>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w 33"/>
                  <a:gd name="T43" fmla="*/ 0 h 13"/>
                  <a:gd name="T44" fmla="*/ 33 w 33"/>
                  <a:gd name="T45" fmla="*/ 13 h 13"/>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T42" t="T43" r="T44" b="T45"/>
                <a:pathLst>
                  <a:path w="33" h="13">
                    <a:moveTo>
                      <a:pt x="31" y="2"/>
                    </a:moveTo>
                    <a:lnTo>
                      <a:pt x="33" y="7"/>
                    </a:lnTo>
                    <a:lnTo>
                      <a:pt x="29" y="11"/>
                    </a:lnTo>
                    <a:lnTo>
                      <a:pt x="22" y="13"/>
                    </a:lnTo>
                    <a:lnTo>
                      <a:pt x="15" y="13"/>
                    </a:lnTo>
                    <a:lnTo>
                      <a:pt x="6" y="11"/>
                    </a:lnTo>
                    <a:lnTo>
                      <a:pt x="2" y="9"/>
                    </a:lnTo>
                    <a:lnTo>
                      <a:pt x="0" y="4"/>
                    </a:lnTo>
                    <a:lnTo>
                      <a:pt x="4" y="0"/>
                    </a:lnTo>
                    <a:lnTo>
                      <a:pt x="9" y="0"/>
                    </a:lnTo>
                    <a:lnTo>
                      <a:pt x="18" y="0"/>
                    </a:lnTo>
                    <a:lnTo>
                      <a:pt x="24" y="0"/>
                    </a:lnTo>
                    <a:lnTo>
                      <a:pt x="31" y="2"/>
                    </a:lnTo>
                    <a:close/>
                  </a:path>
                </a:pathLst>
              </a:custGeom>
              <a:solidFill>
                <a:srgbClr val="000000"/>
              </a:solidFill>
              <a:ln w="9525">
                <a:noFill/>
                <a:round/>
                <a:headEnd/>
                <a:tailEnd/>
              </a:ln>
            </p:spPr>
            <p:txBody>
              <a:bodyPr/>
              <a:lstStyle/>
              <a:p>
                <a:endParaRPr lang="en-US"/>
              </a:p>
            </p:txBody>
          </p:sp>
          <p:sp>
            <p:nvSpPr>
              <p:cNvPr id="157719" name="Freeform 21"/>
              <p:cNvSpPr>
                <a:spLocks/>
              </p:cNvSpPr>
              <p:nvPr/>
            </p:nvSpPr>
            <p:spPr bwMode="auto">
              <a:xfrm>
                <a:off x="2656" y="1431"/>
                <a:ext cx="538" cy="18"/>
              </a:xfrm>
              <a:custGeom>
                <a:avLst/>
                <a:gdLst>
                  <a:gd name="T0" fmla="*/ 337 w 538"/>
                  <a:gd name="T1" fmla="*/ 3 h 18"/>
                  <a:gd name="T2" fmla="*/ 354 w 538"/>
                  <a:gd name="T3" fmla="*/ 0 h 18"/>
                  <a:gd name="T4" fmla="*/ 374 w 538"/>
                  <a:gd name="T5" fmla="*/ 0 h 18"/>
                  <a:gd name="T6" fmla="*/ 397 w 538"/>
                  <a:gd name="T7" fmla="*/ 0 h 18"/>
                  <a:gd name="T8" fmla="*/ 421 w 538"/>
                  <a:gd name="T9" fmla="*/ 0 h 18"/>
                  <a:gd name="T10" fmla="*/ 443 w 538"/>
                  <a:gd name="T11" fmla="*/ 0 h 18"/>
                  <a:gd name="T12" fmla="*/ 465 w 538"/>
                  <a:gd name="T13" fmla="*/ 0 h 18"/>
                  <a:gd name="T14" fmla="*/ 485 w 538"/>
                  <a:gd name="T15" fmla="*/ 0 h 18"/>
                  <a:gd name="T16" fmla="*/ 503 w 538"/>
                  <a:gd name="T17" fmla="*/ 3 h 18"/>
                  <a:gd name="T18" fmla="*/ 514 w 538"/>
                  <a:gd name="T19" fmla="*/ 3 h 18"/>
                  <a:gd name="T20" fmla="*/ 523 w 538"/>
                  <a:gd name="T21" fmla="*/ 3 h 18"/>
                  <a:gd name="T22" fmla="*/ 530 w 538"/>
                  <a:gd name="T23" fmla="*/ 3 h 18"/>
                  <a:gd name="T24" fmla="*/ 534 w 538"/>
                  <a:gd name="T25" fmla="*/ 5 h 18"/>
                  <a:gd name="T26" fmla="*/ 538 w 538"/>
                  <a:gd name="T27" fmla="*/ 5 h 18"/>
                  <a:gd name="T28" fmla="*/ 538 w 538"/>
                  <a:gd name="T29" fmla="*/ 7 h 18"/>
                  <a:gd name="T30" fmla="*/ 534 w 538"/>
                  <a:gd name="T31" fmla="*/ 9 h 18"/>
                  <a:gd name="T32" fmla="*/ 530 w 538"/>
                  <a:gd name="T33" fmla="*/ 11 h 18"/>
                  <a:gd name="T34" fmla="*/ 487 w 538"/>
                  <a:gd name="T35" fmla="*/ 14 h 18"/>
                  <a:gd name="T36" fmla="*/ 443 w 538"/>
                  <a:gd name="T37" fmla="*/ 14 h 18"/>
                  <a:gd name="T38" fmla="*/ 399 w 538"/>
                  <a:gd name="T39" fmla="*/ 14 h 18"/>
                  <a:gd name="T40" fmla="*/ 354 w 538"/>
                  <a:gd name="T41" fmla="*/ 16 h 18"/>
                  <a:gd name="T42" fmla="*/ 308 w 538"/>
                  <a:gd name="T43" fmla="*/ 16 h 18"/>
                  <a:gd name="T44" fmla="*/ 261 w 538"/>
                  <a:gd name="T45" fmla="*/ 16 h 18"/>
                  <a:gd name="T46" fmla="*/ 213 w 538"/>
                  <a:gd name="T47" fmla="*/ 16 h 18"/>
                  <a:gd name="T48" fmla="*/ 168 w 538"/>
                  <a:gd name="T49" fmla="*/ 18 h 18"/>
                  <a:gd name="T50" fmla="*/ 153 w 538"/>
                  <a:gd name="T51" fmla="*/ 18 h 18"/>
                  <a:gd name="T52" fmla="*/ 133 w 538"/>
                  <a:gd name="T53" fmla="*/ 18 h 18"/>
                  <a:gd name="T54" fmla="*/ 113 w 538"/>
                  <a:gd name="T55" fmla="*/ 18 h 18"/>
                  <a:gd name="T56" fmla="*/ 95 w 538"/>
                  <a:gd name="T57" fmla="*/ 18 h 18"/>
                  <a:gd name="T58" fmla="*/ 73 w 538"/>
                  <a:gd name="T59" fmla="*/ 18 h 18"/>
                  <a:gd name="T60" fmla="*/ 55 w 538"/>
                  <a:gd name="T61" fmla="*/ 18 h 18"/>
                  <a:gd name="T62" fmla="*/ 37 w 538"/>
                  <a:gd name="T63" fmla="*/ 18 h 18"/>
                  <a:gd name="T64" fmla="*/ 22 w 538"/>
                  <a:gd name="T65" fmla="*/ 18 h 18"/>
                  <a:gd name="T66" fmla="*/ 13 w 538"/>
                  <a:gd name="T67" fmla="*/ 16 h 18"/>
                  <a:gd name="T68" fmla="*/ 6 w 538"/>
                  <a:gd name="T69" fmla="*/ 14 h 18"/>
                  <a:gd name="T70" fmla="*/ 2 w 538"/>
                  <a:gd name="T71" fmla="*/ 11 h 18"/>
                  <a:gd name="T72" fmla="*/ 0 w 538"/>
                  <a:gd name="T73" fmla="*/ 11 h 18"/>
                  <a:gd name="T74" fmla="*/ 0 w 538"/>
                  <a:gd name="T75" fmla="*/ 7 h 18"/>
                  <a:gd name="T76" fmla="*/ 2 w 538"/>
                  <a:gd name="T77" fmla="*/ 7 h 18"/>
                  <a:gd name="T78" fmla="*/ 4 w 538"/>
                  <a:gd name="T79" fmla="*/ 5 h 18"/>
                  <a:gd name="T80" fmla="*/ 11 w 538"/>
                  <a:gd name="T81" fmla="*/ 5 h 18"/>
                  <a:gd name="T82" fmla="*/ 33 w 538"/>
                  <a:gd name="T83" fmla="*/ 3 h 18"/>
                  <a:gd name="T84" fmla="*/ 60 w 538"/>
                  <a:gd name="T85" fmla="*/ 3 h 18"/>
                  <a:gd name="T86" fmla="*/ 86 w 538"/>
                  <a:gd name="T87" fmla="*/ 3 h 18"/>
                  <a:gd name="T88" fmla="*/ 117 w 538"/>
                  <a:gd name="T89" fmla="*/ 5 h 18"/>
                  <a:gd name="T90" fmla="*/ 144 w 538"/>
                  <a:gd name="T91" fmla="*/ 5 h 18"/>
                  <a:gd name="T92" fmla="*/ 173 w 538"/>
                  <a:gd name="T93" fmla="*/ 5 h 18"/>
                  <a:gd name="T94" fmla="*/ 195 w 538"/>
                  <a:gd name="T95" fmla="*/ 5 h 18"/>
                  <a:gd name="T96" fmla="*/ 215 w 538"/>
                  <a:gd name="T97" fmla="*/ 5 h 18"/>
                  <a:gd name="T98" fmla="*/ 230 w 538"/>
                  <a:gd name="T99" fmla="*/ 5 h 18"/>
                  <a:gd name="T100" fmla="*/ 248 w 538"/>
                  <a:gd name="T101" fmla="*/ 3 h 18"/>
                  <a:gd name="T102" fmla="*/ 264 w 538"/>
                  <a:gd name="T103" fmla="*/ 3 h 18"/>
                  <a:gd name="T104" fmla="*/ 279 w 538"/>
                  <a:gd name="T105" fmla="*/ 3 h 18"/>
                  <a:gd name="T106" fmla="*/ 295 w 538"/>
                  <a:gd name="T107" fmla="*/ 3 h 18"/>
                  <a:gd name="T108" fmla="*/ 308 w 538"/>
                  <a:gd name="T109" fmla="*/ 3 h 18"/>
                  <a:gd name="T110" fmla="*/ 323 w 538"/>
                  <a:gd name="T111" fmla="*/ 3 h 18"/>
                  <a:gd name="T112" fmla="*/ 337 w 538"/>
                  <a:gd name="T113" fmla="*/ 3 h 18"/>
                  <a:gd name="T114" fmla="*/ 337 w 538"/>
                  <a:gd name="T115" fmla="*/ 3 h 18"/>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w 538"/>
                  <a:gd name="T175" fmla="*/ 0 h 18"/>
                  <a:gd name="T176" fmla="*/ 538 w 538"/>
                  <a:gd name="T177" fmla="*/ 18 h 18"/>
                </a:gdLst>
                <a:ahLst/>
                <a:cxnLst>
                  <a:cxn ang="T116">
                    <a:pos x="T0" y="T1"/>
                  </a:cxn>
                  <a:cxn ang="T117">
                    <a:pos x="T2" y="T3"/>
                  </a:cxn>
                  <a:cxn ang="T118">
                    <a:pos x="T4" y="T5"/>
                  </a:cxn>
                  <a:cxn ang="T119">
                    <a:pos x="T6" y="T7"/>
                  </a:cxn>
                  <a:cxn ang="T120">
                    <a:pos x="T8" y="T9"/>
                  </a:cxn>
                  <a:cxn ang="T121">
                    <a:pos x="T10" y="T11"/>
                  </a:cxn>
                  <a:cxn ang="T122">
                    <a:pos x="T12" y="T13"/>
                  </a:cxn>
                  <a:cxn ang="T123">
                    <a:pos x="T14" y="T15"/>
                  </a:cxn>
                  <a:cxn ang="T124">
                    <a:pos x="T16" y="T17"/>
                  </a:cxn>
                  <a:cxn ang="T125">
                    <a:pos x="T18" y="T19"/>
                  </a:cxn>
                  <a:cxn ang="T126">
                    <a:pos x="T20" y="T21"/>
                  </a:cxn>
                  <a:cxn ang="T127">
                    <a:pos x="T22" y="T23"/>
                  </a:cxn>
                  <a:cxn ang="T128">
                    <a:pos x="T24" y="T25"/>
                  </a:cxn>
                  <a:cxn ang="T129">
                    <a:pos x="T26" y="T27"/>
                  </a:cxn>
                  <a:cxn ang="T130">
                    <a:pos x="T28" y="T29"/>
                  </a:cxn>
                  <a:cxn ang="T131">
                    <a:pos x="T30" y="T31"/>
                  </a:cxn>
                  <a:cxn ang="T132">
                    <a:pos x="T32" y="T33"/>
                  </a:cxn>
                  <a:cxn ang="T133">
                    <a:pos x="T34" y="T35"/>
                  </a:cxn>
                  <a:cxn ang="T134">
                    <a:pos x="T36" y="T37"/>
                  </a:cxn>
                  <a:cxn ang="T135">
                    <a:pos x="T38" y="T39"/>
                  </a:cxn>
                  <a:cxn ang="T136">
                    <a:pos x="T40" y="T41"/>
                  </a:cxn>
                  <a:cxn ang="T137">
                    <a:pos x="T42" y="T43"/>
                  </a:cxn>
                  <a:cxn ang="T138">
                    <a:pos x="T44" y="T45"/>
                  </a:cxn>
                  <a:cxn ang="T139">
                    <a:pos x="T46" y="T47"/>
                  </a:cxn>
                  <a:cxn ang="T140">
                    <a:pos x="T48" y="T49"/>
                  </a:cxn>
                  <a:cxn ang="T141">
                    <a:pos x="T50" y="T51"/>
                  </a:cxn>
                  <a:cxn ang="T142">
                    <a:pos x="T52" y="T53"/>
                  </a:cxn>
                  <a:cxn ang="T143">
                    <a:pos x="T54" y="T55"/>
                  </a:cxn>
                  <a:cxn ang="T144">
                    <a:pos x="T56" y="T57"/>
                  </a:cxn>
                  <a:cxn ang="T145">
                    <a:pos x="T58" y="T59"/>
                  </a:cxn>
                  <a:cxn ang="T146">
                    <a:pos x="T60" y="T61"/>
                  </a:cxn>
                  <a:cxn ang="T147">
                    <a:pos x="T62" y="T63"/>
                  </a:cxn>
                  <a:cxn ang="T148">
                    <a:pos x="T64" y="T65"/>
                  </a:cxn>
                  <a:cxn ang="T149">
                    <a:pos x="T66" y="T67"/>
                  </a:cxn>
                  <a:cxn ang="T150">
                    <a:pos x="T68" y="T69"/>
                  </a:cxn>
                  <a:cxn ang="T151">
                    <a:pos x="T70" y="T71"/>
                  </a:cxn>
                  <a:cxn ang="T152">
                    <a:pos x="T72" y="T73"/>
                  </a:cxn>
                  <a:cxn ang="T153">
                    <a:pos x="T74" y="T75"/>
                  </a:cxn>
                  <a:cxn ang="T154">
                    <a:pos x="T76" y="T77"/>
                  </a:cxn>
                  <a:cxn ang="T155">
                    <a:pos x="T78" y="T79"/>
                  </a:cxn>
                  <a:cxn ang="T156">
                    <a:pos x="T80" y="T81"/>
                  </a:cxn>
                  <a:cxn ang="T157">
                    <a:pos x="T82" y="T83"/>
                  </a:cxn>
                  <a:cxn ang="T158">
                    <a:pos x="T84" y="T85"/>
                  </a:cxn>
                  <a:cxn ang="T159">
                    <a:pos x="T86" y="T87"/>
                  </a:cxn>
                  <a:cxn ang="T160">
                    <a:pos x="T88" y="T89"/>
                  </a:cxn>
                  <a:cxn ang="T161">
                    <a:pos x="T90" y="T91"/>
                  </a:cxn>
                  <a:cxn ang="T162">
                    <a:pos x="T92" y="T93"/>
                  </a:cxn>
                  <a:cxn ang="T163">
                    <a:pos x="T94" y="T95"/>
                  </a:cxn>
                  <a:cxn ang="T164">
                    <a:pos x="T96" y="T97"/>
                  </a:cxn>
                  <a:cxn ang="T165">
                    <a:pos x="T98" y="T99"/>
                  </a:cxn>
                  <a:cxn ang="T166">
                    <a:pos x="T100" y="T101"/>
                  </a:cxn>
                  <a:cxn ang="T167">
                    <a:pos x="T102" y="T103"/>
                  </a:cxn>
                  <a:cxn ang="T168">
                    <a:pos x="T104" y="T105"/>
                  </a:cxn>
                  <a:cxn ang="T169">
                    <a:pos x="T106" y="T107"/>
                  </a:cxn>
                  <a:cxn ang="T170">
                    <a:pos x="T108" y="T109"/>
                  </a:cxn>
                  <a:cxn ang="T171">
                    <a:pos x="T110" y="T111"/>
                  </a:cxn>
                  <a:cxn ang="T172">
                    <a:pos x="T112" y="T113"/>
                  </a:cxn>
                  <a:cxn ang="T173">
                    <a:pos x="T114" y="T115"/>
                  </a:cxn>
                </a:cxnLst>
                <a:rect l="T174" t="T175" r="T176" b="T177"/>
                <a:pathLst>
                  <a:path w="538" h="18">
                    <a:moveTo>
                      <a:pt x="337" y="3"/>
                    </a:moveTo>
                    <a:lnTo>
                      <a:pt x="354" y="0"/>
                    </a:lnTo>
                    <a:lnTo>
                      <a:pt x="374" y="0"/>
                    </a:lnTo>
                    <a:lnTo>
                      <a:pt x="397" y="0"/>
                    </a:lnTo>
                    <a:lnTo>
                      <a:pt x="421" y="0"/>
                    </a:lnTo>
                    <a:lnTo>
                      <a:pt x="443" y="0"/>
                    </a:lnTo>
                    <a:lnTo>
                      <a:pt x="465" y="0"/>
                    </a:lnTo>
                    <a:lnTo>
                      <a:pt x="485" y="0"/>
                    </a:lnTo>
                    <a:lnTo>
                      <a:pt x="503" y="3"/>
                    </a:lnTo>
                    <a:lnTo>
                      <a:pt x="514" y="3"/>
                    </a:lnTo>
                    <a:lnTo>
                      <a:pt x="523" y="3"/>
                    </a:lnTo>
                    <a:lnTo>
                      <a:pt x="530" y="3"/>
                    </a:lnTo>
                    <a:lnTo>
                      <a:pt x="534" y="5"/>
                    </a:lnTo>
                    <a:lnTo>
                      <a:pt x="538" y="5"/>
                    </a:lnTo>
                    <a:lnTo>
                      <a:pt x="538" y="7"/>
                    </a:lnTo>
                    <a:lnTo>
                      <a:pt x="534" y="9"/>
                    </a:lnTo>
                    <a:lnTo>
                      <a:pt x="530" y="11"/>
                    </a:lnTo>
                    <a:lnTo>
                      <a:pt x="487" y="14"/>
                    </a:lnTo>
                    <a:lnTo>
                      <a:pt x="443" y="14"/>
                    </a:lnTo>
                    <a:lnTo>
                      <a:pt x="399" y="14"/>
                    </a:lnTo>
                    <a:lnTo>
                      <a:pt x="354" y="16"/>
                    </a:lnTo>
                    <a:lnTo>
                      <a:pt x="308" y="16"/>
                    </a:lnTo>
                    <a:lnTo>
                      <a:pt x="261" y="16"/>
                    </a:lnTo>
                    <a:lnTo>
                      <a:pt x="213" y="16"/>
                    </a:lnTo>
                    <a:lnTo>
                      <a:pt x="168" y="18"/>
                    </a:lnTo>
                    <a:lnTo>
                      <a:pt x="153" y="18"/>
                    </a:lnTo>
                    <a:lnTo>
                      <a:pt x="133" y="18"/>
                    </a:lnTo>
                    <a:lnTo>
                      <a:pt x="113" y="18"/>
                    </a:lnTo>
                    <a:lnTo>
                      <a:pt x="95" y="18"/>
                    </a:lnTo>
                    <a:lnTo>
                      <a:pt x="73" y="18"/>
                    </a:lnTo>
                    <a:lnTo>
                      <a:pt x="55" y="18"/>
                    </a:lnTo>
                    <a:lnTo>
                      <a:pt x="37" y="18"/>
                    </a:lnTo>
                    <a:lnTo>
                      <a:pt x="22" y="18"/>
                    </a:lnTo>
                    <a:lnTo>
                      <a:pt x="13" y="16"/>
                    </a:lnTo>
                    <a:lnTo>
                      <a:pt x="6" y="14"/>
                    </a:lnTo>
                    <a:lnTo>
                      <a:pt x="2" y="11"/>
                    </a:lnTo>
                    <a:lnTo>
                      <a:pt x="0" y="11"/>
                    </a:lnTo>
                    <a:lnTo>
                      <a:pt x="0" y="7"/>
                    </a:lnTo>
                    <a:lnTo>
                      <a:pt x="2" y="7"/>
                    </a:lnTo>
                    <a:lnTo>
                      <a:pt x="4" y="5"/>
                    </a:lnTo>
                    <a:lnTo>
                      <a:pt x="11" y="5"/>
                    </a:lnTo>
                    <a:lnTo>
                      <a:pt x="33" y="3"/>
                    </a:lnTo>
                    <a:lnTo>
                      <a:pt x="60" y="3"/>
                    </a:lnTo>
                    <a:lnTo>
                      <a:pt x="86" y="3"/>
                    </a:lnTo>
                    <a:lnTo>
                      <a:pt x="117" y="5"/>
                    </a:lnTo>
                    <a:lnTo>
                      <a:pt x="144" y="5"/>
                    </a:lnTo>
                    <a:lnTo>
                      <a:pt x="173" y="5"/>
                    </a:lnTo>
                    <a:lnTo>
                      <a:pt x="195" y="5"/>
                    </a:lnTo>
                    <a:lnTo>
                      <a:pt x="215" y="5"/>
                    </a:lnTo>
                    <a:lnTo>
                      <a:pt x="230" y="5"/>
                    </a:lnTo>
                    <a:lnTo>
                      <a:pt x="248" y="3"/>
                    </a:lnTo>
                    <a:lnTo>
                      <a:pt x="264" y="3"/>
                    </a:lnTo>
                    <a:lnTo>
                      <a:pt x="279" y="3"/>
                    </a:lnTo>
                    <a:lnTo>
                      <a:pt x="295" y="3"/>
                    </a:lnTo>
                    <a:lnTo>
                      <a:pt x="308" y="3"/>
                    </a:lnTo>
                    <a:lnTo>
                      <a:pt x="323" y="3"/>
                    </a:lnTo>
                    <a:lnTo>
                      <a:pt x="337" y="3"/>
                    </a:lnTo>
                    <a:close/>
                  </a:path>
                </a:pathLst>
              </a:custGeom>
              <a:solidFill>
                <a:srgbClr val="FFFF85"/>
              </a:solidFill>
              <a:ln w="9525">
                <a:noFill/>
                <a:round/>
                <a:headEnd/>
                <a:tailEnd/>
              </a:ln>
            </p:spPr>
            <p:txBody>
              <a:bodyPr/>
              <a:lstStyle/>
              <a:p>
                <a:endParaRPr lang="en-US"/>
              </a:p>
            </p:txBody>
          </p:sp>
          <p:sp>
            <p:nvSpPr>
              <p:cNvPr id="157720" name="Freeform 22"/>
              <p:cNvSpPr>
                <a:spLocks/>
              </p:cNvSpPr>
              <p:nvPr/>
            </p:nvSpPr>
            <p:spPr bwMode="auto">
              <a:xfrm>
                <a:off x="2826" y="1017"/>
                <a:ext cx="244" cy="20"/>
              </a:xfrm>
              <a:custGeom>
                <a:avLst/>
                <a:gdLst>
                  <a:gd name="T0" fmla="*/ 189 w 244"/>
                  <a:gd name="T1" fmla="*/ 0 h 20"/>
                  <a:gd name="T2" fmla="*/ 193 w 244"/>
                  <a:gd name="T3" fmla="*/ 0 h 20"/>
                  <a:gd name="T4" fmla="*/ 200 w 244"/>
                  <a:gd name="T5" fmla="*/ 0 h 20"/>
                  <a:gd name="T6" fmla="*/ 207 w 244"/>
                  <a:gd name="T7" fmla="*/ 0 h 20"/>
                  <a:gd name="T8" fmla="*/ 213 w 244"/>
                  <a:gd name="T9" fmla="*/ 0 h 20"/>
                  <a:gd name="T10" fmla="*/ 220 w 244"/>
                  <a:gd name="T11" fmla="*/ 0 h 20"/>
                  <a:gd name="T12" fmla="*/ 229 w 244"/>
                  <a:gd name="T13" fmla="*/ 0 h 20"/>
                  <a:gd name="T14" fmla="*/ 233 w 244"/>
                  <a:gd name="T15" fmla="*/ 0 h 20"/>
                  <a:gd name="T16" fmla="*/ 240 w 244"/>
                  <a:gd name="T17" fmla="*/ 0 h 20"/>
                  <a:gd name="T18" fmla="*/ 244 w 244"/>
                  <a:gd name="T19" fmla="*/ 4 h 20"/>
                  <a:gd name="T20" fmla="*/ 242 w 244"/>
                  <a:gd name="T21" fmla="*/ 11 h 20"/>
                  <a:gd name="T22" fmla="*/ 231 w 244"/>
                  <a:gd name="T23" fmla="*/ 13 h 20"/>
                  <a:gd name="T24" fmla="*/ 220 w 244"/>
                  <a:gd name="T25" fmla="*/ 16 h 20"/>
                  <a:gd name="T26" fmla="*/ 209 w 244"/>
                  <a:gd name="T27" fmla="*/ 16 h 20"/>
                  <a:gd name="T28" fmla="*/ 198 w 244"/>
                  <a:gd name="T29" fmla="*/ 16 h 20"/>
                  <a:gd name="T30" fmla="*/ 187 w 244"/>
                  <a:gd name="T31" fmla="*/ 16 h 20"/>
                  <a:gd name="T32" fmla="*/ 176 w 244"/>
                  <a:gd name="T33" fmla="*/ 16 h 20"/>
                  <a:gd name="T34" fmla="*/ 162 w 244"/>
                  <a:gd name="T35" fmla="*/ 16 h 20"/>
                  <a:gd name="T36" fmla="*/ 153 w 244"/>
                  <a:gd name="T37" fmla="*/ 18 h 20"/>
                  <a:gd name="T38" fmla="*/ 136 w 244"/>
                  <a:gd name="T39" fmla="*/ 18 h 20"/>
                  <a:gd name="T40" fmla="*/ 118 w 244"/>
                  <a:gd name="T41" fmla="*/ 18 h 20"/>
                  <a:gd name="T42" fmla="*/ 100 w 244"/>
                  <a:gd name="T43" fmla="*/ 18 h 20"/>
                  <a:gd name="T44" fmla="*/ 82 w 244"/>
                  <a:gd name="T45" fmla="*/ 20 h 20"/>
                  <a:gd name="T46" fmla="*/ 63 w 244"/>
                  <a:gd name="T47" fmla="*/ 20 h 20"/>
                  <a:gd name="T48" fmla="*/ 43 w 244"/>
                  <a:gd name="T49" fmla="*/ 20 h 20"/>
                  <a:gd name="T50" fmla="*/ 25 w 244"/>
                  <a:gd name="T51" fmla="*/ 20 h 20"/>
                  <a:gd name="T52" fmla="*/ 9 w 244"/>
                  <a:gd name="T53" fmla="*/ 20 h 20"/>
                  <a:gd name="T54" fmla="*/ 3 w 244"/>
                  <a:gd name="T55" fmla="*/ 18 h 20"/>
                  <a:gd name="T56" fmla="*/ 0 w 244"/>
                  <a:gd name="T57" fmla="*/ 16 h 20"/>
                  <a:gd name="T58" fmla="*/ 0 w 244"/>
                  <a:gd name="T59" fmla="*/ 13 h 20"/>
                  <a:gd name="T60" fmla="*/ 7 w 244"/>
                  <a:gd name="T61" fmla="*/ 9 h 20"/>
                  <a:gd name="T62" fmla="*/ 18 w 244"/>
                  <a:gd name="T63" fmla="*/ 9 h 20"/>
                  <a:gd name="T64" fmla="*/ 29 w 244"/>
                  <a:gd name="T65" fmla="*/ 7 h 20"/>
                  <a:gd name="T66" fmla="*/ 40 w 244"/>
                  <a:gd name="T67" fmla="*/ 7 h 20"/>
                  <a:gd name="T68" fmla="*/ 51 w 244"/>
                  <a:gd name="T69" fmla="*/ 7 h 20"/>
                  <a:gd name="T70" fmla="*/ 63 w 244"/>
                  <a:gd name="T71" fmla="*/ 7 h 20"/>
                  <a:gd name="T72" fmla="*/ 74 w 244"/>
                  <a:gd name="T73" fmla="*/ 7 h 20"/>
                  <a:gd name="T74" fmla="*/ 82 w 244"/>
                  <a:gd name="T75" fmla="*/ 7 h 20"/>
                  <a:gd name="T76" fmla="*/ 94 w 244"/>
                  <a:gd name="T77" fmla="*/ 7 h 20"/>
                  <a:gd name="T78" fmla="*/ 105 w 244"/>
                  <a:gd name="T79" fmla="*/ 4 h 20"/>
                  <a:gd name="T80" fmla="*/ 118 w 244"/>
                  <a:gd name="T81" fmla="*/ 4 h 20"/>
                  <a:gd name="T82" fmla="*/ 129 w 244"/>
                  <a:gd name="T83" fmla="*/ 2 h 20"/>
                  <a:gd name="T84" fmla="*/ 142 w 244"/>
                  <a:gd name="T85" fmla="*/ 2 h 20"/>
                  <a:gd name="T86" fmla="*/ 153 w 244"/>
                  <a:gd name="T87" fmla="*/ 2 h 20"/>
                  <a:gd name="T88" fmla="*/ 164 w 244"/>
                  <a:gd name="T89" fmla="*/ 0 h 20"/>
                  <a:gd name="T90" fmla="*/ 176 w 244"/>
                  <a:gd name="T91" fmla="*/ 0 h 20"/>
                  <a:gd name="T92" fmla="*/ 189 w 244"/>
                  <a:gd name="T93" fmla="*/ 0 h 20"/>
                  <a:gd name="T94" fmla="*/ 189 w 244"/>
                  <a:gd name="T95" fmla="*/ 0 h 20"/>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w 244"/>
                  <a:gd name="T145" fmla="*/ 0 h 20"/>
                  <a:gd name="T146" fmla="*/ 244 w 244"/>
                  <a:gd name="T147" fmla="*/ 20 h 20"/>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T144" t="T145" r="T146" b="T147"/>
                <a:pathLst>
                  <a:path w="244" h="20">
                    <a:moveTo>
                      <a:pt x="189" y="0"/>
                    </a:moveTo>
                    <a:lnTo>
                      <a:pt x="193" y="0"/>
                    </a:lnTo>
                    <a:lnTo>
                      <a:pt x="200" y="0"/>
                    </a:lnTo>
                    <a:lnTo>
                      <a:pt x="207" y="0"/>
                    </a:lnTo>
                    <a:lnTo>
                      <a:pt x="213" y="0"/>
                    </a:lnTo>
                    <a:lnTo>
                      <a:pt x="220" y="0"/>
                    </a:lnTo>
                    <a:lnTo>
                      <a:pt x="229" y="0"/>
                    </a:lnTo>
                    <a:lnTo>
                      <a:pt x="233" y="0"/>
                    </a:lnTo>
                    <a:lnTo>
                      <a:pt x="240" y="0"/>
                    </a:lnTo>
                    <a:lnTo>
                      <a:pt x="244" y="4"/>
                    </a:lnTo>
                    <a:lnTo>
                      <a:pt x="242" y="11"/>
                    </a:lnTo>
                    <a:lnTo>
                      <a:pt x="231" y="13"/>
                    </a:lnTo>
                    <a:lnTo>
                      <a:pt x="220" y="16"/>
                    </a:lnTo>
                    <a:lnTo>
                      <a:pt x="209" y="16"/>
                    </a:lnTo>
                    <a:lnTo>
                      <a:pt x="198" y="16"/>
                    </a:lnTo>
                    <a:lnTo>
                      <a:pt x="187" y="16"/>
                    </a:lnTo>
                    <a:lnTo>
                      <a:pt x="176" y="16"/>
                    </a:lnTo>
                    <a:lnTo>
                      <a:pt x="162" y="16"/>
                    </a:lnTo>
                    <a:lnTo>
                      <a:pt x="153" y="18"/>
                    </a:lnTo>
                    <a:lnTo>
                      <a:pt x="136" y="18"/>
                    </a:lnTo>
                    <a:lnTo>
                      <a:pt x="118" y="18"/>
                    </a:lnTo>
                    <a:lnTo>
                      <a:pt x="100" y="18"/>
                    </a:lnTo>
                    <a:lnTo>
                      <a:pt x="82" y="20"/>
                    </a:lnTo>
                    <a:lnTo>
                      <a:pt x="63" y="20"/>
                    </a:lnTo>
                    <a:lnTo>
                      <a:pt x="43" y="20"/>
                    </a:lnTo>
                    <a:lnTo>
                      <a:pt x="25" y="20"/>
                    </a:lnTo>
                    <a:lnTo>
                      <a:pt x="9" y="20"/>
                    </a:lnTo>
                    <a:lnTo>
                      <a:pt x="3" y="18"/>
                    </a:lnTo>
                    <a:lnTo>
                      <a:pt x="0" y="16"/>
                    </a:lnTo>
                    <a:lnTo>
                      <a:pt x="0" y="13"/>
                    </a:lnTo>
                    <a:lnTo>
                      <a:pt x="7" y="9"/>
                    </a:lnTo>
                    <a:lnTo>
                      <a:pt x="18" y="9"/>
                    </a:lnTo>
                    <a:lnTo>
                      <a:pt x="29" y="7"/>
                    </a:lnTo>
                    <a:lnTo>
                      <a:pt x="40" y="7"/>
                    </a:lnTo>
                    <a:lnTo>
                      <a:pt x="51" y="7"/>
                    </a:lnTo>
                    <a:lnTo>
                      <a:pt x="63" y="7"/>
                    </a:lnTo>
                    <a:lnTo>
                      <a:pt x="74" y="7"/>
                    </a:lnTo>
                    <a:lnTo>
                      <a:pt x="82" y="7"/>
                    </a:lnTo>
                    <a:lnTo>
                      <a:pt x="94" y="7"/>
                    </a:lnTo>
                    <a:lnTo>
                      <a:pt x="105" y="4"/>
                    </a:lnTo>
                    <a:lnTo>
                      <a:pt x="118" y="4"/>
                    </a:lnTo>
                    <a:lnTo>
                      <a:pt x="129" y="2"/>
                    </a:lnTo>
                    <a:lnTo>
                      <a:pt x="142" y="2"/>
                    </a:lnTo>
                    <a:lnTo>
                      <a:pt x="153" y="2"/>
                    </a:lnTo>
                    <a:lnTo>
                      <a:pt x="164" y="0"/>
                    </a:lnTo>
                    <a:lnTo>
                      <a:pt x="176" y="0"/>
                    </a:lnTo>
                    <a:lnTo>
                      <a:pt x="189" y="0"/>
                    </a:lnTo>
                    <a:close/>
                  </a:path>
                </a:pathLst>
              </a:custGeom>
              <a:solidFill>
                <a:srgbClr val="FFFF85"/>
              </a:solidFill>
              <a:ln w="9525">
                <a:noFill/>
                <a:round/>
                <a:headEnd/>
                <a:tailEnd/>
              </a:ln>
            </p:spPr>
            <p:txBody>
              <a:bodyPr/>
              <a:lstStyle/>
              <a:p>
                <a:endParaRPr lang="en-US"/>
              </a:p>
            </p:txBody>
          </p:sp>
          <p:sp>
            <p:nvSpPr>
              <p:cNvPr id="157721" name="Freeform 23"/>
              <p:cNvSpPr>
                <a:spLocks/>
              </p:cNvSpPr>
              <p:nvPr/>
            </p:nvSpPr>
            <p:spPr bwMode="auto">
              <a:xfrm>
                <a:off x="2769" y="857"/>
                <a:ext cx="277" cy="20"/>
              </a:xfrm>
              <a:custGeom>
                <a:avLst/>
                <a:gdLst>
                  <a:gd name="T0" fmla="*/ 224 w 277"/>
                  <a:gd name="T1" fmla="*/ 3 h 20"/>
                  <a:gd name="T2" fmla="*/ 230 w 277"/>
                  <a:gd name="T3" fmla="*/ 0 h 20"/>
                  <a:gd name="T4" fmla="*/ 239 w 277"/>
                  <a:gd name="T5" fmla="*/ 0 h 20"/>
                  <a:gd name="T6" fmla="*/ 250 w 277"/>
                  <a:gd name="T7" fmla="*/ 0 h 20"/>
                  <a:gd name="T8" fmla="*/ 261 w 277"/>
                  <a:gd name="T9" fmla="*/ 0 h 20"/>
                  <a:gd name="T10" fmla="*/ 268 w 277"/>
                  <a:gd name="T11" fmla="*/ 0 h 20"/>
                  <a:gd name="T12" fmla="*/ 275 w 277"/>
                  <a:gd name="T13" fmla="*/ 0 h 20"/>
                  <a:gd name="T14" fmla="*/ 277 w 277"/>
                  <a:gd name="T15" fmla="*/ 3 h 20"/>
                  <a:gd name="T16" fmla="*/ 277 w 277"/>
                  <a:gd name="T17" fmla="*/ 9 h 20"/>
                  <a:gd name="T18" fmla="*/ 266 w 277"/>
                  <a:gd name="T19" fmla="*/ 12 h 20"/>
                  <a:gd name="T20" fmla="*/ 255 w 277"/>
                  <a:gd name="T21" fmla="*/ 12 h 20"/>
                  <a:gd name="T22" fmla="*/ 241 w 277"/>
                  <a:gd name="T23" fmla="*/ 14 h 20"/>
                  <a:gd name="T24" fmla="*/ 228 w 277"/>
                  <a:gd name="T25" fmla="*/ 14 h 20"/>
                  <a:gd name="T26" fmla="*/ 213 w 277"/>
                  <a:gd name="T27" fmla="*/ 14 h 20"/>
                  <a:gd name="T28" fmla="*/ 199 w 277"/>
                  <a:gd name="T29" fmla="*/ 16 h 20"/>
                  <a:gd name="T30" fmla="*/ 184 w 277"/>
                  <a:gd name="T31" fmla="*/ 16 h 20"/>
                  <a:gd name="T32" fmla="*/ 170 w 277"/>
                  <a:gd name="T33" fmla="*/ 16 h 20"/>
                  <a:gd name="T34" fmla="*/ 151 w 277"/>
                  <a:gd name="T35" fmla="*/ 16 h 20"/>
                  <a:gd name="T36" fmla="*/ 128 w 277"/>
                  <a:gd name="T37" fmla="*/ 18 h 20"/>
                  <a:gd name="T38" fmla="*/ 106 w 277"/>
                  <a:gd name="T39" fmla="*/ 18 h 20"/>
                  <a:gd name="T40" fmla="*/ 86 w 277"/>
                  <a:gd name="T41" fmla="*/ 20 h 20"/>
                  <a:gd name="T42" fmla="*/ 64 w 277"/>
                  <a:gd name="T43" fmla="*/ 20 h 20"/>
                  <a:gd name="T44" fmla="*/ 44 w 277"/>
                  <a:gd name="T45" fmla="*/ 20 h 20"/>
                  <a:gd name="T46" fmla="*/ 26 w 277"/>
                  <a:gd name="T47" fmla="*/ 20 h 20"/>
                  <a:gd name="T48" fmla="*/ 9 w 277"/>
                  <a:gd name="T49" fmla="*/ 20 h 20"/>
                  <a:gd name="T50" fmla="*/ 0 w 277"/>
                  <a:gd name="T51" fmla="*/ 14 h 20"/>
                  <a:gd name="T52" fmla="*/ 2 w 277"/>
                  <a:gd name="T53" fmla="*/ 12 h 20"/>
                  <a:gd name="T54" fmla="*/ 9 w 277"/>
                  <a:gd name="T55" fmla="*/ 7 h 20"/>
                  <a:gd name="T56" fmla="*/ 22 w 277"/>
                  <a:gd name="T57" fmla="*/ 7 h 20"/>
                  <a:gd name="T58" fmla="*/ 35 w 277"/>
                  <a:gd name="T59" fmla="*/ 7 h 20"/>
                  <a:gd name="T60" fmla="*/ 51 w 277"/>
                  <a:gd name="T61" fmla="*/ 7 h 20"/>
                  <a:gd name="T62" fmla="*/ 66 w 277"/>
                  <a:gd name="T63" fmla="*/ 7 h 20"/>
                  <a:gd name="T64" fmla="*/ 80 w 277"/>
                  <a:gd name="T65" fmla="*/ 7 h 20"/>
                  <a:gd name="T66" fmla="*/ 97 w 277"/>
                  <a:gd name="T67" fmla="*/ 5 h 20"/>
                  <a:gd name="T68" fmla="*/ 115 w 277"/>
                  <a:gd name="T69" fmla="*/ 3 h 20"/>
                  <a:gd name="T70" fmla="*/ 133 w 277"/>
                  <a:gd name="T71" fmla="*/ 3 h 20"/>
                  <a:gd name="T72" fmla="*/ 153 w 277"/>
                  <a:gd name="T73" fmla="*/ 3 h 20"/>
                  <a:gd name="T74" fmla="*/ 170 w 277"/>
                  <a:gd name="T75" fmla="*/ 3 h 20"/>
                  <a:gd name="T76" fmla="*/ 188 w 277"/>
                  <a:gd name="T77" fmla="*/ 3 h 20"/>
                  <a:gd name="T78" fmla="*/ 206 w 277"/>
                  <a:gd name="T79" fmla="*/ 3 h 20"/>
                  <a:gd name="T80" fmla="*/ 224 w 277"/>
                  <a:gd name="T81" fmla="*/ 3 h 20"/>
                  <a:gd name="T82" fmla="*/ 224 w 277"/>
                  <a:gd name="T83" fmla="*/ 3 h 20"/>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w 277"/>
                  <a:gd name="T127" fmla="*/ 0 h 20"/>
                  <a:gd name="T128" fmla="*/ 277 w 277"/>
                  <a:gd name="T129" fmla="*/ 20 h 20"/>
                </a:gdLst>
                <a:ahLst/>
                <a:cxnLst>
                  <a:cxn ang="T84">
                    <a:pos x="T0" y="T1"/>
                  </a:cxn>
                  <a:cxn ang="T85">
                    <a:pos x="T2" y="T3"/>
                  </a:cxn>
                  <a:cxn ang="T86">
                    <a:pos x="T4" y="T5"/>
                  </a:cxn>
                  <a:cxn ang="T87">
                    <a:pos x="T6" y="T7"/>
                  </a:cxn>
                  <a:cxn ang="T88">
                    <a:pos x="T8" y="T9"/>
                  </a:cxn>
                  <a:cxn ang="T89">
                    <a:pos x="T10" y="T11"/>
                  </a:cxn>
                  <a:cxn ang="T90">
                    <a:pos x="T12" y="T13"/>
                  </a:cxn>
                  <a:cxn ang="T91">
                    <a:pos x="T14" y="T15"/>
                  </a:cxn>
                  <a:cxn ang="T92">
                    <a:pos x="T16" y="T17"/>
                  </a:cxn>
                  <a:cxn ang="T93">
                    <a:pos x="T18" y="T19"/>
                  </a:cxn>
                  <a:cxn ang="T94">
                    <a:pos x="T20" y="T21"/>
                  </a:cxn>
                  <a:cxn ang="T95">
                    <a:pos x="T22" y="T23"/>
                  </a:cxn>
                  <a:cxn ang="T96">
                    <a:pos x="T24" y="T25"/>
                  </a:cxn>
                  <a:cxn ang="T97">
                    <a:pos x="T26" y="T27"/>
                  </a:cxn>
                  <a:cxn ang="T98">
                    <a:pos x="T28" y="T29"/>
                  </a:cxn>
                  <a:cxn ang="T99">
                    <a:pos x="T30" y="T31"/>
                  </a:cxn>
                  <a:cxn ang="T100">
                    <a:pos x="T32" y="T33"/>
                  </a:cxn>
                  <a:cxn ang="T101">
                    <a:pos x="T34" y="T35"/>
                  </a:cxn>
                  <a:cxn ang="T102">
                    <a:pos x="T36" y="T37"/>
                  </a:cxn>
                  <a:cxn ang="T103">
                    <a:pos x="T38" y="T39"/>
                  </a:cxn>
                  <a:cxn ang="T104">
                    <a:pos x="T40" y="T41"/>
                  </a:cxn>
                  <a:cxn ang="T105">
                    <a:pos x="T42" y="T43"/>
                  </a:cxn>
                  <a:cxn ang="T106">
                    <a:pos x="T44" y="T45"/>
                  </a:cxn>
                  <a:cxn ang="T107">
                    <a:pos x="T46" y="T47"/>
                  </a:cxn>
                  <a:cxn ang="T108">
                    <a:pos x="T48" y="T49"/>
                  </a:cxn>
                  <a:cxn ang="T109">
                    <a:pos x="T50" y="T51"/>
                  </a:cxn>
                  <a:cxn ang="T110">
                    <a:pos x="T52" y="T53"/>
                  </a:cxn>
                  <a:cxn ang="T111">
                    <a:pos x="T54" y="T55"/>
                  </a:cxn>
                  <a:cxn ang="T112">
                    <a:pos x="T56" y="T57"/>
                  </a:cxn>
                  <a:cxn ang="T113">
                    <a:pos x="T58" y="T59"/>
                  </a:cxn>
                  <a:cxn ang="T114">
                    <a:pos x="T60" y="T61"/>
                  </a:cxn>
                  <a:cxn ang="T115">
                    <a:pos x="T62" y="T63"/>
                  </a:cxn>
                  <a:cxn ang="T116">
                    <a:pos x="T64" y="T65"/>
                  </a:cxn>
                  <a:cxn ang="T117">
                    <a:pos x="T66" y="T67"/>
                  </a:cxn>
                  <a:cxn ang="T118">
                    <a:pos x="T68" y="T69"/>
                  </a:cxn>
                  <a:cxn ang="T119">
                    <a:pos x="T70" y="T71"/>
                  </a:cxn>
                  <a:cxn ang="T120">
                    <a:pos x="T72" y="T73"/>
                  </a:cxn>
                  <a:cxn ang="T121">
                    <a:pos x="T74" y="T75"/>
                  </a:cxn>
                  <a:cxn ang="T122">
                    <a:pos x="T76" y="T77"/>
                  </a:cxn>
                  <a:cxn ang="T123">
                    <a:pos x="T78" y="T79"/>
                  </a:cxn>
                  <a:cxn ang="T124">
                    <a:pos x="T80" y="T81"/>
                  </a:cxn>
                  <a:cxn ang="T125">
                    <a:pos x="T82" y="T83"/>
                  </a:cxn>
                </a:cxnLst>
                <a:rect l="T126" t="T127" r="T128" b="T129"/>
                <a:pathLst>
                  <a:path w="277" h="20">
                    <a:moveTo>
                      <a:pt x="224" y="3"/>
                    </a:moveTo>
                    <a:lnTo>
                      <a:pt x="230" y="0"/>
                    </a:lnTo>
                    <a:lnTo>
                      <a:pt x="239" y="0"/>
                    </a:lnTo>
                    <a:lnTo>
                      <a:pt x="250" y="0"/>
                    </a:lnTo>
                    <a:lnTo>
                      <a:pt x="261" y="0"/>
                    </a:lnTo>
                    <a:lnTo>
                      <a:pt x="268" y="0"/>
                    </a:lnTo>
                    <a:lnTo>
                      <a:pt x="275" y="0"/>
                    </a:lnTo>
                    <a:lnTo>
                      <a:pt x="277" y="3"/>
                    </a:lnTo>
                    <a:lnTo>
                      <a:pt x="277" y="9"/>
                    </a:lnTo>
                    <a:lnTo>
                      <a:pt x="266" y="12"/>
                    </a:lnTo>
                    <a:lnTo>
                      <a:pt x="255" y="12"/>
                    </a:lnTo>
                    <a:lnTo>
                      <a:pt x="241" y="14"/>
                    </a:lnTo>
                    <a:lnTo>
                      <a:pt x="228" y="14"/>
                    </a:lnTo>
                    <a:lnTo>
                      <a:pt x="213" y="14"/>
                    </a:lnTo>
                    <a:lnTo>
                      <a:pt x="199" y="16"/>
                    </a:lnTo>
                    <a:lnTo>
                      <a:pt x="184" y="16"/>
                    </a:lnTo>
                    <a:lnTo>
                      <a:pt x="170" y="16"/>
                    </a:lnTo>
                    <a:lnTo>
                      <a:pt x="151" y="16"/>
                    </a:lnTo>
                    <a:lnTo>
                      <a:pt x="128" y="18"/>
                    </a:lnTo>
                    <a:lnTo>
                      <a:pt x="106" y="18"/>
                    </a:lnTo>
                    <a:lnTo>
                      <a:pt x="86" y="20"/>
                    </a:lnTo>
                    <a:lnTo>
                      <a:pt x="64" y="20"/>
                    </a:lnTo>
                    <a:lnTo>
                      <a:pt x="44" y="20"/>
                    </a:lnTo>
                    <a:lnTo>
                      <a:pt x="26" y="20"/>
                    </a:lnTo>
                    <a:lnTo>
                      <a:pt x="9" y="20"/>
                    </a:lnTo>
                    <a:lnTo>
                      <a:pt x="0" y="14"/>
                    </a:lnTo>
                    <a:lnTo>
                      <a:pt x="2" y="12"/>
                    </a:lnTo>
                    <a:lnTo>
                      <a:pt x="9" y="7"/>
                    </a:lnTo>
                    <a:lnTo>
                      <a:pt x="22" y="7"/>
                    </a:lnTo>
                    <a:lnTo>
                      <a:pt x="35" y="7"/>
                    </a:lnTo>
                    <a:lnTo>
                      <a:pt x="51" y="7"/>
                    </a:lnTo>
                    <a:lnTo>
                      <a:pt x="66" y="7"/>
                    </a:lnTo>
                    <a:lnTo>
                      <a:pt x="80" y="7"/>
                    </a:lnTo>
                    <a:lnTo>
                      <a:pt x="97" y="5"/>
                    </a:lnTo>
                    <a:lnTo>
                      <a:pt x="115" y="3"/>
                    </a:lnTo>
                    <a:lnTo>
                      <a:pt x="133" y="3"/>
                    </a:lnTo>
                    <a:lnTo>
                      <a:pt x="153" y="3"/>
                    </a:lnTo>
                    <a:lnTo>
                      <a:pt x="170" y="3"/>
                    </a:lnTo>
                    <a:lnTo>
                      <a:pt x="188" y="3"/>
                    </a:lnTo>
                    <a:lnTo>
                      <a:pt x="206" y="3"/>
                    </a:lnTo>
                    <a:lnTo>
                      <a:pt x="224" y="3"/>
                    </a:lnTo>
                    <a:close/>
                  </a:path>
                </a:pathLst>
              </a:custGeom>
              <a:solidFill>
                <a:srgbClr val="FFFF85"/>
              </a:solidFill>
              <a:ln w="9525">
                <a:noFill/>
                <a:round/>
                <a:headEnd/>
                <a:tailEnd/>
              </a:ln>
            </p:spPr>
            <p:txBody>
              <a:bodyPr/>
              <a:lstStyle/>
              <a:p>
                <a:endParaRPr lang="en-US"/>
              </a:p>
            </p:txBody>
          </p:sp>
          <p:sp>
            <p:nvSpPr>
              <p:cNvPr id="157722" name="Freeform 24"/>
              <p:cNvSpPr>
                <a:spLocks/>
              </p:cNvSpPr>
              <p:nvPr/>
            </p:nvSpPr>
            <p:spPr bwMode="auto">
              <a:xfrm>
                <a:off x="2756" y="939"/>
                <a:ext cx="310" cy="25"/>
              </a:xfrm>
              <a:custGeom>
                <a:avLst/>
                <a:gdLst>
                  <a:gd name="T0" fmla="*/ 254 w 310"/>
                  <a:gd name="T1" fmla="*/ 3 h 25"/>
                  <a:gd name="T2" fmla="*/ 257 w 310"/>
                  <a:gd name="T3" fmla="*/ 0 h 25"/>
                  <a:gd name="T4" fmla="*/ 263 w 310"/>
                  <a:gd name="T5" fmla="*/ 0 h 25"/>
                  <a:gd name="T6" fmla="*/ 270 w 310"/>
                  <a:gd name="T7" fmla="*/ 0 h 25"/>
                  <a:gd name="T8" fmla="*/ 281 w 310"/>
                  <a:gd name="T9" fmla="*/ 0 h 25"/>
                  <a:gd name="T10" fmla="*/ 288 w 310"/>
                  <a:gd name="T11" fmla="*/ 0 h 25"/>
                  <a:gd name="T12" fmla="*/ 297 w 310"/>
                  <a:gd name="T13" fmla="*/ 0 h 25"/>
                  <a:gd name="T14" fmla="*/ 303 w 310"/>
                  <a:gd name="T15" fmla="*/ 0 h 25"/>
                  <a:gd name="T16" fmla="*/ 308 w 310"/>
                  <a:gd name="T17" fmla="*/ 3 h 25"/>
                  <a:gd name="T18" fmla="*/ 310 w 310"/>
                  <a:gd name="T19" fmla="*/ 5 h 25"/>
                  <a:gd name="T20" fmla="*/ 303 w 310"/>
                  <a:gd name="T21" fmla="*/ 9 h 25"/>
                  <a:gd name="T22" fmla="*/ 299 w 310"/>
                  <a:gd name="T23" fmla="*/ 9 h 25"/>
                  <a:gd name="T24" fmla="*/ 292 w 310"/>
                  <a:gd name="T25" fmla="*/ 12 h 25"/>
                  <a:gd name="T26" fmla="*/ 285 w 310"/>
                  <a:gd name="T27" fmla="*/ 12 h 25"/>
                  <a:gd name="T28" fmla="*/ 281 w 310"/>
                  <a:gd name="T29" fmla="*/ 14 h 25"/>
                  <a:gd name="T30" fmla="*/ 252 w 310"/>
                  <a:gd name="T31" fmla="*/ 14 h 25"/>
                  <a:gd name="T32" fmla="*/ 221 w 310"/>
                  <a:gd name="T33" fmla="*/ 16 h 25"/>
                  <a:gd name="T34" fmla="*/ 188 w 310"/>
                  <a:gd name="T35" fmla="*/ 18 h 25"/>
                  <a:gd name="T36" fmla="*/ 155 w 310"/>
                  <a:gd name="T37" fmla="*/ 20 h 25"/>
                  <a:gd name="T38" fmla="*/ 119 w 310"/>
                  <a:gd name="T39" fmla="*/ 20 h 25"/>
                  <a:gd name="T40" fmla="*/ 86 w 310"/>
                  <a:gd name="T41" fmla="*/ 23 h 25"/>
                  <a:gd name="T42" fmla="*/ 53 w 310"/>
                  <a:gd name="T43" fmla="*/ 23 h 25"/>
                  <a:gd name="T44" fmla="*/ 24 w 310"/>
                  <a:gd name="T45" fmla="*/ 25 h 25"/>
                  <a:gd name="T46" fmla="*/ 15 w 310"/>
                  <a:gd name="T47" fmla="*/ 23 h 25"/>
                  <a:gd name="T48" fmla="*/ 6 w 310"/>
                  <a:gd name="T49" fmla="*/ 23 h 25"/>
                  <a:gd name="T50" fmla="*/ 2 w 310"/>
                  <a:gd name="T51" fmla="*/ 20 h 25"/>
                  <a:gd name="T52" fmla="*/ 0 w 310"/>
                  <a:gd name="T53" fmla="*/ 18 h 25"/>
                  <a:gd name="T54" fmla="*/ 0 w 310"/>
                  <a:gd name="T55" fmla="*/ 16 h 25"/>
                  <a:gd name="T56" fmla="*/ 0 w 310"/>
                  <a:gd name="T57" fmla="*/ 16 h 25"/>
                  <a:gd name="T58" fmla="*/ 4 w 310"/>
                  <a:gd name="T59" fmla="*/ 14 h 25"/>
                  <a:gd name="T60" fmla="*/ 8 w 310"/>
                  <a:gd name="T61" fmla="*/ 14 h 25"/>
                  <a:gd name="T62" fmla="*/ 35 w 310"/>
                  <a:gd name="T63" fmla="*/ 12 h 25"/>
                  <a:gd name="T64" fmla="*/ 66 w 310"/>
                  <a:gd name="T65" fmla="*/ 9 h 25"/>
                  <a:gd name="T66" fmla="*/ 99 w 310"/>
                  <a:gd name="T67" fmla="*/ 9 h 25"/>
                  <a:gd name="T68" fmla="*/ 133 w 310"/>
                  <a:gd name="T69" fmla="*/ 7 h 25"/>
                  <a:gd name="T70" fmla="*/ 166 w 310"/>
                  <a:gd name="T71" fmla="*/ 5 h 25"/>
                  <a:gd name="T72" fmla="*/ 199 w 310"/>
                  <a:gd name="T73" fmla="*/ 5 h 25"/>
                  <a:gd name="T74" fmla="*/ 228 w 310"/>
                  <a:gd name="T75" fmla="*/ 3 h 25"/>
                  <a:gd name="T76" fmla="*/ 254 w 310"/>
                  <a:gd name="T77" fmla="*/ 3 h 25"/>
                  <a:gd name="T78" fmla="*/ 254 w 310"/>
                  <a:gd name="T79" fmla="*/ 3 h 25"/>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w 310"/>
                  <a:gd name="T121" fmla="*/ 0 h 25"/>
                  <a:gd name="T122" fmla="*/ 310 w 310"/>
                  <a:gd name="T123" fmla="*/ 25 h 25"/>
                </a:gdLst>
                <a:ahLst/>
                <a:cxnLst>
                  <a:cxn ang="T80">
                    <a:pos x="T0" y="T1"/>
                  </a:cxn>
                  <a:cxn ang="T81">
                    <a:pos x="T2" y="T3"/>
                  </a:cxn>
                  <a:cxn ang="T82">
                    <a:pos x="T4" y="T5"/>
                  </a:cxn>
                  <a:cxn ang="T83">
                    <a:pos x="T6" y="T7"/>
                  </a:cxn>
                  <a:cxn ang="T84">
                    <a:pos x="T8" y="T9"/>
                  </a:cxn>
                  <a:cxn ang="T85">
                    <a:pos x="T10" y="T11"/>
                  </a:cxn>
                  <a:cxn ang="T86">
                    <a:pos x="T12" y="T13"/>
                  </a:cxn>
                  <a:cxn ang="T87">
                    <a:pos x="T14" y="T15"/>
                  </a:cxn>
                  <a:cxn ang="T88">
                    <a:pos x="T16" y="T17"/>
                  </a:cxn>
                  <a:cxn ang="T89">
                    <a:pos x="T18" y="T19"/>
                  </a:cxn>
                  <a:cxn ang="T90">
                    <a:pos x="T20" y="T21"/>
                  </a:cxn>
                  <a:cxn ang="T91">
                    <a:pos x="T22" y="T23"/>
                  </a:cxn>
                  <a:cxn ang="T92">
                    <a:pos x="T24" y="T25"/>
                  </a:cxn>
                  <a:cxn ang="T93">
                    <a:pos x="T26" y="T27"/>
                  </a:cxn>
                  <a:cxn ang="T94">
                    <a:pos x="T28" y="T29"/>
                  </a:cxn>
                  <a:cxn ang="T95">
                    <a:pos x="T30" y="T31"/>
                  </a:cxn>
                  <a:cxn ang="T96">
                    <a:pos x="T32" y="T33"/>
                  </a:cxn>
                  <a:cxn ang="T97">
                    <a:pos x="T34" y="T35"/>
                  </a:cxn>
                  <a:cxn ang="T98">
                    <a:pos x="T36" y="T37"/>
                  </a:cxn>
                  <a:cxn ang="T99">
                    <a:pos x="T38" y="T39"/>
                  </a:cxn>
                  <a:cxn ang="T100">
                    <a:pos x="T40" y="T41"/>
                  </a:cxn>
                  <a:cxn ang="T101">
                    <a:pos x="T42" y="T43"/>
                  </a:cxn>
                  <a:cxn ang="T102">
                    <a:pos x="T44" y="T45"/>
                  </a:cxn>
                  <a:cxn ang="T103">
                    <a:pos x="T46" y="T47"/>
                  </a:cxn>
                  <a:cxn ang="T104">
                    <a:pos x="T48" y="T49"/>
                  </a:cxn>
                  <a:cxn ang="T105">
                    <a:pos x="T50" y="T51"/>
                  </a:cxn>
                  <a:cxn ang="T106">
                    <a:pos x="T52" y="T53"/>
                  </a:cxn>
                  <a:cxn ang="T107">
                    <a:pos x="T54" y="T55"/>
                  </a:cxn>
                  <a:cxn ang="T108">
                    <a:pos x="T56" y="T57"/>
                  </a:cxn>
                  <a:cxn ang="T109">
                    <a:pos x="T58" y="T59"/>
                  </a:cxn>
                  <a:cxn ang="T110">
                    <a:pos x="T60" y="T61"/>
                  </a:cxn>
                  <a:cxn ang="T111">
                    <a:pos x="T62" y="T63"/>
                  </a:cxn>
                  <a:cxn ang="T112">
                    <a:pos x="T64" y="T65"/>
                  </a:cxn>
                  <a:cxn ang="T113">
                    <a:pos x="T66" y="T67"/>
                  </a:cxn>
                  <a:cxn ang="T114">
                    <a:pos x="T68" y="T69"/>
                  </a:cxn>
                  <a:cxn ang="T115">
                    <a:pos x="T70" y="T71"/>
                  </a:cxn>
                  <a:cxn ang="T116">
                    <a:pos x="T72" y="T73"/>
                  </a:cxn>
                  <a:cxn ang="T117">
                    <a:pos x="T74" y="T75"/>
                  </a:cxn>
                  <a:cxn ang="T118">
                    <a:pos x="T76" y="T77"/>
                  </a:cxn>
                  <a:cxn ang="T119">
                    <a:pos x="T78" y="T79"/>
                  </a:cxn>
                </a:cxnLst>
                <a:rect l="T120" t="T121" r="T122" b="T123"/>
                <a:pathLst>
                  <a:path w="310" h="25">
                    <a:moveTo>
                      <a:pt x="254" y="3"/>
                    </a:moveTo>
                    <a:lnTo>
                      <a:pt x="257" y="0"/>
                    </a:lnTo>
                    <a:lnTo>
                      <a:pt x="263" y="0"/>
                    </a:lnTo>
                    <a:lnTo>
                      <a:pt x="270" y="0"/>
                    </a:lnTo>
                    <a:lnTo>
                      <a:pt x="281" y="0"/>
                    </a:lnTo>
                    <a:lnTo>
                      <a:pt x="288" y="0"/>
                    </a:lnTo>
                    <a:lnTo>
                      <a:pt x="297" y="0"/>
                    </a:lnTo>
                    <a:lnTo>
                      <a:pt x="303" y="0"/>
                    </a:lnTo>
                    <a:lnTo>
                      <a:pt x="308" y="3"/>
                    </a:lnTo>
                    <a:lnTo>
                      <a:pt x="310" y="5"/>
                    </a:lnTo>
                    <a:lnTo>
                      <a:pt x="303" y="9"/>
                    </a:lnTo>
                    <a:lnTo>
                      <a:pt x="299" y="9"/>
                    </a:lnTo>
                    <a:lnTo>
                      <a:pt x="292" y="12"/>
                    </a:lnTo>
                    <a:lnTo>
                      <a:pt x="285" y="12"/>
                    </a:lnTo>
                    <a:lnTo>
                      <a:pt x="281" y="14"/>
                    </a:lnTo>
                    <a:lnTo>
                      <a:pt x="252" y="14"/>
                    </a:lnTo>
                    <a:lnTo>
                      <a:pt x="221" y="16"/>
                    </a:lnTo>
                    <a:lnTo>
                      <a:pt x="188" y="18"/>
                    </a:lnTo>
                    <a:lnTo>
                      <a:pt x="155" y="20"/>
                    </a:lnTo>
                    <a:lnTo>
                      <a:pt x="119" y="20"/>
                    </a:lnTo>
                    <a:lnTo>
                      <a:pt x="86" y="23"/>
                    </a:lnTo>
                    <a:lnTo>
                      <a:pt x="53" y="23"/>
                    </a:lnTo>
                    <a:lnTo>
                      <a:pt x="24" y="25"/>
                    </a:lnTo>
                    <a:lnTo>
                      <a:pt x="15" y="23"/>
                    </a:lnTo>
                    <a:lnTo>
                      <a:pt x="6" y="23"/>
                    </a:lnTo>
                    <a:lnTo>
                      <a:pt x="2" y="20"/>
                    </a:lnTo>
                    <a:lnTo>
                      <a:pt x="0" y="18"/>
                    </a:lnTo>
                    <a:lnTo>
                      <a:pt x="0" y="16"/>
                    </a:lnTo>
                    <a:lnTo>
                      <a:pt x="4" y="14"/>
                    </a:lnTo>
                    <a:lnTo>
                      <a:pt x="8" y="14"/>
                    </a:lnTo>
                    <a:lnTo>
                      <a:pt x="35" y="12"/>
                    </a:lnTo>
                    <a:lnTo>
                      <a:pt x="66" y="9"/>
                    </a:lnTo>
                    <a:lnTo>
                      <a:pt x="99" y="9"/>
                    </a:lnTo>
                    <a:lnTo>
                      <a:pt x="133" y="7"/>
                    </a:lnTo>
                    <a:lnTo>
                      <a:pt x="166" y="5"/>
                    </a:lnTo>
                    <a:lnTo>
                      <a:pt x="199" y="5"/>
                    </a:lnTo>
                    <a:lnTo>
                      <a:pt x="228" y="3"/>
                    </a:lnTo>
                    <a:lnTo>
                      <a:pt x="254" y="3"/>
                    </a:lnTo>
                    <a:close/>
                  </a:path>
                </a:pathLst>
              </a:custGeom>
              <a:solidFill>
                <a:srgbClr val="FFFF85"/>
              </a:solidFill>
              <a:ln w="9525">
                <a:noFill/>
                <a:round/>
                <a:headEnd/>
                <a:tailEnd/>
              </a:ln>
            </p:spPr>
            <p:txBody>
              <a:bodyPr/>
              <a:lstStyle/>
              <a:p>
                <a:endParaRPr lang="en-US"/>
              </a:p>
            </p:txBody>
          </p:sp>
          <p:sp>
            <p:nvSpPr>
              <p:cNvPr id="157723" name="Freeform 25"/>
              <p:cNvSpPr>
                <a:spLocks/>
              </p:cNvSpPr>
              <p:nvPr/>
            </p:nvSpPr>
            <p:spPr bwMode="auto">
              <a:xfrm>
                <a:off x="2937" y="964"/>
                <a:ext cx="118" cy="20"/>
              </a:xfrm>
              <a:custGeom>
                <a:avLst/>
                <a:gdLst>
                  <a:gd name="T0" fmla="*/ 34 w 118"/>
                  <a:gd name="T1" fmla="*/ 4 h 20"/>
                  <a:gd name="T2" fmla="*/ 40 w 118"/>
                  <a:gd name="T3" fmla="*/ 4 h 20"/>
                  <a:gd name="T4" fmla="*/ 51 w 118"/>
                  <a:gd name="T5" fmla="*/ 2 h 20"/>
                  <a:gd name="T6" fmla="*/ 62 w 118"/>
                  <a:gd name="T7" fmla="*/ 2 h 20"/>
                  <a:gd name="T8" fmla="*/ 73 w 118"/>
                  <a:gd name="T9" fmla="*/ 2 h 20"/>
                  <a:gd name="T10" fmla="*/ 84 w 118"/>
                  <a:gd name="T11" fmla="*/ 0 h 20"/>
                  <a:gd name="T12" fmla="*/ 93 w 118"/>
                  <a:gd name="T13" fmla="*/ 0 h 20"/>
                  <a:gd name="T14" fmla="*/ 104 w 118"/>
                  <a:gd name="T15" fmla="*/ 0 h 20"/>
                  <a:gd name="T16" fmla="*/ 113 w 118"/>
                  <a:gd name="T17" fmla="*/ 2 h 20"/>
                  <a:gd name="T18" fmla="*/ 116 w 118"/>
                  <a:gd name="T19" fmla="*/ 4 h 20"/>
                  <a:gd name="T20" fmla="*/ 118 w 118"/>
                  <a:gd name="T21" fmla="*/ 6 h 20"/>
                  <a:gd name="T22" fmla="*/ 118 w 118"/>
                  <a:gd name="T23" fmla="*/ 9 h 20"/>
                  <a:gd name="T24" fmla="*/ 113 w 118"/>
                  <a:gd name="T25" fmla="*/ 11 h 20"/>
                  <a:gd name="T26" fmla="*/ 100 w 118"/>
                  <a:gd name="T27" fmla="*/ 13 h 20"/>
                  <a:gd name="T28" fmla="*/ 87 w 118"/>
                  <a:gd name="T29" fmla="*/ 15 h 20"/>
                  <a:gd name="T30" fmla="*/ 71 w 118"/>
                  <a:gd name="T31" fmla="*/ 15 h 20"/>
                  <a:gd name="T32" fmla="*/ 60 w 118"/>
                  <a:gd name="T33" fmla="*/ 15 h 20"/>
                  <a:gd name="T34" fmla="*/ 45 w 118"/>
                  <a:gd name="T35" fmla="*/ 15 h 20"/>
                  <a:gd name="T36" fmla="*/ 31 w 118"/>
                  <a:gd name="T37" fmla="*/ 15 h 20"/>
                  <a:gd name="T38" fmla="*/ 18 w 118"/>
                  <a:gd name="T39" fmla="*/ 15 h 20"/>
                  <a:gd name="T40" fmla="*/ 5 w 118"/>
                  <a:gd name="T41" fmla="*/ 20 h 20"/>
                  <a:gd name="T42" fmla="*/ 0 w 118"/>
                  <a:gd name="T43" fmla="*/ 13 h 20"/>
                  <a:gd name="T44" fmla="*/ 2 w 118"/>
                  <a:gd name="T45" fmla="*/ 9 h 20"/>
                  <a:gd name="T46" fmla="*/ 5 w 118"/>
                  <a:gd name="T47" fmla="*/ 9 h 20"/>
                  <a:gd name="T48" fmla="*/ 7 w 118"/>
                  <a:gd name="T49" fmla="*/ 6 h 20"/>
                  <a:gd name="T50" fmla="*/ 11 w 118"/>
                  <a:gd name="T51" fmla="*/ 4 h 20"/>
                  <a:gd name="T52" fmla="*/ 18 w 118"/>
                  <a:gd name="T53" fmla="*/ 4 h 20"/>
                  <a:gd name="T54" fmla="*/ 22 w 118"/>
                  <a:gd name="T55" fmla="*/ 4 h 20"/>
                  <a:gd name="T56" fmla="*/ 27 w 118"/>
                  <a:gd name="T57" fmla="*/ 4 h 20"/>
                  <a:gd name="T58" fmla="*/ 31 w 118"/>
                  <a:gd name="T59" fmla="*/ 4 h 20"/>
                  <a:gd name="T60" fmla="*/ 34 w 118"/>
                  <a:gd name="T61" fmla="*/ 4 h 20"/>
                  <a:gd name="T62" fmla="*/ 34 w 118"/>
                  <a:gd name="T63" fmla="*/ 4 h 20"/>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w 118"/>
                  <a:gd name="T97" fmla="*/ 0 h 20"/>
                  <a:gd name="T98" fmla="*/ 118 w 118"/>
                  <a:gd name="T99" fmla="*/ 20 h 20"/>
                </a:gdLst>
                <a:ahLst/>
                <a:cxnLst>
                  <a:cxn ang="T64">
                    <a:pos x="T0" y="T1"/>
                  </a:cxn>
                  <a:cxn ang="T65">
                    <a:pos x="T2" y="T3"/>
                  </a:cxn>
                  <a:cxn ang="T66">
                    <a:pos x="T4" y="T5"/>
                  </a:cxn>
                  <a:cxn ang="T67">
                    <a:pos x="T6" y="T7"/>
                  </a:cxn>
                  <a:cxn ang="T68">
                    <a:pos x="T8" y="T9"/>
                  </a:cxn>
                  <a:cxn ang="T69">
                    <a:pos x="T10" y="T11"/>
                  </a:cxn>
                  <a:cxn ang="T70">
                    <a:pos x="T12" y="T13"/>
                  </a:cxn>
                  <a:cxn ang="T71">
                    <a:pos x="T14" y="T15"/>
                  </a:cxn>
                  <a:cxn ang="T72">
                    <a:pos x="T16" y="T17"/>
                  </a:cxn>
                  <a:cxn ang="T73">
                    <a:pos x="T18" y="T19"/>
                  </a:cxn>
                  <a:cxn ang="T74">
                    <a:pos x="T20" y="T21"/>
                  </a:cxn>
                  <a:cxn ang="T75">
                    <a:pos x="T22" y="T23"/>
                  </a:cxn>
                  <a:cxn ang="T76">
                    <a:pos x="T24" y="T25"/>
                  </a:cxn>
                  <a:cxn ang="T77">
                    <a:pos x="T26" y="T27"/>
                  </a:cxn>
                  <a:cxn ang="T78">
                    <a:pos x="T28" y="T29"/>
                  </a:cxn>
                  <a:cxn ang="T79">
                    <a:pos x="T30" y="T31"/>
                  </a:cxn>
                  <a:cxn ang="T80">
                    <a:pos x="T32" y="T33"/>
                  </a:cxn>
                  <a:cxn ang="T81">
                    <a:pos x="T34" y="T35"/>
                  </a:cxn>
                  <a:cxn ang="T82">
                    <a:pos x="T36" y="T37"/>
                  </a:cxn>
                  <a:cxn ang="T83">
                    <a:pos x="T38" y="T39"/>
                  </a:cxn>
                  <a:cxn ang="T84">
                    <a:pos x="T40" y="T41"/>
                  </a:cxn>
                  <a:cxn ang="T85">
                    <a:pos x="T42" y="T43"/>
                  </a:cxn>
                  <a:cxn ang="T86">
                    <a:pos x="T44" y="T45"/>
                  </a:cxn>
                  <a:cxn ang="T87">
                    <a:pos x="T46" y="T47"/>
                  </a:cxn>
                  <a:cxn ang="T88">
                    <a:pos x="T48" y="T49"/>
                  </a:cxn>
                  <a:cxn ang="T89">
                    <a:pos x="T50" y="T51"/>
                  </a:cxn>
                  <a:cxn ang="T90">
                    <a:pos x="T52" y="T53"/>
                  </a:cxn>
                  <a:cxn ang="T91">
                    <a:pos x="T54" y="T55"/>
                  </a:cxn>
                  <a:cxn ang="T92">
                    <a:pos x="T56" y="T57"/>
                  </a:cxn>
                  <a:cxn ang="T93">
                    <a:pos x="T58" y="T59"/>
                  </a:cxn>
                  <a:cxn ang="T94">
                    <a:pos x="T60" y="T61"/>
                  </a:cxn>
                  <a:cxn ang="T95">
                    <a:pos x="T62" y="T63"/>
                  </a:cxn>
                </a:cxnLst>
                <a:rect l="T96" t="T97" r="T98" b="T99"/>
                <a:pathLst>
                  <a:path w="118" h="20">
                    <a:moveTo>
                      <a:pt x="34" y="4"/>
                    </a:moveTo>
                    <a:lnTo>
                      <a:pt x="40" y="4"/>
                    </a:lnTo>
                    <a:lnTo>
                      <a:pt x="51" y="2"/>
                    </a:lnTo>
                    <a:lnTo>
                      <a:pt x="62" y="2"/>
                    </a:lnTo>
                    <a:lnTo>
                      <a:pt x="73" y="2"/>
                    </a:lnTo>
                    <a:lnTo>
                      <a:pt x="84" y="0"/>
                    </a:lnTo>
                    <a:lnTo>
                      <a:pt x="93" y="0"/>
                    </a:lnTo>
                    <a:lnTo>
                      <a:pt x="104" y="0"/>
                    </a:lnTo>
                    <a:lnTo>
                      <a:pt x="113" y="2"/>
                    </a:lnTo>
                    <a:lnTo>
                      <a:pt x="116" y="4"/>
                    </a:lnTo>
                    <a:lnTo>
                      <a:pt x="118" y="6"/>
                    </a:lnTo>
                    <a:lnTo>
                      <a:pt x="118" y="9"/>
                    </a:lnTo>
                    <a:lnTo>
                      <a:pt x="113" y="11"/>
                    </a:lnTo>
                    <a:lnTo>
                      <a:pt x="100" y="13"/>
                    </a:lnTo>
                    <a:lnTo>
                      <a:pt x="87" y="15"/>
                    </a:lnTo>
                    <a:lnTo>
                      <a:pt x="71" y="15"/>
                    </a:lnTo>
                    <a:lnTo>
                      <a:pt x="60" y="15"/>
                    </a:lnTo>
                    <a:lnTo>
                      <a:pt x="45" y="15"/>
                    </a:lnTo>
                    <a:lnTo>
                      <a:pt x="31" y="15"/>
                    </a:lnTo>
                    <a:lnTo>
                      <a:pt x="18" y="15"/>
                    </a:lnTo>
                    <a:lnTo>
                      <a:pt x="5" y="20"/>
                    </a:lnTo>
                    <a:lnTo>
                      <a:pt x="0" y="13"/>
                    </a:lnTo>
                    <a:lnTo>
                      <a:pt x="2" y="9"/>
                    </a:lnTo>
                    <a:lnTo>
                      <a:pt x="5" y="9"/>
                    </a:lnTo>
                    <a:lnTo>
                      <a:pt x="7" y="6"/>
                    </a:lnTo>
                    <a:lnTo>
                      <a:pt x="11" y="4"/>
                    </a:lnTo>
                    <a:lnTo>
                      <a:pt x="18" y="4"/>
                    </a:lnTo>
                    <a:lnTo>
                      <a:pt x="22" y="4"/>
                    </a:lnTo>
                    <a:lnTo>
                      <a:pt x="27" y="4"/>
                    </a:lnTo>
                    <a:lnTo>
                      <a:pt x="31" y="4"/>
                    </a:lnTo>
                    <a:lnTo>
                      <a:pt x="34" y="4"/>
                    </a:lnTo>
                    <a:close/>
                  </a:path>
                </a:pathLst>
              </a:custGeom>
              <a:solidFill>
                <a:srgbClr val="FFFF85"/>
              </a:solidFill>
              <a:ln w="9525">
                <a:noFill/>
                <a:round/>
                <a:headEnd/>
                <a:tailEnd/>
              </a:ln>
            </p:spPr>
            <p:txBody>
              <a:bodyPr/>
              <a:lstStyle/>
              <a:p>
                <a:endParaRPr lang="en-US"/>
              </a:p>
            </p:txBody>
          </p:sp>
          <p:sp>
            <p:nvSpPr>
              <p:cNvPr id="157724" name="Freeform 26"/>
              <p:cNvSpPr>
                <a:spLocks/>
              </p:cNvSpPr>
              <p:nvPr/>
            </p:nvSpPr>
            <p:spPr bwMode="auto">
              <a:xfrm>
                <a:off x="2857" y="973"/>
                <a:ext cx="71" cy="13"/>
              </a:xfrm>
              <a:custGeom>
                <a:avLst/>
                <a:gdLst>
                  <a:gd name="T0" fmla="*/ 38 w 71"/>
                  <a:gd name="T1" fmla="*/ 2 h 13"/>
                  <a:gd name="T2" fmla="*/ 45 w 71"/>
                  <a:gd name="T3" fmla="*/ 2 h 13"/>
                  <a:gd name="T4" fmla="*/ 54 w 71"/>
                  <a:gd name="T5" fmla="*/ 2 h 13"/>
                  <a:gd name="T6" fmla="*/ 60 w 71"/>
                  <a:gd name="T7" fmla="*/ 2 h 13"/>
                  <a:gd name="T8" fmla="*/ 67 w 71"/>
                  <a:gd name="T9" fmla="*/ 2 h 13"/>
                  <a:gd name="T10" fmla="*/ 69 w 71"/>
                  <a:gd name="T11" fmla="*/ 2 h 13"/>
                  <a:gd name="T12" fmla="*/ 71 w 71"/>
                  <a:gd name="T13" fmla="*/ 6 h 13"/>
                  <a:gd name="T14" fmla="*/ 71 w 71"/>
                  <a:gd name="T15" fmla="*/ 9 h 13"/>
                  <a:gd name="T16" fmla="*/ 67 w 71"/>
                  <a:gd name="T17" fmla="*/ 11 h 13"/>
                  <a:gd name="T18" fmla="*/ 58 w 71"/>
                  <a:gd name="T19" fmla="*/ 11 h 13"/>
                  <a:gd name="T20" fmla="*/ 51 w 71"/>
                  <a:gd name="T21" fmla="*/ 13 h 13"/>
                  <a:gd name="T22" fmla="*/ 45 w 71"/>
                  <a:gd name="T23" fmla="*/ 13 h 13"/>
                  <a:gd name="T24" fmla="*/ 38 w 71"/>
                  <a:gd name="T25" fmla="*/ 13 h 13"/>
                  <a:gd name="T26" fmla="*/ 29 w 71"/>
                  <a:gd name="T27" fmla="*/ 13 h 13"/>
                  <a:gd name="T28" fmla="*/ 23 w 71"/>
                  <a:gd name="T29" fmla="*/ 13 h 13"/>
                  <a:gd name="T30" fmla="*/ 16 w 71"/>
                  <a:gd name="T31" fmla="*/ 13 h 13"/>
                  <a:gd name="T32" fmla="*/ 9 w 71"/>
                  <a:gd name="T33" fmla="*/ 13 h 13"/>
                  <a:gd name="T34" fmla="*/ 3 w 71"/>
                  <a:gd name="T35" fmla="*/ 11 h 13"/>
                  <a:gd name="T36" fmla="*/ 0 w 71"/>
                  <a:gd name="T37" fmla="*/ 9 h 13"/>
                  <a:gd name="T38" fmla="*/ 0 w 71"/>
                  <a:gd name="T39" fmla="*/ 4 h 13"/>
                  <a:gd name="T40" fmla="*/ 5 w 71"/>
                  <a:gd name="T41" fmla="*/ 2 h 13"/>
                  <a:gd name="T42" fmla="*/ 5 w 71"/>
                  <a:gd name="T43" fmla="*/ 0 h 13"/>
                  <a:gd name="T44" fmla="*/ 9 w 71"/>
                  <a:gd name="T45" fmla="*/ 0 h 13"/>
                  <a:gd name="T46" fmla="*/ 14 w 71"/>
                  <a:gd name="T47" fmla="*/ 0 h 13"/>
                  <a:gd name="T48" fmla="*/ 20 w 71"/>
                  <a:gd name="T49" fmla="*/ 0 h 13"/>
                  <a:gd name="T50" fmla="*/ 25 w 71"/>
                  <a:gd name="T51" fmla="*/ 0 h 13"/>
                  <a:gd name="T52" fmla="*/ 29 w 71"/>
                  <a:gd name="T53" fmla="*/ 2 h 13"/>
                  <a:gd name="T54" fmla="*/ 34 w 71"/>
                  <a:gd name="T55" fmla="*/ 2 h 13"/>
                  <a:gd name="T56" fmla="*/ 38 w 71"/>
                  <a:gd name="T57" fmla="*/ 2 h 13"/>
                  <a:gd name="T58" fmla="*/ 38 w 71"/>
                  <a:gd name="T59" fmla="*/ 2 h 13"/>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w 71"/>
                  <a:gd name="T91" fmla="*/ 0 h 13"/>
                  <a:gd name="T92" fmla="*/ 71 w 71"/>
                  <a:gd name="T93" fmla="*/ 13 h 13"/>
                </a:gdLst>
                <a:ahLst/>
                <a:cxnLst>
                  <a:cxn ang="T60">
                    <a:pos x="T0" y="T1"/>
                  </a:cxn>
                  <a:cxn ang="T61">
                    <a:pos x="T2" y="T3"/>
                  </a:cxn>
                  <a:cxn ang="T62">
                    <a:pos x="T4" y="T5"/>
                  </a:cxn>
                  <a:cxn ang="T63">
                    <a:pos x="T6" y="T7"/>
                  </a:cxn>
                  <a:cxn ang="T64">
                    <a:pos x="T8" y="T9"/>
                  </a:cxn>
                  <a:cxn ang="T65">
                    <a:pos x="T10" y="T11"/>
                  </a:cxn>
                  <a:cxn ang="T66">
                    <a:pos x="T12" y="T13"/>
                  </a:cxn>
                  <a:cxn ang="T67">
                    <a:pos x="T14" y="T15"/>
                  </a:cxn>
                  <a:cxn ang="T68">
                    <a:pos x="T16" y="T17"/>
                  </a:cxn>
                  <a:cxn ang="T69">
                    <a:pos x="T18" y="T19"/>
                  </a:cxn>
                  <a:cxn ang="T70">
                    <a:pos x="T20" y="T21"/>
                  </a:cxn>
                  <a:cxn ang="T71">
                    <a:pos x="T22" y="T23"/>
                  </a:cxn>
                  <a:cxn ang="T72">
                    <a:pos x="T24" y="T25"/>
                  </a:cxn>
                  <a:cxn ang="T73">
                    <a:pos x="T26" y="T27"/>
                  </a:cxn>
                  <a:cxn ang="T74">
                    <a:pos x="T28" y="T29"/>
                  </a:cxn>
                  <a:cxn ang="T75">
                    <a:pos x="T30" y="T31"/>
                  </a:cxn>
                  <a:cxn ang="T76">
                    <a:pos x="T32" y="T33"/>
                  </a:cxn>
                  <a:cxn ang="T77">
                    <a:pos x="T34" y="T35"/>
                  </a:cxn>
                  <a:cxn ang="T78">
                    <a:pos x="T36" y="T37"/>
                  </a:cxn>
                  <a:cxn ang="T79">
                    <a:pos x="T38" y="T39"/>
                  </a:cxn>
                  <a:cxn ang="T80">
                    <a:pos x="T40" y="T41"/>
                  </a:cxn>
                  <a:cxn ang="T81">
                    <a:pos x="T42" y="T43"/>
                  </a:cxn>
                  <a:cxn ang="T82">
                    <a:pos x="T44" y="T45"/>
                  </a:cxn>
                  <a:cxn ang="T83">
                    <a:pos x="T46" y="T47"/>
                  </a:cxn>
                  <a:cxn ang="T84">
                    <a:pos x="T48" y="T49"/>
                  </a:cxn>
                  <a:cxn ang="T85">
                    <a:pos x="T50" y="T51"/>
                  </a:cxn>
                  <a:cxn ang="T86">
                    <a:pos x="T52" y="T53"/>
                  </a:cxn>
                  <a:cxn ang="T87">
                    <a:pos x="T54" y="T55"/>
                  </a:cxn>
                  <a:cxn ang="T88">
                    <a:pos x="T56" y="T57"/>
                  </a:cxn>
                  <a:cxn ang="T89">
                    <a:pos x="T58" y="T59"/>
                  </a:cxn>
                </a:cxnLst>
                <a:rect l="T90" t="T91" r="T92" b="T93"/>
                <a:pathLst>
                  <a:path w="71" h="13">
                    <a:moveTo>
                      <a:pt x="38" y="2"/>
                    </a:moveTo>
                    <a:lnTo>
                      <a:pt x="45" y="2"/>
                    </a:lnTo>
                    <a:lnTo>
                      <a:pt x="54" y="2"/>
                    </a:lnTo>
                    <a:lnTo>
                      <a:pt x="60" y="2"/>
                    </a:lnTo>
                    <a:lnTo>
                      <a:pt x="67" y="2"/>
                    </a:lnTo>
                    <a:lnTo>
                      <a:pt x="69" y="2"/>
                    </a:lnTo>
                    <a:lnTo>
                      <a:pt x="71" y="6"/>
                    </a:lnTo>
                    <a:lnTo>
                      <a:pt x="71" y="9"/>
                    </a:lnTo>
                    <a:lnTo>
                      <a:pt x="67" y="11"/>
                    </a:lnTo>
                    <a:lnTo>
                      <a:pt x="58" y="11"/>
                    </a:lnTo>
                    <a:lnTo>
                      <a:pt x="51" y="13"/>
                    </a:lnTo>
                    <a:lnTo>
                      <a:pt x="45" y="13"/>
                    </a:lnTo>
                    <a:lnTo>
                      <a:pt x="38" y="13"/>
                    </a:lnTo>
                    <a:lnTo>
                      <a:pt x="29" y="13"/>
                    </a:lnTo>
                    <a:lnTo>
                      <a:pt x="23" y="13"/>
                    </a:lnTo>
                    <a:lnTo>
                      <a:pt x="16" y="13"/>
                    </a:lnTo>
                    <a:lnTo>
                      <a:pt x="9" y="13"/>
                    </a:lnTo>
                    <a:lnTo>
                      <a:pt x="3" y="11"/>
                    </a:lnTo>
                    <a:lnTo>
                      <a:pt x="0" y="9"/>
                    </a:lnTo>
                    <a:lnTo>
                      <a:pt x="0" y="4"/>
                    </a:lnTo>
                    <a:lnTo>
                      <a:pt x="5" y="2"/>
                    </a:lnTo>
                    <a:lnTo>
                      <a:pt x="5" y="0"/>
                    </a:lnTo>
                    <a:lnTo>
                      <a:pt x="9" y="0"/>
                    </a:lnTo>
                    <a:lnTo>
                      <a:pt x="14" y="0"/>
                    </a:lnTo>
                    <a:lnTo>
                      <a:pt x="20" y="0"/>
                    </a:lnTo>
                    <a:lnTo>
                      <a:pt x="25" y="0"/>
                    </a:lnTo>
                    <a:lnTo>
                      <a:pt x="29" y="2"/>
                    </a:lnTo>
                    <a:lnTo>
                      <a:pt x="34" y="2"/>
                    </a:lnTo>
                    <a:lnTo>
                      <a:pt x="38" y="2"/>
                    </a:lnTo>
                    <a:close/>
                  </a:path>
                </a:pathLst>
              </a:custGeom>
              <a:solidFill>
                <a:srgbClr val="FFFF85"/>
              </a:solidFill>
              <a:ln w="9525">
                <a:noFill/>
                <a:round/>
                <a:headEnd/>
                <a:tailEnd/>
              </a:ln>
            </p:spPr>
            <p:txBody>
              <a:bodyPr/>
              <a:lstStyle/>
              <a:p>
                <a:endParaRPr lang="en-US"/>
              </a:p>
            </p:txBody>
          </p:sp>
          <p:sp>
            <p:nvSpPr>
              <p:cNvPr id="157725" name="Freeform 27"/>
              <p:cNvSpPr>
                <a:spLocks/>
              </p:cNvSpPr>
              <p:nvPr/>
            </p:nvSpPr>
            <p:spPr bwMode="auto">
              <a:xfrm>
                <a:off x="2756" y="1026"/>
                <a:ext cx="57" cy="13"/>
              </a:xfrm>
              <a:custGeom>
                <a:avLst/>
                <a:gdLst>
                  <a:gd name="T0" fmla="*/ 37 w 57"/>
                  <a:gd name="T1" fmla="*/ 0 h 13"/>
                  <a:gd name="T2" fmla="*/ 44 w 57"/>
                  <a:gd name="T3" fmla="*/ 0 h 13"/>
                  <a:gd name="T4" fmla="*/ 50 w 57"/>
                  <a:gd name="T5" fmla="*/ 0 h 13"/>
                  <a:gd name="T6" fmla="*/ 53 w 57"/>
                  <a:gd name="T7" fmla="*/ 0 h 13"/>
                  <a:gd name="T8" fmla="*/ 57 w 57"/>
                  <a:gd name="T9" fmla="*/ 2 h 13"/>
                  <a:gd name="T10" fmla="*/ 57 w 57"/>
                  <a:gd name="T11" fmla="*/ 4 h 13"/>
                  <a:gd name="T12" fmla="*/ 57 w 57"/>
                  <a:gd name="T13" fmla="*/ 11 h 13"/>
                  <a:gd name="T14" fmla="*/ 50 w 57"/>
                  <a:gd name="T15" fmla="*/ 11 h 13"/>
                  <a:gd name="T16" fmla="*/ 44 w 57"/>
                  <a:gd name="T17" fmla="*/ 11 h 13"/>
                  <a:gd name="T18" fmla="*/ 39 w 57"/>
                  <a:gd name="T19" fmla="*/ 11 h 13"/>
                  <a:gd name="T20" fmla="*/ 33 w 57"/>
                  <a:gd name="T21" fmla="*/ 13 h 13"/>
                  <a:gd name="T22" fmla="*/ 26 w 57"/>
                  <a:gd name="T23" fmla="*/ 11 h 13"/>
                  <a:gd name="T24" fmla="*/ 19 w 57"/>
                  <a:gd name="T25" fmla="*/ 11 h 13"/>
                  <a:gd name="T26" fmla="*/ 13 w 57"/>
                  <a:gd name="T27" fmla="*/ 11 h 13"/>
                  <a:gd name="T28" fmla="*/ 8 w 57"/>
                  <a:gd name="T29" fmla="*/ 13 h 13"/>
                  <a:gd name="T30" fmla="*/ 2 w 57"/>
                  <a:gd name="T31" fmla="*/ 7 h 13"/>
                  <a:gd name="T32" fmla="*/ 0 w 57"/>
                  <a:gd name="T33" fmla="*/ 4 h 13"/>
                  <a:gd name="T34" fmla="*/ 2 w 57"/>
                  <a:gd name="T35" fmla="*/ 2 h 13"/>
                  <a:gd name="T36" fmla="*/ 6 w 57"/>
                  <a:gd name="T37" fmla="*/ 0 h 13"/>
                  <a:gd name="T38" fmla="*/ 13 w 57"/>
                  <a:gd name="T39" fmla="*/ 0 h 13"/>
                  <a:gd name="T40" fmla="*/ 24 w 57"/>
                  <a:gd name="T41" fmla="*/ 0 h 13"/>
                  <a:gd name="T42" fmla="*/ 31 w 57"/>
                  <a:gd name="T43" fmla="*/ 0 h 13"/>
                  <a:gd name="T44" fmla="*/ 37 w 57"/>
                  <a:gd name="T45" fmla="*/ 0 h 13"/>
                  <a:gd name="T46" fmla="*/ 37 w 57"/>
                  <a:gd name="T47" fmla="*/ 0 h 13"/>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57"/>
                  <a:gd name="T73" fmla="*/ 0 h 13"/>
                  <a:gd name="T74" fmla="*/ 57 w 57"/>
                  <a:gd name="T75" fmla="*/ 13 h 13"/>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57" h="13">
                    <a:moveTo>
                      <a:pt x="37" y="0"/>
                    </a:moveTo>
                    <a:lnTo>
                      <a:pt x="44" y="0"/>
                    </a:lnTo>
                    <a:lnTo>
                      <a:pt x="50" y="0"/>
                    </a:lnTo>
                    <a:lnTo>
                      <a:pt x="53" y="0"/>
                    </a:lnTo>
                    <a:lnTo>
                      <a:pt x="57" y="2"/>
                    </a:lnTo>
                    <a:lnTo>
                      <a:pt x="57" y="4"/>
                    </a:lnTo>
                    <a:lnTo>
                      <a:pt x="57" y="11"/>
                    </a:lnTo>
                    <a:lnTo>
                      <a:pt x="50" y="11"/>
                    </a:lnTo>
                    <a:lnTo>
                      <a:pt x="44" y="11"/>
                    </a:lnTo>
                    <a:lnTo>
                      <a:pt x="39" y="11"/>
                    </a:lnTo>
                    <a:lnTo>
                      <a:pt x="33" y="13"/>
                    </a:lnTo>
                    <a:lnTo>
                      <a:pt x="26" y="11"/>
                    </a:lnTo>
                    <a:lnTo>
                      <a:pt x="19" y="11"/>
                    </a:lnTo>
                    <a:lnTo>
                      <a:pt x="13" y="11"/>
                    </a:lnTo>
                    <a:lnTo>
                      <a:pt x="8" y="13"/>
                    </a:lnTo>
                    <a:lnTo>
                      <a:pt x="2" y="7"/>
                    </a:lnTo>
                    <a:lnTo>
                      <a:pt x="0" y="4"/>
                    </a:lnTo>
                    <a:lnTo>
                      <a:pt x="2" y="2"/>
                    </a:lnTo>
                    <a:lnTo>
                      <a:pt x="6" y="0"/>
                    </a:lnTo>
                    <a:lnTo>
                      <a:pt x="13" y="0"/>
                    </a:lnTo>
                    <a:lnTo>
                      <a:pt x="24" y="0"/>
                    </a:lnTo>
                    <a:lnTo>
                      <a:pt x="31" y="0"/>
                    </a:lnTo>
                    <a:lnTo>
                      <a:pt x="37" y="0"/>
                    </a:lnTo>
                    <a:close/>
                  </a:path>
                </a:pathLst>
              </a:custGeom>
              <a:solidFill>
                <a:srgbClr val="FFFF85"/>
              </a:solidFill>
              <a:ln w="9525">
                <a:noFill/>
                <a:round/>
                <a:headEnd/>
                <a:tailEnd/>
              </a:ln>
            </p:spPr>
            <p:txBody>
              <a:bodyPr/>
              <a:lstStyle/>
              <a:p>
                <a:endParaRPr lang="en-US"/>
              </a:p>
            </p:txBody>
          </p:sp>
          <p:sp>
            <p:nvSpPr>
              <p:cNvPr id="157726" name="Freeform 28"/>
              <p:cNvSpPr>
                <a:spLocks/>
              </p:cNvSpPr>
              <p:nvPr/>
            </p:nvSpPr>
            <p:spPr bwMode="auto">
              <a:xfrm>
                <a:off x="2778" y="1037"/>
                <a:ext cx="330" cy="51"/>
              </a:xfrm>
              <a:custGeom>
                <a:avLst/>
                <a:gdLst>
                  <a:gd name="T0" fmla="*/ 228 w 330"/>
                  <a:gd name="T1" fmla="*/ 0 h 51"/>
                  <a:gd name="T2" fmla="*/ 239 w 330"/>
                  <a:gd name="T3" fmla="*/ 2 h 51"/>
                  <a:gd name="T4" fmla="*/ 243 w 330"/>
                  <a:gd name="T5" fmla="*/ 7 h 51"/>
                  <a:gd name="T6" fmla="*/ 243 w 330"/>
                  <a:gd name="T7" fmla="*/ 11 h 51"/>
                  <a:gd name="T8" fmla="*/ 219 w 330"/>
                  <a:gd name="T9" fmla="*/ 13 h 51"/>
                  <a:gd name="T10" fmla="*/ 177 w 330"/>
                  <a:gd name="T11" fmla="*/ 18 h 51"/>
                  <a:gd name="T12" fmla="*/ 137 w 330"/>
                  <a:gd name="T13" fmla="*/ 22 h 51"/>
                  <a:gd name="T14" fmla="*/ 95 w 330"/>
                  <a:gd name="T15" fmla="*/ 29 h 51"/>
                  <a:gd name="T16" fmla="*/ 106 w 330"/>
                  <a:gd name="T17" fmla="*/ 29 h 51"/>
                  <a:gd name="T18" fmla="*/ 168 w 330"/>
                  <a:gd name="T19" fmla="*/ 29 h 51"/>
                  <a:gd name="T20" fmla="*/ 230 w 330"/>
                  <a:gd name="T21" fmla="*/ 29 h 51"/>
                  <a:gd name="T22" fmla="*/ 292 w 330"/>
                  <a:gd name="T23" fmla="*/ 29 h 51"/>
                  <a:gd name="T24" fmla="*/ 326 w 330"/>
                  <a:gd name="T25" fmla="*/ 31 h 51"/>
                  <a:gd name="T26" fmla="*/ 330 w 330"/>
                  <a:gd name="T27" fmla="*/ 33 h 51"/>
                  <a:gd name="T28" fmla="*/ 330 w 330"/>
                  <a:gd name="T29" fmla="*/ 38 h 51"/>
                  <a:gd name="T30" fmla="*/ 314 w 330"/>
                  <a:gd name="T31" fmla="*/ 42 h 51"/>
                  <a:gd name="T32" fmla="*/ 288 w 330"/>
                  <a:gd name="T33" fmla="*/ 46 h 51"/>
                  <a:gd name="T34" fmla="*/ 261 w 330"/>
                  <a:gd name="T35" fmla="*/ 46 h 51"/>
                  <a:gd name="T36" fmla="*/ 221 w 330"/>
                  <a:gd name="T37" fmla="*/ 44 h 51"/>
                  <a:gd name="T38" fmla="*/ 168 w 330"/>
                  <a:gd name="T39" fmla="*/ 44 h 51"/>
                  <a:gd name="T40" fmla="*/ 115 w 330"/>
                  <a:gd name="T41" fmla="*/ 46 h 51"/>
                  <a:gd name="T42" fmla="*/ 62 w 330"/>
                  <a:gd name="T43" fmla="*/ 46 h 51"/>
                  <a:gd name="T44" fmla="*/ 31 w 330"/>
                  <a:gd name="T45" fmla="*/ 46 h 51"/>
                  <a:gd name="T46" fmla="*/ 13 w 330"/>
                  <a:gd name="T47" fmla="*/ 49 h 51"/>
                  <a:gd name="T48" fmla="*/ 4 w 330"/>
                  <a:gd name="T49" fmla="*/ 49 h 51"/>
                  <a:gd name="T50" fmla="*/ 0 w 330"/>
                  <a:gd name="T51" fmla="*/ 40 h 51"/>
                  <a:gd name="T52" fmla="*/ 13 w 330"/>
                  <a:gd name="T53" fmla="*/ 31 h 51"/>
                  <a:gd name="T54" fmla="*/ 37 w 330"/>
                  <a:gd name="T55" fmla="*/ 29 h 51"/>
                  <a:gd name="T56" fmla="*/ 62 w 330"/>
                  <a:gd name="T57" fmla="*/ 27 h 51"/>
                  <a:gd name="T58" fmla="*/ 91 w 330"/>
                  <a:gd name="T59" fmla="*/ 18 h 51"/>
                  <a:gd name="T60" fmla="*/ 128 w 330"/>
                  <a:gd name="T61" fmla="*/ 11 h 51"/>
                  <a:gd name="T62" fmla="*/ 166 w 330"/>
                  <a:gd name="T63" fmla="*/ 4 h 51"/>
                  <a:gd name="T64" fmla="*/ 204 w 330"/>
                  <a:gd name="T65" fmla="*/ 0 h 51"/>
                  <a:gd name="T66" fmla="*/ 224 w 330"/>
                  <a:gd name="T67" fmla="*/ 0 h 51"/>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330"/>
                  <a:gd name="T103" fmla="*/ 0 h 51"/>
                  <a:gd name="T104" fmla="*/ 330 w 330"/>
                  <a:gd name="T105" fmla="*/ 51 h 51"/>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330" h="51">
                    <a:moveTo>
                      <a:pt x="224" y="0"/>
                    </a:moveTo>
                    <a:lnTo>
                      <a:pt x="228" y="0"/>
                    </a:lnTo>
                    <a:lnTo>
                      <a:pt x="235" y="0"/>
                    </a:lnTo>
                    <a:lnTo>
                      <a:pt x="239" y="2"/>
                    </a:lnTo>
                    <a:lnTo>
                      <a:pt x="243" y="4"/>
                    </a:lnTo>
                    <a:lnTo>
                      <a:pt x="243" y="7"/>
                    </a:lnTo>
                    <a:lnTo>
                      <a:pt x="246" y="9"/>
                    </a:lnTo>
                    <a:lnTo>
                      <a:pt x="243" y="11"/>
                    </a:lnTo>
                    <a:lnTo>
                      <a:pt x="241" y="13"/>
                    </a:lnTo>
                    <a:lnTo>
                      <a:pt x="219" y="13"/>
                    </a:lnTo>
                    <a:lnTo>
                      <a:pt x="199" y="18"/>
                    </a:lnTo>
                    <a:lnTo>
                      <a:pt x="177" y="18"/>
                    </a:lnTo>
                    <a:lnTo>
                      <a:pt x="157" y="20"/>
                    </a:lnTo>
                    <a:lnTo>
                      <a:pt x="137" y="22"/>
                    </a:lnTo>
                    <a:lnTo>
                      <a:pt x="115" y="27"/>
                    </a:lnTo>
                    <a:lnTo>
                      <a:pt x="95" y="29"/>
                    </a:lnTo>
                    <a:lnTo>
                      <a:pt x="77" y="33"/>
                    </a:lnTo>
                    <a:lnTo>
                      <a:pt x="106" y="29"/>
                    </a:lnTo>
                    <a:lnTo>
                      <a:pt x="137" y="29"/>
                    </a:lnTo>
                    <a:lnTo>
                      <a:pt x="168" y="29"/>
                    </a:lnTo>
                    <a:lnTo>
                      <a:pt x="199" y="29"/>
                    </a:lnTo>
                    <a:lnTo>
                      <a:pt x="230" y="29"/>
                    </a:lnTo>
                    <a:lnTo>
                      <a:pt x="261" y="31"/>
                    </a:lnTo>
                    <a:lnTo>
                      <a:pt x="292" y="29"/>
                    </a:lnTo>
                    <a:lnTo>
                      <a:pt x="323" y="29"/>
                    </a:lnTo>
                    <a:lnTo>
                      <a:pt x="326" y="31"/>
                    </a:lnTo>
                    <a:lnTo>
                      <a:pt x="330" y="33"/>
                    </a:lnTo>
                    <a:lnTo>
                      <a:pt x="330" y="35"/>
                    </a:lnTo>
                    <a:lnTo>
                      <a:pt x="330" y="38"/>
                    </a:lnTo>
                    <a:lnTo>
                      <a:pt x="323" y="42"/>
                    </a:lnTo>
                    <a:lnTo>
                      <a:pt x="314" y="42"/>
                    </a:lnTo>
                    <a:lnTo>
                      <a:pt x="301" y="46"/>
                    </a:lnTo>
                    <a:lnTo>
                      <a:pt x="288" y="46"/>
                    </a:lnTo>
                    <a:lnTo>
                      <a:pt x="275" y="46"/>
                    </a:lnTo>
                    <a:lnTo>
                      <a:pt x="261" y="46"/>
                    </a:lnTo>
                    <a:lnTo>
                      <a:pt x="248" y="46"/>
                    </a:lnTo>
                    <a:lnTo>
                      <a:pt x="221" y="44"/>
                    </a:lnTo>
                    <a:lnTo>
                      <a:pt x="195" y="44"/>
                    </a:lnTo>
                    <a:lnTo>
                      <a:pt x="168" y="44"/>
                    </a:lnTo>
                    <a:lnTo>
                      <a:pt x="142" y="46"/>
                    </a:lnTo>
                    <a:lnTo>
                      <a:pt x="115" y="46"/>
                    </a:lnTo>
                    <a:lnTo>
                      <a:pt x="88" y="46"/>
                    </a:lnTo>
                    <a:lnTo>
                      <a:pt x="62" y="46"/>
                    </a:lnTo>
                    <a:lnTo>
                      <a:pt x="35" y="46"/>
                    </a:lnTo>
                    <a:lnTo>
                      <a:pt x="31" y="46"/>
                    </a:lnTo>
                    <a:lnTo>
                      <a:pt x="22" y="49"/>
                    </a:lnTo>
                    <a:lnTo>
                      <a:pt x="13" y="49"/>
                    </a:lnTo>
                    <a:lnTo>
                      <a:pt x="9" y="51"/>
                    </a:lnTo>
                    <a:lnTo>
                      <a:pt x="4" y="49"/>
                    </a:lnTo>
                    <a:lnTo>
                      <a:pt x="0" y="46"/>
                    </a:lnTo>
                    <a:lnTo>
                      <a:pt x="0" y="40"/>
                    </a:lnTo>
                    <a:lnTo>
                      <a:pt x="4" y="35"/>
                    </a:lnTo>
                    <a:lnTo>
                      <a:pt x="13" y="31"/>
                    </a:lnTo>
                    <a:lnTo>
                      <a:pt x="24" y="31"/>
                    </a:lnTo>
                    <a:lnTo>
                      <a:pt x="37" y="29"/>
                    </a:lnTo>
                    <a:lnTo>
                      <a:pt x="48" y="29"/>
                    </a:lnTo>
                    <a:lnTo>
                      <a:pt x="62" y="27"/>
                    </a:lnTo>
                    <a:lnTo>
                      <a:pt x="71" y="24"/>
                    </a:lnTo>
                    <a:lnTo>
                      <a:pt x="91" y="18"/>
                    </a:lnTo>
                    <a:lnTo>
                      <a:pt x="108" y="15"/>
                    </a:lnTo>
                    <a:lnTo>
                      <a:pt x="128" y="11"/>
                    </a:lnTo>
                    <a:lnTo>
                      <a:pt x="146" y="9"/>
                    </a:lnTo>
                    <a:lnTo>
                      <a:pt x="166" y="4"/>
                    </a:lnTo>
                    <a:lnTo>
                      <a:pt x="184" y="2"/>
                    </a:lnTo>
                    <a:lnTo>
                      <a:pt x="204" y="0"/>
                    </a:lnTo>
                    <a:lnTo>
                      <a:pt x="224" y="0"/>
                    </a:lnTo>
                    <a:close/>
                  </a:path>
                </a:pathLst>
              </a:custGeom>
              <a:solidFill>
                <a:srgbClr val="FFFF85"/>
              </a:solidFill>
              <a:ln w="9525">
                <a:noFill/>
                <a:round/>
                <a:headEnd/>
                <a:tailEnd/>
              </a:ln>
            </p:spPr>
            <p:txBody>
              <a:bodyPr/>
              <a:lstStyle/>
              <a:p>
                <a:endParaRPr lang="en-US"/>
              </a:p>
            </p:txBody>
          </p:sp>
          <p:sp>
            <p:nvSpPr>
              <p:cNvPr id="157727" name="Freeform 29"/>
              <p:cNvSpPr>
                <a:spLocks/>
              </p:cNvSpPr>
              <p:nvPr/>
            </p:nvSpPr>
            <p:spPr bwMode="auto">
              <a:xfrm>
                <a:off x="2744" y="1090"/>
                <a:ext cx="388" cy="22"/>
              </a:xfrm>
              <a:custGeom>
                <a:avLst/>
                <a:gdLst>
                  <a:gd name="T0" fmla="*/ 379 w 388"/>
                  <a:gd name="T1" fmla="*/ 0 h 22"/>
                  <a:gd name="T2" fmla="*/ 384 w 388"/>
                  <a:gd name="T3" fmla="*/ 0 h 22"/>
                  <a:gd name="T4" fmla="*/ 388 w 388"/>
                  <a:gd name="T5" fmla="*/ 5 h 22"/>
                  <a:gd name="T6" fmla="*/ 388 w 388"/>
                  <a:gd name="T7" fmla="*/ 9 h 22"/>
                  <a:gd name="T8" fmla="*/ 384 w 388"/>
                  <a:gd name="T9" fmla="*/ 13 h 22"/>
                  <a:gd name="T10" fmla="*/ 366 w 388"/>
                  <a:gd name="T11" fmla="*/ 13 h 22"/>
                  <a:gd name="T12" fmla="*/ 348 w 388"/>
                  <a:gd name="T13" fmla="*/ 13 h 22"/>
                  <a:gd name="T14" fmla="*/ 328 w 388"/>
                  <a:gd name="T15" fmla="*/ 16 h 22"/>
                  <a:gd name="T16" fmla="*/ 311 w 388"/>
                  <a:gd name="T17" fmla="*/ 18 h 22"/>
                  <a:gd name="T18" fmla="*/ 291 w 388"/>
                  <a:gd name="T19" fmla="*/ 18 h 22"/>
                  <a:gd name="T20" fmla="*/ 273 w 388"/>
                  <a:gd name="T21" fmla="*/ 20 h 22"/>
                  <a:gd name="T22" fmla="*/ 253 w 388"/>
                  <a:gd name="T23" fmla="*/ 20 h 22"/>
                  <a:gd name="T24" fmla="*/ 233 w 388"/>
                  <a:gd name="T25" fmla="*/ 20 h 22"/>
                  <a:gd name="T26" fmla="*/ 215 w 388"/>
                  <a:gd name="T27" fmla="*/ 20 h 22"/>
                  <a:gd name="T28" fmla="*/ 200 w 388"/>
                  <a:gd name="T29" fmla="*/ 20 h 22"/>
                  <a:gd name="T30" fmla="*/ 184 w 388"/>
                  <a:gd name="T31" fmla="*/ 20 h 22"/>
                  <a:gd name="T32" fmla="*/ 169 w 388"/>
                  <a:gd name="T33" fmla="*/ 20 h 22"/>
                  <a:gd name="T34" fmla="*/ 153 w 388"/>
                  <a:gd name="T35" fmla="*/ 20 h 22"/>
                  <a:gd name="T36" fmla="*/ 136 w 388"/>
                  <a:gd name="T37" fmla="*/ 22 h 22"/>
                  <a:gd name="T38" fmla="*/ 118 w 388"/>
                  <a:gd name="T39" fmla="*/ 22 h 22"/>
                  <a:gd name="T40" fmla="*/ 100 w 388"/>
                  <a:gd name="T41" fmla="*/ 22 h 22"/>
                  <a:gd name="T42" fmla="*/ 89 w 388"/>
                  <a:gd name="T43" fmla="*/ 22 h 22"/>
                  <a:gd name="T44" fmla="*/ 76 w 388"/>
                  <a:gd name="T45" fmla="*/ 22 h 22"/>
                  <a:gd name="T46" fmla="*/ 65 w 388"/>
                  <a:gd name="T47" fmla="*/ 22 h 22"/>
                  <a:gd name="T48" fmla="*/ 54 w 388"/>
                  <a:gd name="T49" fmla="*/ 22 h 22"/>
                  <a:gd name="T50" fmla="*/ 40 w 388"/>
                  <a:gd name="T51" fmla="*/ 22 h 22"/>
                  <a:gd name="T52" fmla="*/ 29 w 388"/>
                  <a:gd name="T53" fmla="*/ 22 h 22"/>
                  <a:gd name="T54" fmla="*/ 18 w 388"/>
                  <a:gd name="T55" fmla="*/ 22 h 22"/>
                  <a:gd name="T56" fmla="*/ 7 w 388"/>
                  <a:gd name="T57" fmla="*/ 22 h 22"/>
                  <a:gd name="T58" fmla="*/ 0 w 388"/>
                  <a:gd name="T59" fmla="*/ 16 h 22"/>
                  <a:gd name="T60" fmla="*/ 3 w 388"/>
                  <a:gd name="T61" fmla="*/ 11 h 22"/>
                  <a:gd name="T62" fmla="*/ 12 w 388"/>
                  <a:gd name="T63" fmla="*/ 7 h 22"/>
                  <a:gd name="T64" fmla="*/ 25 w 388"/>
                  <a:gd name="T65" fmla="*/ 7 h 22"/>
                  <a:gd name="T66" fmla="*/ 40 w 388"/>
                  <a:gd name="T67" fmla="*/ 5 h 22"/>
                  <a:gd name="T68" fmla="*/ 56 w 388"/>
                  <a:gd name="T69" fmla="*/ 7 h 22"/>
                  <a:gd name="T70" fmla="*/ 69 w 388"/>
                  <a:gd name="T71" fmla="*/ 7 h 22"/>
                  <a:gd name="T72" fmla="*/ 80 w 388"/>
                  <a:gd name="T73" fmla="*/ 7 h 22"/>
                  <a:gd name="T74" fmla="*/ 102 w 388"/>
                  <a:gd name="T75" fmla="*/ 7 h 22"/>
                  <a:gd name="T76" fmla="*/ 122 w 388"/>
                  <a:gd name="T77" fmla="*/ 7 h 22"/>
                  <a:gd name="T78" fmla="*/ 145 w 388"/>
                  <a:gd name="T79" fmla="*/ 7 h 22"/>
                  <a:gd name="T80" fmla="*/ 167 w 388"/>
                  <a:gd name="T81" fmla="*/ 7 h 22"/>
                  <a:gd name="T82" fmla="*/ 187 w 388"/>
                  <a:gd name="T83" fmla="*/ 7 h 22"/>
                  <a:gd name="T84" fmla="*/ 209 w 388"/>
                  <a:gd name="T85" fmla="*/ 7 h 22"/>
                  <a:gd name="T86" fmla="*/ 229 w 388"/>
                  <a:gd name="T87" fmla="*/ 7 h 22"/>
                  <a:gd name="T88" fmla="*/ 251 w 388"/>
                  <a:gd name="T89" fmla="*/ 7 h 22"/>
                  <a:gd name="T90" fmla="*/ 264 w 388"/>
                  <a:gd name="T91" fmla="*/ 7 h 22"/>
                  <a:gd name="T92" fmla="*/ 280 w 388"/>
                  <a:gd name="T93" fmla="*/ 7 h 22"/>
                  <a:gd name="T94" fmla="*/ 295 w 388"/>
                  <a:gd name="T95" fmla="*/ 5 h 22"/>
                  <a:gd name="T96" fmla="*/ 311 w 388"/>
                  <a:gd name="T97" fmla="*/ 5 h 22"/>
                  <a:gd name="T98" fmla="*/ 326 w 388"/>
                  <a:gd name="T99" fmla="*/ 2 h 22"/>
                  <a:gd name="T100" fmla="*/ 344 w 388"/>
                  <a:gd name="T101" fmla="*/ 2 h 22"/>
                  <a:gd name="T102" fmla="*/ 360 w 388"/>
                  <a:gd name="T103" fmla="*/ 0 h 22"/>
                  <a:gd name="T104" fmla="*/ 379 w 388"/>
                  <a:gd name="T105" fmla="*/ 0 h 22"/>
                  <a:gd name="T106" fmla="*/ 379 w 388"/>
                  <a:gd name="T107" fmla="*/ 0 h 22"/>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w 388"/>
                  <a:gd name="T163" fmla="*/ 0 h 22"/>
                  <a:gd name="T164" fmla="*/ 388 w 388"/>
                  <a:gd name="T165" fmla="*/ 22 h 22"/>
                </a:gdLst>
                <a:ahLst/>
                <a:cxnLst>
                  <a:cxn ang="T108">
                    <a:pos x="T0" y="T1"/>
                  </a:cxn>
                  <a:cxn ang="T109">
                    <a:pos x="T2" y="T3"/>
                  </a:cxn>
                  <a:cxn ang="T110">
                    <a:pos x="T4" y="T5"/>
                  </a:cxn>
                  <a:cxn ang="T111">
                    <a:pos x="T6" y="T7"/>
                  </a:cxn>
                  <a:cxn ang="T112">
                    <a:pos x="T8" y="T9"/>
                  </a:cxn>
                  <a:cxn ang="T113">
                    <a:pos x="T10" y="T11"/>
                  </a:cxn>
                  <a:cxn ang="T114">
                    <a:pos x="T12" y="T13"/>
                  </a:cxn>
                  <a:cxn ang="T115">
                    <a:pos x="T14" y="T15"/>
                  </a:cxn>
                  <a:cxn ang="T116">
                    <a:pos x="T16" y="T17"/>
                  </a:cxn>
                  <a:cxn ang="T117">
                    <a:pos x="T18" y="T19"/>
                  </a:cxn>
                  <a:cxn ang="T118">
                    <a:pos x="T20" y="T21"/>
                  </a:cxn>
                  <a:cxn ang="T119">
                    <a:pos x="T22" y="T23"/>
                  </a:cxn>
                  <a:cxn ang="T120">
                    <a:pos x="T24" y="T25"/>
                  </a:cxn>
                  <a:cxn ang="T121">
                    <a:pos x="T26" y="T27"/>
                  </a:cxn>
                  <a:cxn ang="T122">
                    <a:pos x="T28" y="T29"/>
                  </a:cxn>
                  <a:cxn ang="T123">
                    <a:pos x="T30" y="T31"/>
                  </a:cxn>
                  <a:cxn ang="T124">
                    <a:pos x="T32" y="T33"/>
                  </a:cxn>
                  <a:cxn ang="T125">
                    <a:pos x="T34" y="T35"/>
                  </a:cxn>
                  <a:cxn ang="T126">
                    <a:pos x="T36" y="T37"/>
                  </a:cxn>
                  <a:cxn ang="T127">
                    <a:pos x="T38" y="T39"/>
                  </a:cxn>
                  <a:cxn ang="T128">
                    <a:pos x="T40" y="T41"/>
                  </a:cxn>
                  <a:cxn ang="T129">
                    <a:pos x="T42" y="T43"/>
                  </a:cxn>
                  <a:cxn ang="T130">
                    <a:pos x="T44" y="T45"/>
                  </a:cxn>
                  <a:cxn ang="T131">
                    <a:pos x="T46" y="T47"/>
                  </a:cxn>
                  <a:cxn ang="T132">
                    <a:pos x="T48" y="T49"/>
                  </a:cxn>
                  <a:cxn ang="T133">
                    <a:pos x="T50" y="T51"/>
                  </a:cxn>
                  <a:cxn ang="T134">
                    <a:pos x="T52" y="T53"/>
                  </a:cxn>
                  <a:cxn ang="T135">
                    <a:pos x="T54" y="T55"/>
                  </a:cxn>
                  <a:cxn ang="T136">
                    <a:pos x="T56" y="T57"/>
                  </a:cxn>
                  <a:cxn ang="T137">
                    <a:pos x="T58" y="T59"/>
                  </a:cxn>
                  <a:cxn ang="T138">
                    <a:pos x="T60" y="T61"/>
                  </a:cxn>
                  <a:cxn ang="T139">
                    <a:pos x="T62" y="T63"/>
                  </a:cxn>
                  <a:cxn ang="T140">
                    <a:pos x="T64" y="T65"/>
                  </a:cxn>
                  <a:cxn ang="T141">
                    <a:pos x="T66" y="T67"/>
                  </a:cxn>
                  <a:cxn ang="T142">
                    <a:pos x="T68" y="T69"/>
                  </a:cxn>
                  <a:cxn ang="T143">
                    <a:pos x="T70" y="T71"/>
                  </a:cxn>
                  <a:cxn ang="T144">
                    <a:pos x="T72" y="T73"/>
                  </a:cxn>
                  <a:cxn ang="T145">
                    <a:pos x="T74" y="T75"/>
                  </a:cxn>
                  <a:cxn ang="T146">
                    <a:pos x="T76" y="T77"/>
                  </a:cxn>
                  <a:cxn ang="T147">
                    <a:pos x="T78" y="T79"/>
                  </a:cxn>
                  <a:cxn ang="T148">
                    <a:pos x="T80" y="T81"/>
                  </a:cxn>
                  <a:cxn ang="T149">
                    <a:pos x="T82" y="T83"/>
                  </a:cxn>
                  <a:cxn ang="T150">
                    <a:pos x="T84" y="T85"/>
                  </a:cxn>
                  <a:cxn ang="T151">
                    <a:pos x="T86" y="T87"/>
                  </a:cxn>
                  <a:cxn ang="T152">
                    <a:pos x="T88" y="T89"/>
                  </a:cxn>
                  <a:cxn ang="T153">
                    <a:pos x="T90" y="T91"/>
                  </a:cxn>
                  <a:cxn ang="T154">
                    <a:pos x="T92" y="T93"/>
                  </a:cxn>
                  <a:cxn ang="T155">
                    <a:pos x="T94" y="T95"/>
                  </a:cxn>
                  <a:cxn ang="T156">
                    <a:pos x="T96" y="T97"/>
                  </a:cxn>
                  <a:cxn ang="T157">
                    <a:pos x="T98" y="T99"/>
                  </a:cxn>
                  <a:cxn ang="T158">
                    <a:pos x="T100" y="T101"/>
                  </a:cxn>
                  <a:cxn ang="T159">
                    <a:pos x="T102" y="T103"/>
                  </a:cxn>
                  <a:cxn ang="T160">
                    <a:pos x="T104" y="T105"/>
                  </a:cxn>
                  <a:cxn ang="T161">
                    <a:pos x="T106" y="T107"/>
                  </a:cxn>
                </a:cxnLst>
                <a:rect l="T162" t="T163" r="T164" b="T165"/>
                <a:pathLst>
                  <a:path w="388" h="22">
                    <a:moveTo>
                      <a:pt x="379" y="0"/>
                    </a:moveTo>
                    <a:lnTo>
                      <a:pt x="384" y="0"/>
                    </a:lnTo>
                    <a:lnTo>
                      <a:pt x="388" y="5"/>
                    </a:lnTo>
                    <a:lnTo>
                      <a:pt x="388" y="9"/>
                    </a:lnTo>
                    <a:lnTo>
                      <a:pt x="384" y="13"/>
                    </a:lnTo>
                    <a:lnTo>
                      <a:pt x="366" y="13"/>
                    </a:lnTo>
                    <a:lnTo>
                      <a:pt x="348" y="13"/>
                    </a:lnTo>
                    <a:lnTo>
                      <a:pt x="328" y="16"/>
                    </a:lnTo>
                    <a:lnTo>
                      <a:pt x="311" y="18"/>
                    </a:lnTo>
                    <a:lnTo>
                      <a:pt x="291" y="18"/>
                    </a:lnTo>
                    <a:lnTo>
                      <a:pt x="273" y="20"/>
                    </a:lnTo>
                    <a:lnTo>
                      <a:pt x="253" y="20"/>
                    </a:lnTo>
                    <a:lnTo>
                      <a:pt x="233" y="20"/>
                    </a:lnTo>
                    <a:lnTo>
                      <a:pt x="215" y="20"/>
                    </a:lnTo>
                    <a:lnTo>
                      <a:pt x="200" y="20"/>
                    </a:lnTo>
                    <a:lnTo>
                      <a:pt x="184" y="20"/>
                    </a:lnTo>
                    <a:lnTo>
                      <a:pt x="169" y="20"/>
                    </a:lnTo>
                    <a:lnTo>
                      <a:pt x="153" y="20"/>
                    </a:lnTo>
                    <a:lnTo>
                      <a:pt x="136" y="22"/>
                    </a:lnTo>
                    <a:lnTo>
                      <a:pt x="118" y="22"/>
                    </a:lnTo>
                    <a:lnTo>
                      <a:pt x="100" y="22"/>
                    </a:lnTo>
                    <a:lnTo>
                      <a:pt x="89" y="22"/>
                    </a:lnTo>
                    <a:lnTo>
                      <a:pt x="76" y="22"/>
                    </a:lnTo>
                    <a:lnTo>
                      <a:pt x="65" y="22"/>
                    </a:lnTo>
                    <a:lnTo>
                      <a:pt x="54" y="22"/>
                    </a:lnTo>
                    <a:lnTo>
                      <a:pt x="40" y="22"/>
                    </a:lnTo>
                    <a:lnTo>
                      <a:pt x="29" y="22"/>
                    </a:lnTo>
                    <a:lnTo>
                      <a:pt x="18" y="22"/>
                    </a:lnTo>
                    <a:lnTo>
                      <a:pt x="7" y="22"/>
                    </a:lnTo>
                    <a:lnTo>
                      <a:pt x="0" y="16"/>
                    </a:lnTo>
                    <a:lnTo>
                      <a:pt x="3" y="11"/>
                    </a:lnTo>
                    <a:lnTo>
                      <a:pt x="12" y="7"/>
                    </a:lnTo>
                    <a:lnTo>
                      <a:pt x="25" y="7"/>
                    </a:lnTo>
                    <a:lnTo>
                      <a:pt x="40" y="5"/>
                    </a:lnTo>
                    <a:lnTo>
                      <a:pt x="56" y="7"/>
                    </a:lnTo>
                    <a:lnTo>
                      <a:pt x="69" y="7"/>
                    </a:lnTo>
                    <a:lnTo>
                      <a:pt x="80" y="7"/>
                    </a:lnTo>
                    <a:lnTo>
                      <a:pt x="102" y="7"/>
                    </a:lnTo>
                    <a:lnTo>
                      <a:pt x="122" y="7"/>
                    </a:lnTo>
                    <a:lnTo>
                      <a:pt x="145" y="7"/>
                    </a:lnTo>
                    <a:lnTo>
                      <a:pt x="167" y="7"/>
                    </a:lnTo>
                    <a:lnTo>
                      <a:pt x="187" y="7"/>
                    </a:lnTo>
                    <a:lnTo>
                      <a:pt x="209" y="7"/>
                    </a:lnTo>
                    <a:lnTo>
                      <a:pt x="229" y="7"/>
                    </a:lnTo>
                    <a:lnTo>
                      <a:pt x="251" y="7"/>
                    </a:lnTo>
                    <a:lnTo>
                      <a:pt x="264" y="7"/>
                    </a:lnTo>
                    <a:lnTo>
                      <a:pt x="280" y="7"/>
                    </a:lnTo>
                    <a:lnTo>
                      <a:pt x="295" y="5"/>
                    </a:lnTo>
                    <a:lnTo>
                      <a:pt x="311" y="5"/>
                    </a:lnTo>
                    <a:lnTo>
                      <a:pt x="326" y="2"/>
                    </a:lnTo>
                    <a:lnTo>
                      <a:pt x="344" y="2"/>
                    </a:lnTo>
                    <a:lnTo>
                      <a:pt x="360" y="0"/>
                    </a:lnTo>
                    <a:lnTo>
                      <a:pt x="379" y="0"/>
                    </a:lnTo>
                    <a:close/>
                  </a:path>
                </a:pathLst>
              </a:custGeom>
              <a:solidFill>
                <a:srgbClr val="FFFF85"/>
              </a:solidFill>
              <a:ln w="9525">
                <a:noFill/>
                <a:round/>
                <a:headEnd/>
                <a:tailEnd/>
              </a:ln>
            </p:spPr>
            <p:txBody>
              <a:bodyPr/>
              <a:lstStyle/>
              <a:p>
                <a:endParaRPr lang="en-US"/>
              </a:p>
            </p:txBody>
          </p:sp>
          <p:sp>
            <p:nvSpPr>
              <p:cNvPr id="157728" name="Freeform 30"/>
              <p:cNvSpPr>
                <a:spLocks/>
              </p:cNvSpPr>
              <p:nvPr/>
            </p:nvSpPr>
            <p:spPr bwMode="auto">
              <a:xfrm>
                <a:off x="2702" y="1172"/>
                <a:ext cx="410" cy="27"/>
              </a:xfrm>
              <a:custGeom>
                <a:avLst/>
                <a:gdLst>
                  <a:gd name="T0" fmla="*/ 390 w 410"/>
                  <a:gd name="T1" fmla="*/ 0 h 27"/>
                  <a:gd name="T2" fmla="*/ 397 w 410"/>
                  <a:gd name="T3" fmla="*/ 0 h 27"/>
                  <a:gd name="T4" fmla="*/ 404 w 410"/>
                  <a:gd name="T5" fmla="*/ 2 h 27"/>
                  <a:gd name="T6" fmla="*/ 406 w 410"/>
                  <a:gd name="T7" fmla="*/ 2 h 27"/>
                  <a:gd name="T8" fmla="*/ 410 w 410"/>
                  <a:gd name="T9" fmla="*/ 7 h 27"/>
                  <a:gd name="T10" fmla="*/ 408 w 410"/>
                  <a:gd name="T11" fmla="*/ 9 h 27"/>
                  <a:gd name="T12" fmla="*/ 404 w 410"/>
                  <a:gd name="T13" fmla="*/ 13 h 27"/>
                  <a:gd name="T14" fmla="*/ 397 w 410"/>
                  <a:gd name="T15" fmla="*/ 13 h 27"/>
                  <a:gd name="T16" fmla="*/ 386 w 410"/>
                  <a:gd name="T17" fmla="*/ 13 h 27"/>
                  <a:gd name="T18" fmla="*/ 375 w 410"/>
                  <a:gd name="T19" fmla="*/ 16 h 27"/>
                  <a:gd name="T20" fmla="*/ 364 w 410"/>
                  <a:gd name="T21" fmla="*/ 16 h 27"/>
                  <a:gd name="T22" fmla="*/ 351 w 410"/>
                  <a:gd name="T23" fmla="*/ 16 h 27"/>
                  <a:gd name="T24" fmla="*/ 339 w 410"/>
                  <a:gd name="T25" fmla="*/ 18 h 27"/>
                  <a:gd name="T26" fmla="*/ 328 w 410"/>
                  <a:gd name="T27" fmla="*/ 18 h 27"/>
                  <a:gd name="T28" fmla="*/ 322 w 410"/>
                  <a:gd name="T29" fmla="*/ 18 h 27"/>
                  <a:gd name="T30" fmla="*/ 286 w 410"/>
                  <a:gd name="T31" fmla="*/ 20 h 27"/>
                  <a:gd name="T32" fmla="*/ 251 w 410"/>
                  <a:gd name="T33" fmla="*/ 22 h 27"/>
                  <a:gd name="T34" fmla="*/ 213 w 410"/>
                  <a:gd name="T35" fmla="*/ 22 h 27"/>
                  <a:gd name="T36" fmla="*/ 175 w 410"/>
                  <a:gd name="T37" fmla="*/ 22 h 27"/>
                  <a:gd name="T38" fmla="*/ 140 w 410"/>
                  <a:gd name="T39" fmla="*/ 22 h 27"/>
                  <a:gd name="T40" fmla="*/ 102 w 410"/>
                  <a:gd name="T41" fmla="*/ 22 h 27"/>
                  <a:gd name="T42" fmla="*/ 65 w 410"/>
                  <a:gd name="T43" fmla="*/ 22 h 27"/>
                  <a:gd name="T44" fmla="*/ 31 w 410"/>
                  <a:gd name="T45" fmla="*/ 27 h 27"/>
                  <a:gd name="T46" fmla="*/ 25 w 410"/>
                  <a:gd name="T47" fmla="*/ 24 h 27"/>
                  <a:gd name="T48" fmla="*/ 18 w 410"/>
                  <a:gd name="T49" fmla="*/ 24 h 27"/>
                  <a:gd name="T50" fmla="*/ 14 w 410"/>
                  <a:gd name="T51" fmla="*/ 24 h 27"/>
                  <a:gd name="T52" fmla="*/ 9 w 410"/>
                  <a:gd name="T53" fmla="*/ 24 h 27"/>
                  <a:gd name="T54" fmla="*/ 3 w 410"/>
                  <a:gd name="T55" fmla="*/ 22 h 27"/>
                  <a:gd name="T56" fmla="*/ 0 w 410"/>
                  <a:gd name="T57" fmla="*/ 18 h 27"/>
                  <a:gd name="T58" fmla="*/ 0 w 410"/>
                  <a:gd name="T59" fmla="*/ 13 h 27"/>
                  <a:gd name="T60" fmla="*/ 11 w 410"/>
                  <a:gd name="T61" fmla="*/ 11 h 27"/>
                  <a:gd name="T62" fmla="*/ 31 w 410"/>
                  <a:gd name="T63" fmla="*/ 9 h 27"/>
                  <a:gd name="T64" fmla="*/ 58 w 410"/>
                  <a:gd name="T65" fmla="*/ 9 h 27"/>
                  <a:gd name="T66" fmla="*/ 85 w 410"/>
                  <a:gd name="T67" fmla="*/ 7 h 27"/>
                  <a:gd name="T68" fmla="*/ 111 w 410"/>
                  <a:gd name="T69" fmla="*/ 7 h 27"/>
                  <a:gd name="T70" fmla="*/ 138 w 410"/>
                  <a:gd name="T71" fmla="*/ 7 h 27"/>
                  <a:gd name="T72" fmla="*/ 158 w 410"/>
                  <a:gd name="T73" fmla="*/ 7 h 27"/>
                  <a:gd name="T74" fmla="*/ 187 w 410"/>
                  <a:gd name="T75" fmla="*/ 7 h 27"/>
                  <a:gd name="T76" fmla="*/ 218 w 410"/>
                  <a:gd name="T77" fmla="*/ 7 h 27"/>
                  <a:gd name="T78" fmla="*/ 246 w 410"/>
                  <a:gd name="T79" fmla="*/ 7 h 27"/>
                  <a:gd name="T80" fmla="*/ 277 w 410"/>
                  <a:gd name="T81" fmla="*/ 7 h 27"/>
                  <a:gd name="T82" fmla="*/ 306 w 410"/>
                  <a:gd name="T83" fmla="*/ 5 h 27"/>
                  <a:gd name="T84" fmla="*/ 335 w 410"/>
                  <a:gd name="T85" fmla="*/ 2 h 27"/>
                  <a:gd name="T86" fmla="*/ 362 w 410"/>
                  <a:gd name="T87" fmla="*/ 2 h 27"/>
                  <a:gd name="T88" fmla="*/ 390 w 410"/>
                  <a:gd name="T89" fmla="*/ 0 h 27"/>
                  <a:gd name="T90" fmla="*/ 390 w 410"/>
                  <a:gd name="T91" fmla="*/ 0 h 2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10"/>
                  <a:gd name="T139" fmla="*/ 0 h 27"/>
                  <a:gd name="T140" fmla="*/ 410 w 410"/>
                  <a:gd name="T141" fmla="*/ 27 h 2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10" h="27">
                    <a:moveTo>
                      <a:pt x="390" y="0"/>
                    </a:moveTo>
                    <a:lnTo>
                      <a:pt x="397" y="0"/>
                    </a:lnTo>
                    <a:lnTo>
                      <a:pt x="404" y="2"/>
                    </a:lnTo>
                    <a:lnTo>
                      <a:pt x="406" y="2"/>
                    </a:lnTo>
                    <a:lnTo>
                      <a:pt x="410" y="7"/>
                    </a:lnTo>
                    <a:lnTo>
                      <a:pt x="408" y="9"/>
                    </a:lnTo>
                    <a:lnTo>
                      <a:pt x="404" y="13"/>
                    </a:lnTo>
                    <a:lnTo>
                      <a:pt x="397" y="13"/>
                    </a:lnTo>
                    <a:lnTo>
                      <a:pt x="386" y="13"/>
                    </a:lnTo>
                    <a:lnTo>
                      <a:pt x="375" y="16"/>
                    </a:lnTo>
                    <a:lnTo>
                      <a:pt x="364" y="16"/>
                    </a:lnTo>
                    <a:lnTo>
                      <a:pt x="351" y="16"/>
                    </a:lnTo>
                    <a:lnTo>
                      <a:pt x="339" y="18"/>
                    </a:lnTo>
                    <a:lnTo>
                      <a:pt x="328" y="18"/>
                    </a:lnTo>
                    <a:lnTo>
                      <a:pt x="322" y="18"/>
                    </a:lnTo>
                    <a:lnTo>
                      <a:pt x="286" y="20"/>
                    </a:lnTo>
                    <a:lnTo>
                      <a:pt x="251" y="22"/>
                    </a:lnTo>
                    <a:lnTo>
                      <a:pt x="213" y="22"/>
                    </a:lnTo>
                    <a:lnTo>
                      <a:pt x="175" y="22"/>
                    </a:lnTo>
                    <a:lnTo>
                      <a:pt x="140" y="22"/>
                    </a:lnTo>
                    <a:lnTo>
                      <a:pt x="102" y="22"/>
                    </a:lnTo>
                    <a:lnTo>
                      <a:pt x="65" y="22"/>
                    </a:lnTo>
                    <a:lnTo>
                      <a:pt x="31" y="27"/>
                    </a:lnTo>
                    <a:lnTo>
                      <a:pt x="25" y="24"/>
                    </a:lnTo>
                    <a:lnTo>
                      <a:pt x="18" y="24"/>
                    </a:lnTo>
                    <a:lnTo>
                      <a:pt x="14" y="24"/>
                    </a:lnTo>
                    <a:lnTo>
                      <a:pt x="9" y="24"/>
                    </a:lnTo>
                    <a:lnTo>
                      <a:pt x="3" y="22"/>
                    </a:lnTo>
                    <a:lnTo>
                      <a:pt x="0" y="18"/>
                    </a:lnTo>
                    <a:lnTo>
                      <a:pt x="0" y="13"/>
                    </a:lnTo>
                    <a:lnTo>
                      <a:pt x="11" y="11"/>
                    </a:lnTo>
                    <a:lnTo>
                      <a:pt x="31" y="9"/>
                    </a:lnTo>
                    <a:lnTo>
                      <a:pt x="58" y="9"/>
                    </a:lnTo>
                    <a:lnTo>
                      <a:pt x="85" y="7"/>
                    </a:lnTo>
                    <a:lnTo>
                      <a:pt x="111" y="7"/>
                    </a:lnTo>
                    <a:lnTo>
                      <a:pt x="138" y="7"/>
                    </a:lnTo>
                    <a:lnTo>
                      <a:pt x="158" y="7"/>
                    </a:lnTo>
                    <a:lnTo>
                      <a:pt x="187" y="7"/>
                    </a:lnTo>
                    <a:lnTo>
                      <a:pt x="218" y="7"/>
                    </a:lnTo>
                    <a:lnTo>
                      <a:pt x="246" y="7"/>
                    </a:lnTo>
                    <a:lnTo>
                      <a:pt x="277" y="7"/>
                    </a:lnTo>
                    <a:lnTo>
                      <a:pt x="306" y="5"/>
                    </a:lnTo>
                    <a:lnTo>
                      <a:pt x="335" y="2"/>
                    </a:lnTo>
                    <a:lnTo>
                      <a:pt x="362" y="2"/>
                    </a:lnTo>
                    <a:lnTo>
                      <a:pt x="390" y="0"/>
                    </a:lnTo>
                    <a:close/>
                  </a:path>
                </a:pathLst>
              </a:custGeom>
              <a:solidFill>
                <a:srgbClr val="FFFF85"/>
              </a:solidFill>
              <a:ln w="9525">
                <a:noFill/>
                <a:round/>
                <a:headEnd/>
                <a:tailEnd/>
              </a:ln>
            </p:spPr>
            <p:txBody>
              <a:bodyPr/>
              <a:lstStyle/>
              <a:p>
                <a:endParaRPr lang="en-US"/>
              </a:p>
            </p:txBody>
          </p:sp>
          <p:sp>
            <p:nvSpPr>
              <p:cNvPr id="157729" name="Freeform 31"/>
              <p:cNvSpPr>
                <a:spLocks/>
              </p:cNvSpPr>
              <p:nvPr/>
            </p:nvSpPr>
            <p:spPr bwMode="auto">
              <a:xfrm>
                <a:off x="2791" y="826"/>
                <a:ext cx="242" cy="23"/>
              </a:xfrm>
              <a:custGeom>
                <a:avLst/>
                <a:gdLst>
                  <a:gd name="T0" fmla="*/ 188 w 242"/>
                  <a:gd name="T1" fmla="*/ 0 h 23"/>
                  <a:gd name="T2" fmla="*/ 193 w 242"/>
                  <a:gd name="T3" fmla="*/ 0 h 23"/>
                  <a:gd name="T4" fmla="*/ 199 w 242"/>
                  <a:gd name="T5" fmla="*/ 0 h 23"/>
                  <a:gd name="T6" fmla="*/ 206 w 242"/>
                  <a:gd name="T7" fmla="*/ 0 h 23"/>
                  <a:gd name="T8" fmla="*/ 213 w 242"/>
                  <a:gd name="T9" fmla="*/ 0 h 23"/>
                  <a:gd name="T10" fmla="*/ 219 w 242"/>
                  <a:gd name="T11" fmla="*/ 0 h 23"/>
                  <a:gd name="T12" fmla="*/ 226 w 242"/>
                  <a:gd name="T13" fmla="*/ 0 h 23"/>
                  <a:gd name="T14" fmla="*/ 233 w 242"/>
                  <a:gd name="T15" fmla="*/ 0 h 23"/>
                  <a:gd name="T16" fmla="*/ 239 w 242"/>
                  <a:gd name="T17" fmla="*/ 0 h 23"/>
                  <a:gd name="T18" fmla="*/ 242 w 242"/>
                  <a:gd name="T19" fmla="*/ 5 h 23"/>
                  <a:gd name="T20" fmla="*/ 239 w 242"/>
                  <a:gd name="T21" fmla="*/ 12 h 23"/>
                  <a:gd name="T22" fmla="*/ 230 w 242"/>
                  <a:gd name="T23" fmla="*/ 14 h 23"/>
                  <a:gd name="T24" fmla="*/ 219 w 242"/>
                  <a:gd name="T25" fmla="*/ 16 h 23"/>
                  <a:gd name="T26" fmla="*/ 208 w 242"/>
                  <a:gd name="T27" fmla="*/ 16 h 23"/>
                  <a:gd name="T28" fmla="*/ 197 w 242"/>
                  <a:gd name="T29" fmla="*/ 18 h 23"/>
                  <a:gd name="T30" fmla="*/ 186 w 242"/>
                  <a:gd name="T31" fmla="*/ 18 h 23"/>
                  <a:gd name="T32" fmla="*/ 175 w 242"/>
                  <a:gd name="T33" fmla="*/ 18 h 23"/>
                  <a:gd name="T34" fmla="*/ 162 w 242"/>
                  <a:gd name="T35" fmla="*/ 18 h 23"/>
                  <a:gd name="T36" fmla="*/ 153 w 242"/>
                  <a:gd name="T37" fmla="*/ 18 h 23"/>
                  <a:gd name="T38" fmla="*/ 135 w 242"/>
                  <a:gd name="T39" fmla="*/ 18 h 23"/>
                  <a:gd name="T40" fmla="*/ 117 w 242"/>
                  <a:gd name="T41" fmla="*/ 18 h 23"/>
                  <a:gd name="T42" fmla="*/ 100 w 242"/>
                  <a:gd name="T43" fmla="*/ 18 h 23"/>
                  <a:gd name="T44" fmla="*/ 82 w 242"/>
                  <a:gd name="T45" fmla="*/ 20 h 23"/>
                  <a:gd name="T46" fmla="*/ 62 w 242"/>
                  <a:gd name="T47" fmla="*/ 20 h 23"/>
                  <a:gd name="T48" fmla="*/ 44 w 242"/>
                  <a:gd name="T49" fmla="*/ 20 h 23"/>
                  <a:gd name="T50" fmla="*/ 24 w 242"/>
                  <a:gd name="T51" fmla="*/ 20 h 23"/>
                  <a:gd name="T52" fmla="*/ 9 w 242"/>
                  <a:gd name="T53" fmla="*/ 23 h 23"/>
                  <a:gd name="T54" fmla="*/ 2 w 242"/>
                  <a:gd name="T55" fmla="*/ 18 h 23"/>
                  <a:gd name="T56" fmla="*/ 0 w 242"/>
                  <a:gd name="T57" fmla="*/ 16 h 23"/>
                  <a:gd name="T58" fmla="*/ 0 w 242"/>
                  <a:gd name="T59" fmla="*/ 14 h 23"/>
                  <a:gd name="T60" fmla="*/ 4 w 242"/>
                  <a:gd name="T61" fmla="*/ 9 h 23"/>
                  <a:gd name="T62" fmla="*/ 15 w 242"/>
                  <a:gd name="T63" fmla="*/ 9 h 23"/>
                  <a:gd name="T64" fmla="*/ 27 w 242"/>
                  <a:gd name="T65" fmla="*/ 7 h 23"/>
                  <a:gd name="T66" fmla="*/ 38 w 242"/>
                  <a:gd name="T67" fmla="*/ 7 h 23"/>
                  <a:gd name="T68" fmla="*/ 51 w 242"/>
                  <a:gd name="T69" fmla="*/ 7 h 23"/>
                  <a:gd name="T70" fmla="*/ 60 w 242"/>
                  <a:gd name="T71" fmla="*/ 7 h 23"/>
                  <a:gd name="T72" fmla="*/ 71 w 242"/>
                  <a:gd name="T73" fmla="*/ 7 h 23"/>
                  <a:gd name="T74" fmla="*/ 84 w 242"/>
                  <a:gd name="T75" fmla="*/ 7 h 23"/>
                  <a:gd name="T76" fmla="*/ 95 w 242"/>
                  <a:gd name="T77" fmla="*/ 7 h 23"/>
                  <a:gd name="T78" fmla="*/ 104 w 242"/>
                  <a:gd name="T79" fmla="*/ 5 h 23"/>
                  <a:gd name="T80" fmla="*/ 117 w 242"/>
                  <a:gd name="T81" fmla="*/ 5 h 23"/>
                  <a:gd name="T82" fmla="*/ 129 w 242"/>
                  <a:gd name="T83" fmla="*/ 3 h 23"/>
                  <a:gd name="T84" fmla="*/ 140 w 242"/>
                  <a:gd name="T85" fmla="*/ 3 h 23"/>
                  <a:gd name="T86" fmla="*/ 153 w 242"/>
                  <a:gd name="T87" fmla="*/ 3 h 23"/>
                  <a:gd name="T88" fmla="*/ 164 w 242"/>
                  <a:gd name="T89" fmla="*/ 0 h 23"/>
                  <a:gd name="T90" fmla="*/ 177 w 242"/>
                  <a:gd name="T91" fmla="*/ 0 h 23"/>
                  <a:gd name="T92" fmla="*/ 188 w 242"/>
                  <a:gd name="T93" fmla="*/ 0 h 23"/>
                  <a:gd name="T94" fmla="*/ 188 w 242"/>
                  <a:gd name="T95" fmla="*/ 0 h 23"/>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w 242"/>
                  <a:gd name="T145" fmla="*/ 0 h 23"/>
                  <a:gd name="T146" fmla="*/ 242 w 242"/>
                  <a:gd name="T147" fmla="*/ 23 h 23"/>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T144" t="T145" r="T146" b="T147"/>
                <a:pathLst>
                  <a:path w="242" h="23">
                    <a:moveTo>
                      <a:pt x="188" y="0"/>
                    </a:moveTo>
                    <a:lnTo>
                      <a:pt x="193" y="0"/>
                    </a:lnTo>
                    <a:lnTo>
                      <a:pt x="199" y="0"/>
                    </a:lnTo>
                    <a:lnTo>
                      <a:pt x="206" y="0"/>
                    </a:lnTo>
                    <a:lnTo>
                      <a:pt x="213" y="0"/>
                    </a:lnTo>
                    <a:lnTo>
                      <a:pt x="219" y="0"/>
                    </a:lnTo>
                    <a:lnTo>
                      <a:pt x="226" y="0"/>
                    </a:lnTo>
                    <a:lnTo>
                      <a:pt x="233" y="0"/>
                    </a:lnTo>
                    <a:lnTo>
                      <a:pt x="239" y="0"/>
                    </a:lnTo>
                    <a:lnTo>
                      <a:pt x="242" y="5"/>
                    </a:lnTo>
                    <a:lnTo>
                      <a:pt x="239" y="12"/>
                    </a:lnTo>
                    <a:lnTo>
                      <a:pt x="230" y="14"/>
                    </a:lnTo>
                    <a:lnTo>
                      <a:pt x="219" y="16"/>
                    </a:lnTo>
                    <a:lnTo>
                      <a:pt x="208" y="16"/>
                    </a:lnTo>
                    <a:lnTo>
                      <a:pt x="197" y="18"/>
                    </a:lnTo>
                    <a:lnTo>
                      <a:pt x="186" y="18"/>
                    </a:lnTo>
                    <a:lnTo>
                      <a:pt x="175" y="18"/>
                    </a:lnTo>
                    <a:lnTo>
                      <a:pt x="162" y="18"/>
                    </a:lnTo>
                    <a:lnTo>
                      <a:pt x="153" y="18"/>
                    </a:lnTo>
                    <a:lnTo>
                      <a:pt x="135" y="18"/>
                    </a:lnTo>
                    <a:lnTo>
                      <a:pt x="117" y="18"/>
                    </a:lnTo>
                    <a:lnTo>
                      <a:pt x="100" y="18"/>
                    </a:lnTo>
                    <a:lnTo>
                      <a:pt x="82" y="20"/>
                    </a:lnTo>
                    <a:lnTo>
                      <a:pt x="62" y="20"/>
                    </a:lnTo>
                    <a:lnTo>
                      <a:pt x="44" y="20"/>
                    </a:lnTo>
                    <a:lnTo>
                      <a:pt x="24" y="20"/>
                    </a:lnTo>
                    <a:lnTo>
                      <a:pt x="9" y="23"/>
                    </a:lnTo>
                    <a:lnTo>
                      <a:pt x="2" y="18"/>
                    </a:lnTo>
                    <a:lnTo>
                      <a:pt x="0" y="16"/>
                    </a:lnTo>
                    <a:lnTo>
                      <a:pt x="0" y="14"/>
                    </a:lnTo>
                    <a:lnTo>
                      <a:pt x="4" y="9"/>
                    </a:lnTo>
                    <a:lnTo>
                      <a:pt x="15" y="9"/>
                    </a:lnTo>
                    <a:lnTo>
                      <a:pt x="27" y="7"/>
                    </a:lnTo>
                    <a:lnTo>
                      <a:pt x="38" y="7"/>
                    </a:lnTo>
                    <a:lnTo>
                      <a:pt x="51" y="7"/>
                    </a:lnTo>
                    <a:lnTo>
                      <a:pt x="60" y="7"/>
                    </a:lnTo>
                    <a:lnTo>
                      <a:pt x="71" y="7"/>
                    </a:lnTo>
                    <a:lnTo>
                      <a:pt x="84" y="7"/>
                    </a:lnTo>
                    <a:lnTo>
                      <a:pt x="95" y="7"/>
                    </a:lnTo>
                    <a:lnTo>
                      <a:pt x="104" y="5"/>
                    </a:lnTo>
                    <a:lnTo>
                      <a:pt x="117" y="5"/>
                    </a:lnTo>
                    <a:lnTo>
                      <a:pt x="129" y="3"/>
                    </a:lnTo>
                    <a:lnTo>
                      <a:pt x="140" y="3"/>
                    </a:lnTo>
                    <a:lnTo>
                      <a:pt x="153" y="3"/>
                    </a:lnTo>
                    <a:lnTo>
                      <a:pt x="164" y="0"/>
                    </a:lnTo>
                    <a:lnTo>
                      <a:pt x="177" y="0"/>
                    </a:lnTo>
                    <a:lnTo>
                      <a:pt x="188" y="0"/>
                    </a:lnTo>
                    <a:close/>
                  </a:path>
                </a:pathLst>
              </a:custGeom>
              <a:solidFill>
                <a:srgbClr val="FFFF85"/>
              </a:solidFill>
              <a:ln w="9525">
                <a:noFill/>
                <a:round/>
                <a:headEnd/>
                <a:tailEnd/>
              </a:ln>
            </p:spPr>
            <p:txBody>
              <a:bodyPr/>
              <a:lstStyle/>
              <a:p>
                <a:endParaRPr lang="en-US"/>
              </a:p>
            </p:txBody>
          </p:sp>
          <p:sp>
            <p:nvSpPr>
              <p:cNvPr id="157730" name="Freeform 32"/>
              <p:cNvSpPr>
                <a:spLocks/>
              </p:cNvSpPr>
              <p:nvPr/>
            </p:nvSpPr>
            <p:spPr bwMode="auto">
              <a:xfrm>
                <a:off x="2787" y="988"/>
                <a:ext cx="308" cy="25"/>
              </a:xfrm>
              <a:custGeom>
                <a:avLst/>
                <a:gdLst>
                  <a:gd name="T0" fmla="*/ 254 w 308"/>
                  <a:gd name="T1" fmla="*/ 0 h 25"/>
                  <a:gd name="T2" fmla="*/ 257 w 308"/>
                  <a:gd name="T3" fmla="*/ 0 h 25"/>
                  <a:gd name="T4" fmla="*/ 263 w 308"/>
                  <a:gd name="T5" fmla="*/ 0 h 25"/>
                  <a:gd name="T6" fmla="*/ 270 w 308"/>
                  <a:gd name="T7" fmla="*/ 0 h 25"/>
                  <a:gd name="T8" fmla="*/ 279 w 308"/>
                  <a:gd name="T9" fmla="*/ 0 h 25"/>
                  <a:gd name="T10" fmla="*/ 288 w 308"/>
                  <a:gd name="T11" fmla="*/ 0 h 25"/>
                  <a:gd name="T12" fmla="*/ 297 w 308"/>
                  <a:gd name="T13" fmla="*/ 0 h 25"/>
                  <a:gd name="T14" fmla="*/ 303 w 308"/>
                  <a:gd name="T15" fmla="*/ 0 h 25"/>
                  <a:gd name="T16" fmla="*/ 308 w 308"/>
                  <a:gd name="T17" fmla="*/ 2 h 25"/>
                  <a:gd name="T18" fmla="*/ 308 w 308"/>
                  <a:gd name="T19" fmla="*/ 7 h 25"/>
                  <a:gd name="T20" fmla="*/ 303 w 308"/>
                  <a:gd name="T21" fmla="*/ 9 h 25"/>
                  <a:gd name="T22" fmla="*/ 299 w 308"/>
                  <a:gd name="T23" fmla="*/ 11 h 25"/>
                  <a:gd name="T24" fmla="*/ 292 w 308"/>
                  <a:gd name="T25" fmla="*/ 11 h 25"/>
                  <a:gd name="T26" fmla="*/ 288 w 308"/>
                  <a:gd name="T27" fmla="*/ 11 h 25"/>
                  <a:gd name="T28" fmla="*/ 281 w 308"/>
                  <a:gd name="T29" fmla="*/ 14 h 25"/>
                  <a:gd name="T30" fmla="*/ 252 w 308"/>
                  <a:gd name="T31" fmla="*/ 14 h 25"/>
                  <a:gd name="T32" fmla="*/ 219 w 308"/>
                  <a:gd name="T33" fmla="*/ 16 h 25"/>
                  <a:gd name="T34" fmla="*/ 186 w 308"/>
                  <a:gd name="T35" fmla="*/ 16 h 25"/>
                  <a:gd name="T36" fmla="*/ 152 w 308"/>
                  <a:gd name="T37" fmla="*/ 20 h 25"/>
                  <a:gd name="T38" fmla="*/ 117 w 308"/>
                  <a:gd name="T39" fmla="*/ 20 h 25"/>
                  <a:gd name="T40" fmla="*/ 84 w 308"/>
                  <a:gd name="T41" fmla="*/ 20 h 25"/>
                  <a:gd name="T42" fmla="*/ 53 w 308"/>
                  <a:gd name="T43" fmla="*/ 22 h 25"/>
                  <a:gd name="T44" fmla="*/ 24 w 308"/>
                  <a:gd name="T45" fmla="*/ 25 h 25"/>
                  <a:gd name="T46" fmla="*/ 13 w 308"/>
                  <a:gd name="T47" fmla="*/ 22 h 25"/>
                  <a:gd name="T48" fmla="*/ 6 w 308"/>
                  <a:gd name="T49" fmla="*/ 20 h 25"/>
                  <a:gd name="T50" fmla="*/ 2 w 308"/>
                  <a:gd name="T51" fmla="*/ 20 h 25"/>
                  <a:gd name="T52" fmla="*/ 0 w 308"/>
                  <a:gd name="T53" fmla="*/ 20 h 25"/>
                  <a:gd name="T54" fmla="*/ 2 w 308"/>
                  <a:gd name="T55" fmla="*/ 16 h 25"/>
                  <a:gd name="T56" fmla="*/ 8 w 308"/>
                  <a:gd name="T57" fmla="*/ 14 h 25"/>
                  <a:gd name="T58" fmla="*/ 35 w 308"/>
                  <a:gd name="T59" fmla="*/ 9 h 25"/>
                  <a:gd name="T60" fmla="*/ 66 w 308"/>
                  <a:gd name="T61" fmla="*/ 9 h 25"/>
                  <a:gd name="T62" fmla="*/ 99 w 308"/>
                  <a:gd name="T63" fmla="*/ 9 h 25"/>
                  <a:gd name="T64" fmla="*/ 133 w 308"/>
                  <a:gd name="T65" fmla="*/ 7 h 25"/>
                  <a:gd name="T66" fmla="*/ 166 w 308"/>
                  <a:gd name="T67" fmla="*/ 5 h 25"/>
                  <a:gd name="T68" fmla="*/ 197 w 308"/>
                  <a:gd name="T69" fmla="*/ 5 h 25"/>
                  <a:gd name="T70" fmla="*/ 228 w 308"/>
                  <a:gd name="T71" fmla="*/ 2 h 25"/>
                  <a:gd name="T72" fmla="*/ 254 w 308"/>
                  <a:gd name="T73" fmla="*/ 0 h 25"/>
                  <a:gd name="T74" fmla="*/ 254 w 308"/>
                  <a:gd name="T75" fmla="*/ 0 h 25"/>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w 308"/>
                  <a:gd name="T115" fmla="*/ 0 h 25"/>
                  <a:gd name="T116" fmla="*/ 308 w 308"/>
                  <a:gd name="T117" fmla="*/ 25 h 25"/>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T114" t="T115" r="T116" b="T117"/>
                <a:pathLst>
                  <a:path w="308" h="25">
                    <a:moveTo>
                      <a:pt x="254" y="0"/>
                    </a:moveTo>
                    <a:lnTo>
                      <a:pt x="257" y="0"/>
                    </a:lnTo>
                    <a:lnTo>
                      <a:pt x="263" y="0"/>
                    </a:lnTo>
                    <a:lnTo>
                      <a:pt x="270" y="0"/>
                    </a:lnTo>
                    <a:lnTo>
                      <a:pt x="279" y="0"/>
                    </a:lnTo>
                    <a:lnTo>
                      <a:pt x="288" y="0"/>
                    </a:lnTo>
                    <a:lnTo>
                      <a:pt x="297" y="0"/>
                    </a:lnTo>
                    <a:lnTo>
                      <a:pt x="303" y="0"/>
                    </a:lnTo>
                    <a:lnTo>
                      <a:pt x="308" y="2"/>
                    </a:lnTo>
                    <a:lnTo>
                      <a:pt x="308" y="7"/>
                    </a:lnTo>
                    <a:lnTo>
                      <a:pt x="303" y="9"/>
                    </a:lnTo>
                    <a:lnTo>
                      <a:pt x="299" y="11"/>
                    </a:lnTo>
                    <a:lnTo>
                      <a:pt x="292" y="11"/>
                    </a:lnTo>
                    <a:lnTo>
                      <a:pt x="288" y="11"/>
                    </a:lnTo>
                    <a:lnTo>
                      <a:pt x="281" y="14"/>
                    </a:lnTo>
                    <a:lnTo>
                      <a:pt x="252" y="14"/>
                    </a:lnTo>
                    <a:lnTo>
                      <a:pt x="219" y="16"/>
                    </a:lnTo>
                    <a:lnTo>
                      <a:pt x="186" y="16"/>
                    </a:lnTo>
                    <a:lnTo>
                      <a:pt x="152" y="20"/>
                    </a:lnTo>
                    <a:lnTo>
                      <a:pt x="117" y="20"/>
                    </a:lnTo>
                    <a:lnTo>
                      <a:pt x="84" y="20"/>
                    </a:lnTo>
                    <a:lnTo>
                      <a:pt x="53" y="22"/>
                    </a:lnTo>
                    <a:lnTo>
                      <a:pt x="24" y="25"/>
                    </a:lnTo>
                    <a:lnTo>
                      <a:pt x="13" y="22"/>
                    </a:lnTo>
                    <a:lnTo>
                      <a:pt x="6" y="20"/>
                    </a:lnTo>
                    <a:lnTo>
                      <a:pt x="2" y="20"/>
                    </a:lnTo>
                    <a:lnTo>
                      <a:pt x="0" y="20"/>
                    </a:lnTo>
                    <a:lnTo>
                      <a:pt x="2" y="16"/>
                    </a:lnTo>
                    <a:lnTo>
                      <a:pt x="8" y="14"/>
                    </a:lnTo>
                    <a:lnTo>
                      <a:pt x="35" y="9"/>
                    </a:lnTo>
                    <a:lnTo>
                      <a:pt x="66" y="9"/>
                    </a:lnTo>
                    <a:lnTo>
                      <a:pt x="99" y="9"/>
                    </a:lnTo>
                    <a:lnTo>
                      <a:pt x="133" y="7"/>
                    </a:lnTo>
                    <a:lnTo>
                      <a:pt x="166" y="5"/>
                    </a:lnTo>
                    <a:lnTo>
                      <a:pt x="197" y="5"/>
                    </a:lnTo>
                    <a:lnTo>
                      <a:pt x="228" y="2"/>
                    </a:lnTo>
                    <a:lnTo>
                      <a:pt x="254" y="0"/>
                    </a:lnTo>
                    <a:close/>
                  </a:path>
                </a:pathLst>
              </a:custGeom>
              <a:solidFill>
                <a:srgbClr val="FFFF85"/>
              </a:solidFill>
              <a:ln w="9525">
                <a:noFill/>
                <a:round/>
                <a:headEnd/>
                <a:tailEnd/>
              </a:ln>
            </p:spPr>
            <p:txBody>
              <a:bodyPr/>
              <a:lstStyle/>
              <a:p>
                <a:endParaRPr lang="en-US"/>
              </a:p>
            </p:txBody>
          </p:sp>
          <p:sp>
            <p:nvSpPr>
              <p:cNvPr id="157731" name="Freeform 33"/>
              <p:cNvSpPr>
                <a:spLocks/>
              </p:cNvSpPr>
              <p:nvPr/>
            </p:nvSpPr>
            <p:spPr bwMode="auto">
              <a:xfrm>
                <a:off x="2762" y="882"/>
                <a:ext cx="310" cy="24"/>
              </a:xfrm>
              <a:custGeom>
                <a:avLst/>
                <a:gdLst>
                  <a:gd name="T0" fmla="*/ 255 w 310"/>
                  <a:gd name="T1" fmla="*/ 2 h 24"/>
                  <a:gd name="T2" fmla="*/ 257 w 310"/>
                  <a:gd name="T3" fmla="*/ 2 h 24"/>
                  <a:gd name="T4" fmla="*/ 264 w 310"/>
                  <a:gd name="T5" fmla="*/ 2 h 24"/>
                  <a:gd name="T6" fmla="*/ 271 w 310"/>
                  <a:gd name="T7" fmla="*/ 0 h 24"/>
                  <a:gd name="T8" fmla="*/ 279 w 310"/>
                  <a:gd name="T9" fmla="*/ 0 h 24"/>
                  <a:gd name="T10" fmla="*/ 288 w 310"/>
                  <a:gd name="T11" fmla="*/ 0 h 24"/>
                  <a:gd name="T12" fmla="*/ 297 w 310"/>
                  <a:gd name="T13" fmla="*/ 0 h 24"/>
                  <a:gd name="T14" fmla="*/ 304 w 310"/>
                  <a:gd name="T15" fmla="*/ 2 h 24"/>
                  <a:gd name="T16" fmla="*/ 308 w 310"/>
                  <a:gd name="T17" fmla="*/ 4 h 24"/>
                  <a:gd name="T18" fmla="*/ 310 w 310"/>
                  <a:gd name="T19" fmla="*/ 6 h 24"/>
                  <a:gd name="T20" fmla="*/ 304 w 310"/>
                  <a:gd name="T21" fmla="*/ 11 h 24"/>
                  <a:gd name="T22" fmla="*/ 299 w 310"/>
                  <a:gd name="T23" fmla="*/ 11 h 24"/>
                  <a:gd name="T24" fmla="*/ 293 w 310"/>
                  <a:gd name="T25" fmla="*/ 13 h 24"/>
                  <a:gd name="T26" fmla="*/ 288 w 310"/>
                  <a:gd name="T27" fmla="*/ 13 h 24"/>
                  <a:gd name="T28" fmla="*/ 282 w 310"/>
                  <a:gd name="T29" fmla="*/ 13 h 24"/>
                  <a:gd name="T30" fmla="*/ 253 w 310"/>
                  <a:gd name="T31" fmla="*/ 15 h 24"/>
                  <a:gd name="T32" fmla="*/ 222 w 310"/>
                  <a:gd name="T33" fmla="*/ 18 h 24"/>
                  <a:gd name="T34" fmla="*/ 186 w 310"/>
                  <a:gd name="T35" fmla="*/ 18 h 24"/>
                  <a:gd name="T36" fmla="*/ 153 w 310"/>
                  <a:gd name="T37" fmla="*/ 20 h 24"/>
                  <a:gd name="T38" fmla="*/ 120 w 310"/>
                  <a:gd name="T39" fmla="*/ 22 h 24"/>
                  <a:gd name="T40" fmla="*/ 87 w 310"/>
                  <a:gd name="T41" fmla="*/ 22 h 24"/>
                  <a:gd name="T42" fmla="*/ 53 w 310"/>
                  <a:gd name="T43" fmla="*/ 24 h 24"/>
                  <a:gd name="T44" fmla="*/ 27 w 310"/>
                  <a:gd name="T45" fmla="*/ 24 h 24"/>
                  <a:gd name="T46" fmla="*/ 16 w 310"/>
                  <a:gd name="T47" fmla="*/ 24 h 24"/>
                  <a:gd name="T48" fmla="*/ 9 w 310"/>
                  <a:gd name="T49" fmla="*/ 22 h 24"/>
                  <a:gd name="T50" fmla="*/ 5 w 310"/>
                  <a:gd name="T51" fmla="*/ 22 h 24"/>
                  <a:gd name="T52" fmla="*/ 2 w 310"/>
                  <a:gd name="T53" fmla="*/ 20 h 24"/>
                  <a:gd name="T54" fmla="*/ 0 w 310"/>
                  <a:gd name="T55" fmla="*/ 18 h 24"/>
                  <a:gd name="T56" fmla="*/ 2 w 310"/>
                  <a:gd name="T57" fmla="*/ 18 h 24"/>
                  <a:gd name="T58" fmla="*/ 5 w 310"/>
                  <a:gd name="T59" fmla="*/ 15 h 24"/>
                  <a:gd name="T60" fmla="*/ 9 w 310"/>
                  <a:gd name="T61" fmla="*/ 13 h 24"/>
                  <a:gd name="T62" fmla="*/ 36 w 310"/>
                  <a:gd name="T63" fmla="*/ 11 h 24"/>
                  <a:gd name="T64" fmla="*/ 67 w 310"/>
                  <a:gd name="T65" fmla="*/ 11 h 24"/>
                  <a:gd name="T66" fmla="*/ 100 w 310"/>
                  <a:gd name="T67" fmla="*/ 9 h 24"/>
                  <a:gd name="T68" fmla="*/ 133 w 310"/>
                  <a:gd name="T69" fmla="*/ 9 h 24"/>
                  <a:gd name="T70" fmla="*/ 166 w 310"/>
                  <a:gd name="T71" fmla="*/ 6 h 24"/>
                  <a:gd name="T72" fmla="*/ 200 w 310"/>
                  <a:gd name="T73" fmla="*/ 6 h 24"/>
                  <a:gd name="T74" fmla="*/ 228 w 310"/>
                  <a:gd name="T75" fmla="*/ 4 h 24"/>
                  <a:gd name="T76" fmla="*/ 255 w 310"/>
                  <a:gd name="T77" fmla="*/ 2 h 24"/>
                  <a:gd name="T78" fmla="*/ 255 w 310"/>
                  <a:gd name="T79" fmla="*/ 2 h 24"/>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w 310"/>
                  <a:gd name="T121" fmla="*/ 0 h 24"/>
                  <a:gd name="T122" fmla="*/ 310 w 310"/>
                  <a:gd name="T123" fmla="*/ 24 h 24"/>
                </a:gdLst>
                <a:ahLst/>
                <a:cxnLst>
                  <a:cxn ang="T80">
                    <a:pos x="T0" y="T1"/>
                  </a:cxn>
                  <a:cxn ang="T81">
                    <a:pos x="T2" y="T3"/>
                  </a:cxn>
                  <a:cxn ang="T82">
                    <a:pos x="T4" y="T5"/>
                  </a:cxn>
                  <a:cxn ang="T83">
                    <a:pos x="T6" y="T7"/>
                  </a:cxn>
                  <a:cxn ang="T84">
                    <a:pos x="T8" y="T9"/>
                  </a:cxn>
                  <a:cxn ang="T85">
                    <a:pos x="T10" y="T11"/>
                  </a:cxn>
                  <a:cxn ang="T86">
                    <a:pos x="T12" y="T13"/>
                  </a:cxn>
                  <a:cxn ang="T87">
                    <a:pos x="T14" y="T15"/>
                  </a:cxn>
                  <a:cxn ang="T88">
                    <a:pos x="T16" y="T17"/>
                  </a:cxn>
                  <a:cxn ang="T89">
                    <a:pos x="T18" y="T19"/>
                  </a:cxn>
                  <a:cxn ang="T90">
                    <a:pos x="T20" y="T21"/>
                  </a:cxn>
                  <a:cxn ang="T91">
                    <a:pos x="T22" y="T23"/>
                  </a:cxn>
                  <a:cxn ang="T92">
                    <a:pos x="T24" y="T25"/>
                  </a:cxn>
                  <a:cxn ang="T93">
                    <a:pos x="T26" y="T27"/>
                  </a:cxn>
                  <a:cxn ang="T94">
                    <a:pos x="T28" y="T29"/>
                  </a:cxn>
                  <a:cxn ang="T95">
                    <a:pos x="T30" y="T31"/>
                  </a:cxn>
                  <a:cxn ang="T96">
                    <a:pos x="T32" y="T33"/>
                  </a:cxn>
                  <a:cxn ang="T97">
                    <a:pos x="T34" y="T35"/>
                  </a:cxn>
                  <a:cxn ang="T98">
                    <a:pos x="T36" y="T37"/>
                  </a:cxn>
                  <a:cxn ang="T99">
                    <a:pos x="T38" y="T39"/>
                  </a:cxn>
                  <a:cxn ang="T100">
                    <a:pos x="T40" y="T41"/>
                  </a:cxn>
                  <a:cxn ang="T101">
                    <a:pos x="T42" y="T43"/>
                  </a:cxn>
                  <a:cxn ang="T102">
                    <a:pos x="T44" y="T45"/>
                  </a:cxn>
                  <a:cxn ang="T103">
                    <a:pos x="T46" y="T47"/>
                  </a:cxn>
                  <a:cxn ang="T104">
                    <a:pos x="T48" y="T49"/>
                  </a:cxn>
                  <a:cxn ang="T105">
                    <a:pos x="T50" y="T51"/>
                  </a:cxn>
                  <a:cxn ang="T106">
                    <a:pos x="T52" y="T53"/>
                  </a:cxn>
                  <a:cxn ang="T107">
                    <a:pos x="T54" y="T55"/>
                  </a:cxn>
                  <a:cxn ang="T108">
                    <a:pos x="T56" y="T57"/>
                  </a:cxn>
                  <a:cxn ang="T109">
                    <a:pos x="T58" y="T59"/>
                  </a:cxn>
                  <a:cxn ang="T110">
                    <a:pos x="T60" y="T61"/>
                  </a:cxn>
                  <a:cxn ang="T111">
                    <a:pos x="T62" y="T63"/>
                  </a:cxn>
                  <a:cxn ang="T112">
                    <a:pos x="T64" y="T65"/>
                  </a:cxn>
                  <a:cxn ang="T113">
                    <a:pos x="T66" y="T67"/>
                  </a:cxn>
                  <a:cxn ang="T114">
                    <a:pos x="T68" y="T69"/>
                  </a:cxn>
                  <a:cxn ang="T115">
                    <a:pos x="T70" y="T71"/>
                  </a:cxn>
                  <a:cxn ang="T116">
                    <a:pos x="T72" y="T73"/>
                  </a:cxn>
                  <a:cxn ang="T117">
                    <a:pos x="T74" y="T75"/>
                  </a:cxn>
                  <a:cxn ang="T118">
                    <a:pos x="T76" y="T77"/>
                  </a:cxn>
                  <a:cxn ang="T119">
                    <a:pos x="T78" y="T79"/>
                  </a:cxn>
                </a:cxnLst>
                <a:rect l="T120" t="T121" r="T122" b="T123"/>
                <a:pathLst>
                  <a:path w="310" h="24">
                    <a:moveTo>
                      <a:pt x="255" y="2"/>
                    </a:moveTo>
                    <a:lnTo>
                      <a:pt x="257" y="2"/>
                    </a:lnTo>
                    <a:lnTo>
                      <a:pt x="264" y="2"/>
                    </a:lnTo>
                    <a:lnTo>
                      <a:pt x="271" y="0"/>
                    </a:lnTo>
                    <a:lnTo>
                      <a:pt x="279" y="0"/>
                    </a:lnTo>
                    <a:lnTo>
                      <a:pt x="288" y="0"/>
                    </a:lnTo>
                    <a:lnTo>
                      <a:pt x="297" y="0"/>
                    </a:lnTo>
                    <a:lnTo>
                      <a:pt x="304" y="2"/>
                    </a:lnTo>
                    <a:lnTo>
                      <a:pt x="308" y="4"/>
                    </a:lnTo>
                    <a:lnTo>
                      <a:pt x="310" y="6"/>
                    </a:lnTo>
                    <a:lnTo>
                      <a:pt x="304" y="11"/>
                    </a:lnTo>
                    <a:lnTo>
                      <a:pt x="299" y="11"/>
                    </a:lnTo>
                    <a:lnTo>
                      <a:pt x="293" y="13"/>
                    </a:lnTo>
                    <a:lnTo>
                      <a:pt x="288" y="13"/>
                    </a:lnTo>
                    <a:lnTo>
                      <a:pt x="282" y="13"/>
                    </a:lnTo>
                    <a:lnTo>
                      <a:pt x="253" y="15"/>
                    </a:lnTo>
                    <a:lnTo>
                      <a:pt x="222" y="18"/>
                    </a:lnTo>
                    <a:lnTo>
                      <a:pt x="186" y="18"/>
                    </a:lnTo>
                    <a:lnTo>
                      <a:pt x="153" y="20"/>
                    </a:lnTo>
                    <a:lnTo>
                      <a:pt x="120" y="22"/>
                    </a:lnTo>
                    <a:lnTo>
                      <a:pt x="87" y="22"/>
                    </a:lnTo>
                    <a:lnTo>
                      <a:pt x="53" y="24"/>
                    </a:lnTo>
                    <a:lnTo>
                      <a:pt x="27" y="24"/>
                    </a:lnTo>
                    <a:lnTo>
                      <a:pt x="16" y="24"/>
                    </a:lnTo>
                    <a:lnTo>
                      <a:pt x="9" y="22"/>
                    </a:lnTo>
                    <a:lnTo>
                      <a:pt x="5" y="22"/>
                    </a:lnTo>
                    <a:lnTo>
                      <a:pt x="2" y="20"/>
                    </a:lnTo>
                    <a:lnTo>
                      <a:pt x="0" y="18"/>
                    </a:lnTo>
                    <a:lnTo>
                      <a:pt x="2" y="18"/>
                    </a:lnTo>
                    <a:lnTo>
                      <a:pt x="5" y="15"/>
                    </a:lnTo>
                    <a:lnTo>
                      <a:pt x="9" y="13"/>
                    </a:lnTo>
                    <a:lnTo>
                      <a:pt x="36" y="11"/>
                    </a:lnTo>
                    <a:lnTo>
                      <a:pt x="67" y="11"/>
                    </a:lnTo>
                    <a:lnTo>
                      <a:pt x="100" y="9"/>
                    </a:lnTo>
                    <a:lnTo>
                      <a:pt x="133" y="9"/>
                    </a:lnTo>
                    <a:lnTo>
                      <a:pt x="166" y="6"/>
                    </a:lnTo>
                    <a:lnTo>
                      <a:pt x="200" y="6"/>
                    </a:lnTo>
                    <a:lnTo>
                      <a:pt x="228" y="4"/>
                    </a:lnTo>
                    <a:lnTo>
                      <a:pt x="255" y="2"/>
                    </a:lnTo>
                    <a:close/>
                  </a:path>
                </a:pathLst>
              </a:custGeom>
              <a:solidFill>
                <a:srgbClr val="FFFF85"/>
              </a:solidFill>
              <a:ln w="9525">
                <a:noFill/>
                <a:round/>
                <a:headEnd/>
                <a:tailEnd/>
              </a:ln>
            </p:spPr>
            <p:txBody>
              <a:bodyPr/>
              <a:lstStyle/>
              <a:p>
                <a:endParaRPr lang="en-US"/>
              </a:p>
            </p:txBody>
          </p:sp>
          <p:sp>
            <p:nvSpPr>
              <p:cNvPr id="157732" name="Freeform 34"/>
              <p:cNvSpPr>
                <a:spLocks/>
              </p:cNvSpPr>
              <p:nvPr/>
            </p:nvSpPr>
            <p:spPr bwMode="auto">
              <a:xfrm>
                <a:off x="2775" y="1148"/>
                <a:ext cx="242" cy="20"/>
              </a:xfrm>
              <a:custGeom>
                <a:avLst/>
                <a:gdLst>
                  <a:gd name="T0" fmla="*/ 189 w 242"/>
                  <a:gd name="T1" fmla="*/ 0 h 20"/>
                  <a:gd name="T2" fmla="*/ 193 w 242"/>
                  <a:gd name="T3" fmla="*/ 0 h 20"/>
                  <a:gd name="T4" fmla="*/ 198 w 242"/>
                  <a:gd name="T5" fmla="*/ 0 h 20"/>
                  <a:gd name="T6" fmla="*/ 204 w 242"/>
                  <a:gd name="T7" fmla="*/ 0 h 20"/>
                  <a:gd name="T8" fmla="*/ 213 w 242"/>
                  <a:gd name="T9" fmla="*/ 0 h 20"/>
                  <a:gd name="T10" fmla="*/ 220 w 242"/>
                  <a:gd name="T11" fmla="*/ 0 h 20"/>
                  <a:gd name="T12" fmla="*/ 227 w 242"/>
                  <a:gd name="T13" fmla="*/ 0 h 20"/>
                  <a:gd name="T14" fmla="*/ 233 w 242"/>
                  <a:gd name="T15" fmla="*/ 0 h 20"/>
                  <a:gd name="T16" fmla="*/ 240 w 242"/>
                  <a:gd name="T17" fmla="*/ 0 h 20"/>
                  <a:gd name="T18" fmla="*/ 242 w 242"/>
                  <a:gd name="T19" fmla="*/ 2 h 20"/>
                  <a:gd name="T20" fmla="*/ 240 w 242"/>
                  <a:gd name="T21" fmla="*/ 9 h 20"/>
                  <a:gd name="T22" fmla="*/ 231 w 242"/>
                  <a:gd name="T23" fmla="*/ 11 h 20"/>
                  <a:gd name="T24" fmla="*/ 220 w 242"/>
                  <a:gd name="T25" fmla="*/ 13 h 20"/>
                  <a:gd name="T26" fmla="*/ 209 w 242"/>
                  <a:gd name="T27" fmla="*/ 13 h 20"/>
                  <a:gd name="T28" fmla="*/ 198 w 242"/>
                  <a:gd name="T29" fmla="*/ 15 h 20"/>
                  <a:gd name="T30" fmla="*/ 184 w 242"/>
                  <a:gd name="T31" fmla="*/ 15 h 20"/>
                  <a:gd name="T32" fmla="*/ 173 w 242"/>
                  <a:gd name="T33" fmla="*/ 15 h 20"/>
                  <a:gd name="T34" fmla="*/ 162 w 242"/>
                  <a:gd name="T35" fmla="*/ 15 h 20"/>
                  <a:gd name="T36" fmla="*/ 153 w 242"/>
                  <a:gd name="T37" fmla="*/ 15 h 20"/>
                  <a:gd name="T38" fmla="*/ 136 w 242"/>
                  <a:gd name="T39" fmla="*/ 15 h 20"/>
                  <a:gd name="T40" fmla="*/ 118 w 242"/>
                  <a:gd name="T41" fmla="*/ 15 h 20"/>
                  <a:gd name="T42" fmla="*/ 100 w 242"/>
                  <a:gd name="T43" fmla="*/ 15 h 20"/>
                  <a:gd name="T44" fmla="*/ 80 w 242"/>
                  <a:gd name="T45" fmla="*/ 17 h 20"/>
                  <a:gd name="T46" fmla="*/ 63 w 242"/>
                  <a:gd name="T47" fmla="*/ 17 h 20"/>
                  <a:gd name="T48" fmla="*/ 43 w 242"/>
                  <a:gd name="T49" fmla="*/ 17 h 20"/>
                  <a:gd name="T50" fmla="*/ 25 w 242"/>
                  <a:gd name="T51" fmla="*/ 17 h 20"/>
                  <a:gd name="T52" fmla="*/ 9 w 242"/>
                  <a:gd name="T53" fmla="*/ 20 h 20"/>
                  <a:gd name="T54" fmla="*/ 3 w 242"/>
                  <a:gd name="T55" fmla="*/ 17 h 20"/>
                  <a:gd name="T56" fmla="*/ 0 w 242"/>
                  <a:gd name="T57" fmla="*/ 15 h 20"/>
                  <a:gd name="T58" fmla="*/ 0 w 242"/>
                  <a:gd name="T59" fmla="*/ 11 h 20"/>
                  <a:gd name="T60" fmla="*/ 5 w 242"/>
                  <a:gd name="T61" fmla="*/ 9 h 20"/>
                  <a:gd name="T62" fmla="*/ 16 w 242"/>
                  <a:gd name="T63" fmla="*/ 6 h 20"/>
                  <a:gd name="T64" fmla="*/ 27 w 242"/>
                  <a:gd name="T65" fmla="*/ 6 h 20"/>
                  <a:gd name="T66" fmla="*/ 38 w 242"/>
                  <a:gd name="T67" fmla="*/ 6 h 20"/>
                  <a:gd name="T68" fmla="*/ 49 w 242"/>
                  <a:gd name="T69" fmla="*/ 6 h 20"/>
                  <a:gd name="T70" fmla="*/ 60 w 242"/>
                  <a:gd name="T71" fmla="*/ 4 h 20"/>
                  <a:gd name="T72" fmla="*/ 71 w 242"/>
                  <a:gd name="T73" fmla="*/ 4 h 20"/>
                  <a:gd name="T74" fmla="*/ 82 w 242"/>
                  <a:gd name="T75" fmla="*/ 4 h 20"/>
                  <a:gd name="T76" fmla="*/ 94 w 242"/>
                  <a:gd name="T77" fmla="*/ 4 h 20"/>
                  <a:gd name="T78" fmla="*/ 105 w 242"/>
                  <a:gd name="T79" fmla="*/ 4 h 20"/>
                  <a:gd name="T80" fmla="*/ 116 w 242"/>
                  <a:gd name="T81" fmla="*/ 4 h 20"/>
                  <a:gd name="T82" fmla="*/ 127 w 242"/>
                  <a:gd name="T83" fmla="*/ 2 h 20"/>
                  <a:gd name="T84" fmla="*/ 140 w 242"/>
                  <a:gd name="T85" fmla="*/ 2 h 20"/>
                  <a:gd name="T86" fmla="*/ 151 w 242"/>
                  <a:gd name="T87" fmla="*/ 2 h 20"/>
                  <a:gd name="T88" fmla="*/ 164 w 242"/>
                  <a:gd name="T89" fmla="*/ 0 h 20"/>
                  <a:gd name="T90" fmla="*/ 176 w 242"/>
                  <a:gd name="T91" fmla="*/ 0 h 20"/>
                  <a:gd name="T92" fmla="*/ 189 w 242"/>
                  <a:gd name="T93" fmla="*/ 0 h 20"/>
                  <a:gd name="T94" fmla="*/ 189 w 242"/>
                  <a:gd name="T95" fmla="*/ 0 h 20"/>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w 242"/>
                  <a:gd name="T145" fmla="*/ 0 h 20"/>
                  <a:gd name="T146" fmla="*/ 242 w 242"/>
                  <a:gd name="T147" fmla="*/ 20 h 20"/>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T144" t="T145" r="T146" b="T147"/>
                <a:pathLst>
                  <a:path w="242" h="20">
                    <a:moveTo>
                      <a:pt x="189" y="0"/>
                    </a:moveTo>
                    <a:lnTo>
                      <a:pt x="193" y="0"/>
                    </a:lnTo>
                    <a:lnTo>
                      <a:pt x="198" y="0"/>
                    </a:lnTo>
                    <a:lnTo>
                      <a:pt x="204" y="0"/>
                    </a:lnTo>
                    <a:lnTo>
                      <a:pt x="213" y="0"/>
                    </a:lnTo>
                    <a:lnTo>
                      <a:pt x="220" y="0"/>
                    </a:lnTo>
                    <a:lnTo>
                      <a:pt x="227" y="0"/>
                    </a:lnTo>
                    <a:lnTo>
                      <a:pt x="233" y="0"/>
                    </a:lnTo>
                    <a:lnTo>
                      <a:pt x="240" y="0"/>
                    </a:lnTo>
                    <a:lnTo>
                      <a:pt x="242" y="2"/>
                    </a:lnTo>
                    <a:lnTo>
                      <a:pt x="240" y="9"/>
                    </a:lnTo>
                    <a:lnTo>
                      <a:pt x="231" y="11"/>
                    </a:lnTo>
                    <a:lnTo>
                      <a:pt x="220" y="13"/>
                    </a:lnTo>
                    <a:lnTo>
                      <a:pt x="209" y="13"/>
                    </a:lnTo>
                    <a:lnTo>
                      <a:pt x="198" y="15"/>
                    </a:lnTo>
                    <a:lnTo>
                      <a:pt x="184" y="15"/>
                    </a:lnTo>
                    <a:lnTo>
                      <a:pt x="173" y="15"/>
                    </a:lnTo>
                    <a:lnTo>
                      <a:pt x="162" y="15"/>
                    </a:lnTo>
                    <a:lnTo>
                      <a:pt x="153" y="15"/>
                    </a:lnTo>
                    <a:lnTo>
                      <a:pt x="136" y="15"/>
                    </a:lnTo>
                    <a:lnTo>
                      <a:pt x="118" y="15"/>
                    </a:lnTo>
                    <a:lnTo>
                      <a:pt x="100" y="15"/>
                    </a:lnTo>
                    <a:lnTo>
                      <a:pt x="80" y="17"/>
                    </a:lnTo>
                    <a:lnTo>
                      <a:pt x="63" y="17"/>
                    </a:lnTo>
                    <a:lnTo>
                      <a:pt x="43" y="17"/>
                    </a:lnTo>
                    <a:lnTo>
                      <a:pt x="25" y="17"/>
                    </a:lnTo>
                    <a:lnTo>
                      <a:pt x="9" y="20"/>
                    </a:lnTo>
                    <a:lnTo>
                      <a:pt x="3" y="17"/>
                    </a:lnTo>
                    <a:lnTo>
                      <a:pt x="0" y="15"/>
                    </a:lnTo>
                    <a:lnTo>
                      <a:pt x="0" y="11"/>
                    </a:lnTo>
                    <a:lnTo>
                      <a:pt x="5" y="9"/>
                    </a:lnTo>
                    <a:lnTo>
                      <a:pt x="16" y="6"/>
                    </a:lnTo>
                    <a:lnTo>
                      <a:pt x="27" y="6"/>
                    </a:lnTo>
                    <a:lnTo>
                      <a:pt x="38" y="6"/>
                    </a:lnTo>
                    <a:lnTo>
                      <a:pt x="49" y="6"/>
                    </a:lnTo>
                    <a:lnTo>
                      <a:pt x="60" y="4"/>
                    </a:lnTo>
                    <a:lnTo>
                      <a:pt x="71" y="4"/>
                    </a:lnTo>
                    <a:lnTo>
                      <a:pt x="82" y="4"/>
                    </a:lnTo>
                    <a:lnTo>
                      <a:pt x="94" y="4"/>
                    </a:lnTo>
                    <a:lnTo>
                      <a:pt x="105" y="4"/>
                    </a:lnTo>
                    <a:lnTo>
                      <a:pt x="116" y="4"/>
                    </a:lnTo>
                    <a:lnTo>
                      <a:pt x="127" y="2"/>
                    </a:lnTo>
                    <a:lnTo>
                      <a:pt x="140" y="2"/>
                    </a:lnTo>
                    <a:lnTo>
                      <a:pt x="151" y="2"/>
                    </a:lnTo>
                    <a:lnTo>
                      <a:pt x="164" y="0"/>
                    </a:lnTo>
                    <a:lnTo>
                      <a:pt x="176" y="0"/>
                    </a:lnTo>
                    <a:lnTo>
                      <a:pt x="189" y="0"/>
                    </a:lnTo>
                    <a:close/>
                  </a:path>
                </a:pathLst>
              </a:custGeom>
              <a:solidFill>
                <a:srgbClr val="FFFF85"/>
              </a:solidFill>
              <a:ln w="9525">
                <a:noFill/>
                <a:round/>
                <a:headEnd/>
                <a:tailEnd/>
              </a:ln>
            </p:spPr>
            <p:txBody>
              <a:bodyPr/>
              <a:lstStyle/>
              <a:p>
                <a:endParaRPr lang="en-US"/>
              </a:p>
            </p:txBody>
          </p:sp>
          <p:sp>
            <p:nvSpPr>
              <p:cNvPr id="157733" name="Freeform 35"/>
              <p:cNvSpPr>
                <a:spLocks/>
              </p:cNvSpPr>
              <p:nvPr/>
            </p:nvSpPr>
            <p:spPr bwMode="auto">
              <a:xfrm>
                <a:off x="2736" y="1250"/>
                <a:ext cx="243" cy="20"/>
              </a:xfrm>
              <a:custGeom>
                <a:avLst/>
                <a:gdLst>
                  <a:gd name="T0" fmla="*/ 190 w 243"/>
                  <a:gd name="T1" fmla="*/ 2 h 20"/>
                  <a:gd name="T2" fmla="*/ 192 w 243"/>
                  <a:gd name="T3" fmla="*/ 0 h 20"/>
                  <a:gd name="T4" fmla="*/ 199 w 243"/>
                  <a:gd name="T5" fmla="*/ 0 h 20"/>
                  <a:gd name="T6" fmla="*/ 206 w 243"/>
                  <a:gd name="T7" fmla="*/ 0 h 20"/>
                  <a:gd name="T8" fmla="*/ 212 w 243"/>
                  <a:gd name="T9" fmla="*/ 0 h 20"/>
                  <a:gd name="T10" fmla="*/ 219 w 243"/>
                  <a:gd name="T11" fmla="*/ 0 h 20"/>
                  <a:gd name="T12" fmla="*/ 228 w 243"/>
                  <a:gd name="T13" fmla="*/ 0 h 20"/>
                  <a:gd name="T14" fmla="*/ 232 w 243"/>
                  <a:gd name="T15" fmla="*/ 0 h 20"/>
                  <a:gd name="T16" fmla="*/ 239 w 243"/>
                  <a:gd name="T17" fmla="*/ 2 h 20"/>
                  <a:gd name="T18" fmla="*/ 241 w 243"/>
                  <a:gd name="T19" fmla="*/ 2 h 20"/>
                  <a:gd name="T20" fmla="*/ 243 w 243"/>
                  <a:gd name="T21" fmla="*/ 2 h 20"/>
                  <a:gd name="T22" fmla="*/ 241 w 243"/>
                  <a:gd name="T23" fmla="*/ 6 h 20"/>
                  <a:gd name="T24" fmla="*/ 241 w 243"/>
                  <a:gd name="T25" fmla="*/ 9 h 20"/>
                  <a:gd name="T26" fmla="*/ 232 w 243"/>
                  <a:gd name="T27" fmla="*/ 11 h 20"/>
                  <a:gd name="T28" fmla="*/ 221 w 243"/>
                  <a:gd name="T29" fmla="*/ 13 h 20"/>
                  <a:gd name="T30" fmla="*/ 210 w 243"/>
                  <a:gd name="T31" fmla="*/ 15 h 20"/>
                  <a:gd name="T32" fmla="*/ 199 w 243"/>
                  <a:gd name="T33" fmla="*/ 15 h 20"/>
                  <a:gd name="T34" fmla="*/ 188 w 243"/>
                  <a:gd name="T35" fmla="*/ 15 h 20"/>
                  <a:gd name="T36" fmla="*/ 175 w 243"/>
                  <a:gd name="T37" fmla="*/ 15 h 20"/>
                  <a:gd name="T38" fmla="*/ 164 w 243"/>
                  <a:gd name="T39" fmla="*/ 15 h 20"/>
                  <a:gd name="T40" fmla="*/ 153 w 243"/>
                  <a:gd name="T41" fmla="*/ 17 h 20"/>
                  <a:gd name="T42" fmla="*/ 135 w 243"/>
                  <a:gd name="T43" fmla="*/ 17 h 20"/>
                  <a:gd name="T44" fmla="*/ 117 w 243"/>
                  <a:gd name="T45" fmla="*/ 17 h 20"/>
                  <a:gd name="T46" fmla="*/ 99 w 243"/>
                  <a:gd name="T47" fmla="*/ 17 h 20"/>
                  <a:gd name="T48" fmla="*/ 82 w 243"/>
                  <a:gd name="T49" fmla="*/ 17 h 20"/>
                  <a:gd name="T50" fmla="*/ 64 w 243"/>
                  <a:gd name="T51" fmla="*/ 17 h 20"/>
                  <a:gd name="T52" fmla="*/ 44 w 243"/>
                  <a:gd name="T53" fmla="*/ 17 h 20"/>
                  <a:gd name="T54" fmla="*/ 26 w 243"/>
                  <a:gd name="T55" fmla="*/ 17 h 20"/>
                  <a:gd name="T56" fmla="*/ 11 w 243"/>
                  <a:gd name="T57" fmla="*/ 20 h 20"/>
                  <a:gd name="T58" fmla="*/ 4 w 243"/>
                  <a:gd name="T59" fmla="*/ 17 h 20"/>
                  <a:gd name="T60" fmla="*/ 0 w 243"/>
                  <a:gd name="T61" fmla="*/ 15 h 20"/>
                  <a:gd name="T62" fmla="*/ 0 w 243"/>
                  <a:gd name="T63" fmla="*/ 11 h 20"/>
                  <a:gd name="T64" fmla="*/ 6 w 243"/>
                  <a:gd name="T65" fmla="*/ 6 h 20"/>
                  <a:gd name="T66" fmla="*/ 17 w 243"/>
                  <a:gd name="T67" fmla="*/ 6 h 20"/>
                  <a:gd name="T68" fmla="*/ 28 w 243"/>
                  <a:gd name="T69" fmla="*/ 4 h 20"/>
                  <a:gd name="T70" fmla="*/ 39 w 243"/>
                  <a:gd name="T71" fmla="*/ 4 h 20"/>
                  <a:gd name="T72" fmla="*/ 51 w 243"/>
                  <a:gd name="T73" fmla="*/ 4 h 20"/>
                  <a:gd name="T74" fmla="*/ 62 w 243"/>
                  <a:gd name="T75" fmla="*/ 4 h 20"/>
                  <a:gd name="T76" fmla="*/ 73 w 243"/>
                  <a:gd name="T77" fmla="*/ 4 h 20"/>
                  <a:gd name="T78" fmla="*/ 84 w 243"/>
                  <a:gd name="T79" fmla="*/ 4 h 20"/>
                  <a:gd name="T80" fmla="*/ 95 w 243"/>
                  <a:gd name="T81" fmla="*/ 4 h 20"/>
                  <a:gd name="T82" fmla="*/ 106 w 243"/>
                  <a:gd name="T83" fmla="*/ 2 h 20"/>
                  <a:gd name="T84" fmla="*/ 117 w 243"/>
                  <a:gd name="T85" fmla="*/ 2 h 20"/>
                  <a:gd name="T86" fmla="*/ 128 w 243"/>
                  <a:gd name="T87" fmla="*/ 2 h 20"/>
                  <a:gd name="T88" fmla="*/ 141 w 243"/>
                  <a:gd name="T89" fmla="*/ 2 h 20"/>
                  <a:gd name="T90" fmla="*/ 153 w 243"/>
                  <a:gd name="T91" fmla="*/ 2 h 20"/>
                  <a:gd name="T92" fmla="*/ 166 w 243"/>
                  <a:gd name="T93" fmla="*/ 2 h 20"/>
                  <a:gd name="T94" fmla="*/ 177 w 243"/>
                  <a:gd name="T95" fmla="*/ 2 h 20"/>
                  <a:gd name="T96" fmla="*/ 190 w 243"/>
                  <a:gd name="T97" fmla="*/ 2 h 20"/>
                  <a:gd name="T98" fmla="*/ 190 w 243"/>
                  <a:gd name="T99" fmla="*/ 2 h 20"/>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w 243"/>
                  <a:gd name="T151" fmla="*/ 0 h 20"/>
                  <a:gd name="T152" fmla="*/ 243 w 243"/>
                  <a:gd name="T153" fmla="*/ 20 h 20"/>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T150" t="T151" r="T152" b="T153"/>
                <a:pathLst>
                  <a:path w="243" h="20">
                    <a:moveTo>
                      <a:pt x="190" y="2"/>
                    </a:moveTo>
                    <a:lnTo>
                      <a:pt x="192" y="0"/>
                    </a:lnTo>
                    <a:lnTo>
                      <a:pt x="199" y="0"/>
                    </a:lnTo>
                    <a:lnTo>
                      <a:pt x="206" y="0"/>
                    </a:lnTo>
                    <a:lnTo>
                      <a:pt x="212" y="0"/>
                    </a:lnTo>
                    <a:lnTo>
                      <a:pt x="219" y="0"/>
                    </a:lnTo>
                    <a:lnTo>
                      <a:pt x="228" y="0"/>
                    </a:lnTo>
                    <a:lnTo>
                      <a:pt x="232" y="0"/>
                    </a:lnTo>
                    <a:lnTo>
                      <a:pt x="239" y="2"/>
                    </a:lnTo>
                    <a:lnTo>
                      <a:pt x="241" y="2"/>
                    </a:lnTo>
                    <a:lnTo>
                      <a:pt x="243" y="2"/>
                    </a:lnTo>
                    <a:lnTo>
                      <a:pt x="241" y="6"/>
                    </a:lnTo>
                    <a:lnTo>
                      <a:pt x="241" y="9"/>
                    </a:lnTo>
                    <a:lnTo>
                      <a:pt x="232" y="11"/>
                    </a:lnTo>
                    <a:lnTo>
                      <a:pt x="221" y="13"/>
                    </a:lnTo>
                    <a:lnTo>
                      <a:pt x="210" y="15"/>
                    </a:lnTo>
                    <a:lnTo>
                      <a:pt x="199" y="15"/>
                    </a:lnTo>
                    <a:lnTo>
                      <a:pt x="188" y="15"/>
                    </a:lnTo>
                    <a:lnTo>
                      <a:pt x="175" y="15"/>
                    </a:lnTo>
                    <a:lnTo>
                      <a:pt x="164" y="15"/>
                    </a:lnTo>
                    <a:lnTo>
                      <a:pt x="153" y="17"/>
                    </a:lnTo>
                    <a:lnTo>
                      <a:pt x="135" y="17"/>
                    </a:lnTo>
                    <a:lnTo>
                      <a:pt x="117" y="17"/>
                    </a:lnTo>
                    <a:lnTo>
                      <a:pt x="99" y="17"/>
                    </a:lnTo>
                    <a:lnTo>
                      <a:pt x="82" y="17"/>
                    </a:lnTo>
                    <a:lnTo>
                      <a:pt x="64" y="17"/>
                    </a:lnTo>
                    <a:lnTo>
                      <a:pt x="44" y="17"/>
                    </a:lnTo>
                    <a:lnTo>
                      <a:pt x="26" y="17"/>
                    </a:lnTo>
                    <a:lnTo>
                      <a:pt x="11" y="20"/>
                    </a:lnTo>
                    <a:lnTo>
                      <a:pt x="4" y="17"/>
                    </a:lnTo>
                    <a:lnTo>
                      <a:pt x="0" y="15"/>
                    </a:lnTo>
                    <a:lnTo>
                      <a:pt x="0" y="11"/>
                    </a:lnTo>
                    <a:lnTo>
                      <a:pt x="6" y="6"/>
                    </a:lnTo>
                    <a:lnTo>
                      <a:pt x="17" y="6"/>
                    </a:lnTo>
                    <a:lnTo>
                      <a:pt x="28" y="4"/>
                    </a:lnTo>
                    <a:lnTo>
                      <a:pt x="39" y="4"/>
                    </a:lnTo>
                    <a:lnTo>
                      <a:pt x="51" y="4"/>
                    </a:lnTo>
                    <a:lnTo>
                      <a:pt x="62" y="4"/>
                    </a:lnTo>
                    <a:lnTo>
                      <a:pt x="73" y="4"/>
                    </a:lnTo>
                    <a:lnTo>
                      <a:pt x="84" y="4"/>
                    </a:lnTo>
                    <a:lnTo>
                      <a:pt x="95" y="4"/>
                    </a:lnTo>
                    <a:lnTo>
                      <a:pt x="106" y="2"/>
                    </a:lnTo>
                    <a:lnTo>
                      <a:pt x="117" y="2"/>
                    </a:lnTo>
                    <a:lnTo>
                      <a:pt x="128" y="2"/>
                    </a:lnTo>
                    <a:lnTo>
                      <a:pt x="141" y="2"/>
                    </a:lnTo>
                    <a:lnTo>
                      <a:pt x="153" y="2"/>
                    </a:lnTo>
                    <a:lnTo>
                      <a:pt x="166" y="2"/>
                    </a:lnTo>
                    <a:lnTo>
                      <a:pt x="177" y="2"/>
                    </a:lnTo>
                    <a:lnTo>
                      <a:pt x="190" y="2"/>
                    </a:lnTo>
                    <a:close/>
                  </a:path>
                </a:pathLst>
              </a:custGeom>
              <a:solidFill>
                <a:srgbClr val="FFFF85"/>
              </a:solidFill>
              <a:ln w="9525">
                <a:noFill/>
                <a:round/>
                <a:headEnd/>
                <a:tailEnd/>
              </a:ln>
            </p:spPr>
            <p:txBody>
              <a:bodyPr/>
              <a:lstStyle/>
              <a:p>
                <a:endParaRPr lang="en-US"/>
              </a:p>
            </p:txBody>
          </p:sp>
          <p:sp>
            <p:nvSpPr>
              <p:cNvPr id="157734" name="Freeform 36"/>
              <p:cNvSpPr>
                <a:spLocks/>
              </p:cNvSpPr>
              <p:nvPr/>
            </p:nvSpPr>
            <p:spPr bwMode="auto">
              <a:xfrm>
                <a:off x="2829" y="1112"/>
                <a:ext cx="317" cy="25"/>
              </a:xfrm>
              <a:custGeom>
                <a:avLst/>
                <a:gdLst>
                  <a:gd name="T0" fmla="*/ 303 w 317"/>
                  <a:gd name="T1" fmla="*/ 0 h 25"/>
                  <a:gd name="T2" fmla="*/ 308 w 317"/>
                  <a:gd name="T3" fmla="*/ 0 h 25"/>
                  <a:gd name="T4" fmla="*/ 312 w 317"/>
                  <a:gd name="T5" fmla="*/ 3 h 25"/>
                  <a:gd name="T6" fmla="*/ 314 w 317"/>
                  <a:gd name="T7" fmla="*/ 5 h 25"/>
                  <a:gd name="T8" fmla="*/ 317 w 317"/>
                  <a:gd name="T9" fmla="*/ 7 h 25"/>
                  <a:gd name="T10" fmla="*/ 317 w 317"/>
                  <a:gd name="T11" fmla="*/ 11 h 25"/>
                  <a:gd name="T12" fmla="*/ 312 w 317"/>
                  <a:gd name="T13" fmla="*/ 14 h 25"/>
                  <a:gd name="T14" fmla="*/ 308 w 317"/>
                  <a:gd name="T15" fmla="*/ 16 h 25"/>
                  <a:gd name="T16" fmla="*/ 299 w 317"/>
                  <a:gd name="T17" fmla="*/ 16 h 25"/>
                  <a:gd name="T18" fmla="*/ 290 w 317"/>
                  <a:gd name="T19" fmla="*/ 16 h 25"/>
                  <a:gd name="T20" fmla="*/ 281 w 317"/>
                  <a:gd name="T21" fmla="*/ 18 h 25"/>
                  <a:gd name="T22" fmla="*/ 270 w 317"/>
                  <a:gd name="T23" fmla="*/ 18 h 25"/>
                  <a:gd name="T24" fmla="*/ 263 w 317"/>
                  <a:gd name="T25" fmla="*/ 20 h 25"/>
                  <a:gd name="T26" fmla="*/ 255 w 317"/>
                  <a:gd name="T27" fmla="*/ 20 h 25"/>
                  <a:gd name="T28" fmla="*/ 250 w 317"/>
                  <a:gd name="T29" fmla="*/ 20 h 25"/>
                  <a:gd name="T30" fmla="*/ 221 w 317"/>
                  <a:gd name="T31" fmla="*/ 22 h 25"/>
                  <a:gd name="T32" fmla="*/ 192 w 317"/>
                  <a:gd name="T33" fmla="*/ 22 h 25"/>
                  <a:gd name="T34" fmla="*/ 164 w 317"/>
                  <a:gd name="T35" fmla="*/ 22 h 25"/>
                  <a:gd name="T36" fmla="*/ 135 w 317"/>
                  <a:gd name="T37" fmla="*/ 25 h 25"/>
                  <a:gd name="T38" fmla="*/ 106 w 317"/>
                  <a:gd name="T39" fmla="*/ 22 h 25"/>
                  <a:gd name="T40" fmla="*/ 77 w 317"/>
                  <a:gd name="T41" fmla="*/ 22 h 25"/>
                  <a:gd name="T42" fmla="*/ 51 w 317"/>
                  <a:gd name="T43" fmla="*/ 25 h 25"/>
                  <a:gd name="T44" fmla="*/ 24 w 317"/>
                  <a:gd name="T45" fmla="*/ 25 h 25"/>
                  <a:gd name="T46" fmla="*/ 20 w 317"/>
                  <a:gd name="T47" fmla="*/ 25 h 25"/>
                  <a:gd name="T48" fmla="*/ 13 w 317"/>
                  <a:gd name="T49" fmla="*/ 25 h 25"/>
                  <a:gd name="T50" fmla="*/ 9 w 317"/>
                  <a:gd name="T51" fmla="*/ 25 h 25"/>
                  <a:gd name="T52" fmla="*/ 6 w 317"/>
                  <a:gd name="T53" fmla="*/ 25 h 25"/>
                  <a:gd name="T54" fmla="*/ 0 w 317"/>
                  <a:gd name="T55" fmla="*/ 22 h 25"/>
                  <a:gd name="T56" fmla="*/ 0 w 317"/>
                  <a:gd name="T57" fmla="*/ 20 h 25"/>
                  <a:gd name="T58" fmla="*/ 0 w 317"/>
                  <a:gd name="T59" fmla="*/ 16 h 25"/>
                  <a:gd name="T60" fmla="*/ 9 w 317"/>
                  <a:gd name="T61" fmla="*/ 11 h 25"/>
                  <a:gd name="T62" fmla="*/ 24 w 317"/>
                  <a:gd name="T63" fmla="*/ 9 h 25"/>
                  <a:gd name="T64" fmla="*/ 44 w 317"/>
                  <a:gd name="T65" fmla="*/ 9 h 25"/>
                  <a:gd name="T66" fmla="*/ 66 w 317"/>
                  <a:gd name="T67" fmla="*/ 7 h 25"/>
                  <a:gd name="T68" fmla="*/ 88 w 317"/>
                  <a:gd name="T69" fmla="*/ 9 h 25"/>
                  <a:gd name="T70" fmla="*/ 106 w 317"/>
                  <a:gd name="T71" fmla="*/ 9 h 25"/>
                  <a:gd name="T72" fmla="*/ 124 w 317"/>
                  <a:gd name="T73" fmla="*/ 9 h 25"/>
                  <a:gd name="T74" fmla="*/ 144 w 317"/>
                  <a:gd name="T75" fmla="*/ 9 h 25"/>
                  <a:gd name="T76" fmla="*/ 168 w 317"/>
                  <a:gd name="T77" fmla="*/ 9 h 25"/>
                  <a:gd name="T78" fmla="*/ 190 w 317"/>
                  <a:gd name="T79" fmla="*/ 7 h 25"/>
                  <a:gd name="T80" fmla="*/ 212 w 317"/>
                  <a:gd name="T81" fmla="*/ 7 h 25"/>
                  <a:gd name="T82" fmla="*/ 235 w 317"/>
                  <a:gd name="T83" fmla="*/ 7 h 25"/>
                  <a:gd name="T84" fmla="*/ 259 w 317"/>
                  <a:gd name="T85" fmla="*/ 5 h 25"/>
                  <a:gd name="T86" fmla="*/ 279 w 317"/>
                  <a:gd name="T87" fmla="*/ 3 h 25"/>
                  <a:gd name="T88" fmla="*/ 303 w 317"/>
                  <a:gd name="T89" fmla="*/ 0 h 25"/>
                  <a:gd name="T90" fmla="*/ 303 w 317"/>
                  <a:gd name="T91" fmla="*/ 0 h 25"/>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17"/>
                  <a:gd name="T139" fmla="*/ 0 h 25"/>
                  <a:gd name="T140" fmla="*/ 317 w 317"/>
                  <a:gd name="T141" fmla="*/ 25 h 25"/>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17" h="25">
                    <a:moveTo>
                      <a:pt x="303" y="0"/>
                    </a:moveTo>
                    <a:lnTo>
                      <a:pt x="308" y="0"/>
                    </a:lnTo>
                    <a:lnTo>
                      <a:pt x="312" y="3"/>
                    </a:lnTo>
                    <a:lnTo>
                      <a:pt x="314" y="5"/>
                    </a:lnTo>
                    <a:lnTo>
                      <a:pt x="317" y="7"/>
                    </a:lnTo>
                    <a:lnTo>
                      <a:pt x="317" y="11"/>
                    </a:lnTo>
                    <a:lnTo>
                      <a:pt x="312" y="14"/>
                    </a:lnTo>
                    <a:lnTo>
                      <a:pt x="308" y="16"/>
                    </a:lnTo>
                    <a:lnTo>
                      <a:pt x="299" y="16"/>
                    </a:lnTo>
                    <a:lnTo>
                      <a:pt x="290" y="16"/>
                    </a:lnTo>
                    <a:lnTo>
                      <a:pt x="281" y="18"/>
                    </a:lnTo>
                    <a:lnTo>
                      <a:pt x="270" y="18"/>
                    </a:lnTo>
                    <a:lnTo>
                      <a:pt x="263" y="20"/>
                    </a:lnTo>
                    <a:lnTo>
                      <a:pt x="255" y="20"/>
                    </a:lnTo>
                    <a:lnTo>
                      <a:pt x="250" y="20"/>
                    </a:lnTo>
                    <a:lnTo>
                      <a:pt x="221" y="22"/>
                    </a:lnTo>
                    <a:lnTo>
                      <a:pt x="192" y="22"/>
                    </a:lnTo>
                    <a:lnTo>
                      <a:pt x="164" y="22"/>
                    </a:lnTo>
                    <a:lnTo>
                      <a:pt x="135" y="25"/>
                    </a:lnTo>
                    <a:lnTo>
                      <a:pt x="106" y="22"/>
                    </a:lnTo>
                    <a:lnTo>
                      <a:pt x="77" y="22"/>
                    </a:lnTo>
                    <a:lnTo>
                      <a:pt x="51" y="25"/>
                    </a:lnTo>
                    <a:lnTo>
                      <a:pt x="24" y="25"/>
                    </a:lnTo>
                    <a:lnTo>
                      <a:pt x="20" y="25"/>
                    </a:lnTo>
                    <a:lnTo>
                      <a:pt x="13" y="25"/>
                    </a:lnTo>
                    <a:lnTo>
                      <a:pt x="9" y="25"/>
                    </a:lnTo>
                    <a:lnTo>
                      <a:pt x="6" y="25"/>
                    </a:lnTo>
                    <a:lnTo>
                      <a:pt x="0" y="22"/>
                    </a:lnTo>
                    <a:lnTo>
                      <a:pt x="0" y="20"/>
                    </a:lnTo>
                    <a:lnTo>
                      <a:pt x="0" y="16"/>
                    </a:lnTo>
                    <a:lnTo>
                      <a:pt x="9" y="11"/>
                    </a:lnTo>
                    <a:lnTo>
                      <a:pt x="24" y="9"/>
                    </a:lnTo>
                    <a:lnTo>
                      <a:pt x="44" y="9"/>
                    </a:lnTo>
                    <a:lnTo>
                      <a:pt x="66" y="7"/>
                    </a:lnTo>
                    <a:lnTo>
                      <a:pt x="88" y="9"/>
                    </a:lnTo>
                    <a:lnTo>
                      <a:pt x="106" y="9"/>
                    </a:lnTo>
                    <a:lnTo>
                      <a:pt x="124" y="9"/>
                    </a:lnTo>
                    <a:lnTo>
                      <a:pt x="144" y="9"/>
                    </a:lnTo>
                    <a:lnTo>
                      <a:pt x="168" y="9"/>
                    </a:lnTo>
                    <a:lnTo>
                      <a:pt x="190" y="7"/>
                    </a:lnTo>
                    <a:lnTo>
                      <a:pt x="212" y="7"/>
                    </a:lnTo>
                    <a:lnTo>
                      <a:pt x="235" y="7"/>
                    </a:lnTo>
                    <a:lnTo>
                      <a:pt x="259" y="5"/>
                    </a:lnTo>
                    <a:lnTo>
                      <a:pt x="279" y="3"/>
                    </a:lnTo>
                    <a:lnTo>
                      <a:pt x="303" y="0"/>
                    </a:lnTo>
                    <a:close/>
                  </a:path>
                </a:pathLst>
              </a:custGeom>
              <a:solidFill>
                <a:srgbClr val="FFFF85"/>
              </a:solidFill>
              <a:ln w="9525">
                <a:noFill/>
                <a:round/>
                <a:headEnd/>
                <a:tailEnd/>
              </a:ln>
            </p:spPr>
            <p:txBody>
              <a:bodyPr/>
              <a:lstStyle/>
              <a:p>
                <a:endParaRPr lang="en-US"/>
              </a:p>
            </p:txBody>
          </p:sp>
          <p:sp>
            <p:nvSpPr>
              <p:cNvPr id="157735" name="Freeform 37"/>
              <p:cNvSpPr>
                <a:spLocks/>
              </p:cNvSpPr>
              <p:nvPr/>
            </p:nvSpPr>
            <p:spPr bwMode="auto">
              <a:xfrm>
                <a:off x="2711" y="1205"/>
                <a:ext cx="452" cy="25"/>
              </a:xfrm>
              <a:custGeom>
                <a:avLst/>
                <a:gdLst>
                  <a:gd name="T0" fmla="*/ 373 w 452"/>
                  <a:gd name="T1" fmla="*/ 3 h 25"/>
                  <a:gd name="T2" fmla="*/ 377 w 452"/>
                  <a:gd name="T3" fmla="*/ 3 h 25"/>
                  <a:gd name="T4" fmla="*/ 384 w 452"/>
                  <a:gd name="T5" fmla="*/ 3 h 25"/>
                  <a:gd name="T6" fmla="*/ 397 w 452"/>
                  <a:gd name="T7" fmla="*/ 0 h 25"/>
                  <a:gd name="T8" fmla="*/ 408 w 452"/>
                  <a:gd name="T9" fmla="*/ 0 h 25"/>
                  <a:gd name="T10" fmla="*/ 421 w 452"/>
                  <a:gd name="T11" fmla="*/ 0 h 25"/>
                  <a:gd name="T12" fmla="*/ 435 w 452"/>
                  <a:gd name="T13" fmla="*/ 0 h 25"/>
                  <a:gd name="T14" fmla="*/ 443 w 452"/>
                  <a:gd name="T15" fmla="*/ 0 h 25"/>
                  <a:gd name="T16" fmla="*/ 450 w 452"/>
                  <a:gd name="T17" fmla="*/ 3 h 25"/>
                  <a:gd name="T18" fmla="*/ 452 w 452"/>
                  <a:gd name="T19" fmla="*/ 5 h 25"/>
                  <a:gd name="T20" fmla="*/ 452 w 452"/>
                  <a:gd name="T21" fmla="*/ 7 h 25"/>
                  <a:gd name="T22" fmla="*/ 448 w 452"/>
                  <a:gd name="T23" fmla="*/ 9 h 25"/>
                  <a:gd name="T24" fmla="*/ 443 w 452"/>
                  <a:gd name="T25" fmla="*/ 11 h 25"/>
                  <a:gd name="T26" fmla="*/ 437 w 452"/>
                  <a:gd name="T27" fmla="*/ 11 h 25"/>
                  <a:gd name="T28" fmla="*/ 428 w 452"/>
                  <a:gd name="T29" fmla="*/ 14 h 25"/>
                  <a:gd name="T30" fmla="*/ 419 w 452"/>
                  <a:gd name="T31" fmla="*/ 14 h 25"/>
                  <a:gd name="T32" fmla="*/ 410 w 452"/>
                  <a:gd name="T33" fmla="*/ 14 h 25"/>
                  <a:gd name="T34" fmla="*/ 368 w 452"/>
                  <a:gd name="T35" fmla="*/ 14 h 25"/>
                  <a:gd name="T36" fmla="*/ 322 w 452"/>
                  <a:gd name="T37" fmla="*/ 16 h 25"/>
                  <a:gd name="T38" fmla="*/ 273 w 452"/>
                  <a:gd name="T39" fmla="*/ 18 h 25"/>
                  <a:gd name="T40" fmla="*/ 224 w 452"/>
                  <a:gd name="T41" fmla="*/ 20 h 25"/>
                  <a:gd name="T42" fmla="*/ 173 w 452"/>
                  <a:gd name="T43" fmla="*/ 20 h 25"/>
                  <a:gd name="T44" fmla="*/ 127 w 452"/>
                  <a:gd name="T45" fmla="*/ 23 h 25"/>
                  <a:gd name="T46" fmla="*/ 80 w 452"/>
                  <a:gd name="T47" fmla="*/ 23 h 25"/>
                  <a:gd name="T48" fmla="*/ 38 w 452"/>
                  <a:gd name="T49" fmla="*/ 25 h 25"/>
                  <a:gd name="T50" fmla="*/ 22 w 452"/>
                  <a:gd name="T51" fmla="*/ 23 h 25"/>
                  <a:gd name="T52" fmla="*/ 13 w 452"/>
                  <a:gd name="T53" fmla="*/ 23 h 25"/>
                  <a:gd name="T54" fmla="*/ 5 w 452"/>
                  <a:gd name="T55" fmla="*/ 20 h 25"/>
                  <a:gd name="T56" fmla="*/ 2 w 452"/>
                  <a:gd name="T57" fmla="*/ 20 h 25"/>
                  <a:gd name="T58" fmla="*/ 0 w 452"/>
                  <a:gd name="T59" fmla="*/ 18 h 25"/>
                  <a:gd name="T60" fmla="*/ 2 w 452"/>
                  <a:gd name="T61" fmla="*/ 16 h 25"/>
                  <a:gd name="T62" fmla="*/ 7 w 452"/>
                  <a:gd name="T63" fmla="*/ 14 h 25"/>
                  <a:gd name="T64" fmla="*/ 16 w 452"/>
                  <a:gd name="T65" fmla="*/ 14 h 25"/>
                  <a:gd name="T66" fmla="*/ 53 w 452"/>
                  <a:gd name="T67" fmla="*/ 11 h 25"/>
                  <a:gd name="T68" fmla="*/ 98 w 452"/>
                  <a:gd name="T69" fmla="*/ 9 h 25"/>
                  <a:gd name="T70" fmla="*/ 144 w 452"/>
                  <a:gd name="T71" fmla="*/ 9 h 25"/>
                  <a:gd name="T72" fmla="*/ 195 w 452"/>
                  <a:gd name="T73" fmla="*/ 7 h 25"/>
                  <a:gd name="T74" fmla="*/ 242 w 452"/>
                  <a:gd name="T75" fmla="*/ 5 h 25"/>
                  <a:gd name="T76" fmla="*/ 291 w 452"/>
                  <a:gd name="T77" fmla="*/ 5 h 25"/>
                  <a:gd name="T78" fmla="*/ 333 w 452"/>
                  <a:gd name="T79" fmla="*/ 3 h 25"/>
                  <a:gd name="T80" fmla="*/ 373 w 452"/>
                  <a:gd name="T81" fmla="*/ 3 h 25"/>
                  <a:gd name="T82" fmla="*/ 373 w 452"/>
                  <a:gd name="T83" fmla="*/ 3 h 25"/>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w 452"/>
                  <a:gd name="T127" fmla="*/ 0 h 25"/>
                  <a:gd name="T128" fmla="*/ 452 w 452"/>
                  <a:gd name="T129" fmla="*/ 25 h 25"/>
                </a:gdLst>
                <a:ahLst/>
                <a:cxnLst>
                  <a:cxn ang="T84">
                    <a:pos x="T0" y="T1"/>
                  </a:cxn>
                  <a:cxn ang="T85">
                    <a:pos x="T2" y="T3"/>
                  </a:cxn>
                  <a:cxn ang="T86">
                    <a:pos x="T4" y="T5"/>
                  </a:cxn>
                  <a:cxn ang="T87">
                    <a:pos x="T6" y="T7"/>
                  </a:cxn>
                  <a:cxn ang="T88">
                    <a:pos x="T8" y="T9"/>
                  </a:cxn>
                  <a:cxn ang="T89">
                    <a:pos x="T10" y="T11"/>
                  </a:cxn>
                  <a:cxn ang="T90">
                    <a:pos x="T12" y="T13"/>
                  </a:cxn>
                  <a:cxn ang="T91">
                    <a:pos x="T14" y="T15"/>
                  </a:cxn>
                  <a:cxn ang="T92">
                    <a:pos x="T16" y="T17"/>
                  </a:cxn>
                  <a:cxn ang="T93">
                    <a:pos x="T18" y="T19"/>
                  </a:cxn>
                  <a:cxn ang="T94">
                    <a:pos x="T20" y="T21"/>
                  </a:cxn>
                  <a:cxn ang="T95">
                    <a:pos x="T22" y="T23"/>
                  </a:cxn>
                  <a:cxn ang="T96">
                    <a:pos x="T24" y="T25"/>
                  </a:cxn>
                  <a:cxn ang="T97">
                    <a:pos x="T26" y="T27"/>
                  </a:cxn>
                  <a:cxn ang="T98">
                    <a:pos x="T28" y="T29"/>
                  </a:cxn>
                  <a:cxn ang="T99">
                    <a:pos x="T30" y="T31"/>
                  </a:cxn>
                  <a:cxn ang="T100">
                    <a:pos x="T32" y="T33"/>
                  </a:cxn>
                  <a:cxn ang="T101">
                    <a:pos x="T34" y="T35"/>
                  </a:cxn>
                  <a:cxn ang="T102">
                    <a:pos x="T36" y="T37"/>
                  </a:cxn>
                  <a:cxn ang="T103">
                    <a:pos x="T38" y="T39"/>
                  </a:cxn>
                  <a:cxn ang="T104">
                    <a:pos x="T40" y="T41"/>
                  </a:cxn>
                  <a:cxn ang="T105">
                    <a:pos x="T42" y="T43"/>
                  </a:cxn>
                  <a:cxn ang="T106">
                    <a:pos x="T44" y="T45"/>
                  </a:cxn>
                  <a:cxn ang="T107">
                    <a:pos x="T46" y="T47"/>
                  </a:cxn>
                  <a:cxn ang="T108">
                    <a:pos x="T48" y="T49"/>
                  </a:cxn>
                  <a:cxn ang="T109">
                    <a:pos x="T50" y="T51"/>
                  </a:cxn>
                  <a:cxn ang="T110">
                    <a:pos x="T52" y="T53"/>
                  </a:cxn>
                  <a:cxn ang="T111">
                    <a:pos x="T54" y="T55"/>
                  </a:cxn>
                  <a:cxn ang="T112">
                    <a:pos x="T56" y="T57"/>
                  </a:cxn>
                  <a:cxn ang="T113">
                    <a:pos x="T58" y="T59"/>
                  </a:cxn>
                  <a:cxn ang="T114">
                    <a:pos x="T60" y="T61"/>
                  </a:cxn>
                  <a:cxn ang="T115">
                    <a:pos x="T62" y="T63"/>
                  </a:cxn>
                  <a:cxn ang="T116">
                    <a:pos x="T64" y="T65"/>
                  </a:cxn>
                  <a:cxn ang="T117">
                    <a:pos x="T66" y="T67"/>
                  </a:cxn>
                  <a:cxn ang="T118">
                    <a:pos x="T68" y="T69"/>
                  </a:cxn>
                  <a:cxn ang="T119">
                    <a:pos x="T70" y="T71"/>
                  </a:cxn>
                  <a:cxn ang="T120">
                    <a:pos x="T72" y="T73"/>
                  </a:cxn>
                  <a:cxn ang="T121">
                    <a:pos x="T74" y="T75"/>
                  </a:cxn>
                  <a:cxn ang="T122">
                    <a:pos x="T76" y="T77"/>
                  </a:cxn>
                  <a:cxn ang="T123">
                    <a:pos x="T78" y="T79"/>
                  </a:cxn>
                  <a:cxn ang="T124">
                    <a:pos x="T80" y="T81"/>
                  </a:cxn>
                  <a:cxn ang="T125">
                    <a:pos x="T82" y="T83"/>
                  </a:cxn>
                </a:cxnLst>
                <a:rect l="T126" t="T127" r="T128" b="T129"/>
                <a:pathLst>
                  <a:path w="452" h="25">
                    <a:moveTo>
                      <a:pt x="373" y="3"/>
                    </a:moveTo>
                    <a:lnTo>
                      <a:pt x="377" y="3"/>
                    </a:lnTo>
                    <a:lnTo>
                      <a:pt x="384" y="3"/>
                    </a:lnTo>
                    <a:lnTo>
                      <a:pt x="397" y="0"/>
                    </a:lnTo>
                    <a:lnTo>
                      <a:pt x="408" y="0"/>
                    </a:lnTo>
                    <a:lnTo>
                      <a:pt x="421" y="0"/>
                    </a:lnTo>
                    <a:lnTo>
                      <a:pt x="435" y="0"/>
                    </a:lnTo>
                    <a:lnTo>
                      <a:pt x="443" y="0"/>
                    </a:lnTo>
                    <a:lnTo>
                      <a:pt x="450" y="3"/>
                    </a:lnTo>
                    <a:lnTo>
                      <a:pt x="452" y="5"/>
                    </a:lnTo>
                    <a:lnTo>
                      <a:pt x="452" y="7"/>
                    </a:lnTo>
                    <a:lnTo>
                      <a:pt x="448" y="9"/>
                    </a:lnTo>
                    <a:lnTo>
                      <a:pt x="443" y="11"/>
                    </a:lnTo>
                    <a:lnTo>
                      <a:pt x="437" y="11"/>
                    </a:lnTo>
                    <a:lnTo>
                      <a:pt x="428" y="14"/>
                    </a:lnTo>
                    <a:lnTo>
                      <a:pt x="419" y="14"/>
                    </a:lnTo>
                    <a:lnTo>
                      <a:pt x="410" y="14"/>
                    </a:lnTo>
                    <a:lnTo>
                      <a:pt x="368" y="14"/>
                    </a:lnTo>
                    <a:lnTo>
                      <a:pt x="322" y="16"/>
                    </a:lnTo>
                    <a:lnTo>
                      <a:pt x="273" y="18"/>
                    </a:lnTo>
                    <a:lnTo>
                      <a:pt x="224" y="20"/>
                    </a:lnTo>
                    <a:lnTo>
                      <a:pt x="173" y="20"/>
                    </a:lnTo>
                    <a:lnTo>
                      <a:pt x="127" y="23"/>
                    </a:lnTo>
                    <a:lnTo>
                      <a:pt x="80" y="23"/>
                    </a:lnTo>
                    <a:lnTo>
                      <a:pt x="38" y="25"/>
                    </a:lnTo>
                    <a:lnTo>
                      <a:pt x="22" y="23"/>
                    </a:lnTo>
                    <a:lnTo>
                      <a:pt x="13" y="23"/>
                    </a:lnTo>
                    <a:lnTo>
                      <a:pt x="5" y="20"/>
                    </a:lnTo>
                    <a:lnTo>
                      <a:pt x="2" y="20"/>
                    </a:lnTo>
                    <a:lnTo>
                      <a:pt x="0" y="18"/>
                    </a:lnTo>
                    <a:lnTo>
                      <a:pt x="2" y="16"/>
                    </a:lnTo>
                    <a:lnTo>
                      <a:pt x="7" y="14"/>
                    </a:lnTo>
                    <a:lnTo>
                      <a:pt x="16" y="14"/>
                    </a:lnTo>
                    <a:lnTo>
                      <a:pt x="53" y="11"/>
                    </a:lnTo>
                    <a:lnTo>
                      <a:pt x="98" y="9"/>
                    </a:lnTo>
                    <a:lnTo>
                      <a:pt x="144" y="9"/>
                    </a:lnTo>
                    <a:lnTo>
                      <a:pt x="195" y="7"/>
                    </a:lnTo>
                    <a:lnTo>
                      <a:pt x="242" y="5"/>
                    </a:lnTo>
                    <a:lnTo>
                      <a:pt x="291" y="5"/>
                    </a:lnTo>
                    <a:lnTo>
                      <a:pt x="333" y="3"/>
                    </a:lnTo>
                    <a:lnTo>
                      <a:pt x="373" y="3"/>
                    </a:lnTo>
                    <a:close/>
                  </a:path>
                </a:pathLst>
              </a:custGeom>
              <a:solidFill>
                <a:srgbClr val="FFFF85"/>
              </a:solidFill>
              <a:ln w="9525">
                <a:noFill/>
                <a:round/>
                <a:headEnd/>
                <a:tailEnd/>
              </a:ln>
            </p:spPr>
            <p:txBody>
              <a:bodyPr/>
              <a:lstStyle/>
              <a:p>
                <a:endParaRPr lang="en-US"/>
              </a:p>
            </p:txBody>
          </p:sp>
          <p:sp>
            <p:nvSpPr>
              <p:cNvPr id="157736" name="Freeform 38"/>
              <p:cNvSpPr>
                <a:spLocks/>
              </p:cNvSpPr>
              <p:nvPr/>
            </p:nvSpPr>
            <p:spPr bwMode="auto">
              <a:xfrm>
                <a:off x="2787" y="911"/>
                <a:ext cx="241" cy="20"/>
              </a:xfrm>
              <a:custGeom>
                <a:avLst/>
                <a:gdLst>
                  <a:gd name="T0" fmla="*/ 186 w 241"/>
                  <a:gd name="T1" fmla="*/ 2 h 20"/>
                  <a:gd name="T2" fmla="*/ 190 w 241"/>
                  <a:gd name="T3" fmla="*/ 0 h 20"/>
                  <a:gd name="T4" fmla="*/ 197 w 241"/>
                  <a:gd name="T5" fmla="*/ 0 h 20"/>
                  <a:gd name="T6" fmla="*/ 203 w 241"/>
                  <a:gd name="T7" fmla="*/ 0 h 20"/>
                  <a:gd name="T8" fmla="*/ 212 w 241"/>
                  <a:gd name="T9" fmla="*/ 0 h 20"/>
                  <a:gd name="T10" fmla="*/ 219 w 241"/>
                  <a:gd name="T11" fmla="*/ 0 h 20"/>
                  <a:gd name="T12" fmla="*/ 226 w 241"/>
                  <a:gd name="T13" fmla="*/ 0 h 20"/>
                  <a:gd name="T14" fmla="*/ 232 w 241"/>
                  <a:gd name="T15" fmla="*/ 0 h 20"/>
                  <a:gd name="T16" fmla="*/ 239 w 241"/>
                  <a:gd name="T17" fmla="*/ 2 h 20"/>
                  <a:gd name="T18" fmla="*/ 241 w 241"/>
                  <a:gd name="T19" fmla="*/ 4 h 20"/>
                  <a:gd name="T20" fmla="*/ 239 w 241"/>
                  <a:gd name="T21" fmla="*/ 9 h 20"/>
                  <a:gd name="T22" fmla="*/ 230 w 241"/>
                  <a:gd name="T23" fmla="*/ 11 h 20"/>
                  <a:gd name="T24" fmla="*/ 219 w 241"/>
                  <a:gd name="T25" fmla="*/ 13 h 20"/>
                  <a:gd name="T26" fmla="*/ 208 w 241"/>
                  <a:gd name="T27" fmla="*/ 15 h 20"/>
                  <a:gd name="T28" fmla="*/ 197 w 241"/>
                  <a:gd name="T29" fmla="*/ 15 h 20"/>
                  <a:gd name="T30" fmla="*/ 186 w 241"/>
                  <a:gd name="T31" fmla="*/ 15 h 20"/>
                  <a:gd name="T32" fmla="*/ 172 w 241"/>
                  <a:gd name="T33" fmla="*/ 15 h 20"/>
                  <a:gd name="T34" fmla="*/ 161 w 241"/>
                  <a:gd name="T35" fmla="*/ 15 h 20"/>
                  <a:gd name="T36" fmla="*/ 150 w 241"/>
                  <a:gd name="T37" fmla="*/ 17 h 20"/>
                  <a:gd name="T38" fmla="*/ 133 w 241"/>
                  <a:gd name="T39" fmla="*/ 17 h 20"/>
                  <a:gd name="T40" fmla="*/ 115 w 241"/>
                  <a:gd name="T41" fmla="*/ 17 h 20"/>
                  <a:gd name="T42" fmla="*/ 97 w 241"/>
                  <a:gd name="T43" fmla="*/ 17 h 20"/>
                  <a:gd name="T44" fmla="*/ 79 w 241"/>
                  <a:gd name="T45" fmla="*/ 17 h 20"/>
                  <a:gd name="T46" fmla="*/ 62 w 241"/>
                  <a:gd name="T47" fmla="*/ 17 h 20"/>
                  <a:gd name="T48" fmla="*/ 42 w 241"/>
                  <a:gd name="T49" fmla="*/ 17 h 20"/>
                  <a:gd name="T50" fmla="*/ 24 w 241"/>
                  <a:gd name="T51" fmla="*/ 17 h 20"/>
                  <a:gd name="T52" fmla="*/ 8 w 241"/>
                  <a:gd name="T53" fmla="*/ 20 h 20"/>
                  <a:gd name="T54" fmla="*/ 2 w 241"/>
                  <a:gd name="T55" fmla="*/ 17 h 20"/>
                  <a:gd name="T56" fmla="*/ 0 w 241"/>
                  <a:gd name="T57" fmla="*/ 15 h 20"/>
                  <a:gd name="T58" fmla="*/ 0 w 241"/>
                  <a:gd name="T59" fmla="*/ 11 h 20"/>
                  <a:gd name="T60" fmla="*/ 4 w 241"/>
                  <a:gd name="T61" fmla="*/ 9 h 20"/>
                  <a:gd name="T62" fmla="*/ 15 w 241"/>
                  <a:gd name="T63" fmla="*/ 6 h 20"/>
                  <a:gd name="T64" fmla="*/ 26 w 241"/>
                  <a:gd name="T65" fmla="*/ 6 h 20"/>
                  <a:gd name="T66" fmla="*/ 37 w 241"/>
                  <a:gd name="T67" fmla="*/ 4 h 20"/>
                  <a:gd name="T68" fmla="*/ 48 w 241"/>
                  <a:gd name="T69" fmla="*/ 4 h 20"/>
                  <a:gd name="T70" fmla="*/ 59 w 241"/>
                  <a:gd name="T71" fmla="*/ 4 h 20"/>
                  <a:gd name="T72" fmla="*/ 70 w 241"/>
                  <a:gd name="T73" fmla="*/ 4 h 20"/>
                  <a:gd name="T74" fmla="*/ 82 w 241"/>
                  <a:gd name="T75" fmla="*/ 4 h 20"/>
                  <a:gd name="T76" fmla="*/ 93 w 241"/>
                  <a:gd name="T77" fmla="*/ 6 h 20"/>
                  <a:gd name="T78" fmla="*/ 104 w 241"/>
                  <a:gd name="T79" fmla="*/ 4 h 20"/>
                  <a:gd name="T80" fmla="*/ 115 w 241"/>
                  <a:gd name="T81" fmla="*/ 4 h 20"/>
                  <a:gd name="T82" fmla="*/ 128 w 241"/>
                  <a:gd name="T83" fmla="*/ 2 h 20"/>
                  <a:gd name="T84" fmla="*/ 139 w 241"/>
                  <a:gd name="T85" fmla="*/ 2 h 20"/>
                  <a:gd name="T86" fmla="*/ 150 w 241"/>
                  <a:gd name="T87" fmla="*/ 2 h 20"/>
                  <a:gd name="T88" fmla="*/ 164 w 241"/>
                  <a:gd name="T89" fmla="*/ 2 h 20"/>
                  <a:gd name="T90" fmla="*/ 175 w 241"/>
                  <a:gd name="T91" fmla="*/ 2 h 20"/>
                  <a:gd name="T92" fmla="*/ 186 w 241"/>
                  <a:gd name="T93" fmla="*/ 2 h 20"/>
                  <a:gd name="T94" fmla="*/ 186 w 241"/>
                  <a:gd name="T95" fmla="*/ 2 h 20"/>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w 241"/>
                  <a:gd name="T145" fmla="*/ 0 h 20"/>
                  <a:gd name="T146" fmla="*/ 241 w 241"/>
                  <a:gd name="T147" fmla="*/ 20 h 20"/>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T144" t="T145" r="T146" b="T147"/>
                <a:pathLst>
                  <a:path w="241" h="20">
                    <a:moveTo>
                      <a:pt x="186" y="2"/>
                    </a:moveTo>
                    <a:lnTo>
                      <a:pt x="190" y="0"/>
                    </a:lnTo>
                    <a:lnTo>
                      <a:pt x="197" y="0"/>
                    </a:lnTo>
                    <a:lnTo>
                      <a:pt x="203" y="0"/>
                    </a:lnTo>
                    <a:lnTo>
                      <a:pt x="212" y="0"/>
                    </a:lnTo>
                    <a:lnTo>
                      <a:pt x="219" y="0"/>
                    </a:lnTo>
                    <a:lnTo>
                      <a:pt x="226" y="0"/>
                    </a:lnTo>
                    <a:lnTo>
                      <a:pt x="232" y="0"/>
                    </a:lnTo>
                    <a:lnTo>
                      <a:pt x="239" y="2"/>
                    </a:lnTo>
                    <a:lnTo>
                      <a:pt x="241" y="4"/>
                    </a:lnTo>
                    <a:lnTo>
                      <a:pt x="239" y="9"/>
                    </a:lnTo>
                    <a:lnTo>
                      <a:pt x="230" y="11"/>
                    </a:lnTo>
                    <a:lnTo>
                      <a:pt x="219" y="13"/>
                    </a:lnTo>
                    <a:lnTo>
                      <a:pt x="208" y="15"/>
                    </a:lnTo>
                    <a:lnTo>
                      <a:pt x="197" y="15"/>
                    </a:lnTo>
                    <a:lnTo>
                      <a:pt x="186" y="15"/>
                    </a:lnTo>
                    <a:lnTo>
                      <a:pt x="172" y="15"/>
                    </a:lnTo>
                    <a:lnTo>
                      <a:pt x="161" y="15"/>
                    </a:lnTo>
                    <a:lnTo>
                      <a:pt x="150" y="17"/>
                    </a:lnTo>
                    <a:lnTo>
                      <a:pt x="133" y="17"/>
                    </a:lnTo>
                    <a:lnTo>
                      <a:pt x="115" y="17"/>
                    </a:lnTo>
                    <a:lnTo>
                      <a:pt x="97" y="17"/>
                    </a:lnTo>
                    <a:lnTo>
                      <a:pt x="79" y="17"/>
                    </a:lnTo>
                    <a:lnTo>
                      <a:pt x="62" y="17"/>
                    </a:lnTo>
                    <a:lnTo>
                      <a:pt x="42" y="17"/>
                    </a:lnTo>
                    <a:lnTo>
                      <a:pt x="24" y="17"/>
                    </a:lnTo>
                    <a:lnTo>
                      <a:pt x="8" y="20"/>
                    </a:lnTo>
                    <a:lnTo>
                      <a:pt x="2" y="17"/>
                    </a:lnTo>
                    <a:lnTo>
                      <a:pt x="0" y="15"/>
                    </a:lnTo>
                    <a:lnTo>
                      <a:pt x="0" y="11"/>
                    </a:lnTo>
                    <a:lnTo>
                      <a:pt x="4" y="9"/>
                    </a:lnTo>
                    <a:lnTo>
                      <a:pt x="15" y="6"/>
                    </a:lnTo>
                    <a:lnTo>
                      <a:pt x="26" y="6"/>
                    </a:lnTo>
                    <a:lnTo>
                      <a:pt x="37" y="4"/>
                    </a:lnTo>
                    <a:lnTo>
                      <a:pt x="48" y="4"/>
                    </a:lnTo>
                    <a:lnTo>
                      <a:pt x="59" y="4"/>
                    </a:lnTo>
                    <a:lnTo>
                      <a:pt x="70" y="4"/>
                    </a:lnTo>
                    <a:lnTo>
                      <a:pt x="82" y="4"/>
                    </a:lnTo>
                    <a:lnTo>
                      <a:pt x="93" y="6"/>
                    </a:lnTo>
                    <a:lnTo>
                      <a:pt x="104" y="4"/>
                    </a:lnTo>
                    <a:lnTo>
                      <a:pt x="115" y="4"/>
                    </a:lnTo>
                    <a:lnTo>
                      <a:pt x="128" y="2"/>
                    </a:lnTo>
                    <a:lnTo>
                      <a:pt x="139" y="2"/>
                    </a:lnTo>
                    <a:lnTo>
                      <a:pt x="150" y="2"/>
                    </a:lnTo>
                    <a:lnTo>
                      <a:pt x="164" y="2"/>
                    </a:lnTo>
                    <a:lnTo>
                      <a:pt x="175" y="2"/>
                    </a:lnTo>
                    <a:lnTo>
                      <a:pt x="186" y="2"/>
                    </a:lnTo>
                    <a:close/>
                  </a:path>
                </a:pathLst>
              </a:custGeom>
              <a:solidFill>
                <a:srgbClr val="FFFF85"/>
              </a:solidFill>
              <a:ln w="9525">
                <a:noFill/>
                <a:round/>
                <a:headEnd/>
                <a:tailEnd/>
              </a:ln>
            </p:spPr>
            <p:txBody>
              <a:bodyPr/>
              <a:lstStyle/>
              <a:p>
                <a:endParaRPr lang="en-US"/>
              </a:p>
            </p:txBody>
          </p:sp>
          <p:sp>
            <p:nvSpPr>
              <p:cNvPr id="157737" name="Freeform 39"/>
              <p:cNvSpPr>
                <a:spLocks/>
              </p:cNvSpPr>
              <p:nvPr/>
            </p:nvSpPr>
            <p:spPr bwMode="auto">
              <a:xfrm>
                <a:off x="2982" y="1531"/>
                <a:ext cx="117" cy="16"/>
              </a:xfrm>
              <a:custGeom>
                <a:avLst/>
                <a:gdLst>
                  <a:gd name="T0" fmla="*/ 33 w 117"/>
                  <a:gd name="T1" fmla="*/ 2 h 16"/>
                  <a:gd name="T2" fmla="*/ 39 w 117"/>
                  <a:gd name="T3" fmla="*/ 2 h 16"/>
                  <a:gd name="T4" fmla="*/ 51 w 117"/>
                  <a:gd name="T5" fmla="*/ 2 h 16"/>
                  <a:gd name="T6" fmla="*/ 59 w 117"/>
                  <a:gd name="T7" fmla="*/ 0 h 16"/>
                  <a:gd name="T8" fmla="*/ 73 w 117"/>
                  <a:gd name="T9" fmla="*/ 0 h 16"/>
                  <a:gd name="T10" fmla="*/ 82 w 117"/>
                  <a:gd name="T11" fmla="*/ 0 h 16"/>
                  <a:gd name="T12" fmla="*/ 93 w 117"/>
                  <a:gd name="T13" fmla="*/ 0 h 16"/>
                  <a:gd name="T14" fmla="*/ 102 w 117"/>
                  <a:gd name="T15" fmla="*/ 0 h 16"/>
                  <a:gd name="T16" fmla="*/ 110 w 117"/>
                  <a:gd name="T17" fmla="*/ 2 h 16"/>
                  <a:gd name="T18" fmla="*/ 117 w 117"/>
                  <a:gd name="T19" fmla="*/ 4 h 16"/>
                  <a:gd name="T20" fmla="*/ 115 w 117"/>
                  <a:gd name="T21" fmla="*/ 11 h 16"/>
                  <a:gd name="T22" fmla="*/ 99 w 117"/>
                  <a:gd name="T23" fmla="*/ 11 h 16"/>
                  <a:gd name="T24" fmla="*/ 86 w 117"/>
                  <a:gd name="T25" fmla="*/ 13 h 16"/>
                  <a:gd name="T26" fmla="*/ 73 w 117"/>
                  <a:gd name="T27" fmla="*/ 13 h 16"/>
                  <a:gd name="T28" fmla="*/ 59 w 117"/>
                  <a:gd name="T29" fmla="*/ 13 h 16"/>
                  <a:gd name="T30" fmla="*/ 44 w 117"/>
                  <a:gd name="T31" fmla="*/ 13 h 16"/>
                  <a:gd name="T32" fmla="*/ 31 w 117"/>
                  <a:gd name="T33" fmla="*/ 13 h 16"/>
                  <a:gd name="T34" fmla="*/ 15 w 117"/>
                  <a:gd name="T35" fmla="*/ 13 h 16"/>
                  <a:gd name="T36" fmla="*/ 2 w 117"/>
                  <a:gd name="T37" fmla="*/ 16 h 16"/>
                  <a:gd name="T38" fmla="*/ 0 w 117"/>
                  <a:gd name="T39" fmla="*/ 11 h 16"/>
                  <a:gd name="T40" fmla="*/ 2 w 117"/>
                  <a:gd name="T41" fmla="*/ 7 h 16"/>
                  <a:gd name="T42" fmla="*/ 2 w 117"/>
                  <a:gd name="T43" fmla="*/ 4 h 16"/>
                  <a:gd name="T44" fmla="*/ 6 w 117"/>
                  <a:gd name="T45" fmla="*/ 4 h 16"/>
                  <a:gd name="T46" fmla="*/ 11 w 117"/>
                  <a:gd name="T47" fmla="*/ 2 h 16"/>
                  <a:gd name="T48" fmla="*/ 17 w 117"/>
                  <a:gd name="T49" fmla="*/ 2 h 16"/>
                  <a:gd name="T50" fmla="*/ 22 w 117"/>
                  <a:gd name="T51" fmla="*/ 2 h 16"/>
                  <a:gd name="T52" fmla="*/ 26 w 117"/>
                  <a:gd name="T53" fmla="*/ 2 h 16"/>
                  <a:gd name="T54" fmla="*/ 31 w 117"/>
                  <a:gd name="T55" fmla="*/ 2 h 16"/>
                  <a:gd name="T56" fmla="*/ 33 w 117"/>
                  <a:gd name="T57" fmla="*/ 2 h 16"/>
                  <a:gd name="T58" fmla="*/ 33 w 117"/>
                  <a:gd name="T59" fmla="*/ 2 h 1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w 117"/>
                  <a:gd name="T91" fmla="*/ 0 h 16"/>
                  <a:gd name="T92" fmla="*/ 117 w 117"/>
                  <a:gd name="T93" fmla="*/ 16 h 16"/>
                </a:gdLst>
                <a:ahLst/>
                <a:cxnLst>
                  <a:cxn ang="T60">
                    <a:pos x="T0" y="T1"/>
                  </a:cxn>
                  <a:cxn ang="T61">
                    <a:pos x="T2" y="T3"/>
                  </a:cxn>
                  <a:cxn ang="T62">
                    <a:pos x="T4" y="T5"/>
                  </a:cxn>
                  <a:cxn ang="T63">
                    <a:pos x="T6" y="T7"/>
                  </a:cxn>
                  <a:cxn ang="T64">
                    <a:pos x="T8" y="T9"/>
                  </a:cxn>
                  <a:cxn ang="T65">
                    <a:pos x="T10" y="T11"/>
                  </a:cxn>
                  <a:cxn ang="T66">
                    <a:pos x="T12" y="T13"/>
                  </a:cxn>
                  <a:cxn ang="T67">
                    <a:pos x="T14" y="T15"/>
                  </a:cxn>
                  <a:cxn ang="T68">
                    <a:pos x="T16" y="T17"/>
                  </a:cxn>
                  <a:cxn ang="T69">
                    <a:pos x="T18" y="T19"/>
                  </a:cxn>
                  <a:cxn ang="T70">
                    <a:pos x="T20" y="T21"/>
                  </a:cxn>
                  <a:cxn ang="T71">
                    <a:pos x="T22" y="T23"/>
                  </a:cxn>
                  <a:cxn ang="T72">
                    <a:pos x="T24" y="T25"/>
                  </a:cxn>
                  <a:cxn ang="T73">
                    <a:pos x="T26" y="T27"/>
                  </a:cxn>
                  <a:cxn ang="T74">
                    <a:pos x="T28" y="T29"/>
                  </a:cxn>
                  <a:cxn ang="T75">
                    <a:pos x="T30" y="T31"/>
                  </a:cxn>
                  <a:cxn ang="T76">
                    <a:pos x="T32" y="T33"/>
                  </a:cxn>
                  <a:cxn ang="T77">
                    <a:pos x="T34" y="T35"/>
                  </a:cxn>
                  <a:cxn ang="T78">
                    <a:pos x="T36" y="T37"/>
                  </a:cxn>
                  <a:cxn ang="T79">
                    <a:pos x="T38" y="T39"/>
                  </a:cxn>
                  <a:cxn ang="T80">
                    <a:pos x="T40" y="T41"/>
                  </a:cxn>
                  <a:cxn ang="T81">
                    <a:pos x="T42" y="T43"/>
                  </a:cxn>
                  <a:cxn ang="T82">
                    <a:pos x="T44" y="T45"/>
                  </a:cxn>
                  <a:cxn ang="T83">
                    <a:pos x="T46" y="T47"/>
                  </a:cxn>
                  <a:cxn ang="T84">
                    <a:pos x="T48" y="T49"/>
                  </a:cxn>
                  <a:cxn ang="T85">
                    <a:pos x="T50" y="T51"/>
                  </a:cxn>
                  <a:cxn ang="T86">
                    <a:pos x="T52" y="T53"/>
                  </a:cxn>
                  <a:cxn ang="T87">
                    <a:pos x="T54" y="T55"/>
                  </a:cxn>
                  <a:cxn ang="T88">
                    <a:pos x="T56" y="T57"/>
                  </a:cxn>
                  <a:cxn ang="T89">
                    <a:pos x="T58" y="T59"/>
                  </a:cxn>
                </a:cxnLst>
                <a:rect l="T90" t="T91" r="T92" b="T93"/>
                <a:pathLst>
                  <a:path w="117" h="16">
                    <a:moveTo>
                      <a:pt x="33" y="2"/>
                    </a:moveTo>
                    <a:lnTo>
                      <a:pt x="39" y="2"/>
                    </a:lnTo>
                    <a:lnTo>
                      <a:pt x="51" y="2"/>
                    </a:lnTo>
                    <a:lnTo>
                      <a:pt x="59" y="0"/>
                    </a:lnTo>
                    <a:lnTo>
                      <a:pt x="73" y="0"/>
                    </a:lnTo>
                    <a:lnTo>
                      <a:pt x="82" y="0"/>
                    </a:lnTo>
                    <a:lnTo>
                      <a:pt x="93" y="0"/>
                    </a:lnTo>
                    <a:lnTo>
                      <a:pt x="102" y="0"/>
                    </a:lnTo>
                    <a:lnTo>
                      <a:pt x="110" y="2"/>
                    </a:lnTo>
                    <a:lnTo>
                      <a:pt x="117" y="4"/>
                    </a:lnTo>
                    <a:lnTo>
                      <a:pt x="115" y="11"/>
                    </a:lnTo>
                    <a:lnTo>
                      <a:pt x="99" y="11"/>
                    </a:lnTo>
                    <a:lnTo>
                      <a:pt x="86" y="13"/>
                    </a:lnTo>
                    <a:lnTo>
                      <a:pt x="73" y="13"/>
                    </a:lnTo>
                    <a:lnTo>
                      <a:pt x="59" y="13"/>
                    </a:lnTo>
                    <a:lnTo>
                      <a:pt x="44" y="13"/>
                    </a:lnTo>
                    <a:lnTo>
                      <a:pt x="31" y="13"/>
                    </a:lnTo>
                    <a:lnTo>
                      <a:pt x="15" y="13"/>
                    </a:lnTo>
                    <a:lnTo>
                      <a:pt x="2" y="16"/>
                    </a:lnTo>
                    <a:lnTo>
                      <a:pt x="0" y="11"/>
                    </a:lnTo>
                    <a:lnTo>
                      <a:pt x="2" y="7"/>
                    </a:lnTo>
                    <a:lnTo>
                      <a:pt x="2" y="4"/>
                    </a:lnTo>
                    <a:lnTo>
                      <a:pt x="6" y="4"/>
                    </a:lnTo>
                    <a:lnTo>
                      <a:pt x="11" y="2"/>
                    </a:lnTo>
                    <a:lnTo>
                      <a:pt x="17" y="2"/>
                    </a:lnTo>
                    <a:lnTo>
                      <a:pt x="22" y="2"/>
                    </a:lnTo>
                    <a:lnTo>
                      <a:pt x="26" y="2"/>
                    </a:lnTo>
                    <a:lnTo>
                      <a:pt x="31" y="2"/>
                    </a:lnTo>
                    <a:lnTo>
                      <a:pt x="33" y="2"/>
                    </a:lnTo>
                    <a:close/>
                  </a:path>
                </a:pathLst>
              </a:custGeom>
              <a:solidFill>
                <a:srgbClr val="FFFF85"/>
              </a:solidFill>
              <a:ln w="9525">
                <a:noFill/>
                <a:round/>
                <a:headEnd/>
                <a:tailEnd/>
              </a:ln>
            </p:spPr>
            <p:txBody>
              <a:bodyPr/>
              <a:lstStyle/>
              <a:p>
                <a:endParaRPr lang="en-US"/>
              </a:p>
            </p:txBody>
          </p:sp>
          <p:sp>
            <p:nvSpPr>
              <p:cNvPr id="157738" name="Freeform 40"/>
              <p:cNvSpPr>
                <a:spLocks/>
              </p:cNvSpPr>
              <p:nvPr/>
            </p:nvSpPr>
            <p:spPr bwMode="auto">
              <a:xfrm>
                <a:off x="2667" y="1746"/>
                <a:ext cx="494" cy="15"/>
              </a:xfrm>
              <a:custGeom>
                <a:avLst/>
                <a:gdLst>
                  <a:gd name="T0" fmla="*/ 310 w 494"/>
                  <a:gd name="T1" fmla="*/ 0 h 15"/>
                  <a:gd name="T2" fmla="*/ 326 w 494"/>
                  <a:gd name="T3" fmla="*/ 0 h 15"/>
                  <a:gd name="T4" fmla="*/ 346 w 494"/>
                  <a:gd name="T5" fmla="*/ 0 h 15"/>
                  <a:gd name="T6" fmla="*/ 366 w 494"/>
                  <a:gd name="T7" fmla="*/ 0 h 15"/>
                  <a:gd name="T8" fmla="*/ 388 w 494"/>
                  <a:gd name="T9" fmla="*/ 0 h 15"/>
                  <a:gd name="T10" fmla="*/ 408 w 494"/>
                  <a:gd name="T11" fmla="*/ 0 h 15"/>
                  <a:gd name="T12" fmla="*/ 428 w 494"/>
                  <a:gd name="T13" fmla="*/ 0 h 15"/>
                  <a:gd name="T14" fmla="*/ 445 w 494"/>
                  <a:gd name="T15" fmla="*/ 0 h 15"/>
                  <a:gd name="T16" fmla="*/ 463 w 494"/>
                  <a:gd name="T17" fmla="*/ 0 h 15"/>
                  <a:gd name="T18" fmla="*/ 472 w 494"/>
                  <a:gd name="T19" fmla="*/ 0 h 15"/>
                  <a:gd name="T20" fmla="*/ 481 w 494"/>
                  <a:gd name="T21" fmla="*/ 0 h 15"/>
                  <a:gd name="T22" fmla="*/ 487 w 494"/>
                  <a:gd name="T23" fmla="*/ 0 h 15"/>
                  <a:gd name="T24" fmla="*/ 492 w 494"/>
                  <a:gd name="T25" fmla="*/ 2 h 15"/>
                  <a:gd name="T26" fmla="*/ 494 w 494"/>
                  <a:gd name="T27" fmla="*/ 2 h 15"/>
                  <a:gd name="T28" fmla="*/ 494 w 494"/>
                  <a:gd name="T29" fmla="*/ 4 h 15"/>
                  <a:gd name="T30" fmla="*/ 494 w 494"/>
                  <a:gd name="T31" fmla="*/ 7 h 15"/>
                  <a:gd name="T32" fmla="*/ 490 w 494"/>
                  <a:gd name="T33" fmla="*/ 9 h 15"/>
                  <a:gd name="T34" fmla="*/ 450 w 494"/>
                  <a:gd name="T35" fmla="*/ 11 h 15"/>
                  <a:gd name="T36" fmla="*/ 410 w 494"/>
                  <a:gd name="T37" fmla="*/ 13 h 15"/>
                  <a:gd name="T38" fmla="*/ 368 w 494"/>
                  <a:gd name="T39" fmla="*/ 13 h 15"/>
                  <a:gd name="T40" fmla="*/ 326 w 494"/>
                  <a:gd name="T41" fmla="*/ 13 h 15"/>
                  <a:gd name="T42" fmla="*/ 281 w 494"/>
                  <a:gd name="T43" fmla="*/ 13 h 15"/>
                  <a:gd name="T44" fmla="*/ 239 w 494"/>
                  <a:gd name="T45" fmla="*/ 13 h 15"/>
                  <a:gd name="T46" fmla="*/ 197 w 494"/>
                  <a:gd name="T47" fmla="*/ 13 h 15"/>
                  <a:gd name="T48" fmla="*/ 155 w 494"/>
                  <a:gd name="T49" fmla="*/ 15 h 15"/>
                  <a:gd name="T50" fmla="*/ 139 w 494"/>
                  <a:gd name="T51" fmla="*/ 15 h 15"/>
                  <a:gd name="T52" fmla="*/ 122 w 494"/>
                  <a:gd name="T53" fmla="*/ 15 h 15"/>
                  <a:gd name="T54" fmla="*/ 104 w 494"/>
                  <a:gd name="T55" fmla="*/ 15 h 15"/>
                  <a:gd name="T56" fmla="*/ 86 w 494"/>
                  <a:gd name="T57" fmla="*/ 15 h 15"/>
                  <a:gd name="T58" fmla="*/ 69 w 494"/>
                  <a:gd name="T59" fmla="*/ 15 h 15"/>
                  <a:gd name="T60" fmla="*/ 51 w 494"/>
                  <a:gd name="T61" fmla="*/ 15 h 15"/>
                  <a:gd name="T62" fmla="*/ 33 w 494"/>
                  <a:gd name="T63" fmla="*/ 15 h 15"/>
                  <a:gd name="T64" fmla="*/ 20 w 494"/>
                  <a:gd name="T65" fmla="*/ 15 h 15"/>
                  <a:gd name="T66" fmla="*/ 11 w 494"/>
                  <a:gd name="T67" fmla="*/ 13 h 15"/>
                  <a:gd name="T68" fmla="*/ 6 w 494"/>
                  <a:gd name="T69" fmla="*/ 13 h 15"/>
                  <a:gd name="T70" fmla="*/ 2 w 494"/>
                  <a:gd name="T71" fmla="*/ 11 h 15"/>
                  <a:gd name="T72" fmla="*/ 2 w 494"/>
                  <a:gd name="T73" fmla="*/ 9 h 15"/>
                  <a:gd name="T74" fmla="*/ 0 w 494"/>
                  <a:gd name="T75" fmla="*/ 7 h 15"/>
                  <a:gd name="T76" fmla="*/ 2 w 494"/>
                  <a:gd name="T77" fmla="*/ 4 h 15"/>
                  <a:gd name="T78" fmla="*/ 4 w 494"/>
                  <a:gd name="T79" fmla="*/ 2 h 15"/>
                  <a:gd name="T80" fmla="*/ 11 w 494"/>
                  <a:gd name="T81" fmla="*/ 2 h 15"/>
                  <a:gd name="T82" fmla="*/ 31 w 494"/>
                  <a:gd name="T83" fmla="*/ 2 h 15"/>
                  <a:gd name="T84" fmla="*/ 55 w 494"/>
                  <a:gd name="T85" fmla="*/ 2 h 15"/>
                  <a:gd name="T86" fmla="*/ 80 w 494"/>
                  <a:gd name="T87" fmla="*/ 2 h 15"/>
                  <a:gd name="T88" fmla="*/ 108 w 494"/>
                  <a:gd name="T89" fmla="*/ 2 h 15"/>
                  <a:gd name="T90" fmla="*/ 133 w 494"/>
                  <a:gd name="T91" fmla="*/ 2 h 15"/>
                  <a:gd name="T92" fmla="*/ 157 w 494"/>
                  <a:gd name="T93" fmla="*/ 2 h 15"/>
                  <a:gd name="T94" fmla="*/ 179 w 494"/>
                  <a:gd name="T95" fmla="*/ 2 h 15"/>
                  <a:gd name="T96" fmla="*/ 197 w 494"/>
                  <a:gd name="T97" fmla="*/ 2 h 15"/>
                  <a:gd name="T98" fmla="*/ 213 w 494"/>
                  <a:gd name="T99" fmla="*/ 2 h 15"/>
                  <a:gd name="T100" fmla="*/ 228 w 494"/>
                  <a:gd name="T101" fmla="*/ 2 h 15"/>
                  <a:gd name="T102" fmla="*/ 241 w 494"/>
                  <a:gd name="T103" fmla="*/ 2 h 15"/>
                  <a:gd name="T104" fmla="*/ 257 w 494"/>
                  <a:gd name="T105" fmla="*/ 2 h 15"/>
                  <a:gd name="T106" fmla="*/ 270 w 494"/>
                  <a:gd name="T107" fmla="*/ 0 h 15"/>
                  <a:gd name="T108" fmla="*/ 284 w 494"/>
                  <a:gd name="T109" fmla="*/ 0 h 15"/>
                  <a:gd name="T110" fmla="*/ 297 w 494"/>
                  <a:gd name="T111" fmla="*/ 0 h 15"/>
                  <a:gd name="T112" fmla="*/ 310 w 494"/>
                  <a:gd name="T113" fmla="*/ 0 h 15"/>
                  <a:gd name="T114" fmla="*/ 310 w 494"/>
                  <a:gd name="T115" fmla="*/ 0 h 15"/>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w 494"/>
                  <a:gd name="T175" fmla="*/ 0 h 15"/>
                  <a:gd name="T176" fmla="*/ 494 w 494"/>
                  <a:gd name="T177" fmla="*/ 15 h 15"/>
                </a:gdLst>
                <a:ahLst/>
                <a:cxnLst>
                  <a:cxn ang="T116">
                    <a:pos x="T0" y="T1"/>
                  </a:cxn>
                  <a:cxn ang="T117">
                    <a:pos x="T2" y="T3"/>
                  </a:cxn>
                  <a:cxn ang="T118">
                    <a:pos x="T4" y="T5"/>
                  </a:cxn>
                  <a:cxn ang="T119">
                    <a:pos x="T6" y="T7"/>
                  </a:cxn>
                  <a:cxn ang="T120">
                    <a:pos x="T8" y="T9"/>
                  </a:cxn>
                  <a:cxn ang="T121">
                    <a:pos x="T10" y="T11"/>
                  </a:cxn>
                  <a:cxn ang="T122">
                    <a:pos x="T12" y="T13"/>
                  </a:cxn>
                  <a:cxn ang="T123">
                    <a:pos x="T14" y="T15"/>
                  </a:cxn>
                  <a:cxn ang="T124">
                    <a:pos x="T16" y="T17"/>
                  </a:cxn>
                  <a:cxn ang="T125">
                    <a:pos x="T18" y="T19"/>
                  </a:cxn>
                  <a:cxn ang="T126">
                    <a:pos x="T20" y="T21"/>
                  </a:cxn>
                  <a:cxn ang="T127">
                    <a:pos x="T22" y="T23"/>
                  </a:cxn>
                  <a:cxn ang="T128">
                    <a:pos x="T24" y="T25"/>
                  </a:cxn>
                  <a:cxn ang="T129">
                    <a:pos x="T26" y="T27"/>
                  </a:cxn>
                  <a:cxn ang="T130">
                    <a:pos x="T28" y="T29"/>
                  </a:cxn>
                  <a:cxn ang="T131">
                    <a:pos x="T30" y="T31"/>
                  </a:cxn>
                  <a:cxn ang="T132">
                    <a:pos x="T32" y="T33"/>
                  </a:cxn>
                  <a:cxn ang="T133">
                    <a:pos x="T34" y="T35"/>
                  </a:cxn>
                  <a:cxn ang="T134">
                    <a:pos x="T36" y="T37"/>
                  </a:cxn>
                  <a:cxn ang="T135">
                    <a:pos x="T38" y="T39"/>
                  </a:cxn>
                  <a:cxn ang="T136">
                    <a:pos x="T40" y="T41"/>
                  </a:cxn>
                  <a:cxn ang="T137">
                    <a:pos x="T42" y="T43"/>
                  </a:cxn>
                  <a:cxn ang="T138">
                    <a:pos x="T44" y="T45"/>
                  </a:cxn>
                  <a:cxn ang="T139">
                    <a:pos x="T46" y="T47"/>
                  </a:cxn>
                  <a:cxn ang="T140">
                    <a:pos x="T48" y="T49"/>
                  </a:cxn>
                  <a:cxn ang="T141">
                    <a:pos x="T50" y="T51"/>
                  </a:cxn>
                  <a:cxn ang="T142">
                    <a:pos x="T52" y="T53"/>
                  </a:cxn>
                  <a:cxn ang="T143">
                    <a:pos x="T54" y="T55"/>
                  </a:cxn>
                  <a:cxn ang="T144">
                    <a:pos x="T56" y="T57"/>
                  </a:cxn>
                  <a:cxn ang="T145">
                    <a:pos x="T58" y="T59"/>
                  </a:cxn>
                  <a:cxn ang="T146">
                    <a:pos x="T60" y="T61"/>
                  </a:cxn>
                  <a:cxn ang="T147">
                    <a:pos x="T62" y="T63"/>
                  </a:cxn>
                  <a:cxn ang="T148">
                    <a:pos x="T64" y="T65"/>
                  </a:cxn>
                  <a:cxn ang="T149">
                    <a:pos x="T66" y="T67"/>
                  </a:cxn>
                  <a:cxn ang="T150">
                    <a:pos x="T68" y="T69"/>
                  </a:cxn>
                  <a:cxn ang="T151">
                    <a:pos x="T70" y="T71"/>
                  </a:cxn>
                  <a:cxn ang="T152">
                    <a:pos x="T72" y="T73"/>
                  </a:cxn>
                  <a:cxn ang="T153">
                    <a:pos x="T74" y="T75"/>
                  </a:cxn>
                  <a:cxn ang="T154">
                    <a:pos x="T76" y="T77"/>
                  </a:cxn>
                  <a:cxn ang="T155">
                    <a:pos x="T78" y="T79"/>
                  </a:cxn>
                  <a:cxn ang="T156">
                    <a:pos x="T80" y="T81"/>
                  </a:cxn>
                  <a:cxn ang="T157">
                    <a:pos x="T82" y="T83"/>
                  </a:cxn>
                  <a:cxn ang="T158">
                    <a:pos x="T84" y="T85"/>
                  </a:cxn>
                  <a:cxn ang="T159">
                    <a:pos x="T86" y="T87"/>
                  </a:cxn>
                  <a:cxn ang="T160">
                    <a:pos x="T88" y="T89"/>
                  </a:cxn>
                  <a:cxn ang="T161">
                    <a:pos x="T90" y="T91"/>
                  </a:cxn>
                  <a:cxn ang="T162">
                    <a:pos x="T92" y="T93"/>
                  </a:cxn>
                  <a:cxn ang="T163">
                    <a:pos x="T94" y="T95"/>
                  </a:cxn>
                  <a:cxn ang="T164">
                    <a:pos x="T96" y="T97"/>
                  </a:cxn>
                  <a:cxn ang="T165">
                    <a:pos x="T98" y="T99"/>
                  </a:cxn>
                  <a:cxn ang="T166">
                    <a:pos x="T100" y="T101"/>
                  </a:cxn>
                  <a:cxn ang="T167">
                    <a:pos x="T102" y="T103"/>
                  </a:cxn>
                  <a:cxn ang="T168">
                    <a:pos x="T104" y="T105"/>
                  </a:cxn>
                  <a:cxn ang="T169">
                    <a:pos x="T106" y="T107"/>
                  </a:cxn>
                  <a:cxn ang="T170">
                    <a:pos x="T108" y="T109"/>
                  </a:cxn>
                  <a:cxn ang="T171">
                    <a:pos x="T110" y="T111"/>
                  </a:cxn>
                  <a:cxn ang="T172">
                    <a:pos x="T112" y="T113"/>
                  </a:cxn>
                  <a:cxn ang="T173">
                    <a:pos x="T114" y="T115"/>
                  </a:cxn>
                </a:cxnLst>
                <a:rect l="T174" t="T175" r="T176" b="T177"/>
                <a:pathLst>
                  <a:path w="494" h="15">
                    <a:moveTo>
                      <a:pt x="310" y="0"/>
                    </a:moveTo>
                    <a:lnTo>
                      <a:pt x="326" y="0"/>
                    </a:lnTo>
                    <a:lnTo>
                      <a:pt x="346" y="0"/>
                    </a:lnTo>
                    <a:lnTo>
                      <a:pt x="366" y="0"/>
                    </a:lnTo>
                    <a:lnTo>
                      <a:pt x="388" y="0"/>
                    </a:lnTo>
                    <a:lnTo>
                      <a:pt x="408" y="0"/>
                    </a:lnTo>
                    <a:lnTo>
                      <a:pt x="428" y="0"/>
                    </a:lnTo>
                    <a:lnTo>
                      <a:pt x="445" y="0"/>
                    </a:lnTo>
                    <a:lnTo>
                      <a:pt x="463" y="0"/>
                    </a:lnTo>
                    <a:lnTo>
                      <a:pt x="472" y="0"/>
                    </a:lnTo>
                    <a:lnTo>
                      <a:pt x="481" y="0"/>
                    </a:lnTo>
                    <a:lnTo>
                      <a:pt x="487" y="0"/>
                    </a:lnTo>
                    <a:lnTo>
                      <a:pt x="492" y="2"/>
                    </a:lnTo>
                    <a:lnTo>
                      <a:pt x="494" y="2"/>
                    </a:lnTo>
                    <a:lnTo>
                      <a:pt x="494" y="4"/>
                    </a:lnTo>
                    <a:lnTo>
                      <a:pt x="494" y="7"/>
                    </a:lnTo>
                    <a:lnTo>
                      <a:pt x="490" y="9"/>
                    </a:lnTo>
                    <a:lnTo>
                      <a:pt x="450" y="11"/>
                    </a:lnTo>
                    <a:lnTo>
                      <a:pt x="410" y="13"/>
                    </a:lnTo>
                    <a:lnTo>
                      <a:pt x="368" y="13"/>
                    </a:lnTo>
                    <a:lnTo>
                      <a:pt x="326" y="13"/>
                    </a:lnTo>
                    <a:lnTo>
                      <a:pt x="281" y="13"/>
                    </a:lnTo>
                    <a:lnTo>
                      <a:pt x="239" y="13"/>
                    </a:lnTo>
                    <a:lnTo>
                      <a:pt x="197" y="13"/>
                    </a:lnTo>
                    <a:lnTo>
                      <a:pt x="155" y="15"/>
                    </a:lnTo>
                    <a:lnTo>
                      <a:pt x="139" y="15"/>
                    </a:lnTo>
                    <a:lnTo>
                      <a:pt x="122" y="15"/>
                    </a:lnTo>
                    <a:lnTo>
                      <a:pt x="104" y="15"/>
                    </a:lnTo>
                    <a:lnTo>
                      <a:pt x="86" y="15"/>
                    </a:lnTo>
                    <a:lnTo>
                      <a:pt x="69" y="15"/>
                    </a:lnTo>
                    <a:lnTo>
                      <a:pt x="51" y="15"/>
                    </a:lnTo>
                    <a:lnTo>
                      <a:pt x="33" y="15"/>
                    </a:lnTo>
                    <a:lnTo>
                      <a:pt x="20" y="15"/>
                    </a:lnTo>
                    <a:lnTo>
                      <a:pt x="11" y="13"/>
                    </a:lnTo>
                    <a:lnTo>
                      <a:pt x="6" y="13"/>
                    </a:lnTo>
                    <a:lnTo>
                      <a:pt x="2" y="11"/>
                    </a:lnTo>
                    <a:lnTo>
                      <a:pt x="2" y="9"/>
                    </a:lnTo>
                    <a:lnTo>
                      <a:pt x="0" y="7"/>
                    </a:lnTo>
                    <a:lnTo>
                      <a:pt x="2" y="4"/>
                    </a:lnTo>
                    <a:lnTo>
                      <a:pt x="4" y="2"/>
                    </a:lnTo>
                    <a:lnTo>
                      <a:pt x="11" y="2"/>
                    </a:lnTo>
                    <a:lnTo>
                      <a:pt x="31" y="2"/>
                    </a:lnTo>
                    <a:lnTo>
                      <a:pt x="55" y="2"/>
                    </a:lnTo>
                    <a:lnTo>
                      <a:pt x="80" y="2"/>
                    </a:lnTo>
                    <a:lnTo>
                      <a:pt x="108" y="2"/>
                    </a:lnTo>
                    <a:lnTo>
                      <a:pt x="133" y="2"/>
                    </a:lnTo>
                    <a:lnTo>
                      <a:pt x="157" y="2"/>
                    </a:lnTo>
                    <a:lnTo>
                      <a:pt x="179" y="2"/>
                    </a:lnTo>
                    <a:lnTo>
                      <a:pt x="197" y="2"/>
                    </a:lnTo>
                    <a:lnTo>
                      <a:pt x="213" y="2"/>
                    </a:lnTo>
                    <a:lnTo>
                      <a:pt x="228" y="2"/>
                    </a:lnTo>
                    <a:lnTo>
                      <a:pt x="241" y="2"/>
                    </a:lnTo>
                    <a:lnTo>
                      <a:pt x="257" y="2"/>
                    </a:lnTo>
                    <a:lnTo>
                      <a:pt x="270" y="0"/>
                    </a:lnTo>
                    <a:lnTo>
                      <a:pt x="284" y="0"/>
                    </a:lnTo>
                    <a:lnTo>
                      <a:pt x="297" y="0"/>
                    </a:lnTo>
                    <a:lnTo>
                      <a:pt x="310" y="0"/>
                    </a:lnTo>
                    <a:close/>
                  </a:path>
                </a:pathLst>
              </a:custGeom>
              <a:solidFill>
                <a:srgbClr val="FFFF85"/>
              </a:solidFill>
              <a:ln w="9525">
                <a:noFill/>
                <a:round/>
                <a:headEnd/>
                <a:tailEnd/>
              </a:ln>
            </p:spPr>
            <p:txBody>
              <a:bodyPr/>
              <a:lstStyle/>
              <a:p>
                <a:endParaRPr lang="en-US"/>
              </a:p>
            </p:txBody>
          </p:sp>
          <p:sp>
            <p:nvSpPr>
              <p:cNvPr id="157739" name="Freeform 41"/>
              <p:cNvSpPr>
                <a:spLocks/>
              </p:cNvSpPr>
              <p:nvPr/>
            </p:nvSpPr>
            <p:spPr bwMode="auto">
              <a:xfrm>
                <a:off x="2689" y="1338"/>
                <a:ext cx="242" cy="22"/>
              </a:xfrm>
              <a:custGeom>
                <a:avLst/>
                <a:gdLst>
                  <a:gd name="T0" fmla="*/ 188 w 242"/>
                  <a:gd name="T1" fmla="*/ 0 h 22"/>
                  <a:gd name="T2" fmla="*/ 193 w 242"/>
                  <a:gd name="T3" fmla="*/ 0 h 22"/>
                  <a:gd name="T4" fmla="*/ 197 w 242"/>
                  <a:gd name="T5" fmla="*/ 0 h 22"/>
                  <a:gd name="T6" fmla="*/ 204 w 242"/>
                  <a:gd name="T7" fmla="*/ 0 h 22"/>
                  <a:gd name="T8" fmla="*/ 213 w 242"/>
                  <a:gd name="T9" fmla="*/ 0 h 22"/>
                  <a:gd name="T10" fmla="*/ 219 w 242"/>
                  <a:gd name="T11" fmla="*/ 0 h 22"/>
                  <a:gd name="T12" fmla="*/ 226 w 242"/>
                  <a:gd name="T13" fmla="*/ 0 h 22"/>
                  <a:gd name="T14" fmla="*/ 233 w 242"/>
                  <a:gd name="T15" fmla="*/ 0 h 22"/>
                  <a:gd name="T16" fmla="*/ 239 w 242"/>
                  <a:gd name="T17" fmla="*/ 0 h 22"/>
                  <a:gd name="T18" fmla="*/ 242 w 242"/>
                  <a:gd name="T19" fmla="*/ 5 h 22"/>
                  <a:gd name="T20" fmla="*/ 239 w 242"/>
                  <a:gd name="T21" fmla="*/ 11 h 22"/>
                  <a:gd name="T22" fmla="*/ 231 w 242"/>
                  <a:gd name="T23" fmla="*/ 14 h 22"/>
                  <a:gd name="T24" fmla="*/ 219 w 242"/>
                  <a:gd name="T25" fmla="*/ 14 h 22"/>
                  <a:gd name="T26" fmla="*/ 208 w 242"/>
                  <a:gd name="T27" fmla="*/ 16 h 22"/>
                  <a:gd name="T28" fmla="*/ 197 w 242"/>
                  <a:gd name="T29" fmla="*/ 16 h 22"/>
                  <a:gd name="T30" fmla="*/ 186 w 242"/>
                  <a:gd name="T31" fmla="*/ 16 h 22"/>
                  <a:gd name="T32" fmla="*/ 173 w 242"/>
                  <a:gd name="T33" fmla="*/ 16 h 22"/>
                  <a:gd name="T34" fmla="*/ 162 w 242"/>
                  <a:gd name="T35" fmla="*/ 16 h 22"/>
                  <a:gd name="T36" fmla="*/ 151 w 242"/>
                  <a:gd name="T37" fmla="*/ 18 h 22"/>
                  <a:gd name="T38" fmla="*/ 133 w 242"/>
                  <a:gd name="T39" fmla="*/ 18 h 22"/>
                  <a:gd name="T40" fmla="*/ 117 w 242"/>
                  <a:gd name="T41" fmla="*/ 18 h 22"/>
                  <a:gd name="T42" fmla="*/ 100 w 242"/>
                  <a:gd name="T43" fmla="*/ 18 h 22"/>
                  <a:gd name="T44" fmla="*/ 80 w 242"/>
                  <a:gd name="T45" fmla="*/ 18 h 22"/>
                  <a:gd name="T46" fmla="*/ 62 w 242"/>
                  <a:gd name="T47" fmla="*/ 18 h 22"/>
                  <a:gd name="T48" fmla="*/ 42 w 242"/>
                  <a:gd name="T49" fmla="*/ 20 h 22"/>
                  <a:gd name="T50" fmla="*/ 24 w 242"/>
                  <a:gd name="T51" fmla="*/ 20 h 22"/>
                  <a:gd name="T52" fmla="*/ 9 w 242"/>
                  <a:gd name="T53" fmla="*/ 22 h 22"/>
                  <a:gd name="T54" fmla="*/ 2 w 242"/>
                  <a:gd name="T55" fmla="*/ 20 h 22"/>
                  <a:gd name="T56" fmla="*/ 0 w 242"/>
                  <a:gd name="T57" fmla="*/ 16 h 22"/>
                  <a:gd name="T58" fmla="*/ 0 w 242"/>
                  <a:gd name="T59" fmla="*/ 14 h 22"/>
                  <a:gd name="T60" fmla="*/ 4 w 242"/>
                  <a:gd name="T61" fmla="*/ 9 h 22"/>
                  <a:gd name="T62" fmla="*/ 16 w 242"/>
                  <a:gd name="T63" fmla="*/ 7 h 22"/>
                  <a:gd name="T64" fmla="*/ 27 w 242"/>
                  <a:gd name="T65" fmla="*/ 7 h 22"/>
                  <a:gd name="T66" fmla="*/ 38 w 242"/>
                  <a:gd name="T67" fmla="*/ 7 h 22"/>
                  <a:gd name="T68" fmla="*/ 49 w 242"/>
                  <a:gd name="T69" fmla="*/ 7 h 22"/>
                  <a:gd name="T70" fmla="*/ 60 w 242"/>
                  <a:gd name="T71" fmla="*/ 7 h 22"/>
                  <a:gd name="T72" fmla="*/ 71 w 242"/>
                  <a:gd name="T73" fmla="*/ 7 h 22"/>
                  <a:gd name="T74" fmla="*/ 82 w 242"/>
                  <a:gd name="T75" fmla="*/ 7 h 22"/>
                  <a:gd name="T76" fmla="*/ 93 w 242"/>
                  <a:gd name="T77" fmla="*/ 7 h 22"/>
                  <a:gd name="T78" fmla="*/ 104 w 242"/>
                  <a:gd name="T79" fmla="*/ 5 h 22"/>
                  <a:gd name="T80" fmla="*/ 115 w 242"/>
                  <a:gd name="T81" fmla="*/ 5 h 22"/>
                  <a:gd name="T82" fmla="*/ 126 w 242"/>
                  <a:gd name="T83" fmla="*/ 3 h 22"/>
                  <a:gd name="T84" fmla="*/ 140 w 242"/>
                  <a:gd name="T85" fmla="*/ 3 h 22"/>
                  <a:gd name="T86" fmla="*/ 151 w 242"/>
                  <a:gd name="T87" fmla="*/ 3 h 22"/>
                  <a:gd name="T88" fmla="*/ 164 w 242"/>
                  <a:gd name="T89" fmla="*/ 0 h 22"/>
                  <a:gd name="T90" fmla="*/ 175 w 242"/>
                  <a:gd name="T91" fmla="*/ 0 h 22"/>
                  <a:gd name="T92" fmla="*/ 188 w 242"/>
                  <a:gd name="T93" fmla="*/ 0 h 22"/>
                  <a:gd name="T94" fmla="*/ 188 w 242"/>
                  <a:gd name="T95" fmla="*/ 0 h 22"/>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w 242"/>
                  <a:gd name="T145" fmla="*/ 0 h 22"/>
                  <a:gd name="T146" fmla="*/ 242 w 242"/>
                  <a:gd name="T147" fmla="*/ 22 h 22"/>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T144" t="T145" r="T146" b="T147"/>
                <a:pathLst>
                  <a:path w="242" h="22">
                    <a:moveTo>
                      <a:pt x="188" y="0"/>
                    </a:moveTo>
                    <a:lnTo>
                      <a:pt x="193" y="0"/>
                    </a:lnTo>
                    <a:lnTo>
                      <a:pt x="197" y="0"/>
                    </a:lnTo>
                    <a:lnTo>
                      <a:pt x="204" y="0"/>
                    </a:lnTo>
                    <a:lnTo>
                      <a:pt x="213" y="0"/>
                    </a:lnTo>
                    <a:lnTo>
                      <a:pt x="219" y="0"/>
                    </a:lnTo>
                    <a:lnTo>
                      <a:pt x="226" y="0"/>
                    </a:lnTo>
                    <a:lnTo>
                      <a:pt x="233" y="0"/>
                    </a:lnTo>
                    <a:lnTo>
                      <a:pt x="239" y="0"/>
                    </a:lnTo>
                    <a:lnTo>
                      <a:pt x="242" y="5"/>
                    </a:lnTo>
                    <a:lnTo>
                      <a:pt x="239" y="11"/>
                    </a:lnTo>
                    <a:lnTo>
                      <a:pt x="231" y="14"/>
                    </a:lnTo>
                    <a:lnTo>
                      <a:pt x="219" y="14"/>
                    </a:lnTo>
                    <a:lnTo>
                      <a:pt x="208" y="16"/>
                    </a:lnTo>
                    <a:lnTo>
                      <a:pt x="197" y="16"/>
                    </a:lnTo>
                    <a:lnTo>
                      <a:pt x="186" y="16"/>
                    </a:lnTo>
                    <a:lnTo>
                      <a:pt x="173" y="16"/>
                    </a:lnTo>
                    <a:lnTo>
                      <a:pt x="162" y="16"/>
                    </a:lnTo>
                    <a:lnTo>
                      <a:pt x="151" y="18"/>
                    </a:lnTo>
                    <a:lnTo>
                      <a:pt x="133" y="18"/>
                    </a:lnTo>
                    <a:lnTo>
                      <a:pt x="117" y="18"/>
                    </a:lnTo>
                    <a:lnTo>
                      <a:pt x="100" y="18"/>
                    </a:lnTo>
                    <a:lnTo>
                      <a:pt x="80" y="18"/>
                    </a:lnTo>
                    <a:lnTo>
                      <a:pt x="62" y="18"/>
                    </a:lnTo>
                    <a:lnTo>
                      <a:pt x="42" y="20"/>
                    </a:lnTo>
                    <a:lnTo>
                      <a:pt x="24" y="20"/>
                    </a:lnTo>
                    <a:lnTo>
                      <a:pt x="9" y="22"/>
                    </a:lnTo>
                    <a:lnTo>
                      <a:pt x="2" y="20"/>
                    </a:lnTo>
                    <a:lnTo>
                      <a:pt x="0" y="16"/>
                    </a:lnTo>
                    <a:lnTo>
                      <a:pt x="0" y="14"/>
                    </a:lnTo>
                    <a:lnTo>
                      <a:pt x="4" y="9"/>
                    </a:lnTo>
                    <a:lnTo>
                      <a:pt x="16" y="7"/>
                    </a:lnTo>
                    <a:lnTo>
                      <a:pt x="27" y="7"/>
                    </a:lnTo>
                    <a:lnTo>
                      <a:pt x="38" y="7"/>
                    </a:lnTo>
                    <a:lnTo>
                      <a:pt x="49" y="7"/>
                    </a:lnTo>
                    <a:lnTo>
                      <a:pt x="60" y="7"/>
                    </a:lnTo>
                    <a:lnTo>
                      <a:pt x="71" y="7"/>
                    </a:lnTo>
                    <a:lnTo>
                      <a:pt x="82" y="7"/>
                    </a:lnTo>
                    <a:lnTo>
                      <a:pt x="93" y="7"/>
                    </a:lnTo>
                    <a:lnTo>
                      <a:pt x="104" y="5"/>
                    </a:lnTo>
                    <a:lnTo>
                      <a:pt x="115" y="5"/>
                    </a:lnTo>
                    <a:lnTo>
                      <a:pt x="126" y="3"/>
                    </a:lnTo>
                    <a:lnTo>
                      <a:pt x="140" y="3"/>
                    </a:lnTo>
                    <a:lnTo>
                      <a:pt x="151" y="3"/>
                    </a:lnTo>
                    <a:lnTo>
                      <a:pt x="164" y="0"/>
                    </a:lnTo>
                    <a:lnTo>
                      <a:pt x="175" y="0"/>
                    </a:lnTo>
                    <a:lnTo>
                      <a:pt x="188" y="0"/>
                    </a:lnTo>
                    <a:close/>
                  </a:path>
                </a:pathLst>
              </a:custGeom>
              <a:solidFill>
                <a:srgbClr val="FFFF85"/>
              </a:solidFill>
              <a:ln w="9525">
                <a:noFill/>
                <a:round/>
                <a:headEnd/>
                <a:tailEnd/>
              </a:ln>
            </p:spPr>
            <p:txBody>
              <a:bodyPr/>
              <a:lstStyle/>
              <a:p>
                <a:endParaRPr lang="en-US"/>
              </a:p>
            </p:txBody>
          </p:sp>
          <p:sp>
            <p:nvSpPr>
              <p:cNvPr id="157740" name="Freeform 42"/>
              <p:cNvSpPr>
                <a:spLocks/>
              </p:cNvSpPr>
              <p:nvPr/>
            </p:nvSpPr>
            <p:spPr bwMode="auto">
              <a:xfrm>
                <a:off x="2979" y="1334"/>
                <a:ext cx="169" cy="20"/>
              </a:xfrm>
              <a:custGeom>
                <a:avLst/>
                <a:gdLst>
                  <a:gd name="T0" fmla="*/ 131 w 169"/>
                  <a:gd name="T1" fmla="*/ 2 h 20"/>
                  <a:gd name="T2" fmla="*/ 133 w 169"/>
                  <a:gd name="T3" fmla="*/ 0 h 20"/>
                  <a:gd name="T4" fmla="*/ 138 w 169"/>
                  <a:gd name="T5" fmla="*/ 0 h 20"/>
                  <a:gd name="T6" fmla="*/ 142 w 169"/>
                  <a:gd name="T7" fmla="*/ 0 h 20"/>
                  <a:gd name="T8" fmla="*/ 149 w 169"/>
                  <a:gd name="T9" fmla="*/ 0 h 20"/>
                  <a:gd name="T10" fmla="*/ 153 w 169"/>
                  <a:gd name="T11" fmla="*/ 0 h 20"/>
                  <a:gd name="T12" fmla="*/ 158 w 169"/>
                  <a:gd name="T13" fmla="*/ 0 h 20"/>
                  <a:gd name="T14" fmla="*/ 162 w 169"/>
                  <a:gd name="T15" fmla="*/ 0 h 20"/>
                  <a:gd name="T16" fmla="*/ 167 w 169"/>
                  <a:gd name="T17" fmla="*/ 2 h 20"/>
                  <a:gd name="T18" fmla="*/ 169 w 169"/>
                  <a:gd name="T19" fmla="*/ 2 h 20"/>
                  <a:gd name="T20" fmla="*/ 167 w 169"/>
                  <a:gd name="T21" fmla="*/ 9 h 20"/>
                  <a:gd name="T22" fmla="*/ 160 w 169"/>
                  <a:gd name="T23" fmla="*/ 11 h 20"/>
                  <a:gd name="T24" fmla="*/ 153 w 169"/>
                  <a:gd name="T25" fmla="*/ 13 h 20"/>
                  <a:gd name="T26" fmla="*/ 144 w 169"/>
                  <a:gd name="T27" fmla="*/ 13 h 20"/>
                  <a:gd name="T28" fmla="*/ 138 w 169"/>
                  <a:gd name="T29" fmla="*/ 13 h 20"/>
                  <a:gd name="T30" fmla="*/ 129 w 169"/>
                  <a:gd name="T31" fmla="*/ 13 h 20"/>
                  <a:gd name="T32" fmla="*/ 120 w 169"/>
                  <a:gd name="T33" fmla="*/ 13 h 20"/>
                  <a:gd name="T34" fmla="*/ 113 w 169"/>
                  <a:gd name="T35" fmla="*/ 13 h 20"/>
                  <a:gd name="T36" fmla="*/ 107 w 169"/>
                  <a:gd name="T37" fmla="*/ 15 h 20"/>
                  <a:gd name="T38" fmla="*/ 93 w 169"/>
                  <a:gd name="T39" fmla="*/ 15 h 20"/>
                  <a:gd name="T40" fmla="*/ 82 w 169"/>
                  <a:gd name="T41" fmla="*/ 15 h 20"/>
                  <a:gd name="T42" fmla="*/ 69 w 169"/>
                  <a:gd name="T43" fmla="*/ 15 h 20"/>
                  <a:gd name="T44" fmla="*/ 58 w 169"/>
                  <a:gd name="T45" fmla="*/ 18 h 20"/>
                  <a:gd name="T46" fmla="*/ 45 w 169"/>
                  <a:gd name="T47" fmla="*/ 18 h 20"/>
                  <a:gd name="T48" fmla="*/ 31 w 169"/>
                  <a:gd name="T49" fmla="*/ 18 h 20"/>
                  <a:gd name="T50" fmla="*/ 18 w 169"/>
                  <a:gd name="T51" fmla="*/ 18 h 20"/>
                  <a:gd name="T52" fmla="*/ 7 w 169"/>
                  <a:gd name="T53" fmla="*/ 20 h 20"/>
                  <a:gd name="T54" fmla="*/ 0 w 169"/>
                  <a:gd name="T55" fmla="*/ 15 h 20"/>
                  <a:gd name="T56" fmla="*/ 5 w 169"/>
                  <a:gd name="T57" fmla="*/ 7 h 20"/>
                  <a:gd name="T58" fmla="*/ 11 w 169"/>
                  <a:gd name="T59" fmla="*/ 4 h 20"/>
                  <a:gd name="T60" fmla="*/ 18 w 169"/>
                  <a:gd name="T61" fmla="*/ 4 h 20"/>
                  <a:gd name="T62" fmla="*/ 27 w 169"/>
                  <a:gd name="T63" fmla="*/ 4 h 20"/>
                  <a:gd name="T64" fmla="*/ 34 w 169"/>
                  <a:gd name="T65" fmla="*/ 4 h 20"/>
                  <a:gd name="T66" fmla="*/ 42 w 169"/>
                  <a:gd name="T67" fmla="*/ 4 h 20"/>
                  <a:gd name="T68" fmla="*/ 51 w 169"/>
                  <a:gd name="T69" fmla="*/ 4 h 20"/>
                  <a:gd name="T70" fmla="*/ 58 w 169"/>
                  <a:gd name="T71" fmla="*/ 4 h 20"/>
                  <a:gd name="T72" fmla="*/ 67 w 169"/>
                  <a:gd name="T73" fmla="*/ 4 h 20"/>
                  <a:gd name="T74" fmla="*/ 74 w 169"/>
                  <a:gd name="T75" fmla="*/ 2 h 20"/>
                  <a:gd name="T76" fmla="*/ 82 w 169"/>
                  <a:gd name="T77" fmla="*/ 2 h 20"/>
                  <a:gd name="T78" fmla="*/ 89 w 169"/>
                  <a:gd name="T79" fmla="*/ 2 h 20"/>
                  <a:gd name="T80" fmla="*/ 98 w 169"/>
                  <a:gd name="T81" fmla="*/ 2 h 20"/>
                  <a:gd name="T82" fmla="*/ 107 w 169"/>
                  <a:gd name="T83" fmla="*/ 2 h 20"/>
                  <a:gd name="T84" fmla="*/ 113 w 169"/>
                  <a:gd name="T85" fmla="*/ 2 h 20"/>
                  <a:gd name="T86" fmla="*/ 122 w 169"/>
                  <a:gd name="T87" fmla="*/ 2 h 20"/>
                  <a:gd name="T88" fmla="*/ 131 w 169"/>
                  <a:gd name="T89" fmla="*/ 2 h 20"/>
                  <a:gd name="T90" fmla="*/ 131 w 169"/>
                  <a:gd name="T91" fmla="*/ 2 h 20"/>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169"/>
                  <a:gd name="T139" fmla="*/ 0 h 20"/>
                  <a:gd name="T140" fmla="*/ 169 w 169"/>
                  <a:gd name="T141" fmla="*/ 20 h 20"/>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169" h="20">
                    <a:moveTo>
                      <a:pt x="131" y="2"/>
                    </a:moveTo>
                    <a:lnTo>
                      <a:pt x="133" y="0"/>
                    </a:lnTo>
                    <a:lnTo>
                      <a:pt x="138" y="0"/>
                    </a:lnTo>
                    <a:lnTo>
                      <a:pt x="142" y="0"/>
                    </a:lnTo>
                    <a:lnTo>
                      <a:pt x="149" y="0"/>
                    </a:lnTo>
                    <a:lnTo>
                      <a:pt x="153" y="0"/>
                    </a:lnTo>
                    <a:lnTo>
                      <a:pt x="158" y="0"/>
                    </a:lnTo>
                    <a:lnTo>
                      <a:pt x="162" y="0"/>
                    </a:lnTo>
                    <a:lnTo>
                      <a:pt x="167" y="2"/>
                    </a:lnTo>
                    <a:lnTo>
                      <a:pt x="169" y="2"/>
                    </a:lnTo>
                    <a:lnTo>
                      <a:pt x="167" y="9"/>
                    </a:lnTo>
                    <a:lnTo>
                      <a:pt x="160" y="11"/>
                    </a:lnTo>
                    <a:lnTo>
                      <a:pt x="153" y="13"/>
                    </a:lnTo>
                    <a:lnTo>
                      <a:pt x="144" y="13"/>
                    </a:lnTo>
                    <a:lnTo>
                      <a:pt x="138" y="13"/>
                    </a:lnTo>
                    <a:lnTo>
                      <a:pt x="129" y="13"/>
                    </a:lnTo>
                    <a:lnTo>
                      <a:pt x="120" y="13"/>
                    </a:lnTo>
                    <a:lnTo>
                      <a:pt x="113" y="13"/>
                    </a:lnTo>
                    <a:lnTo>
                      <a:pt x="107" y="15"/>
                    </a:lnTo>
                    <a:lnTo>
                      <a:pt x="93" y="15"/>
                    </a:lnTo>
                    <a:lnTo>
                      <a:pt x="82" y="15"/>
                    </a:lnTo>
                    <a:lnTo>
                      <a:pt x="69" y="15"/>
                    </a:lnTo>
                    <a:lnTo>
                      <a:pt x="58" y="18"/>
                    </a:lnTo>
                    <a:lnTo>
                      <a:pt x="45" y="18"/>
                    </a:lnTo>
                    <a:lnTo>
                      <a:pt x="31" y="18"/>
                    </a:lnTo>
                    <a:lnTo>
                      <a:pt x="18" y="18"/>
                    </a:lnTo>
                    <a:lnTo>
                      <a:pt x="7" y="20"/>
                    </a:lnTo>
                    <a:lnTo>
                      <a:pt x="0" y="15"/>
                    </a:lnTo>
                    <a:lnTo>
                      <a:pt x="5" y="7"/>
                    </a:lnTo>
                    <a:lnTo>
                      <a:pt x="11" y="4"/>
                    </a:lnTo>
                    <a:lnTo>
                      <a:pt x="18" y="4"/>
                    </a:lnTo>
                    <a:lnTo>
                      <a:pt x="27" y="4"/>
                    </a:lnTo>
                    <a:lnTo>
                      <a:pt x="34" y="4"/>
                    </a:lnTo>
                    <a:lnTo>
                      <a:pt x="42" y="4"/>
                    </a:lnTo>
                    <a:lnTo>
                      <a:pt x="51" y="4"/>
                    </a:lnTo>
                    <a:lnTo>
                      <a:pt x="58" y="4"/>
                    </a:lnTo>
                    <a:lnTo>
                      <a:pt x="67" y="4"/>
                    </a:lnTo>
                    <a:lnTo>
                      <a:pt x="74" y="2"/>
                    </a:lnTo>
                    <a:lnTo>
                      <a:pt x="82" y="2"/>
                    </a:lnTo>
                    <a:lnTo>
                      <a:pt x="89" y="2"/>
                    </a:lnTo>
                    <a:lnTo>
                      <a:pt x="98" y="2"/>
                    </a:lnTo>
                    <a:lnTo>
                      <a:pt x="107" y="2"/>
                    </a:lnTo>
                    <a:lnTo>
                      <a:pt x="113" y="2"/>
                    </a:lnTo>
                    <a:lnTo>
                      <a:pt x="122" y="2"/>
                    </a:lnTo>
                    <a:lnTo>
                      <a:pt x="131" y="2"/>
                    </a:lnTo>
                    <a:close/>
                  </a:path>
                </a:pathLst>
              </a:custGeom>
              <a:solidFill>
                <a:srgbClr val="FFFF85"/>
              </a:solidFill>
              <a:ln w="9525">
                <a:noFill/>
                <a:round/>
                <a:headEnd/>
                <a:tailEnd/>
              </a:ln>
            </p:spPr>
            <p:txBody>
              <a:bodyPr/>
              <a:lstStyle/>
              <a:p>
                <a:endParaRPr lang="en-US"/>
              </a:p>
            </p:txBody>
          </p:sp>
          <p:sp>
            <p:nvSpPr>
              <p:cNvPr id="157741" name="Freeform 43"/>
              <p:cNvSpPr>
                <a:spLocks/>
              </p:cNvSpPr>
              <p:nvPr/>
            </p:nvSpPr>
            <p:spPr bwMode="auto">
              <a:xfrm>
                <a:off x="2804" y="802"/>
                <a:ext cx="209" cy="20"/>
              </a:xfrm>
              <a:custGeom>
                <a:avLst/>
                <a:gdLst>
                  <a:gd name="T0" fmla="*/ 131 w 209"/>
                  <a:gd name="T1" fmla="*/ 5 h 20"/>
                  <a:gd name="T2" fmla="*/ 138 w 209"/>
                  <a:gd name="T3" fmla="*/ 2 h 20"/>
                  <a:gd name="T4" fmla="*/ 147 w 209"/>
                  <a:gd name="T5" fmla="*/ 2 h 20"/>
                  <a:gd name="T6" fmla="*/ 153 w 209"/>
                  <a:gd name="T7" fmla="*/ 2 h 20"/>
                  <a:gd name="T8" fmla="*/ 164 w 209"/>
                  <a:gd name="T9" fmla="*/ 2 h 20"/>
                  <a:gd name="T10" fmla="*/ 171 w 209"/>
                  <a:gd name="T11" fmla="*/ 0 h 20"/>
                  <a:gd name="T12" fmla="*/ 180 w 209"/>
                  <a:gd name="T13" fmla="*/ 0 h 20"/>
                  <a:gd name="T14" fmla="*/ 189 w 209"/>
                  <a:gd name="T15" fmla="*/ 0 h 20"/>
                  <a:gd name="T16" fmla="*/ 195 w 209"/>
                  <a:gd name="T17" fmla="*/ 2 h 20"/>
                  <a:gd name="T18" fmla="*/ 202 w 209"/>
                  <a:gd name="T19" fmla="*/ 2 h 20"/>
                  <a:gd name="T20" fmla="*/ 206 w 209"/>
                  <a:gd name="T21" fmla="*/ 5 h 20"/>
                  <a:gd name="T22" fmla="*/ 209 w 209"/>
                  <a:gd name="T23" fmla="*/ 9 h 20"/>
                  <a:gd name="T24" fmla="*/ 204 w 209"/>
                  <a:gd name="T25" fmla="*/ 13 h 20"/>
                  <a:gd name="T26" fmla="*/ 189 w 209"/>
                  <a:gd name="T27" fmla="*/ 13 h 20"/>
                  <a:gd name="T28" fmla="*/ 173 w 209"/>
                  <a:gd name="T29" fmla="*/ 16 h 20"/>
                  <a:gd name="T30" fmla="*/ 153 w 209"/>
                  <a:gd name="T31" fmla="*/ 16 h 20"/>
                  <a:gd name="T32" fmla="*/ 135 w 209"/>
                  <a:gd name="T33" fmla="*/ 18 h 20"/>
                  <a:gd name="T34" fmla="*/ 118 w 209"/>
                  <a:gd name="T35" fmla="*/ 18 h 20"/>
                  <a:gd name="T36" fmla="*/ 100 w 209"/>
                  <a:gd name="T37" fmla="*/ 18 h 20"/>
                  <a:gd name="T38" fmla="*/ 82 w 209"/>
                  <a:gd name="T39" fmla="*/ 18 h 20"/>
                  <a:gd name="T40" fmla="*/ 65 w 209"/>
                  <a:gd name="T41" fmla="*/ 20 h 20"/>
                  <a:gd name="T42" fmla="*/ 58 w 209"/>
                  <a:gd name="T43" fmla="*/ 20 h 20"/>
                  <a:gd name="T44" fmla="*/ 51 w 209"/>
                  <a:gd name="T45" fmla="*/ 20 h 20"/>
                  <a:gd name="T46" fmla="*/ 42 w 209"/>
                  <a:gd name="T47" fmla="*/ 20 h 20"/>
                  <a:gd name="T48" fmla="*/ 36 w 209"/>
                  <a:gd name="T49" fmla="*/ 20 h 20"/>
                  <a:gd name="T50" fmla="*/ 29 w 209"/>
                  <a:gd name="T51" fmla="*/ 18 h 20"/>
                  <a:gd name="T52" fmla="*/ 20 w 209"/>
                  <a:gd name="T53" fmla="*/ 18 h 20"/>
                  <a:gd name="T54" fmla="*/ 11 w 209"/>
                  <a:gd name="T55" fmla="*/ 18 h 20"/>
                  <a:gd name="T56" fmla="*/ 7 w 209"/>
                  <a:gd name="T57" fmla="*/ 20 h 20"/>
                  <a:gd name="T58" fmla="*/ 0 w 209"/>
                  <a:gd name="T59" fmla="*/ 16 h 20"/>
                  <a:gd name="T60" fmla="*/ 0 w 209"/>
                  <a:gd name="T61" fmla="*/ 11 h 20"/>
                  <a:gd name="T62" fmla="*/ 0 w 209"/>
                  <a:gd name="T63" fmla="*/ 9 h 20"/>
                  <a:gd name="T64" fmla="*/ 5 w 209"/>
                  <a:gd name="T65" fmla="*/ 7 h 20"/>
                  <a:gd name="T66" fmla="*/ 11 w 209"/>
                  <a:gd name="T67" fmla="*/ 5 h 20"/>
                  <a:gd name="T68" fmla="*/ 22 w 209"/>
                  <a:gd name="T69" fmla="*/ 5 h 20"/>
                  <a:gd name="T70" fmla="*/ 34 w 209"/>
                  <a:gd name="T71" fmla="*/ 5 h 20"/>
                  <a:gd name="T72" fmla="*/ 45 w 209"/>
                  <a:gd name="T73" fmla="*/ 5 h 20"/>
                  <a:gd name="T74" fmla="*/ 53 w 209"/>
                  <a:gd name="T75" fmla="*/ 5 h 20"/>
                  <a:gd name="T76" fmla="*/ 65 w 209"/>
                  <a:gd name="T77" fmla="*/ 5 h 20"/>
                  <a:gd name="T78" fmla="*/ 73 w 209"/>
                  <a:gd name="T79" fmla="*/ 5 h 20"/>
                  <a:gd name="T80" fmla="*/ 82 w 209"/>
                  <a:gd name="T81" fmla="*/ 5 h 20"/>
                  <a:gd name="T82" fmla="*/ 89 w 209"/>
                  <a:gd name="T83" fmla="*/ 5 h 20"/>
                  <a:gd name="T84" fmla="*/ 96 w 209"/>
                  <a:gd name="T85" fmla="*/ 5 h 20"/>
                  <a:gd name="T86" fmla="*/ 102 w 209"/>
                  <a:gd name="T87" fmla="*/ 5 h 20"/>
                  <a:gd name="T88" fmla="*/ 107 w 209"/>
                  <a:gd name="T89" fmla="*/ 5 h 20"/>
                  <a:gd name="T90" fmla="*/ 113 w 209"/>
                  <a:gd name="T91" fmla="*/ 5 h 20"/>
                  <a:gd name="T92" fmla="*/ 120 w 209"/>
                  <a:gd name="T93" fmla="*/ 5 h 20"/>
                  <a:gd name="T94" fmla="*/ 124 w 209"/>
                  <a:gd name="T95" fmla="*/ 5 h 20"/>
                  <a:gd name="T96" fmla="*/ 131 w 209"/>
                  <a:gd name="T97" fmla="*/ 5 h 20"/>
                  <a:gd name="T98" fmla="*/ 131 w 209"/>
                  <a:gd name="T99" fmla="*/ 5 h 20"/>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w 209"/>
                  <a:gd name="T151" fmla="*/ 0 h 20"/>
                  <a:gd name="T152" fmla="*/ 209 w 209"/>
                  <a:gd name="T153" fmla="*/ 20 h 20"/>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T150" t="T151" r="T152" b="T153"/>
                <a:pathLst>
                  <a:path w="209" h="20">
                    <a:moveTo>
                      <a:pt x="131" y="5"/>
                    </a:moveTo>
                    <a:lnTo>
                      <a:pt x="138" y="2"/>
                    </a:lnTo>
                    <a:lnTo>
                      <a:pt x="147" y="2"/>
                    </a:lnTo>
                    <a:lnTo>
                      <a:pt x="153" y="2"/>
                    </a:lnTo>
                    <a:lnTo>
                      <a:pt x="164" y="2"/>
                    </a:lnTo>
                    <a:lnTo>
                      <a:pt x="171" y="0"/>
                    </a:lnTo>
                    <a:lnTo>
                      <a:pt x="180" y="0"/>
                    </a:lnTo>
                    <a:lnTo>
                      <a:pt x="189" y="0"/>
                    </a:lnTo>
                    <a:lnTo>
                      <a:pt x="195" y="2"/>
                    </a:lnTo>
                    <a:lnTo>
                      <a:pt x="202" y="2"/>
                    </a:lnTo>
                    <a:lnTo>
                      <a:pt x="206" y="5"/>
                    </a:lnTo>
                    <a:lnTo>
                      <a:pt x="209" y="9"/>
                    </a:lnTo>
                    <a:lnTo>
                      <a:pt x="204" y="13"/>
                    </a:lnTo>
                    <a:lnTo>
                      <a:pt x="189" y="13"/>
                    </a:lnTo>
                    <a:lnTo>
                      <a:pt x="173" y="16"/>
                    </a:lnTo>
                    <a:lnTo>
                      <a:pt x="153" y="16"/>
                    </a:lnTo>
                    <a:lnTo>
                      <a:pt x="135" y="18"/>
                    </a:lnTo>
                    <a:lnTo>
                      <a:pt x="118" y="18"/>
                    </a:lnTo>
                    <a:lnTo>
                      <a:pt x="100" y="18"/>
                    </a:lnTo>
                    <a:lnTo>
                      <a:pt x="82" y="18"/>
                    </a:lnTo>
                    <a:lnTo>
                      <a:pt x="65" y="20"/>
                    </a:lnTo>
                    <a:lnTo>
                      <a:pt x="58" y="20"/>
                    </a:lnTo>
                    <a:lnTo>
                      <a:pt x="51" y="20"/>
                    </a:lnTo>
                    <a:lnTo>
                      <a:pt x="42" y="20"/>
                    </a:lnTo>
                    <a:lnTo>
                      <a:pt x="36" y="20"/>
                    </a:lnTo>
                    <a:lnTo>
                      <a:pt x="29" y="18"/>
                    </a:lnTo>
                    <a:lnTo>
                      <a:pt x="20" y="18"/>
                    </a:lnTo>
                    <a:lnTo>
                      <a:pt x="11" y="18"/>
                    </a:lnTo>
                    <a:lnTo>
                      <a:pt x="7" y="20"/>
                    </a:lnTo>
                    <a:lnTo>
                      <a:pt x="0" y="16"/>
                    </a:lnTo>
                    <a:lnTo>
                      <a:pt x="0" y="11"/>
                    </a:lnTo>
                    <a:lnTo>
                      <a:pt x="0" y="9"/>
                    </a:lnTo>
                    <a:lnTo>
                      <a:pt x="5" y="7"/>
                    </a:lnTo>
                    <a:lnTo>
                      <a:pt x="11" y="5"/>
                    </a:lnTo>
                    <a:lnTo>
                      <a:pt x="22" y="5"/>
                    </a:lnTo>
                    <a:lnTo>
                      <a:pt x="34" y="5"/>
                    </a:lnTo>
                    <a:lnTo>
                      <a:pt x="45" y="5"/>
                    </a:lnTo>
                    <a:lnTo>
                      <a:pt x="53" y="5"/>
                    </a:lnTo>
                    <a:lnTo>
                      <a:pt x="65" y="5"/>
                    </a:lnTo>
                    <a:lnTo>
                      <a:pt x="73" y="5"/>
                    </a:lnTo>
                    <a:lnTo>
                      <a:pt x="82" y="5"/>
                    </a:lnTo>
                    <a:lnTo>
                      <a:pt x="89" y="5"/>
                    </a:lnTo>
                    <a:lnTo>
                      <a:pt x="96" y="5"/>
                    </a:lnTo>
                    <a:lnTo>
                      <a:pt x="102" y="5"/>
                    </a:lnTo>
                    <a:lnTo>
                      <a:pt x="107" y="5"/>
                    </a:lnTo>
                    <a:lnTo>
                      <a:pt x="113" y="5"/>
                    </a:lnTo>
                    <a:lnTo>
                      <a:pt x="120" y="5"/>
                    </a:lnTo>
                    <a:lnTo>
                      <a:pt x="124" y="5"/>
                    </a:lnTo>
                    <a:lnTo>
                      <a:pt x="131" y="5"/>
                    </a:lnTo>
                    <a:close/>
                  </a:path>
                </a:pathLst>
              </a:custGeom>
              <a:solidFill>
                <a:srgbClr val="FFFF85"/>
              </a:solidFill>
              <a:ln w="9525">
                <a:noFill/>
                <a:round/>
                <a:headEnd/>
                <a:tailEnd/>
              </a:ln>
            </p:spPr>
            <p:txBody>
              <a:bodyPr/>
              <a:lstStyle/>
              <a:p>
                <a:endParaRPr lang="en-US"/>
              </a:p>
            </p:txBody>
          </p:sp>
          <p:sp>
            <p:nvSpPr>
              <p:cNvPr id="157742" name="Freeform 44"/>
              <p:cNvSpPr>
                <a:spLocks/>
              </p:cNvSpPr>
              <p:nvPr/>
            </p:nvSpPr>
            <p:spPr bwMode="auto">
              <a:xfrm>
                <a:off x="2680" y="1376"/>
                <a:ext cx="483" cy="18"/>
              </a:xfrm>
              <a:custGeom>
                <a:avLst/>
                <a:gdLst>
                  <a:gd name="T0" fmla="*/ 304 w 483"/>
                  <a:gd name="T1" fmla="*/ 2 h 18"/>
                  <a:gd name="T2" fmla="*/ 319 w 483"/>
                  <a:gd name="T3" fmla="*/ 0 h 18"/>
                  <a:gd name="T4" fmla="*/ 337 w 483"/>
                  <a:gd name="T5" fmla="*/ 0 h 18"/>
                  <a:gd name="T6" fmla="*/ 359 w 483"/>
                  <a:gd name="T7" fmla="*/ 0 h 18"/>
                  <a:gd name="T8" fmla="*/ 379 w 483"/>
                  <a:gd name="T9" fmla="*/ 0 h 18"/>
                  <a:gd name="T10" fmla="*/ 399 w 483"/>
                  <a:gd name="T11" fmla="*/ 0 h 18"/>
                  <a:gd name="T12" fmla="*/ 419 w 483"/>
                  <a:gd name="T13" fmla="*/ 0 h 18"/>
                  <a:gd name="T14" fmla="*/ 437 w 483"/>
                  <a:gd name="T15" fmla="*/ 0 h 18"/>
                  <a:gd name="T16" fmla="*/ 452 w 483"/>
                  <a:gd name="T17" fmla="*/ 2 h 18"/>
                  <a:gd name="T18" fmla="*/ 461 w 483"/>
                  <a:gd name="T19" fmla="*/ 2 h 18"/>
                  <a:gd name="T20" fmla="*/ 470 w 483"/>
                  <a:gd name="T21" fmla="*/ 2 h 18"/>
                  <a:gd name="T22" fmla="*/ 477 w 483"/>
                  <a:gd name="T23" fmla="*/ 2 h 18"/>
                  <a:gd name="T24" fmla="*/ 481 w 483"/>
                  <a:gd name="T25" fmla="*/ 4 h 18"/>
                  <a:gd name="T26" fmla="*/ 483 w 483"/>
                  <a:gd name="T27" fmla="*/ 4 h 18"/>
                  <a:gd name="T28" fmla="*/ 483 w 483"/>
                  <a:gd name="T29" fmla="*/ 7 h 18"/>
                  <a:gd name="T30" fmla="*/ 481 w 483"/>
                  <a:gd name="T31" fmla="*/ 9 h 18"/>
                  <a:gd name="T32" fmla="*/ 477 w 483"/>
                  <a:gd name="T33" fmla="*/ 13 h 18"/>
                  <a:gd name="T34" fmla="*/ 439 w 483"/>
                  <a:gd name="T35" fmla="*/ 13 h 18"/>
                  <a:gd name="T36" fmla="*/ 399 w 483"/>
                  <a:gd name="T37" fmla="*/ 13 h 18"/>
                  <a:gd name="T38" fmla="*/ 359 w 483"/>
                  <a:gd name="T39" fmla="*/ 13 h 18"/>
                  <a:gd name="T40" fmla="*/ 319 w 483"/>
                  <a:gd name="T41" fmla="*/ 15 h 18"/>
                  <a:gd name="T42" fmla="*/ 277 w 483"/>
                  <a:gd name="T43" fmla="*/ 15 h 18"/>
                  <a:gd name="T44" fmla="*/ 235 w 483"/>
                  <a:gd name="T45" fmla="*/ 15 h 18"/>
                  <a:gd name="T46" fmla="*/ 195 w 483"/>
                  <a:gd name="T47" fmla="*/ 15 h 18"/>
                  <a:gd name="T48" fmla="*/ 153 w 483"/>
                  <a:gd name="T49" fmla="*/ 18 h 18"/>
                  <a:gd name="T50" fmla="*/ 138 w 483"/>
                  <a:gd name="T51" fmla="*/ 18 h 18"/>
                  <a:gd name="T52" fmla="*/ 122 w 483"/>
                  <a:gd name="T53" fmla="*/ 18 h 18"/>
                  <a:gd name="T54" fmla="*/ 104 w 483"/>
                  <a:gd name="T55" fmla="*/ 18 h 18"/>
                  <a:gd name="T56" fmla="*/ 87 w 483"/>
                  <a:gd name="T57" fmla="*/ 18 h 18"/>
                  <a:gd name="T58" fmla="*/ 69 w 483"/>
                  <a:gd name="T59" fmla="*/ 18 h 18"/>
                  <a:gd name="T60" fmla="*/ 51 w 483"/>
                  <a:gd name="T61" fmla="*/ 18 h 18"/>
                  <a:gd name="T62" fmla="*/ 33 w 483"/>
                  <a:gd name="T63" fmla="*/ 18 h 18"/>
                  <a:gd name="T64" fmla="*/ 22 w 483"/>
                  <a:gd name="T65" fmla="*/ 18 h 18"/>
                  <a:gd name="T66" fmla="*/ 13 w 483"/>
                  <a:gd name="T67" fmla="*/ 15 h 18"/>
                  <a:gd name="T68" fmla="*/ 7 w 483"/>
                  <a:gd name="T69" fmla="*/ 13 h 18"/>
                  <a:gd name="T70" fmla="*/ 5 w 483"/>
                  <a:gd name="T71" fmla="*/ 13 h 18"/>
                  <a:gd name="T72" fmla="*/ 2 w 483"/>
                  <a:gd name="T73" fmla="*/ 11 h 18"/>
                  <a:gd name="T74" fmla="*/ 0 w 483"/>
                  <a:gd name="T75" fmla="*/ 9 h 18"/>
                  <a:gd name="T76" fmla="*/ 2 w 483"/>
                  <a:gd name="T77" fmla="*/ 7 h 18"/>
                  <a:gd name="T78" fmla="*/ 5 w 483"/>
                  <a:gd name="T79" fmla="*/ 4 h 18"/>
                  <a:gd name="T80" fmla="*/ 11 w 483"/>
                  <a:gd name="T81" fmla="*/ 4 h 18"/>
                  <a:gd name="T82" fmla="*/ 31 w 483"/>
                  <a:gd name="T83" fmla="*/ 4 h 18"/>
                  <a:gd name="T84" fmla="*/ 56 w 483"/>
                  <a:gd name="T85" fmla="*/ 4 h 18"/>
                  <a:gd name="T86" fmla="*/ 80 w 483"/>
                  <a:gd name="T87" fmla="*/ 4 h 18"/>
                  <a:gd name="T88" fmla="*/ 107 w 483"/>
                  <a:gd name="T89" fmla="*/ 4 h 18"/>
                  <a:gd name="T90" fmla="*/ 131 w 483"/>
                  <a:gd name="T91" fmla="*/ 4 h 18"/>
                  <a:gd name="T92" fmla="*/ 155 w 483"/>
                  <a:gd name="T93" fmla="*/ 4 h 18"/>
                  <a:gd name="T94" fmla="*/ 175 w 483"/>
                  <a:gd name="T95" fmla="*/ 4 h 18"/>
                  <a:gd name="T96" fmla="*/ 195 w 483"/>
                  <a:gd name="T97" fmla="*/ 4 h 18"/>
                  <a:gd name="T98" fmla="*/ 209 w 483"/>
                  <a:gd name="T99" fmla="*/ 4 h 18"/>
                  <a:gd name="T100" fmla="*/ 222 w 483"/>
                  <a:gd name="T101" fmla="*/ 4 h 18"/>
                  <a:gd name="T102" fmla="*/ 237 w 483"/>
                  <a:gd name="T103" fmla="*/ 2 h 18"/>
                  <a:gd name="T104" fmla="*/ 251 w 483"/>
                  <a:gd name="T105" fmla="*/ 2 h 18"/>
                  <a:gd name="T106" fmla="*/ 264 w 483"/>
                  <a:gd name="T107" fmla="*/ 2 h 18"/>
                  <a:gd name="T108" fmla="*/ 277 w 483"/>
                  <a:gd name="T109" fmla="*/ 2 h 18"/>
                  <a:gd name="T110" fmla="*/ 291 w 483"/>
                  <a:gd name="T111" fmla="*/ 2 h 18"/>
                  <a:gd name="T112" fmla="*/ 304 w 483"/>
                  <a:gd name="T113" fmla="*/ 2 h 18"/>
                  <a:gd name="T114" fmla="*/ 304 w 483"/>
                  <a:gd name="T115" fmla="*/ 2 h 18"/>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w 483"/>
                  <a:gd name="T175" fmla="*/ 0 h 18"/>
                  <a:gd name="T176" fmla="*/ 483 w 483"/>
                  <a:gd name="T177" fmla="*/ 18 h 18"/>
                </a:gdLst>
                <a:ahLst/>
                <a:cxnLst>
                  <a:cxn ang="T116">
                    <a:pos x="T0" y="T1"/>
                  </a:cxn>
                  <a:cxn ang="T117">
                    <a:pos x="T2" y="T3"/>
                  </a:cxn>
                  <a:cxn ang="T118">
                    <a:pos x="T4" y="T5"/>
                  </a:cxn>
                  <a:cxn ang="T119">
                    <a:pos x="T6" y="T7"/>
                  </a:cxn>
                  <a:cxn ang="T120">
                    <a:pos x="T8" y="T9"/>
                  </a:cxn>
                  <a:cxn ang="T121">
                    <a:pos x="T10" y="T11"/>
                  </a:cxn>
                  <a:cxn ang="T122">
                    <a:pos x="T12" y="T13"/>
                  </a:cxn>
                  <a:cxn ang="T123">
                    <a:pos x="T14" y="T15"/>
                  </a:cxn>
                  <a:cxn ang="T124">
                    <a:pos x="T16" y="T17"/>
                  </a:cxn>
                  <a:cxn ang="T125">
                    <a:pos x="T18" y="T19"/>
                  </a:cxn>
                  <a:cxn ang="T126">
                    <a:pos x="T20" y="T21"/>
                  </a:cxn>
                  <a:cxn ang="T127">
                    <a:pos x="T22" y="T23"/>
                  </a:cxn>
                  <a:cxn ang="T128">
                    <a:pos x="T24" y="T25"/>
                  </a:cxn>
                  <a:cxn ang="T129">
                    <a:pos x="T26" y="T27"/>
                  </a:cxn>
                  <a:cxn ang="T130">
                    <a:pos x="T28" y="T29"/>
                  </a:cxn>
                  <a:cxn ang="T131">
                    <a:pos x="T30" y="T31"/>
                  </a:cxn>
                  <a:cxn ang="T132">
                    <a:pos x="T32" y="T33"/>
                  </a:cxn>
                  <a:cxn ang="T133">
                    <a:pos x="T34" y="T35"/>
                  </a:cxn>
                  <a:cxn ang="T134">
                    <a:pos x="T36" y="T37"/>
                  </a:cxn>
                  <a:cxn ang="T135">
                    <a:pos x="T38" y="T39"/>
                  </a:cxn>
                  <a:cxn ang="T136">
                    <a:pos x="T40" y="T41"/>
                  </a:cxn>
                  <a:cxn ang="T137">
                    <a:pos x="T42" y="T43"/>
                  </a:cxn>
                  <a:cxn ang="T138">
                    <a:pos x="T44" y="T45"/>
                  </a:cxn>
                  <a:cxn ang="T139">
                    <a:pos x="T46" y="T47"/>
                  </a:cxn>
                  <a:cxn ang="T140">
                    <a:pos x="T48" y="T49"/>
                  </a:cxn>
                  <a:cxn ang="T141">
                    <a:pos x="T50" y="T51"/>
                  </a:cxn>
                  <a:cxn ang="T142">
                    <a:pos x="T52" y="T53"/>
                  </a:cxn>
                  <a:cxn ang="T143">
                    <a:pos x="T54" y="T55"/>
                  </a:cxn>
                  <a:cxn ang="T144">
                    <a:pos x="T56" y="T57"/>
                  </a:cxn>
                  <a:cxn ang="T145">
                    <a:pos x="T58" y="T59"/>
                  </a:cxn>
                  <a:cxn ang="T146">
                    <a:pos x="T60" y="T61"/>
                  </a:cxn>
                  <a:cxn ang="T147">
                    <a:pos x="T62" y="T63"/>
                  </a:cxn>
                  <a:cxn ang="T148">
                    <a:pos x="T64" y="T65"/>
                  </a:cxn>
                  <a:cxn ang="T149">
                    <a:pos x="T66" y="T67"/>
                  </a:cxn>
                  <a:cxn ang="T150">
                    <a:pos x="T68" y="T69"/>
                  </a:cxn>
                  <a:cxn ang="T151">
                    <a:pos x="T70" y="T71"/>
                  </a:cxn>
                  <a:cxn ang="T152">
                    <a:pos x="T72" y="T73"/>
                  </a:cxn>
                  <a:cxn ang="T153">
                    <a:pos x="T74" y="T75"/>
                  </a:cxn>
                  <a:cxn ang="T154">
                    <a:pos x="T76" y="T77"/>
                  </a:cxn>
                  <a:cxn ang="T155">
                    <a:pos x="T78" y="T79"/>
                  </a:cxn>
                  <a:cxn ang="T156">
                    <a:pos x="T80" y="T81"/>
                  </a:cxn>
                  <a:cxn ang="T157">
                    <a:pos x="T82" y="T83"/>
                  </a:cxn>
                  <a:cxn ang="T158">
                    <a:pos x="T84" y="T85"/>
                  </a:cxn>
                  <a:cxn ang="T159">
                    <a:pos x="T86" y="T87"/>
                  </a:cxn>
                  <a:cxn ang="T160">
                    <a:pos x="T88" y="T89"/>
                  </a:cxn>
                  <a:cxn ang="T161">
                    <a:pos x="T90" y="T91"/>
                  </a:cxn>
                  <a:cxn ang="T162">
                    <a:pos x="T92" y="T93"/>
                  </a:cxn>
                  <a:cxn ang="T163">
                    <a:pos x="T94" y="T95"/>
                  </a:cxn>
                  <a:cxn ang="T164">
                    <a:pos x="T96" y="T97"/>
                  </a:cxn>
                  <a:cxn ang="T165">
                    <a:pos x="T98" y="T99"/>
                  </a:cxn>
                  <a:cxn ang="T166">
                    <a:pos x="T100" y="T101"/>
                  </a:cxn>
                  <a:cxn ang="T167">
                    <a:pos x="T102" y="T103"/>
                  </a:cxn>
                  <a:cxn ang="T168">
                    <a:pos x="T104" y="T105"/>
                  </a:cxn>
                  <a:cxn ang="T169">
                    <a:pos x="T106" y="T107"/>
                  </a:cxn>
                  <a:cxn ang="T170">
                    <a:pos x="T108" y="T109"/>
                  </a:cxn>
                  <a:cxn ang="T171">
                    <a:pos x="T110" y="T111"/>
                  </a:cxn>
                  <a:cxn ang="T172">
                    <a:pos x="T112" y="T113"/>
                  </a:cxn>
                  <a:cxn ang="T173">
                    <a:pos x="T114" y="T115"/>
                  </a:cxn>
                </a:cxnLst>
                <a:rect l="T174" t="T175" r="T176" b="T177"/>
                <a:pathLst>
                  <a:path w="483" h="18">
                    <a:moveTo>
                      <a:pt x="304" y="2"/>
                    </a:moveTo>
                    <a:lnTo>
                      <a:pt x="319" y="0"/>
                    </a:lnTo>
                    <a:lnTo>
                      <a:pt x="337" y="0"/>
                    </a:lnTo>
                    <a:lnTo>
                      <a:pt x="359" y="0"/>
                    </a:lnTo>
                    <a:lnTo>
                      <a:pt x="379" y="0"/>
                    </a:lnTo>
                    <a:lnTo>
                      <a:pt x="399" y="0"/>
                    </a:lnTo>
                    <a:lnTo>
                      <a:pt x="419" y="0"/>
                    </a:lnTo>
                    <a:lnTo>
                      <a:pt x="437" y="0"/>
                    </a:lnTo>
                    <a:lnTo>
                      <a:pt x="452" y="2"/>
                    </a:lnTo>
                    <a:lnTo>
                      <a:pt x="461" y="2"/>
                    </a:lnTo>
                    <a:lnTo>
                      <a:pt x="470" y="2"/>
                    </a:lnTo>
                    <a:lnTo>
                      <a:pt x="477" y="2"/>
                    </a:lnTo>
                    <a:lnTo>
                      <a:pt x="481" y="4"/>
                    </a:lnTo>
                    <a:lnTo>
                      <a:pt x="483" y="4"/>
                    </a:lnTo>
                    <a:lnTo>
                      <a:pt x="483" y="7"/>
                    </a:lnTo>
                    <a:lnTo>
                      <a:pt x="481" y="9"/>
                    </a:lnTo>
                    <a:lnTo>
                      <a:pt x="477" y="13"/>
                    </a:lnTo>
                    <a:lnTo>
                      <a:pt x="439" y="13"/>
                    </a:lnTo>
                    <a:lnTo>
                      <a:pt x="399" y="13"/>
                    </a:lnTo>
                    <a:lnTo>
                      <a:pt x="359" y="13"/>
                    </a:lnTo>
                    <a:lnTo>
                      <a:pt x="319" y="15"/>
                    </a:lnTo>
                    <a:lnTo>
                      <a:pt x="277" y="15"/>
                    </a:lnTo>
                    <a:lnTo>
                      <a:pt x="235" y="15"/>
                    </a:lnTo>
                    <a:lnTo>
                      <a:pt x="195" y="15"/>
                    </a:lnTo>
                    <a:lnTo>
                      <a:pt x="153" y="18"/>
                    </a:lnTo>
                    <a:lnTo>
                      <a:pt x="138" y="18"/>
                    </a:lnTo>
                    <a:lnTo>
                      <a:pt x="122" y="18"/>
                    </a:lnTo>
                    <a:lnTo>
                      <a:pt x="104" y="18"/>
                    </a:lnTo>
                    <a:lnTo>
                      <a:pt x="87" y="18"/>
                    </a:lnTo>
                    <a:lnTo>
                      <a:pt x="69" y="18"/>
                    </a:lnTo>
                    <a:lnTo>
                      <a:pt x="51" y="18"/>
                    </a:lnTo>
                    <a:lnTo>
                      <a:pt x="33" y="18"/>
                    </a:lnTo>
                    <a:lnTo>
                      <a:pt x="22" y="18"/>
                    </a:lnTo>
                    <a:lnTo>
                      <a:pt x="13" y="15"/>
                    </a:lnTo>
                    <a:lnTo>
                      <a:pt x="7" y="13"/>
                    </a:lnTo>
                    <a:lnTo>
                      <a:pt x="5" y="13"/>
                    </a:lnTo>
                    <a:lnTo>
                      <a:pt x="2" y="11"/>
                    </a:lnTo>
                    <a:lnTo>
                      <a:pt x="0" y="9"/>
                    </a:lnTo>
                    <a:lnTo>
                      <a:pt x="2" y="7"/>
                    </a:lnTo>
                    <a:lnTo>
                      <a:pt x="5" y="4"/>
                    </a:lnTo>
                    <a:lnTo>
                      <a:pt x="11" y="4"/>
                    </a:lnTo>
                    <a:lnTo>
                      <a:pt x="31" y="4"/>
                    </a:lnTo>
                    <a:lnTo>
                      <a:pt x="56" y="4"/>
                    </a:lnTo>
                    <a:lnTo>
                      <a:pt x="80" y="4"/>
                    </a:lnTo>
                    <a:lnTo>
                      <a:pt x="107" y="4"/>
                    </a:lnTo>
                    <a:lnTo>
                      <a:pt x="131" y="4"/>
                    </a:lnTo>
                    <a:lnTo>
                      <a:pt x="155" y="4"/>
                    </a:lnTo>
                    <a:lnTo>
                      <a:pt x="175" y="4"/>
                    </a:lnTo>
                    <a:lnTo>
                      <a:pt x="195" y="4"/>
                    </a:lnTo>
                    <a:lnTo>
                      <a:pt x="209" y="4"/>
                    </a:lnTo>
                    <a:lnTo>
                      <a:pt x="222" y="4"/>
                    </a:lnTo>
                    <a:lnTo>
                      <a:pt x="237" y="2"/>
                    </a:lnTo>
                    <a:lnTo>
                      <a:pt x="251" y="2"/>
                    </a:lnTo>
                    <a:lnTo>
                      <a:pt x="264" y="2"/>
                    </a:lnTo>
                    <a:lnTo>
                      <a:pt x="277" y="2"/>
                    </a:lnTo>
                    <a:lnTo>
                      <a:pt x="291" y="2"/>
                    </a:lnTo>
                    <a:lnTo>
                      <a:pt x="304" y="2"/>
                    </a:lnTo>
                    <a:close/>
                  </a:path>
                </a:pathLst>
              </a:custGeom>
              <a:solidFill>
                <a:srgbClr val="FFFF85"/>
              </a:solidFill>
              <a:ln w="9525">
                <a:noFill/>
                <a:round/>
                <a:headEnd/>
                <a:tailEnd/>
              </a:ln>
            </p:spPr>
            <p:txBody>
              <a:bodyPr/>
              <a:lstStyle/>
              <a:p>
                <a:endParaRPr lang="en-US"/>
              </a:p>
            </p:txBody>
          </p:sp>
          <p:sp>
            <p:nvSpPr>
              <p:cNvPr id="157743" name="Freeform 45"/>
              <p:cNvSpPr>
                <a:spLocks/>
              </p:cNvSpPr>
              <p:nvPr/>
            </p:nvSpPr>
            <p:spPr bwMode="auto">
              <a:xfrm>
                <a:off x="2669" y="1489"/>
                <a:ext cx="508" cy="22"/>
              </a:xfrm>
              <a:custGeom>
                <a:avLst/>
                <a:gdLst>
                  <a:gd name="T0" fmla="*/ 319 w 508"/>
                  <a:gd name="T1" fmla="*/ 2 h 22"/>
                  <a:gd name="T2" fmla="*/ 337 w 508"/>
                  <a:gd name="T3" fmla="*/ 2 h 22"/>
                  <a:gd name="T4" fmla="*/ 355 w 508"/>
                  <a:gd name="T5" fmla="*/ 2 h 22"/>
                  <a:gd name="T6" fmla="*/ 375 w 508"/>
                  <a:gd name="T7" fmla="*/ 0 h 22"/>
                  <a:gd name="T8" fmla="*/ 397 w 508"/>
                  <a:gd name="T9" fmla="*/ 0 h 22"/>
                  <a:gd name="T10" fmla="*/ 419 w 508"/>
                  <a:gd name="T11" fmla="*/ 0 h 22"/>
                  <a:gd name="T12" fmla="*/ 439 w 508"/>
                  <a:gd name="T13" fmla="*/ 0 h 22"/>
                  <a:gd name="T14" fmla="*/ 459 w 508"/>
                  <a:gd name="T15" fmla="*/ 0 h 22"/>
                  <a:gd name="T16" fmla="*/ 477 w 508"/>
                  <a:gd name="T17" fmla="*/ 0 h 22"/>
                  <a:gd name="T18" fmla="*/ 485 w 508"/>
                  <a:gd name="T19" fmla="*/ 0 h 22"/>
                  <a:gd name="T20" fmla="*/ 492 w 508"/>
                  <a:gd name="T21" fmla="*/ 2 h 22"/>
                  <a:gd name="T22" fmla="*/ 499 w 508"/>
                  <a:gd name="T23" fmla="*/ 2 h 22"/>
                  <a:gd name="T24" fmla="*/ 503 w 508"/>
                  <a:gd name="T25" fmla="*/ 4 h 22"/>
                  <a:gd name="T26" fmla="*/ 508 w 508"/>
                  <a:gd name="T27" fmla="*/ 7 h 22"/>
                  <a:gd name="T28" fmla="*/ 508 w 508"/>
                  <a:gd name="T29" fmla="*/ 7 h 22"/>
                  <a:gd name="T30" fmla="*/ 505 w 508"/>
                  <a:gd name="T31" fmla="*/ 11 h 22"/>
                  <a:gd name="T32" fmla="*/ 501 w 508"/>
                  <a:gd name="T33" fmla="*/ 13 h 22"/>
                  <a:gd name="T34" fmla="*/ 461 w 508"/>
                  <a:gd name="T35" fmla="*/ 15 h 22"/>
                  <a:gd name="T36" fmla="*/ 421 w 508"/>
                  <a:gd name="T37" fmla="*/ 18 h 22"/>
                  <a:gd name="T38" fmla="*/ 377 w 508"/>
                  <a:gd name="T39" fmla="*/ 18 h 22"/>
                  <a:gd name="T40" fmla="*/ 335 w 508"/>
                  <a:gd name="T41" fmla="*/ 18 h 22"/>
                  <a:gd name="T42" fmla="*/ 290 w 508"/>
                  <a:gd name="T43" fmla="*/ 18 h 22"/>
                  <a:gd name="T44" fmla="*/ 246 w 508"/>
                  <a:gd name="T45" fmla="*/ 18 h 22"/>
                  <a:gd name="T46" fmla="*/ 204 w 508"/>
                  <a:gd name="T47" fmla="*/ 18 h 22"/>
                  <a:gd name="T48" fmla="*/ 162 w 508"/>
                  <a:gd name="T49" fmla="*/ 22 h 22"/>
                  <a:gd name="T50" fmla="*/ 144 w 508"/>
                  <a:gd name="T51" fmla="*/ 22 h 22"/>
                  <a:gd name="T52" fmla="*/ 126 w 508"/>
                  <a:gd name="T53" fmla="*/ 22 h 22"/>
                  <a:gd name="T54" fmla="*/ 109 w 508"/>
                  <a:gd name="T55" fmla="*/ 20 h 22"/>
                  <a:gd name="T56" fmla="*/ 91 w 508"/>
                  <a:gd name="T57" fmla="*/ 20 h 22"/>
                  <a:gd name="T58" fmla="*/ 71 w 508"/>
                  <a:gd name="T59" fmla="*/ 20 h 22"/>
                  <a:gd name="T60" fmla="*/ 53 w 508"/>
                  <a:gd name="T61" fmla="*/ 20 h 22"/>
                  <a:gd name="T62" fmla="*/ 36 w 508"/>
                  <a:gd name="T63" fmla="*/ 20 h 22"/>
                  <a:gd name="T64" fmla="*/ 22 w 508"/>
                  <a:gd name="T65" fmla="*/ 20 h 22"/>
                  <a:gd name="T66" fmla="*/ 13 w 508"/>
                  <a:gd name="T67" fmla="*/ 18 h 22"/>
                  <a:gd name="T68" fmla="*/ 9 w 508"/>
                  <a:gd name="T69" fmla="*/ 15 h 22"/>
                  <a:gd name="T70" fmla="*/ 4 w 508"/>
                  <a:gd name="T71" fmla="*/ 13 h 22"/>
                  <a:gd name="T72" fmla="*/ 2 w 508"/>
                  <a:gd name="T73" fmla="*/ 11 h 22"/>
                  <a:gd name="T74" fmla="*/ 0 w 508"/>
                  <a:gd name="T75" fmla="*/ 9 h 22"/>
                  <a:gd name="T76" fmla="*/ 2 w 508"/>
                  <a:gd name="T77" fmla="*/ 7 h 22"/>
                  <a:gd name="T78" fmla="*/ 4 w 508"/>
                  <a:gd name="T79" fmla="*/ 7 h 22"/>
                  <a:gd name="T80" fmla="*/ 11 w 508"/>
                  <a:gd name="T81" fmla="*/ 7 h 22"/>
                  <a:gd name="T82" fmla="*/ 31 w 508"/>
                  <a:gd name="T83" fmla="*/ 2 h 22"/>
                  <a:gd name="T84" fmla="*/ 58 w 508"/>
                  <a:gd name="T85" fmla="*/ 2 h 22"/>
                  <a:gd name="T86" fmla="*/ 82 w 508"/>
                  <a:gd name="T87" fmla="*/ 2 h 22"/>
                  <a:gd name="T88" fmla="*/ 111 w 508"/>
                  <a:gd name="T89" fmla="*/ 4 h 22"/>
                  <a:gd name="T90" fmla="*/ 137 w 508"/>
                  <a:gd name="T91" fmla="*/ 4 h 22"/>
                  <a:gd name="T92" fmla="*/ 162 w 508"/>
                  <a:gd name="T93" fmla="*/ 4 h 22"/>
                  <a:gd name="T94" fmla="*/ 184 w 508"/>
                  <a:gd name="T95" fmla="*/ 4 h 22"/>
                  <a:gd name="T96" fmla="*/ 204 w 508"/>
                  <a:gd name="T97" fmla="*/ 7 h 22"/>
                  <a:gd name="T98" fmla="*/ 217 w 508"/>
                  <a:gd name="T99" fmla="*/ 4 h 22"/>
                  <a:gd name="T100" fmla="*/ 233 w 508"/>
                  <a:gd name="T101" fmla="*/ 4 h 22"/>
                  <a:gd name="T102" fmla="*/ 248 w 508"/>
                  <a:gd name="T103" fmla="*/ 2 h 22"/>
                  <a:gd name="T104" fmla="*/ 264 w 508"/>
                  <a:gd name="T105" fmla="*/ 2 h 22"/>
                  <a:gd name="T106" fmla="*/ 277 w 508"/>
                  <a:gd name="T107" fmla="*/ 2 h 22"/>
                  <a:gd name="T108" fmla="*/ 293 w 508"/>
                  <a:gd name="T109" fmla="*/ 2 h 22"/>
                  <a:gd name="T110" fmla="*/ 306 w 508"/>
                  <a:gd name="T111" fmla="*/ 2 h 22"/>
                  <a:gd name="T112" fmla="*/ 319 w 508"/>
                  <a:gd name="T113" fmla="*/ 2 h 22"/>
                  <a:gd name="T114" fmla="*/ 319 w 508"/>
                  <a:gd name="T115" fmla="*/ 2 h 22"/>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w 508"/>
                  <a:gd name="T175" fmla="*/ 0 h 22"/>
                  <a:gd name="T176" fmla="*/ 508 w 508"/>
                  <a:gd name="T177" fmla="*/ 22 h 22"/>
                </a:gdLst>
                <a:ahLst/>
                <a:cxnLst>
                  <a:cxn ang="T116">
                    <a:pos x="T0" y="T1"/>
                  </a:cxn>
                  <a:cxn ang="T117">
                    <a:pos x="T2" y="T3"/>
                  </a:cxn>
                  <a:cxn ang="T118">
                    <a:pos x="T4" y="T5"/>
                  </a:cxn>
                  <a:cxn ang="T119">
                    <a:pos x="T6" y="T7"/>
                  </a:cxn>
                  <a:cxn ang="T120">
                    <a:pos x="T8" y="T9"/>
                  </a:cxn>
                  <a:cxn ang="T121">
                    <a:pos x="T10" y="T11"/>
                  </a:cxn>
                  <a:cxn ang="T122">
                    <a:pos x="T12" y="T13"/>
                  </a:cxn>
                  <a:cxn ang="T123">
                    <a:pos x="T14" y="T15"/>
                  </a:cxn>
                  <a:cxn ang="T124">
                    <a:pos x="T16" y="T17"/>
                  </a:cxn>
                  <a:cxn ang="T125">
                    <a:pos x="T18" y="T19"/>
                  </a:cxn>
                  <a:cxn ang="T126">
                    <a:pos x="T20" y="T21"/>
                  </a:cxn>
                  <a:cxn ang="T127">
                    <a:pos x="T22" y="T23"/>
                  </a:cxn>
                  <a:cxn ang="T128">
                    <a:pos x="T24" y="T25"/>
                  </a:cxn>
                  <a:cxn ang="T129">
                    <a:pos x="T26" y="T27"/>
                  </a:cxn>
                  <a:cxn ang="T130">
                    <a:pos x="T28" y="T29"/>
                  </a:cxn>
                  <a:cxn ang="T131">
                    <a:pos x="T30" y="T31"/>
                  </a:cxn>
                  <a:cxn ang="T132">
                    <a:pos x="T32" y="T33"/>
                  </a:cxn>
                  <a:cxn ang="T133">
                    <a:pos x="T34" y="T35"/>
                  </a:cxn>
                  <a:cxn ang="T134">
                    <a:pos x="T36" y="T37"/>
                  </a:cxn>
                  <a:cxn ang="T135">
                    <a:pos x="T38" y="T39"/>
                  </a:cxn>
                  <a:cxn ang="T136">
                    <a:pos x="T40" y="T41"/>
                  </a:cxn>
                  <a:cxn ang="T137">
                    <a:pos x="T42" y="T43"/>
                  </a:cxn>
                  <a:cxn ang="T138">
                    <a:pos x="T44" y="T45"/>
                  </a:cxn>
                  <a:cxn ang="T139">
                    <a:pos x="T46" y="T47"/>
                  </a:cxn>
                  <a:cxn ang="T140">
                    <a:pos x="T48" y="T49"/>
                  </a:cxn>
                  <a:cxn ang="T141">
                    <a:pos x="T50" y="T51"/>
                  </a:cxn>
                  <a:cxn ang="T142">
                    <a:pos x="T52" y="T53"/>
                  </a:cxn>
                  <a:cxn ang="T143">
                    <a:pos x="T54" y="T55"/>
                  </a:cxn>
                  <a:cxn ang="T144">
                    <a:pos x="T56" y="T57"/>
                  </a:cxn>
                  <a:cxn ang="T145">
                    <a:pos x="T58" y="T59"/>
                  </a:cxn>
                  <a:cxn ang="T146">
                    <a:pos x="T60" y="T61"/>
                  </a:cxn>
                  <a:cxn ang="T147">
                    <a:pos x="T62" y="T63"/>
                  </a:cxn>
                  <a:cxn ang="T148">
                    <a:pos x="T64" y="T65"/>
                  </a:cxn>
                  <a:cxn ang="T149">
                    <a:pos x="T66" y="T67"/>
                  </a:cxn>
                  <a:cxn ang="T150">
                    <a:pos x="T68" y="T69"/>
                  </a:cxn>
                  <a:cxn ang="T151">
                    <a:pos x="T70" y="T71"/>
                  </a:cxn>
                  <a:cxn ang="T152">
                    <a:pos x="T72" y="T73"/>
                  </a:cxn>
                  <a:cxn ang="T153">
                    <a:pos x="T74" y="T75"/>
                  </a:cxn>
                  <a:cxn ang="T154">
                    <a:pos x="T76" y="T77"/>
                  </a:cxn>
                  <a:cxn ang="T155">
                    <a:pos x="T78" y="T79"/>
                  </a:cxn>
                  <a:cxn ang="T156">
                    <a:pos x="T80" y="T81"/>
                  </a:cxn>
                  <a:cxn ang="T157">
                    <a:pos x="T82" y="T83"/>
                  </a:cxn>
                  <a:cxn ang="T158">
                    <a:pos x="T84" y="T85"/>
                  </a:cxn>
                  <a:cxn ang="T159">
                    <a:pos x="T86" y="T87"/>
                  </a:cxn>
                  <a:cxn ang="T160">
                    <a:pos x="T88" y="T89"/>
                  </a:cxn>
                  <a:cxn ang="T161">
                    <a:pos x="T90" y="T91"/>
                  </a:cxn>
                  <a:cxn ang="T162">
                    <a:pos x="T92" y="T93"/>
                  </a:cxn>
                  <a:cxn ang="T163">
                    <a:pos x="T94" y="T95"/>
                  </a:cxn>
                  <a:cxn ang="T164">
                    <a:pos x="T96" y="T97"/>
                  </a:cxn>
                  <a:cxn ang="T165">
                    <a:pos x="T98" y="T99"/>
                  </a:cxn>
                  <a:cxn ang="T166">
                    <a:pos x="T100" y="T101"/>
                  </a:cxn>
                  <a:cxn ang="T167">
                    <a:pos x="T102" y="T103"/>
                  </a:cxn>
                  <a:cxn ang="T168">
                    <a:pos x="T104" y="T105"/>
                  </a:cxn>
                  <a:cxn ang="T169">
                    <a:pos x="T106" y="T107"/>
                  </a:cxn>
                  <a:cxn ang="T170">
                    <a:pos x="T108" y="T109"/>
                  </a:cxn>
                  <a:cxn ang="T171">
                    <a:pos x="T110" y="T111"/>
                  </a:cxn>
                  <a:cxn ang="T172">
                    <a:pos x="T112" y="T113"/>
                  </a:cxn>
                  <a:cxn ang="T173">
                    <a:pos x="T114" y="T115"/>
                  </a:cxn>
                </a:cxnLst>
                <a:rect l="T174" t="T175" r="T176" b="T177"/>
                <a:pathLst>
                  <a:path w="508" h="22">
                    <a:moveTo>
                      <a:pt x="319" y="2"/>
                    </a:moveTo>
                    <a:lnTo>
                      <a:pt x="337" y="2"/>
                    </a:lnTo>
                    <a:lnTo>
                      <a:pt x="355" y="2"/>
                    </a:lnTo>
                    <a:lnTo>
                      <a:pt x="375" y="0"/>
                    </a:lnTo>
                    <a:lnTo>
                      <a:pt x="397" y="0"/>
                    </a:lnTo>
                    <a:lnTo>
                      <a:pt x="419" y="0"/>
                    </a:lnTo>
                    <a:lnTo>
                      <a:pt x="439" y="0"/>
                    </a:lnTo>
                    <a:lnTo>
                      <a:pt x="459" y="0"/>
                    </a:lnTo>
                    <a:lnTo>
                      <a:pt x="477" y="0"/>
                    </a:lnTo>
                    <a:lnTo>
                      <a:pt x="485" y="0"/>
                    </a:lnTo>
                    <a:lnTo>
                      <a:pt x="492" y="2"/>
                    </a:lnTo>
                    <a:lnTo>
                      <a:pt x="499" y="2"/>
                    </a:lnTo>
                    <a:lnTo>
                      <a:pt x="503" y="4"/>
                    </a:lnTo>
                    <a:lnTo>
                      <a:pt x="508" y="7"/>
                    </a:lnTo>
                    <a:lnTo>
                      <a:pt x="505" y="11"/>
                    </a:lnTo>
                    <a:lnTo>
                      <a:pt x="501" y="13"/>
                    </a:lnTo>
                    <a:lnTo>
                      <a:pt x="461" y="15"/>
                    </a:lnTo>
                    <a:lnTo>
                      <a:pt x="421" y="18"/>
                    </a:lnTo>
                    <a:lnTo>
                      <a:pt x="377" y="18"/>
                    </a:lnTo>
                    <a:lnTo>
                      <a:pt x="335" y="18"/>
                    </a:lnTo>
                    <a:lnTo>
                      <a:pt x="290" y="18"/>
                    </a:lnTo>
                    <a:lnTo>
                      <a:pt x="246" y="18"/>
                    </a:lnTo>
                    <a:lnTo>
                      <a:pt x="204" y="18"/>
                    </a:lnTo>
                    <a:lnTo>
                      <a:pt x="162" y="22"/>
                    </a:lnTo>
                    <a:lnTo>
                      <a:pt x="144" y="22"/>
                    </a:lnTo>
                    <a:lnTo>
                      <a:pt x="126" y="22"/>
                    </a:lnTo>
                    <a:lnTo>
                      <a:pt x="109" y="20"/>
                    </a:lnTo>
                    <a:lnTo>
                      <a:pt x="91" y="20"/>
                    </a:lnTo>
                    <a:lnTo>
                      <a:pt x="71" y="20"/>
                    </a:lnTo>
                    <a:lnTo>
                      <a:pt x="53" y="20"/>
                    </a:lnTo>
                    <a:lnTo>
                      <a:pt x="36" y="20"/>
                    </a:lnTo>
                    <a:lnTo>
                      <a:pt x="22" y="20"/>
                    </a:lnTo>
                    <a:lnTo>
                      <a:pt x="13" y="18"/>
                    </a:lnTo>
                    <a:lnTo>
                      <a:pt x="9" y="15"/>
                    </a:lnTo>
                    <a:lnTo>
                      <a:pt x="4" y="13"/>
                    </a:lnTo>
                    <a:lnTo>
                      <a:pt x="2" y="11"/>
                    </a:lnTo>
                    <a:lnTo>
                      <a:pt x="0" y="9"/>
                    </a:lnTo>
                    <a:lnTo>
                      <a:pt x="2" y="7"/>
                    </a:lnTo>
                    <a:lnTo>
                      <a:pt x="4" y="7"/>
                    </a:lnTo>
                    <a:lnTo>
                      <a:pt x="11" y="7"/>
                    </a:lnTo>
                    <a:lnTo>
                      <a:pt x="31" y="2"/>
                    </a:lnTo>
                    <a:lnTo>
                      <a:pt x="58" y="2"/>
                    </a:lnTo>
                    <a:lnTo>
                      <a:pt x="82" y="2"/>
                    </a:lnTo>
                    <a:lnTo>
                      <a:pt x="111" y="4"/>
                    </a:lnTo>
                    <a:lnTo>
                      <a:pt x="137" y="4"/>
                    </a:lnTo>
                    <a:lnTo>
                      <a:pt x="162" y="4"/>
                    </a:lnTo>
                    <a:lnTo>
                      <a:pt x="184" y="4"/>
                    </a:lnTo>
                    <a:lnTo>
                      <a:pt x="204" y="7"/>
                    </a:lnTo>
                    <a:lnTo>
                      <a:pt x="217" y="4"/>
                    </a:lnTo>
                    <a:lnTo>
                      <a:pt x="233" y="4"/>
                    </a:lnTo>
                    <a:lnTo>
                      <a:pt x="248" y="2"/>
                    </a:lnTo>
                    <a:lnTo>
                      <a:pt x="264" y="2"/>
                    </a:lnTo>
                    <a:lnTo>
                      <a:pt x="277" y="2"/>
                    </a:lnTo>
                    <a:lnTo>
                      <a:pt x="293" y="2"/>
                    </a:lnTo>
                    <a:lnTo>
                      <a:pt x="306" y="2"/>
                    </a:lnTo>
                    <a:lnTo>
                      <a:pt x="319" y="2"/>
                    </a:lnTo>
                    <a:close/>
                  </a:path>
                </a:pathLst>
              </a:custGeom>
              <a:solidFill>
                <a:srgbClr val="FFFF85"/>
              </a:solidFill>
              <a:ln w="9525">
                <a:noFill/>
                <a:round/>
                <a:headEnd/>
                <a:tailEnd/>
              </a:ln>
            </p:spPr>
            <p:txBody>
              <a:bodyPr/>
              <a:lstStyle/>
              <a:p>
                <a:endParaRPr lang="en-US"/>
              </a:p>
            </p:txBody>
          </p:sp>
          <p:sp>
            <p:nvSpPr>
              <p:cNvPr id="157744" name="Freeform 46"/>
              <p:cNvSpPr>
                <a:spLocks/>
              </p:cNvSpPr>
              <p:nvPr/>
            </p:nvSpPr>
            <p:spPr bwMode="auto">
              <a:xfrm>
                <a:off x="2724" y="1535"/>
                <a:ext cx="244" cy="23"/>
              </a:xfrm>
              <a:custGeom>
                <a:avLst/>
                <a:gdLst>
                  <a:gd name="T0" fmla="*/ 191 w 244"/>
                  <a:gd name="T1" fmla="*/ 3 h 23"/>
                  <a:gd name="T2" fmla="*/ 193 w 244"/>
                  <a:gd name="T3" fmla="*/ 0 h 23"/>
                  <a:gd name="T4" fmla="*/ 200 w 244"/>
                  <a:gd name="T5" fmla="*/ 0 h 23"/>
                  <a:gd name="T6" fmla="*/ 207 w 244"/>
                  <a:gd name="T7" fmla="*/ 0 h 23"/>
                  <a:gd name="T8" fmla="*/ 213 w 244"/>
                  <a:gd name="T9" fmla="*/ 0 h 23"/>
                  <a:gd name="T10" fmla="*/ 220 w 244"/>
                  <a:gd name="T11" fmla="*/ 0 h 23"/>
                  <a:gd name="T12" fmla="*/ 229 w 244"/>
                  <a:gd name="T13" fmla="*/ 0 h 23"/>
                  <a:gd name="T14" fmla="*/ 233 w 244"/>
                  <a:gd name="T15" fmla="*/ 0 h 23"/>
                  <a:gd name="T16" fmla="*/ 240 w 244"/>
                  <a:gd name="T17" fmla="*/ 3 h 23"/>
                  <a:gd name="T18" fmla="*/ 242 w 244"/>
                  <a:gd name="T19" fmla="*/ 3 h 23"/>
                  <a:gd name="T20" fmla="*/ 244 w 244"/>
                  <a:gd name="T21" fmla="*/ 5 h 23"/>
                  <a:gd name="T22" fmla="*/ 242 w 244"/>
                  <a:gd name="T23" fmla="*/ 7 h 23"/>
                  <a:gd name="T24" fmla="*/ 242 w 244"/>
                  <a:gd name="T25" fmla="*/ 12 h 23"/>
                  <a:gd name="T26" fmla="*/ 231 w 244"/>
                  <a:gd name="T27" fmla="*/ 14 h 23"/>
                  <a:gd name="T28" fmla="*/ 222 w 244"/>
                  <a:gd name="T29" fmla="*/ 14 h 23"/>
                  <a:gd name="T30" fmla="*/ 211 w 244"/>
                  <a:gd name="T31" fmla="*/ 16 h 23"/>
                  <a:gd name="T32" fmla="*/ 200 w 244"/>
                  <a:gd name="T33" fmla="*/ 16 h 23"/>
                  <a:gd name="T34" fmla="*/ 187 w 244"/>
                  <a:gd name="T35" fmla="*/ 16 h 23"/>
                  <a:gd name="T36" fmla="*/ 176 w 244"/>
                  <a:gd name="T37" fmla="*/ 16 h 23"/>
                  <a:gd name="T38" fmla="*/ 165 w 244"/>
                  <a:gd name="T39" fmla="*/ 16 h 23"/>
                  <a:gd name="T40" fmla="*/ 153 w 244"/>
                  <a:gd name="T41" fmla="*/ 18 h 23"/>
                  <a:gd name="T42" fmla="*/ 136 w 244"/>
                  <a:gd name="T43" fmla="*/ 18 h 23"/>
                  <a:gd name="T44" fmla="*/ 118 w 244"/>
                  <a:gd name="T45" fmla="*/ 18 h 23"/>
                  <a:gd name="T46" fmla="*/ 100 w 244"/>
                  <a:gd name="T47" fmla="*/ 18 h 23"/>
                  <a:gd name="T48" fmla="*/ 82 w 244"/>
                  <a:gd name="T49" fmla="*/ 18 h 23"/>
                  <a:gd name="T50" fmla="*/ 65 w 244"/>
                  <a:gd name="T51" fmla="*/ 18 h 23"/>
                  <a:gd name="T52" fmla="*/ 45 w 244"/>
                  <a:gd name="T53" fmla="*/ 18 h 23"/>
                  <a:gd name="T54" fmla="*/ 27 w 244"/>
                  <a:gd name="T55" fmla="*/ 20 h 23"/>
                  <a:gd name="T56" fmla="*/ 12 w 244"/>
                  <a:gd name="T57" fmla="*/ 23 h 23"/>
                  <a:gd name="T58" fmla="*/ 5 w 244"/>
                  <a:gd name="T59" fmla="*/ 20 h 23"/>
                  <a:gd name="T60" fmla="*/ 0 w 244"/>
                  <a:gd name="T61" fmla="*/ 16 h 23"/>
                  <a:gd name="T62" fmla="*/ 0 w 244"/>
                  <a:gd name="T63" fmla="*/ 12 h 23"/>
                  <a:gd name="T64" fmla="*/ 5 w 244"/>
                  <a:gd name="T65" fmla="*/ 9 h 23"/>
                  <a:gd name="T66" fmla="*/ 18 w 244"/>
                  <a:gd name="T67" fmla="*/ 7 h 23"/>
                  <a:gd name="T68" fmla="*/ 29 w 244"/>
                  <a:gd name="T69" fmla="*/ 7 h 23"/>
                  <a:gd name="T70" fmla="*/ 40 w 244"/>
                  <a:gd name="T71" fmla="*/ 7 h 23"/>
                  <a:gd name="T72" fmla="*/ 51 w 244"/>
                  <a:gd name="T73" fmla="*/ 7 h 23"/>
                  <a:gd name="T74" fmla="*/ 63 w 244"/>
                  <a:gd name="T75" fmla="*/ 7 h 23"/>
                  <a:gd name="T76" fmla="*/ 74 w 244"/>
                  <a:gd name="T77" fmla="*/ 7 h 23"/>
                  <a:gd name="T78" fmla="*/ 85 w 244"/>
                  <a:gd name="T79" fmla="*/ 7 h 23"/>
                  <a:gd name="T80" fmla="*/ 96 w 244"/>
                  <a:gd name="T81" fmla="*/ 7 h 23"/>
                  <a:gd name="T82" fmla="*/ 105 w 244"/>
                  <a:gd name="T83" fmla="*/ 5 h 23"/>
                  <a:gd name="T84" fmla="*/ 118 w 244"/>
                  <a:gd name="T85" fmla="*/ 5 h 23"/>
                  <a:gd name="T86" fmla="*/ 129 w 244"/>
                  <a:gd name="T87" fmla="*/ 5 h 23"/>
                  <a:gd name="T88" fmla="*/ 142 w 244"/>
                  <a:gd name="T89" fmla="*/ 5 h 23"/>
                  <a:gd name="T90" fmla="*/ 153 w 244"/>
                  <a:gd name="T91" fmla="*/ 3 h 23"/>
                  <a:gd name="T92" fmla="*/ 167 w 244"/>
                  <a:gd name="T93" fmla="*/ 3 h 23"/>
                  <a:gd name="T94" fmla="*/ 178 w 244"/>
                  <a:gd name="T95" fmla="*/ 3 h 23"/>
                  <a:gd name="T96" fmla="*/ 191 w 244"/>
                  <a:gd name="T97" fmla="*/ 3 h 23"/>
                  <a:gd name="T98" fmla="*/ 191 w 244"/>
                  <a:gd name="T99" fmla="*/ 3 h 23"/>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w 244"/>
                  <a:gd name="T151" fmla="*/ 0 h 23"/>
                  <a:gd name="T152" fmla="*/ 244 w 244"/>
                  <a:gd name="T153" fmla="*/ 23 h 23"/>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T150" t="T151" r="T152" b="T153"/>
                <a:pathLst>
                  <a:path w="244" h="23">
                    <a:moveTo>
                      <a:pt x="191" y="3"/>
                    </a:moveTo>
                    <a:lnTo>
                      <a:pt x="193" y="0"/>
                    </a:lnTo>
                    <a:lnTo>
                      <a:pt x="200" y="0"/>
                    </a:lnTo>
                    <a:lnTo>
                      <a:pt x="207" y="0"/>
                    </a:lnTo>
                    <a:lnTo>
                      <a:pt x="213" y="0"/>
                    </a:lnTo>
                    <a:lnTo>
                      <a:pt x="220" y="0"/>
                    </a:lnTo>
                    <a:lnTo>
                      <a:pt x="229" y="0"/>
                    </a:lnTo>
                    <a:lnTo>
                      <a:pt x="233" y="0"/>
                    </a:lnTo>
                    <a:lnTo>
                      <a:pt x="240" y="3"/>
                    </a:lnTo>
                    <a:lnTo>
                      <a:pt x="242" y="3"/>
                    </a:lnTo>
                    <a:lnTo>
                      <a:pt x="244" y="5"/>
                    </a:lnTo>
                    <a:lnTo>
                      <a:pt x="242" y="7"/>
                    </a:lnTo>
                    <a:lnTo>
                      <a:pt x="242" y="12"/>
                    </a:lnTo>
                    <a:lnTo>
                      <a:pt x="231" y="14"/>
                    </a:lnTo>
                    <a:lnTo>
                      <a:pt x="222" y="14"/>
                    </a:lnTo>
                    <a:lnTo>
                      <a:pt x="211" y="16"/>
                    </a:lnTo>
                    <a:lnTo>
                      <a:pt x="200" y="16"/>
                    </a:lnTo>
                    <a:lnTo>
                      <a:pt x="187" y="16"/>
                    </a:lnTo>
                    <a:lnTo>
                      <a:pt x="176" y="16"/>
                    </a:lnTo>
                    <a:lnTo>
                      <a:pt x="165" y="16"/>
                    </a:lnTo>
                    <a:lnTo>
                      <a:pt x="153" y="18"/>
                    </a:lnTo>
                    <a:lnTo>
                      <a:pt x="136" y="18"/>
                    </a:lnTo>
                    <a:lnTo>
                      <a:pt x="118" y="18"/>
                    </a:lnTo>
                    <a:lnTo>
                      <a:pt x="100" y="18"/>
                    </a:lnTo>
                    <a:lnTo>
                      <a:pt x="82" y="18"/>
                    </a:lnTo>
                    <a:lnTo>
                      <a:pt x="65" y="18"/>
                    </a:lnTo>
                    <a:lnTo>
                      <a:pt x="45" y="18"/>
                    </a:lnTo>
                    <a:lnTo>
                      <a:pt x="27" y="20"/>
                    </a:lnTo>
                    <a:lnTo>
                      <a:pt x="12" y="23"/>
                    </a:lnTo>
                    <a:lnTo>
                      <a:pt x="5" y="20"/>
                    </a:lnTo>
                    <a:lnTo>
                      <a:pt x="0" y="16"/>
                    </a:lnTo>
                    <a:lnTo>
                      <a:pt x="0" y="12"/>
                    </a:lnTo>
                    <a:lnTo>
                      <a:pt x="5" y="9"/>
                    </a:lnTo>
                    <a:lnTo>
                      <a:pt x="18" y="7"/>
                    </a:lnTo>
                    <a:lnTo>
                      <a:pt x="29" y="7"/>
                    </a:lnTo>
                    <a:lnTo>
                      <a:pt x="40" y="7"/>
                    </a:lnTo>
                    <a:lnTo>
                      <a:pt x="51" y="7"/>
                    </a:lnTo>
                    <a:lnTo>
                      <a:pt x="63" y="7"/>
                    </a:lnTo>
                    <a:lnTo>
                      <a:pt x="74" y="7"/>
                    </a:lnTo>
                    <a:lnTo>
                      <a:pt x="85" y="7"/>
                    </a:lnTo>
                    <a:lnTo>
                      <a:pt x="96" y="7"/>
                    </a:lnTo>
                    <a:lnTo>
                      <a:pt x="105" y="5"/>
                    </a:lnTo>
                    <a:lnTo>
                      <a:pt x="118" y="5"/>
                    </a:lnTo>
                    <a:lnTo>
                      <a:pt x="129" y="5"/>
                    </a:lnTo>
                    <a:lnTo>
                      <a:pt x="142" y="5"/>
                    </a:lnTo>
                    <a:lnTo>
                      <a:pt x="153" y="3"/>
                    </a:lnTo>
                    <a:lnTo>
                      <a:pt x="167" y="3"/>
                    </a:lnTo>
                    <a:lnTo>
                      <a:pt x="178" y="3"/>
                    </a:lnTo>
                    <a:lnTo>
                      <a:pt x="191" y="3"/>
                    </a:lnTo>
                    <a:close/>
                  </a:path>
                </a:pathLst>
              </a:custGeom>
              <a:solidFill>
                <a:srgbClr val="FFFF85"/>
              </a:solidFill>
              <a:ln w="9525">
                <a:noFill/>
                <a:round/>
                <a:headEnd/>
                <a:tailEnd/>
              </a:ln>
            </p:spPr>
            <p:txBody>
              <a:bodyPr/>
              <a:lstStyle/>
              <a:p>
                <a:endParaRPr lang="en-US"/>
              </a:p>
            </p:txBody>
          </p:sp>
          <p:sp>
            <p:nvSpPr>
              <p:cNvPr id="157745" name="Freeform 47"/>
              <p:cNvSpPr>
                <a:spLocks/>
              </p:cNvSpPr>
              <p:nvPr/>
            </p:nvSpPr>
            <p:spPr bwMode="auto">
              <a:xfrm>
                <a:off x="3017" y="1245"/>
                <a:ext cx="118" cy="20"/>
              </a:xfrm>
              <a:custGeom>
                <a:avLst/>
                <a:gdLst>
                  <a:gd name="T0" fmla="*/ 33 w 118"/>
                  <a:gd name="T1" fmla="*/ 2 h 20"/>
                  <a:gd name="T2" fmla="*/ 42 w 118"/>
                  <a:gd name="T3" fmla="*/ 2 h 20"/>
                  <a:gd name="T4" fmla="*/ 51 w 118"/>
                  <a:gd name="T5" fmla="*/ 0 h 20"/>
                  <a:gd name="T6" fmla="*/ 62 w 118"/>
                  <a:gd name="T7" fmla="*/ 0 h 20"/>
                  <a:gd name="T8" fmla="*/ 73 w 118"/>
                  <a:gd name="T9" fmla="*/ 0 h 20"/>
                  <a:gd name="T10" fmla="*/ 82 w 118"/>
                  <a:gd name="T11" fmla="*/ 0 h 20"/>
                  <a:gd name="T12" fmla="*/ 93 w 118"/>
                  <a:gd name="T13" fmla="*/ 0 h 20"/>
                  <a:gd name="T14" fmla="*/ 102 w 118"/>
                  <a:gd name="T15" fmla="*/ 0 h 20"/>
                  <a:gd name="T16" fmla="*/ 111 w 118"/>
                  <a:gd name="T17" fmla="*/ 0 h 20"/>
                  <a:gd name="T18" fmla="*/ 118 w 118"/>
                  <a:gd name="T19" fmla="*/ 5 h 20"/>
                  <a:gd name="T20" fmla="*/ 115 w 118"/>
                  <a:gd name="T21" fmla="*/ 11 h 20"/>
                  <a:gd name="T22" fmla="*/ 100 w 118"/>
                  <a:gd name="T23" fmla="*/ 14 h 20"/>
                  <a:gd name="T24" fmla="*/ 87 w 118"/>
                  <a:gd name="T25" fmla="*/ 16 h 20"/>
                  <a:gd name="T26" fmla="*/ 73 w 118"/>
                  <a:gd name="T27" fmla="*/ 16 h 20"/>
                  <a:gd name="T28" fmla="*/ 60 w 118"/>
                  <a:gd name="T29" fmla="*/ 16 h 20"/>
                  <a:gd name="T30" fmla="*/ 44 w 118"/>
                  <a:gd name="T31" fmla="*/ 16 h 20"/>
                  <a:gd name="T32" fmla="*/ 31 w 118"/>
                  <a:gd name="T33" fmla="*/ 16 h 20"/>
                  <a:gd name="T34" fmla="*/ 16 w 118"/>
                  <a:gd name="T35" fmla="*/ 18 h 20"/>
                  <a:gd name="T36" fmla="*/ 4 w 118"/>
                  <a:gd name="T37" fmla="*/ 20 h 20"/>
                  <a:gd name="T38" fmla="*/ 0 w 118"/>
                  <a:gd name="T39" fmla="*/ 14 h 20"/>
                  <a:gd name="T40" fmla="*/ 2 w 118"/>
                  <a:gd name="T41" fmla="*/ 9 h 20"/>
                  <a:gd name="T42" fmla="*/ 4 w 118"/>
                  <a:gd name="T43" fmla="*/ 7 h 20"/>
                  <a:gd name="T44" fmla="*/ 9 w 118"/>
                  <a:gd name="T45" fmla="*/ 5 h 20"/>
                  <a:gd name="T46" fmla="*/ 13 w 118"/>
                  <a:gd name="T47" fmla="*/ 2 h 20"/>
                  <a:gd name="T48" fmla="*/ 18 w 118"/>
                  <a:gd name="T49" fmla="*/ 2 h 20"/>
                  <a:gd name="T50" fmla="*/ 22 w 118"/>
                  <a:gd name="T51" fmla="*/ 2 h 20"/>
                  <a:gd name="T52" fmla="*/ 27 w 118"/>
                  <a:gd name="T53" fmla="*/ 2 h 20"/>
                  <a:gd name="T54" fmla="*/ 31 w 118"/>
                  <a:gd name="T55" fmla="*/ 2 h 20"/>
                  <a:gd name="T56" fmla="*/ 33 w 118"/>
                  <a:gd name="T57" fmla="*/ 2 h 20"/>
                  <a:gd name="T58" fmla="*/ 33 w 118"/>
                  <a:gd name="T59" fmla="*/ 2 h 20"/>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w 118"/>
                  <a:gd name="T91" fmla="*/ 0 h 20"/>
                  <a:gd name="T92" fmla="*/ 118 w 118"/>
                  <a:gd name="T93" fmla="*/ 20 h 20"/>
                </a:gdLst>
                <a:ahLst/>
                <a:cxnLst>
                  <a:cxn ang="T60">
                    <a:pos x="T0" y="T1"/>
                  </a:cxn>
                  <a:cxn ang="T61">
                    <a:pos x="T2" y="T3"/>
                  </a:cxn>
                  <a:cxn ang="T62">
                    <a:pos x="T4" y="T5"/>
                  </a:cxn>
                  <a:cxn ang="T63">
                    <a:pos x="T6" y="T7"/>
                  </a:cxn>
                  <a:cxn ang="T64">
                    <a:pos x="T8" y="T9"/>
                  </a:cxn>
                  <a:cxn ang="T65">
                    <a:pos x="T10" y="T11"/>
                  </a:cxn>
                  <a:cxn ang="T66">
                    <a:pos x="T12" y="T13"/>
                  </a:cxn>
                  <a:cxn ang="T67">
                    <a:pos x="T14" y="T15"/>
                  </a:cxn>
                  <a:cxn ang="T68">
                    <a:pos x="T16" y="T17"/>
                  </a:cxn>
                  <a:cxn ang="T69">
                    <a:pos x="T18" y="T19"/>
                  </a:cxn>
                  <a:cxn ang="T70">
                    <a:pos x="T20" y="T21"/>
                  </a:cxn>
                  <a:cxn ang="T71">
                    <a:pos x="T22" y="T23"/>
                  </a:cxn>
                  <a:cxn ang="T72">
                    <a:pos x="T24" y="T25"/>
                  </a:cxn>
                  <a:cxn ang="T73">
                    <a:pos x="T26" y="T27"/>
                  </a:cxn>
                  <a:cxn ang="T74">
                    <a:pos x="T28" y="T29"/>
                  </a:cxn>
                  <a:cxn ang="T75">
                    <a:pos x="T30" y="T31"/>
                  </a:cxn>
                  <a:cxn ang="T76">
                    <a:pos x="T32" y="T33"/>
                  </a:cxn>
                  <a:cxn ang="T77">
                    <a:pos x="T34" y="T35"/>
                  </a:cxn>
                  <a:cxn ang="T78">
                    <a:pos x="T36" y="T37"/>
                  </a:cxn>
                  <a:cxn ang="T79">
                    <a:pos x="T38" y="T39"/>
                  </a:cxn>
                  <a:cxn ang="T80">
                    <a:pos x="T40" y="T41"/>
                  </a:cxn>
                  <a:cxn ang="T81">
                    <a:pos x="T42" y="T43"/>
                  </a:cxn>
                  <a:cxn ang="T82">
                    <a:pos x="T44" y="T45"/>
                  </a:cxn>
                  <a:cxn ang="T83">
                    <a:pos x="T46" y="T47"/>
                  </a:cxn>
                  <a:cxn ang="T84">
                    <a:pos x="T48" y="T49"/>
                  </a:cxn>
                  <a:cxn ang="T85">
                    <a:pos x="T50" y="T51"/>
                  </a:cxn>
                  <a:cxn ang="T86">
                    <a:pos x="T52" y="T53"/>
                  </a:cxn>
                  <a:cxn ang="T87">
                    <a:pos x="T54" y="T55"/>
                  </a:cxn>
                  <a:cxn ang="T88">
                    <a:pos x="T56" y="T57"/>
                  </a:cxn>
                  <a:cxn ang="T89">
                    <a:pos x="T58" y="T59"/>
                  </a:cxn>
                </a:cxnLst>
                <a:rect l="T90" t="T91" r="T92" b="T93"/>
                <a:pathLst>
                  <a:path w="118" h="20">
                    <a:moveTo>
                      <a:pt x="33" y="2"/>
                    </a:moveTo>
                    <a:lnTo>
                      <a:pt x="42" y="2"/>
                    </a:lnTo>
                    <a:lnTo>
                      <a:pt x="51" y="0"/>
                    </a:lnTo>
                    <a:lnTo>
                      <a:pt x="62" y="0"/>
                    </a:lnTo>
                    <a:lnTo>
                      <a:pt x="73" y="0"/>
                    </a:lnTo>
                    <a:lnTo>
                      <a:pt x="82" y="0"/>
                    </a:lnTo>
                    <a:lnTo>
                      <a:pt x="93" y="0"/>
                    </a:lnTo>
                    <a:lnTo>
                      <a:pt x="102" y="0"/>
                    </a:lnTo>
                    <a:lnTo>
                      <a:pt x="111" y="0"/>
                    </a:lnTo>
                    <a:lnTo>
                      <a:pt x="118" y="5"/>
                    </a:lnTo>
                    <a:lnTo>
                      <a:pt x="115" y="11"/>
                    </a:lnTo>
                    <a:lnTo>
                      <a:pt x="100" y="14"/>
                    </a:lnTo>
                    <a:lnTo>
                      <a:pt x="87" y="16"/>
                    </a:lnTo>
                    <a:lnTo>
                      <a:pt x="73" y="16"/>
                    </a:lnTo>
                    <a:lnTo>
                      <a:pt x="60" y="16"/>
                    </a:lnTo>
                    <a:lnTo>
                      <a:pt x="44" y="16"/>
                    </a:lnTo>
                    <a:lnTo>
                      <a:pt x="31" y="16"/>
                    </a:lnTo>
                    <a:lnTo>
                      <a:pt x="16" y="18"/>
                    </a:lnTo>
                    <a:lnTo>
                      <a:pt x="4" y="20"/>
                    </a:lnTo>
                    <a:lnTo>
                      <a:pt x="0" y="14"/>
                    </a:lnTo>
                    <a:lnTo>
                      <a:pt x="2" y="9"/>
                    </a:lnTo>
                    <a:lnTo>
                      <a:pt x="4" y="7"/>
                    </a:lnTo>
                    <a:lnTo>
                      <a:pt x="9" y="5"/>
                    </a:lnTo>
                    <a:lnTo>
                      <a:pt x="13" y="2"/>
                    </a:lnTo>
                    <a:lnTo>
                      <a:pt x="18" y="2"/>
                    </a:lnTo>
                    <a:lnTo>
                      <a:pt x="22" y="2"/>
                    </a:lnTo>
                    <a:lnTo>
                      <a:pt x="27" y="2"/>
                    </a:lnTo>
                    <a:lnTo>
                      <a:pt x="31" y="2"/>
                    </a:lnTo>
                    <a:lnTo>
                      <a:pt x="33" y="2"/>
                    </a:lnTo>
                    <a:close/>
                  </a:path>
                </a:pathLst>
              </a:custGeom>
              <a:solidFill>
                <a:srgbClr val="FFFF85"/>
              </a:solidFill>
              <a:ln w="9525">
                <a:noFill/>
                <a:round/>
                <a:headEnd/>
                <a:tailEnd/>
              </a:ln>
            </p:spPr>
            <p:txBody>
              <a:bodyPr/>
              <a:lstStyle/>
              <a:p>
                <a:endParaRPr lang="en-US"/>
              </a:p>
            </p:txBody>
          </p:sp>
          <p:sp>
            <p:nvSpPr>
              <p:cNvPr id="157746" name="Freeform 48"/>
              <p:cNvSpPr>
                <a:spLocks/>
              </p:cNvSpPr>
              <p:nvPr/>
            </p:nvSpPr>
            <p:spPr bwMode="auto">
              <a:xfrm>
                <a:off x="2629" y="1586"/>
                <a:ext cx="211" cy="18"/>
              </a:xfrm>
              <a:custGeom>
                <a:avLst/>
                <a:gdLst>
                  <a:gd name="T0" fmla="*/ 131 w 211"/>
                  <a:gd name="T1" fmla="*/ 3 h 18"/>
                  <a:gd name="T2" fmla="*/ 138 w 211"/>
                  <a:gd name="T3" fmla="*/ 0 h 18"/>
                  <a:gd name="T4" fmla="*/ 146 w 211"/>
                  <a:gd name="T5" fmla="*/ 0 h 18"/>
                  <a:gd name="T6" fmla="*/ 155 w 211"/>
                  <a:gd name="T7" fmla="*/ 0 h 18"/>
                  <a:gd name="T8" fmla="*/ 164 w 211"/>
                  <a:gd name="T9" fmla="*/ 0 h 18"/>
                  <a:gd name="T10" fmla="*/ 171 w 211"/>
                  <a:gd name="T11" fmla="*/ 0 h 18"/>
                  <a:gd name="T12" fmla="*/ 180 w 211"/>
                  <a:gd name="T13" fmla="*/ 0 h 18"/>
                  <a:gd name="T14" fmla="*/ 189 w 211"/>
                  <a:gd name="T15" fmla="*/ 0 h 18"/>
                  <a:gd name="T16" fmla="*/ 195 w 211"/>
                  <a:gd name="T17" fmla="*/ 3 h 18"/>
                  <a:gd name="T18" fmla="*/ 204 w 211"/>
                  <a:gd name="T19" fmla="*/ 3 h 18"/>
                  <a:gd name="T20" fmla="*/ 209 w 211"/>
                  <a:gd name="T21" fmla="*/ 5 h 18"/>
                  <a:gd name="T22" fmla="*/ 211 w 211"/>
                  <a:gd name="T23" fmla="*/ 7 h 18"/>
                  <a:gd name="T24" fmla="*/ 209 w 211"/>
                  <a:gd name="T25" fmla="*/ 12 h 18"/>
                  <a:gd name="T26" fmla="*/ 191 w 211"/>
                  <a:gd name="T27" fmla="*/ 14 h 18"/>
                  <a:gd name="T28" fmla="*/ 173 w 211"/>
                  <a:gd name="T29" fmla="*/ 16 h 18"/>
                  <a:gd name="T30" fmla="*/ 155 w 211"/>
                  <a:gd name="T31" fmla="*/ 16 h 18"/>
                  <a:gd name="T32" fmla="*/ 138 w 211"/>
                  <a:gd name="T33" fmla="*/ 16 h 18"/>
                  <a:gd name="T34" fmla="*/ 120 w 211"/>
                  <a:gd name="T35" fmla="*/ 16 h 18"/>
                  <a:gd name="T36" fmla="*/ 100 w 211"/>
                  <a:gd name="T37" fmla="*/ 16 h 18"/>
                  <a:gd name="T38" fmla="*/ 82 w 211"/>
                  <a:gd name="T39" fmla="*/ 16 h 18"/>
                  <a:gd name="T40" fmla="*/ 67 w 211"/>
                  <a:gd name="T41" fmla="*/ 18 h 18"/>
                  <a:gd name="T42" fmla="*/ 58 w 211"/>
                  <a:gd name="T43" fmla="*/ 18 h 18"/>
                  <a:gd name="T44" fmla="*/ 51 w 211"/>
                  <a:gd name="T45" fmla="*/ 18 h 18"/>
                  <a:gd name="T46" fmla="*/ 44 w 211"/>
                  <a:gd name="T47" fmla="*/ 18 h 18"/>
                  <a:gd name="T48" fmla="*/ 36 w 211"/>
                  <a:gd name="T49" fmla="*/ 18 h 18"/>
                  <a:gd name="T50" fmla="*/ 29 w 211"/>
                  <a:gd name="T51" fmla="*/ 18 h 18"/>
                  <a:gd name="T52" fmla="*/ 20 w 211"/>
                  <a:gd name="T53" fmla="*/ 18 h 18"/>
                  <a:gd name="T54" fmla="*/ 13 w 211"/>
                  <a:gd name="T55" fmla="*/ 18 h 18"/>
                  <a:gd name="T56" fmla="*/ 7 w 211"/>
                  <a:gd name="T57" fmla="*/ 18 h 18"/>
                  <a:gd name="T58" fmla="*/ 2 w 211"/>
                  <a:gd name="T59" fmla="*/ 14 h 18"/>
                  <a:gd name="T60" fmla="*/ 0 w 211"/>
                  <a:gd name="T61" fmla="*/ 12 h 18"/>
                  <a:gd name="T62" fmla="*/ 0 w 211"/>
                  <a:gd name="T63" fmla="*/ 7 h 18"/>
                  <a:gd name="T64" fmla="*/ 5 w 211"/>
                  <a:gd name="T65" fmla="*/ 7 h 18"/>
                  <a:gd name="T66" fmla="*/ 13 w 211"/>
                  <a:gd name="T67" fmla="*/ 5 h 18"/>
                  <a:gd name="T68" fmla="*/ 22 w 211"/>
                  <a:gd name="T69" fmla="*/ 5 h 18"/>
                  <a:gd name="T70" fmla="*/ 33 w 211"/>
                  <a:gd name="T71" fmla="*/ 5 h 18"/>
                  <a:gd name="T72" fmla="*/ 44 w 211"/>
                  <a:gd name="T73" fmla="*/ 5 h 18"/>
                  <a:gd name="T74" fmla="*/ 56 w 211"/>
                  <a:gd name="T75" fmla="*/ 5 h 18"/>
                  <a:gd name="T76" fmla="*/ 67 w 211"/>
                  <a:gd name="T77" fmla="*/ 5 h 18"/>
                  <a:gd name="T78" fmla="*/ 76 w 211"/>
                  <a:gd name="T79" fmla="*/ 5 h 18"/>
                  <a:gd name="T80" fmla="*/ 84 w 211"/>
                  <a:gd name="T81" fmla="*/ 5 h 18"/>
                  <a:gd name="T82" fmla="*/ 89 w 211"/>
                  <a:gd name="T83" fmla="*/ 5 h 18"/>
                  <a:gd name="T84" fmla="*/ 95 w 211"/>
                  <a:gd name="T85" fmla="*/ 3 h 18"/>
                  <a:gd name="T86" fmla="*/ 102 w 211"/>
                  <a:gd name="T87" fmla="*/ 3 h 18"/>
                  <a:gd name="T88" fmla="*/ 109 w 211"/>
                  <a:gd name="T89" fmla="*/ 3 h 18"/>
                  <a:gd name="T90" fmla="*/ 113 w 211"/>
                  <a:gd name="T91" fmla="*/ 3 h 18"/>
                  <a:gd name="T92" fmla="*/ 120 w 211"/>
                  <a:gd name="T93" fmla="*/ 3 h 18"/>
                  <a:gd name="T94" fmla="*/ 127 w 211"/>
                  <a:gd name="T95" fmla="*/ 3 h 18"/>
                  <a:gd name="T96" fmla="*/ 131 w 211"/>
                  <a:gd name="T97" fmla="*/ 3 h 18"/>
                  <a:gd name="T98" fmla="*/ 131 w 211"/>
                  <a:gd name="T99" fmla="*/ 3 h 18"/>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w 211"/>
                  <a:gd name="T151" fmla="*/ 0 h 18"/>
                  <a:gd name="T152" fmla="*/ 211 w 211"/>
                  <a:gd name="T153" fmla="*/ 18 h 18"/>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T150" t="T151" r="T152" b="T153"/>
                <a:pathLst>
                  <a:path w="211" h="18">
                    <a:moveTo>
                      <a:pt x="131" y="3"/>
                    </a:moveTo>
                    <a:lnTo>
                      <a:pt x="138" y="0"/>
                    </a:lnTo>
                    <a:lnTo>
                      <a:pt x="146" y="0"/>
                    </a:lnTo>
                    <a:lnTo>
                      <a:pt x="155" y="0"/>
                    </a:lnTo>
                    <a:lnTo>
                      <a:pt x="164" y="0"/>
                    </a:lnTo>
                    <a:lnTo>
                      <a:pt x="171" y="0"/>
                    </a:lnTo>
                    <a:lnTo>
                      <a:pt x="180" y="0"/>
                    </a:lnTo>
                    <a:lnTo>
                      <a:pt x="189" y="0"/>
                    </a:lnTo>
                    <a:lnTo>
                      <a:pt x="195" y="3"/>
                    </a:lnTo>
                    <a:lnTo>
                      <a:pt x="204" y="3"/>
                    </a:lnTo>
                    <a:lnTo>
                      <a:pt x="209" y="5"/>
                    </a:lnTo>
                    <a:lnTo>
                      <a:pt x="211" y="7"/>
                    </a:lnTo>
                    <a:lnTo>
                      <a:pt x="209" y="12"/>
                    </a:lnTo>
                    <a:lnTo>
                      <a:pt x="191" y="14"/>
                    </a:lnTo>
                    <a:lnTo>
                      <a:pt x="173" y="16"/>
                    </a:lnTo>
                    <a:lnTo>
                      <a:pt x="155" y="16"/>
                    </a:lnTo>
                    <a:lnTo>
                      <a:pt x="138" y="16"/>
                    </a:lnTo>
                    <a:lnTo>
                      <a:pt x="120" y="16"/>
                    </a:lnTo>
                    <a:lnTo>
                      <a:pt x="100" y="16"/>
                    </a:lnTo>
                    <a:lnTo>
                      <a:pt x="82" y="16"/>
                    </a:lnTo>
                    <a:lnTo>
                      <a:pt x="67" y="18"/>
                    </a:lnTo>
                    <a:lnTo>
                      <a:pt x="58" y="18"/>
                    </a:lnTo>
                    <a:lnTo>
                      <a:pt x="51" y="18"/>
                    </a:lnTo>
                    <a:lnTo>
                      <a:pt x="44" y="18"/>
                    </a:lnTo>
                    <a:lnTo>
                      <a:pt x="36" y="18"/>
                    </a:lnTo>
                    <a:lnTo>
                      <a:pt x="29" y="18"/>
                    </a:lnTo>
                    <a:lnTo>
                      <a:pt x="20" y="18"/>
                    </a:lnTo>
                    <a:lnTo>
                      <a:pt x="13" y="18"/>
                    </a:lnTo>
                    <a:lnTo>
                      <a:pt x="7" y="18"/>
                    </a:lnTo>
                    <a:lnTo>
                      <a:pt x="2" y="14"/>
                    </a:lnTo>
                    <a:lnTo>
                      <a:pt x="0" y="12"/>
                    </a:lnTo>
                    <a:lnTo>
                      <a:pt x="0" y="7"/>
                    </a:lnTo>
                    <a:lnTo>
                      <a:pt x="5" y="7"/>
                    </a:lnTo>
                    <a:lnTo>
                      <a:pt x="13" y="5"/>
                    </a:lnTo>
                    <a:lnTo>
                      <a:pt x="22" y="5"/>
                    </a:lnTo>
                    <a:lnTo>
                      <a:pt x="33" y="5"/>
                    </a:lnTo>
                    <a:lnTo>
                      <a:pt x="44" y="5"/>
                    </a:lnTo>
                    <a:lnTo>
                      <a:pt x="56" y="5"/>
                    </a:lnTo>
                    <a:lnTo>
                      <a:pt x="67" y="5"/>
                    </a:lnTo>
                    <a:lnTo>
                      <a:pt x="76" y="5"/>
                    </a:lnTo>
                    <a:lnTo>
                      <a:pt x="84" y="5"/>
                    </a:lnTo>
                    <a:lnTo>
                      <a:pt x="89" y="5"/>
                    </a:lnTo>
                    <a:lnTo>
                      <a:pt x="95" y="3"/>
                    </a:lnTo>
                    <a:lnTo>
                      <a:pt x="102" y="3"/>
                    </a:lnTo>
                    <a:lnTo>
                      <a:pt x="109" y="3"/>
                    </a:lnTo>
                    <a:lnTo>
                      <a:pt x="113" y="3"/>
                    </a:lnTo>
                    <a:lnTo>
                      <a:pt x="120" y="3"/>
                    </a:lnTo>
                    <a:lnTo>
                      <a:pt x="127" y="3"/>
                    </a:lnTo>
                    <a:lnTo>
                      <a:pt x="131" y="3"/>
                    </a:lnTo>
                    <a:close/>
                  </a:path>
                </a:pathLst>
              </a:custGeom>
              <a:solidFill>
                <a:srgbClr val="FFFF85"/>
              </a:solidFill>
              <a:ln w="9525">
                <a:noFill/>
                <a:round/>
                <a:headEnd/>
                <a:tailEnd/>
              </a:ln>
            </p:spPr>
            <p:txBody>
              <a:bodyPr/>
              <a:lstStyle/>
              <a:p>
                <a:endParaRPr lang="en-US"/>
              </a:p>
            </p:txBody>
          </p:sp>
          <p:sp>
            <p:nvSpPr>
              <p:cNvPr id="157747" name="Freeform 49"/>
              <p:cNvSpPr>
                <a:spLocks/>
              </p:cNvSpPr>
              <p:nvPr/>
            </p:nvSpPr>
            <p:spPr bwMode="auto">
              <a:xfrm>
                <a:off x="2882" y="1582"/>
                <a:ext cx="264" cy="18"/>
              </a:xfrm>
              <a:custGeom>
                <a:avLst/>
                <a:gdLst>
                  <a:gd name="T0" fmla="*/ 166 w 264"/>
                  <a:gd name="T1" fmla="*/ 0 h 18"/>
                  <a:gd name="T2" fmla="*/ 175 w 264"/>
                  <a:gd name="T3" fmla="*/ 0 h 18"/>
                  <a:gd name="T4" fmla="*/ 184 w 264"/>
                  <a:gd name="T5" fmla="*/ 0 h 18"/>
                  <a:gd name="T6" fmla="*/ 195 w 264"/>
                  <a:gd name="T7" fmla="*/ 0 h 18"/>
                  <a:gd name="T8" fmla="*/ 206 w 264"/>
                  <a:gd name="T9" fmla="*/ 0 h 18"/>
                  <a:gd name="T10" fmla="*/ 217 w 264"/>
                  <a:gd name="T11" fmla="*/ 0 h 18"/>
                  <a:gd name="T12" fmla="*/ 228 w 264"/>
                  <a:gd name="T13" fmla="*/ 0 h 18"/>
                  <a:gd name="T14" fmla="*/ 237 w 264"/>
                  <a:gd name="T15" fmla="*/ 0 h 18"/>
                  <a:gd name="T16" fmla="*/ 248 w 264"/>
                  <a:gd name="T17" fmla="*/ 0 h 18"/>
                  <a:gd name="T18" fmla="*/ 253 w 264"/>
                  <a:gd name="T19" fmla="*/ 0 h 18"/>
                  <a:gd name="T20" fmla="*/ 257 w 264"/>
                  <a:gd name="T21" fmla="*/ 2 h 18"/>
                  <a:gd name="T22" fmla="*/ 259 w 264"/>
                  <a:gd name="T23" fmla="*/ 2 h 18"/>
                  <a:gd name="T24" fmla="*/ 264 w 264"/>
                  <a:gd name="T25" fmla="*/ 4 h 18"/>
                  <a:gd name="T26" fmla="*/ 264 w 264"/>
                  <a:gd name="T27" fmla="*/ 7 h 18"/>
                  <a:gd name="T28" fmla="*/ 261 w 264"/>
                  <a:gd name="T29" fmla="*/ 11 h 18"/>
                  <a:gd name="T30" fmla="*/ 239 w 264"/>
                  <a:gd name="T31" fmla="*/ 13 h 18"/>
                  <a:gd name="T32" fmla="*/ 217 w 264"/>
                  <a:gd name="T33" fmla="*/ 13 h 18"/>
                  <a:gd name="T34" fmla="*/ 195 w 264"/>
                  <a:gd name="T35" fmla="*/ 13 h 18"/>
                  <a:gd name="T36" fmla="*/ 173 w 264"/>
                  <a:gd name="T37" fmla="*/ 16 h 18"/>
                  <a:gd name="T38" fmla="*/ 151 w 264"/>
                  <a:gd name="T39" fmla="*/ 16 h 18"/>
                  <a:gd name="T40" fmla="*/ 128 w 264"/>
                  <a:gd name="T41" fmla="*/ 16 h 18"/>
                  <a:gd name="T42" fmla="*/ 104 w 264"/>
                  <a:gd name="T43" fmla="*/ 16 h 18"/>
                  <a:gd name="T44" fmla="*/ 84 w 264"/>
                  <a:gd name="T45" fmla="*/ 18 h 18"/>
                  <a:gd name="T46" fmla="*/ 75 w 264"/>
                  <a:gd name="T47" fmla="*/ 18 h 18"/>
                  <a:gd name="T48" fmla="*/ 66 w 264"/>
                  <a:gd name="T49" fmla="*/ 18 h 18"/>
                  <a:gd name="T50" fmla="*/ 55 w 264"/>
                  <a:gd name="T51" fmla="*/ 18 h 18"/>
                  <a:gd name="T52" fmla="*/ 46 w 264"/>
                  <a:gd name="T53" fmla="*/ 18 h 18"/>
                  <a:gd name="T54" fmla="*/ 35 w 264"/>
                  <a:gd name="T55" fmla="*/ 18 h 18"/>
                  <a:gd name="T56" fmla="*/ 26 w 264"/>
                  <a:gd name="T57" fmla="*/ 18 h 18"/>
                  <a:gd name="T58" fmla="*/ 18 w 264"/>
                  <a:gd name="T59" fmla="*/ 18 h 18"/>
                  <a:gd name="T60" fmla="*/ 11 w 264"/>
                  <a:gd name="T61" fmla="*/ 18 h 18"/>
                  <a:gd name="T62" fmla="*/ 7 w 264"/>
                  <a:gd name="T63" fmla="*/ 16 h 18"/>
                  <a:gd name="T64" fmla="*/ 2 w 264"/>
                  <a:gd name="T65" fmla="*/ 13 h 18"/>
                  <a:gd name="T66" fmla="*/ 0 w 264"/>
                  <a:gd name="T67" fmla="*/ 11 h 18"/>
                  <a:gd name="T68" fmla="*/ 0 w 264"/>
                  <a:gd name="T69" fmla="*/ 11 h 18"/>
                  <a:gd name="T70" fmla="*/ 0 w 264"/>
                  <a:gd name="T71" fmla="*/ 7 h 18"/>
                  <a:gd name="T72" fmla="*/ 4 w 264"/>
                  <a:gd name="T73" fmla="*/ 7 h 18"/>
                  <a:gd name="T74" fmla="*/ 15 w 264"/>
                  <a:gd name="T75" fmla="*/ 4 h 18"/>
                  <a:gd name="T76" fmla="*/ 29 w 264"/>
                  <a:gd name="T77" fmla="*/ 4 h 18"/>
                  <a:gd name="T78" fmla="*/ 42 w 264"/>
                  <a:gd name="T79" fmla="*/ 4 h 18"/>
                  <a:gd name="T80" fmla="*/ 57 w 264"/>
                  <a:gd name="T81" fmla="*/ 4 h 18"/>
                  <a:gd name="T82" fmla="*/ 71 w 264"/>
                  <a:gd name="T83" fmla="*/ 4 h 18"/>
                  <a:gd name="T84" fmla="*/ 84 w 264"/>
                  <a:gd name="T85" fmla="*/ 4 h 18"/>
                  <a:gd name="T86" fmla="*/ 95 w 264"/>
                  <a:gd name="T87" fmla="*/ 4 h 18"/>
                  <a:gd name="T88" fmla="*/ 104 w 264"/>
                  <a:gd name="T89" fmla="*/ 4 h 18"/>
                  <a:gd name="T90" fmla="*/ 113 w 264"/>
                  <a:gd name="T91" fmla="*/ 4 h 18"/>
                  <a:gd name="T92" fmla="*/ 120 w 264"/>
                  <a:gd name="T93" fmla="*/ 2 h 18"/>
                  <a:gd name="T94" fmla="*/ 128 w 264"/>
                  <a:gd name="T95" fmla="*/ 2 h 18"/>
                  <a:gd name="T96" fmla="*/ 137 w 264"/>
                  <a:gd name="T97" fmla="*/ 2 h 18"/>
                  <a:gd name="T98" fmla="*/ 144 w 264"/>
                  <a:gd name="T99" fmla="*/ 0 h 18"/>
                  <a:gd name="T100" fmla="*/ 151 w 264"/>
                  <a:gd name="T101" fmla="*/ 0 h 18"/>
                  <a:gd name="T102" fmla="*/ 159 w 264"/>
                  <a:gd name="T103" fmla="*/ 0 h 18"/>
                  <a:gd name="T104" fmla="*/ 166 w 264"/>
                  <a:gd name="T105" fmla="*/ 0 h 18"/>
                  <a:gd name="T106" fmla="*/ 166 w 264"/>
                  <a:gd name="T107" fmla="*/ 0 h 18"/>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w 264"/>
                  <a:gd name="T163" fmla="*/ 0 h 18"/>
                  <a:gd name="T164" fmla="*/ 264 w 264"/>
                  <a:gd name="T165" fmla="*/ 18 h 18"/>
                </a:gdLst>
                <a:ahLst/>
                <a:cxnLst>
                  <a:cxn ang="T108">
                    <a:pos x="T0" y="T1"/>
                  </a:cxn>
                  <a:cxn ang="T109">
                    <a:pos x="T2" y="T3"/>
                  </a:cxn>
                  <a:cxn ang="T110">
                    <a:pos x="T4" y="T5"/>
                  </a:cxn>
                  <a:cxn ang="T111">
                    <a:pos x="T6" y="T7"/>
                  </a:cxn>
                  <a:cxn ang="T112">
                    <a:pos x="T8" y="T9"/>
                  </a:cxn>
                  <a:cxn ang="T113">
                    <a:pos x="T10" y="T11"/>
                  </a:cxn>
                  <a:cxn ang="T114">
                    <a:pos x="T12" y="T13"/>
                  </a:cxn>
                  <a:cxn ang="T115">
                    <a:pos x="T14" y="T15"/>
                  </a:cxn>
                  <a:cxn ang="T116">
                    <a:pos x="T16" y="T17"/>
                  </a:cxn>
                  <a:cxn ang="T117">
                    <a:pos x="T18" y="T19"/>
                  </a:cxn>
                  <a:cxn ang="T118">
                    <a:pos x="T20" y="T21"/>
                  </a:cxn>
                  <a:cxn ang="T119">
                    <a:pos x="T22" y="T23"/>
                  </a:cxn>
                  <a:cxn ang="T120">
                    <a:pos x="T24" y="T25"/>
                  </a:cxn>
                  <a:cxn ang="T121">
                    <a:pos x="T26" y="T27"/>
                  </a:cxn>
                  <a:cxn ang="T122">
                    <a:pos x="T28" y="T29"/>
                  </a:cxn>
                  <a:cxn ang="T123">
                    <a:pos x="T30" y="T31"/>
                  </a:cxn>
                  <a:cxn ang="T124">
                    <a:pos x="T32" y="T33"/>
                  </a:cxn>
                  <a:cxn ang="T125">
                    <a:pos x="T34" y="T35"/>
                  </a:cxn>
                  <a:cxn ang="T126">
                    <a:pos x="T36" y="T37"/>
                  </a:cxn>
                  <a:cxn ang="T127">
                    <a:pos x="T38" y="T39"/>
                  </a:cxn>
                  <a:cxn ang="T128">
                    <a:pos x="T40" y="T41"/>
                  </a:cxn>
                  <a:cxn ang="T129">
                    <a:pos x="T42" y="T43"/>
                  </a:cxn>
                  <a:cxn ang="T130">
                    <a:pos x="T44" y="T45"/>
                  </a:cxn>
                  <a:cxn ang="T131">
                    <a:pos x="T46" y="T47"/>
                  </a:cxn>
                  <a:cxn ang="T132">
                    <a:pos x="T48" y="T49"/>
                  </a:cxn>
                  <a:cxn ang="T133">
                    <a:pos x="T50" y="T51"/>
                  </a:cxn>
                  <a:cxn ang="T134">
                    <a:pos x="T52" y="T53"/>
                  </a:cxn>
                  <a:cxn ang="T135">
                    <a:pos x="T54" y="T55"/>
                  </a:cxn>
                  <a:cxn ang="T136">
                    <a:pos x="T56" y="T57"/>
                  </a:cxn>
                  <a:cxn ang="T137">
                    <a:pos x="T58" y="T59"/>
                  </a:cxn>
                  <a:cxn ang="T138">
                    <a:pos x="T60" y="T61"/>
                  </a:cxn>
                  <a:cxn ang="T139">
                    <a:pos x="T62" y="T63"/>
                  </a:cxn>
                  <a:cxn ang="T140">
                    <a:pos x="T64" y="T65"/>
                  </a:cxn>
                  <a:cxn ang="T141">
                    <a:pos x="T66" y="T67"/>
                  </a:cxn>
                  <a:cxn ang="T142">
                    <a:pos x="T68" y="T69"/>
                  </a:cxn>
                  <a:cxn ang="T143">
                    <a:pos x="T70" y="T71"/>
                  </a:cxn>
                  <a:cxn ang="T144">
                    <a:pos x="T72" y="T73"/>
                  </a:cxn>
                  <a:cxn ang="T145">
                    <a:pos x="T74" y="T75"/>
                  </a:cxn>
                  <a:cxn ang="T146">
                    <a:pos x="T76" y="T77"/>
                  </a:cxn>
                  <a:cxn ang="T147">
                    <a:pos x="T78" y="T79"/>
                  </a:cxn>
                  <a:cxn ang="T148">
                    <a:pos x="T80" y="T81"/>
                  </a:cxn>
                  <a:cxn ang="T149">
                    <a:pos x="T82" y="T83"/>
                  </a:cxn>
                  <a:cxn ang="T150">
                    <a:pos x="T84" y="T85"/>
                  </a:cxn>
                  <a:cxn ang="T151">
                    <a:pos x="T86" y="T87"/>
                  </a:cxn>
                  <a:cxn ang="T152">
                    <a:pos x="T88" y="T89"/>
                  </a:cxn>
                  <a:cxn ang="T153">
                    <a:pos x="T90" y="T91"/>
                  </a:cxn>
                  <a:cxn ang="T154">
                    <a:pos x="T92" y="T93"/>
                  </a:cxn>
                  <a:cxn ang="T155">
                    <a:pos x="T94" y="T95"/>
                  </a:cxn>
                  <a:cxn ang="T156">
                    <a:pos x="T96" y="T97"/>
                  </a:cxn>
                  <a:cxn ang="T157">
                    <a:pos x="T98" y="T99"/>
                  </a:cxn>
                  <a:cxn ang="T158">
                    <a:pos x="T100" y="T101"/>
                  </a:cxn>
                  <a:cxn ang="T159">
                    <a:pos x="T102" y="T103"/>
                  </a:cxn>
                  <a:cxn ang="T160">
                    <a:pos x="T104" y="T105"/>
                  </a:cxn>
                  <a:cxn ang="T161">
                    <a:pos x="T106" y="T107"/>
                  </a:cxn>
                </a:cxnLst>
                <a:rect l="T162" t="T163" r="T164" b="T165"/>
                <a:pathLst>
                  <a:path w="264" h="18">
                    <a:moveTo>
                      <a:pt x="166" y="0"/>
                    </a:moveTo>
                    <a:lnTo>
                      <a:pt x="175" y="0"/>
                    </a:lnTo>
                    <a:lnTo>
                      <a:pt x="184" y="0"/>
                    </a:lnTo>
                    <a:lnTo>
                      <a:pt x="195" y="0"/>
                    </a:lnTo>
                    <a:lnTo>
                      <a:pt x="206" y="0"/>
                    </a:lnTo>
                    <a:lnTo>
                      <a:pt x="217" y="0"/>
                    </a:lnTo>
                    <a:lnTo>
                      <a:pt x="228" y="0"/>
                    </a:lnTo>
                    <a:lnTo>
                      <a:pt x="237" y="0"/>
                    </a:lnTo>
                    <a:lnTo>
                      <a:pt x="248" y="0"/>
                    </a:lnTo>
                    <a:lnTo>
                      <a:pt x="253" y="0"/>
                    </a:lnTo>
                    <a:lnTo>
                      <a:pt x="257" y="2"/>
                    </a:lnTo>
                    <a:lnTo>
                      <a:pt x="259" y="2"/>
                    </a:lnTo>
                    <a:lnTo>
                      <a:pt x="264" y="4"/>
                    </a:lnTo>
                    <a:lnTo>
                      <a:pt x="264" y="7"/>
                    </a:lnTo>
                    <a:lnTo>
                      <a:pt x="261" y="11"/>
                    </a:lnTo>
                    <a:lnTo>
                      <a:pt x="239" y="13"/>
                    </a:lnTo>
                    <a:lnTo>
                      <a:pt x="217" y="13"/>
                    </a:lnTo>
                    <a:lnTo>
                      <a:pt x="195" y="13"/>
                    </a:lnTo>
                    <a:lnTo>
                      <a:pt x="173" y="16"/>
                    </a:lnTo>
                    <a:lnTo>
                      <a:pt x="151" y="16"/>
                    </a:lnTo>
                    <a:lnTo>
                      <a:pt x="128" y="16"/>
                    </a:lnTo>
                    <a:lnTo>
                      <a:pt x="104" y="16"/>
                    </a:lnTo>
                    <a:lnTo>
                      <a:pt x="84" y="18"/>
                    </a:lnTo>
                    <a:lnTo>
                      <a:pt x="75" y="18"/>
                    </a:lnTo>
                    <a:lnTo>
                      <a:pt x="66" y="18"/>
                    </a:lnTo>
                    <a:lnTo>
                      <a:pt x="55" y="18"/>
                    </a:lnTo>
                    <a:lnTo>
                      <a:pt x="46" y="18"/>
                    </a:lnTo>
                    <a:lnTo>
                      <a:pt x="35" y="18"/>
                    </a:lnTo>
                    <a:lnTo>
                      <a:pt x="26" y="18"/>
                    </a:lnTo>
                    <a:lnTo>
                      <a:pt x="18" y="18"/>
                    </a:lnTo>
                    <a:lnTo>
                      <a:pt x="11" y="18"/>
                    </a:lnTo>
                    <a:lnTo>
                      <a:pt x="7" y="16"/>
                    </a:lnTo>
                    <a:lnTo>
                      <a:pt x="2" y="13"/>
                    </a:lnTo>
                    <a:lnTo>
                      <a:pt x="0" y="11"/>
                    </a:lnTo>
                    <a:lnTo>
                      <a:pt x="0" y="7"/>
                    </a:lnTo>
                    <a:lnTo>
                      <a:pt x="4" y="7"/>
                    </a:lnTo>
                    <a:lnTo>
                      <a:pt x="15" y="4"/>
                    </a:lnTo>
                    <a:lnTo>
                      <a:pt x="29" y="4"/>
                    </a:lnTo>
                    <a:lnTo>
                      <a:pt x="42" y="4"/>
                    </a:lnTo>
                    <a:lnTo>
                      <a:pt x="57" y="4"/>
                    </a:lnTo>
                    <a:lnTo>
                      <a:pt x="71" y="4"/>
                    </a:lnTo>
                    <a:lnTo>
                      <a:pt x="84" y="4"/>
                    </a:lnTo>
                    <a:lnTo>
                      <a:pt x="95" y="4"/>
                    </a:lnTo>
                    <a:lnTo>
                      <a:pt x="104" y="4"/>
                    </a:lnTo>
                    <a:lnTo>
                      <a:pt x="113" y="4"/>
                    </a:lnTo>
                    <a:lnTo>
                      <a:pt x="120" y="2"/>
                    </a:lnTo>
                    <a:lnTo>
                      <a:pt x="128" y="2"/>
                    </a:lnTo>
                    <a:lnTo>
                      <a:pt x="137" y="2"/>
                    </a:lnTo>
                    <a:lnTo>
                      <a:pt x="144" y="0"/>
                    </a:lnTo>
                    <a:lnTo>
                      <a:pt x="151" y="0"/>
                    </a:lnTo>
                    <a:lnTo>
                      <a:pt x="159" y="0"/>
                    </a:lnTo>
                    <a:lnTo>
                      <a:pt x="166" y="0"/>
                    </a:lnTo>
                    <a:close/>
                  </a:path>
                </a:pathLst>
              </a:custGeom>
              <a:solidFill>
                <a:srgbClr val="FFFF85"/>
              </a:solidFill>
              <a:ln w="9525">
                <a:noFill/>
                <a:round/>
                <a:headEnd/>
                <a:tailEnd/>
              </a:ln>
            </p:spPr>
            <p:txBody>
              <a:bodyPr/>
              <a:lstStyle/>
              <a:p>
                <a:endParaRPr lang="en-US"/>
              </a:p>
            </p:txBody>
          </p:sp>
          <p:sp>
            <p:nvSpPr>
              <p:cNvPr id="157748" name="Freeform 50"/>
              <p:cNvSpPr>
                <a:spLocks/>
              </p:cNvSpPr>
              <p:nvPr/>
            </p:nvSpPr>
            <p:spPr bwMode="auto">
              <a:xfrm>
                <a:off x="2685" y="1642"/>
                <a:ext cx="494" cy="18"/>
              </a:xfrm>
              <a:custGeom>
                <a:avLst/>
                <a:gdLst>
                  <a:gd name="T0" fmla="*/ 312 w 494"/>
                  <a:gd name="T1" fmla="*/ 2 h 18"/>
                  <a:gd name="T2" fmla="*/ 328 w 494"/>
                  <a:gd name="T3" fmla="*/ 2 h 18"/>
                  <a:gd name="T4" fmla="*/ 345 w 494"/>
                  <a:gd name="T5" fmla="*/ 2 h 18"/>
                  <a:gd name="T6" fmla="*/ 365 w 494"/>
                  <a:gd name="T7" fmla="*/ 0 h 18"/>
                  <a:gd name="T8" fmla="*/ 387 w 494"/>
                  <a:gd name="T9" fmla="*/ 0 h 18"/>
                  <a:gd name="T10" fmla="*/ 407 w 494"/>
                  <a:gd name="T11" fmla="*/ 0 h 18"/>
                  <a:gd name="T12" fmla="*/ 427 w 494"/>
                  <a:gd name="T13" fmla="*/ 0 h 18"/>
                  <a:gd name="T14" fmla="*/ 447 w 494"/>
                  <a:gd name="T15" fmla="*/ 0 h 18"/>
                  <a:gd name="T16" fmla="*/ 465 w 494"/>
                  <a:gd name="T17" fmla="*/ 2 h 18"/>
                  <a:gd name="T18" fmla="*/ 472 w 494"/>
                  <a:gd name="T19" fmla="*/ 2 h 18"/>
                  <a:gd name="T20" fmla="*/ 481 w 494"/>
                  <a:gd name="T21" fmla="*/ 2 h 18"/>
                  <a:gd name="T22" fmla="*/ 487 w 494"/>
                  <a:gd name="T23" fmla="*/ 2 h 18"/>
                  <a:gd name="T24" fmla="*/ 492 w 494"/>
                  <a:gd name="T25" fmla="*/ 4 h 18"/>
                  <a:gd name="T26" fmla="*/ 494 w 494"/>
                  <a:gd name="T27" fmla="*/ 4 h 18"/>
                  <a:gd name="T28" fmla="*/ 494 w 494"/>
                  <a:gd name="T29" fmla="*/ 6 h 18"/>
                  <a:gd name="T30" fmla="*/ 494 w 494"/>
                  <a:gd name="T31" fmla="*/ 9 h 18"/>
                  <a:gd name="T32" fmla="*/ 487 w 494"/>
                  <a:gd name="T33" fmla="*/ 11 h 18"/>
                  <a:gd name="T34" fmla="*/ 450 w 494"/>
                  <a:gd name="T35" fmla="*/ 13 h 18"/>
                  <a:gd name="T36" fmla="*/ 410 w 494"/>
                  <a:gd name="T37" fmla="*/ 15 h 18"/>
                  <a:gd name="T38" fmla="*/ 368 w 494"/>
                  <a:gd name="T39" fmla="*/ 15 h 18"/>
                  <a:gd name="T40" fmla="*/ 325 w 494"/>
                  <a:gd name="T41" fmla="*/ 15 h 18"/>
                  <a:gd name="T42" fmla="*/ 283 w 494"/>
                  <a:gd name="T43" fmla="*/ 15 h 18"/>
                  <a:gd name="T44" fmla="*/ 241 w 494"/>
                  <a:gd name="T45" fmla="*/ 15 h 18"/>
                  <a:gd name="T46" fmla="*/ 197 w 494"/>
                  <a:gd name="T47" fmla="*/ 15 h 18"/>
                  <a:gd name="T48" fmla="*/ 157 w 494"/>
                  <a:gd name="T49" fmla="*/ 18 h 18"/>
                  <a:gd name="T50" fmla="*/ 141 w 494"/>
                  <a:gd name="T51" fmla="*/ 18 h 18"/>
                  <a:gd name="T52" fmla="*/ 124 w 494"/>
                  <a:gd name="T53" fmla="*/ 18 h 18"/>
                  <a:gd name="T54" fmla="*/ 106 w 494"/>
                  <a:gd name="T55" fmla="*/ 18 h 18"/>
                  <a:gd name="T56" fmla="*/ 88 w 494"/>
                  <a:gd name="T57" fmla="*/ 18 h 18"/>
                  <a:gd name="T58" fmla="*/ 68 w 494"/>
                  <a:gd name="T59" fmla="*/ 18 h 18"/>
                  <a:gd name="T60" fmla="*/ 51 w 494"/>
                  <a:gd name="T61" fmla="*/ 18 h 18"/>
                  <a:gd name="T62" fmla="*/ 35 w 494"/>
                  <a:gd name="T63" fmla="*/ 18 h 18"/>
                  <a:gd name="T64" fmla="*/ 22 w 494"/>
                  <a:gd name="T65" fmla="*/ 18 h 18"/>
                  <a:gd name="T66" fmla="*/ 13 w 494"/>
                  <a:gd name="T67" fmla="*/ 15 h 18"/>
                  <a:gd name="T68" fmla="*/ 6 w 494"/>
                  <a:gd name="T69" fmla="*/ 15 h 18"/>
                  <a:gd name="T70" fmla="*/ 2 w 494"/>
                  <a:gd name="T71" fmla="*/ 13 h 18"/>
                  <a:gd name="T72" fmla="*/ 0 w 494"/>
                  <a:gd name="T73" fmla="*/ 11 h 18"/>
                  <a:gd name="T74" fmla="*/ 0 w 494"/>
                  <a:gd name="T75" fmla="*/ 9 h 18"/>
                  <a:gd name="T76" fmla="*/ 2 w 494"/>
                  <a:gd name="T77" fmla="*/ 6 h 18"/>
                  <a:gd name="T78" fmla="*/ 4 w 494"/>
                  <a:gd name="T79" fmla="*/ 6 h 18"/>
                  <a:gd name="T80" fmla="*/ 11 w 494"/>
                  <a:gd name="T81" fmla="*/ 6 h 18"/>
                  <a:gd name="T82" fmla="*/ 31 w 494"/>
                  <a:gd name="T83" fmla="*/ 2 h 18"/>
                  <a:gd name="T84" fmla="*/ 55 w 494"/>
                  <a:gd name="T85" fmla="*/ 2 h 18"/>
                  <a:gd name="T86" fmla="*/ 79 w 494"/>
                  <a:gd name="T87" fmla="*/ 2 h 18"/>
                  <a:gd name="T88" fmla="*/ 106 w 494"/>
                  <a:gd name="T89" fmla="*/ 2 h 18"/>
                  <a:gd name="T90" fmla="*/ 133 w 494"/>
                  <a:gd name="T91" fmla="*/ 2 h 18"/>
                  <a:gd name="T92" fmla="*/ 157 w 494"/>
                  <a:gd name="T93" fmla="*/ 4 h 18"/>
                  <a:gd name="T94" fmla="*/ 179 w 494"/>
                  <a:gd name="T95" fmla="*/ 4 h 18"/>
                  <a:gd name="T96" fmla="*/ 197 w 494"/>
                  <a:gd name="T97" fmla="*/ 4 h 18"/>
                  <a:gd name="T98" fmla="*/ 212 w 494"/>
                  <a:gd name="T99" fmla="*/ 2 h 18"/>
                  <a:gd name="T100" fmla="*/ 228 w 494"/>
                  <a:gd name="T101" fmla="*/ 2 h 18"/>
                  <a:gd name="T102" fmla="*/ 241 w 494"/>
                  <a:gd name="T103" fmla="*/ 2 h 18"/>
                  <a:gd name="T104" fmla="*/ 257 w 494"/>
                  <a:gd name="T105" fmla="*/ 2 h 18"/>
                  <a:gd name="T106" fmla="*/ 270 w 494"/>
                  <a:gd name="T107" fmla="*/ 2 h 18"/>
                  <a:gd name="T108" fmla="*/ 283 w 494"/>
                  <a:gd name="T109" fmla="*/ 2 h 18"/>
                  <a:gd name="T110" fmla="*/ 297 w 494"/>
                  <a:gd name="T111" fmla="*/ 2 h 18"/>
                  <a:gd name="T112" fmla="*/ 312 w 494"/>
                  <a:gd name="T113" fmla="*/ 2 h 18"/>
                  <a:gd name="T114" fmla="*/ 312 w 494"/>
                  <a:gd name="T115" fmla="*/ 2 h 18"/>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w 494"/>
                  <a:gd name="T175" fmla="*/ 0 h 18"/>
                  <a:gd name="T176" fmla="*/ 494 w 494"/>
                  <a:gd name="T177" fmla="*/ 18 h 18"/>
                </a:gdLst>
                <a:ahLst/>
                <a:cxnLst>
                  <a:cxn ang="T116">
                    <a:pos x="T0" y="T1"/>
                  </a:cxn>
                  <a:cxn ang="T117">
                    <a:pos x="T2" y="T3"/>
                  </a:cxn>
                  <a:cxn ang="T118">
                    <a:pos x="T4" y="T5"/>
                  </a:cxn>
                  <a:cxn ang="T119">
                    <a:pos x="T6" y="T7"/>
                  </a:cxn>
                  <a:cxn ang="T120">
                    <a:pos x="T8" y="T9"/>
                  </a:cxn>
                  <a:cxn ang="T121">
                    <a:pos x="T10" y="T11"/>
                  </a:cxn>
                  <a:cxn ang="T122">
                    <a:pos x="T12" y="T13"/>
                  </a:cxn>
                  <a:cxn ang="T123">
                    <a:pos x="T14" y="T15"/>
                  </a:cxn>
                  <a:cxn ang="T124">
                    <a:pos x="T16" y="T17"/>
                  </a:cxn>
                  <a:cxn ang="T125">
                    <a:pos x="T18" y="T19"/>
                  </a:cxn>
                  <a:cxn ang="T126">
                    <a:pos x="T20" y="T21"/>
                  </a:cxn>
                  <a:cxn ang="T127">
                    <a:pos x="T22" y="T23"/>
                  </a:cxn>
                  <a:cxn ang="T128">
                    <a:pos x="T24" y="T25"/>
                  </a:cxn>
                  <a:cxn ang="T129">
                    <a:pos x="T26" y="T27"/>
                  </a:cxn>
                  <a:cxn ang="T130">
                    <a:pos x="T28" y="T29"/>
                  </a:cxn>
                  <a:cxn ang="T131">
                    <a:pos x="T30" y="T31"/>
                  </a:cxn>
                  <a:cxn ang="T132">
                    <a:pos x="T32" y="T33"/>
                  </a:cxn>
                  <a:cxn ang="T133">
                    <a:pos x="T34" y="T35"/>
                  </a:cxn>
                  <a:cxn ang="T134">
                    <a:pos x="T36" y="T37"/>
                  </a:cxn>
                  <a:cxn ang="T135">
                    <a:pos x="T38" y="T39"/>
                  </a:cxn>
                  <a:cxn ang="T136">
                    <a:pos x="T40" y="T41"/>
                  </a:cxn>
                  <a:cxn ang="T137">
                    <a:pos x="T42" y="T43"/>
                  </a:cxn>
                  <a:cxn ang="T138">
                    <a:pos x="T44" y="T45"/>
                  </a:cxn>
                  <a:cxn ang="T139">
                    <a:pos x="T46" y="T47"/>
                  </a:cxn>
                  <a:cxn ang="T140">
                    <a:pos x="T48" y="T49"/>
                  </a:cxn>
                  <a:cxn ang="T141">
                    <a:pos x="T50" y="T51"/>
                  </a:cxn>
                  <a:cxn ang="T142">
                    <a:pos x="T52" y="T53"/>
                  </a:cxn>
                  <a:cxn ang="T143">
                    <a:pos x="T54" y="T55"/>
                  </a:cxn>
                  <a:cxn ang="T144">
                    <a:pos x="T56" y="T57"/>
                  </a:cxn>
                  <a:cxn ang="T145">
                    <a:pos x="T58" y="T59"/>
                  </a:cxn>
                  <a:cxn ang="T146">
                    <a:pos x="T60" y="T61"/>
                  </a:cxn>
                  <a:cxn ang="T147">
                    <a:pos x="T62" y="T63"/>
                  </a:cxn>
                  <a:cxn ang="T148">
                    <a:pos x="T64" y="T65"/>
                  </a:cxn>
                  <a:cxn ang="T149">
                    <a:pos x="T66" y="T67"/>
                  </a:cxn>
                  <a:cxn ang="T150">
                    <a:pos x="T68" y="T69"/>
                  </a:cxn>
                  <a:cxn ang="T151">
                    <a:pos x="T70" y="T71"/>
                  </a:cxn>
                  <a:cxn ang="T152">
                    <a:pos x="T72" y="T73"/>
                  </a:cxn>
                  <a:cxn ang="T153">
                    <a:pos x="T74" y="T75"/>
                  </a:cxn>
                  <a:cxn ang="T154">
                    <a:pos x="T76" y="T77"/>
                  </a:cxn>
                  <a:cxn ang="T155">
                    <a:pos x="T78" y="T79"/>
                  </a:cxn>
                  <a:cxn ang="T156">
                    <a:pos x="T80" y="T81"/>
                  </a:cxn>
                  <a:cxn ang="T157">
                    <a:pos x="T82" y="T83"/>
                  </a:cxn>
                  <a:cxn ang="T158">
                    <a:pos x="T84" y="T85"/>
                  </a:cxn>
                  <a:cxn ang="T159">
                    <a:pos x="T86" y="T87"/>
                  </a:cxn>
                  <a:cxn ang="T160">
                    <a:pos x="T88" y="T89"/>
                  </a:cxn>
                  <a:cxn ang="T161">
                    <a:pos x="T90" y="T91"/>
                  </a:cxn>
                  <a:cxn ang="T162">
                    <a:pos x="T92" y="T93"/>
                  </a:cxn>
                  <a:cxn ang="T163">
                    <a:pos x="T94" y="T95"/>
                  </a:cxn>
                  <a:cxn ang="T164">
                    <a:pos x="T96" y="T97"/>
                  </a:cxn>
                  <a:cxn ang="T165">
                    <a:pos x="T98" y="T99"/>
                  </a:cxn>
                  <a:cxn ang="T166">
                    <a:pos x="T100" y="T101"/>
                  </a:cxn>
                  <a:cxn ang="T167">
                    <a:pos x="T102" y="T103"/>
                  </a:cxn>
                  <a:cxn ang="T168">
                    <a:pos x="T104" y="T105"/>
                  </a:cxn>
                  <a:cxn ang="T169">
                    <a:pos x="T106" y="T107"/>
                  </a:cxn>
                  <a:cxn ang="T170">
                    <a:pos x="T108" y="T109"/>
                  </a:cxn>
                  <a:cxn ang="T171">
                    <a:pos x="T110" y="T111"/>
                  </a:cxn>
                  <a:cxn ang="T172">
                    <a:pos x="T112" y="T113"/>
                  </a:cxn>
                  <a:cxn ang="T173">
                    <a:pos x="T114" y="T115"/>
                  </a:cxn>
                </a:cxnLst>
                <a:rect l="T174" t="T175" r="T176" b="T177"/>
                <a:pathLst>
                  <a:path w="494" h="18">
                    <a:moveTo>
                      <a:pt x="312" y="2"/>
                    </a:moveTo>
                    <a:lnTo>
                      <a:pt x="328" y="2"/>
                    </a:lnTo>
                    <a:lnTo>
                      <a:pt x="345" y="2"/>
                    </a:lnTo>
                    <a:lnTo>
                      <a:pt x="365" y="0"/>
                    </a:lnTo>
                    <a:lnTo>
                      <a:pt x="387" y="0"/>
                    </a:lnTo>
                    <a:lnTo>
                      <a:pt x="407" y="0"/>
                    </a:lnTo>
                    <a:lnTo>
                      <a:pt x="427" y="0"/>
                    </a:lnTo>
                    <a:lnTo>
                      <a:pt x="447" y="0"/>
                    </a:lnTo>
                    <a:lnTo>
                      <a:pt x="465" y="2"/>
                    </a:lnTo>
                    <a:lnTo>
                      <a:pt x="472" y="2"/>
                    </a:lnTo>
                    <a:lnTo>
                      <a:pt x="481" y="2"/>
                    </a:lnTo>
                    <a:lnTo>
                      <a:pt x="487" y="2"/>
                    </a:lnTo>
                    <a:lnTo>
                      <a:pt x="492" y="4"/>
                    </a:lnTo>
                    <a:lnTo>
                      <a:pt x="494" y="4"/>
                    </a:lnTo>
                    <a:lnTo>
                      <a:pt x="494" y="6"/>
                    </a:lnTo>
                    <a:lnTo>
                      <a:pt x="494" y="9"/>
                    </a:lnTo>
                    <a:lnTo>
                      <a:pt x="487" y="11"/>
                    </a:lnTo>
                    <a:lnTo>
                      <a:pt x="450" y="13"/>
                    </a:lnTo>
                    <a:lnTo>
                      <a:pt x="410" y="15"/>
                    </a:lnTo>
                    <a:lnTo>
                      <a:pt x="368" y="15"/>
                    </a:lnTo>
                    <a:lnTo>
                      <a:pt x="325" y="15"/>
                    </a:lnTo>
                    <a:lnTo>
                      <a:pt x="283" y="15"/>
                    </a:lnTo>
                    <a:lnTo>
                      <a:pt x="241" y="15"/>
                    </a:lnTo>
                    <a:lnTo>
                      <a:pt x="197" y="15"/>
                    </a:lnTo>
                    <a:lnTo>
                      <a:pt x="157" y="18"/>
                    </a:lnTo>
                    <a:lnTo>
                      <a:pt x="141" y="18"/>
                    </a:lnTo>
                    <a:lnTo>
                      <a:pt x="124" y="18"/>
                    </a:lnTo>
                    <a:lnTo>
                      <a:pt x="106" y="18"/>
                    </a:lnTo>
                    <a:lnTo>
                      <a:pt x="88" y="18"/>
                    </a:lnTo>
                    <a:lnTo>
                      <a:pt x="68" y="18"/>
                    </a:lnTo>
                    <a:lnTo>
                      <a:pt x="51" y="18"/>
                    </a:lnTo>
                    <a:lnTo>
                      <a:pt x="35" y="18"/>
                    </a:lnTo>
                    <a:lnTo>
                      <a:pt x="22" y="18"/>
                    </a:lnTo>
                    <a:lnTo>
                      <a:pt x="13" y="15"/>
                    </a:lnTo>
                    <a:lnTo>
                      <a:pt x="6" y="15"/>
                    </a:lnTo>
                    <a:lnTo>
                      <a:pt x="2" y="13"/>
                    </a:lnTo>
                    <a:lnTo>
                      <a:pt x="0" y="11"/>
                    </a:lnTo>
                    <a:lnTo>
                      <a:pt x="0" y="9"/>
                    </a:lnTo>
                    <a:lnTo>
                      <a:pt x="2" y="6"/>
                    </a:lnTo>
                    <a:lnTo>
                      <a:pt x="4" y="6"/>
                    </a:lnTo>
                    <a:lnTo>
                      <a:pt x="11" y="6"/>
                    </a:lnTo>
                    <a:lnTo>
                      <a:pt x="31" y="2"/>
                    </a:lnTo>
                    <a:lnTo>
                      <a:pt x="55" y="2"/>
                    </a:lnTo>
                    <a:lnTo>
                      <a:pt x="79" y="2"/>
                    </a:lnTo>
                    <a:lnTo>
                      <a:pt x="106" y="2"/>
                    </a:lnTo>
                    <a:lnTo>
                      <a:pt x="133" y="2"/>
                    </a:lnTo>
                    <a:lnTo>
                      <a:pt x="157" y="4"/>
                    </a:lnTo>
                    <a:lnTo>
                      <a:pt x="179" y="4"/>
                    </a:lnTo>
                    <a:lnTo>
                      <a:pt x="197" y="4"/>
                    </a:lnTo>
                    <a:lnTo>
                      <a:pt x="212" y="2"/>
                    </a:lnTo>
                    <a:lnTo>
                      <a:pt x="228" y="2"/>
                    </a:lnTo>
                    <a:lnTo>
                      <a:pt x="241" y="2"/>
                    </a:lnTo>
                    <a:lnTo>
                      <a:pt x="257" y="2"/>
                    </a:lnTo>
                    <a:lnTo>
                      <a:pt x="270" y="2"/>
                    </a:lnTo>
                    <a:lnTo>
                      <a:pt x="283" y="2"/>
                    </a:lnTo>
                    <a:lnTo>
                      <a:pt x="297" y="2"/>
                    </a:lnTo>
                    <a:lnTo>
                      <a:pt x="312" y="2"/>
                    </a:lnTo>
                    <a:close/>
                  </a:path>
                </a:pathLst>
              </a:custGeom>
              <a:solidFill>
                <a:srgbClr val="FFFF85"/>
              </a:solidFill>
              <a:ln w="9525">
                <a:noFill/>
                <a:round/>
                <a:headEnd/>
                <a:tailEnd/>
              </a:ln>
            </p:spPr>
            <p:txBody>
              <a:bodyPr/>
              <a:lstStyle/>
              <a:p>
                <a:endParaRPr lang="en-US"/>
              </a:p>
            </p:txBody>
          </p:sp>
          <p:sp>
            <p:nvSpPr>
              <p:cNvPr id="157749" name="Freeform 51"/>
              <p:cNvSpPr>
                <a:spLocks/>
              </p:cNvSpPr>
              <p:nvPr/>
            </p:nvSpPr>
            <p:spPr bwMode="auto">
              <a:xfrm>
                <a:off x="2678" y="1688"/>
                <a:ext cx="494" cy="23"/>
              </a:xfrm>
              <a:custGeom>
                <a:avLst/>
                <a:gdLst>
                  <a:gd name="T0" fmla="*/ 483 w 494"/>
                  <a:gd name="T1" fmla="*/ 0 h 23"/>
                  <a:gd name="T2" fmla="*/ 490 w 494"/>
                  <a:gd name="T3" fmla="*/ 0 h 23"/>
                  <a:gd name="T4" fmla="*/ 494 w 494"/>
                  <a:gd name="T5" fmla="*/ 3 h 23"/>
                  <a:gd name="T6" fmla="*/ 492 w 494"/>
                  <a:gd name="T7" fmla="*/ 7 h 23"/>
                  <a:gd name="T8" fmla="*/ 490 w 494"/>
                  <a:gd name="T9" fmla="*/ 14 h 23"/>
                  <a:gd name="T10" fmla="*/ 465 w 494"/>
                  <a:gd name="T11" fmla="*/ 14 h 23"/>
                  <a:gd name="T12" fmla="*/ 441 w 494"/>
                  <a:gd name="T13" fmla="*/ 14 h 23"/>
                  <a:gd name="T14" fmla="*/ 419 w 494"/>
                  <a:gd name="T15" fmla="*/ 16 h 23"/>
                  <a:gd name="T16" fmla="*/ 397 w 494"/>
                  <a:gd name="T17" fmla="*/ 18 h 23"/>
                  <a:gd name="T18" fmla="*/ 372 w 494"/>
                  <a:gd name="T19" fmla="*/ 18 h 23"/>
                  <a:gd name="T20" fmla="*/ 348 w 494"/>
                  <a:gd name="T21" fmla="*/ 20 h 23"/>
                  <a:gd name="T22" fmla="*/ 321 w 494"/>
                  <a:gd name="T23" fmla="*/ 20 h 23"/>
                  <a:gd name="T24" fmla="*/ 295 w 494"/>
                  <a:gd name="T25" fmla="*/ 20 h 23"/>
                  <a:gd name="T26" fmla="*/ 275 w 494"/>
                  <a:gd name="T27" fmla="*/ 20 h 23"/>
                  <a:gd name="T28" fmla="*/ 255 w 494"/>
                  <a:gd name="T29" fmla="*/ 20 h 23"/>
                  <a:gd name="T30" fmla="*/ 235 w 494"/>
                  <a:gd name="T31" fmla="*/ 20 h 23"/>
                  <a:gd name="T32" fmla="*/ 215 w 494"/>
                  <a:gd name="T33" fmla="*/ 20 h 23"/>
                  <a:gd name="T34" fmla="*/ 195 w 494"/>
                  <a:gd name="T35" fmla="*/ 20 h 23"/>
                  <a:gd name="T36" fmla="*/ 175 w 494"/>
                  <a:gd name="T37" fmla="*/ 23 h 23"/>
                  <a:gd name="T38" fmla="*/ 151 w 494"/>
                  <a:gd name="T39" fmla="*/ 23 h 23"/>
                  <a:gd name="T40" fmla="*/ 128 w 494"/>
                  <a:gd name="T41" fmla="*/ 23 h 23"/>
                  <a:gd name="T42" fmla="*/ 113 w 494"/>
                  <a:gd name="T43" fmla="*/ 23 h 23"/>
                  <a:gd name="T44" fmla="*/ 97 w 494"/>
                  <a:gd name="T45" fmla="*/ 23 h 23"/>
                  <a:gd name="T46" fmla="*/ 82 w 494"/>
                  <a:gd name="T47" fmla="*/ 23 h 23"/>
                  <a:gd name="T48" fmla="*/ 69 w 494"/>
                  <a:gd name="T49" fmla="*/ 23 h 23"/>
                  <a:gd name="T50" fmla="*/ 51 w 494"/>
                  <a:gd name="T51" fmla="*/ 23 h 23"/>
                  <a:gd name="T52" fmla="*/ 38 w 494"/>
                  <a:gd name="T53" fmla="*/ 23 h 23"/>
                  <a:gd name="T54" fmla="*/ 22 w 494"/>
                  <a:gd name="T55" fmla="*/ 23 h 23"/>
                  <a:gd name="T56" fmla="*/ 7 w 494"/>
                  <a:gd name="T57" fmla="*/ 23 h 23"/>
                  <a:gd name="T58" fmla="*/ 0 w 494"/>
                  <a:gd name="T59" fmla="*/ 16 h 23"/>
                  <a:gd name="T60" fmla="*/ 4 w 494"/>
                  <a:gd name="T61" fmla="*/ 11 h 23"/>
                  <a:gd name="T62" fmla="*/ 15 w 494"/>
                  <a:gd name="T63" fmla="*/ 9 h 23"/>
                  <a:gd name="T64" fmla="*/ 33 w 494"/>
                  <a:gd name="T65" fmla="*/ 7 h 23"/>
                  <a:gd name="T66" fmla="*/ 51 w 494"/>
                  <a:gd name="T67" fmla="*/ 7 h 23"/>
                  <a:gd name="T68" fmla="*/ 71 w 494"/>
                  <a:gd name="T69" fmla="*/ 7 h 23"/>
                  <a:gd name="T70" fmla="*/ 89 w 494"/>
                  <a:gd name="T71" fmla="*/ 7 h 23"/>
                  <a:gd name="T72" fmla="*/ 104 w 494"/>
                  <a:gd name="T73" fmla="*/ 7 h 23"/>
                  <a:gd name="T74" fmla="*/ 131 w 494"/>
                  <a:gd name="T75" fmla="*/ 7 h 23"/>
                  <a:gd name="T76" fmla="*/ 157 w 494"/>
                  <a:gd name="T77" fmla="*/ 7 h 23"/>
                  <a:gd name="T78" fmla="*/ 184 w 494"/>
                  <a:gd name="T79" fmla="*/ 7 h 23"/>
                  <a:gd name="T80" fmla="*/ 211 w 494"/>
                  <a:gd name="T81" fmla="*/ 7 h 23"/>
                  <a:gd name="T82" fmla="*/ 237 w 494"/>
                  <a:gd name="T83" fmla="*/ 7 h 23"/>
                  <a:gd name="T84" fmla="*/ 264 w 494"/>
                  <a:gd name="T85" fmla="*/ 7 h 23"/>
                  <a:gd name="T86" fmla="*/ 290 w 494"/>
                  <a:gd name="T87" fmla="*/ 7 h 23"/>
                  <a:gd name="T88" fmla="*/ 319 w 494"/>
                  <a:gd name="T89" fmla="*/ 7 h 23"/>
                  <a:gd name="T90" fmla="*/ 337 w 494"/>
                  <a:gd name="T91" fmla="*/ 7 h 23"/>
                  <a:gd name="T92" fmla="*/ 357 w 494"/>
                  <a:gd name="T93" fmla="*/ 7 h 23"/>
                  <a:gd name="T94" fmla="*/ 377 w 494"/>
                  <a:gd name="T95" fmla="*/ 5 h 23"/>
                  <a:gd name="T96" fmla="*/ 397 w 494"/>
                  <a:gd name="T97" fmla="*/ 5 h 23"/>
                  <a:gd name="T98" fmla="*/ 417 w 494"/>
                  <a:gd name="T99" fmla="*/ 3 h 23"/>
                  <a:gd name="T100" fmla="*/ 437 w 494"/>
                  <a:gd name="T101" fmla="*/ 3 h 23"/>
                  <a:gd name="T102" fmla="*/ 459 w 494"/>
                  <a:gd name="T103" fmla="*/ 0 h 23"/>
                  <a:gd name="T104" fmla="*/ 483 w 494"/>
                  <a:gd name="T105" fmla="*/ 0 h 23"/>
                  <a:gd name="T106" fmla="*/ 483 w 494"/>
                  <a:gd name="T107" fmla="*/ 0 h 23"/>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w 494"/>
                  <a:gd name="T163" fmla="*/ 0 h 23"/>
                  <a:gd name="T164" fmla="*/ 494 w 494"/>
                  <a:gd name="T165" fmla="*/ 23 h 23"/>
                </a:gdLst>
                <a:ahLst/>
                <a:cxnLst>
                  <a:cxn ang="T108">
                    <a:pos x="T0" y="T1"/>
                  </a:cxn>
                  <a:cxn ang="T109">
                    <a:pos x="T2" y="T3"/>
                  </a:cxn>
                  <a:cxn ang="T110">
                    <a:pos x="T4" y="T5"/>
                  </a:cxn>
                  <a:cxn ang="T111">
                    <a:pos x="T6" y="T7"/>
                  </a:cxn>
                  <a:cxn ang="T112">
                    <a:pos x="T8" y="T9"/>
                  </a:cxn>
                  <a:cxn ang="T113">
                    <a:pos x="T10" y="T11"/>
                  </a:cxn>
                  <a:cxn ang="T114">
                    <a:pos x="T12" y="T13"/>
                  </a:cxn>
                  <a:cxn ang="T115">
                    <a:pos x="T14" y="T15"/>
                  </a:cxn>
                  <a:cxn ang="T116">
                    <a:pos x="T16" y="T17"/>
                  </a:cxn>
                  <a:cxn ang="T117">
                    <a:pos x="T18" y="T19"/>
                  </a:cxn>
                  <a:cxn ang="T118">
                    <a:pos x="T20" y="T21"/>
                  </a:cxn>
                  <a:cxn ang="T119">
                    <a:pos x="T22" y="T23"/>
                  </a:cxn>
                  <a:cxn ang="T120">
                    <a:pos x="T24" y="T25"/>
                  </a:cxn>
                  <a:cxn ang="T121">
                    <a:pos x="T26" y="T27"/>
                  </a:cxn>
                  <a:cxn ang="T122">
                    <a:pos x="T28" y="T29"/>
                  </a:cxn>
                  <a:cxn ang="T123">
                    <a:pos x="T30" y="T31"/>
                  </a:cxn>
                  <a:cxn ang="T124">
                    <a:pos x="T32" y="T33"/>
                  </a:cxn>
                  <a:cxn ang="T125">
                    <a:pos x="T34" y="T35"/>
                  </a:cxn>
                  <a:cxn ang="T126">
                    <a:pos x="T36" y="T37"/>
                  </a:cxn>
                  <a:cxn ang="T127">
                    <a:pos x="T38" y="T39"/>
                  </a:cxn>
                  <a:cxn ang="T128">
                    <a:pos x="T40" y="T41"/>
                  </a:cxn>
                  <a:cxn ang="T129">
                    <a:pos x="T42" y="T43"/>
                  </a:cxn>
                  <a:cxn ang="T130">
                    <a:pos x="T44" y="T45"/>
                  </a:cxn>
                  <a:cxn ang="T131">
                    <a:pos x="T46" y="T47"/>
                  </a:cxn>
                  <a:cxn ang="T132">
                    <a:pos x="T48" y="T49"/>
                  </a:cxn>
                  <a:cxn ang="T133">
                    <a:pos x="T50" y="T51"/>
                  </a:cxn>
                  <a:cxn ang="T134">
                    <a:pos x="T52" y="T53"/>
                  </a:cxn>
                  <a:cxn ang="T135">
                    <a:pos x="T54" y="T55"/>
                  </a:cxn>
                  <a:cxn ang="T136">
                    <a:pos x="T56" y="T57"/>
                  </a:cxn>
                  <a:cxn ang="T137">
                    <a:pos x="T58" y="T59"/>
                  </a:cxn>
                  <a:cxn ang="T138">
                    <a:pos x="T60" y="T61"/>
                  </a:cxn>
                  <a:cxn ang="T139">
                    <a:pos x="T62" y="T63"/>
                  </a:cxn>
                  <a:cxn ang="T140">
                    <a:pos x="T64" y="T65"/>
                  </a:cxn>
                  <a:cxn ang="T141">
                    <a:pos x="T66" y="T67"/>
                  </a:cxn>
                  <a:cxn ang="T142">
                    <a:pos x="T68" y="T69"/>
                  </a:cxn>
                  <a:cxn ang="T143">
                    <a:pos x="T70" y="T71"/>
                  </a:cxn>
                  <a:cxn ang="T144">
                    <a:pos x="T72" y="T73"/>
                  </a:cxn>
                  <a:cxn ang="T145">
                    <a:pos x="T74" y="T75"/>
                  </a:cxn>
                  <a:cxn ang="T146">
                    <a:pos x="T76" y="T77"/>
                  </a:cxn>
                  <a:cxn ang="T147">
                    <a:pos x="T78" y="T79"/>
                  </a:cxn>
                  <a:cxn ang="T148">
                    <a:pos x="T80" y="T81"/>
                  </a:cxn>
                  <a:cxn ang="T149">
                    <a:pos x="T82" y="T83"/>
                  </a:cxn>
                  <a:cxn ang="T150">
                    <a:pos x="T84" y="T85"/>
                  </a:cxn>
                  <a:cxn ang="T151">
                    <a:pos x="T86" y="T87"/>
                  </a:cxn>
                  <a:cxn ang="T152">
                    <a:pos x="T88" y="T89"/>
                  </a:cxn>
                  <a:cxn ang="T153">
                    <a:pos x="T90" y="T91"/>
                  </a:cxn>
                  <a:cxn ang="T154">
                    <a:pos x="T92" y="T93"/>
                  </a:cxn>
                  <a:cxn ang="T155">
                    <a:pos x="T94" y="T95"/>
                  </a:cxn>
                  <a:cxn ang="T156">
                    <a:pos x="T96" y="T97"/>
                  </a:cxn>
                  <a:cxn ang="T157">
                    <a:pos x="T98" y="T99"/>
                  </a:cxn>
                  <a:cxn ang="T158">
                    <a:pos x="T100" y="T101"/>
                  </a:cxn>
                  <a:cxn ang="T159">
                    <a:pos x="T102" y="T103"/>
                  </a:cxn>
                  <a:cxn ang="T160">
                    <a:pos x="T104" y="T105"/>
                  </a:cxn>
                  <a:cxn ang="T161">
                    <a:pos x="T106" y="T107"/>
                  </a:cxn>
                </a:cxnLst>
                <a:rect l="T162" t="T163" r="T164" b="T165"/>
                <a:pathLst>
                  <a:path w="494" h="23">
                    <a:moveTo>
                      <a:pt x="483" y="0"/>
                    </a:moveTo>
                    <a:lnTo>
                      <a:pt x="490" y="0"/>
                    </a:lnTo>
                    <a:lnTo>
                      <a:pt x="494" y="3"/>
                    </a:lnTo>
                    <a:lnTo>
                      <a:pt x="492" y="7"/>
                    </a:lnTo>
                    <a:lnTo>
                      <a:pt x="490" y="14"/>
                    </a:lnTo>
                    <a:lnTo>
                      <a:pt x="465" y="14"/>
                    </a:lnTo>
                    <a:lnTo>
                      <a:pt x="441" y="14"/>
                    </a:lnTo>
                    <a:lnTo>
                      <a:pt x="419" y="16"/>
                    </a:lnTo>
                    <a:lnTo>
                      <a:pt x="397" y="18"/>
                    </a:lnTo>
                    <a:lnTo>
                      <a:pt x="372" y="18"/>
                    </a:lnTo>
                    <a:lnTo>
                      <a:pt x="348" y="20"/>
                    </a:lnTo>
                    <a:lnTo>
                      <a:pt x="321" y="20"/>
                    </a:lnTo>
                    <a:lnTo>
                      <a:pt x="295" y="20"/>
                    </a:lnTo>
                    <a:lnTo>
                      <a:pt x="275" y="20"/>
                    </a:lnTo>
                    <a:lnTo>
                      <a:pt x="255" y="20"/>
                    </a:lnTo>
                    <a:lnTo>
                      <a:pt x="235" y="20"/>
                    </a:lnTo>
                    <a:lnTo>
                      <a:pt x="215" y="20"/>
                    </a:lnTo>
                    <a:lnTo>
                      <a:pt x="195" y="20"/>
                    </a:lnTo>
                    <a:lnTo>
                      <a:pt x="175" y="23"/>
                    </a:lnTo>
                    <a:lnTo>
                      <a:pt x="151" y="23"/>
                    </a:lnTo>
                    <a:lnTo>
                      <a:pt x="128" y="23"/>
                    </a:lnTo>
                    <a:lnTo>
                      <a:pt x="113" y="23"/>
                    </a:lnTo>
                    <a:lnTo>
                      <a:pt x="97" y="23"/>
                    </a:lnTo>
                    <a:lnTo>
                      <a:pt x="82" y="23"/>
                    </a:lnTo>
                    <a:lnTo>
                      <a:pt x="69" y="23"/>
                    </a:lnTo>
                    <a:lnTo>
                      <a:pt x="51" y="23"/>
                    </a:lnTo>
                    <a:lnTo>
                      <a:pt x="38" y="23"/>
                    </a:lnTo>
                    <a:lnTo>
                      <a:pt x="22" y="23"/>
                    </a:lnTo>
                    <a:lnTo>
                      <a:pt x="7" y="23"/>
                    </a:lnTo>
                    <a:lnTo>
                      <a:pt x="0" y="16"/>
                    </a:lnTo>
                    <a:lnTo>
                      <a:pt x="4" y="11"/>
                    </a:lnTo>
                    <a:lnTo>
                      <a:pt x="15" y="9"/>
                    </a:lnTo>
                    <a:lnTo>
                      <a:pt x="33" y="7"/>
                    </a:lnTo>
                    <a:lnTo>
                      <a:pt x="51" y="7"/>
                    </a:lnTo>
                    <a:lnTo>
                      <a:pt x="71" y="7"/>
                    </a:lnTo>
                    <a:lnTo>
                      <a:pt x="89" y="7"/>
                    </a:lnTo>
                    <a:lnTo>
                      <a:pt x="104" y="7"/>
                    </a:lnTo>
                    <a:lnTo>
                      <a:pt x="131" y="7"/>
                    </a:lnTo>
                    <a:lnTo>
                      <a:pt x="157" y="7"/>
                    </a:lnTo>
                    <a:lnTo>
                      <a:pt x="184" y="7"/>
                    </a:lnTo>
                    <a:lnTo>
                      <a:pt x="211" y="7"/>
                    </a:lnTo>
                    <a:lnTo>
                      <a:pt x="237" y="7"/>
                    </a:lnTo>
                    <a:lnTo>
                      <a:pt x="264" y="7"/>
                    </a:lnTo>
                    <a:lnTo>
                      <a:pt x="290" y="7"/>
                    </a:lnTo>
                    <a:lnTo>
                      <a:pt x="319" y="7"/>
                    </a:lnTo>
                    <a:lnTo>
                      <a:pt x="337" y="7"/>
                    </a:lnTo>
                    <a:lnTo>
                      <a:pt x="357" y="7"/>
                    </a:lnTo>
                    <a:lnTo>
                      <a:pt x="377" y="5"/>
                    </a:lnTo>
                    <a:lnTo>
                      <a:pt x="397" y="5"/>
                    </a:lnTo>
                    <a:lnTo>
                      <a:pt x="417" y="3"/>
                    </a:lnTo>
                    <a:lnTo>
                      <a:pt x="437" y="3"/>
                    </a:lnTo>
                    <a:lnTo>
                      <a:pt x="459" y="0"/>
                    </a:lnTo>
                    <a:lnTo>
                      <a:pt x="483" y="0"/>
                    </a:lnTo>
                    <a:close/>
                  </a:path>
                </a:pathLst>
              </a:custGeom>
              <a:solidFill>
                <a:srgbClr val="FFFF85"/>
              </a:solidFill>
              <a:ln w="9525">
                <a:noFill/>
                <a:round/>
                <a:headEnd/>
                <a:tailEnd/>
              </a:ln>
            </p:spPr>
            <p:txBody>
              <a:bodyPr/>
              <a:lstStyle/>
              <a:p>
                <a:endParaRPr lang="en-US"/>
              </a:p>
            </p:txBody>
          </p:sp>
          <p:sp>
            <p:nvSpPr>
              <p:cNvPr id="157750" name="Freeform 52"/>
              <p:cNvSpPr>
                <a:spLocks/>
              </p:cNvSpPr>
              <p:nvPr/>
            </p:nvSpPr>
            <p:spPr bwMode="auto">
              <a:xfrm>
                <a:off x="2673" y="1294"/>
                <a:ext cx="497" cy="18"/>
              </a:xfrm>
              <a:custGeom>
                <a:avLst/>
                <a:gdLst>
                  <a:gd name="T0" fmla="*/ 311 w 497"/>
                  <a:gd name="T1" fmla="*/ 2 h 18"/>
                  <a:gd name="T2" fmla="*/ 326 w 497"/>
                  <a:gd name="T3" fmla="*/ 0 h 18"/>
                  <a:gd name="T4" fmla="*/ 346 w 497"/>
                  <a:gd name="T5" fmla="*/ 0 h 18"/>
                  <a:gd name="T6" fmla="*/ 366 w 497"/>
                  <a:gd name="T7" fmla="*/ 0 h 18"/>
                  <a:gd name="T8" fmla="*/ 388 w 497"/>
                  <a:gd name="T9" fmla="*/ 0 h 18"/>
                  <a:gd name="T10" fmla="*/ 408 w 497"/>
                  <a:gd name="T11" fmla="*/ 0 h 18"/>
                  <a:gd name="T12" fmla="*/ 428 w 497"/>
                  <a:gd name="T13" fmla="*/ 0 h 18"/>
                  <a:gd name="T14" fmla="*/ 448 w 497"/>
                  <a:gd name="T15" fmla="*/ 0 h 18"/>
                  <a:gd name="T16" fmla="*/ 466 w 497"/>
                  <a:gd name="T17" fmla="*/ 0 h 18"/>
                  <a:gd name="T18" fmla="*/ 473 w 497"/>
                  <a:gd name="T19" fmla="*/ 0 h 18"/>
                  <a:gd name="T20" fmla="*/ 481 w 497"/>
                  <a:gd name="T21" fmla="*/ 0 h 18"/>
                  <a:gd name="T22" fmla="*/ 488 w 497"/>
                  <a:gd name="T23" fmla="*/ 2 h 18"/>
                  <a:gd name="T24" fmla="*/ 493 w 497"/>
                  <a:gd name="T25" fmla="*/ 4 h 18"/>
                  <a:gd name="T26" fmla="*/ 495 w 497"/>
                  <a:gd name="T27" fmla="*/ 4 h 18"/>
                  <a:gd name="T28" fmla="*/ 497 w 497"/>
                  <a:gd name="T29" fmla="*/ 7 h 18"/>
                  <a:gd name="T30" fmla="*/ 493 w 497"/>
                  <a:gd name="T31" fmla="*/ 7 h 18"/>
                  <a:gd name="T32" fmla="*/ 490 w 497"/>
                  <a:gd name="T33" fmla="*/ 11 h 18"/>
                  <a:gd name="T34" fmla="*/ 450 w 497"/>
                  <a:gd name="T35" fmla="*/ 11 h 18"/>
                  <a:gd name="T36" fmla="*/ 411 w 497"/>
                  <a:gd name="T37" fmla="*/ 13 h 18"/>
                  <a:gd name="T38" fmla="*/ 368 w 497"/>
                  <a:gd name="T39" fmla="*/ 13 h 18"/>
                  <a:gd name="T40" fmla="*/ 329 w 497"/>
                  <a:gd name="T41" fmla="*/ 13 h 18"/>
                  <a:gd name="T42" fmla="*/ 284 w 497"/>
                  <a:gd name="T43" fmla="*/ 13 h 18"/>
                  <a:gd name="T44" fmla="*/ 242 w 497"/>
                  <a:gd name="T45" fmla="*/ 15 h 18"/>
                  <a:gd name="T46" fmla="*/ 198 w 497"/>
                  <a:gd name="T47" fmla="*/ 15 h 18"/>
                  <a:gd name="T48" fmla="*/ 158 w 497"/>
                  <a:gd name="T49" fmla="*/ 18 h 18"/>
                  <a:gd name="T50" fmla="*/ 142 w 497"/>
                  <a:gd name="T51" fmla="*/ 18 h 18"/>
                  <a:gd name="T52" fmla="*/ 125 w 497"/>
                  <a:gd name="T53" fmla="*/ 18 h 18"/>
                  <a:gd name="T54" fmla="*/ 107 w 497"/>
                  <a:gd name="T55" fmla="*/ 18 h 18"/>
                  <a:gd name="T56" fmla="*/ 89 w 497"/>
                  <a:gd name="T57" fmla="*/ 18 h 18"/>
                  <a:gd name="T58" fmla="*/ 69 w 497"/>
                  <a:gd name="T59" fmla="*/ 15 h 18"/>
                  <a:gd name="T60" fmla="*/ 51 w 497"/>
                  <a:gd name="T61" fmla="*/ 15 h 18"/>
                  <a:gd name="T62" fmla="*/ 36 w 497"/>
                  <a:gd name="T63" fmla="*/ 15 h 18"/>
                  <a:gd name="T64" fmla="*/ 23 w 497"/>
                  <a:gd name="T65" fmla="*/ 15 h 18"/>
                  <a:gd name="T66" fmla="*/ 14 w 497"/>
                  <a:gd name="T67" fmla="*/ 15 h 18"/>
                  <a:gd name="T68" fmla="*/ 7 w 497"/>
                  <a:gd name="T69" fmla="*/ 13 h 18"/>
                  <a:gd name="T70" fmla="*/ 3 w 497"/>
                  <a:gd name="T71" fmla="*/ 11 h 18"/>
                  <a:gd name="T72" fmla="*/ 0 w 497"/>
                  <a:gd name="T73" fmla="*/ 11 h 18"/>
                  <a:gd name="T74" fmla="*/ 0 w 497"/>
                  <a:gd name="T75" fmla="*/ 7 h 18"/>
                  <a:gd name="T76" fmla="*/ 3 w 497"/>
                  <a:gd name="T77" fmla="*/ 7 h 18"/>
                  <a:gd name="T78" fmla="*/ 5 w 497"/>
                  <a:gd name="T79" fmla="*/ 4 h 18"/>
                  <a:gd name="T80" fmla="*/ 12 w 497"/>
                  <a:gd name="T81" fmla="*/ 4 h 18"/>
                  <a:gd name="T82" fmla="*/ 32 w 497"/>
                  <a:gd name="T83" fmla="*/ 2 h 18"/>
                  <a:gd name="T84" fmla="*/ 56 w 497"/>
                  <a:gd name="T85" fmla="*/ 2 h 18"/>
                  <a:gd name="T86" fmla="*/ 80 w 497"/>
                  <a:gd name="T87" fmla="*/ 2 h 18"/>
                  <a:gd name="T88" fmla="*/ 107 w 497"/>
                  <a:gd name="T89" fmla="*/ 2 h 18"/>
                  <a:gd name="T90" fmla="*/ 133 w 497"/>
                  <a:gd name="T91" fmla="*/ 2 h 18"/>
                  <a:gd name="T92" fmla="*/ 158 w 497"/>
                  <a:gd name="T93" fmla="*/ 4 h 18"/>
                  <a:gd name="T94" fmla="*/ 180 w 497"/>
                  <a:gd name="T95" fmla="*/ 4 h 18"/>
                  <a:gd name="T96" fmla="*/ 198 w 497"/>
                  <a:gd name="T97" fmla="*/ 4 h 18"/>
                  <a:gd name="T98" fmla="*/ 213 w 497"/>
                  <a:gd name="T99" fmla="*/ 2 h 18"/>
                  <a:gd name="T100" fmla="*/ 229 w 497"/>
                  <a:gd name="T101" fmla="*/ 2 h 18"/>
                  <a:gd name="T102" fmla="*/ 242 w 497"/>
                  <a:gd name="T103" fmla="*/ 2 h 18"/>
                  <a:gd name="T104" fmla="*/ 258 w 497"/>
                  <a:gd name="T105" fmla="*/ 2 h 18"/>
                  <a:gd name="T106" fmla="*/ 271 w 497"/>
                  <a:gd name="T107" fmla="*/ 2 h 18"/>
                  <a:gd name="T108" fmla="*/ 284 w 497"/>
                  <a:gd name="T109" fmla="*/ 2 h 18"/>
                  <a:gd name="T110" fmla="*/ 298 w 497"/>
                  <a:gd name="T111" fmla="*/ 2 h 18"/>
                  <a:gd name="T112" fmla="*/ 311 w 497"/>
                  <a:gd name="T113" fmla="*/ 2 h 18"/>
                  <a:gd name="T114" fmla="*/ 311 w 497"/>
                  <a:gd name="T115" fmla="*/ 2 h 18"/>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w 497"/>
                  <a:gd name="T175" fmla="*/ 0 h 18"/>
                  <a:gd name="T176" fmla="*/ 497 w 497"/>
                  <a:gd name="T177" fmla="*/ 18 h 18"/>
                </a:gdLst>
                <a:ahLst/>
                <a:cxnLst>
                  <a:cxn ang="T116">
                    <a:pos x="T0" y="T1"/>
                  </a:cxn>
                  <a:cxn ang="T117">
                    <a:pos x="T2" y="T3"/>
                  </a:cxn>
                  <a:cxn ang="T118">
                    <a:pos x="T4" y="T5"/>
                  </a:cxn>
                  <a:cxn ang="T119">
                    <a:pos x="T6" y="T7"/>
                  </a:cxn>
                  <a:cxn ang="T120">
                    <a:pos x="T8" y="T9"/>
                  </a:cxn>
                  <a:cxn ang="T121">
                    <a:pos x="T10" y="T11"/>
                  </a:cxn>
                  <a:cxn ang="T122">
                    <a:pos x="T12" y="T13"/>
                  </a:cxn>
                  <a:cxn ang="T123">
                    <a:pos x="T14" y="T15"/>
                  </a:cxn>
                  <a:cxn ang="T124">
                    <a:pos x="T16" y="T17"/>
                  </a:cxn>
                  <a:cxn ang="T125">
                    <a:pos x="T18" y="T19"/>
                  </a:cxn>
                  <a:cxn ang="T126">
                    <a:pos x="T20" y="T21"/>
                  </a:cxn>
                  <a:cxn ang="T127">
                    <a:pos x="T22" y="T23"/>
                  </a:cxn>
                  <a:cxn ang="T128">
                    <a:pos x="T24" y="T25"/>
                  </a:cxn>
                  <a:cxn ang="T129">
                    <a:pos x="T26" y="T27"/>
                  </a:cxn>
                  <a:cxn ang="T130">
                    <a:pos x="T28" y="T29"/>
                  </a:cxn>
                  <a:cxn ang="T131">
                    <a:pos x="T30" y="T31"/>
                  </a:cxn>
                  <a:cxn ang="T132">
                    <a:pos x="T32" y="T33"/>
                  </a:cxn>
                  <a:cxn ang="T133">
                    <a:pos x="T34" y="T35"/>
                  </a:cxn>
                  <a:cxn ang="T134">
                    <a:pos x="T36" y="T37"/>
                  </a:cxn>
                  <a:cxn ang="T135">
                    <a:pos x="T38" y="T39"/>
                  </a:cxn>
                  <a:cxn ang="T136">
                    <a:pos x="T40" y="T41"/>
                  </a:cxn>
                  <a:cxn ang="T137">
                    <a:pos x="T42" y="T43"/>
                  </a:cxn>
                  <a:cxn ang="T138">
                    <a:pos x="T44" y="T45"/>
                  </a:cxn>
                  <a:cxn ang="T139">
                    <a:pos x="T46" y="T47"/>
                  </a:cxn>
                  <a:cxn ang="T140">
                    <a:pos x="T48" y="T49"/>
                  </a:cxn>
                  <a:cxn ang="T141">
                    <a:pos x="T50" y="T51"/>
                  </a:cxn>
                  <a:cxn ang="T142">
                    <a:pos x="T52" y="T53"/>
                  </a:cxn>
                  <a:cxn ang="T143">
                    <a:pos x="T54" y="T55"/>
                  </a:cxn>
                  <a:cxn ang="T144">
                    <a:pos x="T56" y="T57"/>
                  </a:cxn>
                  <a:cxn ang="T145">
                    <a:pos x="T58" y="T59"/>
                  </a:cxn>
                  <a:cxn ang="T146">
                    <a:pos x="T60" y="T61"/>
                  </a:cxn>
                  <a:cxn ang="T147">
                    <a:pos x="T62" y="T63"/>
                  </a:cxn>
                  <a:cxn ang="T148">
                    <a:pos x="T64" y="T65"/>
                  </a:cxn>
                  <a:cxn ang="T149">
                    <a:pos x="T66" y="T67"/>
                  </a:cxn>
                  <a:cxn ang="T150">
                    <a:pos x="T68" y="T69"/>
                  </a:cxn>
                  <a:cxn ang="T151">
                    <a:pos x="T70" y="T71"/>
                  </a:cxn>
                  <a:cxn ang="T152">
                    <a:pos x="T72" y="T73"/>
                  </a:cxn>
                  <a:cxn ang="T153">
                    <a:pos x="T74" y="T75"/>
                  </a:cxn>
                  <a:cxn ang="T154">
                    <a:pos x="T76" y="T77"/>
                  </a:cxn>
                  <a:cxn ang="T155">
                    <a:pos x="T78" y="T79"/>
                  </a:cxn>
                  <a:cxn ang="T156">
                    <a:pos x="T80" y="T81"/>
                  </a:cxn>
                  <a:cxn ang="T157">
                    <a:pos x="T82" y="T83"/>
                  </a:cxn>
                  <a:cxn ang="T158">
                    <a:pos x="T84" y="T85"/>
                  </a:cxn>
                  <a:cxn ang="T159">
                    <a:pos x="T86" y="T87"/>
                  </a:cxn>
                  <a:cxn ang="T160">
                    <a:pos x="T88" y="T89"/>
                  </a:cxn>
                  <a:cxn ang="T161">
                    <a:pos x="T90" y="T91"/>
                  </a:cxn>
                  <a:cxn ang="T162">
                    <a:pos x="T92" y="T93"/>
                  </a:cxn>
                  <a:cxn ang="T163">
                    <a:pos x="T94" y="T95"/>
                  </a:cxn>
                  <a:cxn ang="T164">
                    <a:pos x="T96" y="T97"/>
                  </a:cxn>
                  <a:cxn ang="T165">
                    <a:pos x="T98" y="T99"/>
                  </a:cxn>
                  <a:cxn ang="T166">
                    <a:pos x="T100" y="T101"/>
                  </a:cxn>
                  <a:cxn ang="T167">
                    <a:pos x="T102" y="T103"/>
                  </a:cxn>
                  <a:cxn ang="T168">
                    <a:pos x="T104" y="T105"/>
                  </a:cxn>
                  <a:cxn ang="T169">
                    <a:pos x="T106" y="T107"/>
                  </a:cxn>
                  <a:cxn ang="T170">
                    <a:pos x="T108" y="T109"/>
                  </a:cxn>
                  <a:cxn ang="T171">
                    <a:pos x="T110" y="T111"/>
                  </a:cxn>
                  <a:cxn ang="T172">
                    <a:pos x="T112" y="T113"/>
                  </a:cxn>
                  <a:cxn ang="T173">
                    <a:pos x="T114" y="T115"/>
                  </a:cxn>
                </a:cxnLst>
                <a:rect l="T174" t="T175" r="T176" b="T177"/>
                <a:pathLst>
                  <a:path w="497" h="18">
                    <a:moveTo>
                      <a:pt x="311" y="2"/>
                    </a:moveTo>
                    <a:lnTo>
                      <a:pt x="326" y="0"/>
                    </a:lnTo>
                    <a:lnTo>
                      <a:pt x="346" y="0"/>
                    </a:lnTo>
                    <a:lnTo>
                      <a:pt x="366" y="0"/>
                    </a:lnTo>
                    <a:lnTo>
                      <a:pt x="388" y="0"/>
                    </a:lnTo>
                    <a:lnTo>
                      <a:pt x="408" y="0"/>
                    </a:lnTo>
                    <a:lnTo>
                      <a:pt x="428" y="0"/>
                    </a:lnTo>
                    <a:lnTo>
                      <a:pt x="448" y="0"/>
                    </a:lnTo>
                    <a:lnTo>
                      <a:pt x="466" y="0"/>
                    </a:lnTo>
                    <a:lnTo>
                      <a:pt x="473" y="0"/>
                    </a:lnTo>
                    <a:lnTo>
                      <a:pt x="481" y="0"/>
                    </a:lnTo>
                    <a:lnTo>
                      <a:pt x="488" y="2"/>
                    </a:lnTo>
                    <a:lnTo>
                      <a:pt x="493" y="4"/>
                    </a:lnTo>
                    <a:lnTo>
                      <a:pt x="495" y="4"/>
                    </a:lnTo>
                    <a:lnTo>
                      <a:pt x="497" y="7"/>
                    </a:lnTo>
                    <a:lnTo>
                      <a:pt x="493" y="7"/>
                    </a:lnTo>
                    <a:lnTo>
                      <a:pt x="490" y="11"/>
                    </a:lnTo>
                    <a:lnTo>
                      <a:pt x="450" y="11"/>
                    </a:lnTo>
                    <a:lnTo>
                      <a:pt x="411" y="13"/>
                    </a:lnTo>
                    <a:lnTo>
                      <a:pt x="368" y="13"/>
                    </a:lnTo>
                    <a:lnTo>
                      <a:pt x="329" y="13"/>
                    </a:lnTo>
                    <a:lnTo>
                      <a:pt x="284" y="13"/>
                    </a:lnTo>
                    <a:lnTo>
                      <a:pt x="242" y="15"/>
                    </a:lnTo>
                    <a:lnTo>
                      <a:pt x="198" y="15"/>
                    </a:lnTo>
                    <a:lnTo>
                      <a:pt x="158" y="18"/>
                    </a:lnTo>
                    <a:lnTo>
                      <a:pt x="142" y="18"/>
                    </a:lnTo>
                    <a:lnTo>
                      <a:pt x="125" y="18"/>
                    </a:lnTo>
                    <a:lnTo>
                      <a:pt x="107" y="18"/>
                    </a:lnTo>
                    <a:lnTo>
                      <a:pt x="89" y="18"/>
                    </a:lnTo>
                    <a:lnTo>
                      <a:pt x="69" y="15"/>
                    </a:lnTo>
                    <a:lnTo>
                      <a:pt x="51" y="15"/>
                    </a:lnTo>
                    <a:lnTo>
                      <a:pt x="36" y="15"/>
                    </a:lnTo>
                    <a:lnTo>
                      <a:pt x="23" y="15"/>
                    </a:lnTo>
                    <a:lnTo>
                      <a:pt x="14" y="15"/>
                    </a:lnTo>
                    <a:lnTo>
                      <a:pt x="7" y="13"/>
                    </a:lnTo>
                    <a:lnTo>
                      <a:pt x="3" y="11"/>
                    </a:lnTo>
                    <a:lnTo>
                      <a:pt x="0" y="11"/>
                    </a:lnTo>
                    <a:lnTo>
                      <a:pt x="0" y="7"/>
                    </a:lnTo>
                    <a:lnTo>
                      <a:pt x="3" y="7"/>
                    </a:lnTo>
                    <a:lnTo>
                      <a:pt x="5" y="4"/>
                    </a:lnTo>
                    <a:lnTo>
                      <a:pt x="12" y="4"/>
                    </a:lnTo>
                    <a:lnTo>
                      <a:pt x="32" y="2"/>
                    </a:lnTo>
                    <a:lnTo>
                      <a:pt x="56" y="2"/>
                    </a:lnTo>
                    <a:lnTo>
                      <a:pt x="80" y="2"/>
                    </a:lnTo>
                    <a:lnTo>
                      <a:pt x="107" y="2"/>
                    </a:lnTo>
                    <a:lnTo>
                      <a:pt x="133" y="2"/>
                    </a:lnTo>
                    <a:lnTo>
                      <a:pt x="158" y="4"/>
                    </a:lnTo>
                    <a:lnTo>
                      <a:pt x="180" y="4"/>
                    </a:lnTo>
                    <a:lnTo>
                      <a:pt x="198" y="4"/>
                    </a:lnTo>
                    <a:lnTo>
                      <a:pt x="213" y="2"/>
                    </a:lnTo>
                    <a:lnTo>
                      <a:pt x="229" y="2"/>
                    </a:lnTo>
                    <a:lnTo>
                      <a:pt x="242" y="2"/>
                    </a:lnTo>
                    <a:lnTo>
                      <a:pt x="258" y="2"/>
                    </a:lnTo>
                    <a:lnTo>
                      <a:pt x="271" y="2"/>
                    </a:lnTo>
                    <a:lnTo>
                      <a:pt x="284" y="2"/>
                    </a:lnTo>
                    <a:lnTo>
                      <a:pt x="298" y="2"/>
                    </a:lnTo>
                    <a:lnTo>
                      <a:pt x="311" y="2"/>
                    </a:lnTo>
                    <a:close/>
                  </a:path>
                </a:pathLst>
              </a:custGeom>
              <a:solidFill>
                <a:srgbClr val="FFFF85"/>
              </a:solidFill>
              <a:ln w="9525">
                <a:noFill/>
                <a:round/>
                <a:headEnd/>
                <a:tailEnd/>
              </a:ln>
            </p:spPr>
            <p:txBody>
              <a:bodyPr/>
              <a:lstStyle/>
              <a:p>
                <a:endParaRPr lang="en-US"/>
              </a:p>
            </p:txBody>
          </p:sp>
          <p:sp>
            <p:nvSpPr>
              <p:cNvPr id="157751" name="Freeform 53"/>
              <p:cNvSpPr>
                <a:spLocks/>
              </p:cNvSpPr>
              <p:nvPr/>
            </p:nvSpPr>
            <p:spPr bwMode="auto">
              <a:xfrm>
                <a:off x="2920" y="1788"/>
                <a:ext cx="243" cy="22"/>
              </a:xfrm>
              <a:custGeom>
                <a:avLst/>
                <a:gdLst>
                  <a:gd name="T0" fmla="*/ 188 w 243"/>
                  <a:gd name="T1" fmla="*/ 2 h 22"/>
                  <a:gd name="T2" fmla="*/ 192 w 243"/>
                  <a:gd name="T3" fmla="*/ 0 h 22"/>
                  <a:gd name="T4" fmla="*/ 199 w 243"/>
                  <a:gd name="T5" fmla="*/ 0 h 22"/>
                  <a:gd name="T6" fmla="*/ 206 w 243"/>
                  <a:gd name="T7" fmla="*/ 0 h 22"/>
                  <a:gd name="T8" fmla="*/ 212 w 243"/>
                  <a:gd name="T9" fmla="*/ 0 h 22"/>
                  <a:gd name="T10" fmla="*/ 221 w 243"/>
                  <a:gd name="T11" fmla="*/ 0 h 22"/>
                  <a:gd name="T12" fmla="*/ 228 w 243"/>
                  <a:gd name="T13" fmla="*/ 0 h 22"/>
                  <a:gd name="T14" fmla="*/ 232 w 243"/>
                  <a:gd name="T15" fmla="*/ 0 h 22"/>
                  <a:gd name="T16" fmla="*/ 239 w 243"/>
                  <a:gd name="T17" fmla="*/ 2 h 22"/>
                  <a:gd name="T18" fmla="*/ 243 w 243"/>
                  <a:gd name="T19" fmla="*/ 5 h 22"/>
                  <a:gd name="T20" fmla="*/ 239 w 243"/>
                  <a:gd name="T21" fmla="*/ 11 h 22"/>
                  <a:gd name="T22" fmla="*/ 230 w 243"/>
                  <a:gd name="T23" fmla="*/ 13 h 22"/>
                  <a:gd name="T24" fmla="*/ 219 w 243"/>
                  <a:gd name="T25" fmla="*/ 16 h 22"/>
                  <a:gd name="T26" fmla="*/ 208 w 243"/>
                  <a:gd name="T27" fmla="*/ 16 h 22"/>
                  <a:gd name="T28" fmla="*/ 197 w 243"/>
                  <a:gd name="T29" fmla="*/ 16 h 22"/>
                  <a:gd name="T30" fmla="*/ 186 w 243"/>
                  <a:gd name="T31" fmla="*/ 16 h 22"/>
                  <a:gd name="T32" fmla="*/ 175 w 243"/>
                  <a:gd name="T33" fmla="*/ 16 h 22"/>
                  <a:gd name="T34" fmla="*/ 164 w 243"/>
                  <a:gd name="T35" fmla="*/ 16 h 22"/>
                  <a:gd name="T36" fmla="*/ 152 w 243"/>
                  <a:gd name="T37" fmla="*/ 18 h 22"/>
                  <a:gd name="T38" fmla="*/ 135 w 243"/>
                  <a:gd name="T39" fmla="*/ 18 h 22"/>
                  <a:gd name="T40" fmla="*/ 117 w 243"/>
                  <a:gd name="T41" fmla="*/ 18 h 22"/>
                  <a:gd name="T42" fmla="*/ 99 w 243"/>
                  <a:gd name="T43" fmla="*/ 18 h 22"/>
                  <a:gd name="T44" fmla="*/ 82 w 243"/>
                  <a:gd name="T45" fmla="*/ 20 h 22"/>
                  <a:gd name="T46" fmla="*/ 62 w 243"/>
                  <a:gd name="T47" fmla="*/ 20 h 22"/>
                  <a:gd name="T48" fmla="*/ 44 w 243"/>
                  <a:gd name="T49" fmla="*/ 20 h 22"/>
                  <a:gd name="T50" fmla="*/ 26 w 243"/>
                  <a:gd name="T51" fmla="*/ 20 h 22"/>
                  <a:gd name="T52" fmla="*/ 8 w 243"/>
                  <a:gd name="T53" fmla="*/ 22 h 22"/>
                  <a:gd name="T54" fmla="*/ 2 w 243"/>
                  <a:gd name="T55" fmla="*/ 20 h 22"/>
                  <a:gd name="T56" fmla="*/ 0 w 243"/>
                  <a:gd name="T57" fmla="*/ 16 h 22"/>
                  <a:gd name="T58" fmla="*/ 0 w 243"/>
                  <a:gd name="T59" fmla="*/ 13 h 22"/>
                  <a:gd name="T60" fmla="*/ 6 w 243"/>
                  <a:gd name="T61" fmla="*/ 9 h 22"/>
                  <a:gd name="T62" fmla="*/ 15 w 243"/>
                  <a:gd name="T63" fmla="*/ 9 h 22"/>
                  <a:gd name="T64" fmla="*/ 28 w 243"/>
                  <a:gd name="T65" fmla="*/ 7 h 22"/>
                  <a:gd name="T66" fmla="*/ 37 w 243"/>
                  <a:gd name="T67" fmla="*/ 7 h 22"/>
                  <a:gd name="T68" fmla="*/ 48 w 243"/>
                  <a:gd name="T69" fmla="*/ 7 h 22"/>
                  <a:gd name="T70" fmla="*/ 59 w 243"/>
                  <a:gd name="T71" fmla="*/ 7 h 22"/>
                  <a:gd name="T72" fmla="*/ 70 w 243"/>
                  <a:gd name="T73" fmla="*/ 7 h 22"/>
                  <a:gd name="T74" fmla="*/ 82 w 243"/>
                  <a:gd name="T75" fmla="*/ 7 h 22"/>
                  <a:gd name="T76" fmla="*/ 95 w 243"/>
                  <a:gd name="T77" fmla="*/ 7 h 22"/>
                  <a:gd name="T78" fmla="*/ 106 w 243"/>
                  <a:gd name="T79" fmla="*/ 5 h 22"/>
                  <a:gd name="T80" fmla="*/ 117 w 243"/>
                  <a:gd name="T81" fmla="*/ 5 h 22"/>
                  <a:gd name="T82" fmla="*/ 128 w 243"/>
                  <a:gd name="T83" fmla="*/ 2 h 22"/>
                  <a:gd name="T84" fmla="*/ 141 w 243"/>
                  <a:gd name="T85" fmla="*/ 2 h 22"/>
                  <a:gd name="T86" fmla="*/ 152 w 243"/>
                  <a:gd name="T87" fmla="*/ 2 h 22"/>
                  <a:gd name="T88" fmla="*/ 164 w 243"/>
                  <a:gd name="T89" fmla="*/ 2 h 22"/>
                  <a:gd name="T90" fmla="*/ 175 w 243"/>
                  <a:gd name="T91" fmla="*/ 2 h 22"/>
                  <a:gd name="T92" fmla="*/ 188 w 243"/>
                  <a:gd name="T93" fmla="*/ 2 h 22"/>
                  <a:gd name="T94" fmla="*/ 188 w 243"/>
                  <a:gd name="T95" fmla="*/ 2 h 22"/>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w 243"/>
                  <a:gd name="T145" fmla="*/ 0 h 22"/>
                  <a:gd name="T146" fmla="*/ 243 w 243"/>
                  <a:gd name="T147" fmla="*/ 22 h 22"/>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T144" t="T145" r="T146" b="T147"/>
                <a:pathLst>
                  <a:path w="243" h="22">
                    <a:moveTo>
                      <a:pt x="188" y="2"/>
                    </a:moveTo>
                    <a:lnTo>
                      <a:pt x="192" y="0"/>
                    </a:lnTo>
                    <a:lnTo>
                      <a:pt x="199" y="0"/>
                    </a:lnTo>
                    <a:lnTo>
                      <a:pt x="206" y="0"/>
                    </a:lnTo>
                    <a:lnTo>
                      <a:pt x="212" y="0"/>
                    </a:lnTo>
                    <a:lnTo>
                      <a:pt x="221" y="0"/>
                    </a:lnTo>
                    <a:lnTo>
                      <a:pt x="228" y="0"/>
                    </a:lnTo>
                    <a:lnTo>
                      <a:pt x="232" y="0"/>
                    </a:lnTo>
                    <a:lnTo>
                      <a:pt x="239" y="2"/>
                    </a:lnTo>
                    <a:lnTo>
                      <a:pt x="243" y="5"/>
                    </a:lnTo>
                    <a:lnTo>
                      <a:pt x="239" y="11"/>
                    </a:lnTo>
                    <a:lnTo>
                      <a:pt x="230" y="13"/>
                    </a:lnTo>
                    <a:lnTo>
                      <a:pt x="219" y="16"/>
                    </a:lnTo>
                    <a:lnTo>
                      <a:pt x="208" y="16"/>
                    </a:lnTo>
                    <a:lnTo>
                      <a:pt x="197" y="16"/>
                    </a:lnTo>
                    <a:lnTo>
                      <a:pt x="186" y="16"/>
                    </a:lnTo>
                    <a:lnTo>
                      <a:pt x="175" y="16"/>
                    </a:lnTo>
                    <a:lnTo>
                      <a:pt x="164" y="16"/>
                    </a:lnTo>
                    <a:lnTo>
                      <a:pt x="152" y="18"/>
                    </a:lnTo>
                    <a:lnTo>
                      <a:pt x="135" y="18"/>
                    </a:lnTo>
                    <a:lnTo>
                      <a:pt x="117" y="18"/>
                    </a:lnTo>
                    <a:lnTo>
                      <a:pt x="99" y="18"/>
                    </a:lnTo>
                    <a:lnTo>
                      <a:pt x="82" y="20"/>
                    </a:lnTo>
                    <a:lnTo>
                      <a:pt x="62" y="20"/>
                    </a:lnTo>
                    <a:lnTo>
                      <a:pt x="44" y="20"/>
                    </a:lnTo>
                    <a:lnTo>
                      <a:pt x="26" y="20"/>
                    </a:lnTo>
                    <a:lnTo>
                      <a:pt x="8" y="22"/>
                    </a:lnTo>
                    <a:lnTo>
                      <a:pt x="2" y="20"/>
                    </a:lnTo>
                    <a:lnTo>
                      <a:pt x="0" y="16"/>
                    </a:lnTo>
                    <a:lnTo>
                      <a:pt x="0" y="13"/>
                    </a:lnTo>
                    <a:lnTo>
                      <a:pt x="6" y="9"/>
                    </a:lnTo>
                    <a:lnTo>
                      <a:pt x="15" y="9"/>
                    </a:lnTo>
                    <a:lnTo>
                      <a:pt x="28" y="7"/>
                    </a:lnTo>
                    <a:lnTo>
                      <a:pt x="37" y="7"/>
                    </a:lnTo>
                    <a:lnTo>
                      <a:pt x="48" y="7"/>
                    </a:lnTo>
                    <a:lnTo>
                      <a:pt x="59" y="7"/>
                    </a:lnTo>
                    <a:lnTo>
                      <a:pt x="70" y="7"/>
                    </a:lnTo>
                    <a:lnTo>
                      <a:pt x="82" y="7"/>
                    </a:lnTo>
                    <a:lnTo>
                      <a:pt x="95" y="7"/>
                    </a:lnTo>
                    <a:lnTo>
                      <a:pt x="106" y="5"/>
                    </a:lnTo>
                    <a:lnTo>
                      <a:pt x="117" y="5"/>
                    </a:lnTo>
                    <a:lnTo>
                      <a:pt x="128" y="2"/>
                    </a:lnTo>
                    <a:lnTo>
                      <a:pt x="141" y="2"/>
                    </a:lnTo>
                    <a:lnTo>
                      <a:pt x="152" y="2"/>
                    </a:lnTo>
                    <a:lnTo>
                      <a:pt x="164" y="2"/>
                    </a:lnTo>
                    <a:lnTo>
                      <a:pt x="175" y="2"/>
                    </a:lnTo>
                    <a:lnTo>
                      <a:pt x="188" y="2"/>
                    </a:lnTo>
                    <a:close/>
                  </a:path>
                </a:pathLst>
              </a:custGeom>
              <a:solidFill>
                <a:srgbClr val="FFFF85"/>
              </a:solidFill>
              <a:ln w="9525">
                <a:noFill/>
                <a:round/>
                <a:headEnd/>
                <a:tailEnd/>
              </a:ln>
            </p:spPr>
            <p:txBody>
              <a:bodyPr/>
              <a:lstStyle/>
              <a:p>
                <a:endParaRPr lang="en-US"/>
              </a:p>
            </p:txBody>
          </p:sp>
          <p:sp>
            <p:nvSpPr>
              <p:cNvPr id="157752" name="Freeform 54"/>
              <p:cNvSpPr>
                <a:spLocks/>
              </p:cNvSpPr>
              <p:nvPr/>
            </p:nvSpPr>
            <p:spPr bwMode="auto">
              <a:xfrm>
                <a:off x="2718" y="1799"/>
                <a:ext cx="151" cy="18"/>
              </a:xfrm>
              <a:custGeom>
                <a:avLst/>
                <a:gdLst>
                  <a:gd name="T0" fmla="*/ 42 w 151"/>
                  <a:gd name="T1" fmla="*/ 2 h 18"/>
                  <a:gd name="T2" fmla="*/ 53 w 151"/>
                  <a:gd name="T3" fmla="*/ 2 h 18"/>
                  <a:gd name="T4" fmla="*/ 64 w 151"/>
                  <a:gd name="T5" fmla="*/ 2 h 18"/>
                  <a:gd name="T6" fmla="*/ 77 w 151"/>
                  <a:gd name="T7" fmla="*/ 2 h 18"/>
                  <a:gd name="T8" fmla="*/ 93 w 151"/>
                  <a:gd name="T9" fmla="*/ 2 h 18"/>
                  <a:gd name="T10" fmla="*/ 106 w 151"/>
                  <a:gd name="T11" fmla="*/ 0 h 18"/>
                  <a:gd name="T12" fmla="*/ 120 w 151"/>
                  <a:gd name="T13" fmla="*/ 0 h 18"/>
                  <a:gd name="T14" fmla="*/ 133 w 151"/>
                  <a:gd name="T15" fmla="*/ 0 h 18"/>
                  <a:gd name="T16" fmla="*/ 144 w 151"/>
                  <a:gd name="T17" fmla="*/ 2 h 18"/>
                  <a:gd name="T18" fmla="*/ 148 w 151"/>
                  <a:gd name="T19" fmla="*/ 2 h 18"/>
                  <a:gd name="T20" fmla="*/ 151 w 151"/>
                  <a:gd name="T21" fmla="*/ 5 h 18"/>
                  <a:gd name="T22" fmla="*/ 148 w 151"/>
                  <a:gd name="T23" fmla="*/ 7 h 18"/>
                  <a:gd name="T24" fmla="*/ 146 w 151"/>
                  <a:gd name="T25" fmla="*/ 11 h 18"/>
                  <a:gd name="T26" fmla="*/ 128 w 151"/>
                  <a:gd name="T27" fmla="*/ 13 h 18"/>
                  <a:gd name="T28" fmla="*/ 111 w 151"/>
                  <a:gd name="T29" fmla="*/ 13 h 18"/>
                  <a:gd name="T30" fmla="*/ 93 w 151"/>
                  <a:gd name="T31" fmla="*/ 13 h 18"/>
                  <a:gd name="T32" fmla="*/ 75 w 151"/>
                  <a:gd name="T33" fmla="*/ 16 h 18"/>
                  <a:gd name="T34" fmla="*/ 57 w 151"/>
                  <a:gd name="T35" fmla="*/ 16 h 18"/>
                  <a:gd name="T36" fmla="*/ 40 w 151"/>
                  <a:gd name="T37" fmla="*/ 16 h 18"/>
                  <a:gd name="T38" fmla="*/ 22 w 151"/>
                  <a:gd name="T39" fmla="*/ 16 h 18"/>
                  <a:gd name="T40" fmla="*/ 6 w 151"/>
                  <a:gd name="T41" fmla="*/ 18 h 18"/>
                  <a:gd name="T42" fmla="*/ 0 w 151"/>
                  <a:gd name="T43" fmla="*/ 13 h 18"/>
                  <a:gd name="T44" fmla="*/ 0 w 151"/>
                  <a:gd name="T45" fmla="*/ 11 h 18"/>
                  <a:gd name="T46" fmla="*/ 0 w 151"/>
                  <a:gd name="T47" fmla="*/ 9 h 18"/>
                  <a:gd name="T48" fmla="*/ 2 w 151"/>
                  <a:gd name="T49" fmla="*/ 9 h 18"/>
                  <a:gd name="T50" fmla="*/ 4 w 151"/>
                  <a:gd name="T51" fmla="*/ 7 h 18"/>
                  <a:gd name="T52" fmla="*/ 9 w 151"/>
                  <a:gd name="T53" fmla="*/ 5 h 18"/>
                  <a:gd name="T54" fmla="*/ 15 w 151"/>
                  <a:gd name="T55" fmla="*/ 5 h 18"/>
                  <a:gd name="T56" fmla="*/ 22 w 151"/>
                  <a:gd name="T57" fmla="*/ 5 h 18"/>
                  <a:gd name="T58" fmla="*/ 29 w 151"/>
                  <a:gd name="T59" fmla="*/ 2 h 18"/>
                  <a:gd name="T60" fmla="*/ 33 w 151"/>
                  <a:gd name="T61" fmla="*/ 2 h 18"/>
                  <a:gd name="T62" fmla="*/ 38 w 151"/>
                  <a:gd name="T63" fmla="*/ 2 h 18"/>
                  <a:gd name="T64" fmla="*/ 42 w 151"/>
                  <a:gd name="T65" fmla="*/ 2 h 18"/>
                  <a:gd name="T66" fmla="*/ 42 w 151"/>
                  <a:gd name="T67" fmla="*/ 2 h 18"/>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151"/>
                  <a:gd name="T103" fmla="*/ 0 h 18"/>
                  <a:gd name="T104" fmla="*/ 151 w 151"/>
                  <a:gd name="T105" fmla="*/ 18 h 18"/>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151" h="18">
                    <a:moveTo>
                      <a:pt x="42" y="2"/>
                    </a:moveTo>
                    <a:lnTo>
                      <a:pt x="53" y="2"/>
                    </a:lnTo>
                    <a:lnTo>
                      <a:pt x="64" y="2"/>
                    </a:lnTo>
                    <a:lnTo>
                      <a:pt x="77" y="2"/>
                    </a:lnTo>
                    <a:lnTo>
                      <a:pt x="93" y="2"/>
                    </a:lnTo>
                    <a:lnTo>
                      <a:pt x="106" y="0"/>
                    </a:lnTo>
                    <a:lnTo>
                      <a:pt x="120" y="0"/>
                    </a:lnTo>
                    <a:lnTo>
                      <a:pt x="133" y="0"/>
                    </a:lnTo>
                    <a:lnTo>
                      <a:pt x="144" y="2"/>
                    </a:lnTo>
                    <a:lnTo>
                      <a:pt x="148" y="2"/>
                    </a:lnTo>
                    <a:lnTo>
                      <a:pt x="151" y="5"/>
                    </a:lnTo>
                    <a:lnTo>
                      <a:pt x="148" y="7"/>
                    </a:lnTo>
                    <a:lnTo>
                      <a:pt x="146" y="11"/>
                    </a:lnTo>
                    <a:lnTo>
                      <a:pt x="128" y="13"/>
                    </a:lnTo>
                    <a:lnTo>
                      <a:pt x="111" y="13"/>
                    </a:lnTo>
                    <a:lnTo>
                      <a:pt x="93" y="13"/>
                    </a:lnTo>
                    <a:lnTo>
                      <a:pt x="75" y="16"/>
                    </a:lnTo>
                    <a:lnTo>
                      <a:pt x="57" y="16"/>
                    </a:lnTo>
                    <a:lnTo>
                      <a:pt x="40" y="16"/>
                    </a:lnTo>
                    <a:lnTo>
                      <a:pt x="22" y="16"/>
                    </a:lnTo>
                    <a:lnTo>
                      <a:pt x="6" y="18"/>
                    </a:lnTo>
                    <a:lnTo>
                      <a:pt x="0" y="13"/>
                    </a:lnTo>
                    <a:lnTo>
                      <a:pt x="0" y="11"/>
                    </a:lnTo>
                    <a:lnTo>
                      <a:pt x="0" y="9"/>
                    </a:lnTo>
                    <a:lnTo>
                      <a:pt x="2" y="9"/>
                    </a:lnTo>
                    <a:lnTo>
                      <a:pt x="4" y="7"/>
                    </a:lnTo>
                    <a:lnTo>
                      <a:pt x="9" y="5"/>
                    </a:lnTo>
                    <a:lnTo>
                      <a:pt x="15" y="5"/>
                    </a:lnTo>
                    <a:lnTo>
                      <a:pt x="22" y="5"/>
                    </a:lnTo>
                    <a:lnTo>
                      <a:pt x="29" y="2"/>
                    </a:lnTo>
                    <a:lnTo>
                      <a:pt x="33" y="2"/>
                    </a:lnTo>
                    <a:lnTo>
                      <a:pt x="38" y="2"/>
                    </a:lnTo>
                    <a:lnTo>
                      <a:pt x="42" y="2"/>
                    </a:lnTo>
                    <a:close/>
                  </a:path>
                </a:pathLst>
              </a:custGeom>
              <a:solidFill>
                <a:srgbClr val="FFFF85"/>
              </a:solidFill>
              <a:ln w="9525">
                <a:noFill/>
                <a:round/>
                <a:headEnd/>
                <a:tailEnd/>
              </a:ln>
            </p:spPr>
            <p:txBody>
              <a:bodyPr/>
              <a:lstStyle/>
              <a:p>
                <a:endParaRPr lang="en-US"/>
              </a:p>
            </p:txBody>
          </p:sp>
        </p:grpSp>
      </p:grpSp>
      <p:sp>
        <p:nvSpPr>
          <p:cNvPr id="444471" name="Text Box 55"/>
          <p:cNvSpPr txBox="1">
            <a:spLocks noChangeArrowheads="1"/>
          </p:cNvSpPr>
          <p:nvPr/>
        </p:nvSpPr>
        <p:spPr bwMode="auto">
          <a:xfrm>
            <a:off x="2173289" y="3287714"/>
            <a:ext cx="5068887" cy="2825389"/>
          </a:xfrm>
          <a:prstGeom prst="rect">
            <a:avLst/>
          </a:prstGeom>
          <a:noFill/>
          <a:ln w="9525">
            <a:noFill/>
            <a:miter lim="800000"/>
            <a:headEnd/>
            <a:tailEnd/>
          </a:ln>
          <a:effectLst/>
        </p:spPr>
        <p:txBody>
          <a:bodyPr>
            <a:spAutoFit/>
          </a:bodyPr>
          <a:lstStyle/>
          <a:p>
            <a:pPr marL="342900" indent="-342900">
              <a:buFontTx/>
              <a:buAutoNum type="alphaLcParenR"/>
              <a:defRPr/>
            </a:pPr>
            <a:r>
              <a:rPr lang="en-US" sz="2400" b="1"/>
              <a:t> </a:t>
            </a:r>
            <a:r>
              <a:rPr lang="en-US" sz="2400" b="1">
                <a:solidFill>
                  <a:schemeClr val="tx2"/>
                </a:solidFill>
              </a:rPr>
              <a:t>the Moon is very large</a:t>
            </a:r>
          </a:p>
          <a:p>
            <a:pPr marL="342900" indent="-342900">
              <a:buFontTx/>
              <a:buAutoNum type="alphaLcParenR"/>
              <a:defRPr/>
            </a:pPr>
            <a:r>
              <a:rPr lang="en-US" sz="2400" b="1">
                <a:solidFill>
                  <a:schemeClr val="tx2"/>
                </a:solidFill>
              </a:rPr>
              <a:t>atmospheric conditions are just right</a:t>
            </a:r>
          </a:p>
          <a:p>
            <a:pPr marL="342900" indent="-342900">
              <a:buFontTx/>
              <a:buAutoNum type="alphaLcParenR"/>
              <a:defRPr/>
            </a:pPr>
            <a:r>
              <a:rPr lang="en-US" sz="2400" b="1">
                <a:solidFill>
                  <a:schemeClr val="tx2"/>
                </a:solidFill>
              </a:rPr>
              <a:t>the ocean is calm</a:t>
            </a:r>
          </a:p>
          <a:p>
            <a:pPr marL="342900" indent="-342900">
              <a:buFontTx/>
              <a:buAutoNum type="alphaLcParenR"/>
              <a:defRPr/>
            </a:pPr>
            <a:r>
              <a:rPr lang="en-US" sz="2400" b="1">
                <a:solidFill>
                  <a:schemeClr val="tx2"/>
                </a:solidFill>
              </a:rPr>
              <a:t>the ocean is wavy</a:t>
            </a:r>
          </a:p>
          <a:p>
            <a:pPr marL="342900" indent="-342900">
              <a:buFontTx/>
              <a:buAutoNum type="alphaLcParenR"/>
              <a:defRPr/>
            </a:pPr>
            <a:r>
              <a:rPr lang="en-US" sz="2400" b="1">
                <a:solidFill>
                  <a:schemeClr val="tx2"/>
                </a:solidFill>
              </a:rPr>
              <a:t>motion of the Moon</a:t>
            </a:r>
            <a:endParaRPr lang="en-US" sz="2400" b="1">
              <a:solidFill>
                <a:schemeClr val="tx2"/>
              </a:solidFill>
              <a:effectLst>
                <a:outerShdw blurRad="38100" dist="38100" dir="2700000" algn="tl">
                  <a:srgbClr val="C0C0C0"/>
                </a:outerShdw>
              </a:effectLst>
            </a:endParaRPr>
          </a:p>
          <a:p>
            <a:pPr marL="342900" indent="-342900" eaLnBrk="0" hangingPunct="0">
              <a:lnSpc>
                <a:spcPct val="90000"/>
              </a:lnSpc>
              <a:spcBef>
                <a:spcPct val="50000"/>
              </a:spcBef>
              <a:defRPr/>
            </a:pPr>
            <a:endParaRPr lang="en-US" sz="2400" b="1"/>
          </a:p>
        </p:txBody>
      </p:sp>
    </p:spTree>
    <p:extLst>
      <p:ext uri="{BB962C8B-B14F-4D97-AF65-F5344CB8AC3E}">
        <p14:creationId xmlns:p14="http://schemas.microsoft.com/office/powerpoint/2010/main" val="235598904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ooter Placeholder 4"/>
          <p:cNvSpPr>
            <a:spLocks noGrp="1"/>
          </p:cNvSpPr>
          <p:nvPr>
            <p:ph type="ftr" sz="quarter" idx="11"/>
          </p:nvPr>
        </p:nvSpPr>
        <p:spPr/>
        <p:txBody>
          <a:bodyPr/>
          <a:lstStyle/>
          <a:p>
            <a:r>
              <a:rPr lang="en-US"/>
              <a:t>R. Todd Lines</a:t>
            </a:r>
          </a:p>
        </p:txBody>
      </p:sp>
      <p:sp>
        <p:nvSpPr>
          <p:cNvPr id="23554" name="Rectangle 2"/>
          <p:cNvSpPr>
            <a:spLocks noGrp="1" noChangeArrowheads="1"/>
          </p:cNvSpPr>
          <p:nvPr>
            <p:ph type="title"/>
          </p:nvPr>
        </p:nvSpPr>
        <p:spPr/>
        <p:txBody>
          <a:bodyPr/>
          <a:lstStyle/>
          <a:p>
            <a:r>
              <a:rPr lang="en-US"/>
              <a:t>Law of Reflection, cont.</a:t>
            </a:r>
          </a:p>
        </p:txBody>
      </p:sp>
      <p:sp>
        <p:nvSpPr>
          <p:cNvPr id="23555" name="Rectangle 3"/>
          <p:cNvSpPr>
            <a:spLocks noGrp="1" noChangeArrowheads="1"/>
          </p:cNvSpPr>
          <p:nvPr>
            <p:ph type="body" idx="1"/>
          </p:nvPr>
        </p:nvSpPr>
        <p:spPr/>
        <p:txBody>
          <a:bodyPr/>
          <a:lstStyle/>
          <a:p>
            <a:r>
              <a:rPr lang="en-US"/>
              <a:t>The angle of reflection is equal to the angle of incidence</a:t>
            </a:r>
          </a:p>
          <a:p>
            <a:r>
              <a:rPr lang="en-US" i="1">
                <a:cs typeface="Tahoma" pitchFamily="34" charset="0"/>
              </a:rPr>
              <a:t>θ</a:t>
            </a:r>
            <a:r>
              <a:rPr lang="en-US" baseline="-25000">
                <a:cs typeface="Tahoma" pitchFamily="34" charset="0"/>
              </a:rPr>
              <a:t>1</a:t>
            </a:r>
            <a:r>
              <a:rPr lang="en-US">
                <a:cs typeface="Tahoma" pitchFamily="34" charset="0"/>
              </a:rPr>
              <a:t>’= </a:t>
            </a:r>
            <a:r>
              <a:rPr lang="en-US" i="1">
                <a:cs typeface="Tahoma" pitchFamily="34" charset="0"/>
              </a:rPr>
              <a:t>θ</a:t>
            </a:r>
            <a:r>
              <a:rPr lang="en-US" baseline="-25000">
                <a:cs typeface="Tahoma" pitchFamily="34" charset="0"/>
              </a:rPr>
              <a:t>1</a:t>
            </a:r>
            <a:endParaRPr lang="en-US">
              <a:cs typeface="Tahoma" pitchFamily="34" charset="0"/>
            </a:endParaRPr>
          </a:p>
          <a:p>
            <a:pPr lvl="1"/>
            <a:r>
              <a:rPr lang="en-US">
                <a:cs typeface="Tahoma" pitchFamily="34" charset="0"/>
              </a:rPr>
              <a:t>This relationship is called the </a:t>
            </a:r>
            <a:r>
              <a:rPr lang="en-US" b="1">
                <a:cs typeface="Tahoma" pitchFamily="34" charset="0"/>
              </a:rPr>
              <a:t>Law of Reflection</a:t>
            </a:r>
            <a:endParaRPr lang="en-US">
              <a:cs typeface="Tahoma" pitchFamily="34" charset="0"/>
            </a:endParaRPr>
          </a:p>
          <a:p>
            <a:r>
              <a:rPr lang="en-US">
                <a:cs typeface="Tahoma" pitchFamily="34" charset="0"/>
              </a:rPr>
              <a:t>The incident ray, the reflected ray and the normal are all in the same plane</a:t>
            </a:r>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Footer Placeholder 4"/>
          <p:cNvSpPr>
            <a:spLocks noGrp="1"/>
          </p:cNvSpPr>
          <p:nvPr>
            <p:ph type="ftr" sz="quarter" idx="11"/>
          </p:nvPr>
        </p:nvSpPr>
        <p:spPr/>
        <p:txBody>
          <a:bodyPr/>
          <a:lstStyle/>
          <a:p>
            <a:r>
              <a:rPr lang="en-US"/>
              <a:t>R. Todd Lines</a:t>
            </a:r>
          </a:p>
        </p:txBody>
      </p:sp>
      <p:sp>
        <p:nvSpPr>
          <p:cNvPr id="25602" name="Rectangle 2"/>
          <p:cNvSpPr>
            <a:spLocks noGrp="1" noChangeArrowheads="1"/>
          </p:cNvSpPr>
          <p:nvPr>
            <p:ph type="title"/>
          </p:nvPr>
        </p:nvSpPr>
        <p:spPr/>
        <p:txBody>
          <a:bodyPr/>
          <a:lstStyle/>
          <a:p>
            <a:r>
              <a:rPr lang="en-US"/>
              <a:t>Retroreflection</a:t>
            </a:r>
          </a:p>
        </p:txBody>
      </p:sp>
      <p:sp>
        <p:nvSpPr>
          <p:cNvPr id="25603" name="Rectangle 3"/>
          <p:cNvSpPr>
            <a:spLocks noGrp="1" noChangeArrowheads="1"/>
          </p:cNvSpPr>
          <p:nvPr>
            <p:ph type="body" idx="1"/>
          </p:nvPr>
        </p:nvSpPr>
        <p:spPr>
          <a:xfrm>
            <a:off x="1981200" y="1600201"/>
            <a:ext cx="3733800" cy="4525963"/>
          </a:xfrm>
        </p:spPr>
        <p:txBody>
          <a:bodyPr/>
          <a:lstStyle/>
          <a:p>
            <a:pPr>
              <a:lnSpc>
                <a:spcPct val="90000"/>
              </a:lnSpc>
            </a:pPr>
            <a:r>
              <a:rPr lang="en-US"/>
              <a:t>Assume the angle between two mirrors is 90</a:t>
            </a:r>
            <a:r>
              <a:rPr lang="en-US" baseline="30000"/>
              <a:t>o</a:t>
            </a:r>
            <a:endParaRPr lang="en-US"/>
          </a:p>
          <a:p>
            <a:pPr>
              <a:lnSpc>
                <a:spcPct val="90000"/>
              </a:lnSpc>
            </a:pPr>
            <a:r>
              <a:rPr lang="en-US"/>
              <a:t>The reflected beam returns to the source parallel to its original path</a:t>
            </a:r>
          </a:p>
          <a:p>
            <a:pPr>
              <a:lnSpc>
                <a:spcPct val="90000"/>
              </a:lnSpc>
            </a:pPr>
            <a:r>
              <a:rPr lang="en-US"/>
              <a:t>This phenomenon is called </a:t>
            </a:r>
            <a:r>
              <a:rPr lang="en-US" i="1"/>
              <a:t>retroreflection</a:t>
            </a:r>
            <a:endParaRPr lang="en-US"/>
          </a:p>
          <a:p>
            <a:pPr>
              <a:lnSpc>
                <a:spcPct val="90000"/>
              </a:lnSpc>
            </a:pPr>
            <a:endParaRPr lang="en-US"/>
          </a:p>
        </p:txBody>
      </p:sp>
      <p:grpSp>
        <p:nvGrpSpPr>
          <p:cNvPr id="2" name="Group 4"/>
          <p:cNvGrpSpPr>
            <a:grpSpLocks/>
          </p:cNvGrpSpPr>
          <p:nvPr/>
        </p:nvGrpSpPr>
        <p:grpSpPr bwMode="auto">
          <a:xfrm>
            <a:off x="6781800" y="2057400"/>
            <a:ext cx="3505200" cy="3276600"/>
            <a:chOff x="3312" y="1296"/>
            <a:chExt cx="2208" cy="2064"/>
          </a:xfrm>
        </p:grpSpPr>
        <p:sp>
          <p:nvSpPr>
            <p:cNvPr id="25605" name="Rectangle 5"/>
            <p:cNvSpPr>
              <a:spLocks noChangeArrowheads="1"/>
            </p:cNvSpPr>
            <p:nvPr/>
          </p:nvSpPr>
          <p:spPr bwMode="auto">
            <a:xfrm>
              <a:off x="5280" y="3120"/>
              <a:ext cx="192" cy="192"/>
            </a:xfrm>
            <a:prstGeom prst="rect">
              <a:avLst/>
            </a:prstGeom>
            <a:noFill/>
            <a:ln w="9525" algn="ctr">
              <a:solidFill>
                <a:schemeClr val="tx1"/>
              </a:solidFill>
              <a:prstDash val="dash"/>
              <a:miter lim="800000"/>
              <a:headEnd/>
              <a:tailEnd/>
            </a:ln>
            <a:effectLst/>
          </p:spPr>
          <p:txBody>
            <a:bodyPr wrap="none" anchor="ctr"/>
            <a:lstStyle/>
            <a:p>
              <a:endParaRPr lang="en-US"/>
            </a:p>
          </p:txBody>
        </p:sp>
        <p:sp>
          <p:nvSpPr>
            <p:cNvPr id="25606" name="Rectangle 6"/>
            <p:cNvSpPr>
              <a:spLocks noChangeArrowheads="1"/>
            </p:cNvSpPr>
            <p:nvPr/>
          </p:nvSpPr>
          <p:spPr bwMode="auto">
            <a:xfrm>
              <a:off x="5472" y="1296"/>
              <a:ext cx="48" cy="2064"/>
            </a:xfrm>
            <a:prstGeom prst="rect">
              <a:avLst/>
            </a:prstGeom>
            <a:solidFill>
              <a:schemeClr val="accent1"/>
            </a:solidFill>
            <a:ln w="9525" algn="ctr">
              <a:solidFill>
                <a:schemeClr val="tx1"/>
              </a:solidFill>
              <a:miter lim="800000"/>
              <a:headEnd/>
              <a:tailEnd/>
            </a:ln>
            <a:effectLst/>
          </p:spPr>
          <p:txBody>
            <a:bodyPr wrap="none" anchor="ctr"/>
            <a:lstStyle/>
            <a:p>
              <a:endParaRPr lang="en-US"/>
            </a:p>
          </p:txBody>
        </p:sp>
        <p:sp>
          <p:nvSpPr>
            <p:cNvPr id="25607" name="Rectangle 7"/>
            <p:cNvSpPr>
              <a:spLocks noChangeArrowheads="1"/>
            </p:cNvSpPr>
            <p:nvPr/>
          </p:nvSpPr>
          <p:spPr bwMode="auto">
            <a:xfrm flipH="1" flipV="1">
              <a:off x="3456" y="3312"/>
              <a:ext cx="2016" cy="48"/>
            </a:xfrm>
            <a:prstGeom prst="rect">
              <a:avLst/>
            </a:prstGeom>
            <a:solidFill>
              <a:schemeClr val="accent1"/>
            </a:solidFill>
            <a:ln w="9525" algn="ctr">
              <a:solidFill>
                <a:schemeClr val="tx1"/>
              </a:solidFill>
              <a:miter lim="800000"/>
              <a:headEnd/>
              <a:tailEnd/>
            </a:ln>
            <a:effectLst/>
          </p:spPr>
          <p:txBody>
            <a:bodyPr wrap="none" anchor="ctr"/>
            <a:lstStyle/>
            <a:p>
              <a:endParaRPr lang="en-US"/>
            </a:p>
          </p:txBody>
        </p:sp>
        <p:sp>
          <p:nvSpPr>
            <p:cNvPr id="25608" name="Line 8"/>
            <p:cNvSpPr>
              <a:spLocks noChangeShapeType="1"/>
            </p:cNvSpPr>
            <p:nvPr/>
          </p:nvSpPr>
          <p:spPr bwMode="auto">
            <a:xfrm>
              <a:off x="3312" y="2640"/>
              <a:ext cx="1008" cy="672"/>
            </a:xfrm>
            <a:prstGeom prst="line">
              <a:avLst/>
            </a:prstGeom>
            <a:noFill/>
            <a:ln w="9525">
              <a:solidFill>
                <a:srgbClr val="FF0000"/>
              </a:solidFill>
              <a:miter lim="800000"/>
              <a:headEnd/>
              <a:tailEnd type="triangle" w="med" len="med"/>
            </a:ln>
            <a:effectLst/>
          </p:spPr>
          <p:txBody>
            <a:bodyPr wrap="none" anchor="ctr"/>
            <a:lstStyle/>
            <a:p>
              <a:endParaRPr lang="en-US"/>
            </a:p>
          </p:txBody>
        </p:sp>
        <p:sp>
          <p:nvSpPr>
            <p:cNvPr id="25609" name="Line 9"/>
            <p:cNvSpPr>
              <a:spLocks noChangeShapeType="1"/>
            </p:cNvSpPr>
            <p:nvPr/>
          </p:nvSpPr>
          <p:spPr bwMode="auto">
            <a:xfrm>
              <a:off x="4320" y="2736"/>
              <a:ext cx="0" cy="576"/>
            </a:xfrm>
            <a:prstGeom prst="line">
              <a:avLst/>
            </a:prstGeom>
            <a:noFill/>
            <a:ln w="9525">
              <a:solidFill>
                <a:schemeClr val="tx1"/>
              </a:solidFill>
              <a:prstDash val="dash"/>
              <a:miter lim="800000"/>
              <a:headEnd/>
              <a:tailEnd/>
            </a:ln>
            <a:effectLst/>
          </p:spPr>
          <p:txBody>
            <a:bodyPr wrap="none" anchor="ctr"/>
            <a:lstStyle/>
            <a:p>
              <a:endParaRPr lang="en-US"/>
            </a:p>
          </p:txBody>
        </p:sp>
        <p:sp>
          <p:nvSpPr>
            <p:cNvPr id="25610" name="Line 10"/>
            <p:cNvSpPr>
              <a:spLocks noChangeShapeType="1"/>
            </p:cNvSpPr>
            <p:nvPr/>
          </p:nvSpPr>
          <p:spPr bwMode="auto">
            <a:xfrm flipV="1">
              <a:off x="4320" y="2496"/>
              <a:ext cx="1152" cy="816"/>
            </a:xfrm>
            <a:prstGeom prst="line">
              <a:avLst/>
            </a:prstGeom>
            <a:noFill/>
            <a:ln w="9525">
              <a:solidFill>
                <a:srgbClr val="FF0000"/>
              </a:solidFill>
              <a:miter lim="800000"/>
              <a:headEnd/>
              <a:tailEnd type="triangle" w="med" len="med"/>
            </a:ln>
            <a:effectLst/>
          </p:spPr>
          <p:txBody>
            <a:bodyPr wrap="none" anchor="ctr"/>
            <a:lstStyle/>
            <a:p>
              <a:endParaRPr lang="en-US"/>
            </a:p>
          </p:txBody>
        </p:sp>
        <p:sp>
          <p:nvSpPr>
            <p:cNvPr id="25611" name="Line 11"/>
            <p:cNvSpPr>
              <a:spLocks noChangeShapeType="1"/>
            </p:cNvSpPr>
            <p:nvPr/>
          </p:nvSpPr>
          <p:spPr bwMode="auto">
            <a:xfrm>
              <a:off x="4896" y="2496"/>
              <a:ext cx="576" cy="0"/>
            </a:xfrm>
            <a:prstGeom prst="line">
              <a:avLst/>
            </a:prstGeom>
            <a:noFill/>
            <a:ln w="9525">
              <a:solidFill>
                <a:schemeClr val="tx1"/>
              </a:solidFill>
              <a:prstDash val="dash"/>
              <a:miter lim="800000"/>
              <a:headEnd/>
              <a:tailEnd/>
            </a:ln>
            <a:effectLst/>
          </p:spPr>
          <p:txBody>
            <a:bodyPr wrap="none" anchor="ctr"/>
            <a:lstStyle/>
            <a:p>
              <a:endParaRPr lang="en-US"/>
            </a:p>
          </p:txBody>
        </p:sp>
        <p:sp>
          <p:nvSpPr>
            <p:cNvPr id="25612" name="Line 12"/>
            <p:cNvSpPr>
              <a:spLocks noChangeShapeType="1"/>
            </p:cNvSpPr>
            <p:nvPr/>
          </p:nvSpPr>
          <p:spPr bwMode="auto">
            <a:xfrm flipH="1" flipV="1">
              <a:off x="4320" y="1680"/>
              <a:ext cx="1152" cy="816"/>
            </a:xfrm>
            <a:prstGeom prst="line">
              <a:avLst/>
            </a:prstGeom>
            <a:noFill/>
            <a:ln w="9525">
              <a:solidFill>
                <a:srgbClr val="FF0000"/>
              </a:solidFill>
              <a:miter lim="800000"/>
              <a:headEnd/>
              <a:tailEnd type="triangle" w="med" len="med"/>
            </a:ln>
            <a:effectLst/>
          </p:spPr>
          <p:txBody>
            <a:bodyPr wrap="none" anchor="ctr"/>
            <a:lstStyle/>
            <a:p>
              <a:endParaRPr lang="en-US"/>
            </a:p>
          </p:txBody>
        </p:sp>
        <p:sp>
          <p:nvSpPr>
            <p:cNvPr id="25613" name="Text Box 13"/>
            <p:cNvSpPr txBox="1">
              <a:spLocks noChangeArrowheads="1"/>
            </p:cNvSpPr>
            <p:nvPr/>
          </p:nvSpPr>
          <p:spPr bwMode="auto">
            <a:xfrm>
              <a:off x="3888" y="2640"/>
              <a:ext cx="244" cy="231"/>
            </a:xfrm>
            <a:prstGeom prst="rect">
              <a:avLst/>
            </a:prstGeom>
            <a:noFill/>
            <a:ln w="9525" algn="ctr">
              <a:noFill/>
              <a:miter lim="800000"/>
              <a:headEnd/>
              <a:tailEnd/>
            </a:ln>
            <a:effectLst/>
          </p:spPr>
          <p:txBody>
            <a:bodyPr wrap="none">
              <a:spAutoFit/>
            </a:bodyPr>
            <a:lstStyle/>
            <a:p>
              <a:r>
                <a:rPr lang="en-US">
                  <a:sym typeface="Symbol" pitchFamily="18" charset="2"/>
                </a:rPr>
                <a:t></a:t>
              </a:r>
              <a:r>
                <a:rPr lang="en-US" baseline="-25000">
                  <a:sym typeface="Symbol" pitchFamily="18" charset="2"/>
                </a:rPr>
                <a:t>1</a:t>
              </a:r>
            </a:p>
          </p:txBody>
        </p:sp>
        <p:sp>
          <p:nvSpPr>
            <p:cNvPr id="25614" name="Text Box 14"/>
            <p:cNvSpPr txBox="1">
              <a:spLocks noChangeArrowheads="1"/>
            </p:cNvSpPr>
            <p:nvPr/>
          </p:nvSpPr>
          <p:spPr bwMode="auto">
            <a:xfrm>
              <a:off x="4416" y="2736"/>
              <a:ext cx="244" cy="231"/>
            </a:xfrm>
            <a:prstGeom prst="rect">
              <a:avLst/>
            </a:prstGeom>
            <a:noFill/>
            <a:ln w="9525" algn="ctr">
              <a:noFill/>
              <a:miter lim="800000"/>
              <a:headEnd/>
              <a:tailEnd/>
            </a:ln>
            <a:effectLst/>
          </p:spPr>
          <p:txBody>
            <a:bodyPr wrap="none">
              <a:spAutoFit/>
            </a:bodyPr>
            <a:lstStyle/>
            <a:p>
              <a:r>
                <a:rPr lang="en-US">
                  <a:sym typeface="Symbol" pitchFamily="18" charset="2"/>
                </a:rPr>
                <a:t></a:t>
              </a:r>
              <a:r>
                <a:rPr lang="en-US" baseline="-25000">
                  <a:sym typeface="Symbol" pitchFamily="18" charset="2"/>
                </a:rPr>
                <a:t>2</a:t>
              </a:r>
            </a:p>
          </p:txBody>
        </p:sp>
        <p:sp>
          <p:nvSpPr>
            <p:cNvPr id="25615" name="Text Box 15"/>
            <p:cNvSpPr txBox="1">
              <a:spLocks noChangeArrowheads="1"/>
            </p:cNvSpPr>
            <p:nvPr/>
          </p:nvSpPr>
          <p:spPr bwMode="auto">
            <a:xfrm>
              <a:off x="4896" y="2496"/>
              <a:ext cx="244" cy="231"/>
            </a:xfrm>
            <a:prstGeom prst="rect">
              <a:avLst/>
            </a:prstGeom>
            <a:noFill/>
            <a:ln w="9525" algn="ctr">
              <a:noFill/>
              <a:miter lim="800000"/>
              <a:headEnd/>
              <a:tailEnd/>
            </a:ln>
            <a:effectLst/>
          </p:spPr>
          <p:txBody>
            <a:bodyPr wrap="none">
              <a:spAutoFit/>
            </a:bodyPr>
            <a:lstStyle/>
            <a:p>
              <a:r>
                <a:rPr lang="en-US">
                  <a:sym typeface="Symbol" pitchFamily="18" charset="2"/>
                </a:rPr>
                <a:t></a:t>
              </a:r>
              <a:r>
                <a:rPr lang="en-US" baseline="-25000">
                  <a:sym typeface="Symbol" pitchFamily="18" charset="2"/>
                </a:rPr>
                <a:t>3</a:t>
              </a:r>
            </a:p>
          </p:txBody>
        </p:sp>
        <p:sp>
          <p:nvSpPr>
            <p:cNvPr id="25616" name="Text Box 16"/>
            <p:cNvSpPr txBox="1">
              <a:spLocks noChangeArrowheads="1"/>
            </p:cNvSpPr>
            <p:nvPr/>
          </p:nvSpPr>
          <p:spPr bwMode="auto">
            <a:xfrm>
              <a:off x="4752" y="2160"/>
              <a:ext cx="244" cy="231"/>
            </a:xfrm>
            <a:prstGeom prst="rect">
              <a:avLst/>
            </a:prstGeom>
            <a:noFill/>
            <a:ln w="9525" algn="ctr">
              <a:noFill/>
              <a:miter lim="800000"/>
              <a:headEnd/>
              <a:tailEnd/>
            </a:ln>
            <a:effectLst/>
          </p:spPr>
          <p:txBody>
            <a:bodyPr wrap="none">
              <a:spAutoFit/>
            </a:bodyPr>
            <a:lstStyle/>
            <a:p>
              <a:r>
                <a:rPr lang="en-US">
                  <a:sym typeface="Symbol" pitchFamily="18" charset="2"/>
                </a:rPr>
                <a:t></a:t>
              </a:r>
              <a:r>
                <a:rPr lang="en-US" baseline="-25000">
                  <a:sym typeface="Symbol" pitchFamily="18" charset="2"/>
                </a:rPr>
                <a:t>4</a:t>
              </a:r>
            </a:p>
          </p:txBody>
        </p:sp>
        <p:sp>
          <p:nvSpPr>
            <p:cNvPr id="25617" name="Text Box 17"/>
            <p:cNvSpPr txBox="1">
              <a:spLocks noChangeArrowheads="1"/>
            </p:cNvSpPr>
            <p:nvPr/>
          </p:nvSpPr>
          <p:spPr bwMode="auto">
            <a:xfrm>
              <a:off x="4752" y="3072"/>
              <a:ext cx="207" cy="231"/>
            </a:xfrm>
            <a:prstGeom prst="rect">
              <a:avLst/>
            </a:prstGeom>
            <a:noFill/>
            <a:ln w="9525" algn="ctr">
              <a:noFill/>
              <a:miter lim="800000"/>
              <a:headEnd/>
              <a:tailEnd/>
            </a:ln>
            <a:effectLst/>
          </p:spPr>
          <p:txBody>
            <a:bodyPr wrap="none">
              <a:spAutoFit/>
            </a:bodyPr>
            <a:lstStyle/>
            <a:p>
              <a:r>
                <a:rPr lang="en-US" dirty="0">
                  <a:sym typeface="Symbol" pitchFamily="18" charset="2"/>
                </a:rPr>
                <a:t></a:t>
              </a:r>
            </a:p>
          </p:txBody>
        </p:sp>
        <p:sp>
          <p:nvSpPr>
            <p:cNvPr id="25618" name="Arc 18"/>
            <p:cNvSpPr>
              <a:spLocks/>
            </p:cNvSpPr>
            <p:nvPr/>
          </p:nvSpPr>
          <p:spPr bwMode="auto">
            <a:xfrm>
              <a:off x="4320" y="3024"/>
              <a:ext cx="240" cy="192"/>
            </a:xfrm>
            <a:custGeom>
              <a:avLst/>
              <a:gdLst>
                <a:gd name="G0" fmla="+- 0 0 0"/>
                <a:gd name="G1" fmla="+- 21600 0 0"/>
                <a:gd name="G2" fmla="+- 21600 0 0"/>
                <a:gd name="T0" fmla="*/ 0 w 18628"/>
                <a:gd name="T1" fmla="*/ 0 h 21600"/>
                <a:gd name="T2" fmla="*/ 18628 w 18628"/>
                <a:gd name="T3" fmla="*/ 10666 h 21600"/>
                <a:gd name="T4" fmla="*/ 0 w 18628"/>
                <a:gd name="T5" fmla="*/ 21600 h 21600"/>
              </a:gdLst>
              <a:ahLst/>
              <a:cxnLst>
                <a:cxn ang="0">
                  <a:pos x="T0" y="T1"/>
                </a:cxn>
                <a:cxn ang="0">
                  <a:pos x="T2" y="T3"/>
                </a:cxn>
                <a:cxn ang="0">
                  <a:pos x="T4" y="T5"/>
                </a:cxn>
              </a:cxnLst>
              <a:rect l="0" t="0" r="r" b="b"/>
              <a:pathLst>
                <a:path w="18628" h="21600" fill="none" extrusionOk="0">
                  <a:moveTo>
                    <a:pt x="-1" y="0"/>
                  </a:moveTo>
                  <a:cubicBezTo>
                    <a:pt x="7661" y="0"/>
                    <a:pt x="14749" y="4058"/>
                    <a:pt x="18628" y="10665"/>
                  </a:cubicBezTo>
                </a:path>
                <a:path w="18628" h="21600" stroke="0" extrusionOk="0">
                  <a:moveTo>
                    <a:pt x="-1" y="0"/>
                  </a:moveTo>
                  <a:cubicBezTo>
                    <a:pt x="7661" y="0"/>
                    <a:pt x="14749" y="4058"/>
                    <a:pt x="18628" y="10665"/>
                  </a:cubicBezTo>
                  <a:lnTo>
                    <a:pt x="0" y="21600"/>
                  </a:lnTo>
                  <a:close/>
                </a:path>
              </a:pathLst>
            </a:custGeom>
            <a:noFill/>
            <a:ln w="9525">
              <a:solidFill>
                <a:schemeClr val="tx1"/>
              </a:solidFill>
              <a:prstDash val="dash"/>
              <a:miter lim="800000"/>
              <a:headEnd type="arrow" w="med" len="med"/>
              <a:tailEnd type="arrow" w="med" len="med"/>
            </a:ln>
            <a:effectLst/>
          </p:spPr>
          <p:txBody>
            <a:bodyPr wrap="none" anchor="ctr"/>
            <a:lstStyle/>
            <a:p>
              <a:endParaRPr lang="en-US"/>
            </a:p>
          </p:txBody>
        </p:sp>
        <p:sp>
          <p:nvSpPr>
            <p:cNvPr id="25619" name="Arc 19"/>
            <p:cNvSpPr>
              <a:spLocks/>
            </p:cNvSpPr>
            <p:nvPr/>
          </p:nvSpPr>
          <p:spPr bwMode="auto">
            <a:xfrm>
              <a:off x="3961" y="2928"/>
              <a:ext cx="360" cy="144"/>
            </a:xfrm>
            <a:custGeom>
              <a:avLst/>
              <a:gdLst>
                <a:gd name="G0" fmla="+- 21351 0 0"/>
                <a:gd name="G1" fmla="+- 21600 0 0"/>
                <a:gd name="G2" fmla="+- 21600 0 0"/>
                <a:gd name="T0" fmla="*/ 0 w 25662"/>
                <a:gd name="T1" fmla="*/ 18328 h 21600"/>
                <a:gd name="T2" fmla="*/ 25662 w 25662"/>
                <a:gd name="T3" fmla="*/ 434 h 21600"/>
                <a:gd name="T4" fmla="*/ 21351 w 25662"/>
                <a:gd name="T5" fmla="*/ 21600 h 21600"/>
              </a:gdLst>
              <a:ahLst/>
              <a:cxnLst>
                <a:cxn ang="0">
                  <a:pos x="T0" y="T1"/>
                </a:cxn>
                <a:cxn ang="0">
                  <a:pos x="T2" y="T3"/>
                </a:cxn>
                <a:cxn ang="0">
                  <a:pos x="T4" y="T5"/>
                </a:cxn>
              </a:cxnLst>
              <a:rect l="0" t="0" r="r" b="b"/>
              <a:pathLst>
                <a:path w="25662" h="21600" fill="none" extrusionOk="0">
                  <a:moveTo>
                    <a:pt x="0" y="18328"/>
                  </a:moveTo>
                  <a:cubicBezTo>
                    <a:pt x="1615" y="7785"/>
                    <a:pt x="10685" y="-1"/>
                    <a:pt x="21351" y="0"/>
                  </a:cubicBezTo>
                  <a:cubicBezTo>
                    <a:pt x="22798" y="0"/>
                    <a:pt x="24243" y="145"/>
                    <a:pt x="25661" y="434"/>
                  </a:cubicBezTo>
                </a:path>
                <a:path w="25662" h="21600" stroke="0" extrusionOk="0">
                  <a:moveTo>
                    <a:pt x="0" y="18328"/>
                  </a:moveTo>
                  <a:cubicBezTo>
                    <a:pt x="1615" y="7785"/>
                    <a:pt x="10685" y="-1"/>
                    <a:pt x="21351" y="0"/>
                  </a:cubicBezTo>
                  <a:cubicBezTo>
                    <a:pt x="22798" y="0"/>
                    <a:pt x="24243" y="145"/>
                    <a:pt x="25661" y="434"/>
                  </a:cubicBezTo>
                  <a:lnTo>
                    <a:pt x="21351" y="21600"/>
                  </a:lnTo>
                  <a:close/>
                </a:path>
              </a:pathLst>
            </a:custGeom>
            <a:noFill/>
            <a:ln w="9525">
              <a:solidFill>
                <a:schemeClr val="tx1"/>
              </a:solidFill>
              <a:prstDash val="dash"/>
              <a:miter lim="800000"/>
              <a:headEnd type="arrow" w="med" len="med"/>
              <a:tailEnd type="arrow" w="med" len="med"/>
            </a:ln>
            <a:effectLst/>
          </p:spPr>
          <p:txBody>
            <a:bodyPr wrap="none" anchor="ctr"/>
            <a:lstStyle/>
            <a:p>
              <a:endParaRPr lang="en-US"/>
            </a:p>
          </p:txBody>
        </p:sp>
        <p:sp>
          <p:nvSpPr>
            <p:cNvPr id="25620" name="Arc 20"/>
            <p:cNvSpPr>
              <a:spLocks/>
            </p:cNvSpPr>
            <p:nvPr/>
          </p:nvSpPr>
          <p:spPr bwMode="auto">
            <a:xfrm>
              <a:off x="5088" y="2505"/>
              <a:ext cx="279" cy="181"/>
            </a:xfrm>
            <a:custGeom>
              <a:avLst/>
              <a:gdLst>
                <a:gd name="G0" fmla="+- 21600 0 0"/>
                <a:gd name="G1" fmla="+- 2711 0 0"/>
                <a:gd name="G2" fmla="+- 21600 0 0"/>
                <a:gd name="T0" fmla="*/ 9177 w 21600"/>
                <a:gd name="T1" fmla="*/ 20381 h 20381"/>
                <a:gd name="T2" fmla="*/ 171 w 21600"/>
                <a:gd name="T3" fmla="*/ 0 h 20381"/>
                <a:gd name="T4" fmla="*/ 21600 w 21600"/>
                <a:gd name="T5" fmla="*/ 2711 h 20381"/>
              </a:gdLst>
              <a:ahLst/>
              <a:cxnLst>
                <a:cxn ang="0">
                  <a:pos x="T0" y="T1"/>
                </a:cxn>
                <a:cxn ang="0">
                  <a:pos x="T2" y="T3"/>
                </a:cxn>
                <a:cxn ang="0">
                  <a:pos x="T4" y="T5"/>
                </a:cxn>
              </a:cxnLst>
              <a:rect l="0" t="0" r="r" b="b"/>
              <a:pathLst>
                <a:path w="21600" h="20381" fill="none" extrusionOk="0">
                  <a:moveTo>
                    <a:pt x="9176" y="20381"/>
                  </a:moveTo>
                  <a:cubicBezTo>
                    <a:pt x="3423" y="16336"/>
                    <a:pt x="0" y="9743"/>
                    <a:pt x="0" y="2711"/>
                  </a:cubicBezTo>
                  <a:cubicBezTo>
                    <a:pt x="-1" y="1804"/>
                    <a:pt x="57" y="899"/>
                    <a:pt x="170" y="-1"/>
                  </a:cubicBezTo>
                </a:path>
                <a:path w="21600" h="20381" stroke="0" extrusionOk="0">
                  <a:moveTo>
                    <a:pt x="9176" y="20381"/>
                  </a:moveTo>
                  <a:cubicBezTo>
                    <a:pt x="3423" y="16336"/>
                    <a:pt x="0" y="9743"/>
                    <a:pt x="0" y="2711"/>
                  </a:cubicBezTo>
                  <a:cubicBezTo>
                    <a:pt x="-1" y="1804"/>
                    <a:pt x="57" y="899"/>
                    <a:pt x="170" y="-1"/>
                  </a:cubicBezTo>
                  <a:lnTo>
                    <a:pt x="21600" y="2711"/>
                  </a:lnTo>
                  <a:close/>
                </a:path>
              </a:pathLst>
            </a:custGeom>
            <a:noFill/>
            <a:ln w="9525">
              <a:solidFill>
                <a:schemeClr val="tx1"/>
              </a:solidFill>
              <a:prstDash val="dash"/>
              <a:miter lim="800000"/>
              <a:headEnd type="arrow" w="med" len="med"/>
              <a:tailEnd type="arrow" w="med" len="med"/>
            </a:ln>
            <a:effectLst/>
          </p:spPr>
          <p:txBody>
            <a:bodyPr wrap="none" anchor="ctr"/>
            <a:lstStyle/>
            <a:p>
              <a:endParaRPr lang="en-US"/>
            </a:p>
          </p:txBody>
        </p:sp>
        <p:sp>
          <p:nvSpPr>
            <p:cNvPr id="25621" name="Arc 21"/>
            <p:cNvSpPr>
              <a:spLocks/>
            </p:cNvSpPr>
            <p:nvPr/>
          </p:nvSpPr>
          <p:spPr bwMode="auto">
            <a:xfrm>
              <a:off x="5040" y="2292"/>
              <a:ext cx="279" cy="197"/>
            </a:xfrm>
            <a:custGeom>
              <a:avLst/>
              <a:gdLst>
                <a:gd name="G0" fmla="+- 21600 0 0"/>
                <a:gd name="G1" fmla="+- 17308 0 0"/>
                <a:gd name="G2" fmla="+- 21600 0 0"/>
                <a:gd name="T0" fmla="*/ 546 w 21600"/>
                <a:gd name="T1" fmla="*/ 22132 h 22132"/>
                <a:gd name="T2" fmla="*/ 8678 w 21600"/>
                <a:gd name="T3" fmla="*/ 0 h 22132"/>
                <a:gd name="T4" fmla="*/ 21600 w 21600"/>
                <a:gd name="T5" fmla="*/ 17308 h 22132"/>
              </a:gdLst>
              <a:ahLst/>
              <a:cxnLst>
                <a:cxn ang="0">
                  <a:pos x="T0" y="T1"/>
                </a:cxn>
                <a:cxn ang="0">
                  <a:pos x="T2" y="T3"/>
                </a:cxn>
                <a:cxn ang="0">
                  <a:pos x="T4" y="T5"/>
                </a:cxn>
              </a:cxnLst>
              <a:rect l="0" t="0" r="r" b="b"/>
              <a:pathLst>
                <a:path w="21600" h="22132" fill="none" extrusionOk="0">
                  <a:moveTo>
                    <a:pt x="545" y="22132"/>
                  </a:moveTo>
                  <a:cubicBezTo>
                    <a:pt x="183" y="20549"/>
                    <a:pt x="0" y="18931"/>
                    <a:pt x="0" y="17308"/>
                  </a:cubicBezTo>
                  <a:cubicBezTo>
                    <a:pt x="-1" y="10492"/>
                    <a:pt x="3216" y="4077"/>
                    <a:pt x="8677" y="-1"/>
                  </a:cubicBezTo>
                </a:path>
                <a:path w="21600" h="22132" stroke="0" extrusionOk="0">
                  <a:moveTo>
                    <a:pt x="545" y="22132"/>
                  </a:moveTo>
                  <a:cubicBezTo>
                    <a:pt x="183" y="20549"/>
                    <a:pt x="0" y="18931"/>
                    <a:pt x="0" y="17308"/>
                  </a:cubicBezTo>
                  <a:cubicBezTo>
                    <a:pt x="-1" y="10492"/>
                    <a:pt x="3216" y="4077"/>
                    <a:pt x="8677" y="-1"/>
                  </a:cubicBezTo>
                  <a:lnTo>
                    <a:pt x="21600" y="17308"/>
                  </a:lnTo>
                  <a:close/>
                </a:path>
              </a:pathLst>
            </a:custGeom>
            <a:noFill/>
            <a:ln w="9525">
              <a:solidFill>
                <a:schemeClr val="tx1"/>
              </a:solidFill>
              <a:prstDash val="dash"/>
              <a:miter lim="800000"/>
              <a:headEnd type="arrow" w="med" len="med"/>
              <a:tailEnd type="arrow" w="med" len="med"/>
            </a:ln>
            <a:effectLst/>
          </p:spPr>
          <p:txBody>
            <a:bodyPr wrap="none" anchor="ctr"/>
            <a:lstStyle/>
            <a:p>
              <a:endParaRPr lang="en-US"/>
            </a:p>
          </p:txBody>
        </p:sp>
        <p:sp>
          <p:nvSpPr>
            <p:cNvPr id="25622" name="Arc 22"/>
            <p:cNvSpPr>
              <a:spLocks/>
            </p:cNvSpPr>
            <p:nvPr/>
          </p:nvSpPr>
          <p:spPr bwMode="auto">
            <a:xfrm>
              <a:off x="4464" y="3072"/>
              <a:ext cx="278" cy="212"/>
            </a:xfrm>
            <a:custGeom>
              <a:avLst/>
              <a:gdLst>
                <a:gd name="G0" fmla="+- 0 0 0"/>
                <a:gd name="G1" fmla="+- 12454 0 0"/>
                <a:gd name="G2" fmla="+- 21600 0 0"/>
                <a:gd name="T0" fmla="*/ 17648 w 21600"/>
                <a:gd name="T1" fmla="*/ 0 h 23846"/>
                <a:gd name="T2" fmla="*/ 18351 w 21600"/>
                <a:gd name="T3" fmla="*/ 23846 h 23846"/>
                <a:gd name="T4" fmla="*/ 0 w 21600"/>
                <a:gd name="T5" fmla="*/ 12454 h 23846"/>
              </a:gdLst>
              <a:ahLst/>
              <a:cxnLst>
                <a:cxn ang="0">
                  <a:pos x="T0" y="T1"/>
                </a:cxn>
                <a:cxn ang="0">
                  <a:pos x="T2" y="T3"/>
                </a:cxn>
                <a:cxn ang="0">
                  <a:pos x="T4" y="T5"/>
                </a:cxn>
              </a:cxnLst>
              <a:rect l="0" t="0" r="r" b="b"/>
              <a:pathLst>
                <a:path w="21600" h="23846" fill="none" extrusionOk="0">
                  <a:moveTo>
                    <a:pt x="17648" y="-1"/>
                  </a:moveTo>
                  <a:cubicBezTo>
                    <a:pt x="20219" y="3643"/>
                    <a:pt x="21600" y="7994"/>
                    <a:pt x="21600" y="12454"/>
                  </a:cubicBezTo>
                  <a:cubicBezTo>
                    <a:pt x="21600" y="16479"/>
                    <a:pt x="20474" y="20425"/>
                    <a:pt x="18351" y="23846"/>
                  </a:cubicBezTo>
                </a:path>
                <a:path w="21600" h="23846" stroke="0" extrusionOk="0">
                  <a:moveTo>
                    <a:pt x="17648" y="-1"/>
                  </a:moveTo>
                  <a:cubicBezTo>
                    <a:pt x="20219" y="3643"/>
                    <a:pt x="21600" y="7994"/>
                    <a:pt x="21600" y="12454"/>
                  </a:cubicBezTo>
                  <a:cubicBezTo>
                    <a:pt x="21600" y="16479"/>
                    <a:pt x="20474" y="20425"/>
                    <a:pt x="18351" y="23846"/>
                  </a:cubicBezTo>
                  <a:lnTo>
                    <a:pt x="0" y="12454"/>
                  </a:lnTo>
                  <a:close/>
                </a:path>
              </a:pathLst>
            </a:custGeom>
            <a:noFill/>
            <a:ln w="9525">
              <a:solidFill>
                <a:schemeClr val="tx1"/>
              </a:solidFill>
              <a:prstDash val="dash"/>
              <a:miter lim="800000"/>
              <a:headEnd type="arrow" w="med" len="med"/>
              <a:tailEnd type="arrow" w="med" len="med"/>
            </a:ln>
            <a:effectLst/>
          </p:spPr>
          <p:txBody>
            <a:bodyPr wrap="none" anchor="ctr"/>
            <a:lstStyle/>
            <a:p>
              <a:endParaRPr lang="en-US"/>
            </a:p>
          </p:txBody>
        </p:sp>
      </p:grpSp>
      <p:sp>
        <p:nvSpPr>
          <p:cNvPr id="3" name="Text Box 17">
            <a:extLst>
              <a:ext uri="{FF2B5EF4-FFF2-40B4-BE49-F238E27FC236}">
                <a16:creationId xmlns:a16="http://schemas.microsoft.com/office/drawing/2014/main" id="{3321F81E-DCAF-C7D8-16EF-9021441D6063}"/>
              </a:ext>
            </a:extLst>
          </p:cNvPr>
          <p:cNvSpPr txBox="1">
            <a:spLocks noChangeArrowheads="1"/>
          </p:cNvSpPr>
          <p:nvPr/>
        </p:nvSpPr>
        <p:spPr bwMode="auto">
          <a:xfrm>
            <a:off x="9910762" y="4145756"/>
            <a:ext cx="311304" cy="369332"/>
          </a:xfrm>
          <a:prstGeom prst="rect">
            <a:avLst/>
          </a:prstGeom>
          <a:noFill/>
          <a:ln w="9525" algn="ctr">
            <a:noFill/>
            <a:miter lim="800000"/>
            <a:headEnd/>
            <a:tailEnd/>
          </a:ln>
          <a:effectLst/>
        </p:spPr>
        <p:txBody>
          <a:bodyPr wrap="none">
            <a:spAutoFit/>
          </a:bodyPr>
          <a:lstStyle/>
          <a:p>
            <a:r>
              <a:rPr lang="en-US" dirty="0">
                <a:sym typeface="Symbol" panose="05050102010706020507" pitchFamily="18" charset="2"/>
              </a:rPr>
              <a:t></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Footer Placeholder 4"/>
          <p:cNvSpPr>
            <a:spLocks noGrp="1"/>
          </p:cNvSpPr>
          <p:nvPr>
            <p:ph type="ftr" sz="quarter" idx="11"/>
          </p:nvPr>
        </p:nvSpPr>
        <p:spPr/>
        <p:txBody>
          <a:bodyPr/>
          <a:lstStyle/>
          <a:p>
            <a:r>
              <a:rPr lang="en-US"/>
              <a:t>R. Todd Lines</a:t>
            </a:r>
          </a:p>
        </p:txBody>
      </p:sp>
      <p:sp>
        <p:nvSpPr>
          <p:cNvPr id="90114" name="Rectangle 2"/>
          <p:cNvSpPr>
            <a:spLocks noGrp="1" noChangeArrowheads="1"/>
          </p:cNvSpPr>
          <p:nvPr>
            <p:ph type="title"/>
          </p:nvPr>
        </p:nvSpPr>
        <p:spPr/>
        <p:txBody>
          <a:bodyPr/>
          <a:lstStyle/>
          <a:p>
            <a:r>
              <a:rPr lang="en-US"/>
              <a:t>Retroreflectors</a:t>
            </a:r>
          </a:p>
        </p:txBody>
      </p:sp>
      <p:sp>
        <p:nvSpPr>
          <p:cNvPr id="90115" name="Rectangle 3"/>
          <p:cNvSpPr>
            <a:spLocks noGrp="1" noChangeArrowheads="1"/>
          </p:cNvSpPr>
          <p:nvPr>
            <p:ph type="body" idx="1"/>
          </p:nvPr>
        </p:nvSpPr>
        <p:spPr/>
        <p:txBody>
          <a:bodyPr/>
          <a:lstStyle/>
          <a:p>
            <a:endParaRPr lang="en-US"/>
          </a:p>
        </p:txBody>
      </p:sp>
      <p:pic>
        <p:nvPicPr>
          <p:cNvPr id="90116" name="Picture 4" descr="crn_cbe"/>
          <p:cNvPicPr>
            <a:picLocks noChangeAspect="1" noChangeArrowheads="1"/>
          </p:cNvPicPr>
          <p:nvPr/>
        </p:nvPicPr>
        <p:blipFill>
          <a:blip r:embed="rId2" cstate="print"/>
          <a:srcRect/>
          <a:stretch>
            <a:fillRect/>
          </a:stretch>
        </p:blipFill>
        <p:spPr bwMode="auto">
          <a:xfrm>
            <a:off x="1981200" y="2133600"/>
            <a:ext cx="3962400" cy="2971800"/>
          </a:xfrm>
          <a:prstGeom prst="rect">
            <a:avLst/>
          </a:prstGeom>
          <a:noFill/>
        </p:spPr>
      </p:pic>
      <p:pic>
        <p:nvPicPr>
          <p:cNvPr id="90119" name="Picture 7" descr="reflector"/>
          <p:cNvPicPr>
            <a:picLocks noChangeAspect="1" noChangeArrowheads="1"/>
          </p:cNvPicPr>
          <p:nvPr/>
        </p:nvPicPr>
        <p:blipFill>
          <a:blip r:embed="rId3" cstate="print"/>
          <a:srcRect/>
          <a:stretch>
            <a:fillRect/>
          </a:stretch>
        </p:blipFill>
        <p:spPr bwMode="auto">
          <a:xfrm>
            <a:off x="6248400" y="2133600"/>
            <a:ext cx="3962400" cy="3062288"/>
          </a:xfrm>
          <a:prstGeom prst="rect">
            <a:avLst/>
          </a:prstGeom>
          <a:noFill/>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Footer Placeholder 4"/>
          <p:cNvSpPr>
            <a:spLocks noGrp="1"/>
          </p:cNvSpPr>
          <p:nvPr>
            <p:ph type="ftr" sz="quarter" idx="11"/>
          </p:nvPr>
        </p:nvSpPr>
        <p:spPr/>
        <p:txBody>
          <a:bodyPr/>
          <a:lstStyle/>
          <a:p>
            <a:r>
              <a:rPr lang="en-US"/>
              <a:t>R. Todd Lines</a:t>
            </a:r>
          </a:p>
        </p:txBody>
      </p:sp>
      <p:sp>
        <p:nvSpPr>
          <p:cNvPr id="91138" name="Rectangle 2"/>
          <p:cNvSpPr>
            <a:spLocks noGrp="1" noChangeArrowheads="1"/>
          </p:cNvSpPr>
          <p:nvPr>
            <p:ph type="title"/>
          </p:nvPr>
        </p:nvSpPr>
        <p:spPr/>
        <p:txBody>
          <a:bodyPr/>
          <a:lstStyle/>
          <a:p>
            <a:r>
              <a:rPr lang="en-US"/>
              <a:t>Apollo Retro-reflectors</a:t>
            </a:r>
          </a:p>
        </p:txBody>
      </p:sp>
      <p:sp>
        <p:nvSpPr>
          <p:cNvPr id="91139" name="Rectangle 3"/>
          <p:cNvSpPr>
            <a:spLocks noGrp="1" noChangeArrowheads="1"/>
          </p:cNvSpPr>
          <p:nvPr>
            <p:ph type="body" idx="1"/>
          </p:nvPr>
        </p:nvSpPr>
        <p:spPr/>
        <p:txBody>
          <a:bodyPr/>
          <a:lstStyle/>
          <a:p>
            <a:endParaRPr lang="en-US"/>
          </a:p>
        </p:txBody>
      </p:sp>
      <p:pic>
        <p:nvPicPr>
          <p:cNvPr id="91140" name="Picture 4" descr="moon_annotate"/>
          <p:cNvPicPr>
            <a:picLocks noChangeAspect="1" noChangeArrowheads="1"/>
          </p:cNvPicPr>
          <p:nvPr/>
        </p:nvPicPr>
        <p:blipFill>
          <a:blip r:embed="rId2" cstate="print"/>
          <a:srcRect/>
          <a:stretch>
            <a:fillRect/>
          </a:stretch>
        </p:blipFill>
        <p:spPr bwMode="auto">
          <a:xfrm>
            <a:off x="2438401" y="1219201"/>
            <a:ext cx="5305425" cy="4962525"/>
          </a:xfrm>
          <a:prstGeom prst="rect">
            <a:avLst/>
          </a:prstGeom>
          <a:noFill/>
        </p:spPr>
      </p:pic>
      <p:pic>
        <p:nvPicPr>
          <p:cNvPr id="91141" name="Picture 5" descr="lunar_reflector"/>
          <p:cNvPicPr>
            <a:picLocks noChangeAspect="1" noChangeArrowheads="1"/>
          </p:cNvPicPr>
          <p:nvPr/>
        </p:nvPicPr>
        <p:blipFill>
          <a:blip r:embed="rId3" cstate="print"/>
          <a:srcRect/>
          <a:stretch>
            <a:fillRect/>
          </a:stretch>
        </p:blipFill>
        <p:spPr bwMode="auto">
          <a:xfrm>
            <a:off x="6553200" y="1447800"/>
            <a:ext cx="2673350" cy="2743200"/>
          </a:xfrm>
          <a:prstGeom prst="rect">
            <a:avLst/>
          </a:prstGeom>
          <a:noFill/>
        </p:spPr>
      </p:pic>
      <p:pic>
        <p:nvPicPr>
          <p:cNvPr id="91142" name="Picture 6" descr="A15_LRRRfull"/>
          <p:cNvPicPr>
            <a:picLocks noChangeAspect="1" noChangeArrowheads="1"/>
          </p:cNvPicPr>
          <p:nvPr/>
        </p:nvPicPr>
        <p:blipFill>
          <a:blip r:embed="rId4" cstate="print"/>
          <a:srcRect/>
          <a:stretch>
            <a:fillRect/>
          </a:stretch>
        </p:blipFill>
        <p:spPr bwMode="auto">
          <a:xfrm>
            <a:off x="7467601" y="3276601"/>
            <a:ext cx="2747963" cy="2790825"/>
          </a:xfrm>
          <a:prstGeom prst="rect">
            <a:avLst/>
          </a:prstGeom>
          <a:noFill/>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Footer Placeholder 4"/>
          <p:cNvSpPr>
            <a:spLocks noGrp="1"/>
          </p:cNvSpPr>
          <p:nvPr>
            <p:ph type="ftr" sz="quarter" idx="11"/>
          </p:nvPr>
        </p:nvSpPr>
        <p:spPr/>
        <p:txBody>
          <a:bodyPr/>
          <a:lstStyle/>
          <a:p>
            <a:r>
              <a:rPr lang="en-US"/>
              <a:t>R. Todd Lines</a:t>
            </a:r>
          </a:p>
        </p:txBody>
      </p:sp>
      <p:sp>
        <p:nvSpPr>
          <p:cNvPr id="174082" name="Rectangle 2"/>
          <p:cNvSpPr>
            <a:spLocks noGrp="1" noChangeArrowheads="1"/>
          </p:cNvSpPr>
          <p:nvPr>
            <p:ph type="title"/>
          </p:nvPr>
        </p:nvSpPr>
        <p:spPr/>
        <p:txBody>
          <a:bodyPr/>
          <a:lstStyle/>
          <a:p>
            <a:r>
              <a:rPr lang="en-US"/>
              <a:t>Try it at Home</a:t>
            </a:r>
          </a:p>
        </p:txBody>
      </p:sp>
      <p:sp>
        <p:nvSpPr>
          <p:cNvPr id="174083" name="Rectangle 3"/>
          <p:cNvSpPr>
            <a:spLocks noGrp="1" noChangeArrowheads="1"/>
          </p:cNvSpPr>
          <p:nvPr>
            <p:ph type="body" idx="1"/>
          </p:nvPr>
        </p:nvSpPr>
        <p:spPr>
          <a:xfrm>
            <a:off x="1981200" y="1600201"/>
            <a:ext cx="3581400" cy="4525963"/>
          </a:xfrm>
        </p:spPr>
        <p:txBody>
          <a:bodyPr/>
          <a:lstStyle/>
          <a:p>
            <a:r>
              <a:rPr lang="en-US"/>
              <a:t>Amateur Radio Moonbounce Communication</a:t>
            </a:r>
          </a:p>
        </p:txBody>
      </p:sp>
      <p:pic>
        <p:nvPicPr>
          <p:cNvPr id="174084" name="Picture 4" descr="W5UN-QSL"/>
          <p:cNvPicPr>
            <a:picLocks noChangeAspect="1" noChangeArrowheads="1"/>
          </p:cNvPicPr>
          <p:nvPr/>
        </p:nvPicPr>
        <p:blipFill>
          <a:blip r:embed="rId2" cstate="print"/>
          <a:srcRect/>
          <a:stretch>
            <a:fillRect/>
          </a:stretch>
        </p:blipFill>
        <p:spPr bwMode="auto">
          <a:xfrm>
            <a:off x="5486400" y="1371601"/>
            <a:ext cx="4800600" cy="3071813"/>
          </a:xfrm>
          <a:prstGeom prst="rect">
            <a:avLst/>
          </a:prstGeom>
          <a:noFill/>
        </p:spPr>
      </p:pic>
      <p:pic>
        <p:nvPicPr>
          <p:cNvPr id="174085" name="Picture 5" descr="SM2CEW-antenna"/>
          <p:cNvPicPr>
            <a:picLocks noChangeAspect="1" noChangeArrowheads="1"/>
          </p:cNvPicPr>
          <p:nvPr/>
        </p:nvPicPr>
        <p:blipFill>
          <a:blip r:embed="rId3" cstate="print"/>
          <a:srcRect/>
          <a:stretch>
            <a:fillRect/>
          </a:stretch>
        </p:blipFill>
        <p:spPr bwMode="auto">
          <a:xfrm>
            <a:off x="6934200" y="4267200"/>
            <a:ext cx="3124200" cy="2349500"/>
          </a:xfrm>
          <a:prstGeom prst="rect">
            <a:avLst/>
          </a:prstGeom>
          <a:noFill/>
        </p:spPr>
      </p:pic>
      <p:pic>
        <p:nvPicPr>
          <p:cNvPr id="174087" name="Picture 7" descr="SM2CEW-Shack-lrg"/>
          <p:cNvPicPr>
            <a:picLocks noChangeAspect="1" noChangeArrowheads="1"/>
          </p:cNvPicPr>
          <p:nvPr/>
        </p:nvPicPr>
        <p:blipFill>
          <a:blip r:embed="rId4" cstate="print"/>
          <a:srcRect/>
          <a:stretch>
            <a:fillRect/>
          </a:stretch>
        </p:blipFill>
        <p:spPr bwMode="auto">
          <a:xfrm>
            <a:off x="1981200" y="3276600"/>
            <a:ext cx="3657600" cy="2743200"/>
          </a:xfrm>
          <a:prstGeom prst="rect">
            <a:avLst/>
          </a:prstGeom>
          <a:noFill/>
        </p:spPr>
      </p:pic>
      <p:sp>
        <p:nvSpPr>
          <p:cNvPr id="174088" name="Rectangle 8"/>
          <p:cNvSpPr>
            <a:spLocks noChangeArrowheads="1"/>
          </p:cNvSpPr>
          <p:nvPr/>
        </p:nvSpPr>
        <p:spPr bwMode="auto">
          <a:xfrm>
            <a:off x="1752600" y="6172200"/>
            <a:ext cx="3352800" cy="457200"/>
          </a:xfrm>
          <a:prstGeom prst="rect">
            <a:avLst/>
          </a:prstGeom>
          <a:noFill/>
          <a:ln w="9525" algn="ctr">
            <a:noFill/>
            <a:miter lim="800000"/>
            <a:headEnd/>
            <a:tailEnd/>
          </a:ln>
          <a:effectLst/>
        </p:spPr>
        <p:txBody>
          <a:bodyPr>
            <a:spAutoFit/>
          </a:bodyPr>
          <a:lstStyle/>
          <a:p>
            <a:r>
              <a:rPr lang="en-US" sz="1200"/>
              <a:t>http://www.arrl.org/news/features/2002/01/21/1/</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Footer Placeholder 4"/>
          <p:cNvSpPr>
            <a:spLocks noGrp="1"/>
          </p:cNvSpPr>
          <p:nvPr>
            <p:ph type="ftr" sz="quarter" idx="11"/>
          </p:nvPr>
        </p:nvSpPr>
        <p:spPr/>
        <p:txBody>
          <a:bodyPr/>
          <a:lstStyle/>
          <a:p>
            <a:r>
              <a:rPr lang="en-US"/>
              <a:t>R. Todd Lines</a:t>
            </a:r>
          </a:p>
        </p:txBody>
      </p:sp>
      <p:sp>
        <p:nvSpPr>
          <p:cNvPr id="89090" name="Rectangle 2"/>
          <p:cNvSpPr>
            <a:spLocks noGrp="1" noChangeArrowheads="1"/>
          </p:cNvSpPr>
          <p:nvPr>
            <p:ph type="title"/>
          </p:nvPr>
        </p:nvSpPr>
        <p:spPr/>
        <p:txBody>
          <a:bodyPr/>
          <a:lstStyle/>
          <a:p>
            <a:r>
              <a:rPr lang="en-US"/>
              <a:t>Micro Mirror Arrays</a:t>
            </a:r>
          </a:p>
        </p:txBody>
      </p:sp>
      <p:sp>
        <p:nvSpPr>
          <p:cNvPr id="89091" name="Rectangle 3"/>
          <p:cNvSpPr>
            <a:spLocks noGrp="1" noChangeArrowheads="1"/>
          </p:cNvSpPr>
          <p:nvPr>
            <p:ph type="body" idx="1"/>
          </p:nvPr>
        </p:nvSpPr>
        <p:spPr>
          <a:xfrm>
            <a:off x="1905000" y="1295401"/>
            <a:ext cx="8229600" cy="2239963"/>
          </a:xfrm>
        </p:spPr>
        <p:txBody>
          <a:bodyPr/>
          <a:lstStyle/>
          <a:p>
            <a:r>
              <a:rPr lang="en-US"/>
              <a:t>A high-tech example is the new micro-mirror arrays</a:t>
            </a:r>
          </a:p>
          <a:p>
            <a:pPr lvl="1"/>
            <a:r>
              <a:rPr lang="en-US"/>
              <a:t>ITT version</a:t>
            </a:r>
          </a:p>
          <a:p>
            <a:pPr lvl="1"/>
            <a:endParaRPr lang="en-US"/>
          </a:p>
        </p:txBody>
      </p:sp>
      <p:pic>
        <p:nvPicPr>
          <p:cNvPr id="89092" name="Picture 4"/>
          <p:cNvPicPr>
            <a:picLocks noChangeAspect="1" noChangeArrowheads="1"/>
          </p:cNvPicPr>
          <p:nvPr/>
        </p:nvPicPr>
        <p:blipFill>
          <a:blip r:embed="rId2" cstate="print"/>
          <a:srcRect/>
          <a:stretch>
            <a:fillRect/>
          </a:stretch>
        </p:blipFill>
        <p:spPr bwMode="auto">
          <a:xfrm>
            <a:off x="5029201" y="4343401"/>
            <a:ext cx="2219325" cy="1000125"/>
          </a:xfrm>
          <a:prstGeom prst="rect">
            <a:avLst/>
          </a:prstGeom>
          <a:noFill/>
          <a:ln w="12700">
            <a:noFill/>
            <a:miter lim="800000"/>
            <a:headEnd type="none" w="sm" len="sm"/>
            <a:tailEnd type="none" w="sm" len="sm"/>
          </a:ln>
          <a:effectLst/>
        </p:spPr>
      </p:pic>
      <p:pic>
        <p:nvPicPr>
          <p:cNvPr id="89093" name="Picture 5"/>
          <p:cNvPicPr>
            <a:picLocks noChangeAspect="1" noChangeArrowheads="1"/>
          </p:cNvPicPr>
          <p:nvPr/>
        </p:nvPicPr>
        <p:blipFill>
          <a:blip r:embed="rId3" cstate="print"/>
          <a:srcRect/>
          <a:stretch>
            <a:fillRect/>
          </a:stretch>
        </p:blipFill>
        <p:spPr bwMode="auto">
          <a:xfrm>
            <a:off x="2314575" y="4391025"/>
            <a:ext cx="2209800" cy="952500"/>
          </a:xfrm>
          <a:prstGeom prst="rect">
            <a:avLst/>
          </a:prstGeom>
          <a:noFill/>
          <a:ln w="12700">
            <a:noFill/>
            <a:miter lim="800000"/>
            <a:headEnd type="none" w="sm" len="sm"/>
            <a:tailEnd type="none" w="sm" len="sm"/>
          </a:ln>
          <a:effectLst/>
        </p:spPr>
      </p:pic>
      <p:sp>
        <p:nvSpPr>
          <p:cNvPr id="89094" name="Freeform 6"/>
          <p:cNvSpPr>
            <a:spLocks/>
          </p:cNvSpPr>
          <p:nvPr/>
        </p:nvSpPr>
        <p:spPr bwMode="auto">
          <a:xfrm>
            <a:off x="2168525" y="4622801"/>
            <a:ext cx="268288" cy="555625"/>
          </a:xfrm>
          <a:custGeom>
            <a:avLst/>
            <a:gdLst/>
            <a:ahLst/>
            <a:cxnLst>
              <a:cxn ang="0">
                <a:pos x="234" y="97"/>
              </a:cxn>
              <a:cxn ang="0">
                <a:pos x="0" y="0"/>
              </a:cxn>
              <a:cxn ang="0">
                <a:pos x="0" y="1255"/>
              </a:cxn>
              <a:cxn ang="0">
                <a:pos x="290" y="1380"/>
              </a:cxn>
            </a:cxnLst>
            <a:rect l="0" t="0" r="r" b="b"/>
            <a:pathLst>
              <a:path w="291" h="1381">
                <a:moveTo>
                  <a:pt x="234" y="97"/>
                </a:moveTo>
                <a:lnTo>
                  <a:pt x="0" y="0"/>
                </a:lnTo>
                <a:lnTo>
                  <a:pt x="0" y="1255"/>
                </a:lnTo>
                <a:lnTo>
                  <a:pt x="290" y="1380"/>
                </a:lnTo>
              </a:path>
            </a:pathLst>
          </a:custGeom>
          <a:noFill/>
          <a:ln w="25400" cap="rnd" cmpd="sng">
            <a:solidFill>
              <a:schemeClr val="bg2"/>
            </a:solidFill>
            <a:prstDash val="solid"/>
            <a:round/>
            <a:headEnd type="none" w="sm" len="sm"/>
            <a:tailEnd type="none" w="sm" len="sm"/>
          </a:ln>
          <a:effectLst/>
        </p:spPr>
        <p:txBody>
          <a:bodyPr/>
          <a:lstStyle/>
          <a:p>
            <a:endParaRPr lang="en-US"/>
          </a:p>
        </p:txBody>
      </p:sp>
      <p:sp>
        <p:nvSpPr>
          <p:cNvPr id="89095" name="Line 7"/>
          <p:cNvSpPr>
            <a:spLocks noChangeShapeType="1"/>
          </p:cNvSpPr>
          <p:nvPr/>
        </p:nvSpPr>
        <p:spPr bwMode="auto">
          <a:xfrm>
            <a:off x="2168525" y="5019675"/>
            <a:ext cx="1588" cy="463550"/>
          </a:xfrm>
          <a:prstGeom prst="line">
            <a:avLst/>
          </a:prstGeom>
          <a:noFill/>
          <a:ln w="25400">
            <a:solidFill>
              <a:schemeClr val="bg2"/>
            </a:solidFill>
            <a:round/>
            <a:headEnd type="none" w="sm" len="sm"/>
            <a:tailEnd type="none" w="sm" len="sm"/>
          </a:ln>
          <a:effectLst/>
        </p:spPr>
        <p:txBody>
          <a:bodyPr/>
          <a:lstStyle/>
          <a:p>
            <a:endParaRPr lang="en-US"/>
          </a:p>
        </p:txBody>
      </p:sp>
      <p:sp>
        <p:nvSpPr>
          <p:cNvPr id="89096" name="Line 8"/>
          <p:cNvSpPr>
            <a:spLocks noChangeShapeType="1"/>
          </p:cNvSpPr>
          <p:nvPr/>
        </p:nvSpPr>
        <p:spPr bwMode="auto">
          <a:xfrm>
            <a:off x="2133600" y="5541964"/>
            <a:ext cx="71438" cy="1587"/>
          </a:xfrm>
          <a:prstGeom prst="line">
            <a:avLst/>
          </a:prstGeom>
          <a:noFill/>
          <a:ln w="25400">
            <a:solidFill>
              <a:schemeClr val="bg2"/>
            </a:solidFill>
            <a:round/>
            <a:headEnd type="none" w="sm" len="sm"/>
            <a:tailEnd type="none" w="sm" len="sm"/>
          </a:ln>
          <a:effectLst/>
        </p:spPr>
        <p:txBody>
          <a:bodyPr/>
          <a:lstStyle/>
          <a:p>
            <a:endParaRPr lang="en-US"/>
          </a:p>
        </p:txBody>
      </p:sp>
      <p:sp>
        <p:nvSpPr>
          <p:cNvPr id="89097" name="Line 9"/>
          <p:cNvSpPr>
            <a:spLocks noChangeShapeType="1"/>
          </p:cNvSpPr>
          <p:nvPr/>
        </p:nvSpPr>
        <p:spPr bwMode="auto">
          <a:xfrm>
            <a:off x="2154239" y="5607050"/>
            <a:ext cx="39687" cy="1588"/>
          </a:xfrm>
          <a:prstGeom prst="line">
            <a:avLst/>
          </a:prstGeom>
          <a:noFill/>
          <a:ln w="25400">
            <a:solidFill>
              <a:schemeClr val="bg2"/>
            </a:solidFill>
            <a:round/>
            <a:headEnd type="none" w="sm" len="sm"/>
            <a:tailEnd type="none" w="sm" len="sm"/>
          </a:ln>
          <a:effectLst/>
        </p:spPr>
        <p:txBody>
          <a:bodyPr/>
          <a:lstStyle/>
          <a:p>
            <a:endParaRPr lang="en-US"/>
          </a:p>
        </p:txBody>
      </p:sp>
      <p:grpSp>
        <p:nvGrpSpPr>
          <p:cNvPr id="2" name="Group 10"/>
          <p:cNvGrpSpPr>
            <a:grpSpLocks/>
          </p:cNvGrpSpPr>
          <p:nvPr/>
        </p:nvGrpSpPr>
        <p:grpSpPr bwMode="auto">
          <a:xfrm>
            <a:off x="5819775" y="3819525"/>
            <a:ext cx="1295400" cy="1079500"/>
            <a:chOff x="2880" y="2304"/>
            <a:chExt cx="816" cy="680"/>
          </a:xfrm>
        </p:grpSpPr>
        <p:sp>
          <p:nvSpPr>
            <p:cNvPr id="89099" name="Line 11"/>
            <p:cNvSpPr>
              <a:spLocks noChangeShapeType="1"/>
            </p:cNvSpPr>
            <p:nvPr/>
          </p:nvSpPr>
          <p:spPr bwMode="auto">
            <a:xfrm flipH="1" flipV="1">
              <a:off x="3312" y="2304"/>
              <a:ext cx="0" cy="446"/>
            </a:xfrm>
            <a:prstGeom prst="line">
              <a:avLst/>
            </a:prstGeom>
            <a:noFill/>
            <a:ln w="28575">
              <a:solidFill>
                <a:srgbClr val="008000"/>
              </a:solidFill>
              <a:prstDash val="sysDot"/>
              <a:round/>
              <a:headEnd type="none" w="sm" len="sm"/>
              <a:tailEnd type="stealth" w="med" len="lg"/>
            </a:ln>
            <a:effectLst/>
          </p:spPr>
          <p:txBody>
            <a:bodyPr/>
            <a:lstStyle/>
            <a:p>
              <a:endParaRPr lang="en-US"/>
            </a:p>
          </p:txBody>
        </p:sp>
        <p:sp>
          <p:nvSpPr>
            <p:cNvPr id="89100" name="Line 12"/>
            <p:cNvSpPr>
              <a:spLocks noChangeShapeType="1"/>
            </p:cNvSpPr>
            <p:nvPr/>
          </p:nvSpPr>
          <p:spPr bwMode="auto">
            <a:xfrm flipH="1">
              <a:off x="3252" y="2318"/>
              <a:ext cx="0" cy="558"/>
            </a:xfrm>
            <a:prstGeom prst="line">
              <a:avLst/>
            </a:prstGeom>
            <a:noFill/>
            <a:ln w="28575">
              <a:solidFill>
                <a:srgbClr val="008000"/>
              </a:solidFill>
              <a:round/>
              <a:headEnd type="none" w="sm" len="sm"/>
              <a:tailEnd type="stealth" w="med" len="lg"/>
            </a:ln>
            <a:effectLst/>
          </p:spPr>
          <p:txBody>
            <a:bodyPr/>
            <a:lstStyle/>
            <a:p>
              <a:endParaRPr lang="en-US"/>
            </a:p>
          </p:txBody>
        </p:sp>
        <p:sp>
          <p:nvSpPr>
            <p:cNvPr id="89101" name="Line 13"/>
            <p:cNvSpPr>
              <a:spLocks noChangeShapeType="1"/>
            </p:cNvSpPr>
            <p:nvPr/>
          </p:nvSpPr>
          <p:spPr bwMode="auto">
            <a:xfrm flipV="1">
              <a:off x="3264" y="2366"/>
              <a:ext cx="240" cy="608"/>
            </a:xfrm>
            <a:prstGeom prst="line">
              <a:avLst/>
            </a:prstGeom>
            <a:noFill/>
            <a:ln w="28575">
              <a:solidFill>
                <a:srgbClr val="008000"/>
              </a:solidFill>
              <a:round/>
              <a:headEnd type="none" w="sm" len="sm"/>
              <a:tailEnd type="stealth" w="med" len="lg"/>
            </a:ln>
            <a:effectLst/>
          </p:spPr>
          <p:txBody>
            <a:bodyPr/>
            <a:lstStyle/>
            <a:p>
              <a:endParaRPr lang="en-US"/>
            </a:p>
          </p:txBody>
        </p:sp>
        <p:sp>
          <p:nvSpPr>
            <p:cNvPr id="89102" name="Line 14"/>
            <p:cNvSpPr>
              <a:spLocks noChangeShapeType="1"/>
            </p:cNvSpPr>
            <p:nvPr/>
          </p:nvSpPr>
          <p:spPr bwMode="auto">
            <a:xfrm flipH="1" flipV="1">
              <a:off x="3072" y="2366"/>
              <a:ext cx="183" cy="608"/>
            </a:xfrm>
            <a:prstGeom prst="line">
              <a:avLst/>
            </a:prstGeom>
            <a:noFill/>
            <a:ln w="28575">
              <a:solidFill>
                <a:srgbClr val="008000"/>
              </a:solidFill>
              <a:round/>
              <a:headEnd type="none" w="sm" len="sm"/>
              <a:tailEnd type="stealth" w="med" len="lg"/>
            </a:ln>
            <a:effectLst/>
          </p:spPr>
          <p:txBody>
            <a:bodyPr/>
            <a:lstStyle/>
            <a:p>
              <a:endParaRPr lang="en-US"/>
            </a:p>
          </p:txBody>
        </p:sp>
        <p:sp>
          <p:nvSpPr>
            <p:cNvPr id="89103" name="Line 15"/>
            <p:cNvSpPr>
              <a:spLocks noChangeShapeType="1"/>
            </p:cNvSpPr>
            <p:nvPr/>
          </p:nvSpPr>
          <p:spPr bwMode="auto">
            <a:xfrm flipH="1" flipV="1">
              <a:off x="2880" y="2366"/>
              <a:ext cx="360" cy="582"/>
            </a:xfrm>
            <a:prstGeom prst="line">
              <a:avLst/>
            </a:prstGeom>
            <a:noFill/>
            <a:ln w="28575">
              <a:solidFill>
                <a:srgbClr val="008000"/>
              </a:solidFill>
              <a:round/>
              <a:headEnd type="none" w="sm" len="sm"/>
              <a:tailEnd type="stealth" w="med" len="lg"/>
            </a:ln>
            <a:effectLst/>
          </p:spPr>
          <p:txBody>
            <a:bodyPr/>
            <a:lstStyle/>
            <a:p>
              <a:endParaRPr lang="en-US"/>
            </a:p>
          </p:txBody>
        </p:sp>
        <p:sp>
          <p:nvSpPr>
            <p:cNvPr id="89104" name="Line 16"/>
            <p:cNvSpPr>
              <a:spLocks noChangeShapeType="1"/>
            </p:cNvSpPr>
            <p:nvPr/>
          </p:nvSpPr>
          <p:spPr bwMode="auto">
            <a:xfrm flipV="1">
              <a:off x="3258" y="2366"/>
              <a:ext cx="438" cy="618"/>
            </a:xfrm>
            <a:prstGeom prst="line">
              <a:avLst/>
            </a:prstGeom>
            <a:noFill/>
            <a:ln w="28575">
              <a:solidFill>
                <a:srgbClr val="008000"/>
              </a:solidFill>
              <a:round/>
              <a:headEnd type="none" w="sm" len="sm"/>
              <a:tailEnd type="stealth" w="med" len="lg"/>
            </a:ln>
            <a:effectLst/>
          </p:spPr>
          <p:txBody>
            <a:bodyPr/>
            <a:lstStyle/>
            <a:p>
              <a:endParaRPr lang="en-US"/>
            </a:p>
          </p:txBody>
        </p:sp>
      </p:grpSp>
      <p:grpSp>
        <p:nvGrpSpPr>
          <p:cNvPr id="3" name="Group 17"/>
          <p:cNvGrpSpPr>
            <a:grpSpLocks/>
          </p:cNvGrpSpPr>
          <p:nvPr/>
        </p:nvGrpSpPr>
        <p:grpSpPr bwMode="auto">
          <a:xfrm>
            <a:off x="4038600" y="3810000"/>
            <a:ext cx="381000" cy="1066800"/>
            <a:chOff x="1632" y="2448"/>
            <a:chExt cx="240" cy="672"/>
          </a:xfrm>
        </p:grpSpPr>
        <p:sp>
          <p:nvSpPr>
            <p:cNvPr id="89106" name="Line 18"/>
            <p:cNvSpPr>
              <a:spLocks noChangeShapeType="1"/>
            </p:cNvSpPr>
            <p:nvPr/>
          </p:nvSpPr>
          <p:spPr bwMode="auto">
            <a:xfrm>
              <a:off x="1632" y="2466"/>
              <a:ext cx="96" cy="654"/>
            </a:xfrm>
            <a:prstGeom prst="line">
              <a:avLst/>
            </a:prstGeom>
            <a:noFill/>
            <a:ln w="28575">
              <a:solidFill>
                <a:schemeClr val="accent2"/>
              </a:solidFill>
              <a:round/>
              <a:headEnd type="none" w="sm" len="sm"/>
              <a:tailEnd type="stealth" w="med" len="lg"/>
            </a:ln>
            <a:effectLst/>
          </p:spPr>
          <p:txBody>
            <a:bodyPr/>
            <a:lstStyle/>
            <a:p>
              <a:endParaRPr lang="en-US"/>
            </a:p>
          </p:txBody>
        </p:sp>
        <p:sp>
          <p:nvSpPr>
            <p:cNvPr id="89107" name="Line 19"/>
            <p:cNvSpPr>
              <a:spLocks noChangeShapeType="1"/>
            </p:cNvSpPr>
            <p:nvPr/>
          </p:nvSpPr>
          <p:spPr bwMode="auto">
            <a:xfrm flipH="1">
              <a:off x="1776" y="2448"/>
              <a:ext cx="96" cy="672"/>
            </a:xfrm>
            <a:prstGeom prst="line">
              <a:avLst/>
            </a:prstGeom>
            <a:noFill/>
            <a:ln w="28575">
              <a:solidFill>
                <a:schemeClr val="accent2"/>
              </a:solidFill>
              <a:round/>
              <a:headEnd type="triangle" w="med" len="med"/>
              <a:tailEnd/>
            </a:ln>
            <a:effectLst/>
          </p:spPr>
          <p:txBody>
            <a:bodyPr/>
            <a:lstStyle/>
            <a:p>
              <a:endParaRPr lang="en-US"/>
            </a:p>
          </p:txBody>
        </p:sp>
      </p:grpSp>
      <p:sp>
        <p:nvSpPr>
          <p:cNvPr id="89108" name="Rectangle 20"/>
          <p:cNvSpPr>
            <a:spLocks noChangeArrowheads="1"/>
          </p:cNvSpPr>
          <p:nvPr/>
        </p:nvSpPr>
        <p:spPr bwMode="auto">
          <a:xfrm>
            <a:off x="2362200" y="5327651"/>
            <a:ext cx="2057400" cy="277641"/>
          </a:xfrm>
          <a:prstGeom prst="rect">
            <a:avLst/>
          </a:prstGeom>
          <a:noFill/>
          <a:ln w="9525">
            <a:noFill/>
            <a:miter lim="800000"/>
            <a:headEnd/>
            <a:tailEnd/>
          </a:ln>
          <a:effectLst/>
        </p:spPr>
        <p:txBody>
          <a:bodyPr lIns="92075" tIns="46038" rIns="92075" bIns="46038">
            <a:spAutoFit/>
          </a:bodyPr>
          <a:lstStyle/>
          <a:p>
            <a:pPr eaLnBrk="0" hangingPunct="0"/>
            <a:r>
              <a:rPr lang="en-US" sz="1200">
                <a:solidFill>
                  <a:schemeClr val="bg2"/>
                </a:solidFill>
                <a:latin typeface="Times New Roman" pitchFamily="18" charset="0"/>
              </a:rPr>
              <a:t>GEMS Device Off-State</a:t>
            </a:r>
            <a:endParaRPr lang="en-US" sz="700">
              <a:solidFill>
                <a:schemeClr val="bg2"/>
              </a:solidFill>
              <a:latin typeface="Times New Roman" pitchFamily="18" charset="0"/>
            </a:endParaRPr>
          </a:p>
        </p:txBody>
      </p:sp>
      <p:sp>
        <p:nvSpPr>
          <p:cNvPr id="89109" name="AutoShape 21"/>
          <p:cNvSpPr>
            <a:spLocks/>
          </p:cNvSpPr>
          <p:nvPr/>
        </p:nvSpPr>
        <p:spPr bwMode="auto">
          <a:xfrm>
            <a:off x="2057400" y="3962400"/>
            <a:ext cx="1143000" cy="304800"/>
          </a:xfrm>
          <a:prstGeom prst="borderCallout2">
            <a:avLst>
              <a:gd name="adj1" fmla="val 37500"/>
              <a:gd name="adj2" fmla="val 106667"/>
              <a:gd name="adj3" fmla="val 37500"/>
              <a:gd name="adj4" fmla="val 126389"/>
              <a:gd name="adj5" fmla="val 140625"/>
              <a:gd name="adj6" fmla="val 136111"/>
            </a:avLst>
          </a:prstGeom>
          <a:solidFill>
            <a:schemeClr val="bg1"/>
          </a:solidFill>
          <a:ln w="12700">
            <a:solidFill>
              <a:schemeClr val="tx1"/>
            </a:solidFill>
            <a:miter lim="800000"/>
            <a:headEnd type="none" w="sm" len="sm"/>
            <a:tailEnd type="triangle" w="med" len="med"/>
          </a:ln>
          <a:effectLst/>
        </p:spPr>
        <p:txBody>
          <a:bodyPr/>
          <a:lstStyle/>
          <a:p>
            <a:r>
              <a:rPr lang="en-US" sz="1100">
                <a:latin typeface="Times New Roman" pitchFamily="18" charset="0"/>
              </a:rPr>
              <a:t>Metal “Mirror”</a:t>
            </a:r>
          </a:p>
        </p:txBody>
      </p:sp>
      <p:sp>
        <p:nvSpPr>
          <p:cNvPr id="89110" name="Rectangle 22"/>
          <p:cNvSpPr>
            <a:spLocks noChangeArrowheads="1"/>
          </p:cNvSpPr>
          <p:nvPr/>
        </p:nvSpPr>
        <p:spPr bwMode="auto">
          <a:xfrm>
            <a:off x="4997450" y="5326064"/>
            <a:ext cx="2165350" cy="277641"/>
          </a:xfrm>
          <a:prstGeom prst="rect">
            <a:avLst/>
          </a:prstGeom>
          <a:noFill/>
          <a:ln w="9525">
            <a:noFill/>
            <a:miter lim="800000"/>
            <a:headEnd/>
            <a:tailEnd/>
          </a:ln>
          <a:effectLst/>
        </p:spPr>
        <p:txBody>
          <a:bodyPr lIns="92075" tIns="46038" rIns="92075" bIns="46038">
            <a:spAutoFit/>
          </a:bodyPr>
          <a:lstStyle/>
          <a:p>
            <a:pPr eaLnBrk="0" hangingPunct="0"/>
            <a:r>
              <a:rPr lang="en-US" sz="1200">
                <a:solidFill>
                  <a:schemeClr val="bg2"/>
                </a:solidFill>
                <a:latin typeface="Times New Roman" pitchFamily="18" charset="0"/>
              </a:rPr>
              <a:t>GEMS Device On-State</a:t>
            </a:r>
            <a:endParaRPr lang="en-US" sz="700">
              <a:solidFill>
                <a:schemeClr val="bg2"/>
              </a:solidFill>
              <a:latin typeface="Times New Roman" pitchFamily="18" charset="0"/>
            </a:endParaRPr>
          </a:p>
        </p:txBody>
      </p:sp>
      <p:sp>
        <p:nvSpPr>
          <p:cNvPr id="89111" name="Freeform 23"/>
          <p:cNvSpPr>
            <a:spLocks/>
          </p:cNvSpPr>
          <p:nvPr/>
        </p:nvSpPr>
        <p:spPr bwMode="auto">
          <a:xfrm>
            <a:off x="4886326" y="4648200"/>
            <a:ext cx="263525" cy="609600"/>
          </a:xfrm>
          <a:custGeom>
            <a:avLst/>
            <a:gdLst/>
            <a:ahLst/>
            <a:cxnLst>
              <a:cxn ang="0">
                <a:pos x="234" y="97"/>
              </a:cxn>
              <a:cxn ang="0">
                <a:pos x="0" y="0"/>
              </a:cxn>
              <a:cxn ang="0">
                <a:pos x="0" y="1255"/>
              </a:cxn>
              <a:cxn ang="0">
                <a:pos x="290" y="1380"/>
              </a:cxn>
            </a:cxnLst>
            <a:rect l="0" t="0" r="r" b="b"/>
            <a:pathLst>
              <a:path w="291" h="1381">
                <a:moveTo>
                  <a:pt x="234" y="97"/>
                </a:moveTo>
                <a:lnTo>
                  <a:pt x="0" y="0"/>
                </a:lnTo>
                <a:lnTo>
                  <a:pt x="0" y="1255"/>
                </a:lnTo>
                <a:lnTo>
                  <a:pt x="290" y="1380"/>
                </a:lnTo>
              </a:path>
            </a:pathLst>
          </a:custGeom>
          <a:noFill/>
          <a:ln w="25400" cap="rnd" cmpd="sng">
            <a:solidFill>
              <a:schemeClr val="bg2"/>
            </a:solidFill>
            <a:prstDash val="solid"/>
            <a:round/>
            <a:headEnd type="none" w="sm" len="sm"/>
            <a:tailEnd type="none" w="sm" len="sm"/>
          </a:ln>
          <a:effectLst/>
        </p:spPr>
        <p:txBody>
          <a:bodyPr/>
          <a:lstStyle/>
          <a:p>
            <a:endParaRPr lang="en-US"/>
          </a:p>
        </p:txBody>
      </p:sp>
      <p:sp>
        <p:nvSpPr>
          <p:cNvPr id="89112" name="Oval 24"/>
          <p:cNvSpPr>
            <a:spLocks noChangeArrowheads="1"/>
          </p:cNvSpPr>
          <p:nvPr/>
        </p:nvSpPr>
        <p:spPr bwMode="auto">
          <a:xfrm>
            <a:off x="4724400" y="4814888"/>
            <a:ext cx="342900" cy="290512"/>
          </a:xfrm>
          <a:prstGeom prst="ellipse">
            <a:avLst/>
          </a:prstGeom>
          <a:solidFill>
            <a:srgbClr val="FFFFFF"/>
          </a:solidFill>
          <a:ln w="12700">
            <a:solidFill>
              <a:schemeClr val="bg2"/>
            </a:solidFill>
            <a:round/>
            <a:headEnd type="none" w="sm" len="sm"/>
            <a:tailEnd type="none" w="sm" len="sm"/>
          </a:ln>
          <a:effectLst/>
        </p:spPr>
        <p:txBody>
          <a:bodyPr wrap="none" anchor="ctr"/>
          <a:lstStyle/>
          <a:p>
            <a:endParaRPr lang="en-US"/>
          </a:p>
        </p:txBody>
      </p:sp>
      <p:sp>
        <p:nvSpPr>
          <p:cNvPr id="89113" name="Text Box 25"/>
          <p:cNvSpPr txBox="1">
            <a:spLocks noChangeArrowheads="1"/>
          </p:cNvSpPr>
          <p:nvPr/>
        </p:nvSpPr>
        <p:spPr bwMode="auto">
          <a:xfrm>
            <a:off x="4752975" y="4875213"/>
            <a:ext cx="304800" cy="312778"/>
          </a:xfrm>
          <a:prstGeom prst="rect">
            <a:avLst/>
          </a:prstGeom>
          <a:noFill/>
          <a:ln w="12700">
            <a:noFill/>
            <a:miter lim="800000"/>
            <a:headEnd type="none" w="sm" len="sm"/>
            <a:tailEnd type="none" w="sm" len="sm"/>
          </a:ln>
          <a:effectLst/>
        </p:spPr>
        <p:txBody>
          <a:bodyPr>
            <a:spAutoFit/>
          </a:bodyPr>
          <a:lstStyle/>
          <a:p>
            <a:pPr>
              <a:lnSpc>
                <a:spcPct val="40000"/>
              </a:lnSpc>
            </a:pPr>
            <a:r>
              <a:rPr lang="en-US" sz="1600">
                <a:solidFill>
                  <a:schemeClr val="bg2"/>
                </a:solidFill>
                <a:latin typeface="Times New Roman" pitchFamily="18" charset="0"/>
              </a:rPr>
              <a:t>+-</a:t>
            </a:r>
          </a:p>
        </p:txBody>
      </p:sp>
      <p:sp>
        <p:nvSpPr>
          <p:cNvPr id="89114" name="Rectangle 26"/>
          <p:cNvSpPr>
            <a:spLocks noChangeArrowheads="1"/>
          </p:cNvSpPr>
          <p:nvPr/>
        </p:nvSpPr>
        <p:spPr bwMode="auto">
          <a:xfrm>
            <a:off x="7391400" y="5272088"/>
            <a:ext cx="2590800" cy="442912"/>
          </a:xfrm>
          <a:prstGeom prst="rect">
            <a:avLst/>
          </a:prstGeom>
          <a:noFill/>
          <a:ln w="9525">
            <a:noFill/>
            <a:miter lim="800000"/>
            <a:headEnd/>
            <a:tailEnd/>
          </a:ln>
          <a:effectLst/>
        </p:spPr>
        <p:txBody>
          <a:bodyPr lIns="92075" tIns="46038" rIns="92075" bIns="46038">
            <a:spAutoFit/>
          </a:bodyPr>
          <a:lstStyle/>
          <a:p>
            <a:pPr eaLnBrk="0" hangingPunct="0"/>
            <a:r>
              <a:rPr lang="en-US" sz="1200">
                <a:solidFill>
                  <a:schemeClr val="bg2"/>
                </a:solidFill>
                <a:latin typeface="Times New Roman" pitchFamily="18" charset="0"/>
              </a:rPr>
              <a:t>6 channel GEMS Device</a:t>
            </a:r>
          </a:p>
          <a:p>
            <a:pPr eaLnBrk="0" hangingPunct="0"/>
            <a:r>
              <a:rPr lang="en-US" sz="1100">
                <a:solidFill>
                  <a:schemeClr val="bg2"/>
                </a:solidFill>
                <a:latin typeface="Times New Roman" pitchFamily="18" charset="0"/>
              </a:rPr>
              <a:t>(50 Channel Device is in Development)</a:t>
            </a:r>
          </a:p>
        </p:txBody>
      </p:sp>
      <p:pic>
        <p:nvPicPr>
          <p:cNvPr id="89115" name="Picture 27"/>
          <p:cNvPicPr>
            <a:picLocks noChangeAspect="1" noChangeArrowheads="1"/>
          </p:cNvPicPr>
          <p:nvPr/>
        </p:nvPicPr>
        <p:blipFill>
          <a:blip r:embed="rId4" cstate="print"/>
          <a:srcRect/>
          <a:stretch>
            <a:fillRect/>
          </a:stretch>
        </p:blipFill>
        <p:spPr bwMode="auto">
          <a:xfrm>
            <a:off x="7848600" y="3914775"/>
            <a:ext cx="1676400" cy="1365250"/>
          </a:xfrm>
          <a:prstGeom prst="rect">
            <a:avLst/>
          </a:prstGeom>
          <a:noFill/>
          <a:ln w="12700">
            <a:noFill/>
            <a:miter lim="800000"/>
            <a:headEnd type="none" w="sm" len="sm"/>
            <a:tailEnd type="none" w="sm" len="sm"/>
          </a:ln>
          <a:effectLst/>
        </p:spPr>
      </p:pic>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pic>
        <p:nvPicPr>
          <p:cNvPr id="5122" name="Picture 2"/>
          <p:cNvPicPr>
            <a:picLocks noChangeAspect="1" noChangeArrowheads="1"/>
          </p:cNvPicPr>
          <p:nvPr/>
        </p:nvPicPr>
        <p:blipFill>
          <a:blip r:embed="rId2" cstate="print"/>
          <a:srcRect/>
          <a:stretch>
            <a:fillRect/>
          </a:stretch>
        </p:blipFill>
        <p:spPr bwMode="auto">
          <a:xfrm>
            <a:off x="3533775" y="1198564"/>
            <a:ext cx="5124450" cy="4467225"/>
          </a:xfrm>
          <a:prstGeom prst="rect">
            <a:avLst/>
          </a:prstGeom>
          <a:noFill/>
          <a:ln w="9525">
            <a:noFill/>
            <a:miter lim="800000"/>
            <a:headEnd/>
            <a:tailEnd/>
          </a:ln>
          <a:effectLst/>
        </p:spPr>
      </p:pic>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pic>
        <p:nvPicPr>
          <p:cNvPr id="6146" name="Picture 2"/>
          <p:cNvPicPr>
            <a:picLocks noChangeAspect="1" noChangeArrowheads="1"/>
          </p:cNvPicPr>
          <p:nvPr/>
        </p:nvPicPr>
        <p:blipFill>
          <a:blip r:embed="rId2" cstate="print"/>
          <a:srcRect/>
          <a:stretch>
            <a:fillRect/>
          </a:stretch>
        </p:blipFill>
        <p:spPr bwMode="auto">
          <a:xfrm>
            <a:off x="1828800" y="2057400"/>
            <a:ext cx="8824948" cy="3695700"/>
          </a:xfrm>
          <a:prstGeom prst="rect">
            <a:avLst/>
          </a:prstGeom>
          <a:noFill/>
          <a:ln w="9525">
            <a:noFill/>
            <a:miter lim="800000"/>
            <a:headEnd/>
            <a:tailEnd/>
          </a:ln>
          <a:effectLst/>
        </p:spPr>
      </p:pic>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pic>
        <p:nvPicPr>
          <p:cNvPr id="7171" name="Picture 3"/>
          <p:cNvPicPr>
            <a:picLocks noChangeAspect="1" noChangeArrowheads="1"/>
          </p:cNvPicPr>
          <p:nvPr/>
        </p:nvPicPr>
        <p:blipFill>
          <a:blip r:embed="rId2" cstate="print"/>
          <a:srcRect/>
          <a:stretch>
            <a:fillRect/>
          </a:stretch>
        </p:blipFill>
        <p:spPr bwMode="auto">
          <a:xfrm>
            <a:off x="3533775" y="1198564"/>
            <a:ext cx="5124450" cy="4467225"/>
          </a:xfrm>
          <a:prstGeom prst="rect">
            <a:avLst/>
          </a:prstGeom>
          <a:noFill/>
          <a:ln w="9525">
            <a:noFill/>
            <a:miter lim="800000"/>
            <a:headEnd/>
            <a:tailEnd/>
          </a:ln>
          <a:effectLst/>
        </p:spPr>
      </p:pic>
      <p:pic>
        <p:nvPicPr>
          <p:cNvPr id="7172" name="Picture 4"/>
          <p:cNvPicPr>
            <a:picLocks noChangeAspect="1" noChangeArrowheads="1"/>
          </p:cNvPicPr>
          <p:nvPr/>
        </p:nvPicPr>
        <p:blipFill>
          <a:blip r:embed="rId3" cstate="print"/>
          <a:srcRect/>
          <a:stretch>
            <a:fillRect/>
          </a:stretch>
        </p:blipFill>
        <p:spPr bwMode="auto">
          <a:xfrm>
            <a:off x="3527426" y="1189038"/>
            <a:ext cx="5135563" cy="4487862"/>
          </a:xfrm>
          <a:prstGeom prst="rect">
            <a:avLst/>
          </a:prstGeom>
          <a:noFill/>
          <a:ln w="9525">
            <a:noFill/>
            <a:miter lim="800000"/>
            <a:headEnd/>
            <a:tailEnd/>
          </a:ln>
          <a:effectLst/>
        </p:spPr>
      </p:pic>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3" name="Rectangle 2"/>
          <p:cNvSpPr>
            <a:spLocks noGrp="1" noChangeArrowheads="1"/>
          </p:cNvSpPr>
          <p:nvPr>
            <p:ph type="title"/>
          </p:nvPr>
        </p:nvSpPr>
        <p:spPr/>
        <p:txBody>
          <a:bodyPr/>
          <a:lstStyle/>
          <a:p>
            <a:r>
              <a:rPr lang="en-US" dirty="0"/>
              <a:t>Question 223.13.10</a:t>
            </a:r>
          </a:p>
        </p:txBody>
      </p:sp>
      <p:sp>
        <p:nvSpPr>
          <p:cNvPr id="443395" name="Rectangle 3"/>
          <p:cNvSpPr>
            <a:spLocks noGrp="1" noChangeArrowheads="1"/>
          </p:cNvSpPr>
          <p:nvPr>
            <p:ph idx="1"/>
          </p:nvPr>
        </p:nvSpPr>
        <p:spPr>
          <a:xfrm>
            <a:off x="1879600" y="1339851"/>
            <a:ext cx="4224338" cy="4525963"/>
          </a:xfrm>
        </p:spPr>
        <p:txBody>
          <a:bodyPr/>
          <a:lstStyle/>
          <a:p>
            <a:pPr eaLnBrk="1" hangingPunct="1">
              <a:lnSpc>
                <a:spcPct val="120000"/>
              </a:lnSpc>
              <a:buFontTx/>
              <a:buNone/>
              <a:defRPr/>
            </a:pPr>
            <a:r>
              <a:rPr lang="en-US" sz="2000" b="1">
                <a:effectLst>
                  <a:outerShdw blurRad="38100" dist="38100" dir="2700000" algn="tl">
                    <a:srgbClr val="C0C0C0"/>
                  </a:outerShdw>
                </a:effectLst>
              </a:rPr>
              <a:t>You hold a hand mirror </a:t>
            </a:r>
            <a:r>
              <a:rPr lang="en-US" sz="2000" b="1">
                <a:solidFill>
                  <a:schemeClr val="tx2"/>
                </a:solidFill>
                <a:effectLst>
                  <a:outerShdw blurRad="38100" dist="38100" dir="2700000" algn="tl">
                    <a:srgbClr val="C0C0C0"/>
                  </a:outerShdw>
                </a:effectLst>
              </a:rPr>
              <a:t>0.5 m</a:t>
            </a:r>
            <a:r>
              <a:rPr lang="en-US" sz="2000" b="1">
                <a:effectLst>
                  <a:outerShdw blurRad="38100" dist="38100" dir="2700000" algn="tl">
                    <a:srgbClr val="C0C0C0"/>
                  </a:outerShdw>
                </a:effectLst>
              </a:rPr>
              <a:t>   in front of you and look at your reflection in a full-length mirror </a:t>
            </a:r>
            <a:r>
              <a:rPr lang="en-US" sz="2000" b="1">
                <a:solidFill>
                  <a:schemeClr val="tx2"/>
                </a:solidFill>
                <a:effectLst>
                  <a:outerShdw blurRad="38100" dist="38100" dir="2700000" algn="tl">
                    <a:srgbClr val="C0C0C0"/>
                  </a:outerShdw>
                </a:effectLst>
              </a:rPr>
              <a:t>1 m</a:t>
            </a:r>
            <a:r>
              <a:rPr lang="en-US" sz="2000" b="1">
                <a:effectLst>
                  <a:outerShdw blurRad="38100" dist="38100" dir="2700000" algn="tl">
                    <a:srgbClr val="C0C0C0"/>
                  </a:outerShdw>
                </a:effectLst>
              </a:rPr>
              <a:t> behind you.    </a:t>
            </a:r>
            <a:r>
              <a:rPr lang="en-US" sz="2000" b="1">
                <a:solidFill>
                  <a:schemeClr val="tx2"/>
                </a:solidFill>
                <a:effectLst>
                  <a:outerShdw blurRad="38100" dist="38100" dir="2700000" algn="tl">
                    <a:srgbClr val="C0C0C0"/>
                  </a:outerShdw>
                </a:effectLst>
              </a:rPr>
              <a:t>How far in back of the big mirror do you see the image of your face?</a:t>
            </a:r>
            <a:r>
              <a:rPr lang="en-US" sz="2000" b="1">
                <a:effectLst>
                  <a:outerShdw blurRad="38100" dist="38100" dir="2700000" algn="tl">
                    <a:srgbClr val="C0C0C0"/>
                  </a:outerShdw>
                </a:effectLst>
              </a:rPr>
              <a:t> </a:t>
            </a:r>
          </a:p>
          <a:p>
            <a:pPr eaLnBrk="1" hangingPunct="1">
              <a:lnSpc>
                <a:spcPct val="80000"/>
              </a:lnSpc>
              <a:defRPr/>
            </a:pPr>
            <a:endParaRPr lang="en-US" sz="2000" b="1">
              <a:solidFill>
                <a:schemeClr val="tx2"/>
              </a:solidFill>
            </a:endParaRPr>
          </a:p>
          <a:p>
            <a:pPr marL="762000" lvl="1" indent="-304800">
              <a:lnSpc>
                <a:spcPct val="80000"/>
              </a:lnSpc>
              <a:buFontTx/>
              <a:buAutoNum type="alphaLcParenR"/>
              <a:defRPr/>
            </a:pPr>
            <a:r>
              <a:rPr lang="en-US" sz="2000" b="1">
                <a:solidFill>
                  <a:schemeClr val="tx2"/>
                </a:solidFill>
              </a:rPr>
              <a:t>0.5 m</a:t>
            </a:r>
          </a:p>
          <a:p>
            <a:pPr marL="762000" lvl="1" indent="-304800">
              <a:lnSpc>
                <a:spcPct val="80000"/>
              </a:lnSpc>
              <a:buFontTx/>
              <a:buAutoNum type="alphaLcParenR"/>
              <a:defRPr/>
            </a:pPr>
            <a:r>
              <a:rPr lang="en-US" sz="2000" b="1">
                <a:solidFill>
                  <a:schemeClr val="tx2"/>
                </a:solidFill>
              </a:rPr>
              <a:t>1.0 m </a:t>
            </a:r>
          </a:p>
          <a:p>
            <a:pPr marL="762000" lvl="1" indent="-304800">
              <a:lnSpc>
                <a:spcPct val="80000"/>
              </a:lnSpc>
              <a:buFontTx/>
              <a:buAutoNum type="alphaLcParenR"/>
              <a:defRPr/>
            </a:pPr>
            <a:r>
              <a:rPr lang="en-US" sz="2000" b="1">
                <a:solidFill>
                  <a:schemeClr val="tx2"/>
                </a:solidFill>
              </a:rPr>
              <a:t>1.5 m</a:t>
            </a:r>
          </a:p>
          <a:p>
            <a:pPr marL="762000" lvl="1" indent="-304800">
              <a:lnSpc>
                <a:spcPct val="80000"/>
              </a:lnSpc>
              <a:buFontTx/>
              <a:buAutoNum type="alphaLcParenR"/>
              <a:defRPr/>
            </a:pPr>
            <a:r>
              <a:rPr lang="en-US" sz="2000" b="1">
                <a:solidFill>
                  <a:schemeClr val="tx2"/>
                </a:solidFill>
              </a:rPr>
              <a:t>2.0 m</a:t>
            </a:r>
          </a:p>
          <a:p>
            <a:pPr marL="762000" lvl="1" indent="-304800">
              <a:lnSpc>
                <a:spcPct val="80000"/>
              </a:lnSpc>
              <a:buFontTx/>
              <a:buAutoNum type="alphaLcParenR"/>
              <a:defRPr/>
            </a:pPr>
            <a:r>
              <a:rPr lang="en-US" sz="2000" b="1">
                <a:solidFill>
                  <a:schemeClr val="tx2"/>
                </a:solidFill>
              </a:rPr>
              <a:t>2.5 m</a:t>
            </a:r>
            <a:endParaRPr lang="en-US" sz="2000" b="1">
              <a:solidFill>
                <a:schemeClr val="tx2"/>
              </a:solidFill>
              <a:effectLst>
                <a:outerShdw blurRad="38100" dist="38100" dir="2700000" algn="tl">
                  <a:srgbClr val="C0C0C0"/>
                </a:outerShdw>
              </a:effectLst>
            </a:endParaRPr>
          </a:p>
          <a:p>
            <a:pPr eaLnBrk="1" hangingPunct="1">
              <a:lnSpc>
                <a:spcPct val="80000"/>
              </a:lnSpc>
              <a:defRPr/>
            </a:pPr>
            <a:endParaRPr lang="en-US" sz="2400"/>
          </a:p>
        </p:txBody>
      </p:sp>
      <p:sp>
        <p:nvSpPr>
          <p:cNvPr id="12292" name="Slide Number Placeholder 5"/>
          <p:cNvSpPr>
            <a:spLocks noGrp="1"/>
          </p:cNvSpPr>
          <p:nvPr>
            <p:ph type="sldNum" sz="quarter" idx="12"/>
          </p:nvPr>
        </p:nvSpPr>
        <p:spPr>
          <a:noFill/>
        </p:spPr>
        <p:txBody>
          <a:bodyPr/>
          <a:lstStyle/>
          <a:p>
            <a:fld id="{AA4EF262-061D-45F6-88C8-74DD670CA05D}" type="slidenum">
              <a:rPr lang="en-US" smtClean="0"/>
              <a:pPr/>
              <a:t>54</a:t>
            </a:fld>
            <a:endParaRPr lang="en-US"/>
          </a:p>
        </p:txBody>
      </p:sp>
      <p:grpSp>
        <p:nvGrpSpPr>
          <p:cNvPr id="2" name="Group 4"/>
          <p:cNvGrpSpPr>
            <a:grpSpLocks/>
          </p:cNvGrpSpPr>
          <p:nvPr/>
        </p:nvGrpSpPr>
        <p:grpSpPr bwMode="auto">
          <a:xfrm>
            <a:off x="6505576" y="1423989"/>
            <a:ext cx="3541713" cy="2835275"/>
            <a:chOff x="1026" y="800"/>
            <a:chExt cx="2342" cy="1852"/>
          </a:xfrm>
        </p:grpSpPr>
        <p:graphicFrame>
          <p:nvGraphicFramePr>
            <p:cNvPr id="12290" name="Object 5"/>
            <p:cNvGraphicFramePr>
              <a:graphicFrameLocks noChangeAspect="1"/>
            </p:cNvGraphicFramePr>
            <p:nvPr/>
          </p:nvGraphicFramePr>
          <p:xfrm>
            <a:off x="1026" y="800"/>
            <a:ext cx="930" cy="1850"/>
          </p:xfrm>
          <a:graphic>
            <a:graphicData uri="http://schemas.openxmlformats.org/presentationml/2006/ole">
              <mc:AlternateContent xmlns:mc="http://schemas.openxmlformats.org/markup-compatibility/2006">
                <mc:Choice xmlns:v="urn:schemas-microsoft-com:vml" Requires="v">
                  <p:oleObj name="Clip" r:id="rId2" imgW="2287080" imgH="2021400" progId="">
                    <p:embed/>
                  </p:oleObj>
                </mc:Choice>
                <mc:Fallback>
                  <p:oleObj name="Clip" r:id="rId2" imgW="2287080" imgH="2021400" progId="">
                    <p:embed/>
                    <p:pic>
                      <p:nvPicPr>
                        <p:cNvPr id="12290" name="Object 5"/>
                        <p:cNvPicPr>
                          <a:picLocks noChangeAspect="1" noChangeArrowheads="1"/>
                        </p:cNvPicPr>
                        <p:nvPr/>
                      </p:nvPicPr>
                      <p:blipFill>
                        <a:blip r:embed="rId3">
                          <a:extLst>
                            <a:ext uri="{28A0092B-C50C-407E-A947-70E740481C1C}">
                              <a14:useLocalDpi xmlns:a14="http://schemas.microsoft.com/office/drawing/2010/main" val="0"/>
                            </a:ext>
                          </a:extLst>
                        </a:blip>
                        <a:srcRect r="35461"/>
                        <a:stretch>
                          <a:fillRect/>
                        </a:stretch>
                      </p:blipFill>
                      <p:spPr bwMode="auto">
                        <a:xfrm>
                          <a:off x="1026" y="800"/>
                          <a:ext cx="930" cy="1850"/>
                        </a:xfrm>
                        <a:prstGeom prst="rect">
                          <a:avLst/>
                        </a:prstGeom>
                        <a:solidFill>
                          <a:schemeClr val="hlink"/>
                        </a:solidFill>
                      </p:spPr>
                    </p:pic>
                  </p:oleObj>
                </mc:Fallback>
              </mc:AlternateContent>
            </a:graphicData>
          </a:graphic>
        </p:graphicFrame>
        <p:sp>
          <p:nvSpPr>
            <p:cNvPr id="12297" name="Rectangle 6"/>
            <p:cNvSpPr>
              <a:spLocks noChangeArrowheads="1"/>
            </p:cNvSpPr>
            <p:nvPr/>
          </p:nvSpPr>
          <p:spPr bwMode="auto">
            <a:xfrm>
              <a:off x="1934" y="1605"/>
              <a:ext cx="1366" cy="241"/>
            </a:xfrm>
            <a:prstGeom prst="rect">
              <a:avLst/>
            </a:prstGeom>
            <a:solidFill>
              <a:schemeClr val="hlink"/>
            </a:solidFill>
            <a:ln w="9525">
              <a:noFill/>
              <a:miter lim="800000"/>
              <a:headEnd/>
              <a:tailEnd/>
            </a:ln>
          </p:spPr>
          <p:txBody>
            <a:bodyPr anchor="ctr">
              <a:spAutoFit/>
            </a:bodyPr>
            <a:lstStyle/>
            <a:p>
              <a:endParaRPr lang="en-US"/>
            </a:p>
          </p:txBody>
        </p:sp>
        <p:graphicFrame>
          <p:nvGraphicFramePr>
            <p:cNvPr id="12291" name="Object 7"/>
            <p:cNvGraphicFramePr>
              <a:graphicFrameLocks noChangeAspect="1"/>
            </p:cNvGraphicFramePr>
            <p:nvPr/>
          </p:nvGraphicFramePr>
          <p:xfrm>
            <a:off x="2361" y="802"/>
            <a:ext cx="1007" cy="1850"/>
          </p:xfrm>
          <a:graphic>
            <a:graphicData uri="http://schemas.openxmlformats.org/presentationml/2006/ole">
              <mc:AlternateContent xmlns:mc="http://schemas.openxmlformats.org/markup-compatibility/2006">
                <mc:Choice xmlns:v="urn:schemas-microsoft-com:vml" Requires="v">
                  <p:oleObj name="Clip" r:id="rId4" imgW="1599480" imgH="2287080" progId="">
                    <p:embed/>
                  </p:oleObj>
                </mc:Choice>
                <mc:Fallback>
                  <p:oleObj name="Clip" r:id="rId4" imgW="1599480" imgH="2287080" progId="">
                    <p:embed/>
                    <p:pic>
                      <p:nvPicPr>
                        <p:cNvPr id="12291" name="Object 7"/>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361" y="802"/>
                          <a:ext cx="1007" cy="1850"/>
                        </a:xfrm>
                        <a:prstGeom prst="rect">
                          <a:avLst/>
                        </a:prstGeom>
                        <a:solidFill>
                          <a:schemeClr val="hlink"/>
                        </a:solidFill>
                      </p:spPr>
                    </p:pic>
                  </p:oleObj>
                </mc:Fallback>
              </mc:AlternateContent>
            </a:graphicData>
          </a:graphic>
        </p:graphicFrame>
      </p:grpSp>
      <p:sp>
        <p:nvSpPr>
          <p:cNvPr id="12296" name="Text Box 8"/>
          <p:cNvSpPr txBox="1">
            <a:spLocks noChangeArrowheads="1"/>
          </p:cNvSpPr>
          <p:nvPr/>
        </p:nvSpPr>
        <p:spPr bwMode="auto">
          <a:xfrm>
            <a:off x="8007350" y="6146800"/>
            <a:ext cx="330540" cy="369332"/>
          </a:xfrm>
          <a:prstGeom prst="rect">
            <a:avLst/>
          </a:prstGeom>
          <a:noFill/>
          <a:ln w="9525">
            <a:noFill/>
            <a:miter lim="800000"/>
            <a:headEnd/>
            <a:tailEnd/>
          </a:ln>
        </p:spPr>
        <p:txBody>
          <a:bodyPr wrap="none">
            <a:spAutoFit/>
          </a:bodyPr>
          <a:lstStyle/>
          <a:p>
            <a:r>
              <a:rPr lang="en-US"/>
              <a:t>G</a:t>
            </a:r>
          </a:p>
        </p:txBody>
      </p:sp>
    </p:spTree>
    <p:extLst>
      <p:ext uri="{BB962C8B-B14F-4D97-AF65-F5344CB8AC3E}">
        <p14:creationId xmlns:p14="http://schemas.microsoft.com/office/powerpoint/2010/main" val="398676737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15F484C-BF75-3724-42FE-EFC5FB76324C}"/>
              </a:ext>
            </a:extLst>
          </p:cNvPr>
          <p:cNvSpPr>
            <a:spLocks noGrp="1"/>
          </p:cNvSpPr>
          <p:nvPr>
            <p:ph type="ctrTitle"/>
          </p:nvPr>
        </p:nvSpPr>
        <p:spPr/>
        <p:txBody>
          <a:bodyPr/>
          <a:lstStyle/>
          <a:p>
            <a:r>
              <a:rPr lang="en-US" dirty="0"/>
              <a:t>END</a:t>
            </a:r>
          </a:p>
        </p:txBody>
      </p:sp>
      <p:sp>
        <p:nvSpPr>
          <p:cNvPr id="5" name="Subtitle 4">
            <a:extLst>
              <a:ext uri="{FF2B5EF4-FFF2-40B4-BE49-F238E27FC236}">
                <a16:creationId xmlns:a16="http://schemas.microsoft.com/office/drawing/2014/main" id="{E9E6A677-786F-B8EB-A422-4FF4897A6A6E}"/>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3170595719"/>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3" name="Straight Connector 12"/>
          <p:cNvCxnSpPr/>
          <p:nvPr/>
        </p:nvCxnSpPr>
        <p:spPr>
          <a:xfrm>
            <a:off x="7128932" y="0"/>
            <a:ext cx="84667" cy="6858000"/>
          </a:xfrm>
          <a:prstGeom prst="line">
            <a:avLst/>
          </a:prstGeom>
          <a:ln>
            <a:solidFill>
              <a:srgbClr val="00B050"/>
            </a:solidFill>
          </a:ln>
        </p:spPr>
        <p:style>
          <a:lnRef idx="1">
            <a:schemeClr val="accent1"/>
          </a:lnRef>
          <a:fillRef idx="0">
            <a:schemeClr val="accent1"/>
          </a:fillRef>
          <a:effectRef idx="0">
            <a:schemeClr val="accent1"/>
          </a:effectRef>
          <a:fontRef idx="minor">
            <a:schemeClr val="tx1"/>
          </a:fontRef>
        </p:style>
      </p:cxnSp>
      <p:sp>
        <p:nvSpPr>
          <p:cNvPr id="4" name="Title 3"/>
          <p:cNvSpPr>
            <a:spLocks noGrp="1"/>
          </p:cNvSpPr>
          <p:nvPr>
            <p:ph type="title"/>
          </p:nvPr>
        </p:nvSpPr>
        <p:spPr/>
        <p:txBody>
          <a:bodyPr/>
          <a:lstStyle/>
          <a:p>
            <a:r>
              <a:rPr lang="en-US" dirty="0"/>
              <a:t>Question</a:t>
            </a:r>
          </a:p>
        </p:txBody>
      </p:sp>
      <p:sp>
        <p:nvSpPr>
          <p:cNvPr id="5" name="Content Placeholder 4"/>
          <p:cNvSpPr>
            <a:spLocks noGrp="1"/>
          </p:cNvSpPr>
          <p:nvPr>
            <p:ph idx="1"/>
          </p:nvPr>
        </p:nvSpPr>
        <p:spPr>
          <a:xfrm>
            <a:off x="304800" y="1524000"/>
            <a:ext cx="4504267" cy="4652963"/>
          </a:xfrm>
        </p:spPr>
        <p:txBody>
          <a:bodyPr>
            <a:normAutofit/>
          </a:bodyPr>
          <a:lstStyle/>
          <a:p>
            <a:pPr marL="0" indent="0">
              <a:buNone/>
            </a:pPr>
            <a:r>
              <a:rPr lang="en-US" dirty="0"/>
              <a:t>I now have three “slits” with light going through them. What will I see on the screen?</a:t>
            </a:r>
          </a:p>
          <a:p>
            <a:pPr marL="514350" indent="-514350">
              <a:buFont typeface="+mj-lt"/>
              <a:buAutoNum type="alphaLcParenR"/>
            </a:pPr>
            <a:r>
              <a:rPr lang="en-US" dirty="0"/>
              <a:t>Just a blur of light</a:t>
            </a:r>
          </a:p>
          <a:p>
            <a:pPr marL="514350" indent="-514350">
              <a:buFont typeface="+mj-lt"/>
              <a:buAutoNum type="alphaLcParenR"/>
            </a:pPr>
            <a:r>
              <a:rPr lang="en-US" dirty="0"/>
              <a:t>Still bright spots and dark spots</a:t>
            </a:r>
          </a:p>
          <a:p>
            <a:pPr marL="514350" indent="-514350">
              <a:buFont typeface="+mj-lt"/>
              <a:buAutoNum type="alphaLcParenR"/>
            </a:pPr>
            <a:r>
              <a:rPr lang="en-US" dirty="0"/>
              <a:t>Nothing, most of the light doesn’t get through</a:t>
            </a:r>
          </a:p>
          <a:p>
            <a:pPr marL="514350" indent="-514350">
              <a:buFont typeface="+mj-lt"/>
              <a:buAutoNum type="alphaLcParenR"/>
            </a:pPr>
            <a:r>
              <a:rPr lang="en-US" dirty="0"/>
              <a:t>Exactly three bright spots</a:t>
            </a:r>
          </a:p>
          <a:p>
            <a:pPr marL="0" indent="0">
              <a:buNone/>
            </a:pPr>
            <a:endParaRPr lang="en-US" dirty="0"/>
          </a:p>
        </p:txBody>
      </p:sp>
      <p:sp>
        <p:nvSpPr>
          <p:cNvPr id="6" name="Rectangle 5"/>
          <p:cNvSpPr/>
          <p:nvPr/>
        </p:nvSpPr>
        <p:spPr>
          <a:xfrm>
            <a:off x="7213601" y="1"/>
            <a:ext cx="389466" cy="20828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p:cNvSpPr/>
          <p:nvPr/>
        </p:nvSpPr>
        <p:spPr>
          <a:xfrm>
            <a:off x="7230534" y="2387600"/>
            <a:ext cx="372533" cy="1083733"/>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p:cNvSpPr/>
          <p:nvPr/>
        </p:nvSpPr>
        <p:spPr>
          <a:xfrm>
            <a:off x="7247467" y="3725334"/>
            <a:ext cx="372533" cy="1083733"/>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p:cNvSpPr/>
          <p:nvPr/>
        </p:nvSpPr>
        <p:spPr>
          <a:xfrm>
            <a:off x="7281333" y="5181600"/>
            <a:ext cx="406399" cy="16764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 name="Straight Connector 10"/>
          <p:cNvCxnSpPr/>
          <p:nvPr/>
        </p:nvCxnSpPr>
        <p:spPr>
          <a:xfrm>
            <a:off x="6654800" y="0"/>
            <a:ext cx="84667" cy="6858000"/>
          </a:xfrm>
          <a:prstGeom prst="line">
            <a:avLst/>
          </a:prstGeom>
          <a:ln>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12" name="Straight Connector 11"/>
          <p:cNvCxnSpPr/>
          <p:nvPr/>
        </p:nvCxnSpPr>
        <p:spPr>
          <a:xfrm>
            <a:off x="6180666" y="0"/>
            <a:ext cx="84667" cy="6858000"/>
          </a:xfrm>
          <a:prstGeom prst="line">
            <a:avLst/>
          </a:prstGeom>
          <a:ln>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15" name="Straight Connector 14"/>
          <p:cNvCxnSpPr/>
          <p:nvPr/>
        </p:nvCxnSpPr>
        <p:spPr>
          <a:xfrm>
            <a:off x="5215469" y="0"/>
            <a:ext cx="84667" cy="6858000"/>
          </a:xfrm>
          <a:prstGeom prst="line">
            <a:avLst/>
          </a:prstGeom>
          <a:ln>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16" name="Straight Connector 15"/>
          <p:cNvCxnSpPr/>
          <p:nvPr/>
        </p:nvCxnSpPr>
        <p:spPr>
          <a:xfrm>
            <a:off x="5706535" y="-33863"/>
            <a:ext cx="84667" cy="6858000"/>
          </a:xfrm>
          <a:prstGeom prst="line">
            <a:avLst/>
          </a:prstGeom>
          <a:ln>
            <a:solidFill>
              <a:srgbClr val="00B050"/>
            </a:solidFill>
          </a:ln>
        </p:spPr>
        <p:style>
          <a:lnRef idx="1">
            <a:schemeClr val="accent1"/>
          </a:lnRef>
          <a:fillRef idx="0">
            <a:schemeClr val="accent1"/>
          </a:fillRef>
          <a:effectRef idx="0">
            <a:schemeClr val="accent1"/>
          </a:effectRef>
          <a:fontRef idx="minor">
            <a:schemeClr val="tx1"/>
          </a:fontRef>
        </p:style>
      </p:cxnSp>
      <p:sp>
        <p:nvSpPr>
          <p:cNvPr id="17" name="Right Arrow 16"/>
          <p:cNvSpPr/>
          <p:nvPr/>
        </p:nvSpPr>
        <p:spPr>
          <a:xfrm>
            <a:off x="5046133" y="3183466"/>
            <a:ext cx="1286934" cy="643467"/>
          </a:xfrm>
          <a:prstGeom prst="rightArrow">
            <a:avLst/>
          </a:prstGeom>
          <a:no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p:cNvSpPr/>
          <p:nvPr/>
        </p:nvSpPr>
        <p:spPr>
          <a:xfrm>
            <a:off x="10549468" y="0"/>
            <a:ext cx="152399"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p:cNvSpPr/>
          <p:nvPr/>
        </p:nvSpPr>
        <p:spPr>
          <a:xfrm>
            <a:off x="10701867" y="152400"/>
            <a:ext cx="914400" cy="795867"/>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Screen</a:t>
            </a:r>
          </a:p>
        </p:txBody>
      </p:sp>
    </p:spTree>
    <p:extLst>
      <p:ext uri="{BB962C8B-B14F-4D97-AF65-F5344CB8AC3E}">
        <p14:creationId xmlns:p14="http://schemas.microsoft.com/office/powerpoint/2010/main" val="336663622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pic>
        <p:nvPicPr>
          <p:cNvPr id="3074" name="Picture 2"/>
          <p:cNvPicPr>
            <a:picLocks noChangeAspect="1" noChangeArrowheads="1"/>
          </p:cNvPicPr>
          <p:nvPr/>
        </p:nvPicPr>
        <p:blipFill>
          <a:blip r:embed="rId2" cstate="print"/>
          <a:srcRect/>
          <a:stretch>
            <a:fillRect/>
          </a:stretch>
        </p:blipFill>
        <p:spPr bwMode="auto">
          <a:xfrm>
            <a:off x="3810001" y="152400"/>
            <a:ext cx="3287653" cy="5842000"/>
          </a:xfrm>
          <a:prstGeom prst="rect">
            <a:avLst/>
          </a:prstGeom>
          <a:noFill/>
          <a:ln w="9525">
            <a:noFill/>
            <a:miter lim="800000"/>
            <a:headEnd/>
            <a:tailEnd/>
          </a:ln>
          <a:effectLst/>
        </p:spPr>
      </p:pic>
    </p:spTree>
    <p:extLst>
      <p:ext uri="{BB962C8B-B14F-4D97-AF65-F5344CB8AC3E}">
        <p14:creationId xmlns:p14="http://schemas.microsoft.com/office/powerpoint/2010/main" val="2132342206"/>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5057" name="Picture 1"/>
          <p:cNvPicPr>
            <a:picLocks noChangeAspect="1" noChangeArrowheads="1"/>
          </p:cNvPicPr>
          <p:nvPr/>
        </p:nvPicPr>
        <p:blipFill>
          <a:blip r:embed="rId2" cstate="print"/>
          <a:srcRect/>
          <a:stretch>
            <a:fillRect/>
          </a:stretch>
        </p:blipFill>
        <p:spPr bwMode="auto">
          <a:xfrm>
            <a:off x="2833689" y="785814"/>
            <a:ext cx="6524625" cy="5286375"/>
          </a:xfrm>
          <a:prstGeom prst="rect">
            <a:avLst/>
          </a:prstGeom>
          <a:noFill/>
          <a:ln w="9525">
            <a:noFill/>
            <a:miter lim="800000"/>
            <a:headEnd/>
            <a:tailEnd/>
          </a:ln>
        </p:spPr>
      </p:pic>
    </p:spTree>
    <p:extLst>
      <p:ext uri="{BB962C8B-B14F-4D97-AF65-F5344CB8AC3E}">
        <p14:creationId xmlns:p14="http://schemas.microsoft.com/office/powerpoint/2010/main" val="4040861465"/>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pic>
        <p:nvPicPr>
          <p:cNvPr id="2050" name="Picture 2"/>
          <p:cNvPicPr>
            <a:picLocks noChangeAspect="1" noChangeArrowheads="1"/>
          </p:cNvPicPr>
          <p:nvPr/>
        </p:nvPicPr>
        <p:blipFill>
          <a:blip r:embed="rId2" cstate="print"/>
          <a:srcRect/>
          <a:stretch>
            <a:fillRect/>
          </a:stretch>
        </p:blipFill>
        <p:spPr bwMode="auto">
          <a:xfrm>
            <a:off x="3962401" y="0"/>
            <a:ext cx="3819263" cy="6527800"/>
          </a:xfrm>
          <a:prstGeom prst="rect">
            <a:avLst/>
          </a:prstGeom>
          <a:noFill/>
          <a:ln w="9525">
            <a:noFill/>
            <a:miter lim="800000"/>
            <a:headEnd/>
            <a:tailEnd/>
          </a:ln>
          <a:effectLst/>
        </p:spPr>
      </p:pic>
    </p:spTree>
    <p:extLst>
      <p:ext uri="{BB962C8B-B14F-4D97-AF65-F5344CB8AC3E}">
        <p14:creationId xmlns:p14="http://schemas.microsoft.com/office/powerpoint/2010/main" val="1862410047"/>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dirty="0"/>
          </a:p>
        </p:txBody>
      </p:sp>
      <p:sp>
        <p:nvSpPr>
          <p:cNvPr id="3" name="Content Placeholder 2"/>
          <p:cNvSpPr>
            <a:spLocks noGrp="1"/>
          </p:cNvSpPr>
          <p:nvPr>
            <p:ph idx="1"/>
          </p:nvPr>
        </p:nvSpPr>
        <p:spPr/>
        <p:txBody>
          <a:bodyPr/>
          <a:lstStyle/>
          <a:p>
            <a:endParaRPr lang="en-US"/>
          </a:p>
        </p:txBody>
      </p:sp>
      <p:pic>
        <p:nvPicPr>
          <p:cNvPr id="6" name="Picture 3"/>
          <p:cNvPicPr>
            <a:picLocks noChangeAspect="1" noChangeArrowheads="1"/>
          </p:cNvPicPr>
          <p:nvPr/>
        </p:nvPicPr>
        <p:blipFill>
          <a:blip r:embed="rId2" cstate="print"/>
          <a:srcRect/>
          <a:stretch>
            <a:fillRect/>
          </a:stretch>
        </p:blipFill>
        <p:spPr bwMode="auto">
          <a:xfrm>
            <a:off x="4662489" y="1828800"/>
            <a:ext cx="2081319" cy="5151438"/>
          </a:xfrm>
          <a:prstGeom prst="rect">
            <a:avLst/>
          </a:prstGeom>
          <a:noFill/>
          <a:ln w="9525">
            <a:noFill/>
            <a:miter lim="800000"/>
            <a:headEnd/>
            <a:tailEnd/>
          </a:ln>
          <a:effectLst/>
        </p:spPr>
      </p:pic>
    </p:spTree>
    <p:extLst>
      <p:ext uri="{BB962C8B-B14F-4D97-AF65-F5344CB8AC3E}">
        <p14:creationId xmlns:p14="http://schemas.microsoft.com/office/powerpoint/2010/main" val="2135724373"/>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2" name="Footer Placeholder 5"/>
          <p:cNvSpPr>
            <a:spLocks noGrp="1"/>
          </p:cNvSpPr>
          <p:nvPr>
            <p:ph type="ftr" sz="quarter" idx="11"/>
          </p:nvPr>
        </p:nvSpPr>
        <p:spPr>
          <a:noFill/>
        </p:spPr>
        <p:txBody>
          <a:bodyPr/>
          <a:lstStyle/>
          <a:p>
            <a:r>
              <a:rPr lang="en-US"/>
              <a:t>R. Todd Lines</a:t>
            </a:r>
          </a:p>
        </p:txBody>
      </p:sp>
      <p:sp>
        <p:nvSpPr>
          <p:cNvPr id="56323" name="Rectangle 2"/>
          <p:cNvSpPr>
            <a:spLocks noGrp="1" noChangeArrowheads="1"/>
          </p:cNvSpPr>
          <p:nvPr>
            <p:ph type="title"/>
          </p:nvPr>
        </p:nvSpPr>
        <p:spPr>
          <a:xfrm>
            <a:off x="3124200" y="0"/>
            <a:ext cx="7304088" cy="1143000"/>
          </a:xfrm>
        </p:spPr>
        <p:txBody>
          <a:bodyPr>
            <a:normAutofit fontScale="90000"/>
          </a:bodyPr>
          <a:lstStyle/>
          <a:p>
            <a:pPr eaLnBrk="1" hangingPunct="1"/>
            <a:r>
              <a:rPr lang="en-US"/>
              <a:t>Diffraction Grating Spectrometer</a:t>
            </a:r>
          </a:p>
        </p:txBody>
      </p:sp>
      <p:sp>
        <p:nvSpPr>
          <p:cNvPr id="56324" name="Rectangle 3"/>
          <p:cNvSpPr>
            <a:spLocks noGrp="1" noChangeArrowheads="1"/>
          </p:cNvSpPr>
          <p:nvPr>
            <p:ph type="body" sz="half" idx="1"/>
          </p:nvPr>
        </p:nvSpPr>
        <p:spPr>
          <a:xfrm>
            <a:off x="2133600" y="1371601"/>
            <a:ext cx="4154488" cy="4611687"/>
          </a:xfrm>
        </p:spPr>
        <p:txBody>
          <a:bodyPr/>
          <a:lstStyle/>
          <a:p>
            <a:pPr eaLnBrk="1" hangingPunct="1">
              <a:lnSpc>
                <a:spcPct val="90000"/>
              </a:lnSpc>
            </a:pPr>
            <a:r>
              <a:rPr lang="en-US" sz="2400" dirty="0"/>
              <a:t>The collimated beam is incident on the grating</a:t>
            </a:r>
          </a:p>
          <a:p>
            <a:pPr eaLnBrk="1" hangingPunct="1">
              <a:lnSpc>
                <a:spcPct val="90000"/>
              </a:lnSpc>
            </a:pPr>
            <a:r>
              <a:rPr lang="en-US" sz="2400" dirty="0"/>
              <a:t>The diffracted light leaves the gratings and the telescope is used to view the image</a:t>
            </a:r>
          </a:p>
          <a:p>
            <a:pPr eaLnBrk="1" hangingPunct="1">
              <a:lnSpc>
                <a:spcPct val="90000"/>
              </a:lnSpc>
            </a:pPr>
            <a:r>
              <a:rPr lang="en-US" sz="2400" dirty="0"/>
              <a:t>The wavelength can be determined by measuring the precise angles at which the images of the slit appear for the various orders</a:t>
            </a:r>
          </a:p>
        </p:txBody>
      </p:sp>
      <p:pic>
        <p:nvPicPr>
          <p:cNvPr id="8193" name="Picture 1"/>
          <p:cNvPicPr>
            <a:picLocks noGrp="1" noChangeAspect="1" noChangeArrowheads="1"/>
          </p:cNvPicPr>
          <p:nvPr>
            <p:ph type="clipArt" sz="half" idx="2"/>
          </p:nvPr>
        </p:nvPicPr>
        <p:blipFill>
          <a:blip r:embed="rId2" cstate="print"/>
          <a:srcRect/>
          <a:stretch>
            <a:fillRect/>
          </a:stretch>
        </p:blipFill>
        <p:spPr bwMode="auto">
          <a:xfrm>
            <a:off x="6400801" y="2286001"/>
            <a:ext cx="4033837" cy="1934973"/>
          </a:xfrm>
          <a:prstGeom prst="rect">
            <a:avLst/>
          </a:prstGeom>
          <a:noFill/>
          <a:ln w="9525">
            <a:noFill/>
            <a:miter lim="800000"/>
            <a:headEnd/>
            <a:tailEnd/>
          </a:ln>
          <a:effectLst/>
        </p:spPr>
      </p:pic>
    </p:spTree>
    <p:extLst>
      <p:ext uri="{BB962C8B-B14F-4D97-AF65-F5344CB8AC3E}">
        <p14:creationId xmlns:p14="http://schemas.microsoft.com/office/powerpoint/2010/main" val="3475496079"/>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347" name="Rectangle 2"/>
          <p:cNvSpPr>
            <a:spLocks noGrp="1" noChangeArrowheads="1"/>
          </p:cNvSpPr>
          <p:nvPr>
            <p:ph type="title"/>
          </p:nvPr>
        </p:nvSpPr>
        <p:spPr/>
        <p:txBody>
          <a:bodyPr/>
          <a:lstStyle/>
          <a:p>
            <a:pPr eaLnBrk="1" hangingPunct="1"/>
            <a:r>
              <a:rPr lang="en-US"/>
              <a:t>Details</a:t>
            </a:r>
          </a:p>
        </p:txBody>
      </p:sp>
      <p:pic>
        <p:nvPicPr>
          <p:cNvPr id="7169" name="Picture 1"/>
          <p:cNvPicPr>
            <a:picLocks noChangeAspect="1" noChangeArrowheads="1"/>
          </p:cNvPicPr>
          <p:nvPr/>
        </p:nvPicPr>
        <p:blipFill>
          <a:blip r:embed="rId2" cstate="print"/>
          <a:srcRect/>
          <a:stretch>
            <a:fillRect/>
          </a:stretch>
        </p:blipFill>
        <p:spPr bwMode="auto">
          <a:xfrm>
            <a:off x="2743201" y="1905000"/>
            <a:ext cx="7267575" cy="3486150"/>
          </a:xfrm>
          <a:prstGeom prst="rect">
            <a:avLst/>
          </a:prstGeom>
          <a:noFill/>
          <a:ln w="9525">
            <a:noFill/>
            <a:miter lim="800000"/>
            <a:headEnd/>
            <a:tailEnd/>
          </a:ln>
          <a:effectLst/>
        </p:spPr>
      </p:pic>
      <p:pic>
        <p:nvPicPr>
          <p:cNvPr id="57353" name="Picture 8"/>
          <p:cNvPicPr>
            <a:picLocks noChangeAspect="1" noChangeArrowheads="1"/>
          </p:cNvPicPr>
          <p:nvPr/>
        </p:nvPicPr>
        <p:blipFill>
          <a:blip r:embed="rId3" cstate="print"/>
          <a:srcRect/>
          <a:stretch>
            <a:fillRect/>
          </a:stretch>
        </p:blipFill>
        <p:spPr bwMode="auto">
          <a:xfrm>
            <a:off x="6858000" y="5029200"/>
            <a:ext cx="3543300" cy="1428750"/>
          </a:xfrm>
          <a:prstGeom prst="rect">
            <a:avLst/>
          </a:prstGeom>
          <a:noFill/>
          <a:ln w="9525" algn="ctr">
            <a:noFill/>
            <a:miter lim="800000"/>
            <a:headEnd/>
            <a:tailEnd/>
          </a:ln>
        </p:spPr>
      </p:pic>
    </p:spTree>
    <p:extLst>
      <p:ext uri="{BB962C8B-B14F-4D97-AF65-F5344CB8AC3E}">
        <p14:creationId xmlns:p14="http://schemas.microsoft.com/office/powerpoint/2010/main" val="722388792"/>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8" name="Footer Placeholder 4"/>
          <p:cNvSpPr>
            <a:spLocks noGrp="1"/>
          </p:cNvSpPr>
          <p:nvPr>
            <p:ph type="ftr" sz="quarter" idx="11"/>
          </p:nvPr>
        </p:nvSpPr>
        <p:spPr>
          <a:noFill/>
        </p:spPr>
        <p:txBody>
          <a:bodyPr/>
          <a:lstStyle/>
          <a:p>
            <a:r>
              <a:rPr lang="en-US"/>
              <a:t>R. Todd Lines</a:t>
            </a:r>
          </a:p>
        </p:txBody>
      </p:sp>
      <p:sp>
        <p:nvSpPr>
          <p:cNvPr id="55299" name="Rectangle 2"/>
          <p:cNvSpPr>
            <a:spLocks noGrp="1" noChangeArrowheads="1"/>
          </p:cNvSpPr>
          <p:nvPr>
            <p:ph type="title"/>
          </p:nvPr>
        </p:nvSpPr>
        <p:spPr>
          <a:xfrm>
            <a:off x="2760664" y="0"/>
            <a:ext cx="7362825" cy="1143000"/>
          </a:xfrm>
        </p:spPr>
        <p:txBody>
          <a:bodyPr>
            <a:normAutofit fontScale="90000"/>
          </a:bodyPr>
          <a:lstStyle/>
          <a:p>
            <a:pPr eaLnBrk="1" hangingPunct="1"/>
            <a:r>
              <a:rPr lang="en-US"/>
              <a:t>Diffraction Grating, Intensity, cont.</a:t>
            </a:r>
          </a:p>
        </p:txBody>
      </p:sp>
      <p:sp>
        <p:nvSpPr>
          <p:cNvPr id="55300" name="Rectangle 3"/>
          <p:cNvSpPr>
            <a:spLocks noGrp="1" noChangeArrowheads="1"/>
          </p:cNvSpPr>
          <p:nvPr>
            <p:ph type="body" idx="1"/>
          </p:nvPr>
        </p:nvSpPr>
        <p:spPr/>
        <p:txBody>
          <a:bodyPr/>
          <a:lstStyle/>
          <a:p>
            <a:pPr eaLnBrk="1" hangingPunct="1"/>
            <a:r>
              <a:rPr lang="en-US"/>
              <a:t>Characteristics of the intensity pattern</a:t>
            </a:r>
          </a:p>
          <a:p>
            <a:pPr lvl="1" eaLnBrk="1" hangingPunct="1"/>
            <a:r>
              <a:rPr lang="en-US"/>
              <a:t>The sharp peaks are in contrast to the broad, bright fringes characteristic of the two-slit interference pattern</a:t>
            </a:r>
          </a:p>
          <a:p>
            <a:pPr lvl="1" eaLnBrk="1" hangingPunct="1"/>
            <a:r>
              <a:rPr lang="en-US"/>
              <a:t>Because the principle maxima are so sharp, they are much brighter than two-slit interference patterns</a:t>
            </a:r>
          </a:p>
          <a:p>
            <a:pPr eaLnBrk="1" hangingPunct="1"/>
            <a:endParaRPr lang="en-US"/>
          </a:p>
        </p:txBody>
      </p:sp>
    </p:spTree>
    <p:extLst>
      <p:ext uri="{BB962C8B-B14F-4D97-AF65-F5344CB8AC3E}">
        <p14:creationId xmlns:p14="http://schemas.microsoft.com/office/powerpoint/2010/main" val="77860841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394" name="Footer Placeholder 5"/>
          <p:cNvSpPr>
            <a:spLocks noGrp="1"/>
          </p:cNvSpPr>
          <p:nvPr>
            <p:ph type="ftr" sz="quarter" idx="11"/>
          </p:nvPr>
        </p:nvSpPr>
        <p:spPr>
          <a:noFill/>
        </p:spPr>
        <p:txBody>
          <a:bodyPr/>
          <a:lstStyle/>
          <a:p>
            <a:r>
              <a:rPr lang="en-US"/>
              <a:t>R. Todd Lines</a:t>
            </a:r>
          </a:p>
        </p:txBody>
      </p:sp>
      <p:sp>
        <p:nvSpPr>
          <p:cNvPr id="59395" name="Rectangle 2"/>
          <p:cNvSpPr>
            <a:spLocks noGrp="1" noChangeArrowheads="1"/>
          </p:cNvSpPr>
          <p:nvPr>
            <p:ph type="title"/>
          </p:nvPr>
        </p:nvSpPr>
        <p:spPr/>
        <p:txBody>
          <a:bodyPr/>
          <a:lstStyle/>
          <a:p>
            <a:pPr eaLnBrk="1" hangingPunct="1"/>
            <a:r>
              <a:rPr lang="en-US"/>
              <a:t>Grating Light Valve</a:t>
            </a:r>
          </a:p>
        </p:txBody>
      </p:sp>
      <p:sp>
        <p:nvSpPr>
          <p:cNvPr id="59396" name="Rectangle 3"/>
          <p:cNvSpPr>
            <a:spLocks noGrp="1" noChangeArrowheads="1"/>
          </p:cNvSpPr>
          <p:nvPr>
            <p:ph type="body" sz="half" idx="1"/>
          </p:nvPr>
        </p:nvSpPr>
        <p:spPr>
          <a:xfrm>
            <a:off x="1524000" y="1481139"/>
            <a:ext cx="4230688" cy="4459287"/>
          </a:xfrm>
        </p:spPr>
        <p:txBody>
          <a:bodyPr/>
          <a:lstStyle/>
          <a:p>
            <a:pPr eaLnBrk="1" hangingPunct="1"/>
            <a:r>
              <a:rPr lang="en-US" sz="2200"/>
              <a:t>A grating light valve consists of a silicon microchip fitted with an array of parallel silicon nitride ribbons coated with a thin layer of aluminum</a:t>
            </a:r>
          </a:p>
          <a:p>
            <a:pPr eaLnBrk="1" hangingPunct="1"/>
            <a:r>
              <a:rPr lang="en-US" sz="2200"/>
              <a:t>When a voltage is applied between a ribbon and the electrode on the silicon substrate, an electric force pulls the ribbon down</a:t>
            </a:r>
          </a:p>
          <a:p>
            <a:pPr eaLnBrk="1" hangingPunct="1"/>
            <a:r>
              <a:rPr lang="en-US" sz="2200"/>
              <a:t>The array of ribbons acts as a diffraction grating</a:t>
            </a:r>
          </a:p>
        </p:txBody>
      </p:sp>
      <p:pic>
        <p:nvPicPr>
          <p:cNvPr id="59397" name="Picture 4" descr="38-19"/>
          <p:cNvPicPr>
            <a:picLocks noGrp="1" noChangeAspect="1" noChangeArrowheads="1"/>
          </p:cNvPicPr>
          <p:nvPr>
            <p:ph type="clipArt" sz="half" idx="2"/>
          </p:nvPr>
        </p:nvPicPr>
        <p:blipFill>
          <a:blip r:embed="rId2" cstate="print"/>
          <a:srcRect/>
          <a:stretch>
            <a:fillRect/>
          </a:stretch>
        </p:blipFill>
        <p:spPr>
          <a:xfrm>
            <a:off x="6176964" y="2190751"/>
            <a:ext cx="4033837" cy="3343275"/>
          </a:xfrm>
          <a:noFill/>
        </p:spPr>
      </p:pic>
    </p:spTree>
    <p:extLst>
      <p:ext uri="{BB962C8B-B14F-4D97-AF65-F5344CB8AC3E}">
        <p14:creationId xmlns:p14="http://schemas.microsoft.com/office/powerpoint/2010/main" val="78154814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3" name="Footer Placeholder 4"/>
          <p:cNvSpPr>
            <a:spLocks noGrp="1"/>
          </p:cNvSpPr>
          <p:nvPr>
            <p:ph type="ftr" sz="quarter" idx="11"/>
          </p:nvPr>
        </p:nvSpPr>
        <p:spPr>
          <a:noFill/>
        </p:spPr>
        <p:txBody>
          <a:bodyPr/>
          <a:lstStyle/>
          <a:p>
            <a:r>
              <a:rPr lang="en-US"/>
              <a:t>R. Todd Lines</a:t>
            </a:r>
          </a:p>
        </p:txBody>
      </p:sp>
      <p:sp>
        <p:nvSpPr>
          <p:cNvPr id="15364" name="Rectangle 2"/>
          <p:cNvSpPr>
            <a:spLocks noGrp="1" noChangeArrowheads="1"/>
          </p:cNvSpPr>
          <p:nvPr>
            <p:ph type="title"/>
          </p:nvPr>
        </p:nvSpPr>
        <p:spPr>
          <a:xfrm>
            <a:off x="2790825" y="0"/>
            <a:ext cx="7551738" cy="1143000"/>
          </a:xfrm>
        </p:spPr>
        <p:txBody>
          <a:bodyPr/>
          <a:lstStyle/>
          <a:p>
            <a:pPr eaLnBrk="1" hangingPunct="1"/>
            <a:r>
              <a:rPr lang="en-US" sz="3200"/>
              <a:t>Resolving Power of a Diffraction Grating</a:t>
            </a:r>
          </a:p>
        </p:txBody>
      </p:sp>
      <p:sp>
        <p:nvSpPr>
          <p:cNvPr id="15365" name="Rectangle 3"/>
          <p:cNvSpPr>
            <a:spLocks noGrp="1" noChangeArrowheads="1"/>
          </p:cNvSpPr>
          <p:nvPr>
            <p:ph type="body" idx="1"/>
          </p:nvPr>
        </p:nvSpPr>
        <p:spPr/>
        <p:txBody>
          <a:bodyPr/>
          <a:lstStyle/>
          <a:p>
            <a:pPr eaLnBrk="1" hangingPunct="1">
              <a:lnSpc>
                <a:spcPct val="90000"/>
              </a:lnSpc>
            </a:pPr>
            <a:r>
              <a:rPr lang="en-US"/>
              <a:t>For two nearly equal wavelengths, </a:t>
            </a:r>
            <a:r>
              <a:rPr lang="en-US" i="1">
                <a:cs typeface="Arial" charset="0"/>
              </a:rPr>
              <a:t>λ</a:t>
            </a:r>
            <a:r>
              <a:rPr lang="en-US" baseline="-25000"/>
              <a:t>1</a:t>
            </a:r>
            <a:r>
              <a:rPr lang="en-US"/>
              <a:t> and </a:t>
            </a:r>
            <a:r>
              <a:rPr lang="en-US" i="1">
                <a:cs typeface="Arial" charset="0"/>
              </a:rPr>
              <a:t>λ</a:t>
            </a:r>
            <a:r>
              <a:rPr lang="en-US" baseline="-25000"/>
              <a:t>2</a:t>
            </a:r>
            <a:r>
              <a:rPr lang="en-US"/>
              <a:t>, between which a diffraction grating can just barely distinguish, the </a:t>
            </a:r>
            <a:r>
              <a:rPr lang="en-US" b="1"/>
              <a:t>resolving power</a:t>
            </a:r>
            <a:r>
              <a:rPr lang="en-US"/>
              <a:t>, </a:t>
            </a:r>
            <a:r>
              <a:rPr lang="en-US" i="1"/>
              <a:t>R</a:t>
            </a:r>
            <a:r>
              <a:rPr lang="en-US"/>
              <a:t>, of the grating is defined as </a:t>
            </a:r>
          </a:p>
          <a:p>
            <a:pPr eaLnBrk="1" hangingPunct="1">
              <a:lnSpc>
                <a:spcPct val="90000"/>
              </a:lnSpc>
            </a:pPr>
            <a:endParaRPr lang="en-US"/>
          </a:p>
          <a:p>
            <a:pPr eaLnBrk="1" hangingPunct="1">
              <a:lnSpc>
                <a:spcPct val="90000"/>
              </a:lnSpc>
            </a:pPr>
            <a:endParaRPr lang="en-US"/>
          </a:p>
          <a:p>
            <a:pPr eaLnBrk="1" hangingPunct="1">
              <a:lnSpc>
                <a:spcPct val="90000"/>
              </a:lnSpc>
            </a:pPr>
            <a:r>
              <a:rPr lang="en-US"/>
              <a:t>Therefore, a grating with a high resolution can distinguish between small differences in wavelength</a:t>
            </a:r>
          </a:p>
        </p:txBody>
      </p:sp>
      <p:graphicFrame>
        <p:nvGraphicFramePr>
          <p:cNvPr id="15362" name="Object 4"/>
          <p:cNvGraphicFramePr>
            <a:graphicFrameLocks noChangeAspect="1"/>
          </p:cNvGraphicFramePr>
          <p:nvPr/>
        </p:nvGraphicFramePr>
        <p:xfrm>
          <a:off x="4876800" y="3251200"/>
          <a:ext cx="2381250" cy="954088"/>
        </p:xfrm>
        <a:graphic>
          <a:graphicData uri="http://schemas.openxmlformats.org/presentationml/2006/ole">
            <mc:AlternateContent xmlns:mc="http://schemas.openxmlformats.org/markup-compatibility/2006">
              <mc:Choice xmlns:v="urn:schemas-microsoft-com:vml" Requires="v">
                <p:oleObj name="Equation" r:id="rId2" imgW="1079280" imgH="431640" progId="">
                  <p:embed/>
                </p:oleObj>
              </mc:Choice>
              <mc:Fallback>
                <p:oleObj name="Equation" r:id="rId2" imgW="1079280" imgH="431640" progId="">
                  <p:embed/>
                  <p:pic>
                    <p:nvPicPr>
                      <p:cNvPr id="15362" name="Object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876800" y="3251200"/>
                        <a:ext cx="2381250" cy="9540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2783425010"/>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723" name="Picture 3"/>
          <p:cNvPicPr>
            <a:picLocks noChangeAspect="1" noChangeArrowheads="1"/>
          </p:cNvPicPr>
          <p:nvPr/>
        </p:nvPicPr>
        <p:blipFill>
          <a:blip r:embed="rId2" cstate="print"/>
          <a:srcRect/>
          <a:stretch>
            <a:fillRect/>
          </a:stretch>
        </p:blipFill>
        <p:spPr bwMode="auto">
          <a:xfrm>
            <a:off x="3455036" y="243840"/>
            <a:ext cx="5221473" cy="6400800"/>
          </a:xfrm>
          <a:prstGeom prst="rect">
            <a:avLst/>
          </a:prstGeom>
          <a:noFill/>
          <a:ln w="9525">
            <a:noFill/>
            <a:miter lim="800000"/>
            <a:headEnd/>
            <a:tailEnd/>
          </a:ln>
          <a:effectLst/>
        </p:spPr>
      </p:pic>
      <p:cxnSp>
        <p:nvCxnSpPr>
          <p:cNvPr id="8" name="Straight Arrow Connector 7"/>
          <p:cNvCxnSpPr>
            <a:stCxn id="9" idx="3"/>
          </p:cNvCxnSpPr>
          <p:nvPr/>
        </p:nvCxnSpPr>
        <p:spPr>
          <a:xfrm>
            <a:off x="4393774" y="428954"/>
            <a:ext cx="391586" cy="165407"/>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9" name="TextBox 8"/>
          <p:cNvSpPr txBox="1"/>
          <p:nvPr/>
        </p:nvSpPr>
        <p:spPr>
          <a:xfrm>
            <a:off x="1798320" y="198121"/>
            <a:ext cx="2595454" cy="461665"/>
          </a:xfrm>
          <a:prstGeom prst="rect">
            <a:avLst/>
          </a:prstGeom>
          <a:noFill/>
        </p:spPr>
        <p:txBody>
          <a:bodyPr wrap="none" rtlCol="0">
            <a:spAutoFit/>
          </a:bodyPr>
          <a:lstStyle/>
          <a:p>
            <a:r>
              <a:rPr lang="en-US" sz="2400" dirty="0"/>
              <a:t>Single Slit Envelope</a:t>
            </a:r>
          </a:p>
        </p:txBody>
      </p:sp>
      <p:cxnSp>
        <p:nvCxnSpPr>
          <p:cNvPr id="10" name="Straight Arrow Connector 9"/>
          <p:cNvCxnSpPr>
            <a:stCxn id="12" idx="3"/>
          </p:cNvCxnSpPr>
          <p:nvPr/>
        </p:nvCxnSpPr>
        <p:spPr>
          <a:xfrm flipV="1">
            <a:off x="4116604" y="929641"/>
            <a:ext cx="546836" cy="444192"/>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12" name="TextBox 11"/>
          <p:cNvSpPr txBox="1"/>
          <p:nvPr/>
        </p:nvSpPr>
        <p:spPr>
          <a:xfrm>
            <a:off x="1783080" y="1143001"/>
            <a:ext cx="2333524" cy="461665"/>
          </a:xfrm>
          <a:prstGeom prst="rect">
            <a:avLst/>
          </a:prstGeom>
          <a:noFill/>
        </p:spPr>
        <p:txBody>
          <a:bodyPr wrap="none" rtlCol="0">
            <a:spAutoFit/>
          </a:bodyPr>
          <a:lstStyle/>
          <a:p>
            <a:r>
              <a:rPr lang="en-US" sz="2400" dirty="0"/>
              <a:t>Intensity pattern </a:t>
            </a:r>
          </a:p>
        </p:txBody>
      </p:sp>
      <p:sp>
        <p:nvSpPr>
          <p:cNvPr id="15" name="TextBox 14"/>
          <p:cNvSpPr txBox="1"/>
          <p:nvPr/>
        </p:nvSpPr>
        <p:spPr>
          <a:xfrm>
            <a:off x="8463639" y="518161"/>
            <a:ext cx="893193" cy="461665"/>
          </a:xfrm>
          <a:prstGeom prst="rect">
            <a:avLst/>
          </a:prstGeom>
          <a:noFill/>
        </p:spPr>
        <p:txBody>
          <a:bodyPr wrap="none" rtlCol="0">
            <a:spAutoFit/>
          </a:bodyPr>
          <a:lstStyle/>
          <a:p>
            <a:r>
              <a:rPr lang="en-US" sz="2400" dirty="0"/>
              <a:t>2 slits</a:t>
            </a:r>
          </a:p>
        </p:txBody>
      </p:sp>
      <p:sp>
        <p:nvSpPr>
          <p:cNvPr id="16" name="TextBox 15"/>
          <p:cNvSpPr txBox="1"/>
          <p:nvPr/>
        </p:nvSpPr>
        <p:spPr>
          <a:xfrm>
            <a:off x="8463639" y="1584961"/>
            <a:ext cx="893193" cy="461665"/>
          </a:xfrm>
          <a:prstGeom prst="rect">
            <a:avLst/>
          </a:prstGeom>
          <a:noFill/>
        </p:spPr>
        <p:txBody>
          <a:bodyPr wrap="none" rtlCol="0">
            <a:spAutoFit/>
          </a:bodyPr>
          <a:lstStyle/>
          <a:p>
            <a:r>
              <a:rPr lang="en-US" sz="2400" dirty="0"/>
              <a:t>3 slits</a:t>
            </a:r>
          </a:p>
        </p:txBody>
      </p:sp>
      <p:sp>
        <p:nvSpPr>
          <p:cNvPr id="17" name="TextBox 16"/>
          <p:cNvSpPr txBox="1"/>
          <p:nvPr/>
        </p:nvSpPr>
        <p:spPr>
          <a:xfrm>
            <a:off x="8463639" y="2667001"/>
            <a:ext cx="893193" cy="461665"/>
          </a:xfrm>
          <a:prstGeom prst="rect">
            <a:avLst/>
          </a:prstGeom>
          <a:noFill/>
        </p:spPr>
        <p:txBody>
          <a:bodyPr wrap="none" rtlCol="0">
            <a:spAutoFit/>
          </a:bodyPr>
          <a:lstStyle/>
          <a:p>
            <a:r>
              <a:rPr lang="en-US" sz="2400" dirty="0"/>
              <a:t>4 slits</a:t>
            </a:r>
          </a:p>
        </p:txBody>
      </p:sp>
      <p:sp>
        <p:nvSpPr>
          <p:cNvPr id="18" name="TextBox 17"/>
          <p:cNvSpPr txBox="1"/>
          <p:nvPr/>
        </p:nvSpPr>
        <p:spPr>
          <a:xfrm>
            <a:off x="8463639" y="3749041"/>
            <a:ext cx="893193" cy="461665"/>
          </a:xfrm>
          <a:prstGeom prst="rect">
            <a:avLst/>
          </a:prstGeom>
          <a:noFill/>
        </p:spPr>
        <p:txBody>
          <a:bodyPr wrap="none" rtlCol="0">
            <a:spAutoFit/>
          </a:bodyPr>
          <a:lstStyle/>
          <a:p>
            <a:r>
              <a:rPr lang="en-US" sz="2400" dirty="0"/>
              <a:t>5 slits</a:t>
            </a:r>
          </a:p>
        </p:txBody>
      </p:sp>
      <p:sp>
        <p:nvSpPr>
          <p:cNvPr id="19" name="TextBox 18"/>
          <p:cNvSpPr txBox="1"/>
          <p:nvPr/>
        </p:nvSpPr>
        <p:spPr>
          <a:xfrm>
            <a:off x="8346619" y="4831081"/>
            <a:ext cx="1048685" cy="461665"/>
          </a:xfrm>
          <a:prstGeom prst="rect">
            <a:avLst/>
          </a:prstGeom>
          <a:noFill/>
        </p:spPr>
        <p:txBody>
          <a:bodyPr wrap="none" rtlCol="0">
            <a:spAutoFit/>
          </a:bodyPr>
          <a:lstStyle/>
          <a:p>
            <a:r>
              <a:rPr lang="en-US" sz="2400" dirty="0"/>
              <a:t>10 slits</a:t>
            </a:r>
          </a:p>
        </p:txBody>
      </p:sp>
      <p:sp>
        <p:nvSpPr>
          <p:cNvPr id="20" name="TextBox 19"/>
          <p:cNvSpPr txBox="1"/>
          <p:nvPr/>
        </p:nvSpPr>
        <p:spPr>
          <a:xfrm>
            <a:off x="8229600" y="5867401"/>
            <a:ext cx="1204176" cy="461665"/>
          </a:xfrm>
          <a:prstGeom prst="rect">
            <a:avLst/>
          </a:prstGeom>
          <a:noFill/>
        </p:spPr>
        <p:txBody>
          <a:bodyPr wrap="none" rtlCol="0">
            <a:spAutoFit/>
          </a:bodyPr>
          <a:lstStyle/>
          <a:p>
            <a:r>
              <a:rPr lang="en-US" sz="2400" dirty="0"/>
              <a:t>100 slits</a:t>
            </a:r>
          </a:p>
        </p:txBody>
      </p:sp>
      <p:graphicFrame>
        <p:nvGraphicFramePr>
          <p:cNvPr id="21" name="Object 20"/>
          <p:cNvGraphicFramePr>
            <a:graphicFrameLocks noChangeAspect="1"/>
          </p:cNvGraphicFramePr>
          <p:nvPr/>
        </p:nvGraphicFramePr>
        <p:xfrm>
          <a:off x="8487410" y="6521450"/>
          <a:ext cx="811679" cy="336550"/>
        </p:xfrm>
        <a:graphic>
          <a:graphicData uri="http://schemas.openxmlformats.org/presentationml/2006/ole">
            <mc:AlternateContent xmlns:mc="http://schemas.openxmlformats.org/markup-compatibility/2006">
              <mc:Choice xmlns:v="urn:schemas-microsoft-com:vml" Requires="v">
                <p:oleObj name="Equation" r:id="rId3" imgW="520560" imgH="215640" progId="Equation.3">
                  <p:embed/>
                </p:oleObj>
              </mc:Choice>
              <mc:Fallback>
                <p:oleObj name="Equation" r:id="rId3" imgW="520560" imgH="215640" progId="Equation.3">
                  <p:embed/>
                  <p:pic>
                    <p:nvPicPr>
                      <p:cNvPr id="21" name="Object 20"/>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487410" y="6521450"/>
                        <a:ext cx="811679" cy="33655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292880548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418" name="Footer Placeholder 4"/>
          <p:cNvSpPr>
            <a:spLocks noGrp="1"/>
          </p:cNvSpPr>
          <p:nvPr>
            <p:ph type="ftr" sz="quarter" idx="11"/>
          </p:nvPr>
        </p:nvSpPr>
        <p:spPr>
          <a:noFill/>
        </p:spPr>
        <p:txBody>
          <a:bodyPr/>
          <a:lstStyle/>
          <a:p>
            <a:r>
              <a:rPr lang="en-US"/>
              <a:t>R. Todd Lines</a:t>
            </a:r>
          </a:p>
        </p:txBody>
      </p:sp>
      <p:sp>
        <p:nvSpPr>
          <p:cNvPr id="60419" name="Rectangle 2"/>
          <p:cNvSpPr>
            <a:spLocks noGrp="1" noChangeArrowheads="1"/>
          </p:cNvSpPr>
          <p:nvPr>
            <p:ph type="title"/>
          </p:nvPr>
        </p:nvSpPr>
        <p:spPr>
          <a:xfrm>
            <a:off x="3124200" y="-142875"/>
            <a:ext cx="6477000" cy="1143000"/>
          </a:xfrm>
        </p:spPr>
        <p:txBody>
          <a:bodyPr>
            <a:normAutofit fontScale="90000"/>
          </a:bodyPr>
          <a:lstStyle/>
          <a:p>
            <a:pPr eaLnBrk="1" hangingPunct="1"/>
            <a:r>
              <a:rPr lang="en-US"/>
              <a:t>Resolving Power of a Diffraction Grating, cont</a:t>
            </a:r>
          </a:p>
        </p:txBody>
      </p:sp>
      <p:sp>
        <p:nvSpPr>
          <p:cNvPr id="60420" name="Rectangle 3"/>
          <p:cNvSpPr>
            <a:spLocks noGrp="1" noChangeArrowheads="1"/>
          </p:cNvSpPr>
          <p:nvPr>
            <p:ph type="body" idx="1"/>
          </p:nvPr>
        </p:nvSpPr>
        <p:spPr/>
        <p:txBody>
          <a:bodyPr/>
          <a:lstStyle/>
          <a:p>
            <a:pPr eaLnBrk="1" hangingPunct="1"/>
            <a:r>
              <a:rPr lang="en-US"/>
              <a:t>The resolving power in the </a:t>
            </a:r>
            <a:r>
              <a:rPr lang="en-US" i="1"/>
              <a:t>m</a:t>
            </a:r>
            <a:r>
              <a:rPr lang="en-US"/>
              <a:t>th-order diffraction is </a:t>
            </a:r>
            <a:r>
              <a:rPr lang="en-US" i="1"/>
              <a:t>R</a:t>
            </a:r>
            <a:r>
              <a:rPr lang="en-US"/>
              <a:t> = </a:t>
            </a:r>
            <a:r>
              <a:rPr lang="en-US" i="1"/>
              <a:t>Nm</a:t>
            </a:r>
          </a:p>
          <a:p>
            <a:pPr lvl="1" eaLnBrk="1" hangingPunct="1"/>
            <a:r>
              <a:rPr lang="en-US" i="1"/>
              <a:t>N</a:t>
            </a:r>
            <a:r>
              <a:rPr lang="en-US"/>
              <a:t> is the number of slits</a:t>
            </a:r>
          </a:p>
          <a:p>
            <a:pPr lvl="1" eaLnBrk="1" hangingPunct="1"/>
            <a:r>
              <a:rPr lang="en-US" i="1"/>
              <a:t>m</a:t>
            </a:r>
            <a:r>
              <a:rPr lang="en-US"/>
              <a:t> is the order number</a:t>
            </a:r>
          </a:p>
          <a:p>
            <a:pPr eaLnBrk="1" hangingPunct="1"/>
            <a:r>
              <a:rPr lang="en-US"/>
              <a:t>Resolving power increases with increasing order number and with increasing number of illuminated slits</a:t>
            </a:r>
          </a:p>
          <a:p>
            <a:pPr lvl="1" eaLnBrk="1" hangingPunct="1"/>
            <a:endParaRPr lang="en-US"/>
          </a:p>
        </p:txBody>
      </p:sp>
    </p:spTree>
    <p:extLst>
      <p:ext uri="{BB962C8B-B14F-4D97-AF65-F5344CB8AC3E}">
        <p14:creationId xmlns:p14="http://schemas.microsoft.com/office/powerpoint/2010/main" val="2685100578"/>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42" name="Footer Placeholder 4"/>
          <p:cNvSpPr>
            <a:spLocks noGrp="1"/>
          </p:cNvSpPr>
          <p:nvPr>
            <p:ph type="ftr" sz="quarter" idx="11"/>
          </p:nvPr>
        </p:nvSpPr>
        <p:spPr>
          <a:noFill/>
        </p:spPr>
        <p:txBody>
          <a:bodyPr/>
          <a:lstStyle/>
          <a:p>
            <a:r>
              <a:rPr lang="en-US"/>
              <a:t>R. Todd Lines</a:t>
            </a:r>
          </a:p>
        </p:txBody>
      </p:sp>
      <p:sp>
        <p:nvSpPr>
          <p:cNvPr id="61443" name="Rectangle 2"/>
          <p:cNvSpPr>
            <a:spLocks noGrp="1" noChangeArrowheads="1"/>
          </p:cNvSpPr>
          <p:nvPr>
            <p:ph type="title"/>
          </p:nvPr>
        </p:nvSpPr>
        <p:spPr>
          <a:xfrm>
            <a:off x="1981200" y="-177292"/>
            <a:ext cx="8229600" cy="1143000"/>
          </a:xfrm>
        </p:spPr>
        <p:txBody>
          <a:bodyPr/>
          <a:lstStyle/>
          <a:p>
            <a:pPr eaLnBrk="1" hangingPunct="1"/>
            <a:r>
              <a:rPr lang="en-US" dirty="0"/>
              <a:t>AIRS</a:t>
            </a:r>
          </a:p>
        </p:txBody>
      </p:sp>
      <p:sp>
        <p:nvSpPr>
          <p:cNvPr id="61444" name="Rectangle 3"/>
          <p:cNvSpPr>
            <a:spLocks noGrp="1" noChangeArrowheads="1"/>
          </p:cNvSpPr>
          <p:nvPr>
            <p:ph type="body" idx="1"/>
          </p:nvPr>
        </p:nvSpPr>
        <p:spPr/>
        <p:txBody>
          <a:bodyPr/>
          <a:lstStyle/>
          <a:p>
            <a:pPr eaLnBrk="1" hangingPunct="1"/>
            <a:endParaRPr lang="en-US"/>
          </a:p>
        </p:txBody>
      </p:sp>
      <p:pic>
        <p:nvPicPr>
          <p:cNvPr id="61445" name="Picture 4" descr="airsinst4_th200"/>
          <p:cNvPicPr>
            <a:picLocks noChangeAspect="1" noChangeArrowheads="1"/>
          </p:cNvPicPr>
          <p:nvPr/>
        </p:nvPicPr>
        <p:blipFill>
          <a:blip r:embed="rId2" cstate="print"/>
          <a:srcRect/>
          <a:stretch>
            <a:fillRect/>
          </a:stretch>
        </p:blipFill>
        <p:spPr bwMode="auto">
          <a:xfrm>
            <a:off x="1524001" y="679134"/>
            <a:ext cx="4244975" cy="2854325"/>
          </a:xfrm>
          <a:prstGeom prst="rect">
            <a:avLst/>
          </a:prstGeom>
          <a:noFill/>
          <a:ln w="9525">
            <a:noFill/>
            <a:miter lim="800000"/>
            <a:headEnd/>
            <a:tailEnd/>
          </a:ln>
        </p:spPr>
      </p:pic>
      <p:pic>
        <p:nvPicPr>
          <p:cNvPr id="61446" name="Picture 5" descr="Scan_Geo_th300"/>
          <p:cNvPicPr>
            <a:picLocks noChangeAspect="1" noChangeArrowheads="1"/>
          </p:cNvPicPr>
          <p:nvPr/>
        </p:nvPicPr>
        <p:blipFill>
          <a:blip r:embed="rId3" cstate="print"/>
          <a:srcRect/>
          <a:stretch>
            <a:fillRect/>
          </a:stretch>
        </p:blipFill>
        <p:spPr bwMode="auto">
          <a:xfrm>
            <a:off x="3030538" y="3252470"/>
            <a:ext cx="3810000" cy="2679700"/>
          </a:xfrm>
          <a:prstGeom prst="rect">
            <a:avLst/>
          </a:prstGeom>
          <a:noFill/>
          <a:ln w="9525">
            <a:noFill/>
            <a:miter lim="800000"/>
            <a:headEnd/>
            <a:tailEnd/>
          </a:ln>
        </p:spPr>
      </p:pic>
      <p:pic>
        <p:nvPicPr>
          <p:cNvPr id="28673" name="Picture 1"/>
          <p:cNvPicPr>
            <a:picLocks noChangeAspect="1" noChangeArrowheads="1"/>
          </p:cNvPicPr>
          <p:nvPr/>
        </p:nvPicPr>
        <p:blipFill>
          <a:blip r:embed="rId4" cstate="print"/>
          <a:srcRect/>
          <a:stretch>
            <a:fillRect/>
          </a:stretch>
        </p:blipFill>
        <p:spPr bwMode="auto">
          <a:xfrm>
            <a:off x="7343776" y="3629026"/>
            <a:ext cx="3019425" cy="3000375"/>
          </a:xfrm>
          <a:prstGeom prst="rect">
            <a:avLst/>
          </a:prstGeom>
          <a:noFill/>
          <a:ln w="9525">
            <a:noFill/>
            <a:miter lim="800000"/>
            <a:headEnd/>
            <a:tailEnd/>
          </a:ln>
        </p:spPr>
      </p:pic>
      <p:pic>
        <p:nvPicPr>
          <p:cNvPr id="28674" name="Picture 2"/>
          <p:cNvPicPr>
            <a:picLocks noChangeAspect="1" noChangeArrowheads="1"/>
          </p:cNvPicPr>
          <p:nvPr/>
        </p:nvPicPr>
        <p:blipFill>
          <a:blip r:embed="rId5" cstate="print"/>
          <a:srcRect/>
          <a:stretch>
            <a:fillRect/>
          </a:stretch>
        </p:blipFill>
        <p:spPr bwMode="auto">
          <a:xfrm>
            <a:off x="6216969" y="944880"/>
            <a:ext cx="3629025" cy="2438400"/>
          </a:xfrm>
          <a:prstGeom prst="rect">
            <a:avLst/>
          </a:prstGeom>
          <a:noFill/>
          <a:ln w="9525">
            <a:noFill/>
            <a:miter lim="800000"/>
            <a:headEnd/>
            <a:tailEnd/>
          </a:ln>
        </p:spPr>
      </p:pic>
    </p:spTree>
    <p:extLst>
      <p:ext uri="{BB962C8B-B14F-4D97-AF65-F5344CB8AC3E}">
        <p14:creationId xmlns:p14="http://schemas.microsoft.com/office/powerpoint/2010/main" val="4021819344"/>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Question 223.11.0.1</a:t>
            </a:r>
          </a:p>
        </p:txBody>
      </p:sp>
      <p:sp>
        <p:nvSpPr>
          <p:cNvPr id="3" name="Content Placeholder 2"/>
          <p:cNvSpPr>
            <a:spLocks noGrp="1"/>
          </p:cNvSpPr>
          <p:nvPr>
            <p:ph idx="1"/>
          </p:nvPr>
        </p:nvSpPr>
        <p:spPr>
          <a:xfrm>
            <a:off x="1981201" y="1320800"/>
            <a:ext cx="3795486" cy="5485416"/>
          </a:xfrm>
        </p:spPr>
        <p:txBody>
          <a:bodyPr>
            <a:normAutofit fontScale="92500" lnSpcReduction="10000"/>
          </a:bodyPr>
          <a:lstStyle/>
          <a:p>
            <a:pPr marL="0" indent="0">
              <a:buNone/>
            </a:pPr>
            <a:r>
              <a:rPr lang="en-US" dirty="0"/>
              <a:t>We now have just one slit. </a:t>
            </a:r>
          </a:p>
          <a:p>
            <a:pPr marL="0" indent="0">
              <a:buNone/>
            </a:pPr>
            <a:r>
              <a:rPr lang="en-US" dirty="0"/>
              <a:t>What is the path difference between ray 1 and ray 2?</a:t>
            </a:r>
          </a:p>
          <a:p>
            <a:pPr marL="0" indent="0">
              <a:buNone/>
            </a:pPr>
            <a:endParaRPr lang="en-US" dirty="0"/>
          </a:p>
          <a:p>
            <a:pPr marL="0" indent="0">
              <a:buNone/>
            </a:pPr>
            <a:r>
              <a:rPr lang="en-US" dirty="0"/>
              <a:t>a)</a:t>
            </a:r>
          </a:p>
          <a:p>
            <a:pPr marL="0" indent="0">
              <a:buNone/>
            </a:pPr>
            <a:endParaRPr lang="en-US" dirty="0"/>
          </a:p>
          <a:p>
            <a:pPr marL="0" indent="0">
              <a:buNone/>
            </a:pPr>
            <a:r>
              <a:rPr lang="en-US" dirty="0"/>
              <a:t>b)</a:t>
            </a:r>
          </a:p>
          <a:p>
            <a:pPr marL="0" indent="0">
              <a:buNone/>
            </a:pPr>
            <a:endParaRPr lang="en-US" dirty="0"/>
          </a:p>
          <a:p>
            <a:pPr marL="0" indent="0">
              <a:buNone/>
            </a:pPr>
            <a:r>
              <a:rPr lang="en-US" dirty="0"/>
              <a:t>c)</a:t>
            </a:r>
          </a:p>
          <a:p>
            <a:pPr marL="0" indent="0">
              <a:buNone/>
            </a:pPr>
            <a:endParaRPr lang="en-US" dirty="0"/>
          </a:p>
          <a:p>
            <a:pPr marL="0" indent="0">
              <a:buNone/>
            </a:pPr>
            <a:r>
              <a:rPr lang="en-US" dirty="0"/>
              <a:t>d)  </a:t>
            </a:r>
          </a:p>
        </p:txBody>
      </p:sp>
      <p:sp>
        <p:nvSpPr>
          <p:cNvPr id="4" name="Slide Number Placeholder 3"/>
          <p:cNvSpPr>
            <a:spLocks noGrp="1"/>
          </p:cNvSpPr>
          <p:nvPr>
            <p:ph type="sldNum" sz="quarter" idx="12"/>
          </p:nvPr>
        </p:nvSpPr>
        <p:spPr/>
        <p:txBody>
          <a:bodyPr/>
          <a:lstStyle/>
          <a:p>
            <a:pPr>
              <a:defRPr/>
            </a:pPr>
            <a:fld id="{64137B81-8888-4253-92EC-0AED2A590749}" type="slidenum">
              <a:rPr lang="en-US" smtClean="0"/>
              <a:pPr>
                <a:defRPr/>
              </a:pPr>
              <a:t>69</a:t>
            </a:fld>
            <a:endParaRPr lang="en-US"/>
          </a:p>
        </p:txBody>
      </p:sp>
      <p:sp>
        <p:nvSpPr>
          <p:cNvPr id="5" name="Right Triangle 4"/>
          <p:cNvSpPr/>
          <p:nvPr/>
        </p:nvSpPr>
        <p:spPr>
          <a:xfrm rot="19354257" flipH="1">
            <a:off x="7525817" y="2827300"/>
            <a:ext cx="609600" cy="834530"/>
          </a:xfrm>
          <a:prstGeom prst="rtTriangle">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ight Triangle 5"/>
          <p:cNvSpPr/>
          <p:nvPr/>
        </p:nvSpPr>
        <p:spPr>
          <a:xfrm rot="19354257" flipH="1">
            <a:off x="7525818" y="3836251"/>
            <a:ext cx="609600" cy="834530"/>
          </a:xfrm>
          <a:prstGeom prst="rtTriangle">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p:cNvSpPr/>
          <p:nvPr/>
        </p:nvSpPr>
        <p:spPr>
          <a:xfrm>
            <a:off x="7754069" y="1493520"/>
            <a:ext cx="228600" cy="1143000"/>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p:cNvSpPr/>
          <p:nvPr/>
        </p:nvSpPr>
        <p:spPr>
          <a:xfrm>
            <a:off x="7754069" y="4846320"/>
            <a:ext cx="228600" cy="1143000"/>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Connector 8"/>
          <p:cNvCxnSpPr/>
          <p:nvPr/>
        </p:nvCxnSpPr>
        <p:spPr>
          <a:xfrm>
            <a:off x="6725369" y="2636520"/>
            <a:ext cx="91440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0" name="Straight Connector 9"/>
          <p:cNvCxnSpPr/>
          <p:nvPr/>
        </p:nvCxnSpPr>
        <p:spPr>
          <a:xfrm>
            <a:off x="6649169" y="4846320"/>
            <a:ext cx="91440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1" name="Straight Arrow Connector 10"/>
          <p:cNvCxnSpPr/>
          <p:nvPr/>
        </p:nvCxnSpPr>
        <p:spPr>
          <a:xfrm>
            <a:off x="6877769" y="2636520"/>
            <a:ext cx="0" cy="2209800"/>
          </a:xfrm>
          <a:prstGeom prst="straightConnector1">
            <a:avLst/>
          </a:prstGeom>
          <a:ln>
            <a:headEnd type="arrow"/>
            <a:tailEnd type="arrow"/>
          </a:ln>
        </p:spPr>
        <p:style>
          <a:lnRef idx="1">
            <a:schemeClr val="accent1"/>
          </a:lnRef>
          <a:fillRef idx="0">
            <a:schemeClr val="accent1"/>
          </a:fillRef>
          <a:effectRef idx="0">
            <a:schemeClr val="accent1"/>
          </a:effectRef>
          <a:fontRef idx="minor">
            <a:schemeClr val="tx1"/>
          </a:fontRef>
        </p:style>
      </p:cxnSp>
      <p:cxnSp>
        <p:nvCxnSpPr>
          <p:cNvPr id="12" name="Straight Arrow Connector 11"/>
          <p:cNvCxnSpPr/>
          <p:nvPr/>
        </p:nvCxnSpPr>
        <p:spPr>
          <a:xfrm>
            <a:off x="6039569" y="2788920"/>
            <a:ext cx="533400" cy="0"/>
          </a:xfrm>
          <a:prstGeom prst="straightConnector1">
            <a:avLst/>
          </a:prstGeom>
          <a:ln w="3810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3" name="Straight Arrow Connector 12"/>
          <p:cNvCxnSpPr/>
          <p:nvPr/>
        </p:nvCxnSpPr>
        <p:spPr>
          <a:xfrm>
            <a:off x="6039569" y="3246120"/>
            <a:ext cx="533400" cy="0"/>
          </a:xfrm>
          <a:prstGeom prst="straightConnector1">
            <a:avLst/>
          </a:prstGeom>
          <a:ln w="3810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4" name="Straight Arrow Connector 13"/>
          <p:cNvCxnSpPr/>
          <p:nvPr/>
        </p:nvCxnSpPr>
        <p:spPr>
          <a:xfrm>
            <a:off x="6039569" y="3779520"/>
            <a:ext cx="533400" cy="0"/>
          </a:xfrm>
          <a:prstGeom prst="straightConnector1">
            <a:avLst/>
          </a:prstGeom>
          <a:ln w="3810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5" name="Straight Arrow Connector 14"/>
          <p:cNvCxnSpPr/>
          <p:nvPr/>
        </p:nvCxnSpPr>
        <p:spPr>
          <a:xfrm>
            <a:off x="6039569" y="4312920"/>
            <a:ext cx="533400" cy="0"/>
          </a:xfrm>
          <a:prstGeom prst="straightConnector1">
            <a:avLst/>
          </a:prstGeom>
          <a:ln w="3810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p:nvPr/>
        </p:nvCxnSpPr>
        <p:spPr>
          <a:xfrm>
            <a:off x="6039569" y="4770120"/>
            <a:ext cx="533400" cy="0"/>
          </a:xfrm>
          <a:prstGeom prst="straightConnector1">
            <a:avLst/>
          </a:prstGeom>
          <a:ln w="38100">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17" name="TextBox 16"/>
          <p:cNvSpPr txBox="1"/>
          <p:nvPr/>
        </p:nvSpPr>
        <p:spPr>
          <a:xfrm>
            <a:off x="6649169" y="3398521"/>
            <a:ext cx="381836" cy="584775"/>
          </a:xfrm>
          <a:prstGeom prst="rect">
            <a:avLst/>
          </a:prstGeom>
          <a:solidFill>
            <a:schemeClr val="bg1"/>
          </a:solidFill>
        </p:spPr>
        <p:txBody>
          <a:bodyPr wrap="none" rtlCol="0">
            <a:spAutoFit/>
          </a:bodyPr>
          <a:lstStyle/>
          <a:p>
            <a:r>
              <a:rPr lang="en-US" sz="3200" dirty="0"/>
              <a:t>a</a:t>
            </a:r>
          </a:p>
        </p:txBody>
      </p:sp>
      <p:cxnSp>
        <p:nvCxnSpPr>
          <p:cNvPr id="18" name="Straight Connector 17"/>
          <p:cNvCxnSpPr/>
          <p:nvPr/>
        </p:nvCxnSpPr>
        <p:spPr>
          <a:xfrm>
            <a:off x="7182569" y="3779520"/>
            <a:ext cx="2590800" cy="0"/>
          </a:xfrm>
          <a:prstGeom prst="line">
            <a:avLst/>
          </a:prstGeom>
          <a:ln>
            <a:prstDash val="lgDash"/>
          </a:ln>
        </p:spPr>
        <p:style>
          <a:lnRef idx="1">
            <a:schemeClr val="accent1"/>
          </a:lnRef>
          <a:fillRef idx="0">
            <a:schemeClr val="accent1"/>
          </a:fillRef>
          <a:effectRef idx="0">
            <a:schemeClr val="accent1"/>
          </a:effectRef>
          <a:fontRef idx="minor">
            <a:schemeClr val="tx1"/>
          </a:fontRef>
        </p:style>
      </p:cxnSp>
      <p:sp>
        <p:nvSpPr>
          <p:cNvPr id="19" name="TextBox 18"/>
          <p:cNvSpPr txBox="1"/>
          <p:nvPr/>
        </p:nvSpPr>
        <p:spPr>
          <a:xfrm>
            <a:off x="8325569" y="3246121"/>
            <a:ext cx="397866" cy="584775"/>
          </a:xfrm>
          <a:prstGeom prst="rect">
            <a:avLst/>
          </a:prstGeom>
          <a:noFill/>
        </p:spPr>
        <p:txBody>
          <a:bodyPr wrap="none" rtlCol="0">
            <a:spAutoFit/>
          </a:bodyPr>
          <a:lstStyle/>
          <a:p>
            <a:r>
              <a:rPr lang="en-US" sz="3200" dirty="0">
                <a:sym typeface="Symbol"/>
              </a:rPr>
              <a:t></a:t>
            </a:r>
            <a:endParaRPr lang="en-US" sz="3200" dirty="0"/>
          </a:p>
        </p:txBody>
      </p:sp>
      <p:sp>
        <p:nvSpPr>
          <p:cNvPr id="20" name="Oval 19"/>
          <p:cNvSpPr/>
          <p:nvPr/>
        </p:nvSpPr>
        <p:spPr>
          <a:xfrm>
            <a:off x="7792169" y="2636520"/>
            <a:ext cx="152400" cy="152400"/>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p:cNvSpPr/>
          <p:nvPr/>
        </p:nvSpPr>
        <p:spPr>
          <a:xfrm>
            <a:off x="7792169" y="3703320"/>
            <a:ext cx="152400" cy="152400"/>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Oval 21"/>
          <p:cNvSpPr/>
          <p:nvPr/>
        </p:nvSpPr>
        <p:spPr>
          <a:xfrm>
            <a:off x="7792169" y="4693920"/>
            <a:ext cx="152400" cy="152400"/>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3" name="Straight Arrow Connector 22"/>
          <p:cNvCxnSpPr/>
          <p:nvPr/>
        </p:nvCxnSpPr>
        <p:spPr>
          <a:xfrm>
            <a:off x="7334969" y="2636520"/>
            <a:ext cx="0" cy="1143000"/>
          </a:xfrm>
          <a:prstGeom prst="straightConnector1">
            <a:avLst/>
          </a:prstGeom>
          <a:ln>
            <a:headEnd type="arrow"/>
            <a:tailEnd type="arrow"/>
          </a:ln>
        </p:spPr>
        <p:style>
          <a:lnRef idx="1">
            <a:schemeClr val="accent1"/>
          </a:lnRef>
          <a:fillRef idx="0">
            <a:schemeClr val="accent1"/>
          </a:fillRef>
          <a:effectRef idx="0">
            <a:schemeClr val="accent1"/>
          </a:effectRef>
          <a:fontRef idx="minor">
            <a:schemeClr val="tx1"/>
          </a:fontRef>
        </p:style>
      </p:cxnSp>
      <p:sp>
        <p:nvSpPr>
          <p:cNvPr id="24" name="TextBox 23"/>
          <p:cNvSpPr txBox="1"/>
          <p:nvPr/>
        </p:nvSpPr>
        <p:spPr>
          <a:xfrm>
            <a:off x="7030169" y="2941321"/>
            <a:ext cx="606256" cy="461665"/>
          </a:xfrm>
          <a:prstGeom prst="rect">
            <a:avLst/>
          </a:prstGeom>
          <a:solidFill>
            <a:schemeClr val="bg1"/>
          </a:solidFill>
        </p:spPr>
        <p:txBody>
          <a:bodyPr wrap="none" rtlCol="0">
            <a:spAutoFit/>
          </a:bodyPr>
          <a:lstStyle/>
          <a:p>
            <a:r>
              <a:rPr lang="en-US" sz="2400" dirty="0"/>
              <a:t>a/2</a:t>
            </a:r>
          </a:p>
        </p:txBody>
      </p:sp>
      <p:cxnSp>
        <p:nvCxnSpPr>
          <p:cNvPr id="25" name="Straight Arrow Connector 24"/>
          <p:cNvCxnSpPr/>
          <p:nvPr/>
        </p:nvCxnSpPr>
        <p:spPr>
          <a:xfrm flipV="1">
            <a:off x="7868369" y="3093720"/>
            <a:ext cx="1905000" cy="1676400"/>
          </a:xfrm>
          <a:prstGeom prst="straightConnector1">
            <a:avLst/>
          </a:prstGeom>
          <a:ln w="3810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26" name="Straight Arrow Connector 25"/>
          <p:cNvCxnSpPr/>
          <p:nvPr/>
        </p:nvCxnSpPr>
        <p:spPr>
          <a:xfrm flipV="1">
            <a:off x="7868369" y="2103120"/>
            <a:ext cx="1905000" cy="1676400"/>
          </a:xfrm>
          <a:prstGeom prst="straightConnector1">
            <a:avLst/>
          </a:prstGeom>
          <a:ln w="3810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27" name="Straight Arrow Connector 26"/>
          <p:cNvCxnSpPr/>
          <p:nvPr/>
        </p:nvCxnSpPr>
        <p:spPr>
          <a:xfrm flipV="1">
            <a:off x="7868369" y="1036320"/>
            <a:ext cx="1905000" cy="1676400"/>
          </a:xfrm>
          <a:prstGeom prst="straightConnector1">
            <a:avLst/>
          </a:prstGeom>
          <a:ln w="3810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28" name="Straight Connector 27"/>
          <p:cNvCxnSpPr/>
          <p:nvPr/>
        </p:nvCxnSpPr>
        <p:spPr>
          <a:xfrm>
            <a:off x="8342238" y="4434363"/>
            <a:ext cx="228600" cy="304800"/>
          </a:xfrm>
          <a:prstGeom prst="line">
            <a:avLst/>
          </a:prstGeom>
        </p:spPr>
        <p:style>
          <a:lnRef idx="1">
            <a:schemeClr val="accent1"/>
          </a:lnRef>
          <a:fillRef idx="0">
            <a:schemeClr val="accent1"/>
          </a:fillRef>
          <a:effectRef idx="0">
            <a:schemeClr val="accent1"/>
          </a:effectRef>
          <a:fontRef idx="minor">
            <a:schemeClr val="tx1"/>
          </a:fontRef>
        </p:style>
      </p:cxnSp>
      <p:cxnSp>
        <p:nvCxnSpPr>
          <p:cNvPr id="29" name="Straight Connector 28"/>
          <p:cNvCxnSpPr/>
          <p:nvPr/>
        </p:nvCxnSpPr>
        <p:spPr>
          <a:xfrm>
            <a:off x="8001719" y="4948715"/>
            <a:ext cx="126206" cy="161925"/>
          </a:xfrm>
          <a:prstGeom prst="line">
            <a:avLst/>
          </a:prstGeom>
        </p:spPr>
        <p:style>
          <a:lnRef idx="1">
            <a:schemeClr val="accent1"/>
          </a:lnRef>
          <a:fillRef idx="0">
            <a:schemeClr val="accent1"/>
          </a:fillRef>
          <a:effectRef idx="0">
            <a:schemeClr val="accent1"/>
          </a:effectRef>
          <a:fontRef idx="minor">
            <a:schemeClr val="tx1"/>
          </a:fontRef>
        </p:style>
      </p:cxnSp>
      <p:cxnSp>
        <p:nvCxnSpPr>
          <p:cNvPr id="30" name="Straight Arrow Connector 29"/>
          <p:cNvCxnSpPr/>
          <p:nvPr/>
        </p:nvCxnSpPr>
        <p:spPr>
          <a:xfrm flipV="1">
            <a:off x="8061251" y="4655821"/>
            <a:ext cx="442913" cy="359569"/>
          </a:xfrm>
          <a:prstGeom prst="straightConnector1">
            <a:avLst/>
          </a:prstGeom>
          <a:ln>
            <a:headEnd type="arrow"/>
            <a:tailEnd type="arrow"/>
          </a:ln>
        </p:spPr>
        <p:style>
          <a:lnRef idx="1">
            <a:schemeClr val="accent1"/>
          </a:lnRef>
          <a:fillRef idx="0">
            <a:schemeClr val="accent1"/>
          </a:fillRef>
          <a:effectRef idx="0">
            <a:schemeClr val="accent1"/>
          </a:effectRef>
          <a:fontRef idx="minor">
            <a:schemeClr val="tx1"/>
          </a:fontRef>
        </p:style>
      </p:cxnSp>
      <p:sp>
        <p:nvSpPr>
          <p:cNvPr id="32" name="Oval 31"/>
          <p:cNvSpPr/>
          <p:nvPr/>
        </p:nvSpPr>
        <p:spPr>
          <a:xfrm>
            <a:off x="9413138" y="676003"/>
            <a:ext cx="406400" cy="343263"/>
          </a:xfrm>
          <a:prstGeom prst="ellipse">
            <a:avLst/>
          </a:prstGeom>
          <a:solidFill>
            <a:schemeClr val="bg1"/>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rgbClr val="FF0000"/>
                </a:solidFill>
              </a:rPr>
              <a:t>1</a:t>
            </a:r>
          </a:p>
        </p:txBody>
      </p:sp>
      <p:sp>
        <p:nvSpPr>
          <p:cNvPr id="33" name="Oval 32"/>
          <p:cNvSpPr/>
          <p:nvPr/>
        </p:nvSpPr>
        <p:spPr>
          <a:xfrm>
            <a:off x="9413138" y="1702889"/>
            <a:ext cx="406400" cy="343263"/>
          </a:xfrm>
          <a:prstGeom prst="ellipse">
            <a:avLst/>
          </a:prstGeom>
          <a:solidFill>
            <a:schemeClr val="bg1"/>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rgbClr val="FF0000"/>
                </a:solidFill>
              </a:rPr>
              <a:t>2</a:t>
            </a:r>
          </a:p>
        </p:txBody>
      </p:sp>
      <p:sp>
        <p:nvSpPr>
          <p:cNvPr id="34" name="Oval 33"/>
          <p:cNvSpPr/>
          <p:nvPr/>
        </p:nvSpPr>
        <p:spPr>
          <a:xfrm>
            <a:off x="9413138" y="2698207"/>
            <a:ext cx="406400" cy="343263"/>
          </a:xfrm>
          <a:prstGeom prst="ellipse">
            <a:avLst/>
          </a:prstGeom>
          <a:solidFill>
            <a:schemeClr val="bg1"/>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rgbClr val="FF0000"/>
                </a:solidFill>
              </a:rPr>
              <a:t>3</a:t>
            </a:r>
          </a:p>
        </p:txBody>
      </p:sp>
      <p:graphicFrame>
        <p:nvGraphicFramePr>
          <p:cNvPr id="62" name="Object 61"/>
          <p:cNvGraphicFramePr>
            <a:graphicFrameLocks noChangeAspect="1"/>
          </p:cNvGraphicFramePr>
          <p:nvPr/>
        </p:nvGraphicFramePr>
        <p:xfrm>
          <a:off x="2768600" y="4017706"/>
          <a:ext cx="874486" cy="752414"/>
        </p:xfrm>
        <a:graphic>
          <a:graphicData uri="http://schemas.openxmlformats.org/presentationml/2006/ole">
            <mc:AlternateContent xmlns:mc="http://schemas.openxmlformats.org/markup-compatibility/2006">
              <mc:Choice xmlns:v="urn:schemas-microsoft-com:vml" Requires="v">
                <p:oleObj name="Equation" r:id="rId2" imgW="457002" imgH="393529" progId="Equation.3">
                  <p:embed/>
                </p:oleObj>
              </mc:Choice>
              <mc:Fallback>
                <p:oleObj name="Equation" r:id="rId2" imgW="457002" imgH="393529" progId="Equation.3">
                  <p:embed/>
                  <p:pic>
                    <p:nvPicPr>
                      <p:cNvPr id="62" name="Object 61"/>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768600" y="4017706"/>
                        <a:ext cx="874486" cy="752414"/>
                      </a:xfrm>
                      <a:prstGeom prst="rect">
                        <a:avLst/>
                      </a:prstGeom>
                      <a:noFill/>
                      <a:ln>
                        <a:noFill/>
                      </a:ln>
                    </p:spPr>
                  </p:pic>
                </p:oleObj>
              </mc:Fallback>
            </mc:AlternateContent>
          </a:graphicData>
        </a:graphic>
      </p:graphicFrame>
      <p:graphicFrame>
        <p:nvGraphicFramePr>
          <p:cNvPr id="63" name="Object 62"/>
          <p:cNvGraphicFramePr>
            <a:graphicFrameLocks noChangeAspect="1"/>
          </p:cNvGraphicFramePr>
          <p:nvPr/>
        </p:nvGraphicFramePr>
        <p:xfrm>
          <a:off x="2691720" y="3119770"/>
          <a:ext cx="1125538" cy="462922"/>
        </p:xfrm>
        <a:graphic>
          <a:graphicData uri="http://schemas.openxmlformats.org/presentationml/2006/ole">
            <mc:AlternateContent xmlns:mc="http://schemas.openxmlformats.org/markup-compatibility/2006">
              <mc:Choice xmlns:v="urn:schemas-microsoft-com:vml" Requires="v">
                <p:oleObj name="Equation" r:id="rId4" imgW="431640" imgH="177480" progId="Equation.3">
                  <p:embed/>
                </p:oleObj>
              </mc:Choice>
              <mc:Fallback>
                <p:oleObj name="Equation" r:id="rId4" imgW="431640" imgH="177480" progId="Equation.3">
                  <p:embed/>
                  <p:pic>
                    <p:nvPicPr>
                      <p:cNvPr id="63" name="Object 62"/>
                      <p:cNvPicPr>
                        <a:picLocks noChangeAspect="1" noChangeArrowheads="1"/>
                      </p:cNvPicPr>
                      <p:nvPr/>
                    </p:nvPicPr>
                    <p:blipFill>
                      <a:blip r:embed="rId5"/>
                      <a:srcRect/>
                      <a:stretch>
                        <a:fillRect/>
                      </a:stretch>
                    </p:blipFill>
                    <p:spPr bwMode="auto">
                      <a:xfrm>
                        <a:off x="2691720" y="3119770"/>
                        <a:ext cx="1125538" cy="462922"/>
                      </a:xfrm>
                      <a:prstGeom prst="rect">
                        <a:avLst/>
                      </a:prstGeom>
                      <a:noFill/>
                      <a:ln>
                        <a:noFill/>
                      </a:ln>
                    </p:spPr>
                  </p:pic>
                </p:oleObj>
              </mc:Fallback>
            </mc:AlternateContent>
          </a:graphicData>
        </a:graphic>
      </p:graphicFrame>
      <p:graphicFrame>
        <p:nvGraphicFramePr>
          <p:cNvPr id="64" name="Object 63"/>
          <p:cNvGraphicFramePr>
            <a:graphicFrameLocks noChangeAspect="1"/>
          </p:cNvGraphicFramePr>
          <p:nvPr/>
        </p:nvGraphicFramePr>
        <p:xfrm>
          <a:off x="2862944" y="4948715"/>
          <a:ext cx="874713" cy="752475"/>
        </p:xfrm>
        <a:graphic>
          <a:graphicData uri="http://schemas.openxmlformats.org/presentationml/2006/ole">
            <mc:AlternateContent xmlns:mc="http://schemas.openxmlformats.org/markup-compatibility/2006">
              <mc:Choice xmlns:v="urn:schemas-microsoft-com:vml" Requires="v">
                <p:oleObj name="Equation" r:id="rId6" imgW="457200" imgH="393480" progId="Equation.3">
                  <p:embed/>
                </p:oleObj>
              </mc:Choice>
              <mc:Fallback>
                <p:oleObj name="Equation" r:id="rId6" imgW="457200" imgH="393480" progId="Equation.3">
                  <p:embed/>
                  <p:pic>
                    <p:nvPicPr>
                      <p:cNvPr id="64" name="Object 63"/>
                      <p:cNvPicPr>
                        <a:picLocks noChangeAspect="1" noChangeArrowheads="1"/>
                      </p:cNvPicPr>
                      <p:nvPr/>
                    </p:nvPicPr>
                    <p:blipFill>
                      <a:blip r:embed="rId7"/>
                      <a:srcRect/>
                      <a:stretch>
                        <a:fillRect/>
                      </a:stretch>
                    </p:blipFill>
                    <p:spPr bwMode="auto">
                      <a:xfrm>
                        <a:off x="2862944" y="4948715"/>
                        <a:ext cx="874713" cy="752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graphicFrame>
        <p:nvGraphicFramePr>
          <p:cNvPr id="65" name="Object 64"/>
          <p:cNvGraphicFramePr>
            <a:graphicFrameLocks noChangeAspect="1"/>
          </p:cNvGraphicFramePr>
          <p:nvPr/>
        </p:nvGraphicFramePr>
        <p:xfrm>
          <a:off x="2763838" y="6196014"/>
          <a:ext cx="971550" cy="339725"/>
        </p:xfrm>
        <a:graphic>
          <a:graphicData uri="http://schemas.openxmlformats.org/presentationml/2006/ole">
            <mc:AlternateContent xmlns:mc="http://schemas.openxmlformats.org/markup-compatibility/2006">
              <mc:Choice xmlns:v="urn:schemas-microsoft-com:vml" Requires="v">
                <p:oleObj name="Equation" r:id="rId8" imgW="507960" imgH="177480" progId="Equation.3">
                  <p:embed/>
                </p:oleObj>
              </mc:Choice>
              <mc:Fallback>
                <p:oleObj name="Equation" r:id="rId8" imgW="507960" imgH="177480" progId="Equation.3">
                  <p:embed/>
                  <p:pic>
                    <p:nvPicPr>
                      <p:cNvPr id="65" name="Object 64"/>
                      <p:cNvPicPr>
                        <a:picLocks noChangeAspect="1" noChangeArrowheads="1"/>
                      </p:cNvPicPr>
                      <p:nvPr/>
                    </p:nvPicPr>
                    <p:blipFill>
                      <a:blip r:embed="rId9"/>
                      <a:srcRect/>
                      <a:stretch>
                        <a:fillRect/>
                      </a:stretch>
                    </p:blipFill>
                    <p:spPr bwMode="auto">
                      <a:xfrm>
                        <a:off x="2763838" y="6196014"/>
                        <a:ext cx="971550" cy="339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oleObj>
              </mc:Fallback>
            </mc:AlternateContent>
          </a:graphicData>
        </a:graphic>
      </p:graphicFrame>
    </p:spTree>
    <p:extLst>
      <p:ext uri="{BB962C8B-B14F-4D97-AF65-F5344CB8AC3E}">
        <p14:creationId xmlns:p14="http://schemas.microsoft.com/office/powerpoint/2010/main" val="2113740047"/>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3539" name="Rectangle 2"/>
          <p:cNvSpPr>
            <a:spLocks noGrp="1" noChangeArrowheads="1"/>
          </p:cNvSpPr>
          <p:nvPr>
            <p:ph type="title"/>
          </p:nvPr>
        </p:nvSpPr>
        <p:spPr/>
        <p:txBody>
          <a:bodyPr/>
          <a:lstStyle/>
          <a:p>
            <a:r>
              <a:rPr lang="en-US" dirty="0"/>
              <a:t>Question 223.11.1</a:t>
            </a:r>
          </a:p>
        </p:txBody>
      </p:sp>
      <p:sp>
        <p:nvSpPr>
          <p:cNvPr id="193540" name="Rectangle 3"/>
          <p:cNvSpPr>
            <a:spLocks noGrp="1" noChangeArrowheads="1"/>
          </p:cNvSpPr>
          <p:nvPr>
            <p:ph idx="1"/>
          </p:nvPr>
        </p:nvSpPr>
        <p:spPr>
          <a:xfrm>
            <a:off x="1134533" y="1600201"/>
            <a:ext cx="4650317" cy="4525963"/>
          </a:xfrm>
        </p:spPr>
        <p:txBody>
          <a:bodyPr>
            <a:noAutofit/>
          </a:bodyPr>
          <a:lstStyle/>
          <a:p>
            <a:pPr marL="609600" indent="-609600">
              <a:buNone/>
            </a:pPr>
            <a:r>
              <a:rPr lang="en-US" dirty="0"/>
              <a:t>Suppose you have a single slit diffraction pattern. If you increase the size of the slit, the size of the central maximum</a:t>
            </a:r>
          </a:p>
          <a:p>
            <a:pPr marL="609600" indent="-609600">
              <a:buFontTx/>
              <a:buAutoNum type="alphaLcParenR"/>
            </a:pPr>
            <a:r>
              <a:rPr lang="en-US" dirty="0"/>
              <a:t>Becomes wider</a:t>
            </a:r>
          </a:p>
          <a:p>
            <a:pPr marL="609600" indent="-609600">
              <a:buFontTx/>
              <a:buAutoNum type="alphaLcParenR"/>
            </a:pPr>
            <a:r>
              <a:rPr lang="en-US" dirty="0"/>
              <a:t>Becomes narrower</a:t>
            </a:r>
          </a:p>
          <a:p>
            <a:pPr marL="609600" indent="-609600">
              <a:buFontTx/>
              <a:buAutoNum type="alphaLcParenR"/>
            </a:pPr>
            <a:r>
              <a:rPr lang="en-US" dirty="0"/>
              <a:t>Stays the same</a:t>
            </a:r>
          </a:p>
          <a:p>
            <a:pPr marL="609600" indent="-609600">
              <a:buFontTx/>
              <a:buAutoNum type="alphaLcParenR"/>
            </a:pPr>
            <a:r>
              <a:rPr lang="en-US" dirty="0"/>
              <a:t>Fades to non-existent</a:t>
            </a:r>
          </a:p>
        </p:txBody>
      </p:sp>
      <p:grpSp>
        <p:nvGrpSpPr>
          <p:cNvPr id="20" name="Group 19"/>
          <p:cNvGrpSpPr/>
          <p:nvPr/>
        </p:nvGrpSpPr>
        <p:grpSpPr>
          <a:xfrm>
            <a:off x="6096000" y="508001"/>
            <a:ext cx="4521201" cy="6265333"/>
            <a:chOff x="6096000" y="508001"/>
            <a:chExt cx="4521201" cy="6265333"/>
          </a:xfrm>
        </p:grpSpPr>
        <p:pic>
          <p:nvPicPr>
            <p:cNvPr id="21" name="Picture 2"/>
            <p:cNvPicPr>
              <a:picLocks noChangeAspect="1" noChangeArrowheads="1"/>
            </p:cNvPicPr>
            <p:nvPr/>
          </p:nvPicPr>
          <p:blipFill>
            <a:blip r:embed="rId2" cstate="print"/>
            <a:srcRect/>
            <a:stretch>
              <a:fillRect/>
            </a:stretch>
          </p:blipFill>
          <p:spPr bwMode="auto">
            <a:xfrm rot="16200000">
              <a:off x="6289888" y="2446022"/>
              <a:ext cx="6265333" cy="2389292"/>
            </a:xfrm>
            <a:prstGeom prst="rect">
              <a:avLst/>
            </a:prstGeom>
            <a:noFill/>
            <a:ln w="9525">
              <a:noFill/>
              <a:miter lim="800000"/>
              <a:headEnd/>
              <a:tailEnd/>
            </a:ln>
            <a:effectLst/>
          </p:spPr>
        </p:pic>
        <p:sp>
          <p:nvSpPr>
            <p:cNvPr id="22" name="Rectangle 21"/>
            <p:cNvSpPr/>
            <p:nvPr/>
          </p:nvSpPr>
          <p:spPr>
            <a:xfrm>
              <a:off x="6705599" y="1337734"/>
              <a:ext cx="270933" cy="20828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p:cNvSpPr/>
            <p:nvPr/>
          </p:nvSpPr>
          <p:spPr>
            <a:xfrm>
              <a:off x="6756400" y="3809999"/>
              <a:ext cx="237065" cy="16764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4" name="Straight Connector 23"/>
            <p:cNvCxnSpPr/>
            <p:nvPr/>
          </p:nvCxnSpPr>
          <p:spPr>
            <a:xfrm>
              <a:off x="6841066" y="3640666"/>
              <a:ext cx="2556934" cy="16934"/>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25" name="Straight Connector 24"/>
            <p:cNvCxnSpPr/>
            <p:nvPr/>
          </p:nvCxnSpPr>
          <p:spPr>
            <a:xfrm flipV="1">
              <a:off x="6874933" y="2997200"/>
              <a:ext cx="2573867" cy="609601"/>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6" name="TextBox 25"/>
            <p:cNvSpPr txBox="1"/>
            <p:nvPr/>
          </p:nvSpPr>
          <p:spPr>
            <a:xfrm>
              <a:off x="7704242" y="3337560"/>
              <a:ext cx="304892" cy="369332"/>
            </a:xfrm>
            <a:prstGeom prst="rect">
              <a:avLst/>
            </a:prstGeom>
            <a:noFill/>
          </p:spPr>
          <p:txBody>
            <a:bodyPr wrap="none" rtlCol="0">
              <a:spAutoFit/>
            </a:bodyPr>
            <a:lstStyle/>
            <a:p>
              <a:r>
                <a:rPr lang="en-US" dirty="0">
                  <a:sym typeface="Symbol" panose="05050102010706020507" pitchFamily="18" charset="2"/>
                </a:rPr>
                <a:t></a:t>
              </a:r>
              <a:endParaRPr lang="en-US" dirty="0"/>
            </a:p>
          </p:txBody>
        </p:sp>
        <p:sp>
          <p:nvSpPr>
            <p:cNvPr id="27" name="Arc 26"/>
            <p:cNvSpPr/>
            <p:nvPr/>
          </p:nvSpPr>
          <p:spPr>
            <a:xfrm rot="1986114">
              <a:off x="7208519" y="3350683"/>
              <a:ext cx="457200" cy="508000"/>
            </a:xfrm>
            <a:prstGeom prst="arc">
              <a:avLst>
                <a:gd name="adj1" fmla="val 17594932"/>
                <a:gd name="adj2" fmla="val 19832164"/>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28" name="Straight Arrow Connector 27"/>
            <p:cNvCxnSpPr/>
            <p:nvPr/>
          </p:nvCxnSpPr>
          <p:spPr>
            <a:xfrm>
              <a:off x="7010400" y="5300134"/>
              <a:ext cx="2404533" cy="33866"/>
            </a:xfrm>
            <a:prstGeom prst="straightConnector1">
              <a:avLst/>
            </a:prstGeom>
            <a:ln>
              <a:solidFill>
                <a:schemeClr val="tx1"/>
              </a:solidFill>
              <a:prstDash val="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29" name="TextBox 28"/>
            <p:cNvSpPr txBox="1"/>
            <p:nvPr/>
          </p:nvSpPr>
          <p:spPr>
            <a:xfrm>
              <a:off x="7958667" y="5029200"/>
              <a:ext cx="357790" cy="584775"/>
            </a:xfrm>
            <a:prstGeom prst="rect">
              <a:avLst/>
            </a:prstGeom>
            <a:solidFill>
              <a:schemeClr val="bg1"/>
            </a:solidFill>
          </p:spPr>
          <p:txBody>
            <a:bodyPr wrap="none" rtlCol="0">
              <a:spAutoFit/>
            </a:bodyPr>
            <a:lstStyle/>
            <a:p>
              <a:r>
                <a:rPr lang="en-US" sz="3200" dirty="0"/>
                <a:t>L</a:t>
              </a:r>
            </a:p>
          </p:txBody>
        </p:sp>
        <p:cxnSp>
          <p:nvCxnSpPr>
            <p:cNvPr id="30" name="Straight Connector 29"/>
            <p:cNvCxnSpPr/>
            <p:nvPr/>
          </p:nvCxnSpPr>
          <p:spPr>
            <a:xfrm>
              <a:off x="6096000" y="3403601"/>
              <a:ext cx="474133"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1" name="Straight Connector 30"/>
            <p:cNvCxnSpPr/>
            <p:nvPr/>
          </p:nvCxnSpPr>
          <p:spPr>
            <a:xfrm>
              <a:off x="6112934" y="3826934"/>
              <a:ext cx="474133"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2" name="Straight Arrow Connector 31"/>
            <p:cNvCxnSpPr/>
            <p:nvPr/>
          </p:nvCxnSpPr>
          <p:spPr>
            <a:xfrm>
              <a:off x="6350000" y="3064933"/>
              <a:ext cx="0" cy="338667"/>
            </a:xfrm>
            <a:prstGeom prst="straightConnector1">
              <a:avLst/>
            </a:prstGeom>
            <a:ln>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33" name="Straight Arrow Connector 32"/>
            <p:cNvCxnSpPr/>
            <p:nvPr/>
          </p:nvCxnSpPr>
          <p:spPr>
            <a:xfrm flipV="1">
              <a:off x="6350001" y="3810000"/>
              <a:ext cx="0" cy="338667"/>
            </a:xfrm>
            <a:prstGeom prst="straightConnector1">
              <a:avLst/>
            </a:prstGeom>
            <a:ln>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34" name="TextBox 33"/>
            <p:cNvSpPr txBox="1"/>
            <p:nvPr/>
          </p:nvSpPr>
          <p:spPr>
            <a:xfrm>
              <a:off x="6214534" y="3420534"/>
              <a:ext cx="295274" cy="369332"/>
            </a:xfrm>
            <a:prstGeom prst="rect">
              <a:avLst/>
            </a:prstGeom>
            <a:noFill/>
          </p:spPr>
          <p:txBody>
            <a:bodyPr wrap="none" rtlCol="0">
              <a:spAutoFit/>
            </a:bodyPr>
            <a:lstStyle/>
            <a:p>
              <a:r>
                <a:rPr lang="en-US" dirty="0"/>
                <a:t>a</a:t>
              </a:r>
            </a:p>
          </p:txBody>
        </p:sp>
      </p:grpSp>
    </p:spTree>
    <p:extLst>
      <p:ext uri="{BB962C8B-B14F-4D97-AF65-F5344CB8AC3E}">
        <p14:creationId xmlns:p14="http://schemas.microsoft.com/office/powerpoint/2010/main" val="1415678619"/>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Question 223.12.1</a:t>
            </a:r>
          </a:p>
        </p:txBody>
      </p:sp>
      <p:sp>
        <p:nvSpPr>
          <p:cNvPr id="3" name="Content Placeholder 2"/>
          <p:cNvSpPr>
            <a:spLocks noGrp="1"/>
          </p:cNvSpPr>
          <p:nvPr>
            <p:ph idx="1"/>
          </p:nvPr>
        </p:nvSpPr>
        <p:spPr/>
        <p:txBody>
          <a:bodyPr>
            <a:normAutofit/>
          </a:bodyPr>
          <a:lstStyle/>
          <a:p>
            <a:pPr>
              <a:buNone/>
            </a:pPr>
            <a:r>
              <a:rPr lang="en-US" dirty="0"/>
              <a:t>I have a single slit illuminated by a laser. The slit width is  </a:t>
            </a:r>
            <a:r>
              <a:rPr lang="en-US" i="1" dirty="0"/>
              <a:t>a</a:t>
            </a:r>
            <a:r>
              <a:rPr lang="en-US" dirty="0"/>
              <a:t> and the light that passes through the slit lands on the screen, a distance  </a:t>
            </a:r>
            <a:r>
              <a:rPr lang="en-US" i="1" dirty="0"/>
              <a:t>L</a:t>
            </a:r>
            <a:r>
              <a:rPr lang="en-US" dirty="0"/>
              <a:t> away. If the screen is moved farther away, the size of the central spot will</a:t>
            </a:r>
          </a:p>
          <a:p>
            <a:pPr marL="514350" indent="-514350">
              <a:buFont typeface="+mj-lt"/>
              <a:buAutoNum type="alphaLcParenR"/>
            </a:pPr>
            <a:r>
              <a:rPr lang="en-US" dirty="0"/>
              <a:t>Increase</a:t>
            </a:r>
          </a:p>
          <a:p>
            <a:pPr marL="514350" indent="-514350">
              <a:buFont typeface="+mj-lt"/>
              <a:buAutoNum type="alphaLcParenR"/>
            </a:pPr>
            <a:r>
              <a:rPr lang="en-US" dirty="0"/>
              <a:t>Decrease</a:t>
            </a:r>
          </a:p>
          <a:p>
            <a:pPr marL="514350" indent="-514350">
              <a:buFont typeface="+mj-lt"/>
              <a:buAutoNum type="alphaLcParenR"/>
            </a:pPr>
            <a:r>
              <a:rPr lang="en-US" dirty="0"/>
              <a:t>Stay the same</a:t>
            </a:r>
          </a:p>
          <a:p>
            <a:pPr marL="514350" indent="-514350">
              <a:buFont typeface="+mj-lt"/>
              <a:buAutoNum type="alphaLcParenR"/>
            </a:pPr>
            <a:r>
              <a:rPr lang="en-US" dirty="0"/>
              <a:t>Impossible to tell </a:t>
            </a:r>
          </a:p>
        </p:txBody>
      </p:sp>
      <p:sp>
        <p:nvSpPr>
          <p:cNvPr id="4" name="Slide Number Placeholder 3"/>
          <p:cNvSpPr>
            <a:spLocks noGrp="1"/>
          </p:cNvSpPr>
          <p:nvPr>
            <p:ph type="sldNum" sz="quarter" idx="12"/>
          </p:nvPr>
        </p:nvSpPr>
        <p:spPr/>
        <p:txBody>
          <a:bodyPr/>
          <a:lstStyle/>
          <a:p>
            <a:pPr>
              <a:defRPr/>
            </a:pPr>
            <a:fld id="{64137B81-8888-4253-92EC-0AED2A590749}" type="slidenum">
              <a:rPr lang="en-US" smtClean="0"/>
              <a:pPr>
                <a:defRPr/>
              </a:pPr>
              <a:t>71</a:t>
            </a:fld>
            <a:endParaRPr lang="en-US"/>
          </a:p>
        </p:txBody>
      </p:sp>
    </p:spTree>
    <p:extLst>
      <p:ext uri="{BB962C8B-B14F-4D97-AF65-F5344CB8AC3E}">
        <p14:creationId xmlns:p14="http://schemas.microsoft.com/office/powerpoint/2010/main" val="40927902"/>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pic>
        <p:nvPicPr>
          <p:cNvPr id="5123" name="Picture 3"/>
          <p:cNvPicPr>
            <a:picLocks noChangeAspect="1" noChangeArrowheads="1"/>
          </p:cNvPicPr>
          <p:nvPr/>
        </p:nvPicPr>
        <p:blipFill>
          <a:blip r:embed="rId2" cstate="print"/>
          <a:srcRect/>
          <a:stretch>
            <a:fillRect/>
          </a:stretch>
        </p:blipFill>
        <p:spPr bwMode="auto">
          <a:xfrm>
            <a:off x="2800350" y="650875"/>
            <a:ext cx="6591300" cy="5562600"/>
          </a:xfrm>
          <a:prstGeom prst="rect">
            <a:avLst/>
          </a:prstGeom>
          <a:noFill/>
          <a:ln w="9525">
            <a:noFill/>
            <a:miter lim="800000"/>
            <a:headEnd/>
            <a:tailEnd/>
          </a:ln>
          <a:effectLst/>
        </p:spPr>
      </p:pic>
    </p:spTree>
    <p:extLst>
      <p:ext uri="{BB962C8B-B14F-4D97-AF65-F5344CB8AC3E}">
        <p14:creationId xmlns:p14="http://schemas.microsoft.com/office/powerpoint/2010/main" val="14922431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Right Triangle 37"/>
          <p:cNvSpPr/>
          <p:nvPr/>
        </p:nvSpPr>
        <p:spPr>
          <a:xfrm rot="19354257" flipH="1">
            <a:off x="5479128" y="2827300"/>
            <a:ext cx="609600" cy="834530"/>
          </a:xfrm>
          <a:prstGeom prst="rtTriangle">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ight Triangle 36"/>
          <p:cNvSpPr/>
          <p:nvPr/>
        </p:nvSpPr>
        <p:spPr>
          <a:xfrm rot="19354257" flipH="1">
            <a:off x="5479129" y="3836251"/>
            <a:ext cx="609600" cy="834530"/>
          </a:xfrm>
          <a:prstGeom prst="rtTriangle">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627" name="Rectangle 2"/>
          <p:cNvSpPr>
            <a:spLocks noGrp="1" noChangeArrowheads="1"/>
          </p:cNvSpPr>
          <p:nvPr>
            <p:ph type="title"/>
          </p:nvPr>
        </p:nvSpPr>
        <p:spPr/>
        <p:txBody>
          <a:bodyPr/>
          <a:lstStyle/>
          <a:p>
            <a:pPr eaLnBrk="1" hangingPunct="1"/>
            <a:r>
              <a:rPr lang="en-US"/>
              <a:t>Single-Slit Diffraction</a:t>
            </a:r>
          </a:p>
        </p:txBody>
      </p:sp>
      <p:sp>
        <p:nvSpPr>
          <p:cNvPr id="6" name="Rectangle 5"/>
          <p:cNvSpPr/>
          <p:nvPr/>
        </p:nvSpPr>
        <p:spPr>
          <a:xfrm>
            <a:off x="5707380" y="1493520"/>
            <a:ext cx="228600" cy="1143000"/>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p:cNvSpPr/>
          <p:nvPr/>
        </p:nvSpPr>
        <p:spPr>
          <a:xfrm>
            <a:off x="5707380" y="4846320"/>
            <a:ext cx="228600" cy="1143000"/>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 name="Straight Connector 10"/>
          <p:cNvCxnSpPr/>
          <p:nvPr/>
        </p:nvCxnSpPr>
        <p:spPr>
          <a:xfrm>
            <a:off x="4678680" y="2636520"/>
            <a:ext cx="91440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2" name="Straight Connector 11"/>
          <p:cNvCxnSpPr/>
          <p:nvPr/>
        </p:nvCxnSpPr>
        <p:spPr>
          <a:xfrm>
            <a:off x="4602480" y="4846320"/>
            <a:ext cx="91440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4" name="Straight Arrow Connector 13"/>
          <p:cNvCxnSpPr/>
          <p:nvPr/>
        </p:nvCxnSpPr>
        <p:spPr>
          <a:xfrm>
            <a:off x="4831080" y="2636520"/>
            <a:ext cx="0" cy="2209800"/>
          </a:xfrm>
          <a:prstGeom prst="straightConnector1">
            <a:avLst/>
          </a:prstGeom>
          <a:ln>
            <a:headEnd type="arrow"/>
            <a:tailEnd type="arrow"/>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p:nvPr/>
        </p:nvCxnSpPr>
        <p:spPr>
          <a:xfrm>
            <a:off x="3992880" y="2788920"/>
            <a:ext cx="533400" cy="0"/>
          </a:xfrm>
          <a:prstGeom prst="straightConnector1">
            <a:avLst/>
          </a:prstGeom>
          <a:ln w="3810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7" name="Straight Arrow Connector 16"/>
          <p:cNvCxnSpPr/>
          <p:nvPr/>
        </p:nvCxnSpPr>
        <p:spPr>
          <a:xfrm>
            <a:off x="3992880" y="3246120"/>
            <a:ext cx="533400" cy="0"/>
          </a:xfrm>
          <a:prstGeom prst="straightConnector1">
            <a:avLst/>
          </a:prstGeom>
          <a:ln w="3810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8" name="Straight Arrow Connector 17"/>
          <p:cNvCxnSpPr/>
          <p:nvPr/>
        </p:nvCxnSpPr>
        <p:spPr>
          <a:xfrm>
            <a:off x="3992880" y="3779520"/>
            <a:ext cx="533400" cy="0"/>
          </a:xfrm>
          <a:prstGeom prst="straightConnector1">
            <a:avLst/>
          </a:prstGeom>
          <a:ln w="3810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p:nvPr/>
        </p:nvCxnSpPr>
        <p:spPr>
          <a:xfrm>
            <a:off x="3992880" y="4312920"/>
            <a:ext cx="533400" cy="0"/>
          </a:xfrm>
          <a:prstGeom prst="straightConnector1">
            <a:avLst/>
          </a:prstGeom>
          <a:ln w="3810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20" name="Straight Arrow Connector 19"/>
          <p:cNvCxnSpPr/>
          <p:nvPr/>
        </p:nvCxnSpPr>
        <p:spPr>
          <a:xfrm>
            <a:off x="3992880" y="4770120"/>
            <a:ext cx="533400" cy="0"/>
          </a:xfrm>
          <a:prstGeom prst="straightConnector1">
            <a:avLst/>
          </a:prstGeom>
          <a:ln w="38100">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21" name="TextBox 20"/>
          <p:cNvSpPr txBox="1"/>
          <p:nvPr/>
        </p:nvSpPr>
        <p:spPr>
          <a:xfrm>
            <a:off x="4602480" y="3398521"/>
            <a:ext cx="381836" cy="584775"/>
          </a:xfrm>
          <a:prstGeom prst="rect">
            <a:avLst/>
          </a:prstGeom>
          <a:solidFill>
            <a:schemeClr val="bg1"/>
          </a:solidFill>
        </p:spPr>
        <p:txBody>
          <a:bodyPr wrap="none" rtlCol="0">
            <a:spAutoFit/>
          </a:bodyPr>
          <a:lstStyle/>
          <a:p>
            <a:r>
              <a:rPr lang="en-US" sz="3200" dirty="0"/>
              <a:t>a</a:t>
            </a:r>
          </a:p>
        </p:txBody>
      </p:sp>
      <p:cxnSp>
        <p:nvCxnSpPr>
          <p:cNvPr id="23" name="Straight Connector 22"/>
          <p:cNvCxnSpPr/>
          <p:nvPr/>
        </p:nvCxnSpPr>
        <p:spPr>
          <a:xfrm>
            <a:off x="5135880" y="3779520"/>
            <a:ext cx="2590800" cy="0"/>
          </a:xfrm>
          <a:prstGeom prst="line">
            <a:avLst/>
          </a:prstGeom>
          <a:ln>
            <a:prstDash val="lgDash"/>
          </a:ln>
        </p:spPr>
        <p:style>
          <a:lnRef idx="1">
            <a:schemeClr val="accent1"/>
          </a:lnRef>
          <a:fillRef idx="0">
            <a:schemeClr val="accent1"/>
          </a:fillRef>
          <a:effectRef idx="0">
            <a:schemeClr val="accent1"/>
          </a:effectRef>
          <a:fontRef idx="minor">
            <a:schemeClr val="tx1"/>
          </a:fontRef>
        </p:style>
      </p:cxnSp>
      <p:sp>
        <p:nvSpPr>
          <p:cNvPr id="24" name="TextBox 23"/>
          <p:cNvSpPr txBox="1"/>
          <p:nvPr/>
        </p:nvSpPr>
        <p:spPr>
          <a:xfrm>
            <a:off x="6278880" y="3246121"/>
            <a:ext cx="397866" cy="584775"/>
          </a:xfrm>
          <a:prstGeom prst="rect">
            <a:avLst/>
          </a:prstGeom>
          <a:noFill/>
        </p:spPr>
        <p:txBody>
          <a:bodyPr wrap="none" rtlCol="0">
            <a:spAutoFit/>
          </a:bodyPr>
          <a:lstStyle/>
          <a:p>
            <a:r>
              <a:rPr lang="en-US" sz="3200" dirty="0">
                <a:sym typeface="Symbol"/>
              </a:rPr>
              <a:t></a:t>
            </a:r>
            <a:endParaRPr lang="en-US" sz="3200" dirty="0"/>
          </a:p>
        </p:txBody>
      </p:sp>
      <p:sp>
        <p:nvSpPr>
          <p:cNvPr id="25" name="Oval 24"/>
          <p:cNvSpPr/>
          <p:nvPr/>
        </p:nvSpPr>
        <p:spPr>
          <a:xfrm>
            <a:off x="5745480" y="2636520"/>
            <a:ext cx="152400" cy="152400"/>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Oval 25"/>
          <p:cNvSpPr/>
          <p:nvPr/>
        </p:nvSpPr>
        <p:spPr>
          <a:xfrm>
            <a:off x="5745480" y="3703320"/>
            <a:ext cx="152400" cy="152400"/>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Oval 26"/>
          <p:cNvSpPr/>
          <p:nvPr/>
        </p:nvSpPr>
        <p:spPr>
          <a:xfrm>
            <a:off x="5745480" y="4693920"/>
            <a:ext cx="152400" cy="152400"/>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8" name="Straight Arrow Connector 27"/>
          <p:cNvCxnSpPr/>
          <p:nvPr/>
        </p:nvCxnSpPr>
        <p:spPr>
          <a:xfrm>
            <a:off x="5288280" y="2636520"/>
            <a:ext cx="0" cy="1143000"/>
          </a:xfrm>
          <a:prstGeom prst="straightConnector1">
            <a:avLst/>
          </a:prstGeom>
          <a:ln>
            <a:headEnd type="arrow"/>
            <a:tailEnd type="arrow"/>
          </a:ln>
        </p:spPr>
        <p:style>
          <a:lnRef idx="1">
            <a:schemeClr val="accent1"/>
          </a:lnRef>
          <a:fillRef idx="0">
            <a:schemeClr val="accent1"/>
          </a:fillRef>
          <a:effectRef idx="0">
            <a:schemeClr val="accent1"/>
          </a:effectRef>
          <a:fontRef idx="minor">
            <a:schemeClr val="tx1"/>
          </a:fontRef>
        </p:style>
      </p:cxnSp>
      <p:sp>
        <p:nvSpPr>
          <p:cNvPr id="32" name="TextBox 31"/>
          <p:cNvSpPr txBox="1"/>
          <p:nvPr/>
        </p:nvSpPr>
        <p:spPr>
          <a:xfrm>
            <a:off x="4983480" y="2941321"/>
            <a:ext cx="606256" cy="461665"/>
          </a:xfrm>
          <a:prstGeom prst="rect">
            <a:avLst/>
          </a:prstGeom>
          <a:solidFill>
            <a:schemeClr val="bg1"/>
          </a:solidFill>
        </p:spPr>
        <p:txBody>
          <a:bodyPr wrap="none" rtlCol="0">
            <a:spAutoFit/>
          </a:bodyPr>
          <a:lstStyle/>
          <a:p>
            <a:r>
              <a:rPr lang="en-US" sz="2400" dirty="0"/>
              <a:t>a/2</a:t>
            </a:r>
          </a:p>
        </p:txBody>
      </p:sp>
      <p:cxnSp>
        <p:nvCxnSpPr>
          <p:cNvPr id="33" name="Straight Arrow Connector 32"/>
          <p:cNvCxnSpPr/>
          <p:nvPr/>
        </p:nvCxnSpPr>
        <p:spPr>
          <a:xfrm flipV="1">
            <a:off x="5821680" y="3093720"/>
            <a:ext cx="1905000" cy="1676400"/>
          </a:xfrm>
          <a:prstGeom prst="straightConnector1">
            <a:avLst/>
          </a:prstGeom>
          <a:ln w="3810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35" name="Straight Arrow Connector 34"/>
          <p:cNvCxnSpPr/>
          <p:nvPr/>
        </p:nvCxnSpPr>
        <p:spPr>
          <a:xfrm flipV="1">
            <a:off x="5821680" y="2103120"/>
            <a:ext cx="1905000" cy="1676400"/>
          </a:xfrm>
          <a:prstGeom prst="straightConnector1">
            <a:avLst/>
          </a:prstGeom>
          <a:ln w="3810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36" name="Straight Arrow Connector 35"/>
          <p:cNvCxnSpPr/>
          <p:nvPr/>
        </p:nvCxnSpPr>
        <p:spPr>
          <a:xfrm flipV="1">
            <a:off x="5821680" y="1036320"/>
            <a:ext cx="1905000" cy="1676400"/>
          </a:xfrm>
          <a:prstGeom prst="straightConnector1">
            <a:avLst/>
          </a:prstGeom>
          <a:ln w="3810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40" name="Straight Connector 39"/>
          <p:cNvCxnSpPr/>
          <p:nvPr/>
        </p:nvCxnSpPr>
        <p:spPr>
          <a:xfrm>
            <a:off x="6295549" y="4434363"/>
            <a:ext cx="228600" cy="304800"/>
          </a:xfrm>
          <a:prstGeom prst="line">
            <a:avLst/>
          </a:prstGeom>
        </p:spPr>
        <p:style>
          <a:lnRef idx="1">
            <a:schemeClr val="accent1"/>
          </a:lnRef>
          <a:fillRef idx="0">
            <a:schemeClr val="accent1"/>
          </a:fillRef>
          <a:effectRef idx="0">
            <a:schemeClr val="accent1"/>
          </a:effectRef>
          <a:fontRef idx="minor">
            <a:schemeClr val="tx1"/>
          </a:fontRef>
        </p:style>
      </p:cxnSp>
      <p:cxnSp>
        <p:nvCxnSpPr>
          <p:cNvPr id="42" name="Straight Connector 41"/>
          <p:cNvCxnSpPr/>
          <p:nvPr/>
        </p:nvCxnSpPr>
        <p:spPr>
          <a:xfrm>
            <a:off x="5955030" y="4948715"/>
            <a:ext cx="126206" cy="161925"/>
          </a:xfrm>
          <a:prstGeom prst="line">
            <a:avLst/>
          </a:prstGeom>
        </p:spPr>
        <p:style>
          <a:lnRef idx="1">
            <a:schemeClr val="accent1"/>
          </a:lnRef>
          <a:fillRef idx="0">
            <a:schemeClr val="accent1"/>
          </a:fillRef>
          <a:effectRef idx="0">
            <a:schemeClr val="accent1"/>
          </a:effectRef>
          <a:fontRef idx="minor">
            <a:schemeClr val="tx1"/>
          </a:fontRef>
        </p:style>
      </p:cxnSp>
      <p:cxnSp>
        <p:nvCxnSpPr>
          <p:cNvPr id="49" name="Straight Arrow Connector 48"/>
          <p:cNvCxnSpPr/>
          <p:nvPr/>
        </p:nvCxnSpPr>
        <p:spPr>
          <a:xfrm flipV="1">
            <a:off x="6014562" y="4655821"/>
            <a:ext cx="442913" cy="359569"/>
          </a:xfrm>
          <a:prstGeom prst="straightConnector1">
            <a:avLst/>
          </a:prstGeom>
          <a:ln>
            <a:headEnd type="arrow"/>
            <a:tailEnd type="arrow"/>
          </a:ln>
        </p:spPr>
        <p:style>
          <a:lnRef idx="1">
            <a:schemeClr val="accent1"/>
          </a:lnRef>
          <a:fillRef idx="0">
            <a:schemeClr val="accent1"/>
          </a:fillRef>
          <a:effectRef idx="0">
            <a:schemeClr val="accent1"/>
          </a:effectRef>
          <a:fontRef idx="minor">
            <a:schemeClr val="tx1"/>
          </a:fontRef>
        </p:style>
      </p:cxnSp>
      <p:graphicFrame>
        <p:nvGraphicFramePr>
          <p:cNvPr id="50" name="Object 49"/>
          <p:cNvGraphicFramePr>
            <a:graphicFrameLocks noChangeAspect="1"/>
          </p:cNvGraphicFramePr>
          <p:nvPr/>
        </p:nvGraphicFramePr>
        <p:xfrm>
          <a:off x="6324600" y="4908550"/>
          <a:ext cx="624840" cy="538057"/>
        </p:xfrm>
        <a:graphic>
          <a:graphicData uri="http://schemas.openxmlformats.org/presentationml/2006/ole">
            <mc:AlternateContent xmlns:mc="http://schemas.openxmlformats.org/markup-compatibility/2006">
              <mc:Choice xmlns:v="urn:schemas-microsoft-com:vml" Requires="v">
                <p:oleObj name="Equation" r:id="rId2" imgW="457200" imgH="393480" progId="Equation.3">
                  <p:embed/>
                </p:oleObj>
              </mc:Choice>
              <mc:Fallback>
                <p:oleObj name="Equation" r:id="rId2" imgW="457200" imgH="393480" progId="Equation.3">
                  <p:embed/>
                  <p:pic>
                    <p:nvPicPr>
                      <p:cNvPr id="50" name="Object 49"/>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324600" y="4908550"/>
                        <a:ext cx="624840" cy="53805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299506663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Footer Placeholder 5"/>
          <p:cNvSpPr>
            <a:spLocks noGrp="1"/>
          </p:cNvSpPr>
          <p:nvPr>
            <p:ph type="ftr" sz="quarter" idx="11"/>
          </p:nvPr>
        </p:nvSpPr>
        <p:spPr>
          <a:noFill/>
        </p:spPr>
        <p:txBody>
          <a:bodyPr/>
          <a:lstStyle/>
          <a:p>
            <a:r>
              <a:rPr lang="en-US"/>
              <a:t>R. Todd Lines</a:t>
            </a:r>
          </a:p>
        </p:txBody>
      </p:sp>
      <p:sp>
        <p:nvSpPr>
          <p:cNvPr id="21507" name="Rectangle 2"/>
          <p:cNvSpPr>
            <a:spLocks noGrp="1" noChangeArrowheads="1"/>
          </p:cNvSpPr>
          <p:nvPr>
            <p:ph type="title"/>
          </p:nvPr>
        </p:nvSpPr>
        <p:spPr/>
        <p:txBody>
          <a:bodyPr>
            <a:normAutofit/>
          </a:bodyPr>
          <a:lstStyle/>
          <a:p>
            <a:pPr eaLnBrk="1" hangingPunct="1"/>
            <a:r>
              <a:rPr lang="en-US"/>
              <a:t>Diffraction Pattern, Single Slit</a:t>
            </a:r>
          </a:p>
        </p:txBody>
      </p:sp>
      <p:sp>
        <p:nvSpPr>
          <p:cNvPr id="21508" name="Rectangle 3"/>
          <p:cNvSpPr>
            <a:spLocks noGrp="1" noChangeArrowheads="1"/>
          </p:cNvSpPr>
          <p:nvPr>
            <p:ph type="body" sz="half" idx="1"/>
          </p:nvPr>
        </p:nvSpPr>
        <p:spPr>
          <a:xfrm>
            <a:off x="1981200" y="1600201"/>
            <a:ext cx="7391400" cy="4525963"/>
          </a:xfrm>
        </p:spPr>
        <p:txBody>
          <a:bodyPr/>
          <a:lstStyle/>
          <a:p>
            <a:pPr eaLnBrk="1" hangingPunct="1"/>
            <a:r>
              <a:rPr lang="en-US" dirty="0"/>
              <a:t>The diffraction pattern consists of the central maximum and a series of secondary maxima and minima</a:t>
            </a:r>
          </a:p>
          <a:p>
            <a:pPr eaLnBrk="1" hangingPunct="1"/>
            <a:r>
              <a:rPr lang="en-US" dirty="0"/>
              <a:t>The pattern is similar to an interference pattern</a:t>
            </a:r>
          </a:p>
          <a:p>
            <a:pPr eaLnBrk="1" hangingPunct="1"/>
            <a:endParaRPr lang="en-US" dirty="0"/>
          </a:p>
        </p:txBody>
      </p:sp>
      <p:pic>
        <p:nvPicPr>
          <p:cNvPr id="6" name="Picture 5" descr="034.JPG"/>
          <p:cNvPicPr>
            <a:picLocks noChangeAspect="1"/>
          </p:cNvPicPr>
          <p:nvPr/>
        </p:nvPicPr>
        <p:blipFill>
          <a:blip r:embed="rId2" cstate="print"/>
          <a:srcRect l="22140" t="31927" r="18011" b="41055"/>
          <a:stretch>
            <a:fillRect/>
          </a:stretch>
        </p:blipFill>
        <p:spPr>
          <a:xfrm rot="120000">
            <a:off x="3917157" y="4040577"/>
            <a:ext cx="4512460" cy="1852880"/>
          </a:xfrm>
          <a:prstGeom prst="rect">
            <a:avLst/>
          </a:prstGeom>
        </p:spPr>
      </p:pic>
      <p:sp>
        <p:nvSpPr>
          <p:cNvPr id="7" name="ClipArt Placeholder 6"/>
          <p:cNvSpPr>
            <a:spLocks noGrp="1"/>
          </p:cNvSpPr>
          <p:nvPr>
            <p:ph type="clipArt" sz="half" idx="2"/>
          </p:nvPr>
        </p:nvSpPr>
        <p:spPr/>
        <p:txBody>
          <a:bodyPr/>
          <a:lstStyle/>
          <a:p>
            <a:endParaRPr lang="en-US"/>
          </a:p>
        </p:txBody>
      </p:sp>
    </p:spTree>
    <p:extLst>
      <p:ext uri="{BB962C8B-B14F-4D97-AF65-F5344CB8AC3E}">
        <p14:creationId xmlns:p14="http://schemas.microsoft.com/office/powerpoint/2010/main" val="2955721897"/>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Footer Placeholder 5"/>
          <p:cNvSpPr>
            <a:spLocks noGrp="1"/>
          </p:cNvSpPr>
          <p:nvPr>
            <p:ph type="ftr" sz="quarter" idx="11"/>
          </p:nvPr>
        </p:nvSpPr>
        <p:spPr>
          <a:noFill/>
        </p:spPr>
        <p:txBody>
          <a:bodyPr/>
          <a:lstStyle/>
          <a:p>
            <a:r>
              <a:rPr lang="en-US"/>
              <a:t>R. Todd Lines</a:t>
            </a:r>
          </a:p>
        </p:txBody>
      </p:sp>
      <p:sp>
        <p:nvSpPr>
          <p:cNvPr id="22531" name="Rectangle 2"/>
          <p:cNvSpPr>
            <a:spLocks noGrp="1" noChangeArrowheads="1"/>
          </p:cNvSpPr>
          <p:nvPr>
            <p:ph type="title"/>
          </p:nvPr>
        </p:nvSpPr>
        <p:spPr/>
        <p:txBody>
          <a:bodyPr>
            <a:normAutofit/>
          </a:bodyPr>
          <a:lstStyle/>
          <a:p>
            <a:pPr eaLnBrk="1" hangingPunct="1"/>
            <a:r>
              <a:rPr lang="en-US"/>
              <a:t>Fraunhofer Diffraction Pattern</a:t>
            </a:r>
          </a:p>
        </p:txBody>
      </p:sp>
      <p:sp>
        <p:nvSpPr>
          <p:cNvPr id="22532" name="Rectangle 3"/>
          <p:cNvSpPr>
            <a:spLocks noGrp="1" noChangeArrowheads="1"/>
          </p:cNvSpPr>
          <p:nvPr>
            <p:ph type="body" sz="half" idx="1"/>
          </p:nvPr>
        </p:nvSpPr>
        <p:spPr>
          <a:xfrm>
            <a:off x="2097088" y="1509714"/>
            <a:ext cx="3810000" cy="4611687"/>
          </a:xfrm>
        </p:spPr>
        <p:txBody>
          <a:bodyPr/>
          <a:lstStyle/>
          <a:p>
            <a:pPr eaLnBrk="1" hangingPunct="1">
              <a:lnSpc>
                <a:spcPct val="90000"/>
              </a:lnSpc>
            </a:pPr>
            <a:r>
              <a:rPr lang="en-US"/>
              <a:t>A </a:t>
            </a:r>
            <a:r>
              <a:rPr lang="en-US" b="1"/>
              <a:t>Fraunhofer diffraction pattern</a:t>
            </a:r>
            <a:r>
              <a:rPr lang="en-US" i="1"/>
              <a:t> </a:t>
            </a:r>
            <a:r>
              <a:rPr lang="en-US"/>
              <a:t>occurs when the rays leave the diffracting object in parallel directions</a:t>
            </a:r>
          </a:p>
          <a:p>
            <a:pPr lvl="1" eaLnBrk="1" hangingPunct="1">
              <a:lnSpc>
                <a:spcPct val="90000"/>
              </a:lnSpc>
            </a:pPr>
            <a:r>
              <a:rPr lang="en-US"/>
              <a:t>Screen very far from the slit</a:t>
            </a:r>
          </a:p>
          <a:p>
            <a:pPr lvl="1" eaLnBrk="1" hangingPunct="1">
              <a:lnSpc>
                <a:spcPct val="90000"/>
              </a:lnSpc>
            </a:pPr>
            <a:r>
              <a:rPr lang="en-US"/>
              <a:t>Could be accomplished by a converging lens </a:t>
            </a:r>
          </a:p>
        </p:txBody>
      </p:sp>
      <p:grpSp>
        <p:nvGrpSpPr>
          <p:cNvPr id="21" name="Group 20"/>
          <p:cNvGrpSpPr/>
          <p:nvPr/>
        </p:nvGrpSpPr>
        <p:grpSpPr>
          <a:xfrm>
            <a:off x="6096000" y="508001"/>
            <a:ext cx="4521201" cy="6265333"/>
            <a:chOff x="6096000" y="508001"/>
            <a:chExt cx="4521201" cy="6265333"/>
          </a:xfrm>
        </p:grpSpPr>
        <p:pic>
          <p:nvPicPr>
            <p:cNvPr id="22" name="Picture 2"/>
            <p:cNvPicPr>
              <a:picLocks noChangeAspect="1" noChangeArrowheads="1"/>
            </p:cNvPicPr>
            <p:nvPr/>
          </p:nvPicPr>
          <p:blipFill>
            <a:blip r:embed="rId2" cstate="print"/>
            <a:srcRect/>
            <a:stretch>
              <a:fillRect/>
            </a:stretch>
          </p:blipFill>
          <p:spPr bwMode="auto">
            <a:xfrm rot="16200000">
              <a:off x="6289888" y="2446022"/>
              <a:ext cx="6265333" cy="2389292"/>
            </a:xfrm>
            <a:prstGeom prst="rect">
              <a:avLst/>
            </a:prstGeom>
            <a:noFill/>
            <a:ln w="9525">
              <a:noFill/>
              <a:miter lim="800000"/>
              <a:headEnd/>
              <a:tailEnd/>
            </a:ln>
            <a:effectLst/>
          </p:spPr>
        </p:pic>
        <p:sp>
          <p:nvSpPr>
            <p:cNvPr id="23" name="Rectangle 22"/>
            <p:cNvSpPr/>
            <p:nvPr/>
          </p:nvSpPr>
          <p:spPr>
            <a:xfrm>
              <a:off x="6705599" y="1337734"/>
              <a:ext cx="270933" cy="20828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p:cNvSpPr/>
            <p:nvPr/>
          </p:nvSpPr>
          <p:spPr>
            <a:xfrm>
              <a:off x="6756400" y="3809999"/>
              <a:ext cx="237065" cy="16764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5" name="Straight Connector 24"/>
            <p:cNvCxnSpPr/>
            <p:nvPr/>
          </p:nvCxnSpPr>
          <p:spPr>
            <a:xfrm>
              <a:off x="6841066" y="3640666"/>
              <a:ext cx="2556934" cy="16934"/>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26" name="Straight Connector 25"/>
            <p:cNvCxnSpPr/>
            <p:nvPr/>
          </p:nvCxnSpPr>
          <p:spPr>
            <a:xfrm flipV="1">
              <a:off x="6874933" y="2997200"/>
              <a:ext cx="2573867" cy="609601"/>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7" name="TextBox 26"/>
            <p:cNvSpPr txBox="1"/>
            <p:nvPr/>
          </p:nvSpPr>
          <p:spPr>
            <a:xfrm>
              <a:off x="7704242" y="3337560"/>
              <a:ext cx="304892" cy="369332"/>
            </a:xfrm>
            <a:prstGeom prst="rect">
              <a:avLst/>
            </a:prstGeom>
            <a:noFill/>
          </p:spPr>
          <p:txBody>
            <a:bodyPr wrap="none" rtlCol="0">
              <a:spAutoFit/>
            </a:bodyPr>
            <a:lstStyle/>
            <a:p>
              <a:r>
                <a:rPr lang="en-US" dirty="0">
                  <a:sym typeface="Symbol" panose="05050102010706020507" pitchFamily="18" charset="2"/>
                </a:rPr>
                <a:t></a:t>
              </a:r>
              <a:endParaRPr lang="en-US" dirty="0"/>
            </a:p>
          </p:txBody>
        </p:sp>
        <p:sp>
          <p:nvSpPr>
            <p:cNvPr id="28" name="Arc 27"/>
            <p:cNvSpPr/>
            <p:nvPr/>
          </p:nvSpPr>
          <p:spPr>
            <a:xfrm rot="1986114">
              <a:off x="7208519" y="3350683"/>
              <a:ext cx="457200" cy="508000"/>
            </a:xfrm>
            <a:prstGeom prst="arc">
              <a:avLst>
                <a:gd name="adj1" fmla="val 17594932"/>
                <a:gd name="adj2" fmla="val 19832164"/>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29" name="Straight Arrow Connector 28"/>
            <p:cNvCxnSpPr/>
            <p:nvPr/>
          </p:nvCxnSpPr>
          <p:spPr>
            <a:xfrm>
              <a:off x="7010400" y="5300134"/>
              <a:ext cx="2404533" cy="33866"/>
            </a:xfrm>
            <a:prstGeom prst="straightConnector1">
              <a:avLst/>
            </a:prstGeom>
            <a:ln>
              <a:solidFill>
                <a:schemeClr val="tx1"/>
              </a:solidFill>
              <a:prstDash val="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30" name="TextBox 29"/>
            <p:cNvSpPr txBox="1"/>
            <p:nvPr/>
          </p:nvSpPr>
          <p:spPr>
            <a:xfrm>
              <a:off x="7958667" y="5029200"/>
              <a:ext cx="357790" cy="584775"/>
            </a:xfrm>
            <a:prstGeom prst="rect">
              <a:avLst/>
            </a:prstGeom>
            <a:solidFill>
              <a:schemeClr val="bg1"/>
            </a:solidFill>
          </p:spPr>
          <p:txBody>
            <a:bodyPr wrap="none" rtlCol="0">
              <a:spAutoFit/>
            </a:bodyPr>
            <a:lstStyle/>
            <a:p>
              <a:r>
                <a:rPr lang="en-US" sz="3200" dirty="0"/>
                <a:t>L</a:t>
              </a:r>
            </a:p>
          </p:txBody>
        </p:sp>
        <p:cxnSp>
          <p:nvCxnSpPr>
            <p:cNvPr id="31" name="Straight Connector 30"/>
            <p:cNvCxnSpPr/>
            <p:nvPr/>
          </p:nvCxnSpPr>
          <p:spPr>
            <a:xfrm>
              <a:off x="6096000" y="3403601"/>
              <a:ext cx="474133"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2" name="Straight Connector 31"/>
            <p:cNvCxnSpPr/>
            <p:nvPr/>
          </p:nvCxnSpPr>
          <p:spPr>
            <a:xfrm>
              <a:off x="6112934" y="3826934"/>
              <a:ext cx="474133"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3" name="Straight Arrow Connector 32"/>
            <p:cNvCxnSpPr/>
            <p:nvPr/>
          </p:nvCxnSpPr>
          <p:spPr>
            <a:xfrm>
              <a:off x="6350000" y="3064933"/>
              <a:ext cx="0" cy="338667"/>
            </a:xfrm>
            <a:prstGeom prst="straightConnector1">
              <a:avLst/>
            </a:prstGeom>
            <a:ln>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34" name="Straight Arrow Connector 33"/>
            <p:cNvCxnSpPr/>
            <p:nvPr/>
          </p:nvCxnSpPr>
          <p:spPr>
            <a:xfrm flipV="1">
              <a:off x="6350001" y="3810000"/>
              <a:ext cx="0" cy="338667"/>
            </a:xfrm>
            <a:prstGeom prst="straightConnector1">
              <a:avLst/>
            </a:prstGeom>
            <a:ln>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35" name="TextBox 34"/>
            <p:cNvSpPr txBox="1"/>
            <p:nvPr/>
          </p:nvSpPr>
          <p:spPr>
            <a:xfrm>
              <a:off x="6214534" y="3420534"/>
              <a:ext cx="295274" cy="369332"/>
            </a:xfrm>
            <a:prstGeom prst="rect">
              <a:avLst/>
            </a:prstGeom>
            <a:noFill/>
          </p:spPr>
          <p:txBody>
            <a:bodyPr wrap="none" rtlCol="0">
              <a:spAutoFit/>
            </a:bodyPr>
            <a:lstStyle/>
            <a:p>
              <a:r>
                <a:rPr lang="en-US" dirty="0"/>
                <a:t>a</a:t>
              </a:r>
            </a:p>
          </p:txBody>
        </p:sp>
      </p:grpSp>
    </p:spTree>
    <p:extLst>
      <p:ext uri="{BB962C8B-B14F-4D97-AF65-F5344CB8AC3E}">
        <p14:creationId xmlns:p14="http://schemas.microsoft.com/office/powerpoint/2010/main" val="125394200"/>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Footer Placeholder 4"/>
          <p:cNvSpPr>
            <a:spLocks noGrp="1"/>
          </p:cNvSpPr>
          <p:nvPr>
            <p:ph type="ftr" sz="quarter" idx="11"/>
          </p:nvPr>
        </p:nvSpPr>
        <p:spPr>
          <a:noFill/>
        </p:spPr>
        <p:txBody>
          <a:bodyPr/>
          <a:lstStyle/>
          <a:p>
            <a:r>
              <a:rPr lang="en-US"/>
              <a:t>R. Todd Lines</a:t>
            </a:r>
          </a:p>
        </p:txBody>
      </p:sp>
      <p:sp>
        <p:nvSpPr>
          <p:cNvPr id="25603" name="Rectangle 2"/>
          <p:cNvSpPr>
            <a:spLocks noGrp="1" noChangeArrowheads="1"/>
          </p:cNvSpPr>
          <p:nvPr>
            <p:ph type="title"/>
          </p:nvPr>
        </p:nvSpPr>
        <p:spPr>
          <a:xfrm>
            <a:off x="2819400" y="0"/>
            <a:ext cx="7848600" cy="1143000"/>
          </a:xfrm>
        </p:spPr>
        <p:txBody>
          <a:bodyPr/>
          <a:lstStyle/>
          <a:p>
            <a:pPr eaLnBrk="1" hangingPunct="1"/>
            <a:r>
              <a:rPr lang="en-US"/>
              <a:t>Diffraction vs. Diffraction Pattern</a:t>
            </a:r>
          </a:p>
        </p:txBody>
      </p:sp>
      <p:sp>
        <p:nvSpPr>
          <p:cNvPr id="25604" name="Rectangle 3"/>
          <p:cNvSpPr>
            <a:spLocks noGrp="1" noChangeArrowheads="1"/>
          </p:cNvSpPr>
          <p:nvPr>
            <p:ph type="body" idx="1"/>
          </p:nvPr>
        </p:nvSpPr>
        <p:spPr/>
        <p:txBody>
          <a:bodyPr/>
          <a:lstStyle/>
          <a:p>
            <a:pPr eaLnBrk="1" hangingPunct="1"/>
            <a:r>
              <a:rPr lang="en-US" i="1"/>
              <a:t>Diffraction</a:t>
            </a:r>
            <a:r>
              <a:rPr lang="en-US"/>
              <a:t> refers to the general behavior of waves spreading out as they pass through a slit</a:t>
            </a:r>
          </a:p>
          <a:p>
            <a:pPr eaLnBrk="1" hangingPunct="1"/>
            <a:r>
              <a:rPr lang="en-US"/>
              <a:t>A </a:t>
            </a:r>
            <a:r>
              <a:rPr lang="en-US" i="1"/>
              <a:t>diffraction pattern</a:t>
            </a:r>
            <a:r>
              <a:rPr lang="en-US"/>
              <a:t> is actually a misnomer that is deeply entrenched</a:t>
            </a:r>
          </a:p>
          <a:p>
            <a:pPr lvl="1" eaLnBrk="1" hangingPunct="1"/>
            <a:r>
              <a:rPr lang="en-US"/>
              <a:t>The pattern seen on the screen is actually another </a:t>
            </a:r>
            <a:r>
              <a:rPr lang="en-US" i="1"/>
              <a:t>interference</a:t>
            </a:r>
            <a:r>
              <a:rPr lang="en-US"/>
              <a:t> pattern</a:t>
            </a:r>
          </a:p>
          <a:p>
            <a:pPr lvl="1" eaLnBrk="1" hangingPunct="1"/>
            <a:r>
              <a:rPr lang="en-US"/>
              <a:t>The interference is between parts of the incident light illuminating different regions of the slit</a:t>
            </a:r>
          </a:p>
        </p:txBody>
      </p:sp>
    </p:spTree>
    <p:extLst>
      <p:ext uri="{BB962C8B-B14F-4D97-AF65-F5344CB8AC3E}">
        <p14:creationId xmlns:p14="http://schemas.microsoft.com/office/powerpoint/2010/main" val="1977382867"/>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Right Triangle 37"/>
          <p:cNvSpPr/>
          <p:nvPr/>
        </p:nvSpPr>
        <p:spPr>
          <a:xfrm rot="19354257" flipH="1">
            <a:off x="5479128" y="2827300"/>
            <a:ext cx="609600" cy="834530"/>
          </a:xfrm>
          <a:prstGeom prst="rtTriangle">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ight Triangle 36"/>
          <p:cNvSpPr/>
          <p:nvPr/>
        </p:nvSpPr>
        <p:spPr>
          <a:xfrm rot="19354257" flipH="1">
            <a:off x="5479129" y="3836251"/>
            <a:ext cx="609600" cy="834530"/>
          </a:xfrm>
          <a:prstGeom prst="rtTriangle">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627" name="Rectangle 2"/>
          <p:cNvSpPr>
            <a:spLocks noGrp="1" noChangeArrowheads="1"/>
          </p:cNvSpPr>
          <p:nvPr>
            <p:ph type="title"/>
          </p:nvPr>
        </p:nvSpPr>
        <p:spPr/>
        <p:txBody>
          <a:bodyPr/>
          <a:lstStyle/>
          <a:p>
            <a:pPr eaLnBrk="1" hangingPunct="1"/>
            <a:r>
              <a:rPr lang="en-US"/>
              <a:t>Single-Slit Diffraction</a:t>
            </a:r>
          </a:p>
        </p:txBody>
      </p:sp>
      <p:sp>
        <p:nvSpPr>
          <p:cNvPr id="6" name="Rectangle 5"/>
          <p:cNvSpPr/>
          <p:nvPr/>
        </p:nvSpPr>
        <p:spPr>
          <a:xfrm>
            <a:off x="5707380" y="1493520"/>
            <a:ext cx="228600" cy="1143000"/>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p:cNvSpPr/>
          <p:nvPr/>
        </p:nvSpPr>
        <p:spPr>
          <a:xfrm>
            <a:off x="5707380" y="4846320"/>
            <a:ext cx="228600" cy="1143000"/>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 name="Straight Connector 10"/>
          <p:cNvCxnSpPr/>
          <p:nvPr/>
        </p:nvCxnSpPr>
        <p:spPr>
          <a:xfrm>
            <a:off x="4678680" y="2636520"/>
            <a:ext cx="91440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2" name="Straight Connector 11"/>
          <p:cNvCxnSpPr/>
          <p:nvPr/>
        </p:nvCxnSpPr>
        <p:spPr>
          <a:xfrm>
            <a:off x="4602480" y="4846320"/>
            <a:ext cx="91440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4" name="Straight Arrow Connector 13"/>
          <p:cNvCxnSpPr/>
          <p:nvPr/>
        </p:nvCxnSpPr>
        <p:spPr>
          <a:xfrm>
            <a:off x="4831080" y="2636520"/>
            <a:ext cx="0" cy="2209800"/>
          </a:xfrm>
          <a:prstGeom prst="straightConnector1">
            <a:avLst/>
          </a:prstGeom>
          <a:ln>
            <a:headEnd type="arrow"/>
            <a:tailEnd type="arrow"/>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p:nvPr/>
        </p:nvCxnSpPr>
        <p:spPr>
          <a:xfrm>
            <a:off x="3992880" y="2788920"/>
            <a:ext cx="533400" cy="0"/>
          </a:xfrm>
          <a:prstGeom prst="straightConnector1">
            <a:avLst/>
          </a:prstGeom>
          <a:ln w="3810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7" name="Straight Arrow Connector 16"/>
          <p:cNvCxnSpPr/>
          <p:nvPr/>
        </p:nvCxnSpPr>
        <p:spPr>
          <a:xfrm>
            <a:off x="3992880" y="3246120"/>
            <a:ext cx="533400" cy="0"/>
          </a:xfrm>
          <a:prstGeom prst="straightConnector1">
            <a:avLst/>
          </a:prstGeom>
          <a:ln w="3810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8" name="Straight Arrow Connector 17"/>
          <p:cNvCxnSpPr/>
          <p:nvPr/>
        </p:nvCxnSpPr>
        <p:spPr>
          <a:xfrm>
            <a:off x="3992880" y="3779520"/>
            <a:ext cx="533400" cy="0"/>
          </a:xfrm>
          <a:prstGeom prst="straightConnector1">
            <a:avLst/>
          </a:prstGeom>
          <a:ln w="3810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p:nvPr/>
        </p:nvCxnSpPr>
        <p:spPr>
          <a:xfrm>
            <a:off x="3992880" y="4312920"/>
            <a:ext cx="533400" cy="0"/>
          </a:xfrm>
          <a:prstGeom prst="straightConnector1">
            <a:avLst/>
          </a:prstGeom>
          <a:ln w="3810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20" name="Straight Arrow Connector 19"/>
          <p:cNvCxnSpPr/>
          <p:nvPr/>
        </p:nvCxnSpPr>
        <p:spPr>
          <a:xfrm>
            <a:off x="3992880" y="4770120"/>
            <a:ext cx="533400" cy="0"/>
          </a:xfrm>
          <a:prstGeom prst="straightConnector1">
            <a:avLst/>
          </a:prstGeom>
          <a:ln w="38100">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21" name="TextBox 20"/>
          <p:cNvSpPr txBox="1"/>
          <p:nvPr/>
        </p:nvSpPr>
        <p:spPr>
          <a:xfrm>
            <a:off x="4602480" y="3398521"/>
            <a:ext cx="381836" cy="584775"/>
          </a:xfrm>
          <a:prstGeom prst="rect">
            <a:avLst/>
          </a:prstGeom>
          <a:solidFill>
            <a:schemeClr val="bg1"/>
          </a:solidFill>
        </p:spPr>
        <p:txBody>
          <a:bodyPr wrap="none" rtlCol="0">
            <a:spAutoFit/>
          </a:bodyPr>
          <a:lstStyle/>
          <a:p>
            <a:r>
              <a:rPr lang="en-US" sz="3200" dirty="0"/>
              <a:t>a</a:t>
            </a:r>
          </a:p>
        </p:txBody>
      </p:sp>
      <p:cxnSp>
        <p:nvCxnSpPr>
          <p:cNvPr id="23" name="Straight Connector 22"/>
          <p:cNvCxnSpPr/>
          <p:nvPr/>
        </p:nvCxnSpPr>
        <p:spPr>
          <a:xfrm>
            <a:off x="5135880" y="3779520"/>
            <a:ext cx="2590800" cy="0"/>
          </a:xfrm>
          <a:prstGeom prst="line">
            <a:avLst/>
          </a:prstGeom>
          <a:ln>
            <a:prstDash val="lgDash"/>
          </a:ln>
        </p:spPr>
        <p:style>
          <a:lnRef idx="1">
            <a:schemeClr val="accent1"/>
          </a:lnRef>
          <a:fillRef idx="0">
            <a:schemeClr val="accent1"/>
          </a:fillRef>
          <a:effectRef idx="0">
            <a:schemeClr val="accent1"/>
          </a:effectRef>
          <a:fontRef idx="minor">
            <a:schemeClr val="tx1"/>
          </a:fontRef>
        </p:style>
      </p:cxnSp>
      <p:sp>
        <p:nvSpPr>
          <p:cNvPr id="24" name="TextBox 23"/>
          <p:cNvSpPr txBox="1"/>
          <p:nvPr/>
        </p:nvSpPr>
        <p:spPr>
          <a:xfrm>
            <a:off x="6602731" y="3448050"/>
            <a:ext cx="207645" cy="400110"/>
          </a:xfrm>
          <a:prstGeom prst="rect">
            <a:avLst/>
          </a:prstGeom>
          <a:noFill/>
        </p:spPr>
        <p:txBody>
          <a:bodyPr wrap="square" rtlCol="0">
            <a:spAutoFit/>
          </a:bodyPr>
          <a:lstStyle/>
          <a:p>
            <a:r>
              <a:rPr lang="en-US" sz="2000" dirty="0">
                <a:sym typeface="Symbol"/>
              </a:rPr>
              <a:t></a:t>
            </a:r>
            <a:endParaRPr lang="en-US" sz="2000" dirty="0"/>
          </a:p>
        </p:txBody>
      </p:sp>
      <p:sp>
        <p:nvSpPr>
          <p:cNvPr id="25" name="Oval 24"/>
          <p:cNvSpPr/>
          <p:nvPr/>
        </p:nvSpPr>
        <p:spPr>
          <a:xfrm>
            <a:off x="5745480" y="2636520"/>
            <a:ext cx="152400" cy="152400"/>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Right Triangle 43"/>
          <p:cNvSpPr/>
          <p:nvPr/>
        </p:nvSpPr>
        <p:spPr>
          <a:xfrm rot="19354257" flipH="1">
            <a:off x="5479128" y="3303549"/>
            <a:ext cx="609600" cy="834530"/>
          </a:xfrm>
          <a:prstGeom prst="rtTriangle">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Oval 25"/>
          <p:cNvSpPr/>
          <p:nvPr/>
        </p:nvSpPr>
        <p:spPr>
          <a:xfrm>
            <a:off x="5745480" y="3703320"/>
            <a:ext cx="152400" cy="152400"/>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Oval 26"/>
          <p:cNvSpPr/>
          <p:nvPr/>
        </p:nvSpPr>
        <p:spPr>
          <a:xfrm>
            <a:off x="5745480" y="4693920"/>
            <a:ext cx="152400" cy="152400"/>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8" name="Straight Arrow Connector 27"/>
          <p:cNvCxnSpPr/>
          <p:nvPr/>
        </p:nvCxnSpPr>
        <p:spPr>
          <a:xfrm>
            <a:off x="5288280" y="2636520"/>
            <a:ext cx="0" cy="1143000"/>
          </a:xfrm>
          <a:prstGeom prst="straightConnector1">
            <a:avLst/>
          </a:prstGeom>
          <a:ln>
            <a:headEnd type="arrow"/>
            <a:tailEnd type="arrow"/>
          </a:ln>
        </p:spPr>
        <p:style>
          <a:lnRef idx="1">
            <a:schemeClr val="accent1"/>
          </a:lnRef>
          <a:fillRef idx="0">
            <a:schemeClr val="accent1"/>
          </a:fillRef>
          <a:effectRef idx="0">
            <a:schemeClr val="accent1"/>
          </a:effectRef>
          <a:fontRef idx="minor">
            <a:schemeClr val="tx1"/>
          </a:fontRef>
        </p:style>
      </p:cxnSp>
      <p:sp>
        <p:nvSpPr>
          <p:cNvPr id="32" name="TextBox 31"/>
          <p:cNvSpPr txBox="1"/>
          <p:nvPr/>
        </p:nvSpPr>
        <p:spPr>
          <a:xfrm>
            <a:off x="4983480" y="2941321"/>
            <a:ext cx="606256" cy="461665"/>
          </a:xfrm>
          <a:prstGeom prst="rect">
            <a:avLst/>
          </a:prstGeom>
          <a:solidFill>
            <a:schemeClr val="bg1"/>
          </a:solidFill>
        </p:spPr>
        <p:txBody>
          <a:bodyPr wrap="none" rtlCol="0">
            <a:spAutoFit/>
          </a:bodyPr>
          <a:lstStyle/>
          <a:p>
            <a:r>
              <a:rPr lang="en-US" sz="2400" dirty="0"/>
              <a:t>a/2</a:t>
            </a:r>
          </a:p>
        </p:txBody>
      </p:sp>
      <p:cxnSp>
        <p:nvCxnSpPr>
          <p:cNvPr id="33" name="Straight Arrow Connector 32"/>
          <p:cNvCxnSpPr/>
          <p:nvPr/>
        </p:nvCxnSpPr>
        <p:spPr>
          <a:xfrm flipV="1">
            <a:off x="5821680" y="3093720"/>
            <a:ext cx="1905000" cy="1676400"/>
          </a:xfrm>
          <a:prstGeom prst="straightConnector1">
            <a:avLst/>
          </a:prstGeom>
          <a:ln w="3810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35" name="Straight Arrow Connector 34"/>
          <p:cNvCxnSpPr/>
          <p:nvPr/>
        </p:nvCxnSpPr>
        <p:spPr>
          <a:xfrm flipV="1">
            <a:off x="5821680" y="2103120"/>
            <a:ext cx="1905000" cy="1676400"/>
          </a:xfrm>
          <a:prstGeom prst="straightConnector1">
            <a:avLst/>
          </a:prstGeom>
          <a:ln w="3810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36" name="Straight Arrow Connector 35"/>
          <p:cNvCxnSpPr/>
          <p:nvPr/>
        </p:nvCxnSpPr>
        <p:spPr>
          <a:xfrm flipV="1">
            <a:off x="5821680" y="1036320"/>
            <a:ext cx="1905000" cy="1676400"/>
          </a:xfrm>
          <a:prstGeom prst="straightConnector1">
            <a:avLst/>
          </a:prstGeom>
          <a:ln w="3810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40" name="Straight Connector 39"/>
          <p:cNvCxnSpPr/>
          <p:nvPr/>
        </p:nvCxnSpPr>
        <p:spPr>
          <a:xfrm>
            <a:off x="6295549" y="4434363"/>
            <a:ext cx="228600" cy="304800"/>
          </a:xfrm>
          <a:prstGeom prst="line">
            <a:avLst/>
          </a:prstGeom>
        </p:spPr>
        <p:style>
          <a:lnRef idx="1">
            <a:schemeClr val="accent1"/>
          </a:lnRef>
          <a:fillRef idx="0">
            <a:schemeClr val="accent1"/>
          </a:fillRef>
          <a:effectRef idx="0">
            <a:schemeClr val="accent1"/>
          </a:effectRef>
          <a:fontRef idx="minor">
            <a:schemeClr val="tx1"/>
          </a:fontRef>
        </p:style>
      </p:cxnSp>
      <p:cxnSp>
        <p:nvCxnSpPr>
          <p:cNvPr id="42" name="Straight Connector 41"/>
          <p:cNvCxnSpPr/>
          <p:nvPr/>
        </p:nvCxnSpPr>
        <p:spPr>
          <a:xfrm>
            <a:off x="5955030" y="4948715"/>
            <a:ext cx="126206" cy="161925"/>
          </a:xfrm>
          <a:prstGeom prst="line">
            <a:avLst/>
          </a:prstGeom>
        </p:spPr>
        <p:style>
          <a:lnRef idx="1">
            <a:schemeClr val="accent1"/>
          </a:lnRef>
          <a:fillRef idx="0">
            <a:schemeClr val="accent1"/>
          </a:fillRef>
          <a:effectRef idx="0">
            <a:schemeClr val="accent1"/>
          </a:effectRef>
          <a:fontRef idx="minor">
            <a:schemeClr val="tx1"/>
          </a:fontRef>
        </p:style>
      </p:cxnSp>
      <p:cxnSp>
        <p:nvCxnSpPr>
          <p:cNvPr id="49" name="Straight Arrow Connector 48"/>
          <p:cNvCxnSpPr/>
          <p:nvPr/>
        </p:nvCxnSpPr>
        <p:spPr>
          <a:xfrm flipV="1">
            <a:off x="6014562" y="4655821"/>
            <a:ext cx="442913" cy="359569"/>
          </a:xfrm>
          <a:prstGeom prst="straightConnector1">
            <a:avLst/>
          </a:prstGeom>
          <a:ln>
            <a:headEnd type="arrow"/>
            <a:tailEnd type="arrow"/>
          </a:ln>
        </p:spPr>
        <p:style>
          <a:lnRef idx="1">
            <a:schemeClr val="accent1"/>
          </a:lnRef>
          <a:fillRef idx="0">
            <a:schemeClr val="accent1"/>
          </a:fillRef>
          <a:effectRef idx="0">
            <a:schemeClr val="accent1"/>
          </a:effectRef>
          <a:fontRef idx="minor">
            <a:schemeClr val="tx1"/>
          </a:fontRef>
        </p:style>
      </p:cxnSp>
      <p:graphicFrame>
        <p:nvGraphicFramePr>
          <p:cNvPr id="50" name="Object 49"/>
          <p:cNvGraphicFramePr>
            <a:graphicFrameLocks noChangeAspect="1"/>
          </p:cNvGraphicFramePr>
          <p:nvPr/>
        </p:nvGraphicFramePr>
        <p:xfrm>
          <a:off x="6324600" y="4908550"/>
          <a:ext cx="624840" cy="538057"/>
        </p:xfrm>
        <a:graphic>
          <a:graphicData uri="http://schemas.openxmlformats.org/presentationml/2006/ole">
            <mc:AlternateContent xmlns:mc="http://schemas.openxmlformats.org/markup-compatibility/2006">
              <mc:Choice xmlns:v="urn:schemas-microsoft-com:vml" Requires="v">
                <p:oleObj name="Equation" r:id="rId2" imgW="457200" imgH="393480" progId="Equation.3">
                  <p:embed/>
                </p:oleObj>
              </mc:Choice>
              <mc:Fallback>
                <p:oleObj name="Equation" r:id="rId2" imgW="457200" imgH="393480" progId="Equation.3">
                  <p:embed/>
                  <p:pic>
                    <p:nvPicPr>
                      <p:cNvPr id="50" name="Object 49"/>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324600" y="4908550"/>
                        <a:ext cx="624840" cy="53805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30" name="Oval 29"/>
          <p:cNvSpPr/>
          <p:nvPr/>
        </p:nvSpPr>
        <p:spPr>
          <a:xfrm>
            <a:off x="5735955" y="3154680"/>
            <a:ext cx="152400" cy="152400"/>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Oval 42"/>
          <p:cNvSpPr/>
          <p:nvPr/>
        </p:nvSpPr>
        <p:spPr>
          <a:xfrm>
            <a:off x="5726430" y="4250055"/>
            <a:ext cx="152400" cy="152400"/>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45" name="Straight Arrow Connector 44"/>
          <p:cNvCxnSpPr/>
          <p:nvPr/>
        </p:nvCxnSpPr>
        <p:spPr>
          <a:xfrm flipV="1">
            <a:off x="5812155" y="2569845"/>
            <a:ext cx="1905000" cy="1676400"/>
          </a:xfrm>
          <a:prstGeom prst="straightConnector1">
            <a:avLst/>
          </a:prstGeom>
          <a:ln w="3810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46" name="Straight Arrow Connector 45"/>
          <p:cNvCxnSpPr/>
          <p:nvPr/>
        </p:nvCxnSpPr>
        <p:spPr>
          <a:xfrm flipV="1">
            <a:off x="5802630" y="1579245"/>
            <a:ext cx="1905000" cy="1676400"/>
          </a:xfrm>
          <a:prstGeom prst="straightConnector1">
            <a:avLst/>
          </a:prstGeom>
          <a:ln w="38100">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47" name="TextBox 46"/>
          <p:cNvSpPr txBox="1"/>
          <p:nvPr/>
        </p:nvSpPr>
        <p:spPr>
          <a:xfrm>
            <a:off x="7818120" y="944880"/>
            <a:ext cx="288862" cy="2308324"/>
          </a:xfrm>
          <a:prstGeom prst="rect">
            <a:avLst/>
          </a:prstGeom>
          <a:noFill/>
        </p:spPr>
        <p:txBody>
          <a:bodyPr wrap="none" rtlCol="0">
            <a:spAutoFit/>
          </a:bodyPr>
          <a:lstStyle/>
          <a:p>
            <a:r>
              <a:rPr lang="en-US" sz="1600" dirty="0"/>
              <a:t>5</a:t>
            </a:r>
          </a:p>
          <a:p>
            <a:endParaRPr lang="en-US" sz="1600" dirty="0"/>
          </a:p>
          <a:p>
            <a:r>
              <a:rPr lang="en-US" sz="1600" dirty="0"/>
              <a:t>4</a:t>
            </a:r>
          </a:p>
          <a:p>
            <a:endParaRPr lang="en-US" sz="1600" dirty="0"/>
          </a:p>
          <a:p>
            <a:r>
              <a:rPr lang="en-US" sz="1600" dirty="0"/>
              <a:t>3</a:t>
            </a:r>
          </a:p>
          <a:p>
            <a:endParaRPr lang="en-US" sz="1600" dirty="0"/>
          </a:p>
          <a:p>
            <a:r>
              <a:rPr lang="en-US" sz="1600" dirty="0"/>
              <a:t>2</a:t>
            </a:r>
          </a:p>
          <a:p>
            <a:endParaRPr lang="en-US" sz="1600" dirty="0"/>
          </a:p>
          <a:p>
            <a:r>
              <a:rPr lang="en-US" sz="1600" dirty="0"/>
              <a:t>1</a:t>
            </a:r>
          </a:p>
        </p:txBody>
      </p:sp>
    </p:spTree>
    <p:extLst>
      <p:ext uri="{BB962C8B-B14F-4D97-AF65-F5344CB8AC3E}">
        <p14:creationId xmlns:p14="http://schemas.microsoft.com/office/powerpoint/2010/main" val="3823976155"/>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3" name="Right Triangle 92"/>
          <p:cNvSpPr/>
          <p:nvPr/>
        </p:nvSpPr>
        <p:spPr>
          <a:xfrm rot="19354257" flipH="1">
            <a:off x="5717266" y="3431664"/>
            <a:ext cx="209706" cy="268159"/>
          </a:xfrm>
          <a:prstGeom prst="rtTriangle">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4" name="Right Triangle 93"/>
          <p:cNvSpPr/>
          <p:nvPr/>
        </p:nvSpPr>
        <p:spPr>
          <a:xfrm rot="19354257" flipH="1">
            <a:off x="5717266" y="3793614"/>
            <a:ext cx="209706" cy="268159"/>
          </a:xfrm>
          <a:prstGeom prst="rtTriangle">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5" name="Right Triangle 94"/>
          <p:cNvSpPr/>
          <p:nvPr/>
        </p:nvSpPr>
        <p:spPr>
          <a:xfrm rot="19354257" flipH="1">
            <a:off x="5712502" y="4141277"/>
            <a:ext cx="209706" cy="268159"/>
          </a:xfrm>
          <a:prstGeom prst="rtTriangle">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6" name="Right Triangle 95"/>
          <p:cNvSpPr/>
          <p:nvPr/>
        </p:nvSpPr>
        <p:spPr>
          <a:xfrm rot="19354257" flipH="1">
            <a:off x="5710120" y="4472271"/>
            <a:ext cx="209706" cy="268159"/>
          </a:xfrm>
          <a:prstGeom prst="rtTriangle">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2" name="Right Triangle 91"/>
          <p:cNvSpPr/>
          <p:nvPr/>
        </p:nvSpPr>
        <p:spPr>
          <a:xfrm rot="19354257" flipH="1">
            <a:off x="5710124" y="3048282"/>
            <a:ext cx="209706" cy="268159"/>
          </a:xfrm>
          <a:prstGeom prst="rtTriangle">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Right Triangle 37"/>
          <p:cNvSpPr/>
          <p:nvPr/>
        </p:nvSpPr>
        <p:spPr>
          <a:xfrm rot="19354257" flipH="1">
            <a:off x="5700602" y="2731575"/>
            <a:ext cx="209706" cy="268159"/>
          </a:xfrm>
          <a:prstGeom prst="rtTriangle">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627" name="Rectangle 2"/>
          <p:cNvSpPr>
            <a:spLocks noGrp="1" noChangeArrowheads="1"/>
          </p:cNvSpPr>
          <p:nvPr>
            <p:ph type="title"/>
          </p:nvPr>
        </p:nvSpPr>
        <p:spPr/>
        <p:txBody>
          <a:bodyPr/>
          <a:lstStyle/>
          <a:p>
            <a:pPr eaLnBrk="1" hangingPunct="1"/>
            <a:r>
              <a:rPr lang="en-US"/>
              <a:t>Single-Slit Diffraction</a:t>
            </a:r>
          </a:p>
        </p:txBody>
      </p:sp>
      <p:sp>
        <p:nvSpPr>
          <p:cNvPr id="6" name="Rectangle 5"/>
          <p:cNvSpPr/>
          <p:nvPr/>
        </p:nvSpPr>
        <p:spPr>
          <a:xfrm>
            <a:off x="5707380" y="1493520"/>
            <a:ext cx="228600" cy="1143000"/>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p:cNvSpPr/>
          <p:nvPr/>
        </p:nvSpPr>
        <p:spPr>
          <a:xfrm>
            <a:off x="5707380" y="4846320"/>
            <a:ext cx="228600" cy="1143000"/>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 name="Straight Connector 10"/>
          <p:cNvCxnSpPr/>
          <p:nvPr/>
        </p:nvCxnSpPr>
        <p:spPr>
          <a:xfrm>
            <a:off x="4678680" y="2636520"/>
            <a:ext cx="91440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2" name="Straight Connector 11"/>
          <p:cNvCxnSpPr/>
          <p:nvPr/>
        </p:nvCxnSpPr>
        <p:spPr>
          <a:xfrm>
            <a:off x="4602480" y="4846320"/>
            <a:ext cx="91440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4" name="Straight Arrow Connector 13"/>
          <p:cNvCxnSpPr/>
          <p:nvPr/>
        </p:nvCxnSpPr>
        <p:spPr>
          <a:xfrm>
            <a:off x="4831080" y="2636520"/>
            <a:ext cx="0" cy="2209800"/>
          </a:xfrm>
          <a:prstGeom prst="straightConnector1">
            <a:avLst/>
          </a:prstGeom>
          <a:ln>
            <a:headEnd type="arrow"/>
            <a:tailEnd type="arrow"/>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p:nvPr/>
        </p:nvCxnSpPr>
        <p:spPr>
          <a:xfrm>
            <a:off x="3992880" y="2788920"/>
            <a:ext cx="533400" cy="0"/>
          </a:xfrm>
          <a:prstGeom prst="straightConnector1">
            <a:avLst/>
          </a:prstGeom>
          <a:ln w="3810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7" name="Straight Arrow Connector 16"/>
          <p:cNvCxnSpPr/>
          <p:nvPr/>
        </p:nvCxnSpPr>
        <p:spPr>
          <a:xfrm>
            <a:off x="3992880" y="3246120"/>
            <a:ext cx="533400" cy="0"/>
          </a:xfrm>
          <a:prstGeom prst="straightConnector1">
            <a:avLst/>
          </a:prstGeom>
          <a:ln w="3810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8" name="Straight Arrow Connector 17"/>
          <p:cNvCxnSpPr/>
          <p:nvPr/>
        </p:nvCxnSpPr>
        <p:spPr>
          <a:xfrm>
            <a:off x="3992880" y="3779520"/>
            <a:ext cx="533400" cy="0"/>
          </a:xfrm>
          <a:prstGeom prst="straightConnector1">
            <a:avLst/>
          </a:prstGeom>
          <a:ln w="3810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p:nvPr/>
        </p:nvCxnSpPr>
        <p:spPr>
          <a:xfrm>
            <a:off x="3992880" y="4312920"/>
            <a:ext cx="533400" cy="0"/>
          </a:xfrm>
          <a:prstGeom prst="straightConnector1">
            <a:avLst/>
          </a:prstGeom>
          <a:ln w="3810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20" name="Straight Arrow Connector 19"/>
          <p:cNvCxnSpPr/>
          <p:nvPr/>
        </p:nvCxnSpPr>
        <p:spPr>
          <a:xfrm>
            <a:off x="3992880" y="4770120"/>
            <a:ext cx="533400" cy="0"/>
          </a:xfrm>
          <a:prstGeom prst="straightConnector1">
            <a:avLst/>
          </a:prstGeom>
          <a:ln w="38100">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21" name="TextBox 20"/>
          <p:cNvSpPr txBox="1"/>
          <p:nvPr/>
        </p:nvSpPr>
        <p:spPr>
          <a:xfrm>
            <a:off x="4602480" y="3398521"/>
            <a:ext cx="381836" cy="584775"/>
          </a:xfrm>
          <a:prstGeom prst="rect">
            <a:avLst/>
          </a:prstGeom>
          <a:solidFill>
            <a:schemeClr val="bg1"/>
          </a:solidFill>
        </p:spPr>
        <p:txBody>
          <a:bodyPr wrap="none" rtlCol="0">
            <a:spAutoFit/>
          </a:bodyPr>
          <a:lstStyle/>
          <a:p>
            <a:r>
              <a:rPr lang="en-US" sz="3200" dirty="0"/>
              <a:t>a</a:t>
            </a:r>
          </a:p>
        </p:txBody>
      </p:sp>
      <p:cxnSp>
        <p:nvCxnSpPr>
          <p:cNvPr id="23" name="Straight Connector 22"/>
          <p:cNvCxnSpPr/>
          <p:nvPr/>
        </p:nvCxnSpPr>
        <p:spPr>
          <a:xfrm>
            <a:off x="5111115" y="3377090"/>
            <a:ext cx="2590800" cy="0"/>
          </a:xfrm>
          <a:prstGeom prst="line">
            <a:avLst/>
          </a:prstGeom>
          <a:ln>
            <a:prstDash val="lgDash"/>
          </a:ln>
        </p:spPr>
        <p:style>
          <a:lnRef idx="1">
            <a:schemeClr val="accent1"/>
          </a:lnRef>
          <a:fillRef idx="0">
            <a:schemeClr val="accent1"/>
          </a:fillRef>
          <a:effectRef idx="0">
            <a:schemeClr val="accent1"/>
          </a:effectRef>
          <a:fontRef idx="minor">
            <a:schemeClr val="tx1"/>
          </a:fontRef>
        </p:style>
      </p:cxnSp>
      <p:sp>
        <p:nvSpPr>
          <p:cNvPr id="24" name="TextBox 23"/>
          <p:cNvSpPr txBox="1"/>
          <p:nvPr/>
        </p:nvSpPr>
        <p:spPr>
          <a:xfrm>
            <a:off x="6758464" y="3792855"/>
            <a:ext cx="207645" cy="400110"/>
          </a:xfrm>
          <a:prstGeom prst="rect">
            <a:avLst/>
          </a:prstGeom>
          <a:noFill/>
        </p:spPr>
        <p:txBody>
          <a:bodyPr wrap="square" rtlCol="0">
            <a:spAutoFit/>
          </a:bodyPr>
          <a:lstStyle/>
          <a:p>
            <a:r>
              <a:rPr lang="en-US" sz="2000" dirty="0">
                <a:sym typeface="Symbol"/>
              </a:rPr>
              <a:t></a:t>
            </a:r>
            <a:endParaRPr lang="en-US" sz="2000" dirty="0"/>
          </a:p>
        </p:txBody>
      </p:sp>
      <p:sp>
        <p:nvSpPr>
          <p:cNvPr id="25" name="Oval 24"/>
          <p:cNvSpPr/>
          <p:nvPr/>
        </p:nvSpPr>
        <p:spPr>
          <a:xfrm>
            <a:off x="5745480" y="2636520"/>
            <a:ext cx="152400" cy="152400"/>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Oval 26"/>
          <p:cNvSpPr/>
          <p:nvPr/>
        </p:nvSpPr>
        <p:spPr>
          <a:xfrm>
            <a:off x="5745480" y="4693920"/>
            <a:ext cx="152400" cy="152400"/>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3" name="Straight Arrow Connector 32"/>
          <p:cNvCxnSpPr/>
          <p:nvPr/>
        </p:nvCxnSpPr>
        <p:spPr>
          <a:xfrm flipV="1">
            <a:off x="5835968" y="3093720"/>
            <a:ext cx="1905000" cy="1676400"/>
          </a:xfrm>
          <a:prstGeom prst="straightConnector1">
            <a:avLst/>
          </a:prstGeom>
          <a:ln w="3810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36" name="Straight Arrow Connector 35"/>
          <p:cNvCxnSpPr/>
          <p:nvPr/>
        </p:nvCxnSpPr>
        <p:spPr>
          <a:xfrm flipV="1">
            <a:off x="5835968" y="1036320"/>
            <a:ext cx="1905000" cy="1676400"/>
          </a:xfrm>
          <a:prstGeom prst="straightConnector1">
            <a:avLst/>
          </a:prstGeom>
          <a:ln w="3810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40" name="Straight Connector 39"/>
          <p:cNvCxnSpPr/>
          <p:nvPr/>
        </p:nvCxnSpPr>
        <p:spPr>
          <a:xfrm>
            <a:off x="5988367" y="4646294"/>
            <a:ext cx="228600" cy="304800"/>
          </a:xfrm>
          <a:prstGeom prst="line">
            <a:avLst/>
          </a:prstGeom>
        </p:spPr>
        <p:style>
          <a:lnRef idx="1">
            <a:schemeClr val="accent1"/>
          </a:lnRef>
          <a:fillRef idx="0">
            <a:schemeClr val="accent1"/>
          </a:fillRef>
          <a:effectRef idx="0">
            <a:schemeClr val="accent1"/>
          </a:effectRef>
          <a:fontRef idx="minor">
            <a:schemeClr val="tx1"/>
          </a:fontRef>
        </p:style>
      </p:cxnSp>
      <p:cxnSp>
        <p:nvCxnSpPr>
          <p:cNvPr id="42" name="Straight Connector 41"/>
          <p:cNvCxnSpPr/>
          <p:nvPr/>
        </p:nvCxnSpPr>
        <p:spPr>
          <a:xfrm>
            <a:off x="5955030" y="4948714"/>
            <a:ext cx="114776" cy="149542"/>
          </a:xfrm>
          <a:prstGeom prst="line">
            <a:avLst/>
          </a:prstGeom>
        </p:spPr>
        <p:style>
          <a:lnRef idx="1">
            <a:schemeClr val="accent1"/>
          </a:lnRef>
          <a:fillRef idx="0">
            <a:schemeClr val="accent1"/>
          </a:fillRef>
          <a:effectRef idx="0">
            <a:schemeClr val="accent1"/>
          </a:effectRef>
          <a:fontRef idx="minor">
            <a:schemeClr val="tx1"/>
          </a:fontRef>
        </p:style>
      </p:cxnSp>
      <p:cxnSp>
        <p:nvCxnSpPr>
          <p:cNvPr id="49" name="Straight Arrow Connector 48"/>
          <p:cNvCxnSpPr/>
          <p:nvPr/>
        </p:nvCxnSpPr>
        <p:spPr>
          <a:xfrm flipV="1">
            <a:off x="6005036" y="4886326"/>
            <a:ext cx="167164" cy="136209"/>
          </a:xfrm>
          <a:prstGeom prst="straightConnector1">
            <a:avLst/>
          </a:prstGeom>
          <a:ln>
            <a:headEnd type="arrow"/>
            <a:tailEnd type="arrow"/>
          </a:ln>
        </p:spPr>
        <p:style>
          <a:lnRef idx="1">
            <a:schemeClr val="accent1"/>
          </a:lnRef>
          <a:fillRef idx="0">
            <a:schemeClr val="accent1"/>
          </a:fillRef>
          <a:effectRef idx="0">
            <a:schemeClr val="accent1"/>
          </a:effectRef>
          <a:fontRef idx="minor">
            <a:schemeClr val="tx1"/>
          </a:fontRef>
        </p:style>
      </p:cxnSp>
      <p:graphicFrame>
        <p:nvGraphicFramePr>
          <p:cNvPr id="50" name="Object 49"/>
          <p:cNvGraphicFramePr>
            <a:graphicFrameLocks noChangeAspect="1"/>
          </p:cNvGraphicFramePr>
          <p:nvPr/>
        </p:nvGraphicFramePr>
        <p:xfrm>
          <a:off x="6184106" y="5006181"/>
          <a:ext cx="624840" cy="538057"/>
        </p:xfrm>
        <a:graphic>
          <a:graphicData uri="http://schemas.openxmlformats.org/presentationml/2006/ole">
            <mc:AlternateContent xmlns:mc="http://schemas.openxmlformats.org/markup-compatibility/2006">
              <mc:Choice xmlns:v="urn:schemas-microsoft-com:vml" Requires="v">
                <p:oleObj name="Equation" r:id="rId2" imgW="457200" imgH="393480" progId="Equation.3">
                  <p:embed/>
                </p:oleObj>
              </mc:Choice>
              <mc:Fallback>
                <p:oleObj name="Equation" r:id="rId2" imgW="457200" imgH="393480" progId="Equation.3">
                  <p:embed/>
                  <p:pic>
                    <p:nvPicPr>
                      <p:cNvPr id="50" name="Object 49"/>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84106" y="5006181"/>
                        <a:ext cx="624840" cy="538057"/>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30" name="Oval 29"/>
          <p:cNvSpPr/>
          <p:nvPr/>
        </p:nvSpPr>
        <p:spPr>
          <a:xfrm>
            <a:off x="5735955" y="3288030"/>
            <a:ext cx="152400" cy="152400"/>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Oval 42"/>
          <p:cNvSpPr/>
          <p:nvPr/>
        </p:nvSpPr>
        <p:spPr>
          <a:xfrm>
            <a:off x="5726430" y="4030980"/>
            <a:ext cx="152400" cy="152400"/>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46" name="Straight Arrow Connector 45"/>
          <p:cNvCxnSpPr/>
          <p:nvPr/>
        </p:nvCxnSpPr>
        <p:spPr>
          <a:xfrm flipV="1">
            <a:off x="5835968" y="2434590"/>
            <a:ext cx="1905000" cy="1676400"/>
          </a:xfrm>
          <a:prstGeom prst="straightConnector1">
            <a:avLst/>
          </a:prstGeom>
          <a:ln w="3810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60" name="Straight Connector 59"/>
          <p:cNvCxnSpPr/>
          <p:nvPr/>
        </p:nvCxnSpPr>
        <p:spPr>
          <a:xfrm>
            <a:off x="5111115" y="4112895"/>
            <a:ext cx="2590800" cy="0"/>
          </a:xfrm>
          <a:prstGeom prst="line">
            <a:avLst/>
          </a:prstGeom>
          <a:ln>
            <a:prstDash val="lgDash"/>
          </a:ln>
        </p:spPr>
        <p:style>
          <a:lnRef idx="1">
            <a:schemeClr val="accent1"/>
          </a:lnRef>
          <a:fillRef idx="0">
            <a:schemeClr val="accent1"/>
          </a:fillRef>
          <a:effectRef idx="0">
            <a:schemeClr val="accent1"/>
          </a:effectRef>
          <a:fontRef idx="minor">
            <a:schemeClr val="tx1"/>
          </a:fontRef>
        </p:style>
      </p:cxnSp>
      <p:sp>
        <p:nvSpPr>
          <p:cNvPr id="32" name="TextBox 31"/>
          <p:cNvSpPr txBox="1"/>
          <p:nvPr/>
        </p:nvSpPr>
        <p:spPr>
          <a:xfrm>
            <a:off x="4225767" y="1863567"/>
            <a:ext cx="502061" cy="369332"/>
          </a:xfrm>
          <a:prstGeom prst="rect">
            <a:avLst/>
          </a:prstGeom>
          <a:solidFill>
            <a:schemeClr val="bg1"/>
          </a:solidFill>
        </p:spPr>
        <p:txBody>
          <a:bodyPr wrap="none" rtlCol="0">
            <a:spAutoFit/>
          </a:bodyPr>
          <a:lstStyle/>
          <a:p>
            <a:r>
              <a:rPr lang="en-US" dirty="0"/>
              <a:t>a/6</a:t>
            </a:r>
          </a:p>
        </p:txBody>
      </p:sp>
      <p:cxnSp>
        <p:nvCxnSpPr>
          <p:cNvPr id="63" name="Straight Arrow Connector 62"/>
          <p:cNvCxnSpPr/>
          <p:nvPr/>
        </p:nvCxnSpPr>
        <p:spPr>
          <a:xfrm flipH="1">
            <a:off x="5179220" y="2632710"/>
            <a:ext cx="1429" cy="372428"/>
          </a:xfrm>
          <a:prstGeom prst="straightConnector1">
            <a:avLst/>
          </a:prstGeom>
          <a:ln>
            <a:headEnd type="arrow"/>
            <a:tailEnd type="arrow"/>
          </a:ln>
        </p:spPr>
        <p:style>
          <a:lnRef idx="1">
            <a:schemeClr val="accent1"/>
          </a:lnRef>
          <a:fillRef idx="0">
            <a:schemeClr val="accent1"/>
          </a:fillRef>
          <a:effectRef idx="0">
            <a:schemeClr val="accent1"/>
          </a:effectRef>
          <a:fontRef idx="minor">
            <a:schemeClr val="tx1"/>
          </a:fontRef>
        </p:style>
      </p:cxnSp>
      <p:cxnSp>
        <p:nvCxnSpPr>
          <p:cNvPr id="74" name="Straight Arrow Connector 73"/>
          <p:cNvCxnSpPr/>
          <p:nvPr/>
        </p:nvCxnSpPr>
        <p:spPr>
          <a:xfrm flipH="1">
            <a:off x="5176839" y="3004185"/>
            <a:ext cx="1429" cy="372428"/>
          </a:xfrm>
          <a:prstGeom prst="straightConnector1">
            <a:avLst/>
          </a:prstGeom>
          <a:ln>
            <a:headEnd type="arrow"/>
            <a:tailEnd type="arrow"/>
          </a:ln>
        </p:spPr>
        <p:style>
          <a:lnRef idx="1">
            <a:schemeClr val="accent1"/>
          </a:lnRef>
          <a:fillRef idx="0">
            <a:schemeClr val="accent1"/>
          </a:fillRef>
          <a:effectRef idx="0">
            <a:schemeClr val="accent1"/>
          </a:effectRef>
          <a:fontRef idx="minor">
            <a:schemeClr val="tx1"/>
          </a:fontRef>
        </p:style>
      </p:cxnSp>
      <p:cxnSp>
        <p:nvCxnSpPr>
          <p:cNvPr id="75" name="Straight Arrow Connector 74"/>
          <p:cNvCxnSpPr/>
          <p:nvPr/>
        </p:nvCxnSpPr>
        <p:spPr>
          <a:xfrm flipH="1">
            <a:off x="5174458" y="3378043"/>
            <a:ext cx="1429" cy="372428"/>
          </a:xfrm>
          <a:prstGeom prst="straightConnector1">
            <a:avLst/>
          </a:prstGeom>
          <a:ln>
            <a:headEnd type="arrow"/>
            <a:tailEnd type="arrow"/>
          </a:ln>
        </p:spPr>
        <p:style>
          <a:lnRef idx="1">
            <a:schemeClr val="accent1"/>
          </a:lnRef>
          <a:fillRef idx="0">
            <a:schemeClr val="accent1"/>
          </a:fillRef>
          <a:effectRef idx="0">
            <a:schemeClr val="accent1"/>
          </a:effectRef>
          <a:fontRef idx="minor">
            <a:schemeClr val="tx1"/>
          </a:fontRef>
        </p:style>
      </p:cxnSp>
      <p:cxnSp>
        <p:nvCxnSpPr>
          <p:cNvPr id="76" name="Straight Arrow Connector 75"/>
          <p:cNvCxnSpPr/>
          <p:nvPr/>
        </p:nvCxnSpPr>
        <p:spPr>
          <a:xfrm flipH="1">
            <a:off x="5172077" y="3742374"/>
            <a:ext cx="1429" cy="372428"/>
          </a:xfrm>
          <a:prstGeom prst="straightConnector1">
            <a:avLst/>
          </a:prstGeom>
          <a:ln>
            <a:headEnd type="arrow"/>
            <a:tailEnd type="arrow"/>
          </a:ln>
        </p:spPr>
        <p:style>
          <a:lnRef idx="1">
            <a:schemeClr val="accent1"/>
          </a:lnRef>
          <a:fillRef idx="0">
            <a:schemeClr val="accent1"/>
          </a:fillRef>
          <a:effectRef idx="0">
            <a:schemeClr val="accent1"/>
          </a:effectRef>
          <a:fontRef idx="minor">
            <a:schemeClr val="tx1"/>
          </a:fontRef>
        </p:style>
      </p:cxnSp>
      <p:cxnSp>
        <p:nvCxnSpPr>
          <p:cNvPr id="77" name="Straight Arrow Connector 76"/>
          <p:cNvCxnSpPr/>
          <p:nvPr/>
        </p:nvCxnSpPr>
        <p:spPr>
          <a:xfrm flipH="1">
            <a:off x="5179220" y="2635091"/>
            <a:ext cx="1429" cy="372428"/>
          </a:xfrm>
          <a:prstGeom prst="straightConnector1">
            <a:avLst/>
          </a:prstGeom>
          <a:ln>
            <a:headEnd type="arrow"/>
            <a:tailEnd type="arrow"/>
          </a:ln>
        </p:spPr>
        <p:style>
          <a:lnRef idx="1">
            <a:schemeClr val="accent1"/>
          </a:lnRef>
          <a:fillRef idx="0">
            <a:schemeClr val="accent1"/>
          </a:fillRef>
          <a:effectRef idx="0">
            <a:schemeClr val="accent1"/>
          </a:effectRef>
          <a:fontRef idx="minor">
            <a:schemeClr val="tx1"/>
          </a:fontRef>
        </p:style>
      </p:cxnSp>
      <p:cxnSp>
        <p:nvCxnSpPr>
          <p:cNvPr id="78" name="Straight Arrow Connector 77"/>
          <p:cNvCxnSpPr/>
          <p:nvPr/>
        </p:nvCxnSpPr>
        <p:spPr>
          <a:xfrm flipH="1">
            <a:off x="5176839" y="3006566"/>
            <a:ext cx="1429" cy="372428"/>
          </a:xfrm>
          <a:prstGeom prst="straightConnector1">
            <a:avLst/>
          </a:prstGeom>
          <a:ln>
            <a:headEnd type="arrow"/>
            <a:tailEnd type="arrow"/>
          </a:ln>
        </p:spPr>
        <p:style>
          <a:lnRef idx="1">
            <a:schemeClr val="accent1"/>
          </a:lnRef>
          <a:fillRef idx="0">
            <a:schemeClr val="accent1"/>
          </a:fillRef>
          <a:effectRef idx="0">
            <a:schemeClr val="accent1"/>
          </a:effectRef>
          <a:fontRef idx="minor">
            <a:schemeClr val="tx1"/>
          </a:fontRef>
        </p:style>
      </p:cxnSp>
      <p:sp>
        <p:nvSpPr>
          <p:cNvPr id="80" name="Freeform 79"/>
          <p:cNvSpPr/>
          <p:nvPr/>
        </p:nvSpPr>
        <p:spPr>
          <a:xfrm>
            <a:off x="4511041" y="2179320"/>
            <a:ext cx="609600" cy="640080"/>
          </a:xfrm>
          <a:custGeom>
            <a:avLst/>
            <a:gdLst>
              <a:gd name="connsiteX0" fmla="*/ 0 w 476250"/>
              <a:gd name="connsiteY0" fmla="*/ 0 h 419100"/>
              <a:gd name="connsiteX1" fmla="*/ 223838 w 476250"/>
              <a:gd name="connsiteY1" fmla="*/ 126206 h 419100"/>
              <a:gd name="connsiteX2" fmla="*/ 133350 w 476250"/>
              <a:gd name="connsiteY2" fmla="*/ 145256 h 419100"/>
              <a:gd name="connsiteX3" fmla="*/ 476250 w 476250"/>
              <a:gd name="connsiteY3" fmla="*/ 419100 h 419100"/>
            </a:gdLst>
            <a:ahLst/>
            <a:cxnLst>
              <a:cxn ang="0">
                <a:pos x="connsiteX0" y="connsiteY0"/>
              </a:cxn>
              <a:cxn ang="0">
                <a:pos x="connsiteX1" y="connsiteY1"/>
              </a:cxn>
              <a:cxn ang="0">
                <a:pos x="connsiteX2" y="connsiteY2"/>
              </a:cxn>
              <a:cxn ang="0">
                <a:pos x="connsiteX3" y="connsiteY3"/>
              </a:cxn>
            </a:cxnLst>
            <a:rect l="l" t="t" r="r" b="b"/>
            <a:pathLst>
              <a:path w="476250" h="419100">
                <a:moveTo>
                  <a:pt x="0" y="0"/>
                </a:moveTo>
                <a:cubicBezTo>
                  <a:pt x="100806" y="50998"/>
                  <a:pt x="201613" y="101997"/>
                  <a:pt x="223838" y="126206"/>
                </a:cubicBezTo>
                <a:cubicBezTo>
                  <a:pt x="246063" y="150415"/>
                  <a:pt x="91281" y="96440"/>
                  <a:pt x="133350" y="145256"/>
                </a:cubicBezTo>
                <a:cubicBezTo>
                  <a:pt x="175419" y="194072"/>
                  <a:pt x="419894" y="374253"/>
                  <a:pt x="476250" y="419100"/>
                </a:cubicBezTo>
              </a:path>
            </a:pathLst>
          </a:custGeom>
          <a:ln>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81" name="Straight Connector 80"/>
          <p:cNvCxnSpPr/>
          <p:nvPr/>
        </p:nvCxnSpPr>
        <p:spPr>
          <a:xfrm>
            <a:off x="5111115" y="3011330"/>
            <a:ext cx="2590800" cy="0"/>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82" name="Straight Connector 81"/>
          <p:cNvCxnSpPr/>
          <p:nvPr/>
        </p:nvCxnSpPr>
        <p:spPr>
          <a:xfrm>
            <a:off x="5111115" y="3753328"/>
            <a:ext cx="2590800" cy="0"/>
          </a:xfrm>
          <a:prstGeom prst="line">
            <a:avLst/>
          </a:prstGeom>
          <a:ln>
            <a:prstDash val="lgDash"/>
          </a:ln>
        </p:spPr>
        <p:style>
          <a:lnRef idx="1">
            <a:schemeClr val="accent1"/>
          </a:lnRef>
          <a:fillRef idx="0">
            <a:schemeClr val="accent1"/>
          </a:fillRef>
          <a:effectRef idx="0">
            <a:schemeClr val="accent1"/>
          </a:effectRef>
          <a:fontRef idx="minor">
            <a:schemeClr val="tx1"/>
          </a:fontRef>
        </p:style>
      </p:cxnSp>
      <p:sp>
        <p:nvSpPr>
          <p:cNvPr id="83" name="Oval 82"/>
          <p:cNvSpPr/>
          <p:nvPr/>
        </p:nvSpPr>
        <p:spPr>
          <a:xfrm>
            <a:off x="5750242" y="2931795"/>
            <a:ext cx="152400" cy="152400"/>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4" name="Straight Arrow Connector 83"/>
          <p:cNvCxnSpPr/>
          <p:nvPr/>
        </p:nvCxnSpPr>
        <p:spPr>
          <a:xfrm flipV="1">
            <a:off x="5831206" y="1688784"/>
            <a:ext cx="1905000" cy="1676400"/>
          </a:xfrm>
          <a:prstGeom prst="straightConnector1">
            <a:avLst/>
          </a:prstGeom>
          <a:ln w="38100">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85" name="Oval 84"/>
          <p:cNvSpPr/>
          <p:nvPr/>
        </p:nvSpPr>
        <p:spPr>
          <a:xfrm>
            <a:off x="5740718" y="3678555"/>
            <a:ext cx="152400" cy="152400"/>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86" name="Straight Arrow Connector 85"/>
          <p:cNvCxnSpPr/>
          <p:nvPr/>
        </p:nvCxnSpPr>
        <p:spPr>
          <a:xfrm flipV="1">
            <a:off x="5835968" y="2072165"/>
            <a:ext cx="1905000" cy="1676400"/>
          </a:xfrm>
          <a:prstGeom prst="straightConnector1">
            <a:avLst/>
          </a:prstGeom>
          <a:ln w="38100">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88" name="Oval 87"/>
          <p:cNvSpPr/>
          <p:nvPr/>
        </p:nvSpPr>
        <p:spPr>
          <a:xfrm>
            <a:off x="5740718" y="4388165"/>
            <a:ext cx="152400" cy="152400"/>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9" name="Straight Connector 88"/>
          <p:cNvCxnSpPr/>
          <p:nvPr/>
        </p:nvCxnSpPr>
        <p:spPr>
          <a:xfrm>
            <a:off x="5110639" y="4477223"/>
            <a:ext cx="2590800" cy="0"/>
          </a:xfrm>
          <a:prstGeom prst="line">
            <a:avLst/>
          </a:prstGeom>
          <a:ln>
            <a:prstDash val="lgDash"/>
          </a:ln>
        </p:spPr>
        <p:style>
          <a:lnRef idx="1">
            <a:schemeClr val="accent1"/>
          </a:lnRef>
          <a:fillRef idx="0">
            <a:schemeClr val="accent1"/>
          </a:fillRef>
          <a:effectRef idx="0">
            <a:schemeClr val="accent1"/>
          </a:effectRef>
          <a:fontRef idx="minor">
            <a:schemeClr val="tx1"/>
          </a:fontRef>
        </p:style>
      </p:cxnSp>
      <p:cxnSp>
        <p:nvCxnSpPr>
          <p:cNvPr id="87" name="Straight Arrow Connector 86"/>
          <p:cNvCxnSpPr/>
          <p:nvPr/>
        </p:nvCxnSpPr>
        <p:spPr>
          <a:xfrm flipV="1">
            <a:off x="5826444" y="2784631"/>
            <a:ext cx="1905000" cy="1676400"/>
          </a:xfrm>
          <a:prstGeom prst="straightConnector1">
            <a:avLst/>
          </a:prstGeom>
          <a:ln w="3810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90" name="Straight Arrow Connector 89"/>
          <p:cNvCxnSpPr/>
          <p:nvPr/>
        </p:nvCxnSpPr>
        <p:spPr>
          <a:xfrm flipH="1">
            <a:off x="5172553" y="4113373"/>
            <a:ext cx="1429" cy="372428"/>
          </a:xfrm>
          <a:prstGeom prst="straightConnector1">
            <a:avLst/>
          </a:prstGeom>
          <a:ln>
            <a:headEnd type="arrow"/>
            <a:tailEnd type="arrow"/>
          </a:ln>
        </p:spPr>
        <p:style>
          <a:lnRef idx="1">
            <a:schemeClr val="accent1"/>
          </a:lnRef>
          <a:fillRef idx="0">
            <a:schemeClr val="accent1"/>
          </a:fillRef>
          <a:effectRef idx="0">
            <a:schemeClr val="accent1"/>
          </a:effectRef>
          <a:fontRef idx="minor">
            <a:schemeClr val="tx1"/>
          </a:fontRef>
        </p:style>
      </p:cxnSp>
      <p:cxnSp>
        <p:nvCxnSpPr>
          <p:cNvPr id="91" name="Straight Arrow Connector 90"/>
          <p:cNvCxnSpPr/>
          <p:nvPr/>
        </p:nvCxnSpPr>
        <p:spPr>
          <a:xfrm flipH="1">
            <a:off x="5170172" y="4472941"/>
            <a:ext cx="1429" cy="372428"/>
          </a:xfrm>
          <a:prstGeom prst="straightConnector1">
            <a:avLst/>
          </a:prstGeom>
          <a:ln>
            <a:headEnd type="arrow"/>
            <a:tailEnd type="arrow"/>
          </a:ln>
        </p:spPr>
        <p:style>
          <a:lnRef idx="1">
            <a:schemeClr val="accent1"/>
          </a:lnRef>
          <a:fillRef idx="0">
            <a:schemeClr val="accent1"/>
          </a:fillRef>
          <a:effectRef idx="0">
            <a:schemeClr val="accent1"/>
          </a:effectRef>
          <a:fontRef idx="minor">
            <a:schemeClr val="tx1"/>
          </a:fontRef>
        </p:style>
      </p:cxnSp>
      <p:cxnSp>
        <p:nvCxnSpPr>
          <p:cNvPr id="45" name="Straight Arrow Connector 44"/>
          <p:cNvCxnSpPr/>
          <p:nvPr/>
        </p:nvCxnSpPr>
        <p:spPr>
          <a:xfrm flipV="1">
            <a:off x="5835968" y="1343501"/>
            <a:ext cx="1905000" cy="1676400"/>
          </a:xfrm>
          <a:prstGeom prst="straightConnector1">
            <a:avLst/>
          </a:prstGeom>
          <a:ln w="38100">
            <a:solidFill>
              <a:srgbClr val="FF0000"/>
            </a:solidFill>
            <a:tailEnd type="arrow"/>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4699683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Footer Placeholder 4"/>
          <p:cNvSpPr>
            <a:spLocks noGrp="1"/>
          </p:cNvSpPr>
          <p:nvPr>
            <p:ph type="ftr" sz="quarter" idx="11"/>
          </p:nvPr>
        </p:nvSpPr>
        <p:spPr>
          <a:noFill/>
        </p:spPr>
        <p:txBody>
          <a:bodyPr/>
          <a:lstStyle/>
          <a:p>
            <a:r>
              <a:rPr lang="en-US"/>
              <a:t>R. Todd Lines</a:t>
            </a:r>
          </a:p>
        </p:txBody>
      </p:sp>
      <p:sp>
        <p:nvSpPr>
          <p:cNvPr id="27651" name="Rectangle 2"/>
          <p:cNvSpPr>
            <a:spLocks noGrp="1" noChangeArrowheads="1"/>
          </p:cNvSpPr>
          <p:nvPr>
            <p:ph type="title"/>
          </p:nvPr>
        </p:nvSpPr>
        <p:spPr/>
        <p:txBody>
          <a:bodyPr/>
          <a:lstStyle/>
          <a:p>
            <a:pPr eaLnBrk="1" hangingPunct="1"/>
            <a:r>
              <a:rPr lang="en-US"/>
              <a:t>Single-Slit Diffraction, 2</a:t>
            </a:r>
          </a:p>
        </p:txBody>
      </p:sp>
      <p:sp>
        <p:nvSpPr>
          <p:cNvPr id="27652" name="Rectangle 3"/>
          <p:cNvSpPr>
            <a:spLocks noGrp="1" noChangeArrowheads="1"/>
          </p:cNvSpPr>
          <p:nvPr>
            <p:ph type="body" idx="1"/>
          </p:nvPr>
        </p:nvSpPr>
        <p:spPr/>
        <p:txBody>
          <a:bodyPr/>
          <a:lstStyle/>
          <a:p>
            <a:pPr eaLnBrk="1" hangingPunct="1"/>
            <a:r>
              <a:rPr lang="en-US"/>
              <a:t>The resultant light intensity on a viewing screen depends on the direction </a:t>
            </a:r>
            <a:r>
              <a:rPr lang="en-US" i="1">
                <a:cs typeface="Arial" charset="0"/>
              </a:rPr>
              <a:t>θ</a:t>
            </a:r>
            <a:endParaRPr lang="en-US"/>
          </a:p>
          <a:p>
            <a:pPr eaLnBrk="1" hangingPunct="1"/>
            <a:r>
              <a:rPr lang="en-US"/>
              <a:t>The diffraction pattern is actually an interference pattern</a:t>
            </a:r>
          </a:p>
          <a:p>
            <a:pPr lvl="1" eaLnBrk="1" hangingPunct="1"/>
            <a:r>
              <a:rPr lang="en-US"/>
              <a:t>The different sources of light are different portions of the single slit</a:t>
            </a:r>
          </a:p>
          <a:p>
            <a:pPr eaLnBrk="1" hangingPunct="1"/>
            <a:endParaRPr lang="en-US"/>
          </a:p>
        </p:txBody>
      </p:sp>
    </p:spTree>
    <p:extLst>
      <p:ext uri="{BB962C8B-B14F-4D97-AF65-F5344CB8AC3E}">
        <p14:creationId xmlns:p14="http://schemas.microsoft.com/office/powerpoint/2010/main" val="3967093978"/>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Footer Placeholder 4"/>
          <p:cNvSpPr>
            <a:spLocks noGrp="1"/>
          </p:cNvSpPr>
          <p:nvPr>
            <p:ph type="ftr" sz="quarter" idx="11"/>
          </p:nvPr>
        </p:nvSpPr>
        <p:spPr>
          <a:noFill/>
        </p:spPr>
        <p:txBody>
          <a:bodyPr/>
          <a:lstStyle/>
          <a:p>
            <a:r>
              <a:rPr lang="en-US"/>
              <a:t>R. Todd Lines</a:t>
            </a:r>
          </a:p>
        </p:txBody>
      </p:sp>
      <p:sp>
        <p:nvSpPr>
          <p:cNvPr id="28675" name="Rectangle 2"/>
          <p:cNvSpPr>
            <a:spLocks noGrp="1" noChangeArrowheads="1"/>
          </p:cNvSpPr>
          <p:nvPr>
            <p:ph type="title"/>
          </p:nvPr>
        </p:nvSpPr>
        <p:spPr/>
        <p:txBody>
          <a:bodyPr/>
          <a:lstStyle/>
          <a:p>
            <a:pPr eaLnBrk="1" hangingPunct="1"/>
            <a:r>
              <a:rPr lang="en-US"/>
              <a:t>Single-Slit Diffraction, Analysis</a:t>
            </a:r>
          </a:p>
        </p:txBody>
      </p:sp>
      <p:sp>
        <p:nvSpPr>
          <p:cNvPr id="28676" name="Rectangle 3"/>
          <p:cNvSpPr>
            <a:spLocks noGrp="1" noChangeArrowheads="1"/>
          </p:cNvSpPr>
          <p:nvPr>
            <p:ph type="body" idx="1"/>
          </p:nvPr>
        </p:nvSpPr>
        <p:spPr>
          <a:xfrm>
            <a:off x="1981200" y="1325563"/>
            <a:ext cx="8229600" cy="4525962"/>
          </a:xfrm>
        </p:spPr>
        <p:txBody>
          <a:bodyPr/>
          <a:lstStyle/>
          <a:p>
            <a:pPr eaLnBrk="1" hangingPunct="1">
              <a:lnSpc>
                <a:spcPct val="90000"/>
              </a:lnSpc>
            </a:pPr>
            <a:r>
              <a:rPr lang="en-US"/>
              <a:t>All the waves that originate at the slit are in phase</a:t>
            </a:r>
          </a:p>
          <a:p>
            <a:pPr eaLnBrk="1" hangingPunct="1">
              <a:lnSpc>
                <a:spcPct val="90000"/>
              </a:lnSpc>
            </a:pPr>
            <a:r>
              <a:rPr lang="en-US"/>
              <a:t>Wave 1 travels farther than wave 3 by an amount equal to the path difference </a:t>
            </a:r>
          </a:p>
          <a:p>
            <a:pPr lvl="1" eaLnBrk="1" hangingPunct="1">
              <a:lnSpc>
                <a:spcPct val="90000"/>
              </a:lnSpc>
            </a:pPr>
            <a:r>
              <a:rPr lang="en-US"/>
              <a:t>(</a:t>
            </a:r>
            <a:r>
              <a:rPr lang="en-US" i="1"/>
              <a:t>a</a:t>
            </a:r>
            <a:r>
              <a:rPr lang="en-US"/>
              <a:t>/2) sin </a:t>
            </a:r>
            <a:r>
              <a:rPr lang="en-US" i="1">
                <a:cs typeface="Arial" charset="0"/>
              </a:rPr>
              <a:t>θ</a:t>
            </a:r>
            <a:r>
              <a:rPr lang="en-US">
                <a:cs typeface="Tahoma" charset="0"/>
              </a:rPr>
              <a:t> </a:t>
            </a:r>
          </a:p>
          <a:p>
            <a:pPr eaLnBrk="1" hangingPunct="1">
              <a:lnSpc>
                <a:spcPct val="90000"/>
              </a:lnSpc>
            </a:pPr>
            <a:r>
              <a:rPr lang="en-US">
                <a:cs typeface="Tahoma" charset="0"/>
              </a:rPr>
              <a:t>If this path difference is exactly half of a wavelength, the two waves cancel each other and destructive interference results</a:t>
            </a:r>
          </a:p>
          <a:p>
            <a:pPr eaLnBrk="1" hangingPunct="1">
              <a:lnSpc>
                <a:spcPct val="90000"/>
              </a:lnSpc>
            </a:pPr>
            <a:r>
              <a:rPr lang="en-US"/>
              <a:t>In general, </a:t>
            </a:r>
            <a:r>
              <a:rPr lang="en-US" i="1"/>
              <a:t>destructive interference</a:t>
            </a:r>
            <a:r>
              <a:rPr lang="en-US"/>
              <a:t> occurs for a single slit of width </a:t>
            </a:r>
            <a:r>
              <a:rPr lang="en-US" i="1"/>
              <a:t>a</a:t>
            </a:r>
            <a:r>
              <a:rPr lang="en-US"/>
              <a:t> when sin </a:t>
            </a:r>
            <a:r>
              <a:rPr lang="en-US" i="1">
                <a:cs typeface="Arial" charset="0"/>
              </a:rPr>
              <a:t>θ</a:t>
            </a:r>
            <a:r>
              <a:rPr lang="en-US" baseline="-25000">
                <a:cs typeface="Tahoma" charset="0"/>
              </a:rPr>
              <a:t>dark</a:t>
            </a:r>
            <a:r>
              <a:rPr lang="en-US">
                <a:cs typeface="Tahoma" charset="0"/>
              </a:rPr>
              <a:t> = </a:t>
            </a:r>
            <a:r>
              <a:rPr lang="en-US" i="1">
                <a:cs typeface="Tahoma" charset="0"/>
              </a:rPr>
              <a:t>m</a:t>
            </a:r>
            <a:r>
              <a:rPr lang="en-US" i="1">
                <a:cs typeface="Arial" charset="0"/>
              </a:rPr>
              <a:t>λ</a:t>
            </a:r>
            <a:r>
              <a:rPr lang="en-US">
                <a:cs typeface="Tahoma" charset="0"/>
              </a:rPr>
              <a:t> / </a:t>
            </a:r>
            <a:r>
              <a:rPr lang="en-US" i="1">
                <a:cs typeface="Tahoma" charset="0"/>
              </a:rPr>
              <a:t>a</a:t>
            </a:r>
          </a:p>
          <a:p>
            <a:pPr lvl="1" eaLnBrk="1" hangingPunct="1">
              <a:lnSpc>
                <a:spcPct val="90000"/>
              </a:lnSpc>
            </a:pPr>
            <a:r>
              <a:rPr lang="en-US" i="1"/>
              <a:t>m</a:t>
            </a:r>
            <a:r>
              <a:rPr lang="en-US"/>
              <a:t> = </a:t>
            </a:r>
            <a:r>
              <a:rPr lang="en-US">
                <a:cs typeface="Arial" charset="0"/>
                <a:sym typeface="UniversalMath1 BT" pitchFamily="18" charset="2"/>
              </a:rPr>
              <a:t>±</a:t>
            </a:r>
            <a:r>
              <a:rPr lang="en-US">
                <a:sym typeface="UniversalMath1 BT" pitchFamily="18" charset="2"/>
              </a:rPr>
              <a:t>1, </a:t>
            </a:r>
            <a:r>
              <a:rPr lang="en-US">
                <a:cs typeface="Arial" charset="0"/>
                <a:sym typeface="UniversalMath1 BT" pitchFamily="18" charset="2"/>
              </a:rPr>
              <a:t>±</a:t>
            </a:r>
            <a:r>
              <a:rPr lang="en-US">
                <a:sym typeface="UniversalMath1 BT" pitchFamily="18" charset="2"/>
              </a:rPr>
              <a:t>2, </a:t>
            </a:r>
            <a:r>
              <a:rPr lang="en-US">
                <a:cs typeface="Arial" charset="0"/>
                <a:sym typeface="UniversalMath1 BT" pitchFamily="18" charset="2"/>
              </a:rPr>
              <a:t>±</a:t>
            </a:r>
            <a:r>
              <a:rPr lang="en-US">
                <a:sym typeface="UniversalMath1 BT" pitchFamily="18" charset="2"/>
              </a:rPr>
              <a:t>3, …</a:t>
            </a:r>
          </a:p>
        </p:txBody>
      </p:sp>
    </p:spTree>
    <p:extLst>
      <p:ext uri="{BB962C8B-B14F-4D97-AF65-F5344CB8AC3E}">
        <p14:creationId xmlns:p14="http://schemas.microsoft.com/office/powerpoint/2010/main" val="4200902857"/>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Footer Placeholder 4"/>
          <p:cNvSpPr>
            <a:spLocks noGrp="1"/>
          </p:cNvSpPr>
          <p:nvPr>
            <p:ph type="ftr" sz="quarter" idx="11"/>
          </p:nvPr>
        </p:nvSpPr>
        <p:spPr>
          <a:noFill/>
        </p:spPr>
        <p:txBody>
          <a:bodyPr/>
          <a:lstStyle/>
          <a:p>
            <a:r>
              <a:rPr lang="en-US"/>
              <a:t>R. Todd Lines</a:t>
            </a:r>
          </a:p>
        </p:txBody>
      </p:sp>
      <p:sp>
        <p:nvSpPr>
          <p:cNvPr id="29699" name="Rectangle 4"/>
          <p:cNvSpPr>
            <a:spLocks noGrp="1" noChangeArrowheads="1"/>
          </p:cNvSpPr>
          <p:nvPr>
            <p:ph type="ctrTitle"/>
          </p:nvPr>
        </p:nvSpPr>
        <p:spPr/>
        <p:txBody>
          <a:bodyPr/>
          <a:lstStyle/>
          <a:p>
            <a:pPr eaLnBrk="1" hangingPunct="1"/>
            <a:r>
              <a:rPr lang="en-US"/>
              <a:t>Diffraction from Narrow Slits</a:t>
            </a:r>
          </a:p>
        </p:txBody>
      </p:sp>
      <p:sp>
        <p:nvSpPr>
          <p:cNvPr id="29700" name="Rectangle 5"/>
          <p:cNvSpPr>
            <a:spLocks noGrp="1" noChangeArrowheads="1"/>
          </p:cNvSpPr>
          <p:nvPr>
            <p:ph type="subTitle" idx="1"/>
          </p:nvPr>
        </p:nvSpPr>
        <p:spPr/>
        <p:txBody>
          <a:bodyPr/>
          <a:lstStyle/>
          <a:p>
            <a:pPr eaLnBrk="1" hangingPunct="1"/>
            <a:endParaRPr lang="en-US"/>
          </a:p>
        </p:txBody>
      </p:sp>
    </p:spTree>
    <p:extLst>
      <p:ext uri="{BB962C8B-B14F-4D97-AF65-F5344CB8AC3E}">
        <p14:creationId xmlns:p14="http://schemas.microsoft.com/office/powerpoint/2010/main" val="2678675275"/>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Footer Placeholder 5"/>
          <p:cNvSpPr>
            <a:spLocks noGrp="1"/>
          </p:cNvSpPr>
          <p:nvPr>
            <p:ph type="ftr" sz="quarter" idx="11"/>
          </p:nvPr>
        </p:nvSpPr>
        <p:spPr>
          <a:noFill/>
        </p:spPr>
        <p:txBody>
          <a:bodyPr/>
          <a:lstStyle/>
          <a:p>
            <a:r>
              <a:rPr lang="en-US"/>
              <a:t>R. Todd Lines</a:t>
            </a:r>
          </a:p>
        </p:txBody>
      </p:sp>
      <p:sp>
        <p:nvSpPr>
          <p:cNvPr id="30723" name="Rectangle 2"/>
          <p:cNvSpPr>
            <a:spLocks noGrp="1" noChangeArrowheads="1"/>
          </p:cNvSpPr>
          <p:nvPr>
            <p:ph type="title"/>
          </p:nvPr>
        </p:nvSpPr>
        <p:spPr/>
        <p:txBody>
          <a:bodyPr>
            <a:normAutofit/>
          </a:bodyPr>
          <a:lstStyle/>
          <a:p>
            <a:pPr eaLnBrk="1" hangingPunct="1"/>
            <a:r>
              <a:rPr lang="en-US"/>
              <a:t>Single-Slit Diffraction, Intensity</a:t>
            </a:r>
          </a:p>
        </p:txBody>
      </p:sp>
      <p:sp>
        <p:nvSpPr>
          <p:cNvPr id="30724" name="Rectangle 3"/>
          <p:cNvSpPr>
            <a:spLocks noGrp="1" noChangeArrowheads="1"/>
          </p:cNvSpPr>
          <p:nvPr>
            <p:ph type="body" sz="half" idx="1"/>
          </p:nvPr>
        </p:nvSpPr>
        <p:spPr>
          <a:xfrm>
            <a:off x="693738" y="1340381"/>
            <a:ext cx="4495800" cy="4840287"/>
          </a:xfrm>
        </p:spPr>
        <p:txBody>
          <a:bodyPr/>
          <a:lstStyle/>
          <a:p>
            <a:pPr eaLnBrk="1" hangingPunct="1"/>
            <a:r>
              <a:rPr lang="en-US" sz="2200" dirty="0"/>
              <a:t>The general features of the intensity distribution are shown</a:t>
            </a:r>
          </a:p>
          <a:p>
            <a:pPr eaLnBrk="1" hangingPunct="1"/>
            <a:r>
              <a:rPr lang="en-US" sz="2200" dirty="0"/>
              <a:t>A broad central bright fringe is flanked by much weaker bright fringes alternating with dark fringes</a:t>
            </a:r>
          </a:p>
          <a:p>
            <a:pPr eaLnBrk="1" hangingPunct="1"/>
            <a:r>
              <a:rPr lang="en-US" sz="2200" dirty="0"/>
              <a:t>Each bright fringe peak lies approximately halfway between the dark fringes</a:t>
            </a:r>
          </a:p>
          <a:p>
            <a:pPr eaLnBrk="1" hangingPunct="1"/>
            <a:r>
              <a:rPr lang="en-US" sz="2200" dirty="0"/>
              <a:t>The central bright maximum is twice as wide as the secondary maxima</a:t>
            </a:r>
          </a:p>
        </p:txBody>
      </p:sp>
      <p:grpSp>
        <p:nvGrpSpPr>
          <p:cNvPr id="34" name="Group 33"/>
          <p:cNvGrpSpPr/>
          <p:nvPr/>
        </p:nvGrpSpPr>
        <p:grpSpPr>
          <a:xfrm>
            <a:off x="6096000" y="508001"/>
            <a:ext cx="4521201" cy="6265333"/>
            <a:chOff x="6096000" y="508001"/>
            <a:chExt cx="4521201" cy="6265333"/>
          </a:xfrm>
        </p:grpSpPr>
        <p:pic>
          <p:nvPicPr>
            <p:cNvPr id="35" name="Picture 2"/>
            <p:cNvPicPr>
              <a:picLocks noChangeAspect="1" noChangeArrowheads="1"/>
            </p:cNvPicPr>
            <p:nvPr/>
          </p:nvPicPr>
          <p:blipFill>
            <a:blip r:embed="rId3" cstate="print"/>
            <a:srcRect/>
            <a:stretch>
              <a:fillRect/>
            </a:stretch>
          </p:blipFill>
          <p:spPr bwMode="auto">
            <a:xfrm rot="16200000">
              <a:off x="6289888" y="2446022"/>
              <a:ext cx="6265333" cy="2389292"/>
            </a:xfrm>
            <a:prstGeom prst="rect">
              <a:avLst/>
            </a:prstGeom>
            <a:noFill/>
            <a:ln w="9525">
              <a:noFill/>
              <a:miter lim="800000"/>
              <a:headEnd/>
              <a:tailEnd/>
            </a:ln>
            <a:effectLst/>
          </p:spPr>
        </p:pic>
        <p:sp>
          <p:nvSpPr>
            <p:cNvPr id="7" name="Rectangle 6"/>
            <p:cNvSpPr/>
            <p:nvPr/>
          </p:nvSpPr>
          <p:spPr>
            <a:xfrm>
              <a:off x="6705599" y="1337734"/>
              <a:ext cx="270933" cy="20828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p:cNvSpPr/>
            <p:nvPr/>
          </p:nvSpPr>
          <p:spPr>
            <a:xfrm>
              <a:off x="6756400" y="3809999"/>
              <a:ext cx="237065" cy="16764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 name="Straight Connector 2"/>
            <p:cNvCxnSpPr/>
            <p:nvPr/>
          </p:nvCxnSpPr>
          <p:spPr>
            <a:xfrm>
              <a:off x="6841066" y="3640666"/>
              <a:ext cx="2556934" cy="16934"/>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2" name="Straight Connector 11"/>
            <p:cNvCxnSpPr/>
            <p:nvPr/>
          </p:nvCxnSpPr>
          <p:spPr>
            <a:xfrm flipV="1">
              <a:off x="6874933" y="2997200"/>
              <a:ext cx="2573867" cy="609601"/>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9" name="TextBox 8"/>
            <p:cNvSpPr txBox="1"/>
            <p:nvPr/>
          </p:nvSpPr>
          <p:spPr>
            <a:xfrm>
              <a:off x="7704242" y="3337560"/>
              <a:ext cx="304892" cy="369332"/>
            </a:xfrm>
            <a:prstGeom prst="rect">
              <a:avLst/>
            </a:prstGeom>
            <a:noFill/>
          </p:spPr>
          <p:txBody>
            <a:bodyPr wrap="none" rtlCol="0">
              <a:spAutoFit/>
            </a:bodyPr>
            <a:lstStyle/>
            <a:p>
              <a:r>
                <a:rPr lang="en-US" dirty="0">
                  <a:sym typeface="Symbol" panose="05050102010706020507" pitchFamily="18" charset="2"/>
                </a:rPr>
                <a:t></a:t>
              </a:r>
              <a:endParaRPr lang="en-US" dirty="0"/>
            </a:p>
          </p:txBody>
        </p:sp>
        <p:sp>
          <p:nvSpPr>
            <p:cNvPr id="10" name="Arc 9"/>
            <p:cNvSpPr/>
            <p:nvPr/>
          </p:nvSpPr>
          <p:spPr>
            <a:xfrm rot="1986114">
              <a:off x="7208519" y="3350683"/>
              <a:ext cx="457200" cy="508000"/>
            </a:xfrm>
            <a:prstGeom prst="arc">
              <a:avLst>
                <a:gd name="adj1" fmla="val 17594932"/>
                <a:gd name="adj2" fmla="val 19832164"/>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15" name="Straight Arrow Connector 14"/>
            <p:cNvCxnSpPr/>
            <p:nvPr/>
          </p:nvCxnSpPr>
          <p:spPr>
            <a:xfrm>
              <a:off x="7010400" y="5300134"/>
              <a:ext cx="2404533" cy="33866"/>
            </a:xfrm>
            <a:prstGeom prst="straightConnector1">
              <a:avLst/>
            </a:prstGeom>
            <a:ln>
              <a:solidFill>
                <a:schemeClr val="tx1"/>
              </a:solidFill>
              <a:prstDash val="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16" name="TextBox 15"/>
            <p:cNvSpPr txBox="1"/>
            <p:nvPr/>
          </p:nvSpPr>
          <p:spPr>
            <a:xfrm>
              <a:off x="7958667" y="5029200"/>
              <a:ext cx="357790" cy="584775"/>
            </a:xfrm>
            <a:prstGeom prst="rect">
              <a:avLst/>
            </a:prstGeom>
            <a:solidFill>
              <a:schemeClr val="bg1"/>
            </a:solidFill>
          </p:spPr>
          <p:txBody>
            <a:bodyPr wrap="none" rtlCol="0">
              <a:spAutoFit/>
            </a:bodyPr>
            <a:lstStyle/>
            <a:p>
              <a:r>
                <a:rPr lang="en-US" sz="3200" dirty="0"/>
                <a:t>L</a:t>
              </a:r>
            </a:p>
          </p:txBody>
        </p:sp>
        <p:cxnSp>
          <p:nvCxnSpPr>
            <p:cNvPr id="23" name="Straight Connector 22"/>
            <p:cNvCxnSpPr/>
            <p:nvPr/>
          </p:nvCxnSpPr>
          <p:spPr>
            <a:xfrm>
              <a:off x="6096000" y="3403601"/>
              <a:ext cx="474133"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0" name="Straight Connector 29"/>
            <p:cNvCxnSpPr/>
            <p:nvPr/>
          </p:nvCxnSpPr>
          <p:spPr>
            <a:xfrm>
              <a:off x="6112934" y="3826934"/>
              <a:ext cx="474133"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27" name="Straight Arrow Connector 26"/>
            <p:cNvCxnSpPr/>
            <p:nvPr/>
          </p:nvCxnSpPr>
          <p:spPr>
            <a:xfrm>
              <a:off x="6350000" y="3064933"/>
              <a:ext cx="0" cy="338667"/>
            </a:xfrm>
            <a:prstGeom prst="straightConnector1">
              <a:avLst/>
            </a:prstGeom>
            <a:ln>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33" name="Straight Arrow Connector 32"/>
            <p:cNvCxnSpPr/>
            <p:nvPr/>
          </p:nvCxnSpPr>
          <p:spPr>
            <a:xfrm flipV="1">
              <a:off x="6350001" y="3810000"/>
              <a:ext cx="0" cy="338667"/>
            </a:xfrm>
            <a:prstGeom prst="straightConnector1">
              <a:avLst/>
            </a:prstGeom>
            <a:ln>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28" name="TextBox 27"/>
            <p:cNvSpPr txBox="1"/>
            <p:nvPr/>
          </p:nvSpPr>
          <p:spPr>
            <a:xfrm>
              <a:off x="6214534" y="3420534"/>
              <a:ext cx="295274" cy="369332"/>
            </a:xfrm>
            <a:prstGeom prst="rect">
              <a:avLst/>
            </a:prstGeom>
            <a:noFill/>
          </p:spPr>
          <p:txBody>
            <a:bodyPr wrap="none" rtlCol="0">
              <a:spAutoFit/>
            </a:bodyPr>
            <a:lstStyle/>
            <a:p>
              <a:r>
                <a:rPr lang="en-US" dirty="0"/>
                <a:t>a</a:t>
              </a:r>
            </a:p>
          </p:txBody>
        </p:sp>
      </p:grpSp>
    </p:spTree>
    <p:extLst>
      <p:ext uri="{BB962C8B-B14F-4D97-AF65-F5344CB8AC3E}">
        <p14:creationId xmlns:p14="http://schemas.microsoft.com/office/powerpoint/2010/main" val="618836685"/>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8" name="Footer Placeholder 4"/>
          <p:cNvSpPr>
            <a:spLocks noGrp="1"/>
          </p:cNvSpPr>
          <p:nvPr>
            <p:ph type="ftr" sz="quarter" idx="11"/>
          </p:nvPr>
        </p:nvSpPr>
        <p:spPr>
          <a:noFill/>
        </p:spPr>
        <p:txBody>
          <a:bodyPr/>
          <a:lstStyle/>
          <a:p>
            <a:r>
              <a:rPr lang="en-US"/>
              <a:t>R. Todd Lines</a:t>
            </a:r>
          </a:p>
        </p:txBody>
      </p:sp>
      <p:sp>
        <p:nvSpPr>
          <p:cNvPr id="6149" name="Rectangle 2"/>
          <p:cNvSpPr>
            <a:spLocks noGrp="1" noChangeArrowheads="1"/>
          </p:cNvSpPr>
          <p:nvPr>
            <p:ph type="title"/>
          </p:nvPr>
        </p:nvSpPr>
        <p:spPr/>
        <p:txBody>
          <a:bodyPr/>
          <a:lstStyle/>
          <a:p>
            <a:pPr eaLnBrk="1" hangingPunct="1"/>
            <a:r>
              <a:rPr lang="en-US" dirty="0"/>
              <a:t>Intensity</a:t>
            </a:r>
          </a:p>
        </p:txBody>
      </p:sp>
      <p:sp>
        <p:nvSpPr>
          <p:cNvPr id="6150" name="Rectangle 3"/>
          <p:cNvSpPr>
            <a:spLocks noGrp="1" noChangeArrowheads="1"/>
          </p:cNvSpPr>
          <p:nvPr>
            <p:ph type="body" idx="1"/>
          </p:nvPr>
        </p:nvSpPr>
        <p:spPr/>
        <p:txBody>
          <a:bodyPr/>
          <a:lstStyle/>
          <a:p>
            <a:pPr eaLnBrk="1" hangingPunct="1"/>
            <a:r>
              <a:rPr lang="en-US"/>
              <a:t>The intensity can also be expressed as</a:t>
            </a:r>
          </a:p>
          <a:p>
            <a:pPr eaLnBrk="1" hangingPunct="1"/>
            <a:endParaRPr lang="en-US"/>
          </a:p>
          <a:p>
            <a:pPr eaLnBrk="1" hangingPunct="1"/>
            <a:endParaRPr lang="en-US"/>
          </a:p>
          <a:p>
            <a:pPr eaLnBrk="1" hangingPunct="1"/>
            <a:endParaRPr lang="en-US"/>
          </a:p>
          <a:p>
            <a:pPr eaLnBrk="1" hangingPunct="1"/>
            <a:r>
              <a:rPr lang="en-US"/>
              <a:t>Minima occur at</a:t>
            </a:r>
          </a:p>
        </p:txBody>
      </p:sp>
      <p:graphicFrame>
        <p:nvGraphicFramePr>
          <p:cNvPr id="6146" name="Object 4"/>
          <p:cNvGraphicFramePr>
            <a:graphicFrameLocks noChangeAspect="1"/>
          </p:cNvGraphicFramePr>
          <p:nvPr/>
        </p:nvGraphicFramePr>
        <p:xfrm>
          <a:off x="4006850" y="2478089"/>
          <a:ext cx="4262438" cy="1247775"/>
        </p:xfrm>
        <a:graphic>
          <a:graphicData uri="http://schemas.openxmlformats.org/presentationml/2006/ole">
            <mc:AlternateContent xmlns:mc="http://schemas.openxmlformats.org/markup-compatibility/2006">
              <mc:Choice xmlns:v="urn:schemas-microsoft-com:vml" Requires="v">
                <p:oleObj name="Equation" r:id="rId2" imgW="1777680" imgH="520560" progId="">
                  <p:embed/>
                </p:oleObj>
              </mc:Choice>
              <mc:Fallback>
                <p:oleObj name="Equation" r:id="rId2" imgW="1777680" imgH="520560" progId="">
                  <p:embed/>
                  <p:pic>
                    <p:nvPicPr>
                      <p:cNvPr id="6146" name="Object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006850" y="2478089"/>
                        <a:ext cx="4262438" cy="124777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6147" name="Object 5"/>
          <p:cNvGraphicFramePr>
            <a:graphicFrameLocks noChangeAspect="1"/>
          </p:cNvGraphicFramePr>
          <p:nvPr/>
        </p:nvGraphicFramePr>
        <p:xfrm>
          <a:off x="3048000" y="5105401"/>
          <a:ext cx="6629400" cy="1025525"/>
        </p:xfrm>
        <a:graphic>
          <a:graphicData uri="http://schemas.openxmlformats.org/presentationml/2006/ole">
            <mc:AlternateContent xmlns:mc="http://schemas.openxmlformats.org/markup-compatibility/2006">
              <mc:Choice xmlns:v="urn:schemas-microsoft-com:vml" Requires="v">
                <p:oleObj name="Equation" r:id="rId4" imgW="2552400" imgH="393480" progId="">
                  <p:embed/>
                </p:oleObj>
              </mc:Choice>
              <mc:Fallback>
                <p:oleObj name="Equation" r:id="rId4" imgW="2552400" imgH="393480" progId="">
                  <p:embed/>
                  <p:pic>
                    <p:nvPicPr>
                      <p:cNvPr id="6147" name="Object 5"/>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048000" y="5105401"/>
                        <a:ext cx="6629400" cy="102552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329313"/>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t>sinc</a:t>
            </a:r>
            <a:r>
              <a:rPr lang="en-US" dirty="0"/>
              <a:t>(x)</a:t>
            </a:r>
          </a:p>
        </p:txBody>
      </p:sp>
      <p:sp>
        <p:nvSpPr>
          <p:cNvPr id="3" name="Content Placeholder 2"/>
          <p:cNvSpPr>
            <a:spLocks noGrp="1"/>
          </p:cNvSpPr>
          <p:nvPr>
            <p:ph idx="1"/>
          </p:nvPr>
        </p:nvSpPr>
        <p:spPr/>
        <p:txBody>
          <a:bodyPr/>
          <a:lstStyle/>
          <a:p>
            <a:endParaRPr lang="en-US"/>
          </a:p>
        </p:txBody>
      </p:sp>
      <p:pic>
        <p:nvPicPr>
          <p:cNvPr id="50178" name="Picture 2"/>
          <p:cNvPicPr>
            <a:picLocks noChangeAspect="1" noChangeArrowheads="1"/>
          </p:cNvPicPr>
          <p:nvPr/>
        </p:nvPicPr>
        <p:blipFill>
          <a:blip r:embed="rId2" cstate="print"/>
          <a:srcRect/>
          <a:stretch>
            <a:fillRect/>
          </a:stretch>
        </p:blipFill>
        <p:spPr bwMode="auto">
          <a:xfrm>
            <a:off x="1965961" y="2270622"/>
            <a:ext cx="8366759" cy="2580729"/>
          </a:xfrm>
          <a:prstGeom prst="rect">
            <a:avLst/>
          </a:prstGeom>
          <a:noFill/>
          <a:ln w="9525">
            <a:noFill/>
            <a:miter lim="800000"/>
            <a:headEnd/>
            <a:tailEnd/>
          </a:ln>
          <a:effectLst/>
        </p:spPr>
      </p:pic>
    </p:spTree>
    <p:extLst>
      <p:ext uri="{BB962C8B-B14F-4D97-AF65-F5344CB8AC3E}">
        <p14:creationId xmlns:p14="http://schemas.microsoft.com/office/powerpoint/2010/main" val="2891114536"/>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t>
            </a:r>
            <a:r>
              <a:rPr lang="en-US" dirty="0" err="1"/>
              <a:t>sinc</a:t>
            </a:r>
            <a:r>
              <a:rPr lang="en-US" dirty="0"/>
              <a:t>(x))</a:t>
            </a:r>
            <a:r>
              <a:rPr lang="en-US" baseline="30000" dirty="0"/>
              <a:t>2</a:t>
            </a:r>
          </a:p>
        </p:txBody>
      </p:sp>
      <p:sp>
        <p:nvSpPr>
          <p:cNvPr id="3" name="Content Placeholder 2"/>
          <p:cNvSpPr>
            <a:spLocks noGrp="1"/>
          </p:cNvSpPr>
          <p:nvPr>
            <p:ph idx="1"/>
          </p:nvPr>
        </p:nvSpPr>
        <p:spPr/>
        <p:txBody>
          <a:bodyPr/>
          <a:lstStyle/>
          <a:p>
            <a:endParaRPr lang="en-US"/>
          </a:p>
        </p:txBody>
      </p:sp>
      <p:pic>
        <p:nvPicPr>
          <p:cNvPr id="51202" name="Picture 2"/>
          <p:cNvPicPr>
            <a:picLocks noChangeAspect="1" noChangeArrowheads="1"/>
          </p:cNvPicPr>
          <p:nvPr/>
        </p:nvPicPr>
        <p:blipFill>
          <a:blip r:embed="rId2" cstate="print"/>
          <a:srcRect/>
          <a:stretch>
            <a:fillRect/>
          </a:stretch>
        </p:blipFill>
        <p:spPr bwMode="auto">
          <a:xfrm>
            <a:off x="1798321" y="1447800"/>
            <a:ext cx="8503919" cy="4450080"/>
          </a:xfrm>
          <a:prstGeom prst="rect">
            <a:avLst/>
          </a:prstGeom>
          <a:noFill/>
          <a:ln w="9525">
            <a:noFill/>
            <a:miter lim="800000"/>
            <a:headEnd/>
            <a:tailEnd/>
          </a:ln>
          <a:effectLst/>
        </p:spPr>
      </p:pic>
    </p:spTree>
    <p:extLst>
      <p:ext uri="{BB962C8B-B14F-4D97-AF65-F5344CB8AC3E}">
        <p14:creationId xmlns:p14="http://schemas.microsoft.com/office/powerpoint/2010/main" val="3478106097"/>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2227" name="Picture 3"/>
          <p:cNvPicPr>
            <a:picLocks noChangeAspect="1" noChangeArrowheads="1"/>
          </p:cNvPicPr>
          <p:nvPr/>
        </p:nvPicPr>
        <p:blipFill>
          <a:blip r:embed="rId2" cstate="print"/>
          <a:srcRect/>
          <a:stretch>
            <a:fillRect/>
          </a:stretch>
        </p:blipFill>
        <p:spPr bwMode="auto">
          <a:xfrm>
            <a:off x="3908744" y="2572385"/>
            <a:ext cx="4549457" cy="1530350"/>
          </a:xfrm>
          <a:prstGeom prst="rect">
            <a:avLst/>
          </a:prstGeom>
          <a:noFill/>
          <a:ln w="9525">
            <a:noFill/>
            <a:miter lim="800000"/>
            <a:headEnd/>
            <a:tailEnd/>
          </a:ln>
          <a:effectLst/>
        </p:spPr>
      </p:pic>
      <p:pic>
        <p:nvPicPr>
          <p:cNvPr id="52228" name="Picture 4"/>
          <p:cNvPicPr>
            <a:picLocks noChangeAspect="1" noChangeArrowheads="1"/>
          </p:cNvPicPr>
          <p:nvPr/>
        </p:nvPicPr>
        <p:blipFill>
          <a:blip r:embed="rId3" cstate="print"/>
          <a:srcRect/>
          <a:stretch>
            <a:fillRect/>
          </a:stretch>
        </p:blipFill>
        <p:spPr bwMode="auto">
          <a:xfrm>
            <a:off x="3941445" y="4297680"/>
            <a:ext cx="4400550" cy="762000"/>
          </a:xfrm>
          <a:prstGeom prst="rect">
            <a:avLst/>
          </a:prstGeom>
          <a:noFill/>
          <a:ln w="9525">
            <a:noFill/>
            <a:miter lim="800000"/>
            <a:headEnd/>
            <a:tailEnd/>
          </a:ln>
        </p:spPr>
      </p:pic>
      <p:sp>
        <p:nvSpPr>
          <p:cNvPr id="11" name="TextBox 10"/>
          <p:cNvSpPr txBox="1"/>
          <p:nvPr/>
        </p:nvSpPr>
        <p:spPr>
          <a:xfrm>
            <a:off x="7010400" y="3931920"/>
            <a:ext cx="296876" cy="338554"/>
          </a:xfrm>
          <a:prstGeom prst="rect">
            <a:avLst/>
          </a:prstGeom>
          <a:noFill/>
        </p:spPr>
        <p:txBody>
          <a:bodyPr wrap="none" rtlCol="0">
            <a:spAutoFit/>
          </a:bodyPr>
          <a:lstStyle/>
          <a:p>
            <a:r>
              <a:rPr lang="en-US" sz="1600" dirty="0">
                <a:latin typeface="Times New Roman" pitchFamily="18" charset="0"/>
                <a:cs typeface="Times New Roman" pitchFamily="18" charset="0"/>
                <a:sym typeface="Symbol"/>
              </a:rPr>
              <a:t></a:t>
            </a:r>
            <a:endParaRPr lang="en-US" sz="1600" dirty="0">
              <a:latin typeface="Times New Roman" pitchFamily="18" charset="0"/>
              <a:cs typeface="Times New Roman" pitchFamily="18" charset="0"/>
            </a:endParaRPr>
          </a:p>
        </p:txBody>
      </p:sp>
      <p:sp>
        <p:nvSpPr>
          <p:cNvPr id="12" name="TextBox 11"/>
          <p:cNvSpPr txBox="1"/>
          <p:nvPr/>
        </p:nvSpPr>
        <p:spPr>
          <a:xfrm>
            <a:off x="8092440" y="3931920"/>
            <a:ext cx="399468" cy="338554"/>
          </a:xfrm>
          <a:prstGeom prst="rect">
            <a:avLst/>
          </a:prstGeom>
          <a:noFill/>
        </p:spPr>
        <p:txBody>
          <a:bodyPr wrap="none" rtlCol="0">
            <a:spAutoFit/>
          </a:bodyPr>
          <a:lstStyle/>
          <a:p>
            <a:r>
              <a:rPr lang="en-US" sz="1600" dirty="0">
                <a:latin typeface="Times New Roman" pitchFamily="18" charset="0"/>
                <a:cs typeface="Times New Roman" pitchFamily="18" charset="0"/>
                <a:sym typeface="Symbol"/>
              </a:rPr>
              <a:t>2</a:t>
            </a:r>
            <a:endParaRPr lang="en-US" sz="1600" dirty="0">
              <a:latin typeface="Times New Roman" pitchFamily="18" charset="0"/>
              <a:cs typeface="Times New Roman" pitchFamily="18" charset="0"/>
            </a:endParaRPr>
          </a:p>
        </p:txBody>
      </p:sp>
      <p:sp>
        <p:nvSpPr>
          <p:cNvPr id="13" name="TextBox 12"/>
          <p:cNvSpPr txBox="1"/>
          <p:nvPr/>
        </p:nvSpPr>
        <p:spPr>
          <a:xfrm>
            <a:off x="3825240" y="3931920"/>
            <a:ext cx="468398" cy="338554"/>
          </a:xfrm>
          <a:prstGeom prst="rect">
            <a:avLst/>
          </a:prstGeom>
          <a:noFill/>
        </p:spPr>
        <p:txBody>
          <a:bodyPr wrap="none" rtlCol="0">
            <a:spAutoFit/>
          </a:bodyPr>
          <a:lstStyle/>
          <a:p>
            <a:r>
              <a:rPr lang="en-US" sz="1600" dirty="0">
                <a:latin typeface="Times New Roman" pitchFamily="18" charset="0"/>
                <a:cs typeface="Times New Roman" pitchFamily="18" charset="0"/>
              </a:rPr>
              <a:t>-2</a:t>
            </a:r>
            <a:r>
              <a:rPr lang="en-US" sz="1600" dirty="0">
                <a:latin typeface="Times New Roman" pitchFamily="18" charset="0"/>
                <a:cs typeface="Times New Roman" pitchFamily="18" charset="0"/>
                <a:sym typeface="Symbol"/>
              </a:rPr>
              <a:t></a:t>
            </a:r>
            <a:endParaRPr lang="en-US" sz="1600" dirty="0">
              <a:latin typeface="Times New Roman" pitchFamily="18" charset="0"/>
              <a:cs typeface="Times New Roman" pitchFamily="18" charset="0"/>
            </a:endParaRPr>
          </a:p>
        </p:txBody>
      </p:sp>
      <p:sp>
        <p:nvSpPr>
          <p:cNvPr id="14" name="TextBox 13"/>
          <p:cNvSpPr txBox="1"/>
          <p:nvPr/>
        </p:nvSpPr>
        <p:spPr>
          <a:xfrm>
            <a:off x="4968240" y="3931920"/>
            <a:ext cx="365806" cy="338554"/>
          </a:xfrm>
          <a:prstGeom prst="rect">
            <a:avLst/>
          </a:prstGeom>
          <a:noFill/>
        </p:spPr>
        <p:txBody>
          <a:bodyPr wrap="none" rtlCol="0">
            <a:spAutoFit/>
          </a:bodyPr>
          <a:lstStyle/>
          <a:p>
            <a:r>
              <a:rPr lang="en-US" sz="1600" dirty="0">
                <a:latin typeface="Times New Roman" pitchFamily="18" charset="0"/>
                <a:cs typeface="Times New Roman" pitchFamily="18" charset="0"/>
                <a:sym typeface="Symbol"/>
              </a:rPr>
              <a:t>-</a:t>
            </a:r>
            <a:endParaRPr lang="en-US" sz="1600" dirty="0">
              <a:latin typeface="Times New Roman" pitchFamily="18" charset="0"/>
              <a:cs typeface="Times New Roman" pitchFamily="18" charset="0"/>
            </a:endParaRPr>
          </a:p>
        </p:txBody>
      </p:sp>
      <p:sp>
        <p:nvSpPr>
          <p:cNvPr id="16" name="TextBox 15"/>
          <p:cNvSpPr txBox="1"/>
          <p:nvPr/>
        </p:nvSpPr>
        <p:spPr>
          <a:xfrm>
            <a:off x="8442961" y="3794760"/>
            <a:ext cx="511679" cy="369332"/>
          </a:xfrm>
          <a:prstGeom prst="rect">
            <a:avLst/>
          </a:prstGeom>
          <a:noFill/>
        </p:spPr>
        <p:txBody>
          <a:bodyPr wrap="none" rtlCol="0">
            <a:spAutoFit/>
          </a:bodyPr>
          <a:lstStyle/>
          <a:p>
            <a:r>
              <a:rPr lang="en-US" dirty="0">
                <a:sym typeface="Symbol"/>
              </a:rPr>
              <a:t>/2</a:t>
            </a:r>
            <a:endParaRPr lang="en-US" dirty="0"/>
          </a:p>
        </p:txBody>
      </p:sp>
      <p:cxnSp>
        <p:nvCxnSpPr>
          <p:cNvPr id="17" name="Straight Arrow Connector 16"/>
          <p:cNvCxnSpPr/>
          <p:nvPr/>
        </p:nvCxnSpPr>
        <p:spPr>
          <a:xfrm flipH="1">
            <a:off x="6842760" y="2971800"/>
            <a:ext cx="381000" cy="441960"/>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18" name="TextBox 17"/>
          <p:cNvSpPr txBox="1"/>
          <p:nvPr/>
        </p:nvSpPr>
        <p:spPr>
          <a:xfrm>
            <a:off x="5730240" y="2286000"/>
            <a:ext cx="261610" cy="369332"/>
          </a:xfrm>
          <a:prstGeom prst="rect">
            <a:avLst/>
          </a:prstGeom>
          <a:noFill/>
        </p:spPr>
        <p:txBody>
          <a:bodyPr wrap="none" rtlCol="0">
            <a:spAutoFit/>
          </a:bodyPr>
          <a:lstStyle/>
          <a:p>
            <a:r>
              <a:rPr lang="en-US" i="1" dirty="0">
                <a:latin typeface="Times New Roman" pitchFamily="18" charset="0"/>
                <a:cs typeface="Times New Roman" pitchFamily="18" charset="0"/>
              </a:rPr>
              <a:t>I</a:t>
            </a:r>
          </a:p>
        </p:txBody>
      </p:sp>
      <p:sp>
        <p:nvSpPr>
          <p:cNvPr id="20" name="Rectangle 19"/>
          <p:cNvSpPr/>
          <p:nvPr/>
        </p:nvSpPr>
        <p:spPr>
          <a:xfrm>
            <a:off x="6583680" y="2237156"/>
            <a:ext cx="2895600" cy="646331"/>
          </a:xfrm>
          <a:prstGeom prst="rect">
            <a:avLst/>
          </a:prstGeom>
        </p:spPr>
        <p:txBody>
          <a:bodyPr wrap="square">
            <a:spAutoFit/>
          </a:bodyPr>
          <a:lstStyle/>
          <a:p>
            <a:r>
              <a:rPr lang="en-US" b="1" dirty="0"/>
              <a:t>Interference fringes:</a:t>
            </a:r>
          </a:p>
          <a:p>
            <a:r>
              <a:rPr lang="en-US" dirty="0"/>
              <a:t> due to having a single slit</a:t>
            </a:r>
          </a:p>
        </p:txBody>
      </p:sp>
    </p:spTree>
    <p:extLst>
      <p:ext uri="{BB962C8B-B14F-4D97-AF65-F5344CB8AC3E}">
        <p14:creationId xmlns:p14="http://schemas.microsoft.com/office/powerpoint/2010/main" val="3933254846"/>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8" name="Footer Placeholder 4"/>
          <p:cNvSpPr>
            <a:spLocks noGrp="1"/>
          </p:cNvSpPr>
          <p:nvPr>
            <p:ph type="ftr" sz="quarter" idx="11"/>
          </p:nvPr>
        </p:nvSpPr>
        <p:spPr>
          <a:noFill/>
        </p:spPr>
        <p:txBody>
          <a:bodyPr/>
          <a:lstStyle/>
          <a:p>
            <a:r>
              <a:rPr lang="en-US"/>
              <a:t>R. Todd Lines</a:t>
            </a:r>
          </a:p>
        </p:txBody>
      </p:sp>
      <p:sp>
        <p:nvSpPr>
          <p:cNvPr id="39939" name="Rectangle 2"/>
          <p:cNvSpPr>
            <a:spLocks noGrp="1" noChangeArrowheads="1"/>
          </p:cNvSpPr>
          <p:nvPr>
            <p:ph type="title"/>
          </p:nvPr>
        </p:nvSpPr>
        <p:spPr>
          <a:xfrm>
            <a:off x="2747964" y="0"/>
            <a:ext cx="7680325" cy="1143000"/>
          </a:xfrm>
        </p:spPr>
        <p:txBody>
          <a:bodyPr/>
          <a:lstStyle/>
          <a:p>
            <a:pPr eaLnBrk="1" hangingPunct="1"/>
            <a:r>
              <a:rPr lang="en-US" sz="2800"/>
              <a:t>Intensity of Two-Slit Diffraction Patterns</a:t>
            </a:r>
          </a:p>
        </p:txBody>
      </p:sp>
      <p:sp>
        <p:nvSpPr>
          <p:cNvPr id="39940" name="Rectangle 3"/>
          <p:cNvSpPr>
            <a:spLocks noGrp="1" noChangeArrowheads="1"/>
          </p:cNvSpPr>
          <p:nvPr>
            <p:ph type="body" idx="1"/>
          </p:nvPr>
        </p:nvSpPr>
        <p:spPr/>
        <p:txBody>
          <a:bodyPr/>
          <a:lstStyle/>
          <a:p>
            <a:pPr eaLnBrk="1" hangingPunct="1">
              <a:lnSpc>
                <a:spcPct val="90000"/>
              </a:lnSpc>
            </a:pPr>
            <a:r>
              <a:rPr lang="en-US"/>
              <a:t>When more than one slit is present, consideration must be made of </a:t>
            </a:r>
          </a:p>
          <a:p>
            <a:pPr lvl="1" eaLnBrk="1" hangingPunct="1">
              <a:lnSpc>
                <a:spcPct val="90000"/>
              </a:lnSpc>
            </a:pPr>
            <a:r>
              <a:rPr lang="en-US"/>
              <a:t>The diffraction patterns due to individual slits</a:t>
            </a:r>
          </a:p>
          <a:p>
            <a:pPr lvl="1" eaLnBrk="1" hangingPunct="1">
              <a:lnSpc>
                <a:spcPct val="90000"/>
              </a:lnSpc>
            </a:pPr>
            <a:r>
              <a:rPr lang="en-US"/>
              <a:t>The interference due to the wave coming from different slits</a:t>
            </a:r>
          </a:p>
          <a:p>
            <a:pPr eaLnBrk="1" hangingPunct="1">
              <a:lnSpc>
                <a:spcPct val="90000"/>
              </a:lnSpc>
            </a:pPr>
            <a:r>
              <a:rPr lang="en-US"/>
              <a:t>The single-slit diffraction pattern will act as an “envelope” for a two-slit interference pattern</a:t>
            </a:r>
          </a:p>
        </p:txBody>
      </p:sp>
    </p:spTree>
    <p:extLst>
      <p:ext uri="{BB962C8B-B14F-4D97-AF65-F5344CB8AC3E}">
        <p14:creationId xmlns:p14="http://schemas.microsoft.com/office/powerpoint/2010/main" val="3660682761"/>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1" name="Footer Placeholder 4"/>
          <p:cNvSpPr>
            <a:spLocks noGrp="1"/>
          </p:cNvSpPr>
          <p:nvPr>
            <p:ph type="ftr" sz="quarter" idx="11"/>
          </p:nvPr>
        </p:nvSpPr>
        <p:spPr>
          <a:noFill/>
        </p:spPr>
        <p:txBody>
          <a:bodyPr/>
          <a:lstStyle/>
          <a:p>
            <a:r>
              <a:rPr lang="en-US"/>
              <a:t>R. Todd Lines</a:t>
            </a:r>
          </a:p>
        </p:txBody>
      </p:sp>
      <p:sp>
        <p:nvSpPr>
          <p:cNvPr id="7172" name="Rectangle 2"/>
          <p:cNvSpPr>
            <a:spLocks noGrp="1" noChangeArrowheads="1"/>
          </p:cNvSpPr>
          <p:nvPr>
            <p:ph type="title"/>
          </p:nvPr>
        </p:nvSpPr>
        <p:spPr/>
        <p:txBody>
          <a:bodyPr/>
          <a:lstStyle/>
          <a:p>
            <a:pPr eaLnBrk="1" hangingPunct="1"/>
            <a:r>
              <a:rPr lang="en-US"/>
              <a:t>Intensity Equation</a:t>
            </a:r>
          </a:p>
        </p:txBody>
      </p:sp>
      <p:sp>
        <p:nvSpPr>
          <p:cNvPr id="7173" name="Rectangle 3"/>
          <p:cNvSpPr>
            <a:spLocks noGrp="1" noChangeArrowheads="1"/>
          </p:cNvSpPr>
          <p:nvPr>
            <p:ph type="body" idx="1"/>
          </p:nvPr>
        </p:nvSpPr>
        <p:spPr/>
        <p:txBody>
          <a:bodyPr/>
          <a:lstStyle/>
          <a:p>
            <a:pPr eaLnBrk="1" hangingPunct="1"/>
            <a:r>
              <a:rPr lang="en-US"/>
              <a:t>To determine the maximum intensity:</a:t>
            </a:r>
          </a:p>
          <a:p>
            <a:pPr eaLnBrk="1" hangingPunct="1"/>
            <a:endParaRPr lang="en-US"/>
          </a:p>
          <a:p>
            <a:pPr eaLnBrk="1" hangingPunct="1"/>
            <a:endParaRPr lang="en-US"/>
          </a:p>
          <a:p>
            <a:pPr lvl="1" eaLnBrk="1" hangingPunct="1"/>
            <a:r>
              <a:rPr lang="en-US"/>
              <a:t>The factor in the square brackets represents the single-slit diffraction pattern</a:t>
            </a:r>
          </a:p>
          <a:p>
            <a:pPr lvl="2" eaLnBrk="1" hangingPunct="1"/>
            <a:r>
              <a:rPr lang="en-US"/>
              <a:t>This acts as the envelope</a:t>
            </a:r>
          </a:p>
          <a:p>
            <a:pPr lvl="1" eaLnBrk="1" hangingPunct="1"/>
            <a:r>
              <a:rPr lang="en-US"/>
              <a:t>The two-slit interference term is the cos</a:t>
            </a:r>
            <a:r>
              <a:rPr lang="en-US" baseline="30000"/>
              <a:t>2</a:t>
            </a:r>
            <a:r>
              <a:rPr lang="en-US"/>
              <a:t> term</a:t>
            </a:r>
          </a:p>
        </p:txBody>
      </p:sp>
      <p:graphicFrame>
        <p:nvGraphicFramePr>
          <p:cNvPr id="7170" name="Object 4"/>
          <p:cNvGraphicFramePr>
            <a:graphicFrameLocks noChangeAspect="1"/>
          </p:cNvGraphicFramePr>
          <p:nvPr/>
        </p:nvGraphicFramePr>
        <p:xfrm>
          <a:off x="3048000" y="2159000"/>
          <a:ext cx="6096000" cy="1093788"/>
        </p:xfrm>
        <a:graphic>
          <a:graphicData uri="http://schemas.openxmlformats.org/presentationml/2006/ole">
            <mc:AlternateContent xmlns:mc="http://schemas.openxmlformats.org/markup-compatibility/2006">
              <mc:Choice xmlns:v="urn:schemas-microsoft-com:vml" Requires="v">
                <p:oleObj name="Equation" r:id="rId2" imgW="2908080" imgH="520560" progId="">
                  <p:embed/>
                </p:oleObj>
              </mc:Choice>
              <mc:Fallback>
                <p:oleObj name="Equation" r:id="rId2" imgW="2908080" imgH="520560" progId="">
                  <p:embed/>
                  <p:pic>
                    <p:nvPicPr>
                      <p:cNvPr id="7170" name="Object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48000" y="2159000"/>
                        <a:ext cx="6096000" cy="10937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3095946516"/>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5" name="Footer Placeholder 4"/>
          <p:cNvSpPr>
            <a:spLocks noGrp="1"/>
          </p:cNvSpPr>
          <p:nvPr>
            <p:ph type="ftr" sz="quarter" idx="11"/>
          </p:nvPr>
        </p:nvSpPr>
        <p:spPr>
          <a:noFill/>
        </p:spPr>
        <p:txBody>
          <a:bodyPr/>
          <a:lstStyle/>
          <a:p>
            <a:r>
              <a:rPr lang="en-US"/>
              <a:t>R. Todd Lines</a:t>
            </a:r>
          </a:p>
        </p:txBody>
      </p:sp>
      <p:sp>
        <p:nvSpPr>
          <p:cNvPr id="8196" name="Rectangle 2"/>
          <p:cNvSpPr>
            <a:spLocks noGrp="1" noChangeArrowheads="1"/>
          </p:cNvSpPr>
          <p:nvPr>
            <p:ph type="title"/>
          </p:nvPr>
        </p:nvSpPr>
        <p:spPr/>
        <p:txBody>
          <a:bodyPr/>
          <a:lstStyle/>
          <a:p>
            <a:pPr eaLnBrk="1" hangingPunct="1"/>
            <a:r>
              <a:rPr lang="en-US"/>
              <a:t>Missing Maxima</a:t>
            </a:r>
          </a:p>
        </p:txBody>
      </p:sp>
      <p:sp>
        <p:nvSpPr>
          <p:cNvPr id="8197" name="Rectangle 3"/>
          <p:cNvSpPr>
            <a:spLocks noGrp="1" noChangeArrowheads="1"/>
          </p:cNvSpPr>
          <p:nvPr>
            <p:ph type="body" idx="1"/>
          </p:nvPr>
        </p:nvSpPr>
        <p:spPr>
          <a:xfrm>
            <a:off x="2706688" y="2017714"/>
            <a:ext cx="7772400" cy="4611687"/>
          </a:xfrm>
        </p:spPr>
        <p:txBody>
          <a:bodyPr/>
          <a:lstStyle/>
          <a:p>
            <a:pPr eaLnBrk="1" hangingPunct="1"/>
            <a:r>
              <a:rPr lang="en-US"/>
              <a:t>To find which interference maximum coincides with the first diffraction minimum</a:t>
            </a:r>
          </a:p>
          <a:p>
            <a:pPr eaLnBrk="1" hangingPunct="1"/>
            <a:endParaRPr lang="en-US"/>
          </a:p>
          <a:p>
            <a:pPr eaLnBrk="1" hangingPunct="1"/>
            <a:endParaRPr lang="en-US"/>
          </a:p>
          <a:p>
            <a:pPr lvl="1" eaLnBrk="1" hangingPunct="1"/>
            <a:endParaRPr lang="en-US"/>
          </a:p>
          <a:p>
            <a:pPr lvl="1" eaLnBrk="1" hangingPunct="1"/>
            <a:r>
              <a:rPr lang="en-US"/>
              <a:t>The conditions for the first interference maximum</a:t>
            </a:r>
          </a:p>
          <a:p>
            <a:pPr lvl="2" eaLnBrk="1" hangingPunct="1"/>
            <a:r>
              <a:rPr lang="en-US" i="1"/>
              <a:t>d</a:t>
            </a:r>
            <a:r>
              <a:rPr lang="en-US"/>
              <a:t> sin </a:t>
            </a:r>
            <a:r>
              <a:rPr lang="en-US" i="1">
                <a:cs typeface="Arial" charset="0"/>
              </a:rPr>
              <a:t>θ</a:t>
            </a:r>
            <a:r>
              <a:rPr lang="en-US"/>
              <a:t> = </a:t>
            </a:r>
            <a:r>
              <a:rPr lang="en-US" i="1"/>
              <a:t>m</a:t>
            </a:r>
            <a:r>
              <a:rPr lang="en-US" i="1">
                <a:cs typeface="Arial" charset="0"/>
              </a:rPr>
              <a:t>λ</a:t>
            </a:r>
            <a:endParaRPr lang="en-US">
              <a:latin typeface="Symbol" pitchFamily="18" charset="2"/>
            </a:endParaRPr>
          </a:p>
          <a:p>
            <a:pPr lvl="1" eaLnBrk="1" hangingPunct="1"/>
            <a:r>
              <a:rPr lang="en-US"/>
              <a:t>The conditions for the first diffraction minimum</a:t>
            </a:r>
          </a:p>
          <a:p>
            <a:pPr lvl="2" eaLnBrk="1" hangingPunct="1"/>
            <a:r>
              <a:rPr lang="en-US" i="1"/>
              <a:t>a</a:t>
            </a:r>
            <a:r>
              <a:rPr lang="en-US"/>
              <a:t> sin </a:t>
            </a:r>
            <a:r>
              <a:rPr lang="en-US" i="1">
                <a:cs typeface="Arial" charset="0"/>
              </a:rPr>
              <a:t>θ</a:t>
            </a:r>
            <a:r>
              <a:rPr lang="en-US"/>
              <a:t> = </a:t>
            </a:r>
            <a:r>
              <a:rPr lang="en-US" i="1">
                <a:cs typeface="Arial" charset="0"/>
              </a:rPr>
              <a:t>λ</a:t>
            </a:r>
          </a:p>
        </p:txBody>
      </p:sp>
      <p:graphicFrame>
        <p:nvGraphicFramePr>
          <p:cNvPr id="8194" name="Object 4"/>
          <p:cNvGraphicFramePr>
            <a:graphicFrameLocks noChangeAspect="1"/>
          </p:cNvGraphicFramePr>
          <p:nvPr/>
        </p:nvGraphicFramePr>
        <p:xfrm>
          <a:off x="4229100" y="3005138"/>
          <a:ext cx="3733800" cy="957262"/>
        </p:xfrm>
        <a:graphic>
          <a:graphicData uri="http://schemas.openxmlformats.org/presentationml/2006/ole">
            <mc:AlternateContent xmlns:mc="http://schemas.openxmlformats.org/markup-compatibility/2006">
              <mc:Choice xmlns:v="urn:schemas-microsoft-com:vml" Requires="v">
                <p:oleObj name="Equation" r:id="rId2" imgW="1536480" imgH="393480" progId="">
                  <p:embed/>
                </p:oleObj>
              </mc:Choice>
              <mc:Fallback>
                <p:oleObj name="Equation" r:id="rId2" imgW="1536480" imgH="393480" progId="">
                  <p:embed/>
                  <p:pic>
                    <p:nvPicPr>
                      <p:cNvPr id="8194" name="Object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229100" y="3005138"/>
                        <a:ext cx="3733800" cy="957262"/>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1199156235"/>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p:cNvPicPr>
            <a:picLocks noChangeAspect="1" noChangeArrowheads="1"/>
          </p:cNvPicPr>
          <p:nvPr/>
        </p:nvPicPr>
        <p:blipFill>
          <a:blip r:embed="rId2" cstate="print"/>
          <a:srcRect l="14298" t="28617" r="15657" b="23033"/>
          <a:stretch>
            <a:fillRect/>
          </a:stretch>
        </p:blipFill>
        <p:spPr bwMode="auto">
          <a:xfrm>
            <a:off x="3002280" y="3581400"/>
            <a:ext cx="5897880" cy="1280160"/>
          </a:xfrm>
          <a:prstGeom prst="rect">
            <a:avLst/>
          </a:prstGeom>
          <a:noFill/>
          <a:ln w="9525">
            <a:noFill/>
            <a:miter lim="800000"/>
            <a:headEnd/>
            <a:tailEnd/>
          </a:ln>
          <a:effectLst/>
        </p:spPr>
      </p:pic>
      <p:pic>
        <p:nvPicPr>
          <p:cNvPr id="1026" name="Picture 2"/>
          <p:cNvPicPr>
            <a:picLocks noChangeAspect="1" noChangeArrowheads="1"/>
          </p:cNvPicPr>
          <p:nvPr/>
        </p:nvPicPr>
        <p:blipFill>
          <a:blip r:embed="rId3" cstate="print"/>
          <a:srcRect/>
          <a:stretch>
            <a:fillRect/>
          </a:stretch>
        </p:blipFill>
        <p:spPr bwMode="auto">
          <a:xfrm>
            <a:off x="3215640" y="1752600"/>
            <a:ext cx="5334000" cy="1386840"/>
          </a:xfrm>
          <a:prstGeom prst="rect">
            <a:avLst/>
          </a:prstGeom>
          <a:noFill/>
          <a:ln w="9525">
            <a:noFill/>
            <a:miter lim="800000"/>
            <a:headEnd/>
            <a:tailEnd/>
          </a:ln>
          <a:effectLst/>
        </p:spPr>
      </p:pic>
      <p:sp>
        <p:nvSpPr>
          <p:cNvPr id="6" name="TextBox 5"/>
          <p:cNvSpPr txBox="1"/>
          <p:nvPr/>
        </p:nvSpPr>
        <p:spPr>
          <a:xfrm>
            <a:off x="7421880" y="3101340"/>
            <a:ext cx="399468" cy="338554"/>
          </a:xfrm>
          <a:prstGeom prst="rect">
            <a:avLst/>
          </a:prstGeom>
          <a:noFill/>
        </p:spPr>
        <p:txBody>
          <a:bodyPr wrap="none" rtlCol="0">
            <a:spAutoFit/>
          </a:bodyPr>
          <a:lstStyle/>
          <a:p>
            <a:r>
              <a:rPr lang="en-US" sz="1600" dirty="0">
                <a:latin typeface="Times New Roman" pitchFamily="18" charset="0"/>
                <a:cs typeface="Times New Roman" pitchFamily="18" charset="0"/>
              </a:rPr>
              <a:t>5</a:t>
            </a:r>
            <a:r>
              <a:rPr lang="en-US" sz="1600" dirty="0">
                <a:latin typeface="Times New Roman" pitchFamily="18" charset="0"/>
                <a:cs typeface="Times New Roman" pitchFamily="18" charset="0"/>
                <a:sym typeface="Symbol"/>
              </a:rPr>
              <a:t></a:t>
            </a:r>
            <a:endParaRPr lang="en-US" sz="1600" dirty="0">
              <a:latin typeface="Times New Roman" pitchFamily="18" charset="0"/>
              <a:cs typeface="Times New Roman" pitchFamily="18" charset="0"/>
            </a:endParaRPr>
          </a:p>
        </p:txBody>
      </p:sp>
      <p:sp>
        <p:nvSpPr>
          <p:cNvPr id="7" name="TextBox 6"/>
          <p:cNvSpPr txBox="1"/>
          <p:nvPr/>
        </p:nvSpPr>
        <p:spPr>
          <a:xfrm>
            <a:off x="6126480" y="3101340"/>
            <a:ext cx="296876" cy="338554"/>
          </a:xfrm>
          <a:prstGeom prst="rect">
            <a:avLst/>
          </a:prstGeom>
          <a:noFill/>
        </p:spPr>
        <p:txBody>
          <a:bodyPr wrap="none" rtlCol="0">
            <a:spAutoFit/>
          </a:bodyPr>
          <a:lstStyle/>
          <a:p>
            <a:r>
              <a:rPr lang="en-US" sz="1600" dirty="0">
                <a:latin typeface="Times New Roman" pitchFamily="18" charset="0"/>
                <a:cs typeface="Times New Roman" pitchFamily="18" charset="0"/>
                <a:sym typeface="Symbol"/>
              </a:rPr>
              <a:t></a:t>
            </a:r>
            <a:endParaRPr lang="en-US" sz="1600" dirty="0">
              <a:latin typeface="Times New Roman" pitchFamily="18" charset="0"/>
              <a:cs typeface="Times New Roman" pitchFamily="18" charset="0"/>
            </a:endParaRPr>
          </a:p>
        </p:txBody>
      </p:sp>
      <p:sp>
        <p:nvSpPr>
          <p:cNvPr id="8" name="TextBox 7"/>
          <p:cNvSpPr txBox="1"/>
          <p:nvPr/>
        </p:nvSpPr>
        <p:spPr>
          <a:xfrm>
            <a:off x="6705600" y="3101340"/>
            <a:ext cx="399468" cy="338554"/>
          </a:xfrm>
          <a:prstGeom prst="rect">
            <a:avLst/>
          </a:prstGeom>
          <a:noFill/>
        </p:spPr>
        <p:txBody>
          <a:bodyPr wrap="none" rtlCol="0">
            <a:spAutoFit/>
          </a:bodyPr>
          <a:lstStyle/>
          <a:p>
            <a:r>
              <a:rPr lang="en-US" sz="1600" dirty="0">
                <a:latin typeface="Times New Roman" pitchFamily="18" charset="0"/>
                <a:cs typeface="Times New Roman" pitchFamily="18" charset="0"/>
                <a:sym typeface="Symbol"/>
              </a:rPr>
              <a:t>3</a:t>
            </a:r>
            <a:endParaRPr lang="en-US" sz="1600" dirty="0">
              <a:latin typeface="Times New Roman" pitchFamily="18" charset="0"/>
              <a:cs typeface="Times New Roman" pitchFamily="18" charset="0"/>
            </a:endParaRPr>
          </a:p>
        </p:txBody>
      </p:sp>
      <p:sp>
        <p:nvSpPr>
          <p:cNvPr id="9" name="TextBox 8"/>
          <p:cNvSpPr txBox="1"/>
          <p:nvPr/>
        </p:nvSpPr>
        <p:spPr>
          <a:xfrm>
            <a:off x="4541520" y="3101340"/>
            <a:ext cx="468398" cy="338554"/>
          </a:xfrm>
          <a:prstGeom prst="rect">
            <a:avLst/>
          </a:prstGeom>
          <a:noFill/>
        </p:spPr>
        <p:txBody>
          <a:bodyPr wrap="none" rtlCol="0">
            <a:spAutoFit/>
          </a:bodyPr>
          <a:lstStyle/>
          <a:p>
            <a:r>
              <a:rPr lang="en-US" sz="1600" dirty="0">
                <a:latin typeface="Times New Roman" pitchFamily="18" charset="0"/>
                <a:cs typeface="Times New Roman" pitchFamily="18" charset="0"/>
              </a:rPr>
              <a:t>-3</a:t>
            </a:r>
            <a:r>
              <a:rPr lang="en-US" sz="1600" dirty="0">
                <a:latin typeface="Times New Roman" pitchFamily="18" charset="0"/>
                <a:cs typeface="Times New Roman" pitchFamily="18" charset="0"/>
                <a:sym typeface="Symbol"/>
              </a:rPr>
              <a:t></a:t>
            </a:r>
            <a:endParaRPr lang="en-US" sz="1600" dirty="0">
              <a:latin typeface="Times New Roman" pitchFamily="18" charset="0"/>
              <a:cs typeface="Times New Roman" pitchFamily="18" charset="0"/>
            </a:endParaRPr>
          </a:p>
        </p:txBody>
      </p:sp>
      <p:sp>
        <p:nvSpPr>
          <p:cNvPr id="10" name="TextBox 9"/>
          <p:cNvSpPr txBox="1"/>
          <p:nvPr/>
        </p:nvSpPr>
        <p:spPr>
          <a:xfrm>
            <a:off x="5334000" y="3101340"/>
            <a:ext cx="365806" cy="338554"/>
          </a:xfrm>
          <a:prstGeom prst="rect">
            <a:avLst/>
          </a:prstGeom>
          <a:noFill/>
        </p:spPr>
        <p:txBody>
          <a:bodyPr wrap="none" rtlCol="0">
            <a:spAutoFit/>
          </a:bodyPr>
          <a:lstStyle/>
          <a:p>
            <a:r>
              <a:rPr lang="en-US" sz="1600" dirty="0">
                <a:latin typeface="Times New Roman" pitchFamily="18" charset="0"/>
                <a:cs typeface="Times New Roman" pitchFamily="18" charset="0"/>
                <a:sym typeface="Symbol"/>
              </a:rPr>
              <a:t>-</a:t>
            </a:r>
            <a:endParaRPr lang="en-US" sz="1600" dirty="0">
              <a:latin typeface="Times New Roman" pitchFamily="18" charset="0"/>
              <a:cs typeface="Times New Roman" pitchFamily="18" charset="0"/>
            </a:endParaRPr>
          </a:p>
        </p:txBody>
      </p:sp>
      <p:sp>
        <p:nvSpPr>
          <p:cNvPr id="11" name="TextBox 10"/>
          <p:cNvSpPr txBox="1"/>
          <p:nvPr/>
        </p:nvSpPr>
        <p:spPr>
          <a:xfrm>
            <a:off x="3870960" y="3101340"/>
            <a:ext cx="468398" cy="338554"/>
          </a:xfrm>
          <a:prstGeom prst="rect">
            <a:avLst/>
          </a:prstGeom>
          <a:noFill/>
        </p:spPr>
        <p:txBody>
          <a:bodyPr wrap="none" rtlCol="0">
            <a:spAutoFit/>
          </a:bodyPr>
          <a:lstStyle/>
          <a:p>
            <a:r>
              <a:rPr lang="en-US" sz="1600" dirty="0">
                <a:latin typeface="Times New Roman" pitchFamily="18" charset="0"/>
                <a:cs typeface="Times New Roman" pitchFamily="18" charset="0"/>
                <a:sym typeface="Symbol"/>
              </a:rPr>
              <a:t>-5</a:t>
            </a:r>
            <a:endParaRPr lang="en-US" sz="1600" dirty="0">
              <a:latin typeface="Times New Roman" pitchFamily="18" charset="0"/>
              <a:cs typeface="Times New Roman" pitchFamily="18" charset="0"/>
            </a:endParaRPr>
          </a:p>
        </p:txBody>
      </p:sp>
      <p:sp>
        <p:nvSpPr>
          <p:cNvPr id="12" name="TextBox 11"/>
          <p:cNvSpPr txBox="1"/>
          <p:nvPr/>
        </p:nvSpPr>
        <p:spPr>
          <a:xfrm>
            <a:off x="8458201" y="2926080"/>
            <a:ext cx="511679" cy="369332"/>
          </a:xfrm>
          <a:prstGeom prst="rect">
            <a:avLst/>
          </a:prstGeom>
          <a:noFill/>
        </p:spPr>
        <p:txBody>
          <a:bodyPr wrap="none" rtlCol="0">
            <a:spAutoFit/>
          </a:bodyPr>
          <a:lstStyle/>
          <a:p>
            <a:r>
              <a:rPr lang="en-US" dirty="0">
                <a:sym typeface="Symbol"/>
              </a:rPr>
              <a:t>/2</a:t>
            </a:r>
            <a:endParaRPr lang="en-US" dirty="0"/>
          </a:p>
        </p:txBody>
      </p:sp>
      <p:cxnSp>
        <p:nvCxnSpPr>
          <p:cNvPr id="14" name="Straight Arrow Connector 13"/>
          <p:cNvCxnSpPr/>
          <p:nvPr/>
        </p:nvCxnSpPr>
        <p:spPr>
          <a:xfrm flipH="1">
            <a:off x="6720840" y="1844040"/>
            <a:ext cx="914400" cy="274320"/>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15" name="TextBox 14"/>
          <p:cNvSpPr txBox="1"/>
          <p:nvPr/>
        </p:nvSpPr>
        <p:spPr>
          <a:xfrm>
            <a:off x="7711440" y="1584961"/>
            <a:ext cx="2118360" cy="830997"/>
          </a:xfrm>
          <a:prstGeom prst="rect">
            <a:avLst/>
          </a:prstGeom>
          <a:noFill/>
        </p:spPr>
        <p:txBody>
          <a:bodyPr wrap="square" rtlCol="0">
            <a:spAutoFit/>
          </a:bodyPr>
          <a:lstStyle/>
          <a:p>
            <a:r>
              <a:rPr lang="en-US" sz="1600" b="1" dirty="0"/>
              <a:t>Interference fringes:</a:t>
            </a:r>
          </a:p>
          <a:p>
            <a:r>
              <a:rPr lang="en-US" sz="1600" dirty="0"/>
              <a:t> due to having two slits.</a:t>
            </a:r>
          </a:p>
        </p:txBody>
      </p:sp>
      <p:sp>
        <p:nvSpPr>
          <p:cNvPr id="16" name="TextBox 15"/>
          <p:cNvSpPr txBox="1"/>
          <p:nvPr/>
        </p:nvSpPr>
        <p:spPr>
          <a:xfrm>
            <a:off x="5532120" y="1463040"/>
            <a:ext cx="261610" cy="369332"/>
          </a:xfrm>
          <a:prstGeom prst="rect">
            <a:avLst/>
          </a:prstGeom>
          <a:noFill/>
        </p:spPr>
        <p:txBody>
          <a:bodyPr wrap="none" rtlCol="0">
            <a:spAutoFit/>
          </a:bodyPr>
          <a:lstStyle/>
          <a:p>
            <a:r>
              <a:rPr lang="en-US" i="1" dirty="0">
                <a:latin typeface="Times New Roman" pitchFamily="18" charset="0"/>
                <a:cs typeface="Times New Roman" pitchFamily="18" charset="0"/>
              </a:rPr>
              <a:t>I</a:t>
            </a:r>
          </a:p>
        </p:txBody>
      </p:sp>
    </p:spTree>
    <p:extLst>
      <p:ext uri="{BB962C8B-B14F-4D97-AF65-F5344CB8AC3E}">
        <p14:creationId xmlns:p14="http://schemas.microsoft.com/office/powerpoint/2010/main" val="2535790678"/>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9" name="Picture 5"/>
          <p:cNvPicPr>
            <a:picLocks noChangeAspect="1" noChangeArrowheads="1"/>
          </p:cNvPicPr>
          <p:nvPr/>
        </p:nvPicPr>
        <p:blipFill>
          <a:blip r:embed="rId2" cstate="print"/>
          <a:srcRect/>
          <a:stretch>
            <a:fillRect/>
          </a:stretch>
        </p:blipFill>
        <p:spPr bwMode="auto">
          <a:xfrm>
            <a:off x="2331720" y="1727835"/>
            <a:ext cx="7421880" cy="3067050"/>
          </a:xfrm>
          <a:prstGeom prst="rect">
            <a:avLst/>
          </a:prstGeom>
          <a:noFill/>
          <a:ln w="9525">
            <a:noFill/>
            <a:miter lim="800000"/>
            <a:headEnd/>
            <a:tailEnd/>
          </a:ln>
          <a:effectLst/>
        </p:spPr>
      </p:pic>
      <p:pic>
        <p:nvPicPr>
          <p:cNvPr id="1027" name="Picture 3"/>
          <p:cNvPicPr>
            <a:picLocks noChangeAspect="1" noChangeArrowheads="1"/>
          </p:cNvPicPr>
          <p:nvPr/>
        </p:nvPicPr>
        <p:blipFill rotWithShape="1">
          <a:blip r:embed="rId3" cstate="print"/>
          <a:srcRect t="60773" b="11108"/>
          <a:stretch/>
        </p:blipFill>
        <p:spPr bwMode="auto">
          <a:xfrm>
            <a:off x="2194561" y="5217460"/>
            <a:ext cx="7528560" cy="870473"/>
          </a:xfrm>
          <a:prstGeom prst="rect">
            <a:avLst/>
          </a:prstGeom>
          <a:noFill/>
          <a:ln w="9525">
            <a:noFill/>
            <a:miter lim="800000"/>
            <a:headEnd/>
            <a:tailEnd/>
          </a:ln>
        </p:spPr>
      </p:pic>
      <p:cxnSp>
        <p:nvCxnSpPr>
          <p:cNvPr id="12" name="Straight Arrow Connector 11"/>
          <p:cNvCxnSpPr/>
          <p:nvPr/>
        </p:nvCxnSpPr>
        <p:spPr>
          <a:xfrm>
            <a:off x="4937760" y="1950720"/>
            <a:ext cx="807720" cy="320040"/>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4" name="Straight Arrow Connector 13"/>
          <p:cNvCxnSpPr/>
          <p:nvPr/>
        </p:nvCxnSpPr>
        <p:spPr>
          <a:xfrm flipH="1">
            <a:off x="6111240" y="2209800"/>
            <a:ext cx="868680" cy="472440"/>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18" name="TextBox 17"/>
          <p:cNvSpPr txBox="1"/>
          <p:nvPr/>
        </p:nvSpPr>
        <p:spPr>
          <a:xfrm>
            <a:off x="2636520" y="1630680"/>
            <a:ext cx="2164080" cy="1477328"/>
          </a:xfrm>
          <a:prstGeom prst="rect">
            <a:avLst/>
          </a:prstGeom>
          <a:noFill/>
        </p:spPr>
        <p:txBody>
          <a:bodyPr wrap="square" rtlCol="0">
            <a:spAutoFit/>
          </a:bodyPr>
          <a:lstStyle/>
          <a:p>
            <a:pPr algn="r"/>
            <a:r>
              <a:rPr lang="en-US" b="1" dirty="0"/>
              <a:t>Diffraction envelope: </a:t>
            </a:r>
          </a:p>
          <a:p>
            <a:pPr algn="r"/>
            <a:r>
              <a:rPr lang="en-US" dirty="0"/>
              <a:t>The single slit pattern due to shape of the individual slits.</a:t>
            </a:r>
          </a:p>
        </p:txBody>
      </p:sp>
      <p:sp>
        <p:nvSpPr>
          <p:cNvPr id="19" name="TextBox 18"/>
          <p:cNvSpPr txBox="1"/>
          <p:nvPr/>
        </p:nvSpPr>
        <p:spPr>
          <a:xfrm>
            <a:off x="7086600" y="1767840"/>
            <a:ext cx="2270760" cy="923330"/>
          </a:xfrm>
          <a:prstGeom prst="rect">
            <a:avLst/>
          </a:prstGeom>
          <a:noFill/>
        </p:spPr>
        <p:txBody>
          <a:bodyPr wrap="square" rtlCol="0">
            <a:spAutoFit/>
          </a:bodyPr>
          <a:lstStyle/>
          <a:p>
            <a:r>
              <a:rPr lang="en-US" b="1" dirty="0"/>
              <a:t>Interference fringes:</a:t>
            </a:r>
          </a:p>
          <a:p>
            <a:r>
              <a:rPr lang="en-US" dirty="0"/>
              <a:t> due to having two slits.</a:t>
            </a:r>
          </a:p>
        </p:txBody>
      </p:sp>
      <p:sp>
        <p:nvSpPr>
          <p:cNvPr id="21" name="TextBox 20"/>
          <p:cNvSpPr txBox="1"/>
          <p:nvPr/>
        </p:nvSpPr>
        <p:spPr>
          <a:xfrm>
            <a:off x="5608320" y="1645920"/>
            <a:ext cx="261610" cy="369332"/>
          </a:xfrm>
          <a:prstGeom prst="rect">
            <a:avLst/>
          </a:prstGeom>
          <a:noFill/>
        </p:spPr>
        <p:txBody>
          <a:bodyPr wrap="none" rtlCol="0">
            <a:spAutoFit/>
          </a:bodyPr>
          <a:lstStyle/>
          <a:p>
            <a:r>
              <a:rPr lang="en-US" i="1" dirty="0">
                <a:latin typeface="Times New Roman" pitchFamily="18" charset="0"/>
                <a:cs typeface="Times New Roman" pitchFamily="18" charset="0"/>
              </a:rPr>
              <a:t>I</a:t>
            </a:r>
          </a:p>
        </p:txBody>
      </p:sp>
      <p:sp>
        <p:nvSpPr>
          <p:cNvPr id="22" name="TextBox 21"/>
          <p:cNvSpPr txBox="1"/>
          <p:nvPr/>
        </p:nvSpPr>
        <p:spPr>
          <a:xfrm>
            <a:off x="7635240" y="4754880"/>
            <a:ext cx="399468" cy="338554"/>
          </a:xfrm>
          <a:prstGeom prst="rect">
            <a:avLst/>
          </a:prstGeom>
          <a:noFill/>
        </p:spPr>
        <p:txBody>
          <a:bodyPr wrap="none" rtlCol="0">
            <a:spAutoFit/>
          </a:bodyPr>
          <a:lstStyle/>
          <a:p>
            <a:r>
              <a:rPr lang="en-US" sz="1600" dirty="0">
                <a:latin typeface="Times New Roman" pitchFamily="18" charset="0"/>
                <a:cs typeface="Times New Roman" pitchFamily="18" charset="0"/>
              </a:rPr>
              <a:t>2</a:t>
            </a:r>
            <a:r>
              <a:rPr lang="en-US" sz="1600" dirty="0">
                <a:latin typeface="Times New Roman" pitchFamily="18" charset="0"/>
                <a:cs typeface="Times New Roman" pitchFamily="18" charset="0"/>
                <a:sym typeface="Symbol"/>
              </a:rPr>
              <a:t></a:t>
            </a:r>
            <a:endParaRPr lang="en-US" sz="1600" dirty="0">
              <a:latin typeface="Times New Roman" pitchFamily="18" charset="0"/>
              <a:cs typeface="Times New Roman" pitchFamily="18" charset="0"/>
            </a:endParaRPr>
          </a:p>
        </p:txBody>
      </p:sp>
      <p:sp>
        <p:nvSpPr>
          <p:cNvPr id="23" name="TextBox 22"/>
          <p:cNvSpPr txBox="1"/>
          <p:nvPr/>
        </p:nvSpPr>
        <p:spPr>
          <a:xfrm>
            <a:off x="6751320" y="4754880"/>
            <a:ext cx="296876" cy="338554"/>
          </a:xfrm>
          <a:prstGeom prst="rect">
            <a:avLst/>
          </a:prstGeom>
          <a:noFill/>
        </p:spPr>
        <p:txBody>
          <a:bodyPr wrap="none" rtlCol="0">
            <a:spAutoFit/>
          </a:bodyPr>
          <a:lstStyle/>
          <a:p>
            <a:r>
              <a:rPr lang="en-US" sz="1600" dirty="0">
                <a:latin typeface="Times New Roman" pitchFamily="18" charset="0"/>
                <a:cs typeface="Times New Roman" pitchFamily="18" charset="0"/>
                <a:sym typeface="Symbol"/>
              </a:rPr>
              <a:t></a:t>
            </a:r>
            <a:endParaRPr lang="en-US" sz="1600" dirty="0">
              <a:latin typeface="Times New Roman" pitchFamily="18" charset="0"/>
              <a:cs typeface="Times New Roman" pitchFamily="18" charset="0"/>
            </a:endParaRPr>
          </a:p>
        </p:txBody>
      </p:sp>
      <p:sp>
        <p:nvSpPr>
          <p:cNvPr id="24" name="TextBox 23"/>
          <p:cNvSpPr txBox="1"/>
          <p:nvPr/>
        </p:nvSpPr>
        <p:spPr>
          <a:xfrm>
            <a:off x="8534400" y="4754880"/>
            <a:ext cx="399468" cy="338554"/>
          </a:xfrm>
          <a:prstGeom prst="rect">
            <a:avLst/>
          </a:prstGeom>
          <a:noFill/>
        </p:spPr>
        <p:txBody>
          <a:bodyPr wrap="none" rtlCol="0">
            <a:spAutoFit/>
          </a:bodyPr>
          <a:lstStyle/>
          <a:p>
            <a:r>
              <a:rPr lang="en-US" sz="1600" dirty="0">
                <a:latin typeface="Times New Roman" pitchFamily="18" charset="0"/>
                <a:cs typeface="Times New Roman" pitchFamily="18" charset="0"/>
                <a:sym typeface="Symbol"/>
              </a:rPr>
              <a:t>3</a:t>
            </a:r>
            <a:endParaRPr lang="en-US" sz="1600" dirty="0">
              <a:latin typeface="Times New Roman" pitchFamily="18" charset="0"/>
              <a:cs typeface="Times New Roman" pitchFamily="18" charset="0"/>
            </a:endParaRPr>
          </a:p>
        </p:txBody>
      </p:sp>
      <p:sp>
        <p:nvSpPr>
          <p:cNvPr id="25" name="TextBox 24"/>
          <p:cNvSpPr txBox="1"/>
          <p:nvPr/>
        </p:nvSpPr>
        <p:spPr>
          <a:xfrm>
            <a:off x="4069080" y="4754880"/>
            <a:ext cx="468398" cy="338554"/>
          </a:xfrm>
          <a:prstGeom prst="rect">
            <a:avLst/>
          </a:prstGeom>
          <a:noFill/>
        </p:spPr>
        <p:txBody>
          <a:bodyPr wrap="none" rtlCol="0">
            <a:spAutoFit/>
          </a:bodyPr>
          <a:lstStyle/>
          <a:p>
            <a:r>
              <a:rPr lang="en-US" sz="1600" dirty="0">
                <a:latin typeface="Times New Roman" pitchFamily="18" charset="0"/>
                <a:cs typeface="Times New Roman" pitchFamily="18" charset="0"/>
              </a:rPr>
              <a:t>-2</a:t>
            </a:r>
            <a:r>
              <a:rPr lang="en-US" sz="1600" dirty="0">
                <a:latin typeface="Times New Roman" pitchFamily="18" charset="0"/>
                <a:cs typeface="Times New Roman" pitchFamily="18" charset="0"/>
                <a:sym typeface="Symbol"/>
              </a:rPr>
              <a:t></a:t>
            </a:r>
            <a:endParaRPr lang="en-US" sz="1600" dirty="0">
              <a:latin typeface="Times New Roman" pitchFamily="18" charset="0"/>
              <a:cs typeface="Times New Roman" pitchFamily="18" charset="0"/>
            </a:endParaRPr>
          </a:p>
        </p:txBody>
      </p:sp>
      <p:sp>
        <p:nvSpPr>
          <p:cNvPr id="26" name="TextBox 25"/>
          <p:cNvSpPr txBox="1"/>
          <p:nvPr/>
        </p:nvSpPr>
        <p:spPr>
          <a:xfrm>
            <a:off x="4983480" y="4754880"/>
            <a:ext cx="365806" cy="338554"/>
          </a:xfrm>
          <a:prstGeom prst="rect">
            <a:avLst/>
          </a:prstGeom>
          <a:noFill/>
        </p:spPr>
        <p:txBody>
          <a:bodyPr wrap="none" rtlCol="0">
            <a:spAutoFit/>
          </a:bodyPr>
          <a:lstStyle/>
          <a:p>
            <a:r>
              <a:rPr lang="en-US" sz="1600" dirty="0">
                <a:latin typeface="Times New Roman" pitchFamily="18" charset="0"/>
                <a:cs typeface="Times New Roman" pitchFamily="18" charset="0"/>
                <a:sym typeface="Symbol"/>
              </a:rPr>
              <a:t>-</a:t>
            </a:r>
            <a:endParaRPr lang="en-US" sz="1600" dirty="0">
              <a:latin typeface="Times New Roman" pitchFamily="18" charset="0"/>
              <a:cs typeface="Times New Roman" pitchFamily="18" charset="0"/>
            </a:endParaRPr>
          </a:p>
        </p:txBody>
      </p:sp>
      <p:sp>
        <p:nvSpPr>
          <p:cNvPr id="27" name="TextBox 26"/>
          <p:cNvSpPr txBox="1"/>
          <p:nvPr/>
        </p:nvSpPr>
        <p:spPr>
          <a:xfrm>
            <a:off x="3154680" y="4754880"/>
            <a:ext cx="468398" cy="338554"/>
          </a:xfrm>
          <a:prstGeom prst="rect">
            <a:avLst/>
          </a:prstGeom>
          <a:noFill/>
        </p:spPr>
        <p:txBody>
          <a:bodyPr wrap="none" rtlCol="0">
            <a:spAutoFit/>
          </a:bodyPr>
          <a:lstStyle/>
          <a:p>
            <a:r>
              <a:rPr lang="en-US" sz="1600" dirty="0">
                <a:latin typeface="Times New Roman" pitchFamily="18" charset="0"/>
                <a:cs typeface="Times New Roman" pitchFamily="18" charset="0"/>
                <a:sym typeface="Symbol"/>
              </a:rPr>
              <a:t>-3</a:t>
            </a:r>
            <a:endParaRPr lang="en-US" sz="1600" dirty="0">
              <a:latin typeface="Times New Roman" pitchFamily="18" charset="0"/>
              <a:cs typeface="Times New Roman" pitchFamily="18" charset="0"/>
            </a:endParaRPr>
          </a:p>
        </p:txBody>
      </p:sp>
      <p:sp>
        <p:nvSpPr>
          <p:cNvPr id="28" name="TextBox 27"/>
          <p:cNvSpPr txBox="1"/>
          <p:nvPr/>
        </p:nvSpPr>
        <p:spPr>
          <a:xfrm>
            <a:off x="9662161" y="4602480"/>
            <a:ext cx="511679" cy="369332"/>
          </a:xfrm>
          <a:prstGeom prst="rect">
            <a:avLst/>
          </a:prstGeom>
          <a:noFill/>
        </p:spPr>
        <p:txBody>
          <a:bodyPr wrap="none" rtlCol="0">
            <a:spAutoFit/>
          </a:bodyPr>
          <a:lstStyle/>
          <a:p>
            <a:r>
              <a:rPr lang="en-US" dirty="0">
                <a:sym typeface="Symbol"/>
              </a:rPr>
              <a:t>/2</a:t>
            </a:r>
            <a:endParaRPr lang="en-US" dirty="0"/>
          </a:p>
        </p:txBody>
      </p:sp>
    </p:spTree>
    <p:extLst>
      <p:ext uri="{BB962C8B-B14F-4D97-AF65-F5344CB8AC3E}">
        <p14:creationId xmlns:p14="http://schemas.microsoft.com/office/powerpoint/2010/main" val="233443676"/>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2438400" y="990600"/>
            <a:ext cx="76200" cy="21336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7" name="Picture 3"/>
          <p:cNvPicPr>
            <a:picLocks noChangeAspect="1" noChangeArrowheads="1"/>
          </p:cNvPicPr>
          <p:nvPr/>
        </p:nvPicPr>
        <p:blipFill>
          <a:blip r:embed="rId2" cstate="print"/>
          <a:srcRect/>
          <a:stretch>
            <a:fillRect/>
          </a:stretch>
        </p:blipFill>
        <p:spPr bwMode="auto">
          <a:xfrm rot="16200000">
            <a:off x="6424614" y="2414588"/>
            <a:ext cx="3344863" cy="2020888"/>
          </a:xfrm>
          <a:prstGeom prst="rect">
            <a:avLst/>
          </a:prstGeom>
          <a:noFill/>
          <a:ln w="9525">
            <a:noFill/>
            <a:miter lim="800000"/>
            <a:headEnd/>
            <a:tailEnd/>
          </a:ln>
          <a:effectLst/>
        </p:spPr>
      </p:pic>
      <p:sp>
        <p:nvSpPr>
          <p:cNvPr id="7" name="Rectangle 6"/>
          <p:cNvSpPr/>
          <p:nvPr/>
        </p:nvSpPr>
        <p:spPr>
          <a:xfrm>
            <a:off x="2438400" y="3733800"/>
            <a:ext cx="76200" cy="21336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Connector 8"/>
          <p:cNvCxnSpPr/>
          <p:nvPr/>
        </p:nvCxnSpPr>
        <p:spPr>
          <a:xfrm>
            <a:off x="2438400" y="3429000"/>
            <a:ext cx="6400800" cy="0"/>
          </a:xfrm>
          <a:prstGeom prst="line">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cxnSp>
      <p:cxnSp>
        <p:nvCxnSpPr>
          <p:cNvPr id="10" name="Straight Connector 9"/>
          <p:cNvCxnSpPr/>
          <p:nvPr/>
        </p:nvCxnSpPr>
        <p:spPr>
          <a:xfrm flipV="1">
            <a:off x="2438400" y="2819400"/>
            <a:ext cx="6400800" cy="609600"/>
          </a:xfrm>
          <a:prstGeom prst="line">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cxnSp>
      <p:sp>
        <p:nvSpPr>
          <p:cNvPr id="12" name="Arc 11"/>
          <p:cNvSpPr/>
          <p:nvPr/>
        </p:nvSpPr>
        <p:spPr>
          <a:xfrm>
            <a:off x="4343400" y="2819400"/>
            <a:ext cx="685800" cy="914400"/>
          </a:xfrm>
          <a:prstGeom prst="arc">
            <a:avLst>
              <a:gd name="adj1" fmla="val 18337116"/>
              <a:gd name="adj2" fmla="val 21064412"/>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3" name="Arc 12"/>
          <p:cNvSpPr/>
          <p:nvPr/>
        </p:nvSpPr>
        <p:spPr>
          <a:xfrm flipV="1">
            <a:off x="4267200" y="2895600"/>
            <a:ext cx="762000" cy="914400"/>
          </a:xfrm>
          <a:prstGeom prst="arc">
            <a:avLst>
              <a:gd name="adj1" fmla="val 18337116"/>
              <a:gd name="adj2" fmla="val 21064412"/>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4" name="TextBox 13"/>
          <p:cNvSpPr txBox="1"/>
          <p:nvPr/>
        </p:nvSpPr>
        <p:spPr>
          <a:xfrm>
            <a:off x="4495800" y="2590800"/>
            <a:ext cx="461986" cy="523220"/>
          </a:xfrm>
          <a:prstGeom prst="rect">
            <a:avLst/>
          </a:prstGeom>
          <a:noFill/>
        </p:spPr>
        <p:txBody>
          <a:bodyPr wrap="none" rtlCol="0">
            <a:spAutoFit/>
          </a:bodyPr>
          <a:lstStyle/>
          <a:p>
            <a:r>
              <a:rPr lang="en-US" sz="2800" dirty="0">
                <a:sym typeface="Symbol"/>
              </a:rPr>
              <a:t></a:t>
            </a:r>
            <a:endParaRPr lang="en-US" sz="2800" dirty="0"/>
          </a:p>
        </p:txBody>
      </p:sp>
      <p:cxnSp>
        <p:nvCxnSpPr>
          <p:cNvPr id="16" name="Straight Arrow Connector 15"/>
          <p:cNvCxnSpPr/>
          <p:nvPr/>
        </p:nvCxnSpPr>
        <p:spPr>
          <a:xfrm flipV="1">
            <a:off x="2209800" y="3124200"/>
            <a:ext cx="0" cy="609600"/>
          </a:xfrm>
          <a:prstGeom prst="straightConnector1">
            <a:avLst/>
          </a:prstGeom>
          <a:ln>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17" name="TextBox 16"/>
          <p:cNvSpPr txBox="1"/>
          <p:nvPr/>
        </p:nvSpPr>
        <p:spPr>
          <a:xfrm>
            <a:off x="1828800" y="3200401"/>
            <a:ext cx="373820" cy="461665"/>
          </a:xfrm>
          <a:prstGeom prst="rect">
            <a:avLst/>
          </a:prstGeom>
          <a:noFill/>
        </p:spPr>
        <p:txBody>
          <a:bodyPr wrap="none" rtlCol="0">
            <a:spAutoFit/>
          </a:bodyPr>
          <a:lstStyle/>
          <a:p>
            <a:r>
              <a:rPr lang="en-US" sz="2400" dirty="0"/>
              <a:t>D</a:t>
            </a:r>
          </a:p>
        </p:txBody>
      </p:sp>
      <p:sp>
        <p:nvSpPr>
          <p:cNvPr id="18" name="TextBox 17"/>
          <p:cNvSpPr txBox="1"/>
          <p:nvPr/>
        </p:nvSpPr>
        <p:spPr>
          <a:xfrm>
            <a:off x="2667000" y="1981201"/>
            <a:ext cx="2330574" cy="461665"/>
          </a:xfrm>
          <a:prstGeom prst="rect">
            <a:avLst/>
          </a:prstGeom>
          <a:noFill/>
        </p:spPr>
        <p:txBody>
          <a:bodyPr wrap="none" rtlCol="0">
            <a:spAutoFit/>
          </a:bodyPr>
          <a:lstStyle/>
          <a:p>
            <a:r>
              <a:rPr lang="en-US" sz="2400" dirty="0"/>
              <a:t>Circular Aperture</a:t>
            </a:r>
          </a:p>
        </p:txBody>
      </p:sp>
      <p:sp>
        <p:nvSpPr>
          <p:cNvPr id="19" name="Freeform 18"/>
          <p:cNvSpPr/>
          <p:nvPr/>
        </p:nvSpPr>
        <p:spPr>
          <a:xfrm>
            <a:off x="2633272" y="2438401"/>
            <a:ext cx="567128" cy="814466"/>
          </a:xfrm>
          <a:custGeom>
            <a:avLst/>
            <a:gdLst>
              <a:gd name="connsiteX0" fmla="*/ 464695 w 464695"/>
              <a:gd name="connsiteY0" fmla="*/ 0 h 629587"/>
              <a:gd name="connsiteX1" fmla="*/ 209862 w 464695"/>
              <a:gd name="connsiteY1" fmla="*/ 314793 h 629587"/>
              <a:gd name="connsiteX2" fmla="*/ 329784 w 464695"/>
              <a:gd name="connsiteY2" fmla="*/ 299803 h 629587"/>
              <a:gd name="connsiteX3" fmla="*/ 0 w 464695"/>
              <a:gd name="connsiteY3" fmla="*/ 629587 h 629587"/>
            </a:gdLst>
            <a:ahLst/>
            <a:cxnLst>
              <a:cxn ang="0">
                <a:pos x="connsiteX0" y="connsiteY0"/>
              </a:cxn>
              <a:cxn ang="0">
                <a:pos x="connsiteX1" y="connsiteY1"/>
              </a:cxn>
              <a:cxn ang="0">
                <a:pos x="connsiteX2" y="connsiteY2"/>
              </a:cxn>
              <a:cxn ang="0">
                <a:pos x="connsiteX3" y="connsiteY3"/>
              </a:cxn>
            </a:cxnLst>
            <a:rect l="l" t="t" r="r" b="b"/>
            <a:pathLst>
              <a:path w="464695" h="629587">
                <a:moveTo>
                  <a:pt x="464695" y="0"/>
                </a:moveTo>
                <a:cubicBezTo>
                  <a:pt x="348521" y="132413"/>
                  <a:pt x="232347" y="264826"/>
                  <a:pt x="209862" y="314793"/>
                </a:cubicBezTo>
                <a:cubicBezTo>
                  <a:pt x="187377" y="364760"/>
                  <a:pt x="364761" y="247337"/>
                  <a:pt x="329784" y="299803"/>
                </a:cubicBezTo>
                <a:cubicBezTo>
                  <a:pt x="294807" y="352269"/>
                  <a:pt x="147403" y="490928"/>
                  <a:pt x="0" y="629587"/>
                </a:cubicBezTo>
              </a:path>
            </a:pathLst>
          </a:custGeom>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0" name="Freeform 19"/>
          <p:cNvSpPr/>
          <p:nvPr/>
        </p:nvSpPr>
        <p:spPr>
          <a:xfrm>
            <a:off x="8991600" y="2286000"/>
            <a:ext cx="457200" cy="509666"/>
          </a:xfrm>
          <a:custGeom>
            <a:avLst/>
            <a:gdLst>
              <a:gd name="connsiteX0" fmla="*/ 464695 w 464695"/>
              <a:gd name="connsiteY0" fmla="*/ 0 h 629587"/>
              <a:gd name="connsiteX1" fmla="*/ 209862 w 464695"/>
              <a:gd name="connsiteY1" fmla="*/ 314793 h 629587"/>
              <a:gd name="connsiteX2" fmla="*/ 329784 w 464695"/>
              <a:gd name="connsiteY2" fmla="*/ 299803 h 629587"/>
              <a:gd name="connsiteX3" fmla="*/ 0 w 464695"/>
              <a:gd name="connsiteY3" fmla="*/ 629587 h 629587"/>
            </a:gdLst>
            <a:ahLst/>
            <a:cxnLst>
              <a:cxn ang="0">
                <a:pos x="connsiteX0" y="connsiteY0"/>
              </a:cxn>
              <a:cxn ang="0">
                <a:pos x="connsiteX1" y="connsiteY1"/>
              </a:cxn>
              <a:cxn ang="0">
                <a:pos x="connsiteX2" y="connsiteY2"/>
              </a:cxn>
              <a:cxn ang="0">
                <a:pos x="connsiteX3" y="connsiteY3"/>
              </a:cxn>
            </a:cxnLst>
            <a:rect l="l" t="t" r="r" b="b"/>
            <a:pathLst>
              <a:path w="464695" h="629587">
                <a:moveTo>
                  <a:pt x="464695" y="0"/>
                </a:moveTo>
                <a:cubicBezTo>
                  <a:pt x="348521" y="132413"/>
                  <a:pt x="232347" y="264826"/>
                  <a:pt x="209862" y="314793"/>
                </a:cubicBezTo>
                <a:cubicBezTo>
                  <a:pt x="187377" y="364760"/>
                  <a:pt x="364761" y="247337"/>
                  <a:pt x="329784" y="299803"/>
                </a:cubicBezTo>
                <a:cubicBezTo>
                  <a:pt x="294807" y="352269"/>
                  <a:pt x="147403" y="490928"/>
                  <a:pt x="0" y="629587"/>
                </a:cubicBezTo>
              </a:path>
            </a:pathLst>
          </a:custGeom>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1" name="TextBox 20"/>
          <p:cNvSpPr txBox="1"/>
          <p:nvPr/>
        </p:nvSpPr>
        <p:spPr>
          <a:xfrm>
            <a:off x="9525000" y="1828800"/>
            <a:ext cx="1524000" cy="707886"/>
          </a:xfrm>
          <a:prstGeom prst="rect">
            <a:avLst/>
          </a:prstGeom>
          <a:noFill/>
        </p:spPr>
        <p:txBody>
          <a:bodyPr wrap="square" rtlCol="0">
            <a:spAutoFit/>
          </a:bodyPr>
          <a:lstStyle/>
          <a:p>
            <a:r>
              <a:rPr lang="en-US" sz="2000" dirty="0"/>
              <a:t>First Minimum</a:t>
            </a:r>
          </a:p>
        </p:txBody>
      </p:sp>
      <p:sp>
        <p:nvSpPr>
          <p:cNvPr id="22" name="TextBox 21"/>
          <p:cNvSpPr txBox="1"/>
          <p:nvPr/>
        </p:nvSpPr>
        <p:spPr>
          <a:xfrm>
            <a:off x="6096000" y="4191000"/>
            <a:ext cx="1524000" cy="707886"/>
          </a:xfrm>
          <a:prstGeom prst="rect">
            <a:avLst/>
          </a:prstGeom>
          <a:noFill/>
        </p:spPr>
        <p:txBody>
          <a:bodyPr wrap="square" rtlCol="0">
            <a:spAutoFit/>
          </a:bodyPr>
          <a:lstStyle/>
          <a:p>
            <a:r>
              <a:rPr lang="en-US" sz="2000" dirty="0"/>
              <a:t>Central Maximum</a:t>
            </a:r>
          </a:p>
        </p:txBody>
      </p:sp>
      <p:sp>
        <p:nvSpPr>
          <p:cNvPr id="24" name="Freeform 23"/>
          <p:cNvSpPr/>
          <p:nvPr/>
        </p:nvSpPr>
        <p:spPr>
          <a:xfrm>
            <a:off x="6725587" y="3672590"/>
            <a:ext cx="704538" cy="554636"/>
          </a:xfrm>
          <a:custGeom>
            <a:avLst/>
            <a:gdLst>
              <a:gd name="connsiteX0" fmla="*/ 0 w 704538"/>
              <a:gd name="connsiteY0" fmla="*/ 554636 h 554636"/>
              <a:gd name="connsiteX1" fmla="*/ 359764 w 704538"/>
              <a:gd name="connsiteY1" fmla="*/ 299803 h 554636"/>
              <a:gd name="connsiteX2" fmla="*/ 704538 w 704538"/>
              <a:gd name="connsiteY2" fmla="*/ 0 h 554636"/>
            </a:gdLst>
            <a:ahLst/>
            <a:cxnLst>
              <a:cxn ang="0">
                <a:pos x="connsiteX0" y="connsiteY0"/>
              </a:cxn>
              <a:cxn ang="0">
                <a:pos x="connsiteX1" y="connsiteY1"/>
              </a:cxn>
              <a:cxn ang="0">
                <a:pos x="connsiteX2" y="connsiteY2"/>
              </a:cxn>
            </a:cxnLst>
            <a:rect l="l" t="t" r="r" b="b"/>
            <a:pathLst>
              <a:path w="704538" h="554636">
                <a:moveTo>
                  <a:pt x="0" y="554636"/>
                </a:moveTo>
                <a:cubicBezTo>
                  <a:pt x="121170" y="473439"/>
                  <a:pt x="242341" y="392242"/>
                  <a:pt x="359764" y="299803"/>
                </a:cubicBezTo>
                <a:cubicBezTo>
                  <a:pt x="477187" y="207364"/>
                  <a:pt x="704538" y="0"/>
                  <a:pt x="704538" y="0"/>
                </a:cubicBezTo>
              </a:path>
            </a:pathLst>
          </a:custGeom>
          <a:ln>
            <a:solidFill>
              <a:schemeClr val="tx1"/>
            </a:solidFill>
            <a:tailEnd type="arrow"/>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5" name="TextBox 24"/>
          <p:cNvSpPr txBox="1"/>
          <p:nvPr/>
        </p:nvSpPr>
        <p:spPr>
          <a:xfrm>
            <a:off x="8229600" y="5029200"/>
            <a:ext cx="1524000" cy="707886"/>
          </a:xfrm>
          <a:prstGeom prst="rect">
            <a:avLst/>
          </a:prstGeom>
          <a:noFill/>
        </p:spPr>
        <p:txBody>
          <a:bodyPr wrap="square" rtlCol="0">
            <a:spAutoFit/>
          </a:bodyPr>
          <a:lstStyle/>
          <a:p>
            <a:r>
              <a:rPr lang="en-US" sz="2000" dirty="0"/>
              <a:t>Intensity Pattern</a:t>
            </a:r>
          </a:p>
        </p:txBody>
      </p:sp>
      <p:sp>
        <p:nvSpPr>
          <p:cNvPr id="26" name="TextBox 25"/>
          <p:cNvSpPr txBox="1"/>
          <p:nvPr/>
        </p:nvSpPr>
        <p:spPr>
          <a:xfrm>
            <a:off x="9144000" y="3200401"/>
            <a:ext cx="404278" cy="461665"/>
          </a:xfrm>
          <a:prstGeom prst="rect">
            <a:avLst/>
          </a:prstGeom>
          <a:noFill/>
        </p:spPr>
        <p:txBody>
          <a:bodyPr wrap="none" rtlCol="0">
            <a:spAutoFit/>
          </a:bodyPr>
          <a:lstStyle/>
          <a:p>
            <a:r>
              <a:rPr lang="en-US" sz="2400" dirty="0"/>
              <a:t>w</a:t>
            </a:r>
          </a:p>
        </p:txBody>
      </p:sp>
      <p:cxnSp>
        <p:nvCxnSpPr>
          <p:cNvPr id="27" name="Straight Arrow Connector 26"/>
          <p:cNvCxnSpPr/>
          <p:nvPr/>
        </p:nvCxnSpPr>
        <p:spPr>
          <a:xfrm flipV="1">
            <a:off x="9144000" y="2819400"/>
            <a:ext cx="0" cy="1219200"/>
          </a:xfrm>
          <a:prstGeom prst="straightConnector1">
            <a:avLst/>
          </a:prstGeom>
          <a:ln>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23" name="Straight Arrow Connector 22"/>
          <p:cNvCxnSpPr/>
          <p:nvPr/>
        </p:nvCxnSpPr>
        <p:spPr>
          <a:xfrm>
            <a:off x="2514600" y="5791200"/>
            <a:ext cx="6324600" cy="0"/>
          </a:xfrm>
          <a:prstGeom prst="straightConnector1">
            <a:avLst/>
          </a:prstGeom>
          <a:ln>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31" name="TextBox 30"/>
          <p:cNvSpPr txBox="1"/>
          <p:nvPr/>
        </p:nvSpPr>
        <p:spPr>
          <a:xfrm>
            <a:off x="5410200" y="5496580"/>
            <a:ext cx="335348" cy="523220"/>
          </a:xfrm>
          <a:prstGeom prst="rect">
            <a:avLst/>
          </a:prstGeom>
          <a:solidFill>
            <a:schemeClr val="bg1"/>
          </a:solidFill>
        </p:spPr>
        <p:txBody>
          <a:bodyPr wrap="none" rtlCol="0">
            <a:spAutoFit/>
          </a:bodyPr>
          <a:lstStyle/>
          <a:p>
            <a:r>
              <a:rPr lang="en-US" sz="2800" dirty="0"/>
              <a:t>L</a:t>
            </a:r>
          </a:p>
        </p:txBody>
      </p:sp>
    </p:spTree>
    <p:extLst>
      <p:ext uri="{BB962C8B-B14F-4D97-AF65-F5344CB8AC3E}">
        <p14:creationId xmlns:p14="http://schemas.microsoft.com/office/powerpoint/2010/main" val="2113687165"/>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pic>
        <p:nvPicPr>
          <p:cNvPr id="4098" name="Picture 2"/>
          <p:cNvPicPr>
            <a:picLocks noChangeAspect="1" noChangeArrowheads="1"/>
          </p:cNvPicPr>
          <p:nvPr/>
        </p:nvPicPr>
        <p:blipFill>
          <a:blip r:embed="rId2" cstate="print"/>
          <a:srcRect/>
          <a:stretch>
            <a:fillRect/>
          </a:stretch>
        </p:blipFill>
        <p:spPr bwMode="auto">
          <a:xfrm>
            <a:off x="1566912" y="304801"/>
            <a:ext cx="9024889" cy="6185067"/>
          </a:xfrm>
          <a:prstGeom prst="rect">
            <a:avLst/>
          </a:prstGeom>
          <a:noFill/>
          <a:ln w="9525">
            <a:noFill/>
            <a:miter lim="800000"/>
            <a:headEnd/>
            <a:tailEnd/>
          </a:ln>
          <a:effectLst/>
        </p:spPr>
      </p:pic>
    </p:spTree>
    <p:extLst>
      <p:ext uri="{BB962C8B-B14F-4D97-AF65-F5344CB8AC3E}">
        <p14:creationId xmlns:p14="http://schemas.microsoft.com/office/powerpoint/2010/main" val="318620714"/>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pic>
        <p:nvPicPr>
          <p:cNvPr id="5122" name="Picture 2"/>
          <p:cNvPicPr>
            <a:picLocks noChangeAspect="1" noChangeArrowheads="1"/>
          </p:cNvPicPr>
          <p:nvPr/>
        </p:nvPicPr>
        <p:blipFill>
          <a:blip r:embed="rId2" cstate="print"/>
          <a:srcRect/>
          <a:stretch>
            <a:fillRect/>
          </a:stretch>
        </p:blipFill>
        <p:spPr bwMode="auto">
          <a:xfrm>
            <a:off x="1981201" y="693270"/>
            <a:ext cx="7467599" cy="4971566"/>
          </a:xfrm>
          <a:prstGeom prst="rect">
            <a:avLst/>
          </a:prstGeom>
          <a:noFill/>
          <a:ln w="9525">
            <a:noFill/>
            <a:miter lim="800000"/>
            <a:headEnd/>
            <a:tailEnd/>
          </a:ln>
          <a:effectLst/>
        </p:spPr>
      </p:pic>
    </p:spTree>
    <p:extLst>
      <p:ext uri="{BB962C8B-B14F-4D97-AF65-F5344CB8AC3E}">
        <p14:creationId xmlns:p14="http://schemas.microsoft.com/office/powerpoint/2010/main" val="1674334504"/>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pic>
        <p:nvPicPr>
          <p:cNvPr id="6146" name="Picture 2"/>
          <p:cNvPicPr>
            <a:picLocks noChangeAspect="1" noChangeArrowheads="1"/>
          </p:cNvPicPr>
          <p:nvPr/>
        </p:nvPicPr>
        <p:blipFill>
          <a:blip r:embed="rId2" cstate="print"/>
          <a:srcRect/>
          <a:stretch>
            <a:fillRect/>
          </a:stretch>
        </p:blipFill>
        <p:spPr bwMode="auto">
          <a:xfrm>
            <a:off x="2590801" y="20448"/>
            <a:ext cx="7010399" cy="6823455"/>
          </a:xfrm>
          <a:prstGeom prst="rect">
            <a:avLst/>
          </a:prstGeom>
          <a:noFill/>
          <a:ln w="9525">
            <a:noFill/>
            <a:miter lim="800000"/>
            <a:headEnd/>
            <a:tailEnd/>
          </a:ln>
          <a:effectLst/>
        </p:spPr>
      </p:pic>
    </p:spTree>
    <p:extLst>
      <p:ext uri="{BB962C8B-B14F-4D97-AF65-F5344CB8AC3E}">
        <p14:creationId xmlns:p14="http://schemas.microsoft.com/office/powerpoint/2010/main" val="24707536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571</TotalTime>
  <Words>3317</Words>
  <Application>Microsoft Office PowerPoint</Application>
  <PresentationFormat>Widescreen</PresentationFormat>
  <Paragraphs>575</Paragraphs>
  <Slides>95</Slides>
  <Notes>1</Notes>
  <HiddenSlides>0</HiddenSlides>
  <MMClips>0</MMClips>
  <ScaleCrop>false</ScaleCrop>
  <HeadingPairs>
    <vt:vector size="8" baseType="variant">
      <vt:variant>
        <vt:lpstr>Fonts Used</vt:lpstr>
      </vt:variant>
      <vt:variant>
        <vt:i4>7</vt:i4>
      </vt:variant>
      <vt:variant>
        <vt:lpstr>Theme</vt:lpstr>
      </vt:variant>
      <vt:variant>
        <vt:i4>1</vt:i4>
      </vt:variant>
      <vt:variant>
        <vt:lpstr>Embedded OLE Servers</vt:lpstr>
      </vt:variant>
      <vt:variant>
        <vt:i4>2</vt:i4>
      </vt:variant>
      <vt:variant>
        <vt:lpstr>Slide Titles</vt:lpstr>
      </vt:variant>
      <vt:variant>
        <vt:i4>95</vt:i4>
      </vt:variant>
    </vt:vector>
  </HeadingPairs>
  <TitlesOfParts>
    <vt:vector size="105" baseType="lpstr">
      <vt:lpstr>Arial</vt:lpstr>
      <vt:lpstr>Calibri</vt:lpstr>
      <vt:lpstr>Calibri Light</vt:lpstr>
      <vt:lpstr>Symbol</vt:lpstr>
      <vt:lpstr>Tahoma</vt:lpstr>
      <vt:lpstr>Times New Roman</vt:lpstr>
      <vt:lpstr>UniversalMath1 BT</vt:lpstr>
      <vt:lpstr>Office Theme</vt:lpstr>
      <vt:lpstr>Clip</vt:lpstr>
      <vt:lpstr>Equation</vt:lpstr>
      <vt:lpstr>Lecture 11</vt:lpstr>
      <vt:lpstr>Question 223.10.1</vt:lpstr>
      <vt:lpstr>Question 223.10.2</vt:lpstr>
      <vt:lpstr>Question 223.10.3</vt:lpstr>
      <vt:lpstr>Question 223.10.4</vt:lpstr>
      <vt:lpstr>The Nature of Light</vt:lpstr>
      <vt:lpstr>Nature of Light – Alternative View</vt:lpstr>
      <vt:lpstr>PowerPoint Presentation</vt:lpstr>
      <vt:lpstr>Young’s Contribution</vt:lpstr>
      <vt:lpstr>Modern Scriptural Comments on Nature of Light</vt:lpstr>
      <vt:lpstr>Modern Scriptural Comments on Nature of Light</vt:lpstr>
      <vt:lpstr>PowerPoint Presentation</vt:lpstr>
      <vt:lpstr>More Confirmation of Wave Nature</vt:lpstr>
      <vt:lpstr>PowerPoint Presentation</vt:lpstr>
      <vt:lpstr>Particle Nature</vt:lpstr>
      <vt:lpstr>PowerPoint Presentation</vt:lpstr>
      <vt:lpstr>PowerPoint Presentation</vt:lpstr>
      <vt:lpstr>PowerPoint Presentation</vt:lpstr>
      <vt:lpstr>Particle Nature, cont.</vt:lpstr>
      <vt:lpstr>Dual Nature of Light</vt:lpstr>
      <vt:lpstr>PowerPoint Presentation</vt:lpstr>
      <vt:lpstr>Measurement of the Speed of Light</vt:lpstr>
      <vt:lpstr>Measurements of the Speed of Light</vt:lpstr>
      <vt:lpstr>Measurement of the Speed of Light – Roemer’s Method</vt:lpstr>
      <vt:lpstr>Roemer’s Method, cont.</vt:lpstr>
      <vt:lpstr>Measurements of the Speed of Light – Fizeau’s Method</vt:lpstr>
      <vt:lpstr>PowerPoint Presentation</vt:lpstr>
      <vt:lpstr>Fizeau’s Method, cont.</vt:lpstr>
      <vt:lpstr>Faster than light?</vt:lpstr>
      <vt:lpstr>PowerPoint Presentation</vt:lpstr>
      <vt:lpstr>Question 223.13.4</vt:lpstr>
      <vt:lpstr>Question 223.13.5</vt:lpstr>
      <vt:lpstr>PowerPoint Presentation</vt:lpstr>
      <vt:lpstr>Question 9.1</vt:lpstr>
      <vt:lpstr>PowerPoint Presentation</vt:lpstr>
      <vt:lpstr>PowerPoint Presentation</vt:lpstr>
      <vt:lpstr>Question 35.3.6</vt:lpstr>
      <vt:lpstr>PowerPoint Presentation</vt:lpstr>
      <vt:lpstr>PowerPoint Presentation</vt:lpstr>
      <vt:lpstr>Question 9.2</vt:lpstr>
      <vt:lpstr>Question 223.13.6</vt:lpstr>
      <vt:lpstr>Question 223.13.7</vt:lpstr>
      <vt:lpstr>PowerPoint Presentation</vt:lpstr>
      <vt:lpstr>Question 223.13.9</vt:lpstr>
      <vt:lpstr>Law of Reflection, cont.</vt:lpstr>
      <vt:lpstr>Retroreflection</vt:lpstr>
      <vt:lpstr>Retroreflectors</vt:lpstr>
      <vt:lpstr>Apollo Retro-reflectors</vt:lpstr>
      <vt:lpstr>Try it at Home</vt:lpstr>
      <vt:lpstr>Micro Mirror Arrays</vt:lpstr>
      <vt:lpstr>PowerPoint Presentation</vt:lpstr>
      <vt:lpstr>PowerPoint Presentation</vt:lpstr>
      <vt:lpstr>PowerPoint Presentation</vt:lpstr>
      <vt:lpstr>Question 223.13.10</vt:lpstr>
      <vt:lpstr>END</vt:lpstr>
      <vt:lpstr>Question</vt:lpstr>
      <vt:lpstr>PowerPoint Presentation</vt:lpstr>
      <vt:lpstr>PowerPoint Presentation</vt:lpstr>
      <vt:lpstr>PowerPoint Presentation</vt:lpstr>
      <vt:lpstr>PowerPoint Presentation</vt:lpstr>
      <vt:lpstr>Diffraction Grating Spectrometer</vt:lpstr>
      <vt:lpstr>Details</vt:lpstr>
      <vt:lpstr>Diffraction Grating, Intensity, cont.</vt:lpstr>
      <vt:lpstr>Grating Light Valve</vt:lpstr>
      <vt:lpstr>Resolving Power of a Diffraction Grating</vt:lpstr>
      <vt:lpstr>PowerPoint Presentation</vt:lpstr>
      <vt:lpstr>Resolving Power of a Diffraction Grating, cont</vt:lpstr>
      <vt:lpstr>AIRS</vt:lpstr>
      <vt:lpstr>Question 223.11.0.1</vt:lpstr>
      <vt:lpstr>Question 223.11.1</vt:lpstr>
      <vt:lpstr>Question 223.12.1</vt:lpstr>
      <vt:lpstr>PowerPoint Presentation</vt:lpstr>
      <vt:lpstr>Single-Slit Diffraction</vt:lpstr>
      <vt:lpstr>Diffraction Pattern, Single Slit</vt:lpstr>
      <vt:lpstr>Fraunhofer Diffraction Pattern</vt:lpstr>
      <vt:lpstr>Diffraction vs. Diffraction Pattern</vt:lpstr>
      <vt:lpstr>Single-Slit Diffraction</vt:lpstr>
      <vt:lpstr>Single-Slit Diffraction</vt:lpstr>
      <vt:lpstr>Single-Slit Diffraction, 2</vt:lpstr>
      <vt:lpstr>Single-Slit Diffraction, Analysis</vt:lpstr>
      <vt:lpstr>Diffraction from Narrow Slits</vt:lpstr>
      <vt:lpstr>Single-Slit Diffraction, Intensity</vt:lpstr>
      <vt:lpstr>Intensity</vt:lpstr>
      <vt:lpstr>sinc(x)</vt:lpstr>
      <vt:lpstr>(sinc(x))2</vt:lpstr>
      <vt:lpstr>PowerPoint Presentation</vt:lpstr>
      <vt:lpstr>Intensity of Two-Slit Diffraction Patterns</vt:lpstr>
      <vt:lpstr>Intensity Equation</vt:lpstr>
      <vt:lpstr>Missing Maxima</vt:lpstr>
      <vt:lpstr>PowerPoint Presentation</vt:lpstr>
      <vt:lpstr>PowerPoint Presentation</vt:lpstr>
      <vt:lpstr>PowerPoint Presentation</vt:lpstr>
      <vt:lpstr>PowerPoint Presentation</vt:lpstr>
      <vt:lpstr>PowerPoint Presentation</vt:lpstr>
      <vt:lpstr>PowerPoint Presentation</vt:lpstr>
    </vt:vector>
  </TitlesOfParts>
  <Company>Brigham Young University - Idaho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Lines, Todd</dc:creator>
  <cp:lastModifiedBy>Todd Lines</cp:lastModifiedBy>
  <cp:revision>7</cp:revision>
  <dcterms:created xsi:type="dcterms:W3CDTF">2017-01-30T16:47:41Z</dcterms:created>
  <dcterms:modified xsi:type="dcterms:W3CDTF">2026-08-26T18:58:06Z</dcterms:modified>
</cp:coreProperties>
</file>