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484" r:id="rId3"/>
    <p:sldId id="491" r:id="rId4"/>
    <p:sldId id="485" r:id="rId5"/>
    <p:sldId id="341" r:id="rId6"/>
    <p:sldId id="487" r:id="rId7"/>
    <p:sldId id="486" r:id="rId8"/>
    <p:sldId id="488" r:id="rId9"/>
    <p:sldId id="489" r:id="rId10"/>
    <p:sldId id="490" r:id="rId11"/>
    <p:sldId id="265" r:id="rId12"/>
    <p:sldId id="306" r:id="rId13"/>
    <p:sldId id="307" r:id="rId14"/>
    <p:sldId id="308" r:id="rId15"/>
    <p:sldId id="257" r:id="rId16"/>
    <p:sldId id="285" r:id="rId17"/>
    <p:sldId id="340"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90" y="7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08-26T22:03:56.481" v="1" actId="20577"/>
      <pc:docMkLst>
        <pc:docMk/>
      </pc:docMkLst>
      <pc:sldChg chg="modSp mod">
        <pc:chgData name="Todd Lines" userId="afaf7c3a-e8aa-4568-882a-02ad8f9e19b0" providerId="ADAL" clId="{5FF5AC1B-ABA9-43D7-A1E3-2D92732CD6E2}" dt="2026-08-26T22:03:56.481" v="1" actId="20577"/>
        <pc:sldMkLst>
          <pc:docMk/>
          <pc:sldMk cId="2198685155" sldId="256"/>
        </pc:sldMkLst>
        <pc:spChg chg="mod">
          <ac:chgData name="Todd Lines" userId="afaf7c3a-e8aa-4568-882a-02ad8f9e19b0" providerId="ADAL" clId="{5FF5AC1B-ABA9-43D7-A1E3-2D92732CD6E2}" dt="2026-08-26T22:03:56.481" v="1" actId="20577"/>
          <ac:spMkLst>
            <pc:docMk/>
            <pc:sldMk cId="2198685155" sldId="256"/>
            <ac:spMk id="2" creationId="{D4DF5993-F601-E2E9-268C-C8A5F1C288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4F4BC-BFC4-40B0-9118-9EF326193A8B}"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4E12B1-5FE8-4BDD-95CE-B4AA6E045624}" type="slidenum">
              <a:rPr lang="en-US" smtClean="0"/>
              <a:t>‹#›</a:t>
            </a:fld>
            <a:endParaRPr lang="en-US"/>
          </a:p>
        </p:txBody>
      </p:sp>
    </p:spTree>
    <p:extLst>
      <p:ext uri="{BB962C8B-B14F-4D97-AF65-F5344CB8AC3E}">
        <p14:creationId xmlns:p14="http://schemas.microsoft.com/office/powerpoint/2010/main" val="80793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E12B1-5FE8-4BDD-95CE-B4AA6E045624}" type="slidenum">
              <a:rPr lang="en-US" smtClean="0"/>
              <a:t>1</a:t>
            </a:fld>
            <a:endParaRPr lang="en-US"/>
          </a:p>
        </p:txBody>
      </p:sp>
    </p:spTree>
    <p:extLst>
      <p:ext uri="{BB962C8B-B14F-4D97-AF65-F5344CB8AC3E}">
        <p14:creationId xmlns:p14="http://schemas.microsoft.com/office/powerpoint/2010/main" val="404315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0A238-A1F3-A736-B7EC-976384423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144D96-A55B-A928-FA20-63E4A8CA4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8C9AC2-2E41-F679-20F6-61FA3E575FBC}"/>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E15EFFD9-63A4-95F1-7134-DCBFD68D53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4F844-2BD9-532B-E4D1-3F33DCB324C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107010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EC93-FCFF-CFDD-4100-D50E0A805B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215F6-2099-A6FE-C0D9-206B3A5381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6C8F4-48C8-E15D-8AB5-925B3112D4C4}"/>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62CE466C-D372-8FCB-0A16-17B2B4CB3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481E8-CC91-3401-9362-9280BD974C7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832763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E9C1-979D-710B-4456-AAA0751A1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4E0728-76C2-C078-38CA-8A55CB8E1F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88BA47-CD34-1443-A6D8-14A08684745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16C987B6-8B03-4F14-C2E1-305804B18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4784F-CAF1-FD20-5F39-86CEB2E0B866}"/>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258206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5969-8546-5A5D-98E8-A16D6293F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B9A55-5216-D38F-557F-FA1954B8B6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F609F8-4D12-CDAF-3FD6-F79D7A487E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7C9E50-828D-A311-F58C-B827C34C105D}"/>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67BB2294-7B60-7C60-25EF-1C902882AD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9177C3-1298-0EF5-1901-06C9852CAB13}"/>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557056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BCB8-D1E4-9777-0011-01FDACDB49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FEE2C2-764D-75DD-24B9-73235857A4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7F8EC7-720F-0895-8799-E66C5E3A7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4C5139-AC0A-1140-F5E3-2C82F7976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21314-BC77-19B8-7A01-CD1372834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B9B0E5-1504-5143-AF1B-473511F7F1A3}"/>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8" name="Footer Placeholder 7">
            <a:extLst>
              <a:ext uri="{FF2B5EF4-FFF2-40B4-BE49-F238E27FC236}">
                <a16:creationId xmlns:a16="http://schemas.microsoft.com/office/drawing/2014/main" id="{46E4D180-29BC-C360-E2B0-D84A10E1CF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A27357-D394-8720-E19D-AE9DC029339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02025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5D9F-0697-CCB7-3FEF-3509CB62B7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E8CFCF-3273-D533-141B-912368B99E5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4" name="Footer Placeholder 3">
            <a:extLst>
              <a:ext uri="{FF2B5EF4-FFF2-40B4-BE49-F238E27FC236}">
                <a16:creationId xmlns:a16="http://schemas.microsoft.com/office/drawing/2014/main" id="{72DD8AB2-6BC1-9F0A-B51F-E0F1B74DD9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61C1E7-17C5-8427-D5EA-B37DA81BE7BA}"/>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60027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D47E2-8AE0-57D9-5984-4766A9B48A22}"/>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3" name="Footer Placeholder 2">
            <a:extLst>
              <a:ext uri="{FF2B5EF4-FFF2-40B4-BE49-F238E27FC236}">
                <a16:creationId xmlns:a16="http://schemas.microsoft.com/office/drawing/2014/main" id="{D0ED9473-9F3D-858F-C6FD-B85F97C97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3F62CB-139D-7620-ED42-BC92C36E5D0E}"/>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0413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6A62-85E3-AB9D-747C-304B08BE0C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32B5E5-09CA-9B76-386D-31BE81B9EB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10C0A9-3DB9-19E8-1253-052B3383B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6731DE-A839-8BB8-651B-4A21E4F4708E}"/>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17A45950-5766-5EB3-3B8B-828778F07A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05604-BE60-FAFD-8FF8-5F1A34290241}"/>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58436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A40F-6F03-C9AF-67D8-ABD1A6D8A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5420F2-8849-F0DE-77D0-DAB4E4706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0A1F36-4666-8317-F4DF-A0BDE3B83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72E8E-CC8E-F008-00C2-766D03A893A3}"/>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24AC2C65-7674-57C7-14F0-20B552C56D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EBA09-DB23-74C5-4B72-46560157C07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704346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9FD8-1E16-3358-4807-3F350F3EAB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7AFB8B-13D3-C527-D52A-C0707B477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0F7BA-E6CB-DA75-18B2-FC1212534B9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68F42CC7-E532-A24A-7C49-43B9C14EF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C6A87-E964-9DFC-DB96-0BEEA57ACFCF}"/>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862217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35719-5A12-AE6C-AC40-EA037C32D1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BB5AC-DF35-267D-56A8-A3393CB56E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F54E9-849D-5C3D-C92C-E1CAA4C5EB6F}"/>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0D1C9AF2-12A9-85C9-AF49-F06B243E6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8DE94-282E-31B2-D26E-001B0F004BC9}"/>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670981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24461D-50F6-CB64-1395-874A57780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182433-F1E4-65F2-0F57-8DE47C7B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47706-E194-0E23-E386-CB12C837BA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794406C9-AD06-DC4D-3F26-D8C29CCE92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52DD70-A68A-28AE-68ED-BF50481DB0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9385CA-F897-4FBD-B109-3933BC619A39}" type="slidenum">
              <a:rPr lang="en-US" smtClean="0"/>
              <a:t>‹#›</a:t>
            </a:fld>
            <a:endParaRPr lang="en-US"/>
          </a:p>
        </p:txBody>
      </p:sp>
    </p:spTree>
    <p:extLst>
      <p:ext uri="{BB962C8B-B14F-4D97-AF65-F5344CB8AC3E}">
        <p14:creationId xmlns:p14="http://schemas.microsoft.com/office/powerpoint/2010/main" val="1434148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5993-F601-E2E9-268C-C8A5F1C288D8}"/>
              </a:ext>
            </a:extLst>
          </p:cNvPr>
          <p:cNvSpPr>
            <a:spLocks noGrp="1"/>
          </p:cNvSpPr>
          <p:nvPr>
            <p:ph type="ctrTitle"/>
          </p:nvPr>
        </p:nvSpPr>
        <p:spPr/>
        <p:txBody>
          <a:bodyPr/>
          <a:lstStyle/>
          <a:p>
            <a:r>
              <a:rPr lang="en-US" dirty="0"/>
              <a:t>Lecture 34</a:t>
            </a:r>
          </a:p>
        </p:txBody>
      </p:sp>
      <p:sp>
        <p:nvSpPr>
          <p:cNvPr id="3" name="Subtitle 2">
            <a:extLst>
              <a:ext uri="{FF2B5EF4-FFF2-40B4-BE49-F238E27FC236}">
                <a16:creationId xmlns:a16="http://schemas.microsoft.com/office/drawing/2014/main" id="{17020D93-E313-3C42-F245-7695576BCB8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98685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F43ACF25-DEF1-F1E0-E112-C04FCEC49AE5}"/>
              </a:ext>
            </a:extLst>
          </p:cNvPr>
          <p:cNvSpPr>
            <a:spLocks noGrp="1" noChangeArrowheads="1"/>
          </p:cNvSpPr>
          <p:nvPr>
            <p:ph type="title"/>
          </p:nvPr>
        </p:nvSpPr>
        <p:spPr/>
        <p:txBody>
          <a:bodyPr/>
          <a:lstStyle/>
          <a:p>
            <a:r>
              <a:rPr lang="en-US" altLang="en-US"/>
              <a:t>Question 123.11.4</a:t>
            </a:r>
          </a:p>
        </p:txBody>
      </p:sp>
      <p:sp>
        <p:nvSpPr>
          <p:cNvPr id="35843" name="Content Placeholder 2">
            <a:extLst>
              <a:ext uri="{FF2B5EF4-FFF2-40B4-BE49-F238E27FC236}">
                <a16:creationId xmlns:a16="http://schemas.microsoft.com/office/drawing/2014/main" id="{25E6F564-0ACC-BFA0-5D1C-098F0645008F}"/>
              </a:ext>
            </a:extLst>
          </p:cNvPr>
          <p:cNvSpPr>
            <a:spLocks noGrp="1" noChangeArrowheads="1"/>
          </p:cNvSpPr>
          <p:nvPr>
            <p:ph idx="1"/>
          </p:nvPr>
        </p:nvSpPr>
        <p:spPr/>
        <p:txBody>
          <a:bodyPr/>
          <a:lstStyle/>
          <a:p>
            <a:pPr>
              <a:buFontTx/>
              <a:buNone/>
            </a:pPr>
            <a:r>
              <a:rPr lang="en-US" altLang="en-US" dirty="0"/>
              <a:t>You put a gas in a cylinder with a piston through a process that changes the temperature. </a:t>
            </a:r>
            <a:r>
              <a:rPr lang="en-US" altLang="en-US"/>
              <a:t>Can Q = 0</a:t>
            </a:r>
            <a:r>
              <a:rPr lang="en-US" altLang="en-US" dirty="0"/>
              <a:t>?</a:t>
            </a:r>
          </a:p>
          <a:p>
            <a:pPr>
              <a:buFontTx/>
              <a:buAutoNum type="alphaLcParenR"/>
            </a:pPr>
            <a:r>
              <a:rPr lang="en-US" altLang="en-US" dirty="0"/>
              <a:t>Yes, if it is the right process</a:t>
            </a:r>
          </a:p>
          <a:p>
            <a:pPr>
              <a:buFontTx/>
              <a:buAutoNum type="alphaLcParenR"/>
            </a:pPr>
            <a:r>
              <a:rPr lang="en-US" altLang="en-US" dirty="0"/>
              <a:t>No</a:t>
            </a:r>
          </a:p>
          <a:p>
            <a:pPr>
              <a:buFontTx/>
              <a:buAutoNum type="alphaLcParenR"/>
            </a:pPr>
            <a:r>
              <a:rPr lang="en-US" altLang="en-US" dirty="0"/>
              <a:t>Maybe</a:t>
            </a:r>
          </a:p>
        </p:txBody>
      </p:sp>
      <p:sp>
        <p:nvSpPr>
          <p:cNvPr id="35844" name="Slide Number Placeholder 3">
            <a:extLst>
              <a:ext uri="{FF2B5EF4-FFF2-40B4-BE49-F238E27FC236}">
                <a16:creationId xmlns:a16="http://schemas.microsoft.com/office/drawing/2014/main" id="{57E8B4B4-1F76-2700-68DE-DCC42345C3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DC6CAC7-B115-4CA8-825E-3F1ADFC365D7}" type="slidenum">
              <a:rPr lang="en-US" altLang="en-US" sz="1800"/>
              <a:pPr>
                <a:spcBef>
                  <a:spcPct val="0"/>
                </a:spcBef>
                <a:buFontTx/>
                <a:buNone/>
              </a:pPr>
              <a:t>2</a:t>
            </a:fld>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89B8B6E3-A1C6-A3B7-DB90-5A8F6EE766E7}"/>
              </a:ext>
            </a:extLst>
          </p:cNvPr>
          <p:cNvSpPr/>
          <p:nvPr/>
        </p:nvSpPr>
        <p:spPr>
          <a:xfrm>
            <a:off x="6650617" y="1975365"/>
            <a:ext cx="2343150" cy="666750"/>
          </a:xfrm>
          <a:prstGeom prst="ellipse">
            <a:avLst/>
          </a:prstGeom>
          <a:solidFill>
            <a:schemeClr val="bg1">
              <a:lumMod val="5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C0C1B29-7B7D-1262-2242-2F09343BBAA1}"/>
              </a:ext>
            </a:extLst>
          </p:cNvPr>
          <p:cNvSpPr/>
          <p:nvPr/>
        </p:nvSpPr>
        <p:spPr>
          <a:xfrm>
            <a:off x="6756667" y="2065956"/>
            <a:ext cx="2133506" cy="456731"/>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92237C2-F4CC-BD5E-520B-FD8603FB6A5B}"/>
              </a:ext>
            </a:extLst>
          </p:cNvPr>
          <p:cNvSpPr/>
          <p:nvPr/>
        </p:nvSpPr>
        <p:spPr>
          <a:xfrm>
            <a:off x="6655381" y="4499551"/>
            <a:ext cx="2343150" cy="66675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9A70D16-38EC-FA1F-2067-91F7317D8F7B}"/>
              </a:ext>
            </a:extLst>
          </p:cNvPr>
          <p:cNvSpPr/>
          <p:nvPr/>
        </p:nvSpPr>
        <p:spPr>
          <a:xfrm>
            <a:off x="6765739" y="4599712"/>
            <a:ext cx="2133506" cy="467151"/>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08AE5275-D8AC-A14B-69B4-DE5098F7523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400"/>
          <a:stretch>
            <a:fillRect/>
          </a:stretch>
        </p:blipFill>
        <p:spPr bwMode="auto">
          <a:xfrm>
            <a:off x="1963505" y="1587306"/>
            <a:ext cx="3826741" cy="3479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a:extLst>
              <a:ext uri="{FF2B5EF4-FFF2-40B4-BE49-F238E27FC236}">
                <a16:creationId xmlns:a16="http://schemas.microsoft.com/office/drawing/2014/main" id="{8298ACB4-1ECF-EA3C-D73B-588F988C32A1}"/>
              </a:ext>
            </a:extLst>
          </p:cNvPr>
          <p:cNvSpPr/>
          <p:nvPr/>
        </p:nvSpPr>
        <p:spPr>
          <a:xfrm>
            <a:off x="6650617" y="2298268"/>
            <a:ext cx="2343150" cy="252571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8E6AC44-F52A-570B-C93E-E3600DC4B4FA}"/>
              </a:ext>
            </a:extLst>
          </p:cNvPr>
          <p:cNvSpPr/>
          <p:nvPr/>
        </p:nvSpPr>
        <p:spPr>
          <a:xfrm>
            <a:off x="6963859" y="4654672"/>
            <a:ext cx="1737264" cy="354736"/>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C20913B-8E23-DFA4-8795-0B8686517F01}"/>
              </a:ext>
            </a:extLst>
          </p:cNvPr>
          <p:cNvSpPr/>
          <p:nvPr/>
        </p:nvSpPr>
        <p:spPr>
          <a:xfrm>
            <a:off x="7097496" y="4665164"/>
            <a:ext cx="1504569" cy="307370"/>
          </a:xfrm>
          <a:prstGeom prst="ellipse">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C43CEA2-F7E4-B221-5BCF-9E13F2F11BCF}"/>
              </a:ext>
            </a:extLst>
          </p:cNvPr>
          <p:cNvSpPr/>
          <p:nvPr/>
        </p:nvSpPr>
        <p:spPr>
          <a:xfrm>
            <a:off x="7093530" y="2302886"/>
            <a:ext cx="1504569" cy="2525712"/>
          </a:xfrm>
          <a:prstGeom prst="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20913B-8E23-DFA4-8795-0B8686517F01}"/>
              </a:ext>
            </a:extLst>
          </p:cNvPr>
          <p:cNvSpPr/>
          <p:nvPr/>
        </p:nvSpPr>
        <p:spPr>
          <a:xfrm>
            <a:off x="7090505" y="4668912"/>
            <a:ext cx="1504569" cy="303622"/>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0B3F9A9-49AE-1BEB-DEC3-39A0955558B7}"/>
              </a:ext>
            </a:extLst>
          </p:cNvPr>
          <p:cNvSpPr/>
          <p:nvPr/>
        </p:nvSpPr>
        <p:spPr>
          <a:xfrm>
            <a:off x="6953560" y="2159238"/>
            <a:ext cx="1737264" cy="35222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ylinder 25">
            <a:extLst>
              <a:ext uri="{FF2B5EF4-FFF2-40B4-BE49-F238E27FC236}">
                <a16:creationId xmlns:a16="http://schemas.microsoft.com/office/drawing/2014/main" id="{0855BDB8-A1CF-2ACF-A14A-259EB6C50C5C}"/>
              </a:ext>
            </a:extLst>
          </p:cNvPr>
          <p:cNvSpPr/>
          <p:nvPr/>
        </p:nvSpPr>
        <p:spPr>
          <a:xfrm>
            <a:off x="7078125" y="2291786"/>
            <a:ext cx="1523939" cy="535173"/>
          </a:xfrm>
          <a:prstGeom prst="can">
            <a:avLst>
              <a:gd name="adj" fmla="val 50000"/>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DE87A87-C22C-7AFE-78B3-4AFDE8C44449}"/>
              </a:ext>
            </a:extLst>
          </p:cNvPr>
          <p:cNvSpPr/>
          <p:nvPr/>
        </p:nvSpPr>
        <p:spPr>
          <a:xfrm>
            <a:off x="6647696" y="2298268"/>
            <a:ext cx="439887" cy="2521712"/>
          </a:xfrm>
          <a:prstGeom prst="rect">
            <a:avLst/>
          </a:prstGeom>
          <a:solidFill>
            <a:schemeClr val="bg1">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6E333-C323-609E-2C24-7D94919D03AA}"/>
              </a:ext>
            </a:extLst>
          </p:cNvPr>
          <p:cNvSpPr/>
          <p:nvPr/>
        </p:nvSpPr>
        <p:spPr>
          <a:xfrm>
            <a:off x="6770276" y="2311504"/>
            <a:ext cx="198120" cy="25084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7BEBAC5-78D1-8695-574B-7DC4F4259B85}"/>
              </a:ext>
            </a:extLst>
          </p:cNvPr>
          <p:cNvSpPr/>
          <p:nvPr/>
        </p:nvSpPr>
        <p:spPr>
          <a:xfrm>
            <a:off x="8598144" y="2301070"/>
            <a:ext cx="395578" cy="2518910"/>
          </a:xfrm>
          <a:prstGeom prst="rect">
            <a:avLst/>
          </a:prstGeom>
          <a:solidFill>
            <a:schemeClr val="bg1">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F7C406B-1F76-26C7-8B1D-253140385A24}"/>
              </a:ext>
            </a:extLst>
          </p:cNvPr>
          <p:cNvSpPr/>
          <p:nvPr/>
        </p:nvSpPr>
        <p:spPr>
          <a:xfrm>
            <a:off x="8696587" y="2312740"/>
            <a:ext cx="202655" cy="25072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c 33">
            <a:extLst>
              <a:ext uri="{FF2B5EF4-FFF2-40B4-BE49-F238E27FC236}">
                <a16:creationId xmlns:a16="http://schemas.microsoft.com/office/drawing/2014/main" id="{442A1DB1-BDD0-96C5-CCD0-47094D72A1F3}"/>
              </a:ext>
            </a:extLst>
          </p:cNvPr>
          <p:cNvSpPr/>
          <p:nvPr/>
        </p:nvSpPr>
        <p:spPr>
          <a:xfrm>
            <a:off x="7079189" y="2195959"/>
            <a:ext cx="1504569" cy="248714"/>
          </a:xfrm>
          <a:prstGeom prst="arc">
            <a:avLst>
              <a:gd name="adj1" fmla="val 10834829"/>
              <a:gd name="adj2" fmla="val 0"/>
            </a:avLst>
          </a:prstGeom>
          <a:ln w="952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7" name="Cylinder 26">
            <a:extLst>
              <a:ext uri="{FF2B5EF4-FFF2-40B4-BE49-F238E27FC236}">
                <a16:creationId xmlns:a16="http://schemas.microsoft.com/office/drawing/2014/main" id="{97C9F5F0-DA83-014B-B52C-A9989287E00D}"/>
              </a:ext>
            </a:extLst>
          </p:cNvPr>
          <p:cNvSpPr/>
          <p:nvPr/>
        </p:nvSpPr>
        <p:spPr>
          <a:xfrm>
            <a:off x="7502310" y="1514110"/>
            <a:ext cx="596612" cy="905656"/>
          </a:xfrm>
          <a:prstGeom prst="can">
            <a:avLst>
              <a:gd name="adj" fmla="val 15479"/>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164F363-7B4B-E628-C5E8-4952D796471C}"/>
              </a:ext>
            </a:extLst>
          </p:cNvPr>
          <p:cNvSpPr txBox="1"/>
          <p:nvPr/>
        </p:nvSpPr>
        <p:spPr>
          <a:xfrm>
            <a:off x="9603816" y="2819217"/>
            <a:ext cx="1238352" cy="369332"/>
          </a:xfrm>
          <a:prstGeom prst="rect">
            <a:avLst/>
          </a:prstGeom>
          <a:noFill/>
        </p:spPr>
        <p:txBody>
          <a:bodyPr wrap="none" rtlCol="0">
            <a:spAutoFit/>
          </a:bodyPr>
          <a:lstStyle/>
          <a:p>
            <a:r>
              <a:rPr lang="en-US" dirty="0"/>
              <a:t>Outer Wall</a:t>
            </a:r>
          </a:p>
        </p:txBody>
      </p:sp>
      <p:sp>
        <p:nvSpPr>
          <p:cNvPr id="3" name="TextBox 2">
            <a:extLst>
              <a:ext uri="{FF2B5EF4-FFF2-40B4-BE49-F238E27FC236}">
                <a16:creationId xmlns:a16="http://schemas.microsoft.com/office/drawing/2014/main" id="{875B9F74-81CF-3B10-4FB6-FBEB22837005}"/>
              </a:ext>
            </a:extLst>
          </p:cNvPr>
          <p:cNvSpPr txBox="1"/>
          <p:nvPr/>
        </p:nvSpPr>
        <p:spPr>
          <a:xfrm>
            <a:off x="9806723" y="3397161"/>
            <a:ext cx="1006366" cy="369332"/>
          </a:xfrm>
          <a:prstGeom prst="rect">
            <a:avLst/>
          </a:prstGeom>
          <a:noFill/>
        </p:spPr>
        <p:txBody>
          <a:bodyPr wrap="none" rtlCol="0">
            <a:spAutoFit/>
          </a:bodyPr>
          <a:lstStyle/>
          <a:p>
            <a:r>
              <a:rPr lang="en-US" dirty="0"/>
              <a:t>Vacuum</a:t>
            </a:r>
          </a:p>
        </p:txBody>
      </p:sp>
      <p:sp>
        <p:nvSpPr>
          <p:cNvPr id="5" name="TextBox 4">
            <a:extLst>
              <a:ext uri="{FF2B5EF4-FFF2-40B4-BE49-F238E27FC236}">
                <a16:creationId xmlns:a16="http://schemas.microsoft.com/office/drawing/2014/main" id="{8F210133-1F63-43BD-EE09-C65FB0945E1D}"/>
              </a:ext>
            </a:extLst>
          </p:cNvPr>
          <p:cNvSpPr txBox="1"/>
          <p:nvPr/>
        </p:nvSpPr>
        <p:spPr>
          <a:xfrm>
            <a:off x="9632894" y="4290565"/>
            <a:ext cx="1180195" cy="369332"/>
          </a:xfrm>
          <a:prstGeom prst="rect">
            <a:avLst/>
          </a:prstGeom>
          <a:noFill/>
        </p:spPr>
        <p:txBody>
          <a:bodyPr wrap="none" rtlCol="0">
            <a:spAutoFit/>
          </a:bodyPr>
          <a:lstStyle/>
          <a:p>
            <a:r>
              <a:rPr lang="en-US" dirty="0"/>
              <a:t>Inner Wall</a:t>
            </a:r>
          </a:p>
        </p:txBody>
      </p:sp>
      <p:sp>
        <p:nvSpPr>
          <p:cNvPr id="6" name="TextBox 5">
            <a:extLst>
              <a:ext uri="{FF2B5EF4-FFF2-40B4-BE49-F238E27FC236}">
                <a16:creationId xmlns:a16="http://schemas.microsoft.com/office/drawing/2014/main" id="{50C5AD2D-A3D3-4A77-009D-2214784A808B}"/>
              </a:ext>
            </a:extLst>
          </p:cNvPr>
          <p:cNvSpPr txBox="1"/>
          <p:nvPr/>
        </p:nvSpPr>
        <p:spPr>
          <a:xfrm>
            <a:off x="9517617" y="2064381"/>
            <a:ext cx="1741054" cy="646331"/>
          </a:xfrm>
          <a:prstGeom prst="rect">
            <a:avLst/>
          </a:prstGeom>
          <a:noFill/>
        </p:spPr>
        <p:txBody>
          <a:bodyPr wrap="none" rtlCol="0">
            <a:spAutoFit/>
          </a:bodyPr>
          <a:lstStyle/>
          <a:p>
            <a:r>
              <a:rPr lang="en-US" dirty="0"/>
              <a:t>Silvered Interior</a:t>
            </a:r>
          </a:p>
          <a:p>
            <a:r>
              <a:rPr lang="en-US" dirty="0"/>
              <a:t>filled with gas</a:t>
            </a:r>
          </a:p>
        </p:txBody>
      </p:sp>
      <p:sp>
        <p:nvSpPr>
          <p:cNvPr id="7" name="Freeform: Shape 6">
            <a:extLst>
              <a:ext uri="{FF2B5EF4-FFF2-40B4-BE49-F238E27FC236}">
                <a16:creationId xmlns:a16="http://schemas.microsoft.com/office/drawing/2014/main" id="{431DE04B-62F0-9B3E-A268-7617D4F0D5F3}"/>
              </a:ext>
            </a:extLst>
          </p:cNvPr>
          <p:cNvSpPr/>
          <p:nvPr/>
        </p:nvSpPr>
        <p:spPr>
          <a:xfrm>
            <a:off x="9007376" y="3075603"/>
            <a:ext cx="661179" cy="283464"/>
          </a:xfrm>
          <a:custGeom>
            <a:avLst/>
            <a:gdLst>
              <a:gd name="csX0" fmla="*/ 1042416 w 1042416"/>
              <a:gd name="csY0" fmla="*/ 0 h 283464"/>
              <a:gd name="csX1" fmla="*/ 502920 w 1042416"/>
              <a:gd name="csY1" fmla="*/ 173736 h 283464"/>
              <a:gd name="csX2" fmla="*/ 0 w 1042416"/>
              <a:gd name="csY2" fmla="*/ 283464 h 283464"/>
            </a:gdLst>
            <a:ahLst/>
            <a:cxnLst>
              <a:cxn ang="0">
                <a:pos x="csX0" y="csY0"/>
              </a:cxn>
              <a:cxn ang="0">
                <a:pos x="csX1" y="csY1"/>
              </a:cxn>
              <a:cxn ang="0">
                <a:pos x="csX2" y="csY2"/>
              </a:cxn>
            </a:cxnLst>
            <a:rect l="l" t="t" r="r" b="b"/>
            <a:pathLst>
              <a:path w="1042416" h="283464">
                <a:moveTo>
                  <a:pt x="1042416" y="0"/>
                </a:moveTo>
                <a:cubicBezTo>
                  <a:pt x="859536" y="63246"/>
                  <a:pt x="676656" y="126492"/>
                  <a:pt x="502920" y="173736"/>
                </a:cubicBezTo>
                <a:cubicBezTo>
                  <a:pt x="329184" y="220980"/>
                  <a:pt x="164592" y="252222"/>
                  <a:pt x="0" y="283464"/>
                </a:cubicBezTo>
              </a:path>
            </a:pathLst>
          </a:custGeom>
          <a:noFill/>
          <a:ln w="127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527EE164-82C6-B656-CC56-D5CD91159A8F}"/>
              </a:ext>
            </a:extLst>
          </p:cNvPr>
          <p:cNvSpPr/>
          <p:nvPr/>
        </p:nvSpPr>
        <p:spPr>
          <a:xfrm>
            <a:off x="8794064" y="3587751"/>
            <a:ext cx="1006366" cy="287247"/>
          </a:xfrm>
          <a:custGeom>
            <a:avLst/>
            <a:gdLst>
              <a:gd name="csX0" fmla="*/ 1042416 w 1042416"/>
              <a:gd name="csY0" fmla="*/ 0 h 283464"/>
              <a:gd name="csX1" fmla="*/ 502920 w 1042416"/>
              <a:gd name="csY1" fmla="*/ 173736 h 283464"/>
              <a:gd name="csX2" fmla="*/ 0 w 1042416"/>
              <a:gd name="csY2" fmla="*/ 283464 h 283464"/>
            </a:gdLst>
            <a:ahLst/>
            <a:cxnLst>
              <a:cxn ang="0">
                <a:pos x="csX0" y="csY0"/>
              </a:cxn>
              <a:cxn ang="0">
                <a:pos x="csX1" y="csY1"/>
              </a:cxn>
              <a:cxn ang="0">
                <a:pos x="csX2" y="csY2"/>
              </a:cxn>
            </a:cxnLst>
            <a:rect l="l" t="t" r="r" b="b"/>
            <a:pathLst>
              <a:path w="1042416" h="283464">
                <a:moveTo>
                  <a:pt x="1042416" y="0"/>
                </a:moveTo>
                <a:cubicBezTo>
                  <a:pt x="859536" y="63246"/>
                  <a:pt x="676656" y="126492"/>
                  <a:pt x="502920" y="173736"/>
                </a:cubicBezTo>
                <a:cubicBezTo>
                  <a:pt x="329184" y="220980"/>
                  <a:pt x="164592" y="252222"/>
                  <a:pt x="0" y="283464"/>
                </a:cubicBezTo>
              </a:path>
            </a:pathLst>
          </a:custGeom>
          <a:noFill/>
          <a:ln w="127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ADF0F47-A5B0-3CED-CEF5-1618CAE12199}"/>
              </a:ext>
            </a:extLst>
          </p:cNvPr>
          <p:cNvSpPr/>
          <p:nvPr/>
        </p:nvSpPr>
        <p:spPr>
          <a:xfrm>
            <a:off x="8662189" y="4451158"/>
            <a:ext cx="1006366" cy="131170"/>
          </a:xfrm>
          <a:custGeom>
            <a:avLst/>
            <a:gdLst>
              <a:gd name="csX0" fmla="*/ 1042416 w 1042416"/>
              <a:gd name="csY0" fmla="*/ 0 h 283464"/>
              <a:gd name="csX1" fmla="*/ 502920 w 1042416"/>
              <a:gd name="csY1" fmla="*/ 173736 h 283464"/>
              <a:gd name="csX2" fmla="*/ 0 w 1042416"/>
              <a:gd name="csY2" fmla="*/ 283464 h 283464"/>
            </a:gdLst>
            <a:ahLst/>
            <a:cxnLst>
              <a:cxn ang="0">
                <a:pos x="csX0" y="csY0"/>
              </a:cxn>
              <a:cxn ang="0">
                <a:pos x="csX1" y="csY1"/>
              </a:cxn>
              <a:cxn ang="0">
                <a:pos x="csX2" y="csY2"/>
              </a:cxn>
            </a:cxnLst>
            <a:rect l="l" t="t" r="r" b="b"/>
            <a:pathLst>
              <a:path w="1042416" h="283464">
                <a:moveTo>
                  <a:pt x="1042416" y="0"/>
                </a:moveTo>
                <a:cubicBezTo>
                  <a:pt x="859536" y="63246"/>
                  <a:pt x="676656" y="126492"/>
                  <a:pt x="502920" y="173736"/>
                </a:cubicBezTo>
                <a:cubicBezTo>
                  <a:pt x="329184" y="220980"/>
                  <a:pt x="164592" y="252222"/>
                  <a:pt x="0" y="283464"/>
                </a:cubicBezTo>
              </a:path>
            </a:pathLst>
          </a:custGeom>
          <a:noFill/>
          <a:ln w="127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70563D98-10D8-ED0C-0DBA-A6DED290534E}"/>
              </a:ext>
            </a:extLst>
          </p:cNvPr>
          <p:cNvSpPr/>
          <p:nvPr/>
        </p:nvSpPr>
        <p:spPr>
          <a:xfrm>
            <a:off x="8244867" y="2442099"/>
            <a:ext cx="1238352" cy="905656"/>
          </a:xfrm>
          <a:custGeom>
            <a:avLst/>
            <a:gdLst>
              <a:gd name="csX0" fmla="*/ 1042416 w 1042416"/>
              <a:gd name="csY0" fmla="*/ 0 h 283464"/>
              <a:gd name="csX1" fmla="*/ 502920 w 1042416"/>
              <a:gd name="csY1" fmla="*/ 173736 h 283464"/>
              <a:gd name="csX2" fmla="*/ 0 w 1042416"/>
              <a:gd name="csY2" fmla="*/ 283464 h 283464"/>
            </a:gdLst>
            <a:ahLst/>
            <a:cxnLst>
              <a:cxn ang="0">
                <a:pos x="csX0" y="csY0"/>
              </a:cxn>
              <a:cxn ang="0">
                <a:pos x="csX1" y="csY1"/>
              </a:cxn>
              <a:cxn ang="0">
                <a:pos x="csX2" y="csY2"/>
              </a:cxn>
            </a:cxnLst>
            <a:rect l="l" t="t" r="r" b="b"/>
            <a:pathLst>
              <a:path w="1042416" h="283464">
                <a:moveTo>
                  <a:pt x="1042416" y="0"/>
                </a:moveTo>
                <a:cubicBezTo>
                  <a:pt x="859536" y="63246"/>
                  <a:pt x="676656" y="126492"/>
                  <a:pt x="502920" y="173736"/>
                </a:cubicBezTo>
                <a:cubicBezTo>
                  <a:pt x="329184" y="220980"/>
                  <a:pt x="164592" y="252222"/>
                  <a:pt x="0" y="283464"/>
                </a:cubicBezTo>
              </a:path>
            </a:pathLst>
          </a:custGeom>
          <a:noFill/>
          <a:ln w="127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15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F1B2-C636-F26E-1AE6-A14E36C7BDCC}"/>
            </a:ext>
          </a:extLst>
        </p:cNvPr>
        <p:cNvGrpSpPr/>
        <p:nvPr/>
      </p:nvGrpSpPr>
      <p:grpSpPr>
        <a:xfrm>
          <a:off x="0" y="0"/>
          <a:ext cx="0" cy="0"/>
          <a:chOff x="0" y="0"/>
          <a:chExt cx="0" cy="0"/>
        </a:xfrm>
      </p:grpSpPr>
      <p:sp>
        <p:nvSpPr>
          <p:cNvPr id="35842" name="Title 1">
            <a:extLst>
              <a:ext uri="{FF2B5EF4-FFF2-40B4-BE49-F238E27FC236}">
                <a16:creationId xmlns:a16="http://schemas.microsoft.com/office/drawing/2014/main" id="{E5D43F17-A7AA-2648-7985-50828A29E95D}"/>
              </a:ext>
            </a:extLst>
          </p:cNvPr>
          <p:cNvSpPr>
            <a:spLocks noGrp="1" noChangeArrowheads="1"/>
          </p:cNvSpPr>
          <p:nvPr>
            <p:ph type="title"/>
          </p:nvPr>
        </p:nvSpPr>
        <p:spPr/>
        <p:txBody>
          <a:bodyPr/>
          <a:lstStyle/>
          <a:p>
            <a:r>
              <a:rPr lang="en-US" altLang="en-US"/>
              <a:t>Question 123.11.4</a:t>
            </a:r>
          </a:p>
        </p:txBody>
      </p:sp>
      <p:sp>
        <p:nvSpPr>
          <p:cNvPr id="35843" name="Content Placeholder 2">
            <a:extLst>
              <a:ext uri="{FF2B5EF4-FFF2-40B4-BE49-F238E27FC236}">
                <a16:creationId xmlns:a16="http://schemas.microsoft.com/office/drawing/2014/main" id="{0880A836-F3E8-694F-BE88-C7B0C83B8377}"/>
              </a:ext>
            </a:extLst>
          </p:cNvPr>
          <p:cNvSpPr>
            <a:spLocks noGrp="1" noChangeArrowheads="1"/>
          </p:cNvSpPr>
          <p:nvPr>
            <p:ph idx="1"/>
          </p:nvPr>
        </p:nvSpPr>
        <p:spPr/>
        <p:txBody>
          <a:bodyPr/>
          <a:lstStyle/>
          <a:p>
            <a:pPr>
              <a:buFontTx/>
              <a:buNone/>
            </a:pPr>
            <a:r>
              <a:rPr lang="en-US" altLang="en-US" dirty="0"/>
              <a:t>We can have a process where Q = 0? What do we call that process?</a:t>
            </a:r>
          </a:p>
          <a:p>
            <a:pPr marL="514350" indent="-514350">
              <a:buFont typeface="+mj-lt"/>
              <a:buAutoNum type="alphaLcParenR"/>
            </a:pPr>
            <a:r>
              <a:rPr lang="en-US" dirty="0"/>
              <a:t>Isobaric</a:t>
            </a:r>
          </a:p>
          <a:p>
            <a:pPr marL="514350" indent="-514350">
              <a:buFont typeface="+mj-lt"/>
              <a:buAutoNum type="alphaLcParenR"/>
            </a:pPr>
            <a:r>
              <a:rPr lang="en-US" dirty="0"/>
              <a:t>Isochoric</a:t>
            </a:r>
          </a:p>
          <a:p>
            <a:pPr marL="514350" indent="-514350">
              <a:buFont typeface="+mj-lt"/>
              <a:buAutoNum type="alphaLcParenR"/>
            </a:pPr>
            <a:r>
              <a:rPr lang="en-US" dirty="0"/>
              <a:t>Adiabatic</a:t>
            </a:r>
          </a:p>
          <a:p>
            <a:pPr marL="514350" indent="-514350">
              <a:buFont typeface="+mj-lt"/>
              <a:buAutoNum type="alphaLcParenR"/>
            </a:pPr>
            <a:r>
              <a:rPr lang="en-US" dirty="0"/>
              <a:t>Isothermal</a:t>
            </a:r>
          </a:p>
        </p:txBody>
      </p:sp>
      <p:sp>
        <p:nvSpPr>
          <p:cNvPr id="35844" name="Slide Number Placeholder 3">
            <a:extLst>
              <a:ext uri="{FF2B5EF4-FFF2-40B4-BE49-F238E27FC236}">
                <a16:creationId xmlns:a16="http://schemas.microsoft.com/office/drawing/2014/main" id="{1F23F20B-1AE1-D064-E6B6-EA8701D98B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DC6CAC7-B115-4CA8-825E-3F1ADFC365D7}" type="slidenum">
              <a:rPr lang="en-US" altLang="en-US" sz="1800"/>
              <a:pPr>
                <a:spcBef>
                  <a:spcPct val="0"/>
                </a:spcBef>
                <a:buFontTx/>
                <a:buNone/>
              </a:pPr>
              <a:t>4</a:t>
            </a:fld>
            <a:endParaRPr lang="en-US" altLang="en-US" sz="1800"/>
          </a:p>
        </p:txBody>
      </p:sp>
    </p:spTree>
    <p:extLst>
      <p:ext uri="{BB962C8B-B14F-4D97-AF65-F5344CB8AC3E}">
        <p14:creationId xmlns:p14="http://schemas.microsoft.com/office/powerpoint/2010/main" val="3842804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9C3FC7-9DC0-D72B-55CE-8DD1D7DED647}"/>
              </a:ext>
            </a:extLst>
          </p:cNvPr>
          <p:cNvPicPr>
            <a:picLocks noChangeAspect="1"/>
          </p:cNvPicPr>
          <p:nvPr/>
        </p:nvPicPr>
        <p:blipFill>
          <a:blip r:embed="rId2"/>
          <a:stretch>
            <a:fillRect/>
          </a:stretch>
        </p:blipFill>
        <p:spPr>
          <a:xfrm>
            <a:off x="2147772" y="809625"/>
            <a:ext cx="7224827" cy="4793170"/>
          </a:xfrm>
          <a:prstGeom prst="rect">
            <a:avLst/>
          </a:prstGeom>
        </p:spPr>
      </p:pic>
    </p:spTree>
    <p:extLst>
      <p:ext uri="{BB962C8B-B14F-4D97-AF65-F5344CB8AC3E}">
        <p14:creationId xmlns:p14="http://schemas.microsoft.com/office/powerpoint/2010/main" val="3556862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10E40-E486-E84C-682C-6002987BB624}"/>
              </a:ext>
            </a:extLst>
          </p:cNvPr>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537D8D-6AC6-1433-021B-54F0CF486FA0}"/>
                  </a:ext>
                </a:extLst>
              </p:cNvPr>
              <p:cNvSpPr>
                <a:spLocks noGrp="1"/>
              </p:cNvSpPr>
              <p:nvPr>
                <p:ph idx="1"/>
              </p:nvPr>
            </p:nvSpPr>
            <p:spPr/>
            <p:txBody>
              <a:bodyPr/>
              <a:lstStyle/>
              <a:p>
                <a:pPr marL="0" indent="0">
                  <a:buNone/>
                </a:pPr>
                <a:r>
                  <a:rPr lang="en-US" dirty="0"/>
                  <a:t>For an adiabatic path, how does P depend on V?</a:t>
                </a:r>
              </a:p>
              <a:p>
                <a:pPr marL="514350" indent="-514350">
                  <a:buFont typeface="+mj-lt"/>
                  <a:buAutoNum type="alphaLcParenR"/>
                </a:pPr>
                <a:r>
                  <a:rPr lang="en-US" dirty="0"/>
                  <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𝑛𝑅𝑇</m:t>
                        </m:r>
                      </m:num>
                      <m:den>
                        <m:r>
                          <a:rPr lang="en-US" b="0" i="1" smtClean="0">
                            <a:latin typeface="Cambria Math" panose="02040503050406030204" pitchFamily="18" charset="0"/>
                          </a:rPr>
                          <m:t>𝑉</m:t>
                        </m:r>
                      </m:den>
                    </m:f>
                  </m:oMath>
                </a14:m>
                <a:endParaRPr lang="en-US" dirty="0"/>
              </a:p>
              <a:p>
                <a:pPr marL="514350" indent="-514350">
                  <a:buFont typeface="+mj-lt"/>
                  <a:buAutoNum type="alphaLcParenR"/>
                </a:pPr>
                <a:r>
                  <a:rPr lang="en-US" dirty="0"/>
                  <a:t>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𝑛𝑅𝑇</m:t>
                        </m:r>
                      </m:den>
                    </m:f>
                  </m:oMath>
                </a14:m>
                <a:endParaRPr lang="en-US" dirty="0"/>
              </a:p>
              <a:p>
                <a:pPr marL="514350" indent="-514350">
                  <a:buFont typeface="+mj-lt"/>
                  <a:buAutoNum type="alphaLcParenR"/>
                </a:pPr>
                <a:r>
                  <a:rPr lang="en-US" dirty="0"/>
                  <a:t>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i="1" smtClean="0">
                                <a:latin typeface="Cambria Math" panose="02040503050406030204" pitchFamily="18" charset="0"/>
                                <a:ea typeface="Cambria Math" panose="02040503050406030204" pitchFamily="18" charset="0"/>
                              </a:rPr>
                              <m:t>𝛾</m:t>
                            </m:r>
                          </m:sup>
                        </m:sSup>
                      </m:den>
                    </m:f>
                  </m:oMath>
                </a14:m>
                <a:endParaRPr lang="en-US" dirty="0"/>
              </a:p>
              <a:p>
                <a:pPr marL="514350" indent="-514350">
                  <a:buFont typeface="+mj-lt"/>
                  <a:buAutoNum type="alphaLcParenR"/>
                </a:pPr>
                <a:r>
                  <a:rPr lang="en-US" dirty="0"/>
                  <a:t>P is a constant</a:t>
                </a:r>
              </a:p>
            </p:txBody>
          </p:sp>
        </mc:Choice>
        <mc:Fallback xmlns="">
          <p:sp>
            <p:nvSpPr>
              <p:cNvPr id="3" name="Content Placeholder 2">
                <a:extLst>
                  <a:ext uri="{FF2B5EF4-FFF2-40B4-BE49-F238E27FC236}">
                    <a16:creationId xmlns:a16="http://schemas.microsoft.com/office/drawing/2014/main" id="{08537D8D-6AC6-1433-021B-54F0CF486FA0}"/>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144633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CBB96-8612-AF3D-29E1-BC5BEC3095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903580-2AB8-B212-8019-F97B758FEAEF}"/>
              </a:ext>
            </a:extLst>
          </p:cNvPr>
          <p:cNvPicPr>
            <a:picLocks noChangeAspect="1"/>
          </p:cNvPicPr>
          <p:nvPr/>
        </p:nvPicPr>
        <p:blipFill>
          <a:blip r:embed="rId2"/>
          <a:stretch>
            <a:fillRect/>
          </a:stretch>
        </p:blipFill>
        <p:spPr>
          <a:xfrm>
            <a:off x="2147772" y="809625"/>
            <a:ext cx="7224827" cy="4793170"/>
          </a:xfrm>
          <a:prstGeom prst="rect">
            <a:avLst/>
          </a:prstGeom>
        </p:spPr>
      </p:pic>
      <p:cxnSp>
        <p:nvCxnSpPr>
          <p:cNvPr id="3" name="Straight Arrow Connector 2">
            <a:extLst>
              <a:ext uri="{FF2B5EF4-FFF2-40B4-BE49-F238E27FC236}">
                <a16:creationId xmlns:a16="http://schemas.microsoft.com/office/drawing/2014/main" id="{AFC79ABE-F59B-9F93-9EFF-8D33E3DC38ED}"/>
              </a:ext>
            </a:extLst>
          </p:cNvPr>
          <p:cNvCxnSpPr>
            <a:cxnSpLocks/>
          </p:cNvCxnSpPr>
          <p:nvPr/>
        </p:nvCxnSpPr>
        <p:spPr>
          <a:xfrm>
            <a:off x="5892800" y="3429000"/>
            <a:ext cx="203200" cy="210127"/>
          </a:xfrm>
          <a:prstGeom prst="straightConnector1">
            <a:avLst/>
          </a:prstGeom>
          <a:ln w="38100">
            <a:solidFill>
              <a:srgbClr val="FF0000"/>
            </a:solidFill>
            <a:headEnd type="none" w="med" len="med"/>
            <a:tailEnd type="arrow"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067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703A-134E-E542-D780-AF3EE16C5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82AB9-9123-611E-824E-4DB8A8649A54}"/>
              </a:ext>
            </a:extLst>
          </p:cNvPr>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64307E-3582-259B-6FFF-E34800D93684}"/>
                  </a:ext>
                </a:extLst>
              </p:cNvPr>
              <p:cNvSpPr>
                <a:spLocks noGrp="1"/>
              </p:cNvSpPr>
              <p:nvPr>
                <p:ph idx="1"/>
              </p:nvPr>
            </p:nvSpPr>
            <p:spPr/>
            <p:txBody>
              <a:bodyPr/>
              <a:lstStyle/>
              <a:p>
                <a:pPr marL="0" indent="0">
                  <a:buNone/>
                </a:pPr>
                <a:r>
                  <a:rPr lang="en-US" dirty="0"/>
                  <a:t>Which of the following is true?</a:t>
                </a:r>
              </a:p>
              <a:p>
                <a:pPr marL="514350" indent="-514350">
                  <a:buFont typeface="+mj-lt"/>
                  <a:buAutoNum type="alphaLcParenR"/>
                </a:pPr>
                <a:r>
                  <a:rPr lang="en-US" dirty="0"/>
                  <a:t> </a:t>
                </a:r>
                <a14:m>
                  <m:oMath xmlns:m="http://schemas.openxmlformats.org/officeDocument/2006/math">
                    <m:r>
                      <a:rPr lang="en-US" b="0" i="1" smtClean="0">
                        <a:latin typeface="Cambria Math" panose="02040503050406030204" pitchFamily="18" charset="0"/>
                      </a:rPr>
                      <m:t>𝑎</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𝑏</m:t>
                        </m:r>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𝑎</m:t>
                                </m:r>
                              </m:sup>
                            </m:sSup>
                          </m:e>
                        </m:func>
                      </m:e>
                    </m:func>
                  </m:oMath>
                </a14:m>
                <a:endParaRPr lang="en-US" dirty="0"/>
              </a:p>
              <a:p>
                <a:pPr marL="514350" indent="-514350">
                  <a:buFont typeface="+mj-lt"/>
                  <a:buAutoNum type="alphaLcParenR"/>
                </a:pPr>
                <a:r>
                  <a:rPr lang="en-US" dirty="0"/>
                  <a:t> </a:t>
                </a:r>
                <a14:m>
                  <m:oMath xmlns:m="http://schemas.openxmlformats.org/officeDocument/2006/math">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ln</m:t>
                        </m:r>
                      </m:fName>
                      <m:e>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𝑏</m:t>
                            </m:r>
                          </m:e>
                        </m:func>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𝑎𝑏</m:t>
                            </m:r>
                          </m:e>
                        </m:func>
                      </m:e>
                    </m:func>
                  </m:oMath>
                </a14:m>
                <a:endParaRPr lang="en-US" dirty="0"/>
              </a:p>
              <a:p>
                <a:pPr marL="514350" indent="-514350">
                  <a:buFont typeface="+mj-lt"/>
                  <a:buAutoNum type="alphaLcParenR"/>
                </a:pPr>
                <a:r>
                  <a:rPr lang="en-US" dirty="0"/>
                  <a:t> </a:t>
                </a:r>
                <a14:m>
                  <m:oMath xmlns:m="http://schemas.openxmlformats.org/officeDocument/2006/math">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ln</m:t>
                        </m:r>
                      </m:fName>
                      <m:e>
                        <m:r>
                          <a:rPr lang="en-US" b="0" i="1" smtClean="0">
                            <a:latin typeface="Cambria Math" panose="02040503050406030204" pitchFamily="18" charset="0"/>
                          </a:rPr>
                          <m:t>ℎ𝑜𝑢𝑠𝑒</m:t>
                        </m:r>
                        <m:r>
                          <a:rPr lang="en-US" b="0" i="1" smtClean="0">
                            <a:latin typeface="Cambria Math" panose="02040503050406030204" pitchFamily="18" charset="0"/>
                          </a:rPr>
                          <m:t>=</m:t>
                        </m:r>
                        <m:r>
                          <a:rPr lang="en-US" b="0" i="1" smtClean="0">
                            <a:latin typeface="Cambria Math" panose="02040503050406030204" pitchFamily="18" charset="0"/>
                          </a:rPr>
                          <m:t>𝑐𝑎𝑏𝑖𝑛</m:t>
                        </m:r>
                      </m:e>
                    </m:func>
                  </m:oMath>
                </a14:m>
                <a:endParaRPr lang="en-US" dirty="0"/>
              </a:p>
              <a:p>
                <a:pPr marL="514350" indent="-514350">
                  <a:buFont typeface="+mj-lt"/>
                  <a:buAutoNum type="alphaLcParenR"/>
                </a:pPr>
                <a:r>
                  <a:rPr lang="en-US" dirty="0"/>
                  <a:t>I don’t remember anything about log functions</a:t>
                </a:r>
              </a:p>
            </p:txBody>
          </p:sp>
        </mc:Choice>
        <mc:Fallback xmlns="">
          <p:sp>
            <p:nvSpPr>
              <p:cNvPr id="3" name="Content Placeholder 2">
                <a:extLst>
                  <a:ext uri="{FF2B5EF4-FFF2-40B4-BE49-F238E27FC236}">
                    <a16:creationId xmlns:a16="http://schemas.microsoft.com/office/drawing/2014/main" id="{6F64307E-3582-259B-6FFF-E34800D93684}"/>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238934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2002-FF55-F810-0DAE-FAE499C324E4}"/>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029605CA-880A-29C8-6C74-7E7688FE48C5}"/>
              </a:ext>
            </a:extLst>
          </p:cNvPr>
          <p:cNvSpPr>
            <a:spLocks noGrp="1"/>
          </p:cNvSpPr>
          <p:nvPr>
            <p:ph idx="1"/>
          </p:nvPr>
        </p:nvSpPr>
        <p:spPr/>
        <p:txBody>
          <a:bodyPr/>
          <a:lstStyle/>
          <a:p>
            <a:pPr marL="0" indent="0">
              <a:buNone/>
            </a:pPr>
            <a:r>
              <a:rPr lang="en-US" dirty="0"/>
              <a:t>If I add two constants, is the result still constant?</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a:t>
            </a:r>
          </a:p>
        </p:txBody>
      </p:sp>
    </p:spTree>
    <p:extLst>
      <p:ext uri="{BB962C8B-B14F-4D97-AF65-F5344CB8AC3E}">
        <p14:creationId xmlns:p14="http://schemas.microsoft.com/office/powerpoint/2010/main" val="2851887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5A08-BBAD-733F-9214-FFCA080F07AC}"/>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857BFD40-4C1B-BCE6-1015-757E5ACBD398}"/>
              </a:ext>
            </a:extLst>
          </p:cNvPr>
          <p:cNvSpPr>
            <a:spLocks noGrp="1"/>
          </p:cNvSpPr>
          <p:nvPr>
            <p:ph idx="1"/>
          </p:nvPr>
        </p:nvSpPr>
        <p:spPr/>
        <p:txBody>
          <a:bodyPr/>
          <a:lstStyle/>
          <a:p>
            <a:pPr marL="0" indent="0">
              <a:buNone/>
            </a:pPr>
            <a:r>
              <a:rPr lang="en-US" dirty="0"/>
              <a:t>Why do we like conservation laws in physics?</a:t>
            </a:r>
          </a:p>
          <a:p>
            <a:pPr marL="514350" indent="-514350">
              <a:buFont typeface="+mj-lt"/>
              <a:buAutoNum type="alphaLcParenR"/>
            </a:pPr>
            <a:r>
              <a:rPr lang="en-US" dirty="0"/>
              <a:t>They tell us how the universe works</a:t>
            </a:r>
          </a:p>
          <a:p>
            <a:pPr marL="514350" indent="-514350">
              <a:buFont typeface="+mj-lt"/>
              <a:buAutoNum type="alphaLcParenR"/>
            </a:pPr>
            <a:r>
              <a:rPr lang="en-US" dirty="0"/>
              <a:t>They make everything easy to understand</a:t>
            </a:r>
          </a:p>
          <a:p>
            <a:pPr marL="514350" indent="-514350">
              <a:buFont typeface="+mj-lt"/>
              <a:buAutoNum type="alphaLcParenR"/>
            </a:pPr>
            <a:r>
              <a:rPr lang="en-US" dirty="0"/>
              <a:t>They make solving problems easier</a:t>
            </a:r>
          </a:p>
        </p:txBody>
      </p:sp>
    </p:spTree>
    <p:extLst>
      <p:ext uri="{BB962C8B-B14F-4D97-AF65-F5344CB8AC3E}">
        <p14:creationId xmlns:p14="http://schemas.microsoft.com/office/powerpoint/2010/main" val="3378814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845" y="226305"/>
            <a:ext cx="4320822" cy="4351338"/>
          </a:xfrm>
        </p:spPr>
        <p:txBody>
          <a:bodyPr/>
          <a:lstStyle/>
          <a:p>
            <a:pPr marL="0" indent="0">
              <a:buNone/>
            </a:pPr>
            <a:r>
              <a:rPr lang="en-US" dirty="0"/>
              <a:t>Suppose we change 1mol  of an ideal gas from one state to another by two different paths. The two paths are shown in the figure (one is red and one is blue).</a:t>
            </a:r>
          </a:p>
          <a:p>
            <a:pPr marL="0" indent="0">
              <a:buNone/>
            </a:pPr>
            <a:endParaRPr lang="en-US" dirty="0"/>
          </a:p>
          <a:p>
            <a:pPr marL="0" indent="0">
              <a:buNone/>
            </a:pPr>
            <a:r>
              <a:rPr lang="en-US" dirty="0"/>
              <a:t>Find the work done in the two different paths.</a:t>
            </a:r>
          </a:p>
          <a:p>
            <a:pPr marL="0" indent="0">
              <a:buNone/>
            </a:pP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5416714" y="395111"/>
            <a:ext cx="5477126" cy="3646311"/>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22323D-E083-638A-1905-A8424C2B0C3E}"/>
                  </a:ext>
                </a:extLst>
              </p:cNvPr>
              <p:cNvSpPr txBox="1"/>
              <p:nvPr/>
            </p:nvSpPr>
            <p:spPr>
              <a:xfrm>
                <a:off x="6942667" y="4577643"/>
                <a:ext cx="1741823" cy="1782091"/>
              </a:xfrm>
              <a:prstGeom prst="rect">
                <a:avLst/>
              </a:prstGeom>
              <a:noFill/>
            </p:spPr>
            <p:txBody>
              <a:bodyPr wrap="none" rtlCol="0">
                <a:spAutoFit/>
              </a:bodyPr>
              <a:lstStyle/>
              <a:p>
                <a:r>
                  <a:rPr lang="en-US" dirty="0"/>
                  <a:t>P=378.29Pa</a:t>
                </a:r>
              </a:p>
              <a:p>
                <a:pPr/>
                <a14:m>
                  <m:oMathPara xmlns:m="http://schemas.openxmlformats.org/officeDocument/2006/math">
                    <m:oMathParaPr>
                      <m:jc m:val="left"/>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r>
                        <a:rPr lang="en-US" b="0" i="1" smtClean="0">
                          <a:latin typeface="Cambria Math" panose="02040503050406030204" pitchFamily="18" charset="0"/>
                        </a:rPr>
                        <m:t>=6</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m:oMathPara>
                </a14:m>
                <a:endParaRPr lang="en-US" b="0" i="1" dirty="0">
                  <a:latin typeface="Cambria Math" panose="02040503050406030204" pitchFamily="18" charset="0"/>
                </a:endParaRPr>
              </a:p>
              <a:p>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𝑓</m:t>
                          </m:r>
                        </m:sub>
                      </m:sSub>
                      <m:r>
                        <a:rPr lang="en-US" i="1">
                          <a:latin typeface="Cambria Math" panose="02040503050406030204" pitchFamily="18" charset="0"/>
                        </a:rPr>
                        <m:t>=</m:t>
                      </m:r>
                      <m:r>
                        <a:rPr lang="en-US" b="0" i="1" smtClean="0">
                          <a:latin typeface="Cambria Math" panose="02040503050406030204" pitchFamily="18" charset="0"/>
                        </a:rPr>
                        <m:t>7.5384</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r>
                  <a:rPr lang="en-US" dirty="0"/>
                  <a:t>T=343K</a:t>
                </a:r>
              </a:p>
              <a:p>
                <a:endParaRPr lang="en-US" dirty="0"/>
              </a:p>
              <a:p>
                <a:endParaRPr lang="en-US" dirty="0"/>
              </a:p>
            </p:txBody>
          </p:sp>
        </mc:Choice>
        <mc:Fallback xmlns="">
          <p:sp>
            <p:nvSpPr>
              <p:cNvPr id="4" name="TextBox 3">
                <a:extLst>
                  <a:ext uri="{FF2B5EF4-FFF2-40B4-BE49-F238E27FC236}">
                    <a16:creationId xmlns:a16="http://schemas.microsoft.com/office/drawing/2014/main" id="{6D22323D-E083-638A-1905-A8424C2B0C3E}"/>
                  </a:ext>
                </a:extLst>
              </p:cNvPr>
              <p:cNvSpPr txBox="1">
                <a:spLocks noRot="1" noChangeAspect="1" noMove="1" noResize="1" noEditPoints="1" noAdjustHandles="1" noChangeArrowheads="1" noChangeShapeType="1" noTextEdit="1"/>
              </p:cNvSpPr>
              <p:nvPr/>
            </p:nvSpPr>
            <p:spPr>
              <a:xfrm>
                <a:off x="6942667" y="4577643"/>
                <a:ext cx="1741823" cy="1782091"/>
              </a:xfrm>
              <a:prstGeom prst="rect">
                <a:avLst/>
              </a:prstGeom>
              <a:blipFill>
                <a:blip r:embed="rId3"/>
                <a:stretch>
                  <a:fillRect l="-3147" t="-1712"/>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ylinder 3">
            <a:extLst>
              <a:ext uri="{FF2B5EF4-FFF2-40B4-BE49-F238E27FC236}">
                <a16:creationId xmlns:a16="http://schemas.microsoft.com/office/drawing/2014/main" id="{C7CEA9B5-10E1-0690-20A5-E941D70EF6CE}"/>
              </a:ext>
            </a:extLst>
          </p:cNvPr>
          <p:cNvSpPr/>
          <p:nvPr/>
        </p:nvSpPr>
        <p:spPr>
          <a:xfrm rot="16200000">
            <a:off x="5327904" y="329184"/>
            <a:ext cx="932688" cy="4681728"/>
          </a:xfrm>
          <a:prstGeom prst="can">
            <a:avLst>
              <a:gd name="adj" fmla="val 52451"/>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ylinder 4">
            <a:extLst>
              <a:ext uri="{FF2B5EF4-FFF2-40B4-BE49-F238E27FC236}">
                <a16:creationId xmlns:a16="http://schemas.microsoft.com/office/drawing/2014/main" id="{0117D1E6-05E3-328B-3F36-AFC8B477D456}"/>
              </a:ext>
            </a:extLst>
          </p:cNvPr>
          <p:cNvSpPr/>
          <p:nvPr/>
        </p:nvSpPr>
        <p:spPr>
          <a:xfrm rot="16200000">
            <a:off x="5353812" y="1754125"/>
            <a:ext cx="932688" cy="1831848"/>
          </a:xfrm>
          <a:prstGeom prst="can">
            <a:avLst>
              <a:gd name="adj" fmla="val 52451"/>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B82AD0-A576-E02B-3403-FC95165C25E7}"/>
              </a:ext>
            </a:extLst>
          </p:cNvPr>
          <p:cNvSpPr txBox="1"/>
          <p:nvPr/>
        </p:nvSpPr>
        <p:spPr>
          <a:xfrm>
            <a:off x="4992262" y="2485382"/>
            <a:ext cx="320922" cy="369332"/>
          </a:xfrm>
          <a:prstGeom prst="rect">
            <a:avLst/>
          </a:prstGeom>
          <a:noFill/>
        </p:spPr>
        <p:txBody>
          <a:bodyPr wrap="none" rtlCol="0">
            <a:spAutoFit/>
          </a:bodyPr>
          <a:lstStyle/>
          <a:p>
            <a:r>
              <a:rPr lang="en-US" dirty="0"/>
              <a:t>A</a:t>
            </a:r>
          </a:p>
        </p:txBody>
      </p:sp>
      <p:cxnSp>
        <p:nvCxnSpPr>
          <p:cNvPr id="8" name="Straight Connector 7">
            <a:extLst>
              <a:ext uri="{FF2B5EF4-FFF2-40B4-BE49-F238E27FC236}">
                <a16:creationId xmlns:a16="http://schemas.microsoft.com/office/drawing/2014/main" id="{0ACF803B-B61B-F4CF-3CBB-0086E5811D65}"/>
              </a:ext>
            </a:extLst>
          </p:cNvPr>
          <p:cNvCxnSpPr/>
          <p:nvPr/>
        </p:nvCxnSpPr>
        <p:spPr>
          <a:xfrm flipV="1">
            <a:off x="5151120"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3595B2-A95D-A8D4-51D7-931603F86545}"/>
              </a:ext>
            </a:extLst>
          </p:cNvPr>
          <p:cNvCxnSpPr/>
          <p:nvPr/>
        </p:nvCxnSpPr>
        <p:spPr>
          <a:xfrm flipV="1">
            <a:off x="6556248"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A9A135-2042-0657-03DA-4F1D50813C6D}"/>
              </a:ext>
            </a:extLst>
          </p:cNvPr>
          <p:cNvCxnSpPr/>
          <p:nvPr/>
        </p:nvCxnSpPr>
        <p:spPr>
          <a:xfrm>
            <a:off x="5151120" y="1879092"/>
            <a:ext cx="1392936"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3C3B7EB-4075-93A1-F1D5-130146D4AB9C}"/>
              </a:ext>
            </a:extLst>
          </p:cNvPr>
          <p:cNvSpPr txBox="1"/>
          <p:nvPr/>
        </p:nvSpPr>
        <p:spPr>
          <a:xfrm>
            <a:off x="5738796" y="1694426"/>
            <a:ext cx="425116" cy="369332"/>
          </a:xfrm>
          <a:prstGeom prst="rect">
            <a:avLst/>
          </a:prstGeom>
          <a:solidFill>
            <a:schemeClr val="bg1"/>
          </a:solidFill>
        </p:spPr>
        <p:txBody>
          <a:bodyPr wrap="none" rtlCol="0">
            <a:spAutoFit/>
          </a:bodyPr>
          <a:lstStyle/>
          <a:p>
            <a:r>
              <a:rPr lang="en-US" dirty="0">
                <a:sym typeface="Symbol" panose="05050102010706020507" pitchFamily="18" charset="2"/>
              </a:rPr>
              <a:t></a:t>
            </a:r>
            <a:r>
              <a:rPr lang="en-US" dirty="0"/>
              <a:t>x</a:t>
            </a:r>
          </a:p>
        </p:txBody>
      </p:sp>
      <p:sp>
        <p:nvSpPr>
          <p:cNvPr id="13" name="Oval 12">
            <a:extLst>
              <a:ext uri="{FF2B5EF4-FFF2-40B4-BE49-F238E27FC236}">
                <a16:creationId xmlns:a16="http://schemas.microsoft.com/office/drawing/2014/main" id="{F8877B15-2AAF-441A-8BB6-E91D4626B716}"/>
              </a:ext>
            </a:extLst>
          </p:cNvPr>
          <p:cNvSpPr/>
          <p:nvPr/>
        </p:nvSpPr>
        <p:spPr>
          <a:xfrm>
            <a:off x="6251089" y="2203703"/>
            <a:ext cx="487680" cy="932689"/>
          </a:xfrm>
          <a:prstGeom prst="ellipse">
            <a:avLst/>
          </a:prstGeom>
          <a:solidFill>
            <a:schemeClr val="tx2">
              <a:lumMod val="60000"/>
              <a:lumOff val="4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c 13">
            <a:extLst>
              <a:ext uri="{FF2B5EF4-FFF2-40B4-BE49-F238E27FC236}">
                <a16:creationId xmlns:a16="http://schemas.microsoft.com/office/drawing/2014/main" id="{C8CB2D2C-A259-ACC4-DFDD-B2C86AA527A1}"/>
              </a:ext>
            </a:extLst>
          </p:cNvPr>
          <p:cNvSpPr/>
          <p:nvPr/>
        </p:nvSpPr>
        <p:spPr>
          <a:xfrm>
            <a:off x="6248040" y="2203704"/>
            <a:ext cx="487680" cy="932689"/>
          </a:xfrm>
          <a:prstGeom prst="arc">
            <a:avLst>
              <a:gd name="adj1" fmla="val 16200000"/>
              <a:gd name="adj2" fmla="val 5236651"/>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7FA60F47-8906-0C8E-78DA-8CF2FFEB52BC}"/>
              </a:ext>
            </a:extLst>
          </p:cNvPr>
          <p:cNvSpPr/>
          <p:nvPr/>
        </p:nvSpPr>
        <p:spPr>
          <a:xfrm>
            <a:off x="7647432" y="2203703"/>
            <a:ext cx="487680" cy="932689"/>
          </a:xfrm>
          <a:prstGeom prst="ellipse">
            <a:avLst/>
          </a:prstGeom>
          <a:solidFill>
            <a:schemeClr val="tx2">
              <a:lumMod val="20000"/>
              <a:lumOff val="8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D2453E8-F171-5CE9-7C13-324E3A854047}"/>
              </a:ext>
            </a:extLst>
          </p:cNvPr>
          <p:cNvCxnSpPr>
            <a:cxnSpLocks/>
          </p:cNvCxnSpPr>
          <p:nvPr/>
        </p:nvCxnSpPr>
        <p:spPr>
          <a:xfrm>
            <a:off x="6824472" y="2670046"/>
            <a:ext cx="55168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2FD0FCE-7FAC-FFE3-03DC-DD75ECB7FD13}"/>
              </a:ext>
            </a:extLst>
          </p:cNvPr>
          <p:cNvSpPr txBox="1"/>
          <p:nvPr/>
        </p:nvSpPr>
        <p:spPr>
          <a:xfrm>
            <a:off x="6892398" y="2300713"/>
            <a:ext cx="288862" cy="369332"/>
          </a:xfrm>
          <a:prstGeom prst="rect">
            <a:avLst/>
          </a:prstGeom>
          <a:noFill/>
        </p:spPr>
        <p:txBody>
          <a:bodyPr wrap="none" rtlCol="0">
            <a:spAutoFit/>
          </a:bodyPr>
          <a:lstStyle/>
          <a:p>
            <a:r>
              <a:rPr lang="en-US" dirty="0">
                <a:solidFill>
                  <a:srgbClr val="FF0000"/>
                </a:solidFill>
              </a:rPr>
              <a:t>v</a:t>
            </a:r>
          </a:p>
        </p:txBody>
      </p:sp>
    </p:spTree>
    <p:extLst>
      <p:ext uri="{BB962C8B-B14F-4D97-AF65-F5344CB8AC3E}">
        <p14:creationId xmlns:p14="http://schemas.microsoft.com/office/powerpoint/2010/main" val="1247448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9B3595E-FFD0-BA39-FCC8-3F4E86448FCA}"/>
              </a:ext>
            </a:extLst>
          </p:cNvPr>
          <p:cNvSpPr/>
          <p:nvPr/>
        </p:nvSpPr>
        <p:spPr>
          <a:xfrm>
            <a:off x="2182368" y="1243584"/>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be 3">
            <a:extLst>
              <a:ext uri="{FF2B5EF4-FFF2-40B4-BE49-F238E27FC236}">
                <a16:creationId xmlns:a16="http://schemas.microsoft.com/office/drawing/2014/main" id="{6FF530C8-B8D8-CF2D-9FC9-D3F61AFF3C1E}"/>
              </a:ext>
            </a:extLst>
          </p:cNvPr>
          <p:cNvSpPr/>
          <p:nvPr/>
        </p:nvSpPr>
        <p:spPr>
          <a:xfrm>
            <a:off x="4568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B800A5-898B-76A1-23F2-09ED707F8D43}"/>
              </a:ext>
            </a:extLst>
          </p:cNvPr>
          <p:cNvSpPr txBox="1"/>
          <p:nvPr/>
        </p:nvSpPr>
        <p:spPr>
          <a:xfrm>
            <a:off x="2612136" y="2105275"/>
            <a:ext cx="1647374" cy="369332"/>
          </a:xfrm>
          <a:prstGeom prst="rect">
            <a:avLst/>
          </a:prstGeom>
          <a:noFill/>
        </p:spPr>
        <p:txBody>
          <a:bodyPr wrap="none" rtlCol="0">
            <a:spAutoFit/>
          </a:bodyPr>
          <a:lstStyle/>
          <a:p>
            <a:r>
              <a:rPr lang="en-US" dirty="0"/>
              <a:t>Sound Wave In</a:t>
            </a:r>
          </a:p>
        </p:txBody>
      </p:sp>
      <p:cxnSp>
        <p:nvCxnSpPr>
          <p:cNvPr id="7" name="Straight Arrow Connector 6">
            <a:extLst>
              <a:ext uri="{FF2B5EF4-FFF2-40B4-BE49-F238E27FC236}">
                <a16:creationId xmlns:a16="http://schemas.microsoft.com/office/drawing/2014/main" id="{53B41E67-32F0-8666-BCC8-E8CBDD178FD5}"/>
              </a:ext>
            </a:extLst>
          </p:cNvPr>
          <p:cNvCxnSpPr>
            <a:cxnSpLocks/>
          </p:cNvCxnSpPr>
          <p:nvPr/>
        </p:nvCxnSpPr>
        <p:spPr>
          <a:xfrm>
            <a:off x="2815800"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9F6F487-2D99-7F36-5867-097A34B08853}"/>
              </a:ext>
            </a:extLst>
          </p:cNvPr>
          <p:cNvCxnSpPr>
            <a:cxnSpLocks/>
          </p:cNvCxnSpPr>
          <p:nvPr/>
        </p:nvCxnSpPr>
        <p:spPr>
          <a:xfrm>
            <a:off x="7000098"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52880-E3BA-1526-C57B-FAF4325E25A5}"/>
                  </a:ext>
                </a:extLst>
              </p:cNvPr>
              <p:cNvSpPr txBox="1"/>
              <p:nvPr/>
            </p:nvSpPr>
            <p:spPr>
              <a:xfrm>
                <a:off x="2612136" y="2996028"/>
                <a:ext cx="1316130"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i="1">
                            <a:latin typeface="Cambria Math" panose="02040503050406030204" pitchFamily="18" charset="0"/>
                            <a:ea typeface="Cambria Math" panose="02040503050406030204" pitchFamily="18" charset="0"/>
                            <a:sym typeface="Symbol" panose="05050102010706020507" pitchFamily="18" charset="2"/>
                          </a:rPr>
                          <m:t>𝑖𝑛</m:t>
                        </m:r>
                      </m:sub>
                    </m:sSub>
                    <m:r>
                      <a:rPr lang="en-US" i="1">
                        <a:latin typeface="Cambria Math" panose="02040503050406030204" pitchFamily="18" charset="0"/>
                        <a:ea typeface="Cambria Math" panose="02040503050406030204" pitchFamily="18" charset="0"/>
                        <a:sym typeface="Symbol" panose="05050102010706020507" pitchFamily="18" charset="2"/>
                      </a:rPr>
                      <m:t>,</m:t>
                    </m:r>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𝑣</m:t>
                        </m:r>
                      </m:e>
                      <m:sub>
                        <m:r>
                          <a:rPr lang="en-US" i="1">
                            <a:latin typeface="Cambria Math" panose="02040503050406030204" pitchFamily="18" charset="0"/>
                            <a:ea typeface="Cambria Math" panose="02040503050406030204" pitchFamily="18" charset="0"/>
                            <a:sym typeface="Symbol" panose="05050102010706020507" pitchFamily="18" charset="2"/>
                          </a:rPr>
                          <m:t>𝑖𝑛</m:t>
                        </m:r>
                      </m:sub>
                    </m:sSub>
                    <m:r>
                      <a:rPr lang="en-US" i="1">
                        <a:latin typeface="Cambria Math" panose="02040503050406030204" pitchFamily="18" charset="0"/>
                        <a:ea typeface="Cambria Math" panose="02040503050406030204" pitchFamily="18" charset="0"/>
                        <a:sym typeface="Symbol" panose="05050102010706020507" pitchFamily="18" charset="2"/>
                      </a:rPr>
                      <m:t>,</m:t>
                    </m:r>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𝑇</m:t>
                        </m:r>
                      </m:e>
                      <m:sub>
                        <m:r>
                          <a:rPr lang="en-US" i="1">
                            <a:latin typeface="Cambria Math" panose="02040503050406030204" pitchFamily="18" charset="0"/>
                            <a:ea typeface="Cambria Math" panose="02040503050406030204" pitchFamily="18" charset="0"/>
                            <a:sym typeface="Symbol" panose="05050102010706020507" pitchFamily="18" charset="2"/>
                          </a:rPr>
                          <m:t>𝑖𝑛</m:t>
                        </m:r>
                      </m:sub>
                    </m:sSub>
                  </m:oMath>
                </a14:m>
                <a:endParaRPr lang="en-US" dirty="0"/>
              </a:p>
            </p:txBody>
          </p:sp>
        </mc:Choice>
        <mc:Fallback xmlns="">
          <p:sp>
            <p:nvSpPr>
              <p:cNvPr id="9" name="TextBox 8">
                <a:extLst>
                  <a:ext uri="{FF2B5EF4-FFF2-40B4-BE49-F238E27FC236}">
                    <a16:creationId xmlns:a16="http://schemas.microsoft.com/office/drawing/2014/main" id="{A2652880-E3BA-1526-C57B-FAF4325E25A5}"/>
                  </a:ext>
                </a:extLst>
              </p:cNvPr>
              <p:cNvSpPr txBox="1">
                <a:spLocks noRot="1" noChangeAspect="1" noMove="1" noResize="1" noEditPoints="1" noAdjustHandles="1" noChangeArrowheads="1" noChangeShapeType="1" noTextEdit="1"/>
              </p:cNvSpPr>
              <p:nvPr/>
            </p:nvSpPr>
            <p:spPr>
              <a:xfrm>
                <a:off x="2612136" y="2996028"/>
                <a:ext cx="1316130" cy="369332"/>
              </a:xfrm>
              <a:prstGeom prst="rect">
                <a:avLst/>
              </a:prstGeom>
              <a:blipFill>
                <a:blip r:embed="rId2"/>
                <a:stretch>
                  <a:fillRect l="-4186"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9EBA03-A8F7-8263-C359-5DE180645ECE}"/>
                  </a:ext>
                </a:extLst>
              </p:cNvPr>
              <p:cNvSpPr txBox="1"/>
              <p:nvPr/>
            </p:nvSpPr>
            <p:spPr>
              <a:xfrm>
                <a:off x="7000098" y="2996028"/>
                <a:ext cx="1662378"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i="1">
                            <a:latin typeface="Cambria Math" panose="02040503050406030204" pitchFamily="18" charset="0"/>
                            <a:ea typeface="Cambria Math" panose="02040503050406030204" pitchFamily="18" charset="0"/>
                            <a:sym typeface="Symbol" panose="05050102010706020507" pitchFamily="18" charset="2"/>
                          </a:rPr>
                          <m:t>𝑜𝑢𝑡</m:t>
                        </m:r>
                      </m:sub>
                    </m:sSub>
                    <m:r>
                      <a:rPr lang="en-US" i="1">
                        <a:latin typeface="Cambria Math" panose="02040503050406030204" pitchFamily="18" charset="0"/>
                        <a:ea typeface="Cambria Math" panose="02040503050406030204" pitchFamily="18" charset="0"/>
                        <a:sym typeface="Symbol" panose="05050102010706020507" pitchFamily="18" charset="2"/>
                      </a:rPr>
                      <m:t>,</m:t>
                    </m:r>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𝑣</m:t>
                        </m:r>
                      </m:e>
                      <m:sub>
                        <m:r>
                          <a:rPr lang="en-US" i="1">
                            <a:latin typeface="Cambria Math" panose="02040503050406030204" pitchFamily="18" charset="0"/>
                            <a:ea typeface="Cambria Math" panose="02040503050406030204" pitchFamily="18" charset="0"/>
                            <a:sym typeface="Symbol" panose="05050102010706020507" pitchFamily="18" charset="2"/>
                          </a:rPr>
                          <m:t>𝑜𝑢𝑡</m:t>
                        </m:r>
                      </m:sub>
                    </m:sSub>
                    <m:r>
                      <a:rPr lang="en-US" i="1">
                        <a:latin typeface="Cambria Math" panose="02040503050406030204" pitchFamily="18" charset="0"/>
                        <a:ea typeface="Cambria Math" panose="02040503050406030204" pitchFamily="18" charset="0"/>
                        <a:sym typeface="Symbol" panose="05050102010706020507" pitchFamily="18" charset="2"/>
                      </a:rPr>
                      <m:t>,</m:t>
                    </m:r>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𝑇</m:t>
                        </m:r>
                      </m:e>
                      <m:sub>
                        <m:r>
                          <a:rPr lang="en-US" i="1">
                            <a:latin typeface="Cambria Math" panose="02040503050406030204" pitchFamily="18" charset="0"/>
                            <a:ea typeface="Cambria Math" panose="02040503050406030204" pitchFamily="18" charset="0"/>
                            <a:sym typeface="Symbol" panose="05050102010706020507" pitchFamily="18" charset="2"/>
                          </a:rPr>
                          <m:t>𝑜𝑢𝑡</m:t>
                        </m:r>
                      </m:sub>
                    </m:sSub>
                  </m:oMath>
                </a14:m>
                <a:endParaRPr lang="en-US" dirty="0"/>
              </a:p>
            </p:txBody>
          </p:sp>
        </mc:Choice>
        <mc:Fallback xmlns="">
          <p:sp>
            <p:nvSpPr>
              <p:cNvPr id="10" name="TextBox 9">
                <a:extLst>
                  <a:ext uri="{FF2B5EF4-FFF2-40B4-BE49-F238E27FC236}">
                    <a16:creationId xmlns:a16="http://schemas.microsoft.com/office/drawing/2014/main" id="{329EBA03-A8F7-8263-C359-5DE180645ECE}"/>
                  </a:ext>
                </a:extLst>
              </p:cNvPr>
              <p:cNvSpPr txBox="1">
                <a:spLocks noRot="1" noChangeAspect="1" noMove="1" noResize="1" noEditPoints="1" noAdjustHandles="1" noChangeArrowheads="1" noChangeShapeType="1" noTextEdit="1"/>
              </p:cNvSpPr>
              <p:nvPr/>
            </p:nvSpPr>
            <p:spPr>
              <a:xfrm>
                <a:off x="7000098" y="2996028"/>
                <a:ext cx="1662378" cy="369332"/>
              </a:xfrm>
              <a:prstGeom prst="rect">
                <a:avLst/>
              </a:prstGeom>
              <a:blipFill>
                <a:blip r:embed="rId3"/>
                <a:stretch>
                  <a:fillRect l="-2930" t="-11475" b="-2131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AAC7E8B9-6AB3-FFE6-52BA-931BFBB171E9}"/>
              </a:ext>
            </a:extLst>
          </p:cNvPr>
          <p:cNvCxnSpPr>
            <a:cxnSpLocks/>
          </p:cNvCxnSpPr>
          <p:nvPr/>
        </p:nvCxnSpPr>
        <p:spPr>
          <a:xfrm>
            <a:off x="4943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8EA8E0F-34FE-7F7D-0D65-F49892AABB9A}"/>
              </a:ext>
            </a:extLst>
          </p:cNvPr>
          <p:cNvCxnSpPr>
            <a:cxnSpLocks/>
          </p:cNvCxnSpPr>
          <p:nvPr/>
        </p:nvCxnSpPr>
        <p:spPr>
          <a:xfrm flipH="1">
            <a:off x="4943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539441F-EAA9-837A-93F1-CCFB58048557}"/>
              </a:ext>
            </a:extLst>
          </p:cNvPr>
          <p:cNvCxnSpPr>
            <a:cxnSpLocks/>
          </p:cNvCxnSpPr>
          <p:nvPr/>
        </p:nvCxnSpPr>
        <p:spPr>
          <a:xfrm flipH="1">
            <a:off x="4568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529782-63D2-9A27-B18E-5660AC840788}"/>
              </a:ext>
            </a:extLst>
          </p:cNvPr>
          <p:cNvSpPr txBox="1"/>
          <p:nvPr/>
        </p:nvSpPr>
        <p:spPr>
          <a:xfrm>
            <a:off x="6464084" y="2560748"/>
            <a:ext cx="320922" cy="369332"/>
          </a:xfrm>
          <a:prstGeom prst="rect">
            <a:avLst/>
          </a:prstGeom>
          <a:noFill/>
        </p:spPr>
        <p:txBody>
          <a:bodyPr wrap="none" rtlCol="0">
            <a:spAutoFit/>
          </a:bodyPr>
          <a:lstStyle/>
          <a:p>
            <a:r>
              <a:rPr lang="en-US" dirty="0"/>
              <a:t>A</a:t>
            </a:r>
          </a:p>
        </p:txBody>
      </p:sp>
      <p:sp>
        <p:nvSpPr>
          <p:cNvPr id="20" name="TextBox 19">
            <a:extLst>
              <a:ext uri="{FF2B5EF4-FFF2-40B4-BE49-F238E27FC236}">
                <a16:creationId xmlns:a16="http://schemas.microsoft.com/office/drawing/2014/main" id="{76403000-451C-72F1-9B6E-1F8C53CF126C}"/>
              </a:ext>
            </a:extLst>
          </p:cNvPr>
          <p:cNvSpPr txBox="1"/>
          <p:nvPr/>
        </p:nvSpPr>
        <p:spPr>
          <a:xfrm>
            <a:off x="7000098" y="2105275"/>
            <a:ext cx="1833322" cy="369332"/>
          </a:xfrm>
          <a:prstGeom prst="rect">
            <a:avLst/>
          </a:prstGeom>
          <a:noFill/>
        </p:spPr>
        <p:txBody>
          <a:bodyPr wrap="none" rtlCol="0">
            <a:spAutoFit/>
          </a:bodyPr>
          <a:lstStyle/>
          <a:p>
            <a:r>
              <a:rPr lang="en-US" dirty="0"/>
              <a:t>Sound Wave Out</a:t>
            </a:r>
          </a:p>
        </p:txBody>
      </p:sp>
      <p:sp>
        <p:nvSpPr>
          <p:cNvPr id="21" name="TextBox 20">
            <a:extLst>
              <a:ext uri="{FF2B5EF4-FFF2-40B4-BE49-F238E27FC236}">
                <a16:creationId xmlns:a16="http://schemas.microsoft.com/office/drawing/2014/main" id="{815EF259-62C8-1D0A-772E-A1AD883B08CB}"/>
              </a:ext>
            </a:extLst>
          </p:cNvPr>
          <p:cNvSpPr txBox="1"/>
          <p:nvPr/>
        </p:nvSpPr>
        <p:spPr>
          <a:xfrm>
            <a:off x="4962144" y="3543348"/>
            <a:ext cx="1366400" cy="369332"/>
          </a:xfrm>
          <a:prstGeom prst="rect">
            <a:avLst/>
          </a:prstGeom>
          <a:noFill/>
        </p:spPr>
        <p:txBody>
          <a:bodyPr wrap="none" rtlCol="0">
            <a:spAutoFit/>
          </a:bodyPr>
          <a:lstStyle/>
          <a:p>
            <a:r>
              <a:rPr lang="en-US" dirty="0"/>
              <a:t>Parcel of Air</a:t>
            </a:r>
          </a:p>
        </p:txBody>
      </p:sp>
    </p:spTree>
    <p:extLst>
      <p:ext uri="{BB962C8B-B14F-4D97-AF65-F5344CB8AC3E}">
        <p14:creationId xmlns:p14="http://schemas.microsoft.com/office/powerpoint/2010/main" val="4168904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6AD2-BCB5-92CD-EE00-289A1BFC3583}"/>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3BE6317-D1B2-E0D8-8603-E3F69B778159}"/>
              </a:ext>
            </a:extLst>
          </p:cNvPr>
          <p:cNvSpPr/>
          <p:nvPr/>
        </p:nvSpPr>
        <p:spPr>
          <a:xfrm>
            <a:off x="2250948" y="1198971"/>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 name="Cube 3">
            <a:extLst>
              <a:ext uri="{FF2B5EF4-FFF2-40B4-BE49-F238E27FC236}">
                <a16:creationId xmlns:a16="http://schemas.microsoft.com/office/drawing/2014/main" id="{59DFCA99-EC97-278E-AAE4-8423188FEC52}"/>
              </a:ext>
            </a:extLst>
          </p:cNvPr>
          <p:cNvSpPr/>
          <p:nvPr/>
        </p:nvSpPr>
        <p:spPr>
          <a:xfrm>
            <a:off x="4568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27D5FB6-7D29-746E-1F5E-AED189F8769D}"/>
              </a:ext>
            </a:extLst>
          </p:cNvPr>
          <p:cNvCxnSpPr>
            <a:cxnSpLocks/>
          </p:cNvCxnSpPr>
          <p:nvPr/>
        </p:nvCxnSpPr>
        <p:spPr>
          <a:xfrm>
            <a:off x="3828288" y="2794599"/>
            <a:ext cx="740664"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0D5F3AA-D694-FAB8-ECD5-256D6B66F29F}"/>
              </a:ext>
            </a:extLst>
          </p:cNvPr>
          <p:cNvCxnSpPr>
            <a:cxnSpLocks/>
          </p:cNvCxnSpPr>
          <p:nvPr/>
        </p:nvCxnSpPr>
        <p:spPr>
          <a:xfrm flipH="1">
            <a:off x="6515466" y="2767595"/>
            <a:ext cx="93384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D8C1748-0B21-B782-ECD1-80EC5F45D008}"/>
              </a:ext>
            </a:extLst>
          </p:cNvPr>
          <p:cNvCxnSpPr>
            <a:cxnSpLocks/>
          </p:cNvCxnSpPr>
          <p:nvPr/>
        </p:nvCxnSpPr>
        <p:spPr>
          <a:xfrm>
            <a:off x="4943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92FC43E-3A3D-E256-5BC7-DD648457C115}"/>
              </a:ext>
            </a:extLst>
          </p:cNvPr>
          <p:cNvCxnSpPr>
            <a:cxnSpLocks/>
          </p:cNvCxnSpPr>
          <p:nvPr/>
        </p:nvCxnSpPr>
        <p:spPr>
          <a:xfrm flipH="1">
            <a:off x="4943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4ED8DB1-4EFA-B861-6ABD-DA0779AE5525}"/>
              </a:ext>
            </a:extLst>
          </p:cNvPr>
          <p:cNvCxnSpPr>
            <a:cxnSpLocks/>
          </p:cNvCxnSpPr>
          <p:nvPr/>
        </p:nvCxnSpPr>
        <p:spPr>
          <a:xfrm flipH="1">
            <a:off x="4568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312B2C5-1958-7B69-85F4-8FF656F6F56E}"/>
              </a:ext>
            </a:extLst>
          </p:cNvPr>
          <p:cNvCxnSpPr/>
          <p:nvPr/>
        </p:nvCxnSpPr>
        <p:spPr>
          <a:xfrm flipV="1">
            <a:off x="4943856" y="1325880"/>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B02CF7-E812-19A8-4B11-D7076EC55086}"/>
              </a:ext>
            </a:extLst>
          </p:cNvPr>
          <p:cNvCxnSpPr/>
          <p:nvPr/>
        </p:nvCxnSpPr>
        <p:spPr>
          <a:xfrm flipV="1">
            <a:off x="4568952" y="172516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D26FF9B-056F-AE83-B094-016B369BD14B}"/>
              </a:ext>
            </a:extLst>
          </p:cNvPr>
          <p:cNvCxnSpPr>
            <a:cxnSpLocks/>
          </p:cNvCxnSpPr>
          <p:nvPr/>
        </p:nvCxnSpPr>
        <p:spPr>
          <a:xfrm flipV="1">
            <a:off x="4568952" y="1581330"/>
            <a:ext cx="374904" cy="38010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D173A3B-5D3E-FBEA-F0A4-1FC55D0B6085}"/>
              </a:ext>
            </a:extLst>
          </p:cNvPr>
          <p:cNvSpPr txBox="1"/>
          <p:nvPr/>
        </p:nvSpPr>
        <p:spPr>
          <a:xfrm>
            <a:off x="4495879" y="1296389"/>
            <a:ext cx="415498" cy="369332"/>
          </a:xfrm>
          <a:prstGeom prst="rect">
            <a:avLst/>
          </a:prstGeom>
          <a:noFill/>
        </p:spPr>
        <p:txBody>
          <a:bodyPr wrap="none" rtlCol="0">
            <a:spAutoFit/>
          </a:bodyPr>
          <a:lstStyle/>
          <a:p>
            <a:r>
              <a:rPr lang="en-US" dirty="0" err="1">
                <a:sym typeface="Symbol" panose="05050102010706020507" pitchFamily="18" charset="2"/>
              </a:rPr>
              <a:t>d</a:t>
            </a:r>
            <a:r>
              <a:rPr lang="en-US" dirty="0" err="1"/>
              <a:t>z</a:t>
            </a:r>
            <a:endParaRPr lang="en-US" dirty="0"/>
          </a:p>
        </p:txBody>
      </p:sp>
      <p:cxnSp>
        <p:nvCxnSpPr>
          <p:cNvPr id="15" name="Straight Connector 14">
            <a:extLst>
              <a:ext uri="{FF2B5EF4-FFF2-40B4-BE49-F238E27FC236}">
                <a16:creationId xmlns:a16="http://schemas.microsoft.com/office/drawing/2014/main" id="{8CE21D82-5BB2-7B20-4B76-32D44A3F31D6}"/>
              </a:ext>
            </a:extLst>
          </p:cNvPr>
          <p:cNvCxnSpPr/>
          <p:nvPr/>
        </p:nvCxnSpPr>
        <p:spPr>
          <a:xfrm flipV="1">
            <a:off x="4568952" y="3520702"/>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11ADD0-C44A-A4CF-B328-B85E48DB8A42}"/>
              </a:ext>
            </a:extLst>
          </p:cNvPr>
          <p:cNvCxnSpPr/>
          <p:nvPr/>
        </p:nvCxnSpPr>
        <p:spPr>
          <a:xfrm flipV="1">
            <a:off x="6385560" y="3444764"/>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76D556B-E548-114E-10DA-CE5E435BBBB1}"/>
              </a:ext>
            </a:extLst>
          </p:cNvPr>
          <p:cNvCxnSpPr>
            <a:cxnSpLocks/>
          </p:cNvCxnSpPr>
          <p:nvPr/>
        </p:nvCxnSpPr>
        <p:spPr>
          <a:xfrm>
            <a:off x="4568952" y="3781306"/>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6BD8E51-928B-6538-9DE3-75C3BE796E18}"/>
              </a:ext>
            </a:extLst>
          </p:cNvPr>
          <p:cNvSpPr txBox="1"/>
          <p:nvPr/>
        </p:nvSpPr>
        <p:spPr>
          <a:xfrm>
            <a:off x="5264698" y="3596640"/>
            <a:ext cx="417102" cy="369332"/>
          </a:xfrm>
          <a:prstGeom prst="rect">
            <a:avLst/>
          </a:prstGeom>
          <a:solidFill>
            <a:schemeClr val="bg1"/>
          </a:solidFill>
        </p:spPr>
        <p:txBody>
          <a:bodyPr wrap="none" rtlCol="0">
            <a:spAutoFit/>
          </a:bodyPr>
          <a:lstStyle/>
          <a:p>
            <a:r>
              <a:rPr lang="en-US" dirty="0">
                <a:sym typeface="Symbol" panose="05050102010706020507" pitchFamily="18" charset="2"/>
              </a:rPr>
              <a:t>d</a:t>
            </a:r>
            <a:r>
              <a:rPr lang="en-US" dirty="0"/>
              <a:t>x</a:t>
            </a:r>
          </a:p>
        </p:txBody>
      </p:sp>
      <p:cxnSp>
        <p:nvCxnSpPr>
          <p:cNvPr id="25" name="Straight Connector 24">
            <a:extLst>
              <a:ext uri="{FF2B5EF4-FFF2-40B4-BE49-F238E27FC236}">
                <a16:creationId xmlns:a16="http://schemas.microsoft.com/office/drawing/2014/main" id="{86912471-0A70-708E-897C-E86A10876C71}"/>
              </a:ext>
            </a:extLst>
          </p:cNvPr>
          <p:cNvCxnSpPr>
            <a:cxnSpLocks/>
          </p:cNvCxnSpPr>
          <p:nvPr/>
        </p:nvCxnSpPr>
        <p:spPr>
          <a:xfrm flipH="1">
            <a:off x="4105735" y="231648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16C13D7-78AB-6F8F-5255-33E8C51B6E3D}"/>
              </a:ext>
            </a:extLst>
          </p:cNvPr>
          <p:cNvCxnSpPr>
            <a:cxnSpLocks/>
          </p:cNvCxnSpPr>
          <p:nvPr/>
        </p:nvCxnSpPr>
        <p:spPr>
          <a:xfrm flipH="1">
            <a:off x="4111831" y="342900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4582FE-08BD-FCC6-657F-10BBC29128F9}"/>
              </a:ext>
            </a:extLst>
          </p:cNvPr>
          <p:cNvCxnSpPr>
            <a:cxnSpLocks/>
          </p:cNvCxnSpPr>
          <p:nvPr/>
        </p:nvCxnSpPr>
        <p:spPr>
          <a:xfrm flipV="1">
            <a:off x="4308348" y="2316480"/>
            <a:ext cx="0" cy="1102114"/>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7BE651B-D294-EA86-5F53-24780C613604}"/>
              </a:ext>
            </a:extLst>
          </p:cNvPr>
          <p:cNvSpPr txBox="1"/>
          <p:nvPr/>
        </p:nvSpPr>
        <p:spPr>
          <a:xfrm>
            <a:off x="4111515" y="2923460"/>
            <a:ext cx="418704" cy="369332"/>
          </a:xfrm>
          <a:prstGeom prst="rect">
            <a:avLst/>
          </a:prstGeom>
          <a:solidFill>
            <a:schemeClr val="bg1"/>
          </a:solidFill>
        </p:spPr>
        <p:txBody>
          <a:bodyPr wrap="none" rtlCol="0">
            <a:spAutoFit/>
          </a:bodyPr>
          <a:lstStyle/>
          <a:p>
            <a:r>
              <a:rPr lang="en-US" dirty="0" err="1">
                <a:sym typeface="Symbol" panose="05050102010706020507" pitchFamily="18" charset="2"/>
              </a:rPr>
              <a:t>dy</a:t>
            </a:r>
            <a:endParaRPr lang="en-US" dirty="0"/>
          </a:p>
        </p:txBody>
      </p:sp>
      <p:sp>
        <p:nvSpPr>
          <p:cNvPr id="33" name="TextBox 32">
            <a:extLst>
              <a:ext uri="{FF2B5EF4-FFF2-40B4-BE49-F238E27FC236}">
                <a16:creationId xmlns:a16="http://schemas.microsoft.com/office/drawing/2014/main" id="{939DC9B8-FE62-186B-4C4B-54EDA73AA9B5}"/>
              </a:ext>
            </a:extLst>
          </p:cNvPr>
          <p:cNvSpPr txBox="1"/>
          <p:nvPr/>
        </p:nvSpPr>
        <p:spPr>
          <a:xfrm>
            <a:off x="3383618" y="2549236"/>
            <a:ext cx="362600" cy="461665"/>
          </a:xfrm>
          <a:prstGeom prst="rect">
            <a:avLst/>
          </a:prstGeom>
          <a:noFill/>
        </p:spPr>
        <p:txBody>
          <a:bodyPr wrap="none" rtlCol="0">
            <a:spAutoFit/>
          </a:bodyPr>
          <a:lstStyle/>
          <a:p>
            <a:r>
              <a:rPr lang="en-US" sz="2400" dirty="0">
                <a:solidFill>
                  <a:srgbClr val="00B050"/>
                </a:solidFill>
              </a:rPr>
              <a:t>P</a:t>
            </a:r>
          </a:p>
        </p:txBody>
      </p:sp>
      <p:sp>
        <p:nvSpPr>
          <p:cNvPr id="34" name="TextBox 33">
            <a:extLst>
              <a:ext uri="{FF2B5EF4-FFF2-40B4-BE49-F238E27FC236}">
                <a16:creationId xmlns:a16="http://schemas.microsoft.com/office/drawing/2014/main" id="{02A560B1-56B2-9197-9B9F-10AA18A1D6A5}"/>
              </a:ext>
            </a:extLst>
          </p:cNvPr>
          <p:cNvSpPr txBox="1"/>
          <p:nvPr/>
        </p:nvSpPr>
        <p:spPr>
          <a:xfrm>
            <a:off x="7529090" y="2536210"/>
            <a:ext cx="878767" cy="461665"/>
          </a:xfrm>
          <a:prstGeom prst="rect">
            <a:avLst/>
          </a:prstGeom>
          <a:noFill/>
        </p:spPr>
        <p:txBody>
          <a:bodyPr wrap="none" rtlCol="0">
            <a:spAutoFit/>
          </a:bodyPr>
          <a:lstStyle/>
          <a:p>
            <a:r>
              <a:rPr lang="en-US" sz="2400" dirty="0" err="1">
                <a:solidFill>
                  <a:srgbClr val="00B050"/>
                </a:solidFill>
              </a:rPr>
              <a:t>P+dP</a:t>
            </a:r>
            <a:endParaRPr lang="en-US" sz="2400" dirty="0">
              <a:solidFill>
                <a:srgbClr val="00B050"/>
              </a:solidFill>
            </a:endParaRPr>
          </a:p>
        </p:txBody>
      </p:sp>
    </p:spTree>
    <p:extLst>
      <p:ext uri="{BB962C8B-B14F-4D97-AF65-F5344CB8AC3E}">
        <p14:creationId xmlns:p14="http://schemas.microsoft.com/office/powerpoint/2010/main" val="1325716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8E2971-ABB3-3665-9E07-6648A45C5EA1}"/>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0D541E2D-86A8-F412-3392-CC7332FB94C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32625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a:blip r:embed="rId2" cstate="print"/>
          <a:srcRect/>
          <a:stretch>
            <a:fillRect/>
          </a:stretch>
        </p:blipFill>
        <p:spPr bwMode="auto">
          <a:xfrm>
            <a:off x="7162801" y="1828800"/>
            <a:ext cx="1869243" cy="182245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dirty="0"/>
          </a:p>
        </p:txBody>
      </p:sp>
      <p:sp>
        <p:nvSpPr>
          <p:cNvPr id="4" name="Rectangle 2"/>
          <p:cNvSpPr>
            <a:spLocks noChangeArrowheads="1"/>
          </p:cNvSpPr>
          <p:nvPr/>
        </p:nvSpPr>
        <p:spPr bwMode="auto">
          <a:xfrm>
            <a:off x="2743201" y="3519488"/>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5" name="Rectangle 5"/>
          <p:cNvSpPr>
            <a:spLocks noChangeArrowheads="1"/>
          </p:cNvSpPr>
          <p:nvPr/>
        </p:nvSpPr>
        <p:spPr bwMode="auto">
          <a:xfrm>
            <a:off x="2743201" y="1676401"/>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6" name="Line 6"/>
          <p:cNvSpPr>
            <a:spLocks noChangeShapeType="1"/>
          </p:cNvSpPr>
          <p:nvPr/>
        </p:nvSpPr>
        <p:spPr bwMode="auto">
          <a:xfrm>
            <a:off x="2728913" y="3533775"/>
            <a:ext cx="2525713" cy="0"/>
          </a:xfrm>
          <a:prstGeom prst="line">
            <a:avLst/>
          </a:prstGeom>
          <a:noFill/>
          <a:ln w="9525">
            <a:solidFill>
              <a:srgbClr val="FF0000"/>
            </a:solidFill>
            <a:round/>
            <a:headEnd/>
            <a:tailEnd/>
          </a:ln>
        </p:spPr>
        <p:txBody>
          <a:bodyPr wrap="none" anchor="ctr"/>
          <a:lstStyle/>
          <a:p>
            <a:endParaRPr lang="en-US"/>
          </a:p>
        </p:txBody>
      </p:sp>
      <p:sp>
        <p:nvSpPr>
          <p:cNvPr id="7" name="Text Box 7"/>
          <p:cNvSpPr txBox="1">
            <a:spLocks noChangeArrowheads="1"/>
          </p:cNvSpPr>
          <p:nvPr/>
        </p:nvSpPr>
        <p:spPr bwMode="auto">
          <a:xfrm>
            <a:off x="3438525" y="2147888"/>
            <a:ext cx="1136650" cy="366713"/>
          </a:xfrm>
          <a:prstGeom prst="rect">
            <a:avLst/>
          </a:prstGeom>
          <a:noFill/>
          <a:ln w="9525" algn="ctr">
            <a:noFill/>
            <a:miter lim="800000"/>
            <a:headEnd/>
            <a:tailEnd/>
          </a:ln>
        </p:spPr>
        <p:txBody>
          <a:bodyPr>
            <a:spAutoFit/>
          </a:bodyPr>
          <a:lstStyle/>
          <a:p>
            <a:pPr algn="ctr"/>
            <a:r>
              <a:rPr lang="en-US"/>
              <a:t>Vacuum</a:t>
            </a:r>
          </a:p>
        </p:txBody>
      </p:sp>
      <p:sp>
        <p:nvSpPr>
          <p:cNvPr id="8" name="Text Box 8"/>
          <p:cNvSpPr txBox="1">
            <a:spLocks noChangeArrowheads="1"/>
          </p:cNvSpPr>
          <p:nvPr/>
        </p:nvSpPr>
        <p:spPr bwMode="auto">
          <a:xfrm>
            <a:off x="2619376" y="2954338"/>
            <a:ext cx="1920875" cy="366713"/>
          </a:xfrm>
          <a:prstGeom prst="rect">
            <a:avLst/>
          </a:prstGeom>
          <a:noFill/>
          <a:ln w="9525" algn="ctr">
            <a:noFill/>
            <a:miter lim="800000"/>
            <a:headEnd/>
            <a:tailEnd/>
          </a:ln>
        </p:spPr>
        <p:txBody>
          <a:bodyPr>
            <a:spAutoFit/>
          </a:bodyPr>
          <a:lstStyle/>
          <a:p>
            <a:pPr algn="ctr"/>
            <a:r>
              <a:rPr lang="en-US"/>
              <a:t>Membrane</a:t>
            </a:r>
          </a:p>
        </p:txBody>
      </p:sp>
      <p:sp>
        <p:nvSpPr>
          <p:cNvPr id="9" name="Line 9"/>
          <p:cNvSpPr>
            <a:spLocks noChangeShapeType="1"/>
          </p:cNvSpPr>
          <p:nvPr/>
        </p:nvSpPr>
        <p:spPr bwMode="auto">
          <a:xfrm flipH="1">
            <a:off x="3367087" y="3243263"/>
            <a:ext cx="115888" cy="276225"/>
          </a:xfrm>
          <a:prstGeom prst="line">
            <a:avLst/>
          </a:prstGeom>
          <a:noFill/>
          <a:ln w="9525">
            <a:solidFill>
              <a:schemeClr val="tx1"/>
            </a:solidFill>
            <a:round/>
            <a:headEnd/>
            <a:tailEnd type="triangle" w="med" len="med"/>
          </a:ln>
        </p:spPr>
        <p:txBody>
          <a:bodyPr wrap="none" anchor="ctr"/>
          <a:lstStyle/>
          <a:p>
            <a:endParaRPr lang="en-US"/>
          </a:p>
        </p:txBody>
      </p:sp>
      <p:sp>
        <p:nvSpPr>
          <p:cNvPr id="11" name="Rectangle 5"/>
          <p:cNvSpPr>
            <a:spLocks noChangeArrowheads="1"/>
          </p:cNvSpPr>
          <p:nvPr/>
        </p:nvSpPr>
        <p:spPr bwMode="auto">
          <a:xfrm>
            <a:off x="6629401" y="1676401"/>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12" name="Line 6"/>
          <p:cNvSpPr>
            <a:spLocks noChangeShapeType="1"/>
          </p:cNvSpPr>
          <p:nvPr/>
        </p:nvSpPr>
        <p:spPr bwMode="auto">
          <a:xfrm>
            <a:off x="6615113" y="3533775"/>
            <a:ext cx="2525713" cy="0"/>
          </a:xfrm>
          <a:prstGeom prst="line">
            <a:avLst/>
          </a:prstGeom>
          <a:noFill/>
          <a:ln w="9525">
            <a:solidFill>
              <a:srgbClr val="FF0000"/>
            </a:solidFill>
            <a:round/>
            <a:headEnd/>
            <a:tailEnd/>
          </a:ln>
        </p:spPr>
        <p:txBody>
          <a:bodyPr wrap="none" anchor="ctr"/>
          <a:lstStyle/>
          <a:p>
            <a:endParaRPr lang="en-US"/>
          </a:p>
        </p:txBody>
      </p:sp>
      <p:sp>
        <p:nvSpPr>
          <p:cNvPr id="14" name="Text Box 8"/>
          <p:cNvSpPr txBox="1">
            <a:spLocks noChangeArrowheads="1"/>
          </p:cNvSpPr>
          <p:nvPr/>
        </p:nvSpPr>
        <p:spPr bwMode="auto">
          <a:xfrm>
            <a:off x="6505576" y="2954338"/>
            <a:ext cx="1920875" cy="366713"/>
          </a:xfrm>
          <a:prstGeom prst="rect">
            <a:avLst/>
          </a:prstGeom>
          <a:noFill/>
          <a:ln w="9525" algn="ctr">
            <a:noFill/>
            <a:miter lim="800000"/>
            <a:headEnd/>
            <a:tailEnd/>
          </a:ln>
        </p:spPr>
        <p:txBody>
          <a:bodyPr>
            <a:spAutoFit/>
          </a:bodyPr>
          <a:lstStyle/>
          <a:p>
            <a:pPr algn="ctr"/>
            <a:r>
              <a:rPr lang="en-US"/>
              <a:t>Membrane</a:t>
            </a:r>
          </a:p>
        </p:txBody>
      </p:sp>
      <p:sp>
        <p:nvSpPr>
          <p:cNvPr id="15" name="Line 9"/>
          <p:cNvSpPr>
            <a:spLocks noChangeShapeType="1"/>
          </p:cNvSpPr>
          <p:nvPr/>
        </p:nvSpPr>
        <p:spPr bwMode="auto">
          <a:xfrm flipH="1">
            <a:off x="7253287" y="3243263"/>
            <a:ext cx="115888" cy="276225"/>
          </a:xfrm>
          <a:prstGeom prst="line">
            <a:avLst/>
          </a:prstGeom>
          <a:noFill/>
          <a:ln w="9525">
            <a:solidFill>
              <a:schemeClr val="tx1"/>
            </a:solidFill>
            <a:round/>
            <a:headEnd/>
            <a:tailEnd type="triangle" w="med" len="med"/>
          </a:ln>
        </p:spPr>
        <p:txBody>
          <a:bodyPr wrap="none" anchor="ctr"/>
          <a:lstStyle/>
          <a:p>
            <a:endParaRPr lang="en-US"/>
          </a:p>
        </p:txBody>
      </p:sp>
      <p:sp>
        <p:nvSpPr>
          <p:cNvPr id="10" name="Rectangle 2"/>
          <p:cNvSpPr>
            <a:spLocks noChangeArrowheads="1"/>
          </p:cNvSpPr>
          <p:nvPr/>
        </p:nvSpPr>
        <p:spPr bwMode="auto">
          <a:xfrm>
            <a:off x="6629401" y="3519488"/>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16" name="Rectangle 15"/>
          <p:cNvSpPr/>
          <p:nvPr/>
        </p:nvSpPr>
        <p:spPr>
          <a:xfrm>
            <a:off x="8382000" y="3505200"/>
            <a:ext cx="152400" cy="7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2971800" y="533401"/>
            <a:ext cx="5181600" cy="5252339"/>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Number Placeholder 5"/>
          <p:cNvSpPr>
            <a:spLocks noGrp="1"/>
          </p:cNvSpPr>
          <p:nvPr>
            <p:ph type="sldNum" sz="quarter" idx="12"/>
          </p:nvPr>
        </p:nvSpPr>
        <p:spPr>
          <a:noFill/>
        </p:spPr>
        <p:txBody>
          <a:bodyPr/>
          <a:lstStyle/>
          <a:p>
            <a:fld id="{C2812B8D-E844-4807-B20D-B92C141DEBC2}" type="slidenum">
              <a:rPr lang="en-US" smtClean="0"/>
              <a:pPr/>
              <a:t>18</a:t>
            </a:fld>
            <a:endParaRPr lang="en-US"/>
          </a:p>
        </p:txBody>
      </p:sp>
      <p:sp>
        <p:nvSpPr>
          <p:cNvPr id="183299" name="Rectangle 2"/>
          <p:cNvSpPr>
            <a:spLocks noChangeArrowheads="1"/>
          </p:cNvSpPr>
          <p:nvPr/>
        </p:nvSpPr>
        <p:spPr bwMode="auto">
          <a:xfrm>
            <a:off x="7402514" y="3657601"/>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183300" name="Rectangle 3"/>
          <p:cNvSpPr>
            <a:spLocks noGrp="1" noChangeArrowheads="1"/>
          </p:cNvSpPr>
          <p:nvPr>
            <p:ph type="title"/>
          </p:nvPr>
        </p:nvSpPr>
        <p:spPr/>
        <p:txBody>
          <a:bodyPr/>
          <a:lstStyle/>
          <a:p>
            <a:pPr eaLnBrk="1" hangingPunct="1"/>
            <a:r>
              <a:rPr lang="en-US"/>
              <a:t>Question 123.10.7</a:t>
            </a:r>
            <a:endParaRPr lang="en-US" dirty="0"/>
          </a:p>
        </p:txBody>
      </p:sp>
      <p:sp>
        <p:nvSpPr>
          <p:cNvPr id="183301" name="Rectangle 4"/>
          <p:cNvSpPr>
            <a:spLocks noGrp="1" noChangeArrowheads="1"/>
          </p:cNvSpPr>
          <p:nvPr>
            <p:ph type="body" idx="1"/>
          </p:nvPr>
        </p:nvSpPr>
        <p:spPr>
          <a:xfrm>
            <a:off x="1981201" y="1600201"/>
            <a:ext cx="3978275" cy="4525963"/>
          </a:xfrm>
        </p:spPr>
        <p:txBody>
          <a:bodyPr/>
          <a:lstStyle/>
          <a:p>
            <a:pPr marL="609600" indent="-609600">
              <a:lnSpc>
                <a:spcPct val="80000"/>
              </a:lnSpc>
              <a:buNone/>
            </a:pPr>
            <a:r>
              <a:rPr lang="en-US"/>
              <a:t>The initial state of a system is shown, if the membrane is broken, the gas fills the entire container. Is there work done by the gas in filling the container?</a:t>
            </a:r>
          </a:p>
          <a:p>
            <a:pPr marL="609600" indent="-609600">
              <a:lnSpc>
                <a:spcPct val="80000"/>
              </a:lnSpc>
              <a:buFontTx/>
              <a:buAutoNum type="alphaLcParenR"/>
            </a:pPr>
            <a:r>
              <a:rPr lang="en-US"/>
              <a:t>Yes</a:t>
            </a:r>
          </a:p>
          <a:p>
            <a:pPr marL="609600" indent="-609600">
              <a:lnSpc>
                <a:spcPct val="80000"/>
              </a:lnSpc>
              <a:buFontTx/>
              <a:buAutoNum type="alphaLcParenR"/>
            </a:pPr>
            <a:r>
              <a:rPr lang="en-US"/>
              <a:t>No</a:t>
            </a:r>
          </a:p>
          <a:p>
            <a:pPr marL="609600" indent="-609600">
              <a:lnSpc>
                <a:spcPct val="80000"/>
              </a:lnSpc>
              <a:buFontTx/>
              <a:buAutoNum type="alphaLcParenR"/>
            </a:pPr>
            <a:r>
              <a:rPr lang="en-US"/>
              <a:t>Can’t Tell</a:t>
            </a:r>
          </a:p>
        </p:txBody>
      </p:sp>
      <p:sp>
        <p:nvSpPr>
          <p:cNvPr id="183302" name="Rectangle 5"/>
          <p:cNvSpPr>
            <a:spLocks noChangeArrowheads="1"/>
          </p:cNvSpPr>
          <p:nvPr/>
        </p:nvSpPr>
        <p:spPr bwMode="auto">
          <a:xfrm>
            <a:off x="7402514" y="1814514"/>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183303" name="Line 6"/>
          <p:cNvSpPr>
            <a:spLocks noChangeShapeType="1"/>
          </p:cNvSpPr>
          <p:nvPr/>
        </p:nvSpPr>
        <p:spPr bwMode="auto">
          <a:xfrm>
            <a:off x="7388226" y="3671888"/>
            <a:ext cx="2525713" cy="0"/>
          </a:xfrm>
          <a:prstGeom prst="line">
            <a:avLst/>
          </a:prstGeom>
          <a:noFill/>
          <a:ln w="9525">
            <a:solidFill>
              <a:srgbClr val="FF0000"/>
            </a:solidFill>
            <a:round/>
            <a:headEnd/>
            <a:tailEnd/>
          </a:ln>
        </p:spPr>
        <p:txBody>
          <a:bodyPr wrap="none" anchor="ctr"/>
          <a:lstStyle/>
          <a:p>
            <a:endParaRPr lang="en-US"/>
          </a:p>
        </p:txBody>
      </p:sp>
      <p:sp>
        <p:nvSpPr>
          <p:cNvPr id="183304" name="Text Box 7"/>
          <p:cNvSpPr txBox="1">
            <a:spLocks noChangeArrowheads="1"/>
          </p:cNvSpPr>
          <p:nvPr/>
        </p:nvSpPr>
        <p:spPr bwMode="auto">
          <a:xfrm>
            <a:off x="8097838" y="2286001"/>
            <a:ext cx="1136650" cy="366713"/>
          </a:xfrm>
          <a:prstGeom prst="rect">
            <a:avLst/>
          </a:prstGeom>
          <a:noFill/>
          <a:ln w="9525" algn="ctr">
            <a:noFill/>
            <a:miter lim="800000"/>
            <a:headEnd/>
            <a:tailEnd/>
          </a:ln>
        </p:spPr>
        <p:txBody>
          <a:bodyPr>
            <a:spAutoFit/>
          </a:bodyPr>
          <a:lstStyle/>
          <a:p>
            <a:pPr algn="ctr"/>
            <a:r>
              <a:rPr lang="en-US"/>
              <a:t>Vacuum</a:t>
            </a:r>
          </a:p>
        </p:txBody>
      </p:sp>
      <p:sp>
        <p:nvSpPr>
          <p:cNvPr id="183305" name="Text Box 8"/>
          <p:cNvSpPr txBox="1">
            <a:spLocks noChangeArrowheads="1"/>
          </p:cNvSpPr>
          <p:nvPr/>
        </p:nvSpPr>
        <p:spPr bwMode="auto">
          <a:xfrm>
            <a:off x="7278689" y="3092451"/>
            <a:ext cx="1920875" cy="366713"/>
          </a:xfrm>
          <a:prstGeom prst="rect">
            <a:avLst/>
          </a:prstGeom>
          <a:noFill/>
          <a:ln w="9525" algn="ctr">
            <a:noFill/>
            <a:miter lim="800000"/>
            <a:headEnd/>
            <a:tailEnd/>
          </a:ln>
        </p:spPr>
        <p:txBody>
          <a:bodyPr>
            <a:spAutoFit/>
          </a:bodyPr>
          <a:lstStyle/>
          <a:p>
            <a:pPr algn="ctr"/>
            <a:r>
              <a:rPr lang="en-US"/>
              <a:t>Membrane</a:t>
            </a:r>
          </a:p>
        </p:txBody>
      </p:sp>
      <p:sp>
        <p:nvSpPr>
          <p:cNvPr id="183306" name="Line 9"/>
          <p:cNvSpPr>
            <a:spLocks noChangeShapeType="1"/>
          </p:cNvSpPr>
          <p:nvPr/>
        </p:nvSpPr>
        <p:spPr bwMode="auto">
          <a:xfrm flipH="1">
            <a:off x="8026400" y="3381376"/>
            <a:ext cx="115888" cy="276225"/>
          </a:xfrm>
          <a:prstGeom prst="line">
            <a:avLst/>
          </a:prstGeom>
          <a:noFill/>
          <a:ln w="9525">
            <a:solidFill>
              <a:schemeClr val="tx1"/>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378618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317</Words>
  <Application>Microsoft Office PowerPoint</Application>
  <PresentationFormat>Widescreen</PresentationFormat>
  <Paragraphs>79</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 Math</vt:lpstr>
      <vt:lpstr>Symbol</vt:lpstr>
      <vt:lpstr>Office Theme</vt:lpstr>
      <vt:lpstr>Lecture 34</vt:lpstr>
      <vt:lpstr>Question 123.11.4</vt:lpstr>
      <vt:lpstr>PowerPoint Presentation</vt:lpstr>
      <vt:lpstr>Question 123.11.4</vt:lpstr>
      <vt:lpstr>PowerPoint Presentation</vt:lpstr>
      <vt:lpstr>Question</vt:lpstr>
      <vt:lpstr>PowerPoint Presentation</vt:lpstr>
      <vt:lpstr>Question</vt:lpstr>
      <vt:lpstr>Question</vt:lpstr>
      <vt:lpstr>Question</vt:lpstr>
      <vt:lpstr>PowerPoint Presentation</vt:lpstr>
      <vt:lpstr>PowerPoint Presentation</vt:lpstr>
      <vt:lpstr>PowerPoint Presentation</vt:lpstr>
      <vt:lpstr>PowerPoint Presentation</vt:lpstr>
      <vt:lpstr>END</vt:lpstr>
      <vt:lpstr>PowerPoint Presentation</vt:lpstr>
      <vt:lpstr>PowerPoint Presentation</vt:lpstr>
      <vt:lpstr>Question 123.10.7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Lines, Todd</dc:creator>
  <cp:lastModifiedBy>Todd Lines</cp:lastModifiedBy>
  <cp:revision>1</cp:revision>
  <dcterms:created xsi:type="dcterms:W3CDTF">2025-07-03T22:42:33Z</dcterms:created>
  <dcterms:modified xsi:type="dcterms:W3CDTF">2026-08-26T22:04:00Z</dcterms:modified>
</cp:coreProperties>
</file>