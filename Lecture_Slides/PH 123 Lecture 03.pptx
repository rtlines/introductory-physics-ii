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org&amp;utm_campaign=imageinfo&amp;utm_content=thumbnail" ContentType="image/pn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402" r:id="rId3"/>
    <p:sldId id="403" r:id="rId4"/>
    <p:sldId id="404" r:id="rId5"/>
    <p:sldId id="405" r:id="rId6"/>
    <p:sldId id="406" r:id="rId7"/>
    <p:sldId id="407" r:id="rId8"/>
    <p:sldId id="408" r:id="rId9"/>
    <p:sldId id="409" r:id="rId10"/>
    <p:sldId id="410" r:id="rId11"/>
    <p:sldId id="411" r:id="rId12"/>
    <p:sldId id="412" r:id="rId13"/>
    <p:sldId id="413" r:id="rId14"/>
    <p:sldId id="392" r:id="rId15"/>
    <p:sldId id="364" r:id="rId16"/>
    <p:sldId id="415" r:id="rId17"/>
    <p:sldId id="365" r:id="rId18"/>
    <p:sldId id="396" r:id="rId19"/>
    <p:sldId id="366" r:id="rId20"/>
    <p:sldId id="367" r:id="rId21"/>
    <p:sldId id="368" r:id="rId22"/>
    <p:sldId id="369" r:id="rId23"/>
    <p:sldId id="370" r:id="rId24"/>
    <p:sldId id="371" r:id="rId25"/>
    <p:sldId id="414" r:id="rId26"/>
    <p:sldId id="395" r:id="rId27"/>
    <p:sldId id="375" r:id="rId28"/>
    <p:sldId id="376" r:id="rId29"/>
    <p:sldId id="377" r:id="rId30"/>
    <p:sldId id="378" r:id="rId31"/>
    <p:sldId id="379" r:id="rId32"/>
    <p:sldId id="426" r:id="rId33"/>
    <p:sldId id="416" r:id="rId34"/>
    <p:sldId id="417" r:id="rId35"/>
    <p:sldId id="418" r:id="rId36"/>
    <p:sldId id="419" r:id="rId37"/>
    <p:sldId id="420" r:id="rId38"/>
    <p:sldId id="421" r:id="rId39"/>
    <p:sldId id="422" r:id="rId40"/>
    <p:sldId id="423" r:id="rId41"/>
    <p:sldId id="424" r:id="rId42"/>
    <p:sldId id="425" r:id="rId43"/>
    <p:sldId id="380" r:id="rId44"/>
    <p:sldId id="397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ABBC37-5D60-4E81-B6F6-D086133F9481}" v="1" dt="2026-08-26T18:18:10.0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47" d="100"/>
          <a:sy n="47" d="100"/>
        </p:scale>
        <p:origin x="48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custSel addSld delSld modSld sldOrd">
      <pc:chgData name="Todd Lines" userId="afaf7c3a-e8aa-4568-882a-02ad8f9e19b0" providerId="ADAL" clId="{5FF5AC1B-ABA9-43D7-A1E3-2D92732CD6E2}" dt="2026-08-26T18:19:58.459" v="27" actId="47"/>
      <pc:docMkLst>
        <pc:docMk/>
      </pc:docMkLst>
      <pc:sldChg chg="ord">
        <pc:chgData name="Todd Lines" userId="afaf7c3a-e8aa-4568-882a-02ad8f9e19b0" providerId="ADAL" clId="{5FF5AC1B-ABA9-43D7-A1E3-2D92732CD6E2}" dt="2026-08-26T18:18:50.274" v="5"/>
        <pc:sldMkLst>
          <pc:docMk/>
          <pc:sldMk cId="0" sldId="380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1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5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6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7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8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89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90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0" sldId="391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775210015" sldId="393"/>
        </pc:sldMkLst>
      </pc:sldChg>
      <pc:sldChg chg="del">
        <pc:chgData name="Todd Lines" userId="afaf7c3a-e8aa-4568-882a-02ad8f9e19b0" providerId="ADAL" clId="{5FF5AC1B-ABA9-43D7-A1E3-2D92732CD6E2}" dt="2026-08-26T18:19:58.459" v="27" actId="47"/>
        <pc:sldMkLst>
          <pc:docMk/>
          <pc:sldMk cId="3934662764" sldId="394"/>
        </pc:sldMkLst>
      </pc:sldChg>
      <pc:sldChg chg="add del">
        <pc:chgData name="Todd Lines" userId="afaf7c3a-e8aa-4568-882a-02ad8f9e19b0" providerId="ADAL" clId="{5FF5AC1B-ABA9-43D7-A1E3-2D92732CD6E2}" dt="2026-08-26T18:18:58.690" v="6" actId="47"/>
        <pc:sldMkLst>
          <pc:docMk/>
          <pc:sldMk cId="1986014694" sldId="399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3570093930" sldId="416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3797345959" sldId="417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0" sldId="418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0" sldId="419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0" sldId="420"/>
        </pc:sldMkLst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0" sldId="421"/>
        </pc:sldMkLst>
      </pc:sldChg>
      <pc:sldChg chg="modSp add mod">
        <pc:chgData name="Todd Lines" userId="afaf7c3a-e8aa-4568-882a-02ad8f9e19b0" providerId="ADAL" clId="{5FF5AC1B-ABA9-43D7-A1E3-2D92732CD6E2}" dt="2026-08-26T18:18:10.093" v="1" actId="27636"/>
        <pc:sldMkLst>
          <pc:docMk/>
          <pc:sldMk cId="0" sldId="422"/>
        </pc:sldMkLst>
        <pc:spChg chg="mod">
          <ac:chgData name="Todd Lines" userId="afaf7c3a-e8aa-4568-882a-02ad8f9e19b0" providerId="ADAL" clId="{5FF5AC1B-ABA9-43D7-A1E3-2D92732CD6E2}" dt="2026-08-26T18:18:10.093" v="1" actId="27636"/>
          <ac:spMkLst>
            <pc:docMk/>
            <pc:sldMk cId="0" sldId="422"/>
            <ac:spMk id="23556" creationId="{00000000-0000-0000-0000-000000000000}"/>
          </ac:spMkLst>
        </pc:spChg>
      </pc:sldChg>
      <pc:sldChg chg="add">
        <pc:chgData name="Todd Lines" userId="afaf7c3a-e8aa-4568-882a-02ad8f9e19b0" providerId="ADAL" clId="{5FF5AC1B-ABA9-43D7-A1E3-2D92732CD6E2}" dt="2026-08-26T18:18:10.013" v="0"/>
        <pc:sldMkLst>
          <pc:docMk/>
          <pc:sldMk cId="0" sldId="423"/>
        </pc:sldMkLst>
      </pc:sldChg>
      <pc:sldChg chg="modSp add mod">
        <pc:chgData name="Todd Lines" userId="afaf7c3a-e8aa-4568-882a-02ad8f9e19b0" providerId="ADAL" clId="{5FF5AC1B-ABA9-43D7-A1E3-2D92732CD6E2}" dt="2026-08-26T18:18:10.093" v="2" actId="27636"/>
        <pc:sldMkLst>
          <pc:docMk/>
          <pc:sldMk cId="3531190067" sldId="424"/>
        </pc:sldMkLst>
        <pc:spChg chg="mod">
          <ac:chgData name="Todd Lines" userId="afaf7c3a-e8aa-4568-882a-02ad8f9e19b0" providerId="ADAL" clId="{5FF5AC1B-ABA9-43D7-A1E3-2D92732CD6E2}" dt="2026-08-26T18:18:10.093" v="2" actId="27636"/>
          <ac:spMkLst>
            <pc:docMk/>
            <pc:sldMk cId="3531190067" sldId="424"/>
            <ac:spMk id="1030" creationId="{90A21971-A232-47EF-3A02-A58F8B124A12}"/>
          </ac:spMkLst>
        </pc:spChg>
      </pc:sldChg>
      <pc:sldChg chg="modSp add mod">
        <pc:chgData name="Todd Lines" userId="afaf7c3a-e8aa-4568-882a-02ad8f9e19b0" providerId="ADAL" clId="{5FF5AC1B-ABA9-43D7-A1E3-2D92732CD6E2}" dt="2026-08-26T18:18:10.124" v="3" actId="27636"/>
        <pc:sldMkLst>
          <pc:docMk/>
          <pc:sldMk cId="0" sldId="425"/>
        </pc:sldMkLst>
        <pc:spChg chg="mod">
          <ac:chgData name="Todd Lines" userId="afaf7c3a-e8aa-4568-882a-02ad8f9e19b0" providerId="ADAL" clId="{5FF5AC1B-ABA9-43D7-A1E3-2D92732CD6E2}" dt="2026-08-26T18:18:10.124" v="3" actId="27636"/>
          <ac:spMkLst>
            <pc:docMk/>
            <pc:sldMk cId="0" sldId="425"/>
            <ac:spMk id="24580" creationId="{00000000-0000-0000-0000-000000000000}"/>
          </ac:spMkLst>
        </pc:spChg>
      </pc:sldChg>
      <pc:sldChg chg="modSp new mod">
        <pc:chgData name="Todd Lines" userId="afaf7c3a-e8aa-4568-882a-02ad8f9e19b0" providerId="ADAL" clId="{5FF5AC1B-ABA9-43D7-A1E3-2D92732CD6E2}" dt="2026-08-26T18:19:27.017" v="26" actId="20577"/>
        <pc:sldMkLst>
          <pc:docMk/>
          <pc:sldMk cId="3941314901" sldId="426"/>
        </pc:sldMkLst>
        <pc:spChg chg="mod">
          <ac:chgData name="Todd Lines" userId="afaf7c3a-e8aa-4568-882a-02ad8f9e19b0" providerId="ADAL" clId="{5FF5AC1B-ABA9-43D7-A1E3-2D92732CD6E2}" dt="2026-08-26T18:19:27.017" v="26" actId="20577"/>
          <ac:spMkLst>
            <pc:docMk/>
            <pc:sldMk cId="3941314901" sldId="426"/>
            <ac:spMk id="2" creationId="{FDFDD89E-FF49-969A-86F6-24ECF1F846C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037D2-FDF7-A98F-A5F6-8D8118867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07906-33DD-9855-9EE7-B9C1C40F2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59E89-5957-76CF-3452-B4712F1AD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0CF25-EF67-2CB1-639A-85D96691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6009-3E6B-7CA1-88CB-3AF02F4E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269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B7D92-53D9-2603-3A16-C006BB3C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2EBE5-B073-0FCD-526A-C0BE3DC2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439AE-ABFB-FCE6-E4A0-4E3B60CA4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396F5-B97D-C475-B8A7-66F761FE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2D585-45E0-1844-81B0-13CA0621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91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5C891-9EB0-2BAB-CD95-505B49CCF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8749E-0FC8-D9FE-4401-162AD7BCB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156DA-663C-8F10-EC20-D76D9DC5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493BD-CC5C-CEE2-4F02-A66D398BB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8F681-9CB3-DAF6-C832-6E355963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38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712F2-06F5-E166-0CEE-15371FF5D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BD1E5-3D96-CABC-A3F5-0E7F744D1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D508E-E89C-45A7-30C2-FA64C0D82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3E24B-087A-28F4-4499-C29832BD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3CDAC-1364-FEBD-FA1A-7632D374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71EE1-CC6D-A889-DF46-A381F352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4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4741-3718-7D8A-91CA-14DFE88A3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16F9C-783A-58AE-9A47-D4D0C3135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8BE796-C107-D49E-47B7-F22349A4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B1F4E3-D5C9-45E1-DC11-FDC1796F85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14CA2F-5626-2AA0-8B7F-8B6938EF9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5900A8-09DD-9C9F-472D-2B63D409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76606E-18CD-320E-2373-99AFF2EA3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D47533-0596-99A0-BDDF-507568C3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2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37897-EBDE-8705-FA14-99A0805F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F01CF-F88C-94BD-3FA7-DE65C7F4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B8B259-9809-E65F-0CA3-A36AD3924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18E2E-11BF-7755-B3DE-AE52AE5F9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5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AF9D1C-1D71-DBE4-A635-22E1F823C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8D956-0D4A-8B83-E56A-2E14C2A25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3C67F-BDC3-B0D1-1F6E-6BAD20FE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2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A890-D579-893E-A36D-43FBB70D7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7C60C-9DD4-5A4F-A3B9-954F6C2E4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7E63F-ED86-40B1-5DF8-C1D0F4BE6F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07CAE-7862-71DD-282B-14E67567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D78B1-5A31-18E2-6077-A9466C4C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74A636-DAE4-C398-7931-7F5696E88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3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CF1F-4DD3-EA42-6FC1-ABD4AD4A3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9B2B12-41FE-C5C6-F9C3-88184580BA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B86B53-240F-5B3F-925E-80763FE25C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81DD8-2D60-FC9F-8D61-8DA59C4B8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3F075E-FFCC-DDF9-F1F0-81D04C626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B1421-C8B4-9C06-E397-024981396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81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5906B-691C-BFBE-7613-03CBF516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63AE5E-E6F2-07D7-F31A-66940B97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8A099-6C46-B772-CF22-F962FAFE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FE2B5-2CE0-6B2B-6DB3-78D4C1A4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3AFE2-0527-7155-090D-CDCFEECC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4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8EF2E0-BFB5-2DD5-7D39-0463A4563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B8CCB-7057-FD1C-5BB9-CC3639860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E1CC5-581A-0E06-D397-31CC7924C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86AB4-6E7C-C25A-1F0D-E1724036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686CB-5076-3C2A-F595-060165562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037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B9FC83-D023-0A1A-12DC-21561EB5A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7A011-CE78-457A-E658-FD09822F2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3CF61-20D8-F133-5F2E-9E23FA634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8946E1-4BD4-4BDB-BF97-56629F967A47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8EE92-62B7-D278-0C00-90E6157AD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BDD44-73C1-CF39-F388-4273EDD5CC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B8EBF8-2310-4DF3-B248-30A1C1E0F6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34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3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8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wmf"/><Relationship Id="rId4" Type="http://schemas.openxmlformats.org/officeDocument/2006/relationships/oleObject" Target="../embeddings/oleObject10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3.bin"/><Relationship Id="rId11" Type="http://schemas.openxmlformats.org/officeDocument/2006/relationships/image" Target="../media/image15.wmf"/><Relationship Id="rId5" Type="http://schemas.openxmlformats.org/officeDocument/2006/relationships/image" Target="../media/image12.wmf"/><Relationship Id="rId10" Type="http://schemas.openxmlformats.org/officeDocument/2006/relationships/oleObject" Target="../embeddings/oleObject15.bin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4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image" Target="../media/image17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8.bin"/><Relationship Id="rId5" Type="http://schemas.openxmlformats.org/officeDocument/2006/relationships/image" Target="../media/image15.wmf"/><Relationship Id="rId4" Type="http://schemas.openxmlformats.org/officeDocument/2006/relationships/oleObject" Target="../embeddings/oleObject17.bin"/><Relationship Id="rId9" Type="http://schemas.openxmlformats.org/officeDocument/2006/relationships/image" Target="../media/image19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Z96pdkLdfd4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3" Type="http://schemas.openxmlformats.org/officeDocument/2006/relationships/image" Target="../media/image21.wmf"/><Relationship Id="rId7" Type="http://schemas.openxmlformats.org/officeDocument/2006/relationships/image" Target="../media/image23.wmf"/><Relationship Id="rId12" Type="http://schemas.openxmlformats.org/officeDocument/2006/relationships/image" Target="../media/image26.jpeg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25.wmf"/><Relationship Id="rId5" Type="http://schemas.openxmlformats.org/officeDocument/2006/relationships/image" Target="../media/image22.wmf"/><Relationship Id="rId10" Type="http://schemas.openxmlformats.org/officeDocument/2006/relationships/oleObject" Target="../embeddings/oleObject24.bin"/><Relationship Id="rId4" Type="http://schemas.openxmlformats.org/officeDocument/2006/relationships/oleObject" Target="../embeddings/oleObject21.bin"/><Relationship Id="rId9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3" Type="http://schemas.openxmlformats.org/officeDocument/2006/relationships/image" Target="../media/image17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7.bin"/><Relationship Id="rId5" Type="http://schemas.openxmlformats.org/officeDocument/2006/relationships/image" Target="../media/image25.w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28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7" Type="http://schemas.openxmlformats.org/officeDocument/2006/relationships/image" Target="../media/image31.w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1.bin"/><Relationship Id="rId5" Type="http://schemas.openxmlformats.org/officeDocument/2006/relationships/image" Target="../media/image30.wmf"/><Relationship Id="rId4" Type="http://schemas.openxmlformats.org/officeDocument/2006/relationships/oleObject" Target="../embeddings/oleObject30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5.bin"/><Relationship Id="rId3" Type="http://schemas.openxmlformats.org/officeDocument/2006/relationships/image" Target="../media/image17.wmf"/><Relationship Id="rId7" Type="http://schemas.openxmlformats.org/officeDocument/2006/relationships/image" Target="../media/image33.wmf"/><Relationship Id="rId2" Type="http://schemas.openxmlformats.org/officeDocument/2006/relationships/oleObject" Target="../embeddings/oleObject3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4.bin"/><Relationship Id="rId5" Type="http://schemas.openxmlformats.org/officeDocument/2006/relationships/image" Target="../media/image32.wmf"/><Relationship Id="rId4" Type="http://schemas.openxmlformats.org/officeDocument/2006/relationships/oleObject" Target="../embeddings/oleObject33.bin"/><Relationship Id="rId9" Type="http://schemas.openxmlformats.org/officeDocument/2006/relationships/image" Target="../media/image34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7" Type="http://schemas.openxmlformats.org/officeDocument/2006/relationships/image" Target="../media/image39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8.bin"/><Relationship Id="rId5" Type="http://schemas.openxmlformats.org/officeDocument/2006/relationships/image" Target="../media/image38.wmf"/><Relationship Id="rId4" Type="http://schemas.openxmlformats.org/officeDocument/2006/relationships/oleObject" Target="../embeddings/oleObject37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39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wmf"/><Relationship Id="rId4" Type="http://schemas.openxmlformats.org/officeDocument/2006/relationships/oleObject" Target="../embeddings/oleObject40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wmf"/><Relationship Id="rId5" Type="http://schemas.openxmlformats.org/officeDocument/2006/relationships/oleObject" Target="../embeddings/oleObject42.bin"/><Relationship Id="rId4" Type="http://schemas.openxmlformats.org/officeDocument/2006/relationships/image" Target="../media/image43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wmf"/><Relationship Id="rId2" Type="http://schemas.openxmlformats.org/officeDocument/2006/relationships/oleObject" Target="../embeddings/oleObject43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wmf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wmf"/><Relationship Id="rId7" Type="http://schemas.openxmlformats.org/officeDocument/2006/relationships/image" Target="../media/image51.wmf"/><Relationship Id="rId2" Type="http://schemas.openxmlformats.org/officeDocument/2006/relationships/oleObject" Target="../embeddings/oleObject4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7.bin"/><Relationship Id="rId5" Type="http://schemas.openxmlformats.org/officeDocument/2006/relationships/image" Target="../media/image50.wmf"/><Relationship Id="rId4" Type="http://schemas.openxmlformats.org/officeDocument/2006/relationships/oleObject" Target="../embeddings/oleObject46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wmf"/><Relationship Id="rId7" Type="http://schemas.openxmlformats.org/officeDocument/2006/relationships/image" Target="../media/image56.png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9.bin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emf"/><Relationship Id="rId4" Type="http://schemas.openxmlformats.org/officeDocument/2006/relationships/image" Target="../media/image58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wmf"/><Relationship Id="rId2" Type="http://schemas.openxmlformats.org/officeDocument/2006/relationships/oleObject" Target="../embeddings/oleObject50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wmf"/><Relationship Id="rId5" Type="http://schemas.openxmlformats.org/officeDocument/2006/relationships/oleObject" Target="../embeddings/oleObject51.bin"/><Relationship Id="rId4" Type="http://schemas.openxmlformats.org/officeDocument/2006/relationships/image" Target="../media/image6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org&amp;utm_campaign=imageinfo&amp;utm_content=thumbnai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sfpcnQW6qs?feature=oembed" TargetMode="External"/></Relationships>
</file>

<file path=ppt/slides/_rels/slide42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8.bin"/><Relationship Id="rId18" Type="http://schemas.openxmlformats.org/officeDocument/2006/relationships/image" Target="../media/image28.wmf"/><Relationship Id="rId26" Type="http://schemas.openxmlformats.org/officeDocument/2006/relationships/oleObject" Target="../embeddings/oleObject65.bin"/><Relationship Id="rId21" Type="http://schemas.openxmlformats.org/officeDocument/2006/relationships/image" Target="../media/image32.wmf"/><Relationship Id="rId34" Type="http://schemas.openxmlformats.org/officeDocument/2006/relationships/image" Target="../media/image70.png"/><Relationship Id="rId7" Type="http://schemas.openxmlformats.org/officeDocument/2006/relationships/image" Target="../media/image17.wmf"/><Relationship Id="rId12" Type="http://schemas.openxmlformats.org/officeDocument/2006/relationships/oleObject" Target="../embeddings/oleObject57.bin"/><Relationship Id="rId17" Type="http://schemas.openxmlformats.org/officeDocument/2006/relationships/oleObject" Target="../embeddings/oleObject60.bin"/><Relationship Id="rId25" Type="http://schemas.openxmlformats.org/officeDocument/2006/relationships/image" Target="../media/image34.wmf"/><Relationship Id="rId33" Type="http://schemas.openxmlformats.org/officeDocument/2006/relationships/image" Target="../media/image69.png"/><Relationship Id="rId38" Type="http://schemas.openxmlformats.org/officeDocument/2006/relationships/image" Target="../media/image73.wmf"/><Relationship Id="rId2" Type="http://schemas.openxmlformats.org/officeDocument/2006/relationships/oleObject" Target="../embeddings/oleObject52.bin"/><Relationship Id="rId16" Type="http://schemas.openxmlformats.org/officeDocument/2006/relationships/image" Target="../media/image27.wmf"/><Relationship Id="rId20" Type="http://schemas.openxmlformats.org/officeDocument/2006/relationships/oleObject" Target="../embeddings/oleObject62.bin"/><Relationship Id="rId29" Type="http://schemas.openxmlformats.org/officeDocument/2006/relationships/image" Target="../media/image3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4.bin"/><Relationship Id="rId11" Type="http://schemas.openxmlformats.org/officeDocument/2006/relationships/image" Target="../media/image19.wmf"/><Relationship Id="rId24" Type="http://schemas.openxmlformats.org/officeDocument/2006/relationships/oleObject" Target="../embeddings/oleObject64.bin"/><Relationship Id="rId32" Type="http://schemas.openxmlformats.org/officeDocument/2006/relationships/image" Target="../media/image68.png"/><Relationship Id="rId37" Type="http://schemas.openxmlformats.org/officeDocument/2006/relationships/oleObject" Target="../embeddings/oleObject68.bin"/><Relationship Id="rId5" Type="http://schemas.openxmlformats.org/officeDocument/2006/relationships/image" Target="../media/image15.wmf"/><Relationship Id="rId15" Type="http://schemas.openxmlformats.org/officeDocument/2006/relationships/oleObject" Target="../embeddings/oleObject59.bin"/><Relationship Id="rId23" Type="http://schemas.openxmlformats.org/officeDocument/2006/relationships/image" Target="../media/image33.wmf"/><Relationship Id="rId28" Type="http://schemas.openxmlformats.org/officeDocument/2006/relationships/oleObject" Target="../embeddings/oleObject66.bin"/><Relationship Id="rId36" Type="http://schemas.openxmlformats.org/officeDocument/2006/relationships/image" Target="../media/image72.png"/><Relationship Id="rId10" Type="http://schemas.openxmlformats.org/officeDocument/2006/relationships/oleObject" Target="../embeddings/oleObject56.bin"/><Relationship Id="rId19" Type="http://schemas.openxmlformats.org/officeDocument/2006/relationships/oleObject" Target="../embeddings/oleObject61.bin"/><Relationship Id="rId31" Type="http://schemas.openxmlformats.org/officeDocument/2006/relationships/image" Target="../media/image40.wmf"/><Relationship Id="rId4" Type="http://schemas.openxmlformats.org/officeDocument/2006/relationships/oleObject" Target="../embeddings/oleObject53.bin"/><Relationship Id="rId9" Type="http://schemas.openxmlformats.org/officeDocument/2006/relationships/image" Target="../media/image18.wmf"/><Relationship Id="rId14" Type="http://schemas.openxmlformats.org/officeDocument/2006/relationships/image" Target="../media/image25.wmf"/><Relationship Id="rId22" Type="http://schemas.openxmlformats.org/officeDocument/2006/relationships/oleObject" Target="../embeddings/oleObject63.bin"/><Relationship Id="rId27" Type="http://schemas.openxmlformats.org/officeDocument/2006/relationships/image" Target="../media/image37.wmf"/><Relationship Id="rId30" Type="http://schemas.openxmlformats.org/officeDocument/2006/relationships/oleObject" Target="../embeddings/oleObject67.bin"/><Relationship Id="rId35" Type="http://schemas.openxmlformats.org/officeDocument/2006/relationships/image" Target="../media/image71.png"/><Relationship Id="rId8" Type="http://schemas.openxmlformats.org/officeDocument/2006/relationships/oleObject" Target="../embeddings/oleObject55.bin"/><Relationship Id="rId3" Type="http://schemas.openxmlformats.org/officeDocument/2006/relationships/image" Target="../media/image11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7" Type="http://schemas.openxmlformats.org/officeDocument/2006/relationships/image" Target="../media/image54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5" Type="http://schemas.openxmlformats.org/officeDocument/2006/relationships/image" Target="../media/image52.png"/><Relationship Id="rId4" Type="http://schemas.openxmlformats.org/officeDocument/2006/relationships/image" Target="../media/image74.wmf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3C9D39D9-A61B-486D-BA29-334904826EF0}" type="slidenum">
              <a:rPr lang="en-US" smtClean="0"/>
              <a:pPr eaLnBrk="1" hangingPunct="1"/>
              <a:t>1</a:t>
            </a:fld>
            <a:endParaRPr lang="en-US"/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Lecture 3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C4A2966-EBB9-8FE6-C85E-EE408F251F34}"/>
              </a:ext>
            </a:extLst>
          </p:cNvPr>
          <p:cNvGrpSpPr/>
          <p:nvPr/>
        </p:nvGrpSpPr>
        <p:grpSpPr>
          <a:xfrm>
            <a:off x="7574757" y="3872307"/>
            <a:ext cx="1182687" cy="1242222"/>
            <a:chOff x="5830888" y="3569492"/>
            <a:chExt cx="1182687" cy="124222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26745CC-438A-2784-8EB9-978AC48E2F0B}"/>
                </a:ext>
              </a:extLst>
            </p:cNvPr>
            <p:cNvSpPr/>
            <p:nvPr/>
          </p:nvSpPr>
          <p:spPr>
            <a:xfrm>
              <a:off x="5830888" y="3569492"/>
              <a:ext cx="1177925" cy="1162052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8BBCC4-1862-F325-561B-9C4493496212}"/>
                </a:ext>
              </a:extLst>
            </p:cNvPr>
            <p:cNvSpPr/>
            <p:nvPr/>
          </p:nvSpPr>
          <p:spPr>
            <a:xfrm>
              <a:off x="5835650" y="3649662"/>
              <a:ext cx="1177925" cy="116205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123.1.11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737119" y="1555751"/>
            <a:ext cx="5787508" cy="4714875"/>
          </a:xfrm>
        </p:spPr>
        <p:txBody>
          <a:bodyPr/>
          <a:lstStyle/>
          <a:p>
            <a:pPr marL="609600" indent="-609600">
              <a:buNone/>
            </a:pPr>
            <a:r>
              <a:rPr lang="en-US" sz="2000" dirty="0"/>
              <a:t>A circular object is in uniform motion. The drawing is at t = 0. The projection on the x-axis shown will have what amplitude and phase?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 0.50 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1.00m and 0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/>
              <a:t>0.50m and </a:t>
            </a:r>
            <a:r>
              <a:rPr lang="en-US" sz="2000" dirty="0">
                <a:sym typeface="Symbol" pitchFamily="18" charset="2"/>
              </a:rPr>
              <a:t></a:t>
            </a:r>
          </a:p>
          <a:p>
            <a:pPr marL="609600" indent="-609600">
              <a:buFontTx/>
              <a:buAutoNum type="alphaLcParenR"/>
            </a:pPr>
            <a:r>
              <a:rPr lang="en-US" sz="2000" dirty="0">
                <a:sym typeface="Symbol" pitchFamily="18" charset="2"/>
              </a:rPr>
              <a:t>1.00m and </a:t>
            </a:r>
          </a:p>
          <a:p>
            <a:pPr marL="609600" indent="-609600">
              <a:buNone/>
            </a:pPr>
            <a:endParaRPr lang="en-US" sz="2000" dirty="0">
              <a:sym typeface="Symbol" pitchFamily="18" charset="2"/>
            </a:endParaRPr>
          </a:p>
          <a:p>
            <a:pPr marL="609600" indent="-609600">
              <a:buNone/>
            </a:pPr>
            <a:r>
              <a:rPr lang="en-US" sz="2000" dirty="0">
                <a:sym typeface="Symbol" pitchFamily="18" charset="2"/>
              </a:rPr>
              <a:t>Can you draw a graph of x vs. t?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FA4781-7988-4AB5-93C1-0D2B1058395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7654" name="Rectangle 5"/>
          <p:cNvSpPr>
            <a:spLocks noChangeArrowheads="1"/>
          </p:cNvSpPr>
          <p:nvPr/>
        </p:nvSpPr>
        <p:spPr bwMode="auto">
          <a:xfrm>
            <a:off x="7302501" y="5721350"/>
            <a:ext cx="1727200" cy="14605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miter lim="800000"/>
            <a:headEnd/>
            <a:tailEnd/>
          </a:ln>
          <a:scene3d>
            <a:camera prst="legacyPerspectiveTop"/>
            <a:lightRig rig="legacyFlat3" dir="r"/>
          </a:scene3d>
          <a:sp3d extrusionH="36306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/>
          </a:p>
        </p:txBody>
      </p:sp>
      <p:sp>
        <p:nvSpPr>
          <p:cNvPr id="27655" name="Rectangle 6"/>
          <p:cNvSpPr>
            <a:spLocks noChangeArrowheads="1"/>
          </p:cNvSpPr>
          <p:nvPr/>
        </p:nvSpPr>
        <p:spPr bwMode="auto">
          <a:xfrm>
            <a:off x="7696200" y="4454525"/>
            <a:ext cx="508000" cy="889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6" name="Oval 7"/>
          <p:cNvSpPr>
            <a:spLocks noChangeArrowheads="1"/>
          </p:cNvSpPr>
          <p:nvPr/>
        </p:nvSpPr>
        <p:spPr bwMode="auto">
          <a:xfrm>
            <a:off x="7623175" y="4414838"/>
            <a:ext cx="115888" cy="1587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8" name="Line 9"/>
          <p:cNvSpPr>
            <a:spLocks noChangeShapeType="1"/>
          </p:cNvSpPr>
          <p:nvPr/>
        </p:nvSpPr>
        <p:spPr bwMode="auto">
          <a:xfrm>
            <a:off x="6629401" y="5559425"/>
            <a:ext cx="362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Text Box 10"/>
          <p:cNvSpPr txBox="1">
            <a:spLocks noChangeArrowheads="1"/>
          </p:cNvSpPr>
          <p:nvPr/>
        </p:nvSpPr>
        <p:spPr bwMode="auto">
          <a:xfrm>
            <a:off x="9959976" y="5591175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</a:p>
        </p:txBody>
      </p:sp>
      <p:grpSp>
        <p:nvGrpSpPr>
          <p:cNvPr id="27660" name="Group 11"/>
          <p:cNvGrpSpPr>
            <a:grpSpLocks/>
          </p:cNvGrpSpPr>
          <p:nvPr/>
        </p:nvGrpSpPr>
        <p:grpSpPr bwMode="auto">
          <a:xfrm rot="-5400000">
            <a:off x="7981157" y="1327944"/>
            <a:ext cx="733425" cy="1690688"/>
            <a:chOff x="3465" y="1174"/>
            <a:chExt cx="462" cy="1065"/>
          </a:xfrm>
        </p:grpSpPr>
        <p:grpSp>
          <p:nvGrpSpPr>
            <p:cNvPr id="27666" name="Group 12"/>
            <p:cNvGrpSpPr>
              <a:grpSpLocks/>
            </p:cNvGrpSpPr>
            <p:nvPr/>
          </p:nvGrpSpPr>
          <p:grpSpPr bwMode="auto">
            <a:xfrm>
              <a:off x="3465" y="1326"/>
              <a:ext cx="412" cy="762"/>
              <a:chOff x="3465" y="1326"/>
              <a:chExt cx="412" cy="762"/>
            </a:xfrm>
          </p:grpSpPr>
          <p:sp>
            <p:nvSpPr>
              <p:cNvPr id="27668" name="Oval 13"/>
              <p:cNvSpPr>
                <a:spLocks noChangeArrowheads="1"/>
              </p:cNvSpPr>
              <p:nvPr/>
            </p:nvSpPr>
            <p:spPr bwMode="auto">
              <a:xfrm>
                <a:off x="3465" y="1326"/>
                <a:ext cx="412" cy="429"/>
              </a:xfrm>
              <a:prstGeom prst="ellipse">
                <a:avLst/>
              </a:prstGeom>
              <a:solidFill>
                <a:srgbClr val="FFFF99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69" name="AutoShape 14"/>
              <p:cNvSpPr>
                <a:spLocks noChangeArrowheads="1"/>
              </p:cNvSpPr>
              <p:nvPr/>
            </p:nvSpPr>
            <p:spPr bwMode="auto">
              <a:xfrm>
                <a:off x="3474" y="1582"/>
                <a:ext cx="393" cy="311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7 w 21600"/>
                  <a:gd name="T13" fmla="*/ 4514 h 21600"/>
                  <a:gd name="T14" fmla="*/ 17093 w 21600"/>
                  <a:gd name="T15" fmla="*/ 17086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FFFF99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670" name="Freeform 15"/>
              <p:cNvSpPr>
                <a:spLocks/>
              </p:cNvSpPr>
              <p:nvPr/>
            </p:nvSpPr>
            <p:spPr bwMode="auto">
              <a:xfrm>
                <a:off x="3567" y="1890"/>
                <a:ext cx="204" cy="198"/>
              </a:xfrm>
              <a:custGeom>
                <a:avLst/>
                <a:gdLst>
                  <a:gd name="T0" fmla="*/ 0 w 204"/>
                  <a:gd name="T1" fmla="*/ 0 h 198"/>
                  <a:gd name="T2" fmla="*/ 15 w 204"/>
                  <a:gd name="T3" fmla="*/ 39 h 198"/>
                  <a:gd name="T4" fmla="*/ 0 w 204"/>
                  <a:gd name="T5" fmla="*/ 72 h 198"/>
                  <a:gd name="T6" fmla="*/ 15 w 204"/>
                  <a:gd name="T7" fmla="*/ 108 h 198"/>
                  <a:gd name="T8" fmla="*/ 0 w 204"/>
                  <a:gd name="T9" fmla="*/ 153 h 198"/>
                  <a:gd name="T10" fmla="*/ 36 w 204"/>
                  <a:gd name="T11" fmla="*/ 186 h 198"/>
                  <a:gd name="T12" fmla="*/ 102 w 204"/>
                  <a:gd name="T13" fmla="*/ 198 h 198"/>
                  <a:gd name="T14" fmla="*/ 156 w 204"/>
                  <a:gd name="T15" fmla="*/ 189 h 198"/>
                  <a:gd name="T16" fmla="*/ 204 w 204"/>
                  <a:gd name="T17" fmla="*/ 171 h 198"/>
                  <a:gd name="T18" fmla="*/ 177 w 204"/>
                  <a:gd name="T19" fmla="*/ 141 h 198"/>
                  <a:gd name="T20" fmla="*/ 189 w 204"/>
                  <a:gd name="T21" fmla="*/ 93 h 198"/>
                  <a:gd name="T22" fmla="*/ 177 w 204"/>
                  <a:gd name="T23" fmla="*/ 60 h 198"/>
                  <a:gd name="T24" fmla="*/ 201 w 204"/>
                  <a:gd name="T25" fmla="*/ 24 h 198"/>
                  <a:gd name="T26" fmla="*/ 201 w 204"/>
                  <a:gd name="T27" fmla="*/ 0 h 198"/>
                  <a:gd name="T28" fmla="*/ 0 w 204"/>
                  <a:gd name="T29" fmla="*/ 0 h 198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204"/>
                  <a:gd name="T46" fmla="*/ 0 h 198"/>
                  <a:gd name="T47" fmla="*/ 204 w 204"/>
                  <a:gd name="T48" fmla="*/ 198 h 198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204" h="198">
                    <a:moveTo>
                      <a:pt x="0" y="0"/>
                    </a:moveTo>
                    <a:lnTo>
                      <a:pt x="15" y="39"/>
                    </a:lnTo>
                    <a:lnTo>
                      <a:pt x="0" y="72"/>
                    </a:lnTo>
                    <a:lnTo>
                      <a:pt x="15" y="108"/>
                    </a:lnTo>
                    <a:lnTo>
                      <a:pt x="0" y="153"/>
                    </a:lnTo>
                    <a:lnTo>
                      <a:pt x="36" y="186"/>
                    </a:lnTo>
                    <a:lnTo>
                      <a:pt x="102" y="198"/>
                    </a:lnTo>
                    <a:lnTo>
                      <a:pt x="156" y="189"/>
                    </a:lnTo>
                    <a:lnTo>
                      <a:pt x="204" y="171"/>
                    </a:lnTo>
                    <a:lnTo>
                      <a:pt x="177" y="141"/>
                    </a:lnTo>
                    <a:lnTo>
                      <a:pt x="189" y="93"/>
                    </a:lnTo>
                    <a:lnTo>
                      <a:pt x="177" y="60"/>
                    </a:lnTo>
                    <a:lnTo>
                      <a:pt x="201" y="24"/>
                    </a:lnTo>
                    <a:lnTo>
                      <a:pt x="20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7667" name="Arc 16"/>
            <p:cNvSpPr>
              <a:spLocks/>
            </p:cNvSpPr>
            <p:nvPr/>
          </p:nvSpPr>
          <p:spPr bwMode="auto">
            <a:xfrm>
              <a:off x="3680" y="1174"/>
              <a:ext cx="247" cy="1065"/>
            </a:xfrm>
            <a:custGeom>
              <a:avLst/>
              <a:gdLst>
                <a:gd name="T0" fmla="*/ 0 w 22521"/>
                <a:gd name="T1" fmla="*/ 0 h 43200"/>
                <a:gd name="T2" fmla="*/ 0 w 22521"/>
                <a:gd name="T3" fmla="*/ 0 h 43200"/>
                <a:gd name="T4" fmla="*/ 0 w 22521"/>
                <a:gd name="T5" fmla="*/ 0 h 43200"/>
                <a:gd name="T6" fmla="*/ 0 60000 65536"/>
                <a:gd name="T7" fmla="*/ 0 60000 65536"/>
                <a:gd name="T8" fmla="*/ 0 60000 65536"/>
                <a:gd name="T9" fmla="*/ 0 w 22521"/>
                <a:gd name="T10" fmla="*/ 0 h 43200"/>
                <a:gd name="T11" fmla="*/ 22521 w 22521"/>
                <a:gd name="T12" fmla="*/ 43200 h 432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521" h="43200" fill="none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</a:path>
                <a:path w="22521" h="43200" stroke="0" extrusionOk="0">
                  <a:moveTo>
                    <a:pt x="920" y="0"/>
                  </a:moveTo>
                  <a:cubicBezTo>
                    <a:pt x="12850" y="0"/>
                    <a:pt x="22521" y="9670"/>
                    <a:pt x="22521" y="21600"/>
                  </a:cubicBezTo>
                  <a:cubicBezTo>
                    <a:pt x="22521" y="33529"/>
                    <a:pt x="12850" y="43200"/>
                    <a:pt x="921" y="43200"/>
                  </a:cubicBezTo>
                  <a:cubicBezTo>
                    <a:pt x="613" y="43200"/>
                    <a:pt x="306" y="43193"/>
                    <a:pt x="-1" y="43180"/>
                  </a:cubicBezTo>
                  <a:lnTo>
                    <a:pt x="921" y="21600"/>
                  </a:lnTo>
                  <a:close/>
                </a:path>
              </a:pathLst>
            </a:custGeom>
            <a:solidFill>
              <a:srgbClr val="7DC4C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1" name="Line 17"/>
          <p:cNvSpPr>
            <a:spLocks noChangeShapeType="1"/>
          </p:cNvSpPr>
          <p:nvPr/>
        </p:nvSpPr>
        <p:spPr bwMode="auto">
          <a:xfrm>
            <a:off x="7780339" y="2554288"/>
            <a:ext cx="14287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2" name="Line 18"/>
          <p:cNvSpPr>
            <a:spLocks noChangeShapeType="1"/>
          </p:cNvSpPr>
          <p:nvPr/>
        </p:nvSpPr>
        <p:spPr bwMode="auto">
          <a:xfrm>
            <a:off x="7991475" y="257651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Line 19"/>
          <p:cNvSpPr>
            <a:spLocks noChangeShapeType="1"/>
          </p:cNvSpPr>
          <p:nvPr/>
        </p:nvSpPr>
        <p:spPr bwMode="auto">
          <a:xfrm>
            <a:off x="8245475" y="2584451"/>
            <a:ext cx="14288" cy="11033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4" name="Line 20"/>
          <p:cNvSpPr>
            <a:spLocks noChangeShapeType="1"/>
          </p:cNvSpPr>
          <p:nvPr/>
        </p:nvSpPr>
        <p:spPr bwMode="auto">
          <a:xfrm>
            <a:off x="8470900" y="2519363"/>
            <a:ext cx="14288" cy="1103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665" name="Text Box 21"/>
          <p:cNvSpPr txBox="1">
            <a:spLocks noChangeArrowheads="1"/>
          </p:cNvSpPr>
          <p:nvPr/>
        </p:nvSpPr>
        <p:spPr bwMode="auto">
          <a:xfrm>
            <a:off x="7658101" y="4594225"/>
            <a:ext cx="606425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0.50m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163155F-F055-36CA-0716-A54E34E207F4}"/>
              </a:ext>
            </a:extLst>
          </p:cNvPr>
          <p:cNvSpPr/>
          <p:nvPr/>
        </p:nvSpPr>
        <p:spPr>
          <a:xfrm>
            <a:off x="7315201" y="5353051"/>
            <a:ext cx="1704976" cy="366714"/>
          </a:xfrm>
          <a:custGeom>
            <a:avLst/>
            <a:gdLst>
              <a:gd name="csX0" fmla="*/ 242888 w 1719263"/>
              <a:gd name="csY0" fmla="*/ 0 h 366713"/>
              <a:gd name="csX1" fmla="*/ 1514475 w 1719263"/>
              <a:gd name="csY1" fmla="*/ 14288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6713"/>
              <a:gd name="csX1" fmla="*/ 1509713 w 1719263"/>
              <a:gd name="csY1" fmla="*/ 4763 h 366713"/>
              <a:gd name="csX2" fmla="*/ 1719263 w 1719263"/>
              <a:gd name="csY2" fmla="*/ 347663 h 366713"/>
              <a:gd name="csX3" fmla="*/ 0 w 1719263"/>
              <a:gd name="csY3" fmla="*/ 366713 h 366713"/>
              <a:gd name="csX4" fmla="*/ 242888 w 1719263"/>
              <a:gd name="csY4" fmla="*/ 0 h 366713"/>
              <a:gd name="csX0" fmla="*/ 242888 w 1719263"/>
              <a:gd name="csY0" fmla="*/ 0 h 361951"/>
              <a:gd name="csX1" fmla="*/ 1509713 w 1719263"/>
              <a:gd name="csY1" fmla="*/ 4763 h 361951"/>
              <a:gd name="csX2" fmla="*/ 1719263 w 1719263"/>
              <a:gd name="csY2" fmla="*/ 347663 h 361951"/>
              <a:gd name="csX3" fmla="*/ 0 w 1719263"/>
              <a:gd name="csY3" fmla="*/ 361951 h 361951"/>
              <a:gd name="csX4" fmla="*/ 242888 w 1719263"/>
              <a:gd name="csY4" fmla="*/ 0 h 361951"/>
              <a:gd name="csX0" fmla="*/ 204788 w 1681163"/>
              <a:gd name="csY0" fmla="*/ 0 h 347663"/>
              <a:gd name="csX1" fmla="*/ 1471613 w 1681163"/>
              <a:gd name="csY1" fmla="*/ 4763 h 347663"/>
              <a:gd name="csX2" fmla="*/ 1681163 w 1681163"/>
              <a:gd name="csY2" fmla="*/ 347663 h 347663"/>
              <a:gd name="csX3" fmla="*/ 0 w 1681163"/>
              <a:gd name="csY3" fmla="*/ 304801 h 347663"/>
              <a:gd name="csX4" fmla="*/ 204788 w 1681163"/>
              <a:gd name="csY4" fmla="*/ 0 h 347663"/>
              <a:gd name="csX0" fmla="*/ 223838 w 1700213"/>
              <a:gd name="csY0" fmla="*/ 0 h 366714"/>
              <a:gd name="csX1" fmla="*/ 1490663 w 1700213"/>
              <a:gd name="csY1" fmla="*/ 4763 h 366714"/>
              <a:gd name="csX2" fmla="*/ 1700213 w 1700213"/>
              <a:gd name="csY2" fmla="*/ 347663 h 366714"/>
              <a:gd name="csX3" fmla="*/ 0 w 1700213"/>
              <a:gd name="csY3" fmla="*/ 366714 h 366714"/>
              <a:gd name="csX4" fmla="*/ 223838 w 1700213"/>
              <a:gd name="csY4" fmla="*/ 0 h 366714"/>
              <a:gd name="csX0" fmla="*/ 223838 w 1624013"/>
              <a:gd name="csY0" fmla="*/ 0 h 366714"/>
              <a:gd name="csX1" fmla="*/ 1490663 w 1624013"/>
              <a:gd name="csY1" fmla="*/ 4763 h 366714"/>
              <a:gd name="csX2" fmla="*/ 1624013 w 1624013"/>
              <a:gd name="csY2" fmla="*/ 204788 h 366714"/>
              <a:gd name="csX3" fmla="*/ 0 w 1624013"/>
              <a:gd name="csY3" fmla="*/ 366714 h 366714"/>
              <a:gd name="csX4" fmla="*/ 223838 w 1624013"/>
              <a:gd name="csY4" fmla="*/ 0 h 366714"/>
              <a:gd name="csX0" fmla="*/ 223838 w 1704976"/>
              <a:gd name="csY0" fmla="*/ 0 h 366714"/>
              <a:gd name="csX1" fmla="*/ 1490663 w 1704976"/>
              <a:gd name="csY1" fmla="*/ 4763 h 366714"/>
              <a:gd name="csX2" fmla="*/ 1704976 w 1704976"/>
              <a:gd name="csY2" fmla="*/ 361950 h 366714"/>
              <a:gd name="csX3" fmla="*/ 0 w 1704976"/>
              <a:gd name="csY3" fmla="*/ 366714 h 366714"/>
              <a:gd name="csX4" fmla="*/ 223838 w 1704976"/>
              <a:gd name="csY4" fmla="*/ 0 h 3667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704976" h="366714">
                <a:moveTo>
                  <a:pt x="223838" y="0"/>
                </a:moveTo>
                <a:lnTo>
                  <a:pt x="1490663" y="4763"/>
                </a:lnTo>
                <a:lnTo>
                  <a:pt x="1704976" y="361950"/>
                </a:lnTo>
                <a:lnTo>
                  <a:pt x="0" y="366714"/>
                </a:lnTo>
                <a:lnTo>
                  <a:pt x="223838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EF28A57-888A-A2E5-DA02-19020A0C4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1119" y="5461001"/>
            <a:ext cx="508000" cy="88900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57" name="Oval 8"/>
          <p:cNvSpPr>
            <a:spLocks noChangeArrowheads="1"/>
          </p:cNvSpPr>
          <p:nvPr/>
        </p:nvSpPr>
        <p:spPr bwMode="auto">
          <a:xfrm>
            <a:off x="7605714" y="5502275"/>
            <a:ext cx="130175" cy="889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4B430866-DCF2-2003-4EC1-754BDA995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476" y="5358607"/>
            <a:ext cx="1090612" cy="100785"/>
          </a:xfrm>
          <a:prstGeom prst="rect">
            <a:avLst/>
          </a:prstGeom>
          <a:solidFill>
            <a:schemeClr val="bg1">
              <a:lumMod val="75000"/>
              <a:alpha val="42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37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123.1.12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760913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 sz="2000"/>
              <a:t>The circular object pictured here is made to rotate clockwise at 29 revolutions per second. It is filmed with a camera that takes 30 frames per second. Compared to its actual motion, the dot on the film appears to move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slow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Counterclockwise at a very fast rate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 sz="2000"/>
              <a:t>In a random fashion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378DD4C-D305-4270-9B69-25123679276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8677" name="Oval 4"/>
          <p:cNvSpPr>
            <a:spLocks noChangeArrowheads="1"/>
          </p:cNvSpPr>
          <p:nvPr/>
        </p:nvSpPr>
        <p:spPr bwMode="auto">
          <a:xfrm>
            <a:off x="7721601" y="2308225"/>
            <a:ext cx="1800225" cy="198755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8" name="Oval 5"/>
          <p:cNvSpPr>
            <a:spLocks noChangeArrowheads="1"/>
          </p:cNvSpPr>
          <p:nvPr/>
        </p:nvSpPr>
        <p:spPr bwMode="auto">
          <a:xfrm>
            <a:off x="8585200" y="2403475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79" name="Arc 6"/>
          <p:cNvSpPr>
            <a:spLocks/>
          </p:cNvSpPr>
          <p:nvPr/>
        </p:nvSpPr>
        <p:spPr bwMode="auto">
          <a:xfrm>
            <a:off x="8621714" y="2119313"/>
            <a:ext cx="814387" cy="869950"/>
          </a:xfrm>
          <a:custGeom>
            <a:avLst/>
            <a:gdLst>
              <a:gd name="T0" fmla="*/ 0 w 17573"/>
              <a:gd name="T1" fmla="*/ 0 h 21600"/>
              <a:gd name="T2" fmla="*/ 2147483647 w 17573"/>
              <a:gd name="T3" fmla="*/ 2147483647 h 21600"/>
              <a:gd name="T4" fmla="*/ 0 w 17573"/>
              <a:gd name="T5" fmla="*/ 2147483647 h 21600"/>
              <a:gd name="T6" fmla="*/ 0 60000 65536"/>
              <a:gd name="T7" fmla="*/ 0 60000 65536"/>
              <a:gd name="T8" fmla="*/ 0 60000 65536"/>
              <a:gd name="T9" fmla="*/ 0 w 17573"/>
              <a:gd name="T10" fmla="*/ 0 h 21600"/>
              <a:gd name="T11" fmla="*/ 17573 w 1757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573" h="21600" fill="none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</a:path>
              <a:path w="17573" h="21600" stroke="0" extrusionOk="0">
                <a:moveTo>
                  <a:pt x="-1" y="0"/>
                </a:moveTo>
                <a:cubicBezTo>
                  <a:pt x="6973" y="0"/>
                  <a:pt x="13517" y="3366"/>
                  <a:pt x="17572" y="904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1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5604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Remember defining trig functions on a unit circle?</a:t>
            </a:r>
          </a:p>
        </p:txBody>
      </p:sp>
      <p:sp>
        <p:nvSpPr>
          <p:cNvPr id="25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EFAE4-27D8-420E-BC88-027A39AC819A}" type="slidenum">
              <a:rPr lang="en-US"/>
              <a:pPr/>
              <a:t>4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638801" y="1447800"/>
            <a:ext cx="4422775" cy="4495800"/>
            <a:chOff x="2592" y="912"/>
            <a:chExt cx="2786" cy="2832"/>
          </a:xfrm>
        </p:grpSpPr>
        <p:sp>
          <p:nvSpPr>
            <p:cNvPr id="25607" name="AutoShape 5"/>
            <p:cNvSpPr>
              <a:spLocks noChangeArrowheads="1"/>
            </p:cNvSpPr>
            <p:nvPr/>
          </p:nvSpPr>
          <p:spPr bwMode="auto">
            <a:xfrm flipH="1">
              <a:off x="3888" y="1824"/>
              <a:ext cx="720" cy="624"/>
            </a:xfrm>
            <a:prstGeom prst="rtTriangle">
              <a:avLst/>
            </a:prstGeom>
            <a:solidFill>
              <a:srgbClr val="FFFF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592" y="1152"/>
              <a:ext cx="2592" cy="2592"/>
              <a:chOff x="2592" y="1152"/>
              <a:chExt cx="2592" cy="2592"/>
            </a:xfrm>
          </p:grpSpPr>
          <p:sp>
            <p:nvSpPr>
              <p:cNvPr id="25619" name="Oval 7"/>
              <p:cNvSpPr>
                <a:spLocks noChangeArrowheads="1"/>
              </p:cNvSpPr>
              <p:nvPr/>
            </p:nvSpPr>
            <p:spPr bwMode="auto">
              <a:xfrm>
                <a:off x="2937" y="1488"/>
                <a:ext cx="1902" cy="1920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5620" name="Line 8"/>
              <p:cNvSpPr>
                <a:spLocks noChangeShapeType="1"/>
              </p:cNvSpPr>
              <p:nvPr/>
            </p:nvSpPr>
            <p:spPr bwMode="auto">
              <a:xfrm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21" name="Line 9"/>
              <p:cNvSpPr>
                <a:spLocks noChangeShapeType="1"/>
              </p:cNvSpPr>
              <p:nvPr/>
            </p:nvSpPr>
            <p:spPr bwMode="auto">
              <a:xfrm rot="-5400000">
                <a:off x="3888" y="1152"/>
                <a:ext cx="0" cy="259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5609" name="Text Box 10"/>
            <p:cNvSpPr txBox="1">
              <a:spLocks noChangeArrowheads="1"/>
            </p:cNvSpPr>
            <p:nvPr/>
          </p:nvSpPr>
          <p:spPr bwMode="auto">
            <a:xfrm>
              <a:off x="3888" y="912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>
                  <a:cs typeface="Arial" charset="0"/>
                </a:rPr>
                <a:t>ĵ</a:t>
              </a:r>
            </a:p>
          </p:txBody>
        </p:sp>
        <p:sp>
          <p:nvSpPr>
            <p:cNvPr id="25610" name="Text Box 11"/>
            <p:cNvSpPr txBox="1">
              <a:spLocks noChangeArrowheads="1"/>
            </p:cNvSpPr>
            <p:nvPr/>
          </p:nvSpPr>
          <p:spPr bwMode="auto">
            <a:xfrm>
              <a:off x="5222" y="2423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/>
                <a:t>î</a:t>
              </a:r>
            </a:p>
          </p:txBody>
        </p:sp>
        <p:sp>
          <p:nvSpPr>
            <p:cNvPr id="25611" name="Line 12"/>
            <p:cNvSpPr>
              <a:spLocks noChangeShapeType="1"/>
            </p:cNvSpPr>
            <p:nvPr/>
          </p:nvSpPr>
          <p:spPr bwMode="auto">
            <a:xfrm flipV="1">
              <a:off x="3888" y="1824"/>
              <a:ext cx="72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2" name="Line 13"/>
            <p:cNvSpPr>
              <a:spLocks noChangeShapeType="1"/>
            </p:cNvSpPr>
            <p:nvPr/>
          </p:nvSpPr>
          <p:spPr bwMode="auto">
            <a:xfrm>
              <a:off x="4608" y="182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3" name="Arc 14"/>
            <p:cNvSpPr>
              <a:spLocks/>
            </p:cNvSpPr>
            <p:nvPr/>
          </p:nvSpPr>
          <p:spPr bwMode="auto">
            <a:xfrm>
              <a:off x="4080" y="2208"/>
              <a:ext cx="144" cy="240"/>
            </a:xfrm>
            <a:custGeom>
              <a:avLst/>
              <a:gdLst>
                <a:gd name="T0" fmla="*/ 77 w 21600"/>
                <a:gd name="T1" fmla="*/ 0 h 18292"/>
                <a:gd name="T2" fmla="*/ 144 w 21600"/>
                <a:gd name="T3" fmla="*/ 240 h 18292"/>
                <a:gd name="T4" fmla="*/ 0 w 21600"/>
                <a:gd name="T5" fmla="*/ 240 h 182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18292"/>
                <a:gd name="T11" fmla="*/ 21600 w 21600"/>
                <a:gd name="T12" fmla="*/ 18292 h 182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8292" fill="none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</a:path>
                <a:path w="21600" h="18292" stroke="0" extrusionOk="0">
                  <a:moveTo>
                    <a:pt x="11487" y="-1"/>
                  </a:moveTo>
                  <a:cubicBezTo>
                    <a:pt x="17780" y="3951"/>
                    <a:pt x="21600" y="10860"/>
                    <a:pt x="21600" y="18292"/>
                  </a:cubicBezTo>
                  <a:lnTo>
                    <a:pt x="0" y="182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4" name="Text Box 15"/>
            <p:cNvSpPr txBox="1">
              <a:spLocks noChangeArrowheads="1"/>
            </p:cNvSpPr>
            <p:nvPr/>
          </p:nvSpPr>
          <p:spPr bwMode="auto">
            <a:xfrm>
              <a:off x="4224" y="2160"/>
              <a:ext cx="19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25615" name="Text Box 16"/>
            <p:cNvSpPr txBox="1">
              <a:spLocks noChangeArrowheads="1"/>
            </p:cNvSpPr>
            <p:nvPr/>
          </p:nvSpPr>
          <p:spPr bwMode="auto">
            <a:xfrm>
              <a:off x="4166" y="2471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5616" name="Text Box 17"/>
            <p:cNvSpPr txBox="1">
              <a:spLocks noChangeArrowheads="1"/>
            </p:cNvSpPr>
            <p:nvPr/>
          </p:nvSpPr>
          <p:spPr bwMode="auto">
            <a:xfrm>
              <a:off x="3696" y="1920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y</a:t>
              </a:r>
            </a:p>
          </p:txBody>
        </p:sp>
        <p:sp>
          <p:nvSpPr>
            <p:cNvPr id="25617" name="Line 18"/>
            <p:cNvSpPr>
              <a:spLocks noChangeShapeType="1"/>
            </p:cNvSpPr>
            <p:nvPr/>
          </p:nvSpPr>
          <p:spPr bwMode="auto">
            <a:xfrm flipH="1">
              <a:off x="3888" y="1824"/>
              <a:ext cx="72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8" name="Text Box 19"/>
            <p:cNvSpPr txBox="1">
              <a:spLocks noChangeArrowheads="1"/>
            </p:cNvSpPr>
            <p:nvPr/>
          </p:nvSpPr>
          <p:spPr bwMode="auto">
            <a:xfrm>
              <a:off x="4070" y="1943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h</a:t>
              </a:r>
            </a:p>
          </p:txBody>
        </p:sp>
      </p:grpSp>
      <p:sp>
        <p:nvSpPr>
          <p:cNvPr id="25606" name="Text Box 20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Trigonometry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Suppose we define points along the x-axis (and let the circle have radius h)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5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Dot product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We could express the length x as the component of the radius vector or </a:t>
            </a:r>
          </a:p>
        </p:txBody>
      </p:sp>
      <p:sp>
        <p:nvSpPr>
          <p:cNvPr id="266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67D35CE-B394-4AD9-A703-057FEFF6E815}" type="slidenum">
              <a:rPr lang="en-US"/>
              <a:pPr/>
              <a:t>6</a:t>
            </a:fld>
            <a:endParaRPr lang="en-US"/>
          </a:p>
        </p:txBody>
      </p:sp>
      <p:sp>
        <p:nvSpPr>
          <p:cNvPr id="26629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6648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9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0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31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6632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6633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4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35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36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6637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6638" name="Text Box 16"/>
          <p:cNvSpPr txBox="1">
            <a:spLocks noChangeArrowheads="1"/>
          </p:cNvSpPr>
          <p:nvPr/>
        </p:nvSpPr>
        <p:spPr bwMode="auto">
          <a:xfrm>
            <a:off x="739140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6639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6640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26161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26641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6642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6643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6644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645" name="Oval 23"/>
          <p:cNvSpPr>
            <a:spLocks noChangeArrowheads="1"/>
          </p:cNvSpPr>
          <p:nvPr/>
        </p:nvSpPr>
        <p:spPr bwMode="auto">
          <a:xfrm>
            <a:off x="6138863" y="3817938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" name="Oval 24"/>
          <p:cNvSpPr>
            <a:spLocks noChangeArrowheads="1"/>
          </p:cNvSpPr>
          <p:nvPr/>
        </p:nvSpPr>
        <p:spPr bwMode="auto">
          <a:xfrm>
            <a:off x="9159875" y="381000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7" name="Oval 25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cxnSp>
        <p:nvCxnSpPr>
          <p:cNvPr id="4" name="Straight Arrow Connector 3"/>
          <p:cNvCxnSpPr>
            <a:stCxn id="26633" idx="0"/>
            <a:endCxn id="26647" idx="4"/>
          </p:cNvCxnSpPr>
          <p:nvPr/>
        </p:nvCxnSpPr>
        <p:spPr>
          <a:xfrm flipV="1">
            <a:off x="7696200" y="2927350"/>
            <a:ext cx="1150938" cy="95885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774950" y="5146676"/>
          <a:ext cx="32337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177480" progId="Equation.3">
                  <p:embed/>
                </p:oleObj>
              </mc:Choice>
              <mc:Fallback>
                <p:oleObj name="Equation" r:id="rId2" imgW="1015920" imgH="1774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4950" y="5146676"/>
                        <a:ext cx="3233738" cy="5635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7269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The projection of the position of point P on the x axis displays SHM!</a:t>
            </a:r>
          </a:p>
        </p:txBody>
      </p:sp>
      <p:sp>
        <p:nvSpPr>
          <p:cNvPr id="276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3ED589C-5882-44F5-A07F-B35037B1C1B8}" type="slidenum">
              <a:rPr lang="en-US"/>
              <a:pPr/>
              <a:t>7</a:t>
            </a:fld>
            <a:endParaRPr lang="en-US"/>
          </a:p>
        </p:txBody>
      </p:sp>
      <p:sp>
        <p:nvSpPr>
          <p:cNvPr id="27653" name="AutoShape 4"/>
          <p:cNvSpPr>
            <a:spLocks noChangeArrowheads="1"/>
          </p:cNvSpPr>
          <p:nvPr/>
        </p:nvSpPr>
        <p:spPr bwMode="auto">
          <a:xfrm flipH="1">
            <a:off x="7696200" y="2595563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528763"/>
            <a:ext cx="4114800" cy="4114800"/>
            <a:chOff x="2592" y="1152"/>
            <a:chExt cx="2592" cy="2592"/>
          </a:xfrm>
        </p:grpSpPr>
        <p:sp>
          <p:nvSpPr>
            <p:cNvPr id="27674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5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6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655" name="Text Box 9"/>
          <p:cNvSpPr txBox="1">
            <a:spLocks noChangeArrowheads="1"/>
          </p:cNvSpPr>
          <p:nvPr/>
        </p:nvSpPr>
        <p:spPr bwMode="auto">
          <a:xfrm>
            <a:off x="7696200" y="114776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7656" name="Text Box 10"/>
          <p:cNvSpPr txBox="1">
            <a:spLocks noChangeArrowheads="1"/>
          </p:cNvSpPr>
          <p:nvPr/>
        </p:nvSpPr>
        <p:spPr bwMode="auto">
          <a:xfrm>
            <a:off x="9813925" y="3546476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7657" name="Line 11"/>
          <p:cNvSpPr>
            <a:spLocks noChangeShapeType="1"/>
          </p:cNvSpPr>
          <p:nvPr/>
        </p:nvSpPr>
        <p:spPr bwMode="auto">
          <a:xfrm flipV="1">
            <a:off x="7696200" y="2595563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8" name="Line 12"/>
          <p:cNvSpPr>
            <a:spLocks noChangeShapeType="1"/>
          </p:cNvSpPr>
          <p:nvPr/>
        </p:nvSpPr>
        <p:spPr bwMode="auto">
          <a:xfrm>
            <a:off x="8839200" y="2595563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59" name="Arc 13"/>
          <p:cNvSpPr>
            <a:spLocks/>
          </p:cNvSpPr>
          <p:nvPr/>
        </p:nvSpPr>
        <p:spPr bwMode="auto">
          <a:xfrm>
            <a:off x="8001000" y="3205163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60" name="Text Box 14"/>
          <p:cNvSpPr txBox="1">
            <a:spLocks noChangeArrowheads="1"/>
          </p:cNvSpPr>
          <p:nvPr/>
        </p:nvSpPr>
        <p:spPr bwMode="auto">
          <a:xfrm>
            <a:off x="8229601" y="3128963"/>
            <a:ext cx="3032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7661" name="Text Box 15"/>
          <p:cNvSpPr txBox="1">
            <a:spLocks noChangeArrowheads="1"/>
          </p:cNvSpPr>
          <p:nvPr/>
        </p:nvSpPr>
        <p:spPr bwMode="auto">
          <a:xfrm>
            <a:off x="8137525" y="3622676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7662" name="Line 16"/>
          <p:cNvSpPr>
            <a:spLocks noChangeShapeType="1"/>
          </p:cNvSpPr>
          <p:nvPr/>
        </p:nvSpPr>
        <p:spPr bwMode="auto">
          <a:xfrm flipH="1">
            <a:off x="7696200" y="2595563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63" name="Text Box 17"/>
          <p:cNvSpPr txBox="1">
            <a:spLocks noChangeArrowheads="1"/>
          </p:cNvSpPr>
          <p:nvPr/>
        </p:nvSpPr>
        <p:spPr bwMode="auto">
          <a:xfrm>
            <a:off x="7985125" y="2784476"/>
            <a:ext cx="311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7664" name="Text Box 18"/>
          <p:cNvSpPr txBox="1">
            <a:spLocks noChangeArrowheads="1"/>
          </p:cNvSpPr>
          <p:nvPr/>
        </p:nvSpPr>
        <p:spPr bwMode="auto">
          <a:xfrm>
            <a:off x="8848725" y="2262188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7665" name="Text Box 19"/>
          <p:cNvSpPr txBox="1">
            <a:spLocks noChangeArrowheads="1"/>
          </p:cNvSpPr>
          <p:nvPr/>
        </p:nvSpPr>
        <p:spPr bwMode="auto">
          <a:xfrm>
            <a:off x="9232900" y="3616326"/>
            <a:ext cx="5857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7666" name="Text Box 20"/>
          <p:cNvSpPr txBox="1">
            <a:spLocks noChangeArrowheads="1"/>
          </p:cNvSpPr>
          <p:nvPr/>
        </p:nvSpPr>
        <p:spPr bwMode="auto">
          <a:xfrm>
            <a:off x="5524500" y="3651251"/>
            <a:ext cx="6619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7667" name="Line 21"/>
          <p:cNvSpPr>
            <a:spLocks noChangeShapeType="1"/>
          </p:cNvSpPr>
          <p:nvPr/>
        </p:nvSpPr>
        <p:spPr bwMode="auto">
          <a:xfrm>
            <a:off x="7707314" y="3662363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6138863" y="3509964"/>
            <a:ext cx="3109912" cy="96837"/>
            <a:chOff x="2907" y="2400"/>
            <a:chExt cx="1959" cy="61"/>
          </a:xfrm>
        </p:grpSpPr>
        <p:sp>
          <p:nvSpPr>
            <p:cNvPr id="27672" name="Oval 23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3" name="Oval 24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7669" name="Oval 25"/>
          <p:cNvSpPr>
            <a:spLocks noChangeArrowheads="1"/>
          </p:cNvSpPr>
          <p:nvPr/>
        </p:nvSpPr>
        <p:spPr bwMode="auto">
          <a:xfrm>
            <a:off x="8802688" y="2538413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670" name="Line 26"/>
          <p:cNvSpPr>
            <a:spLocks noChangeShapeType="1"/>
          </p:cNvSpPr>
          <p:nvPr/>
        </p:nvSpPr>
        <p:spPr bwMode="auto">
          <a:xfrm>
            <a:off x="6169025" y="3575050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671" name="AutoShape 27"/>
          <p:cNvSpPr>
            <a:spLocks noChangeArrowheads="1"/>
          </p:cNvSpPr>
          <p:nvPr/>
        </p:nvSpPr>
        <p:spPr bwMode="auto">
          <a:xfrm>
            <a:off x="2481263" y="5646739"/>
            <a:ext cx="7562850" cy="6254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pPr algn="ctr">
              <a:lnSpc>
                <a:spcPct val="80000"/>
              </a:lnSpc>
              <a:spcBef>
                <a:spcPct val="20000"/>
              </a:spcBef>
            </a:pPr>
            <a:r>
              <a:rPr lang="en-US">
                <a:solidFill>
                  <a:schemeClr val="bg1"/>
                </a:solidFill>
              </a:rPr>
              <a:t>SHM along a straight line can be thought of as a projection of a uniform circular motion along a diameter of a reference circle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More Geometry</a:t>
            </a:r>
          </a:p>
        </p:txBody>
      </p:sp>
      <p:sp>
        <p:nvSpPr>
          <p:cNvPr id="28676" name="Rectangle 3"/>
          <p:cNvSpPr>
            <a:spLocks noGrp="1" noChangeArrowheads="1"/>
          </p:cNvSpPr>
          <p:nvPr>
            <p:ph idx="1"/>
          </p:nvPr>
        </p:nvSpPr>
        <p:spPr>
          <a:xfrm>
            <a:off x="1923144" y="1547019"/>
            <a:ext cx="3470275" cy="4525963"/>
          </a:xfrm>
        </p:spPr>
        <p:txBody>
          <a:bodyPr/>
          <a:lstStyle/>
          <a:p>
            <a:pPr eaLnBrk="1" hangingPunct="1"/>
            <a:r>
              <a:rPr lang="en-US"/>
              <a:t>We can also define points along the y-axis</a:t>
            </a:r>
          </a:p>
        </p:txBody>
      </p:sp>
      <p:sp>
        <p:nvSpPr>
          <p:cNvPr id="286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2C5A832-310F-4323-942F-46FB45F3ABE3}" type="slidenum">
              <a:rPr lang="en-US"/>
              <a:pPr/>
              <a:t>8</a:t>
            </a:fld>
            <a:endParaRPr lang="en-US"/>
          </a:p>
        </p:txBody>
      </p:sp>
      <p:sp>
        <p:nvSpPr>
          <p:cNvPr id="28677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8703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4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5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79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8680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8681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2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3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84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8685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8686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8687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688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8689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8690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8691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8692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8701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2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4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95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8696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8699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00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8698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Relationship to SHM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3470275" cy="4525963"/>
          </a:xfrm>
        </p:spPr>
        <p:txBody>
          <a:bodyPr/>
          <a:lstStyle/>
          <a:p>
            <a:pPr eaLnBrk="1" hangingPunct="1"/>
            <a:r>
              <a:rPr lang="en-US" dirty="0"/>
              <a:t>This is just two SHOs</a:t>
            </a:r>
          </a:p>
          <a:p>
            <a:pPr eaLnBrk="1" hangingPunct="1"/>
            <a:r>
              <a:rPr lang="en-US" dirty="0">
                <a:solidFill>
                  <a:srgbClr val="FF0000"/>
                </a:solidFill>
              </a:rPr>
              <a:t>One in the x direction</a:t>
            </a:r>
          </a:p>
          <a:p>
            <a:pPr eaLnBrk="1" hangingPunct="1"/>
            <a:r>
              <a:rPr lang="en-US" dirty="0">
                <a:solidFill>
                  <a:schemeClr val="hlink"/>
                </a:solidFill>
              </a:rPr>
              <a:t>One is the y direction</a:t>
            </a:r>
          </a:p>
        </p:txBody>
      </p:sp>
      <p:sp>
        <p:nvSpPr>
          <p:cNvPr id="29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2E9F89-6D42-448B-B1F1-7A16216D9DBE}" type="slidenum">
              <a:rPr lang="en-US"/>
              <a:pPr/>
              <a:t>9</a:t>
            </a:fld>
            <a:endParaRPr lang="en-US"/>
          </a:p>
        </p:txBody>
      </p:sp>
      <p:sp>
        <p:nvSpPr>
          <p:cNvPr id="29701" name="AutoShape 4"/>
          <p:cNvSpPr>
            <a:spLocks noChangeArrowheads="1"/>
          </p:cNvSpPr>
          <p:nvPr/>
        </p:nvSpPr>
        <p:spPr bwMode="auto">
          <a:xfrm flipH="1">
            <a:off x="7696200" y="2895600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638800" y="1828800"/>
            <a:ext cx="4114800" cy="4114800"/>
            <a:chOff x="2592" y="1152"/>
            <a:chExt cx="2592" cy="2592"/>
          </a:xfrm>
        </p:grpSpPr>
        <p:sp>
          <p:nvSpPr>
            <p:cNvPr id="29729" name="Oval 6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30" name="Line 7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31" name="Line 8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703" name="Text Box 9"/>
          <p:cNvSpPr txBox="1">
            <a:spLocks noChangeArrowheads="1"/>
          </p:cNvSpPr>
          <p:nvPr/>
        </p:nvSpPr>
        <p:spPr bwMode="auto">
          <a:xfrm>
            <a:off x="7696200" y="1447801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9704" name="Text Box 10"/>
          <p:cNvSpPr txBox="1">
            <a:spLocks noChangeArrowheads="1"/>
          </p:cNvSpPr>
          <p:nvPr/>
        </p:nvSpPr>
        <p:spPr bwMode="auto">
          <a:xfrm>
            <a:off x="9813925" y="3846513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9705" name="Line 11"/>
          <p:cNvSpPr>
            <a:spLocks noChangeShapeType="1"/>
          </p:cNvSpPr>
          <p:nvPr/>
        </p:nvSpPr>
        <p:spPr bwMode="auto">
          <a:xfrm flipV="1">
            <a:off x="7696200" y="2895600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6" name="Line 12"/>
          <p:cNvSpPr>
            <a:spLocks noChangeShapeType="1"/>
          </p:cNvSpPr>
          <p:nvPr/>
        </p:nvSpPr>
        <p:spPr bwMode="auto">
          <a:xfrm>
            <a:off x="8839200" y="2895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07" name="Arc 13"/>
          <p:cNvSpPr>
            <a:spLocks/>
          </p:cNvSpPr>
          <p:nvPr/>
        </p:nvSpPr>
        <p:spPr bwMode="auto">
          <a:xfrm>
            <a:off x="8001000" y="3505200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08" name="Text Box 14"/>
          <p:cNvSpPr txBox="1">
            <a:spLocks noChangeArrowheads="1"/>
          </p:cNvSpPr>
          <p:nvPr/>
        </p:nvSpPr>
        <p:spPr bwMode="auto">
          <a:xfrm>
            <a:off x="8229601" y="3429001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29709" name="Text Box 15"/>
          <p:cNvSpPr txBox="1">
            <a:spLocks noChangeArrowheads="1"/>
          </p:cNvSpPr>
          <p:nvPr/>
        </p:nvSpPr>
        <p:spPr bwMode="auto">
          <a:xfrm>
            <a:off x="8137525" y="3922713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9710" name="Text Box 16"/>
          <p:cNvSpPr txBox="1">
            <a:spLocks noChangeArrowheads="1"/>
          </p:cNvSpPr>
          <p:nvPr/>
        </p:nvSpPr>
        <p:spPr bwMode="auto">
          <a:xfrm>
            <a:off x="7143750" y="304800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9711" name="Line 17"/>
          <p:cNvSpPr>
            <a:spLocks noChangeShapeType="1"/>
          </p:cNvSpPr>
          <p:nvPr/>
        </p:nvSpPr>
        <p:spPr bwMode="auto">
          <a:xfrm flipH="1">
            <a:off x="7696200" y="2895600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12" name="Text Box 18"/>
          <p:cNvSpPr txBox="1">
            <a:spLocks noChangeArrowheads="1"/>
          </p:cNvSpPr>
          <p:nvPr/>
        </p:nvSpPr>
        <p:spPr bwMode="auto">
          <a:xfrm>
            <a:off x="7985125" y="3084513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9713" name="Text Box 19"/>
          <p:cNvSpPr txBox="1">
            <a:spLocks noChangeArrowheads="1"/>
          </p:cNvSpPr>
          <p:nvPr/>
        </p:nvSpPr>
        <p:spPr bwMode="auto">
          <a:xfrm>
            <a:off x="8848725" y="2562225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9714" name="Text Box 20"/>
          <p:cNvSpPr txBox="1">
            <a:spLocks noChangeArrowheads="1"/>
          </p:cNvSpPr>
          <p:nvPr/>
        </p:nvSpPr>
        <p:spPr bwMode="auto">
          <a:xfrm>
            <a:off x="9232900" y="391636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9715" name="Text Box 21"/>
          <p:cNvSpPr txBox="1">
            <a:spLocks noChangeArrowheads="1"/>
          </p:cNvSpPr>
          <p:nvPr/>
        </p:nvSpPr>
        <p:spPr bwMode="auto">
          <a:xfrm>
            <a:off x="5524500" y="395128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9716" name="Line 22"/>
          <p:cNvSpPr>
            <a:spLocks noChangeShapeType="1"/>
          </p:cNvSpPr>
          <p:nvPr/>
        </p:nvSpPr>
        <p:spPr bwMode="auto">
          <a:xfrm>
            <a:off x="7707314" y="3962400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6138863" y="3810000"/>
            <a:ext cx="3109912" cy="96838"/>
            <a:chOff x="2907" y="2400"/>
            <a:chExt cx="1959" cy="61"/>
          </a:xfrm>
        </p:grpSpPr>
        <p:sp>
          <p:nvSpPr>
            <p:cNvPr id="29727" name="Oval 24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8" name="Oval 25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18" name="Oval 26"/>
          <p:cNvSpPr>
            <a:spLocks noChangeArrowheads="1"/>
          </p:cNvSpPr>
          <p:nvPr/>
        </p:nvSpPr>
        <p:spPr bwMode="auto">
          <a:xfrm>
            <a:off x="8802688" y="2838450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719" name="Text Box 27"/>
          <p:cNvSpPr txBox="1">
            <a:spLocks noChangeArrowheads="1"/>
          </p:cNvSpPr>
          <p:nvPr/>
        </p:nvSpPr>
        <p:spPr bwMode="auto">
          <a:xfrm>
            <a:off x="7680325" y="5380038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-y</a:t>
            </a:r>
            <a:r>
              <a:rPr lang="en-US" baseline="-25000"/>
              <a:t>max</a:t>
            </a:r>
          </a:p>
        </p:txBody>
      </p:sp>
      <p:sp>
        <p:nvSpPr>
          <p:cNvPr id="29720" name="Text Box 28"/>
          <p:cNvSpPr txBox="1">
            <a:spLocks noChangeArrowheads="1"/>
          </p:cNvSpPr>
          <p:nvPr/>
        </p:nvSpPr>
        <p:spPr bwMode="auto">
          <a:xfrm>
            <a:off x="7673975" y="1979613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r>
              <a:rPr lang="en-US" baseline="-25000"/>
              <a:t>max</a:t>
            </a:r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 rot="-5400000">
            <a:off x="6148388" y="3833813"/>
            <a:ext cx="3109913" cy="96838"/>
            <a:chOff x="2907" y="2400"/>
            <a:chExt cx="1959" cy="61"/>
          </a:xfrm>
        </p:grpSpPr>
        <p:sp>
          <p:nvSpPr>
            <p:cNvPr id="29725" name="Oval 30"/>
            <p:cNvSpPr>
              <a:spLocks noChangeArrowheads="1"/>
            </p:cNvSpPr>
            <p:nvPr/>
          </p:nvSpPr>
          <p:spPr bwMode="auto">
            <a:xfrm>
              <a:off x="2907" y="2405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26" name="Oval 31"/>
            <p:cNvSpPr>
              <a:spLocks noChangeArrowheads="1"/>
            </p:cNvSpPr>
            <p:nvPr/>
          </p:nvSpPr>
          <p:spPr bwMode="auto">
            <a:xfrm>
              <a:off x="4810" y="2400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22" name="Line 32"/>
          <p:cNvSpPr>
            <a:spLocks noChangeShapeType="1"/>
          </p:cNvSpPr>
          <p:nvPr/>
        </p:nvSpPr>
        <p:spPr bwMode="auto">
          <a:xfrm rot="-5400000">
            <a:off x="7096919" y="3382169"/>
            <a:ext cx="9286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9723" name="Line 33"/>
          <p:cNvSpPr>
            <a:spLocks noChangeShapeType="1"/>
          </p:cNvSpPr>
          <p:nvPr/>
        </p:nvSpPr>
        <p:spPr bwMode="auto">
          <a:xfrm>
            <a:off x="6169025" y="3875088"/>
            <a:ext cx="306228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724" name="Line 34"/>
          <p:cNvSpPr>
            <a:spLocks noChangeShapeType="1"/>
          </p:cNvSpPr>
          <p:nvPr/>
        </p:nvSpPr>
        <p:spPr bwMode="auto">
          <a:xfrm rot="-5400000">
            <a:off x="6163470" y="3898107"/>
            <a:ext cx="3062287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Equations for the two SHOs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803775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equation in X is familiar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projection onto the y-axis is a sine function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An old trig identity says: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What does this say about the phases of the two SHOs?</a:t>
            </a:r>
          </a:p>
        </p:txBody>
      </p:sp>
      <p:sp>
        <p:nvSpPr>
          <p:cNvPr id="102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B27CBDF-49A3-40BF-B47A-CE3066841BC7}" type="slidenum">
              <a:rPr lang="en-US"/>
              <a:pPr/>
              <a:t>10</a:t>
            </a:fld>
            <a:endParaRPr lang="en-US"/>
          </a:p>
        </p:txBody>
      </p:sp>
      <p:graphicFrame>
        <p:nvGraphicFramePr>
          <p:cNvPr id="1026" name="Object 4"/>
          <p:cNvGraphicFramePr>
            <a:graphicFrameLocks noChangeAspect="1"/>
          </p:cNvGraphicFramePr>
          <p:nvPr/>
        </p:nvGraphicFramePr>
        <p:xfrm>
          <a:off x="7119938" y="1624013"/>
          <a:ext cx="27876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02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9938" y="1624013"/>
                        <a:ext cx="2787650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7" name="Object 5"/>
          <p:cNvGraphicFramePr>
            <a:graphicFrameLocks noChangeAspect="1"/>
          </p:cNvGraphicFramePr>
          <p:nvPr/>
        </p:nvGraphicFramePr>
        <p:xfrm>
          <a:off x="7097713" y="2633663"/>
          <a:ext cx="278606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040" imgH="228600" progId="Equation.3">
                  <p:embed/>
                </p:oleObj>
              </mc:Choice>
              <mc:Fallback>
                <p:oleObj name="Equation" r:id="rId4" imgW="1346040" imgH="228600" progId="Equation.3">
                  <p:embed/>
                  <p:pic>
                    <p:nvPicPr>
                      <p:cNvPr id="102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7713" y="2633663"/>
                        <a:ext cx="2786062" cy="476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8" name="Object 6"/>
          <p:cNvGraphicFramePr>
            <a:graphicFrameLocks noChangeAspect="1"/>
          </p:cNvGraphicFramePr>
          <p:nvPr/>
        </p:nvGraphicFramePr>
        <p:xfrm>
          <a:off x="7085013" y="3582988"/>
          <a:ext cx="2578100" cy="900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44520" imgH="431640" progId="Equation.3">
                  <p:embed/>
                </p:oleObj>
              </mc:Choice>
              <mc:Fallback>
                <p:oleObj name="Equation" r:id="rId6" imgW="1244520" imgH="431640" progId="Equation.3">
                  <p:embed/>
                  <p:pic>
                    <p:nvPicPr>
                      <p:cNvPr id="102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5013" y="3582988"/>
                        <a:ext cx="2578100" cy="900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Velocity</a:t>
            </a:r>
          </a:p>
        </p:txBody>
      </p:sp>
      <p:sp>
        <p:nvSpPr>
          <p:cNvPr id="2072" name="Rectangle 41"/>
          <p:cNvSpPr>
            <a:spLocks noGrp="1" noChangeArrowheads="1"/>
          </p:cNvSpPr>
          <p:nvPr>
            <p:ph idx="1"/>
          </p:nvPr>
        </p:nvSpPr>
        <p:spPr>
          <a:xfrm>
            <a:off x="1966914" y="1571625"/>
            <a:ext cx="3222625" cy="2146300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1600"/>
              <a:t>Look at the Angular Speed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Then</a:t>
            </a:r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endParaRPr lang="en-US" sz="1600"/>
          </a:p>
          <a:p>
            <a:pPr eaLnBrk="1" hangingPunct="1">
              <a:lnSpc>
                <a:spcPct val="90000"/>
              </a:lnSpc>
            </a:pPr>
            <a:r>
              <a:rPr lang="en-US" sz="1600"/>
              <a:t>Let’s take the x-component</a:t>
            </a: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D8BAEE3-606F-40C5-B97E-BF5378E81159}" type="slidenum">
              <a:rPr lang="en-US"/>
              <a:pPr/>
              <a:t>11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5638550" y="1831976"/>
            <a:ext cx="3922712" cy="3921125"/>
            <a:chOff x="2592" y="1152"/>
            <a:chExt cx="2592" cy="2592"/>
          </a:xfrm>
        </p:grpSpPr>
        <p:sp>
          <p:nvSpPr>
            <p:cNvPr id="2095" name="Oval 4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2096" name="Line 5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2097" name="Line 6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2057" name="Text Box 7"/>
          <p:cNvSpPr txBox="1">
            <a:spLocks noChangeArrowheads="1"/>
          </p:cNvSpPr>
          <p:nvPr/>
        </p:nvSpPr>
        <p:spPr bwMode="auto">
          <a:xfrm>
            <a:off x="7557837" y="164306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2058" name="Text Box 8"/>
          <p:cNvSpPr txBox="1">
            <a:spLocks noChangeArrowheads="1"/>
          </p:cNvSpPr>
          <p:nvPr/>
        </p:nvSpPr>
        <p:spPr bwMode="auto">
          <a:xfrm>
            <a:off x="9459662" y="3744913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2059" name="Line 9"/>
          <p:cNvSpPr>
            <a:spLocks noChangeShapeType="1"/>
          </p:cNvSpPr>
          <p:nvPr/>
        </p:nvSpPr>
        <p:spPr bwMode="auto">
          <a:xfrm flipV="1">
            <a:off x="7597525" y="2851150"/>
            <a:ext cx="1090612" cy="941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0" name="Line 10"/>
          <p:cNvSpPr>
            <a:spLocks noChangeShapeType="1"/>
          </p:cNvSpPr>
          <p:nvPr/>
        </p:nvSpPr>
        <p:spPr bwMode="auto">
          <a:xfrm>
            <a:off x="8688137" y="2851150"/>
            <a:ext cx="0" cy="9413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1" name="Arc 11"/>
          <p:cNvSpPr>
            <a:spLocks/>
          </p:cNvSpPr>
          <p:nvPr/>
        </p:nvSpPr>
        <p:spPr bwMode="auto">
          <a:xfrm>
            <a:off x="7889625" y="3430588"/>
            <a:ext cx="215900" cy="361950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62" name="Text Box 12"/>
          <p:cNvSpPr txBox="1">
            <a:spLocks noChangeArrowheads="1"/>
          </p:cNvSpPr>
          <p:nvPr/>
        </p:nvSpPr>
        <p:spPr bwMode="auto">
          <a:xfrm>
            <a:off x="8044745" y="3357789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63" name="Text Box 13"/>
          <p:cNvSpPr txBox="1">
            <a:spLocks noChangeArrowheads="1"/>
          </p:cNvSpPr>
          <p:nvPr/>
        </p:nvSpPr>
        <p:spPr bwMode="auto">
          <a:xfrm>
            <a:off x="8142037" y="37846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64" name="Text Box 14"/>
          <p:cNvSpPr txBox="1">
            <a:spLocks noChangeArrowheads="1"/>
          </p:cNvSpPr>
          <p:nvPr/>
        </p:nvSpPr>
        <p:spPr bwMode="auto">
          <a:xfrm>
            <a:off x="7186362" y="3076575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2065" name="Line 15"/>
          <p:cNvSpPr>
            <a:spLocks noChangeShapeType="1"/>
          </p:cNvSpPr>
          <p:nvPr/>
        </p:nvSpPr>
        <p:spPr bwMode="auto">
          <a:xfrm flipH="1">
            <a:off x="7597525" y="2851150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6" name="Line 16"/>
          <p:cNvSpPr>
            <a:spLocks noChangeShapeType="1"/>
          </p:cNvSpPr>
          <p:nvPr/>
        </p:nvSpPr>
        <p:spPr bwMode="auto">
          <a:xfrm flipH="1">
            <a:off x="8142037" y="3784600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7" name="Line 17"/>
          <p:cNvSpPr>
            <a:spLocks noChangeShapeType="1"/>
          </p:cNvSpPr>
          <p:nvPr/>
        </p:nvSpPr>
        <p:spPr bwMode="auto">
          <a:xfrm flipH="1">
            <a:off x="8142037" y="2847975"/>
            <a:ext cx="527050" cy="0"/>
          </a:xfrm>
          <a:prstGeom prst="line">
            <a:avLst/>
          </a:prstGeom>
          <a:noFill/>
          <a:ln w="28575">
            <a:solidFill>
              <a:srgbClr val="FF9933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8" name="Line 18"/>
          <p:cNvSpPr>
            <a:spLocks noChangeShapeType="1"/>
          </p:cNvSpPr>
          <p:nvPr/>
        </p:nvSpPr>
        <p:spPr bwMode="auto">
          <a:xfrm flipH="1" flipV="1">
            <a:off x="8159501" y="2151063"/>
            <a:ext cx="509587" cy="696912"/>
          </a:xfrm>
          <a:prstGeom prst="line">
            <a:avLst/>
          </a:prstGeom>
          <a:noFill/>
          <a:ln w="28575">
            <a:solidFill>
              <a:srgbClr val="9933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2069" name="Text Box 19"/>
          <p:cNvSpPr txBox="1">
            <a:spLocks noChangeArrowheads="1"/>
          </p:cNvSpPr>
          <p:nvPr/>
        </p:nvSpPr>
        <p:spPr bwMode="auto">
          <a:xfrm>
            <a:off x="8273800" y="20447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CC6600"/>
                </a:solidFill>
              </a:rPr>
              <a:t>v</a:t>
            </a:r>
            <a:r>
              <a:rPr lang="en-US" baseline="-25000" dirty="0" err="1">
                <a:solidFill>
                  <a:srgbClr val="CC6600"/>
                </a:solidFill>
              </a:rPr>
              <a:t>t</a:t>
            </a:r>
            <a:endParaRPr lang="en-US" baseline="-25000" dirty="0">
              <a:solidFill>
                <a:srgbClr val="CC6600"/>
              </a:solidFill>
            </a:endParaRPr>
          </a:p>
        </p:txBody>
      </p:sp>
      <p:sp>
        <p:nvSpPr>
          <p:cNvPr id="2070" name="Text Box 20"/>
          <p:cNvSpPr txBox="1">
            <a:spLocks noChangeArrowheads="1"/>
          </p:cNvSpPr>
          <p:nvPr/>
        </p:nvSpPr>
        <p:spPr bwMode="auto">
          <a:xfrm>
            <a:off x="7878512" y="2819400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9933"/>
                </a:solidFill>
              </a:rPr>
              <a:t>v</a:t>
            </a:r>
            <a:r>
              <a:rPr lang="en-US" baseline="-25000" dirty="0" err="1">
                <a:solidFill>
                  <a:srgbClr val="FF9933"/>
                </a:solidFill>
              </a:rPr>
              <a:t>tx</a:t>
            </a:r>
            <a:endParaRPr lang="en-US" baseline="-25000" dirty="0">
              <a:solidFill>
                <a:srgbClr val="FF9933"/>
              </a:solidFill>
            </a:endParaRPr>
          </a:p>
        </p:txBody>
      </p:sp>
      <p:sp>
        <p:nvSpPr>
          <p:cNvPr id="2073" name="Text Box 42"/>
          <p:cNvSpPr txBox="1">
            <a:spLocks noChangeArrowheads="1"/>
          </p:cNvSpPr>
          <p:nvPr/>
        </p:nvSpPr>
        <p:spPr bwMode="auto">
          <a:xfrm>
            <a:off x="8148840" y="2875644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2074" name="Arc 43"/>
          <p:cNvSpPr>
            <a:spLocks/>
          </p:cNvSpPr>
          <p:nvPr/>
        </p:nvSpPr>
        <p:spPr bwMode="auto">
          <a:xfrm>
            <a:off x="8330950" y="2851151"/>
            <a:ext cx="214312" cy="227013"/>
          </a:xfrm>
          <a:custGeom>
            <a:avLst/>
            <a:gdLst>
              <a:gd name="T0" fmla="*/ 85169 w 21600"/>
              <a:gd name="T1" fmla="*/ 227013 h 17310"/>
              <a:gd name="T2" fmla="*/ 0 w 21600"/>
              <a:gd name="T3" fmla="*/ 0 h 17310"/>
              <a:gd name="T4" fmla="*/ 214312 w 21600"/>
              <a:gd name="T5" fmla="*/ 957 h 17310"/>
              <a:gd name="T6" fmla="*/ 0 60000 65536"/>
              <a:gd name="T7" fmla="*/ 0 60000 65536"/>
              <a:gd name="T8" fmla="*/ 0 60000 65536"/>
              <a:gd name="T9" fmla="*/ 0 w 21600"/>
              <a:gd name="T10" fmla="*/ 0 h 17310"/>
              <a:gd name="T11" fmla="*/ 21600 w 21600"/>
              <a:gd name="T12" fmla="*/ 17310 h 1731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7310" fill="none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</a:path>
              <a:path w="21600" h="17310" stroke="0" extrusionOk="0">
                <a:moveTo>
                  <a:pt x="8583" y="17310"/>
                </a:moveTo>
                <a:cubicBezTo>
                  <a:pt x="3177" y="13228"/>
                  <a:pt x="0" y="6846"/>
                  <a:pt x="0" y="73"/>
                </a:cubicBezTo>
                <a:cubicBezTo>
                  <a:pt x="-1" y="48"/>
                  <a:pt x="0" y="24"/>
                  <a:pt x="0" y="0"/>
                </a:cubicBezTo>
                <a:lnTo>
                  <a:pt x="21600" y="7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2075" name="Line 44"/>
          <p:cNvSpPr>
            <a:spLocks noChangeShapeType="1"/>
          </p:cNvSpPr>
          <p:nvPr/>
        </p:nvSpPr>
        <p:spPr bwMode="auto">
          <a:xfrm>
            <a:off x="8167437" y="2133600"/>
            <a:ext cx="0" cy="704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graphicFrame>
        <p:nvGraphicFramePr>
          <p:cNvPr id="2050" name="Object 45"/>
          <p:cNvGraphicFramePr>
            <a:graphicFrameLocks noChangeAspect="1"/>
          </p:cNvGraphicFramePr>
          <p:nvPr/>
        </p:nvGraphicFramePr>
        <p:xfrm>
          <a:off x="8974862" y="2305347"/>
          <a:ext cx="519113" cy="4235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3480" imgH="393480" progId="Equation.3">
                  <p:embed/>
                </p:oleObj>
              </mc:Choice>
              <mc:Fallback>
                <p:oleObj name="Equation" r:id="rId2" imgW="393480" imgH="393480" progId="Equation.3">
                  <p:embed/>
                  <p:pic>
                    <p:nvPicPr>
                      <p:cNvPr id="2050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74862" y="2305347"/>
                        <a:ext cx="519113" cy="42356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1" name="Object 46"/>
          <p:cNvGraphicFramePr>
            <a:graphicFrameLocks noChangeAspect="1"/>
          </p:cNvGraphicFramePr>
          <p:nvPr/>
        </p:nvGraphicFramePr>
        <p:xfrm>
          <a:off x="2417763" y="3862389"/>
          <a:ext cx="1993900" cy="32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22360" imgH="228600" progId="Equation.3">
                  <p:embed/>
                </p:oleObj>
              </mc:Choice>
              <mc:Fallback>
                <p:oleObj name="Equation" r:id="rId4" imgW="1422360" imgH="228600" progId="Equation.3">
                  <p:embed/>
                  <p:pic>
                    <p:nvPicPr>
                      <p:cNvPr id="2051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7763" y="3862389"/>
                        <a:ext cx="1993900" cy="320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2" name="Object 47"/>
          <p:cNvGraphicFramePr>
            <a:graphicFrameLocks noChangeAspect="1"/>
          </p:cNvGraphicFramePr>
          <p:nvPr/>
        </p:nvGraphicFramePr>
        <p:xfrm>
          <a:off x="3182939" y="2154238"/>
          <a:ext cx="623887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44240" imgH="393480" progId="Equation.3">
                  <p:embed/>
                </p:oleObj>
              </mc:Choice>
              <mc:Fallback>
                <p:oleObj name="Equation" r:id="rId6" imgW="444240" imgH="393480" progId="Equation.3">
                  <p:embed/>
                  <p:pic>
                    <p:nvPicPr>
                      <p:cNvPr id="2052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2939" y="2154238"/>
                        <a:ext cx="623887" cy="5524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3" name="Object 48"/>
          <p:cNvGraphicFramePr>
            <a:graphicFrameLocks noChangeAspect="1"/>
          </p:cNvGraphicFramePr>
          <p:nvPr/>
        </p:nvGraphicFramePr>
        <p:xfrm>
          <a:off x="3027363" y="2828925"/>
          <a:ext cx="658812" cy="319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28600" progId="Equation.3">
                  <p:embed/>
                </p:oleObj>
              </mc:Choice>
              <mc:Fallback>
                <p:oleObj name="Equation" r:id="rId8" imgW="469800" imgH="228600" progId="Equation.3">
                  <p:embed/>
                  <p:pic>
                    <p:nvPicPr>
                      <p:cNvPr id="2053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7363" y="2828925"/>
                        <a:ext cx="658812" cy="3190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Arc 11"/>
          <p:cNvSpPr>
            <a:spLocks/>
          </p:cNvSpPr>
          <p:nvPr/>
        </p:nvSpPr>
        <p:spPr bwMode="auto">
          <a:xfrm rot="10800000" flipV="1">
            <a:off x="8301285" y="2499520"/>
            <a:ext cx="174126" cy="338931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1950 h 18292"/>
              <a:gd name="T4" fmla="*/ 0 w 21600"/>
              <a:gd name="T5" fmla="*/ 36195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6" name="Freeform 5"/>
          <p:cNvSpPr/>
          <p:nvPr/>
        </p:nvSpPr>
        <p:spPr>
          <a:xfrm>
            <a:off x="8346211" y="2566988"/>
            <a:ext cx="628650" cy="142875"/>
          </a:xfrm>
          <a:custGeom>
            <a:avLst/>
            <a:gdLst>
              <a:gd name="connsiteX0" fmla="*/ 495300 w 495300"/>
              <a:gd name="connsiteY0" fmla="*/ 0 h 123825"/>
              <a:gd name="connsiteX1" fmla="*/ 366713 w 495300"/>
              <a:gd name="connsiteY1" fmla="*/ 100013 h 123825"/>
              <a:gd name="connsiteX2" fmla="*/ 352425 w 495300"/>
              <a:gd name="connsiteY2" fmla="*/ 19050 h 123825"/>
              <a:gd name="connsiteX3" fmla="*/ 0 w 495300"/>
              <a:gd name="connsiteY3" fmla="*/ 123825 h 123825"/>
              <a:gd name="connsiteX0" fmla="*/ 628650 w 628650"/>
              <a:gd name="connsiteY0" fmla="*/ 0 h 142875"/>
              <a:gd name="connsiteX1" fmla="*/ 366713 w 628650"/>
              <a:gd name="connsiteY1" fmla="*/ 119063 h 142875"/>
              <a:gd name="connsiteX2" fmla="*/ 352425 w 628650"/>
              <a:gd name="connsiteY2" fmla="*/ 38100 h 142875"/>
              <a:gd name="connsiteX3" fmla="*/ 0 w 628650"/>
              <a:gd name="connsiteY3" fmla="*/ 142875 h 142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8650" h="142875">
                <a:moveTo>
                  <a:pt x="628650" y="0"/>
                </a:moveTo>
                <a:cubicBezTo>
                  <a:pt x="576262" y="48419"/>
                  <a:pt x="412751" y="112713"/>
                  <a:pt x="366713" y="119063"/>
                </a:cubicBezTo>
                <a:cubicBezTo>
                  <a:pt x="320675" y="125413"/>
                  <a:pt x="413544" y="34131"/>
                  <a:pt x="352425" y="38100"/>
                </a:cubicBezTo>
                <a:cubicBezTo>
                  <a:pt x="291306" y="42069"/>
                  <a:pt x="58737" y="127000"/>
                  <a:pt x="0" y="142875"/>
                </a:cubicBezTo>
              </a:path>
            </a:pathLst>
          </a:custGeom>
          <a:noFill/>
          <a:ln w="635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Rotation and Acceleration</a:t>
            </a:r>
          </a:p>
        </p:txBody>
      </p:sp>
      <p:sp>
        <p:nvSpPr>
          <p:cNvPr id="3079" name="Rectangle 23"/>
          <p:cNvSpPr>
            <a:spLocks noGrp="1" noChangeArrowheads="1"/>
          </p:cNvSpPr>
          <p:nvPr>
            <p:ph idx="1"/>
          </p:nvPr>
        </p:nvSpPr>
        <p:spPr>
          <a:xfrm>
            <a:off x="1966913" y="1571625"/>
            <a:ext cx="2786062" cy="4438650"/>
          </a:xfrm>
        </p:spPr>
        <p:txBody>
          <a:bodyPr/>
          <a:lstStyle/>
          <a:p>
            <a:pPr eaLnBrk="1" hangingPunct="1"/>
            <a:r>
              <a:rPr lang="en-US" sz="2400"/>
              <a:t>The acceleration of the particle at P is given by</a:t>
            </a:r>
          </a:p>
          <a:p>
            <a:pPr eaLnBrk="1" hangingPunct="1"/>
            <a:endParaRPr lang="en-US" sz="2400"/>
          </a:p>
          <a:p>
            <a:pPr eaLnBrk="1" hangingPunct="1"/>
            <a:endParaRPr lang="en-US" sz="2400"/>
          </a:p>
          <a:p>
            <a:pPr eaLnBrk="1" hangingPunct="1"/>
            <a:r>
              <a:rPr lang="en-US" sz="2400"/>
              <a:t>Taking the x-  component</a:t>
            </a:r>
          </a:p>
        </p:txBody>
      </p:sp>
      <p:sp>
        <p:nvSpPr>
          <p:cNvPr id="307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30C1088-0D2B-422C-9F82-4F6635D2C749}" type="slidenum">
              <a:rPr lang="en-US"/>
              <a:pPr/>
              <a:t>12</a:t>
            </a:fld>
            <a:endParaRPr lang="en-US"/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5747544" y="1837872"/>
            <a:ext cx="3922712" cy="3935412"/>
            <a:chOff x="2592" y="1152"/>
            <a:chExt cx="2592" cy="2592"/>
          </a:xfrm>
        </p:grpSpPr>
        <p:sp>
          <p:nvSpPr>
            <p:cNvPr id="3097" name="Oval 25"/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4000"/>
            </a:p>
          </p:txBody>
        </p:sp>
        <p:sp>
          <p:nvSpPr>
            <p:cNvPr id="3098" name="Line 26"/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  <p:sp>
          <p:nvSpPr>
            <p:cNvPr id="3099" name="Line 27"/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4000"/>
            </a:p>
          </p:txBody>
        </p:sp>
      </p:grpSp>
      <p:sp>
        <p:nvSpPr>
          <p:cNvPr id="3081" name="Text Box 28"/>
          <p:cNvSpPr txBox="1">
            <a:spLocks noChangeArrowheads="1"/>
          </p:cNvSpPr>
          <p:nvPr/>
        </p:nvSpPr>
        <p:spPr bwMode="auto">
          <a:xfrm>
            <a:off x="7666831" y="1647372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3082" name="Text Box 29"/>
          <p:cNvSpPr txBox="1">
            <a:spLocks noChangeArrowheads="1"/>
          </p:cNvSpPr>
          <p:nvPr/>
        </p:nvSpPr>
        <p:spPr bwMode="auto">
          <a:xfrm>
            <a:off x="9568656" y="3757159"/>
            <a:ext cx="2487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3083" name="Line 30"/>
          <p:cNvSpPr>
            <a:spLocks noChangeShapeType="1"/>
          </p:cNvSpPr>
          <p:nvPr/>
        </p:nvSpPr>
        <p:spPr bwMode="auto">
          <a:xfrm flipV="1">
            <a:off x="7706519" y="2858634"/>
            <a:ext cx="1090612" cy="946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4" name="Line 31"/>
          <p:cNvSpPr>
            <a:spLocks noChangeShapeType="1"/>
          </p:cNvSpPr>
          <p:nvPr/>
        </p:nvSpPr>
        <p:spPr bwMode="auto">
          <a:xfrm>
            <a:off x="8797131" y="2858634"/>
            <a:ext cx="0" cy="9461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85" name="Arc 32"/>
          <p:cNvSpPr>
            <a:spLocks/>
          </p:cNvSpPr>
          <p:nvPr/>
        </p:nvSpPr>
        <p:spPr bwMode="auto">
          <a:xfrm>
            <a:off x="7989094" y="3516373"/>
            <a:ext cx="168275" cy="264596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7 h 18292"/>
              <a:gd name="T4" fmla="*/ 0 w 21600"/>
              <a:gd name="T5" fmla="*/ 363537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  <p:sp>
        <p:nvSpPr>
          <p:cNvPr id="3086" name="Text Box 33"/>
          <p:cNvSpPr txBox="1">
            <a:spLocks noChangeArrowheads="1"/>
          </p:cNvSpPr>
          <p:nvPr/>
        </p:nvSpPr>
        <p:spPr bwMode="auto">
          <a:xfrm>
            <a:off x="8098585" y="3380468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87" name="Text Box 34"/>
          <p:cNvSpPr txBox="1">
            <a:spLocks noChangeArrowheads="1"/>
          </p:cNvSpPr>
          <p:nvPr/>
        </p:nvSpPr>
        <p:spPr bwMode="auto">
          <a:xfrm>
            <a:off x="8251031" y="3796847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sp>
        <p:nvSpPr>
          <p:cNvPr id="3088" name="Text Box 35"/>
          <p:cNvSpPr txBox="1">
            <a:spLocks noChangeArrowheads="1"/>
          </p:cNvSpPr>
          <p:nvPr/>
        </p:nvSpPr>
        <p:spPr bwMode="auto">
          <a:xfrm>
            <a:off x="7295356" y="3085647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089" name="Line 36"/>
          <p:cNvSpPr>
            <a:spLocks noChangeShapeType="1"/>
          </p:cNvSpPr>
          <p:nvPr/>
        </p:nvSpPr>
        <p:spPr bwMode="auto">
          <a:xfrm flipH="1">
            <a:off x="7706519" y="2858634"/>
            <a:ext cx="1090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0" name="Line 37"/>
          <p:cNvSpPr>
            <a:spLocks noChangeShapeType="1"/>
          </p:cNvSpPr>
          <p:nvPr/>
        </p:nvSpPr>
        <p:spPr bwMode="auto">
          <a:xfrm flipH="1">
            <a:off x="8251031" y="3801610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1" name="Line 38"/>
          <p:cNvSpPr>
            <a:spLocks noChangeShapeType="1"/>
          </p:cNvSpPr>
          <p:nvPr/>
        </p:nvSpPr>
        <p:spPr bwMode="auto">
          <a:xfrm flipH="1">
            <a:off x="8262145" y="2857048"/>
            <a:ext cx="515937" cy="458787"/>
          </a:xfrm>
          <a:prstGeom prst="line">
            <a:avLst/>
          </a:prstGeom>
          <a:noFill/>
          <a:ln w="28575">
            <a:solidFill>
              <a:srgbClr val="CC00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2" name="Text Box 39"/>
          <p:cNvSpPr txBox="1">
            <a:spLocks noChangeArrowheads="1"/>
          </p:cNvSpPr>
          <p:nvPr/>
        </p:nvSpPr>
        <p:spPr bwMode="auto">
          <a:xfrm>
            <a:off x="8407512" y="3066368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CC00CC"/>
                </a:solidFill>
              </a:rPr>
              <a:t>a</a:t>
            </a:r>
            <a:endParaRPr lang="en-US" baseline="-25000" dirty="0">
              <a:solidFill>
                <a:srgbClr val="CC00CC"/>
              </a:solidFill>
            </a:endParaRPr>
          </a:p>
        </p:txBody>
      </p:sp>
      <p:sp>
        <p:nvSpPr>
          <p:cNvPr id="3093" name="Line 40"/>
          <p:cNvSpPr>
            <a:spLocks noChangeShapeType="1"/>
          </p:cNvSpPr>
          <p:nvPr/>
        </p:nvSpPr>
        <p:spPr bwMode="auto">
          <a:xfrm flipH="1">
            <a:off x="8251031" y="2858633"/>
            <a:ext cx="527050" cy="0"/>
          </a:xfrm>
          <a:prstGeom prst="line">
            <a:avLst/>
          </a:prstGeom>
          <a:noFill/>
          <a:ln w="28575">
            <a:solidFill>
              <a:srgbClr val="FF99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4000"/>
          </a:p>
        </p:txBody>
      </p:sp>
      <p:sp>
        <p:nvSpPr>
          <p:cNvPr id="3094" name="Text Box 41"/>
          <p:cNvSpPr txBox="1">
            <a:spLocks noChangeArrowheads="1"/>
          </p:cNvSpPr>
          <p:nvPr/>
        </p:nvSpPr>
        <p:spPr bwMode="auto">
          <a:xfrm>
            <a:off x="8052594" y="2398259"/>
            <a:ext cx="6667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rgbClr val="CC99FF"/>
                </a:solidFill>
              </a:rPr>
              <a:t>a</a:t>
            </a:r>
            <a:r>
              <a:rPr lang="en-US" baseline="-25000">
                <a:solidFill>
                  <a:srgbClr val="CC99FF"/>
                </a:solidFill>
              </a:rPr>
              <a:t>x</a:t>
            </a:r>
          </a:p>
        </p:txBody>
      </p:sp>
      <p:graphicFrame>
        <p:nvGraphicFramePr>
          <p:cNvPr id="3074" name="Object 42"/>
          <p:cNvGraphicFramePr>
            <a:graphicFrameLocks noChangeAspect="1"/>
          </p:cNvGraphicFramePr>
          <p:nvPr/>
        </p:nvGraphicFramePr>
        <p:xfrm>
          <a:off x="2270126" y="4651375"/>
          <a:ext cx="2119313" cy="338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241200" progId="Equation.3">
                  <p:embed/>
                </p:oleObj>
              </mc:Choice>
              <mc:Fallback>
                <p:oleObj name="Equation" r:id="rId2" imgW="1511280" imgH="241200" progId="Equation.3">
                  <p:embed/>
                  <p:pic>
                    <p:nvPicPr>
                      <p:cNvPr id="30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0126" y="4651375"/>
                        <a:ext cx="2119313" cy="3381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43"/>
          <p:cNvGraphicFramePr>
            <a:graphicFrameLocks noChangeAspect="1"/>
          </p:cNvGraphicFramePr>
          <p:nvPr/>
        </p:nvGraphicFramePr>
        <p:xfrm>
          <a:off x="2203450" y="2784476"/>
          <a:ext cx="2598738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54000" imgH="419040" progId="Equation.3">
                  <p:embed/>
                </p:oleObj>
              </mc:Choice>
              <mc:Fallback>
                <p:oleObj name="Equation" r:id="rId4" imgW="1854000" imgH="419040" progId="Equation.3">
                  <p:embed/>
                  <p:pic>
                    <p:nvPicPr>
                      <p:cNvPr id="30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3450" y="2784476"/>
                        <a:ext cx="2598738" cy="587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5" name="Text Box 44"/>
          <p:cNvSpPr txBox="1">
            <a:spLocks noChangeArrowheads="1"/>
          </p:cNvSpPr>
          <p:nvPr/>
        </p:nvSpPr>
        <p:spPr bwMode="auto">
          <a:xfrm>
            <a:off x="8075953" y="2879272"/>
            <a:ext cx="3048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ym typeface="Symbol" pitchFamily="18" charset="2"/>
              </a:rPr>
              <a:t></a:t>
            </a:r>
          </a:p>
        </p:txBody>
      </p:sp>
      <p:sp>
        <p:nvSpPr>
          <p:cNvPr id="3096" name="Arc 45"/>
          <p:cNvSpPr>
            <a:spLocks/>
          </p:cNvSpPr>
          <p:nvPr/>
        </p:nvSpPr>
        <p:spPr bwMode="auto">
          <a:xfrm flipH="1" flipV="1">
            <a:off x="8308181" y="2836409"/>
            <a:ext cx="215900" cy="363538"/>
          </a:xfrm>
          <a:custGeom>
            <a:avLst/>
            <a:gdLst>
              <a:gd name="T0" fmla="*/ 114817 w 21600"/>
              <a:gd name="T1" fmla="*/ 0 h 18292"/>
              <a:gd name="T2" fmla="*/ 215900 w 21600"/>
              <a:gd name="T3" fmla="*/ 363538 h 18292"/>
              <a:gd name="T4" fmla="*/ 0 w 21600"/>
              <a:gd name="T5" fmla="*/ 363538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 sz="4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𝑠𝑖𝑛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ra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 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1AE2D-6D1D-1E90-BAFF-5A2311FC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298"/>
                <a:ext cx="10515600" cy="6568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3985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grpSp>
        <p:nvGrpSpPr>
          <p:cNvPr id="4099" name="Group 5"/>
          <p:cNvGrpSpPr>
            <a:grpSpLocks/>
          </p:cNvGrpSpPr>
          <p:nvPr/>
        </p:nvGrpSpPr>
        <p:grpSpPr bwMode="auto">
          <a:xfrm>
            <a:off x="4352926" y="1885950"/>
            <a:ext cx="3071813" cy="3430588"/>
            <a:chOff x="3766" y="996"/>
            <a:chExt cx="1329" cy="1585"/>
          </a:xfrm>
        </p:grpSpPr>
        <p:sp>
          <p:nvSpPr>
            <p:cNvPr id="4105" name="Rectangle 6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6" name="Line 7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Arc 8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8" name="Oval 9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4109" name="Line 10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Line 11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1" name="Text Box 12"/>
            <p:cNvSpPr txBox="1">
              <a:spLocks noChangeArrowheads="1"/>
            </p:cNvSpPr>
            <p:nvPr/>
          </p:nvSpPr>
          <p:spPr bwMode="auto">
            <a:xfrm>
              <a:off x="4723" y="1367"/>
              <a:ext cx="16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b="1">
                  <a:solidFill>
                    <a:srgbClr val="FF0000"/>
                  </a:solidFill>
                </a:rPr>
                <a:t>T</a:t>
              </a:r>
            </a:p>
          </p:txBody>
        </p:sp>
        <p:sp>
          <p:nvSpPr>
            <p:cNvPr id="4112" name="Text Box 13"/>
            <p:cNvSpPr txBox="1">
              <a:spLocks noChangeArrowheads="1"/>
            </p:cNvSpPr>
            <p:nvPr/>
          </p:nvSpPr>
          <p:spPr bwMode="auto">
            <a:xfrm>
              <a:off x="4879" y="1705"/>
              <a:ext cx="19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i="1"/>
                <a:t>m</a:t>
              </a:r>
            </a:p>
          </p:txBody>
        </p:sp>
        <p:sp>
          <p:nvSpPr>
            <p:cNvPr id="4113" name="Text Box 14"/>
            <p:cNvSpPr txBox="1">
              <a:spLocks noChangeArrowheads="1"/>
            </p:cNvSpPr>
            <p:nvPr/>
          </p:nvSpPr>
          <p:spPr bwMode="auto">
            <a:xfrm>
              <a:off x="4157" y="1414"/>
              <a:ext cx="15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/>
                <a:t>L</a:t>
              </a:r>
            </a:p>
          </p:txBody>
        </p:sp>
        <p:sp>
          <p:nvSpPr>
            <p:cNvPr id="4114" name="Text Box 16"/>
            <p:cNvSpPr txBox="1">
              <a:spLocks noChangeArrowheads="1"/>
            </p:cNvSpPr>
            <p:nvPr/>
          </p:nvSpPr>
          <p:spPr bwMode="auto">
            <a:xfrm>
              <a:off x="4350" y="1266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5" name="Line 17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6" name="Text Box 18"/>
            <p:cNvSpPr txBox="1">
              <a:spLocks noChangeArrowheads="1"/>
            </p:cNvSpPr>
            <p:nvPr/>
          </p:nvSpPr>
          <p:spPr bwMode="auto">
            <a:xfrm>
              <a:off x="4627" y="2368"/>
              <a:ext cx="46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4117" name="Text Box 19"/>
            <p:cNvSpPr txBox="1">
              <a:spLocks noChangeArrowheads="1"/>
            </p:cNvSpPr>
            <p:nvPr/>
          </p:nvSpPr>
          <p:spPr bwMode="auto">
            <a:xfrm>
              <a:off x="4830" y="2055"/>
              <a:ext cx="1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sym typeface="Symbol" pitchFamily="18" charset="2"/>
                </a:rPr>
                <a:t></a:t>
              </a:r>
            </a:p>
          </p:txBody>
        </p:sp>
        <p:sp>
          <p:nvSpPr>
            <p:cNvPr id="4118" name="Line 21"/>
            <p:cNvSpPr>
              <a:spLocks noChangeShapeType="1"/>
            </p:cNvSpPr>
            <p:nvPr/>
          </p:nvSpPr>
          <p:spPr bwMode="auto">
            <a:xfrm>
              <a:off x="4853" y="1911"/>
              <a:ext cx="220" cy="374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2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FE877E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" name="Text Box 18"/>
          <p:cNvSpPr txBox="1">
            <a:spLocks noChangeArrowheads="1"/>
          </p:cNvSpPr>
          <p:nvPr/>
        </p:nvSpPr>
        <p:spPr bwMode="auto">
          <a:xfrm>
            <a:off x="5791200" y="4113213"/>
            <a:ext cx="5334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t</a:t>
            </a:r>
          </a:p>
        </p:txBody>
      </p:sp>
      <p:sp>
        <p:nvSpPr>
          <p:cNvPr id="4101" name="Text Box 18"/>
          <p:cNvSpPr txBox="1">
            <a:spLocks noChangeArrowheads="1"/>
          </p:cNvSpPr>
          <p:nvPr/>
        </p:nvSpPr>
        <p:spPr bwMode="auto">
          <a:xfrm>
            <a:off x="7459663" y="4130676"/>
            <a:ext cx="538162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FE877E"/>
                </a:solidFill>
              </a:rPr>
              <a:t>W</a:t>
            </a:r>
            <a:r>
              <a:rPr lang="en-US" altLang="en-US" sz="2400" baseline="-25000">
                <a:solidFill>
                  <a:srgbClr val="FE877E"/>
                </a:solidFill>
              </a:rPr>
              <a:t>r</a:t>
            </a:r>
          </a:p>
        </p:txBody>
      </p:sp>
      <p:sp>
        <p:nvSpPr>
          <p:cNvPr id="27" name="Arc 26"/>
          <p:cNvSpPr/>
          <p:nvPr/>
        </p:nvSpPr>
        <p:spPr>
          <a:xfrm rot="5400000">
            <a:off x="6638926" y="39211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9" name="Arc 28"/>
          <p:cNvSpPr/>
          <p:nvPr/>
        </p:nvSpPr>
        <p:spPr>
          <a:xfrm rot="5400000">
            <a:off x="5549107" y="2162969"/>
            <a:ext cx="295275" cy="395288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0" name="Arc 29"/>
          <p:cNvSpPr/>
          <p:nvPr/>
        </p:nvSpPr>
        <p:spPr>
          <a:xfrm rot="5400000">
            <a:off x="6791326" y="4073526"/>
            <a:ext cx="295275" cy="393700"/>
          </a:xfrm>
          <a:prstGeom prst="arc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40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A2F127F-23FE-4B64-AB15-90268C342954}" type="slidenum">
              <a:rPr lang="en-US" smtClean="0"/>
              <a:pPr eaLnBrk="1" hangingPunct="1"/>
              <a:t>15</a:t>
            </a:fld>
            <a:endParaRPr lang="en-US"/>
          </a:p>
        </p:txBody>
      </p:sp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The forces on  M  are F</a:t>
            </a:r>
            <a:r>
              <a:rPr lang="en-US" sz="2000" baseline="-25000"/>
              <a:t>g</a:t>
            </a:r>
            <a:r>
              <a:rPr lang="en-US" sz="2000"/>
              <a:t>, the tension on the string </a:t>
            </a:r>
          </a:p>
          <a:p>
            <a:pPr eaLnBrk="1" hangingPunct="1"/>
            <a:r>
              <a:rPr lang="en-US" sz="2000"/>
              <a:t>The tangential component of F</a:t>
            </a:r>
            <a:r>
              <a:rPr lang="en-US" sz="2000" baseline="-25000"/>
              <a:t>g</a:t>
            </a:r>
            <a:r>
              <a:rPr lang="en-US" sz="2000"/>
              <a:t> is always directed toward </a:t>
            </a:r>
          </a:p>
          <a:p>
            <a:pPr eaLnBrk="1" hangingPunct="1"/>
            <a:r>
              <a:rPr lang="en-US" sz="2000"/>
              <a:t>This is a restoring force! Take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Then the restoring force is</a:t>
            </a:r>
          </a:p>
          <a:p>
            <a:pPr eaLnBrk="1" hangingPunct="1"/>
            <a:endParaRPr lang="en-US"/>
          </a:p>
        </p:txBody>
      </p:sp>
      <p:sp>
        <p:nvSpPr>
          <p:cNvPr id="4101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51301"/>
            <a:ext cx="4038600" cy="2074863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000"/>
              <a:t>If we restrict ourselves to small angles</a:t>
            </a:r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endParaRPr lang="en-US" sz="2000"/>
          </a:p>
          <a:p>
            <a:pPr eaLnBrk="1" hangingPunct="1">
              <a:lnSpc>
                <a:spcPct val="90000"/>
              </a:lnSpc>
            </a:pPr>
            <a:r>
              <a:rPr lang="en-US" sz="2000"/>
              <a:t>Which looks familiar</a:t>
            </a:r>
          </a:p>
        </p:txBody>
      </p:sp>
      <p:graphicFrame>
        <p:nvGraphicFramePr>
          <p:cNvPr id="4103" name="Object 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9564369"/>
              </p:ext>
            </p:extLst>
          </p:nvPr>
        </p:nvGraphicFramePr>
        <p:xfrm>
          <a:off x="1751851" y="3597568"/>
          <a:ext cx="747712" cy="296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410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1851" y="3597568"/>
                        <a:ext cx="747712" cy="296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4" name="Rectangle 24"/>
          <p:cNvSpPr>
            <a:spLocks noChangeArrowheads="1"/>
          </p:cNvSpPr>
          <p:nvPr/>
        </p:nvSpPr>
        <p:spPr bwMode="auto">
          <a:xfrm>
            <a:off x="1524001" y="25775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5" name="Object 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505950"/>
              </p:ext>
            </p:extLst>
          </p:nvPr>
        </p:nvGraphicFramePr>
        <p:xfrm>
          <a:off x="1494676" y="4394493"/>
          <a:ext cx="1314450" cy="151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39800" imgH="1079500" progId="Equation.3">
                  <p:embed/>
                </p:oleObj>
              </mc:Choice>
              <mc:Fallback>
                <p:oleObj name="Equation" r:id="rId4" imgW="939800" imgH="1079500" progId="Equation.3">
                  <p:embed/>
                  <p:pic>
                    <p:nvPicPr>
                      <p:cNvPr id="410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4676" y="4394493"/>
                        <a:ext cx="1314450" cy="151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85C09F02-2C2C-5657-4F55-FC26B4A9060D}"/>
              </a:ext>
            </a:extLst>
          </p:cNvPr>
          <p:cNvGrpSpPr/>
          <p:nvPr/>
        </p:nvGrpSpPr>
        <p:grpSpPr>
          <a:xfrm>
            <a:off x="8191500" y="438150"/>
            <a:ext cx="2780504" cy="2781300"/>
            <a:chOff x="8501064" y="415131"/>
            <a:chExt cx="2780504" cy="2781300"/>
          </a:xfrm>
        </p:grpSpPr>
        <p:grpSp>
          <p:nvGrpSpPr>
            <p:cNvPr id="4102" name="Group 5"/>
            <p:cNvGrpSpPr>
              <a:grpSpLocks/>
            </p:cNvGrpSpPr>
            <p:nvPr/>
          </p:nvGrpSpPr>
          <p:grpSpPr bwMode="auto">
            <a:xfrm>
              <a:off x="9140031" y="415131"/>
              <a:ext cx="2141537" cy="2781300"/>
              <a:chOff x="3766" y="847"/>
              <a:chExt cx="1349" cy="1752"/>
            </a:xfrm>
          </p:grpSpPr>
          <p:sp>
            <p:nvSpPr>
              <p:cNvPr id="4114" name="Rectangle 6"/>
              <p:cNvSpPr>
                <a:spLocks noChangeArrowheads="1"/>
              </p:cNvSpPr>
              <p:nvPr/>
            </p:nvSpPr>
            <p:spPr bwMode="auto">
              <a:xfrm>
                <a:off x="3766" y="996"/>
                <a:ext cx="1143" cy="64"/>
              </a:xfrm>
              <a:prstGeom prst="rect">
                <a:avLst/>
              </a:prstGeom>
              <a:gradFill rotWithShape="1">
                <a:gsLst>
                  <a:gs pos="0">
                    <a:srgbClr val="993300"/>
                  </a:gs>
                  <a:gs pos="100000">
                    <a:srgbClr val="471800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5" name="Line 7"/>
              <p:cNvSpPr>
                <a:spLocks noChangeShapeType="1"/>
              </p:cNvSpPr>
              <p:nvPr/>
            </p:nvSpPr>
            <p:spPr bwMode="auto">
              <a:xfrm>
                <a:off x="4334" y="1042"/>
                <a:ext cx="0" cy="93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6" name="Arc 8"/>
              <p:cNvSpPr>
                <a:spLocks/>
              </p:cNvSpPr>
              <p:nvPr/>
            </p:nvSpPr>
            <p:spPr bwMode="auto">
              <a:xfrm>
                <a:off x="3925" y="1482"/>
                <a:ext cx="839" cy="494"/>
              </a:xfrm>
              <a:custGeom>
                <a:avLst/>
                <a:gdLst>
                  <a:gd name="T0" fmla="*/ 0 w 23777"/>
                  <a:gd name="T1" fmla="*/ 0 h 21600"/>
                  <a:gd name="T2" fmla="*/ 0 w 23777"/>
                  <a:gd name="T3" fmla="*/ 0 h 21600"/>
                  <a:gd name="T4" fmla="*/ 0 w 23777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23777"/>
                  <a:gd name="T10" fmla="*/ 0 h 21600"/>
                  <a:gd name="T11" fmla="*/ 23777 w 2377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3777" h="21600" fill="none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</a:path>
                  <a:path w="23777" h="21600" stroke="0" extrusionOk="0">
                    <a:moveTo>
                      <a:pt x="23776" y="17602"/>
                    </a:moveTo>
                    <a:cubicBezTo>
                      <a:pt x="20120" y="20202"/>
                      <a:pt x="15745" y="21599"/>
                      <a:pt x="11259" y="21600"/>
                    </a:cubicBezTo>
                    <a:cubicBezTo>
                      <a:pt x="7286" y="21600"/>
                      <a:pt x="3390" y="20504"/>
                      <a:pt x="0" y="18433"/>
                    </a:cubicBezTo>
                    <a:lnTo>
                      <a:pt x="11259" y="0"/>
                    </a:lnTo>
                    <a:lnTo>
                      <a:pt x="23776" y="17602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7" name="Oval 9"/>
              <p:cNvSpPr>
                <a:spLocks noChangeArrowheads="1"/>
              </p:cNvSpPr>
              <p:nvPr/>
            </p:nvSpPr>
            <p:spPr bwMode="auto">
              <a:xfrm>
                <a:off x="4727" y="1764"/>
                <a:ext cx="165" cy="156"/>
              </a:xfrm>
              <a:prstGeom prst="ellipse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18" name="Line 10"/>
              <p:cNvSpPr>
                <a:spLocks noChangeShapeType="1"/>
              </p:cNvSpPr>
              <p:nvPr/>
            </p:nvSpPr>
            <p:spPr bwMode="auto">
              <a:xfrm>
                <a:off x="4334" y="1015"/>
                <a:ext cx="429" cy="75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19" name="Line 11"/>
              <p:cNvSpPr>
                <a:spLocks noChangeShapeType="1"/>
              </p:cNvSpPr>
              <p:nvPr/>
            </p:nvSpPr>
            <p:spPr bwMode="auto">
              <a:xfrm flipH="1" flipV="1">
                <a:off x="4571" y="1436"/>
                <a:ext cx="192" cy="33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0" name="Text Box 12"/>
              <p:cNvSpPr txBox="1">
                <a:spLocks noChangeArrowheads="1"/>
              </p:cNvSpPr>
              <p:nvPr/>
            </p:nvSpPr>
            <p:spPr bwMode="auto">
              <a:xfrm>
                <a:off x="4723" y="1367"/>
                <a:ext cx="2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4121" name="Text Box 13"/>
              <p:cNvSpPr txBox="1">
                <a:spLocks noChangeArrowheads="1"/>
              </p:cNvSpPr>
              <p:nvPr/>
            </p:nvSpPr>
            <p:spPr bwMode="auto">
              <a:xfrm>
                <a:off x="4879" y="1705"/>
                <a:ext cx="23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 i="1"/>
                  <a:t>m</a:t>
                </a:r>
              </a:p>
            </p:txBody>
          </p:sp>
          <p:sp>
            <p:nvSpPr>
              <p:cNvPr id="4122" name="Text Box 14"/>
              <p:cNvSpPr txBox="1">
                <a:spLocks noChangeArrowheads="1"/>
              </p:cNvSpPr>
              <p:nvPr/>
            </p:nvSpPr>
            <p:spPr bwMode="auto">
              <a:xfrm>
                <a:off x="4157" y="141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L</a:t>
                </a:r>
              </a:p>
            </p:txBody>
          </p:sp>
          <p:sp>
            <p:nvSpPr>
              <p:cNvPr id="4123" name="Arc 15"/>
              <p:cNvSpPr>
                <a:spLocks/>
              </p:cNvSpPr>
              <p:nvPr/>
            </p:nvSpPr>
            <p:spPr bwMode="auto">
              <a:xfrm>
                <a:off x="4280" y="847"/>
                <a:ext cx="209" cy="493"/>
              </a:xfrm>
              <a:custGeom>
                <a:avLst/>
                <a:gdLst>
                  <a:gd name="T0" fmla="*/ 0 w 5931"/>
                  <a:gd name="T1" fmla="*/ 0 h 21538"/>
                  <a:gd name="T2" fmla="*/ 0 w 5931"/>
                  <a:gd name="T3" fmla="*/ 0 h 21538"/>
                  <a:gd name="T4" fmla="*/ 0 w 5931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5931"/>
                  <a:gd name="T10" fmla="*/ 0 h 21538"/>
                  <a:gd name="T11" fmla="*/ 5931 w 5931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931" h="21538" fill="none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</a:path>
                  <a:path w="5931" h="21538" stroke="0" extrusionOk="0">
                    <a:moveTo>
                      <a:pt x="5930" y="20769"/>
                    </a:moveTo>
                    <a:cubicBezTo>
                      <a:pt x="4527" y="21170"/>
                      <a:pt x="3087" y="21427"/>
                      <a:pt x="1632" y="21538"/>
                    </a:cubicBezTo>
                    <a:lnTo>
                      <a:pt x="0" y="0"/>
                    </a:lnTo>
                    <a:lnTo>
                      <a:pt x="5930" y="20769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4" name="Text Box 16"/>
              <p:cNvSpPr txBox="1">
                <a:spLocks noChangeArrowheads="1"/>
              </p:cNvSpPr>
              <p:nvPr/>
            </p:nvSpPr>
            <p:spPr bwMode="auto">
              <a:xfrm>
                <a:off x="4331" y="1301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5" name="Line 17"/>
              <p:cNvSpPr>
                <a:spLocks noChangeShapeType="1"/>
              </p:cNvSpPr>
              <p:nvPr/>
            </p:nvSpPr>
            <p:spPr bwMode="auto">
              <a:xfrm flipH="1">
                <a:off x="4813" y="1925"/>
                <a:ext cx="0" cy="45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26" name="Text Box 18"/>
              <p:cNvSpPr txBox="1">
                <a:spLocks noChangeArrowheads="1"/>
              </p:cNvSpPr>
              <p:nvPr/>
            </p:nvSpPr>
            <p:spPr bwMode="auto">
              <a:xfrm>
                <a:off x="4627" y="2368"/>
                <a:ext cx="31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/>
                  <a:t>mg</a:t>
                </a:r>
              </a:p>
            </p:txBody>
          </p:sp>
          <p:sp>
            <p:nvSpPr>
              <p:cNvPr id="4127" name="Text Box 19"/>
              <p:cNvSpPr txBox="1">
                <a:spLocks noChangeArrowheads="1"/>
              </p:cNvSpPr>
              <p:nvPr/>
            </p:nvSpPr>
            <p:spPr bwMode="auto">
              <a:xfrm>
                <a:off x="4793" y="2009"/>
                <a:ext cx="191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:r>
                  <a:rPr lang="en-US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4128" name="Arc 20"/>
              <p:cNvSpPr>
                <a:spLocks/>
              </p:cNvSpPr>
              <p:nvPr/>
            </p:nvSpPr>
            <p:spPr bwMode="auto">
              <a:xfrm>
                <a:off x="4699" y="1171"/>
                <a:ext cx="209" cy="877"/>
              </a:xfrm>
              <a:custGeom>
                <a:avLst/>
                <a:gdLst>
                  <a:gd name="T0" fmla="*/ 0 w 4363"/>
                  <a:gd name="T1" fmla="*/ 0 h 21538"/>
                  <a:gd name="T2" fmla="*/ 0 w 4363"/>
                  <a:gd name="T3" fmla="*/ 0 h 21538"/>
                  <a:gd name="T4" fmla="*/ 0 w 4363"/>
                  <a:gd name="T5" fmla="*/ 0 h 21538"/>
                  <a:gd name="T6" fmla="*/ 0 60000 65536"/>
                  <a:gd name="T7" fmla="*/ 0 60000 65536"/>
                  <a:gd name="T8" fmla="*/ 0 60000 65536"/>
                  <a:gd name="T9" fmla="*/ 0 w 4363"/>
                  <a:gd name="T10" fmla="*/ 0 h 21538"/>
                  <a:gd name="T11" fmla="*/ 4363 w 4363"/>
                  <a:gd name="T12" fmla="*/ 21538 h 2153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363" h="21538" fill="none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</a:path>
                  <a:path w="4363" h="21538" stroke="0" extrusionOk="0">
                    <a:moveTo>
                      <a:pt x="4362" y="21154"/>
                    </a:moveTo>
                    <a:cubicBezTo>
                      <a:pt x="3461" y="21340"/>
                      <a:pt x="2549" y="21468"/>
                      <a:pt x="1632" y="21538"/>
                    </a:cubicBezTo>
                    <a:lnTo>
                      <a:pt x="0" y="0"/>
                    </a:lnTo>
                    <a:lnTo>
                      <a:pt x="4362" y="21154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29" name="Line 21"/>
              <p:cNvSpPr>
                <a:spLocks noChangeShapeType="1"/>
              </p:cNvSpPr>
              <p:nvPr/>
            </p:nvSpPr>
            <p:spPr bwMode="auto">
              <a:xfrm>
                <a:off x="4872" y="1902"/>
                <a:ext cx="201" cy="385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30" name="Line 22"/>
              <p:cNvSpPr>
                <a:spLocks noChangeShapeType="1"/>
              </p:cNvSpPr>
              <p:nvPr/>
            </p:nvSpPr>
            <p:spPr bwMode="auto">
              <a:xfrm flipH="1">
                <a:off x="4511" y="1898"/>
                <a:ext cx="219" cy="92"/>
              </a:xfrm>
              <a:prstGeom prst="line">
                <a:avLst/>
              </a:prstGeom>
              <a:noFill/>
              <a:ln w="38100">
                <a:solidFill>
                  <a:srgbClr val="7DC4C9"/>
                </a:solidFill>
                <a:round/>
                <a:headEnd/>
                <a:tailEnd type="triangle" w="lg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06" name="Group 26"/>
            <p:cNvGrpSpPr>
              <a:grpSpLocks/>
            </p:cNvGrpSpPr>
            <p:nvPr/>
          </p:nvGrpSpPr>
          <p:grpSpPr bwMode="auto">
            <a:xfrm>
              <a:off x="8501064" y="2207419"/>
              <a:ext cx="1970879" cy="438149"/>
              <a:chOff x="0" y="1815"/>
              <a:chExt cx="4219" cy="276"/>
            </a:xfrm>
          </p:grpSpPr>
          <p:sp>
            <p:nvSpPr>
              <p:cNvPr id="4112" name="Text Box 27"/>
              <p:cNvSpPr txBox="1">
                <a:spLocks noChangeArrowheads="1"/>
              </p:cNvSpPr>
              <p:nvPr/>
            </p:nvSpPr>
            <p:spPr bwMode="auto">
              <a:xfrm>
                <a:off x="4031" y="1815"/>
                <a:ext cx="18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algn="ctr" eaLnBrk="1" hangingPunct="1"/>
                <a:r>
                  <a:rPr lang="en-US" dirty="0"/>
                  <a:t>s</a:t>
                </a:r>
              </a:p>
            </p:txBody>
          </p:sp>
          <p:sp>
            <p:nvSpPr>
              <p:cNvPr id="4113" name="Rectangle 28"/>
              <p:cNvSpPr>
                <a:spLocks noChangeArrowheads="1"/>
              </p:cNvSpPr>
              <p:nvPr/>
            </p:nvSpPr>
            <p:spPr bwMode="auto">
              <a:xfrm>
                <a:off x="0" y="1858"/>
                <a:ext cx="116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</p:grpSp>
      </p:grpSp>
      <p:graphicFrame>
        <p:nvGraphicFramePr>
          <p:cNvPr id="4107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6464870"/>
              </p:ext>
            </p:extLst>
          </p:nvPr>
        </p:nvGraphicFramePr>
        <p:xfrm>
          <a:off x="7345364" y="3494088"/>
          <a:ext cx="1155700" cy="492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90600" imgH="419100" progId="Equation.3">
                  <p:embed/>
                </p:oleObj>
              </mc:Choice>
              <mc:Fallback>
                <p:oleObj name="Equation" r:id="rId6" imgW="990600" imgH="419100" progId="Equation.3">
                  <p:embed/>
                  <p:pic>
                    <p:nvPicPr>
                      <p:cNvPr id="410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45364" y="3494088"/>
                        <a:ext cx="1155700" cy="492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8" name="Rectangle 30"/>
          <p:cNvSpPr>
            <a:spLocks noChangeArrowheads="1"/>
          </p:cNvSpPr>
          <p:nvPr/>
        </p:nvSpPr>
        <p:spPr bwMode="auto">
          <a:xfrm>
            <a:off x="1524001" y="31347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09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7309290"/>
              </p:ext>
            </p:extLst>
          </p:nvPr>
        </p:nvGraphicFramePr>
        <p:xfrm>
          <a:off x="7548564" y="4498976"/>
          <a:ext cx="1077912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15806" progId="Equation.3">
                  <p:embed/>
                </p:oleObj>
              </mc:Choice>
              <mc:Fallback>
                <p:oleObj name="Equation" r:id="rId8" imgW="647419" imgH="215806" progId="Equation.3">
                  <p:embed/>
                  <p:pic>
                    <p:nvPicPr>
                      <p:cNvPr id="410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48564" y="4498976"/>
                        <a:ext cx="1077912" cy="365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0" name="Rectangle 32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111" name="Object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1219974"/>
              </p:ext>
            </p:extLst>
          </p:nvPr>
        </p:nvGraphicFramePr>
        <p:xfrm>
          <a:off x="7516020" y="4916487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00100" imgH="419100" progId="Equation.3">
                  <p:embed/>
                </p:oleObj>
              </mc:Choice>
              <mc:Fallback>
                <p:oleObj name="Equation" r:id="rId10" imgW="800100" imgH="419100" progId="Equation.3">
                  <p:embed/>
                  <p:pic>
                    <p:nvPicPr>
                      <p:cNvPr id="411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6020" y="4916487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52712F4-E230-D9C5-C869-A1052E58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702" y="1345221"/>
            <a:ext cx="6029325" cy="2971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/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DA714D-41B1-1968-2965-BC51181D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6622" y="2409380"/>
                <a:ext cx="739177" cy="215444"/>
              </a:xfrm>
              <a:prstGeom prst="rect">
                <a:avLst/>
              </a:prstGeom>
              <a:blipFill>
                <a:blip r:embed="rId3"/>
                <a:stretch>
                  <a:fillRect l="-5785" r="-413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/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14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sz="14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028E71-F6AF-2F00-F28C-90E9FABBB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78" y="2039511"/>
                <a:ext cx="664052" cy="215444"/>
              </a:xfrm>
              <a:prstGeom prst="rect">
                <a:avLst/>
              </a:prstGeom>
              <a:blipFill>
                <a:blip r:embed="rId4"/>
                <a:stretch>
                  <a:fillRect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5E43228-DB83-7F73-A1D6-33E79086BDA2}"/>
              </a:ext>
            </a:extLst>
          </p:cNvPr>
          <p:cNvSpPr txBox="1"/>
          <p:nvPr/>
        </p:nvSpPr>
        <p:spPr>
          <a:xfrm>
            <a:off x="8210893" y="3051110"/>
            <a:ext cx="304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591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3F83098-0F30-400B-B1AC-5557931BEC4C}" type="slidenum">
              <a:rPr lang="en-US" smtClean="0"/>
              <a:pPr eaLnBrk="1" hangingPunct="1"/>
              <a:t>17</a:t>
            </a:fld>
            <a:endParaRPr lang="en-US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Pendulum</a:t>
            </a:r>
          </a:p>
        </p:txBody>
      </p:sp>
      <p:sp>
        <p:nvSpPr>
          <p:cNvPr id="512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512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512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512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7" name="Object 6"/>
          <p:cNvGraphicFramePr>
            <a:graphicFrameLocks noChangeAspect="1"/>
          </p:cNvGraphicFramePr>
          <p:nvPr/>
        </p:nvGraphicFramePr>
        <p:xfrm>
          <a:off x="2903539" y="2667000"/>
          <a:ext cx="1411287" cy="738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512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3539" y="2667000"/>
                        <a:ext cx="1411287" cy="738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8" name="Rectangle 7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9" name="Object 8"/>
          <p:cNvGraphicFramePr>
            <a:graphicFrameLocks noChangeAspect="1"/>
          </p:cNvGraphicFramePr>
          <p:nvPr/>
        </p:nvGraphicFramePr>
        <p:xfrm>
          <a:off x="3192463" y="3884613"/>
          <a:ext cx="900112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512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884613"/>
                        <a:ext cx="900112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0" name="Object 9"/>
          <p:cNvGraphicFramePr>
            <a:graphicFrameLocks noChangeAspect="1"/>
          </p:cNvGraphicFramePr>
          <p:nvPr/>
        </p:nvGraphicFramePr>
        <p:xfrm>
          <a:off x="2987675" y="5111751"/>
          <a:ext cx="1208088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500" imgH="469900" progId="Equation.3">
                  <p:embed/>
                </p:oleObj>
              </mc:Choice>
              <mc:Fallback>
                <p:oleObj name="Equation" r:id="rId8" imgW="1079500" imgH="469900" progId="Equation.3">
                  <p:embed/>
                  <p:pic>
                    <p:nvPicPr>
                      <p:cNvPr id="513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675" y="5111751"/>
                        <a:ext cx="1208088" cy="523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31" name="Group 10"/>
          <p:cNvGrpSpPr>
            <a:grpSpLocks/>
          </p:cNvGrpSpPr>
          <p:nvPr/>
        </p:nvGrpSpPr>
        <p:grpSpPr bwMode="auto">
          <a:xfrm>
            <a:off x="7559675" y="1504950"/>
            <a:ext cx="2141538" cy="2784475"/>
            <a:chOff x="3766" y="847"/>
            <a:chExt cx="1349" cy="1754"/>
          </a:xfrm>
        </p:grpSpPr>
        <p:sp>
          <p:nvSpPr>
            <p:cNvPr id="5132" name="Rectangle 11"/>
            <p:cNvSpPr>
              <a:spLocks noChangeArrowheads="1"/>
            </p:cNvSpPr>
            <p:nvPr/>
          </p:nvSpPr>
          <p:spPr bwMode="auto">
            <a:xfrm>
              <a:off x="3766" y="99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Line 12"/>
            <p:cNvSpPr>
              <a:spLocks noChangeShapeType="1"/>
            </p:cNvSpPr>
            <p:nvPr/>
          </p:nvSpPr>
          <p:spPr bwMode="auto">
            <a:xfrm>
              <a:off x="4334" y="1042"/>
              <a:ext cx="0" cy="9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Arc 13"/>
            <p:cNvSpPr>
              <a:spLocks/>
            </p:cNvSpPr>
            <p:nvPr/>
          </p:nvSpPr>
          <p:spPr bwMode="auto">
            <a:xfrm>
              <a:off x="3925" y="1482"/>
              <a:ext cx="839" cy="494"/>
            </a:xfrm>
            <a:custGeom>
              <a:avLst/>
              <a:gdLst>
                <a:gd name="T0" fmla="*/ 0 w 23777"/>
                <a:gd name="T1" fmla="*/ 0 h 21600"/>
                <a:gd name="T2" fmla="*/ 0 w 23777"/>
                <a:gd name="T3" fmla="*/ 0 h 21600"/>
                <a:gd name="T4" fmla="*/ 0 w 23777"/>
                <a:gd name="T5" fmla="*/ 0 h 21600"/>
                <a:gd name="T6" fmla="*/ 0 60000 65536"/>
                <a:gd name="T7" fmla="*/ 0 60000 65536"/>
                <a:gd name="T8" fmla="*/ 0 60000 65536"/>
                <a:gd name="T9" fmla="*/ 0 w 23777"/>
                <a:gd name="T10" fmla="*/ 0 h 21600"/>
                <a:gd name="T11" fmla="*/ 23777 w 237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3777" h="21600" fill="none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</a:path>
                <a:path w="23777" h="21600" stroke="0" extrusionOk="0">
                  <a:moveTo>
                    <a:pt x="23776" y="17602"/>
                  </a:moveTo>
                  <a:cubicBezTo>
                    <a:pt x="20120" y="20202"/>
                    <a:pt x="15745" y="21599"/>
                    <a:pt x="11259" y="21600"/>
                  </a:cubicBezTo>
                  <a:cubicBezTo>
                    <a:pt x="7286" y="21600"/>
                    <a:pt x="3390" y="20504"/>
                    <a:pt x="0" y="18433"/>
                  </a:cubicBezTo>
                  <a:lnTo>
                    <a:pt x="11259" y="0"/>
                  </a:lnTo>
                  <a:lnTo>
                    <a:pt x="23776" y="1760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4"/>
            <p:cNvSpPr>
              <a:spLocks noChangeArrowheads="1"/>
            </p:cNvSpPr>
            <p:nvPr/>
          </p:nvSpPr>
          <p:spPr bwMode="auto">
            <a:xfrm>
              <a:off x="4727" y="1764"/>
              <a:ext cx="165" cy="156"/>
            </a:xfrm>
            <a:prstGeom prst="ellipse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Line 15"/>
            <p:cNvSpPr>
              <a:spLocks noChangeShapeType="1"/>
            </p:cNvSpPr>
            <p:nvPr/>
          </p:nvSpPr>
          <p:spPr bwMode="auto">
            <a:xfrm>
              <a:off x="4334" y="1015"/>
              <a:ext cx="429" cy="7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7" name="Line 16"/>
            <p:cNvSpPr>
              <a:spLocks noChangeShapeType="1"/>
            </p:cNvSpPr>
            <p:nvPr/>
          </p:nvSpPr>
          <p:spPr bwMode="auto">
            <a:xfrm flipH="1" flipV="1">
              <a:off x="4571" y="1436"/>
              <a:ext cx="192" cy="33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8" name="Text Box 17"/>
            <p:cNvSpPr txBox="1">
              <a:spLocks noChangeArrowheads="1"/>
            </p:cNvSpPr>
            <p:nvPr/>
          </p:nvSpPr>
          <p:spPr bwMode="auto">
            <a:xfrm>
              <a:off x="4723" y="1367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b="1">
                  <a:solidFill>
                    <a:srgbClr val="3366FF"/>
                  </a:solidFill>
                </a:rPr>
                <a:t>T</a:t>
              </a:r>
            </a:p>
          </p:txBody>
        </p:sp>
        <p:sp>
          <p:nvSpPr>
            <p:cNvPr id="5139" name="Text Box 18"/>
            <p:cNvSpPr txBox="1">
              <a:spLocks noChangeArrowheads="1"/>
            </p:cNvSpPr>
            <p:nvPr/>
          </p:nvSpPr>
          <p:spPr bwMode="auto">
            <a:xfrm>
              <a:off x="4879" y="1705"/>
              <a:ext cx="2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i="1"/>
                <a:t>m</a:t>
              </a:r>
            </a:p>
          </p:txBody>
        </p:sp>
        <p:sp>
          <p:nvSpPr>
            <p:cNvPr id="5140" name="Text Box 19"/>
            <p:cNvSpPr txBox="1">
              <a:spLocks noChangeArrowheads="1"/>
            </p:cNvSpPr>
            <p:nvPr/>
          </p:nvSpPr>
          <p:spPr bwMode="auto">
            <a:xfrm>
              <a:off x="4157" y="141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/>
                <a:t>L</a:t>
              </a:r>
            </a:p>
          </p:txBody>
        </p:sp>
        <p:sp>
          <p:nvSpPr>
            <p:cNvPr id="5141" name="Arc 20"/>
            <p:cNvSpPr>
              <a:spLocks/>
            </p:cNvSpPr>
            <p:nvPr/>
          </p:nvSpPr>
          <p:spPr bwMode="auto">
            <a:xfrm>
              <a:off x="4280" y="847"/>
              <a:ext cx="209" cy="493"/>
            </a:xfrm>
            <a:custGeom>
              <a:avLst/>
              <a:gdLst>
                <a:gd name="T0" fmla="*/ 0 w 5931"/>
                <a:gd name="T1" fmla="*/ 0 h 21538"/>
                <a:gd name="T2" fmla="*/ 0 w 5931"/>
                <a:gd name="T3" fmla="*/ 0 h 21538"/>
                <a:gd name="T4" fmla="*/ 0 w 5931"/>
                <a:gd name="T5" fmla="*/ 0 h 21538"/>
                <a:gd name="T6" fmla="*/ 0 60000 65536"/>
                <a:gd name="T7" fmla="*/ 0 60000 65536"/>
                <a:gd name="T8" fmla="*/ 0 60000 65536"/>
                <a:gd name="T9" fmla="*/ 0 w 5931"/>
                <a:gd name="T10" fmla="*/ 0 h 21538"/>
                <a:gd name="T11" fmla="*/ 5931 w 5931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931" h="21538" fill="none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</a:path>
                <a:path w="5931" h="21538" stroke="0" extrusionOk="0">
                  <a:moveTo>
                    <a:pt x="5930" y="20769"/>
                  </a:moveTo>
                  <a:cubicBezTo>
                    <a:pt x="4527" y="21170"/>
                    <a:pt x="3087" y="21427"/>
                    <a:pt x="1632" y="21538"/>
                  </a:cubicBezTo>
                  <a:lnTo>
                    <a:pt x="0" y="0"/>
                  </a:lnTo>
                  <a:lnTo>
                    <a:pt x="5930" y="20769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2" name="Text Box 21"/>
            <p:cNvSpPr txBox="1">
              <a:spLocks noChangeArrowheads="1"/>
            </p:cNvSpPr>
            <p:nvPr/>
          </p:nvSpPr>
          <p:spPr bwMode="auto">
            <a:xfrm>
              <a:off x="4331" y="1301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3" name="Line 22"/>
            <p:cNvSpPr>
              <a:spLocks noChangeShapeType="1"/>
            </p:cNvSpPr>
            <p:nvPr/>
          </p:nvSpPr>
          <p:spPr bwMode="auto">
            <a:xfrm flipH="1">
              <a:off x="4813" y="1925"/>
              <a:ext cx="0" cy="45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4" name="Text Box 23"/>
            <p:cNvSpPr txBox="1">
              <a:spLocks noChangeArrowheads="1"/>
            </p:cNvSpPr>
            <p:nvPr/>
          </p:nvSpPr>
          <p:spPr bwMode="auto">
            <a:xfrm>
              <a:off x="4627" y="2368"/>
              <a:ext cx="25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W</a:t>
              </a:r>
            </a:p>
          </p:txBody>
        </p:sp>
        <p:sp>
          <p:nvSpPr>
            <p:cNvPr id="5145" name="Text Box 24"/>
            <p:cNvSpPr txBox="1">
              <a:spLocks noChangeArrowheads="1"/>
            </p:cNvSpPr>
            <p:nvPr/>
          </p:nvSpPr>
          <p:spPr bwMode="auto">
            <a:xfrm>
              <a:off x="4793" y="2009"/>
              <a:ext cx="1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>
                  <a:sym typeface="Symbol" pitchFamily="18" charset="2"/>
                </a:rPr>
                <a:t></a:t>
              </a:r>
            </a:p>
          </p:txBody>
        </p:sp>
        <p:sp>
          <p:nvSpPr>
            <p:cNvPr id="5146" name="Arc 25"/>
            <p:cNvSpPr>
              <a:spLocks/>
            </p:cNvSpPr>
            <p:nvPr/>
          </p:nvSpPr>
          <p:spPr bwMode="auto">
            <a:xfrm>
              <a:off x="4699" y="1171"/>
              <a:ext cx="209" cy="877"/>
            </a:xfrm>
            <a:custGeom>
              <a:avLst/>
              <a:gdLst>
                <a:gd name="T0" fmla="*/ 0 w 4363"/>
                <a:gd name="T1" fmla="*/ 0 h 21538"/>
                <a:gd name="T2" fmla="*/ 0 w 4363"/>
                <a:gd name="T3" fmla="*/ 0 h 21538"/>
                <a:gd name="T4" fmla="*/ 0 w 4363"/>
                <a:gd name="T5" fmla="*/ 0 h 21538"/>
                <a:gd name="T6" fmla="*/ 0 60000 65536"/>
                <a:gd name="T7" fmla="*/ 0 60000 65536"/>
                <a:gd name="T8" fmla="*/ 0 60000 65536"/>
                <a:gd name="T9" fmla="*/ 0 w 4363"/>
                <a:gd name="T10" fmla="*/ 0 h 21538"/>
                <a:gd name="T11" fmla="*/ 4363 w 4363"/>
                <a:gd name="T12" fmla="*/ 21538 h 21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63" h="21538" fill="none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</a:path>
                <a:path w="4363" h="21538" stroke="0" extrusionOk="0">
                  <a:moveTo>
                    <a:pt x="4362" y="21154"/>
                  </a:moveTo>
                  <a:cubicBezTo>
                    <a:pt x="3461" y="21340"/>
                    <a:pt x="2549" y="21468"/>
                    <a:pt x="1632" y="21538"/>
                  </a:cubicBezTo>
                  <a:lnTo>
                    <a:pt x="0" y="0"/>
                  </a:lnTo>
                  <a:lnTo>
                    <a:pt x="4362" y="2115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7" name="Line 26"/>
            <p:cNvSpPr>
              <a:spLocks noChangeShapeType="1"/>
            </p:cNvSpPr>
            <p:nvPr/>
          </p:nvSpPr>
          <p:spPr bwMode="auto">
            <a:xfrm>
              <a:off x="4872" y="1902"/>
              <a:ext cx="201" cy="385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8" name="Line 27"/>
            <p:cNvSpPr>
              <a:spLocks noChangeShapeType="1"/>
            </p:cNvSpPr>
            <p:nvPr/>
          </p:nvSpPr>
          <p:spPr bwMode="auto">
            <a:xfrm flipH="1">
              <a:off x="4511" y="1898"/>
              <a:ext cx="219" cy="92"/>
            </a:xfrm>
            <a:prstGeom prst="line">
              <a:avLst/>
            </a:prstGeom>
            <a:noFill/>
            <a:ln w="38100">
              <a:solidFill>
                <a:srgbClr val="7DC4C9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C496-BA7D-4474-B3C8-90F359AEE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Online Media 7">
            <a:hlinkClick r:id="" action="ppaction://media"/>
            <a:extLst>
              <a:ext uri="{FF2B5EF4-FFF2-40B4-BE49-F238E27FC236}">
                <a16:creationId xmlns:a16="http://schemas.microsoft.com/office/drawing/2014/main" id="{7E04806C-1FFA-4506-9309-3099A2CCE560}"/>
              </a:ext>
            </a:extLst>
          </p:cNvPr>
          <p:cNvPicPr>
            <a:picLocks noGrp="1" noRot="1" noChangeAspect="1"/>
          </p:cNvPicPr>
          <p:nvPr>
            <p:ph sz="half"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872761" y="1295035"/>
            <a:ext cx="8545470" cy="480682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A9B85-1787-4258-A371-EF74A701DD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BD7A75-1999-4370-9664-7D4C486A1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D76D9-6D54-465A-8BD8-2122B368A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56BEC7-2019-4CE5-B8C9-183AF40F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C59EA5-88DA-4B47-9D78-4A06592744B1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51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7DA2EF1-2309-4E8D-B379-D8CA94440DE0}" type="slidenum">
              <a:rPr lang="en-US" smtClean="0"/>
              <a:pPr eaLnBrk="1" hangingPunct="1"/>
              <a:t>19</a:t>
            </a:fld>
            <a:endParaRPr lang="en-US"/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>
          <a:xfrm>
            <a:off x="315685" y="186808"/>
            <a:ext cx="10515600" cy="1325563"/>
          </a:xfrm>
        </p:spPr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1800" dirty="0"/>
              <a:t>Suppose we build a pendulum by making a large solid object swing from one point.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Restoring force </a:t>
            </a:r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Remember that</a:t>
            </a:r>
          </a:p>
          <a:p>
            <a:pPr eaLnBrk="1" hangingPunct="1"/>
            <a:endParaRPr lang="en-US" sz="1800" dirty="0"/>
          </a:p>
        </p:txBody>
      </p:sp>
      <p:sp>
        <p:nvSpPr>
          <p:cNvPr id="6149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3617913"/>
            <a:ext cx="4038600" cy="2508250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000" dirty="0"/>
              <a:t>Then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Or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Another familiar differential EQ</a:t>
            </a:r>
          </a:p>
        </p:txBody>
      </p:sp>
      <p:grpSp>
        <p:nvGrpSpPr>
          <p:cNvPr id="6150" name="Group 5"/>
          <p:cNvGrpSpPr>
            <a:grpSpLocks/>
          </p:cNvGrpSpPr>
          <p:nvPr/>
        </p:nvGrpSpPr>
        <p:grpSpPr bwMode="auto">
          <a:xfrm>
            <a:off x="4651375" y="2357439"/>
            <a:ext cx="763588" cy="725487"/>
            <a:chOff x="1271" y="2002"/>
            <a:chExt cx="1034" cy="1152"/>
          </a:xfrm>
        </p:grpSpPr>
        <p:sp>
          <p:nvSpPr>
            <p:cNvPr id="6178" name="AutoShape 6"/>
            <p:cNvSpPr>
              <a:spLocks noChangeArrowheads="1"/>
            </p:cNvSpPr>
            <p:nvPr/>
          </p:nvSpPr>
          <p:spPr bwMode="auto">
            <a:xfrm rot="-1215304">
              <a:off x="1271" y="2002"/>
              <a:ext cx="539" cy="1152"/>
            </a:xfrm>
            <a:prstGeom prst="flowChartManualInpu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179" name="Oval 7"/>
            <p:cNvSpPr>
              <a:spLocks noChangeArrowheads="1"/>
            </p:cNvSpPr>
            <p:nvPr/>
          </p:nvSpPr>
          <p:spPr bwMode="auto">
            <a:xfrm>
              <a:off x="1536" y="2688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0" name="Oval 8"/>
            <p:cNvSpPr>
              <a:spLocks noChangeArrowheads="1"/>
            </p:cNvSpPr>
            <p:nvPr/>
          </p:nvSpPr>
          <p:spPr bwMode="auto">
            <a:xfrm>
              <a:off x="1531" y="2152"/>
              <a:ext cx="56" cy="5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81" name="Text Box 9"/>
            <p:cNvSpPr txBox="1">
              <a:spLocks noChangeArrowheads="1"/>
            </p:cNvSpPr>
            <p:nvPr/>
          </p:nvSpPr>
          <p:spPr bwMode="auto">
            <a:xfrm>
              <a:off x="1472" y="2688"/>
              <a:ext cx="518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 dirty="0"/>
                <a:t>CM</a:t>
              </a:r>
            </a:p>
          </p:txBody>
        </p:sp>
        <p:sp>
          <p:nvSpPr>
            <p:cNvPr id="6182" name="Text Box 10"/>
            <p:cNvSpPr txBox="1">
              <a:spLocks noChangeArrowheads="1"/>
            </p:cNvSpPr>
            <p:nvPr/>
          </p:nvSpPr>
          <p:spPr bwMode="auto">
            <a:xfrm>
              <a:off x="1675" y="2136"/>
              <a:ext cx="630" cy="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000"/>
                <a:t>Pivot</a:t>
              </a:r>
            </a:p>
          </p:txBody>
        </p:sp>
      </p:grpSp>
      <p:grpSp>
        <p:nvGrpSpPr>
          <p:cNvPr id="6151" name="Group 11"/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6162" name="Group 12"/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6175" name="AutoShape 13"/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6" name="Oval 14"/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77" name="Oval 15"/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6163" name="Text Box 16"/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6164" name="Text Box 17"/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165" name="Line 18"/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6" name="Line 19"/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7" name="Text Box 20"/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6168" name="Line 21"/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Text Box 22"/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6170" name="Text Box 23"/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6171" name="Line 24"/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2" name="Text Box 25"/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6173" name="Text Box 26"/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6174" name="Arc 27"/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6152" name="Rectangle 2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3" name="Object 29"/>
          <p:cNvGraphicFramePr>
            <a:graphicFrameLocks noChangeAspect="1"/>
          </p:cNvGraphicFramePr>
          <p:nvPr/>
        </p:nvGraphicFramePr>
        <p:xfrm>
          <a:off x="3540125" y="3517901"/>
          <a:ext cx="1341438" cy="1330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087" imgH="939392" progId="Equation.3">
                  <p:embed/>
                </p:oleObj>
              </mc:Choice>
              <mc:Fallback>
                <p:oleObj name="Equation" r:id="rId2" imgW="952087" imgH="939392" progId="Equation.3">
                  <p:embed/>
                  <p:pic>
                    <p:nvPicPr>
                      <p:cNvPr id="615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40125" y="3517901"/>
                        <a:ext cx="1341438" cy="1330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4" name="Rectangle 30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5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247215"/>
              </p:ext>
            </p:extLst>
          </p:nvPr>
        </p:nvGraphicFramePr>
        <p:xfrm>
          <a:off x="2764648" y="5786438"/>
          <a:ext cx="1146175" cy="525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419100" progId="Equation.3">
                  <p:embed/>
                </p:oleObj>
              </mc:Choice>
              <mc:Fallback>
                <p:oleObj name="Equation" r:id="rId4" imgW="914400" imgH="419100" progId="Equation.3">
                  <p:embed/>
                  <p:pic>
                    <p:nvPicPr>
                      <p:cNvPr id="615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4648" y="5786438"/>
                        <a:ext cx="1146175" cy="5254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6" name="Rectangle 32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7" name="Object 33"/>
          <p:cNvGraphicFramePr>
            <a:graphicFrameLocks noChangeAspect="1"/>
          </p:cNvGraphicFramePr>
          <p:nvPr/>
        </p:nvGraphicFramePr>
        <p:xfrm>
          <a:off x="7446964" y="3644901"/>
          <a:ext cx="1055687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58558" imgH="177723" progId="Equation.3">
                  <p:embed/>
                </p:oleObj>
              </mc:Choice>
              <mc:Fallback>
                <p:oleObj name="Equation" r:id="rId6" imgW="558558" imgH="177723" progId="Equation.3">
                  <p:embed/>
                  <p:pic>
                    <p:nvPicPr>
                      <p:cNvPr id="6157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46964" y="3644901"/>
                        <a:ext cx="1055687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Rectangle 34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59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8463514"/>
              </p:ext>
            </p:extLst>
          </p:nvPr>
        </p:nvGraphicFramePr>
        <p:xfrm>
          <a:off x="7518739" y="4241800"/>
          <a:ext cx="131921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44600" imgH="419100" progId="Equation.3">
                  <p:embed/>
                </p:oleObj>
              </mc:Choice>
              <mc:Fallback>
                <p:oleObj name="Equation" r:id="rId8" imgW="1244600" imgH="419100" progId="Equation.3">
                  <p:embed/>
                  <p:pic>
                    <p:nvPicPr>
                      <p:cNvPr id="6159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8739" y="4241800"/>
                        <a:ext cx="131921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0" name="Rectangle 36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61" name="Object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0463919"/>
              </p:ext>
            </p:extLst>
          </p:nvPr>
        </p:nvGraphicFramePr>
        <p:xfrm>
          <a:off x="7471261" y="5005388"/>
          <a:ext cx="1358900" cy="581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900" imgH="419100" progId="Equation.3">
                  <p:embed/>
                </p:oleObj>
              </mc:Choice>
              <mc:Fallback>
                <p:oleObj name="Equation" r:id="rId10" imgW="977900" imgH="419100" progId="Equation.3">
                  <p:embed/>
                  <p:pic>
                    <p:nvPicPr>
                      <p:cNvPr id="6161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1261" y="5005388"/>
                        <a:ext cx="1358900" cy="581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C3E5EFB4-3D10-903A-694B-AE58766C13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05500" y="3288030"/>
            <a:ext cx="381000" cy="2819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185EDA33-C90A-4603-AD72-F87D4A4F12E4}" type="slidenum">
              <a:rPr lang="en-US" smtClean="0"/>
              <a:pPr eaLnBrk="1" hangingPunct="1"/>
              <a:t>20</a:t>
            </a:fld>
            <a:endParaRPr lang="en-US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Physical Pendulum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7173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7174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71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6" name="Object 23"/>
          <p:cNvGraphicFramePr>
            <a:graphicFrameLocks noChangeAspect="1"/>
          </p:cNvGraphicFramePr>
          <p:nvPr/>
        </p:nvGraphicFramePr>
        <p:xfrm>
          <a:off x="2713038" y="2405064"/>
          <a:ext cx="1606550" cy="687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77900" imgH="419100" progId="Equation.3">
                  <p:embed/>
                </p:oleObj>
              </mc:Choice>
              <mc:Fallback>
                <p:oleObj name="Equation" r:id="rId4" imgW="977900" imgH="419100" progId="Equation.3">
                  <p:embed/>
                  <p:pic>
                    <p:nvPicPr>
                      <p:cNvPr id="717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3038" y="2405064"/>
                        <a:ext cx="1606550" cy="687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7" name="Rectangle 24"/>
          <p:cNvSpPr>
            <a:spLocks noChangeArrowheads="1"/>
          </p:cNvSpPr>
          <p:nvPr/>
        </p:nvSpPr>
        <p:spPr bwMode="auto">
          <a:xfrm>
            <a:off x="1524001" y="29633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78" name="Object 25"/>
          <p:cNvGraphicFramePr>
            <a:graphicFrameLocks noChangeAspect="1"/>
          </p:cNvGraphicFramePr>
          <p:nvPr/>
        </p:nvGraphicFramePr>
        <p:xfrm>
          <a:off x="2921001" y="3538539"/>
          <a:ext cx="116681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08" imgH="393529" progId="Equation.3">
                  <p:embed/>
                </p:oleObj>
              </mc:Choice>
              <mc:Fallback>
                <p:oleObj name="Equation" r:id="rId6" imgW="672808" imgH="393529" progId="Equation.3">
                  <p:embed/>
                  <p:pic>
                    <p:nvPicPr>
                      <p:cNvPr id="7178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1001" y="3538539"/>
                        <a:ext cx="116681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9" name="Rectangle 26"/>
          <p:cNvSpPr>
            <a:spLocks noChangeArrowheads="1"/>
          </p:cNvSpPr>
          <p:nvPr/>
        </p:nvSpPr>
        <p:spPr bwMode="auto">
          <a:xfrm>
            <a:off x="1524001" y="301097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7180" name="Object 27"/>
          <p:cNvGraphicFramePr>
            <a:graphicFrameLocks noChangeAspect="1"/>
          </p:cNvGraphicFramePr>
          <p:nvPr/>
        </p:nvGraphicFramePr>
        <p:xfrm>
          <a:off x="2771776" y="4589463"/>
          <a:ext cx="1609725" cy="830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01309" imgH="469696" progId="Equation.3">
                  <p:embed/>
                </p:oleObj>
              </mc:Choice>
              <mc:Fallback>
                <p:oleObj name="Equation" r:id="rId8" imgW="901309" imgH="469696" progId="Equation.3">
                  <p:embed/>
                  <p:pic>
                    <p:nvPicPr>
                      <p:cNvPr id="718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6" y="4589463"/>
                        <a:ext cx="1609725" cy="830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1">
            <a:extLst>
              <a:ext uri="{FF2B5EF4-FFF2-40B4-BE49-F238E27FC236}">
                <a16:creationId xmlns:a16="http://schemas.microsoft.com/office/drawing/2014/main" id="{19BA63B2-BFB7-08C3-1958-AC041E95B87E}"/>
              </a:ext>
            </a:extLst>
          </p:cNvPr>
          <p:cNvGrpSpPr>
            <a:grpSpLocks/>
          </p:cNvGrpSpPr>
          <p:nvPr/>
        </p:nvGrpSpPr>
        <p:grpSpPr bwMode="auto">
          <a:xfrm>
            <a:off x="7959726" y="1330326"/>
            <a:ext cx="1919288" cy="2243138"/>
            <a:chOff x="2061" y="1963"/>
            <a:chExt cx="1209" cy="1413"/>
          </a:xfrm>
        </p:grpSpPr>
        <p:grpSp>
          <p:nvGrpSpPr>
            <p:cNvPr id="3" name="Group 12">
              <a:extLst>
                <a:ext uri="{FF2B5EF4-FFF2-40B4-BE49-F238E27FC236}">
                  <a16:creationId xmlns:a16="http://schemas.microsoft.com/office/drawing/2014/main" id="{21478D3F-6C35-6A11-21A1-EB5E485326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1" y="2160"/>
              <a:ext cx="1152" cy="659"/>
              <a:chOff x="1066" y="2340"/>
              <a:chExt cx="1152" cy="659"/>
            </a:xfrm>
          </p:grpSpPr>
          <p:sp>
            <p:nvSpPr>
              <p:cNvPr id="16" name="AutoShape 13">
                <a:extLst>
                  <a:ext uri="{FF2B5EF4-FFF2-40B4-BE49-F238E27FC236}">
                    <a16:creationId xmlns:a16="http://schemas.microsoft.com/office/drawing/2014/main" id="{BD4FCF89-3DD8-CC4C-9385-FCAB1838CB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2923845">
                <a:off x="1372" y="2154"/>
                <a:ext cx="539" cy="1152"/>
              </a:xfrm>
              <a:prstGeom prst="flowChartManualInpu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" name="Oval 14">
                <a:extLst>
                  <a:ext uri="{FF2B5EF4-FFF2-40B4-BE49-F238E27FC236}">
                    <a16:creationId xmlns:a16="http://schemas.microsoft.com/office/drawing/2014/main" id="{B7106592-F53A-8AA9-CFEE-A81C349F88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708" y="2808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" name="Oval 15">
                <a:extLst>
                  <a:ext uri="{FF2B5EF4-FFF2-40B4-BE49-F238E27FC236}">
                    <a16:creationId xmlns:a16="http://schemas.microsoft.com/office/drawing/2014/main" id="{0FF4B31A-2767-CCF5-9E06-6065EA315A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708541">
                <a:off x="1448" y="2340"/>
                <a:ext cx="56" cy="56"/>
              </a:xfrm>
              <a:prstGeom prst="ellipse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" name="Text Box 16">
              <a:extLst>
                <a:ext uri="{FF2B5EF4-FFF2-40B4-BE49-F238E27FC236}">
                  <a16:creationId xmlns:a16="http://schemas.microsoft.com/office/drawing/2014/main" id="{F82396EC-7627-C7F7-B8C0-5D6205CB5F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2" y="2546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/>
                <a:t>CM</a:t>
              </a:r>
            </a:p>
          </p:txBody>
        </p:sp>
        <p:sp>
          <p:nvSpPr>
            <p:cNvPr id="5" name="Text Box 17">
              <a:extLst>
                <a:ext uri="{FF2B5EF4-FFF2-40B4-BE49-F238E27FC236}">
                  <a16:creationId xmlns:a16="http://schemas.microsoft.com/office/drawing/2014/main" id="{27D2D34B-BD2E-B912-B5B6-1C57C6117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8" y="2028"/>
              <a:ext cx="36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1400" dirty="0"/>
                <a:t>Pivot</a:t>
              </a:r>
            </a:p>
          </p:txBody>
        </p:sp>
        <p:sp>
          <p:nvSpPr>
            <p:cNvPr id="6" name="Line 18">
              <a:extLst>
                <a:ext uri="{FF2B5EF4-FFF2-40B4-BE49-F238E27FC236}">
                  <a16:creationId xmlns:a16="http://schemas.microsoft.com/office/drawing/2014/main" id="{110FC0EE-4162-7D11-FB89-C5EF9BDB7B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9" y="2652"/>
              <a:ext cx="2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Line 19">
              <a:extLst>
                <a:ext uri="{FF2B5EF4-FFF2-40B4-BE49-F238E27FC236}">
                  <a16:creationId xmlns:a16="http://schemas.microsoft.com/office/drawing/2014/main" id="{20C5E187-6C0B-8753-A6E8-641039E197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69" y="2182"/>
              <a:ext cx="0" cy="4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Box 20">
              <a:extLst>
                <a:ext uri="{FF2B5EF4-FFF2-40B4-BE49-F238E27FC236}">
                  <a16:creationId xmlns:a16="http://schemas.microsoft.com/office/drawing/2014/main" id="{2EC6676D-4246-C14A-7E3C-2056F8764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29" y="2260"/>
              <a:ext cx="15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>
                  <a:sym typeface="Symbol" pitchFamily="18" charset="2"/>
                </a:rPr>
                <a:t></a:t>
              </a:r>
              <a:endParaRPr lang="en-US" sz="900"/>
            </a:p>
          </p:txBody>
        </p:sp>
        <p:sp>
          <p:nvSpPr>
            <p:cNvPr id="9" name="Line 21">
              <a:extLst>
                <a:ext uri="{FF2B5EF4-FFF2-40B4-BE49-F238E27FC236}">
                  <a16:creationId xmlns:a16="http://schemas.microsoft.com/office/drawing/2014/main" id="{3BF7B03E-7028-7E6D-BBB1-7DD626937F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68" y="2188"/>
              <a:ext cx="264" cy="4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Box 22">
              <a:extLst>
                <a:ext uri="{FF2B5EF4-FFF2-40B4-BE49-F238E27FC236}">
                  <a16:creationId xmlns:a16="http://schemas.microsoft.com/office/drawing/2014/main" id="{2D881EC3-DE5B-AFA2-0E5C-DBFD76936D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6" y="2341"/>
              <a:ext cx="156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</a:t>
              </a:r>
            </a:p>
          </p:txBody>
        </p:sp>
        <p:sp>
          <p:nvSpPr>
            <p:cNvPr id="11" name="Text Box 23">
              <a:extLst>
                <a:ext uri="{FF2B5EF4-FFF2-40B4-BE49-F238E27FC236}">
                  <a16:creationId xmlns:a16="http://schemas.microsoft.com/office/drawing/2014/main" id="{3EE7E2A4-37E8-A55A-5550-EDEAAB4D1C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4" y="2633"/>
              <a:ext cx="334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900" i="1"/>
                <a:t>dsin(</a:t>
              </a:r>
              <a:r>
                <a:rPr lang="en-US" sz="900" i="1">
                  <a:sym typeface="Symbol" pitchFamily="18" charset="2"/>
                </a:rPr>
                <a:t></a:t>
              </a:r>
              <a:r>
                <a:rPr lang="en-US" sz="900" i="1"/>
                <a:t>)</a:t>
              </a:r>
            </a:p>
          </p:txBody>
        </p:sp>
        <p:sp>
          <p:nvSpPr>
            <p:cNvPr id="12" name="Line 24">
              <a:extLst>
                <a:ext uri="{FF2B5EF4-FFF2-40B4-BE49-F238E27FC236}">
                  <a16:creationId xmlns:a16="http://schemas.microsoft.com/office/drawing/2014/main" id="{908E0826-8B7F-EC6A-9B3B-192C176A9F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2660"/>
              <a:ext cx="8" cy="64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Box 25">
              <a:extLst>
                <a:ext uri="{FF2B5EF4-FFF2-40B4-BE49-F238E27FC236}">
                  <a16:creationId xmlns:a16="http://schemas.microsoft.com/office/drawing/2014/main" id="{EBDFF7D3-9AA1-78F3-6D6A-85A040BF38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8" y="1963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dirty="0"/>
                <a:t>o</a:t>
              </a:r>
            </a:p>
          </p:txBody>
        </p:sp>
        <p:sp>
          <p:nvSpPr>
            <p:cNvPr id="14" name="Text Box 26">
              <a:extLst>
                <a:ext uri="{FF2B5EF4-FFF2-40B4-BE49-F238E27FC236}">
                  <a16:creationId xmlns:a16="http://schemas.microsoft.com/office/drawing/2014/main" id="{3DF22CED-FF3C-6196-ED58-D58739850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0" y="3143"/>
              <a:ext cx="5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 dirty="0">
                  <a:solidFill>
                    <a:srgbClr val="FF0000"/>
                  </a:solidFill>
                </a:rPr>
                <a:t>W=mg</a:t>
              </a:r>
            </a:p>
          </p:txBody>
        </p:sp>
        <p:sp>
          <p:nvSpPr>
            <p:cNvPr id="15" name="Arc 27">
              <a:extLst>
                <a:ext uri="{FF2B5EF4-FFF2-40B4-BE49-F238E27FC236}">
                  <a16:creationId xmlns:a16="http://schemas.microsoft.com/office/drawing/2014/main" id="{CE93DF16-F7D0-8C1C-4799-652DA49B42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" y="2202"/>
              <a:ext cx="666" cy="534"/>
            </a:xfrm>
            <a:custGeom>
              <a:avLst/>
              <a:gdLst>
                <a:gd name="T0" fmla="*/ 0 w 27446"/>
                <a:gd name="T1" fmla="*/ 0 h 21600"/>
                <a:gd name="T2" fmla="*/ 0 w 27446"/>
                <a:gd name="T3" fmla="*/ 0 h 21600"/>
                <a:gd name="T4" fmla="*/ 0 w 27446"/>
                <a:gd name="T5" fmla="*/ 0 h 21600"/>
                <a:gd name="T6" fmla="*/ 0 60000 65536"/>
                <a:gd name="T7" fmla="*/ 0 60000 65536"/>
                <a:gd name="T8" fmla="*/ 0 60000 65536"/>
                <a:gd name="T9" fmla="*/ 0 w 27446"/>
                <a:gd name="T10" fmla="*/ 0 h 21600"/>
                <a:gd name="T11" fmla="*/ 27446 w 27446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446" h="21600" fill="none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</a:path>
                <a:path w="27446" h="21600" stroke="0" extrusionOk="0">
                  <a:moveTo>
                    <a:pt x="27445" y="17602"/>
                  </a:moveTo>
                  <a:cubicBezTo>
                    <a:pt x="23789" y="20202"/>
                    <a:pt x="19414" y="21599"/>
                    <a:pt x="14928" y="21600"/>
                  </a:cubicBezTo>
                  <a:cubicBezTo>
                    <a:pt x="9366" y="21600"/>
                    <a:pt x="4019" y="19454"/>
                    <a:pt x="-1" y="15611"/>
                  </a:cubicBezTo>
                  <a:lnTo>
                    <a:pt x="14928" y="0"/>
                  </a:lnTo>
                  <a:lnTo>
                    <a:pt x="27445" y="17602"/>
                  </a:lnTo>
                  <a:close/>
                </a:path>
              </a:pathLst>
            </a:cu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83758A8-B5D4-4BF3-AD4B-0D652ECF3B85}" type="slidenum">
              <a:rPr lang="en-US" smtClean="0"/>
              <a:pPr eaLnBrk="1" hangingPunct="1"/>
              <a:t>21</a:t>
            </a:fld>
            <a:endParaRPr lang="en-US"/>
          </a:p>
        </p:txBody>
      </p:sp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1800" dirty="0"/>
              <a:t>A torsional pendulum is made by suspending a rigid body from a wire. The body rotates. </a:t>
            </a:r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twisted wire exerts a restoring torque on the body that is proportional to the angular position (sound familiar) 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r>
              <a:rPr lang="en-US" sz="1800" dirty="0"/>
              <a:t>Rotational version of Newton’s 2</a:t>
            </a:r>
            <a:r>
              <a:rPr lang="en-US" sz="1800" baseline="30000" dirty="0"/>
              <a:t>nd</a:t>
            </a:r>
            <a:r>
              <a:rPr lang="en-US" sz="1800" dirty="0"/>
              <a:t> Law</a:t>
            </a:r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</p:txBody>
      </p:sp>
      <p:sp>
        <p:nvSpPr>
          <p:cNvPr id="8197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081463"/>
            <a:ext cx="4038600" cy="2044700"/>
          </a:xfrm>
        </p:spPr>
        <p:txBody>
          <a:bodyPr/>
          <a:lstStyle/>
          <a:p>
            <a:pPr eaLnBrk="1" hangingPunct="1"/>
            <a:r>
              <a:rPr lang="en-US" sz="1800"/>
              <a:t>Then</a:t>
            </a:r>
          </a:p>
        </p:txBody>
      </p:sp>
      <p:grpSp>
        <p:nvGrpSpPr>
          <p:cNvPr id="8198" name="Group 5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8206" name="Oval 6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7" name="Oval 7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8" name="Line 8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9" name="Line 9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0" name="Text Box 10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8211" name="Oval 11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12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3" name="Line 13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Rectangle 14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8199" name="Rectangle 15"/>
          <p:cNvSpPr>
            <a:spLocks noChangeArrowheads="1"/>
          </p:cNvSpPr>
          <p:nvPr/>
        </p:nvSpPr>
        <p:spPr bwMode="auto">
          <a:xfrm>
            <a:off x="1524001" y="31538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0" name="Object 16"/>
          <p:cNvGraphicFramePr>
            <a:graphicFrameLocks noChangeAspect="1"/>
          </p:cNvGraphicFramePr>
          <p:nvPr/>
        </p:nvGraphicFramePr>
        <p:xfrm>
          <a:off x="3789364" y="3513139"/>
          <a:ext cx="1114425" cy="377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2937" imgH="177646" progId="Equation.3">
                  <p:embed/>
                </p:oleObj>
              </mc:Choice>
              <mc:Fallback>
                <p:oleObj name="Equation" r:id="rId2" imgW="532937" imgH="177646" progId="Equation.3">
                  <p:embed/>
                  <p:pic>
                    <p:nvPicPr>
                      <p:cNvPr id="820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9364" y="3513139"/>
                        <a:ext cx="1114425" cy="377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1" name="Rectangle 17"/>
          <p:cNvSpPr>
            <a:spLocks noChangeArrowheads="1"/>
          </p:cNvSpPr>
          <p:nvPr/>
        </p:nvSpPr>
        <p:spPr bwMode="auto">
          <a:xfrm>
            <a:off x="1524001" y="29252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2" name="Object 18"/>
          <p:cNvGraphicFramePr>
            <a:graphicFrameLocks noChangeAspect="1"/>
          </p:cNvGraphicFramePr>
          <p:nvPr/>
        </p:nvGraphicFramePr>
        <p:xfrm>
          <a:off x="3773488" y="4460876"/>
          <a:ext cx="1390650" cy="1179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748975" imgH="634725" progId="Equation.3">
                  <p:embed/>
                </p:oleObj>
              </mc:Choice>
              <mc:Fallback>
                <p:oleObj r:id="rId4" imgW="748975" imgH="634725" progId="Equation.3">
                  <p:embed/>
                  <p:pic>
                    <p:nvPicPr>
                      <p:cNvPr id="820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3488" y="4460876"/>
                        <a:ext cx="1390650" cy="1179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3" name="Rectangle 19"/>
          <p:cNvSpPr>
            <a:spLocks noChangeArrowheads="1"/>
          </p:cNvSpPr>
          <p:nvPr/>
        </p:nvSpPr>
        <p:spPr bwMode="auto">
          <a:xfrm>
            <a:off x="1957389" y="6010276"/>
            <a:ext cx="8334375" cy="287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/>
              <a:t>Physics majors and those taking PH 220 in the future, you will see a torsional pendulum again!</a:t>
            </a:r>
          </a:p>
        </p:txBody>
      </p:sp>
      <p:sp>
        <p:nvSpPr>
          <p:cNvPr id="8204" name="Rectangle 20"/>
          <p:cNvSpPr>
            <a:spLocks noChangeArrowheads="1"/>
          </p:cNvSpPr>
          <p:nvPr/>
        </p:nvSpPr>
        <p:spPr bwMode="auto">
          <a:xfrm>
            <a:off x="1524001" y="282523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205" name="Object 21"/>
          <p:cNvGraphicFramePr>
            <a:graphicFrameLocks noChangeAspect="1"/>
          </p:cNvGraphicFramePr>
          <p:nvPr/>
        </p:nvGraphicFramePr>
        <p:xfrm>
          <a:off x="7589839" y="4360863"/>
          <a:ext cx="904875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309" imgH="837836" progId="Equation.3">
                  <p:embed/>
                </p:oleObj>
              </mc:Choice>
              <mc:Fallback>
                <p:oleObj name="Equation" r:id="rId6" imgW="901309" imgH="837836" progId="Equation.3">
                  <p:embed/>
                  <p:pic>
                    <p:nvPicPr>
                      <p:cNvPr id="820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89839" y="4360863"/>
                        <a:ext cx="904875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D4A22C19-670B-4458-9FF6-4948E551C946}" type="slidenum">
              <a:rPr lang="en-US" smtClean="0"/>
              <a:pPr eaLnBrk="1" hangingPunct="1"/>
              <a:t>22</a:t>
            </a:fld>
            <a:endParaRPr lang="en-US"/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Motion of a Torsional Pendulum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4343401"/>
            <a:ext cx="8229600" cy="17827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9221" name="Group 4"/>
          <p:cNvGrpSpPr>
            <a:grpSpLocks/>
          </p:cNvGrpSpPr>
          <p:nvPr/>
        </p:nvGrpSpPr>
        <p:grpSpPr bwMode="auto">
          <a:xfrm>
            <a:off x="2357439" y="1296989"/>
            <a:ext cx="7519987" cy="2973387"/>
            <a:chOff x="187" y="808"/>
            <a:chExt cx="4737" cy="1873"/>
          </a:xfrm>
        </p:grpSpPr>
        <p:sp>
          <p:nvSpPr>
            <p:cNvPr id="9222" name="Oval 5"/>
            <p:cNvSpPr>
              <a:spLocks noChangeArrowheads="1"/>
            </p:cNvSpPr>
            <p:nvPr/>
          </p:nvSpPr>
          <p:spPr bwMode="auto">
            <a:xfrm>
              <a:off x="239" y="196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3" name="Oval 6"/>
            <p:cNvSpPr>
              <a:spLocks noChangeArrowheads="1"/>
            </p:cNvSpPr>
            <p:nvPr/>
          </p:nvSpPr>
          <p:spPr bwMode="auto">
            <a:xfrm>
              <a:off x="239" y="194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4" name="Line 7"/>
            <p:cNvSpPr>
              <a:spLocks noChangeShapeType="1"/>
            </p:cNvSpPr>
            <p:nvPr/>
          </p:nvSpPr>
          <p:spPr bwMode="auto">
            <a:xfrm flipV="1">
              <a:off x="743" y="84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5" name="Line 8"/>
            <p:cNvSpPr>
              <a:spLocks noChangeShapeType="1"/>
            </p:cNvSpPr>
            <p:nvPr/>
          </p:nvSpPr>
          <p:spPr bwMode="auto">
            <a:xfrm>
              <a:off x="743" y="207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6" name="Text Box 9"/>
            <p:cNvSpPr txBox="1">
              <a:spLocks noChangeArrowheads="1"/>
            </p:cNvSpPr>
            <p:nvPr/>
          </p:nvSpPr>
          <p:spPr bwMode="auto">
            <a:xfrm>
              <a:off x="577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27" name="Oval 10"/>
            <p:cNvSpPr>
              <a:spLocks noChangeArrowheads="1"/>
            </p:cNvSpPr>
            <p:nvPr/>
          </p:nvSpPr>
          <p:spPr bwMode="auto">
            <a:xfrm>
              <a:off x="731" y="224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8" name="Line 11"/>
            <p:cNvSpPr>
              <a:spLocks noChangeShapeType="1"/>
            </p:cNvSpPr>
            <p:nvPr/>
          </p:nvSpPr>
          <p:spPr bwMode="auto">
            <a:xfrm>
              <a:off x="743" y="207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9" name="Line 12"/>
            <p:cNvSpPr>
              <a:spLocks noChangeShapeType="1"/>
            </p:cNvSpPr>
            <p:nvPr/>
          </p:nvSpPr>
          <p:spPr bwMode="auto">
            <a:xfrm flipH="1">
              <a:off x="509" y="207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0" name="Rectangle 13"/>
            <p:cNvSpPr>
              <a:spLocks noChangeArrowheads="1"/>
            </p:cNvSpPr>
            <p:nvPr/>
          </p:nvSpPr>
          <p:spPr bwMode="auto">
            <a:xfrm>
              <a:off x="187" y="80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1" name="Arc 14"/>
            <p:cNvSpPr>
              <a:spLocks/>
            </p:cNvSpPr>
            <p:nvPr/>
          </p:nvSpPr>
          <p:spPr bwMode="auto">
            <a:xfrm>
              <a:off x="343" y="1290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2" name="Oval 15"/>
            <p:cNvSpPr>
              <a:spLocks noChangeArrowheads="1"/>
            </p:cNvSpPr>
            <p:nvPr/>
          </p:nvSpPr>
          <p:spPr bwMode="auto">
            <a:xfrm>
              <a:off x="1438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3" name="Oval 16"/>
            <p:cNvSpPr>
              <a:spLocks noChangeArrowheads="1"/>
            </p:cNvSpPr>
            <p:nvPr/>
          </p:nvSpPr>
          <p:spPr bwMode="auto">
            <a:xfrm>
              <a:off x="1438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4" name="Line 17"/>
            <p:cNvSpPr>
              <a:spLocks noChangeShapeType="1"/>
            </p:cNvSpPr>
            <p:nvPr/>
          </p:nvSpPr>
          <p:spPr bwMode="auto">
            <a:xfrm flipV="1">
              <a:off x="1942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5" name="Line 18"/>
            <p:cNvSpPr>
              <a:spLocks noChangeShapeType="1"/>
            </p:cNvSpPr>
            <p:nvPr/>
          </p:nvSpPr>
          <p:spPr bwMode="auto">
            <a:xfrm>
              <a:off x="1942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6" name="Text Box 19"/>
            <p:cNvSpPr txBox="1">
              <a:spLocks noChangeArrowheads="1"/>
            </p:cNvSpPr>
            <p:nvPr/>
          </p:nvSpPr>
          <p:spPr bwMode="auto">
            <a:xfrm>
              <a:off x="1750" y="2450"/>
              <a:ext cx="53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37" name="Oval 20"/>
            <p:cNvSpPr>
              <a:spLocks noChangeArrowheads="1"/>
            </p:cNvSpPr>
            <p:nvPr/>
          </p:nvSpPr>
          <p:spPr bwMode="auto">
            <a:xfrm>
              <a:off x="1608" y="220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8" name="Line 21"/>
            <p:cNvSpPr>
              <a:spLocks noChangeShapeType="1"/>
            </p:cNvSpPr>
            <p:nvPr/>
          </p:nvSpPr>
          <p:spPr bwMode="auto">
            <a:xfrm flipH="1">
              <a:off x="1438" y="2087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9" name="Line 22"/>
            <p:cNvSpPr>
              <a:spLocks noChangeShapeType="1"/>
            </p:cNvSpPr>
            <p:nvPr/>
          </p:nvSpPr>
          <p:spPr bwMode="auto">
            <a:xfrm flipH="1">
              <a:off x="1618" y="2090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0" name="Rectangle 23"/>
            <p:cNvSpPr>
              <a:spLocks noChangeArrowheads="1"/>
            </p:cNvSpPr>
            <p:nvPr/>
          </p:nvSpPr>
          <p:spPr bwMode="auto">
            <a:xfrm>
              <a:off x="1386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1" name="Rectangle 24"/>
            <p:cNvSpPr>
              <a:spLocks noChangeArrowheads="1"/>
            </p:cNvSpPr>
            <p:nvPr/>
          </p:nvSpPr>
          <p:spPr bwMode="auto">
            <a:xfrm>
              <a:off x="1391" y="220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42" name="Text Box 25"/>
            <p:cNvSpPr txBox="1">
              <a:spLocks noChangeArrowheads="1"/>
            </p:cNvSpPr>
            <p:nvPr/>
          </p:nvSpPr>
          <p:spPr bwMode="auto">
            <a:xfrm>
              <a:off x="4096" y="2450"/>
              <a:ext cx="71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 = -</a:t>
              </a:r>
              <a:r>
                <a:rPr lang="en-US" baseline="-25000">
                  <a:sym typeface="Symbol" pitchFamily="18" charset="2"/>
                </a:rPr>
                <a:t>max</a:t>
              </a:r>
            </a:p>
          </p:txBody>
        </p:sp>
        <p:sp>
          <p:nvSpPr>
            <p:cNvPr id="9243" name="Oval 26"/>
            <p:cNvSpPr>
              <a:spLocks noChangeArrowheads="1"/>
            </p:cNvSpPr>
            <p:nvPr/>
          </p:nvSpPr>
          <p:spPr bwMode="auto">
            <a:xfrm flipH="1">
              <a:off x="3845" y="1984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4" name="Oval 27"/>
            <p:cNvSpPr>
              <a:spLocks noChangeArrowheads="1"/>
            </p:cNvSpPr>
            <p:nvPr/>
          </p:nvSpPr>
          <p:spPr bwMode="auto">
            <a:xfrm flipH="1">
              <a:off x="3845" y="1963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28"/>
            <p:cNvSpPr>
              <a:spLocks noChangeShapeType="1"/>
            </p:cNvSpPr>
            <p:nvPr/>
          </p:nvSpPr>
          <p:spPr bwMode="auto">
            <a:xfrm flipH="1" flipV="1">
              <a:off x="4355" y="859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29"/>
            <p:cNvSpPr>
              <a:spLocks noChangeShapeType="1"/>
            </p:cNvSpPr>
            <p:nvPr/>
          </p:nvSpPr>
          <p:spPr bwMode="auto">
            <a:xfrm flipH="1">
              <a:off x="4352" y="2092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7" name="Oval 30"/>
            <p:cNvSpPr>
              <a:spLocks noChangeArrowheads="1"/>
            </p:cNvSpPr>
            <p:nvPr/>
          </p:nvSpPr>
          <p:spPr bwMode="auto">
            <a:xfrm flipH="1">
              <a:off x="4662" y="2207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8" name="Line 31"/>
            <p:cNvSpPr>
              <a:spLocks noChangeShapeType="1"/>
            </p:cNvSpPr>
            <p:nvPr/>
          </p:nvSpPr>
          <p:spPr bwMode="auto">
            <a:xfrm>
              <a:off x="4355" y="2092"/>
              <a:ext cx="504" cy="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9" name="Line 32"/>
            <p:cNvSpPr>
              <a:spLocks noChangeShapeType="1"/>
            </p:cNvSpPr>
            <p:nvPr/>
          </p:nvSpPr>
          <p:spPr bwMode="auto">
            <a:xfrm>
              <a:off x="4361" y="2095"/>
              <a:ext cx="318" cy="1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0" name="Rectangle 33"/>
            <p:cNvSpPr>
              <a:spLocks noChangeArrowheads="1"/>
            </p:cNvSpPr>
            <p:nvPr/>
          </p:nvSpPr>
          <p:spPr bwMode="auto">
            <a:xfrm flipH="1">
              <a:off x="3768" y="826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1" name="Rectangle 34"/>
            <p:cNvSpPr>
              <a:spLocks noChangeArrowheads="1"/>
            </p:cNvSpPr>
            <p:nvPr/>
          </p:nvSpPr>
          <p:spPr bwMode="auto">
            <a:xfrm>
              <a:off x="4724" y="2260"/>
              <a:ext cx="20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P</a:t>
              </a:r>
            </a:p>
          </p:txBody>
        </p:sp>
        <p:sp>
          <p:nvSpPr>
            <p:cNvPr id="9252" name="Oval 35"/>
            <p:cNvSpPr>
              <a:spLocks noChangeArrowheads="1"/>
            </p:cNvSpPr>
            <p:nvPr/>
          </p:nvSpPr>
          <p:spPr bwMode="auto">
            <a:xfrm>
              <a:off x="2630" y="1979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3" name="Oval 36"/>
            <p:cNvSpPr>
              <a:spLocks noChangeArrowheads="1"/>
            </p:cNvSpPr>
            <p:nvPr/>
          </p:nvSpPr>
          <p:spPr bwMode="auto">
            <a:xfrm>
              <a:off x="2630" y="1958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4" name="Line 37"/>
            <p:cNvSpPr>
              <a:spLocks noChangeShapeType="1"/>
            </p:cNvSpPr>
            <p:nvPr/>
          </p:nvSpPr>
          <p:spPr bwMode="auto">
            <a:xfrm flipV="1">
              <a:off x="3134" y="854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38"/>
            <p:cNvSpPr>
              <a:spLocks noChangeShapeType="1"/>
            </p:cNvSpPr>
            <p:nvPr/>
          </p:nvSpPr>
          <p:spPr bwMode="auto">
            <a:xfrm>
              <a:off x="3134" y="2087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6" name="Text Box 39"/>
            <p:cNvSpPr txBox="1">
              <a:spLocks noChangeArrowheads="1"/>
            </p:cNvSpPr>
            <p:nvPr/>
          </p:nvSpPr>
          <p:spPr bwMode="auto">
            <a:xfrm>
              <a:off x="2968" y="2450"/>
              <a:ext cx="35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>
                  <a:sym typeface="Symbol" pitchFamily="18" charset="2"/>
                </a:rPr>
                <a:t>=0</a:t>
              </a:r>
            </a:p>
          </p:txBody>
        </p:sp>
        <p:sp>
          <p:nvSpPr>
            <p:cNvPr id="9257" name="Oval 40"/>
            <p:cNvSpPr>
              <a:spLocks noChangeArrowheads="1"/>
            </p:cNvSpPr>
            <p:nvPr/>
          </p:nvSpPr>
          <p:spPr bwMode="auto">
            <a:xfrm>
              <a:off x="3122" y="2255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8" name="Line 41"/>
            <p:cNvSpPr>
              <a:spLocks noChangeShapeType="1"/>
            </p:cNvSpPr>
            <p:nvPr/>
          </p:nvSpPr>
          <p:spPr bwMode="auto">
            <a:xfrm>
              <a:off x="3134" y="208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59" name="Line 42"/>
            <p:cNvSpPr>
              <a:spLocks noChangeShapeType="1"/>
            </p:cNvSpPr>
            <p:nvPr/>
          </p:nvSpPr>
          <p:spPr bwMode="auto">
            <a:xfrm flipH="1">
              <a:off x="2900" y="2090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0" name="Rectangle 43"/>
            <p:cNvSpPr>
              <a:spLocks noChangeArrowheads="1"/>
            </p:cNvSpPr>
            <p:nvPr/>
          </p:nvSpPr>
          <p:spPr bwMode="auto">
            <a:xfrm>
              <a:off x="2578" y="821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1" name="Arc 44"/>
            <p:cNvSpPr>
              <a:spLocks/>
            </p:cNvSpPr>
            <p:nvPr/>
          </p:nvSpPr>
          <p:spPr bwMode="auto">
            <a:xfrm flipH="1">
              <a:off x="2761" y="1322"/>
              <a:ext cx="804" cy="270"/>
            </a:xfrm>
            <a:custGeom>
              <a:avLst/>
              <a:gdLst>
                <a:gd name="T0" fmla="*/ 0 w 43200"/>
                <a:gd name="T1" fmla="*/ 0 h 42287"/>
                <a:gd name="T2" fmla="*/ 0 w 43200"/>
                <a:gd name="T3" fmla="*/ 0 h 42287"/>
                <a:gd name="T4" fmla="*/ 0 w 43200"/>
                <a:gd name="T5" fmla="*/ 0 h 42287"/>
                <a:gd name="T6" fmla="*/ 0 60000 65536"/>
                <a:gd name="T7" fmla="*/ 0 60000 65536"/>
                <a:gd name="T8" fmla="*/ 0 60000 65536"/>
                <a:gd name="T9" fmla="*/ 0 w 43200"/>
                <a:gd name="T10" fmla="*/ 0 h 42287"/>
                <a:gd name="T11" fmla="*/ 43200 w 43200"/>
                <a:gd name="T12" fmla="*/ 42287 h 422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200" h="42287" fill="none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</a:path>
                <a:path w="43200" h="42287" stroke="0" extrusionOk="0">
                  <a:moveTo>
                    <a:pt x="390" y="25688"/>
                  </a:moveTo>
                  <a:cubicBezTo>
                    <a:pt x="130" y="24341"/>
                    <a:pt x="0" y="22972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1135"/>
                    <a:pt x="36946" y="39543"/>
                    <a:pt x="27813" y="42286"/>
                  </a:cubicBezTo>
                  <a:lnTo>
                    <a:pt x="21600" y="21600"/>
                  </a:lnTo>
                  <a:lnTo>
                    <a:pt x="390" y="25688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2" name="Line 45"/>
            <p:cNvSpPr>
              <a:spLocks noChangeShapeType="1"/>
            </p:cNvSpPr>
            <p:nvPr/>
          </p:nvSpPr>
          <p:spPr bwMode="auto">
            <a:xfrm flipV="1">
              <a:off x="748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3" name="Line 46"/>
            <p:cNvSpPr>
              <a:spLocks noChangeShapeType="1"/>
            </p:cNvSpPr>
            <p:nvPr/>
          </p:nvSpPr>
          <p:spPr bwMode="auto">
            <a:xfrm flipV="1">
              <a:off x="194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4" name="Line 47"/>
            <p:cNvSpPr>
              <a:spLocks noChangeShapeType="1"/>
            </p:cNvSpPr>
            <p:nvPr/>
          </p:nvSpPr>
          <p:spPr bwMode="auto">
            <a:xfrm flipV="1">
              <a:off x="3140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65" name="Line 48"/>
            <p:cNvSpPr>
              <a:spLocks noChangeShapeType="1"/>
            </p:cNvSpPr>
            <p:nvPr/>
          </p:nvSpPr>
          <p:spPr bwMode="auto">
            <a:xfrm flipV="1">
              <a:off x="4372" y="233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8BA07B31-FD5A-463A-B01C-F30679955A66}" type="slidenum">
              <a:rPr lang="en-US" smtClean="0"/>
              <a:pPr eaLnBrk="1" hangingPunct="1"/>
              <a:t>23</a:t>
            </a:fld>
            <a:endParaRPr lang="en-US"/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Torsional Pendulum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81200" y="1730375"/>
            <a:ext cx="4038600" cy="4395788"/>
          </a:xfrm>
        </p:spPr>
        <p:txBody>
          <a:bodyPr/>
          <a:lstStyle/>
          <a:p>
            <a:pPr eaLnBrk="1" hangingPunct="1"/>
            <a:r>
              <a:rPr lang="en-US"/>
              <a:t>SHM Problem</a:t>
            </a:r>
          </a:p>
        </p:txBody>
      </p:sp>
      <p:sp>
        <p:nvSpPr>
          <p:cNvPr id="10245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4243389"/>
            <a:ext cx="4038600" cy="1882775"/>
          </a:xfrm>
        </p:spPr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graphicFrame>
        <p:nvGraphicFramePr>
          <p:cNvPr id="10246" name="Object 5"/>
          <p:cNvGraphicFramePr>
            <a:graphicFrameLocks noChangeAspect="1"/>
          </p:cNvGraphicFramePr>
          <p:nvPr/>
        </p:nvGraphicFramePr>
        <p:xfrm>
          <a:off x="6624639" y="5037138"/>
          <a:ext cx="2109787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200" imgH="228600" progId="Equation.3">
                  <p:embed/>
                </p:oleObj>
              </mc:Choice>
              <mc:Fallback>
                <p:oleObj name="Equation" r:id="rId2" imgW="1346200" imgH="228600" progId="Equation.3">
                  <p:embed/>
                  <p:pic>
                    <p:nvPicPr>
                      <p:cNvPr id="1024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4639" y="5037138"/>
                        <a:ext cx="2109787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7" name="Rectangle 6"/>
          <p:cNvSpPr>
            <a:spLocks noChangeArrowheads="1"/>
          </p:cNvSpPr>
          <p:nvPr/>
        </p:nvSpPr>
        <p:spPr bwMode="auto">
          <a:xfrm>
            <a:off x="1524001" y="298239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pSp>
        <p:nvGrpSpPr>
          <p:cNvPr id="10248" name="Group 7"/>
          <p:cNvGrpSpPr>
            <a:grpSpLocks/>
          </p:cNvGrpSpPr>
          <p:nvPr/>
        </p:nvGrpSpPr>
        <p:grpSpPr bwMode="auto">
          <a:xfrm>
            <a:off x="8243888" y="1597025"/>
            <a:ext cx="1814512" cy="2770188"/>
            <a:chOff x="1892" y="1398"/>
            <a:chExt cx="1143" cy="1745"/>
          </a:xfrm>
        </p:grpSpPr>
        <p:sp>
          <p:nvSpPr>
            <p:cNvPr id="10255" name="Oval 8"/>
            <p:cNvSpPr>
              <a:spLocks noChangeArrowheads="1"/>
            </p:cNvSpPr>
            <p:nvPr/>
          </p:nvSpPr>
          <p:spPr bwMode="auto">
            <a:xfrm>
              <a:off x="1944" y="2556"/>
              <a:ext cx="1014" cy="318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6" name="Oval 9"/>
            <p:cNvSpPr>
              <a:spLocks noChangeArrowheads="1"/>
            </p:cNvSpPr>
            <p:nvPr/>
          </p:nvSpPr>
          <p:spPr bwMode="auto">
            <a:xfrm>
              <a:off x="1944" y="2535"/>
              <a:ext cx="1014" cy="3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7" name="Line 10"/>
            <p:cNvSpPr>
              <a:spLocks noChangeShapeType="1"/>
            </p:cNvSpPr>
            <p:nvPr/>
          </p:nvSpPr>
          <p:spPr bwMode="auto">
            <a:xfrm flipV="1">
              <a:off x="2448" y="1431"/>
              <a:ext cx="0" cy="12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8" name="Line 11"/>
            <p:cNvSpPr>
              <a:spLocks noChangeShapeType="1"/>
            </p:cNvSpPr>
            <p:nvPr/>
          </p:nvSpPr>
          <p:spPr bwMode="auto">
            <a:xfrm>
              <a:off x="2448" y="2664"/>
              <a:ext cx="3" cy="1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9" name="Text Box 12"/>
            <p:cNvSpPr txBox="1">
              <a:spLocks noChangeArrowheads="1"/>
            </p:cNvSpPr>
            <p:nvPr/>
          </p:nvSpPr>
          <p:spPr bwMode="auto">
            <a:xfrm>
              <a:off x="2354" y="291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/>
                <a:t>P</a:t>
              </a:r>
            </a:p>
          </p:txBody>
        </p:sp>
        <p:sp>
          <p:nvSpPr>
            <p:cNvPr id="10260" name="Oval 13"/>
            <p:cNvSpPr>
              <a:spLocks noChangeArrowheads="1"/>
            </p:cNvSpPr>
            <p:nvPr/>
          </p:nvSpPr>
          <p:spPr bwMode="auto">
            <a:xfrm>
              <a:off x="2436" y="2832"/>
              <a:ext cx="27" cy="2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1" name="Line 14"/>
            <p:cNvSpPr>
              <a:spLocks noChangeShapeType="1"/>
            </p:cNvSpPr>
            <p:nvPr/>
          </p:nvSpPr>
          <p:spPr bwMode="auto">
            <a:xfrm>
              <a:off x="2448" y="2664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2" name="Line 15"/>
            <p:cNvSpPr>
              <a:spLocks noChangeShapeType="1"/>
            </p:cNvSpPr>
            <p:nvPr/>
          </p:nvSpPr>
          <p:spPr bwMode="auto">
            <a:xfrm flipH="1">
              <a:off x="2214" y="2667"/>
              <a:ext cx="228" cy="1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3" name="Rectangle 16"/>
            <p:cNvSpPr>
              <a:spLocks noChangeArrowheads="1"/>
            </p:cNvSpPr>
            <p:nvPr/>
          </p:nvSpPr>
          <p:spPr bwMode="auto">
            <a:xfrm>
              <a:off x="1892" y="1398"/>
              <a:ext cx="1143" cy="64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249" name="Rectangle 17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0" name="Object 18"/>
          <p:cNvGraphicFramePr>
            <a:graphicFrameLocks noChangeAspect="1"/>
          </p:cNvGraphicFramePr>
          <p:nvPr/>
        </p:nvGraphicFramePr>
        <p:xfrm>
          <a:off x="2778126" y="2403475"/>
          <a:ext cx="1558925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1025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8126" y="2403475"/>
                        <a:ext cx="1558925" cy="812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1" name="Rectangle 19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2" name="Object 20"/>
          <p:cNvGraphicFramePr>
            <a:graphicFrameLocks noChangeAspect="1"/>
          </p:cNvGraphicFramePr>
          <p:nvPr/>
        </p:nvGraphicFramePr>
        <p:xfrm>
          <a:off x="3074988" y="3665539"/>
          <a:ext cx="1160462" cy="928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85" imgH="393529" progId="Equation.3">
                  <p:embed/>
                </p:oleObj>
              </mc:Choice>
              <mc:Fallback>
                <p:oleObj name="Equation" r:id="rId6" imgW="495085" imgH="393529" progId="Equation.3">
                  <p:embed/>
                  <p:pic>
                    <p:nvPicPr>
                      <p:cNvPr id="1025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4988" y="3665539"/>
                        <a:ext cx="1160462" cy="928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53" name="Rectangle 21"/>
          <p:cNvSpPr>
            <a:spLocks noChangeArrowheads="1"/>
          </p:cNvSpPr>
          <p:nvPr/>
        </p:nvSpPr>
        <p:spPr bwMode="auto">
          <a:xfrm>
            <a:off x="1524001" y="29490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54" name="Object 22"/>
          <p:cNvGraphicFramePr>
            <a:graphicFrameLocks noChangeAspect="1"/>
          </p:cNvGraphicFramePr>
          <p:nvPr/>
        </p:nvGraphicFramePr>
        <p:xfrm>
          <a:off x="3035301" y="4930776"/>
          <a:ext cx="1046163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10891" imgH="444307" progId="Equation.3">
                  <p:embed/>
                </p:oleObj>
              </mc:Choice>
              <mc:Fallback>
                <p:oleObj name="Equation" r:id="rId8" imgW="710891" imgH="444307" progId="Equation.3">
                  <p:embed/>
                  <p:pic>
                    <p:nvPicPr>
                      <p:cNvPr id="10254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5301" y="4930776"/>
                        <a:ext cx="1046163" cy="658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6E6F04C5-04D0-4DA7-BF6F-E57D56AE5620}" type="slidenum">
              <a:rPr lang="en-US" smtClean="0"/>
              <a:pPr eaLnBrk="1" hangingPunct="1"/>
              <a:t>24</a:t>
            </a:fld>
            <a:endParaRPr lang="en-US"/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Damped Oscillations 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09A63A-F006-E248-95B0-24F9C5360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401454"/>
            <a:ext cx="4596772" cy="352835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8C19F6B-3C89-018C-164D-640DADACD52C}"/>
              </a:ext>
            </a:extLst>
          </p:cNvPr>
          <p:cNvSpPr/>
          <p:nvPr/>
        </p:nvSpPr>
        <p:spPr>
          <a:xfrm>
            <a:off x="9203635" y="2773017"/>
            <a:ext cx="467139" cy="4472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1956C4F-4D87-9954-650C-1A9496D5708F}"/>
              </a:ext>
            </a:extLst>
          </p:cNvPr>
          <p:cNvCxnSpPr>
            <a:cxnSpLocks/>
          </p:cNvCxnSpPr>
          <p:nvPr/>
        </p:nvCxnSpPr>
        <p:spPr>
          <a:xfrm flipH="1" flipV="1">
            <a:off x="9437203" y="1586204"/>
            <a:ext cx="1" cy="1186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EDD62D-B4CA-BBB1-8B25-81F94A62BAD7}"/>
              </a:ext>
            </a:extLst>
          </p:cNvPr>
          <p:cNvCxnSpPr>
            <a:cxnSpLocks/>
          </p:cNvCxnSpPr>
          <p:nvPr/>
        </p:nvCxnSpPr>
        <p:spPr>
          <a:xfrm>
            <a:off x="9343898" y="3220278"/>
            <a:ext cx="0" cy="100648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FF504C-281A-FAB0-61F0-C3C7E14FB7BE}"/>
              </a:ext>
            </a:extLst>
          </p:cNvPr>
          <p:cNvCxnSpPr>
            <a:cxnSpLocks/>
          </p:cNvCxnSpPr>
          <p:nvPr/>
        </p:nvCxnSpPr>
        <p:spPr>
          <a:xfrm>
            <a:off x="9514959" y="3220278"/>
            <a:ext cx="0" cy="71230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789F83D-FD8C-ECAD-FDA5-8FD4D44F513F}"/>
              </a:ext>
            </a:extLst>
          </p:cNvPr>
          <p:cNvSpPr txBox="1"/>
          <p:nvPr/>
        </p:nvSpPr>
        <p:spPr>
          <a:xfrm>
            <a:off x="9514959" y="1581862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</a:t>
            </a:r>
            <a:r>
              <a:rPr lang="en-US" baseline="-25000" dirty="0" err="1"/>
              <a:t>ms</a:t>
            </a:r>
            <a:endParaRPr lang="en-U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37BED4-5D27-E7B4-1FA6-AA2E0BEB8E3F}"/>
              </a:ext>
            </a:extLst>
          </p:cNvPr>
          <p:cNvSpPr txBox="1"/>
          <p:nvPr/>
        </p:nvSpPr>
        <p:spPr>
          <a:xfrm>
            <a:off x="8625340" y="342900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</a:t>
            </a:r>
            <a:r>
              <a:rPr lang="en-US" baseline="-25000" dirty="0" err="1"/>
              <a:t>mf</a:t>
            </a:r>
            <a:endParaRPr lang="en-U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C256E5-826A-321E-EBE6-2857D1C22954}"/>
              </a:ext>
            </a:extLst>
          </p:cNvPr>
          <p:cNvSpPr txBox="1"/>
          <p:nvPr/>
        </p:nvSpPr>
        <p:spPr>
          <a:xfrm>
            <a:off x="9686020" y="3391765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</a:t>
            </a:r>
            <a:r>
              <a:rPr lang="en-US" baseline="-25000" dirty="0" err="1"/>
              <a:t>mE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79835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537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6.14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371601"/>
            <a:ext cx="3886200" cy="4754563"/>
          </a:xfrm>
        </p:spPr>
        <p:txBody>
          <a:bodyPr/>
          <a:lstStyle/>
          <a:p>
            <a:pPr>
              <a:buFontTx/>
              <a:buNone/>
              <a:defRPr/>
            </a:pPr>
            <a:r>
              <a:rPr lang="en-US" sz="2000" dirty="0"/>
              <a:t>I have placed a red pen in my SHM gizmo and started the chart moving. I get a strip chart that looks like the page shown to the right. What can you conclude about my oscillator system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machine is broken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experiences friction of some sort</a:t>
            </a:r>
          </a:p>
          <a:p>
            <a:pPr marL="457200" indent="-457200">
              <a:buFontTx/>
              <a:buAutoNum type="alphaLcParenR"/>
              <a:defRPr/>
            </a:pPr>
            <a:r>
              <a:rPr lang="en-US" sz="2000" dirty="0"/>
              <a:t>The oscillator is losing mass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7026276" y="3429000"/>
            <a:ext cx="2879725" cy="1371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grpSp>
        <p:nvGrpSpPr>
          <p:cNvPr id="449542" name="Group 5"/>
          <p:cNvGrpSpPr>
            <a:grpSpLocks noChangeAspect="1"/>
          </p:cNvGrpSpPr>
          <p:nvPr/>
        </p:nvGrpSpPr>
        <p:grpSpPr bwMode="auto">
          <a:xfrm>
            <a:off x="7178621" y="715158"/>
            <a:ext cx="2687639" cy="3917134"/>
            <a:chOff x="3264" y="1075"/>
            <a:chExt cx="1693" cy="2467"/>
          </a:xfrm>
        </p:grpSpPr>
        <p:sp>
          <p:nvSpPr>
            <p:cNvPr id="449543" name="AutoShape 4"/>
            <p:cNvSpPr>
              <a:spLocks noChangeAspect="1" noChangeArrowheads="1" noTextEdit="1"/>
            </p:cNvSpPr>
            <p:nvPr/>
          </p:nvSpPr>
          <p:spPr bwMode="auto">
            <a:xfrm>
              <a:off x="3264" y="2880"/>
              <a:ext cx="1520" cy="6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4" name="Rectangle 6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5" name="Rectangle 7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6" name="Rectangle 8"/>
            <p:cNvSpPr>
              <a:spLocks noChangeArrowheads="1"/>
            </p:cNvSpPr>
            <p:nvPr/>
          </p:nvSpPr>
          <p:spPr bwMode="auto">
            <a:xfrm>
              <a:off x="3264" y="2815"/>
              <a:ext cx="0" cy="174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endParaRPr lang="en-US" dirty="0">
                <a:cs typeface="Arial" charset="0"/>
              </a:endParaRPr>
            </a:p>
          </p:txBody>
        </p:sp>
        <p:sp>
          <p:nvSpPr>
            <p:cNvPr id="449547" name="Line 9"/>
            <p:cNvSpPr>
              <a:spLocks noChangeShapeType="1"/>
            </p:cNvSpPr>
            <p:nvPr/>
          </p:nvSpPr>
          <p:spPr bwMode="auto">
            <a:xfrm>
              <a:off x="3298" y="2914"/>
              <a:ext cx="14" cy="9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8" name="Line 10"/>
            <p:cNvSpPr>
              <a:spLocks noChangeShapeType="1"/>
            </p:cNvSpPr>
            <p:nvPr/>
          </p:nvSpPr>
          <p:spPr bwMode="auto">
            <a:xfrm>
              <a:off x="3312" y="3005"/>
              <a:ext cx="15" cy="19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49" name="Line 11"/>
            <p:cNvSpPr>
              <a:spLocks noChangeShapeType="1"/>
            </p:cNvSpPr>
            <p:nvPr/>
          </p:nvSpPr>
          <p:spPr bwMode="auto">
            <a:xfrm>
              <a:off x="3327" y="3204"/>
              <a:ext cx="15" cy="18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0" name="Line 12"/>
            <p:cNvSpPr>
              <a:spLocks noChangeShapeType="1"/>
            </p:cNvSpPr>
            <p:nvPr/>
          </p:nvSpPr>
          <p:spPr bwMode="auto">
            <a:xfrm>
              <a:off x="3342" y="3391"/>
              <a:ext cx="14" cy="7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1" name="Line 13"/>
            <p:cNvSpPr>
              <a:spLocks noChangeShapeType="1"/>
            </p:cNvSpPr>
            <p:nvPr/>
          </p:nvSpPr>
          <p:spPr bwMode="auto">
            <a:xfrm flipV="1">
              <a:off x="3356" y="3388"/>
              <a:ext cx="15" cy="7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2" name="Line 14"/>
            <p:cNvSpPr>
              <a:spLocks noChangeShapeType="1"/>
            </p:cNvSpPr>
            <p:nvPr/>
          </p:nvSpPr>
          <p:spPr bwMode="auto">
            <a:xfrm flipV="1">
              <a:off x="3371" y="3217"/>
              <a:ext cx="15" cy="17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3" name="Line 15"/>
            <p:cNvSpPr>
              <a:spLocks noChangeShapeType="1"/>
            </p:cNvSpPr>
            <p:nvPr/>
          </p:nvSpPr>
          <p:spPr bwMode="auto">
            <a:xfrm flipV="1">
              <a:off x="3386" y="3053"/>
              <a:ext cx="14" cy="1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4" name="Line 16"/>
            <p:cNvSpPr>
              <a:spLocks noChangeShapeType="1"/>
            </p:cNvSpPr>
            <p:nvPr/>
          </p:nvSpPr>
          <p:spPr bwMode="auto">
            <a:xfrm flipV="1">
              <a:off x="3400" y="2986"/>
              <a:ext cx="15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5" name="Line 17"/>
            <p:cNvSpPr>
              <a:spLocks noChangeShapeType="1"/>
            </p:cNvSpPr>
            <p:nvPr/>
          </p:nvSpPr>
          <p:spPr bwMode="auto">
            <a:xfrm>
              <a:off x="3415" y="2986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6" name="Line 18"/>
            <p:cNvSpPr>
              <a:spLocks noChangeShapeType="1"/>
            </p:cNvSpPr>
            <p:nvPr/>
          </p:nvSpPr>
          <p:spPr bwMode="auto">
            <a:xfrm>
              <a:off x="3429" y="3047"/>
              <a:ext cx="15" cy="1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7" name="Line 19"/>
            <p:cNvSpPr>
              <a:spLocks noChangeShapeType="1"/>
            </p:cNvSpPr>
            <p:nvPr/>
          </p:nvSpPr>
          <p:spPr bwMode="auto">
            <a:xfrm>
              <a:off x="3444" y="3194"/>
              <a:ext cx="15" cy="14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8" name="Line 20"/>
            <p:cNvSpPr>
              <a:spLocks noChangeShapeType="1"/>
            </p:cNvSpPr>
            <p:nvPr/>
          </p:nvSpPr>
          <p:spPr bwMode="auto">
            <a:xfrm>
              <a:off x="3459" y="3338"/>
              <a:ext cx="14" cy="6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59" name="Line 21"/>
            <p:cNvSpPr>
              <a:spLocks noChangeShapeType="1"/>
            </p:cNvSpPr>
            <p:nvPr/>
          </p:nvSpPr>
          <p:spPr bwMode="auto">
            <a:xfrm flipV="1">
              <a:off x="3473" y="3350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0" name="Line 22"/>
            <p:cNvSpPr>
              <a:spLocks noChangeShapeType="1"/>
            </p:cNvSpPr>
            <p:nvPr/>
          </p:nvSpPr>
          <p:spPr bwMode="auto">
            <a:xfrm flipV="1">
              <a:off x="3488" y="3224"/>
              <a:ext cx="15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1" name="Line 23"/>
            <p:cNvSpPr>
              <a:spLocks noChangeShapeType="1"/>
            </p:cNvSpPr>
            <p:nvPr/>
          </p:nvSpPr>
          <p:spPr bwMode="auto">
            <a:xfrm flipV="1">
              <a:off x="3503" y="3098"/>
              <a:ext cx="14" cy="1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2" name="Line 24"/>
            <p:cNvSpPr>
              <a:spLocks noChangeShapeType="1"/>
            </p:cNvSpPr>
            <p:nvPr/>
          </p:nvSpPr>
          <p:spPr bwMode="auto">
            <a:xfrm flipV="1">
              <a:off x="3517" y="3041"/>
              <a:ext cx="15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3" name="Line 25"/>
            <p:cNvSpPr>
              <a:spLocks noChangeShapeType="1"/>
            </p:cNvSpPr>
            <p:nvPr/>
          </p:nvSpPr>
          <p:spPr bwMode="auto">
            <a:xfrm>
              <a:off x="3532" y="3041"/>
              <a:ext cx="15" cy="4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4" name="Line 26"/>
            <p:cNvSpPr>
              <a:spLocks noChangeShapeType="1"/>
            </p:cNvSpPr>
            <p:nvPr/>
          </p:nvSpPr>
          <p:spPr bwMode="auto">
            <a:xfrm>
              <a:off x="3547" y="3081"/>
              <a:ext cx="14" cy="10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5" name="Line 27"/>
            <p:cNvSpPr>
              <a:spLocks noChangeShapeType="1"/>
            </p:cNvSpPr>
            <p:nvPr/>
          </p:nvSpPr>
          <p:spPr bwMode="auto">
            <a:xfrm>
              <a:off x="3561" y="3189"/>
              <a:ext cx="15" cy="1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6" name="Line 28"/>
            <p:cNvSpPr>
              <a:spLocks noChangeShapeType="1"/>
            </p:cNvSpPr>
            <p:nvPr/>
          </p:nvSpPr>
          <p:spPr bwMode="auto">
            <a:xfrm>
              <a:off x="3576" y="3300"/>
              <a:ext cx="15" cy="5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7" name="Line 29"/>
            <p:cNvSpPr>
              <a:spLocks noChangeShapeType="1"/>
            </p:cNvSpPr>
            <p:nvPr/>
          </p:nvSpPr>
          <p:spPr bwMode="auto">
            <a:xfrm flipV="1">
              <a:off x="3591" y="3320"/>
              <a:ext cx="14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8" name="Line 30"/>
            <p:cNvSpPr>
              <a:spLocks noChangeShapeType="1"/>
            </p:cNvSpPr>
            <p:nvPr/>
          </p:nvSpPr>
          <p:spPr bwMode="auto">
            <a:xfrm flipV="1">
              <a:off x="3605" y="3227"/>
              <a:ext cx="15" cy="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69" name="Line 31"/>
            <p:cNvSpPr>
              <a:spLocks noChangeShapeType="1"/>
            </p:cNvSpPr>
            <p:nvPr/>
          </p:nvSpPr>
          <p:spPr bwMode="auto">
            <a:xfrm flipV="1">
              <a:off x="3620" y="3131"/>
              <a:ext cx="15" cy="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0" name="Line 32"/>
            <p:cNvSpPr>
              <a:spLocks noChangeShapeType="1"/>
            </p:cNvSpPr>
            <p:nvPr/>
          </p:nvSpPr>
          <p:spPr bwMode="auto">
            <a:xfrm flipV="1">
              <a:off x="3635" y="3083"/>
              <a:ext cx="14" cy="4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1" name="Line 33"/>
            <p:cNvSpPr>
              <a:spLocks noChangeShapeType="1"/>
            </p:cNvSpPr>
            <p:nvPr/>
          </p:nvSpPr>
          <p:spPr bwMode="auto">
            <a:xfrm>
              <a:off x="3649" y="3083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2" name="Line 34"/>
            <p:cNvSpPr>
              <a:spLocks noChangeShapeType="1"/>
            </p:cNvSpPr>
            <p:nvPr/>
          </p:nvSpPr>
          <p:spPr bwMode="auto">
            <a:xfrm>
              <a:off x="3664" y="3108"/>
              <a:ext cx="15" cy="7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3" name="Line 35"/>
            <p:cNvSpPr>
              <a:spLocks noChangeShapeType="1"/>
            </p:cNvSpPr>
            <p:nvPr/>
          </p:nvSpPr>
          <p:spPr bwMode="auto">
            <a:xfrm>
              <a:off x="3679" y="3187"/>
              <a:ext cx="14" cy="8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4" name="Line 36"/>
            <p:cNvSpPr>
              <a:spLocks noChangeShapeType="1"/>
            </p:cNvSpPr>
            <p:nvPr/>
          </p:nvSpPr>
          <p:spPr bwMode="auto">
            <a:xfrm>
              <a:off x="3693" y="3272"/>
              <a:ext cx="15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5" name="Line 37"/>
            <p:cNvSpPr>
              <a:spLocks noChangeShapeType="1"/>
            </p:cNvSpPr>
            <p:nvPr/>
          </p:nvSpPr>
          <p:spPr bwMode="auto">
            <a:xfrm flipV="1">
              <a:off x="3708" y="3295"/>
              <a:ext cx="15" cy="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6" name="Line 38"/>
            <p:cNvSpPr>
              <a:spLocks noChangeShapeType="1"/>
            </p:cNvSpPr>
            <p:nvPr/>
          </p:nvSpPr>
          <p:spPr bwMode="auto">
            <a:xfrm flipV="1">
              <a:off x="3723" y="3228"/>
              <a:ext cx="14" cy="6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7" name="Line 39"/>
            <p:cNvSpPr>
              <a:spLocks noChangeShapeType="1"/>
            </p:cNvSpPr>
            <p:nvPr/>
          </p:nvSpPr>
          <p:spPr bwMode="auto">
            <a:xfrm flipV="1">
              <a:off x="3737" y="3154"/>
              <a:ext cx="15" cy="7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8" name="Line 40"/>
            <p:cNvSpPr>
              <a:spLocks noChangeShapeType="1"/>
            </p:cNvSpPr>
            <p:nvPr/>
          </p:nvSpPr>
          <p:spPr bwMode="auto">
            <a:xfrm flipV="1">
              <a:off x="3752" y="3115"/>
              <a:ext cx="15" cy="3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79" name="Line 41"/>
            <p:cNvSpPr>
              <a:spLocks noChangeShapeType="1"/>
            </p:cNvSpPr>
            <p:nvPr/>
          </p:nvSpPr>
          <p:spPr bwMode="auto">
            <a:xfrm>
              <a:off x="3767" y="3115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0" name="Line 42"/>
            <p:cNvSpPr>
              <a:spLocks noChangeShapeType="1"/>
            </p:cNvSpPr>
            <p:nvPr/>
          </p:nvSpPr>
          <p:spPr bwMode="auto">
            <a:xfrm>
              <a:off x="3781" y="3130"/>
              <a:ext cx="15" cy="5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1" name="Line 43"/>
            <p:cNvSpPr>
              <a:spLocks noChangeShapeType="1"/>
            </p:cNvSpPr>
            <p:nvPr/>
          </p:nvSpPr>
          <p:spPr bwMode="auto">
            <a:xfrm>
              <a:off x="3796" y="3188"/>
              <a:ext cx="15" cy="6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2" name="Line 44"/>
            <p:cNvSpPr>
              <a:spLocks noChangeShapeType="1"/>
            </p:cNvSpPr>
            <p:nvPr/>
          </p:nvSpPr>
          <p:spPr bwMode="auto">
            <a:xfrm>
              <a:off x="3811" y="3252"/>
              <a:ext cx="14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3" name="Line 45"/>
            <p:cNvSpPr>
              <a:spLocks noChangeShapeType="1"/>
            </p:cNvSpPr>
            <p:nvPr/>
          </p:nvSpPr>
          <p:spPr bwMode="auto">
            <a:xfrm flipV="1">
              <a:off x="3825" y="3276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4" name="Line 46"/>
            <p:cNvSpPr>
              <a:spLocks noChangeShapeType="1"/>
            </p:cNvSpPr>
            <p:nvPr/>
          </p:nvSpPr>
          <p:spPr bwMode="auto">
            <a:xfrm flipV="1">
              <a:off x="3840" y="3227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5" name="Line 47"/>
            <p:cNvSpPr>
              <a:spLocks noChangeShapeType="1"/>
            </p:cNvSpPr>
            <p:nvPr/>
          </p:nvSpPr>
          <p:spPr bwMode="auto">
            <a:xfrm flipV="1">
              <a:off x="3855" y="3170"/>
              <a:ext cx="14" cy="5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6" name="Line 48"/>
            <p:cNvSpPr>
              <a:spLocks noChangeShapeType="1"/>
            </p:cNvSpPr>
            <p:nvPr/>
          </p:nvSpPr>
          <p:spPr bwMode="auto">
            <a:xfrm flipV="1">
              <a:off x="3869" y="3139"/>
              <a:ext cx="15" cy="3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7" name="Line 49"/>
            <p:cNvSpPr>
              <a:spLocks noChangeShapeType="1"/>
            </p:cNvSpPr>
            <p:nvPr/>
          </p:nvSpPr>
          <p:spPr bwMode="auto">
            <a:xfrm>
              <a:off x="3884" y="3139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8" name="Line 50"/>
            <p:cNvSpPr>
              <a:spLocks noChangeShapeType="1"/>
            </p:cNvSpPr>
            <p:nvPr/>
          </p:nvSpPr>
          <p:spPr bwMode="auto">
            <a:xfrm>
              <a:off x="3899" y="3147"/>
              <a:ext cx="14" cy="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89" name="Line 51"/>
            <p:cNvSpPr>
              <a:spLocks noChangeShapeType="1"/>
            </p:cNvSpPr>
            <p:nvPr/>
          </p:nvSpPr>
          <p:spPr bwMode="auto">
            <a:xfrm>
              <a:off x="3913" y="3189"/>
              <a:ext cx="15" cy="4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0" name="Line 52"/>
            <p:cNvSpPr>
              <a:spLocks noChangeShapeType="1"/>
            </p:cNvSpPr>
            <p:nvPr/>
          </p:nvSpPr>
          <p:spPr bwMode="auto">
            <a:xfrm>
              <a:off x="3928" y="3238"/>
              <a:ext cx="14" cy="2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1" name="Line 53"/>
            <p:cNvSpPr>
              <a:spLocks noChangeShapeType="1"/>
            </p:cNvSpPr>
            <p:nvPr/>
          </p:nvSpPr>
          <p:spPr bwMode="auto">
            <a:xfrm flipV="1">
              <a:off x="3942" y="3261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2" name="Line 54"/>
            <p:cNvSpPr>
              <a:spLocks noChangeShapeType="1"/>
            </p:cNvSpPr>
            <p:nvPr/>
          </p:nvSpPr>
          <p:spPr bwMode="auto">
            <a:xfrm flipV="1">
              <a:off x="3957" y="3225"/>
              <a:ext cx="15" cy="3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3" name="Line 55"/>
            <p:cNvSpPr>
              <a:spLocks noChangeShapeType="1"/>
            </p:cNvSpPr>
            <p:nvPr/>
          </p:nvSpPr>
          <p:spPr bwMode="auto">
            <a:xfrm flipV="1">
              <a:off x="3972" y="3182"/>
              <a:ext cx="14" cy="4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4" name="Line 56"/>
            <p:cNvSpPr>
              <a:spLocks noChangeShapeType="1"/>
            </p:cNvSpPr>
            <p:nvPr/>
          </p:nvSpPr>
          <p:spPr bwMode="auto">
            <a:xfrm flipV="1">
              <a:off x="3986" y="3156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5" name="Line 57"/>
            <p:cNvSpPr>
              <a:spLocks noChangeShapeType="1"/>
            </p:cNvSpPr>
            <p:nvPr/>
          </p:nvSpPr>
          <p:spPr bwMode="auto">
            <a:xfrm>
              <a:off x="4001" y="3156"/>
              <a:ext cx="15" cy="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6" name="Line 58"/>
            <p:cNvSpPr>
              <a:spLocks noChangeShapeType="1"/>
            </p:cNvSpPr>
            <p:nvPr/>
          </p:nvSpPr>
          <p:spPr bwMode="auto">
            <a:xfrm>
              <a:off x="4016" y="3161"/>
              <a:ext cx="14" cy="3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7" name="Line 59"/>
            <p:cNvSpPr>
              <a:spLocks noChangeShapeType="1"/>
            </p:cNvSpPr>
            <p:nvPr/>
          </p:nvSpPr>
          <p:spPr bwMode="auto">
            <a:xfrm>
              <a:off x="4030" y="3191"/>
              <a:ext cx="15" cy="3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8" name="Line 60"/>
            <p:cNvSpPr>
              <a:spLocks noChangeShapeType="1"/>
            </p:cNvSpPr>
            <p:nvPr/>
          </p:nvSpPr>
          <p:spPr bwMode="auto">
            <a:xfrm>
              <a:off x="4045" y="3228"/>
              <a:ext cx="15" cy="2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599" name="Line 61"/>
            <p:cNvSpPr>
              <a:spLocks noChangeShapeType="1"/>
            </p:cNvSpPr>
            <p:nvPr/>
          </p:nvSpPr>
          <p:spPr bwMode="auto">
            <a:xfrm flipV="1">
              <a:off x="4060" y="3249"/>
              <a:ext cx="14" cy="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0" name="Line 62"/>
            <p:cNvSpPr>
              <a:spLocks noChangeShapeType="1"/>
            </p:cNvSpPr>
            <p:nvPr/>
          </p:nvSpPr>
          <p:spPr bwMode="auto">
            <a:xfrm flipV="1">
              <a:off x="4074" y="3223"/>
              <a:ext cx="15" cy="2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1" name="Line 63"/>
            <p:cNvSpPr>
              <a:spLocks noChangeShapeType="1"/>
            </p:cNvSpPr>
            <p:nvPr/>
          </p:nvSpPr>
          <p:spPr bwMode="auto">
            <a:xfrm flipV="1">
              <a:off x="4089" y="3191"/>
              <a:ext cx="15" cy="3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2" name="Line 64"/>
            <p:cNvSpPr>
              <a:spLocks noChangeShapeType="1"/>
            </p:cNvSpPr>
            <p:nvPr/>
          </p:nvSpPr>
          <p:spPr bwMode="auto">
            <a:xfrm flipV="1">
              <a:off x="4104" y="3170"/>
              <a:ext cx="14" cy="2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3" name="Line 65"/>
            <p:cNvSpPr>
              <a:spLocks noChangeShapeType="1"/>
            </p:cNvSpPr>
            <p:nvPr/>
          </p:nvSpPr>
          <p:spPr bwMode="auto">
            <a:xfrm>
              <a:off x="4118" y="3170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4" name="Line 66"/>
            <p:cNvSpPr>
              <a:spLocks noChangeShapeType="1"/>
            </p:cNvSpPr>
            <p:nvPr/>
          </p:nvSpPr>
          <p:spPr bwMode="auto">
            <a:xfrm>
              <a:off x="4133" y="3171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5" name="Line 67"/>
            <p:cNvSpPr>
              <a:spLocks noChangeShapeType="1"/>
            </p:cNvSpPr>
            <p:nvPr/>
          </p:nvSpPr>
          <p:spPr bwMode="auto">
            <a:xfrm>
              <a:off x="4148" y="3193"/>
              <a:ext cx="14" cy="2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6" name="Line 68"/>
            <p:cNvSpPr>
              <a:spLocks noChangeShapeType="1"/>
            </p:cNvSpPr>
            <p:nvPr/>
          </p:nvSpPr>
          <p:spPr bwMode="auto">
            <a:xfrm>
              <a:off x="4162" y="3221"/>
              <a:ext cx="15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7" name="Line 69"/>
            <p:cNvSpPr>
              <a:spLocks noChangeShapeType="1"/>
            </p:cNvSpPr>
            <p:nvPr/>
          </p:nvSpPr>
          <p:spPr bwMode="auto">
            <a:xfrm flipV="1">
              <a:off x="4177" y="3239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8" name="Line 70"/>
            <p:cNvSpPr>
              <a:spLocks noChangeShapeType="1"/>
            </p:cNvSpPr>
            <p:nvPr/>
          </p:nvSpPr>
          <p:spPr bwMode="auto">
            <a:xfrm flipV="1">
              <a:off x="4192" y="3221"/>
              <a:ext cx="14" cy="1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09" name="Line 71"/>
            <p:cNvSpPr>
              <a:spLocks noChangeShapeType="1"/>
            </p:cNvSpPr>
            <p:nvPr/>
          </p:nvSpPr>
          <p:spPr bwMode="auto">
            <a:xfrm flipV="1">
              <a:off x="4206" y="3196"/>
              <a:ext cx="15" cy="2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0" name="Line 72"/>
            <p:cNvSpPr>
              <a:spLocks noChangeShapeType="1"/>
            </p:cNvSpPr>
            <p:nvPr/>
          </p:nvSpPr>
          <p:spPr bwMode="auto">
            <a:xfrm flipV="1">
              <a:off x="4221" y="3180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1" name="Line 73"/>
            <p:cNvSpPr>
              <a:spLocks noChangeShapeType="1"/>
            </p:cNvSpPr>
            <p:nvPr/>
          </p:nvSpPr>
          <p:spPr bwMode="auto">
            <a:xfrm>
              <a:off x="4236" y="3180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2" name="Line 74"/>
            <p:cNvSpPr>
              <a:spLocks noChangeShapeType="1"/>
            </p:cNvSpPr>
            <p:nvPr/>
          </p:nvSpPr>
          <p:spPr bwMode="auto">
            <a:xfrm>
              <a:off x="4250" y="3180"/>
              <a:ext cx="15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3" name="Line 75"/>
            <p:cNvSpPr>
              <a:spLocks noChangeShapeType="1"/>
            </p:cNvSpPr>
            <p:nvPr/>
          </p:nvSpPr>
          <p:spPr bwMode="auto">
            <a:xfrm>
              <a:off x="4265" y="3195"/>
              <a:ext cx="15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4" name="Line 76"/>
            <p:cNvSpPr>
              <a:spLocks noChangeShapeType="1"/>
            </p:cNvSpPr>
            <p:nvPr/>
          </p:nvSpPr>
          <p:spPr bwMode="auto">
            <a:xfrm>
              <a:off x="4280" y="3217"/>
              <a:ext cx="14" cy="1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5" name="Line 77"/>
            <p:cNvSpPr>
              <a:spLocks noChangeShapeType="1"/>
            </p:cNvSpPr>
            <p:nvPr/>
          </p:nvSpPr>
          <p:spPr bwMode="auto">
            <a:xfrm>
              <a:off x="4294" y="3232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6" name="Line 78"/>
            <p:cNvSpPr>
              <a:spLocks noChangeShapeType="1"/>
            </p:cNvSpPr>
            <p:nvPr/>
          </p:nvSpPr>
          <p:spPr bwMode="auto">
            <a:xfrm flipV="1">
              <a:off x="4309" y="3219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7" name="Line 79"/>
            <p:cNvSpPr>
              <a:spLocks noChangeShapeType="1"/>
            </p:cNvSpPr>
            <p:nvPr/>
          </p:nvSpPr>
          <p:spPr bwMode="auto">
            <a:xfrm flipV="1">
              <a:off x="4324" y="3200"/>
              <a:ext cx="14" cy="1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8" name="Line 80"/>
            <p:cNvSpPr>
              <a:spLocks noChangeShapeType="1"/>
            </p:cNvSpPr>
            <p:nvPr/>
          </p:nvSpPr>
          <p:spPr bwMode="auto">
            <a:xfrm flipV="1">
              <a:off x="4338" y="3187"/>
              <a:ext cx="15" cy="1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19" name="Line 81"/>
            <p:cNvSpPr>
              <a:spLocks noChangeShapeType="1"/>
            </p:cNvSpPr>
            <p:nvPr/>
          </p:nvSpPr>
          <p:spPr bwMode="auto">
            <a:xfrm flipV="1">
              <a:off x="4353" y="3186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0" name="Line 82"/>
            <p:cNvSpPr>
              <a:spLocks noChangeShapeType="1"/>
            </p:cNvSpPr>
            <p:nvPr/>
          </p:nvSpPr>
          <p:spPr bwMode="auto">
            <a:xfrm>
              <a:off x="4368" y="3186"/>
              <a:ext cx="14" cy="1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1" name="Line 83"/>
            <p:cNvSpPr>
              <a:spLocks noChangeShapeType="1"/>
            </p:cNvSpPr>
            <p:nvPr/>
          </p:nvSpPr>
          <p:spPr bwMode="auto">
            <a:xfrm>
              <a:off x="4382" y="3197"/>
              <a:ext cx="15" cy="1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2" name="Line 84"/>
            <p:cNvSpPr>
              <a:spLocks noChangeShapeType="1"/>
            </p:cNvSpPr>
            <p:nvPr/>
          </p:nvSpPr>
          <p:spPr bwMode="auto">
            <a:xfrm>
              <a:off x="4397" y="3213"/>
              <a:ext cx="14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3" name="Line 85"/>
            <p:cNvSpPr>
              <a:spLocks noChangeShapeType="1"/>
            </p:cNvSpPr>
            <p:nvPr/>
          </p:nvSpPr>
          <p:spPr bwMode="auto">
            <a:xfrm>
              <a:off x="4411" y="3225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4" name="Line 86"/>
            <p:cNvSpPr>
              <a:spLocks noChangeShapeType="1"/>
            </p:cNvSpPr>
            <p:nvPr/>
          </p:nvSpPr>
          <p:spPr bwMode="auto">
            <a:xfrm flipV="1">
              <a:off x="4426" y="3217"/>
              <a:ext cx="15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5" name="Line 87"/>
            <p:cNvSpPr>
              <a:spLocks noChangeShapeType="1"/>
            </p:cNvSpPr>
            <p:nvPr/>
          </p:nvSpPr>
          <p:spPr bwMode="auto">
            <a:xfrm flipV="1">
              <a:off x="4441" y="3203"/>
              <a:ext cx="14" cy="1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6" name="Line 88"/>
            <p:cNvSpPr>
              <a:spLocks noChangeShapeType="1"/>
            </p:cNvSpPr>
            <p:nvPr/>
          </p:nvSpPr>
          <p:spPr bwMode="auto">
            <a:xfrm flipV="1">
              <a:off x="4455" y="3193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7" name="Line 89"/>
            <p:cNvSpPr>
              <a:spLocks noChangeShapeType="1"/>
            </p:cNvSpPr>
            <p:nvPr/>
          </p:nvSpPr>
          <p:spPr bwMode="auto">
            <a:xfrm flipV="1">
              <a:off x="4470" y="3191"/>
              <a:ext cx="15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8" name="Line 90"/>
            <p:cNvSpPr>
              <a:spLocks noChangeShapeType="1"/>
            </p:cNvSpPr>
            <p:nvPr/>
          </p:nvSpPr>
          <p:spPr bwMode="auto">
            <a:xfrm>
              <a:off x="4485" y="3191"/>
              <a:ext cx="14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29" name="Line 91"/>
            <p:cNvSpPr>
              <a:spLocks noChangeShapeType="1"/>
            </p:cNvSpPr>
            <p:nvPr/>
          </p:nvSpPr>
          <p:spPr bwMode="auto">
            <a:xfrm>
              <a:off x="4499" y="3199"/>
              <a:ext cx="15" cy="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0" name="Line 92"/>
            <p:cNvSpPr>
              <a:spLocks noChangeShapeType="1"/>
            </p:cNvSpPr>
            <p:nvPr/>
          </p:nvSpPr>
          <p:spPr bwMode="auto">
            <a:xfrm>
              <a:off x="4514" y="3211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1" name="Line 93"/>
            <p:cNvSpPr>
              <a:spLocks noChangeShapeType="1"/>
            </p:cNvSpPr>
            <p:nvPr/>
          </p:nvSpPr>
          <p:spPr bwMode="auto">
            <a:xfrm>
              <a:off x="4529" y="3221"/>
              <a:ext cx="14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2" name="Line 94"/>
            <p:cNvSpPr>
              <a:spLocks noChangeShapeType="1"/>
            </p:cNvSpPr>
            <p:nvPr/>
          </p:nvSpPr>
          <p:spPr bwMode="auto">
            <a:xfrm flipV="1">
              <a:off x="4543" y="3215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3" name="Line 95"/>
            <p:cNvSpPr>
              <a:spLocks noChangeShapeType="1"/>
            </p:cNvSpPr>
            <p:nvPr/>
          </p:nvSpPr>
          <p:spPr bwMode="auto">
            <a:xfrm flipV="1">
              <a:off x="4558" y="3205"/>
              <a:ext cx="15" cy="1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4" name="Line 96"/>
            <p:cNvSpPr>
              <a:spLocks noChangeShapeType="1"/>
            </p:cNvSpPr>
            <p:nvPr/>
          </p:nvSpPr>
          <p:spPr bwMode="auto">
            <a:xfrm flipV="1">
              <a:off x="4573" y="3197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5" name="Line 97"/>
            <p:cNvSpPr>
              <a:spLocks noChangeShapeType="1"/>
            </p:cNvSpPr>
            <p:nvPr/>
          </p:nvSpPr>
          <p:spPr bwMode="auto">
            <a:xfrm flipV="1">
              <a:off x="4588" y="3195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6" name="Line 98"/>
            <p:cNvSpPr>
              <a:spLocks noChangeShapeType="1"/>
            </p:cNvSpPr>
            <p:nvPr/>
          </p:nvSpPr>
          <p:spPr bwMode="auto">
            <a:xfrm>
              <a:off x="4602" y="3195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7" name="Line 99"/>
            <p:cNvSpPr>
              <a:spLocks noChangeShapeType="1"/>
            </p:cNvSpPr>
            <p:nvPr/>
          </p:nvSpPr>
          <p:spPr bwMode="auto">
            <a:xfrm>
              <a:off x="4617" y="3201"/>
              <a:ext cx="14" cy="9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8" name="Line 100"/>
            <p:cNvSpPr>
              <a:spLocks noChangeShapeType="1"/>
            </p:cNvSpPr>
            <p:nvPr/>
          </p:nvSpPr>
          <p:spPr bwMode="auto">
            <a:xfrm>
              <a:off x="4631" y="3210"/>
              <a:ext cx="15" cy="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39" name="Line 101"/>
            <p:cNvSpPr>
              <a:spLocks noChangeShapeType="1"/>
            </p:cNvSpPr>
            <p:nvPr/>
          </p:nvSpPr>
          <p:spPr bwMode="auto">
            <a:xfrm>
              <a:off x="4646" y="3217"/>
              <a:ext cx="15" cy="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0" name="Line 102"/>
            <p:cNvSpPr>
              <a:spLocks noChangeShapeType="1"/>
            </p:cNvSpPr>
            <p:nvPr/>
          </p:nvSpPr>
          <p:spPr bwMode="auto">
            <a:xfrm flipV="1">
              <a:off x="4661" y="3214"/>
              <a:ext cx="14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1" name="Line 103"/>
            <p:cNvSpPr>
              <a:spLocks noChangeShapeType="1"/>
            </p:cNvSpPr>
            <p:nvPr/>
          </p:nvSpPr>
          <p:spPr bwMode="auto">
            <a:xfrm flipV="1">
              <a:off x="4675" y="3206"/>
              <a:ext cx="15" cy="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2" name="Line 104"/>
            <p:cNvSpPr>
              <a:spLocks noChangeShapeType="1"/>
            </p:cNvSpPr>
            <p:nvPr/>
          </p:nvSpPr>
          <p:spPr bwMode="auto">
            <a:xfrm flipV="1">
              <a:off x="4690" y="3200"/>
              <a:ext cx="15" cy="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3" name="Line 105"/>
            <p:cNvSpPr>
              <a:spLocks noChangeShapeType="1"/>
            </p:cNvSpPr>
            <p:nvPr/>
          </p:nvSpPr>
          <p:spPr bwMode="auto">
            <a:xfrm flipV="1">
              <a:off x="4705" y="3198"/>
              <a:ext cx="14" cy="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4" name="Line 106"/>
            <p:cNvSpPr>
              <a:spLocks noChangeShapeType="1"/>
            </p:cNvSpPr>
            <p:nvPr/>
          </p:nvSpPr>
          <p:spPr bwMode="auto">
            <a:xfrm>
              <a:off x="4719" y="3198"/>
              <a:ext cx="15" cy="4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49645" name="Line 107"/>
            <p:cNvSpPr>
              <a:spLocks noChangeShapeType="1"/>
            </p:cNvSpPr>
            <p:nvPr/>
          </p:nvSpPr>
          <p:spPr bwMode="auto">
            <a:xfrm>
              <a:off x="4908" y="1075"/>
              <a:ext cx="49" cy="2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6518" y="1445353"/>
            <a:ext cx="3873869" cy="15550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26376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D3EA37E-DA09-486C-90EE-A2D9FE45A502}" type="slidenum">
              <a:rPr lang="en-US" smtClean="0"/>
              <a:pPr eaLnBrk="1" hangingPunct="1"/>
              <a:t>27</a:t>
            </a:fld>
            <a:endParaRPr lang="en-US"/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Add a frictional force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 dirty="0"/>
              <a:t>Suppose we add in a force that is proportional to the velocity </a:t>
            </a:r>
          </a:p>
          <a:p>
            <a:pPr eaLnBrk="1" hangingPunct="1"/>
            <a:endParaRPr lang="en-US" sz="2400" dirty="0"/>
          </a:p>
          <a:p>
            <a:pPr lvl="1" eaLnBrk="1" hangingPunct="1"/>
            <a:r>
              <a:rPr lang="en-US" sz="2000" dirty="0"/>
              <a:t>Viscosity follows this pattern</a:t>
            </a:r>
          </a:p>
          <a:p>
            <a:pPr lvl="1" eaLnBrk="1" hangingPunct="1"/>
            <a:r>
              <a:rPr lang="en-US" sz="2000" dirty="0"/>
              <a:t>b is the damping coefficient</a:t>
            </a:r>
          </a:p>
          <a:p>
            <a:pPr eaLnBrk="1" hangingPunct="1"/>
            <a:r>
              <a:rPr lang="en-US" sz="2400" dirty="0"/>
              <a:t>Newton’s 2</a:t>
            </a:r>
            <a:r>
              <a:rPr lang="en-US" sz="2400" baseline="30000" dirty="0"/>
              <a:t>nd</a:t>
            </a:r>
            <a:r>
              <a:rPr lang="en-US" sz="2400" dirty="0"/>
              <a:t> law gives</a:t>
            </a:r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000" dirty="0"/>
              <a:t>This is another differential equation. It is harder to guess its solution</a:t>
            </a:r>
          </a:p>
        </p:txBody>
      </p:sp>
      <p:graphicFrame>
        <p:nvGraphicFramePr>
          <p:cNvPr id="12293" name="Object 4"/>
          <p:cNvGraphicFramePr>
            <a:graphicFrameLocks noChangeAspect="1"/>
          </p:cNvGraphicFramePr>
          <p:nvPr/>
        </p:nvGraphicFramePr>
        <p:xfrm>
          <a:off x="5414963" y="2168526"/>
          <a:ext cx="132556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229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4963" y="2168526"/>
                        <a:ext cx="1325562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4" name="Rectangle 5"/>
          <p:cNvSpPr>
            <a:spLocks noChangeArrowheads="1"/>
          </p:cNvSpPr>
          <p:nvPr/>
        </p:nvSpPr>
        <p:spPr bwMode="auto">
          <a:xfrm>
            <a:off x="1524001" y="30300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2295" name="Object 6"/>
          <p:cNvGraphicFramePr>
            <a:graphicFrameLocks noChangeAspect="1"/>
          </p:cNvGraphicFramePr>
          <p:nvPr/>
        </p:nvGraphicFramePr>
        <p:xfrm>
          <a:off x="4983164" y="4287839"/>
          <a:ext cx="2308225" cy="403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08100" imgH="228600" progId="Equation.3">
                  <p:embed/>
                </p:oleObj>
              </mc:Choice>
              <mc:Fallback>
                <p:oleObj name="Equation" r:id="rId4" imgW="1308100" imgH="228600" progId="Equation.3">
                  <p:embed/>
                  <p:pic>
                    <p:nvPicPr>
                      <p:cNvPr id="1229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3164" y="4287839"/>
                        <a:ext cx="2308225" cy="403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96" name="Object 7"/>
          <p:cNvGraphicFramePr>
            <a:graphicFrameLocks noChangeAspect="1"/>
          </p:cNvGraphicFramePr>
          <p:nvPr/>
        </p:nvGraphicFramePr>
        <p:xfrm>
          <a:off x="5095875" y="4857751"/>
          <a:ext cx="2076450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31366" imgH="418918" progId="Equation.3">
                  <p:embed/>
                </p:oleObj>
              </mc:Choice>
              <mc:Fallback>
                <p:oleObj name="Equation" r:id="rId6" imgW="1231366" imgH="418918" progId="Equation.3">
                  <p:embed/>
                  <p:pic>
                    <p:nvPicPr>
                      <p:cNvPr id="1229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5875" y="4857751"/>
                        <a:ext cx="2076450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BBAFF6C0-BFC6-4A3E-9051-5B5198941E76}" type="slidenum">
              <a:rPr lang="en-US" smtClean="0"/>
              <a:pPr eaLnBrk="1" hangingPunct="1"/>
              <a:t>28</a:t>
            </a:fld>
            <a:endParaRPr lang="en-US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Solution</a:t>
            </a:r>
          </a:p>
        </p:txBody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pPr marL="623888" indent="-319088"/>
            <a:endParaRPr lang="en-US" sz="1800" dirty="0"/>
          </a:p>
          <a:p>
            <a:pPr marL="623888" indent="-319088"/>
            <a:endParaRPr lang="en-US" sz="1800" dirty="0"/>
          </a:p>
          <a:p>
            <a:pPr marL="623888" indent="-319088"/>
            <a:r>
              <a:rPr lang="en-US" sz="1800" dirty="0"/>
              <a:t>Where</a:t>
            </a:r>
          </a:p>
          <a:p>
            <a:pPr marL="623888" indent="-319088"/>
            <a:endParaRPr lang="en-US" sz="1800" dirty="0"/>
          </a:p>
          <a:p>
            <a:pPr marL="623888" indent="-319088"/>
            <a:endParaRPr lang="en-US" sz="1800" dirty="0"/>
          </a:p>
          <a:p>
            <a:pPr marL="623888" indent="-319088"/>
            <a:r>
              <a:rPr lang="en-US" sz="1800" dirty="0"/>
              <a:t>Three Cases</a:t>
            </a:r>
          </a:p>
          <a:p>
            <a:pPr marL="971550" lvl="1" indent="-234950">
              <a:buNone/>
            </a:pPr>
            <a:r>
              <a:rPr lang="en-US" sz="1800" dirty="0"/>
              <a:t>1.  The retarding force is small: (</a:t>
            </a:r>
            <a:r>
              <a:rPr lang="en-US" sz="1800" dirty="0" err="1"/>
              <a:t>bv</a:t>
            </a:r>
            <a:r>
              <a:rPr lang="en-US" sz="1800" baseline="-25000" dirty="0" err="1"/>
              <a:t>max</a:t>
            </a:r>
            <a:r>
              <a:rPr lang="en-US" sz="1800" dirty="0"/>
              <a:t>&lt; kA), the system oscillates, but the amplitude is smaller as </a:t>
            </a:r>
            <a:r>
              <a:rPr lang="en-US" sz="1800" dirty="0" err="1"/>
              <a:t>as</a:t>
            </a:r>
            <a:r>
              <a:rPr lang="en-US" sz="1800" dirty="0"/>
              <a:t> time goes on. We call this "underdamped“</a:t>
            </a:r>
          </a:p>
          <a:p>
            <a:pPr marL="914400" lvl="1" indent="-176213">
              <a:buFontTx/>
              <a:buAutoNum type="arabicPeriod"/>
            </a:pPr>
            <a:endParaRPr lang="en-US" sz="1800" dirty="0"/>
          </a:p>
          <a:p>
            <a:pPr marL="1027113" lvl="1" indent="-290513">
              <a:buNone/>
            </a:pPr>
            <a:r>
              <a:rPr lang="en-US" sz="1800" dirty="0"/>
              <a:t> 2. The retarding force is large: (</a:t>
            </a:r>
            <a:r>
              <a:rPr lang="en-US" sz="1800" dirty="0" err="1"/>
              <a:t>bv</a:t>
            </a:r>
            <a:r>
              <a:rPr lang="en-US" sz="1800" baseline="-25000" dirty="0" err="1"/>
              <a:t>max</a:t>
            </a:r>
            <a:r>
              <a:rPr lang="en-US" sz="1800" dirty="0"/>
              <a:t>&gt; kA), The system does not oscillate. we call this "overdamped." We can also say that             </a:t>
            </a:r>
          </a:p>
          <a:p>
            <a:pPr marL="738187" lvl="1" indent="0">
              <a:buNone/>
            </a:pPr>
            <a:r>
              <a:rPr lang="en-US" sz="1800" dirty="0"/>
              <a:t>     </a:t>
            </a:r>
          </a:p>
          <a:p>
            <a:pPr marL="738187" lvl="1" indent="0">
              <a:buNone/>
            </a:pPr>
            <a:endParaRPr lang="en-US" sz="1800" dirty="0"/>
          </a:p>
          <a:p>
            <a:pPr marL="738187" lvl="1" indent="0">
              <a:buNone/>
            </a:pPr>
            <a:endParaRPr lang="en-US" sz="1800" dirty="0"/>
          </a:p>
          <a:p>
            <a:pPr marL="738187" lvl="1" indent="0">
              <a:buNone/>
            </a:pPr>
            <a:r>
              <a:rPr lang="en-US" sz="1800" dirty="0"/>
              <a:t>       (after we define </a:t>
            </a:r>
            <a:r>
              <a:rPr lang="en-US" sz="1800" dirty="0">
                <a:sym typeface="Symbol" pitchFamily="18" charset="2"/>
              </a:rPr>
              <a:t></a:t>
            </a:r>
            <a:r>
              <a:rPr lang="en-US" sz="1800" baseline="-25000" dirty="0">
                <a:sym typeface="Symbol" pitchFamily="18" charset="2"/>
              </a:rPr>
              <a:t>N</a:t>
            </a:r>
            <a:r>
              <a:rPr lang="en-US" sz="1800" dirty="0"/>
              <a:t> below)</a:t>
            </a:r>
          </a:p>
          <a:p>
            <a:pPr marL="914400" lvl="1" indent="-176213">
              <a:buFontTx/>
              <a:buAutoNum type="arabicPeriod"/>
            </a:pPr>
            <a:endParaRPr lang="en-US" sz="1800" dirty="0"/>
          </a:p>
          <a:p>
            <a:pPr marL="738187" lvl="1" indent="0">
              <a:buNone/>
            </a:pPr>
            <a:r>
              <a:rPr lang="en-US" sz="1800" dirty="0"/>
              <a:t>3.  Case The system is critically damped (see below)</a:t>
            </a:r>
          </a:p>
        </p:txBody>
      </p:sp>
      <p:sp>
        <p:nvSpPr>
          <p:cNvPr id="13317" name="Rectangle 4"/>
          <p:cNvSpPr>
            <a:spLocks noChangeArrowheads="1"/>
          </p:cNvSpPr>
          <p:nvPr/>
        </p:nvSpPr>
        <p:spPr bwMode="auto">
          <a:xfrm>
            <a:off x="1524001" y="31109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41392713"/>
              </p:ext>
            </p:extLst>
          </p:nvPr>
        </p:nvGraphicFramePr>
        <p:xfrm>
          <a:off x="4713464" y="1317991"/>
          <a:ext cx="34163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300" imgH="254000" progId="Equation.3">
                  <p:embed/>
                </p:oleObj>
              </mc:Choice>
              <mc:Fallback>
                <p:oleObj name="Equation" r:id="rId2" imgW="1511300" imgH="254000" progId="Equation.3">
                  <p:embed/>
                  <p:pic>
                    <p:nvPicPr>
                      <p:cNvPr id="1331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3464" y="1317991"/>
                        <a:ext cx="34163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9" name="Rectangle 6"/>
          <p:cNvSpPr>
            <a:spLocks noChangeArrowheads="1"/>
          </p:cNvSpPr>
          <p:nvPr/>
        </p:nvSpPr>
        <p:spPr bwMode="auto">
          <a:xfrm>
            <a:off x="1524001" y="29157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20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676412"/>
              </p:ext>
            </p:extLst>
          </p:nvPr>
        </p:nvGraphicFramePr>
        <p:xfrm>
          <a:off x="5181394" y="2147899"/>
          <a:ext cx="2180883" cy="9913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600" imgH="508000" progId="Equation.3">
                  <p:embed/>
                </p:oleObj>
              </mc:Choice>
              <mc:Fallback>
                <p:oleObj name="Equation" r:id="rId4" imgW="1117600" imgH="508000" progId="Equation.3">
                  <p:embed/>
                  <p:pic>
                    <p:nvPicPr>
                      <p:cNvPr id="1332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81394" y="2147899"/>
                        <a:ext cx="2180883" cy="9913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3322" name="Rectangle 9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23" name="Object 10"/>
              <p:cNvSpPr txBox="1"/>
              <p:nvPr/>
            </p:nvSpPr>
            <p:spPr bwMode="auto">
              <a:xfrm>
                <a:off x="5395883" y="5027966"/>
                <a:ext cx="1614517" cy="684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323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883" y="5027966"/>
                <a:ext cx="1614517" cy="6842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67DC86-CDBF-48D9-9AD0-548D7DE74646}" type="slidenum">
              <a:rPr lang="en-US" smtClean="0"/>
              <a:pPr eaLnBrk="1" hangingPunct="1"/>
              <a:t>29</a:t>
            </a:fld>
            <a:endParaRPr lang="en-US"/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461001"/>
            <a:ext cx="8229600" cy="6651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The gray lines are the “envelope” function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800"/>
              <a:t>They describe how the amplitude changes </a:t>
            </a:r>
          </a:p>
        </p:txBody>
      </p:sp>
      <p:sp>
        <p:nvSpPr>
          <p:cNvPr id="14341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4342" name="Object 5"/>
          <p:cNvGraphicFramePr>
            <a:graphicFrameLocks noChangeAspect="1"/>
          </p:cNvGraphicFramePr>
          <p:nvPr/>
        </p:nvGraphicFramePr>
        <p:xfrm>
          <a:off x="8984342" y="2695576"/>
          <a:ext cx="1239838" cy="146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888840" progId="Equation.3">
                  <p:embed/>
                </p:oleObj>
              </mc:Choice>
              <mc:Fallback>
                <p:oleObj name="Equation" r:id="rId2" imgW="749160" imgH="888840" progId="Equation.3">
                  <p:embed/>
                  <p:pic>
                    <p:nvPicPr>
                      <p:cNvPr id="1434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84342" y="2695576"/>
                        <a:ext cx="1239838" cy="146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4" name="Rectangle 7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4348" name="Picture 1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035" y="1675606"/>
            <a:ext cx="5069613" cy="337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434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8029885"/>
              </p:ext>
            </p:extLst>
          </p:nvPr>
        </p:nvGraphicFramePr>
        <p:xfrm>
          <a:off x="5935909" y="2712546"/>
          <a:ext cx="784406" cy="3353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533169" imgH="228501" progId="Equation.3">
                  <p:embed/>
                </p:oleObj>
              </mc:Choice>
              <mc:Fallback>
                <p:oleObj name="Equation" r:id="rId5" imgW="533169" imgH="228501" progId="Equation.3">
                  <p:embed/>
                  <p:pic>
                    <p:nvPicPr>
                      <p:cNvPr id="1434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35909" y="2712546"/>
                        <a:ext cx="784406" cy="33538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7037BBD-20C6-410B-AF93-FC1C4090023F}" type="slidenum">
              <a:rPr lang="en-US" smtClean="0"/>
              <a:pPr eaLnBrk="1" hangingPunct="1"/>
              <a:t>30</a:t>
            </a:fld>
            <a:endParaRPr lang="en-US"/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Larger b-value</a:t>
            </a:r>
          </a:p>
        </p:txBody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5257801"/>
            <a:ext cx="8229600" cy="868363"/>
          </a:xfrm>
        </p:spPr>
        <p:txBody>
          <a:bodyPr/>
          <a:lstStyle/>
          <a:p>
            <a:pPr eaLnBrk="1" hangingPunct="1"/>
            <a:endParaRPr lang="en-US"/>
          </a:p>
        </p:txBody>
      </p:sp>
      <p:graphicFrame>
        <p:nvGraphicFramePr>
          <p:cNvPr id="15365" name="Object 4"/>
          <p:cNvGraphicFramePr>
            <a:graphicFrameLocks noChangeAspect="1"/>
          </p:cNvGraphicFramePr>
          <p:nvPr/>
        </p:nvGraphicFramePr>
        <p:xfrm>
          <a:off x="8650515" y="2235200"/>
          <a:ext cx="1397261" cy="18464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40" imgH="888840" progId="Equation.3">
                  <p:embed/>
                </p:oleObj>
              </mc:Choice>
              <mc:Fallback>
                <p:oleObj name="Equation" r:id="rId2" imgW="672840" imgH="888840" progId="Equation.3">
                  <p:embed/>
                  <p:pic>
                    <p:nvPicPr>
                      <p:cNvPr id="1536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0515" y="2235200"/>
                        <a:ext cx="1397261" cy="18464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6" name="Rectangle 5"/>
          <p:cNvSpPr>
            <a:spLocks noChangeArrowheads="1"/>
          </p:cNvSpPr>
          <p:nvPr/>
        </p:nvSpPr>
        <p:spPr bwMode="auto">
          <a:xfrm>
            <a:off x="1524001" y="25109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pic>
        <p:nvPicPr>
          <p:cNvPr id="1536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722" y="1675606"/>
            <a:ext cx="5015365" cy="33392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96" name="Picture 1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492" y="1475808"/>
            <a:ext cx="5087937" cy="33875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3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B00A7DE-2A5E-4EEE-98AD-2A705FD0414C}" type="slidenum">
              <a:rPr lang="en-US" smtClean="0"/>
              <a:pPr eaLnBrk="1" hangingPunct="1"/>
              <a:t>31</a:t>
            </a:fld>
            <a:endParaRPr lang="en-US"/>
          </a:p>
        </p:txBody>
      </p:sp>
      <p:sp>
        <p:nvSpPr>
          <p:cNvPr id="16388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Even Larger b-value</a:t>
            </a:r>
          </a:p>
        </p:txBody>
      </p:sp>
      <p:sp>
        <p:nvSpPr>
          <p:cNvPr id="1638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06914" y="5127625"/>
            <a:ext cx="5703887" cy="998538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Oscillation has stopped,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Only the exponential decay is observed. </a:t>
            </a:r>
          </a:p>
          <a:p>
            <a:pPr eaLnBrk="1" hangingPunct="1">
              <a:lnSpc>
                <a:spcPct val="80000"/>
              </a:lnSpc>
            </a:pPr>
            <a:r>
              <a:rPr lang="en-US" sz="2000"/>
              <a:t>we are critically damped</a:t>
            </a:r>
          </a:p>
        </p:txBody>
      </p:sp>
      <p:graphicFrame>
        <p:nvGraphicFramePr>
          <p:cNvPr id="16390" name="Object 8"/>
          <p:cNvGraphicFramePr>
            <a:graphicFrameLocks noChangeAspect="1"/>
          </p:cNvGraphicFramePr>
          <p:nvPr/>
        </p:nvGraphicFramePr>
        <p:xfrm>
          <a:off x="8555015" y="2152923"/>
          <a:ext cx="1372757" cy="20852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83947" imgH="888614" progId="Equation.3">
                  <p:embed/>
                </p:oleObj>
              </mc:Choice>
              <mc:Fallback>
                <p:oleObj name="Equation" r:id="rId3" imgW="583947" imgH="888614" progId="Equation.3">
                  <p:embed/>
                  <p:pic>
                    <p:nvPicPr>
                      <p:cNvPr id="1639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5015" y="2152923"/>
                        <a:ext cx="1372757" cy="208524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1" name="Text Box 9"/>
          <p:cNvSpPr txBox="1">
            <a:spLocks noChangeArrowheads="1"/>
          </p:cNvSpPr>
          <p:nvPr/>
        </p:nvSpPr>
        <p:spPr bwMode="auto">
          <a:xfrm>
            <a:off x="4778375" y="3521076"/>
            <a:ext cx="2228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/>
              <a:t>Note Scale Change!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D89E-FF49-969A-86F6-24ECF1F846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Forced Oscillations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4C4342-61EE-C979-8025-32861DABD6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314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875735" y="1918693"/>
            <a:ext cx="440531" cy="3020615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0093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585" name="Group 14"/>
          <p:cNvGrpSpPr>
            <a:grpSpLocks/>
          </p:cNvGrpSpPr>
          <p:nvPr/>
        </p:nvGrpSpPr>
        <p:grpSpPr bwMode="auto">
          <a:xfrm>
            <a:off x="5835256" y="1920481"/>
            <a:ext cx="440531" cy="3020615"/>
            <a:chOff x="4109150" y="685800"/>
            <a:chExt cx="587050" cy="4029020"/>
          </a:xfrm>
        </p:grpSpPr>
        <p:sp>
          <p:nvSpPr>
            <p:cNvPr id="451611" name="Oval 24"/>
            <p:cNvSpPr>
              <a:spLocks noChangeArrowheads="1"/>
            </p:cNvSpPr>
            <p:nvPr/>
          </p:nvSpPr>
          <p:spPr bwMode="auto">
            <a:xfrm flipH="1">
              <a:off x="4208163" y="3359248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2" name="Oval 25"/>
            <p:cNvSpPr>
              <a:spLocks noChangeArrowheads="1"/>
            </p:cNvSpPr>
            <p:nvPr/>
          </p:nvSpPr>
          <p:spPr bwMode="auto">
            <a:xfrm rot="20910997" flipH="1">
              <a:off x="4332092" y="364144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3" name="Rectangle 26"/>
            <p:cNvSpPr>
              <a:spLocks noChangeArrowheads="1"/>
            </p:cNvSpPr>
            <p:nvPr/>
          </p:nvSpPr>
          <p:spPr bwMode="auto">
            <a:xfrm rot="13943080" flipH="1">
              <a:off x="4331051" y="3821497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4" name="Rectangle 27"/>
            <p:cNvSpPr>
              <a:spLocks noChangeArrowheads="1"/>
            </p:cNvSpPr>
            <p:nvPr/>
          </p:nvSpPr>
          <p:spPr bwMode="auto">
            <a:xfrm rot="2837193" flipH="1">
              <a:off x="4500879" y="3906585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5" name="Rectangle 28"/>
            <p:cNvSpPr>
              <a:spLocks noChangeArrowheads="1"/>
            </p:cNvSpPr>
            <p:nvPr/>
          </p:nvSpPr>
          <p:spPr bwMode="auto">
            <a:xfrm rot="5400000" flipH="1">
              <a:off x="4293870" y="409978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6" name="Rectangle 29"/>
            <p:cNvSpPr>
              <a:spLocks noChangeArrowheads="1"/>
            </p:cNvSpPr>
            <p:nvPr/>
          </p:nvSpPr>
          <p:spPr bwMode="auto">
            <a:xfrm rot="20498368" flipH="1">
              <a:off x="4160704" y="4280920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17" name="Rectangle 30"/>
            <p:cNvSpPr>
              <a:spLocks noChangeArrowheads="1"/>
            </p:cNvSpPr>
            <p:nvPr/>
          </p:nvSpPr>
          <p:spPr bwMode="auto">
            <a:xfrm flipH="1">
              <a:off x="4109150" y="4628761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10" name="Oval 9"/>
            <p:cNvSpPr/>
            <p:nvPr/>
          </p:nvSpPr>
          <p:spPr>
            <a:xfrm>
              <a:off x="4326517" y="685800"/>
              <a:ext cx="228474" cy="24456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96414" y="4343204"/>
              <a:ext cx="490267" cy="4605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cxnSp>
          <p:nvCxnSpPr>
            <p:cNvPr id="13" name="Straight Connector 12"/>
            <p:cNvCxnSpPr>
              <a:stCxn id="10" idx="4"/>
              <a:endCxn id="11" idx="0"/>
            </p:cNvCxnSpPr>
            <p:nvPr/>
          </p:nvCxnSpPr>
          <p:spPr>
            <a:xfrm rot="5400000">
              <a:off x="2735129" y="2637580"/>
              <a:ext cx="3412837" cy="15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6" name="Group 38"/>
          <p:cNvGrpSpPr>
            <a:grpSpLocks/>
          </p:cNvGrpSpPr>
          <p:nvPr/>
        </p:nvGrpSpPr>
        <p:grpSpPr bwMode="auto">
          <a:xfrm>
            <a:off x="3724277" y="1921670"/>
            <a:ext cx="2603897" cy="2064544"/>
            <a:chOff x="1294213" y="687386"/>
            <a:chExt cx="3472125" cy="2754068"/>
          </a:xfrm>
        </p:grpSpPr>
        <p:sp>
          <p:nvSpPr>
            <p:cNvPr id="451601" name="Oval 24"/>
            <p:cNvSpPr>
              <a:spLocks noChangeArrowheads="1"/>
            </p:cNvSpPr>
            <p:nvPr/>
          </p:nvSpPr>
          <p:spPr bwMode="auto">
            <a:xfrm rot="5044366" flipH="1">
              <a:off x="2410832" y="3148736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2" name="Oval 25"/>
            <p:cNvSpPr>
              <a:spLocks noChangeArrowheads="1"/>
            </p:cNvSpPr>
            <p:nvPr/>
          </p:nvSpPr>
          <p:spPr bwMode="auto">
            <a:xfrm rot="7043353" flipH="1">
              <a:off x="1996165" y="2886031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3" name="Rectangle 26"/>
            <p:cNvSpPr>
              <a:spLocks noChangeArrowheads="1"/>
            </p:cNvSpPr>
            <p:nvPr/>
          </p:nvSpPr>
          <p:spPr bwMode="auto">
            <a:xfrm rot="15360949" flipH="1">
              <a:off x="2094487" y="3154625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4" name="Rectangle 27"/>
            <p:cNvSpPr>
              <a:spLocks noChangeArrowheads="1"/>
            </p:cNvSpPr>
            <p:nvPr/>
          </p:nvSpPr>
          <p:spPr bwMode="auto">
            <a:xfrm rot="10800000" flipH="1">
              <a:off x="2207501" y="2722719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5" name="Rectangle 28"/>
            <p:cNvSpPr>
              <a:spLocks noChangeArrowheads="1"/>
            </p:cNvSpPr>
            <p:nvPr/>
          </p:nvSpPr>
          <p:spPr bwMode="auto">
            <a:xfrm rot="8325364" flipH="1">
              <a:off x="1693911" y="282985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6" name="Rectangle 29"/>
            <p:cNvSpPr>
              <a:spLocks noChangeArrowheads="1"/>
            </p:cNvSpPr>
            <p:nvPr/>
          </p:nvSpPr>
          <p:spPr bwMode="auto">
            <a:xfrm rot="7158656" flipH="1">
              <a:off x="1446110" y="2622926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607" name="Rectangle 30"/>
            <p:cNvSpPr>
              <a:spLocks noChangeArrowheads="1"/>
            </p:cNvSpPr>
            <p:nvPr/>
          </p:nvSpPr>
          <p:spPr bwMode="auto">
            <a:xfrm rot="5692513" flipH="1">
              <a:off x="1244852" y="2632588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24" name="Oval 23"/>
            <p:cNvSpPr/>
            <p:nvPr/>
          </p:nvSpPr>
          <p:spPr>
            <a:xfrm rot="2925364">
              <a:off x="4321757" y="679495"/>
              <a:ext cx="228712" cy="24449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sp>
          <p:nvSpPr>
            <p:cNvPr id="25" name="Rectangle 24"/>
            <p:cNvSpPr/>
            <p:nvPr/>
          </p:nvSpPr>
          <p:spPr>
            <a:xfrm rot="2925364">
              <a:off x="1515586" y="3124603"/>
              <a:ext cx="489189" cy="4604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cxnSp>
          <p:nvCxnSpPr>
            <p:cNvPr id="26" name="Straight Connector 25"/>
            <p:cNvCxnSpPr>
              <a:stCxn id="24" idx="4"/>
              <a:endCxn id="25" idx="0"/>
            </p:cNvCxnSpPr>
            <p:nvPr/>
          </p:nvCxnSpPr>
          <p:spPr>
            <a:xfrm rot="8325364">
              <a:off x="1352955" y="2007243"/>
              <a:ext cx="3413383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1587" name="Group 37"/>
          <p:cNvGrpSpPr>
            <a:grpSpLocks/>
          </p:cNvGrpSpPr>
          <p:nvPr/>
        </p:nvGrpSpPr>
        <p:grpSpPr bwMode="auto">
          <a:xfrm>
            <a:off x="5999560" y="1750219"/>
            <a:ext cx="2065734" cy="2558654"/>
            <a:chOff x="4327945" y="459098"/>
            <a:chExt cx="2754161" cy="3412671"/>
          </a:xfrm>
        </p:grpSpPr>
        <p:sp>
          <p:nvSpPr>
            <p:cNvPr id="451591" name="Oval 24"/>
            <p:cNvSpPr>
              <a:spLocks noChangeArrowheads="1"/>
            </p:cNvSpPr>
            <p:nvPr/>
          </p:nvSpPr>
          <p:spPr bwMode="auto">
            <a:xfrm rot="16859242" flipH="1">
              <a:off x="5997394" y="2895763"/>
              <a:ext cx="256738" cy="328698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2" name="Oval 25"/>
            <p:cNvSpPr>
              <a:spLocks noChangeArrowheads="1"/>
            </p:cNvSpPr>
            <p:nvPr/>
          </p:nvSpPr>
          <p:spPr bwMode="auto">
            <a:xfrm rot="17505451" flipH="1">
              <a:off x="6445854" y="2863372"/>
              <a:ext cx="216825" cy="709987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3" name="Rectangle 26"/>
            <p:cNvSpPr>
              <a:spLocks noChangeArrowheads="1"/>
            </p:cNvSpPr>
            <p:nvPr/>
          </p:nvSpPr>
          <p:spPr bwMode="auto">
            <a:xfrm rot="9331264" flipH="1">
              <a:off x="6257543" y="2985446"/>
              <a:ext cx="396048" cy="81321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4" name="Rectangle 27"/>
            <p:cNvSpPr>
              <a:spLocks noChangeArrowheads="1"/>
            </p:cNvSpPr>
            <p:nvPr/>
          </p:nvSpPr>
          <p:spPr bwMode="auto">
            <a:xfrm rot="298725" flipH="1">
              <a:off x="6571175" y="2917922"/>
              <a:ext cx="78887" cy="311754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5" name="Rectangle 28"/>
            <p:cNvSpPr>
              <a:spLocks noChangeArrowheads="1"/>
            </p:cNvSpPr>
            <p:nvPr/>
          </p:nvSpPr>
          <p:spPr bwMode="auto">
            <a:xfrm rot="2861532" flipH="1">
              <a:off x="6671894" y="3258977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6" name="Rectangle 29"/>
            <p:cNvSpPr>
              <a:spLocks noChangeArrowheads="1"/>
            </p:cNvSpPr>
            <p:nvPr/>
          </p:nvSpPr>
          <p:spPr bwMode="auto">
            <a:xfrm rot="17014843" flipH="1">
              <a:off x="6681049" y="3453995"/>
              <a:ext cx="101401" cy="405195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451597" name="Rectangle 30"/>
            <p:cNvSpPr>
              <a:spLocks noChangeArrowheads="1"/>
            </p:cNvSpPr>
            <p:nvPr/>
          </p:nvSpPr>
          <p:spPr bwMode="auto">
            <a:xfrm rot="19061532" flipH="1">
              <a:off x="6738795" y="3707969"/>
              <a:ext cx="210353" cy="8605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350" dirty="0"/>
            </a:p>
          </p:txBody>
        </p:sp>
        <p:sp>
          <p:nvSpPr>
            <p:cNvPr id="35" name="Oval 34"/>
            <p:cNvSpPr/>
            <p:nvPr/>
          </p:nvSpPr>
          <p:spPr>
            <a:xfrm rot="19061532">
              <a:off x="4327945" y="689362"/>
              <a:ext cx="228587" cy="246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sp>
          <p:nvSpPr>
            <p:cNvPr id="36" name="Rectangle 35"/>
            <p:cNvSpPr/>
            <p:nvPr/>
          </p:nvSpPr>
          <p:spPr>
            <a:xfrm rot="19061532">
              <a:off x="6591596" y="3420769"/>
              <a:ext cx="490510" cy="4605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 dirty="0"/>
            </a:p>
          </p:txBody>
        </p:sp>
        <p:cxnSp>
          <p:nvCxnSpPr>
            <p:cNvPr id="37" name="Straight Connector 36"/>
            <p:cNvCxnSpPr>
              <a:stCxn id="35" idx="4"/>
              <a:endCxn id="36" idx="0"/>
            </p:cNvCxnSpPr>
            <p:nvPr/>
          </p:nvCxnSpPr>
          <p:spPr>
            <a:xfrm rot="2861532">
              <a:off x="3966942" y="2164640"/>
              <a:ext cx="3412671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1588" name="TextBox 39"/>
          <p:cNvSpPr txBox="1">
            <a:spLocks noChangeArrowheads="1"/>
          </p:cNvSpPr>
          <p:nvPr/>
        </p:nvSpPr>
        <p:spPr bwMode="auto">
          <a:xfrm>
            <a:off x="3175397" y="5495926"/>
            <a:ext cx="5791200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500" dirty="0"/>
              <a:t>Leg movements at the same frequency as the swing’s natural frequency make the swing go higher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rot="16200000" flipV="1">
            <a:off x="4111230" y="4469607"/>
            <a:ext cx="1227535" cy="86082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V="1">
            <a:off x="5155407" y="4413647"/>
            <a:ext cx="2453879" cy="108942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3459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DE43916-2E53-4087-A7F0-C9C9128B3A17}" type="slidenum">
              <a:rPr lang="en-US" smtClean="0"/>
              <a:pPr eaLnBrk="1" hangingPunct="1"/>
              <a:t>35</a:t>
            </a:fld>
            <a:endParaRPr lang="en-US"/>
          </a:p>
        </p:txBody>
      </p:sp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Driving Force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sz="1800" dirty="0"/>
              <a:t>Last section we added a force                   that killed our oscillation</a:t>
            </a:r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Suppose we want to keep it going</a:t>
            </a:r>
          </a:p>
          <a:p>
            <a:pPr eaLnBrk="1" hangingPunct="1"/>
            <a:endParaRPr lang="en-US" sz="1800" dirty="0"/>
          </a:p>
          <a:p>
            <a:pPr eaLnBrk="1" hangingPunct="1"/>
            <a:r>
              <a:rPr lang="en-US" sz="1800" dirty="0"/>
              <a:t>Add a force </a:t>
            </a:r>
          </a:p>
          <a:p>
            <a:pPr eaLnBrk="1" hangingPunct="1"/>
            <a:endParaRPr lang="en-US" sz="1800" dirty="0"/>
          </a:p>
          <a:p>
            <a:pPr eaLnBrk="1" hangingPunct="1">
              <a:buFontTx/>
              <a:buNone/>
            </a:pPr>
            <a:r>
              <a:rPr lang="en-US" sz="1800" dirty="0"/>
              <a:t>     where F</a:t>
            </a:r>
            <a:r>
              <a:rPr lang="en-US" sz="1800" baseline="-25000" dirty="0"/>
              <a:t>o</a:t>
            </a:r>
            <a:r>
              <a:rPr lang="en-US" sz="1800" dirty="0"/>
              <a:t> is a constant and where </a:t>
            </a:r>
            <a:r>
              <a:rPr lang="en-US" sz="1800" dirty="0">
                <a:sym typeface="Symbol" pitchFamily="18" charset="2"/>
              </a:rPr>
              <a:t></a:t>
            </a:r>
            <a:r>
              <a:rPr lang="en-US" sz="1800" baseline="-25000" dirty="0"/>
              <a:t>f</a:t>
            </a:r>
            <a:r>
              <a:rPr lang="en-US" sz="1800" dirty="0"/>
              <a:t> is the angular frequency of the driving force</a:t>
            </a:r>
          </a:p>
          <a:p>
            <a:pPr eaLnBrk="1" hangingPunct="1">
              <a:buFontTx/>
              <a:buNone/>
            </a:pPr>
            <a:endParaRPr lang="en-US" sz="1800" dirty="0"/>
          </a:p>
          <a:p>
            <a:pPr eaLnBrk="1" hangingPunct="1">
              <a:buFontTx/>
              <a:buNone/>
            </a:pPr>
            <a:endParaRPr lang="en-US" sz="1800" dirty="0"/>
          </a:p>
          <a:p>
            <a:pPr eaLnBrk="1" hangingPunct="1">
              <a:buFontTx/>
              <a:buNone/>
            </a:pPr>
            <a:endParaRPr lang="en-US" sz="1800" dirty="0"/>
          </a:p>
          <a:p>
            <a:pPr eaLnBrk="1" hangingPunct="1"/>
            <a:r>
              <a:rPr lang="en-US" sz="1800" dirty="0"/>
              <a:t>This one is very hard to solve</a:t>
            </a:r>
          </a:p>
        </p:txBody>
      </p:sp>
      <p:sp>
        <p:nvSpPr>
          <p:cNvPr id="19461" name="Rectangle 4"/>
          <p:cNvSpPr>
            <a:spLocks noChangeArrowheads="1"/>
          </p:cNvSpPr>
          <p:nvPr/>
        </p:nvSpPr>
        <p:spPr bwMode="auto">
          <a:xfrm>
            <a:off x="2667002" y="707209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19462" name="Object 5"/>
          <p:cNvGraphicFramePr>
            <a:graphicFrameLocks noChangeAspect="1"/>
          </p:cNvGraphicFramePr>
          <p:nvPr/>
        </p:nvGraphicFramePr>
        <p:xfrm>
          <a:off x="5255481" y="1669537"/>
          <a:ext cx="757170" cy="29209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" imgH="228600" progId="Equation.3">
                  <p:embed/>
                </p:oleObj>
              </mc:Choice>
              <mc:Fallback>
                <p:oleObj name="Equation" r:id="rId2" imgW="596900" imgH="228600" progId="Equation.3">
                  <p:embed/>
                  <p:pic>
                    <p:nvPicPr>
                      <p:cNvPr id="1946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5481" y="1669537"/>
                        <a:ext cx="757170" cy="29209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3" name="Rectangle 6"/>
          <p:cNvSpPr>
            <a:spLocks noChangeArrowheads="1"/>
          </p:cNvSpPr>
          <p:nvPr/>
        </p:nvSpPr>
        <p:spPr bwMode="auto">
          <a:xfrm>
            <a:off x="2667002" y="707209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19464" name="Object 7"/>
          <p:cNvGraphicFramePr>
            <a:graphicFrameLocks noChangeAspect="1"/>
          </p:cNvGraphicFramePr>
          <p:nvPr/>
        </p:nvGraphicFramePr>
        <p:xfrm>
          <a:off x="3633932" y="2860706"/>
          <a:ext cx="1990990" cy="4363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04900" imgH="241300" progId="Equation.3">
                  <p:embed/>
                </p:oleObj>
              </mc:Choice>
              <mc:Fallback>
                <p:oleObj name="Equation" r:id="rId4" imgW="1104900" imgH="241300" progId="Equation.3">
                  <p:embed/>
                  <p:pic>
                    <p:nvPicPr>
                      <p:cNvPr id="1946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3932" y="2860706"/>
                        <a:ext cx="1990990" cy="43630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5" name="Object 8"/>
          <p:cNvGraphicFramePr>
            <a:graphicFrameLocks noChangeAspect="1"/>
          </p:cNvGraphicFramePr>
          <p:nvPr/>
        </p:nvGraphicFramePr>
        <p:xfrm>
          <a:off x="4006883" y="4275281"/>
          <a:ext cx="3585914" cy="4363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93900" imgH="241300" progId="Equation.3">
                  <p:embed/>
                </p:oleObj>
              </mc:Choice>
              <mc:Fallback>
                <p:oleObj name="Equation" r:id="rId6" imgW="1993900" imgH="241300" progId="Equation.3">
                  <p:embed/>
                  <p:pic>
                    <p:nvPicPr>
                      <p:cNvPr id="1946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6883" y="4275281"/>
                        <a:ext cx="3585914" cy="43630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9A1CFA41-9573-4969-8994-F21DC7ED42AE}" type="slidenum">
              <a:rPr lang="en-US" smtClean="0"/>
              <a:pPr eaLnBrk="1" hangingPunct="1"/>
              <a:t>36</a:t>
            </a:fld>
            <a:endParaRPr lang="en-US"/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Steady State</a:t>
            </a:r>
          </a:p>
        </p:txBody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sz="2000" dirty="0"/>
              <a:t>Let’s assume that we add in enough energy with the driving force that we make up for the energy lost in the damping force</a:t>
            </a:r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Then the solution is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EXCEPT</a:t>
            </a:r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endParaRPr lang="en-US" sz="2000" dirty="0"/>
          </a:p>
          <a:p>
            <a:pPr eaLnBrk="1" hangingPunct="1"/>
            <a:r>
              <a:rPr lang="en-US" sz="2000" dirty="0"/>
              <a:t>We will drop the subscript </a:t>
            </a:r>
            <a:r>
              <a:rPr lang="en-US" sz="2000" i="1" dirty="0"/>
              <a:t>f</a:t>
            </a:r>
            <a:r>
              <a:rPr lang="en-US" sz="2000" dirty="0"/>
              <a:t> for convenience</a:t>
            </a:r>
          </a:p>
        </p:txBody>
      </p:sp>
      <p:sp>
        <p:nvSpPr>
          <p:cNvPr id="20485" name="Rectangle 4"/>
          <p:cNvSpPr>
            <a:spLocks noChangeArrowheads="1"/>
          </p:cNvSpPr>
          <p:nvPr/>
        </p:nvSpPr>
        <p:spPr bwMode="auto">
          <a:xfrm>
            <a:off x="2667002" y="707209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20486" name="Object 5"/>
          <p:cNvGraphicFramePr>
            <a:graphicFrameLocks noChangeAspect="1"/>
          </p:cNvGraphicFramePr>
          <p:nvPr/>
        </p:nvGraphicFramePr>
        <p:xfrm>
          <a:off x="4780968" y="2711269"/>
          <a:ext cx="1683972" cy="323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41300" progId="Equation.3">
                  <p:embed/>
                </p:oleObj>
              </mc:Choice>
              <mc:Fallback>
                <p:oleObj name="Equation" r:id="rId2" imgW="1257300" imgH="241300" progId="Equation.3">
                  <p:embed/>
                  <p:pic>
                    <p:nvPicPr>
                      <p:cNvPr id="2048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0968" y="2711269"/>
                        <a:ext cx="1683972" cy="32368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7" name="Rectangle 6"/>
          <p:cNvSpPr>
            <a:spLocks noChangeArrowheads="1"/>
          </p:cNvSpPr>
          <p:nvPr/>
        </p:nvSpPr>
        <p:spPr bwMode="auto">
          <a:xfrm>
            <a:off x="2667002" y="2986065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88" name="Object 7"/>
              <p:cNvSpPr txBox="1"/>
              <p:nvPr/>
            </p:nvSpPr>
            <p:spPr bwMode="auto">
              <a:xfrm>
                <a:off x="3462338" y="3347941"/>
                <a:ext cx="2482676" cy="11463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𝑓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488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62338" y="3347941"/>
                <a:ext cx="2482676" cy="1146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89" name="Rectangle 8"/>
          <p:cNvSpPr>
            <a:spLocks noChangeArrowheads="1"/>
          </p:cNvSpPr>
          <p:nvPr/>
        </p:nvSpPr>
        <p:spPr bwMode="auto">
          <a:xfrm>
            <a:off x="2667002" y="3093222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90" name="Object 9"/>
              <p:cNvSpPr txBox="1"/>
              <p:nvPr/>
            </p:nvSpPr>
            <p:spPr bwMode="auto">
              <a:xfrm>
                <a:off x="4057650" y="4597400"/>
                <a:ext cx="723900" cy="527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4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490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57650" y="4597400"/>
                <a:ext cx="723900" cy="5270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91" name="Object 10"/>
              <p:cNvSpPr txBox="1"/>
              <p:nvPr/>
            </p:nvSpPr>
            <p:spPr bwMode="auto">
              <a:xfrm>
                <a:off x="5641977" y="5621868"/>
                <a:ext cx="2655357" cy="11463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491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41977" y="5621868"/>
                <a:ext cx="2655357" cy="11463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92" name="Object 11"/>
              <p:cNvSpPr txBox="1"/>
              <p:nvPr/>
            </p:nvSpPr>
            <p:spPr bwMode="auto">
              <a:xfrm>
                <a:off x="2540001" y="5772151"/>
                <a:ext cx="2912532" cy="654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func>
                        <m:func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492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0001" y="5772151"/>
                <a:ext cx="2912532" cy="6540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2B3508C-4AE7-4D7B-82A2-45D2BEED198E}" type="slidenum">
              <a:rPr lang="en-US" smtClean="0"/>
              <a:pPr eaLnBrk="1" hangingPunct="1"/>
              <a:t>37</a:t>
            </a:fld>
            <a:endParaRPr lang="en-US"/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09902" y="2057400"/>
            <a:ext cx="5899547" cy="704850"/>
          </a:xfrm>
        </p:spPr>
        <p:txBody>
          <a:bodyPr/>
          <a:lstStyle/>
          <a:p>
            <a:pPr eaLnBrk="1" hangingPunct="1"/>
            <a:r>
              <a:rPr lang="en-US" sz="1800"/>
              <a:t>Notice that right at  </a:t>
            </a:r>
            <a:r>
              <a:rPr lang="en-US" sz="1800">
                <a:sym typeface="Symbol" pitchFamily="18" charset="2"/>
              </a:rPr>
              <a:t></a:t>
            </a:r>
            <a:r>
              <a:rPr lang="en-US" sz="1800" baseline="-25000">
                <a:sym typeface="Symbol" pitchFamily="18" charset="2"/>
              </a:rPr>
              <a:t>o</a:t>
            </a:r>
            <a:r>
              <a:rPr lang="en-US" sz="1800"/>
              <a:t> our solution gets very big </a:t>
            </a:r>
          </a:p>
        </p:txBody>
      </p:sp>
      <p:sp>
        <p:nvSpPr>
          <p:cNvPr id="21509" name="Rectangle 4"/>
          <p:cNvSpPr>
            <a:spLocks noChangeArrowheads="1"/>
          </p:cNvSpPr>
          <p:nvPr/>
        </p:nvSpPr>
        <p:spPr bwMode="auto">
          <a:xfrm>
            <a:off x="2667002" y="3007497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510" name="Object 5"/>
              <p:cNvSpPr txBox="1"/>
              <p:nvPr/>
            </p:nvSpPr>
            <p:spPr bwMode="auto">
              <a:xfrm>
                <a:off x="2280357" y="2814615"/>
                <a:ext cx="2731910" cy="12811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510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0357" y="2814615"/>
                <a:ext cx="2731910" cy="12811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11" name="Rectangle 6"/>
          <p:cNvSpPr>
            <a:spLocks noChangeArrowheads="1"/>
          </p:cNvSpPr>
          <p:nvPr/>
        </p:nvSpPr>
        <p:spPr bwMode="auto">
          <a:xfrm>
            <a:off x="2667002" y="3143228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sp>
        <p:nvSpPr>
          <p:cNvPr id="21512" name="Rectangle 7"/>
          <p:cNvSpPr>
            <a:spLocks noChangeArrowheads="1"/>
          </p:cNvSpPr>
          <p:nvPr/>
        </p:nvSpPr>
        <p:spPr bwMode="auto">
          <a:xfrm>
            <a:off x="2667002" y="2814615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21513" name="Object 8"/>
          <p:cNvGraphicFramePr>
            <a:graphicFrameLocks noChangeAspect="1"/>
          </p:cNvGraphicFramePr>
          <p:nvPr/>
        </p:nvGraphicFramePr>
        <p:xfrm>
          <a:off x="3309258" y="4428209"/>
          <a:ext cx="1104247" cy="14576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72808" imgH="888614" progId="Equation.3">
                  <p:embed/>
                </p:oleObj>
              </mc:Choice>
              <mc:Fallback>
                <p:oleObj name="Equation" r:id="rId3" imgW="672808" imgH="888614" progId="Equation.3">
                  <p:embed/>
                  <p:pic>
                    <p:nvPicPr>
                      <p:cNvPr id="215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9258" y="4428209"/>
                        <a:ext cx="1104247" cy="145760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917EC7B2-2F6A-A1B0-2D6A-3E58FC72C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654" y="2814616"/>
            <a:ext cx="4014788" cy="26765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88E5AE-D9DC-DC83-D433-49C00485A109}"/>
                  </a:ext>
                </a:extLst>
              </p:cNvPr>
              <p:cNvSpPr txBox="1"/>
              <p:nvPr/>
            </p:nvSpPr>
            <p:spPr>
              <a:xfrm>
                <a:off x="8520756" y="5405006"/>
                <a:ext cx="102703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1200" dirty="0"/>
                  <a:t> (rad/sec)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88E5AE-D9DC-DC83-D433-49C00485A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0756" y="5405006"/>
                <a:ext cx="1027032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5BFE0BF1-63F5-452E-A5C8-1445C2C43028}" type="slidenum">
              <a:rPr lang="en-US" smtClean="0"/>
              <a:pPr eaLnBrk="1" hangingPunct="1"/>
              <a:t>38</a:t>
            </a:fld>
            <a:endParaRPr lang="en-US"/>
          </a:p>
        </p:txBody>
      </p:sp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Resonance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1500" dirty="0"/>
              <a:t>To see why resonance happens, think of the velocity</a:t>
            </a:r>
          </a:p>
          <a:p>
            <a:pPr eaLnBrk="1" hangingPunct="1"/>
            <a:endParaRPr lang="en-US" sz="1500" dirty="0"/>
          </a:p>
          <a:p>
            <a:pPr eaLnBrk="1" hangingPunct="1"/>
            <a:endParaRPr lang="en-US" sz="1500" dirty="0"/>
          </a:p>
          <a:p>
            <a:pPr eaLnBrk="1" hangingPunct="1"/>
            <a:r>
              <a:rPr lang="en-US" sz="1500" dirty="0"/>
              <a:t>And our driving force is</a:t>
            </a:r>
          </a:p>
          <a:p>
            <a:pPr eaLnBrk="1" hangingPunct="1"/>
            <a:endParaRPr lang="en-US" sz="1500" dirty="0"/>
          </a:p>
          <a:p>
            <a:pPr eaLnBrk="1" hangingPunct="1"/>
            <a:endParaRPr lang="en-US" sz="1500" dirty="0"/>
          </a:p>
          <a:p>
            <a:pPr eaLnBrk="1" hangingPunct="1"/>
            <a:r>
              <a:rPr lang="en-US" sz="1500" dirty="0"/>
              <a:t>The rate at which work is done (power) is</a:t>
            </a:r>
          </a:p>
          <a:p>
            <a:pPr eaLnBrk="1" hangingPunct="1"/>
            <a:endParaRPr lang="en-US" sz="1500" dirty="0"/>
          </a:p>
          <a:p>
            <a:pPr eaLnBrk="1" hangingPunct="1"/>
            <a:endParaRPr lang="en-US" sz="1500" dirty="0"/>
          </a:p>
          <a:p>
            <a:pPr eaLnBrk="1" hangingPunct="1"/>
            <a:r>
              <a:rPr lang="en-US" sz="1500" dirty="0"/>
              <a:t> if  F and v are in phase, the power will be at a maximum!</a:t>
            </a:r>
          </a:p>
        </p:txBody>
      </p:sp>
      <p:sp>
        <p:nvSpPr>
          <p:cNvPr id="22533" name="Rectangle 4"/>
          <p:cNvSpPr>
            <a:spLocks noChangeArrowheads="1"/>
          </p:cNvSpPr>
          <p:nvPr/>
        </p:nvSpPr>
        <p:spPr bwMode="auto">
          <a:xfrm>
            <a:off x="2667002" y="3100365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22534" name="Object 5"/>
          <p:cNvGraphicFramePr>
            <a:graphicFrameLocks noChangeAspect="1"/>
          </p:cNvGraphicFramePr>
          <p:nvPr/>
        </p:nvGraphicFramePr>
        <p:xfrm>
          <a:off x="6764609" y="1450976"/>
          <a:ext cx="2521741" cy="6895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393529" progId="Equation.3">
                  <p:embed/>
                </p:oleObj>
              </mc:Choice>
              <mc:Fallback>
                <p:oleObj name="Equation" r:id="rId2" imgW="1447172" imgH="393529" progId="Equation.3">
                  <p:embed/>
                  <p:pic>
                    <p:nvPicPr>
                      <p:cNvPr id="2253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64609" y="1450976"/>
                        <a:ext cx="2521741" cy="68957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5" name="Rectangle 6"/>
          <p:cNvSpPr>
            <a:spLocks noChangeArrowheads="1"/>
          </p:cNvSpPr>
          <p:nvPr/>
        </p:nvSpPr>
        <p:spPr bwMode="auto">
          <a:xfrm>
            <a:off x="2667002" y="707209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536" name="Object 7"/>
              <p:cNvSpPr txBox="1"/>
              <p:nvPr/>
            </p:nvSpPr>
            <p:spPr bwMode="auto">
              <a:xfrm>
                <a:off x="4732338" y="2409825"/>
                <a:ext cx="1847850" cy="40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func>
                        <m:func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536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32338" y="2409825"/>
                <a:ext cx="1847850" cy="406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7" name="Rectangle 8"/>
          <p:cNvSpPr>
            <a:spLocks noChangeArrowheads="1"/>
          </p:cNvSpPr>
          <p:nvPr/>
        </p:nvSpPr>
        <p:spPr bwMode="auto">
          <a:xfrm>
            <a:off x="2667002" y="707209"/>
            <a:ext cx="184731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 sz="1350"/>
          </a:p>
        </p:txBody>
      </p:sp>
      <p:graphicFrame>
        <p:nvGraphicFramePr>
          <p:cNvPr id="22538" name="Object 9"/>
          <p:cNvGraphicFramePr>
            <a:graphicFrameLocks noChangeAspect="1"/>
          </p:cNvGraphicFramePr>
          <p:nvPr/>
        </p:nvGraphicFramePr>
        <p:xfrm>
          <a:off x="6096000" y="3106930"/>
          <a:ext cx="1728216" cy="6405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66337" imgH="393529" progId="Equation.3">
                  <p:embed/>
                </p:oleObj>
              </mc:Choice>
              <mc:Fallback>
                <p:oleObj name="Equation" r:id="rId5" imgW="1066337" imgH="393529" progId="Equation.3">
                  <p:embed/>
                  <p:pic>
                    <p:nvPicPr>
                      <p:cNvPr id="2253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0" y="3106930"/>
                        <a:ext cx="1728216" cy="64054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4AF7F8-B7BC-892C-BC49-0749EFE74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1" y="1996498"/>
            <a:ext cx="3750992" cy="2500661"/>
          </a:xfrm>
          <a:prstGeom prst="rect">
            <a:avLst/>
          </a:prstGeom>
        </p:spPr>
      </p:pic>
      <p:sp>
        <p:nvSpPr>
          <p:cNvPr id="235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266799B-CE14-4B96-A937-46E24F8CE167}" type="slidenum">
              <a:rPr lang="en-US" smtClean="0"/>
              <a:pPr eaLnBrk="1" hangingPunct="1"/>
              <a:t>39</a:t>
            </a:fld>
            <a:endParaRPr lang="en-US"/>
          </a:p>
        </p:txBody>
      </p:sp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09902" y="2057401"/>
            <a:ext cx="2585357" cy="3394472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/>
              <a:t>Resistive force is never really zero in real systems</a:t>
            </a:r>
          </a:p>
          <a:p>
            <a:pPr eaLnBrk="1" hangingPunct="1"/>
            <a:r>
              <a:rPr lang="en-US" dirty="0"/>
              <a:t>It can be small</a:t>
            </a:r>
          </a:p>
          <a:p>
            <a:pPr eaLnBrk="1" hangingPunct="1"/>
            <a:endParaRPr lang="en-US" dirty="0"/>
          </a:p>
        </p:txBody>
      </p:sp>
      <p:sp>
        <p:nvSpPr>
          <p:cNvPr id="23558" name="Line 8"/>
          <p:cNvSpPr>
            <a:spLocks noChangeShapeType="1"/>
          </p:cNvSpPr>
          <p:nvPr/>
        </p:nvSpPr>
        <p:spPr bwMode="auto">
          <a:xfrm flipH="1">
            <a:off x="7303801" y="3546368"/>
            <a:ext cx="511969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23559" name="Text Box 9"/>
          <p:cNvSpPr txBox="1">
            <a:spLocks noChangeArrowheads="1"/>
          </p:cNvSpPr>
          <p:nvPr/>
        </p:nvSpPr>
        <p:spPr bwMode="auto">
          <a:xfrm>
            <a:off x="7801562" y="3355869"/>
            <a:ext cx="771365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1350"/>
              <a:t>Large b</a:t>
            </a:r>
          </a:p>
        </p:txBody>
      </p:sp>
      <p:sp>
        <p:nvSpPr>
          <p:cNvPr id="23560" name="Line 10"/>
          <p:cNvSpPr>
            <a:spLocks noChangeShapeType="1"/>
          </p:cNvSpPr>
          <p:nvPr/>
        </p:nvSpPr>
        <p:spPr bwMode="auto">
          <a:xfrm flipH="1" flipV="1">
            <a:off x="7287131" y="2354553"/>
            <a:ext cx="6096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23561" name="Text Box 11"/>
          <p:cNvSpPr txBox="1">
            <a:spLocks noChangeArrowheads="1"/>
          </p:cNvSpPr>
          <p:nvPr/>
        </p:nvSpPr>
        <p:spPr bwMode="auto">
          <a:xfrm>
            <a:off x="7865902" y="2337884"/>
            <a:ext cx="761747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1350"/>
              <a:t>Small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2E9D35-DB4B-E837-D5E1-83BA2E873ED1}"/>
                  </a:ext>
                </a:extLst>
              </p:cNvPr>
              <p:cNvSpPr txBox="1"/>
              <p:nvPr/>
            </p:nvSpPr>
            <p:spPr>
              <a:xfrm>
                <a:off x="8535110" y="4440612"/>
                <a:ext cx="102703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1200" dirty="0"/>
                  <a:t> (rad/sec)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2E9D35-DB4B-E837-D5E1-83BA2E873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5110" y="4440612"/>
                <a:ext cx="1027032" cy="276999"/>
              </a:xfrm>
              <a:prstGeom prst="rect">
                <a:avLst/>
              </a:prstGeom>
              <a:blipFill>
                <a:blip r:embed="rId3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EE5103E-6A1B-4022-ADD9-EEAD660E9795}" type="slidenum">
              <a:rPr lang="en-US" smtClean="0"/>
              <a:pPr eaLnBrk="1" hangingPunct="1"/>
              <a:t>40</a:t>
            </a:fld>
            <a:endParaRPr lang="en-US"/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Remember Tacoma Narrows? </a:t>
            </a:r>
          </a:p>
        </p:txBody>
      </p:sp>
      <p:sp>
        <p:nvSpPr>
          <p:cNvPr id="10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65868" y="1731764"/>
            <a:ext cx="7890933" cy="3394472"/>
          </a:xfrm>
        </p:spPr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dirty="0"/>
              <a:t>The wind gusts formed a periodic driving force that allowed a driving harmonic oscillation to form. </a:t>
            </a:r>
          </a:p>
          <a:p>
            <a:pPr eaLnBrk="1" hangingPunct="1">
              <a:lnSpc>
                <a:spcPct val="80000"/>
              </a:lnSpc>
            </a:pPr>
            <a:r>
              <a:rPr lang="en-US" dirty="0"/>
              <a:t>Since the bridge was resonant with the gust frequency, the amplitude grew until the bridge materials broke.</a:t>
            </a:r>
          </a:p>
        </p:txBody>
      </p:sp>
      <p:pic>
        <p:nvPicPr>
          <p:cNvPr id="2" name="Picture 1" descr="File:Tacoma Narrows Bridge Falling.png">
            <a:extLst>
              <a:ext uri="{FF2B5EF4-FFF2-40B4-BE49-F238E27FC236}">
                <a16:creationId xmlns:a16="http://schemas.microsoft.com/office/drawing/2014/main" id="{97DA0287-7C11-6853-614F-8CB4B73A9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699" y="4321475"/>
            <a:ext cx="3174603" cy="2400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D59E-C377-D497-A0B0-1319A62CC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Slide Number Placeholder 5">
            <a:extLst>
              <a:ext uri="{FF2B5EF4-FFF2-40B4-BE49-F238E27FC236}">
                <a16:creationId xmlns:a16="http://schemas.microsoft.com/office/drawing/2014/main" id="{4A362039-A16D-A42A-6B62-4AFA5EEEF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FEE5103E-6A1B-4022-ADD9-EEAD660E9795}" type="slidenum">
              <a:rPr lang="en-US" smtClean="0"/>
              <a:pPr eaLnBrk="1" hangingPunct="1"/>
              <a:t>41</a:t>
            </a:fld>
            <a:endParaRPr lang="en-US"/>
          </a:p>
        </p:txBody>
      </p:sp>
      <p:sp>
        <p:nvSpPr>
          <p:cNvPr id="1029" name="Rectangle 2">
            <a:extLst>
              <a:ext uri="{FF2B5EF4-FFF2-40B4-BE49-F238E27FC236}">
                <a16:creationId xmlns:a16="http://schemas.microsoft.com/office/drawing/2014/main" id="{A7D613CA-CE67-46E2-3F9E-0D6B13AF7E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Remember Tacoma Narrows? </a:t>
            </a:r>
          </a:p>
        </p:txBody>
      </p:sp>
      <p:sp>
        <p:nvSpPr>
          <p:cNvPr id="1030" name="Rectangle 3">
            <a:extLst>
              <a:ext uri="{FF2B5EF4-FFF2-40B4-BE49-F238E27FC236}">
                <a16:creationId xmlns:a16="http://schemas.microsoft.com/office/drawing/2014/main" id="{90A21971-A232-47EF-3A02-A58F8B124A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832774" y="2143126"/>
            <a:ext cx="2950369" cy="3394472"/>
          </a:xfrm>
        </p:spPr>
        <p:txBody>
          <a:bodyPr>
            <a:normAutofit fontScale="850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/>
              <a:t>The wind gusts formed a periodic driving force that allowed a driving harmonic oscillation to form. </a:t>
            </a:r>
          </a:p>
          <a:p>
            <a:pPr eaLnBrk="1" hangingPunct="1">
              <a:lnSpc>
                <a:spcPct val="80000"/>
              </a:lnSpc>
            </a:pPr>
            <a:r>
              <a:rPr lang="en-US"/>
              <a:t>Since the bridge was resonant with the gust frequency, the amplitude grew until the bridge materials broke.</a:t>
            </a:r>
          </a:p>
        </p:txBody>
      </p:sp>
      <p:pic>
        <p:nvPicPr>
          <p:cNvPr id="3" name="Online Media 2" title="Tacoma Narrows Bridge Collapse (Sound Version) (Standard 4:3) (1940)">
            <a:hlinkClick r:id="" action="ppaction://media"/>
            <a:extLst>
              <a:ext uri="{FF2B5EF4-FFF2-40B4-BE49-F238E27FC236}">
                <a16:creationId xmlns:a16="http://schemas.microsoft.com/office/drawing/2014/main" id="{D3A3881A-6F56-320F-BD99-48F2696C7B4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353056" y="1107059"/>
            <a:ext cx="7485888" cy="561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9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557213" indent="-214313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8572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2001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1543050" indent="-17145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4E51C186-1BB2-4F1F-9C5C-C604BA7AA83F}" type="slidenum">
              <a:rPr lang="en-US" smtClean="0"/>
              <a:pPr eaLnBrk="1" hangingPunct="1"/>
              <a:t>42</a:t>
            </a:fld>
            <a:endParaRPr lang="en-US"/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913460" y="2110978"/>
            <a:ext cx="6172200" cy="3394472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sz="1200" dirty="0"/>
              <a:t>SHM along a straight line can be thought of as a projection of a uniform circular motion along a diameter of a reference circle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1200" dirty="0"/>
              <a:t>Pendulum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1200" dirty="0"/>
              <a:t>Physical Pendulum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1200" dirty="0" err="1"/>
              <a:t>Torsoinal</a:t>
            </a:r>
            <a:r>
              <a:rPr lang="en-US" sz="1200" dirty="0"/>
              <a:t> Pendulum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1200" dirty="0"/>
              <a:t>Damped Oscillation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r>
              <a:rPr lang="en-US" sz="1200" dirty="0"/>
              <a:t>Forced Oscillation</a:t>
            </a:r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  <a:p>
            <a:pPr eaLnBrk="1" hangingPunct="1">
              <a:lnSpc>
                <a:spcPct val="80000"/>
              </a:lnSpc>
            </a:pPr>
            <a:endParaRPr lang="en-US" sz="1200" dirty="0"/>
          </a:p>
        </p:txBody>
      </p:sp>
      <p:graphicFrame>
        <p:nvGraphicFramePr>
          <p:cNvPr id="24581" name="Object 4"/>
          <p:cNvGraphicFramePr>
            <a:graphicFrameLocks noChangeAspect="1"/>
          </p:cNvGraphicFramePr>
          <p:nvPr/>
        </p:nvGraphicFramePr>
        <p:xfrm>
          <a:off x="4181476" y="2607470"/>
          <a:ext cx="409575" cy="161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177723" progId="Equation.3">
                  <p:embed/>
                </p:oleObj>
              </mc:Choice>
              <mc:Fallback>
                <p:oleObj name="Equation" r:id="rId2" imgW="457002" imgH="177723" progId="Equation.3">
                  <p:embed/>
                  <p:pic>
                    <p:nvPicPr>
                      <p:cNvPr id="2458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6" y="2607470"/>
                        <a:ext cx="409575" cy="161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2" name="Object 5"/>
          <p:cNvGraphicFramePr>
            <a:graphicFrameLocks noChangeAspect="1"/>
          </p:cNvGraphicFramePr>
          <p:nvPr/>
        </p:nvGraphicFramePr>
        <p:xfrm>
          <a:off x="4779170" y="2502695"/>
          <a:ext cx="709613" cy="371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00100" imgH="419100" progId="Equation.3">
                  <p:embed/>
                </p:oleObj>
              </mc:Choice>
              <mc:Fallback>
                <p:oleObj name="Equation" r:id="rId4" imgW="800100" imgH="419100" progId="Equation.3">
                  <p:embed/>
                  <p:pic>
                    <p:nvPicPr>
                      <p:cNvPr id="2458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9170" y="2502695"/>
                        <a:ext cx="709613" cy="371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3" name="Object 6"/>
          <p:cNvGraphicFramePr>
            <a:graphicFrameLocks noChangeAspect="1"/>
          </p:cNvGraphicFramePr>
          <p:nvPr/>
        </p:nvGraphicFramePr>
        <p:xfrm>
          <a:off x="7112795" y="2590801"/>
          <a:ext cx="1135856" cy="1940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46200" imgH="228600" progId="Equation.3">
                  <p:embed/>
                </p:oleObj>
              </mc:Choice>
              <mc:Fallback>
                <p:oleObj name="Equation" r:id="rId6" imgW="1346200" imgH="228600" progId="Equation.3">
                  <p:embed/>
                  <p:pic>
                    <p:nvPicPr>
                      <p:cNvPr id="2458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2795" y="2590801"/>
                        <a:ext cx="1135856" cy="19407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4" name="Object 7"/>
          <p:cNvGraphicFramePr>
            <a:graphicFrameLocks noChangeAspect="1"/>
          </p:cNvGraphicFramePr>
          <p:nvPr/>
        </p:nvGraphicFramePr>
        <p:xfrm>
          <a:off x="5605463" y="2511030"/>
          <a:ext cx="438150" cy="352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95085" imgH="393529" progId="Equation.3">
                  <p:embed/>
                </p:oleObj>
              </mc:Choice>
              <mc:Fallback>
                <p:oleObj name="Equation" r:id="rId8" imgW="495085" imgH="393529" progId="Equation.3">
                  <p:embed/>
                  <p:pic>
                    <p:nvPicPr>
                      <p:cNvPr id="2458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5463" y="2511030"/>
                        <a:ext cx="438150" cy="352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5" name="Object 8"/>
          <p:cNvGraphicFramePr>
            <a:graphicFrameLocks noChangeAspect="1"/>
          </p:cNvGraphicFramePr>
          <p:nvPr/>
        </p:nvGraphicFramePr>
        <p:xfrm>
          <a:off x="6257925" y="2540795"/>
          <a:ext cx="681038" cy="295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79500" imgH="469900" progId="Equation.3">
                  <p:embed/>
                </p:oleObj>
              </mc:Choice>
              <mc:Fallback>
                <p:oleObj name="Equation" r:id="rId10" imgW="1079500" imgH="469900" progId="Equation.3">
                  <p:embed/>
                  <p:pic>
                    <p:nvPicPr>
                      <p:cNvPr id="245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57925" y="2540795"/>
                        <a:ext cx="681038" cy="295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6" name="Object 9"/>
          <p:cNvGraphicFramePr>
            <a:graphicFrameLocks noChangeAspect="1"/>
          </p:cNvGraphicFramePr>
          <p:nvPr/>
        </p:nvGraphicFramePr>
        <p:xfrm>
          <a:off x="7058025" y="3001568"/>
          <a:ext cx="928688" cy="1583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346200" imgH="228600" progId="Equation.3">
                  <p:embed/>
                </p:oleObj>
              </mc:Choice>
              <mc:Fallback>
                <p:oleObj name="Equation" r:id="rId12" imgW="1346200" imgH="228600" progId="Equation.3">
                  <p:embed/>
                  <p:pic>
                    <p:nvPicPr>
                      <p:cNvPr id="2458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8025" y="3001568"/>
                        <a:ext cx="928688" cy="15835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7" name="Object 10"/>
          <p:cNvGraphicFramePr>
            <a:graphicFrameLocks noChangeAspect="1"/>
          </p:cNvGraphicFramePr>
          <p:nvPr/>
        </p:nvGraphicFramePr>
        <p:xfrm>
          <a:off x="4799412" y="2987280"/>
          <a:ext cx="650081" cy="2786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977900" imgH="419100" progId="Equation.3">
                  <p:embed/>
                </p:oleObj>
              </mc:Choice>
              <mc:Fallback>
                <p:oleObj name="Equation" r:id="rId13" imgW="977900" imgH="419100" progId="Equation.3">
                  <p:embed/>
                  <p:pic>
                    <p:nvPicPr>
                      <p:cNvPr id="2458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99412" y="2987280"/>
                        <a:ext cx="650081" cy="27860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8" name="Object 11"/>
          <p:cNvGraphicFramePr>
            <a:graphicFrameLocks noChangeAspect="1"/>
          </p:cNvGraphicFramePr>
          <p:nvPr/>
        </p:nvGraphicFramePr>
        <p:xfrm>
          <a:off x="5532835" y="2999185"/>
          <a:ext cx="498872" cy="2893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672808" imgH="393529" progId="Equation.3">
                  <p:embed/>
                </p:oleObj>
              </mc:Choice>
              <mc:Fallback>
                <p:oleObj name="Equation" r:id="rId15" imgW="672808" imgH="393529" progId="Equation.3">
                  <p:embed/>
                  <p:pic>
                    <p:nvPicPr>
                      <p:cNvPr id="2458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32835" y="2999185"/>
                        <a:ext cx="498872" cy="2893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9" name="Object 12"/>
          <p:cNvGraphicFramePr>
            <a:graphicFrameLocks noChangeAspect="1"/>
          </p:cNvGraphicFramePr>
          <p:nvPr/>
        </p:nvGraphicFramePr>
        <p:xfrm>
          <a:off x="6161486" y="2937272"/>
          <a:ext cx="728663" cy="376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901309" imgH="469696" progId="Equation.3">
                  <p:embed/>
                </p:oleObj>
              </mc:Choice>
              <mc:Fallback>
                <p:oleObj name="Equation" r:id="rId17" imgW="901309" imgH="469696" progId="Equation.3">
                  <p:embed/>
                  <p:pic>
                    <p:nvPicPr>
                      <p:cNvPr id="24589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61486" y="2937272"/>
                        <a:ext cx="728663" cy="376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0" name="Object 13"/>
          <p:cNvGraphicFramePr>
            <a:graphicFrameLocks noChangeAspect="1"/>
          </p:cNvGraphicFramePr>
          <p:nvPr/>
        </p:nvGraphicFramePr>
        <p:xfrm>
          <a:off x="7058026" y="3318273"/>
          <a:ext cx="983456" cy="16787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346200" imgH="228600" progId="Equation.3">
                  <p:embed/>
                </p:oleObj>
              </mc:Choice>
              <mc:Fallback>
                <p:oleObj name="Equation" r:id="rId19" imgW="1346200" imgH="228600" progId="Equation.3">
                  <p:embed/>
                  <p:pic>
                    <p:nvPicPr>
                      <p:cNvPr id="2459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8026" y="3318273"/>
                        <a:ext cx="983456" cy="1678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1" name="Object 14"/>
          <p:cNvGraphicFramePr>
            <a:graphicFrameLocks noChangeAspect="1"/>
          </p:cNvGraphicFramePr>
          <p:nvPr/>
        </p:nvGraphicFramePr>
        <p:xfrm>
          <a:off x="4837511" y="3432572"/>
          <a:ext cx="527447" cy="27503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00100" imgH="419100" progId="Equation.3">
                  <p:embed/>
                </p:oleObj>
              </mc:Choice>
              <mc:Fallback>
                <p:oleObj name="Equation" r:id="rId20" imgW="800100" imgH="419100" progId="Equation.3">
                  <p:embed/>
                  <p:pic>
                    <p:nvPicPr>
                      <p:cNvPr id="24591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37511" y="3432572"/>
                        <a:ext cx="527447" cy="27503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2" name="Object 15"/>
          <p:cNvGraphicFramePr>
            <a:graphicFrameLocks noChangeAspect="1"/>
          </p:cNvGraphicFramePr>
          <p:nvPr/>
        </p:nvGraphicFramePr>
        <p:xfrm>
          <a:off x="5495926" y="3355184"/>
          <a:ext cx="502444" cy="4024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495085" imgH="393529" progId="Equation.3">
                  <p:embed/>
                </p:oleObj>
              </mc:Choice>
              <mc:Fallback>
                <p:oleObj name="Equation" r:id="rId22" imgW="495085" imgH="393529" progId="Equation.3">
                  <p:embed/>
                  <p:pic>
                    <p:nvPicPr>
                      <p:cNvPr id="24592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5926" y="3355184"/>
                        <a:ext cx="502444" cy="40243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3" name="Object 16"/>
          <p:cNvGraphicFramePr>
            <a:graphicFrameLocks noChangeAspect="1"/>
          </p:cNvGraphicFramePr>
          <p:nvPr/>
        </p:nvGraphicFramePr>
        <p:xfrm>
          <a:off x="6238876" y="3378995"/>
          <a:ext cx="502444" cy="3167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710891" imgH="444307" progId="Equation.3">
                  <p:embed/>
                </p:oleObj>
              </mc:Choice>
              <mc:Fallback>
                <p:oleObj name="Equation" r:id="rId24" imgW="710891" imgH="444307" progId="Equation.3">
                  <p:embed/>
                  <p:pic>
                    <p:nvPicPr>
                      <p:cNvPr id="2459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38876" y="3378995"/>
                        <a:ext cx="502444" cy="31670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4" name="Object 17"/>
          <p:cNvGraphicFramePr>
            <a:graphicFrameLocks noChangeAspect="1"/>
          </p:cNvGraphicFramePr>
          <p:nvPr/>
        </p:nvGraphicFramePr>
        <p:xfrm>
          <a:off x="4856560" y="4049317"/>
          <a:ext cx="623888" cy="23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96900" imgH="228600" progId="Equation.3">
                  <p:embed/>
                </p:oleObj>
              </mc:Choice>
              <mc:Fallback>
                <p:oleObj name="Equation" r:id="rId26" imgW="596900" imgH="228600" progId="Equation.3">
                  <p:embed/>
                  <p:pic>
                    <p:nvPicPr>
                      <p:cNvPr id="2459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56560" y="4049317"/>
                        <a:ext cx="623888" cy="238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5" name="Object 18"/>
          <p:cNvGraphicFramePr>
            <a:graphicFrameLocks noChangeAspect="1"/>
          </p:cNvGraphicFramePr>
          <p:nvPr/>
        </p:nvGraphicFramePr>
        <p:xfrm>
          <a:off x="5638801" y="3998121"/>
          <a:ext cx="1067991" cy="364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231366" imgH="418918" progId="Equation.3">
                  <p:embed/>
                </p:oleObj>
              </mc:Choice>
              <mc:Fallback>
                <p:oleObj name="Equation" r:id="rId28" imgW="1231366" imgH="418918" progId="Equation.3">
                  <p:embed/>
                  <p:pic>
                    <p:nvPicPr>
                      <p:cNvPr id="24595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1" y="3998121"/>
                        <a:ext cx="1067991" cy="36433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96" name="Object 19"/>
          <p:cNvGraphicFramePr>
            <a:graphicFrameLocks noChangeAspect="1"/>
          </p:cNvGraphicFramePr>
          <p:nvPr/>
        </p:nvGraphicFramePr>
        <p:xfrm>
          <a:off x="6858001" y="4023125"/>
          <a:ext cx="1376363" cy="2309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511300" imgH="254000" progId="Equation.3">
                  <p:embed/>
                </p:oleObj>
              </mc:Choice>
              <mc:Fallback>
                <p:oleObj name="Equation" r:id="rId30" imgW="1511300" imgH="254000" progId="Equation.3">
                  <p:embed/>
                  <p:pic>
                    <p:nvPicPr>
                      <p:cNvPr id="24596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8001" y="4023125"/>
                        <a:ext cx="1376363" cy="2309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4597" name="Object 20"/>
              <p:cNvSpPr txBox="1"/>
              <p:nvPr/>
            </p:nvSpPr>
            <p:spPr bwMode="auto">
              <a:xfrm>
                <a:off x="8307388" y="3987800"/>
                <a:ext cx="1124743" cy="48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4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597" name="Objec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7388" y="3987800"/>
                <a:ext cx="1124743" cy="48260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598" name="Object 21"/>
              <p:cNvSpPr txBox="1"/>
              <p:nvPr/>
            </p:nvSpPr>
            <p:spPr bwMode="auto">
              <a:xfrm>
                <a:off x="4799412" y="4371975"/>
                <a:ext cx="660002" cy="3898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3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598" name="Objec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9412" y="4371975"/>
                <a:ext cx="660002" cy="38986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599" name="Object 22"/>
              <p:cNvSpPr txBox="1"/>
              <p:nvPr/>
            </p:nvSpPr>
            <p:spPr bwMode="auto">
              <a:xfrm>
                <a:off x="5780088" y="4470400"/>
                <a:ext cx="840978" cy="3307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599" name="Objec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80088" y="4470400"/>
                <a:ext cx="840978" cy="33073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600" name="Object 23"/>
              <p:cNvSpPr txBox="1"/>
              <p:nvPr/>
            </p:nvSpPr>
            <p:spPr bwMode="auto">
              <a:xfrm>
                <a:off x="4776128" y="4811846"/>
                <a:ext cx="1316038" cy="238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4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func>
                        <m:func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600" name="Object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76128" y="4811846"/>
                <a:ext cx="1316038" cy="23812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601" name="Object 24"/>
              <p:cNvSpPr txBox="1"/>
              <p:nvPr/>
            </p:nvSpPr>
            <p:spPr bwMode="auto">
              <a:xfrm>
                <a:off x="7361238" y="4632324"/>
                <a:ext cx="1597556" cy="701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4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601" name="Object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61238" y="4632324"/>
                <a:ext cx="1597556" cy="70128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602" name="Object 25"/>
          <p:cNvGraphicFramePr>
            <a:graphicFrameLocks noChangeAspect="1"/>
          </p:cNvGraphicFramePr>
          <p:nvPr/>
        </p:nvGraphicFramePr>
        <p:xfrm>
          <a:off x="6118228" y="4866483"/>
          <a:ext cx="896540" cy="161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1193800" imgH="215900" progId="Equation.3">
                  <p:embed/>
                </p:oleObj>
              </mc:Choice>
              <mc:Fallback>
                <p:oleObj name="Equation" r:id="rId37" imgW="1193800" imgH="215900" progId="Equation.3">
                  <p:embed/>
                  <p:pic>
                    <p:nvPicPr>
                      <p:cNvPr id="24602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8228" y="4866483"/>
                        <a:ext cx="896540" cy="161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EE598D0C-1F10-4CEE-BDA5-C3B43D6AA92E}" type="slidenum">
              <a:rPr lang="en-US" smtClean="0"/>
              <a:pPr eaLnBrk="1" hangingPunct="1"/>
              <a:t>43</a:t>
            </a:fld>
            <a:endParaRPr lang="en-US"/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47833"/>
            <a:ext cx="10515600" cy="1325563"/>
          </a:xfrm>
        </p:spPr>
        <p:txBody>
          <a:bodyPr/>
          <a:lstStyle/>
          <a:p>
            <a:pPr eaLnBrk="1" hangingPunct="1"/>
            <a:r>
              <a:rPr lang="en-US" dirty="0"/>
              <a:t>Critical Damping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257301"/>
            <a:ext cx="8229600" cy="4525963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en-US" sz="2400" dirty="0"/>
              <a:t>Condition for critical damping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Then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Where                    is the </a:t>
            </a:r>
            <a:r>
              <a:rPr lang="en-US" sz="2400" i="1" dirty="0"/>
              <a:t>natural frequency</a:t>
            </a:r>
            <a:r>
              <a:rPr lang="en-US" sz="2400" dirty="0"/>
              <a:t> of the system 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We define</a:t>
            </a:r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Remark </a:t>
            </a:r>
            <a:r>
              <a:rPr lang="en-US" sz="2400" i="1" dirty="0"/>
              <a:t>When               the solution in equation (damped solution) is not valid! </a:t>
            </a:r>
          </a:p>
          <a:p>
            <a:pPr lvl="1" eaLnBrk="1" hangingPunct="1"/>
            <a:r>
              <a:rPr lang="en-US" sz="2000" i="1" dirty="0"/>
              <a:t>You will find out more about this situation in your advanced mechanics classes.</a:t>
            </a:r>
            <a:endParaRPr lang="en-US" sz="2000" dirty="0"/>
          </a:p>
        </p:txBody>
      </p:sp>
      <p:sp>
        <p:nvSpPr>
          <p:cNvPr id="17413" name="Rectangle 4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14" name="Object 5"/>
              <p:cNvSpPr txBox="1"/>
              <p:nvPr/>
            </p:nvSpPr>
            <p:spPr bwMode="auto">
              <a:xfrm>
                <a:off x="6961188" y="1252538"/>
                <a:ext cx="1296987" cy="5921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414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61188" y="1252538"/>
                <a:ext cx="1296987" cy="5921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5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416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20417"/>
              </p:ext>
            </p:extLst>
          </p:nvPr>
        </p:nvGraphicFramePr>
        <p:xfrm>
          <a:off x="3221038" y="1900239"/>
          <a:ext cx="1841500" cy="682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58900" imgH="508000" progId="Equation.3">
                  <p:embed/>
                </p:oleObj>
              </mc:Choice>
              <mc:Fallback>
                <p:oleObj name="Equation" r:id="rId3" imgW="1358900" imgH="508000" progId="Equation.3">
                  <p:embed/>
                  <p:pic>
                    <p:nvPicPr>
                      <p:cNvPr id="1741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1038" y="1900239"/>
                        <a:ext cx="1841500" cy="682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17" name="Rectangle 8"/>
          <p:cNvSpPr>
            <a:spLocks noChangeArrowheads="1"/>
          </p:cNvSpPr>
          <p:nvPr/>
        </p:nvSpPr>
        <p:spPr bwMode="auto">
          <a:xfrm>
            <a:off x="1524001" y="2653784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18" name="Object 9"/>
              <p:cNvSpPr txBox="1"/>
              <p:nvPr/>
            </p:nvSpPr>
            <p:spPr bwMode="auto">
              <a:xfrm>
                <a:off x="3221038" y="2714625"/>
                <a:ext cx="844550" cy="615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418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1038" y="2714625"/>
                <a:ext cx="844550" cy="6159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9" name="Rectangle 10"/>
          <p:cNvSpPr>
            <a:spLocks noChangeArrowheads="1"/>
          </p:cNvSpPr>
          <p:nvPr/>
        </p:nvSpPr>
        <p:spPr bwMode="auto">
          <a:xfrm>
            <a:off x="1524001" y="272045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0" name="Object 11"/>
              <p:cNvSpPr txBox="1"/>
              <p:nvPr/>
            </p:nvSpPr>
            <p:spPr bwMode="auto">
              <a:xfrm>
                <a:off x="3819525" y="3636963"/>
                <a:ext cx="1243013" cy="4238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420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9525" y="3636963"/>
                <a:ext cx="1243013" cy="4238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1" name="Rectangle 12"/>
          <p:cNvSpPr>
            <a:spLocks noChangeArrowheads="1"/>
          </p:cNvSpPr>
          <p:nvPr/>
        </p:nvSpPr>
        <p:spPr bwMode="auto">
          <a:xfrm>
            <a:off x="1524001" y="2763322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2" name="Object 13"/>
              <p:cNvSpPr txBox="1"/>
              <p:nvPr/>
            </p:nvSpPr>
            <p:spPr bwMode="auto">
              <a:xfrm>
                <a:off x="4065588" y="4384260"/>
                <a:ext cx="841905" cy="38935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422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65588" y="4384260"/>
                <a:ext cx="841905" cy="3893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A263E-575C-16C8-517F-F6050C9CE9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5B2E5-FE0C-6FCC-8628-3B47A5F030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316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1373</Words>
  <Application>Microsoft Office PowerPoint</Application>
  <PresentationFormat>Widescreen</PresentationFormat>
  <Paragraphs>409</Paragraphs>
  <Slides>44</Slides>
  <Notes>0</Notes>
  <HiddenSlides>0</HiddenSlides>
  <MMClips>2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Cambria Math</vt:lpstr>
      <vt:lpstr>Symbol</vt:lpstr>
      <vt:lpstr>Office Theme</vt:lpstr>
      <vt:lpstr>Equation</vt:lpstr>
      <vt:lpstr>Equation.3</vt:lpstr>
      <vt:lpstr>Lecture 3</vt:lpstr>
      <vt:lpstr>Question 123.1.11</vt:lpstr>
      <vt:lpstr>Question 123.1.12</vt:lpstr>
      <vt:lpstr>Trigonometry</vt:lpstr>
      <vt:lpstr>Trigonometry</vt:lpstr>
      <vt:lpstr>Dot product</vt:lpstr>
      <vt:lpstr>Relationship to SHM</vt:lpstr>
      <vt:lpstr>More Geometry</vt:lpstr>
      <vt:lpstr>Relationship to SHM</vt:lpstr>
      <vt:lpstr>Equations for the two SHOs</vt:lpstr>
      <vt:lpstr>Rotation and Velocity</vt:lpstr>
      <vt:lpstr>Rotation and Acceleration</vt:lpstr>
      <vt:lpstr>PowerPoint Presentation</vt:lpstr>
      <vt:lpstr>PowerPoint Presentation</vt:lpstr>
      <vt:lpstr>Pendulum</vt:lpstr>
      <vt:lpstr>PowerPoint Presentation</vt:lpstr>
      <vt:lpstr>Pendulum</vt:lpstr>
      <vt:lpstr>PowerPoint Presentation</vt:lpstr>
      <vt:lpstr>Physical Pendulum</vt:lpstr>
      <vt:lpstr>Physical Pendulum</vt:lpstr>
      <vt:lpstr>Torsional Pendulum</vt:lpstr>
      <vt:lpstr>Motion of a Torsional Pendulum</vt:lpstr>
      <vt:lpstr>Torsional Pendulum</vt:lpstr>
      <vt:lpstr>Damped Oscillations </vt:lpstr>
      <vt:lpstr>PowerPoint Presentation</vt:lpstr>
      <vt:lpstr>Question 6.14 </vt:lpstr>
      <vt:lpstr>Add a frictional force</vt:lpstr>
      <vt:lpstr>Solution</vt:lpstr>
      <vt:lpstr>Example</vt:lpstr>
      <vt:lpstr>Larger b-value</vt:lpstr>
      <vt:lpstr>Even Larger b-value</vt:lpstr>
      <vt:lpstr>Forced Oscillations</vt:lpstr>
      <vt:lpstr>PowerPoint Presentation</vt:lpstr>
      <vt:lpstr>PowerPoint Presentation</vt:lpstr>
      <vt:lpstr>Driving Force</vt:lpstr>
      <vt:lpstr>Steady State</vt:lpstr>
      <vt:lpstr>Example</vt:lpstr>
      <vt:lpstr>Resonance</vt:lpstr>
      <vt:lpstr>Example</vt:lpstr>
      <vt:lpstr>Remember Tacoma Narrows? </vt:lpstr>
      <vt:lpstr>Remember Tacoma Narrows? </vt:lpstr>
      <vt:lpstr>Summary</vt:lpstr>
      <vt:lpstr>Critical Damping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Todd Lines</cp:lastModifiedBy>
  <cp:revision>1</cp:revision>
  <dcterms:created xsi:type="dcterms:W3CDTF">2025-04-18T21:04:32Z</dcterms:created>
  <dcterms:modified xsi:type="dcterms:W3CDTF">2026-08-26T18:20:04Z</dcterms:modified>
</cp:coreProperties>
</file>