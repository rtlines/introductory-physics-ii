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org&amp;utm_campaign=imageinfo&amp;utm_content=thumbnail" ContentType="image/pn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402" r:id="rId3"/>
    <p:sldId id="403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392" r:id="rId15"/>
    <p:sldId id="364" r:id="rId16"/>
    <p:sldId id="415" r:id="rId17"/>
    <p:sldId id="365" r:id="rId18"/>
    <p:sldId id="396" r:id="rId19"/>
    <p:sldId id="366" r:id="rId20"/>
    <p:sldId id="367" r:id="rId21"/>
    <p:sldId id="368" r:id="rId22"/>
    <p:sldId id="369" r:id="rId23"/>
    <p:sldId id="370" r:id="rId24"/>
    <p:sldId id="371" r:id="rId25"/>
    <p:sldId id="414" r:id="rId26"/>
    <p:sldId id="395" r:id="rId27"/>
    <p:sldId id="375" r:id="rId28"/>
    <p:sldId id="376" r:id="rId29"/>
    <p:sldId id="377" r:id="rId30"/>
    <p:sldId id="378" r:id="rId31"/>
    <p:sldId id="379" r:id="rId32"/>
    <p:sldId id="426" r:id="rId33"/>
    <p:sldId id="416" r:id="rId34"/>
    <p:sldId id="417" r:id="rId35"/>
    <p:sldId id="418" r:id="rId36"/>
    <p:sldId id="419" r:id="rId37"/>
    <p:sldId id="420" r:id="rId38"/>
    <p:sldId id="421" r:id="rId39"/>
    <p:sldId id="422" r:id="rId40"/>
    <p:sldId id="423" r:id="rId41"/>
    <p:sldId id="424" r:id="rId42"/>
    <p:sldId id="425" r:id="rId43"/>
    <p:sldId id="380" r:id="rId44"/>
    <p:sldId id="397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78BA21-BF34-43F3-BBFD-87163F5B96CE}" v="29" dt="2026-09-15T19:10:21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custSel addSld delSld modSld sldOrd">
      <pc:chgData name="Todd Lines" userId="afaf7c3a-e8aa-4568-882a-02ad8f9e19b0" providerId="ADAL" clId="{5FF5AC1B-ABA9-43D7-A1E3-2D92732CD6E2}" dt="2026-09-15T19:11:54.336" v="553" actId="21"/>
      <pc:docMkLst>
        <pc:docMk/>
      </pc:docMkLst>
      <pc:sldChg chg="addSp delSp modSp mod">
        <pc:chgData name="Todd Lines" userId="afaf7c3a-e8aa-4568-882a-02ad8f9e19b0" providerId="ADAL" clId="{5FF5AC1B-ABA9-43D7-A1E3-2D92732CD6E2}" dt="2026-09-15T16:52:22.164" v="488" actId="21"/>
        <pc:sldMkLst>
          <pc:docMk/>
          <pc:sldMk cId="0" sldId="366"/>
        </pc:sldMkLst>
        <pc:picChg chg="add del mod">
          <ac:chgData name="Todd Lines" userId="afaf7c3a-e8aa-4568-882a-02ad8f9e19b0" providerId="ADAL" clId="{5FF5AC1B-ABA9-43D7-A1E3-2D92732CD6E2}" dt="2026-09-15T16:52:22.164" v="488" actId="21"/>
          <ac:picMkLst>
            <pc:docMk/>
            <pc:sldMk cId="0" sldId="366"/>
            <ac:picMk id="4" creationId="{C37D8F53-07BE-EAA0-3599-70FE04E7BC47}"/>
          </ac:picMkLst>
        </pc:picChg>
      </pc:sldChg>
      <pc:sldChg chg="addSp delSp modSp mod">
        <pc:chgData name="Todd Lines" userId="afaf7c3a-e8aa-4568-882a-02ad8f9e19b0" providerId="ADAL" clId="{5FF5AC1B-ABA9-43D7-A1E3-2D92732CD6E2}" dt="2026-09-15T18:43:44.898" v="504" actId="21"/>
        <pc:sldMkLst>
          <pc:docMk/>
          <pc:sldMk cId="0" sldId="377"/>
        </pc:sldMkLst>
        <pc:spChg chg="del mod">
          <ac:chgData name="Todd Lines" userId="afaf7c3a-e8aa-4568-882a-02ad8f9e19b0" providerId="ADAL" clId="{5FF5AC1B-ABA9-43D7-A1E3-2D92732CD6E2}" dt="2026-09-15T18:43:22.777" v="501" actId="478"/>
          <ac:spMkLst>
            <pc:docMk/>
            <pc:sldMk cId="0" sldId="377"/>
            <ac:spMk id="14344" creationId="{00000000-0000-0000-0000-000000000000}"/>
          </ac:spMkLst>
        </pc:spChg>
        <pc:picChg chg="add del">
          <ac:chgData name="Todd Lines" userId="afaf7c3a-e8aa-4568-882a-02ad8f9e19b0" providerId="ADAL" clId="{5FF5AC1B-ABA9-43D7-A1E3-2D92732CD6E2}" dt="2026-09-15T18:43:09.385" v="498" actId="478"/>
          <ac:picMkLst>
            <pc:docMk/>
            <pc:sldMk cId="0" sldId="377"/>
            <ac:picMk id="3" creationId="{CBA6C5C7-CAC2-DBBB-48EE-9BF619F8ECBD}"/>
          </ac:picMkLst>
        </pc:picChg>
        <pc:picChg chg="add del mod">
          <ac:chgData name="Todd Lines" userId="afaf7c3a-e8aa-4568-882a-02ad8f9e19b0" providerId="ADAL" clId="{5FF5AC1B-ABA9-43D7-A1E3-2D92732CD6E2}" dt="2026-09-15T18:43:44.898" v="504" actId="21"/>
          <ac:picMkLst>
            <pc:docMk/>
            <pc:sldMk cId="0" sldId="377"/>
            <ac:picMk id="5" creationId="{F4681FE1-49CD-DD46-C422-1C77CD996D1F}"/>
          </ac:picMkLst>
        </pc:picChg>
      </pc:sldChg>
      <pc:sldChg chg="addSp delSp modSp mod">
        <pc:chgData name="Todd Lines" userId="afaf7c3a-e8aa-4568-882a-02ad8f9e19b0" providerId="ADAL" clId="{5FF5AC1B-ABA9-43D7-A1E3-2D92732CD6E2}" dt="2026-09-15T18:46:58.643" v="518" actId="21"/>
        <pc:sldMkLst>
          <pc:docMk/>
          <pc:sldMk cId="0" sldId="378"/>
        </pc:sldMkLst>
        <pc:picChg chg="add del mod">
          <ac:chgData name="Todd Lines" userId="afaf7c3a-e8aa-4568-882a-02ad8f9e19b0" providerId="ADAL" clId="{5FF5AC1B-ABA9-43D7-A1E3-2D92732CD6E2}" dt="2026-09-15T18:44:01.435" v="507" actId="21"/>
          <ac:picMkLst>
            <pc:docMk/>
            <pc:sldMk cId="0" sldId="378"/>
            <ac:picMk id="3" creationId="{F540DC40-521A-6E73-2F57-BEFD2C6416A0}"/>
          </ac:picMkLst>
        </pc:picChg>
        <pc:picChg chg="add del mod">
          <ac:chgData name="Todd Lines" userId="afaf7c3a-e8aa-4568-882a-02ad8f9e19b0" providerId="ADAL" clId="{5FF5AC1B-ABA9-43D7-A1E3-2D92732CD6E2}" dt="2026-09-15T18:46:58.643" v="518" actId="21"/>
          <ac:picMkLst>
            <pc:docMk/>
            <pc:sldMk cId="0" sldId="378"/>
            <ac:picMk id="5" creationId="{B0A3EF4A-3347-ACD4-D8DB-609D115CA2DC}"/>
          </ac:picMkLst>
        </pc:picChg>
      </pc:sldChg>
      <pc:sldChg chg="addSp delSp modSp mod">
        <pc:chgData name="Todd Lines" userId="afaf7c3a-e8aa-4568-882a-02ad8f9e19b0" providerId="ADAL" clId="{5FF5AC1B-ABA9-43D7-A1E3-2D92732CD6E2}" dt="2026-09-15T18:46:45.375" v="515" actId="21"/>
        <pc:sldMkLst>
          <pc:docMk/>
          <pc:sldMk cId="0" sldId="379"/>
        </pc:sldMkLst>
        <pc:picChg chg="add del mod">
          <ac:chgData name="Todd Lines" userId="afaf7c3a-e8aa-4568-882a-02ad8f9e19b0" providerId="ADAL" clId="{5FF5AC1B-ABA9-43D7-A1E3-2D92732CD6E2}" dt="2026-09-15T18:44:47.343" v="510" actId="21"/>
          <ac:picMkLst>
            <pc:docMk/>
            <pc:sldMk cId="0" sldId="379"/>
            <ac:picMk id="3" creationId="{CB8E01C8-F348-F7AD-BE81-07E60B14CBC1}"/>
          </ac:picMkLst>
        </pc:picChg>
        <pc:picChg chg="add del mod">
          <ac:chgData name="Todd Lines" userId="afaf7c3a-e8aa-4568-882a-02ad8f9e19b0" providerId="ADAL" clId="{5FF5AC1B-ABA9-43D7-A1E3-2D92732CD6E2}" dt="2026-09-15T18:46:45.375" v="515" actId="21"/>
          <ac:picMkLst>
            <pc:docMk/>
            <pc:sldMk cId="0" sldId="379"/>
            <ac:picMk id="5" creationId="{1B9D9A31-5915-942D-0C5A-61CCCD074ECC}"/>
          </ac:picMkLst>
        </pc:picChg>
      </pc:sldChg>
      <pc:sldChg chg="ord">
        <pc:chgData name="Todd Lines" userId="afaf7c3a-e8aa-4568-882a-02ad8f9e19b0" providerId="ADAL" clId="{5FF5AC1B-ABA9-43D7-A1E3-2D92732CD6E2}" dt="2026-08-26T18:18:50.274" v="5"/>
        <pc:sldMkLst>
          <pc:docMk/>
          <pc:sldMk cId="0" sldId="380"/>
        </pc:sldMkLst>
      </pc:sldChg>
      <pc:sldChg chg="addSp modSp mod">
        <pc:chgData name="Todd Lines" userId="afaf7c3a-e8aa-4568-882a-02ad8f9e19b0" providerId="ADAL" clId="{5FF5AC1B-ABA9-43D7-A1E3-2D92732CD6E2}" dt="2026-09-15T16:38:54.625" v="485" actId="20577"/>
        <pc:sldMkLst>
          <pc:docMk/>
          <pc:sldMk cId="2400374094" sldId="402"/>
        </pc:sldMkLst>
        <pc:spChg chg="add mod">
          <ac:chgData name="Todd Lines" userId="afaf7c3a-e8aa-4568-882a-02ad8f9e19b0" providerId="ADAL" clId="{5FF5AC1B-ABA9-43D7-A1E3-2D92732CD6E2}" dt="2026-09-15T16:34:41.002" v="62" actId="1076"/>
          <ac:spMkLst>
            <pc:docMk/>
            <pc:sldMk cId="2400374094" sldId="402"/>
            <ac:spMk id="2" creationId="{68B2C6A7-B546-F75E-6AF8-97EA99858679}"/>
          </ac:spMkLst>
        </pc:spChg>
        <pc:spChg chg="add mod">
          <ac:chgData name="Todd Lines" userId="afaf7c3a-e8aa-4568-882a-02ad8f9e19b0" providerId="ADAL" clId="{5FF5AC1B-ABA9-43D7-A1E3-2D92732CD6E2}" dt="2026-09-15T16:38:37.888" v="469" actId="20577"/>
          <ac:spMkLst>
            <pc:docMk/>
            <pc:sldMk cId="2400374094" sldId="402"/>
            <ac:spMk id="16" creationId="{352720E6-3973-B8E8-0B50-AA434E120C57}"/>
          </ac:spMkLst>
        </pc:spChg>
        <pc:spChg chg="add mod">
          <ac:chgData name="Todd Lines" userId="afaf7c3a-e8aa-4568-882a-02ad8f9e19b0" providerId="ADAL" clId="{5FF5AC1B-ABA9-43D7-A1E3-2D92732CD6E2}" dt="2026-09-15T16:38:54.625" v="485" actId="20577"/>
          <ac:spMkLst>
            <pc:docMk/>
            <pc:sldMk cId="2400374094" sldId="402"/>
            <ac:spMk id="21" creationId="{1A7E0BC6-3682-A6B5-FD35-D7F4AB9BB1BB}"/>
          </ac:spMkLst>
        </pc:spChg>
        <pc:spChg chg="mod">
          <ac:chgData name="Todd Lines" userId="afaf7c3a-e8aa-4568-882a-02ad8f9e19b0" providerId="ADAL" clId="{5FF5AC1B-ABA9-43D7-A1E3-2D92732CD6E2}" dt="2026-09-15T16:38:08.645" v="450" actId="27636"/>
          <ac:spMkLst>
            <pc:docMk/>
            <pc:sldMk cId="2400374094" sldId="402"/>
            <ac:spMk id="27652" creationId="{00000000-0000-0000-0000-000000000000}"/>
          </ac:spMkLst>
        </pc:spChg>
        <pc:cxnChg chg="add mod">
          <ac:chgData name="Todd Lines" userId="afaf7c3a-e8aa-4568-882a-02ad8f9e19b0" providerId="ADAL" clId="{5FF5AC1B-ABA9-43D7-A1E3-2D92732CD6E2}" dt="2026-09-15T16:34:37.608" v="61" actId="693"/>
          <ac:cxnSpMkLst>
            <pc:docMk/>
            <pc:sldMk cId="2400374094" sldId="402"/>
            <ac:cxnSpMk id="6" creationId="{576C3C52-2B8E-31C2-F156-A26981F96AD7}"/>
          </ac:cxnSpMkLst>
        </pc:cxnChg>
        <pc:cxnChg chg="add mod">
          <ac:chgData name="Todd Lines" userId="afaf7c3a-e8aa-4568-882a-02ad8f9e19b0" providerId="ADAL" clId="{5FF5AC1B-ABA9-43D7-A1E3-2D92732CD6E2}" dt="2026-09-15T16:38:27.712" v="455" actId="14100"/>
          <ac:cxnSpMkLst>
            <pc:docMk/>
            <pc:sldMk cId="2400374094" sldId="402"/>
            <ac:cxnSpMk id="12" creationId="{73DBAD94-36FF-722D-7DD0-982C30701053}"/>
          </ac:cxnSpMkLst>
        </pc:cxnChg>
        <pc:cxnChg chg="add mod">
          <ac:chgData name="Todd Lines" userId="afaf7c3a-e8aa-4568-882a-02ad8f9e19b0" providerId="ADAL" clId="{5FF5AC1B-ABA9-43D7-A1E3-2D92732CD6E2}" dt="2026-09-15T16:38:47.305" v="473" actId="14100"/>
          <ac:cxnSpMkLst>
            <pc:docMk/>
            <pc:sldMk cId="2400374094" sldId="402"/>
            <ac:cxnSpMk id="17" creationId="{9D31261C-6FE1-9DFD-C51B-FC887E0FD185}"/>
          </ac:cxnSpMkLst>
        </pc:cxnChg>
      </pc:sldChg>
      <pc:sldChg chg="addSp delSp modSp mod">
        <pc:chgData name="Todd Lines" userId="afaf7c3a-e8aa-4568-882a-02ad8f9e19b0" providerId="ADAL" clId="{5FF5AC1B-ABA9-43D7-A1E3-2D92732CD6E2}" dt="2026-09-15T18:42:33.428" v="496" actId="21"/>
        <pc:sldMkLst>
          <pc:docMk/>
          <pc:sldMk cId="2146591160" sldId="415"/>
        </pc:sldMkLst>
        <pc:picChg chg="add del mod">
          <ac:chgData name="Todd Lines" userId="afaf7c3a-e8aa-4568-882a-02ad8f9e19b0" providerId="ADAL" clId="{5FF5AC1B-ABA9-43D7-A1E3-2D92732CD6E2}" dt="2026-09-15T18:42:02.787" v="491" actId="21"/>
          <ac:picMkLst>
            <pc:docMk/>
            <pc:sldMk cId="2146591160" sldId="415"/>
            <ac:picMk id="3" creationId="{8971B1E8-A62D-BE27-A26C-D9CB71149E5F}"/>
          </ac:picMkLst>
        </pc:picChg>
        <pc:picChg chg="add del">
          <ac:chgData name="Todd Lines" userId="afaf7c3a-e8aa-4568-882a-02ad8f9e19b0" providerId="ADAL" clId="{5FF5AC1B-ABA9-43D7-A1E3-2D92732CD6E2}" dt="2026-09-15T18:42:21.003" v="493" actId="478"/>
          <ac:picMkLst>
            <pc:docMk/>
            <pc:sldMk cId="2146591160" sldId="415"/>
            <ac:picMk id="5" creationId="{255FB83B-FF4E-6314-18F2-CC9E4068B053}"/>
          </ac:picMkLst>
        </pc:picChg>
        <pc:picChg chg="add del mod">
          <ac:chgData name="Todd Lines" userId="afaf7c3a-e8aa-4568-882a-02ad8f9e19b0" providerId="ADAL" clId="{5FF5AC1B-ABA9-43D7-A1E3-2D92732CD6E2}" dt="2026-09-15T18:42:33.428" v="496" actId="21"/>
          <ac:picMkLst>
            <pc:docMk/>
            <pc:sldMk cId="2146591160" sldId="415"/>
            <ac:picMk id="8" creationId="{C48F5070-B6B7-330A-7533-399FC2B8929E}"/>
          </ac:picMkLst>
        </pc:picChg>
      </pc:sldChg>
      <pc:sldChg chg="addSp delSp modSp add mod">
        <pc:chgData name="Todd Lines" userId="afaf7c3a-e8aa-4568-882a-02ad8f9e19b0" providerId="ADAL" clId="{5FF5AC1B-ABA9-43D7-A1E3-2D92732CD6E2}" dt="2026-09-15T18:50:48.470" v="523" actId="21"/>
        <pc:sldMkLst>
          <pc:docMk/>
          <pc:sldMk cId="3570093930" sldId="416"/>
        </pc:sldMkLst>
        <pc:picChg chg="add del">
          <ac:chgData name="Todd Lines" userId="afaf7c3a-e8aa-4568-882a-02ad8f9e19b0" providerId="ADAL" clId="{5FF5AC1B-ABA9-43D7-A1E3-2D92732CD6E2}" dt="2026-09-15T18:50:36.397" v="520" actId="478"/>
          <ac:picMkLst>
            <pc:docMk/>
            <pc:sldMk cId="3570093930" sldId="416"/>
            <ac:picMk id="3" creationId="{8A93E415-0E4A-4A73-FC78-FD0F7D67B0DB}"/>
          </ac:picMkLst>
        </pc:picChg>
        <pc:picChg chg="add del mod">
          <ac:chgData name="Todd Lines" userId="afaf7c3a-e8aa-4568-882a-02ad8f9e19b0" providerId="ADAL" clId="{5FF5AC1B-ABA9-43D7-A1E3-2D92732CD6E2}" dt="2026-09-15T18:50:48.470" v="523" actId="21"/>
          <ac:picMkLst>
            <pc:docMk/>
            <pc:sldMk cId="3570093930" sldId="416"/>
            <ac:picMk id="5" creationId="{76533E3D-0980-A0AE-8F9C-591B00DE6F82}"/>
          </ac:picMkLst>
        </pc:picChg>
      </pc:sldChg>
      <pc:sldChg chg="addSp delSp modSp add mod">
        <pc:chgData name="Todd Lines" userId="afaf7c3a-e8aa-4568-882a-02ad8f9e19b0" providerId="ADAL" clId="{5FF5AC1B-ABA9-43D7-A1E3-2D92732CD6E2}" dt="2026-09-15T19:11:54.336" v="553" actId="21"/>
        <pc:sldMkLst>
          <pc:docMk/>
          <pc:sldMk cId="3797345959" sldId="417"/>
        </pc:sldMkLst>
        <pc:picChg chg="add del mod">
          <ac:chgData name="Todd Lines" userId="afaf7c3a-e8aa-4568-882a-02ad8f9e19b0" providerId="ADAL" clId="{5FF5AC1B-ABA9-43D7-A1E3-2D92732CD6E2}" dt="2026-09-15T19:11:54.336" v="553" actId="21"/>
          <ac:picMkLst>
            <pc:docMk/>
            <pc:sldMk cId="3797345959" sldId="417"/>
            <ac:picMk id="3" creationId="{D30D5815-07E7-B719-EBD4-B28D1BBBF42A}"/>
          </ac:picMkLst>
        </pc:picChg>
      </pc:sldChg>
      <pc:sldChg chg="add">
        <pc:chgData name="Todd Lines" userId="afaf7c3a-e8aa-4568-882a-02ad8f9e19b0" providerId="ADAL" clId="{5FF5AC1B-ABA9-43D7-A1E3-2D92732CD6E2}" dt="2026-08-26T18:18:10.013" v="0"/>
        <pc:sldMkLst>
          <pc:docMk/>
          <pc:sldMk cId="0" sldId="418"/>
        </pc:sldMkLst>
      </pc:sldChg>
      <pc:sldChg chg="modSp add mod">
        <pc:chgData name="Todd Lines" userId="afaf7c3a-e8aa-4568-882a-02ad8f9e19b0" providerId="ADAL" clId="{5FF5AC1B-ABA9-43D7-A1E3-2D92732CD6E2}" dt="2026-09-15T19:10:48.775" v="550" actId="1076"/>
        <pc:sldMkLst>
          <pc:docMk/>
          <pc:sldMk cId="0" sldId="419"/>
        </pc:sldMkLst>
        <pc:spChg chg="mod">
          <ac:chgData name="Todd Lines" userId="afaf7c3a-e8aa-4568-882a-02ad8f9e19b0" providerId="ADAL" clId="{5FF5AC1B-ABA9-43D7-A1E3-2D92732CD6E2}" dt="2026-09-15T19:10:42.235" v="549" actId="1076"/>
          <ac:spMkLst>
            <pc:docMk/>
            <pc:sldMk cId="0" sldId="419"/>
            <ac:spMk id="20491" creationId="{00000000-0000-0000-0000-000000000000}"/>
          </ac:spMkLst>
        </pc:spChg>
        <pc:spChg chg="mod">
          <ac:chgData name="Todd Lines" userId="afaf7c3a-e8aa-4568-882a-02ad8f9e19b0" providerId="ADAL" clId="{5FF5AC1B-ABA9-43D7-A1E3-2D92732CD6E2}" dt="2026-09-15T19:10:48.775" v="550" actId="1076"/>
          <ac:spMkLst>
            <pc:docMk/>
            <pc:sldMk cId="0" sldId="419"/>
            <ac:spMk id="20492" creationId="{00000000-0000-0000-0000-000000000000}"/>
          </ac:spMkLst>
        </pc:spChg>
      </pc:sldChg>
      <pc:sldChg chg="addSp delSp modSp add mod">
        <pc:chgData name="Todd Lines" userId="afaf7c3a-e8aa-4568-882a-02ad8f9e19b0" providerId="ADAL" clId="{5FF5AC1B-ABA9-43D7-A1E3-2D92732CD6E2}" dt="2026-09-15T19:10:30.383" v="548" actId="20577"/>
        <pc:sldMkLst>
          <pc:docMk/>
          <pc:sldMk cId="0" sldId="420"/>
        </pc:sldMkLst>
        <pc:spChg chg="mod">
          <ac:chgData name="Todd Lines" userId="afaf7c3a-e8aa-4568-882a-02ad8f9e19b0" providerId="ADAL" clId="{5FF5AC1B-ABA9-43D7-A1E3-2D92732CD6E2}" dt="2026-09-15T19:10:30.383" v="548" actId="20577"/>
          <ac:spMkLst>
            <pc:docMk/>
            <pc:sldMk cId="0" sldId="420"/>
            <ac:spMk id="21508" creationId="{00000000-0000-0000-0000-000000000000}"/>
          </ac:spMkLst>
        </pc:spChg>
        <pc:spChg chg="mod">
          <ac:chgData name="Todd Lines" userId="afaf7c3a-e8aa-4568-882a-02ad8f9e19b0" providerId="ADAL" clId="{5FF5AC1B-ABA9-43D7-A1E3-2D92732CD6E2}" dt="2026-09-15T19:10:21.357" v="546" actId="20577"/>
          <ac:spMkLst>
            <pc:docMk/>
            <pc:sldMk cId="0" sldId="420"/>
            <ac:spMk id="21510" creationId="{00000000-0000-0000-0000-000000000000}"/>
          </ac:spMkLst>
        </pc:spChg>
        <pc:picChg chg="add del">
          <ac:chgData name="Todd Lines" userId="afaf7c3a-e8aa-4568-882a-02ad8f9e19b0" providerId="ADAL" clId="{5FF5AC1B-ABA9-43D7-A1E3-2D92732CD6E2}" dt="2026-09-15T18:46:14.313" v="512" actId="21"/>
          <ac:picMkLst>
            <pc:docMk/>
            <pc:sldMk cId="0" sldId="420"/>
            <ac:picMk id="5" creationId="{223D0617-182A-EDD4-5603-C087DCFB85A2}"/>
          </ac:picMkLst>
        </pc:picChg>
      </pc:sldChg>
      <pc:sldChg chg="add">
        <pc:chgData name="Todd Lines" userId="afaf7c3a-e8aa-4568-882a-02ad8f9e19b0" providerId="ADAL" clId="{5FF5AC1B-ABA9-43D7-A1E3-2D92732CD6E2}" dt="2026-08-26T18:18:10.013" v="0"/>
        <pc:sldMkLst>
          <pc:docMk/>
          <pc:sldMk cId="0" sldId="421"/>
        </pc:sldMkLst>
      </pc:sldChg>
      <pc:sldChg chg="modSp add mod">
        <pc:chgData name="Todd Lines" userId="afaf7c3a-e8aa-4568-882a-02ad8f9e19b0" providerId="ADAL" clId="{5FF5AC1B-ABA9-43D7-A1E3-2D92732CD6E2}" dt="2026-08-26T18:18:10.093" v="1" actId="27636"/>
        <pc:sldMkLst>
          <pc:docMk/>
          <pc:sldMk cId="0" sldId="422"/>
        </pc:sldMkLst>
        <pc:spChg chg="mod">
          <ac:chgData name="Todd Lines" userId="afaf7c3a-e8aa-4568-882a-02ad8f9e19b0" providerId="ADAL" clId="{5FF5AC1B-ABA9-43D7-A1E3-2D92732CD6E2}" dt="2026-08-26T18:18:10.093" v="1" actId="27636"/>
          <ac:spMkLst>
            <pc:docMk/>
            <pc:sldMk cId="0" sldId="422"/>
            <ac:spMk id="23556" creationId="{00000000-0000-0000-0000-000000000000}"/>
          </ac:spMkLst>
        </pc:spChg>
      </pc:sldChg>
      <pc:sldChg chg="add">
        <pc:chgData name="Todd Lines" userId="afaf7c3a-e8aa-4568-882a-02ad8f9e19b0" providerId="ADAL" clId="{5FF5AC1B-ABA9-43D7-A1E3-2D92732CD6E2}" dt="2026-08-26T18:18:10.013" v="0"/>
        <pc:sldMkLst>
          <pc:docMk/>
          <pc:sldMk cId="0" sldId="423"/>
        </pc:sldMkLst>
      </pc:sldChg>
      <pc:sldChg chg="modSp add mod">
        <pc:chgData name="Todd Lines" userId="afaf7c3a-e8aa-4568-882a-02ad8f9e19b0" providerId="ADAL" clId="{5FF5AC1B-ABA9-43D7-A1E3-2D92732CD6E2}" dt="2026-08-26T18:18:10.093" v="2" actId="27636"/>
        <pc:sldMkLst>
          <pc:docMk/>
          <pc:sldMk cId="3531190067" sldId="424"/>
        </pc:sldMkLst>
        <pc:spChg chg="mod">
          <ac:chgData name="Todd Lines" userId="afaf7c3a-e8aa-4568-882a-02ad8f9e19b0" providerId="ADAL" clId="{5FF5AC1B-ABA9-43D7-A1E3-2D92732CD6E2}" dt="2026-08-26T18:18:10.093" v="2" actId="27636"/>
          <ac:spMkLst>
            <pc:docMk/>
            <pc:sldMk cId="3531190067" sldId="424"/>
            <ac:spMk id="1030" creationId="{90A21971-A232-47EF-3A02-A58F8B124A12}"/>
          </ac:spMkLst>
        </pc:spChg>
      </pc:sldChg>
      <pc:sldChg chg="modSp add mod">
        <pc:chgData name="Todd Lines" userId="afaf7c3a-e8aa-4568-882a-02ad8f9e19b0" providerId="ADAL" clId="{5FF5AC1B-ABA9-43D7-A1E3-2D92732CD6E2}" dt="2026-08-26T18:18:10.124" v="3" actId="27636"/>
        <pc:sldMkLst>
          <pc:docMk/>
          <pc:sldMk cId="0" sldId="425"/>
        </pc:sldMkLst>
        <pc:spChg chg="mod">
          <ac:chgData name="Todd Lines" userId="afaf7c3a-e8aa-4568-882a-02ad8f9e19b0" providerId="ADAL" clId="{5FF5AC1B-ABA9-43D7-A1E3-2D92732CD6E2}" dt="2026-08-26T18:18:10.124" v="3" actId="27636"/>
          <ac:spMkLst>
            <pc:docMk/>
            <pc:sldMk cId="0" sldId="425"/>
            <ac:spMk id="24580" creationId="{00000000-0000-0000-0000-000000000000}"/>
          </ac:spMkLst>
        </pc:spChg>
      </pc:sldChg>
      <pc:sldChg chg="modSp new mod">
        <pc:chgData name="Todd Lines" userId="afaf7c3a-e8aa-4568-882a-02ad8f9e19b0" providerId="ADAL" clId="{5FF5AC1B-ABA9-43D7-A1E3-2D92732CD6E2}" dt="2026-08-26T18:19:27.017" v="26" actId="20577"/>
        <pc:sldMkLst>
          <pc:docMk/>
          <pc:sldMk cId="3941314901" sldId="426"/>
        </pc:sldMkLst>
        <pc:spChg chg="mod">
          <ac:chgData name="Todd Lines" userId="afaf7c3a-e8aa-4568-882a-02ad8f9e19b0" providerId="ADAL" clId="{5FF5AC1B-ABA9-43D7-A1E3-2D92732CD6E2}" dt="2026-08-26T18:19:27.017" v="26" actId="20577"/>
          <ac:spMkLst>
            <pc:docMk/>
            <pc:sldMk cId="3941314901" sldId="426"/>
            <ac:spMk id="2" creationId="{FDFDD89E-FF49-969A-86F6-24ECF1F846C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37D2-FDF7-A98F-A5F6-8D8118867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07906-33DD-9855-9EE7-B9C1C40F2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59E89-5957-76CF-3452-B4712F1A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0CF25-EF67-2CB1-639A-85D966913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6009-3E6B-7CA1-88CB-3AF02F4E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69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7D92-53D9-2603-3A16-C006BB3C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2EBE5-B073-0FCD-526A-C0BE3DC2F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439AE-ABFB-FCE6-E4A0-4E3B60CA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396F5-B97D-C475-B8A7-66F761FE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2D585-45E0-1844-81B0-13CA0621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9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C891-9EB0-2BAB-CD95-505B49CC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8749E-0FC8-D9FE-4401-162AD7BCB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156DA-663C-8F10-EC20-D76D9DC5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493BD-CC5C-CEE2-4F02-A66D398BB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8F681-9CB3-DAF6-C832-6E355963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38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12F2-06F5-E166-0CEE-15371FF5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BD1E5-3D96-CABC-A3F5-0E7F744D1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D508E-E89C-45A7-30C2-FA64C0D82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3E24B-087A-28F4-4499-C29832BD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CDAC-1364-FEBD-FA1A-7632D374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71EE1-CC6D-A889-DF46-A381F352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4741-3718-7D8A-91CA-14DFE88A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16F9C-783A-58AE-9A47-D4D0C3135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BE796-C107-D49E-47B7-F22349A4E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1F4E3-D5C9-45E1-DC11-FDC1796F8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4CA2F-5626-2AA0-8B7F-8B6938EF9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900A8-09DD-9C9F-472D-2B63D4095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6606E-18CD-320E-2373-99AFF2EA3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47533-0596-99A0-BDDF-507568C3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2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37897-EBDE-8705-FA14-99A0805F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F01CF-F88C-94BD-3FA7-DE65C7F4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8B259-9809-E65F-0CA3-A36AD3924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18E2E-11BF-7755-B3DE-AE52AE5F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5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AF9D1C-1D71-DBE4-A635-22E1F823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8D956-0D4A-8B83-E56A-2E14C2A25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3C67F-BDC3-B0D1-1F6E-6BAD20FE0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A890-D579-893E-A36D-43FBB70D7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7C60C-9DD4-5A4F-A3B9-954F6C2E4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7E63F-ED86-40B1-5DF8-C1D0F4BE6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07CAE-7862-71DD-282B-14E67567E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D78B1-5A31-18E2-6077-A9466C4C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4A636-DAE4-C398-7931-7F5696E8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3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8CF1F-4DD3-EA42-6FC1-ABD4AD4A3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B2B12-41FE-C5C6-F9C3-88184580B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86B53-240F-5B3F-925E-80763FE25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81DD8-2D60-FC9F-8D61-8DA59C4B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F075E-FFCC-DDF9-F1F0-81D04C626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B1421-C8B4-9C06-E397-024981396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8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906B-691C-BFBE-7613-03CBF516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3AE5E-E6F2-07D7-F31A-66940B97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8A099-6C46-B772-CF22-F962FAFE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FE2B5-2CE0-6B2B-6DB3-78D4C1A4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3AFE2-0527-7155-090D-CDCFEECC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4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8EF2E0-BFB5-2DD5-7D39-0463A4563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B8CCB-7057-FD1C-5BB9-CC3639860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E1CC5-581A-0E06-D397-31CC7924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86AB4-6E7C-C25A-1F0D-E1724036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686CB-5076-3C2A-F595-06016556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37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9FC83-D023-0A1A-12DC-21561EB5A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7A011-CE78-457A-E658-FD09822F2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3CF61-20D8-F133-5F2E-9E23FA634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946E1-4BD4-4BDB-BF97-56629F967A4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8EE92-62B7-D278-0C00-90E6157AD9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BDD44-73C1-CF39-F388-4273EDD5C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8EBF8-2310-4DF3-B248-30A1C1E0F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3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17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Z96pdkLdfd4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12" Type="http://schemas.openxmlformats.org/officeDocument/2006/relationships/image" Target="../media/image26.jpeg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17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30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17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4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wmf"/><Relationship Id="rId4" Type="http://schemas.openxmlformats.org/officeDocument/2006/relationships/oleObject" Target="../embeddings/oleObject40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3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6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6.png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emf"/><Relationship Id="rId4" Type="http://schemas.openxmlformats.org/officeDocument/2006/relationships/image" Target="../media/image58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org&amp;utm_campaign=imageinfo&amp;utm_content=thumbnai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sfpcnQW6qs?feature=oembed" TargetMode="External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8.bin"/><Relationship Id="rId18" Type="http://schemas.openxmlformats.org/officeDocument/2006/relationships/image" Target="../media/image28.wmf"/><Relationship Id="rId26" Type="http://schemas.openxmlformats.org/officeDocument/2006/relationships/oleObject" Target="../embeddings/oleObject65.bin"/><Relationship Id="rId21" Type="http://schemas.openxmlformats.org/officeDocument/2006/relationships/image" Target="../media/image32.wmf"/><Relationship Id="rId34" Type="http://schemas.openxmlformats.org/officeDocument/2006/relationships/image" Target="../media/image70.png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57.bin"/><Relationship Id="rId17" Type="http://schemas.openxmlformats.org/officeDocument/2006/relationships/oleObject" Target="../embeddings/oleObject60.bin"/><Relationship Id="rId25" Type="http://schemas.openxmlformats.org/officeDocument/2006/relationships/image" Target="../media/image34.wmf"/><Relationship Id="rId33" Type="http://schemas.openxmlformats.org/officeDocument/2006/relationships/image" Target="../media/image69.png"/><Relationship Id="rId38" Type="http://schemas.openxmlformats.org/officeDocument/2006/relationships/image" Target="../media/image65.wmf"/><Relationship Id="rId2" Type="http://schemas.openxmlformats.org/officeDocument/2006/relationships/oleObject" Target="../embeddings/oleObject52.bin"/><Relationship Id="rId16" Type="http://schemas.openxmlformats.org/officeDocument/2006/relationships/image" Target="../media/image27.wmf"/><Relationship Id="rId20" Type="http://schemas.openxmlformats.org/officeDocument/2006/relationships/oleObject" Target="../embeddings/oleObject62.bin"/><Relationship Id="rId29" Type="http://schemas.openxmlformats.org/officeDocument/2006/relationships/image" Target="../media/image3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19.wmf"/><Relationship Id="rId24" Type="http://schemas.openxmlformats.org/officeDocument/2006/relationships/oleObject" Target="../embeddings/oleObject64.bin"/><Relationship Id="rId32" Type="http://schemas.openxmlformats.org/officeDocument/2006/relationships/image" Target="../media/image68.png"/><Relationship Id="rId37" Type="http://schemas.openxmlformats.org/officeDocument/2006/relationships/oleObject" Target="../embeddings/oleObject68.bin"/><Relationship Id="rId5" Type="http://schemas.openxmlformats.org/officeDocument/2006/relationships/image" Target="../media/image15.wmf"/><Relationship Id="rId15" Type="http://schemas.openxmlformats.org/officeDocument/2006/relationships/oleObject" Target="../embeddings/oleObject59.bin"/><Relationship Id="rId23" Type="http://schemas.openxmlformats.org/officeDocument/2006/relationships/image" Target="../media/image33.wmf"/><Relationship Id="rId28" Type="http://schemas.openxmlformats.org/officeDocument/2006/relationships/oleObject" Target="../embeddings/oleObject66.bin"/><Relationship Id="rId36" Type="http://schemas.openxmlformats.org/officeDocument/2006/relationships/image" Target="../media/image72.png"/><Relationship Id="rId10" Type="http://schemas.openxmlformats.org/officeDocument/2006/relationships/oleObject" Target="../embeddings/oleObject56.bin"/><Relationship Id="rId19" Type="http://schemas.openxmlformats.org/officeDocument/2006/relationships/oleObject" Target="../embeddings/oleObject61.bin"/><Relationship Id="rId31" Type="http://schemas.openxmlformats.org/officeDocument/2006/relationships/image" Target="../media/image40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18.wmf"/><Relationship Id="rId14" Type="http://schemas.openxmlformats.org/officeDocument/2006/relationships/image" Target="../media/image25.wmf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37.wmf"/><Relationship Id="rId30" Type="http://schemas.openxmlformats.org/officeDocument/2006/relationships/oleObject" Target="../embeddings/oleObject67.bin"/><Relationship Id="rId35" Type="http://schemas.openxmlformats.org/officeDocument/2006/relationships/image" Target="../media/image71.png"/><Relationship Id="rId8" Type="http://schemas.openxmlformats.org/officeDocument/2006/relationships/oleObject" Target="../embeddings/oleObject55.bin"/><Relationship Id="rId3" Type="http://schemas.openxmlformats.org/officeDocument/2006/relationships/image" Target="../media/image11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7" Type="http://schemas.openxmlformats.org/officeDocument/2006/relationships/image" Target="../media/image54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5" Type="http://schemas.openxmlformats.org/officeDocument/2006/relationships/image" Target="../media/image52.png"/><Relationship Id="rId4" Type="http://schemas.openxmlformats.org/officeDocument/2006/relationships/image" Target="../media/image66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C9D39D9-A61B-486D-BA29-334904826EF0}" type="slidenum">
              <a:rPr lang="en-US" smtClean="0"/>
              <a:pPr eaLnBrk="1" hangingPunct="1"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Lecture 3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C4A2966-EBB9-8FE6-C85E-EE408F251F34}"/>
              </a:ext>
            </a:extLst>
          </p:cNvPr>
          <p:cNvGrpSpPr/>
          <p:nvPr/>
        </p:nvGrpSpPr>
        <p:grpSpPr>
          <a:xfrm>
            <a:off x="7574757" y="3872307"/>
            <a:ext cx="1182687" cy="1242222"/>
            <a:chOff x="5830888" y="3569492"/>
            <a:chExt cx="1182687" cy="124222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26745CC-438A-2784-8EB9-978AC48E2F0B}"/>
                </a:ext>
              </a:extLst>
            </p:cNvPr>
            <p:cNvSpPr/>
            <p:nvPr/>
          </p:nvSpPr>
          <p:spPr>
            <a:xfrm>
              <a:off x="5830888" y="3569492"/>
              <a:ext cx="1177925" cy="116205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78BBCC4-1862-F325-561B-9C4493496212}"/>
                </a:ext>
              </a:extLst>
            </p:cNvPr>
            <p:cNvSpPr/>
            <p:nvPr/>
          </p:nvSpPr>
          <p:spPr>
            <a:xfrm>
              <a:off x="5835650" y="3649662"/>
              <a:ext cx="1177925" cy="116205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123.1.11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737119" y="1555751"/>
            <a:ext cx="5787508" cy="47148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A circular object is in uniform motion. The drawing is at t = 0. An old fashioned lightbulb is above the circular object. It shines down on the object while the object turns. There is a knob on the circular object. The shadow of this knob is a projection onto the x-axis. If we consider the motion of the shadow, it will look like an oscillation. What will be the knob shadow’s amplitude and phase?</a:t>
            </a:r>
          </a:p>
          <a:p>
            <a:pPr marL="609600" indent="-609600">
              <a:buFontTx/>
              <a:buAutoNum type="alphaLcParenR"/>
            </a:pPr>
            <a:r>
              <a:rPr lang="en-US" sz="2000" dirty="0"/>
              <a:t> 0.50 m and 0</a:t>
            </a:r>
          </a:p>
          <a:p>
            <a:pPr marL="609600" indent="-609600">
              <a:buFontTx/>
              <a:buAutoNum type="alphaLcParenR"/>
            </a:pPr>
            <a:r>
              <a:rPr lang="en-US" sz="2000" dirty="0"/>
              <a:t>1.00m and 0</a:t>
            </a:r>
          </a:p>
          <a:p>
            <a:pPr marL="609600" indent="-609600">
              <a:buFontTx/>
              <a:buAutoNum type="alphaLcParenR"/>
            </a:pPr>
            <a:r>
              <a:rPr lang="en-US" sz="2000" dirty="0"/>
              <a:t>0.50m and </a:t>
            </a:r>
            <a:r>
              <a:rPr lang="en-US" sz="2000" dirty="0">
                <a:sym typeface="Symbol" pitchFamily="18" charset="2"/>
              </a:rPr>
              <a:t></a:t>
            </a:r>
          </a:p>
          <a:p>
            <a:pPr marL="609600" indent="-609600">
              <a:buFontTx/>
              <a:buAutoNum type="alphaLcParenR"/>
            </a:pPr>
            <a:r>
              <a:rPr lang="en-US" sz="2000" dirty="0">
                <a:sym typeface="Symbol" pitchFamily="18" charset="2"/>
              </a:rPr>
              <a:t>1.00m and </a:t>
            </a:r>
          </a:p>
          <a:p>
            <a:pPr marL="609600" indent="-609600">
              <a:buNone/>
            </a:pPr>
            <a:endParaRPr lang="en-US" sz="2000" dirty="0">
              <a:sym typeface="Symbol" pitchFamily="18" charset="2"/>
            </a:endParaRPr>
          </a:p>
          <a:p>
            <a:pPr marL="609600" indent="-609600">
              <a:buNone/>
            </a:pPr>
            <a:r>
              <a:rPr lang="en-US" sz="2000" dirty="0">
                <a:sym typeface="Symbol" pitchFamily="18" charset="2"/>
              </a:rPr>
              <a:t>Could you draw a graph of x vs. t for the knob shadow?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FA4781-7988-4AB5-93C1-0D2B1058395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7302501" y="5721350"/>
            <a:ext cx="1727200" cy="1460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miter lim="800000"/>
            <a:headEnd/>
            <a:tailEnd/>
          </a:ln>
          <a:scene3d>
            <a:camera prst="legacyPerspectiveTop"/>
            <a:lightRig rig="legacyFlat3" dir="r"/>
          </a:scene3d>
          <a:sp3d extrusionH="36306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7696200" y="4454525"/>
            <a:ext cx="508000" cy="889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Oval 7"/>
          <p:cNvSpPr>
            <a:spLocks noChangeArrowheads="1"/>
          </p:cNvSpPr>
          <p:nvPr/>
        </p:nvSpPr>
        <p:spPr bwMode="auto">
          <a:xfrm>
            <a:off x="7623175" y="4414838"/>
            <a:ext cx="115888" cy="1587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Line 9"/>
          <p:cNvSpPr>
            <a:spLocks noChangeShapeType="1"/>
          </p:cNvSpPr>
          <p:nvPr/>
        </p:nvSpPr>
        <p:spPr bwMode="auto">
          <a:xfrm>
            <a:off x="6629401" y="5559425"/>
            <a:ext cx="3629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659" name="Text Box 10"/>
          <p:cNvSpPr txBox="1">
            <a:spLocks noChangeArrowheads="1"/>
          </p:cNvSpPr>
          <p:nvPr/>
        </p:nvSpPr>
        <p:spPr bwMode="auto">
          <a:xfrm>
            <a:off x="9959976" y="559117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x</a:t>
            </a:r>
          </a:p>
        </p:txBody>
      </p:sp>
      <p:grpSp>
        <p:nvGrpSpPr>
          <p:cNvPr id="27660" name="Group 11"/>
          <p:cNvGrpSpPr>
            <a:grpSpLocks/>
          </p:cNvGrpSpPr>
          <p:nvPr/>
        </p:nvGrpSpPr>
        <p:grpSpPr bwMode="auto">
          <a:xfrm rot="-5400000">
            <a:off x="7981157" y="1327944"/>
            <a:ext cx="733425" cy="1690688"/>
            <a:chOff x="3465" y="1174"/>
            <a:chExt cx="462" cy="1065"/>
          </a:xfrm>
        </p:grpSpPr>
        <p:grpSp>
          <p:nvGrpSpPr>
            <p:cNvPr id="27666" name="Group 12"/>
            <p:cNvGrpSpPr>
              <a:grpSpLocks/>
            </p:cNvGrpSpPr>
            <p:nvPr/>
          </p:nvGrpSpPr>
          <p:grpSpPr bwMode="auto">
            <a:xfrm>
              <a:off x="3465" y="1326"/>
              <a:ext cx="412" cy="762"/>
              <a:chOff x="3465" y="1326"/>
              <a:chExt cx="412" cy="762"/>
            </a:xfrm>
          </p:grpSpPr>
          <p:sp>
            <p:nvSpPr>
              <p:cNvPr id="27668" name="Oval 13"/>
              <p:cNvSpPr>
                <a:spLocks noChangeArrowheads="1"/>
              </p:cNvSpPr>
              <p:nvPr/>
            </p:nvSpPr>
            <p:spPr bwMode="auto">
              <a:xfrm>
                <a:off x="3465" y="1326"/>
                <a:ext cx="412" cy="429"/>
              </a:xfrm>
              <a:prstGeom prst="ellipse">
                <a:avLst/>
              </a:prstGeom>
              <a:solidFill>
                <a:srgbClr val="FFFF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9" name="AutoShape 14"/>
              <p:cNvSpPr>
                <a:spLocks noChangeArrowheads="1"/>
              </p:cNvSpPr>
              <p:nvPr/>
            </p:nvSpPr>
            <p:spPr bwMode="auto">
              <a:xfrm>
                <a:off x="3474" y="1582"/>
                <a:ext cx="393" cy="31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7 w 21600"/>
                  <a:gd name="T13" fmla="*/ 4514 h 21600"/>
                  <a:gd name="T14" fmla="*/ 17093 w 21600"/>
                  <a:gd name="T15" fmla="*/ 170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0" name="Freeform 15"/>
              <p:cNvSpPr>
                <a:spLocks/>
              </p:cNvSpPr>
              <p:nvPr/>
            </p:nvSpPr>
            <p:spPr bwMode="auto">
              <a:xfrm>
                <a:off x="3567" y="1890"/>
                <a:ext cx="204" cy="198"/>
              </a:xfrm>
              <a:custGeom>
                <a:avLst/>
                <a:gdLst>
                  <a:gd name="T0" fmla="*/ 0 w 204"/>
                  <a:gd name="T1" fmla="*/ 0 h 198"/>
                  <a:gd name="T2" fmla="*/ 15 w 204"/>
                  <a:gd name="T3" fmla="*/ 39 h 198"/>
                  <a:gd name="T4" fmla="*/ 0 w 204"/>
                  <a:gd name="T5" fmla="*/ 72 h 198"/>
                  <a:gd name="T6" fmla="*/ 15 w 204"/>
                  <a:gd name="T7" fmla="*/ 108 h 198"/>
                  <a:gd name="T8" fmla="*/ 0 w 204"/>
                  <a:gd name="T9" fmla="*/ 153 h 198"/>
                  <a:gd name="T10" fmla="*/ 36 w 204"/>
                  <a:gd name="T11" fmla="*/ 186 h 198"/>
                  <a:gd name="T12" fmla="*/ 102 w 204"/>
                  <a:gd name="T13" fmla="*/ 198 h 198"/>
                  <a:gd name="T14" fmla="*/ 156 w 204"/>
                  <a:gd name="T15" fmla="*/ 189 h 198"/>
                  <a:gd name="T16" fmla="*/ 204 w 204"/>
                  <a:gd name="T17" fmla="*/ 171 h 198"/>
                  <a:gd name="T18" fmla="*/ 177 w 204"/>
                  <a:gd name="T19" fmla="*/ 141 h 198"/>
                  <a:gd name="T20" fmla="*/ 189 w 204"/>
                  <a:gd name="T21" fmla="*/ 93 h 198"/>
                  <a:gd name="T22" fmla="*/ 177 w 204"/>
                  <a:gd name="T23" fmla="*/ 60 h 198"/>
                  <a:gd name="T24" fmla="*/ 201 w 204"/>
                  <a:gd name="T25" fmla="*/ 24 h 198"/>
                  <a:gd name="T26" fmla="*/ 201 w 204"/>
                  <a:gd name="T27" fmla="*/ 0 h 198"/>
                  <a:gd name="T28" fmla="*/ 0 w 204"/>
                  <a:gd name="T29" fmla="*/ 0 h 19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04"/>
                  <a:gd name="T46" fmla="*/ 0 h 198"/>
                  <a:gd name="T47" fmla="*/ 204 w 204"/>
                  <a:gd name="T48" fmla="*/ 198 h 19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04" h="198">
                    <a:moveTo>
                      <a:pt x="0" y="0"/>
                    </a:moveTo>
                    <a:lnTo>
                      <a:pt x="15" y="39"/>
                    </a:lnTo>
                    <a:lnTo>
                      <a:pt x="0" y="72"/>
                    </a:lnTo>
                    <a:lnTo>
                      <a:pt x="15" y="108"/>
                    </a:lnTo>
                    <a:lnTo>
                      <a:pt x="0" y="153"/>
                    </a:lnTo>
                    <a:lnTo>
                      <a:pt x="36" y="186"/>
                    </a:lnTo>
                    <a:lnTo>
                      <a:pt x="102" y="198"/>
                    </a:lnTo>
                    <a:lnTo>
                      <a:pt x="156" y="189"/>
                    </a:lnTo>
                    <a:lnTo>
                      <a:pt x="204" y="171"/>
                    </a:lnTo>
                    <a:lnTo>
                      <a:pt x="177" y="141"/>
                    </a:lnTo>
                    <a:lnTo>
                      <a:pt x="189" y="93"/>
                    </a:lnTo>
                    <a:lnTo>
                      <a:pt x="177" y="60"/>
                    </a:lnTo>
                    <a:lnTo>
                      <a:pt x="201" y="24"/>
                    </a:lnTo>
                    <a:lnTo>
                      <a:pt x="20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667" name="Arc 16"/>
            <p:cNvSpPr>
              <a:spLocks/>
            </p:cNvSpPr>
            <p:nvPr/>
          </p:nvSpPr>
          <p:spPr bwMode="auto">
            <a:xfrm>
              <a:off x="3680" y="1174"/>
              <a:ext cx="247" cy="1065"/>
            </a:xfrm>
            <a:custGeom>
              <a:avLst/>
              <a:gdLst>
                <a:gd name="T0" fmla="*/ 0 w 22521"/>
                <a:gd name="T1" fmla="*/ 0 h 43200"/>
                <a:gd name="T2" fmla="*/ 0 w 22521"/>
                <a:gd name="T3" fmla="*/ 0 h 43200"/>
                <a:gd name="T4" fmla="*/ 0 w 22521"/>
                <a:gd name="T5" fmla="*/ 0 h 43200"/>
                <a:gd name="T6" fmla="*/ 0 60000 65536"/>
                <a:gd name="T7" fmla="*/ 0 60000 65536"/>
                <a:gd name="T8" fmla="*/ 0 60000 65536"/>
                <a:gd name="T9" fmla="*/ 0 w 22521"/>
                <a:gd name="T10" fmla="*/ 0 h 43200"/>
                <a:gd name="T11" fmla="*/ 22521 w 22521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521" h="43200" fill="none" extrusionOk="0">
                  <a:moveTo>
                    <a:pt x="920" y="0"/>
                  </a:moveTo>
                  <a:cubicBezTo>
                    <a:pt x="12850" y="0"/>
                    <a:pt x="22521" y="9670"/>
                    <a:pt x="22521" y="21600"/>
                  </a:cubicBezTo>
                  <a:cubicBezTo>
                    <a:pt x="22521" y="33529"/>
                    <a:pt x="12850" y="43200"/>
                    <a:pt x="921" y="43200"/>
                  </a:cubicBezTo>
                  <a:cubicBezTo>
                    <a:pt x="613" y="43200"/>
                    <a:pt x="306" y="43193"/>
                    <a:pt x="-1" y="43180"/>
                  </a:cubicBezTo>
                </a:path>
                <a:path w="22521" h="43200" stroke="0" extrusionOk="0">
                  <a:moveTo>
                    <a:pt x="920" y="0"/>
                  </a:moveTo>
                  <a:cubicBezTo>
                    <a:pt x="12850" y="0"/>
                    <a:pt x="22521" y="9670"/>
                    <a:pt x="22521" y="21600"/>
                  </a:cubicBezTo>
                  <a:cubicBezTo>
                    <a:pt x="22521" y="33529"/>
                    <a:pt x="12850" y="43200"/>
                    <a:pt x="921" y="43200"/>
                  </a:cubicBezTo>
                  <a:cubicBezTo>
                    <a:pt x="613" y="43200"/>
                    <a:pt x="306" y="43193"/>
                    <a:pt x="-1" y="43180"/>
                  </a:cubicBezTo>
                  <a:lnTo>
                    <a:pt x="921" y="21600"/>
                  </a:lnTo>
                  <a:close/>
                </a:path>
              </a:pathLst>
            </a:custGeom>
            <a:solidFill>
              <a:srgbClr val="7DC4C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61" name="Line 17"/>
          <p:cNvSpPr>
            <a:spLocks noChangeShapeType="1"/>
          </p:cNvSpPr>
          <p:nvPr/>
        </p:nvSpPr>
        <p:spPr bwMode="auto">
          <a:xfrm>
            <a:off x="7780339" y="2554288"/>
            <a:ext cx="14287" cy="110331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662" name="Line 18"/>
          <p:cNvSpPr>
            <a:spLocks noChangeShapeType="1"/>
          </p:cNvSpPr>
          <p:nvPr/>
        </p:nvSpPr>
        <p:spPr bwMode="auto">
          <a:xfrm>
            <a:off x="7991475" y="2576513"/>
            <a:ext cx="14288" cy="110331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663" name="Line 19"/>
          <p:cNvSpPr>
            <a:spLocks noChangeShapeType="1"/>
          </p:cNvSpPr>
          <p:nvPr/>
        </p:nvSpPr>
        <p:spPr bwMode="auto">
          <a:xfrm>
            <a:off x="8245475" y="2584451"/>
            <a:ext cx="14288" cy="11033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664" name="Line 20"/>
          <p:cNvSpPr>
            <a:spLocks noChangeShapeType="1"/>
          </p:cNvSpPr>
          <p:nvPr/>
        </p:nvSpPr>
        <p:spPr bwMode="auto">
          <a:xfrm>
            <a:off x="8470900" y="2519363"/>
            <a:ext cx="14288" cy="110331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665" name="Text Box 21"/>
          <p:cNvSpPr txBox="1">
            <a:spLocks noChangeArrowheads="1"/>
          </p:cNvSpPr>
          <p:nvPr/>
        </p:nvSpPr>
        <p:spPr bwMode="auto">
          <a:xfrm>
            <a:off x="7658101" y="4594225"/>
            <a:ext cx="606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0.50m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163155F-F055-36CA-0716-A54E34E207F4}"/>
              </a:ext>
            </a:extLst>
          </p:cNvPr>
          <p:cNvSpPr/>
          <p:nvPr/>
        </p:nvSpPr>
        <p:spPr>
          <a:xfrm>
            <a:off x="7315201" y="5353051"/>
            <a:ext cx="1704976" cy="366714"/>
          </a:xfrm>
          <a:custGeom>
            <a:avLst/>
            <a:gdLst>
              <a:gd name="csX0" fmla="*/ 242888 w 1719263"/>
              <a:gd name="csY0" fmla="*/ 0 h 366713"/>
              <a:gd name="csX1" fmla="*/ 1514475 w 1719263"/>
              <a:gd name="csY1" fmla="*/ 14288 h 366713"/>
              <a:gd name="csX2" fmla="*/ 1719263 w 1719263"/>
              <a:gd name="csY2" fmla="*/ 347663 h 366713"/>
              <a:gd name="csX3" fmla="*/ 0 w 1719263"/>
              <a:gd name="csY3" fmla="*/ 366713 h 366713"/>
              <a:gd name="csX4" fmla="*/ 242888 w 1719263"/>
              <a:gd name="csY4" fmla="*/ 0 h 366713"/>
              <a:gd name="csX0" fmla="*/ 242888 w 1719263"/>
              <a:gd name="csY0" fmla="*/ 0 h 366713"/>
              <a:gd name="csX1" fmla="*/ 1509713 w 1719263"/>
              <a:gd name="csY1" fmla="*/ 4763 h 366713"/>
              <a:gd name="csX2" fmla="*/ 1719263 w 1719263"/>
              <a:gd name="csY2" fmla="*/ 347663 h 366713"/>
              <a:gd name="csX3" fmla="*/ 0 w 1719263"/>
              <a:gd name="csY3" fmla="*/ 366713 h 366713"/>
              <a:gd name="csX4" fmla="*/ 242888 w 1719263"/>
              <a:gd name="csY4" fmla="*/ 0 h 366713"/>
              <a:gd name="csX0" fmla="*/ 242888 w 1719263"/>
              <a:gd name="csY0" fmla="*/ 0 h 361951"/>
              <a:gd name="csX1" fmla="*/ 1509713 w 1719263"/>
              <a:gd name="csY1" fmla="*/ 4763 h 361951"/>
              <a:gd name="csX2" fmla="*/ 1719263 w 1719263"/>
              <a:gd name="csY2" fmla="*/ 347663 h 361951"/>
              <a:gd name="csX3" fmla="*/ 0 w 1719263"/>
              <a:gd name="csY3" fmla="*/ 361951 h 361951"/>
              <a:gd name="csX4" fmla="*/ 242888 w 1719263"/>
              <a:gd name="csY4" fmla="*/ 0 h 361951"/>
              <a:gd name="csX0" fmla="*/ 204788 w 1681163"/>
              <a:gd name="csY0" fmla="*/ 0 h 347663"/>
              <a:gd name="csX1" fmla="*/ 1471613 w 1681163"/>
              <a:gd name="csY1" fmla="*/ 4763 h 347663"/>
              <a:gd name="csX2" fmla="*/ 1681163 w 1681163"/>
              <a:gd name="csY2" fmla="*/ 347663 h 347663"/>
              <a:gd name="csX3" fmla="*/ 0 w 1681163"/>
              <a:gd name="csY3" fmla="*/ 304801 h 347663"/>
              <a:gd name="csX4" fmla="*/ 204788 w 1681163"/>
              <a:gd name="csY4" fmla="*/ 0 h 347663"/>
              <a:gd name="csX0" fmla="*/ 223838 w 1700213"/>
              <a:gd name="csY0" fmla="*/ 0 h 366714"/>
              <a:gd name="csX1" fmla="*/ 1490663 w 1700213"/>
              <a:gd name="csY1" fmla="*/ 4763 h 366714"/>
              <a:gd name="csX2" fmla="*/ 1700213 w 1700213"/>
              <a:gd name="csY2" fmla="*/ 347663 h 366714"/>
              <a:gd name="csX3" fmla="*/ 0 w 1700213"/>
              <a:gd name="csY3" fmla="*/ 366714 h 366714"/>
              <a:gd name="csX4" fmla="*/ 223838 w 1700213"/>
              <a:gd name="csY4" fmla="*/ 0 h 366714"/>
              <a:gd name="csX0" fmla="*/ 223838 w 1624013"/>
              <a:gd name="csY0" fmla="*/ 0 h 366714"/>
              <a:gd name="csX1" fmla="*/ 1490663 w 1624013"/>
              <a:gd name="csY1" fmla="*/ 4763 h 366714"/>
              <a:gd name="csX2" fmla="*/ 1624013 w 1624013"/>
              <a:gd name="csY2" fmla="*/ 204788 h 366714"/>
              <a:gd name="csX3" fmla="*/ 0 w 1624013"/>
              <a:gd name="csY3" fmla="*/ 366714 h 366714"/>
              <a:gd name="csX4" fmla="*/ 223838 w 1624013"/>
              <a:gd name="csY4" fmla="*/ 0 h 366714"/>
              <a:gd name="csX0" fmla="*/ 223838 w 1704976"/>
              <a:gd name="csY0" fmla="*/ 0 h 366714"/>
              <a:gd name="csX1" fmla="*/ 1490663 w 1704976"/>
              <a:gd name="csY1" fmla="*/ 4763 h 366714"/>
              <a:gd name="csX2" fmla="*/ 1704976 w 1704976"/>
              <a:gd name="csY2" fmla="*/ 361950 h 366714"/>
              <a:gd name="csX3" fmla="*/ 0 w 1704976"/>
              <a:gd name="csY3" fmla="*/ 366714 h 366714"/>
              <a:gd name="csX4" fmla="*/ 223838 w 1704976"/>
              <a:gd name="csY4" fmla="*/ 0 h 366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04976" h="366714">
                <a:moveTo>
                  <a:pt x="223838" y="0"/>
                </a:moveTo>
                <a:lnTo>
                  <a:pt x="1490663" y="4763"/>
                </a:lnTo>
                <a:lnTo>
                  <a:pt x="1704976" y="361950"/>
                </a:lnTo>
                <a:lnTo>
                  <a:pt x="0" y="366714"/>
                </a:lnTo>
                <a:lnTo>
                  <a:pt x="22383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EF28A57-888A-A2E5-DA02-19020A0C4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119" y="5461001"/>
            <a:ext cx="508000" cy="88900"/>
          </a:xfrm>
          <a:prstGeom prst="rect">
            <a:avLst/>
          </a:prstGeom>
          <a:solidFill>
            <a:schemeClr val="bg1">
              <a:lumMod val="75000"/>
              <a:alpha val="42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Oval 8"/>
          <p:cNvSpPr>
            <a:spLocks noChangeArrowheads="1"/>
          </p:cNvSpPr>
          <p:nvPr/>
        </p:nvSpPr>
        <p:spPr bwMode="auto">
          <a:xfrm>
            <a:off x="7605714" y="5502275"/>
            <a:ext cx="130175" cy="88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B430866-DCF2-2003-4EC1-754BDA995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476" y="5358607"/>
            <a:ext cx="1090612" cy="100785"/>
          </a:xfrm>
          <a:prstGeom prst="rect">
            <a:avLst/>
          </a:prstGeom>
          <a:solidFill>
            <a:schemeClr val="bg1">
              <a:lumMod val="75000"/>
              <a:alpha val="42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B2C6A7-B546-F75E-6AF8-97EA99858679}"/>
              </a:ext>
            </a:extLst>
          </p:cNvPr>
          <p:cNvSpPr txBox="1"/>
          <p:nvPr/>
        </p:nvSpPr>
        <p:spPr>
          <a:xfrm>
            <a:off x="10258426" y="3751937"/>
            <a:ext cx="1659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Circular object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6C3C52-2B8E-31C2-F156-A26981F96AD7}"/>
              </a:ext>
            </a:extLst>
          </p:cNvPr>
          <p:cNvCxnSpPr>
            <a:cxnSpLocks/>
          </p:cNvCxnSpPr>
          <p:nvPr/>
        </p:nvCxnSpPr>
        <p:spPr>
          <a:xfrm flipH="1">
            <a:off x="8898820" y="3952477"/>
            <a:ext cx="1359606" cy="349737"/>
          </a:xfrm>
          <a:prstGeom prst="straightConnector1">
            <a:avLst/>
          </a:prstGeom>
          <a:ln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DBAD94-36FF-722D-7DD0-982C30701053}"/>
              </a:ext>
            </a:extLst>
          </p:cNvPr>
          <p:cNvCxnSpPr>
            <a:cxnSpLocks/>
          </p:cNvCxnSpPr>
          <p:nvPr/>
        </p:nvCxnSpPr>
        <p:spPr>
          <a:xfrm flipV="1">
            <a:off x="6815140" y="5580289"/>
            <a:ext cx="759617" cy="504907"/>
          </a:xfrm>
          <a:prstGeom prst="straightConnector1">
            <a:avLst/>
          </a:prstGeom>
          <a:ln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52720E6-3973-B8E8-0B50-AA434E120C57}"/>
              </a:ext>
            </a:extLst>
          </p:cNvPr>
          <p:cNvSpPr txBox="1"/>
          <p:nvPr/>
        </p:nvSpPr>
        <p:spPr>
          <a:xfrm>
            <a:off x="6135133" y="6219986"/>
            <a:ext cx="1528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Knob shadow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31261C-6FE1-9DFD-C51B-FC887E0FD185}"/>
              </a:ext>
            </a:extLst>
          </p:cNvPr>
          <p:cNvCxnSpPr>
            <a:cxnSpLocks/>
          </p:cNvCxnSpPr>
          <p:nvPr/>
        </p:nvCxnSpPr>
        <p:spPr>
          <a:xfrm flipH="1" flipV="1">
            <a:off x="8664575" y="2625726"/>
            <a:ext cx="808036" cy="322173"/>
          </a:xfrm>
          <a:prstGeom prst="straightConnector1">
            <a:avLst/>
          </a:prstGeom>
          <a:ln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A7E0BC6-3682-A6B5-FD35-D7F4AB9BB1BB}"/>
              </a:ext>
            </a:extLst>
          </p:cNvPr>
          <p:cNvSpPr txBox="1"/>
          <p:nvPr/>
        </p:nvSpPr>
        <p:spPr>
          <a:xfrm>
            <a:off x="9578623" y="2770347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Light bulb</a:t>
            </a:r>
          </a:p>
        </p:txBody>
      </p:sp>
    </p:spTree>
    <p:extLst>
      <p:ext uri="{BB962C8B-B14F-4D97-AF65-F5344CB8AC3E}">
        <p14:creationId xmlns:p14="http://schemas.microsoft.com/office/powerpoint/2010/main" val="240037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123.1.12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1600201"/>
            <a:ext cx="4760913" cy="4525963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r>
              <a:rPr lang="en-US" sz="2000"/>
              <a:t>The circular object pictured here is made to rotate clockwise at 29 revolutions per second. It is filmed with a camera that takes 30 frames per second. Compared to its actual motion, the dot on the film appears to move</a:t>
            </a:r>
          </a:p>
          <a:p>
            <a:pPr marL="609600" indent="-609600">
              <a:lnSpc>
                <a:spcPct val="80000"/>
              </a:lnSpc>
              <a:buFontTx/>
              <a:buAutoNum type="alphaLcParenR"/>
            </a:pPr>
            <a:r>
              <a:rPr lang="en-US" sz="2000"/>
              <a:t>Clockwise at a very slow rate</a:t>
            </a:r>
          </a:p>
          <a:p>
            <a:pPr marL="609600" indent="-609600">
              <a:lnSpc>
                <a:spcPct val="80000"/>
              </a:lnSpc>
              <a:buFontTx/>
              <a:buAutoNum type="alphaLcParenR"/>
            </a:pPr>
            <a:r>
              <a:rPr lang="en-US" sz="2000"/>
              <a:t>Counterclockwise at a very slow rate</a:t>
            </a:r>
          </a:p>
          <a:p>
            <a:pPr marL="609600" indent="-609600">
              <a:lnSpc>
                <a:spcPct val="80000"/>
              </a:lnSpc>
              <a:buFontTx/>
              <a:buAutoNum type="alphaLcParenR"/>
            </a:pPr>
            <a:r>
              <a:rPr lang="en-US" sz="2000"/>
              <a:t>Clockwise at a very fast rate</a:t>
            </a:r>
          </a:p>
          <a:p>
            <a:pPr marL="609600" indent="-609600">
              <a:lnSpc>
                <a:spcPct val="80000"/>
              </a:lnSpc>
              <a:buFontTx/>
              <a:buAutoNum type="alphaLcParenR"/>
            </a:pPr>
            <a:r>
              <a:rPr lang="en-US" sz="2000"/>
              <a:t>Counterclockwise at a very fast rate</a:t>
            </a:r>
          </a:p>
          <a:p>
            <a:pPr marL="609600" indent="-609600">
              <a:lnSpc>
                <a:spcPct val="80000"/>
              </a:lnSpc>
              <a:buFontTx/>
              <a:buAutoNum type="alphaLcParenR"/>
            </a:pPr>
            <a:r>
              <a:rPr lang="en-US" sz="2000"/>
              <a:t>In a random fashion</a:t>
            </a:r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378DD4C-D305-4270-9B69-25123679276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8677" name="Oval 4"/>
          <p:cNvSpPr>
            <a:spLocks noChangeArrowheads="1"/>
          </p:cNvSpPr>
          <p:nvPr/>
        </p:nvSpPr>
        <p:spPr bwMode="auto">
          <a:xfrm>
            <a:off x="7721601" y="2308225"/>
            <a:ext cx="1800225" cy="19875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Oval 5"/>
          <p:cNvSpPr>
            <a:spLocks noChangeArrowheads="1"/>
          </p:cNvSpPr>
          <p:nvPr/>
        </p:nvSpPr>
        <p:spPr bwMode="auto">
          <a:xfrm>
            <a:off x="8585200" y="240347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Arc 6"/>
          <p:cNvSpPr>
            <a:spLocks/>
          </p:cNvSpPr>
          <p:nvPr/>
        </p:nvSpPr>
        <p:spPr bwMode="auto">
          <a:xfrm>
            <a:off x="8621714" y="2119313"/>
            <a:ext cx="814387" cy="869950"/>
          </a:xfrm>
          <a:custGeom>
            <a:avLst/>
            <a:gdLst>
              <a:gd name="T0" fmla="*/ 0 w 17573"/>
              <a:gd name="T1" fmla="*/ 0 h 21600"/>
              <a:gd name="T2" fmla="*/ 2147483647 w 17573"/>
              <a:gd name="T3" fmla="*/ 2147483647 h 21600"/>
              <a:gd name="T4" fmla="*/ 0 w 17573"/>
              <a:gd name="T5" fmla="*/ 2147483647 h 21600"/>
              <a:gd name="T6" fmla="*/ 0 60000 65536"/>
              <a:gd name="T7" fmla="*/ 0 60000 65536"/>
              <a:gd name="T8" fmla="*/ 0 60000 65536"/>
              <a:gd name="T9" fmla="*/ 0 w 17573"/>
              <a:gd name="T10" fmla="*/ 0 h 21600"/>
              <a:gd name="T11" fmla="*/ 17573 w 1757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573" h="21600" fill="none" extrusionOk="0">
                <a:moveTo>
                  <a:pt x="-1" y="0"/>
                </a:moveTo>
                <a:cubicBezTo>
                  <a:pt x="6973" y="0"/>
                  <a:pt x="13517" y="3366"/>
                  <a:pt x="17572" y="9040"/>
                </a:cubicBezTo>
              </a:path>
              <a:path w="17573" h="21600" stroke="0" extrusionOk="0">
                <a:moveTo>
                  <a:pt x="-1" y="0"/>
                </a:moveTo>
                <a:cubicBezTo>
                  <a:pt x="6973" y="0"/>
                  <a:pt x="13517" y="3366"/>
                  <a:pt x="17572" y="904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Trigonometry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1600201"/>
            <a:ext cx="3470275" cy="4525963"/>
          </a:xfrm>
        </p:spPr>
        <p:txBody>
          <a:bodyPr/>
          <a:lstStyle/>
          <a:p>
            <a:pPr eaLnBrk="1" hangingPunct="1"/>
            <a:r>
              <a:rPr lang="en-US"/>
              <a:t>Remember defining trig functions on a unit circle?</a:t>
            </a:r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EFAE4-27D8-420E-BC88-027A39AC819A}" type="slidenum">
              <a:rPr lang="en-US"/>
              <a:pPr/>
              <a:t>4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638801" y="1447800"/>
            <a:ext cx="4422775" cy="4495800"/>
            <a:chOff x="2592" y="912"/>
            <a:chExt cx="2786" cy="2832"/>
          </a:xfrm>
        </p:grpSpPr>
        <p:sp>
          <p:nvSpPr>
            <p:cNvPr id="25607" name="AutoShape 5"/>
            <p:cNvSpPr>
              <a:spLocks noChangeArrowheads="1"/>
            </p:cNvSpPr>
            <p:nvPr/>
          </p:nvSpPr>
          <p:spPr bwMode="auto">
            <a:xfrm flipH="1">
              <a:off x="3888" y="1824"/>
              <a:ext cx="720" cy="624"/>
            </a:xfrm>
            <a:prstGeom prst="rtTriangle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2592" y="1152"/>
              <a:ext cx="2592" cy="2592"/>
              <a:chOff x="2592" y="1152"/>
              <a:chExt cx="2592" cy="2592"/>
            </a:xfrm>
          </p:grpSpPr>
          <p:sp>
            <p:nvSpPr>
              <p:cNvPr id="25619" name="Oval 7"/>
              <p:cNvSpPr>
                <a:spLocks noChangeArrowheads="1"/>
              </p:cNvSpPr>
              <p:nvPr/>
            </p:nvSpPr>
            <p:spPr bwMode="auto">
              <a:xfrm>
                <a:off x="2937" y="1488"/>
                <a:ext cx="1902" cy="19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0" name="Line 8"/>
              <p:cNvSpPr>
                <a:spLocks noChangeShapeType="1"/>
              </p:cNvSpPr>
              <p:nvPr/>
            </p:nvSpPr>
            <p:spPr bwMode="auto">
              <a:xfrm>
                <a:off x="3888" y="1152"/>
                <a:ext cx="0" cy="25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1" name="Line 9"/>
              <p:cNvSpPr>
                <a:spLocks noChangeShapeType="1"/>
              </p:cNvSpPr>
              <p:nvPr/>
            </p:nvSpPr>
            <p:spPr bwMode="auto">
              <a:xfrm rot="-5400000">
                <a:off x="3888" y="1152"/>
                <a:ext cx="0" cy="25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09" name="Text Box 10"/>
            <p:cNvSpPr txBox="1">
              <a:spLocks noChangeArrowheads="1"/>
            </p:cNvSpPr>
            <p:nvPr/>
          </p:nvSpPr>
          <p:spPr bwMode="auto">
            <a:xfrm>
              <a:off x="3888" y="912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cs typeface="Arial" charset="0"/>
                </a:rPr>
                <a:t>ĵ</a:t>
              </a:r>
            </a:p>
          </p:txBody>
        </p:sp>
        <p:sp>
          <p:nvSpPr>
            <p:cNvPr id="25610" name="Text Box 11"/>
            <p:cNvSpPr txBox="1">
              <a:spLocks noChangeArrowheads="1"/>
            </p:cNvSpPr>
            <p:nvPr/>
          </p:nvSpPr>
          <p:spPr bwMode="auto">
            <a:xfrm>
              <a:off x="5222" y="2423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î</a:t>
              </a:r>
            </a:p>
          </p:txBody>
        </p:sp>
        <p:sp>
          <p:nvSpPr>
            <p:cNvPr id="25611" name="Line 12"/>
            <p:cNvSpPr>
              <a:spLocks noChangeShapeType="1"/>
            </p:cNvSpPr>
            <p:nvPr/>
          </p:nvSpPr>
          <p:spPr bwMode="auto">
            <a:xfrm flipV="1">
              <a:off x="3888" y="1824"/>
              <a:ext cx="72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2" name="Line 13"/>
            <p:cNvSpPr>
              <a:spLocks noChangeShapeType="1"/>
            </p:cNvSpPr>
            <p:nvPr/>
          </p:nvSpPr>
          <p:spPr bwMode="auto">
            <a:xfrm>
              <a:off x="4608" y="182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3" name="Arc 14"/>
            <p:cNvSpPr>
              <a:spLocks/>
            </p:cNvSpPr>
            <p:nvPr/>
          </p:nvSpPr>
          <p:spPr bwMode="auto">
            <a:xfrm>
              <a:off x="4080" y="2208"/>
              <a:ext cx="144" cy="240"/>
            </a:xfrm>
            <a:custGeom>
              <a:avLst/>
              <a:gdLst>
                <a:gd name="T0" fmla="*/ 77 w 21600"/>
                <a:gd name="T1" fmla="*/ 0 h 18292"/>
                <a:gd name="T2" fmla="*/ 144 w 21600"/>
                <a:gd name="T3" fmla="*/ 240 h 18292"/>
                <a:gd name="T4" fmla="*/ 0 w 21600"/>
                <a:gd name="T5" fmla="*/ 240 h 182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292"/>
                <a:gd name="T11" fmla="*/ 21600 w 21600"/>
                <a:gd name="T12" fmla="*/ 18292 h 182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292" fill="none" extrusionOk="0">
                  <a:moveTo>
                    <a:pt x="11487" y="-1"/>
                  </a:moveTo>
                  <a:cubicBezTo>
                    <a:pt x="17780" y="3951"/>
                    <a:pt x="21600" y="10860"/>
                    <a:pt x="21600" y="18292"/>
                  </a:cubicBezTo>
                </a:path>
                <a:path w="21600" h="18292" stroke="0" extrusionOk="0">
                  <a:moveTo>
                    <a:pt x="11487" y="-1"/>
                  </a:moveTo>
                  <a:cubicBezTo>
                    <a:pt x="17780" y="3951"/>
                    <a:pt x="21600" y="10860"/>
                    <a:pt x="21600" y="18292"/>
                  </a:cubicBezTo>
                  <a:lnTo>
                    <a:pt x="0" y="1829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4" name="Text Box 15"/>
            <p:cNvSpPr txBox="1">
              <a:spLocks noChangeArrowheads="1"/>
            </p:cNvSpPr>
            <p:nvPr/>
          </p:nvSpPr>
          <p:spPr bwMode="auto">
            <a:xfrm>
              <a:off x="4224" y="2160"/>
              <a:ext cx="19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ym typeface="Symbol" pitchFamily="18" charset="2"/>
                </a:rPr>
                <a:t></a:t>
              </a:r>
            </a:p>
          </p:txBody>
        </p:sp>
        <p:sp>
          <p:nvSpPr>
            <p:cNvPr id="25615" name="Text Box 16"/>
            <p:cNvSpPr txBox="1">
              <a:spLocks noChangeArrowheads="1"/>
            </p:cNvSpPr>
            <p:nvPr/>
          </p:nvSpPr>
          <p:spPr bwMode="auto">
            <a:xfrm>
              <a:off x="4166" y="2471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25616" name="Text Box 17"/>
            <p:cNvSpPr txBox="1">
              <a:spLocks noChangeArrowheads="1"/>
            </p:cNvSpPr>
            <p:nvPr/>
          </p:nvSpPr>
          <p:spPr bwMode="auto">
            <a:xfrm>
              <a:off x="3696" y="1920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25617" name="Line 18"/>
            <p:cNvSpPr>
              <a:spLocks noChangeShapeType="1"/>
            </p:cNvSpPr>
            <p:nvPr/>
          </p:nvSpPr>
          <p:spPr bwMode="auto">
            <a:xfrm flipH="1">
              <a:off x="3888" y="18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8" name="Text Box 19"/>
            <p:cNvSpPr txBox="1">
              <a:spLocks noChangeArrowheads="1"/>
            </p:cNvSpPr>
            <p:nvPr/>
          </p:nvSpPr>
          <p:spPr bwMode="auto">
            <a:xfrm>
              <a:off x="4070" y="19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h</a:t>
              </a:r>
            </a:p>
          </p:txBody>
        </p:sp>
      </p:grpSp>
      <p:sp>
        <p:nvSpPr>
          <p:cNvPr id="25606" name="Text Box 20"/>
          <p:cNvSpPr txBox="1">
            <a:spLocks noChangeArrowheads="1"/>
          </p:cNvSpPr>
          <p:nvPr/>
        </p:nvSpPr>
        <p:spPr bwMode="auto">
          <a:xfrm>
            <a:off x="8848725" y="2562225"/>
            <a:ext cx="3177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Trigonometry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1600201"/>
            <a:ext cx="3470275" cy="4525963"/>
          </a:xfrm>
        </p:spPr>
        <p:txBody>
          <a:bodyPr/>
          <a:lstStyle/>
          <a:p>
            <a:pPr eaLnBrk="1" hangingPunct="1"/>
            <a:r>
              <a:rPr lang="en-US"/>
              <a:t>Suppose we define points along the x-axis (and let the circle have radius h)</a:t>
            </a: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7D35CE-B394-4AD9-A703-057FEFF6E815}" type="slidenum">
              <a:rPr lang="en-US"/>
              <a:pPr/>
              <a:t>5</a:t>
            </a:fld>
            <a:endParaRPr lang="en-US"/>
          </a:p>
        </p:txBody>
      </p:sp>
      <p:sp>
        <p:nvSpPr>
          <p:cNvPr id="26629" name="AutoShape 4"/>
          <p:cNvSpPr>
            <a:spLocks noChangeArrowheads="1"/>
          </p:cNvSpPr>
          <p:nvPr/>
        </p:nvSpPr>
        <p:spPr bwMode="auto">
          <a:xfrm flipH="1">
            <a:off x="7696200" y="2895600"/>
            <a:ext cx="1143000" cy="99060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638800" y="1828800"/>
            <a:ext cx="4114800" cy="4114800"/>
            <a:chOff x="2592" y="1152"/>
            <a:chExt cx="2592" cy="2592"/>
          </a:xfrm>
        </p:grpSpPr>
        <p:sp>
          <p:nvSpPr>
            <p:cNvPr id="26648" name="Oval 6"/>
            <p:cNvSpPr>
              <a:spLocks noChangeArrowheads="1"/>
            </p:cNvSpPr>
            <p:nvPr/>
          </p:nvSpPr>
          <p:spPr bwMode="auto">
            <a:xfrm>
              <a:off x="2937" y="1488"/>
              <a:ext cx="1902" cy="19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Line 7"/>
            <p:cNvSpPr>
              <a:spLocks noChangeShapeType="1"/>
            </p:cNvSpPr>
            <p:nvPr/>
          </p:nvSpPr>
          <p:spPr bwMode="auto">
            <a:xfrm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Line 8"/>
            <p:cNvSpPr>
              <a:spLocks noChangeShapeType="1"/>
            </p:cNvSpPr>
            <p:nvPr/>
          </p:nvSpPr>
          <p:spPr bwMode="auto">
            <a:xfrm rot="-5400000"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1" name="Text Box 9"/>
          <p:cNvSpPr txBox="1">
            <a:spLocks noChangeArrowheads="1"/>
          </p:cNvSpPr>
          <p:nvPr/>
        </p:nvSpPr>
        <p:spPr bwMode="auto">
          <a:xfrm>
            <a:off x="7696200" y="1447801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cs typeface="Arial" charset="0"/>
              </a:rPr>
              <a:t>ĵ</a:t>
            </a:r>
          </a:p>
        </p:txBody>
      </p:sp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9813925" y="3846513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î</a:t>
            </a:r>
          </a:p>
        </p:txBody>
      </p:sp>
      <p:sp>
        <p:nvSpPr>
          <p:cNvPr id="26633" name="Line 11"/>
          <p:cNvSpPr>
            <a:spLocks noChangeShapeType="1"/>
          </p:cNvSpPr>
          <p:nvPr/>
        </p:nvSpPr>
        <p:spPr bwMode="auto">
          <a:xfrm flipV="1">
            <a:off x="7696200" y="2895600"/>
            <a:ext cx="1143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4" name="Line 12"/>
          <p:cNvSpPr>
            <a:spLocks noChangeShapeType="1"/>
          </p:cNvSpPr>
          <p:nvPr/>
        </p:nvSpPr>
        <p:spPr bwMode="auto">
          <a:xfrm>
            <a:off x="8839200" y="2895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5" name="Arc 13"/>
          <p:cNvSpPr>
            <a:spLocks/>
          </p:cNvSpPr>
          <p:nvPr/>
        </p:nvSpPr>
        <p:spPr bwMode="auto">
          <a:xfrm>
            <a:off x="8001000" y="3505200"/>
            <a:ext cx="228600" cy="381000"/>
          </a:xfrm>
          <a:custGeom>
            <a:avLst/>
            <a:gdLst>
              <a:gd name="T0" fmla="*/ 121571 w 21600"/>
              <a:gd name="T1" fmla="*/ 0 h 18292"/>
              <a:gd name="T2" fmla="*/ 228600 w 21600"/>
              <a:gd name="T3" fmla="*/ 381000 h 18292"/>
              <a:gd name="T4" fmla="*/ 0 w 21600"/>
              <a:gd name="T5" fmla="*/ 381000 h 18292"/>
              <a:gd name="T6" fmla="*/ 0 60000 65536"/>
              <a:gd name="T7" fmla="*/ 0 60000 65536"/>
              <a:gd name="T8" fmla="*/ 0 60000 65536"/>
              <a:gd name="T9" fmla="*/ 0 w 21600"/>
              <a:gd name="T10" fmla="*/ 0 h 18292"/>
              <a:gd name="T11" fmla="*/ 21600 w 21600"/>
              <a:gd name="T12" fmla="*/ 18292 h 18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292" fill="none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</a:path>
              <a:path w="21600" h="18292" stroke="0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  <a:lnTo>
                  <a:pt x="0" y="182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6" name="Text Box 14"/>
          <p:cNvSpPr txBox="1">
            <a:spLocks noChangeArrowheads="1"/>
          </p:cNvSpPr>
          <p:nvPr/>
        </p:nvSpPr>
        <p:spPr bwMode="auto">
          <a:xfrm>
            <a:off x="8229601" y="3429001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Symbol" pitchFamily="18" charset="2"/>
              </a:rPr>
              <a:t></a:t>
            </a:r>
          </a:p>
        </p:txBody>
      </p:sp>
      <p:sp>
        <p:nvSpPr>
          <p:cNvPr id="26637" name="Text Box 15"/>
          <p:cNvSpPr txBox="1">
            <a:spLocks noChangeArrowheads="1"/>
          </p:cNvSpPr>
          <p:nvPr/>
        </p:nvSpPr>
        <p:spPr bwMode="auto">
          <a:xfrm>
            <a:off x="8137525" y="39227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6638" name="Text Box 16"/>
          <p:cNvSpPr txBox="1">
            <a:spLocks noChangeArrowheads="1"/>
          </p:cNvSpPr>
          <p:nvPr/>
        </p:nvSpPr>
        <p:spPr bwMode="auto">
          <a:xfrm>
            <a:off x="7391400" y="3048001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26639" name="Line 17"/>
          <p:cNvSpPr>
            <a:spLocks noChangeShapeType="1"/>
          </p:cNvSpPr>
          <p:nvPr/>
        </p:nvSpPr>
        <p:spPr bwMode="auto">
          <a:xfrm flipH="1">
            <a:off x="7696200" y="2895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0" name="Text Box 18"/>
          <p:cNvSpPr txBox="1">
            <a:spLocks noChangeArrowheads="1"/>
          </p:cNvSpPr>
          <p:nvPr/>
        </p:nvSpPr>
        <p:spPr bwMode="auto">
          <a:xfrm>
            <a:off x="7985125" y="30845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</a:t>
            </a:r>
          </a:p>
        </p:txBody>
      </p:sp>
      <p:sp>
        <p:nvSpPr>
          <p:cNvPr id="26641" name="Text Box 19"/>
          <p:cNvSpPr txBox="1">
            <a:spLocks noChangeArrowheads="1"/>
          </p:cNvSpPr>
          <p:nvPr/>
        </p:nvSpPr>
        <p:spPr bwMode="auto">
          <a:xfrm>
            <a:off x="8848725" y="2562225"/>
            <a:ext cx="3177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26642" name="Text Box 20"/>
          <p:cNvSpPr txBox="1">
            <a:spLocks noChangeArrowheads="1"/>
          </p:cNvSpPr>
          <p:nvPr/>
        </p:nvSpPr>
        <p:spPr bwMode="auto">
          <a:xfrm>
            <a:off x="9232900" y="3916363"/>
            <a:ext cx="5857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r>
              <a:rPr lang="en-US" baseline="-25000"/>
              <a:t>max</a:t>
            </a:r>
          </a:p>
        </p:txBody>
      </p:sp>
      <p:sp>
        <p:nvSpPr>
          <p:cNvPr id="26643" name="Text Box 21"/>
          <p:cNvSpPr txBox="1">
            <a:spLocks noChangeArrowheads="1"/>
          </p:cNvSpPr>
          <p:nvPr/>
        </p:nvSpPr>
        <p:spPr bwMode="auto">
          <a:xfrm>
            <a:off x="5524500" y="3951288"/>
            <a:ext cx="661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-x</a:t>
            </a:r>
            <a:r>
              <a:rPr lang="en-US" baseline="-25000"/>
              <a:t>max</a:t>
            </a:r>
          </a:p>
        </p:txBody>
      </p:sp>
      <p:sp>
        <p:nvSpPr>
          <p:cNvPr id="26644" name="Line 22"/>
          <p:cNvSpPr>
            <a:spLocks noChangeShapeType="1"/>
          </p:cNvSpPr>
          <p:nvPr/>
        </p:nvSpPr>
        <p:spPr bwMode="auto">
          <a:xfrm>
            <a:off x="7707314" y="3962400"/>
            <a:ext cx="1089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45" name="Oval 23"/>
          <p:cNvSpPr>
            <a:spLocks noChangeArrowheads="1"/>
          </p:cNvSpPr>
          <p:nvPr/>
        </p:nvSpPr>
        <p:spPr bwMode="auto">
          <a:xfrm>
            <a:off x="6138863" y="381793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6" name="Oval 24"/>
          <p:cNvSpPr>
            <a:spLocks noChangeArrowheads="1"/>
          </p:cNvSpPr>
          <p:nvPr/>
        </p:nvSpPr>
        <p:spPr bwMode="auto">
          <a:xfrm>
            <a:off x="9159875" y="381000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7" name="Oval 25"/>
          <p:cNvSpPr>
            <a:spLocks noChangeArrowheads="1"/>
          </p:cNvSpPr>
          <p:nvPr/>
        </p:nvSpPr>
        <p:spPr bwMode="auto">
          <a:xfrm>
            <a:off x="8802688" y="28384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Dot product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1600201"/>
            <a:ext cx="3470275" cy="4525963"/>
          </a:xfrm>
        </p:spPr>
        <p:txBody>
          <a:bodyPr/>
          <a:lstStyle/>
          <a:p>
            <a:pPr eaLnBrk="1" hangingPunct="1"/>
            <a:r>
              <a:rPr lang="en-US" dirty="0"/>
              <a:t>We could express the length x as the component of the radius vector or </a:t>
            </a: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7D35CE-B394-4AD9-A703-057FEFF6E815}" type="slidenum">
              <a:rPr lang="en-US"/>
              <a:pPr/>
              <a:t>6</a:t>
            </a:fld>
            <a:endParaRPr lang="en-US"/>
          </a:p>
        </p:txBody>
      </p:sp>
      <p:sp>
        <p:nvSpPr>
          <p:cNvPr id="26629" name="AutoShape 4"/>
          <p:cNvSpPr>
            <a:spLocks noChangeArrowheads="1"/>
          </p:cNvSpPr>
          <p:nvPr/>
        </p:nvSpPr>
        <p:spPr bwMode="auto">
          <a:xfrm flipH="1">
            <a:off x="7696200" y="2895600"/>
            <a:ext cx="1143000" cy="99060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638800" y="1828800"/>
            <a:ext cx="4114800" cy="4114800"/>
            <a:chOff x="2592" y="1152"/>
            <a:chExt cx="2592" cy="2592"/>
          </a:xfrm>
        </p:grpSpPr>
        <p:sp>
          <p:nvSpPr>
            <p:cNvPr id="26648" name="Oval 6"/>
            <p:cNvSpPr>
              <a:spLocks noChangeArrowheads="1"/>
            </p:cNvSpPr>
            <p:nvPr/>
          </p:nvSpPr>
          <p:spPr bwMode="auto">
            <a:xfrm>
              <a:off x="2937" y="1488"/>
              <a:ext cx="1902" cy="19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Line 7"/>
            <p:cNvSpPr>
              <a:spLocks noChangeShapeType="1"/>
            </p:cNvSpPr>
            <p:nvPr/>
          </p:nvSpPr>
          <p:spPr bwMode="auto">
            <a:xfrm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Line 8"/>
            <p:cNvSpPr>
              <a:spLocks noChangeShapeType="1"/>
            </p:cNvSpPr>
            <p:nvPr/>
          </p:nvSpPr>
          <p:spPr bwMode="auto">
            <a:xfrm rot="-5400000"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1" name="Text Box 9"/>
          <p:cNvSpPr txBox="1">
            <a:spLocks noChangeArrowheads="1"/>
          </p:cNvSpPr>
          <p:nvPr/>
        </p:nvSpPr>
        <p:spPr bwMode="auto">
          <a:xfrm>
            <a:off x="7696200" y="1447801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cs typeface="Arial" charset="0"/>
              </a:rPr>
              <a:t>ĵ</a:t>
            </a:r>
          </a:p>
        </p:txBody>
      </p:sp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9813925" y="3846513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î</a:t>
            </a:r>
          </a:p>
        </p:txBody>
      </p:sp>
      <p:sp>
        <p:nvSpPr>
          <p:cNvPr id="26633" name="Line 11"/>
          <p:cNvSpPr>
            <a:spLocks noChangeShapeType="1"/>
          </p:cNvSpPr>
          <p:nvPr/>
        </p:nvSpPr>
        <p:spPr bwMode="auto">
          <a:xfrm flipV="1">
            <a:off x="7696200" y="2895600"/>
            <a:ext cx="1143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4" name="Line 12"/>
          <p:cNvSpPr>
            <a:spLocks noChangeShapeType="1"/>
          </p:cNvSpPr>
          <p:nvPr/>
        </p:nvSpPr>
        <p:spPr bwMode="auto">
          <a:xfrm>
            <a:off x="8839200" y="2895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5" name="Arc 13"/>
          <p:cNvSpPr>
            <a:spLocks/>
          </p:cNvSpPr>
          <p:nvPr/>
        </p:nvSpPr>
        <p:spPr bwMode="auto">
          <a:xfrm>
            <a:off x="8001000" y="3505200"/>
            <a:ext cx="228600" cy="381000"/>
          </a:xfrm>
          <a:custGeom>
            <a:avLst/>
            <a:gdLst>
              <a:gd name="T0" fmla="*/ 121571 w 21600"/>
              <a:gd name="T1" fmla="*/ 0 h 18292"/>
              <a:gd name="T2" fmla="*/ 228600 w 21600"/>
              <a:gd name="T3" fmla="*/ 381000 h 18292"/>
              <a:gd name="T4" fmla="*/ 0 w 21600"/>
              <a:gd name="T5" fmla="*/ 381000 h 18292"/>
              <a:gd name="T6" fmla="*/ 0 60000 65536"/>
              <a:gd name="T7" fmla="*/ 0 60000 65536"/>
              <a:gd name="T8" fmla="*/ 0 60000 65536"/>
              <a:gd name="T9" fmla="*/ 0 w 21600"/>
              <a:gd name="T10" fmla="*/ 0 h 18292"/>
              <a:gd name="T11" fmla="*/ 21600 w 21600"/>
              <a:gd name="T12" fmla="*/ 18292 h 18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292" fill="none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</a:path>
              <a:path w="21600" h="18292" stroke="0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  <a:lnTo>
                  <a:pt x="0" y="182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6" name="Text Box 14"/>
          <p:cNvSpPr txBox="1">
            <a:spLocks noChangeArrowheads="1"/>
          </p:cNvSpPr>
          <p:nvPr/>
        </p:nvSpPr>
        <p:spPr bwMode="auto">
          <a:xfrm>
            <a:off x="8229601" y="3429001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Symbol" pitchFamily="18" charset="2"/>
              </a:rPr>
              <a:t></a:t>
            </a:r>
          </a:p>
        </p:txBody>
      </p:sp>
      <p:sp>
        <p:nvSpPr>
          <p:cNvPr id="26637" name="Text Box 15"/>
          <p:cNvSpPr txBox="1">
            <a:spLocks noChangeArrowheads="1"/>
          </p:cNvSpPr>
          <p:nvPr/>
        </p:nvSpPr>
        <p:spPr bwMode="auto">
          <a:xfrm>
            <a:off x="8137525" y="39227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6638" name="Text Box 16"/>
          <p:cNvSpPr txBox="1">
            <a:spLocks noChangeArrowheads="1"/>
          </p:cNvSpPr>
          <p:nvPr/>
        </p:nvSpPr>
        <p:spPr bwMode="auto">
          <a:xfrm>
            <a:off x="7391400" y="3048001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26639" name="Line 17"/>
          <p:cNvSpPr>
            <a:spLocks noChangeShapeType="1"/>
          </p:cNvSpPr>
          <p:nvPr/>
        </p:nvSpPr>
        <p:spPr bwMode="auto">
          <a:xfrm flipH="1">
            <a:off x="7696200" y="2895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0" name="Text Box 18"/>
          <p:cNvSpPr txBox="1">
            <a:spLocks noChangeArrowheads="1"/>
          </p:cNvSpPr>
          <p:nvPr/>
        </p:nvSpPr>
        <p:spPr bwMode="auto">
          <a:xfrm>
            <a:off x="7985125" y="3084513"/>
            <a:ext cx="2616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6641" name="Text Box 19"/>
          <p:cNvSpPr txBox="1">
            <a:spLocks noChangeArrowheads="1"/>
          </p:cNvSpPr>
          <p:nvPr/>
        </p:nvSpPr>
        <p:spPr bwMode="auto">
          <a:xfrm>
            <a:off x="8848725" y="2562225"/>
            <a:ext cx="3177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26642" name="Text Box 20"/>
          <p:cNvSpPr txBox="1">
            <a:spLocks noChangeArrowheads="1"/>
          </p:cNvSpPr>
          <p:nvPr/>
        </p:nvSpPr>
        <p:spPr bwMode="auto">
          <a:xfrm>
            <a:off x="9232900" y="3916363"/>
            <a:ext cx="5857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r>
              <a:rPr lang="en-US" baseline="-25000"/>
              <a:t>max</a:t>
            </a:r>
          </a:p>
        </p:txBody>
      </p:sp>
      <p:sp>
        <p:nvSpPr>
          <p:cNvPr id="26643" name="Text Box 21"/>
          <p:cNvSpPr txBox="1">
            <a:spLocks noChangeArrowheads="1"/>
          </p:cNvSpPr>
          <p:nvPr/>
        </p:nvSpPr>
        <p:spPr bwMode="auto">
          <a:xfrm>
            <a:off x="5524500" y="3951288"/>
            <a:ext cx="661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-x</a:t>
            </a:r>
            <a:r>
              <a:rPr lang="en-US" baseline="-25000"/>
              <a:t>max</a:t>
            </a:r>
          </a:p>
        </p:txBody>
      </p:sp>
      <p:sp>
        <p:nvSpPr>
          <p:cNvPr id="26644" name="Line 22"/>
          <p:cNvSpPr>
            <a:spLocks noChangeShapeType="1"/>
          </p:cNvSpPr>
          <p:nvPr/>
        </p:nvSpPr>
        <p:spPr bwMode="auto">
          <a:xfrm>
            <a:off x="7707314" y="3962400"/>
            <a:ext cx="1089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45" name="Oval 23"/>
          <p:cNvSpPr>
            <a:spLocks noChangeArrowheads="1"/>
          </p:cNvSpPr>
          <p:nvPr/>
        </p:nvSpPr>
        <p:spPr bwMode="auto">
          <a:xfrm>
            <a:off x="6138863" y="381793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6" name="Oval 24"/>
          <p:cNvSpPr>
            <a:spLocks noChangeArrowheads="1"/>
          </p:cNvSpPr>
          <p:nvPr/>
        </p:nvSpPr>
        <p:spPr bwMode="auto">
          <a:xfrm>
            <a:off x="9159875" y="381000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7" name="Oval 25"/>
          <p:cNvSpPr>
            <a:spLocks noChangeArrowheads="1"/>
          </p:cNvSpPr>
          <p:nvPr/>
        </p:nvSpPr>
        <p:spPr bwMode="auto">
          <a:xfrm>
            <a:off x="8802688" y="28384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" name="Straight Arrow Connector 3"/>
          <p:cNvCxnSpPr>
            <a:stCxn id="26633" idx="0"/>
            <a:endCxn id="26647" idx="4"/>
          </p:cNvCxnSpPr>
          <p:nvPr/>
        </p:nvCxnSpPr>
        <p:spPr>
          <a:xfrm flipV="1">
            <a:off x="7696200" y="2927350"/>
            <a:ext cx="1150938" cy="9588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774950" y="5146676"/>
          <a:ext cx="323373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177480" progId="Equation.3">
                  <p:embed/>
                </p:oleObj>
              </mc:Choice>
              <mc:Fallback>
                <p:oleObj name="Equation" r:id="rId2" imgW="1015920" imgH="17748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5146676"/>
                        <a:ext cx="3233738" cy="563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726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Relationship to SHM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1600201"/>
            <a:ext cx="3470275" cy="4525963"/>
          </a:xfrm>
        </p:spPr>
        <p:txBody>
          <a:bodyPr/>
          <a:lstStyle/>
          <a:p>
            <a:pPr eaLnBrk="1" hangingPunct="1"/>
            <a:r>
              <a:rPr lang="en-US"/>
              <a:t>The projection of the position of point P on the x axis displays SHM!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3ED589C-5882-44F5-A07F-B35037B1C1B8}" type="slidenum">
              <a:rPr lang="en-US"/>
              <a:pPr/>
              <a:t>7</a:t>
            </a:fld>
            <a:endParaRPr lang="en-US"/>
          </a:p>
        </p:txBody>
      </p:sp>
      <p:sp>
        <p:nvSpPr>
          <p:cNvPr id="27653" name="AutoShape 4"/>
          <p:cNvSpPr>
            <a:spLocks noChangeArrowheads="1"/>
          </p:cNvSpPr>
          <p:nvPr/>
        </p:nvSpPr>
        <p:spPr bwMode="auto">
          <a:xfrm flipH="1">
            <a:off x="7696200" y="2595563"/>
            <a:ext cx="1143000" cy="99060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638800" y="1528763"/>
            <a:ext cx="4114800" cy="4114800"/>
            <a:chOff x="2592" y="1152"/>
            <a:chExt cx="2592" cy="2592"/>
          </a:xfrm>
        </p:grpSpPr>
        <p:sp>
          <p:nvSpPr>
            <p:cNvPr id="27674" name="Oval 6"/>
            <p:cNvSpPr>
              <a:spLocks noChangeArrowheads="1"/>
            </p:cNvSpPr>
            <p:nvPr/>
          </p:nvSpPr>
          <p:spPr bwMode="auto">
            <a:xfrm>
              <a:off x="2937" y="1488"/>
              <a:ext cx="1902" cy="19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5" name="Line 7"/>
            <p:cNvSpPr>
              <a:spLocks noChangeShapeType="1"/>
            </p:cNvSpPr>
            <p:nvPr/>
          </p:nvSpPr>
          <p:spPr bwMode="auto">
            <a:xfrm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76" name="Line 8"/>
            <p:cNvSpPr>
              <a:spLocks noChangeShapeType="1"/>
            </p:cNvSpPr>
            <p:nvPr/>
          </p:nvSpPr>
          <p:spPr bwMode="auto">
            <a:xfrm rot="-5400000"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55" name="Text Box 9"/>
          <p:cNvSpPr txBox="1">
            <a:spLocks noChangeArrowheads="1"/>
          </p:cNvSpPr>
          <p:nvPr/>
        </p:nvSpPr>
        <p:spPr bwMode="auto">
          <a:xfrm>
            <a:off x="7696200" y="1147763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cs typeface="Arial" charset="0"/>
              </a:rPr>
              <a:t>ĵ</a:t>
            </a:r>
          </a:p>
        </p:txBody>
      </p:sp>
      <p:sp>
        <p:nvSpPr>
          <p:cNvPr id="27656" name="Text Box 10"/>
          <p:cNvSpPr txBox="1">
            <a:spLocks noChangeArrowheads="1"/>
          </p:cNvSpPr>
          <p:nvPr/>
        </p:nvSpPr>
        <p:spPr bwMode="auto">
          <a:xfrm>
            <a:off x="9813925" y="3546476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î</a:t>
            </a:r>
          </a:p>
        </p:txBody>
      </p:sp>
      <p:sp>
        <p:nvSpPr>
          <p:cNvPr id="27657" name="Line 11"/>
          <p:cNvSpPr>
            <a:spLocks noChangeShapeType="1"/>
          </p:cNvSpPr>
          <p:nvPr/>
        </p:nvSpPr>
        <p:spPr bwMode="auto">
          <a:xfrm flipV="1">
            <a:off x="7696200" y="2595563"/>
            <a:ext cx="1143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8" name="Line 12"/>
          <p:cNvSpPr>
            <a:spLocks noChangeShapeType="1"/>
          </p:cNvSpPr>
          <p:nvPr/>
        </p:nvSpPr>
        <p:spPr bwMode="auto">
          <a:xfrm>
            <a:off x="8839200" y="2595563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9" name="Arc 13"/>
          <p:cNvSpPr>
            <a:spLocks/>
          </p:cNvSpPr>
          <p:nvPr/>
        </p:nvSpPr>
        <p:spPr bwMode="auto">
          <a:xfrm>
            <a:off x="8001000" y="3205163"/>
            <a:ext cx="228600" cy="381000"/>
          </a:xfrm>
          <a:custGeom>
            <a:avLst/>
            <a:gdLst>
              <a:gd name="T0" fmla="*/ 121571 w 21600"/>
              <a:gd name="T1" fmla="*/ 0 h 18292"/>
              <a:gd name="T2" fmla="*/ 228600 w 21600"/>
              <a:gd name="T3" fmla="*/ 381000 h 18292"/>
              <a:gd name="T4" fmla="*/ 0 w 21600"/>
              <a:gd name="T5" fmla="*/ 381000 h 18292"/>
              <a:gd name="T6" fmla="*/ 0 60000 65536"/>
              <a:gd name="T7" fmla="*/ 0 60000 65536"/>
              <a:gd name="T8" fmla="*/ 0 60000 65536"/>
              <a:gd name="T9" fmla="*/ 0 w 21600"/>
              <a:gd name="T10" fmla="*/ 0 h 18292"/>
              <a:gd name="T11" fmla="*/ 21600 w 21600"/>
              <a:gd name="T12" fmla="*/ 18292 h 18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292" fill="none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</a:path>
              <a:path w="21600" h="18292" stroke="0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  <a:lnTo>
                  <a:pt x="0" y="182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Text Box 14"/>
          <p:cNvSpPr txBox="1">
            <a:spLocks noChangeArrowheads="1"/>
          </p:cNvSpPr>
          <p:nvPr/>
        </p:nvSpPr>
        <p:spPr bwMode="auto">
          <a:xfrm>
            <a:off x="8229601" y="3128963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Symbol" pitchFamily="18" charset="2"/>
              </a:rPr>
              <a:t></a:t>
            </a:r>
          </a:p>
        </p:txBody>
      </p:sp>
      <p:sp>
        <p:nvSpPr>
          <p:cNvPr id="27661" name="Text Box 15"/>
          <p:cNvSpPr txBox="1">
            <a:spLocks noChangeArrowheads="1"/>
          </p:cNvSpPr>
          <p:nvPr/>
        </p:nvSpPr>
        <p:spPr bwMode="auto">
          <a:xfrm>
            <a:off x="8137525" y="3622676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7662" name="Line 16"/>
          <p:cNvSpPr>
            <a:spLocks noChangeShapeType="1"/>
          </p:cNvSpPr>
          <p:nvPr/>
        </p:nvSpPr>
        <p:spPr bwMode="auto">
          <a:xfrm flipH="1">
            <a:off x="7696200" y="259556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3" name="Text Box 17"/>
          <p:cNvSpPr txBox="1">
            <a:spLocks noChangeArrowheads="1"/>
          </p:cNvSpPr>
          <p:nvPr/>
        </p:nvSpPr>
        <p:spPr bwMode="auto">
          <a:xfrm>
            <a:off x="7985125" y="2784476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</a:t>
            </a:r>
          </a:p>
        </p:txBody>
      </p:sp>
      <p:sp>
        <p:nvSpPr>
          <p:cNvPr id="27664" name="Text Box 18"/>
          <p:cNvSpPr txBox="1">
            <a:spLocks noChangeArrowheads="1"/>
          </p:cNvSpPr>
          <p:nvPr/>
        </p:nvSpPr>
        <p:spPr bwMode="auto">
          <a:xfrm>
            <a:off x="8848725" y="2262188"/>
            <a:ext cx="3177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27665" name="Text Box 19"/>
          <p:cNvSpPr txBox="1">
            <a:spLocks noChangeArrowheads="1"/>
          </p:cNvSpPr>
          <p:nvPr/>
        </p:nvSpPr>
        <p:spPr bwMode="auto">
          <a:xfrm>
            <a:off x="9232900" y="3616326"/>
            <a:ext cx="585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r>
              <a:rPr lang="en-US" baseline="-25000"/>
              <a:t>max</a:t>
            </a:r>
          </a:p>
        </p:txBody>
      </p:sp>
      <p:sp>
        <p:nvSpPr>
          <p:cNvPr id="27666" name="Text Box 20"/>
          <p:cNvSpPr txBox="1">
            <a:spLocks noChangeArrowheads="1"/>
          </p:cNvSpPr>
          <p:nvPr/>
        </p:nvSpPr>
        <p:spPr bwMode="auto">
          <a:xfrm>
            <a:off x="5524500" y="3651251"/>
            <a:ext cx="6619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-x</a:t>
            </a:r>
            <a:r>
              <a:rPr lang="en-US" baseline="-25000"/>
              <a:t>max</a:t>
            </a:r>
          </a:p>
        </p:txBody>
      </p:sp>
      <p:sp>
        <p:nvSpPr>
          <p:cNvPr id="27667" name="Line 21"/>
          <p:cNvSpPr>
            <a:spLocks noChangeShapeType="1"/>
          </p:cNvSpPr>
          <p:nvPr/>
        </p:nvSpPr>
        <p:spPr bwMode="auto">
          <a:xfrm>
            <a:off x="7707314" y="3662363"/>
            <a:ext cx="1089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6138863" y="3509964"/>
            <a:ext cx="3109912" cy="96837"/>
            <a:chOff x="2907" y="2400"/>
            <a:chExt cx="1959" cy="61"/>
          </a:xfrm>
        </p:grpSpPr>
        <p:sp>
          <p:nvSpPr>
            <p:cNvPr id="27672" name="Oval 23"/>
            <p:cNvSpPr>
              <a:spLocks noChangeArrowheads="1"/>
            </p:cNvSpPr>
            <p:nvPr/>
          </p:nvSpPr>
          <p:spPr bwMode="auto">
            <a:xfrm>
              <a:off x="2907" y="240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3" name="Oval 24"/>
            <p:cNvSpPr>
              <a:spLocks noChangeArrowheads="1"/>
            </p:cNvSpPr>
            <p:nvPr/>
          </p:nvSpPr>
          <p:spPr bwMode="auto">
            <a:xfrm>
              <a:off x="4810" y="240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69" name="Oval 25"/>
          <p:cNvSpPr>
            <a:spLocks noChangeArrowheads="1"/>
          </p:cNvSpPr>
          <p:nvPr/>
        </p:nvSpPr>
        <p:spPr bwMode="auto">
          <a:xfrm>
            <a:off x="8802688" y="2538413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0" name="Line 26"/>
          <p:cNvSpPr>
            <a:spLocks noChangeShapeType="1"/>
          </p:cNvSpPr>
          <p:nvPr/>
        </p:nvSpPr>
        <p:spPr bwMode="auto">
          <a:xfrm>
            <a:off x="6169025" y="3575050"/>
            <a:ext cx="30622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1" name="AutoShape 27"/>
          <p:cNvSpPr>
            <a:spLocks noChangeArrowheads="1"/>
          </p:cNvSpPr>
          <p:nvPr/>
        </p:nvSpPr>
        <p:spPr bwMode="auto">
          <a:xfrm>
            <a:off x="2481263" y="5646739"/>
            <a:ext cx="7562850" cy="6254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>
                <a:solidFill>
                  <a:schemeClr val="bg1"/>
                </a:solidFill>
              </a:rPr>
              <a:t>SHM along a straight line can be thought of as a projection of a uniform circular motion along a diameter of a reference circle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More Geometry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1923144" y="1547019"/>
            <a:ext cx="3470275" cy="4525963"/>
          </a:xfrm>
        </p:spPr>
        <p:txBody>
          <a:bodyPr/>
          <a:lstStyle/>
          <a:p>
            <a:pPr eaLnBrk="1" hangingPunct="1"/>
            <a:r>
              <a:rPr lang="en-US"/>
              <a:t>We can also define points along the y-axis</a:t>
            </a:r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C5A832-310F-4323-942F-46FB45F3ABE3}" type="slidenum">
              <a:rPr lang="en-US"/>
              <a:pPr/>
              <a:t>8</a:t>
            </a:fld>
            <a:endParaRPr lang="en-US"/>
          </a:p>
        </p:txBody>
      </p:sp>
      <p:sp>
        <p:nvSpPr>
          <p:cNvPr id="28677" name="AutoShape 4"/>
          <p:cNvSpPr>
            <a:spLocks noChangeArrowheads="1"/>
          </p:cNvSpPr>
          <p:nvPr/>
        </p:nvSpPr>
        <p:spPr bwMode="auto">
          <a:xfrm flipH="1">
            <a:off x="7696200" y="2895600"/>
            <a:ext cx="1143000" cy="99060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638800" y="1828800"/>
            <a:ext cx="4114800" cy="4114800"/>
            <a:chOff x="2592" y="1152"/>
            <a:chExt cx="2592" cy="2592"/>
          </a:xfrm>
        </p:grpSpPr>
        <p:sp>
          <p:nvSpPr>
            <p:cNvPr id="28703" name="Oval 6"/>
            <p:cNvSpPr>
              <a:spLocks noChangeArrowheads="1"/>
            </p:cNvSpPr>
            <p:nvPr/>
          </p:nvSpPr>
          <p:spPr bwMode="auto">
            <a:xfrm>
              <a:off x="2937" y="1488"/>
              <a:ext cx="1902" cy="19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4" name="Line 7"/>
            <p:cNvSpPr>
              <a:spLocks noChangeShapeType="1"/>
            </p:cNvSpPr>
            <p:nvPr/>
          </p:nvSpPr>
          <p:spPr bwMode="auto">
            <a:xfrm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5" name="Line 8"/>
            <p:cNvSpPr>
              <a:spLocks noChangeShapeType="1"/>
            </p:cNvSpPr>
            <p:nvPr/>
          </p:nvSpPr>
          <p:spPr bwMode="auto">
            <a:xfrm rot="-5400000"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79" name="Text Box 9"/>
          <p:cNvSpPr txBox="1">
            <a:spLocks noChangeArrowheads="1"/>
          </p:cNvSpPr>
          <p:nvPr/>
        </p:nvSpPr>
        <p:spPr bwMode="auto">
          <a:xfrm>
            <a:off x="7696200" y="1447801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cs typeface="Arial" charset="0"/>
              </a:rPr>
              <a:t>ĵ</a:t>
            </a:r>
          </a:p>
        </p:txBody>
      </p:sp>
      <p:sp>
        <p:nvSpPr>
          <p:cNvPr id="28680" name="Text Box 10"/>
          <p:cNvSpPr txBox="1">
            <a:spLocks noChangeArrowheads="1"/>
          </p:cNvSpPr>
          <p:nvPr/>
        </p:nvSpPr>
        <p:spPr bwMode="auto">
          <a:xfrm>
            <a:off x="9813925" y="3846513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î</a:t>
            </a:r>
          </a:p>
        </p:txBody>
      </p:sp>
      <p:sp>
        <p:nvSpPr>
          <p:cNvPr id="28681" name="Line 11"/>
          <p:cNvSpPr>
            <a:spLocks noChangeShapeType="1"/>
          </p:cNvSpPr>
          <p:nvPr/>
        </p:nvSpPr>
        <p:spPr bwMode="auto">
          <a:xfrm flipV="1">
            <a:off x="7696200" y="2895600"/>
            <a:ext cx="1143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82" name="Line 12"/>
          <p:cNvSpPr>
            <a:spLocks noChangeShapeType="1"/>
          </p:cNvSpPr>
          <p:nvPr/>
        </p:nvSpPr>
        <p:spPr bwMode="auto">
          <a:xfrm>
            <a:off x="8839200" y="2895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83" name="Arc 13"/>
          <p:cNvSpPr>
            <a:spLocks/>
          </p:cNvSpPr>
          <p:nvPr/>
        </p:nvSpPr>
        <p:spPr bwMode="auto">
          <a:xfrm>
            <a:off x="8001000" y="3505200"/>
            <a:ext cx="228600" cy="381000"/>
          </a:xfrm>
          <a:custGeom>
            <a:avLst/>
            <a:gdLst>
              <a:gd name="T0" fmla="*/ 121571 w 21600"/>
              <a:gd name="T1" fmla="*/ 0 h 18292"/>
              <a:gd name="T2" fmla="*/ 228600 w 21600"/>
              <a:gd name="T3" fmla="*/ 381000 h 18292"/>
              <a:gd name="T4" fmla="*/ 0 w 21600"/>
              <a:gd name="T5" fmla="*/ 381000 h 18292"/>
              <a:gd name="T6" fmla="*/ 0 60000 65536"/>
              <a:gd name="T7" fmla="*/ 0 60000 65536"/>
              <a:gd name="T8" fmla="*/ 0 60000 65536"/>
              <a:gd name="T9" fmla="*/ 0 w 21600"/>
              <a:gd name="T10" fmla="*/ 0 h 18292"/>
              <a:gd name="T11" fmla="*/ 21600 w 21600"/>
              <a:gd name="T12" fmla="*/ 18292 h 18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292" fill="none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</a:path>
              <a:path w="21600" h="18292" stroke="0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  <a:lnTo>
                  <a:pt x="0" y="182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Text Box 14"/>
          <p:cNvSpPr txBox="1">
            <a:spLocks noChangeArrowheads="1"/>
          </p:cNvSpPr>
          <p:nvPr/>
        </p:nvSpPr>
        <p:spPr bwMode="auto">
          <a:xfrm>
            <a:off x="8229601" y="3429001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Symbol" pitchFamily="18" charset="2"/>
              </a:rPr>
              <a:t></a:t>
            </a:r>
          </a:p>
        </p:txBody>
      </p:sp>
      <p:sp>
        <p:nvSpPr>
          <p:cNvPr id="28685" name="Text Box 15"/>
          <p:cNvSpPr txBox="1">
            <a:spLocks noChangeArrowheads="1"/>
          </p:cNvSpPr>
          <p:nvPr/>
        </p:nvSpPr>
        <p:spPr bwMode="auto">
          <a:xfrm>
            <a:off x="8137525" y="39227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8686" name="Text Box 16"/>
          <p:cNvSpPr txBox="1">
            <a:spLocks noChangeArrowheads="1"/>
          </p:cNvSpPr>
          <p:nvPr/>
        </p:nvSpPr>
        <p:spPr bwMode="auto">
          <a:xfrm>
            <a:off x="7143750" y="3048001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28687" name="Line 17"/>
          <p:cNvSpPr>
            <a:spLocks noChangeShapeType="1"/>
          </p:cNvSpPr>
          <p:nvPr/>
        </p:nvSpPr>
        <p:spPr bwMode="auto">
          <a:xfrm flipH="1">
            <a:off x="7696200" y="2895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88" name="Text Box 18"/>
          <p:cNvSpPr txBox="1">
            <a:spLocks noChangeArrowheads="1"/>
          </p:cNvSpPr>
          <p:nvPr/>
        </p:nvSpPr>
        <p:spPr bwMode="auto">
          <a:xfrm>
            <a:off x="7985125" y="30845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</a:t>
            </a:r>
          </a:p>
        </p:txBody>
      </p:sp>
      <p:sp>
        <p:nvSpPr>
          <p:cNvPr id="28689" name="Text Box 19"/>
          <p:cNvSpPr txBox="1">
            <a:spLocks noChangeArrowheads="1"/>
          </p:cNvSpPr>
          <p:nvPr/>
        </p:nvSpPr>
        <p:spPr bwMode="auto">
          <a:xfrm>
            <a:off x="8848725" y="2562225"/>
            <a:ext cx="3177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28690" name="Text Box 20"/>
          <p:cNvSpPr txBox="1">
            <a:spLocks noChangeArrowheads="1"/>
          </p:cNvSpPr>
          <p:nvPr/>
        </p:nvSpPr>
        <p:spPr bwMode="auto">
          <a:xfrm>
            <a:off x="9232900" y="3916363"/>
            <a:ext cx="5857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r>
              <a:rPr lang="en-US" baseline="-25000"/>
              <a:t>max</a:t>
            </a:r>
          </a:p>
        </p:txBody>
      </p:sp>
      <p:sp>
        <p:nvSpPr>
          <p:cNvPr id="28691" name="Text Box 21"/>
          <p:cNvSpPr txBox="1">
            <a:spLocks noChangeArrowheads="1"/>
          </p:cNvSpPr>
          <p:nvPr/>
        </p:nvSpPr>
        <p:spPr bwMode="auto">
          <a:xfrm>
            <a:off x="5524500" y="3951288"/>
            <a:ext cx="661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-x</a:t>
            </a:r>
            <a:r>
              <a:rPr lang="en-US" baseline="-25000"/>
              <a:t>max</a:t>
            </a:r>
          </a:p>
        </p:txBody>
      </p:sp>
      <p:sp>
        <p:nvSpPr>
          <p:cNvPr id="28692" name="Line 22"/>
          <p:cNvSpPr>
            <a:spLocks noChangeShapeType="1"/>
          </p:cNvSpPr>
          <p:nvPr/>
        </p:nvSpPr>
        <p:spPr bwMode="auto">
          <a:xfrm>
            <a:off x="7707314" y="3962400"/>
            <a:ext cx="1089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6138863" y="3810000"/>
            <a:ext cx="3109912" cy="96838"/>
            <a:chOff x="2907" y="2400"/>
            <a:chExt cx="1959" cy="61"/>
          </a:xfrm>
        </p:grpSpPr>
        <p:sp>
          <p:nvSpPr>
            <p:cNvPr id="28701" name="Oval 24"/>
            <p:cNvSpPr>
              <a:spLocks noChangeArrowheads="1"/>
            </p:cNvSpPr>
            <p:nvPr/>
          </p:nvSpPr>
          <p:spPr bwMode="auto">
            <a:xfrm>
              <a:off x="2907" y="240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2" name="Oval 25"/>
            <p:cNvSpPr>
              <a:spLocks noChangeArrowheads="1"/>
            </p:cNvSpPr>
            <p:nvPr/>
          </p:nvSpPr>
          <p:spPr bwMode="auto">
            <a:xfrm>
              <a:off x="4810" y="240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94" name="Oval 26"/>
          <p:cNvSpPr>
            <a:spLocks noChangeArrowheads="1"/>
          </p:cNvSpPr>
          <p:nvPr/>
        </p:nvSpPr>
        <p:spPr bwMode="auto">
          <a:xfrm>
            <a:off x="8802688" y="28384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5" name="Text Box 27"/>
          <p:cNvSpPr txBox="1">
            <a:spLocks noChangeArrowheads="1"/>
          </p:cNvSpPr>
          <p:nvPr/>
        </p:nvSpPr>
        <p:spPr bwMode="auto">
          <a:xfrm>
            <a:off x="7680325" y="5380038"/>
            <a:ext cx="661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-y</a:t>
            </a:r>
            <a:r>
              <a:rPr lang="en-US" baseline="-25000"/>
              <a:t>max</a:t>
            </a:r>
          </a:p>
        </p:txBody>
      </p:sp>
      <p:sp>
        <p:nvSpPr>
          <p:cNvPr id="28696" name="Text Box 28"/>
          <p:cNvSpPr txBox="1">
            <a:spLocks noChangeArrowheads="1"/>
          </p:cNvSpPr>
          <p:nvPr/>
        </p:nvSpPr>
        <p:spPr bwMode="auto">
          <a:xfrm>
            <a:off x="7673975" y="1979613"/>
            <a:ext cx="5857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  <a:r>
              <a:rPr lang="en-US" baseline="-25000"/>
              <a:t>max</a:t>
            </a:r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 rot="-5400000">
            <a:off x="6148388" y="3833813"/>
            <a:ext cx="3109913" cy="96838"/>
            <a:chOff x="2907" y="2400"/>
            <a:chExt cx="1959" cy="61"/>
          </a:xfrm>
        </p:grpSpPr>
        <p:sp>
          <p:nvSpPr>
            <p:cNvPr id="28699" name="Oval 30"/>
            <p:cNvSpPr>
              <a:spLocks noChangeArrowheads="1"/>
            </p:cNvSpPr>
            <p:nvPr/>
          </p:nvSpPr>
          <p:spPr bwMode="auto">
            <a:xfrm>
              <a:off x="2907" y="240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Oval 31"/>
            <p:cNvSpPr>
              <a:spLocks noChangeArrowheads="1"/>
            </p:cNvSpPr>
            <p:nvPr/>
          </p:nvSpPr>
          <p:spPr bwMode="auto">
            <a:xfrm>
              <a:off x="4810" y="240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98" name="Line 32"/>
          <p:cNvSpPr>
            <a:spLocks noChangeShapeType="1"/>
          </p:cNvSpPr>
          <p:nvPr/>
        </p:nvSpPr>
        <p:spPr bwMode="auto">
          <a:xfrm rot="-5400000">
            <a:off x="7096919" y="3382169"/>
            <a:ext cx="928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Relationship to SHM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1600201"/>
            <a:ext cx="3470275" cy="4525963"/>
          </a:xfrm>
        </p:spPr>
        <p:txBody>
          <a:bodyPr/>
          <a:lstStyle/>
          <a:p>
            <a:pPr eaLnBrk="1" hangingPunct="1"/>
            <a:r>
              <a:rPr lang="en-US" dirty="0"/>
              <a:t>This is just two SHOs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</a:rPr>
              <a:t>One in the x direction</a:t>
            </a:r>
          </a:p>
          <a:p>
            <a:pPr eaLnBrk="1" hangingPunct="1"/>
            <a:r>
              <a:rPr lang="en-US" dirty="0">
                <a:solidFill>
                  <a:schemeClr val="hlink"/>
                </a:solidFill>
              </a:rPr>
              <a:t>One is the y direction</a:t>
            </a:r>
          </a:p>
        </p:txBody>
      </p:sp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52E9F89-6D42-448B-B1F1-7A16216D9DBE}" type="slidenum">
              <a:rPr lang="en-US"/>
              <a:pPr/>
              <a:t>9</a:t>
            </a:fld>
            <a:endParaRPr lang="en-US"/>
          </a:p>
        </p:txBody>
      </p:sp>
      <p:sp>
        <p:nvSpPr>
          <p:cNvPr id="29701" name="AutoShape 4"/>
          <p:cNvSpPr>
            <a:spLocks noChangeArrowheads="1"/>
          </p:cNvSpPr>
          <p:nvPr/>
        </p:nvSpPr>
        <p:spPr bwMode="auto">
          <a:xfrm flipH="1">
            <a:off x="7696200" y="2895600"/>
            <a:ext cx="1143000" cy="99060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638800" y="1828800"/>
            <a:ext cx="4114800" cy="4114800"/>
            <a:chOff x="2592" y="1152"/>
            <a:chExt cx="2592" cy="2592"/>
          </a:xfrm>
        </p:grpSpPr>
        <p:sp>
          <p:nvSpPr>
            <p:cNvPr id="29729" name="Oval 6"/>
            <p:cNvSpPr>
              <a:spLocks noChangeArrowheads="1"/>
            </p:cNvSpPr>
            <p:nvPr/>
          </p:nvSpPr>
          <p:spPr bwMode="auto">
            <a:xfrm>
              <a:off x="2937" y="1488"/>
              <a:ext cx="1902" cy="19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0" name="Line 7"/>
            <p:cNvSpPr>
              <a:spLocks noChangeShapeType="1"/>
            </p:cNvSpPr>
            <p:nvPr/>
          </p:nvSpPr>
          <p:spPr bwMode="auto">
            <a:xfrm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31" name="Line 8"/>
            <p:cNvSpPr>
              <a:spLocks noChangeShapeType="1"/>
            </p:cNvSpPr>
            <p:nvPr/>
          </p:nvSpPr>
          <p:spPr bwMode="auto">
            <a:xfrm rot="-5400000"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03" name="Text Box 9"/>
          <p:cNvSpPr txBox="1">
            <a:spLocks noChangeArrowheads="1"/>
          </p:cNvSpPr>
          <p:nvPr/>
        </p:nvSpPr>
        <p:spPr bwMode="auto">
          <a:xfrm>
            <a:off x="7696200" y="1447801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cs typeface="Arial" charset="0"/>
              </a:rPr>
              <a:t>ĵ</a:t>
            </a:r>
          </a:p>
        </p:txBody>
      </p:sp>
      <p:sp>
        <p:nvSpPr>
          <p:cNvPr id="29704" name="Text Box 10"/>
          <p:cNvSpPr txBox="1">
            <a:spLocks noChangeArrowheads="1"/>
          </p:cNvSpPr>
          <p:nvPr/>
        </p:nvSpPr>
        <p:spPr bwMode="auto">
          <a:xfrm>
            <a:off x="9813925" y="3846513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î</a:t>
            </a:r>
          </a:p>
        </p:txBody>
      </p:sp>
      <p:sp>
        <p:nvSpPr>
          <p:cNvPr id="29705" name="Line 11"/>
          <p:cNvSpPr>
            <a:spLocks noChangeShapeType="1"/>
          </p:cNvSpPr>
          <p:nvPr/>
        </p:nvSpPr>
        <p:spPr bwMode="auto">
          <a:xfrm flipV="1">
            <a:off x="7696200" y="2895600"/>
            <a:ext cx="1143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6" name="Line 12"/>
          <p:cNvSpPr>
            <a:spLocks noChangeShapeType="1"/>
          </p:cNvSpPr>
          <p:nvPr/>
        </p:nvSpPr>
        <p:spPr bwMode="auto">
          <a:xfrm>
            <a:off x="8839200" y="2895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7" name="Arc 13"/>
          <p:cNvSpPr>
            <a:spLocks/>
          </p:cNvSpPr>
          <p:nvPr/>
        </p:nvSpPr>
        <p:spPr bwMode="auto">
          <a:xfrm>
            <a:off x="8001000" y="3505200"/>
            <a:ext cx="228600" cy="381000"/>
          </a:xfrm>
          <a:custGeom>
            <a:avLst/>
            <a:gdLst>
              <a:gd name="T0" fmla="*/ 121571 w 21600"/>
              <a:gd name="T1" fmla="*/ 0 h 18292"/>
              <a:gd name="T2" fmla="*/ 228600 w 21600"/>
              <a:gd name="T3" fmla="*/ 381000 h 18292"/>
              <a:gd name="T4" fmla="*/ 0 w 21600"/>
              <a:gd name="T5" fmla="*/ 381000 h 18292"/>
              <a:gd name="T6" fmla="*/ 0 60000 65536"/>
              <a:gd name="T7" fmla="*/ 0 60000 65536"/>
              <a:gd name="T8" fmla="*/ 0 60000 65536"/>
              <a:gd name="T9" fmla="*/ 0 w 21600"/>
              <a:gd name="T10" fmla="*/ 0 h 18292"/>
              <a:gd name="T11" fmla="*/ 21600 w 21600"/>
              <a:gd name="T12" fmla="*/ 18292 h 18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292" fill="none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</a:path>
              <a:path w="21600" h="18292" stroke="0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  <a:lnTo>
                  <a:pt x="0" y="182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8" name="Text Box 14"/>
          <p:cNvSpPr txBox="1">
            <a:spLocks noChangeArrowheads="1"/>
          </p:cNvSpPr>
          <p:nvPr/>
        </p:nvSpPr>
        <p:spPr bwMode="auto">
          <a:xfrm>
            <a:off x="8229601" y="3429001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Symbol" pitchFamily="18" charset="2"/>
              </a:rPr>
              <a:t></a:t>
            </a:r>
          </a:p>
        </p:txBody>
      </p:sp>
      <p:sp>
        <p:nvSpPr>
          <p:cNvPr id="29709" name="Text Box 15"/>
          <p:cNvSpPr txBox="1">
            <a:spLocks noChangeArrowheads="1"/>
          </p:cNvSpPr>
          <p:nvPr/>
        </p:nvSpPr>
        <p:spPr bwMode="auto">
          <a:xfrm>
            <a:off x="8137525" y="39227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9710" name="Text Box 16"/>
          <p:cNvSpPr txBox="1">
            <a:spLocks noChangeArrowheads="1"/>
          </p:cNvSpPr>
          <p:nvPr/>
        </p:nvSpPr>
        <p:spPr bwMode="auto">
          <a:xfrm>
            <a:off x="7143750" y="3048001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29711" name="Line 17"/>
          <p:cNvSpPr>
            <a:spLocks noChangeShapeType="1"/>
          </p:cNvSpPr>
          <p:nvPr/>
        </p:nvSpPr>
        <p:spPr bwMode="auto">
          <a:xfrm flipH="1">
            <a:off x="7696200" y="2895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2" name="Text Box 18"/>
          <p:cNvSpPr txBox="1">
            <a:spLocks noChangeArrowheads="1"/>
          </p:cNvSpPr>
          <p:nvPr/>
        </p:nvSpPr>
        <p:spPr bwMode="auto">
          <a:xfrm>
            <a:off x="7985125" y="308451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</a:t>
            </a:r>
          </a:p>
        </p:txBody>
      </p:sp>
      <p:sp>
        <p:nvSpPr>
          <p:cNvPr id="29713" name="Text Box 19"/>
          <p:cNvSpPr txBox="1">
            <a:spLocks noChangeArrowheads="1"/>
          </p:cNvSpPr>
          <p:nvPr/>
        </p:nvSpPr>
        <p:spPr bwMode="auto">
          <a:xfrm>
            <a:off x="8848725" y="2562225"/>
            <a:ext cx="3177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29714" name="Text Box 20"/>
          <p:cNvSpPr txBox="1">
            <a:spLocks noChangeArrowheads="1"/>
          </p:cNvSpPr>
          <p:nvPr/>
        </p:nvSpPr>
        <p:spPr bwMode="auto">
          <a:xfrm>
            <a:off x="9232900" y="3916363"/>
            <a:ext cx="5857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r>
              <a:rPr lang="en-US" baseline="-25000"/>
              <a:t>max</a:t>
            </a:r>
          </a:p>
        </p:txBody>
      </p:sp>
      <p:sp>
        <p:nvSpPr>
          <p:cNvPr id="29715" name="Text Box 21"/>
          <p:cNvSpPr txBox="1">
            <a:spLocks noChangeArrowheads="1"/>
          </p:cNvSpPr>
          <p:nvPr/>
        </p:nvSpPr>
        <p:spPr bwMode="auto">
          <a:xfrm>
            <a:off x="5524500" y="3951288"/>
            <a:ext cx="661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-x</a:t>
            </a:r>
            <a:r>
              <a:rPr lang="en-US" baseline="-25000"/>
              <a:t>max</a:t>
            </a:r>
          </a:p>
        </p:txBody>
      </p:sp>
      <p:sp>
        <p:nvSpPr>
          <p:cNvPr id="29716" name="Line 22"/>
          <p:cNvSpPr>
            <a:spLocks noChangeShapeType="1"/>
          </p:cNvSpPr>
          <p:nvPr/>
        </p:nvSpPr>
        <p:spPr bwMode="auto">
          <a:xfrm>
            <a:off x="7707314" y="3962400"/>
            <a:ext cx="1089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6138863" y="3810000"/>
            <a:ext cx="3109912" cy="96838"/>
            <a:chOff x="2907" y="2400"/>
            <a:chExt cx="1959" cy="61"/>
          </a:xfrm>
        </p:grpSpPr>
        <p:sp>
          <p:nvSpPr>
            <p:cNvPr id="29727" name="Oval 24"/>
            <p:cNvSpPr>
              <a:spLocks noChangeArrowheads="1"/>
            </p:cNvSpPr>
            <p:nvPr/>
          </p:nvSpPr>
          <p:spPr bwMode="auto">
            <a:xfrm>
              <a:off x="2907" y="240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8" name="Oval 25"/>
            <p:cNvSpPr>
              <a:spLocks noChangeArrowheads="1"/>
            </p:cNvSpPr>
            <p:nvPr/>
          </p:nvSpPr>
          <p:spPr bwMode="auto">
            <a:xfrm>
              <a:off x="4810" y="240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18" name="Oval 26"/>
          <p:cNvSpPr>
            <a:spLocks noChangeArrowheads="1"/>
          </p:cNvSpPr>
          <p:nvPr/>
        </p:nvSpPr>
        <p:spPr bwMode="auto">
          <a:xfrm>
            <a:off x="8802688" y="28384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9" name="Text Box 27"/>
          <p:cNvSpPr txBox="1">
            <a:spLocks noChangeArrowheads="1"/>
          </p:cNvSpPr>
          <p:nvPr/>
        </p:nvSpPr>
        <p:spPr bwMode="auto">
          <a:xfrm>
            <a:off x="7680325" y="5380038"/>
            <a:ext cx="661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-y</a:t>
            </a:r>
            <a:r>
              <a:rPr lang="en-US" baseline="-25000"/>
              <a:t>max</a:t>
            </a:r>
          </a:p>
        </p:txBody>
      </p:sp>
      <p:sp>
        <p:nvSpPr>
          <p:cNvPr id="29720" name="Text Box 28"/>
          <p:cNvSpPr txBox="1">
            <a:spLocks noChangeArrowheads="1"/>
          </p:cNvSpPr>
          <p:nvPr/>
        </p:nvSpPr>
        <p:spPr bwMode="auto">
          <a:xfrm>
            <a:off x="7673975" y="1979613"/>
            <a:ext cx="5857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  <a:r>
              <a:rPr lang="en-US" baseline="-25000"/>
              <a:t>max</a:t>
            </a:r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 rot="-5400000">
            <a:off x="6148388" y="3833813"/>
            <a:ext cx="3109913" cy="96838"/>
            <a:chOff x="2907" y="2400"/>
            <a:chExt cx="1959" cy="61"/>
          </a:xfrm>
        </p:grpSpPr>
        <p:sp>
          <p:nvSpPr>
            <p:cNvPr id="29725" name="Oval 30"/>
            <p:cNvSpPr>
              <a:spLocks noChangeArrowheads="1"/>
            </p:cNvSpPr>
            <p:nvPr/>
          </p:nvSpPr>
          <p:spPr bwMode="auto">
            <a:xfrm>
              <a:off x="2907" y="240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6" name="Oval 31"/>
            <p:cNvSpPr>
              <a:spLocks noChangeArrowheads="1"/>
            </p:cNvSpPr>
            <p:nvPr/>
          </p:nvSpPr>
          <p:spPr bwMode="auto">
            <a:xfrm>
              <a:off x="4810" y="240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22" name="Line 32"/>
          <p:cNvSpPr>
            <a:spLocks noChangeShapeType="1"/>
          </p:cNvSpPr>
          <p:nvPr/>
        </p:nvSpPr>
        <p:spPr bwMode="auto">
          <a:xfrm rot="-5400000">
            <a:off x="7096919" y="3382169"/>
            <a:ext cx="928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723" name="Line 33"/>
          <p:cNvSpPr>
            <a:spLocks noChangeShapeType="1"/>
          </p:cNvSpPr>
          <p:nvPr/>
        </p:nvSpPr>
        <p:spPr bwMode="auto">
          <a:xfrm>
            <a:off x="6169025" y="3875088"/>
            <a:ext cx="30622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24" name="Line 34"/>
          <p:cNvSpPr>
            <a:spLocks noChangeShapeType="1"/>
          </p:cNvSpPr>
          <p:nvPr/>
        </p:nvSpPr>
        <p:spPr bwMode="auto">
          <a:xfrm rot="-5400000">
            <a:off x="6163470" y="3898107"/>
            <a:ext cx="3062287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Equations for the two SHOs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1600201"/>
            <a:ext cx="4803775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The equation in X is familiar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The projection onto the y-axis is a sine function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An old trig identity says: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What does this say about the phases of the two SHOs?</a:t>
            </a:r>
          </a:p>
        </p:txBody>
      </p:sp>
      <p:sp>
        <p:nvSpPr>
          <p:cNvPr id="10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B27CBDF-49A3-40BF-B47A-CE3066841BC7}" type="slidenum">
              <a:rPr lang="en-US"/>
              <a:pPr/>
              <a:t>10</a:t>
            </a:fld>
            <a:endParaRPr lang="en-US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7119938" y="1624013"/>
          <a:ext cx="27876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228600" progId="Equation.3">
                  <p:embed/>
                </p:oleObj>
              </mc:Choice>
              <mc:Fallback>
                <p:oleObj name="Equation" r:id="rId2" imgW="1346040" imgH="228600" progId="Equation.3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9938" y="1624013"/>
                        <a:ext cx="278765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7097713" y="2633663"/>
          <a:ext cx="27860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228600" progId="Equation.3">
                  <p:embed/>
                </p:oleObj>
              </mc:Choice>
              <mc:Fallback>
                <p:oleObj name="Equation" r:id="rId4" imgW="1346040" imgH="228600" progId="Equation.3">
                  <p:embed/>
                  <p:pic>
                    <p:nvPicPr>
                      <p:cNvPr id="102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713" y="2633663"/>
                        <a:ext cx="2786062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 noChangeAspect="1"/>
          </p:cNvGraphicFramePr>
          <p:nvPr/>
        </p:nvGraphicFramePr>
        <p:xfrm>
          <a:off x="7085013" y="3582988"/>
          <a:ext cx="25781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520" imgH="431640" progId="Equation.3">
                  <p:embed/>
                </p:oleObj>
              </mc:Choice>
              <mc:Fallback>
                <p:oleObj name="Equation" r:id="rId6" imgW="1244520" imgH="431640" progId="Equation.3">
                  <p:embed/>
                  <p:pic>
                    <p:nvPicPr>
                      <p:cNvPr id="102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5013" y="3582988"/>
                        <a:ext cx="2578100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Rotation and Velocity</a:t>
            </a:r>
          </a:p>
        </p:txBody>
      </p:sp>
      <p:sp>
        <p:nvSpPr>
          <p:cNvPr id="2072" name="Rectangle 41"/>
          <p:cNvSpPr>
            <a:spLocks noGrp="1" noChangeArrowheads="1"/>
          </p:cNvSpPr>
          <p:nvPr>
            <p:ph idx="1"/>
          </p:nvPr>
        </p:nvSpPr>
        <p:spPr>
          <a:xfrm>
            <a:off x="1966914" y="1571625"/>
            <a:ext cx="3222625" cy="21463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1600"/>
              <a:t>Look at the Angular Speed</a:t>
            </a:r>
          </a:p>
          <a:p>
            <a:pPr eaLnBrk="1" hangingPunct="1">
              <a:lnSpc>
                <a:spcPct val="90000"/>
              </a:lnSpc>
            </a:pPr>
            <a:endParaRPr lang="en-US" sz="1600"/>
          </a:p>
          <a:p>
            <a:pPr eaLnBrk="1" hangingPunct="1">
              <a:lnSpc>
                <a:spcPct val="90000"/>
              </a:lnSpc>
            </a:pPr>
            <a:endParaRPr lang="en-US" sz="1600"/>
          </a:p>
          <a:p>
            <a:pPr eaLnBrk="1" hangingPunct="1">
              <a:lnSpc>
                <a:spcPct val="90000"/>
              </a:lnSpc>
            </a:pPr>
            <a:r>
              <a:rPr lang="en-US" sz="1600"/>
              <a:t>Then</a:t>
            </a:r>
          </a:p>
          <a:p>
            <a:pPr eaLnBrk="1" hangingPunct="1">
              <a:lnSpc>
                <a:spcPct val="90000"/>
              </a:lnSpc>
            </a:pPr>
            <a:endParaRPr lang="en-US" sz="1600"/>
          </a:p>
          <a:p>
            <a:pPr eaLnBrk="1" hangingPunct="1">
              <a:lnSpc>
                <a:spcPct val="90000"/>
              </a:lnSpc>
            </a:pPr>
            <a:endParaRPr lang="en-US" sz="1600"/>
          </a:p>
          <a:p>
            <a:pPr eaLnBrk="1" hangingPunct="1">
              <a:lnSpc>
                <a:spcPct val="90000"/>
              </a:lnSpc>
            </a:pPr>
            <a:r>
              <a:rPr lang="en-US" sz="1600"/>
              <a:t>Let’s take the x-component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D8BAEE3-606F-40C5-B97E-BF5378E81159}" type="slidenum">
              <a:rPr lang="en-US"/>
              <a:pPr/>
              <a:t>11</a:t>
            </a:fld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638550" y="1831976"/>
            <a:ext cx="3922712" cy="3921125"/>
            <a:chOff x="2592" y="1152"/>
            <a:chExt cx="2592" cy="2592"/>
          </a:xfrm>
        </p:grpSpPr>
        <p:sp>
          <p:nvSpPr>
            <p:cNvPr id="2095" name="Oval 4"/>
            <p:cNvSpPr>
              <a:spLocks noChangeArrowheads="1"/>
            </p:cNvSpPr>
            <p:nvPr/>
          </p:nvSpPr>
          <p:spPr bwMode="auto">
            <a:xfrm>
              <a:off x="2937" y="1488"/>
              <a:ext cx="1902" cy="19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4000"/>
            </a:p>
          </p:txBody>
        </p:sp>
        <p:sp>
          <p:nvSpPr>
            <p:cNvPr id="2096" name="Line 5"/>
            <p:cNvSpPr>
              <a:spLocks noChangeShapeType="1"/>
            </p:cNvSpPr>
            <p:nvPr/>
          </p:nvSpPr>
          <p:spPr bwMode="auto">
            <a:xfrm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2097" name="Line 6"/>
            <p:cNvSpPr>
              <a:spLocks noChangeShapeType="1"/>
            </p:cNvSpPr>
            <p:nvPr/>
          </p:nvSpPr>
          <p:spPr bwMode="auto">
            <a:xfrm rot="-5400000"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4000"/>
            </a:p>
          </p:txBody>
        </p:sp>
      </p:grpSp>
      <p:sp>
        <p:nvSpPr>
          <p:cNvPr id="2057" name="Text Box 7"/>
          <p:cNvSpPr txBox="1">
            <a:spLocks noChangeArrowheads="1"/>
          </p:cNvSpPr>
          <p:nvPr/>
        </p:nvSpPr>
        <p:spPr bwMode="auto">
          <a:xfrm>
            <a:off x="7557837" y="1643063"/>
            <a:ext cx="2487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cs typeface="Arial" charset="0"/>
              </a:rPr>
              <a:t>ĵ</a:t>
            </a:r>
          </a:p>
        </p:txBody>
      </p:sp>
      <p:sp>
        <p:nvSpPr>
          <p:cNvPr id="2058" name="Text Box 8"/>
          <p:cNvSpPr txBox="1">
            <a:spLocks noChangeArrowheads="1"/>
          </p:cNvSpPr>
          <p:nvPr/>
        </p:nvSpPr>
        <p:spPr bwMode="auto">
          <a:xfrm>
            <a:off x="9459662" y="3744913"/>
            <a:ext cx="2487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î</a:t>
            </a:r>
          </a:p>
        </p:txBody>
      </p:sp>
      <p:sp>
        <p:nvSpPr>
          <p:cNvPr id="2059" name="Line 9"/>
          <p:cNvSpPr>
            <a:spLocks noChangeShapeType="1"/>
          </p:cNvSpPr>
          <p:nvPr/>
        </p:nvSpPr>
        <p:spPr bwMode="auto">
          <a:xfrm flipV="1">
            <a:off x="7597525" y="2851150"/>
            <a:ext cx="1090612" cy="941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4000"/>
          </a:p>
        </p:txBody>
      </p:sp>
      <p:sp>
        <p:nvSpPr>
          <p:cNvPr id="2060" name="Line 10"/>
          <p:cNvSpPr>
            <a:spLocks noChangeShapeType="1"/>
          </p:cNvSpPr>
          <p:nvPr/>
        </p:nvSpPr>
        <p:spPr bwMode="auto">
          <a:xfrm>
            <a:off x="8688137" y="2851150"/>
            <a:ext cx="0" cy="9413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 sz="4000"/>
          </a:p>
        </p:txBody>
      </p:sp>
      <p:sp>
        <p:nvSpPr>
          <p:cNvPr id="2061" name="Arc 11"/>
          <p:cNvSpPr>
            <a:spLocks/>
          </p:cNvSpPr>
          <p:nvPr/>
        </p:nvSpPr>
        <p:spPr bwMode="auto">
          <a:xfrm>
            <a:off x="7889625" y="3430588"/>
            <a:ext cx="215900" cy="361950"/>
          </a:xfrm>
          <a:custGeom>
            <a:avLst/>
            <a:gdLst>
              <a:gd name="T0" fmla="*/ 114817 w 21600"/>
              <a:gd name="T1" fmla="*/ 0 h 18292"/>
              <a:gd name="T2" fmla="*/ 215900 w 21600"/>
              <a:gd name="T3" fmla="*/ 361950 h 18292"/>
              <a:gd name="T4" fmla="*/ 0 w 21600"/>
              <a:gd name="T5" fmla="*/ 361950 h 18292"/>
              <a:gd name="T6" fmla="*/ 0 60000 65536"/>
              <a:gd name="T7" fmla="*/ 0 60000 65536"/>
              <a:gd name="T8" fmla="*/ 0 60000 65536"/>
              <a:gd name="T9" fmla="*/ 0 w 21600"/>
              <a:gd name="T10" fmla="*/ 0 h 18292"/>
              <a:gd name="T11" fmla="*/ 21600 w 21600"/>
              <a:gd name="T12" fmla="*/ 18292 h 18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292" fill="none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</a:path>
              <a:path w="21600" h="18292" stroke="0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  <a:lnTo>
                  <a:pt x="0" y="182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62" name="Text Box 12"/>
          <p:cNvSpPr txBox="1">
            <a:spLocks noChangeArrowheads="1"/>
          </p:cNvSpPr>
          <p:nvPr/>
        </p:nvSpPr>
        <p:spPr bwMode="auto">
          <a:xfrm>
            <a:off x="8044745" y="3357789"/>
            <a:ext cx="3048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ym typeface="Symbol" pitchFamily="18" charset="2"/>
              </a:rPr>
              <a:t></a:t>
            </a:r>
          </a:p>
        </p:txBody>
      </p:sp>
      <p:sp>
        <p:nvSpPr>
          <p:cNvPr id="2063" name="Text Box 13"/>
          <p:cNvSpPr txBox="1">
            <a:spLocks noChangeArrowheads="1"/>
          </p:cNvSpPr>
          <p:nvPr/>
        </p:nvSpPr>
        <p:spPr bwMode="auto">
          <a:xfrm>
            <a:off x="8142037" y="3784600"/>
            <a:ext cx="666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FF9933"/>
                </a:solidFill>
              </a:rPr>
              <a:t>v</a:t>
            </a:r>
            <a:r>
              <a:rPr lang="en-US" baseline="-25000" dirty="0" err="1">
                <a:solidFill>
                  <a:srgbClr val="FF9933"/>
                </a:solidFill>
              </a:rPr>
              <a:t>tx</a:t>
            </a:r>
            <a:endParaRPr lang="en-US" baseline="-25000" dirty="0">
              <a:solidFill>
                <a:srgbClr val="FF9933"/>
              </a:solidFill>
            </a:endParaRPr>
          </a:p>
        </p:txBody>
      </p:sp>
      <p:sp>
        <p:nvSpPr>
          <p:cNvPr id="2064" name="Text Box 14"/>
          <p:cNvSpPr txBox="1">
            <a:spLocks noChangeArrowheads="1"/>
          </p:cNvSpPr>
          <p:nvPr/>
        </p:nvSpPr>
        <p:spPr bwMode="auto">
          <a:xfrm>
            <a:off x="7186362" y="30765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2065" name="Line 15"/>
          <p:cNvSpPr>
            <a:spLocks noChangeShapeType="1"/>
          </p:cNvSpPr>
          <p:nvPr/>
        </p:nvSpPr>
        <p:spPr bwMode="auto">
          <a:xfrm flipH="1">
            <a:off x="7597525" y="2851150"/>
            <a:ext cx="10906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 sz="4000"/>
          </a:p>
        </p:txBody>
      </p:sp>
      <p:sp>
        <p:nvSpPr>
          <p:cNvPr id="2066" name="Line 16"/>
          <p:cNvSpPr>
            <a:spLocks noChangeShapeType="1"/>
          </p:cNvSpPr>
          <p:nvPr/>
        </p:nvSpPr>
        <p:spPr bwMode="auto">
          <a:xfrm flipH="1">
            <a:off x="8142037" y="3784600"/>
            <a:ext cx="527050" cy="0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067" name="Line 17"/>
          <p:cNvSpPr>
            <a:spLocks noChangeShapeType="1"/>
          </p:cNvSpPr>
          <p:nvPr/>
        </p:nvSpPr>
        <p:spPr bwMode="auto">
          <a:xfrm flipH="1">
            <a:off x="8142037" y="2847975"/>
            <a:ext cx="527050" cy="0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068" name="Line 18"/>
          <p:cNvSpPr>
            <a:spLocks noChangeShapeType="1"/>
          </p:cNvSpPr>
          <p:nvPr/>
        </p:nvSpPr>
        <p:spPr bwMode="auto">
          <a:xfrm flipH="1" flipV="1">
            <a:off x="8159501" y="2151063"/>
            <a:ext cx="509587" cy="696912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069" name="Text Box 19"/>
          <p:cNvSpPr txBox="1">
            <a:spLocks noChangeArrowheads="1"/>
          </p:cNvSpPr>
          <p:nvPr/>
        </p:nvSpPr>
        <p:spPr bwMode="auto">
          <a:xfrm>
            <a:off x="8273800" y="2044700"/>
            <a:ext cx="666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CC6600"/>
                </a:solidFill>
              </a:rPr>
              <a:t>v</a:t>
            </a:r>
            <a:r>
              <a:rPr lang="en-US" baseline="-25000" dirty="0" err="1">
                <a:solidFill>
                  <a:srgbClr val="CC6600"/>
                </a:solidFill>
              </a:rPr>
              <a:t>t</a:t>
            </a:r>
            <a:endParaRPr lang="en-US" baseline="-25000" dirty="0">
              <a:solidFill>
                <a:srgbClr val="CC6600"/>
              </a:solidFill>
            </a:endParaRPr>
          </a:p>
        </p:txBody>
      </p:sp>
      <p:sp>
        <p:nvSpPr>
          <p:cNvPr id="2070" name="Text Box 20"/>
          <p:cNvSpPr txBox="1">
            <a:spLocks noChangeArrowheads="1"/>
          </p:cNvSpPr>
          <p:nvPr/>
        </p:nvSpPr>
        <p:spPr bwMode="auto">
          <a:xfrm>
            <a:off x="7878512" y="2819400"/>
            <a:ext cx="666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FF9933"/>
                </a:solidFill>
              </a:rPr>
              <a:t>v</a:t>
            </a:r>
            <a:r>
              <a:rPr lang="en-US" baseline="-25000" dirty="0" err="1">
                <a:solidFill>
                  <a:srgbClr val="FF9933"/>
                </a:solidFill>
              </a:rPr>
              <a:t>tx</a:t>
            </a:r>
            <a:endParaRPr lang="en-US" baseline="-25000" dirty="0">
              <a:solidFill>
                <a:srgbClr val="FF9933"/>
              </a:solidFill>
            </a:endParaRPr>
          </a:p>
        </p:txBody>
      </p:sp>
      <p:sp>
        <p:nvSpPr>
          <p:cNvPr id="2073" name="Text Box 42"/>
          <p:cNvSpPr txBox="1">
            <a:spLocks noChangeArrowheads="1"/>
          </p:cNvSpPr>
          <p:nvPr/>
        </p:nvSpPr>
        <p:spPr bwMode="auto">
          <a:xfrm>
            <a:off x="8148840" y="2875644"/>
            <a:ext cx="3048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ym typeface="Symbol" pitchFamily="18" charset="2"/>
              </a:rPr>
              <a:t></a:t>
            </a:r>
          </a:p>
        </p:txBody>
      </p:sp>
      <p:sp>
        <p:nvSpPr>
          <p:cNvPr id="2074" name="Arc 43"/>
          <p:cNvSpPr>
            <a:spLocks/>
          </p:cNvSpPr>
          <p:nvPr/>
        </p:nvSpPr>
        <p:spPr bwMode="auto">
          <a:xfrm>
            <a:off x="8330950" y="2851151"/>
            <a:ext cx="214312" cy="227013"/>
          </a:xfrm>
          <a:custGeom>
            <a:avLst/>
            <a:gdLst>
              <a:gd name="T0" fmla="*/ 85169 w 21600"/>
              <a:gd name="T1" fmla="*/ 227013 h 17310"/>
              <a:gd name="T2" fmla="*/ 0 w 21600"/>
              <a:gd name="T3" fmla="*/ 0 h 17310"/>
              <a:gd name="T4" fmla="*/ 214312 w 21600"/>
              <a:gd name="T5" fmla="*/ 957 h 17310"/>
              <a:gd name="T6" fmla="*/ 0 60000 65536"/>
              <a:gd name="T7" fmla="*/ 0 60000 65536"/>
              <a:gd name="T8" fmla="*/ 0 60000 65536"/>
              <a:gd name="T9" fmla="*/ 0 w 21600"/>
              <a:gd name="T10" fmla="*/ 0 h 17310"/>
              <a:gd name="T11" fmla="*/ 21600 w 21600"/>
              <a:gd name="T12" fmla="*/ 17310 h 173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7310" fill="none" extrusionOk="0">
                <a:moveTo>
                  <a:pt x="8583" y="17310"/>
                </a:moveTo>
                <a:cubicBezTo>
                  <a:pt x="3177" y="13228"/>
                  <a:pt x="0" y="6846"/>
                  <a:pt x="0" y="73"/>
                </a:cubicBezTo>
                <a:cubicBezTo>
                  <a:pt x="-1" y="48"/>
                  <a:pt x="0" y="24"/>
                  <a:pt x="0" y="0"/>
                </a:cubicBezTo>
              </a:path>
              <a:path w="21600" h="17310" stroke="0" extrusionOk="0">
                <a:moveTo>
                  <a:pt x="8583" y="17310"/>
                </a:moveTo>
                <a:cubicBezTo>
                  <a:pt x="3177" y="13228"/>
                  <a:pt x="0" y="6846"/>
                  <a:pt x="0" y="73"/>
                </a:cubicBezTo>
                <a:cubicBezTo>
                  <a:pt x="-1" y="48"/>
                  <a:pt x="0" y="24"/>
                  <a:pt x="0" y="0"/>
                </a:cubicBezTo>
                <a:lnTo>
                  <a:pt x="21600" y="7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2075" name="Line 44"/>
          <p:cNvSpPr>
            <a:spLocks noChangeShapeType="1"/>
          </p:cNvSpPr>
          <p:nvPr/>
        </p:nvSpPr>
        <p:spPr bwMode="auto">
          <a:xfrm>
            <a:off x="8167437" y="2133600"/>
            <a:ext cx="0" cy="7048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 sz="4000"/>
          </a:p>
        </p:txBody>
      </p:sp>
      <p:graphicFrame>
        <p:nvGraphicFramePr>
          <p:cNvPr id="2050" name="Object 45"/>
          <p:cNvGraphicFramePr>
            <a:graphicFrameLocks noChangeAspect="1"/>
          </p:cNvGraphicFramePr>
          <p:nvPr/>
        </p:nvGraphicFramePr>
        <p:xfrm>
          <a:off x="8974862" y="2305347"/>
          <a:ext cx="519113" cy="423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480" imgH="393480" progId="Equation.3">
                  <p:embed/>
                </p:oleObj>
              </mc:Choice>
              <mc:Fallback>
                <p:oleObj name="Equation" r:id="rId2" imgW="393480" imgH="393480" progId="Equation.3">
                  <p:embed/>
                  <p:pic>
                    <p:nvPicPr>
                      <p:cNvPr id="205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862" y="2305347"/>
                        <a:ext cx="519113" cy="4235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46"/>
          <p:cNvGraphicFramePr>
            <a:graphicFrameLocks noChangeAspect="1"/>
          </p:cNvGraphicFramePr>
          <p:nvPr/>
        </p:nvGraphicFramePr>
        <p:xfrm>
          <a:off x="2417763" y="3862389"/>
          <a:ext cx="19939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228600" progId="Equation.3">
                  <p:embed/>
                </p:oleObj>
              </mc:Choice>
              <mc:Fallback>
                <p:oleObj name="Equation" r:id="rId4" imgW="1422360" imgH="228600" progId="Equation.3">
                  <p:embed/>
                  <p:pic>
                    <p:nvPicPr>
                      <p:cNvPr id="2051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3862389"/>
                        <a:ext cx="199390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7"/>
          <p:cNvGraphicFramePr>
            <a:graphicFrameLocks noChangeAspect="1"/>
          </p:cNvGraphicFramePr>
          <p:nvPr/>
        </p:nvGraphicFramePr>
        <p:xfrm>
          <a:off x="3182939" y="2154238"/>
          <a:ext cx="6238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240" imgH="393480" progId="Equation.3">
                  <p:embed/>
                </p:oleObj>
              </mc:Choice>
              <mc:Fallback>
                <p:oleObj name="Equation" r:id="rId6" imgW="444240" imgH="393480" progId="Equation.3">
                  <p:embed/>
                  <p:pic>
                    <p:nvPicPr>
                      <p:cNvPr id="205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939" y="2154238"/>
                        <a:ext cx="623887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48"/>
          <p:cNvGraphicFramePr>
            <a:graphicFrameLocks noChangeAspect="1"/>
          </p:cNvGraphicFramePr>
          <p:nvPr/>
        </p:nvGraphicFramePr>
        <p:xfrm>
          <a:off x="3027363" y="2828925"/>
          <a:ext cx="658812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00" imgH="228600" progId="Equation.3">
                  <p:embed/>
                </p:oleObj>
              </mc:Choice>
              <mc:Fallback>
                <p:oleObj name="Equation" r:id="rId8" imgW="469800" imgH="228600" progId="Equation.3">
                  <p:embed/>
                  <p:pic>
                    <p:nvPicPr>
                      <p:cNvPr id="2053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3" y="2828925"/>
                        <a:ext cx="658812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Arc 11"/>
          <p:cNvSpPr>
            <a:spLocks/>
          </p:cNvSpPr>
          <p:nvPr/>
        </p:nvSpPr>
        <p:spPr bwMode="auto">
          <a:xfrm rot="10800000" flipV="1">
            <a:off x="8301285" y="2499520"/>
            <a:ext cx="174126" cy="338931"/>
          </a:xfrm>
          <a:custGeom>
            <a:avLst/>
            <a:gdLst>
              <a:gd name="T0" fmla="*/ 114817 w 21600"/>
              <a:gd name="T1" fmla="*/ 0 h 18292"/>
              <a:gd name="T2" fmla="*/ 215900 w 21600"/>
              <a:gd name="T3" fmla="*/ 361950 h 18292"/>
              <a:gd name="T4" fmla="*/ 0 w 21600"/>
              <a:gd name="T5" fmla="*/ 361950 h 18292"/>
              <a:gd name="T6" fmla="*/ 0 60000 65536"/>
              <a:gd name="T7" fmla="*/ 0 60000 65536"/>
              <a:gd name="T8" fmla="*/ 0 60000 65536"/>
              <a:gd name="T9" fmla="*/ 0 w 21600"/>
              <a:gd name="T10" fmla="*/ 0 h 18292"/>
              <a:gd name="T11" fmla="*/ 21600 w 21600"/>
              <a:gd name="T12" fmla="*/ 18292 h 18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292" fill="none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</a:path>
              <a:path w="21600" h="18292" stroke="0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  <a:lnTo>
                  <a:pt x="0" y="182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6" name="Freeform 5"/>
          <p:cNvSpPr/>
          <p:nvPr/>
        </p:nvSpPr>
        <p:spPr>
          <a:xfrm>
            <a:off x="8346211" y="2566988"/>
            <a:ext cx="628650" cy="142875"/>
          </a:xfrm>
          <a:custGeom>
            <a:avLst/>
            <a:gdLst>
              <a:gd name="connsiteX0" fmla="*/ 495300 w 495300"/>
              <a:gd name="connsiteY0" fmla="*/ 0 h 123825"/>
              <a:gd name="connsiteX1" fmla="*/ 366713 w 495300"/>
              <a:gd name="connsiteY1" fmla="*/ 100013 h 123825"/>
              <a:gd name="connsiteX2" fmla="*/ 352425 w 495300"/>
              <a:gd name="connsiteY2" fmla="*/ 19050 h 123825"/>
              <a:gd name="connsiteX3" fmla="*/ 0 w 495300"/>
              <a:gd name="connsiteY3" fmla="*/ 123825 h 123825"/>
              <a:gd name="connsiteX0" fmla="*/ 628650 w 628650"/>
              <a:gd name="connsiteY0" fmla="*/ 0 h 142875"/>
              <a:gd name="connsiteX1" fmla="*/ 366713 w 628650"/>
              <a:gd name="connsiteY1" fmla="*/ 119063 h 142875"/>
              <a:gd name="connsiteX2" fmla="*/ 352425 w 628650"/>
              <a:gd name="connsiteY2" fmla="*/ 38100 h 142875"/>
              <a:gd name="connsiteX3" fmla="*/ 0 w 628650"/>
              <a:gd name="connsiteY3" fmla="*/ 142875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650" h="142875">
                <a:moveTo>
                  <a:pt x="628650" y="0"/>
                </a:moveTo>
                <a:cubicBezTo>
                  <a:pt x="576262" y="48419"/>
                  <a:pt x="412751" y="112713"/>
                  <a:pt x="366713" y="119063"/>
                </a:cubicBezTo>
                <a:cubicBezTo>
                  <a:pt x="320675" y="125413"/>
                  <a:pt x="413544" y="34131"/>
                  <a:pt x="352425" y="38100"/>
                </a:cubicBezTo>
                <a:cubicBezTo>
                  <a:pt x="291306" y="42069"/>
                  <a:pt x="58737" y="127000"/>
                  <a:pt x="0" y="142875"/>
                </a:cubicBezTo>
              </a:path>
            </a:pathLst>
          </a:custGeom>
          <a:noFill/>
          <a:ln w="63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Rotation and Acceleration</a:t>
            </a:r>
          </a:p>
        </p:txBody>
      </p:sp>
      <p:sp>
        <p:nvSpPr>
          <p:cNvPr id="3079" name="Rectangle 23"/>
          <p:cNvSpPr>
            <a:spLocks noGrp="1" noChangeArrowheads="1"/>
          </p:cNvSpPr>
          <p:nvPr>
            <p:ph idx="1"/>
          </p:nvPr>
        </p:nvSpPr>
        <p:spPr>
          <a:xfrm>
            <a:off x="1966913" y="1571625"/>
            <a:ext cx="2786062" cy="4438650"/>
          </a:xfrm>
        </p:spPr>
        <p:txBody>
          <a:bodyPr/>
          <a:lstStyle/>
          <a:p>
            <a:pPr eaLnBrk="1" hangingPunct="1"/>
            <a:r>
              <a:rPr lang="en-US" sz="2400"/>
              <a:t>The acceleration of the particle at P is given by</a:t>
            </a:r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r>
              <a:rPr lang="en-US" sz="2400"/>
              <a:t>Taking the x-  component</a:t>
            </a: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0C1088-0D2B-422C-9F82-4F6635D2C749}" type="slidenum">
              <a:rPr lang="en-US"/>
              <a:pPr/>
              <a:t>12</a:t>
            </a:fld>
            <a:endParaRPr lang="en-US"/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5747544" y="1837872"/>
            <a:ext cx="3922712" cy="3935412"/>
            <a:chOff x="2592" y="1152"/>
            <a:chExt cx="2592" cy="2592"/>
          </a:xfrm>
        </p:grpSpPr>
        <p:sp>
          <p:nvSpPr>
            <p:cNvPr id="3097" name="Oval 25"/>
            <p:cNvSpPr>
              <a:spLocks noChangeArrowheads="1"/>
            </p:cNvSpPr>
            <p:nvPr/>
          </p:nvSpPr>
          <p:spPr bwMode="auto">
            <a:xfrm>
              <a:off x="2937" y="1488"/>
              <a:ext cx="1902" cy="19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4000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 rot="-5400000"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4000"/>
            </a:p>
          </p:txBody>
        </p:sp>
      </p:grpSp>
      <p:sp>
        <p:nvSpPr>
          <p:cNvPr id="3081" name="Text Box 28"/>
          <p:cNvSpPr txBox="1">
            <a:spLocks noChangeArrowheads="1"/>
          </p:cNvSpPr>
          <p:nvPr/>
        </p:nvSpPr>
        <p:spPr bwMode="auto">
          <a:xfrm>
            <a:off x="7666831" y="1647372"/>
            <a:ext cx="2487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cs typeface="Arial" charset="0"/>
              </a:rPr>
              <a:t>ĵ</a:t>
            </a:r>
          </a:p>
        </p:txBody>
      </p:sp>
      <p:sp>
        <p:nvSpPr>
          <p:cNvPr id="3082" name="Text Box 29"/>
          <p:cNvSpPr txBox="1">
            <a:spLocks noChangeArrowheads="1"/>
          </p:cNvSpPr>
          <p:nvPr/>
        </p:nvSpPr>
        <p:spPr bwMode="auto">
          <a:xfrm>
            <a:off x="9568656" y="3757159"/>
            <a:ext cx="2487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î</a:t>
            </a:r>
          </a:p>
        </p:txBody>
      </p:sp>
      <p:sp>
        <p:nvSpPr>
          <p:cNvPr id="3083" name="Line 30"/>
          <p:cNvSpPr>
            <a:spLocks noChangeShapeType="1"/>
          </p:cNvSpPr>
          <p:nvPr/>
        </p:nvSpPr>
        <p:spPr bwMode="auto">
          <a:xfrm flipV="1">
            <a:off x="7706519" y="2858634"/>
            <a:ext cx="1090612" cy="946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4000"/>
          </a:p>
        </p:txBody>
      </p:sp>
      <p:sp>
        <p:nvSpPr>
          <p:cNvPr id="3084" name="Line 31"/>
          <p:cNvSpPr>
            <a:spLocks noChangeShapeType="1"/>
          </p:cNvSpPr>
          <p:nvPr/>
        </p:nvSpPr>
        <p:spPr bwMode="auto">
          <a:xfrm>
            <a:off x="8797131" y="2858634"/>
            <a:ext cx="0" cy="9461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 sz="4000"/>
          </a:p>
        </p:txBody>
      </p:sp>
      <p:sp>
        <p:nvSpPr>
          <p:cNvPr id="3085" name="Arc 32"/>
          <p:cNvSpPr>
            <a:spLocks/>
          </p:cNvSpPr>
          <p:nvPr/>
        </p:nvSpPr>
        <p:spPr bwMode="auto">
          <a:xfrm>
            <a:off x="7989094" y="3516373"/>
            <a:ext cx="168275" cy="264596"/>
          </a:xfrm>
          <a:custGeom>
            <a:avLst/>
            <a:gdLst>
              <a:gd name="T0" fmla="*/ 114817 w 21600"/>
              <a:gd name="T1" fmla="*/ 0 h 18292"/>
              <a:gd name="T2" fmla="*/ 215900 w 21600"/>
              <a:gd name="T3" fmla="*/ 363537 h 18292"/>
              <a:gd name="T4" fmla="*/ 0 w 21600"/>
              <a:gd name="T5" fmla="*/ 363537 h 18292"/>
              <a:gd name="T6" fmla="*/ 0 60000 65536"/>
              <a:gd name="T7" fmla="*/ 0 60000 65536"/>
              <a:gd name="T8" fmla="*/ 0 60000 65536"/>
              <a:gd name="T9" fmla="*/ 0 w 21600"/>
              <a:gd name="T10" fmla="*/ 0 h 18292"/>
              <a:gd name="T11" fmla="*/ 21600 w 21600"/>
              <a:gd name="T12" fmla="*/ 18292 h 18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292" fill="none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</a:path>
              <a:path w="21600" h="18292" stroke="0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  <a:lnTo>
                  <a:pt x="0" y="182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sz="4000"/>
          </a:p>
        </p:txBody>
      </p:sp>
      <p:sp>
        <p:nvSpPr>
          <p:cNvPr id="3086" name="Text Box 33"/>
          <p:cNvSpPr txBox="1">
            <a:spLocks noChangeArrowheads="1"/>
          </p:cNvSpPr>
          <p:nvPr/>
        </p:nvSpPr>
        <p:spPr bwMode="auto">
          <a:xfrm>
            <a:off x="8098585" y="3380468"/>
            <a:ext cx="3048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ym typeface="Symbol" pitchFamily="18" charset="2"/>
              </a:rPr>
              <a:t></a:t>
            </a:r>
          </a:p>
        </p:txBody>
      </p:sp>
      <p:sp>
        <p:nvSpPr>
          <p:cNvPr id="3087" name="Text Box 34"/>
          <p:cNvSpPr txBox="1">
            <a:spLocks noChangeArrowheads="1"/>
          </p:cNvSpPr>
          <p:nvPr/>
        </p:nvSpPr>
        <p:spPr bwMode="auto">
          <a:xfrm>
            <a:off x="8251031" y="3796847"/>
            <a:ext cx="666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CC99FF"/>
                </a:solidFill>
              </a:rPr>
              <a:t>a</a:t>
            </a:r>
            <a:r>
              <a:rPr lang="en-US" baseline="-25000">
                <a:solidFill>
                  <a:srgbClr val="CC99FF"/>
                </a:solidFill>
              </a:rPr>
              <a:t>x</a:t>
            </a:r>
          </a:p>
        </p:txBody>
      </p:sp>
      <p:sp>
        <p:nvSpPr>
          <p:cNvPr id="3088" name="Text Box 35"/>
          <p:cNvSpPr txBox="1">
            <a:spLocks noChangeArrowheads="1"/>
          </p:cNvSpPr>
          <p:nvPr/>
        </p:nvSpPr>
        <p:spPr bwMode="auto">
          <a:xfrm>
            <a:off x="7295356" y="3085647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3089" name="Line 36"/>
          <p:cNvSpPr>
            <a:spLocks noChangeShapeType="1"/>
          </p:cNvSpPr>
          <p:nvPr/>
        </p:nvSpPr>
        <p:spPr bwMode="auto">
          <a:xfrm flipH="1">
            <a:off x="7706519" y="2858634"/>
            <a:ext cx="10906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 sz="4000"/>
          </a:p>
        </p:txBody>
      </p:sp>
      <p:sp>
        <p:nvSpPr>
          <p:cNvPr id="3090" name="Line 37"/>
          <p:cNvSpPr>
            <a:spLocks noChangeShapeType="1"/>
          </p:cNvSpPr>
          <p:nvPr/>
        </p:nvSpPr>
        <p:spPr bwMode="auto">
          <a:xfrm flipH="1">
            <a:off x="8251031" y="3801610"/>
            <a:ext cx="527050" cy="0"/>
          </a:xfrm>
          <a:prstGeom prst="line">
            <a:avLst/>
          </a:prstGeom>
          <a:noFill/>
          <a:ln w="28575">
            <a:solidFill>
              <a:srgbClr val="FF99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091" name="Line 38"/>
          <p:cNvSpPr>
            <a:spLocks noChangeShapeType="1"/>
          </p:cNvSpPr>
          <p:nvPr/>
        </p:nvSpPr>
        <p:spPr bwMode="auto">
          <a:xfrm flipH="1">
            <a:off x="8262145" y="2857048"/>
            <a:ext cx="515937" cy="458787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092" name="Text Box 39"/>
          <p:cNvSpPr txBox="1">
            <a:spLocks noChangeArrowheads="1"/>
          </p:cNvSpPr>
          <p:nvPr/>
        </p:nvSpPr>
        <p:spPr bwMode="auto">
          <a:xfrm>
            <a:off x="8407512" y="3066368"/>
            <a:ext cx="666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CC00CC"/>
                </a:solidFill>
              </a:rPr>
              <a:t>a</a:t>
            </a:r>
            <a:endParaRPr lang="en-US" baseline="-25000" dirty="0">
              <a:solidFill>
                <a:srgbClr val="CC00CC"/>
              </a:solidFill>
            </a:endParaRPr>
          </a:p>
        </p:txBody>
      </p:sp>
      <p:sp>
        <p:nvSpPr>
          <p:cNvPr id="3093" name="Line 40"/>
          <p:cNvSpPr>
            <a:spLocks noChangeShapeType="1"/>
          </p:cNvSpPr>
          <p:nvPr/>
        </p:nvSpPr>
        <p:spPr bwMode="auto">
          <a:xfrm flipH="1">
            <a:off x="8251031" y="2858633"/>
            <a:ext cx="527050" cy="0"/>
          </a:xfrm>
          <a:prstGeom prst="line">
            <a:avLst/>
          </a:prstGeom>
          <a:noFill/>
          <a:ln w="28575">
            <a:solidFill>
              <a:srgbClr val="FF99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094" name="Text Box 41"/>
          <p:cNvSpPr txBox="1">
            <a:spLocks noChangeArrowheads="1"/>
          </p:cNvSpPr>
          <p:nvPr/>
        </p:nvSpPr>
        <p:spPr bwMode="auto">
          <a:xfrm>
            <a:off x="8052594" y="2398259"/>
            <a:ext cx="666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CC99FF"/>
                </a:solidFill>
              </a:rPr>
              <a:t>a</a:t>
            </a:r>
            <a:r>
              <a:rPr lang="en-US" baseline="-25000">
                <a:solidFill>
                  <a:srgbClr val="CC99FF"/>
                </a:solidFill>
              </a:rPr>
              <a:t>x</a:t>
            </a:r>
          </a:p>
        </p:txBody>
      </p:sp>
      <p:graphicFrame>
        <p:nvGraphicFramePr>
          <p:cNvPr id="3074" name="Object 42"/>
          <p:cNvGraphicFramePr>
            <a:graphicFrameLocks noChangeAspect="1"/>
          </p:cNvGraphicFramePr>
          <p:nvPr/>
        </p:nvGraphicFramePr>
        <p:xfrm>
          <a:off x="2270126" y="4651375"/>
          <a:ext cx="2119313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241200" progId="Equation.3">
                  <p:embed/>
                </p:oleObj>
              </mc:Choice>
              <mc:Fallback>
                <p:oleObj name="Equation" r:id="rId2" imgW="1511280" imgH="241200" progId="Equation.3">
                  <p:embed/>
                  <p:pic>
                    <p:nvPicPr>
                      <p:cNvPr id="307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6" y="4651375"/>
                        <a:ext cx="2119313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3"/>
          <p:cNvGraphicFramePr>
            <a:graphicFrameLocks noChangeAspect="1"/>
          </p:cNvGraphicFramePr>
          <p:nvPr/>
        </p:nvGraphicFramePr>
        <p:xfrm>
          <a:off x="2203450" y="2784476"/>
          <a:ext cx="259873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000" imgH="419040" progId="Equation.3">
                  <p:embed/>
                </p:oleObj>
              </mc:Choice>
              <mc:Fallback>
                <p:oleObj name="Equation" r:id="rId4" imgW="1854000" imgH="419040" progId="Equation.3">
                  <p:embed/>
                  <p:pic>
                    <p:nvPicPr>
                      <p:cNvPr id="307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2784476"/>
                        <a:ext cx="2598738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5" name="Text Box 44"/>
          <p:cNvSpPr txBox="1">
            <a:spLocks noChangeArrowheads="1"/>
          </p:cNvSpPr>
          <p:nvPr/>
        </p:nvSpPr>
        <p:spPr bwMode="auto">
          <a:xfrm>
            <a:off x="8075953" y="2879272"/>
            <a:ext cx="3048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ym typeface="Symbol" pitchFamily="18" charset="2"/>
              </a:rPr>
              <a:t></a:t>
            </a:r>
          </a:p>
        </p:txBody>
      </p:sp>
      <p:sp>
        <p:nvSpPr>
          <p:cNvPr id="3096" name="Arc 45"/>
          <p:cNvSpPr>
            <a:spLocks/>
          </p:cNvSpPr>
          <p:nvPr/>
        </p:nvSpPr>
        <p:spPr bwMode="auto">
          <a:xfrm flipH="1" flipV="1">
            <a:off x="8308181" y="2836409"/>
            <a:ext cx="215900" cy="363538"/>
          </a:xfrm>
          <a:custGeom>
            <a:avLst/>
            <a:gdLst>
              <a:gd name="T0" fmla="*/ 114817 w 21600"/>
              <a:gd name="T1" fmla="*/ 0 h 18292"/>
              <a:gd name="T2" fmla="*/ 215900 w 21600"/>
              <a:gd name="T3" fmla="*/ 363538 h 18292"/>
              <a:gd name="T4" fmla="*/ 0 w 21600"/>
              <a:gd name="T5" fmla="*/ 363538 h 18292"/>
              <a:gd name="T6" fmla="*/ 0 60000 65536"/>
              <a:gd name="T7" fmla="*/ 0 60000 65536"/>
              <a:gd name="T8" fmla="*/ 0 60000 65536"/>
              <a:gd name="T9" fmla="*/ 0 w 21600"/>
              <a:gd name="T10" fmla="*/ 0 h 18292"/>
              <a:gd name="T11" fmla="*/ 21600 w 21600"/>
              <a:gd name="T12" fmla="*/ 18292 h 18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292" fill="none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</a:path>
              <a:path w="21600" h="18292" stroke="0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  <a:lnTo>
                  <a:pt x="0" y="182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1AE2D-6D1D-1E90-BAFF-5A2311FC2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298"/>
                <a:ext cx="10515600" cy="656875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rad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1AE2D-6D1D-1E90-BAFF-5A2311FC2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298"/>
                <a:ext cx="10515600" cy="656875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985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pSp>
        <p:nvGrpSpPr>
          <p:cNvPr id="4099" name="Group 5"/>
          <p:cNvGrpSpPr>
            <a:grpSpLocks/>
          </p:cNvGrpSpPr>
          <p:nvPr/>
        </p:nvGrpSpPr>
        <p:grpSpPr bwMode="auto">
          <a:xfrm>
            <a:off x="4352926" y="1885950"/>
            <a:ext cx="3071813" cy="3430588"/>
            <a:chOff x="3766" y="996"/>
            <a:chExt cx="1329" cy="1585"/>
          </a:xfrm>
        </p:grpSpPr>
        <p:sp>
          <p:nvSpPr>
            <p:cNvPr id="4105" name="Rectangle 6"/>
            <p:cNvSpPr>
              <a:spLocks noChangeArrowheads="1"/>
            </p:cNvSpPr>
            <p:nvPr/>
          </p:nvSpPr>
          <p:spPr bwMode="auto">
            <a:xfrm>
              <a:off x="3766" y="996"/>
              <a:ext cx="1143" cy="64"/>
            </a:xfrm>
            <a:prstGeom prst="rect">
              <a:avLst/>
            </a:prstGeom>
            <a:gradFill rotWithShape="1">
              <a:gsLst>
                <a:gs pos="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4106" name="Line 7"/>
            <p:cNvSpPr>
              <a:spLocks noChangeShapeType="1"/>
            </p:cNvSpPr>
            <p:nvPr/>
          </p:nvSpPr>
          <p:spPr bwMode="auto">
            <a:xfrm>
              <a:off x="4334" y="1042"/>
              <a:ext cx="0" cy="9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" name="Arc 8"/>
            <p:cNvSpPr>
              <a:spLocks/>
            </p:cNvSpPr>
            <p:nvPr/>
          </p:nvSpPr>
          <p:spPr bwMode="auto">
            <a:xfrm>
              <a:off x="3925" y="1482"/>
              <a:ext cx="839" cy="494"/>
            </a:xfrm>
            <a:custGeom>
              <a:avLst/>
              <a:gdLst>
                <a:gd name="T0" fmla="*/ 0 w 23777"/>
                <a:gd name="T1" fmla="*/ 0 h 21600"/>
                <a:gd name="T2" fmla="*/ 0 w 23777"/>
                <a:gd name="T3" fmla="*/ 0 h 21600"/>
                <a:gd name="T4" fmla="*/ 0 w 23777"/>
                <a:gd name="T5" fmla="*/ 0 h 21600"/>
                <a:gd name="T6" fmla="*/ 0 60000 65536"/>
                <a:gd name="T7" fmla="*/ 0 60000 65536"/>
                <a:gd name="T8" fmla="*/ 0 60000 65536"/>
                <a:gd name="T9" fmla="*/ 0 w 23777"/>
                <a:gd name="T10" fmla="*/ 0 h 21600"/>
                <a:gd name="T11" fmla="*/ 23777 w 237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777" h="21600" fill="none" extrusionOk="0">
                  <a:moveTo>
                    <a:pt x="23776" y="17602"/>
                  </a:moveTo>
                  <a:cubicBezTo>
                    <a:pt x="20120" y="20202"/>
                    <a:pt x="15745" y="21599"/>
                    <a:pt x="11259" y="21600"/>
                  </a:cubicBezTo>
                  <a:cubicBezTo>
                    <a:pt x="7286" y="21600"/>
                    <a:pt x="3390" y="20504"/>
                    <a:pt x="0" y="18433"/>
                  </a:cubicBezTo>
                </a:path>
                <a:path w="23777" h="21600" stroke="0" extrusionOk="0">
                  <a:moveTo>
                    <a:pt x="23776" y="17602"/>
                  </a:moveTo>
                  <a:cubicBezTo>
                    <a:pt x="20120" y="20202"/>
                    <a:pt x="15745" y="21599"/>
                    <a:pt x="11259" y="21600"/>
                  </a:cubicBezTo>
                  <a:cubicBezTo>
                    <a:pt x="7286" y="21600"/>
                    <a:pt x="3390" y="20504"/>
                    <a:pt x="0" y="18433"/>
                  </a:cubicBezTo>
                  <a:lnTo>
                    <a:pt x="11259" y="0"/>
                  </a:lnTo>
                  <a:lnTo>
                    <a:pt x="23776" y="176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8" name="Oval 9"/>
            <p:cNvSpPr>
              <a:spLocks noChangeArrowheads="1"/>
            </p:cNvSpPr>
            <p:nvPr/>
          </p:nvSpPr>
          <p:spPr bwMode="auto">
            <a:xfrm>
              <a:off x="4727" y="1764"/>
              <a:ext cx="165" cy="156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4109" name="Line 10"/>
            <p:cNvSpPr>
              <a:spLocks noChangeShapeType="1"/>
            </p:cNvSpPr>
            <p:nvPr/>
          </p:nvSpPr>
          <p:spPr bwMode="auto">
            <a:xfrm>
              <a:off x="4334" y="1015"/>
              <a:ext cx="429" cy="7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Line 11"/>
            <p:cNvSpPr>
              <a:spLocks noChangeShapeType="1"/>
            </p:cNvSpPr>
            <p:nvPr/>
          </p:nvSpPr>
          <p:spPr bwMode="auto">
            <a:xfrm flipH="1" flipV="1">
              <a:off x="4571" y="1436"/>
              <a:ext cx="192" cy="33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Text Box 12"/>
            <p:cNvSpPr txBox="1">
              <a:spLocks noChangeArrowheads="1"/>
            </p:cNvSpPr>
            <p:nvPr/>
          </p:nvSpPr>
          <p:spPr bwMode="auto">
            <a:xfrm>
              <a:off x="4723" y="1367"/>
              <a:ext cx="16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rgbClr val="FF0000"/>
                  </a:solidFill>
                </a:rPr>
                <a:t>T</a:t>
              </a:r>
            </a:p>
          </p:txBody>
        </p:sp>
        <p:sp>
          <p:nvSpPr>
            <p:cNvPr id="4112" name="Text Box 13"/>
            <p:cNvSpPr txBox="1">
              <a:spLocks noChangeArrowheads="1"/>
            </p:cNvSpPr>
            <p:nvPr/>
          </p:nvSpPr>
          <p:spPr bwMode="auto">
            <a:xfrm>
              <a:off x="4879" y="1705"/>
              <a:ext cx="19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m</a:t>
              </a:r>
            </a:p>
          </p:txBody>
        </p:sp>
        <p:sp>
          <p:nvSpPr>
            <p:cNvPr id="4113" name="Text Box 14"/>
            <p:cNvSpPr txBox="1">
              <a:spLocks noChangeArrowheads="1"/>
            </p:cNvSpPr>
            <p:nvPr/>
          </p:nvSpPr>
          <p:spPr bwMode="auto">
            <a:xfrm>
              <a:off x="4157" y="1414"/>
              <a:ext cx="15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L</a:t>
              </a:r>
            </a:p>
          </p:txBody>
        </p:sp>
        <p:sp>
          <p:nvSpPr>
            <p:cNvPr id="4114" name="Text Box 16"/>
            <p:cNvSpPr txBox="1">
              <a:spLocks noChangeArrowheads="1"/>
            </p:cNvSpPr>
            <p:nvPr/>
          </p:nvSpPr>
          <p:spPr bwMode="auto">
            <a:xfrm>
              <a:off x="4350" y="1266"/>
              <a:ext cx="14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ym typeface="Symbol" pitchFamily="18" charset="2"/>
                </a:rPr>
                <a:t></a:t>
              </a:r>
            </a:p>
          </p:txBody>
        </p:sp>
        <p:sp>
          <p:nvSpPr>
            <p:cNvPr id="4115" name="Line 17"/>
            <p:cNvSpPr>
              <a:spLocks noChangeShapeType="1"/>
            </p:cNvSpPr>
            <p:nvPr/>
          </p:nvSpPr>
          <p:spPr bwMode="auto">
            <a:xfrm flipH="1">
              <a:off x="4813" y="1925"/>
              <a:ext cx="0" cy="45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" name="Text Box 18"/>
            <p:cNvSpPr txBox="1">
              <a:spLocks noChangeArrowheads="1"/>
            </p:cNvSpPr>
            <p:nvPr/>
          </p:nvSpPr>
          <p:spPr bwMode="auto">
            <a:xfrm>
              <a:off x="4627" y="2368"/>
              <a:ext cx="4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FF0000"/>
                  </a:solidFill>
                </a:rPr>
                <a:t>W=mg</a:t>
              </a:r>
            </a:p>
          </p:txBody>
        </p:sp>
        <p:sp>
          <p:nvSpPr>
            <p:cNvPr id="4117" name="Text Box 19"/>
            <p:cNvSpPr txBox="1">
              <a:spLocks noChangeArrowheads="1"/>
            </p:cNvSpPr>
            <p:nvPr/>
          </p:nvSpPr>
          <p:spPr bwMode="auto">
            <a:xfrm>
              <a:off x="4830" y="2055"/>
              <a:ext cx="14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ym typeface="Symbol" pitchFamily="18" charset="2"/>
                </a:rPr>
                <a:t></a:t>
              </a:r>
            </a:p>
          </p:txBody>
        </p:sp>
        <p:sp>
          <p:nvSpPr>
            <p:cNvPr id="4118" name="Line 21"/>
            <p:cNvSpPr>
              <a:spLocks noChangeShapeType="1"/>
            </p:cNvSpPr>
            <p:nvPr/>
          </p:nvSpPr>
          <p:spPr bwMode="auto">
            <a:xfrm>
              <a:off x="4853" y="1911"/>
              <a:ext cx="220" cy="374"/>
            </a:xfrm>
            <a:prstGeom prst="line">
              <a:avLst/>
            </a:prstGeom>
            <a:noFill/>
            <a:ln w="38100">
              <a:solidFill>
                <a:srgbClr val="FE877E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9" name="Line 22"/>
            <p:cNvSpPr>
              <a:spLocks noChangeShapeType="1"/>
            </p:cNvSpPr>
            <p:nvPr/>
          </p:nvSpPr>
          <p:spPr bwMode="auto">
            <a:xfrm flipH="1">
              <a:off x="4511" y="1898"/>
              <a:ext cx="219" cy="92"/>
            </a:xfrm>
            <a:prstGeom prst="line">
              <a:avLst/>
            </a:prstGeom>
            <a:noFill/>
            <a:ln w="38100">
              <a:solidFill>
                <a:srgbClr val="FE877E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0" name="Text Box 18"/>
          <p:cNvSpPr txBox="1">
            <a:spLocks noChangeArrowheads="1"/>
          </p:cNvSpPr>
          <p:nvPr/>
        </p:nvSpPr>
        <p:spPr bwMode="auto">
          <a:xfrm>
            <a:off x="5791200" y="4113213"/>
            <a:ext cx="533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E877E"/>
                </a:solidFill>
              </a:rPr>
              <a:t>W</a:t>
            </a:r>
            <a:r>
              <a:rPr lang="en-US" altLang="en-US" sz="2400" baseline="-25000">
                <a:solidFill>
                  <a:srgbClr val="FE877E"/>
                </a:solidFill>
              </a:rPr>
              <a:t>t</a:t>
            </a:r>
          </a:p>
        </p:txBody>
      </p:sp>
      <p:sp>
        <p:nvSpPr>
          <p:cNvPr id="4101" name="Text Box 18"/>
          <p:cNvSpPr txBox="1">
            <a:spLocks noChangeArrowheads="1"/>
          </p:cNvSpPr>
          <p:nvPr/>
        </p:nvSpPr>
        <p:spPr bwMode="auto">
          <a:xfrm>
            <a:off x="7459663" y="4130676"/>
            <a:ext cx="5381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E877E"/>
                </a:solidFill>
              </a:rPr>
              <a:t>W</a:t>
            </a:r>
            <a:r>
              <a:rPr lang="en-US" altLang="en-US" sz="2400" baseline="-25000">
                <a:solidFill>
                  <a:srgbClr val="FE877E"/>
                </a:solidFill>
              </a:rPr>
              <a:t>r</a:t>
            </a:r>
          </a:p>
        </p:txBody>
      </p:sp>
      <p:sp>
        <p:nvSpPr>
          <p:cNvPr id="27" name="Arc 26"/>
          <p:cNvSpPr/>
          <p:nvPr/>
        </p:nvSpPr>
        <p:spPr>
          <a:xfrm rot="5400000">
            <a:off x="6638926" y="3921126"/>
            <a:ext cx="295275" cy="393700"/>
          </a:xfrm>
          <a:prstGeom prst="arc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Arc 28"/>
          <p:cNvSpPr/>
          <p:nvPr/>
        </p:nvSpPr>
        <p:spPr>
          <a:xfrm rot="5400000">
            <a:off x="5549107" y="2162969"/>
            <a:ext cx="295275" cy="395288"/>
          </a:xfrm>
          <a:prstGeom prst="arc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Arc 29"/>
          <p:cNvSpPr/>
          <p:nvPr/>
        </p:nvSpPr>
        <p:spPr>
          <a:xfrm rot="5400000">
            <a:off x="6791326" y="4073526"/>
            <a:ext cx="295275" cy="393700"/>
          </a:xfrm>
          <a:prstGeom prst="arc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40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A2F127F-23FE-4B64-AB15-90268C342954}" type="slidenum">
              <a:rPr lang="en-US" smtClean="0"/>
              <a:pPr eaLnBrk="1" hangingPunct="1"/>
              <a:t>15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Pendulum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sz="2000"/>
              <a:t>The forces on  M  are F</a:t>
            </a:r>
            <a:r>
              <a:rPr lang="en-US" sz="2000" baseline="-25000"/>
              <a:t>g</a:t>
            </a:r>
            <a:r>
              <a:rPr lang="en-US" sz="2000"/>
              <a:t>, the tension on the string </a:t>
            </a:r>
          </a:p>
          <a:p>
            <a:pPr eaLnBrk="1" hangingPunct="1"/>
            <a:r>
              <a:rPr lang="en-US" sz="2000"/>
              <a:t>The tangential component of F</a:t>
            </a:r>
            <a:r>
              <a:rPr lang="en-US" sz="2000" baseline="-25000"/>
              <a:t>g</a:t>
            </a:r>
            <a:r>
              <a:rPr lang="en-US" sz="2000"/>
              <a:t> is always directed toward </a:t>
            </a:r>
          </a:p>
          <a:p>
            <a:pPr eaLnBrk="1" hangingPunct="1"/>
            <a:r>
              <a:rPr lang="en-US" sz="2000"/>
              <a:t>This is a restoring force! Take</a:t>
            </a:r>
          </a:p>
          <a:p>
            <a:pPr eaLnBrk="1" hangingPunct="1"/>
            <a:endParaRPr lang="en-US" sz="2000"/>
          </a:p>
          <a:p>
            <a:pPr eaLnBrk="1" hangingPunct="1"/>
            <a:r>
              <a:rPr lang="en-US" sz="2000"/>
              <a:t>Then the restoring force is</a:t>
            </a:r>
          </a:p>
          <a:p>
            <a:pPr eaLnBrk="1" hangingPunct="1"/>
            <a:endParaRPr lang="en-US"/>
          </a:p>
        </p:txBody>
      </p:sp>
      <p:sp>
        <p:nvSpPr>
          <p:cNvPr id="410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4051301"/>
            <a:ext cx="4038600" cy="20748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/>
              <a:t>If we restrict ourselves to small angles</a:t>
            </a:r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r>
              <a:rPr lang="en-US" sz="2000"/>
              <a:t>Which looks familiar</a:t>
            </a:r>
          </a:p>
        </p:txBody>
      </p:sp>
      <p:graphicFrame>
        <p:nvGraphicFramePr>
          <p:cNvPr id="410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564369"/>
              </p:ext>
            </p:extLst>
          </p:nvPr>
        </p:nvGraphicFramePr>
        <p:xfrm>
          <a:off x="1751851" y="3597568"/>
          <a:ext cx="747712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002" imgH="177723" progId="Equation.3">
                  <p:embed/>
                </p:oleObj>
              </mc:Choice>
              <mc:Fallback>
                <p:oleObj name="Equation" r:id="rId2" imgW="457002" imgH="177723" progId="Equation.3">
                  <p:embed/>
                  <p:pic>
                    <p:nvPicPr>
                      <p:cNvPr id="410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851" y="3597568"/>
                        <a:ext cx="747712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24"/>
          <p:cNvSpPr>
            <a:spLocks noChangeArrowheads="1"/>
          </p:cNvSpPr>
          <p:nvPr/>
        </p:nvSpPr>
        <p:spPr bwMode="auto">
          <a:xfrm>
            <a:off x="1524001" y="25775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0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505950"/>
              </p:ext>
            </p:extLst>
          </p:nvPr>
        </p:nvGraphicFramePr>
        <p:xfrm>
          <a:off x="1494676" y="4394493"/>
          <a:ext cx="1314450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800" imgH="1079500" progId="Equation.3">
                  <p:embed/>
                </p:oleObj>
              </mc:Choice>
              <mc:Fallback>
                <p:oleObj name="Equation" r:id="rId4" imgW="939800" imgH="1079500" progId="Equation.3">
                  <p:embed/>
                  <p:pic>
                    <p:nvPicPr>
                      <p:cNvPr id="410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676" y="4394493"/>
                        <a:ext cx="1314450" cy="151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85C09F02-2C2C-5657-4F55-FC26B4A9060D}"/>
              </a:ext>
            </a:extLst>
          </p:cNvPr>
          <p:cNvGrpSpPr/>
          <p:nvPr/>
        </p:nvGrpSpPr>
        <p:grpSpPr>
          <a:xfrm>
            <a:off x="8191500" y="438150"/>
            <a:ext cx="2780504" cy="2781300"/>
            <a:chOff x="8501064" y="415131"/>
            <a:chExt cx="2780504" cy="2781300"/>
          </a:xfrm>
        </p:grpSpPr>
        <p:grpSp>
          <p:nvGrpSpPr>
            <p:cNvPr id="4102" name="Group 5"/>
            <p:cNvGrpSpPr>
              <a:grpSpLocks/>
            </p:cNvGrpSpPr>
            <p:nvPr/>
          </p:nvGrpSpPr>
          <p:grpSpPr bwMode="auto">
            <a:xfrm>
              <a:off x="9140031" y="415131"/>
              <a:ext cx="2141537" cy="2781300"/>
              <a:chOff x="3766" y="847"/>
              <a:chExt cx="1349" cy="1752"/>
            </a:xfrm>
          </p:grpSpPr>
          <p:sp>
            <p:nvSpPr>
              <p:cNvPr id="4114" name="Rectangle 6"/>
              <p:cNvSpPr>
                <a:spLocks noChangeArrowheads="1"/>
              </p:cNvSpPr>
              <p:nvPr/>
            </p:nvSpPr>
            <p:spPr bwMode="auto">
              <a:xfrm>
                <a:off x="3766" y="996"/>
                <a:ext cx="1143" cy="64"/>
              </a:xfrm>
              <a:prstGeom prst="rect">
                <a:avLst/>
              </a:prstGeom>
              <a:gradFill rotWithShape="1">
                <a:gsLst>
                  <a:gs pos="0">
                    <a:srgbClr val="993300"/>
                  </a:gs>
                  <a:gs pos="100000">
                    <a:srgbClr val="4718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5" name="Line 7"/>
              <p:cNvSpPr>
                <a:spLocks noChangeShapeType="1"/>
              </p:cNvSpPr>
              <p:nvPr/>
            </p:nvSpPr>
            <p:spPr bwMode="auto">
              <a:xfrm>
                <a:off x="4334" y="1042"/>
                <a:ext cx="0" cy="9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6" name="Arc 8"/>
              <p:cNvSpPr>
                <a:spLocks/>
              </p:cNvSpPr>
              <p:nvPr/>
            </p:nvSpPr>
            <p:spPr bwMode="auto">
              <a:xfrm>
                <a:off x="3925" y="1482"/>
                <a:ext cx="839" cy="494"/>
              </a:xfrm>
              <a:custGeom>
                <a:avLst/>
                <a:gdLst>
                  <a:gd name="T0" fmla="*/ 0 w 23777"/>
                  <a:gd name="T1" fmla="*/ 0 h 21600"/>
                  <a:gd name="T2" fmla="*/ 0 w 23777"/>
                  <a:gd name="T3" fmla="*/ 0 h 21600"/>
                  <a:gd name="T4" fmla="*/ 0 w 2377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3777"/>
                  <a:gd name="T10" fmla="*/ 0 h 21600"/>
                  <a:gd name="T11" fmla="*/ 23777 w 2377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777" h="21600" fill="none" extrusionOk="0">
                    <a:moveTo>
                      <a:pt x="23776" y="17602"/>
                    </a:moveTo>
                    <a:cubicBezTo>
                      <a:pt x="20120" y="20202"/>
                      <a:pt x="15745" y="21599"/>
                      <a:pt x="11259" y="21600"/>
                    </a:cubicBezTo>
                    <a:cubicBezTo>
                      <a:pt x="7286" y="21600"/>
                      <a:pt x="3390" y="20504"/>
                      <a:pt x="0" y="18433"/>
                    </a:cubicBezTo>
                  </a:path>
                  <a:path w="23777" h="21600" stroke="0" extrusionOk="0">
                    <a:moveTo>
                      <a:pt x="23776" y="17602"/>
                    </a:moveTo>
                    <a:cubicBezTo>
                      <a:pt x="20120" y="20202"/>
                      <a:pt x="15745" y="21599"/>
                      <a:pt x="11259" y="21600"/>
                    </a:cubicBezTo>
                    <a:cubicBezTo>
                      <a:pt x="7286" y="21600"/>
                      <a:pt x="3390" y="20504"/>
                      <a:pt x="0" y="18433"/>
                    </a:cubicBezTo>
                    <a:lnTo>
                      <a:pt x="11259" y="0"/>
                    </a:lnTo>
                    <a:lnTo>
                      <a:pt x="23776" y="1760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7" name="Oval 9"/>
              <p:cNvSpPr>
                <a:spLocks noChangeArrowheads="1"/>
              </p:cNvSpPr>
              <p:nvPr/>
            </p:nvSpPr>
            <p:spPr bwMode="auto">
              <a:xfrm>
                <a:off x="4727" y="1764"/>
                <a:ext cx="165" cy="156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8" name="Line 10"/>
              <p:cNvSpPr>
                <a:spLocks noChangeShapeType="1"/>
              </p:cNvSpPr>
              <p:nvPr/>
            </p:nvSpPr>
            <p:spPr bwMode="auto">
              <a:xfrm>
                <a:off x="4334" y="1015"/>
                <a:ext cx="429" cy="7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" name="Line 11"/>
              <p:cNvSpPr>
                <a:spLocks noChangeShapeType="1"/>
              </p:cNvSpPr>
              <p:nvPr/>
            </p:nvSpPr>
            <p:spPr bwMode="auto">
              <a:xfrm flipH="1" flipV="1">
                <a:off x="4571" y="1436"/>
                <a:ext cx="192" cy="33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0" name="Text Box 12"/>
              <p:cNvSpPr txBox="1">
                <a:spLocks noChangeArrowheads="1"/>
              </p:cNvSpPr>
              <p:nvPr/>
            </p:nvSpPr>
            <p:spPr bwMode="auto">
              <a:xfrm>
                <a:off x="4723" y="1367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</a:p>
            </p:txBody>
          </p:sp>
          <p:sp>
            <p:nvSpPr>
              <p:cNvPr id="4121" name="Text Box 13"/>
              <p:cNvSpPr txBox="1">
                <a:spLocks noChangeArrowheads="1"/>
              </p:cNvSpPr>
              <p:nvPr/>
            </p:nvSpPr>
            <p:spPr bwMode="auto">
              <a:xfrm>
                <a:off x="4879" y="1705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i="1"/>
                  <a:t>m</a:t>
                </a:r>
              </a:p>
            </p:txBody>
          </p:sp>
          <p:sp>
            <p:nvSpPr>
              <p:cNvPr id="4122" name="Text Box 14"/>
              <p:cNvSpPr txBox="1">
                <a:spLocks noChangeArrowheads="1"/>
              </p:cNvSpPr>
              <p:nvPr/>
            </p:nvSpPr>
            <p:spPr bwMode="auto">
              <a:xfrm>
                <a:off x="4157" y="1414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/>
                  <a:t>L</a:t>
                </a:r>
              </a:p>
            </p:txBody>
          </p:sp>
          <p:sp>
            <p:nvSpPr>
              <p:cNvPr id="4123" name="Arc 15"/>
              <p:cNvSpPr>
                <a:spLocks/>
              </p:cNvSpPr>
              <p:nvPr/>
            </p:nvSpPr>
            <p:spPr bwMode="auto">
              <a:xfrm>
                <a:off x="4280" y="847"/>
                <a:ext cx="209" cy="493"/>
              </a:xfrm>
              <a:custGeom>
                <a:avLst/>
                <a:gdLst>
                  <a:gd name="T0" fmla="*/ 0 w 5931"/>
                  <a:gd name="T1" fmla="*/ 0 h 21538"/>
                  <a:gd name="T2" fmla="*/ 0 w 5931"/>
                  <a:gd name="T3" fmla="*/ 0 h 21538"/>
                  <a:gd name="T4" fmla="*/ 0 w 5931"/>
                  <a:gd name="T5" fmla="*/ 0 h 21538"/>
                  <a:gd name="T6" fmla="*/ 0 60000 65536"/>
                  <a:gd name="T7" fmla="*/ 0 60000 65536"/>
                  <a:gd name="T8" fmla="*/ 0 60000 65536"/>
                  <a:gd name="T9" fmla="*/ 0 w 5931"/>
                  <a:gd name="T10" fmla="*/ 0 h 21538"/>
                  <a:gd name="T11" fmla="*/ 5931 w 5931"/>
                  <a:gd name="T12" fmla="*/ 21538 h 2153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31" h="21538" fill="none" extrusionOk="0">
                    <a:moveTo>
                      <a:pt x="5930" y="20769"/>
                    </a:moveTo>
                    <a:cubicBezTo>
                      <a:pt x="4527" y="21170"/>
                      <a:pt x="3087" y="21427"/>
                      <a:pt x="1632" y="21538"/>
                    </a:cubicBezTo>
                  </a:path>
                  <a:path w="5931" h="21538" stroke="0" extrusionOk="0">
                    <a:moveTo>
                      <a:pt x="5930" y="20769"/>
                    </a:moveTo>
                    <a:cubicBezTo>
                      <a:pt x="4527" y="21170"/>
                      <a:pt x="3087" y="21427"/>
                      <a:pt x="1632" y="21538"/>
                    </a:cubicBezTo>
                    <a:lnTo>
                      <a:pt x="0" y="0"/>
                    </a:lnTo>
                    <a:lnTo>
                      <a:pt x="5930" y="20769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24" name="Text Box 16"/>
              <p:cNvSpPr txBox="1">
                <a:spLocks noChangeArrowheads="1"/>
              </p:cNvSpPr>
              <p:nvPr/>
            </p:nvSpPr>
            <p:spPr bwMode="auto">
              <a:xfrm>
                <a:off x="4331" y="1301"/>
                <a:ext cx="19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>
                    <a:sym typeface="Symbol" pitchFamily="18" charset="2"/>
                  </a:rPr>
                  <a:t></a:t>
                </a:r>
              </a:p>
            </p:txBody>
          </p:sp>
          <p:sp>
            <p:nvSpPr>
              <p:cNvPr id="4125" name="Line 17"/>
              <p:cNvSpPr>
                <a:spLocks noChangeShapeType="1"/>
              </p:cNvSpPr>
              <p:nvPr/>
            </p:nvSpPr>
            <p:spPr bwMode="auto">
              <a:xfrm flipH="1">
                <a:off x="4813" y="1925"/>
                <a:ext cx="0" cy="45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6" name="Text Box 18"/>
              <p:cNvSpPr txBox="1">
                <a:spLocks noChangeArrowheads="1"/>
              </p:cNvSpPr>
              <p:nvPr/>
            </p:nvSpPr>
            <p:spPr bwMode="auto">
              <a:xfrm>
                <a:off x="4627" y="2368"/>
                <a:ext cx="31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/>
                  <a:t>mg</a:t>
                </a:r>
              </a:p>
            </p:txBody>
          </p:sp>
          <p:sp>
            <p:nvSpPr>
              <p:cNvPr id="4127" name="Text Box 19"/>
              <p:cNvSpPr txBox="1">
                <a:spLocks noChangeArrowheads="1"/>
              </p:cNvSpPr>
              <p:nvPr/>
            </p:nvSpPr>
            <p:spPr bwMode="auto">
              <a:xfrm>
                <a:off x="4793" y="2009"/>
                <a:ext cx="19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>
                    <a:sym typeface="Symbol" pitchFamily="18" charset="2"/>
                  </a:rPr>
                  <a:t></a:t>
                </a:r>
              </a:p>
            </p:txBody>
          </p:sp>
          <p:sp>
            <p:nvSpPr>
              <p:cNvPr id="4128" name="Arc 20"/>
              <p:cNvSpPr>
                <a:spLocks/>
              </p:cNvSpPr>
              <p:nvPr/>
            </p:nvSpPr>
            <p:spPr bwMode="auto">
              <a:xfrm>
                <a:off x="4699" y="1171"/>
                <a:ext cx="209" cy="877"/>
              </a:xfrm>
              <a:custGeom>
                <a:avLst/>
                <a:gdLst>
                  <a:gd name="T0" fmla="*/ 0 w 4363"/>
                  <a:gd name="T1" fmla="*/ 0 h 21538"/>
                  <a:gd name="T2" fmla="*/ 0 w 4363"/>
                  <a:gd name="T3" fmla="*/ 0 h 21538"/>
                  <a:gd name="T4" fmla="*/ 0 w 4363"/>
                  <a:gd name="T5" fmla="*/ 0 h 21538"/>
                  <a:gd name="T6" fmla="*/ 0 60000 65536"/>
                  <a:gd name="T7" fmla="*/ 0 60000 65536"/>
                  <a:gd name="T8" fmla="*/ 0 60000 65536"/>
                  <a:gd name="T9" fmla="*/ 0 w 4363"/>
                  <a:gd name="T10" fmla="*/ 0 h 21538"/>
                  <a:gd name="T11" fmla="*/ 4363 w 4363"/>
                  <a:gd name="T12" fmla="*/ 21538 h 2153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63" h="21538" fill="none" extrusionOk="0">
                    <a:moveTo>
                      <a:pt x="4362" y="21154"/>
                    </a:moveTo>
                    <a:cubicBezTo>
                      <a:pt x="3461" y="21340"/>
                      <a:pt x="2549" y="21468"/>
                      <a:pt x="1632" y="21538"/>
                    </a:cubicBezTo>
                  </a:path>
                  <a:path w="4363" h="21538" stroke="0" extrusionOk="0">
                    <a:moveTo>
                      <a:pt x="4362" y="21154"/>
                    </a:moveTo>
                    <a:cubicBezTo>
                      <a:pt x="3461" y="21340"/>
                      <a:pt x="2549" y="21468"/>
                      <a:pt x="1632" y="21538"/>
                    </a:cubicBezTo>
                    <a:lnTo>
                      <a:pt x="0" y="0"/>
                    </a:lnTo>
                    <a:lnTo>
                      <a:pt x="4362" y="2115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29" name="Line 21"/>
              <p:cNvSpPr>
                <a:spLocks noChangeShapeType="1"/>
              </p:cNvSpPr>
              <p:nvPr/>
            </p:nvSpPr>
            <p:spPr bwMode="auto">
              <a:xfrm>
                <a:off x="4872" y="1902"/>
                <a:ext cx="201" cy="385"/>
              </a:xfrm>
              <a:prstGeom prst="line">
                <a:avLst/>
              </a:prstGeom>
              <a:noFill/>
              <a:ln w="38100">
                <a:solidFill>
                  <a:srgbClr val="7DC4C9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0" name="Line 22"/>
              <p:cNvSpPr>
                <a:spLocks noChangeShapeType="1"/>
              </p:cNvSpPr>
              <p:nvPr/>
            </p:nvSpPr>
            <p:spPr bwMode="auto">
              <a:xfrm flipH="1">
                <a:off x="4511" y="1898"/>
                <a:ext cx="219" cy="92"/>
              </a:xfrm>
              <a:prstGeom prst="line">
                <a:avLst/>
              </a:prstGeom>
              <a:noFill/>
              <a:ln w="38100">
                <a:solidFill>
                  <a:srgbClr val="7DC4C9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06" name="Group 26"/>
            <p:cNvGrpSpPr>
              <a:grpSpLocks/>
            </p:cNvGrpSpPr>
            <p:nvPr/>
          </p:nvGrpSpPr>
          <p:grpSpPr bwMode="auto">
            <a:xfrm>
              <a:off x="8501064" y="2207419"/>
              <a:ext cx="1970879" cy="438149"/>
              <a:chOff x="0" y="1815"/>
              <a:chExt cx="4219" cy="276"/>
            </a:xfrm>
          </p:grpSpPr>
          <p:sp>
            <p:nvSpPr>
              <p:cNvPr id="4112" name="Text Box 27"/>
              <p:cNvSpPr txBox="1">
                <a:spLocks noChangeArrowheads="1"/>
              </p:cNvSpPr>
              <p:nvPr/>
            </p:nvSpPr>
            <p:spPr bwMode="auto">
              <a:xfrm>
                <a:off x="4031" y="181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dirty="0"/>
                  <a:t>s</a:t>
                </a:r>
              </a:p>
            </p:txBody>
          </p:sp>
          <p:sp>
            <p:nvSpPr>
              <p:cNvPr id="4113" name="Rectangle 28"/>
              <p:cNvSpPr>
                <a:spLocks noChangeArrowheads="1"/>
              </p:cNvSpPr>
              <p:nvPr/>
            </p:nvSpPr>
            <p:spPr bwMode="auto">
              <a:xfrm>
                <a:off x="0" y="1858"/>
                <a:ext cx="11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aphicFrame>
        <p:nvGraphicFramePr>
          <p:cNvPr id="410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464870"/>
              </p:ext>
            </p:extLst>
          </p:nvPr>
        </p:nvGraphicFramePr>
        <p:xfrm>
          <a:off x="7345364" y="3494088"/>
          <a:ext cx="11557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600" imgH="419100" progId="Equation.3">
                  <p:embed/>
                </p:oleObj>
              </mc:Choice>
              <mc:Fallback>
                <p:oleObj name="Equation" r:id="rId6" imgW="990600" imgH="419100" progId="Equation.3">
                  <p:embed/>
                  <p:pic>
                    <p:nvPicPr>
                      <p:cNvPr id="410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5364" y="3494088"/>
                        <a:ext cx="11557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8" name="Rectangle 3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0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309290"/>
              </p:ext>
            </p:extLst>
          </p:nvPr>
        </p:nvGraphicFramePr>
        <p:xfrm>
          <a:off x="7548564" y="4498976"/>
          <a:ext cx="107791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419" imgH="215806" progId="Equation.3">
                  <p:embed/>
                </p:oleObj>
              </mc:Choice>
              <mc:Fallback>
                <p:oleObj name="Equation" r:id="rId8" imgW="647419" imgH="215806" progId="Equation.3">
                  <p:embed/>
                  <p:pic>
                    <p:nvPicPr>
                      <p:cNvPr id="410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8564" y="4498976"/>
                        <a:ext cx="107791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Rectangle 32"/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1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219974"/>
              </p:ext>
            </p:extLst>
          </p:nvPr>
        </p:nvGraphicFramePr>
        <p:xfrm>
          <a:off x="7516020" y="4916487"/>
          <a:ext cx="1411287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00100" imgH="419100" progId="Equation.3">
                  <p:embed/>
                </p:oleObj>
              </mc:Choice>
              <mc:Fallback>
                <p:oleObj name="Equation" r:id="rId10" imgW="800100" imgH="419100" progId="Equation.3">
                  <p:embed/>
                  <p:pic>
                    <p:nvPicPr>
                      <p:cNvPr id="411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6020" y="4916487"/>
                        <a:ext cx="1411287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52712F4-E230-D9C5-C869-A1052E581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702" y="1345221"/>
            <a:ext cx="6029325" cy="2971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DA714D-41B1-1968-2965-BC51181D0821}"/>
                  </a:ext>
                </a:extLst>
              </p:cNvPr>
              <p:cNvSpPr txBox="1"/>
              <p:nvPr/>
            </p:nvSpPr>
            <p:spPr>
              <a:xfrm>
                <a:off x="7086622" y="2409380"/>
                <a:ext cx="73917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DA714D-41B1-1968-2965-BC51181D0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22" y="2409380"/>
                <a:ext cx="739177" cy="215444"/>
              </a:xfrm>
              <a:prstGeom prst="rect">
                <a:avLst/>
              </a:prstGeom>
              <a:blipFill>
                <a:blip r:embed="rId3"/>
                <a:stretch>
                  <a:fillRect l="-5785" r="-4132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28E71-F6AF-2F00-F28C-90E9FABBBC52}"/>
                  </a:ext>
                </a:extLst>
              </p:cNvPr>
              <p:cNvSpPr txBox="1"/>
              <p:nvPr/>
            </p:nvSpPr>
            <p:spPr>
              <a:xfrm>
                <a:off x="6256678" y="2039511"/>
                <a:ext cx="66405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4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28E71-F6AF-2F00-F28C-90E9FABBB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678" y="2039511"/>
                <a:ext cx="664052" cy="215444"/>
              </a:xfrm>
              <a:prstGeom prst="rect">
                <a:avLst/>
              </a:prstGeom>
              <a:blipFill>
                <a:blip r:embed="rId4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5E43228-DB83-7F73-A1D6-33E79086BDA2}"/>
              </a:ext>
            </a:extLst>
          </p:cNvPr>
          <p:cNvSpPr txBox="1"/>
          <p:nvPr/>
        </p:nvSpPr>
        <p:spPr>
          <a:xfrm>
            <a:off x="8210893" y="3051110"/>
            <a:ext cx="3048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591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F83098-0F30-400B-B1AC-5557931BEC4C}" type="slidenum">
              <a:rPr lang="en-US" smtClean="0"/>
              <a:pPr eaLnBrk="1" hangingPunct="1"/>
              <a:t>17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Pendulum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730375"/>
            <a:ext cx="4038600" cy="4395788"/>
          </a:xfrm>
        </p:spPr>
        <p:txBody>
          <a:bodyPr/>
          <a:lstStyle/>
          <a:p>
            <a:pPr eaLnBrk="1" hangingPunct="1"/>
            <a:r>
              <a:rPr lang="en-US"/>
              <a:t>SHM Problem</a:t>
            </a:r>
          </a:p>
        </p:txBody>
      </p:sp>
      <p:sp>
        <p:nvSpPr>
          <p:cNvPr id="512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4243389"/>
            <a:ext cx="4038600" cy="1882775"/>
          </a:xfrm>
        </p:spPr>
        <p:txBody>
          <a:bodyPr/>
          <a:lstStyle/>
          <a:p>
            <a:pPr eaLnBrk="1" hangingPunct="1"/>
            <a:r>
              <a:rPr lang="en-US"/>
              <a:t>Solution</a:t>
            </a:r>
          </a:p>
        </p:txBody>
      </p:sp>
      <p:graphicFrame>
        <p:nvGraphicFramePr>
          <p:cNvPr id="5126" name="Object 5"/>
          <p:cNvGraphicFramePr>
            <a:graphicFrameLocks noChangeAspect="1"/>
          </p:cNvGraphicFramePr>
          <p:nvPr/>
        </p:nvGraphicFramePr>
        <p:xfrm>
          <a:off x="6624639" y="5037138"/>
          <a:ext cx="210978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200" imgH="228600" progId="Equation.3">
                  <p:embed/>
                </p:oleObj>
              </mc:Choice>
              <mc:Fallback>
                <p:oleObj name="Equation" r:id="rId2" imgW="1346200" imgH="228600" progId="Equation.3">
                  <p:embed/>
                  <p:pic>
                    <p:nvPicPr>
                      <p:cNvPr id="51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4639" y="5037138"/>
                        <a:ext cx="210978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6"/>
          <p:cNvGraphicFramePr>
            <a:graphicFrameLocks noChangeAspect="1"/>
          </p:cNvGraphicFramePr>
          <p:nvPr/>
        </p:nvGraphicFramePr>
        <p:xfrm>
          <a:off x="2903539" y="2667000"/>
          <a:ext cx="1411287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00100" imgH="419100" progId="Equation.3">
                  <p:embed/>
                </p:oleObj>
              </mc:Choice>
              <mc:Fallback>
                <p:oleObj name="Equation" r:id="rId4" imgW="800100" imgH="419100" progId="Equation.3">
                  <p:embed/>
                  <p:pic>
                    <p:nvPicPr>
                      <p:cNvPr id="512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539" y="2667000"/>
                        <a:ext cx="1411287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7"/>
          <p:cNvSpPr>
            <a:spLocks noChangeArrowheads="1"/>
          </p:cNvSpPr>
          <p:nvPr/>
        </p:nvSpPr>
        <p:spPr bwMode="auto">
          <a:xfrm>
            <a:off x="1524001" y="29823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29" name="Object 8"/>
          <p:cNvGraphicFramePr>
            <a:graphicFrameLocks noChangeAspect="1"/>
          </p:cNvGraphicFramePr>
          <p:nvPr/>
        </p:nvGraphicFramePr>
        <p:xfrm>
          <a:off x="3192463" y="3884613"/>
          <a:ext cx="9001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85" imgH="393529" progId="Equation.3">
                  <p:embed/>
                </p:oleObj>
              </mc:Choice>
              <mc:Fallback>
                <p:oleObj name="Equation" r:id="rId6" imgW="495085" imgH="393529" progId="Equation.3">
                  <p:embed/>
                  <p:pic>
                    <p:nvPicPr>
                      <p:cNvPr id="512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884613"/>
                        <a:ext cx="9001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9"/>
          <p:cNvGraphicFramePr>
            <a:graphicFrameLocks noChangeAspect="1"/>
          </p:cNvGraphicFramePr>
          <p:nvPr/>
        </p:nvGraphicFramePr>
        <p:xfrm>
          <a:off x="2987675" y="5111751"/>
          <a:ext cx="12080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500" imgH="469900" progId="Equation.3">
                  <p:embed/>
                </p:oleObj>
              </mc:Choice>
              <mc:Fallback>
                <p:oleObj name="Equation" r:id="rId8" imgW="1079500" imgH="469900" progId="Equation.3">
                  <p:embed/>
                  <p:pic>
                    <p:nvPicPr>
                      <p:cNvPr id="513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111751"/>
                        <a:ext cx="12080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1" name="Group 10"/>
          <p:cNvGrpSpPr>
            <a:grpSpLocks/>
          </p:cNvGrpSpPr>
          <p:nvPr/>
        </p:nvGrpSpPr>
        <p:grpSpPr bwMode="auto">
          <a:xfrm>
            <a:off x="7559675" y="1504950"/>
            <a:ext cx="2141538" cy="2784475"/>
            <a:chOff x="3766" y="847"/>
            <a:chExt cx="1349" cy="1754"/>
          </a:xfrm>
        </p:grpSpPr>
        <p:sp>
          <p:nvSpPr>
            <p:cNvPr id="5132" name="Rectangle 11"/>
            <p:cNvSpPr>
              <a:spLocks noChangeArrowheads="1"/>
            </p:cNvSpPr>
            <p:nvPr/>
          </p:nvSpPr>
          <p:spPr bwMode="auto">
            <a:xfrm>
              <a:off x="3766" y="996"/>
              <a:ext cx="1143" cy="64"/>
            </a:xfrm>
            <a:prstGeom prst="rect">
              <a:avLst/>
            </a:prstGeom>
            <a:gradFill rotWithShape="1">
              <a:gsLst>
                <a:gs pos="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Line 12"/>
            <p:cNvSpPr>
              <a:spLocks noChangeShapeType="1"/>
            </p:cNvSpPr>
            <p:nvPr/>
          </p:nvSpPr>
          <p:spPr bwMode="auto">
            <a:xfrm>
              <a:off x="4334" y="1042"/>
              <a:ext cx="0" cy="9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Arc 13"/>
            <p:cNvSpPr>
              <a:spLocks/>
            </p:cNvSpPr>
            <p:nvPr/>
          </p:nvSpPr>
          <p:spPr bwMode="auto">
            <a:xfrm>
              <a:off x="3925" y="1482"/>
              <a:ext cx="839" cy="494"/>
            </a:xfrm>
            <a:custGeom>
              <a:avLst/>
              <a:gdLst>
                <a:gd name="T0" fmla="*/ 0 w 23777"/>
                <a:gd name="T1" fmla="*/ 0 h 21600"/>
                <a:gd name="T2" fmla="*/ 0 w 23777"/>
                <a:gd name="T3" fmla="*/ 0 h 21600"/>
                <a:gd name="T4" fmla="*/ 0 w 23777"/>
                <a:gd name="T5" fmla="*/ 0 h 21600"/>
                <a:gd name="T6" fmla="*/ 0 60000 65536"/>
                <a:gd name="T7" fmla="*/ 0 60000 65536"/>
                <a:gd name="T8" fmla="*/ 0 60000 65536"/>
                <a:gd name="T9" fmla="*/ 0 w 23777"/>
                <a:gd name="T10" fmla="*/ 0 h 21600"/>
                <a:gd name="T11" fmla="*/ 23777 w 237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777" h="21600" fill="none" extrusionOk="0">
                  <a:moveTo>
                    <a:pt x="23776" y="17602"/>
                  </a:moveTo>
                  <a:cubicBezTo>
                    <a:pt x="20120" y="20202"/>
                    <a:pt x="15745" y="21599"/>
                    <a:pt x="11259" y="21600"/>
                  </a:cubicBezTo>
                  <a:cubicBezTo>
                    <a:pt x="7286" y="21600"/>
                    <a:pt x="3390" y="20504"/>
                    <a:pt x="0" y="18433"/>
                  </a:cubicBezTo>
                </a:path>
                <a:path w="23777" h="21600" stroke="0" extrusionOk="0">
                  <a:moveTo>
                    <a:pt x="23776" y="17602"/>
                  </a:moveTo>
                  <a:cubicBezTo>
                    <a:pt x="20120" y="20202"/>
                    <a:pt x="15745" y="21599"/>
                    <a:pt x="11259" y="21600"/>
                  </a:cubicBezTo>
                  <a:cubicBezTo>
                    <a:pt x="7286" y="21600"/>
                    <a:pt x="3390" y="20504"/>
                    <a:pt x="0" y="18433"/>
                  </a:cubicBezTo>
                  <a:lnTo>
                    <a:pt x="11259" y="0"/>
                  </a:lnTo>
                  <a:lnTo>
                    <a:pt x="23776" y="176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5" name="Oval 14"/>
            <p:cNvSpPr>
              <a:spLocks noChangeArrowheads="1"/>
            </p:cNvSpPr>
            <p:nvPr/>
          </p:nvSpPr>
          <p:spPr bwMode="auto">
            <a:xfrm>
              <a:off x="4727" y="1764"/>
              <a:ext cx="165" cy="156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Line 15"/>
            <p:cNvSpPr>
              <a:spLocks noChangeShapeType="1"/>
            </p:cNvSpPr>
            <p:nvPr/>
          </p:nvSpPr>
          <p:spPr bwMode="auto">
            <a:xfrm>
              <a:off x="4334" y="1015"/>
              <a:ext cx="429" cy="7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7" name="Line 16"/>
            <p:cNvSpPr>
              <a:spLocks noChangeShapeType="1"/>
            </p:cNvSpPr>
            <p:nvPr/>
          </p:nvSpPr>
          <p:spPr bwMode="auto">
            <a:xfrm flipH="1" flipV="1">
              <a:off x="4571" y="1436"/>
              <a:ext cx="192" cy="338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" name="Text Box 17"/>
            <p:cNvSpPr txBox="1">
              <a:spLocks noChangeArrowheads="1"/>
            </p:cNvSpPr>
            <p:nvPr/>
          </p:nvSpPr>
          <p:spPr bwMode="auto">
            <a:xfrm>
              <a:off x="4723" y="1367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3366FF"/>
                  </a:solidFill>
                </a:rPr>
                <a:t>T</a:t>
              </a:r>
            </a:p>
          </p:txBody>
        </p:sp>
        <p:sp>
          <p:nvSpPr>
            <p:cNvPr id="5139" name="Text Box 18"/>
            <p:cNvSpPr txBox="1">
              <a:spLocks noChangeArrowheads="1"/>
            </p:cNvSpPr>
            <p:nvPr/>
          </p:nvSpPr>
          <p:spPr bwMode="auto">
            <a:xfrm>
              <a:off x="4879" y="1705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i="1"/>
                <a:t>m</a:t>
              </a:r>
            </a:p>
          </p:txBody>
        </p:sp>
        <p:sp>
          <p:nvSpPr>
            <p:cNvPr id="5140" name="Text Box 19"/>
            <p:cNvSpPr txBox="1">
              <a:spLocks noChangeArrowheads="1"/>
            </p:cNvSpPr>
            <p:nvPr/>
          </p:nvSpPr>
          <p:spPr bwMode="auto">
            <a:xfrm>
              <a:off x="4157" y="141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/>
                <a:t>L</a:t>
              </a:r>
            </a:p>
          </p:txBody>
        </p:sp>
        <p:sp>
          <p:nvSpPr>
            <p:cNvPr id="5141" name="Arc 20"/>
            <p:cNvSpPr>
              <a:spLocks/>
            </p:cNvSpPr>
            <p:nvPr/>
          </p:nvSpPr>
          <p:spPr bwMode="auto">
            <a:xfrm>
              <a:off x="4280" y="847"/>
              <a:ext cx="209" cy="493"/>
            </a:xfrm>
            <a:custGeom>
              <a:avLst/>
              <a:gdLst>
                <a:gd name="T0" fmla="*/ 0 w 5931"/>
                <a:gd name="T1" fmla="*/ 0 h 21538"/>
                <a:gd name="T2" fmla="*/ 0 w 5931"/>
                <a:gd name="T3" fmla="*/ 0 h 21538"/>
                <a:gd name="T4" fmla="*/ 0 w 5931"/>
                <a:gd name="T5" fmla="*/ 0 h 21538"/>
                <a:gd name="T6" fmla="*/ 0 60000 65536"/>
                <a:gd name="T7" fmla="*/ 0 60000 65536"/>
                <a:gd name="T8" fmla="*/ 0 60000 65536"/>
                <a:gd name="T9" fmla="*/ 0 w 5931"/>
                <a:gd name="T10" fmla="*/ 0 h 21538"/>
                <a:gd name="T11" fmla="*/ 5931 w 5931"/>
                <a:gd name="T12" fmla="*/ 21538 h 215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31" h="21538" fill="none" extrusionOk="0">
                  <a:moveTo>
                    <a:pt x="5930" y="20769"/>
                  </a:moveTo>
                  <a:cubicBezTo>
                    <a:pt x="4527" y="21170"/>
                    <a:pt x="3087" y="21427"/>
                    <a:pt x="1632" y="21538"/>
                  </a:cubicBezTo>
                </a:path>
                <a:path w="5931" h="21538" stroke="0" extrusionOk="0">
                  <a:moveTo>
                    <a:pt x="5930" y="20769"/>
                  </a:moveTo>
                  <a:cubicBezTo>
                    <a:pt x="4527" y="21170"/>
                    <a:pt x="3087" y="21427"/>
                    <a:pt x="1632" y="21538"/>
                  </a:cubicBezTo>
                  <a:lnTo>
                    <a:pt x="0" y="0"/>
                  </a:lnTo>
                  <a:lnTo>
                    <a:pt x="5930" y="20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2" name="Text Box 21"/>
            <p:cNvSpPr txBox="1">
              <a:spLocks noChangeArrowheads="1"/>
            </p:cNvSpPr>
            <p:nvPr/>
          </p:nvSpPr>
          <p:spPr bwMode="auto">
            <a:xfrm>
              <a:off x="4331" y="1301"/>
              <a:ext cx="19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ym typeface="Symbol" pitchFamily="18" charset="2"/>
                </a:rPr>
                <a:t></a:t>
              </a:r>
            </a:p>
          </p:txBody>
        </p:sp>
        <p:sp>
          <p:nvSpPr>
            <p:cNvPr id="5143" name="Line 22"/>
            <p:cNvSpPr>
              <a:spLocks noChangeShapeType="1"/>
            </p:cNvSpPr>
            <p:nvPr/>
          </p:nvSpPr>
          <p:spPr bwMode="auto">
            <a:xfrm flipH="1">
              <a:off x="4813" y="1925"/>
              <a:ext cx="0" cy="458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4" name="Text Box 23"/>
            <p:cNvSpPr txBox="1">
              <a:spLocks noChangeArrowheads="1"/>
            </p:cNvSpPr>
            <p:nvPr/>
          </p:nvSpPr>
          <p:spPr bwMode="auto">
            <a:xfrm>
              <a:off x="4627" y="2368"/>
              <a:ext cx="2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W</a:t>
              </a:r>
            </a:p>
          </p:txBody>
        </p:sp>
        <p:sp>
          <p:nvSpPr>
            <p:cNvPr id="5145" name="Text Box 24"/>
            <p:cNvSpPr txBox="1">
              <a:spLocks noChangeArrowheads="1"/>
            </p:cNvSpPr>
            <p:nvPr/>
          </p:nvSpPr>
          <p:spPr bwMode="auto">
            <a:xfrm>
              <a:off x="4793" y="2009"/>
              <a:ext cx="19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ym typeface="Symbol" pitchFamily="18" charset="2"/>
                </a:rPr>
                <a:t></a:t>
              </a:r>
            </a:p>
          </p:txBody>
        </p:sp>
        <p:sp>
          <p:nvSpPr>
            <p:cNvPr id="5146" name="Arc 25"/>
            <p:cNvSpPr>
              <a:spLocks/>
            </p:cNvSpPr>
            <p:nvPr/>
          </p:nvSpPr>
          <p:spPr bwMode="auto">
            <a:xfrm>
              <a:off x="4699" y="1171"/>
              <a:ext cx="209" cy="877"/>
            </a:xfrm>
            <a:custGeom>
              <a:avLst/>
              <a:gdLst>
                <a:gd name="T0" fmla="*/ 0 w 4363"/>
                <a:gd name="T1" fmla="*/ 0 h 21538"/>
                <a:gd name="T2" fmla="*/ 0 w 4363"/>
                <a:gd name="T3" fmla="*/ 0 h 21538"/>
                <a:gd name="T4" fmla="*/ 0 w 4363"/>
                <a:gd name="T5" fmla="*/ 0 h 21538"/>
                <a:gd name="T6" fmla="*/ 0 60000 65536"/>
                <a:gd name="T7" fmla="*/ 0 60000 65536"/>
                <a:gd name="T8" fmla="*/ 0 60000 65536"/>
                <a:gd name="T9" fmla="*/ 0 w 4363"/>
                <a:gd name="T10" fmla="*/ 0 h 21538"/>
                <a:gd name="T11" fmla="*/ 4363 w 4363"/>
                <a:gd name="T12" fmla="*/ 21538 h 215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63" h="21538" fill="none" extrusionOk="0">
                  <a:moveTo>
                    <a:pt x="4362" y="21154"/>
                  </a:moveTo>
                  <a:cubicBezTo>
                    <a:pt x="3461" y="21340"/>
                    <a:pt x="2549" y="21468"/>
                    <a:pt x="1632" y="21538"/>
                  </a:cubicBezTo>
                </a:path>
                <a:path w="4363" h="21538" stroke="0" extrusionOk="0">
                  <a:moveTo>
                    <a:pt x="4362" y="21154"/>
                  </a:moveTo>
                  <a:cubicBezTo>
                    <a:pt x="3461" y="21340"/>
                    <a:pt x="2549" y="21468"/>
                    <a:pt x="1632" y="21538"/>
                  </a:cubicBezTo>
                  <a:lnTo>
                    <a:pt x="0" y="0"/>
                  </a:lnTo>
                  <a:lnTo>
                    <a:pt x="4362" y="211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7" name="Line 26"/>
            <p:cNvSpPr>
              <a:spLocks noChangeShapeType="1"/>
            </p:cNvSpPr>
            <p:nvPr/>
          </p:nvSpPr>
          <p:spPr bwMode="auto">
            <a:xfrm>
              <a:off x="4872" y="1902"/>
              <a:ext cx="201" cy="385"/>
            </a:xfrm>
            <a:prstGeom prst="line">
              <a:avLst/>
            </a:prstGeom>
            <a:noFill/>
            <a:ln w="38100">
              <a:solidFill>
                <a:srgbClr val="7DC4C9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8" name="Line 27"/>
            <p:cNvSpPr>
              <a:spLocks noChangeShapeType="1"/>
            </p:cNvSpPr>
            <p:nvPr/>
          </p:nvSpPr>
          <p:spPr bwMode="auto">
            <a:xfrm flipH="1">
              <a:off x="4511" y="1898"/>
              <a:ext cx="219" cy="92"/>
            </a:xfrm>
            <a:prstGeom prst="line">
              <a:avLst/>
            </a:prstGeom>
            <a:noFill/>
            <a:ln w="38100">
              <a:solidFill>
                <a:srgbClr val="7DC4C9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C496-BA7D-4474-B3C8-90F359AE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nline Media 7">
            <a:hlinkClick r:id="" action="ppaction://media"/>
            <a:extLst>
              <a:ext uri="{FF2B5EF4-FFF2-40B4-BE49-F238E27FC236}">
                <a16:creationId xmlns:a16="http://schemas.microsoft.com/office/drawing/2014/main" id="{7E04806C-1FFA-4506-9309-3099A2CCE560}"/>
              </a:ext>
            </a:extLst>
          </p:cNvPr>
          <p:cNvPicPr>
            <a:picLocks noGrp="1" noRot="1" noChangeAspect="1"/>
          </p:cNvPicPr>
          <p:nvPr>
            <p:ph sz="half"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72761" y="1295035"/>
            <a:ext cx="8545470" cy="480682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A9B85-1787-4258-A371-EF74A701DD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D7A75-1999-4370-9664-7D4C486A1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2007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D76D9-6D54-465A-8BD8-2122B368A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6BEC7-2019-4CE5-B8C9-183AF40F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59EA5-88DA-4B47-9D78-4A06592744B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51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7DA2EF1-2309-4E8D-B379-D8CA94440DE0}" type="slidenum">
              <a:rPr lang="en-US" smtClean="0"/>
              <a:pPr eaLnBrk="1" hangingPunct="1"/>
              <a:t>19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315685" y="186808"/>
            <a:ext cx="10515600" cy="1325563"/>
          </a:xfrm>
        </p:spPr>
        <p:txBody>
          <a:bodyPr/>
          <a:lstStyle/>
          <a:p>
            <a:pPr eaLnBrk="1" hangingPunct="1"/>
            <a:r>
              <a:rPr lang="en-US"/>
              <a:t>Physical Pendulum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sz="1800" dirty="0"/>
              <a:t>Suppose we build a pendulum by making a large solid object swing from one point.</a:t>
            </a:r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r>
              <a:rPr lang="en-US" sz="1800" dirty="0"/>
              <a:t>Restoring force </a:t>
            </a:r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r>
              <a:rPr lang="en-US" sz="1800" dirty="0"/>
              <a:t>Remember that</a:t>
            </a:r>
          </a:p>
          <a:p>
            <a:pPr eaLnBrk="1" hangingPunct="1"/>
            <a:endParaRPr lang="en-US" sz="1800" dirty="0"/>
          </a:p>
        </p:txBody>
      </p:sp>
      <p:sp>
        <p:nvSpPr>
          <p:cNvPr id="614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3617913"/>
            <a:ext cx="4038600" cy="250825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000" dirty="0"/>
              <a:t>Then</a:t>
            </a:r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/>
              <a:t>Or</a:t>
            </a:r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/>
              <a:t>Another familiar differential EQ</a:t>
            </a:r>
          </a:p>
        </p:txBody>
      </p:sp>
      <p:grpSp>
        <p:nvGrpSpPr>
          <p:cNvPr id="6150" name="Group 5"/>
          <p:cNvGrpSpPr>
            <a:grpSpLocks/>
          </p:cNvGrpSpPr>
          <p:nvPr/>
        </p:nvGrpSpPr>
        <p:grpSpPr bwMode="auto">
          <a:xfrm>
            <a:off x="4651375" y="2357439"/>
            <a:ext cx="763588" cy="725487"/>
            <a:chOff x="1271" y="2002"/>
            <a:chExt cx="1034" cy="1152"/>
          </a:xfrm>
        </p:grpSpPr>
        <p:sp>
          <p:nvSpPr>
            <p:cNvPr id="6178" name="AutoShape 6"/>
            <p:cNvSpPr>
              <a:spLocks noChangeArrowheads="1"/>
            </p:cNvSpPr>
            <p:nvPr/>
          </p:nvSpPr>
          <p:spPr bwMode="auto">
            <a:xfrm rot="-1215304">
              <a:off x="1271" y="2002"/>
              <a:ext cx="539" cy="1152"/>
            </a:xfrm>
            <a:prstGeom prst="flowChartManualInpu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79" name="Oval 7"/>
            <p:cNvSpPr>
              <a:spLocks noChangeArrowheads="1"/>
            </p:cNvSpPr>
            <p:nvPr/>
          </p:nvSpPr>
          <p:spPr bwMode="auto">
            <a:xfrm>
              <a:off x="1536" y="2688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0" name="Oval 8"/>
            <p:cNvSpPr>
              <a:spLocks noChangeArrowheads="1"/>
            </p:cNvSpPr>
            <p:nvPr/>
          </p:nvSpPr>
          <p:spPr bwMode="auto">
            <a:xfrm>
              <a:off x="1531" y="2152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1" name="Text Box 9"/>
            <p:cNvSpPr txBox="1">
              <a:spLocks noChangeArrowheads="1"/>
            </p:cNvSpPr>
            <p:nvPr/>
          </p:nvSpPr>
          <p:spPr bwMode="auto">
            <a:xfrm>
              <a:off x="1472" y="2688"/>
              <a:ext cx="51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000" dirty="0"/>
                <a:t>CM</a:t>
              </a:r>
            </a:p>
          </p:txBody>
        </p:sp>
        <p:sp>
          <p:nvSpPr>
            <p:cNvPr id="6182" name="Text Box 10"/>
            <p:cNvSpPr txBox="1">
              <a:spLocks noChangeArrowheads="1"/>
            </p:cNvSpPr>
            <p:nvPr/>
          </p:nvSpPr>
          <p:spPr bwMode="auto">
            <a:xfrm>
              <a:off x="1675" y="2136"/>
              <a:ext cx="630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000"/>
                <a:t>Pivot</a:t>
              </a:r>
            </a:p>
          </p:txBody>
        </p:sp>
      </p:grpSp>
      <p:grpSp>
        <p:nvGrpSpPr>
          <p:cNvPr id="6151" name="Group 11"/>
          <p:cNvGrpSpPr>
            <a:grpSpLocks/>
          </p:cNvGrpSpPr>
          <p:nvPr/>
        </p:nvGrpSpPr>
        <p:grpSpPr bwMode="auto">
          <a:xfrm>
            <a:off x="7959726" y="1330326"/>
            <a:ext cx="1919288" cy="2243138"/>
            <a:chOff x="2061" y="1963"/>
            <a:chExt cx="1209" cy="1413"/>
          </a:xfrm>
        </p:grpSpPr>
        <p:grpSp>
          <p:nvGrpSpPr>
            <p:cNvPr id="6162" name="Group 12"/>
            <p:cNvGrpSpPr>
              <a:grpSpLocks/>
            </p:cNvGrpSpPr>
            <p:nvPr/>
          </p:nvGrpSpPr>
          <p:grpSpPr bwMode="auto">
            <a:xfrm>
              <a:off x="2061" y="2160"/>
              <a:ext cx="1152" cy="659"/>
              <a:chOff x="1066" y="2340"/>
              <a:chExt cx="1152" cy="659"/>
            </a:xfrm>
          </p:grpSpPr>
          <p:sp>
            <p:nvSpPr>
              <p:cNvPr id="6175" name="AutoShape 13"/>
              <p:cNvSpPr>
                <a:spLocks noChangeArrowheads="1"/>
              </p:cNvSpPr>
              <p:nvPr/>
            </p:nvSpPr>
            <p:spPr bwMode="auto">
              <a:xfrm rot="-2923845">
                <a:off x="1372" y="2154"/>
                <a:ext cx="539" cy="1152"/>
              </a:xfrm>
              <a:prstGeom prst="flowChartManualInpu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6" name="Oval 14"/>
              <p:cNvSpPr>
                <a:spLocks noChangeArrowheads="1"/>
              </p:cNvSpPr>
              <p:nvPr/>
            </p:nvSpPr>
            <p:spPr bwMode="auto">
              <a:xfrm rot="-1708541">
                <a:off x="1708" y="2808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7" name="Oval 15"/>
              <p:cNvSpPr>
                <a:spLocks noChangeArrowheads="1"/>
              </p:cNvSpPr>
              <p:nvPr/>
            </p:nvSpPr>
            <p:spPr bwMode="auto">
              <a:xfrm rot="-1708541">
                <a:off x="1448" y="2340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63" name="Text Box 16"/>
            <p:cNvSpPr txBox="1">
              <a:spLocks noChangeArrowheads="1"/>
            </p:cNvSpPr>
            <p:nvPr/>
          </p:nvSpPr>
          <p:spPr bwMode="auto">
            <a:xfrm>
              <a:off x="2772" y="2546"/>
              <a:ext cx="29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400"/>
                <a:t>CM</a:t>
              </a:r>
            </a:p>
          </p:txBody>
        </p:sp>
        <p:sp>
          <p:nvSpPr>
            <p:cNvPr id="6164" name="Text Box 17"/>
            <p:cNvSpPr txBox="1">
              <a:spLocks noChangeArrowheads="1"/>
            </p:cNvSpPr>
            <p:nvPr/>
          </p:nvSpPr>
          <p:spPr bwMode="auto">
            <a:xfrm>
              <a:off x="2498" y="2028"/>
              <a:ext cx="3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400" dirty="0"/>
                <a:t>Pivot</a:t>
              </a:r>
            </a:p>
          </p:txBody>
        </p:sp>
        <p:sp>
          <p:nvSpPr>
            <p:cNvPr id="6165" name="Line 18"/>
            <p:cNvSpPr>
              <a:spLocks noChangeShapeType="1"/>
            </p:cNvSpPr>
            <p:nvPr/>
          </p:nvSpPr>
          <p:spPr bwMode="auto">
            <a:xfrm>
              <a:off x="2479" y="2652"/>
              <a:ext cx="2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Line 19"/>
            <p:cNvSpPr>
              <a:spLocks noChangeShapeType="1"/>
            </p:cNvSpPr>
            <p:nvPr/>
          </p:nvSpPr>
          <p:spPr bwMode="auto">
            <a:xfrm flipV="1">
              <a:off x="2469" y="2182"/>
              <a:ext cx="0" cy="4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Text Box 20"/>
            <p:cNvSpPr txBox="1">
              <a:spLocks noChangeArrowheads="1"/>
            </p:cNvSpPr>
            <p:nvPr/>
          </p:nvSpPr>
          <p:spPr bwMode="auto">
            <a:xfrm>
              <a:off x="2429" y="2260"/>
              <a:ext cx="15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900">
                  <a:sym typeface="Symbol" pitchFamily="18" charset="2"/>
                </a:rPr>
                <a:t></a:t>
              </a:r>
              <a:endParaRPr lang="en-US" sz="900"/>
            </a:p>
          </p:txBody>
        </p:sp>
        <p:sp>
          <p:nvSpPr>
            <p:cNvPr id="6168" name="Line 21"/>
            <p:cNvSpPr>
              <a:spLocks noChangeShapeType="1"/>
            </p:cNvSpPr>
            <p:nvPr/>
          </p:nvSpPr>
          <p:spPr bwMode="auto">
            <a:xfrm>
              <a:off x="2468" y="2188"/>
              <a:ext cx="264" cy="4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Text Box 22"/>
            <p:cNvSpPr txBox="1">
              <a:spLocks noChangeArrowheads="1"/>
            </p:cNvSpPr>
            <p:nvPr/>
          </p:nvSpPr>
          <p:spPr bwMode="auto">
            <a:xfrm>
              <a:off x="2586" y="2341"/>
              <a:ext cx="15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900" i="1"/>
                <a:t>d</a:t>
              </a:r>
            </a:p>
          </p:txBody>
        </p:sp>
        <p:sp>
          <p:nvSpPr>
            <p:cNvPr id="6170" name="Text Box 23"/>
            <p:cNvSpPr txBox="1">
              <a:spLocks noChangeArrowheads="1"/>
            </p:cNvSpPr>
            <p:nvPr/>
          </p:nvSpPr>
          <p:spPr bwMode="auto">
            <a:xfrm>
              <a:off x="2414" y="2633"/>
              <a:ext cx="3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900" i="1"/>
                <a:t>dsin(</a:t>
              </a:r>
              <a:r>
                <a:rPr lang="en-US" sz="900" i="1">
                  <a:sym typeface="Symbol" pitchFamily="18" charset="2"/>
                </a:rPr>
                <a:t></a:t>
              </a:r>
              <a:r>
                <a:rPr lang="en-US" sz="900" i="1"/>
                <a:t>)</a:t>
              </a:r>
            </a:p>
          </p:txBody>
        </p:sp>
        <p:sp>
          <p:nvSpPr>
            <p:cNvPr id="6171" name="Line 24"/>
            <p:cNvSpPr>
              <a:spLocks noChangeShapeType="1"/>
            </p:cNvSpPr>
            <p:nvPr/>
          </p:nvSpPr>
          <p:spPr bwMode="auto">
            <a:xfrm>
              <a:off x="2732" y="2660"/>
              <a:ext cx="8" cy="6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2" name="Text Box 25"/>
            <p:cNvSpPr txBox="1">
              <a:spLocks noChangeArrowheads="1"/>
            </p:cNvSpPr>
            <p:nvPr/>
          </p:nvSpPr>
          <p:spPr bwMode="auto">
            <a:xfrm>
              <a:off x="2338" y="19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dirty="0"/>
                <a:t>o</a:t>
              </a:r>
            </a:p>
          </p:txBody>
        </p:sp>
        <p:sp>
          <p:nvSpPr>
            <p:cNvPr id="6173" name="Text Box 26"/>
            <p:cNvSpPr txBox="1">
              <a:spLocks noChangeArrowheads="1"/>
            </p:cNvSpPr>
            <p:nvPr/>
          </p:nvSpPr>
          <p:spPr bwMode="auto">
            <a:xfrm>
              <a:off x="2730" y="3143"/>
              <a:ext cx="54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FF0000"/>
                  </a:solidFill>
                </a:rPr>
                <a:t>W=mg</a:t>
              </a:r>
            </a:p>
          </p:txBody>
        </p:sp>
        <p:sp>
          <p:nvSpPr>
            <p:cNvPr id="6174" name="Arc 27"/>
            <p:cNvSpPr>
              <a:spLocks/>
            </p:cNvSpPr>
            <p:nvPr/>
          </p:nvSpPr>
          <p:spPr bwMode="auto">
            <a:xfrm>
              <a:off x="2102" y="2202"/>
              <a:ext cx="666" cy="534"/>
            </a:xfrm>
            <a:custGeom>
              <a:avLst/>
              <a:gdLst>
                <a:gd name="T0" fmla="*/ 0 w 27446"/>
                <a:gd name="T1" fmla="*/ 0 h 21600"/>
                <a:gd name="T2" fmla="*/ 0 w 27446"/>
                <a:gd name="T3" fmla="*/ 0 h 21600"/>
                <a:gd name="T4" fmla="*/ 0 w 27446"/>
                <a:gd name="T5" fmla="*/ 0 h 21600"/>
                <a:gd name="T6" fmla="*/ 0 60000 65536"/>
                <a:gd name="T7" fmla="*/ 0 60000 65536"/>
                <a:gd name="T8" fmla="*/ 0 60000 65536"/>
                <a:gd name="T9" fmla="*/ 0 w 27446"/>
                <a:gd name="T10" fmla="*/ 0 h 21600"/>
                <a:gd name="T11" fmla="*/ 27446 w 2744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46" h="21600" fill="none" extrusionOk="0">
                  <a:moveTo>
                    <a:pt x="27445" y="17602"/>
                  </a:moveTo>
                  <a:cubicBezTo>
                    <a:pt x="23789" y="20202"/>
                    <a:pt x="19414" y="21599"/>
                    <a:pt x="14928" y="21600"/>
                  </a:cubicBezTo>
                  <a:cubicBezTo>
                    <a:pt x="9366" y="21600"/>
                    <a:pt x="4019" y="19454"/>
                    <a:pt x="-1" y="15611"/>
                  </a:cubicBezTo>
                </a:path>
                <a:path w="27446" h="21600" stroke="0" extrusionOk="0">
                  <a:moveTo>
                    <a:pt x="27445" y="17602"/>
                  </a:moveTo>
                  <a:cubicBezTo>
                    <a:pt x="23789" y="20202"/>
                    <a:pt x="19414" y="21599"/>
                    <a:pt x="14928" y="21600"/>
                  </a:cubicBezTo>
                  <a:cubicBezTo>
                    <a:pt x="9366" y="21600"/>
                    <a:pt x="4019" y="19454"/>
                    <a:pt x="-1" y="15611"/>
                  </a:cubicBezTo>
                  <a:lnTo>
                    <a:pt x="14928" y="0"/>
                  </a:lnTo>
                  <a:lnTo>
                    <a:pt x="27445" y="17602"/>
                  </a:lnTo>
                  <a:close/>
                </a:path>
              </a:pathLst>
            </a:cu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52" name="Rectangle 2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53" name="Object 29"/>
          <p:cNvGraphicFramePr>
            <a:graphicFrameLocks noChangeAspect="1"/>
          </p:cNvGraphicFramePr>
          <p:nvPr/>
        </p:nvGraphicFramePr>
        <p:xfrm>
          <a:off x="3540125" y="3517901"/>
          <a:ext cx="1341438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087" imgH="939392" progId="Equation.3">
                  <p:embed/>
                </p:oleObj>
              </mc:Choice>
              <mc:Fallback>
                <p:oleObj name="Equation" r:id="rId2" imgW="952087" imgH="939392" progId="Equation.3">
                  <p:embed/>
                  <p:pic>
                    <p:nvPicPr>
                      <p:cNvPr id="615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25" y="3517901"/>
                        <a:ext cx="1341438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30"/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5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247215"/>
              </p:ext>
            </p:extLst>
          </p:nvPr>
        </p:nvGraphicFramePr>
        <p:xfrm>
          <a:off x="2764648" y="5786438"/>
          <a:ext cx="114617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419100" progId="Equation.3">
                  <p:embed/>
                </p:oleObj>
              </mc:Choice>
              <mc:Fallback>
                <p:oleObj name="Equation" r:id="rId4" imgW="914400" imgH="419100" progId="Equation.3">
                  <p:embed/>
                  <p:pic>
                    <p:nvPicPr>
                      <p:cNvPr id="615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648" y="5786438"/>
                        <a:ext cx="114617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32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57" name="Object 33"/>
          <p:cNvGraphicFramePr>
            <a:graphicFrameLocks noChangeAspect="1"/>
          </p:cNvGraphicFramePr>
          <p:nvPr/>
        </p:nvGraphicFramePr>
        <p:xfrm>
          <a:off x="7446964" y="3644901"/>
          <a:ext cx="10556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558" imgH="177723" progId="Equation.3">
                  <p:embed/>
                </p:oleObj>
              </mc:Choice>
              <mc:Fallback>
                <p:oleObj name="Equation" r:id="rId6" imgW="558558" imgH="177723" progId="Equation.3">
                  <p:embed/>
                  <p:pic>
                    <p:nvPicPr>
                      <p:cNvPr id="615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6964" y="3644901"/>
                        <a:ext cx="1055687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Rectangle 34"/>
          <p:cNvSpPr>
            <a:spLocks noChangeArrowheads="1"/>
          </p:cNvSpPr>
          <p:nvPr/>
        </p:nvSpPr>
        <p:spPr bwMode="auto">
          <a:xfrm>
            <a:off x="1524001" y="29490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5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463514"/>
              </p:ext>
            </p:extLst>
          </p:nvPr>
        </p:nvGraphicFramePr>
        <p:xfrm>
          <a:off x="7518739" y="4241800"/>
          <a:ext cx="131921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600" imgH="419100" progId="Equation.3">
                  <p:embed/>
                </p:oleObj>
              </mc:Choice>
              <mc:Fallback>
                <p:oleObj name="Equation" r:id="rId8" imgW="1244600" imgH="419100" progId="Equation.3">
                  <p:embed/>
                  <p:pic>
                    <p:nvPicPr>
                      <p:cNvPr id="615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739" y="4241800"/>
                        <a:ext cx="131921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0" name="Rectangle 36"/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6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463919"/>
              </p:ext>
            </p:extLst>
          </p:nvPr>
        </p:nvGraphicFramePr>
        <p:xfrm>
          <a:off x="7471261" y="5005388"/>
          <a:ext cx="13589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900" imgH="419100" progId="Equation.3">
                  <p:embed/>
                </p:oleObj>
              </mc:Choice>
              <mc:Fallback>
                <p:oleObj name="Equation" r:id="rId10" imgW="977900" imgH="419100" progId="Equation.3">
                  <p:embed/>
                  <p:pic>
                    <p:nvPicPr>
                      <p:cNvPr id="616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1261" y="5005388"/>
                        <a:ext cx="13589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C3E5EFB4-3D10-903A-694B-AE58766C13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5500" y="3288030"/>
            <a:ext cx="381000" cy="2819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85EDA33-C90A-4603-AD72-F87D4A4F12E4}" type="slidenum">
              <a:rPr lang="en-US" smtClean="0"/>
              <a:pPr eaLnBrk="1" hangingPunct="1"/>
              <a:t>20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Physical Pendulum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730375"/>
            <a:ext cx="4038600" cy="4395788"/>
          </a:xfrm>
        </p:spPr>
        <p:txBody>
          <a:bodyPr/>
          <a:lstStyle/>
          <a:p>
            <a:pPr eaLnBrk="1" hangingPunct="1"/>
            <a:r>
              <a:rPr lang="en-US"/>
              <a:t>SHM Problem</a:t>
            </a:r>
          </a:p>
        </p:txBody>
      </p:sp>
      <p:sp>
        <p:nvSpPr>
          <p:cNvPr id="717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4243389"/>
            <a:ext cx="4038600" cy="1882775"/>
          </a:xfrm>
        </p:spPr>
        <p:txBody>
          <a:bodyPr/>
          <a:lstStyle/>
          <a:p>
            <a:pPr eaLnBrk="1" hangingPunct="1"/>
            <a:r>
              <a:rPr lang="en-US"/>
              <a:t>Solution</a:t>
            </a:r>
          </a:p>
        </p:txBody>
      </p:sp>
      <p:graphicFrame>
        <p:nvGraphicFramePr>
          <p:cNvPr id="7174" name="Object 5"/>
          <p:cNvGraphicFramePr>
            <a:graphicFrameLocks noChangeAspect="1"/>
          </p:cNvGraphicFramePr>
          <p:nvPr/>
        </p:nvGraphicFramePr>
        <p:xfrm>
          <a:off x="6624639" y="5037138"/>
          <a:ext cx="210978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200" imgH="228600" progId="Equation.3">
                  <p:embed/>
                </p:oleObj>
              </mc:Choice>
              <mc:Fallback>
                <p:oleObj name="Equation" r:id="rId2" imgW="1346200" imgH="228600" progId="Equation.3">
                  <p:embed/>
                  <p:pic>
                    <p:nvPicPr>
                      <p:cNvPr id="71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4639" y="5037138"/>
                        <a:ext cx="210978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23"/>
          <p:cNvGraphicFramePr>
            <a:graphicFrameLocks noChangeAspect="1"/>
          </p:cNvGraphicFramePr>
          <p:nvPr/>
        </p:nvGraphicFramePr>
        <p:xfrm>
          <a:off x="2713038" y="2405064"/>
          <a:ext cx="160655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900" imgH="419100" progId="Equation.3">
                  <p:embed/>
                </p:oleObj>
              </mc:Choice>
              <mc:Fallback>
                <p:oleObj name="Equation" r:id="rId4" imgW="977900" imgH="419100" progId="Equation.3">
                  <p:embed/>
                  <p:pic>
                    <p:nvPicPr>
                      <p:cNvPr id="717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038" y="2405064"/>
                        <a:ext cx="1606550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Rectangle 24"/>
          <p:cNvSpPr>
            <a:spLocks noChangeArrowheads="1"/>
          </p:cNvSpPr>
          <p:nvPr/>
        </p:nvSpPr>
        <p:spPr bwMode="auto">
          <a:xfrm>
            <a:off x="1524001" y="29633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78" name="Object 25"/>
          <p:cNvGraphicFramePr>
            <a:graphicFrameLocks noChangeAspect="1"/>
          </p:cNvGraphicFramePr>
          <p:nvPr/>
        </p:nvGraphicFramePr>
        <p:xfrm>
          <a:off x="2921001" y="3538539"/>
          <a:ext cx="116681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393529" progId="Equation.3">
                  <p:embed/>
                </p:oleObj>
              </mc:Choice>
              <mc:Fallback>
                <p:oleObj name="Equation" r:id="rId6" imgW="672808" imgH="393529" progId="Equation.3">
                  <p:embed/>
                  <p:pic>
                    <p:nvPicPr>
                      <p:cNvPr id="7178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1" y="3538539"/>
                        <a:ext cx="116681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26"/>
          <p:cNvSpPr>
            <a:spLocks noChangeArrowheads="1"/>
          </p:cNvSpPr>
          <p:nvPr/>
        </p:nvSpPr>
        <p:spPr bwMode="auto">
          <a:xfrm>
            <a:off x="1524001" y="3010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80" name="Object 27"/>
          <p:cNvGraphicFramePr>
            <a:graphicFrameLocks noChangeAspect="1"/>
          </p:cNvGraphicFramePr>
          <p:nvPr/>
        </p:nvGraphicFramePr>
        <p:xfrm>
          <a:off x="2771776" y="4589463"/>
          <a:ext cx="16097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01309" imgH="469696" progId="Equation.3">
                  <p:embed/>
                </p:oleObj>
              </mc:Choice>
              <mc:Fallback>
                <p:oleObj name="Equation" r:id="rId8" imgW="901309" imgH="469696" progId="Equation.3">
                  <p:embed/>
                  <p:pic>
                    <p:nvPicPr>
                      <p:cNvPr id="718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6" y="4589463"/>
                        <a:ext cx="1609725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>
            <a:extLst>
              <a:ext uri="{FF2B5EF4-FFF2-40B4-BE49-F238E27FC236}">
                <a16:creationId xmlns:a16="http://schemas.microsoft.com/office/drawing/2014/main" id="{19BA63B2-BFB7-08C3-1958-AC041E95B87E}"/>
              </a:ext>
            </a:extLst>
          </p:cNvPr>
          <p:cNvGrpSpPr>
            <a:grpSpLocks/>
          </p:cNvGrpSpPr>
          <p:nvPr/>
        </p:nvGrpSpPr>
        <p:grpSpPr bwMode="auto">
          <a:xfrm>
            <a:off x="7959726" y="1330326"/>
            <a:ext cx="1919288" cy="2243138"/>
            <a:chOff x="2061" y="1963"/>
            <a:chExt cx="1209" cy="1413"/>
          </a:xfrm>
        </p:grpSpPr>
        <p:grpSp>
          <p:nvGrpSpPr>
            <p:cNvPr id="3" name="Group 12">
              <a:extLst>
                <a:ext uri="{FF2B5EF4-FFF2-40B4-BE49-F238E27FC236}">
                  <a16:creationId xmlns:a16="http://schemas.microsoft.com/office/drawing/2014/main" id="{21478D3F-6C35-6A11-21A1-EB5E485326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1" y="2160"/>
              <a:ext cx="1152" cy="659"/>
              <a:chOff x="1066" y="2340"/>
              <a:chExt cx="1152" cy="659"/>
            </a:xfrm>
          </p:grpSpPr>
          <p:sp>
            <p:nvSpPr>
              <p:cNvPr id="16" name="AutoShape 13">
                <a:extLst>
                  <a:ext uri="{FF2B5EF4-FFF2-40B4-BE49-F238E27FC236}">
                    <a16:creationId xmlns:a16="http://schemas.microsoft.com/office/drawing/2014/main" id="{BD4FCF89-3DD8-CC4C-9385-FCAB1838C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923845">
                <a:off x="1372" y="2154"/>
                <a:ext cx="539" cy="1152"/>
              </a:xfrm>
              <a:prstGeom prst="flowChartManualInpu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Oval 14">
                <a:extLst>
                  <a:ext uri="{FF2B5EF4-FFF2-40B4-BE49-F238E27FC236}">
                    <a16:creationId xmlns:a16="http://schemas.microsoft.com/office/drawing/2014/main" id="{B7106592-F53A-8AA9-CFEE-A81C349F8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708541">
                <a:off x="1708" y="2808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Oval 15">
                <a:extLst>
                  <a:ext uri="{FF2B5EF4-FFF2-40B4-BE49-F238E27FC236}">
                    <a16:creationId xmlns:a16="http://schemas.microsoft.com/office/drawing/2014/main" id="{0FF4B31A-2767-CCF5-9E06-6065EA315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708541">
                <a:off x="1448" y="2340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" name="Text Box 16">
              <a:extLst>
                <a:ext uri="{FF2B5EF4-FFF2-40B4-BE49-F238E27FC236}">
                  <a16:creationId xmlns:a16="http://schemas.microsoft.com/office/drawing/2014/main" id="{F82396EC-7627-C7F7-B8C0-5D6205CB5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2546"/>
              <a:ext cx="29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400"/>
                <a:t>CM</a:t>
              </a:r>
            </a:p>
          </p:txBody>
        </p:sp>
        <p:sp>
          <p:nvSpPr>
            <p:cNvPr id="5" name="Text Box 17">
              <a:extLst>
                <a:ext uri="{FF2B5EF4-FFF2-40B4-BE49-F238E27FC236}">
                  <a16:creationId xmlns:a16="http://schemas.microsoft.com/office/drawing/2014/main" id="{27D2D34B-BD2E-B912-B5B6-1C57C6117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8" y="2028"/>
              <a:ext cx="3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400" dirty="0"/>
                <a:t>Pivot</a:t>
              </a:r>
            </a:p>
          </p:txBody>
        </p:sp>
        <p:sp>
          <p:nvSpPr>
            <p:cNvPr id="6" name="Line 18">
              <a:extLst>
                <a:ext uri="{FF2B5EF4-FFF2-40B4-BE49-F238E27FC236}">
                  <a16:creationId xmlns:a16="http://schemas.microsoft.com/office/drawing/2014/main" id="{110FC0EE-4162-7D11-FB89-C5EF9BDB7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9" y="2652"/>
              <a:ext cx="2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19">
              <a:extLst>
                <a:ext uri="{FF2B5EF4-FFF2-40B4-BE49-F238E27FC236}">
                  <a16:creationId xmlns:a16="http://schemas.microsoft.com/office/drawing/2014/main" id="{20C5E187-6C0B-8753-A6E8-641039E197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9" y="2182"/>
              <a:ext cx="0" cy="4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20">
              <a:extLst>
                <a:ext uri="{FF2B5EF4-FFF2-40B4-BE49-F238E27FC236}">
                  <a16:creationId xmlns:a16="http://schemas.microsoft.com/office/drawing/2014/main" id="{2EC6676D-4246-C14A-7E3C-2056F8764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9" y="2260"/>
              <a:ext cx="15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900">
                  <a:sym typeface="Symbol" pitchFamily="18" charset="2"/>
                </a:rPr>
                <a:t></a:t>
              </a:r>
              <a:endParaRPr lang="en-US" sz="900"/>
            </a:p>
          </p:txBody>
        </p:sp>
        <p:sp>
          <p:nvSpPr>
            <p:cNvPr id="9" name="Line 21">
              <a:extLst>
                <a:ext uri="{FF2B5EF4-FFF2-40B4-BE49-F238E27FC236}">
                  <a16:creationId xmlns:a16="http://schemas.microsoft.com/office/drawing/2014/main" id="{3BF7B03E-7028-7E6D-BBB1-7DD626937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8" y="2188"/>
              <a:ext cx="264" cy="4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22">
              <a:extLst>
                <a:ext uri="{FF2B5EF4-FFF2-40B4-BE49-F238E27FC236}">
                  <a16:creationId xmlns:a16="http://schemas.microsoft.com/office/drawing/2014/main" id="{2D881EC3-DE5B-AFA2-0E5C-DBFD76936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6" y="2341"/>
              <a:ext cx="15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900" i="1"/>
                <a:t>d</a:t>
              </a:r>
            </a:p>
          </p:txBody>
        </p:sp>
        <p:sp>
          <p:nvSpPr>
            <p:cNvPr id="11" name="Text Box 23">
              <a:extLst>
                <a:ext uri="{FF2B5EF4-FFF2-40B4-BE49-F238E27FC236}">
                  <a16:creationId xmlns:a16="http://schemas.microsoft.com/office/drawing/2014/main" id="{3EE7E2A4-37E8-A55A-5550-EDEAAB4D1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4" y="2633"/>
              <a:ext cx="3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900" i="1"/>
                <a:t>dsin(</a:t>
              </a:r>
              <a:r>
                <a:rPr lang="en-US" sz="900" i="1">
                  <a:sym typeface="Symbol" pitchFamily="18" charset="2"/>
                </a:rPr>
                <a:t></a:t>
              </a:r>
              <a:r>
                <a:rPr lang="en-US" sz="900" i="1"/>
                <a:t>)</a:t>
              </a:r>
            </a:p>
          </p:txBody>
        </p:sp>
        <p:sp>
          <p:nvSpPr>
            <p:cNvPr id="12" name="Line 24">
              <a:extLst>
                <a:ext uri="{FF2B5EF4-FFF2-40B4-BE49-F238E27FC236}">
                  <a16:creationId xmlns:a16="http://schemas.microsoft.com/office/drawing/2014/main" id="{908E0826-8B7F-EC6A-9B3B-192C176A9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" y="2660"/>
              <a:ext cx="8" cy="6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25">
              <a:extLst>
                <a:ext uri="{FF2B5EF4-FFF2-40B4-BE49-F238E27FC236}">
                  <a16:creationId xmlns:a16="http://schemas.microsoft.com/office/drawing/2014/main" id="{EBDFF7D3-9AA1-78F3-6D6A-85A040BF3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8" y="19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dirty="0"/>
                <a:t>o</a:t>
              </a:r>
            </a:p>
          </p:txBody>
        </p:sp>
        <p:sp>
          <p:nvSpPr>
            <p:cNvPr id="14" name="Text Box 26">
              <a:extLst>
                <a:ext uri="{FF2B5EF4-FFF2-40B4-BE49-F238E27FC236}">
                  <a16:creationId xmlns:a16="http://schemas.microsoft.com/office/drawing/2014/main" id="{3DF22CED-FF3C-6196-ED58-D58739850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3143"/>
              <a:ext cx="54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FF0000"/>
                  </a:solidFill>
                </a:rPr>
                <a:t>W=mg</a:t>
              </a:r>
            </a:p>
          </p:txBody>
        </p:sp>
        <p:sp>
          <p:nvSpPr>
            <p:cNvPr id="15" name="Arc 27">
              <a:extLst>
                <a:ext uri="{FF2B5EF4-FFF2-40B4-BE49-F238E27FC236}">
                  <a16:creationId xmlns:a16="http://schemas.microsoft.com/office/drawing/2014/main" id="{CE93DF16-F7D0-8C1C-4799-652DA49B4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2202"/>
              <a:ext cx="666" cy="534"/>
            </a:xfrm>
            <a:custGeom>
              <a:avLst/>
              <a:gdLst>
                <a:gd name="T0" fmla="*/ 0 w 27446"/>
                <a:gd name="T1" fmla="*/ 0 h 21600"/>
                <a:gd name="T2" fmla="*/ 0 w 27446"/>
                <a:gd name="T3" fmla="*/ 0 h 21600"/>
                <a:gd name="T4" fmla="*/ 0 w 27446"/>
                <a:gd name="T5" fmla="*/ 0 h 21600"/>
                <a:gd name="T6" fmla="*/ 0 60000 65536"/>
                <a:gd name="T7" fmla="*/ 0 60000 65536"/>
                <a:gd name="T8" fmla="*/ 0 60000 65536"/>
                <a:gd name="T9" fmla="*/ 0 w 27446"/>
                <a:gd name="T10" fmla="*/ 0 h 21600"/>
                <a:gd name="T11" fmla="*/ 27446 w 2744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46" h="21600" fill="none" extrusionOk="0">
                  <a:moveTo>
                    <a:pt x="27445" y="17602"/>
                  </a:moveTo>
                  <a:cubicBezTo>
                    <a:pt x="23789" y="20202"/>
                    <a:pt x="19414" y="21599"/>
                    <a:pt x="14928" y="21600"/>
                  </a:cubicBezTo>
                  <a:cubicBezTo>
                    <a:pt x="9366" y="21600"/>
                    <a:pt x="4019" y="19454"/>
                    <a:pt x="-1" y="15611"/>
                  </a:cubicBezTo>
                </a:path>
                <a:path w="27446" h="21600" stroke="0" extrusionOk="0">
                  <a:moveTo>
                    <a:pt x="27445" y="17602"/>
                  </a:moveTo>
                  <a:cubicBezTo>
                    <a:pt x="23789" y="20202"/>
                    <a:pt x="19414" y="21599"/>
                    <a:pt x="14928" y="21600"/>
                  </a:cubicBezTo>
                  <a:cubicBezTo>
                    <a:pt x="9366" y="21600"/>
                    <a:pt x="4019" y="19454"/>
                    <a:pt x="-1" y="15611"/>
                  </a:cubicBezTo>
                  <a:lnTo>
                    <a:pt x="14928" y="0"/>
                  </a:lnTo>
                  <a:lnTo>
                    <a:pt x="27445" y="17602"/>
                  </a:lnTo>
                  <a:close/>
                </a:path>
              </a:pathLst>
            </a:cu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3758A8-B5D4-4BF3-AD4B-0D652ECF3B85}" type="slidenum">
              <a:rPr lang="en-US" smtClean="0"/>
              <a:pPr eaLnBrk="1" hangingPunct="1"/>
              <a:t>21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Torsional Pendulum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 dirty="0"/>
              <a:t>A torsional pendulum is made by suspending a rigid body from a wire. The body rotates.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twisted wire exerts a restoring torque on the body that is proportional to the angular position (sound familiar) </a:t>
            </a:r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Rotational version of Newton’s 2</a:t>
            </a:r>
            <a:r>
              <a:rPr lang="en-US" sz="1800" baseline="30000" dirty="0"/>
              <a:t>nd</a:t>
            </a:r>
            <a:r>
              <a:rPr lang="en-US" sz="1800" dirty="0"/>
              <a:t> Law</a:t>
            </a:r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</p:txBody>
      </p:sp>
      <p:sp>
        <p:nvSpPr>
          <p:cNvPr id="819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4081463"/>
            <a:ext cx="4038600" cy="2044700"/>
          </a:xfrm>
        </p:spPr>
        <p:txBody>
          <a:bodyPr/>
          <a:lstStyle/>
          <a:p>
            <a:pPr eaLnBrk="1" hangingPunct="1"/>
            <a:r>
              <a:rPr lang="en-US" sz="1800"/>
              <a:t>Then</a:t>
            </a:r>
          </a:p>
        </p:txBody>
      </p:sp>
      <p:grpSp>
        <p:nvGrpSpPr>
          <p:cNvPr id="8198" name="Group 5"/>
          <p:cNvGrpSpPr>
            <a:grpSpLocks/>
          </p:cNvGrpSpPr>
          <p:nvPr/>
        </p:nvGrpSpPr>
        <p:grpSpPr bwMode="auto">
          <a:xfrm>
            <a:off x="8243888" y="1597025"/>
            <a:ext cx="1814512" cy="2770188"/>
            <a:chOff x="1892" y="1398"/>
            <a:chExt cx="1143" cy="1745"/>
          </a:xfrm>
        </p:grpSpPr>
        <p:sp>
          <p:nvSpPr>
            <p:cNvPr id="8206" name="Oval 6"/>
            <p:cNvSpPr>
              <a:spLocks noChangeArrowheads="1"/>
            </p:cNvSpPr>
            <p:nvPr/>
          </p:nvSpPr>
          <p:spPr bwMode="auto">
            <a:xfrm>
              <a:off x="1944" y="2556"/>
              <a:ext cx="1014" cy="318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7" name="Oval 7"/>
            <p:cNvSpPr>
              <a:spLocks noChangeArrowheads="1"/>
            </p:cNvSpPr>
            <p:nvPr/>
          </p:nvSpPr>
          <p:spPr bwMode="auto">
            <a:xfrm>
              <a:off x="1944" y="2535"/>
              <a:ext cx="1014" cy="3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Line 8"/>
            <p:cNvSpPr>
              <a:spLocks noChangeShapeType="1"/>
            </p:cNvSpPr>
            <p:nvPr/>
          </p:nvSpPr>
          <p:spPr bwMode="auto">
            <a:xfrm flipV="1">
              <a:off x="2448" y="1431"/>
              <a:ext cx="0" cy="1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Line 9"/>
            <p:cNvSpPr>
              <a:spLocks noChangeShapeType="1"/>
            </p:cNvSpPr>
            <p:nvPr/>
          </p:nvSpPr>
          <p:spPr bwMode="auto">
            <a:xfrm>
              <a:off x="2448" y="2664"/>
              <a:ext cx="3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Text Box 10"/>
            <p:cNvSpPr txBox="1">
              <a:spLocks noChangeArrowheads="1"/>
            </p:cNvSpPr>
            <p:nvPr/>
          </p:nvSpPr>
          <p:spPr bwMode="auto">
            <a:xfrm>
              <a:off x="2354" y="2912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/>
                <a:t>P</a:t>
              </a:r>
            </a:p>
          </p:txBody>
        </p:sp>
        <p:sp>
          <p:nvSpPr>
            <p:cNvPr id="8211" name="Oval 11"/>
            <p:cNvSpPr>
              <a:spLocks noChangeArrowheads="1"/>
            </p:cNvSpPr>
            <p:nvPr/>
          </p:nvSpPr>
          <p:spPr bwMode="auto">
            <a:xfrm>
              <a:off x="2436" y="2832"/>
              <a:ext cx="27" cy="2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Line 12"/>
            <p:cNvSpPr>
              <a:spLocks noChangeShapeType="1"/>
            </p:cNvSpPr>
            <p:nvPr/>
          </p:nvSpPr>
          <p:spPr bwMode="auto">
            <a:xfrm>
              <a:off x="2448" y="2664"/>
              <a:ext cx="228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3" name="Line 13"/>
            <p:cNvSpPr>
              <a:spLocks noChangeShapeType="1"/>
            </p:cNvSpPr>
            <p:nvPr/>
          </p:nvSpPr>
          <p:spPr bwMode="auto">
            <a:xfrm flipH="1">
              <a:off x="2214" y="2667"/>
              <a:ext cx="228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4" name="Rectangle 14"/>
            <p:cNvSpPr>
              <a:spLocks noChangeArrowheads="1"/>
            </p:cNvSpPr>
            <p:nvPr/>
          </p:nvSpPr>
          <p:spPr bwMode="auto">
            <a:xfrm>
              <a:off x="1892" y="1398"/>
              <a:ext cx="1143" cy="64"/>
            </a:xfrm>
            <a:prstGeom prst="rect">
              <a:avLst/>
            </a:prstGeom>
            <a:gradFill rotWithShape="1">
              <a:gsLst>
                <a:gs pos="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199" name="Rectangle 15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00" name="Object 16"/>
          <p:cNvGraphicFramePr>
            <a:graphicFrameLocks noChangeAspect="1"/>
          </p:cNvGraphicFramePr>
          <p:nvPr/>
        </p:nvGraphicFramePr>
        <p:xfrm>
          <a:off x="3789364" y="3513139"/>
          <a:ext cx="11144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2937" imgH="177646" progId="Equation.3">
                  <p:embed/>
                </p:oleObj>
              </mc:Choice>
              <mc:Fallback>
                <p:oleObj name="Equation" r:id="rId2" imgW="532937" imgH="177646" progId="Equation.3">
                  <p:embed/>
                  <p:pic>
                    <p:nvPicPr>
                      <p:cNvPr id="82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4" y="3513139"/>
                        <a:ext cx="11144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17"/>
          <p:cNvSpPr>
            <a:spLocks noChangeArrowheads="1"/>
          </p:cNvSpPr>
          <p:nvPr/>
        </p:nvSpPr>
        <p:spPr bwMode="auto">
          <a:xfrm>
            <a:off x="1524001" y="29252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02" name="Object 18"/>
          <p:cNvGraphicFramePr>
            <a:graphicFrameLocks noChangeAspect="1"/>
          </p:cNvGraphicFramePr>
          <p:nvPr/>
        </p:nvGraphicFramePr>
        <p:xfrm>
          <a:off x="3773488" y="4460876"/>
          <a:ext cx="1390650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48975" imgH="634725" progId="Equation.3">
                  <p:embed/>
                </p:oleObj>
              </mc:Choice>
              <mc:Fallback>
                <p:oleObj r:id="rId4" imgW="748975" imgH="634725" progId="Equation.3">
                  <p:embed/>
                  <p:pic>
                    <p:nvPicPr>
                      <p:cNvPr id="820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488" y="4460876"/>
                        <a:ext cx="1390650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Rectangle 19"/>
          <p:cNvSpPr>
            <a:spLocks noChangeArrowheads="1"/>
          </p:cNvSpPr>
          <p:nvPr/>
        </p:nvSpPr>
        <p:spPr bwMode="auto">
          <a:xfrm>
            <a:off x="1957389" y="6010276"/>
            <a:ext cx="8334375" cy="287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1400"/>
              <a:t>Physics majors and those taking PH 220 in the future, you will see a torsional pendulum again!</a:t>
            </a:r>
          </a:p>
        </p:txBody>
      </p:sp>
      <p:sp>
        <p:nvSpPr>
          <p:cNvPr id="8204" name="Rectangle 20"/>
          <p:cNvSpPr>
            <a:spLocks noChangeArrowheads="1"/>
          </p:cNvSpPr>
          <p:nvPr/>
        </p:nvSpPr>
        <p:spPr bwMode="auto">
          <a:xfrm>
            <a:off x="1524001" y="2825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05" name="Object 21"/>
          <p:cNvGraphicFramePr>
            <a:graphicFrameLocks noChangeAspect="1"/>
          </p:cNvGraphicFramePr>
          <p:nvPr/>
        </p:nvGraphicFramePr>
        <p:xfrm>
          <a:off x="7589839" y="4360863"/>
          <a:ext cx="9048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309" imgH="837836" progId="Equation.3">
                  <p:embed/>
                </p:oleObj>
              </mc:Choice>
              <mc:Fallback>
                <p:oleObj name="Equation" r:id="rId6" imgW="901309" imgH="837836" progId="Equation.3">
                  <p:embed/>
                  <p:pic>
                    <p:nvPicPr>
                      <p:cNvPr id="82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9839" y="4360863"/>
                        <a:ext cx="9048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4A22C19-670B-4458-9FF6-4948E551C946}" type="slidenum">
              <a:rPr lang="en-US" smtClean="0"/>
              <a:pPr eaLnBrk="1" hangingPunct="1"/>
              <a:t>22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Motion of a Torsional Pendulum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4343401"/>
            <a:ext cx="8229600" cy="1782763"/>
          </a:xfrm>
        </p:spPr>
        <p:txBody>
          <a:bodyPr/>
          <a:lstStyle/>
          <a:p>
            <a:pPr eaLnBrk="1" hangingPunct="1"/>
            <a:endParaRPr lang="en-US"/>
          </a:p>
        </p:txBody>
      </p:sp>
      <p:grpSp>
        <p:nvGrpSpPr>
          <p:cNvPr id="9221" name="Group 4"/>
          <p:cNvGrpSpPr>
            <a:grpSpLocks/>
          </p:cNvGrpSpPr>
          <p:nvPr/>
        </p:nvGrpSpPr>
        <p:grpSpPr bwMode="auto">
          <a:xfrm>
            <a:off x="2357439" y="1296989"/>
            <a:ext cx="7519987" cy="2973387"/>
            <a:chOff x="187" y="808"/>
            <a:chExt cx="4737" cy="1873"/>
          </a:xfrm>
        </p:grpSpPr>
        <p:sp>
          <p:nvSpPr>
            <p:cNvPr id="9222" name="Oval 5"/>
            <p:cNvSpPr>
              <a:spLocks noChangeArrowheads="1"/>
            </p:cNvSpPr>
            <p:nvPr/>
          </p:nvSpPr>
          <p:spPr bwMode="auto">
            <a:xfrm>
              <a:off x="239" y="1966"/>
              <a:ext cx="1014" cy="318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3" name="Oval 6"/>
            <p:cNvSpPr>
              <a:spLocks noChangeArrowheads="1"/>
            </p:cNvSpPr>
            <p:nvPr/>
          </p:nvSpPr>
          <p:spPr bwMode="auto">
            <a:xfrm>
              <a:off x="239" y="1945"/>
              <a:ext cx="1014" cy="3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4" name="Line 7"/>
            <p:cNvSpPr>
              <a:spLocks noChangeShapeType="1"/>
            </p:cNvSpPr>
            <p:nvPr/>
          </p:nvSpPr>
          <p:spPr bwMode="auto">
            <a:xfrm flipV="1">
              <a:off x="743" y="841"/>
              <a:ext cx="0" cy="1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5" name="Line 8"/>
            <p:cNvSpPr>
              <a:spLocks noChangeShapeType="1"/>
            </p:cNvSpPr>
            <p:nvPr/>
          </p:nvSpPr>
          <p:spPr bwMode="auto">
            <a:xfrm>
              <a:off x="743" y="2074"/>
              <a:ext cx="3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6" name="Text Box 9"/>
            <p:cNvSpPr txBox="1">
              <a:spLocks noChangeArrowheads="1"/>
            </p:cNvSpPr>
            <p:nvPr/>
          </p:nvSpPr>
          <p:spPr bwMode="auto">
            <a:xfrm>
              <a:off x="577" y="2450"/>
              <a:ext cx="3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>
                  <a:sym typeface="Symbol" pitchFamily="18" charset="2"/>
                </a:rPr>
                <a:t>=0</a:t>
              </a:r>
            </a:p>
          </p:txBody>
        </p:sp>
        <p:sp>
          <p:nvSpPr>
            <p:cNvPr id="9227" name="Oval 10"/>
            <p:cNvSpPr>
              <a:spLocks noChangeArrowheads="1"/>
            </p:cNvSpPr>
            <p:nvPr/>
          </p:nvSpPr>
          <p:spPr bwMode="auto">
            <a:xfrm>
              <a:off x="731" y="2242"/>
              <a:ext cx="27" cy="2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8" name="Line 11"/>
            <p:cNvSpPr>
              <a:spLocks noChangeShapeType="1"/>
            </p:cNvSpPr>
            <p:nvPr/>
          </p:nvSpPr>
          <p:spPr bwMode="auto">
            <a:xfrm>
              <a:off x="743" y="2074"/>
              <a:ext cx="228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9" name="Line 12"/>
            <p:cNvSpPr>
              <a:spLocks noChangeShapeType="1"/>
            </p:cNvSpPr>
            <p:nvPr/>
          </p:nvSpPr>
          <p:spPr bwMode="auto">
            <a:xfrm flipH="1">
              <a:off x="509" y="2077"/>
              <a:ext cx="228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0" name="Rectangle 13"/>
            <p:cNvSpPr>
              <a:spLocks noChangeArrowheads="1"/>
            </p:cNvSpPr>
            <p:nvPr/>
          </p:nvSpPr>
          <p:spPr bwMode="auto">
            <a:xfrm>
              <a:off x="187" y="808"/>
              <a:ext cx="1143" cy="64"/>
            </a:xfrm>
            <a:prstGeom prst="rect">
              <a:avLst/>
            </a:prstGeom>
            <a:gradFill rotWithShape="1">
              <a:gsLst>
                <a:gs pos="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1" name="Arc 14"/>
            <p:cNvSpPr>
              <a:spLocks/>
            </p:cNvSpPr>
            <p:nvPr/>
          </p:nvSpPr>
          <p:spPr bwMode="auto">
            <a:xfrm>
              <a:off x="343" y="1290"/>
              <a:ext cx="804" cy="270"/>
            </a:xfrm>
            <a:custGeom>
              <a:avLst/>
              <a:gdLst>
                <a:gd name="T0" fmla="*/ 0 w 43200"/>
                <a:gd name="T1" fmla="*/ 0 h 42287"/>
                <a:gd name="T2" fmla="*/ 0 w 43200"/>
                <a:gd name="T3" fmla="*/ 0 h 42287"/>
                <a:gd name="T4" fmla="*/ 0 w 43200"/>
                <a:gd name="T5" fmla="*/ 0 h 4228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87"/>
                <a:gd name="T11" fmla="*/ 43200 w 43200"/>
                <a:gd name="T12" fmla="*/ 42287 h 422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87" fill="none" extrusionOk="0">
                  <a:moveTo>
                    <a:pt x="390" y="25688"/>
                  </a:moveTo>
                  <a:cubicBezTo>
                    <a:pt x="130" y="24341"/>
                    <a:pt x="0" y="22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135"/>
                    <a:pt x="36946" y="39543"/>
                    <a:pt x="27813" y="42286"/>
                  </a:cubicBezTo>
                </a:path>
                <a:path w="43200" h="42287" stroke="0" extrusionOk="0">
                  <a:moveTo>
                    <a:pt x="390" y="25688"/>
                  </a:moveTo>
                  <a:cubicBezTo>
                    <a:pt x="130" y="24341"/>
                    <a:pt x="0" y="22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135"/>
                    <a:pt x="36946" y="39543"/>
                    <a:pt x="27813" y="42286"/>
                  </a:cubicBezTo>
                  <a:lnTo>
                    <a:pt x="21600" y="21600"/>
                  </a:lnTo>
                  <a:lnTo>
                    <a:pt x="390" y="2568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2" name="Oval 15"/>
            <p:cNvSpPr>
              <a:spLocks noChangeArrowheads="1"/>
            </p:cNvSpPr>
            <p:nvPr/>
          </p:nvSpPr>
          <p:spPr bwMode="auto">
            <a:xfrm>
              <a:off x="1438" y="1979"/>
              <a:ext cx="1014" cy="318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3" name="Oval 16"/>
            <p:cNvSpPr>
              <a:spLocks noChangeArrowheads="1"/>
            </p:cNvSpPr>
            <p:nvPr/>
          </p:nvSpPr>
          <p:spPr bwMode="auto">
            <a:xfrm>
              <a:off x="1438" y="1958"/>
              <a:ext cx="1014" cy="3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4" name="Line 17"/>
            <p:cNvSpPr>
              <a:spLocks noChangeShapeType="1"/>
            </p:cNvSpPr>
            <p:nvPr/>
          </p:nvSpPr>
          <p:spPr bwMode="auto">
            <a:xfrm flipV="1">
              <a:off x="1942" y="854"/>
              <a:ext cx="0" cy="1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Line 18"/>
            <p:cNvSpPr>
              <a:spLocks noChangeShapeType="1"/>
            </p:cNvSpPr>
            <p:nvPr/>
          </p:nvSpPr>
          <p:spPr bwMode="auto">
            <a:xfrm>
              <a:off x="1942" y="2087"/>
              <a:ext cx="3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6" name="Text Box 19"/>
            <p:cNvSpPr txBox="1">
              <a:spLocks noChangeArrowheads="1"/>
            </p:cNvSpPr>
            <p:nvPr/>
          </p:nvSpPr>
          <p:spPr bwMode="auto">
            <a:xfrm>
              <a:off x="1750" y="2450"/>
              <a:ext cx="5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>
                  <a:sym typeface="Symbol" pitchFamily="18" charset="2"/>
                </a:rPr>
                <a:t>=</a:t>
              </a:r>
              <a:r>
                <a:rPr lang="en-US" baseline="-25000">
                  <a:sym typeface="Symbol" pitchFamily="18" charset="2"/>
                </a:rPr>
                <a:t>max</a:t>
              </a:r>
            </a:p>
          </p:txBody>
        </p:sp>
        <p:sp>
          <p:nvSpPr>
            <p:cNvPr id="9237" name="Oval 20"/>
            <p:cNvSpPr>
              <a:spLocks noChangeArrowheads="1"/>
            </p:cNvSpPr>
            <p:nvPr/>
          </p:nvSpPr>
          <p:spPr bwMode="auto">
            <a:xfrm>
              <a:off x="1608" y="2202"/>
              <a:ext cx="27" cy="2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Line 21"/>
            <p:cNvSpPr>
              <a:spLocks noChangeShapeType="1"/>
            </p:cNvSpPr>
            <p:nvPr/>
          </p:nvSpPr>
          <p:spPr bwMode="auto">
            <a:xfrm flipH="1">
              <a:off x="1438" y="2087"/>
              <a:ext cx="504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9" name="Line 22"/>
            <p:cNvSpPr>
              <a:spLocks noChangeShapeType="1"/>
            </p:cNvSpPr>
            <p:nvPr/>
          </p:nvSpPr>
          <p:spPr bwMode="auto">
            <a:xfrm flipH="1">
              <a:off x="1618" y="2090"/>
              <a:ext cx="318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Rectangle 23"/>
            <p:cNvSpPr>
              <a:spLocks noChangeArrowheads="1"/>
            </p:cNvSpPr>
            <p:nvPr/>
          </p:nvSpPr>
          <p:spPr bwMode="auto">
            <a:xfrm>
              <a:off x="1386" y="821"/>
              <a:ext cx="1143" cy="64"/>
            </a:xfrm>
            <a:prstGeom prst="rect">
              <a:avLst/>
            </a:prstGeom>
            <a:gradFill rotWithShape="1">
              <a:gsLst>
                <a:gs pos="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Rectangle 24"/>
            <p:cNvSpPr>
              <a:spLocks noChangeArrowheads="1"/>
            </p:cNvSpPr>
            <p:nvPr/>
          </p:nvSpPr>
          <p:spPr bwMode="auto">
            <a:xfrm>
              <a:off x="1391" y="2200"/>
              <a:ext cx="20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P</a:t>
              </a:r>
            </a:p>
          </p:txBody>
        </p:sp>
        <p:sp>
          <p:nvSpPr>
            <p:cNvPr id="9242" name="Text Box 25"/>
            <p:cNvSpPr txBox="1">
              <a:spLocks noChangeArrowheads="1"/>
            </p:cNvSpPr>
            <p:nvPr/>
          </p:nvSpPr>
          <p:spPr bwMode="auto">
            <a:xfrm>
              <a:off x="4096" y="2450"/>
              <a:ext cx="7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>
                  <a:sym typeface="Symbol" pitchFamily="18" charset="2"/>
                </a:rPr>
                <a:t> = -</a:t>
              </a:r>
              <a:r>
                <a:rPr lang="en-US" baseline="-25000">
                  <a:sym typeface="Symbol" pitchFamily="18" charset="2"/>
                </a:rPr>
                <a:t>max</a:t>
              </a:r>
            </a:p>
          </p:txBody>
        </p:sp>
        <p:sp>
          <p:nvSpPr>
            <p:cNvPr id="9243" name="Oval 26"/>
            <p:cNvSpPr>
              <a:spLocks noChangeArrowheads="1"/>
            </p:cNvSpPr>
            <p:nvPr/>
          </p:nvSpPr>
          <p:spPr bwMode="auto">
            <a:xfrm flipH="1">
              <a:off x="3845" y="1984"/>
              <a:ext cx="1014" cy="318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4" name="Oval 27"/>
            <p:cNvSpPr>
              <a:spLocks noChangeArrowheads="1"/>
            </p:cNvSpPr>
            <p:nvPr/>
          </p:nvSpPr>
          <p:spPr bwMode="auto">
            <a:xfrm flipH="1">
              <a:off x="3845" y="1963"/>
              <a:ext cx="1014" cy="3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5" name="Line 28"/>
            <p:cNvSpPr>
              <a:spLocks noChangeShapeType="1"/>
            </p:cNvSpPr>
            <p:nvPr/>
          </p:nvSpPr>
          <p:spPr bwMode="auto">
            <a:xfrm flipH="1" flipV="1">
              <a:off x="4355" y="859"/>
              <a:ext cx="0" cy="1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6" name="Line 29"/>
            <p:cNvSpPr>
              <a:spLocks noChangeShapeType="1"/>
            </p:cNvSpPr>
            <p:nvPr/>
          </p:nvSpPr>
          <p:spPr bwMode="auto">
            <a:xfrm flipH="1">
              <a:off x="4352" y="2092"/>
              <a:ext cx="3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7" name="Oval 30"/>
            <p:cNvSpPr>
              <a:spLocks noChangeArrowheads="1"/>
            </p:cNvSpPr>
            <p:nvPr/>
          </p:nvSpPr>
          <p:spPr bwMode="auto">
            <a:xfrm flipH="1">
              <a:off x="4662" y="2207"/>
              <a:ext cx="27" cy="2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8" name="Line 31"/>
            <p:cNvSpPr>
              <a:spLocks noChangeShapeType="1"/>
            </p:cNvSpPr>
            <p:nvPr/>
          </p:nvSpPr>
          <p:spPr bwMode="auto">
            <a:xfrm>
              <a:off x="4355" y="2092"/>
              <a:ext cx="504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9" name="Line 32"/>
            <p:cNvSpPr>
              <a:spLocks noChangeShapeType="1"/>
            </p:cNvSpPr>
            <p:nvPr/>
          </p:nvSpPr>
          <p:spPr bwMode="auto">
            <a:xfrm>
              <a:off x="4361" y="2095"/>
              <a:ext cx="318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0" name="Rectangle 33"/>
            <p:cNvSpPr>
              <a:spLocks noChangeArrowheads="1"/>
            </p:cNvSpPr>
            <p:nvPr/>
          </p:nvSpPr>
          <p:spPr bwMode="auto">
            <a:xfrm flipH="1">
              <a:off x="3768" y="826"/>
              <a:ext cx="1143" cy="64"/>
            </a:xfrm>
            <a:prstGeom prst="rect">
              <a:avLst/>
            </a:prstGeom>
            <a:gradFill rotWithShape="1">
              <a:gsLst>
                <a:gs pos="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1" name="Rectangle 34"/>
            <p:cNvSpPr>
              <a:spLocks noChangeArrowheads="1"/>
            </p:cNvSpPr>
            <p:nvPr/>
          </p:nvSpPr>
          <p:spPr bwMode="auto">
            <a:xfrm>
              <a:off x="4724" y="2260"/>
              <a:ext cx="20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P</a:t>
              </a:r>
            </a:p>
          </p:txBody>
        </p:sp>
        <p:sp>
          <p:nvSpPr>
            <p:cNvPr id="9252" name="Oval 35"/>
            <p:cNvSpPr>
              <a:spLocks noChangeArrowheads="1"/>
            </p:cNvSpPr>
            <p:nvPr/>
          </p:nvSpPr>
          <p:spPr bwMode="auto">
            <a:xfrm>
              <a:off x="2630" y="1979"/>
              <a:ext cx="1014" cy="318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3" name="Oval 36"/>
            <p:cNvSpPr>
              <a:spLocks noChangeArrowheads="1"/>
            </p:cNvSpPr>
            <p:nvPr/>
          </p:nvSpPr>
          <p:spPr bwMode="auto">
            <a:xfrm>
              <a:off x="2630" y="1958"/>
              <a:ext cx="1014" cy="3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4" name="Line 37"/>
            <p:cNvSpPr>
              <a:spLocks noChangeShapeType="1"/>
            </p:cNvSpPr>
            <p:nvPr/>
          </p:nvSpPr>
          <p:spPr bwMode="auto">
            <a:xfrm flipV="1">
              <a:off x="3134" y="854"/>
              <a:ext cx="0" cy="1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5" name="Line 38"/>
            <p:cNvSpPr>
              <a:spLocks noChangeShapeType="1"/>
            </p:cNvSpPr>
            <p:nvPr/>
          </p:nvSpPr>
          <p:spPr bwMode="auto">
            <a:xfrm>
              <a:off x="3134" y="2087"/>
              <a:ext cx="3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6" name="Text Box 39"/>
            <p:cNvSpPr txBox="1">
              <a:spLocks noChangeArrowheads="1"/>
            </p:cNvSpPr>
            <p:nvPr/>
          </p:nvSpPr>
          <p:spPr bwMode="auto">
            <a:xfrm>
              <a:off x="2968" y="2450"/>
              <a:ext cx="3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>
                  <a:sym typeface="Symbol" pitchFamily="18" charset="2"/>
                </a:rPr>
                <a:t>=0</a:t>
              </a:r>
            </a:p>
          </p:txBody>
        </p:sp>
        <p:sp>
          <p:nvSpPr>
            <p:cNvPr id="9257" name="Oval 40"/>
            <p:cNvSpPr>
              <a:spLocks noChangeArrowheads="1"/>
            </p:cNvSpPr>
            <p:nvPr/>
          </p:nvSpPr>
          <p:spPr bwMode="auto">
            <a:xfrm>
              <a:off x="3122" y="2255"/>
              <a:ext cx="27" cy="2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8" name="Line 41"/>
            <p:cNvSpPr>
              <a:spLocks noChangeShapeType="1"/>
            </p:cNvSpPr>
            <p:nvPr/>
          </p:nvSpPr>
          <p:spPr bwMode="auto">
            <a:xfrm>
              <a:off x="3134" y="2087"/>
              <a:ext cx="228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9" name="Line 42"/>
            <p:cNvSpPr>
              <a:spLocks noChangeShapeType="1"/>
            </p:cNvSpPr>
            <p:nvPr/>
          </p:nvSpPr>
          <p:spPr bwMode="auto">
            <a:xfrm flipH="1">
              <a:off x="2900" y="2090"/>
              <a:ext cx="228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0" name="Rectangle 43"/>
            <p:cNvSpPr>
              <a:spLocks noChangeArrowheads="1"/>
            </p:cNvSpPr>
            <p:nvPr/>
          </p:nvSpPr>
          <p:spPr bwMode="auto">
            <a:xfrm>
              <a:off x="2578" y="821"/>
              <a:ext cx="1143" cy="64"/>
            </a:xfrm>
            <a:prstGeom prst="rect">
              <a:avLst/>
            </a:prstGeom>
            <a:gradFill rotWithShape="1">
              <a:gsLst>
                <a:gs pos="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1" name="Arc 44"/>
            <p:cNvSpPr>
              <a:spLocks/>
            </p:cNvSpPr>
            <p:nvPr/>
          </p:nvSpPr>
          <p:spPr bwMode="auto">
            <a:xfrm flipH="1">
              <a:off x="2761" y="1322"/>
              <a:ext cx="804" cy="270"/>
            </a:xfrm>
            <a:custGeom>
              <a:avLst/>
              <a:gdLst>
                <a:gd name="T0" fmla="*/ 0 w 43200"/>
                <a:gd name="T1" fmla="*/ 0 h 42287"/>
                <a:gd name="T2" fmla="*/ 0 w 43200"/>
                <a:gd name="T3" fmla="*/ 0 h 42287"/>
                <a:gd name="T4" fmla="*/ 0 w 43200"/>
                <a:gd name="T5" fmla="*/ 0 h 42287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287"/>
                <a:gd name="T11" fmla="*/ 43200 w 43200"/>
                <a:gd name="T12" fmla="*/ 42287 h 422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287" fill="none" extrusionOk="0">
                  <a:moveTo>
                    <a:pt x="390" y="25688"/>
                  </a:moveTo>
                  <a:cubicBezTo>
                    <a:pt x="130" y="24341"/>
                    <a:pt x="0" y="22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135"/>
                    <a:pt x="36946" y="39543"/>
                    <a:pt x="27813" y="42286"/>
                  </a:cubicBezTo>
                </a:path>
                <a:path w="43200" h="42287" stroke="0" extrusionOk="0">
                  <a:moveTo>
                    <a:pt x="390" y="25688"/>
                  </a:moveTo>
                  <a:cubicBezTo>
                    <a:pt x="130" y="24341"/>
                    <a:pt x="0" y="22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135"/>
                    <a:pt x="36946" y="39543"/>
                    <a:pt x="27813" y="42286"/>
                  </a:cubicBezTo>
                  <a:lnTo>
                    <a:pt x="21600" y="21600"/>
                  </a:lnTo>
                  <a:lnTo>
                    <a:pt x="390" y="2568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2" name="Line 45"/>
            <p:cNvSpPr>
              <a:spLocks noChangeShapeType="1"/>
            </p:cNvSpPr>
            <p:nvPr/>
          </p:nvSpPr>
          <p:spPr bwMode="auto">
            <a:xfrm flipV="1">
              <a:off x="748" y="233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3" name="Line 46"/>
            <p:cNvSpPr>
              <a:spLocks noChangeShapeType="1"/>
            </p:cNvSpPr>
            <p:nvPr/>
          </p:nvSpPr>
          <p:spPr bwMode="auto">
            <a:xfrm flipV="1">
              <a:off x="1942" y="233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4" name="Line 47"/>
            <p:cNvSpPr>
              <a:spLocks noChangeShapeType="1"/>
            </p:cNvSpPr>
            <p:nvPr/>
          </p:nvSpPr>
          <p:spPr bwMode="auto">
            <a:xfrm flipV="1">
              <a:off x="3140" y="233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5" name="Line 48"/>
            <p:cNvSpPr>
              <a:spLocks noChangeShapeType="1"/>
            </p:cNvSpPr>
            <p:nvPr/>
          </p:nvSpPr>
          <p:spPr bwMode="auto">
            <a:xfrm flipV="1">
              <a:off x="4372" y="233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A07B31-FD5A-463A-B01C-F30679955A66}" type="slidenum">
              <a:rPr lang="en-US" smtClean="0"/>
              <a:pPr eaLnBrk="1" hangingPunct="1"/>
              <a:t>23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Torsional Pendulum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730375"/>
            <a:ext cx="4038600" cy="4395788"/>
          </a:xfrm>
        </p:spPr>
        <p:txBody>
          <a:bodyPr/>
          <a:lstStyle/>
          <a:p>
            <a:pPr eaLnBrk="1" hangingPunct="1"/>
            <a:r>
              <a:rPr lang="en-US"/>
              <a:t>SHM Problem</a:t>
            </a:r>
          </a:p>
        </p:txBody>
      </p:sp>
      <p:sp>
        <p:nvSpPr>
          <p:cNvPr id="1024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4243389"/>
            <a:ext cx="4038600" cy="1882775"/>
          </a:xfrm>
        </p:spPr>
        <p:txBody>
          <a:bodyPr/>
          <a:lstStyle/>
          <a:p>
            <a:pPr eaLnBrk="1" hangingPunct="1"/>
            <a:r>
              <a:rPr lang="en-US"/>
              <a:t>Solution</a:t>
            </a:r>
          </a:p>
        </p:txBody>
      </p:sp>
      <p:graphicFrame>
        <p:nvGraphicFramePr>
          <p:cNvPr id="10246" name="Object 5"/>
          <p:cNvGraphicFramePr>
            <a:graphicFrameLocks noChangeAspect="1"/>
          </p:cNvGraphicFramePr>
          <p:nvPr/>
        </p:nvGraphicFramePr>
        <p:xfrm>
          <a:off x="6624639" y="5037138"/>
          <a:ext cx="210978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200" imgH="228600" progId="Equation.3">
                  <p:embed/>
                </p:oleObj>
              </mc:Choice>
              <mc:Fallback>
                <p:oleObj name="Equation" r:id="rId2" imgW="1346200" imgH="228600" progId="Equation.3">
                  <p:embed/>
                  <p:pic>
                    <p:nvPicPr>
                      <p:cNvPr id="1024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4639" y="5037138"/>
                        <a:ext cx="210978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1524001" y="29823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10248" name="Group 7"/>
          <p:cNvGrpSpPr>
            <a:grpSpLocks/>
          </p:cNvGrpSpPr>
          <p:nvPr/>
        </p:nvGrpSpPr>
        <p:grpSpPr bwMode="auto">
          <a:xfrm>
            <a:off x="8243888" y="1597025"/>
            <a:ext cx="1814512" cy="2770188"/>
            <a:chOff x="1892" y="1398"/>
            <a:chExt cx="1143" cy="1745"/>
          </a:xfrm>
        </p:grpSpPr>
        <p:sp>
          <p:nvSpPr>
            <p:cNvPr id="10255" name="Oval 8"/>
            <p:cNvSpPr>
              <a:spLocks noChangeArrowheads="1"/>
            </p:cNvSpPr>
            <p:nvPr/>
          </p:nvSpPr>
          <p:spPr bwMode="auto">
            <a:xfrm>
              <a:off x="1944" y="2556"/>
              <a:ext cx="1014" cy="318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6" name="Oval 9"/>
            <p:cNvSpPr>
              <a:spLocks noChangeArrowheads="1"/>
            </p:cNvSpPr>
            <p:nvPr/>
          </p:nvSpPr>
          <p:spPr bwMode="auto">
            <a:xfrm>
              <a:off x="1944" y="2535"/>
              <a:ext cx="1014" cy="3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7" name="Line 10"/>
            <p:cNvSpPr>
              <a:spLocks noChangeShapeType="1"/>
            </p:cNvSpPr>
            <p:nvPr/>
          </p:nvSpPr>
          <p:spPr bwMode="auto">
            <a:xfrm flipV="1">
              <a:off x="2448" y="1431"/>
              <a:ext cx="0" cy="1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Line 11"/>
            <p:cNvSpPr>
              <a:spLocks noChangeShapeType="1"/>
            </p:cNvSpPr>
            <p:nvPr/>
          </p:nvSpPr>
          <p:spPr bwMode="auto">
            <a:xfrm>
              <a:off x="2448" y="2664"/>
              <a:ext cx="3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9" name="Text Box 12"/>
            <p:cNvSpPr txBox="1">
              <a:spLocks noChangeArrowheads="1"/>
            </p:cNvSpPr>
            <p:nvPr/>
          </p:nvSpPr>
          <p:spPr bwMode="auto">
            <a:xfrm>
              <a:off x="2354" y="2912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/>
                <a:t>P</a:t>
              </a:r>
            </a:p>
          </p:txBody>
        </p:sp>
        <p:sp>
          <p:nvSpPr>
            <p:cNvPr id="10260" name="Oval 13"/>
            <p:cNvSpPr>
              <a:spLocks noChangeArrowheads="1"/>
            </p:cNvSpPr>
            <p:nvPr/>
          </p:nvSpPr>
          <p:spPr bwMode="auto">
            <a:xfrm>
              <a:off x="2436" y="2832"/>
              <a:ext cx="27" cy="2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1" name="Line 14"/>
            <p:cNvSpPr>
              <a:spLocks noChangeShapeType="1"/>
            </p:cNvSpPr>
            <p:nvPr/>
          </p:nvSpPr>
          <p:spPr bwMode="auto">
            <a:xfrm>
              <a:off x="2448" y="2664"/>
              <a:ext cx="228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2" name="Line 15"/>
            <p:cNvSpPr>
              <a:spLocks noChangeShapeType="1"/>
            </p:cNvSpPr>
            <p:nvPr/>
          </p:nvSpPr>
          <p:spPr bwMode="auto">
            <a:xfrm flipH="1">
              <a:off x="2214" y="2667"/>
              <a:ext cx="228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3" name="Rectangle 16"/>
            <p:cNvSpPr>
              <a:spLocks noChangeArrowheads="1"/>
            </p:cNvSpPr>
            <p:nvPr/>
          </p:nvSpPr>
          <p:spPr bwMode="auto">
            <a:xfrm>
              <a:off x="1892" y="1398"/>
              <a:ext cx="1143" cy="64"/>
            </a:xfrm>
            <a:prstGeom prst="rect">
              <a:avLst/>
            </a:prstGeom>
            <a:gradFill rotWithShape="1">
              <a:gsLst>
                <a:gs pos="0">
                  <a:srgbClr val="993300"/>
                </a:gs>
                <a:gs pos="100000">
                  <a:srgbClr val="4718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9" name="Rectangle 1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50" name="Object 18"/>
          <p:cNvGraphicFramePr>
            <a:graphicFrameLocks noChangeAspect="1"/>
          </p:cNvGraphicFramePr>
          <p:nvPr/>
        </p:nvGraphicFramePr>
        <p:xfrm>
          <a:off x="2778126" y="2403475"/>
          <a:ext cx="15589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00100" imgH="419100" progId="Equation.3">
                  <p:embed/>
                </p:oleObj>
              </mc:Choice>
              <mc:Fallback>
                <p:oleObj name="Equation" r:id="rId4" imgW="800100" imgH="419100" progId="Equation.3">
                  <p:embed/>
                  <p:pic>
                    <p:nvPicPr>
                      <p:cNvPr id="1025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6" y="2403475"/>
                        <a:ext cx="15589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Rectangle 19"/>
          <p:cNvSpPr>
            <a:spLocks noChangeArrowheads="1"/>
          </p:cNvSpPr>
          <p:nvPr/>
        </p:nvSpPr>
        <p:spPr bwMode="auto">
          <a:xfrm>
            <a:off x="1524001" y="30062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52" name="Object 20"/>
          <p:cNvGraphicFramePr>
            <a:graphicFrameLocks noChangeAspect="1"/>
          </p:cNvGraphicFramePr>
          <p:nvPr/>
        </p:nvGraphicFramePr>
        <p:xfrm>
          <a:off x="3074988" y="3665539"/>
          <a:ext cx="1160462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85" imgH="393529" progId="Equation.3">
                  <p:embed/>
                </p:oleObj>
              </mc:Choice>
              <mc:Fallback>
                <p:oleObj name="Equation" r:id="rId6" imgW="495085" imgH="393529" progId="Equation.3">
                  <p:embed/>
                  <p:pic>
                    <p:nvPicPr>
                      <p:cNvPr id="1025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8" y="3665539"/>
                        <a:ext cx="1160462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Rectangle 21"/>
          <p:cNvSpPr>
            <a:spLocks noChangeArrowheads="1"/>
          </p:cNvSpPr>
          <p:nvPr/>
        </p:nvSpPr>
        <p:spPr bwMode="auto">
          <a:xfrm>
            <a:off x="1524001" y="29490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54" name="Object 22"/>
          <p:cNvGraphicFramePr>
            <a:graphicFrameLocks noChangeAspect="1"/>
          </p:cNvGraphicFramePr>
          <p:nvPr/>
        </p:nvGraphicFramePr>
        <p:xfrm>
          <a:off x="3035301" y="4930776"/>
          <a:ext cx="104616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0891" imgH="444307" progId="Equation.3">
                  <p:embed/>
                </p:oleObj>
              </mc:Choice>
              <mc:Fallback>
                <p:oleObj name="Equation" r:id="rId8" imgW="710891" imgH="444307" progId="Equation.3">
                  <p:embed/>
                  <p:pic>
                    <p:nvPicPr>
                      <p:cNvPr id="1025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1" y="4930776"/>
                        <a:ext cx="1046163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E6F04C5-04D0-4DA7-BF6F-E57D56AE5620}" type="slidenum">
              <a:rPr lang="en-US" smtClean="0"/>
              <a:pPr eaLnBrk="1" hangingPunct="1"/>
              <a:t>24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Damped Oscillations 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09A63A-F006-E248-95B0-24F9C5360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01454"/>
            <a:ext cx="4596772" cy="352835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8C19F6B-3C89-018C-164D-640DADACD52C}"/>
              </a:ext>
            </a:extLst>
          </p:cNvPr>
          <p:cNvSpPr/>
          <p:nvPr/>
        </p:nvSpPr>
        <p:spPr>
          <a:xfrm>
            <a:off x="9203635" y="2773017"/>
            <a:ext cx="467139" cy="4472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956C4F-4D87-9954-650C-1A9496D5708F}"/>
              </a:ext>
            </a:extLst>
          </p:cNvPr>
          <p:cNvCxnSpPr>
            <a:cxnSpLocks/>
          </p:cNvCxnSpPr>
          <p:nvPr/>
        </p:nvCxnSpPr>
        <p:spPr>
          <a:xfrm flipH="1" flipV="1">
            <a:off x="9437203" y="1586204"/>
            <a:ext cx="1" cy="11868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EDD62D-B4CA-BBB1-8B25-81F94A62BAD7}"/>
              </a:ext>
            </a:extLst>
          </p:cNvPr>
          <p:cNvCxnSpPr>
            <a:cxnSpLocks/>
          </p:cNvCxnSpPr>
          <p:nvPr/>
        </p:nvCxnSpPr>
        <p:spPr>
          <a:xfrm>
            <a:off x="9343898" y="3220278"/>
            <a:ext cx="0" cy="100648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FF504C-281A-FAB0-61F0-C3C7E14FB7BE}"/>
              </a:ext>
            </a:extLst>
          </p:cNvPr>
          <p:cNvCxnSpPr>
            <a:cxnSpLocks/>
          </p:cNvCxnSpPr>
          <p:nvPr/>
        </p:nvCxnSpPr>
        <p:spPr>
          <a:xfrm>
            <a:off x="9514959" y="3220278"/>
            <a:ext cx="0" cy="71230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789F83D-FD8C-ECAD-FDA5-8FD4D44F513F}"/>
              </a:ext>
            </a:extLst>
          </p:cNvPr>
          <p:cNvSpPr txBox="1"/>
          <p:nvPr/>
        </p:nvSpPr>
        <p:spPr>
          <a:xfrm>
            <a:off x="9514959" y="1581862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</a:t>
            </a:r>
            <a:r>
              <a:rPr lang="en-US" baseline="-25000" dirty="0" err="1"/>
              <a:t>ms</a:t>
            </a:r>
            <a:endParaRPr lang="en-US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7BED4-5D27-E7B4-1FA6-AA2E0BEB8E3F}"/>
              </a:ext>
            </a:extLst>
          </p:cNvPr>
          <p:cNvSpPr txBox="1"/>
          <p:nvPr/>
        </p:nvSpPr>
        <p:spPr>
          <a:xfrm>
            <a:off x="8625340" y="342900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</a:t>
            </a:r>
            <a:r>
              <a:rPr lang="en-US" baseline="-25000" dirty="0" err="1"/>
              <a:t>mf</a:t>
            </a:r>
            <a:endParaRPr lang="en-US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C256E5-826A-321E-EBE6-2857D1C22954}"/>
              </a:ext>
            </a:extLst>
          </p:cNvPr>
          <p:cNvSpPr txBox="1"/>
          <p:nvPr/>
        </p:nvSpPr>
        <p:spPr>
          <a:xfrm>
            <a:off x="9686020" y="3391765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</a:t>
            </a:r>
            <a:r>
              <a:rPr lang="en-US" baseline="-25000" dirty="0" err="1"/>
              <a:t>mE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79835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6.14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371601"/>
            <a:ext cx="3886200" cy="4754563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en-US" sz="2000" dirty="0"/>
              <a:t>I have placed a red pen in my SHM gizmo and started the chart moving. I get a strip chart that looks like the page shown to the right. What can you conclude about my oscillator system</a:t>
            </a:r>
          </a:p>
          <a:p>
            <a:pPr marL="457200" indent="-457200">
              <a:buFontTx/>
              <a:buAutoNum type="alphaLcParenR"/>
              <a:defRPr/>
            </a:pPr>
            <a:r>
              <a:rPr lang="en-US" sz="2000" dirty="0"/>
              <a:t>The machine is broken</a:t>
            </a:r>
          </a:p>
          <a:p>
            <a:pPr marL="457200" indent="-457200">
              <a:buFontTx/>
              <a:buAutoNum type="alphaLcParenR"/>
              <a:defRPr/>
            </a:pPr>
            <a:r>
              <a:rPr lang="en-US" sz="2000" dirty="0"/>
              <a:t>The oscillator experiences friction of some sort</a:t>
            </a:r>
          </a:p>
          <a:p>
            <a:pPr marL="457200" indent="-457200">
              <a:buFontTx/>
              <a:buAutoNum type="alphaLcParenR"/>
              <a:defRPr/>
            </a:pPr>
            <a:r>
              <a:rPr lang="en-US" sz="2000" dirty="0"/>
              <a:t>The oscillator is losing mass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7026276" y="3429000"/>
            <a:ext cx="2879725" cy="137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449542" name="Group 5"/>
          <p:cNvGrpSpPr>
            <a:grpSpLocks noChangeAspect="1"/>
          </p:cNvGrpSpPr>
          <p:nvPr/>
        </p:nvGrpSpPr>
        <p:grpSpPr bwMode="auto">
          <a:xfrm>
            <a:off x="7178621" y="715158"/>
            <a:ext cx="2687639" cy="3917134"/>
            <a:chOff x="3264" y="1075"/>
            <a:chExt cx="1693" cy="2467"/>
          </a:xfrm>
        </p:grpSpPr>
        <p:sp>
          <p:nvSpPr>
            <p:cNvPr id="449543" name="AutoShape 4"/>
            <p:cNvSpPr>
              <a:spLocks noChangeAspect="1" noChangeArrowheads="1" noTextEdit="1"/>
            </p:cNvSpPr>
            <p:nvPr/>
          </p:nvSpPr>
          <p:spPr bwMode="auto">
            <a:xfrm>
              <a:off x="3264" y="2880"/>
              <a:ext cx="1520" cy="6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44" name="Rectangle 6"/>
            <p:cNvSpPr>
              <a:spLocks noChangeArrowheads="1"/>
            </p:cNvSpPr>
            <p:nvPr/>
          </p:nvSpPr>
          <p:spPr bwMode="auto">
            <a:xfrm>
              <a:off x="3264" y="2815"/>
              <a:ext cx="0" cy="17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dirty="0">
                <a:cs typeface="Arial" charset="0"/>
              </a:endParaRPr>
            </a:p>
          </p:txBody>
        </p:sp>
        <p:sp>
          <p:nvSpPr>
            <p:cNvPr id="449545" name="Rectangle 7"/>
            <p:cNvSpPr>
              <a:spLocks noChangeArrowheads="1"/>
            </p:cNvSpPr>
            <p:nvPr/>
          </p:nvSpPr>
          <p:spPr bwMode="auto">
            <a:xfrm>
              <a:off x="3264" y="2815"/>
              <a:ext cx="0" cy="17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dirty="0">
                <a:cs typeface="Arial" charset="0"/>
              </a:endParaRPr>
            </a:p>
          </p:txBody>
        </p:sp>
        <p:sp>
          <p:nvSpPr>
            <p:cNvPr id="449546" name="Rectangle 8"/>
            <p:cNvSpPr>
              <a:spLocks noChangeArrowheads="1"/>
            </p:cNvSpPr>
            <p:nvPr/>
          </p:nvSpPr>
          <p:spPr bwMode="auto">
            <a:xfrm>
              <a:off x="3264" y="2815"/>
              <a:ext cx="0" cy="17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dirty="0">
                <a:cs typeface="Arial" charset="0"/>
              </a:endParaRPr>
            </a:p>
          </p:txBody>
        </p:sp>
        <p:sp>
          <p:nvSpPr>
            <p:cNvPr id="449547" name="Line 9"/>
            <p:cNvSpPr>
              <a:spLocks noChangeShapeType="1"/>
            </p:cNvSpPr>
            <p:nvPr/>
          </p:nvSpPr>
          <p:spPr bwMode="auto">
            <a:xfrm>
              <a:off x="3298" y="2914"/>
              <a:ext cx="14" cy="9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48" name="Line 10"/>
            <p:cNvSpPr>
              <a:spLocks noChangeShapeType="1"/>
            </p:cNvSpPr>
            <p:nvPr/>
          </p:nvSpPr>
          <p:spPr bwMode="auto">
            <a:xfrm>
              <a:off x="3312" y="3005"/>
              <a:ext cx="15" cy="19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49" name="Line 11"/>
            <p:cNvSpPr>
              <a:spLocks noChangeShapeType="1"/>
            </p:cNvSpPr>
            <p:nvPr/>
          </p:nvSpPr>
          <p:spPr bwMode="auto">
            <a:xfrm>
              <a:off x="3327" y="3204"/>
              <a:ext cx="15" cy="187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50" name="Line 12"/>
            <p:cNvSpPr>
              <a:spLocks noChangeShapeType="1"/>
            </p:cNvSpPr>
            <p:nvPr/>
          </p:nvSpPr>
          <p:spPr bwMode="auto">
            <a:xfrm>
              <a:off x="3342" y="3391"/>
              <a:ext cx="14" cy="7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51" name="Line 13"/>
            <p:cNvSpPr>
              <a:spLocks noChangeShapeType="1"/>
            </p:cNvSpPr>
            <p:nvPr/>
          </p:nvSpPr>
          <p:spPr bwMode="auto">
            <a:xfrm flipV="1">
              <a:off x="3356" y="3388"/>
              <a:ext cx="15" cy="75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52" name="Line 14"/>
            <p:cNvSpPr>
              <a:spLocks noChangeShapeType="1"/>
            </p:cNvSpPr>
            <p:nvPr/>
          </p:nvSpPr>
          <p:spPr bwMode="auto">
            <a:xfrm flipV="1">
              <a:off x="3371" y="3217"/>
              <a:ext cx="15" cy="17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53" name="Line 15"/>
            <p:cNvSpPr>
              <a:spLocks noChangeShapeType="1"/>
            </p:cNvSpPr>
            <p:nvPr/>
          </p:nvSpPr>
          <p:spPr bwMode="auto">
            <a:xfrm flipV="1">
              <a:off x="3386" y="3053"/>
              <a:ext cx="14" cy="164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54" name="Line 16"/>
            <p:cNvSpPr>
              <a:spLocks noChangeShapeType="1"/>
            </p:cNvSpPr>
            <p:nvPr/>
          </p:nvSpPr>
          <p:spPr bwMode="auto">
            <a:xfrm flipV="1">
              <a:off x="3400" y="2986"/>
              <a:ext cx="15" cy="67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55" name="Line 17"/>
            <p:cNvSpPr>
              <a:spLocks noChangeShapeType="1"/>
            </p:cNvSpPr>
            <p:nvPr/>
          </p:nvSpPr>
          <p:spPr bwMode="auto">
            <a:xfrm>
              <a:off x="3415" y="2986"/>
              <a:ext cx="14" cy="6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56" name="Line 18"/>
            <p:cNvSpPr>
              <a:spLocks noChangeShapeType="1"/>
            </p:cNvSpPr>
            <p:nvPr/>
          </p:nvSpPr>
          <p:spPr bwMode="auto">
            <a:xfrm>
              <a:off x="3429" y="3047"/>
              <a:ext cx="15" cy="147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57" name="Line 19"/>
            <p:cNvSpPr>
              <a:spLocks noChangeShapeType="1"/>
            </p:cNvSpPr>
            <p:nvPr/>
          </p:nvSpPr>
          <p:spPr bwMode="auto">
            <a:xfrm>
              <a:off x="3444" y="3194"/>
              <a:ext cx="15" cy="144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58" name="Line 20"/>
            <p:cNvSpPr>
              <a:spLocks noChangeShapeType="1"/>
            </p:cNvSpPr>
            <p:nvPr/>
          </p:nvSpPr>
          <p:spPr bwMode="auto">
            <a:xfrm>
              <a:off x="3459" y="3338"/>
              <a:ext cx="14" cy="6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59" name="Line 21"/>
            <p:cNvSpPr>
              <a:spLocks noChangeShapeType="1"/>
            </p:cNvSpPr>
            <p:nvPr/>
          </p:nvSpPr>
          <p:spPr bwMode="auto">
            <a:xfrm flipV="1">
              <a:off x="3473" y="3350"/>
              <a:ext cx="15" cy="4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60" name="Line 22"/>
            <p:cNvSpPr>
              <a:spLocks noChangeShapeType="1"/>
            </p:cNvSpPr>
            <p:nvPr/>
          </p:nvSpPr>
          <p:spPr bwMode="auto">
            <a:xfrm flipV="1">
              <a:off x="3488" y="3224"/>
              <a:ext cx="15" cy="12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61" name="Line 23"/>
            <p:cNvSpPr>
              <a:spLocks noChangeShapeType="1"/>
            </p:cNvSpPr>
            <p:nvPr/>
          </p:nvSpPr>
          <p:spPr bwMode="auto">
            <a:xfrm flipV="1">
              <a:off x="3503" y="3098"/>
              <a:ext cx="14" cy="12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62" name="Line 24"/>
            <p:cNvSpPr>
              <a:spLocks noChangeShapeType="1"/>
            </p:cNvSpPr>
            <p:nvPr/>
          </p:nvSpPr>
          <p:spPr bwMode="auto">
            <a:xfrm flipV="1">
              <a:off x="3517" y="3041"/>
              <a:ext cx="15" cy="57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63" name="Line 25"/>
            <p:cNvSpPr>
              <a:spLocks noChangeShapeType="1"/>
            </p:cNvSpPr>
            <p:nvPr/>
          </p:nvSpPr>
          <p:spPr bwMode="auto">
            <a:xfrm>
              <a:off x="3532" y="3041"/>
              <a:ext cx="15" cy="40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64" name="Line 26"/>
            <p:cNvSpPr>
              <a:spLocks noChangeShapeType="1"/>
            </p:cNvSpPr>
            <p:nvPr/>
          </p:nvSpPr>
          <p:spPr bwMode="auto">
            <a:xfrm>
              <a:off x="3547" y="3081"/>
              <a:ext cx="14" cy="108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65" name="Line 27"/>
            <p:cNvSpPr>
              <a:spLocks noChangeShapeType="1"/>
            </p:cNvSpPr>
            <p:nvPr/>
          </p:nvSpPr>
          <p:spPr bwMode="auto">
            <a:xfrm>
              <a:off x="3561" y="3189"/>
              <a:ext cx="15" cy="11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66" name="Line 28"/>
            <p:cNvSpPr>
              <a:spLocks noChangeShapeType="1"/>
            </p:cNvSpPr>
            <p:nvPr/>
          </p:nvSpPr>
          <p:spPr bwMode="auto">
            <a:xfrm>
              <a:off x="3576" y="3300"/>
              <a:ext cx="15" cy="5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67" name="Line 29"/>
            <p:cNvSpPr>
              <a:spLocks noChangeShapeType="1"/>
            </p:cNvSpPr>
            <p:nvPr/>
          </p:nvSpPr>
          <p:spPr bwMode="auto">
            <a:xfrm flipV="1">
              <a:off x="3591" y="3320"/>
              <a:ext cx="14" cy="3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68" name="Line 30"/>
            <p:cNvSpPr>
              <a:spLocks noChangeShapeType="1"/>
            </p:cNvSpPr>
            <p:nvPr/>
          </p:nvSpPr>
          <p:spPr bwMode="auto">
            <a:xfrm flipV="1">
              <a:off x="3605" y="3227"/>
              <a:ext cx="15" cy="93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69" name="Line 31"/>
            <p:cNvSpPr>
              <a:spLocks noChangeShapeType="1"/>
            </p:cNvSpPr>
            <p:nvPr/>
          </p:nvSpPr>
          <p:spPr bwMode="auto">
            <a:xfrm flipV="1">
              <a:off x="3620" y="3131"/>
              <a:ext cx="15" cy="9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70" name="Line 32"/>
            <p:cNvSpPr>
              <a:spLocks noChangeShapeType="1"/>
            </p:cNvSpPr>
            <p:nvPr/>
          </p:nvSpPr>
          <p:spPr bwMode="auto">
            <a:xfrm flipV="1">
              <a:off x="3635" y="3083"/>
              <a:ext cx="14" cy="48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71" name="Line 33"/>
            <p:cNvSpPr>
              <a:spLocks noChangeShapeType="1"/>
            </p:cNvSpPr>
            <p:nvPr/>
          </p:nvSpPr>
          <p:spPr bwMode="auto">
            <a:xfrm>
              <a:off x="3649" y="3083"/>
              <a:ext cx="15" cy="25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72" name="Line 34"/>
            <p:cNvSpPr>
              <a:spLocks noChangeShapeType="1"/>
            </p:cNvSpPr>
            <p:nvPr/>
          </p:nvSpPr>
          <p:spPr bwMode="auto">
            <a:xfrm>
              <a:off x="3664" y="3108"/>
              <a:ext cx="15" cy="7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73" name="Line 35"/>
            <p:cNvSpPr>
              <a:spLocks noChangeShapeType="1"/>
            </p:cNvSpPr>
            <p:nvPr/>
          </p:nvSpPr>
          <p:spPr bwMode="auto">
            <a:xfrm>
              <a:off x="3679" y="3187"/>
              <a:ext cx="14" cy="85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74" name="Line 36"/>
            <p:cNvSpPr>
              <a:spLocks noChangeShapeType="1"/>
            </p:cNvSpPr>
            <p:nvPr/>
          </p:nvSpPr>
          <p:spPr bwMode="auto">
            <a:xfrm>
              <a:off x="3693" y="3272"/>
              <a:ext cx="15" cy="43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75" name="Line 37"/>
            <p:cNvSpPr>
              <a:spLocks noChangeShapeType="1"/>
            </p:cNvSpPr>
            <p:nvPr/>
          </p:nvSpPr>
          <p:spPr bwMode="auto">
            <a:xfrm flipV="1">
              <a:off x="3708" y="3295"/>
              <a:ext cx="15" cy="20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76" name="Line 38"/>
            <p:cNvSpPr>
              <a:spLocks noChangeShapeType="1"/>
            </p:cNvSpPr>
            <p:nvPr/>
          </p:nvSpPr>
          <p:spPr bwMode="auto">
            <a:xfrm flipV="1">
              <a:off x="3723" y="3228"/>
              <a:ext cx="14" cy="67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77" name="Line 39"/>
            <p:cNvSpPr>
              <a:spLocks noChangeShapeType="1"/>
            </p:cNvSpPr>
            <p:nvPr/>
          </p:nvSpPr>
          <p:spPr bwMode="auto">
            <a:xfrm flipV="1">
              <a:off x="3737" y="3154"/>
              <a:ext cx="15" cy="74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78" name="Line 40"/>
            <p:cNvSpPr>
              <a:spLocks noChangeShapeType="1"/>
            </p:cNvSpPr>
            <p:nvPr/>
          </p:nvSpPr>
          <p:spPr bwMode="auto">
            <a:xfrm flipV="1">
              <a:off x="3752" y="3115"/>
              <a:ext cx="15" cy="3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79" name="Line 41"/>
            <p:cNvSpPr>
              <a:spLocks noChangeShapeType="1"/>
            </p:cNvSpPr>
            <p:nvPr/>
          </p:nvSpPr>
          <p:spPr bwMode="auto">
            <a:xfrm>
              <a:off x="3767" y="3115"/>
              <a:ext cx="14" cy="15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80" name="Line 42"/>
            <p:cNvSpPr>
              <a:spLocks noChangeShapeType="1"/>
            </p:cNvSpPr>
            <p:nvPr/>
          </p:nvSpPr>
          <p:spPr bwMode="auto">
            <a:xfrm>
              <a:off x="3781" y="3130"/>
              <a:ext cx="15" cy="58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81" name="Line 43"/>
            <p:cNvSpPr>
              <a:spLocks noChangeShapeType="1"/>
            </p:cNvSpPr>
            <p:nvPr/>
          </p:nvSpPr>
          <p:spPr bwMode="auto">
            <a:xfrm>
              <a:off x="3796" y="3188"/>
              <a:ext cx="15" cy="64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82" name="Line 44"/>
            <p:cNvSpPr>
              <a:spLocks noChangeShapeType="1"/>
            </p:cNvSpPr>
            <p:nvPr/>
          </p:nvSpPr>
          <p:spPr bwMode="auto">
            <a:xfrm>
              <a:off x="3811" y="3252"/>
              <a:ext cx="14" cy="3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83" name="Line 45"/>
            <p:cNvSpPr>
              <a:spLocks noChangeShapeType="1"/>
            </p:cNvSpPr>
            <p:nvPr/>
          </p:nvSpPr>
          <p:spPr bwMode="auto">
            <a:xfrm flipV="1">
              <a:off x="3825" y="3276"/>
              <a:ext cx="15" cy="1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84" name="Line 46"/>
            <p:cNvSpPr>
              <a:spLocks noChangeShapeType="1"/>
            </p:cNvSpPr>
            <p:nvPr/>
          </p:nvSpPr>
          <p:spPr bwMode="auto">
            <a:xfrm flipV="1">
              <a:off x="3840" y="3227"/>
              <a:ext cx="15" cy="4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85" name="Line 47"/>
            <p:cNvSpPr>
              <a:spLocks noChangeShapeType="1"/>
            </p:cNvSpPr>
            <p:nvPr/>
          </p:nvSpPr>
          <p:spPr bwMode="auto">
            <a:xfrm flipV="1">
              <a:off x="3855" y="3170"/>
              <a:ext cx="14" cy="57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86" name="Line 48"/>
            <p:cNvSpPr>
              <a:spLocks noChangeShapeType="1"/>
            </p:cNvSpPr>
            <p:nvPr/>
          </p:nvSpPr>
          <p:spPr bwMode="auto">
            <a:xfrm flipV="1">
              <a:off x="3869" y="3139"/>
              <a:ext cx="15" cy="3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87" name="Line 49"/>
            <p:cNvSpPr>
              <a:spLocks noChangeShapeType="1"/>
            </p:cNvSpPr>
            <p:nvPr/>
          </p:nvSpPr>
          <p:spPr bwMode="auto">
            <a:xfrm>
              <a:off x="3884" y="3139"/>
              <a:ext cx="15" cy="8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88" name="Line 50"/>
            <p:cNvSpPr>
              <a:spLocks noChangeShapeType="1"/>
            </p:cNvSpPr>
            <p:nvPr/>
          </p:nvSpPr>
          <p:spPr bwMode="auto">
            <a:xfrm>
              <a:off x="3899" y="3147"/>
              <a:ext cx="14" cy="4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89" name="Line 51"/>
            <p:cNvSpPr>
              <a:spLocks noChangeShapeType="1"/>
            </p:cNvSpPr>
            <p:nvPr/>
          </p:nvSpPr>
          <p:spPr bwMode="auto">
            <a:xfrm>
              <a:off x="3913" y="3189"/>
              <a:ext cx="15" cy="4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90" name="Line 52"/>
            <p:cNvSpPr>
              <a:spLocks noChangeShapeType="1"/>
            </p:cNvSpPr>
            <p:nvPr/>
          </p:nvSpPr>
          <p:spPr bwMode="auto">
            <a:xfrm>
              <a:off x="3928" y="3238"/>
              <a:ext cx="14" cy="2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91" name="Line 53"/>
            <p:cNvSpPr>
              <a:spLocks noChangeShapeType="1"/>
            </p:cNvSpPr>
            <p:nvPr/>
          </p:nvSpPr>
          <p:spPr bwMode="auto">
            <a:xfrm flipV="1">
              <a:off x="3942" y="3261"/>
              <a:ext cx="15" cy="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92" name="Line 54"/>
            <p:cNvSpPr>
              <a:spLocks noChangeShapeType="1"/>
            </p:cNvSpPr>
            <p:nvPr/>
          </p:nvSpPr>
          <p:spPr bwMode="auto">
            <a:xfrm flipV="1">
              <a:off x="3957" y="3225"/>
              <a:ext cx="15" cy="3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93" name="Line 55"/>
            <p:cNvSpPr>
              <a:spLocks noChangeShapeType="1"/>
            </p:cNvSpPr>
            <p:nvPr/>
          </p:nvSpPr>
          <p:spPr bwMode="auto">
            <a:xfrm flipV="1">
              <a:off x="3972" y="3182"/>
              <a:ext cx="14" cy="43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94" name="Line 56"/>
            <p:cNvSpPr>
              <a:spLocks noChangeShapeType="1"/>
            </p:cNvSpPr>
            <p:nvPr/>
          </p:nvSpPr>
          <p:spPr bwMode="auto">
            <a:xfrm flipV="1">
              <a:off x="3986" y="3156"/>
              <a:ext cx="15" cy="2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95" name="Line 57"/>
            <p:cNvSpPr>
              <a:spLocks noChangeShapeType="1"/>
            </p:cNvSpPr>
            <p:nvPr/>
          </p:nvSpPr>
          <p:spPr bwMode="auto">
            <a:xfrm>
              <a:off x="4001" y="3156"/>
              <a:ext cx="15" cy="5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96" name="Line 58"/>
            <p:cNvSpPr>
              <a:spLocks noChangeShapeType="1"/>
            </p:cNvSpPr>
            <p:nvPr/>
          </p:nvSpPr>
          <p:spPr bwMode="auto">
            <a:xfrm>
              <a:off x="4016" y="3161"/>
              <a:ext cx="14" cy="30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97" name="Line 59"/>
            <p:cNvSpPr>
              <a:spLocks noChangeShapeType="1"/>
            </p:cNvSpPr>
            <p:nvPr/>
          </p:nvSpPr>
          <p:spPr bwMode="auto">
            <a:xfrm>
              <a:off x="4030" y="3191"/>
              <a:ext cx="15" cy="37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98" name="Line 60"/>
            <p:cNvSpPr>
              <a:spLocks noChangeShapeType="1"/>
            </p:cNvSpPr>
            <p:nvPr/>
          </p:nvSpPr>
          <p:spPr bwMode="auto">
            <a:xfrm>
              <a:off x="4045" y="3228"/>
              <a:ext cx="15" cy="24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599" name="Line 61"/>
            <p:cNvSpPr>
              <a:spLocks noChangeShapeType="1"/>
            </p:cNvSpPr>
            <p:nvPr/>
          </p:nvSpPr>
          <p:spPr bwMode="auto">
            <a:xfrm flipV="1">
              <a:off x="4060" y="3249"/>
              <a:ext cx="14" cy="3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00" name="Line 62"/>
            <p:cNvSpPr>
              <a:spLocks noChangeShapeType="1"/>
            </p:cNvSpPr>
            <p:nvPr/>
          </p:nvSpPr>
          <p:spPr bwMode="auto">
            <a:xfrm flipV="1">
              <a:off x="4074" y="3223"/>
              <a:ext cx="15" cy="2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01" name="Line 63"/>
            <p:cNvSpPr>
              <a:spLocks noChangeShapeType="1"/>
            </p:cNvSpPr>
            <p:nvPr/>
          </p:nvSpPr>
          <p:spPr bwMode="auto">
            <a:xfrm flipV="1">
              <a:off x="4089" y="3191"/>
              <a:ext cx="15" cy="3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02" name="Line 64"/>
            <p:cNvSpPr>
              <a:spLocks noChangeShapeType="1"/>
            </p:cNvSpPr>
            <p:nvPr/>
          </p:nvSpPr>
          <p:spPr bwMode="auto">
            <a:xfrm flipV="1">
              <a:off x="4104" y="3170"/>
              <a:ext cx="14" cy="2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03" name="Line 65"/>
            <p:cNvSpPr>
              <a:spLocks noChangeShapeType="1"/>
            </p:cNvSpPr>
            <p:nvPr/>
          </p:nvSpPr>
          <p:spPr bwMode="auto">
            <a:xfrm>
              <a:off x="4118" y="3170"/>
              <a:ext cx="15" cy="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04" name="Line 66"/>
            <p:cNvSpPr>
              <a:spLocks noChangeShapeType="1"/>
            </p:cNvSpPr>
            <p:nvPr/>
          </p:nvSpPr>
          <p:spPr bwMode="auto">
            <a:xfrm>
              <a:off x="4133" y="3171"/>
              <a:ext cx="15" cy="2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05" name="Line 67"/>
            <p:cNvSpPr>
              <a:spLocks noChangeShapeType="1"/>
            </p:cNvSpPr>
            <p:nvPr/>
          </p:nvSpPr>
          <p:spPr bwMode="auto">
            <a:xfrm>
              <a:off x="4148" y="3193"/>
              <a:ext cx="14" cy="28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06" name="Line 68"/>
            <p:cNvSpPr>
              <a:spLocks noChangeShapeType="1"/>
            </p:cNvSpPr>
            <p:nvPr/>
          </p:nvSpPr>
          <p:spPr bwMode="auto">
            <a:xfrm>
              <a:off x="4162" y="3221"/>
              <a:ext cx="15" cy="1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07" name="Line 69"/>
            <p:cNvSpPr>
              <a:spLocks noChangeShapeType="1"/>
            </p:cNvSpPr>
            <p:nvPr/>
          </p:nvSpPr>
          <p:spPr bwMode="auto">
            <a:xfrm flipV="1">
              <a:off x="4177" y="3239"/>
              <a:ext cx="15" cy="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08" name="Line 70"/>
            <p:cNvSpPr>
              <a:spLocks noChangeShapeType="1"/>
            </p:cNvSpPr>
            <p:nvPr/>
          </p:nvSpPr>
          <p:spPr bwMode="auto">
            <a:xfrm flipV="1">
              <a:off x="4192" y="3221"/>
              <a:ext cx="14" cy="18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09" name="Line 71"/>
            <p:cNvSpPr>
              <a:spLocks noChangeShapeType="1"/>
            </p:cNvSpPr>
            <p:nvPr/>
          </p:nvSpPr>
          <p:spPr bwMode="auto">
            <a:xfrm flipV="1">
              <a:off x="4206" y="3196"/>
              <a:ext cx="15" cy="25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10" name="Line 72"/>
            <p:cNvSpPr>
              <a:spLocks noChangeShapeType="1"/>
            </p:cNvSpPr>
            <p:nvPr/>
          </p:nvSpPr>
          <p:spPr bwMode="auto">
            <a:xfrm flipV="1">
              <a:off x="4221" y="3180"/>
              <a:ext cx="15" cy="1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11" name="Line 73"/>
            <p:cNvSpPr>
              <a:spLocks noChangeShapeType="1"/>
            </p:cNvSpPr>
            <p:nvPr/>
          </p:nvSpPr>
          <p:spPr bwMode="auto">
            <a:xfrm>
              <a:off x="4236" y="3180"/>
              <a:ext cx="14" cy="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12" name="Line 74"/>
            <p:cNvSpPr>
              <a:spLocks noChangeShapeType="1"/>
            </p:cNvSpPr>
            <p:nvPr/>
          </p:nvSpPr>
          <p:spPr bwMode="auto">
            <a:xfrm>
              <a:off x="4250" y="3180"/>
              <a:ext cx="15" cy="15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13" name="Line 75"/>
            <p:cNvSpPr>
              <a:spLocks noChangeShapeType="1"/>
            </p:cNvSpPr>
            <p:nvPr/>
          </p:nvSpPr>
          <p:spPr bwMode="auto">
            <a:xfrm>
              <a:off x="4265" y="3195"/>
              <a:ext cx="15" cy="2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14" name="Line 76"/>
            <p:cNvSpPr>
              <a:spLocks noChangeShapeType="1"/>
            </p:cNvSpPr>
            <p:nvPr/>
          </p:nvSpPr>
          <p:spPr bwMode="auto">
            <a:xfrm>
              <a:off x="4280" y="3217"/>
              <a:ext cx="14" cy="15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15" name="Line 77"/>
            <p:cNvSpPr>
              <a:spLocks noChangeShapeType="1"/>
            </p:cNvSpPr>
            <p:nvPr/>
          </p:nvSpPr>
          <p:spPr bwMode="auto">
            <a:xfrm>
              <a:off x="4294" y="3232"/>
              <a:ext cx="15" cy="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16" name="Line 78"/>
            <p:cNvSpPr>
              <a:spLocks noChangeShapeType="1"/>
            </p:cNvSpPr>
            <p:nvPr/>
          </p:nvSpPr>
          <p:spPr bwMode="auto">
            <a:xfrm flipV="1">
              <a:off x="4309" y="3219"/>
              <a:ext cx="15" cy="13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17" name="Line 79"/>
            <p:cNvSpPr>
              <a:spLocks noChangeShapeType="1"/>
            </p:cNvSpPr>
            <p:nvPr/>
          </p:nvSpPr>
          <p:spPr bwMode="auto">
            <a:xfrm flipV="1">
              <a:off x="4324" y="3200"/>
              <a:ext cx="14" cy="1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18" name="Line 80"/>
            <p:cNvSpPr>
              <a:spLocks noChangeShapeType="1"/>
            </p:cNvSpPr>
            <p:nvPr/>
          </p:nvSpPr>
          <p:spPr bwMode="auto">
            <a:xfrm flipV="1">
              <a:off x="4338" y="3187"/>
              <a:ext cx="15" cy="13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19" name="Line 81"/>
            <p:cNvSpPr>
              <a:spLocks noChangeShapeType="1"/>
            </p:cNvSpPr>
            <p:nvPr/>
          </p:nvSpPr>
          <p:spPr bwMode="auto">
            <a:xfrm flipV="1">
              <a:off x="4353" y="3186"/>
              <a:ext cx="15" cy="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20" name="Line 82"/>
            <p:cNvSpPr>
              <a:spLocks noChangeShapeType="1"/>
            </p:cNvSpPr>
            <p:nvPr/>
          </p:nvSpPr>
          <p:spPr bwMode="auto">
            <a:xfrm>
              <a:off x="4368" y="3186"/>
              <a:ext cx="14" cy="1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21" name="Line 83"/>
            <p:cNvSpPr>
              <a:spLocks noChangeShapeType="1"/>
            </p:cNvSpPr>
            <p:nvPr/>
          </p:nvSpPr>
          <p:spPr bwMode="auto">
            <a:xfrm>
              <a:off x="4382" y="3197"/>
              <a:ext cx="15" cy="1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22" name="Line 84"/>
            <p:cNvSpPr>
              <a:spLocks noChangeShapeType="1"/>
            </p:cNvSpPr>
            <p:nvPr/>
          </p:nvSpPr>
          <p:spPr bwMode="auto">
            <a:xfrm>
              <a:off x="4397" y="3213"/>
              <a:ext cx="14" cy="1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23" name="Line 85"/>
            <p:cNvSpPr>
              <a:spLocks noChangeShapeType="1"/>
            </p:cNvSpPr>
            <p:nvPr/>
          </p:nvSpPr>
          <p:spPr bwMode="auto">
            <a:xfrm>
              <a:off x="4411" y="3225"/>
              <a:ext cx="15" cy="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24" name="Line 86"/>
            <p:cNvSpPr>
              <a:spLocks noChangeShapeType="1"/>
            </p:cNvSpPr>
            <p:nvPr/>
          </p:nvSpPr>
          <p:spPr bwMode="auto">
            <a:xfrm flipV="1">
              <a:off x="4426" y="3217"/>
              <a:ext cx="15" cy="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25" name="Line 87"/>
            <p:cNvSpPr>
              <a:spLocks noChangeShapeType="1"/>
            </p:cNvSpPr>
            <p:nvPr/>
          </p:nvSpPr>
          <p:spPr bwMode="auto">
            <a:xfrm flipV="1">
              <a:off x="4441" y="3203"/>
              <a:ext cx="14" cy="14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26" name="Line 88"/>
            <p:cNvSpPr>
              <a:spLocks noChangeShapeType="1"/>
            </p:cNvSpPr>
            <p:nvPr/>
          </p:nvSpPr>
          <p:spPr bwMode="auto">
            <a:xfrm flipV="1">
              <a:off x="4455" y="3193"/>
              <a:ext cx="15" cy="10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27" name="Line 89"/>
            <p:cNvSpPr>
              <a:spLocks noChangeShapeType="1"/>
            </p:cNvSpPr>
            <p:nvPr/>
          </p:nvSpPr>
          <p:spPr bwMode="auto">
            <a:xfrm flipV="1">
              <a:off x="4470" y="3191"/>
              <a:ext cx="15" cy="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28" name="Line 90"/>
            <p:cNvSpPr>
              <a:spLocks noChangeShapeType="1"/>
            </p:cNvSpPr>
            <p:nvPr/>
          </p:nvSpPr>
          <p:spPr bwMode="auto">
            <a:xfrm>
              <a:off x="4485" y="3191"/>
              <a:ext cx="14" cy="8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29" name="Line 91"/>
            <p:cNvSpPr>
              <a:spLocks noChangeShapeType="1"/>
            </p:cNvSpPr>
            <p:nvPr/>
          </p:nvSpPr>
          <p:spPr bwMode="auto">
            <a:xfrm>
              <a:off x="4499" y="3199"/>
              <a:ext cx="15" cy="1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30" name="Line 92"/>
            <p:cNvSpPr>
              <a:spLocks noChangeShapeType="1"/>
            </p:cNvSpPr>
            <p:nvPr/>
          </p:nvSpPr>
          <p:spPr bwMode="auto">
            <a:xfrm>
              <a:off x="4514" y="3211"/>
              <a:ext cx="15" cy="10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31" name="Line 93"/>
            <p:cNvSpPr>
              <a:spLocks noChangeShapeType="1"/>
            </p:cNvSpPr>
            <p:nvPr/>
          </p:nvSpPr>
          <p:spPr bwMode="auto">
            <a:xfrm>
              <a:off x="4529" y="3221"/>
              <a:ext cx="14" cy="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32" name="Line 94"/>
            <p:cNvSpPr>
              <a:spLocks noChangeShapeType="1"/>
            </p:cNvSpPr>
            <p:nvPr/>
          </p:nvSpPr>
          <p:spPr bwMode="auto">
            <a:xfrm flipV="1">
              <a:off x="4543" y="3215"/>
              <a:ext cx="15" cy="7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33" name="Line 95"/>
            <p:cNvSpPr>
              <a:spLocks noChangeShapeType="1"/>
            </p:cNvSpPr>
            <p:nvPr/>
          </p:nvSpPr>
          <p:spPr bwMode="auto">
            <a:xfrm flipV="1">
              <a:off x="4558" y="3205"/>
              <a:ext cx="15" cy="10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34" name="Line 96"/>
            <p:cNvSpPr>
              <a:spLocks noChangeShapeType="1"/>
            </p:cNvSpPr>
            <p:nvPr/>
          </p:nvSpPr>
          <p:spPr bwMode="auto">
            <a:xfrm flipV="1">
              <a:off x="4573" y="3197"/>
              <a:ext cx="15" cy="8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35" name="Line 97"/>
            <p:cNvSpPr>
              <a:spLocks noChangeShapeType="1"/>
            </p:cNvSpPr>
            <p:nvPr/>
          </p:nvSpPr>
          <p:spPr bwMode="auto">
            <a:xfrm flipV="1">
              <a:off x="4588" y="3195"/>
              <a:ext cx="14" cy="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36" name="Line 98"/>
            <p:cNvSpPr>
              <a:spLocks noChangeShapeType="1"/>
            </p:cNvSpPr>
            <p:nvPr/>
          </p:nvSpPr>
          <p:spPr bwMode="auto">
            <a:xfrm>
              <a:off x="4602" y="3195"/>
              <a:ext cx="15" cy="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37" name="Line 99"/>
            <p:cNvSpPr>
              <a:spLocks noChangeShapeType="1"/>
            </p:cNvSpPr>
            <p:nvPr/>
          </p:nvSpPr>
          <p:spPr bwMode="auto">
            <a:xfrm>
              <a:off x="4617" y="3201"/>
              <a:ext cx="14" cy="9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38" name="Line 100"/>
            <p:cNvSpPr>
              <a:spLocks noChangeShapeType="1"/>
            </p:cNvSpPr>
            <p:nvPr/>
          </p:nvSpPr>
          <p:spPr bwMode="auto">
            <a:xfrm>
              <a:off x="4631" y="3210"/>
              <a:ext cx="15" cy="7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39" name="Line 101"/>
            <p:cNvSpPr>
              <a:spLocks noChangeShapeType="1"/>
            </p:cNvSpPr>
            <p:nvPr/>
          </p:nvSpPr>
          <p:spPr bwMode="auto">
            <a:xfrm>
              <a:off x="4646" y="3217"/>
              <a:ext cx="15" cy="1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40" name="Line 102"/>
            <p:cNvSpPr>
              <a:spLocks noChangeShapeType="1"/>
            </p:cNvSpPr>
            <p:nvPr/>
          </p:nvSpPr>
          <p:spPr bwMode="auto">
            <a:xfrm flipV="1">
              <a:off x="4661" y="3214"/>
              <a:ext cx="14" cy="4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41" name="Line 103"/>
            <p:cNvSpPr>
              <a:spLocks noChangeShapeType="1"/>
            </p:cNvSpPr>
            <p:nvPr/>
          </p:nvSpPr>
          <p:spPr bwMode="auto">
            <a:xfrm flipV="1">
              <a:off x="4675" y="3206"/>
              <a:ext cx="15" cy="8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42" name="Line 104"/>
            <p:cNvSpPr>
              <a:spLocks noChangeShapeType="1"/>
            </p:cNvSpPr>
            <p:nvPr/>
          </p:nvSpPr>
          <p:spPr bwMode="auto">
            <a:xfrm flipV="1">
              <a:off x="4690" y="3200"/>
              <a:ext cx="15" cy="6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43" name="Line 105"/>
            <p:cNvSpPr>
              <a:spLocks noChangeShapeType="1"/>
            </p:cNvSpPr>
            <p:nvPr/>
          </p:nvSpPr>
          <p:spPr bwMode="auto">
            <a:xfrm flipV="1">
              <a:off x="4705" y="3198"/>
              <a:ext cx="14" cy="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44" name="Line 106"/>
            <p:cNvSpPr>
              <a:spLocks noChangeShapeType="1"/>
            </p:cNvSpPr>
            <p:nvPr/>
          </p:nvSpPr>
          <p:spPr bwMode="auto">
            <a:xfrm>
              <a:off x="4719" y="3198"/>
              <a:ext cx="15" cy="4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645" name="Line 107"/>
            <p:cNvSpPr>
              <a:spLocks noChangeShapeType="1"/>
            </p:cNvSpPr>
            <p:nvPr/>
          </p:nvSpPr>
          <p:spPr bwMode="auto">
            <a:xfrm>
              <a:off x="4908" y="1075"/>
              <a:ext cx="49" cy="22"/>
            </a:xfrm>
            <a:prstGeom prst="line">
              <a:avLst/>
            </a:prstGeom>
            <a:noFill/>
            <a:ln w="3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518" y="1445353"/>
            <a:ext cx="3873869" cy="1555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6376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D3EA37E-DA09-486C-90EE-A2D9FE45A502}" type="slidenum">
              <a:rPr lang="en-US" smtClean="0"/>
              <a:pPr eaLnBrk="1" hangingPunct="1"/>
              <a:t>27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Add a frictional force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Suppose we add in a force that is proportional to the velocity </a:t>
            </a:r>
          </a:p>
          <a:p>
            <a:pPr eaLnBrk="1" hangingPunct="1"/>
            <a:endParaRPr lang="en-US" sz="2400" dirty="0"/>
          </a:p>
          <a:p>
            <a:pPr lvl="1" eaLnBrk="1" hangingPunct="1"/>
            <a:r>
              <a:rPr lang="en-US" sz="2000" dirty="0"/>
              <a:t>Viscosity follows this pattern</a:t>
            </a:r>
          </a:p>
          <a:p>
            <a:pPr lvl="1" eaLnBrk="1" hangingPunct="1"/>
            <a:r>
              <a:rPr lang="en-US" sz="2000" dirty="0"/>
              <a:t>b is the damping coefficient</a:t>
            </a:r>
          </a:p>
          <a:p>
            <a:pPr eaLnBrk="1" hangingPunct="1"/>
            <a:r>
              <a:rPr lang="en-US" sz="2400" dirty="0"/>
              <a:t>Newton’s 2</a:t>
            </a:r>
            <a:r>
              <a:rPr lang="en-US" sz="2400" baseline="30000" dirty="0"/>
              <a:t>nd</a:t>
            </a:r>
            <a:r>
              <a:rPr lang="en-US" sz="2400" dirty="0"/>
              <a:t> law gives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000" dirty="0"/>
              <a:t>This is another differential equation. It is harder to guess its solution</a:t>
            </a:r>
          </a:p>
        </p:txBody>
      </p:sp>
      <p:graphicFrame>
        <p:nvGraphicFramePr>
          <p:cNvPr id="12293" name="Object 4"/>
          <p:cNvGraphicFramePr>
            <a:graphicFrameLocks noChangeAspect="1"/>
          </p:cNvGraphicFramePr>
          <p:nvPr/>
        </p:nvGraphicFramePr>
        <p:xfrm>
          <a:off x="5414963" y="2168526"/>
          <a:ext cx="13255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900" imgH="228600" progId="Equation.3">
                  <p:embed/>
                </p:oleObj>
              </mc:Choice>
              <mc:Fallback>
                <p:oleObj name="Equation" r:id="rId2" imgW="596900" imgH="228600" progId="Equation.3">
                  <p:embed/>
                  <p:pic>
                    <p:nvPicPr>
                      <p:cNvPr id="122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2168526"/>
                        <a:ext cx="13255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2295" name="Object 6"/>
          <p:cNvGraphicFramePr>
            <a:graphicFrameLocks noChangeAspect="1"/>
          </p:cNvGraphicFramePr>
          <p:nvPr/>
        </p:nvGraphicFramePr>
        <p:xfrm>
          <a:off x="4983164" y="4287839"/>
          <a:ext cx="23082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8100" imgH="228600" progId="Equation.3">
                  <p:embed/>
                </p:oleObj>
              </mc:Choice>
              <mc:Fallback>
                <p:oleObj name="Equation" r:id="rId4" imgW="1308100" imgH="228600" progId="Equation.3">
                  <p:embed/>
                  <p:pic>
                    <p:nvPicPr>
                      <p:cNvPr id="1229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3164" y="4287839"/>
                        <a:ext cx="23082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7"/>
          <p:cNvGraphicFramePr>
            <a:graphicFrameLocks noChangeAspect="1"/>
          </p:cNvGraphicFramePr>
          <p:nvPr/>
        </p:nvGraphicFramePr>
        <p:xfrm>
          <a:off x="5095875" y="4857751"/>
          <a:ext cx="20764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366" imgH="418918" progId="Equation.3">
                  <p:embed/>
                </p:oleObj>
              </mc:Choice>
              <mc:Fallback>
                <p:oleObj name="Equation" r:id="rId6" imgW="1231366" imgH="418918" progId="Equation.3">
                  <p:embed/>
                  <p:pic>
                    <p:nvPicPr>
                      <p:cNvPr id="1229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5" y="4857751"/>
                        <a:ext cx="207645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BAFF6C0-BFC6-4A3E-9051-5B5198941E76}" type="slidenum">
              <a:rPr lang="en-US" smtClean="0"/>
              <a:pPr eaLnBrk="1" hangingPunct="1"/>
              <a:t>28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Solution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10000"/>
          </a:bodyPr>
          <a:lstStyle/>
          <a:p>
            <a:pPr marL="623888" indent="-319088"/>
            <a:endParaRPr lang="en-US" sz="1800" dirty="0"/>
          </a:p>
          <a:p>
            <a:pPr marL="623888" indent="-319088"/>
            <a:endParaRPr lang="en-US" sz="1800" dirty="0"/>
          </a:p>
          <a:p>
            <a:pPr marL="623888" indent="-319088"/>
            <a:r>
              <a:rPr lang="en-US" sz="1800" dirty="0"/>
              <a:t>Where</a:t>
            </a:r>
          </a:p>
          <a:p>
            <a:pPr marL="623888" indent="-319088"/>
            <a:endParaRPr lang="en-US" sz="1800" dirty="0"/>
          </a:p>
          <a:p>
            <a:pPr marL="623888" indent="-319088"/>
            <a:endParaRPr lang="en-US" sz="1800" dirty="0"/>
          </a:p>
          <a:p>
            <a:pPr marL="623888" indent="-319088"/>
            <a:r>
              <a:rPr lang="en-US" sz="1800" dirty="0"/>
              <a:t>Three Cases</a:t>
            </a:r>
          </a:p>
          <a:p>
            <a:pPr marL="971550" lvl="1" indent="-234950">
              <a:buNone/>
            </a:pPr>
            <a:r>
              <a:rPr lang="en-US" sz="1800" dirty="0"/>
              <a:t>1.  The retarding force is small: (</a:t>
            </a:r>
            <a:r>
              <a:rPr lang="en-US" sz="1800" dirty="0" err="1"/>
              <a:t>bv</a:t>
            </a:r>
            <a:r>
              <a:rPr lang="en-US" sz="1800" baseline="-25000" dirty="0" err="1"/>
              <a:t>max</a:t>
            </a:r>
            <a:r>
              <a:rPr lang="en-US" sz="1800" dirty="0"/>
              <a:t>&lt; kA), the system oscillates, but the amplitude is smaller as </a:t>
            </a:r>
            <a:r>
              <a:rPr lang="en-US" sz="1800" dirty="0" err="1"/>
              <a:t>as</a:t>
            </a:r>
            <a:r>
              <a:rPr lang="en-US" sz="1800" dirty="0"/>
              <a:t> time goes on. We call this "underdamped“</a:t>
            </a:r>
          </a:p>
          <a:p>
            <a:pPr marL="914400" lvl="1" indent="-176213">
              <a:buFontTx/>
              <a:buAutoNum type="arabicPeriod"/>
            </a:pPr>
            <a:endParaRPr lang="en-US" sz="1800" dirty="0"/>
          </a:p>
          <a:p>
            <a:pPr marL="1027113" lvl="1" indent="-290513">
              <a:buNone/>
            </a:pPr>
            <a:r>
              <a:rPr lang="en-US" sz="1800" dirty="0"/>
              <a:t> 2. The retarding force is large: (</a:t>
            </a:r>
            <a:r>
              <a:rPr lang="en-US" sz="1800" dirty="0" err="1"/>
              <a:t>bv</a:t>
            </a:r>
            <a:r>
              <a:rPr lang="en-US" sz="1800" baseline="-25000" dirty="0" err="1"/>
              <a:t>max</a:t>
            </a:r>
            <a:r>
              <a:rPr lang="en-US" sz="1800" dirty="0"/>
              <a:t>&gt; kA), The system does not oscillate. we call this "overdamped." We can also say that             </a:t>
            </a:r>
          </a:p>
          <a:p>
            <a:pPr marL="738187" lvl="1" indent="0">
              <a:buNone/>
            </a:pPr>
            <a:r>
              <a:rPr lang="en-US" sz="1800" dirty="0"/>
              <a:t>     </a:t>
            </a:r>
          </a:p>
          <a:p>
            <a:pPr marL="738187" lvl="1" indent="0">
              <a:buNone/>
            </a:pPr>
            <a:endParaRPr lang="en-US" sz="1800" dirty="0"/>
          </a:p>
          <a:p>
            <a:pPr marL="738187" lvl="1" indent="0">
              <a:buNone/>
            </a:pPr>
            <a:endParaRPr lang="en-US" sz="1800" dirty="0"/>
          </a:p>
          <a:p>
            <a:pPr marL="738187" lvl="1" indent="0">
              <a:buNone/>
            </a:pPr>
            <a:r>
              <a:rPr lang="en-US" sz="1800" dirty="0"/>
              <a:t>       (after we define </a:t>
            </a:r>
            <a:r>
              <a:rPr lang="en-US" sz="1800" dirty="0">
                <a:sym typeface="Symbol" pitchFamily="18" charset="2"/>
              </a:rPr>
              <a:t></a:t>
            </a:r>
            <a:r>
              <a:rPr lang="en-US" sz="1800" baseline="-25000" dirty="0">
                <a:sym typeface="Symbol" pitchFamily="18" charset="2"/>
              </a:rPr>
              <a:t>N</a:t>
            </a:r>
            <a:r>
              <a:rPr lang="en-US" sz="1800" dirty="0"/>
              <a:t> below)</a:t>
            </a:r>
          </a:p>
          <a:p>
            <a:pPr marL="914400" lvl="1" indent="-176213">
              <a:buFontTx/>
              <a:buAutoNum type="arabicPeriod"/>
            </a:pPr>
            <a:endParaRPr lang="en-US" sz="1800" dirty="0"/>
          </a:p>
          <a:p>
            <a:pPr marL="738187" lvl="1" indent="0">
              <a:buNone/>
            </a:pPr>
            <a:r>
              <a:rPr lang="en-US" sz="1800" dirty="0"/>
              <a:t>3.  Case The system is critically damped (see below)</a:t>
            </a: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1524001" y="31109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33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392713"/>
              </p:ext>
            </p:extLst>
          </p:nvPr>
        </p:nvGraphicFramePr>
        <p:xfrm>
          <a:off x="4713464" y="1317991"/>
          <a:ext cx="34163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254000" progId="Equation.3">
                  <p:embed/>
                </p:oleObj>
              </mc:Choice>
              <mc:Fallback>
                <p:oleObj name="Equation" r:id="rId2" imgW="1511300" imgH="254000" progId="Equation.3">
                  <p:embed/>
                  <p:pic>
                    <p:nvPicPr>
                      <p:cNvPr id="133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464" y="1317991"/>
                        <a:ext cx="34163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1524001" y="29157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33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676412"/>
              </p:ext>
            </p:extLst>
          </p:nvPr>
        </p:nvGraphicFramePr>
        <p:xfrm>
          <a:off x="5181394" y="2147899"/>
          <a:ext cx="2180883" cy="991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600" imgH="508000" progId="Equation.3">
                  <p:embed/>
                </p:oleObj>
              </mc:Choice>
              <mc:Fallback>
                <p:oleObj name="Equation" r:id="rId4" imgW="1117600" imgH="508000" progId="Equation.3">
                  <p:embed/>
                  <p:pic>
                    <p:nvPicPr>
                      <p:cNvPr id="1332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394" y="2147899"/>
                        <a:ext cx="2180883" cy="991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23" name="Object 10"/>
              <p:cNvSpPr txBox="1"/>
              <p:nvPr/>
            </p:nvSpPr>
            <p:spPr bwMode="auto">
              <a:xfrm>
                <a:off x="5395883" y="5027966"/>
                <a:ext cx="1614517" cy="684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323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883" y="5027966"/>
                <a:ext cx="1614517" cy="6842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267DC86-CDBF-48D9-9AD0-548D7DE74646}" type="slidenum">
              <a:rPr lang="en-US" smtClean="0"/>
              <a:pPr eaLnBrk="1" hangingPunct="1"/>
              <a:t>29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5461001"/>
            <a:ext cx="8229600" cy="6651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/>
              <a:t>The gray lines are the “envelope” function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/>
              <a:t>They describe how the amplitude changes </a:t>
            </a: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4342" name="Object 5"/>
          <p:cNvGraphicFramePr>
            <a:graphicFrameLocks noChangeAspect="1"/>
          </p:cNvGraphicFramePr>
          <p:nvPr/>
        </p:nvGraphicFramePr>
        <p:xfrm>
          <a:off x="8984342" y="2695576"/>
          <a:ext cx="1239838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888840" progId="Equation.3">
                  <p:embed/>
                </p:oleObj>
              </mc:Choice>
              <mc:Fallback>
                <p:oleObj name="Equation" r:id="rId2" imgW="749160" imgH="888840" progId="Equation.3">
                  <p:embed/>
                  <p:pic>
                    <p:nvPicPr>
                      <p:cNvPr id="1434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4342" y="2695576"/>
                        <a:ext cx="1239838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8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035" y="1675606"/>
            <a:ext cx="5069613" cy="3375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43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029885"/>
              </p:ext>
            </p:extLst>
          </p:nvPr>
        </p:nvGraphicFramePr>
        <p:xfrm>
          <a:off x="5935909" y="2712546"/>
          <a:ext cx="784406" cy="335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3169" imgH="228501" progId="Equation.3">
                  <p:embed/>
                </p:oleObj>
              </mc:Choice>
              <mc:Fallback>
                <p:oleObj name="Equation" r:id="rId5" imgW="533169" imgH="228501" progId="Equation.3">
                  <p:embed/>
                  <p:pic>
                    <p:nvPicPr>
                      <p:cNvPr id="1434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909" y="2712546"/>
                        <a:ext cx="784406" cy="335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037BBD-20C6-410B-AF93-FC1C4090023F}" type="slidenum">
              <a:rPr lang="en-US" smtClean="0"/>
              <a:pPr eaLnBrk="1" hangingPunct="1"/>
              <a:t>30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Larger b-value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5257801"/>
            <a:ext cx="8229600" cy="868363"/>
          </a:xfrm>
        </p:spPr>
        <p:txBody>
          <a:bodyPr/>
          <a:lstStyle/>
          <a:p>
            <a:pPr eaLnBrk="1" hangingPunct="1"/>
            <a:endParaRPr lang="en-US"/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/>
        </p:nvGraphicFramePr>
        <p:xfrm>
          <a:off x="8650515" y="2235200"/>
          <a:ext cx="1397261" cy="1846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40" imgH="888840" progId="Equation.3">
                  <p:embed/>
                </p:oleObj>
              </mc:Choice>
              <mc:Fallback>
                <p:oleObj name="Equation" r:id="rId2" imgW="672840" imgH="888840" progId="Equation.3">
                  <p:embed/>
                  <p:pic>
                    <p:nvPicPr>
                      <p:cNvPr id="1536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0515" y="2235200"/>
                        <a:ext cx="1397261" cy="1846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1524001" y="25109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536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722" y="1675606"/>
            <a:ext cx="5015365" cy="3339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6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492" y="1475808"/>
            <a:ext cx="5087937" cy="338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B00A7DE-2A5E-4EEE-98AD-2A705FD0414C}" type="slidenum">
              <a:rPr lang="en-US" smtClean="0"/>
              <a:pPr eaLnBrk="1" hangingPunct="1"/>
              <a:t>31</a:t>
            </a:fld>
            <a:endParaRPr lang="en-US"/>
          </a:p>
        </p:txBody>
      </p:sp>
      <p:sp>
        <p:nvSpPr>
          <p:cNvPr id="1638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Even Larger b-value</a:t>
            </a:r>
          </a:p>
        </p:txBody>
      </p:sp>
      <p:sp>
        <p:nvSpPr>
          <p:cNvPr id="1638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06914" y="5127625"/>
            <a:ext cx="5703887" cy="99853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000"/>
              <a:t>Oscillation has stopped,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/>
              <a:t>Only the exponential decay is observed.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/>
              <a:t>we are critically damped</a:t>
            </a:r>
          </a:p>
        </p:txBody>
      </p:sp>
      <p:graphicFrame>
        <p:nvGraphicFramePr>
          <p:cNvPr id="16390" name="Object 8"/>
          <p:cNvGraphicFramePr>
            <a:graphicFrameLocks noChangeAspect="1"/>
          </p:cNvGraphicFramePr>
          <p:nvPr/>
        </p:nvGraphicFramePr>
        <p:xfrm>
          <a:off x="8555015" y="2152923"/>
          <a:ext cx="1372757" cy="2085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47" imgH="888614" progId="Equation.3">
                  <p:embed/>
                </p:oleObj>
              </mc:Choice>
              <mc:Fallback>
                <p:oleObj name="Equation" r:id="rId3" imgW="583947" imgH="888614" progId="Equation.3">
                  <p:embed/>
                  <p:pic>
                    <p:nvPicPr>
                      <p:cNvPr id="1639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5015" y="2152923"/>
                        <a:ext cx="1372757" cy="2085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9"/>
          <p:cNvSpPr txBox="1">
            <a:spLocks noChangeArrowheads="1"/>
          </p:cNvSpPr>
          <p:nvPr/>
        </p:nvSpPr>
        <p:spPr bwMode="auto">
          <a:xfrm>
            <a:off x="4778375" y="3521076"/>
            <a:ext cx="2228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/>
              <a:t>Note Scale Change!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D89E-FF49-969A-86F6-24ECF1F84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Forced Oscillations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C4342-61EE-C979-8025-32861DABD6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14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585" name="Group 14"/>
          <p:cNvGrpSpPr>
            <a:grpSpLocks/>
          </p:cNvGrpSpPr>
          <p:nvPr/>
        </p:nvGrpSpPr>
        <p:grpSpPr bwMode="auto">
          <a:xfrm>
            <a:off x="5875735" y="1918693"/>
            <a:ext cx="440531" cy="3020615"/>
            <a:chOff x="4109150" y="685800"/>
            <a:chExt cx="587050" cy="4029020"/>
          </a:xfrm>
        </p:grpSpPr>
        <p:sp>
          <p:nvSpPr>
            <p:cNvPr id="451611" name="Oval 24"/>
            <p:cNvSpPr>
              <a:spLocks noChangeArrowheads="1"/>
            </p:cNvSpPr>
            <p:nvPr/>
          </p:nvSpPr>
          <p:spPr bwMode="auto">
            <a:xfrm flipH="1">
              <a:off x="4208163" y="3359248"/>
              <a:ext cx="256738" cy="328698"/>
            </a:xfrm>
            <a:prstGeom prst="ellipse">
              <a:avLst/>
            </a:prstGeom>
            <a:solidFill>
              <a:schemeClr val="tx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2" name="Oval 25"/>
            <p:cNvSpPr>
              <a:spLocks noChangeArrowheads="1"/>
            </p:cNvSpPr>
            <p:nvPr/>
          </p:nvSpPr>
          <p:spPr bwMode="auto">
            <a:xfrm rot="20910997" flipH="1">
              <a:off x="4332092" y="3641442"/>
              <a:ext cx="216825" cy="709987"/>
            </a:xfrm>
            <a:prstGeom prst="ellipse">
              <a:avLst/>
            </a:prstGeom>
            <a:solidFill>
              <a:schemeClr val="tx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3" name="Rectangle 26"/>
            <p:cNvSpPr>
              <a:spLocks noChangeArrowheads="1"/>
            </p:cNvSpPr>
            <p:nvPr/>
          </p:nvSpPr>
          <p:spPr bwMode="auto">
            <a:xfrm rot="13943080" flipH="1">
              <a:off x="4331051" y="3821497"/>
              <a:ext cx="396048" cy="81321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4" name="Rectangle 27"/>
            <p:cNvSpPr>
              <a:spLocks noChangeArrowheads="1"/>
            </p:cNvSpPr>
            <p:nvPr/>
          </p:nvSpPr>
          <p:spPr bwMode="auto">
            <a:xfrm rot="2837193" flipH="1">
              <a:off x="4500879" y="3906585"/>
              <a:ext cx="78887" cy="311754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5" name="Rectangle 28"/>
            <p:cNvSpPr>
              <a:spLocks noChangeArrowheads="1"/>
            </p:cNvSpPr>
            <p:nvPr/>
          </p:nvSpPr>
          <p:spPr bwMode="auto">
            <a:xfrm rot="5400000" flipH="1">
              <a:off x="4293870" y="4099785"/>
              <a:ext cx="101401" cy="405195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6" name="Rectangle 29"/>
            <p:cNvSpPr>
              <a:spLocks noChangeArrowheads="1"/>
            </p:cNvSpPr>
            <p:nvPr/>
          </p:nvSpPr>
          <p:spPr bwMode="auto">
            <a:xfrm rot="20498368" flipH="1">
              <a:off x="4160704" y="4280920"/>
              <a:ext cx="101401" cy="405195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7" name="Rectangle 30"/>
            <p:cNvSpPr>
              <a:spLocks noChangeArrowheads="1"/>
            </p:cNvSpPr>
            <p:nvPr/>
          </p:nvSpPr>
          <p:spPr bwMode="auto">
            <a:xfrm flipH="1">
              <a:off x="4109150" y="4628761"/>
              <a:ext cx="210353" cy="86059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4326517" y="685800"/>
              <a:ext cx="228474" cy="2445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96414" y="4343204"/>
              <a:ext cx="490267" cy="46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cxnSp>
          <p:nvCxnSpPr>
            <p:cNvPr id="13" name="Straight Connector 12"/>
            <p:cNvCxnSpPr>
              <a:stCxn id="10" idx="4"/>
              <a:endCxn id="11" idx="0"/>
            </p:cNvCxnSpPr>
            <p:nvPr/>
          </p:nvCxnSpPr>
          <p:spPr>
            <a:xfrm rot="5400000">
              <a:off x="2735129" y="2637580"/>
              <a:ext cx="3412837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0093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585" name="Group 14"/>
          <p:cNvGrpSpPr>
            <a:grpSpLocks/>
          </p:cNvGrpSpPr>
          <p:nvPr/>
        </p:nvGrpSpPr>
        <p:grpSpPr bwMode="auto">
          <a:xfrm>
            <a:off x="5835256" y="1920481"/>
            <a:ext cx="440531" cy="3020615"/>
            <a:chOff x="4109150" y="685800"/>
            <a:chExt cx="587050" cy="4029020"/>
          </a:xfrm>
        </p:grpSpPr>
        <p:sp>
          <p:nvSpPr>
            <p:cNvPr id="451611" name="Oval 24"/>
            <p:cNvSpPr>
              <a:spLocks noChangeArrowheads="1"/>
            </p:cNvSpPr>
            <p:nvPr/>
          </p:nvSpPr>
          <p:spPr bwMode="auto">
            <a:xfrm flipH="1">
              <a:off x="4208163" y="3359248"/>
              <a:ext cx="256738" cy="328698"/>
            </a:xfrm>
            <a:prstGeom prst="ellipse">
              <a:avLst/>
            </a:prstGeom>
            <a:solidFill>
              <a:schemeClr val="tx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2" name="Oval 25"/>
            <p:cNvSpPr>
              <a:spLocks noChangeArrowheads="1"/>
            </p:cNvSpPr>
            <p:nvPr/>
          </p:nvSpPr>
          <p:spPr bwMode="auto">
            <a:xfrm rot="20910997" flipH="1">
              <a:off x="4332092" y="3641442"/>
              <a:ext cx="216825" cy="709987"/>
            </a:xfrm>
            <a:prstGeom prst="ellipse">
              <a:avLst/>
            </a:prstGeom>
            <a:solidFill>
              <a:schemeClr val="tx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3" name="Rectangle 26"/>
            <p:cNvSpPr>
              <a:spLocks noChangeArrowheads="1"/>
            </p:cNvSpPr>
            <p:nvPr/>
          </p:nvSpPr>
          <p:spPr bwMode="auto">
            <a:xfrm rot="13943080" flipH="1">
              <a:off x="4331051" y="3821497"/>
              <a:ext cx="396048" cy="81321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4" name="Rectangle 27"/>
            <p:cNvSpPr>
              <a:spLocks noChangeArrowheads="1"/>
            </p:cNvSpPr>
            <p:nvPr/>
          </p:nvSpPr>
          <p:spPr bwMode="auto">
            <a:xfrm rot="2837193" flipH="1">
              <a:off x="4500879" y="3906585"/>
              <a:ext cx="78887" cy="311754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5" name="Rectangle 28"/>
            <p:cNvSpPr>
              <a:spLocks noChangeArrowheads="1"/>
            </p:cNvSpPr>
            <p:nvPr/>
          </p:nvSpPr>
          <p:spPr bwMode="auto">
            <a:xfrm rot="5400000" flipH="1">
              <a:off x="4293870" y="4099785"/>
              <a:ext cx="101401" cy="405195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6" name="Rectangle 29"/>
            <p:cNvSpPr>
              <a:spLocks noChangeArrowheads="1"/>
            </p:cNvSpPr>
            <p:nvPr/>
          </p:nvSpPr>
          <p:spPr bwMode="auto">
            <a:xfrm rot="20498368" flipH="1">
              <a:off x="4160704" y="4280920"/>
              <a:ext cx="101401" cy="405195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17" name="Rectangle 30"/>
            <p:cNvSpPr>
              <a:spLocks noChangeArrowheads="1"/>
            </p:cNvSpPr>
            <p:nvPr/>
          </p:nvSpPr>
          <p:spPr bwMode="auto">
            <a:xfrm flipH="1">
              <a:off x="4109150" y="4628761"/>
              <a:ext cx="210353" cy="86059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4326517" y="685800"/>
              <a:ext cx="228474" cy="2445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96414" y="4343204"/>
              <a:ext cx="490267" cy="46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cxnSp>
          <p:nvCxnSpPr>
            <p:cNvPr id="13" name="Straight Connector 12"/>
            <p:cNvCxnSpPr>
              <a:stCxn id="10" idx="4"/>
              <a:endCxn id="11" idx="0"/>
            </p:cNvCxnSpPr>
            <p:nvPr/>
          </p:nvCxnSpPr>
          <p:spPr>
            <a:xfrm rot="5400000">
              <a:off x="2735129" y="2637580"/>
              <a:ext cx="3412837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586" name="Group 38"/>
          <p:cNvGrpSpPr>
            <a:grpSpLocks/>
          </p:cNvGrpSpPr>
          <p:nvPr/>
        </p:nvGrpSpPr>
        <p:grpSpPr bwMode="auto">
          <a:xfrm>
            <a:off x="3724277" y="1921670"/>
            <a:ext cx="2603897" cy="2064544"/>
            <a:chOff x="1294213" y="687386"/>
            <a:chExt cx="3472125" cy="2754068"/>
          </a:xfrm>
        </p:grpSpPr>
        <p:sp>
          <p:nvSpPr>
            <p:cNvPr id="451601" name="Oval 24"/>
            <p:cNvSpPr>
              <a:spLocks noChangeArrowheads="1"/>
            </p:cNvSpPr>
            <p:nvPr/>
          </p:nvSpPr>
          <p:spPr bwMode="auto">
            <a:xfrm rot="5044366" flipH="1">
              <a:off x="2410832" y="3148736"/>
              <a:ext cx="256738" cy="328698"/>
            </a:xfrm>
            <a:prstGeom prst="ellipse">
              <a:avLst/>
            </a:prstGeom>
            <a:solidFill>
              <a:schemeClr val="tx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02" name="Oval 25"/>
            <p:cNvSpPr>
              <a:spLocks noChangeArrowheads="1"/>
            </p:cNvSpPr>
            <p:nvPr/>
          </p:nvSpPr>
          <p:spPr bwMode="auto">
            <a:xfrm rot="7043353" flipH="1">
              <a:off x="1996165" y="2886031"/>
              <a:ext cx="216825" cy="709987"/>
            </a:xfrm>
            <a:prstGeom prst="ellipse">
              <a:avLst/>
            </a:prstGeom>
            <a:solidFill>
              <a:schemeClr val="tx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03" name="Rectangle 26"/>
            <p:cNvSpPr>
              <a:spLocks noChangeArrowheads="1"/>
            </p:cNvSpPr>
            <p:nvPr/>
          </p:nvSpPr>
          <p:spPr bwMode="auto">
            <a:xfrm rot="15360949" flipH="1">
              <a:off x="2094487" y="3154625"/>
              <a:ext cx="396048" cy="81321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04" name="Rectangle 27"/>
            <p:cNvSpPr>
              <a:spLocks noChangeArrowheads="1"/>
            </p:cNvSpPr>
            <p:nvPr/>
          </p:nvSpPr>
          <p:spPr bwMode="auto">
            <a:xfrm rot="10800000" flipH="1">
              <a:off x="2207501" y="2722719"/>
              <a:ext cx="78887" cy="311754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05" name="Rectangle 28"/>
            <p:cNvSpPr>
              <a:spLocks noChangeArrowheads="1"/>
            </p:cNvSpPr>
            <p:nvPr/>
          </p:nvSpPr>
          <p:spPr bwMode="auto">
            <a:xfrm rot="8325364" flipH="1">
              <a:off x="1693911" y="2829857"/>
              <a:ext cx="101401" cy="405195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06" name="Rectangle 29"/>
            <p:cNvSpPr>
              <a:spLocks noChangeArrowheads="1"/>
            </p:cNvSpPr>
            <p:nvPr/>
          </p:nvSpPr>
          <p:spPr bwMode="auto">
            <a:xfrm rot="7158656" flipH="1">
              <a:off x="1446110" y="2622926"/>
              <a:ext cx="101401" cy="405195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607" name="Rectangle 30"/>
            <p:cNvSpPr>
              <a:spLocks noChangeArrowheads="1"/>
            </p:cNvSpPr>
            <p:nvPr/>
          </p:nvSpPr>
          <p:spPr bwMode="auto">
            <a:xfrm rot="5692513" flipH="1">
              <a:off x="1244852" y="2632588"/>
              <a:ext cx="210353" cy="86059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24" name="Oval 23"/>
            <p:cNvSpPr/>
            <p:nvPr/>
          </p:nvSpPr>
          <p:spPr>
            <a:xfrm rot="2925364">
              <a:off x="4321757" y="679495"/>
              <a:ext cx="228712" cy="2444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sp>
          <p:nvSpPr>
            <p:cNvPr id="25" name="Rectangle 24"/>
            <p:cNvSpPr/>
            <p:nvPr/>
          </p:nvSpPr>
          <p:spPr>
            <a:xfrm rot="2925364">
              <a:off x="1515586" y="3124603"/>
              <a:ext cx="489189" cy="46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cxnSp>
          <p:nvCxnSpPr>
            <p:cNvPr id="26" name="Straight Connector 25"/>
            <p:cNvCxnSpPr>
              <a:stCxn id="24" idx="4"/>
              <a:endCxn id="25" idx="0"/>
            </p:cNvCxnSpPr>
            <p:nvPr/>
          </p:nvCxnSpPr>
          <p:spPr>
            <a:xfrm rot="8325364">
              <a:off x="1352955" y="2007243"/>
              <a:ext cx="3413383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587" name="Group 37"/>
          <p:cNvGrpSpPr>
            <a:grpSpLocks/>
          </p:cNvGrpSpPr>
          <p:nvPr/>
        </p:nvGrpSpPr>
        <p:grpSpPr bwMode="auto">
          <a:xfrm>
            <a:off x="5999560" y="1750219"/>
            <a:ext cx="2065734" cy="2558654"/>
            <a:chOff x="4327945" y="459098"/>
            <a:chExt cx="2754161" cy="3412671"/>
          </a:xfrm>
        </p:grpSpPr>
        <p:sp>
          <p:nvSpPr>
            <p:cNvPr id="451591" name="Oval 24"/>
            <p:cNvSpPr>
              <a:spLocks noChangeArrowheads="1"/>
            </p:cNvSpPr>
            <p:nvPr/>
          </p:nvSpPr>
          <p:spPr bwMode="auto">
            <a:xfrm rot="16859242" flipH="1">
              <a:off x="5997394" y="2895763"/>
              <a:ext cx="256738" cy="328698"/>
            </a:xfrm>
            <a:prstGeom prst="ellipse">
              <a:avLst/>
            </a:prstGeom>
            <a:solidFill>
              <a:schemeClr val="tx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592" name="Oval 25"/>
            <p:cNvSpPr>
              <a:spLocks noChangeArrowheads="1"/>
            </p:cNvSpPr>
            <p:nvPr/>
          </p:nvSpPr>
          <p:spPr bwMode="auto">
            <a:xfrm rot="17505451" flipH="1">
              <a:off x="6445854" y="2863372"/>
              <a:ext cx="216825" cy="709987"/>
            </a:xfrm>
            <a:prstGeom prst="ellipse">
              <a:avLst/>
            </a:prstGeom>
            <a:solidFill>
              <a:schemeClr val="tx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593" name="Rectangle 26"/>
            <p:cNvSpPr>
              <a:spLocks noChangeArrowheads="1"/>
            </p:cNvSpPr>
            <p:nvPr/>
          </p:nvSpPr>
          <p:spPr bwMode="auto">
            <a:xfrm rot="9331264" flipH="1">
              <a:off x="6257543" y="2985446"/>
              <a:ext cx="396048" cy="81321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594" name="Rectangle 27"/>
            <p:cNvSpPr>
              <a:spLocks noChangeArrowheads="1"/>
            </p:cNvSpPr>
            <p:nvPr/>
          </p:nvSpPr>
          <p:spPr bwMode="auto">
            <a:xfrm rot="298725" flipH="1">
              <a:off x="6571175" y="2917922"/>
              <a:ext cx="78887" cy="311754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595" name="Rectangle 28"/>
            <p:cNvSpPr>
              <a:spLocks noChangeArrowheads="1"/>
            </p:cNvSpPr>
            <p:nvPr/>
          </p:nvSpPr>
          <p:spPr bwMode="auto">
            <a:xfrm rot="2861532" flipH="1">
              <a:off x="6671894" y="3258977"/>
              <a:ext cx="101401" cy="405195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596" name="Rectangle 29"/>
            <p:cNvSpPr>
              <a:spLocks noChangeArrowheads="1"/>
            </p:cNvSpPr>
            <p:nvPr/>
          </p:nvSpPr>
          <p:spPr bwMode="auto">
            <a:xfrm rot="17014843" flipH="1">
              <a:off x="6681049" y="3453995"/>
              <a:ext cx="101401" cy="405195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451597" name="Rectangle 30"/>
            <p:cNvSpPr>
              <a:spLocks noChangeArrowheads="1"/>
            </p:cNvSpPr>
            <p:nvPr/>
          </p:nvSpPr>
          <p:spPr bwMode="auto">
            <a:xfrm rot="19061532" flipH="1">
              <a:off x="6738795" y="3707969"/>
              <a:ext cx="210353" cy="86059"/>
            </a:xfrm>
            <a:prstGeom prst="rect">
              <a:avLst/>
            </a:prstGeom>
            <a:solidFill>
              <a:schemeClr val="tx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350" dirty="0"/>
            </a:p>
          </p:txBody>
        </p:sp>
        <p:sp>
          <p:nvSpPr>
            <p:cNvPr id="35" name="Oval 34"/>
            <p:cNvSpPr/>
            <p:nvPr/>
          </p:nvSpPr>
          <p:spPr>
            <a:xfrm rot="19061532">
              <a:off x="4327945" y="689362"/>
              <a:ext cx="228587" cy="2461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sp>
          <p:nvSpPr>
            <p:cNvPr id="36" name="Rectangle 35"/>
            <p:cNvSpPr/>
            <p:nvPr/>
          </p:nvSpPr>
          <p:spPr>
            <a:xfrm rot="19061532">
              <a:off x="6591596" y="3420769"/>
              <a:ext cx="490510" cy="460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 dirty="0"/>
            </a:p>
          </p:txBody>
        </p:sp>
        <p:cxnSp>
          <p:nvCxnSpPr>
            <p:cNvPr id="37" name="Straight Connector 36"/>
            <p:cNvCxnSpPr>
              <a:stCxn id="35" idx="4"/>
              <a:endCxn id="36" idx="0"/>
            </p:cNvCxnSpPr>
            <p:nvPr/>
          </p:nvCxnSpPr>
          <p:spPr>
            <a:xfrm rot="2861532">
              <a:off x="3966942" y="2164640"/>
              <a:ext cx="3412671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1588" name="TextBox 39"/>
          <p:cNvSpPr txBox="1">
            <a:spLocks noChangeArrowheads="1"/>
          </p:cNvSpPr>
          <p:nvPr/>
        </p:nvSpPr>
        <p:spPr bwMode="auto">
          <a:xfrm>
            <a:off x="3175397" y="5495926"/>
            <a:ext cx="57912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500" dirty="0"/>
              <a:t>Leg movements at the same frequency as the swing’s natural frequency make the swing go higher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rot="16200000" flipV="1">
            <a:off x="4111230" y="4469607"/>
            <a:ext cx="1227535" cy="8608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5155407" y="4413647"/>
            <a:ext cx="2453879" cy="10894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345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DE43916-2E53-4087-A7F0-C9C9128B3A17}" type="slidenum">
              <a:rPr lang="en-US" smtClean="0"/>
              <a:pPr eaLnBrk="1" hangingPunct="1"/>
              <a:t>35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Driving Force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1800" dirty="0"/>
              <a:t>Last section we added a force                   that killed our oscillation</a:t>
            </a:r>
          </a:p>
          <a:p>
            <a:pPr eaLnBrk="1" hangingPunct="1"/>
            <a:endParaRPr lang="en-US" sz="1800" dirty="0"/>
          </a:p>
          <a:p>
            <a:pPr eaLnBrk="1" hangingPunct="1"/>
            <a:r>
              <a:rPr lang="en-US" sz="1800" dirty="0"/>
              <a:t>Suppose we want to keep it going</a:t>
            </a:r>
          </a:p>
          <a:p>
            <a:pPr eaLnBrk="1" hangingPunct="1"/>
            <a:endParaRPr lang="en-US" sz="1800" dirty="0"/>
          </a:p>
          <a:p>
            <a:pPr eaLnBrk="1" hangingPunct="1"/>
            <a:r>
              <a:rPr lang="en-US" sz="1800" dirty="0"/>
              <a:t>Add a force </a:t>
            </a:r>
          </a:p>
          <a:p>
            <a:pPr eaLnBrk="1" hangingPunct="1"/>
            <a:endParaRPr lang="en-US" sz="1800" dirty="0"/>
          </a:p>
          <a:p>
            <a:pPr eaLnBrk="1" hangingPunct="1">
              <a:buFontTx/>
              <a:buNone/>
            </a:pPr>
            <a:r>
              <a:rPr lang="en-US" sz="1800" dirty="0"/>
              <a:t>     where F</a:t>
            </a:r>
            <a:r>
              <a:rPr lang="en-US" sz="1800" baseline="-25000" dirty="0"/>
              <a:t>o</a:t>
            </a:r>
            <a:r>
              <a:rPr lang="en-US" sz="1800" dirty="0"/>
              <a:t> is a constant and where </a:t>
            </a:r>
            <a:r>
              <a:rPr lang="en-US" sz="1800" dirty="0">
                <a:sym typeface="Symbol" pitchFamily="18" charset="2"/>
              </a:rPr>
              <a:t></a:t>
            </a:r>
            <a:r>
              <a:rPr lang="en-US" sz="1800" baseline="-25000" dirty="0"/>
              <a:t>f</a:t>
            </a:r>
            <a:r>
              <a:rPr lang="en-US" sz="1800" dirty="0"/>
              <a:t> is the angular frequency of the driving force</a:t>
            </a:r>
          </a:p>
          <a:p>
            <a:pPr eaLnBrk="1" hangingPunct="1">
              <a:buFontTx/>
              <a:buNone/>
            </a:pPr>
            <a:endParaRPr lang="en-US" sz="1800" dirty="0"/>
          </a:p>
          <a:p>
            <a:pPr eaLnBrk="1" hangingPunct="1">
              <a:buFontTx/>
              <a:buNone/>
            </a:pPr>
            <a:endParaRPr lang="en-US" sz="1800" dirty="0"/>
          </a:p>
          <a:p>
            <a:pPr eaLnBrk="1" hangingPunct="1">
              <a:buFontTx/>
              <a:buNone/>
            </a:pPr>
            <a:endParaRPr lang="en-US" sz="1800" dirty="0"/>
          </a:p>
          <a:p>
            <a:pPr eaLnBrk="1" hangingPunct="1"/>
            <a:r>
              <a:rPr lang="en-US" sz="1800" dirty="0"/>
              <a:t>This one is very hard to solve</a:t>
            </a: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p:graphicFrame>
        <p:nvGraphicFramePr>
          <p:cNvPr id="19462" name="Object 5"/>
          <p:cNvGraphicFramePr>
            <a:graphicFrameLocks noChangeAspect="1"/>
          </p:cNvGraphicFramePr>
          <p:nvPr/>
        </p:nvGraphicFramePr>
        <p:xfrm>
          <a:off x="5255481" y="1669537"/>
          <a:ext cx="757170" cy="292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900" imgH="228600" progId="Equation.3">
                  <p:embed/>
                </p:oleObj>
              </mc:Choice>
              <mc:Fallback>
                <p:oleObj name="Equation" r:id="rId2" imgW="596900" imgH="228600" progId="Equation.3">
                  <p:embed/>
                  <p:pic>
                    <p:nvPicPr>
                      <p:cNvPr id="194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5481" y="1669537"/>
                        <a:ext cx="757170" cy="292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p:graphicFrame>
        <p:nvGraphicFramePr>
          <p:cNvPr id="19464" name="Object 7"/>
          <p:cNvGraphicFramePr>
            <a:graphicFrameLocks noChangeAspect="1"/>
          </p:cNvGraphicFramePr>
          <p:nvPr/>
        </p:nvGraphicFramePr>
        <p:xfrm>
          <a:off x="3633932" y="2860706"/>
          <a:ext cx="1990990" cy="43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900" imgH="241300" progId="Equation.3">
                  <p:embed/>
                </p:oleObj>
              </mc:Choice>
              <mc:Fallback>
                <p:oleObj name="Equation" r:id="rId4" imgW="1104900" imgH="241300" progId="Equation.3">
                  <p:embed/>
                  <p:pic>
                    <p:nvPicPr>
                      <p:cNvPr id="1946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932" y="2860706"/>
                        <a:ext cx="1990990" cy="436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8"/>
          <p:cNvGraphicFramePr>
            <a:graphicFrameLocks noChangeAspect="1"/>
          </p:cNvGraphicFramePr>
          <p:nvPr/>
        </p:nvGraphicFramePr>
        <p:xfrm>
          <a:off x="4006883" y="4275281"/>
          <a:ext cx="3585914" cy="436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93900" imgH="241300" progId="Equation.3">
                  <p:embed/>
                </p:oleObj>
              </mc:Choice>
              <mc:Fallback>
                <p:oleObj name="Equation" r:id="rId6" imgW="1993900" imgH="241300" progId="Equation.3">
                  <p:embed/>
                  <p:pic>
                    <p:nvPicPr>
                      <p:cNvPr id="1946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883" y="4275281"/>
                        <a:ext cx="3585914" cy="436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A1CFA41-9573-4969-8994-F21DC7ED42AE}" type="slidenum">
              <a:rPr lang="en-US" smtClean="0"/>
              <a:pPr eaLnBrk="1" hangingPunct="1"/>
              <a:t>36</a:t>
            </a:fld>
            <a:endParaRPr 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Steady State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000" dirty="0"/>
              <a:t>Let’s assume that we add in enough energy with the driving force that we make up for the energy lost in the damping force</a:t>
            </a:r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/>
              <a:t>Then the solution is</a:t>
            </a:r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/>
              <a:t>EXCEPT</a:t>
            </a:r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/>
              <a:t>We will drop the subscript </a:t>
            </a:r>
            <a:r>
              <a:rPr lang="en-US" sz="2000" i="1" dirty="0"/>
              <a:t>f</a:t>
            </a:r>
            <a:r>
              <a:rPr lang="en-US" sz="2000" dirty="0"/>
              <a:t> for convenience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p:graphicFrame>
        <p:nvGraphicFramePr>
          <p:cNvPr id="20486" name="Object 5"/>
          <p:cNvGraphicFramePr>
            <a:graphicFrameLocks noChangeAspect="1"/>
          </p:cNvGraphicFramePr>
          <p:nvPr/>
        </p:nvGraphicFramePr>
        <p:xfrm>
          <a:off x="4780968" y="2711269"/>
          <a:ext cx="1683972" cy="32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241300" progId="Equation.3">
                  <p:embed/>
                </p:oleObj>
              </mc:Choice>
              <mc:Fallback>
                <p:oleObj name="Equation" r:id="rId2" imgW="1257300" imgH="241300" progId="Equation.3">
                  <p:embed/>
                  <p:pic>
                    <p:nvPicPr>
                      <p:cNvPr id="2048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0968" y="2711269"/>
                        <a:ext cx="1683972" cy="323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2667002" y="2986065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8" name="Object 7"/>
              <p:cNvSpPr txBox="1"/>
              <p:nvPr/>
            </p:nvSpPr>
            <p:spPr bwMode="auto">
              <a:xfrm>
                <a:off x="3462338" y="3347941"/>
                <a:ext cx="2482676" cy="11463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48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2338" y="3347941"/>
                <a:ext cx="2482676" cy="1146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9" name="Rectangle 8"/>
          <p:cNvSpPr>
            <a:spLocks noChangeArrowheads="1"/>
          </p:cNvSpPr>
          <p:nvPr/>
        </p:nvSpPr>
        <p:spPr bwMode="auto">
          <a:xfrm>
            <a:off x="2667002" y="3093222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90" name="Object 9"/>
              <p:cNvSpPr txBox="1"/>
              <p:nvPr/>
            </p:nvSpPr>
            <p:spPr bwMode="auto">
              <a:xfrm>
                <a:off x="4057650" y="4597400"/>
                <a:ext cx="723900" cy="527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49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7650" y="4597400"/>
                <a:ext cx="723900" cy="527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91" name="Object 10"/>
              <p:cNvSpPr txBox="1"/>
              <p:nvPr/>
            </p:nvSpPr>
            <p:spPr bwMode="auto">
              <a:xfrm>
                <a:off x="7981416" y="5392561"/>
                <a:ext cx="2655357" cy="11463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49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81416" y="5392561"/>
                <a:ext cx="2655357" cy="11463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92" name="Object 11"/>
              <p:cNvSpPr txBox="1"/>
              <p:nvPr/>
            </p:nvSpPr>
            <p:spPr bwMode="auto">
              <a:xfrm>
                <a:off x="5383476" y="6162930"/>
                <a:ext cx="2912532" cy="654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49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3476" y="6162930"/>
                <a:ext cx="2912532" cy="654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2B3508C-4AE7-4D7B-82A2-45D2BEED198E}" type="slidenum">
              <a:rPr lang="en-US" smtClean="0"/>
              <a:pPr eaLnBrk="1" hangingPunct="1"/>
              <a:t>37</a:t>
            </a:fld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09902" y="2057400"/>
            <a:ext cx="5899547" cy="704850"/>
          </a:xfrm>
        </p:spPr>
        <p:txBody>
          <a:bodyPr/>
          <a:lstStyle/>
          <a:p>
            <a:pPr eaLnBrk="1" hangingPunct="1"/>
            <a:r>
              <a:rPr lang="en-US" sz="1800" dirty="0"/>
              <a:t>Notice that right at  </a:t>
            </a:r>
            <a:r>
              <a:rPr lang="en-US" sz="1800" dirty="0">
                <a:sym typeface="Symbol" pitchFamily="18" charset="2"/>
              </a:rPr>
              <a:t></a:t>
            </a:r>
            <a:r>
              <a:rPr lang="en-US" sz="1800" baseline="-25000" dirty="0">
                <a:sym typeface="Symbol" pitchFamily="18" charset="2"/>
              </a:rPr>
              <a:t>f</a:t>
            </a:r>
            <a:r>
              <a:rPr lang="en-US" sz="1800" dirty="0"/>
              <a:t> our solution gets very big </a:t>
            </a: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2667002" y="3007497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10" name="Object 5"/>
              <p:cNvSpPr txBox="1"/>
              <p:nvPr/>
            </p:nvSpPr>
            <p:spPr bwMode="auto">
              <a:xfrm>
                <a:off x="2280357" y="2814615"/>
                <a:ext cx="2731910" cy="1281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51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0357" y="2814615"/>
                <a:ext cx="2731910" cy="12811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1" name="Rectangle 6"/>
          <p:cNvSpPr>
            <a:spLocks noChangeArrowheads="1"/>
          </p:cNvSpPr>
          <p:nvPr/>
        </p:nvSpPr>
        <p:spPr bwMode="auto">
          <a:xfrm>
            <a:off x="2667002" y="3143228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p:sp>
        <p:nvSpPr>
          <p:cNvPr id="21512" name="Rectangle 7"/>
          <p:cNvSpPr>
            <a:spLocks noChangeArrowheads="1"/>
          </p:cNvSpPr>
          <p:nvPr/>
        </p:nvSpPr>
        <p:spPr bwMode="auto">
          <a:xfrm>
            <a:off x="2667002" y="2814615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p:graphicFrame>
        <p:nvGraphicFramePr>
          <p:cNvPr id="21513" name="Object 8"/>
          <p:cNvGraphicFramePr>
            <a:graphicFrameLocks noChangeAspect="1"/>
          </p:cNvGraphicFramePr>
          <p:nvPr/>
        </p:nvGraphicFramePr>
        <p:xfrm>
          <a:off x="3309258" y="4428209"/>
          <a:ext cx="1104247" cy="1457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08" imgH="888614" progId="Equation.3">
                  <p:embed/>
                </p:oleObj>
              </mc:Choice>
              <mc:Fallback>
                <p:oleObj name="Equation" r:id="rId3" imgW="672808" imgH="888614" progId="Equation.3">
                  <p:embed/>
                  <p:pic>
                    <p:nvPicPr>
                      <p:cNvPr id="215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258" y="4428209"/>
                        <a:ext cx="1104247" cy="1457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17EC7B2-2F6A-A1B0-2D6A-3E58FC72C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0654" y="2814616"/>
            <a:ext cx="4014788" cy="2676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88E5AE-D9DC-DC83-D433-49C00485A109}"/>
                  </a:ext>
                </a:extLst>
              </p:cNvPr>
              <p:cNvSpPr txBox="1"/>
              <p:nvPr/>
            </p:nvSpPr>
            <p:spPr>
              <a:xfrm>
                <a:off x="8520756" y="5405006"/>
                <a:ext cx="10270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1200" dirty="0"/>
                  <a:t> (rad/sec)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88E5AE-D9DC-DC83-D433-49C00485A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756" y="5405006"/>
                <a:ext cx="1027032" cy="276999"/>
              </a:xfrm>
              <a:prstGeom prst="rect">
                <a:avLst/>
              </a:prstGeom>
              <a:blipFill>
                <a:blip r:embed="rId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BFE0BF1-63F5-452E-A5C8-1445C2C43028}" type="slidenum">
              <a:rPr lang="en-US" smtClean="0"/>
              <a:pPr eaLnBrk="1" hangingPunct="1"/>
              <a:t>38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Resonance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1500" dirty="0"/>
              <a:t>To see why resonance happens, think of the velocity</a:t>
            </a:r>
          </a:p>
          <a:p>
            <a:pPr eaLnBrk="1" hangingPunct="1"/>
            <a:endParaRPr lang="en-US" sz="1500" dirty="0"/>
          </a:p>
          <a:p>
            <a:pPr eaLnBrk="1" hangingPunct="1"/>
            <a:endParaRPr lang="en-US" sz="1500" dirty="0"/>
          </a:p>
          <a:p>
            <a:pPr eaLnBrk="1" hangingPunct="1"/>
            <a:r>
              <a:rPr lang="en-US" sz="1500" dirty="0"/>
              <a:t>And our driving force is</a:t>
            </a:r>
          </a:p>
          <a:p>
            <a:pPr eaLnBrk="1" hangingPunct="1"/>
            <a:endParaRPr lang="en-US" sz="1500" dirty="0"/>
          </a:p>
          <a:p>
            <a:pPr eaLnBrk="1" hangingPunct="1"/>
            <a:endParaRPr lang="en-US" sz="1500" dirty="0"/>
          </a:p>
          <a:p>
            <a:pPr eaLnBrk="1" hangingPunct="1"/>
            <a:r>
              <a:rPr lang="en-US" sz="1500" dirty="0"/>
              <a:t>The rate at which work is done (power) is</a:t>
            </a:r>
          </a:p>
          <a:p>
            <a:pPr eaLnBrk="1" hangingPunct="1"/>
            <a:endParaRPr lang="en-US" sz="1500" dirty="0"/>
          </a:p>
          <a:p>
            <a:pPr eaLnBrk="1" hangingPunct="1"/>
            <a:endParaRPr lang="en-US" sz="1500" dirty="0"/>
          </a:p>
          <a:p>
            <a:pPr eaLnBrk="1" hangingPunct="1"/>
            <a:r>
              <a:rPr lang="en-US" sz="1500" dirty="0"/>
              <a:t> if  F and v are in phase, the power will be at a maximum!</a:t>
            </a: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2667002" y="3100365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p:graphicFrame>
        <p:nvGraphicFramePr>
          <p:cNvPr id="22534" name="Object 5"/>
          <p:cNvGraphicFramePr>
            <a:graphicFrameLocks noChangeAspect="1"/>
          </p:cNvGraphicFramePr>
          <p:nvPr/>
        </p:nvGraphicFramePr>
        <p:xfrm>
          <a:off x="6764609" y="1450976"/>
          <a:ext cx="2521741" cy="68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172" imgH="393529" progId="Equation.3">
                  <p:embed/>
                </p:oleObj>
              </mc:Choice>
              <mc:Fallback>
                <p:oleObj name="Equation" r:id="rId2" imgW="1447172" imgH="393529" progId="Equation.3">
                  <p:embed/>
                  <p:pic>
                    <p:nvPicPr>
                      <p:cNvPr id="2253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4609" y="1450976"/>
                        <a:ext cx="2521741" cy="689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6" name="Object 7"/>
              <p:cNvSpPr txBox="1"/>
              <p:nvPr/>
            </p:nvSpPr>
            <p:spPr bwMode="auto">
              <a:xfrm>
                <a:off x="4732338" y="2409825"/>
                <a:ext cx="184785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func>
                        <m:funcPr>
                          <m:ctrl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36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2338" y="2409825"/>
                <a:ext cx="1847850" cy="406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7" name="Rectangle 8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350"/>
          </a:p>
        </p:txBody>
      </p:sp>
      <p:graphicFrame>
        <p:nvGraphicFramePr>
          <p:cNvPr id="22538" name="Object 9"/>
          <p:cNvGraphicFramePr>
            <a:graphicFrameLocks noChangeAspect="1"/>
          </p:cNvGraphicFramePr>
          <p:nvPr/>
        </p:nvGraphicFramePr>
        <p:xfrm>
          <a:off x="6096000" y="3106930"/>
          <a:ext cx="1728216" cy="640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6337" imgH="393529" progId="Equation.3">
                  <p:embed/>
                </p:oleObj>
              </mc:Choice>
              <mc:Fallback>
                <p:oleObj name="Equation" r:id="rId5" imgW="1066337" imgH="393529" progId="Equation.3">
                  <p:embed/>
                  <p:pic>
                    <p:nvPicPr>
                      <p:cNvPr id="2253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106930"/>
                        <a:ext cx="1728216" cy="640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4AF7F8-B7BC-892C-BC49-0749EFE74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11" y="1996498"/>
            <a:ext cx="3750992" cy="2500661"/>
          </a:xfrm>
          <a:prstGeom prst="rect">
            <a:avLst/>
          </a:prstGeom>
        </p:spPr>
      </p:pic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266799B-CE14-4B96-A937-46E24F8CE167}" type="slidenum">
              <a:rPr lang="en-US" smtClean="0"/>
              <a:pPr eaLnBrk="1" hangingPunct="1"/>
              <a:t>39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09902" y="2057401"/>
            <a:ext cx="2585357" cy="339447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Resistive force is never really zero in real systems</a:t>
            </a:r>
          </a:p>
          <a:p>
            <a:pPr eaLnBrk="1" hangingPunct="1"/>
            <a:r>
              <a:rPr lang="en-US" dirty="0"/>
              <a:t>It can be small</a:t>
            </a:r>
          </a:p>
          <a:p>
            <a:pPr eaLnBrk="1" hangingPunct="1"/>
            <a:endParaRPr lang="en-US" dirty="0"/>
          </a:p>
        </p:txBody>
      </p:sp>
      <p:sp>
        <p:nvSpPr>
          <p:cNvPr id="23558" name="Line 8"/>
          <p:cNvSpPr>
            <a:spLocks noChangeShapeType="1"/>
          </p:cNvSpPr>
          <p:nvPr/>
        </p:nvSpPr>
        <p:spPr bwMode="auto">
          <a:xfrm flipH="1">
            <a:off x="7303801" y="3546368"/>
            <a:ext cx="511969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3559" name="Text Box 9"/>
          <p:cNvSpPr txBox="1">
            <a:spLocks noChangeArrowheads="1"/>
          </p:cNvSpPr>
          <p:nvPr/>
        </p:nvSpPr>
        <p:spPr bwMode="auto">
          <a:xfrm>
            <a:off x="7801562" y="3355869"/>
            <a:ext cx="77136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1350"/>
              <a:t>Large b</a:t>
            </a:r>
          </a:p>
        </p:txBody>
      </p:sp>
      <p:sp>
        <p:nvSpPr>
          <p:cNvPr id="23560" name="Line 10"/>
          <p:cNvSpPr>
            <a:spLocks noChangeShapeType="1"/>
          </p:cNvSpPr>
          <p:nvPr/>
        </p:nvSpPr>
        <p:spPr bwMode="auto">
          <a:xfrm flipH="1" flipV="1">
            <a:off x="7287131" y="2354553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3561" name="Text Box 11"/>
          <p:cNvSpPr txBox="1">
            <a:spLocks noChangeArrowheads="1"/>
          </p:cNvSpPr>
          <p:nvPr/>
        </p:nvSpPr>
        <p:spPr bwMode="auto">
          <a:xfrm>
            <a:off x="7865902" y="2337884"/>
            <a:ext cx="7617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1350"/>
              <a:t>Small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2E9D35-DB4B-E837-D5E1-83BA2E873ED1}"/>
                  </a:ext>
                </a:extLst>
              </p:cNvPr>
              <p:cNvSpPr txBox="1"/>
              <p:nvPr/>
            </p:nvSpPr>
            <p:spPr>
              <a:xfrm>
                <a:off x="8535110" y="4440612"/>
                <a:ext cx="10270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1200" dirty="0"/>
                  <a:t> (rad/sec)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2E9D35-DB4B-E837-D5E1-83BA2E873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110" y="4440612"/>
                <a:ext cx="1027032" cy="276999"/>
              </a:xfrm>
              <a:prstGeom prst="rect">
                <a:avLst/>
              </a:prstGeom>
              <a:blipFill>
                <a:blip r:embed="rId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EE5103E-6A1B-4022-ADD9-EEAD660E9795}" type="slidenum">
              <a:rPr lang="en-US" smtClean="0"/>
              <a:pPr eaLnBrk="1" hangingPunct="1"/>
              <a:t>40</a:t>
            </a:fld>
            <a:endParaRPr lang="en-US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Remember Tacoma Narrows? 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5868" y="1731764"/>
            <a:ext cx="7890933" cy="339447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The wind gusts formed a periodic driving force that allowed a driving harmonic oscillation to form. 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Since the bridge was resonant with the gust frequency, the amplitude grew until the bridge materials broke.</a:t>
            </a:r>
          </a:p>
        </p:txBody>
      </p:sp>
      <p:pic>
        <p:nvPicPr>
          <p:cNvPr id="2" name="Picture 1" descr="File:Tacoma Narrows Bridge Falling.png">
            <a:extLst>
              <a:ext uri="{FF2B5EF4-FFF2-40B4-BE49-F238E27FC236}">
                <a16:creationId xmlns:a16="http://schemas.microsoft.com/office/drawing/2014/main" id="{97DA0287-7C11-6853-614F-8CB4B73A9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699" y="4321475"/>
            <a:ext cx="3174603" cy="2400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D59E-C377-D497-A0B0-1319A62C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lide Number Placeholder 5">
            <a:extLst>
              <a:ext uri="{FF2B5EF4-FFF2-40B4-BE49-F238E27FC236}">
                <a16:creationId xmlns:a16="http://schemas.microsoft.com/office/drawing/2014/main" id="{4A362039-A16D-A42A-6B62-4AFA5EEEF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EE5103E-6A1B-4022-ADD9-EEAD660E9795}" type="slidenum">
              <a:rPr lang="en-US" smtClean="0"/>
              <a:pPr eaLnBrk="1" hangingPunct="1"/>
              <a:t>41</a:t>
            </a:fld>
            <a:endParaRPr lang="en-US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A7D613CA-CE67-46E2-3F9E-0D6B13AF7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Remember Tacoma Narrows? </a:t>
            </a:r>
          </a:p>
        </p:txBody>
      </p:sp>
      <p:sp>
        <p:nvSpPr>
          <p:cNvPr id="1030" name="Rectangle 3">
            <a:extLst>
              <a:ext uri="{FF2B5EF4-FFF2-40B4-BE49-F238E27FC236}">
                <a16:creationId xmlns:a16="http://schemas.microsoft.com/office/drawing/2014/main" id="{90A21971-A232-47EF-3A02-A58F8B124A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32774" y="2143126"/>
            <a:ext cx="2950369" cy="3394472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/>
              <a:t>The wind gusts formed a periodic driving force that allowed a driving harmonic oscillation to form. </a:t>
            </a:r>
          </a:p>
          <a:p>
            <a:pPr eaLnBrk="1" hangingPunct="1">
              <a:lnSpc>
                <a:spcPct val="80000"/>
              </a:lnSpc>
            </a:pPr>
            <a:r>
              <a:rPr lang="en-US"/>
              <a:t>Since the bridge was resonant with the gust frequency, the amplitude grew until the bridge materials broke.</a:t>
            </a:r>
          </a:p>
        </p:txBody>
      </p:sp>
      <p:pic>
        <p:nvPicPr>
          <p:cNvPr id="3" name="Online Media 2" title="Tacoma Narrows Bridge Collapse (Sound Version) (Standard 4:3) (1940)">
            <a:hlinkClick r:id="" action="ppaction://media"/>
            <a:extLst>
              <a:ext uri="{FF2B5EF4-FFF2-40B4-BE49-F238E27FC236}">
                <a16:creationId xmlns:a16="http://schemas.microsoft.com/office/drawing/2014/main" id="{D3A3881A-6F56-320F-BD99-48F2696C7B4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353056" y="1107059"/>
            <a:ext cx="7485888" cy="561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9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E51C186-1BB2-4F1F-9C5C-C604BA7AA83F}" type="slidenum">
              <a:rPr lang="en-US" smtClean="0"/>
              <a:pPr eaLnBrk="1" hangingPunct="1"/>
              <a:t>42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13460" y="2110978"/>
            <a:ext cx="6172200" cy="339447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1200" dirty="0"/>
              <a:t>SHM along a straight line can be thought of as a projection of a uniform circular motion along a diameter of a reference circle</a:t>
            </a:r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1200" dirty="0"/>
              <a:t>Pendulum</a:t>
            </a:r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1200" dirty="0"/>
              <a:t>Physical Pendulum</a:t>
            </a:r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1200" dirty="0" err="1"/>
              <a:t>Torsoinal</a:t>
            </a:r>
            <a:r>
              <a:rPr lang="en-US" sz="1200" dirty="0"/>
              <a:t> Pendulum</a:t>
            </a:r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1200" dirty="0"/>
              <a:t>Damped Oscillation</a:t>
            </a:r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1200" dirty="0"/>
              <a:t>Forced Oscillation</a:t>
            </a:r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</p:txBody>
      </p:sp>
      <p:graphicFrame>
        <p:nvGraphicFramePr>
          <p:cNvPr id="24581" name="Object 4"/>
          <p:cNvGraphicFramePr>
            <a:graphicFrameLocks noChangeAspect="1"/>
          </p:cNvGraphicFramePr>
          <p:nvPr/>
        </p:nvGraphicFramePr>
        <p:xfrm>
          <a:off x="4181476" y="2607470"/>
          <a:ext cx="40957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002" imgH="177723" progId="Equation.3">
                  <p:embed/>
                </p:oleObj>
              </mc:Choice>
              <mc:Fallback>
                <p:oleObj name="Equation" r:id="rId2" imgW="457002" imgH="177723" progId="Equation.3">
                  <p:embed/>
                  <p:pic>
                    <p:nvPicPr>
                      <p:cNvPr id="2458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6" y="2607470"/>
                        <a:ext cx="409575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5"/>
          <p:cNvGraphicFramePr>
            <a:graphicFrameLocks noChangeAspect="1"/>
          </p:cNvGraphicFramePr>
          <p:nvPr/>
        </p:nvGraphicFramePr>
        <p:xfrm>
          <a:off x="4779170" y="2502695"/>
          <a:ext cx="70961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00100" imgH="419100" progId="Equation.3">
                  <p:embed/>
                </p:oleObj>
              </mc:Choice>
              <mc:Fallback>
                <p:oleObj name="Equation" r:id="rId4" imgW="800100" imgH="419100" progId="Equation.3">
                  <p:embed/>
                  <p:pic>
                    <p:nvPicPr>
                      <p:cNvPr id="2458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170" y="2502695"/>
                        <a:ext cx="70961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6"/>
          <p:cNvGraphicFramePr>
            <a:graphicFrameLocks noChangeAspect="1"/>
          </p:cNvGraphicFramePr>
          <p:nvPr/>
        </p:nvGraphicFramePr>
        <p:xfrm>
          <a:off x="7112795" y="2590801"/>
          <a:ext cx="1135856" cy="194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200" imgH="228600" progId="Equation.3">
                  <p:embed/>
                </p:oleObj>
              </mc:Choice>
              <mc:Fallback>
                <p:oleObj name="Equation" r:id="rId6" imgW="1346200" imgH="228600" progId="Equation.3">
                  <p:embed/>
                  <p:pic>
                    <p:nvPicPr>
                      <p:cNvPr id="2458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795" y="2590801"/>
                        <a:ext cx="1135856" cy="194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7"/>
          <p:cNvGraphicFramePr>
            <a:graphicFrameLocks noChangeAspect="1"/>
          </p:cNvGraphicFramePr>
          <p:nvPr/>
        </p:nvGraphicFramePr>
        <p:xfrm>
          <a:off x="5605463" y="2511030"/>
          <a:ext cx="4381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85" imgH="393529" progId="Equation.3">
                  <p:embed/>
                </p:oleObj>
              </mc:Choice>
              <mc:Fallback>
                <p:oleObj name="Equation" r:id="rId8" imgW="495085" imgH="393529" progId="Equation.3">
                  <p:embed/>
                  <p:pic>
                    <p:nvPicPr>
                      <p:cNvPr id="2458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2511030"/>
                        <a:ext cx="4381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8"/>
          <p:cNvGraphicFramePr>
            <a:graphicFrameLocks noChangeAspect="1"/>
          </p:cNvGraphicFramePr>
          <p:nvPr/>
        </p:nvGraphicFramePr>
        <p:xfrm>
          <a:off x="6257925" y="2540795"/>
          <a:ext cx="681038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79500" imgH="469900" progId="Equation.3">
                  <p:embed/>
                </p:oleObj>
              </mc:Choice>
              <mc:Fallback>
                <p:oleObj name="Equation" r:id="rId10" imgW="1079500" imgH="469900" progId="Equation.3">
                  <p:embed/>
                  <p:pic>
                    <p:nvPicPr>
                      <p:cNvPr id="2458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7925" y="2540795"/>
                        <a:ext cx="681038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9"/>
          <p:cNvGraphicFramePr>
            <a:graphicFrameLocks noChangeAspect="1"/>
          </p:cNvGraphicFramePr>
          <p:nvPr/>
        </p:nvGraphicFramePr>
        <p:xfrm>
          <a:off x="7058025" y="3001568"/>
          <a:ext cx="928688" cy="158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46200" imgH="228600" progId="Equation.3">
                  <p:embed/>
                </p:oleObj>
              </mc:Choice>
              <mc:Fallback>
                <p:oleObj name="Equation" r:id="rId12" imgW="1346200" imgH="228600" progId="Equation.3">
                  <p:embed/>
                  <p:pic>
                    <p:nvPicPr>
                      <p:cNvPr id="2458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25" y="3001568"/>
                        <a:ext cx="928688" cy="158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0"/>
          <p:cNvGraphicFramePr>
            <a:graphicFrameLocks noChangeAspect="1"/>
          </p:cNvGraphicFramePr>
          <p:nvPr/>
        </p:nvGraphicFramePr>
        <p:xfrm>
          <a:off x="4799412" y="2987280"/>
          <a:ext cx="650081" cy="278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77900" imgH="419100" progId="Equation.3">
                  <p:embed/>
                </p:oleObj>
              </mc:Choice>
              <mc:Fallback>
                <p:oleObj name="Equation" r:id="rId13" imgW="977900" imgH="419100" progId="Equation.3">
                  <p:embed/>
                  <p:pic>
                    <p:nvPicPr>
                      <p:cNvPr id="2458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412" y="2987280"/>
                        <a:ext cx="650081" cy="278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11"/>
          <p:cNvGraphicFramePr>
            <a:graphicFrameLocks noChangeAspect="1"/>
          </p:cNvGraphicFramePr>
          <p:nvPr/>
        </p:nvGraphicFramePr>
        <p:xfrm>
          <a:off x="5532835" y="2999185"/>
          <a:ext cx="498872" cy="289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72808" imgH="393529" progId="Equation.3">
                  <p:embed/>
                </p:oleObj>
              </mc:Choice>
              <mc:Fallback>
                <p:oleObj name="Equation" r:id="rId15" imgW="672808" imgH="393529" progId="Equation.3">
                  <p:embed/>
                  <p:pic>
                    <p:nvPicPr>
                      <p:cNvPr id="2458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835" y="2999185"/>
                        <a:ext cx="498872" cy="289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2"/>
          <p:cNvGraphicFramePr>
            <a:graphicFrameLocks noChangeAspect="1"/>
          </p:cNvGraphicFramePr>
          <p:nvPr/>
        </p:nvGraphicFramePr>
        <p:xfrm>
          <a:off x="6161486" y="2937272"/>
          <a:ext cx="72866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01309" imgH="469696" progId="Equation.3">
                  <p:embed/>
                </p:oleObj>
              </mc:Choice>
              <mc:Fallback>
                <p:oleObj name="Equation" r:id="rId17" imgW="901309" imgH="469696" progId="Equation.3">
                  <p:embed/>
                  <p:pic>
                    <p:nvPicPr>
                      <p:cNvPr id="2458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1486" y="2937272"/>
                        <a:ext cx="728663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13"/>
          <p:cNvGraphicFramePr>
            <a:graphicFrameLocks noChangeAspect="1"/>
          </p:cNvGraphicFramePr>
          <p:nvPr/>
        </p:nvGraphicFramePr>
        <p:xfrm>
          <a:off x="7058026" y="3318273"/>
          <a:ext cx="983456" cy="167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46200" imgH="228600" progId="Equation.3">
                  <p:embed/>
                </p:oleObj>
              </mc:Choice>
              <mc:Fallback>
                <p:oleObj name="Equation" r:id="rId19" imgW="1346200" imgH="228600" progId="Equation.3">
                  <p:embed/>
                  <p:pic>
                    <p:nvPicPr>
                      <p:cNvPr id="2459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26" y="3318273"/>
                        <a:ext cx="983456" cy="167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4"/>
          <p:cNvGraphicFramePr>
            <a:graphicFrameLocks noChangeAspect="1"/>
          </p:cNvGraphicFramePr>
          <p:nvPr/>
        </p:nvGraphicFramePr>
        <p:xfrm>
          <a:off x="4837511" y="3432572"/>
          <a:ext cx="527447" cy="275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00100" imgH="419100" progId="Equation.3">
                  <p:embed/>
                </p:oleObj>
              </mc:Choice>
              <mc:Fallback>
                <p:oleObj name="Equation" r:id="rId20" imgW="800100" imgH="419100" progId="Equation.3">
                  <p:embed/>
                  <p:pic>
                    <p:nvPicPr>
                      <p:cNvPr id="2459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511" y="3432572"/>
                        <a:ext cx="527447" cy="275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15"/>
          <p:cNvGraphicFramePr>
            <a:graphicFrameLocks noChangeAspect="1"/>
          </p:cNvGraphicFramePr>
          <p:nvPr/>
        </p:nvGraphicFramePr>
        <p:xfrm>
          <a:off x="5495926" y="3355184"/>
          <a:ext cx="502444" cy="402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95085" imgH="393529" progId="Equation.3">
                  <p:embed/>
                </p:oleObj>
              </mc:Choice>
              <mc:Fallback>
                <p:oleObj name="Equation" r:id="rId22" imgW="495085" imgH="393529" progId="Equation.3">
                  <p:embed/>
                  <p:pic>
                    <p:nvPicPr>
                      <p:cNvPr id="2459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5926" y="3355184"/>
                        <a:ext cx="502444" cy="402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3" name="Object 16"/>
          <p:cNvGraphicFramePr>
            <a:graphicFrameLocks noChangeAspect="1"/>
          </p:cNvGraphicFramePr>
          <p:nvPr/>
        </p:nvGraphicFramePr>
        <p:xfrm>
          <a:off x="6238876" y="3378995"/>
          <a:ext cx="502444" cy="316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10891" imgH="444307" progId="Equation.3">
                  <p:embed/>
                </p:oleObj>
              </mc:Choice>
              <mc:Fallback>
                <p:oleObj name="Equation" r:id="rId24" imgW="710891" imgH="444307" progId="Equation.3">
                  <p:embed/>
                  <p:pic>
                    <p:nvPicPr>
                      <p:cNvPr id="2459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6" y="3378995"/>
                        <a:ext cx="502444" cy="316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4" name="Object 17"/>
          <p:cNvGraphicFramePr>
            <a:graphicFrameLocks noChangeAspect="1"/>
          </p:cNvGraphicFramePr>
          <p:nvPr/>
        </p:nvGraphicFramePr>
        <p:xfrm>
          <a:off x="4856560" y="4049317"/>
          <a:ext cx="623888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96900" imgH="228600" progId="Equation.3">
                  <p:embed/>
                </p:oleObj>
              </mc:Choice>
              <mc:Fallback>
                <p:oleObj name="Equation" r:id="rId26" imgW="596900" imgH="228600" progId="Equation.3">
                  <p:embed/>
                  <p:pic>
                    <p:nvPicPr>
                      <p:cNvPr id="2459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560" y="4049317"/>
                        <a:ext cx="623888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5" name="Object 18"/>
          <p:cNvGraphicFramePr>
            <a:graphicFrameLocks noChangeAspect="1"/>
          </p:cNvGraphicFramePr>
          <p:nvPr/>
        </p:nvGraphicFramePr>
        <p:xfrm>
          <a:off x="5638801" y="3998121"/>
          <a:ext cx="1067991" cy="364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31366" imgH="418918" progId="Equation.3">
                  <p:embed/>
                </p:oleObj>
              </mc:Choice>
              <mc:Fallback>
                <p:oleObj name="Equation" r:id="rId28" imgW="1231366" imgH="418918" progId="Equation.3">
                  <p:embed/>
                  <p:pic>
                    <p:nvPicPr>
                      <p:cNvPr id="2459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1" y="3998121"/>
                        <a:ext cx="1067991" cy="3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6" name="Object 19"/>
          <p:cNvGraphicFramePr>
            <a:graphicFrameLocks noChangeAspect="1"/>
          </p:cNvGraphicFramePr>
          <p:nvPr/>
        </p:nvGraphicFramePr>
        <p:xfrm>
          <a:off x="6858001" y="4023125"/>
          <a:ext cx="1376363" cy="230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11300" imgH="254000" progId="Equation.3">
                  <p:embed/>
                </p:oleObj>
              </mc:Choice>
              <mc:Fallback>
                <p:oleObj name="Equation" r:id="rId30" imgW="1511300" imgH="254000" progId="Equation.3">
                  <p:embed/>
                  <p:pic>
                    <p:nvPicPr>
                      <p:cNvPr id="2459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1" y="4023125"/>
                        <a:ext cx="1376363" cy="230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597" name="Object 20"/>
              <p:cNvSpPr txBox="1"/>
              <p:nvPr/>
            </p:nvSpPr>
            <p:spPr bwMode="auto">
              <a:xfrm>
                <a:off x="8307388" y="3987800"/>
                <a:ext cx="1124743" cy="48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597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07388" y="3987800"/>
                <a:ext cx="1124743" cy="48260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98" name="Object 21"/>
              <p:cNvSpPr txBox="1"/>
              <p:nvPr/>
            </p:nvSpPr>
            <p:spPr bwMode="auto">
              <a:xfrm>
                <a:off x="4799412" y="4371975"/>
                <a:ext cx="660002" cy="389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3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598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9412" y="4371975"/>
                <a:ext cx="660002" cy="38986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99" name="Object 22"/>
              <p:cNvSpPr txBox="1"/>
              <p:nvPr/>
            </p:nvSpPr>
            <p:spPr bwMode="auto">
              <a:xfrm>
                <a:off x="5780088" y="4470400"/>
                <a:ext cx="840978" cy="330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599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0088" y="4470400"/>
                <a:ext cx="840978" cy="33073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00" name="Object 23"/>
              <p:cNvSpPr txBox="1"/>
              <p:nvPr/>
            </p:nvSpPr>
            <p:spPr bwMode="auto">
              <a:xfrm>
                <a:off x="4776128" y="4811846"/>
                <a:ext cx="1316038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func>
                        <m:funcPr>
                          <m:ctrl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600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6128" y="4811846"/>
                <a:ext cx="1316038" cy="23812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01" name="Object 24"/>
              <p:cNvSpPr txBox="1"/>
              <p:nvPr/>
            </p:nvSpPr>
            <p:spPr bwMode="auto">
              <a:xfrm>
                <a:off x="7361238" y="4632324"/>
                <a:ext cx="1597556" cy="701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601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61238" y="4632324"/>
                <a:ext cx="1597556" cy="70128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602" name="Object 25"/>
          <p:cNvGraphicFramePr>
            <a:graphicFrameLocks noChangeAspect="1"/>
          </p:cNvGraphicFramePr>
          <p:nvPr/>
        </p:nvGraphicFramePr>
        <p:xfrm>
          <a:off x="6118228" y="4866483"/>
          <a:ext cx="89654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193800" imgH="215900" progId="Equation.3">
                  <p:embed/>
                </p:oleObj>
              </mc:Choice>
              <mc:Fallback>
                <p:oleObj name="Equation" r:id="rId37" imgW="1193800" imgH="215900" progId="Equation.3">
                  <p:embed/>
                  <p:pic>
                    <p:nvPicPr>
                      <p:cNvPr id="2460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8228" y="4866483"/>
                        <a:ext cx="89654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598D0C-1F10-4CEE-BDA5-C3B43D6AA92E}" type="slidenum">
              <a:rPr lang="en-US" smtClean="0"/>
              <a:pPr eaLnBrk="1" hangingPunct="1"/>
              <a:t>43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833"/>
            <a:ext cx="10515600" cy="1325563"/>
          </a:xfrm>
        </p:spPr>
        <p:txBody>
          <a:bodyPr/>
          <a:lstStyle/>
          <a:p>
            <a:pPr eaLnBrk="1" hangingPunct="1"/>
            <a:r>
              <a:rPr lang="en-US" dirty="0"/>
              <a:t>Critical Damping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57301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400" dirty="0"/>
              <a:t>Condition for critical damping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Then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Where                    is the </a:t>
            </a:r>
            <a:r>
              <a:rPr lang="en-US" sz="2400" i="1" dirty="0"/>
              <a:t>natural frequency</a:t>
            </a:r>
            <a:r>
              <a:rPr lang="en-US" sz="2400" dirty="0"/>
              <a:t> of the system 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We define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Remark </a:t>
            </a:r>
            <a:r>
              <a:rPr lang="en-US" sz="2400" i="1" dirty="0"/>
              <a:t>When               the solution in equation (damped solution) is not valid! </a:t>
            </a:r>
          </a:p>
          <a:p>
            <a:pPr lvl="1" eaLnBrk="1" hangingPunct="1"/>
            <a:r>
              <a:rPr lang="en-US" sz="2000" i="1" dirty="0"/>
              <a:t>You will find out more about this situation in your advanced mechanics classes.</a:t>
            </a:r>
            <a:endParaRPr lang="en-US" sz="2000" dirty="0"/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1524001" y="2653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4" name="Object 5"/>
              <p:cNvSpPr txBox="1"/>
              <p:nvPr/>
            </p:nvSpPr>
            <p:spPr bwMode="auto">
              <a:xfrm>
                <a:off x="6961188" y="1252538"/>
                <a:ext cx="1296987" cy="592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1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61188" y="1252538"/>
                <a:ext cx="1296987" cy="5921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74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0417"/>
              </p:ext>
            </p:extLst>
          </p:nvPr>
        </p:nvGraphicFramePr>
        <p:xfrm>
          <a:off x="3221038" y="1900239"/>
          <a:ext cx="18415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58900" imgH="508000" progId="Equation.3">
                  <p:embed/>
                </p:oleObj>
              </mc:Choice>
              <mc:Fallback>
                <p:oleObj name="Equation" r:id="rId3" imgW="1358900" imgH="508000" progId="Equation.3">
                  <p:embed/>
                  <p:pic>
                    <p:nvPicPr>
                      <p:cNvPr id="174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038" y="1900239"/>
                        <a:ext cx="18415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Rectangle 8"/>
          <p:cNvSpPr>
            <a:spLocks noChangeArrowheads="1"/>
          </p:cNvSpPr>
          <p:nvPr/>
        </p:nvSpPr>
        <p:spPr bwMode="auto">
          <a:xfrm>
            <a:off x="1524001" y="2653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8" name="Object 9"/>
              <p:cNvSpPr txBox="1"/>
              <p:nvPr/>
            </p:nvSpPr>
            <p:spPr bwMode="auto">
              <a:xfrm>
                <a:off x="3221038" y="2714625"/>
                <a:ext cx="844550" cy="61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18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1038" y="2714625"/>
                <a:ext cx="844550" cy="6159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9" name="Rectangle 10"/>
          <p:cNvSpPr>
            <a:spLocks noChangeArrowheads="1"/>
          </p:cNvSpPr>
          <p:nvPr/>
        </p:nvSpPr>
        <p:spPr bwMode="auto">
          <a:xfrm>
            <a:off x="1524001" y="272045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20" name="Object 11"/>
              <p:cNvSpPr txBox="1"/>
              <p:nvPr/>
            </p:nvSpPr>
            <p:spPr bwMode="auto">
              <a:xfrm>
                <a:off x="3819525" y="3636963"/>
                <a:ext cx="1243013" cy="423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20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9525" y="3636963"/>
                <a:ext cx="1243013" cy="4238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21" name="Rectangle 12"/>
          <p:cNvSpPr>
            <a:spLocks noChangeArrowheads="1"/>
          </p:cNvSpPr>
          <p:nvPr/>
        </p:nvSpPr>
        <p:spPr bwMode="auto">
          <a:xfrm>
            <a:off x="1524001" y="2763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22" name="Object 13"/>
              <p:cNvSpPr txBox="1"/>
              <p:nvPr/>
            </p:nvSpPr>
            <p:spPr bwMode="auto">
              <a:xfrm>
                <a:off x="4065588" y="4384260"/>
                <a:ext cx="841905" cy="389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22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5588" y="4384260"/>
                <a:ext cx="841905" cy="3893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263E-575C-16C8-517F-F6050C9CE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5B2E5-FE0C-6FCC-8628-3B47A5F030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16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1438</Words>
  <Application>Microsoft Office PowerPoint</Application>
  <PresentationFormat>Widescreen</PresentationFormat>
  <Paragraphs>412</Paragraphs>
  <Slides>44</Slides>
  <Notes>0</Notes>
  <HiddenSlides>0</HiddenSlides>
  <MMClips>2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Aptos Display</vt:lpstr>
      <vt:lpstr>Arial</vt:lpstr>
      <vt:lpstr>Cambria Math</vt:lpstr>
      <vt:lpstr>Symbol</vt:lpstr>
      <vt:lpstr>Office Theme</vt:lpstr>
      <vt:lpstr>Equation</vt:lpstr>
      <vt:lpstr>Equation.3</vt:lpstr>
      <vt:lpstr>Lecture 3</vt:lpstr>
      <vt:lpstr>Question 123.1.11</vt:lpstr>
      <vt:lpstr>Question 123.1.12</vt:lpstr>
      <vt:lpstr>Trigonometry</vt:lpstr>
      <vt:lpstr>Trigonometry</vt:lpstr>
      <vt:lpstr>Dot product</vt:lpstr>
      <vt:lpstr>Relationship to SHM</vt:lpstr>
      <vt:lpstr>More Geometry</vt:lpstr>
      <vt:lpstr>Relationship to SHM</vt:lpstr>
      <vt:lpstr>Equations for the two SHOs</vt:lpstr>
      <vt:lpstr>Rotation and Velocity</vt:lpstr>
      <vt:lpstr>Rotation and Acceleration</vt:lpstr>
      <vt:lpstr>PowerPoint Presentation</vt:lpstr>
      <vt:lpstr>PowerPoint Presentation</vt:lpstr>
      <vt:lpstr>Pendulum</vt:lpstr>
      <vt:lpstr>PowerPoint Presentation</vt:lpstr>
      <vt:lpstr>Pendulum</vt:lpstr>
      <vt:lpstr>PowerPoint Presentation</vt:lpstr>
      <vt:lpstr>Physical Pendulum</vt:lpstr>
      <vt:lpstr>Physical Pendulum</vt:lpstr>
      <vt:lpstr>Torsional Pendulum</vt:lpstr>
      <vt:lpstr>Motion of a Torsional Pendulum</vt:lpstr>
      <vt:lpstr>Torsional Pendulum</vt:lpstr>
      <vt:lpstr>Damped Oscillations </vt:lpstr>
      <vt:lpstr>PowerPoint Presentation</vt:lpstr>
      <vt:lpstr>Question 6.14 </vt:lpstr>
      <vt:lpstr>Add a frictional force</vt:lpstr>
      <vt:lpstr>Solution</vt:lpstr>
      <vt:lpstr>Example</vt:lpstr>
      <vt:lpstr>Larger b-value</vt:lpstr>
      <vt:lpstr>Even Larger b-value</vt:lpstr>
      <vt:lpstr>Forced Oscillations</vt:lpstr>
      <vt:lpstr>PowerPoint Presentation</vt:lpstr>
      <vt:lpstr>PowerPoint Presentation</vt:lpstr>
      <vt:lpstr>Driving Force</vt:lpstr>
      <vt:lpstr>Steady State</vt:lpstr>
      <vt:lpstr>Example</vt:lpstr>
      <vt:lpstr>Resonance</vt:lpstr>
      <vt:lpstr>Example</vt:lpstr>
      <vt:lpstr>Remember Tacoma Narrows? </vt:lpstr>
      <vt:lpstr>Remember Tacoma Narrows? </vt:lpstr>
      <vt:lpstr>Summary</vt:lpstr>
      <vt:lpstr>Critical Damping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Lines, Todd</dc:creator>
  <cp:lastModifiedBy>Todd Lines</cp:lastModifiedBy>
  <cp:revision>1</cp:revision>
  <dcterms:created xsi:type="dcterms:W3CDTF">2025-04-18T21:04:32Z</dcterms:created>
  <dcterms:modified xsi:type="dcterms:W3CDTF">2026-09-15T19:12:01Z</dcterms:modified>
</cp:coreProperties>
</file>