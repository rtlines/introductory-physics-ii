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335" r:id="rId3"/>
    <p:sldId id="310" r:id="rId4"/>
    <p:sldId id="340" r:id="rId5"/>
    <p:sldId id="280" r:id="rId6"/>
    <p:sldId id="342" r:id="rId7"/>
    <p:sldId id="338" r:id="rId8"/>
    <p:sldId id="339" r:id="rId9"/>
    <p:sldId id="344" r:id="rId10"/>
    <p:sldId id="345" r:id="rId11"/>
    <p:sldId id="334" r:id="rId12"/>
    <p:sldId id="336" r:id="rId13"/>
    <p:sldId id="337" r:id="rId14"/>
    <p:sldId id="303" r:id="rId15"/>
    <p:sldId id="306" r:id="rId16"/>
    <p:sldId id="304" r:id="rId17"/>
    <p:sldId id="305" r:id="rId18"/>
    <p:sldId id="307" r:id="rId19"/>
    <p:sldId id="308" r:id="rId20"/>
    <p:sldId id="309" r:id="rId21"/>
    <p:sldId id="343" r:id="rId22"/>
    <p:sldId id="311" r:id="rId23"/>
    <p:sldId id="312" r:id="rId24"/>
    <p:sldId id="313" r:id="rId25"/>
    <p:sldId id="314" r:id="rId26"/>
    <p:sldId id="315" r:id="rId27"/>
    <p:sldId id="316" r:id="rId28"/>
    <p:sldId id="341" r:id="rId29"/>
    <p:sldId id="281" r:id="rId30"/>
    <p:sldId id="282" r:id="rId31"/>
    <p:sldId id="283" r:id="rId32"/>
    <p:sldId id="284" r:id="rId33"/>
    <p:sldId id="285" r:id="rId34"/>
    <p:sldId id="286" r:id="rId35"/>
    <p:sldId id="287" r:id="rId36"/>
    <p:sldId id="288" r:id="rId37"/>
    <p:sldId id="276" r:id="rId38"/>
    <p:sldId id="289" r:id="rId39"/>
    <p:sldId id="290" r:id="rId40"/>
    <p:sldId id="291" r:id="rId41"/>
    <p:sldId id="292" r:id="rId42"/>
    <p:sldId id="293" r:id="rId43"/>
    <p:sldId id="294" r:id="rId44"/>
    <p:sldId id="295" r:id="rId45"/>
    <p:sldId id="296" r:id="rId46"/>
    <p:sldId id="297" r:id="rId47"/>
    <p:sldId id="298" r:id="rId48"/>
    <p:sldId id="299" r:id="rId49"/>
    <p:sldId id="278" r:id="rId50"/>
    <p:sldId id="279" r:id="rId51"/>
    <p:sldId id="270" r:id="rId52"/>
    <p:sldId id="271" r:id="rId53"/>
    <p:sldId id="272" r:id="rId54"/>
    <p:sldId id="273" r:id="rId55"/>
    <p:sldId id="274" r:id="rId56"/>
    <p:sldId id="275" r:id="rId57"/>
    <p:sldId id="257" r:id="rId58"/>
    <p:sldId id="277" r:id="rId59"/>
    <p:sldId id="258" r:id="rId60"/>
    <p:sldId id="260" r:id="rId61"/>
    <p:sldId id="261" r:id="rId62"/>
    <p:sldId id="259" r:id="rId63"/>
    <p:sldId id="266" r:id="rId64"/>
    <p:sldId id="267" r:id="rId65"/>
    <p:sldId id="268" r:id="rId66"/>
    <p:sldId id="262" r:id="rId67"/>
    <p:sldId id="263" r:id="rId68"/>
    <p:sldId id="264" r:id="rId69"/>
    <p:sldId id="265" r:id="rId70"/>
    <p:sldId id="269"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2" y="4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modSld">
      <pc:chgData name="Todd Lines" userId="afaf7c3a-e8aa-4568-882a-02ad8f9e19b0" providerId="ADAL" clId="{5FF5AC1B-ABA9-43D7-A1E3-2D92732CD6E2}" dt="2026-08-26T19:36:51.232" v="1" actId="20577"/>
      <pc:docMkLst>
        <pc:docMk/>
      </pc:docMkLst>
      <pc:sldChg chg="modSp mod">
        <pc:chgData name="Todd Lines" userId="afaf7c3a-e8aa-4568-882a-02ad8f9e19b0" providerId="ADAL" clId="{5FF5AC1B-ABA9-43D7-A1E3-2D92732CD6E2}" dt="2026-08-26T19:36:51.232" v="1" actId="20577"/>
        <pc:sldMkLst>
          <pc:docMk/>
          <pc:sldMk cId="0" sldId="256"/>
        </pc:sldMkLst>
        <pc:spChg chg="mod">
          <ac:chgData name="Todd Lines" userId="afaf7c3a-e8aa-4568-882a-02ad8f9e19b0" providerId="ADAL" clId="{5FF5AC1B-ABA9-43D7-A1E3-2D92732CD6E2}" dt="2026-08-26T19:36:51.232" v="1" actId="20577"/>
          <ac:spMkLst>
            <pc:docMk/>
            <pc:sldMk cId="0" sldId="25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E2774B-9373-4B21-B2E9-B568D92D52C0}" type="datetimeFigureOut">
              <a:rPr lang="en-US" smtClean="0"/>
              <a:pPr/>
              <a:t>8/26/2026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B0B758-799E-42E9-B874-C52F55C25494}" type="slidenum">
              <a:rPr lang="en-US" smtClean="0"/>
              <a:pPr/>
              <a:t>‹#›</a:t>
            </a:fld>
            <a:endParaRPr lang="en-US"/>
          </a:p>
        </p:txBody>
      </p:sp>
    </p:spTree>
    <p:extLst>
      <p:ext uri="{BB962C8B-B14F-4D97-AF65-F5344CB8AC3E}">
        <p14:creationId xmlns:p14="http://schemas.microsoft.com/office/powerpoint/2010/main" val="256364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7</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8C8713C-BA25-43D7-AB5A-FFA248E59C5E}" type="slidenum">
              <a:rPr lang="en-US"/>
              <a:pPr/>
              <a:t>8</a:t>
            </a:fld>
            <a:endParaRPr lang="en-US"/>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905841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37718DDB-DC96-44BD-9CE9-7D411F691C46}" type="slidenum">
              <a:rPr lang="en-US"/>
              <a:pPr/>
              <a:t>11</a:t>
            </a:fld>
            <a:endParaRPr lang="en-US"/>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p:spPr>
        <p:txBody>
          <a:bodyPr/>
          <a:lstStyle/>
          <a:p>
            <a:fld id="{B663AC38-1B11-4EC7-B905-A0380A52A9F3}" type="slidenum">
              <a:rPr lang="en-US" smtClean="0"/>
              <a:pPr/>
              <a:t>12</a:t>
            </a:fld>
            <a:endParaRPr lang="en-US"/>
          </a:p>
        </p:txBody>
      </p:sp>
      <p:sp>
        <p:nvSpPr>
          <p:cNvPr id="262147" name="Rectangle 2"/>
          <p:cNvSpPr>
            <a:spLocks noGrp="1" noRot="1" noChangeAspect="1" noChangeArrowheads="1" noTextEdit="1"/>
          </p:cNvSpPr>
          <p:nvPr>
            <p:ph type="sldImg"/>
          </p:nvPr>
        </p:nvSpPr>
        <p:spPr>
          <a:ln/>
        </p:spPr>
      </p:sp>
      <p:sp>
        <p:nvSpPr>
          <p:cNvPr id="26214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291982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p:spPr>
        <p:txBody>
          <a:bodyPr/>
          <a:lstStyle/>
          <a:p>
            <a:fld id="{2F1E1C48-A178-4681-ABA5-6300C4B60AE2}" type="slidenum">
              <a:rPr lang="en-US" smtClean="0"/>
              <a:pPr/>
              <a:t>13</a:t>
            </a:fld>
            <a:endParaRPr lang="en-US"/>
          </a:p>
        </p:txBody>
      </p:sp>
      <p:sp>
        <p:nvSpPr>
          <p:cNvPr id="263171" name="Rectangle 2"/>
          <p:cNvSpPr>
            <a:spLocks noGrp="1" noRot="1" noChangeAspect="1" noChangeArrowheads="1" noTextEdit="1"/>
          </p:cNvSpPr>
          <p:nvPr>
            <p:ph type="sldImg"/>
          </p:nvPr>
        </p:nvSpPr>
        <p:spPr>
          <a:ln/>
        </p:spPr>
      </p:sp>
      <p:sp>
        <p:nvSpPr>
          <p:cNvPr id="2631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91188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8B0B758-799E-42E9-B874-C52F55C25494}" type="slidenum">
              <a:rPr lang="en-US" smtClean="0"/>
              <a:pPr/>
              <a:t>57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6A376B9-9B74-4FA2-8BD5-386EFBF182CB}"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376B9-9B74-4FA2-8BD5-386EFBF182CB}"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376B9-9B74-4FA2-8BD5-386EFBF182CB}"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A376B9-9B74-4FA2-8BD5-386EFBF182CB}"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A376B9-9B74-4FA2-8BD5-386EFBF182CB}" type="datetimeFigureOut">
              <a:rPr lang="en-US" smtClean="0"/>
              <a:pPr/>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A376B9-9B74-4FA2-8BD5-386EFBF182CB}" type="datetimeFigureOut">
              <a:rPr lang="en-US" smtClean="0"/>
              <a:pPr/>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376B9-9B74-4FA2-8BD5-386EFBF182CB}" type="datetimeFigureOut">
              <a:rPr lang="en-US" smtClean="0"/>
              <a:pPr/>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376B9-9B74-4FA2-8BD5-386EFBF182CB}"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376B9-9B74-4FA2-8BD5-386EFBF182CB}" type="datetimeFigureOut">
              <a:rPr lang="en-US" smtClean="0"/>
              <a:pPr/>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376B9-9B74-4FA2-8BD5-386EFBF182CB}"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376B9-9B74-4FA2-8BD5-386EFBF182CB}" type="datetimeFigureOut">
              <a:rPr lang="en-US" smtClean="0"/>
              <a:pPr/>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1B99B9-6744-4B61-ACA6-5CFEF05D2F59}"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r>
              <a:rPr lang="en-US"/>
              <a:t>Winter 2007</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R. Todd Lines</a:t>
            </a:r>
          </a:p>
        </p:txBody>
      </p:sp>
      <p:sp>
        <p:nvSpPr>
          <p:cNvPr id="7" name="Rectangle 6"/>
          <p:cNvSpPr>
            <a:spLocks noGrp="1" noChangeArrowheads="1"/>
          </p:cNvSpPr>
          <p:nvPr>
            <p:ph type="sldNum" sz="quarter" idx="12"/>
          </p:nvPr>
        </p:nvSpPr>
        <p:spPr>
          <a:ln/>
        </p:spPr>
        <p:txBody>
          <a:bodyPr/>
          <a:lstStyle>
            <a:lvl1pPr>
              <a:defRPr/>
            </a:lvl1pPr>
          </a:lstStyle>
          <a:p>
            <a:pPr>
              <a:defRPr/>
            </a:pPr>
            <a:fld id="{81DBAEE0-9797-46AF-A754-9F96C666F796}" type="slidenum">
              <a:rPr lang="en-US"/>
              <a:pPr>
                <a:defRPr/>
              </a:pPr>
              <a:t>‹#›</a:t>
            </a:fld>
            <a:endParaRPr lang="en-US"/>
          </a:p>
        </p:txBody>
      </p:sp>
    </p:spTree>
    <p:extLst>
      <p:ext uri="{BB962C8B-B14F-4D97-AF65-F5344CB8AC3E}">
        <p14:creationId xmlns:p14="http://schemas.microsoft.com/office/powerpoint/2010/main" val="237564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376B9-9B74-4FA2-8BD5-386EFBF182CB}" type="datetimeFigureOut">
              <a:rPr lang="en-US" smtClean="0"/>
              <a:pPr/>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1B99B9-6744-4B61-ACA6-5CFEF05D2F5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9.png"/><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7.wmf"/><Relationship Id="rId4" Type="http://schemas.openxmlformats.org/officeDocument/2006/relationships/oleObject" Target="../embeddings/oleObject3.bin"/></Relationships>
</file>

<file path=ppt/slides/_rels/slide20.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8.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1.bin"/><Relationship Id="rId1" Type="http://schemas.openxmlformats.org/officeDocument/2006/relationships/slideLayout" Target="../slideLayouts/slideLayout12.xml"/><Relationship Id="rId5" Type="http://schemas.openxmlformats.org/officeDocument/2006/relationships/image" Target="../media/image22.wmf"/><Relationship Id="rId4" Type="http://schemas.openxmlformats.org/officeDocument/2006/relationships/oleObject" Target="../embeddings/oleObject12.bin"/></Relationships>
</file>

<file path=ppt/slides/_rels/slide3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3.bin"/><Relationship Id="rId1" Type="http://schemas.openxmlformats.org/officeDocument/2006/relationships/slideLayout" Target="../slideLayouts/slideLayout12.xml"/><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3.bin"/></Relationships>
</file>

<file path=ppt/slides/_rels/slide41.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9.wmf"/><Relationship Id="rId4" Type="http://schemas.openxmlformats.org/officeDocument/2006/relationships/oleObject" Target="../embeddings/oleObject5.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24.wmf"/><Relationship Id="rId7" Type="http://schemas.openxmlformats.org/officeDocument/2006/relationships/image" Target="../media/image12.wmf"/><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8.bin"/><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3.wmf"/></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20.bin"/><Relationship Id="rId13" Type="http://schemas.openxmlformats.org/officeDocument/2006/relationships/image" Target="../media/image31.emf"/><Relationship Id="rId3" Type="http://schemas.openxmlformats.org/officeDocument/2006/relationships/image" Target="../media/image26.emf"/><Relationship Id="rId7" Type="http://schemas.openxmlformats.org/officeDocument/2006/relationships/image" Target="../media/image28.emf"/><Relationship Id="rId12" Type="http://schemas.openxmlformats.org/officeDocument/2006/relationships/oleObject" Target="../embeddings/oleObject22.bin"/><Relationship Id="rId2" Type="http://schemas.openxmlformats.org/officeDocument/2006/relationships/oleObject" Target="../embeddings/oleObject17.bin"/><Relationship Id="rId1" Type="http://schemas.openxmlformats.org/officeDocument/2006/relationships/slideLayout" Target="../slideLayouts/slideLayout2.xml"/><Relationship Id="rId6" Type="http://schemas.openxmlformats.org/officeDocument/2006/relationships/oleObject" Target="../embeddings/oleObject19.bin"/><Relationship Id="rId11" Type="http://schemas.openxmlformats.org/officeDocument/2006/relationships/image" Target="../media/image30.emf"/><Relationship Id="rId5" Type="http://schemas.openxmlformats.org/officeDocument/2006/relationships/image" Target="../media/image27.e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29.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25</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0BF91071-14D0-4078-A34E-8C832721604C}" type="slidenum">
              <a:rPr lang="en-US" smtClean="0"/>
              <a:pPr/>
              <a:t>2</a:t>
            </a:fld>
            <a:endParaRPr lang="en-US"/>
          </a:p>
        </p:txBody>
      </p:sp>
      <p:sp>
        <p:nvSpPr>
          <p:cNvPr id="46083" name="Rectangle 2"/>
          <p:cNvSpPr>
            <a:spLocks noGrp="1" noChangeArrowheads="1"/>
          </p:cNvSpPr>
          <p:nvPr>
            <p:ph type="title"/>
          </p:nvPr>
        </p:nvSpPr>
        <p:spPr/>
        <p:txBody>
          <a:bodyPr/>
          <a:lstStyle/>
          <a:p>
            <a:pPr eaLnBrk="1" hangingPunct="1"/>
            <a:r>
              <a:rPr lang="en-US"/>
              <a:t>Question 123.4.7</a:t>
            </a:r>
          </a:p>
        </p:txBody>
      </p:sp>
      <p:sp>
        <p:nvSpPr>
          <p:cNvPr id="410627" name="Rectangle 3"/>
          <p:cNvSpPr>
            <a:spLocks noGrp="1" noChangeArrowheads="1"/>
          </p:cNvSpPr>
          <p:nvPr>
            <p:ph type="body" idx="1"/>
          </p:nvPr>
        </p:nvSpPr>
        <p:spPr>
          <a:xfrm>
            <a:off x="457200" y="1352550"/>
            <a:ext cx="8229600" cy="4525963"/>
          </a:xfrm>
        </p:spPr>
        <p:txBody>
          <a:bodyPr/>
          <a:lstStyle/>
          <a:p>
            <a:pPr eaLnBrk="1" hangingPunct="1">
              <a:lnSpc>
                <a:spcPct val="130000"/>
              </a:lnSpc>
              <a:spcBef>
                <a:spcPct val="50000"/>
              </a:spcBef>
              <a:buFontTx/>
              <a:buNone/>
              <a:defRPr/>
            </a:pPr>
            <a:r>
              <a:rPr lang="en-US" sz="2400" dirty="0">
                <a:effectLst>
                  <a:outerShdw blurRad="38100" dist="38100" dir="2700000" algn="tl">
                    <a:srgbClr val="C0C0C0"/>
                  </a:outerShdw>
                </a:effectLst>
              </a:rPr>
              <a:t>Three containers are filled with water to the same height and have the same surface area at the base, but the total weight of water is different for each.  </a:t>
            </a:r>
            <a:r>
              <a:rPr lang="en-US" sz="2400" b="1" dirty="0">
                <a:effectLst>
                  <a:outerShdw blurRad="38100" dist="38100" dir="2700000" algn="tl">
                    <a:srgbClr val="C0C0C0"/>
                  </a:outerShdw>
                </a:effectLst>
              </a:rPr>
              <a:t>Which container has the greatest total force acting </a:t>
            </a:r>
            <a:r>
              <a:rPr lang="en-US" sz="2800" b="1" dirty="0">
                <a:effectLst>
                  <a:outerShdw blurRad="38100" dist="38100" dir="2700000" algn="tl">
                    <a:srgbClr val="C0C0C0"/>
                  </a:outerShdw>
                </a:effectLst>
              </a:rPr>
              <a:t>on its base</a:t>
            </a:r>
            <a:r>
              <a:rPr lang="en-US" sz="2400" dirty="0">
                <a:effectLst>
                  <a:outerShdw blurRad="38100" dist="38100" dir="2700000" algn="tl">
                    <a:srgbClr val="C0C0C0"/>
                  </a:outerShdw>
                </a:effectLst>
              </a:rPr>
              <a:t>?</a:t>
            </a:r>
          </a:p>
          <a:p>
            <a:pPr eaLnBrk="1" hangingPunct="1">
              <a:lnSpc>
                <a:spcPct val="130000"/>
              </a:lnSpc>
              <a:buFontTx/>
              <a:buNone/>
              <a:defRPr/>
            </a:pPr>
            <a:r>
              <a:rPr lang="en-US" sz="2400" dirty="0">
                <a:solidFill>
                  <a:schemeClr val="tx2"/>
                </a:solidFill>
              </a:rPr>
              <a:t>a)</a:t>
            </a:r>
            <a:r>
              <a:rPr lang="en-US" sz="2400" dirty="0"/>
              <a:t>  </a:t>
            </a:r>
            <a:r>
              <a:rPr lang="en-US" sz="2400" dirty="0">
                <a:solidFill>
                  <a:schemeClr val="tx2"/>
                </a:solidFill>
              </a:rPr>
              <a:t>container 1 </a:t>
            </a:r>
          </a:p>
          <a:p>
            <a:pPr eaLnBrk="1" hangingPunct="1">
              <a:lnSpc>
                <a:spcPct val="130000"/>
              </a:lnSpc>
              <a:buFontTx/>
              <a:buNone/>
              <a:defRPr/>
            </a:pPr>
            <a:r>
              <a:rPr lang="en-US" sz="2400" dirty="0">
                <a:solidFill>
                  <a:schemeClr val="tx2"/>
                </a:solidFill>
              </a:rPr>
              <a:t>b)  container 2 </a:t>
            </a:r>
          </a:p>
          <a:p>
            <a:pPr eaLnBrk="1" hangingPunct="1">
              <a:lnSpc>
                <a:spcPct val="130000"/>
              </a:lnSpc>
              <a:buFontTx/>
              <a:buNone/>
              <a:defRPr/>
            </a:pPr>
            <a:r>
              <a:rPr lang="en-US" sz="2400" dirty="0">
                <a:solidFill>
                  <a:schemeClr val="tx2"/>
                </a:solidFill>
              </a:rPr>
              <a:t>c)  container 3 </a:t>
            </a:r>
          </a:p>
          <a:p>
            <a:pPr eaLnBrk="1" hangingPunct="1">
              <a:lnSpc>
                <a:spcPct val="130000"/>
              </a:lnSpc>
              <a:buFontTx/>
              <a:buNone/>
              <a:defRPr/>
            </a:pPr>
            <a:r>
              <a:rPr lang="en-US" sz="2400" dirty="0">
                <a:solidFill>
                  <a:schemeClr val="tx2"/>
                </a:solidFill>
              </a:rPr>
              <a:t>d)  all three are equal</a:t>
            </a:r>
            <a:endParaRPr lang="en-US" sz="2400" dirty="0">
              <a:effectLst>
                <a:outerShdw blurRad="38100" dist="38100" dir="2700000" algn="tl">
                  <a:srgbClr val="C0C0C0"/>
                </a:outerShdw>
              </a:effectLst>
            </a:endParaRPr>
          </a:p>
          <a:p>
            <a:pPr eaLnBrk="1" hangingPunct="1">
              <a:lnSpc>
                <a:spcPct val="90000"/>
              </a:lnSpc>
              <a:defRPr/>
            </a:pPr>
            <a:endParaRPr lang="en-US" sz="2400" dirty="0"/>
          </a:p>
        </p:txBody>
      </p:sp>
      <p:grpSp>
        <p:nvGrpSpPr>
          <p:cNvPr id="46085" name="Group 4"/>
          <p:cNvGrpSpPr>
            <a:grpSpLocks/>
          </p:cNvGrpSpPr>
          <p:nvPr/>
        </p:nvGrpSpPr>
        <p:grpSpPr bwMode="auto">
          <a:xfrm>
            <a:off x="4792663" y="3971925"/>
            <a:ext cx="3398837" cy="1670050"/>
            <a:chOff x="2223" y="2556"/>
            <a:chExt cx="2535" cy="954"/>
          </a:xfrm>
        </p:grpSpPr>
        <p:grpSp>
          <p:nvGrpSpPr>
            <p:cNvPr id="46086" name="Group 5"/>
            <p:cNvGrpSpPr>
              <a:grpSpLocks/>
            </p:cNvGrpSpPr>
            <p:nvPr/>
          </p:nvGrpSpPr>
          <p:grpSpPr bwMode="auto">
            <a:xfrm>
              <a:off x="2223" y="2556"/>
              <a:ext cx="2535" cy="954"/>
              <a:chOff x="1278" y="2970"/>
              <a:chExt cx="2535" cy="954"/>
            </a:xfrm>
          </p:grpSpPr>
          <p:sp>
            <p:nvSpPr>
              <p:cNvPr id="46090" name="AutoShape 6"/>
              <p:cNvSpPr>
                <a:spLocks noChangeArrowheads="1"/>
              </p:cNvSpPr>
              <p:nvPr/>
            </p:nvSpPr>
            <p:spPr bwMode="auto">
              <a:xfrm>
                <a:off x="1278" y="2970"/>
                <a:ext cx="558" cy="954"/>
              </a:xfrm>
              <a:prstGeom prst="can">
                <a:avLst>
                  <a:gd name="adj" fmla="val 42742"/>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091" name="Group 7"/>
              <p:cNvGrpSpPr>
                <a:grpSpLocks/>
              </p:cNvGrpSpPr>
              <p:nvPr/>
            </p:nvGrpSpPr>
            <p:grpSpPr bwMode="auto">
              <a:xfrm>
                <a:off x="2085" y="2985"/>
                <a:ext cx="966" cy="921"/>
                <a:chOff x="1329" y="2913"/>
                <a:chExt cx="966" cy="921"/>
              </a:xfrm>
            </p:grpSpPr>
            <p:sp>
              <p:nvSpPr>
                <p:cNvPr id="46098" name="AutoShape 8"/>
                <p:cNvSpPr>
                  <a:spLocks noChangeArrowheads="1"/>
                </p:cNvSpPr>
                <p:nvPr/>
              </p:nvSpPr>
              <p:spPr bwMode="auto">
                <a:xfrm>
                  <a:off x="1332" y="3015"/>
                  <a:ext cx="963"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8 w 21600"/>
                    <a:gd name="T13" fmla="*/ 4500 h 21600"/>
                    <a:gd name="T14" fmla="*/ 17092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sp>
              <p:nvSpPr>
                <p:cNvPr id="46099" name="Oval 9"/>
                <p:cNvSpPr>
                  <a:spLocks noChangeArrowheads="1"/>
                </p:cNvSpPr>
                <p:nvPr/>
              </p:nvSpPr>
              <p:spPr bwMode="auto">
                <a:xfrm>
                  <a:off x="1329" y="2913"/>
                  <a:ext cx="963"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nvGrpSpPr>
                <p:cNvPr id="46100" name="Group 10"/>
                <p:cNvGrpSpPr>
                  <a:grpSpLocks/>
                </p:cNvGrpSpPr>
                <p:nvPr/>
              </p:nvGrpSpPr>
              <p:grpSpPr bwMode="auto">
                <a:xfrm>
                  <a:off x="1575" y="3606"/>
                  <a:ext cx="477" cy="228"/>
                  <a:chOff x="1575" y="3606"/>
                  <a:chExt cx="477" cy="228"/>
                </a:xfrm>
              </p:grpSpPr>
              <p:sp>
                <p:nvSpPr>
                  <p:cNvPr id="46101" name="Oval 11"/>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102" name="Oval 12"/>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grpSp>
          <p:grpSp>
            <p:nvGrpSpPr>
              <p:cNvPr id="46092" name="Group 13"/>
              <p:cNvGrpSpPr>
                <a:grpSpLocks/>
              </p:cNvGrpSpPr>
              <p:nvPr/>
            </p:nvGrpSpPr>
            <p:grpSpPr bwMode="auto">
              <a:xfrm>
                <a:off x="3291" y="3045"/>
                <a:ext cx="522" cy="867"/>
                <a:chOff x="3165" y="3099"/>
                <a:chExt cx="522" cy="867"/>
              </a:xfrm>
            </p:grpSpPr>
            <p:sp>
              <p:nvSpPr>
                <p:cNvPr id="46093" name="AutoShape 14"/>
                <p:cNvSpPr>
                  <a:spLocks noChangeArrowheads="1"/>
                </p:cNvSpPr>
                <p:nvPr/>
              </p:nvSpPr>
              <p:spPr bwMode="auto">
                <a:xfrm flipV="1">
                  <a:off x="3165" y="3147"/>
                  <a:ext cx="522" cy="72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0 w 21600"/>
                    <a:gd name="T13" fmla="*/ 4500 h 21600"/>
                    <a:gd name="T14" fmla="*/ 1709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2"/>
                </a:solidFill>
                <a:ln w="9525">
                  <a:solidFill>
                    <a:srgbClr val="FEFF7E"/>
                  </a:solidFill>
                  <a:miter lim="800000"/>
                  <a:headEnd type="none" w="sm" len="sm"/>
                  <a:tailEnd type="none" w="sm" len="sm"/>
                </a:ln>
              </p:spPr>
              <p:txBody>
                <a:bodyPr wrap="none" anchor="ctr"/>
                <a:lstStyle/>
                <a:p>
                  <a:endParaRPr lang="en-US"/>
                </a:p>
              </p:txBody>
            </p:sp>
            <p:grpSp>
              <p:nvGrpSpPr>
                <p:cNvPr id="46094" name="Group 15"/>
                <p:cNvGrpSpPr>
                  <a:grpSpLocks/>
                </p:cNvGrpSpPr>
                <p:nvPr/>
              </p:nvGrpSpPr>
              <p:grpSpPr bwMode="auto">
                <a:xfrm>
                  <a:off x="3174" y="3738"/>
                  <a:ext cx="513" cy="228"/>
                  <a:chOff x="1575" y="3606"/>
                  <a:chExt cx="477" cy="228"/>
                </a:xfrm>
              </p:grpSpPr>
              <p:sp>
                <p:nvSpPr>
                  <p:cNvPr id="46096" name="Oval 16"/>
                  <p:cNvSpPr>
                    <a:spLocks noChangeArrowheads="1"/>
                  </p:cNvSpPr>
                  <p:nvPr/>
                </p:nvSpPr>
                <p:spPr bwMode="auto">
                  <a:xfrm>
                    <a:off x="1575" y="3636"/>
                    <a:ext cx="477" cy="198"/>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sp>
                <p:nvSpPr>
                  <p:cNvPr id="46097" name="Oval 17"/>
                  <p:cNvSpPr>
                    <a:spLocks noChangeArrowheads="1"/>
                  </p:cNvSpPr>
                  <p:nvPr/>
                </p:nvSpPr>
                <p:spPr bwMode="auto">
                  <a:xfrm>
                    <a:off x="1581" y="3606"/>
                    <a:ext cx="466" cy="190"/>
                  </a:xfrm>
                  <a:prstGeom prst="ellipse">
                    <a:avLst/>
                  </a:prstGeom>
                  <a:solidFill>
                    <a:schemeClr val="bg2"/>
                  </a:solidFill>
                  <a:ln w="9525">
                    <a:noFill/>
                    <a:round/>
                    <a:headEnd type="none" w="sm" len="sm"/>
                    <a:tailEnd type="none" w="sm" len="sm"/>
                  </a:ln>
                </p:spPr>
                <p:txBody>
                  <a:bodyPr wrap="none" anchor="ctr"/>
                  <a:lstStyle/>
                  <a:p>
                    <a:endParaRPr lang="en-US"/>
                  </a:p>
                </p:txBody>
              </p:sp>
            </p:grpSp>
            <p:sp>
              <p:nvSpPr>
                <p:cNvPr id="46095" name="Oval 18"/>
                <p:cNvSpPr>
                  <a:spLocks noChangeArrowheads="1"/>
                </p:cNvSpPr>
                <p:nvPr/>
              </p:nvSpPr>
              <p:spPr bwMode="auto">
                <a:xfrm>
                  <a:off x="3297" y="3099"/>
                  <a:ext cx="261" cy="135"/>
                </a:xfrm>
                <a:prstGeom prst="ellipse">
                  <a:avLst/>
                </a:prstGeom>
                <a:solidFill>
                  <a:schemeClr val="bg2"/>
                </a:solidFill>
                <a:ln w="9525">
                  <a:solidFill>
                    <a:srgbClr val="FEFF7E"/>
                  </a:solidFill>
                  <a:round/>
                  <a:headEnd type="none" w="sm" len="sm"/>
                  <a:tailEnd type="none" w="sm" len="sm"/>
                </a:ln>
              </p:spPr>
              <p:txBody>
                <a:bodyPr wrap="none" anchor="ctr"/>
                <a:lstStyle/>
                <a:p>
                  <a:endParaRPr lang="en-US"/>
                </a:p>
              </p:txBody>
            </p:sp>
          </p:grpSp>
        </p:grpSp>
        <p:sp>
          <p:nvSpPr>
            <p:cNvPr id="46087" name="WordArt 19"/>
            <p:cNvSpPr>
              <a:spLocks noChangeArrowheads="1" noChangeShapeType="1" noTextEdit="1"/>
            </p:cNvSpPr>
            <p:nvPr/>
          </p:nvSpPr>
          <p:spPr bwMode="auto">
            <a:xfrm>
              <a:off x="2415" y="297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1</a:t>
              </a:r>
            </a:p>
          </p:txBody>
        </p:sp>
        <p:sp>
          <p:nvSpPr>
            <p:cNvPr id="46088" name="WordArt 20"/>
            <p:cNvSpPr>
              <a:spLocks noChangeArrowheads="1" noChangeShapeType="1" noTextEdit="1"/>
            </p:cNvSpPr>
            <p:nvPr/>
          </p:nvSpPr>
          <p:spPr bwMode="auto">
            <a:xfrm>
              <a:off x="3447" y="2979"/>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2</a:t>
              </a:r>
            </a:p>
          </p:txBody>
        </p:sp>
        <p:sp>
          <p:nvSpPr>
            <p:cNvPr id="46089" name="WordArt 21"/>
            <p:cNvSpPr>
              <a:spLocks noChangeArrowheads="1" noChangeShapeType="1" noTextEdit="1"/>
            </p:cNvSpPr>
            <p:nvPr/>
          </p:nvSpPr>
          <p:spPr bwMode="auto">
            <a:xfrm>
              <a:off x="4434" y="3003"/>
              <a:ext cx="150" cy="312"/>
            </a:xfrm>
            <a:prstGeom prst="rect">
              <a:avLst/>
            </a:prstGeom>
          </p:spPr>
          <p:txBody>
            <a:bodyPr wrap="none" fromWordArt="1">
              <a:prstTxWarp prst="textPlain">
                <a:avLst>
                  <a:gd name="adj" fmla="val 50000"/>
                </a:avLst>
              </a:prstTxWarp>
            </a:bodyPr>
            <a:lstStyle/>
            <a:p>
              <a:pPr algn="ctr"/>
              <a:r>
                <a:rPr lang="en-US" sz="2800" kern="10">
                  <a:ln w="9525">
                    <a:solidFill>
                      <a:srgbClr val="000000"/>
                    </a:solidFill>
                    <a:round/>
                    <a:headEnd type="none" w="sm" len="sm"/>
                    <a:tailEnd type="none" w="sm" len="sm"/>
                  </a:ln>
                  <a:solidFill>
                    <a:srgbClr val="FFFFFF"/>
                  </a:solidFill>
                  <a:latin typeface="Arial Black"/>
                </a:rPr>
                <a:t>3</a:t>
              </a:r>
            </a:p>
          </p:txBody>
        </p:sp>
      </p:grpSp>
    </p:spTree>
    <p:extLst>
      <p:ext uri="{BB962C8B-B14F-4D97-AF65-F5344CB8AC3E}">
        <p14:creationId xmlns:p14="http://schemas.microsoft.com/office/powerpoint/2010/main" val="278080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59DDF-7D95-D664-6837-326D7A2959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ABE585-166D-CA51-059F-FB46ED45A390}"/>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41E00BC2-BAFD-8F8C-14D4-736FBDEAFE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413" y="576263"/>
            <a:ext cx="7115175" cy="570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38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descr="Cric 0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219200"/>
            <a:ext cx="3819525" cy="509587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81000" y="2590800"/>
            <a:ext cx="1909497" cy="523220"/>
          </a:xfrm>
          <a:prstGeom prst="rect">
            <a:avLst/>
          </a:prstGeom>
          <a:noFill/>
        </p:spPr>
        <p:txBody>
          <a:bodyPr wrap="none" rtlCol="0">
            <a:spAutoFit/>
          </a:bodyPr>
          <a:lstStyle/>
          <a:p>
            <a:r>
              <a:rPr lang="en-US" sz="2800" dirty="0"/>
              <a:t>Big Cylinder</a:t>
            </a:r>
          </a:p>
        </p:txBody>
      </p:sp>
      <p:cxnSp>
        <p:nvCxnSpPr>
          <p:cNvPr id="5" name="Straight Arrow Connector 4"/>
          <p:cNvCxnSpPr/>
          <p:nvPr/>
        </p:nvCxnSpPr>
        <p:spPr>
          <a:xfrm>
            <a:off x="1828800" y="3276600"/>
            <a:ext cx="2286000" cy="9144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4800600" y="3124200"/>
            <a:ext cx="2286000" cy="106680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629400" y="2438400"/>
            <a:ext cx="2250937" cy="523220"/>
          </a:xfrm>
          <a:prstGeom prst="rect">
            <a:avLst/>
          </a:prstGeom>
          <a:noFill/>
        </p:spPr>
        <p:txBody>
          <a:bodyPr wrap="none" rtlCol="0">
            <a:spAutoFit/>
          </a:bodyPr>
          <a:lstStyle/>
          <a:p>
            <a:r>
              <a:rPr lang="en-US" sz="2800" dirty="0"/>
              <a:t>Small Cylinder</a:t>
            </a:r>
          </a:p>
        </p:txBody>
      </p:sp>
    </p:spTree>
    <p:extLst>
      <p:ext uri="{BB962C8B-B14F-4D97-AF65-F5344CB8AC3E}">
        <p14:creationId xmlns:p14="http://schemas.microsoft.com/office/powerpoint/2010/main" val="3644134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Arc 15"/>
          <p:cNvSpPr/>
          <p:nvPr/>
        </p:nvSpPr>
        <p:spPr>
          <a:xfrm>
            <a:off x="4226859" y="3213846"/>
            <a:ext cx="3612776" cy="510989"/>
          </a:xfrm>
          <a:prstGeom prst="arc">
            <a:avLst>
              <a:gd name="adj1" fmla="val 10840119"/>
              <a:gd name="adj2" fmla="val 35156"/>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Arc 14"/>
          <p:cNvSpPr/>
          <p:nvPr/>
        </p:nvSpPr>
        <p:spPr>
          <a:xfrm>
            <a:off x="1196788" y="3307977"/>
            <a:ext cx="1949824" cy="416858"/>
          </a:xfrm>
          <a:prstGeom prst="arc">
            <a:avLst>
              <a:gd name="adj1" fmla="val 10762635"/>
              <a:gd name="adj2" fmla="val 0"/>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a:off x="1573306" y="3886200"/>
            <a:ext cx="5970494" cy="1976718"/>
          </a:xfrm>
          <a:custGeom>
            <a:avLst/>
            <a:gdLst>
              <a:gd name="connsiteX0" fmla="*/ 0 w 5916706"/>
              <a:gd name="connsiteY0" fmla="*/ 0 h 1909482"/>
              <a:gd name="connsiteX1" fmla="*/ 26894 w 5916706"/>
              <a:gd name="connsiteY1" fmla="*/ 1909482 h 1909482"/>
              <a:gd name="connsiteX2" fmla="*/ 5916706 w 5916706"/>
              <a:gd name="connsiteY2" fmla="*/ 1882588 h 1909482"/>
              <a:gd name="connsiteX3" fmla="*/ 5876365 w 5916706"/>
              <a:gd name="connsiteY3" fmla="*/ 161365 h 1909482"/>
              <a:gd name="connsiteX4" fmla="*/ 2904565 w 5916706"/>
              <a:gd name="connsiteY4" fmla="*/ 121024 h 1909482"/>
              <a:gd name="connsiteX5" fmla="*/ 2891118 w 5916706"/>
              <a:gd name="connsiteY5" fmla="*/ 1452282 h 1909482"/>
              <a:gd name="connsiteX6" fmla="*/ 1264023 w 5916706"/>
              <a:gd name="connsiteY6" fmla="*/ 1452282 h 1909482"/>
              <a:gd name="connsiteX7" fmla="*/ 1237129 w 5916706"/>
              <a:gd name="connsiteY7" fmla="*/ 255494 h 1909482"/>
              <a:gd name="connsiteX8" fmla="*/ 67235 w 5916706"/>
              <a:gd name="connsiteY8" fmla="*/ 268941 h 1909482"/>
              <a:gd name="connsiteX0" fmla="*/ 0 w 5916706"/>
              <a:gd name="connsiteY0" fmla="*/ 0 h 1909482"/>
              <a:gd name="connsiteX1" fmla="*/ 26894 w 5916706"/>
              <a:gd name="connsiteY1" fmla="*/ 1909482 h 1909482"/>
              <a:gd name="connsiteX2" fmla="*/ 5916706 w 5916706"/>
              <a:gd name="connsiteY2" fmla="*/ 1882588 h 1909482"/>
              <a:gd name="connsiteX3" fmla="*/ 5876365 w 5916706"/>
              <a:gd name="connsiteY3" fmla="*/ 161365 h 1909482"/>
              <a:gd name="connsiteX4" fmla="*/ 2904565 w 5916706"/>
              <a:gd name="connsiteY4" fmla="*/ 121024 h 1909482"/>
              <a:gd name="connsiteX5" fmla="*/ 2891118 w 5916706"/>
              <a:gd name="connsiteY5" fmla="*/ 1452282 h 1909482"/>
              <a:gd name="connsiteX6" fmla="*/ 1264023 w 5916706"/>
              <a:gd name="connsiteY6" fmla="*/ 1452282 h 1909482"/>
              <a:gd name="connsiteX7" fmla="*/ 1331259 w 5916706"/>
              <a:gd name="connsiteY7" fmla="*/ 268941 h 1909482"/>
              <a:gd name="connsiteX8" fmla="*/ 67235 w 5916706"/>
              <a:gd name="connsiteY8" fmla="*/ 268941 h 1909482"/>
              <a:gd name="connsiteX0" fmla="*/ 0 w 5970494"/>
              <a:gd name="connsiteY0" fmla="*/ 0 h 1976718"/>
              <a:gd name="connsiteX1" fmla="*/ 26894 w 5970494"/>
              <a:gd name="connsiteY1" fmla="*/ 1909482 h 1976718"/>
              <a:gd name="connsiteX2" fmla="*/ 5970494 w 5970494"/>
              <a:gd name="connsiteY2" fmla="*/ 1976718 h 1976718"/>
              <a:gd name="connsiteX3" fmla="*/ 5876365 w 5970494"/>
              <a:gd name="connsiteY3" fmla="*/ 161365 h 1976718"/>
              <a:gd name="connsiteX4" fmla="*/ 2904565 w 5970494"/>
              <a:gd name="connsiteY4" fmla="*/ 121024 h 1976718"/>
              <a:gd name="connsiteX5" fmla="*/ 2891118 w 5970494"/>
              <a:gd name="connsiteY5" fmla="*/ 1452282 h 1976718"/>
              <a:gd name="connsiteX6" fmla="*/ 1264023 w 5970494"/>
              <a:gd name="connsiteY6" fmla="*/ 1452282 h 1976718"/>
              <a:gd name="connsiteX7" fmla="*/ 1331259 w 5970494"/>
              <a:gd name="connsiteY7" fmla="*/ 268941 h 1976718"/>
              <a:gd name="connsiteX8" fmla="*/ 67235 w 5970494"/>
              <a:gd name="connsiteY8" fmla="*/ 268941 h 1976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0494" h="1976718">
                <a:moveTo>
                  <a:pt x="0" y="0"/>
                </a:moveTo>
                <a:lnTo>
                  <a:pt x="26894" y="1909482"/>
                </a:lnTo>
                <a:lnTo>
                  <a:pt x="5970494" y="1976718"/>
                </a:lnTo>
                <a:lnTo>
                  <a:pt x="5876365" y="161365"/>
                </a:lnTo>
                <a:lnTo>
                  <a:pt x="2904565" y="121024"/>
                </a:lnTo>
                <a:lnTo>
                  <a:pt x="2891118" y="1452282"/>
                </a:lnTo>
                <a:lnTo>
                  <a:pt x="1264023" y="1452282"/>
                </a:lnTo>
                <a:lnTo>
                  <a:pt x="1331259" y="268941"/>
                </a:lnTo>
                <a:lnTo>
                  <a:pt x="67235" y="268941"/>
                </a:lnTo>
              </a:path>
            </a:pathLst>
          </a:cu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96789" y="3523128"/>
            <a:ext cx="389964" cy="22725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841813" y="3509681"/>
            <a:ext cx="304800" cy="183328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96788" y="5795680"/>
            <a:ext cx="6629400" cy="43478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231342" y="3460375"/>
            <a:ext cx="246528" cy="185121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454154" y="3473822"/>
            <a:ext cx="372034" cy="232186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841811" y="5015754"/>
            <a:ext cx="1636059" cy="336176"/>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n 3"/>
          <p:cNvSpPr/>
          <p:nvPr/>
        </p:nvSpPr>
        <p:spPr>
          <a:xfrm>
            <a:off x="1586753" y="3442447"/>
            <a:ext cx="1268506"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1963270" y="3603811"/>
            <a:ext cx="628698" cy="584775"/>
          </a:xfrm>
          <a:prstGeom prst="rect">
            <a:avLst/>
          </a:prstGeom>
          <a:noFill/>
        </p:spPr>
        <p:txBody>
          <a:bodyPr wrap="none" rtlCol="0">
            <a:spAutoFit/>
          </a:bodyPr>
          <a:lstStyle/>
          <a:p>
            <a:r>
              <a:rPr lang="en-US" sz="3200" dirty="0"/>
              <a:t>A</a:t>
            </a:r>
            <a:r>
              <a:rPr lang="en-US" sz="3200" baseline="-25000" dirty="0"/>
              <a:t>in</a:t>
            </a:r>
          </a:p>
        </p:txBody>
      </p:sp>
      <p:sp>
        <p:nvSpPr>
          <p:cNvPr id="19" name="TextBox 18"/>
          <p:cNvSpPr txBox="1"/>
          <p:nvPr/>
        </p:nvSpPr>
        <p:spPr>
          <a:xfrm>
            <a:off x="1828800" y="1909482"/>
            <a:ext cx="628698" cy="646331"/>
          </a:xfrm>
          <a:prstGeom prst="rect">
            <a:avLst/>
          </a:prstGeom>
          <a:noFill/>
        </p:spPr>
        <p:txBody>
          <a:bodyPr wrap="none" rtlCol="0">
            <a:spAutoFit/>
          </a:bodyPr>
          <a:lstStyle/>
          <a:p>
            <a:r>
              <a:rPr lang="en-US" sz="3600" dirty="0"/>
              <a:t>F</a:t>
            </a:r>
            <a:r>
              <a:rPr lang="en-US" sz="3600" baseline="-25000" dirty="0"/>
              <a:t>in</a:t>
            </a:r>
          </a:p>
        </p:txBody>
      </p:sp>
      <p:sp>
        <p:nvSpPr>
          <p:cNvPr id="20" name="TextBox 19"/>
          <p:cNvSpPr txBox="1"/>
          <p:nvPr/>
        </p:nvSpPr>
        <p:spPr>
          <a:xfrm>
            <a:off x="5571565" y="676835"/>
            <a:ext cx="816377" cy="646331"/>
          </a:xfrm>
          <a:prstGeom prst="rect">
            <a:avLst/>
          </a:prstGeom>
          <a:noFill/>
        </p:spPr>
        <p:txBody>
          <a:bodyPr wrap="none" rtlCol="0">
            <a:spAutoFit/>
          </a:bodyPr>
          <a:lstStyle/>
          <a:p>
            <a:r>
              <a:rPr lang="en-US" sz="3600" dirty="0" err="1"/>
              <a:t>F</a:t>
            </a:r>
            <a:r>
              <a:rPr lang="en-US" sz="3600" baseline="-25000" dirty="0" err="1"/>
              <a:t>out</a:t>
            </a:r>
            <a:endParaRPr lang="en-US" sz="3600" baseline="-25000" dirty="0"/>
          </a:p>
        </p:txBody>
      </p:sp>
      <p:sp>
        <p:nvSpPr>
          <p:cNvPr id="21" name="Down Arrow 20"/>
          <p:cNvSpPr/>
          <p:nvPr/>
        </p:nvSpPr>
        <p:spPr>
          <a:xfrm rot="10800000">
            <a:off x="5029200" y="1438835"/>
            <a:ext cx="1775012" cy="645459"/>
          </a:xfrm>
          <a:prstGeom prst="downArrow">
            <a:avLst>
              <a:gd name="adj1" fmla="val 69697"/>
              <a:gd name="adj2" fmla="val 53902"/>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own Arrow 21"/>
          <p:cNvSpPr/>
          <p:nvPr/>
        </p:nvSpPr>
        <p:spPr>
          <a:xfrm rot="10800000" flipV="1">
            <a:off x="1658471" y="2734234"/>
            <a:ext cx="1044388" cy="506508"/>
          </a:xfrm>
          <a:prstGeom prst="downArrow">
            <a:avLst>
              <a:gd name="adj1" fmla="val 50000"/>
              <a:gd name="adj2" fmla="val 53902"/>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an 4"/>
          <p:cNvSpPr/>
          <p:nvPr/>
        </p:nvSpPr>
        <p:spPr>
          <a:xfrm>
            <a:off x="4450976" y="3393141"/>
            <a:ext cx="2998694"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746376" y="3527613"/>
            <a:ext cx="801823" cy="584775"/>
          </a:xfrm>
          <a:prstGeom prst="rect">
            <a:avLst/>
          </a:prstGeom>
          <a:noFill/>
        </p:spPr>
        <p:txBody>
          <a:bodyPr wrap="none" rtlCol="0">
            <a:spAutoFit/>
          </a:bodyPr>
          <a:lstStyle/>
          <a:p>
            <a:r>
              <a:rPr lang="en-US" sz="3200" dirty="0" err="1"/>
              <a:t>A</a:t>
            </a:r>
            <a:r>
              <a:rPr lang="en-US" sz="3200" baseline="-25000" dirty="0" err="1"/>
              <a:t>out</a:t>
            </a:r>
            <a:endParaRPr lang="en-US" sz="3200" baseline="-25000" dirty="0"/>
          </a:p>
        </p:txBody>
      </p:sp>
      <p:sp>
        <p:nvSpPr>
          <p:cNvPr id="7" name="Can 6"/>
          <p:cNvSpPr/>
          <p:nvPr/>
        </p:nvSpPr>
        <p:spPr>
          <a:xfrm>
            <a:off x="5329518" y="2761127"/>
            <a:ext cx="1277471"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an 5"/>
          <p:cNvSpPr/>
          <p:nvPr/>
        </p:nvSpPr>
        <p:spPr>
          <a:xfrm>
            <a:off x="4513729" y="2254624"/>
            <a:ext cx="295387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0775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5B330-EA19-8353-389F-6BE266480A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3B499E-B829-0FD0-917E-514389413E19}"/>
              </a:ext>
            </a:extLst>
          </p:cNvPr>
          <p:cNvSpPr/>
          <p:nvPr/>
        </p:nvSpPr>
        <p:spPr>
          <a:xfrm>
            <a:off x="1586753" y="4026090"/>
            <a:ext cx="1255059" cy="173467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c 14">
            <a:extLst>
              <a:ext uri="{FF2B5EF4-FFF2-40B4-BE49-F238E27FC236}">
                <a16:creationId xmlns:a16="http://schemas.microsoft.com/office/drawing/2014/main" id="{19DF2AFA-F2F7-A76A-4EE9-A29EAB4FB792}"/>
              </a:ext>
            </a:extLst>
          </p:cNvPr>
          <p:cNvSpPr/>
          <p:nvPr/>
        </p:nvSpPr>
        <p:spPr>
          <a:xfrm>
            <a:off x="1196788" y="3318115"/>
            <a:ext cx="2003610" cy="406720"/>
          </a:xfrm>
          <a:prstGeom prst="arc">
            <a:avLst>
              <a:gd name="adj1" fmla="val 10762635"/>
              <a:gd name="adj2" fmla="val 0"/>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5FA0348C-7137-5E07-5F68-3BFE46ED836A}"/>
              </a:ext>
            </a:extLst>
          </p:cNvPr>
          <p:cNvSpPr/>
          <p:nvPr/>
        </p:nvSpPr>
        <p:spPr>
          <a:xfrm>
            <a:off x="1196789" y="3523128"/>
            <a:ext cx="389964" cy="22725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4E852B-E629-182E-9261-D5955E2A7086}"/>
              </a:ext>
            </a:extLst>
          </p:cNvPr>
          <p:cNvSpPr/>
          <p:nvPr/>
        </p:nvSpPr>
        <p:spPr>
          <a:xfrm>
            <a:off x="2841812" y="3509681"/>
            <a:ext cx="358587" cy="268587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2F2516B-C44A-7739-7A68-53D382E0F5C7}"/>
              </a:ext>
            </a:extLst>
          </p:cNvPr>
          <p:cNvSpPr/>
          <p:nvPr/>
        </p:nvSpPr>
        <p:spPr>
          <a:xfrm>
            <a:off x="1196789" y="5760762"/>
            <a:ext cx="1949824" cy="43478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n 3">
            <a:extLst>
              <a:ext uri="{FF2B5EF4-FFF2-40B4-BE49-F238E27FC236}">
                <a16:creationId xmlns:a16="http://schemas.microsoft.com/office/drawing/2014/main" id="{F376DB7E-A169-EC04-A156-445005878ACA}"/>
              </a:ext>
            </a:extLst>
          </p:cNvPr>
          <p:cNvSpPr/>
          <p:nvPr/>
        </p:nvSpPr>
        <p:spPr>
          <a:xfrm>
            <a:off x="1586753" y="3442447"/>
            <a:ext cx="1243956"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1325D0E-8AB2-90D5-D6B8-D44FEA86DA14}"/>
              </a:ext>
            </a:extLst>
          </p:cNvPr>
          <p:cNvSpPr txBox="1"/>
          <p:nvPr/>
        </p:nvSpPr>
        <p:spPr>
          <a:xfrm>
            <a:off x="1963270" y="3603811"/>
            <a:ext cx="628698" cy="584775"/>
          </a:xfrm>
          <a:prstGeom prst="rect">
            <a:avLst/>
          </a:prstGeom>
          <a:noFill/>
        </p:spPr>
        <p:txBody>
          <a:bodyPr wrap="none" rtlCol="0">
            <a:spAutoFit/>
          </a:bodyPr>
          <a:lstStyle/>
          <a:p>
            <a:r>
              <a:rPr lang="en-US" sz="3200" dirty="0"/>
              <a:t>A</a:t>
            </a:r>
            <a:r>
              <a:rPr lang="en-US" sz="3200" baseline="-25000" dirty="0"/>
              <a:t>in</a:t>
            </a:r>
          </a:p>
        </p:txBody>
      </p:sp>
      <p:sp>
        <p:nvSpPr>
          <p:cNvPr id="23" name="Rectangle 22">
            <a:extLst>
              <a:ext uri="{FF2B5EF4-FFF2-40B4-BE49-F238E27FC236}">
                <a16:creationId xmlns:a16="http://schemas.microsoft.com/office/drawing/2014/main" id="{2849DA62-CD4A-A419-89E8-FEC196A6CE30}"/>
              </a:ext>
            </a:extLst>
          </p:cNvPr>
          <p:cNvSpPr/>
          <p:nvPr/>
        </p:nvSpPr>
        <p:spPr>
          <a:xfrm>
            <a:off x="4834320" y="4039537"/>
            <a:ext cx="1255059" cy="1734672"/>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c 23">
            <a:extLst>
              <a:ext uri="{FF2B5EF4-FFF2-40B4-BE49-F238E27FC236}">
                <a16:creationId xmlns:a16="http://schemas.microsoft.com/office/drawing/2014/main" id="{D121D672-CDE8-16A2-8101-4C52D3198B89}"/>
              </a:ext>
            </a:extLst>
          </p:cNvPr>
          <p:cNvSpPr/>
          <p:nvPr/>
        </p:nvSpPr>
        <p:spPr>
          <a:xfrm>
            <a:off x="4444355" y="3331560"/>
            <a:ext cx="2003610" cy="406721"/>
          </a:xfrm>
          <a:prstGeom prst="arc">
            <a:avLst>
              <a:gd name="adj1" fmla="val 10762635"/>
              <a:gd name="adj2" fmla="val 0"/>
            </a:avLst>
          </a:prstGeom>
          <a:solidFill>
            <a:schemeClr val="bg1">
              <a:lumMod val="75000"/>
            </a:schemeClr>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Rectangle 26">
            <a:extLst>
              <a:ext uri="{FF2B5EF4-FFF2-40B4-BE49-F238E27FC236}">
                <a16:creationId xmlns:a16="http://schemas.microsoft.com/office/drawing/2014/main" id="{D4071F8C-5A46-01C9-DB16-C688E6B05C1B}"/>
              </a:ext>
            </a:extLst>
          </p:cNvPr>
          <p:cNvSpPr/>
          <p:nvPr/>
        </p:nvSpPr>
        <p:spPr>
          <a:xfrm>
            <a:off x="4444356" y="5774209"/>
            <a:ext cx="1949824" cy="43478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3F643A-8C59-E0F2-CD9A-F1E707C9291F}"/>
              </a:ext>
            </a:extLst>
          </p:cNvPr>
          <p:cNvSpPr/>
          <p:nvPr/>
        </p:nvSpPr>
        <p:spPr>
          <a:xfrm>
            <a:off x="4816391" y="3536575"/>
            <a:ext cx="1272988" cy="551827"/>
          </a:xfrm>
          <a:prstGeom prst="rect">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0" scaled="1"/>
            <a:tileRect/>
          </a:gra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ysClr val="windowText" lastClr="000000"/>
                </a:solidFill>
              </a:ln>
            </a:endParaRPr>
          </a:p>
        </p:txBody>
      </p:sp>
      <p:sp>
        <p:nvSpPr>
          <p:cNvPr id="28" name="Can 3">
            <a:extLst>
              <a:ext uri="{FF2B5EF4-FFF2-40B4-BE49-F238E27FC236}">
                <a16:creationId xmlns:a16="http://schemas.microsoft.com/office/drawing/2014/main" id="{37EDB44C-3730-CCB9-B3F0-AEAAA6494F05}"/>
              </a:ext>
            </a:extLst>
          </p:cNvPr>
          <p:cNvSpPr/>
          <p:nvPr/>
        </p:nvSpPr>
        <p:spPr>
          <a:xfrm>
            <a:off x="4834320" y="3790100"/>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805A446-C925-E2E1-B038-33628FFCC404}"/>
              </a:ext>
            </a:extLst>
          </p:cNvPr>
          <p:cNvSpPr txBox="1"/>
          <p:nvPr/>
        </p:nvSpPr>
        <p:spPr>
          <a:xfrm>
            <a:off x="5210837" y="3951464"/>
            <a:ext cx="628698" cy="584775"/>
          </a:xfrm>
          <a:prstGeom prst="rect">
            <a:avLst/>
          </a:prstGeom>
          <a:noFill/>
        </p:spPr>
        <p:txBody>
          <a:bodyPr wrap="none" rtlCol="0">
            <a:spAutoFit/>
          </a:bodyPr>
          <a:lstStyle/>
          <a:p>
            <a:r>
              <a:rPr lang="en-US" sz="3200" dirty="0"/>
              <a:t>A</a:t>
            </a:r>
            <a:r>
              <a:rPr lang="en-US" sz="3200" baseline="-25000" dirty="0"/>
              <a:t>in</a:t>
            </a:r>
          </a:p>
        </p:txBody>
      </p:sp>
      <p:sp>
        <p:nvSpPr>
          <p:cNvPr id="30" name="TextBox 29">
            <a:extLst>
              <a:ext uri="{FF2B5EF4-FFF2-40B4-BE49-F238E27FC236}">
                <a16:creationId xmlns:a16="http://schemas.microsoft.com/office/drawing/2014/main" id="{A4FEC104-C9DE-42DF-33A9-50D2AD2DF478}"/>
              </a:ext>
            </a:extLst>
          </p:cNvPr>
          <p:cNvSpPr txBox="1"/>
          <p:nvPr/>
        </p:nvSpPr>
        <p:spPr>
          <a:xfrm>
            <a:off x="5104918" y="2288226"/>
            <a:ext cx="628698" cy="646331"/>
          </a:xfrm>
          <a:prstGeom prst="rect">
            <a:avLst/>
          </a:prstGeom>
          <a:noFill/>
        </p:spPr>
        <p:txBody>
          <a:bodyPr wrap="none" rtlCol="0">
            <a:spAutoFit/>
          </a:bodyPr>
          <a:lstStyle/>
          <a:p>
            <a:r>
              <a:rPr lang="en-US" sz="3600" dirty="0"/>
              <a:t>F</a:t>
            </a:r>
            <a:r>
              <a:rPr lang="en-US" sz="3600" baseline="-25000" dirty="0"/>
              <a:t>in</a:t>
            </a:r>
          </a:p>
        </p:txBody>
      </p:sp>
      <p:sp>
        <p:nvSpPr>
          <p:cNvPr id="33" name="Arc 32">
            <a:extLst>
              <a:ext uri="{FF2B5EF4-FFF2-40B4-BE49-F238E27FC236}">
                <a16:creationId xmlns:a16="http://schemas.microsoft.com/office/drawing/2014/main" id="{B7BBBE03-5F86-4648-28BC-A87BB529A2D6}"/>
              </a:ext>
            </a:extLst>
          </p:cNvPr>
          <p:cNvSpPr/>
          <p:nvPr/>
        </p:nvSpPr>
        <p:spPr>
          <a:xfrm>
            <a:off x="1600264" y="5652031"/>
            <a:ext cx="1228036" cy="244355"/>
          </a:xfrm>
          <a:prstGeom prst="arc">
            <a:avLst>
              <a:gd name="adj1" fmla="val 10924677"/>
              <a:gd name="adj2" fmla="val 0"/>
            </a:avLst>
          </a:prstGeom>
          <a:solidFill>
            <a:schemeClr val="accent6">
              <a:lumMod val="75000"/>
            </a:schemeClr>
          </a:solid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4" name="Arc 33">
            <a:extLst>
              <a:ext uri="{FF2B5EF4-FFF2-40B4-BE49-F238E27FC236}">
                <a16:creationId xmlns:a16="http://schemas.microsoft.com/office/drawing/2014/main" id="{E28ABC71-11DA-2C1F-F21F-EEBA7E8DC56E}"/>
              </a:ext>
            </a:extLst>
          </p:cNvPr>
          <p:cNvSpPr/>
          <p:nvPr/>
        </p:nvSpPr>
        <p:spPr>
          <a:xfrm>
            <a:off x="4826490" y="3429756"/>
            <a:ext cx="1251786" cy="238168"/>
          </a:xfrm>
          <a:prstGeom prst="arc">
            <a:avLst>
              <a:gd name="adj1" fmla="val 10769981"/>
              <a:gd name="adj2" fmla="val 97570"/>
            </a:avLst>
          </a:prstGeom>
          <a:gradFill flip="none" rotWithShape="1">
            <a:gsLst>
              <a:gs pos="0">
                <a:schemeClr val="bg1">
                  <a:lumMod val="85000"/>
                  <a:shade val="30000"/>
                  <a:satMod val="115000"/>
                </a:schemeClr>
              </a:gs>
              <a:gs pos="50000">
                <a:schemeClr val="bg1">
                  <a:lumMod val="85000"/>
                  <a:shade val="67500"/>
                  <a:satMod val="115000"/>
                </a:schemeClr>
              </a:gs>
              <a:gs pos="100000">
                <a:schemeClr val="bg1">
                  <a:lumMod val="85000"/>
                  <a:shade val="100000"/>
                  <a:satMod val="115000"/>
                </a:schemeClr>
              </a:gs>
            </a:gsLst>
            <a:lin ang="0" scaled="1"/>
            <a:tileRect/>
          </a:gradFill>
          <a:ln>
            <a:solidFill>
              <a:schemeClr val="bg1">
                <a:lumMod val="6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C54A42AD-814E-AF69-D24A-FB308A5603A4}"/>
              </a:ext>
            </a:extLst>
          </p:cNvPr>
          <p:cNvSpPr/>
          <p:nvPr/>
        </p:nvSpPr>
        <p:spPr>
          <a:xfrm>
            <a:off x="4444356" y="3536575"/>
            <a:ext cx="389964" cy="227255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8E4CFA6-5902-A42B-E232-99C312EB39A0}"/>
              </a:ext>
            </a:extLst>
          </p:cNvPr>
          <p:cNvSpPr/>
          <p:nvPr/>
        </p:nvSpPr>
        <p:spPr>
          <a:xfrm>
            <a:off x="6089379" y="3523128"/>
            <a:ext cx="358587" cy="268587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c 35">
            <a:extLst>
              <a:ext uri="{FF2B5EF4-FFF2-40B4-BE49-F238E27FC236}">
                <a16:creationId xmlns:a16="http://schemas.microsoft.com/office/drawing/2014/main" id="{21AF53F4-2FFA-FF7D-3901-1D4E90827AFC}"/>
              </a:ext>
            </a:extLst>
          </p:cNvPr>
          <p:cNvSpPr/>
          <p:nvPr/>
        </p:nvSpPr>
        <p:spPr>
          <a:xfrm>
            <a:off x="4826490" y="5652031"/>
            <a:ext cx="1228036" cy="244355"/>
          </a:xfrm>
          <a:prstGeom prst="arc">
            <a:avLst>
              <a:gd name="adj1" fmla="val 10924677"/>
              <a:gd name="adj2" fmla="val 0"/>
            </a:avLst>
          </a:prstGeom>
          <a:solidFill>
            <a:schemeClr val="accent6">
              <a:lumMod val="75000"/>
            </a:schemeClr>
          </a:solidFill>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1" name="Down Arrow 21">
            <a:extLst>
              <a:ext uri="{FF2B5EF4-FFF2-40B4-BE49-F238E27FC236}">
                <a16:creationId xmlns:a16="http://schemas.microsoft.com/office/drawing/2014/main" id="{2B41072E-566D-1DDE-80FD-9FFD49CB0939}"/>
              </a:ext>
            </a:extLst>
          </p:cNvPr>
          <p:cNvSpPr/>
          <p:nvPr/>
        </p:nvSpPr>
        <p:spPr>
          <a:xfrm rot="10800000" flipV="1">
            <a:off x="4897073" y="3129148"/>
            <a:ext cx="1044388" cy="506508"/>
          </a:xfrm>
          <a:prstGeom prst="downArrow">
            <a:avLst>
              <a:gd name="adj1" fmla="val 50000"/>
              <a:gd name="adj2" fmla="val 53902"/>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88EFC31-C7C2-F65A-EF0C-12C3D54AFE1D}"/>
                  </a:ext>
                </a:extLst>
              </p:cNvPr>
              <p:cNvSpPr txBox="1"/>
              <p:nvPr/>
            </p:nvSpPr>
            <p:spPr>
              <a:xfrm>
                <a:off x="4897073" y="4616427"/>
                <a:ext cx="1157453" cy="169277"/>
              </a:xfrm>
              <a:prstGeom prst="rect">
                <a:avLst/>
              </a:prstGeom>
              <a:noFill/>
            </p:spPr>
            <p:txBody>
              <a:bodyPr wrap="square" lIns="0" tIns="0" rIns="0" bIns="0" rtlCol="0">
                <a:spAutoFit/>
              </a:bodyPr>
              <a:lstStyle/>
              <a:p>
                <a:pPr/>
                <a14:m>
                  <m:oMathPara xmlns:m="http://schemas.openxmlformats.org/officeDocument/2006/math">
                    <m:oMath>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𝑡</m:t>
                          </m:r>
                          <m:r>
                            <a:rPr lang="en-US" sz="1100" b="0" i="1" smtClean="0">
                              <a:solidFill>
                                <a:schemeClr val="bg1"/>
                              </a:solidFill>
                              <a:latin typeface="Cambria Math" panose="02040503050406030204" pitchFamily="18" charset="0"/>
                            </a:rPr>
                            <m:t>2</m:t>
                          </m:r>
                        </m:sub>
                      </m:sSub>
                      <m:r>
                        <a:rPr lang="en-US" sz="1100" b="0" i="1" smtClean="0">
                          <a:solidFill>
                            <a:schemeClr val="bg1"/>
                          </a:solidFill>
                          <a:latin typeface="Cambria Math" panose="02040503050406030204" pitchFamily="18" charset="0"/>
                        </a:rPr>
                        <m:t>=</m:t>
                      </m:r>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𝑡</m:t>
                          </m:r>
                          <m:r>
                            <a:rPr lang="en-US" sz="1100" b="0" i="1" smtClean="0">
                              <a:solidFill>
                                <a:schemeClr val="bg1"/>
                              </a:solidFill>
                              <a:latin typeface="Cambria Math" panose="02040503050406030204" pitchFamily="18" charset="0"/>
                            </a:rPr>
                            <m:t>1</m:t>
                          </m:r>
                        </m:sub>
                      </m:sSub>
                      <m:r>
                        <a:rPr lang="en-US" sz="1100" b="0" i="1" smtClean="0">
                          <a:solidFill>
                            <a:schemeClr val="bg1"/>
                          </a:solidFill>
                          <a:latin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𝑃</m:t>
                      </m:r>
                    </m:oMath>
                  </m:oMathPara>
                </a14:m>
                <a:endParaRPr lang="en-US" sz="1100" dirty="0">
                  <a:solidFill>
                    <a:schemeClr val="bg1"/>
                  </a:solidFill>
                </a:endParaRPr>
              </a:p>
            </p:txBody>
          </p:sp>
        </mc:Choice>
        <mc:Fallback xmlns="">
          <p:sp>
            <p:nvSpPr>
              <p:cNvPr id="39" name="TextBox 38">
                <a:extLst>
                  <a:ext uri="{FF2B5EF4-FFF2-40B4-BE49-F238E27FC236}">
                    <a16:creationId xmlns:a16="http://schemas.microsoft.com/office/drawing/2014/main" id="{588EFC31-C7C2-F65A-EF0C-12C3D54AFE1D}"/>
                  </a:ext>
                </a:extLst>
              </p:cNvPr>
              <p:cNvSpPr txBox="1">
                <a:spLocks noRot="1" noChangeAspect="1" noMove="1" noResize="1" noEditPoints="1" noAdjustHandles="1" noChangeArrowheads="1" noChangeShapeType="1" noTextEdit="1"/>
              </p:cNvSpPr>
              <p:nvPr/>
            </p:nvSpPr>
            <p:spPr>
              <a:xfrm>
                <a:off x="4897073" y="4616427"/>
                <a:ext cx="1157453" cy="169277"/>
              </a:xfrm>
              <a:prstGeom prst="rect">
                <a:avLst/>
              </a:prstGeom>
              <a:blipFill>
                <a:blip r:embed="rId2"/>
                <a:stretch>
                  <a:fillRect b="-17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B628DD1-ECDB-5CDA-2DE6-53F6BCD5445B}"/>
                  </a:ext>
                </a:extLst>
              </p:cNvPr>
              <p:cNvSpPr txBox="1"/>
              <p:nvPr/>
            </p:nvSpPr>
            <p:spPr>
              <a:xfrm>
                <a:off x="1983171" y="4242951"/>
                <a:ext cx="389964" cy="215444"/>
              </a:xfrm>
              <a:prstGeom prst="rect">
                <a:avLst/>
              </a:prstGeom>
              <a:noFill/>
            </p:spPr>
            <p:txBody>
              <a:bodyPr wrap="square" lIns="0" tIns="0" rIns="0" bIns="0" rtlCol="0">
                <a:spAutoFit/>
              </a:bodyPr>
              <a:lstStyle/>
              <a:p>
                <a:pPr/>
                <a14:m>
                  <m:oMathPara xmlns:m="http://schemas.openxmlformats.org/officeDocument/2006/math">
                    <m:oMath>
                      <m:sSub>
                        <m:sSubPr>
                          <m:ctrlPr>
                            <a:rPr lang="en-US" sz="1400" b="0" i="1" smtClean="0">
                              <a:solidFill>
                                <a:schemeClr val="bg1"/>
                              </a:solidFill>
                              <a:latin typeface="Cambria Math" panose="02040503050406030204" pitchFamily="18" charset="0"/>
                            </a:rPr>
                          </m:ctrlPr>
                        </m:sSubPr>
                        <m:e>
                          <m:r>
                            <a:rPr lang="en-US" sz="1400" b="0" i="1" smtClean="0">
                              <a:solidFill>
                                <a:schemeClr val="bg1"/>
                              </a:solidFill>
                              <a:latin typeface="Cambria Math" panose="02040503050406030204" pitchFamily="18" charset="0"/>
                            </a:rPr>
                            <m:t>𝑃</m:t>
                          </m:r>
                        </m:e>
                        <m:sub>
                          <m:r>
                            <a:rPr lang="en-US" sz="1400" b="0" i="1" smtClean="0">
                              <a:solidFill>
                                <a:schemeClr val="bg1"/>
                              </a:solidFill>
                              <a:latin typeface="Cambria Math" panose="02040503050406030204" pitchFamily="18" charset="0"/>
                            </a:rPr>
                            <m:t>𝑡</m:t>
                          </m:r>
                          <m:r>
                            <a:rPr lang="en-US" sz="1400" b="0" i="1" smtClean="0">
                              <a:solidFill>
                                <a:schemeClr val="bg1"/>
                              </a:solidFill>
                              <a:latin typeface="Cambria Math" panose="02040503050406030204" pitchFamily="18" charset="0"/>
                            </a:rPr>
                            <m:t>1</m:t>
                          </m:r>
                        </m:sub>
                      </m:sSub>
                    </m:oMath>
                  </m:oMathPara>
                </a14:m>
                <a:endParaRPr lang="en-US" sz="1400" dirty="0">
                  <a:solidFill>
                    <a:schemeClr val="bg1"/>
                  </a:solidFill>
                </a:endParaRPr>
              </a:p>
            </p:txBody>
          </p:sp>
        </mc:Choice>
        <mc:Fallback xmlns="">
          <p:sp>
            <p:nvSpPr>
              <p:cNvPr id="40" name="TextBox 39">
                <a:extLst>
                  <a:ext uri="{FF2B5EF4-FFF2-40B4-BE49-F238E27FC236}">
                    <a16:creationId xmlns:a16="http://schemas.microsoft.com/office/drawing/2014/main" id="{CB628DD1-ECDB-5CDA-2DE6-53F6BCD5445B}"/>
                  </a:ext>
                </a:extLst>
              </p:cNvPr>
              <p:cNvSpPr txBox="1">
                <a:spLocks noRot="1" noChangeAspect="1" noMove="1" noResize="1" noEditPoints="1" noAdjustHandles="1" noChangeArrowheads="1" noChangeShapeType="1" noTextEdit="1"/>
              </p:cNvSpPr>
              <p:nvPr/>
            </p:nvSpPr>
            <p:spPr>
              <a:xfrm>
                <a:off x="1983171" y="4242951"/>
                <a:ext cx="389964" cy="215444"/>
              </a:xfrm>
              <a:prstGeom prst="rect">
                <a:avLst/>
              </a:prstGeom>
              <a:blipFill>
                <a:blip r:embed="rId3"/>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430E26B-0B2B-A25C-138A-2FB5655F7EFD}"/>
                  </a:ext>
                </a:extLst>
              </p:cNvPr>
              <p:cNvSpPr txBox="1"/>
              <p:nvPr/>
            </p:nvSpPr>
            <p:spPr>
              <a:xfrm>
                <a:off x="1992631" y="5383231"/>
                <a:ext cx="389964" cy="215444"/>
              </a:xfrm>
              <a:prstGeom prst="rect">
                <a:avLst/>
              </a:prstGeom>
              <a:noFill/>
            </p:spPr>
            <p:txBody>
              <a:bodyPr wrap="square" lIns="0" tIns="0" rIns="0" bIns="0" rtlCol="0">
                <a:spAutoFit/>
              </a:bodyPr>
              <a:lstStyle/>
              <a:p>
                <a:pPr/>
                <a14:m>
                  <m:oMathPara xmlns:m="http://schemas.openxmlformats.org/officeDocument/2006/math">
                    <m:oMath>
                      <m:sSub>
                        <m:sSubPr>
                          <m:ctrlPr>
                            <a:rPr lang="en-US" sz="1400" b="0" i="1" smtClean="0">
                              <a:solidFill>
                                <a:schemeClr val="bg1"/>
                              </a:solidFill>
                              <a:latin typeface="Cambria Math" panose="02040503050406030204" pitchFamily="18" charset="0"/>
                            </a:rPr>
                          </m:ctrlPr>
                        </m:sSubPr>
                        <m:e>
                          <m:r>
                            <a:rPr lang="en-US" sz="1400" b="0" i="1" smtClean="0">
                              <a:solidFill>
                                <a:schemeClr val="bg1"/>
                              </a:solidFill>
                              <a:latin typeface="Cambria Math" panose="02040503050406030204" pitchFamily="18" charset="0"/>
                            </a:rPr>
                            <m:t>𝑃</m:t>
                          </m:r>
                        </m:e>
                        <m:sub>
                          <m:r>
                            <a:rPr lang="en-US" sz="1400" b="0" i="1" smtClean="0">
                              <a:solidFill>
                                <a:schemeClr val="bg1"/>
                              </a:solidFill>
                              <a:latin typeface="Cambria Math" panose="02040503050406030204" pitchFamily="18" charset="0"/>
                            </a:rPr>
                            <m:t>𝑏</m:t>
                          </m:r>
                          <m:r>
                            <a:rPr lang="en-US" sz="1400" b="0" i="1" smtClean="0">
                              <a:solidFill>
                                <a:schemeClr val="bg1"/>
                              </a:solidFill>
                              <a:latin typeface="Cambria Math" panose="02040503050406030204" pitchFamily="18" charset="0"/>
                            </a:rPr>
                            <m:t>1</m:t>
                          </m:r>
                        </m:sub>
                      </m:sSub>
                    </m:oMath>
                  </m:oMathPara>
                </a14:m>
                <a:endParaRPr lang="en-US" sz="1400" dirty="0">
                  <a:solidFill>
                    <a:schemeClr val="bg1"/>
                  </a:solidFill>
                </a:endParaRPr>
              </a:p>
            </p:txBody>
          </p:sp>
        </mc:Choice>
        <mc:Fallback xmlns="">
          <p:sp>
            <p:nvSpPr>
              <p:cNvPr id="41" name="TextBox 40">
                <a:extLst>
                  <a:ext uri="{FF2B5EF4-FFF2-40B4-BE49-F238E27FC236}">
                    <a16:creationId xmlns:a16="http://schemas.microsoft.com/office/drawing/2014/main" id="{0430E26B-0B2B-A25C-138A-2FB5655F7EFD}"/>
                  </a:ext>
                </a:extLst>
              </p:cNvPr>
              <p:cNvSpPr txBox="1">
                <a:spLocks noRot="1" noChangeAspect="1" noMove="1" noResize="1" noEditPoints="1" noAdjustHandles="1" noChangeArrowheads="1" noChangeShapeType="1" noTextEdit="1"/>
              </p:cNvSpPr>
              <p:nvPr/>
            </p:nvSpPr>
            <p:spPr>
              <a:xfrm>
                <a:off x="1992631" y="5383231"/>
                <a:ext cx="389964" cy="215444"/>
              </a:xfrm>
              <a:prstGeom prst="rect">
                <a:avLst/>
              </a:prstGeom>
              <a:blipFill>
                <a:blip r:embed="rId4"/>
                <a:stretch>
                  <a:fillRect b="-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9C6DC20-1045-55D7-A797-BA981C6FA594}"/>
                  </a:ext>
                </a:extLst>
              </p:cNvPr>
              <p:cNvSpPr txBox="1"/>
              <p:nvPr/>
            </p:nvSpPr>
            <p:spPr>
              <a:xfrm>
                <a:off x="4816391" y="5437223"/>
                <a:ext cx="1157453" cy="169277"/>
              </a:xfrm>
              <a:prstGeom prst="rect">
                <a:avLst/>
              </a:prstGeom>
              <a:noFill/>
            </p:spPr>
            <p:txBody>
              <a:bodyPr wrap="square" lIns="0" tIns="0" rIns="0" bIns="0" rtlCol="0">
                <a:spAutoFit/>
              </a:bodyPr>
              <a:lstStyle/>
              <a:p>
                <a:pPr/>
                <a14:m>
                  <m:oMathPara xmlns:m="http://schemas.openxmlformats.org/officeDocument/2006/math">
                    <m:oMath>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𝑏</m:t>
                          </m:r>
                          <m:r>
                            <a:rPr lang="en-US" sz="1100" b="0" i="1" smtClean="0">
                              <a:solidFill>
                                <a:schemeClr val="bg1"/>
                              </a:solidFill>
                              <a:latin typeface="Cambria Math" panose="02040503050406030204" pitchFamily="18" charset="0"/>
                            </a:rPr>
                            <m:t>2</m:t>
                          </m:r>
                        </m:sub>
                      </m:sSub>
                      <m:r>
                        <a:rPr lang="en-US" sz="1100" b="0" i="1" smtClean="0">
                          <a:solidFill>
                            <a:schemeClr val="bg1"/>
                          </a:solidFill>
                          <a:latin typeface="Cambria Math" panose="02040503050406030204" pitchFamily="18" charset="0"/>
                        </a:rPr>
                        <m:t>=</m:t>
                      </m:r>
                      <m:sSub>
                        <m:sSubPr>
                          <m:ctrlPr>
                            <a:rPr lang="en-US" sz="1100" b="0" i="1" smtClean="0">
                              <a:solidFill>
                                <a:schemeClr val="bg1"/>
                              </a:solidFill>
                              <a:latin typeface="Cambria Math" panose="02040503050406030204" pitchFamily="18" charset="0"/>
                            </a:rPr>
                          </m:ctrlPr>
                        </m:sSubPr>
                        <m:e>
                          <m:r>
                            <a:rPr lang="en-US" sz="1100" b="0" i="1" smtClean="0">
                              <a:solidFill>
                                <a:schemeClr val="bg1"/>
                              </a:solidFill>
                              <a:latin typeface="Cambria Math" panose="02040503050406030204" pitchFamily="18" charset="0"/>
                            </a:rPr>
                            <m:t>𝑃</m:t>
                          </m:r>
                        </m:e>
                        <m:sub>
                          <m:r>
                            <a:rPr lang="en-US" sz="1100" b="0" i="1" smtClean="0">
                              <a:solidFill>
                                <a:schemeClr val="bg1"/>
                              </a:solidFill>
                              <a:latin typeface="Cambria Math" panose="02040503050406030204" pitchFamily="18" charset="0"/>
                            </a:rPr>
                            <m:t>𝑏</m:t>
                          </m:r>
                          <m:r>
                            <a:rPr lang="en-US" sz="1100" b="0" i="1" smtClean="0">
                              <a:solidFill>
                                <a:schemeClr val="bg1"/>
                              </a:solidFill>
                              <a:latin typeface="Cambria Math" panose="02040503050406030204" pitchFamily="18" charset="0"/>
                            </a:rPr>
                            <m:t>1</m:t>
                          </m:r>
                        </m:sub>
                      </m:sSub>
                      <m:r>
                        <a:rPr lang="en-US" sz="1100" b="0" i="1" smtClean="0">
                          <a:solidFill>
                            <a:schemeClr val="bg1"/>
                          </a:solidFill>
                          <a:latin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m:t>
                      </m:r>
                      <m:r>
                        <a:rPr lang="en-US" sz="1100" b="0" i="1" smtClean="0">
                          <a:solidFill>
                            <a:schemeClr val="bg1"/>
                          </a:solidFill>
                          <a:latin typeface="Cambria Math" panose="02040503050406030204" pitchFamily="18" charset="0"/>
                          <a:ea typeface="Cambria Math" panose="02040503050406030204" pitchFamily="18" charset="0"/>
                        </a:rPr>
                        <m:t>𝑃</m:t>
                      </m:r>
                    </m:oMath>
                  </m:oMathPara>
                </a14:m>
                <a:endParaRPr lang="en-US" sz="1100" dirty="0">
                  <a:solidFill>
                    <a:schemeClr val="bg1"/>
                  </a:solidFill>
                </a:endParaRPr>
              </a:p>
            </p:txBody>
          </p:sp>
        </mc:Choice>
        <mc:Fallback xmlns="">
          <p:sp>
            <p:nvSpPr>
              <p:cNvPr id="42" name="TextBox 41">
                <a:extLst>
                  <a:ext uri="{FF2B5EF4-FFF2-40B4-BE49-F238E27FC236}">
                    <a16:creationId xmlns:a16="http://schemas.microsoft.com/office/drawing/2014/main" id="{99C6DC20-1045-55D7-A797-BA981C6FA594}"/>
                  </a:ext>
                </a:extLst>
              </p:cNvPr>
              <p:cNvSpPr txBox="1">
                <a:spLocks noRot="1" noChangeAspect="1" noMove="1" noResize="1" noEditPoints="1" noAdjustHandles="1" noChangeArrowheads="1" noChangeShapeType="1" noTextEdit="1"/>
              </p:cNvSpPr>
              <p:nvPr/>
            </p:nvSpPr>
            <p:spPr>
              <a:xfrm>
                <a:off x="4816391" y="5437223"/>
                <a:ext cx="1157453" cy="169277"/>
              </a:xfrm>
              <a:prstGeom prst="rect">
                <a:avLst/>
              </a:prstGeom>
              <a:blipFill>
                <a:blip r:embed="rId5"/>
                <a:stretch>
                  <a:fillRect b="-17857"/>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8466FE98-8E93-3A77-478D-D13E5BEA84B6}"/>
              </a:ext>
            </a:extLst>
          </p:cNvPr>
          <p:cNvCxnSpPr>
            <a:cxnSpLocks/>
          </p:cNvCxnSpPr>
          <p:nvPr/>
        </p:nvCxnSpPr>
        <p:spPr>
          <a:xfrm>
            <a:off x="3170721" y="4088402"/>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42B2BFFA-C36E-8DCE-6842-E7B91D5D0C52}"/>
              </a:ext>
            </a:extLst>
          </p:cNvPr>
          <p:cNvCxnSpPr>
            <a:cxnSpLocks/>
          </p:cNvCxnSpPr>
          <p:nvPr/>
        </p:nvCxnSpPr>
        <p:spPr>
          <a:xfrm>
            <a:off x="3273550" y="5791018"/>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1494B5C6-3D5A-52C2-07BD-C8777BE2B1DD}"/>
              </a:ext>
            </a:extLst>
          </p:cNvPr>
          <p:cNvCxnSpPr>
            <a:cxnSpLocks/>
          </p:cNvCxnSpPr>
          <p:nvPr/>
        </p:nvCxnSpPr>
        <p:spPr>
          <a:xfrm>
            <a:off x="3479291" y="4088402"/>
            <a:ext cx="0" cy="1672360"/>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8AE0AD0D-780E-372A-B6F7-23E59E068B37}"/>
                  </a:ext>
                </a:extLst>
              </p:cNvPr>
              <p:cNvSpPr txBox="1"/>
              <p:nvPr/>
            </p:nvSpPr>
            <p:spPr>
              <a:xfrm>
                <a:off x="3376461" y="4842890"/>
                <a:ext cx="283154" cy="276999"/>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1</m:t>
                          </m:r>
                        </m:sub>
                      </m:sSub>
                    </m:oMath>
                  </m:oMathPara>
                </a14:m>
                <a:endParaRPr lang="en-US" dirty="0"/>
              </a:p>
            </p:txBody>
          </p:sp>
        </mc:Choice>
        <mc:Fallback xmlns="">
          <p:sp>
            <p:nvSpPr>
              <p:cNvPr id="50" name="TextBox 49">
                <a:extLst>
                  <a:ext uri="{FF2B5EF4-FFF2-40B4-BE49-F238E27FC236}">
                    <a16:creationId xmlns:a16="http://schemas.microsoft.com/office/drawing/2014/main" id="{8AE0AD0D-780E-372A-B6F7-23E59E068B37}"/>
                  </a:ext>
                </a:extLst>
              </p:cNvPr>
              <p:cNvSpPr txBox="1">
                <a:spLocks noRot="1" noChangeAspect="1" noMove="1" noResize="1" noEditPoints="1" noAdjustHandles="1" noChangeArrowheads="1" noChangeShapeType="1" noTextEdit="1"/>
              </p:cNvSpPr>
              <p:nvPr/>
            </p:nvSpPr>
            <p:spPr>
              <a:xfrm>
                <a:off x="3376461" y="4842890"/>
                <a:ext cx="283154" cy="276999"/>
              </a:xfrm>
              <a:prstGeom prst="rect">
                <a:avLst/>
              </a:prstGeom>
              <a:blipFill>
                <a:blip r:embed="rId6"/>
                <a:stretch>
                  <a:fillRect l="-21739" r="-6522" b="-15217"/>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30F4C161-000C-42CD-F30C-63060F81D692}"/>
              </a:ext>
            </a:extLst>
          </p:cNvPr>
          <p:cNvCxnSpPr>
            <a:cxnSpLocks/>
          </p:cNvCxnSpPr>
          <p:nvPr/>
        </p:nvCxnSpPr>
        <p:spPr>
          <a:xfrm>
            <a:off x="6431558" y="4458395"/>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D4051771-9388-6632-4F95-2673F44A9489}"/>
              </a:ext>
            </a:extLst>
          </p:cNvPr>
          <p:cNvCxnSpPr>
            <a:cxnSpLocks/>
          </p:cNvCxnSpPr>
          <p:nvPr/>
        </p:nvCxnSpPr>
        <p:spPr>
          <a:xfrm>
            <a:off x="6447965" y="5760762"/>
            <a:ext cx="411481"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ED5E4EDE-274B-7A58-DC40-D145DE27AC59}"/>
              </a:ext>
            </a:extLst>
          </p:cNvPr>
          <p:cNvCxnSpPr>
            <a:cxnSpLocks/>
          </p:cNvCxnSpPr>
          <p:nvPr/>
        </p:nvCxnSpPr>
        <p:spPr>
          <a:xfrm>
            <a:off x="6709897" y="4484787"/>
            <a:ext cx="0" cy="1275975"/>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61F7723C-36EF-2536-F347-C1B5FAFC7534}"/>
                  </a:ext>
                </a:extLst>
              </p:cNvPr>
              <p:cNvSpPr txBox="1"/>
              <p:nvPr/>
            </p:nvSpPr>
            <p:spPr>
              <a:xfrm>
                <a:off x="6570969" y="4971079"/>
                <a:ext cx="288477" cy="276999"/>
              </a:xfrm>
              <a:prstGeom prst="rect">
                <a:avLst/>
              </a:prstGeom>
              <a:solidFill>
                <a:schemeClr val="bg1"/>
              </a:solid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ℎ</m:t>
                          </m:r>
                        </m:e>
                        <m:sub>
                          <m:r>
                            <a:rPr lang="en-US" b="0" i="1" smtClean="0">
                              <a:latin typeface="Cambria Math" panose="02040503050406030204" pitchFamily="18" charset="0"/>
                            </a:rPr>
                            <m:t>2</m:t>
                          </m:r>
                        </m:sub>
                      </m:sSub>
                    </m:oMath>
                  </m:oMathPara>
                </a14:m>
                <a:endParaRPr lang="en-US" dirty="0"/>
              </a:p>
            </p:txBody>
          </p:sp>
        </mc:Choice>
        <mc:Fallback xmlns="">
          <p:sp>
            <p:nvSpPr>
              <p:cNvPr id="54" name="TextBox 53">
                <a:extLst>
                  <a:ext uri="{FF2B5EF4-FFF2-40B4-BE49-F238E27FC236}">
                    <a16:creationId xmlns:a16="http://schemas.microsoft.com/office/drawing/2014/main" id="{61F7723C-36EF-2536-F347-C1B5FAFC7534}"/>
                  </a:ext>
                </a:extLst>
              </p:cNvPr>
              <p:cNvSpPr txBox="1">
                <a:spLocks noRot="1" noChangeAspect="1" noMove="1" noResize="1" noEditPoints="1" noAdjustHandles="1" noChangeArrowheads="1" noChangeShapeType="1" noTextEdit="1"/>
              </p:cNvSpPr>
              <p:nvPr/>
            </p:nvSpPr>
            <p:spPr>
              <a:xfrm>
                <a:off x="6570969" y="4971079"/>
                <a:ext cx="288477" cy="276999"/>
              </a:xfrm>
              <a:prstGeom prst="rect">
                <a:avLst/>
              </a:prstGeom>
              <a:blipFill>
                <a:blip r:embed="rId7"/>
                <a:stretch>
                  <a:fillRect l="-21277" r="-6383" b="-15217"/>
                </a:stretch>
              </a:blipFill>
            </p:spPr>
            <p:txBody>
              <a:bodyPr/>
              <a:lstStyle/>
              <a:p>
                <a:r>
                  <a:rPr lang="en-US">
                    <a:noFill/>
                  </a:rPr>
                  <a:t> </a:t>
                </a:r>
              </a:p>
            </p:txBody>
          </p:sp>
        </mc:Fallback>
      </mc:AlternateContent>
    </p:spTree>
    <p:extLst>
      <p:ext uri="{BB962C8B-B14F-4D97-AF65-F5344CB8AC3E}">
        <p14:creationId xmlns:p14="http://schemas.microsoft.com/office/powerpoint/2010/main" val="2425111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How much does the pressure change in the right hand side of this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Problem</a:t>
            </a:r>
          </a:p>
        </p:txBody>
      </p:sp>
      <p:sp>
        <p:nvSpPr>
          <p:cNvPr id="5" name="Content Placeholder 4"/>
          <p:cNvSpPr>
            <a:spLocks noGrp="1"/>
          </p:cNvSpPr>
          <p:nvPr>
            <p:ph sz="half" idx="1"/>
          </p:nvPr>
        </p:nvSpPr>
        <p:spPr/>
        <p:txBody>
          <a:bodyPr/>
          <a:lstStyle/>
          <a:p>
            <a:pPr marL="0" indent="0">
              <a:buNone/>
            </a:pPr>
            <a:r>
              <a:rPr lang="en-US" dirty="0"/>
              <a:t>We push down on the small piston on the left. The pressure changes by an amount </a:t>
            </a:r>
            <a:r>
              <a:rPr lang="en-US" dirty="0">
                <a:sym typeface="Symbol" panose="05050102010706020507" pitchFamily="18" charset="2"/>
              </a:rPr>
              <a:t>P. What is the upward force in the right hand side of the jack?</a:t>
            </a:r>
            <a:endParaRPr lang="en-US" dirty="0"/>
          </a:p>
        </p:txBody>
      </p:sp>
      <p:pic>
        <p:nvPicPr>
          <p:cNvPr id="4" name="Picture 3"/>
          <p:cNvPicPr>
            <a:picLocks noChangeAspect="1"/>
          </p:cNvPicPr>
          <p:nvPr/>
        </p:nvPicPr>
        <p:blipFill>
          <a:blip r:embed="rId3"/>
          <a:stretch>
            <a:fillRect/>
          </a:stretch>
        </p:blipFill>
        <p:spPr>
          <a:xfrm>
            <a:off x="4529693" y="1828800"/>
            <a:ext cx="3854952" cy="2209800"/>
          </a:xfrm>
          <a:prstGeom prst="rect">
            <a:avLst/>
          </a:prstGeom>
        </p:spPr>
      </p:pic>
    </p:spTree>
    <p:extLst>
      <p:ext uri="{BB962C8B-B14F-4D97-AF65-F5344CB8AC3E}">
        <p14:creationId xmlns:p14="http://schemas.microsoft.com/office/powerpoint/2010/main" val="145735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n 3">
            <a:extLst>
              <a:ext uri="{FF2B5EF4-FFF2-40B4-BE49-F238E27FC236}">
                <a16:creationId xmlns:a16="http://schemas.microsoft.com/office/drawing/2014/main" id="{0B49418E-49F0-495D-3C72-C97C834AE993}"/>
              </a:ext>
            </a:extLst>
          </p:cNvPr>
          <p:cNvSpPr/>
          <p:nvPr/>
        </p:nvSpPr>
        <p:spPr>
          <a:xfrm>
            <a:off x="1257569" y="2528047"/>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24359F-FD3A-BB8A-798E-B68C6729EA2D}"/>
              </a:ext>
            </a:extLst>
          </p:cNvPr>
          <p:cNvSpPr txBox="1"/>
          <p:nvPr/>
        </p:nvSpPr>
        <p:spPr>
          <a:xfrm>
            <a:off x="1634086" y="2689411"/>
            <a:ext cx="628698" cy="584775"/>
          </a:xfrm>
          <a:prstGeom prst="rect">
            <a:avLst/>
          </a:prstGeom>
          <a:noFill/>
        </p:spPr>
        <p:txBody>
          <a:bodyPr wrap="none" rtlCol="0">
            <a:spAutoFit/>
          </a:bodyPr>
          <a:lstStyle/>
          <a:p>
            <a:r>
              <a:rPr lang="en-US" sz="3200" dirty="0"/>
              <a:t>A</a:t>
            </a:r>
            <a:r>
              <a:rPr lang="en-US" sz="3200" baseline="-25000" dirty="0"/>
              <a:t>in</a:t>
            </a:r>
          </a:p>
        </p:txBody>
      </p:sp>
      <p:cxnSp>
        <p:nvCxnSpPr>
          <p:cNvPr id="7" name="Straight Arrow Connector 6">
            <a:extLst>
              <a:ext uri="{FF2B5EF4-FFF2-40B4-BE49-F238E27FC236}">
                <a16:creationId xmlns:a16="http://schemas.microsoft.com/office/drawing/2014/main" id="{2DDCBFA5-1A53-03CB-C213-FD47A6766870}"/>
              </a:ext>
            </a:extLst>
          </p:cNvPr>
          <p:cNvCxnSpPr/>
          <p:nvPr/>
        </p:nvCxnSpPr>
        <p:spPr>
          <a:xfrm flipV="1">
            <a:off x="1746504" y="3294530"/>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5299A91B-9E11-E9E1-1D25-A37F888479E4}"/>
              </a:ext>
            </a:extLst>
          </p:cNvPr>
          <p:cNvSpPr txBox="1"/>
          <p:nvPr/>
        </p:nvSpPr>
        <p:spPr>
          <a:xfrm>
            <a:off x="1262362" y="4215384"/>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9" name="Straight Arrow Connector 8">
            <a:extLst>
              <a:ext uri="{FF2B5EF4-FFF2-40B4-BE49-F238E27FC236}">
                <a16:creationId xmlns:a16="http://schemas.microsoft.com/office/drawing/2014/main" id="{671D2568-6858-8917-7089-D8B7C76A214A}"/>
              </a:ext>
            </a:extLst>
          </p:cNvPr>
          <p:cNvCxnSpPr>
            <a:cxnSpLocks/>
          </p:cNvCxnSpPr>
          <p:nvPr/>
        </p:nvCxnSpPr>
        <p:spPr>
          <a:xfrm>
            <a:off x="2262784" y="3294530"/>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D89A8C62-6F29-C916-E4CA-7A1BD83C6623}"/>
              </a:ext>
            </a:extLst>
          </p:cNvPr>
          <p:cNvSpPr txBox="1"/>
          <p:nvPr/>
        </p:nvSpPr>
        <p:spPr>
          <a:xfrm>
            <a:off x="929541" y="1312799"/>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12" name="Straight Arrow Connector 11">
            <a:extLst>
              <a:ext uri="{FF2B5EF4-FFF2-40B4-BE49-F238E27FC236}">
                <a16:creationId xmlns:a16="http://schemas.microsoft.com/office/drawing/2014/main" id="{EC7E135A-8551-F9D2-9BCE-79EF6FFE4BCC}"/>
              </a:ext>
            </a:extLst>
          </p:cNvPr>
          <p:cNvCxnSpPr>
            <a:cxnSpLocks/>
          </p:cNvCxnSpPr>
          <p:nvPr/>
        </p:nvCxnSpPr>
        <p:spPr>
          <a:xfrm>
            <a:off x="1876134" y="1659725"/>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443BAA71-E0E8-1204-93DA-920D45ADABAE}"/>
              </a:ext>
            </a:extLst>
          </p:cNvPr>
          <p:cNvSpPr txBox="1"/>
          <p:nvPr/>
        </p:nvSpPr>
        <p:spPr>
          <a:xfrm>
            <a:off x="2389214" y="3846052"/>
            <a:ext cx="612668" cy="461665"/>
          </a:xfrm>
          <a:prstGeom prst="rect">
            <a:avLst/>
          </a:prstGeom>
          <a:noFill/>
        </p:spPr>
        <p:txBody>
          <a:bodyPr wrap="none" rtlCol="0">
            <a:spAutoFit/>
          </a:bodyPr>
          <a:lstStyle/>
          <a:p>
            <a:r>
              <a:rPr lang="en-US" sz="2400" dirty="0"/>
              <a:t>W</a:t>
            </a:r>
            <a:r>
              <a:rPr lang="en-US" sz="2400" baseline="-25000" dirty="0"/>
              <a:t>in</a:t>
            </a:r>
            <a:endParaRPr lang="en-US" sz="2400" dirty="0"/>
          </a:p>
        </p:txBody>
      </p:sp>
      <p:sp>
        <p:nvSpPr>
          <p:cNvPr id="16" name="Can 3">
            <a:extLst>
              <a:ext uri="{FF2B5EF4-FFF2-40B4-BE49-F238E27FC236}">
                <a16:creationId xmlns:a16="http://schemas.microsoft.com/office/drawing/2014/main" id="{A99CB4F6-681A-9AD6-CEB4-DA7C50AECC61}"/>
              </a:ext>
            </a:extLst>
          </p:cNvPr>
          <p:cNvSpPr/>
          <p:nvPr/>
        </p:nvSpPr>
        <p:spPr>
          <a:xfrm>
            <a:off x="5412173" y="2598556"/>
            <a:ext cx="1237130"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BB13FC8-A0E4-35A0-F914-59ECFF4A44FD}"/>
              </a:ext>
            </a:extLst>
          </p:cNvPr>
          <p:cNvSpPr txBox="1"/>
          <p:nvPr/>
        </p:nvSpPr>
        <p:spPr>
          <a:xfrm>
            <a:off x="5788690" y="2759920"/>
            <a:ext cx="628698" cy="584775"/>
          </a:xfrm>
          <a:prstGeom prst="rect">
            <a:avLst/>
          </a:prstGeom>
          <a:noFill/>
        </p:spPr>
        <p:txBody>
          <a:bodyPr wrap="none" rtlCol="0">
            <a:spAutoFit/>
          </a:bodyPr>
          <a:lstStyle/>
          <a:p>
            <a:r>
              <a:rPr lang="en-US" sz="3200" dirty="0"/>
              <a:t>A</a:t>
            </a:r>
            <a:r>
              <a:rPr lang="en-US" sz="3200" baseline="-25000" dirty="0"/>
              <a:t>in</a:t>
            </a:r>
          </a:p>
        </p:txBody>
      </p:sp>
      <p:cxnSp>
        <p:nvCxnSpPr>
          <p:cNvPr id="18" name="Straight Arrow Connector 17">
            <a:extLst>
              <a:ext uri="{FF2B5EF4-FFF2-40B4-BE49-F238E27FC236}">
                <a16:creationId xmlns:a16="http://schemas.microsoft.com/office/drawing/2014/main" id="{1B653F35-5241-3AA2-D330-CE3A00D832CF}"/>
              </a:ext>
            </a:extLst>
          </p:cNvPr>
          <p:cNvCxnSpPr/>
          <p:nvPr/>
        </p:nvCxnSpPr>
        <p:spPr>
          <a:xfrm flipV="1">
            <a:off x="5901108" y="3365039"/>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E0A86C1D-1DA0-FB64-263E-26EB19195C48}"/>
              </a:ext>
            </a:extLst>
          </p:cNvPr>
          <p:cNvSpPr txBox="1"/>
          <p:nvPr/>
        </p:nvSpPr>
        <p:spPr>
          <a:xfrm>
            <a:off x="5416966" y="4285893"/>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20" name="Straight Arrow Connector 19">
            <a:extLst>
              <a:ext uri="{FF2B5EF4-FFF2-40B4-BE49-F238E27FC236}">
                <a16:creationId xmlns:a16="http://schemas.microsoft.com/office/drawing/2014/main" id="{1AF44ED7-3125-BAB4-4D04-BAB5910658B3}"/>
              </a:ext>
            </a:extLst>
          </p:cNvPr>
          <p:cNvCxnSpPr>
            <a:cxnSpLocks/>
          </p:cNvCxnSpPr>
          <p:nvPr/>
        </p:nvCxnSpPr>
        <p:spPr>
          <a:xfrm>
            <a:off x="6417388" y="3365039"/>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4BA83F52-4C15-CC87-2253-DDF8874C45EC}"/>
              </a:ext>
            </a:extLst>
          </p:cNvPr>
          <p:cNvSpPr txBox="1"/>
          <p:nvPr/>
        </p:nvSpPr>
        <p:spPr>
          <a:xfrm>
            <a:off x="5084145" y="1383308"/>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22" name="Straight Arrow Connector 21">
            <a:extLst>
              <a:ext uri="{FF2B5EF4-FFF2-40B4-BE49-F238E27FC236}">
                <a16:creationId xmlns:a16="http://schemas.microsoft.com/office/drawing/2014/main" id="{E96E5388-4585-65A8-DB9B-C7AAA4639843}"/>
              </a:ext>
            </a:extLst>
          </p:cNvPr>
          <p:cNvCxnSpPr>
            <a:cxnSpLocks/>
          </p:cNvCxnSpPr>
          <p:nvPr/>
        </p:nvCxnSpPr>
        <p:spPr>
          <a:xfrm>
            <a:off x="5808382" y="1741841"/>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EA7EF293-EC5F-0918-69A6-4C12F4D7812E}"/>
              </a:ext>
            </a:extLst>
          </p:cNvPr>
          <p:cNvSpPr txBox="1"/>
          <p:nvPr/>
        </p:nvSpPr>
        <p:spPr>
          <a:xfrm>
            <a:off x="6543818" y="3916561"/>
            <a:ext cx="612668" cy="461665"/>
          </a:xfrm>
          <a:prstGeom prst="rect">
            <a:avLst/>
          </a:prstGeom>
          <a:noFill/>
        </p:spPr>
        <p:txBody>
          <a:bodyPr wrap="none" rtlCol="0">
            <a:spAutoFit/>
          </a:bodyPr>
          <a:lstStyle/>
          <a:p>
            <a:r>
              <a:rPr lang="en-US" sz="2400" dirty="0"/>
              <a:t>W</a:t>
            </a:r>
            <a:r>
              <a:rPr lang="en-US" sz="2400" baseline="-25000" dirty="0"/>
              <a:t>in</a:t>
            </a:r>
            <a:endParaRPr lang="en-US" sz="2400" dirty="0"/>
          </a:p>
        </p:txBody>
      </p:sp>
      <p:cxnSp>
        <p:nvCxnSpPr>
          <p:cNvPr id="24" name="Straight Arrow Connector 23">
            <a:extLst>
              <a:ext uri="{FF2B5EF4-FFF2-40B4-BE49-F238E27FC236}">
                <a16:creationId xmlns:a16="http://schemas.microsoft.com/office/drawing/2014/main" id="{EB08746F-D72A-822A-8E40-8411BC40B91F}"/>
              </a:ext>
            </a:extLst>
          </p:cNvPr>
          <p:cNvCxnSpPr>
            <a:cxnSpLocks/>
          </p:cNvCxnSpPr>
          <p:nvPr/>
        </p:nvCxnSpPr>
        <p:spPr>
          <a:xfrm>
            <a:off x="6207591" y="1741841"/>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A5F210CF-FDA7-279C-70AB-D68DFC9475F4}"/>
              </a:ext>
            </a:extLst>
          </p:cNvPr>
          <p:cNvSpPr txBox="1"/>
          <p:nvPr/>
        </p:nvSpPr>
        <p:spPr>
          <a:xfrm>
            <a:off x="6278361" y="1312799"/>
            <a:ext cx="529312" cy="523220"/>
          </a:xfrm>
          <a:prstGeom prst="rect">
            <a:avLst/>
          </a:prstGeom>
          <a:noFill/>
        </p:spPr>
        <p:txBody>
          <a:bodyPr wrap="none" rtlCol="0">
            <a:spAutoFit/>
          </a:bodyPr>
          <a:lstStyle/>
          <a:p>
            <a:r>
              <a:rPr lang="en-US" sz="2800" dirty="0"/>
              <a:t>F</a:t>
            </a:r>
            <a:r>
              <a:rPr lang="en-US" sz="2800" baseline="-25000" dirty="0"/>
              <a:t>in</a:t>
            </a:r>
          </a:p>
        </p:txBody>
      </p:sp>
    </p:spTree>
    <p:extLst>
      <p:ext uri="{BB962C8B-B14F-4D97-AF65-F5344CB8AC3E}">
        <p14:creationId xmlns:p14="http://schemas.microsoft.com/office/powerpoint/2010/main" val="340925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DA3EC-ABC4-33B2-DA4C-30E48D3A2834}"/>
            </a:ext>
          </a:extLst>
        </p:cNvPr>
        <p:cNvGrpSpPr/>
        <p:nvPr/>
      </p:nvGrpSpPr>
      <p:grpSpPr>
        <a:xfrm>
          <a:off x="0" y="0"/>
          <a:ext cx="0" cy="0"/>
          <a:chOff x="0" y="0"/>
          <a:chExt cx="0" cy="0"/>
        </a:xfrm>
      </p:grpSpPr>
      <p:sp>
        <p:nvSpPr>
          <p:cNvPr id="2" name="Can 3">
            <a:extLst>
              <a:ext uri="{FF2B5EF4-FFF2-40B4-BE49-F238E27FC236}">
                <a16:creationId xmlns:a16="http://schemas.microsoft.com/office/drawing/2014/main" id="{CDC93EAB-D142-53CD-E175-2239C8268FB0}"/>
              </a:ext>
            </a:extLst>
          </p:cNvPr>
          <p:cNvSpPr/>
          <p:nvPr/>
        </p:nvSpPr>
        <p:spPr>
          <a:xfrm>
            <a:off x="5239438" y="2575696"/>
            <a:ext cx="1662594"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E1552DA-62FC-7DFF-DF52-F7552697599D}"/>
              </a:ext>
            </a:extLst>
          </p:cNvPr>
          <p:cNvSpPr txBox="1"/>
          <p:nvPr/>
        </p:nvSpPr>
        <p:spPr>
          <a:xfrm>
            <a:off x="5858539" y="2737060"/>
            <a:ext cx="801823" cy="584775"/>
          </a:xfrm>
          <a:prstGeom prst="rect">
            <a:avLst/>
          </a:prstGeom>
          <a:noFill/>
        </p:spPr>
        <p:txBody>
          <a:bodyPr wrap="none" rtlCol="0">
            <a:spAutoFit/>
          </a:bodyPr>
          <a:lstStyle/>
          <a:p>
            <a:r>
              <a:rPr lang="en-US" sz="3200" dirty="0" err="1"/>
              <a:t>A</a:t>
            </a:r>
            <a:r>
              <a:rPr lang="en-US" sz="3200" baseline="-25000" dirty="0" err="1"/>
              <a:t>out</a:t>
            </a:r>
            <a:endParaRPr lang="en-US" sz="3200" baseline="-25000" dirty="0"/>
          </a:p>
        </p:txBody>
      </p:sp>
      <p:sp>
        <p:nvSpPr>
          <p:cNvPr id="4" name="Can 3">
            <a:extLst>
              <a:ext uri="{FF2B5EF4-FFF2-40B4-BE49-F238E27FC236}">
                <a16:creationId xmlns:a16="http://schemas.microsoft.com/office/drawing/2014/main" id="{F6C251C1-AFDA-D2CE-AEC2-312A7F75AE7C}"/>
              </a:ext>
            </a:extLst>
          </p:cNvPr>
          <p:cNvSpPr/>
          <p:nvPr/>
        </p:nvSpPr>
        <p:spPr>
          <a:xfrm>
            <a:off x="1014985" y="2528047"/>
            <a:ext cx="1662594" cy="766483"/>
          </a:xfrm>
          <a:prstGeom prst="can">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B95FB2-730E-2D97-CED5-34618FB4D3C9}"/>
              </a:ext>
            </a:extLst>
          </p:cNvPr>
          <p:cNvSpPr txBox="1"/>
          <p:nvPr/>
        </p:nvSpPr>
        <p:spPr>
          <a:xfrm>
            <a:off x="1634086" y="2689411"/>
            <a:ext cx="801823" cy="584775"/>
          </a:xfrm>
          <a:prstGeom prst="rect">
            <a:avLst/>
          </a:prstGeom>
          <a:noFill/>
        </p:spPr>
        <p:txBody>
          <a:bodyPr wrap="none" rtlCol="0">
            <a:spAutoFit/>
          </a:bodyPr>
          <a:lstStyle/>
          <a:p>
            <a:r>
              <a:rPr lang="en-US" sz="3200" dirty="0" err="1"/>
              <a:t>A</a:t>
            </a:r>
            <a:r>
              <a:rPr lang="en-US" sz="3200" baseline="-25000" dirty="0" err="1"/>
              <a:t>out</a:t>
            </a:r>
            <a:endParaRPr lang="en-US" sz="3200" baseline="-25000" dirty="0"/>
          </a:p>
        </p:txBody>
      </p:sp>
      <p:cxnSp>
        <p:nvCxnSpPr>
          <p:cNvPr id="7" name="Straight Arrow Connector 6">
            <a:extLst>
              <a:ext uri="{FF2B5EF4-FFF2-40B4-BE49-F238E27FC236}">
                <a16:creationId xmlns:a16="http://schemas.microsoft.com/office/drawing/2014/main" id="{EBB6FDE4-F2CD-67CF-4876-CA34B2957FEC}"/>
              </a:ext>
            </a:extLst>
          </p:cNvPr>
          <p:cNvCxnSpPr/>
          <p:nvPr/>
        </p:nvCxnSpPr>
        <p:spPr>
          <a:xfrm flipV="1">
            <a:off x="1746504" y="3294530"/>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C56598E-D6FB-F896-D767-57EBE1F83C3A}"/>
              </a:ext>
            </a:extLst>
          </p:cNvPr>
          <p:cNvSpPr txBox="1"/>
          <p:nvPr/>
        </p:nvSpPr>
        <p:spPr>
          <a:xfrm>
            <a:off x="1262362" y="4215384"/>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9" name="Straight Arrow Connector 8">
            <a:extLst>
              <a:ext uri="{FF2B5EF4-FFF2-40B4-BE49-F238E27FC236}">
                <a16:creationId xmlns:a16="http://schemas.microsoft.com/office/drawing/2014/main" id="{E8B0C24A-6725-7BA1-2281-5E234061F407}"/>
              </a:ext>
            </a:extLst>
          </p:cNvPr>
          <p:cNvCxnSpPr>
            <a:cxnSpLocks/>
          </p:cNvCxnSpPr>
          <p:nvPr/>
        </p:nvCxnSpPr>
        <p:spPr>
          <a:xfrm>
            <a:off x="2262784" y="3294530"/>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8974D2B0-8EE8-D7F1-80C3-72333569915A}"/>
              </a:ext>
            </a:extLst>
          </p:cNvPr>
          <p:cNvSpPr txBox="1"/>
          <p:nvPr/>
        </p:nvSpPr>
        <p:spPr>
          <a:xfrm>
            <a:off x="929541" y="1312799"/>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12" name="Straight Arrow Connector 11">
            <a:extLst>
              <a:ext uri="{FF2B5EF4-FFF2-40B4-BE49-F238E27FC236}">
                <a16:creationId xmlns:a16="http://schemas.microsoft.com/office/drawing/2014/main" id="{D7B16343-E19B-D1AD-0887-824ACAD6CF88}"/>
              </a:ext>
            </a:extLst>
          </p:cNvPr>
          <p:cNvCxnSpPr>
            <a:cxnSpLocks/>
          </p:cNvCxnSpPr>
          <p:nvPr/>
        </p:nvCxnSpPr>
        <p:spPr>
          <a:xfrm>
            <a:off x="1876134" y="1659725"/>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837A7D36-818F-541B-8DE7-CD6DB08FCE88}"/>
              </a:ext>
            </a:extLst>
          </p:cNvPr>
          <p:cNvSpPr txBox="1"/>
          <p:nvPr/>
        </p:nvSpPr>
        <p:spPr>
          <a:xfrm>
            <a:off x="2389214" y="3846052"/>
            <a:ext cx="731162" cy="461665"/>
          </a:xfrm>
          <a:prstGeom prst="rect">
            <a:avLst/>
          </a:prstGeom>
          <a:noFill/>
        </p:spPr>
        <p:txBody>
          <a:bodyPr wrap="none" rtlCol="0">
            <a:spAutoFit/>
          </a:bodyPr>
          <a:lstStyle/>
          <a:p>
            <a:r>
              <a:rPr lang="en-US" sz="2400" dirty="0"/>
              <a:t>W</a:t>
            </a:r>
            <a:r>
              <a:rPr lang="en-US" sz="2400" baseline="-25000" dirty="0"/>
              <a:t>out</a:t>
            </a:r>
          </a:p>
        </p:txBody>
      </p:sp>
      <p:cxnSp>
        <p:nvCxnSpPr>
          <p:cNvPr id="18" name="Straight Arrow Connector 17">
            <a:extLst>
              <a:ext uri="{FF2B5EF4-FFF2-40B4-BE49-F238E27FC236}">
                <a16:creationId xmlns:a16="http://schemas.microsoft.com/office/drawing/2014/main" id="{042D1EA6-1A88-028F-6FD6-6BA590A8752D}"/>
              </a:ext>
            </a:extLst>
          </p:cNvPr>
          <p:cNvCxnSpPr/>
          <p:nvPr/>
        </p:nvCxnSpPr>
        <p:spPr>
          <a:xfrm flipV="1">
            <a:off x="5901108" y="3365039"/>
            <a:ext cx="0" cy="875134"/>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E1ECF6FE-7DAF-70E2-906D-79CB70073843}"/>
              </a:ext>
            </a:extLst>
          </p:cNvPr>
          <p:cNvSpPr txBox="1"/>
          <p:nvPr/>
        </p:nvSpPr>
        <p:spPr>
          <a:xfrm>
            <a:off x="5634801" y="4263033"/>
            <a:ext cx="782587" cy="523220"/>
          </a:xfrm>
          <a:prstGeom prst="rect">
            <a:avLst/>
          </a:prstGeom>
          <a:noFill/>
        </p:spPr>
        <p:txBody>
          <a:bodyPr wrap="none" rtlCol="0">
            <a:spAutoFit/>
          </a:bodyPr>
          <a:lstStyle/>
          <a:p>
            <a:r>
              <a:rPr lang="en-US" sz="2800" dirty="0" err="1"/>
              <a:t>F</a:t>
            </a:r>
            <a:r>
              <a:rPr lang="en-US" sz="2800" baseline="-25000" dirty="0" err="1"/>
              <a:t>fluid</a:t>
            </a:r>
            <a:endParaRPr lang="en-US" sz="2800" baseline="-25000" dirty="0"/>
          </a:p>
        </p:txBody>
      </p:sp>
      <p:cxnSp>
        <p:nvCxnSpPr>
          <p:cNvPr id="20" name="Straight Arrow Connector 19">
            <a:extLst>
              <a:ext uri="{FF2B5EF4-FFF2-40B4-BE49-F238E27FC236}">
                <a16:creationId xmlns:a16="http://schemas.microsoft.com/office/drawing/2014/main" id="{F82E5482-D345-F59C-670E-359E6952DD03}"/>
              </a:ext>
            </a:extLst>
          </p:cNvPr>
          <p:cNvCxnSpPr>
            <a:cxnSpLocks/>
          </p:cNvCxnSpPr>
          <p:nvPr/>
        </p:nvCxnSpPr>
        <p:spPr>
          <a:xfrm>
            <a:off x="6417388" y="3365039"/>
            <a:ext cx="0" cy="609958"/>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7D6B8AB6-6F63-73AE-9721-AB5D71F658EF}"/>
              </a:ext>
            </a:extLst>
          </p:cNvPr>
          <p:cNvSpPr txBox="1"/>
          <p:nvPr/>
        </p:nvSpPr>
        <p:spPr>
          <a:xfrm>
            <a:off x="5084145" y="1383308"/>
            <a:ext cx="724237" cy="523220"/>
          </a:xfrm>
          <a:prstGeom prst="rect">
            <a:avLst/>
          </a:prstGeom>
          <a:noFill/>
        </p:spPr>
        <p:txBody>
          <a:bodyPr wrap="none" rtlCol="0">
            <a:spAutoFit/>
          </a:bodyPr>
          <a:lstStyle/>
          <a:p>
            <a:r>
              <a:rPr lang="en-US" sz="2800" dirty="0" err="1"/>
              <a:t>F</a:t>
            </a:r>
            <a:r>
              <a:rPr lang="en-US" sz="2800" baseline="-25000" dirty="0" err="1"/>
              <a:t>atm</a:t>
            </a:r>
            <a:endParaRPr lang="en-US" sz="2800" baseline="-25000" dirty="0"/>
          </a:p>
        </p:txBody>
      </p:sp>
      <p:cxnSp>
        <p:nvCxnSpPr>
          <p:cNvPr id="22" name="Straight Arrow Connector 21">
            <a:extLst>
              <a:ext uri="{FF2B5EF4-FFF2-40B4-BE49-F238E27FC236}">
                <a16:creationId xmlns:a16="http://schemas.microsoft.com/office/drawing/2014/main" id="{8282E349-BCED-9C1A-3286-7664E0819C68}"/>
              </a:ext>
            </a:extLst>
          </p:cNvPr>
          <p:cNvCxnSpPr>
            <a:cxnSpLocks/>
          </p:cNvCxnSpPr>
          <p:nvPr/>
        </p:nvCxnSpPr>
        <p:spPr>
          <a:xfrm>
            <a:off x="5808382" y="1741841"/>
            <a:ext cx="0" cy="94757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99367A94-AB89-3A10-4507-9C37DE708FF9}"/>
              </a:ext>
            </a:extLst>
          </p:cNvPr>
          <p:cNvSpPr txBox="1"/>
          <p:nvPr/>
        </p:nvSpPr>
        <p:spPr>
          <a:xfrm>
            <a:off x="6543818" y="3916561"/>
            <a:ext cx="731162" cy="461665"/>
          </a:xfrm>
          <a:prstGeom prst="rect">
            <a:avLst/>
          </a:prstGeom>
          <a:noFill/>
        </p:spPr>
        <p:txBody>
          <a:bodyPr wrap="none" rtlCol="0">
            <a:spAutoFit/>
          </a:bodyPr>
          <a:lstStyle/>
          <a:p>
            <a:r>
              <a:rPr lang="en-US" sz="2400" dirty="0"/>
              <a:t>W</a:t>
            </a:r>
            <a:r>
              <a:rPr lang="en-US" sz="2400" baseline="-25000" dirty="0"/>
              <a:t>out</a:t>
            </a:r>
            <a:endParaRPr lang="en-US" sz="2400" dirty="0"/>
          </a:p>
        </p:txBody>
      </p:sp>
      <p:cxnSp>
        <p:nvCxnSpPr>
          <p:cNvPr id="24" name="Straight Arrow Connector 23">
            <a:extLst>
              <a:ext uri="{FF2B5EF4-FFF2-40B4-BE49-F238E27FC236}">
                <a16:creationId xmlns:a16="http://schemas.microsoft.com/office/drawing/2014/main" id="{C479D542-0B79-AA5A-6C3D-BF555FC840E8}"/>
              </a:ext>
            </a:extLst>
          </p:cNvPr>
          <p:cNvCxnSpPr>
            <a:cxnSpLocks/>
          </p:cNvCxnSpPr>
          <p:nvPr/>
        </p:nvCxnSpPr>
        <p:spPr>
          <a:xfrm flipH="1" flipV="1">
            <a:off x="5442329" y="3305634"/>
            <a:ext cx="1185" cy="92624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122CD52F-BF00-C832-7F29-EEE14CC58E60}"/>
              </a:ext>
            </a:extLst>
          </p:cNvPr>
          <p:cNvSpPr txBox="1"/>
          <p:nvPr/>
        </p:nvSpPr>
        <p:spPr>
          <a:xfrm>
            <a:off x="4705208" y="3855006"/>
            <a:ext cx="676660" cy="523220"/>
          </a:xfrm>
          <a:prstGeom prst="rect">
            <a:avLst/>
          </a:prstGeom>
          <a:noFill/>
        </p:spPr>
        <p:txBody>
          <a:bodyPr wrap="none" rtlCol="0">
            <a:spAutoFit/>
          </a:bodyPr>
          <a:lstStyle/>
          <a:p>
            <a:r>
              <a:rPr lang="en-US" sz="2800" dirty="0"/>
              <a:t>F</a:t>
            </a:r>
            <a:r>
              <a:rPr lang="en-US" sz="2800" baseline="-25000" dirty="0"/>
              <a:t>out</a:t>
            </a:r>
          </a:p>
        </p:txBody>
      </p:sp>
    </p:spTree>
    <p:extLst>
      <p:ext uri="{BB962C8B-B14F-4D97-AF65-F5344CB8AC3E}">
        <p14:creationId xmlns:p14="http://schemas.microsoft.com/office/powerpoint/2010/main" val="4187672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Date Placeholder 3"/>
          <p:cNvSpPr>
            <a:spLocks noGrp="1"/>
          </p:cNvSpPr>
          <p:nvPr>
            <p:ph type="dt" sz="quarter" idx="10"/>
          </p:nvPr>
        </p:nvSpPr>
        <p:spPr>
          <a:noFill/>
        </p:spPr>
        <p:txBody>
          <a:bodyPr/>
          <a:lstStyle/>
          <a:p>
            <a:r>
              <a:rPr lang="en-US"/>
              <a:t>Winter 2007</a:t>
            </a:r>
          </a:p>
        </p:txBody>
      </p:sp>
      <p:sp>
        <p:nvSpPr>
          <p:cNvPr id="5124" name="Footer Placeholder 4"/>
          <p:cNvSpPr>
            <a:spLocks noGrp="1"/>
          </p:cNvSpPr>
          <p:nvPr>
            <p:ph type="ftr" sz="quarter" idx="11"/>
          </p:nvPr>
        </p:nvSpPr>
        <p:spPr>
          <a:noFill/>
        </p:spPr>
        <p:txBody>
          <a:bodyPr/>
          <a:lstStyle/>
          <a:p>
            <a:r>
              <a:rPr lang="en-US"/>
              <a:t>R. Todd Lines</a:t>
            </a:r>
          </a:p>
        </p:txBody>
      </p:sp>
      <p:sp>
        <p:nvSpPr>
          <p:cNvPr id="5125" name="Slide Number Placeholder 5"/>
          <p:cNvSpPr>
            <a:spLocks noGrp="1"/>
          </p:cNvSpPr>
          <p:nvPr>
            <p:ph type="sldNum" sz="quarter" idx="12"/>
          </p:nvPr>
        </p:nvSpPr>
        <p:spPr>
          <a:noFill/>
        </p:spPr>
        <p:txBody>
          <a:bodyPr/>
          <a:lstStyle/>
          <a:p>
            <a:fld id="{447D3882-1331-49FC-BB54-F67ABF412783}" type="slidenum">
              <a:rPr lang="en-US"/>
              <a:pPr/>
              <a:t>11</a:t>
            </a:fld>
            <a:endParaRPr lang="en-US"/>
          </a:p>
        </p:txBody>
      </p:sp>
      <p:sp>
        <p:nvSpPr>
          <p:cNvPr id="5126" name="Rectangle 2"/>
          <p:cNvSpPr>
            <a:spLocks noGrp="1" noChangeArrowheads="1"/>
          </p:cNvSpPr>
          <p:nvPr>
            <p:ph type="title"/>
          </p:nvPr>
        </p:nvSpPr>
        <p:spPr/>
        <p:txBody>
          <a:bodyPr/>
          <a:lstStyle/>
          <a:p>
            <a:pPr eaLnBrk="1" hangingPunct="1"/>
            <a:r>
              <a:rPr lang="en-US"/>
              <a:t>Pascal’s Law</a:t>
            </a:r>
          </a:p>
        </p:txBody>
      </p:sp>
      <p:sp>
        <p:nvSpPr>
          <p:cNvPr id="5127" name="Rectangle 3"/>
          <p:cNvSpPr>
            <a:spLocks noGrp="1" noChangeArrowheads="1"/>
          </p:cNvSpPr>
          <p:nvPr>
            <p:ph type="body" idx="1"/>
          </p:nvPr>
        </p:nvSpPr>
        <p:spPr/>
        <p:txBody>
          <a:bodyPr/>
          <a:lstStyle/>
          <a:p>
            <a:pPr eaLnBrk="1" hangingPunct="1"/>
            <a:r>
              <a:rPr lang="en-US"/>
              <a:t>If we change P</a:t>
            </a:r>
            <a:r>
              <a:rPr lang="en-US" baseline="-25000"/>
              <a:t>o</a:t>
            </a:r>
            <a:r>
              <a:rPr lang="en-US"/>
              <a:t>, there must be a change in pressure throughout the entire fluid!</a:t>
            </a:r>
          </a:p>
          <a:p>
            <a:pPr eaLnBrk="1" hangingPunct="1"/>
            <a:endParaRPr lang="en-US"/>
          </a:p>
          <a:p>
            <a:pPr eaLnBrk="1" hangingPunct="1"/>
            <a:endParaRPr lang="en-US"/>
          </a:p>
          <a:p>
            <a:pPr eaLnBrk="1" hangingPunct="1"/>
            <a:r>
              <a:rPr lang="en-US"/>
              <a:t>Pascal’s Law: </a:t>
            </a:r>
            <a:r>
              <a:rPr lang="en-US" b="1"/>
              <a:t>a change in the pressure applied to a fluid is transmitted undiminished to every point of the fluid and to the walls of the container</a:t>
            </a:r>
            <a:r>
              <a:rPr lang="en-US"/>
              <a:t>.</a:t>
            </a:r>
          </a:p>
        </p:txBody>
      </p:sp>
      <p:graphicFrame>
        <p:nvGraphicFramePr>
          <p:cNvPr id="5122" name="Object 6"/>
          <p:cNvGraphicFramePr>
            <a:graphicFrameLocks noChangeAspect="1"/>
          </p:cNvGraphicFramePr>
          <p:nvPr/>
        </p:nvGraphicFramePr>
        <p:xfrm>
          <a:off x="3802063" y="2970213"/>
          <a:ext cx="1541462" cy="439737"/>
        </p:xfrm>
        <a:graphic>
          <a:graphicData uri="http://schemas.openxmlformats.org/presentationml/2006/ole">
            <mc:AlternateContent xmlns:mc="http://schemas.openxmlformats.org/markup-compatibility/2006">
              <mc:Choice xmlns:v="urn:schemas-microsoft-com:vml" Requires="v">
                <p:oleObj name="Equation" r:id="rId3" imgW="850680" imgH="241200" progId="Equation.3">
                  <p:embed/>
                </p:oleObj>
              </mc:Choice>
              <mc:Fallback>
                <p:oleObj name="Equation" r:id="rId3" imgW="850680" imgH="241200" progId="Equation.3">
                  <p:embed/>
                  <p:pic>
                    <p:nvPicPr>
                      <p:cNvPr id="512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02063" y="2970213"/>
                        <a:ext cx="1541462"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0CEA3462-0B11-49EE-A085-644CACFF9186}" type="slidenum">
              <a:rPr lang="en-US" smtClean="0"/>
              <a:pPr/>
              <a:t>12</a:t>
            </a:fld>
            <a:endParaRPr lang="en-US"/>
          </a:p>
        </p:txBody>
      </p:sp>
      <p:sp>
        <p:nvSpPr>
          <p:cNvPr id="47107" name="Rectangle 2"/>
          <p:cNvSpPr>
            <a:spLocks noGrp="1" noChangeArrowheads="1"/>
          </p:cNvSpPr>
          <p:nvPr>
            <p:ph type="title"/>
          </p:nvPr>
        </p:nvSpPr>
        <p:spPr/>
        <p:txBody>
          <a:bodyPr/>
          <a:lstStyle/>
          <a:p>
            <a:pPr eaLnBrk="1" hangingPunct="1"/>
            <a:r>
              <a:rPr lang="en-US"/>
              <a:t>Question 123.4.8</a:t>
            </a:r>
          </a:p>
        </p:txBody>
      </p:sp>
      <p:sp>
        <p:nvSpPr>
          <p:cNvPr id="47108"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a:t>How do Hydraulic Brakes Work?</a:t>
            </a:r>
          </a:p>
          <a:p>
            <a:pPr lvl="1" eaLnBrk="1" hangingPunct="1">
              <a:lnSpc>
                <a:spcPct val="80000"/>
              </a:lnSpc>
            </a:pPr>
            <a:r>
              <a:rPr lang="en-US" sz="1600"/>
              <a:t>A) The pressure due to the pedal being depressed compresses the fluid which then causes a force on the the brake pads </a:t>
            </a:r>
          </a:p>
          <a:p>
            <a:pPr lvl="1" eaLnBrk="1" hangingPunct="1">
              <a:lnSpc>
                <a:spcPct val="80000"/>
              </a:lnSpc>
            </a:pPr>
            <a:r>
              <a:rPr lang="en-US" sz="1600"/>
              <a:t>B) The force due to the pedal being depressed increases the pressure which is transmitted equally to the entire system, and causes a force on the brake pads</a:t>
            </a:r>
          </a:p>
          <a:p>
            <a:pPr lvl="1" eaLnBrk="1" hangingPunct="1">
              <a:lnSpc>
                <a:spcPct val="80000"/>
              </a:lnSpc>
            </a:pPr>
            <a:r>
              <a:rPr lang="en-US" sz="1600"/>
              <a:t>C) The force on the pedal causes a change in volume of the master cylinder which, in turn, causes there to be a higher pressure in the brake cylinder than exists in the master cylinder. This higher pressure causes a force on the brake pads</a:t>
            </a:r>
          </a:p>
        </p:txBody>
      </p:sp>
    </p:spTree>
    <p:extLst>
      <p:ext uri="{BB962C8B-B14F-4D97-AF65-F5344CB8AC3E}">
        <p14:creationId xmlns:p14="http://schemas.microsoft.com/office/powerpoint/2010/main" val="1285305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F398C514-3D85-4F45-82D3-04885E8FD017}" type="slidenum">
              <a:rPr lang="en-US" smtClean="0"/>
              <a:pPr/>
              <a:t>13</a:t>
            </a:fld>
            <a:endParaRPr lang="en-US"/>
          </a:p>
        </p:txBody>
      </p:sp>
      <p:sp>
        <p:nvSpPr>
          <p:cNvPr id="48131" name="Rectangle 2"/>
          <p:cNvSpPr>
            <a:spLocks noGrp="1" noChangeArrowheads="1"/>
          </p:cNvSpPr>
          <p:nvPr>
            <p:ph type="title"/>
          </p:nvPr>
        </p:nvSpPr>
        <p:spPr/>
        <p:txBody>
          <a:bodyPr/>
          <a:lstStyle/>
          <a:p>
            <a:pPr eaLnBrk="1" hangingPunct="1"/>
            <a:r>
              <a:rPr lang="en-US"/>
              <a:t>Question 123.4.8</a:t>
            </a:r>
          </a:p>
        </p:txBody>
      </p:sp>
      <p:sp>
        <p:nvSpPr>
          <p:cNvPr id="48132" name="Rectangle 3"/>
          <p:cNvSpPr>
            <a:spLocks noGrp="1" noChangeArrowheads="1"/>
          </p:cNvSpPr>
          <p:nvPr>
            <p:ph type="body" idx="1"/>
          </p:nvPr>
        </p:nvSpPr>
        <p:spPr>
          <a:xfrm>
            <a:off x="457200" y="1600200"/>
            <a:ext cx="4064000" cy="4525963"/>
          </a:xfrm>
        </p:spPr>
        <p:txBody>
          <a:bodyPr/>
          <a:lstStyle/>
          <a:p>
            <a:pPr eaLnBrk="1" hangingPunct="1">
              <a:lnSpc>
                <a:spcPct val="80000"/>
              </a:lnSpc>
            </a:pPr>
            <a:r>
              <a:rPr lang="en-US" sz="1800" dirty="0"/>
              <a:t>How do Hydraulic Brakes Work?</a:t>
            </a:r>
          </a:p>
          <a:p>
            <a:pPr lvl="1" eaLnBrk="1" hangingPunct="1">
              <a:lnSpc>
                <a:spcPct val="80000"/>
              </a:lnSpc>
            </a:pPr>
            <a:r>
              <a:rPr lang="en-US" sz="1600" dirty="0"/>
              <a:t>A) The pressure due to the pedal being depressed compresses the fluid which then causes a force on the </a:t>
            </a:r>
            <a:r>
              <a:rPr lang="en-US" sz="1600" dirty="0" err="1"/>
              <a:t>the</a:t>
            </a:r>
            <a:r>
              <a:rPr lang="en-US" sz="1600" dirty="0"/>
              <a:t> brake pads </a:t>
            </a:r>
          </a:p>
          <a:p>
            <a:pPr lvl="1" eaLnBrk="1" hangingPunct="1">
              <a:lnSpc>
                <a:spcPct val="80000"/>
              </a:lnSpc>
            </a:pPr>
            <a:r>
              <a:rPr lang="en-US" sz="1600" dirty="0"/>
              <a:t>B) The force due to the pedal being depressed increases the pressure which increase is transmitted equally to the entire system, and causes a force on the brake pads</a:t>
            </a:r>
          </a:p>
          <a:p>
            <a:pPr lvl="1" eaLnBrk="1" hangingPunct="1">
              <a:lnSpc>
                <a:spcPct val="80000"/>
              </a:lnSpc>
            </a:pPr>
            <a:r>
              <a:rPr lang="en-US" sz="1600" dirty="0"/>
              <a:t>C) The force on the pedal causes a change in volume of the master cylinder which, in turn, causes there to be a higher pressure in the brake cylinder than exists in the master cylinder. This higher pressure causes a force on the brake pads</a:t>
            </a:r>
          </a:p>
        </p:txBody>
      </p:sp>
      <p:pic>
        <p:nvPicPr>
          <p:cNvPr id="48133" name="Picture 4" descr="10_07"/>
          <p:cNvPicPr>
            <a:picLocks noChangeAspect="1" noChangeArrowheads="1"/>
          </p:cNvPicPr>
          <p:nvPr/>
        </p:nvPicPr>
        <p:blipFill>
          <a:blip r:embed="rId3" cstate="print"/>
          <a:srcRect l="51088" b="6471"/>
          <a:stretch>
            <a:fillRect/>
          </a:stretch>
        </p:blipFill>
        <p:spPr bwMode="auto">
          <a:xfrm>
            <a:off x="4532313" y="1506538"/>
            <a:ext cx="4071937" cy="3143250"/>
          </a:xfrm>
          <a:prstGeom prst="rect">
            <a:avLst/>
          </a:prstGeom>
          <a:noFill/>
          <a:ln w="9525">
            <a:noFill/>
            <a:miter lim="800000"/>
            <a:headEnd/>
            <a:tailEnd/>
          </a:ln>
        </p:spPr>
      </p:pic>
      <p:pic>
        <p:nvPicPr>
          <p:cNvPr id="48134" name="Picture 5" descr="10_07"/>
          <p:cNvPicPr>
            <a:picLocks noChangeAspect="1" noChangeArrowheads="1"/>
          </p:cNvPicPr>
          <p:nvPr/>
        </p:nvPicPr>
        <p:blipFill>
          <a:blip r:embed="rId3" cstate="print"/>
          <a:srcRect l="30339" t="91969" r="28757" b="1276"/>
          <a:stretch>
            <a:fillRect/>
          </a:stretch>
        </p:blipFill>
        <p:spPr bwMode="auto">
          <a:xfrm>
            <a:off x="5649913" y="4668838"/>
            <a:ext cx="2825750" cy="187325"/>
          </a:xfrm>
          <a:prstGeom prst="rect">
            <a:avLst/>
          </a:prstGeom>
          <a:noFill/>
          <a:ln w="9525">
            <a:noFill/>
            <a:miter lim="800000"/>
            <a:headEnd/>
            <a:tailEnd/>
          </a:ln>
        </p:spPr>
      </p:pic>
    </p:spTree>
    <p:extLst>
      <p:ext uri="{BB962C8B-B14F-4D97-AF65-F5344CB8AC3E}">
        <p14:creationId xmlns:p14="http://schemas.microsoft.com/office/powerpoint/2010/main" val="3521363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8CE5F-B1E6-4AD2-AF28-FFF3D5F6A7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118A1B-1C08-4349-B0E7-C692A4322B59}"/>
              </a:ext>
            </a:extLst>
          </p:cNvPr>
          <p:cNvSpPr>
            <a:spLocks noGrp="1"/>
          </p:cNvSpPr>
          <p:nvPr>
            <p:ph idx="1"/>
          </p:nvPr>
        </p:nvSpPr>
        <p:spPr/>
        <p:txBody>
          <a:bodyPr/>
          <a:lstStyle/>
          <a:p>
            <a:endParaRPr lang="en-US"/>
          </a:p>
        </p:txBody>
      </p:sp>
      <p:grpSp>
        <p:nvGrpSpPr>
          <p:cNvPr id="4" name="Group 22">
            <a:extLst>
              <a:ext uri="{FF2B5EF4-FFF2-40B4-BE49-F238E27FC236}">
                <a16:creationId xmlns:a16="http://schemas.microsoft.com/office/drawing/2014/main" id="{41C0E9E7-933F-4992-B8FB-A2863DD138AD}"/>
              </a:ext>
            </a:extLst>
          </p:cNvPr>
          <p:cNvGrpSpPr>
            <a:grpSpLocks/>
          </p:cNvGrpSpPr>
          <p:nvPr/>
        </p:nvGrpSpPr>
        <p:grpSpPr bwMode="auto">
          <a:xfrm>
            <a:off x="4324350" y="2506663"/>
            <a:ext cx="4195763" cy="3154362"/>
            <a:chOff x="2724" y="1579"/>
            <a:chExt cx="2643" cy="1987"/>
          </a:xfrm>
        </p:grpSpPr>
        <p:grpSp>
          <p:nvGrpSpPr>
            <p:cNvPr id="5" name="Group 5">
              <a:extLst>
                <a:ext uri="{FF2B5EF4-FFF2-40B4-BE49-F238E27FC236}">
                  <a16:creationId xmlns:a16="http://schemas.microsoft.com/office/drawing/2014/main" id="{CE42E28B-50B9-47F8-B8AD-56C172A6E561}"/>
                </a:ext>
              </a:extLst>
            </p:cNvPr>
            <p:cNvGrpSpPr>
              <a:grpSpLocks/>
            </p:cNvGrpSpPr>
            <p:nvPr/>
          </p:nvGrpSpPr>
          <p:grpSpPr bwMode="auto">
            <a:xfrm>
              <a:off x="3941" y="1579"/>
              <a:ext cx="1426" cy="1987"/>
              <a:chOff x="3593" y="1643"/>
              <a:chExt cx="1426" cy="1987"/>
            </a:xfrm>
          </p:grpSpPr>
          <p:sp>
            <p:nvSpPr>
              <p:cNvPr id="13" name="Freeform 6">
                <a:extLst>
                  <a:ext uri="{FF2B5EF4-FFF2-40B4-BE49-F238E27FC236}">
                    <a16:creationId xmlns:a16="http://schemas.microsoft.com/office/drawing/2014/main" id="{E57141F2-93C3-4035-9137-B0C6385FE751}"/>
                  </a:ext>
                </a:extLst>
              </p:cNvPr>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14" name="Rectangle 7">
                <a:extLst>
                  <a:ext uri="{FF2B5EF4-FFF2-40B4-BE49-F238E27FC236}">
                    <a16:creationId xmlns:a16="http://schemas.microsoft.com/office/drawing/2014/main" id="{084A998D-9778-44CA-A5AC-7A7756B8C26B}"/>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15" name="Freeform 8">
                <a:extLst>
                  <a:ext uri="{FF2B5EF4-FFF2-40B4-BE49-F238E27FC236}">
                    <a16:creationId xmlns:a16="http://schemas.microsoft.com/office/drawing/2014/main" id="{4FA795AD-850E-4DB7-8D28-173305C80C9F}"/>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16" name="Oval 9">
                <a:extLst>
                  <a:ext uri="{FF2B5EF4-FFF2-40B4-BE49-F238E27FC236}">
                    <a16:creationId xmlns:a16="http://schemas.microsoft.com/office/drawing/2014/main" id="{AF44714E-671A-4885-938F-761616A30EBF}"/>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grpSp>
        <p:grpSp>
          <p:nvGrpSpPr>
            <p:cNvPr id="6" name="Group 15">
              <a:extLst>
                <a:ext uri="{FF2B5EF4-FFF2-40B4-BE49-F238E27FC236}">
                  <a16:creationId xmlns:a16="http://schemas.microsoft.com/office/drawing/2014/main" id="{CE9E22A1-D265-40F2-BCD3-3CDBA4E4C478}"/>
                </a:ext>
              </a:extLst>
            </p:cNvPr>
            <p:cNvGrpSpPr>
              <a:grpSpLocks/>
            </p:cNvGrpSpPr>
            <p:nvPr/>
          </p:nvGrpSpPr>
          <p:grpSpPr bwMode="auto">
            <a:xfrm rot="1590330">
              <a:off x="2724" y="2134"/>
              <a:ext cx="878" cy="860"/>
              <a:chOff x="2213" y="2234"/>
              <a:chExt cx="878" cy="860"/>
            </a:xfrm>
          </p:grpSpPr>
          <p:sp>
            <p:nvSpPr>
              <p:cNvPr id="8" name="Oval 16">
                <a:extLst>
                  <a:ext uri="{FF2B5EF4-FFF2-40B4-BE49-F238E27FC236}">
                    <a16:creationId xmlns:a16="http://schemas.microsoft.com/office/drawing/2014/main" id="{6790976F-79D3-4430-9660-0AC9143B049E}"/>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9" name="Arc 17">
                <a:extLst>
                  <a:ext uri="{FF2B5EF4-FFF2-40B4-BE49-F238E27FC236}">
                    <a16:creationId xmlns:a16="http://schemas.microsoft.com/office/drawing/2014/main" id="{6151F2C8-EF2E-4F5A-9E72-A9F514F32705}"/>
                  </a:ext>
                </a:extLst>
              </p:cNvPr>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0" name="Arc 18">
                <a:extLst>
                  <a:ext uri="{FF2B5EF4-FFF2-40B4-BE49-F238E27FC236}">
                    <a16:creationId xmlns:a16="http://schemas.microsoft.com/office/drawing/2014/main" id="{C0C7E643-04C4-4811-81C6-0C0FD5B278C5}"/>
                  </a:ext>
                </a:extLst>
              </p:cNvPr>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11" name="Arc 19">
                <a:extLst>
                  <a:ext uri="{FF2B5EF4-FFF2-40B4-BE49-F238E27FC236}">
                    <a16:creationId xmlns:a16="http://schemas.microsoft.com/office/drawing/2014/main" id="{6757E5E1-68B8-40D5-A5F1-C7B07A695130}"/>
                  </a:ext>
                </a:extLst>
              </p:cNvPr>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2" name="Arc 20">
                <a:extLst>
                  <a:ext uri="{FF2B5EF4-FFF2-40B4-BE49-F238E27FC236}">
                    <a16:creationId xmlns:a16="http://schemas.microsoft.com/office/drawing/2014/main" id="{42C52354-7CF2-47A6-AECC-53FD047E873A}"/>
                  </a:ext>
                </a:extLst>
              </p:cNvPr>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extLst>
      <p:ext uri="{BB962C8B-B14F-4D97-AF65-F5344CB8AC3E}">
        <p14:creationId xmlns:p14="http://schemas.microsoft.com/office/powerpoint/2010/main" val="3655143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3"/>
          <p:cNvSpPr>
            <a:spLocks noGrp="1"/>
          </p:cNvSpPr>
          <p:nvPr>
            <p:ph type="dt" sz="quarter" idx="10"/>
          </p:nvPr>
        </p:nvSpPr>
        <p:spPr>
          <a:noFill/>
        </p:spPr>
        <p:txBody>
          <a:bodyPr/>
          <a:lstStyle/>
          <a:p>
            <a:r>
              <a:rPr lang="en-US"/>
              <a:t>Winter 2007</a:t>
            </a:r>
          </a:p>
        </p:txBody>
      </p:sp>
      <p:sp>
        <p:nvSpPr>
          <p:cNvPr id="27651" name="Footer Placeholder 4"/>
          <p:cNvSpPr>
            <a:spLocks noGrp="1"/>
          </p:cNvSpPr>
          <p:nvPr>
            <p:ph type="ftr" sz="quarter" idx="11"/>
          </p:nvPr>
        </p:nvSpPr>
        <p:spPr>
          <a:noFill/>
        </p:spPr>
        <p:txBody>
          <a:bodyPr/>
          <a:lstStyle/>
          <a:p>
            <a:r>
              <a:rPr lang="en-US"/>
              <a:t>R. Todd Lines</a:t>
            </a:r>
          </a:p>
        </p:txBody>
      </p:sp>
      <p:sp>
        <p:nvSpPr>
          <p:cNvPr id="27652" name="Slide Number Placeholder 5"/>
          <p:cNvSpPr>
            <a:spLocks noGrp="1"/>
          </p:cNvSpPr>
          <p:nvPr>
            <p:ph type="sldNum" sz="quarter" idx="12"/>
          </p:nvPr>
        </p:nvSpPr>
        <p:spPr>
          <a:noFill/>
        </p:spPr>
        <p:txBody>
          <a:bodyPr/>
          <a:lstStyle/>
          <a:p>
            <a:fld id="{DD9AE172-A913-44A5-97B9-A05F9BC295C4}" type="slidenum">
              <a:rPr lang="en-US" smtClean="0"/>
              <a:pPr/>
              <a:t>15</a:t>
            </a:fld>
            <a:endParaRPr lang="en-US"/>
          </a:p>
        </p:txBody>
      </p:sp>
      <p:sp>
        <p:nvSpPr>
          <p:cNvPr id="27653" name="Rectangle 2"/>
          <p:cNvSpPr>
            <a:spLocks noGrp="1" noChangeArrowheads="1"/>
          </p:cNvSpPr>
          <p:nvPr>
            <p:ph type="title"/>
          </p:nvPr>
        </p:nvSpPr>
        <p:spPr/>
        <p:txBody>
          <a:bodyPr/>
          <a:lstStyle/>
          <a:p>
            <a:pPr eaLnBrk="1" hangingPunct="1"/>
            <a:r>
              <a:rPr lang="en-US"/>
              <a:t>Buoyant Forces</a:t>
            </a:r>
          </a:p>
        </p:txBody>
      </p:sp>
      <p:sp>
        <p:nvSpPr>
          <p:cNvPr id="27654" name="Rectangle 3"/>
          <p:cNvSpPr>
            <a:spLocks noGrp="1" noChangeArrowheads="1"/>
          </p:cNvSpPr>
          <p:nvPr>
            <p:ph type="body" idx="1"/>
          </p:nvPr>
        </p:nvSpPr>
        <p:spPr>
          <a:xfrm>
            <a:off x="457200" y="1600200"/>
            <a:ext cx="3671888" cy="4525963"/>
          </a:xfrm>
        </p:spPr>
        <p:txBody>
          <a:bodyPr/>
          <a:lstStyle/>
          <a:p>
            <a:pPr eaLnBrk="1" hangingPunct="1"/>
            <a:r>
              <a:rPr lang="en-US" sz="2800"/>
              <a:t>Remember from</a:t>
            </a:r>
          </a:p>
          <a:p>
            <a:pPr lvl="1" eaLnBrk="1" hangingPunct="1"/>
            <a:r>
              <a:rPr lang="en-US" sz="2400"/>
              <a:t>a stationary parcel of water there is a force that balances the weight of the parcel</a:t>
            </a:r>
          </a:p>
          <a:p>
            <a:pPr lvl="1" eaLnBrk="1" hangingPunct="1"/>
            <a:r>
              <a:rPr lang="en-US" sz="2400"/>
              <a:t>Forces that act in the x-direction (sideways) balance each other </a:t>
            </a:r>
          </a:p>
        </p:txBody>
      </p:sp>
      <p:grpSp>
        <p:nvGrpSpPr>
          <p:cNvPr id="3" name="Group 5"/>
          <p:cNvGrpSpPr>
            <a:grpSpLocks/>
          </p:cNvGrpSpPr>
          <p:nvPr/>
        </p:nvGrpSpPr>
        <p:grpSpPr bwMode="auto">
          <a:xfrm>
            <a:off x="5556251" y="2484438"/>
            <a:ext cx="2247900" cy="2578100"/>
            <a:chOff x="3596" y="1780"/>
            <a:chExt cx="1416" cy="1624"/>
          </a:xfrm>
        </p:grpSpPr>
        <p:sp>
          <p:nvSpPr>
            <p:cNvPr id="27683"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7684"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27662" name="AutoShape 8"/>
          <p:cNvSpPr>
            <a:spLocks noChangeArrowheads="1"/>
          </p:cNvSpPr>
          <p:nvPr/>
        </p:nvSpPr>
        <p:spPr bwMode="auto">
          <a:xfrm>
            <a:off x="5816601" y="29606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27663" name="Rectangle 9"/>
          <p:cNvSpPr>
            <a:spLocks noChangeArrowheads="1"/>
          </p:cNvSpPr>
          <p:nvPr/>
        </p:nvSpPr>
        <p:spPr bwMode="auto">
          <a:xfrm>
            <a:off x="5816601" y="29289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27664" name="Freeform 10"/>
          <p:cNvSpPr>
            <a:spLocks/>
          </p:cNvSpPr>
          <p:nvPr/>
        </p:nvSpPr>
        <p:spPr bwMode="auto">
          <a:xfrm>
            <a:off x="5689601" y="2478088"/>
            <a:ext cx="990600" cy="2520950"/>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5" name="Freeform 11"/>
          <p:cNvSpPr>
            <a:spLocks/>
          </p:cNvSpPr>
          <p:nvPr/>
        </p:nvSpPr>
        <p:spPr bwMode="auto">
          <a:xfrm flipH="1">
            <a:off x="6680201" y="2478088"/>
            <a:ext cx="990600" cy="2520950"/>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6" name="Rectangle 12"/>
          <p:cNvSpPr>
            <a:spLocks noChangeArrowheads="1"/>
          </p:cNvSpPr>
          <p:nvPr/>
        </p:nvSpPr>
        <p:spPr bwMode="auto">
          <a:xfrm>
            <a:off x="6419851" y="3271838"/>
            <a:ext cx="603250" cy="101600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27667" name="Line 13"/>
          <p:cNvSpPr>
            <a:spLocks noChangeShapeType="1"/>
          </p:cNvSpPr>
          <p:nvPr/>
        </p:nvSpPr>
        <p:spPr bwMode="auto">
          <a:xfrm>
            <a:off x="6673851" y="2840038"/>
            <a:ext cx="6350" cy="4318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8" name="Line 14"/>
          <p:cNvSpPr>
            <a:spLocks noChangeShapeType="1"/>
          </p:cNvSpPr>
          <p:nvPr/>
        </p:nvSpPr>
        <p:spPr bwMode="auto">
          <a:xfrm>
            <a:off x="6527801" y="4287838"/>
            <a:ext cx="0" cy="3175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9" name="Line 15"/>
          <p:cNvSpPr>
            <a:spLocks noChangeShapeType="1"/>
          </p:cNvSpPr>
          <p:nvPr/>
        </p:nvSpPr>
        <p:spPr bwMode="auto">
          <a:xfrm flipV="1">
            <a:off x="6858001" y="4294188"/>
            <a:ext cx="6350" cy="5080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1" name="Text Box 17"/>
          <p:cNvSpPr txBox="1">
            <a:spLocks noChangeArrowheads="1"/>
          </p:cNvSpPr>
          <p:nvPr/>
        </p:nvSpPr>
        <p:spPr bwMode="auto">
          <a:xfrm>
            <a:off x="6054726" y="4540250"/>
            <a:ext cx="514350" cy="366713"/>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27673" name="Line 19"/>
          <p:cNvSpPr>
            <a:spLocks noChangeShapeType="1"/>
          </p:cNvSpPr>
          <p:nvPr/>
        </p:nvSpPr>
        <p:spPr bwMode="auto">
          <a:xfrm flipH="1" flipV="1">
            <a:off x="7002463" y="3851275"/>
            <a:ext cx="428625"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4" name="Line 20"/>
          <p:cNvSpPr>
            <a:spLocks noChangeShapeType="1"/>
          </p:cNvSpPr>
          <p:nvPr/>
        </p:nvSpPr>
        <p:spPr bwMode="auto">
          <a:xfrm flipV="1">
            <a:off x="5997576" y="3860800"/>
            <a:ext cx="428625"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5" name="Freeform 21"/>
          <p:cNvSpPr>
            <a:spLocks/>
          </p:cNvSpPr>
          <p:nvPr/>
        </p:nvSpPr>
        <p:spPr bwMode="auto">
          <a:xfrm rot="1156648">
            <a:off x="7404101" y="3208338"/>
            <a:ext cx="463550" cy="682625"/>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27676" name="Freeform 22"/>
          <p:cNvSpPr>
            <a:spLocks/>
          </p:cNvSpPr>
          <p:nvPr/>
        </p:nvSpPr>
        <p:spPr bwMode="auto">
          <a:xfrm rot="20443352" flipH="1">
            <a:off x="5654676" y="3217863"/>
            <a:ext cx="463550" cy="682625"/>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41E9E0-30C5-A6AC-CD35-8EE0380B3804}"/>
                  </a:ext>
                </a:extLst>
              </p:cNvPr>
              <p:cNvSpPr txBox="1"/>
              <p:nvPr/>
            </p:nvSpPr>
            <p:spPr>
              <a:xfrm>
                <a:off x="4882526" y="3044826"/>
                <a:ext cx="761362" cy="27699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𝑚</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m:oMathPara>
                </a14:m>
                <a:endParaRPr lang="en-US" dirty="0"/>
              </a:p>
            </p:txBody>
          </p:sp>
        </mc:Choice>
        <mc:Fallback xmlns="">
          <p:sp>
            <p:nvSpPr>
              <p:cNvPr id="8" name="TextBox 7">
                <a:extLst>
                  <a:ext uri="{FF2B5EF4-FFF2-40B4-BE49-F238E27FC236}">
                    <a16:creationId xmlns:a16="http://schemas.microsoft.com/office/drawing/2014/main" id="{6841E9E0-30C5-A6AC-CD35-8EE0380B3804}"/>
                  </a:ext>
                </a:extLst>
              </p:cNvPr>
              <p:cNvSpPr txBox="1">
                <a:spLocks noRot="1" noChangeAspect="1" noMove="1" noResize="1" noEditPoints="1" noAdjustHandles="1" noChangeArrowheads="1" noChangeShapeType="1" noTextEdit="1"/>
              </p:cNvSpPr>
              <p:nvPr/>
            </p:nvSpPr>
            <p:spPr>
              <a:xfrm>
                <a:off x="4882526" y="3044826"/>
                <a:ext cx="761362" cy="276999"/>
              </a:xfrm>
              <a:prstGeom prst="rect">
                <a:avLst/>
              </a:prstGeom>
              <a:blipFill>
                <a:blip r:embed="rId2"/>
                <a:stretch>
                  <a:fillRect l="-8000" t="-23913" r="-46400" b="-108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C7E5F5B-569B-0EFE-9A5C-BF7683F6CD30}"/>
                  </a:ext>
                </a:extLst>
              </p:cNvPr>
              <p:cNvSpPr txBox="1"/>
              <p:nvPr/>
            </p:nvSpPr>
            <p:spPr>
              <a:xfrm>
                <a:off x="6320229" y="2499249"/>
                <a:ext cx="713593" cy="27699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𝑃</m:t>
                          </m:r>
                        </m:e>
                        <m:sub>
                          <m:r>
                            <a:rPr lang="en-US" b="0" i="1" smtClean="0">
                              <a:latin typeface="Cambria Math" panose="02040503050406030204" pitchFamily="18" charset="0"/>
                            </a:rPr>
                            <m:t>𝑡</m:t>
                          </m:r>
                        </m:sub>
                      </m:sSub>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dirty="0"/>
              </a:p>
            </p:txBody>
          </p:sp>
        </mc:Choice>
        <mc:Fallback xmlns="">
          <p:sp>
            <p:nvSpPr>
              <p:cNvPr id="9" name="TextBox 8">
                <a:extLst>
                  <a:ext uri="{FF2B5EF4-FFF2-40B4-BE49-F238E27FC236}">
                    <a16:creationId xmlns:a16="http://schemas.microsoft.com/office/drawing/2014/main" id="{0C7E5F5B-569B-0EFE-9A5C-BF7683F6CD30}"/>
                  </a:ext>
                </a:extLst>
              </p:cNvPr>
              <p:cNvSpPr txBox="1">
                <a:spLocks noRot="1" noChangeAspect="1" noMove="1" noResize="1" noEditPoints="1" noAdjustHandles="1" noChangeArrowheads="1" noChangeShapeType="1" noTextEdit="1"/>
              </p:cNvSpPr>
              <p:nvPr/>
            </p:nvSpPr>
            <p:spPr>
              <a:xfrm>
                <a:off x="6320229" y="2499249"/>
                <a:ext cx="713593" cy="276999"/>
              </a:xfrm>
              <a:prstGeom prst="rect">
                <a:avLst/>
              </a:prstGeom>
              <a:blipFill>
                <a:blip r:embed="rId3"/>
                <a:stretch>
                  <a:fillRect l="-1709" t="-26667" r="-48718"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1A7B10E-1276-CBD4-D0B8-3442437F913F}"/>
                  </a:ext>
                </a:extLst>
              </p:cNvPr>
              <p:cNvSpPr txBox="1"/>
              <p:nvPr/>
            </p:nvSpPr>
            <p:spPr>
              <a:xfrm>
                <a:off x="7985659" y="3096831"/>
                <a:ext cx="938975" cy="27699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𝑃</m:t>
                          </m:r>
                        </m:e>
                        <m:sub>
                          <m:r>
                            <a:rPr lang="en-US" b="0" i="1" smtClean="0">
                              <a:latin typeface="Cambria Math" panose="02040503050406030204" pitchFamily="18" charset="0"/>
                            </a:rPr>
                            <m:t>𝑚</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𝑚</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m:oMathPara>
                </a14:m>
                <a:endParaRPr lang="en-US" dirty="0"/>
              </a:p>
            </p:txBody>
          </p:sp>
        </mc:Choice>
        <mc:Fallback xmlns="">
          <p:sp>
            <p:nvSpPr>
              <p:cNvPr id="10" name="TextBox 9">
                <a:extLst>
                  <a:ext uri="{FF2B5EF4-FFF2-40B4-BE49-F238E27FC236}">
                    <a16:creationId xmlns:a16="http://schemas.microsoft.com/office/drawing/2014/main" id="{41A7B10E-1276-CBD4-D0B8-3442437F913F}"/>
                  </a:ext>
                </a:extLst>
              </p:cNvPr>
              <p:cNvSpPr txBox="1">
                <a:spLocks noRot="1" noChangeAspect="1" noMove="1" noResize="1" noEditPoints="1" noAdjustHandles="1" noChangeArrowheads="1" noChangeShapeType="1" noTextEdit="1"/>
              </p:cNvSpPr>
              <p:nvPr/>
            </p:nvSpPr>
            <p:spPr>
              <a:xfrm>
                <a:off x="7985659" y="3096831"/>
                <a:ext cx="938975" cy="276999"/>
              </a:xfrm>
              <a:prstGeom prst="rect">
                <a:avLst/>
              </a:prstGeom>
              <a:blipFill>
                <a:blip r:embed="rId4"/>
                <a:stretch>
                  <a:fillRect l="-1299" t="-24444" r="-3701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4CCE7E-CD2B-4062-5EDC-B5756778423F}"/>
                  </a:ext>
                </a:extLst>
              </p:cNvPr>
              <p:cNvSpPr txBox="1"/>
              <p:nvPr/>
            </p:nvSpPr>
            <p:spPr>
              <a:xfrm>
                <a:off x="6918224" y="4550722"/>
                <a:ext cx="567720" cy="27699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𝑏</m:t>
                          </m:r>
                        </m:sub>
                      </m:sSub>
                      <m:r>
                        <a:rPr lang="en-US" b="0" i="1" smtClean="0">
                          <a:latin typeface="Cambria Math" panose="02040503050406030204" pitchFamily="18" charset="0"/>
                        </a:rPr>
                        <m:t>𝐴</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US" dirty="0"/>
              </a:p>
            </p:txBody>
          </p:sp>
        </mc:Choice>
        <mc:Fallback xmlns="">
          <p:sp>
            <p:nvSpPr>
              <p:cNvPr id="11" name="TextBox 10">
                <a:extLst>
                  <a:ext uri="{FF2B5EF4-FFF2-40B4-BE49-F238E27FC236}">
                    <a16:creationId xmlns:a16="http://schemas.microsoft.com/office/drawing/2014/main" id="{F34CCE7E-CD2B-4062-5EDC-B5756778423F}"/>
                  </a:ext>
                </a:extLst>
              </p:cNvPr>
              <p:cNvSpPr txBox="1">
                <a:spLocks noRot="1" noChangeAspect="1" noMove="1" noResize="1" noEditPoints="1" noAdjustHandles="1" noChangeArrowheads="1" noChangeShapeType="1" noTextEdit="1"/>
              </p:cNvSpPr>
              <p:nvPr/>
            </p:nvSpPr>
            <p:spPr>
              <a:xfrm>
                <a:off x="6918224" y="4550722"/>
                <a:ext cx="567720" cy="276999"/>
              </a:xfrm>
              <a:prstGeom prst="rect">
                <a:avLst/>
              </a:prstGeom>
              <a:blipFill>
                <a:blip r:embed="rId5"/>
                <a:stretch>
                  <a:fillRect l="-9677" t="-26667" r="-61290" b="-26667"/>
                </a:stretch>
              </a:blipFill>
            </p:spPr>
            <p:txBody>
              <a:bodyPr/>
              <a:lstStyle/>
              <a:p>
                <a:r>
                  <a:rPr 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16</a:t>
            </a:fld>
            <a:endParaRPr lang="en-US"/>
          </a:p>
        </p:txBody>
      </p:sp>
      <p:sp>
        <p:nvSpPr>
          <p:cNvPr id="52227" name="Rectangle 2"/>
          <p:cNvSpPr>
            <a:spLocks noGrp="1" noChangeArrowheads="1"/>
          </p:cNvSpPr>
          <p:nvPr>
            <p:ph type="title"/>
          </p:nvPr>
        </p:nvSpPr>
        <p:spPr/>
        <p:txBody>
          <a:bodyPr/>
          <a:lstStyle/>
          <a:p>
            <a:pPr eaLnBrk="1" hangingPunct="1"/>
            <a:r>
              <a:rPr lang="en-US"/>
              <a:t>Question 123.5.3</a:t>
            </a:r>
          </a:p>
        </p:txBody>
      </p:sp>
      <p:sp>
        <p:nvSpPr>
          <p:cNvPr id="52228" name="Rectangle 3"/>
          <p:cNvSpPr>
            <a:spLocks noChangeArrowheads="1"/>
          </p:cNvSpPr>
          <p:nvPr/>
        </p:nvSpPr>
        <p:spPr bwMode="auto">
          <a:xfrm>
            <a:off x="485775" y="1600200"/>
            <a:ext cx="3759200" cy="4525963"/>
          </a:xfrm>
          <a:prstGeom prst="rect">
            <a:avLst/>
          </a:prstGeom>
          <a:noFill/>
          <a:ln w="9525">
            <a:noFill/>
            <a:miter lim="800000"/>
            <a:headEnd/>
            <a:tailEnd/>
          </a:ln>
        </p:spPr>
        <p:txBody>
          <a:bodyPr/>
          <a:lstStyle/>
          <a:p>
            <a:pPr marL="609600" indent="-609600">
              <a:lnSpc>
                <a:spcPct val="90000"/>
              </a:lnSpc>
              <a:spcBef>
                <a:spcPct val="20000"/>
              </a:spcBef>
            </a:pPr>
            <a:r>
              <a:rPr lang="en-US" sz="2000"/>
              <a:t>Take a beach ball sized parcel of water.  What happens if we replace the parcel with the beach ball?</a:t>
            </a:r>
          </a:p>
          <a:p>
            <a:pPr marL="990600" lvl="1" indent="-533400">
              <a:lnSpc>
                <a:spcPct val="90000"/>
              </a:lnSpc>
              <a:spcBef>
                <a:spcPct val="20000"/>
              </a:spcBef>
              <a:buFontTx/>
              <a:buAutoNum type="alphaLcParenR"/>
            </a:pPr>
            <a:r>
              <a:rPr lang="en-US"/>
              <a:t>The ball will rise because it is less dense than the water</a:t>
            </a:r>
          </a:p>
          <a:p>
            <a:pPr marL="990600" lvl="1" indent="-533400">
              <a:lnSpc>
                <a:spcPct val="90000"/>
              </a:lnSpc>
              <a:spcBef>
                <a:spcPct val="20000"/>
              </a:spcBef>
              <a:buFontTx/>
              <a:buAutoNum type="alphaLcParenR"/>
            </a:pPr>
            <a:r>
              <a:rPr lang="en-US"/>
              <a:t>The ball will rise because the buoyant force will be larger for the beach ball</a:t>
            </a:r>
          </a:p>
          <a:p>
            <a:pPr marL="990600" lvl="1" indent="-533400">
              <a:lnSpc>
                <a:spcPct val="90000"/>
              </a:lnSpc>
              <a:spcBef>
                <a:spcPct val="20000"/>
              </a:spcBef>
              <a:buFontTx/>
              <a:buAutoNum type="alphaLcParenR"/>
            </a:pPr>
            <a:r>
              <a:rPr lang="en-US"/>
              <a:t>The ball will rise because it’s surface area will be different than the parcel of water</a:t>
            </a:r>
          </a:p>
        </p:txBody>
      </p:sp>
      <p:grpSp>
        <p:nvGrpSpPr>
          <p:cNvPr id="52229" name="Group 22"/>
          <p:cNvGrpSpPr>
            <a:grpSpLocks/>
          </p:cNvGrpSpPr>
          <p:nvPr/>
        </p:nvGrpSpPr>
        <p:grpSpPr bwMode="auto">
          <a:xfrm>
            <a:off x="4324350" y="2506663"/>
            <a:ext cx="4195763" cy="3154362"/>
            <a:chOff x="2724" y="1579"/>
            <a:chExt cx="2643" cy="1987"/>
          </a:xfrm>
        </p:grpSpPr>
        <p:grpSp>
          <p:nvGrpSpPr>
            <p:cNvPr id="52230" name="Group 5"/>
            <p:cNvGrpSpPr>
              <a:grpSpLocks/>
            </p:cNvGrpSpPr>
            <p:nvPr/>
          </p:nvGrpSpPr>
          <p:grpSpPr bwMode="auto">
            <a:xfrm>
              <a:off x="3941" y="1579"/>
              <a:ext cx="1426" cy="1987"/>
              <a:chOff x="3593" y="1643"/>
              <a:chExt cx="1426" cy="1987"/>
            </a:xfrm>
          </p:grpSpPr>
          <p:sp>
            <p:nvSpPr>
              <p:cNvPr id="52238" name="Freeform 6"/>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52241"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52242"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2243" name="Line 11"/>
              <p:cNvSpPr>
                <a:spLocks noChangeShapeType="1"/>
              </p:cNvSpPr>
              <p:nvPr/>
            </p:nvSpPr>
            <p:spPr bwMode="auto">
              <a:xfrm flipH="1">
                <a:off x="4288" y="2606"/>
                <a:ext cx="0" cy="265"/>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4" name="Line 12"/>
              <p:cNvSpPr>
                <a:spLocks noChangeShapeType="1"/>
              </p:cNvSpPr>
              <p:nvPr/>
            </p:nvSpPr>
            <p:spPr bwMode="auto">
              <a:xfrm flipH="1" flipV="1">
                <a:off x="4284" y="2263"/>
                <a:ext cx="0" cy="311"/>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5"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52246"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52231" name="Group 15"/>
            <p:cNvGrpSpPr>
              <a:grpSpLocks/>
            </p:cNvGrpSpPr>
            <p:nvPr/>
          </p:nvGrpSpPr>
          <p:grpSpPr bwMode="auto">
            <a:xfrm rot="1590330">
              <a:off x="2724" y="2134"/>
              <a:ext cx="878" cy="86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2232" name="AutoShape 21"/>
            <p:cNvSpPr>
              <a:spLocks noChangeArrowheads="1"/>
            </p:cNvSpPr>
            <p:nvPr/>
          </p:nvSpPr>
          <p:spPr bwMode="auto">
            <a:xfrm>
              <a:off x="3675" y="2450"/>
              <a:ext cx="613" cy="275"/>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3034226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17</a:t>
            </a:fld>
            <a:endParaRPr lang="en-US"/>
          </a:p>
        </p:txBody>
      </p:sp>
      <p:sp>
        <p:nvSpPr>
          <p:cNvPr id="52227" name="Rectangle 2"/>
          <p:cNvSpPr>
            <a:spLocks noGrp="1" noChangeArrowheads="1"/>
          </p:cNvSpPr>
          <p:nvPr>
            <p:ph type="title"/>
          </p:nvPr>
        </p:nvSpPr>
        <p:spPr/>
        <p:txBody>
          <a:bodyPr/>
          <a:lstStyle/>
          <a:p>
            <a:pPr eaLnBrk="1" hangingPunct="1"/>
            <a:r>
              <a:rPr lang="en-US" dirty="0"/>
              <a:t>Question 123.5.3.5</a:t>
            </a:r>
          </a:p>
        </p:txBody>
      </p:sp>
      <p:sp>
        <p:nvSpPr>
          <p:cNvPr id="52228" name="Rectangle 3"/>
          <p:cNvSpPr>
            <a:spLocks noChangeArrowheads="1"/>
          </p:cNvSpPr>
          <p:nvPr/>
        </p:nvSpPr>
        <p:spPr bwMode="auto">
          <a:xfrm>
            <a:off x="485774" y="1600200"/>
            <a:ext cx="5305426" cy="4525963"/>
          </a:xfrm>
          <a:prstGeom prst="rect">
            <a:avLst/>
          </a:prstGeom>
          <a:noFill/>
          <a:ln w="9525">
            <a:noFill/>
            <a:miter lim="800000"/>
            <a:headEnd/>
            <a:tailEnd/>
          </a:ln>
        </p:spPr>
        <p:txBody>
          <a:bodyPr/>
          <a:lstStyle/>
          <a:p>
            <a:pPr marL="609600" indent="-609600">
              <a:lnSpc>
                <a:spcPct val="90000"/>
              </a:lnSpc>
              <a:spcBef>
                <a:spcPct val="20000"/>
              </a:spcBef>
            </a:pPr>
            <a:r>
              <a:rPr lang="en-US" sz="2800" dirty="0"/>
              <a:t>We say that there is a buoyant force acting on the beach ball. What is the buoyant force?</a:t>
            </a:r>
          </a:p>
          <a:p>
            <a:pPr marL="990600" lvl="1" indent="-533400">
              <a:lnSpc>
                <a:spcPct val="90000"/>
              </a:lnSpc>
              <a:spcBef>
                <a:spcPct val="20000"/>
              </a:spcBef>
              <a:buFontTx/>
              <a:buAutoNum type="alphaLcParenR"/>
            </a:pPr>
            <a:r>
              <a:rPr lang="en-US" sz="2400" dirty="0"/>
              <a:t>It is the net force on the beach ball</a:t>
            </a:r>
          </a:p>
          <a:p>
            <a:pPr marL="990600" lvl="1" indent="-533400">
              <a:lnSpc>
                <a:spcPct val="90000"/>
              </a:lnSpc>
              <a:spcBef>
                <a:spcPct val="20000"/>
              </a:spcBef>
              <a:buFontTx/>
              <a:buAutoNum type="alphaLcParenR"/>
            </a:pPr>
            <a:r>
              <a:rPr lang="en-US" sz="2400" dirty="0"/>
              <a:t>It is the net force due to the water pressure acting on the beach ball</a:t>
            </a:r>
          </a:p>
          <a:p>
            <a:pPr marL="990600" lvl="1" indent="-533400">
              <a:lnSpc>
                <a:spcPct val="90000"/>
              </a:lnSpc>
              <a:spcBef>
                <a:spcPct val="20000"/>
              </a:spcBef>
              <a:buFontTx/>
              <a:buAutoNum type="alphaLcParenR"/>
            </a:pPr>
            <a:r>
              <a:rPr lang="en-US" sz="2400" dirty="0"/>
              <a:t>It is a force that makes things float at the surface</a:t>
            </a:r>
          </a:p>
          <a:p>
            <a:pPr marL="990600" lvl="1" indent="-533400">
              <a:lnSpc>
                <a:spcPct val="90000"/>
              </a:lnSpc>
              <a:spcBef>
                <a:spcPct val="20000"/>
              </a:spcBef>
              <a:buFontTx/>
              <a:buAutoNum type="alphaLcParenR"/>
            </a:pPr>
            <a:r>
              <a:rPr lang="en-US" sz="2400" dirty="0"/>
              <a:t>50</a:t>
            </a:r>
          </a:p>
        </p:txBody>
      </p:sp>
      <p:sp>
        <p:nvSpPr>
          <p:cNvPr id="52238" name="Freeform 6"/>
          <p:cNvSpPr>
            <a:spLocks/>
          </p:cNvSpPr>
          <p:nvPr/>
        </p:nvSpPr>
        <p:spPr bwMode="auto">
          <a:xfrm>
            <a:off x="6756627" y="2434092"/>
            <a:ext cx="2058988" cy="144462"/>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6589940" y="2569029"/>
            <a:ext cx="2220913" cy="3019425"/>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6575652" y="2438854"/>
            <a:ext cx="2263775" cy="15875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2231" name="Group 15"/>
          <p:cNvGrpSpPr>
            <a:grpSpLocks/>
          </p:cNvGrpSpPr>
          <p:nvPr/>
        </p:nvGrpSpPr>
        <p:grpSpPr bwMode="auto">
          <a:xfrm rot="1590330">
            <a:off x="6994979" y="3257096"/>
            <a:ext cx="1393825" cy="136525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516721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3"/>
          <p:cNvSpPr>
            <a:spLocks noGrp="1"/>
          </p:cNvSpPr>
          <p:nvPr>
            <p:ph type="dt" sz="quarter" idx="10"/>
          </p:nvPr>
        </p:nvSpPr>
        <p:spPr>
          <a:noFill/>
        </p:spPr>
        <p:txBody>
          <a:bodyPr/>
          <a:lstStyle/>
          <a:p>
            <a:r>
              <a:rPr lang="en-US"/>
              <a:t>Winter 2007</a:t>
            </a:r>
          </a:p>
        </p:txBody>
      </p:sp>
      <p:sp>
        <p:nvSpPr>
          <p:cNvPr id="28675" name="Footer Placeholder 4"/>
          <p:cNvSpPr>
            <a:spLocks noGrp="1"/>
          </p:cNvSpPr>
          <p:nvPr>
            <p:ph type="ftr" sz="quarter" idx="11"/>
          </p:nvPr>
        </p:nvSpPr>
        <p:spPr>
          <a:noFill/>
        </p:spPr>
        <p:txBody>
          <a:bodyPr/>
          <a:lstStyle/>
          <a:p>
            <a:r>
              <a:rPr lang="en-US"/>
              <a:t>R. Todd Lines</a:t>
            </a:r>
          </a:p>
        </p:txBody>
      </p:sp>
      <p:sp>
        <p:nvSpPr>
          <p:cNvPr id="28676" name="Slide Number Placeholder 5"/>
          <p:cNvSpPr>
            <a:spLocks noGrp="1"/>
          </p:cNvSpPr>
          <p:nvPr>
            <p:ph type="sldNum" sz="quarter" idx="12"/>
          </p:nvPr>
        </p:nvSpPr>
        <p:spPr>
          <a:noFill/>
        </p:spPr>
        <p:txBody>
          <a:bodyPr/>
          <a:lstStyle/>
          <a:p>
            <a:fld id="{50846E30-7F84-4614-A11D-B720FDD20388}" type="slidenum">
              <a:rPr lang="en-US" smtClean="0"/>
              <a:pPr/>
              <a:t>18</a:t>
            </a:fld>
            <a:endParaRPr lang="en-US" dirty="0"/>
          </a:p>
        </p:txBody>
      </p:sp>
      <p:sp>
        <p:nvSpPr>
          <p:cNvPr id="28677" name="Rectangle 2"/>
          <p:cNvSpPr>
            <a:spLocks noGrp="1" noChangeArrowheads="1"/>
          </p:cNvSpPr>
          <p:nvPr>
            <p:ph type="title"/>
          </p:nvPr>
        </p:nvSpPr>
        <p:spPr/>
        <p:txBody>
          <a:bodyPr/>
          <a:lstStyle/>
          <a:p>
            <a:pPr eaLnBrk="1" hangingPunct="1"/>
            <a:r>
              <a:rPr lang="en-US"/>
              <a:t>Buoyant Forces</a:t>
            </a:r>
          </a:p>
        </p:txBody>
      </p:sp>
      <p:sp>
        <p:nvSpPr>
          <p:cNvPr id="28678" name="Rectangle 3"/>
          <p:cNvSpPr>
            <a:spLocks noGrp="1" noChangeArrowheads="1"/>
          </p:cNvSpPr>
          <p:nvPr>
            <p:ph type="body" idx="1"/>
          </p:nvPr>
        </p:nvSpPr>
        <p:spPr>
          <a:xfrm>
            <a:off x="485775" y="1600200"/>
            <a:ext cx="3759200" cy="4525963"/>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 name="Group 4"/>
          <p:cNvGrpSpPr>
            <a:grpSpLocks/>
          </p:cNvGrpSpPr>
          <p:nvPr/>
        </p:nvGrpSpPr>
        <p:grpSpPr bwMode="auto">
          <a:xfrm>
            <a:off x="4324350" y="2506663"/>
            <a:ext cx="4195763" cy="3154362"/>
            <a:chOff x="2724" y="1579"/>
            <a:chExt cx="2643" cy="1987"/>
          </a:xfrm>
        </p:grpSpPr>
        <p:grpSp>
          <p:nvGrpSpPr>
            <p:cNvPr id="3" name="Group 5"/>
            <p:cNvGrpSpPr>
              <a:grpSpLocks/>
            </p:cNvGrpSpPr>
            <p:nvPr/>
          </p:nvGrpSpPr>
          <p:grpSpPr bwMode="auto">
            <a:xfrm>
              <a:off x="3941" y="1579"/>
              <a:ext cx="1426" cy="1987"/>
              <a:chOff x="3593" y="1643"/>
              <a:chExt cx="1426" cy="1987"/>
            </a:xfrm>
          </p:grpSpPr>
          <p:sp>
            <p:nvSpPr>
              <p:cNvPr id="28687" name="Freeform 6"/>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28688"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28689"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28690"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28691"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8692" name="Line 11"/>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3" name="Line 12"/>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4"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28695"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4" name="Group 15"/>
            <p:cNvGrpSpPr>
              <a:grpSpLocks/>
            </p:cNvGrpSpPr>
            <p:nvPr/>
          </p:nvGrpSpPr>
          <p:grpSpPr bwMode="auto">
            <a:xfrm rot="1590330">
              <a:off x="2724" y="2134"/>
              <a:ext cx="878" cy="860"/>
              <a:chOff x="2213" y="2234"/>
              <a:chExt cx="878" cy="860"/>
            </a:xfrm>
          </p:grpSpPr>
          <p:sp>
            <p:nvSpPr>
              <p:cNvPr id="28682"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683" name="Arc 17"/>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4" name="Arc 18"/>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28685" name="Arc 19"/>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6" name="Arc 20"/>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10"/>
          </p:nvPr>
        </p:nvSpPr>
        <p:spPr>
          <a:noFill/>
        </p:spPr>
        <p:txBody>
          <a:bodyPr/>
          <a:lstStyle/>
          <a:p>
            <a:r>
              <a:rPr lang="en-US"/>
              <a:t>Winter 2007</a:t>
            </a:r>
          </a:p>
        </p:txBody>
      </p:sp>
      <p:sp>
        <p:nvSpPr>
          <p:cNvPr id="8197" name="Footer Placeholder 4"/>
          <p:cNvSpPr>
            <a:spLocks noGrp="1"/>
          </p:cNvSpPr>
          <p:nvPr>
            <p:ph type="ftr" sz="quarter" idx="11"/>
          </p:nvPr>
        </p:nvSpPr>
        <p:spPr>
          <a:noFill/>
        </p:spPr>
        <p:txBody>
          <a:bodyPr/>
          <a:lstStyle/>
          <a:p>
            <a:r>
              <a:rPr lang="en-US"/>
              <a:t>R. Todd Lines</a:t>
            </a:r>
          </a:p>
        </p:txBody>
      </p:sp>
      <p:sp>
        <p:nvSpPr>
          <p:cNvPr id="8198" name="Slide Number Placeholder 5"/>
          <p:cNvSpPr>
            <a:spLocks noGrp="1"/>
          </p:cNvSpPr>
          <p:nvPr>
            <p:ph type="sldNum" sz="quarter" idx="12"/>
          </p:nvPr>
        </p:nvSpPr>
        <p:spPr>
          <a:noFill/>
        </p:spPr>
        <p:txBody>
          <a:bodyPr/>
          <a:lstStyle/>
          <a:p>
            <a:fld id="{4E954239-4440-40A6-A387-496219AC2410}" type="slidenum">
              <a:rPr lang="en-US" smtClean="0"/>
              <a:pPr/>
              <a:t>19</a:t>
            </a:fld>
            <a:endParaRPr lang="en-US"/>
          </a:p>
        </p:txBody>
      </p:sp>
      <p:sp>
        <p:nvSpPr>
          <p:cNvPr id="8199" name="Rectangle 2"/>
          <p:cNvSpPr>
            <a:spLocks noGrp="1" noChangeArrowheads="1"/>
          </p:cNvSpPr>
          <p:nvPr>
            <p:ph type="title"/>
          </p:nvPr>
        </p:nvSpPr>
        <p:spPr/>
        <p:txBody>
          <a:bodyPr/>
          <a:lstStyle/>
          <a:p>
            <a:pPr eaLnBrk="1" hangingPunct="1"/>
            <a:r>
              <a:rPr lang="en-US"/>
              <a:t>Archimedes’ Principle</a:t>
            </a:r>
          </a:p>
        </p:txBody>
      </p:sp>
      <p:sp>
        <p:nvSpPr>
          <p:cNvPr id="8200" name="AutoShape 3"/>
          <p:cNvSpPr>
            <a:spLocks noChangeArrowheads="1"/>
          </p:cNvSpPr>
          <p:nvPr/>
        </p:nvSpPr>
        <p:spPr bwMode="auto">
          <a:xfrm>
            <a:off x="522288" y="1539875"/>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magnitude of the buoyant force always equals the weight of the fluid displaced by the object</a:t>
            </a:r>
          </a:p>
        </p:txBody>
      </p:sp>
      <p:sp>
        <p:nvSpPr>
          <p:cNvPr id="8201" name="Line 4"/>
          <p:cNvSpPr>
            <a:spLocks noChangeShapeType="1"/>
          </p:cNvSpPr>
          <p:nvPr/>
        </p:nvSpPr>
        <p:spPr bwMode="auto">
          <a:xfrm flipH="1">
            <a:off x="6902450" y="3824288"/>
            <a:ext cx="215900" cy="0"/>
          </a:xfrm>
          <a:prstGeom prst="line">
            <a:avLst/>
          </a:prstGeom>
          <a:noFill/>
          <a:ln w="9525">
            <a:solidFill>
              <a:schemeClr val="tx1"/>
            </a:solidFill>
            <a:round/>
            <a:headEnd/>
            <a:tailEnd/>
          </a:ln>
        </p:spPr>
        <p:txBody>
          <a:bodyPr/>
          <a:lstStyle/>
          <a:p>
            <a:endParaRPr lang="en-US"/>
          </a:p>
        </p:txBody>
      </p:sp>
      <p:grpSp>
        <p:nvGrpSpPr>
          <p:cNvPr id="2" name="Group 5"/>
          <p:cNvGrpSpPr>
            <a:grpSpLocks/>
          </p:cNvGrpSpPr>
          <p:nvPr/>
        </p:nvGrpSpPr>
        <p:grpSpPr bwMode="auto">
          <a:xfrm>
            <a:off x="6332538" y="3024188"/>
            <a:ext cx="1900237" cy="2265362"/>
            <a:chOff x="3989" y="1959"/>
            <a:chExt cx="1416" cy="1628"/>
          </a:xfrm>
        </p:grpSpPr>
        <p:grpSp>
          <p:nvGrpSpPr>
            <p:cNvPr id="3" name="Group 6"/>
            <p:cNvGrpSpPr>
              <a:grpSpLocks/>
            </p:cNvGrpSpPr>
            <p:nvPr/>
          </p:nvGrpSpPr>
          <p:grpSpPr bwMode="auto">
            <a:xfrm>
              <a:off x="3989" y="1963"/>
              <a:ext cx="1416" cy="1624"/>
              <a:chOff x="3596" y="1780"/>
              <a:chExt cx="1416" cy="1624"/>
            </a:xfrm>
          </p:grpSpPr>
          <p:sp>
            <p:nvSpPr>
              <p:cNvPr id="8240"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41"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28" name="AutoShape 9"/>
            <p:cNvSpPr>
              <a:spLocks noChangeArrowheads="1"/>
            </p:cNvSpPr>
            <p:nvPr/>
          </p:nvSpPr>
          <p:spPr bwMode="auto">
            <a:xfrm>
              <a:off x="4153" y="2263"/>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29" name="Rectangle 10"/>
            <p:cNvSpPr>
              <a:spLocks noChangeArrowheads="1"/>
            </p:cNvSpPr>
            <p:nvPr/>
          </p:nvSpPr>
          <p:spPr bwMode="auto">
            <a:xfrm>
              <a:off x="4153" y="2243"/>
              <a:ext cx="1076" cy="248"/>
            </a:xfrm>
            <a:prstGeom prst="rect">
              <a:avLst/>
            </a:prstGeom>
            <a:solidFill>
              <a:schemeClr val="accent1"/>
            </a:solidFill>
            <a:ln w="9525">
              <a:noFill/>
              <a:miter lim="800000"/>
              <a:headEnd/>
              <a:tailEnd/>
            </a:ln>
          </p:spPr>
          <p:txBody>
            <a:bodyPr wrap="none" anchor="ctr"/>
            <a:lstStyle/>
            <a:p>
              <a:endParaRPr lang="en-US"/>
            </a:p>
          </p:txBody>
        </p:sp>
        <p:sp>
          <p:nvSpPr>
            <p:cNvPr id="8230" name="Freeform 11"/>
            <p:cNvSpPr>
              <a:spLocks/>
            </p:cNvSpPr>
            <p:nvPr/>
          </p:nvSpPr>
          <p:spPr bwMode="auto">
            <a:xfrm>
              <a:off x="4073"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1" name="Freeform 12"/>
            <p:cNvSpPr>
              <a:spLocks/>
            </p:cNvSpPr>
            <p:nvPr/>
          </p:nvSpPr>
          <p:spPr bwMode="auto">
            <a:xfrm flipH="1">
              <a:off x="4697"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2" name="Rectangle 13"/>
            <p:cNvSpPr>
              <a:spLocks noChangeArrowheads="1"/>
            </p:cNvSpPr>
            <p:nvPr/>
          </p:nvSpPr>
          <p:spPr bwMode="auto">
            <a:xfrm>
              <a:off x="4533" y="2459"/>
              <a:ext cx="380" cy="640"/>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33" name="Line 14"/>
            <p:cNvSpPr>
              <a:spLocks noChangeShapeType="1"/>
            </p:cNvSpPr>
            <p:nvPr/>
          </p:nvSpPr>
          <p:spPr bwMode="auto">
            <a:xfrm flipH="1">
              <a:off x="4353" y="3099"/>
              <a:ext cx="136" cy="0"/>
            </a:xfrm>
            <a:prstGeom prst="line">
              <a:avLst/>
            </a:prstGeom>
            <a:noFill/>
            <a:ln w="9525">
              <a:solidFill>
                <a:schemeClr val="tx1"/>
              </a:solidFill>
              <a:round/>
              <a:headEnd/>
              <a:tailEnd/>
            </a:ln>
          </p:spPr>
          <p:txBody>
            <a:bodyPr/>
            <a:lstStyle/>
            <a:p>
              <a:endParaRPr lang="en-US"/>
            </a:p>
          </p:txBody>
        </p:sp>
        <p:sp>
          <p:nvSpPr>
            <p:cNvPr id="8234" name="Line 15"/>
            <p:cNvSpPr>
              <a:spLocks noChangeShapeType="1"/>
            </p:cNvSpPr>
            <p:nvPr/>
          </p:nvSpPr>
          <p:spPr bwMode="auto">
            <a:xfrm>
              <a:off x="4340" y="2495"/>
              <a:ext cx="0" cy="588"/>
            </a:xfrm>
            <a:prstGeom prst="line">
              <a:avLst/>
            </a:prstGeom>
            <a:noFill/>
            <a:ln w="9525">
              <a:solidFill>
                <a:schemeClr val="tx1"/>
              </a:solidFill>
              <a:round/>
              <a:headEnd type="triangle" w="med" len="med"/>
              <a:tailEnd type="triangle" w="med" len="med"/>
            </a:ln>
          </p:spPr>
          <p:txBody>
            <a:bodyPr/>
            <a:lstStyle/>
            <a:p>
              <a:endParaRPr lang="en-US"/>
            </a:p>
          </p:txBody>
        </p:sp>
        <p:sp>
          <p:nvSpPr>
            <p:cNvPr id="8235" name="Line 16"/>
            <p:cNvSpPr>
              <a:spLocks noChangeShapeType="1"/>
            </p:cNvSpPr>
            <p:nvPr/>
          </p:nvSpPr>
          <p:spPr bwMode="auto">
            <a:xfrm>
              <a:off x="4729" y="3099"/>
              <a:ext cx="0" cy="200"/>
            </a:xfrm>
            <a:prstGeom prst="line">
              <a:avLst/>
            </a:prstGeom>
            <a:noFill/>
            <a:ln w="28575">
              <a:solidFill>
                <a:schemeClr val="tx2">
                  <a:lumMod val="50000"/>
                </a:schemeClr>
              </a:solidFill>
              <a:round/>
              <a:headEnd/>
              <a:tailEnd type="triangle" w="med" len="med"/>
            </a:ln>
          </p:spPr>
          <p:txBody>
            <a:bodyPr/>
            <a:lstStyle/>
            <a:p>
              <a:endParaRPr lang="en-US" dirty="0"/>
            </a:p>
          </p:txBody>
        </p:sp>
        <p:sp>
          <p:nvSpPr>
            <p:cNvPr id="8236" name="Line 17"/>
            <p:cNvSpPr>
              <a:spLocks noChangeShapeType="1"/>
            </p:cNvSpPr>
            <p:nvPr/>
          </p:nvSpPr>
          <p:spPr bwMode="auto">
            <a:xfrm flipV="1">
              <a:off x="4718" y="2244"/>
              <a:ext cx="4" cy="210"/>
            </a:xfrm>
            <a:prstGeom prst="line">
              <a:avLst/>
            </a:prstGeom>
            <a:noFill/>
            <a:ln w="28575">
              <a:solidFill>
                <a:schemeClr val="tx2">
                  <a:lumMod val="50000"/>
                </a:schemeClr>
              </a:solidFill>
              <a:round/>
              <a:headEnd/>
              <a:tailEnd type="triangle" w="med" len="med"/>
            </a:ln>
          </p:spPr>
          <p:txBody>
            <a:bodyPr/>
            <a:lstStyle/>
            <a:p>
              <a:endParaRPr lang="en-US"/>
            </a:p>
          </p:txBody>
        </p:sp>
        <p:sp>
          <p:nvSpPr>
            <p:cNvPr id="8237" name="Text Box 18"/>
            <p:cNvSpPr txBox="1">
              <a:spLocks noChangeArrowheads="1"/>
            </p:cNvSpPr>
            <p:nvPr/>
          </p:nvSpPr>
          <p:spPr bwMode="auto">
            <a:xfrm>
              <a:off x="4541" y="3268"/>
              <a:ext cx="294" cy="265"/>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8238" name="Rectangle 19"/>
            <p:cNvSpPr>
              <a:spLocks noChangeArrowheads="1"/>
            </p:cNvSpPr>
            <p:nvPr/>
          </p:nvSpPr>
          <p:spPr bwMode="auto">
            <a:xfrm>
              <a:off x="4743" y="2224"/>
              <a:ext cx="260" cy="263"/>
            </a:xfrm>
            <a:prstGeom prst="rect">
              <a:avLst/>
            </a:prstGeom>
            <a:noFill/>
            <a:ln w="9525">
              <a:noFill/>
              <a:miter lim="800000"/>
              <a:headEnd/>
              <a:tailEnd/>
            </a:ln>
          </p:spPr>
          <p:txBody>
            <a:bodyPr wrap="none">
              <a:spAutoFit/>
            </a:bodyPr>
            <a:lstStyle/>
            <a:p>
              <a:r>
                <a:rPr lang="en-US" b="1"/>
                <a:t>B</a:t>
              </a:r>
              <a:endParaRPr lang="en-US" b="1" i="1"/>
            </a:p>
          </p:txBody>
        </p:sp>
        <p:sp>
          <p:nvSpPr>
            <p:cNvPr id="8239" name="Text Box 20"/>
            <p:cNvSpPr txBox="1">
              <a:spLocks noChangeArrowheads="1"/>
            </p:cNvSpPr>
            <p:nvPr/>
          </p:nvSpPr>
          <p:spPr bwMode="auto">
            <a:xfrm>
              <a:off x="4242" y="2671"/>
              <a:ext cx="211" cy="219"/>
            </a:xfrm>
            <a:prstGeom prst="rect">
              <a:avLst/>
            </a:prstGeom>
            <a:solidFill>
              <a:schemeClr val="accent1"/>
            </a:solidFill>
            <a:ln w="9525">
              <a:noFill/>
              <a:miter lim="800000"/>
              <a:headEnd/>
              <a:tailEnd/>
            </a:ln>
          </p:spPr>
          <p:txBody>
            <a:bodyPr wrap="none">
              <a:spAutoFit/>
            </a:bodyPr>
            <a:lstStyle/>
            <a:p>
              <a:r>
                <a:rPr lang="en-US" sz="1400" i="1"/>
                <a:t>h</a:t>
              </a:r>
            </a:p>
          </p:txBody>
        </p:sp>
      </p:grpSp>
      <p:grpSp>
        <p:nvGrpSpPr>
          <p:cNvPr id="4" name="Group 21"/>
          <p:cNvGrpSpPr>
            <a:grpSpLocks/>
          </p:cNvGrpSpPr>
          <p:nvPr/>
        </p:nvGrpSpPr>
        <p:grpSpPr bwMode="auto">
          <a:xfrm>
            <a:off x="3635375" y="3009900"/>
            <a:ext cx="2074863" cy="2263775"/>
            <a:chOff x="2290" y="1950"/>
            <a:chExt cx="1307" cy="1426"/>
          </a:xfrm>
        </p:grpSpPr>
        <p:grpSp>
          <p:nvGrpSpPr>
            <p:cNvPr id="5" name="Group 22"/>
            <p:cNvGrpSpPr>
              <a:grpSpLocks/>
            </p:cNvGrpSpPr>
            <p:nvPr/>
          </p:nvGrpSpPr>
          <p:grpSpPr bwMode="auto">
            <a:xfrm>
              <a:off x="2290" y="1954"/>
              <a:ext cx="1307" cy="1422"/>
              <a:chOff x="3596" y="1780"/>
              <a:chExt cx="1416" cy="1624"/>
            </a:xfrm>
          </p:grpSpPr>
          <p:sp>
            <p:nvSpPr>
              <p:cNvPr id="8225"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26"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10" name="AutoShape 25"/>
            <p:cNvSpPr>
              <a:spLocks noChangeArrowheads="1"/>
            </p:cNvSpPr>
            <p:nvPr/>
          </p:nvSpPr>
          <p:spPr bwMode="auto">
            <a:xfrm>
              <a:off x="2441" y="2216"/>
              <a:ext cx="1005" cy="112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11" name="Rectangle 26"/>
            <p:cNvSpPr>
              <a:spLocks noChangeArrowheads="1"/>
            </p:cNvSpPr>
            <p:nvPr/>
          </p:nvSpPr>
          <p:spPr bwMode="auto">
            <a:xfrm>
              <a:off x="2441" y="2199"/>
              <a:ext cx="994" cy="217"/>
            </a:xfrm>
            <a:prstGeom prst="rect">
              <a:avLst/>
            </a:prstGeom>
            <a:solidFill>
              <a:schemeClr val="accent1"/>
            </a:solidFill>
            <a:ln w="9525">
              <a:noFill/>
              <a:miter lim="800000"/>
              <a:headEnd/>
              <a:tailEnd/>
            </a:ln>
          </p:spPr>
          <p:txBody>
            <a:bodyPr wrap="none" anchor="ctr"/>
            <a:lstStyle/>
            <a:p>
              <a:endParaRPr lang="en-US"/>
            </a:p>
          </p:txBody>
        </p:sp>
        <p:sp>
          <p:nvSpPr>
            <p:cNvPr id="8212" name="Freeform 27"/>
            <p:cNvSpPr>
              <a:spLocks/>
            </p:cNvSpPr>
            <p:nvPr/>
          </p:nvSpPr>
          <p:spPr bwMode="auto">
            <a:xfrm>
              <a:off x="2368" y="1950"/>
              <a:ext cx="576"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3" name="Freeform 28"/>
            <p:cNvSpPr>
              <a:spLocks/>
            </p:cNvSpPr>
            <p:nvPr/>
          </p:nvSpPr>
          <p:spPr bwMode="auto">
            <a:xfrm flipH="1">
              <a:off x="2944" y="1950"/>
              <a:ext cx="575"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4" name="Rectangle 29"/>
            <p:cNvSpPr>
              <a:spLocks noChangeArrowheads="1"/>
            </p:cNvSpPr>
            <p:nvPr/>
          </p:nvSpPr>
          <p:spPr bwMode="auto">
            <a:xfrm>
              <a:off x="2792" y="2388"/>
              <a:ext cx="351" cy="561"/>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15" name="Line 30"/>
            <p:cNvSpPr>
              <a:spLocks noChangeShapeType="1"/>
            </p:cNvSpPr>
            <p:nvPr/>
          </p:nvSpPr>
          <p:spPr bwMode="auto">
            <a:xfrm flipH="1">
              <a:off x="2944" y="2254"/>
              <a:ext cx="4" cy="134"/>
            </a:xfrm>
            <a:prstGeom prst="line">
              <a:avLst/>
            </a:prstGeom>
            <a:noFill/>
            <a:ln w="28575">
              <a:solidFill>
                <a:schemeClr val="tx2">
                  <a:lumMod val="50000"/>
                </a:schemeClr>
              </a:solidFill>
              <a:round/>
              <a:headEnd/>
              <a:tailEnd type="triangle" w="med" len="med"/>
            </a:ln>
          </p:spPr>
          <p:txBody>
            <a:bodyPr/>
            <a:lstStyle/>
            <a:p>
              <a:endParaRPr lang="en-US"/>
            </a:p>
          </p:txBody>
        </p:sp>
        <p:sp>
          <p:nvSpPr>
            <p:cNvPr id="8216" name="Line 31"/>
            <p:cNvSpPr>
              <a:spLocks noChangeShapeType="1"/>
            </p:cNvSpPr>
            <p:nvPr/>
          </p:nvSpPr>
          <p:spPr bwMode="auto">
            <a:xfrm>
              <a:off x="2855" y="2949"/>
              <a:ext cx="0" cy="11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7" name="Line 32"/>
            <p:cNvSpPr>
              <a:spLocks noChangeShapeType="1"/>
            </p:cNvSpPr>
            <p:nvPr/>
          </p:nvSpPr>
          <p:spPr bwMode="auto">
            <a:xfrm flipV="1">
              <a:off x="3047" y="2952"/>
              <a:ext cx="4" cy="20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9" name="Text Box 34"/>
            <p:cNvSpPr txBox="1">
              <a:spLocks noChangeArrowheads="1"/>
            </p:cNvSpPr>
            <p:nvPr/>
          </p:nvSpPr>
          <p:spPr bwMode="auto">
            <a:xfrm>
              <a:off x="2580" y="3088"/>
              <a:ext cx="324" cy="231"/>
            </a:xfrm>
            <a:prstGeom prst="rect">
              <a:avLst/>
            </a:prstGeom>
            <a:noFill/>
            <a:ln w="9525">
              <a:noFill/>
              <a:miter lim="800000"/>
              <a:headEnd/>
              <a:tailEnd/>
            </a:ln>
          </p:spPr>
          <p:txBody>
            <a:bodyPr wrap="none">
              <a:spAutoFit/>
            </a:bodyPr>
            <a:lstStyle/>
            <a:p>
              <a:r>
                <a:rPr lang="en-US" i="1" dirty="0"/>
                <a:t>M</a:t>
              </a:r>
              <a:r>
                <a:rPr lang="en-US" b="1" i="1" dirty="0"/>
                <a:t>g</a:t>
              </a:r>
              <a:endParaRPr lang="en-US" b="1" i="1" dirty="0">
                <a:cs typeface="Arial" charset="0"/>
              </a:endParaRPr>
            </a:p>
          </p:txBody>
        </p:sp>
        <p:sp>
          <p:nvSpPr>
            <p:cNvPr id="8221" name="Line 36"/>
            <p:cNvSpPr>
              <a:spLocks noChangeShapeType="1"/>
            </p:cNvSpPr>
            <p:nvPr/>
          </p:nvSpPr>
          <p:spPr bwMode="auto">
            <a:xfrm flipH="1">
              <a:off x="2605" y="2938"/>
              <a:ext cx="125" cy="0"/>
            </a:xfrm>
            <a:prstGeom prst="line">
              <a:avLst/>
            </a:prstGeom>
            <a:noFill/>
            <a:ln w="9525">
              <a:solidFill>
                <a:schemeClr val="tx1"/>
              </a:solidFill>
              <a:round/>
              <a:headEnd/>
              <a:tailEnd/>
            </a:ln>
          </p:spPr>
          <p:txBody>
            <a:bodyPr/>
            <a:lstStyle/>
            <a:p>
              <a:endParaRPr lang="en-US"/>
            </a:p>
          </p:txBody>
        </p:sp>
        <p:sp>
          <p:nvSpPr>
            <p:cNvPr id="8222" name="Line 37"/>
            <p:cNvSpPr>
              <a:spLocks noChangeShapeType="1"/>
            </p:cNvSpPr>
            <p:nvPr/>
          </p:nvSpPr>
          <p:spPr bwMode="auto">
            <a:xfrm>
              <a:off x="2593" y="2409"/>
              <a:ext cx="0" cy="515"/>
            </a:xfrm>
            <a:prstGeom prst="line">
              <a:avLst/>
            </a:prstGeom>
            <a:noFill/>
            <a:ln w="9525">
              <a:solidFill>
                <a:schemeClr val="tx1"/>
              </a:solidFill>
              <a:round/>
              <a:headEnd type="triangle" w="med" len="med"/>
              <a:tailEnd type="triangle" w="med" len="med"/>
            </a:ln>
          </p:spPr>
          <p:txBody>
            <a:bodyPr/>
            <a:lstStyle/>
            <a:p>
              <a:endParaRPr lang="en-US"/>
            </a:p>
          </p:txBody>
        </p:sp>
        <p:sp>
          <p:nvSpPr>
            <p:cNvPr id="8223" name="Line 38"/>
            <p:cNvSpPr>
              <a:spLocks noChangeShapeType="1"/>
            </p:cNvSpPr>
            <p:nvPr/>
          </p:nvSpPr>
          <p:spPr bwMode="auto">
            <a:xfrm flipH="1">
              <a:off x="2600" y="2381"/>
              <a:ext cx="126" cy="0"/>
            </a:xfrm>
            <a:prstGeom prst="line">
              <a:avLst/>
            </a:prstGeom>
            <a:noFill/>
            <a:ln w="9525">
              <a:solidFill>
                <a:schemeClr val="tx1"/>
              </a:solidFill>
              <a:round/>
              <a:headEnd/>
              <a:tailEnd/>
            </a:ln>
          </p:spPr>
          <p:txBody>
            <a:bodyPr/>
            <a:lstStyle/>
            <a:p>
              <a:endParaRPr lang="en-US"/>
            </a:p>
          </p:txBody>
        </p:sp>
        <p:sp>
          <p:nvSpPr>
            <p:cNvPr id="8224" name="Text Box 39"/>
            <p:cNvSpPr txBox="1">
              <a:spLocks noChangeArrowheads="1"/>
            </p:cNvSpPr>
            <p:nvPr/>
          </p:nvSpPr>
          <p:spPr bwMode="auto">
            <a:xfrm>
              <a:off x="2502" y="2563"/>
              <a:ext cx="178" cy="192"/>
            </a:xfrm>
            <a:prstGeom prst="rect">
              <a:avLst/>
            </a:prstGeom>
            <a:solidFill>
              <a:schemeClr val="accent1"/>
            </a:solidFill>
            <a:ln w="9525">
              <a:noFill/>
              <a:miter lim="800000"/>
              <a:headEnd/>
              <a:tailEnd/>
            </a:ln>
          </p:spPr>
          <p:txBody>
            <a:bodyPr wrap="none">
              <a:spAutoFit/>
            </a:bodyPr>
            <a:lstStyle/>
            <a:p>
              <a:r>
                <a:rPr lang="en-US" sz="1400" i="1"/>
                <a:t>h</a:t>
              </a:r>
            </a:p>
          </p:txBody>
        </p:sp>
      </p:grpSp>
      <p:sp>
        <p:nvSpPr>
          <p:cNvPr id="8204" name="AutoShape 40"/>
          <p:cNvSpPr>
            <a:spLocks noChangeArrowheads="1"/>
          </p:cNvSpPr>
          <p:nvPr/>
        </p:nvSpPr>
        <p:spPr bwMode="auto">
          <a:xfrm>
            <a:off x="5951538" y="4108450"/>
            <a:ext cx="347662" cy="538163"/>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aphicFrame>
        <p:nvGraphicFramePr>
          <p:cNvPr id="8194" name="Object 41"/>
          <p:cNvGraphicFramePr>
            <a:graphicFrameLocks noGrp="1" noChangeAspect="1"/>
          </p:cNvGraphicFramePr>
          <p:nvPr>
            <p:ph idx="1"/>
          </p:nvPr>
        </p:nvGraphicFramePr>
        <p:xfrm>
          <a:off x="1016000" y="2940050"/>
          <a:ext cx="1246188" cy="307975"/>
        </p:xfrm>
        <a:graphic>
          <a:graphicData uri="http://schemas.openxmlformats.org/presentationml/2006/ole">
            <mc:AlternateContent xmlns:mc="http://schemas.openxmlformats.org/markup-compatibility/2006">
              <mc:Choice xmlns:v="urn:schemas-microsoft-com:vml" Requires="v">
                <p:oleObj name="Equation" r:id="rId2" imgW="927000" imgH="228600" progId="Equation.3">
                  <p:embed/>
                </p:oleObj>
              </mc:Choice>
              <mc:Fallback>
                <p:oleObj name="Equation" r:id="rId2" imgW="927000" imgH="228600" progId="Equation.3">
                  <p:embed/>
                  <p:pic>
                    <p:nvPicPr>
                      <p:cNvPr id="8194" name="Object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2940050"/>
                        <a:ext cx="124618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Text Box 42"/>
          <p:cNvSpPr txBox="1">
            <a:spLocks noChangeArrowheads="1"/>
          </p:cNvSpPr>
          <p:nvPr/>
        </p:nvSpPr>
        <p:spPr bwMode="auto">
          <a:xfrm>
            <a:off x="517525" y="2505075"/>
            <a:ext cx="1276350" cy="366713"/>
          </a:xfrm>
          <a:prstGeom prst="rect">
            <a:avLst/>
          </a:prstGeom>
          <a:noFill/>
          <a:ln w="9525">
            <a:noFill/>
            <a:miter lim="800000"/>
            <a:headEnd/>
            <a:tailEnd/>
          </a:ln>
        </p:spPr>
        <p:txBody>
          <a:bodyPr wrap="none">
            <a:spAutoFit/>
          </a:bodyPr>
          <a:lstStyle/>
          <a:p>
            <a:r>
              <a:rPr lang="en-US"/>
              <a:t>For a cube</a:t>
            </a:r>
          </a:p>
        </p:txBody>
      </p:sp>
      <p:sp>
        <p:nvSpPr>
          <p:cNvPr id="8206" name="Text Box 43"/>
          <p:cNvSpPr txBox="1">
            <a:spLocks noChangeArrowheads="1"/>
          </p:cNvSpPr>
          <p:nvPr/>
        </p:nvSpPr>
        <p:spPr bwMode="auto">
          <a:xfrm>
            <a:off x="511175" y="3224213"/>
            <a:ext cx="2432050" cy="915987"/>
          </a:xfrm>
          <a:prstGeom prst="rect">
            <a:avLst/>
          </a:prstGeom>
          <a:noFill/>
          <a:ln w="9525">
            <a:noFill/>
            <a:miter lim="800000"/>
            <a:headEnd/>
            <a:tailEnd/>
          </a:ln>
        </p:spPr>
        <p:txBody>
          <a:bodyPr>
            <a:spAutoFit/>
          </a:bodyPr>
          <a:lstStyle/>
          <a:p>
            <a:r>
              <a:rPr lang="en-US"/>
              <a:t>We know the force for a cube shaped parcel  of water</a:t>
            </a:r>
          </a:p>
        </p:txBody>
      </p:sp>
      <p:graphicFrame>
        <p:nvGraphicFramePr>
          <p:cNvPr id="8195" name="Object 44"/>
          <p:cNvGraphicFramePr>
            <a:graphicFrameLocks noChangeAspect="1"/>
          </p:cNvGraphicFramePr>
          <p:nvPr/>
        </p:nvGraphicFramePr>
        <p:xfrm>
          <a:off x="1187450" y="4178300"/>
          <a:ext cx="798513" cy="312738"/>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8195"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178300"/>
                        <a:ext cx="798513"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Text Box 45"/>
          <p:cNvSpPr txBox="1">
            <a:spLocks noChangeArrowheads="1"/>
          </p:cNvSpPr>
          <p:nvPr/>
        </p:nvSpPr>
        <p:spPr bwMode="auto">
          <a:xfrm>
            <a:off x="560388" y="4483100"/>
            <a:ext cx="3184525" cy="641350"/>
          </a:xfrm>
          <a:prstGeom prst="rect">
            <a:avLst/>
          </a:prstGeom>
          <a:noFill/>
          <a:ln w="9525">
            <a:noFill/>
            <a:miter lim="800000"/>
            <a:headEnd/>
            <a:tailEnd/>
          </a:ln>
        </p:spPr>
        <p:txBody>
          <a:bodyPr>
            <a:spAutoFit/>
          </a:bodyPr>
          <a:lstStyle/>
          <a:p>
            <a:r>
              <a:rPr lang="en-US"/>
              <a:t>Where M is the mass of the parcel of water</a:t>
            </a:r>
          </a:p>
        </p:txBody>
      </p:sp>
      <p:sp>
        <p:nvSpPr>
          <p:cNvPr id="8208" name="Text Box 46"/>
          <p:cNvSpPr txBox="1">
            <a:spLocks noChangeArrowheads="1"/>
          </p:cNvSpPr>
          <p:nvPr/>
        </p:nvSpPr>
        <p:spPr bwMode="auto">
          <a:xfrm>
            <a:off x="511175" y="5208588"/>
            <a:ext cx="7596188" cy="915987"/>
          </a:xfrm>
          <a:prstGeom prst="rect">
            <a:avLst/>
          </a:prstGeom>
          <a:noFill/>
          <a:ln w="9525">
            <a:noFill/>
            <a:miter lim="800000"/>
            <a:headEnd/>
            <a:tailEnd/>
          </a:ln>
        </p:spPr>
        <p:txBody>
          <a:bodyPr>
            <a:spAutoFit/>
          </a:bodyPr>
          <a:lstStyle/>
          <a:p>
            <a:endParaRPr lang="en-US"/>
          </a:p>
          <a:p>
            <a:r>
              <a:rPr lang="en-US"/>
              <a:t>By replacing the cube of water with a cube of another material, we have not changed the forces acting on the cube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393F64F-F1DB-C5A2-F18D-7A7A706E07FA}"/>
                  </a:ext>
                </a:extLst>
              </p:cNvPr>
              <p:cNvSpPr txBox="1"/>
              <p:nvPr/>
            </p:nvSpPr>
            <p:spPr>
              <a:xfrm>
                <a:off x="4224381" y="3233400"/>
                <a:ext cx="946798" cy="215444"/>
              </a:xfrm>
              <a:prstGeom prst="rect">
                <a:avLst/>
              </a:prstGeom>
              <a:noFill/>
            </p:spPr>
            <p:txBody>
              <a:bodyPr wrap="none" lIns="0" tIns="0" rIns="0" bIns="0" rtlCol="0">
                <a:spAutoFit/>
              </a:bodyPr>
              <a:lstStyle/>
              <a:p>
                <a:pPr/>
                <a14:m>
                  <m:oMathPara xmlns:m="http://schemas.openxmlformats.org/officeDocument/2006/math">
                    <m:oMath>
                      <m:sSub>
                        <m:sSubPr>
                          <m:ctrlPr>
                            <a:rPr lang="en-US" sz="1400" i="1" smtClean="0">
                              <a:latin typeface="Cambria Math" panose="02040503050406030204" pitchFamily="18" charset="0"/>
                            </a:rPr>
                          </m:ctrlPr>
                        </m:sSub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𝐹</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m:t>
                          </m:r>
                          <m:r>
                            <a:rPr lang="en-US" sz="1400" b="0" i="1" smtClean="0">
                              <a:latin typeface="Cambria Math" panose="02040503050406030204" pitchFamily="18" charset="0"/>
                            </a:rPr>
                            <m:t>𝑃</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𝐴</m:t>
                      </m:r>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𝑦</m:t>
                          </m:r>
                        </m:e>
                      </m:acc>
                    </m:oMath>
                  </m:oMathPara>
                </a14:m>
                <a:endParaRPr lang="en-US" sz="1400" dirty="0"/>
              </a:p>
            </p:txBody>
          </p:sp>
        </mc:Choice>
        <mc:Fallback xmlns="">
          <p:sp>
            <p:nvSpPr>
              <p:cNvPr id="6" name="TextBox 5">
                <a:extLst>
                  <a:ext uri="{FF2B5EF4-FFF2-40B4-BE49-F238E27FC236}">
                    <a16:creationId xmlns:a16="http://schemas.microsoft.com/office/drawing/2014/main" id="{B393F64F-F1DB-C5A2-F18D-7A7A706E07FA}"/>
                  </a:ext>
                </a:extLst>
              </p:cNvPr>
              <p:cNvSpPr txBox="1">
                <a:spLocks noRot="1" noChangeAspect="1" noMove="1" noResize="1" noEditPoints="1" noAdjustHandles="1" noChangeArrowheads="1" noChangeShapeType="1" noTextEdit="1"/>
              </p:cNvSpPr>
              <p:nvPr/>
            </p:nvSpPr>
            <p:spPr>
              <a:xfrm>
                <a:off x="4224381" y="3233400"/>
                <a:ext cx="946798" cy="215444"/>
              </a:xfrm>
              <a:prstGeom prst="rect">
                <a:avLst/>
              </a:prstGeom>
              <a:blipFill>
                <a:blip r:embed="rId6"/>
                <a:stretch>
                  <a:fillRect l="-3871" t="-13889" r="-26452" b="-222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AD4AFAB-1868-9E8F-F08E-E373E53E2E96}"/>
                  </a:ext>
                </a:extLst>
              </p:cNvPr>
              <p:cNvSpPr txBox="1"/>
              <p:nvPr/>
            </p:nvSpPr>
            <p:spPr>
              <a:xfrm>
                <a:off x="4649584" y="4922468"/>
                <a:ext cx="735586" cy="184666"/>
              </a:xfrm>
              <a:prstGeom prst="rect">
                <a:avLst/>
              </a:prstGeom>
              <a:noFill/>
            </p:spPr>
            <p:txBody>
              <a:bodyPr wrap="none" lIns="0" tIns="0" rIns="0" bIns="0" rtlCol="0">
                <a:spAutoFit/>
              </a:bodyPr>
              <a:lstStyle/>
              <a:p>
                <a:pPr/>
                <a14:m>
                  <m:oMathPara xmlns:m="http://schemas.openxmlformats.org/officeDocument/2006/math">
                    <m:oMath>
                      <m:sSub>
                        <m:sSubPr>
                          <m:ctrlPr>
                            <a:rPr lang="en-US" sz="1200" i="1" smtClean="0">
                              <a:latin typeface="Cambria Math" panose="02040503050406030204" pitchFamily="18" charset="0"/>
                            </a:rPr>
                          </m:ctrlPr>
                        </m:sSub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𝐹</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m:t>
                          </m:r>
                          <m:r>
                            <a:rPr lang="en-US" sz="1200" b="0" i="1" smtClean="0">
                              <a:latin typeface="Cambria Math" panose="02040503050406030204" pitchFamily="18" charset="0"/>
                            </a:rPr>
                            <m:t>𝑃</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𝐴</m:t>
                      </m:r>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𝑦</m:t>
                          </m:r>
                        </m:e>
                      </m:acc>
                    </m:oMath>
                  </m:oMathPara>
                </a14:m>
                <a:endParaRPr lang="en-US" sz="1200" dirty="0"/>
              </a:p>
            </p:txBody>
          </p:sp>
        </mc:Choice>
        <mc:Fallback xmlns="">
          <p:sp>
            <p:nvSpPr>
              <p:cNvPr id="7" name="TextBox 6">
                <a:extLst>
                  <a:ext uri="{FF2B5EF4-FFF2-40B4-BE49-F238E27FC236}">
                    <a16:creationId xmlns:a16="http://schemas.microsoft.com/office/drawing/2014/main" id="{8AD4AFAB-1868-9E8F-F08E-E373E53E2E96}"/>
                  </a:ext>
                </a:extLst>
              </p:cNvPr>
              <p:cNvSpPr txBox="1">
                <a:spLocks noRot="1" noChangeAspect="1" noMove="1" noResize="1" noEditPoints="1" noAdjustHandles="1" noChangeArrowheads="1" noChangeShapeType="1" noTextEdit="1"/>
              </p:cNvSpPr>
              <p:nvPr/>
            </p:nvSpPr>
            <p:spPr>
              <a:xfrm>
                <a:off x="4649584" y="4922468"/>
                <a:ext cx="735586" cy="184666"/>
              </a:xfrm>
              <a:prstGeom prst="rect">
                <a:avLst/>
              </a:prstGeom>
              <a:blipFill>
                <a:blip r:embed="rId7"/>
                <a:stretch>
                  <a:fillRect l="-5000" t="-22581" r="-33333" b="-19355"/>
                </a:stretch>
              </a:blipFill>
            </p:spPr>
            <p:txBody>
              <a:bodyPr/>
              <a:lstStyle/>
              <a:p>
                <a:r>
                  <a:rPr 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Date Placeholder 3"/>
          <p:cNvSpPr>
            <a:spLocks noGrp="1"/>
          </p:cNvSpPr>
          <p:nvPr>
            <p:ph type="dt" sz="quarter" idx="10"/>
          </p:nvPr>
        </p:nvSpPr>
        <p:spPr>
          <a:noFill/>
        </p:spPr>
        <p:txBody>
          <a:bodyPr/>
          <a:lstStyle/>
          <a:p>
            <a:r>
              <a:rPr lang="en-US"/>
              <a:t>Winter 2007</a:t>
            </a:r>
          </a:p>
        </p:txBody>
      </p:sp>
      <p:sp>
        <p:nvSpPr>
          <p:cNvPr id="9222" name="Footer Placeholder 4"/>
          <p:cNvSpPr>
            <a:spLocks noGrp="1"/>
          </p:cNvSpPr>
          <p:nvPr>
            <p:ph type="ftr" sz="quarter" idx="11"/>
          </p:nvPr>
        </p:nvSpPr>
        <p:spPr>
          <a:noFill/>
        </p:spPr>
        <p:txBody>
          <a:bodyPr/>
          <a:lstStyle/>
          <a:p>
            <a:r>
              <a:rPr lang="en-US"/>
              <a:t>R. Todd Lines</a:t>
            </a:r>
          </a:p>
        </p:txBody>
      </p:sp>
      <p:sp>
        <p:nvSpPr>
          <p:cNvPr id="9223" name="Slide Number Placeholder 5"/>
          <p:cNvSpPr>
            <a:spLocks noGrp="1"/>
          </p:cNvSpPr>
          <p:nvPr>
            <p:ph type="sldNum" sz="quarter" idx="12"/>
          </p:nvPr>
        </p:nvSpPr>
        <p:spPr>
          <a:noFill/>
        </p:spPr>
        <p:txBody>
          <a:bodyPr/>
          <a:lstStyle/>
          <a:p>
            <a:fld id="{28A214C6-D933-4EF9-81EA-C6A7E6B29911}" type="slidenum">
              <a:rPr lang="en-US" smtClean="0"/>
              <a:pPr/>
              <a:t>20</a:t>
            </a:fld>
            <a:endParaRPr lang="en-US"/>
          </a:p>
        </p:txBody>
      </p:sp>
      <p:sp>
        <p:nvSpPr>
          <p:cNvPr id="9224" name="Rectangle 2"/>
          <p:cNvSpPr>
            <a:spLocks noGrp="1" noChangeArrowheads="1"/>
          </p:cNvSpPr>
          <p:nvPr>
            <p:ph type="title"/>
          </p:nvPr>
        </p:nvSpPr>
        <p:spPr/>
        <p:txBody>
          <a:bodyPr/>
          <a:lstStyle/>
          <a:p>
            <a:pPr eaLnBrk="1" hangingPunct="1"/>
            <a:r>
              <a:rPr lang="en-US" sz="3200"/>
              <a:t>Case1: Totally Submerged Object</a:t>
            </a:r>
          </a:p>
        </p:txBody>
      </p:sp>
      <p:graphicFrame>
        <p:nvGraphicFramePr>
          <p:cNvPr id="9218" name="Object 3"/>
          <p:cNvGraphicFramePr>
            <a:graphicFrameLocks noGrp="1" noChangeAspect="1"/>
          </p:cNvGraphicFramePr>
          <p:nvPr>
            <p:ph idx="1"/>
          </p:nvPr>
        </p:nvGraphicFramePr>
        <p:xfrm>
          <a:off x="588963" y="1898650"/>
          <a:ext cx="2444750" cy="360363"/>
        </p:xfrm>
        <a:graphic>
          <a:graphicData uri="http://schemas.openxmlformats.org/presentationml/2006/ole">
            <mc:AlternateContent xmlns:mc="http://schemas.openxmlformats.org/markup-compatibility/2006">
              <mc:Choice xmlns:v="urn:schemas-microsoft-com:vml" Requires="v">
                <p:oleObj name="Equation" r:id="rId2" imgW="1638000" imgH="241200" progId="Equation.3">
                  <p:embed/>
                </p:oleObj>
              </mc:Choice>
              <mc:Fallback>
                <p:oleObj name="Equation" r:id="rId2" imgW="1638000" imgH="241200" progId="Equation.3">
                  <p:embed/>
                  <p:pic>
                    <p:nvPicPr>
                      <p:cNvPr id="921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63" y="1898650"/>
                        <a:ext cx="24447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
          <p:cNvGrpSpPr>
            <a:grpSpLocks/>
          </p:cNvGrpSpPr>
          <p:nvPr/>
        </p:nvGrpSpPr>
        <p:grpSpPr bwMode="auto">
          <a:xfrm>
            <a:off x="6089650" y="2487613"/>
            <a:ext cx="1900238" cy="2259012"/>
            <a:chOff x="3596" y="1780"/>
            <a:chExt cx="1416" cy="1624"/>
          </a:xfrm>
        </p:grpSpPr>
        <p:sp>
          <p:nvSpPr>
            <p:cNvPr id="9245" name="Freeform 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9246" name="Freeform 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9226" name="AutoShape 7"/>
          <p:cNvSpPr>
            <a:spLocks noChangeArrowheads="1"/>
          </p:cNvSpPr>
          <p:nvPr/>
        </p:nvSpPr>
        <p:spPr bwMode="auto">
          <a:xfrm>
            <a:off x="6310313" y="2903538"/>
            <a:ext cx="1458912" cy="1792287"/>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9227" name="Rectangle 8"/>
          <p:cNvSpPr>
            <a:spLocks noChangeArrowheads="1"/>
          </p:cNvSpPr>
          <p:nvPr/>
        </p:nvSpPr>
        <p:spPr bwMode="auto">
          <a:xfrm>
            <a:off x="6310313" y="2876550"/>
            <a:ext cx="1443037" cy="344488"/>
          </a:xfrm>
          <a:prstGeom prst="rect">
            <a:avLst/>
          </a:prstGeom>
          <a:solidFill>
            <a:schemeClr val="accent1"/>
          </a:solidFill>
          <a:ln w="9525">
            <a:noFill/>
            <a:miter lim="800000"/>
            <a:headEnd/>
            <a:tailEnd/>
          </a:ln>
        </p:spPr>
        <p:txBody>
          <a:bodyPr wrap="none" anchor="ctr"/>
          <a:lstStyle/>
          <a:p>
            <a:endParaRPr lang="en-US"/>
          </a:p>
        </p:txBody>
      </p:sp>
      <p:sp>
        <p:nvSpPr>
          <p:cNvPr id="9228" name="Freeform 9"/>
          <p:cNvSpPr>
            <a:spLocks/>
          </p:cNvSpPr>
          <p:nvPr/>
        </p:nvSpPr>
        <p:spPr bwMode="auto">
          <a:xfrm>
            <a:off x="6202363" y="2481263"/>
            <a:ext cx="838200" cy="2209800"/>
          </a:xfrm>
          <a:custGeom>
            <a:avLst/>
            <a:gdLst>
              <a:gd name="T0" fmla="*/ 0 w 624"/>
              <a:gd name="T1" fmla="*/ 0 h 1588"/>
              <a:gd name="T2" fmla="*/ 59104 w 624"/>
              <a:gd name="T3" fmla="*/ 22265 h 1588"/>
              <a:gd name="T4" fmla="*/ 85969 w 624"/>
              <a:gd name="T5" fmla="*/ 77927 h 1588"/>
              <a:gd name="T6" fmla="*/ 107462 w 624"/>
              <a:gd name="T7" fmla="*/ 200385 h 1588"/>
              <a:gd name="T8" fmla="*/ 118208 w 624"/>
              <a:gd name="T9" fmla="*/ 584456 h 1588"/>
              <a:gd name="T10" fmla="*/ 112835 w 624"/>
              <a:gd name="T11" fmla="*/ 1230141 h 1588"/>
              <a:gd name="T12" fmla="*/ 112835 w 624"/>
              <a:gd name="T13" fmla="*/ 1753368 h 1588"/>
              <a:gd name="T14" fmla="*/ 123581 w 624"/>
              <a:gd name="T15" fmla="*/ 2009415 h 1588"/>
              <a:gd name="T16" fmla="*/ 166565 w 624"/>
              <a:gd name="T17" fmla="*/ 2098475 h 1588"/>
              <a:gd name="T18" fmla="*/ 231042 w 624"/>
              <a:gd name="T19" fmla="*/ 2159704 h 1588"/>
              <a:gd name="T20" fmla="*/ 327758 w 624"/>
              <a:gd name="T21" fmla="*/ 2209800 h 1588"/>
              <a:gd name="T22" fmla="*/ 510442 w 624"/>
              <a:gd name="T23" fmla="*/ 2209800 h 1588"/>
              <a:gd name="T24" fmla="*/ 784469 w 624"/>
              <a:gd name="T25" fmla="*/ 2209800 h 1588"/>
              <a:gd name="T26" fmla="*/ 838200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29" name="Freeform 10"/>
          <p:cNvSpPr>
            <a:spLocks/>
          </p:cNvSpPr>
          <p:nvPr/>
        </p:nvSpPr>
        <p:spPr bwMode="auto">
          <a:xfrm flipH="1">
            <a:off x="7040563" y="2481263"/>
            <a:ext cx="836612" cy="2209800"/>
          </a:xfrm>
          <a:custGeom>
            <a:avLst/>
            <a:gdLst>
              <a:gd name="T0" fmla="*/ 0 w 624"/>
              <a:gd name="T1" fmla="*/ 0 h 1588"/>
              <a:gd name="T2" fmla="*/ 58992 w 624"/>
              <a:gd name="T3" fmla="*/ 22265 h 1588"/>
              <a:gd name="T4" fmla="*/ 85806 w 624"/>
              <a:gd name="T5" fmla="*/ 77927 h 1588"/>
              <a:gd name="T6" fmla="*/ 107258 w 624"/>
              <a:gd name="T7" fmla="*/ 200385 h 1588"/>
              <a:gd name="T8" fmla="*/ 117984 w 624"/>
              <a:gd name="T9" fmla="*/ 584456 h 1588"/>
              <a:gd name="T10" fmla="*/ 112621 w 624"/>
              <a:gd name="T11" fmla="*/ 1230141 h 1588"/>
              <a:gd name="T12" fmla="*/ 112621 w 624"/>
              <a:gd name="T13" fmla="*/ 1753368 h 1588"/>
              <a:gd name="T14" fmla="*/ 123347 w 624"/>
              <a:gd name="T15" fmla="*/ 2009415 h 1588"/>
              <a:gd name="T16" fmla="*/ 166250 w 624"/>
              <a:gd name="T17" fmla="*/ 2098475 h 1588"/>
              <a:gd name="T18" fmla="*/ 230605 w 624"/>
              <a:gd name="T19" fmla="*/ 2159704 h 1588"/>
              <a:gd name="T20" fmla="*/ 327137 w 624"/>
              <a:gd name="T21" fmla="*/ 2209800 h 1588"/>
              <a:gd name="T22" fmla="*/ 509475 w 624"/>
              <a:gd name="T23" fmla="*/ 2209800 h 1588"/>
              <a:gd name="T24" fmla="*/ 782983 w 624"/>
              <a:gd name="T25" fmla="*/ 2209800 h 1588"/>
              <a:gd name="T26" fmla="*/ 836612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30" name="Rectangle 11"/>
          <p:cNvSpPr>
            <a:spLocks noChangeArrowheads="1"/>
          </p:cNvSpPr>
          <p:nvPr/>
        </p:nvSpPr>
        <p:spPr bwMode="auto">
          <a:xfrm>
            <a:off x="6819900" y="3176588"/>
            <a:ext cx="509588" cy="890587"/>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9231" name="Line 12"/>
          <p:cNvSpPr>
            <a:spLocks noChangeShapeType="1"/>
          </p:cNvSpPr>
          <p:nvPr/>
        </p:nvSpPr>
        <p:spPr bwMode="auto">
          <a:xfrm flipH="1">
            <a:off x="6578600" y="4067175"/>
            <a:ext cx="182563" cy="0"/>
          </a:xfrm>
          <a:prstGeom prst="line">
            <a:avLst/>
          </a:prstGeom>
          <a:noFill/>
          <a:ln w="9525">
            <a:solidFill>
              <a:schemeClr val="tx1"/>
            </a:solidFill>
            <a:round/>
            <a:headEnd/>
            <a:tailEnd/>
          </a:ln>
        </p:spPr>
        <p:txBody>
          <a:bodyPr/>
          <a:lstStyle/>
          <a:p>
            <a:endParaRPr lang="en-US"/>
          </a:p>
        </p:txBody>
      </p:sp>
      <p:sp>
        <p:nvSpPr>
          <p:cNvPr id="9232" name="Line 13"/>
          <p:cNvSpPr>
            <a:spLocks noChangeShapeType="1"/>
          </p:cNvSpPr>
          <p:nvPr/>
        </p:nvSpPr>
        <p:spPr bwMode="auto">
          <a:xfrm>
            <a:off x="6561138" y="3227388"/>
            <a:ext cx="0" cy="817562"/>
          </a:xfrm>
          <a:prstGeom prst="line">
            <a:avLst/>
          </a:prstGeom>
          <a:noFill/>
          <a:ln w="9525">
            <a:solidFill>
              <a:schemeClr val="tx1"/>
            </a:solidFill>
            <a:round/>
            <a:headEnd type="triangle" w="med" len="med"/>
            <a:tailEnd type="triangle" w="med" len="med"/>
          </a:ln>
        </p:spPr>
        <p:txBody>
          <a:bodyPr/>
          <a:lstStyle/>
          <a:p>
            <a:endParaRPr lang="en-US"/>
          </a:p>
        </p:txBody>
      </p:sp>
      <p:sp>
        <p:nvSpPr>
          <p:cNvPr id="9233" name="Line 14"/>
          <p:cNvSpPr>
            <a:spLocks noChangeShapeType="1"/>
          </p:cNvSpPr>
          <p:nvPr/>
        </p:nvSpPr>
        <p:spPr bwMode="auto">
          <a:xfrm>
            <a:off x="7083425" y="4067175"/>
            <a:ext cx="0" cy="2794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4" name="Line 15"/>
          <p:cNvSpPr>
            <a:spLocks noChangeShapeType="1"/>
          </p:cNvSpPr>
          <p:nvPr/>
        </p:nvSpPr>
        <p:spPr bwMode="auto">
          <a:xfrm flipV="1">
            <a:off x="7067550" y="2878138"/>
            <a:ext cx="6350" cy="2921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5" name="Text Box 16"/>
          <p:cNvSpPr txBox="1">
            <a:spLocks noChangeArrowheads="1"/>
          </p:cNvSpPr>
          <p:nvPr/>
        </p:nvSpPr>
        <p:spPr bwMode="auto">
          <a:xfrm>
            <a:off x="6831013" y="4302125"/>
            <a:ext cx="394660" cy="369332"/>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9236" name="Text Box 17"/>
          <p:cNvSpPr txBox="1">
            <a:spLocks noChangeArrowheads="1"/>
          </p:cNvSpPr>
          <p:nvPr/>
        </p:nvSpPr>
        <p:spPr bwMode="auto">
          <a:xfrm>
            <a:off x="6429375" y="3471863"/>
            <a:ext cx="282575" cy="304800"/>
          </a:xfrm>
          <a:prstGeom prst="rect">
            <a:avLst/>
          </a:prstGeom>
          <a:solidFill>
            <a:schemeClr val="accent1"/>
          </a:solidFill>
          <a:ln w="9525">
            <a:noFill/>
            <a:miter lim="800000"/>
            <a:headEnd/>
            <a:tailEnd/>
          </a:ln>
        </p:spPr>
        <p:txBody>
          <a:bodyPr wrap="none">
            <a:spAutoFit/>
          </a:bodyPr>
          <a:lstStyle/>
          <a:p>
            <a:r>
              <a:rPr lang="en-US" sz="1400" i="1"/>
              <a:t>h</a:t>
            </a:r>
          </a:p>
        </p:txBody>
      </p:sp>
      <p:sp>
        <p:nvSpPr>
          <p:cNvPr id="9237" name="Rectangle 18"/>
          <p:cNvSpPr>
            <a:spLocks noChangeArrowheads="1"/>
          </p:cNvSpPr>
          <p:nvPr/>
        </p:nvSpPr>
        <p:spPr bwMode="auto">
          <a:xfrm>
            <a:off x="7116763" y="2835275"/>
            <a:ext cx="349250" cy="366713"/>
          </a:xfrm>
          <a:prstGeom prst="rect">
            <a:avLst/>
          </a:prstGeom>
          <a:noFill/>
          <a:ln w="9525">
            <a:noFill/>
            <a:miter lim="800000"/>
            <a:headEnd/>
            <a:tailEnd/>
          </a:ln>
        </p:spPr>
        <p:txBody>
          <a:bodyPr wrap="none">
            <a:spAutoFit/>
          </a:bodyPr>
          <a:lstStyle/>
          <a:p>
            <a:r>
              <a:rPr lang="en-US" b="1"/>
              <a:t>B</a:t>
            </a:r>
            <a:endParaRPr lang="en-US" b="1" i="1"/>
          </a:p>
        </p:txBody>
      </p:sp>
      <p:sp>
        <p:nvSpPr>
          <p:cNvPr id="9238" name="Text Box 19"/>
          <p:cNvSpPr txBox="1">
            <a:spLocks noChangeArrowheads="1"/>
          </p:cNvSpPr>
          <p:nvPr/>
        </p:nvSpPr>
        <p:spPr bwMode="auto">
          <a:xfrm>
            <a:off x="7991475" y="3124200"/>
            <a:ext cx="741363" cy="366713"/>
          </a:xfrm>
          <a:prstGeom prst="rect">
            <a:avLst/>
          </a:prstGeom>
          <a:noFill/>
          <a:ln w="9525">
            <a:noFill/>
            <a:miter lim="800000"/>
            <a:headEnd/>
            <a:tailEnd/>
          </a:ln>
        </p:spPr>
        <p:txBody>
          <a:bodyPr wrap="none">
            <a:spAutoFit/>
          </a:bodyPr>
          <a:lstStyle/>
          <a:p>
            <a:r>
              <a:rPr lang="en-US" i="1"/>
              <a:t>V</a:t>
            </a:r>
            <a:r>
              <a:rPr lang="en-US" i="1" baseline="-25000"/>
              <a:t>object</a:t>
            </a:r>
          </a:p>
        </p:txBody>
      </p:sp>
      <p:sp>
        <p:nvSpPr>
          <p:cNvPr id="9239" name="Freeform 20"/>
          <p:cNvSpPr>
            <a:spLocks/>
          </p:cNvSpPr>
          <p:nvPr/>
        </p:nvSpPr>
        <p:spPr bwMode="auto">
          <a:xfrm rot="1156648">
            <a:off x="7421563" y="3219450"/>
            <a:ext cx="433387" cy="654050"/>
          </a:xfrm>
          <a:custGeom>
            <a:avLst/>
            <a:gdLst>
              <a:gd name="T0" fmla="*/ 433387 w 292"/>
              <a:gd name="T1" fmla="*/ 0 h 430"/>
              <a:gd name="T2" fmla="*/ 161778 w 292"/>
              <a:gd name="T3" fmla="*/ 333109 h 430"/>
              <a:gd name="T4" fmla="*/ 311682 w 292"/>
              <a:gd name="T5" fmla="*/ 362009 h 430"/>
              <a:gd name="T6" fmla="*/ 0 w 292"/>
              <a:gd name="T7" fmla="*/ 65405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9240" name="AutoShape 21"/>
          <p:cNvSpPr>
            <a:spLocks noChangeArrowheads="1"/>
          </p:cNvSpPr>
          <p:nvPr/>
        </p:nvSpPr>
        <p:spPr bwMode="auto">
          <a:xfrm>
            <a:off x="522288" y="506730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motion of an object submerged in a fluid is determined only by the densities of the object and the fluid</a:t>
            </a:r>
          </a:p>
        </p:txBody>
      </p:sp>
      <p:graphicFrame>
        <p:nvGraphicFramePr>
          <p:cNvPr id="9219" name="Object 22"/>
          <p:cNvGraphicFramePr>
            <a:graphicFrameLocks noChangeAspect="1"/>
          </p:cNvGraphicFramePr>
          <p:nvPr/>
        </p:nvGraphicFramePr>
        <p:xfrm>
          <a:off x="560388" y="3740150"/>
          <a:ext cx="3179762" cy="522288"/>
        </p:xfrm>
        <a:graphic>
          <a:graphicData uri="http://schemas.openxmlformats.org/presentationml/2006/ole">
            <mc:AlternateContent xmlns:mc="http://schemas.openxmlformats.org/markup-compatibility/2006">
              <mc:Choice xmlns:v="urn:schemas-microsoft-com:vml" Requires="v">
                <p:oleObj name="Equation" r:id="rId4" imgW="1447800" imgH="241300" progId="Equation.3">
                  <p:embed/>
                </p:oleObj>
              </mc:Choice>
              <mc:Fallback>
                <p:oleObj name="Equation" r:id="rId4" imgW="1447800" imgH="241300" progId="Equation.3">
                  <p:embed/>
                  <p:pic>
                    <p:nvPicPr>
                      <p:cNvPr id="9219"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3740150"/>
                        <a:ext cx="317976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23"/>
          <p:cNvGraphicFramePr>
            <a:graphicFrameLocks noChangeAspect="1"/>
          </p:cNvGraphicFramePr>
          <p:nvPr/>
        </p:nvGraphicFramePr>
        <p:xfrm>
          <a:off x="5159375" y="1493838"/>
          <a:ext cx="3506788" cy="698500"/>
        </p:xfrm>
        <a:graphic>
          <a:graphicData uri="http://schemas.openxmlformats.org/presentationml/2006/ole">
            <mc:AlternateContent xmlns:mc="http://schemas.openxmlformats.org/markup-compatibility/2006">
              <mc:Choice xmlns:v="urn:schemas-microsoft-com:vml" Requires="v">
                <p:oleObj name="Equation" r:id="rId6" imgW="2438280" imgH="482400" progId="Equation.3">
                  <p:embed/>
                </p:oleObj>
              </mc:Choice>
              <mc:Fallback>
                <p:oleObj name="Equation" r:id="rId6" imgW="2438280" imgH="482400" progId="Equation.3">
                  <p:embed/>
                  <p:pic>
                    <p:nvPicPr>
                      <p:cNvPr id="922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9375" y="1493838"/>
                        <a:ext cx="3506788"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1" name="Rectangle 24"/>
          <p:cNvSpPr>
            <a:spLocks noChangeArrowheads="1"/>
          </p:cNvSpPr>
          <p:nvPr/>
        </p:nvSpPr>
        <p:spPr bwMode="auto">
          <a:xfrm>
            <a:off x="269875" y="1411288"/>
            <a:ext cx="3840163" cy="581025"/>
          </a:xfrm>
          <a:prstGeom prst="rect">
            <a:avLst/>
          </a:prstGeom>
          <a:noFill/>
          <a:ln w="9525">
            <a:noFill/>
            <a:miter lim="800000"/>
            <a:headEnd/>
            <a:tailEnd/>
          </a:ln>
        </p:spPr>
        <p:txBody>
          <a:bodyPr anchor="ctr">
            <a:spAutoFit/>
          </a:bodyPr>
          <a:lstStyle/>
          <a:p>
            <a:r>
              <a:rPr lang="en-US" sz="1600">
                <a:cs typeface="Times New Roman" pitchFamily="18" charset="0"/>
              </a:rPr>
              <a:t>The magnitude of the buoyant force is</a:t>
            </a:r>
            <a:endParaRPr lang="en-US" sz="1600"/>
          </a:p>
          <a:p>
            <a:pPr eaLnBrk="0" hangingPunct="0"/>
            <a:endParaRPr lang="en-US" sz="1600"/>
          </a:p>
        </p:txBody>
      </p:sp>
      <p:sp>
        <p:nvSpPr>
          <p:cNvPr id="9242" name="Rectangle 25"/>
          <p:cNvSpPr>
            <a:spLocks noChangeArrowheads="1"/>
          </p:cNvSpPr>
          <p:nvPr/>
        </p:nvSpPr>
        <p:spPr bwMode="auto">
          <a:xfrm>
            <a:off x="430213" y="2603500"/>
            <a:ext cx="4292600" cy="1069975"/>
          </a:xfrm>
          <a:prstGeom prst="rect">
            <a:avLst/>
          </a:prstGeom>
          <a:noFill/>
          <a:ln w="9525">
            <a:noFill/>
            <a:miter lim="800000"/>
            <a:headEnd/>
            <a:tailEnd/>
          </a:ln>
        </p:spPr>
        <p:txBody>
          <a:bodyPr anchor="ctr">
            <a:spAutoFit/>
          </a:bodyPr>
          <a:lstStyle/>
          <a:p>
            <a:r>
              <a:rPr lang="en-US" sz="1600">
                <a:cs typeface="Times New Roman" pitchFamily="18" charset="0"/>
              </a:rPr>
              <a:t>Think Archimedes: The weight of the fluid displaced by the object. So we have the volume of the object as part of our equation</a:t>
            </a:r>
            <a:endParaRPr lang="en-US" sz="1600"/>
          </a:p>
          <a:p>
            <a:pPr eaLnBrk="0" hangingPunct="0"/>
            <a:r>
              <a:rPr lang="en-US" sz="1600">
                <a:cs typeface="Times New Roman" pitchFamily="18" charset="0"/>
              </a:rPr>
              <a:t>If the object has mass  </a:t>
            </a:r>
            <a:endParaRPr lang="en-US" sz="1600"/>
          </a:p>
        </p:txBody>
      </p:sp>
      <p:sp>
        <p:nvSpPr>
          <p:cNvPr id="9243" name="Rectangle 26"/>
          <p:cNvSpPr>
            <a:spLocks noChangeArrowheads="1"/>
          </p:cNvSpPr>
          <p:nvPr/>
        </p:nvSpPr>
        <p:spPr bwMode="auto">
          <a:xfrm>
            <a:off x="544513" y="4389438"/>
            <a:ext cx="1643062" cy="336550"/>
          </a:xfrm>
          <a:prstGeom prst="rect">
            <a:avLst/>
          </a:prstGeom>
          <a:noFill/>
          <a:ln w="9525">
            <a:noFill/>
            <a:miter lim="800000"/>
            <a:headEnd/>
            <a:tailEnd/>
          </a:ln>
        </p:spPr>
        <p:txBody>
          <a:bodyPr wrap="none" anchor="ctr">
            <a:spAutoFit/>
          </a:bodyPr>
          <a:lstStyle/>
          <a:p>
            <a:r>
              <a:rPr lang="en-US" sz="1600">
                <a:cs typeface="Times New Roman" pitchFamily="18" charset="0"/>
              </a:rPr>
              <a:t>The net force is </a:t>
            </a:r>
            <a:endParaRPr lang="en-US" sz="1600"/>
          </a:p>
        </p:txBody>
      </p:sp>
      <p:sp>
        <p:nvSpPr>
          <p:cNvPr id="9244" name="Line 27"/>
          <p:cNvSpPr>
            <a:spLocks noChangeShapeType="1"/>
          </p:cNvSpPr>
          <p:nvPr/>
        </p:nvSpPr>
        <p:spPr bwMode="auto">
          <a:xfrm flipH="1">
            <a:off x="6573838" y="3162300"/>
            <a:ext cx="182562" cy="0"/>
          </a:xfrm>
          <a:prstGeom prst="line">
            <a:avLst/>
          </a:prstGeom>
          <a:noFill/>
          <a:ln w="9525">
            <a:solidFill>
              <a:schemeClr val="tx1"/>
            </a:solidFill>
            <a:round/>
            <a:headEnd/>
            <a:tailEnd/>
          </a:ln>
        </p:spPr>
        <p:txBody>
          <a:bodyP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3"/>
          <p:cNvSpPr>
            <a:spLocks noGrp="1"/>
          </p:cNvSpPr>
          <p:nvPr>
            <p:ph type="dt" sz="quarter" idx="10"/>
          </p:nvPr>
        </p:nvSpPr>
        <p:spPr>
          <a:noFill/>
        </p:spPr>
        <p:txBody>
          <a:bodyPr/>
          <a:lstStyle/>
          <a:p>
            <a:r>
              <a:rPr lang="en-US"/>
              <a:t>Winter 2007</a:t>
            </a:r>
          </a:p>
        </p:txBody>
      </p:sp>
      <p:sp>
        <p:nvSpPr>
          <p:cNvPr id="29699" name="Footer Placeholder 4"/>
          <p:cNvSpPr>
            <a:spLocks noGrp="1"/>
          </p:cNvSpPr>
          <p:nvPr>
            <p:ph type="ftr" sz="quarter" idx="11"/>
          </p:nvPr>
        </p:nvSpPr>
        <p:spPr>
          <a:noFill/>
        </p:spPr>
        <p:txBody>
          <a:bodyPr/>
          <a:lstStyle/>
          <a:p>
            <a:r>
              <a:rPr lang="en-US"/>
              <a:t>R. Todd Lines</a:t>
            </a:r>
          </a:p>
        </p:txBody>
      </p:sp>
      <p:sp>
        <p:nvSpPr>
          <p:cNvPr id="29700" name="Slide Number Placeholder 5"/>
          <p:cNvSpPr>
            <a:spLocks noGrp="1"/>
          </p:cNvSpPr>
          <p:nvPr>
            <p:ph type="sldNum" sz="quarter" idx="12"/>
          </p:nvPr>
        </p:nvSpPr>
        <p:spPr>
          <a:noFill/>
        </p:spPr>
        <p:txBody>
          <a:bodyPr/>
          <a:lstStyle/>
          <a:p>
            <a:fld id="{A62CECFB-F493-4C14-B032-80978C13E503}" type="slidenum">
              <a:rPr lang="en-US" smtClean="0"/>
              <a:pPr/>
              <a:t>21</a:t>
            </a:fld>
            <a:endParaRPr lang="en-US"/>
          </a:p>
        </p:txBody>
      </p:sp>
      <p:sp>
        <p:nvSpPr>
          <p:cNvPr id="29701" name="Rectangle 2"/>
          <p:cNvSpPr>
            <a:spLocks noGrp="1" noChangeArrowheads="1"/>
          </p:cNvSpPr>
          <p:nvPr>
            <p:ph type="title"/>
          </p:nvPr>
        </p:nvSpPr>
        <p:spPr/>
        <p:txBody>
          <a:bodyPr/>
          <a:lstStyle/>
          <a:p>
            <a:pPr eaLnBrk="1" hangingPunct="1"/>
            <a:r>
              <a:rPr lang="en-US"/>
              <a:t>Buoyant Forces</a:t>
            </a:r>
          </a:p>
        </p:txBody>
      </p:sp>
      <p:sp>
        <p:nvSpPr>
          <p:cNvPr id="29702" name="Rectangle 3"/>
          <p:cNvSpPr>
            <a:spLocks noGrp="1" noChangeArrowheads="1"/>
          </p:cNvSpPr>
          <p:nvPr>
            <p:ph type="body" idx="1"/>
          </p:nvPr>
        </p:nvSpPr>
        <p:spPr>
          <a:xfrm>
            <a:off x="557213" y="1541463"/>
            <a:ext cx="3759200" cy="4525962"/>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4" name="Group 4">
            <a:extLst>
              <a:ext uri="{FF2B5EF4-FFF2-40B4-BE49-F238E27FC236}">
                <a16:creationId xmlns:a16="http://schemas.microsoft.com/office/drawing/2014/main" id="{41A30C95-20D6-4712-9496-FDB68976A711}"/>
              </a:ext>
            </a:extLst>
          </p:cNvPr>
          <p:cNvGrpSpPr>
            <a:grpSpLocks/>
          </p:cNvGrpSpPr>
          <p:nvPr/>
        </p:nvGrpSpPr>
        <p:grpSpPr bwMode="auto">
          <a:xfrm>
            <a:off x="4324350" y="2506663"/>
            <a:ext cx="4195763" cy="3154362"/>
            <a:chOff x="2724" y="1579"/>
            <a:chExt cx="2643" cy="1987"/>
          </a:xfrm>
        </p:grpSpPr>
        <p:grpSp>
          <p:nvGrpSpPr>
            <p:cNvPr id="25" name="Group 5">
              <a:extLst>
                <a:ext uri="{FF2B5EF4-FFF2-40B4-BE49-F238E27FC236}">
                  <a16:creationId xmlns:a16="http://schemas.microsoft.com/office/drawing/2014/main" id="{AEC88641-7251-41E4-8A47-3158E915A1AE}"/>
                </a:ext>
              </a:extLst>
            </p:cNvPr>
            <p:cNvGrpSpPr>
              <a:grpSpLocks/>
            </p:cNvGrpSpPr>
            <p:nvPr/>
          </p:nvGrpSpPr>
          <p:grpSpPr bwMode="auto">
            <a:xfrm>
              <a:off x="3941" y="1579"/>
              <a:ext cx="1426" cy="1987"/>
              <a:chOff x="3593" y="1643"/>
              <a:chExt cx="1426" cy="1987"/>
            </a:xfrm>
          </p:grpSpPr>
          <p:sp>
            <p:nvSpPr>
              <p:cNvPr id="32" name="Freeform 6">
                <a:extLst>
                  <a:ext uri="{FF2B5EF4-FFF2-40B4-BE49-F238E27FC236}">
                    <a16:creationId xmlns:a16="http://schemas.microsoft.com/office/drawing/2014/main" id="{93A522B1-8815-413D-947C-BE295C904E9C}"/>
                  </a:ext>
                </a:extLst>
              </p:cNvPr>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33" name="Rectangle 7">
                <a:extLst>
                  <a:ext uri="{FF2B5EF4-FFF2-40B4-BE49-F238E27FC236}">
                    <a16:creationId xmlns:a16="http://schemas.microsoft.com/office/drawing/2014/main" id="{496DC860-C6C5-4D09-9464-B2024103917F}"/>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34" name="Freeform 8">
                <a:extLst>
                  <a:ext uri="{FF2B5EF4-FFF2-40B4-BE49-F238E27FC236}">
                    <a16:creationId xmlns:a16="http://schemas.microsoft.com/office/drawing/2014/main" id="{C570F2D8-DFB1-4E90-A94B-AE17A933F879}"/>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35" name="Oval 9">
                <a:extLst>
                  <a:ext uri="{FF2B5EF4-FFF2-40B4-BE49-F238E27FC236}">
                    <a16:creationId xmlns:a16="http://schemas.microsoft.com/office/drawing/2014/main" id="{8E0CFCA4-D94A-4834-A155-396C3C772405}"/>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36" name="Oval 10">
                <a:extLst>
                  <a:ext uri="{FF2B5EF4-FFF2-40B4-BE49-F238E27FC236}">
                    <a16:creationId xmlns:a16="http://schemas.microsoft.com/office/drawing/2014/main" id="{21FF5033-1FAC-41F1-9B89-305FE6BEC326}"/>
                  </a:ext>
                </a:extLst>
              </p:cNvPr>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37" name="Line 11">
                <a:extLst>
                  <a:ext uri="{FF2B5EF4-FFF2-40B4-BE49-F238E27FC236}">
                    <a16:creationId xmlns:a16="http://schemas.microsoft.com/office/drawing/2014/main" id="{AD1C16A8-A9D6-4DFF-B0DB-A73B63EE3A45}"/>
                  </a:ext>
                </a:extLst>
              </p:cNvPr>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8" name="Line 12">
                <a:extLst>
                  <a:ext uri="{FF2B5EF4-FFF2-40B4-BE49-F238E27FC236}">
                    <a16:creationId xmlns:a16="http://schemas.microsoft.com/office/drawing/2014/main" id="{9C892DDD-5119-48EF-ACB4-5454A236CFF9}"/>
                  </a:ext>
                </a:extLst>
              </p:cNvPr>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9" name="Text Box 13">
                <a:extLst>
                  <a:ext uri="{FF2B5EF4-FFF2-40B4-BE49-F238E27FC236}">
                    <a16:creationId xmlns:a16="http://schemas.microsoft.com/office/drawing/2014/main" id="{B8220B3D-321C-474C-8B0A-81ABF696427A}"/>
                  </a:ext>
                </a:extLst>
              </p:cNvPr>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40" name="Text Box 14">
                <a:extLst>
                  <a:ext uri="{FF2B5EF4-FFF2-40B4-BE49-F238E27FC236}">
                    <a16:creationId xmlns:a16="http://schemas.microsoft.com/office/drawing/2014/main" id="{F6AC144B-A182-4F6A-8B81-8CAE20608141}"/>
                  </a:ext>
                </a:extLst>
              </p:cNvPr>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26" name="Group 15">
              <a:extLst>
                <a:ext uri="{FF2B5EF4-FFF2-40B4-BE49-F238E27FC236}">
                  <a16:creationId xmlns:a16="http://schemas.microsoft.com/office/drawing/2014/main" id="{08A82624-BAF3-4CEC-8B93-7E6FCC717187}"/>
                </a:ext>
              </a:extLst>
            </p:cNvPr>
            <p:cNvGrpSpPr>
              <a:grpSpLocks/>
            </p:cNvGrpSpPr>
            <p:nvPr/>
          </p:nvGrpSpPr>
          <p:grpSpPr bwMode="auto">
            <a:xfrm rot="1590330">
              <a:off x="2724" y="2134"/>
              <a:ext cx="878" cy="860"/>
              <a:chOff x="2213" y="2234"/>
              <a:chExt cx="878" cy="860"/>
            </a:xfrm>
          </p:grpSpPr>
          <p:sp>
            <p:nvSpPr>
              <p:cNvPr id="27" name="Oval 16">
                <a:extLst>
                  <a:ext uri="{FF2B5EF4-FFF2-40B4-BE49-F238E27FC236}">
                    <a16:creationId xmlns:a16="http://schemas.microsoft.com/office/drawing/2014/main" id="{DFE0A679-8565-472A-B21F-198EB01EE82F}"/>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 name="Arc 17">
                <a:extLst>
                  <a:ext uri="{FF2B5EF4-FFF2-40B4-BE49-F238E27FC236}">
                    <a16:creationId xmlns:a16="http://schemas.microsoft.com/office/drawing/2014/main" id="{5D78DCF1-C892-4CB0-90E1-B70DDFF648F4}"/>
                  </a:ext>
                </a:extLst>
              </p:cNvPr>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9" name="Arc 18">
                <a:extLst>
                  <a:ext uri="{FF2B5EF4-FFF2-40B4-BE49-F238E27FC236}">
                    <a16:creationId xmlns:a16="http://schemas.microsoft.com/office/drawing/2014/main" id="{3250A83A-2D0A-4D3E-ABA2-C8C14EB07219}"/>
                  </a:ext>
                </a:extLst>
              </p:cNvPr>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30" name="Arc 19">
                <a:extLst>
                  <a:ext uri="{FF2B5EF4-FFF2-40B4-BE49-F238E27FC236}">
                    <a16:creationId xmlns:a16="http://schemas.microsoft.com/office/drawing/2014/main" id="{60AC11E4-ED45-44F5-88BE-9424B7A8FDC4}"/>
                  </a:ext>
                </a:extLst>
              </p:cNvPr>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31" name="Arc 20">
                <a:extLst>
                  <a:ext uri="{FF2B5EF4-FFF2-40B4-BE49-F238E27FC236}">
                    <a16:creationId xmlns:a16="http://schemas.microsoft.com/office/drawing/2014/main" id="{9E1E88B3-D246-4D27-9E98-9C18412E13F6}"/>
                  </a:ext>
                </a:extLst>
              </p:cNvPr>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Date Placeholder 3"/>
          <p:cNvSpPr>
            <a:spLocks noGrp="1"/>
          </p:cNvSpPr>
          <p:nvPr>
            <p:ph type="dt" sz="quarter" idx="10"/>
          </p:nvPr>
        </p:nvSpPr>
        <p:spPr>
          <a:noFill/>
        </p:spPr>
        <p:txBody>
          <a:bodyPr/>
          <a:lstStyle/>
          <a:p>
            <a:r>
              <a:rPr lang="en-US"/>
              <a:t>Winter 2007</a:t>
            </a:r>
          </a:p>
        </p:txBody>
      </p:sp>
      <p:sp>
        <p:nvSpPr>
          <p:cNvPr id="10248" name="Footer Placeholder 4"/>
          <p:cNvSpPr>
            <a:spLocks noGrp="1"/>
          </p:cNvSpPr>
          <p:nvPr>
            <p:ph type="ftr" sz="quarter" idx="11"/>
          </p:nvPr>
        </p:nvSpPr>
        <p:spPr>
          <a:noFill/>
        </p:spPr>
        <p:txBody>
          <a:bodyPr/>
          <a:lstStyle/>
          <a:p>
            <a:r>
              <a:rPr lang="en-US"/>
              <a:t>R. Todd Lines</a:t>
            </a:r>
          </a:p>
        </p:txBody>
      </p:sp>
      <p:sp>
        <p:nvSpPr>
          <p:cNvPr id="10249" name="Slide Number Placeholder 5"/>
          <p:cNvSpPr>
            <a:spLocks noGrp="1"/>
          </p:cNvSpPr>
          <p:nvPr>
            <p:ph type="sldNum" sz="quarter" idx="12"/>
          </p:nvPr>
        </p:nvSpPr>
        <p:spPr>
          <a:noFill/>
        </p:spPr>
        <p:txBody>
          <a:bodyPr/>
          <a:lstStyle/>
          <a:p>
            <a:fld id="{587A514C-FB5C-4F11-8D28-8BE97172F536}" type="slidenum">
              <a:rPr lang="en-US" smtClean="0"/>
              <a:pPr/>
              <a:t>22</a:t>
            </a:fld>
            <a:endParaRPr lang="en-US"/>
          </a:p>
        </p:txBody>
      </p:sp>
      <p:sp>
        <p:nvSpPr>
          <p:cNvPr id="10250" name="Rectangle 2"/>
          <p:cNvSpPr>
            <a:spLocks noGrp="1" noChangeArrowheads="1"/>
          </p:cNvSpPr>
          <p:nvPr>
            <p:ph type="title"/>
          </p:nvPr>
        </p:nvSpPr>
        <p:spPr/>
        <p:txBody>
          <a:bodyPr/>
          <a:lstStyle/>
          <a:p>
            <a:pPr eaLnBrk="1" hangingPunct="1"/>
            <a:r>
              <a:rPr lang="en-US" sz="2800"/>
              <a:t>Case 2: Partially Submerged Object</a:t>
            </a:r>
          </a:p>
        </p:txBody>
      </p:sp>
      <p:sp>
        <p:nvSpPr>
          <p:cNvPr id="10251" name="Rectangle 3"/>
          <p:cNvSpPr>
            <a:spLocks noGrp="1" noChangeArrowheads="1"/>
          </p:cNvSpPr>
          <p:nvPr>
            <p:ph type="body" idx="1"/>
          </p:nvPr>
        </p:nvSpPr>
        <p:spPr>
          <a:xfrm>
            <a:off x="254000" y="1208088"/>
            <a:ext cx="5849938" cy="4525962"/>
          </a:xfrm>
        </p:spPr>
        <p:txBody>
          <a:bodyPr/>
          <a:lstStyle/>
          <a:p>
            <a:pPr eaLnBrk="1" hangingPunct="1">
              <a:lnSpc>
                <a:spcPct val="80000"/>
              </a:lnSpc>
            </a:pPr>
            <a:r>
              <a:rPr lang="en-US" sz="2400" dirty="0"/>
              <a:t>Assume                   and static equilibrium.</a:t>
            </a:r>
          </a:p>
          <a:p>
            <a:pPr eaLnBrk="1" hangingPunct="1">
              <a:lnSpc>
                <a:spcPct val="80000"/>
              </a:lnSpc>
            </a:pPr>
            <a:endParaRPr lang="en-US" sz="2400" dirty="0"/>
          </a:p>
          <a:p>
            <a:pPr eaLnBrk="1" hangingPunct="1">
              <a:lnSpc>
                <a:spcPct val="80000"/>
              </a:lnSpc>
            </a:pPr>
            <a:endParaRPr lang="en-US" sz="2400" dirty="0"/>
          </a:p>
          <a:p>
            <a:pPr eaLnBrk="1" hangingPunct="1">
              <a:lnSpc>
                <a:spcPct val="80000"/>
              </a:lnSpc>
            </a:pPr>
            <a:r>
              <a:rPr lang="en-US" sz="2400" dirty="0"/>
              <a:t>We define </a:t>
            </a:r>
            <a:r>
              <a:rPr lang="en-US" sz="2400" i="1" dirty="0" err="1"/>
              <a:t>V</a:t>
            </a:r>
            <a:r>
              <a:rPr lang="en-US" sz="2400" i="1" baseline="-25000" dirty="0" err="1"/>
              <a:t>fluid</a:t>
            </a:r>
            <a:r>
              <a:rPr lang="en-US" sz="2400" dirty="0"/>
              <a:t> as the volume of the fluid displaced by the object. </a:t>
            </a:r>
          </a:p>
          <a:p>
            <a:pPr eaLnBrk="1" hangingPunct="1">
              <a:lnSpc>
                <a:spcPct val="80000"/>
              </a:lnSpc>
            </a:pPr>
            <a:endParaRPr lang="en-US" sz="2400" dirty="0"/>
          </a:p>
          <a:p>
            <a:pPr eaLnBrk="1" hangingPunct="1">
              <a:lnSpc>
                <a:spcPct val="80000"/>
              </a:lnSpc>
            </a:pPr>
            <a:endParaRPr lang="en-US" sz="2400" dirty="0"/>
          </a:p>
          <a:p>
            <a:pPr eaLnBrk="1" hangingPunct="1">
              <a:lnSpc>
                <a:spcPct val="80000"/>
              </a:lnSpc>
            </a:pPr>
            <a:r>
              <a:rPr lang="en-US" sz="2400" dirty="0"/>
              <a:t>Then</a:t>
            </a:r>
          </a:p>
          <a:p>
            <a:pPr eaLnBrk="1" hangingPunct="1">
              <a:lnSpc>
                <a:spcPct val="80000"/>
              </a:lnSpc>
            </a:pPr>
            <a:endParaRPr lang="en-US" sz="2400" dirty="0"/>
          </a:p>
        </p:txBody>
      </p:sp>
      <p:grpSp>
        <p:nvGrpSpPr>
          <p:cNvPr id="2" name="Group 4"/>
          <p:cNvGrpSpPr>
            <a:grpSpLocks/>
          </p:cNvGrpSpPr>
          <p:nvPr/>
        </p:nvGrpSpPr>
        <p:grpSpPr bwMode="auto">
          <a:xfrm>
            <a:off x="5969000" y="2105025"/>
            <a:ext cx="2878138" cy="2640013"/>
            <a:chOff x="3760" y="1326"/>
            <a:chExt cx="1813" cy="1663"/>
          </a:xfrm>
        </p:grpSpPr>
        <p:grpSp>
          <p:nvGrpSpPr>
            <p:cNvPr id="3" name="Group 5"/>
            <p:cNvGrpSpPr>
              <a:grpSpLocks/>
            </p:cNvGrpSpPr>
            <p:nvPr/>
          </p:nvGrpSpPr>
          <p:grpSpPr bwMode="auto">
            <a:xfrm>
              <a:off x="3760" y="1566"/>
              <a:ext cx="1197" cy="1423"/>
              <a:chOff x="3596" y="1780"/>
              <a:chExt cx="1416" cy="1624"/>
            </a:xfrm>
          </p:grpSpPr>
          <p:sp>
            <p:nvSpPr>
              <p:cNvPr id="10268"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10269"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0256" name="AutoShape 8"/>
            <p:cNvSpPr>
              <a:spLocks noChangeArrowheads="1"/>
            </p:cNvSpPr>
            <p:nvPr/>
          </p:nvSpPr>
          <p:spPr bwMode="auto">
            <a:xfrm>
              <a:off x="3899" y="1828"/>
              <a:ext cx="919" cy="1129"/>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10257" name="Rectangle 9"/>
            <p:cNvSpPr>
              <a:spLocks noChangeArrowheads="1"/>
            </p:cNvSpPr>
            <p:nvPr/>
          </p:nvSpPr>
          <p:spPr bwMode="auto">
            <a:xfrm>
              <a:off x="3899" y="1811"/>
              <a:ext cx="909" cy="217"/>
            </a:xfrm>
            <a:prstGeom prst="rect">
              <a:avLst/>
            </a:prstGeom>
            <a:solidFill>
              <a:schemeClr val="accent1"/>
            </a:solidFill>
            <a:ln w="9525">
              <a:noFill/>
              <a:miter lim="800000"/>
              <a:headEnd/>
              <a:tailEnd/>
            </a:ln>
          </p:spPr>
          <p:txBody>
            <a:bodyPr wrap="none" anchor="ctr"/>
            <a:lstStyle/>
            <a:p>
              <a:endParaRPr lang="en-US"/>
            </a:p>
          </p:txBody>
        </p:sp>
        <p:sp>
          <p:nvSpPr>
            <p:cNvPr id="10258" name="Freeform 10"/>
            <p:cNvSpPr>
              <a:spLocks/>
            </p:cNvSpPr>
            <p:nvPr/>
          </p:nvSpPr>
          <p:spPr bwMode="auto">
            <a:xfrm>
              <a:off x="3831" y="1562"/>
              <a:ext cx="528"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6 w 624"/>
                <a:gd name="T19" fmla="*/ 1360 h 1588"/>
                <a:gd name="T20" fmla="*/ 206 w 624"/>
                <a:gd name="T21" fmla="*/ 1392 h 1588"/>
                <a:gd name="T22" fmla="*/ 322 w 624"/>
                <a:gd name="T23" fmla="*/ 1392 h 1588"/>
                <a:gd name="T24" fmla="*/ 494 w 624"/>
                <a:gd name="T25" fmla="*/ 1392 h 1588"/>
                <a:gd name="T26" fmla="*/ 528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59" name="Freeform 11"/>
            <p:cNvSpPr>
              <a:spLocks/>
            </p:cNvSpPr>
            <p:nvPr/>
          </p:nvSpPr>
          <p:spPr bwMode="auto">
            <a:xfrm flipH="1">
              <a:off x="4359" y="1562"/>
              <a:ext cx="527"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5 w 624"/>
                <a:gd name="T19" fmla="*/ 1360 h 1588"/>
                <a:gd name="T20" fmla="*/ 206 w 624"/>
                <a:gd name="T21" fmla="*/ 1392 h 1588"/>
                <a:gd name="T22" fmla="*/ 321 w 624"/>
                <a:gd name="T23" fmla="*/ 1392 h 1588"/>
                <a:gd name="T24" fmla="*/ 493 w 624"/>
                <a:gd name="T25" fmla="*/ 1392 h 1588"/>
                <a:gd name="T26" fmla="*/ 527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60" name="Rectangle 12"/>
            <p:cNvSpPr>
              <a:spLocks noChangeArrowheads="1"/>
            </p:cNvSpPr>
            <p:nvPr/>
          </p:nvSpPr>
          <p:spPr bwMode="auto">
            <a:xfrm>
              <a:off x="4220" y="1541"/>
              <a:ext cx="321" cy="561"/>
            </a:xfrm>
            <a:prstGeom prst="rect">
              <a:avLst/>
            </a:prstGeom>
            <a:solidFill>
              <a:srgbClr val="993300"/>
            </a:solidFill>
            <a:ln w="9525">
              <a:solidFill>
                <a:schemeClr val="tx1"/>
              </a:solidFill>
              <a:miter lim="800000"/>
              <a:headEnd/>
              <a:tailEnd/>
            </a:ln>
          </p:spPr>
          <p:txBody>
            <a:bodyPr wrap="none" anchor="ctr"/>
            <a:lstStyle/>
            <a:p>
              <a:endParaRPr lang="en-US"/>
            </a:p>
          </p:txBody>
        </p:sp>
        <p:sp>
          <p:nvSpPr>
            <p:cNvPr id="10261" name="Line 13"/>
            <p:cNvSpPr>
              <a:spLocks noChangeShapeType="1"/>
            </p:cNvSpPr>
            <p:nvPr/>
          </p:nvSpPr>
          <p:spPr bwMode="auto">
            <a:xfrm>
              <a:off x="4386" y="2111"/>
              <a:ext cx="0" cy="176"/>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2" name="Line 14"/>
            <p:cNvSpPr>
              <a:spLocks noChangeShapeType="1"/>
            </p:cNvSpPr>
            <p:nvPr/>
          </p:nvSpPr>
          <p:spPr bwMode="auto">
            <a:xfrm flipV="1">
              <a:off x="4376" y="1362"/>
              <a:ext cx="4" cy="184"/>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3" name="Text Box 15"/>
            <p:cNvSpPr txBox="1">
              <a:spLocks noChangeArrowheads="1"/>
            </p:cNvSpPr>
            <p:nvPr/>
          </p:nvSpPr>
          <p:spPr bwMode="auto">
            <a:xfrm>
              <a:off x="4227" y="2259"/>
              <a:ext cx="249" cy="233"/>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10264" name="Rectangle 16"/>
            <p:cNvSpPr>
              <a:spLocks noChangeArrowheads="1"/>
            </p:cNvSpPr>
            <p:nvPr/>
          </p:nvSpPr>
          <p:spPr bwMode="auto">
            <a:xfrm>
              <a:off x="4407" y="1326"/>
              <a:ext cx="220" cy="231"/>
            </a:xfrm>
            <a:prstGeom prst="rect">
              <a:avLst/>
            </a:prstGeom>
            <a:noFill/>
            <a:ln w="9525">
              <a:noFill/>
              <a:miter lim="800000"/>
              <a:headEnd/>
              <a:tailEnd/>
            </a:ln>
          </p:spPr>
          <p:txBody>
            <a:bodyPr wrap="none">
              <a:spAutoFit/>
            </a:bodyPr>
            <a:lstStyle/>
            <a:p>
              <a:r>
                <a:rPr lang="en-US" b="1"/>
                <a:t>B</a:t>
              </a:r>
              <a:endParaRPr lang="en-US" b="1" i="1"/>
            </a:p>
          </p:txBody>
        </p:sp>
        <p:sp>
          <p:nvSpPr>
            <p:cNvPr id="10265" name="Text Box 17"/>
            <p:cNvSpPr txBox="1">
              <a:spLocks noChangeArrowheads="1"/>
            </p:cNvSpPr>
            <p:nvPr/>
          </p:nvSpPr>
          <p:spPr bwMode="auto">
            <a:xfrm>
              <a:off x="4958" y="1766"/>
              <a:ext cx="615" cy="231"/>
            </a:xfrm>
            <a:prstGeom prst="rect">
              <a:avLst/>
            </a:prstGeom>
            <a:noFill/>
            <a:ln w="9525">
              <a:noFill/>
              <a:miter lim="800000"/>
              <a:headEnd/>
              <a:tailEnd/>
            </a:ln>
          </p:spPr>
          <p:txBody>
            <a:bodyPr wrap="none">
              <a:spAutoFit/>
            </a:bodyPr>
            <a:lstStyle/>
            <a:p>
              <a:r>
                <a:rPr lang="en-US" i="1"/>
                <a:t>V</a:t>
              </a:r>
              <a:r>
                <a:rPr lang="en-US" i="1" baseline="-25000"/>
                <a:t>displaced</a:t>
              </a:r>
            </a:p>
          </p:txBody>
        </p:sp>
        <p:sp>
          <p:nvSpPr>
            <p:cNvPr id="10266" name="Freeform 18"/>
            <p:cNvSpPr>
              <a:spLocks/>
            </p:cNvSpPr>
            <p:nvPr/>
          </p:nvSpPr>
          <p:spPr bwMode="auto">
            <a:xfrm rot="3030441">
              <a:off x="4605" y="1715"/>
              <a:ext cx="239" cy="394"/>
            </a:xfrm>
            <a:custGeom>
              <a:avLst/>
              <a:gdLst>
                <a:gd name="T0" fmla="*/ 239 w 292"/>
                <a:gd name="T1" fmla="*/ 0 h 430"/>
                <a:gd name="T2" fmla="*/ 89 w 292"/>
                <a:gd name="T3" fmla="*/ 201 h 430"/>
                <a:gd name="T4" fmla="*/ 172 w 292"/>
                <a:gd name="T5" fmla="*/ 218 h 430"/>
                <a:gd name="T6" fmla="*/ 0 w 292"/>
                <a:gd name="T7" fmla="*/ 394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10267" name="Rectangle 19"/>
            <p:cNvSpPr>
              <a:spLocks noChangeArrowheads="1"/>
            </p:cNvSpPr>
            <p:nvPr/>
          </p:nvSpPr>
          <p:spPr bwMode="auto">
            <a:xfrm>
              <a:off x="4215" y="1811"/>
              <a:ext cx="329" cy="274"/>
            </a:xfrm>
            <a:prstGeom prst="rect">
              <a:avLst/>
            </a:prstGeom>
            <a:noFill/>
            <a:ln w="9525">
              <a:solidFill>
                <a:schemeClr val="bg1"/>
              </a:solidFill>
              <a:prstDash val="dash"/>
              <a:miter lim="800000"/>
              <a:headEnd/>
              <a:tailEnd/>
            </a:ln>
          </p:spPr>
          <p:txBody>
            <a:bodyPr wrap="none" anchor="ctr"/>
            <a:lstStyle/>
            <a:p>
              <a:endParaRPr lang="en-US"/>
            </a:p>
          </p:txBody>
        </p:sp>
      </p:grpSp>
      <p:sp>
        <p:nvSpPr>
          <p:cNvPr id="10253" name="AutoShape 20"/>
          <p:cNvSpPr>
            <a:spLocks noChangeArrowheads="1"/>
          </p:cNvSpPr>
          <p:nvPr/>
        </p:nvSpPr>
        <p:spPr bwMode="auto">
          <a:xfrm>
            <a:off x="522288" y="531495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fraction of the volume of a floating object that is below the fluid surface is equal to the ratio of the density of the object to that of the fluid.</a:t>
            </a:r>
          </a:p>
        </p:txBody>
      </p:sp>
      <mc:AlternateContent xmlns:mc="http://schemas.openxmlformats.org/markup-compatibility/2006" xmlns:a14="http://schemas.microsoft.com/office/drawing/2010/main">
        <mc:Choice Requires="a14">
          <p:sp>
            <p:nvSpPr>
              <p:cNvPr id="10242" name="Object 21"/>
              <p:cNvSpPr txBox="1"/>
              <p:nvPr/>
            </p:nvSpPr>
            <p:spPr bwMode="auto">
              <a:xfrm>
                <a:off x="1740694" y="1230313"/>
                <a:ext cx="1284287" cy="374650"/>
              </a:xfrm>
              <a:prstGeom prst="rect">
                <a:avLst/>
              </a:prstGeom>
              <a:noFill/>
            </p:spPr>
            <p:txBody>
              <a:bodyPr>
                <a:normAutofit/>
              </a:bodyPr>
              <a:lstStyle/>
              <a:p>
                <a:pPr/>
                <a14:m>
                  <m:oMathPara xmlns:m="http://schemas.openxmlformats.org/officeDocument/2006/math">
                    <m:oMathParaPr>
                      <m:jc m:val="left"/>
                    </m:oMathParaPr>
                    <m:oMath>
                      <m:sSub>
                        <m:sSubPr>
                          <m:ctrlPr>
                            <a:rPr lang="en-US" sz="1200" i="1">
                              <a:solidFill>
                                <a:srgbClr val="000000"/>
                              </a:solidFill>
                              <a:latin typeface="Cambria Math" panose="02040503050406030204" pitchFamily="18" charset="0"/>
                            </a:rPr>
                          </m:ctrlPr>
                        </m:sSubPr>
                        <m:e>
                          <m:r>
                            <a:rPr lang="en-US" sz="1200" i="1">
                              <a:solidFill>
                                <a:srgbClr val="000000"/>
                              </a:solidFill>
                              <a:latin typeface="Cambria Math" panose="02040503050406030204" pitchFamily="18" charset="0"/>
                            </a:rPr>
                            <m:t>𝜌</m:t>
                          </m:r>
                        </m:e>
                        <m:sub>
                          <m:r>
                            <a:rPr lang="en-US" sz="1200" i="1">
                              <a:solidFill>
                                <a:srgbClr val="000000"/>
                              </a:solidFill>
                              <a:latin typeface="Cambria Math" panose="02040503050406030204" pitchFamily="18" charset="0"/>
                            </a:rPr>
                            <m:t>𝑜𝑏𝑗𝑒𝑐𝑡</m:t>
                          </m:r>
                        </m:sub>
                      </m:sSub>
                      <m:r>
                        <a:rPr lang="en-US" sz="1200" i="1">
                          <a:solidFill>
                            <a:srgbClr val="000000"/>
                          </a:solidFill>
                          <a:latin typeface="Cambria Math" panose="02040503050406030204" pitchFamily="18" charset="0"/>
                        </a:rPr>
                        <m:t>&lt;</m:t>
                      </m:r>
                      <m:sSub>
                        <m:sSubPr>
                          <m:ctrlPr>
                            <a:rPr lang="en-US" sz="1200" i="1">
                              <a:solidFill>
                                <a:srgbClr val="000000"/>
                              </a:solidFill>
                              <a:latin typeface="Cambria Math" panose="02040503050406030204" pitchFamily="18" charset="0"/>
                            </a:rPr>
                          </m:ctrlPr>
                        </m:sSubPr>
                        <m:e>
                          <m:r>
                            <a:rPr lang="en-US" sz="1200" i="1">
                              <a:solidFill>
                                <a:srgbClr val="000000"/>
                              </a:solidFill>
                              <a:latin typeface="Cambria Math" panose="02040503050406030204" pitchFamily="18" charset="0"/>
                            </a:rPr>
                            <m:t>𝜌</m:t>
                          </m:r>
                        </m:e>
                        <m:sub>
                          <m:r>
                            <a:rPr lang="en-US" sz="1200" i="1">
                              <a:solidFill>
                                <a:srgbClr val="000000"/>
                              </a:solidFill>
                              <a:latin typeface="Cambria Math" panose="02040503050406030204" pitchFamily="18" charset="0"/>
                            </a:rPr>
                            <m:t>𝑓𝑙𝑢𝑖𝑑</m:t>
                          </m:r>
                        </m:sub>
                      </m:sSub>
                    </m:oMath>
                  </m:oMathPara>
                </a14:m>
                <a:endParaRPr lang="en-US" sz="1200" dirty="0"/>
              </a:p>
            </p:txBody>
          </p:sp>
        </mc:Choice>
        <mc:Fallback xmlns="">
          <p:sp>
            <p:nvSpPr>
              <p:cNvPr id="10242" name="Object 21"/>
              <p:cNvSpPr txBox="1">
                <a:spLocks noRot="1" noChangeAspect="1" noMove="1" noResize="1" noEditPoints="1" noAdjustHandles="1" noChangeArrowheads="1" noChangeShapeType="1" noTextEdit="1"/>
              </p:cNvSpPr>
              <p:nvPr/>
            </p:nvSpPr>
            <p:spPr bwMode="auto">
              <a:xfrm>
                <a:off x="1740694" y="1230313"/>
                <a:ext cx="1284287" cy="374650"/>
              </a:xfrm>
              <a:prstGeom prst="rect">
                <a:avLst/>
              </a:prstGeom>
              <a:blipFill>
                <a:blip r:embed="rId2"/>
                <a:stretch>
                  <a:fillRect/>
                </a:stretch>
              </a:blipFill>
            </p:spPr>
            <p:txBody>
              <a:bodyPr/>
              <a:lstStyle/>
              <a:p>
                <a:r>
                  <a:rPr lang="en-US">
                    <a:noFill/>
                  </a:rPr>
                  <a:t> </a:t>
                </a:r>
              </a:p>
            </p:txBody>
          </p:sp>
        </mc:Fallback>
      </mc:AlternateContent>
      <p:graphicFrame>
        <p:nvGraphicFramePr>
          <p:cNvPr id="10243" name="Object 22"/>
          <p:cNvGraphicFramePr>
            <a:graphicFrameLocks noChangeAspect="1"/>
          </p:cNvGraphicFramePr>
          <p:nvPr/>
        </p:nvGraphicFramePr>
        <p:xfrm>
          <a:off x="2519363" y="1947863"/>
          <a:ext cx="892175" cy="403225"/>
        </p:xfrm>
        <a:graphic>
          <a:graphicData uri="http://schemas.openxmlformats.org/presentationml/2006/ole">
            <mc:AlternateContent xmlns:mc="http://schemas.openxmlformats.org/markup-compatibility/2006">
              <mc:Choice xmlns:v="urn:schemas-microsoft-com:vml" Requires="v">
                <p:oleObj name="Equation" r:id="rId3" imgW="533160" imgH="241200" progId="Equation.3">
                  <p:embed/>
                </p:oleObj>
              </mc:Choice>
              <mc:Fallback>
                <p:oleObj name="Equation" r:id="rId3" imgW="533160" imgH="241200" progId="Equation.3">
                  <p:embed/>
                  <p:pic>
                    <p:nvPicPr>
                      <p:cNvPr id="10243"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363" y="1947863"/>
                        <a:ext cx="89217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23"/>
          <p:cNvGraphicFramePr>
            <a:graphicFrameLocks noChangeAspect="1"/>
          </p:cNvGraphicFramePr>
          <p:nvPr/>
        </p:nvGraphicFramePr>
        <p:xfrm>
          <a:off x="2382838" y="3495675"/>
          <a:ext cx="1419225" cy="355600"/>
        </p:xfrm>
        <a:graphic>
          <a:graphicData uri="http://schemas.openxmlformats.org/presentationml/2006/ole">
            <mc:AlternateContent xmlns:mc="http://schemas.openxmlformats.org/markup-compatibility/2006">
              <mc:Choice xmlns:v="urn:schemas-microsoft-com:vml" Requires="v">
                <p:oleObj name="Equation" r:id="rId5" imgW="965160" imgH="241200" progId="Equation.3">
                  <p:embed/>
                </p:oleObj>
              </mc:Choice>
              <mc:Fallback>
                <p:oleObj name="Equation" r:id="rId5" imgW="965160" imgH="241200" progId="Equation.3">
                  <p:embed/>
                  <p:pic>
                    <p:nvPicPr>
                      <p:cNvPr id="10244" name="Object 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2838" y="3495675"/>
                        <a:ext cx="141922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24"/>
          <p:cNvGraphicFramePr>
            <a:graphicFrameLocks noChangeAspect="1"/>
          </p:cNvGraphicFramePr>
          <p:nvPr/>
        </p:nvGraphicFramePr>
        <p:xfrm>
          <a:off x="1889125" y="4367213"/>
          <a:ext cx="2449513" cy="688975"/>
        </p:xfrm>
        <a:graphic>
          <a:graphicData uri="http://schemas.openxmlformats.org/presentationml/2006/ole">
            <mc:AlternateContent xmlns:mc="http://schemas.openxmlformats.org/markup-compatibility/2006">
              <mc:Choice xmlns:v="urn:schemas-microsoft-com:vml" Requires="v">
                <p:oleObj name="Equation" r:id="rId7" imgW="1701720" imgH="482400" progId="Equation.3">
                  <p:embed/>
                </p:oleObj>
              </mc:Choice>
              <mc:Fallback>
                <p:oleObj name="Equation" r:id="rId7" imgW="1701720" imgH="482400" progId="Equation.3">
                  <p:embed/>
                  <p:pic>
                    <p:nvPicPr>
                      <p:cNvPr id="10245"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9125" y="4367213"/>
                        <a:ext cx="2449513"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6" name="Object 25"/>
          <p:cNvGraphicFramePr>
            <a:graphicFrameLocks noChangeAspect="1"/>
          </p:cNvGraphicFramePr>
          <p:nvPr/>
        </p:nvGraphicFramePr>
        <p:xfrm>
          <a:off x="6380163" y="1387475"/>
          <a:ext cx="1120775" cy="584200"/>
        </p:xfrm>
        <a:graphic>
          <a:graphicData uri="http://schemas.openxmlformats.org/presentationml/2006/ole">
            <mc:AlternateContent xmlns:mc="http://schemas.openxmlformats.org/markup-compatibility/2006">
              <mc:Choice xmlns:v="urn:schemas-microsoft-com:vml" Requires="v">
                <p:oleObj name="Equation" r:id="rId9" imgW="901440" imgH="469800" progId="Equation.3">
                  <p:embed/>
                </p:oleObj>
              </mc:Choice>
              <mc:Fallback>
                <p:oleObj name="Equation" r:id="rId9" imgW="901440" imgH="469800" progId="Equation.3">
                  <p:embed/>
                  <p:pic>
                    <p:nvPicPr>
                      <p:cNvPr id="10246"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80163" y="1387475"/>
                        <a:ext cx="112077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Rectangle 26"/>
          <p:cNvSpPr>
            <a:spLocks noChangeArrowheads="1"/>
          </p:cNvSpPr>
          <p:nvPr/>
        </p:nvSpPr>
        <p:spPr bwMode="auto">
          <a:xfrm>
            <a:off x="-239713" y="3036888"/>
            <a:ext cx="227013" cy="549275"/>
          </a:xfrm>
          <a:prstGeom prst="rect">
            <a:avLst/>
          </a:prstGeom>
          <a:noFill/>
          <a:ln w="9525">
            <a:noFill/>
            <a:miter lim="800000"/>
            <a:headEnd/>
            <a:tailEnd/>
          </a:ln>
        </p:spPr>
        <p:txBody>
          <a:bodyPr wrap="none" anchor="ctr">
            <a:spAutoFit/>
          </a:bodyPr>
          <a:lstStyle/>
          <a:p>
            <a:r>
              <a:rPr lang="en-US" sz="1200">
                <a:cs typeface="Times New Roman" pitchFamily="18" charset="0"/>
              </a:rPr>
              <a:t> </a:t>
            </a:r>
            <a:endParaRPr lang="en-US" sz="1100"/>
          </a:p>
          <a:p>
            <a:pPr eaLnBrk="0" hangingPunct="0"/>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1208314" y="582385"/>
            <a:ext cx="6868886" cy="5151665"/>
          </a:xfrm>
          <a:prstGeom prst="rect">
            <a:avLst/>
          </a:prstGeom>
          <a:noFill/>
          <a:ln w="9525">
            <a:noFill/>
            <a:miter lim="800000"/>
            <a:headEnd/>
            <a:tailEnd/>
          </a:ln>
        </p:spPr>
      </p:pic>
      <p:sp>
        <p:nvSpPr>
          <p:cNvPr id="4" name="Rectangle 3"/>
          <p:cNvSpPr/>
          <p:nvPr/>
        </p:nvSpPr>
        <p:spPr>
          <a:xfrm>
            <a:off x="1110343" y="5853614"/>
            <a:ext cx="6890658" cy="923330"/>
          </a:xfrm>
          <a:prstGeom prst="rect">
            <a:avLst/>
          </a:prstGeom>
        </p:spPr>
        <p:txBody>
          <a:bodyPr wrap="square">
            <a:spAutoFit/>
          </a:bodyPr>
          <a:lstStyle/>
          <a:p>
            <a:r>
              <a:rPr lang="en-US" dirty="0"/>
              <a:t>Iceberg with the submerged portion visible. From Geo Swan used under the licensed under the Creative Commons Attribution 2.0 Generic license.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636422D8-C0F9-4562-A685-CDD6FDF45D69}" type="slidenum">
              <a:rPr lang="en-US" smtClean="0"/>
              <a:pPr/>
              <a:t>24</a:t>
            </a:fld>
            <a:endParaRPr lang="en-US"/>
          </a:p>
        </p:txBody>
      </p:sp>
      <p:sp>
        <p:nvSpPr>
          <p:cNvPr id="53251" name="Rectangle 2"/>
          <p:cNvSpPr>
            <a:spLocks noGrp="1" noChangeArrowheads="1"/>
          </p:cNvSpPr>
          <p:nvPr>
            <p:ph type="title"/>
          </p:nvPr>
        </p:nvSpPr>
        <p:spPr/>
        <p:txBody>
          <a:bodyPr/>
          <a:lstStyle/>
          <a:p>
            <a:pPr eaLnBrk="1" hangingPunct="1"/>
            <a:r>
              <a:rPr lang="en-US"/>
              <a:t>Question 123.5.4</a:t>
            </a:r>
          </a:p>
        </p:txBody>
      </p:sp>
      <p:sp>
        <p:nvSpPr>
          <p:cNvPr id="53252" name="Rectangle 3"/>
          <p:cNvSpPr>
            <a:spLocks noGrp="1" noChangeArrowheads="1"/>
          </p:cNvSpPr>
          <p:nvPr>
            <p:ph type="body" idx="1"/>
          </p:nvPr>
        </p:nvSpPr>
        <p:spPr>
          <a:xfrm>
            <a:off x="182563" y="1439863"/>
            <a:ext cx="3556000" cy="4525962"/>
          </a:xfrm>
        </p:spPr>
        <p:txBody>
          <a:bodyPr/>
          <a:lstStyle/>
          <a:p>
            <a:pPr eaLnBrk="1" hangingPunct="1"/>
            <a:r>
              <a:rPr lang="en-US" sz="2800"/>
              <a:t>Two cups are filled to the same level with water. One of the two cups has ice cubes floating in it. When the ice cubes melt, in which cup is the level of the water higher?</a:t>
            </a:r>
          </a:p>
        </p:txBody>
      </p:sp>
      <p:grpSp>
        <p:nvGrpSpPr>
          <p:cNvPr id="53253" name="Group 4"/>
          <p:cNvGrpSpPr>
            <a:grpSpLocks/>
          </p:cNvGrpSpPr>
          <p:nvPr/>
        </p:nvGrpSpPr>
        <p:grpSpPr bwMode="auto">
          <a:xfrm>
            <a:off x="5178425" y="2957513"/>
            <a:ext cx="1477963" cy="1843087"/>
            <a:chOff x="3262" y="1863"/>
            <a:chExt cx="931" cy="1161"/>
          </a:xfrm>
        </p:grpSpPr>
        <p:grpSp>
          <p:nvGrpSpPr>
            <p:cNvPr id="53268" name="Group 5"/>
            <p:cNvGrpSpPr>
              <a:grpSpLocks/>
            </p:cNvGrpSpPr>
            <p:nvPr/>
          </p:nvGrpSpPr>
          <p:grpSpPr bwMode="auto">
            <a:xfrm>
              <a:off x="3262" y="1863"/>
              <a:ext cx="931" cy="1161"/>
              <a:chOff x="3733" y="1510"/>
              <a:chExt cx="1416" cy="1628"/>
            </a:xfrm>
          </p:grpSpPr>
          <p:grpSp>
            <p:nvGrpSpPr>
              <p:cNvPr id="53272" name="Group 6"/>
              <p:cNvGrpSpPr>
                <a:grpSpLocks/>
              </p:cNvGrpSpPr>
              <p:nvPr/>
            </p:nvGrpSpPr>
            <p:grpSpPr bwMode="auto">
              <a:xfrm>
                <a:off x="3733" y="1514"/>
                <a:ext cx="1416" cy="1624"/>
                <a:chOff x="3596" y="1780"/>
                <a:chExt cx="1416" cy="1624"/>
              </a:xfrm>
            </p:grpSpPr>
            <p:sp>
              <p:nvSpPr>
                <p:cNvPr id="53277"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78"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73" name="AutoShape 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74" name="Rectangle 1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75" name="Freeform 1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76" name="Freeform 1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9" name="AutoShape 13"/>
            <p:cNvSpPr>
              <a:spLocks noChangeArrowheads="1"/>
            </p:cNvSpPr>
            <p:nvPr/>
          </p:nvSpPr>
          <p:spPr bwMode="auto">
            <a:xfrm rot="-1306696">
              <a:off x="3492" y="1929"/>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0" name="AutoShape 14"/>
            <p:cNvSpPr>
              <a:spLocks noChangeArrowheads="1"/>
            </p:cNvSpPr>
            <p:nvPr/>
          </p:nvSpPr>
          <p:spPr bwMode="auto">
            <a:xfrm>
              <a:off x="3625" y="1943"/>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1" name="Text Box 15"/>
            <p:cNvSpPr txBox="1">
              <a:spLocks noChangeArrowheads="1"/>
            </p:cNvSpPr>
            <p:nvPr/>
          </p:nvSpPr>
          <p:spPr bwMode="auto">
            <a:xfrm>
              <a:off x="3590" y="2537"/>
              <a:ext cx="212" cy="231"/>
            </a:xfrm>
            <a:prstGeom prst="rect">
              <a:avLst/>
            </a:prstGeom>
            <a:noFill/>
            <a:ln w="9525">
              <a:noFill/>
              <a:miter lim="800000"/>
              <a:headEnd/>
              <a:tailEnd/>
            </a:ln>
          </p:spPr>
          <p:txBody>
            <a:bodyPr wrap="none">
              <a:spAutoFit/>
            </a:bodyPr>
            <a:lstStyle/>
            <a:p>
              <a:r>
                <a:rPr lang="en-US"/>
                <a:t>A</a:t>
              </a:r>
            </a:p>
          </p:txBody>
        </p:sp>
      </p:grpSp>
      <p:grpSp>
        <p:nvGrpSpPr>
          <p:cNvPr id="53254" name="Group 16"/>
          <p:cNvGrpSpPr>
            <a:grpSpLocks/>
          </p:cNvGrpSpPr>
          <p:nvPr/>
        </p:nvGrpSpPr>
        <p:grpSpPr bwMode="auto">
          <a:xfrm>
            <a:off x="7116763" y="2957513"/>
            <a:ext cx="1477962" cy="1843087"/>
            <a:chOff x="4483" y="1840"/>
            <a:chExt cx="931" cy="1161"/>
          </a:xfrm>
        </p:grpSpPr>
        <p:grpSp>
          <p:nvGrpSpPr>
            <p:cNvPr id="53259" name="Group 17"/>
            <p:cNvGrpSpPr>
              <a:grpSpLocks/>
            </p:cNvGrpSpPr>
            <p:nvPr/>
          </p:nvGrpSpPr>
          <p:grpSpPr bwMode="auto">
            <a:xfrm>
              <a:off x="4483" y="1840"/>
              <a:ext cx="931" cy="1161"/>
              <a:chOff x="3733" y="1510"/>
              <a:chExt cx="1416" cy="1628"/>
            </a:xfrm>
          </p:grpSpPr>
          <p:grpSp>
            <p:nvGrpSpPr>
              <p:cNvPr id="53261" name="Group 18"/>
              <p:cNvGrpSpPr>
                <a:grpSpLocks/>
              </p:cNvGrpSpPr>
              <p:nvPr/>
            </p:nvGrpSpPr>
            <p:grpSpPr bwMode="auto">
              <a:xfrm>
                <a:off x="3733" y="1514"/>
                <a:ext cx="1416" cy="1624"/>
                <a:chOff x="3596" y="1780"/>
                <a:chExt cx="1416" cy="1624"/>
              </a:xfrm>
            </p:grpSpPr>
            <p:sp>
              <p:nvSpPr>
                <p:cNvPr id="53266" name="Freeform 19"/>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67" name="Freeform 20"/>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62" name="AutoShape 21"/>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63" name="Rectangle 22"/>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64" name="Freeform 23"/>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65" name="Freeform 24"/>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0" name="Text Box 25"/>
            <p:cNvSpPr txBox="1">
              <a:spLocks noChangeArrowheads="1"/>
            </p:cNvSpPr>
            <p:nvPr/>
          </p:nvSpPr>
          <p:spPr bwMode="auto">
            <a:xfrm>
              <a:off x="4793" y="2486"/>
              <a:ext cx="212" cy="231"/>
            </a:xfrm>
            <a:prstGeom prst="rect">
              <a:avLst/>
            </a:prstGeom>
            <a:noFill/>
            <a:ln w="9525">
              <a:noFill/>
              <a:miter lim="800000"/>
              <a:headEnd/>
              <a:tailEnd/>
            </a:ln>
          </p:spPr>
          <p:txBody>
            <a:bodyPr wrap="none">
              <a:spAutoFit/>
            </a:bodyPr>
            <a:lstStyle/>
            <a:p>
              <a:r>
                <a:rPr lang="en-US"/>
                <a:t>B</a:t>
              </a:r>
            </a:p>
          </p:txBody>
        </p:sp>
      </p:grpSp>
      <p:sp>
        <p:nvSpPr>
          <p:cNvPr id="53255" name="Line 26"/>
          <p:cNvSpPr>
            <a:spLocks noChangeShapeType="1"/>
          </p:cNvSpPr>
          <p:nvPr/>
        </p:nvSpPr>
        <p:spPr bwMode="auto">
          <a:xfrm>
            <a:off x="6662738" y="3279775"/>
            <a:ext cx="420687" cy="0"/>
          </a:xfrm>
          <a:prstGeom prst="line">
            <a:avLst/>
          </a:prstGeom>
          <a:noFill/>
          <a:ln w="9525">
            <a:solidFill>
              <a:schemeClr val="tx1"/>
            </a:solidFill>
            <a:round/>
            <a:headEnd/>
            <a:tailEnd/>
          </a:ln>
        </p:spPr>
        <p:txBody>
          <a:bodyPr/>
          <a:lstStyle/>
          <a:p>
            <a:endParaRPr lang="en-US"/>
          </a:p>
        </p:txBody>
      </p:sp>
      <p:sp>
        <p:nvSpPr>
          <p:cNvPr id="53256" name="Line 27"/>
          <p:cNvSpPr>
            <a:spLocks noChangeShapeType="1"/>
          </p:cNvSpPr>
          <p:nvPr/>
        </p:nvSpPr>
        <p:spPr bwMode="auto">
          <a:xfrm>
            <a:off x="6656388" y="4752975"/>
            <a:ext cx="420687" cy="0"/>
          </a:xfrm>
          <a:prstGeom prst="line">
            <a:avLst/>
          </a:prstGeom>
          <a:noFill/>
          <a:ln w="9525">
            <a:solidFill>
              <a:schemeClr val="tx1"/>
            </a:solidFill>
            <a:round/>
            <a:headEnd/>
            <a:tailEnd/>
          </a:ln>
        </p:spPr>
        <p:txBody>
          <a:bodyPr/>
          <a:lstStyle/>
          <a:p>
            <a:endParaRPr lang="en-US"/>
          </a:p>
        </p:txBody>
      </p:sp>
      <p:sp>
        <p:nvSpPr>
          <p:cNvPr id="53257" name="Line 28"/>
          <p:cNvSpPr>
            <a:spLocks noChangeShapeType="1"/>
          </p:cNvSpPr>
          <p:nvPr/>
        </p:nvSpPr>
        <p:spPr bwMode="auto">
          <a:xfrm>
            <a:off x="6878638" y="3265488"/>
            <a:ext cx="0" cy="1481137"/>
          </a:xfrm>
          <a:prstGeom prst="line">
            <a:avLst/>
          </a:prstGeom>
          <a:noFill/>
          <a:ln w="9525">
            <a:solidFill>
              <a:schemeClr val="tx1"/>
            </a:solidFill>
            <a:round/>
            <a:headEnd type="triangle" w="med" len="med"/>
            <a:tailEnd type="triangle" w="med" len="med"/>
          </a:ln>
        </p:spPr>
        <p:txBody>
          <a:bodyPr/>
          <a:lstStyle/>
          <a:p>
            <a:endParaRPr lang="en-US"/>
          </a:p>
        </p:txBody>
      </p:sp>
      <p:sp>
        <p:nvSpPr>
          <p:cNvPr id="53258" name="Text Box 29"/>
          <p:cNvSpPr txBox="1">
            <a:spLocks noChangeArrowheads="1"/>
          </p:cNvSpPr>
          <p:nvPr/>
        </p:nvSpPr>
        <p:spPr bwMode="auto">
          <a:xfrm>
            <a:off x="6731000" y="3781425"/>
            <a:ext cx="311150" cy="366713"/>
          </a:xfrm>
          <a:prstGeom prst="rect">
            <a:avLst/>
          </a:prstGeom>
          <a:solidFill>
            <a:schemeClr val="bg1"/>
          </a:solidFill>
          <a:ln w="9525">
            <a:noFill/>
            <a:miter lim="800000"/>
            <a:headEnd/>
            <a:tailEnd/>
          </a:ln>
        </p:spPr>
        <p:txBody>
          <a:bodyPr wrap="none">
            <a:spAutoFit/>
          </a:bodyPr>
          <a:lstStyle/>
          <a:p>
            <a:r>
              <a:rPr lang="en-US"/>
              <a:t>h</a:t>
            </a:r>
          </a:p>
        </p:txBody>
      </p:sp>
    </p:spTree>
    <p:extLst>
      <p:ext uri="{BB962C8B-B14F-4D97-AF65-F5344CB8AC3E}">
        <p14:creationId xmlns:p14="http://schemas.microsoft.com/office/powerpoint/2010/main" val="3517015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53359846-9639-45BB-9D99-7DB5DB95104F}" type="slidenum">
              <a:rPr lang="en-US" smtClean="0"/>
              <a:pPr/>
              <a:t>25</a:t>
            </a:fld>
            <a:endParaRPr lang="en-US"/>
          </a:p>
        </p:txBody>
      </p:sp>
      <p:sp>
        <p:nvSpPr>
          <p:cNvPr id="54275" name="Rectangle 2"/>
          <p:cNvSpPr>
            <a:spLocks noGrp="1" noChangeArrowheads="1"/>
          </p:cNvSpPr>
          <p:nvPr>
            <p:ph type="title"/>
          </p:nvPr>
        </p:nvSpPr>
        <p:spPr/>
        <p:txBody>
          <a:bodyPr/>
          <a:lstStyle/>
          <a:p>
            <a:pPr eaLnBrk="1" hangingPunct="1"/>
            <a:r>
              <a:rPr lang="en-US"/>
              <a:t>Question 123.5.5</a:t>
            </a:r>
          </a:p>
        </p:txBody>
      </p:sp>
      <p:sp>
        <p:nvSpPr>
          <p:cNvPr id="54276" name="Rectangle 3"/>
          <p:cNvSpPr>
            <a:spLocks noGrp="1" noChangeArrowheads="1"/>
          </p:cNvSpPr>
          <p:nvPr>
            <p:ph type="body" idx="1"/>
          </p:nvPr>
        </p:nvSpPr>
        <p:spPr>
          <a:xfrm>
            <a:off x="457200" y="1600200"/>
            <a:ext cx="4876800" cy="1738313"/>
          </a:xfrm>
        </p:spPr>
        <p:txBody>
          <a:bodyPr/>
          <a:lstStyle/>
          <a:p>
            <a:pPr eaLnBrk="1" hangingPunct="1"/>
            <a:r>
              <a:rPr lang="en-US" sz="2400"/>
              <a:t>When a ball is floating on the surface of a pool, how does the force needed to push it under change with depth? </a:t>
            </a:r>
          </a:p>
        </p:txBody>
      </p:sp>
      <p:sp>
        <p:nvSpPr>
          <p:cNvPr id="54277" name="Freeform 4"/>
          <p:cNvSpPr>
            <a:spLocks/>
          </p:cNvSpPr>
          <p:nvPr/>
        </p:nvSpPr>
        <p:spPr bwMode="auto">
          <a:xfrm>
            <a:off x="6465888" y="4699000"/>
            <a:ext cx="2058987" cy="144463"/>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4278" name="Freeform 5"/>
          <p:cNvSpPr>
            <a:spLocks/>
          </p:cNvSpPr>
          <p:nvPr/>
        </p:nvSpPr>
        <p:spPr bwMode="auto">
          <a:xfrm>
            <a:off x="6284913" y="4703763"/>
            <a:ext cx="2263775" cy="158750"/>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4279" name="Group 6"/>
          <p:cNvGrpSpPr>
            <a:grpSpLocks/>
          </p:cNvGrpSpPr>
          <p:nvPr/>
        </p:nvGrpSpPr>
        <p:grpSpPr bwMode="auto">
          <a:xfrm rot="1590330">
            <a:off x="6704013" y="3684588"/>
            <a:ext cx="1393825" cy="1365250"/>
            <a:chOff x="2213" y="2234"/>
            <a:chExt cx="878" cy="860"/>
          </a:xfrm>
        </p:grpSpPr>
        <p:sp>
          <p:nvSpPr>
            <p:cNvPr id="54313" name="Oval 7"/>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4314" name="Arc 8"/>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5" name="Arc 9"/>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4316" name="Arc 10"/>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7" name="Arc 11"/>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4280" name="Rectangle 12"/>
          <p:cNvSpPr>
            <a:spLocks noChangeArrowheads="1"/>
          </p:cNvSpPr>
          <p:nvPr/>
        </p:nvSpPr>
        <p:spPr bwMode="auto">
          <a:xfrm>
            <a:off x="6299200" y="4833938"/>
            <a:ext cx="2220913" cy="1771650"/>
          </a:xfrm>
          <a:prstGeom prst="rect">
            <a:avLst/>
          </a:prstGeom>
          <a:solidFill>
            <a:schemeClr val="accent1">
              <a:alpha val="61176"/>
            </a:schemeClr>
          </a:solidFill>
          <a:ln w="9525">
            <a:noFill/>
            <a:miter lim="800000"/>
            <a:headEnd/>
            <a:tailEnd/>
          </a:ln>
        </p:spPr>
        <p:txBody>
          <a:bodyPr wrap="none" anchor="ctr"/>
          <a:lstStyle/>
          <a:p>
            <a:endParaRPr lang="en-US"/>
          </a:p>
        </p:txBody>
      </p:sp>
      <p:sp>
        <p:nvSpPr>
          <p:cNvPr id="54281" name="Oval 13"/>
          <p:cNvSpPr>
            <a:spLocks noChangeArrowheads="1"/>
          </p:cNvSpPr>
          <p:nvPr/>
        </p:nvSpPr>
        <p:spPr bwMode="auto">
          <a:xfrm>
            <a:off x="7402513" y="4364038"/>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54282" name="Line 14"/>
          <p:cNvSpPr>
            <a:spLocks noChangeShapeType="1"/>
          </p:cNvSpPr>
          <p:nvPr/>
        </p:nvSpPr>
        <p:spPr bwMode="auto">
          <a:xfrm>
            <a:off x="7450138" y="4437063"/>
            <a:ext cx="1587" cy="376237"/>
          </a:xfrm>
          <a:prstGeom prst="line">
            <a:avLst/>
          </a:prstGeom>
          <a:noFill/>
          <a:ln w="25400">
            <a:solidFill>
              <a:srgbClr val="3366FF"/>
            </a:solidFill>
            <a:round/>
            <a:headEnd/>
            <a:tailEnd type="triangle" w="med" len="med"/>
          </a:ln>
        </p:spPr>
        <p:txBody>
          <a:bodyPr/>
          <a:lstStyle/>
          <a:p>
            <a:endParaRPr lang="en-US"/>
          </a:p>
        </p:txBody>
      </p:sp>
      <p:sp>
        <p:nvSpPr>
          <p:cNvPr id="54283" name="Text Box 15"/>
          <p:cNvSpPr txBox="1">
            <a:spLocks noChangeArrowheads="1"/>
          </p:cNvSpPr>
          <p:nvPr/>
        </p:nvSpPr>
        <p:spPr bwMode="auto">
          <a:xfrm>
            <a:off x="7494588" y="4530725"/>
            <a:ext cx="407987" cy="366713"/>
          </a:xfrm>
          <a:prstGeom prst="rect">
            <a:avLst/>
          </a:prstGeom>
          <a:noFill/>
          <a:ln w="9525">
            <a:noFill/>
            <a:miter lim="800000"/>
            <a:headEnd/>
            <a:tailEnd/>
          </a:ln>
        </p:spPr>
        <p:txBody>
          <a:bodyPr>
            <a:spAutoFit/>
          </a:bodyPr>
          <a:lstStyle/>
          <a:p>
            <a:r>
              <a:rPr lang="en-US" b="1"/>
              <a:t>F</a:t>
            </a:r>
            <a:r>
              <a:rPr lang="en-US" i="1" baseline="-25000"/>
              <a:t>g</a:t>
            </a:r>
          </a:p>
        </p:txBody>
      </p:sp>
      <p:sp>
        <p:nvSpPr>
          <p:cNvPr id="54284" name="Text Box 16"/>
          <p:cNvSpPr txBox="1">
            <a:spLocks noChangeArrowheads="1"/>
          </p:cNvSpPr>
          <p:nvPr/>
        </p:nvSpPr>
        <p:spPr bwMode="auto">
          <a:xfrm>
            <a:off x="7488238" y="3908425"/>
            <a:ext cx="407987" cy="366713"/>
          </a:xfrm>
          <a:prstGeom prst="rect">
            <a:avLst/>
          </a:prstGeom>
          <a:noFill/>
          <a:ln w="9525">
            <a:noFill/>
            <a:miter lim="800000"/>
            <a:headEnd/>
            <a:tailEnd/>
          </a:ln>
        </p:spPr>
        <p:txBody>
          <a:bodyPr>
            <a:spAutoFit/>
          </a:bodyPr>
          <a:lstStyle/>
          <a:p>
            <a:r>
              <a:rPr lang="en-US" b="1"/>
              <a:t>B</a:t>
            </a:r>
            <a:endParaRPr lang="en-US" b="1" baseline="-25000"/>
          </a:p>
        </p:txBody>
      </p:sp>
      <p:sp>
        <p:nvSpPr>
          <p:cNvPr id="54285" name="Line 17"/>
          <p:cNvSpPr>
            <a:spLocks noChangeShapeType="1"/>
          </p:cNvSpPr>
          <p:nvPr/>
        </p:nvSpPr>
        <p:spPr bwMode="auto">
          <a:xfrm flipH="1" flipV="1">
            <a:off x="7442200" y="4017963"/>
            <a:ext cx="7938" cy="376237"/>
          </a:xfrm>
          <a:prstGeom prst="line">
            <a:avLst/>
          </a:prstGeom>
          <a:noFill/>
          <a:ln w="25400">
            <a:solidFill>
              <a:srgbClr val="3366FF"/>
            </a:solidFill>
            <a:round/>
            <a:headEnd/>
            <a:tailEnd type="triangle" w="med" len="med"/>
          </a:ln>
        </p:spPr>
        <p:txBody>
          <a:bodyPr/>
          <a:lstStyle/>
          <a:p>
            <a:endParaRPr lang="en-US"/>
          </a:p>
        </p:txBody>
      </p:sp>
      <p:sp>
        <p:nvSpPr>
          <p:cNvPr id="54286" name="Line 18"/>
          <p:cNvSpPr>
            <a:spLocks noChangeShapeType="1"/>
          </p:cNvSpPr>
          <p:nvPr/>
        </p:nvSpPr>
        <p:spPr bwMode="auto">
          <a:xfrm flipH="1">
            <a:off x="6678613" y="5083175"/>
            <a:ext cx="647700" cy="0"/>
          </a:xfrm>
          <a:prstGeom prst="line">
            <a:avLst/>
          </a:prstGeom>
          <a:noFill/>
          <a:ln w="9525">
            <a:solidFill>
              <a:schemeClr val="tx1"/>
            </a:solidFill>
            <a:round/>
            <a:headEnd/>
            <a:tailEnd/>
          </a:ln>
        </p:spPr>
        <p:txBody>
          <a:bodyPr/>
          <a:lstStyle/>
          <a:p>
            <a:endParaRPr lang="en-US"/>
          </a:p>
        </p:txBody>
      </p:sp>
      <p:sp>
        <p:nvSpPr>
          <p:cNvPr id="54287" name="Line 19"/>
          <p:cNvSpPr>
            <a:spLocks noChangeShapeType="1"/>
          </p:cNvSpPr>
          <p:nvPr/>
        </p:nvSpPr>
        <p:spPr bwMode="auto">
          <a:xfrm>
            <a:off x="6734175" y="4811713"/>
            <a:ext cx="0" cy="279400"/>
          </a:xfrm>
          <a:prstGeom prst="line">
            <a:avLst/>
          </a:prstGeom>
          <a:noFill/>
          <a:ln w="9525">
            <a:solidFill>
              <a:schemeClr val="tx1"/>
            </a:solidFill>
            <a:round/>
            <a:headEnd type="triangle" w="med" len="med"/>
            <a:tailEnd type="triangle" w="med" len="med"/>
          </a:ln>
        </p:spPr>
        <p:txBody>
          <a:bodyPr/>
          <a:lstStyle/>
          <a:p>
            <a:endParaRPr lang="en-US"/>
          </a:p>
        </p:txBody>
      </p:sp>
      <p:sp>
        <p:nvSpPr>
          <p:cNvPr id="54288" name="Text Box 20"/>
          <p:cNvSpPr txBox="1">
            <a:spLocks noChangeArrowheads="1"/>
          </p:cNvSpPr>
          <p:nvPr/>
        </p:nvSpPr>
        <p:spPr bwMode="auto">
          <a:xfrm>
            <a:off x="6340475" y="4837113"/>
            <a:ext cx="282575" cy="304800"/>
          </a:xfrm>
          <a:prstGeom prst="rect">
            <a:avLst/>
          </a:prstGeom>
          <a:noFill/>
          <a:ln w="9525">
            <a:noFill/>
            <a:miter lim="800000"/>
            <a:headEnd/>
            <a:tailEnd/>
          </a:ln>
        </p:spPr>
        <p:txBody>
          <a:bodyPr wrap="none">
            <a:spAutoFit/>
          </a:bodyPr>
          <a:lstStyle/>
          <a:p>
            <a:r>
              <a:rPr lang="en-US" sz="1400" i="1"/>
              <a:t>h</a:t>
            </a:r>
          </a:p>
        </p:txBody>
      </p:sp>
      <p:sp>
        <p:nvSpPr>
          <p:cNvPr id="54289" name="Line 21"/>
          <p:cNvSpPr>
            <a:spLocks noChangeShapeType="1"/>
          </p:cNvSpPr>
          <p:nvPr/>
        </p:nvSpPr>
        <p:spPr bwMode="auto">
          <a:xfrm flipH="1">
            <a:off x="6659563" y="4816475"/>
            <a:ext cx="182562" cy="0"/>
          </a:xfrm>
          <a:prstGeom prst="line">
            <a:avLst/>
          </a:prstGeom>
          <a:noFill/>
          <a:ln w="9525">
            <a:solidFill>
              <a:schemeClr val="tx1"/>
            </a:solidFill>
            <a:round/>
            <a:headEnd/>
            <a:tailEnd/>
          </a:ln>
        </p:spPr>
        <p:txBody>
          <a:bodyPr/>
          <a:lstStyle/>
          <a:p>
            <a:endParaRPr lang="en-US"/>
          </a:p>
        </p:txBody>
      </p:sp>
      <p:sp>
        <p:nvSpPr>
          <p:cNvPr id="54290" name="Line 22"/>
          <p:cNvSpPr>
            <a:spLocks noChangeShapeType="1"/>
          </p:cNvSpPr>
          <p:nvPr/>
        </p:nvSpPr>
        <p:spPr bwMode="auto">
          <a:xfrm>
            <a:off x="3235325" y="3698875"/>
            <a:ext cx="0" cy="973138"/>
          </a:xfrm>
          <a:prstGeom prst="line">
            <a:avLst/>
          </a:prstGeom>
          <a:noFill/>
          <a:ln w="9525">
            <a:solidFill>
              <a:schemeClr val="tx1"/>
            </a:solidFill>
            <a:round/>
            <a:headEnd/>
            <a:tailEnd/>
          </a:ln>
        </p:spPr>
        <p:txBody>
          <a:bodyPr/>
          <a:lstStyle/>
          <a:p>
            <a:endParaRPr lang="en-US"/>
          </a:p>
        </p:txBody>
      </p:sp>
      <p:sp>
        <p:nvSpPr>
          <p:cNvPr id="54291" name="Line 23"/>
          <p:cNvSpPr>
            <a:spLocks noChangeShapeType="1"/>
          </p:cNvSpPr>
          <p:nvPr/>
        </p:nvSpPr>
        <p:spPr bwMode="auto">
          <a:xfrm>
            <a:off x="3033713" y="4564063"/>
            <a:ext cx="2584450" cy="0"/>
          </a:xfrm>
          <a:prstGeom prst="line">
            <a:avLst/>
          </a:prstGeom>
          <a:noFill/>
          <a:ln w="9525">
            <a:solidFill>
              <a:schemeClr val="tx1"/>
            </a:solidFill>
            <a:round/>
            <a:headEnd/>
            <a:tailEnd/>
          </a:ln>
        </p:spPr>
        <p:txBody>
          <a:bodyPr/>
          <a:lstStyle/>
          <a:p>
            <a:endParaRPr lang="en-US"/>
          </a:p>
        </p:txBody>
      </p:sp>
      <p:sp>
        <p:nvSpPr>
          <p:cNvPr id="54292" name="Text Box 24"/>
          <p:cNvSpPr txBox="1">
            <a:spLocks noChangeArrowheads="1"/>
          </p:cNvSpPr>
          <p:nvPr/>
        </p:nvSpPr>
        <p:spPr bwMode="auto">
          <a:xfrm>
            <a:off x="5091113" y="4686300"/>
            <a:ext cx="311150" cy="366713"/>
          </a:xfrm>
          <a:prstGeom prst="rect">
            <a:avLst/>
          </a:prstGeom>
          <a:noFill/>
          <a:ln w="9525">
            <a:noFill/>
            <a:miter lim="800000"/>
            <a:headEnd/>
            <a:tailEnd/>
          </a:ln>
        </p:spPr>
        <p:txBody>
          <a:bodyPr wrap="none">
            <a:spAutoFit/>
          </a:bodyPr>
          <a:lstStyle/>
          <a:p>
            <a:r>
              <a:rPr lang="en-US"/>
              <a:t>h</a:t>
            </a:r>
          </a:p>
        </p:txBody>
      </p:sp>
      <p:sp>
        <p:nvSpPr>
          <p:cNvPr id="54293" name="Line 25"/>
          <p:cNvSpPr>
            <a:spLocks noChangeShapeType="1"/>
          </p:cNvSpPr>
          <p:nvPr/>
        </p:nvSpPr>
        <p:spPr bwMode="auto">
          <a:xfrm>
            <a:off x="3194050" y="4367213"/>
            <a:ext cx="69850" cy="0"/>
          </a:xfrm>
          <a:prstGeom prst="line">
            <a:avLst/>
          </a:prstGeom>
          <a:noFill/>
          <a:ln w="9525">
            <a:solidFill>
              <a:schemeClr val="tx1"/>
            </a:solidFill>
            <a:round/>
            <a:headEnd/>
            <a:tailEnd/>
          </a:ln>
        </p:spPr>
        <p:txBody>
          <a:bodyPr/>
          <a:lstStyle/>
          <a:p>
            <a:endParaRPr lang="en-US"/>
          </a:p>
        </p:txBody>
      </p:sp>
      <p:sp>
        <p:nvSpPr>
          <p:cNvPr id="54294" name="Line 26"/>
          <p:cNvSpPr>
            <a:spLocks noChangeShapeType="1"/>
          </p:cNvSpPr>
          <p:nvPr/>
        </p:nvSpPr>
        <p:spPr bwMode="auto">
          <a:xfrm>
            <a:off x="4008438" y="4052888"/>
            <a:ext cx="1387475" cy="0"/>
          </a:xfrm>
          <a:prstGeom prst="line">
            <a:avLst/>
          </a:prstGeom>
          <a:noFill/>
          <a:ln w="9525">
            <a:solidFill>
              <a:schemeClr val="tx1"/>
            </a:solidFill>
            <a:round/>
            <a:headEnd/>
            <a:tailEnd/>
          </a:ln>
        </p:spPr>
        <p:txBody>
          <a:bodyPr/>
          <a:lstStyle/>
          <a:p>
            <a:endParaRPr lang="en-US"/>
          </a:p>
        </p:txBody>
      </p:sp>
      <p:sp>
        <p:nvSpPr>
          <p:cNvPr id="54295" name="Text Box 27"/>
          <p:cNvSpPr txBox="1">
            <a:spLocks noChangeArrowheads="1"/>
          </p:cNvSpPr>
          <p:nvPr/>
        </p:nvSpPr>
        <p:spPr bwMode="auto">
          <a:xfrm>
            <a:off x="2963863" y="3516313"/>
            <a:ext cx="323850" cy="366712"/>
          </a:xfrm>
          <a:prstGeom prst="rect">
            <a:avLst/>
          </a:prstGeom>
          <a:noFill/>
          <a:ln w="9525">
            <a:noFill/>
            <a:miter lim="800000"/>
            <a:headEnd/>
            <a:tailEnd/>
          </a:ln>
        </p:spPr>
        <p:txBody>
          <a:bodyPr wrap="none">
            <a:spAutoFit/>
          </a:bodyPr>
          <a:lstStyle/>
          <a:p>
            <a:r>
              <a:rPr lang="en-US"/>
              <a:t>F</a:t>
            </a:r>
          </a:p>
        </p:txBody>
      </p:sp>
      <p:grpSp>
        <p:nvGrpSpPr>
          <p:cNvPr id="54296" name="Group 28"/>
          <p:cNvGrpSpPr>
            <a:grpSpLocks/>
          </p:cNvGrpSpPr>
          <p:nvPr/>
        </p:nvGrpSpPr>
        <p:grpSpPr bwMode="auto">
          <a:xfrm>
            <a:off x="3228975" y="4049713"/>
            <a:ext cx="769938" cy="322262"/>
            <a:chOff x="562" y="2038"/>
            <a:chExt cx="1513" cy="719"/>
          </a:xfrm>
        </p:grpSpPr>
        <p:sp>
          <p:nvSpPr>
            <p:cNvPr id="54311" name="Freeform 29"/>
            <p:cNvSpPr>
              <a:spLocks/>
            </p:cNvSpPr>
            <p:nvPr/>
          </p:nvSpPr>
          <p:spPr bwMode="auto">
            <a:xfrm>
              <a:off x="1252" y="2038"/>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sp>
          <p:nvSpPr>
            <p:cNvPr id="54312" name="Freeform 30"/>
            <p:cNvSpPr>
              <a:spLocks/>
            </p:cNvSpPr>
            <p:nvPr/>
          </p:nvSpPr>
          <p:spPr bwMode="auto">
            <a:xfrm flipH="1" flipV="1">
              <a:off x="562" y="2354"/>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grpSp>
      <p:sp>
        <p:nvSpPr>
          <p:cNvPr id="54297" name="Line 31"/>
          <p:cNvSpPr>
            <a:spLocks noChangeShapeType="1"/>
          </p:cNvSpPr>
          <p:nvPr/>
        </p:nvSpPr>
        <p:spPr bwMode="auto">
          <a:xfrm>
            <a:off x="542925" y="3765550"/>
            <a:ext cx="0" cy="973138"/>
          </a:xfrm>
          <a:prstGeom prst="line">
            <a:avLst/>
          </a:prstGeom>
          <a:noFill/>
          <a:ln w="9525">
            <a:solidFill>
              <a:schemeClr val="tx1"/>
            </a:solidFill>
            <a:round/>
            <a:headEnd/>
            <a:tailEnd/>
          </a:ln>
        </p:spPr>
        <p:txBody>
          <a:bodyPr/>
          <a:lstStyle/>
          <a:p>
            <a:endParaRPr lang="en-US"/>
          </a:p>
        </p:txBody>
      </p:sp>
      <p:sp>
        <p:nvSpPr>
          <p:cNvPr id="54298" name="Line 32"/>
          <p:cNvSpPr>
            <a:spLocks noChangeShapeType="1"/>
          </p:cNvSpPr>
          <p:nvPr/>
        </p:nvSpPr>
        <p:spPr bwMode="auto">
          <a:xfrm>
            <a:off x="341313" y="4630738"/>
            <a:ext cx="2584450" cy="0"/>
          </a:xfrm>
          <a:prstGeom prst="line">
            <a:avLst/>
          </a:prstGeom>
          <a:noFill/>
          <a:ln w="9525">
            <a:solidFill>
              <a:schemeClr val="tx1"/>
            </a:solidFill>
            <a:round/>
            <a:headEnd/>
            <a:tailEnd/>
          </a:ln>
        </p:spPr>
        <p:txBody>
          <a:bodyPr/>
          <a:lstStyle/>
          <a:p>
            <a:endParaRPr lang="en-US"/>
          </a:p>
        </p:txBody>
      </p:sp>
      <p:sp>
        <p:nvSpPr>
          <p:cNvPr id="54299" name="Text Box 33"/>
          <p:cNvSpPr txBox="1">
            <a:spLocks noChangeArrowheads="1"/>
          </p:cNvSpPr>
          <p:nvPr/>
        </p:nvSpPr>
        <p:spPr bwMode="auto">
          <a:xfrm>
            <a:off x="2398713" y="4752975"/>
            <a:ext cx="311150" cy="366713"/>
          </a:xfrm>
          <a:prstGeom prst="rect">
            <a:avLst/>
          </a:prstGeom>
          <a:noFill/>
          <a:ln w="9525">
            <a:noFill/>
            <a:miter lim="800000"/>
            <a:headEnd/>
            <a:tailEnd/>
          </a:ln>
        </p:spPr>
        <p:txBody>
          <a:bodyPr wrap="none">
            <a:spAutoFit/>
          </a:bodyPr>
          <a:lstStyle/>
          <a:p>
            <a:r>
              <a:rPr lang="en-US"/>
              <a:t>h</a:t>
            </a:r>
          </a:p>
        </p:txBody>
      </p:sp>
      <p:sp>
        <p:nvSpPr>
          <p:cNvPr id="54300" name="Line 34"/>
          <p:cNvSpPr>
            <a:spLocks noChangeShapeType="1"/>
          </p:cNvSpPr>
          <p:nvPr/>
        </p:nvSpPr>
        <p:spPr bwMode="auto">
          <a:xfrm>
            <a:off x="501650" y="4433888"/>
            <a:ext cx="69850" cy="0"/>
          </a:xfrm>
          <a:prstGeom prst="line">
            <a:avLst/>
          </a:prstGeom>
          <a:noFill/>
          <a:ln w="9525">
            <a:solidFill>
              <a:schemeClr val="tx1"/>
            </a:solidFill>
            <a:round/>
            <a:headEnd/>
            <a:tailEnd/>
          </a:ln>
        </p:spPr>
        <p:txBody>
          <a:bodyPr/>
          <a:lstStyle/>
          <a:p>
            <a:endParaRPr lang="en-US"/>
          </a:p>
        </p:txBody>
      </p:sp>
      <p:sp>
        <p:nvSpPr>
          <p:cNvPr id="54301" name="Text Box 35"/>
          <p:cNvSpPr txBox="1">
            <a:spLocks noChangeArrowheads="1"/>
          </p:cNvSpPr>
          <p:nvPr/>
        </p:nvSpPr>
        <p:spPr bwMode="auto">
          <a:xfrm>
            <a:off x="271463" y="3582988"/>
            <a:ext cx="323850" cy="366712"/>
          </a:xfrm>
          <a:prstGeom prst="rect">
            <a:avLst/>
          </a:prstGeom>
          <a:noFill/>
          <a:ln w="9525">
            <a:noFill/>
            <a:miter lim="800000"/>
            <a:headEnd/>
            <a:tailEnd/>
          </a:ln>
        </p:spPr>
        <p:txBody>
          <a:bodyPr wrap="none">
            <a:spAutoFit/>
          </a:bodyPr>
          <a:lstStyle/>
          <a:p>
            <a:r>
              <a:rPr lang="en-US"/>
              <a:t>F</a:t>
            </a:r>
          </a:p>
        </p:txBody>
      </p:sp>
      <p:sp>
        <p:nvSpPr>
          <p:cNvPr id="54302" name="Line 36"/>
          <p:cNvSpPr>
            <a:spLocks noChangeShapeType="1"/>
          </p:cNvSpPr>
          <p:nvPr/>
        </p:nvSpPr>
        <p:spPr bwMode="auto">
          <a:xfrm>
            <a:off x="1727200" y="5276850"/>
            <a:ext cx="0" cy="973138"/>
          </a:xfrm>
          <a:prstGeom prst="line">
            <a:avLst/>
          </a:prstGeom>
          <a:noFill/>
          <a:ln w="9525">
            <a:solidFill>
              <a:schemeClr val="tx1"/>
            </a:solidFill>
            <a:round/>
            <a:headEnd/>
            <a:tailEnd/>
          </a:ln>
        </p:spPr>
        <p:txBody>
          <a:bodyPr/>
          <a:lstStyle/>
          <a:p>
            <a:endParaRPr lang="en-US"/>
          </a:p>
        </p:txBody>
      </p:sp>
      <p:sp>
        <p:nvSpPr>
          <p:cNvPr id="54303" name="Line 37"/>
          <p:cNvSpPr>
            <a:spLocks noChangeShapeType="1"/>
          </p:cNvSpPr>
          <p:nvPr/>
        </p:nvSpPr>
        <p:spPr bwMode="auto">
          <a:xfrm>
            <a:off x="1525588" y="6142038"/>
            <a:ext cx="2584450" cy="0"/>
          </a:xfrm>
          <a:prstGeom prst="line">
            <a:avLst/>
          </a:prstGeom>
          <a:noFill/>
          <a:ln w="9525">
            <a:solidFill>
              <a:schemeClr val="tx1"/>
            </a:solidFill>
            <a:round/>
            <a:headEnd/>
            <a:tailEnd/>
          </a:ln>
        </p:spPr>
        <p:txBody>
          <a:bodyPr/>
          <a:lstStyle/>
          <a:p>
            <a:endParaRPr lang="en-US"/>
          </a:p>
        </p:txBody>
      </p:sp>
      <p:sp>
        <p:nvSpPr>
          <p:cNvPr id="54304" name="Text Box 38"/>
          <p:cNvSpPr txBox="1">
            <a:spLocks noChangeArrowheads="1"/>
          </p:cNvSpPr>
          <p:nvPr/>
        </p:nvSpPr>
        <p:spPr bwMode="auto">
          <a:xfrm>
            <a:off x="3582988" y="6264275"/>
            <a:ext cx="311150" cy="366713"/>
          </a:xfrm>
          <a:prstGeom prst="rect">
            <a:avLst/>
          </a:prstGeom>
          <a:noFill/>
          <a:ln w="9525">
            <a:noFill/>
            <a:miter lim="800000"/>
            <a:headEnd/>
            <a:tailEnd/>
          </a:ln>
        </p:spPr>
        <p:txBody>
          <a:bodyPr wrap="none">
            <a:spAutoFit/>
          </a:bodyPr>
          <a:lstStyle/>
          <a:p>
            <a:r>
              <a:rPr lang="en-US"/>
              <a:t>h</a:t>
            </a:r>
          </a:p>
        </p:txBody>
      </p:sp>
      <p:sp>
        <p:nvSpPr>
          <p:cNvPr id="54305" name="Line 39"/>
          <p:cNvSpPr>
            <a:spLocks noChangeShapeType="1"/>
          </p:cNvSpPr>
          <p:nvPr/>
        </p:nvSpPr>
        <p:spPr bwMode="auto">
          <a:xfrm>
            <a:off x="1685925" y="5945188"/>
            <a:ext cx="2159000" cy="0"/>
          </a:xfrm>
          <a:prstGeom prst="line">
            <a:avLst/>
          </a:prstGeom>
          <a:noFill/>
          <a:ln w="9525">
            <a:solidFill>
              <a:schemeClr val="tx1"/>
            </a:solidFill>
            <a:round/>
            <a:headEnd/>
            <a:tailEnd/>
          </a:ln>
        </p:spPr>
        <p:txBody>
          <a:bodyPr/>
          <a:lstStyle/>
          <a:p>
            <a:endParaRPr lang="en-US"/>
          </a:p>
        </p:txBody>
      </p:sp>
      <p:sp>
        <p:nvSpPr>
          <p:cNvPr id="54306" name="Text Box 40"/>
          <p:cNvSpPr txBox="1">
            <a:spLocks noChangeArrowheads="1"/>
          </p:cNvSpPr>
          <p:nvPr/>
        </p:nvSpPr>
        <p:spPr bwMode="auto">
          <a:xfrm>
            <a:off x="1368425" y="5084763"/>
            <a:ext cx="323850" cy="366712"/>
          </a:xfrm>
          <a:prstGeom prst="rect">
            <a:avLst/>
          </a:prstGeom>
          <a:noFill/>
          <a:ln w="9525">
            <a:noFill/>
            <a:miter lim="800000"/>
            <a:headEnd/>
            <a:tailEnd/>
          </a:ln>
        </p:spPr>
        <p:txBody>
          <a:bodyPr wrap="none">
            <a:spAutoFit/>
          </a:bodyPr>
          <a:lstStyle/>
          <a:p>
            <a:r>
              <a:rPr lang="en-US"/>
              <a:t>F</a:t>
            </a:r>
          </a:p>
        </p:txBody>
      </p:sp>
      <p:sp>
        <p:nvSpPr>
          <p:cNvPr id="54307" name="Text Box 41"/>
          <p:cNvSpPr txBox="1">
            <a:spLocks noChangeArrowheads="1"/>
          </p:cNvSpPr>
          <p:nvPr/>
        </p:nvSpPr>
        <p:spPr bwMode="auto">
          <a:xfrm>
            <a:off x="1155700" y="3417888"/>
            <a:ext cx="336550" cy="366712"/>
          </a:xfrm>
          <a:prstGeom prst="rect">
            <a:avLst/>
          </a:prstGeom>
          <a:noFill/>
          <a:ln w="9525">
            <a:noFill/>
            <a:miter lim="800000"/>
            <a:headEnd/>
            <a:tailEnd/>
          </a:ln>
        </p:spPr>
        <p:txBody>
          <a:bodyPr wrap="none">
            <a:spAutoFit/>
          </a:bodyPr>
          <a:lstStyle/>
          <a:p>
            <a:r>
              <a:rPr lang="en-US">
                <a:solidFill>
                  <a:srgbClr val="3366FF"/>
                </a:solidFill>
              </a:rPr>
              <a:t>A</a:t>
            </a:r>
          </a:p>
        </p:txBody>
      </p:sp>
      <p:sp>
        <p:nvSpPr>
          <p:cNvPr id="54308" name="Text Box 42"/>
          <p:cNvSpPr txBox="1">
            <a:spLocks noChangeArrowheads="1"/>
          </p:cNvSpPr>
          <p:nvPr/>
        </p:nvSpPr>
        <p:spPr bwMode="auto">
          <a:xfrm>
            <a:off x="4152900" y="3513138"/>
            <a:ext cx="336550" cy="366712"/>
          </a:xfrm>
          <a:prstGeom prst="rect">
            <a:avLst/>
          </a:prstGeom>
          <a:noFill/>
          <a:ln w="9525">
            <a:noFill/>
            <a:miter lim="800000"/>
            <a:headEnd/>
            <a:tailEnd/>
          </a:ln>
        </p:spPr>
        <p:txBody>
          <a:bodyPr wrap="none">
            <a:spAutoFit/>
          </a:bodyPr>
          <a:lstStyle/>
          <a:p>
            <a:r>
              <a:rPr lang="en-US">
                <a:solidFill>
                  <a:srgbClr val="3366FF"/>
                </a:solidFill>
              </a:rPr>
              <a:t>B</a:t>
            </a:r>
          </a:p>
        </p:txBody>
      </p:sp>
      <p:sp>
        <p:nvSpPr>
          <p:cNvPr id="54309" name="Text Box 43"/>
          <p:cNvSpPr txBox="1">
            <a:spLocks noChangeArrowheads="1"/>
          </p:cNvSpPr>
          <p:nvPr/>
        </p:nvSpPr>
        <p:spPr bwMode="auto">
          <a:xfrm>
            <a:off x="2128838" y="5203825"/>
            <a:ext cx="349250" cy="366713"/>
          </a:xfrm>
          <a:prstGeom prst="rect">
            <a:avLst/>
          </a:prstGeom>
          <a:noFill/>
          <a:ln w="9525">
            <a:noFill/>
            <a:miter lim="800000"/>
            <a:headEnd/>
            <a:tailEnd/>
          </a:ln>
        </p:spPr>
        <p:txBody>
          <a:bodyPr wrap="none">
            <a:spAutoFit/>
          </a:bodyPr>
          <a:lstStyle/>
          <a:p>
            <a:r>
              <a:rPr lang="en-US">
                <a:solidFill>
                  <a:srgbClr val="3366FF"/>
                </a:solidFill>
              </a:rPr>
              <a:t>C</a:t>
            </a:r>
          </a:p>
        </p:txBody>
      </p:sp>
      <p:sp>
        <p:nvSpPr>
          <p:cNvPr id="54310" name="Line 44"/>
          <p:cNvSpPr>
            <a:spLocks noChangeShapeType="1"/>
          </p:cNvSpPr>
          <p:nvPr/>
        </p:nvSpPr>
        <p:spPr bwMode="auto">
          <a:xfrm flipV="1">
            <a:off x="550863" y="3919538"/>
            <a:ext cx="1901825" cy="50800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3004960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0D017EBE-1D93-40AE-8C01-976881712CAB}" type="slidenum">
              <a:rPr lang="en-US" smtClean="0"/>
              <a:pPr/>
              <a:t>26</a:t>
            </a:fld>
            <a:endParaRPr lang="en-US"/>
          </a:p>
        </p:txBody>
      </p:sp>
      <p:sp>
        <p:nvSpPr>
          <p:cNvPr id="55299" name="Rectangle 2"/>
          <p:cNvSpPr>
            <a:spLocks noGrp="1" noChangeArrowheads="1"/>
          </p:cNvSpPr>
          <p:nvPr>
            <p:ph type="title"/>
          </p:nvPr>
        </p:nvSpPr>
        <p:spPr/>
        <p:txBody>
          <a:bodyPr/>
          <a:lstStyle/>
          <a:p>
            <a:pPr eaLnBrk="1" hangingPunct="1"/>
            <a:r>
              <a:rPr lang="en-US"/>
              <a:t>Question 123.5.6</a:t>
            </a:r>
          </a:p>
        </p:txBody>
      </p:sp>
      <p:sp>
        <p:nvSpPr>
          <p:cNvPr id="55300" name="Rectangle 3"/>
          <p:cNvSpPr>
            <a:spLocks noGrp="1" noChangeArrowheads="1"/>
          </p:cNvSpPr>
          <p:nvPr>
            <p:ph type="body" idx="1"/>
          </p:nvPr>
        </p:nvSpPr>
        <p:spPr>
          <a:xfrm>
            <a:off x="457200" y="1600200"/>
            <a:ext cx="4838700" cy="4525963"/>
          </a:xfrm>
        </p:spPr>
        <p:txBody>
          <a:bodyPr/>
          <a:lstStyle/>
          <a:p>
            <a:pPr marL="533400" indent="-533400" eaLnBrk="1" hangingPunct="1">
              <a:lnSpc>
                <a:spcPct val="80000"/>
              </a:lnSpc>
              <a:buFontTx/>
              <a:buNone/>
            </a:pPr>
            <a:r>
              <a:rPr lang="en-US" sz="2400" dirty="0"/>
              <a:t>I have somehow suspended a block of concrete in a fluid. I replace the concrete with a block of Styrofoam with equal volume. The buoyant force on the Styrofoam is</a:t>
            </a:r>
          </a:p>
          <a:p>
            <a:pPr marL="533400" indent="-533400" eaLnBrk="1" hangingPunct="1">
              <a:lnSpc>
                <a:spcPct val="80000"/>
              </a:lnSpc>
            </a:pPr>
            <a:endParaRPr lang="en-US" sz="2400" dirty="0"/>
          </a:p>
          <a:p>
            <a:pPr marL="533400" indent="-533400" eaLnBrk="1" hangingPunct="1">
              <a:lnSpc>
                <a:spcPct val="80000"/>
              </a:lnSpc>
              <a:buFontTx/>
              <a:buAutoNum type="alphaLcParenR"/>
            </a:pPr>
            <a:r>
              <a:rPr lang="en-US" sz="2400" dirty="0"/>
              <a:t>Larger than</a:t>
            </a:r>
          </a:p>
          <a:p>
            <a:pPr marL="533400" indent="-533400" eaLnBrk="1" hangingPunct="1">
              <a:lnSpc>
                <a:spcPct val="80000"/>
              </a:lnSpc>
              <a:buFontTx/>
              <a:buAutoNum type="alphaLcParenR"/>
            </a:pPr>
            <a:r>
              <a:rPr lang="en-US" sz="2400" dirty="0"/>
              <a:t>smaller than</a:t>
            </a:r>
          </a:p>
          <a:p>
            <a:pPr marL="533400" indent="-533400" eaLnBrk="1" hangingPunct="1">
              <a:lnSpc>
                <a:spcPct val="80000"/>
              </a:lnSpc>
              <a:buFontTx/>
              <a:buAutoNum type="alphaLcParenR"/>
            </a:pPr>
            <a:r>
              <a:rPr lang="en-US" sz="2400" dirty="0"/>
              <a:t>the same as</a:t>
            </a:r>
          </a:p>
          <a:p>
            <a:pPr marL="533400" indent="-533400" eaLnBrk="1" hangingPunct="1">
              <a:lnSpc>
                <a:spcPct val="80000"/>
              </a:lnSpc>
              <a:buFontTx/>
              <a:buNone/>
            </a:pPr>
            <a:endParaRPr lang="en-US" sz="2400" dirty="0"/>
          </a:p>
          <a:p>
            <a:pPr marL="533400" indent="-533400" eaLnBrk="1" hangingPunct="1">
              <a:lnSpc>
                <a:spcPct val="80000"/>
              </a:lnSpc>
              <a:buFontTx/>
              <a:buNone/>
            </a:pPr>
            <a:r>
              <a:rPr lang="en-US" sz="2400" dirty="0"/>
              <a:t>The buoyant force on the concrete.</a:t>
            </a:r>
          </a:p>
          <a:p>
            <a:pPr marL="533400" indent="-533400" eaLnBrk="1" hangingPunct="1">
              <a:lnSpc>
                <a:spcPct val="80000"/>
              </a:lnSpc>
            </a:pPr>
            <a:endParaRPr lang="en-US" sz="2400" dirty="0"/>
          </a:p>
        </p:txBody>
      </p:sp>
      <p:grpSp>
        <p:nvGrpSpPr>
          <p:cNvPr id="55301" name="Group 5"/>
          <p:cNvGrpSpPr>
            <a:grpSpLocks/>
          </p:cNvGrpSpPr>
          <p:nvPr/>
        </p:nvGrpSpPr>
        <p:grpSpPr bwMode="auto">
          <a:xfrm>
            <a:off x="6400800" y="2408238"/>
            <a:ext cx="2247900" cy="2578100"/>
            <a:chOff x="3596" y="1780"/>
            <a:chExt cx="1416" cy="1624"/>
          </a:xfrm>
        </p:grpSpPr>
        <p:sp>
          <p:nvSpPr>
            <p:cNvPr id="55309"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5310"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5302" name="AutoShape 8"/>
          <p:cNvSpPr>
            <a:spLocks noChangeArrowheads="1"/>
          </p:cNvSpPr>
          <p:nvPr/>
        </p:nvSpPr>
        <p:spPr bwMode="auto">
          <a:xfrm>
            <a:off x="6661150" y="28844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5303" name="Rectangle 9"/>
          <p:cNvSpPr>
            <a:spLocks noChangeArrowheads="1"/>
          </p:cNvSpPr>
          <p:nvPr/>
        </p:nvSpPr>
        <p:spPr bwMode="auto">
          <a:xfrm>
            <a:off x="6661150" y="28527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55304" name="Freeform 10"/>
          <p:cNvSpPr>
            <a:spLocks/>
          </p:cNvSpPr>
          <p:nvPr/>
        </p:nvSpPr>
        <p:spPr bwMode="auto">
          <a:xfrm>
            <a:off x="65341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5" name="Freeform 11"/>
          <p:cNvSpPr>
            <a:spLocks/>
          </p:cNvSpPr>
          <p:nvPr/>
        </p:nvSpPr>
        <p:spPr bwMode="auto">
          <a:xfrm flipH="1">
            <a:off x="75247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6" name="Rectangle 12" descr="5%"/>
          <p:cNvSpPr>
            <a:spLocks noChangeArrowheads="1"/>
          </p:cNvSpPr>
          <p:nvPr/>
        </p:nvSpPr>
        <p:spPr bwMode="auto">
          <a:xfrm>
            <a:off x="5626100" y="3138488"/>
            <a:ext cx="603250" cy="1016000"/>
          </a:xfrm>
          <a:prstGeom prst="rect">
            <a:avLst/>
          </a:prstGeom>
          <a:pattFill prst="pct5">
            <a:fgClr>
              <a:srgbClr val="33CCCC"/>
            </a:fgClr>
            <a:bgClr>
              <a:schemeClr val="bg1"/>
            </a:bgClr>
          </a:pattFill>
          <a:ln w="9525">
            <a:solidFill>
              <a:schemeClr val="tx1"/>
            </a:solidFill>
            <a:miter lim="800000"/>
            <a:headEnd/>
            <a:tailEnd/>
          </a:ln>
        </p:spPr>
        <p:txBody>
          <a:bodyPr wrap="none" anchor="ctr"/>
          <a:lstStyle/>
          <a:p>
            <a:endParaRPr lang="en-US"/>
          </a:p>
        </p:txBody>
      </p:sp>
      <p:sp>
        <p:nvSpPr>
          <p:cNvPr id="55307" name="AutoShape 26"/>
          <p:cNvSpPr>
            <a:spLocks noChangeArrowheads="1"/>
          </p:cNvSpPr>
          <p:nvPr/>
        </p:nvSpPr>
        <p:spPr bwMode="auto">
          <a:xfrm>
            <a:off x="6272213" y="3451225"/>
            <a:ext cx="973137" cy="436563"/>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sp>
        <p:nvSpPr>
          <p:cNvPr id="55308" name="Rectangle 27" descr="Granite"/>
          <p:cNvSpPr>
            <a:spLocks noChangeArrowheads="1"/>
          </p:cNvSpPr>
          <p:nvPr/>
        </p:nvSpPr>
        <p:spPr bwMode="auto">
          <a:xfrm>
            <a:off x="7264400" y="3138488"/>
            <a:ext cx="603250" cy="1016000"/>
          </a:xfrm>
          <a:prstGeom prst="rect">
            <a:avLst/>
          </a:prstGeom>
          <a:blipFill dpi="0" rotWithShape="1">
            <a:blip r:embed="rId2" cstate="print"/>
            <a:srcRect/>
            <a:tile tx="0" ty="0" sx="100000" sy="100000" flip="none" algn="tl"/>
          </a:blip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13059432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File:Fish8005 - Flickr - NOAA Photo Libra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04" y="816429"/>
            <a:ext cx="8155884" cy="5505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049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618982-304B-E878-8E5E-FF1C64777F5C}"/>
              </a:ext>
            </a:extLst>
          </p:cNvPr>
          <p:cNvSpPr>
            <a:spLocks noGrp="1"/>
          </p:cNvSpPr>
          <p:nvPr>
            <p:ph type="ctrTitle"/>
          </p:nvPr>
        </p:nvSpPr>
        <p:spPr/>
        <p:txBody>
          <a:bodyPr/>
          <a:lstStyle/>
          <a:p>
            <a:r>
              <a:rPr lang="en-US" dirty="0"/>
              <a:t>End</a:t>
            </a:r>
          </a:p>
        </p:txBody>
      </p:sp>
      <p:sp>
        <p:nvSpPr>
          <p:cNvPr id="4" name="Subtitle 3">
            <a:extLst>
              <a:ext uri="{FF2B5EF4-FFF2-40B4-BE49-F238E27FC236}">
                <a16:creationId xmlns:a16="http://schemas.microsoft.com/office/drawing/2014/main" id="{7EB4D199-0C37-387B-8B2F-FE1B01999CD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84849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p:spPr>
        <p:txBody>
          <a:bodyPr/>
          <a:lstStyle/>
          <a:p>
            <a:fld id="{9BB70A6A-6290-4C9F-8FE7-84BDC15ED7E8}" type="slidenum">
              <a:rPr lang="en-US" smtClean="0"/>
              <a:pPr/>
              <a:t>29</a:t>
            </a:fld>
            <a:endParaRPr lang="en-US"/>
          </a:p>
        </p:txBody>
      </p:sp>
      <p:sp>
        <p:nvSpPr>
          <p:cNvPr id="50179" name="Rectangle 2"/>
          <p:cNvSpPr>
            <a:spLocks noGrp="1" noChangeArrowheads="1"/>
          </p:cNvSpPr>
          <p:nvPr>
            <p:ph type="title"/>
          </p:nvPr>
        </p:nvSpPr>
        <p:spPr/>
        <p:txBody>
          <a:bodyPr/>
          <a:lstStyle/>
          <a:p>
            <a:pPr eaLnBrk="1" hangingPunct="1"/>
            <a:r>
              <a:rPr lang="en-US" dirty="0"/>
              <a:t>Question 123.5.1</a:t>
            </a:r>
          </a:p>
        </p:txBody>
      </p:sp>
      <p:sp>
        <p:nvSpPr>
          <p:cNvPr id="50180" name="Rectangle 3"/>
          <p:cNvSpPr>
            <a:spLocks noGrp="1" noChangeArrowheads="1"/>
          </p:cNvSpPr>
          <p:nvPr>
            <p:ph type="body" idx="1"/>
          </p:nvPr>
        </p:nvSpPr>
        <p:spPr>
          <a:xfrm>
            <a:off x="457200" y="1600200"/>
            <a:ext cx="4398963" cy="4525963"/>
          </a:xfrm>
        </p:spPr>
        <p:txBody>
          <a:bodyPr/>
          <a:lstStyle/>
          <a:p>
            <a:pPr marL="609600" indent="-609600" eaLnBrk="1" hangingPunct="1">
              <a:buFontTx/>
              <a:buNone/>
            </a:pPr>
            <a:r>
              <a:rPr lang="en-US"/>
              <a:t>If the barometer shown here were used on Mars, would </a:t>
            </a:r>
            <a:r>
              <a:rPr lang="en-US">
                <a:sym typeface="Symbol" pitchFamily="18" charset="2"/>
              </a:rPr>
              <a:t>h be larger or smaller</a:t>
            </a:r>
          </a:p>
          <a:p>
            <a:pPr marL="609600" indent="-609600" eaLnBrk="1" hangingPunct="1">
              <a:buFontTx/>
              <a:buAutoNum type="alphaLcParenR"/>
            </a:pPr>
            <a:r>
              <a:rPr lang="en-US">
                <a:sym typeface="Symbol" pitchFamily="18" charset="2"/>
              </a:rPr>
              <a:t>Larger</a:t>
            </a:r>
          </a:p>
          <a:p>
            <a:pPr marL="609600" indent="-609600" eaLnBrk="1" hangingPunct="1">
              <a:buFontTx/>
              <a:buAutoNum type="alphaLcParenR"/>
            </a:pPr>
            <a:r>
              <a:rPr lang="en-US">
                <a:sym typeface="Symbol" pitchFamily="18" charset="2"/>
              </a:rPr>
              <a:t>Smaller</a:t>
            </a:r>
          </a:p>
        </p:txBody>
      </p:sp>
      <p:grpSp>
        <p:nvGrpSpPr>
          <p:cNvPr id="50181" name="Group 44"/>
          <p:cNvGrpSpPr>
            <a:grpSpLocks/>
          </p:cNvGrpSpPr>
          <p:nvPr/>
        </p:nvGrpSpPr>
        <p:grpSpPr bwMode="auto">
          <a:xfrm>
            <a:off x="6381750" y="1385888"/>
            <a:ext cx="2097088" cy="5032375"/>
            <a:chOff x="4020" y="873"/>
            <a:chExt cx="1321" cy="3170"/>
          </a:xfrm>
        </p:grpSpPr>
        <p:grpSp>
          <p:nvGrpSpPr>
            <p:cNvPr id="50182" name="Group 36"/>
            <p:cNvGrpSpPr>
              <a:grpSpLocks/>
            </p:cNvGrpSpPr>
            <p:nvPr/>
          </p:nvGrpSpPr>
          <p:grpSpPr bwMode="auto">
            <a:xfrm>
              <a:off x="4343" y="3416"/>
              <a:ext cx="931" cy="627"/>
              <a:chOff x="3733" y="1510"/>
              <a:chExt cx="1416" cy="1628"/>
            </a:xfrm>
          </p:grpSpPr>
          <p:grpSp>
            <p:nvGrpSpPr>
              <p:cNvPr id="50198" name="Group 37"/>
              <p:cNvGrpSpPr>
                <a:grpSpLocks/>
              </p:cNvGrpSpPr>
              <p:nvPr/>
            </p:nvGrpSpPr>
            <p:grpSpPr bwMode="auto">
              <a:xfrm>
                <a:off x="3733" y="1514"/>
                <a:ext cx="1416" cy="1624"/>
                <a:chOff x="3596" y="1780"/>
                <a:chExt cx="1416" cy="1624"/>
              </a:xfrm>
            </p:grpSpPr>
            <p:sp>
              <p:nvSpPr>
                <p:cNvPr id="50203" name="Freeform 38"/>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204" name="Freeform 39"/>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9" name="AutoShape 40"/>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0200" name="Rectangle 41"/>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0201" name="Freeform 42"/>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202" name="Freeform 43"/>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3" name="Rectangle 10"/>
            <p:cNvSpPr>
              <a:spLocks noChangeArrowheads="1"/>
            </p:cNvSpPr>
            <p:nvPr/>
          </p:nvSpPr>
          <p:spPr bwMode="auto">
            <a:xfrm>
              <a:off x="4463" y="3539"/>
              <a:ext cx="695" cy="98"/>
            </a:xfrm>
            <a:prstGeom prst="rect">
              <a:avLst/>
            </a:prstGeom>
            <a:solidFill>
              <a:schemeClr val="accent1"/>
            </a:solidFill>
            <a:ln w="9525">
              <a:noFill/>
              <a:miter lim="800000"/>
              <a:headEnd/>
              <a:tailEnd/>
            </a:ln>
          </p:spPr>
          <p:txBody>
            <a:bodyPr wrap="none" anchor="ctr"/>
            <a:lstStyle/>
            <a:p>
              <a:endParaRPr lang="en-US"/>
            </a:p>
          </p:txBody>
        </p:sp>
        <p:grpSp>
          <p:nvGrpSpPr>
            <p:cNvPr id="50184" name="Group 13"/>
            <p:cNvGrpSpPr>
              <a:grpSpLocks/>
            </p:cNvGrpSpPr>
            <p:nvPr/>
          </p:nvGrpSpPr>
          <p:grpSpPr bwMode="auto">
            <a:xfrm flipV="1">
              <a:off x="4734" y="1192"/>
              <a:ext cx="181" cy="2505"/>
              <a:chOff x="3162" y="2032"/>
              <a:chExt cx="931" cy="1161"/>
            </a:xfrm>
          </p:grpSpPr>
          <p:grpSp>
            <p:nvGrpSpPr>
              <p:cNvPr id="50193" name="Group 14"/>
              <p:cNvGrpSpPr>
                <a:grpSpLocks/>
              </p:cNvGrpSpPr>
              <p:nvPr/>
            </p:nvGrpSpPr>
            <p:grpSpPr bwMode="auto">
              <a:xfrm>
                <a:off x="3162" y="2035"/>
                <a:ext cx="931" cy="1158"/>
                <a:chOff x="3596" y="1780"/>
                <a:chExt cx="1416" cy="1624"/>
              </a:xfrm>
            </p:grpSpPr>
            <p:sp>
              <p:nvSpPr>
                <p:cNvPr id="50196" name="Freeform 1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0197" name="Freeform 1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0194" name="Freeform 17"/>
              <p:cNvSpPr>
                <a:spLocks/>
              </p:cNvSpPr>
              <p:nvPr/>
            </p:nvSpPr>
            <p:spPr bwMode="auto">
              <a:xfrm>
                <a:off x="3217" y="2032"/>
                <a:ext cx="411"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0195" name="Freeform 18"/>
              <p:cNvSpPr>
                <a:spLocks/>
              </p:cNvSpPr>
              <p:nvPr/>
            </p:nvSpPr>
            <p:spPr bwMode="auto">
              <a:xfrm flipH="1">
                <a:off x="3628" y="2032"/>
                <a:ext cx="410" cy="1132"/>
              </a:xfrm>
              <a:custGeom>
                <a:avLst/>
                <a:gdLst>
                  <a:gd name="T0" fmla="*/ 0 w 624"/>
                  <a:gd name="T1" fmla="*/ 0 h 1588"/>
                  <a:gd name="T2" fmla="*/ 1 w 624"/>
                  <a:gd name="T3" fmla="*/ 1 h 1588"/>
                  <a:gd name="T4" fmla="*/ 1 w 624"/>
                  <a:gd name="T5" fmla="*/ 1 h 1588"/>
                  <a:gd name="T6" fmla="*/ 1 w 624"/>
                  <a:gd name="T7" fmla="*/ 1 h 1588"/>
                  <a:gd name="T8" fmla="*/ 1 w 624"/>
                  <a:gd name="T9" fmla="*/ 1 h 1588"/>
                  <a:gd name="T10" fmla="*/ 1 w 624"/>
                  <a:gd name="T11" fmla="*/ 2 h 1588"/>
                  <a:gd name="T12" fmla="*/ 1 w 624"/>
                  <a:gd name="T13" fmla="*/ 3 h 1588"/>
                  <a:gd name="T14" fmla="*/ 1 w 624"/>
                  <a:gd name="T15" fmla="*/ 3 h 1588"/>
                  <a:gd name="T16" fmla="*/ 1 w 624"/>
                  <a:gd name="T17" fmla="*/ 4 h 1588"/>
                  <a:gd name="T18" fmla="*/ 1 w 624"/>
                  <a:gd name="T19" fmla="*/ 4 h 1588"/>
                  <a:gd name="T20" fmla="*/ 1 w 624"/>
                  <a:gd name="T21" fmla="*/ 4 h 1588"/>
                  <a:gd name="T22" fmla="*/ 1 w 624"/>
                  <a:gd name="T23" fmla="*/ 4 h 1588"/>
                  <a:gd name="T24" fmla="*/ 1 w 624"/>
                  <a:gd name="T25" fmla="*/ 4 h 1588"/>
                  <a:gd name="T26" fmla="*/ 1 w 624"/>
                  <a:gd name="T27" fmla="*/ 4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0185" name="Rectangle 19"/>
            <p:cNvSpPr>
              <a:spLocks noChangeArrowheads="1"/>
            </p:cNvSpPr>
            <p:nvPr/>
          </p:nvSpPr>
          <p:spPr bwMode="auto">
            <a:xfrm>
              <a:off x="4761" y="1366"/>
              <a:ext cx="122" cy="2379"/>
            </a:xfrm>
            <a:prstGeom prst="rect">
              <a:avLst/>
            </a:prstGeom>
            <a:solidFill>
              <a:schemeClr val="accent1"/>
            </a:solidFill>
            <a:ln w="9525">
              <a:noFill/>
              <a:miter lim="800000"/>
              <a:headEnd/>
              <a:tailEnd/>
            </a:ln>
          </p:spPr>
          <p:txBody>
            <a:bodyPr wrap="none" anchor="ctr"/>
            <a:lstStyle/>
            <a:p>
              <a:endParaRPr lang="en-US"/>
            </a:p>
          </p:txBody>
        </p:sp>
        <p:sp>
          <p:nvSpPr>
            <p:cNvPr id="50186" name="Line 20"/>
            <p:cNvSpPr>
              <a:spLocks noChangeShapeType="1"/>
            </p:cNvSpPr>
            <p:nvPr/>
          </p:nvSpPr>
          <p:spPr bwMode="auto">
            <a:xfrm>
              <a:off x="4407" y="1371"/>
              <a:ext cx="265" cy="0"/>
            </a:xfrm>
            <a:prstGeom prst="line">
              <a:avLst/>
            </a:prstGeom>
            <a:noFill/>
            <a:ln w="9525">
              <a:solidFill>
                <a:schemeClr val="tx1"/>
              </a:solidFill>
              <a:round/>
              <a:headEnd/>
              <a:tailEnd/>
            </a:ln>
          </p:spPr>
          <p:txBody>
            <a:bodyPr/>
            <a:lstStyle/>
            <a:p>
              <a:endParaRPr lang="en-US"/>
            </a:p>
          </p:txBody>
        </p:sp>
        <p:sp>
          <p:nvSpPr>
            <p:cNvPr id="50187" name="Line 21"/>
            <p:cNvSpPr>
              <a:spLocks noChangeShapeType="1"/>
            </p:cNvSpPr>
            <p:nvPr/>
          </p:nvSpPr>
          <p:spPr bwMode="auto">
            <a:xfrm>
              <a:off x="4570" y="1380"/>
              <a:ext cx="0" cy="2140"/>
            </a:xfrm>
            <a:prstGeom prst="line">
              <a:avLst/>
            </a:prstGeom>
            <a:noFill/>
            <a:ln w="9525">
              <a:solidFill>
                <a:schemeClr val="tx1"/>
              </a:solidFill>
              <a:round/>
              <a:headEnd type="triangle" w="med" len="med"/>
              <a:tailEnd type="triangle" w="med" len="med"/>
            </a:ln>
          </p:spPr>
          <p:txBody>
            <a:bodyPr/>
            <a:lstStyle/>
            <a:p>
              <a:endParaRPr lang="en-US"/>
            </a:p>
          </p:txBody>
        </p:sp>
        <p:sp>
          <p:nvSpPr>
            <p:cNvPr id="50188" name="Text Box 22"/>
            <p:cNvSpPr txBox="1">
              <a:spLocks noChangeArrowheads="1"/>
            </p:cNvSpPr>
            <p:nvPr/>
          </p:nvSpPr>
          <p:spPr bwMode="auto">
            <a:xfrm>
              <a:off x="4459" y="2400"/>
              <a:ext cx="196" cy="231"/>
            </a:xfrm>
            <a:prstGeom prst="rect">
              <a:avLst/>
            </a:prstGeom>
            <a:solidFill>
              <a:schemeClr val="bg1"/>
            </a:solidFill>
            <a:ln w="9525">
              <a:noFill/>
              <a:miter lim="800000"/>
              <a:headEnd/>
              <a:tailEnd/>
            </a:ln>
          </p:spPr>
          <p:txBody>
            <a:bodyPr wrap="none">
              <a:spAutoFit/>
            </a:bodyPr>
            <a:lstStyle/>
            <a:p>
              <a:r>
                <a:rPr lang="en-US"/>
                <a:t>h</a:t>
              </a:r>
            </a:p>
          </p:txBody>
        </p:sp>
        <p:sp>
          <p:nvSpPr>
            <p:cNvPr id="50189" name="Text Box 23"/>
            <p:cNvSpPr txBox="1">
              <a:spLocks noChangeArrowheads="1"/>
            </p:cNvSpPr>
            <p:nvPr/>
          </p:nvSpPr>
          <p:spPr bwMode="auto">
            <a:xfrm>
              <a:off x="4020" y="873"/>
              <a:ext cx="376" cy="231"/>
            </a:xfrm>
            <a:prstGeom prst="rect">
              <a:avLst/>
            </a:prstGeom>
            <a:noFill/>
            <a:ln w="9525">
              <a:noFill/>
              <a:miter lim="800000"/>
              <a:headEnd/>
              <a:tailEnd/>
            </a:ln>
          </p:spPr>
          <p:txBody>
            <a:bodyPr wrap="none">
              <a:spAutoFit/>
            </a:bodyPr>
            <a:lstStyle/>
            <a:p>
              <a:r>
                <a:rPr lang="en-US"/>
                <a:t>P=0</a:t>
              </a:r>
              <a:endParaRPr lang="en-US" baseline="-25000"/>
            </a:p>
          </p:txBody>
        </p:sp>
        <p:sp>
          <p:nvSpPr>
            <p:cNvPr id="50190" name="Freeform 24"/>
            <p:cNvSpPr>
              <a:spLocks/>
            </p:cNvSpPr>
            <p:nvPr/>
          </p:nvSpPr>
          <p:spPr bwMode="auto">
            <a:xfrm rot="20443352" flipH="1">
              <a:off x="4462" y="934"/>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50191" name="Text Box 25"/>
            <p:cNvSpPr txBox="1">
              <a:spLocks noChangeArrowheads="1"/>
            </p:cNvSpPr>
            <p:nvPr/>
          </p:nvSpPr>
          <p:spPr bwMode="auto">
            <a:xfrm>
              <a:off x="5076" y="2825"/>
              <a:ext cx="265" cy="231"/>
            </a:xfrm>
            <a:prstGeom prst="rect">
              <a:avLst/>
            </a:prstGeom>
            <a:noFill/>
            <a:ln w="9525">
              <a:noFill/>
              <a:miter lim="800000"/>
              <a:headEnd/>
              <a:tailEnd/>
            </a:ln>
          </p:spPr>
          <p:txBody>
            <a:bodyPr wrap="none">
              <a:spAutoFit/>
            </a:bodyPr>
            <a:lstStyle/>
            <a:p>
              <a:r>
                <a:rPr lang="en-US"/>
                <a:t>P</a:t>
              </a:r>
              <a:r>
                <a:rPr lang="en-US" baseline="-25000"/>
                <a:t>o</a:t>
              </a:r>
            </a:p>
          </p:txBody>
        </p:sp>
        <p:sp>
          <p:nvSpPr>
            <p:cNvPr id="50192" name="Freeform 26"/>
            <p:cNvSpPr>
              <a:spLocks/>
            </p:cNvSpPr>
            <p:nvPr/>
          </p:nvSpPr>
          <p:spPr bwMode="auto">
            <a:xfrm rot="-1156648">
              <a:off x="5041" y="3067"/>
              <a:ext cx="238" cy="342"/>
            </a:xfrm>
            <a:custGeom>
              <a:avLst/>
              <a:gdLst>
                <a:gd name="T0" fmla="*/ 7 w 292"/>
                <a:gd name="T1" fmla="*/ 0 h 430"/>
                <a:gd name="T2" fmla="*/ 3 w 292"/>
                <a:gd name="T3" fmla="*/ 4 h 430"/>
                <a:gd name="T4" fmla="*/ 6 w 292"/>
                <a:gd name="T5" fmla="*/ 4 h 430"/>
                <a:gd name="T6" fmla="*/ 0 w 292"/>
                <a:gd name="T7" fmla="*/ 7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spTree>
    <p:extLst>
      <p:ext uri="{BB962C8B-B14F-4D97-AF65-F5344CB8AC3E}">
        <p14:creationId xmlns:p14="http://schemas.microsoft.com/office/powerpoint/2010/main" val="2693185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9EB7D927-867D-426B-B934-711C106A415A}" type="slidenum">
              <a:rPr lang="en-US" smtClean="0"/>
              <a:pPr/>
              <a:t>30</a:t>
            </a:fld>
            <a:endParaRPr lang="en-US"/>
          </a:p>
        </p:txBody>
      </p:sp>
      <p:sp>
        <p:nvSpPr>
          <p:cNvPr id="51203" name="Rectangle 2"/>
          <p:cNvSpPr>
            <a:spLocks noGrp="1" noChangeArrowheads="1"/>
          </p:cNvSpPr>
          <p:nvPr>
            <p:ph type="title"/>
          </p:nvPr>
        </p:nvSpPr>
        <p:spPr/>
        <p:txBody>
          <a:bodyPr/>
          <a:lstStyle/>
          <a:p>
            <a:pPr eaLnBrk="1" hangingPunct="1"/>
            <a:r>
              <a:rPr lang="en-US"/>
              <a:t>Question 123.5.2</a:t>
            </a:r>
          </a:p>
        </p:txBody>
      </p:sp>
      <p:sp>
        <p:nvSpPr>
          <p:cNvPr id="51204" name="Rectangle 3"/>
          <p:cNvSpPr>
            <a:spLocks noGrp="1" noChangeArrowheads="1"/>
          </p:cNvSpPr>
          <p:nvPr>
            <p:ph type="body" idx="1"/>
          </p:nvPr>
        </p:nvSpPr>
        <p:spPr>
          <a:xfrm>
            <a:off x="4572000" y="1629229"/>
            <a:ext cx="4572000" cy="4525963"/>
          </a:xfrm>
        </p:spPr>
        <p:txBody>
          <a:bodyPr/>
          <a:lstStyle/>
          <a:p>
            <a:pPr marL="609600" indent="-609600" eaLnBrk="1" hangingPunct="1">
              <a:buFontTx/>
              <a:buNone/>
            </a:pPr>
            <a:r>
              <a:rPr lang="en-US" dirty="0"/>
              <a:t>The pressure at point A in this monometer is ________ the pressure at point B</a:t>
            </a:r>
          </a:p>
          <a:p>
            <a:pPr marL="609600" indent="-609600" eaLnBrk="1" hangingPunct="1">
              <a:buFontTx/>
              <a:buAutoNum type="alphaLcParenR"/>
            </a:pPr>
            <a:r>
              <a:rPr lang="en-US" dirty="0"/>
              <a:t>higher than</a:t>
            </a:r>
          </a:p>
          <a:p>
            <a:pPr marL="609600" indent="-609600" eaLnBrk="1" hangingPunct="1">
              <a:buFontTx/>
              <a:buAutoNum type="alphaLcParenR"/>
            </a:pPr>
            <a:r>
              <a:rPr lang="en-US" dirty="0"/>
              <a:t>lower than</a:t>
            </a:r>
          </a:p>
          <a:p>
            <a:pPr marL="609600" indent="-609600" eaLnBrk="1" hangingPunct="1">
              <a:buFontTx/>
              <a:buAutoNum type="alphaLcParenR"/>
            </a:pPr>
            <a:r>
              <a:rPr lang="en-US" dirty="0"/>
              <a:t>the same as</a:t>
            </a:r>
          </a:p>
        </p:txBody>
      </p:sp>
      <p:grpSp>
        <p:nvGrpSpPr>
          <p:cNvPr id="2" name="Group 1"/>
          <p:cNvGrpSpPr/>
          <p:nvPr/>
        </p:nvGrpSpPr>
        <p:grpSpPr>
          <a:xfrm>
            <a:off x="199572" y="1451429"/>
            <a:ext cx="3844604" cy="4793343"/>
            <a:chOff x="1143000" y="152400"/>
            <a:chExt cx="5392389" cy="6672943"/>
          </a:xfrm>
        </p:grpSpPr>
        <p:cxnSp>
          <p:nvCxnSpPr>
            <p:cNvPr id="6" name="Straight Connector 5"/>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1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2976564" y="2288722"/>
              <a:ext cx="2362200" cy="3657600"/>
              <a:chOff x="3048000" y="3200400"/>
              <a:chExt cx="2362200" cy="3657600"/>
            </a:xfrm>
          </p:grpSpPr>
          <p:sp>
            <p:nvSpPr>
              <p:cNvPr id="9" name="Rectangle 8"/>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 name="Rectangle 9"/>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Oval 10"/>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2" name="Oval 11"/>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Rectangle 12"/>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4" name="Oval 13"/>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Rectangle 14"/>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pic>
          <p:nvPicPr>
            <p:cNvPr id="16"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8" name="Freeform 17"/>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 name="Oval 18"/>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TextBox 19"/>
            <p:cNvSpPr txBox="1"/>
            <p:nvPr/>
          </p:nvSpPr>
          <p:spPr>
            <a:xfrm>
              <a:off x="3738565" y="3812721"/>
              <a:ext cx="414147" cy="385618"/>
            </a:xfrm>
            <a:prstGeom prst="rect">
              <a:avLst/>
            </a:prstGeom>
            <a:noFill/>
          </p:spPr>
          <p:txBody>
            <a:bodyPr wrap="none" rtlCol="0">
              <a:spAutoFit/>
            </a:bodyPr>
            <a:lstStyle/>
            <a:p>
              <a:r>
                <a:rPr lang="en-US" sz="1200" b="1" dirty="0">
                  <a:solidFill>
                    <a:srgbClr val="FF0000"/>
                  </a:solidFill>
                </a:rPr>
                <a:t>A</a:t>
              </a:r>
            </a:p>
          </p:txBody>
        </p:sp>
        <p:sp>
          <p:nvSpPr>
            <p:cNvPr id="21" name="TextBox 20"/>
            <p:cNvSpPr txBox="1"/>
            <p:nvPr/>
          </p:nvSpPr>
          <p:spPr>
            <a:xfrm>
              <a:off x="4729164" y="3812721"/>
              <a:ext cx="414147" cy="385618"/>
            </a:xfrm>
            <a:prstGeom prst="rect">
              <a:avLst/>
            </a:prstGeom>
            <a:noFill/>
          </p:spPr>
          <p:txBody>
            <a:bodyPr wrap="none" rtlCol="0">
              <a:spAutoFit/>
            </a:bodyPr>
            <a:lstStyle/>
            <a:p>
              <a:r>
                <a:rPr lang="en-US" sz="1200" b="1" dirty="0">
                  <a:solidFill>
                    <a:srgbClr val="FF0000"/>
                  </a:solidFill>
                </a:rPr>
                <a:t>B</a:t>
              </a:r>
            </a:p>
          </p:txBody>
        </p:sp>
        <p:sp>
          <p:nvSpPr>
            <p:cNvPr id="22" name="Oval 21"/>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3" name="Line 5"/>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sz="1200"/>
            </a:p>
          </p:txBody>
        </p:sp>
        <p:sp>
          <p:nvSpPr>
            <p:cNvPr id="24" name="Text Box 6"/>
            <p:cNvSpPr txBox="1">
              <a:spLocks noChangeArrowheads="1"/>
            </p:cNvSpPr>
            <p:nvPr/>
          </p:nvSpPr>
          <p:spPr bwMode="auto">
            <a:xfrm>
              <a:off x="5719764" y="4498522"/>
              <a:ext cx="506328" cy="385618"/>
            </a:xfrm>
            <a:prstGeom prst="rect">
              <a:avLst/>
            </a:prstGeom>
            <a:noFill/>
            <a:ln w="9525">
              <a:noFill/>
              <a:miter lim="800000"/>
              <a:headEnd/>
              <a:tailEnd/>
            </a:ln>
          </p:spPr>
          <p:txBody>
            <a:bodyPr wrap="none">
              <a:spAutoFit/>
            </a:bodyPr>
            <a:lstStyle/>
            <a:p>
              <a:r>
                <a:rPr lang="en-US" sz="1200" b="1" i="1" dirty="0"/>
                <a:t>P</a:t>
              </a:r>
              <a:r>
                <a:rPr lang="en-US" sz="1200" b="1" i="1" baseline="-25000" dirty="0"/>
                <a:t>B</a:t>
              </a:r>
            </a:p>
          </p:txBody>
        </p:sp>
        <p:sp>
          <p:nvSpPr>
            <p:cNvPr id="25" name="Line 7"/>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sz="1200"/>
            </a:p>
          </p:txBody>
        </p:sp>
        <p:sp>
          <p:nvSpPr>
            <p:cNvPr id="26" name="Text Box 8"/>
            <p:cNvSpPr txBox="1">
              <a:spLocks noChangeArrowheads="1"/>
            </p:cNvSpPr>
            <p:nvPr/>
          </p:nvSpPr>
          <p:spPr bwMode="auto">
            <a:xfrm>
              <a:off x="3554413" y="4541384"/>
              <a:ext cx="490320" cy="385618"/>
            </a:xfrm>
            <a:prstGeom prst="rect">
              <a:avLst/>
            </a:prstGeom>
            <a:noFill/>
            <a:ln w="9525">
              <a:noFill/>
              <a:miter lim="800000"/>
              <a:headEnd/>
              <a:tailEnd/>
            </a:ln>
          </p:spPr>
          <p:txBody>
            <a:bodyPr wrap="none">
              <a:spAutoFit/>
            </a:bodyPr>
            <a:lstStyle/>
            <a:p>
              <a:r>
                <a:rPr lang="en-US" sz="1200" b="1" i="1" dirty="0"/>
                <a:t>P</a:t>
              </a:r>
              <a:r>
                <a:rPr lang="en-US" sz="1200" b="1" i="1" baseline="-25000" dirty="0"/>
                <a:t>A</a:t>
              </a:r>
            </a:p>
          </p:txBody>
        </p:sp>
        <p:cxnSp>
          <p:nvCxnSpPr>
            <p:cNvPr id="27" name="Straight Arrow Connector 26"/>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024564" y="2898322"/>
              <a:ext cx="510825" cy="385618"/>
            </a:xfrm>
            <a:prstGeom prst="rect">
              <a:avLst/>
            </a:prstGeom>
            <a:solidFill>
              <a:schemeClr val="bg1"/>
            </a:solidFill>
          </p:spPr>
          <p:txBody>
            <a:bodyPr wrap="none" rtlCol="0">
              <a:spAutoFit/>
            </a:bodyPr>
            <a:lstStyle/>
            <a:p>
              <a:r>
                <a:rPr lang="en-US" sz="1200" dirty="0">
                  <a:sym typeface="Symbol"/>
                </a:rPr>
                <a:t>h</a:t>
              </a:r>
              <a:endParaRPr lang="en-US" sz="1200" dirty="0"/>
            </a:p>
          </p:txBody>
        </p:sp>
        <p:sp>
          <p:nvSpPr>
            <p:cNvPr id="29" name="Rectangle 28"/>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Rectangle 29"/>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1" name="Rectangle 30"/>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2" name="Rectangle 31"/>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3" name="Freeform 32"/>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4" name="Rectangle 33"/>
            <p:cNvSpPr/>
            <p:nvPr/>
          </p:nvSpPr>
          <p:spPr>
            <a:xfrm>
              <a:off x="1295399" y="1752600"/>
              <a:ext cx="1447800" cy="2527939"/>
            </a:xfrm>
            <a:prstGeom prst="rect">
              <a:avLst/>
            </a:prstGeom>
          </p:spPr>
          <p:txBody>
            <a:bodyPr wrap="square">
              <a:spAutoFit/>
            </a:bodyPr>
            <a:lstStyle/>
            <a:p>
              <a:pPr algn="ctr"/>
              <a:r>
                <a:rPr lang="en-US" sz="1600" dirty="0">
                  <a:solidFill>
                    <a:schemeClr val="bg1"/>
                  </a:solidFill>
                </a:rPr>
                <a:t>Pipe with a higher pressure, </a:t>
              </a:r>
              <a:r>
                <a:rPr lang="en-US" sz="1600" dirty="0" err="1">
                  <a:solidFill>
                    <a:schemeClr val="bg1"/>
                  </a:solidFill>
                </a:rPr>
                <a:t>P</a:t>
              </a:r>
              <a:r>
                <a:rPr lang="en-US" sz="1600" baseline="-25000" dirty="0" err="1">
                  <a:solidFill>
                    <a:schemeClr val="bg1"/>
                  </a:solidFill>
                </a:rPr>
                <a:t>pipe</a:t>
              </a:r>
              <a:r>
                <a:rPr lang="en-US" sz="1600" dirty="0">
                  <a:solidFill>
                    <a:schemeClr val="bg1"/>
                  </a:solidFill>
                </a:rPr>
                <a:t> that we wish to measure</a:t>
              </a:r>
            </a:p>
          </p:txBody>
        </p:sp>
      </p:grpSp>
    </p:spTree>
    <p:extLst>
      <p:ext uri="{BB962C8B-B14F-4D97-AF65-F5344CB8AC3E}">
        <p14:creationId xmlns:p14="http://schemas.microsoft.com/office/powerpoint/2010/main" val="2163596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p:nvPr/>
        </p:nvGrpSpPr>
        <p:grpSpPr>
          <a:xfrm>
            <a:off x="2726192" y="1268865"/>
            <a:ext cx="2657475" cy="4380820"/>
            <a:chOff x="3052763" y="300037"/>
            <a:chExt cx="2657475" cy="4380820"/>
          </a:xfrm>
        </p:grpSpPr>
        <p:grpSp>
          <p:nvGrpSpPr>
            <p:cNvPr id="38" name="Group 37"/>
            <p:cNvGrpSpPr/>
            <p:nvPr/>
          </p:nvGrpSpPr>
          <p:grpSpPr>
            <a:xfrm>
              <a:off x="3052763" y="300037"/>
              <a:ext cx="2657475" cy="4380820"/>
              <a:chOff x="3052763" y="300037"/>
              <a:chExt cx="2657475" cy="4380820"/>
            </a:xfrm>
          </p:grpSpPr>
          <p:grpSp>
            <p:nvGrpSpPr>
              <p:cNvPr id="5" name="Group 22"/>
              <p:cNvGrpSpPr>
                <a:grpSpLocks/>
              </p:cNvGrpSpPr>
              <p:nvPr/>
            </p:nvGrpSpPr>
            <p:grpSpPr bwMode="auto">
              <a:xfrm>
                <a:off x="3635375" y="3016250"/>
                <a:ext cx="2074863" cy="1664607"/>
                <a:chOff x="3596" y="1780"/>
                <a:chExt cx="1416" cy="1624"/>
              </a:xfrm>
            </p:grpSpPr>
            <p:sp>
              <p:nvSpPr>
                <p:cNvPr id="21"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2"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6"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7"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32" name="Freeform 31"/>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7"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18"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19"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0"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4" name="Freeform 23"/>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5" name="Freeform 24"/>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6"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28" name="Freeform 27"/>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9" name="Freeform 28"/>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3" name="Freeform 32"/>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5" name="Freeform 34"/>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39" name="Oval 38"/>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41" name="TextBox 40"/>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42" name="Oval 41"/>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22716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Date Placeholder 4"/>
          <p:cNvSpPr>
            <a:spLocks noGrp="1"/>
          </p:cNvSpPr>
          <p:nvPr>
            <p:ph type="dt" sz="quarter" idx="10"/>
          </p:nvPr>
        </p:nvSpPr>
        <p:spPr>
          <a:noFill/>
        </p:spPr>
        <p:txBody>
          <a:bodyPr/>
          <a:lstStyle/>
          <a:p>
            <a:r>
              <a:rPr lang="en-US"/>
              <a:t>Winter 2007</a:t>
            </a:r>
          </a:p>
        </p:txBody>
      </p:sp>
      <p:sp>
        <p:nvSpPr>
          <p:cNvPr id="6149" name="Footer Placeholder 5"/>
          <p:cNvSpPr>
            <a:spLocks noGrp="1"/>
          </p:cNvSpPr>
          <p:nvPr>
            <p:ph type="ftr" sz="quarter" idx="11"/>
          </p:nvPr>
        </p:nvSpPr>
        <p:spPr>
          <a:noFill/>
        </p:spPr>
        <p:txBody>
          <a:bodyPr/>
          <a:lstStyle/>
          <a:p>
            <a:r>
              <a:rPr lang="en-US"/>
              <a:t>R. Todd Lines</a:t>
            </a:r>
          </a:p>
        </p:txBody>
      </p:sp>
      <p:sp>
        <p:nvSpPr>
          <p:cNvPr id="6150" name="Slide Number Placeholder 6"/>
          <p:cNvSpPr>
            <a:spLocks noGrp="1"/>
          </p:cNvSpPr>
          <p:nvPr>
            <p:ph type="sldNum" sz="quarter" idx="12"/>
          </p:nvPr>
        </p:nvSpPr>
        <p:spPr>
          <a:noFill/>
        </p:spPr>
        <p:txBody>
          <a:bodyPr/>
          <a:lstStyle/>
          <a:p>
            <a:fld id="{AEF937B1-3B54-4162-AADD-A16FD8DBF1F9}" type="slidenum">
              <a:rPr lang="en-US" smtClean="0"/>
              <a:pPr/>
              <a:t>32</a:t>
            </a:fld>
            <a:endParaRPr lang="en-US"/>
          </a:p>
        </p:txBody>
      </p:sp>
      <p:sp>
        <p:nvSpPr>
          <p:cNvPr id="6151" name="Rectangle 2"/>
          <p:cNvSpPr>
            <a:spLocks noGrp="1" noChangeArrowheads="1"/>
          </p:cNvSpPr>
          <p:nvPr>
            <p:ph type="title"/>
          </p:nvPr>
        </p:nvSpPr>
        <p:spPr/>
        <p:txBody>
          <a:bodyPr/>
          <a:lstStyle/>
          <a:p>
            <a:pPr eaLnBrk="1" hangingPunct="1"/>
            <a:r>
              <a:rPr lang="en-US" sz="2800"/>
              <a:t>Pressure Measurement: Barometer</a:t>
            </a:r>
          </a:p>
        </p:txBody>
      </p:sp>
      <p:sp>
        <p:nvSpPr>
          <p:cNvPr id="6152" name="Rectangle 3"/>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(usually Hg)</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Would a water be practical to use for a barometer?</a:t>
            </a:r>
          </a:p>
        </p:txBody>
      </p:sp>
      <p:graphicFrame>
        <p:nvGraphicFramePr>
          <p:cNvPr id="6146" name="Object 5"/>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614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6"/>
          <p:cNvGraphicFramePr>
            <a:graphicFrameLocks noChangeAspect="1"/>
          </p:cNvGraphicFramePr>
          <p:nvPr/>
        </p:nvGraphicFramePr>
        <p:xfrm>
          <a:off x="1714500" y="4108450"/>
          <a:ext cx="1035050" cy="900113"/>
        </p:xfrm>
        <a:graphic>
          <a:graphicData uri="http://schemas.openxmlformats.org/presentationml/2006/ole">
            <mc:AlternateContent xmlns:mc="http://schemas.openxmlformats.org/markup-compatibility/2006">
              <mc:Choice xmlns:v="urn:schemas-microsoft-com:vml" Requires="v">
                <p:oleObj name="Equation" r:id="rId4" imgW="482400" imgH="419040" progId="Equation.3">
                  <p:embed/>
                </p:oleObj>
              </mc:Choice>
              <mc:Fallback>
                <p:oleObj name="Equation" r:id="rId4" imgW="482400" imgH="419040" progId="Equation.3">
                  <p:embed/>
                  <p:pic>
                    <p:nvPicPr>
                      <p:cNvPr id="614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4108450"/>
                        <a:ext cx="1035050" cy="900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p:cNvGrpSpPr/>
          <p:nvPr/>
        </p:nvGrpSpPr>
        <p:grpSpPr>
          <a:xfrm>
            <a:off x="6296706" y="1377723"/>
            <a:ext cx="2657475" cy="4380820"/>
            <a:chOff x="3052763" y="300037"/>
            <a:chExt cx="2657475" cy="4380820"/>
          </a:xfrm>
        </p:grpSpPr>
        <p:grpSp>
          <p:nvGrpSpPr>
            <p:cNvPr id="12" name="Group 11"/>
            <p:cNvGrpSpPr/>
            <p:nvPr/>
          </p:nvGrpSpPr>
          <p:grpSpPr>
            <a:xfrm>
              <a:off x="3052763" y="300037"/>
              <a:ext cx="2657475" cy="4380820"/>
              <a:chOff x="3052763" y="300037"/>
              <a:chExt cx="2657475" cy="4380820"/>
            </a:xfrm>
          </p:grpSpPr>
          <p:grpSp>
            <p:nvGrpSpPr>
              <p:cNvPr id="17" name="Group 22"/>
              <p:cNvGrpSpPr>
                <a:grpSpLocks/>
              </p:cNvGrpSpPr>
              <p:nvPr/>
            </p:nvGrpSpPr>
            <p:grpSpPr bwMode="auto">
              <a:xfrm>
                <a:off x="3635375" y="3016250"/>
                <a:ext cx="2074863" cy="1664607"/>
                <a:chOff x="3596" y="1780"/>
                <a:chExt cx="1416" cy="1624"/>
              </a:xfrm>
            </p:grpSpPr>
            <p:sp>
              <p:nvSpPr>
                <p:cNvPr id="37"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Date Placeholder 4"/>
          <p:cNvSpPr>
            <a:spLocks noGrp="1"/>
          </p:cNvSpPr>
          <p:nvPr>
            <p:ph type="dt" sz="quarter" idx="10"/>
          </p:nvPr>
        </p:nvSpPr>
        <p:spPr>
          <a:noFill/>
        </p:spPr>
        <p:txBody>
          <a:bodyPr/>
          <a:lstStyle/>
          <a:p>
            <a:r>
              <a:rPr lang="en-US"/>
              <a:t>Winter 2007</a:t>
            </a:r>
          </a:p>
        </p:txBody>
      </p:sp>
      <p:sp>
        <p:nvSpPr>
          <p:cNvPr id="7173" name="Footer Placeholder 5"/>
          <p:cNvSpPr>
            <a:spLocks noGrp="1"/>
          </p:cNvSpPr>
          <p:nvPr>
            <p:ph type="ftr" sz="quarter" idx="11"/>
          </p:nvPr>
        </p:nvSpPr>
        <p:spPr>
          <a:noFill/>
        </p:spPr>
        <p:txBody>
          <a:bodyPr/>
          <a:lstStyle/>
          <a:p>
            <a:r>
              <a:rPr lang="en-US"/>
              <a:t>R. Todd Lines</a:t>
            </a:r>
          </a:p>
        </p:txBody>
      </p:sp>
      <p:sp>
        <p:nvSpPr>
          <p:cNvPr id="7174" name="Slide Number Placeholder 6"/>
          <p:cNvSpPr>
            <a:spLocks noGrp="1"/>
          </p:cNvSpPr>
          <p:nvPr>
            <p:ph type="sldNum" sz="quarter" idx="12"/>
          </p:nvPr>
        </p:nvSpPr>
        <p:spPr>
          <a:noFill/>
        </p:spPr>
        <p:txBody>
          <a:bodyPr/>
          <a:lstStyle/>
          <a:p>
            <a:fld id="{E199DD0C-DC71-4519-8A7C-B9CB2428176C}" type="slidenum">
              <a:rPr lang="en-US" smtClean="0"/>
              <a:pPr/>
              <a:t>33</a:t>
            </a:fld>
            <a:endParaRPr lang="en-US"/>
          </a:p>
        </p:txBody>
      </p:sp>
      <p:sp>
        <p:nvSpPr>
          <p:cNvPr id="7175" name="Rectangle 2"/>
          <p:cNvSpPr>
            <a:spLocks noGrp="1" noChangeArrowheads="1"/>
          </p:cNvSpPr>
          <p:nvPr>
            <p:ph type="title"/>
          </p:nvPr>
        </p:nvSpPr>
        <p:spPr/>
        <p:txBody>
          <a:bodyPr/>
          <a:lstStyle/>
          <a:p>
            <a:pPr eaLnBrk="1" hangingPunct="1"/>
            <a:r>
              <a:rPr lang="en-US" sz="2800"/>
              <a:t>Pressure Measurement: Barometer</a:t>
            </a:r>
          </a:p>
        </p:txBody>
      </p:sp>
      <p:sp>
        <p:nvSpPr>
          <p:cNvPr id="7176" name="Rectangle 3"/>
          <p:cNvSpPr>
            <a:spLocks noGrp="1" noChangeArrowheads="1"/>
          </p:cNvSpPr>
          <p:nvPr>
            <p:ph type="body" sz="half" idx="1"/>
          </p:nvPr>
        </p:nvSpPr>
        <p:spPr>
          <a:xfrm>
            <a:off x="457200" y="1600200"/>
            <a:ext cx="5475288" cy="4525963"/>
          </a:xfrm>
        </p:spPr>
        <p:txBody>
          <a:bodyPr/>
          <a:lstStyle/>
          <a:p>
            <a:pPr eaLnBrk="1" hangingPunct="1">
              <a:lnSpc>
                <a:spcPct val="90000"/>
              </a:lnSpc>
            </a:pPr>
            <a:r>
              <a:rPr lang="en-US" sz="2000"/>
              <a:t>In many pressure measurements, the idea is to make the pressure due to a column of fluid equal to the pressure to be measured</a:t>
            </a:r>
          </a:p>
          <a:p>
            <a:pPr eaLnBrk="1" hangingPunct="1">
              <a:lnSpc>
                <a:spcPct val="90000"/>
              </a:lnSpc>
            </a:pPr>
            <a:r>
              <a:rPr lang="en-US" sz="2000"/>
              <a:t>For the barometer,</a:t>
            </a:r>
          </a:p>
          <a:p>
            <a:pPr eaLnBrk="1" hangingPunct="1">
              <a:lnSpc>
                <a:spcPct val="90000"/>
              </a:lnSpc>
            </a:pPr>
            <a:endParaRPr lang="en-US" sz="2000"/>
          </a:p>
          <a:p>
            <a:pPr eaLnBrk="1" hangingPunct="1">
              <a:lnSpc>
                <a:spcPct val="90000"/>
              </a:lnSpc>
            </a:pPr>
            <a:endParaRPr lang="en-US" sz="2000"/>
          </a:p>
          <a:p>
            <a:pPr eaLnBrk="1" hangingPunct="1">
              <a:lnSpc>
                <a:spcPct val="90000"/>
              </a:lnSpc>
            </a:pPr>
            <a:r>
              <a:rPr lang="en-US" sz="2000"/>
              <a:t>We solve for the height of the liquid. </a:t>
            </a:r>
          </a:p>
          <a:p>
            <a:pPr lvl="1" eaLnBrk="1" hangingPunct="1">
              <a:lnSpc>
                <a:spcPct val="90000"/>
              </a:lnSpc>
            </a:pPr>
            <a:r>
              <a:rPr lang="en-US" sz="1800"/>
              <a:t>For water this would be</a:t>
            </a:r>
          </a:p>
          <a:p>
            <a:pPr eaLnBrk="1" hangingPunct="1">
              <a:lnSpc>
                <a:spcPct val="90000"/>
              </a:lnSpc>
            </a:pPr>
            <a:endParaRPr lang="en-US" sz="2000"/>
          </a:p>
          <a:p>
            <a:pPr eaLnBrk="1" hangingPunct="1">
              <a:lnSpc>
                <a:spcPct val="90000"/>
              </a:lnSpc>
            </a:pPr>
            <a:endParaRPr lang="en-US" sz="2000"/>
          </a:p>
          <a:p>
            <a:pPr eaLnBrk="1" hangingPunct="1">
              <a:lnSpc>
                <a:spcPct val="90000"/>
              </a:lnSpc>
            </a:pPr>
            <a:endParaRPr lang="en-US" sz="2000"/>
          </a:p>
        </p:txBody>
      </p:sp>
      <p:graphicFrame>
        <p:nvGraphicFramePr>
          <p:cNvPr id="7170" name="Object 5"/>
          <p:cNvGraphicFramePr>
            <a:graphicFrameLocks noGrp="1" noChangeAspect="1"/>
          </p:cNvGraphicFramePr>
          <p:nvPr>
            <p:ph sz="half" idx="2"/>
          </p:nvPr>
        </p:nvGraphicFramePr>
        <p:xfrm>
          <a:off x="1685925" y="2971800"/>
          <a:ext cx="1254125" cy="490538"/>
        </p:xfrm>
        <a:graphic>
          <a:graphicData uri="http://schemas.openxmlformats.org/presentationml/2006/ole">
            <mc:AlternateContent xmlns:mc="http://schemas.openxmlformats.org/markup-compatibility/2006">
              <mc:Choice xmlns:v="urn:schemas-microsoft-com:vml" Requires="v">
                <p:oleObj name="Equation" r:id="rId2" imgW="583920" imgH="228600" progId="Equation.3">
                  <p:embed/>
                </p:oleObj>
              </mc:Choice>
              <mc:Fallback>
                <p:oleObj name="Equation" r:id="rId2" imgW="583920" imgH="228600" progId="Equation.3">
                  <p:embed/>
                  <p:pic>
                    <p:nvPicPr>
                      <p:cNvPr id="717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5925" y="2971800"/>
                        <a:ext cx="1254125" cy="490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8" name="Rectangle 6"/>
          <p:cNvSpPr>
            <a:spLocks noChangeArrowheads="1"/>
          </p:cNvSpPr>
          <p:nvPr/>
        </p:nvSpPr>
        <p:spPr bwMode="auto">
          <a:xfrm>
            <a:off x="0" y="3186113"/>
            <a:ext cx="9144000" cy="0"/>
          </a:xfrm>
          <a:prstGeom prst="rect">
            <a:avLst/>
          </a:prstGeom>
          <a:noFill/>
          <a:ln w="9525">
            <a:noFill/>
            <a:miter lim="800000"/>
            <a:headEnd/>
            <a:tailEnd/>
          </a:ln>
        </p:spPr>
        <p:txBody>
          <a:bodyPr wrap="none" anchor="ctr">
            <a:spAutoFit/>
          </a:bodyPr>
          <a:lstStyle/>
          <a:p>
            <a:endParaRPr lang="en-US"/>
          </a:p>
        </p:txBody>
      </p:sp>
      <p:graphicFrame>
        <p:nvGraphicFramePr>
          <p:cNvPr id="7171" name="Object 7"/>
          <p:cNvGraphicFramePr>
            <a:graphicFrameLocks noChangeAspect="1"/>
          </p:cNvGraphicFramePr>
          <p:nvPr/>
        </p:nvGraphicFramePr>
        <p:xfrm>
          <a:off x="563563" y="4594225"/>
          <a:ext cx="5076825" cy="658813"/>
        </p:xfrm>
        <a:graphic>
          <a:graphicData uri="http://schemas.openxmlformats.org/presentationml/2006/ole">
            <mc:AlternateContent xmlns:mc="http://schemas.openxmlformats.org/markup-compatibility/2006">
              <mc:Choice xmlns:v="urn:schemas-microsoft-com:vml" Requires="v">
                <p:oleObj name="Equation" r:id="rId4" imgW="3746500" imgH="482600" progId="Equation.3">
                  <p:embed/>
                </p:oleObj>
              </mc:Choice>
              <mc:Fallback>
                <p:oleObj name="Equation" r:id="rId4" imgW="3746500" imgH="482600" progId="Equation.3">
                  <p:embed/>
                  <p:pic>
                    <p:nvPicPr>
                      <p:cNvPr id="717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563" y="4594225"/>
                        <a:ext cx="5076825" cy="658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p:cNvGrpSpPr/>
          <p:nvPr/>
        </p:nvGrpSpPr>
        <p:grpSpPr>
          <a:xfrm>
            <a:off x="6394677" y="1377722"/>
            <a:ext cx="2657475" cy="4380820"/>
            <a:chOff x="3052763" y="300037"/>
            <a:chExt cx="2657475" cy="4380820"/>
          </a:xfrm>
        </p:grpSpPr>
        <p:grpSp>
          <p:nvGrpSpPr>
            <p:cNvPr id="12" name="Group 11"/>
            <p:cNvGrpSpPr/>
            <p:nvPr/>
          </p:nvGrpSpPr>
          <p:grpSpPr>
            <a:xfrm>
              <a:off x="3052763" y="300037"/>
              <a:ext cx="2657475" cy="4380820"/>
              <a:chOff x="3052763" y="300037"/>
              <a:chExt cx="2657475" cy="4380820"/>
            </a:xfrm>
          </p:grpSpPr>
          <p:grpSp>
            <p:nvGrpSpPr>
              <p:cNvPr id="17" name="Group 22"/>
              <p:cNvGrpSpPr>
                <a:grpSpLocks/>
              </p:cNvGrpSpPr>
              <p:nvPr/>
            </p:nvGrpSpPr>
            <p:grpSpPr bwMode="auto">
              <a:xfrm>
                <a:off x="3635375" y="3016250"/>
                <a:ext cx="2074863" cy="1664607"/>
                <a:chOff x="3596" y="1780"/>
                <a:chExt cx="1416" cy="1624"/>
              </a:xfrm>
            </p:grpSpPr>
            <p:sp>
              <p:nvSpPr>
                <p:cNvPr id="37"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38"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8" name="AutoShape 25"/>
              <p:cNvSpPr>
                <a:spLocks noChangeArrowheads="1"/>
              </p:cNvSpPr>
              <p:nvPr/>
            </p:nvSpPr>
            <p:spPr bwMode="auto">
              <a:xfrm>
                <a:off x="3875088" y="3432175"/>
                <a:ext cx="1595438" cy="1161596"/>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19" name="Rectangle 26"/>
              <p:cNvSpPr>
                <a:spLocks noChangeArrowheads="1"/>
              </p:cNvSpPr>
              <p:nvPr/>
            </p:nvSpPr>
            <p:spPr bwMode="auto">
              <a:xfrm>
                <a:off x="3875088" y="3405188"/>
                <a:ext cx="1577975" cy="344488"/>
              </a:xfrm>
              <a:prstGeom prst="rect">
                <a:avLst/>
              </a:prstGeom>
              <a:solidFill>
                <a:schemeClr val="bg1">
                  <a:lumMod val="65000"/>
                </a:schemeClr>
              </a:solidFill>
              <a:ln w="9525">
                <a:noFill/>
                <a:miter lim="800000"/>
                <a:headEnd/>
                <a:tailEnd/>
              </a:ln>
            </p:spPr>
            <p:txBody>
              <a:bodyPr wrap="none" anchor="ctr"/>
              <a:lstStyle/>
              <a:p>
                <a:endParaRPr lang="en-US"/>
              </a:p>
            </p:txBody>
          </p:sp>
          <p:sp>
            <p:nvSpPr>
              <p:cNvPr id="20" name="Freeform 19"/>
              <p:cNvSpPr/>
              <p:nvPr/>
            </p:nvSpPr>
            <p:spPr>
              <a:xfrm>
                <a:off x="4414838" y="3348038"/>
                <a:ext cx="485775" cy="809625"/>
              </a:xfrm>
              <a:custGeom>
                <a:avLst/>
                <a:gdLst>
                  <a:gd name="connsiteX0" fmla="*/ 33337 w 485775"/>
                  <a:gd name="connsiteY0" fmla="*/ 4762 h 809625"/>
                  <a:gd name="connsiteX1" fmla="*/ 447675 w 485775"/>
                  <a:gd name="connsiteY1" fmla="*/ 0 h 809625"/>
                  <a:gd name="connsiteX2" fmla="*/ 457200 w 485775"/>
                  <a:gd name="connsiteY2" fmla="*/ 300037 h 809625"/>
                  <a:gd name="connsiteX3" fmla="*/ 466725 w 485775"/>
                  <a:gd name="connsiteY3" fmla="*/ 461962 h 809625"/>
                  <a:gd name="connsiteX4" fmla="*/ 485775 w 485775"/>
                  <a:gd name="connsiteY4" fmla="*/ 614362 h 809625"/>
                  <a:gd name="connsiteX5" fmla="*/ 476250 w 485775"/>
                  <a:gd name="connsiteY5" fmla="*/ 747712 h 809625"/>
                  <a:gd name="connsiteX6" fmla="*/ 447675 w 485775"/>
                  <a:gd name="connsiteY6" fmla="*/ 809625 h 809625"/>
                  <a:gd name="connsiteX7" fmla="*/ 347662 w 485775"/>
                  <a:gd name="connsiteY7" fmla="*/ 804862 h 809625"/>
                  <a:gd name="connsiteX8" fmla="*/ 33337 w 485775"/>
                  <a:gd name="connsiteY8" fmla="*/ 800100 h 809625"/>
                  <a:gd name="connsiteX9" fmla="*/ 0 w 485775"/>
                  <a:gd name="connsiteY9" fmla="*/ 742950 h 809625"/>
                  <a:gd name="connsiteX10" fmla="*/ 0 w 485775"/>
                  <a:gd name="connsiteY10" fmla="*/ 619125 h 809625"/>
                  <a:gd name="connsiteX11" fmla="*/ 23812 w 485775"/>
                  <a:gd name="connsiteY11" fmla="*/ 423862 h 809625"/>
                  <a:gd name="connsiteX12" fmla="*/ 33337 w 485775"/>
                  <a:gd name="connsiteY12" fmla="*/ 185737 h 809625"/>
                  <a:gd name="connsiteX13" fmla="*/ 33337 w 485775"/>
                  <a:gd name="connsiteY13" fmla="*/ 4762 h 80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809625">
                    <a:moveTo>
                      <a:pt x="33337" y="4762"/>
                    </a:moveTo>
                    <a:lnTo>
                      <a:pt x="447675" y="0"/>
                    </a:lnTo>
                    <a:lnTo>
                      <a:pt x="457200" y="300037"/>
                    </a:lnTo>
                    <a:lnTo>
                      <a:pt x="466725" y="461962"/>
                    </a:lnTo>
                    <a:lnTo>
                      <a:pt x="485775" y="614362"/>
                    </a:lnTo>
                    <a:lnTo>
                      <a:pt x="476250" y="747712"/>
                    </a:lnTo>
                    <a:lnTo>
                      <a:pt x="447675" y="809625"/>
                    </a:lnTo>
                    <a:lnTo>
                      <a:pt x="347662" y="804862"/>
                    </a:lnTo>
                    <a:lnTo>
                      <a:pt x="33337" y="800100"/>
                    </a:lnTo>
                    <a:lnTo>
                      <a:pt x="0" y="742950"/>
                    </a:lnTo>
                    <a:lnTo>
                      <a:pt x="0" y="619125"/>
                    </a:lnTo>
                    <a:lnTo>
                      <a:pt x="23812" y="423862"/>
                    </a:lnTo>
                    <a:lnTo>
                      <a:pt x="33337" y="185737"/>
                    </a:lnTo>
                    <a:lnTo>
                      <a:pt x="33337" y="476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7"/>
              <p:cNvSpPr>
                <a:spLocks/>
              </p:cNvSpPr>
              <p:nvPr/>
            </p:nvSpPr>
            <p:spPr bwMode="auto">
              <a:xfrm>
                <a:off x="3759200" y="3009900"/>
                <a:ext cx="914400" cy="158387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2" name="Freeform 28"/>
              <p:cNvSpPr>
                <a:spLocks/>
              </p:cNvSpPr>
              <p:nvPr/>
            </p:nvSpPr>
            <p:spPr bwMode="auto">
              <a:xfrm flipH="1">
                <a:off x="4673599" y="3009901"/>
                <a:ext cx="912813" cy="1572986"/>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3" name="Line 36"/>
              <p:cNvSpPr>
                <a:spLocks noChangeShapeType="1"/>
              </p:cNvSpPr>
              <p:nvPr/>
            </p:nvSpPr>
            <p:spPr bwMode="auto">
              <a:xfrm flipH="1">
                <a:off x="5094515" y="3396342"/>
                <a:ext cx="198438" cy="0"/>
              </a:xfrm>
              <a:prstGeom prst="line">
                <a:avLst/>
              </a:prstGeom>
              <a:noFill/>
              <a:ln w="9525">
                <a:solidFill>
                  <a:schemeClr val="tx1"/>
                </a:solidFill>
                <a:round/>
                <a:headEnd/>
                <a:tailEnd/>
              </a:ln>
            </p:spPr>
            <p:txBody>
              <a:bodyPr/>
              <a:lstStyle/>
              <a:p>
                <a:endParaRPr lang="en-US"/>
              </a:p>
            </p:txBody>
          </p:sp>
          <p:sp>
            <p:nvSpPr>
              <p:cNvPr id="24" name="Line 37"/>
              <p:cNvSpPr>
                <a:spLocks noChangeShapeType="1"/>
              </p:cNvSpPr>
              <p:nvPr/>
            </p:nvSpPr>
            <p:spPr bwMode="auto">
              <a:xfrm>
                <a:off x="5094514" y="1055915"/>
                <a:ext cx="35379" cy="2318204"/>
              </a:xfrm>
              <a:prstGeom prst="line">
                <a:avLst/>
              </a:prstGeom>
              <a:noFill/>
              <a:ln w="9525">
                <a:solidFill>
                  <a:schemeClr val="tx1"/>
                </a:solidFill>
                <a:round/>
                <a:headEnd type="triangle" w="med" len="med"/>
                <a:tailEnd type="triangle" w="med" len="med"/>
              </a:ln>
            </p:spPr>
            <p:txBody>
              <a:bodyPr/>
              <a:lstStyle/>
              <a:p>
                <a:endParaRPr lang="en-US"/>
              </a:p>
            </p:txBody>
          </p:sp>
          <p:sp>
            <p:nvSpPr>
              <p:cNvPr id="25" name="Line 38"/>
              <p:cNvSpPr>
                <a:spLocks noChangeShapeType="1"/>
              </p:cNvSpPr>
              <p:nvPr/>
            </p:nvSpPr>
            <p:spPr bwMode="auto">
              <a:xfrm flipH="1">
                <a:off x="5021262" y="1053419"/>
                <a:ext cx="200025" cy="0"/>
              </a:xfrm>
              <a:prstGeom prst="line">
                <a:avLst/>
              </a:prstGeom>
              <a:noFill/>
              <a:ln w="9525">
                <a:solidFill>
                  <a:schemeClr val="tx1"/>
                </a:solidFill>
                <a:round/>
                <a:headEnd/>
                <a:tailEnd/>
              </a:ln>
            </p:spPr>
            <p:txBody>
              <a:bodyPr/>
              <a:lstStyle/>
              <a:p>
                <a:endParaRPr lang="en-US"/>
              </a:p>
            </p:txBody>
          </p:sp>
          <p:sp>
            <p:nvSpPr>
              <p:cNvPr id="26" name="Text Box 39"/>
              <p:cNvSpPr txBox="1">
                <a:spLocks noChangeArrowheads="1"/>
              </p:cNvSpPr>
              <p:nvPr/>
            </p:nvSpPr>
            <p:spPr bwMode="auto">
              <a:xfrm>
                <a:off x="5007202" y="2115230"/>
                <a:ext cx="282575" cy="304800"/>
              </a:xfrm>
              <a:prstGeom prst="rect">
                <a:avLst/>
              </a:prstGeom>
              <a:solidFill>
                <a:schemeClr val="bg1"/>
              </a:solidFill>
              <a:ln w="9525">
                <a:noFill/>
                <a:miter lim="800000"/>
                <a:headEnd/>
                <a:tailEnd/>
              </a:ln>
            </p:spPr>
            <p:txBody>
              <a:bodyPr wrap="none">
                <a:spAutoFit/>
              </a:bodyPr>
              <a:lstStyle/>
              <a:p>
                <a:r>
                  <a:rPr lang="en-US" sz="1400" i="1"/>
                  <a:t>h</a:t>
                </a:r>
              </a:p>
            </p:txBody>
          </p:sp>
          <p:sp>
            <p:nvSpPr>
              <p:cNvPr id="27" name="Freeform 26"/>
              <p:cNvSpPr>
                <a:spLocks/>
              </p:cNvSpPr>
              <p:nvPr/>
            </p:nvSpPr>
            <p:spPr bwMode="auto">
              <a:xfrm flipV="1">
                <a:off x="4419600"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8" name="Freeform 27"/>
              <p:cNvSpPr>
                <a:spLocks/>
              </p:cNvSpPr>
              <p:nvPr/>
            </p:nvSpPr>
            <p:spPr bwMode="auto">
              <a:xfrm flipH="1" flipV="1">
                <a:off x="4653895" y="304800"/>
                <a:ext cx="245130" cy="3837306"/>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9" name="AutoShape 25"/>
              <p:cNvSpPr>
                <a:spLocks noChangeArrowheads="1"/>
              </p:cNvSpPr>
              <p:nvPr/>
            </p:nvSpPr>
            <p:spPr bwMode="auto">
              <a:xfrm flipV="1">
                <a:off x="4519613" y="1023933"/>
                <a:ext cx="261937" cy="3043939"/>
              </a:xfrm>
              <a:prstGeom prst="roundRect">
                <a:avLst>
                  <a:gd name="adj" fmla="val 16667"/>
                </a:avLst>
              </a:prstGeom>
              <a:solidFill>
                <a:schemeClr val="bg1">
                  <a:lumMod val="65000"/>
                </a:schemeClr>
              </a:solidFill>
              <a:ln w="9525">
                <a:noFill/>
                <a:round/>
                <a:headEnd/>
                <a:tailEnd/>
              </a:ln>
            </p:spPr>
            <p:txBody>
              <a:bodyPr wrap="none" anchor="ctr"/>
              <a:lstStyle/>
              <a:p>
                <a:endParaRPr lang="en-US"/>
              </a:p>
            </p:txBody>
          </p:sp>
          <p:sp>
            <p:nvSpPr>
              <p:cNvPr id="30" name="Freeform 29"/>
              <p:cNvSpPr>
                <a:spLocks/>
              </p:cNvSpPr>
              <p:nvPr/>
            </p:nvSpPr>
            <p:spPr bwMode="auto">
              <a:xfrm flipV="1">
                <a:off x="4495799" y="399248"/>
                <a:ext cx="163695"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1" name="Freeform 30"/>
              <p:cNvSpPr>
                <a:spLocks/>
              </p:cNvSpPr>
              <p:nvPr/>
            </p:nvSpPr>
            <p:spPr bwMode="auto">
              <a:xfrm flipH="1" flipV="1">
                <a:off x="4659496" y="399248"/>
                <a:ext cx="141104" cy="3753652"/>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32" name="Freeform 31"/>
              <p:cNvSpPr/>
              <p:nvPr/>
            </p:nvSpPr>
            <p:spPr>
              <a:xfrm>
                <a:off x="4495800" y="3767138"/>
                <a:ext cx="309563" cy="400050"/>
              </a:xfrm>
              <a:custGeom>
                <a:avLst/>
                <a:gdLst>
                  <a:gd name="connsiteX0" fmla="*/ 33338 w 309563"/>
                  <a:gd name="connsiteY0" fmla="*/ 0 h 400050"/>
                  <a:gd name="connsiteX1" fmla="*/ 19050 w 309563"/>
                  <a:gd name="connsiteY1" fmla="*/ 357187 h 400050"/>
                  <a:gd name="connsiteX2" fmla="*/ 0 w 309563"/>
                  <a:gd name="connsiteY2" fmla="*/ 400050 h 400050"/>
                  <a:gd name="connsiteX3" fmla="*/ 309563 w 309563"/>
                  <a:gd name="connsiteY3" fmla="*/ 400050 h 400050"/>
                  <a:gd name="connsiteX4" fmla="*/ 295275 w 309563"/>
                  <a:gd name="connsiteY4" fmla="*/ 376237 h 400050"/>
                  <a:gd name="connsiteX5" fmla="*/ 276225 w 309563"/>
                  <a:gd name="connsiteY5" fmla="*/ 261937 h 400050"/>
                  <a:gd name="connsiteX6" fmla="*/ 280988 w 309563"/>
                  <a:gd name="connsiteY6" fmla="*/ 33337 h 400050"/>
                  <a:gd name="connsiteX7" fmla="*/ 33338 w 309563"/>
                  <a:gd name="connsiteY7" fmla="*/ 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9563" h="400050">
                    <a:moveTo>
                      <a:pt x="33338" y="0"/>
                    </a:moveTo>
                    <a:lnTo>
                      <a:pt x="19050" y="357187"/>
                    </a:lnTo>
                    <a:lnTo>
                      <a:pt x="0" y="400050"/>
                    </a:lnTo>
                    <a:lnTo>
                      <a:pt x="309563" y="400050"/>
                    </a:lnTo>
                    <a:lnTo>
                      <a:pt x="295275" y="376237"/>
                    </a:lnTo>
                    <a:lnTo>
                      <a:pt x="276225" y="261937"/>
                    </a:lnTo>
                    <a:cubicBezTo>
                      <a:pt x="277813" y="185737"/>
                      <a:pt x="279400" y="109537"/>
                      <a:pt x="280988" y="33337"/>
                    </a:cubicBezTo>
                    <a:lnTo>
                      <a:pt x="33338"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181351" y="300037"/>
                <a:ext cx="719812" cy="369332"/>
              </a:xfrm>
              <a:prstGeom prst="rect">
                <a:avLst/>
              </a:prstGeom>
              <a:noFill/>
            </p:spPr>
            <p:txBody>
              <a:bodyPr wrap="none" rtlCol="0">
                <a:spAutoFit/>
              </a:bodyPr>
              <a:lstStyle/>
              <a:p>
                <a:r>
                  <a:rPr lang="en-US" dirty="0"/>
                  <a:t>P</a:t>
                </a:r>
                <a:r>
                  <a:rPr lang="en-US" baseline="-25000" dirty="0"/>
                  <a:t>t</a:t>
                </a:r>
                <a:r>
                  <a:rPr lang="en-US" dirty="0"/>
                  <a:t> = 0</a:t>
                </a:r>
              </a:p>
            </p:txBody>
          </p:sp>
          <p:sp>
            <p:nvSpPr>
              <p:cNvPr id="34" name="Freeform 33"/>
              <p:cNvSpPr/>
              <p:nvPr/>
            </p:nvSpPr>
            <p:spPr>
              <a:xfrm>
                <a:off x="3819525" y="552450"/>
                <a:ext cx="785813"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rot="2605820">
                <a:off x="3364242" y="2796767"/>
                <a:ext cx="1059486" cy="280988"/>
              </a:xfrm>
              <a:custGeom>
                <a:avLst/>
                <a:gdLst>
                  <a:gd name="connsiteX0" fmla="*/ 0 w 785813"/>
                  <a:gd name="connsiteY0" fmla="*/ 0 h 280988"/>
                  <a:gd name="connsiteX1" fmla="*/ 328613 w 785813"/>
                  <a:gd name="connsiteY1" fmla="*/ 85725 h 280988"/>
                  <a:gd name="connsiteX2" fmla="*/ 190500 w 785813"/>
                  <a:gd name="connsiteY2" fmla="*/ 119063 h 280988"/>
                  <a:gd name="connsiteX3" fmla="*/ 785813 w 785813"/>
                  <a:gd name="connsiteY3" fmla="*/ 280988 h 280988"/>
                </a:gdLst>
                <a:ahLst/>
                <a:cxnLst>
                  <a:cxn ang="0">
                    <a:pos x="connsiteX0" y="connsiteY0"/>
                  </a:cxn>
                  <a:cxn ang="0">
                    <a:pos x="connsiteX1" y="connsiteY1"/>
                  </a:cxn>
                  <a:cxn ang="0">
                    <a:pos x="connsiteX2" y="connsiteY2"/>
                  </a:cxn>
                  <a:cxn ang="0">
                    <a:pos x="connsiteX3" y="connsiteY3"/>
                  </a:cxn>
                </a:cxnLst>
                <a:rect l="l" t="t" r="r" b="b"/>
                <a:pathLst>
                  <a:path w="785813" h="280988">
                    <a:moveTo>
                      <a:pt x="0" y="0"/>
                    </a:moveTo>
                    <a:cubicBezTo>
                      <a:pt x="148431" y="32940"/>
                      <a:pt x="296863" y="65881"/>
                      <a:pt x="328613" y="85725"/>
                    </a:cubicBezTo>
                    <a:cubicBezTo>
                      <a:pt x="360363" y="105569"/>
                      <a:pt x="114300" y="86519"/>
                      <a:pt x="190500" y="119063"/>
                    </a:cubicBezTo>
                    <a:cubicBezTo>
                      <a:pt x="266700" y="151607"/>
                      <a:pt x="526256" y="216297"/>
                      <a:pt x="785813" y="280988"/>
                    </a:cubicBezTo>
                  </a:path>
                </a:pathLst>
              </a:custGeom>
              <a:noFill/>
              <a:ln w="952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3052763" y="2052637"/>
                <a:ext cx="937885" cy="369332"/>
              </a:xfrm>
              <a:prstGeom prst="rect">
                <a:avLst/>
              </a:prstGeom>
              <a:noFill/>
            </p:spPr>
            <p:txBody>
              <a:bodyPr wrap="none" rtlCol="0">
                <a:spAutoFit/>
              </a:bodyPr>
              <a:lstStyle/>
              <a:p>
                <a:r>
                  <a:rPr lang="en-US" dirty="0"/>
                  <a:t>P</a:t>
                </a:r>
                <a:r>
                  <a:rPr lang="en-US" baseline="-25000" dirty="0"/>
                  <a:t>t</a:t>
                </a:r>
                <a:r>
                  <a:rPr lang="en-US" dirty="0"/>
                  <a:t> = </a:t>
                </a:r>
                <a:r>
                  <a:rPr lang="en-US" dirty="0" err="1"/>
                  <a:t>P</a:t>
                </a:r>
                <a:r>
                  <a:rPr lang="en-US" baseline="-25000" dirty="0" err="1"/>
                  <a:t>atm</a:t>
                </a:r>
                <a:endParaRPr lang="en-US" dirty="0"/>
              </a:p>
            </p:txBody>
          </p:sp>
        </p:grpSp>
        <p:sp>
          <p:nvSpPr>
            <p:cNvPr id="13" name="Oval 12"/>
            <p:cNvSpPr/>
            <p:nvPr/>
          </p:nvSpPr>
          <p:spPr>
            <a:xfrm>
              <a:off x="4620306" y="33555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511448" y="3518808"/>
              <a:ext cx="324128" cy="369332"/>
            </a:xfrm>
            <a:prstGeom prst="rect">
              <a:avLst/>
            </a:prstGeom>
            <a:noFill/>
          </p:spPr>
          <p:txBody>
            <a:bodyPr wrap="none" rtlCol="0">
              <a:spAutoFit/>
            </a:bodyPr>
            <a:lstStyle/>
            <a:p>
              <a:r>
                <a:rPr lang="en-US" b="1" dirty="0">
                  <a:solidFill>
                    <a:srgbClr val="FF0000"/>
                  </a:solidFill>
                </a:rPr>
                <a:t>A</a:t>
              </a:r>
            </a:p>
          </p:txBody>
        </p:sp>
        <p:sp>
          <p:nvSpPr>
            <p:cNvPr id="15" name="TextBox 14"/>
            <p:cNvSpPr txBox="1"/>
            <p:nvPr/>
          </p:nvSpPr>
          <p:spPr>
            <a:xfrm>
              <a:off x="5088393" y="3497036"/>
              <a:ext cx="314510" cy="369332"/>
            </a:xfrm>
            <a:prstGeom prst="rect">
              <a:avLst/>
            </a:prstGeom>
            <a:noFill/>
          </p:spPr>
          <p:txBody>
            <a:bodyPr wrap="none" rtlCol="0">
              <a:spAutoFit/>
            </a:bodyPr>
            <a:lstStyle/>
            <a:p>
              <a:r>
                <a:rPr lang="en-US" b="1" dirty="0">
                  <a:solidFill>
                    <a:srgbClr val="FF0000"/>
                  </a:solidFill>
                </a:rPr>
                <a:t>B</a:t>
              </a:r>
            </a:p>
          </p:txBody>
        </p:sp>
        <p:sp>
          <p:nvSpPr>
            <p:cNvPr id="16" name="Oval 15"/>
            <p:cNvSpPr/>
            <p:nvPr/>
          </p:nvSpPr>
          <p:spPr>
            <a:xfrm>
              <a:off x="5175477" y="3322865"/>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Straight Connector 38"/>
          <p:cNvCxnSpPr/>
          <p:nvPr/>
        </p:nvCxnSpPr>
        <p:spPr>
          <a:xfrm>
            <a:off x="5338764" y="2288722"/>
            <a:ext cx="1143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0" idx="0"/>
          </p:cNvCxnSpPr>
          <p:nvPr/>
        </p:nvCxnSpPr>
        <p:spPr>
          <a:xfrm>
            <a:off x="4348164" y="3965122"/>
            <a:ext cx="2133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2976564" y="2288722"/>
            <a:ext cx="2362200" cy="3657600"/>
            <a:chOff x="3048000" y="3200400"/>
            <a:chExt cx="2362200" cy="3657600"/>
          </a:xfrm>
        </p:grpSpPr>
        <p:sp>
          <p:nvSpPr>
            <p:cNvPr id="19" name="Rectangle 18"/>
            <p:cNvSpPr/>
            <p:nvPr/>
          </p:nvSpPr>
          <p:spPr>
            <a:xfrm>
              <a:off x="5105400" y="3200400"/>
              <a:ext cx="304800" cy="291984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4267200" y="4876800"/>
              <a:ext cx="304800" cy="1295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4267200" y="5638800"/>
              <a:ext cx="1143000" cy="121920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4572000" y="60198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72000" y="3276600"/>
              <a:ext cx="533400"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3733800" y="4419600"/>
              <a:ext cx="533400" cy="533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3048000" y="4648200"/>
              <a:ext cx="12192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146"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8" y="1918278"/>
            <a:ext cx="1468915" cy="381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ruler (simple, without figures) by jetxe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4947207" y="3289879"/>
            <a:ext cx="1468915" cy="381000"/>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9"/>
          <p:cNvSpPr/>
          <p:nvPr/>
        </p:nvSpPr>
        <p:spPr>
          <a:xfrm>
            <a:off x="2743200" y="685800"/>
            <a:ext cx="2584677" cy="5260522"/>
          </a:xfrm>
          <a:custGeom>
            <a:avLst/>
            <a:gdLst>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556657 w 2579914"/>
              <a:gd name="connsiteY14" fmla="*/ 2677886 h 5279572"/>
              <a:gd name="connsiteX15" fmla="*/ 1730828 w 2579914"/>
              <a:gd name="connsiteY15" fmla="*/ 2982686 h 5279572"/>
              <a:gd name="connsiteX16" fmla="*/ 1719943 w 2579914"/>
              <a:gd name="connsiteY16" fmla="*/ 4713515 h 5279572"/>
              <a:gd name="connsiteX17" fmla="*/ 1894114 w 2579914"/>
              <a:gd name="connsiteY17" fmla="*/ 4953000 h 5279572"/>
              <a:gd name="connsiteX18" fmla="*/ 2133600 w 2579914"/>
              <a:gd name="connsiteY18" fmla="*/ 4953000 h 5279572"/>
              <a:gd name="connsiteX19" fmla="*/ 2296885 w 2579914"/>
              <a:gd name="connsiteY19" fmla="*/ 4746172 h 5279572"/>
              <a:gd name="connsiteX20" fmla="*/ 2286000 w 2579914"/>
              <a:gd name="connsiteY20" fmla="*/ 21772 h 5279572"/>
              <a:gd name="connsiteX21" fmla="*/ 2569028 w 2579914"/>
              <a:gd name="connsiteY21"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328057 w 2579914"/>
              <a:gd name="connsiteY9" fmla="*/ 2862943 h 5279572"/>
              <a:gd name="connsiteX10" fmla="*/ 1121228 w 2579914"/>
              <a:gd name="connsiteY10" fmla="*/ 2830286 h 5279572"/>
              <a:gd name="connsiteX11" fmla="*/ 0 w 2579914"/>
              <a:gd name="connsiteY11" fmla="*/ 2819400 h 5279572"/>
              <a:gd name="connsiteX12" fmla="*/ 0 w 2579914"/>
              <a:gd name="connsiteY12" fmla="*/ 2536372 h 5279572"/>
              <a:gd name="connsiteX13" fmla="*/ 1197428 w 2579914"/>
              <a:gd name="connsiteY13" fmla="*/ 2536372 h 5279572"/>
              <a:gd name="connsiteX14" fmla="*/ 1730828 w 2579914"/>
              <a:gd name="connsiteY14" fmla="*/ 2982686 h 5279572"/>
              <a:gd name="connsiteX15" fmla="*/ 1719943 w 2579914"/>
              <a:gd name="connsiteY15" fmla="*/ 4713515 h 5279572"/>
              <a:gd name="connsiteX16" fmla="*/ 1894114 w 2579914"/>
              <a:gd name="connsiteY16" fmla="*/ 4953000 h 5279572"/>
              <a:gd name="connsiteX17" fmla="*/ 2133600 w 2579914"/>
              <a:gd name="connsiteY17" fmla="*/ 4953000 h 5279572"/>
              <a:gd name="connsiteX18" fmla="*/ 2296885 w 2579914"/>
              <a:gd name="connsiteY18" fmla="*/ 4746172 h 5279572"/>
              <a:gd name="connsiteX19" fmla="*/ 2286000 w 2579914"/>
              <a:gd name="connsiteY19" fmla="*/ 21772 h 5279572"/>
              <a:gd name="connsiteX20" fmla="*/ 2569028 w 2579914"/>
              <a:gd name="connsiteY20"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0 w 2579914"/>
              <a:gd name="connsiteY10" fmla="*/ 2819400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80457 w 2579914"/>
              <a:gd name="connsiteY6" fmla="*/ 4844143 h 5279572"/>
              <a:gd name="connsiteX7" fmla="*/ 1436914 w 2579914"/>
              <a:gd name="connsiteY7" fmla="*/ 4735286 h 5279572"/>
              <a:gd name="connsiteX8" fmla="*/ 1426028 w 2579914"/>
              <a:gd name="connsiteY8" fmla="*/ 3058886 h 5279572"/>
              <a:gd name="connsiteX9" fmla="*/ 1121228 w 2579914"/>
              <a:gd name="connsiteY9" fmla="*/ 2830286 h 5279572"/>
              <a:gd name="connsiteX10" fmla="*/ 10885 w 2579914"/>
              <a:gd name="connsiteY10" fmla="*/ 2841171 h 5279572"/>
              <a:gd name="connsiteX11" fmla="*/ 0 w 2579914"/>
              <a:gd name="connsiteY11" fmla="*/ 2536372 h 5279572"/>
              <a:gd name="connsiteX12" fmla="*/ 1197428 w 2579914"/>
              <a:gd name="connsiteY12" fmla="*/ 2536372 h 5279572"/>
              <a:gd name="connsiteX13" fmla="*/ 1730828 w 2579914"/>
              <a:gd name="connsiteY13" fmla="*/ 2982686 h 5279572"/>
              <a:gd name="connsiteX14" fmla="*/ 1719943 w 2579914"/>
              <a:gd name="connsiteY14" fmla="*/ 4713515 h 5279572"/>
              <a:gd name="connsiteX15" fmla="*/ 1894114 w 2579914"/>
              <a:gd name="connsiteY15" fmla="*/ 4953000 h 5279572"/>
              <a:gd name="connsiteX16" fmla="*/ 2133600 w 2579914"/>
              <a:gd name="connsiteY16" fmla="*/ 4953000 h 5279572"/>
              <a:gd name="connsiteX17" fmla="*/ 2296885 w 2579914"/>
              <a:gd name="connsiteY17" fmla="*/ 4746172 h 5279572"/>
              <a:gd name="connsiteX18" fmla="*/ 2286000 w 2579914"/>
              <a:gd name="connsiteY18" fmla="*/ 21772 h 5279572"/>
              <a:gd name="connsiteX19" fmla="*/ 2569028 w 2579914"/>
              <a:gd name="connsiteY19"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1894114 w 2579914"/>
              <a:gd name="connsiteY14" fmla="*/ 4953000 h 5279572"/>
              <a:gd name="connsiteX15" fmla="*/ 2133600 w 2579914"/>
              <a:gd name="connsiteY15" fmla="*/ 4953000 h 5279572"/>
              <a:gd name="connsiteX16" fmla="*/ 2296885 w 2579914"/>
              <a:gd name="connsiteY16" fmla="*/ 4746172 h 5279572"/>
              <a:gd name="connsiteX17" fmla="*/ 2286000 w 2579914"/>
              <a:gd name="connsiteY17" fmla="*/ 21772 h 5279572"/>
              <a:gd name="connsiteX18" fmla="*/ 2569028 w 2579914"/>
              <a:gd name="connsiteY18"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133600 w 2579914"/>
              <a:gd name="connsiteY14" fmla="*/ 4953000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264228 w 2579914"/>
              <a:gd name="connsiteY3" fmla="*/ 5214257 h 5279572"/>
              <a:gd name="connsiteX4" fmla="*/ 2013857 w 2579914"/>
              <a:gd name="connsiteY4" fmla="*/ 5279572 h 5279572"/>
              <a:gd name="connsiteX5" fmla="*/ 1643743 w 2579914"/>
              <a:gd name="connsiteY5" fmla="*/ 5148943 h 5279572"/>
              <a:gd name="connsiteX6" fmla="*/ 1436914 w 2579914"/>
              <a:gd name="connsiteY6" fmla="*/ 4735286 h 5279572"/>
              <a:gd name="connsiteX7" fmla="*/ 1426028 w 2579914"/>
              <a:gd name="connsiteY7" fmla="*/ 3058886 h 5279572"/>
              <a:gd name="connsiteX8" fmla="*/ 1121228 w 2579914"/>
              <a:gd name="connsiteY8" fmla="*/ 2830286 h 5279572"/>
              <a:gd name="connsiteX9" fmla="*/ 10885 w 2579914"/>
              <a:gd name="connsiteY9" fmla="*/ 2841171 h 5279572"/>
              <a:gd name="connsiteX10" fmla="*/ 0 w 2579914"/>
              <a:gd name="connsiteY10" fmla="*/ 2536372 h 5279572"/>
              <a:gd name="connsiteX11" fmla="*/ 1197428 w 2579914"/>
              <a:gd name="connsiteY11" fmla="*/ 2536372 h 5279572"/>
              <a:gd name="connsiteX12" fmla="*/ 1730828 w 2579914"/>
              <a:gd name="connsiteY12" fmla="*/ 2982686 h 5279572"/>
              <a:gd name="connsiteX13" fmla="*/ 1719943 w 2579914"/>
              <a:gd name="connsiteY13" fmla="*/ 4713515 h 5279572"/>
              <a:gd name="connsiteX14" fmla="*/ 2002972 w 2579914"/>
              <a:gd name="connsiteY14" fmla="*/ 4963885 h 5279572"/>
              <a:gd name="connsiteX15" fmla="*/ 2296885 w 2579914"/>
              <a:gd name="connsiteY15" fmla="*/ 4746172 h 5279572"/>
              <a:gd name="connsiteX16" fmla="*/ 2286000 w 2579914"/>
              <a:gd name="connsiteY16" fmla="*/ 21772 h 5279572"/>
              <a:gd name="connsiteX17" fmla="*/ 2569028 w 2579914"/>
              <a:gd name="connsiteY17"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643743 w 2579914"/>
              <a:gd name="connsiteY4" fmla="*/ 5148943 h 5279572"/>
              <a:gd name="connsiteX5" fmla="*/ 1436914 w 2579914"/>
              <a:gd name="connsiteY5" fmla="*/ 4735286 h 5279572"/>
              <a:gd name="connsiteX6" fmla="*/ 1426028 w 2579914"/>
              <a:gd name="connsiteY6" fmla="*/ 3058886 h 5279572"/>
              <a:gd name="connsiteX7" fmla="*/ 1121228 w 2579914"/>
              <a:gd name="connsiteY7" fmla="*/ 2830286 h 5279572"/>
              <a:gd name="connsiteX8" fmla="*/ 10885 w 2579914"/>
              <a:gd name="connsiteY8" fmla="*/ 2841171 h 5279572"/>
              <a:gd name="connsiteX9" fmla="*/ 0 w 2579914"/>
              <a:gd name="connsiteY9" fmla="*/ 2536372 h 5279572"/>
              <a:gd name="connsiteX10" fmla="*/ 1197428 w 2579914"/>
              <a:gd name="connsiteY10" fmla="*/ 2536372 h 5279572"/>
              <a:gd name="connsiteX11" fmla="*/ 1730828 w 2579914"/>
              <a:gd name="connsiteY11" fmla="*/ 2982686 h 5279572"/>
              <a:gd name="connsiteX12" fmla="*/ 1719943 w 2579914"/>
              <a:gd name="connsiteY12" fmla="*/ 4713515 h 5279572"/>
              <a:gd name="connsiteX13" fmla="*/ 2002972 w 2579914"/>
              <a:gd name="connsiteY13" fmla="*/ 4963885 h 5279572"/>
              <a:gd name="connsiteX14" fmla="*/ 2296885 w 2579914"/>
              <a:gd name="connsiteY14" fmla="*/ 4746172 h 5279572"/>
              <a:gd name="connsiteX15" fmla="*/ 2286000 w 2579914"/>
              <a:gd name="connsiteY15" fmla="*/ 21772 h 5279572"/>
              <a:gd name="connsiteX16" fmla="*/ 2569028 w 2579914"/>
              <a:gd name="connsiteY16" fmla="*/ 0 h 5279572"/>
              <a:gd name="connsiteX0" fmla="*/ 2569028 w 2579914"/>
              <a:gd name="connsiteY0" fmla="*/ 0 h 5279572"/>
              <a:gd name="connsiteX1" fmla="*/ 2579914 w 2579914"/>
              <a:gd name="connsiteY1" fmla="*/ 4659086 h 5279572"/>
              <a:gd name="connsiteX2" fmla="*/ 2503714 w 2579914"/>
              <a:gd name="connsiteY2" fmla="*/ 4953000 h 5279572"/>
              <a:gd name="connsiteX3" fmla="*/ 2013857 w 2579914"/>
              <a:gd name="connsiteY3" fmla="*/ 5279572 h 5279572"/>
              <a:gd name="connsiteX4" fmla="*/ 1436914 w 2579914"/>
              <a:gd name="connsiteY4" fmla="*/ 4735286 h 5279572"/>
              <a:gd name="connsiteX5" fmla="*/ 1426028 w 2579914"/>
              <a:gd name="connsiteY5" fmla="*/ 3058886 h 5279572"/>
              <a:gd name="connsiteX6" fmla="*/ 1121228 w 2579914"/>
              <a:gd name="connsiteY6" fmla="*/ 2830286 h 5279572"/>
              <a:gd name="connsiteX7" fmla="*/ 10885 w 2579914"/>
              <a:gd name="connsiteY7" fmla="*/ 2841171 h 5279572"/>
              <a:gd name="connsiteX8" fmla="*/ 0 w 2579914"/>
              <a:gd name="connsiteY8" fmla="*/ 2536372 h 5279572"/>
              <a:gd name="connsiteX9" fmla="*/ 1197428 w 2579914"/>
              <a:gd name="connsiteY9" fmla="*/ 2536372 h 5279572"/>
              <a:gd name="connsiteX10" fmla="*/ 1730828 w 2579914"/>
              <a:gd name="connsiteY10" fmla="*/ 2982686 h 5279572"/>
              <a:gd name="connsiteX11" fmla="*/ 1719943 w 2579914"/>
              <a:gd name="connsiteY11" fmla="*/ 4713515 h 5279572"/>
              <a:gd name="connsiteX12" fmla="*/ 2002972 w 2579914"/>
              <a:gd name="connsiteY12" fmla="*/ 4963885 h 5279572"/>
              <a:gd name="connsiteX13" fmla="*/ 2296885 w 2579914"/>
              <a:gd name="connsiteY13" fmla="*/ 4746172 h 5279572"/>
              <a:gd name="connsiteX14" fmla="*/ 2286000 w 2579914"/>
              <a:gd name="connsiteY14" fmla="*/ 21772 h 5279572"/>
              <a:gd name="connsiteX15" fmla="*/ 2569028 w 2579914"/>
              <a:gd name="connsiteY15"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02972 w 2579914"/>
              <a:gd name="connsiteY11" fmla="*/ 4963885 h 5279572"/>
              <a:gd name="connsiteX12" fmla="*/ 2296885 w 2579914"/>
              <a:gd name="connsiteY12" fmla="*/ 4746172 h 5279572"/>
              <a:gd name="connsiteX13" fmla="*/ 2286000 w 2579914"/>
              <a:gd name="connsiteY13" fmla="*/ 21772 h 5279572"/>
              <a:gd name="connsiteX14" fmla="*/ 2569028 w 2579914"/>
              <a:gd name="connsiteY14" fmla="*/ 0 h 5279572"/>
              <a:gd name="connsiteX0" fmla="*/ 2569028 w 2580015"/>
              <a:gd name="connsiteY0" fmla="*/ 0 h 5279572"/>
              <a:gd name="connsiteX1" fmla="*/ 2579914 w 2580015"/>
              <a:gd name="connsiteY1" fmla="*/ 4659086 h 5279572"/>
              <a:gd name="connsiteX2" fmla="*/ 2013857 w 2580015"/>
              <a:gd name="connsiteY2" fmla="*/ 5279572 h 5279572"/>
              <a:gd name="connsiteX3" fmla="*/ 1436914 w 2580015"/>
              <a:gd name="connsiteY3" fmla="*/ 4735286 h 5279572"/>
              <a:gd name="connsiteX4" fmla="*/ 1426028 w 2580015"/>
              <a:gd name="connsiteY4" fmla="*/ 3058886 h 5279572"/>
              <a:gd name="connsiteX5" fmla="*/ 1121228 w 2580015"/>
              <a:gd name="connsiteY5" fmla="*/ 2830286 h 5279572"/>
              <a:gd name="connsiteX6" fmla="*/ 10885 w 2580015"/>
              <a:gd name="connsiteY6" fmla="*/ 2841171 h 5279572"/>
              <a:gd name="connsiteX7" fmla="*/ 0 w 2580015"/>
              <a:gd name="connsiteY7" fmla="*/ 2536372 h 5279572"/>
              <a:gd name="connsiteX8" fmla="*/ 1197428 w 2580015"/>
              <a:gd name="connsiteY8" fmla="*/ 2536372 h 5279572"/>
              <a:gd name="connsiteX9" fmla="*/ 1730828 w 2580015"/>
              <a:gd name="connsiteY9" fmla="*/ 2982686 h 5279572"/>
              <a:gd name="connsiteX10" fmla="*/ 1719943 w 2580015"/>
              <a:gd name="connsiteY10" fmla="*/ 4713515 h 5279572"/>
              <a:gd name="connsiteX11" fmla="*/ 2002972 w 2580015"/>
              <a:gd name="connsiteY11" fmla="*/ 4963885 h 5279572"/>
              <a:gd name="connsiteX12" fmla="*/ 2296885 w 2580015"/>
              <a:gd name="connsiteY12" fmla="*/ 4746172 h 5279572"/>
              <a:gd name="connsiteX13" fmla="*/ 2286000 w 2580015"/>
              <a:gd name="connsiteY13" fmla="*/ 21772 h 5279572"/>
              <a:gd name="connsiteX14" fmla="*/ 2569028 w 2580015"/>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068286 w 2580171"/>
              <a:gd name="connsiteY12" fmla="*/ 4942115 h 5279572"/>
              <a:gd name="connsiteX13" fmla="*/ 2296885 w 2580171"/>
              <a:gd name="connsiteY13" fmla="*/ 4746172 h 5279572"/>
              <a:gd name="connsiteX14" fmla="*/ 2286000 w 2580171"/>
              <a:gd name="connsiteY14" fmla="*/ 21772 h 5279572"/>
              <a:gd name="connsiteX15" fmla="*/ 2569028 w 2580171"/>
              <a:gd name="connsiteY15"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02972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57401 w 2580171"/>
              <a:gd name="connsiteY11" fmla="*/ 4963885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6885 w 2580171"/>
              <a:gd name="connsiteY12" fmla="*/ 474617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80171"/>
              <a:gd name="connsiteY0" fmla="*/ 0 h 5279572"/>
              <a:gd name="connsiteX1" fmla="*/ 2579914 w 2580171"/>
              <a:gd name="connsiteY1" fmla="*/ 4659086 h 5279572"/>
              <a:gd name="connsiteX2" fmla="*/ 2013857 w 2580171"/>
              <a:gd name="connsiteY2" fmla="*/ 5279572 h 5279572"/>
              <a:gd name="connsiteX3" fmla="*/ 1436914 w 2580171"/>
              <a:gd name="connsiteY3" fmla="*/ 4735286 h 5279572"/>
              <a:gd name="connsiteX4" fmla="*/ 1426028 w 2580171"/>
              <a:gd name="connsiteY4" fmla="*/ 3058886 h 5279572"/>
              <a:gd name="connsiteX5" fmla="*/ 1121228 w 2580171"/>
              <a:gd name="connsiteY5" fmla="*/ 2830286 h 5279572"/>
              <a:gd name="connsiteX6" fmla="*/ 10885 w 2580171"/>
              <a:gd name="connsiteY6" fmla="*/ 2841171 h 5279572"/>
              <a:gd name="connsiteX7" fmla="*/ 0 w 2580171"/>
              <a:gd name="connsiteY7" fmla="*/ 2536372 h 5279572"/>
              <a:gd name="connsiteX8" fmla="*/ 1197428 w 2580171"/>
              <a:gd name="connsiteY8" fmla="*/ 2536372 h 5279572"/>
              <a:gd name="connsiteX9" fmla="*/ 1730828 w 2580171"/>
              <a:gd name="connsiteY9" fmla="*/ 2982686 h 5279572"/>
              <a:gd name="connsiteX10" fmla="*/ 1719943 w 2580171"/>
              <a:gd name="connsiteY10" fmla="*/ 4713515 h 5279572"/>
              <a:gd name="connsiteX11" fmla="*/ 2028826 w 2580171"/>
              <a:gd name="connsiteY11" fmla="*/ 4978172 h 5279572"/>
              <a:gd name="connsiteX12" fmla="*/ 2292123 w 2580171"/>
              <a:gd name="connsiteY12" fmla="*/ 4689022 h 5279572"/>
              <a:gd name="connsiteX13" fmla="*/ 2286000 w 2580171"/>
              <a:gd name="connsiteY13" fmla="*/ 21772 h 5279572"/>
              <a:gd name="connsiteX14" fmla="*/ 2569028 w 2580171"/>
              <a:gd name="connsiteY14" fmla="*/ 0 h 5279572"/>
              <a:gd name="connsiteX0" fmla="*/ 2569028 w 2579946"/>
              <a:gd name="connsiteY0" fmla="*/ 0 h 5279572"/>
              <a:gd name="connsiteX1" fmla="*/ 2579914 w 2579946"/>
              <a:gd name="connsiteY1" fmla="*/ 4659086 h 5279572"/>
              <a:gd name="connsiteX2" fmla="*/ 2013857 w 2579946"/>
              <a:gd name="connsiteY2" fmla="*/ 5279572 h 5279572"/>
              <a:gd name="connsiteX3" fmla="*/ 1436914 w 2579946"/>
              <a:gd name="connsiteY3" fmla="*/ 4735286 h 5279572"/>
              <a:gd name="connsiteX4" fmla="*/ 1426028 w 2579946"/>
              <a:gd name="connsiteY4" fmla="*/ 3058886 h 5279572"/>
              <a:gd name="connsiteX5" fmla="*/ 1121228 w 2579946"/>
              <a:gd name="connsiteY5" fmla="*/ 2830286 h 5279572"/>
              <a:gd name="connsiteX6" fmla="*/ 10885 w 2579946"/>
              <a:gd name="connsiteY6" fmla="*/ 2841171 h 5279572"/>
              <a:gd name="connsiteX7" fmla="*/ 0 w 2579946"/>
              <a:gd name="connsiteY7" fmla="*/ 2536372 h 5279572"/>
              <a:gd name="connsiteX8" fmla="*/ 1197428 w 2579946"/>
              <a:gd name="connsiteY8" fmla="*/ 2536372 h 5279572"/>
              <a:gd name="connsiteX9" fmla="*/ 1730828 w 2579946"/>
              <a:gd name="connsiteY9" fmla="*/ 2982686 h 5279572"/>
              <a:gd name="connsiteX10" fmla="*/ 1719943 w 2579946"/>
              <a:gd name="connsiteY10" fmla="*/ 4713515 h 5279572"/>
              <a:gd name="connsiteX11" fmla="*/ 2028826 w 2579946"/>
              <a:gd name="connsiteY11" fmla="*/ 4978172 h 5279572"/>
              <a:gd name="connsiteX12" fmla="*/ 2292123 w 2579946"/>
              <a:gd name="connsiteY12" fmla="*/ 4689022 h 5279572"/>
              <a:gd name="connsiteX13" fmla="*/ 2286000 w 2579946"/>
              <a:gd name="connsiteY13" fmla="*/ 21772 h 5279572"/>
              <a:gd name="connsiteX14" fmla="*/ 2569028 w 2579946"/>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58"/>
              <a:gd name="connsiteY0" fmla="*/ 0 h 5279572"/>
              <a:gd name="connsiteX1" fmla="*/ 2579914 w 2579958"/>
              <a:gd name="connsiteY1" fmla="*/ 4659086 h 5279572"/>
              <a:gd name="connsiteX2" fmla="*/ 2013857 w 2579958"/>
              <a:gd name="connsiteY2" fmla="*/ 5279572 h 5279572"/>
              <a:gd name="connsiteX3" fmla="*/ 1436914 w 2579958"/>
              <a:gd name="connsiteY3" fmla="*/ 4735286 h 5279572"/>
              <a:gd name="connsiteX4" fmla="*/ 1426028 w 2579958"/>
              <a:gd name="connsiteY4" fmla="*/ 3058886 h 5279572"/>
              <a:gd name="connsiteX5" fmla="*/ 1121228 w 2579958"/>
              <a:gd name="connsiteY5" fmla="*/ 2830286 h 5279572"/>
              <a:gd name="connsiteX6" fmla="*/ 10885 w 2579958"/>
              <a:gd name="connsiteY6" fmla="*/ 2841171 h 5279572"/>
              <a:gd name="connsiteX7" fmla="*/ 0 w 2579958"/>
              <a:gd name="connsiteY7" fmla="*/ 2536372 h 5279572"/>
              <a:gd name="connsiteX8" fmla="*/ 1197428 w 2579958"/>
              <a:gd name="connsiteY8" fmla="*/ 2536372 h 5279572"/>
              <a:gd name="connsiteX9" fmla="*/ 1730828 w 2579958"/>
              <a:gd name="connsiteY9" fmla="*/ 2982686 h 5279572"/>
              <a:gd name="connsiteX10" fmla="*/ 1719943 w 2579958"/>
              <a:gd name="connsiteY10" fmla="*/ 4713515 h 5279572"/>
              <a:gd name="connsiteX11" fmla="*/ 2028826 w 2579958"/>
              <a:gd name="connsiteY11" fmla="*/ 4978172 h 5279572"/>
              <a:gd name="connsiteX12" fmla="*/ 2292123 w 2579958"/>
              <a:gd name="connsiteY12" fmla="*/ 4689022 h 5279572"/>
              <a:gd name="connsiteX13" fmla="*/ 2286000 w 2579958"/>
              <a:gd name="connsiteY13" fmla="*/ 21772 h 5279572"/>
              <a:gd name="connsiteX14" fmla="*/ 2569028 w 2579958"/>
              <a:gd name="connsiteY14" fmla="*/ 0 h 5279572"/>
              <a:gd name="connsiteX0" fmla="*/ 2569028 w 2579914"/>
              <a:gd name="connsiteY0" fmla="*/ 0 h 5279572"/>
              <a:gd name="connsiteX1" fmla="*/ 2579914 w 2579914"/>
              <a:gd name="connsiteY1" fmla="*/ 4659086 h 5279572"/>
              <a:gd name="connsiteX2" fmla="*/ 2013857 w 2579914"/>
              <a:gd name="connsiteY2" fmla="*/ 5279572 h 5279572"/>
              <a:gd name="connsiteX3" fmla="*/ 1436914 w 2579914"/>
              <a:gd name="connsiteY3" fmla="*/ 4735286 h 5279572"/>
              <a:gd name="connsiteX4" fmla="*/ 1426028 w 2579914"/>
              <a:gd name="connsiteY4" fmla="*/ 3058886 h 5279572"/>
              <a:gd name="connsiteX5" fmla="*/ 1121228 w 2579914"/>
              <a:gd name="connsiteY5" fmla="*/ 2830286 h 5279572"/>
              <a:gd name="connsiteX6" fmla="*/ 10885 w 2579914"/>
              <a:gd name="connsiteY6" fmla="*/ 2841171 h 5279572"/>
              <a:gd name="connsiteX7" fmla="*/ 0 w 2579914"/>
              <a:gd name="connsiteY7" fmla="*/ 2536372 h 5279572"/>
              <a:gd name="connsiteX8" fmla="*/ 1197428 w 2579914"/>
              <a:gd name="connsiteY8" fmla="*/ 2536372 h 5279572"/>
              <a:gd name="connsiteX9" fmla="*/ 1730828 w 2579914"/>
              <a:gd name="connsiteY9" fmla="*/ 2982686 h 5279572"/>
              <a:gd name="connsiteX10" fmla="*/ 1719943 w 2579914"/>
              <a:gd name="connsiteY10" fmla="*/ 4713515 h 5279572"/>
              <a:gd name="connsiteX11" fmla="*/ 2028826 w 2579914"/>
              <a:gd name="connsiteY11" fmla="*/ 4978172 h 5279572"/>
              <a:gd name="connsiteX12" fmla="*/ 2292123 w 2579914"/>
              <a:gd name="connsiteY12" fmla="*/ 4689022 h 5279572"/>
              <a:gd name="connsiteX13" fmla="*/ 2286000 w 2579914"/>
              <a:gd name="connsiteY13" fmla="*/ 21772 h 5279572"/>
              <a:gd name="connsiteX14" fmla="*/ 2569028 w 2579914"/>
              <a:gd name="connsiteY14" fmla="*/ 0 h 5279572"/>
              <a:gd name="connsiteX0" fmla="*/ 2588078 w 2588635"/>
              <a:gd name="connsiteY0" fmla="*/ 11565 h 5257800"/>
              <a:gd name="connsiteX1" fmla="*/ 2579914 w 2588635"/>
              <a:gd name="connsiteY1" fmla="*/ 4637314 h 5257800"/>
              <a:gd name="connsiteX2" fmla="*/ 2013857 w 2588635"/>
              <a:gd name="connsiteY2" fmla="*/ 5257800 h 5257800"/>
              <a:gd name="connsiteX3" fmla="*/ 1436914 w 2588635"/>
              <a:gd name="connsiteY3" fmla="*/ 4713514 h 5257800"/>
              <a:gd name="connsiteX4" fmla="*/ 1426028 w 2588635"/>
              <a:gd name="connsiteY4" fmla="*/ 3037114 h 5257800"/>
              <a:gd name="connsiteX5" fmla="*/ 1121228 w 2588635"/>
              <a:gd name="connsiteY5" fmla="*/ 2808514 h 5257800"/>
              <a:gd name="connsiteX6" fmla="*/ 10885 w 2588635"/>
              <a:gd name="connsiteY6" fmla="*/ 2819399 h 5257800"/>
              <a:gd name="connsiteX7" fmla="*/ 0 w 2588635"/>
              <a:gd name="connsiteY7" fmla="*/ 2514600 h 5257800"/>
              <a:gd name="connsiteX8" fmla="*/ 1197428 w 2588635"/>
              <a:gd name="connsiteY8" fmla="*/ 2514600 h 5257800"/>
              <a:gd name="connsiteX9" fmla="*/ 1730828 w 2588635"/>
              <a:gd name="connsiteY9" fmla="*/ 2960914 h 5257800"/>
              <a:gd name="connsiteX10" fmla="*/ 1719943 w 2588635"/>
              <a:gd name="connsiteY10" fmla="*/ 4691743 h 5257800"/>
              <a:gd name="connsiteX11" fmla="*/ 2028826 w 2588635"/>
              <a:gd name="connsiteY11" fmla="*/ 4956400 h 5257800"/>
              <a:gd name="connsiteX12" fmla="*/ 2292123 w 2588635"/>
              <a:gd name="connsiteY12" fmla="*/ 4667250 h 5257800"/>
              <a:gd name="connsiteX13" fmla="*/ 2286000 w 2588635"/>
              <a:gd name="connsiteY13" fmla="*/ 0 h 5257800"/>
              <a:gd name="connsiteX14" fmla="*/ 2588078 w 2588635"/>
              <a:gd name="connsiteY14" fmla="*/ 11565 h 5257800"/>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3082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19943 w 2579914"/>
              <a:gd name="connsiteY10" fmla="*/ 4694465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9878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17322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4265 w 2579914"/>
              <a:gd name="connsiteY0" fmla="*/ 0 h 5260522"/>
              <a:gd name="connsiteX1" fmla="*/ 2579914 w 2579914"/>
              <a:gd name="connsiteY1" fmla="*/ 4640036 h 5260522"/>
              <a:gd name="connsiteX2" fmla="*/ 2013857 w 2579914"/>
              <a:gd name="connsiteY2" fmla="*/ 5260522 h 5260522"/>
              <a:gd name="connsiteX3" fmla="*/ 1436914 w 2579914"/>
              <a:gd name="connsiteY3" fmla="*/ 4716236 h 5260522"/>
              <a:gd name="connsiteX4" fmla="*/ 1426028 w 2579914"/>
              <a:gd name="connsiteY4" fmla="*/ 3039836 h 5260522"/>
              <a:gd name="connsiteX5" fmla="*/ 1121228 w 2579914"/>
              <a:gd name="connsiteY5" fmla="*/ 2811236 h 5260522"/>
              <a:gd name="connsiteX6" fmla="*/ 10885 w 2579914"/>
              <a:gd name="connsiteY6" fmla="*/ 2822121 h 5260522"/>
              <a:gd name="connsiteX7" fmla="*/ 0 w 2579914"/>
              <a:gd name="connsiteY7" fmla="*/ 2517322 h 5260522"/>
              <a:gd name="connsiteX8" fmla="*/ 1197428 w 2579914"/>
              <a:gd name="connsiteY8" fmla="*/ 2541135 h 5260522"/>
              <a:gd name="connsiteX9" fmla="*/ 1745115 w 2579914"/>
              <a:gd name="connsiteY9" fmla="*/ 2963636 h 5260522"/>
              <a:gd name="connsiteX10" fmla="*/ 1743756 w 2579914"/>
              <a:gd name="connsiteY10" fmla="*/ 4699228 h 5260522"/>
              <a:gd name="connsiteX11" fmla="*/ 2028826 w 2579914"/>
              <a:gd name="connsiteY11" fmla="*/ 4959122 h 5260522"/>
              <a:gd name="connsiteX12" fmla="*/ 2292123 w 2579914"/>
              <a:gd name="connsiteY12" fmla="*/ 4669972 h 5260522"/>
              <a:gd name="connsiteX13" fmla="*/ 2286000 w 2579914"/>
              <a:gd name="connsiteY13" fmla="*/ 2722 h 5260522"/>
              <a:gd name="connsiteX14" fmla="*/ 2564265 w 2579914"/>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5648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 name="connsiteX0" fmla="*/ 2572430 w 2588079"/>
              <a:gd name="connsiteY0" fmla="*/ 0 h 5260522"/>
              <a:gd name="connsiteX1" fmla="*/ 2588079 w 2588079"/>
              <a:gd name="connsiteY1" fmla="*/ 4640036 h 5260522"/>
              <a:gd name="connsiteX2" fmla="*/ 2022022 w 2588079"/>
              <a:gd name="connsiteY2" fmla="*/ 5260522 h 5260522"/>
              <a:gd name="connsiteX3" fmla="*/ 1445079 w 2588079"/>
              <a:gd name="connsiteY3" fmla="*/ 4716236 h 5260522"/>
              <a:gd name="connsiteX4" fmla="*/ 1434193 w 2588079"/>
              <a:gd name="connsiteY4" fmla="*/ 3039836 h 5260522"/>
              <a:gd name="connsiteX5" fmla="*/ 1129393 w 2588079"/>
              <a:gd name="connsiteY5" fmla="*/ 2811236 h 5260522"/>
              <a:gd name="connsiteX6" fmla="*/ 0 w 2588079"/>
              <a:gd name="connsiteY6" fmla="*/ 2817359 h 5260522"/>
              <a:gd name="connsiteX7" fmla="*/ 3402 w 2588079"/>
              <a:gd name="connsiteY7" fmla="*/ 2545897 h 5260522"/>
              <a:gd name="connsiteX8" fmla="*/ 1205593 w 2588079"/>
              <a:gd name="connsiteY8" fmla="*/ 2541135 h 5260522"/>
              <a:gd name="connsiteX9" fmla="*/ 1753280 w 2588079"/>
              <a:gd name="connsiteY9" fmla="*/ 2963636 h 5260522"/>
              <a:gd name="connsiteX10" fmla="*/ 1751921 w 2588079"/>
              <a:gd name="connsiteY10" fmla="*/ 4699228 h 5260522"/>
              <a:gd name="connsiteX11" fmla="*/ 2036991 w 2588079"/>
              <a:gd name="connsiteY11" fmla="*/ 4959122 h 5260522"/>
              <a:gd name="connsiteX12" fmla="*/ 2300288 w 2588079"/>
              <a:gd name="connsiteY12" fmla="*/ 4669972 h 5260522"/>
              <a:gd name="connsiteX13" fmla="*/ 2294165 w 2588079"/>
              <a:gd name="connsiteY13" fmla="*/ 2722 h 5260522"/>
              <a:gd name="connsiteX14" fmla="*/ 2572430 w 2588079"/>
              <a:gd name="connsiteY14" fmla="*/ 0 h 5260522"/>
              <a:gd name="connsiteX0" fmla="*/ 2569028 w 2584677"/>
              <a:gd name="connsiteY0" fmla="*/ 0 h 5260522"/>
              <a:gd name="connsiteX1" fmla="*/ 2584677 w 2584677"/>
              <a:gd name="connsiteY1" fmla="*/ 4640036 h 5260522"/>
              <a:gd name="connsiteX2" fmla="*/ 2018620 w 2584677"/>
              <a:gd name="connsiteY2" fmla="*/ 5260522 h 5260522"/>
              <a:gd name="connsiteX3" fmla="*/ 1441677 w 2584677"/>
              <a:gd name="connsiteY3" fmla="*/ 4716236 h 5260522"/>
              <a:gd name="connsiteX4" fmla="*/ 1430791 w 2584677"/>
              <a:gd name="connsiteY4" fmla="*/ 3039836 h 5260522"/>
              <a:gd name="connsiteX5" fmla="*/ 1125991 w 2584677"/>
              <a:gd name="connsiteY5" fmla="*/ 2811236 h 5260522"/>
              <a:gd name="connsiteX6" fmla="*/ 10886 w 2584677"/>
              <a:gd name="connsiteY6" fmla="*/ 2822121 h 5260522"/>
              <a:gd name="connsiteX7" fmla="*/ 0 w 2584677"/>
              <a:gd name="connsiteY7" fmla="*/ 2545897 h 5260522"/>
              <a:gd name="connsiteX8" fmla="*/ 1202191 w 2584677"/>
              <a:gd name="connsiteY8" fmla="*/ 2541135 h 5260522"/>
              <a:gd name="connsiteX9" fmla="*/ 1749878 w 2584677"/>
              <a:gd name="connsiteY9" fmla="*/ 2963636 h 5260522"/>
              <a:gd name="connsiteX10" fmla="*/ 1748519 w 2584677"/>
              <a:gd name="connsiteY10" fmla="*/ 4699228 h 5260522"/>
              <a:gd name="connsiteX11" fmla="*/ 2033589 w 2584677"/>
              <a:gd name="connsiteY11" fmla="*/ 4959122 h 5260522"/>
              <a:gd name="connsiteX12" fmla="*/ 2296886 w 2584677"/>
              <a:gd name="connsiteY12" fmla="*/ 4669972 h 5260522"/>
              <a:gd name="connsiteX13" fmla="*/ 2290763 w 2584677"/>
              <a:gd name="connsiteY13" fmla="*/ 2722 h 5260522"/>
              <a:gd name="connsiteX14" fmla="*/ 2569028 w 2584677"/>
              <a:gd name="connsiteY14" fmla="*/ 0 h 5260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84677" h="5260522">
                <a:moveTo>
                  <a:pt x="2569028" y="0"/>
                </a:moveTo>
                <a:cubicBezTo>
                  <a:pt x="2572657" y="1553029"/>
                  <a:pt x="2581048" y="3087007"/>
                  <a:pt x="2584677" y="4640036"/>
                </a:cubicBezTo>
                <a:cubicBezTo>
                  <a:pt x="2582409" y="4821691"/>
                  <a:pt x="2484892" y="5255079"/>
                  <a:pt x="2018620" y="5260522"/>
                </a:cubicBezTo>
                <a:cubicBezTo>
                  <a:pt x="1612220" y="5243286"/>
                  <a:pt x="1449161" y="4843463"/>
                  <a:pt x="1441677" y="4716236"/>
                </a:cubicBezTo>
                <a:cubicBezTo>
                  <a:pt x="1438048" y="4157436"/>
                  <a:pt x="1434420" y="3598636"/>
                  <a:pt x="1430791" y="3039836"/>
                </a:cubicBezTo>
                <a:cubicBezTo>
                  <a:pt x="1405391" y="2822122"/>
                  <a:pt x="1467077" y="2789465"/>
                  <a:pt x="1125991" y="2811236"/>
                </a:cubicBezTo>
                <a:lnTo>
                  <a:pt x="10886" y="2822121"/>
                </a:lnTo>
                <a:lnTo>
                  <a:pt x="0" y="2545897"/>
                </a:lnTo>
                <a:lnTo>
                  <a:pt x="1202191" y="2541135"/>
                </a:lnTo>
                <a:cubicBezTo>
                  <a:pt x="1599520" y="2561093"/>
                  <a:pt x="1756681" y="2468790"/>
                  <a:pt x="1749878" y="2963636"/>
                </a:cubicBezTo>
                <a:cubicBezTo>
                  <a:pt x="1746250" y="3540579"/>
                  <a:pt x="1752147" y="4122285"/>
                  <a:pt x="1748519" y="4699228"/>
                </a:cubicBezTo>
                <a:cubicBezTo>
                  <a:pt x="1765301" y="4771119"/>
                  <a:pt x="1784125" y="4947784"/>
                  <a:pt x="2033589" y="4959122"/>
                </a:cubicBezTo>
                <a:cubicBezTo>
                  <a:pt x="2252890" y="4946876"/>
                  <a:pt x="2296659" y="4752750"/>
                  <a:pt x="2296886" y="4669972"/>
                </a:cubicBezTo>
                <a:cubicBezTo>
                  <a:pt x="2293258" y="3095172"/>
                  <a:pt x="2294391" y="1577522"/>
                  <a:pt x="2290763" y="2722"/>
                </a:cubicBezTo>
                <a:lnTo>
                  <a:pt x="2569028"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2719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3738564" y="3812722"/>
            <a:ext cx="324128" cy="369332"/>
          </a:xfrm>
          <a:prstGeom prst="rect">
            <a:avLst/>
          </a:prstGeom>
          <a:noFill/>
        </p:spPr>
        <p:txBody>
          <a:bodyPr wrap="none" rtlCol="0">
            <a:spAutoFit/>
          </a:bodyPr>
          <a:lstStyle/>
          <a:p>
            <a:r>
              <a:rPr lang="en-US" b="1" dirty="0">
                <a:solidFill>
                  <a:srgbClr val="FF0000"/>
                </a:solidFill>
              </a:rPr>
              <a:t>A</a:t>
            </a:r>
          </a:p>
        </p:txBody>
      </p:sp>
      <p:sp>
        <p:nvSpPr>
          <p:cNvPr id="31" name="TextBox 30"/>
          <p:cNvSpPr txBox="1"/>
          <p:nvPr/>
        </p:nvSpPr>
        <p:spPr>
          <a:xfrm>
            <a:off x="4729164" y="3812722"/>
            <a:ext cx="314510" cy="369332"/>
          </a:xfrm>
          <a:prstGeom prst="rect">
            <a:avLst/>
          </a:prstGeom>
          <a:noFill/>
        </p:spPr>
        <p:txBody>
          <a:bodyPr wrap="none" rtlCol="0">
            <a:spAutoFit/>
          </a:bodyPr>
          <a:lstStyle/>
          <a:p>
            <a:r>
              <a:rPr lang="en-US" b="1" dirty="0">
                <a:solidFill>
                  <a:srgbClr val="FF0000"/>
                </a:solidFill>
              </a:rPr>
              <a:t>B</a:t>
            </a:r>
          </a:p>
        </p:txBody>
      </p:sp>
      <p:sp>
        <p:nvSpPr>
          <p:cNvPr id="32" name="Oval 31"/>
          <p:cNvSpPr/>
          <p:nvPr/>
        </p:nvSpPr>
        <p:spPr>
          <a:xfrm>
            <a:off x="5110164" y="3888922"/>
            <a:ext cx="152400" cy="1524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Line 5"/>
          <p:cNvSpPr>
            <a:spLocks noChangeShapeType="1"/>
          </p:cNvSpPr>
          <p:nvPr/>
        </p:nvSpPr>
        <p:spPr bwMode="auto">
          <a:xfrm>
            <a:off x="5262564" y="4041322"/>
            <a:ext cx="457200" cy="533400"/>
          </a:xfrm>
          <a:prstGeom prst="line">
            <a:avLst/>
          </a:prstGeom>
          <a:noFill/>
          <a:ln w="9525">
            <a:solidFill>
              <a:schemeClr val="tx1"/>
            </a:solidFill>
            <a:round/>
            <a:headEnd type="triangle" w="med" len="med"/>
            <a:tailEnd/>
          </a:ln>
        </p:spPr>
        <p:txBody>
          <a:bodyPr/>
          <a:lstStyle/>
          <a:p>
            <a:endParaRPr lang="en-US"/>
          </a:p>
        </p:txBody>
      </p:sp>
      <p:sp>
        <p:nvSpPr>
          <p:cNvPr id="34" name="Text Box 6"/>
          <p:cNvSpPr txBox="1">
            <a:spLocks noChangeArrowheads="1"/>
          </p:cNvSpPr>
          <p:nvPr/>
        </p:nvSpPr>
        <p:spPr bwMode="auto">
          <a:xfrm>
            <a:off x="5719764" y="4498522"/>
            <a:ext cx="394660" cy="369332"/>
          </a:xfrm>
          <a:prstGeom prst="rect">
            <a:avLst/>
          </a:prstGeom>
          <a:noFill/>
          <a:ln w="9525">
            <a:noFill/>
            <a:miter lim="800000"/>
            <a:headEnd/>
            <a:tailEnd/>
          </a:ln>
        </p:spPr>
        <p:txBody>
          <a:bodyPr wrap="none">
            <a:spAutoFit/>
          </a:bodyPr>
          <a:lstStyle/>
          <a:p>
            <a:r>
              <a:rPr lang="en-US" b="1" i="1" dirty="0"/>
              <a:t>P</a:t>
            </a:r>
            <a:r>
              <a:rPr lang="en-US" b="1" i="1" baseline="-25000" dirty="0"/>
              <a:t>B</a:t>
            </a:r>
          </a:p>
        </p:txBody>
      </p:sp>
      <p:sp>
        <p:nvSpPr>
          <p:cNvPr id="35" name="Line 7"/>
          <p:cNvSpPr>
            <a:spLocks noChangeShapeType="1"/>
          </p:cNvSpPr>
          <p:nvPr/>
        </p:nvSpPr>
        <p:spPr bwMode="auto">
          <a:xfrm flipH="1">
            <a:off x="3814764" y="4041322"/>
            <a:ext cx="479425" cy="652462"/>
          </a:xfrm>
          <a:prstGeom prst="line">
            <a:avLst/>
          </a:prstGeom>
          <a:noFill/>
          <a:ln w="9525">
            <a:solidFill>
              <a:schemeClr val="tx1"/>
            </a:solidFill>
            <a:round/>
            <a:headEnd type="triangle" w="med" len="med"/>
            <a:tailEnd/>
          </a:ln>
        </p:spPr>
        <p:txBody>
          <a:bodyPr/>
          <a:lstStyle/>
          <a:p>
            <a:endParaRPr lang="en-US"/>
          </a:p>
        </p:txBody>
      </p:sp>
      <p:sp>
        <p:nvSpPr>
          <p:cNvPr id="36" name="Text Box 8"/>
          <p:cNvSpPr txBox="1">
            <a:spLocks noChangeArrowheads="1"/>
          </p:cNvSpPr>
          <p:nvPr/>
        </p:nvSpPr>
        <p:spPr bwMode="auto">
          <a:xfrm>
            <a:off x="3554414" y="4541384"/>
            <a:ext cx="388120" cy="369332"/>
          </a:xfrm>
          <a:prstGeom prst="rect">
            <a:avLst/>
          </a:prstGeom>
          <a:noFill/>
          <a:ln w="9525">
            <a:noFill/>
            <a:miter lim="800000"/>
            <a:headEnd/>
            <a:tailEnd/>
          </a:ln>
        </p:spPr>
        <p:txBody>
          <a:bodyPr wrap="none">
            <a:spAutoFit/>
          </a:bodyPr>
          <a:lstStyle/>
          <a:p>
            <a:r>
              <a:rPr lang="en-US" b="1" i="1" dirty="0"/>
              <a:t>P</a:t>
            </a:r>
            <a:r>
              <a:rPr lang="en-US" b="1" i="1" baseline="-25000" dirty="0"/>
              <a:t>A</a:t>
            </a:r>
          </a:p>
        </p:txBody>
      </p:sp>
      <p:cxnSp>
        <p:nvCxnSpPr>
          <p:cNvPr id="42" name="Straight Arrow Connector 41"/>
          <p:cNvCxnSpPr/>
          <p:nvPr/>
        </p:nvCxnSpPr>
        <p:spPr>
          <a:xfrm>
            <a:off x="6176964" y="2288722"/>
            <a:ext cx="0" cy="1676400"/>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6024564" y="2898322"/>
            <a:ext cx="447558" cy="369332"/>
          </a:xfrm>
          <a:prstGeom prst="rect">
            <a:avLst/>
          </a:prstGeom>
          <a:solidFill>
            <a:schemeClr val="bg1"/>
          </a:solidFill>
        </p:spPr>
        <p:txBody>
          <a:bodyPr wrap="none" rtlCol="0">
            <a:spAutoFit/>
          </a:bodyPr>
          <a:lstStyle/>
          <a:p>
            <a:r>
              <a:rPr lang="en-US" dirty="0">
                <a:sym typeface="Symbol"/>
              </a:rPr>
              <a:t>h</a:t>
            </a:r>
            <a:endParaRPr lang="en-US" dirty="0"/>
          </a:p>
        </p:txBody>
      </p:sp>
      <p:sp>
        <p:nvSpPr>
          <p:cNvPr id="46" name="Rectangle 45"/>
          <p:cNvSpPr/>
          <p:nvPr/>
        </p:nvSpPr>
        <p:spPr>
          <a:xfrm>
            <a:off x="4724400" y="609600"/>
            <a:ext cx="8382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2514600" y="3124200"/>
            <a:ext cx="381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20574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1143000" y="152400"/>
            <a:ext cx="914400" cy="6629400"/>
          </a:xfrm>
          <a:prstGeom prst="rect">
            <a:avLst/>
          </a:prstGeom>
          <a:gradFill flip="none" rotWithShape="1">
            <a:gsLst>
              <a:gs pos="0">
                <a:schemeClr val="bg1">
                  <a:lumMod val="50000"/>
                  <a:shade val="30000"/>
                  <a:satMod val="115000"/>
                </a:schemeClr>
              </a:gs>
              <a:gs pos="50000">
                <a:schemeClr val="bg1">
                  <a:lumMod val="50000"/>
                  <a:shade val="67500"/>
                  <a:satMod val="115000"/>
                </a:schemeClr>
              </a:gs>
              <a:gs pos="100000">
                <a:schemeClr val="bg1">
                  <a:lumMod val="50000"/>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Freeform 48"/>
          <p:cNvSpPr/>
          <p:nvPr/>
        </p:nvSpPr>
        <p:spPr>
          <a:xfrm>
            <a:off x="1132114" y="43543"/>
            <a:ext cx="1872343" cy="370114"/>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p:nvPr/>
        </p:nvSpPr>
        <p:spPr>
          <a:xfrm flipV="1">
            <a:off x="1143000" y="6553200"/>
            <a:ext cx="1872343" cy="272143"/>
          </a:xfrm>
          <a:custGeom>
            <a:avLst/>
            <a:gdLst>
              <a:gd name="connsiteX0" fmla="*/ 0 w 1872343"/>
              <a:gd name="connsiteY0" fmla="*/ 97971 h 370114"/>
              <a:gd name="connsiteX1" fmla="*/ 326572 w 1872343"/>
              <a:gd name="connsiteY1" fmla="*/ 370114 h 370114"/>
              <a:gd name="connsiteX2" fmla="*/ 794657 w 1872343"/>
              <a:gd name="connsiteY2" fmla="*/ 108857 h 370114"/>
              <a:gd name="connsiteX3" fmla="*/ 925286 w 1872343"/>
              <a:gd name="connsiteY3" fmla="*/ 250371 h 370114"/>
              <a:gd name="connsiteX4" fmla="*/ 1153886 w 1872343"/>
              <a:gd name="connsiteY4" fmla="*/ 195943 h 370114"/>
              <a:gd name="connsiteX5" fmla="*/ 1360715 w 1872343"/>
              <a:gd name="connsiteY5" fmla="*/ 315686 h 370114"/>
              <a:gd name="connsiteX6" fmla="*/ 1872343 w 1872343"/>
              <a:gd name="connsiteY6" fmla="*/ 163286 h 370114"/>
              <a:gd name="connsiteX7" fmla="*/ 1839686 w 1872343"/>
              <a:gd name="connsiteY7" fmla="*/ 43543 h 370114"/>
              <a:gd name="connsiteX8" fmla="*/ 43543 w 1872343"/>
              <a:gd name="connsiteY8" fmla="*/ 0 h 370114"/>
              <a:gd name="connsiteX9" fmla="*/ 0 w 1872343"/>
              <a:gd name="connsiteY9" fmla="*/ 97971 h 37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2343" h="370114">
                <a:moveTo>
                  <a:pt x="0" y="97971"/>
                </a:moveTo>
                <a:lnTo>
                  <a:pt x="326572" y="370114"/>
                </a:lnTo>
                <a:lnTo>
                  <a:pt x="794657" y="108857"/>
                </a:lnTo>
                <a:lnTo>
                  <a:pt x="925286" y="250371"/>
                </a:lnTo>
                <a:lnTo>
                  <a:pt x="1153886" y="195943"/>
                </a:lnTo>
                <a:lnTo>
                  <a:pt x="1360715" y="315686"/>
                </a:lnTo>
                <a:lnTo>
                  <a:pt x="1872343" y="163286"/>
                </a:lnTo>
                <a:lnTo>
                  <a:pt x="1839686" y="43543"/>
                </a:lnTo>
                <a:lnTo>
                  <a:pt x="43543" y="0"/>
                </a:lnTo>
                <a:lnTo>
                  <a:pt x="0" y="9797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1295400" y="1752600"/>
            <a:ext cx="1447800" cy="2677656"/>
          </a:xfrm>
          <a:prstGeom prst="rect">
            <a:avLst/>
          </a:prstGeom>
        </p:spPr>
        <p:txBody>
          <a:bodyPr wrap="square">
            <a:spAutoFit/>
          </a:bodyPr>
          <a:lstStyle/>
          <a:p>
            <a:pPr algn="ctr"/>
            <a:r>
              <a:rPr lang="en-US" sz="2400" dirty="0">
                <a:solidFill>
                  <a:schemeClr val="bg1"/>
                </a:solidFill>
              </a:rPr>
              <a:t>Pipe with a higher pressure, </a:t>
            </a:r>
            <a:r>
              <a:rPr lang="en-US" sz="2400" dirty="0" err="1">
                <a:solidFill>
                  <a:schemeClr val="bg1"/>
                </a:solidFill>
              </a:rPr>
              <a:t>P</a:t>
            </a:r>
            <a:r>
              <a:rPr lang="en-US" sz="2400" baseline="-25000" dirty="0" err="1">
                <a:solidFill>
                  <a:schemeClr val="bg1"/>
                </a:solidFill>
              </a:rPr>
              <a:t>pipe</a:t>
            </a:r>
            <a:r>
              <a:rPr lang="en-US" sz="2400" dirty="0">
                <a:solidFill>
                  <a:schemeClr val="bg1"/>
                </a:solidFill>
              </a:rPr>
              <a:t> that we wish to measure</a:t>
            </a:r>
          </a:p>
        </p:txBody>
      </p:sp>
    </p:spTree>
    <p:extLst>
      <p:ext uri="{BB962C8B-B14F-4D97-AF65-F5344CB8AC3E}">
        <p14:creationId xmlns:p14="http://schemas.microsoft.com/office/powerpoint/2010/main" val="1120738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8CE5F-B1E6-4AD2-AF28-FFF3D5F6A7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118A1B-1C08-4349-B0E7-C692A4322B59}"/>
              </a:ext>
            </a:extLst>
          </p:cNvPr>
          <p:cNvSpPr>
            <a:spLocks noGrp="1"/>
          </p:cNvSpPr>
          <p:nvPr>
            <p:ph idx="1"/>
          </p:nvPr>
        </p:nvSpPr>
        <p:spPr/>
        <p:txBody>
          <a:bodyPr/>
          <a:lstStyle/>
          <a:p>
            <a:endParaRPr lang="en-US"/>
          </a:p>
        </p:txBody>
      </p:sp>
      <p:grpSp>
        <p:nvGrpSpPr>
          <p:cNvPr id="4" name="Group 22">
            <a:extLst>
              <a:ext uri="{FF2B5EF4-FFF2-40B4-BE49-F238E27FC236}">
                <a16:creationId xmlns:a16="http://schemas.microsoft.com/office/drawing/2014/main" id="{41C0E9E7-933F-4992-B8FB-A2863DD138AD}"/>
              </a:ext>
            </a:extLst>
          </p:cNvPr>
          <p:cNvGrpSpPr>
            <a:grpSpLocks/>
          </p:cNvGrpSpPr>
          <p:nvPr/>
        </p:nvGrpSpPr>
        <p:grpSpPr bwMode="auto">
          <a:xfrm>
            <a:off x="4324350" y="2506663"/>
            <a:ext cx="4195763" cy="3154362"/>
            <a:chOff x="2724" y="1579"/>
            <a:chExt cx="2643" cy="1987"/>
          </a:xfrm>
        </p:grpSpPr>
        <p:grpSp>
          <p:nvGrpSpPr>
            <p:cNvPr id="5" name="Group 5">
              <a:extLst>
                <a:ext uri="{FF2B5EF4-FFF2-40B4-BE49-F238E27FC236}">
                  <a16:creationId xmlns:a16="http://schemas.microsoft.com/office/drawing/2014/main" id="{CE42E28B-50B9-47F8-B8AD-56C172A6E561}"/>
                </a:ext>
              </a:extLst>
            </p:cNvPr>
            <p:cNvGrpSpPr>
              <a:grpSpLocks/>
            </p:cNvGrpSpPr>
            <p:nvPr/>
          </p:nvGrpSpPr>
          <p:grpSpPr bwMode="auto">
            <a:xfrm>
              <a:off x="3941" y="1579"/>
              <a:ext cx="1426" cy="1987"/>
              <a:chOff x="3593" y="1643"/>
              <a:chExt cx="1426" cy="1987"/>
            </a:xfrm>
          </p:grpSpPr>
          <p:sp>
            <p:nvSpPr>
              <p:cNvPr id="13" name="Freeform 6">
                <a:extLst>
                  <a:ext uri="{FF2B5EF4-FFF2-40B4-BE49-F238E27FC236}">
                    <a16:creationId xmlns:a16="http://schemas.microsoft.com/office/drawing/2014/main" id="{E57141F2-93C3-4035-9137-B0C6385FE751}"/>
                  </a:ext>
                </a:extLst>
              </p:cNvPr>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14" name="Rectangle 7">
                <a:extLst>
                  <a:ext uri="{FF2B5EF4-FFF2-40B4-BE49-F238E27FC236}">
                    <a16:creationId xmlns:a16="http://schemas.microsoft.com/office/drawing/2014/main" id="{084A998D-9778-44CA-A5AC-7A7756B8C26B}"/>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15" name="Freeform 8">
                <a:extLst>
                  <a:ext uri="{FF2B5EF4-FFF2-40B4-BE49-F238E27FC236}">
                    <a16:creationId xmlns:a16="http://schemas.microsoft.com/office/drawing/2014/main" id="{4FA795AD-850E-4DB7-8D28-173305C80C9F}"/>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16" name="Oval 9">
                <a:extLst>
                  <a:ext uri="{FF2B5EF4-FFF2-40B4-BE49-F238E27FC236}">
                    <a16:creationId xmlns:a16="http://schemas.microsoft.com/office/drawing/2014/main" id="{AF44714E-671A-4885-938F-761616A30EBF}"/>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grpSp>
        <p:grpSp>
          <p:nvGrpSpPr>
            <p:cNvPr id="6" name="Group 15">
              <a:extLst>
                <a:ext uri="{FF2B5EF4-FFF2-40B4-BE49-F238E27FC236}">
                  <a16:creationId xmlns:a16="http://schemas.microsoft.com/office/drawing/2014/main" id="{CE9E22A1-D265-40F2-BCD3-3CDBA4E4C478}"/>
                </a:ext>
              </a:extLst>
            </p:cNvPr>
            <p:cNvGrpSpPr>
              <a:grpSpLocks/>
            </p:cNvGrpSpPr>
            <p:nvPr/>
          </p:nvGrpSpPr>
          <p:grpSpPr bwMode="auto">
            <a:xfrm rot="1590330">
              <a:off x="2724" y="2134"/>
              <a:ext cx="878" cy="860"/>
              <a:chOff x="2213" y="2234"/>
              <a:chExt cx="878" cy="860"/>
            </a:xfrm>
          </p:grpSpPr>
          <p:sp>
            <p:nvSpPr>
              <p:cNvPr id="8" name="Oval 16">
                <a:extLst>
                  <a:ext uri="{FF2B5EF4-FFF2-40B4-BE49-F238E27FC236}">
                    <a16:creationId xmlns:a16="http://schemas.microsoft.com/office/drawing/2014/main" id="{6790976F-79D3-4430-9660-0AC9143B049E}"/>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9" name="Arc 17">
                <a:extLst>
                  <a:ext uri="{FF2B5EF4-FFF2-40B4-BE49-F238E27FC236}">
                    <a16:creationId xmlns:a16="http://schemas.microsoft.com/office/drawing/2014/main" id="{6151F2C8-EF2E-4F5A-9E72-A9F514F32705}"/>
                  </a:ext>
                </a:extLst>
              </p:cNvPr>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0" name="Arc 18">
                <a:extLst>
                  <a:ext uri="{FF2B5EF4-FFF2-40B4-BE49-F238E27FC236}">
                    <a16:creationId xmlns:a16="http://schemas.microsoft.com/office/drawing/2014/main" id="{C0C7E643-04C4-4811-81C6-0C0FD5B278C5}"/>
                  </a:ext>
                </a:extLst>
              </p:cNvPr>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11" name="Arc 19">
                <a:extLst>
                  <a:ext uri="{FF2B5EF4-FFF2-40B4-BE49-F238E27FC236}">
                    <a16:creationId xmlns:a16="http://schemas.microsoft.com/office/drawing/2014/main" id="{6757E5E1-68B8-40D5-A5F1-C7B07A695130}"/>
                  </a:ext>
                </a:extLst>
              </p:cNvPr>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12" name="Arc 20">
                <a:extLst>
                  <a:ext uri="{FF2B5EF4-FFF2-40B4-BE49-F238E27FC236}">
                    <a16:creationId xmlns:a16="http://schemas.microsoft.com/office/drawing/2014/main" id="{42C52354-7CF2-47A6-AECC-53FD047E873A}"/>
                  </a:ext>
                </a:extLst>
              </p:cNvPr>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extLst>
      <p:ext uri="{BB962C8B-B14F-4D97-AF65-F5344CB8AC3E}">
        <p14:creationId xmlns:p14="http://schemas.microsoft.com/office/powerpoint/2010/main" val="3649027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36</a:t>
            </a:fld>
            <a:endParaRPr lang="en-US"/>
          </a:p>
        </p:txBody>
      </p:sp>
      <p:sp>
        <p:nvSpPr>
          <p:cNvPr id="52227" name="Rectangle 2"/>
          <p:cNvSpPr>
            <a:spLocks noGrp="1" noChangeArrowheads="1"/>
          </p:cNvSpPr>
          <p:nvPr>
            <p:ph type="title"/>
          </p:nvPr>
        </p:nvSpPr>
        <p:spPr/>
        <p:txBody>
          <a:bodyPr/>
          <a:lstStyle/>
          <a:p>
            <a:pPr eaLnBrk="1" hangingPunct="1"/>
            <a:r>
              <a:rPr lang="en-US"/>
              <a:t>Question 123.5.3</a:t>
            </a:r>
          </a:p>
        </p:txBody>
      </p:sp>
      <p:sp>
        <p:nvSpPr>
          <p:cNvPr id="52228" name="Rectangle 3"/>
          <p:cNvSpPr>
            <a:spLocks noChangeArrowheads="1"/>
          </p:cNvSpPr>
          <p:nvPr/>
        </p:nvSpPr>
        <p:spPr bwMode="auto">
          <a:xfrm>
            <a:off x="485775" y="1600200"/>
            <a:ext cx="3759200" cy="4525963"/>
          </a:xfrm>
          <a:prstGeom prst="rect">
            <a:avLst/>
          </a:prstGeom>
          <a:noFill/>
          <a:ln w="9525">
            <a:noFill/>
            <a:miter lim="800000"/>
            <a:headEnd/>
            <a:tailEnd/>
          </a:ln>
        </p:spPr>
        <p:txBody>
          <a:bodyPr/>
          <a:lstStyle/>
          <a:p>
            <a:pPr marL="609600" indent="-609600">
              <a:lnSpc>
                <a:spcPct val="90000"/>
              </a:lnSpc>
              <a:spcBef>
                <a:spcPct val="20000"/>
              </a:spcBef>
            </a:pPr>
            <a:r>
              <a:rPr lang="en-US" sz="2000"/>
              <a:t>Take a beach ball sized parcel of water.  What happens if we replace the parcel with the beach ball?</a:t>
            </a:r>
          </a:p>
          <a:p>
            <a:pPr marL="990600" lvl="1" indent="-533400">
              <a:lnSpc>
                <a:spcPct val="90000"/>
              </a:lnSpc>
              <a:spcBef>
                <a:spcPct val="20000"/>
              </a:spcBef>
              <a:buFontTx/>
              <a:buAutoNum type="alphaLcParenR"/>
            </a:pPr>
            <a:r>
              <a:rPr lang="en-US"/>
              <a:t>The ball will rise because it is less dense than the water</a:t>
            </a:r>
          </a:p>
          <a:p>
            <a:pPr marL="990600" lvl="1" indent="-533400">
              <a:lnSpc>
                <a:spcPct val="90000"/>
              </a:lnSpc>
              <a:spcBef>
                <a:spcPct val="20000"/>
              </a:spcBef>
              <a:buFontTx/>
              <a:buAutoNum type="alphaLcParenR"/>
            </a:pPr>
            <a:r>
              <a:rPr lang="en-US"/>
              <a:t>The ball will rise because the buoyant force will be larger for the beach ball</a:t>
            </a:r>
          </a:p>
          <a:p>
            <a:pPr marL="990600" lvl="1" indent="-533400">
              <a:lnSpc>
                <a:spcPct val="90000"/>
              </a:lnSpc>
              <a:spcBef>
                <a:spcPct val="20000"/>
              </a:spcBef>
              <a:buFontTx/>
              <a:buAutoNum type="alphaLcParenR"/>
            </a:pPr>
            <a:r>
              <a:rPr lang="en-US"/>
              <a:t>The ball will rise because it’s surface area will be different than the parcel of water</a:t>
            </a:r>
          </a:p>
        </p:txBody>
      </p:sp>
      <p:grpSp>
        <p:nvGrpSpPr>
          <p:cNvPr id="52229" name="Group 22"/>
          <p:cNvGrpSpPr>
            <a:grpSpLocks/>
          </p:cNvGrpSpPr>
          <p:nvPr/>
        </p:nvGrpSpPr>
        <p:grpSpPr bwMode="auto">
          <a:xfrm>
            <a:off x="4324350" y="2506663"/>
            <a:ext cx="4195763" cy="3154362"/>
            <a:chOff x="2724" y="1579"/>
            <a:chExt cx="2643" cy="1987"/>
          </a:xfrm>
        </p:grpSpPr>
        <p:grpSp>
          <p:nvGrpSpPr>
            <p:cNvPr id="52230" name="Group 5"/>
            <p:cNvGrpSpPr>
              <a:grpSpLocks/>
            </p:cNvGrpSpPr>
            <p:nvPr/>
          </p:nvGrpSpPr>
          <p:grpSpPr bwMode="auto">
            <a:xfrm>
              <a:off x="3941" y="1579"/>
              <a:ext cx="1426" cy="1987"/>
              <a:chOff x="3593" y="1643"/>
              <a:chExt cx="1426" cy="1987"/>
            </a:xfrm>
          </p:grpSpPr>
          <p:sp>
            <p:nvSpPr>
              <p:cNvPr id="52238" name="Freeform 6"/>
              <p:cNvSpPr>
                <a:spLocks/>
              </p:cNvSpPr>
              <p:nvPr/>
            </p:nvSpPr>
            <p:spPr bwMode="auto">
              <a:xfrm>
                <a:off x="3707" y="1643"/>
                <a:ext cx="1297" cy="91"/>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52241"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52242"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52243" name="Line 11"/>
              <p:cNvSpPr>
                <a:spLocks noChangeShapeType="1"/>
              </p:cNvSpPr>
              <p:nvPr/>
            </p:nvSpPr>
            <p:spPr bwMode="auto">
              <a:xfrm flipH="1">
                <a:off x="4288" y="2606"/>
                <a:ext cx="0" cy="265"/>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4" name="Line 12"/>
              <p:cNvSpPr>
                <a:spLocks noChangeShapeType="1"/>
              </p:cNvSpPr>
              <p:nvPr/>
            </p:nvSpPr>
            <p:spPr bwMode="auto">
              <a:xfrm flipH="1" flipV="1">
                <a:off x="4284" y="2263"/>
                <a:ext cx="0" cy="311"/>
              </a:xfrm>
              <a:prstGeom prst="line">
                <a:avLst/>
              </a:prstGeom>
              <a:noFill/>
              <a:ln w="25400">
                <a:solidFill>
                  <a:schemeClr val="tx2">
                    <a:lumMod val="50000"/>
                  </a:schemeClr>
                </a:solidFill>
                <a:round/>
                <a:headEnd/>
                <a:tailEnd type="triangle" w="med" len="med"/>
              </a:ln>
            </p:spPr>
            <p:txBody>
              <a:bodyPr/>
              <a:lstStyle/>
              <a:p>
                <a:endParaRPr lang="en-US"/>
              </a:p>
            </p:txBody>
          </p:sp>
          <p:sp>
            <p:nvSpPr>
              <p:cNvPr id="52245"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a:t>F</a:t>
                </a:r>
                <a:r>
                  <a:rPr lang="en-US" i="1" baseline="-25000"/>
                  <a:t>g</a:t>
                </a:r>
              </a:p>
            </p:txBody>
          </p:sp>
          <p:sp>
            <p:nvSpPr>
              <p:cNvPr id="52246"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52231" name="Group 15"/>
            <p:cNvGrpSpPr>
              <a:grpSpLocks/>
            </p:cNvGrpSpPr>
            <p:nvPr/>
          </p:nvGrpSpPr>
          <p:grpSpPr bwMode="auto">
            <a:xfrm rot="1590330">
              <a:off x="2724" y="2134"/>
              <a:ext cx="878" cy="86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2232" name="AutoShape 21"/>
            <p:cNvSpPr>
              <a:spLocks noChangeArrowheads="1"/>
            </p:cNvSpPr>
            <p:nvPr/>
          </p:nvSpPr>
          <p:spPr bwMode="auto">
            <a:xfrm>
              <a:off x="3675" y="2450"/>
              <a:ext cx="613" cy="275"/>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grpSp>
    </p:spTree>
    <p:extLst>
      <p:ext uri="{BB962C8B-B14F-4D97-AF65-F5344CB8AC3E}">
        <p14:creationId xmlns:p14="http://schemas.microsoft.com/office/powerpoint/2010/main" val="3606080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C978C71E-AA26-478B-B209-4928651CB094}" type="slidenum">
              <a:rPr lang="en-US" smtClean="0"/>
              <a:pPr/>
              <a:t>37</a:t>
            </a:fld>
            <a:endParaRPr lang="en-US"/>
          </a:p>
        </p:txBody>
      </p:sp>
      <p:sp>
        <p:nvSpPr>
          <p:cNvPr id="52227" name="Rectangle 2"/>
          <p:cNvSpPr>
            <a:spLocks noGrp="1" noChangeArrowheads="1"/>
          </p:cNvSpPr>
          <p:nvPr>
            <p:ph type="title"/>
          </p:nvPr>
        </p:nvSpPr>
        <p:spPr/>
        <p:txBody>
          <a:bodyPr/>
          <a:lstStyle/>
          <a:p>
            <a:pPr eaLnBrk="1" hangingPunct="1"/>
            <a:r>
              <a:rPr lang="en-US" dirty="0"/>
              <a:t>Question 123.5.3.5</a:t>
            </a:r>
          </a:p>
        </p:txBody>
      </p:sp>
      <p:sp>
        <p:nvSpPr>
          <p:cNvPr id="52228" name="Rectangle 3"/>
          <p:cNvSpPr>
            <a:spLocks noChangeArrowheads="1"/>
          </p:cNvSpPr>
          <p:nvPr/>
        </p:nvSpPr>
        <p:spPr bwMode="auto">
          <a:xfrm>
            <a:off x="485774" y="1600200"/>
            <a:ext cx="5305426" cy="4525963"/>
          </a:xfrm>
          <a:prstGeom prst="rect">
            <a:avLst/>
          </a:prstGeom>
          <a:noFill/>
          <a:ln w="9525">
            <a:noFill/>
            <a:miter lim="800000"/>
            <a:headEnd/>
            <a:tailEnd/>
          </a:ln>
        </p:spPr>
        <p:txBody>
          <a:bodyPr/>
          <a:lstStyle/>
          <a:p>
            <a:pPr marL="609600" indent="-609600">
              <a:lnSpc>
                <a:spcPct val="90000"/>
              </a:lnSpc>
              <a:spcBef>
                <a:spcPct val="20000"/>
              </a:spcBef>
            </a:pPr>
            <a:r>
              <a:rPr lang="en-US" sz="2800" dirty="0"/>
              <a:t>We say that there is a buoyant force acting on the beach ball. What is the buoyant force?</a:t>
            </a:r>
          </a:p>
          <a:p>
            <a:pPr marL="990600" lvl="1" indent="-533400">
              <a:lnSpc>
                <a:spcPct val="90000"/>
              </a:lnSpc>
              <a:spcBef>
                <a:spcPct val="20000"/>
              </a:spcBef>
              <a:buFontTx/>
              <a:buAutoNum type="alphaLcParenR"/>
            </a:pPr>
            <a:r>
              <a:rPr lang="en-US" sz="2400" dirty="0"/>
              <a:t>It is the net force on the beach ball</a:t>
            </a:r>
          </a:p>
          <a:p>
            <a:pPr marL="990600" lvl="1" indent="-533400">
              <a:lnSpc>
                <a:spcPct val="90000"/>
              </a:lnSpc>
              <a:spcBef>
                <a:spcPct val="20000"/>
              </a:spcBef>
              <a:buFontTx/>
              <a:buAutoNum type="alphaLcParenR"/>
            </a:pPr>
            <a:r>
              <a:rPr lang="en-US" sz="2400" dirty="0"/>
              <a:t>It is the net force due to the water pressure acting on the beach ball</a:t>
            </a:r>
          </a:p>
          <a:p>
            <a:pPr marL="990600" lvl="1" indent="-533400">
              <a:lnSpc>
                <a:spcPct val="90000"/>
              </a:lnSpc>
              <a:spcBef>
                <a:spcPct val="20000"/>
              </a:spcBef>
              <a:buFontTx/>
              <a:buAutoNum type="alphaLcParenR"/>
            </a:pPr>
            <a:r>
              <a:rPr lang="en-US" sz="2400" dirty="0"/>
              <a:t>It is a force that makes things float at the surface</a:t>
            </a:r>
          </a:p>
          <a:p>
            <a:pPr marL="990600" lvl="1" indent="-533400">
              <a:lnSpc>
                <a:spcPct val="90000"/>
              </a:lnSpc>
              <a:spcBef>
                <a:spcPct val="20000"/>
              </a:spcBef>
              <a:buFontTx/>
              <a:buAutoNum type="alphaLcParenR"/>
            </a:pPr>
            <a:r>
              <a:rPr lang="en-US" sz="2400" dirty="0"/>
              <a:t>50</a:t>
            </a:r>
          </a:p>
        </p:txBody>
      </p:sp>
      <p:sp>
        <p:nvSpPr>
          <p:cNvPr id="52238" name="Freeform 6"/>
          <p:cNvSpPr>
            <a:spLocks/>
          </p:cNvSpPr>
          <p:nvPr/>
        </p:nvSpPr>
        <p:spPr bwMode="auto">
          <a:xfrm>
            <a:off x="6756627" y="2434092"/>
            <a:ext cx="2058988" cy="144462"/>
          </a:xfrm>
          <a:custGeom>
            <a:avLst/>
            <a:gdLst>
              <a:gd name="T0" fmla="*/ 0 w 1426"/>
              <a:gd name="T1" fmla="*/ 16 h 100"/>
              <a:gd name="T2" fmla="*/ 25 w 1426"/>
              <a:gd name="T3" fmla="*/ 14 h 100"/>
              <a:gd name="T4" fmla="*/ 46 w 1426"/>
              <a:gd name="T5" fmla="*/ 5 h 100"/>
              <a:gd name="T6" fmla="*/ 61 w 1426"/>
              <a:gd name="T7" fmla="*/ 12 h 100"/>
              <a:gd name="T8" fmla="*/ 87 w 1426"/>
              <a:gd name="T9" fmla="*/ 14 h 100"/>
              <a:gd name="T10" fmla="*/ 111 w 1426"/>
              <a:gd name="T11" fmla="*/ 6 h 100"/>
              <a:gd name="T12" fmla="*/ 125 w 1426"/>
              <a:gd name="T13" fmla="*/ 0 h 100"/>
              <a:gd name="T14" fmla="*/ 141 w 1426"/>
              <a:gd name="T15" fmla="*/ 8 h 100"/>
              <a:gd name="T16" fmla="*/ 169 w 1426"/>
              <a:gd name="T17" fmla="*/ 12 h 100"/>
              <a:gd name="T18" fmla="*/ 193 w 1426"/>
              <a:gd name="T19" fmla="*/ 14 h 100"/>
              <a:gd name="T20" fmla="*/ 210 w 1426"/>
              <a:gd name="T21" fmla="*/ 6 h 100"/>
              <a:gd name="T22" fmla="*/ 229 w 1426"/>
              <a:gd name="T23" fmla="*/ 12 h 100"/>
              <a:gd name="T24" fmla="*/ 259 w 1426"/>
              <a:gd name="T25" fmla="*/ 18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2239" name="Rectangle 7"/>
          <p:cNvSpPr>
            <a:spLocks noChangeArrowheads="1"/>
          </p:cNvSpPr>
          <p:nvPr/>
        </p:nvSpPr>
        <p:spPr bwMode="auto">
          <a:xfrm>
            <a:off x="6589940" y="2569029"/>
            <a:ext cx="2220913" cy="3019425"/>
          </a:xfrm>
          <a:prstGeom prst="rect">
            <a:avLst/>
          </a:prstGeom>
          <a:solidFill>
            <a:schemeClr val="accent1"/>
          </a:solidFill>
          <a:ln w="9525">
            <a:noFill/>
            <a:miter lim="800000"/>
            <a:headEnd/>
            <a:tailEnd/>
          </a:ln>
        </p:spPr>
        <p:txBody>
          <a:bodyPr wrap="none" anchor="ctr"/>
          <a:lstStyle/>
          <a:p>
            <a:endParaRPr lang="en-US"/>
          </a:p>
        </p:txBody>
      </p:sp>
      <p:sp>
        <p:nvSpPr>
          <p:cNvPr id="52240" name="Freeform 8"/>
          <p:cNvSpPr>
            <a:spLocks/>
          </p:cNvSpPr>
          <p:nvPr/>
        </p:nvSpPr>
        <p:spPr bwMode="auto">
          <a:xfrm>
            <a:off x="6575652" y="2438854"/>
            <a:ext cx="2263775" cy="15875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2231" name="Group 15"/>
          <p:cNvGrpSpPr>
            <a:grpSpLocks/>
          </p:cNvGrpSpPr>
          <p:nvPr/>
        </p:nvGrpSpPr>
        <p:grpSpPr bwMode="auto">
          <a:xfrm rot="1590330">
            <a:off x="6994979" y="3257096"/>
            <a:ext cx="1393825" cy="1365250"/>
            <a:chOff x="2213" y="2234"/>
            <a:chExt cx="878" cy="860"/>
          </a:xfrm>
        </p:grpSpPr>
        <p:sp>
          <p:nvSpPr>
            <p:cNvPr id="52233"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2234" name="Arc 17"/>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5" name="Arc 18"/>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2236" name="Arc 19"/>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2237" name="Arc 20"/>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Tree>
    <p:extLst>
      <p:ext uri="{BB962C8B-B14F-4D97-AF65-F5344CB8AC3E}">
        <p14:creationId xmlns:p14="http://schemas.microsoft.com/office/powerpoint/2010/main" val="3837239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ate Placeholder 3"/>
          <p:cNvSpPr>
            <a:spLocks noGrp="1"/>
          </p:cNvSpPr>
          <p:nvPr>
            <p:ph type="dt" sz="quarter" idx="10"/>
          </p:nvPr>
        </p:nvSpPr>
        <p:spPr>
          <a:noFill/>
        </p:spPr>
        <p:txBody>
          <a:bodyPr/>
          <a:lstStyle/>
          <a:p>
            <a:r>
              <a:rPr lang="en-US"/>
              <a:t>Winter 2007</a:t>
            </a:r>
          </a:p>
        </p:txBody>
      </p:sp>
      <p:sp>
        <p:nvSpPr>
          <p:cNvPr id="27651" name="Footer Placeholder 4"/>
          <p:cNvSpPr>
            <a:spLocks noGrp="1"/>
          </p:cNvSpPr>
          <p:nvPr>
            <p:ph type="ftr" sz="quarter" idx="11"/>
          </p:nvPr>
        </p:nvSpPr>
        <p:spPr>
          <a:noFill/>
        </p:spPr>
        <p:txBody>
          <a:bodyPr/>
          <a:lstStyle/>
          <a:p>
            <a:r>
              <a:rPr lang="en-US"/>
              <a:t>R. Todd Lines</a:t>
            </a:r>
          </a:p>
        </p:txBody>
      </p:sp>
      <p:sp>
        <p:nvSpPr>
          <p:cNvPr id="27652" name="Slide Number Placeholder 5"/>
          <p:cNvSpPr>
            <a:spLocks noGrp="1"/>
          </p:cNvSpPr>
          <p:nvPr>
            <p:ph type="sldNum" sz="quarter" idx="12"/>
          </p:nvPr>
        </p:nvSpPr>
        <p:spPr>
          <a:noFill/>
        </p:spPr>
        <p:txBody>
          <a:bodyPr/>
          <a:lstStyle/>
          <a:p>
            <a:fld id="{DD9AE172-A913-44A5-97B9-A05F9BC295C4}" type="slidenum">
              <a:rPr lang="en-US" smtClean="0"/>
              <a:pPr/>
              <a:t>38</a:t>
            </a:fld>
            <a:endParaRPr lang="en-US"/>
          </a:p>
        </p:txBody>
      </p:sp>
      <p:sp>
        <p:nvSpPr>
          <p:cNvPr id="27653" name="Rectangle 2"/>
          <p:cNvSpPr>
            <a:spLocks noGrp="1" noChangeArrowheads="1"/>
          </p:cNvSpPr>
          <p:nvPr>
            <p:ph type="title"/>
          </p:nvPr>
        </p:nvSpPr>
        <p:spPr/>
        <p:txBody>
          <a:bodyPr/>
          <a:lstStyle/>
          <a:p>
            <a:pPr eaLnBrk="1" hangingPunct="1"/>
            <a:r>
              <a:rPr lang="en-US"/>
              <a:t>Buoyant Forces</a:t>
            </a:r>
          </a:p>
        </p:txBody>
      </p:sp>
      <p:sp>
        <p:nvSpPr>
          <p:cNvPr id="27654" name="Rectangle 3"/>
          <p:cNvSpPr>
            <a:spLocks noGrp="1" noChangeArrowheads="1"/>
          </p:cNvSpPr>
          <p:nvPr>
            <p:ph type="body" idx="1"/>
          </p:nvPr>
        </p:nvSpPr>
        <p:spPr>
          <a:xfrm>
            <a:off x="457200" y="1600200"/>
            <a:ext cx="3671888" cy="4525963"/>
          </a:xfrm>
        </p:spPr>
        <p:txBody>
          <a:bodyPr/>
          <a:lstStyle/>
          <a:p>
            <a:pPr eaLnBrk="1" hangingPunct="1"/>
            <a:r>
              <a:rPr lang="en-US" sz="2800"/>
              <a:t>Remember from</a:t>
            </a:r>
          </a:p>
          <a:p>
            <a:pPr lvl="1" eaLnBrk="1" hangingPunct="1"/>
            <a:r>
              <a:rPr lang="en-US" sz="2400"/>
              <a:t>a stationary parcel of water there is a force that balances the weight of the parcel</a:t>
            </a:r>
          </a:p>
          <a:p>
            <a:pPr lvl="1" eaLnBrk="1" hangingPunct="1"/>
            <a:r>
              <a:rPr lang="en-US" sz="2400"/>
              <a:t>Forces that act in the x-direction (sideways) balance each other </a:t>
            </a:r>
          </a:p>
        </p:txBody>
      </p:sp>
      <p:grpSp>
        <p:nvGrpSpPr>
          <p:cNvPr id="2" name="Group 4"/>
          <p:cNvGrpSpPr>
            <a:grpSpLocks/>
          </p:cNvGrpSpPr>
          <p:nvPr/>
        </p:nvGrpSpPr>
        <p:grpSpPr bwMode="auto">
          <a:xfrm>
            <a:off x="4833938" y="2451100"/>
            <a:ext cx="4029075" cy="2611438"/>
            <a:chOff x="3045" y="1544"/>
            <a:chExt cx="2538" cy="1645"/>
          </a:xfrm>
        </p:grpSpPr>
        <p:grpSp>
          <p:nvGrpSpPr>
            <p:cNvPr id="3" name="Group 5"/>
            <p:cNvGrpSpPr>
              <a:grpSpLocks/>
            </p:cNvGrpSpPr>
            <p:nvPr/>
          </p:nvGrpSpPr>
          <p:grpSpPr bwMode="auto">
            <a:xfrm>
              <a:off x="3500" y="1565"/>
              <a:ext cx="1416" cy="1624"/>
              <a:chOff x="3596" y="1780"/>
              <a:chExt cx="1416" cy="1624"/>
            </a:xfrm>
          </p:grpSpPr>
          <p:sp>
            <p:nvSpPr>
              <p:cNvPr id="27683"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27684"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27662" name="AutoShape 8"/>
            <p:cNvSpPr>
              <a:spLocks noChangeArrowheads="1"/>
            </p:cNvSpPr>
            <p:nvPr/>
          </p:nvSpPr>
          <p:spPr bwMode="auto">
            <a:xfrm>
              <a:off x="3664" y="1865"/>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27663" name="Rectangle 9"/>
            <p:cNvSpPr>
              <a:spLocks noChangeArrowheads="1"/>
            </p:cNvSpPr>
            <p:nvPr/>
          </p:nvSpPr>
          <p:spPr bwMode="auto">
            <a:xfrm>
              <a:off x="3664" y="1845"/>
              <a:ext cx="1076" cy="248"/>
            </a:xfrm>
            <a:prstGeom prst="rect">
              <a:avLst/>
            </a:prstGeom>
            <a:solidFill>
              <a:schemeClr val="accent1"/>
            </a:solidFill>
            <a:ln w="9525">
              <a:noFill/>
              <a:miter lim="800000"/>
              <a:headEnd/>
              <a:tailEnd/>
            </a:ln>
          </p:spPr>
          <p:txBody>
            <a:bodyPr wrap="none" anchor="ctr"/>
            <a:lstStyle/>
            <a:p>
              <a:endParaRPr lang="en-US"/>
            </a:p>
          </p:txBody>
        </p:sp>
        <p:sp>
          <p:nvSpPr>
            <p:cNvPr id="27664" name="Freeform 10"/>
            <p:cNvSpPr>
              <a:spLocks/>
            </p:cNvSpPr>
            <p:nvPr/>
          </p:nvSpPr>
          <p:spPr bwMode="auto">
            <a:xfrm>
              <a:off x="3584" y="1561"/>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5" name="Freeform 11"/>
            <p:cNvSpPr>
              <a:spLocks/>
            </p:cNvSpPr>
            <p:nvPr/>
          </p:nvSpPr>
          <p:spPr bwMode="auto">
            <a:xfrm flipH="1">
              <a:off x="4208" y="1561"/>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27666" name="Rectangle 12"/>
            <p:cNvSpPr>
              <a:spLocks noChangeArrowheads="1"/>
            </p:cNvSpPr>
            <p:nvPr/>
          </p:nvSpPr>
          <p:spPr bwMode="auto">
            <a:xfrm>
              <a:off x="4044" y="2061"/>
              <a:ext cx="380" cy="640"/>
            </a:xfrm>
            <a:prstGeom prst="rect">
              <a:avLst/>
            </a:prstGeom>
            <a:solidFill>
              <a:srgbClr val="33CCCC"/>
            </a:solidFill>
            <a:ln w="9525">
              <a:solidFill>
                <a:schemeClr val="tx1"/>
              </a:solidFill>
              <a:miter lim="800000"/>
              <a:headEnd/>
              <a:tailEnd/>
            </a:ln>
          </p:spPr>
          <p:txBody>
            <a:bodyPr wrap="none" anchor="ctr"/>
            <a:lstStyle/>
            <a:p>
              <a:endParaRPr lang="en-US"/>
            </a:p>
          </p:txBody>
        </p:sp>
        <p:sp>
          <p:nvSpPr>
            <p:cNvPr id="27667" name="Line 13"/>
            <p:cNvSpPr>
              <a:spLocks noChangeShapeType="1"/>
            </p:cNvSpPr>
            <p:nvPr/>
          </p:nvSpPr>
          <p:spPr bwMode="auto">
            <a:xfrm>
              <a:off x="4204" y="1789"/>
              <a:ext cx="4" cy="272"/>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8" name="Line 14"/>
            <p:cNvSpPr>
              <a:spLocks noChangeShapeType="1"/>
            </p:cNvSpPr>
            <p:nvPr/>
          </p:nvSpPr>
          <p:spPr bwMode="auto">
            <a:xfrm>
              <a:off x="4112" y="2701"/>
              <a:ext cx="0" cy="20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69" name="Line 15"/>
            <p:cNvSpPr>
              <a:spLocks noChangeShapeType="1"/>
            </p:cNvSpPr>
            <p:nvPr/>
          </p:nvSpPr>
          <p:spPr bwMode="auto">
            <a:xfrm flipV="1">
              <a:off x="4320" y="2705"/>
              <a:ext cx="4" cy="32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0" name="Text Box 16"/>
            <p:cNvSpPr txBox="1">
              <a:spLocks noChangeArrowheads="1"/>
            </p:cNvSpPr>
            <p:nvPr/>
          </p:nvSpPr>
          <p:spPr bwMode="auto">
            <a:xfrm>
              <a:off x="3966" y="1544"/>
              <a:ext cx="449" cy="231"/>
            </a:xfrm>
            <a:prstGeom prst="rect">
              <a:avLst/>
            </a:prstGeom>
            <a:noFill/>
            <a:ln w="9525">
              <a:noFill/>
              <a:miter lim="800000"/>
              <a:headEnd/>
              <a:tailEnd/>
            </a:ln>
          </p:spPr>
          <p:txBody>
            <a:bodyPr wrap="none">
              <a:spAutoFit/>
            </a:bodyPr>
            <a:lstStyle/>
            <a:p>
              <a:r>
                <a:rPr lang="en-US" i="1"/>
                <a:t>-P</a:t>
              </a:r>
              <a:r>
                <a:rPr lang="en-US" i="1" baseline="-25000"/>
                <a:t>o</a:t>
              </a:r>
              <a:r>
                <a:rPr lang="en-US" i="1"/>
                <a:t>A</a:t>
              </a:r>
              <a:r>
                <a:rPr lang="en-US" b="1" i="1">
                  <a:cs typeface="Arial" charset="0"/>
                </a:rPr>
                <a:t>ĵ</a:t>
              </a:r>
            </a:p>
          </p:txBody>
        </p:sp>
        <p:sp>
          <p:nvSpPr>
            <p:cNvPr id="27671" name="Text Box 17"/>
            <p:cNvSpPr txBox="1">
              <a:spLocks noChangeArrowheads="1"/>
            </p:cNvSpPr>
            <p:nvPr/>
          </p:nvSpPr>
          <p:spPr bwMode="auto">
            <a:xfrm>
              <a:off x="3814" y="2860"/>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27672" name="Rectangle 18"/>
            <p:cNvSpPr>
              <a:spLocks noChangeArrowheads="1"/>
            </p:cNvSpPr>
            <p:nvPr/>
          </p:nvSpPr>
          <p:spPr bwMode="auto">
            <a:xfrm>
              <a:off x="4362" y="2758"/>
              <a:ext cx="348" cy="231"/>
            </a:xfrm>
            <a:prstGeom prst="rect">
              <a:avLst/>
            </a:prstGeom>
            <a:noFill/>
            <a:ln w="9525">
              <a:noFill/>
              <a:miter lim="800000"/>
              <a:headEnd/>
              <a:tailEnd/>
            </a:ln>
          </p:spPr>
          <p:txBody>
            <a:bodyPr wrap="none">
              <a:spAutoFit/>
            </a:bodyPr>
            <a:lstStyle/>
            <a:p>
              <a:r>
                <a:rPr lang="en-US" i="1"/>
                <a:t>PA</a:t>
              </a:r>
              <a:r>
                <a:rPr lang="en-US" b="1" i="1"/>
                <a:t>ĵ</a:t>
              </a:r>
            </a:p>
          </p:txBody>
        </p:sp>
        <p:sp>
          <p:nvSpPr>
            <p:cNvPr id="27673" name="Line 19"/>
            <p:cNvSpPr>
              <a:spLocks noChangeShapeType="1"/>
            </p:cNvSpPr>
            <p:nvPr/>
          </p:nvSpPr>
          <p:spPr bwMode="auto">
            <a:xfrm flipH="1" flipV="1">
              <a:off x="4411" y="2426"/>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4" name="Line 20"/>
            <p:cNvSpPr>
              <a:spLocks noChangeShapeType="1"/>
            </p:cNvSpPr>
            <p:nvPr/>
          </p:nvSpPr>
          <p:spPr bwMode="auto">
            <a:xfrm flipV="1">
              <a:off x="3778" y="2432"/>
              <a:ext cx="270" cy="0"/>
            </a:xfrm>
            <a:prstGeom prst="line">
              <a:avLst/>
            </a:prstGeom>
            <a:noFill/>
            <a:ln w="28575">
              <a:solidFill>
                <a:schemeClr val="tx2">
                  <a:lumMod val="50000"/>
                </a:schemeClr>
              </a:solidFill>
              <a:round/>
              <a:headEnd/>
              <a:tailEnd type="triangle" w="med" len="med"/>
            </a:ln>
          </p:spPr>
          <p:txBody>
            <a:bodyPr/>
            <a:lstStyle/>
            <a:p>
              <a:endParaRPr lang="en-US"/>
            </a:p>
          </p:txBody>
        </p:sp>
        <p:sp>
          <p:nvSpPr>
            <p:cNvPr id="27675" name="Freeform 21"/>
            <p:cNvSpPr>
              <a:spLocks/>
            </p:cNvSpPr>
            <p:nvPr/>
          </p:nvSpPr>
          <p:spPr bwMode="auto">
            <a:xfrm rot="1156648">
              <a:off x="4664" y="2021"/>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27676" name="Freeform 22"/>
            <p:cNvSpPr>
              <a:spLocks/>
            </p:cNvSpPr>
            <p:nvPr/>
          </p:nvSpPr>
          <p:spPr bwMode="auto">
            <a:xfrm rot="20443352" flipH="1">
              <a:off x="3562" y="2027"/>
              <a:ext cx="292" cy="430"/>
            </a:xfrm>
            <a:custGeom>
              <a:avLst/>
              <a:gdLst>
                <a:gd name="T0" fmla="*/ 292 w 292"/>
                <a:gd name="T1" fmla="*/ 0 h 430"/>
                <a:gd name="T2" fmla="*/ 109 w 292"/>
                <a:gd name="T3" fmla="*/ 219 h 430"/>
                <a:gd name="T4" fmla="*/ 210 w 292"/>
                <a:gd name="T5" fmla="*/ 238 h 430"/>
                <a:gd name="T6" fmla="*/ 0 w 292"/>
                <a:gd name="T7" fmla="*/ 43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grpSp>
          <p:nvGrpSpPr>
            <p:cNvPr id="4" name="Group 23"/>
            <p:cNvGrpSpPr>
              <a:grpSpLocks/>
            </p:cNvGrpSpPr>
            <p:nvPr/>
          </p:nvGrpSpPr>
          <p:grpSpPr bwMode="auto">
            <a:xfrm>
              <a:off x="5031" y="1904"/>
              <a:ext cx="552" cy="231"/>
              <a:chOff x="2252" y="1684"/>
              <a:chExt cx="552" cy="231"/>
            </a:xfrm>
          </p:grpSpPr>
          <p:sp>
            <p:nvSpPr>
              <p:cNvPr id="27681" name="Text Box 24"/>
              <p:cNvSpPr txBox="1">
                <a:spLocks noChangeArrowheads="1"/>
              </p:cNvSpPr>
              <p:nvPr/>
            </p:nvSpPr>
            <p:spPr bwMode="auto">
              <a:xfrm>
                <a:off x="2252" y="1684"/>
                <a:ext cx="552" cy="231"/>
              </a:xfrm>
              <a:prstGeom prst="rect">
                <a:avLst/>
              </a:prstGeom>
              <a:noFill/>
              <a:ln w="9525">
                <a:noFill/>
                <a:miter lim="800000"/>
                <a:headEnd/>
                <a:tailEnd/>
              </a:ln>
            </p:spPr>
            <p:txBody>
              <a:bodyPr wrap="none">
                <a:spAutoFit/>
              </a:bodyPr>
              <a:lstStyle/>
              <a:p>
                <a:r>
                  <a:rPr lang="en-US" i="1"/>
                  <a:t>-P</a:t>
                </a:r>
                <a:r>
                  <a:rPr lang="en-US" i="1" baseline="-25000"/>
                  <a:t>m</a:t>
                </a:r>
                <a:r>
                  <a:rPr lang="en-US" i="1"/>
                  <a:t>A</a:t>
                </a:r>
                <a:r>
                  <a:rPr lang="en-US" b="1" i="1">
                    <a:cs typeface="Arial" charset="0"/>
                    <a:sym typeface="Symbol" pitchFamily="18" charset="2"/>
                  </a:rPr>
                  <a:t>x</a:t>
                </a:r>
              </a:p>
            </p:txBody>
          </p:sp>
          <p:sp>
            <p:nvSpPr>
              <p:cNvPr id="27682" name="Freeform 25"/>
              <p:cNvSpPr>
                <a:spLocks/>
              </p:cNvSpPr>
              <p:nvPr/>
            </p:nvSpPr>
            <p:spPr bwMode="auto">
              <a:xfrm>
                <a:off x="2679" y="1717"/>
                <a:ext cx="73" cy="46"/>
              </a:xfrm>
              <a:custGeom>
                <a:avLst/>
                <a:gdLst>
                  <a:gd name="T0" fmla="*/ 0 w 549"/>
                  <a:gd name="T1" fmla="*/ 43 h 265"/>
                  <a:gd name="T2" fmla="*/ 36 w 549"/>
                  <a:gd name="T3" fmla="*/ 0 h 265"/>
                  <a:gd name="T4" fmla="*/ 73 w 549"/>
                  <a:gd name="T5" fmla="*/ 46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nvGrpSpPr>
            <p:cNvPr id="5" name="Group 26"/>
            <p:cNvGrpSpPr>
              <a:grpSpLocks/>
            </p:cNvGrpSpPr>
            <p:nvPr/>
          </p:nvGrpSpPr>
          <p:grpSpPr bwMode="auto">
            <a:xfrm>
              <a:off x="3045" y="1928"/>
              <a:ext cx="504" cy="231"/>
              <a:chOff x="230" y="1468"/>
              <a:chExt cx="504" cy="231"/>
            </a:xfrm>
          </p:grpSpPr>
          <p:sp>
            <p:nvSpPr>
              <p:cNvPr id="27679" name="Text Box 27"/>
              <p:cNvSpPr txBox="1">
                <a:spLocks noChangeArrowheads="1"/>
              </p:cNvSpPr>
              <p:nvPr/>
            </p:nvSpPr>
            <p:spPr bwMode="auto">
              <a:xfrm>
                <a:off x="230" y="1468"/>
                <a:ext cx="504" cy="231"/>
              </a:xfrm>
              <a:prstGeom prst="rect">
                <a:avLst/>
              </a:prstGeom>
              <a:noFill/>
              <a:ln w="9525">
                <a:noFill/>
                <a:miter lim="800000"/>
                <a:headEnd/>
                <a:tailEnd/>
              </a:ln>
            </p:spPr>
            <p:txBody>
              <a:bodyPr wrap="none">
                <a:spAutoFit/>
              </a:bodyPr>
              <a:lstStyle/>
              <a:p>
                <a:r>
                  <a:rPr lang="en-US" i="1"/>
                  <a:t>P</a:t>
                </a:r>
                <a:r>
                  <a:rPr lang="en-US" i="1" baseline="-25000"/>
                  <a:t>m</a:t>
                </a:r>
                <a:r>
                  <a:rPr lang="en-US" i="1"/>
                  <a:t>A</a:t>
                </a:r>
                <a:r>
                  <a:rPr lang="en-US" b="1" i="1">
                    <a:cs typeface="Arial" charset="0"/>
                    <a:sym typeface="Symbol" pitchFamily="18" charset="2"/>
                  </a:rPr>
                  <a:t>x</a:t>
                </a:r>
              </a:p>
            </p:txBody>
          </p:sp>
          <p:sp>
            <p:nvSpPr>
              <p:cNvPr id="27680" name="Freeform 28"/>
              <p:cNvSpPr>
                <a:spLocks/>
              </p:cNvSpPr>
              <p:nvPr/>
            </p:nvSpPr>
            <p:spPr bwMode="auto">
              <a:xfrm>
                <a:off x="615" y="1501"/>
                <a:ext cx="73" cy="46"/>
              </a:xfrm>
              <a:custGeom>
                <a:avLst/>
                <a:gdLst>
                  <a:gd name="T0" fmla="*/ 0 w 549"/>
                  <a:gd name="T1" fmla="*/ 43 h 265"/>
                  <a:gd name="T2" fmla="*/ 36 w 549"/>
                  <a:gd name="T3" fmla="*/ 0 h 265"/>
                  <a:gd name="T4" fmla="*/ 73 w 549"/>
                  <a:gd name="T5" fmla="*/ 46 h 265"/>
                  <a:gd name="T6" fmla="*/ 0 60000 65536"/>
                  <a:gd name="T7" fmla="*/ 0 60000 65536"/>
                  <a:gd name="T8" fmla="*/ 0 60000 65536"/>
                  <a:gd name="T9" fmla="*/ 0 w 549"/>
                  <a:gd name="T10" fmla="*/ 0 h 265"/>
                  <a:gd name="T11" fmla="*/ 549 w 549"/>
                  <a:gd name="T12" fmla="*/ 265 h 265"/>
                </a:gdLst>
                <a:ahLst/>
                <a:cxnLst>
                  <a:cxn ang="T6">
                    <a:pos x="T0" y="T1"/>
                  </a:cxn>
                  <a:cxn ang="T7">
                    <a:pos x="T2" y="T3"/>
                  </a:cxn>
                  <a:cxn ang="T8">
                    <a:pos x="T4" y="T5"/>
                  </a:cxn>
                </a:cxnLst>
                <a:rect l="T9" t="T10" r="T11" b="T12"/>
                <a:pathLst>
                  <a:path w="549" h="265">
                    <a:moveTo>
                      <a:pt x="0" y="246"/>
                    </a:moveTo>
                    <a:lnTo>
                      <a:pt x="274" y="0"/>
                    </a:lnTo>
                    <a:lnTo>
                      <a:pt x="549" y="265"/>
                    </a:lnTo>
                  </a:path>
                </a:pathLst>
              </a:custGeom>
              <a:noFill/>
              <a:ln w="9525">
                <a:solidFill>
                  <a:schemeClr val="tx1"/>
                </a:solidFill>
                <a:round/>
                <a:headEnd/>
                <a:tailEnd/>
              </a:ln>
            </p:spPr>
            <p:txBody>
              <a:bodyPr/>
              <a:lstStyle/>
              <a:p>
                <a:endParaRPr lang="en-US"/>
              </a:p>
            </p:txBody>
          </p:sp>
        </p:grpSp>
      </p:grpSp>
      <p:grpSp>
        <p:nvGrpSpPr>
          <p:cNvPr id="6" name="Group 29"/>
          <p:cNvGrpSpPr>
            <a:grpSpLocks/>
          </p:cNvGrpSpPr>
          <p:nvPr/>
        </p:nvGrpSpPr>
        <p:grpSpPr bwMode="auto">
          <a:xfrm>
            <a:off x="8337550" y="4014788"/>
            <a:ext cx="446088" cy="855662"/>
            <a:chOff x="3845" y="3543"/>
            <a:chExt cx="514" cy="648"/>
          </a:xfrm>
        </p:grpSpPr>
        <p:sp>
          <p:nvSpPr>
            <p:cNvPr id="27657" name="Line 30"/>
            <p:cNvSpPr>
              <a:spLocks noChangeShapeType="1"/>
            </p:cNvSpPr>
            <p:nvPr/>
          </p:nvSpPr>
          <p:spPr bwMode="auto">
            <a:xfrm>
              <a:off x="3865" y="3682"/>
              <a:ext cx="0" cy="348"/>
            </a:xfrm>
            <a:prstGeom prst="line">
              <a:avLst/>
            </a:prstGeom>
            <a:noFill/>
            <a:ln w="9525">
              <a:solidFill>
                <a:schemeClr val="tx1"/>
              </a:solidFill>
              <a:round/>
              <a:headEnd type="arrow" w="med" len="med"/>
              <a:tailEnd/>
            </a:ln>
          </p:spPr>
          <p:txBody>
            <a:bodyPr/>
            <a:lstStyle/>
            <a:p>
              <a:endParaRPr lang="en-US"/>
            </a:p>
          </p:txBody>
        </p:sp>
        <p:sp>
          <p:nvSpPr>
            <p:cNvPr id="27658" name="Line 31"/>
            <p:cNvSpPr>
              <a:spLocks noChangeShapeType="1"/>
            </p:cNvSpPr>
            <p:nvPr/>
          </p:nvSpPr>
          <p:spPr bwMode="auto">
            <a:xfrm>
              <a:off x="3865" y="4030"/>
              <a:ext cx="300" cy="0"/>
            </a:xfrm>
            <a:prstGeom prst="line">
              <a:avLst/>
            </a:prstGeom>
            <a:noFill/>
            <a:ln w="9525">
              <a:solidFill>
                <a:schemeClr val="tx1"/>
              </a:solidFill>
              <a:round/>
              <a:headEnd/>
              <a:tailEnd type="arrow" w="med" len="med"/>
            </a:ln>
          </p:spPr>
          <p:txBody>
            <a:bodyPr/>
            <a:lstStyle/>
            <a:p>
              <a:endParaRPr lang="en-US"/>
            </a:p>
          </p:txBody>
        </p:sp>
        <p:sp>
          <p:nvSpPr>
            <p:cNvPr id="27659" name="Text Box 32"/>
            <p:cNvSpPr txBox="1">
              <a:spLocks noChangeArrowheads="1"/>
            </p:cNvSpPr>
            <p:nvPr/>
          </p:nvSpPr>
          <p:spPr bwMode="auto">
            <a:xfrm>
              <a:off x="3845" y="3543"/>
              <a:ext cx="271" cy="278"/>
            </a:xfrm>
            <a:prstGeom prst="rect">
              <a:avLst/>
            </a:prstGeom>
            <a:noFill/>
            <a:ln w="9525">
              <a:noFill/>
              <a:miter lim="800000"/>
              <a:headEnd/>
              <a:tailEnd/>
            </a:ln>
          </p:spPr>
          <p:txBody>
            <a:bodyPr wrap="none">
              <a:spAutoFit/>
            </a:bodyPr>
            <a:lstStyle/>
            <a:p>
              <a:r>
                <a:rPr lang="en-US"/>
                <a:t>j</a:t>
              </a:r>
            </a:p>
          </p:txBody>
        </p:sp>
        <p:sp>
          <p:nvSpPr>
            <p:cNvPr id="27660" name="Text Box 33"/>
            <p:cNvSpPr txBox="1">
              <a:spLocks noChangeArrowheads="1"/>
            </p:cNvSpPr>
            <p:nvPr/>
          </p:nvSpPr>
          <p:spPr bwMode="auto">
            <a:xfrm>
              <a:off x="4088" y="3913"/>
              <a:ext cx="271" cy="278"/>
            </a:xfrm>
            <a:prstGeom prst="rect">
              <a:avLst/>
            </a:prstGeom>
            <a:noFill/>
            <a:ln w="9525">
              <a:noFill/>
              <a:miter lim="800000"/>
              <a:headEnd/>
              <a:tailEnd/>
            </a:ln>
          </p:spPr>
          <p:txBody>
            <a:bodyPr wrap="none">
              <a:spAutoFit/>
            </a:bodyPr>
            <a:lstStyle/>
            <a:p>
              <a:r>
                <a:rPr lang="en-US"/>
                <a:t>i</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3"/>
          <p:cNvSpPr>
            <a:spLocks noGrp="1"/>
          </p:cNvSpPr>
          <p:nvPr>
            <p:ph type="dt" sz="quarter" idx="10"/>
          </p:nvPr>
        </p:nvSpPr>
        <p:spPr>
          <a:noFill/>
        </p:spPr>
        <p:txBody>
          <a:bodyPr/>
          <a:lstStyle/>
          <a:p>
            <a:r>
              <a:rPr lang="en-US"/>
              <a:t>Winter 2007</a:t>
            </a:r>
          </a:p>
        </p:txBody>
      </p:sp>
      <p:sp>
        <p:nvSpPr>
          <p:cNvPr id="28675" name="Footer Placeholder 4"/>
          <p:cNvSpPr>
            <a:spLocks noGrp="1"/>
          </p:cNvSpPr>
          <p:nvPr>
            <p:ph type="ftr" sz="quarter" idx="11"/>
          </p:nvPr>
        </p:nvSpPr>
        <p:spPr>
          <a:noFill/>
        </p:spPr>
        <p:txBody>
          <a:bodyPr/>
          <a:lstStyle/>
          <a:p>
            <a:r>
              <a:rPr lang="en-US"/>
              <a:t>R. Todd Lines</a:t>
            </a:r>
          </a:p>
        </p:txBody>
      </p:sp>
      <p:sp>
        <p:nvSpPr>
          <p:cNvPr id="28676" name="Slide Number Placeholder 5"/>
          <p:cNvSpPr>
            <a:spLocks noGrp="1"/>
          </p:cNvSpPr>
          <p:nvPr>
            <p:ph type="sldNum" sz="quarter" idx="12"/>
          </p:nvPr>
        </p:nvSpPr>
        <p:spPr>
          <a:noFill/>
        </p:spPr>
        <p:txBody>
          <a:bodyPr/>
          <a:lstStyle/>
          <a:p>
            <a:fld id="{50846E30-7F84-4614-A11D-B720FDD20388}" type="slidenum">
              <a:rPr lang="en-US" smtClean="0"/>
              <a:pPr/>
              <a:t>39</a:t>
            </a:fld>
            <a:endParaRPr lang="en-US" dirty="0"/>
          </a:p>
        </p:txBody>
      </p:sp>
      <p:sp>
        <p:nvSpPr>
          <p:cNvPr id="28677" name="Rectangle 2"/>
          <p:cNvSpPr>
            <a:spLocks noGrp="1" noChangeArrowheads="1"/>
          </p:cNvSpPr>
          <p:nvPr>
            <p:ph type="title"/>
          </p:nvPr>
        </p:nvSpPr>
        <p:spPr/>
        <p:txBody>
          <a:bodyPr/>
          <a:lstStyle/>
          <a:p>
            <a:pPr eaLnBrk="1" hangingPunct="1"/>
            <a:r>
              <a:rPr lang="en-US"/>
              <a:t>Buoyant Forces</a:t>
            </a:r>
          </a:p>
        </p:txBody>
      </p:sp>
      <p:sp>
        <p:nvSpPr>
          <p:cNvPr id="28678" name="Rectangle 3"/>
          <p:cNvSpPr>
            <a:spLocks noGrp="1" noChangeArrowheads="1"/>
          </p:cNvSpPr>
          <p:nvPr>
            <p:ph type="body" idx="1"/>
          </p:nvPr>
        </p:nvSpPr>
        <p:spPr>
          <a:xfrm>
            <a:off x="485775" y="1600200"/>
            <a:ext cx="3759200" cy="4525963"/>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 name="Group 4"/>
          <p:cNvGrpSpPr>
            <a:grpSpLocks/>
          </p:cNvGrpSpPr>
          <p:nvPr/>
        </p:nvGrpSpPr>
        <p:grpSpPr bwMode="auto">
          <a:xfrm>
            <a:off x="4324350" y="2506663"/>
            <a:ext cx="4195763" cy="3154362"/>
            <a:chOff x="2724" y="1579"/>
            <a:chExt cx="2643" cy="1987"/>
          </a:xfrm>
        </p:grpSpPr>
        <p:grpSp>
          <p:nvGrpSpPr>
            <p:cNvPr id="3" name="Group 5"/>
            <p:cNvGrpSpPr>
              <a:grpSpLocks/>
            </p:cNvGrpSpPr>
            <p:nvPr/>
          </p:nvGrpSpPr>
          <p:grpSpPr bwMode="auto">
            <a:xfrm>
              <a:off x="3941" y="1579"/>
              <a:ext cx="1426" cy="1987"/>
              <a:chOff x="3593" y="1643"/>
              <a:chExt cx="1426" cy="1987"/>
            </a:xfrm>
          </p:grpSpPr>
          <p:sp>
            <p:nvSpPr>
              <p:cNvPr id="28687" name="Freeform 6"/>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28688" name="Rectangle 7"/>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28689" name="Freeform 8"/>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28690" name="Oval 9"/>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28691" name="Oval 10"/>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28692" name="Line 11"/>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3" name="Line 12"/>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28694" name="Text Box 13"/>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28695" name="Text Box 14"/>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4" name="Group 15"/>
            <p:cNvGrpSpPr>
              <a:grpSpLocks/>
            </p:cNvGrpSpPr>
            <p:nvPr/>
          </p:nvGrpSpPr>
          <p:grpSpPr bwMode="auto">
            <a:xfrm rot="1590330">
              <a:off x="2724" y="2134"/>
              <a:ext cx="878" cy="860"/>
              <a:chOff x="2213" y="2234"/>
              <a:chExt cx="878" cy="860"/>
            </a:xfrm>
          </p:grpSpPr>
          <p:sp>
            <p:nvSpPr>
              <p:cNvPr id="28682" name="Oval 16"/>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683" name="Arc 17"/>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4" name="Arc 18"/>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28685" name="Arc 19"/>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8686" name="Arc 20"/>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Date Placeholder 3"/>
          <p:cNvSpPr>
            <a:spLocks noGrp="1"/>
          </p:cNvSpPr>
          <p:nvPr>
            <p:ph type="dt" sz="quarter" idx="10"/>
          </p:nvPr>
        </p:nvSpPr>
        <p:spPr>
          <a:noFill/>
        </p:spPr>
        <p:txBody>
          <a:bodyPr/>
          <a:lstStyle/>
          <a:p>
            <a:r>
              <a:rPr lang="en-US"/>
              <a:t>Winter 2007</a:t>
            </a:r>
          </a:p>
        </p:txBody>
      </p:sp>
      <p:sp>
        <p:nvSpPr>
          <p:cNvPr id="8197" name="Footer Placeholder 4"/>
          <p:cNvSpPr>
            <a:spLocks noGrp="1"/>
          </p:cNvSpPr>
          <p:nvPr>
            <p:ph type="ftr" sz="quarter" idx="11"/>
          </p:nvPr>
        </p:nvSpPr>
        <p:spPr>
          <a:noFill/>
        </p:spPr>
        <p:txBody>
          <a:bodyPr/>
          <a:lstStyle/>
          <a:p>
            <a:r>
              <a:rPr lang="en-US"/>
              <a:t>R. Todd Lines</a:t>
            </a:r>
          </a:p>
        </p:txBody>
      </p:sp>
      <p:sp>
        <p:nvSpPr>
          <p:cNvPr id="8198" name="Slide Number Placeholder 5"/>
          <p:cNvSpPr>
            <a:spLocks noGrp="1"/>
          </p:cNvSpPr>
          <p:nvPr>
            <p:ph type="sldNum" sz="quarter" idx="12"/>
          </p:nvPr>
        </p:nvSpPr>
        <p:spPr>
          <a:noFill/>
        </p:spPr>
        <p:txBody>
          <a:bodyPr/>
          <a:lstStyle/>
          <a:p>
            <a:fld id="{4E954239-4440-40A6-A387-496219AC2410}" type="slidenum">
              <a:rPr lang="en-US" smtClean="0"/>
              <a:pPr/>
              <a:t>40</a:t>
            </a:fld>
            <a:endParaRPr lang="en-US"/>
          </a:p>
        </p:txBody>
      </p:sp>
      <p:sp>
        <p:nvSpPr>
          <p:cNvPr id="8199" name="Rectangle 2"/>
          <p:cNvSpPr>
            <a:spLocks noGrp="1" noChangeArrowheads="1"/>
          </p:cNvSpPr>
          <p:nvPr>
            <p:ph type="title"/>
          </p:nvPr>
        </p:nvSpPr>
        <p:spPr/>
        <p:txBody>
          <a:bodyPr/>
          <a:lstStyle/>
          <a:p>
            <a:pPr eaLnBrk="1" hangingPunct="1"/>
            <a:r>
              <a:rPr lang="en-US"/>
              <a:t>Archimedes’ Principle</a:t>
            </a:r>
          </a:p>
        </p:txBody>
      </p:sp>
      <p:sp>
        <p:nvSpPr>
          <p:cNvPr id="8200" name="AutoShape 3"/>
          <p:cNvSpPr>
            <a:spLocks noChangeArrowheads="1"/>
          </p:cNvSpPr>
          <p:nvPr/>
        </p:nvSpPr>
        <p:spPr bwMode="auto">
          <a:xfrm>
            <a:off x="522288" y="1539875"/>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magnitude of the buoyant force always equals the weight of the fluid displaced by the object</a:t>
            </a:r>
          </a:p>
        </p:txBody>
      </p:sp>
      <p:sp>
        <p:nvSpPr>
          <p:cNvPr id="8201" name="Line 4"/>
          <p:cNvSpPr>
            <a:spLocks noChangeShapeType="1"/>
          </p:cNvSpPr>
          <p:nvPr/>
        </p:nvSpPr>
        <p:spPr bwMode="auto">
          <a:xfrm flipH="1">
            <a:off x="6902450" y="3824288"/>
            <a:ext cx="215900" cy="0"/>
          </a:xfrm>
          <a:prstGeom prst="line">
            <a:avLst/>
          </a:prstGeom>
          <a:noFill/>
          <a:ln w="9525">
            <a:solidFill>
              <a:schemeClr val="tx1"/>
            </a:solidFill>
            <a:round/>
            <a:headEnd/>
            <a:tailEnd/>
          </a:ln>
        </p:spPr>
        <p:txBody>
          <a:bodyPr/>
          <a:lstStyle/>
          <a:p>
            <a:endParaRPr lang="en-US"/>
          </a:p>
        </p:txBody>
      </p:sp>
      <p:grpSp>
        <p:nvGrpSpPr>
          <p:cNvPr id="2" name="Group 5"/>
          <p:cNvGrpSpPr>
            <a:grpSpLocks/>
          </p:cNvGrpSpPr>
          <p:nvPr/>
        </p:nvGrpSpPr>
        <p:grpSpPr bwMode="auto">
          <a:xfrm>
            <a:off x="6332538" y="3024188"/>
            <a:ext cx="1900237" cy="2265362"/>
            <a:chOff x="3989" y="1959"/>
            <a:chExt cx="1416" cy="1628"/>
          </a:xfrm>
        </p:grpSpPr>
        <p:grpSp>
          <p:nvGrpSpPr>
            <p:cNvPr id="3" name="Group 6"/>
            <p:cNvGrpSpPr>
              <a:grpSpLocks/>
            </p:cNvGrpSpPr>
            <p:nvPr/>
          </p:nvGrpSpPr>
          <p:grpSpPr bwMode="auto">
            <a:xfrm>
              <a:off x="3989" y="1963"/>
              <a:ext cx="1416" cy="1624"/>
              <a:chOff x="3596" y="1780"/>
              <a:chExt cx="1416" cy="1624"/>
            </a:xfrm>
          </p:grpSpPr>
          <p:sp>
            <p:nvSpPr>
              <p:cNvPr id="8240"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41"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28" name="AutoShape 9"/>
            <p:cNvSpPr>
              <a:spLocks noChangeArrowheads="1"/>
            </p:cNvSpPr>
            <p:nvPr/>
          </p:nvSpPr>
          <p:spPr bwMode="auto">
            <a:xfrm>
              <a:off x="4153" y="2263"/>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29" name="Rectangle 10"/>
            <p:cNvSpPr>
              <a:spLocks noChangeArrowheads="1"/>
            </p:cNvSpPr>
            <p:nvPr/>
          </p:nvSpPr>
          <p:spPr bwMode="auto">
            <a:xfrm>
              <a:off x="4153" y="2243"/>
              <a:ext cx="1076" cy="248"/>
            </a:xfrm>
            <a:prstGeom prst="rect">
              <a:avLst/>
            </a:prstGeom>
            <a:solidFill>
              <a:schemeClr val="accent1"/>
            </a:solidFill>
            <a:ln w="9525">
              <a:noFill/>
              <a:miter lim="800000"/>
              <a:headEnd/>
              <a:tailEnd/>
            </a:ln>
          </p:spPr>
          <p:txBody>
            <a:bodyPr wrap="none" anchor="ctr"/>
            <a:lstStyle/>
            <a:p>
              <a:endParaRPr lang="en-US"/>
            </a:p>
          </p:txBody>
        </p:sp>
        <p:sp>
          <p:nvSpPr>
            <p:cNvPr id="8230" name="Freeform 11"/>
            <p:cNvSpPr>
              <a:spLocks/>
            </p:cNvSpPr>
            <p:nvPr/>
          </p:nvSpPr>
          <p:spPr bwMode="auto">
            <a:xfrm>
              <a:off x="4073"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1" name="Freeform 12"/>
            <p:cNvSpPr>
              <a:spLocks/>
            </p:cNvSpPr>
            <p:nvPr/>
          </p:nvSpPr>
          <p:spPr bwMode="auto">
            <a:xfrm flipH="1">
              <a:off x="4697" y="1959"/>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32" name="Rectangle 13"/>
            <p:cNvSpPr>
              <a:spLocks noChangeArrowheads="1"/>
            </p:cNvSpPr>
            <p:nvPr/>
          </p:nvSpPr>
          <p:spPr bwMode="auto">
            <a:xfrm>
              <a:off x="4533" y="2459"/>
              <a:ext cx="380" cy="640"/>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8233" name="Line 14"/>
            <p:cNvSpPr>
              <a:spLocks noChangeShapeType="1"/>
            </p:cNvSpPr>
            <p:nvPr/>
          </p:nvSpPr>
          <p:spPr bwMode="auto">
            <a:xfrm flipH="1">
              <a:off x="4353" y="3099"/>
              <a:ext cx="136" cy="0"/>
            </a:xfrm>
            <a:prstGeom prst="line">
              <a:avLst/>
            </a:prstGeom>
            <a:noFill/>
            <a:ln w="9525">
              <a:solidFill>
                <a:schemeClr val="tx1"/>
              </a:solidFill>
              <a:round/>
              <a:headEnd/>
              <a:tailEnd/>
            </a:ln>
          </p:spPr>
          <p:txBody>
            <a:bodyPr/>
            <a:lstStyle/>
            <a:p>
              <a:endParaRPr lang="en-US"/>
            </a:p>
          </p:txBody>
        </p:sp>
        <p:sp>
          <p:nvSpPr>
            <p:cNvPr id="8234" name="Line 15"/>
            <p:cNvSpPr>
              <a:spLocks noChangeShapeType="1"/>
            </p:cNvSpPr>
            <p:nvPr/>
          </p:nvSpPr>
          <p:spPr bwMode="auto">
            <a:xfrm>
              <a:off x="4340" y="2495"/>
              <a:ext cx="0" cy="588"/>
            </a:xfrm>
            <a:prstGeom prst="line">
              <a:avLst/>
            </a:prstGeom>
            <a:noFill/>
            <a:ln w="9525">
              <a:solidFill>
                <a:schemeClr val="tx1"/>
              </a:solidFill>
              <a:round/>
              <a:headEnd type="triangle" w="med" len="med"/>
              <a:tailEnd type="triangle" w="med" len="med"/>
            </a:ln>
          </p:spPr>
          <p:txBody>
            <a:bodyPr/>
            <a:lstStyle/>
            <a:p>
              <a:endParaRPr lang="en-US"/>
            </a:p>
          </p:txBody>
        </p:sp>
        <p:sp>
          <p:nvSpPr>
            <p:cNvPr id="8235" name="Line 16"/>
            <p:cNvSpPr>
              <a:spLocks noChangeShapeType="1"/>
            </p:cNvSpPr>
            <p:nvPr/>
          </p:nvSpPr>
          <p:spPr bwMode="auto">
            <a:xfrm>
              <a:off x="4729" y="3099"/>
              <a:ext cx="0" cy="200"/>
            </a:xfrm>
            <a:prstGeom prst="line">
              <a:avLst/>
            </a:prstGeom>
            <a:noFill/>
            <a:ln w="28575">
              <a:solidFill>
                <a:schemeClr val="tx2">
                  <a:lumMod val="50000"/>
                </a:schemeClr>
              </a:solidFill>
              <a:round/>
              <a:headEnd/>
              <a:tailEnd type="triangle" w="med" len="med"/>
            </a:ln>
          </p:spPr>
          <p:txBody>
            <a:bodyPr/>
            <a:lstStyle/>
            <a:p>
              <a:endParaRPr lang="en-US" dirty="0"/>
            </a:p>
          </p:txBody>
        </p:sp>
        <p:sp>
          <p:nvSpPr>
            <p:cNvPr id="8236" name="Line 17"/>
            <p:cNvSpPr>
              <a:spLocks noChangeShapeType="1"/>
            </p:cNvSpPr>
            <p:nvPr/>
          </p:nvSpPr>
          <p:spPr bwMode="auto">
            <a:xfrm flipV="1">
              <a:off x="4718" y="2244"/>
              <a:ext cx="4" cy="210"/>
            </a:xfrm>
            <a:prstGeom prst="line">
              <a:avLst/>
            </a:prstGeom>
            <a:noFill/>
            <a:ln w="28575">
              <a:solidFill>
                <a:schemeClr val="tx2">
                  <a:lumMod val="50000"/>
                </a:schemeClr>
              </a:solidFill>
              <a:round/>
              <a:headEnd/>
              <a:tailEnd type="triangle" w="med" len="med"/>
            </a:ln>
          </p:spPr>
          <p:txBody>
            <a:bodyPr/>
            <a:lstStyle/>
            <a:p>
              <a:endParaRPr lang="en-US"/>
            </a:p>
          </p:txBody>
        </p:sp>
        <p:sp>
          <p:nvSpPr>
            <p:cNvPr id="8237" name="Text Box 18"/>
            <p:cNvSpPr txBox="1">
              <a:spLocks noChangeArrowheads="1"/>
            </p:cNvSpPr>
            <p:nvPr/>
          </p:nvSpPr>
          <p:spPr bwMode="auto">
            <a:xfrm>
              <a:off x="4541" y="3268"/>
              <a:ext cx="294" cy="265"/>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8238" name="Rectangle 19"/>
            <p:cNvSpPr>
              <a:spLocks noChangeArrowheads="1"/>
            </p:cNvSpPr>
            <p:nvPr/>
          </p:nvSpPr>
          <p:spPr bwMode="auto">
            <a:xfrm>
              <a:off x="4743" y="2224"/>
              <a:ext cx="260" cy="263"/>
            </a:xfrm>
            <a:prstGeom prst="rect">
              <a:avLst/>
            </a:prstGeom>
            <a:noFill/>
            <a:ln w="9525">
              <a:noFill/>
              <a:miter lim="800000"/>
              <a:headEnd/>
              <a:tailEnd/>
            </a:ln>
          </p:spPr>
          <p:txBody>
            <a:bodyPr wrap="none">
              <a:spAutoFit/>
            </a:bodyPr>
            <a:lstStyle/>
            <a:p>
              <a:r>
                <a:rPr lang="en-US" b="1"/>
                <a:t>B</a:t>
              </a:r>
              <a:endParaRPr lang="en-US" b="1" i="1"/>
            </a:p>
          </p:txBody>
        </p:sp>
        <p:sp>
          <p:nvSpPr>
            <p:cNvPr id="8239" name="Text Box 20"/>
            <p:cNvSpPr txBox="1">
              <a:spLocks noChangeArrowheads="1"/>
            </p:cNvSpPr>
            <p:nvPr/>
          </p:nvSpPr>
          <p:spPr bwMode="auto">
            <a:xfrm>
              <a:off x="4242" y="2671"/>
              <a:ext cx="211" cy="219"/>
            </a:xfrm>
            <a:prstGeom prst="rect">
              <a:avLst/>
            </a:prstGeom>
            <a:solidFill>
              <a:schemeClr val="accent1"/>
            </a:solidFill>
            <a:ln w="9525">
              <a:noFill/>
              <a:miter lim="800000"/>
              <a:headEnd/>
              <a:tailEnd/>
            </a:ln>
          </p:spPr>
          <p:txBody>
            <a:bodyPr wrap="none">
              <a:spAutoFit/>
            </a:bodyPr>
            <a:lstStyle/>
            <a:p>
              <a:r>
                <a:rPr lang="en-US" sz="1400" i="1"/>
                <a:t>h</a:t>
              </a:r>
            </a:p>
          </p:txBody>
        </p:sp>
      </p:grpSp>
      <p:grpSp>
        <p:nvGrpSpPr>
          <p:cNvPr id="4" name="Group 21"/>
          <p:cNvGrpSpPr>
            <a:grpSpLocks/>
          </p:cNvGrpSpPr>
          <p:nvPr/>
        </p:nvGrpSpPr>
        <p:grpSpPr bwMode="auto">
          <a:xfrm>
            <a:off x="3635375" y="3009900"/>
            <a:ext cx="2074863" cy="2263775"/>
            <a:chOff x="2290" y="1950"/>
            <a:chExt cx="1307" cy="1426"/>
          </a:xfrm>
        </p:grpSpPr>
        <p:grpSp>
          <p:nvGrpSpPr>
            <p:cNvPr id="5" name="Group 22"/>
            <p:cNvGrpSpPr>
              <a:grpSpLocks/>
            </p:cNvGrpSpPr>
            <p:nvPr/>
          </p:nvGrpSpPr>
          <p:grpSpPr bwMode="auto">
            <a:xfrm>
              <a:off x="2290" y="1954"/>
              <a:ext cx="1307" cy="1422"/>
              <a:chOff x="3596" y="1780"/>
              <a:chExt cx="1416" cy="1624"/>
            </a:xfrm>
          </p:grpSpPr>
          <p:sp>
            <p:nvSpPr>
              <p:cNvPr id="8225" name="Freeform 23"/>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8226" name="Freeform 24"/>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8210" name="AutoShape 25"/>
            <p:cNvSpPr>
              <a:spLocks noChangeArrowheads="1"/>
            </p:cNvSpPr>
            <p:nvPr/>
          </p:nvSpPr>
          <p:spPr bwMode="auto">
            <a:xfrm>
              <a:off x="2441" y="2216"/>
              <a:ext cx="1005" cy="112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8211" name="Rectangle 26"/>
            <p:cNvSpPr>
              <a:spLocks noChangeArrowheads="1"/>
            </p:cNvSpPr>
            <p:nvPr/>
          </p:nvSpPr>
          <p:spPr bwMode="auto">
            <a:xfrm>
              <a:off x="2441" y="2199"/>
              <a:ext cx="994" cy="217"/>
            </a:xfrm>
            <a:prstGeom prst="rect">
              <a:avLst/>
            </a:prstGeom>
            <a:solidFill>
              <a:schemeClr val="accent1"/>
            </a:solidFill>
            <a:ln w="9525">
              <a:noFill/>
              <a:miter lim="800000"/>
              <a:headEnd/>
              <a:tailEnd/>
            </a:ln>
          </p:spPr>
          <p:txBody>
            <a:bodyPr wrap="none" anchor="ctr"/>
            <a:lstStyle/>
            <a:p>
              <a:endParaRPr lang="en-US"/>
            </a:p>
          </p:txBody>
        </p:sp>
        <p:sp>
          <p:nvSpPr>
            <p:cNvPr id="8212" name="Freeform 27"/>
            <p:cNvSpPr>
              <a:spLocks/>
            </p:cNvSpPr>
            <p:nvPr/>
          </p:nvSpPr>
          <p:spPr bwMode="auto">
            <a:xfrm>
              <a:off x="2368" y="1950"/>
              <a:ext cx="576"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8 w 624"/>
                <a:gd name="T11" fmla="*/ 774 h 1588"/>
                <a:gd name="T12" fmla="*/ 78 w 624"/>
                <a:gd name="T13" fmla="*/ 1104 h 1588"/>
                <a:gd name="T14" fmla="*/ 85 w 624"/>
                <a:gd name="T15" fmla="*/ 1265 h 1588"/>
                <a:gd name="T16" fmla="*/ 114 w 624"/>
                <a:gd name="T17" fmla="*/ 1321 h 1588"/>
                <a:gd name="T18" fmla="*/ 159 w 624"/>
                <a:gd name="T19" fmla="*/ 1359 h 1588"/>
                <a:gd name="T20" fmla="*/ 225 w 624"/>
                <a:gd name="T21" fmla="*/ 1391 h 1588"/>
                <a:gd name="T22" fmla="*/ 351 w 624"/>
                <a:gd name="T23" fmla="*/ 1391 h 1588"/>
                <a:gd name="T24" fmla="*/ 539 w 624"/>
                <a:gd name="T25" fmla="*/ 1391 h 1588"/>
                <a:gd name="T26" fmla="*/ 576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3" name="Freeform 28"/>
            <p:cNvSpPr>
              <a:spLocks/>
            </p:cNvSpPr>
            <p:nvPr/>
          </p:nvSpPr>
          <p:spPr bwMode="auto">
            <a:xfrm flipH="1">
              <a:off x="2944" y="1950"/>
              <a:ext cx="575" cy="1391"/>
            </a:xfrm>
            <a:custGeom>
              <a:avLst/>
              <a:gdLst>
                <a:gd name="T0" fmla="*/ 0 w 624"/>
                <a:gd name="T1" fmla="*/ 0 h 1588"/>
                <a:gd name="T2" fmla="*/ 41 w 624"/>
                <a:gd name="T3" fmla="*/ 14 h 1588"/>
                <a:gd name="T4" fmla="*/ 59 w 624"/>
                <a:gd name="T5" fmla="*/ 49 h 1588"/>
                <a:gd name="T6" fmla="*/ 74 w 624"/>
                <a:gd name="T7" fmla="*/ 126 h 1588"/>
                <a:gd name="T8" fmla="*/ 81 w 624"/>
                <a:gd name="T9" fmla="*/ 368 h 1588"/>
                <a:gd name="T10" fmla="*/ 77 w 624"/>
                <a:gd name="T11" fmla="*/ 774 h 1588"/>
                <a:gd name="T12" fmla="*/ 77 w 624"/>
                <a:gd name="T13" fmla="*/ 1104 h 1588"/>
                <a:gd name="T14" fmla="*/ 85 w 624"/>
                <a:gd name="T15" fmla="*/ 1265 h 1588"/>
                <a:gd name="T16" fmla="*/ 114 w 624"/>
                <a:gd name="T17" fmla="*/ 1321 h 1588"/>
                <a:gd name="T18" fmla="*/ 158 w 624"/>
                <a:gd name="T19" fmla="*/ 1359 h 1588"/>
                <a:gd name="T20" fmla="*/ 225 w 624"/>
                <a:gd name="T21" fmla="*/ 1391 h 1588"/>
                <a:gd name="T22" fmla="*/ 350 w 624"/>
                <a:gd name="T23" fmla="*/ 1391 h 1588"/>
                <a:gd name="T24" fmla="*/ 538 w 624"/>
                <a:gd name="T25" fmla="*/ 1391 h 1588"/>
                <a:gd name="T26" fmla="*/ 575 w 624"/>
                <a:gd name="T27" fmla="*/ 1391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8214" name="Rectangle 29"/>
            <p:cNvSpPr>
              <a:spLocks noChangeArrowheads="1"/>
            </p:cNvSpPr>
            <p:nvPr/>
          </p:nvSpPr>
          <p:spPr bwMode="auto">
            <a:xfrm>
              <a:off x="2792" y="2388"/>
              <a:ext cx="351" cy="561"/>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8215" name="Line 30"/>
            <p:cNvSpPr>
              <a:spLocks noChangeShapeType="1"/>
            </p:cNvSpPr>
            <p:nvPr/>
          </p:nvSpPr>
          <p:spPr bwMode="auto">
            <a:xfrm flipH="1">
              <a:off x="2944" y="2254"/>
              <a:ext cx="4" cy="134"/>
            </a:xfrm>
            <a:prstGeom prst="line">
              <a:avLst/>
            </a:prstGeom>
            <a:noFill/>
            <a:ln w="28575">
              <a:solidFill>
                <a:schemeClr val="tx2">
                  <a:lumMod val="50000"/>
                </a:schemeClr>
              </a:solidFill>
              <a:round/>
              <a:headEnd/>
              <a:tailEnd type="triangle" w="med" len="med"/>
            </a:ln>
          </p:spPr>
          <p:txBody>
            <a:bodyPr/>
            <a:lstStyle/>
            <a:p>
              <a:endParaRPr lang="en-US"/>
            </a:p>
          </p:txBody>
        </p:sp>
        <p:sp>
          <p:nvSpPr>
            <p:cNvPr id="8216" name="Line 31"/>
            <p:cNvSpPr>
              <a:spLocks noChangeShapeType="1"/>
            </p:cNvSpPr>
            <p:nvPr/>
          </p:nvSpPr>
          <p:spPr bwMode="auto">
            <a:xfrm>
              <a:off x="2855" y="2949"/>
              <a:ext cx="0" cy="11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7" name="Line 32"/>
            <p:cNvSpPr>
              <a:spLocks noChangeShapeType="1"/>
            </p:cNvSpPr>
            <p:nvPr/>
          </p:nvSpPr>
          <p:spPr bwMode="auto">
            <a:xfrm flipV="1">
              <a:off x="3047" y="2952"/>
              <a:ext cx="4" cy="209"/>
            </a:xfrm>
            <a:prstGeom prst="line">
              <a:avLst/>
            </a:prstGeom>
            <a:noFill/>
            <a:ln w="28575">
              <a:solidFill>
                <a:schemeClr val="tx2">
                  <a:lumMod val="50000"/>
                </a:schemeClr>
              </a:solidFill>
              <a:round/>
              <a:headEnd/>
              <a:tailEnd type="triangle" w="med" len="med"/>
            </a:ln>
          </p:spPr>
          <p:txBody>
            <a:bodyPr/>
            <a:lstStyle/>
            <a:p>
              <a:endParaRPr lang="en-US"/>
            </a:p>
          </p:txBody>
        </p:sp>
        <p:sp>
          <p:nvSpPr>
            <p:cNvPr id="8218" name="Text Box 33"/>
            <p:cNvSpPr txBox="1">
              <a:spLocks noChangeArrowheads="1"/>
            </p:cNvSpPr>
            <p:nvPr/>
          </p:nvSpPr>
          <p:spPr bwMode="auto">
            <a:xfrm>
              <a:off x="2720" y="1982"/>
              <a:ext cx="591" cy="212"/>
            </a:xfrm>
            <a:prstGeom prst="rect">
              <a:avLst/>
            </a:prstGeom>
            <a:noFill/>
            <a:ln w="9525">
              <a:noFill/>
              <a:miter lim="800000"/>
              <a:headEnd/>
              <a:tailEnd/>
            </a:ln>
          </p:spPr>
          <p:txBody>
            <a:bodyPr wrap="none">
              <a:spAutoFit/>
            </a:bodyPr>
            <a:lstStyle/>
            <a:p>
              <a:r>
                <a:rPr lang="en-US" sz="1600" b="1"/>
                <a:t>F</a:t>
              </a:r>
              <a:r>
                <a:rPr lang="en-US" sz="1600" i="1" baseline="-25000"/>
                <a:t>t</a:t>
              </a:r>
              <a:r>
                <a:rPr lang="en-US" sz="1600" i="1"/>
                <a:t>=-P</a:t>
              </a:r>
              <a:r>
                <a:rPr lang="en-US" sz="1600" i="1" baseline="-25000"/>
                <a:t>o</a:t>
              </a:r>
              <a:r>
                <a:rPr lang="en-US" sz="1600" i="1"/>
                <a:t>A</a:t>
              </a:r>
              <a:r>
                <a:rPr lang="en-US" sz="1600" b="1" i="1">
                  <a:cs typeface="Arial" charset="0"/>
                </a:rPr>
                <a:t>ĵ</a:t>
              </a:r>
            </a:p>
          </p:txBody>
        </p:sp>
        <p:sp>
          <p:nvSpPr>
            <p:cNvPr id="8219" name="Text Box 34"/>
            <p:cNvSpPr txBox="1">
              <a:spLocks noChangeArrowheads="1"/>
            </p:cNvSpPr>
            <p:nvPr/>
          </p:nvSpPr>
          <p:spPr bwMode="auto">
            <a:xfrm>
              <a:off x="2580" y="3088"/>
              <a:ext cx="324" cy="231"/>
            </a:xfrm>
            <a:prstGeom prst="rect">
              <a:avLst/>
            </a:prstGeom>
            <a:noFill/>
            <a:ln w="9525">
              <a:noFill/>
              <a:miter lim="800000"/>
              <a:headEnd/>
              <a:tailEnd/>
            </a:ln>
          </p:spPr>
          <p:txBody>
            <a:bodyPr wrap="none">
              <a:spAutoFit/>
            </a:bodyPr>
            <a:lstStyle/>
            <a:p>
              <a:r>
                <a:rPr lang="en-US" i="1"/>
                <a:t>M</a:t>
              </a:r>
              <a:r>
                <a:rPr lang="en-US" b="1" i="1"/>
                <a:t>g</a:t>
              </a:r>
              <a:endParaRPr lang="en-US" b="1" i="1">
                <a:cs typeface="Arial" charset="0"/>
              </a:endParaRPr>
            </a:p>
          </p:txBody>
        </p:sp>
        <p:sp>
          <p:nvSpPr>
            <p:cNvPr id="8220" name="Rectangle 35"/>
            <p:cNvSpPr>
              <a:spLocks noChangeArrowheads="1"/>
            </p:cNvSpPr>
            <p:nvPr/>
          </p:nvSpPr>
          <p:spPr bwMode="auto">
            <a:xfrm>
              <a:off x="2875" y="3122"/>
              <a:ext cx="524" cy="212"/>
            </a:xfrm>
            <a:prstGeom prst="rect">
              <a:avLst/>
            </a:prstGeom>
            <a:noFill/>
            <a:ln w="9525">
              <a:noFill/>
              <a:miter lim="800000"/>
              <a:headEnd/>
              <a:tailEnd/>
            </a:ln>
          </p:spPr>
          <p:txBody>
            <a:bodyPr wrap="none">
              <a:spAutoFit/>
            </a:bodyPr>
            <a:lstStyle/>
            <a:p>
              <a:r>
                <a:rPr lang="en-US" sz="1600" b="1"/>
                <a:t>F</a:t>
              </a:r>
              <a:r>
                <a:rPr lang="en-US" sz="1600" baseline="-25000"/>
                <a:t>b</a:t>
              </a:r>
              <a:r>
                <a:rPr lang="en-US" sz="1600"/>
                <a:t>=PA</a:t>
              </a:r>
              <a:r>
                <a:rPr lang="en-US" sz="1600" b="1"/>
                <a:t>ĵ</a:t>
              </a:r>
            </a:p>
          </p:txBody>
        </p:sp>
        <p:sp>
          <p:nvSpPr>
            <p:cNvPr id="8221" name="Line 36"/>
            <p:cNvSpPr>
              <a:spLocks noChangeShapeType="1"/>
            </p:cNvSpPr>
            <p:nvPr/>
          </p:nvSpPr>
          <p:spPr bwMode="auto">
            <a:xfrm flipH="1">
              <a:off x="2605" y="2938"/>
              <a:ext cx="125" cy="0"/>
            </a:xfrm>
            <a:prstGeom prst="line">
              <a:avLst/>
            </a:prstGeom>
            <a:noFill/>
            <a:ln w="9525">
              <a:solidFill>
                <a:schemeClr val="tx1"/>
              </a:solidFill>
              <a:round/>
              <a:headEnd/>
              <a:tailEnd/>
            </a:ln>
          </p:spPr>
          <p:txBody>
            <a:bodyPr/>
            <a:lstStyle/>
            <a:p>
              <a:endParaRPr lang="en-US"/>
            </a:p>
          </p:txBody>
        </p:sp>
        <p:sp>
          <p:nvSpPr>
            <p:cNvPr id="8222" name="Line 37"/>
            <p:cNvSpPr>
              <a:spLocks noChangeShapeType="1"/>
            </p:cNvSpPr>
            <p:nvPr/>
          </p:nvSpPr>
          <p:spPr bwMode="auto">
            <a:xfrm>
              <a:off x="2593" y="2409"/>
              <a:ext cx="0" cy="515"/>
            </a:xfrm>
            <a:prstGeom prst="line">
              <a:avLst/>
            </a:prstGeom>
            <a:noFill/>
            <a:ln w="9525">
              <a:solidFill>
                <a:schemeClr val="tx1"/>
              </a:solidFill>
              <a:round/>
              <a:headEnd type="triangle" w="med" len="med"/>
              <a:tailEnd type="triangle" w="med" len="med"/>
            </a:ln>
          </p:spPr>
          <p:txBody>
            <a:bodyPr/>
            <a:lstStyle/>
            <a:p>
              <a:endParaRPr lang="en-US"/>
            </a:p>
          </p:txBody>
        </p:sp>
        <p:sp>
          <p:nvSpPr>
            <p:cNvPr id="8223" name="Line 38"/>
            <p:cNvSpPr>
              <a:spLocks noChangeShapeType="1"/>
            </p:cNvSpPr>
            <p:nvPr/>
          </p:nvSpPr>
          <p:spPr bwMode="auto">
            <a:xfrm flipH="1">
              <a:off x="2600" y="2381"/>
              <a:ext cx="126" cy="0"/>
            </a:xfrm>
            <a:prstGeom prst="line">
              <a:avLst/>
            </a:prstGeom>
            <a:noFill/>
            <a:ln w="9525">
              <a:solidFill>
                <a:schemeClr val="tx1"/>
              </a:solidFill>
              <a:round/>
              <a:headEnd/>
              <a:tailEnd/>
            </a:ln>
          </p:spPr>
          <p:txBody>
            <a:bodyPr/>
            <a:lstStyle/>
            <a:p>
              <a:endParaRPr lang="en-US"/>
            </a:p>
          </p:txBody>
        </p:sp>
        <p:sp>
          <p:nvSpPr>
            <p:cNvPr id="8224" name="Text Box 39"/>
            <p:cNvSpPr txBox="1">
              <a:spLocks noChangeArrowheads="1"/>
            </p:cNvSpPr>
            <p:nvPr/>
          </p:nvSpPr>
          <p:spPr bwMode="auto">
            <a:xfrm>
              <a:off x="2502" y="2563"/>
              <a:ext cx="178" cy="192"/>
            </a:xfrm>
            <a:prstGeom prst="rect">
              <a:avLst/>
            </a:prstGeom>
            <a:solidFill>
              <a:schemeClr val="accent1"/>
            </a:solidFill>
            <a:ln w="9525">
              <a:noFill/>
              <a:miter lim="800000"/>
              <a:headEnd/>
              <a:tailEnd/>
            </a:ln>
          </p:spPr>
          <p:txBody>
            <a:bodyPr wrap="none">
              <a:spAutoFit/>
            </a:bodyPr>
            <a:lstStyle/>
            <a:p>
              <a:r>
                <a:rPr lang="en-US" sz="1400" i="1"/>
                <a:t>h</a:t>
              </a:r>
            </a:p>
          </p:txBody>
        </p:sp>
      </p:grpSp>
      <p:sp>
        <p:nvSpPr>
          <p:cNvPr id="8204" name="AutoShape 40"/>
          <p:cNvSpPr>
            <a:spLocks noChangeArrowheads="1"/>
          </p:cNvSpPr>
          <p:nvPr/>
        </p:nvSpPr>
        <p:spPr bwMode="auto">
          <a:xfrm>
            <a:off x="5951538" y="4108450"/>
            <a:ext cx="347662" cy="538163"/>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aphicFrame>
        <p:nvGraphicFramePr>
          <p:cNvPr id="8194" name="Object 41"/>
          <p:cNvGraphicFramePr>
            <a:graphicFrameLocks noGrp="1" noChangeAspect="1"/>
          </p:cNvGraphicFramePr>
          <p:nvPr>
            <p:ph idx="1"/>
          </p:nvPr>
        </p:nvGraphicFramePr>
        <p:xfrm>
          <a:off x="1016000" y="2940050"/>
          <a:ext cx="1246188" cy="307975"/>
        </p:xfrm>
        <a:graphic>
          <a:graphicData uri="http://schemas.openxmlformats.org/presentationml/2006/ole">
            <mc:AlternateContent xmlns:mc="http://schemas.openxmlformats.org/markup-compatibility/2006">
              <mc:Choice xmlns:v="urn:schemas-microsoft-com:vml" Requires="v">
                <p:oleObj name="Equation" r:id="rId2" imgW="927000" imgH="228600" progId="Equation.3">
                  <p:embed/>
                </p:oleObj>
              </mc:Choice>
              <mc:Fallback>
                <p:oleObj name="Equation" r:id="rId2" imgW="927000" imgH="228600" progId="Equation.3">
                  <p:embed/>
                  <p:pic>
                    <p:nvPicPr>
                      <p:cNvPr id="8194" name="Object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0" y="2940050"/>
                        <a:ext cx="124618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5" name="Text Box 42"/>
          <p:cNvSpPr txBox="1">
            <a:spLocks noChangeArrowheads="1"/>
          </p:cNvSpPr>
          <p:nvPr/>
        </p:nvSpPr>
        <p:spPr bwMode="auto">
          <a:xfrm>
            <a:off x="517525" y="2505075"/>
            <a:ext cx="1276350" cy="366713"/>
          </a:xfrm>
          <a:prstGeom prst="rect">
            <a:avLst/>
          </a:prstGeom>
          <a:noFill/>
          <a:ln w="9525">
            <a:noFill/>
            <a:miter lim="800000"/>
            <a:headEnd/>
            <a:tailEnd/>
          </a:ln>
        </p:spPr>
        <p:txBody>
          <a:bodyPr wrap="none">
            <a:spAutoFit/>
          </a:bodyPr>
          <a:lstStyle/>
          <a:p>
            <a:r>
              <a:rPr lang="en-US"/>
              <a:t>For a cube</a:t>
            </a:r>
          </a:p>
        </p:txBody>
      </p:sp>
      <p:sp>
        <p:nvSpPr>
          <p:cNvPr id="8206" name="Text Box 43"/>
          <p:cNvSpPr txBox="1">
            <a:spLocks noChangeArrowheads="1"/>
          </p:cNvSpPr>
          <p:nvPr/>
        </p:nvSpPr>
        <p:spPr bwMode="auto">
          <a:xfrm>
            <a:off x="511175" y="3224213"/>
            <a:ext cx="2432050" cy="915987"/>
          </a:xfrm>
          <a:prstGeom prst="rect">
            <a:avLst/>
          </a:prstGeom>
          <a:noFill/>
          <a:ln w="9525">
            <a:noFill/>
            <a:miter lim="800000"/>
            <a:headEnd/>
            <a:tailEnd/>
          </a:ln>
        </p:spPr>
        <p:txBody>
          <a:bodyPr>
            <a:spAutoFit/>
          </a:bodyPr>
          <a:lstStyle/>
          <a:p>
            <a:r>
              <a:rPr lang="en-US"/>
              <a:t>We know the force for a cube shaped parcel  of water</a:t>
            </a:r>
          </a:p>
        </p:txBody>
      </p:sp>
      <p:graphicFrame>
        <p:nvGraphicFramePr>
          <p:cNvPr id="8195" name="Object 44"/>
          <p:cNvGraphicFramePr>
            <a:graphicFrameLocks noChangeAspect="1"/>
          </p:cNvGraphicFramePr>
          <p:nvPr/>
        </p:nvGraphicFramePr>
        <p:xfrm>
          <a:off x="1187450" y="4178300"/>
          <a:ext cx="798513" cy="312738"/>
        </p:xfrm>
        <a:graphic>
          <a:graphicData uri="http://schemas.openxmlformats.org/presentationml/2006/ole">
            <mc:AlternateContent xmlns:mc="http://schemas.openxmlformats.org/markup-compatibility/2006">
              <mc:Choice xmlns:v="urn:schemas-microsoft-com:vml" Requires="v">
                <p:oleObj name="Equation" r:id="rId4" imgW="520560" imgH="203040" progId="Equation.3">
                  <p:embed/>
                </p:oleObj>
              </mc:Choice>
              <mc:Fallback>
                <p:oleObj name="Equation" r:id="rId4" imgW="520560" imgH="203040" progId="Equation.3">
                  <p:embed/>
                  <p:pic>
                    <p:nvPicPr>
                      <p:cNvPr id="8195"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178300"/>
                        <a:ext cx="798513"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7" name="Text Box 45"/>
          <p:cNvSpPr txBox="1">
            <a:spLocks noChangeArrowheads="1"/>
          </p:cNvSpPr>
          <p:nvPr/>
        </p:nvSpPr>
        <p:spPr bwMode="auto">
          <a:xfrm>
            <a:off x="560388" y="4483100"/>
            <a:ext cx="3184525" cy="641350"/>
          </a:xfrm>
          <a:prstGeom prst="rect">
            <a:avLst/>
          </a:prstGeom>
          <a:noFill/>
          <a:ln w="9525">
            <a:noFill/>
            <a:miter lim="800000"/>
            <a:headEnd/>
            <a:tailEnd/>
          </a:ln>
        </p:spPr>
        <p:txBody>
          <a:bodyPr>
            <a:spAutoFit/>
          </a:bodyPr>
          <a:lstStyle/>
          <a:p>
            <a:r>
              <a:rPr lang="en-US"/>
              <a:t>Where M is the mass of the parcel of water</a:t>
            </a:r>
          </a:p>
        </p:txBody>
      </p:sp>
      <p:sp>
        <p:nvSpPr>
          <p:cNvPr id="8208" name="Text Box 46"/>
          <p:cNvSpPr txBox="1">
            <a:spLocks noChangeArrowheads="1"/>
          </p:cNvSpPr>
          <p:nvPr/>
        </p:nvSpPr>
        <p:spPr bwMode="auto">
          <a:xfrm>
            <a:off x="511175" y="5208588"/>
            <a:ext cx="7596188" cy="915987"/>
          </a:xfrm>
          <a:prstGeom prst="rect">
            <a:avLst/>
          </a:prstGeom>
          <a:noFill/>
          <a:ln w="9525">
            <a:noFill/>
            <a:miter lim="800000"/>
            <a:headEnd/>
            <a:tailEnd/>
          </a:ln>
        </p:spPr>
        <p:txBody>
          <a:bodyPr>
            <a:spAutoFit/>
          </a:bodyPr>
          <a:lstStyle/>
          <a:p>
            <a:endParaRPr lang="en-US"/>
          </a:p>
          <a:p>
            <a:r>
              <a:rPr lang="en-US"/>
              <a:t>By replacing the cube of water with a cube of another material, we have not changed the forces acting on the cube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Date Placeholder 3"/>
          <p:cNvSpPr>
            <a:spLocks noGrp="1"/>
          </p:cNvSpPr>
          <p:nvPr>
            <p:ph type="dt" sz="quarter" idx="10"/>
          </p:nvPr>
        </p:nvSpPr>
        <p:spPr>
          <a:noFill/>
        </p:spPr>
        <p:txBody>
          <a:bodyPr/>
          <a:lstStyle/>
          <a:p>
            <a:r>
              <a:rPr lang="en-US"/>
              <a:t>Winter 2007</a:t>
            </a:r>
          </a:p>
        </p:txBody>
      </p:sp>
      <p:sp>
        <p:nvSpPr>
          <p:cNvPr id="9222" name="Footer Placeholder 4"/>
          <p:cNvSpPr>
            <a:spLocks noGrp="1"/>
          </p:cNvSpPr>
          <p:nvPr>
            <p:ph type="ftr" sz="quarter" idx="11"/>
          </p:nvPr>
        </p:nvSpPr>
        <p:spPr>
          <a:noFill/>
        </p:spPr>
        <p:txBody>
          <a:bodyPr/>
          <a:lstStyle/>
          <a:p>
            <a:r>
              <a:rPr lang="en-US"/>
              <a:t>R. Todd Lines</a:t>
            </a:r>
          </a:p>
        </p:txBody>
      </p:sp>
      <p:sp>
        <p:nvSpPr>
          <p:cNvPr id="9223" name="Slide Number Placeholder 5"/>
          <p:cNvSpPr>
            <a:spLocks noGrp="1"/>
          </p:cNvSpPr>
          <p:nvPr>
            <p:ph type="sldNum" sz="quarter" idx="12"/>
          </p:nvPr>
        </p:nvSpPr>
        <p:spPr>
          <a:noFill/>
        </p:spPr>
        <p:txBody>
          <a:bodyPr/>
          <a:lstStyle/>
          <a:p>
            <a:fld id="{28A214C6-D933-4EF9-81EA-C6A7E6B29911}" type="slidenum">
              <a:rPr lang="en-US" smtClean="0"/>
              <a:pPr/>
              <a:t>41</a:t>
            </a:fld>
            <a:endParaRPr lang="en-US"/>
          </a:p>
        </p:txBody>
      </p:sp>
      <p:sp>
        <p:nvSpPr>
          <p:cNvPr id="9224" name="Rectangle 2"/>
          <p:cNvSpPr>
            <a:spLocks noGrp="1" noChangeArrowheads="1"/>
          </p:cNvSpPr>
          <p:nvPr>
            <p:ph type="title"/>
          </p:nvPr>
        </p:nvSpPr>
        <p:spPr/>
        <p:txBody>
          <a:bodyPr/>
          <a:lstStyle/>
          <a:p>
            <a:pPr eaLnBrk="1" hangingPunct="1"/>
            <a:r>
              <a:rPr lang="en-US" sz="3200"/>
              <a:t>Case1: Totally Submerged Object</a:t>
            </a:r>
          </a:p>
        </p:txBody>
      </p:sp>
      <p:graphicFrame>
        <p:nvGraphicFramePr>
          <p:cNvPr id="9218" name="Object 3"/>
          <p:cNvGraphicFramePr>
            <a:graphicFrameLocks noGrp="1" noChangeAspect="1"/>
          </p:cNvGraphicFramePr>
          <p:nvPr>
            <p:ph idx="1"/>
          </p:nvPr>
        </p:nvGraphicFramePr>
        <p:xfrm>
          <a:off x="588963" y="1898650"/>
          <a:ext cx="2444750" cy="360363"/>
        </p:xfrm>
        <a:graphic>
          <a:graphicData uri="http://schemas.openxmlformats.org/presentationml/2006/ole">
            <mc:AlternateContent xmlns:mc="http://schemas.openxmlformats.org/markup-compatibility/2006">
              <mc:Choice xmlns:v="urn:schemas-microsoft-com:vml" Requires="v">
                <p:oleObj name="Equation" r:id="rId2" imgW="1638000" imgH="241200" progId="Equation.3">
                  <p:embed/>
                </p:oleObj>
              </mc:Choice>
              <mc:Fallback>
                <p:oleObj name="Equation" r:id="rId2" imgW="1638000" imgH="241200" progId="Equation.3">
                  <p:embed/>
                  <p:pic>
                    <p:nvPicPr>
                      <p:cNvPr id="921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963" y="1898650"/>
                        <a:ext cx="244475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4"/>
          <p:cNvGrpSpPr>
            <a:grpSpLocks/>
          </p:cNvGrpSpPr>
          <p:nvPr/>
        </p:nvGrpSpPr>
        <p:grpSpPr bwMode="auto">
          <a:xfrm>
            <a:off x="6089650" y="2487613"/>
            <a:ext cx="1900238" cy="2259012"/>
            <a:chOff x="3596" y="1780"/>
            <a:chExt cx="1416" cy="1624"/>
          </a:xfrm>
        </p:grpSpPr>
        <p:sp>
          <p:nvSpPr>
            <p:cNvPr id="9245" name="Freeform 5"/>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9246" name="Freeform 6"/>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9226" name="AutoShape 7"/>
          <p:cNvSpPr>
            <a:spLocks noChangeArrowheads="1"/>
          </p:cNvSpPr>
          <p:nvPr/>
        </p:nvSpPr>
        <p:spPr bwMode="auto">
          <a:xfrm>
            <a:off x="6310313" y="2903538"/>
            <a:ext cx="1458912" cy="1792287"/>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9227" name="Rectangle 8"/>
          <p:cNvSpPr>
            <a:spLocks noChangeArrowheads="1"/>
          </p:cNvSpPr>
          <p:nvPr/>
        </p:nvSpPr>
        <p:spPr bwMode="auto">
          <a:xfrm>
            <a:off x="6310313" y="2876550"/>
            <a:ext cx="1443037" cy="344488"/>
          </a:xfrm>
          <a:prstGeom prst="rect">
            <a:avLst/>
          </a:prstGeom>
          <a:solidFill>
            <a:schemeClr val="accent1"/>
          </a:solidFill>
          <a:ln w="9525">
            <a:noFill/>
            <a:miter lim="800000"/>
            <a:headEnd/>
            <a:tailEnd/>
          </a:ln>
        </p:spPr>
        <p:txBody>
          <a:bodyPr wrap="none" anchor="ctr"/>
          <a:lstStyle/>
          <a:p>
            <a:endParaRPr lang="en-US"/>
          </a:p>
        </p:txBody>
      </p:sp>
      <p:sp>
        <p:nvSpPr>
          <p:cNvPr id="9228" name="Freeform 9"/>
          <p:cNvSpPr>
            <a:spLocks/>
          </p:cNvSpPr>
          <p:nvPr/>
        </p:nvSpPr>
        <p:spPr bwMode="auto">
          <a:xfrm>
            <a:off x="6202363" y="2481263"/>
            <a:ext cx="838200" cy="2209800"/>
          </a:xfrm>
          <a:custGeom>
            <a:avLst/>
            <a:gdLst>
              <a:gd name="T0" fmla="*/ 0 w 624"/>
              <a:gd name="T1" fmla="*/ 0 h 1588"/>
              <a:gd name="T2" fmla="*/ 59104 w 624"/>
              <a:gd name="T3" fmla="*/ 22265 h 1588"/>
              <a:gd name="T4" fmla="*/ 85969 w 624"/>
              <a:gd name="T5" fmla="*/ 77927 h 1588"/>
              <a:gd name="T6" fmla="*/ 107462 w 624"/>
              <a:gd name="T7" fmla="*/ 200385 h 1588"/>
              <a:gd name="T8" fmla="*/ 118208 w 624"/>
              <a:gd name="T9" fmla="*/ 584456 h 1588"/>
              <a:gd name="T10" fmla="*/ 112835 w 624"/>
              <a:gd name="T11" fmla="*/ 1230141 h 1588"/>
              <a:gd name="T12" fmla="*/ 112835 w 624"/>
              <a:gd name="T13" fmla="*/ 1753368 h 1588"/>
              <a:gd name="T14" fmla="*/ 123581 w 624"/>
              <a:gd name="T15" fmla="*/ 2009415 h 1588"/>
              <a:gd name="T16" fmla="*/ 166565 w 624"/>
              <a:gd name="T17" fmla="*/ 2098475 h 1588"/>
              <a:gd name="T18" fmla="*/ 231042 w 624"/>
              <a:gd name="T19" fmla="*/ 2159704 h 1588"/>
              <a:gd name="T20" fmla="*/ 327758 w 624"/>
              <a:gd name="T21" fmla="*/ 2209800 h 1588"/>
              <a:gd name="T22" fmla="*/ 510442 w 624"/>
              <a:gd name="T23" fmla="*/ 2209800 h 1588"/>
              <a:gd name="T24" fmla="*/ 784469 w 624"/>
              <a:gd name="T25" fmla="*/ 2209800 h 1588"/>
              <a:gd name="T26" fmla="*/ 838200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29" name="Freeform 10"/>
          <p:cNvSpPr>
            <a:spLocks/>
          </p:cNvSpPr>
          <p:nvPr/>
        </p:nvSpPr>
        <p:spPr bwMode="auto">
          <a:xfrm flipH="1">
            <a:off x="7040563" y="2481263"/>
            <a:ext cx="836612" cy="2209800"/>
          </a:xfrm>
          <a:custGeom>
            <a:avLst/>
            <a:gdLst>
              <a:gd name="T0" fmla="*/ 0 w 624"/>
              <a:gd name="T1" fmla="*/ 0 h 1588"/>
              <a:gd name="T2" fmla="*/ 58992 w 624"/>
              <a:gd name="T3" fmla="*/ 22265 h 1588"/>
              <a:gd name="T4" fmla="*/ 85806 w 624"/>
              <a:gd name="T5" fmla="*/ 77927 h 1588"/>
              <a:gd name="T6" fmla="*/ 107258 w 624"/>
              <a:gd name="T7" fmla="*/ 200385 h 1588"/>
              <a:gd name="T8" fmla="*/ 117984 w 624"/>
              <a:gd name="T9" fmla="*/ 584456 h 1588"/>
              <a:gd name="T10" fmla="*/ 112621 w 624"/>
              <a:gd name="T11" fmla="*/ 1230141 h 1588"/>
              <a:gd name="T12" fmla="*/ 112621 w 624"/>
              <a:gd name="T13" fmla="*/ 1753368 h 1588"/>
              <a:gd name="T14" fmla="*/ 123347 w 624"/>
              <a:gd name="T15" fmla="*/ 2009415 h 1588"/>
              <a:gd name="T16" fmla="*/ 166250 w 624"/>
              <a:gd name="T17" fmla="*/ 2098475 h 1588"/>
              <a:gd name="T18" fmla="*/ 230605 w 624"/>
              <a:gd name="T19" fmla="*/ 2159704 h 1588"/>
              <a:gd name="T20" fmla="*/ 327137 w 624"/>
              <a:gd name="T21" fmla="*/ 2209800 h 1588"/>
              <a:gd name="T22" fmla="*/ 509475 w 624"/>
              <a:gd name="T23" fmla="*/ 2209800 h 1588"/>
              <a:gd name="T24" fmla="*/ 782983 w 624"/>
              <a:gd name="T25" fmla="*/ 2209800 h 1588"/>
              <a:gd name="T26" fmla="*/ 836612 w 624"/>
              <a:gd name="T27" fmla="*/ 2209800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9230" name="Rectangle 11"/>
          <p:cNvSpPr>
            <a:spLocks noChangeArrowheads="1"/>
          </p:cNvSpPr>
          <p:nvPr/>
        </p:nvSpPr>
        <p:spPr bwMode="auto">
          <a:xfrm>
            <a:off x="6819900" y="3176588"/>
            <a:ext cx="509588" cy="890587"/>
          </a:xfrm>
          <a:prstGeom prst="rect">
            <a:avLst/>
          </a:prstGeom>
          <a:solidFill>
            <a:srgbClr val="800000"/>
          </a:solidFill>
          <a:ln w="9525">
            <a:solidFill>
              <a:schemeClr val="tx1"/>
            </a:solidFill>
            <a:miter lim="800000"/>
            <a:headEnd/>
            <a:tailEnd/>
          </a:ln>
        </p:spPr>
        <p:txBody>
          <a:bodyPr wrap="none" anchor="ctr"/>
          <a:lstStyle/>
          <a:p>
            <a:endParaRPr lang="en-US"/>
          </a:p>
        </p:txBody>
      </p:sp>
      <p:sp>
        <p:nvSpPr>
          <p:cNvPr id="9231" name="Line 12"/>
          <p:cNvSpPr>
            <a:spLocks noChangeShapeType="1"/>
          </p:cNvSpPr>
          <p:nvPr/>
        </p:nvSpPr>
        <p:spPr bwMode="auto">
          <a:xfrm flipH="1">
            <a:off x="6578600" y="4067175"/>
            <a:ext cx="182563" cy="0"/>
          </a:xfrm>
          <a:prstGeom prst="line">
            <a:avLst/>
          </a:prstGeom>
          <a:noFill/>
          <a:ln w="9525">
            <a:solidFill>
              <a:schemeClr val="tx1"/>
            </a:solidFill>
            <a:round/>
            <a:headEnd/>
            <a:tailEnd/>
          </a:ln>
        </p:spPr>
        <p:txBody>
          <a:bodyPr/>
          <a:lstStyle/>
          <a:p>
            <a:endParaRPr lang="en-US"/>
          </a:p>
        </p:txBody>
      </p:sp>
      <p:sp>
        <p:nvSpPr>
          <p:cNvPr id="9232" name="Line 13"/>
          <p:cNvSpPr>
            <a:spLocks noChangeShapeType="1"/>
          </p:cNvSpPr>
          <p:nvPr/>
        </p:nvSpPr>
        <p:spPr bwMode="auto">
          <a:xfrm>
            <a:off x="6561138" y="3227388"/>
            <a:ext cx="0" cy="817562"/>
          </a:xfrm>
          <a:prstGeom prst="line">
            <a:avLst/>
          </a:prstGeom>
          <a:noFill/>
          <a:ln w="9525">
            <a:solidFill>
              <a:schemeClr val="tx1"/>
            </a:solidFill>
            <a:round/>
            <a:headEnd type="triangle" w="med" len="med"/>
            <a:tailEnd type="triangle" w="med" len="med"/>
          </a:ln>
        </p:spPr>
        <p:txBody>
          <a:bodyPr/>
          <a:lstStyle/>
          <a:p>
            <a:endParaRPr lang="en-US"/>
          </a:p>
        </p:txBody>
      </p:sp>
      <p:sp>
        <p:nvSpPr>
          <p:cNvPr id="9233" name="Line 14"/>
          <p:cNvSpPr>
            <a:spLocks noChangeShapeType="1"/>
          </p:cNvSpPr>
          <p:nvPr/>
        </p:nvSpPr>
        <p:spPr bwMode="auto">
          <a:xfrm>
            <a:off x="7083425" y="4067175"/>
            <a:ext cx="0" cy="2794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4" name="Line 15"/>
          <p:cNvSpPr>
            <a:spLocks noChangeShapeType="1"/>
          </p:cNvSpPr>
          <p:nvPr/>
        </p:nvSpPr>
        <p:spPr bwMode="auto">
          <a:xfrm flipV="1">
            <a:off x="7067550" y="2878138"/>
            <a:ext cx="6350" cy="292100"/>
          </a:xfrm>
          <a:prstGeom prst="line">
            <a:avLst/>
          </a:prstGeom>
          <a:noFill/>
          <a:ln w="28575">
            <a:solidFill>
              <a:schemeClr val="tx2">
                <a:lumMod val="50000"/>
              </a:schemeClr>
            </a:solidFill>
            <a:round/>
            <a:headEnd/>
            <a:tailEnd type="triangle" w="med" len="med"/>
          </a:ln>
        </p:spPr>
        <p:txBody>
          <a:bodyPr/>
          <a:lstStyle/>
          <a:p>
            <a:endParaRPr lang="en-US"/>
          </a:p>
        </p:txBody>
      </p:sp>
      <p:sp>
        <p:nvSpPr>
          <p:cNvPr id="9235" name="Text Box 16"/>
          <p:cNvSpPr txBox="1">
            <a:spLocks noChangeArrowheads="1"/>
          </p:cNvSpPr>
          <p:nvPr/>
        </p:nvSpPr>
        <p:spPr bwMode="auto">
          <a:xfrm>
            <a:off x="6831013" y="4302125"/>
            <a:ext cx="417512" cy="366713"/>
          </a:xfrm>
          <a:prstGeom prst="rect">
            <a:avLst/>
          </a:prstGeom>
          <a:noFill/>
          <a:ln w="9525">
            <a:noFill/>
            <a:miter lim="800000"/>
            <a:headEnd/>
            <a:tailEnd/>
          </a:ln>
        </p:spPr>
        <p:txBody>
          <a:bodyPr wrap="none">
            <a:spAutoFit/>
          </a:bodyPr>
          <a:lstStyle/>
          <a:p>
            <a:r>
              <a:rPr lang="en-US" b="1"/>
              <a:t>F</a:t>
            </a:r>
            <a:r>
              <a:rPr lang="en-US" b="1" i="1" baseline="-25000"/>
              <a:t>g</a:t>
            </a:r>
            <a:endParaRPr lang="en-US" b="1" i="1" baseline="-25000">
              <a:cs typeface="Arial" charset="0"/>
            </a:endParaRPr>
          </a:p>
        </p:txBody>
      </p:sp>
      <p:sp>
        <p:nvSpPr>
          <p:cNvPr id="9236" name="Text Box 17"/>
          <p:cNvSpPr txBox="1">
            <a:spLocks noChangeArrowheads="1"/>
          </p:cNvSpPr>
          <p:nvPr/>
        </p:nvSpPr>
        <p:spPr bwMode="auto">
          <a:xfrm>
            <a:off x="6429375" y="3471863"/>
            <a:ext cx="282575" cy="304800"/>
          </a:xfrm>
          <a:prstGeom prst="rect">
            <a:avLst/>
          </a:prstGeom>
          <a:solidFill>
            <a:schemeClr val="accent1"/>
          </a:solidFill>
          <a:ln w="9525">
            <a:noFill/>
            <a:miter lim="800000"/>
            <a:headEnd/>
            <a:tailEnd/>
          </a:ln>
        </p:spPr>
        <p:txBody>
          <a:bodyPr wrap="none">
            <a:spAutoFit/>
          </a:bodyPr>
          <a:lstStyle/>
          <a:p>
            <a:r>
              <a:rPr lang="en-US" sz="1400" i="1"/>
              <a:t>h</a:t>
            </a:r>
          </a:p>
        </p:txBody>
      </p:sp>
      <p:sp>
        <p:nvSpPr>
          <p:cNvPr id="9237" name="Rectangle 18"/>
          <p:cNvSpPr>
            <a:spLocks noChangeArrowheads="1"/>
          </p:cNvSpPr>
          <p:nvPr/>
        </p:nvSpPr>
        <p:spPr bwMode="auto">
          <a:xfrm>
            <a:off x="7116763" y="2835275"/>
            <a:ext cx="349250" cy="366713"/>
          </a:xfrm>
          <a:prstGeom prst="rect">
            <a:avLst/>
          </a:prstGeom>
          <a:noFill/>
          <a:ln w="9525">
            <a:noFill/>
            <a:miter lim="800000"/>
            <a:headEnd/>
            <a:tailEnd/>
          </a:ln>
        </p:spPr>
        <p:txBody>
          <a:bodyPr wrap="none">
            <a:spAutoFit/>
          </a:bodyPr>
          <a:lstStyle/>
          <a:p>
            <a:r>
              <a:rPr lang="en-US" b="1"/>
              <a:t>B</a:t>
            </a:r>
            <a:endParaRPr lang="en-US" b="1" i="1"/>
          </a:p>
        </p:txBody>
      </p:sp>
      <p:sp>
        <p:nvSpPr>
          <p:cNvPr id="9238" name="Text Box 19"/>
          <p:cNvSpPr txBox="1">
            <a:spLocks noChangeArrowheads="1"/>
          </p:cNvSpPr>
          <p:nvPr/>
        </p:nvSpPr>
        <p:spPr bwMode="auto">
          <a:xfrm>
            <a:off x="7991475" y="3124200"/>
            <a:ext cx="741363" cy="366713"/>
          </a:xfrm>
          <a:prstGeom prst="rect">
            <a:avLst/>
          </a:prstGeom>
          <a:noFill/>
          <a:ln w="9525">
            <a:noFill/>
            <a:miter lim="800000"/>
            <a:headEnd/>
            <a:tailEnd/>
          </a:ln>
        </p:spPr>
        <p:txBody>
          <a:bodyPr wrap="none">
            <a:spAutoFit/>
          </a:bodyPr>
          <a:lstStyle/>
          <a:p>
            <a:r>
              <a:rPr lang="en-US" i="1"/>
              <a:t>V</a:t>
            </a:r>
            <a:r>
              <a:rPr lang="en-US" i="1" baseline="-25000"/>
              <a:t>object</a:t>
            </a:r>
          </a:p>
        </p:txBody>
      </p:sp>
      <p:sp>
        <p:nvSpPr>
          <p:cNvPr id="9239" name="Freeform 20"/>
          <p:cNvSpPr>
            <a:spLocks/>
          </p:cNvSpPr>
          <p:nvPr/>
        </p:nvSpPr>
        <p:spPr bwMode="auto">
          <a:xfrm rot="1156648">
            <a:off x="7421563" y="3219450"/>
            <a:ext cx="433387" cy="654050"/>
          </a:xfrm>
          <a:custGeom>
            <a:avLst/>
            <a:gdLst>
              <a:gd name="T0" fmla="*/ 433387 w 292"/>
              <a:gd name="T1" fmla="*/ 0 h 430"/>
              <a:gd name="T2" fmla="*/ 161778 w 292"/>
              <a:gd name="T3" fmla="*/ 333109 h 430"/>
              <a:gd name="T4" fmla="*/ 311682 w 292"/>
              <a:gd name="T5" fmla="*/ 362009 h 430"/>
              <a:gd name="T6" fmla="*/ 0 w 292"/>
              <a:gd name="T7" fmla="*/ 654050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9240" name="AutoShape 21"/>
          <p:cNvSpPr>
            <a:spLocks noChangeArrowheads="1"/>
          </p:cNvSpPr>
          <p:nvPr/>
        </p:nvSpPr>
        <p:spPr bwMode="auto">
          <a:xfrm>
            <a:off x="522288" y="506730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motion of an object submerged in a fluid is determined only by the densities of the object and the fluid</a:t>
            </a:r>
          </a:p>
        </p:txBody>
      </p:sp>
      <p:graphicFrame>
        <p:nvGraphicFramePr>
          <p:cNvPr id="9219" name="Object 22"/>
          <p:cNvGraphicFramePr>
            <a:graphicFrameLocks noChangeAspect="1"/>
          </p:cNvGraphicFramePr>
          <p:nvPr/>
        </p:nvGraphicFramePr>
        <p:xfrm>
          <a:off x="560388" y="3740150"/>
          <a:ext cx="3179762" cy="522288"/>
        </p:xfrm>
        <a:graphic>
          <a:graphicData uri="http://schemas.openxmlformats.org/presentationml/2006/ole">
            <mc:AlternateContent xmlns:mc="http://schemas.openxmlformats.org/markup-compatibility/2006">
              <mc:Choice xmlns:v="urn:schemas-microsoft-com:vml" Requires="v">
                <p:oleObj name="Equation" r:id="rId4" imgW="1447800" imgH="241300" progId="Equation.3">
                  <p:embed/>
                </p:oleObj>
              </mc:Choice>
              <mc:Fallback>
                <p:oleObj name="Equation" r:id="rId4" imgW="1447800" imgH="241300" progId="Equation.3">
                  <p:embed/>
                  <p:pic>
                    <p:nvPicPr>
                      <p:cNvPr id="9219"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8" y="3740150"/>
                        <a:ext cx="3179762" cy="522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23"/>
          <p:cNvGraphicFramePr>
            <a:graphicFrameLocks noChangeAspect="1"/>
          </p:cNvGraphicFramePr>
          <p:nvPr/>
        </p:nvGraphicFramePr>
        <p:xfrm>
          <a:off x="5159375" y="1493838"/>
          <a:ext cx="3506788" cy="698500"/>
        </p:xfrm>
        <a:graphic>
          <a:graphicData uri="http://schemas.openxmlformats.org/presentationml/2006/ole">
            <mc:AlternateContent xmlns:mc="http://schemas.openxmlformats.org/markup-compatibility/2006">
              <mc:Choice xmlns:v="urn:schemas-microsoft-com:vml" Requires="v">
                <p:oleObj name="Equation" r:id="rId6" imgW="2438280" imgH="482400" progId="Equation.3">
                  <p:embed/>
                </p:oleObj>
              </mc:Choice>
              <mc:Fallback>
                <p:oleObj name="Equation" r:id="rId6" imgW="2438280" imgH="482400" progId="Equation.3">
                  <p:embed/>
                  <p:pic>
                    <p:nvPicPr>
                      <p:cNvPr id="922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9375" y="1493838"/>
                        <a:ext cx="3506788"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1" name="Rectangle 24"/>
          <p:cNvSpPr>
            <a:spLocks noChangeArrowheads="1"/>
          </p:cNvSpPr>
          <p:nvPr/>
        </p:nvSpPr>
        <p:spPr bwMode="auto">
          <a:xfrm>
            <a:off x="269875" y="1411288"/>
            <a:ext cx="3840163" cy="581025"/>
          </a:xfrm>
          <a:prstGeom prst="rect">
            <a:avLst/>
          </a:prstGeom>
          <a:noFill/>
          <a:ln w="9525">
            <a:noFill/>
            <a:miter lim="800000"/>
            <a:headEnd/>
            <a:tailEnd/>
          </a:ln>
        </p:spPr>
        <p:txBody>
          <a:bodyPr anchor="ctr">
            <a:spAutoFit/>
          </a:bodyPr>
          <a:lstStyle/>
          <a:p>
            <a:r>
              <a:rPr lang="en-US" sz="1600">
                <a:cs typeface="Times New Roman" pitchFamily="18" charset="0"/>
              </a:rPr>
              <a:t>The magnitude of the buoyant force is</a:t>
            </a:r>
            <a:endParaRPr lang="en-US" sz="1600"/>
          </a:p>
          <a:p>
            <a:pPr eaLnBrk="0" hangingPunct="0"/>
            <a:endParaRPr lang="en-US" sz="1600"/>
          </a:p>
        </p:txBody>
      </p:sp>
      <p:sp>
        <p:nvSpPr>
          <p:cNvPr id="9242" name="Rectangle 25"/>
          <p:cNvSpPr>
            <a:spLocks noChangeArrowheads="1"/>
          </p:cNvSpPr>
          <p:nvPr/>
        </p:nvSpPr>
        <p:spPr bwMode="auto">
          <a:xfrm>
            <a:off x="430213" y="2603500"/>
            <a:ext cx="4292600" cy="1069975"/>
          </a:xfrm>
          <a:prstGeom prst="rect">
            <a:avLst/>
          </a:prstGeom>
          <a:noFill/>
          <a:ln w="9525">
            <a:noFill/>
            <a:miter lim="800000"/>
            <a:headEnd/>
            <a:tailEnd/>
          </a:ln>
        </p:spPr>
        <p:txBody>
          <a:bodyPr anchor="ctr">
            <a:spAutoFit/>
          </a:bodyPr>
          <a:lstStyle/>
          <a:p>
            <a:r>
              <a:rPr lang="en-US" sz="1600">
                <a:cs typeface="Times New Roman" pitchFamily="18" charset="0"/>
              </a:rPr>
              <a:t>Think Archimedes: The weight of the fluid displaced by the object. So we have the volume of the object as part of our equation</a:t>
            </a:r>
            <a:endParaRPr lang="en-US" sz="1600"/>
          </a:p>
          <a:p>
            <a:pPr eaLnBrk="0" hangingPunct="0"/>
            <a:r>
              <a:rPr lang="en-US" sz="1600">
                <a:cs typeface="Times New Roman" pitchFamily="18" charset="0"/>
              </a:rPr>
              <a:t>If the object has mass  </a:t>
            </a:r>
            <a:endParaRPr lang="en-US" sz="1600"/>
          </a:p>
        </p:txBody>
      </p:sp>
      <p:sp>
        <p:nvSpPr>
          <p:cNvPr id="9243" name="Rectangle 26"/>
          <p:cNvSpPr>
            <a:spLocks noChangeArrowheads="1"/>
          </p:cNvSpPr>
          <p:nvPr/>
        </p:nvSpPr>
        <p:spPr bwMode="auto">
          <a:xfrm>
            <a:off x="544513" y="4389438"/>
            <a:ext cx="1643062" cy="336550"/>
          </a:xfrm>
          <a:prstGeom prst="rect">
            <a:avLst/>
          </a:prstGeom>
          <a:noFill/>
          <a:ln w="9525">
            <a:noFill/>
            <a:miter lim="800000"/>
            <a:headEnd/>
            <a:tailEnd/>
          </a:ln>
        </p:spPr>
        <p:txBody>
          <a:bodyPr wrap="none" anchor="ctr">
            <a:spAutoFit/>
          </a:bodyPr>
          <a:lstStyle/>
          <a:p>
            <a:r>
              <a:rPr lang="en-US" sz="1600">
                <a:cs typeface="Times New Roman" pitchFamily="18" charset="0"/>
              </a:rPr>
              <a:t>The net force is </a:t>
            </a:r>
            <a:endParaRPr lang="en-US" sz="1600"/>
          </a:p>
        </p:txBody>
      </p:sp>
      <p:sp>
        <p:nvSpPr>
          <p:cNvPr id="9244" name="Line 27"/>
          <p:cNvSpPr>
            <a:spLocks noChangeShapeType="1"/>
          </p:cNvSpPr>
          <p:nvPr/>
        </p:nvSpPr>
        <p:spPr bwMode="auto">
          <a:xfrm flipH="1">
            <a:off x="6573838" y="3162300"/>
            <a:ext cx="182562" cy="0"/>
          </a:xfrm>
          <a:prstGeom prst="line">
            <a:avLst/>
          </a:prstGeom>
          <a:noFill/>
          <a:ln w="9525">
            <a:solidFill>
              <a:schemeClr val="tx1"/>
            </a:solidFill>
            <a:round/>
            <a:headEnd/>
            <a:tailEnd/>
          </a:ln>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Date Placeholder 3"/>
          <p:cNvSpPr>
            <a:spLocks noGrp="1"/>
          </p:cNvSpPr>
          <p:nvPr>
            <p:ph type="dt" sz="quarter" idx="10"/>
          </p:nvPr>
        </p:nvSpPr>
        <p:spPr>
          <a:noFill/>
        </p:spPr>
        <p:txBody>
          <a:bodyPr/>
          <a:lstStyle/>
          <a:p>
            <a:r>
              <a:rPr lang="en-US"/>
              <a:t>Winter 2007</a:t>
            </a:r>
          </a:p>
        </p:txBody>
      </p:sp>
      <p:sp>
        <p:nvSpPr>
          <p:cNvPr id="29699" name="Footer Placeholder 4"/>
          <p:cNvSpPr>
            <a:spLocks noGrp="1"/>
          </p:cNvSpPr>
          <p:nvPr>
            <p:ph type="ftr" sz="quarter" idx="11"/>
          </p:nvPr>
        </p:nvSpPr>
        <p:spPr>
          <a:noFill/>
        </p:spPr>
        <p:txBody>
          <a:bodyPr/>
          <a:lstStyle/>
          <a:p>
            <a:r>
              <a:rPr lang="en-US"/>
              <a:t>R. Todd Lines</a:t>
            </a:r>
          </a:p>
        </p:txBody>
      </p:sp>
      <p:sp>
        <p:nvSpPr>
          <p:cNvPr id="29700" name="Slide Number Placeholder 5"/>
          <p:cNvSpPr>
            <a:spLocks noGrp="1"/>
          </p:cNvSpPr>
          <p:nvPr>
            <p:ph type="sldNum" sz="quarter" idx="12"/>
          </p:nvPr>
        </p:nvSpPr>
        <p:spPr>
          <a:noFill/>
        </p:spPr>
        <p:txBody>
          <a:bodyPr/>
          <a:lstStyle/>
          <a:p>
            <a:fld id="{A62CECFB-F493-4C14-B032-80978C13E503}" type="slidenum">
              <a:rPr lang="en-US" smtClean="0"/>
              <a:pPr/>
              <a:t>42</a:t>
            </a:fld>
            <a:endParaRPr lang="en-US"/>
          </a:p>
        </p:txBody>
      </p:sp>
      <p:sp>
        <p:nvSpPr>
          <p:cNvPr id="29701" name="Rectangle 2"/>
          <p:cNvSpPr>
            <a:spLocks noGrp="1" noChangeArrowheads="1"/>
          </p:cNvSpPr>
          <p:nvPr>
            <p:ph type="title"/>
          </p:nvPr>
        </p:nvSpPr>
        <p:spPr/>
        <p:txBody>
          <a:bodyPr/>
          <a:lstStyle/>
          <a:p>
            <a:pPr eaLnBrk="1" hangingPunct="1"/>
            <a:r>
              <a:rPr lang="en-US"/>
              <a:t>Buoyant Forces</a:t>
            </a:r>
          </a:p>
        </p:txBody>
      </p:sp>
      <p:sp>
        <p:nvSpPr>
          <p:cNvPr id="29702" name="Rectangle 3"/>
          <p:cNvSpPr>
            <a:spLocks noGrp="1" noChangeArrowheads="1"/>
          </p:cNvSpPr>
          <p:nvPr>
            <p:ph type="body" idx="1"/>
          </p:nvPr>
        </p:nvSpPr>
        <p:spPr>
          <a:xfrm>
            <a:off x="557213" y="1541463"/>
            <a:ext cx="3759200" cy="4525962"/>
          </a:xfrm>
        </p:spPr>
        <p:txBody>
          <a:bodyPr/>
          <a:lstStyle/>
          <a:p>
            <a:pPr eaLnBrk="1" hangingPunct="1">
              <a:lnSpc>
                <a:spcPct val="90000"/>
              </a:lnSpc>
            </a:pPr>
            <a:r>
              <a:rPr lang="en-US" sz="2800"/>
              <a:t>Now take a beach ball sized parcel of water</a:t>
            </a:r>
          </a:p>
          <a:p>
            <a:pPr eaLnBrk="1" hangingPunct="1">
              <a:lnSpc>
                <a:spcPct val="90000"/>
              </a:lnSpc>
            </a:pPr>
            <a:r>
              <a:rPr lang="en-US" sz="2800"/>
              <a:t>There is a force due to gravity and a force due to the pressure</a:t>
            </a:r>
          </a:p>
          <a:p>
            <a:pPr eaLnBrk="1" hangingPunct="1">
              <a:lnSpc>
                <a:spcPct val="90000"/>
              </a:lnSpc>
            </a:pPr>
            <a:r>
              <a:rPr lang="en-US" sz="2800"/>
              <a:t>What happens if we replace the parcel with the beach ball?</a:t>
            </a:r>
          </a:p>
        </p:txBody>
      </p:sp>
      <p:grpSp>
        <p:nvGrpSpPr>
          <p:cNvPr id="24" name="Group 4">
            <a:extLst>
              <a:ext uri="{FF2B5EF4-FFF2-40B4-BE49-F238E27FC236}">
                <a16:creationId xmlns:a16="http://schemas.microsoft.com/office/drawing/2014/main" id="{41A30C95-20D6-4712-9496-FDB68976A711}"/>
              </a:ext>
            </a:extLst>
          </p:cNvPr>
          <p:cNvGrpSpPr>
            <a:grpSpLocks/>
          </p:cNvGrpSpPr>
          <p:nvPr/>
        </p:nvGrpSpPr>
        <p:grpSpPr bwMode="auto">
          <a:xfrm>
            <a:off x="4324350" y="2506663"/>
            <a:ext cx="4195763" cy="3154362"/>
            <a:chOff x="2724" y="1579"/>
            <a:chExt cx="2643" cy="1987"/>
          </a:xfrm>
        </p:grpSpPr>
        <p:grpSp>
          <p:nvGrpSpPr>
            <p:cNvPr id="25" name="Group 5">
              <a:extLst>
                <a:ext uri="{FF2B5EF4-FFF2-40B4-BE49-F238E27FC236}">
                  <a16:creationId xmlns:a16="http://schemas.microsoft.com/office/drawing/2014/main" id="{AEC88641-7251-41E4-8A47-3158E915A1AE}"/>
                </a:ext>
              </a:extLst>
            </p:cNvPr>
            <p:cNvGrpSpPr>
              <a:grpSpLocks/>
            </p:cNvGrpSpPr>
            <p:nvPr/>
          </p:nvGrpSpPr>
          <p:grpSpPr bwMode="auto">
            <a:xfrm>
              <a:off x="3941" y="1579"/>
              <a:ext cx="1426" cy="1987"/>
              <a:chOff x="3593" y="1643"/>
              <a:chExt cx="1426" cy="1987"/>
            </a:xfrm>
          </p:grpSpPr>
          <p:sp>
            <p:nvSpPr>
              <p:cNvPr id="32" name="Freeform 6">
                <a:extLst>
                  <a:ext uri="{FF2B5EF4-FFF2-40B4-BE49-F238E27FC236}">
                    <a16:creationId xmlns:a16="http://schemas.microsoft.com/office/drawing/2014/main" id="{93A522B1-8815-413D-947C-BE295C904E9C}"/>
                  </a:ext>
                </a:extLst>
              </p:cNvPr>
              <p:cNvSpPr>
                <a:spLocks/>
              </p:cNvSpPr>
              <p:nvPr/>
            </p:nvSpPr>
            <p:spPr bwMode="auto">
              <a:xfrm>
                <a:off x="3707" y="1643"/>
                <a:ext cx="1297" cy="91"/>
              </a:xfrm>
              <a:custGeom>
                <a:avLst/>
                <a:gdLst>
                  <a:gd name="T0" fmla="*/ 0 w 1426"/>
                  <a:gd name="T1" fmla="*/ 83 h 100"/>
                  <a:gd name="T2" fmla="*/ 125 w 1426"/>
                  <a:gd name="T3" fmla="*/ 66 h 100"/>
                  <a:gd name="T4" fmla="*/ 233 w 1426"/>
                  <a:gd name="T5" fmla="*/ 25 h 100"/>
                  <a:gd name="T6" fmla="*/ 307 w 1426"/>
                  <a:gd name="T7" fmla="*/ 58 h 100"/>
                  <a:gd name="T8" fmla="*/ 433 w 1426"/>
                  <a:gd name="T9" fmla="*/ 66 h 100"/>
                  <a:gd name="T10" fmla="*/ 558 w 1426"/>
                  <a:gd name="T11" fmla="*/ 33 h 100"/>
                  <a:gd name="T12" fmla="*/ 624 w 1426"/>
                  <a:gd name="T13" fmla="*/ 0 h 100"/>
                  <a:gd name="T14" fmla="*/ 707 w 1426"/>
                  <a:gd name="T15" fmla="*/ 41 h 100"/>
                  <a:gd name="T16" fmla="*/ 849 w 1426"/>
                  <a:gd name="T17" fmla="*/ 58 h 100"/>
                  <a:gd name="T18" fmla="*/ 965 w 1426"/>
                  <a:gd name="T19" fmla="*/ 66 h 100"/>
                  <a:gd name="T20" fmla="*/ 1048 w 1426"/>
                  <a:gd name="T21" fmla="*/ 33 h 100"/>
                  <a:gd name="T22" fmla="*/ 1148 w 1426"/>
                  <a:gd name="T23" fmla="*/ 58 h 100"/>
                  <a:gd name="T24" fmla="*/ 1297 w 1426"/>
                  <a:gd name="T25" fmla="*/ 91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33" name="Rectangle 7">
                <a:extLst>
                  <a:ext uri="{FF2B5EF4-FFF2-40B4-BE49-F238E27FC236}">
                    <a16:creationId xmlns:a16="http://schemas.microsoft.com/office/drawing/2014/main" id="{496DC860-C6C5-4D09-9464-B2024103917F}"/>
                  </a:ext>
                </a:extLst>
              </p:cNvPr>
              <p:cNvSpPr>
                <a:spLocks noChangeArrowheads="1"/>
              </p:cNvSpPr>
              <p:nvPr/>
            </p:nvSpPr>
            <p:spPr bwMode="auto">
              <a:xfrm>
                <a:off x="3602" y="1728"/>
                <a:ext cx="1399" cy="1902"/>
              </a:xfrm>
              <a:prstGeom prst="rect">
                <a:avLst/>
              </a:prstGeom>
              <a:solidFill>
                <a:schemeClr val="accent1"/>
              </a:solidFill>
              <a:ln w="9525">
                <a:noFill/>
                <a:miter lim="800000"/>
                <a:headEnd/>
                <a:tailEnd/>
              </a:ln>
            </p:spPr>
            <p:txBody>
              <a:bodyPr wrap="none" anchor="ctr"/>
              <a:lstStyle/>
              <a:p>
                <a:endParaRPr lang="en-US"/>
              </a:p>
            </p:txBody>
          </p:sp>
          <p:sp>
            <p:nvSpPr>
              <p:cNvPr id="34" name="Freeform 8">
                <a:extLst>
                  <a:ext uri="{FF2B5EF4-FFF2-40B4-BE49-F238E27FC236}">
                    <a16:creationId xmlns:a16="http://schemas.microsoft.com/office/drawing/2014/main" id="{C570F2D8-DFB1-4E90-A94B-AE17A933F879}"/>
                  </a:ext>
                </a:extLst>
              </p:cNvPr>
              <p:cNvSpPr>
                <a:spLocks/>
              </p:cNvSpPr>
              <p:nvPr/>
            </p:nvSpPr>
            <p:spPr bwMode="auto">
              <a:xfrm>
                <a:off x="3593" y="1646"/>
                <a:ext cx="1426" cy="100"/>
              </a:xfrm>
              <a:custGeom>
                <a:avLst/>
                <a:gdLst>
                  <a:gd name="T0" fmla="*/ 0 w 1426"/>
                  <a:gd name="T1" fmla="*/ 91 h 100"/>
                  <a:gd name="T2" fmla="*/ 137 w 1426"/>
                  <a:gd name="T3" fmla="*/ 73 h 100"/>
                  <a:gd name="T4" fmla="*/ 256 w 1426"/>
                  <a:gd name="T5" fmla="*/ 27 h 100"/>
                  <a:gd name="T6" fmla="*/ 338 w 1426"/>
                  <a:gd name="T7" fmla="*/ 64 h 100"/>
                  <a:gd name="T8" fmla="*/ 476 w 1426"/>
                  <a:gd name="T9" fmla="*/ 73 h 100"/>
                  <a:gd name="T10" fmla="*/ 613 w 1426"/>
                  <a:gd name="T11" fmla="*/ 36 h 100"/>
                  <a:gd name="T12" fmla="*/ 686 w 1426"/>
                  <a:gd name="T13" fmla="*/ 0 h 100"/>
                  <a:gd name="T14" fmla="*/ 777 w 1426"/>
                  <a:gd name="T15" fmla="*/ 45 h 100"/>
                  <a:gd name="T16" fmla="*/ 933 w 1426"/>
                  <a:gd name="T17" fmla="*/ 64 h 100"/>
                  <a:gd name="T18" fmla="*/ 1061 w 1426"/>
                  <a:gd name="T19" fmla="*/ 73 h 100"/>
                  <a:gd name="T20" fmla="*/ 1152 w 1426"/>
                  <a:gd name="T21" fmla="*/ 36 h 100"/>
                  <a:gd name="T22" fmla="*/ 1262 w 1426"/>
                  <a:gd name="T23" fmla="*/ 64 h 100"/>
                  <a:gd name="T24" fmla="*/ 1426 w 1426"/>
                  <a:gd name="T25" fmla="*/ 100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sp>
            <p:nvSpPr>
              <p:cNvPr id="35" name="Oval 9">
                <a:extLst>
                  <a:ext uri="{FF2B5EF4-FFF2-40B4-BE49-F238E27FC236}">
                    <a16:creationId xmlns:a16="http://schemas.microsoft.com/office/drawing/2014/main" id="{8E0CFCA4-D94A-4834-A155-396C3C772405}"/>
                  </a:ext>
                </a:extLst>
              </p:cNvPr>
              <p:cNvSpPr>
                <a:spLocks noChangeArrowheads="1"/>
              </p:cNvSpPr>
              <p:nvPr/>
            </p:nvSpPr>
            <p:spPr bwMode="auto">
              <a:xfrm>
                <a:off x="3849" y="2158"/>
                <a:ext cx="887" cy="859"/>
              </a:xfrm>
              <a:prstGeom prst="ellipse">
                <a:avLst/>
              </a:prstGeom>
              <a:solidFill>
                <a:schemeClr val="accent1"/>
              </a:solidFill>
              <a:ln w="9525">
                <a:solidFill>
                  <a:schemeClr val="tx1"/>
                </a:solidFill>
                <a:prstDash val="dash"/>
                <a:round/>
                <a:headEnd/>
                <a:tailEnd/>
              </a:ln>
            </p:spPr>
            <p:txBody>
              <a:bodyPr wrap="none" anchor="ctr"/>
              <a:lstStyle/>
              <a:p>
                <a:endParaRPr lang="en-US"/>
              </a:p>
            </p:txBody>
          </p:sp>
          <p:sp>
            <p:nvSpPr>
              <p:cNvPr id="36" name="Oval 10">
                <a:extLst>
                  <a:ext uri="{FF2B5EF4-FFF2-40B4-BE49-F238E27FC236}">
                    <a16:creationId xmlns:a16="http://schemas.microsoft.com/office/drawing/2014/main" id="{21FF5033-1FAC-41F1-9B89-305FE6BEC326}"/>
                  </a:ext>
                </a:extLst>
              </p:cNvPr>
              <p:cNvSpPr>
                <a:spLocks noChangeArrowheads="1"/>
              </p:cNvSpPr>
              <p:nvPr/>
            </p:nvSpPr>
            <p:spPr bwMode="auto">
              <a:xfrm>
                <a:off x="4264" y="2560"/>
                <a:ext cx="56" cy="56"/>
              </a:xfrm>
              <a:prstGeom prst="ellipse">
                <a:avLst/>
              </a:prstGeom>
              <a:solidFill>
                <a:schemeClr val="tx1"/>
              </a:solidFill>
              <a:ln w="9525">
                <a:solidFill>
                  <a:schemeClr val="tx1"/>
                </a:solidFill>
                <a:round/>
                <a:headEnd/>
                <a:tailEnd/>
              </a:ln>
            </p:spPr>
            <p:txBody>
              <a:bodyPr wrap="none" anchor="ctr"/>
              <a:lstStyle/>
              <a:p>
                <a:endParaRPr lang="en-US"/>
              </a:p>
            </p:txBody>
          </p:sp>
          <p:sp>
            <p:nvSpPr>
              <p:cNvPr id="37" name="Line 11">
                <a:extLst>
                  <a:ext uri="{FF2B5EF4-FFF2-40B4-BE49-F238E27FC236}">
                    <a16:creationId xmlns:a16="http://schemas.microsoft.com/office/drawing/2014/main" id="{AD1C16A8-A9D6-4DFF-B0DB-A73B63EE3A45}"/>
                  </a:ext>
                </a:extLst>
              </p:cNvPr>
              <p:cNvSpPr>
                <a:spLocks noChangeShapeType="1"/>
              </p:cNvSpPr>
              <p:nvPr/>
            </p:nvSpPr>
            <p:spPr bwMode="auto">
              <a:xfrm flipH="1">
                <a:off x="4296" y="2606"/>
                <a:ext cx="0" cy="265"/>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8" name="Line 12">
                <a:extLst>
                  <a:ext uri="{FF2B5EF4-FFF2-40B4-BE49-F238E27FC236}">
                    <a16:creationId xmlns:a16="http://schemas.microsoft.com/office/drawing/2014/main" id="{9C892DDD-5119-48EF-ACB4-5454A236CFF9}"/>
                  </a:ext>
                </a:extLst>
              </p:cNvPr>
              <p:cNvSpPr>
                <a:spLocks noChangeShapeType="1"/>
              </p:cNvSpPr>
              <p:nvPr/>
            </p:nvSpPr>
            <p:spPr bwMode="auto">
              <a:xfrm flipH="1" flipV="1">
                <a:off x="4300" y="2263"/>
                <a:ext cx="0" cy="311"/>
              </a:xfrm>
              <a:prstGeom prst="line">
                <a:avLst/>
              </a:prstGeom>
              <a:noFill/>
              <a:ln w="25400">
                <a:solidFill>
                  <a:schemeClr val="tx2">
                    <a:lumMod val="50000"/>
                  </a:schemeClr>
                </a:solidFill>
                <a:round/>
                <a:headEnd/>
                <a:tailEnd type="triangle" w="med" len="med"/>
              </a:ln>
            </p:spPr>
            <p:txBody>
              <a:bodyPr/>
              <a:lstStyle/>
              <a:p>
                <a:endParaRPr lang="en-US" dirty="0"/>
              </a:p>
            </p:txBody>
          </p:sp>
          <p:sp>
            <p:nvSpPr>
              <p:cNvPr id="39" name="Text Box 13">
                <a:extLst>
                  <a:ext uri="{FF2B5EF4-FFF2-40B4-BE49-F238E27FC236}">
                    <a16:creationId xmlns:a16="http://schemas.microsoft.com/office/drawing/2014/main" id="{B8220B3D-321C-474C-8B0A-81ABF696427A}"/>
                  </a:ext>
                </a:extLst>
              </p:cNvPr>
              <p:cNvSpPr txBox="1">
                <a:spLocks noChangeArrowheads="1"/>
              </p:cNvSpPr>
              <p:nvPr/>
            </p:nvSpPr>
            <p:spPr bwMode="auto">
              <a:xfrm>
                <a:off x="4322" y="2665"/>
                <a:ext cx="257" cy="231"/>
              </a:xfrm>
              <a:prstGeom prst="rect">
                <a:avLst/>
              </a:prstGeom>
              <a:noFill/>
              <a:ln w="9525">
                <a:noFill/>
                <a:miter lim="800000"/>
                <a:headEnd/>
                <a:tailEnd/>
              </a:ln>
            </p:spPr>
            <p:txBody>
              <a:bodyPr>
                <a:spAutoFit/>
              </a:bodyPr>
              <a:lstStyle/>
              <a:p>
                <a:r>
                  <a:rPr lang="en-US" b="1" dirty="0"/>
                  <a:t>W</a:t>
                </a:r>
                <a:endParaRPr lang="en-US" i="1" baseline="-25000" dirty="0"/>
              </a:p>
            </p:txBody>
          </p:sp>
          <p:sp>
            <p:nvSpPr>
              <p:cNvPr id="40" name="Text Box 14">
                <a:extLst>
                  <a:ext uri="{FF2B5EF4-FFF2-40B4-BE49-F238E27FC236}">
                    <a16:creationId xmlns:a16="http://schemas.microsoft.com/office/drawing/2014/main" id="{F6AC144B-A182-4F6A-8B81-8CAE20608141}"/>
                  </a:ext>
                </a:extLst>
              </p:cNvPr>
              <p:cNvSpPr txBox="1">
                <a:spLocks noChangeArrowheads="1"/>
              </p:cNvSpPr>
              <p:nvPr/>
            </p:nvSpPr>
            <p:spPr bwMode="auto">
              <a:xfrm>
                <a:off x="4354" y="2285"/>
                <a:ext cx="257" cy="231"/>
              </a:xfrm>
              <a:prstGeom prst="rect">
                <a:avLst/>
              </a:prstGeom>
              <a:noFill/>
              <a:ln w="9525">
                <a:noFill/>
                <a:miter lim="800000"/>
                <a:headEnd/>
                <a:tailEnd/>
              </a:ln>
            </p:spPr>
            <p:txBody>
              <a:bodyPr>
                <a:spAutoFit/>
              </a:bodyPr>
              <a:lstStyle/>
              <a:p>
                <a:r>
                  <a:rPr lang="en-US" b="1"/>
                  <a:t>B</a:t>
                </a:r>
                <a:endParaRPr lang="en-US" b="1" baseline="-25000"/>
              </a:p>
            </p:txBody>
          </p:sp>
        </p:grpSp>
        <p:grpSp>
          <p:nvGrpSpPr>
            <p:cNvPr id="26" name="Group 15">
              <a:extLst>
                <a:ext uri="{FF2B5EF4-FFF2-40B4-BE49-F238E27FC236}">
                  <a16:creationId xmlns:a16="http://schemas.microsoft.com/office/drawing/2014/main" id="{08A82624-BAF3-4CEC-8B93-7E6FCC717187}"/>
                </a:ext>
              </a:extLst>
            </p:cNvPr>
            <p:cNvGrpSpPr>
              <a:grpSpLocks/>
            </p:cNvGrpSpPr>
            <p:nvPr/>
          </p:nvGrpSpPr>
          <p:grpSpPr bwMode="auto">
            <a:xfrm rot="1590330">
              <a:off x="2724" y="2134"/>
              <a:ext cx="878" cy="860"/>
              <a:chOff x="2213" y="2234"/>
              <a:chExt cx="878" cy="860"/>
            </a:xfrm>
          </p:grpSpPr>
          <p:sp>
            <p:nvSpPr>
              <p:cNvPr id="27" name="Oval 16">
                <a:extLst>
                  <a:ext uri="{FF2B5EF4-FFF2-40B4-BE49-F238E27FC236}">
                    <a16:creationId xmlns:a16="http://schemas.microsoft.com/office/drawing/2014/main" id="{DFE0A679-8565-472A-B21F-198EB01EE82F}"/>
                  </a:ext>
                </a:extLst>
              </p:cNvPr>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28" name="Arc 17">
                <a:extLst>
                  <a:ext uri="{FF2B5EF4-FFF2-40B4-BE49-F238E27FC236}">
                    <a16:creationId xmlns:a16="http://schemas.microsoft.com/office/drawing/2014/main" id="{5D78DCF1-C892-4CB0-90E1-B70DDFF648F4}"/>
                  </a:ext>
                </a:extLst>
              </p:cNvPr>
              <p:cNvSpPr>
                <a:spLocks/>
              </p:cNvSpPr>
              <p:nvPr/>
            </p:nvSpPr>
            <p:spPr bwMode="auto">
              <a:xfrm>
                <a:off x="2597" y="2235"/>
                <a:ext cx="417" cy="859"/>
              </a:xfrm>
              <a:custGeom>
                <a:avLst/>
                <a:gdLst>
                  <a:gd name="T0" fmla="*/ 1 w 23580"/>
                  <a:gd name="T1" fmla="*/ 0 h 43200"/>
                  <a:gd name="T2" fmla="*/ 0 w 23580"/>
                  <a:gd name="T3" fmla="*/ 17 h 43200"/>
                  <a:gd name="T4" fmla="*/ 1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29" name="Arc 18">
                <a:extLst>
                  <a:ext uri="{FF2B5EF4-FFF2-40B4-BE49-F238E27FC236}">
                    <a16:creationId xmlns:a16="http://schemas.microsoft.com/office/drawing/2014/main" id="{3250A83A-2D0A-4D3E-ABA2-C8C14EB07219}"/>
                  </a:ext>
                </a:extLst>
              </p:cNvPr>
              <p:cNvSpPr>
                <a:spLocks/>
              </p:cNvSpPr>
              <p:nvPr/>
            </p:nvSpPr>
            <p:spPr bwMode="auto">
              <a:xfrm>
                <a:off x="2601" y="2235"/>
                <a:ext cx="215"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30" name="Arc 19">
                <a:extLst>
                  <a:ext uri="{FF2B5EF4-FFF2-40B4-BE49-F238E27FC236}">
                    <a16:creationId xmlns:a16="http://schemas.microsoft.com/office/drawing/2014/main" id="{60AC11E4-ED45-44F5-88BE-9424B7A8FDC4}"/>
                  </a:ext>
                </a:extLst>
              </p:cNvPr>
              <p:cNvSpPr>
                <a:spLocks/>
              </p:cNvSpPr>
              <p:nvPr/>
            </p:nvSpPr>
            <p:spPr bwMode="auto">
              <a:xfrm flipH="1">
                <a:off x="2331" y="2235"/>
                <a:ext cx="316"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31" name="Arc 20">
                <a:extLst>
                  <a:ext uri="{FF2B5EF4-FFF2-40B4-BE49-F238E27FC236}">
                    <a16:creationId xmlns:a16="http://schemas.microsoft.com/office/drawing/2014/main" id="{9E1E88B3-D246-4D27-9E98-9C18412E13F6}"/>
                  </a:ext>
                </a:extLst>
              </p:cNvPr>
              <p:cNvSpPr>
                <a:spLocks/>
              </p:cNvSpPr>
              <p:nvPr/>
            </p:nvSpPr>
            <p:spPr bwMode="auto">
              <a:xfrm flipH="1">
                <a:off x="2556" y="2235"/>
                <a:ext cx="88" cy="859"/>
              </a:xfrm>
              <a:custGeom>
                <a:avLst/>
                <a:gdLst>
                  <a:gd name="T0" fmla="*/ 0 w 23580"/>
                  <a:gd name="T1" fmla="*/ 0 h 43200"/>
                  <a:gd name="T2" fmla="*/ 0 w 23580"/>
                  <a:gd name="T3" fmla="*/ 17 h 43200"/>
                  <a:gd name="T4" fmla="*/ 0 w 23580"/>
                  <a:gd name="T5" fmla="*/ 9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7" name="Date Placeholder 3"/>
          <p:cNvSpPr>
            <a:spLocks noGrp="1"/>
          </p:cNvSpPr>
          <p:nvPr>
            <p:ph type="dt" sz="quarter" idx="10"/>
          </p:nvPr>
        </p:nvSpPr>
        <p:spPr>
          <a:noFill/>
        </p:spPr>
        <p:txBody>
          <a:bodyPr/>
          <a:lstStyle/>
          <a:p>
            <a:r>
              <a:rPr lang="en-US"/>
              <a:t>Winter 2007</a:t>
            </a:r>
          </a:p>
        </p:txBody>
      </p:sp>
      <p:sp>
        <p:nvSpPr>
          <p:cNvPr id="10248" name="Footer Placeholder 4"/>
          <p:cNvSpPr>
            <a:spLocks noGrp="1"/>
          </p:cNvSpPr>
          <p:nvPr>
            <p:ph type="ftr" sz="quarter" idx="11"/>
          </p:nvPr>
        </p:nvSpPr>
        <p:spPr>
          <a:noFill/>
        </p:spPr>
        <p:txBody>
          <a:bodyPr/>
          <a:lstStyle/>
          <a:p>
            <a:r>
              <a:rPr lang="en-US"/>
              <a:t>R. Todd Lines</a:t>
            </a:r>
          </a:p>
        </p:txBody>
      </p:sp>
      <p:sp>
        <p:nvSpPr>
          <p:cNvPr id="10249" name="Slide Number Placeholder 5"/>
          <p:cNvSpPr>
            <a:spLocks noGrp="1"/>
          </p:cNvSpPr>
          <p:nvPr>
            <p:ph type="sldNum" sz="quarter" idx="12"/>
          </p:nvPr>
        </p:nvSpPr>
        <p:spPr>
          <a:noFill/>
        </p:spPr>
        <p:txBody>
          <a:bodyPr/>
          <a:lstStyle/>
          <a:p>
            <a:fld id="{587A514C-FB5C-4F11-8D28-8BE97172F536}" type="slidenum">
              <a:rPr lang="en-US" smtClean="0"/>
              <a:pPr/>
              <a:t>43</a:t>
            </a:fld>
            <a:endParaRPr lang="en-US"/>
          </a:p>
        </p:txBody>
      </p:sp>
      <p:sp>
        <p:nvSpPr>
          <p:cNvPr id="10250" name="Rectangle 2"/>
          <p:cNvSpPr>
            <a:spLocks noGrp="1" noChangeArrowheads="1"/>
          </p:cNvSpPr>
          <p:nvPr>
            <p:ph type="title"/>
          </p:nvPr>
        </p:nvSpPr>
        <p:spPr/>
        <p:txBody>
          <a:bodyPr/>
          <a:lstStyle/>
          <a:p>
            <a:pPr eaLnBrk="1" hangingPunct="1"/>
            <a:r>
              <a:rPr lang="en-US" sz="2800"/>
              <a:t>Case 2: Partially Submerged Object</a:t>
            </a:r>
          </a:p>
        </p:txBody>
      </p:sp>
      <p:sp>
        <p:nvSpPr>
          <p:cNvPr id="10251" name="Rectangle 3"/>
          <p:cNvSpPr>
            <a:spLocks noGrp="1" noChangeArrowheads="1"/>
          </p:cNvSpPr>
          <p:nvPr>
            <p:ph type="body" idx="1"/>
          </p:nvPr>
        </p:nvSpPr>
        <p:spPr>
          <a:xfrm>
            <a:off x="254000" y="1208088"/>
            <a:ext cx="5849938" cy="4525962"/>
          </a:xfrm>
        </p:spPr>
        <p:txBody>
          <a:bodyPr/>
          <a:lstStyle/>
          <a:p>
            <a:pPr eaLnBrk="1" hangingPunct="1">
              <a:lnSpc>
                <a:spcPct val="80000"/>
              </a:lnSpc>
            </a:pPr>
            <a:r>
              <a:rPr lang="en-US" sz="2400"/>
              <a:t>Assume                   and static equilibrium.</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We define </a:t>
            </a:r>
            <a:r>
              <a:rPr lang="en-US" sz="2400" i="1"/>
              <a:t>V</a:t>
            </a:r>
            <a:r>
              <a:rPr lang="en-US" sz="2400" i="1" baseline="-25000"/>
              <a:t>fluid</a:t>
            </a:r>
            <a:r>
              <a:rPr lang="en-US" sz="2400"/>
              <a:t> as the volume of the fluid displaced by the object. </a:t>
            </a:r>
          </a:p>
          <a:p>
            <a:pPr eaLnBrk="1" hangingPunct="1">
              <a:lnSpc>
                <a:spcPct val="80000"/>
              </a:lnSpc>
            </a:pPr>
            <a:endParaRPr lang="en-US" sz="2400"/>
          </a:p>
          <a:p>
            <a:pPr eaLnBrk="1" hangingPunct="1">
              <a:lnSpc>
                <a:spcPct val="80000"/>
              </a:lnSpc>
            </a:pPr>
            <a:endParaRPr lang="en-US" sz="2400"/>
          </a:p>
          <a:p>
            <a:pPr eaLnBrk="1" hangingPunct="1">
              <a:lnSpc>
                <a:spcPct val="80000"/>
              </a:lnSpc>
            </a:pPr>
            <a:r>
              <a:rPr lang="en-US" sz="2400"/>
              <a:t>Then</a:t>
            </a:r>
          </a:p>
          <a:p>
            <a:pPr eaLnBrk="1" hangingPunct="1">
              <a:lnSpc>
                <a:spcPct val="80000"/>
              </a:lnSpc>
            </a:pPr>
            <a:endParaRPr lang="en-US" sz="2400"/>
          </a:p>
        </p:txBody>
      </p:sp>
      <p:grpSp>
        <p:nvGrpSpPr>
          <p:cNvPr id="2" name="Group 4"/>
          <p:cNvGrpSpPr>
            <a:grpSpLocks/>
          </p:cNvGrpSpPr>
          <p:nvPr/>
        </p:nvGrpSpPr>
        <p:grpSpPr bwMode="auto">
          <a:xfrm>
            <a:off x="5969000" y="2105025"/>
            <a:ext cx="2878138" cy="2640013"/>
            <a:chOff x="3760" y="1326"/>
            <a:chExt cx="1813" cy="1663"/>
          </a:xfrm>
        </p:grpSpPr>
        <p:grpSp>
          <p:nvGrpSpPr>
            <p:cNvPr id="3" name="Group 5"/>
            <p:cNvGrpSpPr>
              <a:grpSpLocks/>
            </p:cNvGrpSpPr>
            <p:nvPr/>
          </p:nvGrpSpPr>
          <p:grpSpPr bwMode="auto">
            <a:xfrm>
              <a:off x="3760" y="1566"/>
              <a:ext cx="1197" cy="1423"/>
              <a:chOff x="3596" y="1780"/>
              <a:chExt cx="1416" cy="1624"/>
            </a:xfrm>
          </p:grpSpPr>
          <p:sp>
            <p:nvSpPr>
              <p:cNvPr id="10268"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10269"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10256" name="AutoShape 8"/>
            <p:cNvSpPr>
              <a:spLocks noChangeArrowheads="1"/>
            </p:cNvSpPr>
            <p:nvPr/>
          </p:nvSpPr>
          <p:spPr bwMode="auto">
            <a:xfrm>
              <a:off x="3899" y="1828"/>
              <a:ext cx="919" cy="1129"/>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10257" name="Rectangle 9"/>
            <p:cNvSpPr>
              <a:spLocks noChangeArrowheads="1"/>
            </p:cNvSpPr>
            <p:nvPr/>
          </p:nvSpPr>
          <p:spPr bwMode="auto">
            <a:xfrm>
              <a:off x="3899" y="1811"/>
              <a:ext cx="909" cy="217"/>
            </a:xfrm>
            <a:prstGeom prst="rect">
              <a:avLst/>
            </a:prstGeom>
            <a:solidFill>
              <a:schemeClr val="accent1"/>
            </a:solidFill>
            <a:ln w="9525">
              <a:noFill/>
              <a:miter lim="800000"/>
              <a:headEnd/>
              <a:tailEnd/>
            </a:ln>
          </p:spPr>
          <p:txBody>
            <a:bodyPr wrap="none" anchor="ctr"/>
            <a:lstStyle/>
            <a:p>
              <a:endParaRPr lang="en-US"/>
            </a:p>
          </p:txBody>
        </p:sp>
        <p:sp>
          <p:nvSpPr>
            <p:cNvPr id="10258" name="Freeform 10"/>
            <p:cNvSpPr>
              <a:spLocks/>
            </p:cNvSpPr>
            <p:nvPr/>
          </p:nvSpPr>
          <p:spPr bwMode="auto">
            <a:xfrm>
              <a:off x="3831" y="1562"/>
              <a:ext cx="528"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6 w 624"/>
                <a:gd name="T19" fmla="*/ 1360 h 1588"/>
                <a:gd name="T20" fmla="*/ 206 w 624"/>
                <a:gd name="T21" fmla="*/ 1392 h 1588"/>
                <a:gd name="T22" fmla="*/ 322 w 624"/>
                <a:gd name="T23" fmla="*/ 1392 h 1588"/>
                <a:gd name="T24" fmla="*/ 494 w 624"/>
                <a:gd name="T25" fmla="*/ 1392 h 1588"/>
                <a:gd name="T26" fmla="*/ 528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59" name="Freeform 11"/>
            <p:cNvSpPr>
              <a:spLocks/>
            </p:cNvSpPr>
            <p:nvPr/>
          </p:nvSpPr>
          <p:spPr bwMode="auto">
            <a:xfrm flipH="1">
              <a:off x="4359" y="1562"/>
              <a:ext cx="527" cy="1392"/>
            </a:xfrm>
            <a:custGeom>
              <a:avLst/>
              <a:gdLst>
                <a:gd name="T0" fmla="*/ 0 w 624"/>
                <a:gd name="T1" fmla="*/ 0 h 1588"/>
                <a:gd name="T2" fmla="*/ 37 w 624"/>
                <a:gd name="T3" fmla="*/ 14 h 1588"/>
                <a:gd name="T4" fmla="*/ 54 w 624"/>
                <a:gd name="T5" fmla="*/ 49 h 1588"/>
                <a:gd name="T6" fmla="*/ 68 w 624"/>
                <a:gd name="T7" fmla="*/ 126 h 1588"/>
                <a:gd name="T8" fmla="*/ 74 w 624"/>
                <a:gd name="T9" fmla="*/ 368 h 1588"/>
                <a:gd name="T10" fmla="*/ 71 w 624"/>
                <a:gd name="T11" fmla="*/ 775 h 1588"/>
                <a:gd name="T12" fmla="*/ 71 w 624"/>
                <a:gd name="T13" fmla="*/ 1104 h 1588"/>
                <a:gd name="T14" fmla="*/ 78 w 624"/>
                <a:gd name="T15" fmla="*/ 1266 h 1588"/>
                <a:gd name="T16" fmla="*/ 105 w 624"/>
                <a:gd name="T17" fmla="*/ 1322 h 1588"/>
                <a:gd name="T18" fmla="*/ 145 w 624"/>
                <a:gd name="T19" fmla="*/ 1360 h 1588"/>
                <a:gd name="T20" fmla="*/ 206 w 624"/>
                <a:gd name="T21" fmla="*/ 1392 h 1588"/>
                <a:gd name="T22" fmla="*/ 321 w 624"/>
                <a:gd name="T23" fmla="*/ 1392 h 1588"/>
                <a:gd name="T24" fmla="*/ 493 w 624"/>
                <a:gd name="T25" fmla="*/ 1392 h 1588"/>
                <a:gd name="T26" fmla="*/ 527 w 624"/>
                <a:gd name="T27" fmla="*/ 1392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10260" name="Rectangle 12"/>
            <p:cNvSpPr>
              <a:spLocks noChangeArrowheads="1"/>
            </p:cNvSpPr>
            <p:nvPr/>
          </p:nvSpPr>
          <p:spPr bwMode="auto">
            <a:xfrm>
              <a:off x="4220" y="1541"/>
              <a:ext cx="321" cy="561"/>
            </a:xfrm>
            <a:prstGeom prst="rect">
              <a:avLst/>
            </a:prstGeom>
            <a:solidFill>
              <a:srgbClr val="993300"/>
            </a:solidFill>
            <a:ln w="9525">
              <a:solidFill>
                <a:schemeClr val="tx1"/>
              </a:solidFill>
              <a:miter lim="800000"/>
              <a:headEnd/>
              <a:tailEnd/>
            </a:ln>
          </p:spPr>
          <p:txBody>
            <a:bodyPr wrap="none" anchor="ctr"/>
            <a:lstStyle/>
            <a:p>
              <a:endParaRPr lang="en-US"/>
            </a:p>
          </p:txBody>
        </p:sp>
        <p:sp>
          <p:nvSpPr>
            <p:cNvPr id="10261" name="Line 13"/>
            <p:cNvSpPr>
              <a:spLocks noChangeShapeType="1"/>
            </p:cNvSpPr>
            <p:nvPr/>
          </p:nvSpPr>
          <p:spPr bwMode="auto">
            <a:xfrm>
              <a:off x="4386" y="2111"/>
              <a:ext cx="0" cy="176"/>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2" name="Line 14"/>
            <p:cNvSpPr>
              <a:spLocks noChangeShapeType="1"/>
            </p:cNvSpPr>
            <p:nvPr/>
          </p:nvSpPr>
          <p:spPr bwMode="auto">
            <a:xfrm flipV="1">
              <a:off x="4376" y="1362"/>
              <a:ext cx="4" cy="184"/>
            </a:xfrm>
            <a:prstGeom prst="line">
              <a:avLst/>
            </a:prstGeom>
            <a:noFill/>
            <a:ln w="28575">
              <a:solidFill>
                <a:schemeClr val="tx2">
                  <a:lumMod val="50000"/>
                </a:schemeClr>
              </a:solidFill>
              <a:round/>
              <a:headEnd/>
              <a:tailEnd type="triangle" w="med" len="med"/>
            </a:ln>
          </p:spPr>
          <p:txBody>
            <a:bodyPr/>
            <a:lstStyle/>
            <a:p>
              <a:endParaRPr lang="en-US"/>
            </a:p>
          </p:txBody>
        </p:sp>
        <p:sp>
          <p:nvSpPr>
            <p:cNvPr id="10263" name="Text Box 15"/>
            <p:cNvSpPr txBox="1">
              <a:spLocks noChangeArrowheads="1"/>
            </p:cNvSpPr>
            <p:nvPr/>
          </p:nvSpPr>
          <p:spPr bwMode="auto">
            <a:xfrm>
              <a:off x="4227" y="2259"/>
              <a:ext cx="249" cy="233"/>
            </a:xfrm>
            <a:prstGeom prst="rect">
              <a:avLst/>
            </a:prstGeom>
            <a:noFill/>
            <a:ln w="9525">
              <a:noFill/>
              <a:miter lim="800000"/>
              <a:headEnd/>
              <a:tailEnd/>
            </a:ln>
          </p:spPr>
          <p:txBody>
            <a:bodyPr wrap="none">
              <a:spAutoFit/>
            </a:bodyPr>
            <a:lstStyle/>
            <a:p>
              <a:r>
                <a:rPr lang="en-US" b="1" dirty="0"/>
                <a:t>W</a:t>
              </a:r>
              <a:endParaRPr lang="en-US" b="1" i="1" baseline="-25000" dirty="0">
                <a:cs typeface="Arial" charset="0"/>
              </a:endParaRPr>
            </a:p>
          </p:txBody>
        </p:sp>
        <p:sp>
          <p:nvSpPr>
            <p:cNvPr id="10264" name="Rectangle 16"/>
            <p:cNvSpPr>
              <a:spLocks noChangeArrowheads="1"/>
            </p:cNvSpPr>
            <p:nvPr/>
          </p:nvSpPr>
          <p:spPr bwMode="auto">
            <a:xfrm>
              <a:off x="4407" y="1326"/>
              <a:ext cx="220" cy="231"/>
            </a:xfrm>
            <a:prstGeom prst="rect">
              <a:avLst/>
            </a:prstGeom>
            <a:noFill/>
            <a:ln w="9525">
              <a:noFill/>
              <a:miter lim="800000"/>
              <a:headEnd/>
              <a:tailEnd/>
            </a:ln>
          </p:spPr>
          <p:txBody>
            <a:bodyPr wrap="none">
              <a:spAutoFit/>
            </a:bodyPr>
            <a:lstStyle/>
            <a:p>
              <a:r>
                <a:rPr lang="en-US" b="1"/>
                <a:t>B</a:t>
              </a:r>
              <a:endParaRPr lang="en-US" b="1" i="1"/>
            </a:p>
          </p:txBody>
        </p:sp>
        <p:sp>
          <p:nvSpPr>
            <p:cNvPr id="10265" name="Text Box 17"/>
            <p:cNvSpPr txBox="1">
              <a:spLocks noChangeArrowheads="1"/>
            </p:cNvSpPr>
            <p:nvPr/>
          </p:nvSpPr>
          <p:spPr bwMode="auto">
            <a:xfrm>
              <a:off x="4958" y="1766"/>
              <a:ext cx="615" cy="231"/>
            </a:xfrm>
            <a:prstGeom prst="rect">
              <a:avLst/>
            </a:prstGeom>
            <a:noFill/>
            <a:ln w="9525">
              <a:noFill/>
              <a:miter lim="800000"/>
              <a:headEnd/>
              <a:tailEnd/>
            </a:ln>
          </p:spPr>
          <p:txBody>
            <a:bodyPr wrap="none">
              <a:spAutoFit/>
            </a:bodyPr>
            <a:lstStyle/>
            <a:p>
              <a:r>
                <a:rPr lang="en-US" i="1"/>
                <a:t>V</a:t>
              </a:r>
              <a:r>
                <a:rPr lang="en-US" i="1" baseline="-25000"/>
                <a:t>displaced</a:t>
              </a:r>
            </a:p>
          </p:txBody>
        </p:sp>
        <p:sp>
          <p:nvSpPr>
            <p:cNvPr id="10266" name="Freeform 18"/>
            <p:cNvSpPr>
              <a:spLocks/>
            </p:cNvSpPr>
            <p:nvPr/>
          </p:nvSpPr>
          <p:spPr bwMode="auto">
            <a:xfrm rot="3030441">
              <a:off x="4605" y="1715"/>
              <a:ext cx="239" cy="394"/>
            </a:xfrm>
            <a:custGeom>
              <a:avLst/>
              <a:gdLst>
                <a:gd name="T0" fmla="*/ 239 w 292"/>
                <a:gd name="T1" fmla="*/ 0 h 430"/>
                <a:gd name="T2" fmla="*/ 89 w 292"/>
                <a:gd name="T3" fmla="*/ 201 h 430"/>
                <a:gd name="T4" fmla="*/ 172 w 292"/>
                <a:gd name="T5" fmla="*/ 218 h 430"/>
                <a:gd name="T6" fmla="*/ 0 w 292"/>
                <a:gd name="T7" fmla="*/ 394 h 430"/>
                <a:gd name="T8" fmla="*/ 0 60000 65536"/>
                <a:gd name="T9" fmla="*/ 0 60000 65536"/>
                <a:gd name="T10" fmla="*/ 0 60000 65536"/>
                <a:gd name="T11" fmla="*/ 0 60000 65536"/>
                <a:gd name="T12" fmla="*/ 0 w 292"/>
                <a:gd name="T13" fmla="*/ 0 h 430"/>
                <a:gd name="T14" fmla="*/ 292 w 292"/>
                <a:gd name="T15" fmla="*/ 430 h 430"/>
              </a:gdLst>
              <a:ahLst/>
              <a:cxnLst>
                <a:cxn ang="T8">
                  <a:pos x="T0" y="T1"/>
                </a:cxn>
                <a:cxn ang="T9">
                  <a:pos x="T2" y="T3"/>
                </a:cxn>
                <a:cxn ang="T10">
                  <a:pos x="T4" y="T5"/>
                </a:cxn>
                <a:cxn ang="T11">
                  <a:pos x="T6" y="T7"/>
                </a:cxn>
              </a:cxnLst>
              <a:rect l="T12" t="T13" r="T14" b="T15"/>
              <a:pathLst>
                <a:path w="292" h="430">
                  <a:moveTo>
                    <a:pt x="292" y="0"/>
                  </a:moveTo>
                  <a:cubicBezTo>
                    <a:pt x="207" y="89"/>
                    <a:pt x="123" y="179"/>
                    <a:pt x="109" y="219"/>
                  </a:cubicBezTo>
                  <a:cubicBezTo>
                    <a:pt x="95" y="259"/>
                    <a:pt x="228" y="203"/>
                    <a:pt x="210" y="238"/>
                  </a:cubicBezTo>
                  <a:cubicBezTo>
                    <a:pt x="192" y="273"/>
                    <a:pt x="96" y="351"/>
                    <a:pt x="0" y="430"/>
                  </a:cubicBezTo>
                </a:path>
              </a:pathLst>
            </a:custGeom>
            <a:noFill/>
            <a:ln w="9525">
              <a:solidFill>
                <a:schemeClr val="tx1"/>
              </a:solidFill>
              <a:round/>
              <a:headEnd/>
              <a:tailEnd type="triangle" w="med" len="med"/>
            </a:ln>
          </p:spPr>
          <p:txBody>
            <a:bodyPr/>
            <a:lstStyle/>
            <a:p>
              <a:endParaRPr lang="en-US"/>
            </a:p>
          </p:txBody>
        </p:sp>
        <p:sp>
          <p:nvSpPr>
            <p:cNvPr id="10267" name="Rectangle 19"/>
            <p:cNvSpPr>
              <a:spLocks noChangeArrowheads="1"/>
            </p:cNvSpPr>
            <p:nvPr/>
          </p:nvSpPr>
          <p:spPr bwMode="auto">
            <a:xfrm>
              <a:off x="4215" y="1811"/>
              <a:ext cx="329" cy="274"/>
            </a:xfrm>
            <a:prstGeom prst="rect">
              <a:avLst/>
            </a:prstGeom>
            <a:noFill/>
            <a:ln w="9525">
              <a:solidFill>
                <a:schemeClr val="bg1"/>
              </a:solidFill>
              <a:prstDash val="dash"/>
              <a:miter lim="800000"/>
              <a:headEnd/>
              <a:tailEnd/>
            </a:ln>
          </p:spPr>
          <p:txBody>
            <a:bodyPr wrap="none" anchor="ctr"/>
            <a:lstStyle/>
            <a:p>
              <a:endParaRPr lang="en-US"/>
            </a:p>
          </p:txBody>
        </p:sp>
      </p:grpSp>
      <p:sp>
        <p:nvSpPr>
          <p:cNvPr id="10253" name="AutoShape 20"/>
          <p:cNvSpPr>
            <a:spLocks noChangeArrowheads="1"/>
          </p:cNvSpPr>
          <p:nvPr/>
        </p:nvSpPr>
        <p:spPr bwMode="auto">
          <a:xfrm>
            <a:off x="522288" y="5314950"/>
            <a:ext cx="8243887" cy="900113"/>
          </a:xfrm>
          <a:prstGeom prst="roundRect">
            <a:avLst>
              <a:gd name="adj" fmla="val 16667"/>
            </a:avLst>
          </a:prstGeom>
          <a:solidFill>
            <a:schemeClr val="accent1"/>
          </a:solidFill>
          <a:ln w="9525">
            <a:solidFill>
              <a:schemeClr val="tx1"/>
            </a:solidFill>
            <a:round/>
            <a:headEnd/>
            <a:tailEnd/>
          </a:ln>
        </p:spPr>
        <p:txBody>
          <a:bodyPr anchor="ctr"/>
          <a:lstStyle/>
          <a:p>
            <a:pPr algn="ctr"/>
            <a:r>
              <a:rPr lang="en-US"/>
              <a:t>The fraction of the volume of a floating object that is below the fluid surface is equal to the ratio of the density of the object to that of the fluid.</a:t>
            </a:r>
          </a:p>
        </p:txBody>
      </p:sp>
      <p:graphicFrame>
        <p:nvGraphicFramePr>
          <p:cNvPr id="10242" name="Object 21"/>
          <p:cNvGraphicFramePr>
            <a:graphicFrameLocks noChangeAspect="1"/>
          </p:cNvGraphicFramePr>
          <p:nvPr/>
        </p:nvGraphicFramePr>
        <p:xfrm>
          <a:off x="2044700" y="1204913"/>
          <a:ext cx="1284288" cy="374650"/>
        </p:xfrm>
        <a:graphic>
          <a:graphicData uri="http://schemas.openxmlformats.org/presentationml/2006/ole">
            <mc:AlternateContent xmlns:mc="http://schemas.openxmlformats.org/markup-compatibility/2006">
              <mc:Choice xmlns:v="urn:schemas-microsoft-com:vml" Requires="v">
                <p:oleObj name="Equation" r:id="rId2" imgW="825480" imgH="241200" progId="Equation.3">
                  <p:embed/>
                </p:oleObj>
              </mc:Choice>
              <mc:Fallback>
                <p:oleObj name="Equation" r:id="rId2" imgW="825480" imgH="241200" progId="Equation.3">
                  <p:embed/>
                  <p:pic>
                    <p:nvPicPr>
                      <p:cNvPr id="10242" name="Object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700" y="1204913"/>
                        <a:ext cx="1284288"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22"/>
          <p:cNvGraphicFramePr>
            <a:graphicFrameLocks noChangeAspect="1"/>
          </p:cNvGraphicFramePr>
          <p:nvPr/>
        </p:nvGraphicFramePr>
        <p:xfrm>
          <a:off x="2519363" y="1947863"/>
          <a:ext cx="892175" cy="403225"/>
        </p:xfrm>
        <a:graphic>
          <a:graphicData uri="http://schemas.openxmlformats.org/presentationml/2006/ole">
            <mc:AlternateContent xmlns:mc="http://schemas.openxmlformats.org/markup-compatibility/2006">
              <mc:Choice xmlns:v="urn:schemas-microsoft-com:vml" Requires="v">
                <p:oleObj name="Equation" r:id="rId4" imgW="533160" imgH="241200" progId="Equation.3">
                  <p:embed/>
                </p:oleObj>
              </mc:Choice>
              <mc:Fallback>
                <p:oleObj name="Equation" r:id="rId4" imgW="533160" imgH="241200" progId="Equation.3">
                  <p:embed/>
                  <p:pic>
                    <p:nvPicPr>
                      <p:cNvPr id="10243" name="Object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9363" y="1947863"/>
                        <a:ext cx="892175" cy="403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23"/>
          <p:cNvGraphicFramePr>
            <a:graphicFrameLocks noChangeAspect="1"/>
          </p:cNvGraphicFramePr>
          <p:nvPr/>
        </p:nvGraphicFramePr>
        <p:xfrm>
          <a:off x="2382838" y="3495675"/>
          <a:ext cx="1419225" cy="355600"/>
        </p:xfrm>
        <a:graphic>
          <a:graphicData uri="http://schemas.openxmlformats.org/presentationml/2006/ole">
            <mc:AlternateContent xmlns:mc="http://schemas.openxmlformats.org/markup-compatibility/2006">
              <mc:Choice xmlns:v="urn:schemas-microsoft-com:vml" Requires="v">
                <p:oleObj name="Equation" r:id="rId6" imgW="965160" imgH="241200" progId="Equation.3">
                  <p:embed/>
                </p:oleObj>
              </mc:Choice>
              <mc:Fallback>
                <p:oleObj name="Equation" r:id="rId6" imgW="965160" imgH="241200" progId="Equation.3">
                  <p:embed/>
                  <p:pic>
                    <p:nvPicPr>
                      <p:cNvPr id="10244"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2838" y="3495675"/>
                        <a:ext cx="141922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24"/>
          <p:cNvGraphicFramePr>
            <a:graphicFrameLocks noChangeAspect="1"/>
          </p:cNvGraphicFramePr>
          <p:nvPr/>
        </p:nvGraphicFramePr>
        <p:xfrm>
          <a:off x="1889125" y="4367213"/>
          <a:ext cx="2449513" cy="688975"/>
        </p:xfrm>
        <a:graphic>
          <a:graphicData uri="http://schemas.openxmlformats.org/presentationml/2006/ole">
            <mc:AlternateContent xmlns:mc="http://schemas.openxmlformats.org/markup-compatibility/2006">
              <mc:Choice xmlns:v="urn:schemas-microsoft-com:vml" Requires="v">
                <p:oleObj name="Equation" r:id="rId8" imgW="1701720" imgH="482400" progId="Equation.3">
                  <p:embed/>
                </p:oleObj>
              </mc:Choice>
              <mc:Fallback>
                <p:oleObj name="Equation" r:id="rId8" imgW="1701720" imgH="482400" progId="Equation.3">
                  <p:embed/>
                  <p:pic>
                    <p:nvPicPr>
                      <p:cNvPr id="10245"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89125" y="4367213"/>
                        <a:ext cx="2449513"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6" name="Object 25"/>
          <p:cNvGraphicFramePr>
            <a:graphicFrameLocks noChangeAspect="1"/>
          </p:cNvGraphicFramePr>
          <p:nvPr/>
        </p:nvGraphicFramePr>
        <p:xfrm>
          <a:off x="6380163" y="1387475"/>
          <a:ext cx="1120775" cy="584200"/>
        </p:xfrm>
        <a:graphic>
          <a:graphicData uri="http://schemas.openxmlformats.org/presentationml/2006/ole">
            <mc:AlternateContent xmlns:mc="http://schemas.openxmlformats.org/markup-compatibility/2006">
              <mc:Choice xmlns:v="urn:schemas-microsoft-com:vml" Requires="v">
                <p:oleObj name="Equation" r:id="rId10" imgW="901440" imgH="469800" progId="Equation.3">
                  <p:embed/>
                </p:oleObj>
              </mc:Choice>
              <mc:Fallback>
                <p:oleObj name="Equation" r:id="rId10" imgW="901440" imgH="469800" progId="Equation.3">
                  <p:embed/>
                  <p:pic>
                    <p:nvPicPr>
                      <p:cNvPr id="10246"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80163" y="1387475"/>
                        <a:ext cx="1120775"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4" name="Rectangle 26"/>
          <p:cNvSpPr>
            <a:spLocks noChangeArrowheads="1"/>
          </p:cNvSpPr>
          <p:nvPr/>
        </p:nvSpPr>
        <p:spPr bwMode="auto">
          <a:xfrm>
            <a:off x="-239713" y="3036888"/>
            <a:ext cx="227013" cy="549275"/>
          </a:xfrm>
          <a:prstGeom prst="rect">
            <a:avLst/>
          </a:prstGeom>
          <a:noFill/>
          <a:ln w="9525">
            <a:noFill/>
            <a:miter lim="800000"/>
            <a:headEnd/>
            <a:tailEnd/>
          </a:ln>
        </p:spPr>
        <p:txBody>
          <a:bodyPr wrap="none" anchor="ctr">
            <a:spAutoFit/>
          </a:bodyPr>
          <a:lstStyle/>
          <a:p>
            <a:r>
              <a:rPr lang="en-US" sz="1200">
                <a:cs typeface="Times New Roman" pitchFamily="18" charset="0"/>
              </a:rPr>
              <a:t> </a:t>
            </a:r>
            <a:endParaRPr lang="en-US" sz="1100"/>
          </a:p>
          <a:p>
            <a:pPr eaLnBrk="0" hangingPunct="0"/>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cstate="print"/>
          <a:srcRect/>
          <a:stretch>
            <a:fillRect/>
          </a:stretch>
        </p:blipFill>
        <p:spPr bwMode="auto">
          <a:xfrm>
            <a:off x="1208314" y="582385"/>
            <a:ext cx="6868886" cy="5151665"/>
          </a:xfrm>
          <a:prstGeom prst="rect">
            <a:avLst/>
          </a:prstGeom>
          <a:noFill/>
          <a:ln w="9525">
            <a:noFill/>
            <a:miter lim="800000"/>
            <a:headEnd/>
            <a:tailEnd/>
          </a:ln>
        </p:spPr>
      </p:pic>
      <p:sp>
        <p:nvSpPr>
          <p:cNvPr id="4" name="Rectangle 3"/>
          <p:cNvSpPr/>
          <p:nvPr/>
        </p:nvSpPr>
        <p:spPr>
          <a:xfrm>
            <a:off x="1110343" y="5853614"/>
            <a:ext cx="6890658" cy="923330"/>
          </a:xfrm>
          <a:prstGeom prst="rect">
            <a:avLst/>
          </a:prstGeom>
        </p:spPr>
        <p:txBody>
          <a:bodyPr wrap="square">
            <a:spAutoFit/>
          </a:bodyPr>
          <a:lstStyle/>
          <a:p>
            <a:r>
              <a:rPr lang="en-US" dirty="0"/>
              <a:t>Iceberg with the submerged portion visible. From Geo Swan used under the licensed under the Creative Commons Attribution 2.0 Generic license.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636422D8-C0F9-4562-A685-CDD6FDF45D69}" type="slidenum">
              <a:rPr lang="en-US" smtClean="0"/>
              <a:pPr/>
              <a:t>45</a:t>
            </a:fld>
            <a:endParaRPr lang="en-US"/>
          </a:p>
        </p:txBody>
      </p:sp>
      <p:sp>
        <p:nvSpPr>
          <p:cNvPr id="53251" name="Rectangle 2"/>
          <p:cNvSpPr>
            <a:spLocks noGrp="1" noChangeArrowheads="1"/>
          </p:cNvSpPr>
          <p:nvPr>
            <p:ph type="title"/>
          </p:nvPr>
        </p:nvSpPr>
        <p:spPr/>
        <p:txBody>
          <a:bodyPr/>
          <a:lstStyle/>
          <a:p>
            <a:pPr eaLnBrk="1" hangingPunct="1"/>
            <a:r>
              <a:rPr lang="en-US"/>
              <a:t>Question 123.5.4</a:t>
            </a:r>
          </a:p>
        </p:txBody>
      </p:sp>
      <p:sp>
        <p:nvSpPr>
          <p:cNvPr id="53252" name="Rectangle 3"/>
          <p:cNvSpPr>
            <a:spLocks noGrp="1" noChangeArrowheads="1"/>
          </p:cNvSpPr>
          <p:nvPr>
            <p:ph type="body" idx="1"/>
          </p:nvPr>
        </p:nvSpPr>
        <p:spPr>
          <a:xfrm>
            <a:off x="182563" y="1439863"/>
            <a:ext cx="3556000" cy="4525962"/>
          </a:xfrm>
        </p:spPr>
        <p:txBody>
          <a:bodyPr/>
          <a:lstStyle/>
          <a:p>
            <a:pPr eaLnBrk="1" hangingPunct="1"/>
            <a:r>
              <a:rPr lang="en-US" sz="2800"/>
              <a:t>Two cups are filled to the same level with water. One of the two cups has ice cubes floating in it. When the ice cubes melt, in which cup is the level of the water higher?</a:t>
            </a:r>
          </a:p>
        </p:txBody>
      </p:sp>
      <p:grpSp>
        <p:nvGrpSpPr>
          <p:cNvPr id="53253" name="Group 4"/>
          <p:cNvGrpSpPr>
            <a:grpSpLocks/>
          </p:cNvGrpSpPr>
          <p:nvPr/>
        </p:nvGrpSpPr>
        <p:grpSpPr bwMode="auto">
          <a:xfrm>
            <a:off x="5178425" y="2957513"/>
            <a:ext cx="1477963" cy="1843087"/>
            <a:chOff x="3262" y="1863"/>
            <a:chExt cx="931" cy="1161"/>
          </a:xfrm>
        </p:grpSpPr>
        <p:grpSp>
          <p:nvGrpSpPr>
            <p:cNvPr id="53268" name="Group 5"/>
            <p:cNvGrpSpPr>
              <a:grpSpLocks/>
            </p:cNvGrpSpPr>
            <p:nvPr/>
          </p:nvGrpSpPr>
          <p:grpSpPr bwMode="auto">
            <a:xfrm>
              <a:off x="3262" y="1863"/>
              <a:ext cx="931" cy="1161"/>
              <a:chOff x="3733" y="1510"/>
              <a:chExt cx="1416" cy="1628"/>
            </a:xfrm>
          </p:grpSpPr>
          <p:grpSp>
            <p:nvGrpSpPr>
              <p:cNvPr id="53272" name="Group 6"/>
              <p:cNvGrpSpPr>
                <a:grpSpLocks/>
              </p:cNvGrpSpPr>
              <p:nvPr/>
            </p:nvGrpSpPr>
            <p:grpSpPr bwMode="auto">
              <a:xfrm>
                <a:off x="3733" y="1514"/>
                <a:ext cx="1416" cy="1624"/>
                <a:chOff x="3596" y="1780"/>
                <a:chExt cx="1416" cy="1624"/>
              </a:xfrm>
            </p:grpSpPr>
            <p:sp>
              <p:nvSpPr>
                <p:cNvPr id="53277" name="Freeform 7"/>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78" name="Freeform 8"/>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73" name="AutoShape 9"/>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74" name="Rectangle 10"/>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75" name="Freeform 11"/>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76" name="Freeform 12"/>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9" name="AutoShape 13"/>
            <p:cNvSpPr>
              <a:spLocks noChangeArrowheads="1"/>
            </p:cNvSpPr>
            <p:nvPr/>
          </p:nvSpPr>
          <p:spPr bwMode="auto">
            <a:xfrm rot="-1306696">
              <a:off x="3492" y="1929"/>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0" name="AutoShape 14"/>
            <p:cNvSpPr>
              <a:spLocks noChangeArrowheads="1"/>
            </p:cNvSpPr>
            <p:nvPr/>
          </p:nvSpPr>
          <p:spPr bwMode="auto">
            <a:xfrm>
              <a:off x="3625" y="1943"/>
              <a:ext cx="357" cy="366"/>
            </a:xfrm>
            <a:prstGeom prst="cube">
              <a:avLst>
                <a:gd name="adj" fmla="val 25000"/>
              </a:avLst>
            </a:prstGeom>
            <a:solidFill>
              <a:schemeClr val="accent1">
                <a:alpha val="27058"/>
              </a:schemeClr>
            </a:solidFill>
            <a:ln w="9525">
              <a:solidFill>
                <a:schemeClr val="tx1"/>
              </a:solidFill>
              <a:miter lim="800000"/>
              <a:headEnd/>
              <a:tailEnd/>
            </a:ln>
          </p:spPr>
          <p:txBody>
            <a:bodyPr wrap="none" anchor="ctr"/>
            <a:lstStyle/>
            <a:p>
              <a:endParaRPr lang="en-US"/>
            </a:p>
          </p:txBody>
        </p:sp>
        <p:sp>
          <p:nvSpPr>
            <p:cNvPr id="53271" name="Text Box 15"/>
            <p:cNvSpPr txBox="1">
              <a:spLocks noChangeArrowheads="1"/>
            </p:cNvSpPr>
            <p:nvPr/>
          </p:nvSpPr>
          <p:spPr bwMode="auto">
            <a:xfrm>
              <a:off x="3590" y="2537"/>
              <a:ext cx="212" cy="231"/>
            </a:xfrm>
            <a:prstGeom prst="rect">
              <a:avLst/>
            </a:prstGeom>
            <a:noFill/>
            <a:ln w="9525">
              <a:noFill/>
              <a:miter lim="800000"/>
              <a:headEnd/>
              <a:tailEnd/>
            </a:ln>
          </p:spPr>
          <p:txBody>
            <a:bodyPr wrap="none">
              <a:spAutoFit/>
            </a:bodyPr>
            <a:lstStyle/>
            <a:p>
              <a:r>
                <a:rPr lang="en-US"/>
                <a:t>A</a:t>
              </a:r>
            </a:p>
          </p:txBody>
        </p:sp>
      </p:grpSp>
      <p:grpSp>
        <p:nvGrpSpPr>
          <p:cNvPr id="53254" name="Group 16"/>
          <p:cNvGrpSpPr>
            <a:grpSpLocks/>
          </p:cNvGrpSpPr>
          <p:nvPr/>
        </p:nvGrpSpPr>
        <p:grpSpPr bwMode="auto">
          <a:xfrm>
            <a:off x="7116763" y="2957513"/>
            <a:ext cx="1477962" cy="1843087"/>
            <a:chOff x="4483" y="1840"/>
            <a:chExt cx="931" cy="1161"/>
          </a:xfrm>
        </p:grpSpPr>
        <p:grpSp>
          <p:nvGrpSpPr>
            <p:cNvPr id="53259" name="Group 17"/>
            <p:cNvGrpSpPr>
              <a:grpSpLocks/>
            </p:cNvGrpSpPr>
            <p:nvPr/>
          </p:nvGrpSpPr>
          <p:grpSpPr bwMode="auto">
            <a:xfrm>
              <a:off x="4483" y="1840"/>
              <a:ext cx="931" cy="1161"/>
              <a:chOff x="3733" y="1510"/>
              <a:chExt cx="1416" cy="1628"/>
            </a:xfrm>
          </p:grpSpPr>
          <p:grpSp>
            <p:nvGrpSpPr>
              <p:cNvPr id="53261" name="Group 18"/>
              <p:cNvGrpSpPr>
                <a:grpSpLocks/>
              </p:cNvGrpSpPr>
              <p:nvPr/>
            </p:nvGrpSpPr>
            <p:grpSpPr bwMode="auto">
              <a:xfrm>
                <a:off x="3733" y="1514"/>
                <a:ext cx="1416" cy="1624"/>
                <a:chOff x="3596" y="1780"/>
                <a:chExt cx="1416" cy="1624"/>
              </a:xfrm>
            </p:grpSpPr>
            <p:sp>
              <p:nvSpPr>
                <p:cNvPr id="53266" name="Freeform 19"/>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3267" name="Freeform 20"/>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3262" name="AutoShape 21"/>
              <p:cNvSpPr>
                <a:spLocks noChangeArrowheads="1"/>
              </p:cNvSpPr>
              <p:nvPr/>
            </p:nvSpPr>
            <p:spPr bwMode="auto">
              <a:xfrm>
                <a:off x="3897" y="1814"/>
                <a:ext cx="1088" cy="1288"/>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3263" name="Rectangle 22"/>
              <p:cNvSpPr>
                <a:spLocks noChangeArrowheads="1"/>
              </p:cNvSpPr>
              <p:nvPr/>
            </p:nvSpPr>
            <p:spPr bwMode="auto">
              <a:xfrm>
                <a:off x="3897" y="1794"/>
                <a:ext cx="1076" cy="248"/>
              </a:xfrm>
              <a:prstGeom prst="rect">
                <a:avLst/>
              </a:prstGeom>
              <a:solidFill>
                <a:schemeClr val="accent1"/>
              </a:solidFill>
              <a:ln w="9525">
                <a:noFill/>
                <a:miter lim="800000"/>
                <a:headEnd/>
                <a:tailEnd/>
              </a:ln>
            </p:spPr>
            <p:txBody>
              <a:bodyPr wrap="none" anchor="ctr"/>
              <a:lstStyle/>
              <a:p>
                <a:endParaRPr lang="en-US"/>
              </a:p>
            </p:txBody>
          </p:sp>
          <p:sp>
            <p:nvSpPr>
              <p:cNvPr id="53264" name="Freeform 23"/>
              <p:cNvSpPr>
                <a:spLocks/>
              </p:cNvSpPr>
              <p:nvPr/>
            </p:nvSpPr>
            <p:spPr bwMode="auto">
              <a:xfrm>
                <a:off x="3817"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3265" name="Freeform 24"/>
              <p:cNvSpPr>
                <a:spLocks/>
              </p:cNvSpPr>
              <p:nvPr/>
            </p:nvSpPr>
            <p:spPr bwMode="auto">
              <a:xfrm flipH="1">
                <a:off x="4441" y="1510"/>
                <a:ext cx="624" cy="1588"/>
              </a:xfrm>
              <a:custGeom>
                <a:avLst/>
                <a:gdLst>
                  <a:gd name="T0" fmla="*/ 0 w 624"/>
                  <a:gd name="T1" fmla="*/ 0 h 1588"/>
                  <a:gd name="T2" fmla="*/ 44 w 624"/>
                  <a:gd name="T3" fmla="*/ 16 h 1588"/>
                  <a:gd name="T4" fmla="*/ 64 w 624"/>
                  <a:gd name="T5" fmla="*/ 56 h 1588"/>
                  <a:gd name="T6" fmla="*/ 80 w 624"/>
                  <a:gd name="T7" fmla="*/ 144 h 1588"/>
                  <a:gd name="T8" fmla="*/ 88 w 624"/>
                  <a:gd name="T9" fmla="*/ 420 h 1588"/>
                  <a:gd name="T10" fmla="*/ 84 w 624"/>
                  <a:gd name="T11" fmla="*/ 884 h 1588"/>
                  <a:gd name="T12" fmla="*/ 84 w 624"/>
                  <a:gd name="T13" fmla="*/ 1260 h 1588"/>
                  <a:gd name="T14" fmla="*/ 92 w 624"/>
                  <a:gd name="T15" fmla="*/ 1444 h 1588"/>
                  <a:gd name="T16" fmla="*/ 124 w 624"/>
                  <a:gd name="T17" fmla="*/ 1508 h 1588"/>
                  <a:gd name="T18" fmla="*/ 172 w 624"/>
                  <a:gd name="T19" fmla="*/ 1552 h 1588"/>
                  <a:gd name="T20" fmla="*/ 244 w 624"/>
                  <a:gd name="T21" fmla="*/ 1588 h 1588"/>
                  <a:gd name="T22" fmla="*/ 380 w 624"/>
                  <a:gd name="T23" fmla="*/ 1588 h 1588"/>
                  <a:gd name="T24" fmla="*/ 584 w 624"/>
                  <a:gd name="T25" fmla="*/ 1588 h 1588"/>
                  <a:gd name="T26" fmla="*/ 624 w 624"/>
                  <a:gd name="T27" fmla="*/ 1588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grpSp>
        <p:sp>
          <p:nvSpPr>
            <p:cNvPr id="53260" name="Text Box 25"/>
            <p:cNvSpPr txBox="1">
              <a:spLocks noChangeArrowheads="1"/>
            </p:cNvSpPr>
            <p:nvPr/>
          </p:nvSpPr>
          <p:spPr bwMode="auto">
            <a:xfrm>
              <a:off x="4793" y="2486"/>
              <a:ext cx="212" cy="231"/>
            </a:xfrm>
            <a:prstGeom prst="rect">
              <a:avLst/>
            </a:prstGeom>
            <a:noFill/>
            <a:ln w="9525">
              <a:noFill/>
              <a:miter lim="800000"/>
              <a:headEnd/>
              <a:tailEnd/>
            </a:ln>
          </p:spPr>
          <p:txBody>
            <a:bodyPr wrap="none">
              <a:spAutoFit/>
            </a:bodyPr>
            <a:lstStyle/>
            <a:p>
              <a:r>
                <a:rPr lang="en-US"/>
                <a:t>B</a:t>
              </a:r>
            </a:p>
          </p:txBody>
        </p:sp>
      </p:grpSp>
      <p:sp>
        <p:nvSpPr>
          <p:cNvPr id="53255" name="Line 26"/>
          <p:cNvSpPr>
            <a:spLocks noChangeShapeType="1"/>
          </p:cNvSpPr>
          <p:nvPr/>
        </p:nvSpPr>
        <p:spPr bwMode="auto">
          <a:xfrm>
            <a:off x="6662738" y="3279775"/>
            <a:ext cx="420687" cy="0"/>
          </a:xfrm>
          <a:prstGeom prst="line">
            <a:avLst/>
          </a:prstGeom>
          <a:noFill/>
          <a:ln w="9525">
            <a:solidFill>
              <a:schemeClr val="tx1"/>
            </a:solidFill>
            <a:round/>
            <a:headEnd/>
            <a:tailEnd/>
          </a:ln>
        </p:spPr>
        <p:txBody>
          <a:bodyPr/>
          <a:lstStyle/>
          <a:p>
            <a:endParaRPr lang="en-US"/>
          </a:p>
        </p:txBody>
      </p:sp>
      <p:sp>
        <p:nvSpPr>
          <p:cNvPr id="53256" name="Line 27"/>
          <p:cNvSpPr>
            <a:spLocks noChangeShapeType="1"/>
          </p:cNvSpPr>
          <p:nvPr/>
        </p:nvSpPr>
        <p:spPr bwMode="auto">
          <a:xfrm>
            <a:off x="6656388" y="4752975"/>
            <a:ext cx="420687" cy="0"/>
          </a:xfrm>
          <a:prstGeom prst="line">
            <a:avLst/>
          </a:prstGeom>
          <a:noFill/>
          <a:ln w="9525">
            <a:solidFill>
              <a:schemeClr val="tx1"/>
            </a:solidFill>
            <a:round/>
            <a:headEnd/>
            <a:tailEnd/>
          </a:ln>
        </p:spPr>
        <p:txBody>
          <a:bodyPr/>
          <a:lstStyle/>
          <a:p>
            <a:endParaRPr lang="en-US"/>
          </a:p>
        </p:txBody>
      </p:sp>
      <p:sp>
        <p:nvSpPr>
          <p:cNvPr id="53257" name="Line 28"/>
          <p:cNvSpPr>
            <a:spLocks noChangeShapeType="1"/>
          </p:cNvSpPr>
          <p:nvPr/>
        </p:nvSpPr>
        <p:spPr bwMode="auto">
          <a:xfrm>
            <a:off x="6878638" y="3265488"/>
            <a:ext cx="0" cy="1481137"/>
          </a:xfrm>
          <a:prstGeom prst="line">
            <a:avLst/>
          </a:prstGeom>
          <a:noFill/>
          <a:ln w="9525">
            <a:solidFill>
              <a:schemeClr val="tx1"/>
            </a:solidFill>
            <a:round/>
            <a:headEnd type="triangle" w="med" len="med"/>
            <a:tailEnd type="triangle" w="med" len="med"/>
          </a:ln>
        </p:spPr>
        <p:txBody>
          <a:bodyPr/>
          <a:lstStyle/>
          <a:p>
            <a:endParaRPr lang="en-US"/>
          </a:p>
        </p:txBody>
      </p:sp>
      <p:sp>
        <p:nvSpPr>
          <p:cNvPr id="53258" name="Text Box 29"/>
          <p:cNvSpPr txBox="1">
            <a:spLocks noChangeArrowheads="1"/>
          </p:cNvSpPr>
          <p:nvPr/>
        </p:nvSpPr>
        <p:spPr bwMode="auto">
          <a:xfrm>
            <a:off x="6731000" y="3781425"/>
            <a:ext cx="311150" cy="366713"/>
          </a:xfrm>
          <a:prstGeom prst="rect">
            <a:avLst/>
          </a:prstGeom>
          <a:solidFill>
            <a:schemeClr val="bg1"/>
          </a:solidFill>
          <a:ln w="9525">
            <a:noFill/>
            <a:miter lim="800000"/>
            <a:headEnd/>
            <a:tailEnd/>
          </a:ln>
        </p:spPr>
        <p:txBody>
          <a:bodyPr wrap="none">
            <a:spAutoFit/>
          </a:bodyPr>
          <a:lstStyle/>
          <a:p>
            <a:r>
              <a:rPr lang="en-US"/>
              <a:t>h</a:t>
            </a:r>
          </a:p>
        </p:txBody>
      </p:sp>
    </p:spTree>
    <p:extLst>
      <p:ext uri="{BB962C8B-B14F-4D97-AF65-F5344CB8AC3E}">
        <p14:creationId xmlns:p14="http://schemas.microsoft.com/office/powerpoint/2010/main" val="26162347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53359846-9639-45BB-9D99-7DB5DB95104F}" type="slidenum">
              <a:rPr lang="en-US" smtClean="0"/>
              <a:pPr/>
              <a:t>46</a:t>
            </a:fld>
            <a:endParaRPr lang="en-US"/>
          </a:p>
        </p:txBody>
      </p:sp>
      <p:sp>
        <p:nvSpPr>
          <p:cNvPr id="54275" name="Rectangle 2"/>
          <p:cNvSpPr>
            <a:spLocks noGrp="1" noChangeArrowheads="1"/>
          </p:cNvSpPr>
          <p:nvPr>
            <p:ph type="title"/>
          </p:nvPr>
        </p:nvSpPr>
        <p:spPr/>
        <p:txBody>
          <a:bodyPr/>
          <a:lstStyle/>
          <a:p>
            <a:pPr eaLnBrk="1" hangingPunct="1"/>
            <a:r>
              <a:rPr lang="en-US"/>
              <a:t>Question 123.5.5</a:t>
            </a:r>
          </a:p>
        </p:txBody>
      </p:sp>
      <p:sp>
        <p:nvSpPr>
          <p:cNvPr id="54276" name="Rectangle 3"/>
          <p:cNvSpPr>
            <a:spLocks noGrp="1" noChangeArrowheads="1"/>
          </p:cNvSpPr>
          <p:nvPr>
            <p:ph type="body" idx="1"/>
          </p:nvPr>
        </p:nvSpPr>
        <p:spPr>
          <a:xfrm>
            <a:off x="457200" y="1600200"/>
            <a:ext cx="4876800" cy="1738313"/>
          </a:xfrm>
        </p:spPr>
        <p:txBody>
          <a:bodyPr/>
          <a:lstStyle/>
          <a:p>
            <a:pPr eaLnBrk="1" hangingPunct="1"/>
            <a:r>
              <a:rPr lang="en-US" sz="2400"/>
              <a:t>When a ball is floating on the surface of a pool, how does the force needed to push it under change with depth? </a:t>
            </a:r>
          </a:p>
        </p:txBody>
      </p:sp>
      <p:sp>
        <p:nvSpPr>
          <p:cNvPr id="54277" name="Freeform 4"/>
          <p:cNvSpPr>
            <a:spLocks/>
          </p:cNvSpPr>
          <p:nvPr/>
        </p:nvSpPr>
        <p:spPr bwMode="auto">
          <a:xfrm>
            <a:off x="6465888" y="4699000"/>
            <a:ext cx="2058987" cy="144463"/>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rgbClr val="7DC4C9"/>
          </a:solidFill>
          <a:ln w="9525">
            <a:noFill/>
            <a:round/>
            <a:headEnd/>
            <a:tailEnd/>
          </a:ln>
        </p:spPr>
        <p:txBody>
          <a:bodyPr/>
          <a:lstStyle/>
          <a:p>
            <a:endParaRPr lang="en-US"/>
          </a:p>
        </p:txBody>
      </p:sp>
      <p:sp>
        <p:nvSpPr>
          <p:cNvPr id="54278" name="Freeform 5"/>
          <p:cNvSpPr>
            <a:spLocks/>
          </p:cNvSpPr>
          <p:nvPr/>
        </p:nvSpPr>
        <p:spPr bwMode="auto">
          <a:xfrm>
            <a:off x="6284913" y="4703763"/>
            <a:ext cx="2263775" cy="158750"/>
          </a:xfrm>
          <a:custGeom>
            <a:avLst/>
            <a:gdLst>
              <a:gd name="T0" fmla="*/ 0 w 1426"/>
              <a:gd name="T1" fmla="*/ 2147483647 h 100"/>
              <a:gd name="T2" fmla="*/ 2147483647 w 1426"/>
              <a:gd name="T3" fmla="*/ 2147483647 h 100"/>
              <a:gd name="T4" fmla="*/ 2147483647 w 1426"/>
              <a:gd name="T5" fmla="*/ 2147483647 h 100"/>
              <a:gd name="T6" fmla="*/ 2147483647 w 1426"/>
              <a:gd name="T7" fmla="*/ 2147483647 h 100"/>
              <a:gd name="T8" fmla="*/ 2147483647 w 1426"/>
              <a:gd name="T9" fmla="*/ 2147483647 h 100"/>
              <a:gd name="T10" fmla="*/ 2147483647 w 1426"/>
              <a:gd name="T11" fmla="*/ 2147483647 h 100"/>
              <a:gd name="T12" fmla="*/ 2147483647 w 1426"/>
              <a:gd name="T13" fmla="*/ 0 h 100"/>
              <a:gd name="T14" fmla="*/ 2147483647 w 1426"/>
              <a:gd name="T15" fmla="*/ 2147483647 h 100"/>
              <a:gd name="T16" fmla="*/ 2147483647 w 1426"/>
              <a:gd name="T17" fmla="*/ 2147483647 h 100"/>
              <a:gd name="T18" fmla="*/ 2147483647 w 1426"/>
              <a:gd name="T19" fmla="*/ 2147483647 h 100"/>
              <a:gd name="T20" fmla="*/ 2147483647 w 1426"/>
              <a:gd name="T21" fmla="*/ 2147483647 h 100"/>
              <a:gd name="T22" fmla="*/ 2147483647 w 1426"/>
              <a:gd name="T23" fmla="*/ 2147483647 h 100"/>
              <a:gd name="T24" fmla="*/ 2147483647 w 1426"/>
              <a:gd name="T25" fmla="*/ 2147483647 h 1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26"/>
              <a:gd name="T40" fmla="*/ 0 h 100"/>
              <a:gd name="T41" fmla="*/ 1426 w 1426"/>
              <a:gd name="T42" fmla="*/ 100 h 10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26" h="100">
                <a:moveTo>
                  <a:pt x="0" y="91"/>
                </a:moveTo>
                <a:lnTo>
                  <a:pt x="137" y="73"/>
                </a:lnTo>
                <a:lnTo>
                  <a:pt x="256" y="27"/>
                </a:lnTo>
                <a:lnTo>
                  <a:pt x="338" y="64"/>
                </a:lnTo>
                <a:lnTo>
                  <a:pt x="476" y="73"/>
                </a:lnTo>
                <a:lnTo>
                  <a:pt x="613" y="36"/>
                </a:lnTo>
                <a:lnTo>
                  <a:pt x="686" y="0"/>
                </a:lnTo>
                <a:lnTo>
                  <a:pt x="777" y="45"/>
                </a:lnTo>
                <a:lnTo>
                  <a:pt x="933" y="64"/>
                </a:lnTo>
                <a:lnTo>
                  <a:pt x="1061" y="73"/>
                </a:lnTo>
                <a:lnTo>
                  <a:pt x="1152" y="36"/>
                </a:lnTo>
                <a:lnTo>
                  <a:pt x="1262" y="64"/>
                </a:lnTo>
                <a:lnTo>
                  <a:pt x="1426" y="100"/>
                </a:lnTo>
              </a:path>
            </a:pathLst>
          </a:custGeom>
          <a:solidFill>
            <a:schemeClr val="accent1"/>
          </a:solidFill>
          <a:ln w="9525">
            <a:noFill/>
            <a:round/>
            <a:headEnd/>
            <a:tailEnd/>
          </a:ln>
        </p:spPr>
        <p:txBody>
          <a:bodyPr/>
          <a:lstStyle/>
          <a:p>
            <a:endParaRPr lang="en-US"/>
          </a:p>
        </p:txBody>
      </p:sp>
      <p:grpSp>
        <p:nvGrpSpPr>
          <p:cNvPr id="54279" name="Group 6"/>
          <p:cNvGrpSpPr>
            <a:grpSpLocks/>
          </p:cNvGrpSpPr>
          <p:nvPr/>
        </p:nvGrpSpPr>
        <p:grpSpPr bwMode="auto">
          <a:xfrm rot="1590330">
            <a:off x="6704013" y="3684588"/>
            <a:ext cx="1393825" cy="1365250"/>
            <a:chOff x="2213" y="2234"/>
            <a:chExt cx="878" cy="860"/>
          </a:xfrm>
        </p:grpSpPr>
        <p:sp>
          <p:nvSpPr>
            <p:cNvPr id="54313" name="Oval 7"/>
            <p:cNvSpPr>
              <a:spLocks noChangeArrowheads="1"/>
            </p:cNvSpPr>
            <p:nvPr/>
          </p:nvSpPr>
          <p:spPr bwMode="auto">
            <a:xfrm>
              <a:off x="2213" y="2234"/>
              <a:ext cx="878" cy="860"/>
            </a:xfrm>
            <a:prstGeom prst="ellipse">
              <a:avLst/>
            </a:prstGeom>
            <a:solidFill>
              <a:srgbClr val="FFFF00"/>
            </a:solidFill>
            <a:ln w="9525">
              <a:solidFill>
                <a:schemeClr val="tx1"/>
              </a:solidFill>
              <a:round/>
              <a:headEnd/>
              <a:tailEnd/>
            </a:ln>
          </p:spPr>
          <p:txBody>
            <a:bodyPr wrap="none" anchor="ctr"/>
            <a:lstStyle/>
            <a:p>
              <a:endParaRPr lang="en-US"/>
            </a:p>
          </p:txBody>
        </p:sp>
        <p:sp>
          <p:nvSpPr>
            <p:cNvPr id="54314" name="Arc 8"/>
            <p:cNvSpPr>
              <a:spLocks/>
            </p:cNvSpPr>
            <p:nvPr/>
          </p:nvSpPr>
          <p:spPr bwMode="auto">
            <a:xfrm>
              <a:off x="2597" y="2235"/>
              <a:ext cx="417"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5" name="Arc 9"/>
            <p:cNvSpPr>
              <a:spLocks/>
            </p:cNvSpPr>
            <p:nvPr/>
          </p:nvSpPr>
          <p:spPr bwMode="auto">
            <a:xfrm>
              <a:off x="2601" y="2235"/>
              <a:ext cx="215"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sp>
          <p:nvSpPr>
            <p:cNvPr id="54316" name="Arc 10"/>
            <p:cNvSpPr>
              <a:spLocks/>
            </p:cNvSpPr>
            <p:nvPr/>
          </p:nvSpPr>
          <p:spPr bwMode="auto">
            <a:xfrm flipH="1">
              <a:off x="2331" y="2235"/>
              <a:ext cx="316"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6600"/>
            </a:solidFill>
            <a:ln w="9525">
              <a:solidFill>
                <a:schemeClr val="tx1"/>
              </a:solidFill>
              <a:round/>
              <a:headEnd/>
              <a:tailEnd/>
            </a:ln>
          </p:spPr>
          <p:txBody>
            <a:bodyPr wrap="none" anchor="ctr"/>
            <a:lstStyle/>
            <a:p>
              <a:endParaRPr lang="en-US"/>
            </a:p>
          </p:txBody>
        </p:sp>
        <p:sp>
          <p:nvSpPr>
            <p:cNvPr id="54317" name="Arc 11"/>
            <p:cNvSpPr>
              <a:spLocks/>
            </p:cNvSpPr>
            <p:nvPr/>
          </p:nvSpPr>
          <p:spPr bwMode="auto">
            <a:xfrm flipH="1">
              <a:off x="2556" y="2235"/>
              <a:ext cx="88" cy="859"/>
            </a:xfrm>
            <a:custGeom>
              <a:avLst/>
              <a:gdLst>
                <a:gd name="T0" fmla="*/ 0 w 23580"/>
                <a:gd name="T1" fmla="*/ 0 h 43200"/>
                <a:gd name="T2" fmla="*/ 0 w 23580"/>
                <a:gd name="T3" fmla="*/ 0 h 43200"/>
                <a:gd name="T4" fmla="*/ 0 w 23580"/>
                <a:gd name="T5" fmla="*/ 0 h 43200"/>
                <a:gd name="T6" fmla="*/ 0 60000 65536"/>
                <a:gd name="T7" fmla="*/ 0 60000 65536"/>
                <a:gd name="T8" fmla="*/ 0 60000 65536"/>
                <a:gd name="T9" fmla="*/ 0 w 23580"/>
                <a:gd name="T10" fmla="*/ 0 h 43200"/>
                <a:gd name="T11" fmla="*/ 23580 w 23580"/>
                <a:gd name="T12" fmla="*/ 43200 h 43200"/>
              </a:gdLst>
              <a:ahLst/>
              <a:cxnLst>
                <a:cxn ang="T6">
                  <a:pos x="T0" y="T1"/>
                </a:cxn>
                <a:cxn ang="T7">
                  <a:pos x="T2" y="T3"/>
                </a:cxn>
                <a:cxn ang="T8">
                  <a:pos x="T4" y="T5"/>
                </a:cxn>
              </a:cxnLst>
              <a:rect l="T9" t="T10" r="T11" b="T12"/>
              <a:pathLst>
                <a:path w="23580" h="43200" fill="none" extrusionOk="0">
                  <a:moveTo>
                    <a:pt x="1979" y="0"/>
                  </a:moveTo>
                  <a:cubicBezTo>
                    <a:pt x="13909" y="0"/>
                    <a:pt x="23580" y="9670"/>
                    <a:pt x="23580" y="21600"/>
                  </a:cubicBezTo>
                  <a:cubicBezTo>
                    <a:pt x="23580" y="33529"/>
                    <a:pt x="13909" y="43200"/>
                    <a:pt x="1980" y="43200"/>
                  </a:cubicBezTo>
                  <a:cubicBezTo>
                    <a:pt x="1318" y="43200"/>
                    <a:pt x="658" y="43169"/>
                    <a:pt x="-1" y="43109"/>
                  </a:cubicBezTo>
                </a:path>
                <a:path w="23580" h="43200" stroke="0" extrusionOk="0">
                  <a:moveTo>
                    <a:pt x="1979" y="0"/>
                  </a:moveTo>
                  <a:cubicBezTo>
                    <a:pt x="13909" y="0"/>
                    <a:pt x="23580" y="9670"/>
                    <a:pt x="23580" y="21600"/>
                  </a:cubicBezTo>
                  <a:cubicBezTo>
                    <a:pt x="23580" y="33529"/>
                    <a:pt x="13909" y="43200"/>
                    <a:pt x="1980" y="43200"/>
                  </a:cubicBezTo>
                  <a:cubicBezTo>
                    <a:pt x="1318" y="43200"/>
                    <a:pt x="658" y="43169"/>
                    <a:pt x="-1" y="43109"/>
                  </a:cubicBezTo>
                  <a:lnTo>
                    <a:pt x="1980" y="21600"/>
                  </a:lnTo>
                  <a:close/>
                </a:path>
              </a:pathLst>
            </a:custGeom>
            <a:solidFill>
              <a:srgbClr val="FFFF00"/>
            </a:solidFill>
            <a:ln w="9525">
              <a:solidFill>
                <a:schemeClr val="tx1"/>
              </a:solidFill>
              <a:round/>
              <a:headEnd/>
              <a:tailEnd/>
            </a:ln>
          </p:spPr>
          <p:txBody>
            <a:bodyPr wrap="none" anchor="ctr"/>
            <a:lstStyle/>
            <a:p>
              <a:endParaRPr lang="en-US"/>
            </a:p>
          </p:txBody>
        </p:sp>
      </p:grpSp>
      <p:sp>
        <p:nvSpPr>
          <p:cNvPr id="54280" name="Rectangle 12"/>
          <p:cNvSpPr>
            <a:spLocks noChangeArrowheads="1"/>
          </p:cNvSpPr>
          <p:nvPr/>
        </p:nvSpPr>
        <p:spPr bwMode="auto">
          <a:xfrm>
            <a:off x="6299200" y="4833938"/>
            <a:ext cx="2220913" cy="1771650"/>
          </a:xfrm>
          <a:prstGeom prst="rect">
            <a:avLst/>
          </a:prstGeom>
          <a:solidFill>
            <a:schemeClr val="accent1">
              <a:alpha val="61176"/>
            </a:schemeClr>
          </a:solidFill>
          <a:ln w="9525">
            <a:noFill/>
            <a:miter lim="800000"/>
            <a:headEnd/>
            <a:tailEnd/>
          </a:ln>
        </p:spPr>
        <p:txBody>
          <a:bodyPr wrap="none" anchor="ctr"/>
          <a:lstStyle/>
          <a:p>
            <a:endParaRPr lang="en-US"/>
          </a:p>
        </p:txBody>
      </p:sp>
      <p:sp>
        <p:nvSpPr>
          <p:cNvPr id="54281" name="Oval 13"/>
          <p:cNvSpPr>
            <a:spLocks noChangeArrowheads="1"/>
          </p:cNvSpPr>
          <p:nvPr/>
        </p:nvSpPr>
        <p:spPr bwMode="auto">
          <a:xfrm>
            <a:off x="7402513" y="4364038"/>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54282" name="Line 14"/>
          <p:cNvSpPr>
            <a:spLocks noChangeShapeType="1"/>
          </p:cNvSpPr>
          <p:nvPr/>
        </p:nvSpPr>
        <p:spPr bwMode="auto">
          <a:xfrm>
            <a:off x="7450138" y="4437063"/>
            <a:ext cx="1587" cy="376237"/>
          </a:xfrm>
          <a:prstGeom prst="line">
            <a:avLst/>
          </a:prstGeom>
          <a:noFill/>
          <a:ln w="25400">
            <a:solidFill>
              <a:srgbClr val="3366FF"/>
            </a:solidFill>
            <a:round/>
            <a:headEnd/>
            <a:tailEnd type="triangle" w="med" len="med"/>
          </a:ln>
        </p:spPr>
        <p:txBody>
          <a:bodyPr/>
          <a:lstStyle/>
          <a:p>
            <a:endParaRPr lang="en-US"/>
          </a:p>
        </p:txBody>
      </p:sp>
      <p:sp>
        <p:nvSpPr>
          <p:cNvPr id="54283" name="Text Box 15"/>
          <p:cNvSpPr txBox="1">
            <a:spLocks noChangeArrowheads="1"/>
          </p:cNvSpPr>
          <p:nvPr/>
        </p:nvSpPr>
        <p:spPr bwMode="auto">
          <a:xfrm>
            <a:off x="7494588" y="4530725"/>
            <a:ext cx="407987" cy="366713"/>
          </a:xfrm>
          <a:prstGeom prst="rect">
            <a:avLst/>
          </a:prstGeom>
          <a:noFill/>
          <a:ln w="9525">
            <a:noFill/>
            <a:miter lim="800000"/>
            <a:headEnd/>
            <a:tailEnd/>
          </a:ln>
        </p:spPr>
        <p:txBody>
          <a:bodyPr>
            <a:spAutoFit/>
          </a:bodyPr>
          <a:lstStyle/>
          <a:p>
            <a:r>
              <a:rPr lang="en-US" b="1"/>
              <a:t>F</a:t>
            </a:r>
            <a:r>
              <a:rPr lang="en-US" i="1" baseline="-25000"/>
              <a:t>g</a:t>
            </a:r>
          </a:p>
        </p:txBody>
      </p:sp>
      <p:sp>
        <p:nvSpPr>
          <p:cNvPr id="54284" name="Text Box 16"/>
          <p:cNvSpPr txBox="1">
            <a:spLocks noChangeArrowheads="1"/>
          </p:cNvSpPr>
          <p:nvPr/>
        </p:nvSpPr>
        <p:spPr bwMode="auto">
          <a:xfrm>
            <a:off x="7488238" y="3908425"/>
            <a:ext cx="407987" cy="366713"/>
          </a:xfrm>
          <a:prstGeom prst="rect">
            <a:avLst/>
          </a:prstGeom>
          <a:noFill/>
          <a:ln w="9525">
            <a:noFill/>
            <a:miter lim="800000"/>
            <a:headEnd/>
            <a:tailEnd/>
          </a:ln>
        </p:spPr>
        <p:txBody>
          <a:bodyPr>
            <a:spAutoFit/>
          </a:bodyPr>
          <a:lstStyle/>
          <a:p>
            <a:r>
              <a:rPr lang="en-US" b="1"/>
              <a:t>B</a:t>
            </a:r>
            <a:endParaRPr lang="en-US" b="1" baseline="-25000"/>
          </a:p>
        </p:txBody>
      </p:sp>
      <p:sp>
        <p:nvSpPr>
          <p:cNvPr id="54285" name="Line 17"/>
          <p:cNvSpPr>
            <a:spLocks noChangeShapeType="1"/>
          </p:cNvSpPr>
          <p:nvPr/>
        </p:nvSpPr>
        <p:spPr bwMode="auto">
          <a:xfrm flipH="1" flipV="1">
            <a:off x="7442200" y="4017963"/>
            <a:ext cx="7938" cy="376237"/>
          </a:xfrm>
          <a:prstGeom prst="line">
            <a:avLst/>
          </a:prstGeom>
          <a:noFill/>
          <a:ln w="25400">
            <a:solidFill>
              <a:srgbClr val="3366FF"/>
            </a:solidFill>
            <a:round/>
            <a:headEnd/>
            <a:tailEnd type="triangle" w="med" len="med"/>
          </a:ln>
        </p:spPr>
        <p:txBody>
          <a:bodyPr/>
          <a:lstStyle/>
          <a:p>
            <a:endParaRPr lang="en-US"/>
          </a:p>
        </p:txBody>
      </p:sp>
      <p:sp>
        <p:nvSpPr>
          <p:cNvPr id="54286" name="Line 18"/>
          <p:cNvSpPr>
            <a:spLocks noChangeShapeType="1"/>
          </p:cNvSpPr>
          <p:nvPr/>
        </p:nvSpPr>
        <p:spPr bwMode="auto">
          <a:xfrm flipH="1">
            <a:off x="6678613" y="5083175"/>
            <a:ext cx="647700" cy="0"/>
          </a:xfrm>
          <a:prstGeom prst="line">
            <a:avLst/>
          </a:prstGeom>
          <a:noFill/>
          <a:ln w="9525">
            <a:solidFill>
              <a:schemeClr val="tx1"/>
            </a:solidFill>
            <a:round/>
            <a:headEnd/>
            <a:tailEnd/>
          </a:ln>
        </p:spPr>
        <p:txBody>
          <a:bodyPr/>
          <a:lstStyle/>
          <a:p>
            <a:endParaRPr lang="en-US"/>
          </a:p>
        </p:txBody>
      </p:sp>
      <p:sp>
        <p:nvSpPr>
          <p:cNvPr id="54287" name="Line 19"/>
          <p:cNvSpPr>
            <a:spLocks noChangeShapeType="1"/>
          </p:cNvSpPr>
          <p:nvPr/>
        </p:nvSpPr>
        <p:spPr bwMode="auto">
          <a:xfrm>
            <a:off x="6734175" y="4811713"/>
            <a:ext cx="0" cy="279400"/>
          </a:xfrm>
          <a:prstGeom prst="line">
            <a:avLst/>
          </a:prstGeom>
          <a:noFill/>
          <a:ln w="9525">
            <a:solidFill>
              <a:schemeClr val="tx1"/>
            </a:solidFill>
            <a:round/>
            <a:headEnd type="triangle" w="med" len="med"/>
            <a:tailEnd type="triangle" w="med" len="med"/>
          </a:ln>
        </p:spPr>
        <p:txBody>
          <a:bodyPr/>
          <a:lstStyle/>
          <a:p>
            <a:endParaRPr lang="en-US"/>
          </a:p>
        </p:txBody>
      </p:sp>
      <p:sp>
        <p:nvSpPr>
          <p:cNvPr id="54288" name="Text Box 20"/>
          <p:cNvSpPr txBox="1">
            <a:spLocks noChangeArrowheads="1"/>
          </p:cNvSpPr>
          <p:nvPr/>
        </p:nvSpPr>
        <p:spPr bwMode="auto">
          <a:xfrm>
            <a:off x="6340475" y="4837113"/>
            <a:ext cx="282575" cy="304800"/>
          </a:xfrm>
          <a:prstGeom prst="rect">
            <a:avLst/>
          </a:prstGeom>
          <a:noFill/>
          <a:ln w="9525">
            <a:noFill/>
            <a:miter lim="800000"/>
            <a:headEnd/>
            <a:tailEnd/>
          </a:ln>
        </p:spPr>
        <p:txBody>
          <a:bodyPr wrap="none">
            <a:spAutoFit/>
          </a:bodyPr>
          <a:lstStyle/>
          <a:p>
            <a:r>
              <a:rPr lang="en-US" sz="1400" i="1"/>
              <a:t>h</a:t>
            </a:r>
          </a:p>
        </p:txBody>
      </p:sp>
      <p:sp>
        <p:nvSpPr>
          <p:cNvPr id="54289" name="Line 21"/>
          <p:cNvSpPr>
            <a:spLocks noChangeShapeType="1"/>
          </p:cNvSpPr>
          <p:nvPr/>
        </p:nvSpPr>
        <p:spPr bwMode="auto">
          <a:xfrm flipH="1">
            <a:off x="6659563" y="4816475"/>
            <a:ext cx="182562" cy="0"/>
          </a:xfrm>
          <a:prstGeom prst="line">
            <a:avLst/>
          </a:prstGeom>
          <a:noFill/>
          <a:ln w="9525">
            <a:solidFill>
              <a:schemeClr val="tx1"/>
            </a:solidFill>
            <a:round/>
            <a:headEnd/>
            <a:tailEnd/>
          </a:ln>
        </p:spPr>
        <p:txBody>
          <a:bodyPr/>
          <a:lstStyle/>
          <a:p>
            <a:endParaRPr lang="en-US"/>
          </a:p>
        </p:txBody>
      </p:sp>
      <p:sp>
        <p:nvSpPr>
          <p:cNvPr id="54290" name="Line 22"/>
          <p:cNvSpPr>
            <a:spLocks noChangeShapeType="1"/>
          </p:cNvSpPr>
          <p:nvPr/>
        </p:nvSpPr>
        <p:spPr bwMode="auto">
          <a:xfrm>
            <a:off x="3235325" y="3698875"/>
            <a:ext cx="0" cy="973138"/>
          </a:xfrm>
          <a:prstGeom prst="line">
            <a:avLst/>
          </a:prstGeom>
          <a:noFill/>
          <a:ln w="9525">
            <a:solidFill>
              <a:schemeClr val="tx1"/>
            </a:solidFill>
            <a:round/>
            <a:headEnd/>
            <a:tailEnd/>
          </a:ln>
        </p:spPr>
        <p:txBody>
          <a:bodyPr/>
          <a:lstStyle/>
          <a:p>
            <a:endParaRPr lang="en-US"/>
          </a:p>
        </p:txBody>
      </p:sp>
      <p:sp>
        <p:nvSpPr>
          <p:cNvPr id="54291" name="Line 23"/>
          <p:cNvSpPr>
            <a:spLocks noChangeShapeType="1"/>
          </p:cNvSpPr>
          <p:nvPr/>
        </p:nvSpPr>
        <p:spPr bwMode="auto">
          <a:xfrm>
            <a:off x="3033713" y="4564063"/>
            <a:ext cx="2584450" cy="0"/>
          </a:xfrm>
          <a:prstGeom prst="line">
            <a:avLst/>
          </a:prstGeom>
          <a:noFill/>
          <a:ln w="9525">
            <a:solidFill>
              <a:schemeClr val="tx1"/>
            </a:solidFill>
            <a:round/>
            <a:headEnd/>
            <a:tailEnd/>
          </a:ln>
        </p:spPr>
        <p:txBody>
          <a:bodyPr/>
          <a:lstStyle/>
          <a:p>
            <a:endParaRPr lang="en-US"/>
          </a:p>
        </p:txBody>
      </p:sp>
      <p:sp>
        <p:nvSpPr>
          <p:cNvPr id="54292" name="Text Box 24"/>
          <p:cNvSpPr txBox="1">
            <a:spLocks noChangeArrowheads="1"/>
          </p:cNvSpPr>
          <p:nvPr/>
        </p:nvSpPr>
        <p:spPr bwMode="auto">
          <a:xfrm>
            <a:off x="5091113" y="4686300"/>
            <a:ext cx="311150" cy="366713"/>
          </a:xfrm>
          <a:prstGeom prst="rect">
            <a:avLst/>
          </a:prstGeom>
          <a:noFill/>
          <a:ln w="9525">
            <a:noFill/>
            <a:miter lim="800000"/>
            <a:headEnd/>
            <a:tailEnd/>
          </a:ln>
        </p:spPr>
        <p:txBody>
          <a:bodyPr wrap="none">
            <a:spAutoFit/>
          </a:bodyPr>
          <a:lstStyle/>
          <a:p>
            <a:r>
              <a:rPr lang="en-US"/>
              <a:t>h</a:t>
            </a:r>
          </a:p>
        </p:txBody>
      </p:sp>
      <p:sp>
        <p:nvSpPr>
          <p:cNvPr id="54293" name="Line 25"/>
          <p:cNvSpPr>
            <a:spLocks noChangeShapeType="1"/>
          </p:cNvSpPr>
          <p:nvPr/>
        </p:nvSpPr>
        <p:spPr bwMode="auto">
          <a:xfrm>
            <a:off x="3194050" y="4367213"/>
            <a:ext cx="69850" cy="0"/>
          </a:xfrm>
          <a:prstGeom prst="line">
            <a:avLst/>
          </a:prstGeom>
          <a:noFill/>
          <a:ln w="9525">
            <a:solidFill>
              <a:schemeClr val="tx1"/>
            </a:solidFill>
            <a:round/>
            <a:headEnd/>
            <a:tailEnd/>
          </a:ln>
        </p:spPr>
        <p:txBody>
          <a:bodyPr/>
          <a:lstStyle/>
          <a:p>
            <a:endParaRPr lang="en-US"/>
          </a:p>
        </p:txBody>
      </p:sp>
      <p:sp>
        <p:nvSpPr>
          <p:cNvPr id="54294" name="Line 26"/>
          <p:cNvSpPr>
            <a:spLocks noChangeShapeType="1"/>
          </p:cNvSpPr>
          <p:nvPr/>
        </p:nvSpPr>
        <p:spPr bwMode="auto">
          <a:xfrm>
            <a:off x="4008438" y="4052888"/>
            <a:ext cx="1387475" cy="0"/>
          </a:xfrm>
          <a:prstGeom prst="line">
            <a:avLst/>
          </a:prstGeom>
          <a:noFill/>
          <a:ln w="9525">
            <a:solidFill>
              <a:schemeClr val="tx1"/>
            </a:solidFill>
            <a:round/>
            <a:headEnd/>
            <a:tailEnd/>
          </a:ln>
        </p:spPr>
        <p:txBody>
          <a:bodyPr/>
          <a:lstStyle/>
          <a:p>
            <a:endParaRPr lang="en-US"/>
          </a:p>
        </p:txBody>
      </p:sp>
      <p:sp>
        <p:nvSpPr>
          <p:cNvPr id="54295" name="Text Box 27"/>
          <p:cNvSpPr txBox="1">
            <a:spLocks noChangeArrowheads="1"/>
          </p:cNvSpPr>
          <p:nvPr/>
        </p:nvSpPr>
        <p:spPr bwMode="auto">
          <a:xfrm>
            <a:off x="2963863" y="3516313"/>
            <a:ext cx="323850" cy="366712"/>
          </a:xfrm>
          <a:prstGeom prst="rect">
            <a:avLst/>
          </a:prstGeom>
          <a:noFill/>
          <a:ln w="9525">
            <a:noFill/>
            <a:miter lim="800000"/>
            <a:headEnd/>
            <a:tailEnd/>
          </a:ln>
        </p:spPr>
        <p:txBody>
          <a:bodyPr wrap="none">
            <a:spAutoFit/>
          </a:bodyPr>
          <a:lstStyle/>
          <a:p>
            <a:r>
              <a:rPr lang="en-US"/>
              <a:t>F</a:t>
            </a:r>
          </a:p>
        </p:txBody>
      </p:sp>
      <p:grpSp>
        <p:nvGrpSpPr>
          <p:cNvPr id="54296" name="Group 28"/>
          <p:cNvGrpSpPr>
            <a:grpSpLocks/>
          </p:cNvGrpSpPr>
          <p:nvPr/>
        </p:nvGrpSpPr>
        <p:grpSpPr bwMode="auto">
          <a:xfrm>
            <a:off x="3228975" y="4049713"/>
            <a:ext cx="769938" cy="322262"/>
            <a:chOff x="562" y="2038"/>
            <a:chExt cx="1513" cy="719"/>
          </a:xfrm>
        </p:grpSpPr>
        <p:sp>
          <p:nvSpPr>
            <p:cNvPr id="54311" name="Freeform 29"/>
            <p:cNvSpPr>
              <a:spLocks/>
            </p:cNvSpPr>
            <p:nvPr/>
          </p:nvSpPr>
          <p:spPr bwMode="auto">
            <a:xfrm>
              <a:off x="1252" y="2038"/>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sp>
          <p:nvSpPr>
            <p:cNvPr id="54312" name="Freeform 30"/>
            <p:cNvSpPr>
              <a:spLocks/>
            </p:cNvSpPr>
            <p:nvPr/>
          </p:nvSpPr>
          <p:spPr bwMode="auto">
            <a:xfrm flipH="1" flipV="1">
              <a:off x="562" y="2354"/>
              <a:ext cx="823" cy="403"/>
            </a:xfrm>
            <a:custGeom>
              <a:avLst/>
              <a:gdLst>
                <a:gd name="T0" fmla="*/ 0 w 823"/>
                <a:gd name="T1" fmla="*/ 403 h 403"/>
                <a:gd name="T2" fmla="*/ 549 w 823"/>
                <a:gd name="T3" fmla="*/ 65 h 403"/>
                <a:gd name="T4" fmla="*/ 823 w 823"/>
                <a:gd name="T5" fmla="*/ 10 h 403"/>
                <a:gd name="T6" fmla="*/ 0 60000 65536"/>
                <a:gd name="T7" fmla="*/ 0 60000 65536"/>
                <a:gd name="T8" fmla="*/ 0 60000 65536"/>
                <a:gd name="T9" fmla="*/ 0 w 823"/>
                <a:gd name="T10" fmla="*/ 0 h 403"/>
                <a:gd name="T11" fmla="*/ 823 w 823"/>
                <a:gd name="T12" fmla="*/ 403 h 403"/>
              </a:gdLst>
              <a:ahLst/>
              <a:cxnLst>
                <a:cxn ang="T6">
                  <a:pos x="T0" y="T1"/>
                </a:cxn>
                <a:cxn ang="T7">
                  <a:pos x="T2" y="T3"/>
                </a:cxn>
                <a:cxn ang="T8">
                  <a:pos x="T4" y="T5"/>
                </a:cxn>
              </a:cxnLst>
              <a:rect l="T9" t="T10" r="T11" b="T12"/>
              <a:pathLst>
                <a:path w="823" h="403">
                  <a:moveTo>
                    <a:pt x="0" y="403"/>
                  </a:moveTo>
                  <a:cubicBezTo>
                    <a:pt x="206" y="266"/>
                    <a:pt x="412" y="130"/>
                    <a:pt x="549" y="65"/>
                  </a:cubicBezTo>
                  <a:cubicBezTo>
                    <a:pt x="686" y="0"/>
                    <a:pt x="754" y="5"/>
                    <a:pt x="823" y="10"/>
                  </a:cubicBezTo>
                </a:path>
              </a:pathLst>
            </a:custGeom>
            <a:noFill/>
            <a:ln w="9525">
              <a:solidFill>
                <a:schemeClr val="tx1"/>
              </a:solidFill>
              <a:round/>
              <a:headEnd/>
              <a:tailEnd/>
            </a:ln>
          </p:spPr>
          <p:txBody>
            <a:bodyPr/>
            <a:lstStyle/>
            <a:p>
              <a:endParaRPr lang="en-US"/>
            </a:p>
          </p:txBody>
        </p:sp>
      </p:grpSp>
      <p:sp>
        <p:nvSpPr>
          <p:cNvPr id="54297" name="Line 31"/>
          <p:cNvSpPr>
            <a:spLocks noChangeShapeType="1"/>
          </p:cNvSpPr>
          <p:nvPr/>
        </p:nvSpPr>
        <p:spPr bwMode="auto">
          <a:xfrm>
            <a:off x="542925" y="3765550"/>
            <a:ext cx="0" cy="973138"/>
          </a:xfrm>
          <a:prstGeom prst="line">
            <a:avLst/>
          </a:prstGeom>
          <a:noFill/>
          <a:ln w="9525">
            <a:solidFill>
              <a:schemeClr val="tx1"/>
            </a:solidFill>
            <a:round/>
            <a:headEnd/>
            <a:tailEnd/>
          </a:ln>
        </p:spPr>
        <p:txBody>
          <a:bodyPr/>
          <a:lstStyle/>
          <a:p>
            <a:endParaRPr lang="en-US"/>
          </a:p>
        </p:txBody>
      </p:sp>
      <p:sp>
        <p:nvSpPr>
          <p:cNvPr id="54298" name="Line 32"/>
          <p:cNvSpPr>
            <a:spLocks noChangeShapeType="1"/>
          </p:cNvSpPr>
          <p:nvPr/>
        </p:nvSpPr>
        <p:spPr bwMode="auto">
          <a:xfrm>
            <a:off x="341313" y="4630738"/>
            <a:ext cx="2584450" cy="0"/>
          </a:xfrm>
          <a:prstGeom prst="line">
            <a:avLst/>
          </a:prstGeom>
          <a:noFill/>
          <a:ln w="9525">
            <a:solidFill>
              <a:schemeClr val="tx1"/>
            </a:solidFill>
            <a:round/>
            <a:headEnd/>
            <a:tailEnd/>
          </a:ln>
        </p:spPr>
        <p:txBody>
          <a:bodyPr/>
          <a:lstStyle/>
          <a:p>
            <a:endParaRPr lang="en-US"/>
          </a:p>
        </p:txBody>
      </p:sp>
      <p:sp>
        <p:nvSpPr>
          <p:cNvPr id="54299" name="Text Box 33"/>
          <p:cNvSpPr txBox="1">
            <a:spLocks noChangeArrowheads="1"/>
          </p:cNvSpPr>
          <p:nvPr/>
        </p:nvSpPr>
        <p:spPr bwMode="auto">
          <a:xfrm>
            <a:off x="2398713" y="4752975"/>
            <a:ext cx="311150" cy="366713"/>
          </a:xfrm>
          <a:prstGeom prst="rect">
            <a:avLst/>
          </a:prstGeom>
          <a:noFill/>
          <a:ln w="9525">
            <a:noFill/>
            <a:miter lim="800000"/>
            <a:headEnd/>
            <a:tailEnd/>
          </a:ln>
        </p:spPr>
        <p:txBody>
          <a:bodyPr wrap="none">
            <a:spAutoFit/>
          </a:bodyPr>
          <a:lstStyle/>
          <a:p>
            <a:r>
              <a:rPr lang="en-US"/>
              <a:t>h</a:t>
            </a:r>
          </a:p>
        </p:txBody>
      </p:sp>
      <p:sp>
        <p:nvSpPr>
          <p:cNvPr id="54300" name="Line 34"/>
          <p:cNvSpPr>
            <a:spLocks noChangeShapeType="1"/>
          </p:cNvSpPr>
          <p:nvPr/>
        </p:nvSpPr>
        <p:spPr bwMode="auto">
          <a:xfrm>
            <a:off x="501650" y="4433888"/>
            <a:ext cx="69850" cy="0"/>
          </a:xfrm>
          <a:prstGeom prst="line">
            <a:avLst/>
          </a:prstGeom>
          <a:noFill/>
          <a:ln w="9525">
            <a:solidFill>
              <a:schemeClr val="tx1"/>
            </a:solidFill>
            <a:round/>
            <a:headEnd/>
            <a:tailEnd/>
          </a:ln>
        </p:spPr>
        <p:txBody>
          <a:bodyPr/>
          <a:lstStyle/>
          <a:p>
            <a:endParaRPr lang="en-US"/>
          </a:p>
        </p:txBody>
      </p:sp>
      <p:sp>
        <p:nvSpPr>
          <p:cNvPr id="54301" name="Text Box 35"/>
          <p:cNvSpPr txBox="1">
            <a:spLocks noChangeArrowheads="1"/>
          </p:cNvSpPr>
          <p:nvPr/>
        </p:nvSpPr>
        <p:spPr bwMode="auto">
          <a:xfrm>
            <a:off x="271463" y="3582988"/>
            <a:ext cx="323850" cy="366712"/>
          </a:xfrm>
          <a:prstGeom prst="rect">
            <a:avLst/>
          </a:prstGeom>
          <a:noFill/>
          <a:ln w="9525">
            <a:noFill/>
            <a:miter lim="800000"/>
            <a:headEnd/>
            <a:tailEnd/>
          </a:ln>
        </p:spPr>
        <p:txBody>
          <a:bodyPr wrap="none">
            <a:spAutoFit/>
          </a:bodyPr>
          <a:lstStyle/>
          <a:p>
            <a:r>
              <a:rPr lang="en-US"/>
              <a:t>F</a:t>
            </a:r>
          </a:p>
        </p:txBody>
      </p:sp>
      <p:sp>
        <p:nvSpPr>
          <p:cNvPr id="54302" name="Line 36"/>
          <p:cNvSpPr>
            <a:spLocks noChangeShapeType="1"/>
          </p:cNvSpPr>
          <p:nvPr/>
        </p:nvSpPr>
        <p:spPr bwMode="auto">
          <a:xfrm>
            <a:off x="1727200" y="5276850"/>
            <a:ext cx="0" cy="973138"/>
          </a:xfrm>
          <a:prstGeom prst="line">
            <a:avLst/>
          </a:prstGeom>
          <a:noFill/>
          <a:ln w="9525">
            <a:solidFill>
              <a:schemeClr val="tx1"/>
            </a:solidFill>
            <a:round/>
            <a:headEnd/>
            <a:tailEnd/>
          </a:ln>
        </p:spPr>
        <p:txBody>
          <a:bodyPr/>
          <a:lstStyle/>
          <a:p>
            <a:endParaRPr lang="en-US"/>
          </a:p>
        </p:txBody>
      </p:sp>
      <p:sp>
        <p:nvSpPr>
          <p:cNvPr id="54303" name="Line 37"/>
          <p:cNvSpPr>
            <a:spLocks noChangeShapeType="1"/>
          </p:cNvSpPr>
          <p:nvPr/>
        </p:nvSpPr>
        <p:spPr bwMode="auto">
          <a:xfrm>
            <a:off x="1525588" y="6142038"/>
            <a:ext cx="2584450" cy="0"/>
          </a:xfrm>
          <a:prstGeom prst="line">
            <a:avLst/>
          </a:prstGeom>
          <a:noFill/>
          <a:ln w="9525">
            <a:solidFill>
              <a:schemeClr val="tx1"/>
            </a:solidFill>
            <a:round/>
            <a:headEnd/>
            <a:tailEnd/>
          </a:ln>
        </p:spPr>
        <p:txBody>
          <a:bodyPr/>
          <a:lstStyle/>
          <a:p>
            <a:endParaRPr lang="en-US"/>
          </a:p>
        </p:txBody>
      </p:sp>
      <p:sp>
        <p:nvSpPr>
          <p:cNvPr id="54304" name="Text Box 38"/>
          <p:cNvSpPr txBox="1">
            <a:spLocks noChangeArrowheads="1"/>
          </p:cNvSpPr>
          <p:nvPr/>
        </p:nvSpPr>
        <p:spPr bwMode="auto">
          <a:xfrm>
            <a:off x="3582988" y="6264275"/>
            <a:ext cx="311150" cy="366713"/>
          </a:xfrm>
          <a:prstGeom prst="rect">
            <a:avLst/>
          </a:prstGeom>
          <a:noFill/>
          <a:ln w="9525">
            <a:noFill/>
            <a:miter lim="800000"/>
            <a:headEnd/>
            <a:tailEnd/>
          </a:ln>
        </p:spPr>
        <p:txBody>
          <a:bodyPr wrap="none">
            <a:spAutoFit/>
          </a:bodyPr>
          <a:lstStyle/>
          <a:p>
            <a:r>
              <a:rPr lang="en-US"/>
              <a:t>h</a:t>
            </a:r>
          </a:p>
        </p:txBody>
      </p:sp>
      <p:sp>
        <p:nvSpPr>
          <p:cNvPr id="54305" name="Line 39"/>
          <p:cNvSpPr>
            <a:spLocks noChangeShapeType="1"/>
          </p:cNvSpPr>
          <p:nvPr/>
        </p:nvSpPr>
        <p:spPr bwMode="auto">
          <a:xfrm>
            <a:off x="1685925" y="5945188"/>
            <a:ext cx="2159000" cy="0"/>
          </a:xfrm>
          <a:prstGeom prst="line">
            <a:avLst/>
          </a:prstGeom>
          <a:noFill/>
          <a:ln w="9525">
            <a:solidFill>
              <a:schemeClr val="tx1"/>
            </a:solidFill>
            <a:round/>
            <a:headEnd/>
            <a:tailEnd/>
          </a:ln>
        </p:spPr>
        <p:txBody>
          <a:bodyPr/>
          <a:lstStyle/>
          <a:p>
            <a:endParaRPr lang="en-US"/>
          </a:p>
        </p:txBody>
      </p:sp>
      <p:sp>
        <p:nvSpPr>
          <p:cNvPr id="54306" name="Text Box 40"/>
          <p:cNvSpPr txBox="1">
            <a:spLocks noChangeArrowheads="1"/>
          </p:cNvSpPr>
          <p:nvPr/>
        </p:nvSpPr>
        <p:spPr bwMode="auto">
          <a:xfrm>
            <a:off x="1368425" y="5084763"/>
            <a:ext cx="323850" cy="366712"/>
          </a:xfrm>
          <a:prstGeom prst="rect">
            <a:avLst/>
          </a:prstGeom>
          <a:noFill/>
          <a:ln w="9525">
            <a:noFill/>
            <a:miter lim="800000"/>
            <a:headEnd/>
            <a:tailEnd/>
          </a:ln>
        </p:spPr>
        <p:txBody>
          <a:bodyPr wrap="none">
            <a:spAutoFit/>
          </a:bodyPr>
          <a:lstStyle/>
          <a:p>
            <a:r>
              <a:rPr lang="en-US"/>
              <a:t>F</a:t>
            </a:r>
          </a:p>
        </p:txBody>
      </p:sp>
      <p:sp>
        <p:nvSpPr>
          <p:cNvPr id="54307" name="Text Box 41"/>
          <p:cNvSpPr txBox="1">
            <a:spLocks noChangeArrowheads="1"/>
          </p:cNvSpPr>
          <p:nvPr/>
        </p:nvSpPr>
        <p:spPr bwMode="auto">
          <a:xfrm>
            <a:off x="1155700" y="3417888"/>
            <a:ext cx="336550" cy="366712"/>
          </a:xfrm>
          <a:prstGeom prst="rect">
            <a:avLst/>
          </a:prstGeom>
          <a:noFill/>
          <a:ln w="9525">
            <a:noFill/>
            <a:miter lim="800000"/>
            <a:headEnd/>
            <a:tailEnd/>
          </a:ln>
        </p:spPr>
        <p:txBody>
          <a:bodyPr wrap="none">
            <a:spAutoFit/>
          </a:bodyPr>
          <a:lstStyle/>
          <a:p>
            <a:r>
              <a:rPr lang="en-US">
                <a:solidFill>
                  <a:srgbClr val="3366FF"/>
                </a:solidFill>
              </a:rPr>
              <a:t>A</a:t>
            </a:r>
          </a:p>
        </p:txBody>
      </p:sp>
      <p:sp>
        <p:nvSpPr>
          <p:cNvPr id="54308" name="Text Box 42"/>
          <p:cNvSpPr txBox="1">
            <a:spLocks noChangeArrowheads="1"/>
          </p:cNvSpPr>
          <p:nvPr/>
        </p:nvSpPr>
        <p:spPr bwMode="auto">
          <a:xfrm>
            <a:off x="4152900" y="3513138"/>
            <a:ext cx="336550" cy="366712"/>
          </a:xfrm>
          <a:prstGeom prst="rect">
            <a:avLst/>
          </a:prstGeom>
          <a:noFill/>
          <a:ln w="9525">
            <a:noFill/>
            <a:miter lim="800000"/>
            <a:headEnd/>
            <a:tailEnd/>
          </a:ln>
        </p:spPr>
        <p:txBody>
          <a:bodyPr wrap="none">
            <a:spAutoFit/>
          </a:bodyPr>
          <a:lstStyle/>
          <a:p>
            <a:r>
              <a:rPr lang="en-US">
                <a:solidFill>
                  <a:srgbClr val="3366FF"/>
                </a:solidFill>
              </a:rPr>
              <a:t>B</a:t>
            </a:r>
          </a:p>
        </p:txBody>
      </p:sp>
      <p:sp>
        <p:nvSpPr>
          <p:cNvPr id="54309" name="Text Box 43"/>
          <p:cNvSpPr txBox="1">
            <a:spLocks noChangeArrowheads="1"/>
          </p:cNvSpPr>
          <p:nvPr/>
        </p:nvSpPr>
        <p:spPr bwMode="auto">
          <a:xfrm>
            <a:off x="2128838" y="5203825"/>
            <a:ext cx="349250" cy="366713"/>
          </a:xfrm>
          <a:prstGeom prst="rect">
            <a:avLst/>
          </a:prstGeom>
          <a:noFill/>
          <a:ln w="9525">
            <a:noFill/>
            <a:miter lim="800000"/>
            <a:headEnd/>
            <a:tailEnd/>
          </a:ln>
        </p:spPr>
        <p:txBody>
          <a:bodyPr wrap="none">
            <a:spAutoFit/>
          </a:bodyPr>
          <a:lstStyle/>
          <a:p>
            <a:r>
              <a:rPr lang="en-US">
                <a:solidFill>
                  <a:srgbClr val="3366FF"/>
                </a:solidFill>
              </a:rPr>
              <a:t>C</a:t>
            </a:r>
          </a:p>
        </p:txBody>
      </p:sp>
      <p:sp>
        <p:nvSpPr>
          <p:cNvPr id="54310" name="Line 44"/>
          <p:cNvSpPr>
            <a:spLocks noChangeShapeType="1"/>
          </p:cNvSpPr>
          <p:nvPr/>
        </p:nvSpPr>
        <p:spPr bwMode="auto">
          <a:xfrm flipV="1">
            <a:off x="550863" y="3919538"/>
            <a:ext cx="1901825" cy="508000"/>
          </a:xfrm>
          <a:prstGeom prst="line">
            <a:avLst/>
          </a:prstGeom>
          <a:noFill/>
          <a:ln w="9525">
            <a:solidFill>
              <a:schemeClr val="tx1"/>
            </a:solidFill>
            <a:round/>
            <a:headEnd/>
            <a:tailEnd/>
          </a:ln>
        </p:spPr>
        <p:txBody>
          <a:bodyPr/>
          <a:lstStyle/>
          <a:p>
            <a:endParaRPr lang="en-US"/>
          </a:p>
        </p:txBody>
      </p:sp>
    </p:spTree>
    <p:extLst>
      <p:ext uri="{BB962C8B-B14F-4D97-AF65-F5344CB8AC3E}">
        <p14:creationId xmlns:p14="http://schemas.microsoft.com/office/powerpoint/2010/main" val="883463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0D017EBE-1D93-40AE-8C01-976881712CAB}" type="slidenum">
              <a:rPr lang="en-US" smtClean="0"/>
              <a:pPr/>
              <a:t>47</a:t>
            </a:fld>
            <a:endParaRPr lang="en-US"/>
          </a:p>
        </p:txBody>
      </p:sp>
      <p:sp>
        <p:nvSpPr>
          <p:cNvPr id="55299" name="Rectangle 2"/>
          <p:cNvSpPr>
            <a:spLocks noGrp="1" noChangeArrowheads="1"/>
          </p:cNvSpPr>
          <p:nvPr>
            <p:ph type="title"/>
          </p:nvPr>
        </p:nvSpPr>
        <p:spPr/>
        <p:txBody>
          <a:bodyPr/>
          <a:lstStyle/>
          <a:p>
            <a:pPr eaLnBrk="1" hangingPunct="1"/>
            <a:r>
              <a:rPr lang="en-US"/>
              <a:t>Question 123.5.6</a:t>
            </a:r>
          </a:p>
        </p:txBody>
      </p:sp>
      <p:sp>
        <p:nvSpPr>
          <p:cNvPr id="55300" name="Rectangle 3"/>
          <p:cNvSpPr>
            <a:spLocks noGrp="1" noChangeArrowheads="1"/>
          </p:cNvSpPr>
          <p:nvPr>
            <p:ph type="body" idx="1"/>
          </p:nvPr>
        </p:nvSpPr>
        <p:spPr>
          <a:xfrm>
            <a:off x="457200" y="1600200"/>
            <a:ext cx="4838700" cy="4525963"/>
          </a:xfrm>
        </p:spPr>
        <p:txBody>
          <a:bodyPr/>
          <a:lstStyle/>
          <a:p>
            <a:pPr marL="533400" indent="-533400" eaLnBrk="1" hangingPunct="1">
              <a:lnSpc>
                <a:spcPct val="80000"/>
              </a:lnSpc>
              <a:buFontTx/>
              <a:buNone/>
            </a:pPr>
            <a:r>
              <a:rPr lang="en-US" sz="2400" dirty="0"/>
              <a:t>I have somehow suspended a block of concrete in a fluid. I replace the concrete with a block of Styrofoam with equal volume. The buoyant force on the Styrofoam is</a:t>
            </a:r>
          </a:p>
          <a:p>
            <a:pPr marL="533400" indent="-533400" eaLnBrk="1" hangingPunct="1">
              <a:lnSpc>
                <a:spcPct val="80000"/>
              </a:lnSpc>
            </a:pPr>
            <a:endParaRPr lang="en-US" sz="2400" dirty="0"/>
          </a:p>
          <a:p>
            <a:pPr marL="533400" indent="-533400" eaLnBrk="1" hangingPunct="1">
              <a:lnSpc>
                <a:spcPct val="80000"/>
              </a:lnSpc>
              <a:buFontTx/>
              <a:buAutoNum type="alphaLcParenR"/>
            </a:pPr>
            <a:r>
              <a:rPr lang="en-US" sz="2400" dirty="0"/>
              <a:t>Larger than</a:t>
            </a:r>
          </a:p>
          <a:p>
            <a:pPr marL="533400" indent="-533400" eaLnBrk="1" hangingPunct="1">
              <a:lnSpc>
                <a:spcPct val="80000"/>
              </a:lnSpc>
              <a:buFontTx/>
              <a:buAutoNum type="alphaLcParenR"/>
            </a:pPr>
            <a:r>
              <a:rPr lang="en-US" sz="2400" dirty="0"/>
              <a:t>smaller than</a:t>
            </a:r>
          </a:p>
          <a:p>
            <a:pPr marL="533400" indent="-533400" eaLnBrk="1" hangingPunct="1">
              <a:lnSpc>
                <a:spcPct val="80000"/>
              </a:lnSpc>
              <a:buFontTx/>
              <a:buAutoNum type="alphaLcParenR"/>
            </a:pPr>
            <a:r>
              <a:rPr lang="en-US" sz="2400" dirty="0"/>
              <a:t>the same as</a:t>
            </a:r>
          </a:p>
          <a:p>
            <a:pPr marL="533400" indent="-533400" eaLnBrk="1" hangingPunct="1">
              <a:lnSpc>
                <a:spcPct val="80000"/>
              </a:lnSpc>
              <a:buFontTx/>
              <a:buNone/>
            </a:pPr>
            <a:endParaRPr lang="en-US" sz="2400" dirty="0"/>
          </a:p>
          <a:p>
            <a:pPr marL="533400" indent="-533400" eaLnBrk="1" hangingPunct="1">
              <a:lnSpc>
                <a:spcPct val="80000"/>
              </a:lnSpc>
              <a:buFontTx/>
              <a:buNone/>
            </a:pPr>
            <a:r>
              <a:rPr lang="en-US" sz="2400" dirty="0"/>
              <a:t>The buoyant force on the concrete.</a:t>
            </a:r>
          </a:p>
          <a:p>
            <a:pPr marL="533400" indent="-533400" eaLnBrk="1" hangingPunct="1">
              <a:lnSpc>
                <a:spcPct val="80000"/>
              </a:lnSpc>
            </a:pPr>
            <a:endParaRPr lang="en-US" sz="2400" dirty="0"/>
          </a:p>
        </p:txBody>
      </p:sp>
      <p:grpSp>
        <p:nvGrpSpPr>
          <p:cNvPr id="55301" name="Group 5"/>
          <p:cNvGrpSpPr>
            <a:grpSpLocks/>
          </p:cNvGrpSpPr>
          <p:nvPr/>
        </p:nvGrpSpPr>
        <p:grpSpPr bwMode="auto">
          <a:xfrm>
            <a:off x="6400800" y="2408238"/>
            <a:ext cx="2247900" cy="2578100"/>
            <a:chOff x="3596" y="1780"/>
            <a:chExt cx="1416" cy="1624"/>
          </a:xfrm>
        </p:grpSpPr>
        <p:sp>
          <p:nvSpPr>
            <p:cNvPr id="55309" name="Freeform 6"/>
            <p:cNvSpPr>
              <a:spLocks/>
            </p:cNvSpPr>
            <p:nvPr/>
          </p:nvSpPr>
          <p:spPr bwMode="auto">
            <a:xfrm>
              <a:off x="3596"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sp>
          <p:nvSpPr>
            <p:cNvPr id="55310" name="Freeform 7"/>
            <p:cNvSpPr>
              <a:spLocks/>
            </p:cNvSpPr>
            <p:nvPr/>
          </p:nvSpPr>
          <p:spPr bwMode="auto">
            <a:xfrm flipH="1">
              <a:off x="4288" y="1780"/>
              <a:ext cx="724" cy="1624"/>
            </a:xfrm>
            <a:custGeom>
              <a:avLst/>
              <a:gdLst>
                <a:gd name="T0" fmla="*/ 92 w 724"/>
                <a:gd name="T1" fmla="*/ 0 h 1624"/>
                <a:gd name="T2" fmla="*/ 40 w 724"/>
                <a:gd name="T3" fmla="*/ 4 h 1624"/>
                <a:gd name="T4" fmla="*/ 0 w 724"/>
                <a:gd name="T5" fmla="*/ 28 h 1624"/>
                <a:gd name="T6" fmla="*/ 4 w 724"/>
                <a:gd name="T7" fmla="*/ 84 h 1624"/>
                <a:gd name="T8" fmla="*/ 36 w 724"/>
                <a:gd name="T9" fmla="*/ 128 h 1624"/>
                <a:gd name="T10" fmla="*/ 72 w 724"/>
                <a:gd name="T11" fmla="*/ 164 h 1624"/>
                <a:gd name="T12" fmla="*/ 96 w 724"/>
                <a:gd name="T13" fmla="*/ 260 h 1624"/>
                <a:gd name="T14" fmla="*/ 100 w 724"/>
                <a:gd name="T15" fmla="*/ 1432 h 1624"/>
                <a:gd name="T16" fmla="*/ 112 w 724"/>
                <a:gd name="T17" fmla="*/ 1512 h 1624"/>
                <a:gd name="T18" fmla="*/ 160 w 724"/>
                <a:gd name="T19" fmla="*/ 1568 h 1624"/>
                <a:gd name="T20" fmla="*/ 220 w 724"/>
                <a:gd name="T21" fmla="*/ 1616 h 1624"/>
                <a:gd name="T22" fmla="*/ 272 w 724"/>
                <a:gd name="T23" fmla="*/ 1624 h 1624"/>
                <a:gd name="T24" fmla="*/ 724 w 724"/>
                <a:gd name="T25" fmla="*/ 1624 h 16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4"/>
                <a:gd name="T40" fmla="*/ 0 h 1624"/>
                <a:gd name="T41" fmla="*/ 724 w 724"/>
                <a:gd name="T42" fmla="*/ 1624 h 16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4" h="1624">
                  <a:moveTo>
                    <a:pt x="92" y="0"/>
                  </a:moveTo>
                  <a:lnTo>
                    <a:pt x="40" y="4"/>
                  </a:lnTo>
                  <a:lnTo>
                    <a:pt x="0" y="28"/>
                  </a:lnTo>
                  <a:lnTo>
                    <a:pt x="4" y="84"/>
                  </a:lnTo>
                  <a:lnTo>
                    <a:pt x="36" y="128"/>
                  </a:lnTo>
                  <a:lnTo>
                    <a:pt x="72" y="164"/>
                  </a:lnTo>
                  <a:lnTo>
                    <a:pt x="96" y="260"/>
                  </a:lnTo>
                  <a:lnTo>
                    <a:pt x="100" y="1432"/>
                  </a:lnTo>
                  <a:lnTo>
                    <a:pt x="112" y="1512"/>
                  </a:lnTo>
                  <a:lnTo>
                    <a:pt x="160" y="1568"/>
                  </a:lnTo>
                  <a:lnTo>
                    <a:pt x="220" y="1616"/>
                  </a:lnTo>
                  <a:lnTo>
                    <a:pt x="272" y="1624"/>
                  </a:lnTo>
                  <a:lnTo>
                    <a:pt x="724" y="1624"/>
                  </a:lnTo>
                </a:path>
              </a:pathLst>
            </a:custGeom>
            <a:solidFill>
              <a:schemeClr val="bg1"/>
            </a:solidFill>
            <a:ln w="9525">
              <a:solidFill>
                <a:schemeClr val="tx1"/>
              </a:solidFill>
              <a:round/>
              <a:headEnd/>
              <a:tailEnd/>
            </a:ln>
          </p:spPr>
          <p:txBody>
            <a:bodyPr/>
            <a:lstStyle/>
            <a:p>
              <a:endParaRPr lang="en-US"/>
            </a:p>
          </p:txBody>
        </p:sp>
      </p:grpSp>
      <p:sp>
        <p:nvSpPr>
          <p:cNvPr id="55302" name="AutoShape 8"/>
          <p:cNvSpPr>
            <a:spLocks noChangeArrowheads="1"/>
          </p:cNvSpPr>
          <p:nvPr/>
        </p:nvSpPr>
        <p:spPr bwMode="auto">
          <a:xfrm>
            <a:off x="6661150" y="2884488"/>
            <a:ext cx="1727200" cy="2044700"/>
          </a:xfrm>
          <a:prstGeom prst="roundRect">
            <a:avLst>
              <a:gd name="adj" fmla="val 16667"/>
            </a:avLst>
          </a:prstGeom>
          <a:solidFill>
            <a:schemeClr val="accent1"/>
          </a:solidFill>
          <a:ln w="9525">
            <a:noFill/>
            <a:round/>
            <a:headEnd/>
            <a:tailEnd/>
          </a:ln>
        </p:spPr>
        <p:txBody>
          <a:bodyPr wrap="none" anchor="ctr"/>
          <a:lstStyle/>
          <a:p>
            <a:endParaRPr lang="en-US"/>
          </a:p>
        </p:txBody>
      </p:sp>
      <p:sp>
        <p:nvSpPr>
          <p:cNvPr id="55303" name="Rectangle 9"/>
          <p:cNvSpPr>
            <a:spLocks noChangeArrowheads="1"/>
          </p:cNvSpPr>
          <p:nvPr/>
        </p:nvSpPr>
        <p:spPr bwMode="auto">
          <a:xfrm>
            <a:off x="6661150" y="2852738"/>
            <a:ext cx="1708150" cy="393700"/>
          </a:xfrm>
          <a:prstGeom prst="rect">
            <a:avLst/>
          </a:prstGeom>
          <a:solidFill>
            <a:schemeClr val="accent1"/>
          </a:solidFill>
          <a:ln w="9525">
            <a:noFill/>
            <a:miter lim="800000"/>
            <a:headEnd/>
            <a:tailEnd/>
          </a:ln>
        </p:spPr>
        <p:txBody>
          <a:bodyPr wrap="none" anchor="ctr"/>
          <a:lstStyle/>
          <a:p>
            <a:endParaRPr lang="en-US"/>
          </a:p>
        </p:txBody>
      </p:sp>
      <p:sp>
        <p:nvSpPr>
          <p:cNvPr id="55304" name="Freeform 10"/>
          <p:cNvSpPr>
            <a:spLocks/>
          </p:cNvSpPr>
          <p:nvPr/>
        </p:nvSpPr>
        <p:spPr bwMode="auto">
          <a:xfrm>
            <a:off x="65341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5" name="Freeform 11"/>
          <p:cNvSpPr>
            <a:spLocks/>
          </p:cNvSpPr>
          <p:nvPr/>
        </p:nvSpPr>
        <p:spPr bwMode="auto">
          <a:xfrm flipH="1">
            <a:off x="7524750" y="2401888"/>
            <a:ext cx="990600" cy="2520950"/>
          </a:xfrm>
          <a:custGeom>
            <a:avLst/>
            <a:gdLst>
              <a:gd name="T0" fmla="*/ 0 w 624"/>
              <a:gd name="T1" fmla="*/ 0 h 1588"/>
              <a:gd name="T2" fmla="*/ 2147483647 w 624"/>
              <a:gd name="T3" fmla="*/ 2147483647 h 1588"/>
              <a:gd name="T4" fmla="*/ 2147483647 w 624"/>
              <a:gd name="T5" fmla="*/ 2147483647 h 1588"/>
              <a:gd name="T6" fmla="*/ 2147483647 w 624"/>
              <a:gd name="T7" fmla="*/ 2147483647 h 1588"/>
              <a:gd name="T8" fmla="*/ 2147483647 w 624"/>
              <a:gd name="T9" fmla="*/ 2147483647 h 1588"/>
              <a:gd name="T10" fmla="*/ 2147483647 w 624"/>
              <a:gd name="T11" fmla="*/ 2147483647 h 1588"/>
              <a:gd name="T12" fmla="*/ 2147483647 w 624"/>
              <a:gd name="T13" fmla="*/ 2147483647 h 1588"/>
              <a:gd name="T14" fmla="*/ 2147483647 w 624"/>
              <a:gd name="T15" fmla="*/ 2147483647 h 1588"/>
              <a:gd name="T16" fmla="*/ 2147483647 w 624"/>
              <a:gd name="T17" fmla="*/ 2147483647 h 1588"/>
              <a:gd name="T18" fmla="*/ 2147483647 w 624"/>
              <a:gd name="T19" fmla="*/ 2147483647 h 1588"/>
              <a:gd name="T20" fmla="*/ 2147483647 w 624"/>
              <a:gd name="T21" fmla="*/ 2147483647 h 1588"/>
              <a:gd name="T22" fmla="*/ 2147483647 w 624"/>
              <a:gd name="T23" fmla="*/ 2147483647 h 1588"/>
              <a:gd name="T24" fmla="*/ 2147483647 w 624"/>
              <a:gd name="T25" fmla="*/ 2147483647 h 1588"/>
              <a:gd name="T26" fmla="*/ 2147483647 w 624"/>
              <a:gd name="T27" fmla="*/ 2147483647 h 158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24"/>
              <a:gd name="T43" fmla="*/ 0 h 1588"/>
              <a:gd name="T44" fmla="*/ 624 w 624"/>
              <a:gd name="T45" fmla="*/ 1588 h 158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24" h="1588">
                <a:moveTo>
                  <a:pt x="0" y="0"/>
                </a:moveTo>
                <a:lnTo>
                  <a:pt x="44" y="16"/>
                </a:lnTo>
                <a:lnTo>
                  <a:pt x="64" y="56"/>
                </a:lnTo>
                <a:lnTo>
                  <a:pt x="80" y="144"/>
                </a:lnTo>
                <a:lnTo>
                  <a:pt x="88" y="420"/>
                </a:lnTo>
                <a:lnTo>
                  <a:pt x="84" y="884"/>
                </a:lnTo>
                <a:lnTo>
                  <a:pt x="84" y="1260"/>
                </a:lnTo>
                <a:lnTo>
                  <a:pt x="92" y="1444"/>
                </a:lnTo>
                <a:lnTo>
                  <a:pt x="124" y="1508"/>
                </a:lnTo>
                <a:lnTo>
                  <a:pt x="172" y="1552"/>
                </a:lnTo>
                <a:lnTo>
                  <a:pt x="244" y="1588"/>
                </a:lnTo>
                <a:lnTo>
                  <a:pt x="380" y="1588"/>
                </a:lnTo>
                <a:lnTo>
                  <a:pt x="584" y="1588"/>
                </a:lnTo>
                <a:lnTo>
                  <a:pt x="624" y="1588"/>
                </a:lnTo>
              </a:path>
            </a:pathLst>
          </a:custGeom>
          <a:noFill/>
          <a:ln w="9525">
            <a:solidFill>
              <a:schemeClr val="tx1"/>
            </a:solidFill>
            <a:round/>
            <a:headEnd/>
            <a:tailEnd/>
          </a:ln>
        </p:spPr>
        <p:txBody>
          <a:bodyPr/>
          <a:lstStyle/>
          <a:p>
            <a:endParaRPr lang="en-US"/>
          </a:p>
        </p:txBody>
      </p:sp>
      <p:sp>
        <p:nvSpPr>
          <p:cNvPr id="55306" name="Rectangle 12" descr="5%"/>
          <p:cNvSpPr>
            <a:spLocks noChangeArrowheads="1"/>
          </p:cNvSpPr>
          <p:nvPr/>
        </p:nvSpPr>
        <p:spPr bwMode="auto">
          <a:xfrm>
            <a:off x="5626100" y="3138488"/>
            <a:ext cx="603250" cy="1016000"/>
          </a:xfrm>
          <a:prstGeom prst="rect">
            <a:avLst/>
          </a:prstGeom>
          <a:pattFill prst="pct5">
            <a:fgClr>
              <a:srgbClr val="33CCCC"/>
            </a:fgClr>
            <a:bgClr>
              <a:schemeClr val="bg1"/>
            </a:bgClr>
          </a:pattFill>
          <a:ln w="9525">
            <a:solidFill>
              <a:schemeClr val="tx1"/>
            </a:solidFill>
            <a:miter lim="800000"/>
            <a:headEnd/>
            <a:tailEnd/>
          </a:ln>
        </p:spPr>
        <p:txBody>
          <a:bodyPr wrap="none" anchor="ctr"/>
          <a:lstStyle/>
          <a:p>
            <a:endParaRPr lang="en-US"/>
          </a:p>
        </p:txBody>
      </p:sp>
      <p:sp>
        <p:nvSpPr>
          <p:cNvPr id="55307" name="AutoShape 26"/>
          <p:cNvSpPr>
            <a:spLocks noChangeArrowheads="1"/>
          </p:cNvSpPr>
          <p:nvPr/>
        </p:nvSpPr>
        <p:spPr bwMode="auto">
          <a:xfrm>
            <a:off x="6272213" y="3451225"/>
            <a:ext cx="973137" cy="436563"/>
          </a:xfrm>
          <a:prstGeom prst="rightArrow">
            <a:avLst>
              <a:gd name="adj1" fmla="val 50000"/>
              <a:gd name="adj2" fmla="val 55727"/>
            </a:avLst>
          </a:prstGeom>
          <a:solidFill>
            <a:schemeClr val="accent1"/>
          </a:solidFill>
          <a:ln w="9525">
            <a:solidFill>
              <a:schemeClr val="tx1"/>
            </a:solidFill>
            <a:miter lim="800000"/>
            <a:headEnd/>
            <a:tailEnd/>
          </a:ln>
        </p:spPr>
        <p:txBody>
          <a:bodyPr wrap="none" anchor="ctr"/>
          <a:lstStyle/>
          <a:p>
            <a:endParaRPr lang="en-US"/>
          </a:p>
        </p:txBody>
      </p:sp>
      <p:sp>
        <p:nvSpPr>
          <p:cNvPr id="55308" name="Rectangle 27" descr="Granite"/>
          <p:cNvSpPr>
            <a:spLocks noChangeArrowheads="1"/>
          </p:cNvSpPr>
          <p:nvPr/>
        </p:nvSpPr>
        <p:spPr bwMode="auto">
          <a:xfrm>
            <a:off x="7264400" y="3138488"/>
            <a:ext cx="603250" cy="1016000"/>
          </a:xfrm>
          <a:prstGeom prst="rect">
            <a:avLst/>
          </a:prstGeom>
          <a:blipFill dpi="0" rotWithShape="1">
            <a:blip r:embed="rId2" cstate="print"/>
            <a:srcRect/>
            <a:tile tx="0" ty="0" sx="100000" sy="100000" flip="none" algn="tl"/>
          </a:blip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41884139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descr="File:Fish8005 - Flickr - NOAA Photo Libra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004" y="816429"/>
            <a:ext cx="8155884" cy="5505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6565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BBE119-8A08-27B4-DCA8-3A25DB4F4BEF}"/>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20518560-9F1A-AB4D-799B-2A8F0769F3D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58032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60D1A0-CFD3-E85A-FB85-0A60E62A6403}"/>
              </a:ext>
            </a:extLst>
          </p:cNvPr>
          <p:cNvSpPr>
            <a:spLocks noGrp="1"/>
          </p:cNvSpPr>
          <p:nvPr>
            <p:ph type="ctrTitle"/>
          </p:nvPr>
        </p:nvSpPr>
        <p:spPr/>
        <p:txBody>
          <a:bodyPr/>
          <a:lstStyle/>
          <a:p>
            <a:r>
              <a:rPr lang="en-US" dirty="0"/>
              <a:t>Misplaced Slides</a:t>
            </a:r>
          </a:p>
        </p:txBody>
      </p:sp>
      <p:sp>
        <p:nvSpPr>
          <p:cNvPr id="5" name="Subtitle 4">
            <a:extLst>
              <a:ext uri="{FF2B5EF4-FFF2-40B4-BE49-F238E27FC236}">
                <a16:creationId xmlns:a16="http://schemas.microsoft.com/office/drawing/2014/main" id="{CFB6E71B-5B88-09A2-AEA7-FC260E37525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50182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123.10.1</a:t>
            </a:r>
          </a:p>
        </p:txBody>
      </p:sp>
      <p:sp>
        <p:nvSpPr>
          <p:cNvPr id="3" name="Content Placeholder 2"/>
          <p:cNvSpPr>
            <a:spLocks noGrp="1"/>
          </p:cNvSpPr>
          <p:nvPr>
            <p:ph idx="1"/>
          </p:nvPr>
        </p:nvSpPr>
        <p:spPr/>
        <p:txBody>
          <a:bodyPr/>
          <a:lstStyle/>
          <a:p>
            <a:pPr>
              <a:buNone/>
            </a:pPr>
            <a:r>
              <a:rPr lang="en-US" dirty="0"/>
              <a:t>In the work energy theorem, </a:t>
            </a:r>
            <a:r>
              <a:rPr lang="en-US" dirty="0">
                <a:sym typeface="Symbol"/>
              </a:rPr>
              <a:t>K = ?</a:t>
            </a:r>
          </a:p>
          <a:p>
            <a:pPr>
              <a:buNone/>
            </a:pPr>
            <a:endParaRPr lang="en-US" dirty="0">
              <a:sym typeface="Symbol"/>
            </a:endParaRPr>
          </a:p>
          <a:p>
            <a:pPr marL="514350" indent="-514350">
              <a:buFont typeface="+mj-lt"/>
              <a:buAutoNum type="alphaLcParenR"/>
            </a:pPr>
            <a:r>
              <a:rPr lang="en-US" dirty="0">
                <a:sym typeface="Symbol"/>
              </a:rPr>
              <a:t>W</a:t>
            </a:r>
          </a:p>
          <a:p>
            <a:pPr marL="514350" indent="-514350">
              <a:buFont typeface="+mj-lt"/>
              <a:buAutoNum type="alphaLcParenR"/>
            </a:pPr>
            <a:r>
              <a:rPr lang="en-US" dirty="0">
                <a:sym typeface="Symbol"/>
              </a:rPr>
              <a:t>U</a:t>
            </a:r>
          </a:p>
          <a:p>
            <a:pPr marL="514350" indent="-514350">
              <a:buFont typeface="+mj-lt"/>
              <a:buAutoNum type="alphaLcParenR"/>
            </a:pPr>
            <a:r>
              <a:rPr lang="en-US" dirty="0">
                <a:sym typeface="Symbol"/>
              </a:rPr>
              <a:t>F</a:t>
            </a:r>
          </a:p>
          <a:p>
            <a:pPr marL="514350" indent="-514350">
              <a:buFont typeface="+mj-lt"/>
              <a:buAutoNum type="alphaLcParenR"/>
            </a:pPr>
            <a:r>
              <a:rPr lang="en-US" dirty="0">
                <a:sym typeface="Symbol"/>
              </a:rPr>
              <a:t>0.5mv</a:t>
            </a:r>
            <a:r>
              <a:rPr lang="en-US" baseline="30000" dirty="0">
                <a:sym typeface="Symbol"/>
              </a:rPr>
              <a:t>2</a:t>
            </a: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51</a:t>
            </a:fld>
            <a:endParaRPr lang="en-US"/>
          </a:p>
        </p:txBody>
      </p:sp>
      <p:sp>
        <p:nvSpPr>
          <p:cNvPr id="5" name="Rectangle 4"/>
          <p:cNvSpPr/>
          <p:nvPr/>
        </p:nvSpPr>
        <p:spPr>
          <a:xfrm>
            <a:off x="4437187" y="3244334"/>
            <a:ext cx="269626" cy="369332"/>
          </a:xfrm>
          <a:prstGeom prst="rect">
            <a:avLst/>
          </a:prstGeom>
        </p:spPr>
        <p:txBody>
          <a:bodyPr wrap="none">
            <a:spAutoFit/>
          </a:bodyPr>
          <a:lstStyle/>
          <a:p>
            <a:r>
              <a:rPr lang="en-US" baseline="30000" dirty="0">
                <a:sym typeface="Symbol"/>
              </a:rPr>
              <a:t>2</a:t>
            </a:r>
            <a:endParaRPr lang="en-US" dirty="0"/>
          </a:p>
        </p:txBody>
      </p:sp>
    </p:spTree>
    <p:extLst>
      <p:ext uri="{BB962C8B-B14F-4D97-AF65-F5344CB8AC3E}">
        <p14:creationId xmlns:p14="http://schemas.microsoft.com/office/powerpoint/2010/main" val="3199979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123.10.2</a:t>
            </a:r>
          </a:p>
        </p:txBody>
      </p:sp>
      <p:sp>
        <p:nvSpPr>
          <p:cNvPr id="3" name="Content Placeholder 2"/>
          <p:cNvSpPr>
            <a:spLocks noGrp="1"/>
          </p:cNvSpPr>
          <p:nvPr>
            <p:ph idx="1"/>
          </p:nvPr>
        </p:nvSpPr>
        <p:spPr>
          <a:xfrm>
            <a:off x="471714" y="1179285"/>
            <a:ext cx="8229600" cy="4525963"/>
          </a:xfrm>
        </p:spPr>
        <p:txBody>
          <a:bodyPr>
            <a:normAutofit fontScale="77500" lnSpcReduction="20000"/>
          </a:bodyPr>
          <a:lstStyle/>
          <a:p>
            <a:pPr>
              <a:buNone/>
            </a:pPr>
            <a:r>
              <a:rPr lang="en-US" dirty="0"/>
              <a:t>Mechanical work is defined as …</a:t>
            </a:r>
            <a:endParaRPr lang="en-US" dirty="0">
              <a:sym typeface="Symbol"/>
            </a:endParaRPr>
          </a:p>
          <a:p>
            <a:pPr>
              <a:buNone/>
            </a:pPr>
            <a:endParaRPr lang="en-US" dirty="0">
              <a:sym typeface="Symbol"/>
            </a:endParaRPr>
          </a:p>
          <a:p>
            <a:pPr marL="514350" indent="-514350">
              <a:buFont typeface="+mj-lt"/>
              <a:buAutoNum type="alphaLcParenR"/>
            </a:pPr>
            <a:r>
              <a:rPr lang="en-US" dirty="0">
                <a:sym typeface="Symbol"/>
              </a:rPr>
              <a:t> F/A</a:t>
            </a:r>
          </a:p>
          <a:p>
            <a:pPr marL="514350" indent="-514350">
              <a:buFont typeface="+mj-lt"/>
              <a:buAutoNum type="alphaLcParenR"/>
            </a:pPr>
            <a:endParaRPr lang="en-US" dirty="0">
              <a:sym typeface="Symbol"/>
            </a:endParaRPr>
          </a:p>
          <a:p>
            <a:pPr marL="514350" indent="-514350">
              <a:buFont typeface="+mj-lt"/>
              <a:buAutoNum type="alphaLcParenR"/>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r>
              <a:rPr lang="en-US" dirty="0">
                <a:sym typeface="Symbol"/>
              </a:rPr>
              <a:t>  0.5mv</a:t>
            </a:r>
            <a:r>
              <a:rPr lang="en-US" baseline="30000" dirty="0">
                <a:sym typeface="Symbol"/>
              </a:rPr>
              <a:t>2</a:t>
            </a:r>
            <a:endParaRPr lang="en-US" dirty="0">
              <a:sym typeface="Symbol"/>
            </a:endParaRPr>
          </a:p>
          <a:p>
            <a:pPr marL="514350" indent="-514350">
              <a:buFont typeface="+mj-lt"/>
              <a:buAutoNum type="alphaLcParenR"/>
            </a:pPr>
            <a:endParaRPr lang="en-US" dirty="0">
              <a:sym typeface="Symbol"/>
            </a:endParaRPr>
          </a:p>
          <a:p>
            <a:pPr marL="514350" indent="-514350">
              <a:buFont typeface="+mj-lt"/>
              <a:buAutoNum type="alphaLcParenR"/>
            </a:pPr>
            <a:r>
              <a:rPr lang="en-US" dirty="0">
                <a:sym typeface="Symbol"/>
              </a:rPr>
              <a:t>  PH 123</a:t>
            </a:r>
          </a:p>
          <a:p>
            <a:pPr marL="514350" indent="-514350">
              <a:buNone/>
            </a:pPr>
            <a:r>
              <a:rPr lang="en-US" dirty="0">
                <a:sym typeface="Symbol"/>
              </a:rPr>
              <a:t> </a:t>
            </a:r>
          </a:p>
          <a:p>
            <a:pPr marL="514350" indent="-514350">
              <a:buNone/>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52</a:t>
            </a:fld>
            <a:endParaRPr lang="en-US"/>
          </a:p>
        </p:txBody>
      </p:sp>
      <p:sp>
        <p:nvSpPr>
          <p:cNvPr id="292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92865" name="Object 1"/>
          <p:cNvGraphicFramePr>
            <a:graphicFrameLocks noChangeAspect="1"/>
          </p:cNvGraphicFramePr>
          <p:nvPr>
            <p:extLst>
              <p:ext uri="{D42A27DB-BD31-4B8C-83A1-F6EECF244321}">
                <p14:modId xmlns:p14="http://schemas.microsoft.com/office/powerpoint/2010/main" val="768793768"/>
              </p:ext>
            </p:extLst>
          </p:nvPr>
        </p:nvGraphicFramePr>
        <p:xfrm>
          <a:off x="1076325" y="2538413"/>
          <a:ext cx="1870075" cy="723900"/>
        </p:xfrm>
        <a:graphic>
          <a:graphicData uri="http://schemas.openxmlformats.org/presentationml/2006/ole">
            <mc:AlternateContent xmlns:mc="http://schemas.openxmlformats.org/markup-compatibility/2006">
              <mc:Choice xmlns:v="urn:schemas-microsoft-com:vml" Requires="v">
                <p:oleObj name="Equation" r:id="rId2" imgW="914400" imgH="355320" progId="Equation.3">
                  <p:embed/>
                </p:oleObj>
              </mc:Choice>
              <mc:Fallback>
                <p:oleObj name="Equation" r:id="rId2" imgW="914400" imgH="355320" progId="Equation.3">
                  <p:embed/>
                  <p:pic>
                    <p:nvPicPr>
                      <p:cNvPr id="292865" name="Object 1"/>
                      <p:cNvPicPr>
                        <a:picLocks noChangeAspect="1" noChangeArrowheads="1"/>
                      </p:cNvPicPr>
                      <p:nvPr/>
                    </p:nvPicPr>
                    <p:blipFill>
                      <a:blip r:embed="rId3"/>
                      <a:srcRect/>
                      <a:stretch>
                        <a:fillRect/>
                      </a:stretch>
                    </p:blipFill>
                    <p:spPr bwMode="auto">
                      <a:xfrm>
                        <a:off x="1076325" y="2538413"/>
                        <a:ext cx="1870075"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21452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123.10.2.4</a:t>
            </a:r>
          </a:p>
        </p:txBody>
      </p:sp>
      <p:sp>
        <p:nvSpPr>
          <p:cNvPr id="3" name="Content Placeholder 2"/>
          <p:cNvSpPr>
            <a:spLocks noGrp="1"/>
          </p:cNvSpPr>
          <p:nvPr>
            <p:ph idx="1"/>
          </p:nvPr>
        </p:nvSpPr>
        <p:spPr/>
        <p:txBody>
          <a:bodyPr/>
          <a:lstStyle/>
          <a:p>
            <a:pPr>
              <a:buNone/>
            </a:pPr>
            <a:r>
              <a:rPr lang="en-US" dirty="0"/>
              <a:t>The quantity </a:t>
            </a:r>
            <a:r>
              <a:rPr lang="en-US" dirty="0">
                <a:sym typeface="Symbol"/>
              </a:rPr>
              <a:t>U = ?</a:t>
            </a:r>
          </a:p>
          <a:p>
            <a:pPr>
              <a:buNone/>
            </a:pPr>
            <a:endParaRPr lang="en-US" dirty="0">
              <a:sym typeface="Symbol"/>
            </a:endParaRPr>
          </a:p>
          <a:p>
            <a:pPr marL="514350" indent="-514350">
              <a:buFont typeface="+mj-lt"/>
              <a:buAutoNum type="alphaLcParenR"/>
            </a:pPr>
            <a:r>
              <a:rPr lang="en-US" dirty="0">
                <a:sym typeface="Symbol"/>
              </a:rPr>
              <a:t>-W</a:t>
            </a:r>
          </a:p>
          <a:p>
            <a:pPr marL="514350" indent="-514350">
              <a:buFont typeface="+mj-lt"/>
              <a:buAutoNum type="alphaLcParenR"/>
            </a:pPr>
            <a:r>
              <a:rPr lang="en-US" dirty="0">
                <a:sym typeface="Symbol"/>
              </a:rPr>
              <a:t>K</a:t>
            </a:r>
          </a:p>
          <a:p>
            <a:pPr marL="514350" indent="-514350">
              <a:buFont typeface="+mj-lt"/>
              <a:buAutoNum type="alphaLcParenR"/>
            </a:pPr>
            <a:r>
              <a:rPr lang="en-US" dirty="0">
                <a:sym typeface="Symbol"/>
              </a:rPr>
              <a:t>F</a:t>
            </a:r>
          </a:p>
          <a:p>
            <a:pPr marL="514350" indent="-514350">
              <a:buFont typeface="+mj-lt"/>
              <a:buAutoNum type="alphaLcParenR"/>
            </a:pPr>
            <a:r>
              <a:rPr lang="en-US" dirty="0">
                <a:sym typeface="Symbol"/>
              </a:rPr>
              <a:t>45.3mv</a:t>
            </a:r>
            <a:r>
              <a:rPr lang="en-US" baseline="30000" dirty="0">
                <a:sym typeface="Symbol"/>
              </a:rPr>
              <a:t>2</a:t>
            </a: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53</a:t>
            </a:fld>
            <a:endParaRPr lang="en-US"/>
          </a:p>
        </p:txBody>
      </p:sp>
      <p:sp>
        <p:nvSpPr>
          <p:cNvPr id="5" name="Rectangle 4"/>
          <p:cNvSpPr/>
          <p:nvPr/>
        </p:nvSpPr>
        <p:spPr>
          <a:xfrm>
            <a:off x="4437187" y="3244334"/>
            <a:ext cx="269626" cy="369332"/>
          </a:xfrm>
          <a:prstGeom prst="rect">
            <a:avLst/>
          </a:prstGeom>
        </p:spPr>
        <p:txBody>
          <a:bodyPr wrap="none">
            <a:spAutoFit/>
          </a:bodyPr>
          <a:lstStyle/>
          <a:p>
            <a:r>
              <a:rPr lang="en-US" baseline="30000" dirty="0">
                <a:sym typeface="Symbol"/>
              </a:rPr>
              <a:t>2</a:t>
            </a:r>
            <a:endParaRPr lang="en-US" dirty="0"/>
          </a:p>
        </p:txBody>
      </p:sp>
    </p:spTree>
    <p:extLst>
      <p:ext uri="{BB962C8B-B14F-4D97-AF65-F5344CB8AC3E}">
        <p14:creationId xmlns:p14="http://schemas.microsoft.com/office/powerpoint/2010/main" val="3566709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Number Placeholder 5"/>
          <p:cNvSpPr>
            <a:spLocks noGrp="1"/>
          </p:cNvSpPr>
          <p:nvPr>
            <p:ph type="sldNum" sz="quarter" idx="12"/>
          </p:nvPr>
        </p:nvSpPr>
        <p:spPr>
          <a:noFill/>
        </p:spPr>
        <p:txBody>
          <a:bodyPr/>
          <a:lstStyle/>
          <a:p>
            <a:fld id="{34055BB9-5F03-4E0E-A159-328DD34FA0AD}" type="slidenum">
              <a:rPr lang="en-US" smtClean="0"/>
              <a:pPr/>
              <a:t>54</a:t>
            </a:fld>
            <a:endParaRPr lang="en-US"/>
          </a:p>
        </p:txBody>
      </p:sp>
      <p:sp>
        <p:nvSpPr>
          <p:cNvPr id="181251" name="Rectangle 2"/>
          <p:cNvSpPr>
            <a:spLocks noGrp="1" noChangeArrowheads="1"/>
          </p:cNvSpPr>
          <p:nvPr>
            <p:ph type="title"/>
          </p:nvPr>
        </p:nvSpPr>
        <p:spPr/>
        <p:txBody>
          <a:bodyPr/>
          <a:lstStyle/>
          <a:p>
            <a:pPr eaLnBrk="1" hangingPunct="1"/>
            <a:r>
              <a:rPr lang="en-US" dirty="0"/>
              <a:t>Question 123.10.2.5</a:t>
            </a:r>
          </a:p>
        </p:txBody>
      </p:sp>
      <p:sp>
        <p:nvSpPr>
          <p:cNvPr id="181252" name="Rectangle 3"/>
          <p:cNvSpPr>
            <a:spLocks noGrp="1" noChangeArrowheads="1"/>
          </p:cNvSpPr>
          <p:nvPr>
            <p:ph type="body" idx="1"/>
          </p:nvPr>
        </p:nvSpPr>
        <p:spPr>
          <a:xfrm>
            <a:off x="457200" y="1600200"/>
            <a:ext cx="4645025" cy="4525963"/>
          </a:xfrm>
        </p:spPr>
        <p:txBody>
          <a:bodyPr/>
          <a:lstStyle/>
          <a:p>
            <a:pPr eaLnBrk="1" hangingPunct="1">
              <a:buFontTx/>
              <a:buNone/>
            </a:pPr>
            <a:r>
              <a:rPr lang="en-US"/>
              <a:t>A force, F, does work. Which of the F vs x diagrams represents the most work done? </a:t>
            </a:r>
          </a:p>
        </p:txBody>
      </p:sp>
      <p:grpSp>
        <p:nvGrpSpPr>
          <p:cNvPr id="2" name="Group 4"/>
          <p:cNvGrpSpPr>
            <a:grpSpLocks/>
          </p:cNvGrpSpPr>
          <p:nvPr/>
        </p:nvGrpSpPr>
        <p:grpSpPr bwMode="auto">
          <a:xfrm>
            <a:off x="6348413" y="1639888"/>
            <a:ext cx="2030412" cy="1854200"/>
            <a:chOff x="3999" y="1033"/>
            <a:chExt cx="1279" cy="1168"/>
          </a:xfrm>
        </p:grpSpPr>
        <p:sp>
          <p:nvSpPr>
            <p:cNvPr id="181265" name="Line 5"/>
            <p:cNvSpPr>
              <a:spLocks noChangeShapeType="1"/>
            </p:cNvSpPr>
            <p:nvPr/>
          </p:nvSpPr>
          <p:spPr bwMode="auto">
            <a:xfrm>
              <a:off x="4215" y="1115"/>
              <a:ext cx="0" cy="1006"/>
            </a:xfrm>
            <a:prstGeom prst="line">
              <a:avLst/>
            </a:prstGeom>
            <a:noFill/>
            <a:ln w="9525">
              <a:solidFill>
                <a:schemeClr val="tx1"/>
              </a:solidFill>
              <a:round/>
              <a:headEnd/>
              <a:tailEnd/>
            </a:ln>
          </p:spPr>
          <p:txBody>
            <a:bodyPr wrap="none" anchor="ctr"/>
            <a:lstStyle/>
            <a:p>
              <a:endParaRPr lang="en-US"/>
            </a:p>
          </p:txBody>
        </p:sp>
        <p:sp>
          <p:nvSpPr>
            <p:cNvPr id="181266" name="Line 6"/>
            <p:cNvSpPr>
              <a:spLocks noChangeShapeType="1"/>
            </p:cNvSpPr>
            <p:nvPr/>
          </p:nvSpPr>
          <p:spPr bwMode="auto">
            <a:xfrm>
              <a:off x="4123" y="1984"/>
              <a:ext cx="1052" cy="0"/>
            </a:xfrm>
            <a:prstGeom prst="line">
              <a:avLst/>
            </a:prstGeom>
            <a:noFill/>
            <a:ln w="9525">
              <a:solidFill>
                <a:schemeClr val="tx1"/>
              </a:solidFill>
              <a:round/>
              <a:headEnd/>
              <a:tailEnd/>
            </a:ln>
          </p:spPr>
          <p:txBody>
            <a:bodyPr wrap="none" anchor="ctr"/>
            <a:lstStyle/>
            <a:p>
              <a:endParaRPr lang="en-US"/>
            </a:p>
          </p:txBody>
        </p:sp>
        <p:sp>
          <p:nvSpPr>
            <p:cNvPr id="181267" name="Oval 7"/>
            <p:cNvSpPr>
              <a:spLocks noChangeArrowheads="1"/>
            </p:cNvSpPr>
            <p:nvPr/>
          </p:nvSpPr>
          <p:spPr bwMode="auto">
            <a:xfrm>
              <a:off x="4389" y="1756"/>
              <a:ext cx="73" cy="56"/>
            </a:xfrm>
            <a:prstGeom prst="ellipse">
              <a:avLst/>
            </a:prstGeom>
            <a:solidFill>
              <a:schemeClr val="tx1"/>
            </a:solidFill>
            <a:ln w="9525" algn="ctr">
              <a:noFill/>
              <a:round/>
              <a:headEnd/>
              <a:tailEnd/>
            </a:ln>
          </p:spPr>
          <p:txBody>
            <a:bodyPr wrap="none" anchor="ctr"/>
            <a:lstStyle/>
            <a:p>
              <a:pPr algn="ctr"/>
              <a:endParaRPr lang="en-US"/>
            </a:p>
          </p:txBody>
        </p:sp>
        <p:sp>
          <p:nvSpPr>
            <p:cNvPr id="181268" name="Oval 8"/>
            <p:cNvSpPr>
              <a:spLocks noChangeArrowheads="1"/>
            </p:cNvSpPr>
            <p:nvPr/>
          </p:nvSpPr>
          <p:spPr bwMode="auto">
            <a:xfrm>
              <a:off x="4841" y="1422"/>
              <a:ext cx="73" cy="56"/>
            </a:xfrm>
            <a:prstGeom prst="ellipse">
              <a:avLst/>
            </a:prstGeom>
            <a:solidFill>
              <a:schemeClr val="tx1"/>
            </a:solidFill>
            <a:ln w="9525" algn="ctr">
              <a:noFill/>
              <a:round/>
              <a:headEnd/>
              <a:tailEnd/>
            </a:ln>
          </p:spPr>
          <p:txBody>
            <a:bodyPr wrap="none" anchor="ctr"/>
            <a:lstStyle/>
            <a:p>
              <a:endParaRPr lang="en-US"/>
            </a:p>
          </p:txBody>
        </p:sp>
        <p:sp>
          <p:nvSpPr>
            <p:cNvPr id="181269" name="Line 9"/>
            <p:cNvSpPr>
              <a:spLocks noChangeShapeType="1"/>
            </p:cNvSpPr>
            <p:nvPr/>
          </p:nvSpPr>
          <p:spPr bwMode="auto">
            <a:xfrm flipV="1">
              <a:off x="4425" y="1445"/>
              <a:ext cx="466" cy="338"/>
            </a:xfrm>
            <a:prstGeom prst="line">
              <a:avLst/>
            </a:prstGeom>
            <a:noFill/>
            <a:ln w="9525">
              <a:solidFill>
                <a:schemeClr val="tx1"/>
              </a:solidFill>
              <a:round/>
              <a:headEnd/>
              <a:tailEnd/>
            </a:ln>
          </p:spPr>
          <p:txBody>
            <a:bodyPr wrap="none" anchor="ctr"/>
            <a:lstStyle/>
            <a:p>
              <a:endParaRPr lang="en-US"/>
            </a:p>
          </p:txBody>
        </p:sp>
        <p:sp>
          <p:nvSpPr>
            <p:cNvPr id="181270" name="Text Box 10"/>
            <p:cNvSpPr txBox="1">
              <a:spLocks noChangeArrowheads="1"/>
            </p:cNvSpPr>
            <p:nvPr/>
          </p:nvSpPr>
          <p:spPr bwMode="auto">
            <a:xfrm>
              <a:off x="5090" y="1970"/>
              <a:ext cx="188" cy="231"/>
            </a:xfrm>
            <a:prstGeom prst="rect">
              <a:avLst/>
            </a:prstGeom>
            <a:noFill/>
            <a:ln w="9525" algn="ctr">
              <a:noFill/>
              <a:miter lim="800000"/>
              <a:headEnd/>
              <a:tailEnd/>
            </a:ln>
          </p:spPr>
          <p:txBody>
            <a:bodyPr wrap="none">
              <a:spAutoFit/>
            </a:bodyPr>
            <a:lstStyle/>
            <a:p>
              <a:pPr algn="ctr"/>
              <a:r>
                <a:rPr lang="en-US"/>
                <a:t>x</a:t>
              </a:r>
            </a:p>
          </p:txBody>
        </p:sp>
        <p:sp>
          <p:nvSpPr>
            <p:cNvPr id="181271" name="Text Box 11"/>
            <p:cNvSpPr txBox="1">
              <a:spLocks noChangeArrowheads="1"/>
            </p:cNvSpPr>
            <p:nvPr/>
          </p:nvSpPr>
          <p:spPr bwMode="auto">
            <a:xfrm>
              <a:off x="3999" y="1033"/>
              <a:ext cx="204" cy="231"/>
            </a:xfrm>
            <a:prstGeom prst="rect">
              <a:avLst/>
            </a:prstGeom>
            <a:noFill/>
            <a:ln w="9525" algn="ctr">
              <a:noFill/>
              <a:miter lim="800000"/>
              <a:headEnd/>
              <a:tailEnd/>
            </a:ln>
          </p:spPr>
          <p:txBody>
            <a:bodyPr wrap="none">
              <a:spAutoFit/>
            </a:bodyPr>
            <a:lstStyle/>
            <a:p>
              <a:pPr algn="ctr"/>
              <a:r>
                <a:rPr lang="en-US"/>
                <a:t>F</a:t>
              </a:r>
            </a:p>
          </p:txBody>
        </p:sp>
        <p:sp>
          <p:nvSpPr>
            <p:cNvPr id="181272" name="Text Box 12"/>
            <p:cNvSpPr txBox="1">
              <a:spLocks noChangeArrowheads="1"/>
            </p:cNvSpPr>
            <p:nvPr/>
          </p:nvSpPr>
          <p:spPr bwMode="auto">
            <a:xfrm>
              <a:off x="4945" y="1298"/>
              <a:ext cx="212" cy="231"/>
            </a:xfrm>
            <a:prstGeom prst="rect">
              <a:avLst/>
            </a:prstGeom>
            <a:noFill/>
            <a:ln w="9525" algn="ctr">
              <a:noFill/>
              <a:miter lim="800000"/>
              <a:headEnd/>
              <a:tailEnd/>
            </a:ln>
          </p:spPr>
          <p:txBody>
            <a:bodyPr wrap="none">
              <a:spAutoFit/>
            </a:bodyPr>
            <a:lstStyle/>
            <a:p>
              <a:pPr algn="ctr"/>
              <a:r>
                <a:rPr lang="en-US"/>
                <a:t>B</a:t>
              </a:r>
            </a:p>
          </p:txBody>
        </p:sp>
        <p:sp>
          <p:nvSpPr>
            <p:cNvPr id="181273" name="Text Box 13"/>
            <p:cNvSpPr txBox="1">
              <a:spLocks noChangeArrowheads="1"/>
            </p:cNvSpPr>
            <p:nvPr/>
          </p:nvSpPr>
          <p:spPr bwMode="auto">
            <a:xfrm>
              <a:off x="4305" y="1481"/>
              <a:ext cx="212" cy="231"/>
            </a:xfrm>
            <a:prstGeom prst="rect">
              <a:avLst/>
            </a:prstGeom>
            <a:noFill/>
            <a:ln w="9525" algn="ctr">
              <a:noFill/>
              <a:miter lim="800000"/>
              <a:headEnd/>
              <a:tailEnd/>
            </a:ln>
          </p:spPr>
          <p:txBody>
            <a:bodyPr wrap="none">
              <a:spAutoFit/>
            </a:bodyPr>
            <a:lstStyle/>
            <a:p>
              <a:pPr algn="ctr"/>
              <a:r>
                <a:rPr lang="en-US"/>
                <a:t>A</a:t>
              </a:r>
            </a:p>
          </p:txBody>
        </p:sp>
      </p:grpSp>
      <p:sp>
        <p:nvSpPr>
          <p:cNvPr id="181254" name="Line 14"/>
          <p:cNvSpPr>
            <a:spLocks noChangeShapeType="1"/>
          </p:cNvSpPr>
          <p:nvPr/>
        </p:nvSpPr>
        <p:spPr bwMode="auto">
          <a:xfrm>
            <a:off x="6678613" y="3713163"/>
            <a:ext cx="0" cy="1597025"/>
          </a:xfrm>
          <a:prstGeom prst="line">
            <a:avLst/>
          </a:prstGeom>
          <a:noFill/>
          <a:ln w="9525">
            <a:solidFill>
              <a:schemeClr val="tx1"/>
            </a:solidFill>
            <a:round/>
            <a:headEnd/>
            <a:tailEnd/>
          </a:ln>
        </p:spPr>
        <p:txBody>
          <a:bodyPr wrap="none" anchor="ctr"/>
          <a:lstStyle/>
          <a:p>
            <a:endParaRPr lang="en-US"/>
          </a:p>
        </p:txBody>
      </p:sp>
      <p:sp>
        <p:nvSpPr>
          <p:cNvPr id="181255" name="Line 15"/>
          <p:cNvSpPr>
            <a:spLocks noChangeShapeType="1"/>
          </p:cNvSpPr>
          <p:nvPr/>
        </p:nvSpPr>
        <p:spPr bwMode="auto">
          <a:xfrm>
            <a:off x="6532563" y="5092700"/>
            <a:ext cx="1670050" cy="0"/>
          </a:xfrm>
          <a:prstGeom prst="line">
            <a:avLst/>
          </a:prstGeom>
          <a:noFill/>
          <a:ln w="9525">
            <a:solidFill>
              <a:schemeClr val="tx1"/>
            </a:solidFill>
            <a:round/>
            <a:headEnd/>
            <a:tailEnd/>
          </a:ln>
        </p:spPr>
        <p:txBody>
          <a:bodyPr wrap="none" anchor="ctr"/>
          <a:lstStyle/>
          <a:p>
            <a:endParaRPr lang="en-US"/>
          </a:p>
        </p:txBody>
      </p:sp>
      <p:sp>
        <p:nvSpPr>
          <p:cNvPr id="181256" name="Oval 16"/>
          <p:cNvSpPr>
            <a:spLocks noChangeArrowheads="1"/>
          </p:cNvSpPr>
          <p:nvPr/>
        </p:nvSpPr>
        <p:spPr bwMode="auto">
          <a:xfrm>
            <a:off x="6954838" y="4730750"/>
            <a:ext cx="115887" cy="88900"/>
          </a:xfrm>
          <a:prstGeom prst="ellipse">
            <a:avLst/>
          </a:prstGeom>
          <a:solidFill>
            <a:schemeClr val="tx1"/>
          </a:solidFill>
          <a:ln w="9525" algn="ctr">
            <a:noFill/>
            <a:round/>
            <a:headEnd/>
            <a:tailEnd/>
          </a:ln>
        </p:spPr>
        <p:txBody>
          <a:bodyPr wrap="none" anchor="ctr"/>
          <a:lstStyle/>
          <a:p>
            <a:pPr algn="ctr"/>
            <a:endParaRPr lang="en-US"/>
          </a:p>
        </p:txBody>
      </p:sp>
      <p:sp>
        <p:nvSpPr>
          <p:cNvPr id="181257" name="Oval 17"/>
          <p:cNvSpPr>
            <a:spLocks noChangeArrowheads="1"/>
          </p:cNvSpPr>
          <p:nvPr/>
        </p:nvSpPr>
        <p:spPr bwMode="auto">
          <a:xfrm>
            <a:off x="7672388" y="4200525"/>
            <a:ext cx="115887" cy="88900"/>
          </a:xfrm>
          <a:prstGeom prst="ellipse">
            <a:avLst/>
          </a:prstGeom>
          <a:solidFill>
            <a:schemeClr val="tx1"/>
          </a:solidFill>
          <a:ln w="9525" algn="ctr">
            <a:noFill/>
            <a:round/>
            <a:headEnd/>
            <a:tailEnd/>
          </a:ln>
        </p:spPr>
        <p:txBody>
          <a:bodyPr wrap="none" anchor="ctr"/>
          <a:lstStyle/>
          <a:p>
            <a:endParaRPr lang="en-US"/>
          </a:p>
        </p:txBody>
      </p:sp>
      <p:sp>
        <p:nvSpPr>
          <p:cNvPr id="181258" name="Text Box 18"/>
          <p:cNvSpPr txBox="1">
            <a:spLocks noChangeArrowheads="1"/>
          </p:cNvSpPr>
          <p:nvPr/>
        </p:nvSpPr>
        <p:spPr bwMode="auto">
          <a:xfrm>
            <a:off x="8067675" y="5070475"/>
            <a:ext cx="298450" cy="366713"/>
          </a:xfrm>
          <a:prstGeom prst="rect">
            <a:avLst/>
          </a:prstGeom>
          <a:noFill/>
          <a:ln w="9525" algn="ctr">
            <a:noFill/>
            <a:miter lim="800000"/>
            <a:headEnd/>
            <a:tailEnd/>
          </a:ln>
        </p:spPr>
        <p:txBody>
          <a:bodyPr wrap="none">
            <a:spAutoFit/>
          </a:bodyPr>
          <a:lstStyle/>
          <a:p>
            <a:pPr algn="ctr"/>
            <a:r>
              <a:rPr lang="en-US"/>
              <a:t>x</a:t>
            </a:r>
          </a:p>
        </p:txBody>
      </p:sp>
      <p:sp>
        <p:nvSpPr>
          <p:cNvPr id="181259" name="Text Box 19"/>
          <p:cNvSpPr txBox="1">
            <a:spLocks noChangeArrowheads="1"/>
          </p:cNvSpPr>
          <p:nvPr/>
        </p:nvSpPr>
        <p:spPr bwMode="auto">
          <a:xfrm>
            <a:off x="6335713" y="3582988"/>
            <a:ext cx="323850" cy="366712"/>
          </a:xfrm>
          <a:prstGeom prst="rect">
            <a:avLst/>
          </a:prstGeom>
          <a:noFill/>
          <a:ln w="9525" algn="ctr">
            <a:noFill/>
            <a:miter lim="800000"/>
            <a:headEnd/>
            <a:tailEnd/>
          </a:ln>
        </p:spPr>
        <p:txBody>
          <a:bodyPr wrap="none">
            <a:spAutoFit/>
          </a:bodyPr>
          <a:lstStyle/>
          <a:p>
            <a:pPr algn="ctr"/>
            <a:r>
              <a:rPr lang="en-US"/>
              <a:t>F</a:t>
            </a:r>
          </a:p>
        </p:txBody>
      </p:sp>
      <p:sp>
        <p:nvSpPr>
          <p:cNvPr id="181260" name="Text Box 20"/>
          <p:cNvSpPr txBox="1">
            <a:spLocks noChangeArrowheads="1"/>
          </p:cNvSpPr>
          <p:nvPr/>
        </p:nvSpPr>
        <p:spPr bwMode="auto">
          <a:xfrm>
            <a:off x="7837488" y="4003675"/>
            <a:ext cx="336550" cy="366713"/>
          </a:xfrm>
          <a:prstGeom prst="rect">
            <a:avLst/>
          </a:prstGeom>
          <a:noFill/>
          <a:ln w="9525" algn="ctr">
            <a:noFill/>
            <a:miter lim="800000"/>
            <a:headEnd/>
            <a:tailEnd/>
          </a:ln>
        </p:spPr>
        <p:txBody>
          <a:bodyPr wrap="none">
            <a:spAutoFit/>
          </a:bodyPr>
          <a:lstStyle/>
          <a:p>
            <a:pPr algn="ctr"/>
            <a:r>
              <a:rPr lang="en-US"/>
              <a:t>B</a:t>
            </a:r>
          </a:p>
        </p:txBody>
      </p:sp>
      <p:sp>
        <p:nvSpPr>
          <p:cNvPr id="181261" name="Text Box 21"/>
          <p:cNvSpPr txBox="1">
            <a:spLocks noChangeArrowheads="1"/>
          </p:cNvSpPr>
          <p:nvPr/>
        </p:nvSpPr>
        <p:spPr bwMode="auto">
          <a:xfrm>
            <a:off x="6770688" y="4306888"/>
            <a:ext cx="336550" cy="366712"/>
          </a:xfrm>
          <a:prstGeom prst="rect">
            <a:avLst/>
          </a:prstGeom>
          <a:noFill/>
          <a:ln w="9525" algn="ctr">
            <a:noFill/>
            <a:miter lim="800000"/>
            <a:headEnd/>
            <a:tailEnd/>
          </a:ln>
        </p:spPr>
        <p:txBody>
          <a:bodyPr wrap="none">
            <a:spAutoFit/>
          </a:bodyPr>
          <a:lstStyle/>
          <a:p>
            <a:pPr algn="ctr"/>
            <a:r>
              <a:rPr lang="en-US"/>
              <a:t>A</a:t>
            </a:r>
          </a:p>
        </p:txBody>
      </p:sp>
      <p:sp>
        <p:nvSpPr>
          <p:cNvPr id="181262" name="Freeform 22"/>
          <p:cNvSpPr>
            <a:spLocks/>
          </p:cNvSpPr>
          <p:nvPr/>
        </p:nvSpPr>
        <p:spPr bwMode="auto">
          <a:xfrm>
            <a:off x="7023100" y="4241800"/>
            <a:ext cx="673100" cy="533400"/>
          </a:xfrm>
          <a:custGeom>
            <a:avLst/>
            <a:gdLst>
              <a:gd name="T0" fmla="*/ 0 w 424"/>
              <a:gd name="T1" fmla="*/ 2147483647 h 336"/>
              <a:gd name="T2" fmla="*/ 0 w 424"/>
              <a:gd name="T3" fmla="*/ 0 h 336"/>
              <a:gd name="T4" fmla="*/ 2147483647 w 424"/>
              <a:gd name="T5" fmla="*/ 0 h 336"/>
              <a:gd name="T6" fmla="*/ 0 60000 65536"/>
              <a:gd name="T7" fmla="*/ 0 60000 65536"/>
              <a:gd name="T8" fmla="*/ 0 60000 65536"/>
              <a:gd name="T9" fmla="*/ 0 w 424"/>
              <a:gd name="T10" fmla="*/ 0 h 336"/>
              <a:gd name="T11" fmla="*/ 424 w 424"/>
              <a:gd name="T12" fmla="*/ 336 h 336"/>
            </a:gdLst>
            <a:ahLst/>
            <a:cxnLst>
              <a:cxn ang="T6">
                <a:pos x="T0" y="T1"/>
              </a:cxn>
              <a:cxn ang="T7">
                <a:pos x="T2" y="T3"/>
              </a:cxn>
              <a:cxn ang="T8">
                <a:pos x="T4" y="T5"/>
              </a:cxn>
            </a:cxnLst>
            <a:rect l="T9" t="T10" r="T11" b="T12"/>
            <a:pathLst>
              <a:path w="424" h="336">
                <a:moveTo>
                  <a:pt x="0" y="336"/>
                </a:moveTo>
                <a:lnTo>
                  <a:pt x="0" y="0"/>
                </a:lnTo>
                <a:lnTo>
                  <a:pt x="424" y="0"/>
                </a:lnTo>
              </a:path>
            </a:pathLst>
          </a:custGeom>
          <a:noFill/>
          <a:ln w="9525">
            <a:solidFill>
              <a:schemeClr val="tx1"/>
            </a:solidFill>
            <a:round/>
            <a:headEnd/>
            <a:tailEnd/>
          </a:ln>
        </p:spPr>
        <p:txBody>
          <a:bodyPr wrap="none" anchor="ctr"/>
          <a:lstStyle/>
          <a:p>
            <a:endParaRPr lang="en-US"/>
          </a:p>
        </p:txBody>
      </p:sp>
      <p:sp>
        <p:nvSpPr>
          <p:cNvPr id="181263" name="Text Box 23"/>
          <p:cNvSpPr txBox="1">
            <a:spLocks noChangeArrowheads="1"/>
          </p:cNvSpPr>
          <p:nvPr/>
        </p:nvSpPr>
        <p:spPr bwMode="auto">
          <a:xfrm>
            <a:off x="5838825" y="2386013"/>
            <a:ext cx="336550" cy="366712"/>
          </a:xfrm>
          <a:prstGeom prst="rect">
            <a:avLst/>
          </a:prstGeom>
          <a:noFill/>
          <a:ln w="9525" algn="ctr">
            <a:noFill/>
            <a:miter lim="800000"/>
            <a:headEnd/>
            <a:tailEnd/>
          </a:ln>
        </p:spPr>
        <p:txBody>
          <a:bodyPr wrap="none">
            <a:spAutoFit/>
          </a:bodyPr>
          <a:lstStyle/>
          <a:p>
            <a:pPr algn="ctr"/>
            <a:r>
              <a:rPr lang="en-US"/>
              <a:t>A</a:t>
            </a:r>
          </a:p>
        </p:txBody>
      </p:sp>
      <p:sp>
        <p:nvSpPr>
          <p:cNvPr id="181264" name="Text Box 24"/>
          <p:cNvSpPr txBox="1">
            <a:spLocks noChangeArrowheads="1"/>
          </p:cNvSpPr>
          <p:nvPr/>
        </p:nvSpPr>
        <p:spPr bwMode="auto">
          <a:xfrm>
            <a:off x="5864225" y="4125913"/>
            <a:ext cx="336550" cy="366712"/>
          </a:xfrm>
          <a:prstGeom prst="rect">
            <a:avLst/>
          </a:prstGeom>
          <a:noFill/>
          <a:ln w="9525" algn="ctr">
            <a:noFill/>
            <a:miter lim="800000"/>
            <a:headEnd/>
            <a:tailEnd/>
          </a:ln>
        </p:spPr>
        <p:txBody>
          <a:bodyPr wrap="none">
            <a:spAutoFit/>
          </a:bodyPr>
          <a:lstStyle/>
          <a:p>
            <a:pPr algn="ctr"/>
            <a:r>
              <a:rPr lang="en-US"/>
              <a:t>B</a:t>
            </a:r>
          </a:p>
        </p:txBody>
      </p:sp>
    </p:spTree>
    <p:extLst>
      <p:ext uri="{BB962C8B-B14F-4D97-AF65-F5344CB8AC3E}">
        <p14:creationId xmlns:p14="http://schemas.microsoft.com/office/powerpoint/2010/main" val="14709853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123.10.3</a:t>
            </a:r>
          </a:p>
        </p:txBody>
      </p:sp>
      <p:sp>
        <p:nvSpPr>
          <p:cNvPr id="3" name="Content Placeholder 2"/>
          <p:cNvSpPr>
            <a:spLocks noGrp="1"/>
          </p:cNvSpPr>
          <p:nvPr>
            <p:ph idx="1"/>
          </p:nvPr>
        </p:nvSpPr>
        <p:spPr>
          <a:xfrm>
            <a:off x="471714" y="1179285"/>
            <a:ext cx="8229600" cy="4525963"/>
          </a:xfrm>
        </p:spPr>
        <p:txBody>
          <a:bodyPr>
            <a:normAutofit lnSpcReduction="10000"/>
          </a:bodyPr>
          <a:lstStyle/>
          <a:p>
            <a:pPr>
              <a:buNone/>
            </a:pPr>
            <a:r>
              <a:rPr lang="en-US" dirty="0"/>
              <a:t>Is mechanical energy conserved?</a:t>
            </a:r>
          </a:p>
          <a:p>
            <a:pPr>
              <a:buNone/>
            </a:pPr>
            <a:endParaRPr lang="en-US" dirty="0">
              <a:sym typeface="Symbol"/>
            </a:endParaRPr>
          </a:p>
          <a:p>
            <a:pPr marL="514350" indent="-514350">
              <a:buFont typeface="+mj-lt"/>
              <a:buAutoNum type="alphaLcParenR"/>
            </a:pPr>
            <a:r>
              <a:rPr lang="en-US" dirty="0">
                <a:sym typeface="Symbol"/>
              </a:rPr>
              <a:t>Yes</a:t>
            </a:r>
          </a:p>
          <a:p>
            <a:pPr marL="514350" indent="-514350">
              <a:buFont typeface="+mj-lt"/>
              <a:buAutoNum type="alphaLcParenR"/>
            </a:pPr>
            <a:r>
              <a:rPr lang="en-US" dirty="0">
                <a:sym typeface="Symbol"/>
              </a:rPr>
              <a:t>No</a:t>
            </a:r>
          </a:p>
          <a:p>
            <a:pPr marL="514350" indent="-514350">
              <a:buFont typeface="+mj-lt"/>
              <a:buAutoNum type="alphaLcParenR"/>
            </a:pPr>
            <a:r>
              <a:rPr lang="en-US" dirty="0">
                <a:sym typeface="Symbol"/>
              </a:rPr>
              <a:t>Maybe sometimes</a:t>
            </a:r>
          </a:p>
          <a:p>
            <a:pPr marL="514350" indent="-514350">
              <a:buFont typeface="+mj-lt"/>
              <a:buAutoNum type="alphaLcParenR"/>
            </a:pPr>
            <a:endParaRPr lang="en-US" dirty="0">
              <a:sym typeface="Symbol"/>
            </a:endParaRPr>
          </a:p>
          <a:p>
            <a:pPr marL="514350" indent="-514350">
              <a:buNone/>
            </a:pPr>
            <a:r>
              <a:rPr lang="en-US" dirty="0">
                <a:sym typeface="Symbol"/>
              </a:rPr>
              <a:t> </a:t>
            </a:r>
          </a:p>
          <a:p>
            <a:pPr marL="514350" indent="-514350">
              <a:buNone/>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55</a:t>
            </a:fld>
            <a:endParaRPr lang="en-US"/>
          </a:p>
        </p:txBody>
      </p:sp>
      <p:sp>
        <p:nvSpPr>
          <p:cNvPr id="292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479808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123.10.4</a:t>
            </a:r>
          </a:p>
        </p:txBody>
      </p:sp>
      <p:sp>
        <p:nvSpPr>
          <p:cNvPr id="3" name="Content Placeholder 2"/>
          <p:cNvSpPr>
            <a:spLocks noGrp="1"/>
          </p:cNvSpPr>
          <p:nvPr>
            <p:ph idx="1"/>
          </p:nvPr>
        </p:nvSpPr>
        <p:spPr>
          <a:xfrm>
            <a:off x="471714" y="1179285"/>
            <a:ext cx="8229600" cy="4525963"/>
          </a:xfrm>
        </p:spPr>
        <p:txBody>
          <a:bodyPr>
            <a:normAutofit fontScale="92500" lnSpcReduction="20000"/>
          </a:bodyPr>
          <a:lstStyle/>
          <a:p>
            <a:pPr>
              <a:buNone/>
            </a:pPr>
            <a:r>
              <a:rPr lang="en-US" dirty="0"/>
              <a:t>How much heat is contained in this room?</a:t>
            </a:r>
          </a:p>
          <a:p>
            <a:pPr>
              <a:buNone/>
            </a:pPr>
            <a:endParaRPr lang="en-US" dirty="0">
              <a:sym typeface="Symbol"/>
            </a:endParaRPr>
          </a:p>
          <a:p>
            <a:pPr marL="514350" indent="-514350">
              <a:buFont typeface="+mj-lt"/>
              <a:buAutoNum type="alphaLcParenR"/>
            </a:pPr>
            <a:r>
              <a:rPr lang="en-US" dirty="0">
                <a:sym typeface="Symbol"/>
              </a:rPr>
              <a:t>100000J</a:t>
            </a:r>
          </a:p>
          <a:p>
            <a:pPr marL="514350" indent="-514350">
              <a:buFont typeface="+mj-lt"/>
              <a:buAutoNum type="alphaLcParenR"/>
            </a:pPr>
            <a:r>
              <a:rPr lang="en-US" dirty="0">
                <a:sym typeface="Symbol"/>
              </a:rPr>
              <a:t>100000K</a:t>
            </a:r>
          </a:p>
          <a:p>
            <a:pPr marL="514350" indent="-514350">
              <a:buFont typeface="+mj-lt"/>
              <a:buAutoNum type="alphaLcParenR"/>
            </a:pPr>
            <a:r>
              <a:rPr lang="en-US">
                <a:sym typeface="Symbol"/>
              </a:rPr>
              <a:t>100000BTU</a:t>
            </a:r>
            <a:endParaRPr lang="en-US" dirty="0">
              <a:sym typeface="Symbol"/>
            </a:endParaRPr>
          </a:p>
          <a:p>
            <a:pPr marL="514350" indent="-514350">
              <a:buFont typeface="+mj-lt"/>
              <a:buAutoNum type="alphaLcParenR"/>
            </a:pPr>
            <a:r>
              <a:rPr lang="en-US" dirty="0">
                <a:sym typeface="Symbol"/>
              </a:rPr>
              <a:t>This is a dumb question, rooms don’t “contain” heat.</a:t>
            </a:r>
          </a:p>
          <a:p>
            <a:pPr marL="514350" indent="-514350">
              <a:buFont typeface="+mj-lt"/>
              <a:buAutoNum type="alphaLcParenR"/>
            </a:pPr>
            <a:endParaRPr lang="en-US" dirty="0">
              <a:sym typeface="Symbol"/>
            </a:endParaRPr>
          </a:p>
          <a:p>
            <a:pPr marL="514350" indent="-514350">
              <a:buNone/>
            </a:pPr>
            <a:r>
              <a:rPr lang="en-US" dirty="0">
                <a:sym typeface="Symbol"/>
              </a:rPr>
              <a:t> </a:t>
            </a:r>
          </a:p>
          <a:p>
            <a:pPr marL="514350" indent="-514350">
              <a:buNone/>
            </a:pPr>
            <a:r>
              <a:rPr lang="en-US" dirty="0">
                <a:sym typeface="Symbol"/>
              </a:rPr>
              <a:t> </a:t>
            </a:r>
          </a:p>
          <a:p>
            <a:pPr marL="514350" indent="-514350">
              <a:buFont typeface="+mj-lt"/>
              <a:buAutoNum type="alphaLcParenR"/>
            </a:pPr>
            <a:endParaRPr lang="en-US" dirty="0">
              <a:sym typeface="Symbol"/>
            </a:endParaRPr>
          </a:p>
          <a:p>
            <a:pPr marL="514350" indent="-514350">
              <a:buFont typeface="+mj-lt"/>
              <a:buAutoNum type="alphaLcParenR"/>
            </a:pPr>
            <a:endParaRPr lang="en-US" baseline="30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56</a:t>
            </a:fld>
            <a:endParaRPr lang="en-US"/>
          </a:p>
        </p:txBody>
      </p:sp>
      <p:sp>
        <p:nvSpPr>
          <p:cNvPr id="29286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2641608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2088463" y="3820196"/>
            <a:ext cx="4953000" cy="1981200"/>
            <a:chOff x="2057400" y="1371600"/>
            <a:chExt cx="4953000" cy="2971800"/>
          </a:xfrm>
        </p:grpSpPr>
        <p:sp>
          <p:nvSpPr>
            <p:cNvPr id="5" name="Rectangle 4"/>
            <p:cNvSpPr/>
            <p:nvPr/>
          </p:nvSpPr>
          <p:spPr>
            <a:xfrm>
              <a:off x="2057400" y="1371600"/>
              <a:ext cx="4953000" cy="29718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514600" y="1790700"/>
              <a:ext cx="4495800" cy="213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876800" y="1790700"/>
              <a:ext cx="457200" cy="21336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520315" y="1790699"/>
              <a:ext cx="2404110" cy="2138363"/>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p:cNvSpPr/>
          <p:nvPr/>
        </p:nvSpPr>
        <p:spPr>
          <a:xfrm>
            <a:off x="2073755" y="705129"/>
            <a:ext cx="4953000" cy="19812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530955" y="984529"/>
            <a:ext cx="4495800" cy="142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887315" y="984529"/>
            <a:ext cx="457200" cy="14224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536670" y="984528"/>
            <a:ext cx="1365885" cy="1425575"/>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Left Arrow 16"/>
          <p:cNvSpPr/>
          <p:nvPr/>
        </p:nvSpPr>
        <p:spPr>
          <a:xfrm>
            <a:off x="4325558" y="1565632"/>
            <a:ext cx="1158240" cy="33528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5555909" y="1328854"/>
            <a:ext cx="781432" cy="769441"/>
          </a:xfrm>
          <a:prstGeom prst="rect">
            <a:avLst/>
          </a:prstGeom>
          <a:noFill/>
        </p:spPr>
        <p:txBody>
          <a:bodyPr wrap="none" rtlCol="0">
            <a:spAutoFit/>
          </a:bodyPr>
          <a:lstStyle/>
          <a:p>
            <a:r>
              <a:rPr lang="en-US" sz="4400" dirty="0" err="1">
                <a:solidFill>
                  <a:srgbClr val="FF0000"/>
                </a:solidFill>
              </a:rPr>
              <a:t>F</a:t>
            </a:r>
            <a:r>
              <a:rPr lang="en-US" sz="4400" baseline="-25000" dirty="0" err="1">
                <a:solidFill>
                  <a:srgbClr val="FF0000"/>
                </a:solidFill>
              </a:rPr>
              <a:t>ex</a:t>
            </a:r>
            <a:endParaRPr lang="en-US" sz="4400" baseline="-25000" dirty="0">
              <a:solidFill>
                <a:srgbClr val="FF0000"/>
              </a:solidFill>
            </a:endParaRPr>
          </a:p>
        </p:txBody>
      </p:sp>
      <p:cxnSp>
        <p:nvCxnSpPr>
          <p:cNvPr id="20" name="Straight Connector 19"/>
          <p:cNvCxnSpPr/>
          <p:nvPr/>
        </p:nvCxnSpPr>
        <p:spPr>
          <a:xfrm flipV="1">
            <a:off x="3912190" y="2956560"/>
            <a:ext cx="0" cy="79248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4892040" y="2956560"/>
            <a:ext cx="0" cy="79248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4071835" y="3107711"/>
            <a:ext cx="614271" cy="594360"/>
          </a:xfrm>
          <a:prstGeom prst="rect">
            <a:avLst/>
          </a:prstGeom>
          <a:noFill/>
        </p:spPr>
        <p:txBody>
          <a:bodyPr wrap="square" rtlCol="0">
            <a:spAutoFit/>
          </a:bodyPr>
          <a:lstStyle/>
          <a:p>
            <a:r>
              <a:rPr lang="en-US" sz="3200" dirty="0">
                <a:sym typeface="Symbol"/>
              </a:rPr>
              <a:t>x</a:t>
            </a:r>
            <a:endParaRPr lang="en-US" sz="3200" dirty="0"/>
          </a:p>
        </p:txBody>
      </p:sp>
      <p:cxnSp>
        <p:nvCxnSpPr>
          <p:cNvPr id="26" name="Straight Arrow Connector 25"/>
          <p:cNvCxnSpPr/>
          <p:nvPr/>
        </p:nvCxnSpPr>
        <p:spPr>
          <a:xfrm>
            <a:off x="3348310" y="3413760"/>
            <a:ext cx="54864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4892040" y="3413760"/>
            <a:ext cx="54864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578477" y="976172"/>
            <a:ext cx="1125629" cy="584775"/>
          </a:xfrm>
          <a:prstGeom prst="rect">
            <a:avLst/>
          </a:prstGeom>
          <a:noFill/>
        </p:spPr>
        <p:txBody>
          <a:bodyPr wrap="none" rtlCol="0">
            <a:spAutoFit/>
          </a:bodyPr>
          <a:lstStyle/>
          <a:p>
            <a:r>
              <a:rPr lang="en-US" sz="3200" dirty="0"/>
              <a:t>P</a:t>
            </a:r>
            <a:r>
              <a:rPr lang="en-US" sz="3200" baseline="-25000" dirty="0"/>
              <a:t>i</a:t>
            </a:r>
            <a:r>
              <a:rPr lang="en-US" sz="3200" dirty="0"/>
              <a:t>    V</a:t>
            </a:r>
            <a:r>
              <a:rPr lang="en-US" sz="3200" baseline="-25000" dirty="0"/>
              <a:t>i</a:t>
            </a:r>
          </a:p>
        </p:txBody>
      </p:sp>
      <p:sp>
        <p:nvSpPr>
          <p:cNvPr id="29" name="TextBox 28"/>
          <p:cNvSpPr txBox="1"/>
          <p:nvPr/>
        </p:nvSpPr>
        <p:spPr>
          <a:xfrm>
            <a:off x="2642839" y="4121870"/>
            <a:ext cx="1076770" cy="584775"/>
          </a:xfrm>
          <a:prstGeom prst="rect">
            <a:avLst/>
          </a:prstGeom>
          <a:noFill/>
        </p:spPr>
        <p:txBody>
          <a:bodyPr wrap="none" rtlCol="0">
            <a:spAutoFit/>
          </a:bodyPr>
          <a:lstStyle/>
          <a:p>
            <a:r>
              <a:rPr lang="en-US" sz="3200" dirty="0"/>
              <a:t>P</a:t>
            </a:r>
            <a:r>
              <a:rPr lang="en-US" sz="3200" baseline="-25000" dirty="0"/>
              <a:t>f</a:t>
            </a:r>
            <a:r>
              <a:rPr lang="en-US" sz="3200" dirty="0"/>
              <a:t>   </a:t>
            </a:r>
            <a:r>
              <a:rPr lang="en-US" sz="3200" dirty="0" err="1"/>
              <a:t>V</a:t>
            </a:r>
            <a:r>
              <a:rPr lang="en-US" sz="3200" baseline="-25000" dirty="0" err="1"/>
              <a:t>f</a:t>
            </a:r>
            <a:endParaRPr lang="en-US" sz="3200" baseline="-25000" dirty="0"/>
          </a:p>
        </p:txBody>
      </p:sp>
      <p:sp>
        <p:nvSpPr>
          <p:cNvPr id="22" name="Left Arrow 21"/>
          <p:cNvSpPr/>
          <p:nvPr/>
        </p:nvSpPr>
        <p:spPr>
          <a:xfrm flipH="1">
            <a:off x="2754352" y="1539612"/>
            <a:ext cx="1170877" cy="367247"/>
          </a:xfrm>
          <a:prstGeom prst="leftArrow">
            <a:avLst>
              <a:gd name="adj1" fmla="val 50000"/>
              <a:gd name="adj2" fmla="val 530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2875899" y="1693127"/>
            <a:ext cx="558166" cy="646331"/>
          </a:xfrm>
          <a:prstGeom prst="rect">
            <a:avLst/>
          </a:prstGeom>
          <a:noFill/>
        </p:spPr>
        <p:txBody>
          <a:bodyPr wrap="none" rtlCol="0">
            <a:spAutoFit/>
          </a:bodyPr>
          <a:lstStyle/>
          <a:p>
            <a:r>
              <a:rPr lang="en-US" sz="3600" dirty="0" err="1">
                <a:solidFill>
                  <a:srgbClr val="FF0000"/>
                </a:solidFill>
              </a:rPr>
              <a:t>F</a:t>
            </a:r>
            <a:r>
              <a:rPr lang="en-US" sz="3600" baseline="-25000" dirty="0" err="1">
                <a:solidFill>
                  <a:srgbClr val="FF0000"/>
                </a:solidFill>
              </a:rPr>
              <a:t>p</a:t>
            </a:r>
            <a:endParaRPr lang="en-US" sz="3600" baseline="-25000" dirty="0">
              <a:solidFill>
                <a:srgbClr val="FF0000"/>
              </a:solidFill>
            </a:endParaRPr>
          </a:p>
        </p:txBody>
      </p:sp>
      <p:sp>
        <p:nvSpPr>
          <p:cNvPr id="30" name="Left Arrow 29"/>
          <p:cNvSpPr/>
          <p:nvPr/>
        </p:nvSpPr>
        <p:spPr>
          <a:xfrm>
            <a:off x="5336602" y="4595046"/>
            <a:ext cx="1158240" cy="335280"/>
          </a:xfrm>
          <a:prstGeom prst="lef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555801" y="4369420"/>
            <a:ext cx="781432" cy="769441"/>
          </a:xfrm>
          <a:prstGeom prst="rect">
            <a:avLst/>
          </a:prstGeom>
          <a:noFill/>
        </p:spPr>
        <p:txBody>
          <a:bodyPr wrap="none" rtlCol="0">
            <a:spAutoFit/>
          </a:bodyPr>
          <a:lstStyle/>
          <a:p>
            <a:r>
              <a:rPr lang="en-US" sz="4400" dirty="0" err="1">
                <a:solidFill>
                  <a:srgbClr val="FF0000"/>
                </a:solidFill>
              </a:rPr>
              <a:t>F</a:t>
            </a:r>
            <a:r>
              <a:rPr lang="en-US" sz="4400" baseline="-25000" dirty="0" err="1">
                <a:solidFill>
                  <a:srgbClr val="FF0000"/>
                </a:solidFill>
              </a:rPr>
              <a:t>ex</a:t>
            </a:r>
            <a:endParaRPr lang="en-US" sz="4400" baseline="-25000" dirty="0">
              <a:solidFill>
                <a:srgbClr val="FF0000"/>
              </a:solidFill>
            </a:endParaRPr>
          </a:p>
        </p:txBody>
      </p:sp>
      <p:sp>
        <p:nvSpPr>
          <p:cNvPr id="32" name="Left Arrow 31"/>
          <p:cNvSpPr/>
          <p:nvPr/>
        </p:nvSpPr>
        <p:spPr>
          <a:xfrm flipH="1">
            <a:off x="3821152" y="4591329"/>
            <a:ext cx="1170877" cy="367247"/>
          </a:xfrm>
          <a:prstGeom prst="leftArrow">
            <a:avLst>
              <a:gd name="adj1" fmla="val 50000"/>
              <a:gd name="adj2" fmla="val 53037"/>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3942699" y="4744844"/>
            <a:ext cx="558166" cy="646331"/>
          </a:xfrm>
          <a:prstGeom prst="rect">
            <a:avLst/>
          </a:prstGeom>
          <a:noFill/>
        </p:spPr>
        <p:txBody>
          <a:bodyPr wrap="none" rtlCol="0">
            <a:spAutoFit/>
          </a:bodyPr>
          <a:lstStyle/>
          <a:p>
            <a:r>
              <a:rPr lang="en-US" sz="3600" dirty="0" err="1">
                <a:solidFill>
                  <a:srgbClr val="FF0000"/>
                </a:solidFill>
              </a:rPr>
              <a:t>F</a:t>
            </a:r>
            <a:r>
              <a:rPr lang="en-US" sz="3600" baseline="-25000" dirty="0" err="1">
                <a:solidFill>
                  <a:srgbClr val="FF0000"/>
                </a:solidFill>
              </a:rPr>
              <a:t>p</a:t>
            </a:r>
            <a:endParaRPr lang="en-US" sz="3600" baseline="-25000" dirty="0">
              <a:solidFill>
                <a:srgbClr val="FF00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A706DC5-3B00-400E-BEEF-9610CEBBF1D9}"/>
              </a:ext>
            </a:extLst>
          </p:cNvPr>
          <p:cNvGrpSpPr/>
          <p:nvPr/>
        </p:nvGrpSpPr>
        <p:grpSpPr>
          <a:xfrm>
            <a:off x="5369997" y="163286"/>
            <a:ext cx="2476916" cy="3200400"/>
            <a:chOff x="4178012" y="1894114"/>
            <a:chExt cx="2476916" cy="3498832"/>
          </a:xfrm>
        </p:grpSpPr>
        <p:sp>
          <p:nvSpPr>
            <p:cNvPr id="36" name="Oval 35"/>
            <p:cNvSpPr/>
            <p:nvPr/>
          </p:nvSpPr>
          <p:spPr>
            <a:xfrm flipH="1">
              <a:off x="4700527" y="2438399"/>
              <a:ext cx="762000" cy="718457"/>
            </a:xfrm>
            <a:prstGeom prst="ellipse">
              <a:avLst/>
            </a:prstGeom>
            <a:solidFill>
              <a:srgbClr val="002060"/>
            </a:solidFill>
            <a:ln w="9525" algn="ctr">
              <a:noFill/>
              <a:round/>
              <a:headEnd/>
              <a:tailEnd/>
            </a:ln>
          </p:spPr>
          <p:txBody>
            <a:bodyPr wrap="none" anchor="ctr"/>
            <a:lstStyle/>
            <a:p>
              <a:endParaRPr lang="en-US" dirty="0">
                <a:solidFill>
                  <a:schemeClr val="tx1"/>
                </a:solidFill>
              </a:endParaRPr>
            </a:p>
          </p:txBody>
        </p:sp>
        <p:sp>
          <p:nvSpPr>
            <p:cNvPr id="4" name="Rectangle 14"/>
            <p:cNvSpPr>
              <a:spLocks noChangeArrowheads="1"/>
            </p:cNvSpPr>
            <p:nvPr/>
          </p:nvSpPr>
          <p:spPr bwMode="auto">
            <a:xfrm rot="15955976">
              <a:off x="4700797" y="2977587"/>
              <a:ext cx="173633" cy="293224"/>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0" name="Oval 12"/>
            <p:cNvSpPr>
              <a:spLocks noChangeArrowheads="1"/>
            </p:cNvSpPr>
            <p:nvPr/>
          </p:nvSpPr>
          <p:spPr bwMode="auto">
            <a:xfrm rot="18889740">
              <a:off x="4924091" y="2349001"/>
              <a:ext cx="711420" cy="1435098"/>
            </a:xfrm>
            <a:prstGeom prst="ellipse">
              <a:avLst/>
            </a:prstGeom>
            <a:solidFill>
              <a:srgbClr val="002060"/>
            </a:solidFill>
            <a:ln w="9525" algn="ctr">
              <a:noFill/>
              <a:round/>
              <a:headEnd/>
              <a:tailEnd/>
            </a:ln>
          </p:spPr>
          <p:txBody>
            <a:bodyPr wrap="none" anchor="ctr"/>
            <a:lstStyle/>
            <a:p>
              <a:endParaRPr lang="en-US" dirty="0"/>
            </a:p>
          </p:txBody>
        </p:sp>
        <p:sp>
          <p:nvSpPr>
            <p:cNvPr id="11" name="Rectangle 14"/>
            <p:cNvSpPr>
              <a:spLocks noChangeArrowheads="1"/>
            </p:cNvSpPr>
            <p:nvPr/>
          </p:nvSpPr>
          <p:spPr bwMode="auto">
            <a:xfrm rot="19284302">
              <a:off x="4890481" y="2627055"/>
              <a:ext cx="373398" cy="70485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12" name="Rectangle 17"/>
            <p:cNvSpPr>
              <a:spLocks noChangeArrowheads="1"/>
            </p:cNvSpPr>
            <p:nvPr/>
          </p:nvSpPr>
          <p:spPr bwMode="auto">
            <a:xfrm rot="18389825">
              <a:off x="6060069" y="4985842"/>
              <a:ext cx="579285" cy="234923"/>
            </a:xfrm>
            <a:prstGeom prst="rect">
              <a:avLst/>
            </a:prstGeom>
            <a:solidFill>
              <a:srgbClr val="002060"/>
            </a:solidFill>
            <a:ln w="9525" algn="ctr">
              <a:noFill/>
              <a:miter lim="800000"/>
              <a:headEnd/>
              <a:tailEnd/>
            </a:ln>
          </p:spPr>
          <p:txBody>
            <a:bodyPr wrap="none" anchor="ctr"/>
            <a:lstStyle/>
            <a:p>
              <a:endParaRPr lang="en-US" dirty="0"/>
            </a:p>
          </p:txBody>
        </p:sp>
        <p:sp>
          <p:nvSpPr>
            <p:cNvPr id="13" name="Oval 11"/>
            <p:cNvSpPr>
              <a:spLocks noChangeArrowheads="1"/>
            </p:cNvSpPr>
            <p:nvPr/>
          </p:nvSpPr>
          <p:spPr bwMode="auto">
            <a:xfrm rot="20727755">
              <a:off x="4288011" y="2108682"/>
              <a:ext cx="496888" cy="692150"/>
            </a:xfrm>
            <a:prstGeom prst="ellipse">
              <a:avLst/>
            </a:prstGeom>
            <a:solidFill>
              <a:srgbClr val="002060"/>
            </a:solidFill>
            <a:ln w="9525" algn="ctr">
              <a:solidFill>
                <a:schemeClr val="bg1"/>
              </a:solidFill>
              <a:round/>
              <a:headEnd/>
              <a:tailEnd/>
            </a:ln>
          </p:spPr>
          <p:txBody>
            <a:bodyPr wrap="none" anchor="ctr"/>
            <a:lstStyle/>
            <a:p>
              <a:endParaRPr lang="en-US" dirty="0"/>
            </a:p>
          </p:txBody>
        </p:sp>
        <p:sp>
          <p:nvSpPr>
            <p:cNvPr id="14" name="Rectangle 13"/>
            <p:cNvSpPr>
              <a:spLocks noChangeArrowheads="1"/>
            </p:cNvSpPr>
            <p:nvPr/>
          </p:nvSpPr>
          <p:spPr bwMode="auto">
            <a:xfrm rot="15598616">
              <a:off x="4899736" y="2934860"/>
              <a:ext cx="242971" cy="81663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15" name="Rectangle 15"/>
            <p:cNvSpPr>
              <a:spLocks noChangeArrowheads="1"/>
            </p:cNvSpPr>
            <p:nvPr/>
          </p:nvSpPr>
          <p:spPr bwMode="auto">
            <a:xfrm rot="2427115">
              <a:off x="5064057" y="3439418"/>
              <a:ext cx="407626" cy="1019175"/>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6" name="Rectangle 17"/>
            <p:cNvSpPr>
              <a:spLocks noChangeArrowheads="1"/>
            </p:cNvSpPr>
            <p:nvPr/>
          </p:nvSpPr>
          <p:spPr bwMode="auto">
            <a:xfrm rot="17343869">
              <a:off x="5481312" y="4995095"/>
              <a:ext cx="406400" cy="219075"/>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7" name="Rectangle 15"/>
            <p:cNvSpPr>
              <a:spLocks noChangeArrowheads="1"/>
            </p:cNvSpPr>
            <p:nvPr/>
          </p:nvSpPr>
          <p:spPr bwMode="auto">
            <a:xfrm rot="18313119">
              <a:off x="5173946" y="3997970"/>
              <a:ext cx="349286" cy="1150927"/>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8" name="Rectangle 17"/>
            <p:cNvSpPr>
              <a:spLocks noChangeArrowheads="1"/>
            </p:cNvSpPr>
            <p:nvPr/>
          </p:nvSpPr>
          <p:spPr bwMode="auto">
            <a:xfrm rot="21264942">
              <a:off x="5471333" y="5115612"/>
              <a:ext cx="220544" cy="219075"/>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19" name="Rectangle 15"/>
            <p:cNvSpPr>
              <a:spLocks noChangeArrowheads="1"/>
            </p:cNvSpPr>
            <p:nvPr/>
          </p:nvSpPr>
          <p:spPr bwMode="auto">
            <a:xfrm rot="20968993">
              <a:off x="5492193" y="3445137"/>
              <a:ext cx="412934" cy="1019175"/>
            </a:xfrm>
            <a:prstGeom prst="rect">
              <a:avLst/>
            </a:prstGeom>
            <a:solidFill>
              <a:srgbClr val="002060"/>
            </a:solidFill>
            <a:ln w="9525" algn="ctr">
              <a:noFill/>
              <a:miter lim="800000"/>
              <a:headEnd/>
              <a:tailEnd/>
            </a:ln>
          </p:spPr>
          <p:txBody>
            <a:bodyPr wrap="none" anchor="ctr"/>
            <a:lstStyle/>
            <a:p>
              <a:endParaRPr lang="en-US" dirty="0"/>
            </a:p>
          </p:txBody>
        </p:sp>
        <p:sp>
          <p:nvSpPr>
            <p:cNvPr id="20" name="Rectangle 15"/>
            <p:cNvSpPr>
              <a:spLocks noChangeArrowheads="1"/>
            </p:cNvSpPr>
            <p:nvPr/>
          </p:nvSpPr>
          <p:spPr bwMode="auto">
            <a:xfrm rot="18559297">
              <a:off x="5882734" y="3997483"/>
              <a:ext cx="355300" cy="1189088"/>
            </a:xfrm>
            <a:prstGeom prst="rect">
              <a:avLst/>
            </a:prstGeom>
            <a:solidFill>
              <a:srgbClr val="002060"/>
            </a:solidFill>
            <a:ln w="9525" algn="ctr">
              <a:noFill/>
              <a:miter lim="800000"/>
              <a:headEnd/>
              <a:tailEnd/>
            </a:ln>
          </p:spPr>
          <p:txBody>
            <a:bodyPr wrap="none" anchor="ctr"/>
            <a:lstStyle/>
            <a:p>
              <a:endParaRPr lang="en-US" dirty="0"/>
            </a:p>
          </p:txBody>
        </p:sp>
        <p:sp>
          <p:nvSpPr>
            <p:cNvPr id="21" name="Rectangle 13"/>
            <p:cNvSpPr>
              <a:spLocks noChangeArrowheads="1"/>
            </p:cNvSpPr>
            <p:nvPr/>
          </p:nvSpPr>
          <p:spPr bwMode="auto">
            <a:xfrm rot="17370522">
              <a:off x="4441614" y="3347001"/>
              <a:ext cx="334068" cy="261372"/>
            </a:xfrm>
            <a:prstGeom prst="rect">
              <a:avLst/>
            </a:prstGeom>
            <a:solidFill>
              <a:schemeClr val="tx2">
                <a:lumMod val="75000"/>
              </a:schemeClr>
            </a:solidFill>
            <a:ln w="9525" algn="ctr">
              <a:noFill/>
              <a:miter lim="800000"/>
              <a:headEnd/>
              <a:tailEnd/>
            </a:ln>
          </p:spPr>
          <p:txBody>
            <a:bodyPr wrap="none" anchor="ctr"/>
            <a:lstStyle/>
            <a:p>
              <a:endParaRPr lang="en-US" dirty="0"/>
            </a:p>
          </p:txBody>
        </p:sp>
        <p:grpSp>
          <p:nvGrpSpPr>
            <p:cNvPr id="46" name="Group 45"/>
            <p:cNvGrpSpPr/>
            <p:nvPr/>
          </p:nvGrpSpPr>
          <p:grpSpPr>
            <a:xfrm>
              <a:off x="4178012" y="1894114"/>
              <a:ext cx="903512" cy="881743"/>
              <a:chOff x="6825343" y="1110343"/>
              <a:chExt cx="1937658" cy="2079171"/>
            </a:xfrm>
          </p:grpSpPr>
          <p:sp>
            <p:nvSpPr>
              <p:cNvPr id="39" name="Freeform 38"/>
              <p:cNvSpPr/>
              <p:nvPr/>
            </p:nvSpPr>
            <p:spPr>
              <a:xfrm>
                <a:off x="6901543" y="1110343"/>
                <a:ext cx="1861458" cy="1828800"/>
              </a:xfrm>
              <a:custGeom>
                <a:avLst/>
                <a:gdLst>
                  <a:gd name="connsiteX0" fmla="*/ 0 w 1839686"/>
                  <a:gd name="connsiteY0" fmla="*/ 870857 h 1828800"/>
                  <a:gd name="connsiteX1" fmla="*/ 849086 w 1839686"/>
                  <a:gd name="connsiteY1" fmla="*/ 903514 h 1828800"/>
                  <a:gd name="connsiteX2" fmla="*/ 1077686 w 1839686"/>
                  <a:gd name="connsiteY2" fmla="*/ 1208314 h 1828800"/>
                  <a:gd name="connsiteX3" fmla="*/ 838200 w 1839686"/>
                  <a:gd name="connsiteY3" fmla="*/ 1654628 h 1828800"/>
                  <a:gd name="connsiteX4" fmla="*/ 1219200 w 1839686"/>
                  <a:gd name="connsiteY4" fmla="*/ 1828800 h 1828800"/>
                  <a:gd name="connsiteX5" fmla="*/ 1611086 w 1839686"/>
                  <a:gd name="connsiteY5" fmla="*/ 1480457 h 1828800"/>
                  <a:gd name="connsiteX6" fmla="*/ 1796143 w 1839686"/>
                  <a:gd name="connsiteY6" fmla="*/ 1273628 h 1828800"/>
                  <a:gd name="connsiteX7" fmla="*/ 1839686 w 1839686"/>
                  <a:gd name="connsiteY7" fmla="*/ 859971 h 1828800"/>
                  <a:gd name="connsiteX8" fmla="*/ 1730829 w 1839686"/>
                  <a:gd name="connsiteY8" fmla="*/ 402771 h 1828800"/>
                  <a:gd name="connsiteX9" fmla="*/ 1295400 w 1839686"/>
                  <a:gd name="connsiteY9" fmla="*/ 32657 h 1828800"/>
                  <a:gd name="connsiteX10" fmla="*/ 816429 w 1839686"/>
                  <a:gd name="connsiteY10" fmla="*/ 0 h 1828800"/>
                  <a:gd name="connsiteX11" fmla="*/ 337457 w 1839686"/>
                  <a:gd name="connsiteY11" fmla="*/ 228600 h 1828800"/>
                  <a:gd name="connsiteX12" fmla="*/ 130629 w 1839686"/>
                  <a:gd name="connsiteY12" fmla="*/ 609600 h 1828800"/>
                  <a:gd name="connsiteX13" fmla="*/ 0 w 1839686"/>
                  <a:gd name="connsiteY13" fmla="*/ 870857 h 1828800"/>
                  <a:gd name="connsiteX0" fmla="*/ 0 w 1839686"/>
                  <a:gd name="connsiteY0" fmla="*/ 870857 h 1828800"/>
                  <a:gd name="connsiteX1" fmla="*/ 849086 w 1839686"/>
                  <a:gd name="connsiteY1" fmla="*/ 903514 h 1828800"/>
                  <a:gd name="connsiteX2" fmla="*/ 1077686 w 1839686"/>
                  <a:gd name="connsiteY2" fmla="*/ 1208314 h 1828800"/>
                  <a:gd name="connsiteX3" fmla="*/ 838200 w 1839686"/>
                  <a:gd name="connsiteY3" fmla="*/ 1654628 h 1828800"/>
                  <a:gd name="connsiteX4" fmla="*/ 1219200 w 1839686"/>
                  <a:gd name="connsiteY4" fmla="*/ 1828800 h 1828800"/>
                  <a:gd name="connsiteX5" fmla="*/ 1687286 w 1839686"/>
                  <a:gd name="connsiteY5" fmla="*/ 1534885 h 1828800"/>
                  <a:gd name="connsiteX6" fmla="*/ 1796143 w 1839686"/>
                  <a:gd name="connsiteY6" fmla="*/ 1273628 h 1828800"/>
                  <a:gd name="connsiteX7" fmla="*/ 1839686 w 1839686"/>
                  <a:gd name="connsiteY7" fmla="*/ 859971 h 1828800"/>
                  <a:gd name="connsiteX8" fmla="*/ 1730829 w 1839686"/>
                  <a:gd name="connsiteY8" fmla="*/ 402771 h 1828800"/>
                  <a:gd name="connsiteX9" fmla="*/ 1295400 w 1839686"/>
                  <a:gd name="connsiteY9" fmla="*/ 32657 h 1828800"/>
                  <a:gd name="connsiteX10" fmla="*/ 816429 w 1839686"/>
                  <a:gd name="connsiteY10" fmla="*/ 0 h 1828800"/>
                  <a:gd name="connsiteX11" fmla="*/ 337457 w 1839686"/>
                  <a:gd name="connsiteY11" fmla="*/ 228600 h 1828800"/>
                  <a:gd name="connsiteX12" fmla="*/ 130629 w 1839686"/>
                  <a:gd name="connsiteY12" fmla="*/ 609600 h 1828800"/>
                  <a:gd name="connsiteX13" fmla="*/ 0 w 1839686"/>
                  <a:gd name="connsiteY13" fmla="*/ 870857 h 1828800"/>
                  <a:gd name="connsiteX0" fmla="*/ 0 w 1839686"/>
                  <a:gd name="connsiteY0" fmla="*/ 870857 h 1828800"/>
                  <a:gd name="connsiteX1" fmla="*/ 849086 w 1839686"/>
                  <a:gd name="connsiteY1" fmla="*/ 903514 h 1828800"/>
                  <a:gd name="connsiteX2" fmla="*/ 1077686 w 1839686"/>
                  <a:gd name="connsiteY2" fmla="*/ 1208314 h 1828800"/>
                  <a:gd name="connsiteX3" fmla="*/ 838200 w 1839686"/>
                  <a:gd name="connsiteY3" fmla="*/ 1654628 h 1828800"/>
                  <a:gd name="connsiteX4" fmla="*/ 1219200 w 1839686"/>
                  <a:gd name="connsiteY4" fmla="*/ 1828800 h 1828800"/>
                  <a:gd name="connsiteX5" fmla="*/ 1719943 w 1839686"/>
                  <a:gd name="connsiteY5" fmla="*/ 1556656 h 1828800"/>
                  <a:gd name="connsiteX6" fmla="*/ 1796143 w 1839686"/>
                  <a:gd name="connsiteY6" fmla="*/ 1273628 h 1828800"/>
                  <a:gd name="connsiteX7" fmla="*/ 1839686 w 1839686"/>
                  <a:gd name="connsiteY7" fmla="*/ 859971 h 1828800"/>
                  <a:gd name="connsiteX8" fmla="*/ 1730829 w 1839686"/>
                  <a:gd name="connsiteY8" fmla="*/ 402771 h 1828800"/>
                  <a:gd name="connsiteX9" fmla="*/ 1295400 w 1839686"/>
                  <a:gd name="connsiteY9" fmla="*/ 32657 h 1828800"/>
                  <a:gd name="connsiteX10" fmla="*/ 816429 w 1839686"/>
                  <a:gd name="connsiteY10" fmla="*/ 0 h 1828800"/>
                  <a:gd name="connsiteX11" fmla="*/ 337457 w 1839686"/>
                  <a:gd name="connsiteY11" fmla="*/ 228600 h 1828800"/>
                  <a:gd name="connsiteX12" fmla="*/ 130629 w 1839686"/>
                  <a:gd name="connsiteY12" fmla="*/ 609600 h 1828800"/>
                  <a:gd name="connsiteX13" fmla="*/ 0 w 1839686"/>
                  <a:gd name="connsiteY13" fmla="*/ 870857 h 1828800"/>
                  <a:gd name="connsiteX0" fmla="*/ 0 w 1861458"/>
                  <a:gd name="connsiteY0" fmla="*/ 870857 h 1828800"/>
                  <a:gd name="connsiteX1" fmla="*/ 849086 w 1861458"/>
                  <a:gd name="connsiteY1" fmla="*/ 903514 h 1828800"/>
                  <a:gd name="connsiteX2" fmla="*/ 1077686 w 1861458"/>
                  <a:gd name="connsiteY2" fmla="*/ 1208314 h 1828800"/>
                  <a:gd name="connsiteX3" fmla="*/ 838200 w 1861458"/>
                  <a:gd name="connsiteY3" fmla="*/ 1654628 h 1828800"/>
                  <a:gd name="connsiteX4" fmla="*/ 1219200 w 1861458"/>
                  <a:gd name="connsiteY4" fmla="*/ 1828800 h 1828800"/>
                  <a:gd name="connsiteX5" fmla="*/ 1719943 w 1861458"/>
                  <a:gd name="connsiteY5" fmla="*/ 1556656 h 1828800"/>
                  <a:gd name="connsiteX6" fmla="*/ 1861458 w 1861458"/>
                  <a:gd name="connsiteY6" fmla="*/ 1436914 h 1828800"/>
                  <a:gd name="connsiteX7" fmla="*/ 1839686 w 1861458"/>
                  <a:gd name="connsiteY7" fmla="*/ 859971 h 1828800"/>
                  <a:gd name="connsiteX8" fmla="*/ 1730829 w 1861458"/>
                  <a:gd name="connsiteY8" fmla="*/ 402771 h 1828800"/>
                  <a:gd name="connsiteX9" fmla="*/ 1295400 w 1861458"/>
                  <a:gd name="connsiteY9" fmla="*/ 32657 h 1828800"/>
                  <a:gd name="connsiteX10" fmla="*/ 816429 w 1861458"/>
                  <a:gd name="connsiteY10" fmla="*/ 0 h 1828800"/>
                  <a:gd name="connsiteX11" fmla="*/ 337457 w 1861458"/>
                  <a:gd name="connsiteY11" fmla="*/ 228600 h 1828800"/>
                  <a:gd name="connsiteX12" fmla="*/ 130629 w 1861458"/>
                  <a:gd name="connsiteY12" fmla="*/ 609600 h 1828800"/>
                  <a:gd name="connsiteX13" fmla="*/ 0 w 1861458"/>
                  <a:gd name="connsiteY13" fmla="*/ 870857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61458" h="1828800">
                    <a:moveTo>
                      <a:pt x="0" y="870857"/>
                    </a:moveTo>
                    <a:lnTo>
                      <a:pt x="849086" y="903514"/>
                    </a:lnTo>
                    <a:lnTo>
                      <a:pt x="1077686" y="1208314"/>
                    </a:lnTo>
                    <a:lnTo>
                      <a:pt x="838200" y="1654628"/>
                    </a:lnTo>
                    <a:lnTo>
                      <a:pt x="1219200" y="1828800"/>
                    </a:lnTo>
                    <a:lnTo>
                      <a:pt x="1719943" y="1556656"/>
                    </a:lnTo>
                    <a:lnTo>
                      <a:pt x="1861458" y="1436914"/>
                    </a:lnTo>
                    <a:lnTo>
                      <a:pt x="1839686" y="859971"/>
                    </a:lnTo>
                    <a:lnTo>
                      <a:pt x="1730829" y="402771"/>
                    </a:lnTo>
                    <a:lnTo>
                      <a:pt x="1295400" y="32657"/>
                    </a:lnTo>
                    <a:lnTo>
                      <a:pt x="816429" y="0"/>
                    </a:lnTo>
                    <a:lnTo>
                      <a:pt x="337457" y="228600"/>
                    </a:lnTo>
                    <a:lnTo>
                      <a:pt x="130629" y="609600"/>
                    </a:lnTo>
                    <a:lnTo>
                      <a:pt x="0" y="87085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39"/>
              <p:cNvSpPr/>
              <p:nvPr/>
            </p:nvSpPr>
            <p:spPr>
              <a:xfrm>
                <a:off x="6890657" y="1981200"/>
                <a:ext cx="936172" cy="174171"/>
              </a:xfrm>
              <a:custGeom>
                <a:avLst/>
                <a:gdLst>
                  <a:gd name="connsiteX0" fmla="*/ 97972 w 936172"/>
                  <a:gd name="connsiteY0" fmla="*/ 87086 h 174171"/>
                  <a:gd name="connsiteX1" fmla="*/ 936172 w 936172"/>
                  <a:gd name="connsiteY1" fmla="*/ 174171 h 174171"/>
                  <a:gd name="connsiteX2" fmla="*/ 914400 w 936172"/>
                  <a:gd name="connsiteY2" fmla="*/ 76200 h 174171"/>
                  <a:gd name="connsiteX3" fmla="*/ 87086 w 936172"/>
                  <a:gd name="connsiteY3" fmla="*/ 0 h 174171"/>
                  <a:gd name="connsiteX4" fmla="*/ 0 w 936172"/>
                  <a:gd name="connsiteY4" fmla="*/ 43543 h 174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172" h="174171">
                    <a:moveTo>
                      <a:pt x="97972" y="87086"/>
                    </a:moveTo>
                    <a:lnTo>
                      <a:pt x="936172" y="174171"/>
                    </a:lnTo>
                    <a:lnTo>
                      <a:pt x="914400" y="76200"/>
                    </a:lnTo>
                    <a:lnTo>
                      <a:pt x="87086" y="0"/>
                    </a:lnTo>
                    <a:lnTo>
                      <a:pt x="0" y="43543"/>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40"/>
              <p:cNvSpPr/>
              <p:nvPr/>
            </p:nvSpPr>
            <p:spPr>
              <a:xfrm>
                <a:off x="6955971" y="2024743"/>
                <a:ext cx="283029" cy="1153886"/>
              </a:xfrm>
              <a:custGeom>
                <a:avLst/>
                <a:gdLst>
                  <a:gd name="connsiteX0" fmla="*/ 0 w 283029"/>
                  <a:gd name="connsiteY0" fmla="*/ 43543 h 1153886"/>
                  <a:gd name="connsiteX1" fmla="*/ 108858 w 283029"/>
                  <a:gd name="connsiteY1" fmla="*/ 598714 h 1153886"/>
                  <a:gd name="connsiteX2" fmla="*/ 130629 w 283029"/>
                  <a:gd name="connsiteY2" fmla="*/ 979714 h 1153886"/>
                  <a:gd name="connsiteX3" fmla="*/ 228600 w 283029"/>
                  <a:gd name="connsiteY3" fmla="*/ 1153886 h 1153886"/>
                  <a:gd name="connsiteX4" fmla="*/ 283029 w 283029"/>
                  <a:gd name="connsiteY4" fmla="*/ 1132114 h 1153886"/>
                  <a:gd name="connsiteX5" fmla="*/ 174172 w 283029"/>
                  <a:gd name="connsiteY5" fmla="*/ 805543 h 1153886"/>
                  <a:gd name="connsiteX6" fmla="*/ 174172 w 283029"/>
                  <a:gd name="connsiteY6" fmla="*/ 576943 h 1153886"/>
                  <a:gd name="connsiteX7" fmla="*/ 87086 w 283029"/>
                  <a:gd name="connsiteY7" fmla="*/ 0 h 1153886"/>
                  <a:gd name="connsiteX8" fmla="*/ 0 w 283029"/>
                  <a:gd name="connsiteY8" fmla="*/ 43543 h 115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029" h="1153886">
                    <a:moveTo>
                      <a:pt x="0" y="43543"/>
                    </a:moveTo>
                    <a:lnTo>
                      <a:pt x="108858" y="598714"/>
                    </a:lnTo>
                    <a:lnTo>
                      <a:pt x="130629" y="979714"/>
                    </a:lnTo>
                    <a:lnTo>
                      <a:pt x="228600" y="1153886"/>
                    </a:lnTo>
                    <a:lnTo>
                      <a:pt x="283029" y="1132114"/>
                    </a:lnTo>
                    <a:lnTo>
                      <a:pt x="174172" y="805543"/>
                    </a:lnTo>
                    <a:lnTo>
                      <a:pt x="174172" y="576943"/>
                    </a:lnTo>
                    <a:lnTo>
                      <a:pt x="87086" y="0"/>
                    </a:lnTo>
                    <a:lnTo>
                      <a:pt x="0" y="4354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p:nvSpPr>
            <p:spPr>
              <a:xfrm>
                <a:off x="6825343" y="2438400"/>
                <a:ext cx="1088571" cy="206829"/>
              </a:xfrm>
              <a:custGeom>
                <a:avLst/>
                <a:gdLst>
                  <a:gd name="connsiteX0" fmla="*/ 1012371 w 1088571"/>
                  <a:gd name="connsiteY0" fmla="*/ 97971 h 206829"/>
                  <a:gd name="connsiteX1" fmla="*/ 511628 w 1088571"/>
                  <a:gd name="connsiteY1" fmla="*/ 130629 h 206829"/>
                  <a:gd name="connsiteX2" fmla="*/ 195943 w 1088571"/>
                  <a:gd name="connsiteY2" fmla="*/ 119743 h 206829"/>
                  <a:gd name="connsiteX3" fmla="*/ 43543 w 1088571"/>
                  <a:gd name="connsiteY3" fmla="*/ 87086 h 206829"/>
                  <a:gd name="connsiteX4" fmla="*/ 163286 w 1088571"/>
                  <a:gd name="connsiteY4" fmla="*/ 32657 h 206829"/>
                  <a:gd name="connsiteX5" fmla="*/ 163286 w 1088571"/>
                  <a:gd name="connsiteY5" fmla="*/ 0 h 206829"/>
                  <a:gd name="connsiteX6" fmla="*/ 0 w 1088571"/>
                  <a:gd name="connsiteY6" fmla="*/ 76200 h 206829"/>
                  <a:gd name="connsiteX7" fmla="*/ 0 w 1088571"/>
                  <a:gd name="connsiteY7" fmla="*/ 119743 h 206829"/>
                  <a:gd name="connsiteX8" fmla="*/ 185057 w 1088571"/>
                  <a:gd name="connsiteY8" fmla="*/ 185057 h 206829"/>
                  <a:gd name="connsiteX9" fmla="*/ 511628 w 1088571"/>
                  <a:gd name="connsiteY9" fmla="*/ 185057 h 206829"/>
                  <a:gd name="connsiteX10" fmla="*/ 925286 w 1088571"/>
                  <a:gd name="connsiteY10" fmla="*/ 195943 h 206829"/>
                  <a:gd name="connsiteX11" fmla="*/ 1088571 w 1088571"/>
                  <a:gd name="connsiteY11" fmla="*/ 206829 h 206829"/>
                  <a:gd name="connsiteX12" fmla="*/ 1066800 w 1088571"/>
                  <a:gd name="connsiteY12" fmla="*/ 152400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88571" h="206829">
                    <a:moveTo>
                      <a:pt x="1012371" y="97971"/>
                    </a:moveTo>
                    <a:lnTo>
                      <a:pt x="511628" y="130629"/>
                    </a:lnTo>
                    <a:lnTo>
                      <a:pt x="195943" y="119743"/>
                    </a:lnTo>
                    <a:lnTo>
                      <a:pt x="43543" y="87086"/>
                    </a:lnTo>
                    <a:lnTo>
                      <a:pt x="163286" y="32657"/>
                    </a:lnTo>
                    <a:lnTo>
                      <a:pt x="163286" y="0"/>
                    </a:lnTo>
                    <a:lnTo>
                      <a:pt x="0" y="76200"/>
                    </a:lnTo>
                    <a:lnTo>
                      <a:pt x="0" y="119743"/>
                    </a:lnTo>
                    <a:lnTo>
                      <a:pt x="185057" y="185057"/>
                    </a:lnTo>
                    <a:lnTo>
                      <a:pt x="511628" y="185057"/>
                    </a:lnTo>
                    <a:lnTo>
                      <a:pt x="925286" y="195943"/>
                    </a:lnTo>
                    <a:lnTo>
                      <a:pt x="1088571" y="206829"/>
                    </a:lnTo>
                    <a:lnTo>
                      <a:pt x="1066800" y="152400"/>
                    </a:lnTo>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42"/>
              <p:cNvSpPr/>
              <p:nvPr/>
            </p:nvSpPr>
            <p:spPr>
              <a:xfrm>
                <a:off x="6825343" y="2514600"/>
                <a:ext cx="195943" cy="631371"/>
              </a:xfrm>
              <a:custGeom>
                <a:avLst/>
                <a:gdLst>
                  <a:gd name="connsiteX0" fmla="*/ 10886 w 195943"/>
                  <a:gd name="connsiteY0" fmla="*/ 0 h 631371"/>
                  <a:gd name="connsiteX1" fmla="*/ 32657 w 195943"/>
                  <a:gd name="connsiteY1" fmla="*/ 326571 h 631371"/>
                  <a:gd name="connsiteX2" fmla="*/ 195943 w 195943"/>
                  <a:gd name="connsiteY2" fmla="*/ 609600 h 631371"/>
                  <a:gd name="connsiteX3" fmla="*/ 119743 w 195943"/>
                  <a:gd name="connsiteY3" fmla="*/ 631371 h 631371"/>
                  <a:gd name="connsiteX4" fmla="*/ 0 w 195943"/>
                  <a:gd name="connsiteY4" fmla="*/ 326571 h 631371"/>
                  <a:gd name="connsiteX5" fmla="*/ 10886 w 195943"/>
                  <a:gd name="connsiteY5" fmla="*/ 0 h 63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943" h="631371">
                    <a:moveTo>
                      <a:pt x="10886" y="0"/>
                    </a:moveTo>
                    <a:lnTo>
                      <a:pt x="32657" y="326571"/>
                    </a:lnTo>
                    <a:lnTo>
                      <a:pt x="195943" y="609600"/>
                    </a:lnTo>
                    <a:lnTo>
                      <a:pt x="119743" y="631371"/>
                    </a:lnTo>
                    <a:lnTo>
                      <a:pt x="0" y="326571"/>
                    </a:lnTo>
                    <a:lnTo>
                      <a:pt x="10886"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43"/>
              <p:cNvSpPr/>
              <p:nvPr/>
            </p:nvSpPr>
            <p:spPr>
              <a:xfrm>
                <a:off x="6977743" y="2645229"/>
                <a:ext cx="1055914" cy="544285"/>
              </a:xfrm>
              <a:custGeom>
                <a:avLst/>
                <a:gdLst>
                  <a:gd name="connsiteX0" fmla="*/ 261257 w 1055914"/>
                  <a:gd name="connsiteY0" fmla="*/ 54428 h 544285"/>
                  <a:gd name="connsiteX1" fmla="*/ 65314 w 1055914"/>
                  <a:gd name="connsiteY1" fmla="*/ 402771 h 544285"/>
                  <a:gd name="connsiteX2" fmla="*/ 141514 w 1055914"/>
                  <a:gd name="connsiteY2" fmla="*/ 457200 h 544285"/>
                  <a:gd name="connsiteX3" fmla="*/ 522514 w 1055914"/>
                  <a:gd name="connsiteY3" fmla="*/ 446314 h 544285"/>
                  <a:gd name="connsiteX4" fmla="*/ 881743 w 1055914"/>
                  <a:gd name="connsiteY4" fmla="*/ 315685 h 544285"/>
                  <a:gd name="connsiteX5" fmla="*/ 1055914 w 1055914"/>
                  <a:gd name="connsiteY5" fmla="*/ 228600 h 544285"/>
                  <a:gd name="connsiteX6" fmla="*/ 1055914 w 1055914"/>
                  <a:gd name="connsiteY6" fmla="*/ 228600 h 544285"/>
                  <a:gd name="connsiteX7" fmla="*/ 674914 w 1055914"/>
                  <a:gd name="connsiteY7" fmla="*/ 457200 h 544285"/>
                  <a:gd name="connsiteX8" fmla="*/ 315686 w 1055914"/>
                  <a:gd name="connsiteY8" fmla="*/ 544285 h 544285"/>
                  <a:gd name="connsiteX9" fmla="*/ 32657 w 1055914"/>
                  <a:gd name="connsiteY9" fmla="*/ 511628 h 544285"/>
                  <a:gd name="connsiteX10" fmla="*/ 0 w 1055914"/>
                  <a:gd name="connsiteY10" fmla="*/ 435428 h 544285"/>
                  <a:gd name="connsiteX11" fmla="*/ 32657 w 1055914"/>
                  <a:gd name="connsiteY11" fmla="*/ 304800 h 544285"/>
                  <a:gd name="connsiteX12" fmla="*/ 261257 w 1055914"/>
                  <a:gd name="connsiteY12" fmla="*/ 0 h 544285"/>
                  <a:gd name="connsiteX13" fmla="*/ 261257 w 1055914"/>
                  <a:gd name="connsiteY13" fmla="*/ 54428 h 54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55914" h="544285">
                    <a:moveTo>
                      <a:pt x="261257" y="54428"/>
                    </a:moveTo>
                    <a:lnTo>
                      <a:pt x="65314" y="402771"/>
                    </a:lnTo>
                    <a:lnTo>
                      <a:pt x="141514" y="457200"/>
                    </a:lnTo>
                    <a:lnTo>
                      <a:pt x="522514" y="446314"/>
                    </a:lnTo>
                    <a:lnTo>
                      <a:pt x="881743" y="315685"/>
                    </a:lnTo>
                    <a:lnTo>
                      <a:pt x="1055914" y="228600"/>
                    </a:lnTo>
                    <a:lnTo>
                      <a:pt x="1055914" y="228600"/>
                    </a:lnTo>
                    <a:lnTo>
                      <a:pt x="674914" y="457200"/>
                    </a:lnTo>
                    <a:lnTo>
                      <a:pt x="315686" y="544285"/>
                    </a:lnTo>
                    <a:lnTo>
                      <a:pt x="32657" y="511628"/>
                    </a:lnTo>
                    <a:lnTo>
                      <a:pt x="0" y="435428"/>
                    </a:lnTo>
                    <a:lnTo>
                      <a:pt x="32657" y="304800"/>
                    </a:lnTo>
                    <a:lnTo>
                      <a:pt x="261257" y="0"/>
                    </a:lnTo>
                    <a:lnTo>
                      <a:pt x="261257" y="54428"/>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44"/>
              <p:cNvSpPr/>
              <p:nvPr/>
            </p:nvSpPr>
            <p:spPr>
              <a:xfrm>
                <a:off x="7609114" y="2133600"/>
                <a:ext cx="206829" cy="979714"/>
              </a:xfrm>
              <a:custGeom>
                <a:avLst/>
                <a:gdLst>
                  <a:gd name="connsiteX0" fmla="*/ 119743 w 206829"/>
                  <a:gd name="connsiteY0" fmla="*/ 10886 h 979714"/>
                  <a:gd name="connsiteX1" fmla="*/ 0 w 206829"/>
                  <a:gd name="connsiteY1" fmla="*/ 979714 h 979714"/>
                  <a:gd name="connsiteX2" fmla="*/ 119743 w 206829"/>
                  <a:gd name="connsiteY2" fmla="*/ 936171 h 979714"/>
                  <a:gd name="connsiteX3" fmla="*/ 206829 w 206829"/>
                  <a:gd name="connsiteY3" fmla="*/ 0 h 979714"/>
                  <a:gd name="connsiteX4" fmla="*/ 119743 w 206829"/>
                  <a:gd name="connsiteY4" fmla="*/ 10886 h 979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829" h="979714">
                    <a:moveTo>
                      <a:pt x="119743" y="10886"/>
                    </a:moveTo>
                    <a:lnTo>
                      <a:pt x="0" y="979714"/>
                    </a:lnTo>
                    <a:lnTo>
                      <a:pt x="119743" y="936171"/>
                    </a:lnTo>
                    <a:lnTo>
                      <a:pt x="206829" y="0"/>
                    </a:lnTo>
                    <a:lnTo>
                      <a:pt x="119743" y="10886"/>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7" name="AutoShape 2" descr="Image result for football helmet draw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nvGrpSpPr>
          <p:cNvPr id="5" name="Group 4"/>
          <p:cNvGrpSpPr/>
          <p:nvPr/>
        </p:nvGrpSpPr>
        <p:grpSpPr>
          <a:xfrm>
            <a:off x="3253408" y="1208315"/>
            <a:ext cx="3052762" cy="2522538"/>
            <a:chOff x="3733800" y="2895600"/>
            <a:chExt cx="3052762" cy="2522538"/>
          </a:xfrm>
        </p:grpSpPr>
        <p:sp>
          <p:nvSpPr>
            <p:cNvPr id="6" name="Rectangle 5"/>
            <p:cNvSpPr>
              <a:spLocks noChangeArrowheads="1"/>
            </p:cNvSpPr>
            <p:nvPr/>
          </p:nvSpPr>
          <p:spPr bwMode="auto">
            <a:xfrm>
              <a:off x="3733800" y="2895600"/>
              <a:ext cx="3052762" cy="2522538"/>
            </a:xfrm>
            <a:prstGeom prst="rect">
              <a:avLst/>
            </a:prstGeom>
            <a:solidFill>
              <a:srgbClr val="D1A17D"/>
            </a:solidFill>
            <a:ln w="9525">
              <a:miter lim="800000"/>
              <a:headEnd/>
              <a:tailEnd/>
            </a:ln>
            <a:scene3d>
              <a:camera prst="legacyPerspectiveTop">
                <a:rot lat="21387989" lon="20093444" rev="212404"/>
              </a:camera>
              <a:lightRig rig="legacyFlat3" dir="b"/>
            </a:scene3d>
            <a:sp3d extrusionH="2514600" prstMaterial="legacyMatte">
              <a:bevelT w="13500" h="13500" prst="angle"/>
              <a:bevelB w="13500" h="13500" prst="angle"/>
              <a:extrusionClr>
                <a:srgbClr val="D1A17D"/>
              </a:extrusionClr>
            </a:sp3d>
          </p:spPr>
          <p:txBody>
            <a:bodyPr wrap="none" anchor="ctr">
              <a:flatTx/>
            </a:bodyPr>
            <a:lstStyle/>
            <a:p>
              <a:endParaRPr lang="en-US" dirty="0"/>
            </a:p>
          </p:txBody>
        </p:sp>
        <p:sp>
          <p:nvSpPr>
            <p:cNvPr id="7" name="Rectangle 6"/>
            <p:cNvSpPr/>
            <p:nvPr/>
          </p:nvSpPr>
          <p:spPr>
            <a:xfrm rot="21420000">
              <a:off x="4367476" y="3108381"/>
              <a:ext cx="1523109" cy="369332"/>
            </a:xfrm>
            <a:prstGeom prst="rect">
              <a:avLst/>
            </a:prstGeom>
          </p:spPr>
          <p:txBody>
            <a:bodyPr wrap="none">
              <a:spAutoFit/>
            </a:bodyPr>
            <a:lstStyle/>
            <a:p>
              <a:r>
                <a:rPr lang="en-US" dirty="0"/>
                <a:t>ACME  Pianos </a:t>
              </a:r>
            </a:p>
          </p:txBody>
        </p:sp>
        <p:sp>
          <p:nvSpPr>
            <p:cNvPr id="8" name="Freeform 7"/>
            <p:cNvSpPr/>
            <p:nvPr/>
          </p:nvSpPr>
          <p:spPr>
            <a:xfrm flipH="1">
              <a:off x="4572000" y="3657600"/>
              <a:ext cx="1219200" cy="695325"/>
            </a:xfrm>
            <a:custGeom>
              <a:avLst/>
              <a:gdLst>
                <a:gd name="connsiteX0" fmla="*/ 0 w 2857500"/>
                <a:gd name="connsiteY0" fmla="*/ 1114425 h 2628900"/>
                <a:gd name="connsiteX1" fmla="*/ 1385888 w 2857500"/>
                <a:gd name="connsiteY1" fmla="*/ 0 h 2628900"/>
                <a:gd name="connsiteX2" fmla="*/ 2857500 w 2857500"/>
                <a:gd name="connsiteY2" fmla="*/ 1271588 h 2628900"/>
                <a:gd name="connsiteX3" fmla="*/ 2028825 w 2857500"/>
                <a:gd name="connsiteY3" fmla="*/ 1243013 h 2628900"/>
                <a:gd name="connsiteX4" fmla="*/ 2043113 w 2857500"/>
                <a:gd name="connsiteY4" fmla="*/ 2628900 h 2628900"/>
                <a:gd name="connsiteX5" fmla="*/ 528638 w 2857500"/>
                <a:gd name="connsiteY5" fmla="*/ 2400300 h 2628900"/>
                <a:gd name="connsiteX6" fmla="*/ 585788 w 2857500"/>
                <a:gd name="connsiteY6" fmla="*/ 1057275 h 2628900"/>
                <a:gd name="connsiteX7" fmla="*/ 0 w 2857500"/>
                <a:gd name="connsiteY7" fmla="*/ 1114425 h 2628900"/>
                <a:gd name="connsiteX0" fmla="*/ 0 w 2857500"/>
                <a:gd name="connsiteY0" fmla="*/ 1114425 h 2628900"/>
                <a:gd name="connsiteX1" fmla="*/ 1385888 w 2857500"/>
                <a:gd name="connsiteY1" fmla="*/ 0 h 2628900"/>
                <a:gd name="connsiteX2" fmla="*/ 2857500 w 2857500"/>
                <a:gd name="connsiteY2" fmla="*/ 1271588 h 2628900"/>
                <a:gd name="connsiteX3" fmla="*/ 2028825 w 2857500"/>
                <a:gd name="connsiteY3" fmla="*/ 1243013 h 2628900"/>
                <a:gd name="connsiteX4" fmla="*/ 2043113 w 2857500"/>
                <a:gd name="connsiteY4" fmla="*/ 2628900 h 2628900"/>
                <a:gd name="connsiteX5" fmla="*/ 528638 w 2857500"/>
                <a:gd name="connsiteY5" fmla="*/ 2400300 h 2628900"/>
                <a:gd name="connsiteX6" fmla="*/ 728663 w 2857500"/>
                <a:gd name="connsiteY6" fmla="*/ 1114425 h 2628900"/>
                <a:gd name="connsiteX7" fmla="*/ 0 w 2857500"/>
                <a:gd name="connsiteY7" fmla="*/ 1114425 h 2628900"/>
                <a:gd name="connsiteX0" fmla="*/ 0 w 2857500"/>
                <a:gd name="connsiteY0" fmla="*/ 1114425 h 2628900"/>
                <a:gd name="connsiteX1" fmla="*/ 1385888 w 2857500"/>
                <a:gd name="connsiteY1" fmla="*/ 0 h 2628900"/>
                <a:gd name="connsiteX2" fmla="*/ 2857500 w 2857500"/>
                <a:gd name="connsiteY2" fmla="*/ 1271588 h 2628900"/>
                <a:gd name="connsiteX3" fmla="*/ 2028825 w 2857500"/>
                <a:gd name="connsiteY3" fmla="*/ 1243013 h 2628900"/>
                <a:gd name="connsiteX4" fmla="*/ 2043113 w 2857500"/>
                <a:gd name="connsiteY4" fmla="*/ 2628900 h 2628900"/>
                <a:gd name="connsiteX5" fmla="*/ 742950 w 2857500"/>
                <a:gd name="connsiteY5" fmla="*/ 2486025 h 2628900"/>
                <a:gd name="connsiteX6" fmla="*/ 728663 w 2857500"/>
                <a:gd name="connsiteY6" fmla="*/ 1114425 h 2628900"/>
                <a:gd name="connsiteX7" fmla="*/ 0 w 2857500"/>
                <a:gd name="connsiteY7" fmla="*/ 1114425 h 262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7500" h="2628900">
                  <a:moveTo>
                    <a:pt x="0" y="1114425"/>
                  </a:moveTo>
                  <a:lnTo>
                    <a:pt x="1385888" y="0"/>
                  </a:lnTo>
                  <a:lnTo>
                    <a:pt x="2857500" y="1271588"/>
                  </a:lnTo>
                  <a:lnTo>
                    <a:pt x="2028825" y="1243013"/>
                  </a:lnTo>
                  <a:lnTo>
                    <a:pt x="2043113" y="2628900"/>
                  </a:lnTo>
                  <a:lnTo>
                    <a:pt x="742950" y="2486025"/>
                  </a:lnTo>
                  <a:lnTo>
                    <a:pt x="728663" y="1114425"/>
                  </a:lnTo>
                  <a:lnTo>
                    <a:pt x="0" y="111442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rot="-180000">
              <a:off x="4891651" y="4436448"/>
              <a:ext cx="659155" cy="584775"/>
            </a:xfrm>
            <a:prstGeom prst="rect">
              <a:avLst/>
            </a:prstGeom>
            <a:noFill/>
          </p:spPr>
          <p:txBody>
            <a:bodyPr wrap="none" rtlCol="0">
              <a:spAutoFit/>
            </a:bodyPr>
            <a:lstStyle/>
            <a:p>
              <a:r>
                <a:rPr lang="en-US" sz="3200" dirty="0"/>
                <a:t>UP</a:t>
              </a:r>
            </a:p>
          </p:txBody>
        </p:sp>
      </p:grpSp>
      <p:grpSp>
        <p:nvGrpSpPr>
          <p:cNvPr id="3" name="Group 2">
            <a:extLst>
              <a:ext uri="{FF2B5EF4-FFF2-40B4-BE49-F238E27FC236}">
                <a16:creationId xmlns:a16="http://schemas.microsoft.com/office/drawing/2014/main" id="{EAF539C0-DF29-4434-88AF-3391077B8FC3}"/>
              </a:ext>
            </a:extLst>
          </p:cNvPr>
          <p:cNvGrpSpPr/>
          <p:nvPr/>
        </p:nvGrpSpPr>
        <p:grpSpPr>
          <a:xfrm>
            <a:off x="2035215" y="2078786"/>
            <a:ext cx="1201205" cy="1708516"/>
            <a:chOff x="647286" y="3303428"/>
            <a:chExt cx="1201205" cy="1708516"/>
          </a:xfrm>
        </p:grpSpPr>
        <p:sp>
          <p:nvSpPr>
            <p:cNvPr id="22" name="Rectangle 14"/>
            <p:cNvSpPr>
              <a:spLocks noChangeArrowheads="1"/>
            </p:cNvSpPr>
            <p:nvPr/>
          </p:nvSpPr>
          <p:spPr bwMode="auto">
            <a:xfrm rot="5644024" flipH="1">
              <a:off x="1441000" y="3977720"/>
              <a:ext cx="82536" cy="151040"/>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23" name="Oval 12"/>
            <p:cNvSpPr>
              <a:spLocks noChangeArrowheads="1"/>
            </p:cNvSpPr>
            <p:nvPr/>
          </p:nvSpPr>
          <p:spPr bwMode="auto">
            <a:xfrm rot="2710260" flipH="1">
              <a:off x="1079798" y="3665639"/>
              <a:ext cx="331773" cy="698334"/>
            </a:xfrm>
            <a:prstGeom prst="ellipse">
              <a:avLst/>
            </a:prstGeom>
            <a:solidFill>
              <a:srgbClr val="002060"/>
            </a:solidFill>
            <a:ln w="9525" algn="ctr">
              <a:noFill/>
              <a:round/>
              <a:headEnd/>
              <a:tailEnd/>
            </a:ln>
          </p:spPr>
          <p:txBody>
            <a:bodyPr wrap="none" anchor="ctr"/>
            <a:lstStyle/>
            <a:p>
              <a:endParaRPr lang="en-US" dirty="0"/>
            </a:p>
          </p:txBody>
        </p:sp>
        <p:sp>
          <p:nvSpPr>
            <p:cNvPr id="24" name="Rectangle 14"/>
            <p:cNvSpPr>
              <a:spLocks noChangeArrowheads="1"/>
            </p:cNvSpPr>
            <p:nvPr/>
          </p:nvSpPr>
          <p:spPr bwMode="auto">
            <a:xfrm rot="2315698" flipH="1">
              <a:off x="1278120" y="3831340"/>
              <a:ext cx="146112" cy="33505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25" name="Rectangle 17"/>
            <p:cNvSpPr>
              <a:spLocks noChangeArrowheads="1"/>
            </p:cNvSpPr>
            <p:nvPr/>
          </p:nvSpPr>
          <p:spPr bwMode="auto">
            <a:xfrm rot="3210175" flipH="1">
              <a:off x="637919" y="4813758"/>
              <a:ext cx="275363" cy="121009"/>
            </a:xfrm>
            <a:prstGeom prst="rect">
              <a:avLst/>
            </a:prstGeom>
            <a:solidFill>
              <a:srgbClr val="002060"/>
            </a:solidFill>
            <a:ln w="9525" algn="ctr">
              <a:noFill/>
              <a:miter lim="800000"/>
              <a:headEnd/>
              <a:tailEnd/>
            </a:ln>
          </p:spPr>
          <p:txBody>
            <a:bodyPr wrap="none" anchor="ctr"/>
            <a:lstStyle/>
            <a:p>
              <a:endParaRPr lang="en-US" dirty="0"/>
            </a:p>
          </p:txBody>
        </p:sp>
        <p:sp>
          <p:nvSpPr>
            <p:cNvPr id="26" name="Oval 11"/>
            <p:cNvSpPr>
              <a:spLocks noChangeArrowheads="1"/>
            </p:cNvSpPr>
            <p:nvPr/>
          </p:nvSpPr>
          <p:spPr bwMode="auto">
            <a:xfrm rot="872245" flipH="1">
              <a:off x="1389402" y="3303428"/>
              <a:ext cx="459089" cy="563472"/>
            </a:xfrm>
            <a:prstGeom prst="ellipse">
              <a:avLst/>
            </a:prstGeom>
            <a:solidFill>
              <a:srgbClr val="002060"/>
            </a:solidFill>
            <a:ln w="9525" algn="ctr">
              <a:solidFill>
                <a:schemeClr val="bg1"/>
              </a:solidFill>
              <a:round/>
              <a:headEnd/>
              <a:tailEnd/>
            </a:ln>
          </p:spPr>
          <p:txBody>
            <a:bodyPr wrap="none" anchor="ctr"/>
            <a:lstStyle/>
            <a:p>
              <a:endParaRPr lang="en-US" dirty="0"/>
            </a:p>
          </p:txBody>
        </p:sp>
        <p:sp>
          <p:nvSpPr>
            <p:cNvPr id="27" name="Rectangle 26"/>
            <p:cNvSpPr>
              <a:spLocks noChangeArrowheads="1"/>
            </p:cNvSpPr>
            <p:nvPr/>
          </p:nvSpPr>
          <p:spPr bwMode="auto">
            <a:xfrm rot="6001384" flipH="1">
              <a:off x="1346433" y="3995849"/>
              <a:ext cx="114219" cy="336370"/>
            </a:xfrm>
            <a:prstGeom prst="rect">
              <a:avLst/>
            </a:prstGeom>
            <a:solidFill>
              <a:schemeClr val="tx2">
                <a:lumMod val="75000"/>
              </a:schemeClr>
            </a:solidFill>
            <a:ln w="9525" algn="ctr">
              <a:noFill/>
              <a:miter lim="800000"/>
              <a:headEnd/>
              <a:tailEnd/>
            </a:ln>
          </p:spPr>
          <p:txBody>
            <a:bodyPr wrap="none" anchor="ctr"/>
            <a:lstStyle/>
            <a:p>
              <a:endParaRPr lang="en-US" dirty="0"/>
            </a:p>
          </p:txBody>
        </p:sp>
        <p:sp>
          <p:nvSpPr>
            <p:cNvPr id="28" name="Rectangle 15"/>
            <p:cNvSpPr>
              <a:spLocks noChangeArrowheads="1"/>
            </p:cNvSpPr>
            <p:nvPr/>
          </p:nvSpPr>
          <p:spPr bwMode="auto">
            <a:xfrm rot="19172885" flipH="1">
              <a:off x="1194016" y="4179458"/>
              <a:ext cx="137153" cy="484464"/>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29" name="Rectangle 17"/>
            <p:cNvSpPr>
              <a:spLocks noChangeArrowheads="1"/>
            </p:cNvSpPr>
            <p:nvPr/>
          </p:nvSpPr>
          <p:spPr bwMode="auto">
            <a:xfrm rot="4256131" flipH="1">
              <a:off x="999886" y="4796697"/>
              <a:ext cx="193182" cy="112846"/>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0" name="Rectangle 15"/>
            <p:cNvSpPr>
              <a:spLocks noChangeArrowheads="1"/>
            </p:cNvSpPr>
            <p:nvPr/>
          </p:nvSpPr>
          <p:spPr bwMode="auto">
            <a:xfrm rot="3286881" flipH="1">
              <a:off x="1184674" y="4484251"/>
              <a:ext cx="146040" cy="449334"/>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1" name="Rectangle 30"/>
            <p:cNvSpPr>
              <a:spLocks noChangeArrowheads="1"/>
            </p:cNvSpPr>
            <p:nvPr/>
          </p:nvSpPr>
          <p:spPr bwMode="auto">
            <a:xfrm rot="335058" flipH="1">
              <a:off x="1092684" y="4858338"/>
              <a:ext cx="113602" cy="104137"/>
            </a:xfrm>
            <a:prstGeom prst="rect">
              <a:avLst/>
            </a:prstGeom>
            <a:solidFill>
              <a:schemeClr val="tx2">
                <a:lumMod val="50000"/>
              </a:schemeClr>
            </a:solidFill>
            <a:ln w="9525" algn="ctr">
              <a:noFill/>
              <a:miter lim="800000"/>
              <a:headEnd/>
              <a:tailEnd/>
            </a:ln>
          </p:spPr>
          <p:txBody>
            <a:bodyPr wrap="none" anchor="ctr"/>
            <a:lstStyle/>
            <a:p>
              <a:endParaRPr lang="en-US" dirty="0"/>
            </a:p>
          </p:txBody>
        </p:sp>
        <p:sp>
          <p:nvSpPr>
            <p:cNvPr id="32" name="Rectangle 15"/>
            <p:cNvSpPr>
              <a:spLocks noChangeArrowheads="1"/>
            </p:cNvSpPr>
            <p:nvPr/>
          </p:nvSpPr>
          <p:spPr bwMode="auto">
            <a:xfrm rot="631007" flipH="1">
              <a:off x="965528" y="4211217"/>
              <a:ext cx="159011" cy="422555"/>
            </a:xfrm>
            <a:prstGeom prst="rect">
              <a:avLst/>
            </a:prstGeom>
            <a:solidFill>
              <a:srgbClr val="002060"/>
            </a:solidFill>
            <a:ln w="9525" algn="ctr">
              <a:noFill/>
              <a:miter lim="800000"/>
              <a:headEnd/>
              <a:tailEnd/>
            </a:ln>
          </p:spPr>
          <p:txBody>
            <a:bodyPr wrap="none" anchor="ctr"/>
            <a:lstStyle/>
            <a:p>
              <a:endParaRPr lang="en-US" dirty="0"/>
            </a:p>
          </p:txBody>
        </p:sp>
        <p:sp>
          <p:nvSpPr>
            <p:cNvPr id="33" name="Rectangle 15"/>
            <p:cNvSpPr>
              <a:spLocks noChangeArrowheads="1"/>
            </p:cNvSpPr>
            <p:nvPr/>
          </p:nvSpPr>
          <p:spPr bwMode="auto">
            <a:xfrm rot="3040703" flipH="1">
              <a:off x="805396" y="4474639"/>
              <a:ext cx="157339" cy="473560"/>
            </a:xfrm>
            <a:prstGeom prst="rect">
              <a:avLst/>
            </a:prstGeom>
            <a:solidFill>
              <a:srgbClr val="002060"/>
            </a:solidFill>
            <a:ln w="9525" algn="ctr">
              <a:noFill/>
              <a:miter lim="800000"/>
              <a:headEnd/>
              <a:tailEnd/>
            </a:ln>
          </p:spPr>
          <p:txBody>
            <a:bodyPr wrap="none" anchor="ctr"/>
            <a:lstStyle/>
            <a:p>
              <a:endParaRPr lang="en-US" dirty="0"/>
            </a:p>
          </p:txBody>
        </p:sp>
        <p:sp>
          <p:nvSpPr>
            <p:cNvPr id="34" name="Rectangle 13"/>
            <p:cNvSpPr>
              <a:spLocks noChangeArrowheads="1"/>
            </p:cNvSpPr>
            <p:nvPr/>
          </p:nvSpPr>
          <p:spPr bwMode="auto">
            <a:xfrm rot="4229478" flipH="1">
              <a:off x="1495053" y="4153953"/>
              <a:ext cx="158799" cy="134633"/>
            </a:xfrm>
            <a:prstGeom prst="rect">
              <a:avLst/>
            </a:prstGeom>
            <a:solidFill>
              <a:schemeClr val="tx2">
                <a:lumMod val="75000"/>
              </a:schemeClr>
            </a:solidFill>
            <a:ln w="9525" algn="ctr">
              <a:noFill/>
              <a:miter lim="800000"/>
              <a:headEnd/>
              <a:tailEnd/>
            </a:ln>
          </p:spPr>
          <p:txBody>
            <a:bodyPr wrap="none" anchor="ctr"/>
            <a:lstStyle/>
            <a:p>
              <a:endParaRPr lang="en-US" dirty="0"/>
            </a:p>
          </p:txBody>
        </p:sp>
      </p:grpSp>
      <p:sp>
        <p:nvSpPr>
          <p:cNvPr id="47" name="Oval 46">
            <a:extLst>
              <a:ext uri="{FF2B5EF4-FFF2-40B4-BE49-F238E27FC236}">
                <a16:creationId xmlns:a16="http://schemas.microsoft.com/office/drawing/2014/main" id="{FF6CF747-5A5B-41A8-AA60-B2C57E61E5AA}"/>
              </a:ext>
            </a:extLst>
          </p:cNvPr>
          <p:cNvSpPr/>
          <p:nvPr/>
        </p:nvSpPr>
        <p:spPr>
          <a:xfrm>
            <a:off x="4561114" y="5236029"/>
            <a:ext cx="250372" cy="27214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8" name="Straight Arrow Connector 47">
            <a:extLst>
              <a:ext uri="{FF2B5EF4-FFF2-40B4-BE49-F238E27FC236}">
                <a16:creationId xmlns:a16="http://schemas.microsoft.com/office/drawing/2014/main" id="{BE343FF0-01B4-47E9-A50D-2559277359AE}"/>
              </a:ext>
            </a:extLst>
          </p:cNvPr>
          <p:cNvCxnSpPr>
            <a:cxnSpLocks/>
          </p:cNvCxnSpPr>
          <p:nvPr/>
        </p:nvCxnSpPr>
        <p:spPr>
          <a:xfrm flipH="1">
            <a:off x="3510646" y="5377515"/>
            <a:ext cx="1034143" cy="5443"/>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B627223A-4E02-425D-BD79-C757BD43E699}"/>
              </a:ext>
            </a:extLst>
          </p:cNvPr>
          <p:cNvCxnSpPr>
            <a:cxnSpLocks/>
          </p:cNvCxnSpPr>
          <p:nvPr/>
        </p:nvCxnSpPr>
        <p:spPr>
          <a:xfrm flipV="1">
            <a:off x="4767943" y="5274129"/>
            <a:ext cx="500743" cy="1"/>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9573B28-8A15-4B39-AE30-2C79E55115C4}"/>
              </a:ext>
            </a:extLst>
          </p:cNvPr>
          <p:cNvCxnSpPr/>
          <p:nvPr/>
        </p:nvCxnSpPr>
        <p:spPr>
          <a:xfrm rot="5400000">
            <a:off x="4147460" y="6014328"/>
            <a:ext cx="1034143" cy="5443"/>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6326302-2AD7-4E24-930E-9901A816AFC3}"/>
              </a:ext>
            </a:extLst>
          </p:cNvPr>
          <p:cNvCxnSpPr/>
          <p:nvPr/>
        </p:nvCxnSpPr>
        <p:spPr>
          <a:xfrm rot="16200000" flipV="1">
            <a:off x="4136574" y="4729813"/>
            <a:ext cx="1034143" cy="5443"/>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E7C03A5B-3113-427F-AE9C-173B3B4143C0}"/>
              </a:ext>
            </a:extLst>
          </p:cNvPr>
          <p:cNvSpPr txBox="1"/>
          <p:nvPr/>
        </p:nvSpPr>
        <p:spPr>
          <a:xfrm>
            <a:off x="4876799" y="4136572"/>
            <a:ext cx="487634" cy="369332"/>
          </a:xfrm>
          <a:prstGeom prst="rect">
            <a:avLst/>
          </a:prstGeom>
          <a:noFill/>
        </p:spPr>
        <p:txBody>
          <a:bodyPr wrap="none" rtlCol="0">
            <a:spAutoFit/>
          </a:bodyPr>
          <a:lstStyle/>
          <a:p>
            <a:r>
              <a:rPr lang="en-US" dirty="0"/>
              <a:t>N</a:t>
            </a:r>
            <a:r>
              <a:rPr lang="en-US" baseline="-25000" dirty="0"/>
              <a:t>BF</a:t>
            </a:r>
          </a:p>
        </p:txBody>
      </p:sp>
      <p:sp>
        <p:nvSpPr>
          <p:cNvPr id="53" name="TextBox 52">
            <a:extLst>
              <a:ext uri="{FF2B5EF4-FFF2-40B4-BE49-F238E27FC236}">
                <a16:creationId xmlns:a16="http://schemas.microsoft.com/office/drawing/2014/main" id="{2387FE06-1F78-46AF-BB7B-77C882EAABA6}"/>
              </a:ext>
            </a:extLst>
          </p:cNvPr>
          <p:cNvSpPr txBox="1"/>
          <p:nvPr/>
        </p:nvSpPr>
        <p:spPr>
          <a:xfrm>
            <a:off x="4887685" y="6085115"/>
            <a:ext cx="548548" cy="369332"/>
          </a:xfrm>
          <a:prstGeom prst="rect">
            <a:avLst/>
          </a:prstGeom>
          <a:noFill/>
        </p:spPr>
        <p:txBody>
          <a:bodyPr wrap="none" rtlCol="0">
            <a:spAutoFit/>
          </a:bodyPr>
          <a:lstStyle/>
          <a:p>
            <a:r>
              <a:rPr lang="en-US" dirty="0"/>
              <a:t>W</a:t>
            </a:r>
            <a:r>
              <a:rPr lang="en-US" baseline="-25000" dirty="0"/>
              <a:t>BE</a:t>
            </a:r>
          </a:p>
        </p:txBody>
      </p:sp>
      <p:sp>
        <p:nvSpPr>
          <p:cNvPr id="54" name="TextBox 53">
            <a:extLst>
              <a:ext uri="{FF2B5EF4-FFF2-40B4-BE49-F238E27FC236}">
                <a16:creationId xmlns:a16="http://schemas.microsoft.com/office/drawing/2014/main" id="{4031EF9E-6CA6-46D9-81A3-B6E6AC447FF8}"/>
              </a:ext>
            </a:extLst>
          </p:cNvPr>
          <p:cNvSpPr txBox="1"/>
          <p:nvPr/>
        </p:nvSpPr>
        <p:spPr>
          <a:xfrm flipH="1">
            <a:off x="2932520" y="5078185"/>
            <a:ext cx="561794" cy="369332"/>
          </a:xfrm>
          <a:prstGeom prst="rect">
            <a:avLst/>
          </a:prstGeom>
          <a:noFill/>
        </p:spPr>
        <p:txBody>
          <a:bodyPr wrap="square" rtlCol="0">
            <a:spAutoFit/>
          </a:bodyPr>
          <a:lstStyle/>
          <a:p>
            <a:r>
              <a:rPr lang="en-US" dirty="0"/>
              <a:t>N</a:t>
            </a:r>
            <a:r>
              <a:rPr lang="en-US" baseline="-25000" dirty="0"/>
              <a:t>BL</a:t>
            </a:r>
          </a:p>
        </p:txBody>
      </p:sp>
      <p:sp>
        <p:nvSpPr>
          <p:cNvPr id="55" name="TextBox 54">
            <a:extLst>
              <a:ext uri="{FF2B5EF4-FFF2-40B4-BE49-F238E27FC236}">
                <a16:creationId xmlns:a16="http://schemas.microsoft.com/office/drawing/2014/main" id="{755F5B22-6DF9-4E92-85B9-607EC7B22CB5}"/>
              </a:ext>
            </a:extLst>
          </p:cNvPr>
          <p:cNvSpPr txBox="1"/>
          <p:nvPr/>
        </p:nvSpPr>
        <p:spPr>
          <a:xfrm>
            <a:off x="5246914" y="4996542"/>
            <a:ext cx="495649" cy="369332"/>
          </a:xfrm>
          <a:prstGeom prst="rect">
            <a:avLst/>
          </a:prstGeom>
          <a:noFill/>
        </p:spPr>
        <p:txBody>
          <a:bodyPr wrap="none" rtlCol="0">
            <a:spAutoFit/>
          </a:bodyPr>
          <a:lstStyle/>
          <a:p>
            <a:r>
              <a:rPr lang="en-US" dirty="0"/>
              <a:t>N</a:t>
            </a:r>
            <a:r>
              <a:rPr lang="en-US" baseline="-25000" dirty="0"/>
              <a:t>B6</a:t>
            </a:r>
          </a:p>
        </p:txBody>
      </p:sp>
      <p:cxnSp>
        <p:nvCxnSpPr>
          <p:cNvPr id="56" name="Straight Arrow Connector 55">
            <a:extLst>
              <a:ext uri="{FF2B5EF4-FFF2-40B4-BE49-F238E27FC236}">
                <a16:creationId xmlns:a16="http://schemas.microsoft.com/office/drawing/2014/main" id="{FF64162F-C7C7-41B6-83CB-7696F9AEA8D8}"/>
              </a:ext>
            </a:extLst>
          </p:cNvPr>
          <p:cNvCxnSpPr>
            <a:cxnSpLocks/>
          </p:cNvCxnSpPr>
          <p:nvPr/>
        </p:nvCxnSpPr>
        <p:spPr>
          <a:xfrm>
            <a:off x="4800600" y="5475515"/>
            <a:ext cx="397330"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6C84A5C3-249E-4F5B-B36A-CEB6BCD5F439}"/>
              </a:ext>
            </a:extLst>
          </p:cNvPr>
          <p:cNvSpPr txBox="1"/>
          <p:nvPr/>
        </p:nvSpPr>
        <p:spPr>
          <a:xfrm>
            <a:off x="5078186" y="5524500"/>
            <a:ext cx="479618" cy="369332"/>
          </a:xfrm>
          <a:prstGeom prst="rect">
            <a:avLst/>
          </a:prstGeom>
          <a:noFill/>
        </p:spPr>
        <p:txBody>
          <a:bodyPr wrap="square" rtlCol="0">
            <a:spAutoFit/>
          </a:bodyPr>
          <a:lstStyle/>
          <a:p>
            <a:r>
              <a:rPr lang="en-US" dirty="0" err="1"/>
              <a:t>f</a:t>
            </a:r>
            <a:r>
              <a:rPr lang="en-US" baseline="-25000" dirty="0" err="1"/>
              <a:t>BF</a:t>
            </a:r>
            <a:r>
              <a:rPr lang="en-US" baseline="-32000" dirty="0" err="1"/>
              <a:t>k</a:t>
            </a:r>
            <a:endParaRPr lang="en-US" baseline="-32000" dirty="0"/>
          </a:p>
        </p:txBody>
      </p:sp>
    </p:spTree>
    <p:extLst>
      <p:ext uri="{BB962C8B-B14F-4D97-AF65-F5344CB8AC3E}">
        <p14:creationId xmlns:p14="http://schemas.microsoft.com/office/powerpoint/2010/main" val="1221054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p:cNvGrpSpPr/>
          <p:nvPr/>
        </p:nvGrpSpPr>
        <p:grpSpPr>
          <a:xfrm>
            <a:off x="2590800" y="1595735"/>
            <a:ext cx="4114800" cy="3890665"/>
            <a:chOff x="2590800" y="1595735"/>
            <a:chExt cx="4114800" cy="3890665"/>
          </a:xfrm>
        </p:grpSpPr>
        <p:sp>
          <p:nvSpPr>
            <p:cNvPr id="26" name="Freeform 25"/>
            <p:cNvSpPr/>
            <p:nvPr/>
          </p:nvSpPr>
          <p:spPr>
            <a:xfrm>
              <a:off x="3819525" y="2505075"/>
              <a:ext cx="1914525" cy="2447925"/>
            </a:xfrm>
            <a:custGeom>
              <a:avLst/>
              <a:gdLst>
                <a:gd name="connsiteX0" fmla="*/ 0 w 1914525"/>
                <a:gd name="connsiteY0" fmla="*/ 0 h 2447925"/>
                <a:gd name="connsiteX1" fmla="*/ 228600 w 1914525"/>
                <a:gd name="connsiteY1" fmla="*/ 276225 h 2447925"/>
                <a:gd name="connsiteX2" fmla="*/ 657225 w 1914525"/>
                <a:gd name="connsiteY2" fmla="*/ 704850 h 2447925"/>
                <a:gd name="connsiteX3" fmla="*/ 1095375 w 1914525"/>
                <a:gd name="connsiteY3" fmla="*/ 1038225 h 2447925"/>
                <a:gd name="connsiteX4" fmla="*/ 1666875 w 1914525"/>
                <a:gd name="connsiteY4" fmla="*/ 1381125 h 2447925"/>
                <a:gd name="connsiteX5" fmla="*/ 1914525 w 1914525"/>
                <a:gd name="connsiteY5" fmla="*/ 1524000 h 2447925"/>
                <a:gd name="connsiteX6" fmla="*/ 1895475 w 1914525"/>
                <a:gd name="connsiteY6" fmla="*/ 2447925 h 2447925"/>
                <a:gd name="connsiteX7" fmla="*/ 0 w 1914525"/>
                <a:gd name="connsiteY7" fmla="*/ 2447925 h 2447925"/>
                <a:gd name="connsiteX8" fmla="*/ 0 w 1914525"/>
                <a:gd name="connsiteY8"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525" h="2447925">
                  <a:moveTo>
                    <a:pt x="0" y="0"/>
                  </a:moveTo>
                  <a:lnTo>
                    <a:pt x="228600" y="276225"/>
                  </a:lnTo>
                  <a:lnTo>
                    <a:pt x="657225" y="704850"/>
                  </a:lnTo>
                  <a:lnTo>
                    <a:pt x="1095375" y="1038225"/>
                  </a:lnTo>
                  <a:lnTo>
                    <a:pt x="1666875" y="1381125"/>
                  </a:lnTo>
                  <a:lnTo>
                    <a:pt x="1914525" y="1524000"/>
                  </a:lnTo>
                  <a:lnTo>
                    <a:pt x="1895475" y="2447925"/>
                  </a:lnTo>
                  <a:lnTo>
                    <a:pt x="0" y="2447925"/>
                  </a:lnTo>
                  <a:lnTo>
                    <a:pt x="0" y="0"/>
                  </a:lnTo>
                  <a:close/>
                </a:path>
              </a:pathLst>
            </a:cu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715000" y="4114800"/>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3829050" y="2505075"/>
              <a:ext cx="1885950" cy="1504950"/>
            </a:xfrm>
            <a:custGeom>
              <a:avLst/>
              <a:gdLst>
                <a:gd name="connsiteX0" fmla="*/ 0 w 1885950"/>
                <a:gd name="connsiteY0" fmla="*/ 0 h 1504950"/>
                <a:gd name="connsiteX1" fmla="*/ 771525 w 1885950"/>
                <a:gd name="connsiteY1" fmla="*/ 800100 h 1504950"/>
                <a:gd name="connsiteX2" fmla="*/ 1885950 w 1885950"/>
                <a:gd name="connsiteY2" fmla="*/ 1504950 h 1504950"/>
                <a:gd name="connsiteX3" fmla="*/ 1885950 w 1885950"/>
                <a:gd name="connsiteY3" fmla="*/ 1504950 h 1504950"/>
              </a:gdLst>
              <a:ahLst/>
              <a:cxnLst>
                <a:cxn ang="0">
                  <a:pos x="connsiteX0" y="connsiteY0"/>
                </a:cxn>
                <a:cxn ang="0">
                  <a:pos x="connsiteX1" y="connsiteY1"/>
                </a:cxn>
                <a:cxn ang="0">
                  <a:pos x="connsiteX2" y="connsiteY2"/>
                </a:cxn>
                <a:cxn ang="0">
                  <a:pos x="connsiteX3" y="connsiteY3"/>
                </a:cxn>
              </a:cxnLst>
              <a:rect l="l" t="t" r="r" b="b"/>
              <a:pathLst>
                <a:path w="1885950" h="1504950">
                  <a:moveTo>
                    <a:pt x="0" y="0"/>
                  </a:moveTo>
                  <a:cubicBezTo>
                    <a:pt x="228600" y="274637"/>
                    <a:pt x="457200" y="549275"/>
                    <a:pt x="771525" y="800100"/>
                  </a:cubicBezTo>
                  <a:cubicBezTo>
                    <a:pt x="1085850" y="1050925"/>
                    <a:pt x="1885950" y="1504950"/>
                    <a:pt x="1885950" y="1504950"/>
                  </a:cubicBezTo>
                  <a:lnTo>
                    <a:pt x="1885950" y="1504950"/>
                  </a:lnTo>
                </a:path>
              </a:pathLst>
            </a:custGeom>
            <a:noFill/>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Isosceles Triangle 17"/>
            <p:cNvSpPr/>
            <p:nvPr/>
          </p:nvSpPr>
          <p:spPr>
            <a:xfrm rot="7951073">
              <a:off x="4406324" y="3110924"/>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2971800" y="1595735"/>
              <a:ext cx="343364" cy="461665"/>
            </a:xfrm>
            <a:prstGeom prst="rect">
              <a:avLst/>
            </a:prstGeom>
            <a:noFill/>
          </p:spPr>
          <p:txBody>
            <a:bodyPr wrap="none" rtlCol="0">
              <a:spAutoFit/>
            </a:bodyPr>
            <a:lstStyle/>
            <a:p>
              <a:r>
                <a:rPr lang="en-US" sz="2400" i="1" dirty="0"/>
                <a:t>P</a:t>
              </a:r>
            </a:p>
          </p:txBody>
        </p:sp>
        <p:sp>
          <p:nvSpPr>
            <p:cNvPr id="21" name="TextBox 20"/>
            <p:cNvSpPr txBox="1"/>
            <p:nvPr/>
          </p:nvSpPr>
          <p:spPr>
            <a:xfrm>
              <a:off x="2590800" y="2057400"/>
              <a:ext cx="457200" cy="584775"/>
            </a:xfrm>
            <a:prstGeom prst="rect">
              <a:avLst/>
            </a:prstGeom>
            <a:noFill/>
          </p:spPr>
          <p:txBody>
            <a:bodyPr wrap="square" rtlCol="0">
              <a:spAutoFit/>
            </a:bodyPr>
            <a:lstStyle/>
            <a:p>
              <a:r>
                <a:rPr lang="en-US" sz="3200" i="1" dirty="0"/>
                <a:t>P</a:t>
              </a:r>
              <a:r>
                <a:rPr lang="en-US" sz="3200" i="1" baseline="-25000" dirty="0"/>
                <a:t>i</a:t>
              </a:r>
            </a:p>
          </p:txBody>
        </p:sp>
        <p:sp>
          <p:nvSpPr>
            <p:cNvPr id="22" name="TextBox 21"/>
            <p:cNvSpPr txBox="1"/>
            <p:nvPr/>
          </p:nvSpPr>
          <p:spPr>
            <a:xfrm>
              <a:off x="2590800" y="3657599"/>
              <a:ext cx="533400" cy="584775"/>
            </a:xfrm>
            <a:prstGeom prst="rect">
              <a:avLst/>
            </a:prstGeom>
            <a:noFill/>
          </p:spPr>
          <p:txBody>
            <a:bodyPr wrap="square" rtlCol="0">
              <a:spAutoFit/>
            </a:bodyPr>
            <a:lstStyle/>
            <a:p>
              <a:r>
                <a:rPr lang="en-US" sz="3200" i="1" dirty="0"/>
                <a:t>P</a:t>
              </a:r>
              <a:r>
                <a:rPr lang="en-US" sz="3200" i="1" baseline="-25000" dirty="0"/>
                <a:t>f</a:t>
              </a:r>
            </a:p>
          </p:txBody>
        </p:sp>
        <p:sp>
          <p:nvSpPr>
            <p:cNvPr id="23" name="TextBox 22"/>
            <p:cNvSpPr txBox="1"/>
            <p:nvPr/>
          </p:nvSpPr>
          <p:spPr>
            <a:xfrm>
              <a:off x="3581400" y="4876800"/>
              <a:ext cx="533400" cy="584775"/>
            </a:xfrm>
            <a:prstGeom prst="rect">
              <a:avLst/>
            </a:prstGeom>
            <a:noFill/>
          </p:spPr>
          <p:txBody>
            <a:bodyPr wrap="square" rtlCol="0">
              <a:spAutoFit/>
            </a:bodyPr>
            <a:lstStyle/>
            <a:p>
              <a:r>
                <a:rPr lang="en-US" sz="3200" i="1" dirty="0"/>
                <a:t>V</a:t>
              </a:r>
              <a:r>
                <a:rPr lang="en-US" sz="3200" i="1" baseline="-25000" dirty="0"/>
                <a:t>i</a:t>
              </a:r>
            </a:p>
          </p:txBody>
        </p:sp>
        <p:sp>
          <p:nvSpPr>
            <p:cNvPr id="24" name="TextBox 23"/>
            <p:cNvSpPr txBox="1"/>
            <p:nvPr/>
          </p:nvSpPr>
          <p:spPr>
            <a:xfrm>
              <a:off x="5486400" y="4901625"/>
              <a:ext cx="533400" cy="584775"/>
            </a:xfrm>
            <a:prstGeom prst="rect">
              <a:avLst/>
            </a:prstGeom>
            <a:noFill/>
          </p:spPr>
          <p:txBody>
            <a:bodyPr wrap="square" rtlCol="0">
              <a:spAutoFit/>
            </a:bodyPr>
            <a:lstStyle/>
            <a:p>
              <a:r>
                <a:rPr lang="en-US" sz="3200" i="1" dirty="0" err="1"/>
                <a:t>V</a:t>
              </a:r>
              <a:r>
                <a:rPr lang="en-US" sz="3200" i="1" baseline="-25000" dirty="0" err="1"/>
                <a:t>f</a:t>
              </a:r>
              <a:endParaRPr lang="en-US" sz="3200" i="1" baseline="-25000" dirty="0"/>
            </a:p>
          </p:txBody>
        </p:sp>
        <p:sp>
          <p:nvSpPr>
            <p:cNvPr id="25" name="TextBox 24"/>
            <p:cNvSpPr txBox="1"/>
            <p:nvPr/>
          </p:nvSpPr>
          <p:spPr>
            <a:xfrm>
              <a:off x="6172200" y="4724400"/>
              <a:ext cx="533400" cy="461665"/>
            </a:xfrm>
            <a:prstGeom prst="rect">
              <a:avLst/>
            </a:prstGeom>
            <a:noFill/>
          </p:spPr>
          <p:txBody>
            <a:bodyPr wrap="square" rtlCol="0">
              <a:spAutoFit/>
            </a:bodyPr>
            <a:lstStyle/>
            <a:p>
              <a:r>
                <a:rPr lang="en-US" sz="2400" i="1" dirty="0"/>
                <a:t>V</a:t>
              </a:r>
              <a:endParaRPr lang="en-US" sz="2400" i="1" baseline="-25000" dirty="0"/>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p:cNvGrpSpPr/>
          <p:nvPr/>
        </p:nvGrpSpPr>
        <p:grpSpPr>
          <a:xfrm>
            <a:off x="2590800" y="1595735"/>
            <a:ext cx="4114800" cy="3890665"/>
            <a:chOff x="2590800" y="1595735"/>
            <a:chExt cx="4114800" cy="3890665"/>
          </a:xfrm>
        </p:grpSpPr>
        <p:sp>
          <p:nvSpPr>
            <p:cNvPr id="29" name="Rectangle 28"/>
            <p:cNvSpPr/>
            <p:nvPr/>
          </p:nvSpPr>
          <p:spPr>
            <a:xfrm>
              <a:off x="3810000" y="2438400"/>
              <a:ext cx="1905000" cy="25146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rot="5400000">
              <a:off x="4457700" y="37719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Isosceles Triangle 17"/>
            <p:cNvSpPr/>
            <p:nvPr/>
          </p:nvSpPr>
          <p:spPr>
            <a:xfrm rot="5400000">
              <a:off x="4572000" y="22860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2971800" y="1595735"/>
              <a:ext cx="343364" cy="461665"/>
            </a:xfrm>
            <a:prstGeom prst="rect">
              <a:avLst/>
            </a:prstGeom>
            <a:noFill/>
          </p:spPr>
          <p:txBody>
            <a:bodyPr wrap="none" rtlCol="0">
              <a:spAutoFit/>
            </a:bodyPr>
            <a:lstStyle/>
            <a:p>
              <a:r>
                <a:rPr lang="en-US" sz="2400" i="1" dirty="0"/>
                <a:t>P</a:t>
              </a:r>
            </a:p>
          </p:txBody>
        </p:sp>
        <p:sp>
          <p:nvSpPr>
            <p:cNvPr id="21" name="TextBox 20"/>
            <p:cNvSpPr txBox="1"/>
            <p:nvPr/>
          </p:nvSpPr>
          <p:spPr>
            <a:xfrm>
              <a:off x="2590800" y="2057400"/>
              <a:ext cx="457200" cy="584775"/>
            </a:xfrm>
            <a:prstGeom prst="rect">
              <a:avLst/>
            </a:prstGeom>
            <a:noFill/>
          </p:spPr>
          <p:txBody>
            <a:bodyPr wrap="square" rtlCol="0">
              <a:spAutoFit/>
            </a:bodyPr>
            <a:lstStyle/>
            <a:p>
              <a:r>
                <a:rPr lang="en-US" sz="3200" i="1" dirty="0"/>
                <a:t>P</a:t>
              </a:r>
              <a:r>
                <a:rPr lang="en-US" sz="3200" i="1" baseline="-25000" dirty="0"/>
                <a:t>i</a:t>
              </a:r>
            </a:p>
          </p:txBody>
        </p:sp>
        <p:sp>
          <p:nvSpPr>
            <p:cNvPr id="22" name="TextBox 21"/>
            <p:cNvSpPr txBox="1"/>
            <p:nvPr/>
          </p:nvSpPr>
          <p:spPr>
            <a:xfrm>
              <a:off x="2590800" y="3657599"/>
              <a:ext cx="533400" cy="584775"/>
            </a:xfrm>
            <a:prstGeom prst="rect">
              <a:avLst/>
            </a:prstGeom>
            <a:noFill/>
          </p:spPr>
          <p:txBody>
            <a:bodyPr wrap="square" rtlCol="0">
              <a:spAutoFit/>
            </a:bodyPr>
            <a:lstStyle/>
            <a:p>
              <a:r>
                <a:rPr lang="en-US" sz="3200" i="1" dirty="0"/>
                <a:t>P</a:t>
              </a:r>
              <a:r>
                <a:rPr lang="en-US" sz="3200" i="1" baseline="-25000" dirty="0"/>
                <a:t>f</a:t>
              </a:r>
            </a:p>
          </p:txBody>
        </p:sp>
        <p:sp>
          <p:nvSpPr>
            <p:cNvPr id="23" name="TextBox 22"/>
            <p:cNvSpPr txBox="1"/>
            <p:nvPr/>
          </p:nvSpPr>
          <p:spPr>
            <a:xfrm>
              <a:off x="3581400" y="4876800"/>
              <a:ext cx="533400" cy="584775"/>
            </a:xfrm>
            <a:prstGeom prst="rect">
              <a:avLst/>
            </a:prstGeom>
            <a:noFill/>
          </p:spPr>
          <p:txBody>
            <a:bodyPr wrap="square" rtlCol="0">
              <a:spAutoFit/>
            </a:bodyPr>
            <a:lstStyle/>
            <a:p>
              <a:r>
                <a:rPr lang="en-US" sz="3200" i="1" dirty="0"/>
                <a:t>V</a:t>
              </a:r>
              <a:r>
                <a:rPr lang="en-US" sz="3200" i="1" baseline="-25000" dirty="0"/>
                <a:t>i</a:t>
              </a:r>
            </a:p>
          </p:txBody>
        </p:sp>
        <p:sp>
          <p:nvSpPr>
            <p:cNvPr id="24" name="TextBox 23"/>
            <p:cNvSpPr txBox="1"/>
            <p:nvPr/>
          </p:nvSpPr>
          <p:spPr>
            <a:xfrm>
              <a:off x="5486400" y="4901625"/>
              <a:ext cx="533400" cy="584775"/>
            </a:xfrm>
            <a:prstGeom prst="rect">
              <a:avLst/>
            </a:prstGeom>
            <a:noFill/>
          </p:spPr>
          <p:txBody>
            <a:bodyPr wrap="square" rtlCol="0">
              <a:spAutoFit/>
            </a:bodyPr>
            <a:lstStyle/>
            <a:p>
              <a:r>
                <a:rPr lang="en-US" sz="3200" i="1" dirty="0" err="1"/>
                <a:t>V</a:t>
              </a:r>
              <a:r>
                <a:rPr lang="en-US" sz="3200" i="1" baseline="-25000" dirty="0" err="1"/>
                <a:t>f</a:t>
              </a:r>
              <a:endParaRPr lang="en-US" sz="3200" i="1" baseline="-25000" dirty="0"/>
            </a:p>
          </p:txBody>
        </p:sp>
        <p:sp>
          <p:nvSpPr>
            <p:cNvPr id="25" name="TextBox 24"/>
            <p:cNvSpPr txBox="1"/>
            <p:nvPr/>
          </p:nvSpPr>
          <p:spPr>
            <a:xfrm>
              <a:off x="6172200" y="4724400"/>
              <a:ext cx="533400" cy="461665"/>
            </a:xfrm>
            <a:prstGeom prst="rect">
              <a:avLst/>
            </a:prstGeom>
            <a:noFill/>
          </p:spPr>
          <p:txBody>
            <a:bodyPr wrap="square" rtlCol="0">
              <a:spAutoFit/>
            </a:bodyPr>
            <a:lstStyle/>
            <a:p>
              <a:r>
                <a:rPr lang="en-US" sz="2400" i="1" dirty="0"/>
                <a:t>V</a:t>
              </a:r>
              <a:endParaRPr lang="en-US" sz="2400" i="1" baseline="-25000" dirty="0"/>
            </a:p>
          </p:txBody>
        </p:sp>
        <p:sp>
          <p:nvSpPr>
            <p:cNvPr id="27" name="Freeform 26"/>
            <p:cNvSpPr/>
            <p:nvPr/>
          </p:nvSpPr>
          <p:spPr>
            <a:xfrm>
              <a:off x="3810000" y="2428875"/>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Isosceles Triangle 27"/>
            <p:cNvSpPr/>
            <p:nvPr/>
          </p:nvSpPr>
          <p:spPr>
            <a:xfrm rot="10800000">
              <a:off x="5562600" y="31242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2590800" y="1595735"/>
            <a:ext cx="4114800" cy="3890665"/>
            <a:chOff x="2590800" y="1595735"/>
            <a:chExt cx="4114800" cy="3890665"/>
          </a:xfrm>
        </p:grpSpPr>
        <p:sp>
          <p:nvSpPr>
            <p:cNvPr id="29" name="Rectangle 28"/>
            <p:cNvSpPr/>
            <p:nvPr/>
          </p:nvSpPr>
          <p:spPr>
            <a:xfrm>
              <a:off x="3810000" y="4038600"/>
              <a:ext cx="1905000" cy="9144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16" idx="4"/>
            </p:cNvCxnSpPr>
            <p:nvPr/>
          </p:nvCxnSpPr>
          <p:spPr>
            <a:xfrm>
              <a:off x="5715000" y="4114800"/>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971800" y="1595735"/>
              <a:ext cx="343364" cy="461665"/>
            </a:xfrm>
            <a:prstGeom prst="rect">
              <a:avLst/>
            </a:prstGeom>
            <a:noFill/>
          </p:spPr>
          <p:txBody>
            <a:bodyPr wrap="none" rtlCol="0">
              <a:spAutoFit/>
            </a:bodyPr>
            <a:lstStyle/>
            <a:p>
              <a:r>
                <a:rPr lang="en-US" sz="2400" i="1" dirty="0"/>
                <a:t>P</a:t>
              </a:r>
            </a:p>
          </p:txBody>
        </p:sp>
        <p:sp>
          <p:nvSpPr>
            <p:cNvPr id="21" name="TextBox 20"/>
            <p:cNvSpPr txBox="1"/>
            <p:nvPr/>
          </p:nvSpPr>
          <p:spPr>
            <a:xfrm>
              <a:off x="2590800" y="2057400"/>
              <a:ext cx="457200" cy="584775"/>
            </a:xfrm>
            <a:prstGeom prst="rect">
              <a:avLst/>
            </a:prstGeom>
            <a:noFill/>
          </p:spPr>
          <p:txBody>
            <a:bodyPr wrap="square" rtlCol="0">
              <a:spAutoFit/>
            </a:bodyPr>
            <a:lstStyle/>
            <a:p>
              <a:r>
                <a:rPr lang="en-US" sz="3200" i="1" dirty="0"/>
                <a:t>P</a:t>
              </a:r>
              <a:r>
                <a:rPr lang="en-US" sz="3200" i="1" baseline="-25000" dirty="0"/>
                <a:t>i</a:t>
              </a:r>
            </a:p>
          </p:txBody>
        </p:sp>
        <p:sp>
          <p:nvSpPr>
            <p:cNvPr id="22" name="TextBox 21"/>
            <p:cNvSpPr txBox="1"/>
            <p:nvPr/>
          </p:nvSpPr>
          <p:spPr>
            <a:xfrm>
              <a:off x="2590800" y="3657599"/>
              <a:ext cx="533400" cy="584775"/>
            </a:xfrm>
            <a:prstGeom prst="rect">
              <a:avLst/>
            </a:prstGeom>
            <a:noFill/>
          </p:spPr>
          <p:txBody>
            <a:bodyPr wrap="square" rtlCol="0">
              <a:spAutoFit/>
            </a:bodyPr>
            <a:lstStyle/>
            <a:p>
              <a:r>
                <a:rPr lang="en-US" sz="3200" i="1" dirty="0"/>
                <a:t>P</a:t>
              </a:r>
              <a:r>
                <a:rPr lang="en-US" sz="3200" i="1" baseline="-25000" dirty="0"/>
                <a:t>f</a:t>
              </a:r>
            </a:p>
          </p:txBody>
        </p:sp>
        <p:sp>
          <p:nvSpPr>
            <p:cNvPr id="23" name="TextBox 22"/>
            <p:cNvSpPr txBox="1"/>
            <p:nvPr/>
          </p:nvSpPr>
          <p:spPr>
            <a:xfrm>
              <a:off x="3581400" y="4876800"/>
              <a:ext cx="533400" cy="584775"/>
            </a:xfrm>
            <a:prstGeom prst="rect">
              <a:avLst/>
            </a:prstGeom>
            <a:noFill/>
          </p:spPr>
          <p:txBody>
            <a:bodyPr wrap="square" rtlCol="0">
              <a:spAutoFit/>
            </a:bodyPr>
            <a:lstStyle/>
            <a:p>
              <a:r>
                <a:rPr lang="en-US" sz="3200" i="1" dirty="0"/>
                <a:t>V</a:t>
              </a:r>
              <a:r>
                <a:rPr lang="en-US" sz="3200" i="1" baseline="-25000" dirty="0"/>
                <a:t>i</a:t>
              </a:r>
            </a:p>
          </p:txBody>
        </p:sp>
        <p:sp>
          <p:nvSpPr>
            <p:cNvPr id="24" name="TextBox 23"/>
            <p:cNvSpPr txBox="1"/>
            <p:nvPr/>
          </p:nvSpPr>
          <p:spPr>
            <a:xfrm>
              <a:off x="5486400" y="4901625"/>
              <a:ext cx="533400" cy="584775"/>
            </a:xfrm>
            <a:prstGeom prst="rect">
              <a:avLst/>
            </a:prstGeom>
            <a:noFill/>
          </p:spPr>
          <p:txBody>
            <a:bodyPr wrap="square" rtlCol="0">
              <a:spAutoFit/>
            </a:bodyPr>
            <a:lstStyle/>
            <a:p>
              <a:r>
                <a:rPr lang="en-US" sz="3200" i="1" dirty="0" err="1"/>
                <a:t>V</a:t>
              </a:r>
              <a:r>
                <a:rPr lang="en-US" sz="3200" i="1" baseline="-25000" dirty="0" err="1"/>
                <a:t>f</a:t>
              </a:r>
              <a:endParaRPr lang="en-US" sz="3200" i="1" baseline="-25000" dirty="0"/>
            </a:p>
          </p:txBody>
        </p:sp>
        <p:sp>
          <p:nvSpPr>
            <p:cNvPr id="25" name="TextBox 24"/>
            <p:cNvSpPr txBox="1"/>
            <p:nvPr/>
          </p:nvSpPr>
          <p:spPr>
            <a:xfrm>
              <a:off x="6172200" y="4724400"/>
              <a:ext cx="533400" cy="461665"/>
            </a:xfrm>
            <a:prstGeom prst="rect">
              <a:avLst/>
            </a:prstGeom>
            <a:noFill/>
          </p:spPr>
          <p:txBody>
            <a:bodyPr wrap="square" rtlCol="0">
              <a:spAutoFit/>
            </a:bodyPr>
            <a:lstStyle/>
            <a:p>
              <a:r>
                <a:rPr lang="en-US" sz="2400" i="1" dirty="0"/>
                <a:t>V</a:t>
              </a:r>
              <a:endParaRPr lang="en-US" sz="2400" i="1" baseline="-25000" dirty="0"/>
            </a:p>
          </p:txBody>
        </p:sp>
        <p:sp>
          <p:nvSpPr>
            <p:cNvPr id="18" name="Isosceles Triangle 17"/>
            <p:cNvSpPr/>
            <p:nvPr/>
          </p:nvSpPr>
          <p:spPr>
            <a:xfrm rot="16200000" flipV="1">
              <a:off x="4648200" y="38481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flipH="1" flipV="1">
              <a:off x="3800475" y="2438400"/>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Isosceles Triangle 27"/>
            <p:cNvSpPr/>
            <p:nvPr/>
          </p:nvSpPr>
          <p:spPr>
            <a:xfrm rot="10800000" flipH="1">
              <a:off x="3657600" y="30099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p:cNvGrpSpPr/>
          <p:nvPr/>
        </p:nvGrpSpPr>
        <p:grpSpPr>
          <a:xfrm>
            <a:off x="2909105" y="1981201"/>
            <a:ext cx="3333509" cy="2618348"/>
            <a:chOff x="2590800" y="1595735"/>
            <a:chExt cx="4114800" cy="4013557"/>
          </a:xfrm>
        </p:grpSpPr>
        <p:sp>
          <p:nvSpPr>
            <p:cNvPr id="29" name="Rectangle 28"/>
            <p:cNvSpPr/>
            <p:nvPr/>
          </p:nvSpPr>
          <p:spPr>
            <a:xfrm>
              <a:off x="3810000" y="2438400"/>
              <a:ext cx="1905000" cy="25146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9" name="Straight Connector 18"/>
            <p:cNvCxnSpPr/>
            <p:nvPr/>
          </p:nvCxnSpPr>
          <p:spPr>
            <a:xfrm rot="5400000">
              <a:off x="4457700" y="37719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Isosceles Triangle 17"/>
            <p:cNvSpPr/>
            <p:nvPr/>
          </p:nvSpPr>
          <p:spPr>
            <a:xfrm rot="5400000">
              <a:off x="4572000" y="22860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TextBox 19"/>
            <p:cNvSpPr txBox="1"/>
            <p:nvPr/>
          </p:nvSpPr>
          <p:spPr>
            <a:xfrm>
              <a:off x="2971800" y="1595735"/>
              <a:ext cx="374371" cy="566134"/>
            </a:xfrm>
            <a:prstGeom prst="rect">
              <a:avLst/>
            </a:prstGeom>
            <a:noFill/>
          </p:spPr>
          <p:txBody>
            <a:bodyPr wrap="none" rtlCol="0">
              <a:spAutoFit/>
            </a:bodyPr>
            <a:lstStyle/>
            <a:p>
              <a:r>
                <a:rPr lang="en-US" i="1" dirty="0"/>
                <a:t>P</a:t>
              </a:r>
            </a:p>
          </p:txBody>
        </p:sp>
        <p:sp>
          <p:nvSpPr>
            <p:cNvPr id="21" name="TextBox 20"/>
            <p:cNvSpPr txBox="1"/>
            <p:nvPr/>
          </p:nvSpPr>
          <p:spPr>
            <a:xfrm>
              <a:off x="2590800" y="2057400"/>
              <a:ext cx="457200" cy="1085089"/>
            </a:xfrm>
            <a:prstGeom prst="rect">
              <a:avLst/>
            </a:prstGeom>
            <a:noFill/>
          </p:spPr>
          <p:txBody>
            <a:bodyPr wrap="square" rtlCol="0">
              <a:spAutoFit/>
            </a:bodyPr>
            <a:lstStyle/>
            <a:p>
              <a:r>
                <a:rPr lang="en-US" sz="2400" i="1" dirty="0"/>
                <a:t>P</a:t>
              </a:r>
              <a:r>
                <a:rPr lang="en-US" sz="2400" i="1" baseline="-25000" dirty="0"/>
                <a:t>i</a:t>
              </a:r>
            </a:p>
          </p:txBody>
        </p:sp>
        <p:sp>
          <p:nvSpPr>
            <p:cNvPr id="22" name="TextBox 21"/>
            <p:cNvSpPr txBox="1"/>
            <p:nvPr/>
          </p:nvSpPr>
          <p:spPr>
            <a:xfrm>
              <a:off x="2590800" y="3657598"/>
              <a:ext cx="533401" cy="707667"/>
            </a:xfrm>
            <a:prstGeom prst="rect">
              <a:avLst/>
            </a:prstGeom>
            <a:noFill/>
          </p:spPr>
          <p:txBody>
            <a:bodyPr wrap="square" rtlCol="0">
              <a:spAutoFit/>
            </a:bodyPr>
            <a:lstStyle/>
            <a:p>
              <a:r>
                <a:rPr lang="en-US" sz="2400" i="1" dirty="0"/>
                <a:t>P</a:t>
              </a:r>
              <a:r>
                <a:rPr lang="en-US" sz="2400" i="1" baseline="-25000" dirty="0"/>
                <a:t>f</a:t>
              </a:r>
            </a:p>
          </p:txBody>
        </p:sp>
        <p:sp>
          <p:nvSpPr>
            <p:cNvPr id="23" name="TextBox 22"/>
            <p:cNvSpPr txBox="1"/>
            <p:nvPr/>
          </p:nvSpPr>
          <p:spPr>
            <a:xfrm>
              <a:off x="3581399" y="4876800"/>
              <a:ext cx="533401" cy="707667"/>
            </a:xfrm>
            <a:prstGeom prst="rect">
              <a:avLst/>
            </a:prstGeom>
            <a:noFill/>
          </p:spPr>
          <p:txBody>
            <a:bodyPr wrap="square" rtlCol="0">
              <a:spAutoFit/>
            </a:bodyPr>
            <a:lstStyle/>
            <a:p>
              <a:r>
                <a:rPr lang="en-US" sz="2400" i="1" dirty="0"/>
                <a:t>V</a:t>
              </a:r>
              <a:r>
                <a:rPr lang="en-US" sz="2400" i="1" baseline="-25000" dirty="0"/>
                <a:t>i</a:t>
              </a:r>
            </a:p>
          </p:txBody>
        </p:sp>
        <p:sp>
          <p:nvSpPr>
            <p:cNvPr id="24" name="TextBox 23"/>
            <p:cNvSpPr txBox="1"/>
            <p:nvPr/>
          </p:nvSpPr>
          <p:spPr>
            <a:xfrm>
              <a:off x="5486400" y="4901625"/>
              <a:ext cx="533401" cy="707667"/>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25" name="TextBox 24"/>
            <p:cNvSpPr txBox="1"/>
            <p:nvPr/>
          </p:nvSpPr>
          <p:spPr>
            <a:xfrm>
              <a:off x="6172199" y="4724400"/>
              <a:ext cx="533401" cy="566134"/>
            </a:xfrm>
            <a:prstGeom prst="rect">
              <a:avLst/>
            </a:prstGeom>
            <a:noFill/>
          </p:spPr>
          <p:txBody>
            <a:bodyPr wrap="square" rtlCol="0">
              <a:spAutoFit/>
            </a:bodyPr>
            <a:lstStyle/>
            <a:p>
              <a:r>
                <a:rPr lang="en-US" i="1" dirty="0"/>
                <a:t>V</a:t>
              </a:r>
              <a:endParaRPr lang="en-US" i="1" baseline="-25000" dirty="0"/>
            </a:p>
          </p:txBody>
        </p:sp>
        <p:sp>
          <p:nvSpPr>
            <p:cNvPr id="27" name="Freeform 26"/>
            <p:cNvSpPr/>
            <p:nvPr/>
          </p:nvSpPr>
          <p:spPr>
            <a:xfrm>
              <a:off x="3810000" y="2428875"/>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28" name="Isosceles Triangle 27"/>
            <p:cNvSpPr/>
            <p:nvPr/>
          </p:nvSpPr>
          <p:spPr>
            <a:xfrm rot="10800000">
              <a:off x="5562600" y="31242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5" name="Oval 14"/>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6" name="Oval 15"/>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7" name="Group 46"/>
          <p:cNvGrpSpPr/>
          <p:nvPr/>
        </p:nvGrpSpPr>
        <p:grpSpPr>
          <a:xfrm>
            <a:off x="1" y="1984114"/>
            <a:ext cx="3333509" cy="2618348"/>
            <a:chOff x="-1000125" y="1600200"/>
            <a:chExt cx="4114800" cy="4013557"/>
          </a:xfrm>
        </p:grpSpPr>
        <p:sp>
          <p:nvSpPr>
            <p:cNvPr id="30" name="Freeform 29"/>
            <p:cNvSpPr/>
            <p:nvPr/>
          </p:nvSpPr>
          <p:spPr>
            <a:xfrm>
              <a:off x="228600" y="2509540"/>
              <a:ext cx="1914525" cy="2447925"/>
            </a:xfrm>
            <a:custGeom>
              <a:avLst/>
              <a:gdLst>
                <a:gd name="connsiteX0" fmla="*/ 0 w 1914525"/>
                <a:gd name="connsiteY0" fmla="*/ 0 h 2447925"/>
                <a:gd name="connsiteX1" fmla="*/ 228600 w 1914525"/>
                <a:gd name="connsiteY1" fmla="*/ 276225 h 2447925"/>
                <a:gd name="connsiteX2" fmla="*/ 657225 w 1914525"/>
                <a:gd name="connsiteY2" fmla="*/ 704850 h 2447925"/>
                <a:gd name="connsiteX3" fmla="*/ 1095375 w 1914525"/>
                <a:gd name="connsiteY3" fmla="*/ 1038225 h 2447925"/>
                <a:gd name="connsiteX4" fmla="*/ 1666875 w 1914525"/>
                <a:gd name="connsiteY4" fmla="*/ 1381125 h 2447925"/>
                <a:gd name="connsiteX5" fmla="*/ 1914525 w 1914525"/>
                <a:gd name="connsiteY5" fmla="*/ 1524000 h 2447925"/>
                <a:gd name="connsiteX6" fmla="*/ 1895475 w 1914525"/>
                <a:gd name="connsiteY6" fmla="*/ 2447925 h 2447925"/>
                <a:gd name="connsiteX7" fmla="*/ 0 w 1914525"/>
                <a:gd name="connsiteY7" fmla="*/ 2447925 h 2447925"/>
                <a:gd name="connsiteX8" fmla="*/ 0 w 1914525"/>
                <a:gd name="connsiteY8"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525" h="2447925">
                  <a:moveTo>
                    <a:pt x="0" y="0"/>
                  </a:moveTo>
                  <a:lnTo>
                    <a:pt x="228600" y="276225"/>
                  </a:lnTo>
                  <a:lnTo>
                    <a:pt x="657225" y="704850"/>
                  </a:lnTo>
                  <a:lnTo>
                    <a:pt x="1095375" y="1038225"/>
                  </a:lnTo>
                  <a:lnTo>
                    <a:pt x="1666875" y="1381125"/>
                  </a:lnTo>
                  <a:lnTo>
                    <a:pt x="1914525" y="1524000"/>
                  </a:lnTo>
                  <a:lnTo>
                    <a:pt x="1895475" y="2447925"/>
                  </a:lnTo>
                  <a:lnTo>
                    <a:pt x="0" y="2447925"/>
                  </a:lnTo>
                  <a:lnTo>
                    <a:pt x="0" y="0"/>
                  </a:lnTo>
                  <a:close/>
                </a:path>
              </a:pathLst>
            </a:cu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1" name="Straight Connector 30"/>
            <p:cNvCxnSpPr/>
            <p:nvPr/>
          </p:nvCxnSpPr>
          <p:spPr>
            <a:xfrm>
              <a:off x="-390525" y="20618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a:off x="1057275" y="35096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90525" y="40430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66725" y="2442865"/>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a:off x="-1038225" y="37001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2124075" y="4119265"/>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142875" y="23666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Oval 37"/>
            <p:cNvSpPr/>
            <p:nvPr/>
          </p:nvSpPr>
          <p:spPr>
            <a:xfrm>
              <a:off x="2047875" y="39668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Freeform 38"/>
            <p:cNvSpPr/>
            <p:nvPr/>
          </p:nvSpPr>
          <p:spPr>
            <a:xfrm>
              <a:off x="238125" y="2509540"/>
              <a:ext cx="1885950" cy="1504950"/>
            </a:xfrm>
            <a:custGeom>
              <a:avLst/>
              <a:gdLst>
                <a:gd name="connsiteX0" fmla="*/ 0 w 1885950"/>
                <a:gd name="connsiteY0" fmla="*/ 0 h 1504950"/>
                <a:gd name="connsiteX1" fmla="*/ 771525 w 1885950"/>
                <a:gd name="connsiteY1" fmla="*/ 800100 h 1504950"/>
                <a:gd name="connsiteX2" fmla="*/ 1885950 w 1885950"/>
                <a:gd name="connsiteY2" fmla="*/ 1504950 h 1504950"/>
                <a:gd name="connsiteX3" fmla="*/ 1885950 w 1885950"/>
                <a:gd name="connsiteY3" fmla="*/ 1504950 h 1504950"/>
              </a:gdLst>
              <a:ahLst/>
              <a:cxnLst>
                <a:cxn ang="0">
                  <a:pos x="connsiteX0" y="connsiteY0"/>
                </a:cxn>
                <a:cxn ang="0">
                  <a:pos x="connsiteX1" y="connsiteY1"/>
                </a:cxn>
                <a:cxn ang="0">
                  <a:pos x="connsiteX2" y="connsiteY2"/>
                </a:cxn>
                <a:cxn ang="0">
                  <a:pos x="connsiteX3" y="connsiteY3"/>
                </a:cxn>
              </a:cxnLst>
              <a:rect l="l" t="t" r="r" b="b"/>
              <a:pathLst>
                <a:path w="1885950" h="1504950">
                  <a:moveTo>
                    <a:pt x="0" y="0"/>
                  </a:moveTo>
                  <a:cubicBezTo>
                    <a:pt x="228600" y="274637"/>
                    <a:pt x="457200" y="549275"/>
                    <a:pt x="771525" y="800100"/>
                  </a:cubicBezTo>
                  <a:cubicBezTo>
                    <a:pt x="1085850" y="1050925"/>
                    <a:pt x="1885950" y="1504950"/>
                    <a:pt x="1885950" y="1504950"/>
                  </a:cubicBezTo>
                  <a:lnTo>
                    <a:pt x="1885950" y="1504950"/>
                  </a:lnTo>
                </a:path>
              </a:pathLst>
            </a:custGeom>
            <a:noFill/>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40" name="Isosceles Triangle 39"/>
            <p:cNvSpPr/>
            <p:nvPr/>
          </p:nvSpPr>
          <p:spPr>
            <a:xfrm rot="7951073">
              <a:off x="815399" y="3115389"/>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TextBox 40"/>
            <p:cNvSpPr txBox="1"/>
            <p:nvPr/>
          </p:nvSpPr>
          <p:spPr>
            <a:xfrm>
              <a:off x="-619125" y="1600200"/>
              <a:ext cx="374371" cy="566134"/>
            </a:xfrm>
            <a:prstGeom prst="rect">
              <a:avLst/>
            </a:prstGeom>
            <a:noFill/>
          </p:spPr>
          <p:txBody>
            <a:bodyPr wrap="none" rtlCol="0">
              <a:spAutoFit/>
            </a:bodyPr>
            <a:lstStyle/>
            <a:p>
              <a:r>
                <a:rPr lang="en-US" i="1" dirty="0"/>
                <a:t>P</a:t>
              </a:r>
            </a:p>
          </p:txBody>
        </p:sp>
        <p:sp>
          <p:nvSpPr>
            <p:cNvPr id="42" name="TextBox 41"/>
            <p:cNvSpPr txBox="1"/>
            <p:nvPr/>
          </p:nvSpPr>
          <p:spPr>
            <a:xfrm>
              <a:off x="-1000125" y="2061865"/>
              <a:ext cx="457200" cy="1085089"/>
            </a:xfrm>
            <a:prstGeom prst="rect">
              <a:avLst/>
            </a:prstGeom>
            <a:noFill/>
          </p:spPr>
          <p:txBody>
            <a:bodyPr wrap="square" rtlCol="0">
              <a:spAutoFit/>
            </a:bodyPr>
            <a:lstStyle/>
            <a:p>
              <a:r>
                <a:rPr lang="en-US" sz="2400" i="1" dirty="0"/>
                <a:t>P</a:t>
              </a:r>
              <a:r>
                <a:rPr lang="en-US" sz="2400" i="1" baseline="-25000" dirty="0"/>
                <a:t>i</a:t>
              </a:r>
            </a:p>
          </p:txBody>
        </p:sp>
        <p:sp>
          <p:nvSpPr>
            <p:cNvPr id="43" name="TextBox 42"/>
            <p:cNvSpPr txBox="1"/>
            <p:nvPr/>
          </p:nvSpPr>
          <p:spPr>
            <a:xfrm>
              <a:off x="-1000125" y="3662063"/>
              <a:ext cx="533401" cy="707667"/>
            </a:xfrm>
            <a:prstGeom prst="rect">
              <a:avLst/>
            </a:prstGeom>
            <a:noFill/>
          </p:spPr>
          <p:txBody>
            <a:bodyPr wrap="square" rtlCol="0">
              <a:spAutoFit/>
            </a:bodyPr>
            <a:lstStyle/>
            <a:p>
              <a:r>
                <a:rPr lang="en-US" sz="2400" i="1" dirty="0"/>
                <a:t>P</a:t>
              </a:r>
              <a:r>
                <a:rPr lang="en-US" sz="2400" i="1" baseline="-25000" dirty="0"/>
                <a:t>f</a:t>
              </a:r>
            </a:p>
          </p:txBody>
        </p:sp>
        <p:sp>
          <p:nvSpPr>
            <p:cNvPr id="44" name="TextBox 43"/>
            <p:cNvSpPr txBox="1"/>
            <p:nvPr/>
          </p:nvSpPr>
          <p:spPr>
            <a:xfrm>
              <a:off x="-9526" y="4881265"/>
              <a:ext cx="533401" cy="707667"/>
            </a:xfrm>
            <a:prstGeom prst="rect">
              <a:avLst/>
            </a:prstGeom>
            <a:noFill/>
          </p:spPr>
          <p:txBody>
            <a:bodyPr wrap="square" rtlCol="0">
              <a:spAutoFit/>
            </a:bodyPr>
            <a:lstStyle/>
            <a:p>
              <a:r>
                <a:rPr lang="en-US" sz="2400" i="1" dirty="0"/>
                <a:t>V</a:t>
              </a:r>
              <a:r>
                <a:rPr lang="en-US" sz="2400" i="1" baseline="-25000" dirty="0"/>
                <a:t>i</a:t>
              </a:r>
            </a:p>
          </p:txBody>
        </p:sp>
        <p:sp>
          <p:nvSpPr>
            <p:cNvPr id="45" name="TextBox 44"/>
            <p:cNvSpPr txBox="1"/>
            <p:nvPr/>
          </p:nvSpPr>
          <p:spPr>
            <a:xfrm>
              <a:off x="1895475" y="4906090"/>
              <a:ext cx="533401" cy="707667"/>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46" name="TextBox 45"/>
            <p:cNvSpPr txBox="1"/>
            <p:nvPr/>
          </p:nvSpPr>
          <p:spPr>
            <a:xfrm>
              <a:off x="2581274" y="4886325"/>
              <a:ext cx="533401" cy="566134"/>
            </a:xfrm>
            <a:prstGeom prst="rect">
              <a:avLst/>
            </a:prstGeom>
            <a:noFill/>
          </p:spPr>
          <p:txBody>
            <a:bodyPr wrap="square" rtlCol="0">
              <a:spAutoFit/>
            </a:bodyPr>
            <a:lstStyle/>
            <a:p>
              <a:r>
                <a:rPr lang="en-US" i="1" dirty="0"/>
                <a:t>V</a:t>
              </a:r>
              <a:endParaRPr lang="en-US" i="1" baseline="-25000" dirty="0"/>
            </a:p>
          </p:txBody>
        </p:sp>
      </p:grpSp>
      <p:grpSp>
        <p:nvGrpSpPr>
          <p:cNvPr id="49" name="Group 48"/>
          <p:cNvGrpSpPr/>
          <p:nvPr/>
        </p:nvGrpSpPr>
        <p:grpSpPr>
          <a:xfrm>
            <a:off x="5810492" y="2033825"/>
            <a:ext cx="3333509" cy="2618348"/>
            <a:chOff x="2590800" y="1595735"/>
            <a:chExt cx="4114800" cy="4013557"/>
          </a:xfrm>
        </p:grpSpPr>
        <p:sp>
          <p:nvSpPr>
            <p:cNvPr id="50" name="Rectangle 49"/>
            <p:cNvSpPr/>
            <p:nvPr/>
          </p:nvSpPr>
          <p:spPr>
            <a:xfrm>
              <a:off x="3810000" y="4038600"/>
              <a:ext cx="1905000" cy="9144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51" name="Straight Connector 50"/>
            <p:cNvCxnSpPr>
              <a:stCxn id="67" idx="4"/>
            </p:cNvCxnSpPr>
            <p:nvPr/>
          </p:nvCxnSpPr>
          <p:spPr>
            <a:xfrm>
              <a:off x="5715001" y="4114799"/>
              <a:ext cx="0" cy="803146"/>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971800" y="1595735"/>
              <a:ext cx="374371" cy="566134"/>
            </a:xfrm>
            <a:prstGeom prst="rect">
              <a:avLst/>
            </a:prstGeom>
            <a:noFill/>
          </p:spPr>
          <p:txBody>
            <a:bodyPr wrap="none" rtlCol="0">
              <a:spAutoFit/>
            </a:bodyPr>
            <a:lstStyle/>
            <a:p>
              <a:r>
                <a:rPr lang="en-US" i="1" dirty="0"/>
                <a:t>P</a:t>
              </a:r>
            </a:p>
          </p:txBody>
        </p:sp>
        <p:sp>
          <p:nvSpPr>
            <p:cNvPr id="58" name="TextBox 57"/>
            <p:cNvSpPr txBox="1"/>
            <p:nvPr/>
          </p:nvSpPr>
          <p:spPr>
            <a:xfrm>
              <a:off x="2590800" y="2057400"/>
              <a:ext cx="457200" cy="1085089"/>
            </a:xfrm>
            <a:prstGeom prst="rect">
              <a:avLst/>
            </a:prstGeom>
            <a:noFill/>
          </p:spPr>
          <p:txBody>
            <a:bodyPr wrap="square" rtlCol="0">
              <a:spAutoFit/>
            </a:bodyPr>
            <a:lstStyle/>
            <a:p>
              <a:r>
                <a:rPr lang="en-US" sz="2400" i="1" dirty="0"/>
                <a:t>P</a:t>
              </a:r>
              <a:r>
                <a:rPr lang="en-US" sz="2400" i="1" baseline="-25000" dirty="0"/>
                <a:t>i</a:t>
              </a:r>
            </a:p>
          </p:txBody>
        </p:sp>
        <p:sp>
          <p:nvSpPr>
            <p:cNvPr id="59" name="TextBox 58"/>
            <p:cNvSpPr txBox="1"/>
            <p:nvPr/>
          </p:nvSpPr>
          <p:spPr>
            <a:xfrm>
              <a:off x="2590800" y="3657598"/>
              <a:ext cx="533401" cy="707667"/>
            </a:xfrm>
            <a:prstGeom prst="rect">
              <a:avLst/>
            </a:prstGeom>
            <a:noFill/>
          </p:spPr>
          <p:txBody>
            <a:bodyPr wrap="square" rtlCol="0">
              <a:spAutoFit/>
            </a:bodyPr>
            <a:lstStyle/>
            <a:p>
              <a:r>
                <a:rPr lang="en-US" sz="2400" i="1" dirty="0"/>
                <a:t>P</a:t>
              </a:r>
              <a:r>
                <a:rPr lang="en-US" sz="2400" i="1" baseline="-25000" dirty="0"/>
                <a:t>f</a:t>
              </a:r>
            </a:p>
          </p:txBody>
        </p:sp>
        <p:sp>
          <p:nvSpPr>
            <p:cNvPr id="60" name="TextBox 59"/>
            <p:cNvSpPr txBox="1"/>
            <p:nvPr/>
          </p:nvSpPr>
          <p:spPr>
            <a:xfrm>
              <a:off x="3581399" y="4876800"/>
              <a:ext cx="533401" cy="707667"/>
            </a:xfrm>
            <a:prstGeom prst="rect">
              <a:avLst/>
            </a:prstGeom>
            <a:noFill/>
          </p:spPr>
          <p:txBody>
            <a:bodyPr wrap="square" rtlCol="0">
              <a:spAutoFit/>
            </a:bodyPr>
            <a:lstStyle/>
            <a:p>
              <a:r>
                <a:rPr lang="en-US" sz="2400" i="1" dirty="0"/>
                <a:t>V</a:t>
              </a:r>
              <a:r>
                <a:rPr lang="en-US" sz="2400" i="1" baseline="-25000" dirty="0"/>
                <a:t>i</a:t>
              </a:r>
            </a:p>
          </p:txBody>
        </p:sp>
        <p:sp>
          <p:nvSpPr>
            <p:cNvPr id="61" name="TextBox 60"/>
            <p:cNvSpPr txBox="1"/>
            <p:nvPr/>
          </p:nvSpPr>
          <p:spPr>
            <a:xfrm>
              <a:off x="5486400" y="4901625"/>
              <a:ext cx="533401" cy="707667"/>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62" name="TextBox 61"/>
            <p:cNvSpPr txBox="1"/>
            <p:nvPr/>
          </p:nvSpPr>
          <p:spPr>
            <a:xfrm>
              <a:off x="6172199" y="4724400"/>
              <a:ext cx="533401" cy="566134"/>
            </a:xfrm>
            <a:prstGeom prst="rect">
              <a:avLst/>
            </a:prstGeom>
            <a:noFill/>
          </p:spPr>
          <p:txBody>
            <a:bodyPr wrap="square" rtlCol="0">
              <a:spAutoFit/>
            </a:bodyPr>
            <a:lstStyle/>
            <a:p>
              <a:r>
                <a:rPr lang="en-US" i="1" dirty="0"/>
                <a:t>V</a:t>
              </a:r>
              <a:endParaRPr lang="en-US" i="1" baseline="-25000" dirty="0"/>
            </a:p>
          </p:txBody>
        </p:sp>
        <p:sp>
          <p:nvSpPr>
            <p:cNvPr id="63" name="Isosceles Triangle 62"/>
            <p:cNvSpPr/>
            <p:nvPr/>
          </p:nvSpPr>
          <p:spPr>
            <a:xfrm rot="16200000" flipV="1">
              <a:off x="4648200" y="38481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4" name="Freeform 63"/>
            <p:cNvSpPr/>
            <p:nvPr/>
          </p:nvSpPr>
          <p:spPr>
            <a:xfrm flipH="1" flipV="1">
              <a:off x="3800475" y="2438400"/>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65" name="Isosceles Triangle 64"/>
            <p:cNvSpPr/>
            <p:nvPr/>
          </p:nvSpPr>
          <p:spPr>
            <a:xfrm rot="10800000" flipH="1">
              <a:off x="3657600" y="30099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Oval 65"/>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7" name="Oval 66"/>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4" name="Slide Number Placeholder 5"/>
          <p:cNvSpPr>
            <a:spLocks noGrp="1"/>
          </p:cNvSpPr>
          <p:nvPr>
            <p:ph type="sldNum" sz="quarter" idx="12"/>
          </p:nvPr>
        </p:nvSpPr>
        <p:spPr>
          <a:noFill/>
        </p:spPr>
        <p:txBody>
          <a:bodyPr/>
          <a:lstStyle/>
          <a:p>
            <a:fld id="{6DC59D17-C04A-4EC9-9909-A713446E8F62}" type="slidenum">
              <a:rPr lang="en-US" smtClean="0"/>
              <a:pPr/>
              <a:t>63</a:t>
            </a:fld>
            <a:endParaRPr lang="en-US"/>
          </a:p>
        </p:txBody>
      </p:sp>
      <p:sp>
        <p:nvSpPr>
          <p:cNvPr id="9225" name="Rectangle 2"/>
          <p:cNvSpPr>
            <a:spLocks noChangeArrowheads="1"/>
          </p:cNvSpPr>
          <p:nvPr/>
        </p:nvSpPr>
        <p:spPr bwMode="auto">
          <a:xfrm>
            <a:off x="5956300" y="3987800"/>
            <a:ext cx="1041400" cy="723900"/>
          </a:xfrm>
          <a:prstGeom prst="rect">
            <a:avLst/>
          </a:prstGeom>
          <a:solidFill>
            <a:srgbClr val="FFFF99"/>
          </a:solidFill>
          <a:ln w="9525" algn="ctr">
            <a:noFill/>
            <a:miter lim="800000"/>
            <a:headEnd/>
            <a:tailEnd/>
          </a:ln>
        </p:spPr>
        <p:txBody>
          <a:bodyPr wrap="none" anchor="ctr"/>
          <a:lstStyle/>
          <a:p>
            <a:endParaRPr lang="en-US"/>
          </a:p>
        </p:txBody>
      </p:sp>
      <p:sp>
        <p:nvSpPr>
          <p:cNvPr id="9226" name="Rectangle 3"/>
          <p:cNvSpPr>
            <a:spLocks noGrp="1" noChangeArrowheads="1"/>
          </p:cNvSpPr>
          <p:nvPr>
            <p:ph type="title"/>
          </p:nvPr>
        </p:nvSpPr>
        <p:spPr/>
        <p:txBody>
          <a:bodyPr/>
          <a:lstStyle/>
          <a:p>
            <a:pPr eaLnBrk="1" hangingPunct="1"/>
            <a:r>
              <a:rPr lang="en-US" dirty="0"/>
              <a:t>Question 123.10.5</a:t>
            </a:r>
          </a:p>
        </p:txBody>
      </p:sp>
      <p:sp>
        <p:nvSpPr>
          <p:cNvPr id="9227" name="Rectangle 4"/>
          <p:cNvSpPr>
            <a:spLocks noGrp="1" noChangeArrowheads="1"/>
          </p:cNvSpPr>
          <p:nvPr>
            <p:ph type="body" idx="1"/>
          </p:nvPr>
        </p:nvSpPr>
        <p:spPr>
          <a:xfrm>
            <a:off x="457200" y="1600200"/>
            <a:ext cx="3556000" cy="4525963"/>
          </a:xfrm>
        </p:spPr>
        <p:txBody>
          <a:bodyPr/>
          <a:lstStyle/>
          <a:p>
            <a:pPr eaLnBrk="1" hangingPunct="1"/>
            <a:r>
              <a:rPr lang="en-US"/>
              <a:t>Which PV graph represents a cyclic process?</a:t>
            </a:r>
          </a:p>
        </p:txBody>
      </p:sp>
      <p:grpSp>
        <p:nvGrpSpPr>
          <p:cNvPr id="2" name="Group 5"/>
          <p:cNvGrpSpPr>
            <a:grpSpLocks/>
          </p:cNvGrpSpPr>
          <p:nvPr/>
        </p:nvGrpSpPr>
        <p:grpSpPr bwMode="auto">
          <a:xfrm>
            <a:off x="5710238" y="1727200"/>
            <a:ext cx="2112962" cy="1570038"/>
            <a:chOff x="2461" y="1088"/>
            <a:chExt cx="3299" cy="2149"/>
          </a:xfrm>
        </p:grpSpPr>
        <p:sp>
          <p:nvSpPr>
            <p:cNvPr id="9241" name="Line 6"/>
            <p:cNvSpPr>
              <a:spLocks noChangeShapeType="1"/>
            </p:cNvSpPr>
            <p:nvPr/>
          </p:nvSpPr>
          <p:spPr bwMode="auto">
            <a:xfrm flipV="1">
              <a:off x="2941" y="1136"/>
              <a:ext cx="0" cy="1728"/>
            </a:xfrm>
            <a:prstGeom prst="line">
              <a:avLst/>
            </a:prstGeom>
            <a:noFill/>
            <a:ln w="9525">
              <a:solidFill>
                <a:schemeClr val="tx1"/>
              </a:solidFill>
              <a:round/>
              <a:headEnd/>
              <a:tailEnd type="triangle" w="med" len="med"/>
            </a:ln>
          </p:spPr>
          <p:txBody>
            <a:bodyPr/>
            <a:lstStyle/>
            <a:p>
              <a:endParaRPr lang="en-US"/>
            </a:p>
          </p:txBody>
        </p:sp>
        <p:sp>
          <p:nvSpPr>
            <p:cNvPr id="9242" name="Line 7"/>
            <p:cNvSpPr>
              <a:spLocks noChangeShapeType="1"/>
            </p:cNvSpPr>
            <p:nvPr/>
          </p:nvSpPr>
          <p:spPr bwMode="auto">
            <a:xfrm>
              <a:off x="2941" y="2864"/>
              <a:ext cx="2352" cy="0"/>
            </a:xfrm>
            <a:prstGeom prst="line">
              <a:avLst/>
            </a:prstGeom>
            <a:noFill/>
            <a:ln w="9525">
              <a:solidFill>
                <a:schemeClr val="tx1"/>
              </a:solidFill>
              <a:round/>
              <a:headEnd/>
              <a:tailEnd type="triangle" w="med" len="med"/>
            </a:ln>
          </p:spPr>
          <p:txBody>
            <a:bodyPr/>
            <a:lstStyle/>
            <a:p>
              <a:endParaRPr lang="en-US"/>
            </a:p>
          </p:txBody>
        </p:sp>
        <p:graphicFrame>
          <p:nvGraphicFramePr>
            <p:cNvPr id="9222" name="Object 8"/>
            <p:cNvGraphicFramePr>
              <a:graphicFrameLocks noChangeAspect="1"/>
            </p:cNvGraphicFramePr>
            <p:nvPr/>
          </p:nvGraphicFramePr>
          <p:xfrm>
            <a:off x="2461" y="1088"/>
            <a:ext cx="323" cy="359"/>
          </p:xfrm>
          <a:graphic>
            <a:graphicData uri="http://schemas.openxmlformats.org/presentationml/2006/ole">
              <mc:AlternateContent xmlns:mc="http://schemas.openxmlformats.org/markup-compatibility/2006">
                <mc:Choice xmlns:v="urn:schemas-microsoft-com:vml" Requires="v">
                  <p:oleObj name="Equation" r:id="rId2" imgW="152280" imgH="164880" progId="Equation.3">
                    <p:embed/>
                  </p:oleObj>
                </mc:Choice>
                <mc:Fallback>
                  <p:oleObj name="Equation" r:id="rId2" imgW="152280" imgH="164880" progId="Equation.3">
                    <p:embed/>
                    <p:pic>
                      <p:nvPicPr>
                        <p:cNvPr id="9222"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1" y="1088"/>
                          <a:ext cx="323" cy="3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3" name="Object 9"/>
            <p:cNvGraphicFramePr>
              <a:graphicFrameLocks noChangeAspect="1"/>
            </p:cNvGraphicFramePr>
            <p:nvPr/>
          </p:nvGraphicFramePr>
          <p:xfrm>
            <a:off x="5437" y="2850"/>
            <a:ext cx="323" cy="387"/>
          </p:xfrm>
          <a:graphic>
            <a:graphicData uri="http://schemas.openxmlformats.org/presentationml/2006/ole">
              <mc:AlternateContent xmlns:mc="http://schemas.openxmlformats.org/markup-compatibility/2006">
                <mc:Choice xmlns:v="urn:schemas-microsoft-com:vml" Requires="v">
                  <p:oleObj name="Equation" r:id="rId4" imgW="152280" imgH="177480" progId="Equation.3">
                    <p:embed/>
                  </p:oleObj>
                </mc:Choice>
                <mc:Fallback>
                  <p:oleObj name="Equation" r:id="rId4" imgW="152280" imgH="177480" progId="Equation.3">
                    <p:embed/>
                    <p:pic>
                      <p:nvPicPr>
                        <p:cNvPr id="9223"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7" y="2850"/>
                          <a:ext cx="323" cy="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3" name="Freeform 10"/>
            <p:cNvSpPr>
              <a:spLocks/>
            </p:cNvSpPr>
            <p:nvPr/>
          </p:nvSpPr>
          <p:spPr bwMode="auto">
            <a:xfrm>
              <a:off x="3269" y="1392"/>
              <a:ext cx="1384" cy="1088"/>
            </a:xfrm>
            <a:custGeom>
              <a:avLst/>
              <a:gdLst>
                <a:gd name="T0" fmla="*/ 8 w 1384"/>
                <a:gd name="T1" fmla="*/ 416 h 1088"/>
                <a:gd name="T2" fmla="*/ 488 w 1384"/>
                <a:gd name="T3" fmla="*/ 32 h 1088"/>
                <a:gd name="T4" fmla="*/ 1112 w 1384"/>
                <a:gd name="T5" fmla="*/ 224 h 1088"/>
                <a:gd name="T6" fmla="*/ 1352 w 1384"/>
                <a:gd name="T7" fmla="*/ 752 h 1088"/>
                <a:gd name="T8" fmla="*/ 1304 w 1384"/>
                <a:gd name="T9" fmla="*/ 896 h 1088"/>
                <a:gd name="T10" fmla="*/ 1112 w 1384"/>
                <a:gd name="T11" fmla="*/ 1040 h 1088"/>
                <a:gd name="T12" fmla="*/ 440 w 1384"/>
                <a:gd name="T13" fmla="*/ 992 h 1088"/>
                <a:gd name="T14" fmla="*/ 8 w 1384"/>
                <a:gd name="T15" fmla="*/ 416 h 1088"/>
                <a:gd name="T16" fmla="*/ 0 60000 65536"/>
                <a:gd name="T17" fmla="*/ 0 60000 65536"/>
                <a:gd name="T18" fmla="*/ 0 60000 65536"/>
                <a:gd name="T19" fmla="*/ 0 60000 65536"/>
                <a:gd name="T20" fmla="*/ 0 60000 65536"/>
                <a:gd name="T21" fmla="*/ 0 60000 65536"/>
                <a:gd name="T22" fmla="*/ 0 60000 65536"/>
                <a:gd name="T23" fmla="*/ 0 60000 65536"/>
                <a:gd name="T24" fmla="*/ 0 w 1384"/>
                <a:gd name="T25" fmla="*/ 0 h 1088"/>
                <a:gd name="T26" fmla="*/ 1384 w 1384"/>
                <a:gd name="T27" fmla="*/ 1088 h 108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84" h="1088">
                  <a:moveTo>
                    <a:pt x="8" y="416"/>
                  </a:moveTo>
                  <a:cubicBezTo>
                    <a:pt x="16" y="256"/>
                    <a:pt x="304" y="64"/>
                    <a:pt x="488" y="32"/>
                  </a:cubicBezTo>
                  <a:cubicBezTo>
                    <a:pt x="672" y="0"/>
                    <a:pt x="968" y="104"/>
                    <a:pt x="1112" y="224"/>
                  </a:cubicBezTo>
                  <a:cubicBezTo>
                    <a:pt x="1256" y="344"/>
                    <a:pt x="1320" y="640"/>
                    <a:pt x="1352" y="752"/>
                  </a:cubicBezTo>
                  <a:cubicBezTo>
                    <a:pt x="1384" y="864"/>
                    <a:pt x="1344" y="848"/>
                    <a:pt x="1304" y="896"/>
                  </a:cubicBezTo>
                  <a:cubicBezTo>
                    <a:pt x="1264" y="944"/>
                    <a:pt x="1256" y="1024"/>
                    <a:pt x="1112" y="1040"/>
                  </a:cubicBezTo>
                  <a:cubicBezTo>
                    <a:pt x="968" y="1056"/>
                    <a:pt x="624" y="1088"/>
                    <a:pt x="440" y="992"/>
                  </a:cubicBezTo>
                  <a:cubicBezTo>
                    <a:pt x="256" y="896"/>
                    <a:pt x="0" y="576"/>
                    <a:pt x="8" y="416"/>
                  </a:cubicBezTo>
                  <a:close/>
                </a:path>
              </a:pathLst>
            </a:custGeom>
            <a:solidFill>
              <a:srgbClr val="FFFF99"/>
            </a:solidFill>
            <a:ln w="9525">
              <a:solidFill>
                <a:schemeClr val="tx1"/>
              </a:solidFill>
              <a:round/>
              <a:headEnd/>
              <a:tailEnd/>
            </a:ln>
          </p:spPr>
          <p:txBody>
            <a:bodyPr/>
            <a:lstStyle/>
            <a:p>
              <a:endParaRPr lang="en-US"/>
            </a:p>
          </p:txBody>
        </p:sp>
        <p:sp>
          <p:nvSpPr>
            <p:cNvPr id="9244" name="Oval 11"/>
            <p:cNvSpPr>
              <a:spLocks noChangeArrowheads="1"/>
            </p:cNvSpPr>
            <p:nvPr/>
          </p:nvSpPr>
          <p:spPr bwMode="auto">
            <a:xfrm>
              <a:off x="3229" y="1712"/>
              <a:ext cx="96" cy="96"/>
            </a:xfrm>
            <a:prstGeom prst="ellipse">
              <a:avLst/>
            </a:prstGeom>
            <a:solidFill>
              <a:schemeClr val="bg2"/>
            </a:solidFill>
            <a:ln w="9525">
              <a:solidFill>
                <a:schemeClr val="tx1"/>
              </a:solidFill>
              <a:round/>
              <a:headEnd/>
              <a:tailEnd/>
            </a:ln>
          </p:spPr>
          <p:txBody>
            <a:bodyPr wrap="none" anchor="ctr"/>
            <a:lstStyle/>
            <a:p>
              <a:endParaRPr lang="en-US"/>
            </a:p>
          </p:txBody>
        </p:sp>
        <p:sp>
          <p:nvSpPr>
            <p:cNvPr id="9245" name="Line 12"/>
            <p:cNvSpPr>
              <a:spLocks noChangeShapeType="1"/>
            </p:cNvSpPr>
            <p:nvPr/>
          </p:nvSpPr>
          <p:spPr bwMode="auto">
            <a:xfrm>
              <a:off x="3949" y="1424"/>
              <a:ext cx="192" cy="48"/>
            </a:xfrm>
            <a:prstGeom prst="line">
              <a:avLst/>
            </a:prstGeom>
            <a:noFill/>
            <a:ln w="9525">
              <a:solidFill>
                <a:schemeClr val="tx1"/>
              </a:solidFill>
              <a:round/>
              <a:headEnd/>
              <a:tailEnd type="triangle" w="lg" len="med"/>
            </a:ln>
          </p:spPr>
          <p:txBody>
            <a:bodyPr/>
            <a:lstStyle/>
            <a:p>
              <a:endParaRPr lang="en-US"/>
            </a:p>
          </p:txBody>
        </p:sp>
        <p:sp>
          <p:nvSpPr>
            <p:cNvPr id="9246" name="Line 13"/>
            <p:cNvSpPr>
              <a:spLocks noChangeShapeType="1"/>
            </p:cNvSpPr>
            <p:nvPr/>
          </p:nvSpPr>
          <p:spPr bwMode="auto">
            <a:xfrm flipH="1" flipV="1">
              <a:off x="4093" y="2432"/>
              <a:ext cx="192" cy="0"/>
            </a:xfrm>
            <a:prstGeom prst="line">
              <a:avLst/>
            </a:prstGeom>
            <a:noFill/>
            <a:ln w="9525">
              <a:solidFill>
                <a:schemeClr val="tx1"/>
              </a:solidFill>
              <a:round/>
              <a:headEnd/>
              <a:tailEnd type="triangle" w="lg" len="med"/>
            </a:ln>
          </p:spPr>
          <p:txBody>
            <a:bodyPr/>
            <a:lstStyle/>
            <a:p>
              <a:endParaRPr lang="en-US"/>
            </a:p>
          </p:txBody>
        </p:sp>
      </p:grpSp>
      <p:sp>
        <p:nvSpPr>
          <p:cNvPr id="9229" name="Line 14"/>
          <p:cNvSpPr>
            <a:spLocks noChangeShapeType="1"/>
          </p:cNvSpPr>
          <p:nvPr/>
        </p:nvSpPr>
        <p:spPr bwMode="auto">
          <a:xfrm flipV="1">
            <a:off x="5967413" y="3463925"/>
            <a:ext cx="0" cy="1262063"/>
          </a:xfrm>
          <a:prstGeom prst="line">
            <a:avLst/>
          </a:prstGeom>
          <a:noFill/>
          <a:ln w="9525">
            <a:solidFill>
              <a:schemeClr val="tx1"/>
            </a:solidFill>
            <a:round/>
            <a:headEnd/>
            <a:tailEnd type="triangle" w="med" len="med"/>
          </a:ln>
        </p:spPr>
        <p:txBody>
          <a:bodyPr/>
          <a:lstStyle/>
          <a:p>
            <a:endParaRPr lang="en-US"/>
          </a:p>
        </p:txBody>
      </p:sp>
      <p:sp>
        <p:nvSpPr>
          <p:cNvPr id="9230" name="Line 15"/>
          <p:cNvSpPr>
            <a:spLocks noChangeShapeType="1"/>
          </p:cNvSpPr>
          <p:nvPr/>
        </p:nvSpPr>
        <p:spPr bwMode="auto">
          <a:xfrm>
            <a:off x="5967413" y="4725988"/>
            <a:ext cx="1506537" cy="0"/>
          </a:xfrm>
          <a:prstGeom prst="line">
            <a:avLst/>
          </a:prstGeom>
          <a:noFill/>
          <a:ln w="9525">
            <a:solidFill>
              <a:schemeClr val="tx1"/>
            </a:solidFill>
            <a:round/>
            <a:headEnd/>
            <a:tailEnd type="triangle" w="med" len="med"/>
          </a:ln>
        </p:spPr>
        <p:txBody>
          <a:bodyPr/>
          <a:lstStyle/>
          <a:p>
            <a:endParaRPr lang="en-US"/>
          </a:p>
        </p:txBody>
      </p:sp>
      <p:graphicFrame>
        <p:nvGraphicFramePr>
          <p:cNvPr id="9218" name="Object 16"/>
          <p:cNvGraphicFramePr>
            <a:graphicFrameLocks noChangeAspect="1"/>
          </p:cNvGraphicFramePr>
          <p:nvPr/>
        </p:nvGraphicFramePr>
        <p:xfrm>
          <a:off x="5659438" y="3429000"/>
          <a:ext cx="206375" cy="261938"/>
        </p:xfrm>
        <a:graphic>
          <a:graphicData uri="http://schemas.openxmlformats.org/presentationml/2006/ole">
            <mc:AlternateContent xmlns:mc="http://schemas.openxmlformats.org/markup-compatibility/2006">
              <mc:Choice xmlns:v="urn:schemas-microsoft-com:vml" Requires="v">
                <p:oleObj name="Equation" r:id="rId6" imgW="152280" imgH="164880" progId="Equation.3">
                  <p:embed/>
                </p:oleObj>
              </mc:Choice>
              <mc:Fallback>
                <p:oleObj name="Equation" r:id="rId6" imgW="152280" imgH="164880" progId="Equation.3">
                  <p:embed/>
                  <p:pic>
                    <p:nvPicPr>
                      <p:cNvPr id="9218"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59438" y="3429000"/>
                        <a:ext cx="206375" cy="261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17"/>
          <p:cNvGraphicFramePr>
            <a:graphicFrameLocks noChangeAspect="1"/>
          </p:cNvGraphicFramePr>
          <p:nvPr/>
        </p:nvGraphicFramePr>
        <p:xfrm>
          <a:off x="7566025" y="4716463"/>
          <a:ext cx="206375" cy="282575"/>
        </p:xfrm>
        <a:graphic>
          <a:graphicData uri="http://schemas.openxmlformats.org/presentationml/2006/ole">
            <mc:AlternateContent xmlns:mc="http://schemas.openxmlformats.org/markup-compatibility/2006">
              <mc:Choice xmlns:v="urn:schemas-microsoft-com:vml" Requires="v">
                <p:oleObj name="Equation" r:id="rId8" imgW="152280" imgH="177480" progId="Equation.3">
                  <p:embed/>
                </p:oleObj>
              </mc:Choice>
              <mc:Fallback>
                <p:oleObj name="Equation" r:id="rId8" imgW="152280" imgH="177480" progId="Equation.3">
                  <p:embed/>
                  <p:pic>
                    <p:nvPicPr>
                      <p:cNvPr id="9219"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66025" y="4716463"/>
                        <a:ext cx="206375" cy="282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1" name="Oval 18"/>
          <p:cNvSpPr>
            <a:spLocks noChangeArrowheads="1"/>
          </p:cNvSpPr>
          <p:nvPr/>
        </p:nvSpPr>
        <p:spPr bwMode="auto">
          <a:xfrm>
            <a:off x="5948363" y="3960813"/>
            <a:ext cx="61912" cy="69850"/>
          </a:xfrm>
          <a:prstGeom prst="ellipse">
            <a:avLst/>
          </a:prstGeom>
          <a:solidFill>
            <a:schemeClr val="bg2"/>
          </a:solidFill>
          <a:ln w="9525">
            <a:solidFill>
              <a:schemeClr val="tx1"/>
            </a:solidFill>
            <a:round/>
            <a:headEnd/>
            <a:tailEnd/>
          </a:ln>
        </p:spPr>
        <p:txBody>
          <a:bodyPr wrap="none" anchor="ctr"/>
          <a:lstStyle/>
          <a:p>
            <a:endParaRPr lang="en-US"/>
          </a:p>
        </p:txBody>
      </p:sp>
      <p:grpSp>
        <p:nvGrpSpPr>
          <p:cNvPr id="3" name="Group 19"/>
          <p:cNvGrpSpPr>
            <a:grpSpLocks/>
          </p:cNvGrpSpPr>
          <p:nvPr/>
        </p:nvGrpSpPr>
        <p:grpSpPr bwMode="auto">
          <a:xfrm>
            <a:off x="1595438" y="3949700"/>
            <a:ext cx="2112962" cy="1570038"/>
            <a:chOff x="1005" y="2488"/>
            <a:chExt cx="1331" cy="989"/>
          </a:xfrm>
        </p:grpSpPr>
        <p:sp>
          <p:nvSpPr>
            <p:cNvPr id="9238" name="Line 20"/>
            <p:cNvSpPr>
              <a:spLocks noChangeShapeType="1"/>
            </p:cNvSpPr>
            <p:nvPr/>
          </p:nvSpPr>
          <p:spPr bwMode="auto">
            <a:xfrm flipV="1">
              <a:off x="1199" y="2510"/>
              <a:ext cx="0" cy="795"/>
            </a:xfrm>
            <a:prstGeom prst="line">
              <a:avLst/>
            </a:prstGeom>
            <a:noFill/>
            <a:ln w="9525">
              <a:solidFill>
                <a:schemeClr val="tx1"/>
              </a:solidFill>
              <a:round/>
              <a:headEnd/>
              <a:tailEnd type="triangle" w="med" len="med"/>
            </a:ln>
          </p:spPr>
          <p:txBody>
            <a:bodyPr/>
            <a:lstStyle/>
            <a:p>
              <a:endParaRPr lang="en-US"/>
            </a:p>
          </p:txBody>
        </p:sp>
        <p:sp>
          <p:nvSpPr>
            <p:cNvPr id="9239" name="Line 21"/>
            <p:cNvSpPr>
              <a:spLocks noChangeShapeType="1"/>
            </p:cNvSpPr>
            <p:nvPr/>
          </p:nvSpPr>
          <p:spPr bwMode="auto">
            <a:xfrm>
              <a:off x="1199" y="3305"/>
              <a:ext cx="949" cy="0"/>
            </a:xfrm>
            <a:prstGeom prst="line">
              <a:avLst/>
            </a:prstGeom>
            <a:noFill/>
            <a:ln w="9525">
              <a:solidFill>
                <a:schemeClr val="tx1"/>
              </a:solidFill>
              <a:round/>
              <a:headEnd/>
              <a:tailEnd type="triangle" w="med" len="med"/>
            </a:ln>
          </p:spPr>
          <p:txBody>
            <a:bodyPr/>
            <a:lstStyle/>
            <a:p>
              <a:endParaRPr lang="en-US"/>
            </a:p>
          </p:txBody>
        </p:sp>
        <p:graphicFrame>
          <p:nvGraphicFramePr>
            <p:cNvPr id="9220" name="Object 22"/>
            <p:cNvGraphicFramePr>
              <a:graphicFrameLocks noChangeAspect="1"/>
            </p:cNvGraphicFramePr>
            <p:nvPr/>
          </p:nvGraphicFramePr>
          <p:xfrm>
            <a:off x="1005" y="2488"/>
            <a:ext cx="130" cy="165"/>
          </p:xfrm>
          <a:graphic>
            <a:graphicData uri="http://schemas.openxmlformats.org/presentationml/2006/ole">
              <mc:AlternateContent xmlns:mc="http://schemas.openxmlformats.org/markup-compatibility/2006">
                <mc:Choice xmlns:v="urn:schemas-microsoft-com:vml" Requires="v">
                  <p:oleObj name="Equation" r:id="rId10" imgW="152280" imgH="164880" progId="Equation.3">
                    <p:embed/>
                  </p:oleObj>
                </mc:Choice>
                <mc:Fallback>
                  <p:oleObj name="Equation" r:id="rId10" imgW="152280" imgH="164880" progId="Equation.3">
                    <p:embed/>
                    <p:pic>
                      <p:nvPicPr>
                        <p:cNvPr id="922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5" y="2488"/>
                          <a:ext cx="130" cy="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23"/>
            <p:cNvGraphicFramePr>
              <a:graphicFrameLocks noChangeAspect="1"/>
            </p:cNvGraphicFramePr>
            <p:nvPr/>
          </p:nvGraphicFramePr>
          <p:xfrm>
            <a:off x="2206" y="3299"/>
            <a:ext cx="130" cy="178"/>
          </p:xfrm>
          <a:graphic>
            <a:graphicData uri="http://schemas.openxmlformats.org/presentationml/2006/ole">
              <mc:AlternateContent xmlns:mc="http://schemas.openxmlformats.org/markup-compatibility/2006">
                <mc:Choice xmlns:v="urn:schemas-microsoft-com:vml" Requires="v">
                  <p:oleObj name="Equation" r:id="rId12" imgW="152280" imgH="177480" progId="Equation.3">
                    <p:embed/>
                  </p:oleObj>
                </mc:Choice>
                <mc:Fallback>
                  <p:oleObj name="Equation" r:id="rId12" imgW="152280" imgH="177480" progId="Equation.3">
                    <p:embed/>
                    <p:pic>
                      <p:nvPicPr>
                        <p:cNvPr id="9221" name="Object 2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06" y="3299"/>
                          <a:ext cx="130" cy="1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40" name="Oval 24"/>
            <p:cNvSpPr>
              <a:spLocks noChangeArrowheads="1"/>
            </p:cNvSpPr>
            <p:nvPr/>
          </p:nvSpPr>
          <p:spPr bwMode="auto">
            <a:xfrm>
              <a:off x="1315" y="2775"/>
              <a:ext cx="39" cy="44"/>
            </a:xfrm>
            <a:prstGeom prst="ellipse">
              <a:avLst/>
            </a:prstGeom>
            <a:solidFill>
              <a:schemeClr val="bg2"/>
            </a:solidFill>
            <a:ln w="9525">
              <a:solidFill>
                <a:schemeClr val="tx1"/>
              </a:solidFill>
              <a:round/>
              <a:headEnd/>
              <a:tailEnd/>
            </a:ln>
          </p:spPr>
          <p:txBody>
            <a:bodyPr wrap="none" anchor="ctr"/>
            <a:lstStyle/>
            <a:p>
              <a:endParaRPr lang="en-US"/>
            </a:p>
          </p:txBody>
        </p:sp>
      </p:grpSp>
      <p:sp>
        <p:nvSpPr>
          <p:cNvPr id="9233" name="Oval 25"/>
          <p:cNvSpPr>
            <a:spLocks noChangeArrowheads="1"/>
          </p:cNvSpPr>
          <p:nvPr/>
        </p:nvSpPr>
        <p:spPr bwMode="auto">
          <a:xfrm>
            <a:off x="7002463" y="4684713"/>
            <a:ext cx="61912" cy="69850"/>
          </a:xfrm>
          <a:prstGeom prst="ellipse">
            <a:avLst/>
          </a:prstGeom>
          <a:solidFill>
            <a:schemeClr val="bg2"/>
          </a:solidFill>
          <a:ln w="9525">
            <a:solidFill>
              <a:schemeClr val="tx1"/>
            </a:solidFill>
            <a:round/>
            <a:headEnd/>
            <a:tailEnd/>
          </a:ln>
        </p:spPr>
        <p:txBody>
          <a:bodyPr wrap="none" anchor="ctr"/>
          <a:lstStyle/>
          <a:p>
            <a:endParaRPr lang="en-US"/>
          </a:p>
        </p:txBody>
      </p:sp>
      <p:sp>
        <p:nvSpPr>
          <p:cNvPr id="9234" name="Freeform 26"/>
          <p:cNvSpPr>
            <a:spLocks/>
          </p:cNvSpPr>
          <p:nvPr/>
        </p:nvSpPr>
        <p:spPr bwMode="auto">
          <a:xfrm>
            <a:off x="5969000" y="3987800"/>
            <a:ext cx="1041400" cy="723900"/>
          </a:xfrm>
          <a:custGeom>
            <a:avLst/>
            <a:gdLst>
              <a:gd name="T0" fmla="*/ 0 w 656"/>
              <a:gd name="T1" fmla="*/ 0 h 456"/>
              <a:gd name="T2" fmla="*/ 2147483647 w 656"/>
              <a:gd name="T3" fmla="*/ 0 h 456"/>
              <a:gd name="T4" fmla="*/ 2147483647 w 656"/>
              <a:gd name="T5" fmla="*/ 2147483647 h 456"/>
              <a:gd name="T6" fmla="*/ 0 60000 65536"/>
              <a:gd name="T7" fmla="*/ 0 60000 65536"/>
              <a:gd name="T8" fmla="*/ 0 60000 65536"/>
              <a:gd name="T9" fmla="*/ 0 w 656"/>
              <a:gd name="T10" fmla="*/ 0 h 456"/>
              <a:gd name="T11" fmla="*/ 656 w 656"/>
              <a:gd name="T12" fmla="*/ 456 h 456"/>
            </a:gdLst>
            <a:ahLst/>
            <a:cxnLst>
              <a:cxn ang="T6">
                <a:pos x="T0" y="T1"/>
              </a:cxn>
              <a:cxn ang="T7">
                <a:pos x="T2" y="T3"/>
              </a:cxn>
              <a:cxn ang="T8">
                <a:pos x="T4" y="T5"/>
              </a:cxn>
            </a:cxnLst>
            <a:rect l="T9" t="T10" r="T11" b="T12"/>
            <a:pathLst>
              <a:path w="656" h="456">
                <a:moveTo>
                  <a:pt x="0" y="0"/>
                </a:moveTo>
                <a:lnTo>
                  <a:pt x="656" y="0"/>
                </a:lnTo>
                <a:lnTo>
                  <a:pt x="656" y="456"/>
                </a:lnTo>
              </a:path>
            </a:pathLst>
          </a:custGeom>
          <a:noFill/>
          <a:ln w="9525">
            <a:solidFill>
              <a:schemeClr val="tx1"/>
            </a:solidFill>
            <a:round/>
            <a:headEnd/>
            <a:tailEnd/>
          </a:ln>
        </p:spPr>
        <p:txBody>
          <a:bodyPr wrap="none" anchor="ctr"/>
          <a:lstStyle/>
          <a:p>
            <a:endParaRPr lang="en-US"/>
          </a:p>
        </p:txBody>
      </p:sp>
      <p:sp>
        <p:nvSpPr>
          <p:cNvPr id="9235" name="Text Box 27"/>
          <p:cNvSpPr txBox="1">
            <a:spLocks noChangeArrowheads="1"/>
          </p:cNvSpPr>
          <p:nvPr/>
        </p:nvSpPr>
        <p:spPr bwMode="auto">
          <a:xfrm>
            <a:off x="2339975" y="5472113"/>
            <a:ext cx="349250" cy="366712"/>
          </a:xfrm>
          <a:prstGeom prst="rect">
            <a:avLst/>
          </a:prstGeom>
          <a:noFill/>
          <a:ln w="9525" algn="ctr">
            <a:noFill/>
            <a:miter lim="800000"/>
            <a:headEnd/>
            <a:tailEnd/>
          </a:ln>
        </p:spPr>
        <p:txBody>
          <a:bodyPr wrap="none">
            <a:spAutoFit/>
          </a:bodyPr>
          <a:lstStyle/>
          <a:p>
            <a:pPr algn="ctr"/>
            <a:r>
              <a:rPr lang="en-US"/>
              <a:t>C</a:t>
            </a:r>
          </a:p>
        </p:txBody>
      </p:sp>
      <p:sp>
        <p:nvSpPr>
          <p:cNvPr id="9236" name="Text Box 28"/>
          <p:cNvSpPr txBox="1">
            <a:spLocks noChangeArrowheads="1"/>
          </p:cNvSpPr>
          <p:nvPr/>
        </p:nvSpPr>
        <p:spPr bwMode="auto">
          <a:xfrm>
            <a:off x="6245225" y="4938713"/>
            <a:ext cx="336550" cy="366712"/>
          </a:xfrm>
          <a:prstGeom prst="rect">
            <a:avLst/>
          </a:prstGeom>
          <a:noFill/>
          <a:ln w="9525" algn="ctr">
            <a:noFill/>
            <a:miter lim="800000"/>
            <a:headEnd/>
            <a:tailEnd/>
          </a:ln>
        </p:spPr>
        <p:txBody>
          <a:bodyPr wrap="none">
            <a:spAutoFit/>
          </a:bodyPr>
          <a:lstStyle/>
          <a:p>
            <a:pPr algn="ctr"/>
            <a:r>
              <a:rPr lang="en-US"/>
              <a:t>B</a:t>
            </a:r>
          </a:p>
        </p:txBody>
      </p:sp>
      <p:sp>
        <p:nvSpPr>
          <p:cNvPr id="9237" name="Text Box 29"/>
          <p:cNvSpPr txBox="1">
            <a:spLocks noChangeArrowheads="1"/>
          </p:cNvSpPr>
          <p:nvPr/>
        </p:nvSpPr>
        <p:spPr bwMode="auto">
          <a:xfrm>
            <a:off x="6651625" y="3211513"/>
            <a:ext cx="336550" cy="366712"/>
          </a:xfrm>
          <a:prstGeom prst="rect">
            <a:avLst/>
          </a:prstGeom>
          <a:noFill/>
          <a:ln w="9525" algn="ctr">
            <a:noFill/>
            <a:miter lim="800000"/>
            <a:headEnd/>
            <a:tailEnd/>
          </a:ln>
        </p:spPr>
        <p:txBody>
          <a:bodyPr wrap="none">
            <a:spAutoFit/>
          </a:bodyPr>
          <a:lstStyle/>
          <a:p>
            <a:pPr algn="ctr"/>
            <a:r>
              <a:rPr lang="en-US"/>
              <a:t>A</a:t>
            </a:r>
          </a:p>
        </p:txBody>
      </p:sp>
    </p:spTree>
    <p:extLst>
      <p:ext uri="{BB962C8B-B14F-4D97-AF65-F5344CB8AC3E}">
        <p14:creationId xmlns:p14="http://schemas.microsoft.com/office/powerpoint/2010/main" val="40020462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Number Placeholder 5"/>
          <p:cNvSpPr>
            <a:spLocks noGrp="1"/>
          </p:cNvSpPr>
          <p:nvPr>
            <p:ph type="sldNum" sz="quarter" idx="12"/>
          </p:nvPr>
        </p:nvSpPr>
        <p:spPr>
          <a:noFill/>
        </p:spPr>
        <p:txBody>
          <a:bodyPr/>
          <a:lstStyle/>
          <a:p>
            <a:fld id="{21B5BEF6-E342-43E9-9156-A1D0A84D75FA}" type="slidenum">
              <a:rPr lang="en-US" smtClean="0"/>
              <a:pPr/>
              <a:t>64</a:t>
            </a:fld>
            <a:endParaRPr lang="en-US"/>
          </a:p>
        </p:txBody>
      </p:sp>
      <p:sp>
        <p:nvSpPr>
          <p:cNvPr id="184323" name="Rectangle 2"/>
          <p:cNvSpPr>
            <a:spLocks noGrp="1" noChangeArrowheads="1"/>
          </p:cNvSpPr>
          <p:nvPr>
            <p:ph type="title"/>
          </p:nvPr>
        </p:nvSpPr>
        <p:spPr/>
        <p:txBody>
          <a:bodyPr/>
          <a:lstStyle/>
          <a:p>
            <a:pPr eaLnBrk="1" hangingPunct="1"/>
            <a:r>
              <a:rPr lang="en-US" dirty="0"/>
              <a:t>Question 123.10.6</a:t>
            </a:r>
          </a:p>
        </p:txBody>
      </p:sp>
      <p:sp>
        <p:nvSpPr>
          <p:cNvPr id="184324" name="Rectangle 3"/>
          <p:cNvSpPr>
            <a:spLocks noGrp="1" noChangeArrowheads="1"/>
          </p:cNvSpPr>
          <p:nvPr>
            <p:ph type="body" idx="1"/>
          </p:nvPr>
        </p:nvSpPr>
        <p:spPr/>
        <p:txBody>
          <a:bodyPr/>
          <a:lstStyle/>
          <a:p>
            <a:pPr marL="609600" indent="-609600" eaLnBrk="1" hangingPunct="1">
              <a:buFontTx/>
              <a:buNone/>
            </a:pPr>
            <a:r>
              <a:rPr lang="en-US" dirty="0"/>
              <a:t>By observing a system we find that </a:t>
            </a:r>
          </a:p>
          <a:p>
            <a:pPr marL="609600" indent="-609600" eaLnBrk="1" hangingPunct="1">
              <a:buFontTx/>
              <a:buNone/>
            </a:pPr>
            <a:r>
              <a:rPr lang="en-US" dirty="0"/>
              <a:t>                    W = -Q</a:t>
            </a:r>
          </a:p>
          <a:p>
            <a:pPr marL="609600" indent="-609600" eaLnBrk="1" hangingPunct="1">
              <a:buFontTx/>
              <a:buNone/>
            </a:pPr>
            <a:r>
              <a:rPr lang="en-US" dirty="0"/>
              <a:t>What can we say about the system?</a:t>
            </a:r>
          </a:p>
          <a:p>
            <a:pPr marL="609600" indent="-609600" eaLnBrk="1" hangingPunct="1">
              <a:buFontTx/>
              <a:buAutoNum type="alphaLcParenR"/>
            </a:pPr>
            <a:r>
              <a:rPr lang="en-US" dirty="0"/>
              <a:t>It is isolated</a:t>
            </a:r>
          </a:p>
          <a:p>
            <a:pPr marL="609600" indent="-609600" eaLnBrk="1" hangingPunct="1">
              <a:buFontTx/>
              <a:buAutoNum type="alphaLcParenR"/>
            </a:pPr>
            <a:r>
              <a:rPr lang="en-US" dirty="0"/>
              <a:t>It is cyclic</a:t>
            </a:r>
          </a:p>
          <a:p>
            <a:pPr marL="609600" indent="-609600" eaLnBrk="1" hangingPunct="1">
              <a:buFontTx/>
              <a:buAutoNum type="alphaLcParenR"/>
            </a:pPr>
            <a:r>
              <a:rPr lang="en-US" dirty="0"/>
              <a:t>It is isobaric</a:t>
            </a:r>
          </a:p>
          <a:p>
            <a:pPr marL="609600" indent="-609600" eaLnBrk="1" hangingPunct="1">
              <a:buFontTx/>
              <a:buAutoNum type="alphaLcParenR"/>
            </a:pPr>
            <a:r>
              <a:rPr lang="en-US" dirty="0"/>
              <a:t>It is closed</a:t>
            </a:r>
          </a:p>
        </p:txBody>
      </p:sp>
    </p:spTree>
    <p:extLst>
      <p:ext uri="{BB962C8B-B14F-4D97-AF65-F5344CB8AC3E}">
        <p14:creationId xmlns:p14="http://schemas.microsoft.com/office/powerpoint/2010/main" val="13119736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Number Placeholder 5"/>
          <p:cNvSpPr>
            <a:spLocks noGrp="1"/>
          </p:cNvSpPr>
          <p:nvPr>
            <p:ph type="sldNum" sz="quarter" idx="12"/>
          </p:nvPr>
        </p:nvSpPr>
        <p:spPr>
          <a:xfrm>
            <a:off x="6553200" y="6289115"/>
            <a:ext cx="2133600" cy="365125"/>
          </a:xfrm>
          <a:noFill/>
        </p:spPr>
        <p:txBody>
          <a:bodyPr/>
          <a:lstStyle/>
          <a:p>
            <a:fld id="{005D29CD-E9E5-43F0-9F4C-9122175FCE73}" type="slidenum">
              <a:rPr lang="en-US" smtClean="0"/>
              <a:pPr/>
              <a:t>65</a:t>
            </a:fld>
            <a:endParaRPr lang="en-US"/>
          </a:p>
        </p:txBody>
      </p:sp>
      <p:sp>
        <p:nvSpPr>
          <p:cNvPr id="182275" name="Rectangle 2"/>
          <p:cNvSpPr>
            <a:spLocks noGrp="1" noChangeArrowheads="1"/>
          </p:cNvSpPr>
          <p:nvPr>
            <p:ph type="title"/>
          </p:nvPr>
        </p:nvSpPr>
        <p:spPr/>
        <p:txBody>
          <a:bodyPr/>
          <a:lstStyle/>
          <a:p>
            <a:pPr eaLnBrk="1" hangingPunct="1"/>
            <a:r>
              <a:rPr lang="en-US" dirty="0"/>
              <a:t>Question 123.10.6</a:t>
            </a:r>
          </a:p>
        </p:txBody>
      </p:sp>
      <p:sp>
        <p:nvSpPr>
          <p:cNvPr id="182276" name="Rectangle 3"/>
          <p:cNvSpPr>
            <a:spLocks noGrp="1" noChangeArrowheads="1"/>
          </p:cNvSpPr>
          <p:nvPr>
            <p:ph type="body" idx="1"/>
          </p:nvPr>
        </p:nvSpPr>
        <p:spPr/>
        <p:txBody>
          <a:bodyPr/>
          <a:lstStyle/>
          <a:p>
            <a:pPr marL="0" indent="0" eaLnBrk="1" hangingPunct="1">
              <a:buNone/>
            </a:pPr>
            <a:r>
              <a:rPr lang="en-US" dirty="0"/>
              <a:t>Which graph represent the most work done on the system?</a:t>
            </a:r>
          </a:p>
        </p:txBody>
      </p:sp>
      <p:sp>
        <p:nvSpPr>
          <p:cNvPr id="182278" name="Text Box 5"/>
          <p:cNvSpPr txBox="1">
            <a:spLocks noChangeArrowheads="1"/>
          </p:cNvSpPr>
          <p:nvPr/>
        </p:nvSpPr>
        <p:spPr bwMode="auto">
          <a:xfrm>
            <a:off x="1935165" y="5415617"/>
            <a:ext cx="6599884" cy="523220"/>
          </a:xfrm>
          <a:prstGeom prst="rect">
            <a:avLst/>
          </a:prstGeom>
          <a:noFill/>
          <a:ln w="9525" algn="ctr">
            <a:noFill/>
            <a:miter lim="800000"/>
            <a:headEnd/>
            <a:tailEnd/>
          </a:ln>
        </p:spPr>
        <p:txBody>
          <a:bodyPr wrap="none">
            <a:spAutoFit/>
          </a:bodyPr>
          <a:lstStyle/>
          <a:p>
            <a:pPr algn="ctr"/>
            <a:r>
              <a:rPr lang="en-US" sz="2800" b="1" dirty="0"/>
              <a:t>A                               B                              C          </a:t>
            </a:r>
          </a:p>
        </p:txBody>
      </p:sp>
      <p:grpSp>
        <p:nvGrpSpPr>
          <p:cNvPr id="8" name="Group 7"/>
          <p:cNvGrpSpPr/>
          <p:nvPr/>
        </p:nvGrpSpPr>
        <p:grpSpPr>
          <a:xfrm>
            <a:off x="3160058" y="2998693"/>
            <a:ext cx="3021514" cy="2274516"/>
            <a:chOff x="2362821" y="1595735"/>
            <a:chExt cx="4342779" cy="4147776"/>
          </a:xfrm>
        </p:grpSpPr>
        <p:sp>
          <p:nvSpPr>
            <p:cNvPr id="46" name="Rectangle 45"/>
            <p:cNvSpPr/>
            <p:nvPr/>
          </p:nvSpPr>
          <p:spPr>
            <a:xfrm>
              <a:off x="3810000" y="2438400"/>
              <a:ext cx="1905000" cy="25146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47" name="Straight Connector 46"/>
            <p:cNvCxnSpPr/>
            <p:nvPr/>
          </p:nvCxnSpPr>
          <p:spPr>
            <a:xfrm rot="5400000">
              <a:off x="4457700" y="37719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200400" y="20574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a:off x="4648200" y="3505200"/>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200400" y="40386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124200" y="2438400"/>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2552700" y="3695700"/>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53" name="Isosceles Triangle 52"/>
            <p:cNvSpPr/>
            <p:nvPr/>
          </p:nvSpPr>
          <p:spPr>
            <a:xfrm rot="5400000">
              <a:off x="4572000" y="22860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4" name="TextBox 53"/>
            <p:cNvSpPr txBox="1"/>
            <p:nvPr/>
          </p:nvSpPr>
          <p:spPr>
            <a:xfrm>
              <a:off x="2971800" y="1595735"/>
              <a:ext cx="374371" cy="566134"/>
            </a:xfrm>
            <a:prstGeom prst="rect">
              <a:avLst/>
            </a:prstGeom>
            <a:noFill/>
          </p:spPr>
          <p:txBody>
            <a:bodyPr wrap="none" rtlCol="0">
              <a:spAutoFit/>
            </a:bodyPr>
            <a:lstStyle/>
            <a:p>
              <a:r>
                <a:rPr lang="en-US" i="1" dirty="0"/>
                <a:t>P</a:t>
              </a:r>
            </a:p>
          </p:txBody>
        </p:sp>
        <p:sp>
          <p:nvSpPr>
            <p:cNvPr id="55" name="TextBox 54"/>
            <p:cNvSpPr txBox="1"/>
            <p:nvPr/>
          </p:nvSpPr>
          <p:spPr>
            <a:xfrm>
              <a:off x="2362821" y="2057399"/>
              <a:ext cx="685180" cy="841886"/>
            </a:xfrm>
            <a:prstGeom prst="rect">
              <a:avLst/>
            </a:prstGeom>
            <a:noFill/>
          </p:spPr>
          <p:txBody>
            <a:bodyPr wrap="square" rtlCol="0">
              <a:spAutoFit/>
            </a:bodyPr>
            <a:lstStyle/>
            <a:p>
              <a:r>
                <a:rPr lang="en-US" sz="2400" i="1" dirty="0"/>
                <a:t>P</a:t>
              </a:r>
              <a:r>
                <a:rPr lang="en-US" sz="2400" i="1" baseline="-25000" dirty="0"/>
                <a:t>i</a:t>
              </a:r>
            </a:p>
          </p:txBody>
        </p:sp>
        <p:sp>
          <p:nvSpPr>
            <p:cNvPr id="56" name="TextBox 55"/>
            <p:cNvSpPr txBox="1"/>
            <p:nvPr/>
          </p:nvSpPr>
          <p:spPr>
            <a:xfrm>
              <a:off x="2382150" y="3657599"/>
              <a:ext cx="742053" cy="841886"/>
            </a:xfrm>
            <a:prstGeom prst="rect">
              <a:avLst/>
            </a:prstGeom>
            <a:noFill/>
          </p:spPr>
          <p:txBody>
            <a:bodyPr wrap="square" rtlCol="0">
              <a:spAutoFit/>
            </a:bodyPr>
            <a:lstStyle/>
            <a:p>
              <a:r>
                <a:rPr lang="en-US" sz="2400" i="1" dirty="0"/>
                <a:t>P</a:t>
              </a:r>
              <a:r>
                <a:rPr lang="en-US" sz="2400" i="1" baseline="-25000" dirty="0"/>
                <a:t>f</a:t>
              </a:r>
            </a:p>
          </p:txBody>
        </p:sp>
        <p:sp>
          <p:nvSpPr>
            <p:cNvPr id="57" name="TextBox 56"/>
            <p:cNvSpPr txBox="1"/>
            <p:nvPr/>
          </p:nvSpPr>
          <p:spPr>
            <a:xfrm>
              <a:off x="3581399" y="4876800"/>
              <a:ext cx="714150" cy="841886"/>
            </a:xfrm>
            <a:prstGeom prst="rect">
              <a:avLst/>
            </a:prstGeom>
            <a:noFill/>
          </p:spPr>
          <p:txBody>
            <a:bodyPr wrap="square" rtlCol="0">
              <a:spAutoFit/>
            </a:bodyPr>
            <a:lstStyle/>
            <a:p>
              <a:r>
                <a:rPr lang="en-US" sz="2400" i="1" dirty="0"/>
                <a:t>V</a:t>
              </a:r>
              <a:r>
                <a:rPr lang="en-US" sz="2400" i="1" baseline="-25000" dirty="0"/>
                <a:t>i</a:t>
              </a:r>
            </a:p>
          </p:txBody>
        </p:sp>
        <p:sp>
          <p:nvSpPr>
            <p:cNvPr id="58" name="TextBox 57"/>
            <p:cNvSpPr txBox="1"/>
            <p:nvPr/>
          </p:nvSpPr>
          <p:spPr>
            <a:xfrm>
              <a:off x="5486399" y="4901625"/>
              <a:ext cx="645239" cy="841886"/>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59" name="TextBox 58"/>
            <p:cNvSpPr txBox="1"/>
            <p:nvPr/>
          </p:nvSpPr>
          <p:spPr>
            <a:xfrm>
              <a:off x="6172199" y="4724400"/>
              <a:ext cx="533401" cy="566134"/>
            </a:xfrm>
            <a:prstGeom prst="rect">
              <a:avLst/>
            </a:prstGeom>
            <a:noFill/>
          </p:spPr>
          <p:txBody>
            <a:bodyPr wrap="square" rtlCol="0">
              <a:spAutoFit/>
            </a:bodyPr>
            <a:lstStyle/>
            <a:p>
              <a:r>
                <a:rPr lang="en-US" i="1" dirty="0"/>
                <a:t>V</a:t>
              </a:r>
              <a:endParaRPr lang="en-US" i="1" baseline="-25000" dirty="0"/>
            </a:p>
          </p:txBody>
        </p:sp>
        <p:sp>
          <p:nvSpPr>
            <p:cNvPr id="60" name="Freeform 59"/>
            <p:cNvSpPr/>
            <p:nvPr/>
          </p:nvSpPr>
          <p:spPr>
            <a:xfrm>
              <a:off x="3810000" y="2428875"/>
              <a:ext cx="1914525" cy="1571625"/>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61" name="Isosceles Triangle 60"/>
            <p:cNvSpPr/>
            <p:nvPr/>
          </p:nvSpPr>
          <p:spPr>
            <a:xfrm rot="10800000">
              <a:off x="5562600" y="3124200"/>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2" name="Oval 61"/>
            <p:cNvSpPr/>
            <p:nvPr/>
          </p:nvSpPr>
          <p:spPr>
            <a:xfrm>
              <a:off x="3733800" y="23622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3" name="Oval 62"/>
            <p:cNvSpPr/>
            <p:nvPr/>
          </p:nvSpPr>
          <p:spPr>
            <a:xfrm>
              <a:off x="5638800" y="3962400"/>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9" name="Group 8"/>
          <p:cNvGrpSpPr/>
          <p:nvPr/>
        </p:nvGrpSpPr>
        <p:grpSpPr>
          <a:xfrm>
            <a:off x="376519" y="3001141"/>
            <a:ext cx="3037706" cy="2274516"/>
            <a:chOff x="-1251377" y="1600200"/>
            <a:chExt cx="4366052" cy="4147776"/>
          </a:xfrm>
        </p:grpSpPr>
        <p:sp>
          <p:nvSpPr>
            <p:cNvPr id="29" name="Freeform 28"/>
            <p:cNvSpPr/>
            <p:nvPr/>
          </p:nvSpPr>
          <p:spPr>
            <a:xfrm>
              <a:off x="228600" y="2509540"/>
              <a:ext cx="1914525" cy="2447925"/>
            </a:xfrm>
            <a:custGeom>
              <a:avLst/>
              <a:gdLst>
                <a:gd name="connsiteX0" fmla="*/ 0 w 1914525"/>
                <a:gd name="connsiteY0" fmla="*/ 0 h 2447925"/>
                <a:gd name="connsiteX1" fmla="*/ 228600 w 1914525"/>
                <a:gd name="connsiteY1" fmla="*/ 276225 h 2447925"/>
                <a:gd name="connsiteX2" fmla="*/ 657225 w 1914525"/>
                <a:gd name="connsiteY2" fmla="*/ 704850 h 2447925"/>
                <a:gd name="connsiteX3" fmla="*/ 1095375 w 1914525"/>
                <a:gd name="connsiteY3" fmla="*/ 1038225 h 2447925"/>
                <a:gd name="connsiteX4" fmla="*/ 1666875 w 1914525"/>
                <a:gd name="connsiteY4" fmla="*/ 1381125 h 2447925"/>
                <a:gd name="connsiteX5" fmla="*/ 1914525 w 1914525"/>
                <a:gd name="connsiteY5" fmla="*/ 1524000 h 2447925"/>
                <a:gd name="connsiteX6" fmla="*/ 1895475 w 1914525"/>
                <a:gd name="connsiteY6" fmla="*/ 2447925 h 2447925"/>
                <a:gd name="connsiteX7" fmla="*/ 0 w 1914525"/>
                <a:gd name="connsiteY7" fmla="*/ 2447925 h 2447925"/>
                <a:gd name="connsiteX8" fmla="*/ 0 w 1914525"/>
                <a:gd name="connsiteY8"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4525" h="2447925">
                  <a:moveTo>
                    <a:pt x="0" y="0"/>
                  </a:moveTo>
                  <a:lnTo>
                    <a:pt x="228600" y="276225"/>
                  </a:lnTo>
                  <a:lnTo>
                    <a:pt x="657225" y="704850"/>
                  </a:lnTo>
                  <a:lnTo>
                    <a:pt x="1095375" y="1038225"/>
                  </a:lnTo>
                  <a:lnTo>
                    <a:pt x="1666875" y="1381125"/>
                  </a:lnTo>
                  <a:lnTo>
                    <a:pt x="1914525" y="1524000"/>
                  </a:lnTo>
                  <a:lnTo>
                    <a:pt x="1895475" y="2447925"/>
                  </a:lnTo>
                  <a:lnTo>
                    <a:pt x="0" y="2447925"/>
                  </a:lnTo>
                  <a:lnTo>
                    <a:pt x="0" y="0"/>
                  </a:lnTo>
                  <a:close/>
                </a:path>
              </a:pathLst>
            </a:cu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30" name="Straight Connector 29"/>
            <p:cNvCxnSpPr/>
            <p:nvPr/>
          </p:nvCxnSpPr>
          <p:spPr>
            <a:xfrm>
              <a:off x="-390525" y="20618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6200000">
              <a:off x="1057275" y="3509665"/>
              <a:ext cx="0" cy="2895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390525" y="40430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66725" y="2442865"/>
              <a:ext cx="6858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38225" y="3700165"/>
              <a:ext cx="2514600"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124075" y="4119265"/>
              <a:ext cx="0" cy="83820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142875" y="23666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7" name="Oval 36"/>
            <p:cNvSpPr/>
            <p:nvPr/>
          </p:nvSpPr>
          <p:spPr>
            <a:xfrm>
              <a:off x="2047875" y="3966865"/>
              <a:ext cx="152400" cy="1524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8" name="Freeform 37"/>
            <p:cNvSpPr/>
            <p:nvPr/>
          </p:nvSpPr>
          <p:spPr>
            <a:xfrm>
              <a:off x="238125" y="2509540"/>
              <a:ext cx="1885950" cy="1504950"/>
            </a:xfrm>
            <a:custGeom>
              <a:avLst/>
              <a:gdLst>
                <a:gd name="connsiteX0" fmla="*/ 0 w 1885950"/>
                <a:gd name="connsiteY0" fmla="*/ 0 h 1504950"/>
                <a:gd name="connsiteX1" fmla="*/ 771525 w 1885950"/>
                <a:gd name="connsiteY1" fmla="*/ 800100 h 1504950"/>
                <a:gd name="connsiteX2" fmla="*/ 1885950 w 1885950"/>
                <a:gd name="connsiteY2" fmla="*/ 1504950 h 1504950"/>
                <a:gd name="connsiteX3" fmla="*/ 1885950 w 1885950"/>
                <a:gd name="connsiteY3" fmla="*/ 1504950 h 1504950"/>
              </a:gdLst>
              <a:ahLst/>
              <a:cxnLst>
                <a:cxn ang="0">
                  <a:pos x="connsiteX0" y="connsiteY0"/>
                </a:cxn>
                <a:cxn ang="0">
                  <a:pos x="connsiteX1" y="connsiteY1"/>
                </a:cxn>
                <a:cxn ang="0">
                  <a:pos x="connsiteX2" y="connsiteY2"/>
                </a:cxn>
                <a:cxn ang="0">
                  <a:pos x="connsiteX3" y="connsiteY3"/>
                </a:cxn>
              </a:cxnLst>
              <a:rect l="l" t="t" r="r" b="b"/>
              <a:pathLst>
                <a:path w="1885950" h="1504950">
                  <a:moveTo>
                    <a:pt x="0" y="0"/>
                  </a:moveTo>
                  <a:cubicBezTo>
                    <a:pt x="228600" y="274637"/>
                    <a:pt x="457200" y="549275"/>
                    <a:pt x="771525" y="800100"/>
                  </a:cubicBezTo>
                  <a:cubicBezTo>
                    <a:pt x="1085850" y="1050925"/>
                    <a:pt x="1885950" y="1504950"/>
                    <a:pt x="1885950" y="1504950"/>
                  </a:cubicBezTo>
                  <a:lnTo>
                    <a:pt x="1885950" y="1504950"/>
                  </a:lnTo>
                </a:path>
              </a:pathLst>
            </a:custGeom>
            <a:noFill/>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39" name="Isosceles Triangle 38"/>
            <p:cNvSpPr/>
            <p:nvPr/>
          </p:nvSpPr>
          <p:spPr>
            <a:xfrm rot="7951073">
              <a:off x="815399" y="3115389"/>
              <a:ext cx="304800" cy="304800"/>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TextBox 39"/>
            <p:cNvSpPr txBox="1"/>
            <p:nvPr/>
          </p:nvSpPr>
          <p:spPr>
            <a:xfrm>
              <a:off x="-619125" y="1600200"/>
              <a:ext cx="374371" cy="566134"/>
            </a:xfrm>
            <a:prstGeom prst="rect">
              <a:avLst/>
            </a:prstGeom>
            <a:noFill/>
          </p:spPr>
          <p:txBody>
            <a:bodyPr wrap="none" rtlCol="0">
              <a:spAutoFit/>
            </a:bodyPr>
            <a:lstStyle/>
            <a:p>
              <a:r>
                <a:rPr lang="en-US" i="1" dirty="0"/>
                <a:t>P</a:t>
              </a:r>
            </a:p>
          </p:txBody>
        </p:sp>
        <p:sp>
          <p:nvSpPr>
            <p:cNvPr id="41" name="TextBox 40"/>
            <p:cNvSpPr txBox="1"/>
            <p:nvPr/>
          </p:nvSpPr>
          <p:spPr>
            <a:xfrm>
              <a:off x="-1135415" y="2061864"/>
              <a:ext cx="592491" cy="841886"/>
            </a:xfrm>
            <a:prstGeom prst="rect">
              <a:avLst/>
            </a:prstGeom>
            <a:noFill/>
          </p:spPr>
          <p:txBody>
            <a:bodyPr wrap="square" rtlCol="0">
              <a:spAutoFit/>
            </a:bodyPr>
            <a:lstStyle/>
            <a:p>
              <a:r>
                <a:rPr lang="en-US" sz="2400" i="1" dirty="0"/>
                <a:t>P</a:t>
              </a:r>
              <a:r>
                <a:rPr lang="en-US" sz="2400" i="1" baseline="-25000" dirty="0"/>
                <a:t>i</a:t>
              </a:r>
            </a:p>
          </p:txBody>
        </p:sp>
        <p:sp>
          <p:nvSpPr>
            <p:cNvPr id="42" name="TextBox 41"/>
            <p:cNvSpPr txBox="1"/>
            <p:nvPr/>
          </p:nvSpPr>
          <p:spPr>
            <a:xfrm>
              <a:off x="-1251377" y="3662063"/>
              <a:ext cx="784655" cy="841886"/>
            </a:xfrm>
            <a:prstGeom prst="rect">
              <a:avLst/>
            </a:prstGeom>
            <a:noFill/>
          </p:spPr>
          <p:txBody>
            <a:bodyPr wrap="square" rtlCol="0">
              <a:spAutoFit/>
            </a:bodyPr>
            <a:lstStyle/>
            <a:p>
              <a:r>
                <a:rPr lang="en-US" sz="2400" i="1" dirty="0"/>
                <a:t>P</a:t>
              </a:r>
              <a:r>
                <a:rPr lang="en-US" sz="2400" i="1" baseline="-25000" dirty="0"/>
                <a:t>f</a:t>
              </a:r>
            </a:p>
          </p:txBody>
        </p:sp>
        <p:sp>
          <p:nvSpPr>
            <p:cNvPr id="43" name="TextBox 42"/>
            <p:cNvSpPr txBox="1"/>
            <p:nvPr/>
          </p:nvSpPr>
          <p:spPr>
            <a:xfrm>
              <a:off x="-9526" y="4881265"/>
              <a:ext cx="671546" cy="841886"/>
            </a:xfrm>
            <a:prstGeom prst="rect">
              <a:avLst/>
            </a:prstGeom>
            <a:noFill/>
          </p:spPr>
          <p:txBody>
            <a:bodyPr wrap="square" rtlCol="0">
              <a:spAutoFit/>
            </a:bodyPr>
            <a:lstStyle/>
            <a:p>
              <a:r>
                <a:rPr lang="en-US" sz="2400" i="1" dirty="0"/>
                <a:t>V</a:t>
              </a:r>
              <a:r>
                <a:rPr lang="en-US" sz="2400" i="1" baseline="-25000" dirty="0"/>
                <a:t>i</a:t>
              </a:r>
            </a:p>
          </p:txBody>
        </p:sp>
        <p:sp>
          <p:nvSpPr>
            <p:cNvPr id="44" name="TextBox 43"/>
            <p:cNvSpPr txBox="1"/>
            <p:nvPr/>
          </p:nvSpPr>
          <p:spPr>
            <a:xfrm>
              <a:off x="1895476" y="4906090"/>
              <a:ext cx="699271" cy="841886"/>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45" name="TextBox 44"/>
            <p:cNvSpPr txBox="1"/>
            <p:nvPr/>
          </p:nvSpPr>
          <p:spPr>
            <a:xfrm>
              <a:off x="2581274" y="4886325"/>
              <a:ext cx="533401" cy="566134"/>
            </a:xfrm>
            <a:prstGeom prst="rect">
              <a:avLst/>
            </a:prstGeom>
            <a:noFill/>
          </p:spPr>
          <p:txBody>
            <a:bodyPr wrap="square" rtlCol="0">
              <a:spAutoFit/>
            </a:bodyPr>
            <a:lstStyle/>
            <a:p>
              <a:r>
                <a:rPr lang="en-US" i="1" dirty="0"/>
                <a:t>V</a:t>
              </a:r>
              <a:endParaRPr lang="en-US" i="1" baseline="-25000" dirty="0"/>
            </a:p>
          </p:txBody>
        </p:sp>
      </p:grpSp>
      <p:grpSp>
        <p:nvGrpSpPr>
          <p:cNvPr id="2" name="Group 1"/>
          <p:cNvGrpSpPr/>
          <p:nvPr/>
        </p:nvGrpSpPr>
        <p:grpSpPr>
          <a:xfrm>
            <a:off x="6079396" y="3042927"/>
            <a:ext cx="2862897" cy="2274517"/>
            <a:chOff x="5554963" y="3042927"/>
            <a:chExt cx="2862897" cy="2274517"/>
          </a:xfrm>
        </p:grpSpPr>
        <p:sp>
          <p:nvSpPr>
            <p:cNvPr id="11" name="Rectangle 10"/>
            <p:cNvSpPr/>
            <p:nvPr/>
          </p:nvSpPr>
          <p:spPr>
            <a:xfrm>
              <a:off x="6403229" y="4382521"/>
              <a:ext cx="1325415" cy="50143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2" name="Straight Connector 11"/>
            <p:cNvCxnSpPr>
              <a:stCxn id="28" idx="4"/>
            </p:cNvCxnSpPr>
            <p:nvPr/>
          </p:nvCxnSpPr>
          <p:spPr>
            <a:xfrm>
              <a:off x="7728645" y="4424307"/>
              <a:ext cx="0" cy="440421"/>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979097" y="3296090"/>
              <a:ext cx="0" cy="15878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a:off x="6986412" y="3876636"/>
              <a:ext cx="0" cy="20146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979097" y="4382521"/>
              <a:ext cx="1749548"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926080" y="3505019"/>
              <a:ext cx="477149"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5713764" y="4194485"/>
              <a:ext cx="1378932" cy="0"/>
            </a:xfrm>
            <a:prstGeom prst="line">
              <a:avLst/>
            </a:prstGeom>
            <a:ln w="28575">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820047" y="3042927"/>
              <a:ext cx="260471" cy="310451"/>
            </a:xfrm>
            <a:prstGeom prst="rect">
              <a:avLst/>
            </a:prstGeom>
            <a:noFill/>
          </p:spPr>
          <p:txBody>
            <a:bodyPr wrap="none" rtlCol="0">
              <a:spAutoFit/>
            </a:bodyPr>
            <a:lstStyle/>
            <a:p>
              <a:r>
                <a:rPr lang="en-US" i="1" dirty="0"/>
                <a:t>P</a:t>
              </a:r>
            </a:p>
          </p:txBody>
        </p:sp>
        <p:sp>
          <p:nvSpPr>
            <p:cNvPr id="19" name="TextBox 18"/>
            <p:cNvSpPr txBox="1"/>
            <p:nvPr/>
          </p:nvSpPr>
          <p:spPr>
            <a:xfrm>
              <a:off x="5554963" y="3296090"/>
              <a:ext cx="402083" cy="461665"/>
            </a:xfrm>
            <a:prstGeom prst="rect">
              <a:avLst/>
            </a:prstGeom>
            <a:noFill/>
          </p:spPr>
          <p:txBody>
            <a:bodyPr wrap="square" rtlCol="0">
              <a:spAutoFit/>
            </a:bodyPr>
            <a:lstStyle/>
            <a:p>
              <a:r>
                <a:rPr lang="en-US" sz="2400" i="1" dirty="0"/>
                <a:t>P</a:t>
              </a:r>
              <a:r>
                <a:rPr lang="en-US" sz="2400" i="1" baseline="-25000" dirty="0"/>
                <a:t>i</a:t>
              </a:r>
            </a:p>
          </p:txBody>
        </p:sp>
        <p:sp>
          <p:nvSpPr>
            <p:cNvPr id="20" name="TextBox 19"/>
            <p:cNvSpPr txBox="1"/>
            <p:nvPr/>
          </p:nvSpPr>
          <p:spPr>
            <a:xfrm>
              <a:off x="5554964" y="4173592"/>
              <a:ext cx="482765" cy="461665"/>
            </a:xfrm>
            <a:prstGeom prst="rect">
              <a:avLst/>
            </a:prstGeom>
            <a:noFill/>
          </p:spPr>
          <p:txBody>
            <a:bodyPr wrap="square" rtlCol="0">
              <a:spAutoFit/>
            </a:bodyPr>
            <a:lstStyle/>
            <a:p>
              <a:r>
                <a:rPr lang="en-US" sz="2400" i="1" dirty="0"/>
                <a:t>P</a:t>
              </a:r>
              <a:r>
                <a:rPr lang="en-US" sz="2400" i="1" baseline="-25000" dirty="0"/>
                <a:t>f</a:t>
              </a:r>
            </a:p>
          </p:txBody>
        </p:sp>
        <p:sp>
          <p:nvSpPr>
            <p:cNvPr id="21" name="TextBox 20"/>
            <p:cNvSpPr txBox="1"/>
            <p:nvPr/>
          </p:nvSpPr>
          <p:spPr>
            <a:xfrm>
              <a:off x="6244179" y="4842165"/>
              <a:ext cx="519694" cy="461665"/>
            </a:xfrm>
            <a:prstGeom prst="rect">
              <a:avLst/>
            </a:prstGeom>
            <a:noFill/>
          </p:spPr>
          <p:txBody>
            <a:bodyPr wrap="square" rtlCol="0">
              <a:spAutoFit/>
            </a:bodyPr>
            <a:lstStyle/>
            <a:p>
              <a:r>
                <a:rPr lang="en-US" sz="2400" i="1" dirty="0"/>
                <a:t>V</a:t>
              </a:r>
              <a:r>
                <a:rPr lang="en-US" sz="2400" i="1" baseline="-25000" dirty="0"/>
                <a:t>i</a:t>
              </a:r>
            </a:p>
          </p:txBody>
        </p:sp>
        <p:sp>
          <p:nvSpPr>
            <p:cNvPr id="22" name="TextBox 21"/>
            <p:cNvSpPr txBox="1"/>
            <p:nvPr/>
          </p:nvSpPr>
          <p:spPr>
            <a:xfrm>
              <a:off x="7569595" y="4855779"/>
              <a:ext cx="485196" cy="461665"/>
            </a:xfrm>
            <a:prstGeom prst="rect">
              <a:avLst/>
            </a:prstGeom>
            <a:noFill/>
          </p:spPr>
          <p:txBody>
            <a:bodyPr wrap="square" rtlCol="0">
              <a:spAutoFit/>
            </a:bodyPr>
            <a:lstStyle/>
            <a:p>
              <a:r>
                <a:rPr lang="en-US" sz="2400" i="1" dirty="0" err="1"/>
                <a:t>V</a:t>
              </a:r>
              <a:r>
                <a:rPr lang="en-US" sz="2400" i="1" baseline="-25000" dirty="0" err="1"/>
                <a:t>f</a:t>
              </a:r>
              <a:endParaRPr lang="en-US" sz="2400" i="1" baseline="-25000" dirty="0"/>
            </a:p>
          </p:txBody>
        </p:sp>
        <p:sp>
          <p:nvSpPr>
            <p:cNvPr id="23" name="TextBox 22"/>
            <p:cNvSpPr txBox="1"/>
            <p:nvPr/>
          </p:nvSpPr>
          <p:spPr>
            <a:xfrm>
              <a:off x="8046743" y="4758594"/>
              <a:ext cx="371117" cy="310451"/>
            </a:xfrm>
            <a:prstGeom prst="rect">
              <a:avLst/>
            </a:prstGeom>
            <a:noFill/>
          </p:spPr>
          <p:txBody>
            <a:bodyPr wrap="square" rtlCol="0">
              <a:spAutoFit/>
            </a:bodyPr>
            <a:lstStyle/>
            <a:p>
              <a:r>
                <a:rPr lang="en-US" i="1" dirty="0"/>
                <a:t>V</a:t>
              </a:r>
              <a:endParaRPr lang="en-US" i="1" baseline="-25000" dirty="0"/>
            </a:p>
          </p:txBody>
        </p:sp>
        <p:sp>
          <p:nvSpPr>
            <p:cNvPr id="24" name="Isosceles Triangle 23"/>
            <p:cNvSpPr/>
            <p:nvPr/>
          </p:nvSpPr>
          <p:spPr>
            <a:xfrm rot="5400000" flipH="1" flipV="1">
              <a:off x="7008874" y="4255595"/>
              <a:ext cx="167143" cy="212066"/>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Freeform 24"/>
            <p:cNvSpPr/>
            <p:nvPr/>
          </p:nvSpPr>
          <p:spPr>
            <a:xfrm flipH="1" flipV="1">
              <a:off x="6396602" y="3505019"/>
              <a:ext cx="1332042" cy="861832"/>
            </a:xfrm>
            <a:custGeom>
              <a:avLst/>
              <a:gdLst>
                <a:gd name="connsiteX0" fmla="*/ 0 w 1914525"/>
                <a:gd name="connsiteY0" fmla="*/ 0 h 1571625"/>
                <a:gd name="connsiteX1" fmla="*/ 1895475 w 1914525"/>
                <a:gd name="connsiteY1" fmla="*/ 9525 h 1571625"/>
                <a:gd name="connsiteX2" fmla="*/ 1914525 w 1914525"/>
                <a:gd name="connsiteY2" fmla="*/ 1571625 h 1571625"/>
              </a:gdLst>
              <a:ahLst/>
              <a:cxnLst>
                <a:cxn ang="0">
                  <a:pos x="connsiteX0" y="connsiteY0"/>
                </a:cxn>
                <a:cxn ang="0">
                  <a:pos x="connsiteX1" y="connsiteY1"/>
                </a:cxn>
                <a:cxn ang="0">
                  <a:pos x="connsiteX2" y="connsiteY2"/>
                </a:cxn>
              </a:cxnLst>
              <a:rect l="l" t="t" r="r" b="b"/>
              <a:pathLst>
                <a:path w="1914525" h="1571625">
                  <a:moveTo>
                    <a:pt x="0" y="0"/>
                  </a:moveTo>
                  <a:lnTo>
                    <a:pt x="1895475" y="9525"/>
                  </a:lnTo>
                  <a:lnTo>
                    <a:pt x="1914525" y="1571625"/>
                  </a:lnTo>
                </a:path>
              </a:pathLst>
            </a:custGeom>
            <a:ln w="762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sp>
          <p:nvSpPr>
            <p:cNvPr id="26" name="Isosceles Triangle 25"/>
            <p:cNvSpPr/>
            <p:nvPr/>
          </p:nvSpPr>
          <p:spPr>
            <a:xfrm rot="10800000" flipH="1" flipV="1">
              <a:off x="6297196" y="3818413"/>
              <a:ext cx="212066" cy="167143"/>
            </a:xfrm>
            <a:prstGeom prst="triangl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7" name="Oval 26"/>
            <p:cNvSpPr/>
            <p:nvPr/>
          </p:nvSpPr>
          <p:spPr>
            <a:xfrm>
              <a:off x="6350213" y="3463234"/>
              <a:ext cx="106033" cy="83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Oval 27"/>
            <p:cNvSpPr/>
            <p:nvPr/>
          </p:nvSpPr>
          <p:spPr>
            <a:xfrm>
              <a:off x="7675628" y="4340736"/>
              <a:ext cx="106033" cy="835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Tree>
    <p:extLst>
      <p:ext uri="{BB962C8B-B14F-4D97-AF65-F5344CB8AC3E}">
        <p14:creationId xmlns:p14="http://schemas.microsoft.com/office/powerpoint/2010/main" val="1876980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457200" y="533400"/>
            <a:ext cx="8378272" cy="5582651"/>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cstate="print"/>
          <a:srcRect/>
          <a:stretch>
            <a:fillRect/>
          </a:stretch>
        </p:blipFill>
        <p:spPr bwMode="auto">
          <a:xfrm>
            <a:off x="304800" y="589880"/>
            <a:ext cx="8492890" cy="5658519"/>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cstate="print"/>
          <a:srcRect/>
          <a:stretch>
            <a:fillRect/>
          </a:stretch>
        </p:blipFill>
        <p:spPr bwMode="auto">
          <a:xfrm>
            <a:off x="228600" y="552486"/>
            <a:ext cx="8704419" cy="5772114"/>
          </a:xfrm>
          <a:prstGeom prst="rect">
            <a:avLst/>
          </a:prstGeom>
          <a:noFill/>
          <a:ln w="9525">
            <a:noFill/>
            <a:miter lim="800000"/>
            <a:headEnd/>
            <a:tailEnd/>
          </a:ln>
          <a:effec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381000" y="642082"/>
            <a:ext cx="8650174" cy="5758718"/>
          </a:xfrm>
          <a:prstGeom prst="rect">
            <a:avLst/>
          </a:prstGeom>
          <a:noFill/>
          <a:ln w="9525">
            <a:noFill/>
            <a:miter lim="800000"/>
            <a:headEnd/>
            <a:tailEnd/>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Number Placeholder 5"/>
          <p:cNvSpPr>
            <a:spLocks noGrp="1"/>
          </p:cNvSpPr>
          <p:nvPr>
            <p:ph type="sldNum" sz="quarter" idx="12"/>
          </p:nvPr>
        </p:nvSpPr>
        <p:spPr>
          <a:noFill/>
        </p:spPr>
        <p:txBody>
          <a:bodyPr/>
          <a:lstStyle/>
          <a:p>
            <a:fld id="{C2812B8D-E844-4807-B20D-B92C141DEBC2}" type="slidenum">
              <a:rPr lang="en-US" smtClean="0"/>
              <a:pPr/>
              <a:t>70</a:t>
            </a:fld>
            <a:endParaRPr lang="en-US"/>
          </a:p>
        </p:txBody>
      </p:sp>
      <p:sp>
        <p:nvSpPr>
          <p:cNvPr id="183299" name="Rectangle 2"/>
          <p:cNvSpPr>
            <a:spLocks noChangeArrowheads="1"/>
          </p:cNvSpPr>
          <p:nvPr/>
        </p:nvSpPr>
        <p:spPr bwMode="auto">
          <a:xfrm>
            <a:off x="5878513" y="3657600"/>
            <a:ext cx="2511425" cy="1871663"/>
          </a:xfrm>
          <a:prstGeom prst="rect">
            <a:avLst/>
          </a:prstGeom>
          <a:gradFill rotWithShape="1">
            <a:gsLst>
              <a:gs pos="0">
                <a:schemeClr val="bg1"/>
              </a:gs>
              <a:gs pos="100000">
                <a:schemeClr val="accent1"/>
              </a:gs>
            </a:gsLst>
            <a:path path="shape">
              <a:fillToRect l="50000" t="50000" r="50000" b="50000"/>
            </a:path>
          </a:gradFill>
          <a:ln w="9525" algn="ctr">
            <a:solidFill>
              <a:schemeClr val="tx1"/>
            </a:solidFill>
            <a:miter lim="800000"/>
            <a:headEnd/>
            <a:tailEnd/>
          </a:ln>
        </p:spPr>
        <p:txBody>
          <a:bodyPr wrap="none" anchor="ctr"/>
          <a:lstStyle/>
          <a:p>
            <a:pPr algn="ctr"/>
            <a:r>
              <a:rPr lang="en-US"/>
              <a:t>Gas at T</a:t>
            </a:r>
            <a:r>
              <a:rPr lang="en-US" baseline="-25000"/>
              <a:t>i</a:t>
            </a:r>
          </a:p>
        </p:txBody>
      </p:sp>
      <p:sp>
        <p:nvSpPr>
          <p:cNvPr id="183300" name="Rectangle 3"/>
          <p:cNvSpPr>
            <a:spLocks noGrp="1" noChangeArrowheads="1"/>
          </p:cNvSpPr>
          <p:nvPr>
            <p:ph type="title"/>
          </p:nvPr>
        </p:nvSpPr>
        <p:spPr/>
        <p:txBody>
          <a:bodyPr/>
          <a:lstStyle/>
          <a:p>
            <a:pPr eaLnBrk="1" hangingPunct="1"/>
            <a:r>
              <a:rPr lang="en-US"/>
              <a:t>Question 123.10.7</a:t>
            </a:r>
            <a:endParaRPr lang="en-US" dirty="0"/>
          </a:p>
        </p:txBody>
      </p:sp>
      <p:sp>
        <p:nvSpPr>
          <p:cNvPr id="183301" name="Rectangle 4"/>
          <p:cNvSpPr>
            <a:spLocks noGrp="1" noChangeArrowheads="1"/>
          </p:cNvSpPr>
          <p:nvPr>
            <p:ph type="body" idx="1"/>
          </p:nvPr>
        </p:nvSpPr>
        <p:spPr>
          <a:xfrm>
            <a:off x="457200" y="1600200"/>
            <a:ext cx="3978275" cy="4525963"/>
          </a:xfrm>
        </p:spPr>
        <p:txBody>
          <a:bodyPr/>
          <a:lstStyle/>
          <a:p>
            <a:pPr marL="609600" indent="-609600" eaLnBrk="1" hangingPunct="1">
              <a:lnSpc>
                <a:spcPct val="80000"/>
              </a:lnSpc>
              <a:buFontTx/>
              <a:buNone/>
            </a:pPr>
            <a:r>
              <a:rPr lang="en-US" sz="2800"/>
              <a:t>The initial state of a system is shown, if the membrane is broken, the gas fills the entire container. Is there work done by the gas in filling the container?</a:t>
            </a:r>
          </a:p>
          <a:p>
            <a:pPr marL="609600" indent="-609600" eaLnBrk="1" hangingPunct="1">
              <a:lnSpc>
                <a:spcPct val="80000"/>
              </a:lnSpc>
              <a:buFontTx/>
              <a:buAutoNum type="alphaLcParenR"/>
            </a:pPr>
            <a:r>
              <a:rPr lang="en-US" sz="2800"/>
              <a:t>Yes</a:t>
            </a:r>
          </a:p>
          <a:p>
            <a:pPr marL="609600" indent="-609600" eaLnBrk="1" hangingPunct="1">
              <a:lnSpc>
                <a:spcPct val="80000"/>
              </a:lnSpc>
              <a:buFontTx/>
              <a:buAutoNum type="alphaLcParenR"/>
            </a:pPr>
            <a:r>
              <a:rPr lang="en-US" sz="2800"/>
              <a:t>No</a:t>
            </a:r>
          </a:p>
          <a:p>
            <a:pPr marL="609600" indent="-609600" eaLnBrk="1" hangingPunct="1">
              <a:lnSpc>
                <a:spcPct val="80000"/>
              </a:lnSpc>
              <a:buFontTx/>
              <a:buAutoNum type="alphaLcParenR"/>
            </a:pPr>
            <a:r>
              <a:rPr lang="en-US" sz="2800"/>
              <a:t>Can’t Tell</a:t>
            </a:r>
          </a:p>
        </p:txBody>
      </p:sp>
      <p:sp>
        <p:nvSpPr>
          <p:cNvPr id="183302" name="Rectangle 5"/>
          <p:cNvSpPr>
            <a:spLocks noChangeArrowheads="1"/>
          </p:cNvSpPr>
          <p:nvPr/>
        </p:nvSpPr>
        <p:spPr bwMode="auto">
          <a:xfrm>
            <a:off x="5878513" y="1814513"/>
            <a:ext cx="2511425" cy="3730625"/>
          </a:xfrm>
          <a:prstGeom prst="rect">
            <a:avLst/>
          </a:prstGeom>
          <a:noFill/>
          <a:ln w="53975" algn="ctr">
            <a:solidFill>
              <a:srgbClr val="FF9900"/>
            </a:solidFill>
            <a:miter lim="800000"/>
            <a:headEnd/>
            <a:tailEnd/>
          </a:ln>
        </p:spPr>
        <p:txBody>
          <a:bodyPr wrap="none" anchor="ctr"/>
          <a:lstStyle/>
          <a:p>
            <a:endParaRPr lang="en-US"/>
          </a:p>
        </p:txBody>
      </p:sp>
      <p:sp>
        <p:nvSpPr>
          <p:cNvPr id="183303" name="Line 6"/>
          <p:cNvSpPr>
            <a:spLocks noChangeShapeType="1"/>
          </p:cNvSpPr>
          <p:nvPr/>
        </p:nvSpPr>
        <p:spPr bwMode="auto">
          <a:xfrm>
            <a:off x="5864225" y="3671888"/>
            <a:ext cx="2525713" cy="0"/>
          </a:xfrm>
          <a:prstGeom prst="line">
            <a:avLst/>
          </a:prstGeom>
          <a:noFill/>
          <a:ln w="9525">
            <a:solidFill>
              <a:srgbClr val="FF0000"/>
            </a:solidFill>
            <a:round/>
            <a:headEnd/>
            <a:tailEnd/>
          </a:ln>
        </p:spPr>
        <p:txBody>
          <a:bodyPr wrap="none" anchor="ctr"/>
          <a:lstStyle/>
          <a:p>
            <a:endParaRPr lang="en-US"/>
          </a:p>
        </p:txBody>
      </p:sp>
      <p:sp>
        <p:nvSpPr>
          <p:cNvPr id="183304" name="Text Box 7"/>
          <p:cNvSpPr txBox="1">
            <a:spLocks noChangeArrowheads="1"/>
          </p:cNvSpPr>
          <p:nvPr/>
        </p:nvSpPr>
        <p:spPr bwMode="auto">
          <a:xfrm>
            <a:off x="6573838" y="2286000"/>
            <a:ext cx="1136650" cy="366713"/>
          </a:xfrm>
          <a:prstGeom prst="rect">
            <a:avLst/>
          </a:prstGeom>
          <a:noFill/>
          <a:ln w="9525" algn="ctr">
            <a:noFill/>
            <a:miter lim="800000"/>
            <a:headEnd/>
            <a:tailEnd/>
          </a:ln>
        </p:spPr>
        <p:txBody>
          <a:bodyPr>
            <a:spAutoFit/>
          </a:bodyPr>
          <a:lstStyle/>
          <a:p>
            <a:pPr algn="ctr"/>
            <a:r>
              <a:rPr lang="en-US"/>
              <a:t>Vacuum</a:t>
            </a:r>
          </a:p>
        </p:txBody>
      </p:sp>
      <p:sp>
        <p:nvSpPr>
          <p:cNvPr id="183305" name="Text Box 8"/>
          <p:cNvSpPr txBox="1">
            <a:spLocks noChangeArrowheads="1"/>
          </p:cNvSpPr>
          <p:nvPr/>
        </p:nvSpPr>
        <p:spPr bwMode="auto">
          <a:xfrm>
            <a:off x="5754688" y="3092450"/>
            <a:ext cx="1920875" cy="366713"/>
          </a:xfrm>
          <a:prstGeom prst="rect">
            <a:avLst/>
          </a:prstGeom>
          <a:noFill/>
          <a:ln w="9525" algn="ctr">
            <a:noFill/>
            <a:miter lim="800000"/>
            <a:headEnd/>
            <a:tailEnd/>
          </a:ln>
        </p:spPr>
        <p:txBody>
          <a:bodyPr>
            <a:spAutoFit/>
          </a:bodyPr>
          <a:lstStyle/>
          <a:p>
            <a:pPr algn="ctr"/>
            <a:r>
              <a:rPr lang="en-US"/>
              <a:t>Membrane</a:t>
            </a:r>
          </a:p>
        </p:txBody>
      </p:sp>
      <p:sp>
        <p:nvSpPr>
          <p:cNvPr id="183306" name="Line 9"/>
          <p:cNvSpPr>
            <a:spLocks noChangeShapeType="1"/>
          </p:cNvSpPr>
          <p:nvPr/>
        </p:nvSpPr>
        <p:spPr bwMode="auto">
          <a:xfrm flipH="1">
            <a:off x="6502400" y="3381375"/>
            <a:ext cx="115888" cy="276225"/>
          </a:xfrm>
          <a:prstGeom prst="line">
            <a:avLst/>
          </a:prstGeom>
          <a:noFill/>
          <a:ln w="9525">
            <a:solidFill>
              <a:schemeClr val="tx1"/>
            </a:solidFill>
            <a:round/>
            <a:headEnd/>
            <a:tailEnd type="triangle" w="med" len="med"/>
          </a:ln>
        </p:spPr>
        <p:txBody>
          <a:bodyPr wrap="none" anchor="ctr"/>
          <a:lstStyle/>
          <a:p>
            <a:endParaRPr lang="en-US"/>
          </a:p>
        </p:txBody>
      </p:sp>
    </p:spTree>
    <p:extLst>
      <p:ext uri="{BB962C8B-B14F-4D97-AF65-F5344CB8AC3E}">
        <p14:creationId xmlns:p14="http://schemas.microsoft.com/office/powerpoint/2010/main" val="3786188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675</TotalTime>
  <Words>2349</Words>
  <Application>Microsoft Office PowerPoint</Application>
  <PresentationFormat>On-screen Show (4:3)</PresentationFormat>
  <Paragraphs>550</Paragraphs>
  <Slides>70</Slides>
  <Notes>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78" baseType="lpstr">
      <vt:lpstr>Arial</vt:lpstr>
      <vt:lpstr>Arial Black</vt:lpstr>
      <vt:lpstr>Calibri</vt:lpstr>
      <vt:lpstr>Cambria Math</vt:lpstr>
      <vt:lpstr>Symbol</vt:lpstr>
      <vt:lpstr>Times New Roman</vt:lpstr>
      <vt:lpstr>Office Theme</vt:lpstr>
      <vt:lpstr>Equation</vt:lpstr>
      <vt:lpstr>Lecture 25</vt:lpstr>
      <vt:lpstr>Question 123.4.7</vt:lpstr>
      <vt:lpstr>PowerPoint Presentation</vt:lpstr>
      <vt:lpstr>PowerPoint Presentation</vt:lpstr>
      <vt:lpstr>PowerPoint Presentation</vt:lpstr>
      <vt:lpstr>PowerPoint Presentation</vt:lpstr>
      <vt:lpstr>Problem</vt:lpstr>
      <vt:lpstr>Problem</vt:lpstr>
      <vt:lpstr>PowerPoint Presentation</vt:lpstr>
      <vt:lpstr>PowerPoint Presentation</vt:lpstr>
      <vt:lpstr>Pascal’s Law</vt:lpstr>
      <vt:lpstr>Question 123.4.8</vt:lpstr>
      <vt:lpstr>Question 123.4.8</vt:lpstr>
      <vt:lpstr>PowerPoint Presentation</vt:lpstr>
      <vt:lpstr>Buoyant Forces</vt:lpstr>
      <vt:lpstr>Question 123.5.3</vt:lpstr>
      <vt:lpstr>Question 123.5.3.5</vt:lpstr>
      <vt:lpstr>Buoyant Forces</vt:lpstr>
      <vt:lpstr>Archimedes’ Principle</vt:lpstr>
      <vt:lpstr>Case1: Totally Submerged Object</vt:lpstr>
      <vt:lpstr>Buoyant Forces</vt:lpstr>
      <vt:lpstr>Case 2: Partially Submerged Object</vt:lpstr>
      <vt:lpstr>PowerPoint Presentation</vt:lpstr>
      <vt:lpstr>Question 123.5.4</vt:lpstr>
      <vt:lpstr>Question 123.5.5</vt:lpstr>
      <vt:lpstr>Question 123.5.6</vt:lpstr>
      <vt:lpstr>PowerPoint Presentation</vt:lpstr>
      <vt:lpstr>End</vt:lpstr>
      <vt:lpstr>Question 123.5.1</vt:lpstr>
      <vt:lpstr>Question 123.5.2</vt:lpstr>
      <vt:lpstr>PowerPoint Presentation</vt:lpstr>
      <vt:lpstr>Pressure Measurement: Barometer</vt:lpstr>
      <vt:lpstr>Pressure Measurement: Barometer</vt:lpstr>
      <vt:lpstr>PowerPoint Presentation</vt:lpstr>
      <vt:lpstr>PowerPoint Presentation</vt:lpstr>
      <vt:lpstr>Question 123.5.3</vt:lpstr>
      <vt:lpstr>Question 123.5.3.5</vt:lpstr>
      <vt:lpstr>Buoyant Forces</vt:lpstr>
      <vt:lpstr>Buoyant Forces</vt:lpstr>
      <vt:lpstr>Archimedes’ Principle</vt:lpstr>
      <vt:lpstr>Case1: Totally Submerged Object</vt:lpstr>
      <vt:lpstr>Buoyant Forces</vt:lpstr>
      <vt:lpstr>Case 2: Partially Submerged Object</vt:lpstr>
      <vt:lpstr>PowerPoint Presentation</vt:lpstr>
      <vt:lpstr>Question 123.5.4</vt:lpstr>
      <vt:lpstr>Question 123.5.5</vt:lpstr>
      <vt:lpstr>Question 123.5.6</vt:lpstr>
      <vt:lpstr>PowerPoint Presentation</vt:lpstr>
      <vt:lpstr>End</vt:lpstr>
      <vt:lpstr>Misplaced Slides</vt:lpstr>
      <vt:lpstr>Question 123.10.1</vt:lpstr>
      <vt:lpstr>Question 123.10.2</vt:lpstr>
      <vt:lpstr>Question 123.10.2.4</vt:lpstr>
      <vt:lpstr>Question 123.10.2.5</vt:lpstr>
      <vt:lpstr>Question 123.10.3</vt:lpstr>
      <vt:lpstr>Question 123.10.4</vt:lpstr>
      <vt:lpstr>PowerPoint Presentation</vt:lpstr>
      <vt:lpstr>PowerPoint Presentation</vt:lpstr>
      <vt:lpstr>PowerPoint Presentation</vt:lpstr>
      <vt:lpstr>PowerPoint Presentation</vt:lpstr>
      <vt:lpstr>PowerPoint Presentation</vt:lpstr>
      <vt:lpstr>PowerPoint Presentation</vt:lpstr>
      <vt:lpstr>Question 123.10.5</vt:lpstr>
      <vt:lpstr>Question 123.10.6</vt:lpstr>
      <vt:lpstr>Question 123.10.6</vt:lpstr>
      <vt:lpstr>PowerPoint Presentation</vt:lpstr>
      <vt:lpstr>PowerPoint Presentation</vt:lpstr>
      <vt:lpstr>PowerPoint Presentation</vt:lpstr>
      <vt:lpstr>PowerPoint Presentation</vt:lpstr>
      <vt:lpstr>Question 123.10.7</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Todd Lines</cp:lastModifiedBy>
  <cp:revision>10</cp:revision>
  <dcterms:created xsi:type="dcterms:W3CDTF">2011-10-03T20:48:29Z</dcterms:created>
  <dcterms:modified xsi:type="dcterms:W3CDTF">2026-08-26T19:36:56Z</dcterms:modified>
</cp:coreProperties>
</file>