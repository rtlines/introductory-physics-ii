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345" r:id="rId2"/>
    <p:sldId id="367" r:id="rId3"/>
    <p:sldId id="347" r:id="rId4"/>
    <p:sldId id="285" r:id="rId5"/>
    <p:sldId id="287" r:id="rId6"/>
    <p:sldId id="289" r:id="rId7"/>
    <p:sldId id="341" r:id="rId8"/>
    <p:sldId id="310" r:id="rId9"/>
    <p:sldId id="344" r:id="rId10"/>
    <p:sldId id="288" r:id="rId11"/>
    <p:sldId id="311" r:id="rId12"/>
    <p:sldId id="290" r:id="rId13"/>
    <p:sldId id="291" r:id="rId14"/>
    <p:sldId id="312" r:id="rId15"/>
    <p:sldId id="321" r:id="rId16"/>
    <p:sldId id="323" r:id="rId17"/>
    <p:sldId id="354" r:id="rId18"/>
    <p:sldId id="324" r:id="rId19"/>
    <p:sldId id="325" r:id="rId20"/>
    <p:sldId id="326" r:id="rId21"/>
    <p:sldId id="355" r:id="rId22"/>
    <p:sldId id="356" r:id="rId23"/>
    <p:sldId id="357" r:id="rId24"/>
    <p:sldId id="358" r:id="rId25"/>
    <p:sldId id="359" r:id="rId26"/>
    <p:sldId id="348" r:id="rId27"/>
    <p:sldId id="349" r:id="rId28"/>
    <p:sldId id="350" r:id="rId29"/>
    <p:sldId id="351" r:id="rId30"/>
    <p:sldId id="352" r:id="rId31"/>
    <p:sldId id="353" r:id="rId32"/>
    <p:sldId id="360" r:id="rId33"/>
    <p:sldId id="361" r:id="rId34"/>
    <p:sldId id="303" r:id="rId35"/>
    <p:sldId id="328" r:id="rId36"/>
    <p:sldId id="329" r:id="rId37"/>
    <p:sldId id="330" r:id="rId38"/>
    <p:sldId id="331" r:id="rId39"/>
    <p:sldId id="332" r:id="rId40"/>
    <p:sldId id="333" r:id="rId41"/>
    <p:sldId id="334" r:id="rId42"/>
    <p:sldId id="335" r:id="rId43"/>
    <p:sldId id="304" r:id="rId44"/>
    <p:sldId id="368" r:id="rId45"/>
    <p:sldId id="305" r:id="rId46"/>
    <p:sldId id="306" r:id="rId47"/>
    <p:sldId id="307" r:id="rId48"/>
    <p:sldId id="308" r:id="rId49"/>
    <p:sldId id="309" r:id="rId50"/>
    <p:sldId id="261" r:id="rId51"/>
    <p:sldId id="262" r:id="rId52"/>
    <p:sldId id="263" r:id="rId53"/>
    <p:sldId id="265" r:id="rId54"/>
    <p:sldId id="363" r:id="rId55"/>
    <p:sldId id="364" r:id="rId56"/>
    <p:sldId id="259" r:id="rId57"/>
    <p:sldId id="264" r:id="rId58"/>
    <p:sldId id="365" r:id="rId59"/>
    <p:sldId id="366" r:id="rId60"/>
    <p:sldId id="266" r:id="rId61"/>
    <p:sldId id="346" r:id="rId62"/>
    <p:sldId id="362" r:id="rId63"/>
    <p:sldId id="286" r:id="rId64"/>
    <p:sldId id="292" r:id="rId65"/>
    <p:sldId id="313" r:id="rId66"/>
    <p:sldId id="293" r:id="rId67"/>
    <p:sldId id="294" r:id="rId68"/>
    <p:sldId id="295" r:id="rId69"/>
    <p:sldId id="296" r:id="rId70"/>
    <p:sldId id="297" r:id="rId71"/>
    <p:sldId id="298" r:id="rId72"/>
    <p:sldId id="314" r:id="rId73"/>
    <p:sldId id="315" r:id="rId74"/>
    <p:sldId id="316" r:id="rId75"/>
    <p:sldId id="317" r:id="rId76"/>
    <p:sldId id="299" r:id="rId77"/>
    <p:sldId id="300" r:id="rId78"/>
    <p:sldId id="301" r:id="rId79"/>
    <p:sldId id="302" r:id="rId80"/>
    <p:sldId id="336" r:id="rId81"/>
    <p:sldId id="337" r:id="rId82"/>
    <p:sldId id="342" r:id="rId83"/>
    <p:sldId id="343" r:id="rId84"/>
    <p:sldId id="339" r:id="rId85"/>
    <p:sldId id="340" r:id="rId86"/>
    <p:sldId id="284" r:id="rId8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6CD323-B2B7-401B-B4CD-B57954F6D71C}" v="4" dt="2026-01-15T21:44:49.7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addSld delSld modSld">
      <pc:chgData name="Lines, Todd" userId="afaf7c3a-e8aa-4568-882a-02ad8f9e19b0" providerId="ADAL" clId="{5FF5AC1B-ABA9-43D7-A1E3-2D92732CD6E2}" dt="2026-01-15T21:44:49.770" v="8"/>
      <pc:docMkLst>
        <pc:docMk/>
      </pc:docMkLst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0" sldId="261"/>
        </pc:sldMkLst>
      </pc:sldChg>
      <pc:sldChg chg="add del">
        <pc:chgData name="Lines, Todd" userId="afaf7c3a-e8aa-4568-882a-02ad8f9e19b0" providerId="ADAL" clId="{5FF5AC1B-ABA9-43D7-A1E3-2D92732CD6E2}" dt="2026-01-15T21:44:18.258" v="7" actId="2696"/>
        <pc:sldMkLst>
          <pc:docMk/>
          <pc:sldMk cId="96676395" sldId="261"/>
        </pc:sldMkLst>
      </pc:sldChg>
      <pc:sldChg chg="add">
        <pc:chgData name="Lines, Todd" userId="afaf7c3a-e8aa-4568-882a-02ad8f9e19b0" providerId="ADAL" clId="{5FF5AC1B-ABA9-43D7-A1E3-2D92732CD6E2}" dt="2026-01-15T21:44:49.770" v="8"/>
        <pc:sldMkLst>
          <pc:docMk/>
          <pc:sldMk cId="645957708" sldId="261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0" sldId="262"/>
        </pc:sldMkLst>
      </pc:sldChg>
      <pc:sldChg chg="add">
        <pc:chgData name="Lines, Todd" userId="afaf7c3a-e8aa-4568-882a-02ad8f9e19b0" providerId="ADAL" clId="{5FF5AC1B-ABA9-43D7-A1E3-2D92732CD6E2}" dt="2026-01-15T21:44:49.770" v="8"/>
        <pc:sldMkLst>
          <pc:docMk/>
          <pc:sldMk cId="2084675203" sldId="262"/>
        </pc:sldMkLst>
      </pc:sldChg>
      <pc:sldChg chg="add del">
        <pc:chgData name="Lines, Todd" userId="afaf7c3a-e8aa-4568-882a-02ad8f9e19b0" providerId="ADAL" clId="{5FF5AC1B-ABA9-43D7-A1E3-2D92732CD6E2}" dt="2026-01-15T21:44:18.258" v="7" actId="2696"/>
        <pc:sldMkLst>
          <pc:docMk/>
          <pc:sldMk cId="3109614522" sldId="262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0" sldId="263"/>
        </pc:sldMkLst>
      </pc:sldChg>
      <pc:sldChg chg="add del">
        <pc:chgData name="Lines, Todd" userId="afaf7c3a-e8aa-4568-882a-02ad8f9e19b0" providerId="ADAL" clId="{5FF5AC1B-ABA9-43D7-A1E3-2D92732CD6E2}" dt="2026-01-15T21:44:18.258" v="7" actId="2696"/>
        <pc:sldMkLst>
          <pc:docMk/>
          <pc:sldMk cId="1326243373" sldId="263"/>
        </pc:sldMkLst>
      </pc:sldChg>
      <pc:sldChg chg="add">
        <pc:chgData name="Lines, Todd" userId="afaf7c3a-e8aa-4568-882a-02ad8f9e19b0" providerId="ADAL" clId="{5FF5AC1B-ABA9-43D7-A1E3-2D92732CD6E2}" dt="2026-01-15T21:44:49.770" v="8"/>
        <pc:sldMkLst>
          <pc:docMk/>
          <pc:sldMk cId="2518151769" sldId="263"/>
        </pc:sldMkLst>
      </pc:sldChg>
      <pc:sldChg chg="modSp del mod">
        <pc:chgData name="Lines, Todd" userId="afaf7c3a-e8aa-4568-882a-02ad8f9e19b0" providerId="ADAL" clId="{5FF5AC1B-ABA9-43D7-A1E3-2D92732CD6E2}" dt="2026-01-15T21:43:31.987" v="5" actId="2696"/>
        <pc:sldMkLst>
          <pc:docMk/>
          <pc:sldMk cId="1203521046" sldId="348"/>
        </pc:sldMkLst>
        <pc:spChg chg="mod">
          <ac:chgData name="Lines, Todd" userId="afaf7c3a-e8aa-4568-882a-02ad8f9e19b0" providerId="ADAL" clId="{5FF5AC1B-ABA9-43D7-A1E3-2D92732CD6E2}" dt="2026-01-15T21:41:26.634" v="3" actId="11"/>
          <ac:spMkLst>
            <pc:docMk/>
            <pc:sldMk cId="1203521046" sldId="348"/>
            <ac:spMk id="115716" creationId="{00000000-0000-0000-0000-000000000000}"/>
          </ac:spMkLst>
        </pc:spChg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3748942484" sldId="348"/>
        </pc:sldMkLst>
      </pc:sldChg>
      <pc:sldChg chg="modSp del mod">
        <pc:chgData name="Lines, Todd" userId="afaf7c3a-e8aa-4568-882a-02ad8f9e19b0" providerId="ADAL" clId="{5FF5AC1B-ABA9-43D7-A1E3-2D92732CD6E2}" dt="2026-01-15T21:43:31.987" v="5" actId="2696"/>
        <pc:sldMkLst>
          <pc:docMk/>
          <pc:sldMk cId="3434781075" sldId="349"/>
        </pc:sldMkLst>
        <pc:spChg chg="mod">
          <ac:chgData name="Lines, Todd" userId="afaf7c3a-e8aa-4568-882a-02ad8f9e19b0" providerId="ADAL" clId="{5FF5AC1B-ABA9-43D7-A1E3-2D92732CD6E2}" dt="2026-01-15T21:41:40.178" v="4" actId="11"/>
          <ac:spMkLst>
            <pc:docMk/>
            <pc:sldMk cId="3434781075" sldId="349"/>
            <ac:spMk id="116740" creationId="{00000000-0000-0000-0000-000000000000}"/>
          </ac:spMkLst>
        </pc:spChg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3521782403" sldId="349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345946206" sldId="350"/>
        </pc:sldMkLst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1339363551" sldId="350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548597081" sldId="351"/>
        </pc:sldMkLst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1349580765" sldId="351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344528421" sldId="352"/>
        </pc:sldMkLst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4006116839" sldId="352"/>
        </pc:sldMkLst>
      </pc:sldChg>
      <pc:sldChg chg="del">
        <pc:chgData name="Lines, Todd" userId="afaf7c3a-e8aa-4568-882a-02ad8f9e19b0" providerId="ADAL" clId="{5FF5AC1B-ABA9-43D7-A1E3-2D92732CD6E2}" dt="2026-01-15T21:43:31.987" v="5" actId="2696"/>
        <pc:sldMkLst>
          <pc:docMk/>
          <pc:sldMk cId="577912915" sldId="353"/>
        </pc:sldMkLst>
      </pc:sldChg>
      <pc:sldChg chg="add">
        <pc:chgData name="Lines, Todd" userId="afaf7c3a-e8aa-4568-882a-02ad8f9e19b0" providerId="ADAL" clId="{5FF5AC1B-ABA9-43D7-A1E3-2D92732CD6E2}" dt="2026-01-15T21:43:51.892" v="6"/>
        <pc:sldMkLst>
          <pc:docMk/>
          <pc:sldMk cId="1637345474" sldId="35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081139-F0BA-49F9-93A6-6F626C1CF54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20C94-1406-4988-8D1D-1073C327506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652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5652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842607B-54DC-48D1-A218-DA4A714D19E4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049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F140B7-8B0E-44A6-9E20-D5135BF064F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Relationship Id="rId9" Type="http://schemas.openxmlformats.org/officeDocument/2006/relationships/image" Target="../media/image12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wmf"/><Relationship Id="rId4" Type="http://schemas.openxmlformats.org/officeDocument/2006/relationships/oleObject" Target="../embeddings/oleObject3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image" Target="../media/image17.emf"/><Relationship Id="rId7" Type="http://schemas.openxmlformats.org/officeDocument/2006/relationships/image" Target="../media/image21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Relationship Id="rId9" Type="http://schemas.openxmlformats.org/officeDocument/2006/relationships/image" Target="../media/image2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H-6JG0NeG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d_green_and_resultant_wave.avi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jpeg"/><Relationship Id="rId4" Type="http://schemas.openxmlformats.org/officeDocument/2006/relationships/image" Target="../media/image3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g_gree_purple_separate.avi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ik7IxJ52u7U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sGN_HO7_lUg" TargetMode="External"/><Relationship Id="rId4" Type="http://schemas.openxmlformats.org/officeDocument/2006/relationships/image" Target="../media/image42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image" Target="../media/image48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53.wmf"/><Relationship Id="rId2" Type="http://schemas.openxmlformats.org/officeDocument/2006/relationships/image" Target="../media/image47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7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5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w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53.wm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X04ySm4TTk" TargetMode="Externa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A048-6484-8EDE-428B-D7D2F7E8C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FF576-B4FD-4AA6-5391-5A45FB1C8B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7494-7078-AAFC-9338-9250A519B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AD010-38A8-C441-2B4B-5EEF4EC2F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power delivered by a wave is proportional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position of the end of the wave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mass of the medium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amplitude of the </a:t>
            </a:r>
            <a:r>
              <a:rPr lang="en-US"/>
              <a:t>wave squared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period of the wave squared</a:t>
            </a:r>
          </a:p>
        </p:txBody>
      </p:sp>
    </p:spTree>
    <p:extLst>
      <p:ext uri="{BB962C8B-B14F-4D97-AF65-F5344CB8AC3E}">
        <p14:creationId xmlns:p14="http://schemas.microsoft.com/office/powerpoint/2010/main" val="3367812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FD1B72-CCBE-CE40-E955-1FAE8C362531}"/>
              </a:ext>
            </a:extLst>
          </p:cNvPr>
          <p:cNvSpPr/>
          <p:nvPr/>
        </p:nvSpPr>
        <p:spPr>
          <a:xfrm>
            <a:off x="1898904" y="935734"/>
            <a:ext cx="149352" cy="36179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3C0366-ADBD-5FA5-A76A-CC6520D623DA}"/>
              </a:ext>
            </a:extLst>
          </p:cNvPr>
          <p:cNvSpPr/>
          <p:nvPr/>
        </p:nvSpPr>
        <p:spPr>
          <a:xfrm>
            <a:off x="1143000" y="1517904"/>
            <a:ext cx="2276856" cy="9875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EE0855-A788-A402-48A5-46F63F828A3E}"/>
              </a:ext>
            </a:extLst>
          </p:cNvPr>
          <p:cNvSpPr/>
          <p:nvPr/>
        </p:nvSpPr>
        <p:spPr>
          <a:xfrm>
            <a:off x="3419856" y="1975104"/>
            <a:ext cx="512064" cy="640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FE5A38-89EB-A82A-AB61-B6D8415A3953}"/>
              </a:ext>
            </a:extLst>
          </p:cNvPr>
          <p:cNvSpPr/>
          <p:nvPr/>
        </p:nvSpPr>
        <p:spPr>
          <a:xfrm>
            <a:off x="1143000" y="1972056"/>
            <a:ext cx="2276856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7BAF4FB-DA6A-6AD6-F1CC-6144FB3A9559}"/>
              </a:ext>
            </a:extLst>
          </p:cNvPr>
          <p:cNvSpPr/>
          <p:nvPr/>
        </p:nvSpPr>
        <p:spPr>
          <a:xfrm>
            <a:off x="3931920" y="1443569"/>
            <a:ext cx="3813048" cy="1148411"/>
          </a:xfrm>
          <a:custGeom>
            <a:avLst/>
            <a:gdLst>
              <a:gd name="connsiteX0" fmla="*/ 0 w 5632704"/>
              <a:gd name="connsiteY0" fmla="*/ 2062670 h 4110927"/>
              <a:gd name="connsiteX1" fmla="*/ 841248 w 5632704"/>
              <a:gd name="connsiteY1" fmla="*/ 60134 h 4110927"/>
              <a:gd name="connsiteX2" fmla="*/ 2642616 w 5632704"/>
              <a:gd name="connsiteY2" fmla="*/ 4110926 h 4110927"/>
              <a:gd name="connsiteX3" fmla="*/ 4398264 w 5632704"/>
              <a:gd name="connsiteY3" fmla="*/ 41846 h 4110927"/>
              <a:gd name="connsiteX4" fmla="*/ 5632704 w 5632704"/>
              <a:gd name="connsiteY4" fmla="*/ 3205670 h 4110927"/>
              <a:gd name="connsiteX0" fmla="*/ 0 w 5632704"/>
              <a:gd name="connsiteY0" fmla="*/ 2030402 h 4078696"/>
              <a:gd name="connsiteX1" fmla="*/ 905256 w 5632704"/>
              <a:gd name="connsiteY1" fmla="*/ 91874 h 4078696"/>
              <a:gd name="connsiteX2" fmla="*/ 2642616 w 5632704"/>
              <a:gd name="connsiteY2" fmla="*/ 4078658 h 4078696"/>
              <a:gd name="connsiteX3" fmla="*/ 4398264 w 5632704"/>
              <a:gd name="connsiteY3" fmla="*/ 9578 h 4078696"/>
              <a:gd name="connsiteX4" fmla="*/ 5632704 w 5632704"/>
              <a:gd name="connsiteY4" fmla="*/ 3173402 h 4078696"/>
              <a:gd name="connsiteX0" fmla="*/ 0 w 5632704"/>
              <a:gd name="connsiteY0" fmla="*/ 2030402 h 4078692"/>
              <a:gd name="connsiteX1" fmla="*/ 905256 w 5632704"/>
              <a:gd name="connsiteY1" fmla="*/ 91874 h 4078692"/>
              <a:gd name="connsiteX2" fmla="*/ 2642616 w 5632704"/>
              <a:gd name="connsiteY2" fmla="*/ 4078658 h 4078692"/>
              <a:gd name="connsiteX3" fmla="*/ 4398264 w 5632704"/>
              <a:gd name="connsiteY3" fmla="*/ 9578 h 4078692"/>
              <a:gd name="connsiteX4" fmla="*/ 5632704 w 5632704"/>
              <a:gd name="connsiteY4" fmla="*/ 3173402 h 4078692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906"/>
              <a:gd name="connsiteX1" fmla="*/ 859536 w 5632704"/>
              <a:gd name="connsiteY1" fmla="*/ 64442 h 4078906"/>
              <a:gd name="connsiteX2" fmla="*/ 2642616 w 5632704"/>
              <a:gd name="connsiteY2" fmla="*/ 4078658 h 4078906"/>
              <a:gd name="connsiteX3" fmla="*/ 4398264 w 5632704"/>
              <a:gd name="connsiteY3" fmla="*/ 9578 h 4078906"/>
              <a:gd name="connsiteX4" fmla="*/ 5632704 w 5632704"/>
              <a:gd name="connsiteY4" fmla="*/ 3173402 h 4078906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67657 h 4034340"/>
              <a:gd name="connsiteX1" fmla="*/ 859536 w 5632704"/>
              <a:gd name="connsiteY1" fmla="*/ 1697 h 4034340"/>
              <a:gd name="connsiteX2" fmla="*/ 2660904 w 5632704"/>
              <a:gd name="connsiteY2" fmla="*/ 4034201 h 4034340"/>
              <a:gd name="connsiteX3" fmla="*/ 4398264 w 5632704"/>
              <a:gd name="connsiteY3" fmla="*/ 1697 h 4034340"/>
              <a:gd name="connsiteX4" fmla="*/ 5632704 w 5632704"/>
              <a:gd name="connsiteY4" fmla="*/ 3110657 h 4034340"/>
              <a:gd name="connsiteX0" fmla="*/ 0 w 5632704"/>
              <a:gd name="connsiteY0" fmla="*/ 1967648 h 4034331"/>
              <a:gd name="connsiteX1" fmla="*/ 859536 w 5632704"/>
              <a:gd name="connsiteY1" fmla="*/ 1688 h 4034331"/>
              <a:gd name="connsiteX2" fmla="*/ 2660904 w 5632704"/>
              <a:gd name="connsiteY2" fmla="*/ 4034192 h 4034331"/>
              <a:gd name="connsiteX3" fmla="*/ 4398264 w 5632704"/>
              <a:gd name="connsiteY3" fmla="*/ 1688 h 4034331"/>
              <a:gd name="connsiteX4" fmla="*/ 5632704 w 5632704"/>
              <a:gd name="connsiteY4" fmla="*/ 3110648 h 4034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32704" h="4034331">
                <a:moveTo>
                  <a:pt x="0" y="1967648"/>
                </a:moveTo>
                <a:cubicBezTo>
                  <a:pt x="273558" y="804836"/>
                  <a:pt x="620268" y="-28792"/>
                  <a:pt x="859536" y="1688"/>
                </a:cubicBezTo>
                <a:cubicBezTo>
                  <a:pt x="1537716" y="32168"/>
                  <a:pt x="2025396" y="4061624"/>
                  <a:pt x="2660904" y="4034192"/>
                </a:cubicBezTo>
                <a:cubicBezTo>
                  <a:pt x="3259836" y="4025048"/>
                  <a:pt x="3790188" y="115988"/>
                  <a:pt x="4398264" y="1688"/>
                </a:cubicBezTo>
                <a:cubicBezTo>
                  <a:pt x="4777740" y="-57748"/>
                  <a:pt x="5200650" y="1462442"/>
                  <a:pt x="5632704" y="3110648"/>
                </a:cubicBezTo>
              </a:path>
            </a:pathLst>
          </a:cu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72AF48F9-FB2B-4063-8E03-104E1C15DF2D}"/>
              </a:ext>
            </a:extLst>
          </p:cNvPr>
          <p:cNvSpPr/>
          <p:nvPr/>
        </p:nvSpPr>
        <p:spPr>
          <a:xfrm rot="2488798">
            <a:off x="4138531" y="1564117"/>
            <a:ext cx="74456" cy="188896"/>
          </a:xfrm>
          <a:prstGeom prst="ca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85B40-CC23-8828-633D-7F296358D19A}"/>
              </a:ext>
            </a:extLst>
          </p:cNvPr>
          <p:cNvSpPr txBox="1"/>
          <p:nvPr/>
        </p:nvSpPr>
        <p:spPr>
          <a:xfrm>
            <a:off x="4077796" y="1625583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m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441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223.4.5     123.22.1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60W light bulb is allowed to burn for 3600s. How much energy has been used?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72000J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144000J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216000J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5400000J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8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5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223.4.6   123.22.2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Suppose I do 50J of work in two hours, then I do 50J of work in one hour. For which set of work was the power larger?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first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second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They are the same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Neither amount of work had power associated with it.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87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223.4.8  123.22.4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If you cup your hand to your ear, you can hear better. This is because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change the frequency of the sound with your hand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collection area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amplitude of the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2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3EBA7D-9A04-4522-9A2F-EC8F4813A80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5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457296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Intensity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DAC785-4362-47EC-9CB8-3B72511717BB}"/>
              </a:ext>
            </a:extLst>
          </p:cNvPr>
          <p:cNvGrpSpPr/>
          <p:nvPr/>
        </p:nvGrpSpPr>
        <p:grpSpPr>
          <a:xfrm>
            <a:off x="2819400" y="1994725"/>
            <a:ext cx="3818906" cy="3372159"/>
            <a:chOff x="2819400" y="1994725"/>
            <a:chExt cx="3818906" cy="3372159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4019795" y="1994725"/>
              <a:ext cx="2618511" cy="25146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4279476" y="2273300"/>
              <a:ext cx="2109448" cy="19812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4539156" y="2490025"/>
              <a:ext cx="1579789" cy="1524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4758571" y="2680525"/>
              <a:ext cx="1140959" cy="1143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4978937" y="2909125"/>
              <a:ext cx="700227" cy="685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5172676" y="3099625"/>
              <a:ext cx="312748" cy="304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5285167" y="3213925"/>
              <a:ext cx="87766" cy="762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6" name="Freeform 13"/>
            <p:cNvSpPr>
              <a:spLocks/>
            </p:cNvSpPr>
            <p:nvPr/>
          </p:nvSpPr>
          <p:spPr bwMode="auto">
            <a:xfrm>
              <a:off x="3691247" y="3525652"/>
              <a:ext cx="304800" cy="914400"/>
            </a:xfrm>
            <a:custGeom>
              <a:avLst/>
              <a:gdLst>
                <a:gd name="T0" fmla="*/ 77 w 480"/>
                <a:gd name="T1" fmla="*/ 0 h 384"/>
                <a:gd name="T2" fmla="*/ 38 w 480"/>
                <a:gd name="T3" fmla="*/ 216 h 384"/>
                <a:gd name="T4" fmla="*/ 46 w 480"/>
                <a:gd name="T5" fmla="*/ 432 h 384"/>
                <a:gd name="T6" fmla="*/ 0 w 480"/>
                <a:gd name="T7" fmla="*/ 864 h 38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80"/>
                <a:gd name="T13" fmla="*/ 0 h 384"/>
                <a:gd name="T14" fmla="*/ 480 w 480"/>
                <a:gd name="T15" fmla="*/ 384 h 38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80" h="384">
                  <a:moveTo>
                    <a:pt x="480" y="0"/>
                  </a:moveTo>
                  <a:cubicBezTo>
                    <a:pt x="376" y="32"/>
                    <a:pt x="272" y="64"/>
                    <a:pt x="240" y="96"/>
                  </a:cubicBezTo>
                  <a:cubicBezTo>
                    <a:pt x="208" y="128"/>
                    <a:pt x="328" y="144"/>
                    <a:pt x="288" y="192"/>
                  </a:cubicBezTo>
                  <a:cubicBezTo>
                    <a:pt x="248" y="240"/>
                    <a:pt x="124" y="312"/>
                    <a:pt x="0" y="384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arrow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5122" name="Object 14"/>
            <p:cNvGraphicFramePr>
              <a:graphicFrameLocks noChangeAspect="1"/>
            </p:cNvGraphicFramePr>
            <p:nvPr/>
          </p:nvGraphicFramePr>
          <p:xfrm>
            <a:off x="2819400" y="4368800"/>
            <a:ext cx="1708150" cy="525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25480" imgH="253800" progId="Equation.3">
                    <p:embed/>
                  </p:oleObj>
                </mc:Choice>
                <mc:Fallback>
                  <p:oleObj name="Equation" r:id="rId2" imgW="825480" imgH="253800" progId="Equation.3">
                    <p:embed/>
                    <p:pic>
                      <p:nvPicPr>
                        <p:cNvPr id="51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19400" y="4368800"/>
                          <a:ext cx="1708150" cy="52546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27" name="Line 15"/>
            <p:cNvSpPr>
              <a:spLocks noChangeShapeType="1"/>
            </p:cNvSpPr>
            <p:nvPr/>
          </p:nvSpPr>
          <p:spPr bwMode="auto">
            <a:xfrm flipV="1">
              <a:off x="4888675" y="3289466"/>
              <a:ext cx="419595" cy="17057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8" name="Text Box 16"/>
            <p:cNvSpPr txBox="1">
              <a:spLocks noChangeArrowheads="1"/>
            </p:cNvSpPr>
            <p:nvPr/>
          </p:nvSpPr>
          <p:spPr bwMode="auto">
            <a:xfrm>
              <a:off x="4154384" y="5000171"/>
              <a:ext cx="14922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Point Source</a:t>
              </a:r>
            </a:p>
          </p:txBody>
        </p:sp>
        <p:sp>
          <p:nvSpPr>
            <p:cNvPr id="5129" name="Line 17"/>
            <p:cNvSpPr>
              <a:spLocks noChangeShapeType="1"/>
            </p:cNvSpPr>
            <p:nvPr/>
          </p:nvSpPr>
          <p:spPr bwMode="auto">
            <a:xfrm flipV="1">
              <a:off x="5320145" y="2094673"/>
              <a:ext cx="494806" cy="11591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Text Box 18"/>
            <p:cNvSpPr txBox="1">
              <a:spLocks noChangeArrowheads="1"/>
            </p:cNvSpPr>
            <p:nvPr/>
          </p:nvSpPr>
          <p:spPr bwMode="auto">
            <a:xfrm>
              <a:off x="5374574" y="2199574"/>
              <a:ext cx="2603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458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276883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223.4.7   123.22.3</a:t>
            </a:r>
          </a:p>
        </p:txBody>
      </p:sp>
      <p:sp>
        <p:nvSpPr>
          <p:cNvPr id="6349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Tuning Fork: Which tuning fork is louder, the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mounted one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free one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3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7EC24E5-89AC-43BC-95C0-434346ACF2A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31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1163638" y="1122363"/>
            <a:ext cx="6262687" cy="4262437"/>
            <a:chOff x="1163783" y="1122218"/>
            <a:chExt cx="6262252" cy="4262460"/>
          </a:xfrm>
        </p:grpSpPr>
        <p:pic>
          <p:nvPicPr>
            <p:cNvPr id="540674" name="Picture 1"/>
            <p:cNvPicPr>
              <a:picLocks noChangeAspect="1" noChangeArrowheads="1"/>
            </p:cNvPicPr>
            <p:nvPr/>
          </p:nvPicPr>
          <p:blipFill>
            <a:blip r:embed="rId2" cstate="print"/>
            <a:srcRect l="20950" b="11513"/>
            <a:stretch>
              <a:fillRect/>
            </a:stretch>
          </p:blipFill>
          <p:spPr bwMode="auto">
            <a:xfrm>
              <a:off x="2355273" y="1122218"/>
              <a:ext cx="5070762" cy="37268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40675" name="TextBox 3"/>
            <p:cNvSpPr txBox="1">
              <a:spLocks noChangeArrowheads="1"/>
            </p:cNvSpPr>
            <p:nvPr/>
          </p:nvSpPr>
          <p:spPr bwMode="auto">
            <a:xfrm>
              <a:off x="1163783" y="2549235"/>
              <a:ext cx="11222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Intensity in W/m</a:t>
              </a:r>
              <a:r>
                <a:rPr lang="en-US" baseline="30000"/>
                <a:t>2</a:t>
              </a:r>
              <a:r>
                <a:rPr lang="en-US"/>
                <a:t> </a:t>
              </a:r>
            </a:p>
          </p:txBody>
        </p:sp>
        <p:sp>
          <p:nvSpPr>
            <p:cNvPr id="540676" name="TextBox 4"/>
            <p:cNvSpPr txBox="1">
              <a:spLocks noChangeArrowheads="1"/>
            </p:cNvSpPr>
            <p:nvPr/>
          </p:nvSpPr>
          <p:spPr bwMode="auto">
            <a:xfrm>
              <a:off x="4308764" y="5015346"/>
              <a:ext cx="192206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Distance in meters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567258" y="4697287"/>
              <a:ext cx="290492" cy="387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27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Title 6"/>
          <p:cNvSpPr>
            <a:spLocks noGrp="1"/>
          </p:cNvSpPr>
          <p:nvPr>
            <p:ph type="title"/>
          </p:nvPr>
        </p:nvSpPr>
        <p:spPr>
          <a:xfrm>
            <a:off x="457201" y="274638"/>
            <a:ext cx="448056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Question 223.4.9</a:t>
            </a:r>
          </a:p>
        </p:txBody>
      </p:sp>
      <p:sp>
        <p:nvSpPr>
          <p:cNvPr id="64516" name="Content Placeholder 7"/>
          <p:cNvSpPr>
            <a:spLocks noGrp="1"/>
          </p:cNvSpPr>
          <p:nvPr>
            <p:ph sz="half" idx="2"/>
          </p:nvPr>
        </p:nvSpPr>
        <p:spPr>
          <a:xfrm>
            <a:off x="524435" y="1210234"/>
            <a:ext cx="4450977" cy="5338483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800" dirty="0">
                <a:solidFill>
                  <a:schemeClr val="bg1"/>
                </a:solidFill>
              </a:rPr>
              <a:t>The Pioneer 10 spacecraft has a large dish antenna, the Earth Observation System spacecraft has a much smaller antenna. Why?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Pioneer 10 is really smaller, it just looks like it is big in the picture.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intensity of the communication signal goes down with the square of the distance. Pioneer 10 must be designed to work farther away.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EOS satellite probably does not need to communicate as much as the Pioneer 10 spacecraft.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Pioneer 10 spacecraft must have a wimpy transceiver.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No good reason, they have artists design the look of these things so they look far out and cool</a:t>
            </a:r>
          </a:p>
        </p:txBody>
      </p:sp>
      <p:sp>
        <p:nvSpPr>
          <p:cNvPr id="6451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B5A48A1-FA10-4297-9A45-A4DF9393E8E1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839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56487" y="3886087"/>
            <a:ext cx="2482044" cy="24413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13495" y="582305"/>
            <a:ext cx="2367887" cy="3157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8466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6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223.4.10  123.22.5</a:t>
            </a:r>
          </a:p>
        </p:txBody>
      </p:sp>
      <p:sp>
        <p:nvSpPr>
          <p:cNvPr id="53965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100W of power coming from my speaker. What is the intensity 0.5m from the speaker?</a:t>
            </a:r>
          </a:p>
          <a:p>
            <a:pPr>
              <a:buFontTx/>
              <a:buNone/>
            </a:pPr>
            <a:r>
              <a:rPr lang="en-US" dirty="0"/>
              <a:t>a) 0.01W</a:t>
            </a:r>
          </a:p>
          <a:p>
            <a:pPr>
              <a:buFontTx/>
              <a:buNone/>
            </a:pPr>
            <a:r>
              <a:rPr lang="en-US" dirty="0"/>
              <a:t>b) Just under 1W</a:t>
            </a:r>
          </a:p>
          <a:p>
            <a:pPr>
              <a:buFontTx/>
              <a:buNone/>
            </a:pPr>
            <a:r>
              <a:rPr lang="en-US" dirty="0"/>
              <a:t>c) A little over 10W</a:t>
            </a:r>
          </a:p>
          <a:p>
            <a:pPr>
              <a:buFontTx/>
              <a:buNone/>
            </a:pPr>
            <a:r>
              <a:rPr lang="en-US" dirty="0"/>
              <a:t>d) A little over 30W</a:t>
            </a:r>
          </a:p>
          <a:p>
            <a:pPr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56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1" name="Title 1"/>
          <p:cNvSpPr>
            <a:spLocks noGrp="1"/>
          </p:cNvSpPr>
          <p:nvPr>
            <p:ph type="title"/>
          </p:nvPr>
        </p:nvSpPr>
        <p:spPr>
          <a:xfrm>
            <a:off x="4616450" y="90488"/>
            <a:ext cx="4305300" cy="914400"/>
          </a:xfrm>
        </p:spPr>
        <p:txBody>
          <a:bodyPr/>
          <a:lstStyle/>
          <a:p>
            <a:r>
              <a:rPr lang="en-US"/>
              <a:t>Intensity</a:t>
            </a:r>
          </a:p>
        </p:txBody>
      </p:sp>
      <p:grpSp>
        <p:nvGrpSpPr>
          <p:cNvPr id="2" name="Group 76"/>
          <p:cNvGrpSpPr>
            <a:grpSpLocks/>
          </p:cNvGrpSpPr>
          <p:nvPr/>
        </p:nvGrpSpPr>
        <p:grpSpPr bwMode="auto">
          <a:xfrm>
            <a:off x="461963" y="682625"/>
            <a:ext cx="5638800" cy="5486400"/>
            <a:chOff x="1676400" y="1371600"/>
            <a:chExt cx="5638800" cy="5486400"/>
          </a:xfrm>
        </p:grpSpPr>
        <p:sp>
          <p:nvSpPr>
            <p:cNvPr id="6" name="Oval 5"/>
            <p:cNvSpPr/>
            <p:nvPr/>
          </p:nvSpPr>
          <p:spPr>
            <a:xfrm>
              <a:off x="1828800" y="1371600"/>
              <a:ext cx="5486400" cy="54864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Arc 53"/>
            <p:cNvSpPr/>
            <p:nvPr/>
          </p:nvSpPr>
          <p:spPr>
            <a:xfrm>
              <a:off x="1676400" y="1371600"/>
              <a:ext cx="5638800" cy="5486400"/>
            </a:xfrm>
            <a:prstGeom prst="arc">
              <a:avLst>
                <a:gd name="adj1" fmla="val 19422644"/>
                <a:gd name="adj2" fmla="val 2217654"/>
              </a:avLst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2743200" y="2247900"/>
              <a:ext cx="3657600" cy="3733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15" name="Straight Connector 14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6019800" y="2362200"/>
              <a:ext cx="685800" cy="34480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6629400" y="2438400"/>
              <a:ext cx="228600" cy="3352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Arc 54"/>
            <p:cNvSpPr/>
            <p:nvPr/>
          </p:nvSpPr>
          <p:spPr>
            <a:xfrm>
              <a:off x="2743200" y="2252663"/>
              <a:ext cx="3657600" cy="3690937"/>
            </a:xfrm>
            <a:prstGeom prst="arc">
              <a:avLst>
                <a:gd name="adj1" fmla="val 19331133"/>
                <a:gd name="adj2" fmla="val 2328634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57800" y="2971800"/>
              <a:ext cx="762000" cy="2286000"/>
            </a:xfrm>
            <a:prstGeom prst="rect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3657600" y="3124200"/>
              <a:ext cx="1828800" cy="1981200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Arc 59"/>
            <p:cNvSpPr/>
            <p:nvPr/>
          </p:nvSpPr>
          <p:spPr>
            <a:xfrm>
              <a:off x="3581400" y="3124200"/>
              <a:ext cx="1905000" cy="1981200"/>
            </a:xfrm>
            <a:prstGeom prst="arc">
              <a:avLst>
                <a:gd name="adj1" fmla="val 19422644"/>
                <a:gd name="adj2" fmla="val 2125500"/>
              </a:avLst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600" b="1" dirty="0"/>
            </a:p>
          </p:txBody>
        </p:sp>
        <p:sp>
          <p:nvSpPr>
            <p:cNvPr id="46" name="Oval 45"/>
            <p:cNvSpPr/>
            <p:nvPr/>
          </p:nvSpPr>
          <p:spPr>
            <a:xfrm>
              <a:off x="5943600" y="2986088"/>
              <a:ext cx="152400" cy="2233612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114800" y="3581400"/>
              <a:ext cx="1219200" cy="10668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63" name="Straight Connector 62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5257800" y="3552825"/>
              <a:ext cx="76200" cy="1119188"/>
            </a:xfrm>
            <a:prstGeom prst="ellipse">
              <a:avLst/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80"/>
          <p:cNvGrpSpPr>
            <a:grpSpLocks/>
          </p:cNvGrpSpPr>
          <p:nvPr/>
        </p:nvGrpSpPr>
        <p:grpSpPr bwMode="auto">
          <a:xfrm rot="-5400000">
            <a:off x="3034506" y="3331370"/>
            <a:ext cx="581025" cy="233362"/>
            <a:chOff x="957263" y="4371974"/>
            <a:chExt cx="581026" cy="233365"/>
          </a:xfrm>
        </p:grpSpPr>
        <p:sp>
          <p:nvSpPr>
            <p:cNvPr id="78" name="Trapezoid 77"/>
            <p:cNvSpPr/>
            <p:nvPr/>
          </p:nvSpPr>
          <p:spPr>
            <a:xfrm>
              <a:off x="957264" y="4449763"/>
              <a:ext cx="581026" cy="155577"/>
            </a:xfrm>
            <a:prstGeom prst="trapezoid">
              <a:avLst>
                <a:gd name="adj" fmla="val 104546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109663" y="4371974"/>
              <a:ext cx="276225" cy="8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83" name="Straight Connector 82"/>
          <p:cNvCxnSpPr/>
          <p:nvPr/>
        </p:nvCxnSpPr>
        <p:spPr>
          <a:xfrm rot="5400000" flipH="1" flipV="1">
            <a:off x="17867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rot="5400000" flipH="1" flipV="1">
            <a:off x="25233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rot="5400000" flipH="1" flipV="1">
            <a:off x="3245644" y="5003007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 rot="5400000" flipH="1" flipV="1">
            <a:off x="3967162" y="5003801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28" name="TextBox 86"/>
          <p:cNvSpPr txBox="1">
            <a:spLocks noChangeArrowheads="1"/>
          </p:cNvSpPr>
          <p:nvPr/>
        </p:nvSpPr>
        <p:spPr bwMode="auto">
          <a:xfrm>
            <a:off x="3432175" y="6340475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10m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343275" y="6310313"/>
            <a:ext cx="749300" cy="1587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/>
          <p:nvPr/>
        </p:nvCxnSpPr>
        <p:spPr>
          <a:xfrm flipV="1">
            <a:off x="3344863" y="5965825"/>
            <a:ext cx="1452562" cy="317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 flipV="1">
            <a:off x="3362325" y="5607050"/>
            <a:ext cx="2214563" cy="476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32" name="TextBox 102"/>
          <p:cNvSpPr txBox="1">
            <a:spLocks noChangeArrowheads="1"/>
          </p:cNvSpPr>
          <p:nvPr/>
        </p:nvSpPr>
        <p:spPr bwMode="auto">
          <a:xfrm>
            <a:off x="4035425" y="5938838"/>
            <a:ext cx="633413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20m</a:t>
            </a:r>
          </a:p>
        </p:txBody>
      </p:sp>
      <p:sp>
        <p:nvSpPr>
          <p:cNvPr id="542733" name="TextBox 103"/>
          <p:cNvSpPr txBox="1">
            <a:spLocks noChangeArrowheads="1"/>
          </p:cNvSpPr>
          <p:nvPr/>
        </p:nvSpPr>
        <p:spPr bwMode="auto">
          <a:xfrm>
            <a:off x="4832350" y="5626100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30m</a:t>
            </a:r>
          </a:p>
        </p:txBody>
      </p:sp>
      <p:cxnSp>
        <p:nvCxnSpPr>
          <p:cNvPr id="105" name="Straight Connector 104"/>
          <p:cNvCxnSpPr/>
          <p:nvPr/>
        </p:nvCxnSpPr>
        <p:spPr>
          <a:xfrm flipH="1" flipV="1">
            <a:off x="4089400" y="400208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H="1" flipV="1">
            <a:off x="4106863" y="2879725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 flipH="1" flipV="1">
            <a:off x="4811713" y="451485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4829175" y="229870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5535613" y="176053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 flipH="1" flipV="1">
            <a:off x="5538788" y="5076825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rot="5400000">
            <a:off x="6183312" y="3440113"/>
            <a:ext cx="1154113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 rot="16200000" flipH="1">
            <a:off x="6549231" y="3418682"/>
            <a:ext cx="2162175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/>
          <p:cNvCxnSpPr/>
          <p:nvPr/>
        </p:nvCxnSpPr>
        <p:spPr>
          <a:xfrm rot="5400000">
            <a:off x="6639719" y="3437731"/>
            <a:ext cx="3317875" cy="1111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43" name="TextBox 119"/>
          <p:cNvSpPr txBox="1">
            <a:spLocks noChangeArrowheads="1"/>
          </p:cNvSpPr>
          <p:nvPr/>
        </p:nvSpPr>
        <p:spPr bwMode="auto">
          <a:xfrm>
            <a:off x="6837363" y="3240088"/>
            <a:ext cx="50641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1m</a:t>
            </a:r>
          </a:p>
        </p:txBody>
      </p:sp>
      <p:sp>
        <p:nvSpPr>
          <p:cNvPr id="542744" name="TextBox 120"/>
          <p:cNvSpPr txBox="1">
            <a:spLocks noChangeArrowheads="1"/>
          </p:cNvSpPr>
          <p:nvPr/>
        </p:nvSpPr>
        <p:spPr bwMode="auto">
          <a:xfrm>
            <a:off x="7634288" y="3243263"/>
            <a:ext cx="506412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2m</a:t>
            </a:r>
          </a:p>
        </p:txBody>
      </p:sp>
      <p:sp>
        <p:nvSpPr>
          <p:cNvPr id="542745" name="TextBox 121"/>
          <p:cNvSpPr txBox="1">
            <a:spLocks noChangeArrowheads="1"/>
          </p:cNvSpPr>
          <p:nvPr/>
        </p:nvSpPr>
        <p:spPr bwMode="auto">
          <a:xfrm>
            <a:off x="8356600" y="3244850"/>
            <a:ext cx="506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3m</a:t>
            </a:r>
          </a:p>
        </p:txBody>
      </p:sp>
    </p:spTree>
    <p:extLst>
      <p:ext uri="{BB962C8B-B14F-4D97-AF65-F5344CB8AC3E}">
        <p14:creationId xmlns:p14="http://schemas.microsoft.com/office/powerpoint/2010/main" val="376795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437189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16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68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5280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82836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2850701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268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447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2790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3802063" y="1944688"/>
            <a:ext cx="5167312" cy="4427537"/>
            <a:chOff x="2395" y="1225"/>
            <a:chExt cx="3255" cy="2789"/>
          </a:xfrm>
        </p:grpSpPr>
        <p:sp>
          <p:nvSpPr>
            <p:cNvPr id="63496" name="Rectangle 5"/>
            <p:cNvSpPr>
              <a:spLocks noChangeArrowheads="1"/>
            </p:cNvSpPr>
            <p:nvPr/>
          </p:nvSpPr>
          <p:spPr bwMode="auto">
            <a:xfrm>
              <a:off x="2395" y="1225"/>
              <a:ext cx="3255" cy="2789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3497" name="Picture 4" descr="11_3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496" y="1348"/>
              <a:ext cx="3072" cy="2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61984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3473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Does a wave on a string move faster for a heavier or lighter rope?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heavier 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lighter</a:t>
            </a:r>
          </a:p>
        </p:txBody>
      </p:sp>
    </p:spTree>
    <p:extLst>
      <p:ext uri="{BB962C8B-B14F-4D97-AF65-F5344CB8AC3E}">
        <p14:creationId xmlns:p14="http://schemas.microsoft.com/office/powerpoint/2010/main" val="3748942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352178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6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80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1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454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89658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770812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223.5.5 Question 123.22.16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7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H-6JG0NeGg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932873"/>
            <a:ext cx="8991858" cy="505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9206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0632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10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98675" y="825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2800" y="3111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7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82800" y="5332413"/>
            <a:ext cx="4938713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262438" y="4826000"/>
            <a:ext cx="619125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267200" y="50276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0213" y="2817813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 rot="16200000">
            <a:off x="4239418" y="2818607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4388" y="392113"/>
            <a:ext cx="4975225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17204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11.3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19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g_gree_purple_separat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301875"/>
            <a:ext cx="9058275" cy="278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095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177" name="Picture 3" descr="wave_addition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50" y="0"/>
            <a:ext cx="85725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908020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7IxJ52u7U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69454" y="1042555"/>
            <a:ext cx="8054109" cy="45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2791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GN_HO7_lUg"/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40146" y="774701"/>
            <a:ext cx="8802254" cy="4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19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223.5.6</a:t>
            </a:r>
          </a:p>
        </p:txBody>
      </p:sp>
      <p:sp>
        <p:nvSpPr>
          <p:cNvPr id="70660" name="Rectangle 3"/>
          <p:cNvSpPr>
            <a:spLocks noGrp="1" noChangeArrowheads="1"/>
          </p:cNvSpPr>
          <p:nvPr>
            <p:ph idx="1"/>
          </p:nvPr>
        </p:nvSpPr>
        <p:spPr>
          <a:xfrm>
            <a:off x="476250" y="1371600"/>
            <a:ext cx="82296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pulses travel along a string in opposite directions. One pulse is inverted. When they meet, the string looks flat. Something must have canceled out.  What is it?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Wave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Segment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Energy of the waves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Power of the waves</a:t>
            </a:r>
          </a:p>
        </p:txBody>
      </p:sp>
      <p:sp>
        <p:nvSpPr>
          <p:cNvPr id="70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539879-F00E-4549-815A-3F0634DD449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392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5CFB2C-8482-45E7-1C60-1EC4FF387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554" y="1225549"/>
            <a:ext cx="2500313" cy="2960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74B5DD-1502-7F70-F943-FA98E0CB0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132" y="1291408"/>
            <a:ext cx="2963991" cy="36785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D4C04-DFB7-07C9-41F5-EF5B7B27FA7D}"/>
              </a:ext>
            </a:extLst>
          </p:cNvPr>
          <p:cNvSpPr txBox="1"/>
          <p:nvPr/>
        </p:nvSpPr>
        <p:spPr>
          <a:xfrm>
            <a:off x="2593710" y="6099992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http://commons.wikimedia.org/wiki/File:Destructive_interference1.svg)</a:t>
            </a:r>
            <a:endParaRPr lang="en-US" sz="10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282A0F-BDA5-59B5-B104-AAEECDD47CB5}"/>
              </a:ext>
            </a:extLst>
          </p:cNvPr>
          <p:cNvSpPr txBox="1"/>
          <p:nvPr/>
        </p:nvSpPr>
        <p:spPr>
          <a:xfrm>
            <a:off x="2593710" y="636160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http://commons.wikimedia.org/wiki/File:Destructive_interference1.svg)</a:t>
            </a:r>
          </a:p>
        </p:txBody>
      </p:sp>
    </p:spTree>
    <p:extLst>
      <p:ext uri="{BB962C8B-B14F-4D97-AF65-F5344CB8AC3E}">
        <p14:creationId xmlns:p14="http://schemas.microsoft.com/office/powerpoint/2010/main" val="17246849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6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half a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Half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82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078" y="5383129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00789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whole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Constructive Interference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Destructive Interference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72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3677" y="5106402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77147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larger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A miracle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806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smaller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Depressing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6178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Sometimes we get constructive and sometimes destructive interference. What makes the difference?</a:t>
            </a:r>
          </a:p>
          <a:p>
            <a:pPr marL="514350" indent="-514350">
              <a:buAutoNum type="alphaLcParenR"/>
            </a:pPr>
            <a:r>
              <a:rPr lang="en-US" dirty="0"/>
              <a:t>The relative amplitude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relative phase constant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wavelength of the waves</a:t>
            </a:r>
          </a:p>
          <a:p>
            <a:pPr marL="514350" indent="-514350">
              <a:buAutoNum type="alphaLcParenR"/>
            </a:pPr>
            <a:r>
              <a:rPr lang="en-US" dirty="0"/>
              <a:t>Random 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98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59577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846752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181517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410409" y="322414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808037" cy="85486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3400425"/>
            <a:ext cx="809625" cy="79533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54805" y="3067028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97680" y="2066903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flipV="1">
            <a:off x="846446" y="3234519"/>
            <a:ext cx="518330" cy="103652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158522" y="3648576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Full wavelength farther from the green wave center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725477" y="1630175"/>
            <a:ext cx="224292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49688" y="82014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010769" y="13819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777318" y="2241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929718" y="3062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453343" y="32436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377518" y="2681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158193" y="31197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625043" y="29007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705684" y="44623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2902138" y="525879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2363194" y="48490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3529793" y="56915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1092508" cy="3503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879678"/>
            <a:ext cx="1080448" cy="131608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6737" y="2230675"/>
            <a:ext cx="2116138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rot="5400000" flipH="1" flipV="1">
            <a:off x="1513906" y="3015302"/>
            <a:ext cx="43815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963738" y="3252788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Half a wavelength farther from the green wave center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3312331" y="2640107"/>
            <a:ext cx="229742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18841" y="236234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48913" y="1968833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3592633" y="1698152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713221" y="3739489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471241" y="394349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187038" y="4092908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3916483" y="4222277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7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4.5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3425192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77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6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19901057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1343025" y="12525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1319213" y="4924425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8" name="Straight Connector 37"/>
          <p:cNvCxnSpPr/>
          <p:nvPr/>
        </p:nvCxnSpPr>
        <p:spPr>
          <a:xfrm flipH="1">
            <a:off x="742950" y="3400425"/>
            <a:ext cx="477202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1171575" y="1548594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52525" y="3386919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7250" y="220027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01002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64" name="Oval 63"/>
          <p:cNvSpPr/>
          <p:nvPr/>
        </p:nvSpPr>
        <p:spPr>
          <a:xfrm>
            <a:off x="4421308" y="1440977"/>
            <a:ext cx="236417" cy="273523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8" name="Straight Connector 67"/>
          <p:cNvCxnSpPr>
            <a:stCxn id="32" idx="2"/>
            <a:endCxn id="64" idx="2"/>
          </p:cNvCxnSpPr>
          <p:nvPr/>
        </p:nvCxnSpPr>
        <p:spPr>
          <a:xfrm>
            <a:off x="1906588" y="1574006"/>
            <a:ext cx="2514720" cy="3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34" idx="2"/>
            <a:endCxn id="64" idx="7"/>
          </p:cNvCxnSpPr>
          <p:nvPr/>
        </p:nvCxnSpPr>
        <p:spPr>
          <a:xfrm flipV="1">
            <a:off x="1876425" y="1481033"/>
            <a:ext cx="2746678" cy="3772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>
            <a:off x="1771651" y="914400"/>
            <a:ext cx="2800349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895600" y="609600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3m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0358E7-5ABA-69A2-E2B3-B3C44C1A06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0BA4F39-95C8-22FC-D198-3A41F6A5C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585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223.4.5.1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the index of refraction is  n = 2, how fast is the light going in the material medium?</a:t>
            </a:r>
          </a:p>
          <a:p>
            <a:pPr marL="514350" indent="-514350">
              <a:buAutoNum type="alphaLcParenR"/>
            </a:pPr>
            <a:r>
              <a:rPr lang="en-US" dirty="0"/>
              <a:t>Twice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Half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A quarter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1/16 the speed of light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8964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7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223.4.11  123.22.7</a:t>
            </a:r>
          </a:p>
        </p:txBody>
      </p:sp>
      <p:sp>
        <p:nvSpPr>
          <p:cNvPr id="54579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1m away from that loud speaker I measure an intensity of 1W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3dB</a:t>
            </a:r>
          </a:p>
          <a:p>
            <a:pPr>
              <a:buFontTx/>
              <a:buNone/>
            </a:pPr>
            <a:r>
              <a:rPr lang="en-US" b="1" dirty="0"/>
              <a:t>b) 10dB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653011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45" name="Object 1"/>
          <p:cNvGraphicFramePr>
            <a:graphicFrameLocks noChangeAspect="1"/>
          </p:cNvGraphicFramePr>
          <p:nvPr/>
        </p:nvGraphicFramePr>
        <p:xfrm>
          <a:off x="519113" y="685800"/>
          <a:ext cx="8183562" cy="525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32040" imgH="2336760" progId="Equation.3">
                  <p:embed/>
                </p:oleObj>
              </mc:Choice>
              <mc:Fallback>
                <p:oleObj name="Equation" r:id="rId2" imgW="3632040" imgH="2336760" progId="Equation.3">
                  <p:embed/>
                  <p:pic>
                    <p:nvPicPr>
                      <p:cNvPr id="3174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9113" y="685800"/>
                        <a:ext cx="8183562" cy="5257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258306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81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223.4.12 123.22.8</a:t>
            </a:r>
          </a:p>
        </p:txBody>
      </p:sp>
      <p:sp>
        <p:nvSpPr>
          <p:cNvPr id="54681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10m away from that loud speaker I measure an intensity of 0.01 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30dB</a:t>
            </a:r>
          </a:p>
          <a:p>
            <a:pPr>
              <a:buFontTx/>
              <a:buNone/>
            </a:pPr>
            <a:r>
              <a:rPr lang="en-US" b="1" dirty="0"/>
              <a:t>b) 100dB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770899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223.4.13 123.22.9</a:t>
            </a:r>
          </a:p>
        </p:txBody>
      </p:sp>
      <p:sp>
        <p:nvSpPr>
          <p:cNvPr id="547842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b="1" dirty="0"/>
              <a:t>Suppose I have two French horn players both playing the same note at the same time.  I stand a meter away and find that they are each playing with an intensity of  0.00001 W/m</a:t>
            </a:r>
            <a:r>
              <a:rPr lang="en-US" b="1" baseline="30000" dirty="0"/>
              <a:t>2</a:t>
            </a:r>
            <a:r>
              <a:rPr lang="en-US" b="1" dirty="0"/>
              <a:t>. What is the sound level? </a:t>
            </a:r>
          </a:p>
          <a:p>
            <a:pPr>
              <a:buFontTx/>
              <a:buNone/>
            </a:pPr>
            <a:r>
              <a:rPr lang="en-US" b="1" dirty="0"/>
              <a:t>a) 0.00001</a:t>
            </a:r>
          </a:p>
          <a:p>
            <a:pPr>
              <a:buFontTx/>
              <a:buNone/>
            </a:pPr>
            <a:r>
              <a:rPr lang="en-US" b="1" dirty="0"/>
              <a:t>b) 70dB</a:t>
            </a:r>
          </a:p>
          <a:p>
            <a:pPr>
              <a:buFontTx/>
              <a:buNone/>
            </a:pPr>
            <a:r>
              <a:rPr lang="en-US" b="1" dirty="0"/>
              <a:t>c) 73dB</a:t>
            </a:r>
          </a:p>
          <a:p>
            <a:pPr>
              <a:buFontTx/>
              <a:buNone/>
            </a:pPr>
            <a:r>
              <a:rPr lang="en-US" b="1" dirty="0"/>
              <a:t>d) 1400dB</a:t>
            </a:r>
          </a:p>
        </p:txBody>
      </p:sp>
    </p:spTree>
    <p:extLst>
      <p:ext uri="{BB962C8B-B14F-4D97-AF65-F5344CB8AC3E}">
        <p14:creationId xmlns:p14="http://schemas.microsoft.com/office/powerpoint/2010/main" val="323551458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865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223.4.14  123.22.10</a:t>
            </a:r>
          </a:p>
        </p:txBody>
      </p:sp>
      <p:sp>
        <p:nvSpPr>
          <p:cNvPr id="54886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50W . You are 20m  from the sound system output. What is the sound level? </a:t>
            </a:r>
          </a:p>
          <a:p>
            <a:pPr>
              <a:buFontTx/>
              <a:buNone/>
            </a:pPr>
            <a:r>
              <a:rPr lang="en-US" b="1" dirty="0"/>
              <a:t>a) 78dB</a:t>
            </a:r>
          </a:p>
          <a:p>
            <a:pPr>
              <a:buFontTx/>
              <a:buNone/>
            </a:pPr>
            <a:r>
              <a:rPr lang="en-US" b="1" dirty="0"/>
              <a:t>b) 80dB</a:t>
            </a:r>
          </a:p>
          <a:p>
            <a:pPr>
              <a:buFontTx/>
              <a:buNone/>
            </a:pPr>
            <a:r>
              <a:rPr lang="en-US" b="1" dirty="0"/>
              <a:t>c) 100dB</a:t>
            </a:r>
          </a:p>
          <a:p>
            <a:pPr>
              <a:buFontTx/>
              <a:buNone/>
            </a:pPr>
            <a:r>
              <a:rPr lang="en-US" b="1" dirty="0"/>
              <a:t>d) 120dB</a:t>
            </a:r>
          </a:p>
        </p:txBody>
      </p:sp>
    </p:spTree>
    <p:extLst>
      <p:ext uri="{BB962C8B-B14F-4D97-AF65-F5344CB8AC3E}">
        <p14:creationId xmlns:p14="http://schemas.microsoft.com/office/powerpoint/2010/main" val="112396318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8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223.4.15 GR 123.22.11 GR</a:t>
            </a:r>
          </a:p>
        </p:txBody>
      </p:sp>
      <p:sp>
        <p:nvSpPr>
          <p:cNvPr id="54989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standing outside a Guns &amp; Roses Concert. The concert is in a stadium. You are 40 m from the stadium. You have a sound level meter with you and find that where you stand the sound level is 120dB. How much acoustic power are the “musicians” creating at their output location?</a:t>
            </a:r>
          </a:p>
          <a:p>
            <a:pPr>
              <a:buFontTx/>
              <a:buNone/>
            </a:pPr>
            <a:r>
              <a:rPr lang="en-US" b="1" dirty="0"/>
              <a:t>a) 78W</a:t>
            </a:r>
          </a:p>
          <a:p>
            <a:pPr>
              <a:buFontTx/>
              <a:buNone/>
            </a:pPr>
            <a:r>
              <a:rPr lang="en-US" b="1" dirty="0"/>
              <a:t>b) 134W</a:t>
            </a:r>
          </a:p>
          <a:p>
            <a:pPr>
              <a:buFontTx/>
              <a:buNone/>
            </a:pPr>
            <a:r>
              <a:rPr lang="en-US" b="1" dirty="0"/>
              <a:t>c) 545W</a:t>
            </a:r>
          </a:p>
          <a:p>
            <a:pPr>
              <a:buFontTx/>
              <a:buNone/>
            </a:pPr>
            <a:r>
              <a:rPr lang="en-US" b="1" dirty="0"/>
              <a:t>d) 20106W</a:t>
            </a:r>
          </a:p>
        </p:txBody>
      </p:sp>
    </p:spTree>
    <p:extLst>
      <p:ext uri="{BB962C8B-B14F-4D97-AF65-F5344CB8AC3E}">
        <p14:creationId xmlns:p14="http://schemas.microsoft.com/office/powerpoint/2010/main" val="39127377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223.4.16  123.22.12</a:t>
            </a:r>
          </a:p>
        </p:txBody>
      </p:sp>
      <p:sp>
        <p:nvSpPr>
          <p:cNvPr id="550914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100W . You are 10m  from the sound system output. What is the sound level? We can find this using our new SIL equation that includes power and distance.</a:t>
            </a:r>
          </a:p>
          <a:p>
            <a:pPr>
              <a:buFontTx/>
              <a:buNone/>
            </a:pPr>
            <a:r>
              <a:rPr lang="en-US" b="1" dirty="0"/>
              <a:t>a)50dB</a:t>
            </a:r>
          </a:p>
          <a:p>
            <a:pPr>
              <a:buFontTx/>
              <a:buNone/>
            </a:pPr>
            <a:r>
              <a:rPr lang="en-US" b="1" dirty="0"/>
              <a:t>b) 78dB</a:t>
            </a:r>
          </a:p>
          <a:p>
            <a:pPr>
              <a:buFontTx/>
              <a:buNone/>
            </a:pPr>
            <a:r>
              <a:rPr lang="en-US" b="1" dirty="0"/>
              <a:t>c) 109dB</a:t>
            </a:r>
          </a:p>
          <a:p>
            <a:pPr>
              <a:buFontTx/>
              <a:buNone/>
            </a:pPr>
            <a:r>
              <a:rPr lang="en-US" b="1" dirty="0"/>
              <a:t>d) 140dB</a:t>
            </a:r>
          </a:p>
        </p:txBody>
      </p:sp>
    </p:spTree>
    <p:extLst>
      <p:ext uri="{BB962C8B-B14F-4D97-AF65-F5344CB8AC3E}">
        <p14:creationId xmlns:p14="http://schemas.microsoft.com/office/powerpoint/2010/main" val="33256226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Sonic Boom Setup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1873250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797300" y="1571625"/>
            <a:ext cx="4897438" cy="4876800"/>
            <a:chOff x="2392" y="990"/>
            <a:chExt cx="3085" cy="307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392" y="990"/>
              <a:ext cx="3085" cy="3072"/>
              <a:chOff x="2392" y="990"/>
              <a:chExt cx="3085" cy="3072"/>
            </a:xfrm>
          </p:grpSpPr>
          <p:sp>
            <p:nvSpPr>
              <p:cNvPr id="50185" name="AutoShape 6"/>
              <p:cNvSpPr>
                <a:spLocks noChangeArrowheads="1"/>
              </p:cNvSpPr>
              <p:nvPr/>
            </p:nvSpPr>
            <p:spPr bwMode="auto">
              <a:xfrm rot="5400000">
                <a:off x="2158" y="1326"/>
                <a:ext cx="3072" cy="24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6" name="Line 7"/>
              <p:cNvSpPr>
                <a:spLocks noChangeShapeType="1"/>
              </p:cNvSpPr>
              <p:nvPr/>
            </p:nvSpPr>
            <p:spPr bwMode="auto">
              <a:xfrm flipV="1">
                <a:off x="2392" y="2530"/>
                <a:ext cx="3085" cy="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7" name="Oval 8"/>
              <p:cNvSpPr>
                <a:spLocks noChangeArrowheads="1"/>
              </p:cNvSpPr>
              <p:nvPr/>
            </p:nvSpPr>
            <p:spPr bwMode="auto">
              <a:xfrm>
                <a:off x="2706" y="1746"/>
                <a:ext cx="1518" cy="1554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8" name="Oval 9"/>
              <p:cNvSpPr>
                <a:spLocks noChangeArrowheads="1"/>
              </p:cNvSpPr>
              <p:nvPr/>
            </p:nvSpPr>
            <p:spPr bwMode="auto">
              <a:xfrm>
                <a:off x="3437" y="2495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3251" y="1932"/>
                <a:ext cx="1116" cy="1189"/>
                <a:chOff x="2706" y="1746"/>
                <a:chExt cx="1518" cy="1554"/>
              </a:xfrm>
            </p:grpSpPr>
            <p:sp>
              <p:nvSpPr>
                <p:cNvPr id="50215" name="Oval 11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6" name="Oval 12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3777" y="2128"/>
                <a:ext cx="749" cy="796"/>
                <a:chOff x="2706" y="1746"/>
                <a:chExt cx="1518" cy="1554"/>
              </a:xfrm>
            </p:grpSpPr>
            <p:sp>
              <p:nvSpPr>
                <p:cNvPr id="50213" name="Oval 14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4" name="Oval 15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4295" y="2317"/>
                <a:ext cx="409" cy="419"/>
                <a:chOff x="2706" y="1746"/>
                <a:chExt cx="1518" cy="1554"/>
              </a:xfrm>
            </p:grpSpPr>
            <p:sp>
              <p:nvSpPr>
                <p:cNvPr id="50211" name="Oval 17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2" name="Oval 18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4746" y="2467"/>
                <a:ext cx="99" cy="115"/>
                <a:chOff x="2706" y="1746"/>
                <a:chExt cx="1518" cy="1554"/>
              </a:xfrm>
            </p:grpSpPr>
            <p:sp>
              <p:nvSpPr>
                <p:cNvPr id="50209" name="Oval 20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0" name="Oval 21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50193" name="Oval 22"/>
              <p:cNvSpPr>
                <a:spLocks noChangeArrowheads="1"/>
              </p:cNvSpPr>
              <p:nvPr/>
            </p:nvSpPr>
            <p:spPr bwMode="auto">
              <a:xfrm>
                <a:off x="3785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4" name="Oval 23"/>
              <p:cNvSpPr>
                <a:spLocks noChangeArrowheads="1"/>
              </p:cNvSpPr>
              <p:nvPr/>
            </p:nvSpPr>
            <p:spPr bwMode="auto">
              <a:xfrm>
                <a:off x="412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5" name="Oval 24"/>
              <p:cNvSpPr>
                <a:spLocks noChangeArrowheads="1"/>
              </p:cNvSpPr>
              <p:nvPr/>
            </p:nvSpPr>
            <p:spPr bwMode="auto">
              <a:xfrm>
                <a:off x="4477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6" name="Oval 25"/>
              <p:cNvSpPr>
                <a:spLocks noChangeArrowheads="1"/>
              </p:cNvSpPr>
              <p:nvPr/>
            </p:nvSpPr>
            <p:spPr bwMode="auto">
              <a:xfrm>
                <a:off x="476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7" name="Text Box 26"/>
              <p:cNvSpPr txBox="1">
                <a:spLocks noChangeArrowheads="1"/>
              </p:cNvSpPr>
              <p:nvPr/>
            </p:nvSpPr>
            <p:spPr bwMode="auto">
              <a:xfrm>
                <a:off x="3447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o</a:t>
                </a:r>
              </a:p>
            </p:txBody>
          </p:sp>
          <p:sp>
            <p:nvSpPr>
              <p:cNvPr id="50198" name="Text Box 27"/>
              <p:cNvSpPr txBox="1">
                <a:spLocks noChangeArrowheads="1"/>
              </p:cNvSpPr>
              <p:nvPr/>
            </p:nvSpPr>
            <p:spPr bwMode="auto">
              <a:xfrm>
                <a:off x="3759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1</a:t>
                </a:r>
              </a:p>
            </p:txBody>
          </p:sp>
          <p:sp>
            <p:nvSpPr>
              <p:cNvPr id="50199" name="Text Box 28"/>
              <p:cNvSpPr txBox="1">
                <a:spLocks noChangeArrowheads="1"/>
              </p:cNvSpPr>
              <p:nvPr/>
            </p:nvSpPr>
            <p:spPr bwMode="auto">
              <a:xfrm>
                <a:off x="4127" y="2479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2</a:t>
                </a:r>
              </a:p>
            </p:txBody>
          </p:sp>
          <p:sp>
            <p:nvSpPr>
              <p:cNvPr id="50200" name="Text Box 29"/>
              <p:cNvSpPr txBox="1">
                <a:spLocks noChangeArrowheads="1"/>
              </p:cNvSpPr>
              <p:nvPr/>
            </p:nvSpPr>
            <p:spPr bwMode="auto">
              <a:xfrm>
                <a:off x="4463" y="2487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3</a:t>
                </a:r>
              </a:p>
            </p:txBody>
          </p:sp>
          <p:sp>
            <p:nvSpPr>
              <p:cNvPr id="50201" name="Text Box 30"/>
              <p:cNvSpPr txBox="1">
                <a:spLocks noChangeArrowheads="1"/>
              </p:cNvSpPr>
              <p:nvPr/>
            </p:nvSpPr>
            <p:spPr bwMode="auto">
              <a:xfrm>
                <a:off x="4679" y="2543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4</a:t>
                </a:r>
              </a:p>
            </p:txBody>
          </p:sp>
          <p:sp>
            <p:nvSpPr>
              <p:cNvPr id="50202" name="Text Box 31"/>
              <p:cNvSpPr txBox="1">
                <a:spLocks noChangeArrowheads="1"/>
              </p:cNvSpPr>
              <p:nvPr/>
            </p:nvSpPr>
            <p:spPr bwMode="auto">
              <a:xfrm>
                <a:off x="4879" y="2271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n</a:t>
                </a:r>
              </a:p>
            </p:txBody>
          </p:sp>
          <p:sp>
            <p:nvSpPr>
              <p:cNvPr id="50203" name="Line 32"/>
              <p:cNvSpPr>
                <a:spLocks noChangeShapeType="1"/>
              </p:cNvSpPr>
              <p:nvPr/>
            </p:nvSpPr>
            <p:spPr bwMode="auto">
              <a:xfrm>
                <a:off x="345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4" name="Line 33"/>
              <p:cNvSpPr>
                <a:spLocks noChangeShapeType="1"/>
              </p:cNvSpPr>
              <p:nvPr/>
            </p:nvSpPr>
            <p:spPr bwMode="auto">
              <a:xfrm>
                <a:off x="489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5" name="Line 34"/>
              <p:cNvSpPr>
                <a:spLocks noChangeShapeType="1"/>
              </p:cNvSpPr>
              <p:nvPr/>
            </p:nvSpPr>
            <p:spPr bwMode="auto">
              <a:xfrm>
                <a:off x="3464" y="3544"/>
                <a:ext cx="143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6" name="Text Box 35"/>
              <p:cNvSpPr txBox="1">
                <a:spLocks noChangeArrowheads="1"/>
              </p:cNvSpPr>
              <p:nvPr/>
            </p:nvSpPr>
            <p:spPr bwMode="auto">
              <a:xfrm>
                <a:off x="4085" y="3423"/>
                <a:ext cx="27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v</a:t>
                </a:r>
                <a:r>
                  <a:rPr lang="en-US" baseline="-25000"/>
                  <a:t>s</a:t>
                </a:r>
                <a:r>
                  <a:rPr lang="en-US"/>
                  <a:t>t</a:t>
                </a:r>
                <a:endParaRPr lang="en-US" baseline="-25000"/>
              </a:p>
            </p:txBody>
          </p:sp>
          <p:sp>
            <p:nvSpPr>
              <p:cNvPr id="50207" name="Line 36"/>
              <p:cNvSpPr>
                <a:spLocks noChangeShapeType="1"/>
              </p:cNvSpPr>
              <p:nvPr/>
            </p:nvSpPr>
            <p:spPr bwMode="auto">
              <a:xfrm>
                <a:off x="4376" y="1800"/>
                <a:ext cx="480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8" name="Text Box 37"/>
              <p:cNvSpPr txBox="1">
                <a:spLocks noChangeArrowheads="1"/>
              </p:cNvSpPr>
              <p:nvPr/>
            </p:nvSpPr>
            <p:spPr bwMode="auto">
              <a:xfrm>
                <a:off x="4423" y="1455"/>
                <a:ext cx="241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v</a:t>
                </a:r>
                <a:r>
                  <a:rPr lang="en-US" baseline="-25000">
                    <a:solidFill>
                      <a:srgbClr val="FF0000"/>
                    </a:solidFill>
                  </a:rPr>
                  <a:t>s</a:t>
                </a:r>
              </a:p>
            </p:txBody>
          </p:sp>
        </p:grpSp>
        <p:sp>
          <p:nvSpPr>
            <p:cNvPr id="50182" name="Line 38"/>
            <p:cNvSpPr>
              <a:spLocks noChangeShapeType="1"/>
            </p:cNvSpPr>
            <p:nvPr/>
          </p:nvSpPr>
          <p:spPr bwMode="auto">
            <a:xfrm flipH="1" flipV="1">
              <a:off x="2496" y="992"/>
              <a:ext cx="2400" cy="1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3" name="Arc 39"/>
            <p:cNvSpPr>
              <a:spLocks/>
            </p:cNvSpPr>
            <p:nvPr/>
          </p:nvSpPr>
          <p:spPr bwMode="auto">
            <a:xfrm flipH="1">
              <a:off x="3632" y="1891"/>
              <a:ext cx="328" cy="637"/>
            </a:xfrm>
            <a:custGeom>
              <a:avLst/>
              <a:gdLst>
                <a:gd name="T0" fmla="*/ 0 w 21600"/>
                <a:gd name="T1" fmla="*/ 0 h 20092"/>
                <a:gd name="T2" fmla="*/ 0 w 21600"/>
                <a:gd name="T3" fmla="*/ 1 h 20092"/>
                <a:gd name="T4" fmla="*/ 0 w 21600"/>
                <a:gd name="T5" fmla="*/ 1 h 200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092"/>
                <a:gd name="T11" fmla="*/ 21600 w 21600"/>
                <a:gd name="T12" fmla="*/ 20092 h 200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092" fill="none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</a:path>
                <a:path w="21600" h="20092" stroke="0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  <a:lnTo>
                    <a:pt x="0" y="200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4" name="Text Box 40"/>
            <p:cNvSpPr txBox="1">
              <a:spLocks noChangeArrowheads="1"/>
            </p:cNvSpPr>
            <p:nvPr/>
          </p:nvSpPr>
          <p:spPr bwMode="auto">
            <a:xfrm>
              <a:off x="3457" y="2085"/>
              <a:ext cx="19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62619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upload.wikimedia.org/wikipedia/commons/thumb/0/0d/US_Navy_070205-N-6436W-127_Patrol_Boats_assigned_to_Inshore_Boat_Units_Five_One_%28IBU-51%29_and_IBU-52_conduct_operations_near_Coronado_Bay_Bridge.jpg/800px-US_Navy_070205-N-6436W-127_Patrol_Boats_assigned_to_Inshore_Boat_Units_Five_One_%28IBU-51%29_and_IBU-52_conduct_operations_near_Coronado_Bay_Bridg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43"/>
          <a:stretch/>
        </p:blipFill>
        <p:spPr bwMode="auto">
          <a:xfrm>
            <a:off x="1539324" y="-1"/>
            <a:ext cx="6312905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2369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https://upload.wikimedia.org/wikipedia/commons/5/52/Sonic_boom_clou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4" y="0"/>
            <a:ext cx="7682139" cy="684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8805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QX04ySm4TTk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370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524625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2249</Words>
  <Application>Microsoft Office PowerPoint</Application>
  <PresentationFormat>On-screen Show (4:3)</PresentationFormat>
  <Paragraphs>382</Paragraphs>
  <Slides>86</Slides>
  <Notes>1</Notes>
  <HiddenSlides>0</HiddenSlides>
  <MMClips>8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Symbol</vt:lpstr>
      <vt:lpstr>Office Theme</vt:lpstr>
      <vt:lpstr>Equation</vt:lpstr>
      <vt:lpstr>Lecture 6</vt:lpstr>
      <vt:lpstr>Question</vt:lpstr>
      <vt:lpstr>PowerPoint Presentation</vt:lpstr>
      <vt:lpstr>Question  223.4.5     123.22.1</vt:lpstr>
      <vt:lpstr>Question 223.4.6   123.22.2</vt:lpstr>
      <vt:lpstr>Question 223.4.8  123.22.4</vt:lpstr>
      <vt:lpstr>PowerPoint Presentation</vt:lpstr>
      <vt:lpstr>Intensity</vt:lpstr>
      <vt:lpstr>PowerPoint Presentation</vt:lpstr>
      <vt:lpstr>Question 223.4.7   123.22.3</vt:lpstr>
      <vt:lpstr>PowerPoint Presentation</vt:lpstr>
      <vt:lpstr>Question 223.4.9</vt:lpstr>
      <vt:lpstr>Question 223.4.10  123.22.5</vt:lpstr>
      <vt:lpstr>Intensity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Question 123.21.6</vt:lpstr>
      <vt:lpstr>Question 123.21.7</vt:lpstr>
      <vt:lpstr>Question 16.9</vt:lpstr>
      <vt:lpstr>Question 16.10</vt:lpstr>
      <vt:lpstr>Question 16.11</vt:lpstr>
      <vt:lpstr>Question 123.21.8</vt:lpstr>
      <vt:lpstr>Consider momentum</vt:lpstr>
      <vt:lpstr>Superposition With and Inverted Pulse</vt:lpstr>
      <vt:lpstr>Question 223.5.5 Question 123.22.16</vt:lpstr>
      <vt:lpstr>PowerPoint Presentation</vt:lpstr>
      <vt:lpstr>PowerPoint Presentation</vt:lpstr>
      <vt:lpstr>PowerPoint Presentation</vt:lpstr>
      <vt:lpstr>Question 11.3</vt:lpstr>
      <vt:lpstr>PowerPoint Presentation</vt:lpstr>
      <vt:lpstr>PowerPoint Presentation</vt:lpstr>
      <vt:lpstr>PowerPoint Presentation</vt:lpstr>
      <vt:lpstr>PowerPoint Presentation</vt:lpstr>
      <vt:lpstr>Question 223.5.6</vt:lpstr>
      <vt:lpstr>PowerPoint Presentation</vt:lpstr>
      <vt:lpstr>Question 223.5.7</vt:lpstr>
      <vt:lpstr>Question 223.5.8</vt:lpstr>
      <vt:lpstr>Question 223.6.0.1</vt:lpstr>
      <vt:lpstr>Question 223.6.0.2</vt:lpstr>
      <vt:lpstr>Question 223.6.0.3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223.8.3</vt:lpstr>
      <vt:lpstr>Question 223.8.4</vt:lpstr>
      <vt:lpstr>PowerPoint Presentation</vt:lpstr>
      <vt:lpstr>End</vt:lpstr>
      <vt:lpstr>PowerPoint Presentation</vt:lpstr>
      <vt:lpstr>Question 223.4.5.1</vt:lpstr>
      <vt:lpstr>Question 223.4.11  123.22.7</vt:lpstr>
      <vt:lpstr>PowerPoint Presentation</vt:lpstr>
      <vt:lpstr>Question 223.4.12 123.22.8</vt:lpstr>
      <vt:lpstr>Question 223.4.13 123.22.9</vt:lpstr>
      <vt:lpstr>Question 223.4.14  123.22.10</vt:lpstr>
      <vt:lpstr>Question 223.4.15 GR 123.22.11 GR</vt:lpstr>
      <vt:lpstr>Question 223.4.16  123.22.12</vt:lpstr>
      <vt:lpstr>Question 223.5.1  123.22.13</vt:lpstr>
      <vt:lpstr>Inertial Frames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225.5.4</vt:lpstr>
      <vt:lpstr>Question 223.5.4.1</vt:lpstr>
      <vt:lpstr>Sonic Boom 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Intensity</dc:title>
  <dc:creator>rtlines</dc:creator>
  <cp:lastModifiedBy>Lines, Todd</cp:lastModifiedBy>
  <cp:revision>6</cp:revision>
  <dcterms:created xsi:type="dcterms:W3CDTF">2011-11-04T18:22:03Z</dcterms:created>
  <dcterms:modified xsi:type="dcterms:W3CDTF">2026-01-15T21:45:00Z</dcterms:modified>
</cp:coreProperties>
</file>