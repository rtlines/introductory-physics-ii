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93" r:id="rId2"/>
    <p:sldId id="267" r:id="rId3"/>
    <p:sldId id="268" r:id="rId4"/>
    <p:sldId id="344" r:id="rId5"/>
    <p:sldId id="345" r:id="rId6"/>
    <p:sldId id="298" r:id="rId7"/>
    <p:sldId id="314" r:id="rId8"/>
    <p:sldId id="1456" r:id="rId9"/>
    <p:sldId id="315" r:id="rId10"/>
    <p:sldId id="316" r:id="rId11"/>
    <p:sldId id="317" r:id="rId12"/>
    <p:sldId id="299" r:id="rId13"/>
    <p:sldId id="300" r:id="rId14"/>
    <p:sldId id="302" r:id="rId15"/>
    <p:sldId id="339" r:id="rId16"/>
    <p:sldId id="340" r:id="rId17"/>
    <p:sldId id="294" r:id="rId18"/>
    <p:sldId id="301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0D29AF-5E8F-4900-AE90-84F19B618C67}" v="1" dt="2026-05-05T16:26:58.4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1" autoAdjust="0"/>
    <p:restoredTop sz="86322" autoAdjust="0"/>
  </p:normalViewPr>
  <p:slideViewPr>
    <p:cSldViewPr snapToGrid="0">
      <p:cViewPr varScale="1">
        <p:scale>
          <a:sx n="90" d="100"/>
          <a:sy n="90" d="100"/>
        </p:scale>
        <p:origin x="1440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264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6-05-05T16:27:02.472" v="4" actId="21"/>
      <pc:docMkLst>
        <pc:docMk/>
      </pc:docMkLst>
      <pc:sldChg chg="delSp modSp mod">
        <pc:chgData name="Lines, Todd" userId="afaf7c3a-e8aa-4568-882a-02ad8f9e19b0" providerId="ADAL" clId="{5FF5AC1B-ABA9-43D7-A1E3-2D92732CD6E2}" dt="2026-05-05T16:27:02.472" v="4" actId="21"/>
        <pc:sldMkLst>
          <pc:docMk/>
          <pc:sldMk cId="1222242176" sldId="314"/>
        </pc:sldMkLst>
        <pc:spChg chg="mod">
          <ac:chgData name="Lines, Todd" userId="afaf7c3a-e8aa-4568-882a-02ad8f9e19b0" providerId="ADAL" clId="{5FF5AC1B-ABA9-43D7-A1E3-2D92732CD6E2}" dt="2026-05-05T16:26:47.900" v="2" actId="20577"/>
          <ac:spMkLst>
            <pc:docMk/>
            <pc:sldMk cId="1222242176" sldId="314"/>
            <ac:spMk id="38944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6-05-05T16:27:02.472" v="4" actId="21"/>
          <ac:picMkLst>
            <pc:docMk/>
            <pc:sldMk cId="1222242176" sldId="314"/>
            <ac:picMk id="7" creationId="{7F407937-B2EF-E280-9C27-2C220764F7F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20DDF-410A-4A2E-BE2B-BF9258AB4EBC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45037-B36C-428B-80E4-B5F1332A9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805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/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CA5995E9-268A-47CD-8EB6-6898CE55DF23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D32CF-726D-406C-8E04-892C3237510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A76A9-D8C5-4554-9094-501E768039D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emf"/><Relationship Id="rId9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hysics.com/w11.html" TargetMode="External"/><Relationship Id="rId2" Type="http://schemas.openxmlformats.org/officeDocument/2006/relationships/hyperlink" Target="https://astro.unl.edu/classaction/animations/light/dopplershift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7102-2D8F-05F0-C316-945DA29AB7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5088B-237F-94EB-D3B6-B3BF8AFFBA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90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9950" y="1249045"/>
            <a:ext cx="5114290" cy="23797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 of Beats</a:t>
            </a:r>
          </a:p>
        </p:txBody>
      </p:sp>
      <p:sp>
        <p:nvSpPr>
          <p:cNvPr id="1031" name="Rectangle 5"/>
          <p:cNvSpPr>
            <a:spLocks noChangeArrowheads="1"/>
          </p:cNvSpPr>
          <p:nvPr/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8"/>
          <p:cNvGraphicFramePr>
            <a:graphicFrameLocks noChangeAspect="1"/>
          </p:cNvGraphicFramePr>
          <p:nvPr/>
        </p:nvGraphicFramePr>
        <p:xfrm>
          <a:off x="2178050" y="3019425"/>
          <a:ext cx="12763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2480" imgH="399600" progId="Equation.3">
                  <p:embed/>
                </p:oleObj>
              </mc:Choice>
              <mc:Fallback>
                <p:oleObj name="Equation" r:id="rId3" imgW="1392480" imgH="399600" progId="Equation.3">
                  <p:embed/>
                  <p:pic>
                    <p:nvPicPr>
                      <p:cNvPr id="102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8050" y="3019425"/>
                        <a:ext cx="12763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7" name="Object 7"/>
          <p:cNvGraphicFramePr>
            <a:graphicFrameLocks noChangeAspect="1"/>
          </p:cNvGraphicFramePr>
          <p:nvPr/>
        </p:nvGraphicFramePr>
        <p:xfrm>
          <a:off x="5748338" y="3017838"/>
          <a:ext cx="12763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92480" imgH="399600" progId="Equation.3">
                  <p:embed/>
                </p:oleObj>
              </mc:Choice>
              <mc:Fallback>
                <p:oleObj name="Equation" r:id="rId5" imgW="1392480" imgH="399600" progId="Equation.3">
                  <p:embed/>
                  <p:pic>
                    <p:nvPicPr>
                      <p:cNvPr id="10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8338" y="3017838"/>
                        <a:ext cx="12763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035" name="Rectangle 10"/>
          <p:cNvSpPr>
            <a:spLocks noChangeArrowheads="1"/>
          </p:cNvSpPr>
          <p:nvPr/>
        </p:nvSpPr>
        <p:spPr bwMode="auto">
          <a:xfrm>
            <a:off x="0" y="3619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l"/>
            <a:endParaRPr lang="en-US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0" y="27717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5087938" y="5637213"/>
          <a:ext cx="2633662" cy="458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28720" imgH="457200" progId="Equation.3">
                  <p:embed/>
                </p:oleObj>
              </mc:Choice>
              <mc:Fallback>
                <p:oleObj name="Equation" r:id="rId7" imgW="2628720" imgH="457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7938" y="5637213"/>
                        <a:ext cx="2633662" cy="4587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6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270760" y="3529648"/>
            <a:ext cx="4922520" cy="2045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5" y="1524000"/>
            <a:ext cx="8459788" cy="39481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223.9.1</a:t>
            </a:r>
          </a:p>
        </p:txBody>
      </p:sp>
      <p:sp>
        <p:nvSpPr>
          <p:cNvPr id="57344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Two graphs are shown below. Each graph represents the result of adding two waves together. For which graph is the frequency difference greater between the two original waves?.</a:t>
            </a:r>
          </a:p>
        </p:txBody>
      </p:sp>
      <p:pic>
        <p:nvPicPr>
          <p:cNvPr id="57344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3288" y="4618038"/>
            <a:ext cx="3433762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344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1350" y="4618038"/>
            <a:ext cx="3433763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73445" name="TextBox 5"/>
          <p:cNvSpPr txBox="1">
            <a:spLocks noChangeArrowheads="1"/>
          </p:cNvSpPr>
          <p:nvPr/>
        </p:nvSpPr>
        <p:spPr bwMode="auto">
          <a:xfrm>
            <a:off x="2152650" y="3967163"/>
            <a:ext cx="4587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73446" name="TextBox 6"/>
          <p:cNvSpPr txBox="1">
            <a:spLocks noChangeArrowheads="1"/>
          </p:cNvSpPr>
          <p:nvPr/>
        </p:nvSpPr>
        <p:spPr bwMode="auto">
          <a:xfrm>
            <a:off x="6243638" y="4002088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2412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223.9.2</a:t>
            </a:r>
          </a:p>
        </p:txBody>
      </p:sp>
      <p:sp>
        <p:nvSpPr>
          <p:cNvPr id="8294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 dirty="0"/>
              <a:t>You are tuning a guitar by comparing the sound of the string with that of a standard tuning fork. </a:t>
            </a:r>
            <a:r>
              <a:rPr lang="en-US" sz="2800"/>
              <a:t>You notice a beat frequency of 5Hz. </a:t>
            </a:r>
            <a:r>
              <a:rPr lang="en-US" sz="2800" dirty="0"/>
              <a:t>You tighten the guitar string and the beat frequency rises to 8Hz. In order to tune the string exactly to the tuning fork, you should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Continue to tighten the string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Loosen the string</a:t>
            </a:r>
          </a:p>
          <a:p>
            <a:pPr marL="533400" indent="-533400" eaLnBrk="1" hangingPunct="1">
              <a:buFontTx/>
              <a:buAutoNum type="arabicPeriod"/>
            </a:pPr>
            <a:r>
              <a:rPr lang="en-US" sz="2800" dirty="0"/>
              <a:t>Impossible to determine</a:t>
            </a:r>
          </a:p>
        </p:txBody>
      </p:sp>
      <p:sp>
        <p:nvSpPr>
          <p:cNvPr id="829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6164D1B-69C2-4734-9A54-A71F13ACE644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55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3161209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 dirty="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 dirty="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90" cy="233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 dirty="0" err="1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 dirty="0" err="1">
                      <a:solidFill>
                        <a:srgbClr val="FF0000"/>
                      </a:solidFill>
                    </a:rPr>
                    <a:t>BA</a:t>
                  </a:r>
                  <a:endParaRPr lang="en-US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242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74E6-6806-4E3B-6B2F-6835AC6B9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2F1B5-ED77-092A-339A-73D1B416E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8229600" cy="452596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https://astro.unl.edu/classaction/animations/light/dopplershift.html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https://ophysics.com/w11.html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1006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374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4463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7303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13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  <p:extLst>
      <p:ext uri="{BB962C8B-B14F-4D97-AF65-F5344CB8AC3E}">
        <p14:creationId xmlns:p14="http://schemas.microsoft.com/office/powerpoint/2010/main" val="2918768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223.5.4.1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 are playing your Irish tin whistle at 440Hz. Your friend runs toward you at 10m/s. What frequency does your friend hear? (take 343m.s as the speed of sound)</a:t>
            </a:r>
          </a:p>
          <a:p>
            <a:pPr marL="514350" indent="-514350">
              <a:buAutoNum type="alphaLcParenR"/>
            </a:pPr>
            <a:r>
              <a:rPr lang="en-US" dirty="0"/>
              <a:t>453.8Hz</a:t>
            </a:r>
          </a:p>
          <a:p>
            <a:pPr marL="514350" indent="-514350">
              <a:buAutoNum type="alphaLcParenR"/>
            </a:pPr>
            <a:r>
              <a:rPr lang="en-US" dirty="0"/>
              <a:t>427.1Hz</a:t>
            </a:r>
          </a:p>
          <a:p>
            <a:pPr marL="514350" indent="-514350">
              <a:buAutoNum type="alphaLcParenR"/>
            </a:pPr>
            <a:r>
              <a:rPr lang="en-US" dirty="0"/>
              <a:t>453.2</a:t>
            </a:r>
          </a:p>
          <a:p>
            <a:pPr marL="514350" indent="-514350">
              <a:buAutoNum type="alphaLcParenR"/>
            </a:pPr>
            <a:r>
              <a:rPr lang="en-US" dirty="0"/>
              <a:t>427.5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188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48218" y="1812928"/>
            <a:ext cx="24337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Middle: Source moving away from observer. Bottom: Source moving towards observer. (Public domain image courtesy NASA: http://www.jwst.nasa.gov/education/7Page45.pdf)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077" y="1919020"/>
            <a:ext cx="3880424" cy="33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44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68289" y="2071454"/>
            <a:ext cx="230447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/>
              <a:t>High </a:t>
            </a:r>
            <a:r>
              <a:rPr lang="en-US" dirty="0"/>
              <a:t>Redshift Galaxy Cluster shown here in false color from the Spitzer Space Telescope. (Public domain image courtesy NASA/JPL-Caltech/S.A. Stanford (UC Davis/LLNL)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1" y="1844759"/>
            <a:ext cx="3725044" cy="418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5618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81D2D3B-F41E-C06A-1F2D-426F9E65B3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5CFEB2-8707-0CD2-0E57-CE8294094B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056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78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565</Words>
  <Application>Microsoft Office PowerPoint</Application>
  <PresentationFormat>On-screen Show (4:3)</PresentationFormat>
  <Paragraphs>68</Paragraphs>
  <Slides>18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Office Theme</vt:lpstr>
      <vt:lpstr>Equation</vt:lpstr>
      <vt:lpstr>Lecture 10</vt:lpstr>
      <vt:lpstr>Example of Beats</vt:lpstr>
      <vt:lpstr>PowerPoint Presentation</vt:lpstr>
      <vt:lpstr>Question 223.9.1</vt:lpstr>
      <vt:lpstr>Question 223.9.2</vt:lpstr>
      <vt:lpstr>Question 223.5.1  123.22.13</vt:lpstr>
      <vt:lpstr>Inertial Frames</vt:lpstr>
      <vt:lpstr>Demonstration</vt:lpstr>
      <vt:lpstr>Spherical Emitter Setup</vt:lpstr>
      <vt:lpstr>Moving Detector</vt:lpstr>
      <vt:lpstr>Moving Detector</vt:lpstr>
      <vt:lpstr>Question 223.5.2 Question 123.22.14</vt:lpstr>
      <vt:lpstr>Question 223.5.3 Question 123.22.15</vt:lpstr>
      <vt:lpstr>Question 223.5.4.1</vt:lpstr>
      <vt:lpstr>PowerPoint Presentation</vt:lpstr>
      <vt:lpstr>PowerPoint Presentation</vt:lpstr>
      <vt:lpstr>END</vt:lpstr>
      <vt:lpstr>Question 225.5.4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13</cp:revision>
  <dcterms:created xsi:type="dcterms:W3CDTF">2011-09-23T00:44:42Z</dcterms:created>
  <dcterms:modified xsi:type="dcterms:W3CDTF">2026-05-05T16:27:06Z</dcterms:modified>
</cp:coreProperties>
</file>