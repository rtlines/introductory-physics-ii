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271" r:id="rId2"/>
    <p:sldId id="337" r:id="rId3"/>
    <p:sldId id="339" r:id="rId4"/>
    <p:sldId id="338" r:id="rId5"/>
    <p:sldId id="340" r:id="rId6"/>
    <p:sldId id="341" r:id="rId7"/>
    <p:sldId id="273" r:id="rId8"/>
    <p:sldId id="274" r:id="rId9"/>
    <p:sldId id="275" r:id="rId10"/>
    <p:sldId id="276" r:id="rId11"/>
    <p:sldId id="277" r:id="rId12"/>
    <p:sldId id="278" r:id="rId13"/>
    <p:sldId id="284" r:id="rId14"/>
    <p:sldId id="285" r:id="rId15"/>
    <p:sldId id="296" r:id="rId16"/>
    <p:sldId id="257" r:id="rId17"/>
    <p:sldId id="295" r:id="rId18"/>
    <p:sldId id="279" r:id="rId19"/>
    <p:sldId id="280" r:id="rId20"/>
    <p:sldId id="268" r:id="rId21"/>
    <p:sldId id="281" r:id="rId22"/>
    <p:sldId id="282" r:id="rId23"/>
    <p:sldId id="283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7" r:id="rId33"/>
    <p:sldId id="298" r:id="rId34"/>
    <p:sldId id="294" r:id="rId35"/>
    <p:sldId id="272" r:id="rId36"/>
    <p:sldId id="256" r:id="rId37"/>
    <p:sldId id="258" r:id="rId38"/>
    <p:sldId id="261" r:id="rId39"/>
    <p:sldId id="266" r:id="rId40"/>
    <p:sldId id="263" r:id="rId41"/>
    <p:sldId id="269" r:id="rId42"/>
    <p:sldId id="262" r:id="rId43"/>
    <p:sldId id="260" r:id="rId44"/>
    <p:sldId id="259" r:id="rId45"/>
    <p:sldId id="265" r:id="rId46"/>
    <p:sldId id="267" r:id="rId47"/>
    <p:sldId id="270" r:id="rId4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3F6DDD-B24B-4AD5-A6F3-768E89BE5041}" v="1" dt="2026-08-26T22:00:00.6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66" y="4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dd Lines" userId="afaf7c3a-e8aa-4568-882a-02ad8f9e19b0" providerId="ADAL" clId="{5FF5AC1B-ABA9-43D7-A1E3-2D92732CD6E2}"/>
    <pc:docChg chg="addSld modSld">
      <pc:chgData name="Todd Lines" userId="afaf7c3a-e8aa-4568-882a-02ad8f9e19b0" providerId="ADAL" clId="{5FF5AC1B-ABA9-43D7-A1E3-2D92732CD6E2}" dt="2026-08-26T22:00:00.669" v="2"/>
      <pc:docMkLst>
        <pc:docMk/>
      </pc:docMkLst>
      <pc:sldChg chg="modSp mod">
        <pc:chgData name="Todd Lines" userId="afaf7c3a-e8aa-4568-882a-02ad8f9e19b0" providerId="ADAL" clId="{5FF5AC1B-ABA9-43D7-A1E3-2D92732CD6E2}" dt="2026-08-26T21:58:44.513" v="1" actId="20577"/>
        <pc:sldMkLst>
          <pc:docMk/>
          <pc:sldMk cId="1011100621" sldId="271"/>
        </pc:sldMkLst>
        <pc:spChg chg="mod">
          <ac:chgData name="Todd Lines" userId="afaf7c3a-e8aa-4568-882a-02ad8f9e19b0" providerId="ADAL" clId="{5FF5AC1B-ABA9-43D7-A1E3-2D92732CD6E2}" dt="2026-08-26T21:58:44.513" v="1" actId="20577"/>
          <ac:spMkLst>
            <pc:docMk/>
            <pc:sldMk cId="1011100621" sldId="271"/>
            <ac:spMk id="2" creationId="{3C570BC0-43B9-0493-1280-F357497B6FD2}"/>
          </ac:spMkLst>
        </pc:spChg>
      </pc:sldChg>
      <pc:sldChg chg="add">
        <pc:chgData name="Todd Lines" userId="afaf7c3a-e8aa-4568-882a-02ad8f9e19b0" providerId="ADAL" clId="{5FF5AC1B-ABA9-43D7-A1E3-2D92732CD6E2}" dt="2026-08-26T22:00:00.669" v="2"/>
        <pc:sldMkLst>
          <pc:docMk/>
          <pc:sldMk cId="3461320330" sldId="337"/>
        </pc:sldMkLst>
      </pc:sldChg>
      <pc:sldChg chg="add">
        <pc:chgData name="Todd Lines" userId="afaf7c3a-e8aa-4568-882a-02ad8f9e19b0" providerId="ADAL" clId="{5FF5AC1B-ABA9-43D7-A1E3-2D92732CD6E2}" dt="2026-08-26T22:00:00.669" v="2"/>
        <pc:sldMkLst>
          <pc:docMk/>
          <pc:sldMk cId="1355674550" sldId="338"/>
        </pc:sldMkLst>
      </pc:sldChg>
      <pc:sldChg chg="add">
        <pc:chgData name="Todd Lines" userId="afaf7c3a-e8aa-4568-882a-02ad8f9e19b0" providerId="ADAL" clId="{5FF5AC1B-ABA9-43D7-A1E3-2D92732CD6E2}" dt="2026-08-26T22:00:00.669" v="2"/>
        <pc:sldMkLst>
          <pc:docMk/>
          <pc:sldMk cId="3617555169" sldId="339"/>
        </pc:sldMkLst>
      </pc:sldChg>
      <pc:sldChg chg="add">
        <pc:chgData name="Todd Lines" userId="afaf7c3a-e8aa-4568-882a-02ad8f9e19b0" providerId="ADAL" clId="{5FF5AC1B-ABA9-43D7-A1E3-2D92732CD6E2}" dt="2026-08-26T22:00:00.669" v="2"/>
        <pc:sldMkLst>
          <pc:docMk/>
          <pc:sldMk cId="0" sldId="340"/>
        </pc:sldMkLst>
      </pc:sldChg>
      <pc:sldChg chg="add">
        <pc:chgData name="Todd Lines" userId="afaf7c3a-e8aa-4568-882a-02ad8f9e19b0" providerId="ADAL" clId="{5FF5AC1B-ABA9-43D7-A1E3-2D92732CD6E2}" dt="2026-08-26T22:00:00.669" v="2"/>
        <pc:sldMkLst>
          <pc:docMk/>
          <pc:sldMk cId="0" sldId="34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DEF62A-1412-4CF8-867F-5D706F932E4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F39D2B-3697-4B30-8F05-EBAA3BC60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262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7C978-38CE-6470-47FC-440C93B85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5E332A-FB7E-52AD-CF05-B361FB8316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CACB18-7BCD-214A-550C-79E2B27AAC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BE119C-A9B5-F307-1FD8-4BF8A92B59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78E4C3-3EB2-46A4-993F-B797239F998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0081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78E4C3-3EB2-46A4-993F-B797239F998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0533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0B758-799E-42E9-B874-C52F55C25494}" type="slidenum">
              <a:rPr lang="en-US" smtClean="0"/>
              <a:pPr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0B6E3-67B5-C676-CB21-BEBA8A216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0A684-3573-7313-1BF8-33B9C51CE1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09DE20-3656-E402-A5CA-82BB6B6150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D5C5B5-961C-BB20-F7F9-D8D9D0744B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0B758-799E-42E9-B874-C52F55C25494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480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61AEA-5DA7-4883-91E9-49E96185C8F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.bin"/><Relationship Id="rId13" Type="http://schemas.openxmlformats.org/officeDocument/2006/relationships/image" Target="../media/image10.emf"/><Relationship Id="rId3" Type="http://schemas.openxmlformats.org/officeDocument/2006/relationships/image" Target="../media/image5.emf"/><Relationship Id="rId7" Type="http://schemas.openxmlformats.org/officeDocument/2006/relationships/image" Target="../media/image7.emf"/><Relationship Id="rId12" Type="http://schemas.openxmlformats.org/officeDocument/2006/relationships/oleObject" Target="../embeddings/oleObject7.bin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4.bin"/><Relationship Id="rId11" Type="http://schemas.openxmlformats.org/officeDocument/2006/relationships/image" Target="../media/image9.emf"/><Relationship Id="rId5" Type="http://schemas.openxmlformats.org/officeDocument/2006/relationships/image" Target="../media/image6.emf"/><Relationship Id="rId10" Type="http://schemas.openxmlformats.org/officeDocument/2006/relationships/oleObject" Target="../embeddings/oleObject6.bin"/><Relationship Id="rId4" Type="http://schemas.openxmlformats.org/officeDocument/2006/relationships/oleObject" Target="../embeddings/oleObject3.bin"/><Relationship Id="rId9" Type="http://schemas.openxmlformats.org/officeDocument/2006/relationships/image" Target="../media/image8.emf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70BC0-43B9-0493-1280-F357497B6F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32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7D170C-7A11-4A67-A3A7-0E925241C0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1006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714F2-685F-D0EF-E846-DA0C5FBB8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Thermo</a:t>
            </a:r>
            <a:r>
              <a:rPr lang="en-US" dirty="0"/>
              <a:t> Systems</a:t>
            </a:r>
          </a:p>
        </p:txBody>
      </p:sp>
      <p:grpSp>
        <p:nvGrpSpPr>
          <p:cNvPr id="3" name="Group 89">
            <a:extLst>
              <a:ext uri="{FF2B5EF4-FFF2-40B4-BE49-F238E27FC236}">
                <a16:creationId xmlns:a16="http://schemas.microsoft.com/office/drawing/2014/main" id="{05710022-B1F1-02A6-A237-43AC1047A132}"/>
              </a:ext>
            </a:extLst>
          </p:cNvPr>
          <p:cNvGrpSpPr>
            <a:grpSpLocks/>
          </p:cNvGrpSpPr>
          <p:nvPr/>
        </p:nvGrpSpPr>
        <p:grpSpPr bwMode="auto">
          <a:xfrm>
            <a:off x="523875" y="1795463"/>
            <a:ext cx="8397875" cy="3541712"/>
            <a:chOff x="330" y="1131"/>
            <a:chExt cx="5290" cy="2231"/>
          </a:xfrm>
        </p:grpSpPr>
        <p:sp>
          <p:nvSpPr>
            <p:cNvPr id="4" name="Rectangle 4" descr="Wide upward diagonal">
              <a:extLst>
                <a:ext uri="{FF2B5EF4-FFF2-40B4-BE49-F238E27FC236}">
                  <a16:creationId xmlns:a16="http://schemas.microsoft.com/office/drawing/2014/main" id="{E3CD6857-50F0-1FF6-FD1B-3B85506E97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0" y="1949"/>
              <a:ext cx="1417" cy="1335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5848DE35-8176-2297-959B-D0548E7DCC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4" y="1949"/>
              <a:ext cx="1097" cy="1198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BF11B275-B9F1-C267-82D6-430244AACF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0" y="2145"/>
              <a:ext cx="1069" cy="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5759B24F-AD48-FB89-B947-EA26BD2A1B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93" y="1286"/>
              <a:ext cx="109" cy="1372"/>
              <a:chOff x="4279" y="1535"/>
              <a:chExt cx="164" cy="1692"/>
            </a:xfrm>
          </p:grpSpPr>
          <p:sp>
            <p:nvSpPr>
              <p:cNvPr id="45" name="Oval 8">
                <a:extLst>
                  <a:ext uri="{FF2B5EF4-FFF2-40B4-BE49-F238E27FC236}">
                    <a16:creationId xmlns:a16="http://schemas.microsoft.com/office/drawing/2014/main" id="{6F39EA8E-79B1-1B87-15EA-3B54838D28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79" y="3035"/>
                <a:ext cx="164" cy="192"/>
              </a:xfrm>
              <a:prstGeom prst="ellipse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grpSp>
            <p:nvGrpSpPr>
              <p:cNvPr id="46" name="Group 9">
                <a:extLst>
                  <a:ext uri="{FF2B5EF4-FFF2-40B4-BE49-F238E27FC236}">
                    <a16:creationId xmlns:a16="http://schemas.microsoft.com/office/drawing/2014/main" id="{23315A17-A9E8-B05C-1065-602F018E817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32" y="1535"/>
                <a:ext cx="65" cy="1591"/>
                <a:chOff x="4917" y="2212"/>
                <a:chExt cx="202" cy="1591"/>
              </a:xfrm>
            </p:grpSpPr>
            <p:sp>
              <p:nvSpPr>
                <p:cNvPr id="49" name="AutoShape 10">
                  <a:extLst>
                    <a:ext uri="{FF2B5EF4-FFF2-40B4-BE49-F238E27FC236}">
                      <a16:creationId xmlns:a16="http://schemas.microsoft.com/office/drawing/2014/main" id="{42FDECAD-4F4E-A832-EACB-2DC9B5943CE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-5400000">
                  <a:off x="4222" y="2907"/>
                  <a:ext cx="1591" cy="202"/>
                </a:xfrm>
                <a:prstGeom prst="roundRect">
                  <a:avLst>
                    <a:gd name="adj" fmla="val 16667"/>
                  </a:avLst>
                </a:prstGeom>
                <a:solidFill>
                  <a:schemeClr val="bg1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  <p:sp>
              <p:nvSpPr>
                <p:cNvPr id="50" name="Line 11">
                  <a:extLst>
                    <a:ext uri="{FF2B5EF4-FFF2-40B4-BE49-F238E27FC236}">
                      <a16:creationId xmlns:a16="http://schemas.microsoft.com/office/drawing/2014/main" id="{E45727E3-F69A-4556-029A-D6B7101780B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081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1" name="Line 12">
                  <a:extLst>
                    <a:ext uri="{FF2B5EF4-FFF2-40B4-BE49-F238E27FC236}">
                      <a16:creationId xmlns:a16="http://schemas.microsoft.com/office/drawing/2014/main" id="{8EEFA1AF-DD4A-74BD-7269-3C12C0C9548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177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2" name="Line 13">
                  <a:extLst>
                    <a:ext uri="{FF2B5EF4-FFF2-40B4-BE49-F238E27FC236}">
                      <a16:creationId xmlns:a16="http://schemas.microsoft.com/office/drawing/2014/main" id="{CC213918-4ADF-A434-2E41-490E11D2DD7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273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3" name="Line 14">
                  <a:extLst>
                    <a:ext uri="{FF2B5EF4-FFF2-40B4-BE49-F238E27FC236}">
                      <a16:creationId xmlns:a16="http://schemas.microsoft.com/office/drawing/2014/main" id="{F7405A2B-F93B-16BD-6441-01EDDED7220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369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4" name="Line 15">
                  <a:extLst>
                    <a:ext uri="{FF2B5EF4-FFF2-40B4-BE49-F238E27FC236}">
                      <a16:creationId xmlns:a16="http://schemas.microsoft.com/office/drawing/2014/main" id="{679EA82D-1F70-99AF-99C5-9043D5FD0F9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465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5" name="Line 16">
                  <a:extLst>
                    <a:ext uri="{FF2B5EF4-FFF2-40B4-BE49-F238E27FC236}">
                      <a16:creationId xmlns:a16="http://schemas.microsoft.com/office/drawing/2014/main" id="{4CF00209-D68F-10AE-6F30-607175CFFA2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561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6" name="Line 17">
                  <a:extLst>
                    <a:ext uri="{FF2B5EF4-FFF2-40B4-BE49-F238E27FC236}">
                      <a16:creationId xmlns:a16="http://schemas.microsoft.com/office/drawing/2014/main" id="{8C8A3D30-867A-9E3D-D638-0F99F3C5632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657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7" name="Line 18">
                  <a:extLst>
                    <a:ext uri="{FF2B5EF4-FFF2-40B4-BE49-F238E27FC236}">
                      <a16:creationId xmlns:a16="http://schemas.microsoft.com/office/drawing/2014/main" id="{08DC3E96-A2E8-FDCF-8F9F-04449CF173A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753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8" name="Line 19">
                  <a:extLst>
                    <a:ext uri="{FF2B5EF4-FFF2-40B4-BE49-F238E27FC236}">
                      <a16:creationId xmlns:a16="http://schemas.microsoft.com/office/drawing/2014/main" id="{CF5281E1-006D-BC08-63F4-C86EFA6412B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304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9" name="Line 20">
                  <a:extLst>
                    <a:ext uri="{FF2B5EF4-FFF2-40B4-BE49-F238E27FC236}">
                      <a16:creationId xmlns:a16="http://schemas.microsoft.com/office/drawing/2014/main" id="{4739F306-839D-E22F-614F-8D65172B9D1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400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0" name="Line 21">
                  <a:extLst>
                    <a:ext uri="{FF2B5EF4-FFF2-40B4-BE49-F238E27FC236}">
                      <a16:creationId xmlns:a16="http://schemas.microsoft.com/office/drawing/2014/main" id="{93E353FC-6060-9529-0BF3-1CE43822F0F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496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1" name="Line 22">
                  <a:extLst>
                    <a:ext uri="{FF2B5EF4-FFF2-40B4-BE49-F238E27FC236}">
                      <a16:creationId xmlns:a16="http://schemas.microsoft.com/office/drawing/2014/main" id="{F225B9FA-3A5A-A9A5-22C0-2B626D777B7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592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2" name="Line 23">
                  <a:extLst>
                    <a:ext uri="{FF2B5EF4-FFF2-40B4-BE49-F238E27FC236}">
                      <a16:creationId xmlns:a16="http://schemas.microsoft.com/office/drawing/2014/main" id="{7D34C672-CB66-D799-E80B-CD348052481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688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3" name="Line 24">
                  <a:extLst>
                    <a:ext uri="{FF2B5EF4-FFF2-40B4-BE49-F238E27FC236}">
                      <a16:creationId xmlns:a16="http://schemas.microsoft.com/office/drawing/2014/main" id="{88D23F51-4776-5D5B-1764-0172B5CCC68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784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4" name="Line 25">
                  <a:extLst>
                    <a:ext uri="{FF2B5EF4-FFF2-40B4-BE49-F238E27FC236}">
                      <a16:creationId xmlns:a16="http://schemas.microsoft.com/office/drawing/2014/main" id="{957B3A90-988F-A1CE-F36E-0F8B0E2B76D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880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5" name="Line 26">
                  <a:extLst>
                    <a:ext uri="{FF2B5EF4-FFF2-40B4-BE49-F238E27FC236}">
                      <a16:creationId xmlns:a16="http://schemas.microsoft.com/office/drawing/2014/main" id="{96DF48D3-2A49-963E-A2ED-50B2690A503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976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47" name="Oval 27">
                <a:extLst>
                  <a:ext uri="{FF2B5EF4-FFF2-40B4-BE49-F238E27FC236}">
                    <a16:creationId xmlns:a16="http://schemas.microsoft.com/office/drawing/2014/main" id="{50E553B5-85F2-8E13-B915-9FB9B71F8A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16" y="3063"/>
                <a:ext cx="91" cy="137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48" name="Rectangle 28">
                <a:extLst>
                  <a:ext uri="{FF2B5EF4-FFF2-40B4-BE49-F238E27FC236}">
                    <a16:creationId xmlns:a16="http://schemas.microsoft.com/office/drawing/2014/main" id="{384A587D-BB9E-0553-97E8-67A5F3CA97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52" y="2240"/>
                <a:ext cx="27" cy="859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</p:grpSp>
        <p:sp>
          <p:nvSpPr>
            <p:cNvPr id="8" name="Rectangle 29">
              <a:extLst>
                <a:ext uri="{FF2B5EF4-FFF2-40B4-BE49-F238E27FC236}">
                  <a16:creationId xmlns:a16="http://schemas.microsoft.com/office/drawing/2014/main" id="{53C8EDDF-00F9-6D23-ECE9-52D65FBDD0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53" y="1181"/>
              <a:ext cx="238" cy="366"/>
            </a:xfrm>
            <a:prstGeom prst="rect">
              <a:avLst/>
            </a:prstGeom>
            <a:solidFill>
              <a:srgbClr val="9933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9" name="Text Box 52">
              <a:extLst>
                <a:ext uri="{FF2B5EF4-FFF2-40B4-BE49-F238E27FC236}">
                  <a16:creationId xmlns:a16="http://schemas.microsoft.com/office/drawing/2014/main" id="{A5CE6DEC-9EAE-4B47-86FD-73E82EEAF9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98" y="1131"/>
              <a:ext cx="1475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1800"/>
                <a:t>Sample at known temperature T</a:t>
              </a:r>
              <a:r>
                <a:rPr lang="en-US" altLang="en-US" sz="1800" baseline="-25000"/>
                <a:t>x</a:t>
              </a:r>
              <a:r>
                <a:rPr lang="en-US" altLang="en-US" sz="1800"/>
                <a:t> </a:t>
              </a:r>
            </a:p>
          </p:txBody>
        </p:sp>
        <p:sp>
          <p:nvSpPr>
            <p:cNvPr id="10" name="Text Box 53">
              <a:extLst>
                <a:ext uri="{FF2B5EF4-FFF2-40B4-BE49-F238E27FC236}">
                  <a16:creationId xmlns:a16="http://schemas.microsoft.com/office/drawing/2014/main" id="{57C03CF5-E82A-EB3C-316E-CE522A9D0F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57" y="1615"/>
              <a:ext cx="1475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1800"/>
                <a:t>Water at known temperature T</a:t>
              </a:r>
              <a:r>
                <a:rPr lang="en-US" altLang="en-US" sz="1800" baseline="-25000"/>
                <a:t>w</a:t>
              </a:r>
              <a:r>
                <a:rPr lang="en-US" altLang="en-US" sz="1800"/>
                <a:t> </a:t>
              </a:r>
            </a:p>
          </p:txBody>
        </p:sp>
        <p:sp>
          <p:nvSpPr>
            <p:cNvPr id="11" name="Freeform 54">
              <a:extLst>
                <a:ext uri="{FF2B5EF4-FFF2-40B4-BE49-F238E27FC236}">
                  <a16:creationId xmlns:a16="http://schemas.microsoft.com/office/drawing/2014/main" id="{88D8911C-0DB2-5C0B-A234-ACD54224EC90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323" y="1996"/>
              <a:ext cx="512" cy="334"/>
            </a:xfrm>
            <a:custGeom>
              <a:avLst/>
              <a:gdLst>
                <a:gd name="T0" fmla="*/ 512 w 512"/>
                <a:gd name="T1" fmla="*/ 1344 h 210"/>
                <a:gd name="T2" fmla="*/ 238 w 512"/>
                <a:gd name="T3" fmla="*/ 934 h 210"/>
                <a:gd name="T4" fmla="*/ 293 w 512"/>
                <a:gd name="T5" fmla="*/ 587 h 210"/>
                <a:gd name="T6" fmla="*/ 0 w 512"/>
                <a:gd name="T7" fmla="*/ 0 h 21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12"/>
                <a:gd name="T13" fmla="*/ 0 h 210"/>
                <a:gd name="T14" fmla="*/ 512 w 512"/>
                <a:gd name="T15" fmla="*/ 210 h 21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12" h="210">
                  <a:moveTo>
                    <a:pt x="512" y="210"/>
                  </a:moveTo>
                  <a:cubicBezTo>
                    <a:pt x="393" y="188"/>
                    <a:pt x="275" y="166"/>
                    <a:pt x="238" y="146"/>
                  </a:cubicBezTo>
                  <a:cubicBezTo>
                    <a:pt x="201" y="126"/>
                    <a:pt x="333" y="116"/>
                    <a:pt x="293" y="92"/>
                  </a:cubicBezTo>
                  <a:cubicBezTo>
                    <a:pt x="253" y="68"/>
                    <a:pt x="126" y="34"/>
                    <a:pt x="0" y="0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" name="Text Box 55">
              <a:extLst>
                <a:ext uri="{FF2B5EF4-FFF2-40B4-BE49-F238E27FC236}">
                  <a16:creationId xmlns:a16="http://schemas.microsoft.com/office/drawing/2014/main" id="{30A6B0DD-438D-5D75-ABFA-0555E8D446C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10" y="2957"/>
              <a:ext cx="147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1800"/>
                <a:t>Insulated container</a:t>
              </a:r>
            </a:p>
          </p:txBody>
        </p:sp>
        <p:sp>
          <p:nvSpPr>
            <p:cNvPr id="13" name="Line 56">
              <a:extLst>
                <a:ext uri="{FF2B5EF4-FFF2-40B4-BE49-F238E27FC236}">
                  <a16:creationId xmlns:a16="http://schemas.microsoft.com/office/drawing/2014/main" id="{F3F3ECC9-B36A-ED03-DA60-665FB1E8A21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665" y="3080"/>
              <a:ext cx="22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" name="Rectangle 57" descr="Wide upward diagonal">
              <a:extLst>
                <a:ext uri="{FF2B5EF4-FFF2-40B4-BE49-F238E27FC236}">
                  <a16:creationId xmlns:a16="http://schemas.microsoft.com/office/drawing/2014/main" id="{910EBE08-5292-9898-88CA-D67BF208DD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00" y="2027"/>
              <a:ext cx="1417" cy="1335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15" name="Rectangle 58">
              <a:extLst>
                <a:ext uri="{FF2B5EF4-FFF2-40B4-BE49-F238E27FC236}">
                  <a16:creationId xmlns:a16="http://schemas.microsoft.com/office/drawing/2014/main" id="{749E73B7-5920-5182-B855-7BBDFF4E2D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64" y="2027"/>
              <a:ext cx="1097" cy="1198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16" name="Rectangle 59">
              <a:extLst>
                <a:ext uri="{FF2B5EF4-FFF2-40B4-BE49-F238E27FC236}">
                  <a16:creationId xmlns:a16="http://schemas.microsoft.com/office/drawing/2014/main" id="{46D82C56-1B47-9E83-94CF-D936B04842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0" y="2223"/>
              <a:ext cx="1069" cy="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grpSp>
          <p:nvGrpSpPr>
            <p:cNvPr id="17" name="Group 84">
              <a:extLst>
                <a:ext uri="{FF2B5EF4-FFF2-40B4-BE49-F238E27FC236}">
                  <a16:creationId xmlns:a16="http://schemas.microsoft.com/office/drawing/2014/main" id="{3CDD292F-A5B2-B5B0-6596-C64098212F8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63" y="1364"/>
              <a:ext cx="111" cy="1372"/>
              <a:chOff x="3983" y="1499"/>
              <a:chExt cx="289" cy="1372"/>
            </a:xfrm>
          </p:grpSpPr>
          <p:sp>
            <p:nvSpPr>
              <p:cNvPr id="24" name="Oval 61">
                <a:extLst>
                  <a:ext uri="{FF2B5EF4-FFF2-40B4-BE49-F238E27FC236}">
                    <a16:creationId xmlns:a16="http://schemas.microsoft.com/office/drawing/2014/main" id="{31ECF11B-D8CE-431B-D701-45448410CE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83" y="2715"/>
                <a:ext cx="289" cy="156"/>
              </a:xfrm>
              <a:prstGeom prst="ellipse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grpSp>
            <p:nvGrpSpPr>
              <p:cNvPr id="25" name="Group 62">
                <a:extLst>
                  <a:ext uri="{FF2B5EF4-FFF2-40B4-BE49-F238E27FC236}">
                    <a16:creationId xmlns:a16="http://schemas.microsoft.com/office/drawing/2014/main" id="{B59148EE-0AD8-7FCF-A343-F273EAA779B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076" y="1499"/>
                <a:ext cx="115" cy="1290"/>
                <a:chOff x="4917" y="2212"/>
                <a:chExt cx="202" cy="1591"/>
              </a:xfrm>
            </p:grpSpPr>
            <p:sp>
              <p:nvSpPr>
                <p:cNvPr id="28" name="AutoShape 63">
                  <a:extLst>
                    <a:ext uri="{FF2B5EF4-FFF2-40B4-BE49-F238E27FC236}">
                      <a16:creationId xmlns:a16="http://schemas.microsoft.com/office/drawing/2014/main" id="{632722E0-D83B-A37E-4C1C-619CB2CF0DB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-5400000">
                  <a:off x="4222" y="2907"/>
                  <a:ext cx="1591" cy="202"/>
                </a:xfrm>
                <a:prstGeom prst="roundRect">
                  <a:avLst>
                    <a:gd name="adj" fmla="val 16667"/>
                  </a:avLst>
                </a:prstGeom>
                <a:solidFill>
                  <a:schemeClr val="bg1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  <p:sp>
              <p:nvSpPr>
                <p:cNvPr id="29" name="Line 64">
                  <a:extLst>
                    <a:ext uri="{FF2B5EF4-FFF2-40B4-BE49-F238E27FC236}">
                      <a16:creationId xmlns:a16="http://schemas.microsoft.com/office/drawing/2014/main" id="{25EDDD37-FD3D-7508-1EAE-0BF9D7E1ACA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081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0" name="Line 65">
                  <a:extLst>
                    <a:ext uri="{FF2B5EF4-FFF2-40B4-BE49-F238E27FC236}">
                      <a16:creationId xmlns:a16="http://schemas.microsoft.com/office/drawing/2014/main" id="{DBE095FC-AFCF-7529-BDD7-F28DE083153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177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1" name="Line 66">
                  <a:extLst>
                    <a:ext uri="{FF2B5EF4-FFF2-40B4-BE49-F238E27FC236}">
                      <a16:creationId xmlns:a16="http://schemas.microsoft.com/office/drawing/2014/main" id="{185D01DA-459D-5752-E306-8FC55EBDA6E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273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2" name="Line 67">
                  <a:extLst>
                    <a:ext uri="{FF2B5EF4-FFF2-40B4-BE49-F238E27FC236}">
                      <a16:creationId xmlns:a16="http://schemas.microsoft.com/office/drawing/2014/main" id="{2F6B0719-05F7-3875-62DC-3E79C4CDF59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369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3" name="Line 68">
                  <a:extLst>
                    <a:ext uri="{FF2B5EF4-FFF2-40B4-BE49-F238E27FC236}">
                      <a16:creationId xmlns:a16="http://schemas.microsoft.com/office/drawing/2014/main" id="{FC553AD2-1A0C-7470-6D85-C9C2D0E66FF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465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4" name="Line 69">
                  <a:extLst>
                    <a:ext uri="{FF2B5EF4-FFF2-40B4-BE49-F238E27FC236}">
                      <a16:creationId xmlns:a16="http://schemas.microsoft.com/office/drawing/2014/main" id="{76FFA667-870F-2911-5E31-B77F849E4D6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561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5" name="Line 70">
                  <a:extLst>
                    <a:ext uri="{FF2B5EF4-FFF2-40B4-BE49-F238E27FC236}">
                      <a16:creationId xmlns:a16="http://schemas.microsoft.com/office/drawing/2014/main" id="{4333C5DC-073F-7E05-78DD-6660A6DB74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657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6" name="Line 71">
                  <a:extLst>
                    <a:ext uri="{FF2B5EF4-FFF2-40B4-BE49-F238E27FC236}">
                      <a16:creationId xmlns:a16="http://schemas.microsoft.com/office/drawing/2014/main" id="{4187D808-A7E6-6778-3E97-116FAA957CB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753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7" name="Line 72">
                  <a:extLst>
                    <a:ext uri="{FF2B5EF4-FFF2-40B4-BE49-F238E27FC236}">
                      <a16:creationId xmlns:a16="http://schemas.microsoft.com/office/drawing/2014/main" id="{C5272038-6C6D-87C4-DF55-96CEF9CE4C0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304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" name="Line 73">
                  <a:extLst>
                    <a:ext uri="{FF2B5EF4-FFF2-40B4-BE49-F238E27FC236}">
                      <a16:creationId xmlns:a16="http://schemas.microsoft.com/office/drawing/2014/main" id="{ECF32835-477F-46C8-90D0-D82E060B104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400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9" name="Line 74">
                  <a:extLst>
                    <a:ext uri="{FF2B5EF4-FFF2-40B4-BE49-F238E27FC236}">
                      <a16:creationId xmlns:a16="http://schemas.microsoft.com/office/drawing/2014/main" id="{E7BA7059-6AB3-C82A-C190-D85AB3F04F6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496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0" name="Line 75">
                  <a:extLst>
                    <a:ext uri="{FF2B5EF4-FFF2-40B4-BE49-F238E27FC236}">
                      <a16:creationId xmlns:a16="http://schemas.microsoft.com/office/drawing/2014/main" id="{57F126CF-6655-C642-4654-ACDF3769E9C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592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1" name="Line 76">
                  <a:extLst>
                    <a:ext uri="{FF2B5EF4-FFF2-40B4-BE49-F238E27FC236}">
                      <a16:creationId xmlns:a16="http://schemas.microsoft.com/office/drawing/2014/main" id="{B794C538-D39F-059D-00FD-3ADB031AC7D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688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2" name="Line 77">
                  <a:extLst>
                    <a:ext uri="{FF2B5EF4-FFF2-40B4-BE49-F238E27FC236}">
                      <a16:creationId xmlns:a16="http://schemas.microsoft.com/office/drawing/2014/main" id="{24A2AB96-5E9D-F802-5031-5FCF831C9EF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784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3" name="Line 78">
                  <a:extLst>
                    <a:ext uri="{FF2B5EF4-FFF2-40B4-BE49-F238E27FC236}">
                      <a16:creationId xmlns:a16="http://schemas.microsoft.com/office/drawing/2014/main" id="{7896996F-9625-0469-5E87-1E00B99ED64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880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" name="Line 79">
                  <a:extLst>
                    <a:ext uri="{FF2B5EF4-FFF2-40B4-BE49-F238E27FC236}">
                      <a16:creationId xmlns:a16="http://schemas.microsoft.com/office/drawing/2014/main" id="{7A589968-72B2-86F3-8EDE-2B1F777B6A5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976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26" name="Oval 80">
                <a:extLst>
                  <a:ext uri="{FF2B5EF4-FFF2-40B4-BE49-F238E27FC236}">
                    <a16:creationId xmlns:a16="http://schemas.microsoft.com/office/drawing/2014/main" id="{9B3EB699-886A-EC44-4FF0-6DCEA8C5EC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8" y="2738"/>
                <a:ext cx="161" cy="111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27" name="Rectangle 81">
                <a:extLst>
                  <a:ext uri="{FF2B5EF4-FFF2-40B4-BE49-F238E27FC236}">
                    <a16:creationId xmlns:a16="http://schemas.microsoft.com/office/drawing/2014/main" id="{79B2FC05-D8F6-C3D8-5FED-EE18E1FAC0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12" y="1609"/>
                <a:ext cx="47" cy="1158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</p:grpSp>
        <p:sp>
          <p:nvSpPr>
            <p:cNvPr id="18" name="Rectangle 82">
              <a:extLst>
                <a:ext uri="{FF2B5EF4-FFF2-40B4-BE49-F238E27FC236}">
                  <a16:creationId xmlns:a16="http://schemas.microsoft.com/office/drawing/2014/main" id="{73A3B249-DBF3-74BD-BC73-53F80C43D3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8" y="2603"/>
              <a:ext cx="238" cy="366"/>
            </a:xfrm>
            <a:prstGeom prst="rect">
              <a:avLst/>
            </a:prstGeom>
            <a:solidFill>
              <a:srgbClr val="9933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19" name="AutoShape 83">
              <a:extLst>
                <a:ext uri="{FF2B5EF4-FFF2-40B4-BE49-F238E27FC236}">
                  <a16:creationId xmlns:a16="http://schemas.microsoft.com/office/drawing/2014/main" id="{D8437497-3907-C498-C2FE-1F3FEEB975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92" y="1217"/>
              <a:ext cx="265" cy="741"/>
            </a:xfrm>
            <a:prstGeom prst="rightArrow">
              <a:avLst>
                <a:gd name="adj1" fmla="val 50000"/>
                <a:gd name="adj2" fmla="val 25000"/>
              </a:avLst>
            </a:prstGeom>
            <a:solidFill>
              <a:schemeClr val="accent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20" name="Line 85">
              <a:extLst>
                <a:ext uri="{FF2B5EF4-FFF2-40B4-BE49-F238E27FC236}">
                  <a16:creationId xmlns:a16="http://schemas.microsoft.com/office/drawing/2014/main" id="{3AD4D726-9D46-8A08-0B18-9BEED5EFB44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22" y="3088"/>
              <a:ext cx="72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" name="Line 86">
              <a:extLst>
                <a:ext uri="{FF2B5EF4-FFF2-40B4-BE49-F238E27FC236}">
                  <a16:creationId xmlns:a16="http://schemas.microsoft.com/office/drawing/2014/main" id="{4CC3D9C2-6460-DF66-FE32-A50A3D02CD4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0" y="1865"/>
              <a:ext cx="106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" name="Text Box 87">
              <a:extLst>
                <a:ext uri="{FF2B5EF4-FFF2-40B4-BE49-F238E27FC236}">
                  <a16:creationId xmlns:a16="http://schemas.microsoft.com/office/drawing/2014/main" id="{F9056321-7BBC-91D2-CBF7-4F70D6A3BA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65" y="1151"/>
              <a:ext cx="1155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1800"/>
                <a:t>Water temperature rises </a:t>
              </a:r>
            </a:p>
          </p:txBody>
        </p:sp>
        <p:sp>
          <p:nvSpPr>
            <p:cNvPr id="23" name="Line 88">
              <a:extLst>
                <a:ext uri="{FF2B5EF4-FFF2-40B4-BE49-F238E27FC236}">
                  <a16:creationId xmlns:a16="http://schemas.microsoft.com/office/drawing/2014/main" id="{4FC01B9C-1AB6-418C-BE8B-41A9105F402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284" y="1481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613203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735AB-4C9A-8F3F-28B9-2C65B998F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D312F-5F00-E916-AED5-A69BE2A353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Thermo</a:t>
            </a:r>
            <a:r>
              <a:rPr lang="en-US" dirty="0"/>
              <a:t> Systems</a:t>
            </a:r>
          </a:p>
        </p:txBody>
      </p:sp>
      <p:sp>
        <p:nvSpPr>
          <p:cNvPr id="12" name="Text Box 55">
            <a:extLst>
              <a:ext uri="{FF2B5EF4-FFF2-40B4-BE49-F238E27FC236}">
                <a16:creationId xmlns:a16="http://schemas.microsoft.com/office/drawing/2014/main" id="{A3DF9AF5-A31E-DF4A-FC53-C2E6BE0BB8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6859" y="4368722"/>
            <a:ext cx="160636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800" dirty="0"/>
              <a:t>Insulated container</a:t>
            </a:r>
          </a:p>
        </p:txBody>
      </p:sp>
      <p:sp>
        <p:nvSpPr>
          <p:cNvPr id="15" name="Rectangle 58">
            <a:extLst>
              <a:ext uri="{FF2B5EF4-FFF2-40B4-BE49-F238E27FC236}">
                <a16:creationId xmlns:a16="http://schemas.microsoft.com/office/drawing/2014/main" id="{B366631D-D575-0DF7-18B4-3E0F0AA26A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07606" y="3007551"/>
            <a:ext cx="1741488" cy="1901825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16" name="Rectangle 59">
            <a:extLst>
              <a:ext uri="{FF2B5EF4-FFF2-40B4-BE49-F238E27FC236}">
                <a16:creationId xmlns:a16="http://schemas.microsoft.com/office/drawing/2014/main" id="{3B09B1E6-5081-9328-AC36-E17A7A6C71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17131" y="3318701"/>
            <a:ext cx="1697038" cy="158273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grpSp>
        <p:nvGrpSpPr>
          <p:cNvPr id="17" name="Group 84">
            <a:extLst>
              <a:ext uri="{FF2B5EF4-FFF2-40B4-BE49-F238E27FC236}">
                <a16:creationId xmlns:a16="http://schemas.microsoft.com/office/drawing/2014/main" id="{BF401577-B2DD-0001-46F2-82E141546799}"/>
              </a:ext>
            </a:extLst>
          </p:cNvPr>
          <p:cNvGrpSpPr>
            <a:grpSpLocks/>
          </p:cNvGrpSpPr>
          <p:nvPr/>
        </p:nvGrpSpPr>
        <p:grpSpPr bwMode="auto">
          <a:xfrm>
            <a:off x="3864769" y="1955038"/>
            <a:ext cx="176213" cy="2178050"/>
            <a:chOff x="3983" y="1499"/>
            <a:chExt cx="289" cy="1372"/>
          </a:xfrm>
        </p:grpSpPr>
        <p:sp>
          <p:nvSpPr>
            <p:cNvPr id="24" name="Oval 61">
              <a:extLst>
                <a:ext uri="{FF2B5EF4-FFF2-40B4-BE49-F238E27FC236}">
                  <a16:creationId xmlns:a16="http://schemas.microsoft.com/office/drawing/2014/main" id="{95B9BBB0-EACA-44EF-5A2B-8D1868A779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83" y="2715"/>
              <a:ext cx="289" cy="156"/>
            </a:xfrm>
            <a:prstGeom prst="ellipse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grpSp>
          <p:nvGrpSpPr>
            <p:cNvPr id="25" name="Group 62">
              <a:extLst>
                <a:ext uri="{FF2B5EF4-FFF2-40B4-BE49-F238E27FC236}">
                  <a16:creationId xmlns:a16="http://schemas.microsoft.com/office/drawing/2014/main" id="{E08C2642-3F66-0DD5-80F9-3FF066F16FA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76" y="1499"/>
              <a:ext cx="115" cy="1290"/>
              <a:chOff x="4917" y="2212"/>
              <a:chExt cx="202" cy="1591"/>
            </a:xfrm>
          </p:grpSpPr>
          <p:sp>
            <p:nvSpPr>
              <p:cNvPr id="28" name="AutoShape 63">
                <a:extLst>
                  <a:ext uri="{FF2B5EF4-FFF2-40B4-BE49-F238E27FC236}">
                    <a16:creationId xmlns:a16="http://schemas.microsoft.com/office/drawing/2014/main" id="{A6CFAEB0-E49A-B222-170F-E018CE65E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4222" y="2907"/>
                <a:ext cx="1591" cy="202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29" name="Line 64">
                <a:extLst>
                  <a:ext uri="{FF2B5EF4-FFF2-40B4-BE49-F238E27FC236}">
                    <a16:creationId xmlns:a16="http://schemas.microsoft.com/office/drawing/2014/main" id="{8B0632A4-14DB-9413-CCBF-F3EF1764518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081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0" name="Line 65">
                <a:extLst>
                  <a:ext uri="{FF2B5EF4-FFF2-40B4-BE49-F238E27FC236}">
                    <a16:creationId xmlns:a16="http://schemas.microsoft.com/office/drawing/2014/main" id="{35CFA825-36E8-883D-4287-5A45D98A02B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177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1" name="Line 66">
                <a:extLst>
                  <a:ext uri="{FF2B5EF4-FFF2-40B4-BE49-F238E27FC236}">
                    <a16:creationId xmlns:a16="http://schemas.microsoft.com/office/drawing/2014/main" id="{BB78EB5E-B7C7-6C47-54C2-9F0A6F04B73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273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2" name="Line 67">
                <a:extLst>
                  <a:ext uri="{FF2B5EF4-FFF2-40B4-BE49-F238E27FC236}">
                    <a16:creationId xmlns:a16="http://schemas.microsoft.com/office/drawing/2014/main" id="{B4D9792A-4750-C159-73CD-A09B1688D79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369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3" name="Line 68">
                <a:extLst>
                  <a:ext uri="{FF2B5EF4-FFF2-40B4-BE49-F238E27FC236}">
                    <a16:creationId xmlns:a16="http://schemas.microsoft.com/office/drawing/2014/main" id="{7EFBE1A3-2526-FC35-D439-99DCFBBBCE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465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4" name="Line 69">
                <a:extLst>
                  <a:ext uri="{FF2B5EF4-FFF2-40B4-BE49-F238E27FC236}">
                    <a16:creationId xmlns:a16="http://schemas.microsoft.com/office/drawing/2014/main" id="{B55DDB1B-01FE-C656-9E4A-313CB8D6AB7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561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5" name="Line 70">
                <a:extLst>
                  <a:ext uri="{FF2B5EF4-FFF2-40B4-BE49-F238E27FC236}">
                    <a16:creationId xmlns:a16="http://schemas.microsoft.com/office/drawing/2014/main" id="{3952F842-D543-CDB1-F1D2-62204CC0C4C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657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6" name="Line 71">
                <a:extLst>
                  <a:ext uri="{FF2B5EF4-FFF2-40B4-BE49-F238E27FC236}">
                    <a16:creationId xmlns:a16="http://schemas.microsoft.com/office/drawing/2014/main" id="{AB10DEBF-1BD3-9338-957A-160274051E4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753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7" name="Line 72">
                <a:extLst>
                  <a:ext uri="{FF2B5EF4-FFF2-40B4-BE49-F238E27FC236}">
                    <a16:creationId xmlns:a16="http://schemas.microsoft.com/office/drawing/2014/main" id="{DD6DE350-328B-32B9-AF09-CEB07D7B9D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304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8" name="Line 73">
                <a:extLst>
                  <a:ext uri="{FF2B5EF4-FFF2-40B4-BE49-F238E27FC236}">
                    <a16:creationId xmlns:a16="http://schemas.microsoft.com/office/drawing/2014/main" id="{1554D297-817D-0613-E968-53B63ECFCE8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400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" name="Line 74">
                <a:extLst>
                  <a:ext uri="{FF2B5EF4-FFF2-40B4-BE49-F238E27FC236}">
                    <a16:creationId xmlns:a16="http://schemas.microsoft.com/office/drawing/2014/main" id="{D3597258-4FB4-83BD-D81E-1C3CFCB3ADD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496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" name="Line 75">
                <a:extLst>
                  <a:ext uri="{FF2B5EF4-FFF2-40B4-BE49-F238E27FC236}">
                    <a16:creationId xmlns:a16="http://schemas.microsoft.com/office/drawing/2014/main" id="{72DC5C56-B745-65DE-8127-8925167539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592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" name="Line 76">
                <a:extLst>
                  <a:ext uri="{FF2B5EF4-FFF2-40B4-BE49-F238E27FC236}">
                    <a16:creationId xmlns:a16="http://schemas.microsoft.com/office/drawing/2014/main" id="{F93A6E31-F602-71A4-D524-0D27BDB1C06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688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2" name="Line 77">
                <a:extLst>
                  <a:ext uri="{FF2B5EF4-FFF2-40B4-BE49-F238E27FC236}">
                    <a16:creationId xmlns:a16="http://schemas.microsoft.com/office/drawing/2014/main" id="{3451A104-47BD-9DA9-7003-AC3B76B449E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784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3" name="Line 78">
                <a:extLst>
                  <a:ext uri="{FF2B5EF4-FFF2-40B4-BE49-F238E27FC236}">
                    <a16:creationId xmlns:a16="http://schemas.microsoft.com/office/drawing/2014/main" id="{A6F84820-A153-6FEE-1D79-393EA85DC95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880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4" name="Line 79">
                <a:extLst>
                  <a:ext uri="{FF2B5EF4-FFF2-40B4-BE49-F238E27FC236}">
                    <a16:creationId xmlns:a16="http://schemas.microsoft.com/office/drawing/2014/main" id="{3EF2CCF8-8742-DA73-A47F-1652CA812BE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976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26" name="Oval 80">
              <a:extLst>
                <a:ext uri="{FF2B5EF4-FFF2-40B4-BE49-F238E27FC236}">
                  <a16:creationId xmlns:a16="http://schemas.microsoft.com/office/drawing/2014/main" id="{652573DC-A29F-1C18-15F4-CB22F172D6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48" y="2738"/>
              <a:ext cx="161" cy="1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27" name="Rectangle 81">
              <a:extLst>
                <a:ext uri="{FF2B5EF4-FFF2-40B4-BE49-F238E27FC236}">
                  <a16:creationId xmlns:a16="http://schemas.microsoft.com/office/drawing/2014/main" id="{9641691F-74BB-ED3D-4595-7C9933CA92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2" y="1609"/>
              <a:ext cx="47" cy="115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</p:grpSp>
      <p:sp>
        <p:nvSpPr>
          <p:cNvPr id="18" name="Rectangle 82">
            <a:extLst>
              <a:ext uri="{FF2B5EF4-FFF2-40B4-BE49-F238E27FC236}">
                <a16:creationId xmlns:a16="http://schemas.microsoft.com/office/drawing/2014/main" id="{5FA40594-0168-A262-9628-473470D51D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25206" y="3921951"/>
            <a:ext cx="377825" cy="581025"/>
          </a:xfrm>
          <a:prstGeom prst="rect">
            <a:avLst/>
          </a:prstGeom>
          <a:solidFill>
            <a:srgbClr val="993300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20" name="Line 85">
            <a:extLst>
              <a:ext uri="{FF2B5EF4-FFF2-40B4-BE49-F238E27FC236}">
                <a16:creationId xmlns:a16="http://schemas.microsoft.com/office/drawing/2014/main" id="{D3E6CA5F-90D4-449B-566F-FF6E43F9E8EF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0931" y="4691888"/>
            <a:ext cx="11477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454AFEA-DFDE-77C5-738C-D3803945C67A}"/>
              </a:ext>
            </a:extLst>
          </p:cNvPr>
          <p:cNvSpPr txBox="1"/>
          <p:nvPr/>
        </p:nvSpPr>
        <p:spPr>
          <a:xfrm>
            <a:off x="3832566" y="4103652"/>
            <a:ext cx="16165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System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4CDF48E-AD82-7944-059B-FAF3B2A45254}"/>
              </a:ext>
            </a:extLst>
          </p:cNvPr>
          <p:cNvSpPr txBox="1"/>
          <p:nvPr/>
        </p:nvSpPr>
        <p:spPr>
          <a:xfrm>
            <a:off x="6250781" y="3843131"/>
            <a:ext cx="14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Surroundings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1B88A93-9C09-6B26-15C7-B3B5C03E6FD0}"/>
              </a:ext>
            </a:extLst>
          </p:cNvPr>
          <p:cNvSpPr txBox="1"/>
          <p:nvPr/>
        </p:nvSpPr>
        <p:spPr>
          <a:xfrm>
            <a:off x="3925986" y="5635419"/>
            <a:ext cx="14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Surroundings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5C0BE2-DBB4-A7E2-C730-08D590498270}"/>
              </a:ext>
            </a:extLst>
          </p:cNvPr>
          <p:cNvSpPr txBox="1"/>
          <p:nvPr/>
        </p:nvSpPr>
        <p:spPr>
          <a:xfrm>
            <a:off x="1274460" y="3598656"/>
            <a:ext cx="14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Surroundings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5855B36-8520-2A24-394A-3DFAEB9E7F7B}"/>
              </a:ext>
            </a:extLst>
          </p:cNvPr>
          <p:cNvSpPr txBox="1"/>
          <p:nvPr/>
        </p:nvSpPr>
        <p:spPr>
          <a:xfrm>
            <a:off x="4437738" y="2221066"/>
            <a:ext cx="14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Surroundings</a:t>
            </a:r>
          </a:p>
        </p:txBody>
      </p:sp>
    </p:spTree>
    <p:extLst>
      <p:ext uri="{BB962C8B-B14F-4D97-AF65-F5344CB8AC3E}">
        <p14:creationId xmlns:p14="http://schemas.microsoft.com/office/powerpoint/2010/main" val="3617555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14B7F-4F82-DB4D-1F47-7C13F0189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870A9-D41E-CE87-B84C-3EDE1C73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Thermo</a:t>
            </a:r>
            <a:r>
              <a:rPr lang="en-US" dirty="0"/>
              <a:t> Systems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C47FC5F-5FA6-B452-B3FA-1BDE805CEBC3}"/>
              </a:ext>
            </a:extLst>
          </p:cNvPr>
          <p:cNvSpPr txBox="1"/>
          <p:nvPr/>
        </p:nvSpPr>
        <p:spPr>
          <a:xfrm>
            <a:off x="6250781" y="3843131"/>
            <a:ext cx="14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Surroundings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82FED84-2F4E-E02A-8DA6-1A2921DB815A}"/>
              </a:ext>
            </a:extLst>
          </p:cNvPr>
          <p:cNvSpPr txBox="1"/>
          <p:nvPr/>
        </p:nvSpPr>
        <p:spPr>
          <a:xfrm>
            <a:off x="3925986" y="5635419"/>
            <a:ext cx="14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Surroundings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A1D8FEF-3A24-01E0-0FB4-A118C5980106}"/>
              </a:ext>
            </a:extLst>
          </p:cNvPr>
          <p:cNvSpPr txBox="1"/>
          <p:nvPr/>
        </p:nvSpPr>
        <p:spPr>
          <a:xfrm>
            <a:off x="1504373" y="3550743"/>
            <a:ext cx="14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Surroundings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0526BF1-ABE3-4042-2A93-1066D1A77756}"/>
              </a:ext>
            </a:extLst>
          </p:cNvPr>
          <p:cNvSpPr txBox="1"/>
          <p:nvPr/>
        </p:nvSpPr>
        <p:spPr>
          <a:xfrm>
            <a:off x="4437738" y="2221066"/>
            <a:ext cx="14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Surroundings</a:t>
            </a:r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48EAAA5D-EFFB-6DCD-91AC-6E3C2C9CDDFF}"/>
              </a:ext>
            </a:extLst>
          </p:cNvPr>
          <p:cNvSpPr/>
          <p:nvPr/>
        </p:nvSpPr>
        <p:spPr>
          <a:xfrm>
            <a:off x="3585042" y="2994228"/>
            <a:ext cx="2111574" cy="2067138"/>
          </a:xfrm>
          <a:custGeom>
            <a:avLst/>
            <a:gdLst>
              <a:gd name="connsiteX0" fmla="*/ 465184 w 2111574"/>
              <a:gd name="connsiteY0" fmla="*/ 23 h 2067138"/>
              <a:gd name="connsiteX1" fmla="*/ 1727056 w 2111574"/>
              <a:gd name="connsiteY1" fmla="*/ 310919 h 2067138"/>
              <a:gd name="connsiteX2" fmla="*/ 2074528 w 2111574"/>
              <a:gd name="connsiteY2" fmla="*/ 1435631 h 2067138"/>
              <a:gd name="connsiteX3" fmla="*/ 986392 w 2111574"/>
              <a:gd name="connsiteY3" fmla="*/ 2066567 h 2067138"/>
              <a:gd name="connsiteX4" fmla="*/ 136000 w 2111574"/>
              <a:gd name="connsiteY4" fmla="*/ 1335047 h 2067138"/>
              <a:gd name="connsiteX5" fmla="*/ 35416 w 2111574"/>
              <a:gd name="connsiteY5" fmla="*/ 320063 h 2067138"/>
              <a:gd name="connsiteX6" fmla="*/ 465184 w 2111574"/>
              <a:gd name="connsiteY6" fmla="*/ 23 h 2067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11574" h="2067138">
                <a:moveTo>
                  <a:pt x="465184" y="23"/>
                </a:moveTo>
                <a:cubicBezTo>
                  <a:pt x="747124" y="-1501"/>
                  <a:pt x="1458832" y="71651"/>
                  <a:pt x="1727056" y="310919"/>
                </a:cubicBezTo>
                <a:cubicBezTo>
                  <a:pt x="1995280" y="550187"/>
                  <a:pt x="2197972" y="1143023"/>
                  <a:pt x="2074528" y="1435631"/>
                </a:cubicBezTo>
                <a:cubicBezTo>
                  <a:pt x="1951084" y="1728239"/>
                  <a:pt x="1309480" y="2083331"/>
                  <a:pt x="986392" y="2066567"/>
                </a:cubicBezTo>
                <a:cubicBezTo>
                  <a:pt x="663304" y="2049803"/>
                  <a:pt x="294496" y="1626131"/>
                  <a:pt x="136000" y="1335047"/>
                </a:cubicBezTo>
                <a:cubicBezTo>
                  <a:pt x="-22496" y="1043963"/>
                  <a:pt x="-22496" y="542567"/>
                  <a:pt x="35416" y="320063"/>
                </a:cubicBezTo>
                <a:cubicBezTo>
                  <a:pt x="93328" y="97559"/>
                  <a:pt x="183244" y="1547"/>
                  <a:pt x="465184" y="23"/>
                </a:cubicBezTo>
                <a:close/>
              </a:path>
            </a:pathLst>
          </a:cu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C7F55B2-4F9F-FCE6-C675-DA5E25BD8557}"/>
              </a:ext>
            </a:extLst>
          </p:cNvPr>
          <p:cNvSpPr txBox="1"/>
          <p:nvPr/>
        </p:nvSpPr>
        <p:spPr>
          <a:xfrm>
            <a:off x="3925986" y="3627688"/>
            <a:ext cx="16165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System</a:t>
            </a: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B9BD5E4D-64DB-CDC3-A5B8-957D3CD62172}"/>
              </a:ext>
            </a:extLst>
          </p:cNvPr>
          <p:cNvCxnSpPr/>
          <p:nvPr/>
        </p:nvCxnSpPr>
        <p:spPr>
          <a:xfrm>
            <a:off x="2935224" y="2590398"/>
            <a:ext cx="777240" cy="545994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 Box 55">
            <a:extLst>
              <a:ext uri="{FF2B5EF4-FFF2-40B4-BE49-F238E27FC236}">
                <a16:creationId xmlns:a16="http://schemas.microsoft.com/office/drawing/2014/main" id="{8BE5746B-1206-503E-2EC8-27D57F1879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9407" y="2056959"/>
            <a:ext cx="160636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800" dirty="0"/>
              <a:t>System Boundary</a:t>
            </a:r>
          </a:p>
        </p:txBody>
      </p:sp>
    </p:spTree>
    <p:extLst>
      <p:ext uri="{BB962C8B-B14F-4D97-AF65-F5344CB8AC3E}">
        <p14:creationId xmlns:p14="http://schemas.microsoft.com/office/powerpoint/2010/main" val="13556745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638800" y="1828800"/>
            <a:ext cx="1869243" cy="182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1219200" y="3519487"/>
            <a:ext cx="2511425" cy="1871663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chemeClr val="accent1"/>
              </a:gs>
            </a:gsLst>
            <a:path path="shape">
              <a:fillToRect l="50000" t="50000" r="50000" b="50000"/>
            </a:path>
          </a:gra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Gas at T</a:t>
            </a:r>
            <a:r>
              <a:rPr lang="en-US" baseline="-25000"/>
              <a:t>i</a:t>
            </a:r>
          </a:p>
        </p:txBody>
      </p:sp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1219200" y="1676400"/>
            <a:ext cx="2511425" cy="3730625"/>
          </a:xfrm>
          <a:prstGeom prst="rect">
            <a:avLst/>
          </a:prstGeom>
          <a:noFill/>
          <a:ln w="53975" algn="ctr">
            <a:solidFill>
              <a:srgbClr val="FF99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" name="Line 6"/>
          <p:cNvSpPr>
            <a:spLocks noChangeShapeType="1"/>
          </p:cNvSpPr>
          <p:nvPr/>
        </p:nvSpPr>
        <p:spPr bwMode="auto">
          <a:xfrm>
            <a:off x="1204912" y="3533775"/>
            <a:ext cx="2525713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7" name="Text Box 7"/>
          <p:cNvSpPr txBox="1">
            <a:spLocks noChangeArrowheads="1"/>
          </p:cNvSpPr>
          <p:nvPr/>
        </p:nvSpPr>
        <p:spPr bwMode="auto">
          <a:xfrm>
            <a:off x="1914525" y="2147887"/>
            <a:ext cx="11366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Vacuum</a:t>
            </a:r>
          </a:p>
        </p:txBody>
      </p:sp>
      <p:sp>
        <p:nvSpPr>
          <p:cNvPr id="8" name="Text Box 8"/>
          <p:cNvSpPr txBox="1">
            <a:spLocks noChangeArrowheads="1"/>
          </p:cNvSpPr>
          <p:nvPr/>
        </p:nvSpPr>
        <p:spPr bwMode="auto">
          <a:xfrm>
            <a:off x="1095375" y="2954337"/>
            <a:ext cx="1920875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Membrane</a:t>
            </a:r>
          </a:p>
        </p:txBody>
      </p:sp>
      <p:sp>
        <p:nvSpPr>
          <p:cNvPr id="9" name="Line 9"/>
          <p:cNvSpPr>
            <a:spLocks noChangeShapeType="1"/>
          </p:cNvSpPr>
          <p:nvPr/>
        </p:nvSpPr>
        <p:spPr bwMode="auto">
          <a:xfrm flipH="1">
            <a:off x="1843087" y="3243262"/>
            <a:ext cx="115888" cy="276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5105400" y="1676400"/>
            <a:ext cx="2511425" cy="3730625"/>
          </a:xfrm>
          <a:prstGeom prst="rect">
            <a:avLst/>
          </a:prstGeom>
          <a:noFill/>
          <a:ln w="53975" algn="ctr">
            <a:solidFill>
              <a:srgbClr val="FF99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" name="Line 6"/>
          <p:cNvSpPr>
            <a:spLocks noChangeShapeType="1"/>
          </p:cNvSpPr>
          <p:nvPr/>
        </p:nvSpPr>
        <p:spPr bwMode="auto">
          <a:xfrm>
            <a:off x="5091112" y="3533775"/>
            <a:ext cx="2525713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8"/>
          <p:cNvSpPr txBox="1">
            <a:spLocks noChangeArrowheads="1"/>
          </p:cNvSpPr>
          <p:nvPr/>
        </p:nvSpPr>
        <p:spPr bwMode="auto">
          <a:xfrm>
            <a:off x="4981575" y="2954337"/>
            <a:ext cx="1920875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Membrane</a:t>
            </a:r>
          </a:p>
        </p:txBody>
      </p:sp>
      <p:sp>
        <p:nvSpPr>
          <p:cNvPr id="15" name="Line 9"/>
          <p:cNvSpPr>
            <a:spLocks noChangeShapeType="1"/>
          </p:cNvSpPr>
          <p:nvPr/>
        </p:nvSpPr>
        <p:spPr bwMode="auto">
          <a:xfrm flipH="1">
            <a:off x="5729287" y="3243262"/>
            <a:ext cx="115888" cy="276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Rectangle 2"/>
          <p:cNvSpPr>
            <a:spLocks noChangeArrowheads="1"/>
          </p:cNvSpPr>
          <p:nvPr/>
        </p:nvSpPr>
        <p:spPr bwMode="auto">
          <a:xfrm>
            <a:off x="5105400" y="3519487"/>
            <a:ext cx="2511425" cy="1871663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chemeClr val="accent1"/>
              </a:gs>
            </a:gsLst>
            <a:path path="shape">
              <a:fillToRect l="50000" t="50000" r="50000" b="50000"/>
            </a:path>
          </a:gra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Gas at T</a:t>
            </a:r>
            <a:r>
              <a:rPr lang="en-US" baseline="-25000"/>
              <a:t>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0" y="3505200"/>
            <a:ext cx="152400" cy="76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533400"/>
            <a:ext cx="5181600" cy="52523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123.10.1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In the work energy theorem, </a:t>
            </a:r>
            <a:r>
              <a:rPr lang="en-US" dirty="0">
                <a:sym typeface="Symbol"/>
              </a:rPr>
              <a:t>K = ?</a:t>
            </a:r>
          </a:p>
          <a:p>
            <a:pPr>
              <a:buNone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w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U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F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0.5mv</a:t>
            </a:r>
            <a:r>
              <a:rPr lang="en-US" baseline="30000" dirty="0">
                <a:sym typeface="Symbol"/>
              </a:rPr>
              <a:t>2</a:t>
            </a:r>
            <a:endParaRPr lang="en-US" baseline="30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4437187" y="3244334"/>
            <a:ext cx="26962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aseline="30000" dirty="0">
                <a:sym typeface="Symbol"/>
              </a:rPr>
              <a:t>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99798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123.10.2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1714" y="1179285"/>
            <a:ext cx="8229600" cy="4525963"/>
          </a:xfrm>
        </p:spPr>
        <p:txBody>
          <a:bodyPr>
            <a:normAutofit fontScale="77500" lnSpcReduction="20000"/>
          </a:bodyPr>
          <a:lstStyle/>
          <a:p>
            <a:pPr>
              <a:buNone/>
            </a:pPr>
            <a:r>
              <a:rPr lang="en-US" dirty="0"/>
              <a:t>Mechanical work is defined as …</a:t>
            </a:r>
            <a:endParaRPr lang="en-US" dirty="0">
              <a:sym typeface="Symbol"/>
            </a:endParaRPr>
          </a:p>
          <a:p>
            <a:pPr>
              <a:buNone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 F/A</a:t>
            </a: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 </a:t>
            </a: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  0.5mv</a:t>
            </a:r>
            <a:r>
              <a:rPr lang="en-US" baseline="30000" dirty="0">
                <a:sym typeface="Symbol"/>
              </a:rPr>
              <a:t>2</a:t>
            </a: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  PH 123</a:t>
            </a:r>
          </a:p>
          <a:p>
            <a:pPr marL="514350" indent="-514350">
              <a:buNone/>
            </a:pPr>
            <a:r>
              <a:rPr lang="en-US" dirty="0">
                <a:sym typeface="Symbol"/>
              </a:rPr>
              <a:t> </a:t>
            </a:r>
          </a:p>
          <a:p>
            <a:pPr marL="514350" indent="-514350">
              <a:buNone/>
            </a:pPr>
            <a:r>
              <a:rPr lang="en-US" dirty="0">
                <a:sym typeface="Symbol"/>
              </a:rPr>
              <a:t> </a:t>
            </a: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endParaRPr lang="en-US" baseline="30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sp>
        <p:nvSpPr>
          <p:cNvPr id="292866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292865" name="Object 1"/>
          <p:cNvGraphicFramePr>
            <a:graphicFrameLocks noChangeAspect="1"/>
          </p:cNvGraphicFramePr>
          <p:nvPr/>
        </p:nvGraphicFramePr>
        <p:xfrm>
          <a:off x="1076325" y="2538413"/>
          <a:ext cx="1870075" cy="72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14400" imgH="355320" progId="Equation.3">
                  <p:embed/>
                </p:oleObj>
              </mc:Choice>
              <mc:Fallback>
                <p:oleObj name="Equation" r:id="rId2" imgW="914400" imgH="355320" progId="Equation.3">
                  <p:embed/>
                  <p:pic>
                    <p:nvPicPr>
                      <p:cNvPr id="292865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76325" y="2538413"/>
                        <a:ext cx="1870075" cy="723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8214524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123.10.2.4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The quantity </a:t>
            </a:r>
            <a:r>
              <a:rPr lang="en-US" dirty="0">
                <a:sym typeface="Symbol"/>
              </a:rPr>
              <a:t>U = ?</a:t>
            </a:r>
          </a:p>
          <a:p>
            <a:pPr>
              <a:buNone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-w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F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45.3mv</a:t>
            </a:r>
            <a:r>
              <a:rPr lang="en-US" baseline="30000" dirty="0">
                <a:sym typeface="Symbol"/>
              </a:rPr>
              <a:t>2</a:t>
            </a:r>
            <a:endParaRPr lang="en-US" baseline="30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4437187" y="3244334"/>
            <a:ext cx="26962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aseline="30000" dirty="0">
                <a:sym typeface="Symbol"/>
              </a:rPr>
              <a:t>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67098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34055BB9-5F03-4E0E-A159-328DD34FA0AD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1812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123.10.2.5</a:t>
            </a:r>
          </a:p>
        </p:txBody>
      </p:sp>
      <p:sp>
        <p:nvSpPr>
          <p:cNvPr id="18125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4645025" cy="4525963"/>
          </a:xfrm>
        </p:spPr>
        <p:txBody>
          <a:bodyPr/>
          <a:lstStyle/>
          <a:p>
            <a:pPr eaLnBrk="1" hangingPunct="1">
              <a:buFontTx/>
              <a:buNone/>
            </a:pPr>
            <a:r>
              <a:rPr lang="en-US"/>
              <a:t>A force, F, does work. Which of the F vs x diagrams represents the most work done? 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6348413" y="1639888"/>
            <a:ext cx="2030412" cy="1854200"/>
            <a:chOff x="3999" y="1033"/>
            <a:chExt cx="1279" cy="1168"/>
          </a:xfrm>
        </p:grpSpPr>
        <p:sp>
          <p:nvSpPr>
            <p:cNvPr id="181265" name="Line 5"/>
            <p:cNvSpPr>
              <a:spLocks noChangeShapeType="1"/>
            </p:cNvSpPr>
            <p:nvPr/>
          </p:nvSpPr>
          <p:spPr bwMode="auto">
            <a:xfrm>
              <a:off x="4215" y="1115"/>
              <a:ext cx="0" cy="100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1266" name="Line 6"/>
            <p:cNvSpPr>
              <a:spLocks noChangeShapeType="1"/>
            </p:cNvSpPr>
            <p:nvPr/>
          </p:nvSpPr>
          <p:spPr bwMode="auto">
            <a:xfrm>
              <a:off x="4123" y="1984"/>
              <a:ext cx="105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1267" name="Oval 7"/>
            <p:cNvSpPr>
              <a:spLocks noChangeArrowheads="1"/>
            </p:cNvSpPr>
            <p:nvPr/>
          </p:nvSpPr>
          <p:spPr bwMode="auto">
            <a:xfrm>
              <a:off x="4389" y="1756"/>
              <a:ext cx="73" cy="56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endParaRPr lang="en-US"/>
            </a:p>
          </p:txBody>
        </p:sp>
        <p:sp>
          <p:nvSpPr>
            <p:cNvPr id="181268" name="Oval 8"/>
            <p:cNvSpPr>
              <a:spLocks noChangeArrowheads="1"/>
            </p:cNvSpPr>
            <p:nvPr/>
          </p:nvSpPr>
          <p:spPr bwMode="auto">
            <a:xfrm>
              <a:off x="4841" y="1422"/>
              <a:ext cx="73" cy="56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1269" name="Line 9"/>
            <p:cNvSpPr>
              <a:spLocks noChangeShapeType="1"/>
            </p:cNvSpPr>
            <p:nvPr/>
          </p:nvSpPr>
          <p:spPr bwMode="auto">
            <a:xfrm flipV="1">
              <a:off x="4425" y="1445"/>
              <a:ext cx="466" cy="33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1270" name="Text Box 10"/>
            <p:cNvSpPr txBox="1">
              <a:spLocks noChangeArrowheads="1"/>
            </p:cNvSpPr>
            <p:nvPr/>
          </p:nvSpPr>
          <p:spPr bwMode="auto">
            <a:xfrm>
              <a:off x="5090" y="1970"/>
              <a:ext cx="188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x</a:t>
              </a:r>
            </a:p>
          </p:txBody>
        </p:sp>
        <p:sp>
          <p:nvSpPr>
            <p:cNvPr id="181271" name="Text Box 11"/>
            <p:cNvSpPr txBox="1">
              <a:spLocks noChangeArrowheads="1"/>
            </p:cNvSpPr>
            <p:nvPr/>
          </p:nvSpPr>
          <p:spPr bwMode="auto">
            <a:xfrm>
              <a:off x="3999" y="1033"/>
              <a:ext cx="204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F</a:t>
              </a:r>
            </a:p>
          </p:txBody>
        </p:sp>
        <p:sp>
          <p:nvSpPr>
            <p:cNvPr id="181272" name="Text Box 12"/>
            <p:cNvSpPr txBox="1">
              <a:spLocks noChangeArrowheads="1"/>
            </p:cNvSpPr>
            <p:nvPr/>
          </p:nvSpPr>
          <p:spPr bwMode="auto">
            <a:xfrm>
              <a:off x="4945" y="1298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B</a:t>
              </a:r>
            </a:p>
          </p:txBody>
        </p:sp>
        <p:sp>
          <p:nvSpPr>
            <p:cNvPr id="181273" name="Text Box 13"/>
            <p:cNvSpPr txBox="1">
              <a:spLocks noChangeArrowheads="1"/>
            </p:cNvSpPr>
            <p:nvPr/>
          </p:nvSpPr>
          <p:spPr bwMode="auto">
            <a:xfrm>
              <a:off x="4305" y="1481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A</a:t>
              </a:r>
            </a:p>
          </p:txBody>
        </p:sp>
      </p:grpSp>
      <p:sp>
        <p:nvSpPr>
          <p:cNvPr id="181254" name="Line 14"/>
          <p:cNvSpPr>
            <a:spLocks noChangeShapeType="1"/>
          </p:cNvSpPr>
          <p:nvPr/>
        </p:nvSpPr>
        <p:spPr bwMode="auto">
          <a:xfrm>
            <a:off x="6678613" y="3713163"/>
            <a:ext cx="0" cy="15970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1255" name="Line 15"/>
          <p:cNvSpPr>
            <a:spLocks noChangeShapeType="1"/>
          </p:cNvSpPr>
          <p:nvPr/>
        </p:nvSpPr>
        <p:spPr bwMode="auto">
          <a:xfrm>
            <a:off x="6532563" y="5092700"/>
            <a:ext cx="16700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1256" name="Oval 16"/>
          <p:cNvSpPr>
            <a:spLocks noChangeArrowheads="1"/>
          </p:cNvSpPr>
          <p:nvPr/>
        </p:nvSpPr>
        <p:spPr bwMode="auto">
          <a:xfrm>
            <a:off x="6954838" y="4730750"/>
            <a:ext cx="115887" cy="88900"/>
          </a:xfrm>
          <a:prstGeom prst="ellipse">
            <a:avLst/>
          </a:prstGeom>
          <a:solidFill>
            <a:schemeClr val="tx1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pPr algn="ctr"/>
            <a:endParaRPr lang="en-US"/>
          </a:p>
        </p:txBody>
      </p:sp>
      <p:sp>
        <p:nvSpPr>
          <p:cNvPr id="181257" name="Oval 17"/>
          <p:cNvSpPr>
            <a:spLocks noChangeArrowheads="1"/>
          </p:cNvSpPr>
          <p:nvPr/>
        </p:nvSpPr>
        <p:spPr bwMode="auto">
          <a:xfrm>
            <a:off x="7672388" y="4200525"/>
            <a:ext cx="115887" cy="88900"/>
          </a:xfrm>
          <a:prstGeom prst="ellipse">
            <a:avLst/>
          </a:prstGeom>
          <a:solidFill>
            <a:schemeClr val="tx1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1258" name="Text Box 18"/>
          <p:cNvSpPr txBox="1">
            <a:spLocks noChangeArrowheads="1"/>
          </p:cNvSpPr>
          <p:nvPr/>
        </p:nvSpPr>
        <p:spPr bwMode="auto">
          <a:xfrm>
            <a:off x="8067675" y="5070475"/>
            <a:ext cx="2984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x</a:t>
            </a:r>
          </a:p>
        </p:txBody>
      </p:sp>
      <p:sp>
        <p:nvSpPr>
          <p:cNvPr id="181259" name="Text Box 19"/>
          <p:cNvSpPr txBox="1">
            <a:spLocks noChangeArrowheads="1"/>
          </p:cNvSpPr>
          <p:nvPr/>
        </p:nvSpPr>
        <p:spPr bwMode="auto">
          <a:xfrm>
            <a:off x="6335713" y="3582988"/>
            <a:ext cx="3238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F</a:t>
            </a:r>
          </a:p>
        </p:txBody>
      </p:sp>
      <p:sp>
        <p:nvSpPr>
          <p:cNvPr id="181260" name="Text Box 20"/>
          <p:cNvSpPr txBox="1">
            <a:spLocks noChangeArrowheads="1"/>
          </p:cNvSpPr>
          <p:nvPr/>
        </p:nvSpPr>
        <p:spPr bwMode="auto">
          <a:xfrm>
            <a:off x="7837488" y="4003675"/>
            <a:ext cx="3365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B</a:t>
            </a:r>
          </a:p>
        </p:txBody>
      </p:sp>
      <p:sp>
        <p:nvSpPr>
          <p:cNvPr id="181261" name="Text Box 21"/>
          <p:cNvSpPr txBox="1">
            <a:spLocks noChangeArrowheads="1"/>
          </p:cNvSpPr>
          <p:nvPr/>
        </p:nvSpPr>
        <p:spPr bwMode="auto">
          <a:xfrm>
            <a:off x="6770688" y="4306888"/>
            <a:ext cx="3365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181262" name="Freeform 22"/>
          <p:cNvSpPr>
            <a:spLocks/>
          </p:cNvSpPr>
          <p:nvPr/>
        </p:nvSpPr>
        <p:spPr bwMode="auto">
          <a:xfrm>
            <a:off x="7023100" y="4241800"/>
            <a:ext cx="673100" cy="533400"/>
          </a:xfrm>
          <a:custGeom>
            <a:avLst/>
            <a:gdLst>
              <a:gd name="T0" fmla="*/ 0 w 424"/>
              <a:gd name="T1" fmla="*/ 2147483647 h 336"/>
              <a:gd name="T2" fmla="*/ 0 w 424"/>
              <a:gd name="T3" fmla="*/ 0 h 336"/>
              <a:gd name="T4" fmla="*/ 2147483647 w 424"/>
              <a:gd name="T5" fmla="*/ 0 h 336"/>
              <a:gd name="T6" fmla="*/ 0 60000 65536"/>
              <a:gd name="T7" fmla="*/ 0 60000 65536"/>
              <a:gd name="T8" fmla="*/ 0 60000 65536"/>
              <a:gd name="T9" fmla="*/ 0 w 424"/>
              <a:gd name="T10" fmla="*/ 0 h 336"/>
              <a:gd name="T11" fmla="*/ 424 w 424"/>
              <a:gd name="T12" fmla="*/ 336 h 3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24" h="336">
                <a:moveTo>
                  <a:pt x="0" y="336"/>
                </a:moveTo>
                <a:lnTo>
                  <a:pt x="0" y="0"/>
                </a:lnTo>
                <a:lnTo>
                  <a:pt x="424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1263" name="Text Box 23"/>
          <p:cNvSpPr txBox="1">
            <a:spLocks noChangeArrowheads="1"/>
          </p:cNvSpPr>
          <p:nvPr/>
        </p:nvSpPr>
        <p:spPr bwMode="auto">
          <a:xfrm>
            <a:off x="5838825" y="2386013"/>
            <a:ext cx="3365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181264" name="Text Box 24"/>
          <p:cNvSpPr txBox="1">
            <a:spLocks noChangeArrowheads="1"/>
          </p:cNvSpPr>
          <p:nvPr/>
        </p:nvSpPr>
        <p:spPr bwMode="auto">
          <a:xfrm>
            <a:off x="5864225" y="4125913"/>
            <a:ext cx="3365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4709853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123.10.3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1714" y="1179285"/>
            <a:ext cx="8229600" cy="4525963"/>
          </a:xfrm>
        </p:spPr>
        <p:txBody>
          <a:bodyPr>
            <a:normAutofit lnSpcReduction="10000"/>
          </a:bodyPr>
          <a:lstStyle/>
          <a:p>
            <a:pPr>
              <a:buNone/>
            </a:pPr>
            <a:r>
              <a:rPr lang="en-US" dirty="0"/>
              <a:t>Is mechanical energy conserved?</a:t>
            </a:r>
          </a:p>
          <a:p>
            <a:pPr>
              <a:buNone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Yes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No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Maybe sometimes</a:t>
            </a: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None/>
            </a:pPr>
            <a:r>
              <a:rPr lang="en-US" dirty="0">
                <a:sym typeface="Symbol"/>
              </a:rPr>
              <a:t> </a:t>
            </a:r>
          </a:p>
          <a:p>
            <a:pPr marL="514350" indent="-514350">
              <a:buNone/>
            </a:pPr>
            <a:r>
              <a:rPr lang="en-US" dirty="0">
                <a:sym typeface="Symbol"/>
              </a:rPr>
              <a:t> </a:t>
            </a: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endParaRPr lang="en-US" baseline="30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sp>
        <p:nvSpPr>
          <p:cNvPr id="292866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8085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123.10.4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1714" y="1179285"/>
            <a:ext cx="8229600" cy="4525963"/>
          </a:xfrm>
        </p:spPr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n-US" dirty="0"/>
              <a:t>How much heat is contained in this room?</a:t>
            </a:r>
          </a:p>
          <a:p>
            <a:pPr>
              <a:buNone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100000J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100000K</a:t>
            </a:r>
          </a:p>
          <a:p>
            <a:pPr marL="514350" indent="-514350">
              <a:buFont typeface="+mj-lt"/>
              <a:buAutoNum type="alphaLcParenR"/>
            </a:pPr>
            <a:r>
              <a:rPr lang="en-US">
                <a:sym typeface="Symbol"/>
              </a:rPr>
              <a:t>100000BTU</a:t>
            </a: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This is a dumb question, rooms don’t “contain” heat.</a:t>
            </a: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None/>
            </a:pPr>
            <a:r>
              <a:rPr lang="en-US" dirty="0">
                <a:sym typeface="Symbol"/>
              </a:rPr>
              <a:t> </a:t>
            </a:r>
          </a:p>
          <a:p>
            <a:pPr marL="514350" indent="-514350">
              <a:buNone/>
            </a:pPr>
            <a:r>
              <a:rPr lang="en-US" dirty="0">
                <a:sym typeface="Symbol"/>
              </a:rPr>
              <a:t> </a:t>
            </a: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endParaRPr lang="en-US" baseline="30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sp>
        <p:nvSpPr>
          <p:cNvPr id="292866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1608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DC59D17-C04A-4EC9-9909-A713446E8F62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9225" name="Rectangle 2"/>
          <p:cNvSpPr>
            <a:spLocks noChangeArrowheads="1"/>
          </p:cNvSpPr>
          <p:nvPr/>
        </p:nvSpPr>
        <p:spPr bwMode="auto">
          <a:xfrm>
            <a:off x="5956300" y="3987800"/>
            <a:ext cx="1041400" cy="723900"/>
          </a:xfrm>
          <a:prstGeom prst="rect">
            <a:avLst/>
          </a:prstGeom>
          <a:solidFill>
            <a:srgbClr val="FFFF99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226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123.10.5</a:t>
            </a:r>
          </a:p>
        </p:txBody>
      </p:sp>
      <p:sp>
        <p:nvSpPr>
          <p:cNvPr id="9227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556000" cy="4525963"/>
          </a:xfrm>
        </p:spPr>
        <p:txBody>
          <a:bodyPr/>
          <a:lstStyle/>
          <a:p>
            <a:pPr eaLnBrk="1" hangingPunct="1"/>
            <a:r>
              <a:rPr lang="en-US"/>
              <a:t>Which PV graph represents a cyclic process?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5710238" y="1727200"/>
            <a:ext cx="2112962" cy="1570038"/>
            <a:chOff x="2461" y="1088"/>
            <a:chExt cx="3299" cy="2149"/>
          </a:xfrm>
        </p:grpSpPr>
        <p:sp>
          <p:nvSpPr>
            <p:cNvPr id="9241" name="Line 6"/>
            <p:cNvSpPr>
              <a:spLocks noChangeShapeType="1"/>
            </p:cNvSpPr>
            <p:nvPr/>
          </p:nvSpPr>
          <p:spPr bwMode="auto">
            <a:xfrm flipV="1">
              <a:off x="2941" y="1136"/>
              <a:ext cx="0" cy="17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42" name="Line 7"/>
            <p:cNvSpPr>
              <a:spLocks noChangeShapeType="1"/>
            </p:cNvSpPr>
            <p:nvPr/>
          </p:nvSpPr>
          <p:spPr bwMode="auto">
            <a:xfrm>
              <a:off x="2941" y="2864"/>
              <a:ext cx="235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graphicFrame>
          <p:nvGraphicFramePr>
            <p:cNvPr id="9222" name="Object 8"/>
            <p:cNvGraphicFramePr>
              <a:graphicFrameLocks noChangeAspect="1"/>
            </p:cNvGraphicFramePr>
            <p:nvPr/>
          </p:nvGraphicFramePr>
          <p:xfrm>
            <a:off x="2461" y="1088"/>
            <a:ext cx="323" cy="35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52280" imgH="164880" progId="Equation.3">
                    <p:embed/>
                  </p:oleObj>
                </mc:Choice>
                <mc:Fallback>
                  <p:oleObj name="Equation" r:id="rId2" imgW="152280" imgH="164880" progId="Equation.3">
                    <p:embed/>
                    <p:pic>
                      <p:nvPicPr>
                        <p:cNvPr id="9222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61" y="1088"/>
                          <a:ext cx="323" cy="35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9223" name="Object 9"/>
            <p:cNvGraphicFramePr>
              <a:graphicFrameLocks noChangeAspect="1"/>
            </p:cNvGraphicFramePr>
            <p:nvPr/>
          </p:nvGraphicFramePr>
          <p:xfrm>
            <a:off x="5437" y="2850"/>
            <a:ext cx="323" cy="38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52280" imgH="177480" progId="Equation.3">
                    <p:embed/>
                  </p:oleObj>
                </mc:Choice>
                <mc:Fallback>
                  <p:oleObj name="Equation" r:id="rId4" imgW="152280" imgH="177480" progId="Equation.3">
                    <p:embed/>
                    <p:pic>
                      <p:nvPicPr>
                        <p:cNvPr id="9223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37" y="2850"/>
                          <a:ext cx="323" cy="38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243" name="Freeform 10"/>
            <p:cNvSpPr>
              <a:spLocks/>
            </p:cNvSpPr>
            <p:nvPr/>
          </p:nvSpPr>
          <p:spPr bwMode="auto">
            <a:xfrm>
              <a:off x="3269" y="1392"/>
              <a:ext cx="1384" cy="1088"/>
            </a:xfrm>
            <a:custGeom>
              <a:avLst/>
              <a:gdLst>
                <a:gd name="T0" fmla="*/ 8 w 1384"/>
                <a:gd name="T1" fmla="*/ 416 h 1088"/>
                <a:gd name="T2" fmla="*/ 488 w 1384"/>
                <a:gd name="T3" fmla="*/ 32 h 1088"/>
                <a:gd name="T4" fmla="*/ 1112 w 1384"/>
                <a:gd name="T5" fmla="*/ 224 h 1088"/>
                <a:gd name="T6" fmla="*/ 1352 w 1384"/>
                <a:gd name="T7" fmla="*/ 752 h 1088"/>
                <a:gd name="T8" fmla="*/ 1304 w 1384"/>
                <a:gd name="T9" fmla="*/ 896 h 1088"/>
                <a:gd name="T10" fmla="*/ 1112 w 1384"/>
                <a:gd name="T11" fmla="*/ 1040 h 1088"/>
                <a:gd name="T12" fmla="*/ 440 w 1384"/>
                <a:gd name="T13" fmla="*/ 992 h 1088"/>
                <a:gd name="T14" fmla="*/ 8 w 1384"/>
                <a:gd name="T15" fmla="*/ 416 h 1088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384"/>
                <a:gd name="T25" fmla="*/ 0 h 1088"/>
                <a:gd name="T26" fmla="*/ 1384 w 1384"/>
                <a:gd name="T27" fmla="*/ 1088 h 1088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384" h="1088">
                  <a:moveTo>
                    <a:pt x="8" y="416"/>
                  </a:moveTo>
                  <a:cubicBezTo>
                    <a:pt x="16" y="256"/>
                    <a:pt x="304" y="64"/>
                    <a:pt x="488" y="32"/>
                  </a:cubicBezTo>
                  <a:cubicBezTo>
                    <a:pt x="672" y="0"/>
                    <a:pt x="968" y="104"/>
                    <a:pt x="1112" y="224"/>
                  </a:cubicBezTo>
                  <a:cubicBezTo>
                    <a:pt x="1256" y="344"/>
                    <a:pt x="1320" y="640"/>
                    <a:pt x="1352" y="752"/>
                  </a:cubicBezTo>
                  <a:cubicBezTo>
                    <a:pt x="1384" y="864"/>
                    <a:pt x="1344" y="848"/>
                    <a:pt x="1304" y="896"/>
                  </a:cubicBezTo>
                  <a:cubicBezTo>
                    <a:pt x="1264" y="944"/>
                    <a:pt x="1256" y="1024"/>
                    <a:pt x="1112" y="1040"/>
                  </a:cubicBezTo>
                  <a:cubicBezTo>
                    <a:pt x="968" y="1056"/>
                    <a:pt x="624" y="1088"/>
                    <a:pt x="440" y="992"/>
                  </a:cubicBezTo>
                  <a:cubicBezTo>
                    <a:pt x="256" y="896"/>
                    <a:pt x="0" y="576"/>
                    <a:pt x="8" y="416"/>
                  </a:cubicBezTo>
                  <a:close/>
                </a:path>
              </a:pathLst>
            </a:custGeom>
            <a:solidFill>
              <a:srgbClr val="FFFF99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44" name="Oval 11"/>
            <p:cNvSpPr>
              <a:spLocks noChangeArrowheads="1"/>
            </p:cNvSpPr>
            <p:nvPr/>
          </p:nvSpPr>
          <p:spPr bwMode="auto">
            <a:xfrm>
              <a:off x="3229" y="1712"/>
              <a:ext cx="96" cy="9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45" name="Line 12"/>
            <p:cNvSpPr>
              <a:spLocks noChangeShapeType="1"/>
            </p:cNvSpPr>
            <p:nvPr/>
          </p:nvSpPr>
          <p:spPr bwMode="auto">
            <a:xfrm>
              <a:off x="3949" y="1424"/>
              <a:ext cx="192" cy="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lg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46" name="Line 13"/>
            <p:cNvSpPr>
              <a:spLocks noChangeShapeType="1"/>
            </p:cNvSpPr>
            <p:nvPr/>
          </p:nvSpPr>
          <p:spPr bwMode="auto">
            <a:xfrm flipH="1" flipV="1">
              <a:off x="4093" y="2432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lg" len="med"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29" name="Line 14"/>
          <p:cNvSpPr>
            <a:spLocks noChangeShapeType="1"/>
          </p:cNvSpPr>
          <p:nvPr/>
        </p:nvSpPr>
        <p:spPr bwMode="auto">
          <a:xfrm flipV="1">
            <a:off x="5967413" y="3463925"/>
            <a:ext cx="0" cy="12620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9230" name="Line 15"/>
          <p:cNvSpPr>
            <a:spLocks noChangeShapeType="1"/>
          </p:cNvSpPr>
          <p:nvPr/>
        </p:nvSpPr>
        <p:spPr bwMode="auto">
          <a:xfrm>
            <a:off x="5967413" y="4725988"/>
            <a:ext cx="15065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9218" name="Object 16"/>
          <p:cNvGraphicFramePr>
            <a:graphicFrameLocks noChangeAspect="1"/>
          </p:cNvGraphicFramePr>
          <p:nvPr/>
        </p:nvGraphicFramePr>
        <p:xfrm>
          <a:off x="5659438" y="3429000"/>
          <a:ext cx="206375" cy="261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2280" imgH="164880" progId="Equation.3">
                  <p:embed/>
                </p:oleObj>
              </mc:Choice>
              <mc:Fallback>
                <p:oleObj name="Equation" r:id="rId6" imgW="152280" imgH="164880" progId="Equation.3">
                  <p:embed/>
                  <p:pic>
                    <p:nvPicPr>
                      <p:cNvPr id="9218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59438" y="3429000"/>
                        <a:ext cx="206375" cy="2619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19" name="Object 17"/>
          <p:cNvGraphicFramePr>
            <a:graphicFrameLocks noChangeAspect="1"/>
          </p:cNvGraphicFramePr>
          <p:nvPr/>
        </p:nvGraphicFramePr>
        <p:xfrm>
          <a:off x="7566025" y="4716463"/>
          <a:ext cx="206375" cy="282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52280" imgH="177480" progId="Equation.3">
                  <p:embed/>
                </p:oleObj>
              </mc:Choice>
              <mc:Fallback>
                <p:oleObj name="Equation" r:id="rId8" imgW="152280" imgH="177480" progId="Equation.3">
                  <p:embed/>
                  <p:pic>
                    <p:nvPicPr>
                      <p:cNvPr id="9219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66025" y="4716463"/>
                        <a:ext cx="206375" cy="2825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231" name="Oval 18"/>
          <p:cNvSpPr>
            <a:spLocks noChangeArrowheads="1"/>
          </p:cNvSpPr>
          <p:nvPr/>
        </p:nvSpPr>
        <p:spPr bwMode="auto">
          <a:xfrm>
            <a:off x="5948363" y="3960813"/>
            <a:ext cx="61912" cy="69850"/>
          </a:xfrm>
          <a:prstGeom prst="ellipse">
            <a:avLst/>
          </a:prstGeom>
          <a:solidFill>
            <a:schemeClr val="bg2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3" name="Group 19"/>
          <p:cNvGrpSpPr>
            <a:grpSpLocks/>
          </p:cNvGrpSpPr>
          <p:nvPr/>
        </p:nvGrpSpPr>
        <p:grpSpPr bwMode="auto">
          <a:xfrm>
            <a:off x="1595438" y="3949700"/>
            <a:ext cx="2112962" cy="1570038"/>
            <a:chOff x="1005" y="2488"/>
            <a:chExt cx="1331" cy="989"/>
          </a:xfrm>
        </p:grpSpPr>
        <p:sp>
          <p:nvSpPr>
            <p:cNvPr id="9238" name="Line 20"/>
            <p:cNvSpPr>
              <a:spLocks noChangeShapeType="1"/>
            </p:cNvSpPr>
            <p:nvPr/>
          </p:nvSpPr>
          <p:spPr bwMode="auto">
            <a:xfrm flipV="1">
              <a:off x="1199" y="2510"/>
              <a:ext cx="0" cy="79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39" name="Line 21"/>
            <p:cNvSpPr>
              <a:spLocks noChangeShapeType="1"/>
            </p:cNvSpPr>
            <p:nvPr/>
          </p:nvSpPr>
          <p:spPr bwMode="auto">
            <a:xfrm>
              <a:off x="1199" y="3305"/>
              <a:ext cx="94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graphicFrame>
          <p:nvGraphicFramePr>
            <p:cNvPr id="9220" name="Object 22"/>
            <p:cNvGraphicFramePr>
              <a:graphicFrameLocks noChangeAspect="1"/>
            </p:cNvGraphicFramePr>
            <p:nvPr/>
          </p:nvGraphicFramePr>
          <p:xfrm>
            <a:off x="1005" y="2488"/>
            <a:ext cx="130" cy="16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152280" imgH="164880" progId="Equation.3">
                    <p:embed/>
                  </p:oleObj>
                </mc:Choice>
                <mc:Fallback>
                  <p:oleObj name="Equation" r:id="rId10" imgW="152280" imgH="164880" progId="Equation.3">
                    <p:embed/>
                    <p:pic>
                      <p:nvPicPr>
                        <p:cNvPr id="9220" name="Object 2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05" y="2488"/>
                          <a:ext cx="130" cy="16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9221" name="Object 23"/>
            <p:cNvGraphicFramePr>
              <a:graphicFrameLocks noChangeAspect="1"/>
            </p:cNvGraphicFramePr>
            <p:nvPr/>
          </p:nvGraphicFramePr>
          <p:xfrm>
            <a:off x="2206" y="3299"/>
            <a:ext cx="130" cy="17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152280" imgH="177480" progId="Equation.3">
                    <p:embed/>
                  </p:oleObj>
                </mc:Choice>
                <mc:Fallback>
                  <p:oleObj name="Equation" r:id="rId12" imgW="152280" imgH="177480" progId="Equation.3">
                    <p:embed/>
                    <p:pic>
                      <p:nvPicPr>
                        <p:cNvPr id="9221" name="Object 2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206" y="3299"/>
                          <a:ext cx="130" cy="17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240" name="Oval 24"/>
            <p:cNvSpPr>
              <a:spLocks noChangeArrowheads="1"/>
            </p:cNvSpPr>
            <p:nvPr/>
          </p:nvSpPr>
          <p:spPr bwMode="auto">
            <a:xfrm>
              <a:off x="1315" y="2775"/>
              <a:ext cx="39" cy="44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9233" name="Oval 25"/>
          <p:cNvSpPr>
            <a:spLocks noChangeArrowheads="1"/>
          </p:cNvSpPr>
          <p:nvPr/>
        </p:nvSpPr>
        <p:spPr bwMode="auto">
          <a:xfrm>
            <a:off x="7002463" y="4684713"/>
            <a:ext cx="61912" cy="69850"/>
          </a:xfrm>
          <a:prstGeom prst="ellipse">
            <a:avLst/>
          </a:prstGeom>
          <a:solidFill>
            <a:schemeClr val="bg2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234" name="Freeform 26"/>
          <p:cNvSpPr>
            <a:spLocks/>
          </p:cNvSpPr>
          <p:nvPr/>
        </p:nvSpPr>
        <p:spPr bwMode="auto">
          <a:xfrm>
            <a:off x="5969000" y="3987800"/>
            <a:ext cx="1041400" cy="723900"/>
          </a:xfrm>
          <a:custGeom>
            <a:avLst/>
            <a:gdLst>
              <a:gd name="T0" fmla="*/ 0 w 656"/>
              <a:gd name="T1" fmla="*/ 0 h 456"/>
              <a:gd name="T2" fmla="*/ 2147483647 w 656"/>
              <a:gd name="T3" fmla="*/ 0 h 456"/>
              <a:gd name="T4" fmla="*/ 2147483647 w 656"/>
              <a:gd name="T5" fmla="*/ 2147483647 h 456"/>
              <a:gd name="T6" fmla="*/ 0 60000 65536"/>
              <a:gd name="T7" fmla="*/ 0 60000 65536"/>
              <a:gd name="T8" fmla="*/ 0 60000 65536"/>
              <a:gd name="T9" fmla="*/ 0 w 656"/>
              <a:gd name="T10" fmla="*/ 0 h 456"/>
              <a:gd name="T11" fmla="*/ 656 w 656"/>
              <a:gd name="T12" fmla="*/ 456 h 45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56" h="456">
                <a:moveTo>
                  <a:pt x="0" y="0"/>
                </a:moveTo>
                <a:lnTo>
                  <a:pt x="656" y="0"/>
                </a:lnTo>
                <a:lnTo>
                  <a:pt x="656" y="456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235" name="Text Box 27"/>
          <p:cNvSpPr txBox="1">
            <a:spLocks noChangeArrowheads="1"/>
          </p:cNvSpPr>
          <p:nvPr/>
        </p:nvSpPr>
        <p:spPr bwMode="auto">
          <a:xfrm>
            <a:off x="2339975" y="5472113"/>
            <a:ext cx="3492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C</a:t>
            </a:r>
          </a:p>
        </p:txBody>
      </p:sp>
      <p:sp>
        <p:nvSpPr>
          <p:cNvPr id="9236" name="Text Box 28"/>
          <p:cNvSpPr txBox="1">
            <a:spLocks noChangeArrowheads="1"/>
          </p:cNvSpPr>
          <p:nvPr/>
        </p:nvSpPr>
        <p:spPr bwMode="auto">
          <a:xfrm>
            <a:off x="6245225" y="4938713"/>
            <a:ext cx="3365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B</a:t>
            </a:r>
          </a:p>
        </p:txBody>
      </p:sp>
      <p:sp>
        <p:nvSpPr>
          <p:cNvPr id="9237" name="Text Box 29"/>
          <p:cNvSpPr txBox="1">
            <a:spLocks noChangeArrowheads="1"/>
          </p:cNvSpPr>
          <p:nvPr/>
        </p:nvSpPr>
        <p:spPr bwMode="auto">
          <a:xfrm>
            <a:off x="6651625" y="3211513"/>
            <a:ext cx="3365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40020462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1B5BEF6-E342-43E9-9156-A1D0A84D75FA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1843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123.10.6</a:t>
            </a:r>
          </a:p>
        </p:txBody>
      </p:sp>
      <p:sp>
        <p:nvSpPr>
          <p:cNvPr id="18432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By observing a system we find that </a:t>
            </a:r>
          </a:p>
          <a:p>
            <a:pPr marL="609600" indent="-609600" eaLnBrk="1" hangingPunct="1">
              <a:buFontTx/>
              <a:buNone/>
            </a:pPr>
            <a:r>
              <a:rPr lang="en-US" dirty="0"/>
              <a:t>                    W = -Q</a:t>
            </a:r>
          </a:p>
          <a:p>
            <a:pPr marL="609600" indent="-609600" eaLnBrk="1" hangingPunct="1">
              <a:buFontTx/>
              <a:buNone/>
            </a:pPr>
            <a:r>
              <a:rPr lang="en-US" dirty="0"/>
              <a:t>What can we say about the system?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It is isolated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It is cyclic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It is isobaric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It is closed</a:t>
            </a:r>
          </a:p>
        </p:txBody>
      </p:sp>
    </p:spTree>
    <p:extLst>
      <p:ext uri="{BB962C8B-B14F-4D97-AF65-F5344CB8AC3E}">
        <p14:creationId xmlns:p14="http://schemas.microsoft.com/office/powerpoint/2010/main" val="13119736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9E9A0-0951-3B3E-D532-FA3315C6F1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4375" y="686181"/>
            <a:ext cx="2714625" cy="18097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D750AFF-282F-856C-EF2B-9F0A68F42D5F}"/>
              </a:ext>
            </a:extLst>
          </p:cNvPr>
          <p:cNvSpPr/>
          <p:nvPr/>
        </p:nvSpPr>
        <p:spPr>
          <a:xfrm>
            <a:off x="2095500" y="3210585"/>
            <a:ext cx="4953000" cy="19812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0D7E5A-71C2-8DAE-9C61-2C47F1430FFC}"/>
              </a:ext>
            </a:extLst>
          </p:cNvPr>
          <p:cNvSpPr/>
          <p:nvPr/>
        </p:nvSpPr>
        <p:spPr>
          <a:xfrm>
            <a:off x="2552700" y="3489985"/>
            <a:ext cx="4495800" cy="1422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EDCA72-E717-2F4E-E7F7-B88B886F3FB9}"/>
              </a:ext>
            </a:extLst>
          </p:cNvPr>
          <p:cNvSpPr/>
          <p:nvPr/>
        </p:nvSpPr>
        <p:spPr>
          <a:xfrm>
            <a:off x="3909060" y="3489985"/>
            <a:ext cx="457200" cy="1422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1E0977-2F7F-99F0-2437-5CF278580594}"/>
              </a:ext>
            </a:extLst>
          </p:cNvPr>
          <p:cNvSpPr/>
          <p:nvPr/>
        </p:nvSpPr>
        <p:spPr>
          <a:xfrm>
            <a:off x="2558415" y="3489984"/>
            <a:ext cx="1365885" cy="1425575"/>
          </a:xfrm>
          <a:prstGeom prst="rect">
            <a:avLst/>
          </a:pr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Left Arrow 16">
            <a:extLst>
              <a:ext uri="{FF2B5EF4-FFF2-40B4-BE49-F238E27FC236}">
                <a16:creationId xmlns:a16="http://schemas.microsoft.com/office/drawing/2014/main" id="{DE91A885-E709-0F7C-D0F6-44C6F8038306}"/>
              </a:ext>
            </a:extLst>
          </p:cNvPr>
          <p:cNvSpPr/>
          <p:nvPr/>
        </p:nvSpPr>
        <p:spPr>
          <a:xfrm>
            <a:off x="4347303" y="4071088"/>
            <a:ext cx="1158240" cy="33528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1E28DE-0FBC-3ACC-B597-126D613EB4E8}"/>
              </a:ext>
            </a:extLst>
          </p:cNvPr>
          <p:cNvSpPr txBox="1"/>
          <p:nvPr/>
        </p:nvSpPr>
        <p:spPr>
          <a:xfrm>
            <a:off x="5577654" y="3834310"/>
            <a:ext cx="78143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>
                <a:solidFill>
                  <a:srgbClr val="FF0000"/>
                </a:solidFill>
              </a:rPr>
              <a:t>F</a:t>
            </a:r>
            <a:r>
              <a:rPr lang="en-US" sz="4400" baseline="-25000" dirty="0" err="1">
                <a:solidFill>
                  <a:srgbClr val="FF0000"/>
                </a:solidFill>
              </a:rPr>
              <a:t>ex</a:t>
            </a:r>
            <a:endParaRPr lang="en-US" sz="4400" baseline="-25000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E76A14-D75F-EEFF-3BBF-B68EF43F5675}"/>
              </a:ext>
            </a:extLst>
          </p:cNvPr>
          <p:cNvSpPr txBox="1"/>
          <p:nvPr/>
        </p:nvSpPr>
        <p:spPr>
          <a:xfrm>
            <a:off x="2600222" y="3481628"/>
            <a:ext cx="11256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</a:t>
            </a:r>
            <a:r>
              <a:rPr lang="en-US" sz="3200" baseline="-25000" dirty="0"/>
              <a:t>i</a:t>
            </a:r>
            <a:r>
              <a:rPr lang="en-US" sz="3200" dirty="0"/>
              <a:t>    V</a:t>
            </a:r>
            <a:r>
              <a:rPr lang="en-US" sz="3200" baseline="-25000" dirty="0"/>
              <a:t>i</a:t>
            </a:r>
          </a:p>
        </p:txBody>
      </p:sp>
      <p:sp>
        <p:nvSpPr>
          <p:cNvPr id="13" name="Left Arrow 21">
            <a:extLst>
              <a:ext uri="{FF2B5EF4-FFF2-40B4-BE49-F238E27FC236}">
                <a16:creationId xmlns:a16="http://schemas.microsoft.com/office/drawing/2014/main" id="{0A1FE6C6-5882-D8BE-D042-C3D5AE120993}"/>
              </a:ext>
            </a:extLst>
          </p:cNvPr>
          <p:cNvSpPr/>
          <p:nvPr/>
        </p:nvSpPr>
        <p:spPr>
          <a:xfrm flipH="1">
            <a:off x="2776097" y="4045068"/>
            <a:ext cx="1170877" cy="367247"/>
          </a:xfrm>
          <a:prstGeom prst="leftArrow">
            <a:avLst>
              <a:gd name="adj1" fmla="val 50000"/>
              <a:gd name="adj2" fmla="val 53037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3E82C6-5DEE-80D1-C171-DD52B62A0D6A}"/>
              </a:ext>
            </a:extLst>
          </p:cNvPr>
          <p:cNvSpPr txBox="1"/>
          <p:nvPr/>
        </p:nvSpPr>
        <p:spPr>
          <a:xfrm>
            <a:off x="2897644" y="4198583"/>
            <a:ext cx="7024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solidFill>
                  <a:srgbClr val="FF0000"/>
                </a:solidFill>
              </a:rPr>
              <a:t>F</a:t>
            </a:r>
            <a:r>
              <a:rPr lang="en-US" sz="3600" baseline="-25000" dirty="0" err="1">
                <a:solidFill>
                  <a:srgbClr val="FF0000"/>
                </a:solidFill>
              </a:rPr>
              <a:t>pg</a:t>
            </a:r>
            <a:endParaRPr lang="en-US" sz="3600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83128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2088463" y="3820196"/>
            <a:ext cx="4953000" cy="1981200"/>
            <a:chOff x="2057400" y="1371600"/>
            <a:chExt cx="4953000" cy="2971800"/>
          </a:xfrm>
        </p:grpSpPr>
        <p:sp>
          <p:nvSpPr>
            <p:cNvPr id="5" name="Rectangle 4"/>
            <p:cNvSpPr/>
            <p:nvPr/>
          </p:nvSpPr>
          <p:spPr>
            <a:xfrm>
              <a:off x="2057400" y="1371600"/>
              <a:ext cx="4953000" cy="29718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/>
            <p:cNvSpPr/>
            <p:nvPr/>
          </p:nvSpPr>
          <p:spPr>
            <a:xfrm>
              <a:off x="2514600" y="1790700"/>
              <a:ext cx="4495800" cy="2133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876800" y="1790700"/>
              <a:ext cx="457200" cy="21336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/>
            <p:cNvSpPr/>
            <p:nvPr/>
          </p:nvSpPr>
          <p:spPr>
            <a:xfrm>
              <a:off x="2520315" y="1790699"/>
              <a:ext cx="2404110" cy="2138363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Rectangle 10"/>
          <p:cNvSpPr/>
          <p:nvPr/>
        </p:nvSpPr>
        <p:spPr>
          <a:xfrm>
            <a:off x="2073755" y="705129"/>
            <a:ext cx="4953000" cy="19812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2530955" y="984529"/>
            <a:ext cx="4495800" cy="1422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887315" y="984529"/>
            <a:ext cx="457200" cy="1422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2536670" y="984528"/>
            <a:ext cx="1365885" cy="1425575"/>
          </a:xfrm>
          <a:prstGeom prst="rect">
            <a:avLst/>
          </a:pr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Left Arrow 16"/>
          <p:cNvSpPr/>
          <p:nvPr/>
        </p:nvSpPr>
        <p:spPr>
          <a:xfrm>
            <a:off x="4325558" y="1565632"/>
            <a:ext cx="1158240" cy="33528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5555909" y="1328854"/>
            <a:ext cx="78143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>
                <a:solidFill>
                  <a:srgbClr val="FF0000"/>
                </a:solidFill>
              </a:rPr>
              <a:t>F</a:t>
            </a:r>
            <a:r>
              <a:rPr lang="en-US" sz="4400" baseline="-25000" dirty="0" err="1">
                <a:solidFill>
                  <a:srgbClr val="FF0000"/>
                </a:solidFill>
              </a:rPr>
              <a:t>ex</a:t>
            </a:r>
            <a:endParaRPr lang="en-US" sz="4400" baseline="-25000" dirty="0">
              <a:solidFill>
                <a:srgbClr val="FF0000"/>
              </a:solidFill>
            </a:endParaRPr>
          </a:p>
        </p:txBody>
      </p:sp>
      <p:cxnSp>
        <p:nvCxnSpPr>
          <p:cNvPr id="20" name="Straight Connector 19"/>
          <p:cNvCxnSpPr/>
          <p:nvPr/>
        </p:nvCxnSpPr>
        <p:spPr>
          <a:xfrm flipV="1">
            <a:off x="3912190" y="2956560"/>
            <a:ext cx="0" cy="79248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4892040" y="2956560"/>
            <a:ext cx="0" cy="79248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071835" y="3107711"/>
            <a:ext cx="614271" cy="594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ym typeface="Symbol"/>
              </a:rPr>
              <a:t>x</a:t>
            </a:r>
            <a:endParaRPr lang="en-US" sz="3200" dirty="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3348310" y="3413760"/>
            <a:ext cx="54864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H="1">
            <a:off x="4892040" y="3413760"/>
            <a:ext cx="54864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578477" y="976172"/>
            <a:ext cx="11256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</a:t>
            </a:r>
            <a:r>
              <a:rPr lang="en-US" sz="3200" baseline="-25000" dirty="0"/>
              <a:t>i</a:t>
            </a:r>
            <a:r>
              <a:rPr lang="en-US" sz="3200" dirty="0"/>
              <a:t>    V</a:t>
            </a:r>
            <a:r>
              <a:rPr lang="en-US" sz="3200" baseline="-25000" dirty="0"/>
              <a:t>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42839" y="4121870"/>
            <a:ext cx="10767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</a:t>
            </a:r>
            <a:r>
              <a:rPr lang="en-US" sz="3200" baseline="-25000" dirty="0"/>
              <a:t>f</a:t>
            </a:r>
            <a:r>
              <a:rPr lang="en-US" sz="3200" dirty="0"/>
              <a:t>   </a:t>
            </a:r>
            <a:r>
              <a:rPr lang="en-US" sz="3200" dirty="0" err="1"/>
              <a:t>V</a:t>
            </a:r>
            <a:r>
              <a:rPr lang="en-US" sz="3200" baseline="-25000" dirty="0" err="1"/>
              <a:t>f</a:t>
            </a:r>
            <a:endParaRPr lang="en-US" sz="3200" baseline="-25000" dirty="0"/>
          </a:p>
        </p:txBody>
      </p:sp>
      <p:sp>
        <p:nvSpPr>
          <p:cNvPr id="22" name="Left Arrow 21"/>
          <p:cNvSpPr/>
          <p:nvPr/>
        </p:nvSpPr>
        <p:spPr>
          <a:xfrm flipH="1">
            <a:off x="2754352" y="1539612"/>
            <a:ext cx="1170877" cy="367247"/>
          </a:xfrm>
          <a:prstGeom prst="leftArrow">
            <a:avLst>
              <a:gd name="adj1" fmla="val 50000"/>
              <a:gd name="adj2" fmla="val 53037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2875899" y="1693127"/>
            <a:ext cx="7024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solidFill>
                  <a:srgbClr val="FF0000"/>
                </a:solidFill>
              </a:rPr>
              <a:t>F</a:t>
            </a:r>
            <a:r>
              <a:rPr lang="en-US" sz="3600" baseline="-25000" dirty="0" err="1">
                <a:solidFill>
                  <a:srgbClr val="FF0000"/>
                </a:solidFill>
              </a:rPr>
              <a:t>pg</a:t>
            </a:r>
            <a:endParaRPr lang="en-US" sz="3600" baseline="-25000" dirty="0">
              <a:solidFill>
                <a:srgbClr val="FF0000"/>
              </a:solidFill>
            </a:endParaRPr>
          </a:p>
        </p:txBody>
      </p:sp>
      <p:sp>
        <p:nvSpPr>
          <p:cNvPr id="30" name="Left Arrow 29"/>
          <p:cNvSpPr/>
          <p:nvPr/>
        </p:nvSpPr>
        <p:spPr>
          <a:xfrm>
            <a:off x="5336602" y="4595046"/>
            <a:ext cx="1158240" cy="33528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6555801" y="4369420"/>
            <a:ext cx="78143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>
                <a:solidFill>
                  <a:srgbClr val="FF0000"/>
                </a:solidFill>
              </a:rPr>
              <a:t>F</a:t>
            </a:r>
            <a:r>
              <a:rPr lang="en-US" sz="4400" baseline="-25000" dirty="0" err="1">
                <a:solidFill>
                  <a:srgbClr val="FF0000"/>
                </a:solidFill>
              </a:rPr>
              <a:t>ex</a:t>
            </a:r>
            <a:endParaRPr lang="en-US" sz="4400" baseline="-25000" dirty="0">
              <a:solidFill>
                <a:srgbClr val="FF0000"/>
              </a:solidFill>
            </a:endParaRPr>
          </a:p>
        </p:txBody>
      </p:sp>
      <p:sp>
        <p:nvSpPr>
          <p:cNvPr id="32" name="Left Arrow 31"/>
          <p:cNvSpPr/>
          <p:nvPr/>
        </p:nvSpPr>
        <p:spPr>
          <a:xfrm flipH="1">
            <a:off x="3821152" y="4591329"/>
            <a:ext cx="1170877" cy="367247"/>
          </a:xfrm>
          <a:prstGeom prst="leftArrow">
            <a:avLst>
              <a:gd name="adj1" fmla="val 50000"/>
              <a:gd name="adj2" fmla="val 53037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3942699" y="4744844"/>
            <a:ext cx="7024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solidFill>
                  <a:srgbClr val="FF0000"/>
                </a:solidFill>
              </a:rPr>
              <a:t>F</a:t>
            </a:r>
            <a:r>
              <a:rPr lang="en-US" sz="3600" baseline="-25000" dirty="0" err="1">
                <a:solidFill>
                  <a:srgbClr val="FF0000"/>
                </a:solidFill>
              </a:rPr>
              <a:t>pg</a:t>
            </a:r>
            <a:endParaRPr lang="en-US" sz="3600" baseline="-250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BF7A6-0FDB-A15D-7F3E-093C9F7A3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4CC7E75-AE3E-A284-3421-3F780509A1D9}"/>
              </a:ext>
            </a:extLst>
          </p:cNvPr>
          <p:cNvGrpSpPr/>
          <p:nvPr/>
        </p:nvGrpSpPr>
        <p:grpSpPr>
          <a:xfrm>
            <a:off x="2008486" y="944880"/>
            <a:ext cx="4953000" cy="1981200"/>
            <a:chOff x="2057400" y="1371600"/>
            <a:chExt cx="4953000" cy="29718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348340A-A596-38A4-72E2-E3A6BA784FCD}"/>
                </a:ext>
              </a:extLst>
            </p:cNvPr>
            <p:cNvSpPr/>
            <p:nvPr/>
          </p:nvSpPr>
          <p:spPr>
            <a:xfrm>
              <a:off x="2057400" y="1371600"/>
              <a:ext cx="4953000" cy="29718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99B1EBC-7C7C-ED35-7974-E9460E6216C0}"/>
                </a:ext>
              </a:extLst>
            </p:cNvPr>
            <p:cNvSpPr/>
            <p:nvPr/>
          </p:nvSpPr>
          <p:spPr>
            <a:xfrm>
              <a:off x="2514600" y="1790700"/>
              <a:ext cx="4495800" cy="2133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E09D3A4-DB36-04C0-5275-88FD21EF93C1}"/>
                </a:ext>
              </a:extLst>
            </p:cNvPr>
            <p:cNvSpPr/>
            <p:nvPr/>
          </p:nvSpPr>
          <p:spPr>
            <a:xfrm>
              <a:off x="4876800" y="1790700"/>
              <a:ext cx="457200" cy="21336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6A80A2E-48EC-EDB8-9909-A5DEA64FC671}"/>
                </a:ext>
              </a:extLst>
            </p:cNvPr>
            <p:cNvSpPr/>
            <p:nvPr/>
          </p:nvSpPr>
          <p:spPr>
            <a:xfrm>
              <a:off x="2520315" y="1790699"/>
              <a:ext cx="2404110" cy="2138363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CEEE9BB2-6514-ED20-7A99-D7A676F08B6B}"/>
              </a:ext>
            </a:extLst>
          </p:cNvPr>
          <p:cNvSpPr/>
          <p:nvPr/>
        </p:nvSpPr>
        <p:spPr>
          <a:xfrm>
            <a:off x="2008486" y="3901441"/>
            <a:ext cx="4953000" cy="19812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E44CF1-1253-190C-D04A-EF5F8AE586AB}"/>
              </a:ext>
            </a:extLst>
          </p:cNvPr>
          <p:cNvSpPr/>
          <p:nvPr/>
        </p:nvSpPr>
        <p:spPr>
          <a:xfrm>
            <a:off x="2465686" y="4180841"/>
            <a:ext cx="4495800" cy="1422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2504A5C-568D-E313-EFC1-AD1E2D431189}"/>
              </a:ext>
            </a:extLst>
          </p:cNvPr>
          <p:cNvSpPr/>
          <p:nvPr/>
        </p:nvSpPr>
        <p:spPr>
          <a:xfrm>
            <a:off x="3822046" y="4180841"/>
            <a:ext cx="457200" cy="1422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47C765-5177-A185-6B6D-27C6FBD72524}"/>
              </a:ext>
            </a:extLst>
          </p:cNvPr>
          <p:cNvSpPr/>
          <p:nvPr/>
        </p:nvSpPr>
        <p:spPr>
          <a:xfrm>
            <a:off x="2471401" y="4180840"/>
            <a:ext cx="1365885" cy="1425575"/>
          </a:xfrm>
          <a:prstGeom prst="rect">
            <a:avLst/>
          </a:pr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Left Arrow 16">
            <a:extLst>
              <a:ext uri="{FF2B5EF4-FFF2-40B4-BE49-F238E27FC236}">
                <a16:creationId xmlns:a16="http://schemas.microsoft.com/office/drawing/2014/main" id="{CC9EA29F-A45E-4208-F168-4FF7120CC102}"/>
              </a:ext>
            </a:extLst>
          </p:cNvPr>
          <p:cNvSpPr/>
          <p:nvPr/>
        </p:nvSpPr>
        <p:spPr>
          <a:xfrm>
            <a:off x="4260289" y="4761944"/>
            <a:ext cx="1158240" cy="33528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33EC89-B948-CFF3-533B-CE6791D8672F}"/>
              </a:ext>
            </a:extLst>
          </p:cNvPr>
          <p:cNvSpPr txBox="1"/>
          <p:nvPr/>
        </p:nvSpPr>
        <p:spPr>
          <a:xfrm>
            <a:off x="5490640" y="4525166"/>
            <a:ext cx="78143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>
                <a:solidFill>
                  <a:srgbClr val="FF0000"/>
                </a:solidFill>
              </a:rPr>
              <a:t>F</a:t>
            </a:r>
            <a:r>
              <a:rPr lang="en-US" sz="4400" baseline="-25000" dirty="0" err="1">
                <a:solidFill>
                  <a:srgbClr val="FF0000"/>
                </a:solidFill>
              </a:rPr>
              <a:t>ex</a:t>
            </a:r>
            <a:endParaRPr lang="en-US" sz="4400" baseline="-25000" dirty="0">
              <a:solidFill>
                <a:srgbClr val="FF0000"/>
              </a:solidFill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36881A9-F0BA-808A-8B87-70223A109189}"/>
              </a:ext>
            </a:extLst>
          </p:cNvPr>
          <p:cNvCxnSpPr/>
          <p:nvPr/>
        </p:nvCxnSpPr>
        <p:spPr>
          <a:xfrm flipV="1">
            <a:off x="3912190" y="2956560"/>
            <a:ext cx="0" cy="79248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8D4C2A7-DF40-1A72-EDB6-0C047AD7250D}"/>
              </a:ext>
            </a:extLst>
          </p:cNvPr>
          <p:cNvCxnSpPr/>
          <p:nvPr/>
        </p:nvCxnSpPr>
        <p:spPr>
          <a:xfrm flipV="1">
            <a:off x="4892040" y="2956560"/>
            <a:ext cx="0" cy="79248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C9C9F08-923B-9D53-0477-CFCA4F7FDE0A}"/>
              </a:ext>
            </a:extLst>
          </p:cNvPr>
          <p:cNvSpPr txBox="1"/>
          <p:nvPr/>
        </p:nvSpPr>
        <p:spPr>
          <a:xfrm>
            <a:off x="4071835" y="3107711"/>
            <a:ext cx="614271" cy="594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ym typeface="Symbol"/>
              </a:rPr>
              <a:t>x</a:t>
            </a:r>
            <a:endParaRPr lang="en-US" sz="3200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24259E4-62EB-45BA-B378-D147092C6323}"/>
              </a:ext>
            </a:extLst>
          </p:cNvPr>
          <p:cNvCxnSpPr/>
          <p:nvPr/>
        </p:nvCxnSpPr>
        <p:spPr>
          <a:xfrm>
            <a:off x="3348310" y="3413760"/>
            <a:ext cx="54864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FC4EE35-176C-10A3-75B9-BC94971B7994}"/>
              </a:ext>
            </a:extLst>
          </p:cNvPr>
          <p:cNvCxnSpPr/>
          <p:nvPr/>
        </p:nvCxnSpPr>
        <p:spPr>
          <a:xfrm flipH="1">
            <a:off x="4892040" y="3413760"/>
            <a:ext cx="54864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C98FFE5-4161-9776-2984-D5FFEDCC11B1}"/>
              </a:ext>
            </a:extLst>
          </p:cNvPr>
          <p:cNvSpPr txBox="1"/>
          <p:nvPr/>
        </p:nvSpPr>
        <p:spPr>
          <a:xfrm>
            <a:off x="2513208" y="4172484"/>
            <a:ext cx="11697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 err="1"/>
              <a:t>P</a:t>
            </a:r>
            <a:r>
              <a:rPr lang="en-US" sz="3200" baseline="-25000" dirty="0" err="1"/>
              <a:t>f</a:t>
            </a:r>
            <a:r>
              <a:rPr lang="en-US" sz="3200" dirty="0"/>
              <a:t>    </a:t>
            </a:r>
            <a:r>
              <a:rPr lang="en-US" sz="3200" dirty="0" err="1"/>
              <a:t>V</a:t>
            </a:r>
            <a:r>
              <a:rPr lang="en-US" sz="3200" baseline="-25000" dirty="0" err="1"/>
              <a:t>f</a:t>
            </a:r>
            <a:endParaRPr lang="en-US" sz="3200" baseline="-25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FD7752F-5AD7-EDCD-307F-AEFEAEE7A794}"/>
              </a:ext>
            </a:extLst>
          </p:cNvPr>
          <p:cNvSpPr txBox="1"/>
          <p:nvPr/>
        </p:nvSpPr>
        <p:spPr>
          <a:xfrm>
            <a:off x="2562862" y="1246554"/>
            <a:ext cx="10326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</a:t>
            </a:r>
            <a:r>
              <a:rPr lang="en-US" sz="3200" baseline="-25000" dirty="0"/>
              <a:t>i</a:t>
            </a:r>
            <a:r>
              <a:rPr lang="en-US" sz="3200" dirty="0"/>
              <a:t>   V</a:t>
            </a:r>
            <a:r>
              <a:rPr lang="en-US" sz="3200" baseline="-25000" dirty="0"/>
              <a:t>i</a:t>
            </a:r>
          </a:p>
        </p:txBody>
      </p:sp>
      <p:sp>
        <p:nvSpPr>
          <p:cNvPr id="22" name="Left Arrow 21">
            <a:extLst>
              <a:ext uri="{FF2B5EF4-FFF2-40B4-BE49-F238E27FC236}">
                <a16:creationId xmlns:a16="http://schemas.microsoft.com/office/drawing/2014/main" id="{4D395F34-47F3-D1DB-D43C-32FC5FE20D3B}"/>
              </a:ext>
            </a:extLst>
          </p:cNvPr>
          <p:cNvSpPr/>
          <p:nvPr/>
        </p:nvSpPr>
        <p:spPr>
          <a:xfrm flipH="1">
            <a:off x="2689083" y="4735924"/>
            <a:ext cx="1170877" cy="367247"/>
          </a:xfrm>
          <a:prstGeom prst="leftArrow">
            <a:avLst>
              <a:gd name="adj1" fmla="val 50000"/>
              <a:gd name="adj2" fmla="val 53037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43FFC3A-0B5D-7ADE-4ACD-7231E39F403E}"/>
              </a:ext>
            </a:extLst>
          </p:cNvPr>
          <p:cNvSpPr txBox="1"/>
          <p:nvPr/>
        </p:nvSpPr>
        <p:spPr>
          <a:xfrm>
            <a:off x="2810630" y="4889439"/>
            <a:ext cx="7024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solidFill>
                  <a:srgbClr val="FF0000"/>
                </a:solidFill>
              </a:rPr>
              <a:t>F</a:t>
            </a:r>
            <a:r>
              <a:rPr lang="en-US" sz="3600" baseline="-25000" dirty="0" err="1">
                <a:solidFill>
                  <a:srgbClr val="FF0000"/>
                </a:solidFill>
              </a:rPr>
              <a:t>pg</a:t>
            </a:r>
            <a:endParaRPr lang="en-US" sz="3600" baseline="-25000" dirty="0">
              <a:solidFill>
                <a:srgbClr val="FF0000"/>
              </a:solidFill>
            </a:endParaRPr>
          </a:p>
        </p:txBody>
      </p:sp>
      <p:sp>
        <p:nvSpPr>
          <p:cNvPr id="30" name="Left Arrow 29">
            <a:extLst>
              <a:ext uri="{FF2B5EF4-FFF2-40B4-BE49-F238E27FC236}">
                <a16:creationId xmlns:a16="http://schemas.microsoft.com/office/drawing/2014/main" id="{A4122155-8F10-7D41-48B3-4D8FA7702BCA}"/>
              </a:ext>
            </a:extLst>
          </p:cNvPr>
          <p:cNvSpPr/>
          <p:nvPr/>
        </p:nvSpPr>
        <p:spPr>
          <a:xfrm>
            <a:off x="5256625" y="1719730"/>
            <a:ext cx="1158240" cy="33528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AAE4DA-961B-8FAB-301E-39E54ADE69DC}"/>
              </a:ext>
            </a:extLst>
          </p:cNvPr>
          <p:cNvSpPr txBox="1"/>
          <p:nvPr/>
        </p:nvSpPr>
        <p:spPr>
          <a:xfrm>
            <a:off x="6475824" y="1494104"/>
            <a:ext cx="78143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>
                <a:solidFill>
                  <a:srgbClr val="FF0000"/>
                </a:solidFill>
              </a:rPr>
              <a:t>F</a:t>
            </a:r>
            <a:r>
              <a:rPr lang="en-US" sz="4400" baseline="-25000" dirty="0" err="1">
                <a:solidFill>
                  <a:srgbClr val="FF0000"/>
                </a:solidFill>
              </a:rPr>
              <a:t>ex</a:t>
            </a:r>
            <a:endParaRPr lang="en-US" sz="4400" baseline="-25000" dirty="0">
              <a:solidFill>
                <a:srgbClr val="FF0000"/>
              </a:solidFill>
            </a:endParaRPr>
          </a:p>
        </p:txBody>
      </p:sp>
      <p:sp>
        <p:nvSpPr>
          <p:cNvPr id="32" name="Left Arrow 31">
            <a:extLst>
              <a:ext uri="{FF2B5EF4-FFF2-40B4-BE49-F238E27FC236}">
                <a16:creationId xmlns:a16="http://schemas.microsoft.com/office/drawing/2014/main" id="{A1F323C0-A915-F6E2-B652-B17952D13E5A}"/>
              </a:ext>
            </a:extLst>
          </p:cNvPr>
          <p:cNvSpPr/>
          <p:nvPr/>
        </p:nvSpPr>
        <p:spPr>
          <a:xfrm flipH="1">
            <a:off x="3741175" y="1716013"/>
            <a:ext cx="1170877" cy="367247"/>
          </a:xfrm>
          <a:prstGeom prst="leftArrow">
            <a:avLst>
              <a:gd name="adj1" fmla="val 50000"/>
              <a:gd name="adj2" fmla="val 53037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89D2C21-4BD0-22C0-2FA4-05D1EA94E02C}"/>
              </a:ext>
            </a:extLst>
          </p:cNvPr>
          <p:cNvSpPr txBox="1"/>
          <p:nvPr/>
        </p:nvSpPr>
        <p:spPr>
          <a:xfrm>
            <a:off x="3862722" y="1869528"/>
            <a:ext cx="7024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solidFill>
                  <a:srgbClr val="FF0000"/>
                </a:solidFill>
              </a:rPr>
              <a:t>F</a:t>
            </a:r>
            <a:r>
              <a:rPr lang="en-US" sz="3600" baseline="-25000" dirty="0" err="1">
                <a:solidFill>
                  <a:srgbClr val="FF0000"/>
                </a:solidFill>
              </a:rPr>
              <a:t>pg</a:t>
            </a:r>
            <a:endParaRPr lang="en-US" sz="3600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63827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DA706DC5-3B00-400E-BEEF-9610CEBBF1D9}"/>
              </a:ext>
            </a:extLst>
          </p:cNvPr>
          <p:cNvGrpSpPr/>
          <p:nvPr/>
        </p:nvGrpSpPr>
        <p:grpSpPr>
          <a:xfrm>
            <a:off x="5369997" y="163286"/>
            <a:ext cx="2476916" cy="3200400"/>
            <a:chOff x="4178012" y="1894114"/>
            <a:chExt cx="2476916" cy="3498832"/>
          </a:xfrm>
        </p:grpSpPr>
        <p:sp>
          <p:nvSpPr>
            <p:cNvPr id="36" name="Oval 35"/>
            <p:cNvSpPr/>
            <p:nvPr/>
          </p:nvSpPr>
          <p:spPr>
            <a:xfrm flipH="1">
              <a:off x="4700527" y="2438399"/>
              <a:ext cx="762000" cy="718457"/>
            </a:xfrm>
            <a:prstGeom prst="ellipse">
              <a:avLst/>
            </a:prstGeom>
            <a:solidFill>
              <a:srgbClr val="002060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" name="Rectangle 14"/>
            <p:cNvSpPr>
              <a:spLocks noChangeArrowheads="1"/>
            </p:cNvSpPr>
            <p:nvPr/>
          </p:nvSpPr>
          <p:spPr bwMode="auto">
            <a:xfrm rot="15955976">
              <a:off x="4700797" y="2977587"/>
              <a:ext cx="173633" cy="293224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0" name="Oval 12"/>
            <p:cNvSpPr>
              <a:spLocks noChangeArrowheads="1"/>
            </p:cNvSpPr>
            <p:nvPr/>
          </p:nvSpPr>
          <p:spPr bwMode="auto">
            <a:xfrm rot="18889740">
              <a:off x="4924091" y="2349001"/>
              <a:ext cx="711420" cy="1435098"/>
            </a:xfrm>
            <a:prstGeom prst="ellipse">
              <a:avLst/>
            </a:prstGeom>
            <a:solidFill>
              <a:srgbClr val="002060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1" name="Rectangle 14"/>
            <p:cNvSpPr>
              <a:spLocks noChangeArrowheads="1"/>
            </p:cNvSpPr>
            <p:nvPr/>
          </p:nvSpPr>
          <p:spPr bwMode="auto">
            <a:xfrm rot="19284302">
              <a:off x="4890481" y="2627055"/>
              <a:ext cx="373398" cy="70485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2" name="Rectangle 17"/>
            <p:cNvSpPr>
              <a:spLocks noChangeArrowheads="1"/>
            </p:cNvSpPr>
            <p:nvPr/>
          </p:nvSpPr>
          <p:spPr bwMode="auto">
            <a:xfrm rot="18389825">
              <a:off x="6060069" y="4985842"/>
              <a:ext cx="579285" cy="234923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3" name="Oval 11"/>
            <p:cNvSpPr>
              <a:spLocks noChangeArrowheads="1"/>
            </p:cNvSpPr>
            <p:nvPr/>
          </p:nvSpPr>
          <p:spPr bwMode="auto">
            <a:xfrm rot="20727755">
              <a:off x="4288011" y="2108682"/>
              <a:ext cx="496888" cy="692150"/>
            </a:xfrm>
            <a:prstGeom prst="ellipse">
              <a:avLst/>
            </a:prstGeom>
            <a:solidFill>
              <a:srgbClr val="002060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4" name="Rectangle 13"/>
            <p:cNvSpPr>
              <a:spLocks noChangeArrowheads="1"/>
            </p:cNvSpPr>
            <p:nvPr/>
          </p:nvSpPr>
          <p:spPr bwMode="auto">
            <a:xfrm rot="15598616">
              <a:off x="4899736" y="2934860"/>
              <a:ext cx="242971" cy="81663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5" name="Rectangle 15"/>
            <p:cNvSpPr>
              <a:spLocks noChangeArrowheads="1"/>
            </p:cNvSpPr>
            <p:nvPr/>
          </p:nvSpPr>
          <p:spPr bwMode="auto">
            <a:xfrm rot="2427115">
              <a:off x="5064057" y="3439418"/>
              <a:ext cx="407626" cy="101917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6" name="Rectangle 17"/>
            <p:cNvSpPr>
              <a:spLocks noChangeArrowheads="1"/>
            </p:cNvSpPr>
            <p:nvPr/>
          </p:nvSpPr>
          <p:spPr bwMode="auto">
            <a:xfrm rot="17343869">
              <a:off x="5481312" y="4995095"/>
              <a:ext cx="406400" cy="21907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7" name="Rectangle 15"/>
            <p:cNvSpPr>
              <a:spLocks noChangeArrowheads="1"/>
            </p:cNvSpPr>
            <p:nvPr/>
          </p:nvSpPr>
          <p:spPr bwMode="auto">
            <a:xfrm rot="18313119">
              <a:off x="5173946" y="3997970"/>
              <a:ext cx="349286" cy="1150927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 rot="21264942">
              <a:off x="5471333" y="5115612"/>
              <a:ext cx="220544" cy="21907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9" name="Rectangle 15"/>
            <p:cNvSpPr>
              <a:spLocks noChangeArrowheads="1"/>
            </p:cNvSpPr>
            <p:nvPr/>
          </p:nvSpPr>
          <p:spPr bwMode="auto">
            <a:xfrm rot="20968993">
              <a:off x="5492193" y="3445137"/>
              <a:ext cx="412934" cy="1019175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0" name="Rectangle 15"/>
            <p:cNvSpPr>
              <a:spLocks noChangeArrowheads="1"/>
            </p:cNvSpPr>
            <p:nvPr/>
          </p:nvSpPr>
          <p:spPr bwMode="auto">
            <a:xfrm rot="18559297">
              <a:off x="5882734" y="3997483"/>
              <a:ext cx="355300" cy="1189088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1" name="Rectangle 13"/>
            <p:cNvSpPr>
              <a:spLocks noChangeArrowheads="1"/>
            </p:cNvSpPr>
            <p:nvPr/>
          </p:nvSpPr>
          <p:spPr bwMode="auto">
            <a:xfrm rot="17370522">
              <a:off x="4441614" y="3347001"/>
              <a:ext cx="334068" cy="261372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grpSp>
          <p:nvGrpSpPr>
            <p:cNvPr id="46" name="Group 45"/>
            <p:cNvGrpSpPr/>
            <p:nvPr/>
          </p:nvGrpSpPr>
          <p:grpSpPr>
            <a:xfrm>
              <a:off x="4178012" y="1894114"/>
              <a:ext cx="903512" cy="881743"/>
              <a:chOff x="6825343" y="1110343"/>
              <a:chExt cx="1937658" cy="2079171"/>
            </a:xfrm>
          </p:grpSpPr>
          <p:sp>
            <p:nvSpPr>
              <p:cNvPr id="39" name="Freeform 38"/>
              <p:cNvSpPr/>
              <p:nvPr/>
            </p:nvSpPr>
            <p:spPr>
              <a:xfrm>
                <a:off x="6901543" y="1110343"/>
                <a:ext cx="1861458" cy="1828800"/>
              </a:xfrm>
              <a:custGeom>
                <a:avLst/>
                <a:gdLst>
                  <a:gd name="connsiteX0" fmla="*/ 0 w 1839686"/>
                  <a:gd name="connsiteY0" fmla="*/ 870857 h 1828800"/>
                  <a:gd name="connsiteX1" fmla="*/ 849086 w 1839686"/>
                  <a:gd name="connsiteY1" fmla="*/ 903514 h 1828800"/>
                  <a:gd name="connsiteX2" fmla="*/ 1077686 w 1839686"/>
                  <a:gd name="connsiteY2" fmla="*/ 1208314 h 1828800"/>
                  <a:gd name="connsiteX3" fmla="*/ 838200 w 1839686"/>
                  <a:gd name="connsiteY3" fmla="*/ 1654628 h 1828800"/>
                  <a:gd name="connsiteX4" fmla="*/ 1219200 w 1839686"/>
                  <a:gd name="connsiteY4" fmla="*/ 1828800 h 1828800"/>
                  <a:gd name="connsiteX5" fmla="*/ 1611086 w 1839686"/>
                  <a:gd name="connsiteY5" fmla="*/ 1480457 h 1828800"/>
                  <a:gd name="connsiteX6" fmla="*/ 1796143 w 1839686"/>
                  <a:gd name="connsiteY6" fmla="*/ 1273628 h 1828800"/>
                  <a:gd name="connsiteX7" fmla="*/ 1839686 w 1839686"/>
                  <a:gd name="connsiteY7" fmla="*/ 859971 h 1828800"/>
                  <a:gd name="connsiteX8" fmla="*/ 1730829 w 1839686"/>
                  <a:gd name="connsiteY8" fmla="*/ 402771 h 1828800"/>
                  <a:gd name="connsiteX9" fmla="*/ 1295400 w 1839686"/>
                  <a:gd name="connsiteY9" fmla="*/ 32657 h 1828800"/>
                  <a:gd name="connsiteX10" fmla="*/ 816429 w 1839686"/>
                  <a:gd name="connsiteY10" fmla="*/ 0 h 1828800"/>
                  <a:gd name="connsiteX11" fmla="*/ 337457 w 1839686"/>
                  <a:gd name="connsiteY11" fmla="*/ 228600 h 1828800"/>
                  <a:gd name="connsiteX12" fmla="*/ 130629 w 1839686"/>
                  <a:gd name="connsiteY12" fmla="*/ 609600 h 1828800"/>
                  <a:gd name="connsiteX13" fmla="*/ 0 w 1839686"/>
                  <a:gd name="connsiteY13" fmla="*/ 870857 h 1828800"/>
                  <a:gd name="connsiteX0" fmla="*/ 0 w 1839686"/>
                  <a:gd name="connsiteY0" fmla="*/ 870857 h 1828800"/>
                  <a:gd name="connsiteX1" fmla="*/ 849086 w 1839686"/>
                  <a:gd name="connsiteY1" fmla="*/ 903514 h 1828800"/>
                  <a:gd name="connsiteX2" fmla="*/ 1077686 w 1839686"/>
                  <a:gd name="connsiteY2" fmla="*/ 1208314 h 1828800"/>
                  <a:gd name="connsiteX3" fmla="*/ 838200 w 1839686"/>
                  <a:gd name="connsiteY3" fmla="*/ 1654628 h 1828800"/>
                  <a:gd name="connsiteX4" fmla="*/ 1219200 w 1839686"/>
                  <a:gd name="connsiteY4" fmla="*/ 1828800 h 1828800"/>
                  <a:gd name="connsiteX5" fmla="*/ 1687286 w 1839686"/>
                  <a:gd name="connsiteY5" fmla="*/ 1534885 h 1828800"/>
                  <a:gd name="connsiteX6" fmla="*/ 1796143 w 1839686"/>
                  <a:gd name="connsiteY6" fmla="*/ 1273628 h 1828800"/>
                  <a:gd name="connsiteX7" fmla="*/ 1839686 w 1839686"/>
                  <a:gd name="connsiteY7" fmla="*/ 859971 h 1828800"/>
                  <a:gd name="connsiteX8" fmla="*/ 1730829 w 1839686"/>
                  <a:gd name="connsiteY8" fmla="*/ 402771 h 1828800"/>
                  <a:gd name="connsiteX9" fmla="*/ 1295400 w 1839686"/>
                  <a:gd name="connsiteY9" fmla="*/ 32657 h 1828800"/>
                  <a:gd name="connsiteX10" fmla="*/ 816429 w 1839686"/>
                  <a:gd name="connsiteY10" fmla="*/ 0 h 1828800"/>
                  <a:gd name="connsiteX11" fmla="*/ 337457 w 1839686"/>
                  <a:gd name="connsiteY11" fmla="*/ 228600 h 1828800"/>
                  <a:gd name="connsiteX12" fmla="*/ 130629 w 1839686"/>
                  <a:gd name="connsiteY12" fmla="*/ 609600 h 1828800"/>
                  <a:gd name="connsiteX13" fmla="*/ 0 w 1839686"/>
                  <a:gd name="connsiteY13" fmla="*/ 870857 h 1828800"/>
                  <a:gd name="connsiteX0" fmla="*/ 0 w 1839686"/>
                  <a:gd name="connsiteY0" fmla="*/ 870857 h 1828800"/>
                  <a:gd name="connsiteX1" fmla="*/ 849086 w 1839686"/>
                  <a:gd name="connsiteY1" fmla="*/ 903514 h 1828800"/>
                  <a:gd name="connsiteX2" fmla="*/ 1077686 w 1839686"/>
                  <a:gd name="connsiteY2" fmla="*/ 1208314 h 1828800"/>
                  <a:gd name="connsiteX3" fmla="*/ 838200 w 1839686"/>
                  <a:gd name="connsiteY3" fmla="*/ 1654628 h 1828800"/>
                  <a:gd name="connsiteX4" fmla="*/ 1219200 w 1839686"/>
                  <a:gd name="connsiteY4" fmla="*/ 1828800 h 1828800"/>
                  <a:gd name="connsiteX5" fmla="*/ 1719943 w 1839686"/>
                  <a:gd name="connsiteY5" fmla="*/ 1556656 h 1828800"/>
                  <a:gd name="connsiteX6" fmla="*/ 1796143 w 1839686"/>
                  <a:gd name="connsiteY6" fmla="*/ 1273628 h 1828800"/>
                  <a:gd name="connsiteX7" fmla="*/ 1839686 w 1839686"/>
                  <a:gd name="connsiteY7" fmla="*/ 859971 h 1828800"/>
                  <a:gd name="connsiteX8" fmla="*/ 1730829 w 1839686"/>
                  <a:gd name="connsiteY8" fmla="*/ 402771 h 1828800"/>
                  <a:gd name="connsiteX9" fmla="*/ 1295400 w 1839686"/>
                  <a:gd name="connsiteY9" fmla="*/ 32657 h 1828800"/>
                  <a:gd name="connsiteX10" fmla="*/ 816429 w 1839686"/>
                  <a:gd name="connsiteY10" fmla="*/ 0 h 1828800"/>
                  <a:gd name="connsiteX11" fmla="*/ 337457 w 1839686"/>
                  <a:gd name="connsiteY11" fmla="*/ 228600 h 1828800"/>
                  <a:gd name="connsiteX12" fmla="*/ 130629 w 1839686"/>
                  <a:gd name="connsiteY12" fmla="*/ 609600 h 1828800"/>
                  <a:gd name="connsiteX13" fmla="*/ 0 w 1839686"/>
                  <a:gd name="connsiteY13" fmla="*/ 870857 h 1828800"/>
                  <a:gd name="connsiteX0" fmla="*/ 0 w 1861458"/>
                  <a:gd name="connsiteY0" fmla="*/ 870857 h 1828800"/>
                  <a:gd name="connsiteX1" fmla="*/ 849086 w 1861458"/>
                  <a:gd name="connsiteY1" fmla="*/ 903514 h 1828800"/>
                  <a:gd name="connsiteX2" fmla="*/ 1077686 w 1861458"/>
                  <a:gd name="connsiteY2" fmla="*/ 1208314 h 1828800"/>
                  <a:gd name="connsiteX3" fmla="*/ 838200 w 1861458"/>
                  <a:gd name="connsiteY3" fmla="*/ 1654628 h 1828800"/>
                  <a:gd name="connsiteX4" fmla="*/ 1219200 w 1861458"/>
                  <a:gd name="connsiteY4" fmla="*/ 1828800 h 1828800"/>
                  <a:gd name="connsiteX5" fmla="*/ 1719943 w 1861458"/>
                  <a:gd name="connsiteY5" fmla="*/ 1556656 h 1828800"/>
                  <a:gd name="connsiteX6" fmla="*/ 1861458 w 1861458"/>
                  <a:gd name="connsiteY6" fmla="*/ 1436914 h 1828800"/>
                  <a:gd name="connsiteX7" fmla="*/ 1839686 w 1861458"/>
                  <a:gd name="connsiteY7" fmla="*/ 859971 h 1828800"/>
                  <a:gd name="connsiteX8" fmla="*/ 1730829 w 1861458"/>
                  <a:gd name="connsiteY8" fmla="*/ 402771 h 1828800"/>
                  <a:gd name="connsiteX9" fmla="*/ 1295400 w 1861458"/>
                  <a:gd name="connsiteY9" fmla="*/ 32657 h 1828800"/>
                  <a:gd name="connsiteX10" fmla="*/ 816429 w 1861458"/>
                  <a:gd name="connsiteY10" fmla="*/ 0 h 1828800"/>
                  <a:gd name="connsiteX11" fmla="*/ 337457 w 1861458"/>
                  <a:gd name="connsiteY11" fmla="*/ 228600 h 1828800"/>
                  <a:gd name="connsiteX12" fmla="*/ 130629 w 1861458"/>
                  <a:gd name="connsiteY12" fmla="*/ 609600 h 1828800"/>
                  <a:gd name="connsiteX13" fmla="*/ 0 w 1861458"/>
                  <a:gd name="connsiteY13" fmla="*/ 870857 h 1828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861458" h="1828800">
                    <a:moveTo>
                      <a:pt x="0" y="870857"/>
                    </a:moveTo>
                    <a:lnTo>
                      <a:pt x="849086" y="903514"/>
                    </a:lnTo>
                    <a:lnTo>
                      <a:pt x="1077686" y="1208314"/>
                    </a:lnTo>
                    <a:lnTo>
                      <a:pt x="838200" y="1654628"/>
                    </a:lnTo>
                    <a:lnTo>
                      <a:pt x="1219200" y="1828800"/>
                    </a:lnTo>
                    <a:lnTo>
                      <a:pt x="1719943" y="1556656"/>
                    </a:lnTo>
                    <a:lnTo>
                      <a:pt x="1861458" y="1436914"/>
                    </a:lnTo>
                    <a:lnTo>
                      <a:pt x="1839686" y="859971"/>
                    </a:lnTo>
                    <a:lnTo>
                      <a:pt x="1730829" y="402771"/>
                    </a:lnTo>
                    <a:lnTo>
                      <a:pt x="1295400" y="32657"/>
                    </a:lnTo>
                    <a:lnTo>
                      <a:pt x="816429" y="0"/>
                    </a:lnTo>
                    <a:lnTo>
                      <a:pt x="337457" y="228600"/>
                    </a:lnTo>
                    <a:lnTo>
                      <a:pt x="130629" y="609600"/>
                    </a:lnTo>
                    <a:lnTo>
                      <a:pt x="0" y="870857"/>
                    </a:lnTo>
                    <a:close/>
                  </a:path>
                </a:pathLst>
              </a:cu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0" name="Freeform 39"/>
              <p:cNvSpPr/>
              <p:nvPr/>
            </p:nvSpPr>
            <p:spPr>
              <a:xfrm>
                <a:off x="6890657" y="1981200"/>
                <a:ext cx="936172" cy="174171"/>
              </a:xfrm>
              <a:custGeom>
                <a:avLst/>
                <a:gdLst>
                  <a:gd name="connsiteX0" fmla="*/ 97972 w 936172"/>
                  <a:gd name="connsiteY0" fmla="*/ 87086 h 174171"/>
                  <a:gd name="connsiteX1" fmla="*/ 936172 w 936172"/>
                  <a:gd name="connsiteY1" fmla="*/ 174171 h 174171"/>
                  <a:gd name="connsiteX2" fmla="*/ 914400 w 936172"/>
                  <a:gd name="connsiteY2" fmla="*/ 76200 h 174171"/>
                  <a:gd name="connsiteX3" fmla="*/ 87086 w 936172"/>
                  <a:gd name="connsiteY3" fmla="*/ 0 h 174171"/>
                  <a:gd name="connsiteX4" fmla="*/ 0 w 936172"/>
                  <a:gd name="connsiteY4" fmla="*/ 43543 h 1741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36172" h="174171">
                    <a:moveTo>
                      <a:pt x="97972" y="87086"/>
                    </a:moveTo>
                    <a:lnTo>
                      <a:pt x="936172" y="174171"/>
                    </a:lnTo>
                    <a:lnTo>
                      <a:pt x="914400" y="76200"/>
                    </a:lnTo>
                    <a:lnTo>
                      <a:pt x="87086" y="0"/>
                    </a:lnTo>
                    <a:lnTo>
                      <a:pt x="0" y="43543"/>
                    </a:lnTo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1" name="Freeform 40"/>
              <p:cNvSpPr/>
              <p:nvPr/>
            </p:nvSpPr>
            <p:spPr>
              <a:xfrm>
                <a:off x="6955971" y="2024743"/>
                <a:ext cx="283029" cy="1153886"/>
              </a:xfrm>
              <a:custGeom>
                <a:avLst/>
                <a:gdLst>
                  <a:gd name="connsiteX0" fmla="*/ 0 w 283029"/>
                  <a:gd name="connsiteY0" fmla="*/ 43543 h 1153886"/>
                  <a:gd name="connsiteX1" fmla="*/ 108858 w 283029"/>
                  <a:gd name="connsiteY1" fmla="*/ 598714 h 1153886"/>
                  <a:gd name="connsiteX2" fmla="*/ 130629 w 283029"/>
                  <a:gd name="connsiteY2" fmla="*/ 979714 h 1153886"/>
                  <a:gd name="connsiteX3" fmla="*/ 228600 w 283029"/>
                  <a:gd name="connsiteY3" fmla="*/ 1153886 h 1153886"/>
                  <a:gd name="connsiteX4" fmla="*/ 283029 w 283029"/>
                  <a:gd name="connsiteY4" fmla="*/ 1132114 h 1153886"/>
                  <a:gd name="connsiteX5" fmla="*/ 174172 w 283029"/>
                  <a:gd name="connsiteY5" fmla="*/ 805543 h 1153886"/>
                  <a:gd name="connsiteX6" fmla="*/ 174172 w 283029"/>
                  <a:gd name="connsiteY6" fmla="*/ 576943 h 1153886"/>
                  <a:gd name="connsiteX7" fmla="*/ 87086 w 283029"/>
                  <a:gd name="connsiteY7" fmla="*/ 0 h 1153886"/>
                  <a:gd name="connsiteX8" fmla="*/ 0 w 283029"/>
                  <a:gd name="connsiteY8" fmla="*/ 43543 h 1153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83029" h="1153886">
                    <a:moveTo>
                      <a:pt x="0" y="43543"/>
                    </a:moveTo>
                    <a:lnTo>
                      <a:pt x="108858" y="598714"/>
                    </a:lnTo>
                    <a:lnTo>
                      <a:pt x="130629" y="979714"/>
                    </a:lnTo>
                    <a:lnTo>
                      <a:pt x="228600" y="1153886"/>
                    </a:lnTo>
                    <a:lnTo>
                      <a:pt x="283029" y="1132114"/>
                    </a:lnTo>
                    <a:lnTo>
                      <a:pt x="174172" y="805543"/>
                    </a:lnTo>
                    <a:lnTo>
                      <a:pt x="174172" y="576943"/>
                    </a:lnTo>
                    <a:lnTo>
                      <a:pt x="87086" y="0"/>
                    </a:lnTo>
                    <a:lnTo>
                      <a:pt x="0" y="43543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Freeform 41"/>
              <p:cNvSpPr/>
              <p:nvPr/>
            </p:nvSpPr>
            <p:spPr>
              <a:xfrm>
                <a:off x="6825343" y="2438400"/>
                <a:ext cx="1088571" cy="206829"/>
              </a:xfrm>
              <a:custGeom>
                <a:avLst/>
                <a:gdLst>
                  <a:gd name="connsiteX0" fmla="*/ 1012371 w 1088571"/>
                  <a:gd name="connsiteY0" fmla="*/ 97971 h 206829"/>
                  <a:gd name="connsiteX1" fmla="*/ 511628 w 1088571"/>
                  <a:gd name="connsiteY1" fmla="*/ 130629 h 206829"/>
                  <a:gd name="connsiteX2" fmla="*/ 195943 w 1088571"/>
                  <a:gd name="connsiteY2" fmla="*/ 119743 h 206829"/>
                  <a:gd name="connsiteX3" fmla="*/ 43543 w 1088571"/>
                  <a:gd name="connsiteY3" fmla="*/ 87086 h 206829"/>
                  <a:gd name="connsiteX4" fmla="*/ 163286 w 1088571"/>
                  <a:gd name="connsiteY4" fmla="*/ 32657 h 206829"/>
                  <a:gd name="connsiteX5" fmla="*/ 163286 w 1088571"/>
                  <a:gd name="connsiteY5" fmla="*/ 0 h 206829"/>
                  <a:gd name="connsiteX6" fmla="*/ 0 w 1088571"/>
                  <a:gd name="connsiteY6" fmla="*/ 76200 h 206829"/>
                  <a:gd name="connsiteX7" fmla="*/ 0 w 1088571"/>
                  <a:gd name="connsiteY7" fmla="*/ 119743 h 206829"/>
                  <a:gd name="connsiteX8" fmla="*/ 185057 w 1088571"/>
                  <a:gd name="connsiteY8" fmla="*/ 185057 h 206829"/>
                  <a:gd name="connsiteX9" fmla="*/ 511628 w 1088571"/>
                  <a:gd name="connsiteY9" fmla="*/ 185057 h 206829"/>
                  <a:gd name="connsiteX10" fmla="*/ 925286 w 1088571"/>
                  <a:gd name="connsiteY10" fmla="*/ 195943 h 206829"/>
                  <a:gd name="connsiteX11" fmla="*/ 1088571 w 1088571"/>
                  <a:gd name="connsiteY11" fmla="*/ 206829 h 206829"/>
                  <a:gd name="connsiteX12" fmla="*/ 1066800 w 1088571"/>
                  <a:gd name="connsiteY12" fmla="*/ 152400 h 2068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88571" h="206829">
                    <a:moveTo>
                      <a:pt x="1012371" y="97971"/>
                    </a:moveTo>
                    <a:lnTo>
                      <a:pt x="511628" y="130629"/>
                    </a:lnTo>
                    <a:lnTo>
                      <a:pt x="195943" y="119743"/>
                    </a:lnTo>
                    <a:lnTo>
                      <a:pt x="43543" y="87086"/>
                    </a:lnTo>
                    <a:lnTo>
                      <a:pt x="163286" y="32657"/>
                    </a:lnTo>
                    <a:lnTo>
                      <a:pt x="163286" y="0"/>
                    </a:lnTo>
                    <a:lnTo>
                      <a:pt x="0" y="76200"/>
                    </a:lnTo>
                    <a:lnTo>
                      <a:pt x="0" y="119743"/>
                    </a:lnTo>
                    <a:lnTo>
                      <a:pt x="185057" y="185057"/>
                    </a:lnTo>
                    <a:lnTo>
                      <a:pt x="511628" y="185057"/>
                    </a:lnTo>
                    <a:lnTo>
                      <a:pt x="925286" y="195943"/>
                    </a:lnTo>
                    <a:lnTo>
                      <a:pt x="1088571" y="206829"/>
                    </a:lnTo>
                    <a:lnTo>
                      <a:pt x="1066800" y="152400"/>
                    </a:lnTo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3" name="Freeform 42"/>
              <p:cNvSpPr/>
              <p:nvPr/>
            </p:nvSpPr>
            <p:spPr>
              <a:xfrm>
                <a:off x="6825343" y="2514600"/>
                <a:ext cx="195943" cy="631371"/>
              </a:xfrm>
              <a:custGeom>
                <a:avLst/>
                <a:gdLst>
                  <a:gd name="connsiteX0" fmla="*/ 10886 w 195943"/>
                  <a:gd name="connsiteY0" fmla="*/ 0 h 631371"/>
                  <a:gd name="connsiteX1" fmla="*/ 32657 w 195943"/>
                  <a:gd name="connsiteY1" fmla="*/ 326571 h 631371"/>
                  <a:gd name="connsiteX2" fmla="*/ 195943 w 195943"/>
                  <a:gd name="connsiteY2" fmla="*/ 609600 h 631371"/>
                  <a:gd name="connsiteX3" fmla="*/ 119743 w 195943"/>
                  <a:gd name="connsiteY3" fmla="*/ 631371 h 631371"/>
                  <a:gd name="connsiteX4" fmla="*/ 0 w 195943"/>
                  <a:gd name="connsiteY4" fmla="*/ 326571 h 631371"/>
                  <a:gd name="connsiteX5" fmla="*/ 10886 w 195943"/>
                  <a:gd name="connsiteY5" fmla="*/ 0 h 6313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95943" h="631371">
                    <a:moveTo>
                      <a:pt x="10886" y="0"/>
                    </a:moveTo>
                    <a:lnTo>
                      <a:pt x="32657" y="326571"/>
                    </a:lnTo>
                    <a:lnTo>
                      <a:pt x="195943" y="609600"/>
                    </a:lnTo>
                    <a:lnTo>
                      <a:pt x="119743" y="631371"/>
                    </a:lnTo>
                    <a:lnTo>
                      <a:pt x="0" y="326571"/>
                    </a:lnTo>
                    <a:lnTo>
                      <a:pt x="10886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4" name="Freeform 43"/>
              <p:cNvSpPr/>
              <p:nvPr/>
            </p:nvSpPr>
            <p:spPr>
              <a:xfrm>
                <a:off x="6977743" y="2645229"/>
                <a:ext cx="1055914" cy="544285"/>
              </a:xfrm>
              <a:custGeom>
                <a:avLst/>
                <a:gdLst>
                  <a:gd name="connsiteX0" fmla="*/ 261257 w 1055914"/>
                  <a:gd name="connsiteY0" fmla="*/ 54428 h 544285"/>
                  <a:gd name="connsiteX1" fmla="*/ 65314 w 1055914"/>
                  <a:gd name="connsiteY1" fmla="*/ 402771 h 544285"/>
                  <a:gd name="connsiteX2" fmla="*/ 141514 w 1055914"/>
                  <a:gd name="connsiteY2" fmla="*/ 457200 h 544285"/>
                  <a:gd name="connsiteX3" fmla="*/ 522514 w 1055914"/>
                  <a:gd name="connsiteY3" fmla="*/ 446314 h 544285"/>
                  <a:gd name="connsiteX4" fmla="*/ 881743 w 1055914"/>
                  <a:gd name="connsiteY4" fmla="*/ 315685 h 544285"/>
                  <a:gd name="connsiteX5" fmla="*/ 1055914 w 1055914"/>
                  <a:gd name="connsiteY5" fmla="*/ 228600 h 544285"/>
                  <a:gd name="connsiteX6" fmla="*/ 1055914 w 1055914"/>
                  <a:gd name="connsiteY6" fmla="*/ 228600 h 544285"/>
                  <a:gd name="connsiteX7" fmla="*/ 674914 w 1055914"/>
                  <a:gd name="connsiteY7" fmla="*/ 457200 h 544285"/>
                  <a:gd name="connsiteX8" fmla="*/ 315686 w 1055914"/>
                  <a:gd name="connsiteY8" fmla="*/ 544285 h 544285"/>
                  <a:gd name="connsiteX9" fmla="*/ 32657 w 1055914"/>
                  <a:gd name="connsiteY9" fmla="*/ 511628 h 544285"/>
                  <a:gd name="connsiteX10" fmla="*/ 0 w 1055914"/>
                  <a:gd name="connsiteY10" fmla="*/ 435428 h 544285"/>
                  <a:gd name="connsiteX11" fmla="*/ 32657 w 1055914"/>
                  <a:gd name="connsiteY11" fmla="*/ 304800 h 544285"/>
                  <a:gd name="connsiteX12" fmla="*/ 261257 w 1055914"/>
                  <a:gd name="connsiteY12" fmla="*/ 0 h 544285"/>
                  <a:gd name="connsiteX13" fmla="*/ 261257 w 1055914"/>
                  <a:gd name="connsiteY13" fmla="*/ 54428 h 5442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055914" h="544285">
                    <a:moveTo>
                      <a:pt x="261257" y="54428"/>
                    </a:moveTo>
                    <a:lnTo>
                      <a:pt x="65314" y="402771"/>
                    </a:lnTo>
                    <a:lnTo>
                      <a:pt x="141514" y="457200"/>
                    </a:lnTo>
                    <a:lnTo>
                      <a:pt x="522514" y="446314"/>
                    </a:lnTo>
                    <a:lnTo>
                      <a:pt x="881743" y="315685"/>
                    </a:lnTo>
                    <a:lnTo>
                      <a:pt x="1055914" y="228600"/>
                    </a:lnTo>
                    <a:lnTo>
                      <a:pt x="1055914" y="228600"/>
                    </a:lnTo>
                    <a:lnTo>
                      <a:pt x="674914" y="457200"/>
                    </a:lnTo>
                    <a:lnTo>
                      <a:pt x="315686" y="544285"/>
                    </a:lnTo>
                    <a:lnTo>
                      <a:pt x="32657" y="511628"/>
                    </a:lnTo>
                    <a:lnTo>
                      <a:pt x="0" y="435428"/>
                    </a:lnTo>
                    <a:lnTo>
                      <a:pt x="32657" y="304800"/>
                    </a:lnTo>
                    <a:lnTo>
                      <a:pt x="261257" y="0"/>
                    </a:lnTo>
                    <a:lnTo>
                      <a:pt x="261257" y="5442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Freeform 44"/>
              <p:cNvSpPr/>
              <p:nvPr/>
            </p:nvSpPr>
            <p:spPr>
              <a:xfrm>
                <a:off x="7609114" y="2133600"/>
                <a:ext cx="206829" cy="979714"/>
              </a:xfrm>
              <a:custGeom>
                <a:avLst/>
                <a:gdLst>
                  <a:gd name="connsiteX0" fmla="*/ 119743 w 206829"/>
                  <a:gd name="connsiteY0" fmla="*/ 10886 h 979714"/>
                  <a:gd name="connsiteX1" fmla="*/ 0 w 206829"/>
                  <a:gd name="connsiteY1" fmla="*/ 979714 h 979714"/>
                  <a:gd name="connsiteX2" fmla="*/ 119743 w 206829"/>
                  <a:gd name="connsiteY2" fmla="*/ 936171 h 979714"/>
                  <a:gd name="connsiteX3" fmla="*/ 206829 w 206829"/>
                  <a:gd name="connsiteY3" fmla="*/ 0 h 979714"/>
                  <a:gd name="connsiteX4" fmla="*/ 119743 w 206829"/>
                  <a:gd name="connsiteY4" fmla="*/ 10886 h 979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6829" h="979714">
                    <a:moveTo>
                      <a:pt x="119743" y="10886"/>
                    </a:moveTo>
                    <a:lnTo>
                      <a:pt x="0" y="979714"/>
                    </a:lnTo>
                    <a:lnTo>
                      <a:pt x="119743" y="936171"/>
                    </a:lnTo>
                    <a:lnTo>
                      <a:pt x="206829" y="0"/>
                    </a:lnTo>
                    <a:lnTo>
                      <a:pt x="119743" y="108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sp>
        <p:nvSpPr>
          <p:cNvPr id="37" name="AutoShape 2" descr="Image result for football helmet drawi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grpSp>
        <p:nvGrpSpPr>
          <p:cNvPr id="5" name="Group 4"/>
          <p:cNvGrpSpPr/>
          <p:nvPr/>
        </p:nvGrpSpPr>
        <p:grpSpPr>
          <a:xfrm>
            <a:off x="3253408" y="1208315"/>
            <a:ext cx="3052762" cy="2522538"/>
            <a:chOff x="3733800" y="2895600"/>
            <a:chExt cx="3052762" cy="2522538"/>
          </a:xfrm>
        </p:grpSpPr>
        <p:sp>
          <p:nvSpPr>
            <p:cNvPr id="6" name="Rectangle 5"/>
            <p:cNvSpPr>
              <a:spLocks noChangeArrowheads="1"/>
            </p:cNvSpPr>
            <p:nvPr/>
          </p:nvSpPr>
          <p:spPr bwMode="auto">
            <a:xfrm>
              <a:off x="3733800" y="2895600"/>
              <a:ext cx="3052762" cy="2522538"/>
            </a:xfrm>
            <a:prstGeom prst="rect">
              <a:avLst/>
            </a:prstGeom>
            <a:solidFill>
              <a:srgbClr val="D1A17D"/>
            </a:solidFill>
            <a:ln w="9525">
              <a:miter lim="800000"/>
              <a:headEnd/>
              <a:tailEnd/>
            </a:ln>
            <a:scene3d>
              <a:camera prst="legacyPerspectiveTop">
                <a:rot lat="21387989" lon="20093444" rev="212404"/>
              </a:camera>
              <a:lightRig rig="legacyFlat3" dir="b"/>
            </a:scene3d>
            <a:sp3d extrusionH="2514600" prstMaterial="legacyMatte">
              <a:bevelT w="13500" h="13500" prst="angle"/>
              <a:bevelB w="13500" h="13500" prst="angle"/>
              <a:extrusionClr>
                <a:srgbClr val="D1A17D"/>
              </a:extrusionClr>
            </a:sp3d>
          </p:spPr>
          <p:txBody>
            <a:bodyPr wrap="none" anchor="ctr">
              <a:flatTx/>
            </a:bodyPr>
            <a:lstStyle/>
            <a:p>
              <a:endParaRPr lang="en-US" dirty="0"/>
            </a:p>
          </p:txBody>
        </p:sp>
        <p:sp>
          <p:nvSpPr>
            <p:cNvPr id="7" name="Rectangle 6"/>
            <p:cNvSpPr/>
            <p:nvPr/>
          </p:nvSpPr>
          <p:spPr>
            <a:xfrm rot="21420000">
              <a:off x="4367476" y="3108381"/>
              <a:ext cx="152310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dirty="0"/>
                <a:t>ACME  Pianos </a:t>
              </a:r>
            </a:p>
          </p:txBody>
        </p:sp>
        <p:sp>
          <p:nvSpPr>
            <p:cNvPr id="8" name="Freeform 7"/>
            <p:cNvSpPr/>
            <p:nvPr/>
          </p:nvSpPr>
          <p:spPr>
            <a:xfrm flipH="1">
              <a:off x="4572000" y="3657600"/>
              <a:ext cx="1219200" cy="695325"/>
            </a:xfrm>
            <a:custGeom>
              <a:avLst/>
              <a:gdLst>
                <a:gd name="connsiteX0" fmla="*/ 0 w 2857500"/>
                <a:gd name="connsiteY0" fmla="*/ 1114425 h 2628900"/>
                <a:gd name="connsiteX1" fmla="*/ 1385888 w 2857500"/>
                <a:gd name="connsiteY1" fmla="*/ 0 h 2628900"/>
                <a:gd name="connsiteX2" fmla="*/ 2857500 w 2857500"/>
                <a:gd name="connsiteY2" fmla="*/ 1271588 h 2628900"/>
                <a:gd name="connsiteX3" fmla="*/ 2028825 w 2857500"/>
                <a:gd name="connsiteY3" fmla="*/ 1243013 h 2628900"/>
                <a:gd name="connsiteX4" fmla="*/ 2043113 w 2857500"/>
                <a:gd name="connsiteY4" fmla="*/ 2628900 h 2628900"/>
                <a:gd name="connsiteX5" fmla="*/ 528638 w 2857500"/>
                <a:gd name="connsiteY5" fmla="*/ 2400300 h 2628900"/>
                <a:gd name="connsiteX6" fmla="*/ 585788 w 2857500"/>
                <a:gd name="connsiteY6" fmla="*/ 1057275 h 2628900"/>
                <a:gd name="connsiteX7" fmla="*/ 0 w 2857500"/>
                <a:gd name="connsiteY7" fmla="*/ 1114425 h 2628900"/>
                <a:gd name="connsiteX0" fmla="*/ 0 w 2857500"/>
                <a:gd name="connsiteY0" fmla="*/ 1114425 h 2628900"/>
                <a:gd name="connsiteX1" fmla="*/ 1385888 w 2857500"/>
                <a:gd name="connsiteY1" fmla="*/ 0 h 2628900"/>
                <a:gd name="connsiteX2" fmla="*/ 2857500 w 2857500"/>
                <a:gd name="connsiteY2" fmla="*/ 1271588 h 2628900"/>
                <a:gd name="connsiteX3" fmla="*/ 2028825 w 2857500"/>
                <a:gd name="connsiteY3" fmla="*/ 1243013 h 2628900"/>
                <a:gd name="connsiteX4" fmla="*/ 2043113 w 2857500"/>
                <a:gd name="connsiteY4" fmla="*/ 2628900 h 2628900"/>
                <a:gd name="connsiteX5" fmla="*/ 528638 w 2857500"/>
                <a:gd name="connsiteY5" fmla="*/ 2400300 h 2628900"/>
                <a:gd name="connsiteX6" fmla="*/ 728663 w 2857500"/>
                <a:gd name="connsiteY6" fmla="*/ 1114425 h 2628900"/>
                <a:gd name="connsiteX7" fmla="*/ 0 w 2857500"/>
                <a:gd name="connsiteY7" fmla="*/ 1114425 h 2628900"/>
                <a:gd name="connsiteX0" fmla="*/ 0 w 2857500"/>
                <a:gd name="connsiteY0" fmla="*/ 1114425 h 2628900"/>
                <a:gd name="connsiteX1" fmla="*/ 1385888 w 2857500"/>
                <a:gd name="connsiteY1" fmla="*/ 0 h 2628900"/>
                <a:gd name="connsiteX2" fmla="*/ 2857500 w 2857500"/>
                <a:gd name="connsiteY2" fmla="*/ 1271588 h 2628900"/>
                <a:gd name="connsiteX3" fmla="*/ 2028825 w 2857500"/>
                <a:gd name="connsiteY3" fmla="*/ 1243013 h 2628900"/>
                <a:gd name="connsiteX4" fmla="*/ 2043113 w 2857500"/>
                <a:gd name="connsiteY4" fmla="*/ 2628900 h 2628900"/>
                <a:gd name="connsiteX5" fmla="*/ 742950 w 2857500"/>
                <a:gd name="connsiteY5" fmla="*/ 2486025 h 2628900"/>
                <a:gd name="connsiteX6" fmla="*/ 728663 w 2857500"/>
                <a:gd name="connsiteY6" fmla="*/ 1114425 h 2628900"/>
                <a:gd name="connsiteX7" fmla="*/ 0 w 2857500"/>
                <a:gd name="connsiteY7" fmla="*/ 1114425 h 2628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57500" h="2628900">
                  <a:moveTo>
                    <a:pt x="0" y="1114425"/>
                  </a:moveTo>
                  <a:lnTo>
                    <a:pt x="1385888" y="0"/>
                  </a:lnTo>
                  <a:lnTo>
                    <a:pt x="2857500" y="1271588"/>
                  </a:lnTo>
                  <a:lnTo>
                    <a:pt x="2028825" y="1243013"/>
                  </a:lnTo>
                  <a:lnTo>
                    <a:pt x="2043113" y="2628900"/>
                  </a:lnTo>
                  <a:lnTo>
                    <a:pt x="742950" y="2486025"/>
                  </a:lnTo>
                  <a:lnTo>
                    <a:pt x="728663" y="1114425"/>
                  </a:lnTo>
                  <a:lnTo>
                    <a:pt x="0" y="1114425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TextBox 8"/>
            <p:cNvSpPr txBox="1"/>
            <p:nvPr/>
          </p:nvSpPr>
          <p:spPr>
            <a:xfrm rot="-180000">
              <a:off x="4891651" y="4436448"/>
              <a:ext cx="65915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UP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AF539C0-DF29-4434-88AF-3391077B8FC3}"/>
              </a:ext>
            </a:extLst>
          </p:cNvPr>
          <p:cNvGrpSpPr/>
          <p:nvPr/>
        </p:nvGrpSpPr>
        <p:grpSpPr>
          <a:xfrm>
            <a:off x="2035215" y="2078786"/>
            <a:ext cx="1201205" cy="1708516"/>
            <a:chOff x="647286" y="3303428"/>
            <a:chExt cx="1201205" cy="1708516"/>
          </a:xfrm>
        </p:grpSpPr>
        <p:sp>
          <p:nvSpPr>
            <p:cNvPr id="22" name="Rectangle 14"/>
            <p:cNvSpPr>
              <a:spLocks noChangeArrowheads="1"/>
            </p:cNvSpPr>
            <p:nvPr/>
          </p:nvSpPr>
          <p:spPr bwMode="auto">
            <a:xfrm rot="5644024" flipH="1">
              <a:off x="1441000" y="3977720"/>
              <a:ext cx="82536" cy="15104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3" name="Oval 12"/>
            <p:cNvSpPr>
              <a:spLocks noChangeArrowheads="1"/>
            </p:cNvSpPr>
            <p:nvPr/>
          </p:nvSpPr>
          <p:spPr bwMode="auto">
            <a:xfrm rot="2710260" flipH="1">
              <a:off x="1079798" y="3665639"/>
              <a:ext cx="331773" cy="698334"/>
            </a:xfrm>
            <a:prstGeom prst="ellipse">
              <a:avLst/>
            </a:prstGeom>
            <a:solidFill>
              <a:srgbClr val="002060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4" name="Rectangle 14"/>
            <p:cNvSpPr>
              <a:spLocks noChangeArrowheads="1"/>
            </p:cNvSpPr>
            <p:nvPr/>
          </p:nvSpPr>
          <p:spPr bwMode="auto">
            <a:xfrm rot="2315698" flipH="1">
              <a:off x="1278120" y="3831340"/>
              <a:ext cx="146112" cy="33505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5" name="Rectangle 17"/>
            <p:cNvSpPr>
              <a:spLocks noChangeArrowheads="1"/>
            </p:cNvSpPr>
            <p:nvPr/>
          </p:nvSpPr>
          <p:spPr bwMode="auto">
            <a:xfrm rot="3210175" flipH="1">
              <a:off x="637919" y="4813758"/>
              <a:ext cx="275363" cy="121009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6" name="Oval 11"/>
            <p:cNvSpPr>
              <a:spLocks noChangeArrowheads="1"/>
            </p:cNvSpPr>
            <p:nvPr/>
          </p:nvSpPr>
          <p:spPr bwMode="auto">
            <a:xfrm rot="872245" flipH="1">
              <a:off x="1389402" y="3303428"/>
              <a:ext cx="459089" cy="563472"/>
            </a:xfrm>
            <a:prstGeom prst="ellipse">
              <a:avLst/>
            </a:prstGeom>
            <a:solidFill>
              <a:srgbClr val="002060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 rot="6001384" flipH="1">
              <a:off x="1346433" y="3995849"/>
              <a:ext cx="114219" cy="33637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8" name="Rectangle 15"/>
            <p:cNvSpPr>
              <a:spLocks noChangeArrowheads="1"/>
            </p:cNvSpPr>
            <p:nvPr/>
          </p:nvSpPr>
          <p:spPr bwMode="auto">
            <a:xfrm rot="19172885" flipH="1">
              <a:off x="1194016" y="4179458"/>
              <a:ext cx="137153" cy="484464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9" name="Rectangle 17"/>
            <p:cNvSpPr>
              <a:spLocks noChangeArrowheads="1"/>
            </p:cNvSpPr>
            <p:nvPr/>
          </p:nvSpPr>
          <p:spPr bwMode="auto">
            <a:xfrm rot="4256131" flipH="1">
              <a:off x="999886" y="4796697"/>
              <a:ext cx="193182" cy="112846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0" name="Rectangle 15"/>
            <p:cNvSpPr>
              <a:spLocks noChangeArrowheads="1"/>
            </p:cNvSpPr>
            <p:nvPr/>
          </p:nvSpPr>
          <p:spPr bwMode="auto">
            <a:xfrm rot="3286881" flipH="1">
              <a:off x="1184674" y="4484251"/>
              <a:ext cx="146040" cy="449334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1" name="Rectangle 30"/>
            <p:cNvSpPr>
              <a:spLocks noChangeArrowheads="1"/>
            </p:cNvSpPr>
            <p:nvPr/>
          </p:nvSpPr>
          <p:spPr bwMode="auto">
            <a:xfrm rot="335058" flipH="1">
              <a:off x="1092684" y="4858338"/>
              <a:ext cx="113602" cy="104137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2" name="Rectangle 15"/>
            <p:cNvSpPr>
              <a:spLocks noChangeArrowheads="1"/>
            </p:cNvSpPr>
            <p:nvPr/>
          </p:nvSpPr>
          <p:spPr bwMode="auto">
            <a:xfrm rot="631007" flipH="1">
              <a:off x="965528" y="4211217"/>
              <a:ext cx="159011" cy="422555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3" name="Rectangle 15"/>
            <p:cNvSpPr>
              <a:spLocks noChangeArrowheads="1"/>
            </p:cNvSpPr>
            <p:nvPr/>
          </p:nvSpPr>
          <p:spPr bwMode="auto">
            <a:xfrm rot="3040703" flipH="1">
              <a:off x="805396" y="4474639"/>
              <a:ext cx="157339" cy="473560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4" name="Rectangle 13"/>
            <p:cNvSpPr>
              <a:spLocks noChangeArrowheads="1"/>
            </p:cNvSpPr>
            <p:nvPr/>
          </p:nvSpPr>
          <p:spPr bwMode="auto">
            <a:xfrm rot="4229478" flipH="1">
              <a:off x="1495053" y="4153953"/>
              <a:ext cx="158799" cy="134633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47" name="Oval 46">
            <a:extLst>
              <a:ext uri="{FF2B5EF4-FFF2-40B4-BE49-F238E27FC236}">
                <a16:creationId xmlns:a16="http://schemas.microsoft.com/office/drawing/2014/main" id="{FF6CF747-5A5B-41A8-AA60-B2C57E61E5AA}"/>
              </a:ext>
            </a:extLst>
          </p:cNvPr>
          <p:cNvSpPr/>
          <p:nvPr/>
        </p:nvSpPr>
        <p:spPr>
          <a:xfrm>
            <a:off x="4561114" y="5236029"/>
            <a:ext cx="250372" cy="27214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E343FF0-01B4-47E9-A50D-2559277359AE}"/>
              </a:ext>
            </a:extLst>
          </p:cNvPr>
          <p:cNvCxnSpPr>
            <a:cxnSpLocks/>
          </p:cNvCxnSpPr>
          <p:nvPr/>
        </p:nvCxnSpPr>
        <p:spPr>
          <a:xfrm flipH="1">
            <a:off x="3510646" y="5377515"/>
            <a:ext cx="1034143" cy="5443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627223A-4E02-425D-BD79-C757BD43E699}"/>
              </a:ext>
            </a:extLst>
          </p:cNvPr>
          <p:cNvCxnSpPr>
            <a:cxnSpLocks/>
          </p:cNvCxnSpPr>
          <p:nvPr/>
        </p:nvCxnSpPr>
        <p:spPr>
          <a:xfrm flipV="1">
            <a:off x="4767943" y="5274129"/>
            <a:ext cx="500743" cy="1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9573B28-8A15-4B39-AE30-2C79E55115C4}"/>
              </a:ext>
            </a:extLst>
          </p:cNvPr>
          <p:cNvCxnSpPr/>
          <p:nvPr/>
        </p:nvCxnSpPr>
        <p:spPr>
          <a:xfrm rot="5400000">
            <a:off x="4147460" y="6014328"/>
            <a:ext cx="1034143" cy="5443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6326302-2AD7-4E24-930E-9901A816AFC3}"/>
              </a:ext>
            </a:extLst>
          </p:cNvPr>
          <p:cNvCxnSpPr/>
          <p:nvPr/>
        </p:nvCxnSpPr>
        <p:spPr>
          <a:xfrm rot="16200000" flipV="1">
            <a:off x="4136574" y="4729813"/>
            <a:ext cx="1034143" cy="5443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7C03A5B-3113-427F-AE9C-173B3B4143C0}"/>
              </a:ext>
            </a:extLst>
          </p:cNvPr>
          <p:cNvSpPr txBox="1"/>
          <p:nvPr/>
        </p:nvSpPr>
        <p:spPr>
          <a:xfrm>
            <a:off x="4876799" y="4136572"/>
            <a:ext cx="487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en-US" baseline="-25000" dirty="0"/>
              <a:t>BF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387FE06-1F78-46AF-BB7B-77C882EAABA6}"/>
              </a:ext>
            </a:extLst>
          </p:cNvPr>
          <p:cNvSpPr txBox="1"/>
          <p:nvPr/>
        </p:nvSpPr>
        <p:spPr>
          <a:xfrm>
            <a:off x="4887685" y="6085115"/>
            <a:ext cx="5485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</a:t>
            </a:r>
            <a:r>
              <a:rPr lang="en-US" baseline="-25000" dirty="0"/>
              <a:t>BE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031EF9E-6CA6-46D9-81A3-B6E6AC447FF8}"/>
              </a:ext>
            </a:extLst>
          </p:cNvPr>
          <p:cNvSpPr txBox="1"/>
          <p:nvPr/>
        </p:nvSpPr>
        <p:spPr>
          <a:xfrm flipH="1">
            <a:off x="2932520" y="5078185"/>
            <a:ext cx="5617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</a:t>
            </a:r>
            <a:r>
              <a:rPr lang="en-US" baseline="-25000" dirty="0"/>
              <a:t>BL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55F5B22-6DF9-4E92-85B9-607EC7B22CB5}"/>
              </a:ext>
            </a:extLst>
          </p:cNvPr>
          <p:cNvSpPr txBox="1"/>
          <p:nvPr/>
        </p:nvSpPr>
        <p:spPr>
          <a:xfrm>
            <a:off x="5246914" y="4996542"/>
            <a:ext cx="495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en-US" baseline="-25000" dirty="0"/>
              <a:t>B6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F64162F-C7C7-41B6-83CB-7696F9AEA8D8}"/>
              </a:ext>
            </a:extLst>
          </p:cNvPr>
          <p:cNvCxnSpPr>
            <a:cxnSpLocks/>
          </p:cNvCxnSpPr>
          <p:nvPr/>
        </p:nvCxnSpPr>
        <p:spPr>
          <a:xfrm>
            <a:off x="4800600" y="5475515"/>
            <a:ext cx="397330" cy="0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C84A5C3-249E-4F5B-B36A-CEB6BCD5F439}"/>
              </a:ext>
            </a:extLst>
          </p:cNvPr>
          <p:cNvSpPr txBox="1"/>
          <p:nvPr/>
        </p:nvSpPr>
        <p:spPr>
          <a:xfrm>
            <a:off x="5078186" y="5524500"/>
            <a:ext cx="4796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f</a:t>
            </a:r>
            <a:r>
              <a:rPr lang="en-US" baseline="-25000" dirty="0" err="1"/>
              <a:t>BF</a:t>
            </a:r>
            <a:r>
              <a:rPr lang="en-US" baseline="-32000" dirty="0" err="1"/>
              <a:t>k</a:t>
            </a:r>
            <a:endParaRPr lang="en-US" baseline="-32000" dirty="0"/>
          </a:p>
        </p:txBody>
      </p:sp>
    </p:spTree>
    <p:extLst>
      <p:ext uri="{BB962C8B-B14F-4D97-AF65-F5344CB8AC3E}">
        <p14:creationId xmlns:p14="http://schemas.microsoft.com/office/powerpoint/2010/main" val="1221054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/>
          <p:cNvGrpSpPr/>
          <p:nvPr/>
        </p:nvGrpSpPr>
        <p:grpSpPr>
          <a:xfrm>
            <a:off x="2590800" y="1595735"/>
            <a:ext cx="4114800" cy="3890665"/>
            <a:chOff x="2590800" y="1595735"/>
            <a:chExt cx="4114800" cy="3890665"/>
          </a:xfrm>
        </p:grpSpPr>
        <p:sp>
          <p:nvSpPr>
            <p:cNvPr id="26" name="Freeform 25"/>
            <p:cNvSpPr/>
            <p:nvPr/>
          </p:nvSpPr>
          <p:spPr>
            <a:xfrm>
              <a:off x="3819525" y="2505075"/>
              <a:ext cx="1914525" cy="2447925"/>
            </a:xfrm>
            <a:custGeom>
              <a:avLst/>
              <a:gdLst>
                <a:gd name="connsiteX0" fmla="*/ 0 w 1914525"/>
                <a:gd name="connsiteY0" fmla="*/ 0 h 2447925"/>
                <a:gd name="connsiteX1" fmla="*/ 228600 w 1914525"/>
                <a:gd name="connsiteY1" fmla="*/ 276225 h 2447925"/>
                <a:gd name="connsiteX2" fmla="*/ 657225 w 1914525"/>
                <a:gd name="connsiteY2" fmla="*/ 704850 h 2447925"/>
                <a:gd name="connsiteX3" fmla="*/ 1095375 w 1914525"/>
                <a:gd name="connsiteY3" fmla="*/ 1038225 h 2447925"/>
                <a:gd name="connsiteX4" fmla="*/ 1666875 w 1914525"/>
                <a:gd name="connsiteY4" fmla="*/ 1381125 h 2447925"/>
                <a:gd name="connsiteX5" fmla="*/ 1914525 w 1914525"/>
                <a:gd name="connsiteY5" fmla="*/ 1524000 h 2447925"/>
                <a:gd name="connsiteX6" fmla="*/ 1895475 w 1914525"/>
                <a:gd name="connsiteY6" fmla="*/ 2447925 h 2447925"/>
                <a:gd name="connsiteX7" fmla="*/ 0 w 1914525"/>
                <a:gd name="connsiteY7" fmla="*/ 2447925 h 2447925"/>
                <a:gd name="connsiteX8" fmla="*/ 0 w 1914525"/>
                <a:gd name="connsiteY8" fmla="*/ 0 h 2447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14525" h="2447925">
                  <a:moveTo>
                    <a:pt x="0" y="0"/>
                  </a:moveTo>
                  <a:lnTo>
                    <a:pt x="228600" y="276225"/>
                  </a:lnTo>
                  <a:lnTo>
                    <a:pt x="657225" y="704850"/>
                  </a:lnTo>
                  <a:lnTo>
                    <a:pt x="1095375" y="1038225"/>
                  </a:lnTo>
                  <a:lnTo>
                    <a:pt x="1666875" y="1381125"/>
                  </a:lnTo>
                  <a:lnTo>
                    <a:pt x="1914525" y="1524000"/>
                  </a:lnTo>
                  <a:lnTo>
                    <a:pt x="1895475" y="2447925"/>
                  </a:lnTo>
                  <a:lnTo>
                    <a:pt x="0" y="2447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Connector 5"/>
            <p:cNvCxnSpPr/>
            <p:nvPr/>
          </p:nvCxnSpPr>
          <p:spPr>
            <a:xfrm>
              <a:off x="3200400" y="20574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>
            <a:xfrm rot="16200000">
              <a:off x="4648200" y="35052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3200400" y="40386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>
              <a:off x="3124200" y="2438400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rot="5400000">
              <a:off x="2552700" y="36957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5715000" y="4114800"/>
              <a:ext cx="0" cy="83820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Oval 14"/>
            <p:cNvSpPr/>
            <p:nvPr/>
          </p:nvSpPr>
          <p:spPr>
            <a:xfrm>
              <a:off x="3733800" y="23622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5638800" y="39624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 16"/>
            <p:cNvSpPr/>
            <p:nvPr/>
          </p:nvSpPr>
          <p:spPr>
            <a:xfrm>
              <a:off x="3829050" y="2505075"/>
              <a:ext cx="1885950" cy="1504950"/>
            </a:xfrm>
            <a:custGeom>
              <a:avLst/>
              <a:gdLst>
                <a:gd name="connsiteX0" fmla="*/ 0 w 1885950"/>
                <a:gd name="connsiteY0" fmla="*/ 0 h 1504950"/>
                <a:gd name="connsiteX1" fmla="*/ 771525 w 1885950"/>
                <a:gd name="connsiteY1" fmla="*/ 800100 h 1504950"/>
                <a:gd name="connsiteX2" fmla="*/ 1885950 w 1885950"/>
                <a:gd name="connsiteY2" fmla="*/ 1504950 h 1504950"/>
                <a:gd name="connsiteX3" fmla="*/ 1885950 w 1885950"/>
                <a:gd name="connsiteY3" fmla="*/ 1504950 h 1504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5950" h="1504950">
                  <a:moveTo>
                    <a:pt x="0" y="0"/>
                  </a:moveTo>
                  <a:cubicBezTo>
                    <a:pt x="228600" y="274637"/>
                    <a:pt x="457200" y="549275"/>
                    <a:pt x="771525" y="800100"/>
                  </a:cubicBezTo>
                  <a:cubicBezTo>
                    <a:pt x="1085850" y="1050925"/>
                    <a:pt x="1885950" y="1504950"/>
                    <a:pt x="1885950" y="1504950"/>
                  </a:cubicBezTo>
                  <a:lnTo>
                    <a:pt x="1885950" y="1504950"/>
                  </a:lnTo>
                </a:path>
              </a:pathLst>
            </a:custGeom>
            <a:noFill/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Isosceles Triangle 17"/>
            <p:cNvSpPr/>
            <p:nvPr/>
          </p:nvSpPr>
          <p:spPr>
            <a:xfrm rot="7951073">
              <a:off x="4406324" y="3110924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2971800" y="1595735"/>
              <a:ext cx="34336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i="1" dirty="0"/>
                <a:t>P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590800" y="2057400"/>
              <a:ext cx="4572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P</a:t>
              </a:r>
              <a:r>
                <a:rPr lang="en-US" sz="3200" i="1" baseline="-25000" dirty="0"/>
                <a:t>i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590800" y="3657599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P</a:t>
              </a:r>
              <a:r>
                <a:rPr lang="en-US" sz="3200" i="1" baseline="-25000" dirty="0"/>
                <a:t>f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581400" y="4876800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V</a:t>
              </a:r>
              <a:r>
                <a:rPr lang="en-US" sz="3200" i="1" baseline="-25000" dirty="0"/>
                <a:t>i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486400" y="4901625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 err="1"/>
                <a:t>V</a:t>
              </a:r>
              <a:r>
                <a:rPr lang="en-US" sz="3200" i="1" baseline="-25000" dirty="0" err="1"/>
                <a:t>f</a:t>
              </a:r>
              <a:endParaRPr lang="en-US" sz="3200" i="1" baseline="-25000" dirty="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172200" y="4724400"/>
              <a:ext cx="5334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endParaRPr lang="en-US" sz="2400" i="1" baseline="-2500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274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289115"/>
            <a:ext cx="2133600" cy="365125"/>
          </a:xfrm>
          <a:noFill/>
        </p:spPr>
        <p:txBody>
          <a:bodyPr/>
          <a:lstStyle/>
          <a:p>
            <a:fld id="{005D29CD-E9E5-43F0-9F4C-9122175FCE73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1822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123.10.6</a:t>
            </a:r>
          </a:p>
        </p:txBody>
      </p:sp>
      <p:sp>
        <p:nvSpPr>
          <p:cNvPr id="18227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None/>
            </a:pPr>
            <a:r>
              <a:rPr lang="en-US" dirty="0"/>
              <a:t>Which graph represent the most work done on the system?</a:t>
            </a:r>
          </a:p>
        </p:txBody>
      </p:sp>
      <p:sp>
        <p:nvSpPr>
          <p:cNvPr id="182278" name="Text Box 5"/>
          <p:cNvSpPr txBox="1">
            <a:spLocks noChangeArrowheads="1"/>
          </p:cNvSpPr>
          <p:nvPr/>
        </p:nvSpPr>
        <p:spPr bwMode="auto">
          <a:xfrm>
            <a:off x="1935165" y="5415617"/>
            <a:ext cx="6599884" cy="52322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800" b="1" dirty="0"/>
              <a:t>A                               B                              C          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60058" y="2998693"/>
            <a:ext cx="3021514" cy="2274516"/>
            <a:chOff x="2362821" y="1595735"/>
            <a:chExt cx="4342779" cy="4147776"/>
          </a:xfrm>
        </p:grpSpPr>
        <p:sp>
          <p:nvSpPr>
            <p:cNvPr id="46" name="Rectangle 45"/>
            <p:cNvSpPr/>
            <p:nvPr/>
          </p:nvSpPr>
          <p:spPr>
            <a:xfrm>
              <a:off x="3810000" y="2438400"/>
              <a:ext cx="1905000" cy="2514600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47" name="Straight Connector 46"/>
            <p:cNvCxnSpPr/>
            <p:nvPr/>
          </p:nvCxnSpPr>
          <p:spPr>
            <a:xfrm rot="5400000">
              <a:off x="4457700" y="37719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>
              <a:off x="3200400" y="20574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/>
            <p:nvPr/>
          </p:nvCxnSpPr>
          <p:spPr>
            <a:xfrm rot="16200000">
              <a:off x="4648200" y="35052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3200400" y="40386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3124200" y="2438400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/>
          </p:nvCxnSpPr>
          <p:spPr>
            <a:xfrm rot="5400000">
              <a:off x="2552700" y="36957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Isosceles Triangle 52"/>
            <p:cNvSpPr/>
            <p:nvPr/>
          </p:nvSpPr>
          <p:spPr>
            <a:xfrm rot="5400000">
              <a:off x="4572000" y="22860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2971800" y="1595735"/>
              <a:ext cx="374371" cy="5661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P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2362821" y="2057399"/>
              <a:ext cx="685180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2382150" y="3657599"/>
              <a:ext cx="742053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f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3581399" y="4876800"/>
              <a:ext cx="714150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5486399" y="4901625"/>
              <a:ext cx="645239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 err="1"/>
                <a:t>V</a:t>
              </a:r>
              <a:r>
                <a:rPr lang="en-US" sz="2400" i="1" baseline="-25000" dirty="0" err="1"/>
                <a:t>f</a:t>
              </a:r>
              <a:endParaRPr lang="en-US" sz="2400" i="1" baseline="-25000" dirty="0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6172199" y="4724400"/>
              <a:ext cx="533401" cy="5661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V</a:t>
              </a:r>
              <a:endParaRPr lang="en-US" i="1" baseline="-25000" dirty="0"/>
            </a:p>
          </p:txBody>
        </p:sp>
        <p:sp>
          <p:nvSpPr>
            <p:cNvPr id="60" name="Freeform 59"/>
            <p:cNvSpPr/>
            <p:nvPr/>
          </p:nvSpPr>
          <p:spPr>
            <a:xfrm>
              <a:off x="3810000" y="2428875"/>
              <a:ext cx="1914525" cy="1571625"/>
            </a:xfrm>
            <a:custGeom>
              <a:avLst/>
              <a:gdLst>
                <a:gd name="connsiteX0" fmla="*/ 0 w 1914525"/>
                <a:gd name="connsiteY0" fmla="*/ 0 h 1571625"/>
                <a:gd name="connsiteX1" fmla="*/ 1895475 w 1914525"/>
                <a:gd name="connsiteY1" fmla="*/ 9525 h 1571625"/>
                <a:gd name="connsiteX2" fmla="*/ 1914525 w 1914525"/>
                <a:gd name="connsiteY2" fmla="*/ 1571625 h 1571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4525" h="1571625">
                  <a:moveTo>
                    <a:pt x="0" y="0"/>
                  </a:moveTo>
                  <a:lnTo>
                    <a:pt x="1895475" y="9525"/>
                  </a:lnTo>
                  <a:lnTo>
                    <a:pt x="1914525" y="1571625"/>
                  </a:ln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1" name="Isosceles Triangle 60"/>
            <p:cNvSpPr/>
            <p:nvPr/>
          </p:nvSpPr>
          <p:spPr>
            <a:xfrm rot="10800000">
              <a:off x="5562600" y="31242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2" name="Oval 61"/>
            <p:cNvSpPr/>
            <p:nvPr/>
          </p:nvSpPr>
          <p:spPr>
            <a:xfrm>
              <a:off x="3733800" y="23622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3" name="Oval 62"/>
            <p:cNvSpPr/>
            <p:nvPr/>
          </p:nvSpPr>
          <p:spPr>
            <a:xfrm>
              <a:off x="5638800" y="39624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376519" y="3001141"/>
            <a:ext cx="3037706" cy="2274516"/>
            <a:chOff x="-1251377" y="1600200"/>
            <a:chExt cx="4366052" cy="4147776"/>
          </a:xfrm>
        </p:grpSpPr>
        <p:sp>
          <p:nvSpPr>
            <p:cNvPr id="29" name="Freeform 28"/>
            <p:cNvSpPr/>
            <p:nvPr/>
          </p:nvSpPr>
          <p:spPr>
            <a:xfrm>
              <a:off x="228600" y="2509540"/>
              <a:ext cx="1914525" cy="2447925"/>
            </a:xfrm>
            <a:custGeom>
              <a:avLst/>
              <a:gdLst>
                <a:gd name="connsiteX0" fmla="*/ 0 w 1914525"/>
                <a:gd name="connsiteY0" fmla="*/ 0 h 2447925"/>
                <a:gd name="connsiteX1" fmla="*/ 228600 w 1914525"/>
                <a:gd name="connsiteY1" fmla="*/ 276225 h 2447925"/>
                <a:gd name="connsiteX2" fmla="*/ 657225 w 1914525"/>
                <a:gd name="connsiteY2" fmla="*/ 704850 h 2447925"/>
                <a:gd name="connsiteX3" fmla="*/ 1095375 w 1914525"/>
                <a:gd name="connsiteY3" fmla="*/ 1038225 h 2447925"/>
                <a:gd name="connsiteX4" fmla="*/ 1666875 w 1914525"/>
                <a:gd name="connsiteY4" fmla="*/ 1381125 h 2447925"/>
                <a:gd name="connsiteX5" fmla="*/ 1914525 w 1914525"/>
                <a:gd name="connsiteY5" fmla="*/ 1524000 h 2447925"/>
                <a:gd name="connsiteX6" fmla="*/ 1895475 w 1914525"/>
                <a:gd name="connsiteY6" fmla="*/ 2447925 h 2447925"/>
                <a:gd name="connsiteX7" fmla="*/ 0 w 1914525"/>
                <a:gd name="connsiteY7" fmla="*/ 2447925 h 2447925"/>
                <a:gd name="connsiteX8" fmla="*/ 0 w 1914525"/>
                <a:gd name="connsiteY8" fmla="*/ 0 h 2447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14525" h="2447925">
                  <a:moveTo>
                    <a:pt x="0" y="0"/>
                  </a:moveTo>
                  <a:lnTo>
                    <a:pt x="228600" y="276225"/>
                  </a:lnTo>
                  <a:lnTo>
                    <a:pt x="657225" y="704850"/>
                  </a:lnTo>
                  <a:lnTo>
                    <a:pt x="1095375" y="1038225"/>
                  </a:lnTo>
                  <a:lnTo>
                    <a:pt x="1666875" y="1381125"/>
                  </a:lnTo>
                  <a:lnTo>
                    <a:pt x="1914525" y="1524000"/>
                  </a:lnTo>
                  <a:lnTo>
                    <a:pt x="1895475" y="2447925"/>
                  </a:lnTo>
                  <a:lnTo>
                    <a:pt x="0" y="2447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30" name="Straight Connector 29"/>
            <p:cNvCxnSpPr/>
            <p:nvPr/>
          </p:nvCxnSpPr>
          <p:spPr>
            <a:xfrm>
              <a:off x="-390525" y="2061865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/>
            <p:nvPr/>
          </p:nvCxnSpPr>
          <p:spPr>
            <a:xfrm rot="16200000">
              <a:off x="1057275" y="3509665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-390525" y="4043065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-466725" y="2442865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 rot="5400000">
              <a:off x="-1038225" y="3700165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>
              <a:off x="2124075" y="4119265"/>
              <a:ext cx="0" cy="83820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Oval 35"/>
            <p:cNvSpPr/>
            <p:nvPr/>
          </p:nvSpPr>
          <p:spPr>
            <a:xfrm>
              <a:off x="142875" y="2366665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7" name="Oval 36"/>
            <p:cNvSpPr/>
            <p:nvPr/>
          </p:nvSpPr>
          <p:spPr>
            <a:xfrm>
              <a:off x="2047875" y="3966865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8" name="Freeform 37"/>
            <p:cNvSpPr/>
            <p:nvPr/>
          </p:nvSpPr>
          <p:spPr>
            <a:xfrm>
              <a:off x="238125" y="2509540"/>
              <a:ext cx="1885950" cy="1504950"/>
            </a:xfrm>
            <a:custGeom>
              <a:avLst/>
              <a:gdLst>
                <a:gd name="connsiteX0" fmla="*/ 0 w 1885950"/>
                <a:gd name="connsiteY0" fmla="*/ 0 h 1504950"/>
                <a:gd name="connsiteX1" fmla="*/ 771525 w 1885950"/>
                <a:gd name="connsiteY1" fmla="*/ 800100 h 1504950"/>
                <a:gd name="connsiteX2" fmla="*/ 1885950 w 1885950"/>
                <a:gd name="connsiteY2" fmla="*/ 1504950 h 1504950"/>
                <a:gd name="connsiteX3" fmla="*/ 1885950 w 1885950"/>
                <a:gd name="connsiteY3" fmla="*/ 1504950 h 1504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5950" h="1504950">
                  <a:moveTo>
                    <a:pt x="0" y="0"/>
                  </a:moveTo>
                  <a:cubicBezTo>
                    <a:pt x="228600" y="274637"/>
                    <a:pt x="457200" y="549275"/>
                    <a:pt x="771525" y="800100"/>
                  </a:cubicBezTo>
                  <a:cubicBezTo>
                    <a:pt x="1085850" y="1050925"/>
                    <a:pt x="1885950" y="1504950"/>
                    <a:pt x="1885950" y="1504950"/>
                  </a:cubicBezTo>
                  <a:lnTo>
                    <a:pt x="1885950" y="1504950"/>
                  </a:lnTo>
                </a:path>
              </a:pathLst>
            </a:custGeom>
            <a:noFill/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9" name="Isosceles Triangle 38"/>
            <p:cNvSpPr/>
            <p:nvPr/>
          </p:nvSpPr>
          <p:spPr>
            <a:xfrm rot="7951073">
              <a:off x="815399" y="3115389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-619125" y="1600200"/>
              <a:ext cx="374371" cy="5661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P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-1135415" y="2061864"/>
              <a:ext cx="592491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-1251377" y="3662063"/>
              <a:ext cx="784655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f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-9526" y="4881265"/>
              <a:ext cx="671546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1895476" y="4906090"/>
              <a:ext cx="699271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 err="1"/>
                <a:t>V</a:t>
              </a:r>
              <a:r>
                <a:rPr lang="en-US" sz="2400" i="1" baseline="-25000" dirty="0" err="1"/>
                <a:t>f</a:t>
              </a:r>
              <a:endParaRPr lang="en-US" sz="2400" i="1" baseline="-25000" dirty="0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2581274" y="4886325"/>
              <a:ext cx="533401" cy="5661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V</a:t>
              </a:r>
              <a:endParaRPr lang="en-US" i="1" baseline="-25000" dirty="0"/>
            </a:p>
          </p:txBody>
        </p:sp>
      </p:grpSp>
      <p:grpSp>
        <p:nvGrpSpPr>
          <p:cNvPr id="2" name="Group 1"/>
          <p:cNvGrpSpPr/>
          <p:nvPr/>
        </p:nvGrpSpPr>
        <p:grpSpPr>
          <a:xfrm>
            <a:off x="6079396" y="3042927"/>
            <a:ext cx="2862897" cy="2274517"/>
            <a:chOff x="5554963" y="3042927"/>
            <a:chExt cx="2862897" cy="2274517"/>
          </a:xfrm>
        </p:grpSpPr>
        <p:sp>
          <p:nvSpPr>
            <p:cNvPr id="11" name="Rectangle 10"/>
            <p:cNvSpPr/>
            <p:nvPr/>
          </p:nvSpPr>
          <p:spPr>
            <a:xfrm>
              <a:off x="6403229" y="4382521"/>
              <a:ext cx="1325415" cy="501430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12" name="Straight Connector 11"/>
            <p:cNvCxnSpPr>
              <a:stCxn id="28" idx="4"/>
            </p:cNvCxnSpPr>
            <p:nvPr/>
          </p:nvCxnSpPr>
          <p:spPr>
            <a:xfrm>
              <a:off x="7728645" y="4424307"/>
              <a:ext cx="0" cy="440421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5979097" y="3296090"/>
              <a:ext cx="0" cy="1587861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rot="16200000">
              <a:off x="6986412" y="3876636"/>
              <a:ext cx="0" cy="2014631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>
            <a:xfrm>
              <a:off x="5979097" y="4382521"/>
              <a:ext cx="1749548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5926080" y="3505019"/>
              <a:ext cx="477149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rot="5400000">
              <a:off x="5713764" y="4194485"/>
              <a:ext cx="1378932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5820047" y="3042927"/>
              <a:ext cx="260471" cy="31045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P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554963" y="3296090"/>
              <a:ext cx="40208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554964" y="4173592"/>
              <a:ext cx="48276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f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244179" y="4842165"/>
              <a:ext cx="51969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 err="1"/>
                <a:t>V</a:t>
              </a:r>
              <a:r>
                <a:rPr lang="en-US" sz="2400" i="1" baseline="-25000" dirty="0" err="1"/>
                <a:t>f</a:t>
              </a:r>
              <a:endParaRPr lang="en-US" sz="2400" i="1" baseline="-25000" dirty="0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569595" y="4855779"/>
              <a:ext cx="4851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046743" y="4758594"/>
              <a:ext cx="371117" cy="3104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V</a:t>
              </a:r>
              <a:endParaRPr lang="en-US" i="1" baseline="-25000" dirty="0"/>
            </a:p>
          </p:txBody>
        </p:sp>
        <p:sp>
          <p:nvSpPr>
            <p:cNvPr id="24" name="Isosceles Triangle 23"/>
            <p:cNvSpPr/>
            <p:nvPr/>
          </p:nvSpPr>
          <p:spPr>
            <a:xfrm rot="5400000" flipH="1" flipV="1">
              <a:off x="7008874" y="4255595"/>
              <a:ext cx="167143" cy="212066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5" name="Freeform 24"/>
            <p:cNvSpPr/>
            <p:nvPr/>
          </p:nvSpPr>
          <p:spPr>
            <a:xfrm flipH="1" flipV="1">
              <a:off x="6396602" y="3505019"/>
              <a:ext cx="1332042" cy="861832"/>
            </a:xfrm>
            <a:custGeom>
              <a:avLst/>
              <a:gdLst>
                <a:gd name="connsiteX0" fmla="*/ 0 w 1914525"/>
                <a:gd name="connsiteY0" fmla="*/ 0 h 1571625"/>
                <a:gd name="connsiteX1" fmla="*/ 1895475 w 1914525"/>
                <a:gd name="connsiteY1" fmla="*/ 9525 h 1571625"/>
                <a:gd name="connsiteX2" fmla="*/ 1914525 w 1914525"/>
                <a:gd name="connsiteY2" fmla="*/ 1571625 h 1571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4525" h="1571625">
                  <a:moveTo>
                    <a:pt x="0" y="0"/>
                  </a:moveTo>
                  <a:lnTo>
                    <a:pt x="1895475" y="9525"/>
                  </a:lnTo>
                  <a:lnTo>
                    <a:pt x="1914525" y="1571625"/>
                  </a:ln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6" name="Isosceles Triangle 25"/>
            <p:cNvSpPr/>
            <p:nvPr/>
          </p:nvSpPr>
          <p:spPr>
            <a:xfrm rot="10800000" flipH="1" flipV="1">
              <a:off x="6297196" y="3818413"/>
              <a:ext cx="212066" cy="167143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7" name="Oval 26"/>
            <p:cNvSpPr/>
            <p:nvPr/>
          </p:nvSpPr>
          <p:spPr>
            <a:xfrm>
              <a:off x="6350213" y="3463234"/>
              <a:ext cx="106033" cy="8357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8" name="Oval 27"/>
            <p:cNvSpPr/>
            <p:nvPr/>
          </p:nvSpPr>
          <p:spPr>
            <a:xfrm>
              <a:off x="7675628" y="4340736"/>
              <a:ext cx="106033" cy="8357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</p:spTree>
    <p:extLst>
      <p:ext uri="{BB962C8B-B14F-4D97-AF65-F5344CB8AC3E}">
        <p14:creationId xmlns:p14="http://schemas.microsoft.com/office/powerpoint/2010/main" val="18769807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/>
          <p:cNvGrpSpPr/>
          <p:nvPr/>
        </p:nvGrpSpPr>
        <p:grpSpPr>
          <a:xfrm>
            <a:off x="2590800" y="1595735"/>
            <a:ext cx="4114800" cy="3890665"/>
            <a:chOff x="2590800" y="1595735"/>
            <a:chExt cx="4114800" cy="3890665"/>
          </a:xfrm>
        </p:grpSpPr>
        <p:sp>
          <p:nvSpPr>
            <p:cNvPr id="29" name="Rectangle 28"/>
            <p:cNvSpPr/>
            <p:nvPr/>
          </p:nvSpPr>
          <p:spPr>
            <a:xfrm>
              <a:off x="3810000" y="2438400"/>
              <a:ext cx="1905000" cy="2514600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Connector 18"/>
            <p:cNvCxnSpPr/>
            <p:nvPr/>
          </p:nvCxnSpPr>
          <p:spPr>
            <a:xfrm rot="5400000">
              <a:off x="4457700" y="37719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/>
            <p:cNvCxnSpPr/>
            <p:nvPr/>
          </p:nvCxnSpPr>
          <p:spPr>
            <a:xfrm>
              <a:off x="3200400" y="20574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>
            <a:xfrm rot="16200000">
              <a:off x="4648200" y="35052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3200400" y="40386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>
              <a:off x="3124200" y="2438400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rot="5400000">
              <a:off x="2552700" y="36957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Isosceles Triangle 17"/>
            <p:cNvSpPr/>
            <p:nvPr/>
          </p:nvSpPr>
          <p:spPr>
            <a:xfrm rot="5400000">
              <a:off x="4572000" y="22860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2971800" y="1595735"/>
              <a:ext cx="34336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i="1" dirty="0"/>
                <a:t>P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590800" y="2057400"/>
              <a:ext cx="4572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P</a:t>
              </a:r>
              <a:r>
                <a:rPr lang="en-US" sz="3200" i="1" baseline="-25000" dirty="0"/>
                <a:t>i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590800" y="3657599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P</a:t>
              </a:r>
              <a:r>
                <a:rPr lang="en-US" sz="3200" i="1" baseline="-25000" dirty="0"/>
                <a:t>f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581400" y="4876800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V</a:t>
              </a:r>
              <a:r>
                <a:rPr lang="en-US" sz="3200" i="1" baseline="-25000" dirty="0"/>
                <a:t>i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486400" y="4901625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 err="1"/>
                <a:t>V</a:t>
              </a:r>
              <a:r>
                <a:rPr lang="en-US" sz="3200" i="1" baseline="-25000" dirty="0" err="1"/>
                <a:t>f</a:t>
              </a:r>
              <a:endParaRPr lang="en-US" sz="3200" i="1" baseline="-25000" dirty="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172200" y="4724400"/>
              <a:ext cx="5334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endParaRPr lang="en-US" sz="2400" i="1" baseline="-25000" dirty="0"/>
            </a:p>
          </p:txBody>
        </p:sp>
        <p:sp>
          <p:nvSpPr>
            <p:cNvPr id="27" name="Freeform 26"/>
            <p:cNvSpPr/>
            <p:nvPr/>
          </p:nvSpPr>
          <p:spPr>
            <a:xfrm>
              <a:off x="3810000" y="2428875"/>
              <a:ext cx="1914525" cy="1571625"/>
            </a:xfrm>
            <a:custGeom>
              <a:avLst/>
              <a:gdLst>
                <a:gd name="connsiteX0" fmla="*/ 0 w 1914525"/>
                <a:gd name="connsiteY0" fmla="*/ 0 h 1571625"/>
                <a:gd name="connsiteX1" fmla="*/ 1895475 w 1914525"/>
                <a:gd name="connsiteY1" fmla="*/ 9525 h 1571625"/>
                <a:gd name="connsiteX2" fmla="*/ 1914525 w 1914525"/>
                <a:gd name="connsiteY2" fmla="*/ 1571625 h 1571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4525" h="1571625">
                  <a:moveTo>
                    <a:pt x="0" y="0"/>
                  </a:moveTo>
                  <a:lnTo>
                    <a:pt x="1895475" y="9525"/>
                  </a:lnTo>
                  <a:lnTo>
                    <a:pt x="1914525" y="1571625"/>
                  </a:ln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 rot="10800000">
              <a:off x="5562600" y="31242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3733800" y="23622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5638800" y="39624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/>
          <p:cNvGrpSpPr/>
          <p:nvPr/>
        </p:nvGrpSpPr>
        <p:grpSpPr>
          <a:xfrm>
            <a:off x="2590800" y="1595735"/>
            <a:ext cx="4114800" cy="3890665"/>
            <a:chOff x="2590800" y="1595735"/>
            <a:chExt cx="4114800" cy="3890665"/>
          </a:xfrm>
        </p:grpSpPr>
        <p:sp>
          <p:nvSpPr>
            <p:cNvPr id="29" name="Rectangle 28"/>
            <p:cNvSpPr/>
            <p:nvPr/>
          </p:nvSpPr>
          <p:spPr>
            <a:xfrm>
              <a:off x="3810000" y="4038600"/>
              <a:ext cx="1905000" cy="914400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Connector 18"/>
            <p:cNvCxnSpPr>
              <a:stCxn id="16" idx="4"/>
            </p:cNvCxnSpPr>
            <p:nvPr/>
          </p:nvCxnSpPr>
          <p:spPr>
            <a:xfrm>
              <a:off x="5715000" y="4114800"/>
              <a:ext cx="0" cy="83820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/>
            <p:cNvCxnSpPr/>
            <p:nvPr/>
          </p:nvCxnSpPr>
          <p:spPr>
            <a:xfrm>
              <a:off x="3200400" y="20574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>
            <a:xfrm rot="16200000">
              <a:off x="4648200" y="35052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3200400" y="40386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>
              <a:off x="3124200" y="2438400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rot="5400000">
              <a:off x="2552700" y="36957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2971800" y="1595735"/>
              <a:ext cx="34336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i="1" dirty="0"/>
                <a:t>P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590800" y="2057400"/>
              <a:ext cx="4572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P</a:t>
              </a:r>
              <a:r>
                <a:rPr lang="en-US" sz="3200" i="1" baseline="-25000" dirty="0"/>
                <a:t>i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590800" y="3657599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P</a:t>
              </a:r>
              <a:r>
                <a:rPr lang="en-US" sz="3200" i="1" baseline="-25000" dirty="0"/>
                <a:t>f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581400" y="4876800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V</a:t>
              </a:r>
              <a:r>
                <a:rPr lang="en-US" sz="3200" i="1" baseline="-25000" dirty="0"/>
                <a:t>i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486400" y="4901625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 err="1"/>
                <a:t>V</a:t>
              </a:r>
              <a:r>
                <a:rPr lang="en-US" sz="3200" i="1" baseline="-25000" dirty="0" err="1"/>
                <a:t>f</a:t>
              </a:r>
              <a:endParaRPr lang="en-US" sz="3200" i="1" baseline="-25000" dirty="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172200" y="4724400"/>
              <a:ext cx="5334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endParaRPr lang="en-US" sz="2400" i="1" baseline="-25000" dirty="0"/>
            </a:p>
          </p:txBody>
        </p:sp>
        <p:sp>
          <p:nvSpPr>
            <p:cNvPr id="18" name="Isosceles Triangle 17"/>
            <p:cNvSpPr/>
            <p:nvPr/>
          </p:nvSpPr>
          <p:spPr>
            <a:xfrm rot="16200000" flipV="1">
              <a:off x="4648200" y="38481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 26"/>
            <p:cNvSpPr/>
            <p:nvPr/>
          </p:nvSpPr>
          <p:spPr>
            <a:xfrm flipH="1" flipV="1">
              <a:off x="3800475" y="2438400"/>
              <a:ext cx="1914525" cy="1571625"/>
            </a:xfrm>
            <a:custGeom>
              <a:avLst/>
              <a:gdLst>
                <a:gd name="connsiteX0" fmla="*/ 0 w 1914525"/>
                <a:gd name="connsiteY0" fmla="*/ 0 h 1571625"/>
                <a:gd name="connsiteX1" fmla="*/ 1895475 w 1914525"/>
                <a:gd name="connsiteY1" fmla="*/ 9525 h 1571625"/>
                <a:gd name="connsiteX2" fmla="*/ 1914525 w 1914525"/>
                <a:gd name="connsiteY2" fmla="*/ 1571625 h 1571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4525" h="1571625">
                  <a:moveTo>
                    <a:pt x="0" y="0"/>
                  </a:moveTo>
                  <a:lnTo>
                    <a:pt x="1895475" y="9525"/>
                  </a:lnTo>
                  <a:lnTo>
                    <a:pt x="1914525" y="1571625"/>
                  </a:ln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 rot="10800000" flipH="1">
              <a:off x="3657600" y="30099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3733800" y="23622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5638800" y="39624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/>
          <p:cNvGrpSpPr/>
          <p:nvPr/>
        </p:nvGrpSpPr>
        <p:grpSpPr>
          <a:xfrm>
            <a:off x="2909105" y="1981201"/>
            <a:ext cx="3333509" cy="2618348"/>
            <a:chOff x="2590800" y="1595735"/>
            <a:chExt cx="4114800" cy="4013557"/>
          </a:xfrm>
        </p:grpSpPr>
        <p:sp>
          <p:nvSpPr>
            <p:cNvPr id="29" name="Rectangle 28"/>
            <p:cNvSpPr/>
            <p:nvPr/>
          </p:nvSpPr>
          <p:spPr>
            <a:xfrm>
              <a:off x="3810000" y="2438400"/>
              <a:ext cx="1905000" cy="2514600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19" name="Straight Connector 18"/>
            <p:cNvCxnSpPr/>
            <p:nvPr/>
          </p:nvCxnSpPr>
          <p:spPr>
            <a:xfrm rot="5400000">
              <a:off x="4457700" y="37719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/>
            <p:cNvCxnSpPr/>
            <p:nvPr/>
          </p:nvCxnSpPr>
          <p:spPr>
            <a:xfrm>
              <a:off x="3200400" y="20574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>
            <a:xfrm rot="16200000">
              <a:off x="4648200" y="35052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3200400" y="40386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>
              <a:off x="3124200" y="2438400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rot="5400000">
              <a:off x="2552700" y="36957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Isosceles Triangle 17"/>
            <p:cNvSpPr/>
            <p:nvPr/>
          </p:nvSpPr>
          <p:spPr>
            <a:xfrm rot="5400000">
              <a:off x="4572000" y="22860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2971800" y="1595735"/>
              <a:ext cx="374371" cy="5661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P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590800" y="2057400"/>
              <a:ext cx="457200" cy="10850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590800" y="3657598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f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581399" y="4876800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486400" y="4901625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 err="1"/>
                <a:t>V</a:t>
              </a:r>
              <a:r>
                <a:rPr lang="en-US" sz="2400" i="1" baseline="-25000" dirty="0" err="1"/>
                <a:t>f</a:t>
              </a:r>
              <a:endParaRPr lang="en-US" sz="2400" i="1" baseline="-25000" dirty="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172199" y="4724400"/>
              <a:ext cx="533401" cy="5661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V</a:t>
              </a:r>
              <a:endParaRPr lang="en-US" i="1" baseline="-25000" dirty="0"/>
            </a:p>
          </p:txBody>
        </p:sp>
        <p:sp>
          <p:nvSpPr>
            <p:cNvPr id="27" name="Freeform 26"/>
            <p:cNvSpPr/>
            <p:nvPr/>
          </p:nvSpPr>
          <p:spPr>
            <a:xfrm>
              <a:off x="3810000" y="2428875"/>
              <a:ext cx="1914525" cy="1571625"/>
            </a:xfrm>
            <a:custGeom>
              <a:avLst/>
              <a:gdLst>
                <a:gd name="connsiteX0" fmla="*/ 0 w 1914525"/>
                <a:gd name="connsiteY0" fmla="*/ 0 h 1571625"/>
                <a:gd name="connsiteX1" fmla="*/ 1895475 w 1914525"/>
                <a:gd name="connsiteY1" fmla="*/ 9525 h 1571625"/>
                <a:gd name="connsiteX2" fmla="*/ 1914525 w 1914525"/>
                <a:gd name="connsiteY2" fmla="*/ 1571625 h 1571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4525" h="1571625">
                  <a:moveTo>
                    <a:pt x="0" y="0"/>
                  </a:moveTo>
                  <a:lnTo>
                    <a:pt x="1895475" y="9525"/>
                  </a:lnTo>
                  <a:lnTo>
                    <a:pt x="1914525" y="1571625"/>
                  </a:ln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8" name="Isosceles Triangle 27"/>
            <p:cNvSpPr/>
            <p:nvPr/>
          </p:nvSpPr>
          <p:spPr>
            <a:xfrm rot="10800000">
              <a:off x="5562600" y="31242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5" name="Oval 14"/>
            <p:cNvSpPr/>
            <p:nvPr/>
          </p:nvSpPr>
          <p:spPr>
            <a:xfrm>
              <a:off x="3733800" y="23622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6" name="Oval 15"/>
            <p:cNvSpPr/>
            <p:nvPr/>
          </p:nvSpPr>
          <p:spPr>
            <a:xfrm>
              <a:off x="5638800" y="39624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47" name="Group 46"/>
          <p:cNvGrpSpPr/>
          <p:nvPr/>
        </p:nvGrpSpPr>
        <p:grpSpPr>
          <a:xfrm>
            <a:off x="1" y="1984114"/>
            <a:ext cx="3333509" cy="2618348"/>
            <a:chOff x="-1000125" y="1600200"/>
            <a:chExt cx="4114800" cy="4013557"/>
          </a:xfrm>
        </p:grpSpPr>
        <p:sp>
          <p:nvSpPr>
            <p:cNvPr id="30" name="Freeform 29"/>
            <p:cNvSpPr/>
            <p:nvPr/>
          </p:nvSpPr>
          <p:spPr>
            <a:xfrm>
              <a:off x="228600" y="2509540"/>
              <a:ext cx="1914525" cy="2447925"/>
            </a:xfrm>
            <a:custGeom>
              <a:avLst/>
              <a:gdLst>
                <a:gd name="connsiteX0" fmla="*/ 0 w 1914525"/>
                <a:gd name="connsiteY0" fmla="*/ 0 h 2447925"/>
                <a:gd name="connsiteX1" fmla="*/ 228600 w 1914525"/>
                <a:gd name="connsiteY1" fmla="*/ 276225 h 2447925"/>
                <a:gd name="connsiteX2" fmla="*/ 657225 w 1914525"/>
                <a:gd name="connsiteY2" fmla="*/ 704850 h 2447925"/>
                <a:gd name="connsiteX3" fmla="*/ 1095375 w 1914525"/>
                <a:gd name="connsiteY3" fmla="*/ 1038225 h 2447925"/>
                <a:gd name="connsiteX4" fmla="*/ 1666875 w 1914525"/>
                <a:gd name="connsiteY4" fmla="*/ 1381125 h 2447925"/>
                <a:gd name="connsiteX5" fmla="*/ 1914525 w 1914525"/>
                <a:gd name="connsiteY5" fmla="*/ 1524000 h 2447925"/>
                <a:gd name="connsiteX6" fmla="*/ 1895475 w 1914525"/>
                <a:gd name="connsiteY6" fmla="*/ 2447925 h 2447925"/>
                <a:gd name="connsiteX7" fmla="*/ 0 w 1914525"/>
                <a:gd name="connsiteY7" fmla="*/ 2447925 h 2447925"/>
                <a:gd name="connsiteX8" fmla="*/ 0 w 1914525"/>
                <a:gd name="connsiteY8" fmla="*/ 0 h 2447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14525" h="2447925">
                  <a:moveTo>
                    <a:pt x="0" y="0"/>
                  </a:moveTo>
                  <a:lnTo>
                    <a:pt x="228600" y="276225"/>
                  </a:lnTo>
                  <a:lnTo>
                    <a:pt x="657225" y="704850"/>
                  </a:lnTo>
                  <a:lnTo>
                    <a:pt x="1095375" y="1038225"/>
                  </a:lnTo>
                  <a:lnTo>
                    <a:pt x="1666875" y="1381125"/>
                  </a:lnTo>
                  <a:lnTo>
                    <a:pt x="1914525" y="1524000"/>
                  </a:lnTo>
                  <a:lnTo>
                    <a:pt x="1895475" y="2447925"/>
                  </a:lnTo>
                  <a:lnTo>
                    <a:pt x="0" y="2447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31" name="Straight Connector 30"/>
            <p:cNvCxnSpPr/>
            <p:nvPr/>
          </p:nvCxnSpPr>
          <p:spPr>
            <a:xfrm>
              <a:off x="-390525" y="2061865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 rot="16200000">
              <a:off x="1057275" y="3509665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-390525" y="4043065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-466725" y="2442865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 rot="5400000">
              <a:off x="-1038225" y="3700165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/>
          </p:nvCxnSpPr>
          <p:spPr>
            <a:xfrm>
              <a:off x="2124075" y="4119265"/>
              <a:ext cx="0" cy="83820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/>
            <p:cNvSpPr/>
            <p:nvPr/>
          </p:nvSpPr>
          <p:spPr>
            <a:xfrm>
              <a:off x="142875" y="2366665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8" name="Oval 37"/>
            <p:cNvSpPr/>
            <p:nvPr/>
          </p:nvSpPr>
          <p:spPr>
            <a:xfrm>
              <a:off x="2047875" y="3966865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9" name="Freeform 38"/>
            <p:cNvSpPr/>
            <p:nvPr/>
          </p:nvSpPr>
          <p:spPr>
            <a:xfrm>
              <a:off x="238125" y="2509540"/>
              <a:ext cx="1885950" cy="1504950"/>
            </a:xfrm>
            <a:custGeom>
              <a:avLst/>
              <a:gdLst>
                <a:gd name="connsiteX0" fmla="*/ 0 w 1885950"/>
                <a:gd name="connsiteY0" fmla="*/ 0 h 1504950"/>
                <a:gd name="connsiteX1" fmla="*/ 771525 w 1885950"/>
                <a:gd name="connsiteY1" fmla="*/ 800100 h 1504950"/>
                <a:gd name="connsiteX2" fmla="*/ 1885950 w 1885950"/>
                <a:gd name="connsiteY2" fmla="*/ 1504950 h 1504950"/>
                <a:gd name="connsiteX3" fmla="*/ 1885950 w 1885950"/>
                <a:gd name="connsiteY3" fmla="*/ 1504950 h 1504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5950" h="1504950">
                  <a:moveTo>
                    <a:pt x="0" y="0"/>
                  </a:moveTo>
                  <a:cubicBezTo>
                    <a:pt x="228600" y="274637"/>
                    <a:pt x="457200" y="549275"/>
                    <a:pt x="771525" y="800100"/>
                  </a:cubicBezTo>
                  <a:cubicBezTo>
                    <a:pt x="1085850" y="1050925"/>
                    <a:pt x="1885950" y="1504950"/>
                    <a:pt x="1885950" y="1504950"/>
                  </a:cubicBezTo>
                  <a:lnTo>
                    <a:pt x="1885950" y="1504950"/>
                  </a:lnTo>
                </a:path>
              </a:pathLst>
            </a:custGeom>
            <a:noFill/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40" name="Isosceles Triangle 39"/>
            <p:cNvSpPr/>
            <p:nvPr/>
          </p:nvSpPr>
          <p:spPr>
            <a:xfrm rot="7951073">
              <a:off x="815399" y="3115389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-619125" y="1600200"/>
              <a:ext cx="374371" cy="5661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P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-1000125" y="2061865"/>
              <a:ext cx="457200" cy="10850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-1000125" y="3662063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f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-9526" y="4881265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1895475" y="4906090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 err="1"/>
                <a:t>V</a:t>
              </a:r>
              <a:r>
                <a:rPr lang="en-US" sz="2400" i="1" baseline="-25000" dirty="0" err="1"/>
                <a:t>f</a:t>
              </a:r>
              <a:endParaRPr lang="en-US" sz="2400" i="1" baseline="-25000" dirty="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2581274" y="4886325"/>
              <a:ext cx="533401" cy="5661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V</a:t>
              </a:r>
              <a:endParaRPr lang="en-US" i="1" baseline="-25000" dirty="0"/>
            </a:p>
          </p:txBody>
        </p:sp>
      </p:grpSp>
      <p:grpSp>
        <p:nvGrpSpPr>
          <p:cNvPr id="49" name="Group 48"/>
          <p:cNvGrpSpPr/>
          <p:nvPr/>
        </p:nvGrpSpPr>
        <p:grpSpPr>
          <a:xfrm>
            <a:off x="5810492" y="2033825"/>
            <a:ext cx="3333509" cy="2618348"/>
            <a:chOff x="2590800" y="1595735"/>
            <a:chExt cx="4114800" cy="4013557"/>
          </a:xfrm>
        </p:grpSpPr>
        <p:sp>
          <p:nvSpPr>
            <p:cNvPr id="50" name="Rectangle 49"/>
            <p:cNvSpPr/>
            <p:nvPr/>
          </p:nvSpPr>
          <p:spPr>
            <a:xfrm>
              <a:off x="3810000" y="4038600"/>
              <a:ext cx="1905000" cy="914400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51" name="Straight Connector 50"/>
            <p:cNvCxnSpPr>
              <a:stCxn id="67" idx="4"/>
            </p:cNvCxnSpPr>
            <p:nvPr/>
          </p:nvCxnSpPr>
          <p:spPr>
            <a:xfrm>
              <a:off x="5715001" y="4114799"/>
              <a:ext cx="0" cy="803146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/>
          </p:nvCxnSpPr>
          <p:spPr>
            <a:xfrm>
              <a:off x="3200400" y="20574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rot="16200000">
              <a:off x="4648200" y="35052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/>
          </p:nvCxnSpPr>
          <p:spPr>
            <a:xfrm>
              <a:off x="3200400" y="40386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/>
          </p:nvCxnSpPr>
          <p:spPr>
            <a:xfrm>
              <a:off x="3124200" y="2438400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/>
          </p:nvCxnSpPr>
          <p:spPr>
            <a:xfrm rot="5400000">
              <a:off x="2552700" y="36957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/>
            <p:cNvSpPr txBox="1"/>
            <p:nvPr/>
          </p:nvSpPr>
          <p:spPr>
            <a:xfrm>
              <a:off x="2971800" y="1595735"/>
              <a:ext cx="374371" cy="5661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P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2590800" y="2057400"/>
              <a:ext cx="457200" cy="10850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2590800" y="3657598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f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3581399" y="4876800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5486400" y="4901625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 err="1"/>
                <a:t>V</a:t>
              </a:r>
              <a:r>
                <a:rPr lang="en-US" sz="2400" i="1" baseline="-25000" dirty="0" err="1"/>
                <a:t>f</a:t>
              </a:r>
              <a:endParaRPr lang="en-US" sz="2400" i="1" baseline="-25000" dirty="0"/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6172199" y="4724400"/>
              <a:ext cx="533401" cy="5661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V</a:t>
              </a:r>
              <a:endParaRPr lang="en-US" i="1" baseline="-25000" dirty="0"/>
            </a:p>
          </p:txBody>
        </p:sp>
        <p:sp>
          <p:nvSpPr>
            <p:cNvPr id="63" name="Isosceles Triangle 62"/>
            <p:cNvSpPr/>
            <p:nvPr/>
          </p:nvSpPr>
          <p:spPr>
            <a:xfrm rot="16200000" flipV="1">
              <a:off x="4648200" y="38481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4" name="Freeform 63"/>
            <p:cNvSpPr/>
            <p:nvPr/>
          </p:nvSpPr>
          <p:spPr>
            <a:xfrm flipH="1" flipV="1">
              <a:off x="3800475" y="2438400"/>
              <a:ext cx="1914525" cy="1571625"/>
            </a:xfrm>
            <a:custGeom>
              <a:avLst/>
              <a:gdLst>
                <a:gd name="connsiteX0" fmla="*/ 0 w 1914525"/>
                <a:gd name="connsiteY0" fmla="*/ 0 h 1571625"/>
                <a:gd name="connsiteX1" fmla="*/ 1895475 w 1914525"/>
                <a:gd name="connsiteY1" fmla="*/ 9525 h 1571625"/>
                <a:gd name="connsiteX2" fmla="*/ 1914525 w 1914525"/>
                <a:gd name="connsiteY2" fmla="*/ 1571625 h 1571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4525" h="1571625">
                  <a:moveTo>
                    <a:pt x="0" y="0"/>
                  </a:moveTo>
                  <a:lnTo>
                    <a:pt x="1895475" y="9525"/>
                  </a:lnTo>
                  <a:lnTo>
                    <a:pt x="1914525" y="1571625"/>
                  </a:ln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5" name="Isosceles Triangle 64"/>
            <p:cNvSpPr/>
            <p:nvPr/>
          </p:nvSpPr>
          <p:spPr>
            <a:xfrm rot="10800000" flipH="1">
              <a:off x="3657600" y="30099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6" name="Oval 65"/>
            <p:cNvSpPr/>
            <p:nvPr/>
          </p:nvSpPr>
          <p:spPr>
            <a:xfrm>
              <a:off x="3733800" y="23622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7" name="Oval 66"/>
            <p:cNvSpPr/>
            <p:nvPr/>
          </p:nvSpPr>
          <p:spPr>
            <a:xfrm>
              <a:off x="5638800" y="39624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FC33683-56DA-1146-E150-682DE3B962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73" y="1026881"/>
            <a:ext cx="7222587" cy="480423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5B55FFC-C535-A31B-B09C-EEE1D7FD1145}"/>
              </a:ext>
            </a:extLst>
          </p:cNvPr>
          <p:cNvSpPr txBox="1"/>
          <p:nvPr/>
        </p:nvSpPr>
        <p:spPr>
          <a:xfrm>
            <a:off x="5961888" y="1827014"/>
            <a:ext cx="19751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 = 290K </a:t>
            </a:r>
          </a:p>
        </p:txBody>
      </p:sp>
    </p:spTree>
    <p:extLst>
      <p:ext uri="{BB962C8B-B14F-4D97-AF65-F5344CB8AC3E}">
        <p14:creationId xmlns:p14="http://schemas.microsoft.com/office/powerpoint/2010/main" val="36487115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D5EC046-5128-3B46-4CD8-53E65081D3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401" y="777240"/>
            <a:ext cx="7973383" cy="530364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2ACB6DD-D4F2-04B0-FBEF-C7CE0862F3FA}"/>
              </a:ext>
            </a:extLst>
          </p:cNvPr>
          <p:cNvSpPr txBox="1"/>
          <p:nvPr/>
        </p:nvSpPr>
        <p:spPr>
          <a:xfrm>
            <a:off x="5961888" y="1827014"/>
            <a:ext cx="19751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 = 590K  </a:t>
            </a:r>
          </a:p>
        </p:txBody>
      </p:sp>
    </p:spTree>
    <p:extLst>
      <p:ext uri="{BB962C8B-B14F-4D97-AF65-F5344CB8AC3E}">
        <p14:creationId xmlns:p14="http://schemas.microsoft.com/office/powerpoint/2010/main" val="38211763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C6C005-0108-6651-674B-8FE44AA37F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06" y="777239"/>
            <a:ext cx="7699187" cy="51212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F0BDA73-AA29-CC64-82E6-C80447025692}"/>
              </a:ext>
            </a:extLst>
          </p:cNvPr>
          <p:cNvSpPr txBox="1"/>
          <p:nvPr/>
        </p:nvSpPr>
        <p:spPr>
          <a:xfrm>
            <a:off x="4343400" y="959504"/>
            <a:ext cx="19751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 = 590K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9D3017-04B5-5334-2B28-3AE4DE2CD7FE}"/>
              </a:ext>
            </a:extLst>
          </p:cNvPr>
          <p:cNvSpPr txBox="1"/>
          <p:nvPr/>
        </p:nvSpPr>
        <p:spPr>
          <a:xfrm>
            <a:off x="4681728" y="3948422"/>
            <a:ext cx="19751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 = 290K </a:t>
            </a:r>
          </a:p>
        </p:txBody>
      </p:sp>
    </p:spTree>
    <p:extLst>
      <p:ext uri="{BB962C8B-B14F-4D97-AF65-F5344CB8AC3E}">
        <p14:creationId xmlns:p14="http://schemas.microsoft.com/office/powerpoint/2010/main" val="17995819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D310E-A2CD-6423-9315-E217F345C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30A559-72FD-A8BB-2FA3-2DFBB99B13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06" y="777239"/>
            <a:ext cx="7699187" cy="5121257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339B45F-C3AD-6167-8AA4-04E311556AC0}"/>
              </a:ext>
            </a:extLst>
          </p:cNvPr>
          <p:cNvCxnSpPr>
            <a:cxnSpLocks/>
          </p:cNvCxnSpPr>
          <p:nvPr/>
        </p:nvCxnSpPr>
        <p:spPr>
          <a:xfrm>
            <a:off x="4485131" y="3328415"/>
            <a:ext cx="2034541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369078A2-54EF-EEBD-A92D-154265297A16}"/>
              </a:ext>
            </a:extLst>
          </p:cNvPr>
          <p:cNvSpPr/>
          <p:nvPr/>
        </p:nvSpPr>
        <p:spPr>
          <a:xfrm>
            <a:off x="6432804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328EF3A-FE6A-8E4A-FCC8-7914B7F8AC4E}"/>
              </a:ext>
            </a:extLst>
          </p:cNvPr>
          <p:cNvSpPr/>
          <p:nvPr/>
        </p:nvSpPr>
        <p:spPr>
          <a:xfrm>
            <a:off x="4398263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E5B7E2-7FBD-C035-1803-A9D4D01E2E94}"/>
                  </a:ext>
                </a:extLst>
              </p:cNvPr>
              <p:cNvSpPr txBox="1"/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𝑖𝑛𝑡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E5B7E2-7FBD-C035-1803-A9D4D01E2E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blipFill>
                <a:blip r:embed="rId3"/>
                <a:stretch>
                  <a:fillRect l="-8421" r="-3158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B4F84E4-D159-5991-3AEB-6E0D20787F12}"/>
                  </a:ext>
                </a:extLst>
              </p:cNvPr>
              <p:cNvSpPr txBox="1"/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B4F84E4-D159-5991-3AEB-6E0D20787F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blipFill>
                <a:blip r:embed="rId4"/>
                <a:stretch>
                  <a:fillRect l="-10843" r="-3614" b="-183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5DFF3C5-691F-03D3-6CEB-238652E848C5}"/>
                  </a:ext>
                </a:extLst>
              </p:cNvPr>
              <p:cNvSpPr txBox="1"/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5DFF3C5-691F-03D3-6CEB-238652E848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blipFill>
                <a:blip r:embed="rId5"/>
                <a:stretch>
                  <a:fillRect l="-9412" r="-2353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21567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87583-9D5A-7266-0ABD-117F8BE1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5F706E2-95D6-7659-3A01-66375806C0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06" y="777239"/>
            <a:ext cx="7699187" cy="5121257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CA69F67-625F-4A08-F32F-2FB7F2476805}"/>
              </a:ext>
            </a:extLst>
          </p:cNvPr>
          <p:cNvCxnSpPr>
            <a:cxnSpLocks/>
          </p:cNvCxnSpPr>
          <p:nvPr/>
        </p:nvCxnSpPr>
        <p:spPr>
          <a:xfrm flipV="1">
            <a:off x="4485131" y="3328415"/>
            <a:ext cx="2034541" cy="1033273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4AAEF0A7-C052-8F13-EDBC-C65F90A4E171}"/>
              </a:ext>
            </a:extLst>
          </p:cNvPr>
          <p:cNvSpPr/>
          <p:nvPr/>
        </p:nvSpPr>
        <p:spPr>
          <a:xfrm>
            <a:off x="6432804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B7EE6A2-5993-08A0-97A0-B8561059E6FA}"/>
              </a:ext>
            </a:extLst>
          </p:cNvPr>
          <p:cNvSpPr/>
          <p:nvPr/>
        </p:nvSpPr>
        <p:spPr>
          <a:xfrm>
            <a:off x="4398263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922D663-2B77-5D3C-CCFD-6355FDC73013}"/>
                  </a:ext>
                </a:extLst>
              </p:cNvPr>
              <p:cNvSpPr txBox="1"/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𝑖𝑛𝑡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922D663-2B77-5D3C-CCFD-6355FDC73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blipFill>
                <a:blip r:embed="rId3"/>
                <a:stretch>
                  <a:fillRect l="-8421" r="-3158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4CD5047-F62A-9813-BFF0-482DE0ACFDF3}"/>
              </a:ext>
            </a:extLst>
          </p:cNvPr>
          <p:cNvCxnSpPr>
            <a:cxnSpLocks/>
          </p:cNvCxnSpPr>
          <p:nvPr/>
        </p:nvCxnSpPr>
        <p:spPr>
          <a:xfrm>
            <a:off x="4485131" y="3357370"/>
            <a:ext cx="0" cy="1004318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C2E42E4-C66D-2728-A1D3-33BB93593A6F}"/>
                  </a:ext>
                </a:extLst>
              </p:cNvPr>
              <p:cNvSpPr txBox="1"/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C2E42E4-C66D-2728-A1D3-33BB93593A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blipFill>
                <a:blip r:embed="rId4"/>
                <a:stretch>
                  <a:fillRect l="-10843" r="-3614" b="-183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399D201-65B1-A8FF-828E-D3D52BFCB45A}"/>
                  </a:ext>
                </a:extLst>
              </p:cNvPr>
              <p:cNvSpPr txBox="1"/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399D201-65B1-A8FF-828E-D3D52BFCB4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blipFill>
                <a:blip r:embed="rId5"/>
                <a:stretch>
                  <a:fillRect l="-9412" r="-2353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58672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202C4-01BC-1D1C-961C-89820FD44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5F9C53-AB48-5FE9-646A-74C6C0065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06" y="777239"/>
            <a:ext cx="7699187" cy="5121257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970EBE5-A656-4A03-DE63-7D4CF68FBBED}"/>
              </a:ext>
            </a:extLst>
          </p:cNvPr>
          <p:cNvCxnSpPr>
            <a:cxnSpLocks/>
          </p:cNvCxnSpPr>
          <p:nvPr/>
        </p:nvCxnSpPr>
        <p:spPr>
          <a:xfrm>
            <a:off x="4485131" y="4361688"/>
            <a:ext cx="2052813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6C70DCE-8D40-C542-848B-E5A96CB883B5}"/>
                  </a:ext>
                </a:extLst>
              </p:cNvPr>
              <p:cNvSpPr txBox="1"/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𝑖𝑛𝑡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6C70DCE-8D40-C542-848B-E5A96CB88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blipFill>
                <a:blip r:embed="rId3"/>
                <a:stretch>
                  <a:fillRect l="-8421" r="-3158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845CB0A-0833-9016-EDB4-A897ED8E77B5}"/>
              </a:ext>
            </a:extLst>
          </p:cNvPr>
          <p:cNvCxnSpPr>
            <a:cxnSpLocks/>
          </p:cNvCxnSpPr>
          <p:nvPr/>
        </p:nvCxnSpPr>
        <p:spPr>
          <a:xfrm>
            <a:off x="4485131" y="3357370"/>
            <a:ext cx="0" cy="1004318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158B55-491D-CFEC-A5CB-0EC57919FC1B}"/>
              </a:ext>
            </a:extLst>
          </p:cNvPr>
          <p:cNvCxnSpPr>
            <a:cxnSpLocks/>
          </p:cNvCxnSpPr>
          <p:nvPr/>
        </p:nvCxnSpPr>
        <p:spPr>
          <a:xfrm>
            <a:off x="6512501" y="3399539"/>
            <a:ext cx="25443" cy="962149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F67F3228-64A3-21E9-235F-B92330B51E8E}"/>
              </a:ext>
            </a:extLst>
          </p:cNvPr>
          <p:cNvSpPr/>
          <p:nvPr/>
        </p:nvSpPr>
        <p:spPr>
          <a:xfrm>
            <a:off x="4398263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01EDB72-B517-1616-C9F6-84A6658A40A4}"/>
              </a:ext>
            </a:extLst>
          </p:cNvPr>
          <p:cNvSpPr/>
          <p:nvPr/>
        </p:nvSpPr>
        <p:spPr>
          <a:xfrm>
            <a:off x="6409928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4CA8ED5-AA8E-A421-61F7-61824217CFFD}"/>
                  </a:ext>
                </a:extLst>
              </p:cNvPr>
              <p:cNvSpPr txBox="1"/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4CA8ED5-AA8E-A421-61F7-61824217CF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blipFill>
                <a:blip r:embed="rId4"/>
                <a:stretch>
                  <a:fillRect l="-10843" r="-3614" b="-183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2AA761-C573-4B5C-C0DF-2A43F74F9F9B}"/>
                  </a:ext>
                </a:extLst>
              </p:cNvPr>
              <p:cNvSpPr txBox="1"/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2AA761-C573-4B5C-C0DF-2A43F74F9F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blipFill>
                <a:blip r:embed="rId5"/>
                <a:stretch>
                  <a:fillRect l="-9412" r="-2353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8722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67DCC-CAE9-4085-863B-1B633BA24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85E2951-00C5-A7FD-D025-B9FC095D14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06" y="777239"/>
            <a:ext cx="7699187" cy="512125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FBC4F9-73E9-A1D2-647F-86020E0DCCA8}"/>
                  </a:ext>
                </a:extLst>
              </p:cNvPr>
              <p:cNvSpPr txBox="1"/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𝑖𝑛𝑡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FBC4F9-73E9-A1D2-647F-86020E0DCC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blipFill>
                <a:blip r:embed="rId3"/>
                <a:stretch>
                  <a:fillRect l="-8421" r="-3158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7E1D9D81-70A5-94F4-919A-8CD3BA07E413}"/>
              </a:ext>
            </a:extLst>
          </p:cNvPr>
          <p:cNvSpPr/>
          <p:nvPr/>
        </p:nvSpPr>
        <p:spPr>
          <a:xfrm>
            <a:off x="4398263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ADC4129-9CB4-00E6-ECC0-3A95A7DCDC34}"/>
              </a:ext>
            </a:extLst>
          </p:cNvPr>
          <p:cNvSpPr/>
          <p:nvPr/>
        </p:nvSpPr>
        <p:spPr>
          <a:xfrm>
            <a:off x="6409928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98102D8-D882-D421-7B8C-323684631EBF}"/>
              </a:ext>
            </a:extLst>
          </p:cNvPr>
          <p:cNvSpPr/>
          <p:nvPr/>
        </p:nvSpPr>
        <p:spPr>
          <a:xfrm>
            <a:off x="3227838" y="1664947"/>
            <a:ext cx="3868399" cy="2641877"/>
          </a:xfrm>
          <a:custGeom>
            <a:avLst/>
            <a:gdLst>
              <a:gd name="connsiteX0" fmla="*/ 1234434 w 3868399"/>
              <a:gd name="connsiteY0" fmla="*/ 1636037 h 2641877"/>
              <a:gd name="connsiteX1" fmla="*/ 292602 w 3868399"/>
              <a:gd name="connsiteY1" fmla="*/ 1453157 h 2641877"/>
              <a:gd name="connsiteX2" fmla="*/ 91434 w 3868399"/>
              <a:gd name="connsiteY2" fmla="*/ 2239541 h 2641877"/>
              <a:gd name="connsiteX3" fmla="*/ 1636770 w 3868399"/>
              <a:gd name="connsiteY3" fmla="*/ 2367557 h 2641877"/>
              <a:gd name="connsiteX4" fmla="*/ 1728210 w 3868399"/>
              <a:gd name="connsiteY4" fmla="*/ 1160549 h 2641877"/>
              <a:gd name="connsiteX5" fmla="*/ 1956810 w 3868399"/>
              <a:gd name="connsiteY5" fmla="*/ 63269 h 2641877"/>
              <a:gd name="connsiteX6" fmla="*/ 3529578 w 3868399"/>
              <a:gd name="connsiteY6" fmla="*/ 237005 h 2641877"/>
              <a:gd name="connsiteX7" fmla="*/ 2889498 w 3868399"/>
              <a:gd name="connsiteY7" fmla="*/ 1105685 h 2641877"/>
              <a:gd name="connsiteX8" fmla="*/ 2788914 w 3868399"/>
              <a:gd name="connsiteY8" fmla="*/ 2084093 h 2641877"/>
              <a:gd name="connsiteX9" fmla="*/ 3767322 w 3868399"/>
              <a:gd name="connsiteY9" fmla="*/ 2641877 h 2641877"/>
              <a:gd name="connsiteX10" fmla="*/ 3785610 w 3868399"/>
              <a:gd name="connsiteY10" fmla="*/ 2084093 h 2641877"/>
              <a:gd name="connsiteX11" fmla="*/ 3310122 w 3868399"/>
              <a:gd name="connsiteY11" fmla="*/ 1700045 h 26418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68399" h="2641877">
                <a:moveTo>
                  <a:pt x="1234434" y="1636037"/>
                </a:moveTo>
                <a:cubicBezTo>
                  <a:pt x="858768" y="1494305"/>
                  <a:pt x="483102" y="1352573"/>
                  <a:pt x="292602" y="1453157"/>
                </a:cubicBezTo>
                <a:cubicBezTo>
                  <a:pt x="102102" y="1553741"/>
                  <a:pt x="-132594" y="2087141"/>
                  <a:pt x="91434" y="2239541"/>
                </a:cubicBezTo>
                <a:cubicBezTo>
                  <a:pt x="315462" y="2391941"/>
                  <a:pt x="1363974" y="2547389"/>
                  <a:pt x="1636770" y="2367557"/>
                </a:cubicBezTo>
                <a:cubicBezTo>
                  <a:pt x="1909566" y="2187725"/>
                  <a:pt x="1674870" y="1544597"/>
                  <a:pt x="1728210" y="1160549"/>
                </a:cubicBezTo>
                <a:cubicBezTo>
                  <a:pt x="1781550" y="776501"/>
                  <a:pt x="1656582" y="217193"/>
                  <a:pt x="1956810" y="63269"/>
                </a:cubicBezTo>
                <a:cubicBezTo>
                  <a:pt x="2257038" y="-90655"/>
                  <a:pt x="3374130" y="63269"/>
                  <a:pt x="3529578" y="237005"/>
                </a:cubicBezTo>
                <a:cubicBezTo>
                  <a:pt x="3685026" y="410741"/>
                  <a:pt x="3012942" y="797837"/>
                  <a:pt x="2889498" y="1105685"/>
                </a:cubicBezTo>
                <a:cubicBezTo>
                  <a:pt x="2766054" y="1413533"/>
                  <a:pt x="2642610" y="1828061"/>
                  <a:pt x="2788914" y="2084093"/>
                </a:cubicBezTo>
                <a:cubicBezTo>
                  <a:pt x="2935218" y="2340125"/>
                  <a:pt x="3601206" y="2641877"/>
                  <a:pt x="3767322" y="2641877"/>
                </a:cubicBezTo>
                <a:cubicBezTo>
                  <a:pt x="3933438" y="2641877"/>
                  <a:pt x="3861810" y="2241065"/>
                  <a:pt x="3785610" y="2084093"/>
                </a:cubicBezTo>
                <a:cubicBezTo>
                  <a:pt x="3709410" y="1927121"/>
                  <a:pt x="3509766" y="1813583"/>
                  <a:pt x="3310122" y="1700045"/>
                </a:cubicBezTo>
              </a:path>
            </a:pathLst>
          </a:cu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91FA458-6834-F315-5DA5-43BF918365E3}"/>
                  </a:ext>
                </a:extLst>
              </p:cNvPr>
              <p:cNvSpPr txBox="1"/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91FA458-6834-F315-5DA5-43BF918365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blipFill>
                <a:blip r:embed="rId4"/>
                <a:stretch>
                  <a:fillRect l="-10843" r="-3614" b="-183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7B9FA19-579F-83CF-0AF8-713C2E0EC404}"/>
                  </a:ext>
                </a:extLst>
              </p:cNvPr>
              <p:cNvSpPr txBox="1"/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7B9FA19-579F-83CF-0AF8-713C2E0EC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blipFill>
                <a:blip r:embed="rId5"/>
                <a:stretch>
                  <a:fillRect l="-9412" r="-2353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059259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C50F4-B15D-5330-490C-DF2118198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57DAC43-C344-4321-C2A8-92B2B03041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06" y="777239"/>
            <a:ext cx="7699187" cy="512125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683DC69-7C19-792D-E302-8D9D7A879797}"/>
                  </a:ext>
                </a:extLst>
              </p:cNvPr>
              <p:cNvSpPr txBox="1"/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𝑖𝑛𝑡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683DC69-7C19-792D-E302-8D9D7A8797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blipFill>
                <a:blip r:embed="rId3"/>
                <a:stretch>
                  <a:fillRect l="-8421" r="-3158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8A9AD2FD-9312-DDDB-D0DB-8FD595591AA1}"/>
              </a:ext>
            </a:extLst>
          </p:cNvPr>
          <p:cNvSpPr/>
          <p:nvPr/>
        </p:nvSpPr>
        <p:spPr>
          <a:xfrm>
            <a:off x="4398263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0E52919-2E64-4637-9936-86A1F932C042}"/>
              </a:ext>
            </a:extLst>
          </p:cNvPr>
          <p:cNvSpPr/>
          <p:nvPr/>
        </p:nvSpPr>
        <p:spPr>
          <a:xfrm>
            <a:off x="6409928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560B953-3CA9-3F4E-0330-50D005B97C7E}"/>
              </a:ext>
            </a:extLst>
          </p:cNvPr>
          <p:cNvSpPr/>
          <p:nvPr/>
        </p:nvSpPr>
        <p:spPr>
          <a:xfrm>
            <a:off x="3227838" y="1664947"/>
            <a:ext cx="3868399" cy="2641877"/>
          </a:xfrm>
          <a:custGeom>
            <a:avLst/>
            <a:gdLst>
              <a:gd name="connsiteX0" fmla="*/ 1234434 w 3868399"/>
              <a:gd name="connsiteY0" fmla="*/ 1636037 h 2641877"/>
              <a:gd name="connsiteX1" fmla="*/ 292602 w 3868399"/>
              <a:gd name="connsiteY1" fmla="*/ 1453157 h 2641877"/>
              <a:gd name="connsiteX2" fmla="*/ 91434 w 3868399"/>
              <a:gd name="connsiteY2" fmla="*/ 2239541 h 2641877"/>
              <a:gd name="connsiteX3" fmla="*/ 1636770 w 3868399"/>
              <a:gd name="connsiteY3" fmla="*/ 2367557 h 2641877"/>
              <a:gd name="connsiteX4" fmla="*/ 1728210 w 3868399"/>
              <a:gd name="connsiteY4" fmla="*/ 1160549 h 2641877"/>
              <a:gd name="connsiteX5" fmla="*/ 1956810 w 3868399"/>
              <a:gd name="connsiteY5" fmla="*/ 63269 h 2641877"/>
              <a:gd name="connsiteX6" fmla="*/ 3529578 w 3868399"/>
              <a:gd name="connsiteY6" fmla="*/ 237005 h 2641877"/>
              <a:gd name="connsiteX7" fmla="*/ 2889498 w 3868399"/>
              <a:gd name="connsiteY7" fmla="*/ 1105685 h 2641877"/>
              <a:gd name="connsiteX8" fmla="*/ 2788914 w 3868399"/>
              <a:gd name="connsiteY8" fmla="*/ 2084093 h 2641877"/>
              <a:gd name="connsiteX9" fmla="*/ 3767322 w 3868399"/>
              <a:gd name="connsiteY9" fmla="*/ 2641877 h 2641877"/>
              <a:gd name="connsiteX10" fmla="*/ 3785610 w 3868399"/>
              <a:gd name="connsiteY10" fmla="*/ 2084093 h 2641877"/>
              <a:gd name="connsiteX11" fmla="*/ 3310122 w 3868399"/>
              <a:gd name="connsiteY11" fmla="*/ 1700045 h 26418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68399" h="2641877">
                <a:moveTo>
                  <a:pt x="1234434" y="1636037"/>
                </a:moveTo>
                <a:cubicBezTo>
                  <a:pt x="858768" y="1494305"/>
                  <a:pt x="483102" y="1352573"/>
                  <a:pt x="292602" y="1453157"/>
                </a:cubicBezTo>
                <a:cubicBezTo>
                  <a:pt x="102102" y="1553741"/>
                  <a:pt x="-132594" y="2087141"/>
                  <a:pt x="91434" y="2239541"/>
                </a:cubicBezTo>
                <a:cubicBezTo>
                  <a:pt x="315462" y="2391941"/>
                  <a:pt x="1363974" y="2547389"/>
                  <a:pt x="1636770" y="2367557"/>
                </a:cubicBezTo>
                <a:cubicBezTo>
                  <a:pt x="1909566" y="2187725"/>
                  <a:pt x="1674870" y="1544597"/>
                  <a:pt x="1728210" y="1160549"/>
                </a:cubicBezTo>
                <a:cubicBezTo>
                  <a:pt x="1781550" y="776501"/>
                  <a:pt x="1656582" y="217193"/>
                  <a:pt x="1956810" y="63269"/>
                </a:cubicBezTo>
                <a:cubicBezTo>
                  <a:pt x="2257038" y="-90655"/>
                  <a:pt x="3374130" y="63269"/>
                  <a:pt x="3529578" y="237005"/>
                </a:cubicBezTo>
                <a:cubicBezTo>
                  <a:pt x="3685026" y="410741"/>
                  <a:pt x="3012942" y="797837"/>
                  <a:pt x="2889498" y="1105685"/>
                </a:cubicBezTo>
                <a:cubicBezTo>
                  <a:pt x="2766054" y="1413533"/>
                  <a:pt x="2642610" y="1828061"/>
                  <a:pt x="2788914" y="2084093"/>
                </a:cubicBezTo>
                <a:cubicBezTo>
                  <a:pt x="2935218" y="2340125"/>
                  <a:pt x="3601206" y="2641877"/>
                  <a:pt x="3767322" y="2641877"/>
                </a:cubicBezTo>
                <a:cubicBezTo>
                  <a:pt x="3933438" y="2641877"/>
                  <a:pt x="3861810" y="2241065"/>
                  <a:pt x="3785610" y="2084093"/>
                </a:cubicBezTo>
                <a:cubicBezTo>
                  <a:pt x="3709410" y="1927121"/>
                  <a:pt x="3509766" y="1813583"/>
                  <a:pt x="3310122" y="1700045"/>
                </a:cubicBezTo>
              </a:path>
            </a:pathLst>
          </a:custGeom>
          <a:ln w="381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FCB51B-1764-1E26-8DD1-119072FB45C4}"/>
              </a:ext>
            </a:extLst>
          </p:cNvPr>
          <p:cNvCxnSpPr>
            <a:cxnSpLocks/>
          </p:cNvCxnSpPr>
          <p:nvPr/>
        </p:nvCxnSpPr>
        <p:spPr>
          <a:xfrm>
            <a:off x="4485131" y="4361688"/>
            <a:ext cx="2052813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8AE7979-7878-A0E8-6967-B38A910FAA39}"/>
              </a:ext>
            </a:extLst>
          </p:cNvPr>
          <p:cNvCxnSpPr>
            <a:cxnSpLocks/>
          </p:cNvCxnSpPr>
          <p:nvPr/>
        </p:nvCxnSpPr>
        <p:spPr>
          <a:xfrm>
            <a:off x="4485131" y="3357370"/>
            <a:ext cx="0" cy="1004318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95537CA-5D33-FBC7-FCC3-0CD71941765D}"/>
              </a:ext>
            </a:extLst>
          </p:cNvPr>
          <p:cNvCxnSpPr>
            <a:cxnSpLocks/>
          </p:cNvCxnSpPr>
          <p:nvPr/>
        </p:nvCxnSpPr>
        <p:spPr>
          <a:xfrm>
            <a:off x="6512501" y="3399539"/>
            <a:ext cx="25443" cy="962149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95FF06F-C33E-E2DB-1B9B-C467E8F45D1C}"/>
              </a:ext>
            </a:extLst>
          </p:cNvPr>
          <p:cNvCxnSpPr>
            <a:cxnSpLocks/>
          </p:cNvCxnSpPr>
          <p:nvPr/>
        </p:nvCxnSpPr>
        <p:spPr>
          <a:xfrm flipV="1">
            <a:off x="4455405" y="3332987"/>
            <a:ext cx="2034541" cy="1033273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C7A0237-03D0-039D-868B-0217CD69F336}"/>
              </a:ext>
            </a:extLst>
          </p:cNvPr>
          <p:cNvCxnSpPr>
            <a:cxnSpLocks/>
          </p:cNvCxnSpPr>
          <p:nvPr/>
        </p:nvCxnSpPr>
        <p:spPr>
          <a:xfrm>
            <a:off x="4455405" y="3361942"/>
            <a:ext cx="0" cy="1004318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9FEE92C-AAE4-3ADD-995A-65A97838D82F}"/>
              </a:ext>
            </a:extLst>
          </p:cNvPr>
          <p:cNvCxnSpPr>
            <a:cxnSpLocks/>
          </p:cNvCxnSpPr>
          <p:nvPr/>
        </p:nvCxnSpPr>
        <p:spPr>
          <a:xfrm>
            <a:off x="4485131" y="3328415"/>
            <a:ext cx="2034541" cy="0"/>
          </a:xfrm>
          <a:prstGeom prst="line">
            <a:avLst/>
          </a:prstGeom>
          <a:ln w="38100"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FA19B93-36C9-2AE1-DC34-6214C91F9790}"/>
                  </a:ext>
                </a:extLst>
              </p:cNvPr>
              <p:cNvSpPr txBox="1"/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FA19B93-36C9-2AE1-DC34-6214C91F9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blipFill>
                <a:blip r:embed="rId4"/>
                <a:stretch>
                  <a:fillRect l="-10843" r="-3614" b="-183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6336D20-025E-6FF1-E86D-937DD6199AFC}"/>
                  </a:ext>
                </a:extLst>
              </p:cNvPr>
              <p:cNvSpPr txBox="1"/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6336D20-025E-6FF1-E86D-937DD6199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blipFill>
                <a:blip r:embed="rId5"/>
                <a:stretch>
                  <a:fillRect l="-9412" r="-2353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03756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8E37F-4960-76FC-2C89-351366BF9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5207D-9CB5-914B-4E14-2120D7BB3A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02D4F0-5A96-E6DD-9CBF-69F40026F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116089"/>
            <a:ext cx="7007516" cy="4625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0681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CE396-61FA-3340-088C-8EF7B161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C8910-5E96-5490-A928-6D8B6E4893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26DA58-8EE4-2338-11A4-B7DB88A332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428" y="804672"/>
            <a:ext cx="7661144" cy="5056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9827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921B-8113-F606-BA72-05DBD2CBA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2BE3BB9-33CC-EC1C-6414-C051B97DB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06" y="777239"/>
            <a:ext cx="7699187" cy="5121257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6CA28EE-423A-8DC8-BF3F-111B0263F55A}"/>
              </a:ext>
            </a:extLst>
          </p:cNvPr>
          <p:cNvCxnSpPr>
            <a:cxnSpLocks/>
          </p:cNvCxnSpPr>
          <p:nvPr/>
        </p:nvCxnSpPr>
        <p:spPr>
          <a:xfrm flipH="1" flipV="1">
            <a:off x="6510528" y="3346703"/>
            <a:ext cx="3512" cy="848364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89B7AFCB-59FB-A23F-A547-2811D37AE8D8}"/>
              </a:ext>
            </a:extLst>
          </p:cNvPr>
          <p:cNvSpPr/>
          <p:nvPr/>
        </p:nvSpPr>
        <p:spPr>
          <a:xfrm>
            <a:off x="6432804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E588F81-21DF-1B41-2888-9E88142E2D22}"/>
              </a:ext>
            </a:extLst>
          </p:cNvPr>
          <p:cNvSpPr/>
          <p:nvPr/>
        </p:nvSpPr>
        <p:spPr>
          <a:xfrm>
            <a:off x="6442877" y="4023360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629F27-E5E7-47C0-D22F-010E40D4DDE2}"/>
                  </a:ext>
                </a:extLst>
              </p:cNvPr>
              <p:cNvSpPr txBox="1"/>
              <p:nvPr/>
            </p:nvSpPr>
            <p:spPr>
              <a:xfrm>
                <a:off x="6689765" y="3632385"/>
                <a:ext cx="33368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629F27-E5E7-47C0-D22F-010E40D4DD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765" y="3632385"/>
                <a:ext cx="333681" cy="276999"/>
              </a:xfrm>
              <a:prstGeom prst="rect">
                <a:avLst/>
              </a:prstGeom>
              <a:blipFill>
                <a:blip r:embed="rId3"/>
                <a:stretch>
                  <a:fillRect l="-14545" r="-16364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B623D5-4F0D-B5CB-E993-9F468656289D}"/>
                  </a:ext>
                </a:extLst>
              </p:cNvPr>
              <p:cNvSpPr txBox="1"/>
              <p:nvPr/>
            </p:nvSpPr>
            <p:spPr>
              <a:xfrm>
                <a:off x="6362312" y="4313938"/>
                <a:ext cx="26795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B623D5-4F0D-B5CB-E993-9F468656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2312" y="4313938"/>
                <a:ext cx="267957" cy="276999"/>
              </a:xfrm>
              <a:prstGeom prst="rect">
                <a:avLst/>
              </a:prstGeom>
              <a:blipFill>
                <a:blip r:embed="rId4"/>
                <a:stretch>
                  <a:fillRect l="-22727" r="-6818"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6517585-B125-EF8F-B6B5-A93839F8AAFB}"/>
                  </a:ext>
                </a:extLst>
              </p:cNvPr>
              <p:cNvSpPr txBox="1"/>
              <p:nvPr/>
            </p:nvSpPr>
            <p:spPr>
              <a:xfrm>
                <a:off x="6432804" y="2821845"/>
                <a:ext cx="27328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6517585-B125-EF8F-B6B5-A93839F8A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804" y="2821845"/>
                <a:ext cx="273280" cy="276999"/>
              </a:xfrm>
              <a:prstGeom prst="rect">
                <a:avLst/>
              </a:prstGeom>
              <a:blipFill>
                <a:blip r:embed="rId5"/>
                <a:stretch>
                  <a:fillRect l="-20000" r="-6667"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24311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EFC4A7-431A-16C7-9639-284FFE9351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295DEED-18B7-D6FE-E17D-CE0E06A11E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4323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05183" y="0"/>
            <a:ext cx="4080562" cy="57788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2241029" y="6013927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i="1" dirty="0"/>
              <a:t>Manual of Driving and Maintenance for Mechanical Vehicles (Wheeled)</a:t>
            </a:r>
            <a:endParaRPr lang="en-US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821" y="393699"/>
            <a:ext cx="7141332" cy="56510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-401330" y="2839730"/>
            <a:ext cx="20878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3347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22510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2251020" y="249085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251020" y="5356469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7353919" y="52540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7353919" y="53614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839855" y="539646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7540052" y="5486400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842353" y="4799352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7600013" y="5151701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936228" y="2131104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8393" y="784485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41226" y="4954249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l="51264" b="54865"/>
          <a:stretch>
            <a:fillRect/>
          </a:stretch>
        </p:blipFill>
        <p:spPr bwMode="auto">
          <a:xfrm>
            <a:off x="774513" y="749508"/>
            <a:ext cx="4489697" cy="5888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Arc 5"/>
          <p:cNvSpPr/>
          <p:nvPr/>
        </p:nvSpPr>
        <p:spPr>
          <a:xfrm>
            <a:off x="2303279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2917876" y="2863121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reeform 7"/>
          <p:cNvSpPr/>
          <p:nvPr/>
        </p:nvSpPr>
        <p:spPr>
          <a:xfrm>
            <a:off x="1104067" y="3285343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-63417" y="4273947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raises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1922" y="269074"/>
            <a:ext cx="269823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AB</a:t>
            </a:r>
          </a:p>
        </p:txBody>
      </p:sp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4209" y="1340945"/>
            <a:ext cx="5772091" cy="4705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1407" y="363599"/>
            <a:ext cx="6942193" cy="56226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347970" y="2839730"/>
            <a:ext cx="20878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06900" y="62331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30003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3000320" y="249085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2685528" y="2131104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97693" y="784485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664983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l="1316" t="50323" r="48736" b="3764"/>
          <a:stretch/>
        </p:blipFill>
        <p:spPr bwMode="auto">
          <a:xfrm>
            <a:off x="813816" y="916017"/>
            <a:ext cx="4440020" cy="57799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2000119" y="263828"/>
            <a:ext cx="60110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CD (Power Stroke)</a:t>
            </a:r>
          </a:p>
        </p:txBody>
      </p:sp>
      <p:sp>
        <p:nvSpPr>
          <p:cNvPr id="7" name="Arc 6"/>
          <p:cNvSpPr/>
          <p:nvPr/>
        </p:nvSpPr>
        <p:spPr>
          <a:xfrm>
            <a:off x="2290579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2905176" y="2863121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-76117" y="4273947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Lowers</a:t>
            </a:r>
          </a:p>
        </p:txBody>
      </p:sp>
      <p:sp>
        <p:nvSpPr>
          <p:cNvPr id="10" name="Freeform 9"/>
          <p:cNvSpPr/>
          <p:nvPr/>
        </p:nvSpPr>
        <p:spPr>
          <a:xfrm>
            <a:off x="1091367" y="3285343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77474" y="1933293"/>
            <a:ext cx="3904454" cy="3161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6200" y="266700"/>
            <a:ext cx="7060209" cy="59202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4152900" y="62712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11" name="Oval 10"/>
          <p:cNvSpPr/>
          <p:nvPr/>
        </p:nvSpPr>
        <p:spPr>
          <a:xfrm>
            <a:off x="7861919" y="53429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7861919" y="54503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347855" y="548536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8048052" y="5575300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350353" y="4888252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8108013" y="5240601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 rot="16200000">
            <a:off x="208270" y="2928630"/>
            <a:ext cx="20878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</p:spTree>
    <p:extLst>
      <p:ext uri="{BB962C8B-B14F-4D97-AF65-F5344CB8AC3E}">
        <p14:creationId xmlns:p14="http://schemas.microsoft.com/office/powerpoint/2010/main" val="9668841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l="51632" t="51620" b="3505"/>
          <a:stretch>
            <a:fillRect/>
          </a:stretch>
        </p:blipFill>
        <p:spPr bwMode="auto">
          <a:xfrm>
            <a:off x="2143593" y="783363"/>
            <a:ext cx="4482059" cy="58890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Arc 6"/>
          <p:cNvSpPr/>
          <p:nvPr/>
        </p:nvSpPr>
        <p:spPr>
          <a:xfrm>
            <a:off x="3687579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/>
          <p:cNvCxnSpPr/>
          <p:nvPr/>
        </p:nvCxnSpPr>
        <p:spPr>
          <a:xfrm flipV="1">
            <a:off x="4302176" y="2863121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320883" y="4273947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rises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4549" y="2202805"/>
            <a:ext cx="155972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Exhaust valve opens</a:t>
            </a:r>
          </a:p>
        </p:txBody>
      </p:sp>
      <p:sp>
        <p:nvSpPr>
          <p:cNvPr id="11" name="Freeform 10"/>
          <p:cNvSpPr/>
          <p:nvPr/>
        </p:nvSpPr>
        <p:spPr>
          <a:xfrm flipH="1">
            <a:off x="5861154" y="1858780"/>
            <a:ext cx="1259174" cy="884420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2488367" y="3285343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3252865" y="224104"/>
            <a:ext cx="2698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AI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 cstate="print"/>
          <a:srcRect r="52471" b="55168"/>
          <a:stretch>
            <a:fillRect/>
          </a:stretch>
        </p:blipFill>
        <p:spPr bwMode="auto">
          <a:xfrm>
            <a:off x="1556990" y="781986"/>
            <a:ext cx="4337892" cy="57946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TextBox 6"/>
          <p:cNvSpPr txBox="1"/>
          <p:nvPr/>
        </p:nvSpPr>
        <p:spPr>
          <a:xfrm>
            <a:off x="-26981" y="2127855"/>
            <a:ext cx="112501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Intake valve opens</a:t>
            </a:r>
          </a:p>
        </p:txBody>
      </p:sp>
      <p:sp>
        <p:nvSpPr>
          <p:cNvPr id="8" name="Arc 7"/>
          <p:cNvSpPr/>
          <p:nvPr/>
        </p:nvSpPr>
        <p:spPr>
          <a:xfrm>
            <a:off x="3001779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1262921" y="1858780"/>
            <a:ext cx="1259174" cy="884420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3616376" y="2863121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5083" y="4273947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Lowers</a:t>
            </a:r>
          </a:p>
        </p:txBody>
      </p:sp>
      <p:sp>
        <p:nvSpPr>
          <p:cNvPr id="15" name="Freeform 14"/>
          <p:cNvSpPr/>
          <p:nvPr/>
        </p:nvSpPr>
        <p:spPr>
          <a:xfrm>
            <a:off x="1802567" y="3285343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2477125" y="224104"/>
            <a:ext cx="2698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IA</a:t>
            </a:r>
          </a:p>
        </p:txBody>
      </p:sp>
      <p:pic>
        <p:nvPicPr>
          <p:cNvPr id="10" name="Picture 5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4582" y="1845897"/>
            <a:ext cx="2969718" cy="25991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282" y="363474"/>
            <a:ext cx="7055444" cy="57198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-401330" y="2839730"/>
            <a:ext cx="20878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3347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22510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2251020" y="249085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251020" y="5356469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7353919" y="52540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7353919" y="53614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944786" y="5741233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7495081" y="5546362"/>
            <a:ext cx="389745" cy="37475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557540" y="4424598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7510072" y="4946754"/>
            <a:ext cx="104931" cy="26982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936228" y="2131104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8393" y="784485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41226" y="4954249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124264" y="1499018"/>
            <a:ext cx="1244184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rgbClr val="FFC000">
                  <a:tint val="66000"/>
                  <a:satMod val="160000"/>
                  <a:alpha val="53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ight Arrow 23"/>
          <p:cNvSpPr/>
          <p:nvPr/>
        </p:nvSpPr>
        <p:spPr>
          <a:xfrm>
            <a:off x="7615002" y="5054183"/>
            <a:ext cx="1064303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1484025" y="1611445"/>
            <a:ext cx="881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solidFill>
                  <a:schemeClr val="accent6">
                    <a:lumMod val="75000"/>
                  </a:schemeClr>
                </a:solidFill>
              </a:rPr>
              <a:t>Q</a:t>
            </a:r>
            <a:r>
              <a:rPr lang="en-US" sz="2400" baseline="-25000" dirty="0" err="1">
                <a:solidFill>
                  <a:schemeClr val="accent6">
                    <a:lumMod val="75000"/>
                  </a:schemeClr>
                </a:solidFill>
              </a:rPr>
              <a:t>h</a:t>
            </a:r>
            <a:endParaRPr lang="en-US" sz="2400" baseline="-250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744914" y="5211581"/>
            <a:ext cx="4780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Q</a:t>
            </a:r>
            <a:r>
              <a:rPr lang="en-US" sz="2400" baseline="-25000" dirty="0">
                <a:solidFill>
                  <a:schemeClr val="accent6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3869957" y="4023607"/>
            <a:ext cx="2440900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chemeClr val="accent3">
                  <a:lumMod val="75000"/>
                  <a:tint val="66000"/>
                  <a:satMod val="160000"/>
                </a:schemeClr>
              </a:gs>
              <a:gs pos="50000">
                <a:schemeClr val="accent3">
                  <a:lumMod val="75000"/>
                  <a:tint val="44500"/>
                  <a:satMod val="160000"/>
                </a:schemeClr>
              </a:gs>
              <a:gs pos="100000">
                <a:schemeClr val="accent3">
                  <a:lumMod val="75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ight Arrow 31"/>
          <p:cNvSpPr/>
          <p:nvPr/>
        </p:nvSpPr>
        <p:spPr>
          <a:xfrm>
            <a:off x="704537" y="4023607"/>
            <a:ext cx="2208550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chemeClr val="accent3">
                  <a:lumMod val="75000"/>
                  <a:tint val="66000"/>
                  <a:satMod val="160000"/>
                </a:schemeClr>
              </a:gs>
              <a:gs pos="50000">
                <a:schemeClr val="accent3">
                  <a:lumMod val="75000"/>
                  <a:tint val="44500"/>
                  <a:satMod val="160000"/>
                </a:schemeClr>
              </a:gs>
              <a:gs pos="100000">
                <a:schemeClr val="accent3">
                  <a:lumMod val="75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642073" y="4175024"/>
            <a:ext cx="20522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3">
                    <a:lumMod val="50000"/>
                  </a:schemeClr>
                </a:solidFill>
              </a:rPr>
              <a:t>Work Required</a:t>
            </a:r>
            <a:endParaRPr lang="en-US" sz="2400" baseline="-250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852468" y="4175024"/>
            <a:ext cx="22561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3">
                    <a:lumMod val="50000"/>
                  </a:schemeClr>
                </a:solidFill>
              </a:rPr>
              <a:t>Useful Work Out</a:t>
            </a:r>
            <a:endParaRPr lang="en-US" sz="2400" baseline="-25000" dirty="0">
              <a:solidFill>
                <a:schemeClr val="accent3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381000" y="442833"/>
            <a:ext cx="7880765" cy="6415167"/>
            <a:chOff x="381000" y="442833"/>
            <a:chExt cx="7880765" cy="6415167"/>
          </a:xfrm>
        </p:grpSpPr>
        <p:pic>
          <p:nvPicPr>
            <p:cNvPr id="20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999" y="442833"/>
              <a:ext cx="7057243" cy="564254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 rot="16200000">
              <a:off x="-401330" y="2839730"/>
              <a:ext cx="20878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Pressure (Pa)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657600" y="6334780"/>
              <a:ext cx="206755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Volume (m</a:t>
              </a:r>
              <a:r>
                <a:rPr lang="en-US" sz="2800" baseline="30000" dirty="0"/>
                <a:t>3</a:t>
              </a:r>
              <a:r>
                <a:rPr lang="en-US" sz="2800" dirty="0"/>
                <a:t>)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2251020" y="2490850"/>
              <a:ext cx="152400" cy="1524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7353919" y="5361466"/>
              <a:ext cx="152400" cy="1524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839855" y="5396460"/>
              <a:ext cx="42191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A</a:t>
              </a: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H="1" flipV="1">
              <a:off x="7540052" y="5486400"/>
              <a:ext cx="299804" cy="119921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/>
            <p:cNvSpPr txBox="1"/>
            <p:nvPr/>
          </p:nvSpPr>
          <p:spPr>
            <a:xfrm>
              <a:off x="1936228" y="2131104"/>
              <a:ext cx="42191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2855119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800" y="369873"/>
            <a:ext cx="7171543" cy="56626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81270" y="2839730"/>
            <a:ext cx="20878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5600" y="62585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27590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7861919" y="52540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8350353" y="4799352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8108013" y="5151701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956393" y="784485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6623537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700" y="282000"/>
            <a:ext cx="8121754" cy="60669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4089400" y="63474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10" name="Oval 9"/>
          <p:cNvSpPr/>
          <p:nvPr/>
        </p:nvSpPr>
        <p:spPr>
          <a:xfrm>
            <a:off x="2682820" y="5369169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7785719" y="53741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71655" y="540916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7971852" y="5499100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373026" y="4966949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  <p:sp>
        <p:nvSpPr>
          <p:cNvPr id="25" name="TextBox 24"/>
          <p:cNvSpPr txBox="1"/>
          <p:nvPr/>
        </p:nvSpPr>
        <p:spPr>
          <a:xfrm rot="16200000">
            <a:off x="-185430" y="2369830"/>
            <a:ext cx="20878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</p:spTree>
    <p:extLst>
      <p:ext uri="{BB962C8B-B14F-4D97-AF65-F5344CB8AC3E}">
        <p14:creationId xmlns:p14="http://schemas.microsoft.com/office/powerpoint/2010/main" val="16983521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723</TotalTime>
  <Words>491</Words>
  <Application>Microsoft Office PowerPoint</Application>
  <PresentationFormat>On-screen Show (4:3)</PresentationFormat>
  <Paragraphs>263</Paragraphs>
  <Slides>47</Slides>
  <Notes>4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5" baseType="lpstr">
      <vt:lpstr>Aptos</vt:lpstr>
      <vt:lpstr>Arial</vt:lpstr>
      <vt:lpstr>Calibri</vt:lpstr>
      <vt:lpstr>Cambria Math</vt:lpstr>
      <vt:lpstr>Symbol</vt:lpstr>
      <vt:lpstr>Times</vt:lpstr>
      <vt:lpstr>Office Theme</vt:lpstr>
      <vt:lpstr>Equation</vt:lpstr>
      <vt:lpstr>Lecture 32</vt:lpstr>
      <vt:lpstr>Thermo Systems</vt:lpstr>
      <vt:lpstr>Thermo Systems</vt:lpstr>
      <vt:lpstr>Thermo Systems</vt:lpstr>
      <vt:lpstr>PowerPoint Presentation</vt:lpstr>
      <vt:lpstr>PowerPoint Presentation</vt:lpstr>
      <vt:lpstr>Question 123.10.1</vt:lpstr>
      <vt:lpstr>Question 123.10.2</vt:lpstr>
      <vt:lpstr>Question 123.10.2.4</vt:lpstr>
      <vt:lpstr>Question 123.10.2.5</vt:lpstr>
      <vt:lpstr>Question 123.10.3</vt:lpstr>
      <vt:lpstr>Question 123.10.4</vt:lpstr>
      <vt:lpstr>Question 123.10.5</vt:lpstr>
      <vt:lpstr>Question 123.10.6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 123.10.6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End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Todd Lines</cp:lastModifiedBy>
  <cp:revision>11</cp:revision>
  <dcterms:created xsi:type="dcterms:W3CDTF">2011-10-22T20:54:39Z</dcterms:created>
  <dcterms:modified xsi:type="dcterms:W3CDTF">2026-08-26T22:00:11Z</dcterms:modified>
</cp:coreProperties>
</file>