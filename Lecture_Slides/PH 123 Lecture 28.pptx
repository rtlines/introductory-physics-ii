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5" r:id="rId2"/>
    <p:sldId id="299" r:id="rId3"/>
    <p:sldId id="469" r:id="rId4"/>
    <p:sldId id="470" r:id="rId5"/>
    <p:sldId id="471" r:id="rId6"/>
    <p:sldId id="411" r:id="rId7"/>
    <p:sldId id="472" r:id="rId8"/>
    <p:sldId id="473" r:id="rId9"/>
    <p:sldId id="474" r:id="rId10"/>
    <p:sldId id="475" r:id="rId11"/>
    <p:sldId id="476" r:id="rId12"/>
    <p:sldId id="477" r:id="rId13"/>
    <p:sldId id="478" r:id="rId14"/>
    <p:sldId id="486" r:id="rId15"/>
    <p:sldId id="487" r:id="rId16"/>
    <p:sldId id="488" r:id="rId17"/>
    <p:sldId id="489" r:id="rId18"/>
    <p:sldId id="490" r:id="rId19"/>
    <p:sldId id="491" r:id="rId20"/>
    <p:sldId id="492" r:id="rId21"/>
    <p:sldId id="493" r:id="rId22"/>
    <p:sldId id="494" r:id="rId23"/>
    <p:sldId id="497" r:id="rId24"/>
    <p:sldId id="498" r:id="rId25"/>
    <p:sldId id="499" r:id="rId26"/>
    <p:sldId id="500" r:id="rId27"/>
    <p:sldId id="479" r:id="rId28"/>
    <p:sldId id="480" r:id="rId29"/>
    <p:sldId id="501" r:id="rId30"/>
    <p:sldId id="502" r:id="rId31"/>
    <p:sldId id="503" r:id="rId32"/>
    <p:sldId id="504" r:id="rId33"/>
    <p:sldId id="505" r:id="rId34"/>
    <p:sldId id="506" r:id="rId35"/>
    <p:sldId id="507" r:id="rId36"/>
    <p:sldId id="508" r:id="rId37"/>
    <p:sldId id="509" r:id="rId38"/>
    <p:sldId id="481" r:id="rId39"/>
    <p:sldId id="482" r:id="rId40"/>
    <p:sldId id="483" r:id="rId41"/>
    <p:sldId id="485" r:id="rId42"/>
    <p:sldId id="495" r:id="rId43"/>
    <p:sldId id="496" r:id="rId44"/>
    <p:sldId id="510" r:id="rId45"/>
    <p:sldId id="511" r:id="rId46"/>
    <p:sldId id="413" r:id="rId47"/>
    <p:sldId id="416" r:id="rId48"/>
    <p:sldId id="417" r:id="rId49"/>
    <p:sldId id="418" r:id="rId50"/>
    <p:sldId id="419" r:id="rId51"/>
    <p:sldId id="369" r:id="rId52"/>
    <p:sldId id="512" r:id="rId53"/>
    <p:sldId id="290" r:id="rId54"/>
    <p:sldId id="370" r:id="rId55"/>
    <p:sldId id="291" r:id="rId56"/>
    <p:sldId id="371" r:id="rId57"/>
    <p:sldId id="372" r:id="rId58"/>
    <p:sldId id="373" r:id="rId59"/>
    <p:sldId id="374" r:id="rId60"/>
    <p:sldId id="375" r:id="rId61"/>
    <p:sldId id="376" r:id="rId62"/>
    <p:sldId id="377" r:id="rId63"/>
    <p:sldId id="378" r:id="rId64"/>
    <p:sldId id="379" r:id="rId65"/>
    <p:sldId id="380" r:id="rId66"/>
    <p:sldId id="381" r:id="rId67"/>
    <p:sldId id="382" r:id="rId68"/>
    <p:sldId id="383" r:id="rId69"/>
    <p:sldId id="384" r:id="rId70"/>
    <p:sldId id="385" r:id="rId71"/>
    <p:sldId id="386" r:id="rId72"/>
    <p:sldId id="387" r:id="rId73"/>
    <p:sldId id="388" r:id="rId74"/>
    <p:sldId id="389" r:id="rId75"/>
    <p:sldId id="390" r:id="rId76"/>
    <p:sldId id="391" r:id="rId77"/>
    <p:sldId id="392" r:id="rId78"/>
    <p:sldId id="393" r:id="rId79"/>
    <p:sldId id="394" r:id="rId80"/>
    <p:sldId id="395" r:id="rId81"/>
    <p:sldId id="396" r:id="rId82"/>
    <p:sldId id="397" r:id="rId83"/>
    <p:sldId id="398" r:id="rId84"/>
    <p:sldId id="399" r:id="rId85"/>
    <p:sldId id="400" r:id="rId86"/>
    <p:sldId id="401" r:id="rId87"/>
    <p:sldId id="402" r:id="rId88"/>
    <p:sldId id="403" r:id="rId89"/>
    <p:sldId id="404" r:id="rId90"/>
    <p:sldId id="296" r:id="rId91"/>
    <p:sldId id="353" r:id="rId92"/>
    <p:sldId id="365" r:id="rId93"/>
    <p:sldId id="367" r:id="rId94"/>
    <p:sldId id="368" r:id="rId95"/>
    <p:sldId id="354" r:id="rId96"/>
    <p:sldId id="355" r:id="rId97"/>
    <p:sldId id="356" r:id="rId98"/>
    <p:sldId id="357" r:id="rId99"/>
    <p:sldId id="358" r:id="rId100"/>
    <p:sldId id="359" r:id="rId101"/>
    <p:sldId id="360" r:id="rId102"/>
    <p:sldId id="361" r:id="rId103"/>
    <p:sldId id="362" r:id="rId104"/>
    <p:sldId id="363" r:id="rId105"/>
    <p:sldId id="364" r:id="rId106"/>
    <p:sldId id="366" r:id="rId107"/>
    <p:sldId id="286" r:id="rId108"/>
    <p:sldId id="287" r:id="rId109"/>
    <p:sldId id="288" r:id="rId110"/>
    <p:sldId id="289" r:id="rId111"/>
    <p:sldId id="256" r:id="rId112"/>
    <p:sldId id="257" r:id="rId113"/>
    <p:sldId id="285" r:id="rId114"/>
    <p:sldId id="293" r:id="rId115"/>
    <p:sldId id="294" r:id="rId116"/>
    <p:sldId id="259" r:id="rId117"/>
    <p:sldId id="260" r:id="rId118"/>
    <p:sldId id="261" r:id="rId119"/>
    <p:sldId id="262" r:id="rId120"/>
    <p:sldId id="263" r:id="rId121"/>
    <p:sldId id="264" r:id="rId122"/>
    <p:sldId id="265" r:id="rId123"/>
    <p:sldId id="266" r:id="rId124"/>
    <p:sldId id="267" r:id="rId125"/>
    <p:sldId id="268" r:id="rId126"/>
    <p:sldId id="269" r:id="rId127"/>
    <p:sldId id="270" r:id="rId128"/>
    <p:sldId id="271" r:id="rId129"/>
    <p:sldId id="272" r:id="rId130"/>
    <p:sldId id="273" r:id="rId131"/>
    <p:sldId id="274" r:id="rId132"/>
    <p:sldId id="275" r:id="rId133"/>
    <p:sldId id="276" r:id="rId134"/>
    <p:sldId id="277" r:id="rId135"/>
    <p:sldId id="278" r:id="rId136"/>
    <p:sldId id="279" r:id="rId137"/>
    <p:sldId id="280" r:id="rId138"/>
    <p:sldId id="281" r:id="rId139"/>
    <p:sldId id="282" r:id="rId140"/>
    <p:sldId id="283" r:id="rId141"/>
    <p:sldId id="284" r:id="rId142"/>
    <p:sldId id="292" r:id="rId143"/>
    <p:sldId id="258" r:id="rId14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39F3"/>
    <a:srgbClr val="396A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DBEEFF-20A3-4A82-A92E-BA394828A228}" v="2" dt="2026-08-26T21:45:37.3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66" y="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microsoft.com/office/2016/11/relationships/changesInfo" Target="changesInfos/changesInfo1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microsoft.com/office/2015/10/relationships/revisionInfo" Target="revisionInfo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custSel addSld delSld modSld">
      <pc:chgData name="Todd Lines" userId="afaf7c3a-e8aa-4568-882a-02ad8f9e19b0" providerId="ADAL" clId="{5FF5AC1B-ABA9-43D7-A1E3-2D92732CD6E2}" dt="2026-08-26T21:47:18.750" v="9" actId="20577"/>
      <pc:docMkLst>
        <pc:docMk/>
      </pc:docMkLst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1278518977" sldId="290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2761796057" sldId="291"/>
        </pc:sldMkLst>
      </pc:sldChg>
      <pc:sldChg chg="modSp mod">
        <pc:chgData name="Todd Lines" userId="afaf7c3a-e8aa-4568-882a-02ad8f9e19b0" providerId="ADAL" clId="{5FF5AC1B-ABA9-43D7-A1E3-2D92732CD6E2}" dt="2026-08-26T21:40:44.416" v="2" actId="20577"/>
        <pc:sldMkLst>
          <pc:docMk/>
          <pc:sldMk cId="3859338268" sldId="295"/>
        </pc:sldMkLst>
        <pc:spChg chg="mod">
          <ac:chgData name="Todd Lines" userId="afaf7c3a-e8aa-4568-882a-02ad8f9e19b0" providerId="ADAL" clId="{5FF5AC1B-ABA9-43D7-A1E3-2D92732CD6E2}" dt="2026-08-26T21:40:44.416" v="2" actId="20577"/>
          <ac:spMkLst>
            <pc:docMk/>
            <pc:sldMk cId="3859338268" sldId="295"/>
            <ac:spMk id="2" creationId="{E3331A11-D55F-6CC1-2DB5-AF98E9BE31DB}"/>
          </ac:spMkLst>
        </pc:spChg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1373451021" sldId="299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20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25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26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34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35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36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37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50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51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0" sldId="352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2370672761" sldId="369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3530130268" sldId="369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70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274739437" sldId="370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71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3723244273" sldId="371"/>
        </pc:sldMkLst>
      </pc:sldChg>
      <pc:sldChg chg="add del">
        <pc:chgData name="Todd Lines" userId="afaf7c3a-e8aa-4568-882a-02ad8f9e19b0" providerId="ADAL" clId="{5FF5AC1B-ABA9-43D7-A1E3-2D92732CD6E2}" dt="2026-08-26T21:41:53.288" v="3"/>
        <pc:sldMkLst>
          <pc:docMk/>
          <pc:sldMk cId="0" sldId="372"/>
        </pc:sldMkLst>
      </pc:sldChg>
      <pc:sldChg chg="add del">
        <pc:chgData name="Todd Lines" userId="afaf7c3a-e8aa-4568-882a-02ad8f9e19b0" providerId="ADAL" clId="{5FF5AC1B-ABA9-43D7-A1E3-2D92732CD6E2}" dt="2026-08-26T21:41:53.288" v="3"/>
        <pc:sldMkLst>
          <pc:docMk/>
          <pc:sldMk cId="0" sldId="373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74"/>
        </pc:sldMkLst>
      </pc:sldChg>
      <pc:sldChg chg="del">
        <pc:chgData name="Todd Lines" userId="afaf7c3a-e8aa-4568-882a-02ad8f9e19b0" providerId="ADAL" clId="{5FF5AC1B-ABA9-43D7-A1E3-2D92732CD6E2}" dt="2026-08-26T21:38:41.410" v="0" actId="2696"/>
        <pc:sldMkLst>
          <pc:docMk/>
          <pc:sldMk cId="2726091357" sldId="374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75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2545873160" sldId="376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77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879635185" sldId="378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79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0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1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2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3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4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5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6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7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8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89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2218832806" sldId="390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91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92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3341167782" sldId="393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1831814280" sldId="394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95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96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97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98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399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400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401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402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403"/>
        </pc:sldMkLst>
      </pc:sldChg>
      <pc:sldChg chg="add">
        <pc:chgData name="Todd Lines" userId="afaf7c3a-e8aa-4568-882a-02ad8f9e19b0" providerId="ADAL" clId="{5FF5AC1B-ABA9-43D7-A1E3-2D92732CD6E2}" dt="2026-08-26T21:41:53.288" v="3"/>
        <pc:sldMkLst>
          <pc:docMk/>
          <pc:sldMk cId="0" sldId="404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11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13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16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17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18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19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69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0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1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2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3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4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5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6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7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8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79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80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81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82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83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2759224613" sldId="485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2687446248" sldId="486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87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2733935577" sldId="488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89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90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91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92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93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94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95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2405738148" sldId="496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97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729586545" sldId="498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499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0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1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2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3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4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5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6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7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8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09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10"/>
        </pc:sldMkLst>
      </pc:sldChg>
      <pc:sldChg chg="add">
        <pc:chgData name="Todd Lines" userId="afaf7c3a-e8aa-4568-882a-02ad8f9e19b0" providerId="ADAL" clId="{5FF5AC1B-ABA9-43D7-A1E3-2D92732CD6E2}" dt="2026-08-26T21:45:37.377" v="4"/>
        <pc:sldMkLst>
          <pc:docMk/>
          <pc:sldMk cId="0" sldId="511"/>
        </pc:sldMkLst>
      </pc:sldChg>
      <pc:sldChg chg="addSp delSp modSp new mod modClrScheme chgLayout">
        <pc:chgData name="Todd Lines" userId="afaf7c3a-e8aa-4568-882a-02ad8f9e19b0" providerId="ADAL" clId="{5FF5AC1B-ABA9-43D7-A1E3-2D92732CD6E2}" dt="2026-08-26T21:47:18.750" v="9" actId="20577"/>
        <pc:sldMkLst>
          <pc:docMk/>
          <pc:sldMk cId="2573071552" sldId="512"/>
        </pc:sldMkLst>
        <pc:spChg chg="del mod ord">
          <ac:chgData name="Todd Lines" userId="afaf7c3a-e8aa-4568-882a-02ad8f9e19b0" providerId="ADAL" clId="{5FF5AC1B-ABA9-43D7-A1E3-2D92732CD6E2}" dt="2026-08-26T21:47:15.082" v="6" actId="700"/>
          <ac:spMkLst>
            <pc:docMk/>
            <pc:sldMk cId="2573071552" sldId="512"/>
            <ac:spMk id="2" creationId="{C814EBCF-4F35-A662-7CC2-B366C32B6BD0}"/>
          </ac:spMkLst>
        </pc:spChg>
        <pc:spChg chg="del mod ord">
          <ac:chgData name="Todd Lines" userId="afaf7c3a-e8aa-4568-882a-02ad8f9e19b0" providerId="ADAL" clId="{5FF5AC1B-ABA9-43D7-A1E3-2D92732CD6E2}" dt="2026-08-26T21:47:15.082" v="6" actId="700"/>
          <ac:spMkLst>
            <pc:docMk/>
            <pc:sldMk cId="2573071552" sldId="512"/>
            <ac:spMk id="3" creationId="{31A6E513-BC62-978F-F5AC-53D98822C9E8}"/>
          </ac:spMkLst>
        </pc:spChg>
        <pc:spChg chg="add mod ord">
          <ac:chgData name="Todd Lines" userId="afaf7c3a-e8aa-4568-882a-02ad8f9e19b0" providerId="ADAL" clId="{5FF5AC1B-ABA9-43D7-A1E3-2D92732CD6E2}" dt="2026-08-26T21:47:18.750" v="9" actId="20577"/>
          <ac:spMkLst>
            <pc:docMk/>
            <pc:sldMk cId="2573071552" sldId="512"/>
            <ac:spMk id="4" creationId="{206E852D-E3A0-6CD4-8A6B-5EE3AEFE0F63}"/>
          </ac:spMkLst>
        </pc:spChg>
        <pc:spChg chg="add mod ord">
          <ac:chgData name="Todd Lines" userId="afaf7c3a-e8aa-4568-882a-02ad8f9e19b0" providerId="ADAL" clId="{5FF5AC1B-ABA9-43D7-A1E3-2D92732CD6E2}" dt="2026-08-26T21:47:15.082" v="6" actId="700"/>
          <ac:spMkLst>
            <pc:docMk/>
            <pc:sldMk cId="2573071552" sldId="512"/>
            <ac:spMk id="5" creationId="{5B8C2DDB-BE30-E9A3-081E-7490C8E1CE4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Oct 11-13, 2006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673993-EBF3-4B6A-9802-073ACFAFCE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229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3938588"/>
            <a:ext cx="8229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Oct 11-13, 2006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353912A-7EA7-4E3B-83EC-5D1E6D3376B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0C29D-4A4F-4C4D-B0A6-7AE47C38EA42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A39D17-4C0B-4EF9-B71E-2B1AA46BE95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wmf"/><Relationship Id="rId7" Type="http://schemas.openxmlformats.org/officeDocument/2006/relationships/image" Target="../media/image3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2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wmf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6.emf"/><Relationship Id="rId7" Type="http://schemas.openxmlformats.org/officeDocument/2006/relationships/image" Target="../media/image28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30.emf"/><Relationship Id="rId5" Type="http://schemas.openxmlformats.org/officeDocument/2006/relationships/image" Target="../media/image27.emf"/><Relationship Id="rId10" Type="http://schemas.openxmlformats.org/officeDocument/2006/relationships/oleObject" Target="../embeddings/oleObject12.bin"/><Relationship Id="rId4" Type="http://schemas.openxmlformats.org/officeDocument/2006/relationships/oleObject" Target="../embeddings/oleObject9.bin"/><Relationship Id="rId9" Type="http://schemas.openxmlformats.org/officeDocument/2006/relationships/image" Target="../media/image29.emf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13" Type="http://schemas.openxmlformats.org/officeDocument/2006/relationships/image" Target="../media/image36.emf"/><Relationship Id="rId18" Type="http://schemas.openxmlformats.org/officeDocument/2006/relationships/oleObject" Target="../embeddings/oleObject18.bin"/><Relationship Id="rId3" Type="http://schemas.openxmlformats.org/officeDocument/2006/relationships/image" Target="../media/image31.emf"/><Relationship Id="rId7" Type="http://schemas.openxmlformats.org/officeDocument/2006/relationships/image" Target="../media/image33.emf"/><Relationship Id="rId12" Type="http://schemas.openxmlformats.org/officeDocument/2006/relationships/oleObject" Target="../embeddings/oleObject15.bin"/><Relationship Id="rId17" Type="http://schemas.openxmlformats.org/officeDocument/2006/relationships/image" Target="../media/image38.emf"/><Relationship Id="rId2" Type="http://schemas.openxmlformats.org/officeDocument/2006/relationships/oleObject" Target="../embeddings/oleObject13.bin"/><Relationship Id="rId16" Type="http://schemas.openxmlformats.org/officeDocument/2006/relationships/oleObject" Target="../embeddings/oleObject17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35.emf"/><Relationship Id="rId5" Type="http://schemas.openxmlformats.org/officeDocument/2006/relationships/image" Target="../media/image32.emf"/><Relationship Id="rId15" Type="http://schemas.openxmlformats.org/officeDocument/2006/relationships/image" Target="../media/image37.emf"/><Relationship Id="rId10" Type="http://schemas.openxmlformats.org/officeDocument/2006/relationships/oleObject" Target="../embeddings/oleObject12.bin"/><Relationship Id="rId19" Type="http://schemas.openxmlformats.org/officeDocument/2006/relationships/image" Target="../media/image39.emf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4.emf"/><Relationship Id="rId14" Type="http://schemas.openxmlformats.org/officeDocument/2006/relationships/oleObject" Target="../embeddings/oleObject16.bin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7" Type="http://schemas.openxmlformats.org/officeDocument/2006/relationships/image" Target="../media/image42.e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0.bin"/><Relationship Id="rId5" Type="http://schemas.openxmlformats.org/officeDocument/2006/relationships/image" Target="../media/image41.emf"/><Relationship Id="rId4" Type="http://schemas.openxmlformats.org/officeDocument/2006/relationships/oleObject" Target="../embeddings/oleObject19.bin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1.bin"/><Relationship Id="rId13" Type="http://schemas.openxmlformats.org/officeDocument/2006/relationships/image" Target="../media/image48.emf"/><Relationship Id="rId3" Type="http://schemas.openxmlformats.org/officeDocument/2006/relationships/image" Target="../media/image43.emf"/><Relationship Id="rId7" Type="http://schemas.openxmlformats.org/officeDocument/2006/relationships/image" Target="../media/image45.emf"/><Relationship Id="rId12" Type="http://schemas.openxmlformats.org/officeDocument/2006/relationships/oleObject" Target="../embeddings/oleObject23.bin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0.bin"/><Relationship Id="rId11" Type="http://schemas.openxmlformats.org/officeDocument/2006/relationships/image" Target="../media/image47.emf"/><Relationship Id="rId5" Type="http://schemas.openxmlformats.org/officeDocument/2006/relationships/image" Target="../media/image44.emf"/><Relationship Id="rId15" Type="http://schemas.openxmlformats.org/officeDocument/2006/relationships/image" Target="../media/image49.emf"/><Relationship Id="rId10" Type="http://schemas.openxmlformats.org/officeDocument/2006/relationships/oleObject" Target="../embeddings/oleObject22.bin"/><Relationship Id="rId4" Type="http://schemas.openxmlformats.org/officeDocument/2006/relationships/oleObject" Target="../embeddings/oleObject19.bin"/><Relationship Id="rId9" Type="http://schemas.openxmlformats.org/officeDocument/2006/relationships/image" Target="../media/image46.emf"/><Relationship Id="rId14" Type="http://schemas.openxmlformats.org/officeDocument/2006/relationships/oleObject" Target="../embeddings/oleObject24.bin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wmf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wmf"/><Relationship Id="rId2" Type="http://schemas.openxmlformats.org/officeDocument/2006/relationships/oleObject" Target="../embeddings/oleObject25.bin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oleObject" Target="../embeddings/oleObject26.bin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oleObject" Target="../embeddings/oleObject28.bin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oleObject" Target="../embeddings/oleObject29.bin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4.bin"/><Relationship Id="rId3" Type="http://schemas.openxmlformats.org/officeDocument/2006/relationships/image" Target="../media/image59.emf"/><Relationship Id="rId7" Type="http://schemas.openxmlformats.org/officeDocument/2006/relationships/image" Target="../media/image61.emf"/><Relationship Id="rId2" Type="http://schemas.openxmlformats.org/officeDocument/2006/relationships/oleObject" Target="../embeddings/oleObject31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3.bin"/><Relationship Id="rId11" Type="http://schemas.openxmlformats.org/officeDocument/2006/relationships/image" Target="../media/image63.emf"/><Relationship Id="rId5" Type="http://schemas.openxmlformats.org/officeDocument/2006/relationships/image" Target="../media/image60.emf"/><Relationship Id="rId10" Type="http://schemas.openxmlformats.org/officeDocument/2006/relationships/oleObject" Target="../embeddings/oleObject35.bin"/><Relationship Id="rId4" Type="http://schemas.openxmlformats.org/officeDocument/2006/relationships/oleObject" Target="../embeddings/oleObject32.bin"/><Relationship Id="rId9" Type="http://schemas.openxmlformats.org/officeDocument/2006/relationships/image" Target="../media/image62.emf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9.bin"/><Relationship Id="rId13" Type="http://schemas.openxmlformats.org/officeDocument/2006/relationships/image" Target="../media/image69.emf"/><Relationship Id="rId18" Type="http://schemas.openxmlformats.org/officeDocument/2006/relationships/oleObject" Target="../embeddings/oleObject44.bin"/><Relationship Id="rId3" Type="http://schemas.openxmlformats.org/officeDocument/2006/relationships/image" Target="../media/image64.emf"/><Relationship Id="rId7" Type="http://schemas.openxmlformats.org/officeDocument/2006/relationships/image" Target="../media/image66.emf"/><Relationship Id="rId12" Type="http://schemas.openxmlformats.org/officeDocument/2006/relationships/oleObject" Target="../embeddings/oleObject41.bin"/><Relationship Id="rId17" Type="http://schemas.openxmlformats.org/officeDocument/2006/relationships/image" Target="../media/image71.emf"/><Relationship Id="rId2" Type="http://schemas.openxmlformats.org/officeDocument/2006/relationships/oleObject" Target="../embeddings/oleObject36.bin"/><Relationship Id="rId16" Type="http://schemas.openxmlformats.org/officeDocument/2006/relationships/oleObject" Target="../embeddings/oleObject43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8.bin"/><Relationship Id="rId11" Type="http://schemas.openxmlformats.org/officeDocument/2006/relationships/image" Target="../media/image68.emf"/><Relationship Id="rId5" Type="http://schemas.openxmlformats.org/officeDocument/2006/relationships/image" Target="../media/image65.emf"/><Relationship Id="rId15" Type="http://schemas.openxmlformats.org/officeDocument/2006/relationships/image" Target="../media/image70.emf"/><Relationship Id="rId10" Type="http://schemas.openxmlformats.org/officeDocument/2006/relationships/oleObject" Target="../embeddings/oleObject40.bin"/><Relationship Id="rId19" Type="http://schemas.openxmlformats.org/officeDocument/2006/relationships/image" Target="../media/image72.emf"/><Relationship Id="rId4" Type="http://schemas.openxmlformats.org/officeDocument/2006/relationships/oleObject" Target="../embeddings/oleObject37.bin"/><Relationship Id="rId9" Type="http://schemas.openxmlformats.org/officeDocument/2006/relationships/image" Target="../media/image67.emf"/><Relationship Id="rId14" Type="http://schemas.openxmlformats.org/officeDocument/2006/relationships/oleObject" Target="../embeddings/oleObject42.bin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7" Type="http://schemas.openxmlformats.org/officeDocument/2006/relationships/image" Target="../media/image75.emf"/><Relationship Id="rId2" Type="http://schemas.openxmlformats.org/officeDocument/2006/relationships/oleObject" Target="../embeddings/oleObject45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47.bin"/><Relationship Id="rId5" Type="http://schemas.openxmlformats.org/officeDocument/2006/relationships/image" Target="../media/image74.emf"/><Relationship Id="rId4" Type="http://schemas.openxmlformats.org/officeDocument/2006/relationships/oleObject" Target="../embeddings/oleObject46.bin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1.bin"/><Relationship Id="rId13" Type="http://schemas.openxmlformats.org/officeDocument/2006/relationships/image" Target="../media/image81.emf"/><Relationship Id="rId3" Type="http://schemas.openxmlformats.org/officeDocument/2006/relationships/image" Target="../media/image76.emf"/><Relationship Id="rId7" Type="http://schemas.openxmlformats.org/officeDocument/2006/relationships/image" Target="../media/image78.emf"/><Relationship Id="rId12" Type="http://schemas.openxmlformats.org/officeDocument/2006/relationships/oleObject" Target="../embeddings/oleObject53.bin"/><Relationship Id="rId2" Type="http://schemas.openxmlformats.org/officeDocument/2006/relationships/oleObject" Target="../embeddings/oleObject48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50.bin"/><Relationship Id="rId11" Type="http://schemas.openxmlformats.org/officeDocument/2006/relationships/image" Target="../media/image80.emf"/><Relationship Id="rId5" Type="http://schemas.openxmlformats.org/officeDocument/2006/relationships/image" Target="../media/image77.emf"/><Relationship Id="rId15" Type="http://schemas.openxmlformats.org/officeDocument/2006/relationships/image" Target="../media/image82.emf"/><Relationship Id="rId10" Type="http://schemas.openxmlformats.org/officeDocument/2006/relationships/oleObject" Target="../embeddings/oleObject52.bin"/><Relationship Id="rId4" Type="http://schemas.openxmlformats.org/officeDocument/2006/relationships/oleObject" Target="../embeddings/oleObject49.bin"/><Relationship Id="rId9" Type="http://schemas.openxmlformats.org/officeDocument/2006/relationships/image" Target="../media/image79.emf"/><Relationship Id="rId14" Type="http://schemas.openxmlformats.org/officeDocument/2006/relationships/oleObject" Target="../embeddings/oleObject54.bin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wmf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wmf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wmf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emf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emf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eg"/><Relationship Id="rId1" Type="http://schemas.openxmlformats.org/officeDocument/2006/relationships/slideLayout" Target="../slideLayouts/slideLayout1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5.bin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9.wmf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wmf"/><Relationship Id="rId2" Type="http://schemas.openxmlformats.org/officeDocument/2006/relationships/oleObject" Target="../embeddings/oleObject56.bin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eg"/><Relationship Id="rId1" Type="http://schemas.openxmlformats.org/officeDocument/2006/relationships/slideLayout" Target="../slideLayouts/slideLayout1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sv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e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jpe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eg"/><Relationship Id="rId1" Type="http://schemas.openxmlformats.org/officeDocument/2006/relationships/slideLayout" Target="../slideLayouts/slideLayout1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oleObject" Target="../embeddings/oleObject57.bin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wmf"/><Relationship Id="rId2" Type="http://schemas.openxmlformats.org/officeDocument/2006/relationships/oleObject" Target="../embeddings/oleObject58.bin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jpeg"/><Relationship Id="rId2" Type="http://schemas.openxmlformats.org/officeDocument/2006/relationships/hyperlink" Target="http://www.globalsecurity.org/military/systems/ground/v-mads.htm" TargetMode="Externa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jpe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31A11-D55F-6CC1-2DB5-AF98E9BE31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28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EDB55-E444-7D4A-9683-62F325DFAB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338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15"/>
          <p:cNvSpPr>
            <a:spLocks noChangeArrowheads="1"/>
          </p:cNvSpPr>
          <p:nvPr/>
        </p:nvSpPr>
        <p:spPr bwMode="auto">
          <a:xfrm rot="992343">
            <a:off x="7648992" y="1876047"/>
            <a:ext cx="107389" cy="37662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" name="Rectangle 15"/>
          <p:cNvSpPr>
            <a:spLocks noChangeArrowheads="1"/>
          </p:cNvSpPr>
          <p:nvPr/>
        </p:nvSpPr>
        <p:spPr bwMode="auto">
          <a:xfrm rot="16878347">
            <a:off x="7739937" y="2091022"/>
            <a:ext cx="113533" cy="351821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5" name="Rectangle 15"/>
          <p:cNvSpPr>
            <a:spLocks noChangeArrowheads="1"/>
          </p:cNvSpPr>
          <p:nvPr/>
        </p:nvSpPr>
        <p:spPr bwMode="auto">
          <a:xfrm rot="18465584" flipH="1">
            <a:off x="1931806" y="3767926"/>
            <a:ext cx="303845" cy="943541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3" name="Rectangle 15"/>
          <p:cNvSpPr>
            <a:spLocks noChangeArrowheads="1"/>
          </p:cNvSpPr>
          <p:nvPr/>
        </p:nvSpPr>
        <p:spPr bwMode="auto">
          <a:xfrm rot="15133295" flipH="1">
            <a:off x="1257414" y="3708641"/>
            <a:ext cx="334176" cy="886584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>
          <a:xfrm>
            <a:off x="766355" y="4437014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20447711">
            <a:off x="585652" y="3215641"/>
            <a:ext cx="7848600" cy="1524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280255" y="3455126"/>
            <a:ext cx="609600" cy="1524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4280255" y="3241767"/>
            <a:ext cx="609600" cy="6096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4432655" y="3354978"/>
            <a:ext cx="304800" cy="3048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 rot="20516964">
            <a:off x="729339" y="4225843"/>
            <a:ext cx="838200" cy="1524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 flipH="1">
            <a:off x="522515" y="4861556"/>
            <a:ext cx="8190411" cy="431074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 flipH="1">
            <a:off x="740230" y="4687384"/>
            <a:ext cx="4406536" cy="407125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 flipV="1">
            <a:off x="4920342" y="4748344"/>
            <a:ext cx="3596640" cy="359230"/>
          </a:xfrm>
          <a:custGeom>
            <a:avLst/>
            <a:gdLst>
              <a:gd name="connsiteX0" fmla="*/ 0 w 8190411"/>
              <a:gd name="connsiteY0" fmla="*/ 287383 h 431074"/>
              <a:gd name="connsiteX1" fmla="*/ 1175657 w 8190411"/>
              <a:gd name="connsiteY1" fmla="*/ 182880 h 431074"/>
              <a:gd name="connsiteX2" fmla="*/ 1776548 w 8190411"/>
              <a:gd name="connsiteY2" fmla="*/ 365760 h 431074"/>
              <a:gd name="connsiteX3" fmla="*/ 2599508 w 8190411"/>
              <a:gd name="connsiteY3" fmla="*/ 195943 h 431074"/>
              <a:gd name="connsiteX4" fmla="*/ 3487782 w 8190411"/>
              <a:gd name="connsiteY4" fmla="*/ 352697 h 431074"/>
              <a:gd name="connsiteX5" fmla="*/ 4062548 w 8190411"/>
              <a:gd name="connsiteY5" fmla="*/ 143691 h 431074"/>
              <a:gd name="connsiteX6" fmla="*/ 4689565 w 8190411"/>
              <a:gd name="connsiteY6" fmla="*/ 352697 h 431074"/>
              <a:gd name="connsiteX7" fmla="*/ 5656217 w 8190411"/>
              <a:gd name="connsiteY7" fmla="*/ 0 h 431074"/>
              <a:gd name="connsiteX8" fmla="*/ 6635931 w 8190411"/>
              <a:gd name="connsiteY8" fmla="*/ 431074 h 431074"/>
              <a:gd name="connsiteX9" fmla="*/ 7184571 w 8190411"/>
              <a:gd name="connsiteY9" fmla="*/ 261257 h 431074"/>
              <a:gd name="connsiteX10" fmla="*/ 7707085 w 8190411"/>
              <a:gd name="connsiteY10" fmla="*/ 391885 h 431074"/>
              <a:gd name="connsiteX11" fmla="*/ 8190411 w 8190411"/>
              <a:gd name="connsiteY11" fmla="*/ 169817 h 431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90411" h="431074">
                <a:moveTo>
                  <a:pt x="0" y="287383"/>
                </a:moveTo>
                <a:lnTo>
                  <a:pt x="1175657" y="182880"/>
                </a:lnTo>
                <a:lnTo>
                  <a:pt x="1776548" y="365760"/>
                </a:lnTo>
                <a:lnTo>
                  <a:pt x="2599508" y="195943"/>
                </a:lnTo>
                <a:lnTo>
                  <a:pt x="3487782" y="352697"/>
                </a:lnTo>
                <a:lnTo>
                  <a:pt x="4062548" y="143691"/>
                </a:lnTo>
                <a:lnTo>
                  <a:pt x="4689565" y="352697"/>
                </a:lnTo>
                <a:lnTo>
                  <a:pt x="5656217" y="0"/>
                </a:lnTo>
                <a:lnTo>
                  <a:pt x="6635931" y="431074"/>
                </a:lnTo>
                <a:lnTo>
                  <a:pt x="7184571" y="261257"/>
                </a:lnTo>
                <a:lnTo>
                  <a:pt x="7707085" y="391885"/>
                </a:lnTo>
                <a:lnTo>
                  <a:pt x="8190411" y="169817"/>
                </a:lnTo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082042" y="3020743"/>
            <a:ext cx="624695" cy="624988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 14"/>
          <p:cNvSpPr>
            <a:spLocks noChangeArrowheads="1"/>
          </p:cNvSpPr>
          <p:nvPr/>
        </p:nvSpPr>
        <p:spPr bwMode="auto">
          <a:xfrm rot="5644024" flipH="1">
            <a:off x="1597365" y="3556830"/>
            <a:ext cx="135752" cy="362696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" name="Oval 12"/>
          <p:cNvSpPr>
            <a:spLocks noChangeArrowheads="1"/>
          </p:cNvSpPr>
          <p:nvPr/>
        </p:nvSpPr>
        <p:spPr bwMode="auto">
          <a:xfrm rot="1393558" flipH="1">
            <a:off x="935470" y="3148725"/>
            <a:ext cx="618867" cy="1176507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9" name="Rectangle 14"/>
          <p:cNvSpPr>
            <a:spLocks noChangeArrowheads="1"/>
          </p:cNvSpPr>
          <p:nvPr/>
        </p:nvSpPr>
        <p:spPr bwMode="auto">
          <a:xfrm rot="2315698" flipH="1">
            <a:off x="1244896" y="3184855"/>
            <a:ext cx="306115" cy="613152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1" name="Oval 11"/>
          <p:cNvSpPr>
            <a:spLocks noChangeArrowheads="1"/>
          </p:cNvSpPr>
          <p:nvPr/>
        </p:nvSpPr>
        <p:spPr bwMode="auto">
          <a:xfrm rot="872245" flipH="1">
            <a:off x="1637568" y="2733921"/>
            <a:ext cx="407354" cy="602104"/>
          </a:xfrm>
          <a:prstGeom prst="ellipse">
            <a:avLst/>
          </a:prstGeom>
          <a:solidFill>
            <a:srgbClr val="002060"/>
          </a:solidFill>
          <a:ln w="9525" algn="ctr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 rot="6001384" flipH="1">
            <a:off x="1338148" y="3473070"/>
            <a:ext cx="211361" cy="669481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4" name="Rectangle 17"/>
          <p:cNvSpPr>
            <a:spLocks noChangeArrowheads="1"/>
          </p:cNvSpPr>
          <p:nvPr/>
        </p:nvSpPr>
        <p:spPr bwMode="auto">
          <a:xfrm rot="9139379" flipH="1">
            <a:off x="2308519" y="4289731"/>
            <a:ext cx="572604" cy="28697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 rot="335058" flipH="1">
            <a:off x="2392846" y="4435251"/>
            <a:ext cx="180804" cy="190574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7" name="Rectangle 15"/>
          <p:cNvSpPr>
            <a:spLocks noChangeArrowheads="1"/>
          </p:cNvSpPr>
          <p:nvPr/>
        </p:nvSpPr>
        <p:spPr bwMode="auto">
          <a:xfrm rot="16000103" flipH="1">
            <a:off x="1208369" y="3825061"/>
            <a:ext cx="338527" cy="886584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8" name="Rectangle 15"/>
          <p:cNvSpPr>
            <a:spLocks noChangeArrowheads="1"/>
          </p:cNvSpPr>
          <p:nvPr/>
        </p:nvSpPr>
        <p:spPr bwMode="auto">
          <a:xfrm rot="18480649" flipH="1">
            <a:off x="1874289" y="3925757"/>
            <a:ext cx="309077" cy="974826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9" name="Rectangle 13"/>
          <p:cNvSpPr>
            <a:spLocks noChangeArrowheads="1"/>
          </p:cNvSpPr>
          <p:nvPr/>
        </p:nvSpPr>
        <p:spPr bwMode="auto">
          <a:xfrm rot="4229478" flipH="1">
            <a:off x="1636757" y="3817685"/>
            <a:ext cx="290607" cy="214275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0" name="Group 29"/>
          <p:cNvGrpSpPr/>
          <p:nvPr/>
        </p:nvGrpSpPr>
        <p:grpSpPr>
          <a:xfrm flipH="1">
            <a:off x="1394392" y="2547267"/>
            <a:ext cx="740708" cy="767032"/>
            <a:chOff x="6825343" y="1110343"/>
            <a:chExt cx="1937658" cy="2079171"/>
          </a:xfrm>
        </p:grpSpPr>
        <p:sp>
          <p:nvSpPr>
            <p:cNvPr id="31" name="Freeform 30"/>
            <p:cNvSpPr/>
            <p:nvPr/>
          </p:nvSpPr>
          <p:spPr>
            <a:xfrm>
              <a:off x="6901543" y="1110343"/>
              <a:ext cx="1861458" cy="1828800"/>
            </a:xfrm>
            <a:custGeom>
              <a:avLst/>
              <a:gdLst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11086 w 1839686"/>
                <a:gd name="connsiteY5" fmla="*/ 1480457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687286 w 1839686"/>
                <a:gd name="connsiteY5" fmla="*/ 1534885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39686"/>
                <a:gd name="connsiteY0" fmla="*/ 870857 h 1828800"/>
                <a:gd name="connsiteX1" fmla="*/ 849086 w 1839686"/>
                <a:gd name="connsiteY1" fmla="*/ 903514 h 1828800"/>
                <a:gd name="connsiteX2" fmla="*/ 1077686 w 1839686"/>
                <a:gd name="connsiteY2" fmla="*/ 1208314 h 1828800"/>
                <a:gd name="connsiteX3" fmla="*/ 838200 w 1839686"/>
                <a:gd name="connsiteY3" fmla="*/ 1654628 h 1828800"/>
                <a:gd name="connsiteX4" fmla="*/ 1219200 w 1839686"/>
                <a:gd name="connsiteY4" fmla="*/ 1828800 h 1828800"/>
                <a:gd name="connsiteX5" fmla="*/ 1719943 w 1839686"/>
                <a:gd name="connsiteY5" fmla="*/ 1556656 h 1828800"/>
                <a:gd name="connsiteX6" fmla="*/ 1796143 w 1839686"/>
                <a:gd name="connsiteY6" fmla="*/ 1273628 h 1828800"/>
                <a:gd name="connsiteX7" fmla="*/ 1839686 w 1839686"/>
                <a:gd name="connsiteY7" fmla="*/ 859971 h 1828800"/>
                <a:gd name="connsiteX8" fmla="*/ 1730829 w 1839686"/>
                <a:gd name="connsiteY8" fmla="*/ 402771 h 1828800"/>
                <a:gd name="connsiteX9" fmla="*/ 1295400 w 1839686"/>
                <a:gd name="connsiteY9" fmla="*/ 32657 h 1828800"/>
                <a:gd name="connsiteX10" fmla="*/ 816429 w 1839686"/>
                <a:gd name="connsiteY10" fmla="*/ 0 h 1828800"/>
                <a:gd name="connsiteX11" fmla="*/ 337457 w 1839686"/>
                <a:gd name="connsiteY11" fmla="*/ 228600 h 1828800"/>
                <a:gd name="connsiteX12" fmla="*/ 130629 w 1839686"/>
                <a:gd name="connsiteY12" fmla="*/ 609600 h 1828800"/>
                <a:gd name="connsiteX13" fmla="*/ 0 w 1839686"/>
                <a:gd name="connsiteY13" fmla="*/ 870857 h 1828800"/>
                <a:gd name="connsiteX0" fmla="*/ 0 w 1861458"/>
                <a:gd name="connsiteY0" fmla="*/ 870857 h 1828800"/>
                <a:gd name="connsiteX1" fmla="*/ 849086 w 1861458"/>
                <a:gd name="connsiteY1" fmla="*/ 903514 h 1828800"/>
                <a:gd name="connsiteX2" fmla="*/ 1077686 w 1861458"/>
                <a:gd name="connsiteY2" fmla="*/ 1208314 h 1828800"/>
                <a:gd name="connsiteX3" fmla="*/ 838200 w 1861458"/>
                <a:gd name="connsiteY3" fmla="*/ 1654628 h 1828800"/>
                <a:gd name="connsiteX4" fmla="*/ 1219200 w 1861458"/>
                <a:gd name="connsiteY4" fmla="*/ 1828800 h 1828800"/>
                <a:gd name="connsiteX5" fmla="*/ 1719943 w 1861458"/>
                <a:gd name="connsiteY5" fmla="*/ 1556656 h 1828800"/>
                <a:gd name="connsiteX6" fmla="*/ 1861458 w 1861458"/>
                <a:gd name="connsiteY6" fmla="*/ 1436914 h 1828800"/>
                <a:gd name="connsiteX7" fmla="*/ 1839686 w 1861458"/>
                <a:gd name="connsiteY7" fmla="*/ 859971 h 1828800"/>
                <a:gd name="connsiteX8" fmla="*/ 1730829 w 1861458"/>
                <a:gd name="connsiteY8" fmla="*/ 402771 h 1828800"/>
                <a:gd name="connsiteX9" fmla="*/ 1295400 w 1861458"/>
                <a:gd name="connsiteY9" fmla="*/ 32657 h 1828800"/>
                <a:gd name="connsiteX10" fmla="*/ 816429 w 1861458"/>
                <a:gd name="connsiteY10" fmla="*/ 0 h 1828800"/>
                <a:gd name="connsiteX11" fmla="*/ 337457 w 1861458"/>
                <a:gd name="connsiteY11" fmla="*/ 228600 h 1828800"/>
                <a:gd name="connsiteX12" fmla="*/ 130629 w 1861458"/>
                <a:gd name="connsiteY12" fmla="*/ 609600 h 1828800"/>
                <a:gd name="connsiteX13" fmla="*/ 0 w 1861458"/>
                <a:gd name="connsiteY13" fmla="*/ 870857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458" h="1828800">
                  <a:moveTo>
                    <a:pt x="0" y="870857"/>
                  </a:moveTo>
                  <a:lnTo>
                    <a:pt x="849086" y="903514"/>
                  </a:lnTo>
                  <a:lnTo>
                    <a:pt x="1077686" y="1208314"/>
                  </a:lnTo>
                  <a:lnTo>
                    <a:pt x="838200" y="1654628"/>
                  </a:lnTo>
                  <a:lnTo>
                    <a:pt x="1219200" y="1828800"/>
                  </a:lnTo>
                  <a:lnTo>
                    <a:pt x="1719943" y="1556656"/>
                  </a:lnTo>
                  <a:lnTo>
                    <a:pt x="1861458" y="1436914"/>
                  </a:lnTo>
                  <a:lnTo>
                    <a:pt x="1839686" y="859971"/>
                  </a:lnTo>
                  <a:lnTo>
                    <a:pt x="1730829" y="402771"/>
                  </a:lnTo>
                  <a:lnTo>
                    <a:pt x="1295400" y="32657"/>
                  </a:lnTo>
                  <a:lnTo>
                    <a:pt x="816429" y="0"/>
                  </a:lnTo>
                  <a:lnTo>
                    <a:pt x="337457" y="228600"/>
                  </a:lnTo>
                  <a:lnTo>
                    <a:pt x="130629" y="609600"/>
                  </a:lnTo>
                  <a:lnTo>
                    <a:pt x="0" y="870857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890657" y="1981200"/>
              <a:ext cx="936172" cy="174171"/>
            </a:xfrm>
            <a:custGeom>
              <a:avLst/>
              <a:gdLst>
                <a:gd name="connsiteX0" fmla="*/ 97972 w 936172"/>
                <a:gd name="connsiteY0" fmla="*/ 87086 h 174171"/>
                <a:gd name="connsiteX1" fmla="*/ 936172 w 936172"/>
                <a:gd name="connsiteY1" fmla="*/ 174171 h 174171"/>
                <a:gd name="connsiteX2" fmla="*/ 914400 w 936172"/>
                <a:gd name="connsiteY2" fmla="*/ 76200 h 174171"/>
                <a:gd name="connsiteX3" fmla="*/ 87086 w 936172"/>
                <a:gd name="connsiteY3" fmla="*/ 0 h 174171"/>
                <a:gd name="connsiteX4" fmla="*/ 0 w 936172"/>
                <a:gd name="connsiteY4" fmla="*/ 43543 h 17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6172" h="174171">
                  <a:moveTo>
                    <a:pt x="97972" y="87086"/>
                  </a:moveTo>
                  <a:lnTo>
                    <a:pt x="936172" y="174171"/>
                  </a:lnTo>
                  <a:lnTo>
                    <a:pt x="914400" y="76200"/>
                  </a:lnTo>
                  <a:lnTo>
                    <a:pt x="87086" y="0"/>
                  </a:lnTo>
                  <a:lnTo>
                    <a:pt x="0" y="43543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6955971" y="2024743"/>
              <a:ext cx="283029" cy="1153886"/>
            </a:xfrm>
            <a:custGeom>
              <a:avLst/>
              <a:gdLst>
                <a:gd name="connsiteX0" fmla="*/ 0 w 283029"/>
                <a:gd name="connsiteY0" fmla="*/ 43543 h 1153886"/>
                <a:gd name="connsiteX1" fmla="*/ 108858 w 283029"/>
                <a:gd name="connsiteY1" fmla="*/ 598714 h 1153886"/>
                <a:gd name="connsiteX2" fmla="*/ 130629 w 283029"/>
                <a:gd name="connsiteY2" fmla="*/ 979714 h 1153886"/>
                <a:gd name="connsiteX3" fmla="*/ 228600 w 283029"/>
                <a:gd name="connsiteY3" fmla="*/ 1153886 h 1153886"/>
                <a:gd name="connsiteX4" fmla="*/ 283029 w 283029"/>
                <a:gd name="connsiteY4" fmla="*/ 1132114 h 1153886"/>
                <a:gd name="connsiteX5" fmla="*/ 174172 w 283029"/>
                <a:gd name="connsiteY5" fmla="*/ 805543 h 1153886"/>
                <a:gd name="connsiteX6" fmla="*/ 174172 w 283029"/>
                <a:gd name="connsiteY6" fmla="*/ 576943 h 1153886"/>
                <a:gd name="connsiteX7" fmla="*/ 87086 w 283029"/>
                <a:gd name="connsiteY7" fmla="*/ 0 h 1153886"/>
                <a:gd name="connsiteX8" fmla="*/ 0 w 283029"/>
                <a:gd name="connsiteY8" fmla="*/ 43543 h 115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3029" h="1153886">
                  <a:moveTo>
                    <a:pt x="0" y="43543"/>
                  </a:moveTo>
                  <a:lnTo>
                    <a:pt x="108858" y="598714"/>
                  </a:lnTo>
                  <a:lnTo>
                    <a:pt x="130629" y="979714"/>
                  </a:lnTo>
                  <a:lnTo>
                    <a:pt x="228600" y="1153886"/>
                  </a:lnTo>
                  <a:lnTo>
                    <a:pt x="283029" y="1132114"/>
                  </a:lnTo>
                  <a:lnTo>
                    <a:pt x="174172" y="805543"/>
                  </a:lnTo>
                  <a:lnTo>
                    <a:pt x="174172" y="576943"/>
                  </a:lnTo>
                  <a:lnTo>
                    <a:pt x="87086" y="0"/>
                  </a:lnTo>
                  <a:lnTo>
                    <a:pt x="0" y="43543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6825343" y="2438400"/>
              <a:ext cx="1088571" cy="206829"/>
            </a:xfrm>
            <a:custGeom>
              <a:avLst/>
              <a:gdLst>
                <a:gd name="connsiteX0" fmla="*/ 1012371 w 1088571"/>
                <a:gd name="connsiteY0" fmla="*/ 97971 h 206829"/>
                <a:gd name="connsiteX1" fmla="*/ 511628 w 1088571"/>
                <a:gd name="connsiteY1" fmla="*/ 130629 h 206829"/>
                <a:gd name="connsiteX2" fmla="*/ 195943 w 1088571"/>
                <a:gd name="connsiteY2" fmla="*/ 119743 h 206829"/>
                <a:gd name="connsiteX3" fmla="*/ 43543 w 1088571"/>
                <a:gd name="connsiteY3" fmla="*/ 87086 h 206829"/>
                <a:gd name="connsiteX4" fmla="*/ 163286 w 1088571"/>
                <a:gd name="connsiteY4" fmla="*/ 32657 h 206829"/>
                <a:gd name="connsiteX5" fmla="*/ 163286 w 1088571"/>
                <a:gd name="connsiteY5" fmla="*/ 0 h 206829"/>
                <a:gd name="connsiteX6" fmla="*/ 0 w 1088571"/>
                <a:gd name="connsiteY6" fmla="*/ 76200 h 206829"/>
                <a:gd name="connsiteX7" fmla="*/ 0 w 1088571"/>
                <a:gd name="connsiteY7" fmla="*/ 119743 h 206829"/>
                <a:gd name="connsiteX8" fmla="*/ 185057 w 1088571"/>
                <a:gd name="connsiteY8" fmla="*/ 185057 h 206829"/>
                <a:gd name="connsiteX9" fmla="*/ 511628 w 1088571"/>
                <a:gd name="connsiteY9" fmla="*/ 185057 h 206829"/>
                <a:gd name="connsiteX10" fmla="*/ 925286 w 1088571"/>
                <a:gd name="connsiteY10" fmla="*/ 195943 h 206829"/>
                <a:gd name="connsiteX11" fmla="*/ 1088571 w 1088571"/>
                <a:gd name="connsiteY11" fmla="*/ 206829 h 206829"/>
                <a:gd name="connsiteX12" fmla="*/ 1066800 w 1088571"/>
                <a:gd name="connsiteY12" fmla="*/ 152400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8571" h="206829">
                  <a:moveTo>
                    <a:pt x="1012371" y="97971"/>
                  </a:moveTo>
                  <a:lnTo>
                    <a:pt x="511628" y="130629"/>
                  </a:lnTo>
                  <a:lnTo>
                    <a:pt x="195943" y="119743"/>
                  </a:lnTo>
                  <a:lnTo>
                    <a:pt x="43543" y="87086"/>
                  </a:lnTo>
                  <a:lnTo>
                    <a:pt x="163286" y="32657"/>
                  </a:lnTo>
                  <a:lnTo>
                    <a:pt x="163286" y="0"/>
                  </a:lnTo>
                  <a:lnTo>
                    <a:pt x="0" y="76200"/>
                  </a:lnTo>
                  <a:lnTo>
                    <a:pt x="0" y="119743"/>
                  </a:lnTo>
                  <a:lnTo>
                    <a:pt x="185057" y="185057"/>
                  </a:lnTo>
                  <a:lnTo>
                    <a:pt x="511628" y="185057"/>
                  </a:lnTo>
                  <a:lnTo>
                    <a:pt x="925286" y="195943"/>
                  </a:lnTo>
                  <a:lnTo>
                    <a:pt x="1088571" y="206829"/>
                  </a:lnTo>
                  <a:lnTo>
                    <a:pt x="1066800" y="152400"/>
                  </a:lnTo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6825343" y="2514600"/>
              <a:ext cx="195943" cy="631371"/>
            </a:xfrm>
            <a:custGeom>
              <a:avLst/>
              <a:gdLst>
                <a:gd name="connsiteX0" fmla="*/ 10886 w 195943"/>
                <a:gd name="connsiteY0" fmla="*/ 0 h 631371"/>
                <a:gd name="connsiteX1" fmla="*/ 32657 w 195943"/>
                <a:gd name="connsiteY1" fmla="*/ 326571 h 631371"/>
                <a:gd name="connsiteX2" fmla="*/ 195943 w 195943"/>
                <a:gd name="connsiteY2" fmla="*/ 609600 h 631371"/>
                <a:gd name="connsiteX3" fmla="*/ 119743 w 195943"/>
                <a:gd name="connsiteY3" fmla="*/ 631371 h 631371"/>
                <a:gd name="connsiteX4" fmla="*/ 0 w 195943"/>
                <a:gd name="connsiteY4" fmla="*/ 326571 h 631371"/>
                <a:gd name="connsiteX5" fmla="*/ 10886 w 195943"/>
                <a:gd name="connsiteY5" fmla="*/ 0 h 63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943" h="631371">
                  <a:moveTo>
                    <a:pt x="10886" y="0"/>
                  </a:moveTo>
                  <a:lnTo>
                    <a:pt x="32657" y="326571"/>
                  </a:lnTo>
                  <a:lnTo>
                    <a:pt x="195943" y="609600"/>
                  </a:lnTo>
                  <a:lnTo>
                    <a:pt x="119743" y="631371"/>
                  </a:lnTo>
                  <a:lnTo>
                    <a:pt x="0" y="326571"/>
                  </a:lnTo>
                  <a:lnTo>
                    <a:pt x="10886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6977743" y="2645229"/>
              <a:ext cx="1055914" cy="544285"/>
            </a:xfrm>
            <a:custGeom>
              <a:avLst/>
              <a:gdLst>
                <a:gd name="connsiteX0" fmla="*/ 261257 w 1055914"/>
                <a:gd name="connsiteY0" fmla="*/ 54428 h 544285"/>
                <a:gd name="connsiteX1" fmla="*/ 65314 w 1055914"/>
                <a:gd name="connsiteY1" fmla="*/ 402771 h 544285"/>
                <a:gd name="connsiteX2" fmla="*/ 141514 w 1055914"/>
                <a:gd name="connsiteY2" fmla="*/ 457200 h 544285"/>
                <a:gd name="connsiteX3" fmla="*/ 522514 w 1055914"/>
                <a:gd name="connsiteY3" fmla="*/ 446314 h 544285"/>
                <a:gd name="connsiteX4" fmla="*/ 881743 w 1055914"/>
                <a:gd name="connsiteY4" fmla="*/ 315685 h 544285"/>
                <a:gd name="connsiteX5" fmla="*/ 1055914 w 1055914"/>
                <a:gd name="connsiteY5" fmla="*/ 228600 h 544285"/>
                <a:gd name="connsiteX6" fmla="*/ 1055914 w 1055914"/>
                <a:gd name="connsiteY6" fmla="*/ 228600 h 544285"/>
                <a:gd name="connsiteX7" fmla="*/ 674914 w 1055914"/>
                <a:gd name="connsiteY7" fmla="*/ 457200 h 544285"/>
                <a:gd name="connsiteX8" fmla="*/ 315686 w 1055914"/>
                <a:gd name="connsiteY8" fmla="*/ 544285 h 544285"/>
                <a:gd name="connsiteX9" fmla="*/ 32657 w 1055914"/>
                <a:gd name="connsiteY9" fmla="*/ 511628 h 544285"/>
                <a:gd name="connsiteX10" fmla="*/ 0 w 1055914"/>
                <a:gd name="connsiteY10" fmla="*/ 435428 h 544285"/>
                <a:gd name="connsiteX11" fmla="*/ 32657 w 1055914"/>
                <a:gd name="connsiteY11" fmla="*/ 304800 h 544285"/>
                <a:gd name="connsiteX12" fmla="*/ 261257 w 1055914"/>
                <a:gd name="connsiteY12" fmla="*/ 0 h 544285"/>
                <a:gd name="connsiteX13" fmla="*/ 261257 w 1055914"/>
                <a:gd name="connsiteY13" fmla="*/ 54428 h 54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4" h="544285">
                  <a:moveTo>
                    <a:pt x="261257" y="54428"/>
                  </a:moveTo>
                  <a:lnTo>
                    <a:pt x="65314" y="402771"/>
                  </a:lnTo>
                  <a:lnTo>
                    <a:pt x="141514" y="457200"/>
                  </a:lnTo>
                  <a:lnTo>
                    <a:pt x="522514" y="446314"/>
                  </a:lnTo>
                  <a:lnTo>
                    <a:pt x="881743" y="315685"/>
                  </a:lnTo>
                  <a:lnTo>
                    <a:pt x="1055914" y="228600"/>
                  </a:lnTo>
                  <a:lnTo>
                    <a:pt x="1055914" y="228600"/>
                  </a:lnTo>
                  <a:lnTo>
                    <a:pt x="674914" y="457200"/>
                  </a:lnTo>
                  <a:lnTo>
                    <a:pt x="315686" y="544285"/>
                  </a:lnTo>
                  <a:lnTo>
                    <a:pt x="32657" y="511628"/>
                  </a:lnTo>
                  <a:lnTo>
                    <a:pt x="0" y="435428"/>
                  </a:lnTo>
                  <a:lnTo>
                    <a:pt x="32657" y="304800"/>
                  </a:lnTo>
                  <a:lnTo>
                    <a:pt x="261257" y="0"/>
                  </a:lnTo>
                  <a:lnTo>
                    <a:pt x="261257" y="5442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7609114" y="2133600"/>
              <a:ext cx="206829" cy="979714"/>
            </a:xfrm>
            <a:custGeom>
              <a:avLst/>
              <a:gdLst>
                <a:gd name="connsiteX0" fmla="*/ 119743 w 206829"/>
                <a:gd name="connsiteY0" fmla="*/ 10886 h 979714"/>
                <a:gd name="connsiteX1" fmla="*/ 0 w 206829"/>
                <a:gd name="connsiteY1" fmla="*/ 979714 h 979714"/>
                <a:gd name="connsiteX2" fmla="*/ 119743 w 206829"/>
                <a:gd name="connsiteY2" fmla="*/ 936171 h 979714"/>
                <a:gd name="connsiteX3" fmla="*/ 206829 w 206829"/>
                <a:gd name="connsiteY3" fmla="*/ 0 h 979714"/>
                <a:gd name="connsiteX4" fmla="*/ 119743 w 206829"/>
                <a:gd name="connsiteY4" fmla="*/ 10886 h 979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829" h="979714">
                  <a:moveTo>
                    <a:pt x="119743" y="10886"/>
                  </a:moveTo>
                  <a:lnTo>
                    <a:pt x="0" y="979714"/>
                  </a:lnTo>
                  <a:lnTo>
                    <a:pt x="119743" y="936171"/>
                  </a:lnTo>
                  <a:lnTo>
                    <a:pt x="206829" y="0"/>
                  </a:lnTo>
                  <a:lnTo>
                    <a:pt x="119743" y="1088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2" name="Rectangle 51"/>
          <p:cNvSpPr/>
          <p:nvPr/>
        </p:nvSpPr>
        <p:spPr>
          <a:xfrm>
            <a:off x="1867986" y="3892742"/>
            <a:ext cx="45719" cy="28738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rot="20165228">
            <a:off x="7376868" y="1957975"/>
            <a:ext cx="838200" cy="1524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14"/>
          <p:cNvSpPr>
            <a:spLocks noChangeArrowheads="1"/>
          </p:cNvSpPr>
          <p:nvPr/>
        </p:nvSpPr>
        <p:spPr bwMode="auto">
          <a:xfrm rot="13010376">
            <a:off x="7352925" y="1798335"/>
            <a:ext cx="64164" cy="26614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0" name="Oval 12"/>
          <p:cNvSpPr>
            <a:spLocks noChangeArrowheads="1"/>
          </p:cNvSpPr>
          <p:nvPr/>
        </p:nvSpPr>
        <p:spPr bwMode="auto">
          <a:xfrm rot="17454968">
            <a:off x="7457609" y="1496439"/>
            <a:ext cx="257923" cy="546784"/>
          </a:xfrm>
          <a:prstGeom prst="ellipse">
            <a:avLst/>
          </a:prstGeom>
          <a:solidFill>
            <a:srgbClr val="002060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1" name="Rectangle 14"/>
          <p:cNvSpPr>
            <a:spLocks noChangeArrowheads="1"/>
          </p:cNvSpPr>
          <p:nvPr/>
        </p:nvSpPr>
        <p:spPr bwMode="auto">
          <a:xfrm rot="20968349">
            <a:off x="7382587" y="1665074"/>
            <a:ext cx="114403" cy="260471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2" name="Rectangle 17"/>
          <p:cNvSpPr>
            <a:spLocks noChangeArrowheads="1"/>
          </p:cNvSpPr>
          <p:nvPr/>
        </p:nvSpPr>
        <p:spPr bwMode="auto">
          <a:xfrm rot="16955053">
            <a:off x="8086842" y="2184059"/>
            <a:ext cx="214070" cy="94748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3" name="Oval 11"/>
          <p:cNvSpPr>
            <a:spLocks noChangeArrowheads="1"/>
          </p:cNvSpPr>
          <p:nvPr/>
        </p:nvSpPr>
        <p:spPr bwMode="auto">
          <a:xfrm rot="19292983">
            <a:off x="7004280" y="1363935"/>
            <a:ext cx="359459" cy="438048"/>
          </a:xfrm>
          <a:prstGeom prst="ellipse">
            <a:avLst/>
          </a:prstGeom>
          <a:solidFill>
            <a:srgbClr val="002060"/>
          </a:solidFill>
          <a:ln w="9525" algn="ctr">
            <a:solidFill>
              <a:schemeClr val="bg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4" name="Rectangle 43"/>
          <p:cNvSpPr>
            <a:spLocks noChangeArrowheads="1"/>
          </p:cNvSpPr>
          <p:nvPr/>
        </p:nvSpPr>
        <p:spPr bwMode="auto">
          <a:xfrm rot="14163844">
            <a:off x="7325778" y="1842767"/>
            <a:ext cx="88795" cy="263372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6" name="Rectangle 17"/>
          <p:cNvSpPr>
            <a:spLocks noChangeArrowheads="1"/>
          </p:cNvSpPr>
          <p:nvPr/>
        </p:nvSpPr>
        <p:spPr bwMode="auto">
          <a:xfrm rot="15909097">
            <a:off x="7882448" y="2274068"/>
            <a:ext cx="150181" cy="8835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8" name="Rectangle 47"/>
          <p:cNvSpPr>
            <a:spLocks noChangeArrowheads="1"/>
          </p:cNvSpPr>
          <p:nvPr/>
        </p:nvSpPr>
        <p:spPr bwMode="auto">
          <a:xfrm rot="19830170">
            <a:off x="7893175" y="2335304"/>
            <a:ext cx="88949" cy="80957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9" name="Rectangle 15"/>
          <p:cNvSpPr>
            <a:spLocks noChangeArrowheads="1"/>
          </p:cNvSpPr>
          <p:nvPr/>
        </p:nvSpPr>
        <p:spPr bwMode="auto">
          <a:xfrm rot="19534221">
            <a:off x="7796411" y="1831634"/>
            <a:ext cx="124503" cy="328498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0" name="Rectangle 15"/>
          <p:cNvSpPr>
            <a:spLocks noChangeArrowheads="1"/>
          </p:cNvSpPr>
          <p:nvPr/>
        </p:nvSpPr>
        <p:spPr bwMode="auto">
          <a:xfrm rot="17124525">
            <a:off x="8003767" y="1964733"/>
            <a:ext cx="122317" cy="370790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1" name="Rectangle 13"/>
          <p:cNvSpPr>
            <a:spLocks noChangeArrowheads="1"/>
          </p:cNvSpPr>
          <p:nvPr/>
        </p:nvSpPr>
        <p:spPr bwMode="auto">
          <a:xfrm rot="15935750">
            <a:off x="7207769" y="2030691"/>
            <a:ext cx="123452" cy="105415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 rot="20165228">
            <a:off x="7272688" y="2088558"/>
            <a:ext cx="45719" cy="28738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7"/>
          <p:cNvSpPr>
            <a:spLocks noChangeArrowheads="1"/>
          </p:cNvSpPr>
          <p:nvPr/>
        </p:nvSpPr>
        <p:spPr bwMode="auto">
          <a:xfrm rot="7598246" flipH="1">
            <a:off x="2275869" y="4511180"/>
            <a:ext cx="554067" cy="248440"/>
          </a:xfrm>
          <a:prstGeom prst="rect">
            <a:avLst/>
          </a:prstGeom>
          <a:solidFill>
            <a:srgbClr val="00206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451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155BEF07-CDC0-D583-A2CD-F945996207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123.11.1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119B4C3B-AD9A-7B49-6747-98DFD5FE1E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open your freezer (or a door in January in Rexburg), does energy flow out, or does cold flow in?</a:t>
            </a:r>
          </a:p>
          <a:p>
            <a:pPr>
              <a:buFontTx/>
              <a:buAutoNum type="alphaLcParenR"/>
            </a:pPr>
            <a:r>
              <a:rPr lang="en-US" altLang="en-US"/>
              <a:t>Cold in</a:t>
            </a:r>
          </a:p>
          <a:p>
            <a:pPr>
              <a:buFontTx/>
              <a:buAutoNum type="alphaLcParenR"/>
            </a:pPr>
            <a:r>
              <a:rPr lang="en-US" altLang="en-US"/>
              <a:t>Energy out</a:t>
            </a:r>
          </a:p>
          <a:p>
            <a:pPr>
              <a:buFontTx/>
              <a:buAutoNum type="alphaLcParenR"/>
            </a:pPr>
            <a:endParaRPr lang="en-US" altLang="en-US"/>
          </a:p>
        </p:txBody>
      </p:sp>
      <p:sp>
        <p:nvSpPr>
          <p:cNvPr id="17412" name="Slide Number Placeholder 3">
            <a:extLst>
              <a:ext uri="{FF2B5EF4-FFF2-40B4-BE49-F238E27FC236}">
                <a16:creationId xmlns:a16="http://schemas.microsoft.com/office/drawing/2014/main" id="{CE1193BF-B4BC-4F7E-0492-3D5C2EED1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4C8A0D2-1D08-435F-B273-02B8FFF52BA3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D4E13A8E-D608-8128-7C7A-636F57A508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123.11.2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11D9D543-7F73-5294-9BF1-6C3CBF6233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use Joule’s paddle apparatus to raise the temperature of a fluid. Is any heat involved?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0A65819F-0532-4921-22D7-6630A6773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086791C-CC77-4EA5-A1D0-1162175E1386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F178C993-D333-9F24-2578-174237276B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Internal Energy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59" name="Rectangle 3">
                <a:extLst>
                  <a:ext uri="{FF2B5EF4-FFF2-40B4-BE49-F238E27FC236}">
                    <a16:creationId xmlns:a16="http://schemas.microsoft.com/office/drawing/2014/main" id="{0EB46AE5-7C34-59EA-379B-76693E50B1AE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 altLang="en-US" sz="2800" i="1" dirty="0"/>
                  <a:t>Internal Energy</a:t>
                </a:r>
                <a:r>
                  <a:rPr lang="en-US" altLang="en-US" sz="2800" dirty="0"/>
                  <a:t>, </a:t>
                </a:r>
                <a14:m>
                  <m:oMath xmlns:m="http://schemas.openxmlformats.org/officeDocument/2006/math">
                    <m:r>
                      <a:rPr lang="en-US" altLang="en-US" sz="2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en-US" altLang="en-US" sz="2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en-US" sz="2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𝑖𝑛𝑡</m:t>
                        </m:r>
                      </m:sub>
                    </m:sSub>
                  </m:oMath>
                </a14:m>
                <a:r>
                  <a:rPr lang="en-US" altLang="en-US" sz="2800" dirty="0"/>
                  <a:t>, is the energy associated with the microscopic components of the system</a:t>
                </a:r>
              </a:p>
              <a:p>
                <a:pPr lvl="1" eaLnBrk="1" hangingPunct="1"/>
                <a:r>
                  <a:rPr lang="en-US" altLang="en-US" sz="2400" dirty="0"/>
                  <a:t>Includes kinetic and potential energy associated with the random translational, rotational and vibrational motion of the atoms or molecules</a:t>
                </a:r>
              </a:p>
              <a:p>
                <a:pPr lvl="1" eaLnBrk="1" hangingPunct="1"/>
                <a:r>
                  <a:rPr lang="en-US" altLang="en-US" sz="2400" dirty="0"/>
                  <a:t>Also includes any potential energy bonding the particles together</a:t>
                </a:r>
              </a:p>
            </p:txBody>
          </p:sp>
        </mc:Choice>
        <mc:Fallback xmlns="">
          <p:sp>
            <p:nvSpPr>
              <p:cNvPr id="19459" name="Rectangle 3">
                <a:extLst>
                  <a:ext uri="{FF2B5EF4-FFF2-40B4-BE49-F238E27FC236}">
                    <a16:creationId xmlns:a16="http://schemas.microsoft.com/office/drawing/2014/main" id="{0EB46AE5-7C34-59EA-379B-76693E50B1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333" t="-1348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60" name="AutoShape 4">
            <a:extLst>
              <a:ext uri="{FF2B5EF4-FFF2-40B4-BE49-F238E27FC236}">
                <a16:creationId xmlns:a16="http://schemas.microsoft.com/office/drawing/2014/main" id="{2EFDCA9C-2103-BA32-E7F2-7E77FAB0D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3" y="4630738"/>
            <a:ext cx="8172450" cy="116046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800" b="1"/>
              <a:t>internal energy</a:t>
            </a:r>
            <a:r>
              <a:rPr lang="en-US" altLang="en-US" sz="1800"/>
              <a:t> is all the energy of a system that is associated with its microscopic components -- atoms and molecules -- when viewed form a reference frame at rest with respect to the center of mass of the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FEF27F9E-E799-50C1-C09B-DD7A95A7A36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Review Center of Mass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BE32746A-34BC-975D-780B-AB9B0D00E1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283200" cy="4525963"/>
          </a:xfrm>
        </p:spPr>
        <p:txBody>
          <a:bodyPr/>
          <a:lstStyle/>
          <a:p>
            <a:pPr eaLnBrk="1" hangingPunct="1"/>
            <a:r>
              <a:rPr lang="en-US" altLang="en-US" sz="2800"/>
              <a:t>Recall that</a:t>
            </a:r>
          </a:p>
          <a:p>
            <a:pPr eaLnBrk="1" hangingPunct="1"/>
            <a:endParaRPr lang="en-US" altLang="en-US" sz="2800"/>
          </a:p>
          <a:p>
            <a:pPr eaLnBrk="1" hangingPunct="1"/>
            <a:endParaRPr lang="en-US" altLang="en-US" sz="2800"/>
          </a:p>
          <a:p>
            <a:pPr eaLnBrk="1" hangingPunct="1"/>
            <a:r>
              <a:rPr lang="en-US" altLang="en-US" sz="2800"/>
              <a:t>Where</a:t>
            </a:r>
          </a:p>
          <a:p>
            <a:pPr eaLnBrk="1" hangingPunct="1"/>
            <a:endParaRPr lang="en-US" altLang="en-US" sz="2800"/>
          </a:p>
          <a:p>
            <a:pPr eaLnBrk="1" hangingPunct="1"/>
            <a:r>
              <a:rPr lang="en-US" altLang="en-US" sz="2800"/>
              <a:t>For a group of molecules</a:t>
            </a:r>
          </a:p>
        </p:txBody>
      </p:sp>
      <p:sp>
        <p:nvSpPr>
          <p:cNvPr id="20484" name="Rectangle 8">
            <a:extLst>
              <a:ext uri="{FF2B5EF4-FFF2-40B4-BE49-F238E27FC236}">
                <a16:creationId xmlns:a16="http://schemas.microsoft.com/office/drawing/2014/main" id="{A7F9B666-BE9D-EE8D-5B08-76E4819EA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0992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20485" name="Object 7">
            <a:extLst>
              <a:ext uri="{FF2B5EF4-FFF2-40B4-BE49-F238E27FC236}">
                <a16:creationId xmlns:a16="http://schemas.microsoft.com/office/drawing/2014/main" id="{77B5D6CD-DA0B-10B9-F107-23E78BB6896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68488" y="2284413"/>
          <a:ext cx="1314450" cy="573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01309" imgH="393529" progId="Equation.3">
                  <p:embed/>
                </p:oleObj>
              </mc:Choice>
              <mc:Fallback>
                <p:oleObj name="Equation" r:id="rId2" imgW="901309" imgH="393529" progId="Equation.3">
                  <p:embed/>
                  <p:pic>
                    <p:nvPicPr>
                      <p:cNvPr id="20485" name="Object 7">
                        <a:extLst>
                          <a:ext uri="{FF2B5EF4-FFF2-40B4-BE49-F238E27FC236}">
                            <a16:creationId xmlns:a16="http://schemas.microsoft.com/office/drawing/2014/main" id="{77B5D6CD-DA0B-10B9-F107-23E78BB6896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68488" y="2284413"/>
                        <a:ext cx="1314450" cy="573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6" name="Rectangle 10">
            <a:extLst>
              <a:ext uri="{FF2B5EF4-FFF2-40B4-BE49-F238E27FC236}">
                <a16:creationId xmlns:a16="http://schemas.microsoft.com/office/drawing/2014/main" id="{93A11CD1-BC15-671F-21EF-3F69B0F150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20487" name="Object 9">
            <a:extLst>
              <a:ext uri="{FF2B5EF4-FFF2-40B4-BE49-F238E27FC236}">
                <a16:creationId xmlns:a16="http://schemas.microsoft.com/office/drawing/2014/main" id="{56D73FF9-1E1D-BE65-0D5D-78F2899C610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28863" y="3179763"/>
          <a:ext cx="1133475" cy="574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342751" progId="Equation.3">
                  <p:embed/>
                </p:oleObj>
              </mc:Choice>
              <mc:Fallback>
                <p:oleObj name="Equation" r:id="rId4" imgW="672808" imgH="342751" progId="Equation.3">
                  <p:embed/>
                  <p:pic>
                    <p:nvPicPr>
                      <p:cNvPr id="20487" name="Object 9">
                        <a:extLst>
                          <a:ext uri="{FF2B5EF4-FFF2-40B4-BE49-F238E27FC236}">
                            <a16:creationId xmlns:a16="http://schemas.microsoft.com/office/drawing/2014/main" id="{56D73FF9-1E1D-BE65-0D5D-78F2899C610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28863" y="3179763"/>
                        <a:ext cx="1133475" cy="574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8" name="Rectangle 12">
            <a:extLst>
              <a:ext uri="{FF2B5EF4-FFF2-40B4-BE49-F238E27FC236}">
                <a16:creationId xmlns:a16="http://schemas.microsoft.com/office/drawing/2014/main" id="{4CABEF72-059A-42C3-D0B0-6557F24FE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20489" name="Object 11">
            <a:extLst>
              <a:ext uri="{FF2B5EF4-FFF2-40B4-BE49-F238E27FC236}">
                <a16:creationId xmlns:a16="http://schemas.microsoft.com/office/drawing/2014/main" id="{F4C6B2EF-010F-E9B9-10D1-9896F725869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51075" y="4849813"/>
          <a:ext cx="1244600" cy="815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447" imgH="533169" progId="Equation.3">
                  <p:embed/>
                </p:oleObj>
              </mc:Choice>
              <mc:Fallback>
                <p:oleObj name="Equation" r:id="rId6" imgW="812447" imgH="533169" progId="Equation.3">
                  <p:embed/>
                  <p:pic>
                    <p:nvPicPr>
                      <p:cNvPr id="20489" name="Object 11">
                        <a:extLst>
                          <a:ext uri="{FF2B5EF4-FFF2-40B4-BE49-F238E27FC236}">
                            <a16:creationId xmlns:a16="http://schemas.microsoft.com/office/drawing/2014/main" id="{F4C6B2EF-010F-E9B9-10D1-9896F725869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51075" y="4849813"/>
                        <a:ext cx="1244600" cy="815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0490" name="Picture 14" descr="pipe wrench by johnny_automatic - a pipe wrnech">
            <a:extLst>
              <a:ext uri="{FF2B5EF4-FFF2-40B4-BE49-F238E27FC236}">
                <a16:creationId xmlns:a16="http://schemas.microsoft.com/office/drawing/2014/main" id="{7438B7E6-624F-11FD-9DCA-43F417C3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8238" y="3441700"/>
            <a:ext cx="635000" cy="224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0491" name="Straight Connector 2">
            <a:extLst>
              <a:ext uri="{FF2B5EF4-FFF2-40B4-BE49-F238E27FC236}">
                <a16:creationId xmlns:a16="http://schemas.microsoft.com/office/drawing/2014/main" id="{BE847BDE-B131-E657-3689-8CB039AC4A2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896225" y="2511425"/>
            <a:ext cx="0" cy="93027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20492" name="Picture 14" descr="pipe wrench by johnny_automatic - a pipe wrnech">
            <a:extLst>
              <a:ext uri="{FF2B5EF4-FFF2-40B4-BE49-F238E27FC236}">
                <a16:creationId xmlns:a16="http://schemas.microsoft.com/office/drawing/2014/main" id="{25B31E97-DAFF-18E4-B7B0-0CF9A0D0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-7690207">
            <a:off x="5538788" y="3298825"/>
            <a:ext cx="635000" cy="224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0493" name="Straight Connector 16">
            <a:extLst>
              <a:ext uri="{FF2B5EF4-FFF2-40B4-BE49-F238E27FC236}">
                <a16:creationId xmlns:a16="http://schemas.microsoft.com/office/drawing/2014/main" id="{1C3A82CE-1A12-EA89-CCD7-3290D1FB7BC9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348288" y="2511425"/>
            <a:ext cx="0" cy="2043113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494" name="Straight Connector 27">
            <a:extLst>
              <a:ext uri="{FF2B5EF4-FFF2-40B4-BE49-F238E27FC236}">
                <a16:creationId xmlns:a16="http://schemas.microsoft.com/office/drawing/2014/main" id="{9F125D4F-6E19-774D-F64B-AC4A93E7860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896225" y="3413125"/>
            <a:ext cx="14288" cy="2843213"/>
          </a:xfrm>
          <a:prstGeom prst="line">
            <a:avLst/>
          </a:prstGeom>
          <a:noFill/>
          <a:ln w="9525" algn="ctr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495" name="Straight Connector 29">
            <a:extLst>
              <a:ext uri="{FF2B5EF4-FFF2-40B4-BE49-F238E27FC236}">
                <a16:creationId xmlns:a16="http://schemas.microsoft.com/office/drawing/2014/main" id="{A01B5A6D-0892-66E9-8C6B-7C6E55437D2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91075" y="3771900"/>
            <a:ext cx="1987550" cy="1593850"/>
          </a:xfrm>
          <a:prstGeom prst="line">
            <a:avLst/>
          </a:prstGeom>
          <a:noFill/>
          <a:ln w="9525" algn="ctr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496" name="Straight Connector 36">
            <a:extLst>
              <a:ext uri="{FF2B5EF4-FFF2-40B4-BE49-F238E27FC236}">
                <a16:creationId xmlns:a16="http://schemas.microsoft.com/office/drawing/2014/main" id="{BEEFAAAB-E340-E27E-2E95-30A820F22BB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334000" y="4554538"/>
            <a:ext cx="0" cy="1135062"/>
          </a:xfrm>
          <a:prstGeom prst="line">
            <a:avLst/>
          </a:prstGeom>
          <a:noFill/>
          <a:ln w="9525" algn="ctr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030B9A10-DB3B-DF0D-8B40-99B231667A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Energy Transfer</a:t>
            </a: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B43CC5F6-8972-867B-3FF1-4488DB7085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800"/>
              <a:t>When two objects of different temperatures are placed in thermal contact, the temperature of the warmer decreases and the temperature of the cooler increases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The energy exchange ceases when the objects reach thermal equilibrium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The concept of energy was broadened from just mechanical to include internal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00"/>
              <a:t>Made Conservation of Energy a universal law of nature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FEC36966-5AB1-2CCF-7B94-F0D0FE8632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200"/>
              <a:t>Heat Compared to Internal Energy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A140A1A3-6701-367E-E4EA-C0A15F1490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Important to distinguish between them</a:t>
            </a:r>
          </a:p>
          <a:p>
            <a:pPr lvl="1" eaLnBrk="1" hangingPunct="1"/>
            <a:r>
              <a:rPr lang="en-US" altLang="en-US"/>
              <a:t>They are not interchangeable</a:t>
            </a:r>
          </a:p>
          <a:p>
            <a:pPr eaLnBrk="1" hangingPunct="1"/>
            <a:r>
              <a:rPr lang="en-US" altLang="en-US"/>
              <a:t>They mean very different things when used in physics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5237AB01-E9E4-C815-54FC-9C17FB3CB8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Heat</a:t>
            </a: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10FA1B02-95FD-8462-B5E8-09DB3FC294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i="1"/>
              <a:t>Heat</a:t>
            </a:r>
            <a:r>
              <a:rPr lang="en-US" altLang="en-US"/>
              <a:t> is the transfer of energy between a system and its environment because of a temperature difference between them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The symbol Q is used to represent the amount of energy transferred by heat between a system and its environment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63D98BF0-0D8A-5F94-66B8-6D628A851A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Units of Heat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03B76E38-220B-DEB9-3814-C2F6EC945F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924800" cy="4876800"/>
          </a:xfrm>
        </p:spPr>
        <p:txBody>
          <a:bodyPr/>
          <a:lstStyle/>
          <a:p>
            <a:pPr eaLnBrk="1" hangingPunct="1"/>
            <a:r>
              <a:rPr lang="en-US" altLang="en-US"/>
              <a:t>Calorie</a:t>
            </a:r>
          </a:p>
          <a:p>
            <a:pPr lvl="1" eaLnBrk="1" hangingPunct="1"/>
            <a:r>
              <a:rPr lang="en-US" altLang="en-US"/>
              <a:t>An historical unit, before the connection between thermodynamics and mechanics was recognized</a:t>
            </a:r>
          </a:p>
          <a:p>
            <a:pPr lvl="1" eaLnBrk="1" hangingPunct="1"/>
            <a:r>
              <a:rPr lang="en-US" altLang="en-US"/>
              <a:t>A </a:t>
            </a:r>
            <a:r>
              <a:rPr lang="en-US" altLang="en-US" i="1"/>
              <a:t>calorie</a:t>
            </a:r>
            <a:r>
              <a:rPr lang="en-US" altLang="en-US"/>
              <a:t> is the amount of energy necessary to raise the temperature of 1 g of water from 14.5° C to 15.5° C .</a:t>
            </a:r>
          </a:p>
          <a:p>
            <a:pPr lvl="2" eaLnBrk="1" hangingPunct="1"/>
            <a:r>
              <a:rPr lang="en-US" altLang="en-US"/>
              <a:t>A Calorie (food calorie) is 1000 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6F8EA817-6B0E-E585-C898-8B1BA4D4EC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Units of Heat, cont.</a:t>
            </a:r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F2D56038-4143-E6CC-02DA-82A8286371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 Customary Unit – BTU</a:t>
            </a:r>
          </a:p>
          <a:p>
            <a:pPr eaLnBrk="1" hangingPunct="1"/>
            <a:r>
              <a:rPr lang="en-US" altLang="en-US"/>
              <a:t>BTU stands for British Thermal Unit</a:t>
            </a:r>
          </a:p>
          <a:p>
            <a:pPr lvl="1" eaLnBrk="1" hangingPunct="1"/>
            <a:r>
              <a:rPr lang="en-US" altLang="en-US"/>
              <a:t>A </a:t>
            </a:r>
            <a:r>
              <a:rPr lang="en-US" altLang="en-US" i="1"/>
              <a:t>BTU</a:t>
            </a:r>
            <a:r>
              <a:rPr lang="en-US" altLang="en-US"/>
              <a:t> is the amount of energy necessary to raise the temperature of 1 lb of water from 63° F to 64° F </a:t>
            </a:r>
          </a:p>
          <a:p>
            <a:pPr eaLnBrk="1" hangingPunct="1"/>
            <a:r>
              <a:rPr lang="en-US" altLang="en-US"/>
              <a:t>1 cal = 4.186 J</a:t>
            </a:r>
          </a:p>
          <a:p>
            <a:pPr lvl="1" eaLnBrk="1" hangingPunct="1"/>
            <a:r>
              <a:rPr lang="en-US" altLang="en-US"/>
              <a:t>This is called the </a:t>
            </a:r>
            <a:r>
              <a:rPr lang="en-US" altLang="en-US" i="1"/>
              <a:t>Mechanical Equivalent of Heat</a:t>
            </a:r>
            <a:endParaRPr lang="en-US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DA860917-DC2B-8389-52B2-DB68AA26A81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James Prescott Joule</a:t>
            </a:r>
          </a:p>
        </p:txBody>
      </p:sp>
      <p:sp>
        <p:nvSpPr>
          <p:cNvPr id="26627" name="Rectangle 3">
            <a:extLst>
              <a:ext uri="{FF2B5EF4-FFF2-40B4-BE49-F238E27FC236}">
                <a16:creationId xmlns:a16="http://schemas.microsoft.com/office/drawing/2014/main" id="{76760DDE-ACE4-AA50-9FF2-F7EC412A9CD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/>
            <a:r>
              <a:rPr lang="en-US" altLang="en-US" sz="2800"/>
              <a:t>1818 – 1889</a:t>
            </a:r>
          </a:p>
          <a:p>
            <a:pPr eaLnBrk="1" hangingPunct="1"/>
            <a:r>
              <a:rPr lang="en-US" altLang="en-US" sz="2800"/>
              <a:t>British physicist</a:t>
            </a:r>
          </a:p>
          <a:p>
            <a:pPr eaLnBrk="1" hangingPunct="1"/>
            <a:r>
              <a:rPr lang="en-US" altLang="en-US" sz="2800"/>
              <a:t>Conservation of Energy</a:t>
            </a:r>
          </a:p>
          <a:p>
            <a:pPr eaLnBrk="1" hangingPunct="1"/>
            <a:r>
              <a:rPr lang="en-US" altLang="en-US" sz="2800"/>
              <a:t>Relationship between heat and other forms of energy transfer</a:t>
            </a:r>
          </a:p>
          <a:p>
            <a:pPr eaLnBrk="1" hangingPunct="1"/>
            <a:endParaRPr lang="en-US" altLang="en-US" sz="2800"/>
          </a:p>
          <a:p>
            <a:pPr eaLnBrk="1" hangingPunct="1"/>
            <a:endParaRPr lang="en-US" altLang="en-US" sz="2800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DBB37188-CBAC-480A-3E4F-E4135D655AF2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9394" name="Picture 2">
            <a:extLst>
              <a:ext uri="{FF2B5EF4-FFF2-40B4-BE49-F238E27FC236}">
                <a16:creationId xmlns:a16="http://schemas.microsoft.com/office/drawing/2014/main" id="{F3E275AB-0666-0FFE-ED14-A12EB6AC2D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200" y="1418685"/>
            <a:ext cx="4087786" cy="48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>
            <a:extLst>
              <a:ext uri="{FF2B5EF4-FFF2-40B4-BE49-F238E27FC236}">
                <a16:creationId xmlns:a16="http://schemas.microsoft.com/office/drawing/2014/main" id="{DE092298-6131-24F3-0AA1-075A7B0816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8675" name="Picture 2" descr="https://upload.wikimedia.org/wikipedia/commons/a/a4/JouleWater-ChangingApparatus.png">
            <a:extLst>
              <a:ext uri="{FF2B5EF4-FFF2-40B4-BE49-F238E27FC236}">
                <a16:creationId xmlns:a16="http://schemas.microsoft.com/office/drawing/2014/main" id="{24FB7644-6948-7978-8D7F-E405076C5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1417638"/>
            <a:ext cx="5108084" cy="434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7348" name="Picture 4">
            <a:extLst>
              <a:ext uri="{FF2B5EF4-FFF2-40B4-BE49-F238E27FC236}">
                <a16:creationId xmlns:a16="http://schemas.microsoft.com/office/drawing/2014/main" id="{26D77DCD-A8D9-DCFF-B774-2689D6F8C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95" y="1417638"/>
            <a:ext cx="2570109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61" name="Picture 5" descr="Frying pan by rdevri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6885" y="968101"/>
            <a:ext cx="3600903" cy="4354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658" name="Picture 2" descr="Steak by dkdlv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2884715"/>
            <a:ext cx="1705306" cy="1887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7446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828800" y="609600"/>
            <a:ext cx="0" cy="48006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828800" y="5410200"/>
            <a:ext cx="5867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91400" y="5562600"/>
            <a:ext cx="6511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85800"/>
            <a:ext cx="946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sym typeface="Symbol"/>
              </a:rPr>
              <a:t>T</a:t>
            </a:r>
            <a:endParaRPr lang="en-US" sz="5400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3200400" y="1828800"/>
            <a:ext cx="3429000" cy="2133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61" name="Picture 5" descr="Frying pan by rdevri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6885" y="968101"/>
            <a:ext cx="3600903" cy="4354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reeform 4"/>
          <p:cNvSpPr/>
          <p:nvPr/>
        </p:nvSpPr>
        <p:spPr>
          <a:xfrm>
            <a:off x="3592286" y="3690257"/>
            <a:ext cx="838200" cy="674914"/>
          </a:xfrm>
          <a:custGeom>
            <a:avLst/>
            <a:gdLst>
              <a:gd name="connsiteX0" fmla="*/ 0 w 838200"/>
              <a:gd name="connsiteY0" fmla="*/ 0 h 674914"/>
              <a:gd name="connsiteX1" fmla="*/ 108857 w 838200"/>
              <a:gd name="connsiteY1" fmla="*/ 391886 h 674914"/>
              <a:gd name="connsiteX2" fmla="*/ 402771 w 838200"/>
              <a:gd name="connsiteY2" fmla="*/ 642257 h 674914"/>
              <a:gd name="connsiteX3" fmla="*/ 653143 w 838200"/>
              <a:gd name="connsiteY3" fmla="*/ 674914 h 674914"/>
              <a:gd name="connsiteX4" fmla="*/ 827314 w 838200"/>
              <a:gd name="connsiteY4" fmla="*/ 533400 h 674914"/>
              <a:gd name="connsiteX5" fmla="*/ 838200 w 838200"/>
              <a:gd name="connsiteY5" fmla="*/ 359229 h 674914"/>
              <a:gd name="connsiteX6" fmla="*/ 816428 w 838200"/>
              <a:gd name="connsiteY6" fmla="*/ 261257 h 674914"/>
              <a:gd name="connsiteX7" fmla="*/ 794657 w 838200"/>
              <a:gd name="connsiteY7" fmla="*/ 65314 h 674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38200" h="674914">
                <a:moveTo>
                  <a:pt x="0" y="0"/>
                </a:moveTo>
                <a:lnTo>
                  <a:pt x="108857" y="391886"/>
                </a:lnTo>
                <a:lnTo>
                  <a:pt x="402771" y="642257"/>
                </a:lnTo>
                <a:lnTo>
                  <a:pt x="653143" y="674914"/>
                </a:lnTo>
                <a:lnTo>
                  <a:pt x="827314" y="533400"/>
                </a:lnTo>
                <a:lnTo>
                  <a:pt x="838200" y="359229"/>
                </a:lnTo>
                <a:lnTo>
                  <a:pt x="816428" y="261257"/>
                </a:lnTo>
                <a:lnTo>
                  <a:pt x="794657" y="65314"/>
                </a:lnTo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3581401" y="3298372"/>
            <a:ext cx="816428" cy="990600"/>
          </a:xfrm>
          <a:custGeom>
            <a:avLst/>
            <a:gdLst>
              <a:gd name="connsiteX0" fmla="*/ 76200 w 816428"/>
              <a:gd name="connsiteY0" fmla="*/ 119742 h 990600"/>
              <a:gd name="connsiteX1" fmla="*/ 0 w 816428"/>
              <a:gd name="connsiteY1" fmla="*/ 359228 h 990600"/>
              <a:gd name="connsiteX2" fmla="*/ 217714 w 816428"/>
              <a:gd name="connsiteY2" fmla="*/ 783771 h 990600"/>
              <a:gd name="connsiteX3" fmla="*/ 598714 w 816428"/>
              <a:gd name="connsiteY3" fmla="*/ 990600 h 990600"/>
              <a:gd name="connsiteX4" fmla="*/ 794657 w 816428"/>
              <a:gd name="connsiteY4" fmla="*/ 838200 h 990600"/>
              <a:gd name="connsiteX5" fmla="*/ 794657 w 816428"/>
              <a:gd name="connsiteY5" fmla="*/ 653142 h 990600"/>
              <a:gd name="connsiteX6" fmla="*/ 816428 w 816428"/>
              <a:gd name="connsiteY6" fmla="*/ 424542 h 990600"/>
              <a:gd name="connsiteX7" fmla="*/ 674914 w 816428"/>
              <a:gd name="connsiteY7" fmla="*/ 370114 h 990600"/>
              <a:gd name="connsiteX8" fmla="*/ 402771 w 816428"/>
              <a:gd name="connsiteY8" fmla="*/ 326571 h 990600"/>
              <a:gd name="connsiteX9" fmla="*/ 217714 w 816428"/>
              <a:gd name="connsiteY9" fmla="*/ 195942 h 990600"/>
              <a:gd name="connsiteX10" fmla="*/ 152400 w 816428"/>
              <a:gd name="connsiteY10" fmla="*/ 0 h 990600"/>
              <a:gd name="connsiteX11" fmla="*/ 97971 w 816428"/>
              <a:gd name="connsiteY11" fmla="*/ 0 h 99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6428" h="990600">
                <a:moveTo>
                  <a:pt x="76200" y="119742"/>
                </a:moveTo>
                <a:lnTo>
                  <a:pt x="0" y="359228"/>
                </a:lnTo>
                <a:lnTo>
                  <a:pt x="217714" y="783771"/>
                </a:lnTo>
                <a:lnTo>
                  <a:pt x="598714" y="990600"/>
                </a:lnTo>
                <a:lnTo>
                  <a:pt x="794657" y="838200"/>
                </a:lnTo>
                <a:lnTo>
                  <a:pt x="794657" y="653142"/>
                </a:lnTo>
                <a:lnTo>
                  <a:pt x="816428" y="424542"/>
                </a:lnTo>
                <a:lnTo>
                  <a:pt x="674914" y="370114"/>
                </a:lnTo>
                <a:lnTo>
                  <a:pt x="402771" y="326571"/>
                </a:lnTo>
                <a:lnTo>
                  <a:pt x="217714" y="195942"/>
                </a:lnTo>
                <a:lnTo>
                  <a:pt x="152400" y="0"/>
                </a:lnTo>
                <a:lnTo>
                  <a:pt x="97971" y="0"/>
                </a:lnTo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458493" y="870511"/>
            <a:ext cx="6159706" cy="3169621"/>
          </a:xfrm>
          <a:custGeom>
            <a:avLst/>
            <a:gdLst>
              <a:gd name="connsiteX0" fmla="*/ 1816622 w 6159706"/>
              <a:gd name="connsiteY0" fmla="*/ 130975 h 3169621"/>
              <a:gd name="connsiteX1" fmla="*/ 3057593 w 6159706"/>
              <a:gd name="connsiteY1" fmla="*/ 33004 h 3169621"/>
              <a:gd name="connsiteX2" fmla="*/ 3699851 w 6159706"/>
              <a:gd name="connsiteY2" fmla="*/ 120090 h 3169621"/>
              <a:gd name="connsiteX3" fmla="*/ 4450965 w 6159706"/>
              <a:gd name="connsiteY3" fmla="*/ 347 h 3169621"/>
              <a:gd name="connsiteX4" fmla="*/ 5158536 w 6159706"/>
              <a:gd name="connsiteY4" fmla="*/ 87432 h 3169621"/>
              <a:gd name="connsiteX5" fmla="*/ 5735479 w 6159706"/>
              <a:gd name="connsiteY5" fmla="*/ 196290 h 3169621"/>
              <a:gd name="connsiteX6" fmla="*/ 5953193 w 6159706"/>
              <a:gd name="connsiteY6" fmla="*/ 479318 h 3169621"/>
              <a:gd name="connsiteX7" fmla="*/ 6149136 w 6159706"/>
              <a:gd name="connsiteY7" fmla="*/ 653490 h 3169621"/>
              <a:gd name="connsiteX8" fmla="*/ 5615736 w 6159706"/>
              <a:gd name="connsiteY8" fmla="*/ 784118 h 3169621"/>
              <a:gd name="connsiteX9" fmla="*/ 4853736 w 6159706"/>
              <a:gd name="connsiteY9" fmla="*/ 675261 h 3169621"/>
              <a:gd name="connsiteX10" fmla="*/ 4363879 w 6159706"/>
              <a:gd name="connsiteY10" fmla="*/ 860318 h 3169621"/>
              <a:gd name="connsiteX11" fmla="*/ 3906679 w 6159706"/>
              <a:gd name="connsiteY11" fmla="*/ 914747 h 3169621"/>
              <a:gd name="connsiteX12" fmla="*/ 3917565 w 6159706"/>
              <a:gd name="connsiteY12" fmla="*/ 1078032 h 3169621"/>
              <a:gd name="connsiteX13" fmla="*/ 4102622 w 6159706"/>
              <a:gd name="connsiteY13" fmla="*/ 1176004 h 3169621"/>
              <a:gd name="connsiteX14" fmla="*/ 4015536 w 6159706"/>
              <a:gd name="connsiteY14" fmla="*/ 1284861 h 3169621"/>
              <a:gd name="connsiteX15" fmla="*/ 4211479 w 6159706"/>
              <a:gd name="connsiteY15" fmla="*/ 1480804 h 3169621"/>
              <a:gd name="connsiteX16" fmla="*/ 4026422 w 6159706"/>
              <a:gd name="connsiteY16" fmla="*/ 1644090 h 3169621"/>
              <a:gd name="connsiteX17" fmla="*/ 4004651 w 6159706"/>
              <a:gd name="connsiteY17" fmla="*/ 1992432 h 3169621"/>
              <a:gd name="connsiteX18" fmla="*/ 3808708 w 6159706"/>
              <a:gd name="connsiteY18" fmla="*/ 2144832 h 3169621"/>
              <a:gd name="connsiteX19" fmla="*/ 3993765 w 6159706"/>
              <a:gd name="connsiteY19" fmla="*/ 2286347 h 3169621"/>
              <a:gd name="connsiteX20" fmla="*/ 3906679 w 6159706"/>
              <a:gd name="connsiteY20" fmla="*/ 2449632 h 3169621"/>
              <a:gd name="connsiteX21" fmla="*/ 3928451 w 6159706"/>
              <a:gd name="connsiteY21" fmla="*/ 2645575 h 3169621"/>
              <a:gd name="connsiteX22" fmla="*/ 3765165 w 6159706"/>
              <a:gd name="connsiteY22" fmla="*/ 2852404 h 3169621"/>
              <a:gd name="connsiteX23" fmla="*/ 3765165 w 6159706"/>
              <a:gd name="connsiteY23" fmla="*/ 3059232 h 3169621"/>
              <a:gd name="connsiteX24" fmla="*/ 3580108 w 6159706"/>
              <a:gd name="connsiteY24" fmla="*/ 3168090 h 3169621"/>
              <a:gd name="connsiteX25" fmla="*/ 3297079 w 6159706"/>
              <a:gd name="connsiteY25" fmla="*/ 2983032 h 3169621"/>
              <a:gd name="connsiteX26" fmla="*/ 3373279 w 6159706"/>
              <a:gd name="connsiteY26" fmla="*/ 2852404 h 3169621"/>
              <a:gd name="connsiteX27" fmla="*/ 3155565 w 6159706"/>
              <a:gd name="connsiteY27" fmla="*/ 2710890 h 3169621"/>
              <a:gd name="connsiteX28" fmla="*/ 3209993 w 6159706"/>
              <a:gd name="connsiteY28" fmla="*/ 2558490 h 3169621"/>
              <a:gd name="connsiteX29" fmla="*/ 2992279 w 6159706"/>
              <a:gd name="connsiteY29" fmla="*/ 2275461 h 3169621"/>
              <a:gd name="connsiteX30" fmla="*/ 3155565 w 6159706"/>
              <a:gd name="connsiteY30" fmla="*/ 2144832 h 3169621"/>
              <a:gd name="connsiteX31" fmla="*/ 2774565 w 6159706"/>
              <a:gd name="connsiteY31" fmla="*/ 1970661 h 3169621"/>
              <a:gd name="connsiteX32" fmla="*/ 2469765 w 6159706"/>
              <a:gd name="connsiteY32" fmla="*/ 1818261 h 3169621"/>
              <a:gd name="connsiteX33" fmla="*/ 2709251 w 6159706"/>
              <a:gd name="connsiteY33" fmla="*/ 1633204 h 3169621"/>
              <a:gd name="connsiteX34" fmla="*/ 2643936 w 6159706"/>
              <a:gd name="connsiteY34" fmla="*/ 1426375 h 3169621"/>
              <a:gd name="connsiteX35" fmla="*/ 2828993 w 6159706"/>
              <a:gd name="connsiteY35" fmla="*/ 1295747 h 3169621"/>
              <a:gd name="connsiteX36" fmla="*/ 2633051 w 6159706"/>
              <a:gd name="connsiteY36" fmla="*/ 1132461 h 3169621"/>
              <a:gd name="connsiteX37" fmla="*/ 2132308 w 6159706"/>
              <a:gd name="connsiteY37" fmla="*/ 1132461 h 3169621"/>
              <a:gd name="connsiteX38" fmla="*/ 1174365 w 6159706"/>
              <a:gd name="connsiteY38" fmla="*/ 882090 h 3169621"/>
              <a:gd name="connsiteX39" fmla="*/ 357936 w 6159706"/>
              <a:gd name="connsiteY39" fmla="*/ 1034490 h 3169621"/>
              <a:gd name="connsiteX40" fmla="*/ 140222 w 6159706"/>
              <a:gd name="connsiteY40" fmla="*/ 740575 h 3169621"/>
              <a:gd name="connsiteX41" fmla="*/ 31365 w 6159706"/>
              <a:gd name="connsiteY41" fmla="*/ 555518 h 3169621"/>
              <a:gd name="connsiteX42" fmla="*/ 717165 w 6159706"/>
              <a:gd name="connsiteY42" fmla="*/ 392232 h 3169621"/>
              <a:gd name="connsiteX43" fmla="*/ 1272336 w 6159706"/>
              <a:gd name="connsiteY43" fmla="*/ 185404 h 3169621"/>
              <a:gd name="connsiteX44" fmla="*/ 1685993 w 6159706"/>
              <a:gd name="connsiteY44" fmla="*/ 326918 h 3169621"/>
              <a:gd name="connsiteX45" fmla="*/ 1871051 w 6159706"/>
              <a:gd name="connsiteY45" fmla="*/ 120090 h 31696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6159706" h="3169621">
                <a:moveTo>
                  <a:pt x="1816622" y="130975"/>
                </a:moveTo>
                <a:cubicBezTo>
                  <a:pt x="2280172" y="82896"/>
                  <a:pt x="2743722" y="34818"/>
                  <a:pt x="3057593" y="33004"/>
                </a:cubicBezTo>
                <a:cubicBezTo>
                  <a:pt x="3371464" y="31190"/>
                  <a:pt x="3467622" y="125533"/>
                  <a:pt x="3699851" y="120090"/>
                </a:cubicBezTo>
                <a:cubicBezTo>
                  <a:pt x="3932080" y="114647"/>
                  <a:pt x="4207851" y="5790"/>
                  <a:pt x="4450965" y="347"/>
                </a:cubicBezTo>
                <a:cubicBezTo>
                  <a:pt x="4694079" y="-5096"/>
                  <a:pt x="4944450" y="54775"/>
                  <a:pt x="5158536" y="87432"/>
                </a:cubicBezTo>
                <a:cubicBezTo>
                  <a:pt x="5372622" y="120089"/>
                  <a:pt x="5603036" y="130976"/>
                  <a:pt x="5735479" y="196290"/>
                </a:cubicBezTo>
                <a:cubicBezTo>
                  <a:pt x="5867922" y="261604"/>
                  <a:pt x="5884250" y="403118"/>
                  <a:pt x="5953193" y="479318"/>
                </a:cubicBezTo>
                <a:cubicBezTo>
                  <a:pt x="6022136" y="555518"/>
                  <a:pt x="6205379" y="602690"/>
                  <a:pt x="6149136" y="653490"/>
                </a:cubicBezTo>
                <a:cubicBezTo>
                  <a:pt x="6092893" y="704290"/>
                  <a:pt x="5831636" y="780490"/>
                  <a:pt x="5615736" y="784118"/>
                </a:cubicBezTo>
                <a:cubicBezTo>
                  <a:pt x="5399836" y="787746"/>
                  <a:pt x="5062379" y="662561"/>
                  <a:pt x="4853736" y="675261"/>
                </a:cubicBezTo>
                <a:cubicBezTo>
                  <a:pt x="4645093" y="687961"/>
                  <a:pt x="4521722" y="820404"/>
                  <a:pt x="4363879" y="860318"/>
                </a:cubicBezTo>
                <a:cubicBezTo>
                  <a:pt x="4206036" y="900232"/>
                  <a:pt x="3981065" y="878461"/>
                  <a:pt x="3906679" y="914747"/>
                </a:cubicBezTo>
                <a:cubicBezTo>
                  <a:pt x="3832293" y="951033"/>
                  <a:pt x="3884908" y="1034489"/>
                  <a:pt x="3917565" y="1078032"/>
                </a:cubicBezTo>
                <a:cubicBezTo>
                  <a:pt x="3950222" y="1121575"/>
                  <a:pt x="4086294" y="1141533"/>
                  <a:pt x="4102622" y="1176004"/>
                </a:cubicBezTo>
                <a:cubicBezTo>
                  <a:pt x="4118950" y="1210475"/>
                  <a:pt x="3997393" y="1234061"/>
                  <a:pt x="4015536" y="1284861"/>
                </a:cubicBezTo>
                <a:cubicBezTo>
                  <a:pt x="4033679" y="1335661"/>
                  <a:pt x="4209665" y="1420933"/>
                  <a:pt x="4211479" y="1480804"/>
                </a:cubicBezTo>
                <a:cubicBezTo>
                  <a:pt x="4213293" y="1540675"/>
                  <a:pt x="4060893" y="1558819"/>
                  <a:pt x="4026422" y="1644090"/>
                </a:cubicBezTo>
                <a:cubicBezTo>
                  <a:pt x="3991951" y="1729361"/>
                  <a:pt x="4040937" y="1908975"/>
                  <a:pt x="4004651" y="1992432"/>
                </a:cubicBezTo>
                <a:cubicBezTo>
                  <a:pt x="3968365" y="2075889"/>
                  <a:pt x="3810522" y="2095846"/>
                  <a:pt x="3808708" y="2144832"/>
                </a:cubicBezTo>
                <a:cubicBezTo>
                  <a:pt x="3806894" y="2193818"/>
                  <a:pt x="3977437" y="2235547"/>
                  <a:pt x="3993765" y="2286347"/>
                </a:cubicBezTo>
                <a:cubicBezTo>
                  <a:pt x="4010094" y="2337147"/>
                  <a:pt x="3917565" y="2389761"/>
                  <a:pt x="3906679" y="2449632"/>
                </a:cubicBezTo>
                <a:cubicBezTo>
                  <a:pt x="3895793" y="2509503"/>
                  <a:pt x="3952037" y="2578446"/>
                  <a:pt x="3928451" y="2645575"/>
                </a:cubicBezTo>
                <a:cubicBezTo>
                  <a:pt x="3904865" y="2712704"/>
                  <a:pt x="3792379" y="2783461"/>
                  <a:pt x="3765165" y="2852404"/>
                </a:cubicBezTo>
                <a:cubicBezTo>
                  <a:pt x="3737951" y="2921347"/>
                  <a:pt x="3796008" y="3006618"/>
                  <a:pt x="3765165" y="3059232"/>
                </a:cubicBezTo>
                <a:cubicBezTo>
                  <a:pt x="3734322" y="3111846"/>
                  <a:pt x="3658122" y="3180790"/>
                  <a:pt x="3580108" y="3168090"/>
                </a:cubicBezTo>
                <a:cubicBezTo>
                  <a:pt x="3502094" y="3155390"/>
                  <a:pt x="3331551" y="3035646"/>
                  <a:pt x="3297079" y="2983032"/>
                </a:cubicBezTo>
                <a:cubicBezTo>
                  <a:pt x="3262608" y="2930418"/>
                  <a:pt x="3396865" y="2897761"/>
                  <a:pt x="3373279" y="2852404"/>
                </a:cubicBezTo>
                <a:cubicBezTo>
                  <a:pt x="3349693" y="2807047"/>
                  <a:pt x="3182779" y="2759875"/>
                  <a:pt x="3155565" y="2710890"/>
                </a:cubicBezTo>
                <a:cubicBezTo>
                  <a:pt x="3128351" y="2661905"/>
                  <a:pt x="3237207" y="2631062"/>
                  <a:pt x="3209993" y="2558490"/>
                </a:cubicBezTo>
                <a:cubicBezTo>
                  <a:pt x="3182779" y="2485919"/>
                  <a:pt x="3001350" y="2344404"/>
                  <a:pt x="2992279" y="2275461"/>
                </a:cubicBezTo>
                <a:cubicBezTo>
                  <a:pt x="2983208" y="2206518"/>
                  <a:pt x="3191851" y="2195632"/>
                  <a:pt x="3155565" y="2144832"/>
                </a:cubicBezTo>
                <a:cubicBezTo>
                  <a:pt x="3119279" y="2094032"/>
                  <a:pt x="2888865" y="2025089"/>
                  <a:pt x="2774565" y="1970661"/>
                </a:cubicBezTo>
                <a:cubicBezTo>
                  <a:pt x="2660265" y="1916233"/>
                  <a:pt x="2480651" y="1874504"/>
                  <a:pt x="2469765" y="1818261"/>
                </a:cubicBezTo>
                <a:cubicBezTo>
                  <a:pt x="2458879" y="1762018"/>
                  <a:pt x="2680223" y="1698518"/>
                  <a:pt x="2709251" y="1633204"/>
                </a:cubicBezTo>
                <a:cubicBezTo>
                  <a:pt x="2738279" y="1567890"/>
                  <a:pt x="2623979" y="1482618"/>
                  <a:pt x="2643936" y="1426375"/>
                </a:cubicBezTo>
                <a:cubicBezTo>
                  <a:pt x="2663893" y="1370132"/>
                  <a:pt x="2830807" y="1344733"/>
                  <a:pt x="2828993" y="1295747"/>
                </a:cubicBezTo>
                <a:cubicBezTo>
                  <a:pt x="2827179" y="1246761"/>
                  <a:pt x="2749165" y="1159675"/>
                  <a:pt x="2633051" y="1132461"/>
                </a:cubicBezTo>
                <a:cubicBezTo>
                  <a:pt x="2516937" y="1105247"/>
                  <a:pt x="2375422" y="1174189"/>
                  <a:pt x="2132308" y="1132461"/>
                </a:cubicBezTo>
                <a:cubicBezTo>
                  <a:pt x="1889194" y="1090733"/>
                  <a:pt x="1470094" y="898419"/>
                  <a:pt x="1174365" y="882090"/>
                </a:cubicBezTo>
                <a:cubicBezTo>
                  <a:pt x="878636" y="865762"/>
                  <a:pt x="530293" y="1058076"/>
                  <a:pt x="357936" y="1034490"/>
                </a:cubicBezTo>
                <a:cubicBezTo>
                  <a:pt x="185579" y="1010904"/>
                  <a:pt x="194651" y="820404"/>
                  <a:pt x="140222" y="740575"/>
                </a:cubicBezTo>
                <a:cubicBezTo>
                  <a:pt x="85793" y="660746"/>
                  <a:pt x="-64792" y="613575"/>
                  <a:pt x="31365" y="555518"/>
                </a:cubicBezTo>
                <a:cubicBezTo>
                  <a:pt x="127522" y="497461"/>
                  <a:pt x="510336" y="453918"/>
                  <a:pt x="717165" y="392232"/>
                </a:cubicBezTo>
                <a:cubicBezTo>
                  <a:pt x="923994" y="330546"/>
                  <a:pt x="1110865" y="196290"/>
                  <a:pt x="1272336" y="185404"/>
                </a:cubicBezTo>
                <a:cubicBezTo>
                  <a:pt x="1433807" y="174518"/>
                  <a:pt x="1586207" y="337804"/>
                  <a:pt x="1685993" y="326918"/>
                </a:cubicBezTo>
                <a:cubicBezTo>
                  <a:pt x="1785779" y="316032"/>
                  <a:pt x="1749494" y="81990"/>
                  <a:pt x="1871051" y="120090"/>
                </a:cubicBezTo>
              </a:path>
            </a:pathLst>
          </a:custGeom>
          <a:solidFill>
            <a:schemeClr val="bg1">
              <a:lumMod val="65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935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Specific Heat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Every substance requires a unique amount of energy per unit mass to change the temperature of that substance by 1° C</a:t>
            </a:r>
          </a:p>
          <a:p>
            <a:pPr eaLnBrk="1" hangingPunct="1"/>
            <a:r>
              <a:rPr lang="en-US"/>
              <a:t>The </a:t>
            </a:r>
            <a:r>
              <a:rPr lang="en-US" i="1"/>
              <a:t>specific heat, c,</a:t>
            </a:r>
            <a:r>
              <a:rPr lang="en-US"/>
              <a:t> of a substance is a measure of this amount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</p:txBody>
      </p:sp>
      <p:graphicFrame>
        <p:nvGraphicFramePr>
          <p:cNvPr id="2050" name="Object 4"/>
          <p:cNvGraphicFramePr>
            <a:graphicFrameLocks noChangeAspect="1"/>
          </p:cNvGraphicFramePr>
          <p:nvPr/>
        </p:nvGraphicFramePr>
        <p:xfrm>
          <a:off x="3762375" y="4524375"/>
          <a:ext cx="1905000" cy="1209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419040" progId="Equation.3">
                  <p:embed/>
                </p:oleObj>
              </mc:Choice>
              <mc:Fallback>
                <p:oleObj name="Equation" r:id="rId2" imgW="660240" imgH="419040" progId="Equation.3">
                  <p:embed/>
                  <p:pic>
                    <p:nvPicPr>
                      <p:cNvPr id="205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62375" y="4524375"/>
                        <a:ext cx="1905000" cy="1209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E4CFCD85-64B6-7327-BA64-B2944374EB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Specific Heat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753421F4-C748-1578-71A1-6AAD999659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Every substance requires a unique amount of energy per unit mass to change the temperature of that substance by 1° C</a:t>
            </a:r>
          </a:p>
          <a:p>
            <a:pPr eaLnBrk="1" hangingPunct="1"/>
            <a:r>
              <a:rPr lang="en-US" altLang="en-US"/>
              <a:t>The </a:t>
            </a:r>
            <a:r>
              <a:rPr lang="en-US" altLang="en-US" i="1"/>
              <a:t>specific heat, c,</a:t>
            </a:r>
            <a:r>
              <a:rPr lang="en-US" altLang="en-US"/>
              <a:t> of a substance is a measure of this amount</a:t>
            </a:r>
          </a:p>
          <a:p>
            <a:pPr eaLnBrk="1" hangingPunct="1"/>
            <a:endParaRPr lang="en-US" altLang="en-US"/>
          </a:p>
          <a:p>
            <a:pPr eaLnBrk="1" hangingPunct="1"/>
            <a:endParaRPr lang="en-US" altLang="en-US"/>
          </a:p>
        </p:txBody>
      </p:sp>
      <p:graphicFrame>
        <p:nvGraphicFramePr>
          <p:cNvPr id="37892" name="Object 4">
            <a:extLst>
              <a:ext uri="{FF2B5EF4-FFF2-40B4-BE49-F238E27FC236}">
                <a16:creationId xmlns:a16="http://schemas.microsoft.com/office/drawing/2014/main" id="{1334F9E4-7F86-18E5-0674-64547D0D2C1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62375" y="4524375"/>
          <a:ext cx="1905000" cy="1209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24769" imgH="388454" progId="Equation.3">
                  <p:embed/>
                </p:oleObj>
              </mc:Choice>
              <mc:Fallback>
                <p:oleObj name="Equation" r:id="rId2" imgW="624769" imgH="388454" progId="Equation.3">
                  <p:embed/>
                  <p:pic>
                    <p:nvPicPr>
                      <p:cNvPr id="37892" name="Object 4">
                        <a:extLst>
                          <a:ext uri="{FF2B5EF4-FFF2-40B4-BE49-F238E27FC236}">
                            <a16:creationId xmlns:a16="http://schemas.microsoft.com/office/drawing/2014/main" id="{1334F9E4-7F86-18E5-0674-64547D0D2C1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62375" y="4524375"/>
                        <a:ext cx="1905000" cy="1209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6561" name="Object 1"/>
          <p:cNvGraphicFramePr>
            <a:graphicFrameLocks noChangeAspect="1"/>
          </p:cNvGraphicFramePr>
          <p:nvPr/>
        </p:nvGraphicFramePr>
        <p:xfrm>
          <a:off x="1610463" y="0"/>
          <a:ext cx="6100549" cy="6878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66900" imgH="2108200" progId="Equation.3">
                  <p:embed/>
                </p:oleObj>
              </mc:Choice>
              <mc:Fallback>
                <p:oleObj name="Equation" r:id="rId2" imgW="1866900" imgH="2108200" progId="Equation.3">
                  <p:embed/>
                  <p:pic>
                    <p:nvPicPr>
                      <p:cNvPr id="66561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0463" y="0"/>
                        <a:ext cx="6100549" cy="687868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84DAF17A-F799-0926-4B12-81CEB3280E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Units of Specific Heat</a:t>
            </a:r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4E7631EA-8834-E0C8-9250-C5CB580BFA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SI units</a:t>
            </a:r>
          </a:p>
          <a:p>
            <a:pPr lvl="1" eaLnBrk="1" hangingPunct="1"/>
            <a:r>
              <a:rPr lang="en-US" altLang="en-US"/>
              <a:t>J / kg °C</a:t>
            </a:r>
          </a:p>
          <a:p>
            <a:pPr eaLnBrk="1" hangingPunct="1"/>
            <a:r>
              <a:rPr lang="en-US" altLang="en-US"/>
              <a:t>Historical units</a:t>
            </a:r>
          </a:p>
          <a:p>
            <a:pPr lvl="1" eaLnBrk="1" hangingPunct="1"/>
            <a:r>
              <a:rPr lang="en-US" altLang="en-US"/>
              <a:t>cal / g °C</a:t>
            </a:r>
          </a:p>
          <a:p>
            <a:pPr lvl="1" eaLnBrk="1" hangingPunct="1"/>
            <a:endParaRPr lang="en-US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6D047689-1E60-B426-E57C-0031F56AAF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Heat and Specific Heat</a:t>
            </a:r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5DE0CCF4-3A1D-44BE-3813-E1048BC437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4572000"/>
          </a:xfrm>
        </p:spPr>
        <p:txBody>
          <a:bodyPr/>
          <a:lstStyle/>
          <a:p>
            <a:pPr eaLnBrk="1" hangingPunct="1"/>
            <a:r>
              <a:rPr lang="en-US" altLang="en-US" sz="2800"/>
              <a:t>Q = m c ΔT</a:t>
            </a:r>
          </a:p>
          <a:p>
            <a:pPr eaLnBrk="1" hangingPunct="1"/>
            <a:r>
              <a:rPr lang="en-US" altLang="en-US" sz="2800"/>
              <a:t>ΔT is always the final temperature minus the initial temperature</a:t>
            </a:r>
          </a:p>
          <a:p>
            <a:pPr eaLnBrk="1" hangingPunct="1"/>
            <a:r>
              <a:rPr lang="en-US" altLang="en-US" sz="2800"/>
              <a:t>When the temperature increases, ΔT and ΔQ are considered to be positive and energy flows into the system</a:t>
            </a:r>
          </a:p>
          <a:p>
            <a:pPr eaLnBrk="1" hangingPunct="1"/>
            <a:r>
              <a:rPr lang="en-US" altLang="en-US" sz="2800"/>
              <a:t>When the temperature decreases, ΔT and ΔQ are considered to be negative and energy flows out of the system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7FD39939-801F-D67B-1CBB-524D37B7A5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A Consequence of Different Specific Heats</a:t>
            </a:r>
          </a:p>
        </p:txBody>
      </p:sp>
      <p:sp>
        <p:nvSpPr>
          <p:cNvPr id="40963" name="Rectangle 3">
            <a:extLst>
              <a:ext uri="{FF2B5EF4-FFF2-40B4-BE49-F238E27FC236}">
                <a16:creationId xmlns:a16="http://schemas.microsoft.com/office/drawing/2014/main" id="{2E78C66C-609C-64C6-4EF8-FBC36F126AF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23825" y="1471612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800"/>
              <a:t>Water has a high specific heat compared to land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On a hot day, the air above the land warms faster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2800"/>
              <a:t>The warmer air flows upward and cooler air moves toward the beach</a:t>
            </a:r>
          </a:p>
        </p:txBody>
      </p:sp>
      <p:pic>
        <p:nvPicPr>
          <p:cNvPr id="45060" name="Picture 4">
            <a:extLst>
              <a:ext uri="{FF2B5EF4-FFF2-40B4-BE49-F238E27FC236}">
                <a16:creationId xmlns:a16="http://schemas.microsoft.com/office/drawing/2014/main" id="{4CA2C123-761B-755F-2D0C-10FF3F2BF5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607" y="2210761"/>
            <a:ext cx="4164193" cy="3014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29AD8BC-24EA-45A3-FE14-0FD69CBA1296}"/>
              </a:ext>
            </a:extLst>
          </p:cNvPr>
          <p:cNvGrpSpPr/>
          <p:nvPr/>
        </p:nvGrpSpPr>
        <p:grpSpPr>
          <a:xfrm>
            <a:off x="5181600" y="2753994"/>
            <a:ext cx="2286000" cy="2218373"/>
            <a:chOff x="1627632" y="3268027"/>
            <a:chExt cx="2286000" cy="2218373"/>
          </a:xfrm>
        </p:grpSpPr>
        <p:sp>
          <p:nvSpPr>
            <p:cNvPr id="4" name="Arrow: Curved Up 3">
              <a:extLst>
                <a:ext uri="{FF2B5EF4-FFF2-40B4-BE49-F238E27FC236}">
                  <a16:creationId xmlns:a16="http://schemas.microsoft.com/office/drawing/2014/main" id="{B54C08B8-BB4B-E392-AAD3-7B101D18F1BD}"/>
                </a:ext>
              </a:extLst>
            </p:cNvPr>
            <p:cNvSpPr/>
            <p:nvPr/>
          </p:nvSpPr>
          <p:spPr>
            <a:xfrm>
              <a:off x="2084832" y="4876800"/>
              <a:ext cx="1828800" cy="609600"/>
            </a:xfrm>
            <a:prstGeom prst="curvedUpArrow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" name="Arrow: Curved Up 4">
              <a:extLst>
                <a:ext uri="{FF2B5EF4-FFF2-40B4-BE49-F238E27FC236}">
                  <a16:creationId xmlns:a16="http://schemas.microsoft.com/office/drawing/2014/main" id="{F127534B-FA46-EBB0-94BB-C2C664365EAD}"/>
                </a:ext>
              </a:extLst>
            </p:cNvPr>
            <p:cNvSpPr/>
            <p:nvPr/>
          </p:nvSpPr>
          <p:spPr>
            <a:xfrm rot="10800000">
              <a:off x="1627632" y="3268027"/>
              <a:ext cx="1828800" cy="609600"/>
            </a:xfrm>
            <a:prstGeom prst="curvedUpArrow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7" name="Online Image Placeholder 6">
            <a:extLst>
              <a:ext uri="{FF2B5EF4-FFF2-40B4-BE49-F238E27FC236}">
                <a16:creationId xmlns:a16="http://schemas.microsoft.com/office/drawing/2014/main" id="{0FDEEAD2-13BE-AA7A-ECF9-8502268377FA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748863C9-2114-1C2F-FEDB-7229952709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9699" name="Picture 5">
            <a:extLst>
              <a:ext uri="{FF2B5EF4-FFF2-40B4-BE49-F238E27FC236}">
                <a16:creationId xmlns:a16="http://schemas.microsoft.com/office/drawing/2014/main" id="{E0BADB7D-118E-ACA9-3462-C86F87389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213" y="1770063"/>
            <a:ext cx="1703387" cy="2525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00" name="Picture 2" descr="Bunsen burner by gsagri04">
            <a:extLst>
              <a:ext uri="{FF2B5EF4-FFF2-40B4-BE49-F238E27FC236}">
                <a16:creationId xmlns:a16="http://schemas.microsoft.com/office/drawing/2014/main" id="{D6FB6D9C-B6EA-E0EF-CCE9-D3B708DA3D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938" y="4843463"/>
            <a:ext cx="1363662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1" name="Down Arrow 6">
            <a:extLst>
              <a:ext uri="{FF2B5EF4-FFF2-40B4-BE49-F238E27FC236}">
                <a16:creationId xmlns:a16="http://schemas.microsoft.com/office/drawing/2014/main" id="{BFB9C00F-3865-1F52-2370-0059B10BA55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308225" y="3832225"/>
            <a:ext cx="957263" cy="855663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2" name="TextBox 7">
            <a:extLst>
              <a:ext uri="{FF2B5EF4-FFF2-40B4-BE49-F238E27FC236}">
                <a16:creationId xmlns:a16="http://schemas.microsoft.com/office/drawing/2014/main" id="{21955B6F-89F9-561B-F500-7331EDC9AA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50" y="44275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positive</a:t>
            </a:r>
          </a:p>
        </p:txBody>
      </p:sp>
      <p:sp>
        <p:nvSpPr>
          <p:cNvPr id="29703" name="Down Arrow 9">
            <a:extLst>
              <a:ext uri="{FF2B5EF4-FFF2-40B4-BE49-F238E27FC236}">
                <a16:creationId xmlns:a16="http://schemas.microsoft.com/office/drawing/2014/main" id="{5D725AD3-70E6-D708-9F2E-2EFF59F55AAF}"/>
              </a:ext>
            </a:extLst>
          </p:cNvPr>
          <p:cNvSpPr>
            <a:spLocks noChangeArrowheads="1"/>
          </p:cNvSpPr>
          <p:nvPr/>
        </p:nvSpPr>
        <p:spPr bwMode="auto">
          <a:xfrm rot="5400000" flipV="1">
            <a:off x="3331368" y="2793207"/>
            <a:ext cx="957263" cy="857250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4" name="TextBox 10">
            <a:extLst>
              <a:ext uri="{FF2B5EF4-FFF2-40B4-BE49-F238E27FC236}">
                <a16:creationId xmlns:a16="http://schemas.microsoft.com/office/drawing/2014/main" id="{4394090C-335E-4B99-F7F4-9775A50CB1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750" y="29543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negative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B79617-3026-4290-BEEE-A2C65AA73613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177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123.12.2</a:t>
            </a:r>
          </a:p>
        </p:txBody>
      </p:sp>
      <p:sp>
        <p:nvSpPr>
          <p:cNvPr id="1771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sz="2800" dirty="0"/>
              <a:t>You add energy to an object by heat transfer. At some point, the temperature of the object stops rising. What is happening?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system is leaking thermal energy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system has as much heat as it can take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object is experiencing a phase change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729586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>
            <a:extLst>
              <a:ext uri="{FF2B5EF4-FFF2-40B4-BE49-F238E27FC236}">
                <a16:creationId xmlns:a16="http://schemas.microsoft.com/office/drawing/2014/main" id="{6EF44F64-7B8C-C9AF-C18D-8F2066A3C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6627" name="Content Placeholder 2">
            <a:extLst>
              <a:ext uri="{FF2B5EF4-FFF2-40B4-BE49-F238E27FC236}">
                <a16:creationId xmlns:a16="http://schemas.microsoft.com/office/drawing/2014/main" id="{96BFBF62-7B76-3D28-E58C-9097B203F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6628" name="Date Placeholder 3">
            <a:extLst>
              <a:ext uri="{FF2B5EF4-FFF2-40B4-BE49-F238E27FC236}">
                <a16:creationId xmlns:a16="http://schemas.microsoft.com/office/drawing/2014/main" id="{41C8C8E5-2A9F-AD74-65FE-54FF372918A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6629" name="Footer Placeholder 4">
            <a:extLst>
              <a:ext uri="{FF2B5EF4-FFF2-40B4-BE49-F238E27FC236}">
                <a16:creationId xmlns:a16="http://schemas.microsoft.com/office/drawing/2014/main" id="{6FE2309B-91B8-FA44-041D-96F9E706D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6630" name="Picture 5">
            <a:extLst>
              <a:ext uri="{FF2B5EF4-FFF2-40B4-BE49-F238E27FC236}">
                <a16:creationId xmlns:a16="http://schemas.microsoft.com/office/drawing/2014/main" id="{433C43A6-E98C-063C-5648-80270D74D6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913" y="2514600"/>
            <a:ext cx="2924175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1E1A0684-395A-7DB7-2AC9-BBCC679F8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2F2E65FF-F107-E22C-1F77-239D05866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C?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25604" name="Slide Number Placeholder 3">
            <a:extLst>
              <a:ext uri="{FF2B5EF4-FFF2-40B4-BE49-F238E27FC236}">
                <a16:creationId xmlns:a16="http://schemas.microsoft.com/office/drawing/2014/main" id="{C1E135F8-74E9-9597-9A46-BF25B5CE2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BFF21E5-B209-44F4-A3F3-22504370CE7E}" type="slidenum">
              <a:rPr lang="en-US" altLang="en-US"/>
              <a:pPr/>
              <a:t>26</a:t>
            </a:fld>
            <a:endParaRPr lang="en-US" altLang="en-US"/>
          </a:p>
        </p:txBody>
      </p:sp>
      <p:pic>
        <p:nvPicPr>
          <p:cNvPr id="25605" name="Picture 2">
            <a:extLst>
              <a:ext uri="{FF2B5EF4-FFF2-40B4-BE49-F238E27FC236}">
                <a16:creationId xmlns:a16="http://schemas.microsoft.com/office/drawing/2014/main" id="{173A0D98-0928-DDB8-4186-CDCB178AE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>
            <a:extLst>
              <a:ext uri="{FF2B5EF4-FFF2-40B4-BE49-F238E27FC236}">
                <a16:creationId xmlns:a16="http://schemas.microsoft.com/office/drawing/2014/main" id="{96211992-64A6-EFF8-1509-495EDC4EB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7651" name="Date Placeholder 2">
            <a:extLst>
              <a:ext uri="{FF2B5EF4-FFF2-40B4-BE49-F238E27FC236}">
                <a16:creationId xmlns:a16="http://schemas.microsoft.com/office/drawing/2014/main" id="{3E14BBFA-3798-5BED-998D-67D762B8233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7652" name="Footer Placeholder 3">
            <a:extLst>
              <a:ext uri="{FF2B5EF4-FFF2-40B4-BE49-F238E27FC236}">
                <a16:creationId xmlns:a16="http://schemas.microsoft.com/office/drawing/2014/main" id="{353DEFF9-C353-DAD4-59B5-4A9B63DA6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7653" name="Picture 4">
            <a:extLst>
              <a:ext uri="{FF2B5EF4-FFF2-40B4-BE49-F238E27FC236}">
                <a16:creationId xmlns:a16="http://schemas.microsoft.com/office/drawing/2014/main" id="{B6D4EACC-847F-969B-C9DF-EDC770A1B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663" y="2065338"/>
            <a:ext cx="3368675" cy="272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>
            <a:extLst>
              <a:ext uri="{FF2B5EF4-FFF2-40B4-BE49-F238E27FC236}">
                <a16:creationId xmlns:a16="http://schemas.microsoft.com/office/drawing/2014/main" id="{FE31F79B-911F-33BC-E1A0-DAEE4E32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8675" name="Date Placeholder 2">
            <a:extLst>
              <a:ext uri="{FF2B5EF4-FFF2-40B4-BE49-F238E27FC236}">
                <a16:creationId xmlns:a16="http://schemas.microsoft.com/office/drawing/2014/main" id="{0AB35271-52AA-01E1-C8B2-1AC7C6E1423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8676" name="Footer Placeholder 3">
            <a:extLst>
              <a:ext uri="{FF2B5EF4-FFF2-40B4-BE49-F238E27FC236}">
                <a16:creationId xmlns:a16="http://schemas.microsoft.com/office/drawing/2014/main" id="{D377FE0E-D1C5-BC27-7459-897B196AD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8677" name="Picture 4">
            <a:extLst>
              <a:ext uri="{FF2B5EF4-FFF2-40B4-BE49-F238E27FC236}">
                <a16:creationId xmlns:a16="http://schemas.microsoft.com/office/drawing/2014/main" id="{D8669D33-8A04-7F79-2EA1-1935F1BAB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1100138"/>
            <a:ext cx="5994400" cy="554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87BECDD6-BEAD-70E9-F984-310F89BDD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29699" name="Content Placeholder 2">
            <a:extLst>
              <a:ext uri="{FF2B5EF4-FFF2-40B4-BE49-F238E27FC236}">
                <a16:creationId xmlns:a16="http://schemas.microsoft.com/office/drawing/2014/main" id="{A2318374-2DD9-28EE-6C92-38001D09B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A?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29700" name="Slide Number Placeholder 3">
            <a:extLst>
              <a:ext uri="{FF2B5EF4-FFF2-40B4-BE49-F238E27FC236}">
                <a16:creationId xmlns:a16="http://schemas.microsoft.com/office/drawing/2014/main" id="{A28B7A34-3E10-6EC9-1B3E-2653699A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DFB0F45-8E17-48E3-9473-86DC4041867A}" type="slidenum">
              <a:rPr lang="en-US" altLang="en-US"/>
              <a:pPr/>
              <a:t>29</a:t>
            </a:fld>
            <a:endParaRPr lang="en-US" altLang="en-US"/>
          </a:p>
        </p:txBody>
      </p:sp>
      <p:pic>
        <p:nvPicPr>
          <p:cNvPr id="29701" name="Picture 2">
            <a:extLst>
              <a:ext uri="{FF2B5EF4-FFF2-40B4-BE49-F238E27FC236}">
                <a16:creationId xmlns:a16="http://schemas.microsoft.com/office/drawing/2014/main" id="{F7CA439E-35CF-616F-A928-40C0D8394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27097216-24E3-5555-218B-50E0B2727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E5F05E04-2A42-39AD-A739-016D596C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B?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0B4CD270-2C8C-F946-C1BB-D7F03653F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EB73D16F-899A-45BB-9802-4FBA51AA3148}" type="slidenum">
              <a:rPr lang="en-US" altLang="en-US"/>
              <a:pPr/>
              <a:t>30</a:t>
            </a:fld>
            <a:endParaRPr lang="en-US" altLang="en-US"/>
          </a:p>
        </p:txBody>
      </p:sp>
      <p:pic>
        <p:nvPicPr>
          <p:cNvPr id="30725" name="Picture 2">
            <a:extLst>
              <a:ext uri="{FF2B5EF4-FFF2-40B4-BE49-F238E27FC236}">
                <a16:creationId xmlns:a16="http://schemas.microsoft.com/office/drawing/2014/main" id="{89D99E01-EE24-34A3-CA9B-A64C8F642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D5402CAF-88B3-C7EA-AEDD-9066F84B4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1747" name="Content Placeholder 2">
            <a:extLst>
              <a:ext uri="{FF2B5EF4-FFF2-40B4-BE49-F238E27FC236}">
                <a16:creationId xmlns:a16="http://schemas.microsoft.com/office/drawing/2014/main" id="{54A2DB6B-4F81-9DEB-EDBC-80476372C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is point D?</a:t>
            </a:r>
          </a:p>
          <a:p>
            <a:pPr>
              <a:buFontTx/>
              <a:buAutoNum type="alphaLcParenR"/>
            </a:pPr>
            <a:r>
              <a:rPr lang="en-US" altLang="en-US" sz="2800"/>
              <a:t>Sublimation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Boiling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Triple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Double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Critical point</a:t>
            </a:r>
          </a:p>
          <a:p>
            <a:pPr>
              <a:buFontTx/>
              <a:buAutoNum type="alphaLcParenR"/>
            </a:pPr>
            <a:endParaRPr lang="en-US" altLang="en-US" sz="2800"/>
          </a:p>
        </p:txBody>
      </p:sp>
      <p:sp>
        <p:nvSpPr>
          <p:cNvPr id="31748" name="Slide Number Placeholder 3">
            <a:extLst>
              <a:ext uri="{FF2B5EF4-FFF2-40B4-BE49-F238E27FC236}">
                <a16:creationId xmlns:a16="http://schemas.microsoft.com/office/drawing/2014/main" id="{164932E6-6666-1673-5148-AAD85DFE2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6D0980E-A1C8-476D-A787-C8687B38BB2A}" type="slidenum">
              <a:rPr lang="en-US" altLang="en-US"/>
              <a:pPr/>
              <a:t>31</a:t>
            </a:fld>
            <a:endParaRPr lang="en-US" altLang="en-US"/>
          </a:p>
        </p:txBody>
      </p:sp>
      <p:pic>
        <p:nvPicPr>
          <p:cNvPr id="31749" name="Picture 2">
            <a:extLst>
              <a:ext uri="{FF2B5EF4-FFF2-40B4-BE49-F238E27FC236}">
                <a16:creationId xmlns:a16="http://schemas.microsoft.com/office/drawing/2014/main" id="{DE4F94CB-8334-F5ED-1C60-976D072DC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C3503C15-4965-1B4B-4430-E1C5B10DB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2771" name="Content Placeholder 2">
            <a:extLst>
              <a:ext uri="{FF2B5EF4-FFF2-40B4-BE49-F238E27FC236}">
                <a16:creationId xmlns:a16="http://schemas.microsoft.com/office/drawing/2014/main" id="{87C2520E-A4D1-9E36-C482-7FF507287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is point E?</a:t>
            </a:r>
          </a:p>
          <a:p>
            <a:pPr>
              <a:buFontTx/>
              <a:buAutoNum type="alphaLcParenR"/>
            </a:pPr>
            <a:r>
              <a:rPr lang="en-US" altLang="en-US" sz="2800"/>
              <a:t>Sublimation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Boiling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Triple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Double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Critical point</a:t>
            </a:r>
          </a:p>
        </p:txBody>
      </p:sp>
      <p:sp>
        <p:nvSpPr>
          <p:cNvPr id="32772" name="Slide Number Placeholder 3">
            <a:extLst>
              <a:ext uri="{FF2B5EF4-FFF2-40B4-BE49-F238E27FC236}">
                <a16:creationId xmlns:a16="http://schemas.microsoft.com/office/drawing/2014/main" id="{2BD868B7-3D03-E20D-13B6-3208523F4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65D6A3F-DECB-4708-B357-5C9DF83C893E}" type="slidenum">
              <a:rPr lang="en-US" altLang="en-US"/>
              <a:pPr/>
              <a:t>32</a:t>
            </a:fld>
            <a:endParaRPr lang="en-US" altLang="en-US"/>
          </a:p>
        </p:txBody>
      </p:sp>
      <p:pic>
        <p:nvPicPr>
          <p:cNvPr id="32773" name="Picture 2">
            <a:extLst>
              <a:ext uri="{FF2B5EF4-FFF2-40B4-BE49-F238E27FC236}">
                <a16:creationId xmlns:a16="http://schemas.microsoft.com/office/drawing/2014/main" id="{CABDF1DF-1698-DABC-2B09-82CB8A0E0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CE9E2B9C-6864-C04A-B3AC-5AC3A77D6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83CE99C8-A0EB-DC09-AD36-6FD56E4D8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A to region B?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Freezing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3796" name="Slide Number Placeholder 3">
            <a:extLst>
              <a:ext uri="{FF2B5EF4-FFF2-40B4-BE49-F238E27FC236}">
                <a16:creationId xmlns:a16="http://schemas.microsoft.com/office/drawing/2014/main" id="{9F017E9B-AE5B-33C3-AA8C-D58FCCF9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096EDA8-4D81-4825-B579-D61C9770C01E}" type="slidenum">
              <a:rPr lang="en-US" altLang="en-US"/>
              <a:pPr/>
              <a:t>33</a:t>
            </a:fld>
            <a:endParaRPr lang="en-US" altLang="en-US"/>
          </a:p>
        </p:txBody>
      </p:sp>
      <p:pic>
        <p:nvPicPr>
          <p:cNvPr id="33797" name="Picture 2">
            <a:extLst>
              <a:ext uri="{FF2B5EF4-FFF2-40B4-BE49-F238E27FC236}">
                <a16:creationId xmlns:a16="http://schemas.microsoft.com/office/drawing/2014/main" id="{9E0F5B55-C1F2-7281-C3A3-89E7F1446F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>
            <a:extLst>
              <a:ext uri="{FF2B5EF4-FFF2-40B4-BE49-F238E27FC236}">
                <a16:creationId xmlns:a16="http://schemas.microsoft.com/office/drawing/2014/main" id="{BAB60DAA-CFEF-A5D1-7C33-F87459CDC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4819" name="Content Placeholder 2">
            <a:extLst>
              <a:ext uri="{FF2B5EF4-FFF2-40B4-BE49-F238E27FC236}">
                <a16:creationId xmlns:a16="http://schemas.microsoft.com/office/drawing/2014/main" id="{A330D1C4-9D6E-A997-0721-38AAA730E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A to region C?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4820" name="Slide Number Placeholder 3">
            <a:extLst>
              <a:ext uri="{FF2B5EF4-FFF2-40B4-BE49-F238E27FC236}">
                <a16:creationId xmlns:a16="http://schemas.microsoft.com/office/drawing/2014/main" id="{7CD9166D-1D7D-BCCC-C4D8-8587B4C88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1EC20AD-9A26-4782-A0F4-0E0ED7072E77}" type="slidenum">
              <a:rPr lang="en-US" altLang="en-US"/>
              <a:pPr/>
              <a:t>34</a:t>
            </a:fld>
            <a:endParaRPr lang="en-US" altLang="en-US"/>
          </a:p>
        </p:txBody>
      </p:sp>
      <p:pic>
        <p:nvPicPr>
          <p:cNvPr id="34821" name="Picture 2">
            <a:extLst>
              <a:ext uri="{FF2B5EF4-FFF2-40B4-BE49-F238E27FC236}">
                <a16:creationId xmlns:a16="http://schemas.microsoft.com/office/drawing/2014/main" id="{3FECE2F3-F68B-88D2-4FFB-20B2A36040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6C16EC36-F016-64CA-EAC2-60A68E3C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6538E1EC-0DD2-4E7C-6373-D8D3E174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B to region C?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B91AC536-C936-ED67-C365-1FA956D7C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3EFD9A1-3E6C-44B8-8024-78C7BD0BB9E9}" type="slidenum">
              <a:rPr lang="en-US" altLang="en-US"/>
              <a:pPr/>
              <a:t>35</a:t>
            </a:fld>
            <a:endParaRPr lang="en-US" altLang="en-US"/>
          </a:p>
        </p:txBody>
      </p:sp>
      <p:pic>
        <p:nvPicPr>
          <p:cNvPr id="35845" name="Picture 2">
            <a:extLst>
              <a:ext uri="{FF2B5EF4-FFF2-40B4-BE49-F238E27FC236}">
                <a16:creationId xmlns:a16="http://schemas.microsoft.com/office/drawing/2014/main" id="{0FCFFDD9-A0B8-D395-B431-A9AF973703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04CADF65-83D1-32C8-C852-777FD84FD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9CF7E493-83F2-8896-1103-DB6C6B2E8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C to region B?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6868" name="Slide Number Placeholder 3">
            <a:extLst>
              <a:ext uri="{FF2B5EF4-FFF2-40B4-BE49-F238E27FC236}">
                <a16:creationId xmlns:a16="http://schemas.microsoft.com/office/drawing/2014/main" id="{995CEA68-B77D-5998-5B15-B982ABAE3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0B67C315-32AD-4A40-8002-1C10D4A766BA}" type="slidenum">
              <a:rPr lang="en-US" altLang="en-US"/>
              <a:pPr/>
              <a:t>36</a:t>
            </a:fld>
            <a:endParaRPr lang="en-US" altLang="en-US"/>
          </a:p>
        </p:txBody>
      </p:sp>
      <p:pic>
        <p:nvPicPr>
          <p:cNvPr id="36869" name="Picture 2">
            <a:extLst>
              <a:ext uri="{FF2B5EF4-FFF2-40B4-BE49-F238E27FC236}">
                <a16:creationId xmlns:a16="http://schemas.microsoft.com/office/drawing/2014/main" id="{36625E12-5C42-F1B7-F72E-BBB07F66E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>
            <a:extLst>
              <a:ext uri="{FF2B5EF4-FFF2-40B4-BE49-F238E27FC236}">
                <a16:creationId xmlns:a16="http://schemas.microsoft.com/office/drawing/2014/main" id="{431FAA1C-7DF5-3DB5-8E93-999948E21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7891" name="Content Placeholder 2">
            <a:extLst>
              <a:ext uri="{FF2B5EF4-FFF2-40B4-BE49-F238E27FC236}">
                <a16:creationId xmlns:a16="http://schemas.microsoft.com/office/drawing/2014/main" id="{BB5BB418-9768-4201-0308-B992B4E7F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B to region A?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7892" name="Slide Number Placeholder 3">
            <a:extLst>
              <a:ext uri="{FF2B5EF4-FFF2-40B4-BE49-F238E27FC236}">
                <a16:creationId xmlns:a16="http://schemas.microsoft.com/office/drawing/2014/main" id="{D6195291-3115-288F-0593-FE93D426B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0379B8E-A27F-4508-81EB-6D1B7954D9D7}" type="slidenum">
              <a:rPr lang="en-US" altLang="en-US"/>
              <a:pPr/>
              <a:t>37</a:t>
            </a:fld>
            <a:endParaRPr lang="en-US" altLang="en-US"/>
          </a:p>
        </p:txBody>
      </p:sp>
      <p:pic>
        <p:nvPicPr>
          <p:cNvPr id="37893" name="Picture 2">
            <a:extLst>
              <a:ext uri="{FF2B5EF4-FFF2-40B4-BE49-F238E27FC236}">
                <a16:creationId xmlns:a16="http://schemas.microsoft.com/office/drawing/2014/main" id="{D9FFC665-378F-F12D-ED4D-51886D0C7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>
            <a:extLst>
              <a:ext uri="{FF2B5EF4-FFF2-40B4-BE49-F238E27FC236}">
                <a16:creationId xmlns:a16="http://schemas.microsoft.com/office/drawing/2014/main" id="{E39C1948-CBCC-F10B-84E9-D15D9BD0B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8915" name="Content Placeholder 2">
            <a:extLst>
              <a:ext uri="{FF2B5EF4-FFF2-40B4-BE49-F238E27FC236}">
                <a16:creationId xmlns:a16="http://schemas.microsoft.com/office/drawing/2014/main" id="{8A1A680F-B881-21E8-E00B-1E1C27603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is the material at if it is in the state represented by letter D?</a:t>
            </a:r>
          </a:p>
          <a:p>
            <a:pPr>
              <a:buFontTx/>
              <a:buAutoNum type="alphaLcParenR"/>
            </a:pPr>
            <a:r>
              <a:rPr lang="en-US" altLang="en-US" sz="24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4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400"/>
              <a:t>Gas</a:t>
            </a:r>
          </a:p>
          <a:p>
            <a:pPr>
              <a:buFontTx/>
              <a:buAutoNum type="alphaLcParenR"/>
            </a:pPr>
            <a:r>
              <a:rPr lang="en-US" altLang="en-US" sz="2400"/>
              <a:t>Plasma</a:t>
            </a:r>
          </a:p>
          <a:p>
            <a:pPr>
              <a:buFontTx/>
              <a:buAutoNum type="alphaLcParenR"/>
            </a:pPr>
            <a:r>
              <a:rPr lang="en-US" altLang="en-US" sz="2400"/>
              <a:t>Can’t tell</a:t>
            </a:r>
          </a:p>
        </p:txBody>
      </p:sp>
      <p:sp>
        <p:nvSpPr>
          <p:cNvPr id="38916" name="Slide Number Placeholder 3">
            <a:extLst>
              <a:ext uri="{FF2B5EF4-FFF2-40B4-BE49-F238E27FC236}">
                <a16:creationId xmlns:a16="http://schemas.microsoft.com/office/drawing/2014/main" id="{5F62DFFA-8FA4-400A-932D-E39C3E34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4867BD9-A410-40EC-87B0-78C2E2B58A2E}" type="slidenum">
              <a:rPr lang="en-US" altLang="en-US"/>
              <a:pPr/>
              <a:t>38</a:t>
            </a:fld>
            <a:endParaRPr lang="en-US" altLang="en-US"/>
          </a:p>
        </p:txBody>
      </p:sp>
      <p:pic>
        <p:nvPicPr>
          <p:cNvPr id="38917" name="Picture 2">
            <a:extLst>
              <a:ext uri="{FF2B5EF4-FFF2-40B4-BE49-F238E27FC236}">
                <a16:creationId xmlns:a16="http://schemas.microsoft.com/office/drawing/2014/main" id="{376EEAA4-6584-FE22-677D-B9E75B923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613025"/>
            <a:ext cx="3298825" cy="275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>
            <a:extLst>
              <a:ext uri="{FF2B5EF4-FFF2-40B4-BE49-F238E27FC236}">
                <a16:creationId xmlns:a16="http://schemas.microsoft.com/office/drawing/2014/main" id="{43BF1B07-7EC6-DFE2-1BDE-43C59FE6B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9939" name="Content Placeholder 2">
            <a:extLst>
              <a:ext uri="{FF2B5EF4-FFF2-40B4-BE49-F238E27FC236}">
                <a16:creationId xmlns:a16="http://schemas.microsoft.com/office/drawing/2014/main" id="{2FE89652-8738-743C-23AF-27A9DF10D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can we say about the state represented by point F?</a:t>
            </a:r>
          </a:p>
          <a:p>
            <a:pPr>
              <a:buFontTx/>
              <a:buAutoNum type="alphaLcParenR"/>
            </a:pPr>
            <a:r>
              <a:rPr lang="en-US" altLang="en-US" sz="24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4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400"/>
              <a:t>Gas</a:t>
            </a:r>
          </a:p>
          <a:p>
            <a:pPr>
              <a:buFontTx/>
              <a:buAutoNum type="alphaLcParenR"/>
            </a:pPr>
            <a:r>
              <a:rPr lang="en-US" altLang="en-US" sz="2400"/>
              <a:t>Plasma</a:t>
            </a:r>
          </a:p>
          <a:p>
            <a:pPr>
              <a:buFontTx/>
              <a:buAutoNum type="alphaLcParenR"/>
            </a:pPr>
            <a:r>
              <a:rPr lang="en-US" altLang="en-US" sz="2400"/>
              <a:t>It is a phase equilibrium</a:t>
            </a:r>
          </a:p>
        </p:txBody>
      </p:sp>
      <p:sp>
        <p:nvSpPr>
          <p:cNvPr id="39940" name="Slide Number Placeholder 3">
            <a:extLst>
              <a:ext uri="{FF2B5EF4-FFF2-40B4-BE49-F238E27FC236}">
                <a16:creationId xmlns:a16="http://schemas.microsoft.com/office/drawing/2014/main" id="{660B4E30-ED20-DCB9-4943-43A78DDB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6985E2D-32DE-477F-8593-83D1A73FD9BC}" type="slidenum">
              <a:rPr lang="en-US" altLang="en-US"/>
              <a:pPr/>
              <a:t>39</a:t>
            </a:fld>
            <a:endParaRPr lang="en-US" altLang="en-US"/>
          </a:p>
        </p:txBody>
      </p:sp>
      <p:pic>
        <p:nvPicPr>
          <p:cNvPr id="39941" name="Picture 2">
            <a:extLst>
              <a:ext uri="{FF2B5EF4-FFF2-40B4-BE49-F238E27FC236}">
                <a16:creationId xmlns:a16="http://schemas.microsoft.com/office/drawing/2014/main" id="{7A4AEC7A-EA9E-D38E-EBAA-97742A7D1E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613025"/>
            <a:ext cx="3298825" cy="275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A61D0C6D-D4B6-686D-6317-59653EDCF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0963" name="Content Placeholder 2">
            <a:extLst>
              <a:ext uri="{FF2B5EF4-FFF2-40B4-BE49-F238E27FC236}">
                <a16:creationId xmlns:a16="http://schemas.microsoft.com/office/drawing/2014/main" id="{3C51D052-CDBC-6640-4CF4-DFCAF89E9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424488"/>
            <a:ext cx="8229600" cy="1433512"/>
          </a:xfrm>
        </p:spPr>
        <p:txBody>
          <a:bodyPr/>
          <a:lstStyle/>
          <a:p>
            <a:r>
              <a:rPr lang="en-US" altLang="en-US" sz="1800"/>
              <a:t>	[Figure]	[More Complete Phase Diagram for Water (Public Domain Image courtesy Karlhahn)]</a:t>
            </a:r>
          </a:p>
        </p:txBody>
      </p:sp>
      <p:sp>
        <p:nvSpPr>
          <p:cNvPr id="40964" name="Date Placeholder 3">
            <a:extLst>
              <a:ext uri="{FF2B5EF4-FFF2-40B4-BE49-F238E27FC236}">
                <a16:creationId xmlns:a16="http://schemas.microsoft.com/office/drawing/2014/main" id="{95444892-1CA0-93B0-E9B3-566BFCF819C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40965" name="Footer Placeholder 4">
            <a:extLst>
              <a:ext uri="{FF2B5EF4-FFF2-40B4-BE49-F238E27FC236}">
                <a16:creationId xmlns:a16="http://schemas.microsoft.com/office/drawing/2014/main" id="{A4169D67-A425-56C0-A104-43662B3D6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40966" name="Picture 5">
            <a:extLst>
              <a:ext uri="{FF2B5EF4-FFF2-40B4-BE49-F238E27FC236}">
                <a16:creationId xmlns:a16="http://schemas.microsoft.com/office/drawing/2014/main" id="{A5A3AE37-1F7F-E29F-0967-859C2A5D0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63" y="1323975"/>
            <a:ext cx="9021762" cy="414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123.12.1.1</a:t>
            </a:r>
          </a:p>
        </p:txBody>
      </p:sp>
      <p:sp>
        <p:nvSpPr>
          <p:cNvPr id="1699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/>
              <a:t>I have a sample of a substance with a heat capacity of 100J/K. How much heat can this sample hold if it is at 2000K?</a:t>
            </a:r>
          </a:p>
          <a:p>
            <a:pPr>
              <a:buFontTx/>
              <a:buAutoNum type="alphaUcPeriod"/>
            </a:pPr>
            <a:r>
              <a:rPr lang="en-US"/>
              <a:t> 2000000J</a:t>
            </a:r>
          </a:p>
          <a:p>
            <a:pPr>
              <a:buFontTx/>
              <a:buAutoNum type="alphaUcPeriod"/>
            </a:pPr>
            <a:r>
              <a:rPr lang="en-US"/>
              <a:t>20J</a:t>
            </a:r>
          </a:p>
          <a:p>
            <a:pPr>
              <a:buFontTx/>
              <a:buAutoNum type="alphaUcPeriod"/>
            </a:pPr>
            <a:r>
              <a:rPr lang="en-US"/>
              <a:t>0.5J</a:t>
            </a:r>
          </a:p>
          <a:p>
            <a:pPr>
              <a:buFontTx/>
              <a:buAutoNum type="alphaUcPeriod"/>
            </a:pPr>
            <a:r>
              <a:rPr lang="en-US"/>
              <a:t>None at all</a:t>
            </a:r>
          </a:p>
        </p:txBody>
      </p:sp>
      <p:sp>
        <p:nvSpPr>
          <p:cNvPr id="169988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F4F3EC6-6038-4A01-ACEF-F6206AE311A5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246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Heating Ice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9625" y="1451491"/>
            <a:ext cx="7524750" cy="392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2362200" y="5257800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Solid 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4800600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Melting 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3733800"/>
            <a:ext cx="1347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Liquid water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48000"/>
            <a:ext cx="141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Boiling water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2286000"/>
            <a:ext cx="1295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Gaseous steam</a:t>
            </a:r>
          </a:p>
        </p:txBody>
      </p:sp>
      <p:graphicFrame>
        <p:nvGraphicFramePr>
          <p:cNvPr id="10" name="Content Placeholder 9"/>
          <p:cNvGraphicFramePr>
            <a:graphicFrameLocks noGrp="1" noChangeAspect="1"/>
          </p:cNvGraphicFramePr>
          <p:nvPr>
            <p:ph idx="1"/>
          </p:nvPr>
        </p:nvGraphicFramePr>
        <p:xfrm>
          <a:off x="3657600" y="2819400"/>
          <a:ext cx="1371600" cy="7544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419040" progId="Equation.3">
                  <p:embed/>
                </p:oleObj>
              </mc:Choice>
              <mc:Fallback>
                <p:oleObj name="Equation" r:id="rId3" imgW="761760" imgH="419040" progId="Equation.3">
                  <p:embed/>
                  <p:pic>
                    <p:nvPicPr>
                      <p:cNvPr id="10" name="Content Placeholder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2819400"/>
                        <a:ext cx="1371600" cy="75442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Arrow Connector 12"/>
          <p:cNvCxnSpPr/>
          <p:nvPr/>
        </p:nvCxnSpPr>
        <p:spPr>
          <a:xfrm flipH="1" flipV="1">
            <a:off x="3276600" y="4648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5334000" y="3505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6705600" y="2743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 flipV="1">
            <a:off x="7848600" y="20574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 84"/>
          <p:cNvSpPr/>
          <p:nvPr/>
        </p:nvSpPr>
        <p:spPr>
          <a:xfrm>
            <a:off x="8024884" y="1596788"/>
            <a:ext cx="846161" cy="3957851"/>
          </a:xfrm>
          <a:custGeom>
            <a:avLst/>
            <a:gdLst>
              <a:gd name="connsiteX0" fmla="*/ 818865 w 846161"/>
              <a:gd name="connsiteY0" fmla="*/ 0 h 3957851"/>
              <a:gd name="connsiteX1" fmla="*/ 464023 w 846161"/>
              <a:gd name="connsiteY1" fmla="*/ 0 h 3957851"/>
              <a:gd name="connsiteX2" fmla="*/ 27295 w 846161"/>
              <a:gd name="connsiteY2" fmla="*/ 1255594 h 3957851"/>
              <a:gd name="connsiteX3" fmla="*/ 0 w 846161"/>
              <a:gd name="connsiteY3" fmla="*/ 3944203 h 3957851"/>
              <a:gd name="connsiteX4" fmla="*/ 846161 w 846161"/>
              <a:gd name="connsiteY4" fmla="*/ 3957851 h 3957851"/>
              <a:gd name="connsiteX5" fmla="*/ 818865 w 846161"/>
              <a:gd name="connsiteY5" fmla="*/ 0 h 3957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6161" h="3957851">
                <a:moveTo>
                  <a:pt x="818865" y="0"/>
                </a:moveTo>
                <a:lnTo>
                  <a:pt x="464023" y="0"/>
                </a:lnTo>
                <a:lnTo>
                  <a:pt x="27295" y="1255594"/>
                </a:lnTo>
                <a:lnTo>
                  <a:pt x="0" y="3944203"/>
                </a:lnTo>
                <a:lnTo>
                  <a:pt x="846161" y="3957851"/>
                </a:lnTo>
                <a:lnTo>
                  <a:pt x="818865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Triangle 31"/>
          <p:cNvSpPr/>
          <p:nvPr/>
        </p:nvSpPr>
        <p:spPr>
          <a:xfrm flipH="1">
            <a:off x="578888" y="4953000"/>
            <a:ext cx="152400" cy="60960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31287" y="4919663"/>
            <a:ext cx="797261" cy="6429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Ice and water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1502812" y="2743201"/>
            <a:ext cx="1062967" cy="2819400"/>
          </a:xfrm>
          <a:custGeom>
            <a:avLst/>
            <a:gdLst>
              <a:gd name="connsiteX0" fmla="*/ 1057275 w 1057275"/>
              <a:gd name="connsiteY0" fmla="*/ 0 h 2752725"/>
              <a:gd name="connsiteX1" fmla="*/ 1038225 w 1057275"/>
              <a:gd name="connsiteY1" fmla="*/ 2752725 h 2752725"/>
              <a:gd name="connsiteX2" fmla="*/ 9525 w 1057275"/>
              <a:gd name="connsiteY2" fmla="*/ 2743200 h 2752725"/>
              <a:gd name="connsiteX3" fmla="*/ 0 w 1057275"/>
              <a:gd name="connsiteY3" fmla="*/ 2105025 h 2752725"/>
              <a:gd name="connsiteX4" fmla="*/ 1057275 w 1057275"/>
              <a:gd name="connsiteY4" fmla="*/ 0 h 275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57275" h="2752725">
                <a:moveTo>
                  <a:pt x="1057275" y="0"/>
                </a:moveTo>
                <a:lnTo>
                  <a:pt x="1038225" y="2752725"/>
                </a:lnTo>
                <a:lnTo>
                  <a:pt x="9525" y="2743200"/>
                </a:lnTo>
                <a:lnTo>
                  <a:pt x="0" y="2105025"/>
                </a:lnTo>
                <a:lnTo>
                  <a:pt x="105727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552132" y="2819400"/>
            <a:ext cx="5513695" cy="2743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Graph of Ice to Steam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573201" y="1583140"/>
            <a:ext cx="5687" cy="397946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578888" y="5554639"/>
            <a:ext cx="8565112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578888" y="4881564"/>
            <a:ext cx="152400" cy="6810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731288" y="4910133"/>
            <a:ext cx="762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29" idx="3"/>
          </p:cNvCxnSpPr>
          <p:nvPr/>
        </p:nvCxnSpPr>
        <p:spPr>
          <a:xfrm flipV="1">
            <a:off x="1502812" y="2819401"/>
            <a:ext cx="1057276" cy="20798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2541038" y="2819400"/>
            <a:ext cx="55054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046488" y="1596788"/>
            <a:ext cx="428772" cy="12226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754872" y="4484424"/>
            <a:ext cx="760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32884" y="1501245"/>
            <a:ext cx="593496" cy="42934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100" dirty="0"/>
              <a:t>150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120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90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60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30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-30</a:t>
            </a:r>
          </a:p>
        </p:txBody>
      </p:sp>
      <p:cxnSp>
        <p:nvCxnSpPr>
          <p:cNvPr id="35" name="Straight Connector 34"/>
          <p:cNvCxnSpPr/>
          <p:nvPr/>
        </p:nvCxnSpPr>
        <p:spPr>
          <a:xfrm>
            <a:off x="559554" y="2347415"/>
            <a:ext cx="82978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61829" y="3002507"/>
            <a:ext cx="8281920" cy="2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64104" y="3616657"/>
            <a:ext cx="8334236" cy="181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55005" y="4899546"/>
            <a:ext cx="8316040" cy="90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1501254" y="158314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1315" y="5759355"/>
            <a:ext cx="791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0             500                      1000              1500              2000              2500             3000   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723327" y="1583140"/>
            <a:ext cx="2258" cy="39737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21373" y="6141493"/>
            <a:ext cx="1736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added (J)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29" y="111911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T(</a:t>
            </a:r>
            <a:r>
              <a:rPr lang="en-US" baseline="30000" dirty="0" err="1"/>
              <a:t>o</a:t>
            </a:r>
            <a:r>
              <a:rPr lang="en-US" dirty="0" err="1"/>
              <a:t>C</a:t>
            </a:r>
            <a:r>
              <a:rPr lang="en-US" dirty="0"/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63137" y="3794077"/>
            <a:ext cx="1811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 and Steam</a:t>
            </a:r>
          </a:p>
        </p:txBody>
      </p:sp>
      <p:cxnSp>
        <p:nvCxnSpPr>
          <p:cNvPr id="77" name="Straight Connector 76"/>
          <p:cNvCxnSpPr/>
          <p:nvPr/>
        </p:nvCxnSpPr>
        <p:spPr>
          <a:xfrm>
            <a:off x="2540774" y="159906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95764" y="3152626"/>
            <a:ext cx="77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Steam</a:t>
            </a:r>
          </a:p>
        </p:txBody>
      </p:sp>
      <p:cxnSp>
        <p:nvCxnSpPr>
          <p:cNvPr id="89" name="Straight Connector 88"/>
          <p:cNvCxnSpPr/>
          <p:nvPr/>
        </p:nvCxnSpPr>
        <p:spPr>
          <a:xfrm flipV="1">
            <a:off x="580024" y="4299045"/>
            <a:ext cx="8318316" cy="68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68689" y="5939041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Ice</a:t>
            </a:r>
          </a:p>
        </p:txBody>
      </p:sp>
      <p:sp>
        <p:nvSpPr>
          <p:cNvPr id="100" name="Freeform 99"/>
          <p:cNvSpPr/>
          <p:nvPr/>
        </p:nvSpPr>
        <p:spPr>
          <a:xfrm>
            <a:off x="409432" y="5459104"/>
            <a:ext cx="272955" cy="532263"/>
          </a:xfrm>
          <a:custGeom>
            <a:avLst/>
            <a:gdLst>
              <a:gd name="connsiteX0" fmla="*/ 0 w 300250"/>
              <a:gd name="connsiteY0" fmla="*/ 600501 h 600501"/>
              <a:gd name="connsiteX1" fmla="*/ 122829 w 300250"/>
              <a:gd name="connsiteY1" fmla="*/ 286603 h 600501"/>
              <a:gd name="connsiteX2" fmla="*/ 300250 w 300250"/>
              <a:gd name="connsiteY2" fmla="*/ 0 h 600501"/>
              <a:gd name="connsiteX3" fmla="*/ 300250 w 300250"/>
              <a:gd name="connsiteY3" fmla="*/ 0 h 600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0250" h="600501">
                <a:moveTo>
                  <a:pt x="0" y="600501"/>
                </a:moveTo>
                <a:lnTo>
                  <a:pt x="122829" y="286603"/>
                </a:lnTo>
                <a:lnTo>
                  <a:pt x="300250" y="0"/>
                </a:lnTo>
                <a:lnTo>
                  <a:pt x="30025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7381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0538C700-CA90-1C9E-B35D-145B03C003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Calorimeter</a:t>
            </a:r>
          </a:p>
        </p:txBody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id="{C65103FB-CAA2-BCA4-2878-CB3F66FCC6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One technique for determining the specific heat of a substance</a:t>
            </a:r>
          </a:p>
          <a:p>
            <a:pPr eaLnBrk="1" hangingPunct="1"/>
            <a:r>
              <a:rPr lang="en-US" altLang="en-US"/>
              <a:t>A </a:t>
            </a:r>
            <a:r>
              <a:rPr lang="en-US" altLang="en-US" i="1"/>
              <a:t>calorimeter</a:t>
            </a:r>
            <a:r>
              <a:rPr lang="en-US" altLang="en-US"/>
              <a:t> is a vessel that is a good insulator which allows a thermal equilibrium to be achieved between substances without any energy loss to the environment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ECF90931-C7B6-CD78-81DE-2ED6F1E1B8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Calorimetry</a:t>
            </a:r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id="{84EBC6C6-AEF0-7C5A-D31A-41F142FBAE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en-US" sz="2800"/>
              <a:t>Analysis performed using a calorimeter</a:t>
            </a:r>
          </a:p>
          <a:p>
            <a:pPr eaLnBrk="1" hangingPunct="1"/>
            <a:r>
              <a:rPr lang="en-US" altLang="en-US" sz="2800"/>
              <a:t>Conservation of energy applies to the isolated system</a:t>
            </a:r>
          </a:p>
          <a:p>
            <a:pPr eaLnBrk="1" hangingPunct="1"/>
            <a:r>
              <a:rPr lang="en-US" altLang="en-US" sz="2800"/>
              <a:t>The energy that leaves the warmer substance equals the energy that enters the water</a:t>
            </a:r>
          </a:p>
          <a:p>
            <a:pPr lvl="1" eaLnBrk="1" hangingPunct="1"/>
            <a:r>
              <a:rPr lang="en-US" altLang="en-US" sz="2400"/>
              <a:t>                              Q</a:t>
            </a:r>
            <a:r>
              <a:rPr lang="en-US" altLang="en-US" sz="2400" baseline="-25000"/>
              <a:t>cold</a:t>
            </a:r>
            <a:r>
              <a:rPr lang="en-US" altLang="en-US" sz="2400"/>
              <a:t> = -Q</a:t>
            </a:r>
            <a:r>
              <a:rPr lang="en-US" altLang="en-US" sz="2400" baseline="-25000"/>
              <a:t>hot</a:t>
            </a:r>
            <a:r>
              <a:rPr lang="en-US" altLang="en-US" sz="2400"/>
              <a:t> </a:t>
            </a:r>
          </a:p>
          <a:p>
            <a:pPr lvl="1" eaLnBrk="1" hangingPunct="1"/>
            <a:r>
              <a:rPr lang="en-US" altLang="en-US" sz="2400"/>
              <a:t>Negative sign keeps consistency in the sign convention of ΔT</a:t>
            </a:r>
          </a:p>
          <a:p>
            <a:pPr eaLnBrk="1" hangingPunct="1"/>
            <a:endParaRPr lang="en-US" altLang="en-US" sz="28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id="{A7D1BB30-5C46-9082-1EC6-7DB5BC665C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Calorimeter</a:t>
            </a:r>
          </a:p>
        </p:txBody>
      </p:sp>
      <p:grpSp>
        <p:nvGrpSpPr>
          <p:cNvPr id="44035" name="Group 89">
            <a:extLst>
              <a:ext uri="{FF2B5EF4-FFF2-40B4-BE49-F238E27FC236}">
                <a16:creationId xmlns:a16="http://schemas.microsoft.com/office/drawing/2014/main" id="{485C7C21-3E36-E744-6556-DF86F28F6C0B}"/>
              </a:ext>
            </a:extLst>
          </p:cNvPr>
          <p:cNvGrpSpPr>
            <a:grpSpLocks/>
          </p:cNvGrpSpPr>
          <p:nvPr/>
        </p:nvGrpSpPr>
        <p:grpSpPr bwMode="auto">
          <a:xfrm>
            <a:off x="523875" y="1795463"/>
            <a:ext cx="8397875" cy="3541712"/>
            <a:chOff x="330" y="1131"/>
            <a:chExt cx="5290" cy="2231"/>
          </a:xfrm>
        </p:grpSpPr>
        <p:sp>
          <p:nvSpPr>
            <p:cNvPr id="44036" name="Rectangle 4" descr="Wide upward diagonal">
              <a:extLst>
                <a:ext uri="{FF2B5EF4-FFF2-40B4-BE49-F238E27FC236}">
                  <a16:creationId xmlns:a16="http://schemas.microsoft.com/office/drawing/2014/main" id="{5D4E7B79-4E3A-94D3-7995-3F2B66DE9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0" y="1949"/>
              <a:ext cx="1417" cy="133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37" name="Rectangle 5">
              <a:extLst>
                <a:ext uri="{FF2B5EF4-FFF2-40B4-BE49-F238E27FC236}">
                  <a16:creationId xmlns:a16="http://schemas.microsoft.com/office/drawing/2014/main" id="{DF9ACBC2-15AA-C56E-E6CF-89035E0C0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" y="1949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38" name="Rectangle 6">
              <a:extLst>
                <a:ext uri="{FF2B5EF4-FFF2-40B4-BE49-F238E27FC236}">
                  <a16:creationId xmlns:a16="http://schemas.microsoft.com/office/drawing/2014/main" id="{50160EB7-38ED-62BB-60A2-8BC481ACE9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" y="2145"/>
              <a:ext cx="1069" cy="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44039" name="Group 7">
              <a:extLst>
                <a:ext uri="{FF2B5EF4-FFF2-40B4-BE49-F238E27FC236}">
                  <a16:creationId xmlns:a16="http://schemas.microsoft.com/office/drawing/2014/main" id="{609DA0BA-4896-8E4D-A3C4-EA1646E64D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" y="1286"/>
              <a:ext cx="109" cy="1372"/>
              <a:chOff x="4279" y="1535"/>
              <a:chExt cx="164" cy="1692"/>
            </a:xfrm>
          </p:grpSpPr>
          <p:sp>
            <p:nvSpPr>
              <p:cNvPr id="44077" name="Oval 8">
                <a:extLst>
                  <a:ext uri="{FF2B5EF4-FFF2-40B4-BE49-F238E27FC236}">
                    <a16:creationId xmlns:a16="http://schemas.microsoft.com/office/drawing/2014/main" id="{A9A96CED-ACF6-3A62-B198-850DF77205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9" y="3035"/>
                <a:ext cx="164" cy="192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grpSp>
            <p:nvGrpSpPr>
              <p:cNvPr id="44078" name="Group 9">
                <a:extLst>
                  <a:ext uri="{FF2B5EF4-FFF2-40B4-BE49-F238E27FC236}">
                    <a16:creationId xmlns:a16="http://schemas.microsoft.com/office/drawing/2014/main" id="{8EE3228A-F5A4-E461-1842-475C3BBC8E6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32" y="1535"/>
                <a:ext cx="65" cy="1591"/>
                <a:chOff x="4917" y="2212"/>
                <a:chExt cx="202" cy="1591"/>
              </a:xfrm>
            </p:grpSpPr>
            <p:sp>
              <p:nvSpPr>
                <p:cNvPr id="44081" name="AutoShape 10">
                  <a:extLst>
                    <a:ext uri="{FF2B5EF4-FFF2-40B4-BE49-F238E27FC236}">
                      <a16:creationId xmlns:a16="http://schemas.microsoft.com/office/drawing/2014/main" id="{B201A1A5-6417-71B2-424B-76BD617F70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44082" name="Line 11">
                  <a:extLst>
                    <a:ext uri="{FF2B5EF4-FFF2-40B4-BE49-F238E27FC236}">
                      <a16:creationId xmlns:a16="http://schemas.microsoft.com/office/drawing/2014/main" id="{C1E6D084-A18A-8824-A78F-E03D5F851DF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3" name="Line 12">
                  <a:extLst>
                    <a:ext uri="{FF2B5EF4-FFF2-40B4-BE49-F238E27FC236}">
                      <a16:creationId xmlns:a16="http://schemas.microsoft.com/office/drawing/2014/main" id="{C21A691D-9DA5-4940-549D-904DDDEB4E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4" name="Line 13">
                  <a:extLst>
                    <a:ext uri="{FF2B5EF4-FFF2-40B4-BE49-F238E27FC236}">
                      <a16:creationId xmlns:a16="http://schemas.microsoft.com/office/drawing/2014/main" id="{CEED7093-57DC-5574-EA90-A24A88D13C1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5" name="Line 14">
                  <a:extLst>
                    <a:ext uri="{FF2B5EF4-FFF2-40B4-BE49-F238E27FC236}">
                      <a16:creationId xmlns:a16="http://schemas.microsoft.com/office/drawing/2014/main" id="{8528C293-51B2-553C-A286-37BFD03BEA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6" name="Line 15">
                  <a:extLst>
                    <a:ext uri="{FF2B5EF4-FFF2-40B4-BE49-F238E27FC236}">
                      <a16:creationId xmlns:a16="http://schemas.microsoft.com/office/drawing/2014/main" id="{64B90172-CA9F-A604-9C1D-3D0C706714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7" name="Line 16">
                  <a:extLst>
                    <a:ext uri="{FF2B5EF4-FFF2-40B4-BE49-F238E27FC236}">
                      <a16:creationId xmlns:a16="http://schemas.microsoft.com/office/drawing/2014/main" id="{3E4B8065-1AD6-BA4C-A7CA-8F983207C04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8" name="Line 17">
                  <a:extLst>
                    <a:ext uri="{FF2B5EF4-FFF2-40B4-BE49-F238E27FC236}">
                      <a16:creationId xmlns:a16="http://schemas.microsoft.com/office/drawing/2014/main" id="{FB6489C1-0963-FBF5-043C-F2FE6AE806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89" name="Line 18">
                  <a:extLst>
                    <a:ext uri="{FF2B5EF4-FFF2-40B4-BE49-F238E27FC236}">
                      <a16:creationId xmlns:a16="http://schemas.microsoft.com/office/drawing/2014/main" id="{08E5DDD8-67CB-5831-4C40-C70650A8DB5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0" name="Line 19">
                  <a:extLst>
                    <a:ext uri="{FF2B5EF4-FFF2-40B4-BE49-F238E27FC236}">
                      <a16:creationId xmlns:a16="http://schemas.microsoft.com/office/drawing/2014/main" id="{D5F4CA2D-75AC-CD62-819C-8C2571067E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1" name="Line 20">
                  <a:extLst>
                    <a:ext uri="{FF2B5EF4-FFF2-40B4-BE49-F238E27FC236}">
                      <a16:creationId xmlns:a16="http://schemas.microsoft.com/office/drawing/2014/main" id="{F7A7A920-A8F7-F6C5-ED9F-DE1D8EC039B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2" name="Line 21">
                  <a:extLst>
                    <a:ext uri="{FF2B5EF4-FFF2-40B4-BE49-F238E27FC236}">
                      <a16:creationId xmlns:a16="http://schemas.microsoft.com/office/drawing/2014/main" id="{7667C345-40C1-DB99-CB3D-8BC29690BA7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3" name="Line 22">
                  <a:extLst>
                    <a:ext uri="{FF2B5EF4-FFF2-40B4-BE49-F238E27FC236}">
                      <a16:creationId xmlns:a16="http://schemas.microsoft.com/office/drawing/2014/main" id="{BFF8A3BC-5C4A-75B2-0EF5-7D5D35692C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4" name="Line 23">
                  <a:extLst>
                    <a:ext uri="{FF2B5EF4-FFF2-40B4-BE49-F238E27FC236}">
                      <a16:creationId xmlns:a16="http://schemas.microsoft.com/office/drawing/2014/main" id="{59D8C236-ABE4-E654-9DC6-9B8FEAB6D1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5" name="Line 24">
                  <a:extLst>
                    <a:ext uri="{FF2B5EF4-FFF2-40B4-BE49-F238E27FC236}">
                      <a16:creationId xmlns:a16="http://schemas.microsoft.com/office/drawing/2014/main" id="{647D0B54-3033-39FD-9D89-8D62D5DD10D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6" name="Line 25">
                  <a:extLst>
                    <a:ext uri="{FF2B5EF4-FFF2-40B4-BE49-F238E27FC236}">
                      <a16:creationId xmlns:a16="http://schemas.microsoft.com/office/drawing/2014/main" id="{F16372FC-453F-9805-CF47-15131941BAE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97" name="Line 26">
                  <a:extLst>
                    <a:ext uri="{FF2B5EF4-FFF2-40B4-BE49-F238E27FC236}">
                      <a16:creationId xmlns:a16="http://schemas.microsoft.com/office/drawing/2014/main" id="{10230B9D-5684-F3F4-1044-ADE8E13B8F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4079" name="Oval 27">
                <a:extLst>
                  <a:ext uri="{FF2B5EF4-FFF2-40B4-BE49-F238E27FC236}">
                    <a16:creationId xmlns:a16="http://schemas.microsoft.com/office/drawing/2014/main" id="{EC6A9CA3-1477-E661-97F9-FF1632B593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6" y="3063"/>
                <a:ext cx="91" cy="13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44080" name="Rectangle 28">
                <a:extLst>
                  <a:ext uri="{FF2B5EF4-FFF2-40B4-BE49-F238E27FC236}">
                    <a16:creationId xmlns:a16="http://schemas.microsoft.com/office/drawing/2014/main" id="{1049724F-4A68-05D3-0E49-7BF1D222D3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52" y="2240"/>
                <a:ext cx="27" cy="85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</p:grpSp>
        <p:sp>
          <p:nvSpPr>
            <p:cNvPr id="44040" name="Rectangle 29">
              <a:extLst>
                <a:ext uri="{FF2B5EF4-FFF2-40B4-BE49-F238E27FC236}">
                  <a16:creationId xmlns:a16="http://schemas.microsoft.com/office/drawing/2014/main" id="{0C7A6618-8082-6186-997C-52FC3ACAEA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3" y="1181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41" name="Text Box 52">
              <a:extLst>
                <a:ext uri="{FF2B5EF4-FFF2-40B4-BE49-F238E27FC236}">
                  <a16:creationId xmlns:a16="http://schemas.microsoft.com/office/drawing/2014/main" id="{1C77974D-9F34-62A3-AE2E-E9BD46C2FF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98" y="1131"/>
              <a:ext cx="1475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Sample at known temperature T</a:t>
              </a:r>
              <a:r>
                <a:rPr lang="en-US" altLang="en-US" sz="1800" baseline="-25000"/>
                <a:t>x</a:t>
              </a:r>
              <a:r>
                <a:rPr lang="en-US" altLang="en-US" sz="1800"/>
                <a:t> </a:t>
              </a:r>
            </a:p>
          </p:txBody>
        </p:sp>
        <p:sp>
          <p:nvSpPr>
            <p:cNvPr id="44042" name="Text Box 53">
              <a:extLst>
                <a:ext uri="{FF2B5EF4-FFF2-40B4-BE49-F238E27FC236}">
                  <a16:creationId xmlns:a16="http://schemas.microsoft.com/office/drawing/2014/main" id="{176790C0-6D8E-FEF6-3013-E0F080E8E8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57" y="1615"/>
              <a:ext cx="1475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Water at known temperature T</a:t>
              </a:r>
              <a:r>
                <a:rPr lang="en-US" altLang="en-US" sz="1800" baseline="-25000"/>
                <a:t>w</a:t>
              </a:r>
              <a:r>
                <a:rPr lang="en-US" altLang="en-US" sz="1800"/>
                <a:t> </a:t>
              </a:r>
            </a:p>
          </p:txBody>
        </p:sp>
        <p:sp>
          <p:nvSpPr>
            <p:cNvPr id="44043" name="Freeform 54">
              <a:extLst>
                <a:ext uri="{FF2B5EF4-FFF2-40B4-BE49-F238E27FC236}">
                  <a16:creationId xmlns:a16="http://schemas.microsoft.com/office/drawing/2014/main" id="{D6343418-56A5-8476-199B-1F3E8E7B79BD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323" y="1996"/>
              <a:ext cx="512" cy="334"/>
            </a:xfrm>
            <a:custGeom>
              <a:avLst/>
              <a:gdLst>
                <a:gd name="T0" fmla="*/ 512 w 512"/>
                <a:gd name="T1" fmla="*/ 1344 h 210"/>
                <a:gd name="T2" fmla="*/ 238 w 512"/>
                <a:gd name="T3" fmla="*/ 934 h 210"/>
                <a:gd name="T4" fmla="*/ 293 w 512"/>
                <a:gd name="T5" fmla="*/ 587 h 210"/>
                <a:gd name="T6" fmla="*/ 0 w 512"/>
                <a:gd name="T7" fmla="*/ 0 h 2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12"/>
                <a:gd name="T13" fmla="*/ 0 h 210"/>
                <a:gd name="T14" fmla="*/ 512 w 512"/>
                <a:gd name="T15" fmla="*/ 210 h 2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12" h="210">
                  <a:moveTo>
                    <a:pt x="512" y="210"/>
                  </a:moveTo>
                  <a:cubicBezTo>
                    <a:pt x="393" y="188"/>
                    <a:pt x="275" y="166"/>
                    <a:pt x="238" y="146"/>
                  </a:cubicBezTo>
                  <a:cubicBezTo>
                    <a:pt x="201" y="126"/>
                    <a:pt x="333" y="116"/>
                    <a:pt x="293" y="92"/>
                  </a:cubicBezTo>
                  <a:cubicBezTo>
                    <a:pt x="253" y="68"/>
                    <a:pt x="126" y="34"/>
                    <a:pt x="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4" name="Text Box 55">
              <a:extLst>
                <a:ext uri="{FF2B5EF4-FFF2-40B4-BE49-F238E27FC236}">
                  <a16:creationId xmlns:a16="http://schemas.microsoft.com/office/drawing/2014/main" id="{DDCF7606-58E3-D9F7-A184-4E97E0B446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10" y="2957"/>
              <a:ext cx="147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Insulated container</a:t>
              </a:r>
            </a:p>
          </p:txBody>
        </p:sp>
        <p:sp>
          <p:nvSpPr>
            <p:cNvPr id="44045" name="Line 56">
              <a:extLst>
                <a:ext uri="{FF2B5EF4-FFF2-40B4-BE49-F238E27FC236}">
                  <a16:creationId xmlns:a16="http://schemas.microsoft.com/office/drawing/2014/main" id="{2A229E98-09AB-9037-1A18-D014E32678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65" y="3080"/>
              <a:ext cx="2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6" name="Rectangle 57" descr="Wide upward diagonal">
              <a:extLst>
                <a:ext uri="{FF2B5EF4-FFF2-40B4-BE49-F238E27FC236}">
                  <a16:creationId xmlns:a16="http://schemas.microsoft.com/office/drawing/2014/main" id="{4FFEEFB0-1CC7-8AA0-E3D7-DCB95CB1C9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" y="2027"/>
              <a:ext cx="1417" cy="133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47" name="Rectangle 58">
              <a:extLst>
                <a:ext uri="{FF2B5EF4-FFF2-40B4-BE49-F238E27FC236}">
                  <a16:creationId xmlns:a16="http://schemas.microsoft.com/office/drawing/2014/main" id="{106584E9-A7BA-5F4D-2507-C0E5BD895C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4" y="2027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48" name="Rectangle 59">
              <a:extLst>
                <a:ext uri="{FF2B5EF4-FFF2-40B4-BE49-F238E27FC236}">
                  <a16:creationId xmlns:a16="http://schemas.microsoft.com/office/drawing/2014/main" id="{0C58E941-A588-8061-9DFD-CEEC78C5C0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0" y="2223"/>
              <a:ext cx="1069" cy="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44049" name="Group 84">
              <a:extLst>
                <a:ext uri="{FF2B5EF4-FFF2-40B4-BE49-F238E27FC236}">
                  <a16:creationId xmlns:a16="http://schemas.microsoft.com/office/drawing/2014/main" id="{41105C1B-23D8-E144-11C1-C0F5D5B36F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3" y="1364"/>
              <a:ext cx="111" cy="1372"/>
              <a:chOff x="3983" y="1499"/>
              <a:chExt cx="289" cy="1372"/>
            </a:xfrm>
          </p:grpSpPr>
          <p:sp>
            <p:nvSpPr>
              <p:cNvPr id="44056" name="Oval 61">
                <a:extLst>
                  <a:ext uri="{FF2B5EF4-FFF2-40B4-BE49-F238E27FC236}">
                    <a16:creationId xmlns:a16="http://schemas.microsoft.com/office/drawing/2014/main" id="{D4BC9CA1-A0D9-0DCC-2B5A-ADE77B6596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83" y="2715"/>
                <a:ext cx="289" cy="15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grpSp>
            <p:nvGrpSpPr>
              <p:cNvPr id="44057" name="Group 62">
                <a:extLst>
                  <a:ext uri="{FF2B5EF4-FFF2-40B4-BE49-F238E27FC236}">
                    <a16:creationId xmlns:a16="http://schemas.microsoft.com/office/drawing/2014/main" id="{5B8C54C5-A0C1-8323-2DB9-188542200D4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76" y="1499"/>
                <a:ext cx="115" cy="1290"/>
                <a:chOff x="4917" y="2212"/>
                <a:chExt cx="202" cy="1591"/>
              </a:xfrm>
            </p:grpSpPr>
            <p:sp>
              <p:nvSpPr>
                <p:cNvPr id="44060" name="AutoShape 63">
                  <a:extLst>
                    <a:ext uri="{FF2B5EF4-FFF2-40B4-BE49-F238E27FC236}">
                      <a16:creationId xmlns:a16="http://schemas.microsoft.com/office/drawing/2014/main" id="{64196C71-70DF-BEF9-441F-107A0D8E6E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44061" name="Line 64">
                  <a:extLst>
                    <a:ext uri="{FF2B5EF4-FFF2-40B4-BE49-F238E27FC236}">
                      <a16:creationId xmlns:a16="http://schemas.microsoft.com/office/drawing/2014/main" id="{BA57BC95-76B2-56A8-F2EB-6B7058291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2" name="Line 65">
                  <a:extLst>
                    <a:ext uri="{FF2B5EF4-FFF2-40B4-BE49-F238E27FC236}">
                      <a16:creationId xmlns:a16="http://schemas.microsoft.com/office/drawing/2014/main" id="{F32BD893-5EDF-6492-E11F-2B94063570A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3" name="Line 66">
                  <a:extLst>
                    <a:ext uri="{FF2B5EF4-FFF2-40B4-BE49-F238E27FC236}">
                      <a16:creationId xmlns:a16="http://schemas.microsoft.com/office/drawing/2014/main" id="{9B4961DB-5A1A-1E9C-D7E5-5DF3784B62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4" name="Line 67">
                  <a:extLst>
                    <a:ext uri="{FF2B5EF4-FFF2-40B4-BE49-F238E27FC236}">
                      <a16:creationId xmlns:a16="http://schemas.microsoft.com/office/drawing/2014/main" id="{77EB5613-077B-6E82-A64C-467BD50AE88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5" name="Line 68">
                  <a:extLst>
                    <a:ext uri="{FF2B5EF4-FFF2-40B4-BE49-F238E27FC236}">
                      <a16:creationId xmlns:a16="http://schemas.microsoft.com/office/drawing/2014/main" id="{B237F7BF-98C5-BE46-B1ED-792BDC527D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6" name="Line 69">
                  <a:extLst>
                    <a:ext uri="{FF2B5EF4-FFF2-40B4-BE49-F238E27FC236}">
                      <a16:creationId xmlns:a16="http://schemas.microsoft.com/office/drawing/2014/main" id="{66DEB45A-2603-5C63-30A3-1508BF63F0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7" name="Line 70">
                  <a:extLst>
                    <a:ext uri="{FF2B5EF4-FFF2-40B4-BE49-F238E27FC236}">
                      <a16:creationId xmlns:a16="http://schemas.microsoft.com/office/drawing/2014/main" id="{8DFE0725-7FE1-85A9-0E16-9333A61E64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8" name="Line 71">
                  <a:extLst>
                    <a:ext uri="{FF2B5EF4-FFF2-40B4-BE49-F238E27FC236}">
                      <a16:creationId xmlns:a16="http://schemas.microsoft.com/office/drawing/2014/main" id="{8EBD9535-B856-0CA7-B32D-6F595E7386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69" name="Line 72">
                  <a:extLst>
                    <a:ext uri="{FF2B5EF4-FFF2-40B4-BE49-F238E27FC236}">
                      <a16:creationId xmlns:a16="http://schemas.microsoft.com/office/drawing/2014/main" id="{896AE5E8-BAF8-9F1D-34F1-24621DC3222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0" name="Line 73">
                  <a:extLst>
                    <a:ext uri="{FF2B5EF4-FFF2-40B4-BE49-F238E27FC236}">
                      <a16:creationId xmlns:a16="http://schemas.microsoft.com/office/drawing/2014/main" id="{1697425E-4DFB-928F-98D2-F6C29F334B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1" name="Line 74">
                  <a:extLst>
                    <a:ext uri="{FF2B5EF4-FFF2-40B4-BE49-F238E27FC236}">
                      <a16:creationId xmlns:a16="http://schemas.microsoft.com/office/drawing/2014/main" id="{8EF30833-3C96-DD74-414A-545F76C1AC5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2" name="Line 75">
                  <a:extLst>
                    <a:ext uri="{FF2B5EF4-FFF2-40B4-BE49-F238E27FC236}">
                      <a16:creationId xmlns:a16="http://schemas.microsoft.com/office/drawing/2014/main" id="{342C879C-2E09-860C-4181-8C06590225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3" name="Line 76">
                  <a:extLst>
                    <a:ext uri="{FF2B5EF4-FFF2-40B4-BE49-F238E27FC236}">
                      <a16:creationId xmlns:a16="http://schemas.microsoft.com/office/drawing/2014/main" id="{54E0D71E-D07B-E0A9-D7A2-A4C4D4603BF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4" name="Line 77">
                  <a:extLst>
                    <a:ext uri="{FF2B5EF4-FFF2-40B4-BE49-F238E27FC236}">
                      <a16:creationId xmlns:a16="http://schemas.microsoft.com/office/drawing/2014/main" id="{B737765F-2A13-BF7C-1AFA-0417F545EC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5" name="Line 78">
                  <a:extLst>
                    <a:ext uri="{FF2B5EF4-FFF2-40B4-BE49-F238E27FC236}">
                      <a16:creationId xmlns:a16="http://schemas.microsoft.com/office/drawing/2014/main" id="{73D7AB4A-670E-EBB1-DEEB-876F7E431C7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076" name="Line 79">
                  <a:extLst>
                    <a:ext uri="{FF2B5EF4-FFF2-40B4-BE49-F238E27FC236}">
                      <a16:creationId xmlns:a16="http://schemas.microsoft.com/office/drawing/2014/main" id="{5DD4A371-47B8-7B57-CDCE-540FBBE5CEB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4058" name="Oval 80">
                <a:extLst>
                  <a:ext uri="{FF2B5EF4-FFF2-40B4-BE49-F238E27FC236}">
                    <a16:creationId xmlns:a16="http://schemas.microsoft.com/office/drawing/2014/main" id="{A54B12DE-D43B-0D15-C560-7911FADCB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2738"/>
                <a:ext cx="161" cy="111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44059" name="Rectangle 81">
                <a:extLst>
                  <a:ext uri="{FF2B5EF4-FFF2-40B4-BE49-F238E27FC236}">
                    <a16:creationId xmlns:a16="http://schemas.microsoft.com/office/drawing/2014/main" id="{311F77C3-13B5-E5F4-0A8F-AF5EA47E4E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12" y="1609"/>
                <a:ext cx="47" cy="115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</p:grpSp>
        <p:sp>
          <p:nvSpPr>
            <p:cNvPr id="44050" name="Rectangle 82">
              <a:extLst>
                <a:ext uri="{FF2B5EF4-FFF2-40B4-BE49-F238E27FC236}">
                  <a16:creationId xmlns:a16="http://schemas.microsoft.com/office/drawing/2014/main" id="{2B87716D-807C-B6B0-220F-797B274C69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8" y="2603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51" name="AutoShape 83">
              <a:extLst>
                <a:ext uri="{FF2B5EF4-FFF2-40B4-BE49-F238E27FC236}">
                  <a16:creationId xmlns:a16="http://schemas.microsoft.com/office/drawing/2014/main" id="{D0036281-8CDE-7A62-3197-342EAB85EC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2" y="1217"/>
              <a:ext cx="265" cy="741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44052" name="Line 85">
              <a:extLst>
                <a:ext uri="{FF2B5EF4-FFF2-40B4-BE49-F238E27FC236}">
                  <a16:creationId xmlns:a16="http://schemas.microsoft.com/office/drawing/2014/main" id="{D835175A-54BE-D963-C3DD-7EF266552A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2" y="3088"/>
              <a:ext cx="7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53" name="Line 86">
              <a:extLst>
                <a:ext uri="{FF2B5EF4-FFF2-40B4-BE49-F238E27FC236}">
                  <a16:creationId xmlns:a16="http://schemas.microsoft.com/office/drawing/2014/main" id="{F3B83B06-96B1-4C67-0438-D66CAB3357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0" y="1865"/>
              <a:ext cx="10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54" name="Text Box 87">
              <a:extLst>
                <a:ext uri="{FF2B5EF4-FFF2-40B4-BE49-F238E27FC236}">
                  <a16:creationId xmlns:a16="http://schemas.microsoft.com/office/drawing/2014/main" id="{D6D327A7-65C1-3148-9D78-AF2635318D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65" y="1151"/>
              <a:ext cx="1155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Water temperature rises </a:t>
              </a:r>
            </a:p>
          </p:txBody>
        </p:sp>
        <p:sp>
          <p:nvSpPr>
            <p:cNvPr id="44055" name="Line 88">
              <a:extLst>
                <a:ext uri="{FF2B5EF4-FFF2-40B4-BE49-F238E27FC236}">
                  <a16:creationId xmlns:a16="http://schemas.microsoft.com/office/drawing/2014/main" id="{9D4385B0-70F1-BF6B-514B-59B0651F70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84" y="1481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EB2B963D-7008-B13F-FD3F-2E18E5162C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6096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Calorimetry</a:t>
            </a:r>
          </a:p>
        </p:txBody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id="{AF231F94-02EA-FDF5-4741-EF384F144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9800" y="1538288"/>
            <a:ext cx="1981200" cy="1600200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60" name="Rectangle 4">
            <a:extLst>
              <a:ext uri="{FF2B5EF4-FFF2-40B4-BE49-F238E27FC236}">
                <a16:creationId xmlns:a16="http://schemas.microsoft.com/office/drawing/2014/main" id="{31D346AD-B52C-8C36-D445-AB46D193F1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1462088"/>
            <a:ext cx="1981200" cy="1600200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61" name="Text Box 5">
            <a:extLst>
              <a:ext uri="{FF2B5EF4-FFF2-40B4-BE49-F238E27FC236}">
                <a16:creationId xmlns:a16="http://schemas.microsoft.com/office/drawing/2014/main" id="{94027F15-6162-0C0B-3894-D50CF3A9AA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6825" y="1038225"/>
            <a:ext cx="152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Object #1</a:t>
            </a:r>
          </a:p>
        </p:txBody>
      </p:sp>
      <p:sp>
        <p:nvSpPr>
          <p:cNvPr id="45062" name="Text Box 6">
            <a:extLst>
              <a:ext uri="{FF2B5EF4-FFF2-40B4-BE49-F238E27FC236}">
                <a16:creationId xmlns:a16="http://schemas.microsoft.com/office/drawing/2014/main" id="{3CF316C5-6033-0A3E-4F3B-BA0DCA4F82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4600" y="1098550"/>
            <a:ext cx="152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Object #2</a:t>
            </a:r>
          </a:p>
        </p:txBody>
      </p:sp>
      <p:graphicFrame>
        <p:nvGraphicFramePr>
          <p:cNvPr id="45063" name="Object 7">
            <a:extLst>
              <a:ext uri="{FF2B5EF4-FFF2-40B4-BE49-F238E27FC236}">
                <a16:creationId xmlns:a16="http://schemas.microsoft.com/office/drawing/2014/main" id="{094DBAC0-8D38-C59E-28F7-5BD20AAC4FE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81800" y="1676400"/>
          <a:ext cx="48101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9717" imgH="190603" progId="Equation.3">
                  <p:embed/>
                </p:oleObj>
              </mc:Choice>
              <mc:Fallback>
                <p:oleObj name="Equation" r:id="rId2" imgW="129717" imgH="190603" progId="Equation.3">
                  <p:embed/>
                  <p:pic>
                    <p:nvPicPr>
                      <p:cNvPr id="45063" name="Object 7">
                        <a:extLst>
                          <a:ext uri="{FF2B5EF4-FFF2-40B4-BE49-F238E27FC236}">
                            <a16:creationId xmlns:a16="http://schemas.microsoft.com/office/drawing/2014/main" id="{094DBAC0-8D38-C59E-28F7-5BD20AAC4FE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1676400"/>
                        <a:ext cx="481013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064" name="Object 8">
            <a:extLst>
              <a:ext uri="{FF2B5EF4-FFF2-40B4-BE49-F238E27FC236}">
                <a16:creationId xmlns:a16="http://schemas.microsoft.com/office/drawing/2014/main" id="{AF075C4D-C01D-7454-B26C-1F1E6185E70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52600" y="1600200"/>
          <a:ext cx="48101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9717" imgH="190603" progId="Equation.3">
                  <p:embed/>
                </p:oleObj>
              </mc:Choice>
              <mc:Fallback>
                <p:oleObj name="Equation" r:id="rId4" imgW="129717" imgH="190603" progId="Equation.3">
                  <p:embed/>
                  <p:pic>
                    <p:nvPicPr>
                      <p:cNvPr id="45064" name="Object 8">
                        <a:extLst>
                          <a:ext uri="{FF2B5EF4-FFF2-40B4-BE49-F238E27FC236}">
                            <a16:creationId xmlns:a16="http://schemas.microsoft.com/office/drawing/2014/main" id="{AF075C4D-C01D-7454-B26C-1F1E6185E70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1600200"/>
                        <a:ext cx="481013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065" name="Rectangle 9">
            <a:extLst>
              <a:ext uri="{FF2B5EF4-FFF2-40B4-BE49-F238E27FC236}">
                <a16:creationId xmlns:a16="http://schemas.microsoft.com/office/drawing/2014/main" id="{81802F38-FBB2-1458-8522-119EFE6D1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3189288"/>
            <a:ext cx="1981200" cy="1600200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66" name="Rectangle 10">
            <a:extLst>
              <a:ext uri="{FF2B5EF4-FFF2-40B4-BE49-F238E27FC236}">
                <a16:creationId xmlns:a16="http://schemas.microsoft.com/office/drawing/2014/main" id="{675A2B39-8B9F-0770-176A-E6C30A8F4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3189288"/>
            <a:ext cx="1981200" cy="1600200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67" name="Line 11">
            <a:extLst>
              <a:ext uri="{FF2B5EF4-FFF2-40B4-BE49-F238E27FC236}">
                <a16:creationId xmlns:a16="http://schemas.microsoft.com/office/drawing/2014/main" id="{AD5A01AD-F973-259B-E089-8ABCDF8B98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9000" y="3722688"/>
            <a:ext cx="14478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45068" name="Object 12">
            <a:extLst>
              <a:ext uri="{FF2B5EF4-FFF2-40B4-BE49-F238E27FC236}">
                <a16:creationId xmlns:a16="http://schemas.microsoft.com/office/drawing/2014/main" id="{60221AFC-EF36-6C9B-E0BB-2EDDEFEEE8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90800" y="3875088"/>
          <a:ext cx="83820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81975" imgH="190603" progId="Equation.3">
                  <p:embed/>
                </p:oleObj>
              </mc:Choice>
              <mc:Fallback>
                <p:oleObj name="Equation" r:id="rId6" imgW="281975" imgH="190603" progId="Equation.3">
                  <p:embed/>
                  <p:pic>
                    <p:nvPicPr>
                      <p:cNvPr id="45068" name="Object 12">
                        <a:extLst>
                          <a:ext uri="{FF2B5EF4-FFF2-40B4-BE49-F238E27FC236}">
                            <a16:creationId xmlns:a16="http://schemas.microsoft.com/office/drawing/2014/main" id="{60221AFC-EF36-6C9B-E0BB-2EDDEFEEE8B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3875088"/>
                        <a:ext cx="838200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069" name="Object 13">
            <a:extLst>
              <a:ext uri="{FF2B5EF4-FFF2-40B4-BE49-F238E27FC236}">
                <a16:creationId xmlns:a16="http://schemas.microsoft.com/office/drawing/2014/main" id="{FC436322-93A2-258C-6152-CA98567BB0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76800" y="3341688"/>
          <a:ext cx="703263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36043" imgH="190603" progId="Equation.3">
                  <p:embed/>
                </p:oleObj>
              </mc:Choice>
              <mc:Fallback>
                <p:oleObj name="Equation" r:id="rId8" imgW="236043" imgH="190603" progId="Equation.3">
                  <p:embed/>
                  <p:pic>
                    <p:nvPicPr>
                      <p:cNvPr id="45069" name="Object 13">
                        <a:extLst>
                          <a:ext uri="{FF2B5EF4-FFF2-40B4-BE49-F238E27FC236}">
                            <a16:creationId xmlns:a16="http://schemas.microsoft.com/office/drawing/2014/main" id="{FC436322-93A2-258C-6152-CA98567BB0F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3341688"/>
                        <a:ext cx="703263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070" name="Rectangle 14">
            <a:extLst>
              <a:ext uri="{FF2B5EF4-FFF2-40B4-BE49-F238E27FC236}">
                <a16:creationId xmlns:a16="http://schemas.microsoft.com/office/drawing/2014/main" id="{77ACFEF7-2B2E-C3A6-394B-4965C1316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4851400"/>
            <a:ext cx="1981200" cy="1600200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5071" name="Rectangle 15">
            <a:extLst>
              <a:ext uri="{FF2B5EF4-FFF2-40B4-BE49-F238E27FC236}">
                <a16:creationId xmlns:a16="http://schemas.microsoft.com/office/drawing/2014/main" id="{0BE296CE-0F95-BC5D-148F-BE1571B55D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7200" y="4851400"/>
            <a:ext cx="1981200" cy="1600200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45072" name="Object 16">
            <a:extLst>
              <a:ext uri="{FF2B5EF4-FFF2-40B4-BE49-F238E27FC236}">
                <a16:creationId xmlns:a16="http://schemas.microsoft.com/office/drawing/2014/main" id="{B503061B-64B6-64F9-5AF8-42C31891EDD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62400" y="5384800"/>
          <a:ext cx="51911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4603" imgH="205953" progId="Equation.3">
                  <p:embed/>
                </p:oleObj>
              </mc:Choice>
              <mc:Fallback>
                <p:oleObj name="Equation" r:id="rId10" imgW="144603" imgH="205953" progId="Equation.3">
                  <p:embed/>
                  <p:pic>
                    <p:nvPicPr>
                      <p:cNvPr id="45072" name="Object 16">
                        <a:extLst>
                          <a:ext uri="{FF2B5EF4-FFF2-40B4-BE49-F238E27FC236}">
                            <a16:creationId xmlns:a16="http://schemas.microsoft.com/office/drawing/2014/main" id="{B503061B-64B6-64F9-5AF8-42C31891EDD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0" y="5384800"/>
                        <a:ext cx="519113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BE4F314A-6BF1-F8BE-23BE-F5FECEA106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6096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Calorimetry</a:t>
            </a:r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31FA5352-6986-878B-F157-5294B36E5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825" y="1519238"/>
            <a:ext cx="1571625" cy="1258887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84" name="Rectangle 4">
            <a:extLst>
              <a:ext uri="{FF2B5EF4-FFF2-40B4-BE49-F238E27FC236}">
                <a16:creationId xmlns:a16="http://schemas.microsoft.com/office/drawing/2014/main" id="{A6D55069-F4F0-D021-28D4-260BB81DA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487488"/>
            <a:ext cx="1571625" cy="1260475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85" name="Text Box 5">
            <a:extLst>
              <a:ext uri="{FF2B5EF4-FFF2-40B4-BE49-F238E27FC236}">
                <a16:creationId xmlns:a16="http://schemas.microsoft.com/office/drawing/2014/main" id="{C62215EF-401A-7217-54E6-7D9F6D1BB9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763" y="1127125"/>
            <a:ext cx="1209675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Object #1</a:t>
            </a:r>
          </a:p>
        </p:txBody>
      </p:sp>
      <p:sp>
        <p:nvSpPr>
          <p:cNvPr id="46086" name="Text Box 6">
            <a:extLst>
              <a:ext uri="{FF2B5EF4-FFF2-40B4-BE49-F238E27FC236}">
                <a16:creationId xmlns:a16="http://schemas.microsoft.com/office/drawing/2014/main" id="{D8065796-01FF-FAB9-98AF-61E656F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0125" y="1158875"/>
            <a:ext cx="1211263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imes New Roman" panose="02020603050405020304" pitchFamily="18" charset="0"/>
              </a:rPr>
              <a:t>Object #2</a:t>
            </a:r>
          </a:p>
        </p:txBody>
      </p:sp>
      <p:graphicFrame>
        <p:nvGraphicFramePr>
          <p:cNvPr id="46087" name="Object 7">
            <a:extLst>
              <a:ext uri="{FF2B5EF4-FFF2-40B4-BE49-F238E27FC236}">
                <a16:creationId xmlns:a16="http://schemas.microsoft.com/office/drawing/2014/main" id="{61E7FFD9-3279-C5F4-EFE4-F1E5DCE13C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713663" y="1819275"/>
          <a:ext cx="381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9717" imgH="190603" progId="Equation.3">
                  <p:embed/>
                </p:oleObj>
              </mc:Choice>
              <mc:Fallback>
                <p:oleObj name="Equation" r:id="rId2" imgW="129717" imgH="190603" progId="Equation.3">
                  <p:embed/>
                  <p:pic>
                    <p:nvPicPr>
                      <p:cNvPr id="46087" name="Object 7">
                        <a:extLst>
                          <a:ext uri="{FF2B5EF4-FFF2-40B4-BE49-F238E27FC236}">
                            <a16:creationId xmlns:a16="http://schemas.microsoft.com/office/drawing/2014/main" id="{61E7FFD9-3279-C5F4-EFE4-F1E5DCE13C3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3663" y="1819275"/>
                        <a:ext cx="38100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88" name="Object 8">
            <a:extLst>
              <a:ext uri="{FF2B5EF4-FFF2-40B4-BE49-F238E27FC236}">
                <a16:creationId xmlns:a16="http://schemas.microsoft.com/office/drawing/2014/main" id="{848881AA-DF3E-1BE6-5509-94B36AF0BD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76300" y="1787525"/>
          <a:ext cx="381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9717" imgH="190603" progId="Equation.3">
                  <p:embed/>
                </p:oleObj>
              </mc:Choice>
              <mc:Fallback>
                <p:oleObj name="Equation" r:id="rId4" imgW="129717" imgH="190603" progId="Equation.3">
                  <p:embed/>
                  <p:pic>
                    <p:nvPicPr>
                      <p:cNvPr id="46088" name="Object 8">
                        <a:extLst>
                          <a:ext uri="{FF2B5EF4-FFF2-40B4-BE49-F238E27FC236}">
                            <a16:creationId xmlns:a16="http://schemas.microsoft.com/office/drawing/2014/main" id="{848881AA-DF3E-1BE6-5509-94B36AF0BD7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6300" y="1787525"/>
                        <a:ext cx="38100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89" name="Rectangle 9">
            <a:extLst>
              <a:ext uri="{FF2B5EF4-FFF2-40B4-BE49-F238E27FC236}">
                <a16:creationId xmlns:a16="http://schemas.microsoft.com/office/drawing/2014/main" id="{037F72E9-A048-146D-AED3-45D97105DF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713" y="2713038"/>
            <a:ext cx="1573212" cy="1260475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90" name="Rectangle 10">
            <a:extLst>
              <a:ext uri="{FF2B5EF4-FFF2-40B4-BE49-F238E27FC236}">
                <a16:creationId xmlns:a16="http://schemas.microsoft.com/office/drawing/2014/main" id="{B7AEEE2D-8D92-53E9-E16C-A21EB49A6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2925" y="2713038"/>
            <a:ext cx="1571625" cy="126047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91" name="Line 11">
            <a:extLst>
              <a:ext uri="{FF2B5EF4-FFF2-40B4-BE49-F238E27FC236}">
                <a16:creationId xmlns:a16="http://schemas.microsoft.com/office/drawing/2014/main" id="{FABF020F-863A-1232-8A22-A29112599D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00400" y="3095625"/>
            <a:ext cx="114935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6092" name="Line 12">
            <a:extLst>
              <a:ext uri="{FF2B5EF4-FFF2-40B4-BE49-F238E27FC236}">
                <a16:creationId xmlns:a16="http://schemas.microsoft.com/office/drawing/2014/main" id="{27EB3D52-8741-D238-C668-CFBCA8D55C95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9600" y="3095625"/>
            <a:ext cx="114935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46093" name="Object 13">
            <a:extLst>
              <a:ext uri="{FF2B5EF4-FFF2-40B4-BE49-F238E27FC236}">
                <a16:creationId xmlns:a16="http://schemas.microsoft.com/office/drawing/2014/main" id="{325FC634-FC99-82DD-A860-9F59A327D4B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22600" y="3254375"/>
          <a:ext cx="665163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81975" imgH="190603" progId="Equation.3">
                  <p:embed/>
                </p:oleObj>
              </mc:Choice>
              <mc:Fallback>
                <p:oleObj name="Equation" r:id="rId6" imgW="281975" imgH="190603" progId="Equation.3">
                  <p:embed/>
                  <p:pic>
                    <p:nvPicPr>
                      <p:cNvPr id="46093" name="Object 13">
                        <a:extLst>
                          <a:ext uri="{FF2B5EF4-FFF2-40B4-BE49-F238E27FC236}">
                            <a16:creationId xmlns:a16="http://schemas.microsoft.com/office/drawing/2014/main" id="{325FC634-FC99-82DD-A860-9F59A327D4B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2600" y="3254375"/>
                        <a:ext cx="665163" cy="488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94" name="Object 14">
            <a:extLst>
              <a:ext uri="{FF2B5EF4-FFF2-40B4-BE49-F238E27FC236}">
                <a16:creationId xmlns:a16="http://schemas.microsoft.com/office/drawing/2014/main" id="{9EDBA45B-B147-E9AE-C195-F20AF1ED5F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29200" y="3171825"/>
          <a:ext cx="557213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36043" imgH="190603" progId="Equation.3">
                  <p:embed/>
                </p:oleObj>
              </mc:Choice>
              <mc:Fallback>
                <p:oleObj name="Equation" r:id="rId8" imgW="236043" imgH="190603" progId="Equation.3">
                  <p:embed/>
                  <p:pic>
                    <p:nvPicPr>
                      <p:cNvPr id="46094" name="Object 14">
                        <a:extLst>
                          <a:ext uri="{FF2B5EF4-FFF2-40B4-BE49-F238E27FC236}">
                            <a16:creationId xmlns:a16="http://schemas.microsoft.com/office/drawing/2014/main" id="{9EDBA45B-B147-E9AE-C195-F20AF1ED5F5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3171825"/>
                        <a:ext cx="557213" cy="488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95" name="Rectangle 15">
            <a:extLst>
              <a:ext uri="{FF2B5EF4-FFF2-40B4-BE49-F238E27FC236}">
                <a16:creationId xmlns:a16="http://schemas.microsoft.com/office/drawing/2014/main" id="{091220BF-F303-8B54-0381-93DF37BB80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713" y="4073525"/>
            <a:ext cx="1573212" cy="1260475"/>
          </a:xfrm>
          <a:prstGeom prst="rect">
            <a:avLst/>
          </a:prstGeom>
          <a:solidFill>
            <a:srgbClr val="0066C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46096" name="Rectangle 16">
            <a:extLst>
              <a:ext uri="{FF2B5EF4-FFF2-40B4-BE49-F238E27FC236}">
                <a16:creationId xmlns:a16="http://schemas.microsoft.com/office/drawing/2014/main" id="{A1B38B2D-11BA-A4AD-EE83-74FFFDF1E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2925" y="4073525"/>
            <a:ext cx="1571625" cy="1260475"/>
          </a:xfrm>
          <a:prstGeom prst="rect">
            <a:avLst/>
          </a:prstGeom>
          <a:solidFill>
            <a:schemeClr val="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aphicFrame>
        <p:nvGraphicFramePr>
          <p:cNvPr id="46097" name="Object 17">
            <a:extLst>
              <a:ext uri="{FF2B5EF4-FFF2-40B4-BE49-F238E27FC236}">
                <a16:creationId xmlns:a16="http://schemas.microsoft.com/office/drawing/2014/main" id="{A5AC5883-17A7-959B-A505-F1A78F399A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10038" y="4494213"/>
          <a:ext cx="412750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4603" imgH="205953" progId="Equation.3">
                  <p:embed/>
                </p:oleObj>
              </mc:Choice>
              <mc:Fallback>
                <p:oleObj name="Equation" r:id="rId10" imgW="144603" imgH="205953" progId="Equation.3">
                  <p:embed/>
                  <p:pic>
                    <p:nvPicPr>
                      <p:cNvPr id="46097" name="Object 17">
                        <a:extLst>
                          <a:ext uri="{FF2B5EF4-FFF2-40B4-BE49-F238E27FC236}">
                            <a16:creationId xmlns:a16="http://schemas.microsoft.com/office/drawing/2014/main" id="{A5AC5883-17A7-959B-A505-F1A78F399A7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0038" y="4494213"/>
                        <a:ext cx="412750" cy="569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58" name="Object 18">
            <a:extLst>
              <a:ext uri="{FF2B5EF4-FFF2-40B4-BE49-F238E27FC236}">
                <a16:creationId xmlns:a16="http://schemas.microsoft.com/office/drawing/2014/main" id="{1738AA7C-BB97-72A2-17BB-607C9058CBC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8000" y="3279775"/>
          <a:ext cx="2235200" cy="455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188720" imgH="205953" progId="Equation.3">
                  <p:embed/>
                </p:oleObj>
              </mc:Choice>
              <mc:Fallback>
                <p:oleObj name="Equation" r:id="rId12" imgW="1188720" imgH="205953" progId="Equation.3">
                  <p:embed/>
                  <p:pic>
                    <p:nvPicPr>
                      <p:cNvPr id="291858" name="Object 18">
                        <a:extLst>
                          <a:ext uri="{FF2B5EF4-FFF2-40B4-BE49-F238E27FC236}">
                            <a16:creationId xmlns:a16="http://schemas.microsoft.com/office/drawing/2014/main" id="{1738AA7C-BB97-72A2-17BB-607C9058CBC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000" y="3279775"/>
                        <a:ext cx="2235200" cy="455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59" name="Object 19">
            <a:extLst>
              <a:ext uri="{FF2B5EF4-FFF2-40B4-BE49-F238E27FC236}">
                <a16:creationId xmlns:a16="http://schemas.microsoft.com/office/drawing/2014/main" id="{7BA7B819-8660-D0C9-5276-7692447603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72200" y="3248025"/>
          <a:ext cx="2395538" cy="487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88720" imgH="205953" progId="Equation.3">
                  <p:embed/>
                </p:oleObj>
              </mc:Choice>
              <mc:Fallback>
                <p:oleObj name="Equation" r:id="rId14" imgW="1188720" imgH="205953" progId="Equation.3">
                  <p:embed/>
                  <p:pic>
                    <p:nvPicPr>
                      <p:cNvPr id="291859" name="Object 19">
                        <a:extLst>
                          <a:ext uri="{FF2B5EF4-FFF2-40B4-BE49-F238E27FC236}">
                            <a16:creationId xmlns:a16="http://schemas.microsoft.com/office/drawing/2014/main" id="{7BA7B819-8660-D0C9-5276-76924476030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72200" y="3248025"/>
                        <a:ext cx="2395538" cy="4873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60" name="Object 20">
            <a:extLst>
              <a:ext uri="{FF2B5EF4-FFF2-40B4-BE49-F238E27FC236}">
                <a16:creationId xmlns:a16="http://schemas.microsoft.com/office/drawing/2014/main" id="{BF49A0B7-C500-DC6B-3381-F42DBD4E502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78238" y="5370513"/>
          <a:ext cx="1450975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54486" imgH="190603" progId="Equation.3">
                  <p:embed/>
                </p:oleObj>
              </mc:Choice>
              <mc:Fallback>
                <p:oleObj name="Equation" r:id="rId16" imgW="754486" imgH="190603" progId="Equation.3">
                  <p:embed/>
                  <p:pic>
                    <p:nvPicPr>
                      <p:cNvPr id="291860" name="Object 20">
                        <a:extLst>
                          <a:ext uri="{FF2B5EF4-FFF2-40B4-BE49-F238E27FC236}">
                            <a16:creationId xmlns:a16="http://schemas.microsoft.com/office/drawing/2014/main" id="{BF49A0B7-C500-DC6B-3381-F42DBD4E502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78238" y="5370513"/>
                        <a:ext cx="1450975" cy="433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61" name="Object 21">
            <a:extLst>
              <a:ext uri="{FF2B5EF4-FFF2-40B4-BE49-F238E27FC236}">
                <a16:creationId xmlns:a16="http://schemas.microsoft.com/office/drawing/2014/main" id="{5125FD92-ED28-1F53-C188-F6F917F0A6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44788" y="5810250"/>
          <a:ext cx="3475037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691853" imgH="205953" progId="Equation.3">
                  <p:embed/>
                </p:oleObj>
              </mc:Choice>
              <mc:Fallback>
                <p:oleObj name="Equation" r:id="rId18" imgW="1691853" imgH="205953" progId="Equation.3">
                  <p:embed/>
                  <p:pic>
                    <p:nvPicPr>
                      <p:cNvPr id="291861" name="Object 21">
                        <a:extLst>
                          <a:ext uri="{FF2B5EF4-FFF2-40B4-BE49-F238E27FC236}">
                            <a16:creationId xmlns:a16="http://schemas.microsoft.com/office/drawing/2014/main" id="{5125FD92-ED28-1F53-C188-F6F917F0A60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4788" y="5810250"/>
                        <a:ext cx="3475037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C7066990-2ECF-A2F2-5400-EC54C85543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838200"/>
          </a:xfrm>
        </p:spPr>
        <p:txBody>
          <a:bodyPr/>
          <a:lstStyle/>
          <a:p>
            <a:pPr eaLnBrk="1" hangingPunct="1"/>
            <a:r>
              <a:rPr lang="en-US" altLang="en-US"/>
              <a:t>Mixture Example</a:t>
            </a:r>
          </a:p>
        </p:txBody>
      </p:sp>
      <p:sp>
        <p:nvSpPr>
          <p:cNvPr id="47107" name="Text Box 3">
            <a:extLst>
              <a:ext uri="{FF2B5EF4-FFF2-40B4-BE49-F238E27FC236}">
                <a16:creationId xmlns:a16="http://schemas.microsoft.com/office/drawing/2014/main" id="{E82D8BBC-36E4-6277-FFED-FA76290ED5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1219200"/>
            <a:ext cx="8686800" cy="252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>
                <a:latin typeface="Times New Roman" panose="02020603050405020304" pitchFamily="18" charset="0"/>
              </a:rPr>
              <a:t>200 cm</a:t>
            </a:r>
            <a:r>
              <a:rPr lang="en-US" altLang="en-US" baseline="30000">
                <a:latin typeface="Times New Roman" panose="02020603050405020304" pitchFamily="18" charset="0"/>
              </a:rPr>
              <a:t>3</a:t>
            </a:r>
            <a:r>
              <a:rPr lang="en-US" altLang="en-US">
                <a:latin typeface="Times New Roman" panose="02020603050405020304" pitchFamily="18" charset="0"/>
              </a:rPr>
              <a:t> of hot water at 95</a:t>
            </a:r>
            <a:r>
              <a:rPr lang="en-US" altLang="en-US" baseline="30000">
                <a:latin typeface="Times New Roman" panose="02020603050405020304" pitchFamily="18" charset="0"/>
              </a:rPr>
              <a:t>o</a:t>
            </a:r>
            <a:r>
              <a:rPr lang="en-US" altLang="en-US">
                <a:latin typeface="Times New Roman" panose="02020603050405020304" pitchFamily="18" charset="0"/>
              </a:rPr>
              <a:t>C is poured into a 150 g glass cup initially at 25</a:t>
            </a:r>
            <a:r>
              <a:rPr lang="en-US" altLang="en-US" baseline="30000">
                <a:latin typeface="Times New Roman" panose="02020603050405020304" pitchFamily="18" charset="0"/>
              </a:rPr>
              <a:t>o</a:t>
            </a:r>
            <a:r>
              <a:rPr lang="en-US" altLang="en-US">
                <a:latin typeface="Times New Roman" panose="02020603050405020304" pitchFamily="18" charset="0"/>
              </a:rPr>
              <a:t>C.  What is the final temperature of the mixture when equilibrium is reached, assuming no heat flows to the surroundings.</a:t>
            </a:r>
          </a:p>
        </p:txBody>
      </p:sp>
      <p:sp>
        <p:nvSpPr>
          <p:cNvPr id="292868" name="Line 4">
            <a:extLst>
              <a:ext uri="{FF2B5EF4-FFF2-40B4-BE49-F238E27FC236}">
                <a16:creationId xmlns:a16="http://schemas.microsoft.com/office/drawing/2014/main" id="{4D83109F-874F-67ED-14FA-8CB8222851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352800" y="4857750"/>
            <a:ext cx="12954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5">
            <a:extLst>
              <a:ext uri="{FF2B5EF4-FFF2-40B4-BE49-F238E27FC236}">
                <a16:creationId xmlns:a16="http://schemas.microsoft.com/office/drawing/2014/main" id="{2F2E6B13-8BEB-224D-FE50-841F01471F6E}"/>
              </a:ext>
            </a:extLst>
          </p:cNvPr>
          <p:cNvGrpSpPr>
            <a:grpSpLocks/>
          </p:cNvGrpSpPr>
          <p:nvPr/>
        </p:nvGrpSpPr>
        <p:grpSpPr bwMode="auto">
          <a:xfrm>
            <a:off x="6324600" y="3943350"/>
            <a:ext cx="1676400" cy="2209800"/>
            <a:chOff x="3984" y="2736"/>
            <a:chExt cx="1056" cy="1392"/>
          </a:xfrm>
        </p:grpSpPr>
        <p:grpSp>
          <p:nvGrpSpPr>
            <p:cNvPr id="47119" name="Group 6">
              <a:extLst>
                <a:ext uri="{FF2B5EF4-FFF2-40B4-BE49-F238E27FC236}">
                  <a16:creationId xmlns:a16="http://schemas.microsoft.com/office/drawing/2014/main" id="{61949454-4F64-D0BF-4D1E-AFF2E0E094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84" y="2736"/>
              <a:ext cx="1056" cy="1392"/>
              <a:chOff x="480" y="2688"/>
              <a:chExt cx="1056" cy="1392"/>
            </a:xfrm>
          </p:grpSpPr>
          <p:sp>
            <p:nvSpPr>
              <p:cNvPr id="47121" name="AutoShape 7">
                <a:extLst>
                  <a:ext uri="{FF2B5EF4-FFF2-40B4-BE49-F238E27FC236}">
                    <a16:creationId xmlns:a16="http://schemas.microsoft.com/office/drawing/2014/main" id="{B5759027-243D-7CD0-5A8A-F1456FDA94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6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22" name="Line 8">
                <a:extLst>
                  <a:ext uri="{FF2B5EF4-FFF2-40B4-BE49-F238E27FC236}">
                    <a16:creationId xmlns:a16="http://schemas.microsoft.com/office/drawing/2014/main" id="{0B3B376F-C37B-18AF-61D2-F83921F2D9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23" name="Line 9">
                <a:extLst>
                  <a:ext uri="{FF2B5EF4-FFF2-40B4-BE49-F238E27FC236}">
                    <a16:creationId xmlns:a16="http://schemas.microsoft.com/office/drawing/2014/main" id="{37F941D6-D6FD-4AF3-45A4-FF841DBE3A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24" name="Line 10">
                <a:extLst>
                  <a:ext uri="{FF2B5EF4-FFF2-40B4-BE49-F238E27FC236}">
                    <a16:creationId xmlns:a16="http://schemas.microsoft.com/office/drawing/2014/main" id="{466C485E-34C9-3FB9-9BB2-1ED8C7AC99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47120" name="Object 11">
              <a:extLst>
                <a:ext uri="{FF2B5EF4-FFF2-40B4-BE49-F238E27FC236}">
                  <a16:creationId xmlns:a16="http://schemas.microsoft.com/office/drawing/2014/main" id="{6BF3958C-60E0-ACF9-FCA4-DABCF21E239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368" y="3168"/>
            <a:ext cx="327" cy="4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4603" imgH="205953" progId="Equation.3">
                    <p:embed/>
                  </p:oleObj>
                </mc:Choice>
                <mc:Fallback>
                  <p:oleObj name="Equation" r:id="rId2" imgW="144603" imgH="205953" progId="Equation.3">
                    <p:embed/>
                    <p:pic>
                      <p:nvPicPr>
                        <p:cNvPr id="47120" name="Object 11">
                          <a:extLst>
                            <a:ext uri="{FF2B5EF4-FFF2-40B4-BE49-F238E27FC236}">
                              <a16:creationId xmlns:a16="http://schemas.microsoft.com/office/drawing/2014/main" id="{6BF3958C-60E0-ACF9-FCA4-DABCF21E2394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3168"/>
                          <a:ext cx="327" cy="4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2">
            <a:extLst>
              <a:ext uri="{FF2B5EF4-FFF2-40B4-BE49-F238E27FC236}">
                <a16:creationId xmlns:a16="http://schemas.microsoft.com/office/drawing/2014/main" id="{E873A07F-168A-4AA0-F239-0A99FB82F538}"/>
              </a:ext>
            </a:extLst>
          </p:cNvPr>
          <p:cNvGrpSpPr>
            <a:grpSpLocks/>
          </p:cNvGrpSpPr>
          <p:nvPr/>
        </p:nvGrpSpPr>
        <p:grpSpPr bwMode="auto">
          <a:xfrm>
            <a:off x="762000" y="3943350"/>
            <a:ext cx="2209800" cy="2209800"/>
            <a:chOff x="480" y="2736"/>
            <a:chExt cx="1392" cy="1392"/>
          </a:xfrm>
        </p:grpSpPr>
        <p:grpSp>
          <p:nvGrpSpPr>
            <p:cNvPr id="47111" name="Group 13">
              <a:extLst>
                <a:ext uri="{FF2B5EF4-FFF2-40B4-BE49-F238E27FC236}">
                  <a16:creationId xmlns:a16="http://schemas.microsoft.com/office/drawing/2014/main" id="{4B2AE813-ACC5-AD6C-B218-49CAD683A6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0" y="2736"/>
              <a:ext cx="1056" cy="1392"/>
              <a:chOff x="480" y="2688"/>
              <a:chExt cx="1056" cy="1392"/>
            </a:xfrm>
          </p:grpSpPr>
          <p:sp>
            <p:nvSpPr>
              <p:cNvPr id="47115" name="AutoShape 14">
                <a:extLst>
                  <a:ext uri="{FF2B5EF4-FFF2-40B4-BE49-F238E27FC236}">
                    <a16:creationId xmlns:a16="http://schemas.microsoft.com/office/drawing/2014/main" id="{7EF35E36-1B42-90C8-D93B-4F3A399FF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6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7116" name="Line 15">
                <a:extLst>
                  <a:ext uri="{FF2B5EF4-FFF2-40B4-BE49-F238E27FC236}">
                    <a16:creationId xmlns:a16="http://schemas.microsoft.com/office/drawing/2014/main" id="{8BCD2556-8DD0-B248-009A-91E463017A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17" name="Line 16">
                <a:extLst>
                  <a:ext uri="{FF2B5EF4-FFF2-40B4-BE49-F238E27FC236}">
                    <a16:creationId xmlns:a16="http://schemas.microsoft.com/office/drawing/2014/main" id="{7011C0D0-39AF-34FA-9B8E-BC4FCC5147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118" name="Line 17">
                <a:extLst>
                  <a:ext uri="{FF2B5EF4-FFF2-40B4-BE49-F238E27FC236}">
                    <a16:creationId xmlns:a16="http://schemas.microsoft.com/office/drawing/2014/main" id="{8D7B10DA-8021-3FEE-3B39-FBDF577F08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47112" name="Object 18">
              <a:extLst>
                <a:ext uri="{FF2B5EF4-FFF2-40B4-BE49-F238E27FC236}">
                  <a16:creationId xmlns:a16="http://schemas.microsoft.com/office/drawing/2014/main" id="{E73F1F66-348A-57D5-3E16-E99D6712B2E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720" y="3120"/>
            <a:ext cx="559" cy="3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35138" imgH="167577" progId="Equation.3">
                    <p:embed/>
                  </p:oleObj>
                </mc:Choice>
                <mc:Fallback>
                  <p:oleObj name="Equation" r:id="rId4" imgW="335138" imgH="167577" progId="Equation.3">
                    <p:embed/>
                    <p:pic>
                      <p:nvPicPr>
                        <p:cNvPr id="47112" name="Object 18">
                          <a:extLst>
                            <a:ext uri="{FF2B5EF4-FFF2-40B4-BE49-F238E27FC236}">
                              <a16:creationId xmlns:a16="http://schemas.microsoft.com/office/drawing/2014/main" id="{E73F1F66-348A-57D5-3E16-E99D6712B2E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20" y="3120"/>
                          <a:ext cx="559" cy="3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113" name="Object 19">
              <a:extLst>
                <a:ext uri="{FF2B5EF4-FFF2-40B4-BE49-F238E27FC236}">
                  <a16:creationId xmlns:a16="http://schemas.microsoft.com/office/drawing/2014/main" id="{1B7DC173-4AA3-5C62-A275-CF12C01036B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392" y="3792"/>
            <a:ext cx="480" cy="2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35138" imgH="167577" progId="Equation.3">
                    <p:embed/>
                  </p:oleObj>
                </mc:Choice>
                <mc:Fallback>
                  <p:oleObj name="Equation" r:id="rId6" imgW="335138" imgH="167577" progId="Equation.3">
                    <p:embed/>
                    <p:pic>
                      <p:nvPicPr>
                        <p:cNvPr id="47113" name="Object 19">
                          <a:extLst>
                            <a:ext uri="{FF2B5EF4-FFF2-40B4-BE49-F238E27FC236}">
                              <a16:creationId xmlns:a16="http://schemas.microsoft.com/office/drawing/2014/main" id="{1B7DC173-4AA3-5C62-A275-CF12C01036B1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3792"/>
                          <a:ext cx="480" cy="2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114" name="Line 20">
              <a:extLst>
                <a:ext uri="{FF2B5EF4-FFF2-40B4-BE49-F238E27FC236}">
                  <a16:creationId xmlns:a16="http://schemas.microsoft.com/office/drawing/2014/main" id="{B15BFAD2-2DFE-30E3-081B-A4C43AC7A5B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392" y="3456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2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7504BC20-82E2-C8E5-35A3-919ED815A3B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074863" y="0"/>
            <a:ext cx="4114800" cy="838200"/>
          </a:xfrm>
        </p:spPr>
        <p:txBody>
          <a:bodyPr/>
          <a:lstStyle/>
          <a:p>
            <a:pPr eaLnBrk="1" hangingPunct="1"/>
            <a:r>
              <a:rPr lang="en-US" altLang="en-US"/>
              <a:t>Mixture Example</a:t>
            </a:r>
          </a:p>
        </p:txBody>
      </p:sp>
      <p:sp>
        <p:nvSpPr>
          <p:cNvPr id="293891" name="Text Box 3">
            <a:extLst>
              <a:ext uri="{FF2B5EF4-FFF2-40B4-BE49-F238E27FC236}">
                <a16:creationId xmlns:a16="http://schemas.microsoft.com/office/drawing/2014/main" id="{FBD84CCC-F791-2677-53E8-38FCE131C9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825750"/>
            <a:ext cx="86868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hlink"/>
                </a:solidFill>
                <a:latin typeface="Times New Roman" panose="02020603050405020304" pitchFamily="18" charset="0"/>
              </a:rPr>
              <a:t>What is the mass of 200 cm</a:t>
            </a:r>
            <a:r>
              <a:rPr lang="en-US" altLang="en-US" sz="2800" baseline="30000">
                <a:solidFill>
                  <a:schemeClr val="hlink"/>
                </a:solidFill>
                <a:latin typeface="Times New Roman" panose="02020603050405020304" pitchFamily="18" charset="0"/>
              </a:rPr>
              <a:t>3</a:t>
            </a:r>
            <a:r>
              <a:rPr lang="en-US" altLang="en-US" sz="2800">
                <a:solidFill>
                  <a:schemeClr val="hlink"/>
                </a:solidFill>
                <a:latin typeface="Times New Roman" panose="02020603050405020304" pitchFamily="18" charset="0"/>
              </a:rPr>
              <a:t> of water?</a:t>
            </a:r>
          </a:p>
        </p:txBody>
      </p:sp>
      <p:grpSp>
        <p:nvGrpSpPr>
          <p:cNvPr id="48132" name="Group 24">
            <a:extLst>
              <a:ext uri="{FF2B5EF4-FFF2-40B4-BE49-F238E27FC236}">
                <a16:creationId xmlns:a16="http://schemas.microsoft.com/office/drawing/2014/main" id="{4CB539D5-D2E5-6726-4592-401F52407097}"/>
              </a:ext>
            </a:extLst>
          </p:cNvPr>
          <p:cNvGrpSpPr>
            <a:grpSpLocks/>
          </p:cNvGrpSpPr>
          <p:nvPr/>
        </p:nvGrpSpPr>
        <p:grpSpPr bwMode="auto">
          <a:xfrm>
            <a:off x="6019800" y="1203325"/>
            <a:ext cx="2851150" cy="1266825"/>
            <a:chOff x="2832" y="0"/>
            <a:chExt cx="2784" cy="1392"/>
          </a:xfrm>
        </p:grpSpPr>
        <p:sp>
          <p:nvSpPr>
            <p:cNvPr id="48138" name="Line 4">
              <a:extLst>
                <a:ext uri="{FF2B5EF4-FFF2-40B4-BE49-F238E27FC236}">
                  <a16:creationId xmlns:a16="http://schemas.microsoft.com/office/drawing/2014/main" id="{2B3A63FB-9815-4B04-0521-7C69B65B3E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8" y="1296"/>
              <a:ext cx="81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139" name="Group 5">
              <a:extLst>
                <a:ext uri="{FF2B5EF4-FFF2-40B4-BE49-F238E27FC236}">
                  <a16:creationId xmlns:a16="http://schemas.microsoft.com/office/drawing/2014/main" id="{5CD5D56C-B621-586E-C507-0E5FD1AF8E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" y="0"/>
              <a:ext cx="1056" cy="1392"/>
              <a:chOff x="480" y="2688"/>
              <a:chExt cx="1056" cy="1392"/>
            </a:xfrm>
          </p:grpSpPr>
          <p:sp>
            <p:nvSpPr>
              <p:cNvPr id="48149" name="AutoShape 6">
                <a:extLst>
                  <a:ext uri="{FF2B5EF4-FFF2-40B4-BE49-F238E27FC236}">
                    <a16:creationId xmlns:a16="http://schemas.microsoft.com/office/drawing/2014/main" id="{C0F4EB6D-04E3-C1EB-E488-6EE2C1CF76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6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150" name="Line 7">
                <a:extLst>
                  <a:ext uri="{FF2B5EF4-FFF2-40B4-BE49-F238E27FC236}">
                    <a16:creationId xmlns:a16="http://schemas.microsoft.com/office/drawing/2014/main" id="{FEE77DA4-0593-B4B7-2E35-B34E19BAF3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51" name="Line 8">
                <a:extLst>
                  <a:ext uri="{FF2B5EF4-FFF2-40B4-BE49-F238E27FC236}">
                    <a16:creationId xmlns:a16="http://schemas.microsoft.com/office/drawing/2014/main" id="{DEEAABFF-8DD9-DA34-8D4C-588DB1201E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52" name="Line 9">
                <a:extLst>
                  <a:ext uri="{FF2B5EF4-FFF2-40B4-BE49-F238E27FC236}">
                    <a16:creationId xmlns:a16="http://schemas.microsoft.com/office/drawing/2014/main" id="{C02C4C18-4F60-66F1-5B4D-9A727BD910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8140" name="Group 10">
              <a:extLst>
                <a:ext uri="{FF2B5EF4-FFF2-40B4-BE49-F238E27FC236}">
                  <a16:creationId xmlns:a16="http://schemas.microsoft.com/office/drawing/2014/main" id="{D470C544-6600-8096-F45A-F001C9419F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0" y="0"/>
              <a:ext cx="1056" cy="1392"/>
              <a:chOff x="480" y="2688"/>
              <a:chExt cx="1056" cy="1392"/>
            </a:xfrm>
          </p:grpSpPr>
          <p:sp>
            <p:nvSpPr>
              <p:cNvPr id="48145" name="AutoShape 11">
                <a:extLst>
                  <a:ext uri="{FF2B5EF4-FFF2-40B4-BE49-F238E27FC236}">
                    <a16:creationId xmlns:a16="http://schemas.microsoft.com/office/drawing/2014/main" id="{E08A25AB-DDC8-45A2-0218-5DD1529247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6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146" name="Line 12">
                <a:extLst>
                  <a:ext uri="{FF2B5EF4-FFF2-40B4-BE49-F238E27FC236}">
                    <a16:creationId xmlns:a16="http://schemas.microsoft.com/office/drawing/2014/main" id="{D716E9A9-169C-2CC1-78C2-512578BDFF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47" name="Line 13">
                <a:extLst>
                  <a:ext uri="{FF2B5EF4-FFF2-40B4-BE49-F238E27FC236}">
                    <a16:creationId xmlns:a16="http://schemas.microsoft.com/office/drawing/2014/main" id="{FBE4383E-9ABC-BFFE-0202-D246DB32E2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148" name="Line 14">
                <a:extLst>
                  <a:ext uri="{FF2B5EF4-FFF2-40B4-BE49-F238E27FC236}">
                    <a16:creationId xmlns:a16="http://schemas.microsoft.com/office/drawing/2014/main" id="{F7C5AC62-5860-0E0C-231F-773EB89F919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48141" name="Object 15">
              <a:extLst>
                <a:ext uri="{FF2B5EF4-FFF2-40B4-BE49-F238E27FC236}">
                  <a16:creationId xmlns:a16="http://schemas.microsoft.com/office/drawing/2014/main" id="{98D0CE08-AC92-2ED7-90C8-EBD2A80EA1EB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944" y="480"/>
            <a:ext cx="327" cy="4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4603" imgH="205953" progId="Equation.3">
                    <p:embed/>
                  </p:oleObj>
                </mc:Choice>
                <mc:Fallback>
                  <p:oleObj name="Equation" r:id="rId2" imgW="144603" imgH="205953" progId="Equation.3">
                    <p:embed/>
                    <p:pic>
                      <p:nvPicPr>
                        <p:cNvPr id="48141" name="Object 15">
                          <a:extLst>
                            <a:ext uri="{FF2B5EF4-FFF2-40B4-BE49-F238E27FC236}">
                              <a16:creationId xmlns:a16="http://schemas.microsoft.com/office/drawing/2014/main" id="{98D0CE08-AC92-2ED7-90C8-EBD2A80EA1EB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44" y="480"/>
                          <a:ext cx="327" cy="4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2" name="Object 16">
              <a:extLst>
                <a:ext uri="{FF2B5EF4-FFF2-40B4-BE49-F238E27FC236}">
                  <a16:creationId xmlns:a16="http://schemas.microsoft.com/office/drawing/2014/main" id="{D912EFE9-43FD-CE48-6388-B5F638564E2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072" y="432"/>
            <a:ext cx="559" cy="3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35138" imgH="167577" progId="Equation.3">
                    <p:embed/>
                  </p:oleObj>
                </mc:Choice>
                <mc:Fallback>
                  <p:oleObj name="Equation" r:id="rId4" imgW="335138" imgH="167577" progId="Equation.3">
                    <p:embed/>
                    <p:pic>
                      <p:nvPicPr>
                        <p:cNvPr id="48142" name="Object 16">
                          <a:extLst>
                            <a:ext uri="{FF2B5EF4-FFF2-40B4-BE49-F238E27FC236}">
                              <a16:creationId xmlns:a16="http://schemas.microsoft.com/office/drawing/2014/main" id="{D912EFE9-43FD-CE48-6388-B5F638564E2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2" y="432"/>
                          <a:ext cx="559" cy="3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3" name="Object 17">
              <a:extLst>
                <a:ext uri="{FF2B5EF4-FFF2-40B4-BE49-F238E27FC236}">
                  <a16:creationId xmlns:a16="http://schemas.microsoft.com/office/drawing/2014/main" id="{E9C49313-21C6-667D-3D75-AC160270CE9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792" y="912"/>
            <a:ext cx="480" cy="2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35138" imgH="167577" progId="Equation.3">
                    <p:embed/>
                  </p:oleObj>
                </mc:Choice>
                <mc:Fallback>
                  <p:oleObj name="Equation" r:id="rId6" imgW="335138" imgH="167577" progId="Equation.3">
                    <p:embed/>
                    <p:pic>
                      <p:nvPicPr>
                        <p:cNvPr id="48143" name="Object 17">
                          <a:extLst>
                            <a:ext uri="{FF2B5EF4-FFF2-40B4-BE49-F238E27FC236}">
                              <a16:creationId xmlns:a16="http://schemas.microsoft.com/office/drawing/2014/main" id="{E9C49313-21C6-667D-3D75-AC160270CE97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92" y="912"/>
                          <a:ext cx="480" cy="2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8144" name="Line 18">
              <a:extLst>
                <a:ext uri="{FF2B5EF4-FFF2-40B4-BE49-F238E27FC236}">
                  <a16:creationId xmlns:a16="http://schemas.microsoft.com/office/drawing/2014/main" id="{57F8C4EC-3A57-AD8D-152B-03E21CA414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44" y="672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3907" name="Text Box 19">
            <a:extLst>
              <a:ext uri="{FF2B5EF4-FFF2-40B4-BE49-F238E27FC236}">
                <a16:creationId xmlns:a16="http://schemas.microsoft.com/office/drawing/2014/main" id="{5E132F40-D959-866F-BBA0-5E2D03AAB0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6913" y="2743200"/>
            <a:ext cx="26670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3600">
                <a:latin typeface="Times New Roman" panose="02020603050405020304" pitchFamily="18" charset="0"/>
              </a:rPr>
              <a:t>200 g</a:t>
            </a:r>
          </a:p>
        </p:txBody>
      </p:sp>
      <p:graphicFrame>
        <p:nvGraphicFramePr>
          <p:cNvPr id="293908" name="Object 20">
            <a:extLst>
              <a:ext uri="{FF2B5EF4-FFF2-40B4-BE49-F238E27FC236}">
                <a16:creationId xmlns:a16="http://schemas.microsoft.com/office/drawing/2014/main" id="{CA0A7D0D-8E97-C3A1-4856-4143F0F572A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01750" y="3522663"/>
          <a:ext cx="5092700" cy="671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44111" imgH="205953" progId="Equation.3">
                  <p:embed/>
                </p:oleObj>
              </mc:Choice>
              <mc:Fallback>
                <p:oleObj name="Equation" r:id="rId8" imgW="1844111" imgH="205953" progId="Equation.3">
                  <p:embed/>
                  <p:pic>
                    <p:nvPicPr>
                      <p:cNvPr id="293908" name="Object 20">
                        <a:extLst>
                          <a:ext uri="{FF2B5EF4-FFF2-40B4-BE49-F238E27FC236}">
                            <a16:creationId xmlns:a16="http://schemas.microsoft.com/office/drawing/2014/main" id="{CA0A7D0D-8E97-C3A1-4856-4143F0F572A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1750" y="3522663"/>
                        <a:ext cx="5092700" cy="671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09" name="Object 21">
            <a:extLst>
              <a:ext uri="{FF2B5EF4-FFF2-40B4-BE49-F238E27FC236}">
                <a16:creationId xmlns:a16="http://schemas.microsoft.com/office/drawing/2014/main" id="{5C0D8310-8F59-6A73-E3E3-E5C6171088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0" y="4456113"/>
          <a:ext cx="9144000" cy="658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954886" imgH="243903" progId="Equation.3">
                  <p:embed/>
                </p:oleObj>
              </mc:Choice>
              <mc:Fallback>
                <p:oleObj name="Equation" r:id="rId10" imgW="3954886" imgH="243903" progId="Equation.3">
                  <p:embed/>
                  <p:pic>
                    <p:nvPicPr>
                      <p:cNvPr id="293909" name="Object 21">
                        <a:extLst>
                          <a:ext uri="{FF2B5EF4-FFF2-40B4-BE49-F238E27FC236}">
                            <a16:creationId xmlns:a16="http://schemas.microsoft.com/office/drawing/2014/main" id="{5C0D8310-8F59-6A73-E3E3-E5C61710880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4456113"/>
                        <a:ext cx="9144000" cy="658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10" name="Object 22">
            <a:extLst>
              <a:ext uri="{FF2B5EF4-FFF2-40B4-BE49-F238E27FC236}">
                <a16:creationId xmlns:a16="http://schemas.microsoft.com/office/drawing/2014/main" id="{C3409E8A-F157-4F54-C1A9-29707ADF551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27263" y="5162550"/>
          <a:ext cx="4600575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973403" imgH="205953" progId="Equation.3">
                  <p:embed/>
                </p:oleObj>
              </mc:Choice>
              <mc:Fallback>
                <p:oleObj name="Equation" r:id="rId12" imgW="1973403" imgH="205953" progId="Equation.3">
                  <p:embed/>
                  <p:pic>
                    <p:nvPicPr>
                      <p:cNvPr id="293910" name="Object 22">
                        <a:extLst>
                          <a:ext uri="{FF2B5EF4-FFF2-40B4-BE49-F238E27FC236}">
                            <a16:creationId xmlns:a16="http://schemas.microsoft.com/office/drawing/2014/main" id="{C3409E8A-F157-4F54-C1A9-29707ADF551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7263" y="5162550"/>
                        <a:ext cx="4600575" cy="568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11" name="Object 23">
            <a:extLst>
              <a:ext uri="{FF2B5EF4-FFF2-40B4-BE49-F238E27FC236}">
                <a16:creationId xmlns:a16="http://schemas.microsoft.com/office/drawing/2014/main" id="{3AAB21B4-B880-6F12-AB83-6E23989CF1E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92513" y="5651500"/>
          <a:ext cx="1862137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77453" imgH="220877" progId="Equation.3">
                  <p:embed/>
                </p:oleObj>
              </mc:Choice>
              <mc:Fallback>
                <p:oleObj name="Equation" r:id="rId14" imgW="777453" imgH="220877" progId="Equation.3">
                  <p:embed/>
                  <p:pic>
                    <p:nvPicPr>
                      <p:cNvPr id="293911" name="Object 23">
                        <a:extLst>
                          <a:ext uri="{FF2B5EF4-FFF2-40B4-BE49-F238E27FC236}">
                            <a16:creationId xmlns:a16="http://schemas.microsoft.com/office/drawing/2014/main" id="{3AAB21B4-B880-6F12-AB83-6E23989CF1E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2513" y="5651500"/>
                        <a:ext cx="1862137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3891" grpId="0" autoUpdateAnimBg="0"/>
      <p:bldP spid="293907" grpId="0" autoUpdateAnimBg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123.12.1.1</a:t>
            </a:r>
          </a:p>
        </p:txBody>
      </p:sp>
      <p:sp>
        <p:nvSpPr>
          <p:cNvPr id="1699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/>
              <a:t>I have a sample of a substance with a heat capacity of 100J/K. How much heat can this sample hold if it is at 2000K?</a:t>
            </a:r>
          </a:p>
          <a:p>
            <a:pPr>
              <a:buFontTx/>
              <a:buAutoNum type="alphaUcPeriod"/>
            </a:pPr>
            <a:r>
              <a:rPr lang="en-US"/>
              <a:t> 2000000J</a:t>
            </a:r>
          </a:p>
          <a:p>
            <a:pPr>
              <a:buFontTx/>
              <a:buAutoNum type="alphaUcPeriod"/>
            </a:pPr>
            <a:r>
              <a:rPr lang="en-US"/>
              <a:t>20J</a:t>
            </a:r>
          </a:p>
          <a:p>
            <a:pPr>
              <a:buFontTx/>
              <a:buAutoNum type="alphaUcPeriod"/>
            </a:pPr>
            <a:r>
              <a:rPr lang="en-US"/>
              <a:t>0.5J</a:t>
            </a:r>
          </a:p>
          <a:p>
            <a:pPr>
              <a:buFontTx/>
              <a:buAutoNum type="alphaUcPeriod"/>
            </a:pPr>
            <a:r>
              <a:rPr lang="en-US"/>
              <a:t>None at all</a:t>
            </a:r>
          </a:p>
        </p:txBody>
      </p:sp>
      <p:sp>
        <p:nvSpPr>
          <p:cNvPr id="169988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F4F3EC6-6038-4A01-ACEF-F6206AE311A5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6727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6E852D-E3A0-6CD4-8A6B-5EE3AEFE0F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B8C2DDB-BE30-E9A3-081E-7490C8E1C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715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61" name="Picture 5" descr="Frying pan by rdevri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6885" y="968101"/>
            <a:ext cx="3600903" cy="4354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658" name="Picture 2" descr="Steak by dkdlv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2884715"/>
            <a:ext cx="1705306" cy="1887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5189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828800" y="609600"/>
            <a:ext cx="0" cy="48006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828800" y="5410200"/>
            <a:ext cx="5867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91400" y="5562600"/>
            <a:ext cx="6511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85800"/>
            <a:ext cx="946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sym typeface="Symbol"/>
              </a:rPr>
              <a:t>T</a:t>
            </a:r>
            <a:endParaRPr lang="en-US" sz="5400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3200400" y="1828800"/>
            <a:ext cx="3429000" cy="2133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61" name="Picture 5" descr="Frying pan by rdevri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6885" y="968101"/>
            <a:ext cx="3600903" cy="4354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reeform 4"/>
          <p:cNvSpPr/>
          <p:nvPr/>
        </p:nvSpPr>
        <p:spPr>
          <a:xfrm>
            <a:off x="3592286" y="3690257"/>
            <a:ext cx="838200" cy="674914"/>
          </a:xfrm>
          <a:custGeom>
            <a:avLst/>
            <a:gdLst>
              <a:gd name="connsiteX0" fmla="*/ 0 w 838200"/>
              <a:gd name="connsiteY0" fmla="*/ 0 h 674914"/>
              <a:gd name="connsiteX1" fmla="*/ 108857 w 838200"/>
              <a:gd name="connsiteY1" fmla="*/ 391886 h 674914"/>
              <a:gd name="connsiteX2" fmla="*/ 402771 w 838200"/>
              <a:gd name="connsiteY2" fmla="*/ 642257 h 674914"/>
              <a:gd name="connsiteX3" fmla="*/ 653143 w 838200"/>
              <a:gd name="connsiteY3" fmla="*/ 674914 h 674914"/>
              <a:gd name="connsiteX4" fmla="*/ 827314 w 838200"/>
              <a:gd name="connsiteY4" fmla="*/ 533400 h 674914"/>
              <a:gd name="connsiteX5" fmla="*/ 838200 w 838200"/>
              <a:gd name="connsiteY5" fmla="*/ 359229 h 674914"/>
              <a:gd name="connsiteX6" fmla="*/ 816428 w 838200"/>
              <a:gd name="connsiteY6" fmla="*/ 261257 h 674914"/>
              <a:gd name="connsiteX7" fmla="*/ 794657 w 838200"/>
              <a:gd name="connsiteY7" fmla="*/ 65314 h 674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38200" h="674914">
                <a:moveTo>
                  <a:pt x="0" y="0"/>
                </a:moveTo>
                <a:lnTo>
                  <a:pt x="108857" y="391886"/>
                </a:lnTo>
                <a:lnTo>
                  <a:pt x="402771" y="642257"/>
                </a:lnTo>
                <a:lnTo>
                  <a:pt x="653143" y="674914"/>
                </a:lnTo>
                <a:lnTo>
                  <a:pt x="827314" y="533400"/>
                </a:lnTo>
                <a:lnTo>
                  <a:pt x="838200" y="359229"/>
                </a:lnTo>
                <a:lnTo>
                  <a:pt x="816428" y="261257"/>
                </a:lnTo>
                <a:lnTo>
                  <a:pt x="794657" y="65314"/>
                </a:lnTo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3581401" y="3298372"/>
            <a:ext cx="816428" cy="990600"/>
          </a:xfrm>
          <a:custGeom>
            <a:avLst/>
            <a:gdLst>
              <a:gd name="connsiteX0" fmla="*/ 76200 w 816428"/>
              <a:gd name="connsiteY0" fmla="*/ 119742 h 990600"/>
              <a:gd name="connsiteX1" fmla="*/ 0 w 816428"/>
              <a:gd name="connsiteY1" fmla="*/ 359228 h 990600"/>
              <a:gd name="connsiteX2" fmla="*/ 217714 w 816428"/>
              <a:gd name="connsiteY2" fmla="*/ 783771 h 990600"/>
              <a:gd name="connsiteX3" fmla="*/ 598714 w 816428"/>
              <a:gd name="connsiteY3" fmla="*/ 990600 h 990600"/>
              <a:gd name="connsiteX4" fmla="*/ 794657 w 816428"/>
              <a:gd name="connsiteY4" fmla="*/ 838200 h 990600"/>
              <a:gd name="connsiteX5" fmla="*/ 794657 w 816428"/>
              <a:gd name="connsiteY5" fmla="*/ 653142 h 990600"/>
              <a:gd name="connsiteX6" fmla="*/ 816428 w 816428"/>
              <a:gd name="connsiteY6" fmla="*/ 424542 h 990600"/>
              <a:gd name="connsiteX7" fmla="*/ 674914 w 816428"/>
              <a:gd name="connsiteY7" fmla="*/ 370114 h 990600"/>
              <a:gd name="connsiteX8" fmla="*/ 402771 w 816428"/>
              <a:gd name="connsiteY8" fmla="*/ 326571 h 990600"/>
              <a:gd name="connsiteX9" fmla="*/ 217714 w 816428"/>
              <a:gd name="connsiteY9" fmla="*/ 195942 h 990600"/>
              <a:gd name="connsiteX10" fmla="*/ 152400 w 816428"/>
              <a:gd name="connsiteY10" fmla="*/ 0 h 990600"/>
              <a:gd name="connsiteX11" fmla="*/ 97971 w 816428"/>
              <a:gd name="connsiteY11" fmla="*/ 0 h 99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16428" h="990600">
                <a:moveTo>
                  <a:pt x="76200" y="119742"/>
                </a:moveTo>
                <a:lnTo>
                  <a:pt x="0" y="359228"/>
                </a:lnTo>
                <a:lnTo>
                  <a:pt x="217714" y="783771"/>
                </a:lnTo>
                <a:lnTo>
                  <a:pt x="598714" y="990600"/>
                </a:lnTo>
                <a:lnTo>
                  <a:pt x="794657" y="838200"/>
                </a:lnTo>
                <a:lnTo>
                  <a:pt x="794657" y="653142"/>
                </a:lnTo>
                <a:lnTo>
                  <a:pt x="816428" y="424542"/>
                </a:lnTo>
                <a:lnTo>
                  <a:pt x="674914" y="370114"/>
                </a:lnTo>
                <a:lnTo>
                  <a:pt x="402771" y="326571"/>
                </a:lnTo>
                <a:lnTo>
                  <a:pt x="217714" y="195942"/>
                </a:lnTo>
                <a:lnTo>
                  <a:pt x="152400" y="0"/>
                </a:lnTo>
                <a:lnTo>
                  <a:pt x="97971" y="0"/>
                </a:lnTo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458493" y="870511"/>
            <a:ext cx="6159706" cy="3169621"/>
          </a:xfrm>
          <a:custGeom>
            <a:avLst/>
            <a:gdLst>
              <a:gd name="connsiteX0" fmla="*/ 1816622 w 6159706"/>
              <a:gd name="connsiteY0" fmla="*/ 130975 h 3169621"/>
              <a:gd name="connsiteX1" fmla="*/ 3057593 w 6159706"/>
              <a:gd name="connsiteY1" fmla="*/ 33004 h 3169621"/>
              <a:gd name="connsiteX2" fmla="*/ 3699851 w 6159706"/>
              <a:gd name="connsiteY2" fmla="*/ 120090 h 3169621"/>
              <a:gd name="connsiteX3" fmla="*/ 4450965 w 6159706"/>
              <a:gd name="connsiteY3" fmla="*/ 347 h 3169621"/>
              <a:gd name="connsiteX4" fmla="*/ 5158536 w 6159706"/>
              <a:gd name="connsiteY4" fmla="*/ 87432 h 3169621"/>
              <a:gd name="connsiteX5" fmla="*/ 5735479 w 6159706"/>
              <a:gd name="connsiteY5" fmla="*/ 196290 h 3169621"/>
              <a:gd name="connsiteX6" fmla="*/ 5953193 w 6159706"/>
              <a:gd name="connsiteY6" fmla="*/ 479318 h 3169621"/>
              <a:gd name="connsiteX7" fmla="*/ 6149136 w 6159706"/>
              <a:gd name="connsiteY7" fmla="*/ 653490 h 3169621"/>
              <a:gd name="connsiteX8" fmla="*/ 5615736 w 6159706"/>
              <a:gd name="connsiteY8" fmla="*/ 784118 h 3169621"/>
              <a:gd name="connsiteX9" fmla="*/ 4853736 w 6159706"/>
              <a:gd name="connsiteY9" fmla="*/ 675261 h 3169621"/>
              <a:gd name="connsiteX10" fmla="*/ 4363879 w 6159706"/>
              <a:gd name="connsiteY10" fmla="*/ 860318 h 3169621"/>
              <a:gd name="connsiteX11" fmla="*/ 3906679 w 6159706"/>
              <a:gd name="connsiteY11" fmla="*/ 914747 h 3169621"/>
              <a:gd name="connsiteX12" fmla="*/ 3917565 w 6159706"/>
              <a:gd name="connsiteY12" fmla="*/ 1078032 h 3169621"/>
              <a:gd name="connsiteX13" fmla="*/ 4102622 w 6159706"/>
              <a:gd name="connsiteY13" fmla="*/ 1176004 h 3169621"/>
              <a:gd name="connsiteX14" fmla="*/ 4015536 w 6159706"/>
              <a:gd name="connsiteY14" fmla="*/ 1284861 h 3169621"/>
              <a:gd name="connsiteX15" fmla="*/ 4211479 w 6159706"/>
              <a:gd name="connsiteY15" fmla="*/ 1480804 h 3169621"/>
              <a:gd name="connsiteX16" fmla="*/ 4026422 w 6159706"/>
              <a:gd name="connsiteY16" fmla="*/ 1644090 h 3169621"/>
              <a:gd name="connsiteX17" fmla="*/ 4004651 w 6159706"/>
              <a:gd name="connsiteY17" fmla="*/ 1992432 h 3169621"/>
              <a:gd name="connsiteX18" fmla="*/ 3808708 w 6159706"/>
              <a:gd name="connsiteY18" fmla="*/ 2144832 h 3169621"/>
              <a:gd name="connsiteX19" fmla="*/ 3993765 w 6159706"/>
              <a:gd name="connsiteY19" fmla="*/ 2286347 h 3169621"/>
              <a:gd name="connsiteX20" fmla="*/ 3906679 w 6159706"/>
              <a:gd name="connsiteY20" fmla="*/ 2449632 h 3169621"/>
              <a:gd name="connsiteX21" fmla="*/ 3928451 w 6159706"/>
              <a:gd name="connsiteY21" fmla="*/ 2645575 h 3169621"/>
              <a:gd name="connsiteX22" fmla="*/ 3765165 w 6159706"/>
              <a:gd name="connsiteY22" fmla="*/ 2852404 h 3169621"/>
              <a:gd name="connsiteX23" fmla="*/ 3765165 w 6159706"/>
              <a:gd name="connsiteY23" fmla="*/ 3059232 h 3169621"/>
              <a:gd name="connsiteX24" fmla="*/ 3580108 w 6159706"/>
              <a:gd name="connsiteY24" fmla="*/ 3168090 h 3169621"/>
              <a:gd name="connsiteX25" fmla="*/ 3297079 w 6159706"/>
              <a:gd name="connsiteY25" fmla="*/ 2983032 h 3169621"/>
              <a:gd name="connsiteX26" fmla="*/ 3373279 w 6159706"/>
              <a:gd name="connsiteY26" fmla="*/ 2852404 h 3169621"/>
              <a:gd name="connsiteX27" fmla="*/ 3155565 w 6159706"/>
              <a:gd name="connsiteY27" fmla="*/ 2710890 h 3169621"/>
              <a:gd name="connsiteX28" fmla="*/ 3209993 w 6159706"/>
              <a:gd name="connsiteY28" fmla="*/ 2558490 h 3169621"/>
              <a:gd name="connsiteX29" fmla="*/ 2992279 w 6159706"/>
              <a:gd name="connsiteY29" fmla="*/ 2275461 h 3169621"/>
              <a:gd name="connsiteX30" fmla="*/ 3155565 w 6159706"/>
              <a:gd name="connsiteY30" fmla="*/ 2144832 h 3169621"/>
              <a:gd name="connsiteX31" fmla="*/ 2774565 w 6159706"/>
              <a:gd name="connsiteY31" fmla="*/ 1970661 h 3169621"/>
              <a:gd name="connsiteX32" fmla="*/ 2469765 w 6159706"/>
              <a:gd name="connsiteY32" fmla="*/ 1818261 h 3169621"/>
              <a:gd name="connsiteX33" fmla="*/ 2709251 w 6159706"/>
              <a:gd name="connsiteY33" fmla="*/ 1633204 h 3169621"/>
              <a:gd name="connsiteX34" fmla="*/ 2643936 w 6159706"/>
              <a:gd name="connsiteY34" fmla="*/ 1426375 h 3169621"/>
              <a:gd name="connsiteX35" fmla="*/ 2828993 w 6159706"/>
              <a:gd name="connsiteY35" fmla="*/ 1295747 h 3169621"/>
              <a:gd name="connsiteX36" fmla="*/ 2633051 w 6159706"/>
              <a:gd name="connsiteY36" fmla="*/ 1132461 h 3169621"/>
              <a:gd name="connsiteX37" fmla="*/ 2132308 w 6159706"/>
              <a:gd name="connsiteY37" fmla="*/ 1132461 h 3169621"/>
              <a:gd name="connsiteX38" fmla="*/ 1174365 w 6159706"/>
              <a:gd name="connsiteY38" fmla="*/ 882090 h 3169621"/>
              <a:gd name="connsiteX39" fmla="*/ 357936 w 6159706"/>
              <a:gd name="connsiteY39" fmla="*/ 1034490 h 3169621"/>
              <a:gd name="connsiteX40" fmla="*/ 140222 w 6159706"/>
              <a:gd name="connsiteY40" fmla="*/ 740575 h 3169621"/>
              <a:gd name="connsiteX41" fmla="*/ 31365 w 6159706"/>
              <a:gd name="connsiteY41" fmla="*/ 555518 h 3169621"/>
              <a:gd name="connsiteX42" fmla="*/ 717165 w 6159706"/>
              <a:gd name="connsiteY42" fmla="*/ 392232 h 3169621"/>
              <a:gd name="connsiteX43" fmla="*/ 1272336 w 6159706"/>
              <a:gd name="connsiteY43" fmla="*/ 185404 h 3169621"/>
              <a:gd name="connsiteX44" fmla="*/ 1685993 w 6159706"/>
              <a:gd name="connsiteY44" fmla="*/ 326918 h 3169621"/>
              <a:gd name="connsiteX45" fmla="*/ 1871051 w 6159706"/>
              <a:gd name="connsiteY45" fmla="*/ 120090 h 31696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6159706" h="3169621">
                <a:moveTo>
                  <a:pt x="1816622" y="130975"/>
                </a:moveTo>
                <a:cubicBezTo>
                  <a:pt x="2280172" y="82896"/>
                  <a:pt x="2743722" y="34818"/>
                  <a:pt x="3057593" y="33004"/>
                </a:cubicBezTo>
                <a:cubicBezTo>
                  <a:pt x="3371464" y="31190"/>
                  <a:pt x="3467622" y="125533"/>
                  <a:pt x="3699851" y="120090"/>
                </a:cubicBezTo>
                <a:cubicBezTo>
                  <a:pt x="3932080" y="114647"/>
                  <a:pt x="4207851" y="5790"/>
                  <a:pt x="4450965" y="347"/>
                </a:cubicBezTo>
                <a:cubicBezTo>
                  <a:pt x="4694079" y="-5096"/>
                  <a:pt x="4944450" y="54775"/>
                  <a:pt x="5158536" y="87432"/>
                </a:cubicBezTo>
                <a:cubicBezTo>
                  <a:pt x="5372622" y="120089"/>
                  <a:pt x="5603036" y="130976"/>
                  <a:pt x="5735479" y="196290"/>
                </a:cubicBezTo>
                <a:cubicBezTo>
                  <a:pt x="5867922" y="261604"/>
                  <a:pt x="5884250" y="403118"/>
                  <a:pt x="5953193" y="479318"/>
                </a:cubicBezTo>
                <a:cubicBezTo>
                  <a:pt x="6022136" y="555518"/>
                  <a:pt x="6205379" y="602690"/>
                  <a:pt x="6149136" y="653490"/>
                </a:cubicBezTo>
                <a:cubicBezTo>
                  <a:pt x="6092893" y="704290"/>
                  <a:pt x="5831636" y="780490"/>
                  <a:pt x="5615736" y="784118"/>
                </a:cubicBezTo>
                <a:cubicBezTo>
                  <a:pt x="5399836" y="787746"/>
                  <a:pt x="5062379" y="662561"/>
                  <a:pt x="4853736" y="675261"/>
                </a:cubicBezTo>
                <a:cubicBezTo>
                  <a:pt x="4645093" y="687961"/>
                  <a:pt x="4521722" y="820404"/>
                  <a:pt x="4363879" y="860318"/>
                </a:cubicBezTo>
                <a:cubicBezTo>
                  <a:pt x="4206036" y="900232"/>
                  <a:pt x="3981065" y="878461"/>
                  <a:pt x="3906679" y="914747"/>
                </a:cubicBezTo>
                <a:cubicBezTo>
                  <a:pt x="3832293" y="951033"/>
                  <a:pt x="3884908" y="1034489"/>
                  <a:pt x="3917565" y="1078032"/>
                </a:cubicBezTo>
                <a:cubicBezTo>
                  <a:pt x="3950222" y="1121575"/>
                  <a:pt x="4086294" y="1141533"/>
                  <a:pt x="4102622" y="1176004"/>
                </a:cubicBezTo>
                <a:cubicBezTo>
                  <a:pt x="4118950" y="1210475"/>
                  <a:pt x="3997393" y="1234061"/>
                  <a:pt x="4015536" y="1284861"/>
                </a:cubicBezTo>
                <a:cubicBezTo>
                  <a:pt x="4033679" y="1335661"/>
                  <a:pt x="4209665" y="1420933"/>
                  <a:pt x="4211479" y="1480804"/>
                </a:cubicBezTo>
                <a:cubicBezTo>
                  <a:pt x="4213293" y="1540675"/>
                  <a:pt x="4060893" y="1558819"/>
                  <a:pt x="4026422" y="1644090"/>
                </a:cubicBezTo>
                <a:cubicBezTo>
                  <a:pt x="3991951" y="1729361"/>
                  <a:pt x="4040937" y="1908975"/>
                  <a:pt x="4004651" y="1992432"/>
                </a:cubicBezTo>
                <a:cubicBezTo>
                  <a:pt x="3968365" y="2075889"/>
                  <a:pt x="3810522" y="2095846"/>
                  <a:pt x="3808708" y="2144832"/>
                </a:cubicBezTo>
                <a:cubicBezTo>
                  <a:pt x="3806894" y="2193818"/>
                  <a:pt x="3977437" y="2235547"/>
                  <a:pt x="3993765" y="2286347"/>
                </a:cubicBezTo>
                <a:cubicBezTo>
                  <a:pt x="4010094" y="2337147"/>
                  <a:pt x="3917565" y="2389761"/>
                  <a:pt x="3906679" y="2449632"/>
                </a:cubicBezTo>
                <a:cubicBezTo>
                  <a:pt x="3895793" y="2509503"/>
                  <a:pt x="3952037" y="2578446"/>
                  <a:pt x="3928451" y="2645575"/>
                </a:cubicBezTo>
                <a:cubicBezTo>
                  <a:pt x="3904865" y="2712704"/>
                  <a:pt x="3792379" y="2783461"/>
                  <a:pt x="3765165" y="2852404"/>
                </a:cubicBezTo>
                <a:cubicBezTo>
                  <a:pt x="3737951" y="2921347"/>
                  <a:pt x="3796008" y="3006618"/>
                  <a:pt x="3765165" y="3059232"/>
                </a:cubicBezTo>
                <a:cubicBezTo>
                  <a:pt x="3734322" y="3111846"/>
                  <a:pt x="3658122" y="3180790"/>
                  <a:pt x="3580108" y="3168090"/>
                </a:cubicBezTo>
                <a:cubicBezTo>
                  <a:pt x="3502094" y="3155390"/>
                  <a:pt x="3331551" y="3035646"/>
                  <a:pt x="3297079" y="2983032"/>
                </a:cubicBezTo>
                <a:cubicBezTo>
                  <a:pt x="3262608" y="2930418"/>
                  <a:pt x="3396865" y="2897761"/>
                  <a:pt x="3373279" y="2852404"/>
                </a:cubicBezTo>
                <a:cubicBezTo>
                  <a:pt x="3349693" y="2807047"/>
                  <a:pt x="3182779" y="2759875"/>
                  <a:pt x="3155565" y="2710890"/>
                </a:cubicBezTo>
                <a:cubicBezTo>
                  <a:pt x="3128351" y="2661905"/>
                  <a:pt x="3237207" y="2631062"/>
                  <a:pt x="3209993" y="2558490"/>
                </a:cubicBezTo>
                <a:cubicBezTo>
                  <a:pt x="3182779" y="2485919"/>
                  <a:pt x="3001350" y="2344404"/>
                  <a:pt x="2992279" y="2275461"/>
                </a:cubicBezTo>
                <a:cubicBezTo>
                  <a:pt x="2983208" y="2206518"/>
                  <a:pt x="3191851" y="2195632"/>
                  <a:pt x="3155565" y="2144832"/>
                </a:cubicBezTo>
                <a:cubicBezTo>
                  <a:pt x="3119279" y="2094032"/>
                  <a:pt x="2888865" y="2025089"/>
                  <a:pt x="2774565" y="1970661"/>
                </a:cubicBezTo>
                <a:cubicBezTo>
                  <a:pt x="2660265" y="1916233"/>
                  <a:pt x="2480651" y="1874504"/>
                  <a:pt x="2469765" y="1818261"/>
                </a:cubicBezTo>
                <a:cubicBezTo>
                  <a:pt x="2458879" y="1762018"/>
                  <a:pt x="2680223" y="1698518"/>
                  <a:pt x="2709251" y="1633204"/>
                </a:cubicBezTo>
                <a:cubicBezTo>
                  <a:pt x="2738279" y="1567890"/>
                  <a:pt x="2623979" y="1482618"/>
                  <a:pt x="2643936" y="1426375"/>
                </a:cubicBezTo>
                <a:cubicBezTo>
                  <a:pt x="2663893" y="1370132"/>
                  <a:pt x="2830807" y="1344733"/>
                  <a:pt x="2828993" y="1295747"/>
                </a:cubicBezTo>
                <a:cubicBezTo>
                  <a:pt x="2827179" y="1246761"/>
                  <a:pt x="2749165" y="1159675"/>
                  <a:pt x="2633051" y="1132461"/>
                </a:cubicBezTo>
                <a:cubicBezTo>
                  <a:pt x="2516937" y="1105247"/>
                  <a:pt x="2375422" y="1174189"/>
                  <a:pt x="2132308" y="1132461"/>
                </a:cubicBezTo>
                <a:cubicBezTo>
                  <a:pt x="1889194" y="1090733"/>
                  <a:pt x="1470094" y="898419"/>
                  <a:pt x="1174365" y="882090"/>
                </a:cubicBezTo>
                <a:cubicBezTo>
                  <a:pt x="878636" y="865762"/>
                  <a:pt x="530293" y="1058076"/>
                  <a:pt x="357936" y="1034490"/>
                </a:cubicBezTo>
                <a:cubicBezTo>
                  <a:pt x="185579" y="1010904"/>
                  <a:pt x="194651" y="820404"/>
                  <a:pt x="140222" y="740575"/>
                </a:cubicBezTo>
                <a:cubicBezTo>
                  <a:pt x="85793" y="660746"/>
                  <a:pt x="-64792" y="613575"/>
                  <a:pt x="31365" y="555518"/>
                </a:cubicBezTo>
                <a:cubicBezTo>
                  <a:pt x="127522" y="497461"/>
                  <a:pt x="510336" y="453918"/>
                  <a:pt x="717165" y="392232"/>
                </a:cubicBezTo>
                <a:cubicBezTo>
                  <a:pt x="923994" y="330546"/>
                  <a:pt x="1110865" y="196290"/>
                  <a:pt x="1272336" y="185404"/>
                </a:cubicBezTo>
                <a:cubicBezTo>
                  <a:pt x="1433807" y="174518"/>
                  <a:pt x="1586207" y="337804"/>
                  <a:pt x="1685993" y="326918"/>
                </a:cubicBezTo>
                <a:cubicBezTo>
                  <a:pt x="1785779" y="316032"/>
                  <a:pt x="1749494" y="81990"/>
                  <a:pt x="1871051" y="120090"/>
                </a:cubicBezTo>
              </a:path>
            </a:pathLst>
          </a:custGeom>
          <a:solidFill>
            <a:schemeClr val="bg1">
              <a:lumMod val="65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7960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Specific Heat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Every substance requires a unique amount of energy per unit mass to change the temperature of that substance by 1° C</a:t>
            </a:r>
          </a:p>
          <a:p>
            <a:pPr eaLnBrk="1" hangingPunct="1"/>
            <a:r>
              <a:rPr lang="en-US"/>
              <a:t>The </a:t>
            </a:r>
            <a:r>
              <a:rPr lang="en-US" i="1"/>
              <a:t>specific heat, c,</a:t>
            </a:r>
            <a:r>
              <a:rPr lang="en-US"/>
              <a:t> of a substance is a measure of this amount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</p:txBody>
      </p:sp>
      <p:graphicFrame>
        <p:nvGraphicFramePr>
          <p:cNvPr id="2050" name="Object 4"/>
          <p:cNvGraphicFramePr>
            <a:graphicFrameLocks noChangeAspect="1"/>
          </p:cNvGraphicFramePr>
          <p:nvPr/>
        </p:nvGraphicFramePr>
        <p:xfrm>
          <a:off x="3762375" y="4524375"/>
          <a:ext cx="1905000" cy="1209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419040" progId="Equation.3">
                  <p:embed/>
                </p:oleObj>
              </mc:Choice>
              <mc:Fallback>
                <p:oleObj name="Equation" r:id="rId2" imgW="660240" imgH="419040" progId="Equation.3">
                  <p:embed/>
                  <p:pic>
                    <p:nvPicPr>
                      <p:cNvPr id="205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62375" y="4524375"/>
                        <a:ext cx="1905000" cy="12096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Units of Specific Heat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SI units</a:t>
            </a:r>
          </a:p>
          <a:p>
            <a:pPr lvl="1" eaLnBrk="1" hangingPunct="1"/>
            <a:r>
              <a:rPr lang="en-US"/>
              <a:t>J / kg °C</a:t>
            </a:r>
          </a:p>
          <a:p>
            <a:pPr eaLnBrk="1" hangingPunct="1"/>
            <a:r>
              <a:rPr lang="en-US"/>
              <a:t>Historical units</a:t>
            </a:r>
          </a:p>
          <a:p>
            <a:pPr lvl="1" eaLnBrk="1" hangingPunct="1"/>
            <a:r>
              <a:rPr lang="en-US"/>
              <a:t>cal / g °C</a:t>
            </a:r>
          </a:p>
          <a:p>
            <a:pPr lvl="1" eaLnBrk="1" hangingPunct="1"/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6561" name="Object 1"/>
          <p:cNvGraphicFramePr>
            <a:graphicFrameLocks noChangeAspect="1"/>
          </p:cNvGraphicFramePr>
          <p:nvPr/>
        </p:nvGraphicFramePr>
        <p:xfrm>
          <a:off x="1610463" y="0"/>
          <a:ext cx="6100549" cy="6878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66900" imgH="2108200" progId="Equation.3">
                  <p:embed/>
                </p:oleObj>
              </mc:Choice>
              <mc:Fallback>
                <p:oleObj name="Equation" r:id="rId2" imgW="1866900" imgH="2108200" progId="Equation.3">
                  <p:embed/>
                  <p:pic>
                    <p:nvPicPr>
                      <p:cNvPr id="66561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0463" y="0"/>
                        <a:ext cx="6100549" cy="687868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Heat and Specific Heat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4572000"/>
          </a:xfrm>
        </p:spPr>
        <p:txBody>
          <a:bodyPr/>
          <a:lstStyle/>
          <a:p>
            <a:pPr eaLnBrk="1" hangingPunct="1"/>
            <a:r>
              <a:rPr lang="en-US" sz="2800"/>
              <a:t>Q = m c ΔT</a:t>
            </a:r>
          </a:p>
          <a:p>
            <a:pPr eaLnBrk="1" hangingPunct="1"/>
            <a:r>
              <a:rPr lang="en-US" sz="2800"/>
              <a:t>ΔT is always the final temperature minus the initial temperature</a:t>
            </a:r>
          </a:p>
          <a:p>
            <a:pPr eaLnBrk="1" hangingPunct="1"/>
            <a:r>
              <a:rPr lang="en-US" sz="2800"/>
              <a:t>When the temperature increases, ΔT and ΔQ are considered to be positive and energy flows into the system</a:t>
            </a:r>
          </a:p>
          <a:p>
            <a:pPr eaLnBrk="1" hangingPunct="1"/>
            <a:r>
              <a:rPr lang="en-US" sz="2800"/>
              <a:t>When the temperature decreases, ΔT and ΔQ are considered to be negative and energy flows out of the system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A Consequence of Different Specific Heats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Water has a high specific heat compared to land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On a hot day, the air above the land warms faster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The warmer air flows upward and cooler air moves toward the beach</a:t>
            </a:r>
          </a:p>
        </p:txBody>
      </p:sp>
      <p:pic>
        <p:nvPicPr>
          <p:cNvPr id="43012" name="Picture 4" descr="1102"/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4652963" y="1990725"/>
            <a:ext cx="4033837" cy="3743325"/>
          </a:xfrm>
          <a:noFill/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B79617-3026-4290-BEEE-A2C65AA73613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177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123.12.2</a:t>
            </a:r>
          </a:p>
        </p:txBody>
      </p:sp>
      <p:sp>
        <p:nvSpPr>
          <p:cNvPr id="1771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sz="2800" dirty="0"/>
              <a:t>You add energy to an object by heat transfer. At some point, the temperature of the object stops rising. What is happening?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system is leaking thermal energy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system has as much heat as it can take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The object is experiencing a phase change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sz="2800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25458731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Heating Ice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9625" y="1451491"/>
            <a:ext cx="7524750" cy="392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2362200" y="5257800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Solid 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4800600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Melting 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3733800"/>
            <a:ext cx="1347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Liquid water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48000"/>
            <a:ext cx="141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Boiling water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2286000"/>
            <a:ext cx="1295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Gaseous steam</a:t>
            </a:r>
          </a:p>
        </p:txBody>
      </p:sp>
      <p:graphicFrame>
        <p:nvGraphicFramePr>
          <p:cNvPr id="10" name="Content Placeholder 9"/>
          <p:cNvGraphicFramePr>
            <a:graphicFrameLocks noGrp="1" noChangeAspect="1"/>
          </p:cNvGraphicFramePr>
          <p:nvPr>
            <p:ph idx="1"/>
          </p:nvPr>
        </p:nvGraphicFramePr>
        <p:xfrm>
          <a:off x="3657600" y="2819400"/>
          <a:ext cx="1371600" cy="7544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419040" progId="Equation.3">
                  <p:embed/>
                </p:oleObj>
              </mc:Choice>
              <mc:Fallback>
                <p:oleObj name="Equation" r:id="rId3" imgW="761760" imgH="419040" progId="Equation.3">
                  <p:embed/>
                  <p:pic>
                    <p:nvPicPr>
                      <p:cNvPr id="10" name="Content Placeholder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2819400"/>
                        <a:ext cx="1371600" cy="754421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Arrow Connector 12"/>
          <p:cNvCxnSpPr/>
          <p:nvPr/>
        </p:nvCxnSpPr>
        <p:spPr>
          <a:xfrm flipH="1" flipV="1">
            <a:off x="3276600" y="4648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5334000" y="3505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6705600" y="27432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 flipV="1">
            <a:off x="7848600" y="2057400"/>
            <a:ext cx="228600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 84"/>
          <p:cNvSpPr/>
          <p:nvPr/>
        </p:nvSpPr>
        <p:spPr>
          <a:xfrm>
            <a:off x="8024884" y="1596788"/>
            <a:ext cx="846161" cy="3957851"/>
          </a:xfrm>
          <a:custGeom>
            <a:avLst/>
            <a:gdLst>
              <a:gd name="connsiteX0" fmla="*/ 818865 w 846161"/>
              <a:gd name="connsiteY0" fmla="*/ 0 h 3957851"/>
              <a:gd name="connsiteX1" fmla="*/ 464023 w 846161"/>
              <a:gd name="connsiteY1" fmla="*/ 0 h 3957851"/>
              <a:gd name="connsiteX2" fmla="*/ 27295 w 846161"/>
              <a:gd name="connsiteY2" fmla="*/ 1255594 h 3957851"/>
              <a:gd name="connsiteX3" fmla="*/ 0 w 846161"/>
              <a:gd name="connsiteY3" fmla="*/ 3944203 h 3957851"/>
              <a:gd name="connsiteX4" fmla="*/ 846161 w 846161"/>
              <a:gd name="connsiteY4" fmla="*/ 3957851 h 3957851"/>
              <a:gd name="connsiteX5" fmla="*/ 818865 w 846161"/>
              <a:gd name="connsiteY5" fmla="*/ 0 h 3957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6161" h="3957851">
                <a:moveTo>
                  <a:pt x="818865" y="0"/>
                </a:moveTo>
                <a:lnTo>
                  <a:pt x="464023" y="0"/>
                </a:lnTo>
                <a:lnTo>
                  <a:pt x="27295" y="1255594"/>
                </a:lnTo>
                <a:lnTo>
                  <a:pt x="0" y="3944203"/>
                </a:lnTo>
                <a:lnTo>
                  <a:pt x="846161" y="3957851"/>
                </a:lnTo>
                <a:lnTo>
                  <a:pt x="818865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Triangle 31"/>
          <p:cNvSpPr/>
          <p:nvPr/>
        </p:nvSpPr>
        <p:spPr>
          <a:xfrm flipH="1">
            <a:off x="578888" y="4953000"/>
            <a:ext cx="152400" cy="60960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31287" y="4919663"/>
            <a:ext cx="797261" cy="6429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Ice and water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1502812" y="2743201"/>
            <a:ext cx="1062967" cy="2819400"/>
          </a:xfrm>
          <a:custGeom>
            <a:avLst/>
            <a:gdLst>
              <a:gd name="connsiteX0" fmla="*/ 1057275 w 1057275"/>
              <a:gd name="connsiteY0" fmla="*/ 0 h 2752725"/>
              <a:gd name="connsiteX1" fmla="*/ 1038225 w 1057275"/>
              <a:gd name="connsiteY1" fmla="*/ 2752725 h 2752725"/>
              <a:gd name="connsiteX2" fmla="*/ 9525 w 1057275"/>
              <a:gd name="connsiteY2" fmla="*/ 2743200 h 2752725"/>
              <a:gd name="connsiteX3" fmla="*/ 0 w 1057275"/>
              <a:gd name="connsiteY3" fmla="*/ 2105025 h 2752725"/>
              <a:gd name="connsiteX4" fmla="*/ 1057275 w 1057275"/>
              <a:gd name="connsiteY4" fmla="*/ 0 h 275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57275" h="2752725">
                <a:moveTo>
                  <a:pt x="1057275" y="0"/>
                </a:moveTo>
                <a:lnTo>
                  <a:pt x="1038225" y="2752725"/>
                </a:lnTo>
                <a:lnTo>
                  <a:pt x="9525" y="2743200"/>
                </a:lnTo>
                <a:lnTo>
                  <a:pt x="0" y="2105025"/>
                </a:lnTo>
                <a:lnTo>
                  <a:pt x="105727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552132" y="2819400"/>
            <a:ext cx="5513695" cy="2743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Graph of Ice to Steam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573201" y="1583140"/>
            <a:ext cx="5687" cy="397946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578888" y="5554639"/>
            <a:ext cx="8565112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578888" y="4881564"/>
            <a:ext cx="152400" cy="6810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731288" y="4910133"/>
            <a:ext cx="762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29" idx="3"/>
          </p:cNvCxnSpPr>
          <p:nvPr/>
        </p:nvCxnSpPr>
        <p:spPr>
          <a:xfrm flipV="1">
            <a:off x="1502812" y="2819401"/>
            <a:ext cx="1057276" cy="20798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2541038" y="2819400"/>
            <a:ext cx="55054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046488" y="1596788"/>
            <a:ext cx="428772" cy="12226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754872" y="4484424"/>
            <a:ext cx="760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32884" y="1501245"/>
            <a:ext cx="593496" cy="42934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100" dirty="0"/>
              <a:t>150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120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90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60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30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-30</a:t>
            </a:r>
          </a:p>
        </p:txBody>
      </p:sp>
      <p:cxnSp>
        <p:nvCxnSpPr>
          <p:cNvPr id="35" name="Straight Connector 34"/>
          <p:cNvCxnSpPr/>
          <p:nvPr/>
        </p:nvCxnSpPr>
        <p:spPr>
          <a:xfrm>
            <a:off x="559554" y="2347415"/>
            <a:ext cx="82978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61829" y="3002507"/>
            <a:ext cx="8281920" cy="2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64104" y="3616657"/>
            <a:ext cx="8334236" cy="181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55005" y="4899546"/>
            <a:ext cx="8316040" cy="90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1501254" y="158314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1315" y="5759355"/>
            <a:ext cx="791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0             500                      1000              1500              2000              2500             3000   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723327" y="1583140"/>
            <a:ext cx="2258" cy="39737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21373" y="6141493"/>
            <a:ext cx="1736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added (J)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29" y="111911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T(</a:t>
            </a:r>
            <a:r>
              <a:rPr lang="en-US" baseline="30000" dirty="0" err="1"/>
              <a:t>o</a:t>
            </a:r>
            <a:r>
              <a:rPr lang="en-US" dirty="0" err="1"/>
              <a:t>C</a:t>
            </a:r>
            <a:r>
              <a:rPr lang="en-US" dirty="0"/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63137" y="3794077"/>
            <a:ext cx="1811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 and Steam</a:t>
            </a:r>
          </a:p>
        </p:txBody>
      </p:sp>
      <p:cxnSp>
        <p:nvCxnSpPr>
          <p:cNvPr id="77" name="Straight Connector 76"/>
          <p:cNvCxnSpPr/>
          <p:nvPr/>
        </p:nvCxnSpPr>
        <p:spPr>
          <a:xfrm>
            <a:off x="2540774" y="159906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95764" y="3152626"/>
            <a:ext cx="77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Steam</a:t>
            </a:r>
          </a:p>
        </p:txBody>
      </p:sp>
      <p:cxnSp>
        <p:nvCxnSpPr>
          <p:cNvPr id="89" name="Straight Connector 88"/>
          <p:cNvCxnSpPr/>
          <p:nvPr/>
        </p:nvCxnSpPr>
        <p:spPr>
          <a:xfrm flipV="1">
            <a:off x="580024" y="4299045"/>
            <a:ext cx="8318316" cy="68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68689" y="5939041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Ice</a:t>
            </a:r>
          </a:p>
        </p:txBody>
      </p:sp>
      <p:sp>
        <p:nvSpPr>
          <p:cNvPr id="100" name="Freeform 99"/>
          <p:cNvSpPr/>
          <p:nvPr/>
        </p:nvSpPr>
        <p:spPr>
          <a:xfrm>
            <a:off x="409432" y="5459104"/>
            <a:ext cx="272955" cy="532263"/>
          </a:xfrm>
          <a:custGeom>
            <a:avLst/>
            <a:gdLst>
              <a:gd name="connsiteX0" fmla="*/ 0 w 300250"/>
              <a:gd name="connsiteY0" fmla="*/ 600501 h 600501"/>
              <a:gd name="connsiteX1" fmla="*/ 122829 w 300250"/>
              <a:gd name="connsiteY1" fmla="*/ 286603 h 600501"/>
              <a:gd name="connsiteX2" fmla="*/ 300250 w 300250"/>
              <a:gd name="connsiteY2" fmla="*/ 0 h 600501"/>
              <a:gd name="connsiteX3" fmla="*/ 300250 w 300250"/>
              <a:gd name="connsiteY3" fmla="*/ 0 h 600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0250" h="600501">
                <a:moveTo>
                  <a:pt x="0" y="600501"/>
                </a:moveTo>
                <a:lnTo>
                  <a:pt x="122829" y="286603"/>
                </a:lnTo>
                <a:lnTo>
                  <a:pt x="300250" y="0"/>
                </a:lnTo>
                <a:lnTo>
                  <a:pt x="30025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635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20.3 Latent Heat</a:t>
            </a:r>
          </a:p>
        </p:txBody>
      </p:sp>
      <p:sp>
        <p:nvSpPr>
          <p:cNvPr id="47107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Phase Changes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2133600"/>
            <a:ext cx="7772400" cy="4343400"/>
          </a:xfrm>
        </p:spPr>
        <p:txBody>
          <a:bodyPr/>
          <a:lstStyle/>
          <a:p>
            <a:pPr eaLnBrk="1" hangingPunct="1"/>
            <a:r>
              <a:rPr lang="en-US" sz="2800"/>
              <a:t>A </a:t>
            </a:r>
            <a:r>
              <a:rPr lang="en-US" sz="2800" i="1"/>
              <a:t>phase change</a:t>
            </a:r>
            <a:r>
              <a:rPr lang="en-US" sz="2800"/>
              <a:t> occurs when the physical characteristics of the substance change from one form to another</a:t>
            </a:r>
          </a:p>
          <a:p>
            <a:pPr eaLnBrk="1" hangingPunct="1"/>
            <a:r>
              <a:rPr lang="en-US" sz="2800"/>
              <a:t>Common phases changes are</a:t>
            </a:r>
          </a:p>
          <a:p>
            <a:pPr lvl="1" eaLnBrk="1" hangingPunct="1"/>
            <a:r>
              <a:rPr lang="en-US" sz="2400"/>
              <a:t>Solid to liquid – melting</a:t>
            </a:r>
          </a:p>
          <a:p>
            <a:pPr lvl="1" eaLnBrk="1" hangingPunct="1"/>
            <a:r>
              <a:rPr lang="en-US" sz="2400"/>
              <a:t>Liquid to gas – boiling</a:t>
            </a:r>
          </a:p>
          <a:p>
            <a:pPr eaLnBrk="1" hangingPunct="1"/>
            <a:r>
              <a:rPr lang="en-US" sz="2800"/>
              <a:t>Phases changes involve a change in the internal energy, but </a:t>
            </a:r>
            <a:r>
              <a:rPr lang="en-US" sz="2800" i="1"/>
              <a:t>no change in temperature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Latent Heat</a:t>
            </a:r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905000"/>
            <a:ext cx="7772400" cy="45720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During a phase change, the amount of heat is given as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Q = ±m L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L is the </a:t>
            </a:r>
            <a:r>
              <a:rPr lang="en-US" sz="2800" i="1"/>
              <a:t>latent heat</a:t>
            </a:r>
            <a:r>
              <a:rPr lang="en-US" sz="2800"/>
              <a:t> of the substance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Latent means hidden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L depends on the substance and the nature of the phase change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Choose a positive sign if you are adding energy to the system and a negative sign if energy is being removed from the system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762000"/>
          </a:xfrm>
        </p:spPr>
        <p:txBody>
          <a:bodyPr/>
          <a:lstStyle/>
          <a:p>
            <a:pPr eaLnBrk="1" hangingPunct="1"/>
            <a:r>
              <a:rPr lang="en-US"/>
              <a:t>Phase Changes Latent Heat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376363"/>
            <a:ext cx="9144000" cy="3422650"/>
            <a:chOff x="0" y="772"/>
            <a:chExt cx="5760" cy="2156"/>
          </a:xfrm>
        </p:grpSpPr>
        <p:pic>
          <p:nvPicPr>
            <p:cNvPr id="50181" name="Picture 3" descr="phases_matter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0" y="772"/>
              <a:ext cx="5760" cy="21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0182" name="Text Box 4"/>
            <p:cNvSpPr txBox="1">
              <a:spLocks noChangeArrowheads="1"/>
            </p:cNvSpPr>
            <p:nvPr/>
          </p:nvSpPr>
          <p:spPr bwMode="auto">
            <a:xfrm>
              <a:off x="117" y="2439"/>
              <a:ext cx="57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 eaLnBrk="0" hangingPunct="0">
                <a:spcBef>
                  <a:spcPct val="50000"/>
                </a:spcBef>
              </a:pPr>
              <a:r>
                <a:rPr lang="en-US" sz="2400">
                  <a:solidFill>
                    <a:schemeClr val="bg2"/>
                  </a:solidFill>
                  <a:latin typeface="Times New Roman" pitchFamily="18" charset="0"/>
                </a:rPr>
                <a:t>Solid</a:t>
              </a:r>
            </a:p>
          </p:txBody>
        </p:sp>
        <p:sp>
          <p:nvSpPr>
            <p:cNvPr id="50183" name="Text Box 5"/>
            <p:cNvSpPr txBox="1">
              <a:spLocks noChangeArrowheads="1"/>
            </p:cNvSpPr>
            <p:nvPr/>
          </p:nvSpPr>
          <p:spPr bwMode="auto">
            <a:xfrm>
              <a:off x="2025" y="2407"/>
              <a:ext cx="768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 eaLnBrk="0" hangingPunct="0">
                <a:spcBef>
                  <a:spcPct val="50000"/>
                </a:spcBef>
              </a:pPr>
              <a:r>
                <a:rPr lang="en-US" sz="2400">
                  <a:solidFill>
                    <a:schemeClr val="bg2"/>
                  </a:solidFill>
                  <a:latin typeface="Times New Roman" pitchFamily="18" charset="0"/>
                </a:rPr>
                <a:t>Liquid</a:t>
              </a:r>
            </a:p>
          </p:txBody>
        </p:sp>
        <p:sp>
          <p:nvSpPr>
            <p:cNvPr id="50184" name="Text Box 6"/>
            <p:cNvSpPr txBox="1">
              <a:spLocks noChangeArrowheads="1"/>
            </p:cNvSpPr>
            <p:nvPr/>
          </p:nvSpPr>
          <p:spPr bwMode="auto">
            <a:xfrm>
              <a:off x="5040" y="2380"/>
              <a:ext cx="57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 eaLnBrk="0" hangingPunct="0">
                <a:spcBef>
                  <a:spcPct val="50000"/>
                </a:spcBef>
              </a:pPr>
              <a:r>
                <a:rPr lang="en-US" sz="2400">
                  <a:solidFill>
                    <a:schemeClr val="bg2"/>
                  </a:solidFill>
                  <a:latin typeface="Times New Roman" pitchFamily="18" charset="0"/>
                </a:rPr>
                <a:t>Gas</a:t>
              </a:r>
            </a:p>
          </p:txBody>
        </p:sp>
      </p:grpSp>
      <p:sp>
        <p:nvSpPr>
          <p:cNvPr id="294919" name="Text Box 7"/>
          <p:cNvSpPr txBox="1">
            <a:spLocks noChangeArrowheads="1"/>
          </p:cNvSpPr>
          <p:nvPr/>
        </p:nvSpPr>
        <p:spPr bwMode="auto">
          <a:xfrm>
            <a:off x="0" y="4867275"/>
            <a:ext cx="8763000" cy="1370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During a phase change, the internal energy changes but the temperature does not change.</a:t>
            </a:r>
          </a:p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Work is done against the attractive molecular forces to separate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49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49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4919" grpId="0" build="p" autoUpdateAnimBg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Latent Heat, cont.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SI units of latent heat are J / kg</a:t>
            </a:r>
          </a:p>
          <a:p>
            <a:pPr eaLnBrk="1" hangingPunct="1"/>
            <a:r>
              <a:rPr lang="en-US" i="1"/>
              <a:t>Latent heat of fusion</a:t>
            </a:r>
            <a:r>
              <a:rPr lang="en-US"/>
              <a:t>, L</a:t>
            </a:r>
            <a:r>
              <a:rPr lang="en-US" baseline="-25000"/>
              <a:t>f</a:t>
            </a:r>
            <a:r>
              <a:rPr lang="en-US"/>
              <a:t>, is used for melting or freezing</a:t>
            </a:r>
          </a:p>
          <a:p>
            <a:pPr eaLnBrk="1" hangingPunct="1"/>
            <a:r>
              <a:rPr lang="en-US" i="1"/>
              <a:t>Latent heat of vaporization</a:t>
            </a:r>
            <a:r>
              <a:rPr lang="en-US"/>
              <a:t>, L</a:t>
            </a:r>
            <a:r>
              <a:rPr lang="en-US" baseline="-25000"/>
              <a:t>v</a:t>
            </a:r>
            <a:r>
              <a:rPr lang="en-US"/>
              <a:t>, is used for boiling or condensing</a:t>
            </a:r>
          </a:p>
          <a:p>
            <a:pPr eaLnBrk="1" hangingPunct="1"/>
            <a:r>
              <a:rPr lang="en-US"/>
              <a:t>Table 11.2 gives the latent heats for various substances</a:t>
            </a:r>
            <a:endParaRPr lang="en-US" i="1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 vs. Q Graphs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2082800" y="1233488"/>
            <a:ext cx="5372100" cy="4943475"/>
            <a:chOff x="1111" y="804"/>
            <a:chExt cx="3384" cy="3114"/>
          </a:xfrm>
        </p:grpSpPr>
        <p:pic>
          <p:nvPicPr>
            <p:cNvPr id="53253" name="Picture 4" descr="heating_curve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111" y="804"/>
              <a:ext cx="3384" cy="311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3254" name="Line 8"/>
            <p:cNvSpPr>
              <a:spLocks noChangeShapeType="1"/>
            </p:cNvSpPr>
            <p:nvPr/>
          </p:nvSpPr>
          <p:spPr bwMode="auto">
            <a:xfrm>
              <a:off x="3493" y="3813"/>
              <a:ext cx="23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69633" name="Object 1"/>
          <p:cNvGraphicFramePr>
            <a:graphicFrameLocks noChangeAspect="1"/>
          </p:cNvGraphicFramePr>
          <p:nvPr/>
        </p:nvGraphicFramePr>
        <p:xfrm>
          <a:off x="0" y="1364800"/>
          <a:ext cx="9180913" cy="35347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83000" imgH="1422400" progId="Equation.3">
                  <p:embed/>
                </p:oleObj>
              </mc:Choice>
              <mc:Fallback>
                <p:oleObj name="Equation" r:id="rId2" imgW="3683000" imgH="1422400" progId="Equation.3">
                  <p:embed/>
                  <p:pic>
                    <p:nvPicPr>
                      <p:cNvPr id="69633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1364800"/>
                        <a:ext cx="9180913" cy="353477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 84"/>
          <p:cNvSpPr/>
          <p:nvPr/>
        </p:nvSpPr>
        <p:spPr>
          <a:xfrm>
            <a:off x="8024884" y="1596788"/>
            <a:ext cx="846161" cy="3957851"/>
          </a:xfrm>
          <a:custGeom>
            <a:avLst/>
            <a:gdLst>
              <a:gd name="connsiteX0" fmla="*/ 818865 w 846161"/>
              <a:gd name="connsiteY0" fmla="*/ 0 h 3957851"/>
              <a:gd name="connsiteX1" fmla="*/ 464023 w 846161"/>
              <a:gd name="connsiteY1" fmla="*/ 0 h 3957851"/>
              <a:gd name="connsiteX2" fmla="*/ 27295 w 846161"/>
              <a:gd name="connsiteY2" fmla="*/ 1255594 h 3957851"/>
              <a:gd name="connsiteX3" fmla="*/ 0 w 846161"/>
              <a:gd name="connsiteY3" fmla="*/ 3944203 h 3957851"/>
              <a:gd name="connsiteX4" fmla="*/ 846161 w 846161"/>
              <a:gd name="connsiteY4" fmla="*/ 3957851 h 3957851"/>
              <a:gd name="connsiteX5" fmla="*/ 818865 w 846161"/>
              <a:gd name="connsiteY5" fmla="*/ 0 h 3957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6161" h="3957851">
                <a:moveTo>
                  <a:pt x="818865" y="0"/>
                </a:moveTo>
                <a:lnTo>
                  <a:pt x="464023" y="0"/>
                </a:lnTo>
                <a:lnTo>
                  <a:pt x="27295" y="1255594"/>
                </a:lnTo>
                <a:lnTo>
                  <a:pt x="0" y="3944203"/>
                </a:lnTo>
                <a:lnTo>
                  <a:pt x="846161" y="3957851"/>
                </a:lnTo>
                <a:lnTo>
                  <a:pt x="818865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Triangle 31"/>
          <p:cNvSpPr/>
          <p:nvPr/>
        </p:nvSpPr>
        <p:spPr>
          <a:xfrm flipH="1">
            <a:off x="578888" y="4953000"/>
            <a:ext cx="152400" cy="609600"/>
          </a:xfrm>
          <a:prstGeom prst="rt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31287" y="4919663"/>
            <a:ext cx="797261" cy="642937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Ice and water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9" name="Freeform 28"/>
          <p:cNvSpPr/>
          <p:nvPr/>
        </p:nvSpPr>
        <p:spPr>
          <a:xfrm>
            <a:off x="1502812" y="2743201"/>
            <a:ext cx="1062967" cy="2819400"/>
          </a:xfrm>
          <a:custGeom>
            <a:avLst/>
            <a:gdLst>
              <a:gd name="connsiteX0" fmla="*/ 1057275 w 1057275"/>
              <a:gd name="connsiteY0" fmla="*/ 0 h 2752725"/>
              <a:gd name="connsiteX1" fmla="*/ 1038225 w 1057275"/>
              <a:gd name="connsiteY1" fmla="*/ 2752725 h 2752725"/>
              <a:gd name="connsiteX2" fmla="*/ 9525 w 1057275"/>
              <a:gd name="connsiteY2" fmla="*/ 2743200 h 2752725"/>
              <a:gd name="connsiteX3" fmla="*/ 0 w 1057275"/>
              <a:gd name="connsiteY3" fmla="*/ 2105025 h 2752725"/>
              <a:gd name="connsiteX4" fmla="*/ 1057275 w 1057275"/>
              <a:gd name="connsiteY4" fmla="*/ 0 h 2752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57275" h="2752725">
                <a:moveTo>
                  <a:pt x="1057275" y="0"/>
                </a:moveTo>
                <a:lnTo>
                  <a:pt x="1038225" y="2752725"/>
                </a:lnTo>
                <a:lnTo>
                  <a:pt x="9525" y="2743200"/>
                </a:lnTo>
                <a:lnTo>
                  <a:pt x="0" y="2105025"/>
                </a:lnTo>
                <a:lnTo>
                  <a:pt x="105727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552132" y="2819400"/>
            <a:ext cx="5513695" cy="2743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Graph of Ice to Steam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573201" y="1583140"/>
            <a:ext cx="5687" cy="397946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578888" y="5554639"/>
            <a:ext cx="8565112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578888" y="4881564"/>
            <a:ext cx="152400" cy="6810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731288" y="4910133"/>
            <a:ext cx="762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29" idx="3"/>
          </p:cNvCxnSpPr>
          <p:nvPr/>
        </p:nvCxnSpPr>
        <p:spPr>
          <a:xfrm flipV="1">
            <a:off x="1502812" y="2819401"/>
            <a:ext cx="1057276" cy="20798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2541038" y="2819400"/>
            <a:ext cx="55054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046488" y="1596788"/>
            <a:ext cx="428772" cy="122261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754872" y="4484424"/>
            <a:ext cx="760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32884" y="1501245"/>
            <a:ext cx="593496" cy="42934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100" dirty="0"/>
              <a:t>150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120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90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60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30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0</a:t>
            </a:r>
          </a:p>
          <a:p>
            <a:pPr algn="r"/>
            <a:endParaRPr lang="en-US" sz="2100" dirty="0"/>
          </a:p>
          <a:p>
            <a:pPr algn="r"/>
            <a:r>
              <a:rPr lang="en-US" sz="2100" dirty="0"/>
              <a:t>-30</a:t>
            </a:r>
          </a:p>
        </p:txBody>
      </p:sp>
      <p:cxnSp>
        <p:nvCxnSpPr>
          <p:cNvPr id="35" name="Straight Connector 34"/>
          <p:cNvCxnSpPr/>
          <p:nvPr/>
        </p:nvCxnSpPr>
        <p:spPr>
          <a:xfrm>
            <a:off x="559554" y="2347415"/>
            <a:ext cx="82978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61829" y="3002507"/>
            <a:ext cx="8281920" cy="22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64104" y="3616657"/>
            <a:ext cx="8334236" cy="181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555005" y="4899546"/>
            <a:ext cx="8316040" cy="90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1501254" y="158314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1315" y="5759355"/>
            <a:ext cx="791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0             500                      1000              1500              2000              2500             3000   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723327" y="1583140"/>
            <a:ext cx="2258" cy="39737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821373" y="6141493"/>
            <a:ext cx="1736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added (J)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29" y="111911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T(</a:t>
            </a:r>
            <a:r>
              <a:rPr lang="en-US" baseline="30000" dirty="0" err="1"/>
              <a:t>o</a:t>
            </a:r>
            <a:r>
              <a:rPr lang="en-US" dirty="0" err="1"/>
              <a:t>C</a:t>
            </a:r>
            <a:r>
              <a:rPr lang="en-US" dirty="0"/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63137" y="3794077"/>
            <a:ext cx="1811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 and Steam</a:t>
            </a:r>
          </a:p>
        </p:txBody>
      </p:sp>
      <p:cxnSp>
        <p:nvCxnSpPr>
          <p:cNvPr id="77" name="Straight Connector 76"/>
          <p:cNvCxnSpPr/>
          <p:nvPr/>
        </p:nvCxnSpPr>
        <p:spPr>
          <a:xfrm>
            <a:off x="2540774" y="1599060"/>
            <a:ext cx="13643" cy="3957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95764" y="3152626"/>
            <a:ext cx="77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Steam</a:t>
            </a:r>
          </a:p>
        </p:txBody>
      </p:sp>
      <p:cxnSp>
        <p:nvCxnSpPr>
          <p:cNvPr id="89" name="Straight Connector 88"/>
          <p:cNvCxnSpPr/>
          <p:nvPr/>
        </p:nvCxnSpPr>
        <p:spPr>
          <a:xfrm flipV="1">
            <a:off x="580024" y="4299045"/>
            <a:ext cx="8318316" cy="68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68689" y="5939041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Ice</a:t>
            </a:r>
          </a:p>
        </p:txBody>
      </p:sp>
      <p:sp>
        <p:nvSpPr>
          <p:cNvPr id="100" name="Freeform 99"/>
          <p:cNvSpPr/>
          <p:nvPr/>
        </p:nvSpPr>
        <p:spPr>
          <a:xfrm>
            <a:off x="409432" y="5459104"/>
            <a:ext cx="272955" cy="532263"/>
          </a:xfrm>
          <a:custGeom>
            <a:avLst/>
            <a:gdLst>
              <a:gd name="connsiteX0" fmla="*/ 0 w 300250"/>
              <a:gd name="connsiteY0" fmla="*/ 600501 h 600501"/>
              <a:gd name="connsiteX1" fmla="*/ 122829 w 300250"/>
              <a:gd name="connsiteY1" fmla="*/ 286603 h 600501"/>
              <a:gd name="connsiteX2" fmla="*/ 300250 w 300250"/>
              <a:gd name="connsiteY2" fmla="*/ 0 h 600501"/>
              <a:gd name="connsiteX3" fmla="*/ 300250 w 300250"/>
              <a:gd name="connsiteY3" fmla="*/ 0 h 6005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0250" h="600501">
                <a:moveTo>
                  <a:pt x="0" y="600501"/>
                </a:moveTo>
                <a:lnTo>
                  <a:pt x="122829" y="286603"/>
                </a:lnTo>
                <a:lnTo>
                  <a:pt x="300250" y="0"/>
                </a:lnTo>
                <a:lnTo>
                  <a:pt x="30025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Warming Ice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2017713"/>
            <a:ext cx="5105400" cy="4535487"/>
          </a:xfrm>
        </p:spPr>
        <p:txBody>
          <a:bodyPr/>
          <a:lstStyle/>
          <a:p>
            <a:pPr eaLnBrk="1" hangingPunct="1"/>
            <a:r>
              <a:rPr lang="en-US" sz="3000"/>
              <a:t>Start with one gram of ice at –30.0º C</a:t>
            </a:r>
          </a:p>
          <a:p>
            <a:pPr eaLnBrk="1" hangingPunct="1"/>
            <a:r>
              <a:rPr lang="en-US" sz="3000"/>
              <a:t>During A, the temperature of the ice changes from –30.0º C to 0º C</a:t>
            </a:r>
          </a:p>
          <a:p>
            <a:pPr eaLnBrk="1" hangingPunct="1"/>
            <a:r>
              <a:rPr lang="en-US" sz="3000"/>
              <a:t>Use Q = m c ΔT</a:t>
            </a:r>
          </a:p>
          <a:p>
            <a:pPr eaLnBrk="1" hangingPunct="1"/>
            <a:r>
              <a:rPr lang="en-US" sz="3000"/>
              <a:t>Will add 62.7 J of energy</a:t>
            </a:r>
          </a:p>
        </p:txBody>
      </p:sp>
      <p:graphicFrame>
        <p:nvGraphicFramePr>
          <p:cNvPr id="7170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5410200" y="1295400"/>
          <a:ext cx="2959100" cy="5105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286055" imgH="2219635" progId="">
                  <p:embed/>
                </p:oleObj>
              </mc:Choice>
              <mc:Fallback>
                <p:oleObj name="Photo Editor Photo" r:id="rId2" imgW="1286055" imgH="2219635" progId="">
                  <p:embed/>
                  <p:pic>
                    <p:nvPicPr>
                      <p:cNvPr id="717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1295400"/>
                        <a:ext cx="2959100" cy="5105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Melting Ice</a:t>
            </a: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182688" y="2017713"/>
            <a:ext cx="3810000" cy="4459287"/>
          </a:xfrm>
        </p:spPr>
        <p:txBody>
          <a:bodyPr/>
          <a:lstStyle/>
          <a:p>
            <a:pPr eaLnBrk="1" hangingPunct="1"/>
            <a:r>
              <a:rPr lang="en-US" sz="2600"/>
              <a:t>Once at 0º C, the phase change (melting) starts</a:t>
            </a:r>
          </a:p>
          <a:p>
            <a:pPr eaLnBrk="1" hangingPunct="1"/>
            <a:r>
              <a:rPr lang="en-US" sz="2600"/>
              <a:t>The temperature stays the same although energy is still being added</a:t>
            </a:r>
          </a:p>
          <a:p>
            <a:pPr eaLnBrk="1" hangingPunct="1"/>
            <a:r>
              <a:rPr lang="en-US" sz="2600"/>
              <a:t>Use Q = m L</a:t>
            </a:r>
            <a:r>
              <a:rPr lang="en-US" sz="2600" baseline="-25000"/>
              <a:t>f</a:t>
            </a:r>
            <a:r>
              <a:rPr lang="en-US" sz="2600"/>
              <a:t> </a:t>
            </a:r>
          </a:p>
          <a:p>
            <a:pPr eaLnBrk="1" hangingPunct="1"/>
            <a:r>
              <a:rPr lang="en-US" sz="2600"/>
              <a:t>Needs 333 J of energy</a:t>
            </a:r>
          </a:p>
        </p:txBody>
      </p:sp>
      <p:graphicFrame>
        <p:nvGraphicFramePr>
          <p:cNvPr id="8194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5715000" y="1239838"/>
          <a:ext cx="2455863" cy="5237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219370" imgH="2600000" progId="">
                  <p:embed/>
                </p:oleObj>
              </mc:Choice>
              <mc:Fallback>
                <p:oleObj name="Photo Editor Photo" r:id="rId2" imgW="1219370" imgH="2600000" progId="">
                  <p:embed/>
                  <p:pic>
                    <p:nvPicPr>
                      <p:cNvPr id="819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0" y="1239838"/>
                        <a:ext cx="2455863" cy="52371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Warming Water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600"/>
              <a:t>Between 0º C and 100º C, the material is liquid and no phase changes take place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Energy added increases the temperature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Use Q = m c ΔT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419 J of energy are added</a:t>
            </a:r>
          </a:p>
        </p:txBody>
      </p:sp>
      <p:graphicFrame>
        <p:nvGraphicFramePr>
          <p:cNvPr id="9218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6132513" y="1295400"/>
          <a:ext cx="2303462" cy="4945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886213" imgH="4304762" progId="">
                  <p:embed/>
                </p:oleObj>
              </mc:Choice>
              <mc:Fallback>
                <p:oleObj name="Photo Editor Photo" r:id="rId2" imgW="1886213" imgH="4304762" progId="">
                  <p:embed/>
                  <p:pic>
                    <p:nvPicPr>
                      <p:cNvPr id="921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2513" y="1295400"/>
                        <a:ext cx="2303462" cy="49450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F6F6649-CE57-438F-A9FF-463EE2F1A13B}" type="slidenum">
              <a:rPr lang="en-US" smtClean="0"/>
              <a:pPr/>
              <a:t>75</a:t>
            </a:fld>
            <a:endParaRPr lang="en-US"/>
          </a:p>
        </p:txBody>
      </p:sp>
      <p:sp>
        <p:nvSpPr>
          <p:cNvPr id="1781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123.12.3</a:t>
            </a:r>
          </a:p>
        </p:txBody>
      </p:sp>
      <p:sp>
        <p:nvSpPr>
          <p:cNvPr id="17818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None/>
            </a:pPr>
            <a:r>
              <a:rPr lang="en-US" b="1" dirty="0"/>
              <a:t>Will spaghetti cook faster if the water is boiling faster?</a:t>
            </a:r>
            <a:r>
              <a:rPr lang="en-US" b="1" dirty="0">
                <a:solidFill>
                  <a:srgbClr val="000000"/>
                </a:solidFill>
              </a:rPr>
              <a:t> </a:t>
            </a:r>
          </a:p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AutoNum type="alphaLcParenR"/>
            </a:pPr>
            <a:r>
              <a:rPr lang="en-US" b="1" dirty="0">
                <a:solidFill>
                  <a:srgbClr val="000000"/>
                </a:solidFill>
              </a:rPr>
              <a:t>Yes</a:t>
            </a:r>
          </a:p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AutoNum type="alphaLcParenR"/>
            </a:pPr>
            <a:r>
              <a:rPr lang="en-US" b="1" dirty="0">
                <a:solidFill>
                  <a:srgbClr val="000000"/>
                </a:solidFill>
              </a:rPr>
              <a:t>No</a:t>
            </a:r>
          </a:p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AutoNum type="alphaLcParenR"/>
            </a:pPr>
            <a:r>
              <a:rPr lang="en-US" b="1" dirty="0">
                <a:solidFill>
                  <a:srgbClr val="000000"/>
                </a:solidFill>
              </a:rPr>
              <a:t>What is Spaghetti? I only eat Raman</a:t>
            </a:r>
          </a:p>
          <a:p>
            <a:pPr marL="609600" indent="-609600" eaLnBrk="1" hangingPunct="1">
              <a:lnSpc>
                <a:spcPct val="120000"/>
              </a:lnSpc>
              <a:buFont typeface="Wingdings" pitchFamily="2" charset="2"/>
              <a:buNone/>
            </a:pPr>
            <a:endParaRPr lang="en-US" b="1" dirty="0">
              <a:solidFill>
                <a:srgbClr val="000000"/>
              </a:solidFill>
            </a:endParaRPr>
          </a:p>
          <a:p>
            <a:pPr marL="609600" indent="-609600"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8328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Boiling Water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/>
            <a:r>
              <a:rPr lang="en-US" sz="2800"/>
              <a:t>At 100º C, a phase change occurs (boiling)</a:t>
            </a:r>
          </a:p>
          <a:p>
            <a:pPr eaLnBrk="1" hangingPunct="1"/>
            <a:r>
              <a:rPr lang="en-US" sz="2800"/>
              <a:t>Temperature does not change</a:t>
            </a:r>
          </a:p>
          <a:p>
            <a:pPr eaLnBrk="1" hangingPunct="1"/>
            <a:r>
              <a:rPr lang="en-US" sz="2800"/>
              <a:t>Use Q = m Lv </a:t>
            </a:r>
          </a:p>
          <a:p>
            <a:pPr eaLnBrk="1" hangingPunct="1"/>
            <a:r>
              <a:rPr lang="en-US" sz="2800"/>
              <a:t>2 260 J of energy are needed</a:t>
            </a:r>
          </a:p>
        </p:txBody>
      </p:sp>
      <p:graphicFrame>
        <p:nvGraphicFramePr>
          <p:cNvPr id="10242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4652963" y="2514600"/>
          <a:ext cx="4033837" cy="2695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6400000" imgH="4114286" progId="">
                  <p:embed/>
                </p:oleObj>
              </mc:Choice>
              <mc:Fallback>
                <p:oleObj name="Photo Editor Photo" r:id="rId2" imgW="6400000" imgH="4114286" progId="">
                  <p:embed/>
                  <p:pic>
                    <p:nvPicPr>
                      <p:cNvPr id="1024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2963" y="2514600"/>
                        <a:ext cx="4033837" cy="2695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Heating Steam</a:t>
            </a:r>
          </a:p>
        </p:txBody>
      </p:sp>
      <p:sp>
        <p:nvSpPr>
          <p:cNvPr id="11268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55245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600"/>
              <a:t>After all the water is converted to steam, the steam will heat up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No phase change occurs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The added energy goes to increasing the temperature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Use Q = m c ΔT</a:t>
            </a:r>
          </a:p>
          <a:p>
            <a:pPr eaLnBrk="1" hangingPunct="1">
              <a:lnSpc>
                <a:spcPct val="90000"/>
              </a:lnSpc>
            </a:pPr>
            <a:r>
              <a:rPr lang="en-US" sz="2600"/>
              <a:t>To raise the temperature of the steam to 120°, 40.2 J of energy are needed</a:t>
            </a:r>
          </a:p>
          <a:p>
            <a:pPr eaLnBrk="1" hangingPunct="1">
              <a:lnSpc>
                <a:spcPct val="90000"/>
              </a:lnSpc>
            </a:pPr>
            <a:endParaRPr lang="en-US" sz="2600"/>
          </a:p>
        </p:txBody>
      </p:sp>
      <p:graphicFrame>
        <p:nvGraphicFramePr>
          <p:cNvPr id="11266" name="Object 4"/>
          <p:cNvGraphicFramePr>
            <a:graphicFrameLocks noGrp="1" noChangeAspect="1"/>
          </p:cNvGraphicFramePr>
          <p:nvPr>
            <p:ph type="clipArt" sz="half" idx="2"/>
          </p:nvPr>
        </p:nvGraphicFramePr>
        <p:xfrm>
          <a:off x="7413625" y="1289050"/>
          <a:ext cx="1235075" cy="534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028844" imgH="4447619" progId="">
                  <p:embed/>
                </p:oleObj>
              </mc:Choice>
              <mc:Fallback>
                <p:oleObj name="Photo Editor Photo" r:id="rId2" imgW="1028844" imgH="4447619" progId="">
                  <p:embed/>
                  <p:pic>
                    <p:nvPicPr>
                      <p:cNvPr id="1126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13625" y="1289050"/>
                        <a:ext cx="1235075" cy="5340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07BB98-8A8C-499D-B1BD-75BEAFEF8B54}" type="slidenum">
              <a:rPr lang="en-US" smtClean="0"/>
              <a:pPr/>
              <a:t>78</a:t>
            </a:fld>
            <a:endParaRPr lang="en-US"/>
          </a:p>
        </p:txBody>
      </p:sp>
      <p:sp>
        <p:nvSpPr>
          <p:cNvPr id="179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123.12.4</a:t>
            </a:r>
          </a:p>
        </p:txBody>
      </p:sp>
      <p:sp>
        <p:nvSpPr>
          <p:cNvPr id="440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30000"/>
              </a:lnSpc>
              <a:spcBef>
                <a:spcPct val="50000"/>
              </a:spcBef>
              <a:buFontTx/>
              <a:buNone/>
              <a:defRPr/>
            </a:pPr>
            <a:r>
              <a:rPr lang="en-US" sz="2800" b="1" dirty="0"/>
              <a:t>You put 1 kg of ice at 0</a:t>
            </a:r>
            <a:r>
              <a:rPr lang="en-US" sz="2800" b="1" baseline="30000" dirty="0"/>
              <a:t>o</a:t>
            </a:r>
            <a:r>
              <a:rPr lang="en-US" sz="2800" b="1" dirty="0"/>
              <a:t>C together with 1 kg of water at 50</a:t>
            </a:r>
            <a:r>
              <a:rPr lang="en-US" sz="2800" b="1" baseline="30000" dirty="0"/>
              <a:t>o</a:t>
            </a:r>
            <a:r>
              <a:rPr lang="en-US" sz="2800" b="1" dirty="0"/>
              <a:t>C.  What is the final temperature? </a:t>
            </a:r>
          </a:p>
          <a:p>
            <a:pPr lvl="1" eaLnBrk="1" hangingPunct="1">
              <a:lnSpc>
                <a:spcPct val="70000"/>
              </a:lnSpc>
              <a:spcBef>
                <a:spcPct val="50000"/>
              </a:spcBef>
              <a:defRPr/>
            </a:pPr>
            <a:r>
              <a:rPr lang="en-US" sz="2400" b="1" i="1" dirty="0"/>
              <a:t>L</a:t>
            </a:r>
            <a:r>
              <a:rPr lang="en-US" sz="2400" b="1" baseline="-25000" dirty="0"/>
              <a:t>F</a:t>
            </a:r>
            <a:r>
              <a:rPr lang="en-US" sz="2400" b="1" dirty="0"/>
              <a:t> = 3.33 x 10</a:t>
            </a:r>
            <a:r>
              <a:rPr lang="en-US" sz="2400" b="1" baseline="30000" dirty="0"/>
              <a:t>5</a:t>
            </a:r>
            <a:r>
              <a:rPr lang="en-US" sz="2400" b="1" dirty="0"/>
              <a:t> J/kg</a:t>
            </a:r>
            <a:endParaRPr lang="en-US" sz="2400" b="1" i="1" dirty="0"/>
          </a:p>
          <a:p>
            <a:pPr lvl="1" eaLnBrk="1" hangingPunct="1">
              <a:lnSpc>
                <a:spcPct val="70000"/>
              </a:lnSpc>
              <a:spcBef>
                <a:spcPct val="50000"/>
              </a:spcBef>
              <a:defRPr/>
            </a:pPr>
            <a:r>
              <a:rPr lang="en-US" sz="2400" b="1" i="1" dirty="0" err="1"/>
              <a:t>c</a:t>
            </a:r>
            <a:r>
              <a:rPr lang="en-US" sz="2400" b="1" baseline="-25000" dirty="0" err="1"/>
              <a:t>water</a:t>
            </a:r>
            <a:r>
              <a:rPr lang="en-US" sz="2400" b="1" dirty="0"/>
              <a:t> </a:t>
            </a:r>
            <a:r>
              <a:rPr lang="en-US" sz="2400" b="1"/>
              <a:t>= 4190 J/(kg K)</a:t>
            </a:r>
            <a:endParaRPr lang="en-US" sz="2400" b="1" dirty="0"/>
          </a:p>
          <a:p>
            <a:pPr eaLnBrk="1" hangingPunct="1">
              <a:buFontTx/>
              <a:buNone/>
              <a:defRPr/>
            </a:pPr>
            <a:r>
              <a:rPr lang="en-US" sz="2800" b="1" dirty="0">
                <a:solidFill>
                  <a:schemeClr val="tx2"/>
                </a:solidFill>
              </a:rPr>
              <a:t>a)</a:t>
            </a:r>
            <a:r>
              <a:rPr lang="en-US" sz="2800" b="1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800" b="1" dirty="0">
                <a:solidFill>
                  <a:schemeClr val="tx2"/>
                </a:solidFill>
              </a:rPr>
              <a:t>0ºC</a:t>
            </a:r>
            <a:endParaRPr lang="en-US" sz="2800" b="1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buFontTx/>
              <a:buNone/>
              <a:defRPr/>
            </a:pPr>
            <a:r>
              <a:rPr lang="en-US" sz="2800" b="1" dirty="0">
                <a:solidFill>
                  <a:schemeClr val="tx2"/>
                </a:solidFill>
              </a:rPr>
              <a:t>b)</a:t>
            </a:r>
            <a:r>
              <a:rPr lang="en-US" sz="2800" b="1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800" b="1" dirty="0">
                <a:solidFill>
                  <a:schemeClr val="tx2"/>
                </a:solidFill>
              </a:rPr>
              <a:t>between</a:t>
            </a:r>
            <a:r>
              <a:rPr lang="en-US" sz="2800" b="1" i="1" dirty="0">
                <a:solidFill>
                  <a:schemeClr val="tx2"/>
                </a:solidFill>
              </a:rPr>
              <a:t> </a:t>
            </a:r>
            <a:r>
              <a:rPr lang="en-US" sz="2800" b="1" dirty="0">
                <a:solidFill>
                  <a:schemeClr val="tx2"/>
                </a:solidFill>
              </a:rPr>
              <a:t>0ºC and 50ºC </a:t>
            </a:r>
            <a:endParaRPr lang="en-US" sz="2800" b="1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buFontTx/>
              <a:buNone/>
              <a:defRPr/>
            </a:pPr>
            <a:r>
              <a:rPr lang="en-US" sz="2800" b="1" dirty="0">
                <a:solidFill>
                  <a:schemeClr val="tx2"/>
                </a:solidFill>
              </a:rPr>
              <a:t>c)</a:t>
            </a:r>
            <a:r>
              <a:rPr lang="en-US" sz="2800" b="1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800" b="1" dirty="0">
                <a:solidFill>
                  <a:schemeClr val="tx2"/>
                </a:solidFill>
              </a:rPr>
              <a:t>50ºC </a:t>
            </a:r>
          </a:p>
          <a:p>
            <a:pPr eaLnBrk="1" hangingPunct="1">
              <a:buFontTx/>
              <a:buNone/>
              <a:defRPr/>
            </a:pPr>
            <a:r>
              <a:rPr lang="en-US" sz="2800" b="1" dirty="0">
                <a:solidFill>
                  <a:schemeClr val="tx2"/>
                </a:solidFill>
              </a:rPr>
              <a:t>d)   greater than 50ºC </a:t>
            </a:r>
          </a:p>
          <a:p>
            <a:pPr eaLnBrk="1" hangingPunct="1">
              <a:lnSpc>
                <a:spcPct val="70000"/>
              </a:lnSpc>
              <a:spcBef>
                <a:spcPct val="50000"/>
              </a:spcBef>
              <a:defRPr/>
            </a:pPr>
            <a:endParaRPr lang="en-US" sz="2800" b="1" dirty="0"/>
          </a:p>
          <a:p>
            <a:pPr eaLnBrk="1" hangingPunct="1">
              <a:defRPr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4116778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FD1FA26-18DF-43C6-A97B-C986A449F318}" type="slidenum">
              <a:rPr lang="en-US" smtClean="0"/>
              <a:pPr/>
              <a:t>79</a:t>
            </a:fld>
            <a:endParaRPr lang="en-US"/>
          </a:p>
        </p:txBody>
      </p:sp>
      <p:sp>
        <p:nvSpPr>
          <p:cNvPr id="1761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123.12.5</a:t>
            </a:r>
          </a:p>
        </p:txBody>
      </p:sp>
      <p:sp>
        <p:nvSpPr>
          <p:cNvPr id="438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150000"/>
              </a:lnSpc>
              <a:spcBef>
                <a:spcPct val="50000"/>
              </a:spcBef>
              <a:buFontTx/>
              <a:buNone/>
              <a:defRPr/>
            </a:pPr>
            <a:r>
              <a:rPr lang="en-US" sz="2400" b="1">
                <a:solidFill>
                  <a:schemeClr val="accent2"/>
                </a:solidFill>
              </a:rPr>
              <a:t>1 kg of water at 100 </a:t>
            </a:r>
            <a:r>
              <a:rPr lang="en-US" sz="2400" b="1" baseline="30000">
                <a:solidFill>
                  <a:schemeClr val="accent2"/>
                </a:solidFill>
              </a:rPr>
              <a:t>o</a:t>
            </a:r>
            <a:r>
              <a:rPr lang="en-US" sz="2400" b="1">
                <a:solidFill>
                  <a:schemeClr val="accent2"/>
                </a:solidFill>
              </a:rPr>
              <a:t>C</a:t>
            </a:r>
            <a:r>
              <a:rPr lang="en-US" sz="2400" b="1"/>
              <a:t> is poured into a bucket that contains </a:t>
            </a:r>
            <a:r>
              <a:rPr lang="en-US" sz="2400" b="1">
                <a:solidFill>
                  <a:schemeClr val="accent2"/>
                </a:solidFill>
              </a:rPr>
              <a:t>4 kg of water at 0 </a:t>
            </a:r>
            <a:r>
              <a:rPr lang="en-US" sz="2400" b="1" baseline="30000">
                <a:solidFill>
                  <a:schemeClr val="accent2"/>
                </a:solidFill>
              </a:rPr>
              <a:t>o</a:t>
            </a:r>
            <a:r>
              <a:rPr lang="en-US" sz="2400" b="1">
                <a:solidFill>
                  <a:schemeClr val="accent2"/>
                </a:solidFill>
              </a:rPr>
              <a:t>C</a:t>
            </a:r>
            <a:r>
              <a:rPr lang="en-US" sz="2400" b="1"/>
              <a:t>.   Find the equilibrium temperature (neglect the influence of the bucket). 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a)</a:t>
            </a:r>
            <a:r>
              <a:rPr lang="en-US" sz="24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400" b="1">
                <a:solidFill>
                  <a:schemeClr val="tx2"/>
                </a:solidFill>
              </a:rPr>
              <a:t>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</a:t>
            </a:r>
            <a:endParaRPr lang="en-US" sz="2400" b="1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b)</a:t>
            </a:r>
            <a:r>
              <a:rPr lang="en-US" sz="24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400" b="1">
                <a:solidFill>
                  <a:schemeClr val="tx2"/>
                </a:solidFill>
              </a:rPr>
              <a:t>20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 </a:t>
            </a:r>
            <a:endParaRPr lang="en-US" sz="2400" b="1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c)</a:t>
            </a:r>
            <a:r>
              <a:rPr lang="en-US" sz="2400" b="1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  </a:t>
            </a:r>
            <a:r>
              <a:rPr lang="en-US" sz="2400" b="1">
                <a:solidFill>
                  <a:schemeClr val="tx2"/>
                </a:solidFill>
              </a:rPr>
              <a:t>50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 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d)   80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</a:t>
            </a:r>
          </a:p>
          <a:p>
            <a:pPr eaLnBrk="1" hangingPunct="1">
              <a:lnSpc>
                <a:spcPct val="90000"/>
              </a:lnSpc>
              <a:buFontTx/>
              <a:buNone/>
              <a:defRPr/>
            </a:pPr>
            <a:r>
              <a:rPr lang="en-US" sz="2400" b="1">
                <a:solidFill>
                  <a:schemeClr val="tx2"/>
                </a:solidFill>
              </a:rPr>
              <a:t>e)   100 </a:t>
            </a:r>
            <a:r>
              <a:rPr lang="en-US" sz="2400" b="1" baseline="30000">
                <a:solidFill>
                  <a:schemeClr val="tx2"/>
                </a:solidFill>
              </a:rPr>
              <a:t>o</a:t>
            </a:r>
            <a:r>
              <a:rPr lang="en-US" sz="2400" b="1">
                <a:solidFill>
                  <a:schemeClr val="tx2"/>
                </a:solidFill>
              </a:rPr>
              <a:t>C</a:t>
            </a:r>
            <a:endParaRPr lang="en-US" sz="2400" b="1"/>
          </a:p>
          <a:p>
            <a:pPr eaLnBrk="1" hangingPunct="1">
              <a:lnSpc>
                <a:spcPct val="90000"/>
              </a:lnSpc>
              <a:defRPr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83181428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Problem Solving Strategies</a:t>
            </a:r>
          </a:p>
        </p:txBody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Make a table</a:t>
            </a:r>
          </a:p>
          <a:p>
            <a:pPr lvl="1" eaLnBrk="1" hangingPunct="1"/>
            <a:r>
              <a:rPr lang="en-US"/>
              <a:t>A column for each quantity</a:t>
            </a:r>
          </a:p>
          <a:p>
            <a:pPr lvl="1" eaLnBrk="1" hangingPunct="1"/>
            <a:r>
              <a:rPr lang="en-US"/>
              <a:t>A row for each phase and/or phase change</a:t>
            </a:r>
          </a:p>
          <a:p>
            <a:pPr lvl="1" eaLnBrk="1" hangingPunct="1"/>
            <a:r>
              <a:rPr lang="en-US"/>
              <a:t>Use a final column for the combination of quantities</a:t>
            </a:r>
          </a:p>
          <a:p>
            <a:pPr eaLnBrk="1" hangingPunct="1"/>
            <a:r>
              <a:rPr lang="en-US"/>
              <a:t>Use consistent units</a:t>
            </a:r>
          </a:p>
          <a:p>
            <a:pPr lvl="1" eaLnBrk="1" hangingPunct="1">
              <a:buFontTx/>
              <a:buNone/>
            </a:pPr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Problem Solving Strategies, cont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Apply Conservation of Energy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Transfers in energy are given as Q=mcΔT for processes with no phase changes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Use Q = m L</a:t>
            </a:r>
            <a:r>
              <a:rPr lang="en-US" baseline="-25000"/>
              <a:t>f</a:t>
            </a:r>
            <a:r>
              <a:rPr lang="en-US"/>
              <a:t> or Q = m L</a:t>
            </a:r>
            <a:r>
              <a:rPr lang="en-US" baseline="-25000"/>
              <a:t>v</a:t>
            </a:r>
            <a:r>
              <a:rPr lang="en-US"/>
              <a:t> if there is a phase change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In Q</a:t>
            </a:r>
            <a:r>
              <a:rPr lang="en-US" baseline="-25000"/>
              <a:t>cold</a:t>
            </a:r>
            <a:r>
              <a:rPr lang="en-US"/>
              <a:t> = - Q</a:t>
            </a:r>
            <a:r>
              <a:rPr lang="en-US" baseline="-25000"/>
              <a:t>hot</a:t>
            </a:r>
            <a:r>
              <a:rPr lang="en-US"/>
              <a:t> be careful of sign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ΔT is T</a:t>
            </a:r>
            <a:r>
              <a:rPr lang="en-US" baseline="-25000"/>
              <a:t>f</a:t>
            </a:r>
            <a:r>
              <a:rPr lang="en-US"/>
              <a:t> – T</a:t>
            </a:r>
            <a:r>
              <a:rPr lang="en-US" baseline="-25000"/>
              <a:t>i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Solve for the unknown</a:t>
            </a:r>
          </a:p>
          <a:p>
            <a:pPr eaLnBrk="1" hangingPunct="1">
              <a:lnSpc>
                <a:spcPct val="90000"/>
              </a:lnSpc>
            </a:pPr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Calorimeter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One technique for determining the specific heat of a substance</a:t>
            </a:r>
          </a:p>
          <a:p>
            <a:pPr eaLnBrk="1" hangingPunct="1"/>
            <a:r>
              <a:rPr lang="en-US"/>
              <a:t>A </a:t>
            </a:r>
            <a:r>
              <a:rPr lang="en-US" i="1"/>
              <a:t>calorimeter</a:t>
            </a:r>
            <a:r>
              <a:rPr lang="en-US"/>
              <a:t> is a vessel that is a good insulator which allows a thermal equilibrium to be achieved between substances without any energy loss to the environment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Calorimetry</a:t>
            </a:r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800"/>
              <a:t>Analysis performed using a calorimeter</a:t>
            </a:r>
          </a:p>
          <a:p>
            <a:pPr eaLnBrk="1" hangingPunct="1"/>
            <a:r>
              <a:rPr lang="en-US" sz="2800"/>
              <a:t>Conservation of energy applies to the isolated system</a:t>
            </a:r>
          </a:p>
          <a:p>
            <a:pPr eaLnBrk="1" hangingPunct="1"/>
            <a:r>
              <a:rPr lang="en-US" sz="2800"/>
              <a:t>The energy that leaves the warmer substance equals the energy that enters the water</a:t>
            </a:r>
          </a:p>
          <a:p>
            <a:pPr lvl="1" eaLnBrk="1" hangingPunct="1"/>
            <a:r>
              <a:rPr lang="en-US" sz="2400"/>
              <a:t>                              Q</a:t>
            </a:r>
            <a:r>
              <a:rPr lang="en-US" sz="2400" baseline="-25000"/>
              <a:t>cold</a:t>
            </a:r>
            <a:r>
              <a:rPr lang="en-US" sz="2400"/>
              <a:t> = -Q</a:t>
            </a:r>
            <a:r>
              <a:rPr lang="en-US" sz="2400" baseline="-25000"/>
              <a:t>hot</a:t>
            </a:r>
            <a:r>
              <a:rPr lang="en-US" sz="2400"/>
              <a:t> </a:t>
            </a:r>
          </a:p>
          <a:p>
            <a:pPr lvl="1" eaLnBrk="1" hangingPunct="1"/>
            <a:r>
              <a:rPr lang="en-US" sz="2400"/>
              <a:t>Negative sign keeps consistency in the sign convention of ΔT</a:t>
            </a:r>
          </a:p>
          <a:p>
            <a:pPr eaLnBrk="1" hangingPunct="1"/>
            <a:endParaRPr lang="en-US" sz="280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Calorimeter</a:t>
            </a:r>
          </a:p>
        </p:txBody>
      </p:sp>
      <p:grpSp>
        <p:nvGrpSpPr>
          <p:cNvPr id="2" name="Group 89"/>
          <p:cNvGrpSpPr>
            <a:grpSpLocks/>
          </p:cNvGrpSpPr>
          <p:nvPr/>
        </p:nvGrpSpPr>
        <p:grpSpPr bwMode="auto">
          <a:xfrm>
            <a:off x="523875" y="1795463"/>
            <a:ext cx="8397875" cy="3541712"/>
            <a:chOff x="330" y="1131"/>
            <a:chExt cx="5290" cy="2231"/>
          </a:xfrm>
        </p:grpSpPr>
        <p:sp>
          <p:nvSpPr>
            <p:cNvPr id="46084" name="Rectangle 4" descr="Wide upward diagonal"/>
            <p:cNvSpPr>
              <a:spLocks noChangeArrowheads="1"/>
            </p:cNvSpPr>
            <p:nvPr/>
          </p:nvSpPr>
          <p:spPr bwMode="auto">
            <a:xfrm>
              <a:off x="330" y="1949"/>
              <a:ext cx="1417" cy="1335"/>
            </a:xfrm>
            <a:prstGeom prst="rect">
              <a:avLst/>
            </a:prstGeom>
            <a:pattFill prst="wdUpDiag">
              <a:fgClr>
                <a:schemeClr val="accent1"/>
              </a:fgClr>
              <a:bgClr>
                <a:schemeClr val="bg1"/>
              </a:bgClr>
            </a:patt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85" name="Rectangle 5"/>
            <p:cNvSpPr>
              <a:spLocks noChangeArrowheads="1"/>
            </p:cNvSpPr>
            <p:nvPr/>
          </p:nvSpPr>
          <p:spPr bwMode="auto">
            <a:xfrm>
              <a:off x="494" y="1949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86" name="Rectangle 6"/>
            <p:cNvSpPr>
              <a:spLocks noChangeArrowheads="1"/>
            </p:cNvSpPr>
            <p:nvPr/>
          </p:nvSpPr>
          <p:spPr bwMode="auto">
            <a:xfrm>
              <a:off x="500" y="2145"/>
              <a:ext cx="1069" cy="997"/>
            </a:xfrm>
            <a:prstGeom prst="rect">
              <a:avLst/>
            </a:prstGeom>
            <a:solidFill>
              <a:schemeClr val="accent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593" y="1286"/>
              <a:ext cx="109" cy="1372"/>
              <a:chOff x="4279" y="1535"/>
              <a:chExt cx="164" cy="1692"/>
            </a:xfrm>
          </p:grpSpPr>
          <p:sp>
            <p:nvSpPr>
              <p:cNvPr id="46125" name="Oval 8"/>
              <p:cNvSpPr>
                <a:spLocks noChangeArrowheads="1"/>
              </p:cNvSpPr>
              <p:nvPr/>
            </p:nvSpPr>
            <p:spPr bwMode="auto">
              <a:xfrm>
                <a:off x="4279" y="3035"/>
                <a:ext cx="164" cy="192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4332" y="1535"/>
                <a:ext cx="65" cy="1591"/>
                <a:chOff x="4917" y="2212"/>
                <a:chExt cx="202" cy="1591"/>
              </a:xfrm>
            </p:grpSpPr>
            <p:sp>
              <p:nvSpPr>
                <p:cNvPr id="46129" name="AutoShape 10"/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0" name="Line 11"/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1" name="Line 12"/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2" name="Line 13"/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3" name="Line 14"/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4" name="Line 15"/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5" name="Line 16"/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6" name="Line 17"/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7" name="Line 18"/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8" name="Line 19"/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39" name="Line 20"/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0" name="Line 21"/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1" name="Line 22"/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2" name="Line 23"/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3" name="Line 24"/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4" name="Line 25"/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45" name="Line 26"/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6127" name="Oval 27"/>
              <p:cNvSpPr>
                <a:spLocks noChangeArrowheads="1"/>
              </p:cNvSpPr>
              <p:nvPr/>
            </p:nvSpPr>
            <p:spPr bwMode="auto">
              <a:xfrm>
                <a:off x="4316" y="3063"/>
                <a:ext cx="91" cy="137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8" name="Rectangle 28"/>
              <p:cNvSpPr>
                <a:spLocks noChangeArrowheads="1"/>
              </p:cNvSpPr>
              <p:nvPr/>
            </p:nvSpPr>
            <p:spPr bwMode="auto">
              <a:xfrm>
                <a:off x="4352" y="2240"/>
                <a:ext cx="27" cy="859"/>
              </a:xfrm>
              <a:prstGeom prst="rect">
                <a:avLst/>
              </a:prstGeom>
              <a:solidFill>
                <a:srgbClr val="FF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6088" name="Rectangle 29"/>
            <p:cNvSpPr>
              <a:spLocks noChangeArrowheads="1"/>
            </p:cNvSpPr>
            <p:nvPr/>
          </p:nvSpPr>
          <p:spPr bwMode="auto">
            <a:xfrm>
              <a:off x="1153" y="1181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89" name="Text Box 52"/>
            <p:cNvSpPr txBox="1">
              <a:spLocks noChangeArrowheads="1"/>
            </p:cNvSpPr>
            <p:nvPr/>
          </p:nvSpPr>
          <p:spPr bwMode="auto">
            <a:xfrm>
              <a:off x="1398" y="1131"/>
              <a:ext cx="147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/>
              <a:r>
                <a:rPr lang="en-US"/>
                <a:t>Sample at known temperature T</a:t>
              </a:r>
              <a:r>
                <a:rPr lang="en-US" baseline="-25000"/>
                <a:t>x</a:t>
              </a:r>
              <a:r>
                <a:rPr lang="en-US"/>
                <a:t> </a:t>
              </a:r>
            </a:p>
          </p:txBody>
        </p:sp>
        <p:sp>
          <p:nvSpPr>
            <p:cNvPr id="46090" name="Text Box 53"/>
            <p:cNvSpPr txBox="1">
              <a:spLocks noChangeArrowheads="1"/>
            </p:cNvSpPr>
            <p:nvPr/>
          </p:nvSpPr>
          <p:spPr bwMode="auto">
            <a:xfrm>
              <a:off x="1757" y="1615"/>
              <a:ext cx="147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/>
              <a:r>
                <a:rPr lang="en-US"/>
                <a:t>Water at known temperature T</a:t>
              </a:r>
              <a:r>
                <a:rPr lang="en-US" baseline="-25000"/>
                <a:t>w</a:t>
              </a:r>
              <a:r>
                <a:rPr lang="en-US"/>
                <a:t> </a:t>
              </a:r>
            </a:p>
          </p:txBody>
        </p:sp>
        <p:sp>
          <p:nvSpPr>
            <p:cNvPr id="46091" name="Freeform 54"/>
            <p:cNvSpPr>
              <a:spLocks/>
            </p:cNvSpPr>
            <p:nvPr/>
          </p:nvSpPr>
          <p:spPr bwMode="auto">
            <a:xfrm flipV="1">
              <a:off x="1323" y="1996"/>
              <a:ext cx="512" cy="334"/>
            </a:xfrm>
            <a:custGeom>
              <a:avLst/>
              <a:gdLst>
                <a:gd name="T0" fmla="*/ 512 w 512"/>
                <a:gd name="T1" fmla="*/ 210 h 210"/>
                <a:gd name="T2" fmla="*/ 238 w 512"/>
                <a:gd name="T3" fmla="*/ 146 h 210"/>
                <a:gd name="T4" fmla="*/ 293 w 512"/>
                <a:gd name="T5" fmla="*/ 92 h 210"/>
                <a:gd name="T6" fmla="*/ 0 w 512"/>
                <a:gd name="T7" fmla="*/ 0 h 2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12"/>
                <a:gd name="T13" fmla="*/ 0 h 210"/>
                <a:gd name="T14" fmla="*/ 512 w 512"/>
                <a:gd name="T15" fmla="*/ 210 h 2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12" h="210">
                  <a:moveTo>
                    <a:pt x="512" y="210"/>
                  </a:moveTo>
                  <a:cubicBezTo>
                    <a:pt x="393" y="188"/>
                    <a:pt x="275" y="166"/>
                    <a:pt x="238" y="146"/>
                  </a:cubicBezTo>
                  <a:cubicBezTo>
                    <a:pt x="201" y="126"/>
                    <a:pt x="333" y="116"/>
                    <a:pt x="293" y="92"/>
                  </a:cubicBezTo>
                  <a:cubicBezTo>
                    <a:pt x="253" y="68"/>
                    <a:pt x="126" y="34"/>
                    <a:pt x="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2" name="Text Box 55"/>
            <p:cNvSpPr txBox="1">
              <a:spLocks noChangeArrowheads="1"/>
            </p:cNvSpPr>
            <p:nvPr/>
          </p:nvSpPr>
          <p:spPr bwMode="auto">
            <a:xfrm>
              <a:off x="1910" y="2957"/>
              <a:ext cx="1475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/>
              <a:r>
                <a:rPr lang="en-US"/>
                <a:t>Insulated container</a:t>
              </a:r>
            </a:p>
          </p:txBody>
        </p:sp>
        <p:sp>
          <p:nvSpPr>
            <p:cNvPr id="46093" name="Line 56"/>
            <p:cNvSpPr>
              <a:spLocks noChangeShapeType="1"/>
            </p:cNvSpPr>
            <p:nvPr/>
          </p:nvSpPr>
          <p:spPr bwMode="auto">
            <a:xfrm flipH="1">
              <a:off x="1665" y="3080"/>
              <a:ext cx="2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4" name="Rectangle 57" descr="Wide upward diagonal"/>
            <p:cNvSpPr>
              <a:spLocks noChangeArrowheads="1"/>
            </p:cNvSpPr>
            <p:nvPr/>
          </p:nvSpPr>
          <p:spPr bwMode="auto">
            <a:xfrm>
              <a:off x="3900" y="2027"/>
              <a:ext cx="1417" cy="1335"/>
            </a:xfrm>
            <a:prstGeom prst="rect">
              <a:avLst/>
            </a:prstGeom>
            <a:pattFill prst="wdUpDiag">
              <a:fgClr>
                <a:schemeClr val="accent1"/>
              </a:fgClr>
              <a:bgClr>
                <a:schemeClr val="bg1"/>
              </a:bgClr>
            </a:patt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5" name="Rectangle 58"/>
            <p:cNvSpPr>
              <a:spLocks noChangeArrowheads="1"/>
            </p:cNvSpPr>
            <p:nvPr/>
          </p:nvSpPr>
          <p:spPr bwMode="auto">
            <a:xfrm>
              <a:off x="4064" y="2027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6" name="Rectangle 59"/>
            <p:cNvSpPr>
              <a:spLocks noChangeArrowheads="1"/>
            </p:cNvSpPr>
            <p:nvPr/>
          </p:nvSpPr>
          <p:spPr bwMode="auto">
            <a:xfrm>
              <a:off x="4070" y="2223"/>
              <a:ext cx="1069" cy="997"/>
            </a:xfrm>
            <a:prstGeom prst="rect">
              <a:avLst/>
            </a:prstGeom>
            <a:solidFill>
              <a:schemeClr val="accent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4"/>
            <p:cNvGrpSpPr>
              <a:grpSpLocks/>
            </p:cNvGrpSpPr>
            <p:nvPr/>
          </p:nvGrpSpPr>
          <p:grpSpPr bwMode="auto">
            <a:xfrm>
              <a:off x="4163" y="1364"/>
              <a:ext cx="111" cy="1372"/>
              <a:chOff x="3983" y="1499"/>
              <a:chExt cx="289" cy="1372"/>
            </a:xfrm>
          </p:grpSpPr>
          <p:sp>
            <p:nvSpPr>
              <p:cNvPr id="46104" name="Oval 61"/>
              <p:cNvSpPr>
                <a:spLocks noChangeArrowheads="1"/>
              </p:cNvSpPr>
              <p:nvPr/>
            </p:nvSpPr>
            <p:spPr bwMode="auto">
              <a:xfrm>
                <a:off x="3983" y="2715"/>
                <a:ext cx="289" cy="15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62"/>
              <p:cNvGrpSpPr>
                <a:grpSpLocks/>
              </p:cNvGrpSpPr>
              <p:nvPr/>
            </p:nvGrpSpPr>
            <p:grpSpPr bwMode="auto">
              <a:xfrm>
                <a:off x="4076" y="1499"/>
                <a:ext cx="115" cy="1290"/>
                <a:chOff x="4917" y="2212"/>
                <a:chExt cx="202" cy="1591"/>
              </a:xfrm>
            </p:grpSpPr>
            <p:sp>
              <p:nvSpPr>
                <p:cNvPr id="46108" name="AutoShape 63"/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09" name="Line 64"/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0" name="Line 65"/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1" name="Line 66"/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2" name="Line 67"/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3" name="Line 68"/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4" name="Line 69"/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5" name="Line 70"/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6" name="Line 71"/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7" name="Line 72"/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8" name="Line 73"/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19" name="Line 74"/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0" name="Line 75"/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1" name="Line 76"/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2" name="Line 77"/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3" name="Line 78"/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124" name="Line 79"/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6106" name="Oval 80"/>
              <p:cNvSpPr>
                <a:spLocks noChangeArrowheads="1"/>
              </p:cNvSpPr>
              <p:nvPr/>
            </p:nvSpPr>
            <p:spPr bwMode="auto">
              <a:xfrm>
                <a:off x="4048" y="2738"/>
                <a:ext cx="161" cy="111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07" name="Rectangle 81"/>
              <p:cNvSpPr>
                <a:spLocks noChangeArrowheads="1"/>
              </p:cNvSpPr>
              <p:nvPr/>
            </p:nvSpPr>
            <p:spPr bwMode="auto">
              <a:xfrm>
                <a:off x="4112" y="1609"/>
                <a:ext cx="47" cy="1158"/>
              </a:xfrm>
              <a:prstGeom prst="rect">
                <a:avLst/>
              </a:prstGeom>
              <a:solidFill>
                <a:srgbClr val="FF0000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6098" name="Rectangle 82"/>
            <p:cNvSpPr>
              <a:spLocks noChangeArrowheads="1"/>
            </p:cNvSpPr>
            <p:nvPr/>
          </p:nvSpPr>
          <p:spPr bwMode="auto">
            <a:xfrm>
              <a:off x="4768" y="2603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099" name="AutoShape 83"/>
            <p:cNvSpPr>
              <a:spLocks noChangeArrowheads="1"/>
            </p:cNvSpPr>
            <p:nvPr/>
          </p:nvSpPr>
          <p:spPr bwMode="auto">
            <a:xfrm>
              <a:off x="3092" y="1217"/>
              <a:ext cx="265" cy="741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00" name="Line 85"/>
            <p:cNvSpPr>
              <a:spLocks noChangeShapeType="1"/>
            </p:cNvSpPr>
            <p:nvPr/>
          </p:nvSpPr>
          <p:spPr bwMode="auto">
            <a:xfrm>
              <a:off x="3222" y="3088"/>
              <a:ext cx="7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01" name="Line 86"/>
            <p:cNvSpPr>
              <a:spLocks noChangeShapeType="1"/>
            </p:cNvSpPr>
            <p:nvPr/>
          </p:nvSpPr>
          <p:spPr bwMode="auto">
            <a:xfrm>
              <a:off x="700" y="1865"/>
              <a:ext cx="10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02" name="Text Box 87"/>
            <p:cNvSpPr txBox="1">
              <a:spLocks noChangeArrowheads="1"/>
            </p:cNvSpPr>
            <p:nvPr/>
          </p:nvSpPr>
          <p:spPr bwMode="auto">
            <a:xfrm>
              <a:off x="4465" y="1151"/>
              <a:ext cx="1155" cy="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l"/>
              <a:r>
                <a:rPr lang="en-US"/>
                <a:t>Water temperature rises </a:t>
              </a:r>
            </a:p>
          </p:txBody>
        </p:sp>
        <p:sp>
          <p:nvSpPr>
            <p:cNvPr id="46103" name="Line 88"/>
            <p:cNvSpPr>
              <a:spLocks noChangeShapeType="1"/>
            </p:cNvSpPr>
            <p:nvPr/>
          </p:nvSpPr>
          <p:spPr bwMode="auto">
            <a:xfrm flipH="1">
              <a:off x="4284" y="1481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6096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Calorimetry</a:t>
            </a:r>
          </a:p>
        </p:txBody>
      </p:sp>
      <p:sp>
        <p:nvSpPr>
          <p:cNvPr id="3080" name="Rectangle 3"/>
          <p:cNvSpPr>
            <a:spLocks noChangeArrowheads="1"/>
          </p:cNvSpPr>
          <p:nvPr/>
        </p:nvSpPr>
        <p:spPr bwMode="auto">
          <a:xfrm>
            <a:off x="6019800" y="1538288"/>
            <a:ext cx="1981200" cy="1600200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Rectangle 4"/>
          <p:cNvSpPr>
            <a:spLocks noChangeArrowheads="1"/>
          </p:cNvSpPr>
          <p:nvPr/>
        </p:nvSpPr>
        <p:spPr bwMode="auto">
          <a:xfrm>
            <a:off x="990600" y="1462088"/>
            <a:ext cx="1981200" cy="1600200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Text Box 5"/>
          <p:cNvSpPr txBox="1">
            <a:spLocks noChangeArrowheads="1"/>
          </p:cNvSpPr>
          <p:nvPr/>
        </p:nvSpPr>
        <p:spPr bwMode="auto">
          <a:xfrm>
            <a:off x="1266825" y="1038225"/>
            <a:ext cx="152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Object #1</a:t>
            </a:r>
          </a:p>
        </p:txBody>
      </p:sp>
      <p:sp>
        <p:nvSpPr>
          <p:cNvPr id="3083" name="Text Box 6"/>
          <p:cNvSpPr txBox="1">
            <a:spLocks noChangeArrowheads="1"/>
          </p:cNvSpPr>
          <p:nvPr/>
        </p:nvSpPr>
        <p:spPr bwMode="auto">
          <a:xfrm>
            <a:off x="6324600" y="1098550"/>
            <a:ext cx="152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Object #2</a:t>
            </a:r>
          </a:p>
        </p:txBody>
      </p:sp>
      <p:graphicFrame>
        <p:nvGraphicFramePr>
          <p:cNvPr id="3074" name="Object 7"/>
          <p:cNvGraphicFramePr>
            <a:graphicFrameLocks noChangeAspect="1"/>
          </p:cNvGraphicFramePr>
          <p:nvPr/>
        </p:nvGraphicFramePr>
        <p:xfrm>
          <a:off x="6781800" y="1676400"/>
          <a:ext cx="48101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4880" imgH="228600" progId="Equation.3">
                  <p:embed/>
                </p:oleObj>
              </mc:Choice>
              <mc:Fallback>
                <p:oleObj name="Equation" r:id="rId2" imgW="164880" imgH="228600" progId="Equation.3">
                  <p:embed/>
                  <p:pic>
                    <p:nvPicPr>
                      <p:cNvPr id="3074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1676400"/>
                        <a:ext cx="481013" cy="685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8"/>
          <p:cNvGraphicFramePr>
            <a:graphicFrameLocks noChangeAspect="1"/>
          </p:cNvGraphicFramePr>
          <p:nvPr/>
        </p:nvGraphicFramePr>
        <p:xfrm>
          <a:off x="1752600" y="1600200"/>
          <a:ext cx="48101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4880" imgH="228600" progId="Equation.3">
                  <p:embed/>
                </p:oleObj>
              </mc:Choice>
              <mc:Fallback>
                <p:oleObj name="Equation" r:id="rId4" imgW="164880" imgH="228600" progId="Equation.3">
                  <p:embed/>
                  <p:pic>
                    <p:nvPicPr>
                      <p:cNvPr id="307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1600200"/>
                        <a:ext cx="481013" cy="685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84" name="Rectangle 9"/>
          <p:cNvSpPr>
            <a:spLocks noChangeArrowheads="1"/>
          </p:cNvSpPr>
          <p:nvPr/>
        </p:nvSpPr>
        <p:spPr bwMode="auto">
          <a:xfrm>
            <a:off x="2286000" y="3189288"/>
            <a:ext cx="1981200" cy="1600200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5" name="Rectangle 10"/>
          <p:cNvSpPr>
            <a:spLocks noChangeArrowheads="1"/>
          </p:cNvSpPr>
          <p:nvPr/>
        </p:nvSpPr>
        <p:spPr bwMode="auto">
          <a:xfrm>
            <a:off x="4267200" y="3189288"/>
            <a:ext cx="1981200" cy="1600200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6" name="Line 11"/>
          <p:cNvSpPr>
            <a:spLocks noChangeShapeType="1"/>
          </p:cNvSpPr>
          <p:nvPr/>
        </p:nvSpPr>
        <p:spPr bwMode="auto">
          <a:xfrm>
            <a:off x="3429000" y="3722688"/>
            <a:ext cx="144780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076" name="Object 12"/>
          <p:cNvGraphicFramePr>
            <a:graphicFrameLocks noChangeAspect="1"/>
          </p:cNvGraphicFramePr>
          <p:nvPr/>
        </p:nvGraphicFramePr>
        <p:xfrm>
          <a:off x="2590800" y="3875088"/>
          <a:ext cx="83820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17160" imgH="228600" progId="Equation.3">
                  <p:embed/>
                </p:oleObj>
              </mc:Choice>
              <mc:Fallback>
                <p:oleObj name="Equation" r:id="rId6" imgW="317160" imgH="228600" progId="Equation.3">
                  <p:embed/>
                  <p:pic>
                    <p:nvPicPr>
                      <p:cNvPr id="3076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3875088"/>
                        <a:ext cx="838200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7" name="Object 13"/>
          <p:cNvGraphicFramePr>
            <a:graphicFrameLocks noChangeAspect="1"/>
          </p:cNvGraphicFramePr>
          <p:nvPr/>
        </p:nvGraphicFramePr>
        <p:xfrm>
          <a:off x="4876800" y="3341688"/>
          <a:ext cx="703263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66400" imgH="228600" progId="Equation.3">
                  <p:embed/>
                </p:oleObj>
              </mc:Choice>
              <mc:Fallback>
                <p:oleObj name="Equation" r:id="rId8" imgW="266400" imgH="228600" progId="Equation.3">
                  <p:embed/>
                  <p:pic>
                    <p:nvPicPr>
                      <p:cNvPr id="307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3341688"/>
                        <a:ext cx="703263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87" name="Rectangle 14"/>
          <p:cNvSpPr>
            <a:spLocks noChangeArrowheads="1"/>
          </p:cNvSpPr>
          <p:nvPr/>
        </p:nvSpPr>
        <p:spPr bwMode="auto">
          <a:xfrm>
            <a:off x="2286000" y="4851400"/>
            <a:ext cx="1981200" cy="1600200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Rectangle 15"/>
          <p:cNvSpPr>
            <a:spLocks noChangeArrowheads="1"/>
          </p:cNvSpPr>
          <p:nvPr/>
        </p:nvSpPr>
        <p:spPr bwMode="auto">
          <a:xfrm>
            <a:off x="4267200" y="4851400"/>
            <a:ext cx="1981200" cy="1600200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3078" name="Object 16"/>
          <p:cNvGraphicFramePr>
            <a:graphicFrameLocks noChangeAspect="1"/>
          </p:cNvGraphicFramePr>
          <p:nvPr/>
        </p:nvGraphicFramePr>
        <p:xfrm>
          <a:off x="3962400" y="5384800"/>
          <a:ext cx="51911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7480" imgH="241200" progId="Equation.3">
                  <p:embed/>
                </p:oleObj>
              </mc:Choice>
              <mc:Fallback>
                <p:oleObj name="Equation" r:id="rId10" imgW="177480" imgH="241200" progId="Equation.3">
                  <p:embed/>
                  <p:pic>
                    <p:nvPicPr>
                      <p:cNvPr id="307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0" y="5384800"/>
                        <a:ext cx="519113" cy="723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7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6096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Calorimetry</a:t>
            </a:r>
          </a:p>
        </p:txBody>
      </p:sp>
      <p:sp>
        <p:nvSpPr>
          <p:cNvPr id="4108" name="Rectangle 3"/>
          <p:cNvSpPr>
            <a:spLocks noChangeArrowheads="1"/>
          </p:cNvSpPr>
          <p:nvPr/>
        </p:nvSpPr>
        <p:spPr bwMode="auto">
          <a:xfrm>
            <a:off x="7108825" y="1519238"/>
            <a:ext cx="1571625" cy="1258887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09" name="Rectangle 4"/>
          <p:cNvSpPr>
            <a:spLocks noChangeArrowheads="1"/>
          </p:cNvSpPr>
          <p:nvPr/>
        </p:nvSpPr>
        <p:spPr bwMode="auto">
          <a:xfrm>
            <a:off x="271463" y="1487488"/>
            <a:ext cx="1571625" cy="1260475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10" name="Text Box 5"/>
          <p:cNvSpPr txBox="1">
            <a:spLocks noChangeArrowheads="1"/>
          </p:cNvSpPr>
          <p:nvPr/>
        </p:nvSpPr>
        <p:spPr bwMode="auto">
          <a:xfrm>
            <a:off x="512763" y="1127125"/>
            <a:ext cx="1209675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Object #1</a:t>
            </a:r>
          </a:p>
        </p:txBody>
      </p:sp>
      <p:sp>
        <p:nvSpPr>
          <p:cNvPr id="4111" name="Text Box 6"/>
          <p:cNvSpPr txBox="1">
            <a:spLocks noChangeArrowheads="1"/>
          </p:cNvSpPr>
          <p:nvPr/>
        </p:nvSpPr>
        <p:spPr bwMode="auto">
          <a:xfrm>
            <a:off x="7350125" y="1158875"/>
            <a:ext cx="1211263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400">
                <a:latin typeface="Times New Roman" pitchFamily="18" charset="0"/>
              </a:rPr>
              <a:t>Object #2</a:t>
            </a:r>
          </a:p>
        </p:txBody>
      </p:sp>
      <p:graphicFrame>
        <p:nvGraphicFramePr>
          <p:cNvPr id="4098" name="Object 7"/>
          <p:cNvGraphicFramePr>
            <a:graphicFrameLocks noChangeAspect="1"/>
          </p:cNvGraphicFramePr>
          <p:nvPr/>
        </p:nvGraphicFramePr>
        <p:xfrm>
          <a:off x="7713663" y="1819275"/>
          <a:ext cx="381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4880" imgH="228600" progId="Equation.3">
                  <p:embed/>
                </p:oleObj>
              </mc:Choice>
              <mc:Fallback>
                <p:oleObj name="Equation" r:id="rId2" imgW="164880" imgH="228600" progId="Equation.3">
                  <p:embed/>
                  <p:pic>
                    <p:nvPicPr>
                      <p:cNvPr id="4098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3663" y="1819275"/>
                        <a:ext cx="38100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9" name="Object 8"/>
          <p:cNvGraphicFramePr>
            <a:graphicFrameLocks noChangeAspect="1"/>
          </p:cNvGraphicFramePr>
          <p:nvPr/>
        </p:nvGraphicFramePr>
        <p:xfrm>
          <a:off x="876300" y="1787525"/>
          <a:ext cx="38100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4880" imgH="228600" progId="Equation.3">
                  <p:embed/>
                </p:oleObj>
              </mc:Choice>
              <mc:Fallback>
                <p:oleObj name="Equation" r:id="rId4" imgW="164880" imgH="228600" progId="Equation.3">
                  <p:embed/>
                  <p:pic>
                    <p:nvPicPr>
                      <p:cNvPr id="4099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6300" y="1787525"/>
                        <a:ext cx="381000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12" name="Rectangle 9"/>
          <p:cNvSpPr>
            <a:spLocks noChangeArrowheads="1"/>
          </p:cNvSpPr>
          <p:nvPr/>
        </p:nvSpPr>
        <p:spPr bwMode="auto">
          <a:xfrm>
            <a:off x="2779713" y="2713038"/>
            <a:ext cx="1573212" cy="1260475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13" name="Rectangle 10"/>
          <p:cNvSpPr>
            <a:spLocks noChangeArrowheads="1"/>
          </p:cNvSpPr>
          <p:nvPr/>
        </p:nvSpPr>
        <p:spPr bwMode="auto">
          <a:xfrm>
            <a:off x="4352925" y="2713038"/>
            <a:ext cx="1571625" cy="1260475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14" name="Line 11"/>
          <p:cNvSpPr>
            <a:spLocks noChangeShapeType="1"/>
          </p:cNvSpPr>
          <p:nvPr/>
        </p:nvSpPr>
        <p:spPr bwMode="auto">
          <a:xfrm>
            <a:off x="3200400" y="3095625"/>
            <a:ext cx="114935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4115" name="Line 12"/>
          <p:cNvSpPr>
            <a:spLocks noChangeShapeType="1"/>
          </p:cNvSpPr>
          <p:nvPr/>
        </p:nvSpPr>
        <p:spPr bwMode="auto">
          <a:xfrm>
            <a:off x="4419600" y="3095625"/>
            <a:ext cx="1149350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100" name="Object 13"/>
          <p:cNvGraphicFramePr>
            <a:graphicFrameLocks noChangeAspect="1"/>
          </p:cNvGraphicFramePr>
          <p:nvPr/>
        </p:nvGraphicFramePr>
        <p:xfrm>
          <a:off x="3022600" y="3254375"/>
          <a:ext cx="665163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17160" imgH="228600" progId="Equation.3">
                  <p:embed/>
                </p:oleObj>
              </mc:Choice>
              <mc:Fallback>
                <p:oleObj name="Equation" r:id="rId6" imgW="317160" imgH="228600" progId="Equation.3">
                  <p:embed/>
                  <p:pic>
                    <p:nvPicPr>
                      <p:cNvPr id="410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2600" y="3254375"/>
                        <a:ext cx="665163" cy="488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1" name="Object 14"/>
          <p:cNvGraphicFramePr>
            <a:graphicFrameLocks noChangeAspect="1"/>
          </p:cNvGraphicFramePr>
          <p:nvPr/>
        </p:nvGraphicFramePr>
        <p:xfrm>
          <a:off x="5029200" y="3171825"/>
          <a:ext cx="557213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66400" imgH="228600" progId="Equation.3">
                  <p:embed/>
                </p:oleObj>
              </mc:Choice>
              <mc:Fallback>
                <p:oleObj name="Equation" r:id="rId8" imgW="266400" imgH="228600" progId="Equation.3">
                  <p:embed/>
                  <p:pic>
                    <p:nvPicPr>
                      <p:cNvPr id="4101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3171825"/>
                        <a:ext cx="557213" cy="488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16" name="Rectangle 15"/>
          <p:cNvSpPr>
            <a:spLocks noChangeArrowheads="1"/>
          </p:cNvSpPr>
          <p:nvPr/>
        </p:nvSpPr>
        <p:spPr bwMode="auto">
          <a:xfrm>
            <a:off x="2779713" y="4073525"/>
            <a:ext cx="1573212" cy="1260475"/>
          </a:xfrm>
          <a:prstGeom prst="rect">
            <a:avLst/>
          </a:prstGeom>
          <a:solidFill>
            <a:srgbClr val="0066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17" name="Rectangle 16"/>
          <p:cNvSpPr>
            <a:spLocks noChangeArrowheads="1"/>
          </p:cNvSpPr>
          <p:nvPr/>
        </p:nvSpPr>
        <p:spPr bwMode="auto">
          <a:xfrm>
            <a:off x="4352925" y="4073525"/>
            <a:ext cx="1571625" cy="1260475"/>
          </a:xfrm>
          <a:prstGeom prst="rect">
            <a:avLst/>
          </a:prstGeom>
          <a:solidFill>
            <a:schemeClr val="hlink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4102" name="Object 17"/>
          <p:cNvGraphicFramePr>
            <a:graphicFrameLocks noChangeAspect="1"/>
          </p:cNvGraphicFramePr>
          <p:nvPr/>
        </p:nvGraphicFramePr>
        <p:xfrm>
          <a:off x="4110038" y="4494213"/>
          <a:ext cx="412750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7480" imgH="241200" progId="Equation.3">
                  <p:embed/>
                </p:oleObj>
              </mc:Choice>
              <mc:Fallback>
                <p:oleObj name="Equation" r:id="rId10" imgW="177480" imgH="241200" progId="Equation.3">
                  <p:embed/>
                  <p:pic>
                    <p:nvPicPr>
                      <p:cNvPr id="4102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0038" y="4494213"/>
                        <a:ext cx="412750" cy="5699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58" name="Object 18"/>
          <p:cNvGraphicFramePr>
            <a:graphicFrameLocks noChangeAspect="1"/>
          </p:cNvGraphicFramePr>
          <p:nvPr/>
        </p:nvGraphicFramePr>
        <p:xfrm>
          <a:off x="508000" y="3279775"/>
          <a:ext cx="2235200" cy="455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18960" imgH="241200" progId="Equation.3">
                  <p:embed/>
                </p:oleObj>
              </mc:Choice>
              <mc:Fallback>
                <p:oleObj name="Equation" r:id="rId12" imgW="1218960" imgH="241200" progId="Equation.3">
                  <p:embed/>
                  <p:pic>
                    <p:nvPicPr>
                      <p:cNvPr id="291858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000" y="3279775"/>
                        <a:ext cx="2235200" cy="4556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59" name="Object 19"/>
          <p:cNvGraphicFramePr>
            <a:graphicFrameLocks noChangeAspect="1"/>
          </p:cNvGraphicFramePr>
          <p:nvPr/>
        </p:nvGraphicFramePr>
        <p:xfrm>
          <a:off x="6172200" y="3248025"/>
          <a:ext cx="2395538" cy="487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18960" imgH="241200" progId="Equation.3">
                  <p:embed/>
                </p:oleObj>
              </mc:Choice>
              <mc:Fallback>
                <p:oleObj name="Equation" r:id="rId14" imgW="1218960" imgH="241200" progId="Equation.3">
                  <p:embed/>
                  <p:pic>
                    <p:nvPicPr>
                      <p:cNvPr id="29185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72200" y="3248025"/>
                        <a:ext cx="2395538" cy="4873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60" name="Object 20"/>
          <p:cNvGraphicFramePr>
            <a:graphicFrameLocks noChangeAspect="1"/>
          </p:cNvGraphicFramePr>
          <p:nvPr/>
        </p:nvGraphicFramePr>
        <p:xfrm>
          <a:off x="3678238" y="5370513"/>
          <a:ext cx="1450975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320" imgH="228600" progId="Equation.3">
                  <p:embed/>
                </p:oleObj>
              </mc:Choice>
              <mc:Fallback>
                <p:oleObj name="Equation" r:id="rId16" imgW="787320" imgH="228600" progId="Equation.3">
                  <p:embed/>
                  <p:pic>
                    <p:nvPicPr>
                      <p:cNvPr id="29186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78238" y="5370513"/>
                        <a:ext cx="1450975" cy="433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1861" name="Object 21"/>
          <p:cNvGraphicFramePr>
            <a:graphicFrameLocks noChangeAspect="1"/>
          </p:cNvGraphicFramePr>
          <p:nvPr/>
        </p:nvGraphicFramePr>
        <p:xfrm>
          <a:off x="2744788" y="5810250"/>
          <a:ext cx="3475037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726920" imgH="241200" progId="Equation.3">
                  <p:embed/>
                </p:oleObj>
              </mc:Choice>
              <mc:Fallback>
                <p:oleObj name="Equation" r:id="rId18" imgW="1726920" imgH="241200" progId="Equation.3">
                  <p:embed/>
                  <p:pic>
                    <p:nvPicPr>
                      <p:cNvPr id="29186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4788" y="5810250"/>
                        <a:ext cx="3475037" cy="498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5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838200"/>
          </a:xfrm>
        </p:spPr>
        <p:txBody>
          <a:bodyPr/>
          <a:lstStyle/>
          <a:p>
            <a:pPr eaLnBrk="1" hangingPunct="1"/>
            <a:r>
              <a:rPr lang="en-US"/>
              <a:t>Mixture Example</a:t>
            </a:r>
          </a:p>
        </p:txBody>
      </p:sp>
      <p:sp>
        <p:nvSpPr>
          <p:cNvPr id="5126" name="Text Box 3"/>
          <p:cNvSpPr txBox="1">
            <a:spLocks noChangeArrowheads="1"/>
          </p:cNvSpPr>
          <p:nvPr/>
        </p:nvSpPr>
        <p:spPr bwMode="auto">
          <a:xfrm>
            <a:off x="228600" y="1219200"/>
            <a:ext cx="8686800" cy="2528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200">
                <a:latin typeface="Times New Roman" pitchFamily="18" charset="0"/>
              </a:rPr>
              <a:t>200 cm</a:t>
            </a:r>
            <a:r>
              <a:rPr lang="en-US" sz="3200" baseline="30000">
                <a:latin typeface="Times New Roman" pitchFamily="18" charset="0"/>
              </a:rPr>
              <a:t>3</a:t>
            </a:r>
            <a:r>
              <a:rPr lang="en-US" sz="3200">
                <a:latin typeface="Times New Roman" pitchFamily="18" charset="0"/>
              </a:rPr>
              <a:t> of hot water at 95</a:t>
            </a:r>
            <a:r>
              <a:rPr lang="en-US" sz="3200" baseline="30000">
                <a:latin typeface="Times New Roman" pitchFamily="18" charset="0"/>
              </a:rPr>
              <a:t>o</a:t>
            </a:r>
            <a:r>
              <a:rPr lang="en-US" sz="3200">
                <a:latin typeface="Times New Roman" pitchFamily="18" charset="0"/>
              </a:rPr>
              <a:t>C is poured into a 150 g glass cup initially at 25</a:t>
            </a:r>
            <a:r>
              <a:rPr lang="en-US" sz="3200" baseline="30000">
                <a:latin typeface="Times New Roman" pitchFamily="18" charset="0"/>
              </a:rPr>
              <a:t>o</a:t>
            </a:r>
            <a:r>
              <a:rPr lang="en-US" sz="3200">
                <a:latin typeface="Times New Roman" pitchFamily="18" charset="0"/>
              </a:rPr>
              <a:t>C.  What is the final temperature of the mixture when equilibrium is reached, assuming no heat flows to the surroundings.</a:t>
            </a:r>
          </a:p>
        </p:txBody>
      </p:sp>
      <p:sp>
        <p:nvSpPr>
          <p:cNvPr id="292868" name="Line 4"/>
          <p:cNvSpPr>
            <a:spLocks noChangeShapeType="1"/>
          </p:cNvSpPr>
          <p:nvPr/>
        </p:nvSpPr>
        <p:spPr bwMode="auto">
          <a:xfrm>
            <a:off x="3352800" y="4857750"/>
            <a:ext cx="12954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6324600" y="3943350"/>
            <a:ext cx="1676400" cy="2209800"/>
            <a:chOff x="3984" y="2736"/>
            <a:chExt cx="1056" cy="1392"/>
          </a:xfrm>
        </p:grpSpPr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3984" y="2736"/>
              <a:ext cx="1056" cy="1392"/>
              <a:chOff x="480" y="2688"/>
              <a:chExt cx="1056" cy="1392"/>
            </a:xfrm>
          </p:grpSpPr>
          <p:sp>
            <p:nvSpPr>
              <p:cNvPr id="5137" name="AutoShape 7"/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840 w 21600"/>
                  <a:gd name="T1" fmla="*/ 576 h 21600"/>
                  <a:gd name="T2" fmla="*/ 480 w 21600"/>
                  <a:gd name="T3" fmla="*/ 1152 h 21600"/>
                  <a:gd name="T4" fmla="*/ 120 w 21600"/>
                  <a:gd name="T5" fmla="*/ 576 h 21600"/>
                  <a:gd name="T6" fmla="*/ 48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0066CC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138" name="Line 8"/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9" name="Line 9"/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40" name="Line 10"/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5124" name="Object 11"/>
            <p:cNvGraphicFramePr>
              <a:graphicFrameLocks noChangeAspect="1"/>
            </p:cNvGraphicFramePr>
            <p:nvPr/>
          </p:nvGraphicFramePr>
          <p:xfrm>
            <a:off x="4368" y="3168"/>
            <a:ext cx="327" cy="4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77480" imgH="241200" progId="Equation.3">
                    <p:embed/>
                  </p:oleObj>
                </mc:Choice>
                <mc:Fallback>
                  <p:oleObj name="Equation" r:id="rId2" imgW="177480" imgH="241200" progId="Equation.3">
                    <p:embed/>
                    <p:pic>
                      <p:nvPicPr>
                        <p:cNvPr id="5124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3168"/>
                          <a:ext cx="327" cy="4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762000" y="3943350"/>
            <a:ext cx="2209800" cy="2209800"/>
            <a:chOff x="480" y="2736"/>
            <a:chExt cx="1392" cy="1392"/>
          </a:xfrm>
        </p:grpSpPr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480" y="2736"/>
              <a:ext cx="1056" cy="1392"/>
              <a:chOff x="480" y="2688"/>
              <a:chExt cx="1056" cy="1392"/>
            </a:xfrm>
          </p:grpSpPr>
          <p:sp>
            <p:nvSpPr>
              <p:cNvPr id="5132" name="AutoShape 14"/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840 w 21600"/>
                  <a:gd name="T1" fmla="*/ 576 h 21600"/>
                  <a:gd name="T2" fmla="*/ 480 w 21600"/>
                  <a:gd name="T3" fmla="*/ 1152 h 21600"/>
                  <a:gd name="T4" fmla="*/ 120 w 21600"/>
                  <a:gd name="T5" fmla="*/ 576 h 21600"/>
                  <a:gd name="T6" fmla="*/ 48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0066CC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133" name="Line 15"/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4" name="Line 16"/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35" name="Line 17"/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5122" name="Object 18"/>
            <p:cNvGraphicFramePr>
              <a:graphicFrameLocks noChangeAspect="1"/>
            </p:cNvGraphicFramePr>
            <p:nvPr/>
          </p:nvGraphicFramePr>
          <p:xfrm>
            <a:off x="720" y="3120"/>
            <a:ext cx="559" cy="3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68280" imgH="203040" progId="Equation.3">
                    <p:embed/>
                  </p:oleObj>
                </mc:Choice>
                <mc:Fallback>
                  <p:oleObj name="Equation" r:id="rId4" imgW="368280" imgH="203040" progId="Equation.3">
                    <p:embed/>
                    <p:pic>
                      <p:nvPicPr>
                        <p:cNvPr id="5122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20" y="3120"/>
                          <a:ext cx="559" cy="31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23" name="Object 19"/>
            <p:cNvGraphicFramePr>
              <a:graphicFrameLocks noChangeAspect="1"/>
            </p:cNvGraphicFramePr>
            <p:nvPr/>
          </p:nvGraphicFramePr>
          <p:xfrm>
            <a:off x="1392" y="3792"/>
            <a:ext cx="480" cy="2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68280" imgH="203040" progId="Equation.3">
                    <p:embed/>
                  </p:oleObj>
                </mc:Choice>
                <mc:Fallback>
                  <p:oleObj name="Equation" r:id="rId6" imgW="368280" imgH="203040" progId="Equation.3">
                    <p:embed/>
                    <p:pic>
                      <p:nvPicPr>
                        <p:cNvPr id="5123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3792"/>
                          <a:ext cx="480" cy="27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31" name="Line 20"/>
            <p:cNvSpPr>
              <a:spLocks noChangeShapeType="1"/>
            </p:cNvSpPr>
            <p:nvPr/>
          </p:nvSpPr>
          <p:spPr bwMode="auto">
            <a:xfrm flipH="1" flipV="1">
              <a:off x="1392" y="3456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2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86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3" name="Rectangle 2"/>
          <p:cNvSpPr>
            <a:spLocks noGrp="1" noChangeArrowheads="1"/>
          </p:cNvSpPr>
          <p:nvPr>
            <p:ph type="title"/>
          </p:nvPr>
        </p:nvSpPr>
        <p:spPr>
          <a:xfrm>
            <a:off x="2074863" y="0"/>
            <a:ext cx="4114800" cy="838200"/>
          </a:xfrm>
        </p:spPr>
        <p:txBody>
          <a:bodyPr/>
          <a:lstStyle/>
          <a:p>
            <a:pPr eaLnBrk="1" hangingPunct="1"/>
            <a:r>
              <a:rPr lang="en-US"/>
              <a:t>Mixture Example</a:t>
            </a:r>
          </a:p>
        </p:txBody>
      </p:sp>
      <p:sp>
        <p:nvSpPr>
          <p:cNvPr id="293891" name="Text Box 3"/>
          <p:cNvSpPr txBox="1">
            <a:spLocks noChangeArrowheads="1"/>
          </p:cNvSpPr>
          <p:nvPr/>
        </p:nvSpPr>
        <p:spPr bwMode="auto">
          <a:xfrm>
            <a:off x="0" y="2825750"/>
            <a:ext cx="868680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2800">
                <a:solidFill>
                  <a:schemeClr val="hlink"/>
                </a:solidFill>
                <a:latin typeface="Times New Roman" pitchFamily="18" charset="0"/>
              </a:rPr>
              <a:t>What is the mass of 200 cm</a:t>
            </a:r>
            <a:r>
              <a:rPr lang="en-US" sz="2800" baseline="30000">
                <a:solidFill>
                  <a:schemeClr val="hlink"/>
                </a:solidFill>
                <a:latin typeface="Times New Roman" pitchFamily="18" charset="0"/>
              </a:rPr>
              <a:t>3</a:t>
            </a:r>
            <a:r>
              <a:rPr lang="en-US" sz="2800">
                <a:solidFill>
                  <a:schemeClr val="hlink"/>
                </a:solidFill>
                <a:latin typeface="Times New Roman" pitchFamily="18" charset="0"/>
              </a:rPr>
              <a:t> of water?</a:t>
            </a:r>
          </a:p>
        </p:txBody>
      </p:sp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6019800" y="1203325"/>
            <a:ext cx="2851150" cy="1266825"/>
            <a:chOff x="2832" y="0"/>
            <a:chExt cx="2784" cy="1392"/>
          </a:xfrm>
        </p:grpSpPr>
        <p:sp>
          <p:nvSpPr>
            <p:cNvPr id="6157" name="Line 4"/>
            <p:cNvSpPr>
              <a:spLocks noChangeShapeType="1"/>
            </p:cNvSpPr>
            <p:nvPr/>
          </p:nvSpPr>
          <p:spPr bwMode="auto">
            <a:xfrm>
              <a:off x="3888" y="1296"/>
              <a:ext cx="81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832" y="0"/>
              <a:ext cx="1056" cy="1392"/>
              <a:chOff x="480" y="2688"/>
              <a:chExt cx="1056" cy="1392"/>
            </a:xfrm>
          </p:grpSpPr>
          <p:sp>
            <p:nvSpPr>
              <p:cNvPr id="6165" name="AutoShape 6"/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840 w 21600"/>
                  <a:gd name="T1" fmla="*/ 576 h 21600"/>
                  <a:gd name="T2" fmla="*/ 480 w 21600"/>
                  <a:gd name="T3" fmla="*/ 1152 h 21600"/>
                  <a:gd name="T4" fmla="*/ 120 w 21600"/>
                  <a:gd name="T5" fmla="*/ 576 h 21600"/>
                  <a:gd name="T6" fmla="*/ 48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0066CC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66" name="Line 7"/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7" name="Line 8"/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8" name="Line 9"/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4560" y="0"/>
              <a:ext cx="1056" cy="1392"/>
              <a:chOff x="480" y="2688"/>
              <a:chExt cx="1056" cy="1392"/>
            </a:xfrm>
          </p:grpSpPr>
          <p:sp>
            <p:nvSpPr>
              <p:cNvPr id="6161" name="AutoShape 11"/>
              <p:cNvSpPr>
                <a:spLocks noChangeArrowheads="1"/>
              </p:cNvSpPr>
              <p:nvPr/>
            </p:nvSpPr>
            <p:spPr bwMode="auto">
              <a:xfrm>
                <a:off x="528" y="2928"/>
                <a:ext cx="960" cy="1152"/>
              </a:xfrm>
              <a:custGeom>
                <a:avLst/>
                <a:gdLst>
                  <a:gd name="T0" fmla="*/ 840 w 21600"/>
                  <a:gd name="T1" fmla="*/ 576 h 21600"/>
                  <a:gd name="T2" fmla="*/ 480 w 21600"/>
                  <a:gd name="T3" fmla="*/ 1152 h 21600"/>
                  <a:gd name="T4" fmla="*/ 120 w 21600"/>
                  <a:gd name="T5" fmla="*/ 576 h 21600"/>
                  <a:gd name="T6" fmla="*/ 48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0 w 21600"/>
                  <a:gd name="T13" fmla="*/ 4500 h 21600"/>
                  <a:gd name="T14" fmla="*/ 17100 w 21600"/>
                  <a:gd name="T15" fmla="*/ 17100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0066CC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62" name="Line 12"/>
              <p:cNvSpPr>
                <a:spLocks noChangeShapeType="1"/>
              </p:cNvSpPr>
              <p:nvPr/>
            </p:nvSpPr>
            <p:spPr bwMode="auto">
              <a:xfrm>
                <a:off x="480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3" name="Line 13"/>
              <p:cNvSpPr>
                <a:spLocks noChangeShapeType="1"/>
              </p:cNvSpPr>
              <p:nvPr/>
            </p:nvSpPr>
            <p:spPr bwMode="auto">
              <a:xfrm flipH="1">
                <a:off x="1248" y="2688"/>
                <a:ext cx="288" cy="1392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64" name="Line 14"/>
              <p:cNvSpPr>
                <a:spLocks noChangeShapeType="1"/>
              </p:cNvSpPr>
              <p:nvPr/>
            </p:nvSpPr>
            <p:spPr bwMode="auto">
              <a:xfrm>
                <a:off x="768" y="4080"/>
                <a:ext cx="480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aphicFrame>
          <p:nvGraphicFramePr>
            <p:cNvPr id="6150" name="Object 15"/>
            <p:cNvGraphicFramePr>
              <a:graphicFrameLocks noChangeAspect="1"/>
            </p:cNvGraphicFramePr>
            <p:nvPr/>
          </p:nvGraphicFramePr>
          <p:xfrm>
            <a:off x="4944" y="480"/>
            <a:ext cx="327" cy="4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77480" imgH="241200" progId="Equation.3">
                    <p:embed/>
                  </p:oleObj>
                </mc:Choice>
                <mc:Fallback>
                  <p:oleObj name="Equation" r:id="rId2" imgW="177480" imgH="241200" progId="Equation.3">
                    <p:embed/>
                    <p:pic>
                      <p:nvPicPr>
                        <p:cNvPr id="6150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44" y="480"/>
                          <a:ext cx="327" cy="45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151" name="Object 16"/>
            <p:cNvGraphicFramePr>
              <a:graphicFrameLocks noChangeAspect="1"/>
            </p:cNvGraphicFramePr>
            <p:nvPr/>
          </p:nvGraphicFramePr>
          <p:xfrm>
            <a:off x="3072" y="432"/>
            <a:ext cx="559" cy="3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68280" imgH="203040" progId="Equation.3">
                    <p:embed/>
                  </p:oleObj>
                </mc:Choice>
                <mc:Fallback>
                  <p:oleObj name="Equation" r:id="rId4" imgW="368280" imgH="203040" progId="Equation.3">
                    <p:embed/>
                    <p:pic>
                      <p:nvPicPr>
                        <p:cNvPr id="6151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2" y="432"/>
                          <a:ext cx="559" cy="31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152" name="Object 17"/>
            <p:cNvGraphicFramePr>
              <a:graphicFrameLocks noChangeAspect="1"/>
            </p:cNvGraphicFramePr>
            <p:nvPr/>
          </p:nvGraphicFramePr>
          <p:xfrm>
            <a:off x="3792" y="912"/>
            <a:ext cx="480" cy="2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68280" imgH="203040" progId="Equation.3">
                    <p:embed/>
                  </p:oleObj>
                </mc:Choice>
                <mc:Fallback>
                  <p:oleObj name="Equation" r:id="rId6" imgW="368280" imgH="203040" progId="Equation.3">
                    <p:embed/>
                    <p:pic>
                      <p:nvPicPr>
                        <p:cNvPr id="6152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92" y="912"/>
                          <a:ext cx="480" cy="27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160" name="Line 18"/>
            <p:cNvSpPr>
              <a:spLocks noChangeShapeType="1"/>
            </p:cNvSpPr>
            <p:nvPr/>
          </p:nvSpPr>
          <p:spPr bwMode="auto">
            <a:xfrm flipH="1" flipV="1">
              <a:off x="3744" y="672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3907" name="Text Box 19"/>
          <p:cNvSpPr txBox="1">
            <a:spLocks noChangeArrowheads="1"/>
          </p:cNvSpPr>
          <p:nvPr/>
        </p:nvSpPr>
        <p:spPr bwMode="auto">
          <a:xfrm>
            <a:off x="5776913" y="2743200"/>
            <a:ext cx="26670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600">
                <a:latin typeface="Times New Roman" pitchFamily="18" charset="0"/>
              </a:rPr>
              <a:t>200 g</a:t>
            </a:r>
          </a:p>
        </p:txBody>
      </p:sp>
      <p:graphicFrame>
        <p:nvGraphicFramePr>
          <p:cNvPr id="293908" name="Object 20"/>
          <p:cNvGraphicFramePr>
            <a:graphicFrameLocks noChangeAspect="1"/>
          </p:cNvGraphicFramePr>
          <p:nvPr/>
        </p:nvGraphicFramePr>
        <p:xfrm>
          <a:off x="1301750" y="3522663"/>
          <a:ext cx="5092700" cy="671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79560" imgH="241200" progId="Equation.3">
                  <p:embed/>
                </p:oleObj>
              </mc:Choice>
              <mc:Fallback>
                <p:oleObj name="Equation" r:id="rId8" imgW="1879560" imgH="241200" progId="Equation.3">
                  <p:embed/>
                  <p:pic>
                    <p:nvPicPr>
                      <p:cNvPr id="29390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1750" y="3522663"/>
                        <a:ext cx="5092700" cy="6715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09" name="Object 21"/>
          <p:cNvGraphicFramePr>
            <a:graphicFrameLocks noChangeAspect="1"/>
          </p:cNvGraphicFramePr>
          <p:nvPr/>
        </p:nvGraphicFramePr>
        <p:xfrm>
          <a:off x="0" y="4456113"/>
          <a:ext cx="9144000" cy="658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987720" imgH="279360" progId="Equation.3">
                  <p:embed/>
                </p:oleObj>
              </mc:Choice>
              <mc:Fallback>
                <p:oleObj name="Equation" r:id="rId10" imgW="3987720" imgH="279360" progId="Equation.3">
                  <p:embed/>
                  <p:pic>
                    <p:nvPicPr>
                      <p:cNvPr id="29390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4456113"/>
                        <a:ext cx="9144000" cy="6588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10" name="Object 22"/>
          <p:cNvGraphicFramePr>
            <a:graphicFrameLocks noChangeAspect="1"/>
          </p:cNvGraphicFramePr>
          <p:nvPr/>
        </p:nvGraphicFramePr>
        <p:xfrm>
          <a:off x="2227263" y="5162550"/>
          <a:ext cx="4600575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06280" imgH="241200" progId="Equation.3">
                  <p:embed/>
                </p:oleObj>
              </mc:Choice>
              <mc:Fallback>
                <p:oleObj name="Equation" r:id="rId12" imgW="2006280" imgH="241200" progId="Equation.3">
                  <p:embed/>
                  <p:pic>
                    <p:nvPicPr>
                      <p:cNvPr id="29391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7263" y="5162550"/>
                        <a:ext cx="4600575" cy="5683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3911" name="Object 23"/>
          <p:cNvGraphicFramePr>
            <a:graphicFrameLocks noChangeAspect="1"/>
          </p:cNvGraphicFramePr>
          <p:nvPr/>
        </p:nvGraphicFramePr>
        <p:xfrm>
          <a:off x="3592513" y="5651500"/>
          <a:ext cx="1862137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812520" imgH="253800" progId="Equation.3">
                  <p:embed/>
                </p:oleObj>
              </mc:Choice>
              <mc:Fallback>
                <p:oleObj name="Equation" r:id="rId14" imgW="812520" imgH="253800" progId="Equation.3">
                  <p:embed/>
                  <p:pic>
                    <p:nvPicPr>
                      <p:cNvPr id="29391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92513" y="5651500"/>
                        <a:ext cx="1862137" cy="596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939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3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939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3891" grpId="0" autoUpdateAnimBg="0"/>
      <p:bldP spid="293907" grpId="0" autoUpdateAnimBg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Calorimeter</a:t>
            </a:r>
          </a:p>
        </p:txBody>
      </p:sp>
      <p:sp>
        <p:nvSpPr>
          <p:cNvPr id="46084" name="Rectangle 4" descr="Wide upward diagonal"/>
          <p:cNvSpPr>
            <a:spLocks noChangeArrowheads="1"/>
          </p:cNvSpPr>
          <p:nvPr/>
        </p:nvSpPr>
        <p:spPr bwMode="auto">
          <a:xfrm>
            <a:off x="523875" y="3094038"/>
            <a:ext cx="2249488" cy="2119312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85" name="Rectangle 5"/>
          <p:cNvSpPr>
            <a:spLocks noChangeArrowheads="1"/>
          </p:cNvSpPr>
          <p:nvPr/>
        </p:nvSpPr>
        <p:spPr bwMode="auto">
          <a:xfrm>
            <a:off x="784225" y="3094038"/>
            <a:ext cx="1741488" cy="1901825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86" name="Rectangle 6"/>
          <p:cNvSpPr>
            <a:spLocks noChangeArrowheads="1"/>
          </p:cNvSpPr>
          <p:nvPr/>
        </p:nvSpPr>
        <p:spPr bwMode="auto">
          <a:xfrm>
            <a:off x="793750" y="3405188"/>
            <a:ext cx="1697038" cy="1582737"/>
          </a:xfrm>
          <a:prstGeom prst="rect">
            <a:avLst/>
          </a:prstGeom>
          <a:solidFill>
            <a:schemeClr val="accent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88" name="Rectangle 29"/>
          <p:cNvSpPr>
            <a:spLocks noChangeArrowheads="1"/>
          </p:cNvSpPr>
          <p:nvPr/>
        </p:nvSpPr>
        <p:spPr bwMode="auto">
          <a:xfrm>
            <a:off x="1830388" y="1874838"/>
            <a:ext cx="377825" cy="581025"/>
          </a:xfrm>
          <a:prstGeom prst="rect">
            <a:avLst/>
          </a:prstGeom>
          <a:solidFill>
            <a:srgbClr val="993300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89" name="Text Box 52"/>
          <p:cNvSpPr txBox="1">
            <a:spLocks noChangeArrowheads="1"/>
          </p:cNvSpPr>
          <p:nvPr/>
        </p:nvSpPr>
        <p:spPr bwMode="auto">
          <a:xfrm>
            <a:off x="2219325" y="1795463"/>
            <a:ext cx="2341563" cy="641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/>
            <a:r>
              <a:rPr lang="en-US"/>
              <a:t>Sample at known temperature T</a:t>
            </a:r>
            <a:r>
              <a:rPr lang="en-US" baseline="-25000"/>
              <a:t>x</a:t>
            </a:r>
            <a:r>
              <a:rPr lang="en-US"/>
              <a:t> </a:t>
            </a:r>
          </a:p>
        </p:txBody>
      </p:sp>
      <p:sp>
        <p:nvSpPr>
          <p:cNvPr id="46090" name="Text Box 53"/>
          <p:cNvSpPr txBox="1">
            <a:spLocks noChangeArrowheads="1"/>
          </p:cNvSpPr>
          <p:nvPr/>
        </p:nvSpPr>
        <p:spPr bwMode="auto">
          <a:xfrm>
            <a:off x="2789238" y="2563813"/>
            <a:ext cx="2341563" cy="641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/>
            <a:r>
              <a:rPr lang="en-US"/>
              <a:t>Water at known temperature T</a:t>
            </a:r>
            <a:r>
              <a:rPr lang="en-US" baseline="-25000"/>
              <a:t>w</a:t>
            </a:r>
            <a:r>
              <a:rPr lang="en-US"/>
              <a:t> </a:t>
            </a:r>
          </a:p>
        </p:txBody>
      </p:sp>
      <p:sp>
        <p:nvSpPr>
          <p:cNvPr id="46091" name="Freeform 54"/>
          <p:cNvSpPr>
            <a:spLocks/>
          </p:cNvSpPr>
          <p:nvPr/>
        </p:nvSpPr>
        <p:spPr bwMode="auto">
          <a:xfrm flipV="1">
            <a:off x="2100263" y="3168650"/>
            <a:ext cx="812800" cy="530225"/>
          </a:xfrm>
          <a:custGeom>
            <a:avLst/>
            <a:gdLst>
              <a:gd name="T0" fmla="*/ 512 w 512"/>
              <a:gd name="T1" fmla="*/ 210 h 210"/>
              <a:gd name="T2" fmla="*/ 238 w 512"/>
              <a:gd name="T3" fmla="*/ 146 h 210"/>
              <a:gd name="T4" fmla="*/ 293 w 512"/>
              <a:gd name="T5" fmla="*/ 92 h 210"/>
              <a:gd name="T6" fmla="*/ 0 w 512"/>
              <a:gd name="T7" fmla="*/ 0 h 210"/>
              <a:gd name="T8" fmla="*/ 0 60000 65536"/>
              <a:gd name="T9" fmla="*/ 0 60000 65536"/>
              <a:gd name="T10" fmla="*/ 0 60000 65536"/>
              <a:gd name="T11" fmla="*/ 0 60000 65536"/>
              <a:gd name="T12" fmla="*/ 0 w 512"/>
              <a:gd name="T13" fmla="*/ 0 h 210"/>
              <a:gd name="T14" fmla="*/ 512 w 512"/>
              <a:gd name="T15" fmla="*/ 210 h 21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12" h="210">
                <a:moveTo>
                  <a:pt x="512" y="210"/>
                </a:moveTo>
                <a:cubicBezTo>
                  <a:pt x="393" y="188"/>
                  <a:pt x="275" y="166"/>
                  <a:pt x="238" y="146"/>
                </a:cubicBezTo>
                <a:cubicBezTo>
                  <a:pt x="201" y="126"/>
                  <a:pt x="333" y="116"/>
                  <a:pt x="293" y="92"/>
                </a:cubicBezTo>
                <a:cubicBezTo>
                  <a:pt x="253" y="68"/>
                  <a:pt x="126" y="34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2" name="Text Box 55"/>
          <p:cNvSpPr txBox="1">
            <a:spLocks noChangeArrowheads="1"/>
          </p:cNvSpPr>
          <p:nvPr/>
        </p:nvSpPr>
        <p:spPr bwMode="auto">
          <a:xfrm>
            <a:off x="3032125" y="4694238"/>
            <a:ext cx="2341563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/>
            <a:r>
              <a:rPr lang="en-US"/>
              <a:t>Insulated container</a:t>
            </a:r>
          </a:p>
        </p:txBody>
      </p:sp>
      <p:sp>
        <p:nvSpPr>
          <p:cNvPr id="46093" name="Line 56"/>
          <p:cNvSpPr>
            <a:spLocks noChangeShapeType="1"/>
          </p:cNvSpPr>
          <p:nvPr/>
        </p:nvSpPr>
        <p:spPr bwMode="auto">
          <a:xfrm flipH="1">
            <a:off x="2643188" y="4889500"/>
            <a:ext cx="363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4" name="Rectangle 57" descr="Wide upward diagonal"/>
          <p:cNvSpPr>
            <a:spLocks noChangeArrowheads="1"/>
          </p:cNvSpPr>
          <p:nvPr/>
        </p:nvSpPr>
        <p:spPr bwMode="auto">
          <a:xfrm>
            <a:off x="6191250" y="3217863"/>
            <a:ext cx="2249488" cy="2119312"/>
          </a:xfrm>
          <a:prstGeom prst="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5" name="Rectangle 58"/>
          <p:cNvSpPr>
            <a:spLocks noChangeArrowheads="1"/>
          </p:cNvSpPr>
          <p:nvPr/>
        </p:nvSpPr>
        <p:spPr bwMode="auto">
          <a:xfrm>
            <a:off x="6451600" y="3217863"/>
            <a:ext cx="1741488" cy="1901825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6" name="Rectangle 59"/>
          <p:cNvSpPr>
            <a:spLocks noChangeArrowheads="1"/>
          </p:cNvSpPr>
          <p:nvPr/>
        </p:nvSpPr>
        <p:spPr bwMode="auto">
          <a:xfrm>
            <a:off x="6461125" y="3529013"/>
            <a:ext cx="1697038" cy="1582737"/>
          </a:xfrm>
          <a:prstGeom prst="rect">
            <a:avLst/>
          </a:prstGeom>
          <a:solidFill>
            <a:schemeClr val="accent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" name="Group 84"/>
          <p:cNvGrpSpPr>
            <a:grpSpLocks/>
          </p:cNvGrpSpPr>
          <p:nvPr/>
        </p:nvGrpSpPr>
        <p:grpSpPr bwMode="auto">
          <a:xfrm>
            <a:off x="929390" y="2165348"/>
            <a:ext cx="176213" cy="2178050"/>
            <a:chOff x="3983" y="1499"/>
            <a:chExt cx="289" cy="1372"/>
          </a:xfrm>
        </p:grpSpPr>
        <p:sp>
          <p:nvSpPr>
            <p:cNvPr id="46104" name="Oval 61"/>
            <p:cNvSpPr>
              <a:spLocks noChangeArrowheads="1"/>
            </p:cNvSpPr>
            <p:nvPr/>
          </p:nvSpPr>
          <p:spPr bwMode="auto">
            <a:xfrm>
              <a:off x="3983" y="2715"/>
              <a:ext cx="289" cy="156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6" name="Group 62"/>
            <p:cNvGrpSpPr>
              <a:grpSpLocks/>
            </p:cNvGrpSpPr>
            <p:nvPr/>
          </p:nvGrpSpPr>
          <p:grpSpPr bwMode="auto">
            <a:xfrm>
              <a:off x="4076" y="1499"/>
              <a:ext cx="115" cy="1290"/>
              <a:chOff x="4917" y="2212"/>
              <a:chExt cx="202" cy="1591"/>
            </a:xfrm>
          </p:grpSpPr>
          <p:sp>
            <p:nvSpPr>
              <p:cNvPr id="46108" name="AutoShape 63"/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09" name="Line 64"/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0" name="Line 65"/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1" name="Line 66"/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2" name="Line 67"/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3" name="Line 68"/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4" name="Line 69"/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5" name="Line 70"/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6" name="Line 71"/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7" name="Line 72"/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8" name="Line 73"/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19" name="Line 74"/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0" name="Line 75"/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1" name="Line 76"/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2" name="Line 77"/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3" name="Line 78"/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24" name="Line 79"/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6106" name="Oval 80"/>
            <p:cNvSpPr>
              <a:spLocks noChangeArrowheads="1"/>
            </p:cNvSpPr>
            <p:nvPr/>
          </p:nvSpPr>
          <p:spPr bwMode="auto">
            <a:xfrm>
              <a:off x="4048" y="2738"/>
              <a:ext cx="161" cy="111"/>
            </a:xfrm>
            <a:prstGeom prst="ellipse">
              <a:avLst/>
            </a:prstGeom>
            <a:solidFill>
              <a:srgbClr val="FF000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07" name="Rectangle 81"/>
            <p:cNvSpPr>
              <a:spLocks noChangeArrowheads="1"/>
            </p:cNvSpPr>
            <p:nvPr/>
          </p:nvSpPr>
          <p:spPr bwMode="auto">
            <a:xfrm>
              <a:off x="4112" y="1609"/>
              <a:ext cx="47" cy="1158"/>
            </a:xfrm>
            <a:prstGeom prst="rect">
              <a:avLst/>
            </a:prstGeom>
            <a:solidFill>
              <a:srgbClr val="FF000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46098" name="Rectangle 82"/>
          <p:cNvSpPr>
            <a:spLocks noChangeArrowheads="1"/>
          </p:cNvSpPr>
          <p:nvPr/>
        </p:nvSpPr>
        <p:spPr bwMode="auto">
          <a:xfrm>
            <a:off x="7569200" y="4132263"/>
            <a:ext cx="377825" cy="581025"/>
          </a:xfrm>
          <a:prstGeom prst="rect">
            <a:avLst/>
          </a:prstGeom>
          <a:solidFill>
            <a:srgbClr val="993300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099" name="AutoShape 83"/>
          <p:cNvSpPr>
            <a:spLocks noChangeArrowheads="1"/>
          </p:cNvSpPr>
          <p:nvPr/>
        </p:nvSpPr>
        <p:spPr bwMode="auto">
          <a:xfrm>
            <a:off x="4908550" y="1931988"/>
            <a:ext cx="420688" cy="1176337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100" name="Line 85"/>
          <p:cNvSpPr>
            <a:spLocks noChangeShapeType="1"/>
          </p:cNvSpPr>
          <p:nvPr/>
        </p:nvSpPr>
        <p:spPr bwMode="auto">
          <a:xfrm>
            <a:off x="5114925" y="4902200"/>
            <a:ext cx="1147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101" name="Line 86"/>
          <p:cNvSpPr>
            <a:spLocks noChangeShapeType="1"/>
          </p:cNvSpPr>
          <p:nvPr/>
        </p:nvSpPr>
        <p:spPr bwMode="auto">
          <a:xfrm>
            <a:off x="1111250" y="2960688"/>
            <a:ext cx="168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6102" name="Text Box 87"/>
          <p:cNvSpPr txBox="1">
            <a:spLocks noChangeArrowheads="1"/>
          </p:cNvSpPr>
          <p:nvPr/>
        </p:nvSpPr>
        <p:spPr bwMode="auto">
          <a:xfrm>
            <a:off x="7088188" y="1827213"/>
            <a:ext cx="1833563" cy="6463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l"/>
            <a:r>
              <a:rPr lang="en-US" dirty="0"/>
              <a:t>Water temperature falls</a:t>
            </a:r>
          </a:p>
        </p:txBody>
      </p:sp>
      <p:sp>
        <p:nvSpPr>
          <p:cNvPr id="46103" name="Line 88"/>
          <p:cNvSpPr>
            <a:spLocks noChangeShapeType="1"/>
          </p:cNvSpPr>
          <p:nvPr/>
        </p:nvSpPr>
        <p:spPr bwMode="auto">
          <a:xfrm flipH="1">
            <a:off x="6800850" y="235108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6637650" y="2086496"/>
            <a:ext cx="173038" cy="2178050"/>
            <a:chOff x="4279" y="1535"/>
            <a:chExt cx="164" cy="1692"/>
          </a:xfrm>
        </p:grpSpPr>
        <p:sp>
          <p:nvSpPr>
            <p:cNvPr id="46125" name="Oval 8"/>
            <p:cNvSpPr>
              <a:spLocks noChangeArrowheads="1"/>
            </p:cNvSpPr>
            <p:nvPr/>
          </p:nvSpPr>
          <p:spPr bwMode="auto">
            <a:xfrm>
              <a:off x="4279" y="3035"/>
              <a:ext cx="164" cy="192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9"/>
            <p:cNvGrpSpPr>
              <a:grpSpLocks/>
            </p:cNvGrpSpPr>
            <p:nvPr/>
          </p:nvGrpSpPr>
          <p:grpSpPr bwMode="auto">
            <a:xfrm>
              <a:off x="4332" y="1535"/>
              <a:ext cx="65" cy="1591"/>
              <a:chOff x="4917" y="2212"/>
              <a:chExt cx="202" cy="1591"/>
            </a:xfrm>
          </p:grpSpPr>
          <p:sp>
            <p:nvSpPr>
              <p:cNvPr id="46129" name="AutoShape 10"/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0" name="Line 11"/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1" name="Line 12"/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2" name="Line 13"/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3" name="Line 14"/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4" name="Line 15"/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5" name="Line 16"/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6" name="Line 17"/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7" name="Line 18"/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8" name="Line 19"/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39" name="Line 20"/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0" name="Line 21"/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1" name="Line 22"/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2" name="Line 23"/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3" name="Line 24"/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4" name="Line 25"/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6145" name="Line 26"/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6127" name="Oval 27"/>
            <p:cNvSpPr>
              <a:spLocks noChangeArrowheads="1"/>
            </p:cNvSpPr>
            <p:nvPr/>
          </p:nvSpPr>
          <p:spPr bwMode="auto">
            <a:xfrm>
              <a:off x="4316" y="3063"/>
              <a:ext cx="91" cy="137"/>
            </a:xfrm>
            <a:prstGeom prst="ellipse">
              <a:avLst/>
            </a:prstGeom>
            <a:solidFill>
              <a:srgbClr val="FF000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128" name="Rectangle 28"/>
            <p:cNvSpPr>
              <a:spLocks noChangeArrowheads="1"/>
            </p:cNvSpPr>
            <p:nvPr/>
          </p:nvSpPr>
          <p:spPr bwMode="auto">
            <a:xfrm>
              <a:off x="4352" y="2240"/>
              <a:ext cx="27" cy="859"/>
            </a:xfrm>
            <a:prstGeom prst="rect">
              <a:avLst/>
            </a:prstGeom>
            <a:solidFill>
              <a:srgbClr val="FF000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5BF0B8-902C-2BFB-6DED-B691D43835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DCF28AE-E911-2779-96C0-51B5DC08D7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77647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1E1A0684-395A-7DB7-2AC9-BBCC679F8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2F2E65FF-F107-E22C-1F77-239D05866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C?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25604" name="Slide Number Placeholder 3">
            <a:extLst>
              <a:ext uri="{FF2B5EF4-FFF2-40B4-BE49-F238E27FC236}">
                <a16:creationId xmlns:a16="http://schemas.microsoft.com/office/drawing/2014/main" id="{C1E135F8-74E9-9597-9A46-BF25B5CE2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BFF21E5-B209-44F4-A3F3-22504370CE7E}" type="slidenum">
              <a:rPr lang="en-US" altLang="en-US"/>
              <a:pPr/>
              <a:t>91</a:t>
            </a:fld>
            <a:endParaRPr lang="en-US" altLang="en-US"/>
          </a:p>
        </p:txBody>
      </p:sp>
      <p:pic>
        <p:nvPicPr>
          <p:cNvPr id="25605" name="Picture 2">
            <a:extLst>
              <a:ext uri="{FF2B5EF4-FFF2-40B4-BE49-F238E27FC236}">
                <a16:creationId xmlns:a16="http://schemas.microsoft.com/office/drawing/2014/main" id="{173A0D98-0928-DDB8-4186-CDCB178AE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>
            <a:extLst>
              <a:ext uri="{FF2B5EF4-FFF2-40B4-BE49-F238E27FC236}">
                <a16:creationId xmlns:a16="http://schemas.microsoft.com/office/drawing/2014/main" id="{6EF44F64-7B8C-C9AF-C18D-8F2066A3C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6627" name="Content Placeholder 2">
            <a:extLst>
              <a:ext uri="{FF2B5EF4-FFF2-40B4-BE49-F238E27FC236}">
                <a16:creationId xmlns:a16="http://schemas.microsoft.com/office/drawing/2014/main" id="{96BFBF62-7B76-3D28-E58C-9097B203F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6628" name="Date Placeholder 3">
            <a:extLst>
              <a:ext uri="{FF2B5EF4-FFF2-40B4-BE49-F238E27FC236}">
                <a16:creationId xmlns:a16="http://schemas.microsoft.com/office/drawing/2014/main" id="{41C8C8E5-2A9F-AD74-65FE-54FF372918A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6629" name="Footer Placeholder 4">
            <a:extLst>
              <a:ext uri="{FF2B5EF4-FFF2-40B4-BE49-F238E27FC236}">
                <a16:creationId xmlns:a16="http://schemas.microsoft.com/office/drawing/2014/main" id="{6FE2309B-91B8-FA44-041D-96F9E706D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6630" name="Picture 5">
            <a:extLst>
              <a:ext uri="{FF2B5EF4-FFF2-40B4-BE49-F238E27FC236}">
                <a16:creationId xmlns:a16="http://schemas.microsoft.com/office/drawing/2014/main" id="{433C43A6-E98C-063C-5648-80270D74D6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913" y="2514600"/>
            <a:ext cx="2924175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>
            <a:extLst>
              <a:ext uri="{FF2B5EF4-FFF2-40B4-BE49-F238E27FC236}">
                <a16:creationId xmlns:a16="http://schemas.microsoft.com/office/drawing/2014/main" id="{96211992-64A6-EFF8-1509-495EDC4EB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7651" name="Date Placeholder 2">
            <a:extLst>
              <a:ext uri="{FF2B5EF4-FFF2-40B4-BE49-F238E27FC236}">
                <a16:creationId xmlns:a16="http://schemas.microsoft.com/office/drawing/2014/main" id="{3E14BBFA-3798-5BED-998D-67D762B8233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7652" name="Footer Placeholder 3">
            <a:extLst>
              <a:ext uri="{FF2B5EF4-FFF2-40B4-BE49-F238E27FC236}">
                <a16:creationId xmlns:a16="http://schemas.microsoft.com/office/drawing/2014/main" id="{353DEFF9-C353-DAD4-59B5-4A9B63DA6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7653" name="Picture 4">
            <a:extLst>
              <a:ext uri="{FF2B5EF4-FFF2-40B4-BE49-F238E27FC236}">
                <a16:creationId xmlns:a16="http://schemas.microsoft.com/office/drawing/2014/main" id="{B6D4EACC-847F-969B-C9DF-EDC770A1B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663" y="2065338"/>
            <a:ext cx="3368675" cy="272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>
            <a:extLst>
              <a:ext uri="{FF2B5EF4-FFF2-40B4-BE49-F238E27FC236}">
                <a16:creationId xmlns:a16="http://schemas.microsoft.com/office/drawing/2014/main" id="{FE31F79B-911F-33BC-E1A0-DAEE4E32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8675" name="Date Placeholder 2">
            <a:extLst>
              <a:ext uri="{FF2B5EF4-FFF2-40B4-BE49-F238E27FC236}">
                <a16:creationId xmlns:a16="http://schemas.microsoft.com/office/drawing/2014/main" id="{0AB35271-52AA-01E1-C8B2-1AC7C6E1423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28676" name="Footer Placeholder 3">
            <a:extLst>
              <a:ext uri="{FF2B5EF4-FFF2-40B4-BE49-F238E27FC236}">
                <a16:creationId xmlns:a16="http://schemas.microsoft.com/office/drawing/2014/main" id="{D377FE0E-D1C5-BC27-7459-897B196AD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28677" name="Picture 4">
            <a:extLst>
              <a:ext uri="{FF2B5EF4-FFF2-40B4-BE49-F238E27FC236}">
                <a16:creationId xmlns:a16="http://schemas.microsoft.com/office/drawing/2014/main" id="{D8669D33-8A04-7F79-2EA1-1935F1BAB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1100138"/>
            <a:ext cx="5994400" cy="554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87BECDD6-BEAD-70E9-F984-310F89BDD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29699" name="Content Placeholder 2">
            <a:extLst>
              <a:ext uri="{FF2B5EF4-FFF2-40B4-BE49-F238E27FC236}">
                <a16:creationId xmlns:a16="http://schemas.microsoft.com/office/drawing/2014/main" id="{A2318374-2DD9-28EE-6C92-38001D09B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A?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29700" name="Slide Number Placeholder 3">
            <a:extLst>
              <a:ext uri="{FF2B5EF4-FFF2-40B4-BE49-F238E27FC236}">
                <a16:creationId xmlns:a16="http://schemas.microsoft.com/office/drawing/2014/main" id="{A28B7A34-3E10-6EC9-1B3E-2653699A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DFB0F45-8E17-48E3-9473-86DC4041867A}" type="slidenum">
              <a:rPr lang="en-US" altLang="en-US"/>
              <a:pPr/>
              <a:t>95</a:t>
            </a:fld>
            <a:endParaRPr lang="en-US" altLang="en-US"/>
          </a:p>
        </p:txBody>
      </p:sp>
      <p:pic>
        <p:nvPicPr>
          <p:cNvPr id="29701" name="Picture 2">
            <a:extLst>
              <a:ext uri="{FF2B5EF4-FFF2-40B4-BE49-F238E27FC236}">
                <a16:creationId xmlns:a16="http://schemas.microsoft.com/office/drawing/2014/main" id="{F7CA439E-35CF-616F-A928-40C0D8394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27097216-24E3-5555-218B-50E0B2727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123.8.11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E5F05E04-2A42-39AD-A739-016D596C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would this substance have if is were in the state represented by letter B?</a:t>
            </a:r>
          </a:p>
          <a:p>
            <a:pPr>
              <a:buFontTx/>
              <a:buAutoNum type="alphaLcParenR"/>
            </a:pPr>
            <a:r>
              <a:rPr lang="en-US" altLang="en-US" sz="28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8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800"/>
              <a:t>Gas</a:t>
            </a:r>
          </a:p>
          <a:p>
            <a:pPr>
              <a:buFontTx/>
              <a:buAutoNum type="alphaLcParenR"/>
            </a:pPr>
            <a:r>
              <a:rPr lang="en-US" altLang="en-US" sz="2800"/>
              <a:t>Plasma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0B4CD270-2C8C-F946-C1BB-D7F03653F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EB73D16F-899A-45BB-9802-4FBA51AA3148}" type="slidenum">
              <a:rPr lang="en-US" altLang="en-US"/>
              <a:pPr/>
              <a:t>96</a:t>
            </a:fld>
            <a:endParaRPr lang="en-US" altLang="en-US"/>
          </a:p>
        </p:txBody>
      </p:sp>
      <p:pic>
        <p:nvPicPr>
          <p:cNvPr id="30725" name="Picture 2">
            <a:extLst>
              <a:ext uri="{FF2B5EF4-FFF2-40B4-BE49-F238E27FC236}">
                <a16:creationId xmlns:a16="http://schemas.microsoft.com/office/drawing/2014/main" id="{89D99E01-EE24-34A3-CA9B-A64C8F642D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>
            <a:extLst>
              <a:ext uri="{FF2B5EF4-FFF2-40B4-BE49-F238E27FC236}">
                <a16:creationId xmlns:a16="http://schemas.microsoft.com/office/drawing/2014/main" id="{D5402CAF-88B3-C7EA-AEDD-9066F84B4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1747" name="Content Placeholder 2">
            <a:extLst>
              <a:ext uri="{FF2B5EF4-FFF2-40B4-BE49-F238E27FC236}">
                <a16:creationId xmlns:a16="http://schemas.microsoft.com/office/drawing/2014/main" id="{54A2DB6B-4F81-9DEB-EDBC-80476372C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is point D?</a:t>
            </a:r>
          </a:p>
          <a:p>
            <a:pPr>
              <a:buFontTx/>
              <a:buAutoNum type="alphaLcParenR"/>
            </a:pPr>
            <a:r>
              <a:rPr lang="en-US" altLang="en-US" sz="2800"/>
              <a:t>Sublimation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Boiling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Triple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Double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Critical point</a:t>
            </a:r>
          </a:p>
          <a:p>
            <a:pPr>
              <a:buFontTx/>
              <a:buAutoNum type="alphaLcParenR"/>
            </a:pPr>
            <a:endParaRPr lang="en-US" altLang="en-US" sz="2800"/>
          </a:p>
        </p:txBody>
      </p:sp>
      <p:sp>
        <p:nvSpPr>
          <p:cNvPr id="31748" name="Slide Number Placeholder 3">
            <a:extLst>
              <a:ext uri="{FF2B5EF4-FFF2-40B4-BE49-F238E27FC236}">
                <a16:creationId xmlns:a16="http://schemas.microsoft.com/office/drawing/2014/main" id="{164932E6-6666-1673-5148-AAD85DFE2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6D0980E-A1C8-476D-A787-C8687B38BB2A}" type="slidenum">
              <a:rPr lang="en-US" altLang="en-US"/>
              <a:pPr/>
              <a:t>97</a:t>
            </a:fld>
            <a:endParaRPr lang="en-US" altLang="en-US"/>
          </a:p>
        </p:txBody>
      </p:sp>
      <p:pic>
        <p:nvPicPr>
          <p:cNvPr id="31749" name="Picture 2">
            <a:extLst>
              <a:ext uri="{FF2B5EF4-FFF2-40B4-BE49-F238E27FC236}">
                <a16:creationId xmlns:a16="http://schemas.microsoft.com/office/drawing/2014/main" id="{DE4F94CB-8334-F5ED-1C60-976D072DC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>
            <a:extLst>
              <a:ext uri="{FF2B5EF4-FFF2-40B4-BE49-F238E27FC236}">
                <a16:creationId xmlns:a16="http://schemas.microsoft.com/office/drawing/2014/main" id="{C3503C15-4965-1B4B-4430-E1C5B10DB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2771" name="Content Placeholder 2">
            <a:extLst>
              <a:ext uri="{FF2B5EF4-FFF2-40B4-BE49-F238E27FC236}">
                <a16:creationId xmlns:a16="http://schemas.microsoft.com/office/drawing/2014/main" id="{87C2520E-A4D1-9E36-C482-7FF507287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is point E?</a:t>
            </a:r>
          </a:p>
          <a:p>
            <a:pPr>
              <a:buFontTx/>
              <a:buAutoNum type="alphaLcParenR"/>
            </a:pPr>
            <a:r>
              <a:rPr lang="en-US" altLang="en-US" sz="2800"/>
              <a:t>Sublimation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Boiling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Triple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Double point</a:t>
            </a:r>
          </a:p>
          <a:p>
            <a:pPr>
              <a:buFontTx/>
              <a:buAutoNum type="alphaLcParenR"/>
            </a:pPr>
            <a:r>
              <a:rPr lang="en-US" altLang="en-US" sz="2800"/>
              <a:t>Critical point</a:t>
            </a:r>
          </a:p>
        </p:txBody>
      </p:sp>
      <p:sp>
        <p:nvSpPr>
          <p:cNvPr id="32772" name="Slide Number Placeholder 3">
            <a:extLst>
              <a:ext uri="{FF2B5EF4-FFF2-40B4-BE49-F238E27FC236}">
                <a16:creationId xmlns:a16="http://schemas.microsoft.com/office/drawing/2014/main" id="{2BD868B7-3D03-E20D-13B6-3208523F4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465D6A3F-DECB-4708-B357-5C9DF83C893E}" type="slidenum">
              <a:rPr lang="en-US" altLang="en-US"/>
              <a:pPr/>
              <a:t>98</a:t>
            </a:fld>
            <a:endParaRPr lang="en-US" altLang="en-US"/>
          </a:p>
        </p:txBody>
      </p:sp>
      <p:pic>
        <p:nvPicPr>
          <p:cNvPr id="32773" name="Picture 2">
            <a:extLst>
              <a:ext uri="{FF2B5EF4-FFF2-40B4-BE49-F238E27FC236}">
                <a16:creationId xmlns:a16="http://schemas.microsoft.com/office/drawing/2014/main" id="{CABDF1DF-1698-DABC-2B09-82CB8A0E0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>
            <a:extLst>
              <a:ext uri="{FF2B5EF4-FFF2-40B4-BE49-F238E27FC236}">
                <a16:creationId xmlns:a16="http://schemas.microsoft.com/office/drawing/2014/main" id="{CE9E2B9C-6864-C04A-B3AC-5AC3A77D6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3795" name="Content Placeholder 2">
            <a:extLst>
              <a:ext uri="{FF2B5EF4-FFF2-40B4-BE49-F238E27FC236}">
                <a16:creationId xmlns:a16="http://schemas.microsoft.com/office/drawing/2014/main" id="{83CE99C8-A0EB-DC09-AD36-6FD56E4D8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A to region B?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Freezing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3796" name="Slide Number Placeholder 3">
            <a:extLst>
              <a:ext uri="{FF2B5EF4-FFF2-40B4-BE49-F238E27FC236}">
                <a16:creationId xmlns:a16="http://schemas.microsoft.com/office/drawing/2014/main" id="{9F017E9B-AE5B-33C3-AA8C-D58FCCF9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096EDA8-4D81-4825-B579-D61C9770C01E}" type="slidenum">
              <a:rPr lang="en-US" altLang="en-US"/>
              <a:pPr/>
              <a:t>99</a:t>
            </a:fld>
            <a:endParaRPr lang="en-US" altLang="en-US"/>
          </a:p>
        </p:txBody>
      </p:sp>
      <p:pic>
        <p:nvPicPr>
          <p:cNvPr id="33797" name="Picture 2">
            <a:extLst>
              <a:ext uri="{FF2B5EF4-FFF2-40B4-BE49-F238E27FC236}">
                <a16:creationId xmlns:a16="http://schemas.microsoft.com/office/drawing/2014/main" id="{9E0F5B55-C1F2-7281-C3A3-89E7F1446F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>
            <a:extLst>
              <a:ext uri="{FF2B5EF4-FFF2-40B4-BE49-F238E27FC236}">
                <a16:creationId xmlns:a16="http://schemas.microsoft.com/office/drawing/2014/main" id="{BAB60DAA-CFEF-A5D1-7C33-F87459CDC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4819" name="Content Placeholder 2">
            <a:extLst>
              <a:ext uri="{FF2B5EF4-FFF2-40B4-BE49-F238E27FC236}">
                <a16:creationId xmlns:a16="http://schemas.microsoft.com/office/drawing/2014/main" id="{A330D1C4-9D6E-A997-0721-38AAA730E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A to region C?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4820" name="Slide Number Placeholder 3">
            <a:extLst>
              <a:ext uri="{FF2B5EF4-FFF2-40B4-BE49-F238E27FC236}">
                <a16:creationId xmlns:a16="http://schemas.microsoft.com/office/drawing/2014/main" id="{7CD9166D-1D7D-BCCC-C4D8-8587B4C88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1EC20AD-9A26-4782-A0F4-0E0ED7072E77}" type="slidenum">
              <a:rPr lang="en-US" altLang="en-US"/>
              <a:pPr/>
              <a:t>100</a:t>
            </a:fld>
            <a:endParaRPr lang="en-US" altLang="en-US"/>
          </a:p>
        </p:txBody>
      </p:sp>
      <p:pic>
        <p:nvPicPr>
          <p:cNvPr id="34821" name="Picture 2">
            <a:extLst>
              <a:ext uri="{FF2B5EF4-FFF2-40B4-BE49-F238E27FC236}">
                <a16:creationId xmlns:a16="http://schemas.microsoft.com/office/drawing/2014/main" id="{3FECE2F3-F68B-88D2-4FFB-20B2A36040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6C16EC36-F016-64CA-EAC2-60A68E3C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6538E1EC-0DD2-4E7C-6373-D8D3E174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B to region C?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B91AC536-C936-ED67-C365-1FA956D7C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3EFD9A1-3E6C-44B8-8024-78C7BD0BB9E9}" type="slidenum">
              <a:rPr lang="en-US" altLang="en-US"/>
              <a:pPr/>
              <a:t>101</a:t>
            </a:fld>
            <a:endParaRPr lang="en-US" altLang="en-US"/>
          </a:p>
        </p:txBody>
      </p:sp>
      <p:pic>
        <p:nvPicPr>
          <p:cNvPr id="35845" name="Picture 2">
            <a:extLst>
              <a:ext uri="{FF2B5EF4-FFF2-40B4-BE49-F238E27FC236}">
                <a16:creationId xmlns:a16="http://schemas.microsoft.com/office/drawing/2014/main" id="{0FCFFDD9-A0B8-D395-B431-A9AF973703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04CADF65-83D1-32C8-C852-777FD84FD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9CF7E493-83F2-8896-1103-DB6C6B2E8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C to region B?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6868" name="Slide Number Placeholder 3">
            <a:extLst>
              <a:ext uri="{FF2B5EF4-FFF2-40B4-BE49-F238E27FC236}">
                <a16:creationId xmlns:a16="http://schemas.microsoft.com/office/drawing/2014/main" id="{995CEA68-B77D-5998-5B15-B982ABAE3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0B67C315-32AD-4A40-8002-1C10D4A766BA}" type="slidenum">
              <a:rPr lang="en-US" altLang="en-US"/>
              <a:pPr/>
              <a:t>102</a:t>
            </a:fld>
            <a:endParaRPr lang="en-US" altLang="en-US"/>
          </a:p>
        </p:txBody>
      </p:sp>
      <p:pic>
        <p:nvPicPr>
          <p:cNvPr id="36869" name="Picture 2">
            <a:extLst>
              <a:ext uri="{FF2B5EF4-FFF2-40B4-BE49-F238E27FC236}">
                <a16:creationId xmlns:a16="http://schemas.microsoft.com/office/drawing/2014/main" id="{36625E12-5C42-F1B7-F72E-BBB07F66E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1">
            <a:extLst>
              <a:ext uri="{FF2B5EF4-FFF2-40B4-BE49-F238E27FC236}">
                <a16:creationId xmlns:a16="http://schemas.microsoft.com/office/drawing/2014/main" id="{431FAA1C-7DF5-3DB5-8E93-999948E21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7891" name="Content Placeholder 2">
            <a:extLst>
              <a:ext uri="{FF2B5EF4-FFF2-40B4-BE49-F238E27FC236}">
                <a16:creationId xmlns:a16="http://schemas.microsoft.com/office/drawing/2014/main" id="{BB5BB418-9768-4201-0308-B992B4E7F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do we call moving from region B to region A?</a:t>
            </a:r>
          </a:p>
          <a:p>
            <a:pPr>
              <a:buFontTx/>
              <a:buAutoNum type="alphaLcParenR"/>
            </a:pPr>
            <a:r>
              <a:rPr lang="en-US" altLang="en-US" sz="2400"/>
              <a:t>Boiling </a:t>
            </a:r>
          </a:p>
          <a:p>
            <a:pPr>
              <a:buFontTx/>
              <a:buAutoNum type="alphaLcParenR"/>
            </a:pPr>
            <a:r>
              <a:rPr lang="en-US" altLang="en-US" sz="2400"/>
              <a:t>Frezzing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Melting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Condensing</a:t>
            </a:r>
          </a:p>
          <a:p>
            <a:pPr>
              <a:buFontTx/>
              <a:buAutoNum type="alphaLcParenR"/>
            </a:pPr>
            <a:r>
              <a:rPr lang="en-US" altLang="en-US" sz="2400"/>
              <a:t>Sublimation</a:t>
            </a:r>
          </a:p>
        </p:txBody>
      </p:sp>
      <p:sp>
        <p:nvSpPr>
          <p:cNvPr id="37892" name="Slide Number Placeholder 3">
            <a:extLst>
              <a:ext uri="{FF2B5EF4-FFF2-40B4-BE49-F238E27FC236}">
                <a16:creationId xmlns:a16="http://schemas.microsoft.com/office/drawing/2014/main" id="{D6195291-3115-288F-0593-FE93D426B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0379B8E-A27F-4508-81EB-6D1B7954D9D7}" type="slidenum">
              <a:rPr lang="en-US" altLang="en-US"/>
              <a:pPr/>
              <a:t>103</a:t>
            </a:fld>
            <a:endParaRPr lang="en-US" altLang="en-US"/>
          </a:p>
        </p:txBody>
      </p:sp>
      <p:pic>
        <p:nvPicPr>
          <p:cNvPr id="37893" name="Picture 2">
            <a:extLst>
              <a:ext uri="{FF2B5EF4-FFF2-40B4-BE49-F238E27FC236}">
                <a16:creationId xmlns:a16="http://schemas.microsoft.com/office/drawing/2014/main" id="{D9FFC665-378F-F12D-ED4D-51886D0C7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825" y="2235200"/>
            <a:ext cx="4137025" cy="345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>
            <a:extLst>
              <a:ext uri="{FF2B5EF4-FFF2-40B4-BE49-F238E27FC236}">
                <a16:creationId xmlns:a16="http://schemas.microsoft.com/office/drawing/2014/main" id="{E39C1948-CBCC-F10B-84E9-D15D9BD0B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8915" name="Content Placeholder 2">
            <a:extLst>
              <a:ext uri="{FF2B5EF4-FFF2-40B4-BE49-F238E27FC236}">
                <a16:creationId xmlns:a16="http://schemas.microsoft.com/office/drawing/2014/main" id="{8A1A680F-B881-21E8-E00B-1E1C27603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phase is the material at if it is in the state represented by letter D?</a:t>
            </a:r>
          </a:p>
          <a:p>
            <a:pPr>
              <a:buFontTx/>
              <a:buAutoNum type="alphaLcParenR"/>
            </a:pPr>
            <a:r>
              <a:rPr lang="en-US" altLang="en-US" sz="24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4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400"/>
              <a:t>Gas</a:t>
            </a:r>
          </a:p>
          <a:p>
            <a:pPr>
              <a:buFontTx/>
              <a:buAutoNum type="alphaLcParenR"/>
            </a:pPr>
            <a:r>
              <a:rPr lang="en-US" altLang="en-US" sz="2400"/>
              <a:t>Plasma</a:t>
            </a:r>
          </a:p>
          <a:p>
            <a:pPr>
              <a:buFontTx/>
              <a:buAutoNum type="alphaLcParenR"/>
            </a:pPr>
            <a:r>
              <a:rPr lang="en-US" altLang="en-US" sz="2400"/>
              <a:t>Can’t tell</a:t>
            </a:r>
          </a:p>
        </p:txBody>
      </p:sp>
      <p:sp>
        <p:nvSpPr>
          <p:cNvPr id="38916" name="Slide Number Placeholder 3">
            <a:extLst>
              <a:ext uri="{FF2B5EF4-FFF2-40B4-BE49-F238E27FC236}">
                <a16:creationId xmlns:a16="http://schemas.microsoft.com/office/drawing/2014/main" id="{5F62DFFA-8FA4-400A-932D-E39C3E34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4867BD9-A410-40EC-87B0-78C2E2B58A2E}" type="slidenum">
              <a:rPr lang="en-US" altLang="en-US"/>
              <a:pPr/>
              <a:t>104</a:t>
            </a:fld>
            <a:endParaRPr lang="en-US" altLang="en-US"/>
          </a:p>
        </p:txBody>
      </p:sp>
      <p:pic>
        <p:nvPicPr>
          <p:cNvPr id="38917" name="Picture 2">
            <a:extLst>
              <a:ext uri="{FF2B5EF4-FFF2-40B4-BE49-F238E27FC236}">
                <a16:creationId xmlns:a16="http://schemas.microsoft.com/office/drawing/2014/main" id="{376EEAA4-6584-FE22-677D-B9E75B923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613025"/>
            <a:ext cx="3298825" cy="275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>
            <a:extLst>
              <a:ext uri="{FF2B5EF4-FFF2-40B4-BE49-F238E27FC236}">
                <a16:creationId xmlns:a16="http://schemas.microsoft.com/office/drawing/2014/main" id="{43BF1B07-7EC6-DFE2-1BDE-43C59FE6B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123.8.12</a:t>
            </a:r>
          </a:p>
        </p:txBody>
      </p:sp>
      <p:sp>
        <p:nvSpPr>
          <p:cNvPr id="39939" name="Content Placeholder 2">
            <a:extLst>
              <a:ext uri="{FF2B5EF4-FFF2-40B4-BE49-F238E27FC236}">
                <a16:creationId xmlns:a16="http://schemas.microsoft.com/office/drawing/2014/main" id="{2FE89652-8738-743C-23AF-27A9DF10D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592513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altLang="en-US" sz="2800"/>
              <a:t>What can we say about the state represented by point F?</a:t>
            </a:r>
          </a:p>
          <a:p>
            <a:pPr>
              <a:buFontTx/>
              <a:buAutoNum type="alphaLcParenR"/>
            </a:pPr>
            <a:r>
              <a:rPr lang="en-US" altLang="en-US" sz="2400"/>
              <a:t>Solid</a:t>
            </a:r>
          </a:p>
          <a:p>
            <a:pPr>
              <a:buFontTx/>
              <a:buAutoNum type="alphaLcParenR"/>
            </a:pPr>
            <a:r>
              <a:rPr lang="en-US" altLang="en-US" sz="2400"/>
              <a:t>Liquid</a:t>
            </a:r>
          </a:p>
          <a:p>
            <a:pPr>
              <a:buFontTx/>
              <a:buAutoNum type="alphaLcParenR"/>
            </a:pPr>
            <a:r>
              <a:rPr lang="en-US" altLang="en-US" sz="2400"/>
              <a:t>Gas</a:t>
            </a:r>
          </a:p>
          <a:p>
            <a:pPr>
              <a:buFontTx/>
              <a:buAutoNum type="alphaLcParenR"/>
            </a:pPr>
            <a:r>
              <a:rPr lang="en-US" altLang="en-US" sz="2400"/>
              <a:t>Plasma</a:t>
            </a:r>
          </a:p>
          <a:p>
            <a:pPr>
              <a:buFontTx/>
              <a:buAutoNum type="alphaLcParenR"/>
            </a:pPr>
            <a:r>
              <a:rPr lang="en-US" altLang="en-US" sz="2400"/>
              <a:t>It is a phase equilibrium</a:t>
            </a:r>
          </a:p>
        </p:txBody>
      </p:sp>
      <p:sp>
        <p:nvSpPr>
          <p:cNvPr id="39940" name="Slide Number Placeholder 3">
            <a:extLst>
              <a:ext uri="{FF2B5EF4-FFF2-40B4-BE49-F238E27FC236}">
                <a16:creationId xmlns:a16="http://schemas.microsoft.com/office/drawing/2014/main" id="{660B4E30-ED20-DCB9-4943-43A78DDB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6985E2D-32DE-477F-8593-83D1A73FD9BC}" type="slidenum">
              <a:rPr lang="en-US" altLang="en-US"/>
              <a:pPr/>
              <a:t>105</a:t>
            </a:fld>
            <a:endParaRPr lang="en-US" altLang="en-US"/>
          </a:p>
        </p:txBody>
      </p:sp>
      <p:pic>
        <p:nvPicPr>
          <p:cNvPr id="39941" name="Picture 2">
            <a:extLst>
              <a:ext uri="{FF2B5EF4-FFF2-40B4-BE49-F238E27FC236}">
                <a16:creationId xmlns:a16="http://schemas.microsoft.com/office/drawing/2014/main" id="{7A4AEC7A-EA9E-D38E-EBAA-97742A7D1E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2650" y="2613025"/>
            <a:ext cx="3298825" cy="275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A61D0C6D-D4B6-686D-6317-59653EDCF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0963" name="Content Placeholder 2">
            <a:extLst>
              <a:ext uri="{FF2B5EF4-FFF2-40B4-BE49-F238E27FC236}">
                <a16:creationId xmlns:a16="http://schemas.microsoft.com/office/drawing/2014/main" id="{3C51D052-CDBC-6640-4CF4-DFCAF89E9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424488"/>
            <a:ext cx="8229600" cy="1433512"/>
          </a:xfrm>
        </p:spPr>
        <p:txBody>
          <a:bodyPr/>
          <a:lstStyle/>
          <a:p>
            <a:r>
              <a:rPr lang="en-US" altLang="en-US" sz="1800"/>
              <a:t>	[Figure]	[More Complete Phase Diagram for Water (Public Domain Image courtesy Karlhahn)]</a:t>
            </a:r>
          </a:p>
        </p:txBody>
      </p:sp>
      <p:sp>
        <p:nvSpPr>
          <p:cNvPr id="40964" name="Date Placeholder 3">
            <a:extLst>
              <a:ext uri="{FF2B5EF4-FFF2-40B4-BE49-F238E27FC236}">
                <a16:creationId xmlns:a16="http://schemas.microsoft.com/office/drawing/2014/main" id="{95444892-1CA0-93B0-E9B3-566BFCF819C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Oct 11-13, 2006</a:t>
            </a:r>
          </a:p>
        </p:txBody>
      </p:sp>
      <p:sp>
        <p:nvSpPr>
          <p:cNvPr id="40965" name="Footer Placeholder 4">
            <a:extLst>
              <a:ext uri="{FF2B5EF4-FFF2-40B4-BE49-F238E27FC236}">
                <a16:creationId xmlns:a16="http://schemas.microsoft.com/office/drawing/2014/main" id="{A4169D67-A425-56C0-A104-43662B3D6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/>
              <a:t>R. Todd Lines</a:t>
            </a:r>
          </a:p>
        </p:txBody>
      </p:sp>
      <p:pic>
        <p:nvPicPr>
          <p:cNvPr id="40966" name="Picture 5">
            <a:extLst>
              <a:ext uri="{FF2B5EF4-FFF2-40B4-BE49-F238E27FC236}">
                <a16:creationId xmlns:a16="http://schemas.microsoft.com/office/drawing/2014/main" id="{A5A3AE37-1F7F-E29F-0967-859C2A5D0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63" y="1323975"/>
            <a:ext cx="9021762" cy="414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1226C92-70ED-46CE-8F78-09B47D8D29EB}" type="slidenum">
              <a:rPr lang="en-US" smtClean="0"/>
              <a:pPr/>
              <a:t>107</a:t>
            </a:fld>
            <a:endParaRPr lang="en-US"/>
          </a:p>
        </p:txBody>
      </p:sp>
      <p:sp>
        <p:nvSpPr>
          <p:cNvPr id="1966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123.13.1</a:t>
            </a:r>
          </a:p>
        </p:txBody>
      </p:sp>
      <p:sp>
        <p:nvSpPr>
          <p:cNvPr id="19661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Why is C</a:t>
            </a:r>
            <a:r>
              <a:rPr lang="en-US" baseline="-25000" dirty="0"/>
              <a:t>P</a:t>
            </a:r>
            <a:r>
              <a:rPr lang="en-US" dirty="0"/>
              <a:t> larger than C</a:t>
            </a:r>
            <a:r>
              <a:rPr lang="en-US" baseline="-25000" dirty="0"/>
              <a:t>V</a:t>
            </a:r>
            <a:r>
              <a:rPr lang="en-US" dirty="0"/>
              <a:t>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has to do with the spacing of molecules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because no work is done in a </a:t>
            </a:r>
            <a:r>
              <a:rPr lang="en-US" dirty="0" err="1"/>
              <a:t>isovolumetric</a:t>
            </a:r>
            <a:r>
              <a:rPr lang="en-US" dirty="0"/>
              <a:t> process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because no work is done in an isobaric process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151250272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F1E67CA-8292-4353-8766-762103BEE57E}" type="slidenum">
              <a:rPr lang="en-US" smtClean="0"/>
              <a:pPr/>
              <a:t>108</a:t>
            </a:fld>
            <a:endParaRPr lang="en-US"/>
          </a:p>
        </p:txBody>
      </p:sp>
      <p:sp>
        <p:nvSpPr>
          <p:cNvPr id="197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123.13.2</a:t>
            </a:r>
          </a:p>
        </p:txBody>
      </p:sp>
      <p:sp>
        <p:nvSpPr>
          <p:cNvPr id="1976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187825" cy="4525963"/>
          </a:xfrm>
        </p:spPr>
        <p:txBody>
          <a:bodyPr>
            <a:normAutofit lnSpcReduction="10000"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How does the internal energy of an ideal gas change as it follows the red path upward?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Increases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Decreases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</p:txBody>
      </p:sp>
      <p:pic>
        <p:nvPicPr>
          <p:cNvPr id="19763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57738" y="1693863"/>
            <a:ext cx="3690937" cy="37052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4163F19-09F3-4C30-81E5-A6FF380732A9}"/>
              </a:ext>
            </a:extLst>
          </p:cNvPr>
          <p:cNvCxnSpPr>
            <a:cxnSpLocks/>
          </p:cNvCxnSpPr>
          <p:nvPr/>
        </p:nvCxnSpPr>
        <p:spPr>
          <a:xfrm flipV="1">
            <a:off x="6871317" y="3444537"/>
            <a:ext cx="0" cy="284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A17EFC-B921-4468-8B0B-22CDBA784684}"/>
              </a:ext>
            </a:extLst>
          </p:cNvPr>
          <p:cNvCxnSpPr>
            <a:cxnSpLocks/>
          </p:cNvCxnSpPr>
          <p:nvPr/>
        </p:nvCxnSpPr>
        <p:spPr>
          <a:xfrm>
            <a:off x="6881674" y="3765612"/>
            <a:ext cx="406893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552038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F1E67CA-8292-4353-8766-762103BEE57E}" type="slidenum">
              <a:rPr lang="en-US" smtClean="0"/>
              <a:pPr/>
              <a:t>109</a:t>
            </a:fld>
            <a:endParaRPr lang="en-US"/>
          </a:p>
        </p:txBody>
      </p:sp>
      <p:sp>
        <p:nvSpPr>
          <p:cNvPr id="197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123.13.2.1</a:t>
            </a:r>
          </a:p>
        </p:txBody>
      </p:sp>
      <p:sp>
        <p:nvSpPr>
          <p:cNvPr id="1976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187825" cy="4525963"/>
          </a:xfrm>
        </p:spPr>
        <p:txBody>
          <a:bodyPr>
            <a:normAutofit fontScale="92500" lnSpcReduction="10000"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How does the internal energy of an ideal gas change as it follows the green path from left to right?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Increases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Decreases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</p:txBody>
      </p:sp>
      <p:pic>
        <p:nvPicPr>
          <p:cNvPr id="19763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57738" y="1693863"/>
            <a:ext cx="3690937" cy="37052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181EA45-0BEC-4D14-87C2-C8D02B51E681}"/>
              </a:ext>
            </a:extLst>
          </p:cNvPr>
          <p:cNvCxnSpPr>
            <a:cxnSpLocks/>
          </p:cNvCxnSpPr>
          <p:nvPr/>
        </p:nvCxnSpPr>
        <p:spPr>
          <a:xfrm flipV="1">
            <a:off x="6871317" y="3444537"/>
            <a:ext cx="0" cy="284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280119-1909-462D-8A79-6E4FB5C188A5}"/>
              </a:ext>
            </a:extLst>
          </p:cNvPr>
          <p:cNvCxnSpPr>
            <a:cxnSpLocks/>
          </p:cNvCxnSpPr>
          <p:nvPr/>
        </p:nvCxnSpPr>
        <p:spPr>
          <a:xfrm>
            <a:off x="6881674" y="3765612"/>
            <a:ext cx="406893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81744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F1E67CA-8292-4353-8766-762103BEE57E}" type="slidenum">
              <a:rPr lang="en-US" smtClean="0"/>
              <a:pPr/>
              <a:t>110</a:t>
            </a:fld>
            <a:endParaRPr lang="en-US"/>
          </a:p>
        </p:txBody>
      </p:sp>
      <p:sp>
        <p:nvSpPr>
          <p:cNvPr id="197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123.13.2.2</a:t>
            </a:r>
          </a:p>
        </p:txBody>
      </p:sp>
      <p:sp>
        <p:nvSpPr>
          <p:cNvPr id="19763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187825" cy="4525963"/>
          </a:xfrm>
        </p:spPr>
        <p:txBody>
          <a:bodyPr>
            <a:normAutofit lnSpcReduction="10000"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For which path, red or green, does the internal energy of an ideal gas change the most?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Red isochoric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Green isobaric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Both the same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</p:txBody>
      </p:sp>
      <p:pic>
        <p:nvPicPr>
          <p:cNvPr id="19763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57738" y="1693863"/>
            <a:ext cx="3690937" cy="37052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5E3119-F2D6-482C-ADEB-C0C635894B20}"/>
              </a:ext>
            </a:extLst>
          </p:cNvPr>
          <p:cNvCxnSpPr>
            <a:cxnSpLocks/>
          </p:cNvCxnSpPr>
          <p:nvPr/>
        </p:nvCxnSpPr>
        <p:spPr>
          <a:xfrm flipV="1">
            <a:off x="6871317" y="3444537"/>
            <a:ext cx="0" cy="284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08B9AA5-8BCA-4658-A329-0E2B337ECFDD}"/>
              </a:ext>
            </a:extLst>
          </p:cNvPr>
          <p:cNvCxnSpPr>
            <a:cxnSpLocks/>
          </p:cNvCxnSpPr>
          <p:nvPr/>
        </p:nvCxnSpPr>
        <p:spPr>
          <a:xfrm>
            <a:off x="6881674" y="3765612"/>
            <a:ext cx="406893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65937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152" y="1266092"/>
            <a:ext cx="2265975" cy="4867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774660" y="518160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72029" y="3810000"/>
            <a:ext cx="675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2323" y="4158173"/>
            <a:ext cx="675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3104176" y="3048000"/>
            <a:ext cx="9344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104176" y="3734898"/>
            <a:ext cx="9344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3429000" y="3048000"/>
            <a:ext cx="0" cy="651729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76797" y="3119735"/>
            <a:ext cx="5116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/>
              </a:rPr>
              <a:t>y</a:t>
            </a:r>
            <a:endParaRPr lang="en-US" sz="24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632496"/>
            <a:ext cx="8382000" cy="5597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" name="Straight Connector 4"/>
          <p:cNvCxnSpPr/>
          <p:nvPr/>
        </p:nvCxnSpPr>
        <p:spPr>
          <a:xfrm flipV="1">
            <a:off x="5334000" y="3200400"/>
            <a:ext cx="0" cy="5334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V="1">
            <a:off x="5334000" y="3276600"/>
            <a:ext cx="0" cy="30480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334000" y="3701142"/>
            <a:ext cx="114300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rot="5400000" flipV="1">
            <a:off x="5943600" y="3548742"/>
            <a:ext cx="0" cy="304800"/>
          </a:xfrm>
          <a:prstGeom prst="straightConnector1">
            <a:avLst/>
          </a:prstGeom>
          <a:ln w="571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133" y="805543"/>
            <a:ext cx="8208183" cy="5431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Connector 5"/>
          <p:cNvCxnSpPr/>
          <p:nvPr/>
        </p:nvCxnSpPr>
        <p:spPr>
          <a:xfrm flipH="1" flipV="1">
            <a:off x="4855029" y="3331029"/>
            <a:ext cx="54428" cy="174171"/>
          </a:xfrm>
          <a:prstGeom prst="line">
            <a:avLst/>
          </a:prstGeom>
          <a:ln w="28575">
            <a:solidFill>
              <a:srgbClr val="3939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4767943" y="3516087"/>
            <a:ext cx="141514" cy="21770"/>
          </a:xfrm>
          <a:prstGeom prst="line">
            <a:avLst/>
          </a:prstGeom>
          <a:ln w="28575">
            <a:solidFill>
              <a:srgbClr val="3939F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197136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BE399DE-0213-461B-B6C1-4F53A2FA658A}" type="slidenum">
              <a:rPr lang="en-US" smtClean="0"/>
              <a:pPr/>
              <a:t>114</a:t>
            </a:fld>
            <a:endParaRPr lang="en-US"/>
          </a:p>
        </p:txBody>
      </p:sp>
      <p:sp>
        <p:nvSpPr>
          <p:cNvPr id="1986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123.13.3</a:t>
            </a:r>
          </a:p>
        </p:txBody>
      </p:sp>
      <p:sp>
        <p:nvSpPr>
          <p:cNvPr id="1986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For an adiabatic process PV</a:t>
            </a:r>
            <a:r>
              <a:rPr lang="en-US" baseline="30000" dirty="0">
                <a:sym typeface="Symbol" pitchFamily="18" charset="2"/>
              </a:rPr>
              <a:t></a:t>
            </a:r>
            <a:r>
              <a:rPr lang="en-US" dirty="0"/>
              <a:t> =….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A constant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 err="1"/>
              <a:t>nRT</a:t>
            </a:r>
            <a:r>
              <a:rPr lang="en-US" baseline="30000" dirty="0">
                <a:sym typeface="Symbol" pitchFamily="18" charset="2"/>
              </a:rPr>
              <a:t></a:t>
            </a:r>
            <a:r>
              <a:rPr lang="en-US" dirty="0"/>
              <a:t>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(</a:t>
            </a:r>
            <a:r>
              <a:rPr lang="en-US" dirty="0" err="1"/>
              <a:t>nRT</a:t>
            </a:r>
            <a:r>
              <a:rPr lang="en-US" dirty="0"/>
              <a:t>)</a:t>
            </a:r>
            <a:r>
              <a:rPr lang="en-US" baseline="30000" dirty="0">
                <a:sym typeface="Symbol" pitchFamily="18" charset="2"/>
              </a:rPr>
              <a:t></a:t>
            </a:r>
            <a:endParaRPr lang="en-US" dirty="0"/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6564849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550E9FB-D90F-45EF-8FD6-93B21C224C7A}" type="slidenum">
              <a:rPr lang="en-US" smtClean="0"/>
              <a:pPr/>
              <a:t>115</a:t>
            </a:fld>
            <a:endParaRPr lang="en-US"/>
          </a:p>
        </p:txBody>
      </p:sp>
      <p:sp>
        <p:nvSpPr>
          <p:cNvPr id="190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123.13.4</a:t>
            </a:r>
          </a:p>
        </p:txBody>
      </p:sp>
      <p:sp>
        <p:nvSpPr>
          <p:cNvPr id="1904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Your home gets too cold in the winter. This is likely because you have too much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Convection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Conduction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Radiation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More than one of the above</a:t>
            </a:r>
          </a:p>
          <a:p>
            <a:pPr marL="609600" indent="-609600"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49660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Energy Transfer Mechanisms</a:t>
            </a:r>
          </a:p>
        </p:txBody>
      </p:sp>
      <p:sp>
        <p:nvSpPr>
          <p:cNvPr id="26627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Methods of Heat Transfer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Need to know the rate at which energy is transferred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Need to know the mechanisms responsible for the transfer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Methods include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Conduction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Convection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Radiation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Conduction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800"/>
              <a:t>The transfer can be viewed on an atomic scale</a:t>
            </a:r>
          </a:p>
          <a:p>
            <a:pPr lvl="1" eaLnBrk="1" hangingPunct="1"/>
            <a:r>
              <a:rPr lang="en-US" sz="2400"/>
              <a:t>It is an exchange of energy between microscopic particles by collisions</a:t>
            </a:r>
          </a:p>
          <a:p>
            <a:pPr lvl="1" eaLnBrk="1" hangingPunct="1"/>
            <a:r>
              <a:rPr lang="en-US" sz="2400"/>
              <a:t>Less energetic particles gain energy during collisions with more energetic particles</a:t>
            </a:r>
          </a:p>
          <a:p>
            <a:pPr eaLnBrk="1" hangingPunct="1"/>
            <a:r>
              <a:rPr lang="en-US" sz="2800"/>
              <a:t>Rate of conduction depends upon the characteristics of the substance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Conduction example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2400" y="1789113"/>
            <a:ext cx="4459288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/>
              <a:t>The molecules vibrate about their equilibrium positions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Particles near the stove coil vibrate with larger amplitudes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These collide with adjacent molecules and transfer some energy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Eventually, the energy travels entirely through the pan and its handle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</p:txBody>
      </p:sp>
      <p:pic>
        <p:nvPicPr>
          <p:cNvPr id="29700" name="Picture 4" descr="1104"/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4652963" y="2305050"/>
            <a:ext cx="4033837" cy="3114675"/>
          </a:xfrm>
          <a:noFill/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Conduction, cont.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800"/>
              <a:t>In general, metals are good conductors</a:t>
            </a:r>
          </a:p>
          <a:p>
            <a:pPr lvl="1" eaLnBrk="1" hangingPunct="1"/>
            <a:r>
              <a:rPr lang="en-US" sz="2400"/>
              <a:t>They contain large numbers of electrons that are relatively free to move through the metal</a:t>
            </a:r>
          </a:p>
          <a:p>
            <a:pPr lvl="1" eaLnBrk="1" hangingPunct="1"/>
            <a:r>
              <a:rPr lang="en-US" sz="2400"/>
              <a:t>They can transport energy from one region to another</a:t>
            </a:r>
          </a:p>
          <a:p>
            <a:pPr eaLnBrk="1" hangingPunct="1"/>
            <a:r>
              <a:rPr lang="en-US" sz="2800"/>
              <a:t>Conduction can occur only if there is a difference in temperature between two parts of the conducting medium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Conduction, equation</a:t>
            </a:r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/>
            <a:r>
              <a:rPr lang="en-US" sz="2800"/>
              <a:t>The slab allows energy to transfer from the region of higher temperature to the region of lower temperature</a:t>
            </a:r>
          </a:p>
          <a:p>
            <a:pPr eaLnBrk="1" hangingPunct="1"/>
            <a:endParaRPr lang="en-US" sz="2800"/>
          </a:p>
        </p:txBody>
      </p:sp>
      <p:sp>
        <p:nvSpPr>
          <p:cNvPr id="3" name="TextBox 2"/>
          <p:cNvSpPr txBox="1"/>
          <p:nvPr/>
        </p:nvSpPr>
        <p:spPr>
          <a:xfrm>
            <a:off x="8077200" y="68580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446" y="1219200"/>
            <a:ext cx="3124200" cy="5024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2011354"/>
              </p:ext>
            </p:extLst>
          </p:nvPr>
        </p:nvGraphicFramePr>
        <p:xfrm>
          <a:off x="762000" y="4343400"/>
          <a:ext cx="4011561" cy="1295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18960" imgH="393480" progId="Equation.3">
                  <p:embed/>
                </p:oleObj>
              </mc:Choice>
              <mc:Fallback>
                <p:oleObj name="Equation" r:id="rId3" imgW="1218960" imgH="39348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62000" y="4343400"/>
                        <a:ext cx="4011561" cy="1295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Conduction, equation explanation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45720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 dirty="0"/>
              <a:t>A is the cross-sectional area</a:t>
            </a:r>
          </a:p>
          <a:p>
            <a:pPr eaLnBrk="1" hangingPunct="1">
              <a:lnSpc>
                <a:spcPct val="90000"/>
              </a:lnSpc>
            </a:pPr>
            <a:r>
              <a:rPr lang="en-US" sz="2800" dirty="0"/>
              <a:t>ΔL is the thickness of the slab or the length of a rod</a:t>
            </a:r>
          </a:p>
          <a:p>
            <a:pPr eaLnBrk="1" hangingPunct="1">
              <a:lnSpc>
                <a:spcPct val="90000"/>
              </a:lnSpc>
            </a:pPr>
            <a:r>
              <a:rPr lang="en-US" sz="2800" dirty="0"/>
              <a:t>P is in Watts when Q is in Joules and t is in seconds</a:t>
            </a:r>
          </a:p>
          <a:p>
            <a:pPr eaLnBrk="1" hangingPunct="1">
              <a:lnSpc>
                <a:spcPct val="90000"/>
              </a:lnSpc>
            </a:pPr>
            <a:r>
              <a:rPr lang="en-US" sz="2800" dirty="0"/>
              <a:t>k is the </a:t>
            </a:r>
            <a:r>
              <a:rPr lang="en-US" sz="2800" i="1" dirty="0"/>
              <a:t>thermal conductivity</a:t>
            </a:r>
            <a:r>
              <a:rPr lang="en-US" sz="2800" dirty="0"/>
              <a:t> of the material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/>
              <a:t>See table 11.3 for some conductivities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/>
              <a:t>Good conductors have high k values and good insulators have low k values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Home Insulation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82688" y="2017713"/>
            <a:ext cx="7772400" cy="4383087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Substances are rated by their </a:t>
            </a:r>
            <a:r>
              <a:rPr lang="en-US" i="1" dirty="0"/>
              <a:t>R values</a:t>
            </a:r>
            <a:r>
              <a:rPr lang="en-US" dirty="0"/>
              <a:t> 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R = </a:t>
            </a:r>
            <a:r>
              <a:rPr lang="en-US" dirty="0">
                <a:sym typeface="Symbol"/>
              </a:rPr>
              <a:t></a:t>
            </a:r>
            <a:r>
              <a:rPr lang="en-US" dirty="0"/>
              <a:t>L / k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See table 11.4 for some R values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For multiple layers, the total R value is the sum of the R values of each layer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Wind increases the energy loss by conduction in a home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Multiple Materials, cont.</a:t>
            </a:r>
          </a:p>
        </p:txBody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The rate through the multiple materials will be</a:t>
            </a:r>
          </a:p>
          <a:p>
            <a:pPr eaLnBrk="1" hangingPunct="1">
              <a:lnSpc>
                <a:spcPct val="90000"/>
              </a:lnSpc>
            </a:pPr>
            <a:endParaRPr lang="en-US" dirty="0"/>
          </a:p>
          <a:p>
            <a:pPr eaLnBrk="1" hangingPunct="1">
              <a:lnSpc>
                <a:spcPct val="90000"/>
              </a:lnSpc>
            </a:pPr>
            <a:endParaRPr lang="en-US" dirty="0"/>
          </a:p>
          <a:p>
            <a:pPr eaLnBrk="1" hangingPunct="1">
              <a:lnSpc>
                <a:spcPct val="90000"/>
              </a:lnSpc>
            </a:pPr>
            <a:endParaRPr lang="en-US" dirty="0"/>
          </a:p>
          <a:p>
            <a:pPr eaLnBrk="1" hangingPunct="1">
              <a:lnSpc>
                <a:spcPct val="90000"/>
              </a:lnSpc>
            </a:pPr>
            <a:endParaRPr lang="en-US" dirty="0"/>
          </a:p>
          <a:p>
            <a:pPr eaLnBrk="1" hangingPunct="1">
              <a:lnSpc>
                <a:spcPct val="90000"/>
              </a:lnSpc>
            </a:pPr>
            <a:r>
              <a:rPr lang="en-US" dirty="0"/>
              <a:t>T</a:t>
            </a:r>
            <a:r>
              <a:rPr lang="en-US" baseline="-25000" dirty="0"/>
              <a:t>H</a:t>
            </a:r>
            <a:r>
              <a:rPr lang="en-US" dirty="0"/>
              <a:t> and T</a:t>
            </a:r>
            <a:r>
              <a:rPr lang="en-US" baseline="-25000" dirty="0"/>
              <a:t>C</a:t>
            </a:r>
            <a:r>
              <a:rPr lang="en-US" dirty="0"/>
              <a:t> are the temperatures at the outer extremities of the compound material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6714549"/>
              </p:ext>
            </p:extLst>
          </p:nvPr>
        </p:nvGraphicFramePr>
        <p:xfrm>
          <a:off x="1371600" y="2209800"/>
          <a:ext cx="6226176" cy="2046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92160" imgH="622080" progId="Equation.3">
                  <p:embed/>
                </p:oleObj>
              </mc:Choice>
              <mc:Fallback>
                <p:oleObj name="Equation" r:id="rId2" imgW="1892160" imgH="622080" progId="Equation.3">
                  <p:embed/>
                  <p:pic>
                    <p:nvPicPr>
                      <p:cNvPr id="2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1600" y="2209800"/>
                        <a:ext cx="6226176" cy="2046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Convection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Energy transferred by the movement of a substance</a:t>
            </a:r>
          </a:p>
          <a:p>
            <a:pPr lvl="1" eaLnBrk="1" hangingPunct="1"/>
            <a:r>
              <a:rPr lang="en-US"/>
              <a:t>When the movement results from differences in density, it is called </a:t>
            </a:r>
            <a:r>
              <a:rPr lang="en-US" i="1"/>
              <a:t>natural conduction</a:t>
            </a:r>
            <a:endParaRPr lang="en-US"/>
          </a:p>
          <a:p>
            <a:pPr lvl="1" eaLnBrk="1" hangingPunct="1"/>
            <a:r>
              <a:rPr lang="en-US"/>
              <a:t>When the movement is forced by a fan or a pump, it is called </a:t>
            </a:r>
            <a:r>
              <a:rPr lang="en-US" i="1"/>
              <a:t>forced convection</a:t>
            </a:r>
            <a:endParaRPr lang="en-US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Convection example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Air directly above the flame is warmed and expands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The density of the air decreases, and it rises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The mass of air warms the hand as it moves by</a:t>
            </a:r>
          </a:p>
        </p:txBody>
      </p:sp>
      <p:pic>
        <p:nvPicPr>
          <p:cNvPr id="34820" name="Picture 4" descr="1109"/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4905375" y="1600200"/>
            <a:ext cx="3529013" cy="4525963"/>
          </a:xfrm>
          <a:noFill/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Convection applications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Boiling water</a:t>
            </a:r>
          </a:p>
          <a:p>
            <a:pPr eaLnBrk="1" hangingPunct="1"/>
            <a:r>
              <a:rPr lang="en-US"/>
              <a:t>Radiators</a:t>
            </a:r>
          </a:p>
          <a:p>
            <a:pPr eaLnBrk="1" hangingPunct="1"/>
            <a:r>
              <a:rPr lang="en-US"/>
              <a:t>Upwelling</a:t>
            </a:r>
          </a:p>
          <a:p>
            <a:pPr eaLnBrk="1" hangingPunct="1"/>
            <a:r>
              <a:rPr lang="en-US"/>
              <a:t>Cooling automobile engines</a:t>
            </a:r>
          </a:p>
          <a:p>
            <a:pPr eaLnBrk="1" hangingPunct="1"/>
            <a:r>
              <a:rPr lang="en-US"/>
              <a:t>Algal blooms in ponds and lakes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Convection Current Example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/>
              <a:t>The radiator warms the air in the lower region of the room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The warm air is less dense, so it rises to the ceiling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The denser, cooler air sinks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A continuous air current pattern is set up as shown</a:t>
            </a:r>
          </a:p>
        </p:txBody>
      </p:sp>
      <p:sp>
        <p:nvSpPr>
          <p:cNvPr id="2" name="ClipArt Placeholder 1"/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600200"/>
            <a:ext cx="3806903" cy="3319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6248400" y="5486400"/>
            <a:ext cx="2682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Electric Base-Board Heater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6705600" y="4800600"/>
            <a:ext cx="884000" cy="68580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Passive Convection Heating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998C07-EC54-46F3-B5C1-984635D09B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2015641"/>
            <a:ext cx="91440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House Pictures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38916" name="Picture 4" descr="100_752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9938" y="1139825"/>
            <a:ext cx="7764462" cy="5175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Upwelling</a:t>
            </a:r>
          </a:p>
        </p:txBody>
      </p:sp>
      <p:pic>
        <p:nvPicPr>
          <p:cNvPr id="39939" name="Picture 4" descr="300px-GoldenMedow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3463" y="1549400"/>
            <a:ext cx="3810000" cy="2857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9940" name="AutoShape 6"/>
          <p:cNvSpPr>
            <a:spLocks noChangeArrowheads="1"/>
          </p:cNvSpPr>
          <p:nvPr/>
        </p:nvSpPr>
        <p:spPr bwMode="auto">
          <a:xfrm rot="16666884" flipH="1">
            <a:off x="-454819" y="3496469"/>
            <a:ext cx="3062288" cy="977900"/>
          </a:xfrm>
          <a:prstGeom prst="curvedDownArrow">
            <a:avLst>
              <a:gd name="adj1" fmla="val 22819"/>
              <a:gd name="adj2" fmla="val 71850"/>
              <a:gd name="adj3" fmla="val 35051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9941" name="AutoShape 9"/>
          <p:cNvSpPr>
            <a:spLocks noChangeArrowheads="1"/>
          </p:cNvSpPr>
          <p:nvPr/>
        </p:nvSpPr>
        <p:spPr bwMode="auto">
          <a:xfrm rot="16666884" flipV="1">
            <a:off x="815181" y="3490119"/>
            <a:ext cx="3062288" cy="977900"/>
          </a:xfrm>
          <a:prstGeom prst="curvedDownArrow">
            <a:avLst>
              <a:gd name="adj1" fmla="val 22819"/>
              <a:gd name="adj2" fmla="val 71850"/>
              <a:gd name="adj3" fmla="val 35051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9942" name="AutoShape 10"/>
          <p:cNvSpPr>
            <a:spLocks noChangeArrowheads="1"/>
          </p:cNvSpPr>
          <p:nvPr/>
        </p:nvSpPr>
        <p:spPr bwMode="auto">
          <a:xfrm rot="4933116" flipH="1" flipV="1">
            <a:off x="2013744" y="3453607"/>
            <a:ext cx="3062287" cy="977900"/>
          </a:xfrm>
          <a:prstGeom prst="curvedDownArrow">
            <a:avLst>
              <a:gd name="adj1" fmla="val 22819"/>
              <a:gd name="adj2" fmla="val 71850"/>
              <a:gd name="adj3" fmla="val 35051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9943" name="AutoShape 11"/>
          <p:cNvSpPr>
            <a:spLocks noChangeArrowheads="1"/>
          </p:cNvSpPr>
          <p:nvPr/>
        </p:nvSpPr>
        <p:spPr bwMode="auto">
          <a:xfrm rot="4933116">
            <a:off x="3225006" y="3532982"/>
            <a:ext cx="3062287" cy="977900"/>
          </a:xfrm>
          <a:prstGeom prst="curvedDownArrow">
            <a:avLst>
              <a:gd name="adj1" fmla="val 22819"/>
              <a:gd name="adj2" fmla="val 71850"/>
              <a:gd name="adj3" fmla="val 35051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Radiation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Radiation does not require physical contact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All objects radiate energy continuously in the form of electromagnetic waves due to thermal vibrations of the molecules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Rate of radiation is given by </a:t>
            </a:r>
            <a:r>
              <a:rPr lang="en-US" i="1"/>
              <a:t>Stefan’s Law</a:t>
            </a:r>
            <a:endParaRPr lang="en-US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Radiation example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85800" y="3767138"/>
            <a:ext cx="7772400" cy="2438400"/>
          </a:xfrm>
        </p:spPr>
        <p:txBody>
          <a:bodyPr/>
          <a:lstStyle/>
          <a:p>
            <a:pPr eaLnBrk="1" hangingPunct="1"/>
            <a:r>
              <a:rPr lang="en-US" sz="2800"/>
              <a:t>The electromagnetic waves carry the energy from the fire to the hands</a:t>
            </a:r>
          </a:p>
          <a:p>
            <a:pPr eaLnBrk="1" hangingPunct="1"/>
            <a:r>
              <a:rPr lang="en-US" sz="2800"/>
              <a:t>No physical contact is necessary</a:t>
            </a:r>
          </a:p>
          <a:p>
            <a:pPr eaLnBrk="1" hangingPunct="1"/>
            <a:r>
              <a:rPr lang="en-US" sz="2800"/>
              <a:t>Cannot be accounted for by conduction or convection</a:t>
            </a:r>
          </a:p>
        </p:txBody>
      </p:sp>
      <p:pic>
        <p:nvPicPr>
          <p:cNvPr id="41988" name="Picture 4" descr="1112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2695575" y="1381125"/>
            <a:ext cx="3752850" cy="2179638"/>
          </a:xfrm>
          <a:noFill/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Radiation equation</a:t>
            </a:r>
          </a:p>
        </p:txBody>
      </p:sp>
      <p:sp>
        <p:nvSpPr>
          <p:cNvPr id="819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 </a:t>
            </a:r>
          </a:p>
          <a:p>
            <a:pPr lvl="1" eaLnBrk="1" hangingPunct="1"/>
            <a:r>
              <a:rPr lang="en-US"/>
              <a:t>The power is the rate of energy transfer, in Watts</a:t>
            </a:r>
          </a:p>
          <a:p>
            <a:pPr lvl="1" eaLnBrk="1" hangingPunct="1"/>
            <a:r>
              <a:rPr lang="en-US"/>
              <a:t>σ = 5.6696 x 10</a:t>
            </a:r>
            <a:r>
              <a:rPr lang="en-US" baseline="30000"/>
              <a:t>-8</a:t>
            </a:r>
            <a:r>
              <a:rPr lang="en-US"/>
              <a:t> W/m</a:t>
            </a:r>
            <a:r>
              <a:rPr lang="en-US" baseline="30000"/>
              <a:t>2.</a:t>
            </a:r>
            <a:r>
              <a:rPr lang="en-US"/>
              <a:t>K</a:t>
            </a:r>
            <a:r>
              <a:rPr lang="en-US" baseline="30000"/>
              <a:t>4</a:t>
            </a:r>
            <a:endParaRPr lang="en-US"/>
          </a:p>
          <a:p>
            <a:pPr lvl="1" eaLnBrk="1" hangingPunct="1"/>
            <a:r>
              <a:rPr lang="en-US"/>
              <a:t>A is the surface area of the object</a:t>
            </a:r>
          </a:p>
          <a:p>
            <a:pPr lvl="1" eaLnBrk="1" hangingPunct="1"/>
            <a:r>
              <a:rPr lang="en-US"/>
              <a:t>e is a constant called the </a:t>
            </a:r>
            <a:r>
              <a:rPr lang="en-US" i="1"/>
              <a:t>emissivity</a:t>
            </a:r>
            <a:endParaRPr lang="en-US"/>
          </a:p>
          <a:p>
            <a:pPr lvl="2" eaLnBrk="1" hangingPunct="1"/>
            <a:r>
              <a:rPr lang="en-US"/>
              <a:t>e varies from 0 to 1</a:t>
            </a:r>
          </a:p>
          <a:p>
            <a:pPr lvl="1" eaLnBrk="1" hangingPunct="1"/>
            <a:r>
              <a:rPr lang="en-US"/>
              <a:t>T is the temperature in Kelvins</a:t>
            </a:r>
          </a:p>
        </p:txBody>
      </p:sp>
      <p:graphicFrame>
        <p:nvGraphicFramePr>
          <p:cNvPr id="8194" name="Object 4"/>
          <p:cNvGraphicFramePr>
            <a:graphicFrameLocks noChangeAspect="1"/>
          </p:cNvGraphicFramePr>
          <p:nvPr/>
        </p:nvGraphicFramePr>
        <p:xfrm>
          <a:off x="3355975" y="1397000"/>
          <a:ext cx="2679700" cy="777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320" imgH="228600" progId="Equation.DSMT4">
                  <p:embed/>
                </p:oleObj>
              </mc:Choice>
              <mc:Fallback>
                <p:oleObj name="Equation" r:id="rId2" imgW="787320" imgH="228600" progId="Equation.DSMT4">
                  <p:embed/>
                  <p:pic>
                    <p:nvPicPr>
                      <p:cNvPr id="819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5975" y="1397000"/>
                        <a:ext cx="2679700" cy="777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-71438"/>
            <a:ext cx="6477000" cy="1143001"/>
          </a:xfrm>
        </p:spPr>
        <p:txBody>
          <a:bodyPr/>
          <a:lstStyle/>
          <a:p>
            <a:pPr eaLnBrk="1" hangingPunct="1"/>
            <a:r>
              <a:rPr lang="en-US" sz="2800"/>
              <a:t>Energy Absorption and  Emission by Radiation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With its surroundings, the rate at which the object at temperature T with surroundings at T</a:t>
            </a:r>
            <a:r>
              <a:rPr lang="en-US" baseline="-25000" dirty="0"/>
              <a:t>o</a:t>
            </a:r>
            <a:r>
              <a:rPr lang="en-US" dirty="0"/>
              <a:t> radiates is</a:t>
            </a:r>
          </a:p>
          <a:p>
            <a:pPr lvl="1" eaLnBrk="1" hangingPunct="1"/>
            <a:r>
              <a:rPr lang="en-US" dirty="0"/>
              <a:t> </a:t>
            </a:r>
          </a:p>
          <a:p>
            <a:pPr lvl="1" eaLnBrk="1" hangingPunct="1"/>
            <a:r>
              <a:rPr lang="en-US" dirty="0"/>
              <a:t>When an object is in equilibrium with its surroundings, it radiates and absorbs at the same rate</a:t>
            </a:r>
          </a:p>
          <a:p>
            <a:pPr lvl="2" eaLnBrk="1" hangingPunct="1"/>
            <a:r>
              <a:rPr lang="en-US" dirty="0"/>
              <a:t>Its temperature will not change</a:t>
            </a:r>
          </a:p>
        </p:txBody>
      </p:sp>
      <p:graphicFrame>
        <p:nvGraphicFramePr>
          <p:cNvPr id="9218" name="Object 4"/>
          <p:cNvGraphicFramePr>
            <a:graphicFrameLocks noChangeAspect="1"/>
          </p:cNvGraphicFramePr>
          <p:nvPr/>
        </p:nvGraphicFramePr>
        <p:xfrm>
          <a:off x="1981200" y="3098800"/>
          <a:ext cx="3581400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279360" progId="Equation.DSMT4">
                  <p:embed/>
                </p:oleObj>
              </mc:Choice>
              <mc:Fallback>
                <p:oleObj name="Equation" r:id="rId2" imgW="1485720" imgH="279360" progId="Equation.DSMT4">
                  <p:embed/>
                  <p:pic>
                    <p:nvPicPr>
                      <p:cNvPr id="921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1200" y="3098800"/>
                        <a:ext cx="3581400" cy="673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Ideal Absorbers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An </a:t>
            </a:r>
            <a:r>
              <a:rPr lang="en-US" i="1"/>
              <a:t>ideal absorber</a:t>
            </a:r>
            <a:r>
              <a:rPr lang="en-US"/>
              <a:t> is defined as an object that absorbs all of the energy incident on it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e = 1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This type of object is called a </a:t>
            </a:r>
            <a:r>
              <a:rPr lang="en-US" i="1"/>
              <a:t>black body</a:t>
            </a:r>
            <a:endParaRPr lang="en-US"/>
          </a:p>
          <a:p>
            <a:pPr eaLnBrk="1" hangingPunct="1">
              <a:lnSpc>
                <a:spcPct val="90000"/>
              </a:lnSpc>
            </a:pPr>
            <a:r>
              <a:rPr lang="en-US"/>
              <a:t>An ideal absorber is also an ideal radiator of energy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Ideal Reflector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An ideal reflector absorbs none of the energy incident on it</a:t>
            </a:r>
          </a:p>
          <a:p>
            <a:pPr lvl="1" eaLnBrk="1" hangingPunct="1"/>
            <a:r>
              <a:rPr lang="en-US"/>
              <a:t>e = 0</a:t>
            </a:r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Applications of Radiation</a:t>
            </a:r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Clothing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Black fabric acts as a good absorber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White fabric is a better reflector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Thermography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The amount of energy radiated by an object can be measured with a thermograph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Body temperature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Radiation thermometer measures the intensity of the infrared radiation from the eardrum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Resisting Energy Transfer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2400" y="914400"/>
            <a:ext cx="8153400" cy="4535487"/>
          </a:xfrm>
        </p:spPr>
        <p:txBody>
          <a:bodyPr/>
          <a:lstStyle/>
          <a:p>
            <a:pPr eaLnBrk="1" hangingPunct="1"/>
            <a:r>
              <a:rPr lang="en-US" sz="2400" dirty="0"/>
              <a:t>Dewar flask/thermos bottle</a:t>
            </a:r>
          </a:p>
          <a:p>
            <a:pPr eaLnBrk="1" hangingPunct="1"/>
            <a:r>
              <a:rPr lang="en-US" sz="2400" dirty="0"/>
              <a:t>Designed to minimize energy transfer to surroundings</a:t>
            </a:r>
          </a:p>
          <a:p>
            <a:pPr eaLnBrk="1" hangingPunct="1"/>
            <a:r>
              <a:rPr lang="en-US" sz="2400" dirty="0"/>
              <a:t>Space between walls is evacuated to minimize conduction and convection</a:t>
            </a:r>
          </a:p>
          <a:p>
            <a:pPr eaLnBrk="1" hangingPunct="1"/>
            <a:r>
              <a:rPr lang="en-US" sz="2400" dirty="0"/>
              <a:t>Silvered surface minimizes radiation</a:t>
            </a:r>
          </a:p>
          <a:p>
            <a:pPr eaLnBrk="1" hangingPunct="1"/>
            <a:r>
              <a:rPr lang="en-US" sz="2400" dirty="0"/>
              <a:t>Neck size is reduced</a:t>
            </a:r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9400" y="3581400"/>
            <a:ext cx="5765032" cy="312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Radiation Example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746500" cy="4525963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 sz="2000"/>
              <a:t>Developed by the Air Force, the so-called "</a:t>
            </a:r>
            <a:r>
              <a:rPr lang="en-US" sz="2000">
                <a:hlinkClick r:id="rId2"/>
              </a:rPr>
              <a:t>Active Denial System</a:t>
            </a:r>
            <a:r>
              <a:rPr lang="en-US" sz="2000"/>
              <a:t>" (ADS) fires out milimeter waves -- a sort of cousin of microwaves, in the 95 GHz range. The invisible beams penetrate just a 64th of inch beneath the skin. But that's deep enough to heat up the water inside a person. Which is enough to cause excruciating pain. </a:t>
            </a:r>
          </a:p>
        </p:txBody>
      </p:sp>
      <p:sp>
        <p:nvSpPr>
          <p:cNvPr id="47108" name="Rectangle 4"/>
          <p:cNvSpPr>
            <a:spLocks noChangeArrowheads="1"/>
          </p:cNvSpPr>
          <p:nvPr/>
        </p:nvSpPr>
        <p:spPr bwMode="auto">
          <a:xfrm>
            <a:off x="1749425" y="5595938"/>
            <a:ext cx="51879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http://www.defensetech.org/archives/002035.html</a:t>
            </a:r>
          </a:p>
        </p:txBody>
      </p:sp>
      <p:pic>
        <p:nvPicPr>
          <p:cNvPr id="47109" name="Picture 5" descr="active_denial_system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00675" y="1681163"/>
            <a:ext cx="2838450" cy="3267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Global Warming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42913" y="1339850"/>
            <a:ext cx="8229600" cy="4525963"/>
          </a:xfrm>
        </p:spPr>
        <p:txBody>
          <a:bodyPr/>
          <a:lstStyle/>
          <a:p>
            <a:pPr eaLnBrk="1" hangingPunct="1"/>
            <a:r>
              <a:rPr lang="en-US" sz="2800"/>
              <a:t>Greenhouse example</a:t>
            </a:r>
          </a:p>
          <a:p>
            <a:pPr lvl="1" eaLnBrk="1" hangingPunct="1"/>
            <a:r>
              <a:rPr lang="en-US" sz="2400"/>
              <a:t>Visible light is absorbed and re-emitted as infrared radiation</a:t>
            </a:r>
          </a:p>
          <a:p>
            <a:pPr lvl="1" eaLnBrk="1" hangingPunct="1"/>
            <a:r>
              <a:rPr lang="en-US" sz="2400"/>
              <a:t>Convection currents are inhibited by the glass</a:t>
            </a:r>
          </a:p>
          <a:p>
            <a:pPr eaLnBrk="1" hangingPunct="1"/>
            <a:r>
              <a:rPr lang="en-US" sz="2800"/>
              <a:t>Earth’s atmosphere is also a good transmitter of visible light and a good absorber of infrared radiation</a:t>
            </a:r>
          </a:p>
          <a:p>
            <a:pPr eaLnBrk="1" hangingPunct="1"/>
            <a:r>
              <a:rPr lang="en-US" sz="2800"/>
              <a:t>The Earth’s radiation budget (whether we have a positive or negative amount of energy transfer is hotly debated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123.13.5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172" y="1280886"/>
            <a:ext cx="5080000" cy="4525963"/>
          </a:xfrm>
        </p:spPr>
        <p:txBody>
          <a:bodyPr/>
          <a:lstStyle/>
          <a:p>
            <a:pPr>
              <a:buNone/>
            </a:pPr>
            <a:r>
              <a:rPr lang="en-US" sz="2000" dirty="0"/>
              <a:t>You go outside on a cold spring morning in Rexburg. You see a leaf in the snow</a:t>
            </a:r>
          </a:p>
          <a:p>
            <a:pPr>
              <a:buNone/>
            </a:pPr>
            <a:r>
              <a:rPr lang="en-US" sz="2000" dirty="0"/>
              <a:t>The leaf seems to have sunk in the snow. What is the most likely reason for this?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The leaf is very massive so the force of gravity pulls it through the snow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The leaf has a different emissivity than the snow, so it absorbs more radiation from the sun, the temperature of the leaf rises and it melts the snow around it.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There was a very carful dog that stepped on the leaf, smashing it into the snow.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142</a:t>
            </a:fld>
            <a:endParaRPr lang="en-US"/>
          </a:p>
        </p:txBody>
      </p:sp>
      <p:pic>
        <p:nvPicPr>
          <p:cNvPr id="512002" name="Picture 2" descr="c:\Users\rtlines\Pictures\Leaf in Snow\100_8557.JPG"/>
          <p:cNvPicPr>
            <a:picLocks noChangeAspect="1" noChangeArrowheads="1"/>
          </p:cNvPicPr>
          <p:nvPr/>
        </p:nvPicPr>
        <p:blipFill>
          <a:blip r:embed="rId2" cstate="print"/>
          <a:srcRect l="33275" r="23791" b="22173"/>
          <a:stretch>
            <a:fillRect/>
          </a:stretch>
        </p:blipFill>
        <p:spPr bwMode="auto">
          <a:xfrm>
            <a:off x="5152572" y="1394052"/>
            <a:ext cx="3686628" cy="445520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2664562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2" descr="c:\Users\rtlines\Pictures\Leaf in Snow\100_8557.JPG"/>
          <p:cNvPicPr>
            <a:picLocks noChangeAspect="1" noChangeArrowheads="1"/>
          </p:cNvPicPr>
          <p:nvPr/>
        </p:nvPicPr>
        <p:blipFill>
          <a:blip r:embed="rId2" cstate="print"/>
          <a:srcRect l="33275" t="3879" r="23791" b="22173"/>
          <a:stretch>
            <a:fillRect/>
          </a:stretch>
        </p:blipFill>
        <p:spPr bwMode="auto">
          <a:xfrm>
            <a:off x="1143000" y="0"/>
            <a:ext cx="5972563" cy="6858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1222</TotalTime>
  <Words>3879</Words>
  <Application>Microsoft Office PowerPoint</Application>
  <PresentationFormat>On-screen Show (4:3)</PresentationFormat>
  <Paragraphs>724</Paragraphs>
  <Slides>143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143</vt:i4>
      </vt:variant>
    </vt:vector>
  </HeadingPairs>
  <TitlesOfParts>
    <vt:vector size="152" baseType="lpstr">
      <vt:lpstr>Arial</vt:lpstr>
      <vt:lpstr>Calibri</vt:lpstr>
      <vt:lpstr>Cambria Math</vt:lpstr>
      <vt:lpstr>Symbol</vt:lpstr>
      <vt:lpstr>Times New Roman</vt:lpstr>
      <vt:lpstr>Wingdings</vt:lpstr>
      <vt:lpstr>Office Theme</vt:lpstr>
      <vt:lpstr>Equation</vt:lpstr>
      <vt:lpstr>Photo Editor Photo</vt:lpstr>
      <vt:lpstr>Lecture 28</vt:lpstr>
      <vt:lpstr>PowerPoint Presentation</vt:lpstr>
      <vt:lpstr>Question 123.11.1</vt:lpstr>
      <vt:lpstr>Question 123.11.2</vt:lpstr>
      <vt:lpstr>Internal Energy</vt:lpstr>
      <vt:lpstr>Review Center of Mass</vt:lpstr>
      <vt:lpstr>Energy Transfer</vt:lpstr>
      <vt:lpstr>Heat Compared to Internal Energy</vt:lpstr>
      <vt:lpstr>Heat</vt:lpstr>
      <vt:lpstr>Units of Heat</vt:lpstr>
      <vt:lpstr>Units of Heat, cont.</vt:lpstr>
      <vt:lpstr>James Prescott Joule</vt:lpstr>
      <vt:lpstr>PowerPoint Presentation</vt:lpstr>
      <vt:lpstr>PowerPoint Presentation</vt:lpstr>
      <vt:lpstr>PowerPoint Presentation</vt:lpstr>
      <vt:lpstr>PowerPoint Presentation</vt:lpstr>
      <vt:lpstr>Specific Heat</vt:lpstr>
      <vt:lpstr>Specific Heat</vt:lpstr>
      <vt:lpstr>PowerPoint Presentation</vt:lpstr>
      <vt:lpstr>Units of Specific Heat</vt:lpstr>
      <vt:lpstr>Heat and Specific Heat</vt:lpstr>
      <vt:lpstr>A Consequence of Different Specific Heats</vt:lpstr>
      <vt:lpstr>PowerPoint Presentation</vt:lpstr>
      <vt:lpstr>Question 123.12.2</vt:lpstr>
      <vt:lpstr>PowerPoint Presentation</vt:lpstr>
      <vt:lpstr>Question 123.8.11</vt:lpstr>
      <vt:lpstr>PowerPoint Presentation</vt:lpstr>
      <vt:lpstr>PowerPoint Presentation</vt:lpstr>
      <vt:lpstr>Question 123.8.11</vt:lpstr>
      <vt:lpstr>Question 123.8.11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PowerPoint Presentation</vt:lpstr>
      <vt:lpstr>Question 123.12.1.1</vt:lpstr>
      <vt:lpstr>Heating Ice</vt:lpstr>
      <vt:lpstr>Graph of Ice to Steam</vt:lpstr>
      <vt:lpstr>Calorimeter</vt:lpstr>
      <vt:lpstr>Calorimetry</vt:lpstr>
      <vt:lpstr>Calorimeter</vt:lpstr>
      <vt:lpstr>Calorimetry</vt:lpstr>
      <vt:lpstr>Calorimetry</vt:lpstr>
      <vt:lpstr>Mixture Example</vt:lpstr>
      <vt:lpstr>Mixture Example</vt:lpstr>
      <vt:lpstr>Question 123.12.1.1</vt:lpstr>
      <vt:lpstr>END</vt:lpstr>
      <vt:lpstr>PowerPoint Presentation</vt:lpstr>
      <vt:lpstr>PowerPoint Presentation</vt:lpstr>
      <vt:lpstr>PowerPoint Presentation</vt:lpstr>
      <vt:lpstr>Specific Heat</vt:lpstr>
      <vt:lpstr>Units of Specific Heat</vt:lpstr>
      <vt:lpstr>PowerPoint Presentation</vt:lpstr>
      <vt:lpstr>Heat and Specific Heat</vt:lpstr>
      <vt:lpstr>A Consequence of Different Specific Heats</vt:lpstr>
      <vt:lpstr>Question 123.12.2</vt:lpstr>
      <vt:lpstr>Heating Ice</vt:lpstr>
      <vt:lpstr>Graph of Ice to Steam</vt:lpstr>
      <vt:lpstr>20.3 Latent Heat</vt:lpstr>
      <vt:lpstr>Phase Changes</vt:lpstr>
      <vt:lpstr>Latent Heat</vt:lpstr>
      <vt:lpstr>Phase Changes Latent Heat</vt:lpstr>
      <vt:lpstr>Latent Heat, cont.</vt:lpstr>
      <vt:lpstr>T vs. Q Graphs</vt:lpstr>
      <vt:lpstr>PowerPoint Presentation</vt:lpstr>
      <vt:lpstr>Graph of Ice to Steam</vt:lpstr>
      <vt:lpstr>Warming Ice</vt:lpstr>
      <vt:lpstr>Melting Ice</vt:lpstr>
      <vt:lpstr>Warming Water</vt:lpstr>
      <vt:lpstr>Question 123.12.3</vt:lpstr>
      <vt:lpstr>Boiling Water</vt:lpstr>
      <vt:lpstr>Heating Steam</vt:lpstr>
      <vt:lpstr>Question 123.12.4</vt:lpstr>
      <vt:lpstr>Question 123.12.5</vt:lpstr>
      <vt:lpstr>Problem Solving Strategies</vt:lpstr>
      <vt:lpstr>Problem Solving Strategies, cont</vt:lpstr>
      <vt:lpstr>Calorimeter</vt:lpstr>
      <vt:lpstr>Calorimetry</vt:lpstr>
      <vt:lpstr>Calorimeter</vt:lpstr>
      <vt:lpstr>Calorimetry</vt:lpstr>
      <vt:lpstr>Calorimetry</vt:lpstr>
      <vt:lpstr>Mixture Example</vt:lpstr>
      <vt:lpstr>Mixture Example</vt:lpstr>
      <vt:lpstr>Calorimeter</vt:lpstr>
      <vt:lpstr>End</vt:lpstr>
      <vt:lpstr>Question 123.8.11</vt:lpstr>
      <vt:lpstr>PowerPoint Presentation</vt:lpstr>
      <vt:lpstr>PowerPoint Presentation</vt:lpstr>
      <vt:lpstr>PowerPoint Presentation</vt:lpstr>
      <vt:lpstr>Question 123.8.11</vt:lpstr>
      <vt:lpstr>Question 123.8.11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Question 123.8.12</vt:lpstr>
      <vt:lpstr>PowerPoint Presentation</vt:lpstr>
      <vt:lpstr>Question 123.13.1</vt:lpstr>
      <vt:lpstr>Question 123.13.2</vt:lpstr>
      <vt:lpstr>Question 123.13.2.1</vt:lpstr>
      <vt:lpstr>Question 123.13.2.2</vt:lpstr>
      <vt:lpstr>PowerPoint Presentation</vt:lpstr>
      <vt:lpstr>PowerPoint Presentation</vt:lpstr>
      <vt:lpstr>PowerPoint Presentation</vt:lpstr>
      <vt:lpstr>Question 123.13.3</vt:lpstr>
      <vt:lpstr>Question 123.13.4</vt:lpstr>
      <vt:lpstr>Energy Transfer Mechanisms</vt:lpstr>
      <vt:lpstr>Methods of Heat Transfer</vt:lpstr>
      <vt:lpstr>Conduction</vt:lpstr>
      <vt:lpstr>Conduction example</vt:lpstr>
      <vt:lpstr>Conduction, cont.</vt:lpstr>
      <vt:lpstr>Conduction, equation</vt:lpstr>
      <vt:lpstr>Conduction, equation explanation</vt:lpstr>
      <vt:lpstr>Home Insulation</vt:lpstr>
      <vt:lpstr>Multiple Materials, cont.</vt:lpstr>
      <vt:lpstr>Convection</vt:lpstr>
      <vt:lpstr>Convection example</vt:lpstr>
      <vt:lpstr>Convection applications</vt:lpstr>
      <vt:lpstr>Convection Current Example</vt:lpstr>
      <vt:lpstr>Passive Convection Heating</vt:lpstr>
      <vt:lpstr>House Pictures</vt:lpstr>
      <vt:lpstr>Upwelling</vt:lpstr>
      <vt:lpstr>Radiation</vt:lpstr>
      <vt:lpstr>Radiation example</vt:lpstr>
      <vt:lpstr>Radiation equation</vt:lpstr>
      <vt:lpstr>Energy Absorption and  Emission by Radiation</vt:lpstr>
      <vt:lpstr>Ideal Absorbers</vt:lpstr>
      <vt:lpstr>Ideal Reflector</vt:lpstr>
      <vt:lpstr>Applications of Radiation</vt:lpstr>
      <vt:lpstr>Resisting Energy Transfer</vt:lpstr>
      <vt:lpstr>Radiation Example</vt:lpstr>
      <vt:lpstr>Global Warming</vt:lpstr>
      <vt:lpstr>Question 123.13.5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Todd Lines</cp:lastModifiedBy>
  <cp:revision>21</cp:revision>
  <dcterms:created xsi:type="dcterms:W3CDTF">2011-10-01T16:15:59Z</dcterms:created>
  <dcterms:modified xsi:type="dcterms:W3CDTF">2026-08-26T21:47:27Z</dcterms:modified>
</cp:coreProperties>
</file>