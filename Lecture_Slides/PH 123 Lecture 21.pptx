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5"/>
  </p:notesMasterIdLst>
  <p:sldIdLst>
    <p:sldId id="256" r:id="rId2"/>
    <p:sldId id="1360" r:id="rId3"/>
    <p:sldId id="305" r:id="rId4"/>
    <p:sldId id="306" r:id="rId5"/>
    <p:sldId id="1375" r:id="rId6"/>
    <p:sldId id="307" r:id="rId7"/>
    <p:sldId id="308" r:id="rId8"/>
    <p:sldId id="1362" r:id="rId9"/>
    <p:sldId id="1363" r:id="rId10"/>
    <p:sldId id="1376" r:id="rId11"/>
    <p:sldId id="1364" r:id="rId12"/>
    <p:sldId id="1361" r:id="rId13"/>
    <p:sldId id="1222" r:id="rId14"/>
    <p:sldId id="1223" r:id="rId15"/>
    <p:sldId id="1365" r:id="rId16"/>
    <p:sldId id="1366" r:id="rId17"/>
    <p:sldId id="1367" r:id="rId18"/>
    <p:sldId id="1368" r:id="rId19"/>
    <p:sldId id="1369" r:id="rId20"/>
    <p:sldId id="1370" r:id="rId21"/>
    <p:sldId id="1371" r:id="rId22"/>
    <p:sldId id="299" r:id="rId23"/>
    <p:sldId id="261" r:id="rId24"/>
    <p:sldId id="300" r:id="rId25"/>
    <p:sldId id="259" r:id="rId26"/>
    <p:sldId id="301" r:id="rId27"/>
    <p:sldId id="302" r:id="rId28"/>
    <p:sldId id="303" r:id="rId29"/>
    <p:sldId id="304" r:id="rId30"/>
    <p:sldId id="1373" r:id="rId31"/>
    <p:sldId id="1374" r:id="rId32"/>
    <p:sldId id="282" r:id="rId33"/>
    <p:sldId id="280" r:id="rId34"/>
    <p:sldId id="273" r:id="rId35"/>
    <p:sldId id="274" r:id="rId36"/>
    <p:sldId id="271" r:id="rId37"/>
    <p:sldId id="257" r:id="rId38"/>
    <p:sldId id="258" r:id="rId39"/>
    <p:sldId id="270" r:id="rId40"/>
    <p:sldId id="281" r:id="rId41"/>
    <p:sldId id="275" r:id="rId42"/>
    <p:sldId id="276" r:id="rId43"/>
    <p:sldId id="263" r:id="rId44"/>
    <p:sldId id="264" r:id="rId45"/>
    <p:sldId id="265" r:id="rId46"/>
    <p:sldId id="266" r:id="rId47"/>
    <p:sldId id="267" r:id="rId48"/>
    <p:sldId id="268" r:id="rId49"/>
    <p:sldId id="269" r:id="rId50"/>
    <p:sldId id="277" r:id="rId51"/>
    <p:sldId id="278" r:id="rId52"/>
    <p:sldId id="279" r:id="rId53"/>
    <p:sldId id="272" r:id="rId5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5" d="100"/>
          <a:sy n="85" d="100"/>
        </p:scale>
        <p:origin x="1662"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delSld">
      <pc:chgData name="Lines, Todd" userId="afaf7c3a-e8aa-4568-882a-02ad8f9e19b0" providerId="ADAL" clId="{5FF5AC1B-ABA9-43D7-A1E3-2D92732CD6E2}" dt="2026-06-02T20:28:59.770" v="0" actId="47"/>
      <pc:docMkLst>
        <pc:docMk/>
      </pc:docMkLst>
      <pc:sldChg chg="del">
        <pc:chgData name="Lines, Todd" userId="afaf7c3a-e8aa-4568-882a-02ad8f9e19b0" providerId="ADAL" clId="{5FF5AC1B-ABA9-43D7-A1E3-2D92732CD6E2}" dt="2026-06-02T20:28:59.770" v="0" actId="47"/>
        <pc:sldMkLst>
          <pc:docMk/>
          <pc:sldMk cId="0" sldId="122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F921DA0-3959-400E-BCC9-610103B176CA}" type="datetimeFigureOut">
              <a:rPr lang="en-US" smtClean="0"/>
              <a:t>6/2/2026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7E8DE77-3AF9-4772-80F5-4325AB4CF642}" type="slidenum">
              <a:rPr lang="en-US" smtClean="0"/>
              <a:t>‹#›</a:t>
            </a:fld>
            <a:endParaRPr lang="en-US"/>
          </a:p>
        </p:txBody>
      </p:sp>
    </p:spTree>
    <p:extLst>
      <p:ext uri="{BB962C8B-B14F-4D97-AF65-F5344CB8AC3E}">
        <p14:creationId xmlns:p14="http://schemas.microsoft.com/office/powerpoint/2010/main" val="26156688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E7D45037-B36C-428B-80E4-B5F1332A92C9}" type="slidenum">
              <a:rPr lang="en-US" smtClean="0"/>
              <a:pPr/>
              <a:t>11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A42CD092-2F4B-4E60-96D4-3331B887203B}" type="datetimeFigureOut">
              <a:rPr lang="en-US" smtClean="0"/>
              <a:t>6/2/2026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42CD092-2F4B-4E60-96D4-3331B887203B}" type="datetimeFigureOut">
              <a:rPr lang="en-US" smtClean="0"/>
              <a:t>6/2/2026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2CD092-2F4B-4E60-96D4-3331B887203B}" type="datetimeFigureOut">
              <a:rPr lang="en-US" smtClean="0"/>
              <a:t>6/2/2026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42CD092-2F4B-4E60-96D4-3331B887203B}" type="datetimeFigureOut">
              <a:rPr lang="en-US" smtClean="0"/>
              <a:t>6/2/2026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42CD092-2F4B-4E60-96D4-3331B887203B}" type="datetimeFigureOut">
              <a:rPr lang="en-US" smtClean="0"/>
              <a:t>6/2/2026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42CD092-2F4B-4E60-96D4-3331B887203B}" type="datetimeFigureOut">
              <a:rPr lang="en-US" smtClean="0"/>
              <a:t>6/2/2026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42CD092-2F4B-4E60-96D4-3331B887203B}" type="datetimeFigureOut">
              <a:rPr lang="en-US" smtClean="0"/>
              <a:t>6/2/2026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42CD092-2F4B-4E60-96D4-3331B887203B}" type="datetimeFigureOut">
              <a:rPr lang="en-US" smtClean="0"/>
              <a:t>6/2/2026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42CD092-2F4B-4E60-96D4-3331B887203B}" type="datetimeFigureOut">
              <a:rPr lang="en-US" smtClean="0"/>
              <a:t>6/2/2026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42CD092-2F4B-4E60-96D4-3331B887203B}" type="datetimeFigureOut">
              <a:rPr lang="en-US" smtClean="0"/>
              <a:t>6/2/2026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42CD092-2F4B-4E60-96D4-3331B887203B}" type="datetimeFigureOut">
              <a:rPr lang="en-US" smtClean="0"/>
              <a:t>6/2/2026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46120B3-6C5C-4910-8C56-FF68C23C2D0B}"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r>
              <a:rPr lang="en-US"/>
              <a:t>Winter 2007</a:t>
            </a:r>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81DBAEE0-9797-46AF-A754-9F96C666F796}"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42CD092-2F4B-4E60-96D4-3331B887203B}" type="datetimeFigureOut">
              <a:rPr lang="en-US" smtClean="0"/>
              <a:t>6/2/2026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6120B3-6C5C-4910-8C56-FF68C23C2D0B}"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gif"/><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Layout" Target="../slideLayouts/slideLayout7.xml"/><Relationship Id="rId5" Type="http://schemas.openxmlformats.org/officeDocument/2006/relationships/image" Target="../media/image15.jpeg"/><Relationship Id="rId4" Type="http://schemas.openxmlformats.org/officeDocument/2006/relationships/image" Target="../media/image14.jpe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oleObject" Target="../embeddings/oleObject1.bin"/><Relationship Id="rId1" Type="http://schemas.openxmlformats.org/officeDocument/2006/relationships/slideLayout" Target="../slideLayouts/slideLayout12.xml"/><Relationship Id="rId5" Type="http://schemas.openxmlformats.org/officeDocument/2006/relationships/image" Target="../media/image18.wmf"/><Relationship Id="rId4" Type="http://schemas.openxmlformats.org/officeDocument/2006/relationships/oleObject" Target="../embeddings/oleObject2.bin"/></Relationships>
</file>

<file path=ppt/slides/_rels/slide38.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oleObject" Target="../embeddings/oleObject3.bin"/><Relationship Id="rId1" Type="http://schemas.openxmlformats.org/officeDocument/2006/relationships/slideLayout" Target="../slideLayouts/slideLayout12.xml"/><Relationship Id="rId5" Type="http://schemas.openxmlformats.org/officeDocument/2006/relationships/image" Target="../media/image19.wmf"/><Relationship Id="rId4" Type="http://schemas.openxmlformats.org/officeDocument/2006/relationships/oleObject" Target="../embeddings/oleObject4.bin"/></Relationships>
</file>

<file path=ppt/slides/_rels/slide3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oleObject" Target="../embeddings/oleObject5.bin"/><Relationship Id="rId1" Type="http://schemas.openxmlformats.org/officeDocument/2006/relationships/slideLayout" Target="../slideLayouts/slideLayout2.xml"/><Relationship Id="rId5" Type="http://schemas.openxmlformats.org/officeDocument/2006/relationships/image" Target="../media/image21.wmf"/><Relationship Id="rId4" Type="http://schemas.openxmlformats.org/officeDocument/2006/relationships/oleObject" Target="../embeddings/oleObject6.bin"/></Relationships>
</file>

<file path=ppt/slides/_rels/slide46.xml.rels><?xml version="1.0" encoding="UTF-8" standalone="yes"?>
<Relationships xmlns="http://schemas.openxmlformats.org/package/2006/relationships"><Relationship Id="rId3" Type="http://schemas.openxmlformats.org/officeDocument/2006/relationships/image" Target="../media/image22.wmf"/><Relationship Id="rId7" Type="http://schemas.openxmlformats.org/officeDocument/2006/relationships/image" Target="../media/image24.wmf"/><Relationship Id="rId2" Type="http://schemas.openxmlformats.org/officeDocument/2006/relationships/oleObject" Target="../embeddings/oleObject7.bin"/><Relationship Id="rId1" Type="http://schemas.openxmlformats.org/officeDocument/2006/relationships/slideLayout" Target="../slideLayouts/slideLayout2.xml"/><Relationship Id="rId6" Type="http://schemas.openxmlformats.org/officeDocument/2006/relationships/oleObject" Target="../embeddings/oleObject9.bin"/><Relationship Id="rId5" Type="http://schemas.openxmlformats.org/officeDocument/2006/relationships/image" Target="../media/image23.wmf"/><Relationship Id="rId4" Type="http://schemas.openxmlformats.org/officeDocument/2006/relationships/oleObject" Target="../embeddings/oleObject8.bin"/></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8" Type="http://schemas.openxmlformats.org/officeDocument/2006/relationships/oleObject" Target="../embeddings/oleObject13.bin"/><Relationship Id="rId3" Type="http://schemas.openxmlformats.org/officeDocument/2006/relationships/image" Target="../media/image25.wmf"/><Relationship Id="rId7" Type="http://schemas.openxmlformats.org/officeDocument/2006/relationships/image" Target="../media/image27.wmf"/><Relationship Id="rId2" Type="http://schemas.openxmlformats.org/officeDocument/2006/relationships/oleObject" Target="../embeddings/oleObject10.bin"/><Relationship Id="rId1" Type="http://schemas.openxmlformats.org/officeDocument/2006/relationships/slideLayout" Target="../slideLayouts/slideLayout2.xml"/><Relationship Id="rId6" Type="http://schemas.openxmlformats.org/officeDocument/2006/relationships/oleObject" Target="../embeddings/oleObject12.bin"/><Relationship Id="rId11" Type="http://schemas.openxmlformats.org/officeDocument/2006/relationships/image" Target="../media/image29.wmf"/><Relationship Id="rId5" Type="http://schemas.openxmlformats.org/officeDocument/2006/relationships/image" Target="../media/image26.wmf"/><Relationship Id="rId10" Type="http://schemas.openxmlformats.org/officeDocument/2006/relationships/oleObject" Target="../embeddings/oleObject14.bin"/><Relationship Id="rId4" Type="http://schemas.openxmlformats.org/officeDocument/2006/relationships/oleObject" Target="../embeddings/oleObject11.bin"/><Relationship Id="rId9" Type="http://schemas.openxmlformats.org/officeDocument/2006/relationships/image" Target="../media/image28.wmf"/></Relationships>
</file>

<file path=ppt/slides/_rels/slide4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Lecture 21</a:t>
            </a:r>
          </a:p>
        </p:txBody>
      </p:sp>
      <p:sp>
        <p:nvSpPr>
          <p:cNvPr id="3" name="Subtitle 2"/>
          <p:cNvSpPr>
            <a:spLocks noGrp="1"/>
          </p:cNvSpPr>
          <p:nvPr>
            <p:ph type="subTitle" idx="1"/>
          </p:nvPr>
        </p:nvSpPr>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1" name="Rectangle 2"/>
          <p:cNvSpPr>
            <a:spLocks noGrp="1" noChangeArrowheads="1"/>
          </p:cNvSpPr>
          <p:nvPr>
            <p:ph type="title"/>
          </p:nvPr>
        </p:nvSpPr>
        <p:spPr/>
        <p:txBody>
          <a:bodyPr/>
          <a:lstStyle/>
          <a:p>
            <a:r>
              <a:rPr lang="en-US" dirty="0"/>
              <a:t>Question 223.8.2</a:t>
            </a:r>
          </a:p>
        </p:txBody>
      </p:sp>
      <p:sp>
        <p:nvSpPr>
          <p:cNvPr id="191492" name="Rectangle 3"/>
          <p:cNvSpPr>
            <a:spLocks noGrp="1" noChangeArrowheads="1"/>
          </p:cNvSpPr>
          <p:nvPr>
            <p:ph idx="1"/>
          </p:nvPr>
        </p:nvSpPr>
        <p:spPr>
          <a:xfrm>
            <a:off x="457200" y="1600200"/>
            <a:ext cx="6782586" cy="4525963"/>
          </a:xfrm>
        </p:spPr>
        <p:txBody>
          <a:bodyPr>
            <a:normAutofit fontScale="92500" lnSpcReduction="20000"/>
          </a:bodyPr>
          <a:lstStyle/>
          <a:p>
            <a:pPr marL="609600" indent="-609600" eaLnBrk="1" hangingPunct="1">
              <a:buFontTx/>
              <a:buNone/>
            </a:pPr>
            <a:r>
              <a:rPr lang="en-US" dirty="0"/>
              <a:t>The thickness of the film is 2 wavelengths. Will rays 1 and 2 be in phase?</a:t>
            </a:r>
          </a:p>
          <a:p>
            <a:pPr marL="609600" indent="-609600" eaLnBrk="1" hangingPunct="1">
              <a:buFontTx/>
              <a:buNone/>
            </a:pPr>
            <a:endParaRPr lang="en-US" dirty="0"/>
          </a:p>
          <a:p>
            <a:pPr marL="609600" indent="-609600" eaLnBrk="1" hangingPunct="1">
              <a:buFontTx/>
              <a:buNone/>
            </a:pPr>
            <a:endParaRPr lang="en-US" dirty="0"/>
          </a:p>
          <a:p>
            <a:pPr marL="609600" indent="-609600" eaLnBrk="1" hangingPunct="1">
              <a:buFontTx/>
              <a:buNone/>
            </a:pPr>
            <a:endParaRPr lang="en-US" dirty="0"/>
          </a:p>
          <a:p>
            <a:pPr marL="609600" indent="-609600" eaLnBrk="1" hangingPunct="1">
              <a:buFontTx/>
              <a:buNone/>
            </a:pPr>
            <a:endParaRPr lang="en-US" dirty="0"/>
          </a:p>
          <a:p>
            <a:pPr marL="609600" indent="-609600" eaLnBrk="1" hangingPunct="1">
              <a:buFontTx/>
              <a:buNone/>
            </a:pPr>
            <a:endParaRPr lang="en-US" dirty="0"/>
          </a:p>
          <a:p>
            <a:pPr marL="609600" indent="-609600" eaLnBrk="1" hangingPunct="1">
              <a:buFontTx/>
              <a:buAutoNum type="alphaLcParenR"/>
            </a:pPr>
            <a:r>
              <a:rPr lang="en-US" dirty="0"/>
              <a:t>Yes</a:t>
            </a:r>
          </a:p>
          <a:p>
            <a:pPr marL="609600" indent="-609600" eaLnBrk="1" hangingPunct="1">
              <a:buFontTx/>
              <a:buAutoNum type="alphaLcParenR"/>
            </a:pPr>
            <a:r>
              <a:rPr lang="en-US" dirty="0"/>
              <a:t>No</a:t>
            </a:r>
          </a:p>
          <a:p>
            <a:pPr marL="609600" indent="-609600">
              <a:buFontTx/>
              <a:buAutoNum type="alphaLcParenR"/>
            </a:pPr>
            <a:r>
              <a:rPr lang="en-US" dirty="0"/>
              <a:t>Can’t tell with the information given</a:t>
            </a:r>
          </a:p>
          <a:p>
            <a:pPr marL="609600" indent="-609600" eaLnBrk="1" hangingPunct="1">
              <a:buFontTx/>
              <a:buAutoNum type="alphaLcParenR"/>
            </a:pPr>
            <a:endParaRPr lang="en-US" dirty="0"/>
          </a:p>
          <a:p>
            <a:pPr marL="609600" indent="-609600" eaLnBrk="1" hangingPunct="1">
              <a:buFontTx/>
              <a:buNone/>
            </a:pPr>
            <a:endParaRPr lang="en-US" dirty="0"/>
          </a:p>
        </p:txBody>
      </p:sp>
      <p:sp>
        <p:nvSpPr>
          <p:cNvPr id="191490" name="Slide Number Placeholder 5"/>
          <p:cNvSpPr>
            <a:spLocks noGrp="1"/>
          </p:cNvSpPr>
          <p:nvPr>
            <p:ph type="sldNum" sz="quarter" idx="12"/>
          </p:nvPr>
        </p:nvSpPr>
        <p:spPr>
          <a:noFill/>
        </p:spPr>
        <p:txBody>
          <a:bodyPr/>
          <a:lstStyle/>
          <a:p>
            <a:fld id="{E71E5971-AF74-4BE9-89AF-02A4D0FADC9F}" type="slidenum">
              <a:rPr lang="en-US" smtClean="0"/>
              <a:pPr/>
              <a:t>2</a:t>
            </a:fld>
            <a:endParaRPr lang="en-US"/>
          </a:p>
        </p:txBody>
      </p:sp>
      <p:sp>
        <p:nvSpPr>
          <p:cNvPr id="2" name="Rectangle 1">
            <a:extLst>
              <a:ext uri="{FF2B5EF4-FFF2-40B4-BE49-F238E27FC236}">
                <a16:creationId xmlns:a16="http://schemas.microsoft.com/office/drawing/2014/main" id="{1F4324B8-A9A5-CDCB-341E-51359BE464EB}"/>
              </a:ext>
            </a:extLst>
          </p:cNvPr>
          <p:cNvSpPr/>
          <p:nvPr/>
        </p:nvSpPr>
        <p:spPr>
          <a:xfrm>
            <a:off x="2333290" y="3918723"/>
            <a:ext cx="6522720" cy="1066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EF46662D-0CE2-0680-7849-A3231BFC1CCD}"/>
              </a:ext>
            </a:extLst>
          </p:cNvPr>
          <p:cNvSpPr/>
          <p:nvPr/>
        </p:nvSpPr>
        <p:spPr>
          <a:xfrm>
            <a:off x="2302810" y="3979683"/>
            <a:ext cx="6583680" cy="94488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Connector 3">
            <a:extLst>
              <a:ext uri="{FF2B5EF4-FFF2-40B4-BE49-F238E27FC236}">
                <a16:creationId xmlns:a16="http://schemas.microsoft.com/office/drawing/2014/main" id="{FB319D1A-186B-0716-CD09-BAABBBD5AD77}"/>
              </a:ext>
            </a:extLst>
          </p:cNvPr>
          <p:cNvCxnSpPr/>
          <p:nvPr/>
        </p:nvCxnSpPr>
        <p:spPr>
          <a:xfrm>
            <a:off x="3567730" y="2790963"/>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55FC132C-9A42-4D70-6E59-67E141DB86E4}"/>
              </a:ext>
            </a:extLst>
          </p:cNvPr>
          <p:cNvCxnSpPr/>
          <p:nvPr/>
        </p:nvCxnSpPr>
        <p:spPr>
          <a:xfrm>
            <a:off x="4497370" y="3918723"/>
            <a:ext cx="182880" cy="10363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8970DA6C-D52C-457C-9A41-E182D7B39642}"/>
              </a:ext>
            </a:extLst>
          </p:cNvPr>
          <p:cNvCxnSpPr/>
          <p:nvPr/>
        </p:nvCxnSpPr>
        <p:spPr>
          <a:xfrm flipH="1">
            <a:off x="4512610" y="2806203"/>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1D5A5FD0-5A7D-EC78-01D7-79B65620A537}"/>
              </a:ext>
            </a:extLst>
          </p:cNvPr>
          <p:cNvCxnSpPr/>
          <p:nvPr/>
        </p:nvCxnSpPr>
        <p:spPr>
          <a:xfrm flipH="1">
            <a:off x="4908850" y="2806203"/>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01A3ED3-4964-A9A9-C234-14EE6DFE8D1C}"/>
              </a:ext>
            </a:extLst>
          </p:cNvPr>
          <p:cNvCxnSpPr/>
          <p:nvPr/>
        </p:nvCxnSpPr>
        <p:spPr>
          <a:xfrm flipH="1">
            <a:off x="4710730" y="3933963"/>
            <a:ext cx="182880" cy="10363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Isosceles Triangle 8">
            <a:extLst>
              <a:ext uri="{FF2B5EF4-FFF2-40B4-BE49-F238E27FC236}">
                <a16:creationId xmlns:a16="http://schemas.microsoft.com/office/drawing/2014/main" id="{35E5A4D1-C3E0-16B0-9E39-71335F473E21}"/>
              </a:ext>
            </a:extLst>
          </p:cNvPr>
          <p:cNvSpPr/>
          <p:nvPr/>
        </p:nvSpPr>
        <p:spPr>
          <a:xfrm rot="8363335">
            <a:off x="3862530" y="3153865"/>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Isosceles Triangle 9">
            <a:extLst>
              <a:ext uri="{FF2B5EF4-FFF2-40B4-BE49-F238E27FC236}">
                <a16:creationId xmlns:a16="http://schemas.microsoft.com/office/drawing/2014/main" id="{C563C9EC-86EE-5C22-EA69-2C6D4D341C83}"/>
              </a:ext>
            </a:extLst>
          </p:cNvPr>
          <p:cNvSpPr/>
          <p:nvPr/>
        </p:nvSpPr>
        <p:spPr>
          <a:xfrm rot="2276016">
            <a:off x="5000765" y="3075284"/>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Isosceles Triangle 10">
            <a:extLst>
              <a:ext uri="{FF2B5EF4-FFF2-40B4-BE49-F238E27FC236}">
                <a16:creationId xmlns:a16="http://schemas.microsoft.com/office/drawing/2014/main" id="{E9BBEF73-FD3E-B319-45D5-EC6DE9E25111}"/>
              </a:ext>
            </a:extLst>
          </p:cNvPr>
          <p:cNvSpPr/>
          <p:nvPr/>
        </p:nvSpPr>
        <p:spPr>
          <a:xfrm rot="2276016">
            <a:off x="5241272" y="3268164"/>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31">
            <a:extLst>
              <a:ext uri="{FF2B5EF4-FFF2-40B4-BE49-F238E27FC236}">
                <a16:creationId xmlns:a16="http://schemas.microsoft.com/office/drawing/2014/main" id="{E53AA2BA-542C-3915-968B-BFD115806643}"/>
              </a:ext>
            </a:extLst>
          </p:cNvPr>
          <p:cNvSpPr/>
          <p:nvPr/>
        </p:nvSpPr>
        <p:spPr>
          <a:xfrm>
            <a:off x="8535970" y="3781563"/>
            <a:ext cx="411480" cy="1249680"/>
          </a:xfrm>
          <a:custGeom>
            <a:avLst/>
            <a:gdLst>
              <a:gd name="connsiteX0" fmla="*/ 411480 w 411480"/>
              <a:gd name="connsiteY0" fmla="*/ 0 h 1249680"/>
              <a:gd name="connsiteX1" fmla="*/ 396240 w 411480"/>
              <a:gd name="connsiteY1" fmla="*/ 1249680 h 1249680"/>
              <a:gd name="connsiteX2" fmla="*/ 60960 w 411480"/>
              <a:gd name="connsiteY2" fmla="*/ 1097280 h 1249680"/>
              <a:gd name="connsiteX3" fmla="*/ 228600 w 411480"/>
              <a:gd name="connsiteY3" fmla="*/ 1005840 h 1249680"/>
              <a:gd name="connsiteX4" fmla="*/ 0 w 411480"/>
              <a:gd name="connsiteY4" fmla="*/ 746760 h 1249680"/>
              <a:gd name="connsiteX5" fmla="*/ 243840 w 411480"/>
              <a:gd name="connsiteY5" fmla="*/ 579120 h 1249680"/>
              <a:gd name="connsiteX6" fmla="*/ 30480 w 411480"/>
              <a:gd name="connsiteY6" fmla="*/ 350520 h 1249680"/>
              <a:gd name="connsiteX7" fmla="*/ 213360 w 411480"/>
              <a:gd name="connsiteY7" fmla="*/ 198120 h 1249680"/>
              <a:gd name="connsiteX8" fmla="*/ 121920 w 411480"/>
              <a:gd name="connsiteY8" fmla="*/ 30480 h 1249680"/>
              <a:gd name="connsiteX9" fmla="*/ 411480 w 411480"/>
              <a:gd name="connsiteY9" fmla="*/ 0 h 1249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1480" h="1249680">
                <a:moveTo>
                  <a:pt x="411480" y="0"/>
                </a:moveTo>
                <a:lnTo>
                  <a:pt x="396240" y="1249680"/>
                </a:lnTo>
                <a:lnTo>
                  <a:pt x="60960" y="1097280"/>
                </a:lnTo>
                <a:lnTo>
                  <a:pt x="228600" y="1005840"/>
                </a:lnTo>
                <a:lnTo>
                  <a:pt x="0" y="746760"/>
                </a:lnTo>
                <a:lnTo>
                  <a:pt x="243840" y="579120"/>
                </a:lnTo>
                <a:lnTo>
                  <a:pt x="30480" y="350520"/>
                </a:lnTo>
                <a:lnTo>
                  <a:pt x="213360" y="198120"/>
                </a:lnTo>
                <a:lnTo>
                  <a:pt x="121920" y="30480"/>
                </a:lnTo>
                <a:lnTo>
                  <a:pt x="41148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33">
            <a:extLst>
              <a:ext uri="{FF2B5EF4-FFF2-40B4-BE49-F238E27FC236}">
                <a16:creationId xmlns:a16="http://schemas.microsoft.com/office/drawing/2014/main" id="{FF67FEAA-8126-3A12-2DC9-C084443BDB26}"/>
              </a:ext>
            </a:extLst>
          </p:cNvPr>
          <p:cNvSpPr/>
          <p:nvPr/>
        </p:nvSpPr>
        <p:spPr>
          <a:xfrm flipH="1">
            <a:off x="2135170" y="3674883"/>
            <a:ext cx="411480" cy="1249680"/>
          </a:xfrm>
          <a:custGeom>
            <a:avLst/>
            <a:gdLst>
              <a:gd name="connsiteX0" fmla="*/ 411480 w 411480"/>
              <a:gd name="connsiteY0" fmla="*/ 0 h 1249680"/>
              <a:gd name="connsiteX1" fmla="*/ 396240 w 411480"/>
              <a:gd name="connsiteY1" fmla="*/ 1249680 h 1249680"/>
              <a:gd name="connsiteX2" fmla="*/ 60960 w 411480"/>
              <a:gd name="connsiteY2" fmla="*/ 1097280 h 1249680"/>
              <a:gd name="connsiteX3" fmla="*/ 228600 w 411480"/>
              <a:gd name="connsiteY3" fmla="*/ 1005840 h 1249680"/>
              <a:gd name="connsiteX4" fmla="*/ 0 w 411480"/>
              <a:gd name="connsiteY4" fmla="*/ 746760 h 1249680"/>
              <a:gd name="connsiteX5" fmla="*/ 243840 w 411480"/>
              <a:gd name="connsiteY5" fmla="*/ 579120 h 1249680"/>
              <a:gd name="connsiteX6" fmla="*/ 30480 w 411480"/>
              <a:gd name="connsiteY6" fmla="*/ 350520 h 1249680"/>
              <a:gd name="connsiteX7" fmla="*/ 213360 w 411480"/>
              <a:gd name="connsiteY7" fmla="*/ 198120 h 1249680"/>
              <a:gd name="connsiteX8" fmla="*/ 121920 w 411480"/>
              <a:gd name="connsiteY8" fmla="*/ 30480 h 1249680"/>
              <a:gd name="connsiteX9" fmla="*/ 411480 w 411480"/>
              <a:gd name="connsiteY9" fmla="*/ 0 h 1249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1480" h="1249680">
                <a:moveTo>
                  <a:pt x="411480" y="0"/>
                </a:moveTo>
                <a:lnTo>
                  <a:pt x="396240" y="1249680"/>
                </a:lnTo>
                <a:lnTo>
                  <a:pt x="60960" y="1097280"/>
                </a:lnTo>
                <a:lnTo>
                  <a:pt x="228600" y="1005840"/>
                </a:lnTo>
                <a:lnTo>
                  <a:pt x="0" y="746760"/>
                </a:lnTo>
                <a:lnTo>
                  <a:pt x="243840" y="579120"/>
                </a:lnTo>
                <a:lnTo>
                  <a:pt x="30480" y="350520"/>
                </a:lnTo>
                <a:lnTo>
                  <a:pt x="213360" y="198120"/>
                </a:lnTo>
                <a:lnTo>
                  <a:pt x="121920" y="30480"/>
                </a:lnTo>
                <a:lnTo>
                  <a:pt x="41148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328BD9D-5F02-B55F-04CA-9D7E93A73CC6}"/>
              </a:ext>
            </a:extLst>
          </p:cNvPr>
          <p:cNvSpPr/>
          <p:nvPr/>
        </p:nvSpPr>
        <p:spPr>
          <a:xfrm>
            <a:off x="2226610" y="2592843"/>
            <a:ext cx="6690360" cy="283464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E2308786-56B6-4C23-8DCF-5A1CB6A5ABBA}"/>
              </a:ext>
            </a:extLst>
          </p:cNvPr>
          <p:cNvSpPr txBox="1"/>
          <p:nvPr/>
        </p:nvSpPr>
        <p:spPr>
          <a:xfrm>
            <a:off x="7850170" y="3309123"/>
            <a:ext cx="538930" cy="369332"/>
          </a:xfrm>
          <a:prstGeom prst="rect">
            <a:avLst/>
          </a:prstGeom>
          <a:noFill/>
        </p:spPr>
        <p:txBody>
          <a:bodyPr wrap="none" rtlCol="0">
            <a:spAutoFit/>
          </a:bodyPr>
          <a:lstStyle/>
          <a:p>
            <a:r>
              <a:rPr lang="en-US" dirty="0"/>
              <a:t>n=1</a:t>
            </a:r>
          </a:p>
        </p:txBody>
      </p:sp>
      <p:sp>
        <p:nvSpPr>
          <p:cNvPr id="18" name="TextBox 17">
            <a:extLst>
              <a:ext uri="{FF2B5EF4-FFF2-40B4-BE49-F238E27FC236}">
                <a16:creationId xmlns:a16="http://schemas.microsoft.com/office/drawing/2014/main" id="{AC217DE3-2CA1-AE6D-3113-4F24A03B9DE2}"/>
              </a:ext>
            </a:extLst>
          </p:cNvPr>
          <p:cNvSpPr txBox="1"/>
          <p:nvPr/>
        </p:nvSpPr>
        <p:spPr>
          <a:xfrm>
            <a:off x="7850170" y="5000763"/>
            <a:ext cx="538930" cy="369332"/>
          </a:xfrm>
          <a:prstGeom prst="rect">
            <a:avLst/>
          </a:prstGeom>
          <a:noFill/>
        </p:spPr>
        <p:txBody>
          <a:bodyPr wrap="none" rtlCol="0">
            <a:spAutoFit/>
          </a:bodyPr>
          <a:lstStyle/>
          <a:p>
            <a:r>
              <a:rPr lang="en-US" dirty="0"/>
              <a:t>n=1</a:t>
            </a:r>
          </a:p>
        </p:txBody>
      </p:sp>
      <p:sp>
        <p:nvSpPr>
          <p:cNvPr id="19" name="TextBox 18">
            <a:extLst>
              <a:ext uri="{FF2B5EF4-FFF2-40B4-BE49-F238E27FC236}">
                <a16:creationId xmlns:a16="http://schemas.microsoft.com/office/drawing/2014/main" id="{F6AB67CE-0EEB-27CC-D300-1736C84A58C6}"/>
              </a:ext>
            </a:extLst>
          </p:cNvPr>
          <p:cNvSpPr txBox="1"/>
          <p:nvPr/>
        </p:nvSpPr>
        <p:spPr>
          <a:xfrm>
            <a:off x="7850170" y="4254003"/>
            <a:ext cx="538930" cy="369332"/>
          </a:xfrm>
          <a:prstGeom prst="rect">
            <a:avLst/>
          </a:prstGeom>
          <a:noFill/>
        </p:spPr>
        <p:txBody>
          <a:bodyPr wrap="none" rtlCol="0">
            <a:spAutoFit/>
          </a:bodyPr>
          <a:lstStyle/>
          <a:p>
            <a:r>
              <a:rPr lang="en-US" dirty="0"/>
              <a:t>n&gt;1</a:t>
            </a:r>
          </a:p>
        </p:txBody>
      </p:sp>
      <p:sp>
        <p:nvSpPr>
          <p:cNvPr id="20" name="Oval 19">
            <a:extLst>
              <a:ext uri="{FF2B5EF4-FFF2-40B4-BE49-F238E27FC236}">
                <a16:creationId xmlns:a16="http://schemas.microsoft.com/office/drawing/2014/main" id="{AE846F05-D29A-FD09-BD2B-C50C1DBFB555}"/>
              </a:ext>
            </a:extLst>
          </p:cNvPr>
          <p:cNvSpPr/>
          <p:nvPr/>
        </p:nvSpPr>
        <p:spPr>
          <a:xfrm>
            <a:off x="4810575" y="2784363"/>
            <a:ext cx="329938" cy="298204"/>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1" name="Oval 20">
            <a:extLst>
              <a:ext uri="{FF2B5EF4-FFF2-40B4-BE49-F238E27FC236}">
                <a16:creationId xmlns:a16="http://schemas.microsoft.com/office/drawing/2014/main" id="{F18FA4BC-3C9E-6C1B-7661-2CA70C63D03D}"/>
              </a:ext>
            </a:extLst>
          </p:cNvPr>
          <p:cNvSpPr/>
          <p:nvPr/>
        </p:nvSpPr>
        <p:spPr>
          <a:xfrm>
            <a:off x="5618295" y="3131901"/>
            <a:ext cx="329938" cy="298204"/>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cxnSp>
        <p:nvCxnSpPr>
          <p:cNvPr id="23" name="Straight Arrow Connector 22">
            <a:extLst>
              <a:ext uri="{FF2B5EF4-FFF2-40B4-BE49-F238E27FC236}">
                <a16:creationId xmlns:a16="http://schemas.microsoft.com/office/drawing/2014/main" id="{60786079-B6D4-04AA-E994-42293A34DCE5}"/>
              </a:ext>
            </a:extLst>
          </p:cNvPr>
          <p:cNvCxnSpPr/>
          <p:nvPr/>
        </p:nvCxnSpPr>
        <p:spPr>
          <a:xfrm>
            <a:off x="6806153" y="3979683"/>
            <a:ext cx="0" cy="94488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F9F3C58B-CC7B-7F19-AFF8-B0E429E159BC}"/>
              </a:ext>
            </a:extLst>
          </p:cNvPr>
          <p:cNvSpPr txBox="1"/>
          <p:nvPr/>
        </p:nvSpPr>
        <p:spPr>
          <a:xfrm>
            <a:off x="6796080" y="4299723"/>
            <a:ext cx="261610" cy="369332"/>
          </a:xfrm>
          <a:prstGeom prst="rect">
            <a:avLst/>
          </a:prstGeom>
          <a:noFill/>
        </p:spPr>
        <p:txBody>
          <a:bodyPr wrap="none" rtlCol="0">
            <a:spAutoFit/>
          </a:bodyPr>
          <a:lstStyle/>
          <a:p>
            <a:r>
              <a:rPr lang="en-US" dirty="0"/>
              <a:t>t</a:t>
            </a:r>
          </a:p>
        </p:txBody>
      </p:sp>
    </p:spTree>
    <p:extLst>
      <p:ext uri="{BB962C8B-B14F-4D97-AF65-F5344CB8AC3E}">
        <p14:creationId xmlns:p14="http://schemas.microsoft.com/office/powerpoint/2010/main" val="19800850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C68C399-2BD9-3B23-809A-2F093B63E456}"/>
              </a:ext>
            </a:extLst>
          </p:cNvPr>
          <p:cNvPicPr>
            <a:picLocks noChangeAspect="1"/>
          </p:cNvPicPr>
          <p:nvPr/>
        </p:nvPicPr>
        <p:blipFill>
          <a:blip r:embed="rId2"/>
          <a:stretch>
            <a:fillRect/>
          </a:stretch>
        </p:blipFill>
        <p:spPr>
          <a:xfrm>
            <a:off x="1549908" y="1828969"/>
            <a:ext cx="6044184" cy="2574375"/>
          </a:xfrm>
          <a:prstGeom prst="rect">
            <a:avLst/>
          </a:prstGeom>
        </p:spPr>
      </p:pic>
    </p:spTree>
    <p:extLst>
      <p:ext uri="{BB962C8B-B14F-4D97-AF65-F5344CB8AC3E}">
        <p14:creationId xmlns:p14="http://schemas.microsoft.com/office/powerpoint/2010/main" val="14317073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523CA31-6990-CFBF-1F34-494064A3E763}"/>
              </a:ext>
            </a:extLst>
          </p:cNvPr>
          <p:cNvPicPr>
            <a:picLocks noChangeAspect="1"/>
          </p:cNvPicPr>
          <p:nvPr/>
        </p:nvPicPr>
        <p:blipFill>
          <a:blip r:embed="rId2"/>
          <a:stretch>
            <a:fillRect/>
          </a:stretch>
        </p:blipFill>
        <p:spPr>
          <a:xfrm>
            <a:off x="770867" y="2660905"/>
            <a:ext cx="8059379" cy="1387792"/>
          </a:xfrm>
          <a:prstGeom prst="rect">
            <a:avLst/>
          </a:prstGeom>
        </p:spPr>
      </p:pic>
    </p:spTree>
    <p:extLst>
      <p:ext uri="{BB962C8B-B14F-4D97-AF65-F5344CB8AC3E}">
        <p14:creationId xmlns:p14="http://schemas.microsoft.com/office/powerpoint/2010/main" val="37103945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a:extLst>
              <a:ext uri="{FF2B5EF4-FFF2-40B4-BE49-F238E27FC236}">
                <a16:creationId xmlns:a16="http://schemas.microsoft.com/office/drawing/2014/main" id="{C7BF74DD-BBED-1FA9-4CCE-8074B0C9BFC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35198" y="2633472"/>
            <a:ext cx="4794963" cy="3182112"/>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340F6102-FC0E-7232-96AE-0026DE48990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67002" y="1411224"/>
            <a:ext cx="3136392" cy="20909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804711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noChangeArrowheads="1"/>
          </p:cNvPicPr>
          <p:nvPr/>
        </p:nvPicPr>
        <p:blipFill>
          <a:blip r:embed="rId2" cstate="print"/>
          <a:srcRect/>
          <a:stretch>
            <a:fillRect/>
          </a:stretch>
        </p:blipFill>
        <p:spPr bwMode="auto">
          <a:xfrm>
            <a:off x="85725" y="947739"/>
            <a:ext cx="8658225" cy="4123341"/>
          </a:xfrm>
          <a:prstGeom prst="rect">
            <a:avLst/>
          </a:prstGeom>
          <a:noFill/>
          <a:ln w="9525">
            <a:noFill/>
            <a:miter lim="800000"/>
            <a:headEnd/>
            <a:tailEnd/>
          </a:ln>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8"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71563" y="2122488"/>
            <a:ext cx="7000875" cy="2619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61794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noChangeArrowheads="1"/>
          </p:cNvPicPr>
          <p:nvPr/>
        </p:nvPicPr>
        <p:blipFill>
          <a:blip r:embed="rId2" cstate="print"/>
          <a:srcRect/>
          <a:stretch>
            <a:fillRect/>
          </a:stretch>
        </p:blipFill>
        <p:spPr bwMode="auto">
          <a:xfrm>
            <a:off x="85725" y="947739"/>
            <a:ext cx="8658225" cy="4123341"/>
          </a:xfrm>
          <a:prstGeom prst="rect">
            <a:avLst/>
          </a:prstGeom>
          <a:noFill/>
          <a:ln w="9525">
            <a:noFill/>
            <a:miter lim="800000"/>
            <a:headEnd/>
            <a:tailEnd/>
          </a:ln>
          <a:effectLst/>
        </p:spPr>
      </p:pic>
    </p:spTree>
    <p:extLst>
      <p:ext uri="{BB962C8B-B14F-4D97-AF65-F5344CB8AC3E}">
        <p14:creationId xmlns:p14="http://schemas.microsoft.com/office/powerpoint/2010/main" val="20299975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4" name="Picture 6" descr="ELECTROMAGNETIC SPECTR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6557" y="1351189"/>
            <a:ext cx="5143500" cy="609600"/>
          </a:xfrm>
          <a:prstGeom prst="rect">
            <a:avLst/>
          </a:prstGeom>
          <a:noFill/>
          <a:extLst>
            <a:ext uri="{909E8E84-426E-40DD-AFC4-6F175D3DCCD1}">
              <a14:hiddenFill xmlns:a14="http://schemas.microsoft.com/office/drawing/2010/main">
                <a:solidFill>
                  <a:srgbClr val="FFFFFF"/>
                </a:solidFill>
              </a14:hiddenFill>
            </a:ext>
          </a:extLst>
        </p:spPr>
      </p:pic>
      <p:pic>
        <p:nvPicPr>
          <p:cNvPr id="2058" name="Picture 10" descr="Figure 4. Terrestrial microwave window. Atmospheric water vapor and oxygen degrade the upper end of the microwave window for receivers on Earth's surface and raise the temperature in the lower portion of the window."/>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1975" y="539977"/>
            <a:ext cx="7115175" cy="526732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2470718" y="5987534"/>
            <a:ext cx="4202561" cy="369332"/>
          </a:xfrm>
          <a:prstGeom prst="rect">
            <a:avLst/>
          </a:prstGeom>
        </p:spPr>
        <p:txBody>
          <a:bodyPr wrap="none">
            <a:spAutoFit/>
          </a:bodyPr>
          <a:lstStyle/>
          <a:p>
            <a:r>
              <a:rPr lang="en-US" dirty="0"/>
              <a:t>http://history.nasa.gov/CP-2156/p359.htm</a:t>
            </a:r>
          </a:p>
        </p:txBody>
      </p:sp>
    </p:spTree>
    <p:extLst>
      <p:ext uri="{BB962C8B-B14F-4D97-AF65-F5344CB8AC3E}">
        <p14:creationId xmlns:p14="http://schemas.microsoft.com/office/powerpoint/2010/main" val="19118738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FB02E0A8-1D01-4152-C9C3-32A4D697ED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55648" y="1506432"/>
            <a:ext cx="5220081" cy="35749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2407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69720" y="1737360"/>
            <a:ext cx="6522720" cy="1066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p:cNvSpPr/>
          <p:nvPr/>
        </p:nvSpPr>
        <p:spPr>
          <a:xfrm>
            <a:off x="1539240" y="1798320"/>
            <a:ext cx="6583680" cy="94488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554" name="Picture 2"/>
          <p:cNvPicPr>
            <a:picLocks noChangeAspect="1" noChangeArrowheads="1"/>
          </p:cNvPicPr>
          <p:nvPr/>
        </p:nvPicPr>
        <p:blipFill>
          <a:blip r:embed="rId3" cstate="print"/>
          <a:srcRect/>
          <a:stretch>
            <a:fillRect/>
          </a:stretch>
        </p:blipFill>
        <p:spPr bwMode="auto">
          <a:xfrm>
            <a:off x="2846070" y="3767138"/>
            <a:ext cx="3238500" cy="2676525"/>
          </a:xfrm>
          <a:prstGeom prst="rect">
            <a:avLst/>
          </a:prstGeom>
          <a:noFill/>
          <a:ln w="9525">
            <a:noFill/>
            <a:miter lim="800000"/>
            <a:headEnd/>
            <a:tailEnd/>
          </a:ln>
        </p:spPr>
      </p:pic>
      <p:sp>
        <p:nvSpPr>
          <p:cNvPr id="5" name="Rectangle 4"/>
          <p:cNvSpPr/>
          <p:nvPr/>
        </p:nvSpPr>
        <p:spPr>
          <a:xfrm>
            <a:off x="4221480" y="3886200"/>
            <a:ext cx="213360" cy="13716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p:cNvCxnSpPr>
            <a:stCxn id="5" idx="1"/>
          </p:cNvCxnSpPr>
          <p:nvPr/>
        </p:nvCxnSpPr>
        <p:spPr>
          <a:xfrm flipH="1" flipV="1">
            <a:off x="1463040" y="3230880"/>
            <a:ext cx="2758440" cy="7239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a:stCxn id="5" idx="3"/>
          </p:cNvCxnSpPr>
          <p:nvPr/>
        </p:nvCxnSpPr>
        <p:spPr>
          <a:xfrm flipV="1">
            <a:off x="4434840" y="3246120"/>
            <a:ext cx="3703320" cy="70866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a:off x="2804160" y="609600"/>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a:off x="3733800" y="1737360"/>
            <a:ext cx="182880" cy="10363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a:xfrm flipH="1">
            <a:off x="3749040" y="624840"/>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a:xfrm flipH="1">
            <a:off x="4145280" y="624840"/>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flipH="1">
            <a:off x="3947160" y="1752600"/>
            <a:ext cx="182880" cy="10363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Isosceles Triangle 25"/>
          <p:cNvSpPr/>
          <p:nvPr/>
        </p:nvSpPr>
        <p:spPr>
          <a:xfrm rot="8363335">
            <a:off x="3098960" y="972502"/>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Isosceles Triangle 27"/>
          <p:cNvSpPr/>
          <p:nvPr/>
        </p:nvSpPr>
        <p:spPr>
          <a:xfrm rot="2276016">
            <a:off x="4237195" y="893921"/>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Isosceles Triangle 28"/>
          <p:cNvSpPr/>
          <p:nvPr/>
        </p:nvSpPr>
        <p:spPr>
          <a:xfrm rot="2276016">
            <a:off x="4477702" y="1086801"/>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Freeform 31"/>
          <p:cNvSpPr/>
          <p:nvPr/>
        </p:nvSpPr>
        <p:spPr>
          <a:xfrm>
            <a:off x="7772400" y="1600200"/>
            <a:ext cx="411480" cy="1249680"/>
          </a:xfrm>
          <a:custGeom>
            <a:avLst/>
            <a:gdLst>
              <a:gd name="connsiteX0" fmla="*/ 411480 w 411480"/>
              <a:gd name="connsiteY0" fmla="*/ 0 h 1249680"/>
              <a:gd name="connsiteX1" fmla="*/ 396240 w 411480"/>
              <a:gd name="connsiteY1" fmla="*/ 1249680 h 1249680"/>
              <a:gd name="connsiteX2" fmla="*/ 60960 w 411480"/>
              <a:gd name="connsiteY2" fmla="*/ 1097280 h 1249680"/>
              <a:gd name="connsiteX3" fmla="*/ 228600 w 411480"/>
              <a:gd name="connsiteY3" fmla="*/ 1005840 h 1249680"/>
              <a:gd name="connsiteX4" fmla="*/ 0 w 411480"/>
              <a:gd name="connsiteY4" fmla="*/ 746760 h 1249680"/>
              <a:gd name="connsiteX5" fmla="*/ 243840 w 411480"/>
              <a:gd name="connsiteY5" fmla="*/ 579120 h 1249680"/>
              <a:gd name="connsiteX6" fmla="*/ 30480 w 411480"/>
              <a:gd name="connsiteY6" fmla="*/ 350520 h 1249680"/>
              <a:gd name="connsiteX7" fmla="*/ 213360 w 411480"/>
              <a:gd name="connsiteY7" fmla="*/ 198120 h 1249680"/>
              <a:gd name="connsiteX8" fmla="*/ 121920 w 411480"/>
              <a:gd name="connsiteY8" fmla="*/ 30480 h 1249680"/>
              <a:gd name="connsiteX9" fmla="*/ 411480 w 411480"/>
              <a:gd name="connsiteY9" fmla="*/ 0 h 1249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1480" h="1249680">
                <a:moveTo>
                  <a:pt x="411480" y="0"/>
                </a:moveTo>
                <a:lnTo>
                  <a:pt x="396240" y="1249680"/>
                </a:lnTo>
                <a:lnTo>
                  <a:pt x="60960" y="1097280"/>
                </a:lnTo>
                <a:lnTo>
                  <a:pt x="228600" y="1005840"/>
                </a:lnTo>
                <a:lnTo>
                  <a:pt x="0" y="746760"/>
                </a:lnTo>
                <a:lnTo>
                  <a:pt x="243840" y="579120"/>
                </a:lnTo>
                <a:lnTo>
                  <a:pt x="30480" y="350520"/>
                </a:lnTo>
                <a:lnTo>
                  <a:pt x="213360" y="198120"/>
                </a:lnTo>
                <a:lnTo>
                  <a:pt x="121920" y="30480"/>
                </a:lnTo>
                <a:lnTo>
                  <a:pt x="41148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eform 33"/>
          <p:cNvSpPr/>
          <p:nvPr/>
        </p:nvSpPr>
        <p:spPr>
          <a:xfrm flipH="1">
            <a:off x="1371600" y="1493520"/>
            <a:ext cx="411480" cy="1249680"/>
          </a:xfrm>
          <a:custGeom>
            <a:avLst/>
            <a:gdLst>
              <a:gd name="connsiteX0" fmla="*/ 411480 w 411480"/>
              <a:gd name="connsiteY0" fmla="*/ 0 h 1249680"/>
              <a:gd name="connsiteX1" fmla="*/ 396240 w 411480"/>
              <a:gd name="connsiteY1" fmla="*/ 1249680 h 1249680"/>
              <a:gd name="connsiteX2" fmla="*/ 60960 w 411480"/>
              <a:gd name="connsiteY2" fmla="*/ 1097280 h 1249680"/>
              <a:gd name="connsiteX3" fmla="*/ 228600 w 411480"/>
              <a:gd name="connsiteY3" fmla="*/ 1005840 h 1249680"/>
              <a:gd name="connsiteX4" fmla="*/ 0 w 411480"/>
              <a:gd name="connsiteY4" fmla="*/ 746760 h 1249680"/>
              <a:gd name="connsiteX5" fmla="*/ 243840 w 411480"/>
              <a:gd name="connsiteY5" fmla="*/ 579120 h 1249680"/>
              <a:gd name="connsiteX6" fmla="*/ 30480 w 411480"/>
              <a:gd name="connsiteY6" fmla="*/ 350520 h 1249680"/>
              <a:gd name="connsiteX7" fmla="*/ 213360 w 411480"/>
              <a:gd name="connsiteY7" fmla="*/ 198120 h 1249680"/>
              <a:gd name="connsiteX8" fmla="*/ 121920 w 411480"/>
              <a:gd name="connsiteY8" fmla="*/ 30480 h 1249680"/>
              <a:gd name="connsiteX9" fmla="*/ 411480 w 411480"/>
              <a:gd name="connsiteY9" fmla="*/ 0 h 1249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1480" h="1249680">
                <a:moveTo>
                  <a:pt x="411480" y="0"/>
                </a:moveTo>
                <a:lnTo>
                  <a:pt x="396240" y="1249680"/>
                </a:lnTo>
                <a:lnTo>
                  <a:pt x="60960" y="1097280"/>
                </a:lnTo>
                <a:lnTo>
                  <a:pt x="228600" y="1005840"/>
                </a:lnTo>
                <a:lnTo>
                  <a:pt x="0" y="746760"/>
                </a:lnTo>
                <a:lnTo>
                  <a:pt x="243840" y="579120"/>
                </a:lnTo>
                <a:lnTo>
                  <a:pt x="30480" y="350520"/>
                </a:lnTo>
                <a:lnTo>
                  <a:pt x="213360" y="198120"/>
                </a:lnTo>
                <a:lnTo>
                  <a:pt x="121920" y="30480"/>
                </a:lnTo>
                <a:lnTo>
                  <a:pt x="41148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p:cNvSpPr/>
          <p:nvPr/>
        </p:nvSpPr>
        <p:spPr>
          <a:xfrm>
            <a:off x="1463040" y="411480"/>
            <a:ext cx="6690360" cy="2834640"/>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p:cNvSpPr txBox="1"/>
          <p:nvPr/>
        </p:nvSpPr>
        <p:spPr>
          <a:xfrm>
            <a:off x="3383280" y="411480"/>
            <a:ext cx="1221809" cy="369332"/>
          </a:xfrm>
          <a:prstGeom prst="rect">
            <a:avLst/>
          </a:prstGeom>
          <a:noFill/>
        </p:spPr>
        <p:txBody>
          <a:bodyPr wrap="none" rtlCol="0">
            <a:spAutoFit/>
          </a:bodyPr>
          <a:lstStyle/>
          <a:p>
            <a:r>
              <a:rPr lang="en-US" dirty="0"/>
              <a:t>Phase Shift</a:t>
            </a:r>
          </a:p>
        </p:txBody>
      </p:sp>
      <p:sp>
        <p:nvSpPr>
          <p:cNvPr id="46" name="TextBox 45"/>
          <p:cNvSpPr txBox="1"/>
          <p:nvPr/>
        </p:nvSpPr>
        <p:spPr>
          <a:xfrm>
            <a:off x="4937760" y="853440"/>
            <a:ext cx="1545616" cy="369332"/>
          </a:xfrm>
          <a:prstGeom prst="rect">
            <a:avLst/>
          </a:prstGeom>
          <a:noFill/>
        </p:spPr>
        <p:txBody>
          <a:bodyPr wrap="none" rtlCol="0">
            <a:spAutoFit/>
          </a:bodyPr>
          <a:lstStyle/>
          <a:p>
            <a:r>
              <a:rPr lang="en-US" dirty="0"/>
              <a:t>No Phase Shift</a:t>
            </a:r>
          </a:p>
        </p:txBody>
      </p:sp>
      <p:sp>
        <p:nvSpPr>
          <p:cNvPr id="47" name="TextBox 46"/>
          <p:cNvSpPr txBox="1"/>
          <p:nvPr/>
        </p:nvSpPr>
        <p:spPr>
          <a:xfrm>
            <a:off x="7086600" y="1127760"/>
            <a:ext cx="538930" cy="369332"/>
          </a:xfrm>
          <a:prstGeom prst="rect">
            <a:avLst/>
          </a:prstGeom>
          <a:noFill/>
        </p:spPr>
        <p:txBody>
          <a:bodyPr wrap="none" rtlCol="0">
            <a:spAutoFit/>
          </a:bodyPr>
          <a:lstStyle/>
          <a:p>
            <a:r>
              <a:rPr lang="en-US" dirty="0"/>
              <a:t>n=1</a:t>
            </a:r>
          </a:p>
        </p:txBody>
      </p:sp>
      <p:sp>
        <p:nvSpPr>
          <p:cNvPr id="48" name="TextBox 47"/>
          <p:cNvSpPr txBox="1"/>
          <p:nvPr/>
        </p:nvSpPr>
        <p:spPr>
          <a:xfrm>
            <a:off x="7086600" y="2819400"/>
            <a:ext cx="538930" cy="369332"/>
          </a:xfrm>
          <a:prstGeom prst="rect">
            <a:avLst/>
          </a:prstGeom>
          <a:noFill/>
        </p:spPr>
        <p:txBody>
          <a:bodyPr wrap="none" rtlCol="0">
            <a:spAutoFit/>
          </a:bodyPr>
          <a:lstStyle/>
          <a:p>
            <a:r>
              <a:rPr lang="en-US" dirty="0"/>
              <a:t>n=1</a:t>
            </a:r>
          </a:p>
        </p:txBody>
      </p:sp>
      <p:sp>
        <p:nvSpPr>
          <p:cNvPr id="49" name="TextBox 48"/>
          <p:cNvSpPr txBox="1"/>
          <p:nvPr/>
        </p:nvSpPr>
        <p:spPr>
          <a:xfrm>
            <a:off x="7086600" y="2072640"/>
            <a:ext cx="538930" cy="369332"/>
          </a:xfrm>
          <a:prstGeom prst="rect">
            <a:avLst/>
          </a:prstGeom>
          <a:noFill/>
        </p:spPr>
        <p:txBody>
          <a:bodyPr wrap="none" rtlCol="0">
            <a:spAutoFit/>
          </a:bodyPr>
          <a:lstStyle/>
          <a:p>
            <a:r>
              <a:rPr lang="en-US" dirty="0"/>
              <a:t>n&gt;1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1" name="Rectangle 2"/>
          <p:cNvSpPr>
            <a:spLocks noGrp="1" noChangeArrowheads="1"/>
          </p:cNvSpPr>
          <p:nvPr>
            <p:ph type="title"/>
          </p:nvPr>
        </p:nvSpPr>
        <p:spPr/>
        <p:txBody>
          <a:bodyPr/>
          <a:lstStyle/>
          <a:p>
            <a:r>
              <a:rPr lang="en-US" dirty="0"/>
              <a:t>Question 223.8.2.5</a:t>
            </a:r>
          </a:p>
        </p:txBody>
      </p:sp>
      <p:sp>
        <p:nvSpPr>
          <p:cNvPr id="191492" name="Rectangle 3"/>
          <p:cNvSpPr>
            <a:spLocks noGrp="1" noChangeArrowheads="1"/>
          </p:cNvSpPr>
          <p:nvPr>
            <p:ph idx="1"/>
          </p:nvPr>
        </p:nvSpPr>
        <p:spPr>
          <a:xfrm>
            <a:off x="457200" y="1600200"/>
            <a:ext cx="4049713" cy="4525963"/>
          </a:xfrm>
        </p:spPr>
        <p:txBody>
          <a:bodyPr>
            <a:normAutofit lnSpcReduction="10000"/>
          </a:bodyPr>
          <a:lstStyle/>
          <a:p>
            <a:pPr marL="609600" indent="-609600" eaLnBrk="1" hangingPunct="1">
              <a:buFontTx/>
              <a:buNone/>
            </a:pPr>
            <a:r>
              <a:rPr lang="en-US" dirty="0"/>
              <a:t>The thickness of the film is 2 wavelengths. Will rays 3 and 4 be in phase?</a:t>
            </a:r>
          </a:p>
          <a:p>
            <a:pPr marL="609600" indent="-609600" eaLnBrk="1" hangingPunct="1">
              <a:buFontTx/>
              <a:buAutoNum type="alphaLcParenR"/>
            </a:pPr>
            <a:r>
              <a:rPr lang="en-US" dirty="0"/>
              <a:t>Yes</a:t>
            </a:r>
          </a:p>
          <a:p>
            <a:pPr marL="609600" indent="-609600" eaLnBrk="1" hangingPunct="1">
              <a:buFontTx/>
              <a:buAutoNum type="alphaLcParenR"/>
            </a:pPr>
            <a:r>
              <a:rPr lang="en-US" dirty="0"/>
              <a:t>No</a:t>
            </a:r>
          </a:p>
          <a:p>
            <a:pPr marL="609600" indent="-609600">
              <a:buFontTx/>
              <a:buAutoNum type="alphaLcParenR"/>
            </a:pPr>
            <a:r>
              <a:rPr lang="en-US" dirty="0"/>
              <a:t>Can’t tell with the information given</a:t>
            </a:r>
          </a:p>
          <a:p>
            <a:pPr marL="609600" indent="-609600" eaLnBrk="1" hangingPunct="1">
              <a:buFontTx/>
              <a:buAutoNum type="alphaLcParenR"/>
            </a:pPr>
            <a:endParaRPr lang="en-US" dirty="0"/>
          </a:p>
          <a:p>
            <a:pPr marL="609600" indent="-609600" eaLnBrk="1" hangingPunct="1">
              <a:buFontTx/>
              <a:buNone/>
            </a:pPr>
            <a:endParaRPr lang="en-US" dirty="0"/>
          </a:p>
        </p:txBody>
      </p:sp>
      <p:sp>
        <p:nvSpPr>
          <p:cNvPr id="191490" name="Slide Number Placeholder 5"/>
          <p:cNvSpPr>
            <a:spLocks noGrp="1"/>
          </p:cNvSpPr>
          <p:nvPr>
            <p:ph type="sldNum" sz="quarter" idx="12"/>
          </p:nvPr>
        </p:nvSpPr>
        <p:spPr>
          <a:noFill/>
        </p:spPr>
        <p:txBody>
          <a:bodyPr/>
          <a:lstStyle/>
          <a:p>
            <a:fld id="{E71E5971-AF74-4BE9-89AF-02A4D0FADC9F}" type="slidenum">
              <a:rPr lang="en-US" smtClean="0"/>
              <a:pPr/>
              <a:t>12</a:t>
            </a:fld>
            <a:endParaRPr lang="en-US"/>
          </a:p>
        </p:txBody>
      </p:sp>
      <p:sp>
        <p:nvSpPr>
          <p:cNvPr id="2" name="Rectangle 1">
            <a:extLst>
              <a:ext uri="{FF2B5EF4-FFF2-40B4-BE49-F238E27FC236}">
                <a16:creationId xmlns:a16="http://schemas.microsoft.com/office/drawing/2014/main" id="{CB3AC135-7401-5F46-9DAC-CB7D69E2E6F0}"/>
              </a:ext>
            </a:extLst>
          </p:cNvPr>
          <p:cNvSpPr/>
          <p:nvPr/>
        </p:nvSpPr>
        <p:spPr>
          <a:xfrm>
            <a:off x="4646669" y="2961431"/>
            <a:ext cx="3959999" cy="1066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85A1AB26-7418-2CD4-871B-FB0061A24B1D}"/>
              </a:ext>
            </a:extLst>
          </p:cNvPr>
          <p:cNvSpPr/>
          <p:nvPr/>
        </p:nvSpPr>
        <p:spPr>
          <a:xfrm>
            <a:off x="4616189" y="3024216"/>
            <a:ext cx="3990479" cy="94488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Connector 3">
            <a:extLst>
              <a:ext uri="{FF2B5EF4-FFF2-40B4-BE49-F238E27FC236}">
                <a16:creationId xmlns:a16="http://schemas.microsoft.com/office/drawing/2014/main" id="{5E2695C7-FBC5-92FC-CD0D-E3D751894B3F}"/>
              </a:ext>
            </a:extLst>
          </p:cNvPr>
          <p:cNvCxnSpPr/>
          <p:nvPr/>
        </p:nvCxnSpPr>
        <p:spPr>
          <a:xfrm>
            <a:off x="5881109" y="1833671"/>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D9A088A-492F-2C3D-8501-7CC976C245CD}"/>
              </a:ext>
            </a:extLst>
          </p:cNvPr>
          <p:cNvCxnSpPr/>
          <p:nvPr/>
        </p:nvCxnSpPr>
        <p:spPr>
          <a:xfrm>
            <a:off x="6810749" y="2961431"/>
            <a:ext cx="182880" cy="10363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2347BFE9-623A-3C23-C895-F0583D26F64B}"/>
              </a:ext>
            </a:extLst>
          </p:cNvPr>
          <p:cNvCxnSpPr/>
          <p:nvPr/>
        </p:nvCxnSpPr>
        <p:spPr>
          <a:xfrm flipH="1">
            <a:off x="6825989" y="1848911"/>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7A050B0-D480-8D26-637F-B36C3B7F89C2}"/>
              </a:ext>
            </a:extLst>
          </p:cNvPr>
          <p:cNvCxnSpPr/>
          <p:nvPr/>
        </p:nvCxnSpPr>
        <p:spPr>
          <a:xfrm flipH="1">
            <a:off x="7222229" y="1848911"/>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C7D67D0-B539-23F5-926A-F2D6781079FC}"/>
              </a:ext>
            </a:extLst>
          </p:cNvPr>
          <p:cNvCxnSpPr/>
          <p:nvPr/>
        </p:nvCxnSpPr>
        <p:spPr>
          <a:xfrm flipH="1">
            <a:off x="7024109" y="2976671"/>
            <a:ext cx="182880" cy="10363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Isosceles Triangle 8">
            <a:extLst>
              <a:ext uri="{FF2B5EF4-FFF2-40B4-BE49-F238E27FC236}">
                <a16:creationId xmlns:a16="http://schemas.microsoft.com/office/drawing/2014/main" id="{944EEB27-384F-C2CF-A93A-13981C5D5402}"/>
              </a:ext>
            </a:extLst>
          </p:cNvPr>
          <p:cNvSpPr/>
          <p:nvPr/>
        </p:nvSpPr>
        <p:spPr>
          <a:xfrm rot="8363335">
            <a:off x="6175909" y="2196573"/>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Isosceles Triangle 9">
            <a:extLst>
              <a:ext uri="{FF2B5EF4-FFF2-40B4-BE49-F238E27FC236}">
                <a16:creationId xmlns:a16="http://schemas.microsoft.com/office/drawing/2014/main" id="{3D71ED11-C10E-1AFA-F9E2-CA4EDDAA1ED1}"/>
              </a:ext>
            </a:extLst>
          </p:cNvPr>
          <p:cNvSpPr/>
          <p:nvPr/>
        </p:nvSpPr>
        <p:spPr>
          <a:xfrm rot="2276016">
            <a:off x="7314144" y="2117992"/>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Isosceles Triangle 10">
            <a:extLst>
              <a:ext uri="{FF2B5EF4-FFF2-40B4-BE49-F238E27FC236}">
                <a16:creationId xmlns:a16="http://schemas.microsoft.com/office/drawing/2014/main" id="{1ECCC80A-8B04-55BD-FCCB-D6FCEF629B7D}"/>
              </a:ext>
            </a:extLst>
          </p:cNvPr>
          <p:cNvSpPr/>
          <p:nvPr/>
        </p:nvSpPr>
        <p:spPr>
          <a:xfrm rot="2276016">
            <a:off x="7554651" y="2310872"/>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33">
            <a:extLst>
              <a:ext uri="{FF2B5EF4-FFF2-40B4-BE49-F238E27FC236}">
                <a16:creationId xmlns:a16="http://schemas.microsoft.com/office/drawing/2014/main" id="{74998026-2C9B-8C4C-07E8-AF31776C1C48}"/>
              </a:ext>
            </a:extLst>
          </p:cNvPr>
          <p:cNvSpPr/>
          <p:nvPr/>
        </p:nvSpPr>
        <p:spPr>
          <a:xfrm flipH="1">
            <a:off x="4448549" y="2717591"/>
            <a:ext cx="411480" cy="1249680"/>
          </a:xfrm>
          <a:custGeom>
            <a:avLst/>
            <a:gdLst>
              <a:gd name="connsiteX0" fmla="*/ 411480 w 411480"/>
              <a:gd name="connsiteY0" fmla="*/ 0 h 1249680"/>
              <a:gd name="connsiteX1" fmla="*/ 396240 w 411480"/>
              <a:gd name="connsiteY1" fmla="*/ 1249680 h 1249680"/>
              <a:gd name="connsiteX2" fmla="*/ 60960 w 411480"/>
              <a:gd name="connsiteY2" fmla="*/ 1097280 h 1249680"/>
              <a:gd name="connsiteX3" fmla="*/ 228600 w 411480"/>
              <a:gd name="connsiteY3" fmla="*/ 1005840 h 1249680"/>
              <a:gd name="connsiteX4" fmla="*/ 0 w 411480"/>
              <a:gd name="connsiteY4" fmla="*/ 746760 h 1249680"/>
              <a:gd name="connsiteX5" fmla="*/ 243840 w 411480"/>
              <a:gd name="connsiteY5" fmla="*/ 579120 h 1249680"/>
              <a:gd name="connsiteX6" fmla="*/ 30480 w 411480"/>
              <a:gd name="connsiteY6" fmla="*/ 350520 h 1249680"/>
              <a:gd name="connsiteX7" fmla="*/ 213360 w 411480"/>
              <a:gd name="connsiteY7" fmla="*/ 198120 h 1249680"/>
              <a:gd name="connsiteX8" fmla="*/ 121920 w 411480"/>
              <a:gd name="connsiteY8" fmla="*/ 30480 h 1249680"/>
              <a:gd name="connsiteX9" fmla="*/ 411480 w 411480"/>
              <a:gd name="connsiteY9" fmla="*/ 0 h 1249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1480" h="1249680">
                <a:moveTo>
                  <a:pt x="411480" y="0"/>
                </a:moveTo>
                <a:lnTo>
                  <a:pt x="396240" y="1249680"/>
                </a:lnTo>
                <a:lnTo>
                  <a:pt x="60960" y="1097280"/>
                </a:lnTo>
                <a:lnTo>
                  <a:pt x="228600" y="1005840"/>
                </a:lnTo>
                <a:lnTo>
                  <a:pt x="0" y="746760"/>
                </a:lnTo>
                <a:lnTo>
                  <a:pt x="243840" y="579120"/>
                </a:lnTo>
                <a:lnTo>
                  <a:pt x="30480" y="350520"/>
                </a:lnTo>
                <a:lnTo>
                  <a:pt x="213360" y="198120"/>
                </a:lnTo>
                <a:lnTo>
                  <a:pt x="121920" y="30480"/>
                </a:lnTo>
                <a:lnTo>
                  <a:pt x="41148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FC38B093-0D6E-617F-EAEB-CBABB9A5C546}"/>
              </a:ext>
            </a:extLst>
          </p:cNvPr>
          <p:cNvSpPr txBox="1"/>
          <p:nvPr/>
        </p:nvSpPr>
        <p:spPr>
          <a:xfrm>
            <a:off x="8674884" y="2437350"/>
            <a:ext cx="538930" cy="369332"/>
          </a:xfrm>
          <a:prstGeom prst="rect">
            <a:avLst/>
          </a:prstGeom>
          <a:noFill/>
        </p:spPr>
        <p:txBody>
          <a:bodyPr wrap="none" rtlCol="0">
            <a:spAutoFit/>
          </a:bodyPr>
          <a:lstStyle/>
          <a:p>
            <a:r>
              <a:rPr lang="en-US" dirty="0"/>
              <a:t>n=1</a:t>
            </a:r>
          </a:p>
        </p:txBody>
      </p:sp>
      <p:sp>
        <p:nvSpPr>
          <p:cNvPr id="16" name="TextBox 15">
            <a:extLst>
              <a:ext uri="{FF2B5EF4-FFF2-40B4-BE49-F238E27FC236}">
                <a16:creationId xmlns:a16="http://schemas.microsoft.com/office/drawing/2014/main" id="{E2D2B90B-812B-47E2-2108-07E193E6F967}"/>
              </a:ext>
            </a:extLst>
          </p:cNvPr>
          <p:cNvSpPr txBox="1"/>
          <p:nvPr/>
        </p:nvSpPr>
        <p:spPr>
          <a:xfrm>
            <a:off x="8674884" y="4128990"/>
            <a:ext cx="538930" cy="369332"/>
          </a:xfrm>
          <a:prstGeom prst="rect">
            <a:avLst/>
          </a:prstGeom>
          <a:noFill/>
        </p:spPr>
        <p:txBody>
          <a:bodyPr wrap="none" rtlCol="0">
            <a:spAutoFit/>
          </a:bodyPr>
          <a:lstStyle/>
          <a:p>
            <a:r>
              <a:rPr lang="en-US" dirty="0"/>
              <a:t>n=1</a:t>
            </a:r>
          </a:p>
        </p:txBody>
      </p:sp>
      <p:sp>
        <p:nvSpPr>
          <p:cNvPr id="17" name="TextBox 16">
            <a:extLst>
              <a:ext uri="{FF2B5EF4-FFF2-40B4-BE49-F238E27FC236}">
                <a16:creationId xmlns:a16="http://schemas.microsoft.com/office/drawing/2014/main" id="{ED3B293C-8EE6-740C-E8A5-C57482C59ABF}"/>
              </a:ext>
            </a:extLst>
          </p:cNvPr>
          <p:cNvSpPr txBox="1"/>
          <p:nvPr/>
        </p:nvSpPr>
        <p:spPr>
          <a:xfrm>
            <a:off x="8674884" y="3382230"/>
            <a:ext cx="538930" cy="369332"/>
          </a:xfrm>
          <a:prstGeom prst="rect">
            <a:avLst/>
          </a:prstGeom>
          <a:noFill/>
        </p:spPr>
        <p:txBody>
          <a:bodyPr wrap="none" rtlCol="0">
            <a:spAutoFit/>
          </a:bodyPr>
          <a:lstStyle/>
          <a:p>
            <a:r>
              <a:rPr lang="en-US" dirty="0"/>
              <a:t>n&gt;1</a:t>
            </a:r>
          </a:p>
        </p:txBody>
      </p:sp>
      <p:cxnSp>
        <p:nvCxnSpPr>
          <p:cNvPr id="18" name="Straight Connector 17">
            <a:extLst>
              <a:ext uri="{FF2B5EF4-FFF2-40B4-BE49-F238E27FC236}">
                <a16:creationId xmlns:a16="http://schemas.microsoft.com/office/drawing/2014/main" id="{85FFACE0-3235-2473-93E8-B19E4D46DCC3}"/>
              </a:ext>
            </a:extLst>
          </p:cNvPr>
          <p:cNvCxnSpPr/>
          <p:nvPr/>
        </p:nvCxnSpPr>
        <p:spPr>
          <a:xfrm>
            <a:off x="6993629" y="3993046"/>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E8413F87-D610-C4CC-592E-79BD15F54433}"/>
              </a:ext>
            </a:extLst>
          </p:cNvPr>
          <p:cNvCxnSpPr/>
          <p:nvPr/>
        </p:nvCxnSpPr>
        <p:spPr>
          <a:xfrm>
            <a:off x="7227379" y="2991331"/>
            <a:ext cx="182880" cy="10363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C7AE8FBA-4C8F-B1BF-1C24-4EBB9637FE4C}"/>
              </a:ext>
            </a:extLst>
          </p:cNvPr>
          <p:cNvCxnSpPr/>
          <p:nvPr/>
        </p:nvCxnSpPr>
        <p:spPr>
          <a:xfrm>
            <a:off x="7417260" y="3993046"/>
            <a:ext cx="899160" cy="111252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96362609-6D5C-54C8-42A2-3D06C6A13DB1}"/>
              </a:ext>
            </a:extLst>
          </p:cNvPr>
          <p:cNvSpPr/>
          <p:nvPr/>
        </p:nvSpPr>
        <p:spPr>
          <a:xfrm>
            <a:off x="7057260" y="1832996"/>
            <a:ext cx="329938" cy="298204"/>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2" name="Oval 21">
            <a:extLst>
              <a:ext uri="{FF2B5EF4-FFF2-40B4-BE49-F238E27FC236}">
                <a16:creationId xmlns:a16="http://schemas.microsoft.com/office/drawing/2014/main" id="{7A9321C8-D105-C4CA-B7DC-06E9F585B76F}"/>
              </a:ext>
            </a:extLst>
          </p:cNvPr>
          <p:cNvSpPr/>
          <p:nvPr/>
        </p:nvSpPr>
        <p:spPr>
          <a:xfrm>
            <a:off x="7864980" y="2180534"/>
            <a:ext cx="329938" cy="298204"/>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3" name="Oval 22">
            <a:extLst>
              <a:ext uri="{FF2B5EF4-FFF2-40B4-BE49-F238E27FC236}">
                <a16:creationId xmlns:a16="http://schemas.microsoft.com/office/drawing/2014/main" id="{7137FB4B-11B1-407B-C148-B85A553098CC}"/>
              </a:ext>
            </a:extLst>
          </p:cNvPr>
          <p:cNvSpPr/>
          <p:nvPr/>
        </p:nvSpPr>
        <p:spPr>
          <a:xfrm>
            <a:off x="7204862" y="4709360"/>
            <a:ext cx="329938" cy="298204"/>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4" name="Oval 23">
            <a:extLst>
              <a:ext uri="{FF2B5EF4-FFF2-40B4-BE49-F238E27FC236}">
                <a16:creationId xmlns:a16="http://schemas.microsoft.com/office/drawing/2014/main" id="{D2C76460-226B-4182-1FBC-A551650E80C8}"/>
              </a:ext>
            </a:extLst>
          </p:cNvPr>
          <p:cNvSpPr/>
          <p:nvPr/>
        </p:nvSpPr>
        <p:spPr>
          <a:xfrm>
            <a:off x="8194918" y="4631075"/>
            <a:ext cx="329938" cy="298204"/>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25" name="Isosceles Triangle 24">
            <a:extLst>
              <a:ext uri="{FF2B5EF4-FFF2-40B4-BE49-F238E27FC236}">
                <a16:creationId xmlns:a16="http://schemas.microsoft.com/office/drawing/2014/main" id="{0E793E38-489D-D6CC-2390-C148225DE2A4}"/>
              </a:ext>
            </a:extLst>
          </p:cNvPr>
          <p:cNvSpPr/>
          <p:nvPr/>
        </p:nvSpPr>
        <p:spPr>
          <a:xfrm rot="8363335">
            <a:off x="7677567" y="4309158"/>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Isosceles Triangle 25">
            <a:extLst>
              <a:ext uri="{FF2B5EF4-FFF2-40B4-BE49-F238E27FC236}">
                <a16:creationId xmlns:a16="http://schemas.microsoft.com/office/drawing/2014/main" id="{3E8ACC13-7F0E-CD18-2C16-9D0EA1710BF9}"/>
              </a:ext>
            </a:extLst>
          </p:cNvPr>
          <p:cNvSpPr/>
          <p:nvPr/>
        </p:nvSpPr>
        <p:spPr>
          <a:xfrm rot="8363335">
            <a:off x="7655507" y="4816415"/>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Isosceles Triangle 26">
            <a:extLst>
              <a:ext uri="{FF2B5EF4-FFF2-40B4-BE49-F238E27FC236}">
                <a16:creationId xmlns:a16="http://schemas.microsoft.com/office/drawing/2014/main" id="{D8F2208E-734D-CB10-E226-68903C97AB85}"/>
              </a:ext>
            </a:extLst>
          </p:cNvPr>
          <p:cNvSpPr/>
          <p:nvPr/>
        </p:nvSpPr>
        <p:spPr>
          <a:xfrm rot="10125416">
            <a:off x="6782660" y="3268282"/>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Isosceles Triangle 27">
            <a:extLst>
              <a:ext uri="{FF2B5EF4-FFF2-40B4-BE49-F238E27FC236}">
                <a16:creationId xmlns:a16="http://schemas.microsoft.com/office/drawing/2014/main" id="{D38899BE-EC96-9153-A9C0-F00948F3E4B7}"/>
              </a:ext>
            </a:extLst>
          </p:cNvPr>
          <p:cNvSpPr/>
          <p:nvPr/>
        </p:nvSpPr>
        <p:spPr>
          <a:xfrm rot="10125416">
            <a:off x="7230396" y="3470516"/>
            <a:ext cx="198120" cy="24384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46C3A66F-A73A-2CCF-DD4C-DB217965B166}"/>
              </a:ext>
            </a:extLst>
          </p:cNvPr>
          <p:cNvCxnSpPr/>
          <p:nvPr/>
        </p:nvCxnSpPr>
        <p:spPr>
          <a:xfrm>
            <a:off x="5867827" y="3024216"/>
            <a:ext cx="0" cy="94488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A6269B5-E691-DB3D-6CEB-6CA3BD6934ED}"/>
              </a:ext>
            </a:extLst>
          </p:cNvPr>
          <p:cNvSpPr txBox="1"/>
          <p:nvPr/>
        </p:nvSpPr>
        <p:spPr>
          <a:xfrm>
            <a:off x="5857754" y="3344256"/>
            <a:ext cx="261610" cy="369332"/>
          </a:xfrm>
          <a:prstGeom prst="rect">
            <a:avLst/>
          </a:prstGeom>
          <a:noFill/>
        </p:spPr>
        <p:txBody>
          <a:bodyPr wrap="none" rtlCol="0">
            <a:spAutoFit/>
          </a:bodyPr>
          <a:lstStyle/>
          <a:p>
            <a:r>
              <a:rPr lang="en-US" dirty="0"/>
              <a:t>t</a:t>
            </a:r>
          </a:p>
        </p:txBody>
      </p:sp>
    </p:spTree>
    <p:extLst>
      <p:ext uri="{BB962C8B-B14F-4D97-AF65-F5344CB8AC3E}">
        <p14:creationId xmlns:p14="http://schemas.microsoft.com/office/powerpoint/2010/main" val="20934836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6753" name="Title 1"/>
          <p:cNvSpPr>
            <a:spLocks noGrp="1"/>
          </p:cNvSpPr>
          <p:nvPr>
            <p:ph type="title"/>
          </p:nvPr>
        </p:nvSpPr>
        <p:spPr/>
        <p:txBody>
          <a:bodyPr/>
          <a:lstStyle/>
          <a:p>
            <a:r>
              <a:rPr lang="en-US" dirty="0"/>
              <a:t>Question 223.8.3</a:t>
            </a:r>
          </a:p>
        </p:txBody>
      </p:sp>
      <p:sp>
        <p:nvSpPr>
          <p:cNvPr id="3" name="Content Placeholder 2"/>
          <p:cNvSpPr>
            <a:spLocks noGrp="1"/>
          </p:cNvSpPr>
          <p:nvPr>
            <p:ph idx="1"/>
          </p:nvPr>
        </p:nvSpPr>
        <p:spPr/>
        <p:txBody>
          <a:bodyPr/>
          <a:lstStyle/>
          <a:p>
            <a:pPr>
              <a:buFontTx/>
              <a:buNone/>
              <a:defRPr/>
            </a:pPr>
            <a:r>
              <a:rPr lang="en-US" dirty="0"/>
              <a:t>I have two waves coming from speakers in my room. I am sitting 3 wavelengths away from one speaker and 4.5 wavelengths away from the other speaker. I hear..</a:t>
            </a:r>
          </a:p>
          <a:p>
            <a:pPr marL="514350" indent="-514350">
              <a:buFontTx/>
              <a:buAutoNum type="alphaLcParenR"/>
              <a:defRPr/>
            </a:pPr>
            <a:r>
              <a:rPr lang="en-US" dirty="0"/>
              <a:t>Twice the normal loudness</a:t>
            </a:r>
          </a:p>
          <a:p>
            <a:pPr marL="514350" indent="-514350">
              <a:buFontTx/>
              <a:buAutoNum type="alphaLcParenR"/>
              <a:defRPr/>
            </a:pPr>
            <a:r>
              <a:rPr lang="en-US" dirty="0"/>
              <a:t>4 times the normal loudness</a:t>
            </a:r>
          </a:p>
          <a:p>
            <a:pPr marL="514350" indent="-514350">
              <a:buFontTx/>
              <a:buAutoNum type="alphaLcParenR"/>
              <a:defRPr/>
            </a:pPr>
            <a:r>
              <a:rPr lang="en-US" dirty="0"/>
              <a:t>8 times the normal loudness</a:t>
            </a:r>
          </a:p>
          <a:p>
            <a:pPr marL="514350" indent="-514350">
              <a:buFontTx/>
              <a:buAutoNum type="alphaLcParenR"/>
              <a:defRPr/>
            </a:pPr>
            <a:r>
              <a:rPr lang="en-US" dirty="0"/>
              <a:t>Practically nothing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7777" name="Title 1"/>
          <p:cNvSpPr>
            <a:spLocks noGrp="1"/>
          </p:cNvSpPr>
          <p:nvPr>
            <p:ph type="title"/>
          </p:nvPr>
        </p:nvSpPr>
        <p:spPr/>
        <p:txBody>
          <a:bodyPr/>
          <a:lstStyle/>
          <a:p>
            <a:r>
              <a:rPr lang="en-US" dirty="0"/>
              <a:t>Question 223.8.4</a:t>
            </a:r>
          </a:p>
        </p:txBody>
      </p:sp>
      <p:sp>
        <p:nvSpPr>
          <p:cNvPr id="3" name="Content Placeholder 2"/>
          <p:cNvSpPr>
            <a:spLocks noGrp="1"/>
          </p:cNvSpPr>
          <p:nvPr>
            <p:ph idx="1"/>
          </p:nvPr>
        </p:nvSpPr>
        <p:spPr/>
        <p:txBody>
          <a:bodyPr/>
          <a:lstStyle/>
          <a:p>
            <a:pPr>
              <a:buFontTx/>
              <a:buNone/>
              <a:defRPr/>
            </a:pPr>
            <a:r>
              <a:rPr lang="en-US" dirty="0"/>
              <a:t>I have two waves coming from speakers in my room. I am sitting 3 wavelengths away from one speaker and 6 wavelengths away from the other speaker. I hear..</a:t>
            </a:r>
          </a:p>
          <a:p>
            <a:pPr marL="514350" indent="-514350">
              <a:buFontTx/>
              <a:buAutoNum type="alphaLcParenR"/>
              <a:defRPr/>
            </a:pPr>
            <a:r>
              <a:rPr lang="en-US" dirty="0"/>
              <a:t>Twice the normal loudness</a:t>
            </a:r>
          </a:p>
          <a:p>
            <a:pPr marL="514350" indent="-514350">
              <a:buFontTx/>
              <a:buAutoNum type="alphaLcParenR"/>
              <a:defRPr/>
            </a:pPr>
            <a:r>
              <a:rPr lang="en-US" dirty="0"/>
              <a:t>4 times the normal loudness</a:t>
            </a:r>
          </a:p>
          <a:p>
            <a:pPr marL="514350" indent="-514350">
              <a:buFontTx/>
              <a:buAutoNum type="alphaLcParenR"/>
              <a:defRPr/>
            </a:pPr>
            <a:r>
              <a:rPr lang="en-US" dirty="0"/>
              <a:t>8 times the normal loudness</a:t>
            </a:r>
          </a:p>
          <a:p>
            <a:pPr marL="514350" indent="-514350">
              <a:buFontTx/>
              <a:buAutoNum type="alphaLcParenR"/>
              <a:defRPr/>
            </a:pPr>
            <a:r>
              <a:rPr lang="en-US" dirty="0"/>
              <a:t>Practically nothing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449944"/>
            <a:ext cx="8229600" cy="5676220"/>
          </a:xfrm>
        </p:spPr>
        <p:txBody>
          <a:bodyPr/>
          <a:lstStyle/>
          <a:p>
            <a:pPr marL="0" indent="0">
              <a:buNone/>
            </a:pPr>
            <a:r>
              <a:rPr lang="en-US" dirty="0"/>
              <a:t>A thin film of oil (n=1.25) is located on a smooth wet pavement. When viewed perpendicular to the pavement, the film reflects most strongly red light at 640nm  and reflects no blue light at 512nm . </a:t>
            </a:r>
            <a:r>
              <a:rPr lang="en-US"/>
              <a:t>How thick is the oil film?</a:t>
            </a:r>
            <a:endParaRPr lang="en-US" dirty="0"/>
          </a:p>
        </p:txBody>
      </p:sp>
    </p:spTree>
    <p:extLst>
      <p:ext uri="{BB962C8B-B14F-4D97-AF65-F5344CB8AC3E}">
        <p14:creationId xmlns:p14="http://schemas.microsoft.com/office/powerpoint/2010/main" val="31207438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410409" y="322414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a:off x="763588" y="2488406"/>
            <a:ext cx="808037" cy="854869"/>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3400425"/>
            <a:ext cx="809625" cy="795337"/>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1954805" y="3067028"/>
            <a:ext cx="2061783"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Loud Spot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10434" y="190969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flipV="1">
            <a:off x="763588" y="2088107"/>
            <a:ext cx="1010621" cy="400299"/>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2115403"/>
            <a:ext cx="998561" cy="208035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2097680" y="2066903"/>
            <a:ext cx="2061783"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Loud Spot</a:t>
            </a:r>
          </a:p>
        </p:txBody>
      </p:sp>
      <p:cxnSp>
        <p:nvCxnSpPr>
          <p:cNvPr id="58" name="Straight Arrow Connector 57"/>
          <p:cNvCxnSpPr/>
          <p:nvPr/>
        </p:nvCxnSpPr>
        <p:spPr>
          <a:xfrm flipV="1">
            <a:off x="846446" y="3234519"/>
            <a:ext cx="518330" cy="103652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84714" name="TextBox 62"/>
          <p:cNvSpPr txBox="1">
            <a:spLocks noChangeArrowheads="1"/>
          </p:cNvSpPr>
          <p:nvPr/>
        </p:nvSpPr>
        <p:spPr bwMode="auto">
          <a:xfrm>
            <a:off x="1158522" y="3648576"/>
            <a:ext cx="3606800" cy="1384300"/>
          </a:xfrm>
          <a:prstGeom prst="rect">
            <a:avLst/>
          </a:prstGeom>
          <a:noFill/>
          <a:ln w="9525">
            <a:noFill/>
            <a:miter lim="800000"/>
            <a:headEnd/>
            <a:tailEnd/>
          </a:ln>
        </p:spPr>
        <p:txBody>
          <a:bodyPr>
            <a:spAutoFit/>
          </a:bodyPr>
          <a:lstStyle/>
          <a:p>
            <a:r>
              <a:rPr lang="en-US" sz="2800" dirty="0"/>
              <a:t>Full wavelength farther from the green wave center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10434" y="190969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flipV="1">
            <a:off x="763588" y="2088107"/>
            <a:ext cx="1010621" cy="400299"/>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2115403"/>
            <a:ext cx="998561" cy="208035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2725477" y="1630175"/>
            <a:ext cx="2242922"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Loud Spots</a:t>
            </a:r>
          </a:p>
        </p:txBody>
      </p:sp>
      <p:sp>
        <p:nvSpPr>
          <p:cNvPr id="24" name="Oval 23"/>
          <p:cNvSpPr/>
          <p:nvPr/>
        </p:nvSpPr>
        <p:spPr>
          <a:xfrm>
            <a:off x="2349688" y="820146"/>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5" name="Oval 24"/>
          <p:cNvSpPr/>
          <p:nvPr/>
        </p:nvSpPr>
        <p:spPr>
          <a:xfrm>
            <a:off x="2010769" y="1381979"/>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8" name="Oval 37"/>
          <p:cNvSpPr/>
          <p:nvPr/>
        </p:nvSpPr>
        <p:spPr>
          <a:xfrm>
            <a:off x="2777318" y="22419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Oval 38"/>
          <p:cNvSpPr/>
          <p:nvPr/>
        </p:nvSpPr>
        <p:spPr>
          <a:xfrm>
            <a:off x="2929718" y="306264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0" name="Oval 39"/>
          <p:cNvSpPr/>
          <p:nvPr/>
        </p:nvSpPr>
        <p:spPr>
          <a:xfrm>
            <a:off x="1453343" y="3243620"/>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2" name="Oval 41"/>
          <p:cNvSpPr/>
          <p:nvPr/>
        </p:nvSpPr>
        <p:spPr>
          <a:xfrm>
            <a:off x="4377518" y="268164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3" name="Oval 42"/>
          <p:cNvSpPr/>
          <p:nvPr/>
        </p:nvSpPr>
        <p:spPr>
          <a:xfrm>
            <a:off x="2158193" y="311979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5" name="Oval 44"/>
          <p:cNvSpPr/>
          <p:nvPr/>
        </p:nvSpPr>
        <p:spPr>
          <a:xfrm>
            <a:off x="3625043" y="2900720"/>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6" name="Oval 45"/>
          <p:cNvSpPr/>
          <p:nvPr/>
        </p:nvSpPr>
        <p:spPr>
          <a:xfrm>
            <a:off x="1705684" y="446239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7" name="Oval 46"/>
          <p:cNvSpPr/>
          <p:nvPr/>
        </p:nvSpPr>
        <p:spPr>
          <a:xfrm>
            <a:off x="2902138" y="5258796"/>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8" name="Oval 47"/>
          <p:cNvSpPr/>
          <p:nvPr/>
        </p:nvSpPr>
        <p:spPr>
          <a:xfrm>
            <a:off x="2363194" y="4849079"/>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9" name="Oval 48"/>
          <p:cNvSpPr/>
          <p:nvPr/>
        </p:nvSpPr>
        <p:spPr>
          <a:xfrm>
            <a:off x="3529793" y="569154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75121" y="270126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a:off x="763588" y="2488406"/>
            <a:ext cx="1092508" cy="350328"/>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2879678"/>
            <a:ext cx="1080448" cy="1316084"/>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2056737" y="2230675"/>
            <a:ext cx="2116138" cy="646112"/>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Dead Spot</a:t>
            </a:r>
          </a:p>
        </p:txBody>
      </p:sp>
      <p:cxnSp>
        <p:nvCxnSpPr>
          <p:cNvPr id="58" name="Straight Arrow Connector 57"/>
          <p:cNvCxnSpPr/>
          <p:nvPr/>
        </p:nvCxnSpPr>
        <p:spPr>
          <a:xfrm rot="5400000" flipH="1" flipV="1">
            <a:off x="1513906" y="3015302"/>
            <a:ext cx="438150" cy="38100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84714" name="TextBox 62"/>
          <p:cNvSpPr txBox="1">
            <a:spLocks noChangeArrowheads="1"/>
          </p:cNvSpPr>
          <p:nvPr/>
        </p:nvSpPr>
        <p:spPr bwMode="auto">
          <a:xfrm>
            <a:off x="1963738" y="3252788"/>
            <a:ext cx="3606800" cy="1384300"/>
          </a:xfrm>
          <a:prstGeom prst="rect">
            <a:avLst/>
          </a:prstGeom>
          <a:noFill/>
          <a:ln w="9525">
            <a:noFill/>
            <a:miter lim="800000"/>
            <a:headEnd/>
            <a:tailEnd/>
          </a:ln>
        </p:spPr>
        <p:txBody>
          <a:bodyPr>
            <a:spAutoFit/>
          </a:bodyPr>
          <a:lstStyle/>
          <a:p>
            <a:r>
              <a:rPr lang="en-US" sz="2800" dirty="0"/>
              <a:t>Half a wavelength farther from the green wave center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75121" y="270126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sp>
        <p:nvSpPr>
          <p:cNvPr id="44" name="TextBox 43"/>
          <p:cNvSpPr txBox="1"/>
          <p:nvPr/>
        </p:nvSpPr>
        <p:spPr>
          <a:xfrm>
            <a:off x="3312331" y="2640107"/>
            <a:ext cx="2297424"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Dead Spots</a:t>
            </a:r>
          </a:p>
        </p:txBody>
      </p:sp>
      <p:sp>
        <p:nvSpPr>
          <p:cNvPr id="24" name="Oval 23"/>
          <p:cNvSpPr/>
          <p:nvPr/>
        </p:nvSpPr>
        <p:spPr>
          <a:xfrm>
            <a:off x="2318841" y="236234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5" name="Oval 24"/>
          <p:cNvSpPr/>
          <p:nvPr/>
        </p:nvSpPr>
        <p:spPr>
          <a:xfrm>
            <a:off x="2948913" y="1968833"/>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9" name="Oval 28"/>
          <p:cNvSpPr/>
          <p:nvPr/>
        </p:nvSpPr>
        <p:spPr>
          <a:xfrm>
            <a:off x="3592633" y="1698152"/>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7" name="Oval 36"/>
          <p:cNvSpPr/>
          <p:nvPr/>
        </p:nvSpPr>
        <p:spPr>
          <a:xfrm>
            <a:off x="1713221" y="3739489"/>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3" name="Oval 42"/>
          <p:cNvSpPr/>
          <p:nvPr/>
        </p:nvSpPr>
        <p:spPr>
          <a:xfrm>
            <a:off x="2471241" y="394349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5" name="Oval 44"/>
          <p:cNvSpPr/>
          <p:nvPr/>
        </p:nvSpPr>
        <p:spPr>
          <a:xfrm>
            <a:off x="3187038" y="4092908"/>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6" name="Oval 45"/>
          <p:cNvSpPr/>
          <p:nvPr/>
        </p:nvSpPr>
        <p:spPr>
          <a:xfrm>
            <a:off x="3916483" y="4222277"/>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6"/>
          <p:cNvGrpSpPr>
            <a:grpSpLocks/>
          </p:cNvGrpSpPr>
          <p:nvPr/>
        </p:nvGrpSpPr>
        <p:grpSpPr bwMode="auto">
          <a:xfrm>
            <a:off x="1343025" y="12525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1319213" y="4924425"/>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8" name="Straight Connector 37"/>
          <p:cNvCxnSpPr/>
          <p:nvPr/>
        </p:nvCxnSpPr>
        <p:spPr>
          <a:xfrm flipH="1">
            <a:off x="742950" y="3400425"/>
            <a:ext cx="4772025" cy="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flipV="1">
            <a:off x="1171575" y="1548594"/>
            <a:ext cx="21751" cy="1851831"/>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flipV="1">
            <a:off x="1152525" y="3386919"/>
            <a:ext cx="21751" cy="1851831"/>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5" name="TextBox 54"/>
          <p:cNvSpPr txBox="1"/>
          <p:nvPr/>
        </p:nvSpPr>
        <p:spPr>
          <a:xfrm>
            <a:off x="857250" y="2200275"/>
            <a:ext cx="654346" cy="523220"/>
          </a:xfrm>
          <a:prstGeom prst="rect">
            <a:avLst/>
          </a:prstGeom>
          <a:solidFill>
            <a:schemeClr val="bg1"/>
          </a:solidFill>
        </p:spPr>
        <p:txBody>
          <a:bodyPr wrap="none" rtlCol="0">
            <a:spAutoFit/>
          </a:bodyPr>
          <a:lstStyle/>
          <a:p>
            <a:r>
              <a:rPr lang="en-US" sz="2800" dirty="0"/>
              <a:t>2m</a:t>
            </a:r>
          </a:p>
        </p:txBody>
      </p:sp>
      <p:sp>
        <p:nvSpPr>
          <p:cNvPr id="56" name="TextBox 55"/>
          <p:cNvSpPr txBox="1"/>
          <p:nvPr/>
        </p:nvSpPr>
        <p:spPr>
          <a:xfrm>
            <a:off x="838200" y="4010025"/>
            <a:ext cx="654346" cy="523220"/>
          </a:xfrm>
          <a:prstGeom prst="rect">
            <a:avLst/>
          </a:prstGeom>
          <a:solidFill>
            <a:schemeClr val="bg1"/>
          </a:solidFill>
        </p:spPr>
        <p:txBody>
          <a:bodyPr wrap="none" rtlCol="0">
            <a:spAutoFit/>
          </a:bodyPr>
          <a:lstStyle/>
          <a:p>
            <a:r>
              <a:rPr lang="en-US" sz="2800" dirty="0"/>
              <a:t>2m</a:t>
            </a:r>
          </a:p>
        </p:txBody>
      </p:sp>
      <p:sp>
        <p:nvSpPr>
          <p:cNvPr id="64" name="Oval 63"/>
          <p:cNvSpPr/>
          <p:nvPr/>
        </p:nvSpPr>
        <p:spPr>
          <a:xfrm>
            <a:off x="4421308" y="1440977"/>
            <a:ext cx="236417" cy="273523"/>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68" name="Straight Connector 67"/>
          <p:cNvCxnSpPr>
            <a:stCxn id="32" idx="2"/>
            <a:endCxn id="64" idx="2"/>
          </p:cNvCxnSpPr>
          <p:nvPr/>
        </p:nvCxnSpPr>
        <p:spPr>
          <a:xfrm>
            <a:off x="1906588" y="1574006"/>
            <a:ext cx="2514720" cy="3733"/>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p:cNvCxnSpPr>
            <a:stCxn id="34" idx="2"/>
            <a:endCxn id="64" idx="7"/>
          </p:cNvCxnSpPr>
          <p:nvPr/>
        </p:nvCxnSpPr>
        <p:spPr>
          <a:xfrm flipV="1">
            <a:off x="1876425" y="1481033"/>
            <a:ext cx="2746678" cy="3772004"/>
          </a:xfrm>
          <a:prstGeom prst="line">
            <a:avLst/>
          </a:prstGeom>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1771651" y="914400"/>
            <a:ext cx="2800349"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2895600" y="609600"/>
            <a:ext cx="654346" cy="523220"/>
          </a:xfrm>
          <a:prstGeom prst="rect">
            <a:avLst/>
          </a:prstGeom>
          <a:solidFill>
            <a:schemeClr val="bg1"/>
          </a:solidFill>
        </p:spPr>
        <p:txBody>
          <a:bodyPr wrap="none" rtlCol="0">
            <a:spAutoFit/>
          </a:bodyPr>
          <a:lstStyle/>
          <a:p>
            <a:r>
              <a:rPr lang="en-US" sz="2800" dirty="0"/>
              <a:t>3m</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410409" y="322414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a:off x="763588" y="2488406"/>
            <a:ext cx="808037" cy="854869"/>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3400425"/>
            <a:ext cx="809625" cy="795337"/>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1954805" y="3067028"/>
            <a:ext cx="2061783"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Loud Spot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10434" y="190969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flipV="1">
            <a:off x="763588" y="2088107"/>
            <a:ext cx="1010621" cy="400299"/>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2115403"/>
            <a:ext cx="998561" cy="208035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2097680" y="2066903"/>
            <a:ext cx="2061783"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Loud Spot</a:t>
            </a:r>
          </a:p>
        </p:txBody>
      </p:sp>
      <p:cxnSp>
        <p:nvCxnSpPr>
          <p:cNvPr id="58" name="Straight Arrow Connector 57"/>
          <p:cNvCxnSpPr/>
          <p:nvPr/>
        </p:nvCxnSpPr>
        <p:spPr>
          <a:xfrm flipV="1">
            <a:off x="846446" y="3234519"/>
            <a:ext cx="518330" cy="103652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84714" name="TextBox 62"/>
          <p:cNvSpPr txBox="1">
            <a:spLocks noChangeArrowheads="1"/>
          </p:cNvSpPr>
          <p:nvPr/>
        </p:nvSpPr>
        <p:spPr bwMode="auto">
          <a:xfrm>
            <a:off x="1158522" y="3648576"/>
            <a:ext cx="3606800" cy="1384300"/>
          </a:xfrm>
          <a:prstGeom prst="rect">
            <a:avLst/>
          </a:prstGeom>
          <a:noFill/>
          <a:ln w="9525">
            <a:noFill/>
            <a:miter lim="800000"/>
            <a:headEnd/>
            <a:tailEnd/>
          </a:ln>
        </p:spPr>
        <p:txBody>
          <a:bodyPr>
            <a:spAutoFit/>
          </a:bodyPr>
          <a:lstStyle/>
          <a:p>
            <a:r>
              <a:rPr lang="en-US" sz="2800" dirty="0"/>
              <a:t>Full wavelength farther from the green wave center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10434" y="190969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flipV="1">
            <a:off x="763588" y="2088107"/>
            <a:ext cx="1010621" cy="400299"/>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2115403"/>
            <a:ext cx="998561" cy="208035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2725477" y="1630175"/>
            <a:ext cx="2242922"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Loud Spots</a:t>
            </a:r>
          </a:p>
        </p:txBody>
      </p:sp>
      <p:sp>
        <p:nvSpPr>
          <p:cNvPr id="24" name="Oval 23"/>
          <p:cNvSpPr/>
          <p:nvPr/>
        </p:nvSpPr>
        <p:spPr>
          <a:xfrm>
            <a:off x="2349688" y="820146"/>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5" name="Oval 24"/>
          <p:cNvSpPr/>
          <p:nvPr/>
        </p:nvSpPr>
        <p:spPr>
          <a:xfrm>
            <a:off x="2010769" y="1381979"/>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8" name="Oval 37"/>
          <p:cNvSpPr/>
          <p:nvPr/>
        </p:nvSpPr>
        <p:spPr>
          <a:xfrm>
            <a:off x="2777318" y="22419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Oval 38"/>
          <p:cNvSpPr/>
          <p:nvPr/>
        </p:nvSpPr>
        <p:spPr>
          <a:xfrm>
            <a:off x="2929718" y="306264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0" name="Oval 39"/>
          <p:cNvSpPr/>
          <p:nvPr/>
        </p:nvSpPr>
        <p:spPr>
          <a:xfrm>
            <a:off x="1453343" y="3243620"/>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2" name="Oval 41"/>
          <p:cNvSpPr/>
          <p:nvPr/>
        </p:nvSpPr>
        <p:spPr>
          <a:xfrm>
            <a:off x="4377518" y="268164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3" name="Oval 42"/>
          <p:cNvSpPr/>
          <p:nvPr/>
        </p:nvSpPr>
        <p:spPr>
          <a:xfrm>
            <a:off x="2158193" y="311979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5" name="Oval 44"/>
          <p:cNvSpPr/>
          <p:nvPr/>
        </p:nvSpPr>
        <p:spPr>
          <a:xfrm>
            <a:off x="3625043" y="2900720"/>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6" name="Oval 45"/>
          <p:cNvSpPr/>
          <p:nvPr/>
        </p:nvSpPr>
        <p:spPr>
          <a:xfrm>
            <a:off x="1705684" y="446239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7" name="Oval 46"/>
          <p:cNvSpPr/>
          <p:nvPr/>
        </p:nvSpPr>
        <p:spPr>
          <a:xfrm>
            <a:off x="2902138" y="5258796"/>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8" name="Oval 47"/>
          <p:cNvSpPr/>
          <p:nvPr/>
        </p:nvSpPr>
        <p:spPr>
          <a:xfrm>
            <a:off x="2363194" y="4849079"/>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9" name="Oval 48"/>
          <p:cNvSpPr/>
          <p:nvPr/>
        </p:nvSpPr>
        <p:spPr>
          <a:xfrm>
            <a:off x="3529793" y="569154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75121" y="270126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a:off x="763588" y="2488406"/>
            <a:ext cx="1092508" cy="350328"/>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2879678"/>
            <a:ext cx="1080448" cy="1316084"/>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2056737" y="2230675"/>
            <a:ext cx="2116138" cy="646112"/>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Dead Spot</a:t>
            </a:r>
          </a:p>
        </p:txBody>
      </p:sp>
      <p:cxnSp>
        <p:nvCxnSpPr>
          <p:cNvPr id="58" name="Straight Arrow Connector 57"/>
          <p:cNvCxnSpPr/>
          <p:nvPr/>
        </p:nvCxnSpPr>
        <p:spPr>
          <a:xfrm rot="5400000" flipH="1" flipV="1">
            <a:off x="1513906" y="3015302"/>
            <a:ext cx="438150" cy="38100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84714" name="TextBox 62"/>
          <p:cNvSpPr txBox="1">
            <a:spLocks noChangeArrowheads="1"/>
          </p:cNvSpPr>
          <p:nvPr/>
        </p:nvSpPr>
        <p:spPr bwMode="auto">
          <a:xfrm>
            <a:off x="1963738" y="3252788"/>
            <a:ext cx="3606800" cy="1384300"/>
          </a:xfrm>
          <a:prstGeom prst="rect">
            <a:avLst/>
          </a:prstGeom>
          <a:noFill/>
          <a:ln w="9525">
            <a:noFill/>
            <a:miter lim="800000"/>
            <a:headEnd/>
            <a:tailEnd/>
          </a:ln>
        </p:spPr>
        <p:txBody>
          <a:bodyPr>
            <a:spAutoFit/>
          </a:bodyPr>
          <a:lstStyle/>
          <a:p>
            <a:r>
              <a:rPr lang="en-US" sz="2800" dirty="0"/>
              <a:t>Half a wavelength farther from the green wave center</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75121" y="270126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sp>
        <p:nvSpPr>
          <p:cNvPr id="44" name="TextBox 43"/>
          <p:cNvSpPr txBox="1"/>
          <p:nvPr/>
        </p:nvSpPr>
        <p:spPr>
          <a:xfrm>
            <a:off x="3312331" y="2640107"/>
            <a:ext cx="2297424"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Dead Spots</a:t>
            </a:r>
          </a:p>
        </p:txBody>
      </p:sp>
      <p:sp>
        <p:nvSpPr>
          <p:cNvPr id="24" name="Oval 23"/>
          <p:cNvSpPr/>
          <p:nvPr/>
        </p:nvSpPr>
        <p:spPr>
          <a:xfrm>
            <a:off x="2318841" y="236234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5" name="Oval 24"/>
          <p:cNvSpPr/>
          <p:nvPr/>
        </p:nvSpPr>
        <p:spPr>
          <a:xfrm>
            <a:off x="2948913" y="1968833"/>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9" name="Oval 28"/>
          <p:cNvSpPr/>
          <p:nvPr/>
        </p:nvSpPr>
        <p:spPr>
          <a:xfrm>
            <a:off x="3592633" y="1698152"/>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7" name="Oval 36"/>
          <p:cNvSpPr/>
          <p:nvPr/>
        </p:nvSpPr>
        <p:spPr>
          <a:xfrm>
            <a:off x="1713221" y="3739489"/>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3" name="Oval 42"/>
          <p:cNvSpPr/>
          <p:nvPr/>
        </p:nvSpPr>
        <p:spPr>
          <a:xfrm>
            <a:off x="2471241" y="394349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5" name="Oval 44"/>
          <p:cNvSpPr/>
          <p:nvPr/>
        </p:nvSpPr>
        <p:spPr>
          <a:xfrm>
            <a:off x="3187038" y="4092908"/>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6" name="Oval 45"/>
          <p:cNvSpPr/>
          <p:nvPr/>
        </p:nvSpPr>
        <p:spPr>
          <a:xfrm>
            <a:off x="3916483" y="4222277"/>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6753" name="Title 1"/>
          <p:cNvSpPr>
            <a:spLocks noGrp="1"/>
          </p:cNvSpPr>
          <p:nvPr>
            <p:ph type="title"/>
          </p:nvPr>
        </p:nvSpPr>
        <p:spPr/>
        <p:txBody>
          <a:bodyPr/>
          <a:lstStyle/>
          <a:p>
            <a:r>
              <a:rPr lang="en-US" dirty="0"/>
              <a:t>Question 223.8.3</a:t>
            </a:r>
          </a:p>
        </p:txBody>
      </p:sp>
      <p:sp>
        <p:nvSpPr>
          <p:cNvPr id="3" name="Content Placeholder 2"/>
          <p:cNvSpPr>
            <a:spLocks noGrp="1"/>
          </p:cNvSpPr>
          <p:nvPr>
            <p:ph idx="1"/>
          </p:nvPr>
        </p:nvSpPr>
        <p:spPr/>
        <p:txBody>
          <a:bodyPr/>
          <a:lstStyle/>
          <a:p>
            <a:pPr>
              <a:buFontTx/>
              <a:buNone/>
              <a:defRPr/>
            </a:pPr>
            <a:r>
              <a:rPr lang="en-US" dirty="0"/>
              <a:t>I have two waves coming from speakers in my room. I am sitting 3 wavelengths away from one speaker and 4.5 wavelengths away from the other speaker. I hear..</a:t>
            </a:r>
          </a:p>
          <a:p>
            <a:pPr marL="514350" indent="-514350">
              <a:buFontTx/>
              <a:buAutoNum type="alphaLcParenR"/>
              <a:defRPr/>
            </a:pPr>
            <a:r>
              <a:rPr lang="en-US" dirty="0"/>
              <a:t>Twice the normal loudness</a:t>
            </a:r>
          </a:p>
          <a:p>
            <a:pPr marL="514350" indent="-514350">
              <a:buFontTx/>
              <a:buAutoNum type="alphaLcParenR"/>
              <a:defRPr/>
            </a:pPr>
            <a:r>
              <a:rPr lang="en-US" dirty="0"/>
              <a:t>4 times the normal loudness</a:t>
            </a:r>
          </a:p>
          <a:p>
            <a:pPr marL="514350" indent="-514350">
              <a:buFontTx/>
              <a:buAutoNum type="alphaLcParenR"/>
              <a:defRPr/>
            </a:pPr>
            <a:r>
              <a:rPr lang="en-US" dirty="0"/>
              <a:t>8 times the normal loudness</a:t>
            </a:r>
          </a:p>
          <a:p>
            <a:pPr marL="514350" indent="-514350">
              <a:buFontTx/>
              <a:buAutoNum type="alphaLcParenR"/>
              <a:defRPr/>
            </a:pPr>
            <a:r>
              <a:rPr lang="en-US" dirty="0"/>
              <a:t>Practically nothing</a:t>
            </a:r>
          </a:p>
        </p:txBody>
      </p:sp>
    </p:spTree>
    <p:extLst>
      <p:ext uri="{BB962C8B-B14F-4D97-AF65-F5344CB8AC3E}">
        <p14:creationId xmlns:p14="http://schemas.microsoft.com/office/powerpoint/2010/main" val="3425192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7777" name="Title 1"/>
          <p:cNvSpPr>
            <a:spLocks noGrp="1"/>
          </p:cNvSpPr>
          <p:nvPr>
            <p:ph type="title"/>
          </p:nvPr>
        </p:nvSpPr>
        <p:spPr/>
        <p:txBody>
          <a:bodyPr/>
          <a:lstStyle/>
          <a:p>
            <a:r>
              <a:rPr lang="en-US" dirty="0"/>
              <a:t>Question 223.8.4</a:t>
            </a:r>
          </a:p>
        </p:txBody>
      </p:sp>
      <p:sp>
        <p:nvSpPr>
          <p:cNvPr id="3" name="Content Placeholder 2"/>
          <p:cNvSpPr>
            <a:spLocks noGrp="1"/>
          </p:cNvSpPr>
          <p:nvPr>
            <p:ph idx="1"/>
          </p:nvPr>
        </p:nvSpPr>
        <p:spPr/>
        <p:txBody>
          <a:bodyPr/>
          <a:lstStyle/>
          <a:p>
            <a:pPr>
              <a:buFontTx/>
              <a:buNone/>
              <a:defRPr/>
            </a:pPr>
            <a:r>
              <a:rPr lang="en-US" dirty="0"/>
              <a:t>I have two waves coming from speakers in my room. I am sitting 3 wavelengths away from one speaker and 6 wavelengths away from the other speaker. I hear..</a:t>
            </a:r>
          </a:p>
          <a:p>
            <a:pPr marL="514350" indent="-514350">
              <a:buFontTx/>
              <a:buAutoNum type="alphaLcParenR"/>
              <a:defRPr/>
            </a:pPr>
            <a:r>
              <a:rPr lang="en-US" dirty="0"/>
              <a:t>Twice the normal loudness</a:t>
            </a:r>
          </a:p>
          <a:p>
            <a:pPr marL="514350" indent="-514350">
              <a:buFontTx/>
              <a:buAutoNum type="alphaLcParenR"/>
              <a:defRPr/>
            </a:pPr>
            <a:r>
              <a:rPr lang="en-US" dirty="0"/>
              <a:t>4 times the normal loudness</a:t>
            </a:r>
          </a:p>
          <a:p>
            <a:pPr marL="514350" indent="-514350">
              <a:buFontTx/>
              <a:buAutoNum type="alphaLcParenR"/>
              <a:defRPr/>
            </a:pPr>
            <a:r>
              <a:rPr lang="en-US" dirty="0"/>
              <a:t>8 times the normal loudness</a:t>
            </a:r>
          </a:p>
          <a:p>
            <a:pPr marL="514350" indent="-514350">
              <a:buFontTx/>
              <a:buAutoNum type="alphaLcParenR"/>
              <a:defRPr/>
            </a:pPr>
            <a:r>
              <a:rPr lang="en-US" dirty="0"/>
              <a:t>Practically nothing</a:t>
            </a:r>
          </a:p>
        </p:txBody>
      </p:sp>
    </p:spTree>
    <p:extLst>
      <p:ext uri="{BB962C8B-B14F-4D97-AF65-F5344CB8AC3E}">
        <p14:creationId xmlns:p14="http://schemas.microsoft.com/office/powerpoint/2010/main" val="19901057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6"/>
          <p:cNvGrpSpPr>
            <a:grpSpLocks/>
          </p:cNvGrpSpPr>
          <p:nvPr/>
        </p:nvGrpSpPr>
        <p:grpSpPr bwMode="auto">
          <a:xfrm>
            <a:off x="1343025" y="12525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1319213" y="4924425"/>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8" name="Straight Connector 37"/>
          <p:cNvCxnSpPr/>
          <p:nvPr/>
        </p:nvCxnSpPr>
        <p:spPr>
          <a:xfrm flipH="1">
            <a:off x="742950" y="3400425"/>
            <a:ext cx="4772025" cy="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flipV="1">
            <a:off x="1171575" y="1548594"/>
            <a:ext cx="21751" cy="1851831"/>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flipV="1">
            <a:off x="1152525" y="3386919"/>
            <a:ext cx="21751" cy="1851831"/>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5" name="TextBox 54"/>
          <p:cNvSpPr txBox="1"/>
          <p:nvPr/>
        </p:nvSpPr>
        <p:spPr>
          <a:xfrm>
            <a:off x="857250" y="2200275"/>
            <a:ext cx="654346" cy="523220"/>
          </a:xfrm>
          <a:prstGeom prst="rect">
            <a:avLst/>
          </a:prstGeom>
          <a:solidFill>
            <a:schemeClr val="bg1"/>
          </a:solidFill>
        </p:spPr>
        <p:txBody>
          <a:bodyPr wrap="none" rtlCol="0">
            <a:spAutoFit/>
          </a:bodyPr>
          <a:lstStyle/>
          <a:p>
            <a:r>
              <a:rPr lang="en-US" sz="2800" dirty="0"/>
              <a:t>2m</a:t>
            </a:r>
          </a:p>
        </p:txBody>
      </p:sp>
      <p:sp>
        <p:nvSpPr>
          <p:cNvPr id="56" name="TextBox 55"/>
          <p:cNvSpPr txBox="1"/>
          <p:nvPr/>
        </p:nvSpPr>
        <p:spPr>
          <a:xfrm>
            <a:off x="838200" y="4010025"/>
            <a:ext cx="654346" cy="523220"/>
          </a:xfrm>
          <a:prstGeom prst="rect">
            <a:avLst/>
          </a:prstGeom>
          <a:solidFill>
            <a:schemeClr val="bg1"/>
          </a:solidFill>
        </p:spPr>
        <p:txBody>
          <a:bodyPr wrap="none" rtlCol="0">
            <a:spAutoFit/>
          </a:bodyPr>
          <a:lstStyle/>
          <a:p>
            <a:r>
              <a:rPr lang="en-US" sz="2800" dirty="0"/>
              <a:t>2m</a:t>
            </a:r>
          </a:p>
        </p:txBody>
      </p:sp>
      <p:sp>
        <p:nvSpPr>
          <p:cNvPr id="64" name="Oval 63"/>
          <p:cNvSpPr/>
          <p:nvPr/>
        </p:nvSpPr>
        <p:spPr>
          <a:xfrm>
            <a:off x="4421308" y="1440977"/>
            <a:ext cx="236417" cy="273523"/>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68" name="Straight Connector 67"/>
          <p:cNvCxnSpPr>
            <a:stCxn id="32" idx="2"/>
            <a:endCxn id="64" idx="2"/>
          </p:cNvCxnSpPr>
          <p:nvPr/>
        </p:nvCxnSpPr>
        <p:spPr>
          <a:xfrm>
            <a:off x="1906588" y="1574006"/>
            <a:ext cx="2514720" cy="3733"/>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p:cNvCxnSpPr>
            <a:stCxn id="34" idx="2"/>
            <a:endCxn id="64" idx="7"/>
          </p:cNvCxnSpPr>
          <p:nvPr/>
        </p:nvCxnSpPr>
        <p:spPr>
          <a:xfrm flipV="1">
            <a:off x="1876425" y="1481033"/>
            <a:ext cx="2746678" cy="3772004"/>
          </a:xfrm>
          <a:prstGeom prst="line">
            <a:avLst/>
          </a:prstGeom>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1771651" y="914400"/>
            <a:ext cx="2800349"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2895600" y="609600"/>
            <a:ext cx="654346" cy="523220"/>
          </a:xfrm>
          <a:prstGeom prst="rect">
            <a:avLst/>
          </a:prstGeom>
          <a:solidFill>
            <a:schemeClr val="bg1"/>
          </a:solidFill>
        </p:spPr>
        <p:txBody>
          <a:bodyPr wrap="none" rtlCol="0">
            <a:spAutoFit/>
          </a:bodyPr>
          <a:lstStyle/>
          <a:p>
            <a:r>
              <a:rPr lang="en-US" sz="2800" dirty="0"/>
              <a:t>3m</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1C05155-3787-EDED-51B9-889AC582D8B9}"/>
              </a:ext>
            </a:extLst>
          </p:cNvPr>
          <p:cNvPicPr>
            <a:picLocks noChangeAspect="1"/>
          </p:cNvPicPr>
          <p:nvPr/>
        </p:nvPicPr>
        <p:blipFill>
          <a:blip r:embed="rId2"/>
          <a:stretch>
            <a:fillRect/>
          </a:stretch>
        </p:blipFill>
        <p:spPr>
          <a:xfrm>
            <a:off x="2267712" y="1406292"/>
            <a:ext cx="4752594" cy="4648370"/>
          </a:xfrm>
          <a:prstGeom prst="rect">
            <a:avLst/>
          </a:prstGeom>
        </p:spPr>
      </p:pic>
    </p:spTree>
    <p:extLst>
      <p:ext uri="{BB962C8B-B14F-4D97-AF65-F5344CB8AC3E}">
        <p14:creationId xmlns:p14="http://schemas.microsoft.com/office/powerpoint/2010/main" val="308733777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8" name="Picture 4" descr="G:\DCIM\100CASIO\CIMG0507.JPG"/>
          <p:cNvPicPr>
            <a:picLocks noChangeAspect="1" noChangeArrowheads="1"/>
          </p:cNvPicPr>
          <p:nvPr/>
        </p:nvPicPr>
        <p:blipFill>
          <a:blip r:embed="rId2" cstate="print">
            <a:lum bright="-40000" contrast="40000"/>
          </a:blip>
          <a:srcRect l="20270" t="16216" r="29054" b="18919"/>
          <a:stretch>
            <a:fillRect/>
          </a:stretch>
        </p:blipFill>
        <p:spPr bwMode="auto">
          <a:xfrm>
            <a:off x="1686348" y="969935"/>
            <a:ext cx="1905000" cy="1828800"/>
          </a:xfrm>
          <a:prstGeom prst="rect">
            <a:avLst/>
          </a:prstGeom>
          <a:noFill/>
        </p:spPr>
      </p:pic>
      <p:pic>
        <p:nvPicPr>
          <p:cNvPr id="6150" name="Picture 6" descr="G:\DCIM\100CASIO\CIMG0506.JPG"/>
          <p:cNvPicPr>
            <a:picLocks noChangeAspect="1" noChangeArrowheads="1"/>
          </p:cNvPicPr>
          <p:nvPr/>
        </p:nvPicPr>
        <p:blipFill>
          <a:blip r:embed="rId3" cstate="print">
            <a:lum bright="-40000" contrast="40000"/>
          </a:blip>
          <a:srcRect l="15789" r="21053" b="15789"/>
          <a:stretch>
            <a:fillRect/>
          </a:stretch>
        </p:blipFill>
        <p:spPr bwMode="auto">
          <a:xfrm>
            <a:off x="3515148" y="969935"/>
            <a:ext cx="1828800" cy="1828800"/>
          </a:xfrm>
          <a:prstGeom prst="rect">
            <a:avLst/>
          </a:prstGeom>
          <a:noFill/>
        </p:spPr>
      </p:pic>
      <p:pic>
        <p:nvPicPr>
          <p:cNvPr id="6151" name="Picture 7" descr="G:\DCIM\100CASIO\CIMG0511.JPG"/>
          <p:cNvPicPr>
            <a:picLocks noChangeAspect="1" noChangeArrowheads="1"/>
          </p:cNvPicPr>
          <p:nvPr/>
        </p:nvPicPr>
        <p:blipFill>
          <a:blip r:embed="rId4" cstate="print">
            <a:lum bright="-40000" contrast="20000"/>
          </a:blip>
          <a:srcRect l="25000" t="8709" r="20000" b="21613"/>
          <a:stretch>
            <a:fillRect/>
          </a:stretch>
        </p:blipFill>
        <p:spPr bwMode="auto">
          <a:xfrm>
            <a:off x="5343948" y="969935"/>
            <a:ext cx="1924756" cy="1828800"/>
          </a:xfrm>
          <a:prstGeom prst="rect">
            <a:avLst/>
          </a:prstGeom>
          <a:noFill/>
        </p:spPr>
      </p:pic>
      <p:grpSp>
        <p:nvGrpSpPr>
          <p:cNvPr id="18" name="Group 17"/>
          <p:cNvGrpSpPr/>
          <p:nvPr/>
        </p:nvGrpSpPr>
        <p:grpSpPr>
          <a:xfrm>
            <a:off x="2941234" y="4339568"/>
            <a:ext cx="2641600" cy="1981200"/>
            <a:chOff x="2266244" y="914400"/>
            <a:chExt cx="2641600" cy="1981200"/>
          </a:xfrm>
        </p:grpSpPr>
        <p:pic>
          <p:nvPicPr>
            <p:cNvPr id="6152" name="Picture 8" descr="G:\DCIM\100CASIO\CIMG0510.JPG"/>
            <p:cNvPicPr>
              <a:picLocks noChangeAspect="1" noChangeArrowheads="1"/>
            </p:cNvPicPr>
            <p:nvPr/>
          </p:nvPicPr>
          <p:blipFill>
            <a:blip r:embed="rId5" cstate="print"/>
            <a:srcRect/>
            <a:stretch>
              <a:fillRect/>
            </a:stretch>
          </p:blipFill>
          <p:spPr bwMode="auto">
            <a:xfrm>
              <a:off x="2266244" y="914400"/>
              <a:ext cx="2641600" cy="1981200"/>
            </a:xfrm>
            <a:prstGeom prst="rect">
              <a:avLst/>
            </a:prstGeom>
            <a:noFill/>
          </p:spPr>
        </p:pic>
        <p:pic>
          <p:nvPicPr>
            <p:cNvPr id="16" name="Picture 8" descr="G:\DCIM\100CASIO\CIMG0510.JPG"/>
            <p:cNvPicPr>
              <a:picLocks noChangeAspect="1" noChangeArrowheads="1"/>
            </p:cNvPicPr>
            <p:nvPr/>
          </p:nvPicPr>
          <p:blipFill>
            <a:blip r:embed="rId5" cstate="print"/>
            <a:srcRect l="39510" t="23438" r="53099" b="69231"/>
            <a:stretch>
              <a:fillRect/>
            </a:stretch>
          </p:blipFill>
          <p:spPr bwMode="auto">
            <a:xfrm>
              <a:off x="3267075" y="1250157"/>
              <a:ext cx="195263" cy="145257"/>
            </a:xfrm>
            <a:prstGeom prst="rect">
              <a:avLst/>
            </a:prstGeom>
            <a:noFill/>
          </p:spPr>
        </p:pic>
        <p:pic>
          <p:nvPicPr>
            <p:cNvPr id="17" name="Picture 8" descr="G:\DCIM\100CASIO\CIMG0510.JPG"/>
            <p:cNvPicPr>
              <a:picLocks noChangeAspect="1" noChangeArrowheads="1"/>
            </p:cNvPicPr>
            <p:nvPr/>
          </p:nvPicPr>
          <p:blipFill>
            <a:blip r:embed="rId5" cstate="print">
              <a:lum bright="10000"/>
            </a:blip>
            <a:srcRect l="38248" t="23438" r="56434" b="69231"/>
            <a:stretch>
              <a:fillRect/>
            </a:stretch>
          </p:blipFill>
          <p:spPr bwMode="auto">
            <a:xfrm>
              <a:off x="3445670" y="1259681"/>
              <a:ext cx="140493" cy="145257"/>
            </a:xfrm>
            <a:prstGeom prst="rect">
              <a:avLst/>
            </a:prstGeom>
            <a:noFill/>
          </p:spPr>
        </p:pic>
      </p:grpSp>
      <p:sp>
        <p:nvSpPr>
          <p:cNvPr id="19" name="TextBox 18"/>
          <p:cNvSpPr txBox="1"/>
          <p:nvPr/>
        </p:nvSpPr>
        <p:spPr>
          <a:xfrm>
            <a:off x="1961350" y="4897508"/>
            <a:ext cx="976393" cy="369332"/>
          </a:xfrm>
          <a:prstGeom prst="rect">
            <a:avLst/>
          </a:prstGeom>
          <a:noFill/>
        </p:spPr>
        <p:txBody>
          <a:bodyPr wrap="square" rtlCol="0">
            <a:spAutoFit/>
          </a:bodyPr>
          <a:lstStyle/>
          <a:p>
            <a:r>
              <a:rPr lang="en-US" dirty="0"/>
              <a:t>Laser</a:t>
            </a:r>
          </a:p>
        </p:txBody>
      </p:sp>
      <p:sp>
        <p:nvSpPr>
          <p:cNvPr id="20" name="TextBox 19"/>
          <p:cNvSpPr txBox="1"/>
          <p:nvPr/>
        </p:nvSpPr>
        <p:spPr>
          <a:xfrm>
            <a:off x="5910835" y="5034410"/>
            <a:ext cx="1583410" cy="646331"/>
          </a:xfrm>
          <a:prstGeom prst="rect">
            <a:avLst/>
          </a:prstGeom>
          <a:noFill/>
        </p:spPr>
        <p:txBody>
          <a:bodyPr wrap="square" rtlCol="0">
            <a:spAutoFit/>
          </a:bodyPr>
          <a:lstStyle/>
          <a:p>
            <a:r>
              <a:rPr lang="en-US" dirty="0"/>
              <a:t>Movable Mirror</a:t>
            </a:r>
          </a:p>
        </p:txBody>
      </p:sp>
      <p:sp>
        <p:nvSpPr>
          <p:cNvPr id="21" name="TextBox 20"/>
          <p:cNvSpPr txBox="1"/>
          <p:nvPr/>
        </p:nvSpPr>
        <p:spPr>
          <a:xfrm>
            <a:off x="4311927" y="6488668"/>
            <a:ext cx="1583410" cy="369332"/>
          </a:xfrm>
          <a:prstGeom prst="rect">
            <a:avLst/>
          </a:prstGeom>
          <a:noFill/>
        </p:spPr>
        <p:txBody>
          <a:bodyPr wrap="square" rtlCol="0">
            <a:spAutoFit/>
          </a:bodyPr>
          <a:lstStyle/>
          <a:p>
            <a:r>
              <a:rPr lang="en-US" dirty="0"/>
              <a:t>Fixed Mirror</a:t>
            </a:r>
          </a:p>
        </p:txBody>
      </p:sp>
      <p:sp>
        <p:nvSpPr>
          <p:cNvPr id="22" name="TextBox 21"/>
          <p:cNvSpPr txBox="1"/>
          <p:nvPr/>
        </p:nvSpPr>
        <p:spPr>
          <a:xfrm>
            <a:off x="1101195" y="6052133"/>
            <a:ext cx="1583410" cy="369332"/>
          </a:xfrm>
          <a:prstGeom prst="rect">
            <a:avLst/>
          </a:prstGeom>
          <a:noFill/>
        </p:spPr>
        <p:txBody>
          <a:bodyPr wrap="square" rtlCol="0">
            <a:spAutoFit/>
          </a:bodyPr>
          <a:lstStyle/>
          <a:p>
            <a:r>
              <a:rPr lang="en-US" dirty="0"/>
              <a:t>Beam Splitter</a:t>
            </a:r>
          </a:p>
        </p:txBody>
      </p:sp>
      <p:sp>
        <p:nvSpPr>
          <p:cNvPr id="23" name="TextBox 22"/>
          <p:cNvSpPr txBox="1"/>
          <p:nvPr/>
        </p:nvSpPr>
        <p:spPr>
          <a:xfrm>
            <a:off x="1694482" y="2903351"/>
            <a:ext cx="1583410" cy="369332"/>
          </a:xfrm>
          <a:prstGeom prst="rect">
            <a:avLst/>
          </a:prstGeom>
          <a:noFill/>
        </p:spPr>
        <p:txBody>
          <a:bodyPr wrap="square" rtlCol="0">
            <a:spAutoFit/>
          </a:bodyPr>
          <a:lstStyle/>
          <a:p>
            <a:r>
              <a:rPr lang="en-US" dirty="0"/>
              <a:t>Bright Center</a:t>
            </a:r>
          </a:p>
        </p:txBody>
      </p:sp>
      <p:sp>
        <p:nvSpPr>
          <p:cNvPr id="24" name="TextBox 23"/>
          <p:cNvSpPr txBox="1"/>
          <p:nvPr/>
        </p:nvSpPr>
        <p:spPr>
          <a:xfrm>
            <a:off x="3784170" y="2900768"/>
            <a:ext cx="1583410" cy="369332"/>
          </a:xfrm>
          <a:prstGeom prst="rect">
            <a:avLst/>
          </a:prstGeom>
          <a:noFill/>
        </p:spPr>
        <p:txBody>
          <a:bodyPr wrap="square" rtlCol="0">
            <a:spAutoFit/>
          </a:bodyPr>
          <a:lstStyle/>
          <a:p>
            <a:r>
              <a:rPr lang="en-US" dirty="0"/>
              <a:t>Dark Center</a:t>
            </a:r>
          </a:p>
        </p:txBody>
      </p:sp>
      <p:sp>
        <p:nvSpPr>
          <p:cNvPr id="25" name="TextBox 24"/>
          <p:cNvSpPr txBox="1"/>
          <p:nvPr/>
        </p:nvSpPr>
        <p:spPr>
          <a:xfrm>
            <a:off x="5625885" y="2898185"/>
            <a:ext cx="1583410" cy="646331"/>
          </a:xfrm>
          <a:prstGeom prst="rect">
            <a:avLst/>
          </a:prstGeom>
          <a:noFill/>
        </p:spPr>
        <p:txBody>
          <a:bodyPr wrap="square" rtlCol="0">
            <a:spAutoFit/>
          </a:bodyPr>
          <a:lstStyle/>
          <a:p>
            <a:r>
              <a:rPr lang="en-US" dirty="0"/>
              <a:t>Small Off-Center Fringes</a:t>
            </a:r>
          </a:p>
        </p:txBody>
      </p:sp>
      <p:cxnSp>
        <p:nvCxnSpPr>
          <p:cNvPr id="27" name="Straight Arrow Connector 26"/>
          <p:cNvCxnSpPr/>
          <p:nvPr/>
        </p:nvCxnSpPr>
        <p:spPr>
          <a:xfrm flipV="1">
            <a:off x="2472794" y="5346959"/>
            <a:ext cx="1735810" cy="85240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H="1" flipV="1">
            <a:off x="4348089" y="5997887"/>
            <a:ext cx="278969" cy="44945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H="1" flipV="1">
            <a:off x="5244408" y="5204890"/>
            <a:ext cx="638013" cy="3358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4701153" y="3859077"/>
            <a:ext cx="1583410" cy="369332"/>
          </a:xfrm>
          <a:prstGeom prst="rect">
            <a:avLst/>
          </a:prstGeom>
          <a:noFill/>
        </p:spPr>
        <p:txBody>
          <a:bodyPr wrap="square" rtlCol="0">
            <a:spAutoFit/>
          </a:bodyPr>
          <a:lstStyle/>
          <a:p>
            <a:r>
              <a:rPr lang="en-US"/>
              <a:t>To Screen</a:t>
            </a:r>
            <a:endParaRPr lang="en-US" dirty="0"/>
          </a:p>
        </p:txBody>
      </p:sp>
      <p:cxnSp>
        <p:nvCxnSpPr>
          <p:cNvPr id="34" name="Straight Arrow Connector 33"/>
          <p:cNvCxnSpPr/>
          <p:nvPr/>
        </p:nvCxnSpPr>
        <p:spPr>
          <a:xfrm flipH="1" flipV="1">
            <a:off x="4500489" y="6150287"/>
            <a:ext cx="278969" cy="44945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a:xfrm flipH="1" flipV="1">
            <a:off x="4479010" y="3797085"/>
            <a:ext cx="5982" cy="64838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67D7969-F8E4-EB61-3B1F-AE04D00F3EA0}"/>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15797BE1-4114-5F60-B9CF-833AA7AA2D18}"/>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1674338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Arc 15"/>
          <p:cNvSpPr/>
          <p:nvPr/>
        </p:nvSpPr>
        <p:spPr>
          <a:xfrm>
            <a:off x="4226859" y="3213846"/>
            <a:ext cx="3612776" cy="510989"/>
          </a:xfrm>
          <a:prstGeom prst="arc">
            <a:avLst>
              <a:gd name="adj1" fmla="val 10840119"/>
              <a:gd name="adj2" fmla="val 35156"/>
            </a:avLst>
          </a:prstGeom>
          <a:solidFill>
            <a:schemeClr val="bg1">
              <a:lumMod val="75000"/>
            </a:schemeClr>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Arc 14"/>
          <p:cNvSpPr/>
          <p:nvPr/>
        </p:nvSpPr>
        <p:spPr>
          <a:xfrm>
            <a:off x="1196788" y="3307977"/>
            <a:ext cx="1949824" cy="416858"/>
          </a:xfrm>
          <a:prstGeom prst="arc">
            <a:avLst>
              <a:gd name="adj1" fmla="val 10762635"/>
              <a:gd name="adj2" fmla="val 0"/>
            </a:avLst>
          </a:prstGeom>
          <a:solidFill>
            <a:schemeClr val="bg1">
              <a:lumMod val="75000"/>
            </a:schemeClr>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Freeform 13"/>
          <p:cNvSpPr/>
          <p:nvPr/>
        </p:nvSpPr>
        <p:spPr>
          <a:xfrm>
            <a:off x="1573306" y="3886200"/>
            <a:ext cx="5970494" cy="1976718"/>
          </a:xfrm>
          <a:custGeom>
            <a:avLst/>
            <a:gdLst>
              <a:gd name="connsiteX0" fmla="*/ 0 w 5916706"/>
              <a:gd name="connsiteY0" fmla="*/ 0 h 1909482"/>
              <a:gd name="connsiteX1" fmla="*/ 26894 w 5916706"/>
              <a:gd name="connsiteY1" fmla="*/ 1909482 h 1909482"/>
              <a:gd name="connsiteX2" fmla="*/ 5916706 w 5916706"/>
              <a:gd name="connsiteY2" fmla="*/ 1882588 h 1909482"/>
              <a:gd name="connsiteX3" fmla="*/ 5876365 w 5916706"/>
              <a:gd name="connsiteY3" fmla="*/ 161365 h 1909482"/>
              <a:gd name="connsiteX4" fmla="*/ 2904565 w 5916706"/>
              <a:gd name="connsiteY4" fmla="*/ 121024 h 1909482"/>
              <a:gd name="connsiteX5" fmla="*/ 2891118 w 5916706"/>
              <a:gd name="connsiteY5" fmla="*/ 1452282 h 1909482"/>
              <a:gd name="connsiteX6" fmla="*/ 1264023 w 5916706"/>
              <a:gd name="connsiteY6" fmla="*/ 1452282 h 1909482"/>
              <a:gd name="connsiteX7" fmla="*/ 1237129 w 5916706"/>
              <a:gd name="connsiteY7" fmla="*/ 255494 h 1909482"/>
              <a:gd name="connsiteX8" fmla="*/ 67235 w 5916706"/>
              <a:gd name="connsiteY8" fmla="*/ 268941 h 1909482"/>
              <a:gd name="connsiteX0" fmla="*/ 0 w 5916706"/>
              <a:gd name="connsiteY0" fmla="*/ 0 h 1909482"/>
              <a:gd name="connsiteX1" fmla="*/ 26894 w 5916706"/>
              <a:gd name="connsiteY1" fmla="*/ 1909482 h 1909482"/>
              <a:gd name="connsiteX2" fmla="*/ 5916706 w 5916706"/>
              <a:gd name="connsiteY2" fmla="*/ 1882588 h 1909482"/>
              <a:gd name="connsiteX3" fmla="*/ 5876365 w 5916706"/>
              <a:gd name="connsiteY3" fmla="*/ 161365 h 1909482"/>
              <a:gd name="connsiteX4" fmla="*/ 2904565 w 5916706"/>
              <a:gd name="connsiteY4" fmla="*/ 121024 h 1909482"/>
              <a:gd name="connsiteX5" fmla="*/ 2891118 w 5916706"/>
              <a:gd name="connsiteY5" fmla="*/ 1452282 h 1909482"/>
              <a:gd name="connsiteX6" fmla="*/ 1264023 w 5916706"/>
              <a:gd name="connsiteY6" fmla="*/ 1452282 h 1909482"/>
              <a:gd name="connsiteX7" fmla="*/ 1331259 w 5916706"/>
              <a:gd name="connsiteY7" fmla="*/ 268941 h 1909482"/>
              <a:gd name="connsiteX8" fmla="*/ 67235 w 5916706"/>
              <a:gd name="connsiteY8" fmla="*/ 268941 h 1909482"/>
              <a:gd name="connsiteX0" fmla="*/ 0 w 5970494"/>
              <a:gd name="connsiteY0" fmla="*/ 0 h 1976718"/>
              <a:gd name="connsiteX1" fmla="*/ 26894 w 5970494"/>
              <a:gd name="connsiteY1" fmla="*/ 1909482 h 1976718"/>
              <a:gd name="connsiteX2" fmla="*/ 5970494 w 5970494"/>
              <a:gd name="connsiteY2" fmla="*/ 1976718 h 1976718"/>
              <a:gd name="connsiteX3" fmla="*/ 5876365 w 5970494"/>
              <a:gd name="connsiteY3" fmla="*/ 161365 h 1976718"/>
              <a:gd name="connsiteX4" fmla="*/ 2904565 w 5970494"/>
              <a:gd name="connsiteY4" fmla="*/ 121024 h 1976718"/>
              <a:gd name="connsiteX5" fmla="*/ 2891118 w 5970494"/>
              <a:gd name="connsiteY5" fmla="*/ 1452282 h 1976718"/>
              <a:gd name="connsiteX6" fmla="*/ 1264023 w 5970494"/>
              <a:gd name="connsiteY6" fmla="*/ 1452282 h 1976718"/>
              <a:gd name="connsiteX7" fmla="*/ 1331259 w 5970494"/>
              <a:gd name="connsiteY7" fmla="*/ 268941 h 1976718"/>
              <a:gd name="connsiteX8" fmla="*/ 67235 w 5970494"/>
              <a:gd name="connsiteY8" fmla="*/ 268941 h 19767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0494" h="1976718">
                <a:moveTo>
                  <a:pt x="0" y="0"/>
                </a:moveTo>
                <a:lnTo>
                  <a:pt x="26894" y="1909482"/>
                </a:lnTo>
                <a:lnTo>
                  <a:pt x="5970494" y="1976718"/>
                </a:lnTo>
                <a:lnTo>
                  <a:pt x="5876365" y="161365"/>
                </a:lnTo>
                <a:lnTo>
                  <a:pt x="2904565" y="121024"/>
                </a:lnTo>
                <a:lnTo>
                  <a:pt x="2891118" y="1452282"/>
                </a:lnTo>
                <a:lnTo>
                  <a:pt x="1264023" y="1452282"/>
                </a:lnTo>
                <a:lnTo>
                  <a:pt x="1331259" y="268941"/>
                </a:lnTo>
                <a:lnTo>
                  <a:pt x="67235" y="268941"/>
                </a:lnTo>
              </a:path>
            </a:pathLst>
          </a:custGeom>
          <a:solidFill>
            <a:schemeClr val="tx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1196789" y="3523128"/>
            <a:ext cx="389964" cy="227255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2841813" y="3509681"/>
            <a:ext cx="304800" cy="183328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196788" y="5795680"/>
            <a:ext cx="6629400" cy="434789"/>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4231342" y="3460375"/>
            <a:ext cx="246528" cy="185121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7454154" y="3473822"/>
            <a:ext cx="372034" cy="232186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2841811" y="5015754"/>
            <a:ext cx="1636059" cy="336176"/>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an 3"/>
          <p:cNvSpPr/>
          <p:nvPr/>
        </p:nvSpPr>
        <p:spPr>
          <a:xfrm>
            <a:off x="1586753" y="3442447"/>
            <a:ext cx="1237130" cy="766483"/>
          </a:xfrm>
          <a:prstGeom prst="can">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p:cNvSpPr txBox="1"/>
          <p:nvPr/>
        </p:nvSpPr>
        <p:spPr>
          <a:xfrm>
            <a:off x="1963270" y="3603811"/>
            <a:ext cx="628698" cy="584775"/>
          </a:xfrm>
          <a:prstGeom prst="rect">
            <a:avLst/>
          </a:prstGeom>
          <a:noFill/>
        </p:spPr>
        <p:txBody>
          <a:bodyPr wrap="none" rtlCol="0">
            <a:spAutoFit/>
          </a:bodyPr>
          <a:lstStyle/>
          <a:p>
            <a:r>
              <a:rPr lang="en-US" sz="3200" dirty="0"/>
              <a:t>A</a:t>
            </a:r>
            <a:r>
              <a:rPr lang="en-US" sz="3200" baseline="-25000" dirty="0"/>
              <a:t>in</a:t>
            </a:r>
          </a:p>
        </p:txBody>
      </p:sp>
      <p:sp>
        <p:nvSpPr>
          <p:cNvPr id="19" name="TextBox 18"/>
          <p:cNvSpPr txBox="1"/>
          <p:nvPr/>
        </p:nvSpPr>
        <p:spPr>
          <a:xfrm>
            <a:off x="1828800" y="1909482"/>
            <a:ext cx="628698" cy="646331"/>
          </a:xfrm>
          <a:prstGeom prst="rect">
            <a:avLst/>
          </a:prstGeom>
          <a:noFill/>
        </p:spPr>
        <p:txBody>
          <a:bodyPr wrap="none" rtlCol="0">
            <a:spAutoFit/>
          </a:bodyPr>
          <a:lstStyle/>
          <a:p>
            <a:r>
              <a:rPr lang="en-US" sz="3600" dirty="0"/>
              <a:t>F</a:t>
            </a:r>
            <a:r>
              <a:rPr lang="en-US" sz="3600" baseline="-25000" dirty="0"/>
              <a:t>in</a:t>
            </a:r>
          </a:p>
        </p:txBody>
      </p:sp>
      <p:sp>
        <p:nvSpPr>
          <p:cNvPr id="20" name="TextBox 19"/>
          <p:cNvSpPr txBox="1"/>
          <p:nvPr/>
        </p:nvSpPr>
        <p:spPr>
          <a:xfrm>
            <a:off x="5571565" y="676835"/>
            <a:ext cx="816377" cy="646331"/>
          </a:xfrm>
          <a:prstGeom prst="rect">
            <a:avLst/>
          </a:prstGeom>
          <a:noFill/>
        </p:spPr>
        <p:txBody>
          <a:bodyPr wrap="none" rtlCol="0">
            <a:spAutoFit/>
          </a:bodyPr>
          <a:lstStyle/>
          <a:p>
            <a:r>
              <a:rPr lang="en-US" sz="3600" dirty="0" err="1"/>
              <a:t>F</a:t>
            </a:r>
            <a:r>
              <a:rPr lang="en-US" sz="3600" baseline="-25000" dirty="0" err="1"/>
              <a:t>out</a:t>
            </a:r>
            <a:endParaRPr lang="en-US" sz="3600" baseline="-25000" dirty="0"/>
          </a:p>
        </p:txBody>
      </p:sp>
      <p:sp>
        <p:nvSpPr>
          <p:cNvPr id="21" name="Down Arrow 20"/>
          <p:cNvSpPr/>
          <p:nvPr/>
        </p:nvSpPr>
        <p:spPr>
          <a:xfrm rot="10800000">
            <a:off x="5029200" y="1438835"/>
            <a:ext cx="1775012" cy="645459"/>
          </a:xfrm>
          <a:prstGeom prst="downArrow">
            <a:avLst>
              <a:gd name="adj1" fmla="val 69697"/>
              <a:gd name="adj2" fmla="val 53902"/>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Down Arrow 21"/>
          <p:cNvSpPr/>
          <p:nvPr/>
        </p:nvSpPr>
        <p:spPr>
          <a:xfrm rot="10800000" flipV="1">
            <a:off x="1658471" y="2734234"/>
            <a:ext cx="1044388" cy="506508"/>
          </a:xfrm>
          <a:prstGeom prst="downArrow">
            <a:avLst>
              <a:gd name="adj1" fmla="val 50000"/>
              <a:gd name="adj2" fmla="val 53902"/>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n 4"/>
          <p:cNvSpPr/>
          <p:nvPr/>
        </p:nvSpPr>
        <p:spPr>
          <a:xfrm>
            <a:off x="4450976" y="3393141"/>
            <a:ext cx="2998694" cy="766483"/>
          </a:xfrm>
          <a:prstGeom prst="can">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p:cNvSpPr txBox="1"/>
          <p:nvPr/>
        </p:nvSpPr>
        <p:spPr>
          <a:xfrm>
            <a:off x="5746376" y="3527613"/>
            <a:ext cx="801823" cy="584775"/>
          </a:xfrm>
          <a:prstGeom prst="rect">
            <a:avLst/>
          </a:prstGeom>
          <a:noFill/>
        </p:spPr>
        <p:txBody>
          <a:bodyPr wrap="none" rtlCol="0">
            <a:spAutoFit/>
          </a:bodyPr>
          <a:lstStyle/>
          <a:p>
            <a:r>
              <a:rPr lang="en-US" sz="3200" dirty="0" err="1"/>
              <a:t>A</a:t>
            </a:r>
            <a:r>
              <a:rPr lang="en-US" sz="3200" baseline="-25000" dirty="0" err="1"/>
              <a:t>out</a:t>
            </a:r>
            <a:endParaRPr lang="en-US" sz="3200" baseline="-25000" dirty="0"/>
          </a:p>
        </p:txBody>
      </p:sp>
      <p:sp>
        <p:nvSpPr>
          <p:cNvPr id="7" name="Can 6"/>
          <p:cNvSpPr/>
          <p:nvPr/>
        </p:nvSpPr>
        <p:spPr>
          <a:xfrm>
            <a:off x="5329518" y="2761127"/>
            <a:ext cx="1277471" cy="766483"/>
          </a:xfrm>
          <a:prstGeom prst="can">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an 5"/>
          <p:cNvSpPr/>
          <p:nvPr/>
        </p:nvSpPr>
        <p:spPr>
          <a:xfrm>
            <a:off x="4513729" y="2254624"/>
            <a:ext cx="2953870" cy="766483"/>
          </a:xfrm>
          <a:prstGeom prst="can">
            <a:avLst/>
          </a:prstGeom>
          <a:solidFill>
            <a:schemeClr val="bg1">
              <a:lumMod val="6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807753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Number Placeholder 5"/>
          <p:cNvSpPr>
            <a:spLocks noGrp="1"/>
          </p:cNvSpPr>
          <p:nvPr>
            <p:ph type="sldNum" sz="quarter" idx="12"/>
          </p:nvPr>
        </p:nvSpPr>
        <p:spPr>
          <a:noFill/>
        </p:spPr>
        <p:txBody>
          <a:bodyPr/>
          <a:lstStyle/>
          <a:p>
            <a:fld id="{9BB70A6A-6290-4C9F-8FE7-84BDC15ED7E8}" type="slidenum">
              <a:rPr lang="en-US" smtClean="0"/>
              <a:pPr/>
              <a:t>34</a:t>
            </a:fld>
            <a:endParaRPr lang="en-US"/>
          </a:p>
        </p:txBody>
      </p:sp>
      <p:sp>
        <p:nvSpPr>
          <p:cNvPr id="50179" name="Rectangle 2"/>
          <p:cNvSpPr>
            <a:spLocks noGrp="1" noChangeArrowheads="1"/>
          </p:cNvSpPr>
          <p:nvPr>
            <p:ph type="title"/>
          </p:nvPr>
        </p:nvSpPr>
        <p:spPr/>
        <p:txBody>
          <a:bodyPr/>
          <a:lstStyle/>
          <a:p>
            <a:pPr eaLnBrk="1" hangingPunct="1"/>
            <a:r>
              <a:rPr lang="en-US" dirty="0"/>
              <a:t>Question 123.5.1</a:t>
            </a:r>
          </a:p>
        </p:txBody>
      </p:sp>
      <p:sp>
        <p:nvSpPr>
          <p:cNvPr id="50180" name="Rectangle 3"/>
          <p:cNvSpPr>
            <a:spLocks noGrp="1" noChangeArrowheads="1"/>
          </p:cNvSpPr>
          <p:nvPr>
            <p:ph type="body" idx="1"/>
          </p:nvPr>
        </p:nvSpPr>
        <p:spPr>
          <a:xfrm>
            <a:off x="457200" y="1600200"/>
            <a:ext cx="4398963" cy="4525963"/>
          </a:xfrm>
        </p:spPr>
        <p:txBody>
          <a:bodyPr/>
          <a:lstStyle/>
          <a:p>
            <a:pPr marL="609600" indent="-609600" eaLnBrk="1" hangingPunct="1">
              <a:buFontTx/>
              <a:buNone/>
            </a:pPr>
            <a:r>
              <a:rPr lang="en-US"/>
              <a:t>If the barometer shown here were used on Mars, would </a:t>
            </a:r>
            <a:r>
              <a:rPr lang="en-US">
                <a:sym typeface="Symbol" pitchFamily="18" charset="2"/>
              </a:rPr>
              <a:t>h be larger or smaller</a:t>
            </a:r>
          </a:p>
          <a:p>
            <a:pPr marL="609600" indent="-609600" eaLnBrk="1" hangingPunct="1">
              <a:buFontTx/>
              <a:buAutoNum type="alphaLcParenR"/>
            </a:pPr>
            <a:r>
              <a:rPr lang="en-US">
                <a:sym typeface="Symbol" pitchFamily="18" charset="2"/>
              </a:rPr>
              <a:t>Larger</a:t>
            </a:r>
          </a:p>
          <a:p>
            <a:pPr marL="609600" indent="-609600" eaLnBrk="1" hangingPunct="1">
              <a:buFontTx/>
              <a:buAutoNum type="alphaLcParenR"/>
            </a:pPr>
            <a:r>
              <a:rPr lang="en-US">
                <a:sym typeface="Symbol" pitchFamily="18" charset="2"/>
              </a:rPr>
              <a:t>Smaller</a:t>
            </a:r>
          </a:p>
        </p:txBody>
      </p:sp>
      <p:grpSp>
        <p:nvGrpSpPr>
          <p:cNvPr id="50181" name="Group 44"/>
          <p:cNvGrpSpPr>
            <a:grpSpLocks/>
          </p:cNvGrpSpPr>
          <p:nvPr/>
        </p:nvGrpSpPr>
        <p:grpSpPr bwMode="auto">
          <a:xfrm>
            <a:off x="6381750" y="1385888"/>
            <a:ext cx="2097088" cy="5032375"/>
            <a:chOff x="4020" y="873"/>
            <a:chExt cx="1321" cy="3170"/>
          </a:xfrm>
        </p:grpSpPr>
        <p:grpSp>
          <p:nvGrpSpPr>
            <p:cNvPr id="50182" name="Group 36"/>
            <p:cNvGrpSpPr>
              <a:grpSpLocks/>
            </p:cNvGrpSpPr>
            <p:nvPr/>
          </p:nvGrpSpPr>
          <p:grpSpPr bwMode="auto">
            <a:xfrm>
              <a:off x="4343" y="3416"/>
              <a:ext cx="931" cy="627"/>
              <a:chOff x="3733" y="1510"/>
              <a:chExt cx="1416" cy="1628"/>
            </a:xfrm>
          </p:grpSpPr>
          <p:grpSp>
            <p:nvGrpSpPr>
              <p:cNvPr id="50198" name="Group 37"/>
              <p:cNvGrpSpPr>
                <a:grpSpLocks/>
              </p:cNvGrpSpPr>
              <p:nvPr/>
            </p:nvGrpSpPr>
            <p:grpSpPr bwMode="auto">
              <a:xfrm>
                <a:off x="3733" y="1514"/>
                <a:ext cx="1416" cy="1624"/>
                <a:chOff x="3596" y="1780"/>
                <a:chExt cx="1416" cy="1624"/>
              </a:xfrm>
            </p:grpSpPr>
            <p:sp>
              <p:nvSpPr>
                <p:cNvPr id="50203" name="Freeform 38"/>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0204" name="Freeform 39"/>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0199" name="AutoShape 40"/>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0200" name="Rectangle 41"/>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50201" name="Freeform 42"/>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0202" name="Freeform 43"/>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0183" name="Rectangle 10"/>
            <p:cNvSpPr>
              <a:spLocks noChangeArrowheads="1"/>
            </p:cNvSpPr>
            <p:nvPr/>
          </p:nvSpPr>
          <p:spPr bwMode="auto">
            <a:xfrm>
              <a:off x="4463" y="3539"/>
              <a:ext cx="695" cy="98"/>
            </a:xfrm>
            <a:prstGeom prst="rect">
              <a:avLst/>
            </a:prstGeom>
            <a:solidFill>
              <a:schemeClr val="accent1"/>
            </a:solidFill>
            <a:ln w="9525">
              <a:noFill/>
              <a:miter lim="800000"/>
              <a:headEnd/>
              <a:tailEnd/>
            </a:ln>
          </p:spPr>
          <p:txBody>
            <a:bodyPr wrap="none" anchor="ctr"/>
            <a:lstStyle/>
            <a:p>
              <a:endParaRPr lang="en-US"/>
            </a:p>
          </p:txBody>
        </p:sp>
        <p:grpSp>
          <p:nvGrpSpPr>
            <p:cNvPr id="50184" name="Group 13"/>
            <p:cNvGrpSpPr>
              <a:grpSpLocks/>
            </p:cNvGrpSpPr>
            <p:nvPr/>
          </p:nvGrpSpPr>
          <p:grpSpPr bwMode="auto">
            <a:xfrm flipV="1">
              <a:off x="4734" y="1192"/>
              <a:ext cx="181" cy="2505"/>
              <a:chOff x="3162" y="2032"/>
              <a:chExt cx="931" cy="1161"/>
            </a:xfrm>
          </p:grpSpPr>
          <p:grpSp>
            <p:nvGrpSpPr>
              <p:cNvPr id="50193" name="Group 14"/>
              <p:cNvGrpSpPr>
                <a:grpSpLocks/>
              </p:cNvGrpSpPr>
              <p:nvPr/>
            </p:nvGrpSpPr>
            <p:grpSpPr bwMode="auto">
              <a:xfrm>
                <a:off x="3162" y="2035"/>
                <a:ext cx="931" cy="1158"/>
                <a:chOff x="3596" y="1780"/>
                <a:chExt cx="1416" cy="1624"/>
              </a:xfrm>
            </p:grpSpPr>
            <p:sp>
              <p:nvSpPr>
                <p:cNvPr id="50196" name="Freeform 15"/>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0197" name="Freeform 16"/>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0194" name="Freeform 17"/>
              <p:cNvSpPr>
                <a:spLocks/>
              </p:cNvSpPr>
              <p:nvPr/>
            </p:nvSpPr>
            <p:spPr bwMode="auto">
              <a:xfrm>
                <a:off x="3217" y="2032"/>
                <a:ext cx="411" cy="1132"/>
              </a:xfrm>
              <a:custGeom>
                <a:avLst/>
                <a:gdLst>
                  <a:gd name="T0" fmla="*/ 0 w 624"/>
                  <a:gd name="T1" fmla="*/ 0 h 1588"/>
                  <a:gd name="T2" fmla="*/ 1 w 624"/>
                  <a:gd name="T3" fmla="*/ 1 h 1588"/>
                  <a:gd name="T4" fmla="*/ 1 w 624"/>
                  <a:gd name="T5" fmla="*/ 1 h 1588"/>
                  <a:gd name="T6" fmla="*/ 1 w 624"/>
                  <a:gd name="T7" fmla="*/ 1 h 1588"/>
                  <a:gd name="T8" fmla="*/ 1 w 624"/>
                  <a:gd name="T9" fmla="*/ 1 h 1588"/>
                  <a:gd name="T10" fmla="*/ 1 w 624"/>
                  <a:gd name="T11" fmla="*/ 2 h 1588"/>
                  <a:gd name="T12" fmla="*/ 1 w 624"/>
                  <a:gd name="T13" fmla="*/ 3 h 1588"/>
                  <a:gd name="T14" fmla="*/ 1 w 624"/>
                  <a:gd name="T15" fmla="*/ 3 h 1588"/>
                  <a:gd name="T16" fmla="*/ 1 w 624"/>
                  <a:gd name="T17" fmla="*/ 4 h 1588"/>
                  <a:gd name="T18" fmla="*/ 1 w 624"/>
                  <a:gd name="T19" fmla="*/ 4 h 1588"/>
                  <a:gd name="T20" fmla="*/ 1 w 624"/>
                  <a:gd name="T21" fmla="*/ 4 h 1588"/>
                  <a:gd name="T22" fmla="*/ 1 w 624"/>
                  <a:gd name="T23" fmla="*/ 4 h 1588"/>
                  <a:gd name="T24" fmla="*/ 1 w 624"/>
                  <a:gd name="T25" fmla="*/ 4 h 1588"/>
                  <a:gd name="T26" fmla="*/ 1 w 624"/>
                  <a:gd name="T27" fmla="*/ 4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0195" name="Freeform 18"/>
              <p:cNvSpPr>
                <a:spLocks/>
              </p:cNvSpPr>
              <p:nvPr/>
            </p:nvSpPr>
            <p:spPr bwMode="auto">
              <a:xfrm flipH="1">
                <a:off x="3628" y="2032"/>
                <a:ext cx="410" cy="1132"/>
              </a:xfrm>
              <a:custGeom>
                <a:avLst/>
                <a:gdLst>
                  <a:gd name="T0" fmla="*/ 0 w 624"/>
                  <a:gd name="T1" fmla="*/ 0 h 1588"/>
                  <a:gd name="T2" fmla="*/ 1 w 624"/>
                  <a:gd name="T3" fmla="*/ 1 h 1588"/>
                  <a:gd name="T4" fmla="*/ 1 w 624"/>
                  <a:gd name="T5" fmla="*/ 1 h 1588"/>
                  <a:gd name="T6" fmla="*/ 1 w 624"/>
                  <a:gd name="T7" fmla="*/ 1 h 1588"/>
                  <a:gd name="T8" fmla="*/ 1 w 624"/>
                  <a:gd name="T9" fmla="*/ 1 h 1588"/>
                  <a:gd name="T10" fmla="*/ 1 w 624"/>
                  <a:gd name="T11" fmla="*/ 2 h 1588"/>
                  <a:gd name="T12" fmla="*/ 1 w 624"/>
                  <a:gd name="T13" fmla="*/ 3 h 1588"/>
                  <a:gd name="T14" fmla="*/ 1 w 624"/>
                  <a:gd name="T15" fmla="*/ 3 h 1588"/>
                  <a:gd name="T16" fmla="*/ 1 w 624"/>
                  <a:gd name="T17" fmla="*/ 4 h 1588"/>
                  <a:gd name="T18" fmla="*/ 1 w 624"/>
                  <a:gd name="T19" fmla="*/ 4 h 1588"/>
                  <a:gd name="T20" fmla="*/ 1 w 624"/>
                  <a:gd name="T21" fmla="*/ 4 h 1588"/>
                  <a:gd name="T22" fmla="*/ 1 w 624"/>
                  <a:gd name="T23" fmla="*/ 4 h 1588"/>
                  <a:gd name="T24" fmla="*/ 1 w 624"/>
                  <a:gd name="T25" fmla="*/ 4 h 1588"/>
                  <a:gd name="T26" fmla="*/ 1 w 624"/>
                  <a:gd name="T27" fmla="*/ 4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0185" name="Rectangle 19"/>
            <p:cNvSpPr>
              <a:spLocks noChangeArrowheads="1"/>
            </p:cNvSpPr>
            <p:nvPr/>
          </p:nvSpPr>
          <p:spPr bwMode="auto">
            <a:xfrm>
              <a:off x="4761" y="1366"/>
              <a:ext cx="122" cy="2379"/>
            </a:xfrm>
            <a:prstGeom prst="rect">
              <a:avLst/>
            </a:prstGeom>
            <a:solidFill>
              <a:schemeClr val="accent1"/>
            </a:solidFill>
            <a:ln w="9525">
              <a:noFill/>
              <a:miter lim="800000"/>
              <a:headEnd/>
              <a:tailEnd/>
            </a:ln>
          </p:spPr>
          <p:txBody>
            <a:bodyPr wrap="none" anchor="ctr"/>
            <a:lstStyle/>
            <a:p>
              <a:endParaRPr lang="en-US"/>
            </a:p>
          </p:txBody>
        </p:sp>
        <p:sp>
          <p:nvSpPr>
            <p:cNvPr id="50186" name="Line 20"/>
            <p:cNvSpPr>
              <a:spLocks noChangeShapeType="1"/>
            </p:cNvSpPr>
            <p:nvPr/>
          </p:nvSpPr>
          <p:spPr bwMode="auto">
            <a:xfrm>
              <a:off x="4407" y="1371"/>
              <a:ext cx="265" cy="0"/>
            </a:xfrm>
            <a:prstGeom prst="line">
              <a:avLst/>
            </a:prstGeom>
            <a:noFill/>
            <a:ln w="9525">
              <a:solidFill>
                <a:schemeClr val="tx1"/>
              </a:solidFill>
              <a:round/>
              <a:headEnd/>
              <a:tailEnd/>
            </a:ln>
          </p:spPr>
          <p:txBody>
            <a:bodyPr/>
            <a:lstStyle/>
            <a:p>
              <a:endParaRPr lang="en-US"/>
            </a:p>
          </p:txBody>
        </p:sp>
        <p:sp>
          <p:nvSpPr>
            <p:cNvPr id="50187" name="Line 21"/>
            <p:cNvSpPr>
              <a:spLocks noChangeShapeType="1"/>
            </p:cNvSpPr>
            <p:nvPr/>
          </p:nvSpPr>
          <p:spPr bwMode="auto">
            <a:xfrm>
              <a:off x="4570" y="1380"/>
              <a:ext cx="0" cy="2140"/>
            </a:xfrm>
            <a:prstGeom prst="line">
              <a:avLst/>
            </a:prstGeom>
            <a:noFill/>
            <a:ln w="9525">
              <a:solidFill>
                <a:schemeClr val="tx1"/>
              </a:solidFill>
              <a:round/>
              <a:headEnd type="triangle" w="med" len="med"/>
              <a:tailEnd type="triangle" w="med" len="med"/>
            </a:ln>
          </p:spPr>
          <p:txBody>
            <a:bodyPr/>
            <a:lstStyle/>
            <a:p>
              <a:endParaRPr lang="en-US"/>
            </a:p>
          </p:txBody>
        </p:sp>
        <p:sp>
          <p:nvSpPr>
            <p:cNvPr id="50188" name="Text Box 22"/>
            <p:cNvSpPr txBox="1">
              <a:spLocks noChangeArrowheads="1"/>
            </p:cNvSpPr>
            <p:nvPr/>
          </p:nvSpPr>
          <p:spPr bwMode="auto">
            <a:xfrm>
              <a:off x="4459" y="2400"/>
              <a:ext cx="196" cy="231"/>
            </a:xfrm>
            <a:prstGeom prst="rect">
              <a:avLst/>
            </a:prstGeom>
            <a:solidFill>
              <a:schemeClr val="bg1"/>
            </a:solidFill>
            <a:ln w="9525">
              <a:noFill/>
              <a:miter lim="800000"/>
              <a:headEnd/>
              <a:tailEnd/>
            </a:ln>
          </p:spPr>
          <p:txBody>
            <a:bodyPr wrap="none">
              <a:spAutoFit/>
            </a:bodyPr>
            <a:lstStyle/>
            <a:p>
              <a:r>
                <a:rPr lang="en-US"/>
                <a:t>h</a:t>
              </a:r>
            </a:p>
          </p:txBody>
        </p:sp>
        <p:sp>
          <p:nvSpPr>
            <p:cNvPr id="50189" name="Text Box 23"/>
            <p:cNvSpPr txBox="1">
              <a:spLocks noChangeArrowheads="1"/>
            </p:cNvSpPr>
            <p:nvPr/>
          </p:nvSpPr>
          <p:spPr bwMode="auto">
            <a:xfrm>
              <a:off x="4020" y="873"/>
              <a:ext cx="376" cy="231"/>
            </a:xfrm>
            <a:prstGeom prst="rect">
              <a:avLst/>
            </a:prstGeom>
            <a:noFill/>
            <a:ln w="9525">
              <a:noFill/>
              <a:miter lim="800000"/>
              <a:headEnd/>
              <a:tailEnd/>
            </a:ln>
          </p:spPr>
          <p:txBody>
            <a:bodyPr wrap="none">
              <a:spAutoFit/>
            </a:bodyPr>
            <a:lstStyle/>
            <a:p>
              <a:r>
                <a:rPr lang="en-US"/>
                <a:t>P=0</a:t>
              </a:r>
              <a:endParaRPr lang="en-US" baseline="-25000"/>
            </a:p>
          </p:txBody>
        </p:sp>
        <p:sp>
          <p:nvSpPr>
            <p:cNvPr id="50190" name="Freeform 24"/>
            <p:cNvSpPr>
              <a:spLocks/>
            </p:cNvSpPr>
            <p:nvPr/>
          </p:nvSpPr>
          <p:spPr bwMode="auto">
            <a:xfrm rot="20443352" flipH="1">
              <a:off x="4462" y="934"/>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50191" name="Text Box 25"/>
            <p:cNvSpPr txBox="1">
              <a:spLocks noChangeArrowheads="1"/>
            </p:cNvSpPr>
            <p:nvPr/>
          </p:nvSpPr>
          <p:spPr bwMode="auto">
            <a:xfrm>
              <a:off x="5076" y="2825"/>
              <a:ext cx="265" cy="231"/>
            </a:xfrm>
            <a:prstGeom prst="rect">
              <a:avLst/>
            </a:prstGeom>
            <a:noFill/>
            <a:ln w="9525">
              <a:noFill/>
              <a:miter lim="800000"/>
              <a:headEnd/>
              <a:tailEnd/>
            </a:ln>
          </p:spPr>
          <p:txBody>
            <a:bodyPr wrap="none">
              <a:spAutoFit/>
            </a:bodyPr>
            <a:lstStyle/>
            <a:p>
              <a:r>
                <a:rPr lang="en-US"/>
                <a:t>P</a:t>
              </a:r>
              <a:r>
                <a:rPr lang="en-US" baseline="-25000"/>
                <a:t>o</a:t>
              </a:r>
            </a:p>
          </p:txBody>
        </p:sp>
        <p:sp>
          <p:nvSpPr>
            <p:cNvPr id="50192" name="Freeform 26"/>
            <p:cNvSpPr>
              <a:spLocks/>
            </p:cNvSpPr>
            <p:nvPr/>
          </p:nvSpPr>
          <p:spPr bwMode="auto">
            <a:xfrm rot="-1156648">
              <a:off x="5041" y="3067"/>
              <a:ext cx="238" cy="342"/>
            </a:xfrm>
            <a:custGeom>
              <a:avLst/>
              <a:gdLst>
                <a:gd name="T0" fmla="*/ 7 w 292"/>
                <a:gd name="T1" fmla="*/ 0 h 430"/>
                <a:gd name="T2" fmla="*/ 3 w 292"/>
                <a:gd name="T3" fmla="*/ 4 h 430"/>
                <a:gd name="T4" fmla="*/ 6 w 292"/>
                <a:gd name="T5" fmla="*/ 4 h 430"/>
                <a:gd name="T6" fmla="*/ 0 w 292"/>
                <a:gd name="T7" fmla="*/ 7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grpSp>
    </p:spTree>
    <p:extLst>
      <p:ext uri="{BB962C8B-B14F-4D97-AF65-F5344CB8AC3E}">
        <p14:creationId xmlns:p14="http://schemas.microsoft.com/office/powerpoint/2010/main" val="26931851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Slide Number Placeholder 5"/>
          <p:cNvSpPr>
            <a:spLocks noGrp="1"/>
          </p:cNvSpPr>
          <p:nvPr>
            <p:ph type="sldNum" sz="quarter" idx="12"/>
          </p:nvPr>
        </p:nvSpPr>
        <p:spPr>
          <a:noFill/>
        </p:spPr>
        <p:txBody>
          <a:bodyPr/>
          <a:lstStyle/>
          <a:p>
            <a:fld id="{9EB7D927-867D-426B-B934-711C106A415A}" type="slidenum">
              <a:rPr lang="en-US" smtClean="0"/>
              <a:pPr/>
              <a:t>35</a:t>
            </a:fld>
            <a:endParaRPr lang="en-US"/>
          </a:p>
        </p:txBody>
      </p:sp>
      <p:sp>
        <p:nvSpPr>
          <p:cNvPr id="51203" name="Rectangle 2"/>
          <p:cNvSpPr>
            <a:spLocks noGrp="1" noChangeArrowheads="1"/>
          </p:cNvSpPr>
          <p:nvPr>
            <p:ph type="title"/>
          </p:nvPr>
        </p:nvSpPr>
        <p:spPr/>
        <p:txBody>
          <a:bodyPr/>
          <a:lstStyle/>
          <a:p>
            <a:pPr eaLnBrk="1" hangingPunct="1"/>
            <a:r>
              <a:rPr lang="en-US"/>
              <a:t>Question 123.5.2</a:t>
            </a:r>
          </a:p>
        </p:txBody>
      </p:sp>
      <p:sp>
        <p:nvSpPr>
          <p:cNvPr id="51204" name="Rectangle 3"/>
          <p:cNvSpPr>
            <a:spLocks noGrp="1" noChangeArrowheads="1"/>
          </p:cNvSpPr>
          <p:nvPr>
            <p:ph type="body" idx="1"/>
          </p:nvPr>
        </p:nvSpPr>
        <p:spPr>
          <a:xfrm>
            <a:off x="4572000" y="1629229"/>
            <a:ext cx="4572000" cy="4525963"/>
          </a:xfrm>
        </p:spPr>
        <p:txBody>
          <a:bodyPr/>
          <a:lstStyle/>
          <a:p>
            <a:pPr marL="609600" indent="-609600" eaLnBrk="1" hangingPunct="1">
              <a:buFontTx/>
              <a:buNone/>
            </a:pPr>
            <a:r>
              <a:rPr lang="en-US" dirty="0"/>
              <a:t>The pressure at point A in this monometer is ________ the pressure at point B</a:t>
            </a:r>
          </a:p>
          <a:p>
            <a:pPr marL="609600" indent="-609600" eaLnBrk="1" hangingPunct="1">
              <a:buFontTx/>
              <a:buAutoNum type="alphaLcParenR"/>
            </a:pPr>
            <a:r>
              <a:rPr lang="en-US" dirty="0"/>
              <a:t>higher than</a:t>
            </a:r>
          </a:p>
          <a:p>
            <a:pPr marL="609600" indent="-609600" eaLnBrk="1" hangingPunct="1">
              <a:buFontTx/>
              <a:buAutoNum type="alphaLcParenR"/>
            </a:pPr>
            <a:r>
              <a:rPr lang="en-US" dirty="0"/>
              <a:t>lower than</a:t>
            </a:r>
          </a:p>
          <a:p>
            <a:pPr marL="609600" indent="-609600" eaLnBrk="1" hangingPunct="1">
              <a:buFontTx/>
              <a:buAutoNum type="alphaLcParenR"/>
            </a:pPr>
            <a:r>
              <a:rPr lang="en-US" dirty="0"/>
              <a:t>the same as</a:t>
            </a:r>
          </a:p>
        </p:txBody>
      </p:sp>
      <p:grpSp>
        <p:nvGrpSpPr>
          <p:cNvPr id="2" name="Group 1"/>
          <p:cNvGrpSpPr/>
          <p:nvPr/>
        </p:nvGrpSpPr>
        <p:grpSpPr>
          <a:xfrm>
            <a:off x="199572" y="1451429"/>
            <a:ext cx="3844604" cy="4793343"/>
            <a:chOff x="1143000" y="152400"/>
            <a:chExt cx="5392389" cy="6672943"/>
          </a:xfrm>
        </p:grpSpPr>
        <p:cxnSp>
          <p:nvCxnSpPr>
            <p:cNvPr id="6" name="Straight Connector 5"/>
            <p:cNvCxnSpPr/>
            <p:nvPr/>
          </p:nvCxnSpPr>
          <p:spPr>
            <a:xfrm>
              <a:off x="5338764" y="2288722"/>
              <a:ext cx="1143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7" name="Straight Connector 6"/>
            <p:cNvCxnSpPr>
              <a:stCxn id="10" idx="0"/>
            </p:cNvCxnSpPr>
            <p:nvPr/>
          </p:nvCxnSpPr>
          <p:spPr>
            <a:xfrm>
              <a:off x="4348164" y="3965122"/>
              <a:ext cx="21336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8" name="Group 7"/>
            <p:cNvGrpSpPr/>
            <p:nvPr/>
          </p:nvGrpSpPr>
          <p:grpSpPr>
            <a:xfrm>
              <a:off x="2976564" y="2288722"/>
              <a:ext cx="2362200" cy="3657600"/>
              <a:chOff x="3048000" y="3200400"/>
              <a:chExt cx="2362200" cy="3657600"/>
            </a:xfrm>
          </p:grpSpPr>
          <p:sp>
            <p:nvSpPr>
              <p:cNvPr id="9" name="Rectangle 8"/>
              <p:cNvSpPr/>
              <p:nvPr/>
            </p:nvSpPr>
            <p:spPr>
              <a:xfrm>
                <a:off x="5105400" y="3200400"/>
                <a:ext cx="304800" cy="2919844"/>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0" name="Rectangle 9"/>
              <p:cNvSpPr/>
              <p:nvPr/>
            </p:nvSpPr>
            <p:spPr>
              <a:xfrm>
                <a:off x="4267200" y="4876800"/>
                <a:ext cx="304800" cy="12954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1" name="Oval 10"/>
              <p:cNvSpPr/>
              <p:nvPr/>
            </p:nvSpPr>
            <p:spPr>
              <a:xfrm>
                <a:off x="4267200" y="5638800"/>
                <a:ext cx="1143000" cy="12192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2" name="Oval 11"/>
              <p:cNvSpPr/>
              <p:nvPr/>
            </p:nvSpPr>
            <p:spPr>
              <a:xfrm>
                <a:off x="4572000" y="60198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3" name="Rectangle 12"/>
              <p:cNvSpPr/>
              <p:nvPr/>
            </p:nvSpPr>
            <p:spPr>
              <a:xfrm>
                <a:off x="4572000" y="3276600"/>
                <a:ext cx="533400" cy="2971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4" name="Oval 13"/>
              <p:cNvSpPr/>
              <p:nvPr/>
            </p:nvSpPr>
            <p:spPr>
              <a:xfrm>
                <a:off x="3733800" y="44196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5" name="Rectangle 14"/>
              <p:cNvSpPr/>
              <p:nvPr/>
            </p:nvSpPr>
            <p:spPr>
              <a:xfrm>
                <a:off x="3048000" y="4648200"/>
                <a:ext cx="1219200" cy="190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pic>
          <p:nvPicPr>
            <p:cNvPr id="16" name="Picture 2" descr="ruler (simple, without figures) by jetxe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8" y="1918278"/>
              <a:ext cx="1468915" cy="381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ruler (simple, without figures) by jetxe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7" y="3289879"/>
              <a:ext cx="1468915" cy="381000"/>
            </a:xfrm>
            <a:prstGeom prst="rect">
              <a:avLst/>
            </a:prstGeom>
            <a:noFill/>
            <a:extLst>
              <a:ext uri="{909E8E84-426E-40DD-AFC4-6F175D3DCCD1}">
                <a14:hiddenFill xmlns:a14="http://schemas.microsoft.com/office/drawing/2010/main">
                  <a:solidFill>
                    <a:srgbClr val="FFFFFF"/>
                  </a:solidFill>
                </a14:hiddenFill>
              </a:ext>
            </a:extLst>
          </p:spPr>
        </p:pic>
        <p:sp>
          <p:nvSpPr>
            <p:cNvPr id="18" name="Freeform 17"/>
            <p:cNvSpPr/>
            <p:nvPr/>
          </p:nvSpPr>
          <p:spPr>
            <a:xfrm>
              <a:off x="2743200" y="685800"/>
              <a:ext cx="2584677" cy="5260522"/>
            </a:xfrm>
            <a:custGeom>
              <a:avLst/>
              <a:gdLst>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10885 w 2579914"/>
                <a:gd name="connsiteY10" fmla="*/ 2841171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1894114 w 2579914"/>
                <a:gd name="connsiteY14" fmla="*/ 4953000 h 5279572"/>
                <a:gd name="connsiteX15" fmla="*/ 2133600 w 2579914"/>
                <a:gd name="connsiteY15" fmla="*/ 4953000 h 5279572"/>
                <a:gd name="connsiteX16" fmla="*/ 2296885 w 2579914"/>
                <a:gd name="connsiteY16" fmla="*/ 4746172 h 5279572"/>
                <a:gd name="connsiteX17" fmla="*/ 2286000 w 2579914"/>
                <a:gd name="connsiteY17" fmla="*/ 21772 h 5279572"/>
                <a:gd name="connsiteX18" fmla="*/ 2569028 w 2579914"/>
                <a:gd name="connsiteY18"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133600 w 2579914"/>
                <a:gd name="connsiteY14" fmla="*/ 4953000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643743 w 2579914"/>
                <a:gd name="connsiteY4" fmla="*/ 5148943 h 5279572"/>
                <a:gd name="connsiteX5" fmla="*/ 1436914 w 2579914"/>
                <a:gd name="connsiteY5" fmla="*/ 4735286 h 5279572"/>
                <a:gd name="connsiteX6" fmla="*/ 1426028 w 2579914"/>
                <a:gd name="connsiteY6" fmla="*/ 3058886 h 5279572"/>
                <a:gd name="connsiteX7" fmla="*/ 1121228 w 2579914"/>
                <a:gd name="connsiteY7" fmla="*/ 2830286 h 5279572"/>
                <a:gd name="connsiteX8" fmla="*/ 10885 w 2579914"/>
                <a:gd name="connsiteY8" fmla="*/ 2841171 h 5279572"/>
                <a:gd name="connsiteX9" fmla="*/ 0 w 2579914"/>
                <a:gd name="connsiteY9" fmla="*/ 2536372 h 5279572"/>
                <a:gd name="connsiteX10" fmla="*/ 1197428 w 2579914"/>
                <a:gd name="connsiteY10" fmla="*/ 2536372 h 5279572"/>
                <a:gd name="connsiteX11" fmla="*/ 1730828 w 2579914"/>
                <a:gd name="connsiteY11" fmla="*/ 2982686 h 5279572"/>
                <a:gd name="connsiteX12" fmla="*/ 1719943 w 2579914"/>
                <a:gd name="connsiteY12" fmla="*/ 4713515 h 5279572"/>
                <a:gd name="connsiteX13" fmla="*/ 2002972 w 2579914"/>
                <a:gd name="connsiteY13" fmla="*/ 4963885 h 5279572"/>
                <a:gd name="connsiteX14" fmla="*/ 2296885 w 2579914"/>
                <a:gd name="connsiteY14" fmla="*/ 4746172 h 5279572"/>
                <a:gd name="connsiteX15" fmla="*/ 2286000 w 2579914"/>
                <a:gd name="connsiteY15" fmla="*/ 21772 h 5279572"/>
                <a:gd name="connsiteX16" fmla="*/ 2569028 w 2579914"/>
                <a:gd name="connsiteY16"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436914 w 2579914"/>
                <a:gd name="connsiteY4" fmla="*/ 4735286 h 5279572"/>
                <a:gd name="connsiteX5" fmla="*/ 1426028 w 2579914"/>
                <a:gd name="connsiteY5" fmla="*/ 3058886 h 5279572"/>
                <a:gd name="connsiteX6" fmla="*/ 1121228 w 2579914"/>
                <a:gd name="connsiteY6" fmla="*/ 2830286 h 5279572"/>
                <a:gd name="connsiteX7" fmla="*/ 10885 w 2579914"/>
                <a:gd name="connsiteY7" fmla="*/ 2841171 h 5279572"/>
                <a:gd name="connsiteX8" fmla="*/ 0 w 2579914"/>
                <a:gd name="connsiteY8" fmla="*/ 2536372 h 5279572"/>
                <a:gd name="connsiteX9" fmla="*/ 1197428 w 2579914"/>
                <a:gd name="connsiteY9" fmla="*/ 2536372 h 5279572"/>
                <a:gd name="connsiteX10" fmla="*/ 1730828 w 2579914"/>
                <a:gd name="connsiteY10" fmla="*/ 2982686 h 5279572"/>
                <a:gd name="connsiteX11" fmla="*/ 1719943 w 2579914"/>
                <a:gd name="connsiteY11" fmla="*/ 4713515 h 5279572"/>
                <a:gd name="connsiteX12" fmla="*/ 2002972 w 2579914"/>
                <a:gd name="connsiteY12" fmla="*/ 4963885 h 5279572"/>
                <a:gd name="connsiteX13" fmla="*/ 2296885 w 2579914"/>
                <a:gd name="connsiteY13" fmla="*/ 4746172 h 5279572"/>
                <a:gd name="connsiteX14" fmla="*/ 2286000 w 2579914"/>
                <a:gd name="connsiteY14" fmla="*/ 21772 h 5279572"/>
                <a:gd name="connsiteX15" fmla="*/ 2569028 w 2579914"/>
                <a:gd name="connsiteY15"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02972 w 2579914"/>
                <a:gd name="connsiteY11" fmla="*/ 4963885 h 5279572"/>
                <a:gd name="connsiteX12" fmla="*/ 2296885 w 2579914"/>
                <a:gd name="connsiteY12" fmla="*/ 4746172 h 5279572"/>
                <a:gd name="connsiteX13" fmla="*/ 2286000 w 2579914"/>
                <a:gd name="connsiteY13" fmla="*/ 21772 h 5279572"/>
                <a:gd name="connsiteX14" fmla="*/ 2569028 w 2579914"/>
                <a:gd name="connsiteY14" fmla="*/ 0 h 5279572"/>
                <a:gd name="connsiteX0" fmla="*/ 2569028 w 2580015"/>
                <a:gd name="connsiteY0" fmla="*/ 0 h 5279572"/>
                <a:gd name="connsiteX1" fmla="*/ 2579914 w 2580015"/>
                <a:gd name="connsiteY1" fmla="*/ 4659086 h 5279572"/>
                <a:gd name="connsiteX2" fmla="*/ 2013857 w 2580015"/>
                <a:gd name="connsiteY2" fmla="*/ 5279572 h 5279572"/>
                <a:gd name="connsiteX3" fmla="*/ 1436914 w 2580015"/>
                <a:gd name="connsiteY3" fmla="*/ 4735286 h 5279572"/>
                <a:gd name="connsiteX4" fmla="*/ 1426028 w 2580015"/>
                <a:gd name="connsiteY4" fmla="*/ 3058886 h 5279572"/>
                <a:gd name="connsiteX5" fmla="*/ 1121228 w 2580015"/>
                <a:gd name="connsiteY5" fmla="*/ 2830286 h 5279572"/>
                <a:gd name="connsiteX6" fmla="*/ 10885 w 2580015"/>
                <a:gd name="connsiteY6" fmla="*/ 2841171 h 5279572"/>
                <a:gd name="connsiteX7" fmla="*/ 0 w 2580015"/>
                <a:gd name="connsiteY7" fmla="*/ 2536372 h 5279572"/>
                <a:gd name="connsiteX8" fmla="*/ 1197428 w 2580015"/>
                <a:gd name="connsiteY8" fmla="*/ 2536372 h 5279572"/>
                <a:gd name="connsiteX9" fmla="*/ 1730828 w 2580015"/>
                <a:gd name="connsiteY9" fmla="*/ 2982686 h 5279572"/>
                <a:gd name="connsiteX10" fmla="*/ 1719943 w 2580015"/>
                <a:gd name="connsiteY10" fmla="*/ 4713515 h 5279572"/>
                <a:gd name="connsiteX11" fmla="*/ 2002972 w 2580015"/>
                <a:gd name="connsiteY11" fmla="*/ 4963885 h 5279572"/>
                <a:gd name="connsiteX12" fmla="*/ 2296885 w 2580015"/>
                <a:gd name="connsiteY12" fmla="*/ 4746172 h 5279572"/>
                <a:gd name="connsiteX13" fmla="*/ 2286000 w 2580015"/>
                <a:gd name="connsiteY13" fmla="*/ 21772 h 5279572"/>
                <a:gd name="connsiteX14" fmla="*/ 2569028 w 2580015"/>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79946"/>
                <a:gd name="connsiteY0" fmla="*/ 0 h 5279572"/>
                <a:gd name="connsiteX1" fmla="*/ 2579914 w 2579946"/>
                <a:gd name="connsiteY1" fmla="*/ 4659086 h 5279572"/>
                <a:gd name="connsiteX2" fmla="*/ 2013857 w 2579946"/>
                <a:gd name="connsiteY2" fmla="*/ 5279572 h 5279572"/>
                <a:gd name="connsiteX3" fmla="*/ 1436914 w 2579946"/>
                <a:gd name="connsiteY3" fmla="*/ 4735286 h 5279572"/>
                <a:gd name="connsiteX4" fmla="*/ 1426028 w 2579946"/>
                <a:gd name="connsiteY4" fmla="*/ 3058886 h 5279572"/>
                <a:gd name="connsiteX5" fmla="*/ 1121228 w 2579946"/>
                <a:gd name="connsiteY5" fmla="*/ 2830286 h 5279572"/>
                <a:gd name="connsiteX6" fmla="*/ 10885 w 2579946"/>
                <a:gd name="connsiteY6" fmla="*/ 2841171 h 5279572"/>
                <a:gd name="connsiteX7" fmla="*/ 0 w 2579946"/>
                <a:gd name="connsiteY7" fmla="*/ 2536372 h 5279572"/>
                <a:gd name="connsiteX8" fmla="*/ 1197428 w 2579946"/>
                <a:gd name="connsiteY8" fmla="*/ 2536372 h 5279572"/>
                <a:gd name="connsiteX9" fmla="*/ 1730828 w 2579946"/>
                <a:gd name="connsiteY9" fmla="*/ 2982686 h 5279572"/>
                <a:gd name="connsiteX10" fmla="*/ 1719943 w 2579946"/>
                <a:gd name="connsiteY10" fmla="*/ 4713515 h 5279572"/>
                <a:gd name="connsiteX11" fmla="*/ 2028826 w 2579946"/>
                <a:gd name="connsiteY11" fmla="*/ 4978172 h 5279572"/>
                <a:gd name="connsiteX12" fmla="*/ 2292123 w 2579946"/>
                <a:gd name="connsiteY12" fmla="*/ 4689022 h 5279572"/>
                <a:gd name="connsiteX13" fmla="*/ 2286000 w 2579946"/>
                <a:gd name="connsiteY13" fmla="*/ 21772 h 5279572"/>
                <a:gd name="connsiteX14" fmla="*/ 2569028 w 2579946"/>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28826 w 2579914"/>
                <a:gd name="connsiteY11" fmla="*/ 4978172 h 5279572"/>
                <a:gd name="connsiteX12" fmla="*/ 2292123 w 2579914"/>
                <a:gd name="connsiteY12" fmla="*/ 4689022 h 5279572"/>
                <a:gd name="connsiteX13" fmla="*/ 2286000 w 2579914"/>
                <a:gd name="connsiteY13" fmla="*/ 21772 h 5279572"/>
                <a:gd name="connsiteX14" fmla="*/ 2569028 w 2579914"/>
                <a:gd name="connsiteY14" fmla="*/ 0 h 5279572"/>
                <a:gd name="connsiteX0" fmla="*/ 2588078 w 2588635"/>
                <a:gd name="connsiteY0" fmla="*/ 11565 h 5257800"/>
                <a:gd name="connsiteX1" fmla="*/ 2579914 w 2588635"/>
                <a:gd name="connsiteY1" fmla="*/ 4637314 h 5257800"/>
                <a:gd name="connsiteX2" fmla="*/ 2013857 w 2588635"/>
                <a:gd name="connsiteY2" fmla="*/ 5257800 h 5257800"/>
                <a:gd name="connsiteX3" fmla="*/ 1436914 w 2588635"/>
                <a:gd name="connsiteY3" fmla="*/ 4713514 h 5257800"/>
                <a:gd name="connsiteX4" fmla="*/ 1426028 w 2588635"/>
                <a:gd name="connsiteY4" fmla="*/ 3037114 h 5257800"/>
                <a:gd name="connsiteX5" fmla="*/ 1121228 w 2588635"/>
                <a:gd name="connsiteY5" fmla="*/ 2808514 h 5257800"/>
                <a:gd name="connsiteX6" fmla="*/ 10885 w 2588635"/>
                <a:gd name="connsiteY6" fmla="*/ 2819399 h 5257800"/>
                <a:gd name="connsiteX7" fmla="*/ 0 w 2588635"/>
                <a:gd name="connsiteY7" fmla="*/ 2514600 h 5257800"/>
                <a:gd name="connsiteX8" fmla="*/ 1197428 w 2588635"/>
                <a:gd name="connsiteY8" fmla="*/ 2514600 h 5257800"/>
                <a:gd name="connsiteX9" fmla="*/ 1730828 w 2588635"/>
                <a:gd name="connsiteY9" fmla="*/ 2960914 h 5257800"/>
                <a:gd name="connsiteX10" fmla="*/ 1719943 w 2588635"/>
                <a:gd name="connsiteY10" fmla="*/ 4691743 h 5257800"/>
                <a:gd name="connsiteX11" fmla="*/ 2028826 w 2588635"/>
                <a:gd name="connsiteY11" fmla="*/ 4956400 h 5257800"/>
                <a:gd name="connsiteX12" fmla="*/ 2292123 w 2588635"/>
                <a:gd name="connsiteY12" fmla="*/ 4667250 h 5257800"/>
                <a:gd name="connsiteX13" fmla="*/ 2286000 w 2588635"/>
                <a:gd name="connsiteY13" fmla="*/ 0 h 5257800"/>
                <a:gd name="connsiteX14" fmla="*/ 2588078 w 2588635"/>
                <a:gd name="connsiteY14" fmla="*/ 11565 h 5257800"/>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41135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5648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 name="connsiteX0" fmla="*/ 2572430 w 2588079"/>
                <a:gd name="connsiteY0" fmla="*/ 0 h 5260522"/>
                <a:gd name="connsiteX1" fmla="*/ 2588079 w 2588079"/>
                <a:gd name="connsiteY1" fmla="*/ 4640036 h 5260522"/>
                <a:gd name="connsiteX2" fmla="*/ 2022022 w 2588079"/>
                <a:gd name="connsiteY2" fmla="*/ 5260522 h 5260522"/>
                <a:gd name="connsiteX3" fmla="*/ 1445079 w 2588079"/>
                <a:gd name="connsiteY3" fmla="*/ 4716236 h 5260522"/>
                <a:gd name="connsiteX4" fmla="*/ 1434193 w 2588079"/>
                <a:gd name="connsiteY4" fmla="*/ 3039836 h 5260522"/>
                <a:gd name="connsiteX5" fmla="*/ 1129393 w 2588079"/>
                <a:gd name="connsiteY5" fmla="*/ 2811236 h 5260522"/>
                <a:gd name="connsiteX6" fmla="*/ 0 w 2588079"/>
                <a:gd name="connsiteY6" fmla="*/ 2817359 h 5260522"/>
                <a:gd name="connsiteX7" fmla="*/ 3402 w 2588079"/>
                <a:gd name="connsiteY7" fmla="*/ 2545897 h 5260522"/>
                <a:gd name="connsiteX8" fmla="*/ 1205593 w 2588079"/>
                <a:gd name="connsiteY8" fmla="*/ 2541135 h 5260522"/>
                <a:gd name="connsiteX9" fmla="*/ 1753280 w 2588079"/>
                <a:gd name="connsiteY9" fmla="*/ 2963636 h 5260522"/>
                <a:gd name="connsiteX10" fmla="*/ 1751921 w 2588079"/>
                <a:gd name="connsiteY10" fmla="*/ 4699228 h 5260522"/>
                <a:gd name="connsiteX11" fmla="*/ 2036991 w 2588079"/>
                <a:gd name="connsiteY11" fmla="*/ 4959122 h 5260522"/>
                <a:gd name="connsiteX12" fmla="*/ 2300288 w 2588079"/>
                <a:gd name="connsiteY12" fmla="*/ 4669972 h 5260522"/>
                <a:gd name="connsiteX13" fmla="*/ 2294165 w 2588079"/>
                <a:gd name="connsiteY13" fmla="*/ 2722 h 5260522"/>
                <a:gd name="connsiteX14" fmla="*/ 2572430 w 2588079"/>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0886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84677" h="5260522">
                  <a:moveTo>
                    <a:pt x="2569028" y="0"/>
                  </a:moveTo>
                  <a:cubicBezTo>
                    <a:pt x="2572657" y="1553029"/>
                    <a:pt x="2581048" y="3087007"/>
                    <a:pt x="2584677" y="4640036"/>
                  </a:cubicBezTo>
                  <a:cubicBezTo>
                    <a:pt x="2582409" y="4821691"/>
                    <a:pt x="2484892" y="5255079"/>
                    <a:pt x="2018620" y="5260522"/>
                  </a:cubicBezTo>
                  <a:cubicBezTo>
                    <a:pt x="1612220" y="5243286"/>
                    <a:pt x="1449161" y="4843463"/>
                    <a:pt x="1441677" y="4716236"/>
                  </a:cubicBezTo>
                  <a:cubicBezTo>
                    <a:pt x="1438048" y="4157436"/>
                    <a:pt x="1434420" y="3598636"/>
                    <a:pt x="1430791" y="3039836"/>
                  </a:cubicBezTo>
                  <a:cubicBezTo>
                    <a:pt x="1405391" y="2822122"/>
                    <a:pt x="1467077" y="2789465"/>
                    <a:pt x="1125991" y="2811236"/>
                  </a:cubicBezTo>
                  <a:lnTo>
                    <a:pt x="10886" y="2822121"/>
                  </a:lnTo>
                  <a:lnTo>
                    <a:pt x="0" y="2545897"/>
                  </a:lnTo>
                  <a:lnTo>
                    <a:pt x="1202191" y="2541135"/>
                  </a:lnTo>
                  <a:cubicBezTo>
                    <a:pt x="1599520" y="2561093"/>
                    <a:pt x="1756681" y="2468790"/>
                    <a:pt x="1749878" y="2963636"/>
                  </a:cubicBezTo>
                  <a:cubicBezTo>
                    <a:pt x="1746250" y="3540579"/>
                    <a:pt x="1752147" y="4122285"/>
                    <a:pt x="1748519" y="4699228"/>
                  </a:cubicBezTo>
                  <a:cubicBezTo>
                    <a:pt x="1765301" y="4771119"/>
                    <a:pt x="1784125" y="4947784"/>
                    <a:pt x="2033589" y="4959122"/>
                  </a:cubicBezTo>
                  <a:cubicBezTo>
                    <a:pt x="2252890" y="4946876"/>
                    <a:pt x="2296659" y="4752750"/>
                    <a:pt x="2296886" y="4669972"/>
                  </a:cubicBezTo>
                  <a:cubicBezTo>
                    <a:pt x="2293258" y="3095172"/>
                    <a:pt x="2294391" y="1577522"/>
                    <a:pt x="2290763" y="2722"/>
                  </a:cubicBezTo>
                  <a:lnTo>
                    <a:pt x="2569028" y="0"/>
                  </a:lnTo>
                  <a:close/>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9" name="Oval 18"/>
            <p:cNvSpPr/>
            <p:nvPr/>
          </p:nvSpPr>
          <p:spPr>
            <a:xfrm>
              <a:off x="42719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0" name="TextBox 19"/>
            <p:cNvSpPr txBox="1"/>
            <p:nvPr/>
          </p:nvSpPr>
          <p:spPr>
            <a:xfrm>
              <a:off x="3738565" y="3812721"/>
              <a:ext cx="414147" cy="385618"/>
            </a:xfrm>
            <a:prstGeom prst="rect">
              <a:avLst/>
            </a:prstGeom>
            <a:noFill/>
          </p:spPr>
          <p:txBody>
            <a:bodyPr wrap="none" rtlCol="0">
              <a:spAutoFit/>
            </a:bodyPr>
            <a:lstStyle/>
            <a:p>
              <a:r>
                <a:rPr lang="en-US" sz="1200" b="1" dirty="0">
                  <a:solidFill>
                    <a:srgbClr val="FF0000"/>
                  </a:solidFill>
                </a:rPr>
                <a:t>A</a:t>
              </a:r>
            </a:p>
          </p:txBody>
        </p:sp>
        <p:sp>
          <p:nvSpPr>
            <p:cNvPr id="21" name="TextBox 20"/>
            <p:cNvSpPr txBox="1"/>
            <p:nvPr/>
          </p:nvSpPr>
          <p:spPr>
            <a:xfrm>
              <a:off x="4729164" y="3812721"/>
              <a:ext cx="414147" cy="385618"/>
            </a:xfrm>
            <a:prstGeom prst="rect">
              <a:avLst/>
            </a:prstGeom>
            <a:noFill/>
          </p:spPr>
          <p:txBody>
            <a:bodyPr wrap="none" rtlCol="0">
              <a:spAutoFit/>
            </a:bodyPr>
            <a:lstStyle/>
            <a:p>
              <a:r>
                <a:rPr lang="en-US" sz="1200" b="1" dirty="0">
                  <a:solidFill>
                    <a:srgbClr val="FF0000"/>
                  </a:solidFill>
                </a:rPr>
                <a:t>B</a:t>
              </a:r>
            </a:p>
          </p:txBody>
        </p:sp>
        <p:sp>
          <p:nvSpPr>
            <p:cNvPr id="22" name="Oval 21"/>
            <p:cNvSpPr/>
            <p:nvPr/>
          </p:nvSpPr>
          <p:spPr>
            <a:xfrm>
              <a:off x="51101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3" name="Line 5"/>
            <p:cNvSpPr>
              <a:spLocks noChangeShapeType="1"/>
            </p:cNvSpPr>
            <p:nvPr/>
          </p:nvSpPr>
          <p:spPr bwMode="auto">
            <a:xfrm>
              <a:off x="5262564" y="4041322"/>
              <a:ext cx="457200" cy="533400"/>
            </a:xfrm>
            <a:prstGeom prst="line">
              <a:avLst/>
            </a:prstGeom>
            <a:noFill/>
            <a:ln w="9525">
              <a:solidFill>
                <a:schemeClr val="tx1"/>
              </a:solidFill>
              <a:round/>
              <a:headEnd type="triangle" w="med" len="med"/>
              <a:tailEnd/>
            </a:ln>
          </p:spPr>
          <p:txBody>
            <a:bodyPr/>
            <a:lstStyle/>
            <a:p>
              <a:endParaRPr lang="en-US" sz="1200"/>
            </a:p>
          </p:txBody>
        </p:sp>
        <p:sp>
          <p:nvSpPr>
            <p:cNvPr id="24" name="Text Box 6"/>
            <p:cNvSpPr txBox="1">
              <a:spLocks noChangeArrowheads="1"/>
            </p:cNvSpPr>
            <p:nvPr/>
          </p:nvSpPr>
          <p:spPr bwMode="auto">
            <a:xfrm>
              <a:off x="5719764" y="4498522"/>
              <a:ext cx="506328" cy="385618"/>
            </a:xfrm>
            <a:prstGeom prst="rect">
              <a:avLst/>
            </a:prstGeom>
            <a:noFill/>
            <a:ln w="9525">
              <a:noFill/>
              <a:miter lim="800000"/>
              <a:headEnd/>
              <a:tailEnd/>
            </a:ln>
          </p:spPr>
          <p:txBody>
            <a:bodyPr wrap="none">
              <a:spAutoFit/>
            </a:bodyPr>
            <a:lstStyle/>
            <a:p>
              <a:r>
                <a:rPr lang="en-US" sz="1200" b="1" i="1" dirty="0"/>
                <a:t>P</a:t>
              </a:r>
              <a:r>
                <a:rPr lang="en-US" sz="1200" b="1" i="1" baseline="-25000" dirty="0"/>
                <a:t>B</a:t>
              </a:r>
            </a:p>
          </p:txBody>
        </p:sp>
        <p:sp>
          <p:nvSpPr>
            <p:cNvPr id="25" name="Line 7"/>
            <p:cNvSpPr>
              <a:spLocks noChangeShapeType="1"/>
            </p:cNvSpPr>
            <p:nvPr/>
          </p:nvSpPr>
          <p:spPr bwMode="auto">
            <a:xfrm flipH="1">
              <a:off x="3814764" y="4041322"/>
              <a:ext cx="479425" cy="652462"/>
            </a:xfrm>
            <a:prstGeom prst="line">
              <a:avLst/>
            </a:prstGeom>
            <a:noFill/>
            <a:ln w="9525">
              <a:solidFill>
                <a:schemeClr val="tx1"/>
              </a:solidFill>
              <a:round/>
              <a:headEnd type="triangle" w="med" len="med"/>
              <a:tailEnd/>
            </a:ln>
          </p:spPr>
          <p:txBody>
            <a:bodyPr/>
            <a:lstStyle/>
            <a:p>
              <a:endParaRPr lang="en-US" sz="1200"/>
            </a:p>
          </p:txBody>
        </p:sp>
        <p:sp>
          <p:nvSpPr>
            <p:cNvPr id="26" name="Text Box 8"/>
            <p:cNvSpPr txBox="1">
              <a:spLocks noChangeArrowheads="1"/>
            </p:cNvSpPr>
            <p:nvPr/>
          </p:nvSpPr>
          <p:spPr bwMode="auto">
            <a:xfrm>
              <a:off x="3554413" y="4541384"/>
              <a:ext cx="490320" cy="385618"/>
            </a:xfrm>
            <a:prstGeom prst="rect">
              <a:avLst/>
            </a:prstGeom>
            <a:noFill/>
            <a:ln w="9525">
              <a:noFill/>
              <a:miter lim="800000"/>
              <a:headEnd/>
              <a:tailEnd/>
            </a:ln>
          </p:spPr>
          <p:txBody>
            <a:bodyPr wrap="none">
              <a:spAutoFit/>
            </a:bodyPr>
            <a:lstStyle/>
            <a:p>
              <a:r>
                <a:rPr lang="en-US" sz="1200" b="1" i="1" dirty="0"/>
                <a:t>P</a:t>
              </a:r>
              <a:r>
                <a:rPr lang="en-US" sz="1200" b="1" i="1" baseline="-25000" dirty="0"/>
                <a:t>A</a:t>
              </a:r>
            </a:p>
          </p:txBody>
        </p:sp>
        <p:cxnSp>
          <p:nvCxnSpPr>
            <p:cNvPr id="27" name="Straight Arrow Connector 26"/>
            <p:cNvCxnSpPr/>
            <p:nvPr/>
          </p:nvCxnSpPr>
          <p:spPr>
            <a:xfrm>
              <a:off x="6176964" y="2288722"/>
              <a:ext cx="0" cy="1676400"/>
            </a:xfrm>
            <a:prstGeom prst="straightConnector1">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6024564" y="2898322"/>
              <a:ext cx="510825" cy="385618"/>
            </a:xfrm>
            <a:prstGeom prst="rect">
              <a:avLst/>
            </a:prstGeom>
            <a:solidFill>
              <a:schemeClr val="bg1"/>
            </a:solidFill>
          </p:spPr>
          <p:txBody>
            <a:bodyPr wrap="none" rtlCol="0">
              <a:spAutoFit/>
            </a:bodyPr>
            <a:lstStyle/>
            <a:p>
              <a:r>
                <a:rPr lang="en-US" sz="1200" dirty="0">
                  <a:sym typeface="Symbol"/>
                </a:rPr>
                <a:t>h</a:t>
              </a:r>
              <a:endParaRPr lang="en-US" sz="1200" dirty="0"/>
            </a:p>
          </p:txBody>
        </p:sp>
        <p:sp>
          <p:nvSpPr>
            <p:cNvPr id="29" name="Rectangle 28"/>
            <p:cNvSpPr/>
            <p:nvPr/>
          </p:nvSpPr>
          <p:spPr>
            <a:xfrm>
              <a:off x="4724400" y="609600"/>
              <a:ext cx="838200" cy="152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0" name="Rectangle 29"/>
            <p:cNvSpPr/>
            <p:nvPr/>
          </p:nvSpPr>
          <p:spPr>
            <a:xfrm>
              <a:off x="2514600" y="3124200"/>
              <a:ext cx="381000"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1" name="Rectangle 30"/>
            <p:cNvSpPr/>
            <p:nvPr/>
          </p:nvSpPr>
          <p:spPr>
            <a:xfrm>
              <a:off x="20574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2" name="Rectangle 31"/>
            <p:cNvSpPr/>
            <p:nvPr/>
          </p:nvSpPr>
          <p:spPr>
            <a:xfrm>
              <a:off x="11430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p>
          </p:txBody>
        </p:sp>
        <p:sp>
          <p:nvSpPr>
            <p:cNvPr id="33" name="Freeform 32"/>
            <p:cNvSpPr/>
            <p:nvPr/>
          </p:nvSpPr>
          <p:spPr>
            <a:xfrm flipV="1">
              <a:off x="1143000" y="6553200"/>
              <a:ext cx="1872343" cy="272143"/>
            </a:xfrm>
            <a:custGeom>
              <a:avLst/>
              <a:gdLst>
                <a:gd name="connsiteX0" fmla="*/ 0 w 1872343"/>
                <a:gd name="connsiteY0" fmla="*/ 97971 h 370114"/>
                <a:gd name="connsiteX1" fmla="*/ 326572 w 1872343"/>
                <a:gd name="connsiteY1" fmla="*/ 370114 h 370114"/>
                <a:gd name="connsiteX2" fmla="*/ 794657 w 1872343"/>
                <a:gd name="connsiteY2" fmla="*/ 108857 h 370114"/>
                <a:gd name="connsiteX3" fmla="*/ 925286 w 1872343"/>
                <a:gd name="connsiteY3" fmla="*/ 250371 h 370114"/>
                <a:gd name="connsiteX4" fmla="*/ 1153886 w 1872343"/>
                <a:gd name="connsiteY4" fmla="*/ 195943 h 370114"/>
                <a:gd name="connsiteX5" fmla="*/ 1360715 w 1872343"/>
                <a:gd name="connsiteY5" fmla="*/ 315686 h 370114"/>
                <a:gd name="connsiteX6" fmla="*/ 1872343 w 1872343"/>
                <a:gd name="connsiteY6" fmla="*/ 163286 h 370114"/>
                <a:gd name="connsiteX7" fmla="*/ 1839686 w 1872343"/>
                <a:gd name="connsiteY7" fmla="*/ 43543 h 370114"/>
                <a:gd name="connsiteX8" fmla="*/ 43543 w 1872343"/>
                <a:gd name="connsiteY8" fmla="*/ 0 h 370114"/>
                <a:gd name="connsiteX9" fmla="*/ 0 w 1872343"/>
                <a:gd name="connsiteY9" fmla="*/ 97971 h 37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2343" h="370114">
                  <a:moveTo>
                    <a:pt x="0" y="97971"/>
                  </a:moveTo>
                  <a:lnTo>
                    <a:pt x="326572" y="370114"/>
                  </a:lnTo>
                  <a:lnTo>
                    <a:pt x="794657" y="108857"/>
                  </a:lnTo>
                  <a:lnTo>
                    <a:pt x="925286" y="250371"/>
                  </a:lnTo>
                  <a:lnTo>
                    <a:pt x="1153886" y="195943"/>
                  </a:lnTo>
                  <a:lnTo>
                    <a:pt x="1360715" y="315686"/>
                  </a:lnTo>
                  <a:lnTo>
                    <a:pt x="1872343" y="163286"/>
                  </a:lnTo>
                  <a:lnTo>
                    <a:pt x="1839686" y="43543"/>
                  </a:lnTo>
                  <a:lnTo>
                    <a:pt x="43543" y="0"/>
                  </a:lnTo>
                  <a:lnTo>
                    <a:pt x="0" y="9797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4" name="Rectangle 33"/>
            <p:cNvSpPr/>
            <p:nvPr/>
          </p:nvSpPr>
          <p:spPr>
            <a:xfrm>
              <a:off x="1295399" y="1752600"/>
              <a:ext cx="1447800" cy="2527939"/>
            </a:xfrm>
            <a:prstGeom prst="rect">
              <a:avLst/>
            </a:prstGeom>
          </p:spPr>
          <p:txBody>
            <a:bodyPr wrap="square">
              <a:spAutoFit/>
            </a:bodyPr>
            <a:lstStyle/>
            <a:p>
              <a:pPr algn="ctr"/>
              <a:r>
                <a:rPr lang="en-US" sz="1600" dirty="0">
                  <a:solidFill>
                    <a:schemeClr val="bg1"/>
                  </a:solidFill>
                </a:rPr>
                <a:t>Pipe with a higher pressure, </a:t>
              </a:r>
              <a:r>
                <a:rPr lang="en-US" sz="1600" dirty="0" err="1">
                  <a:solidFill>
                    <a:schemeClr val="bg1"/>
                  </a:solidFill>
                </a:rPr>
                <a:t>P</a:t>
              </a:r>
              <a:r>
                <a:rPr lang="en-US" sz="1600" baseline="-25000" dirty="0" err="1">
                  <a:solidFill>
                    <a:schemeClr val="bg1"/>
                  </a:solidFill>
                </a:rPr>
                <a:t>pipe</a:t>
              </a:r>
              <a:r>
                <a:rPr lang="en-US" sz="1600" dirty="0">
                  <a:solidFill>
                    <a:schemeClr val="bg1"/>
                  </a:solidFill>
                </a:rPr>
                <a:t> that we wish to measure</a:t>
              </a:r>
            </a:p>
          </p:txBody>
        </p:sp>
      </p:grpSp>
    </p:spTree>
    <p:extLst>
      <p:ext uri="{BB962C8B-B14F-4D97-AF65-F5344CB8AC3E}">
        <p14:creationId xmlns:p14="http://schemas.microsoft.com/office/powerpoint/2010/main" val="21635969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3" name="Group 42"/>
          <p:cNvGrpSpPr/>
          <p:nvPr/>
        </p:nvGrpSpPr>
        <p:grpSpPr>
          <a:xfrm>
            <a:off x="2726192" y="1268865"/>
            <a:ext cx="2657475" cy="4380820"/>
            <a:chOff x="3052763" y="300037"/>
            <a:chExt cx="2657475" cy="4380820"/>
          </a:xfrm>
        </p:grpSpPr>
        <p:grpSp>
          <p:nvGrpSpPr>
            <p:cNvPr id="38" name="Group 37"/>
            <p:cNvGrpSpPr/>
            <p:nvPr/>
          </p:nvGrpSpPr>
          <p:grpSpPr>
            <a:xfrm>
              <a:off x="3052763" y="300037"/>
              <a:ext cx="2657475" cy="4380820"/>
              <a:chOff x="3052763" y="300037"/>
              <a:chExt cx="2657475" cy="4380820"/>
            </a:xfrm>
          </p:grpSpPr>
          <p:grpSp>
            <p:nvGrpSpPr>
              <p:cNvPr id="5" name="Group 22"/>
              <p:cNvGrpSpPr>
                <a:grpSpLocks/>
              </p:cNvGrpSpPr>
              <p:nvPr/>
            </p:nvGrpSpPr>
            <p:grpSpPr bwMode="auto">
              <a:xfrm>
                <a:off x="3635375" y="3016250"/>
                <a:ext cx="2074863" cy="1664607"/>
                <a:chOff x="3596" y="1780"/>
                <a:chExt cx="1416" cy="1624"/>
              </a:xfrm>
            </p:grpSpPr>
            <p:sp>
              <p:nvSpPr>
                <p:cNvPr id="21" name="Freeform 23"/>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2" name="Freeform 24"/>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6" name="AutoShape 25"/>
              <p:cNvSpPr>
                <a:spLocks noChangeArrowheads="1"/>
              </p:cNvSpPr>
              <p:nvPr/>
            </p:nvSpPr>
            <p:spPr bwMode="auto">
              <a:xfrm>
                <a:off x="3875088" y="3432175"/>
                <a:ext cx="1595438" cy="1161596"/>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7" name="Rectangle 26"/>
              <p:cNvSpPr>
                <a:spLocks noChangeArrowheads="1"/>
              </p:cNvSpPr>
              <p:nvPr/>
            </p:nvSpPr>
            <p:spPr bwMode="auto">
              <a:xfrm>
                <a:off x="3875088" y="3405188"/>
                <a:ext cx="1577975" cy="344488"/>
              </a:xfrm>
              <a:prstGeom prst="rect">
                <a:avLst/>
              </a:prstGeom>
              <a:solidFill>
                <a:schemeClr val="bg1">
                  <a:lumMod val="65000"/>
                </a:schemeClr>
              </a:solidFill>
              <a:ln w="9525">
                <a:noFill/>
                <a:miter lim="800000"/>
                <a:headEnd/>
                <a:tailEnd/>
              </a:ln>
            </p:spPr>
            <p:txBody>
              <a:bodyPr wrap="none" anchor="ctr"/>
              <a:lstStyle/>
              <a:p>
                <a:endParaRPr lang="en-US"/>
              </a:p>
            </p:txBody>
          </p:sp>
          <p:sp>
            <p:nvSpPr>
              <p:cNvPr id="32" name="Freeform 31"/>
              <p:cNvSpPr/>
              <p:nvPr/>
            </p:nvSpPr>
            <p:spPr>
              <a:xfrm>
                <a:off x="4414838" y="3348038"/>
                <a:ext cx="485775" cy="809625"/>
              </a:xfrm>
              <a:custGeom>
                <a:avLst/>
                <a:gdLst>
                  <a:gd name="connsiteX0" fmla="*/ 33337 w 485775"/>
                  <a:gd name="connsiteY0" fmla="*/ 4762 h 809625"/>
                  <a:gd name="connsiteX1" fmla="*/ 447675 w 485775"/>
                  <a:gd name="connsiteY1" fmla="*/ 0 h 809625"/>
                  <a:gd name="connsiteX2" fmla="*/ 457200 w 485775"/>
                  <a:gd name="connsiteY2" fmla="*/ 300037 h 809625"/>
                  <a:gd name="connsiteX3" fmla="*/ 466725 w 485775"/>
                  <a:gd name="connsiteY3" fmla="*/ 461962 h 809625"/>
                  <a:gd name="connsiteX4" fmla="*/ 485775 w 485775"/>
                  <a:gd name="connsiteY4" fmla="*/ 614362 h 809625"/>
                  <a:gd name="connsiteX5" fmla="*/ 476250 w 485775"/>
                  <a:gd name="connsiteY5" fmla="*/ 747712 h 809625"/>
                  <a:gd name="connsiteX6" fmla="*/ 447675 w 485775"/>
                  <a:gd name="connsiteY6" fmla="*/ 809625 h 809625"/>
                  <a:gd name="connsiteX7" fmla="*/ 347662 w 485775"/>
                  <a:gd name="connsiteY7" fmla="*/ 804862 h 809625"/>
                  <a:gd name="connsiteX8" fmla="*/ 33337 w 485775"/>
                  <a:gd name="connsiteY8" fmla="*/ 800100 h 809625"/>
                  <a:gd name="connsiteX9" fmla="*/ 0 w 485775"/>
                  <a:gd name="connsiteY9" fmla="*/ 742950 h 809625"/>
                  <a:gd name="connsiteX10" fmla="*/ 0 w 485775"/>
                  <a:gd name="connsiteY10" fmla="*/ 619125 h 809625"/>
                  <a:gd name="connsiteX11" fmla="*/ 23812 w 485775"/>
                  <a:gd name="connsiteY11" fmla="*/ 423862 h 809625"/>
                  <a:gd name="connsiteX12" fmla="*/ 33337 w 485775"/>
                  <a:gd name="connsiteY12" fmla="*/ 185737 h 809625"/>
                  <a:gd name="connsiteX13" fmla="*/ 33337 w 485775"/>
                  <a:gd name="connsiteY13" fmla="*/ 4762 h 80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5775" h="809625">
                    <a:moveTo>
                      <a:pt x="33337" y="4762"/>
                    </a:moveTo>
                    <a:lnTo>
                      <a:pt x="447675" y="0"/>
                    </a:lnTo>
                    <a:lnTo>
                      <a:pt x="457200" y="300037"/>
                    </a:lnTo>
                    <a:lnTo>
                      <a:pt x="466725" y="461962"/>
                    </a:lnTo>
                    <a:lnTo>
                      <a:pt x="485775" y="614362"/>
                    </a:lnTo>
                    <a:lnTo>
                      <a:pt x="476250" y="747712"/>
                    </a:lnTo>
                    <a:lnTo>
                      <a:pt x="447675" y="809625"/>
                    </a:lnTo>
                    <a:lnTo>
                      <a:pt x="347662" y="804862"/>
                    </a:lnTo>
                    <a:lnTo>
                      <a:pt x="33337" y="800100"/>
                    </a:lnTo>
                    <a:lnTo>
                      <a:pt x="0" y="742950"/>
                    </a:lnTo>
                    <a:lnTo>
                      <a:pt x="0" y="619125"/>
                    </a:lnTo>
                    <a:lnTo>
                      <a:pt x="23812" y="423862"/>
                    </a:lnTo>
                    <a:lnTo>
                      <a:pt x="33337" y="185737"/>
                    </a:lnTo>
                    <a:lnTo>
                      <a:pt x="33337" y="476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27"/>
              <p:cNvSpPr>
                <a:spLocks/>
              </p:cNvSpPr>
              <p:nvPr/>
            </p:nvSpPr>
            <p:spPr bwMode="auto">
              <a:xfrm>
                <a:off x="3759200" y="3009900"/>
                <a:ext cx="914400" cy="158387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9" name="Freeform 28"/>
              <p:cNvSpPr>
                <a:spLocks/>
              </p:cNvSpPr>
              <p:nvPr/>
            </p:nvSpPr>
            <p:spPr bwMode="auto">
              <a:xfrm flipH="1">
                <a:off x="4673599" y="3009901"/>
                <a:ext cx="912813" cy="1572986"/>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7" name="Line 36"/>
              <p:cNvSpPr>
                <a:spLocks noChangeShapeType="1"/>
              </p:cNvSpPr>
              <p:nvPr/>
            </p:nvSpPr>
            <p:spPr bwMode="auto">
              <a:xfrm flipH="1">
                <a:off x="5094515" y="3396342"/>
                <a:ext cx="198438" cy="0"/>
              </a:xfrm>
              <a:prstGeom prst="line">
                <a:avLst/>
              </a:prstGeom>
              <a:noFill/>
              <a:ln w="9525">
                <a:solidFill>
                  <a:schemeClr val="tx1"/>
                </a:solidFill>
                <a:round/>
                <a:headEnd/>
                <a:tailEnd/>
              </a:ln>
            </p:spPr>
            <p:txBody>
              <a:bodyPr/>
              <a:lstStyle/>
              <a:p>
                <a:endParaRPr lang="en-US"/>
              </a:p>
            </p:txBody>
          </p:sp>
          <p:sp>
            <p:nvSpPr>
              <p:cNvPr id="18" name="Line 37"/>
              <p:cNvSpPr>
                <a:spLocks noChangeShapeType="1"/>
              </p:cNvSpPr>
              <p:nvPr/>
            </p:nvSpPr>
            <p:spPr bwMode="auto">
              <a:xfrm>
                <a:off x="5094514" y="1055915"/>
                <a:ext cx="35379" cy="2318204"/>
              </a:xfrm>
              <a:prstGeom prst="line">
                <a:avLst/>
              </a:prstGeom>
              <a:noFill/>
              <a:ln w="9525">
                <a:solidFill>
                  <a:schemeClr val="tx1"/>
                </a:solidFill>
                <a:round/>
                <a:headEnd type="triangle" w="med" len="med"/>
                <a:tailEnd type="triangle" w="med" len="med"/>
              </a:ln>
            </p:spPr>
            <p:txBody>
              <a:bodyPr/>
              <a:lstStyle/>
              <a:p>
                <a:endParaRPr lang="en-US"/>
              </a:p>
            </p:txBody>
          </p:sp>
          <p:sp>
            <p:nvSpPr>
              <p:cNvPr id="19" name="Line 38"/>
              <p:cNvSpPr>
                <a:spLocks noChangeShapeType="1"/>
              </p:cNvSpPr>
              <p:nvPr/>
            </p:nvSpPr>
            <p:spPr bwMode="auto">
              <a:xfrm flipH="1">
                <a:off x="5021262" y="1053419"/>
                <a:ext cx="200025" cy="0"/>
              </a:xfrm>
              <a:prstGeom prst="line">
                <a:avLst/>
              </a:prstGeom>
              <a:noFill/>
              <a:ln w="9525">
                <a:solidFill>
                  <a:schemeClr val="tx1"/>
                </a:solidFill>
                <a:round/>
                <a:headEnd/>
                <a:tailEnd/>
              </a:ln>
            </p:spPr>
            <p:txBody>
              <a:bodyPr/>
              <a:lstStyle/>
              <a:p>
                <a:endParaRPr lang="en-US"/>
              </a:p>
            </p:txBody>
          </p:sp>
          <p:sp>
            <p:nvSpPr>
              <p:cNvPr id="20" name="Text Box 39"/>
              <p:cNvSpPr txBox="1">
                <a:spLocks noChangeArrowheads="1"/>
              </p:cNvSpPr>
              <p:nvPr/>
            </p:nvSpPr>
            <p:spPr bwMode="auto">
              <a:xfrm>
                <a:off x="5007202" y="2115230"/>
                <a:ext cx="282575" cy="304800"/>
              </a:xfrm>
              <a:prstGeom prst="rect">
                <a:avLst/>
              </a:prstGeom>
              <a:solidFill>
                <a:schemeClr val="bg1"/>
              </a:solidFill>
              <a:ln w="9525">
                <a:noFill/>
                <a:miter lim="800000"/>
                <a:headEnd/>
                <a:tailEnd/>
              </a:ln>
            </p:spPr>
            <p:txBody>
              <a:bodyPr wrap="none">
                <a:spAutoFit/>
              </a:bodyPr>
              <a:lstStyle/>
              <a:p>
                <a:r>
                  <a:rPr lang="en-US" sz="1400" i="1"/>
                  <a:t>h</a:t>
                </a:r>
              </a:p>
            </p:txBody>
          </p:sp>
          <p:sp>
            <p:nvSpPr>
              <p:cNvPr id="24" name="Freeform 23"/>
              <p:cNvSpPr>
                <a:spLocks/>
              </p:cNvSpPr>
              <p:nvPr/>
            </p:nvSpPr>
            <p:spPr bwMode="auto">
              <a:xfrm flipV="1">
                <a:off x="4419600"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5" name="Freeform 24"/>
              <p:cNvSpPr>
                <a:spLocks/>
              </p:cNvSpPr>
              <p:nvPr/>
            </p:nvSpPr>
            <p:spPr bwMode="auto">
              <a:xfrm flipH="1" flipV="1">
                <a:off x="4653895"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6" name="AutoShape 25"/>
              <p:cNvSpPr>
                <a:spLocks noChangeArrowheads="1"/>
              </p:cNvSpPr>
              <p:nvPr/>
            </p:nvSpPr>
            <p:spPr bwMode="auto">
              <a:xfrm flipV="1">
                <a:off x="4519613" y="1023933"/>
                <a:ext cx="261937" cy="3043939"/>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28" name="Freeform 27"/>
              <p:cNvSpPr>
                <a:spLocks/>
              </p:cNvSpPr>
              <p:nvPr/>
            </p:nvSpPr>
            <p:spPr bwMode="auto">
              <a:xfrm flipV="1">
                <a:off x="4495799" y="399248"/>
                <a:ext cx="163695"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9" name="Freeform 28"/>
              <p:cNvSpPr>
                <a:spLocks/>
              </p:cNvSpPr>
              <p:nvPr/>
            </p:nvSpPr>
            <p:spPr bwMode="auto">
              <a:xfrm flipH="1" flipV="1">
                <a:off x="4659496" y="399248"/>
                <a:ext cx="141104"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3" name="Freeform 32"/>
              <p:cNvSpPr/>
              <p:nvPr/>
            </p:nvSpPr>
            <p:spPr>
              <a:xfrm>
                <a:off x="4495800" y="3767138"/>
                <a:ext cx="309563" cy="400050"/>
              </a:xfrm>
              <a:custGeom>
                <a:avLst/>
                <a:gdLst>
                  <a:gd name="connsiteX0" fmla="*/ 33338 w 309563"/>
                  <a:gd name="connsiteY0" fmla="*/ 0 h 400050"/>
                  <a:gd name="connsiteX1" fmla="*/ 19050 w 309563"/>
                  <a:gd name="connsiteY1" fmla="*/ 357187 h 400050"/>
                  <a:gd name="connsiteX2" fmla="*/ 0 w 309563"/>
                  <a:gd name="connsiteY2" fmla="*/ 400050 h 400050"/>
                  <a:gd name="connsiteX3" fmla="*/ 309563 w 309563"/>
                  <a:gd name="connsiteY3" fmla="*/ 400050 h 400050"/>
                  <a:gd name="connsiteX4" fmla="*/ 295275 w 309563"/>
                  <a:gd name="connsiteY4" fmla="*/ 376237 h 400050"/>
                  <a:gd name="connsiteX5" fmla="*/ 276225 w 309563"/>
                  <a:gd name="connsiteY5" fmla="*/ 261937 h 400050"/>
                  <a:gd name="connsiteX6" fmla="*/ 280988 w 309563"/>
                  <a:gd name="connsiteY6" fmla="*/ 33337 h 400050"/>
                  <a:gd name="connsiteX7" fmla="*/ 33338 w 309563"/>
                  <a:gd name="connsiteY7" fmla="*/ 0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9563" h="400050">
                    <a:moveTo>
                      <a:pt x="33338" y="0"/>
                    </a:moveTo>
                    <a:lnTo>
                      <a:pt x="19050" y="357187"/>
                    </a:lnTo>
                    <a:lnTo>
                      <a:pt x="0" y="400050"/>
                    </a:lnTo>
                    <a:lnTo>
                      <a:pt x="309563" y="400050"/>
                    </a:lnTo>
                    <a:lnTo>
                      <a:pt x="295275" y="376237"/>
                    </a:lnTo>
                    <a:lnTo>
                      <a:pt x="276225" y="261937"/>
                    </a:lnTo>
                    <a:cubicBezTo>
                      <a:pt x="277813" y="185737"/>
                      <a:pt x="279400" y="109537"/>
                      <a:pt x="280988" y="33337"/>
                    </a:cubicBezTo>
                    <a:lnTo>
                      <a:pt x="33338"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p:cNvSpPr txBox="1"/>
              <p:nvPr/>
            </p:nvSpPr>
            <p:spPr>
              <a:xfrm>
                <a:off x="3181351" y="300037"/>
                <a:ext cx="719812" cy="369332"/>
              </a:xfrm>
              <a:prstGeom prst="rect">
                <a:avLst/>
              </a:prstGeom>
              <a:noFill/>
            </p:spPr>
            <p:txBody>
              <a:bodyPr wrap="none" rtlCol="0">
                <a:spAutoFit/>
              </a:bodyPr>
              <a:lstStyle/>
              <a:p>
                <a:r>
                  <a:rPr lang="en-US" dirty="0"/>
                  <a:t>P</a:t>
                </a:r>
                <a:r>
                  <a:rPr lang="en-US" baseline="-25000" dirty="0"/>
                  <a:t>t</a:t>
                </a:r>
                <a:r>
                  <a:rPr lang="en-US" dirty="0"/>
                  <a:t> = 0</a:t>
                </a:r>
              </a:p>
            </p:txBody>
          </p:sp>
          <p:sp>
            <p:nvSpPr>
              <p:cNvPr id="35" name="Freeform 34"/>
              <p:cNvSpPr/>
              <p:nvPr/>
            </p:nvSpPr>
            <p:spPr>
              <a:xfrm>
                <a:off x="3819525" y="552450"/>
                <a:ext cx="785813"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35"/>
              <p:cNvSpPr/>
              <p:nvPr/>
            </p:nvSpPr>
            <p:spPr>
              <a:xfrm rot="2605820">
                <a:off x="3364242" y="2796767"/>
                <a:ext cx="1059486"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p:cNvSpPr txBox="1"/>
              <p:nvPr/>
            </p:nvSpPr>
            <p:spPr>
              <a:xfrm>
                <a:off x="3052763" y="2052637"/>
                <a:ext cx="937885" cy="369332"/>
              </a:xfrm>
              <a:prstGeom prst="rect">
                <a:avLst/>
              </a:prstGeom>
              <a:noFill/>
            </p:spPr>
            <p:txBody>
              <a:bodyPr wrap="none" rtlCol="0">
                <a:spAutoFit/>
              </a:bodyPr>
              <a:lstStyle/>
              <a:p>
                <a:r>
                  <a:rPr lang="en-US" dirty="0"/>
                  <a:t>P</a:t>
                </a:r>
                <a:r>
                  <a:rPr lang="en-US" baseline="-25000" dirty="0"/>
                  <a:t>t</a:t>
                </a:r>
                <a:r>
                  <a:rPr lang="en-US" dirty="0"/>
                  <a:t> = </a:t>
                </a:r>
                <a:r>
                  <a:rPr lang="en-US" dirty="0" err="1"/>
                  <a:t>P</a:t>
                </a:r>
                <a:r>
                  <a:rPr lang="en-US" baseline="-25000" dirty="0" err="1"/>
                  <a:t>atm</a:t>
                </a:r>
                <a:endParaRPr lang="en-US" dirty="0"/>
              </a:p>
            </p:txBody>
          </p:sp>
        </p:grpSp>
        <p:sp>
          <p:nvSpPr>
            <p:cNvPr id="39" name="Oval 38"/>
            <p:cNvSpPr/>
            <p:nvPr/>
          </p:nvSpPr>
          <p:spPr>
            <a:xfrm>
              <a:off x="4620306" y="33555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p:cNvSpPr txBox="1"/>
            <p:nvPr/>
          </p:nvSpPr>
          <p:spPr>
            <a:xfrm>
              <a:off x="4511448" y="3518808"/>
              <a:ext cx="324128" cy="369332"/>
            </a:xfrm>
            <a:prstGeom prst="rect">
              <a:avLst/>
            </a:prstGeom>
            <a:noFill/>
          </p:spPr>
          <p:txBody>
            <a:bodyPr wrap="none" rtlCol="0">
              <a:spAutoFit/>
            </a:bodyPr>
            <a:lstStyle/>
            <a:p>
              <a:r>
                <a:rPr lang="en-US" b="1" dirty="0">
                  <a:solidFill>
                    <a:srgbClr val="FF0000"/>
                  </a:solidFill>
                </a:rPr>
                <a:t>A</a:t>
              </a:r>
            </a:p>
          </p:txBody>
        </p:sp>
        <p:sp>
          <p:nvSpPr>
            <p:cNvPr id="41" name="TextBox 40"/>
            <p:cNvSpPr txBox="1"/>
            <p:nvPr/>
          </p:nvSpPr>
          <p:spPr>
            <a:xfrm>
              <a:off x="5088393" y="3497036"/>
              <a:ext cx="314510" cy="369332"/>
            </a:xfrm>
            <a:prstGeom prst="rect">
              <a:avLst/>
            </a:prstGeom>
            <a:noFill/>
          </p:spPr>
          <p:txBody>
            <a:bodyPr wrap="none" rtlCol="0">
              <a:spAutoFit/>
            </a:bodyPr>
            <a:lstStyle/>
            <a:p>
              <a:r>
                <a:rPr lang="en-US" b="1" dirty="0">
                  <a:solidFill>
                    <a:srgbClr val="FF0000"/>
                  </a:solidFill>
                </a:rPr>
                <a:t>B</a:t>
              </a:r>
            </a:p>
          </p:txBody>
        </p:sp>
        <p:sp>
          <p:nvSpPr>
            <p:cNvPr id="42" name="Oval 41"/>
            <p:cNvSpPr/>
            <p:nvPr/>
          </p:nvSpPr>
          <p:spPr>
            <a:xfrm>
              <a:off x="5175477" y="3322865"/>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2227165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8" name="Date Placeholder 4"/>
          <p:cNvSpPr>
            <a:spLocks noGrp="1"/>
          </p:cNvSpPr>
          <p:nvPr>
            <p:ph type="dt" sz="quarter" idx="10"/>
          </p:nvPr>
        </p:nvSpPr>
        <p:spPr>
          <a:noFill/>
        </p:spPr>
        <p:txBody>
          <a:bodyPr/>
          <a:lstStyle/>
          <a:p>
            <a:r>
              <a:rPr lang="en-US"/>
              <a:t>Winter 2007</a:t>
            </a:r>
          </a:p>
        </p:txBody>
      </p:sp>
      <p:sp>
        <p:nvSpPr>
          <p:cNvPr id="6149" name="Footer Placeholder 5"/>
          <p:cNvSpPr>
            <a:spLocks noGrp="1"/>
          </p:cNvSpPr>
          <p:nvPr>
            <p:ph type="ftr" sz="quarter" idx="11"/>
          </p:nvPr>
        </p:nvSpPr>
        <p:spPr>
          <a:noFill/>
        </p:spPr>
        <p:txBody>
          <a:bodyPr/>
          <a:lstStyle/>
          <a:p>
            <a:r>
              <a:rPr lang="en-US"/>
              <a:t>R. Todd Lines</a:t>
            </a:r>
          </a:p>
        </p:txBody>
      </p:sp>
      <p:sp>
        <p:nvSpPr>
          <p:cNvPr id="6150" name="Slide Number Placeholder 6"/>
          <p:cNvSpPr>
            <a:spLocks noGrp="1"/>
          </p:cNvSpPr>
          <p:nvPr>
            <p:ph type="sldNum" sz="quarter" idx="12"/>
          </p:nvPr>
        </p:nvSpPr>
        <p:spPr>
          <a:noFill/>
        </p:spPr>
        <p:txBody>
          <a:bodyPr/>
          <a:lstStyle/>
          <a:p>
            <a:fld id="{AEF937B1-3B54-4162-AADD-A16FD8DBF1F9}" type="slidenum">
              <a:rPr lang="en-US" smtClean="0"/>
              <a:pPr/>
              <a:t>37</a:t>
            </a:fld>
            <a:endParaRPr lang="en-US"/>
          </a:p>
        </p:txBody>
      </p:sp>
      <p:sp>
        <p:nvSpPr>
          <p:cNvPr id="6151" name="Rectangle 2"/>
          <p:cNvSpPr>
            <a:spLocks noGrp="1" noChangeArrowheads="1"/>
          </p:cNvSpPr>
          <p:nvPr>
            <p:ph type="title"/>
          </p:nvPr>
        </p:nvSpPr>
        <p:spPr/>
        <p:txBody>
          <a:bodyPr/>
          <a:lstStyle/>
          <a:p>
            <a:pPr eaLnBrk="1" hangingPunct="1"/>
            <a:r>
              <a:rPr lang="en-US" sz="2800"/>
              <a:t>Pressure Measurement: Barometer</a:t>
            </a:r>
          </a:p>
        </p:txBody>
      </p:sp>
      <p:sp>
        <p:nvSpPr>
          <p:cNvPr id="6152" name="Rectangle 3"/>
          <p:cNvSpPr>
            <a:spLocks noGrp="1" noChangeArrowheads="1"/>
          </p:cNvSpPr>
          <p:nvPr>
            <p:ph type="body" sz="half" idx="1"/>
          </p:nvPr>
        </p:nvSpPr>
        <p:spPr>
          <a:xfrm>
            <a:off x="457200" y="1600200"/>
            <a:ext cx="5475288" cy="4525963"/>
          </a:xfrm>
        </p:spPr>
        <p:txBody>
          <a:bodyPr/>
          <a:lstStyle/>
          <a:p>
            <a:pPr eaLnBrk="1" hangingPunct="1">
              <a:lnSpc>
                <a:spcPct val="90000"/>
              </a:lnSpc>
            </a:pPr>
            <a:r>
              <a:rPr lang="en-US" sz="2000"/>
              <a:t>In many pressure measurements, the idea is to make the pressure due to a column of fluid equal to the pressure to be measured</a:t>
            </a:r>
          </a:p>
          <a:p>
            <a:pPr eaLnBrk="1" hangingPunct="1">
              <a:lnSpc>
                <a:spcPct val="90000"/>
              </a:lnSpc>
            </a:pPr>
            <a:r>
              <a:rPr lang="en-US" sz="2000"/>
              <a:t>For the barometer,</a:t>
            </a:r>
          </a:p>
          <a:p>
            <a:pPr eaLnBrk="1" hangingPunct="1">
              <a:lnSpc>
                <a:spcPct val="90000"/>
              </a:lnSpc>
            </a:pPr>
            <a:endParaRPr lang="en-US" sz="2000"/>
          </a:p>
          <a:p>
            <a:pPr eaLnBrk="1" hangingPunct="1">
              <a:lnSpc>
                <a:spcPct val="90000"/>
              </a:lnSpc>
            </a:pPr>
            <a:endParaRPr lang="en-US" sz="2000"/>
          </a:p>
          <a:p>
            <a:pPr eaLnBrk="1" hangingPunct="1">
              <a:lnSpc>
                <a:spcPct val="90000"/>
              </a:lnSpc>
            </a:pPr>
            <a:r>
              <a:rPr lang="en-US" sz="2000"/>
              <a:t>We solve for the height of the liquid (usually Hg)</a:t>
            </a:r>
          </a:p>
          <a:p>
            <a:pPr eaLnBrk="1" hangingPunct="1">
              <a:lnSpc>
                <a:spcPct val="90000"/>
              </a:lnSpc>
            </a:pPr>
            <a:endParaRPr lang="en-US" sz="2000"/>
          </a:p>
          <a:p>
            <a:pPr eaLnBrk="1" hangingPunct="1">
              <a:lnSpc>
                <a:spcPct val="90000"/>
              </a:lnSpc>
            </a:pPr>
            <a:endParaRPr lang="en-US" sz="2000"/>
          </a:p>
          <a:p>
            <a:pPr eaLnBrk="1" hangingPunct="1">
              <a:lnSpc>
                <a:spcPct val="90000"/>
              </a:lnSpc>
            </a:pPr>
            <a:endParaRPr lang="en-US" sz="2000"/>
          </a:p>
          <a:p>
            <a:pPr eaLnBrk="1" hangingPunct="1">
              <a:lnSpc>
                <a:spcPct val="90000"/>
              </a:lnSpc>
            </a:pPr>
            <a:r>
              <a:rPr lang="en-US" sz="2000"/>
              <a:t>Would a water be practical to use for a barometer?</a:t>
            </a:r>
          </a:p>
        </p:txBody>
      </p:sp>
      <p:graphicFrame>
        <p:nvGraphicFramePr>
          <p:cNvPr id="6146" name="Object 5"/>
          <p:cNvGraphicFramePr>
            <a:graphicFrameLocks noGrp="1" noChangeAspect="1"/>
          </p:cNvGraphicFramePr>
          <p:nvPr>
            <p:ph sz="half" idx="2"/>
          </p:nvPr>
        </p:nvGraphicFramePr>
        <p:xfrm>
          <a:off x="1685925" y="2971800"/>
          <a:ext cx="1254125" cy="490538"/>
        </p:xfrm>
        <a:graphic>
          <a:graphicData uri="http://schemas.openxmlformats.org/presentationml/2006/ole">
            <mc:AlternateContent xmlns:mc="http://schemas.openxmlformats.org/markup-compatibility/2006">
              <mc:Choice xmlns:v="urn:schemas-microsoft-com:vml" Requires="v">
                <p:oleObj name="Equation" r:id="rId2" imgW="583920" imgH="228600" progId="Equation.3">
                  <p:embed/>
                </p:oleObj>
              </mc:Choice>
              <mc:Fallback>
                <p:oleObj name="Equation" r:id="rId2" imgW="583920" imgH="228600" progId="Equation.3">
                  <p:embed/>
                  <p:pic>
                    <p:nvPicPr>
                      <p:cNvPr id="6146"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5925" y="2971800"/>
                        <a:ext cx="1254125" cy="4905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147" name="Object 6"/>
          <p:cNvGraphicFramePr>
            <a:graphicFrameLocks noChangeAspect="1"/>
          </p:cNvGraphicFramePr>
          <p:nvPr/>
        </p:nvGraphicFramePr>
        <p:xfrm>
          <a:off x="1714500" y="4108450"/>
          <a:ext cx="1035050" cy="900113"/>
        </p:xfrm>
        <a:graphic>
          <a:graphicData uri="http://schemas.openxmlformats.org/presentationml/2006/ole">
            <mc:AlternateContent xmlns:mc="http://schemas.openxmlformats.org/markup-compatibility/2006">
              <mc:Choice xmlns:v="urn:schemas-microsoft-com:vml" Requires="v">
                <p:oleObj name="Equation" r:id="rId4" imgW="482400" imgH="419040" progId="Equation.3">
                  <p:embed/>
                </p:oleObj>
              </mc:Choice>
              <mc:Fallback>
                <p:oleObj name="Equation" r:id="rId4" imgW="482400" imgH="419040" progId="Equation.3">
                  <p:embed/>
                  <p:pic>
                    <p:nvPicPr>
                      <p:cNvPr id="6147"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14500" y="4108450"/>
                        <a:ext cx="1035050" cy="9001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11" name="Group 10"/>
          <p:cNvGrpSpPr/>
          <p:nvPr/>
        </p:nvGrpSpPr>
        <p:grpSpPr>
          <a:xfrm>
            <a:off x="6296706" y="1377723"/>
            <a:ext cx="2657475" cy="4380820"/>
            <a:chOff x="3052763" y="300037"/>
            <a:chExt cx="2657475" cy="4380820"/>
          </a:xfrm>
        </p:grpSpPr>
        <p:grpSp>
          <p:nvGrpSpPr>
            <p:cNvPr id="12" name="Group 11"/>
            <p:cNvGrpSpPr/>
            <p:nvPr/>
          </p:nvGrpSpPr>
          <p:grpSpPr>
            <a:xfrm>
              <a:off x="3052763" y="300037"/>
              <a:ext cx="2657475" cy="4380820"/>
              <a:chOff x="3052763" y="300037"/>
              <a:chExt cx="2657475" cy="4380820"/>
            </a:xfrm>
          </p:grpSpPr>
          <p:grpSp>
            <p:nvGrpSpPr>
              <p:cNvPr id="17" name="Group 22"/>
              <p:cNvGrpSpPr>
                <a:grpSpLocks/>
              </p:cNvGrpSpPr>
              <p:nvPr/>
            </p:nvGrpSpPr>
            <p:grpSpPr bwMode="auto">
              <a:xfrm>
                <a:off x="3635375" y="3016250"/>
                <a:ext cx="2074863" cy="1664607"/>
                <a:chOff x="3596" y="1780"/>
                <a:chExt cx="1416" cy="1624"/>
              </a:xfrm>
            </p:grpSpPr>
            <p:sp>
              <p:nvSpPr>
                <p:cNvPr id="37" name="Freeform 23"/>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38" name="Freeform 24"/>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18" name="AutoShape 25"/>
              <p:cNvSpPr>
                <a:spLocks noChangeArrowheads="1"/>
              </p:cNvSpPr>
              <p:nvPr/>
            </p:nvSpPr>
            <p:spPr bwMode="auto">
              <a:xfrm>
                <a:off x="3875088" y="3432175"/>
                <a:ext cx="1595438" cy="1161596"/>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19" name="Rectangle 26"/>
              <p:cNvSpPr>
                <a:spLocks noChangeArrowheads="1"/>
              </p:cNvSpPr>
              <p:nvPr/>
            </p:nvSpPr>
            <p:spPr bwMode="auto">
              <a:xfrm>
                <a:off x="3875088" y="3405188"/>
                <a:ext cx="1577975" cy="344488"/>
              </a:xfrm>
              <a:prstGeom prst="rect">
                <a:avLst/>
              </a:prstGeom>
              <a:solidFill>
                <a:schemeClr val="bg1">
                  <a:lumMod val="65000"/>
                </a:schemeClr>
              </a:solidFill>
              <a:ln w="9525">
                <a:noFill/>
                <a:miter lim="800000"/>
                <a:headEnd/>
                <a:tailEnd/>
              </a:ln>
            </p:spPr>
            <p:txBody>
              <a:bodyPr wrap="none" anchor="ctr"/>
              <a:lstStyle/>
              <a:p>
                <a:endParaRPr lang="en-US"/>
              </a:p>
            </p:txBody>
          </p:sp>
          <p:sp>
            <p:nvSpPr>
              <p:cNvPr id="20" name="Freeform 19"/>
              <p:cNvSpPr/>
              <p:nvPr/>
            </p:nvSpPr>
            <p:spPr>
              <a:xfrm>
                <a:off x="4414838" y="3348038"/>
                <a:ext cx="485775" cy="809625"/>
              </a:xfrm>
              <a:custGeom>
                <a:avLst/>
                <a:gdLst>
                  <a:gd name="connsiteX0" fmla="*/ 33337 w 485775"/>
                  <a:gd name="connsiteY0" fmla="*/ 4762 h 809625"/>
                  <a:gd name="connsiteX1" fmla="*/ 447675 w 485775"/>
                  <a:gd name="connsiteY1" fmla="*/ 0 h 809625"/>
                  <a:gd name="connsiteX2" fmla="*/ 457200 w 485775"/>
                  <a:gd name="connsiteY2" fmla="*/ 300037 h 809625"/>
                  <a:gd name="connsiteX3" fmla="*/ 466725 w 485775"/>
                  <a:gd name="connsiteY3" fmla="*/ 461962 h 809625"/>
                  <a:gd name="connsiteX4" fmla="*/ 485775 w 485775"/>
                  <a:gd name="connsiteY4" fmla="*/ 614362 h 809625"/>
                  <a:gd name="connsiteX5" fmla="*/ 476250 w 485775"/>
                  <a:gd name="connsiteY5" fmla="*/ 747712 h 809625"/>
                  <a:gd name="connsiteX6" fmla="*/ 447675 w 485775"/>
                  <a:gd name="connsiteY6" fmla="*/ 809625 h 809625"/>
                  <a:gd name="connsiteX7" fmla="*/ 347662 w 485775"/>
                  <a:gd name="connsiteY7" fmla="*/ 804862 h 809625"/>
                  <a:gd name="connsiteX8" fmla="*/ 33337 w 485775"/>
                  <a:gd name="connsiteY8" fmla="*/ 800100 h 809625"/>
                  <a:gd name="connsiteX9" fmla="*/ 0 w 485775"/>
                  <a:gd name="connsiteY9" fmla="*/ 742950 h 809625"/>
                  <a:gd name="connsiteX10" fmla="*/ 0 w 485775"/>
                  <a:gd name="connsiteY10" fmla="*/ 619125 h 809625"/>
                  <a:gd name="connsiteX11" fmla="*/ 23812 w 485775"/>
                  <a:gd name="connsiteY11" fmla="*/ 423862 h 809625"/>
                  <a:gd name="connsiteX12" fmla="*/ 33337 w 485775"/>
                  <a:gd name="connsiteY12" fmla="*/ 185737 h 809625"/>
                  <a:gd name="connsiteX13" fmla="*/ 33337 w 485775"/>
                  <a:gd name="connsiteY13" fmla="*/ 4762 h 80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5775" h="809625">
                    <a:moveTo>
                      <a:pt x="33337" y="4762"/>
                    </a:moveTo>
                    <a:lnTo>
                      <a:pt x="447675" y="0"/>
                    </a:lnTo>
                    <a:lnTo>
                      <a:pt x="457200" y="300037"/>
                    </a:lnTo>
                    <a:lnTo>
                      <a:pt x="466725" y="461962"/>
                    </a:lnTo>
                    <a:lnTo>
                      <a:pt x="485775" y="614362"/>
                    </a:lnTo>
                    <a:lnTo>
                      <a:pt x="476250" y="747712"/>
                    </a:lnTo>
                    <a:lnTo>
                      <a:pt x="447675" y="809625"/>
                    </a:lnTo>
                    <a:lnTo>
                      <a:pt x="347662" y="804862"/>
                    </a:lnTo>
                    <a:lnTo>
                      <a:pt x="33337" y="800100"/>
                    </a:lnTo>
                    <a:lnTo>
                      <a:pt x="0" y="742950"/>
                    </a:lnTo>
                    <a:lnTo>
                      <a:pt x="0" y="619125"/>
                    </a:lnTo>
                    <a:lnTo>
                      <a:pt x="23812" y="423862"/>
                    </a:lnTo>
                    <a:lnTo>
                      <a:pt x="33337" y="185737"/>
                    </a:lnTo>
                    <a:lnTo>
                      <a:pt x="33337" y="476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7"/>
              <p:cNvSpPr>
                <a:spLocks/>
              </p:cNvSpPr>
              <p:nvPr/>
            </p:nvSpPr>
            <p:spPr bwMode="auto">
              <a:xfrm>
                <a:off x="3759200" y="3009900"/>
                <a:ext cx="914400" cy="158387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2" name="Freeform 28"/>
              <p:cNvSpPr>
                <a:spLocks/>
              </p:cNvSpPr>
              <p:nvPr/>
            </p:nvSpPr>
            <p:spPr bwMode="auto">
              <a:xfrm flipH="1">
                <a:off x="4673599" y="3009901"/>
                <a:ext cx="912813" cy="1572986"/>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3" name="Line 36"/>
              <p:cNvSpPr>
                <a:spLocks noChangeShapeType="1"/>
              </p:cNvSpPr>
              <p:nvPr/>
            </p:nvSpPr>
            <p:spPr bwMode="auto">
              <a:xfrm flipH="1">
                <a:off x="5094515" y="3396342"/>
                <a:ext cx="198438" cy="0"/>
              </a:xfrm>
              <a:prstGeom prst="line">
                <a:avLst/>
              </a:prstGeom>
              <a:noFill/>
              <a:ln w="9525">
                <a:solidFill>
                  <a:schemeClr val="tx1"/>
                </a:solidFill>
                <a:round/>
                <a:headEnd/>
                <a:tailEnd/>
              </a:ln>
            </p:spPr>
            <p:txBody>
              <a:bodyPr/>
              <a:lstStyle/>
              <a:p>
                <a:endParaRPr lang="en-US"/>
              </a:p>
            </p:txBody>
          </p:sp>
          <p:sp>
            <p:nvSpPr>
              <p:cNvPr id="24" name="Line 37"/>
              <p:cNvSpPr>
                <a:spLocks noChangeShapeType="1"/>
              </p:cNvSpPr>
              <p:nvPr/>
            </p:nvSpPr>
            <p:spPr bwMode="auto">
              <a:xfrm>
                <a:off x="5094514" y="1055915"/>
                <a:ext cx="35379" cy="2318204"/>
              </a:xfrm>
              <a:prstGeom prst="line">
                <a:avLst/>
              </a:prstGeom>
              <a:noFill/>
              <a:ln w="9525">
                <a:solidFill>
                  <a:schemeClr val="tx1"/>
                </a:solidFill>
                <a:round/>
                <a:headEnd type="triangle" w="med" len="med"/>
                <a:tailEnd type="triangle" w="med" len="med"/>
              </a:ln>
            </p:spPr>
            <p:txBody>
              <a:bodyPr/>
              <a:lstStyle/>
              <a:p>
                <a:endParaRPr lang="en-US"/>
              </a:p>
            </p:txBody>
          </p:sp>
          <p:sp>
            <p:nvSpPr>
              <p:cNvPr id="25" name="Line 38"/>
              <p:cNvSpPr>
                <a:spLocks noChangeShapeType="1"/>
              </p:cNvSpPr>
              <p:nvPr/>
            </p:nvSpPr>
            <p:spPr bwMode="auto">
              <a:xfrm flipH="1">
                <a:off x="5021262" y="1053419"/>
                <a:ext cx="200025" cy="0"/>
              </a:xfrm>
              <a:prstGeom prst="line">
                <a:avLst/>
              </a:prstGeom>
              <a:noFill/>
              <a:ln w="9525">
                <a:solidFill>
                  <a:schemeClr val="tx1"/>
                </a:solidFill>
                <a:round/>
                <a:headEnd/>
                <a:tailEnd/>
              </a:ln>
            </p:spPr>
            <p:txBody>
              <a:bodyPr/>
              <a:lstStyle/>
              <a:p>
                <a:endParaRPr lang="en-US"/>
              </a:p>
            </p:txBody>
          </p:sp>
          <p:sp>
            <p:nvSpPr>
              <p:cNvPr id="26" name="Text Box 39"/>
              <p:cNvSpPr txBox="1">
                <a:spLocks noChangeArrowheads="1"/>
              </p:cNvSpPr>
              <p:nvPr/>
            </p:nvSpPr>
            <p:spPr bwMode="auto">
              <a:xfrm>
                <a:off x="5007202" y="2115230"/>
                <a:ext cx="282575" cy="304800"/>
              </a:xfrm>
              <a:prstGeom prst="rect">
                <a:avLst/>
              </a:prstGeom>
              <a:solidFill>
                <a:schemeClr val="bg1"/>
              </a:solidFill>
              <a:ln w="9525">
                <a:noFill/>
                <a:miter lim="800000"/>
                <a:headEnd/>
                <a:tailEnd/>
              </a:ln>
            </p:spPr>
            <p:txBody>
              <a:bodyPr wrap="none">
                <a:spAutoFit/>
              </a:bodyPr>
              <a:lstStyle/>
              <a:p>
                <a:r>
                  <a:rPr lang="en-US" sz="1400" i="1"/>
                  <a:t>h</a:t>
                </a:r>
              </a:p>
            </p:txBody>
          </p:sp>
          <p:sp>
            <p:nvSpPr>
              <p:cNvPr id="27" name="Freeform 26"/>
              <p:cNvSpPr>
                <a:spLocks/>
              </p:cNvSpPr>
              <p:nvPr/>
            </p:nvSpPr>
            <p:spPr bwMode="auto">
              <a:xfrm flipV="1">
                <a:off x="4419600"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8" name="Freeform 27"/>
              <p:cNvSpPr>
                <a:spLocks/>
              </p:cNvSpPr>
              <p:nvPr/>
            </p:nvSpPr>
            <p:spPr bwMode="auto">
              <a:xfrm flipH="1" flipV="1">
                <a:off x="4653895"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9" name="AutoShape 25"/>
              <p:cNvSpPr>
                <a:spLocks noChangeArrowheads="1"/>
              </p:cNvSpPr>
              <p:nvPr/>
            </p:nvSpPr>
            <p:spPr bwMode="auto">
              <a:xfrm flipV="1">
                <a:off x="4519613" y="1023933"/>
                <a:ext cx="261937" cy="3043939"/>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30" name="Freeform 29"/>
              <p:cNvSpPr>
                <a:spLocks/>
              </p:cNvSpPr>
              <p:nvPr/>
            </p:nvSpPr>
            <p:spPr bwMode="auto">
              <a:xfrm flipV="1">
                <a:off x="4495799" y="399248"/>
                <a:ext cx="163695"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1" name="Freeform 30"/>
              <p:cNvSpPr>
                <a:spLocks/>
              </p:cNvSpPr>
              <p:nvPr/>
            </p:nvSpPr>
            <p:spPr bwMode="auto">
              <a:xfrm flipH="1" flipV="1">
                <a:off x="4659496" y="399248"/>
                <a:ext cx="141104"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2" name="Freeform 31"/>
              <p:cNvSpPr/>
              <p:nvPr/>
            </p:nvSpPr>
            <p:spPr>
              <a:xfrm>
                <a:off x="4495800" y="3767138"/>
                <a:ext cx="309563" cy="400050"/>
              </a:xfrm>
              <a:custGeom>
                <a:avLst/>
                <a:gdLst>
                  <a:gd name="connsiteX0" fmla="*/ 33338 w 309563"/>
                  <a:gd name="connsiteY0" fmla="*/ 0 h 400050"/>
                  <a:gd name="connsiteX1" fmla="*/ 19050 w 309563"/>
                  <a:gd name="connsiteY1" fmla="*/ 357187 h 400050"/>
                  <a:gd name="connsiteX2" fmla="*/ 0 w 309563"/>
                  <a:gd name="connsiteY2" fmla="*/ 400050 h 400050"/>
                  <a:gd name="connsiteX3" fmla="*/ 309563 w 309563"/>
                  <a:gd name="connsiteY3" fmla="*/ 400050 h 400050"/>
                  <a:gd name="connsiteX4" fmla="*/ 295275 w 309563"/>
                  <a:gd name="connsiteY4" fmla="*/ 376237 h 400050"/>
                  <a:gd name="connsiteX5" fmla="*/ 276225 w 309563"/>
                  <a:gd name="connsiteY5" fmla="*/ 261937 h 400050"/>
                  <a:gd name="connsiteX6" fmla="*/ 280988 w 309563"/>
                  <a:gd name="connsiteY6" fmla="*/ 33337 h 400050"/>
                  <a:gd name="connsiteX7" fmla="*/ 33338 w 309563"/>
                  <a:gd name="connsiteY7" fmla="*/ 0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9563" h="400050">
                    <a:moveTo>
                      <a:pt x="33338" y="0"/>
                    </a:moveTo>
                    <a:lnTo>
                      <a:pt x="19050" y="357187"/>
                    </a:lnTo>
                    <a:lnTo>
                      <a:pt x="0" y="400050"/>
                    </a:lnTo>
                    <a:lnTo>
                      <a:pt x="309563" y="400050"/>
                    </a:lnTo>
                    <a:lnTo>
                      <a:pt x="295275" y="376237"/>
                    </a:lnTo>
                    <a:lnTo>
                      <a:pt x="276225" y="261937"/>
                    </a:lnTo>
                    <a:cubicBezTo>
                      <a:pt x="277813" y="185737"/>
                      <a:pt x="279400" y="109537"/>
                      <a:pt x="280988" y="33337"/>
                    </a:cubicBezTo>
                    <a:lnTo>
                      <a:pt x="33338"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p:cNvSpPr txBox="1"/>
              <p:nvPr/>
            </p:nvSpPr>
            <p:spPr>
              <a:xfrm>
                <a:off x="3181351" y="300037"/>
                <a:ext cx="719812" cy="369332"/>
              </a:xfrm>
              <a:prstGeom prst="rect">
                <a:avLst/>
              </a:prstGeom>
              <a:noFill/>
            </p:spPr>
            <p:txBody>
              <a:bodyPr wrap="none" rtlCol="0">
                <a:spAutoFit/>
              </a:bodyPr>
              <a:lstStyle/>
              <a:p>
                <a:r>
                  <a:rPr lang="en-US" dirty="0"/>
                  <a:t>P</a:t>
                </a:r>
                <a:r>
                  <a:rPr lang="en-US" baseline="-25000" dirty="0"/>
                  <a:t>t</a:t>
                </a:r>
                <a:r>
                  <a:rPr lang="en-US" dirty="0"/>
                  <a:t> = 0</a:t>
                </a:r>
              </a:p>
            </p:txBody>
          </p:sp>
          <p:sp>
            <p:nvSpPr>
              <p:cNvPr id="34" name="Freeform 33"/>
              <p:cNvSpPr/>
              <p:nvPr/>
            </p:nvSpPr>
            <p:spPr>
              <a:xfrm>
                <a:off x="3819525" y="552450"/>
                <a:ext cx="785813"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34"/>
              <p:cNvSpPr/>
              <p:nvPr/>
            </p:nvSpPr>
            <p:spPr>
              <a:xfrm rot="2605820">
                <a:off x="3364242" y="2796767"/>
                <a:ext cx="1059486"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p:cNvSpPr txBox="1"/>
              <p:nvPr/>
            </p:nvSpPr>
            <p:spPr>
              <a:xfrm>
                <a:off x="3052763" y="2052637"/>
                <a:ext cx="937885" cy="369332"/>
              </a:xfrm>
              <a:prstGeom prst="rect">
                <a:avLst/>
              </a:prstGeom>
              <a:noFill/>
            </p:spPr>
            <p:txBody>
              <a:bodyPr wrap="none" rtlCol="0">
                <a:spAutoFit/>
              </a:bodyPr>
              <a:lstStyle/>
              <a:p>
                <a:r>
                  <a:rPr lang="en-US" dirty="0"/>
                  <a:t>P</a:t>
                </a:r>
                <a:r>
                  <a:rPr lang="en-US" baseline="-25000" dirty="0"/>
                  <a:t>t</a:t>
                </a:r>
                <a:r>
                  <a:rPr lang="en-US" dirty="0"/>
                  <a:t> = </a:t>
                </a:r>
                <a:r>
                  <a:rPr lang="en-US" dirty="0" err="1"/>
                  <a:t>P</a:t>
                </a:r>
                <a:r>
                  <a:rPr lang="en-US" baseline="-25000" dirty="0" err="1"/>
                  <a:t>atm</a:t>
                </a:r>
                <a:endParaRPr lang="en-US" dirty="0"/>
              </a:p>
            </p:txBody>
          </p:sp>
        </p:grpSp>
        <p:sp>
          <p:nvSpPr>
            <p:cNvPr id="13" name="Oval 12"/>
            <p:cNvSpPr/>
            <p:nvPr/>
          </p:nvSpPr>
          <p:spPr>
            <a:xfrm>
              <a:off x="4620306" y="33555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4511448" y="3518808"/>
              <a:ext cx="324128" cy="369332"/>
            </a:xfrm>
            <a:prstGeom prst="rect">
              <a:avLst/>
            </a:prstGeom>
            <a:noFill/>
          </p:spPr>
          <p:txBody>
            <a:bodyPr wrap="none" rtlCol="0">
              <a:spAutoFit/>
            </a:bodyPr>
            <a:lstStyle/>
            <a:p>
              <a:r>
                <a:rPr lang="en-US" b="1" dirty="0">
                  <a:solidFill>
                    <a:srgbClr val="FF0000"/>
                  </a:solidFill>
                </a:rPr>
                <a:t>A</a:t>
              </a:r>
            </a:p>
          </p:txBody>
        </p:sp>
        <p:sp>
          <p:nvSpPr>
            <p:cNvPr id="15" name="TextBox 14"/>
            <p:cNvSpPr txBox="1"/>
            <p:nvPr/>
          </p:nvSpPr>
          <p:spPr>
            <a:xfrm>
              <a:off x="5088393" y="3497036"/>
              <a:ext cx="314510" cy="369332"/>
            </a:xfrm>
            <a:prstGeom prst="rect">
              <a:avLst/>
            </a:prstGeom>
            <a:noFill/>
          </p:spPr>
          <p:txBody>
            <a:bodyPr wrap="none" rtlCol="0">
              <a:spAutoFit/>
            </a:bodyPr>
            <a:lstStyle/>
            <a:p>
              <a:r>
                <a:rPr lang="en-US" b="1" dirty="0">
                  <a:solidFill>
                    <a:srgbClr val="FF0000"/>
                  </a:solidFill>
                </a:rPr>
                <a:t>B</a:t>
              </a:r>
            </a:p>
          </p:txBody>
        </p:sp>
        <p:sp>
          <p:nvSpPr>
            <p:cNvPr id="16" name="Oval 15"/>
            <p:cNvSpPr/>
            <p:nvPr/>
          </p:nvSpPr>
          <p:spPr>
            <a:xfrm>
              <a:off x="5175477" y="3322865"/>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2" name="Date Placeholder 4"/>
          <p:cNvSpPr>
            <a:spLocks noGrp="1"/>
          </p:cNvSpPr>
          <p:nvPr>
            <p:ph type="dt" sz="quarter" idx="10"/>
          </p:nvPr>
        </p:nvSpPr>
        <p:spPr>
          <a:noFill/>
        </p:spPr>
        <p:txBody>
          <a:bodyPr/>
          <a:lstStyle/>
          <a:p>
            <a:r>
              <a:rPr lang="en-US"/>
              <a:t>Winter 2007</a:t>
            </a:r>
          </a:p>
        </p:txBody>
      </p:sp>
      <p:sp>
        <p:nvSpPr>
          <p:cNvPr id="7173" name="Footer Placeholder 5"/>
          <p:cNvSpPr>
            <a:spLocks noGrp="1"/>
          </p:cNvSpPr>
          <p:nvPr>
            <p:ph type="ftr" sz="quarter" idx="11"/>
          </p:nvPr>
        </p:nvSpPr>
        <p:spPr>
          <a:noFill/>
        </p:spPr>
        <p:txBody>
          <a:bodyPr/>
          <a:lstStyle/>
          <a:p>
            <a:r>
              <a:rPr lang="en-US"/>
              <a:t>R. Todd Lines</a:t>
            </a:r>
          </a:p>
        </p:txBody>
      </p:sp>
      <p:sp>
        <p:nvSpPr>
          <p:cNvPr id="7174" name="Slide Number Placeholder 6"/>
          <p:cNvSpPr>
            <a:spLocks noGrp="1"/>
          </p:cNvSpPr>
          <p:nvPr>
            <p:ph type="sldNum" sz="quarter" idx="12"/>
          </p:nvPr>
        </p:nvSpPr>
        <p:spPr>
          <a:noFill/>
        </p:spPr>
        <p:txBody>
          <a:bodyPr/>
          <a:lstStyle/>
          <a:p>
            <a:fld id="{E199DD0C-DC71-4519-8A7C-B9CB2428176C}" type="slidenum">
              <a:rPr lang="en-US" smtClean="0"/>
              <a:pPr/>
              <a:t>38</a:t>
            </a:fld>
            <a:endParaRPr lang="en-US"/>
          </a:p>
        </p:txBody>
      </p:sp>
      <p:sp>
        <p:nvSpPr>
          <p:cNvPr id="7175" name="Rectangle 2"/>
          <p:cNvSpPr>
            <a:spLocks noGrp="1" noChangeArrowheads="1"/>
          </p:cNvSpPr>
          <p:nvPr>
            <p:ph type="title"/>
          </p:nvPr>
        </p:nvSpPr>
        <p:spPr/>
        <p:txBody>
          <a:bodyPr/>
          <a:lstStyle/>
          <a:p>
            <a:pPr eaLnBrk="1" hangingPunct="1"/>
            <a:r>
              <a:rPr lang="en-US" sz="2800"/>
              <a:t>Pressure Measurement: Barometer</a:t>
            </a:r>
          </a:p>
        </p:txBody>
      </p:sp>
      <p:sp>
        <p:nvSpPr>
          <p:cNvPr id="7176" name="Rectangle 3"/>
          <p:cNvSpPr>
            <a:spLocks noGrp="1" noChangeArrowheads="1"/>
          </p:cNvSpPr>
          <p:nvPr>
            <p:ph type="body" sz="half" idx="1"/>
          </p:nvPr>
        </p:nvSpPr>
        <p:spPr>
          <a:xfrm>
            <a:off x="457200" y="1600200"/>
            <a:ext cx="5475288" cy="4525963"/>
          </a:xfrm>
        </p:spPr>
        <p:txBody>
          <a:bodyPr/>
          <a:lstStyle/>
          <a:p>
            <a:pPr eaLnBrk="1" hangingPunct="1">
              <a:lnSpc>
                <a:spcPct val="90000"/>
              </a:lnSpc>
            </a:pPr>
            <a:r>
              <a:rPr lang="en-US" sz="2000"/>
              <a:t>In many pressure measurements, the idea is to make the pressure due to a column of fluid equal to the pressure to be measured</a:t>
            </a:r>
          </a:p>
          <a:p>
            <a:pPr eaLnBrk="1" hangingPunct="1">
              <a:lnSpc>
                <a:spcPct val="90000"/>
              </a:lnSpc>
            </a:pPr>
            <a:r>
              <a:rPr lang="en-US" sz="2000"/>
              <a:t>For the barometer,</a:t>
            </a:r>
          </a:p>
          <a:p>
            <a:pPr eaLnBrk="1" hangingPunct="1">
              <a:lnSpc>
                <a:spcPct val="90000"/>
              </a:lnSpc>
            </a:pPr>
            <a:endParaRPr lang="en-US" sz="2000"/>
          </a:p>
          <a:p>
            <a:pPr eaLnBrk="1" hangingPunct="1">
              <a:lnSpc>
                <a:spcPct val="90000"/>
              </a:lnSpc>
            </a:pPr>
            <a:endParaRPr lang="en-US" sz="2000"/>
          </a:p>
          <a:p>
            <a:pPr eaLnBrk="1" hangingPunct="1">
              <a:lnSpc>
                <a:spcPct val="90000"/>
              </a:lnSpc>
            </a:pPr>
            <a:r>
              <a:rPr lang="en-US" sz="2000"/>
              <a:t>We solve for the height of the liquid. </a:t>
            </a:r>
          </a:p>
          <a:p>
            <a:pPr lvl="1" eaLnBrk="1" hangingPunct="1">
              <a:lnSpc>
                <a:spcPct val="90000"/>
              </a:lnSpc>
            </a:pPr>
            <a:r>
              <a:rPr lang="en-US" sz="1800"/>
              <a:t>For water this would be</a:t>
            </a:r>
          </a:p>
          <a:p>
            <a:pPr eaLnBrk="1" hangingPunct="1">
              <a:lnSpc>
                <a:spcPct val="90000"/>
              </a:lnSpc>
            </a:pPr>
            <a:endParaRPr lang="en-US" sz="2000"/>
          </a:p>
          <a:p>
            <a:pPr eaLnBrk="1" hangingPunct="1">
              <a:lnSpc>
                <a:spcPct val="90000"/>
              </a:lnSpc>
            </a:pPr>
            <a:endParaRPr lang="en-US" sz="2000"/>
          </a:p>
          <a:p>
            <a:pPr eaLnBrk="1" hangingPunct="1">
              <a:lnSpc>
                <a:spcPct val="90000"/>
              </a:lnSpc>
            </a:pPr>
            <a:endParaRPr lang="en-US" sz="2000"/>
          </a:p>
        </p:txBody>
      </p:sp>
      <p:graphicFrame>
        <p:nvGraphicFramePr>
          <p:cNvPr id="7170" name="Object 5"/>
          <p:cNvGraphicFramePr>
            <a:graphicFrameLocks noGrp="1" noChangeAspect="1"/>
          </p:cNvGraphicFramePr>
          <p:nvPr>
            <p:ph sz="half" idx="2"/>
          </p:nvPr>
        </p:nvGraphicFramePr>
        <p:xfrm>
          <a:off x="1685925" y="2971800"/>
          <a:ext cx="1254125" cy="490538"/>
        </p:xfrm>
        <a:graphic>
          <a:graphicData uri="http://schemas.openxmlformats.org/presentationml/2006/ole">
            <mc:AlternateContent xmlns:mc="http://schemas.openxmlformats.org/markup-compatibility/2006">
              <mc:Choice xmlns:v="urn:schemas-microsoft-com:vml" Requires="v">
                <p:oleObj name="Equation" r:id="rId2" imgW="583920" imgH="228600" progId="Equation.3">
                  <p:embed/>
                </p:oleObj>
              </mc:Choice>
              <mc:Fallback>
                <p:oleObj name="Equation" r:id="rId2" imgW="583920" imgH="228600" progId="Equation.3">
                  <p:embed/>
                  <p:pic>
                    <p:nvPicPr>
                      <p:cNvPr id="7170"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5925" y="2971800"/>
                        <a:ext cx="1254125" cy="4905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178" name="Rectangle 6"/>
          <p:cNvSpPr>
            <a:spLocks noChangeArrowheads="1"/>
          </p:cNvSpPr>
          <p:nvPr/>
        </p:nvSpPr>
        <p:spPr bwMode="auto">
          <a:xfrm>
            <a:off x="0" y="3186113"/>
            <a:ext cx="9144000" cy="0"/>
          </a:xfrm>
          <a:prstGeom prst="rect">
            <a:avLst/>
          </a:prstGeom>
          <a:noFill/>
          <a:ln w="9525">
            <a:noFill/>
            <a:miter lim="800000"/>
            <a:headEnd/>
            <a:tailEnd/>
          </a:ln>
        </p:spPr>
        <p:txBody>
          <a:bodyPr wrap="none" anchor="ctr">
            <a:spAutoFit/>
          </a:bodyPr>
          <a:lstStyle/>
          <a:p>
            <a:endParaRPr lang="en-US"/>
          </a:p>
        </p:txBody>
      </p:sp>
      <p:graphicFrame>
        <p:nvGraphicFramePr>
          <p:cNvPr id="7171" name="Object 7"/>
          <p:cNvGraphicFramePr>
            <a:graphicFrameLocks noChangeAspect="1"/>
          </p:cNvGraphicFramePr>
          <p:nvPr/>
        </p:nvGraphicFramePr>
        <p:xfrm>
          <a:off x="563563" y="4594225"/>
          <a:ext cx="5076825" cy="658813"/>
        </p:xfrm>
        <a:graphic>
          <a:graphicData uri="http://schemas.openxmlformats.org/presentationml/2006/ole">
            <mc:AlternateContent xmlns:mc="http://schemas.openxmlformats.org/markup-compatibility/2006">
              <mc:Choice xmlns:v="urn:schemas-microsoft-com:vml" Requires="v">
                <p:oleObj name="Equation" r:id="rId4" imgW="3746500" imgH="482600" progId="Equation.3">
                  <p:embed/>
                </p:oleObj>
              </mc:Choice>
              <mc:Fallback>
                <p:oleObj name="Equation" r:id="rId4" imgW="3746500" imgH="482600" progId="Equation.3">
                  <p:embed/>
                  <p:pic>
                    <p:nvPicPr>
                      <p:cNvPr id="7171"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3563" y="4594225"/>
                        <a:ext cx="5076825" cy="6588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11" name="Group 10"/>
          <p:cNvGrpSpPr/>
          <p:nvPr/>
        </p:nvGrpSpPr>
        <p:grpSpPr>
          <a:xfrm>
            <a:off x="6394677" y="1377722"/>
            <a:ext cx="2657475" cy="4380820"/>
            <a:chOff x="3052763" y="300037"/>
            <a:chExt cx="2657475" cy="4380820"/>
          </a:xfrm>
        </p:grpSpPr>
        <p:grpSp>
          <p:nvGrpSpPr>
            <p:cNvPr id="12" name="Group 11"/>
            <p:cNvGrpSpPr/>
            <p:nvPr/>
          </p:nvGrpSpPr>
          <p:grpSpPr>
            <a:xfrm>
              <a:off x="3052763" y="300037"/>
              <a:ext cx="2657475" cy="4380820"/>
              <a:chOff x="3052763" y="300037"/>
              <a:chExt cx="2657475" cy="4380820"/>
            </a:xfrm>
          </p:grpSpPr>
          <p:grpSp>
            <p:nvGrpSpPr>
              <p:cNvPr id="17" name="Group 22"/>
              <p:cNvGrpSpPr>
                <a:grpSpLocks/>
              </p:cNvGrpSpPr>
              <p:nvPr/>
            </p:nvGrpSpPr>
            <p:grpSpPr bwMode="auto">
              <a:xfrm>
                <a:off x="3635375" y="3016250"/>
                <a:ext cx="2074863" cy="1664607"/>
                <a:chOff x="3596" y="1780"/>
                <a:chExt cx="1416" cy="1624"/>
              </a:xfrm>
            </p:grpSpPr>
            <p:sp>
              <p:nvSpPr>
                <p:cNvPr id="37" name="Freeform 23"/>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38" name="Freeform 24"/>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18" name="AutoShape 25"/>
              <p:cNvSpPr>
                <a:spLocks noChangeArrowheads="1"/>
              </p:cNvSpPr>
              <p:nvPr/>
            </p:nvSpPr>
            <p:spPr bwMode="auto">
              <a:xfrm>
                <a:off x="3875088" y="3432175"/>
                <a:ext cx="1595438" cy="1161596"/>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19" name="Rectangle 26"/>
              <p:cNvSpPr>
                <a:spLocks noChangeArrowheads="1"/>
              </p:cNvSpPr>
              <p:nvPr/>
            </p:nvSpPr>
            <p:spPr bwMode="auto">
              <a:xfrm>
                <a:off x="3875088" y="3405188"/>
                <a:ext cx="1577975" cy="344488"/>
              </a:xfrm>
              <a:prstGeom prst="rect">
                <a:avLst/>
              </a:prstGeom>
              <a:solidFill>
                <a:schemeClr val="bg1">
                  <a:lumMod val="65000"/>
                </a:schemeClr>
              </a:solidFill>
              <a:ln w="9525">
                <a:noFill/>
                <a:miter lim="800000"/>
                <a:headEnd/>
                <a:tailEnd/>
              </a:ln>
            </p:spPr>
            <p:txBody>
              <a:bodyPr wrap="none" anchor="ctr"/>
              <a:lstStyle/>
              <a:p>
                <a:endParaRPr lang="en-US"/>
              </a:p>
            </p:txBody>
          </p:sp>
          <p:sp>
            <p:nvSpPr>
              <p:cNvPr id="20" name="Freeform 19"/>
              <p:cNvSpPr/>
              <p:nvPr/>
            </p:nvSpPr>
            <p:spPr>
              <a:xfrm>
                <a:off x="4414838" y="3348038"/>
                <a:ext cx="485775" cy="809625"/>
              </a:xfrm>
              <a:custGeom>
                <a:avLst/>
                <a:gdLst>
                  <a:gd name="connsiteX0" fmla="*/ 33337 w 485775"/>
                  <a:gd name="connsiteY0" fmla="*/ 4762 h 809625"/>
                  <a:gd name="connsiteX1" fmla="*/ 447675 w 485775"/>
                  <a:gd name="connsiteY1" fmla="*/ 0 h 809625"/>
                  <a:gd name="connsiteX2" fmla="*/ 457200 w 485775"/>
                  <a:gd name="connsiteY2" fmla="*/ 300037 h 809625"/>
                  <a:gd name="connsiteX3" fmla="*/ 466725 w 485775"/>
                  <a:gd name="connsiteY3" fmla="*/ 461962 h 809625"/>
                  <a:gd name="connsiteX4" fmla="*/ 485775 w 485775"/>
                  <a:gd name="connsiteY4" fmla="*/ 614362 h 809625"/>
                  <a:gd name="connsiteX5" fmla="*/ 476250 w 485775"/>
                  <a:gd name="connsiteY5" fmla="*/ 747712 h 809625"/>
                  <a:gd name="connsiteX6" fmla="*/ 447675 w 485775"/>
                  <a:gd name="connsiteY6" fmla="*/ 809625 h 809625"/>
                  <a:gd name="connsiteX7" fmla="*/ 347662 w 485775"/>
                  <a:gd name="connsiteY7" fmla="*/ 804862 h 809625"/>
                  <a:gd name="connsiteX8" fmla="*/ 33337 w 485775"/>
                  <a:gd name="connsiteY8" fmla="*/ 800100 h 809625"/>
                  <a:gd name="connsiteX9" fmla="*/ 0 w 485775"/>
                  <a:gd name="connsiteY9" fmla="*/ 742950 h 809625"/>
                  <a:gd name="connsiteX10" fmla="*/ 0 w 485775"/>
                  <a:gd name="connsiteY10" fmla="*/ 619125 h 809625"/>
                  <a:gd name="connsiteX11" fmla="*/ 23812 w 485775"/>
                  <a:gd name="connsiteY11" fmla="*/ 423862 h 809625"/>
                  <a:gd name="connsiteX12" fmla="*/ 33337 w 485775"/>
                  <a:gd name="connsiteY12" fmla="*/ 185737 h 809625"/>
                  <a:gd name="connsiteX13" fmla="*/ 33337 w 485775"/>
                  <a:gd name="connsiteY13" fmla="*/ 4762 h 809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85775" h="809625">
                    <a:moveTo>
                      <a:pt x="33337" y="4762"/>
                    </a:moveTo>
                    <a:lnTo>
                      <a:pt x="447675" y="0"/>
                    </a:lnTo>
                    <a:lnTo>
                      <a:pt x="457200" y="300037"/>
                    </a:lnTo>
                    <a:lnTo>
                      <a:pt x="466725" y="461962"/>
                    </a:lnTo>
                    <a:lnTo>
                      <a:pt x="485775" y="614362"/>
                    </a:lnTo>
                    <a:lnTo>
                      <a:pt x="476250" y="747712"/>
                    </a:lnTo>
                    <a:lnTo>
                      <a:pt x="447675" y="809625"/>
                    </a:lnTo>
                    <a:lnTo>
                      <a:pt x="347662" y="804862"/>
                    </a:lnTo>
                    <a:lnTo>
                      <a:pt x="33337" y="800100"/>
                    </a:lnTo>
                    <a:lnTo>
                      <a:pt x="0" y="742950"/>
                    </a:lnTo>
                    <a:lnTo>
                      <a:pt x="0" y="619125"/>
                    </a:lnTo>
                    <a:lnTo>
                      <a:pt x="23812" y="423862"/>
                    </a:lnTo>
                    <a:lnTo>
                      <a:pt x="33337" y="185737"/>
                    </a:lnTo>
                    <a:lnTo>
                      <a:pt x="33337" y="476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7"/>
              <p:cNvSpPr>
                <a:spLocks/>
              </p:cNvSpPr>
              <p:nvPr/>
            </p:nvSpPr>
            <p:spPr bwMode="auto">
              <a:xfrm>
                <a:off x="3759200" y="3009900"/>
                <a:ext cx="914400" cy="158387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2" name="Freeform 28"/>
              <p:cNvSpPr>
                <a:spLocks/>
              </p:cNvSpPr>
              <p:nvPr/>
            </p:nvSpPr>
            <p:spPr bwMode="auto">
              <a:xfrm flipH="1">
                <a:off x="4673599" y="3009901"/>
                <a:ext cx="912813" cy="1572986"/>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3" name="Line 36"/>
              <p:cNvSpPr>
                <a:spLocks noChangeShapeType="1"/>
              </p:cNvSpPr>
              <p:nvPr/>
            </p:nvSpPr>
            <p:spPr bwMode="auto">
              <a:xfrm flipH="1">
                <a:off x="5094515" y="3396342"/>
                <a:ext cx="198438" cy="0"/>
              </a:xfrm>
              <a:prstGeom prst="line">
                <a:avLst/>
              </a:prstGeom>
              <a:noFill/>
              <a:ln w="9525">
                <a:solidFill>
                  <a:schemeClr val="tx1"/>
                </a:solidFill>
                <a:round/>
                <a:headEnd/>
                <a:tailEnd/>
              </a:ln>
            </p:spPr>
            <p:txBody>
              <a:bodyPr/>
              <a:lstStyle/>
              <a:p>
                <a:endParaRPr lang="en-US"/>
              </a:p>
            </p:txBody>
          </p:sp>
          <p:sp>
            <p:nvSpPr>
              <p:cNvPr id="24" name="Line 37"/>
              <p:cNvSpPr>
                <a:spLocks noChangeShapeType="1"/>
              </p:cNvSpPr>
              <p:nvPr/>
            </p:nvSpPr>
            <p:spPr bwMode="auto">
              <a:xfrm>
                <a:off x="5094514" y="1055915"/>
                <a:ext cx="35379" cy="2318204"/>
              </a:xfrm>
              <a:prstGeom prst="line">
                <a:avLst/>
              </a:prstGeom>
              <a:noFill/>
              <a:ln w="9525">
                <a:solidFill>
                  <a:schemeClr val="tx1"/>
                </a:solidFill>
                <a:round/>
                <a:headEnd type="triangle" w="med" len="med"/>
                <a:tailEnd type="triangle" w="med" len="med"/>
              </a:ln>
            </p:spPr>
            <p:txBody>
              <a:bodyPr/>
              <a:lstStyle/>
              <a:p>
                <a:endParaRPr lang="en-US"/>
              </a:p>
            </p:txBody>
          </p:sp>
          <p:sp>
            <p:nvSpPr>
              <p:cNvPr id="25" name="Line 38"/>
              <p:cNvSpPr>
                <a:spLocks noChangeShapeType="1"/>
              </p:cNvSpPr>
              <p:nvPr/>
            </p:nvSpPr>
            <p:spPr bwMode="auto">
              <a:xfrm flipH="1">
                <a:off x="5021262" y="1053419"/>
                <a:ext cx="200025" cy="0"/>
              </a:xfrm>
              <a:prstGeom prst="line">
                <a:avLst/>
              </a:prstGeom>
              <a:noFill/>
              <a:ln w="9525">
                <a:solidFill>
                  <a:schemeClr val="tx1"/>
                </a:solidFill>
                <a:round/>
                <a:headEnd/>
                <a:tailEnd/>
              </a:ln>
            </p:spPr>
            <p:txBody>
              <a:bodyPr/>
              <a:lstStyle/>
              <a:p>
                <a:endParaRPr lang="en-US"/>
              </a:p>
            </p:txBody>
          </p:sp>
          <p:sp>
            <p:nvSpPr>
              <p:cNvPr id="26" name="Text Box 39"/>
              <p:cNvSpPr txBox="1">
                <a:spLocks noChangeArrowheads="1"/>
              </p:cNvSpPr>
              <p:nvPr/>
            </p:nvSpPr>
            <p:spPr bwMode="auto">
              <a:xfrm>
                <a:off x="5007202" y="2115230"/>
                <a:ext cx="282575" cy="304800"/>
              </a:xfrm>
              <a:prstGeom prst="rect">
                <a:avLst/>
              </a:prstGeom>
              <a:solidFill>
                <a:schemeClr val="bg1"/>
              </a:solidFill>
              <a:ln w="9525">
                <a:noFill/>
                <a:miter lim="800000"/>
                <a:headEnd/>
                <a:tailEnd/>
              </a:ln>
            </p:spPr>
            <p:txBody>
              <a:bodyPr wrap="none">
                <a:spAutoFit/>
              </a:bodyPr>
              <a:lstStyle/>
              <a:p>
                <a:r>
                  <a:rPr lang="en-US" sz="1400" i="1"/>
                  <a:t>h</a:t>
                </a:r>
              </a:p>
            </p:txBody>
          </p:sp>
          <p:sp>
            <p:nvSpPr>
              <p:cNvPr id="27" name="Freeform 26"/>
              <p:cNvSpPr>
                <a:spLocks/>
              </p:cNvSpPr>
              <p:nvPr/>
            </p:nvSpPr>
            <p:spPr bwMode="auto">
              <a:xfrm flipV="1">
                <a:off x="4419600"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8" name="Freeform 27"/>
              <p:cNvSpPr>
                <a:spLocks/>
              </p:cNvSpPr>
              <p:nvPr/>
            </p:nvSpPr>
            <p:spPr bwMode="auto">
              <a:xfrm flipH="1" flipV="1">
                <a:off x="4653895" y="304800"/>
                <a:ext cx="245130" cy="3837306"/>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9" name="AutoShape 25"/>
              <p:cNvSpPr>
                <a:spLocks noChangeArrowheads="1"/>
              </p:cNvSpPr>
              <p:nvPr/>
            </p:nvSpPr>
            <p:spPr bwMode="auto">
              <a:xfrm flipV="1">
                <a:off x="4519613" y="1023933"/>
                <a:ext cx="261937" cy="3043939"/>
              </a:xfrm>
              <a:prstGeom prst="roundRect">
                <a:avLst>
                  <a:gd name="adj" fmla="val 16667"/>
                </a:avLst>
              </a:prstGeom>
              <a:solidFill>
                <a:schemeClr val="bg1">
                  <a:lumMod val="65000"/>
                </a:schemeClr>
              </a:solidFill>
              <a:ln w="9525">
                <a:noFill/>
                <a:round/>
                <a:headEnd/>
                <a:tailEnd/>
              </a:ln>
            </p:spPr>
            <p:txBody>
              <a:bodyPr wrap="none" anchor="ctr"/>
              <a:lstStyle/>
              <a:p>
                <a:endParaRPr lang="en-US"/>
              </a:p>
            </p:txBody>
          </p:sp>
          <p:sp>
            <p:nvSpPr>
              <p:cNvPr id="30" name="Freeform 29"/>
              <p:cNvSpPr>
                <a:spLocks/>
              </p:cNvSpPr>
              <p:nvPr/>
            </p:nvSpPr>
            <p:spPr bwMode="auto">
              <a:xfrm flipV="1">
                <a:off x="4495799" y="399248"/>
                <a:ext cx="163695"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1" name="Freeform 30"/>
              <p:cNvSpPr>
                <a:spLocks/>
              </p:cNvSpPr>
              <p:nvPr/>
            </p:nvSpPr>
            <p:spPr bwMode="auto">
              <a:xfrm flipH="1" flipV="1">
                <a:off x="4659496" y="399248"/>
                <a:ext cx="141104" cy="3753652"/>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32" name="Freeform 31"/>
              <p:cNvSpPr/>
              <p:nvPr/>
            </p:nvSpPr>
            <p:spPr>
              <a:xfrm>
                <a:off x="4495800" y="3767138"/>
                <a:ext cx="309563" cy="400050"/>
              </a:xfrm>
              <a:custGeom>
                <a:avLst/>
                <a:gdLst>
                  <a:gd name="connsiteX0" fmla="*/ 33338 w 309563"/>
                  <a:gd name="connsiteY0" fmla="*/ 0 h 400050"/>
                  <a:gd name="connsiteX1" fmla="*/ 19050 w 309563"/>
                  <a:gd name="connsiteY1" fmla="*/ 357187 h 400050"/>
                  <a:gd name="connsiteX2" fmla="*/ 0 w 309563"/>
                  <a:gd name="connsiteY2" fmla="*/ 400050 h 400050"/>
                  <a:gd name="connsiteX3" fmla="*/ 309563 w 309563"/>
                  <a:gd name="connsiteY3" fmla="*/ 400050 h 400050"/>
                  <a:gd name="connsiteX4" fmla="*/ 295275 w 309563"/>
                  <a:gd name="connsiteY4" fmla="*/ 376237 h 400050"/>
                  <a:gd name="connsiteX5" fmla="*/ 276225 w 309563"/>
                  <a:gd name="connsiteY5" fmla="*/ 261937 h 400050"/>
                  <a:gd name="connsiteX6" fmla="*/ 280988 w 309563"/>
                  <a:gd name="connsiteY6" fmla="*/ 33337 h 400050"/>
                  <a:gd name="connsiteX7" fmla="*/ 33338 w 309563"/>
                  <a:gd name="connsiteY7" fmla="*/ 0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09563" h="400050">
                    <a:moveTo>
                      <a:pt x="33338" y="0"/>
                    </a:moveTo>
                    <a:lnTo>
                      <a:pt x="19050" y="357187"/>
                    </a:lnTo>
                    <a:lnTo>
                      <a:pt x="0" y="400050"/>
                    </a:lnTo>
                    <a:lnTo>
                      <a:pt x="309563" y="400050"/>
                    </a:lnTo>
                    <a:lnTo>
                      <a:pt x="295275" y="376237"/>
                    </a:lnTo>
                    <a:lnTo>
                      <a:pt x="276225" y="261937"/>
                    </a:lnTo>
                    <a:cubicBezTo>
                      <a:pt x="277813" y="185737"/>
                      <a:pt x="279400" y="109537"/>
                      <a:pt x="280988" y="33337"/>
                    </a:cubicBezTo>
                    <a:lnTo>
                      <a:pt x="33338" y="0"/>
                    </a:lnTo>
                    <a:close/>
                  </a:path>
                </a:pathLst>
              </a:cu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p:cNvSpPr txBox="1"/>
              <p:nvPr/>
            </p:nvSpPr>
            <p:spPr>
              <a:xfrm>
                <a:off x="3181351" y="300037"/>
                <a:ext cx="719812" cy="369332"/>
              </a:xfrm>
              <a:prstGeom prst="rect">
                <a:avLst/>
              </a:prstGeom>
              <a:noFill/>
            </p:spPr>
            <p:txBody>
              <a:bodyPr wrap="none" rtlCol="0">
                <a:spAutoFit/>
              </a:bodyPr>
              <a:lstStyle/>
              <a:p>
                <a:r>
                  <a:rPr lang="en-US" dirty="0"/>
                  <a:t>P</a:t>
                </a:r>
                <a:r>
                  <a:rPr lang="en-US" baseline="-25000" dirty="0"/>
                  <a:t>t</a:t>
                </a:r>
                <a:r>
                  <a:rPr lang="en-US" dirty="0"/>
                  <a:t> = 0</a:t>
                </a:r>
              </a:p>
            </p:txBody>
          </p:sp>
          <p:sp>
            <p:nvSpPr>
              <p:cNvPr id="34" name="Freeform 33"/>
              <p:cNvSpPr/>
              <p:nvPr/>
            </p:nvSpPr>
            <p:spPr>
              <a:xfrm>
                <a:off x="3819525" y="552450"/>
                <a:ext cx="785813"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34"/>
              <p:cNvSpPr/>
              <p:nvPr/>
            </p:nvSpPr>
            <p:spPr>
              <a:xfrm rot="2605820">
                <a:off x="3364242" y="2796767"/>
                <a:ext cx="1059486" cy="280988"/>
              </a:xfrm>
              <a:custGeom>
                <a:avLst/>
                <a:gdLst>
                  <a:gd name="connsiteX0" fmla="*/ 0 w 785813"/>
                  <a:gd name="connsiteY0" fmla="*/ 0 h 280988"/>
                  <a:gd name="connsiteX1" fmla="*/ 328613 w 785813"/>
                  <a:gd name="connsiteY1" fmla="*/ 85725 h 280988"/>
                  <a:gd name="connsiteX2" fmla="*/ 190500 w 785813"/>
                  <a:gd name="connsiteY2" fmla="*/ 119063 h 280988"/>
                  <a:gd name="connsiteX3" fmla="*/ 785813 w 785813"/>
                  <a:gd name="connsiteY3" fmla="*/ 280988 h 280988"/>
                </a:gdLst>
                <a:ahLst/>
                <a:cxnLst>
                  <a:cxn ang="0">
                    <a:pos x="connsiteX0" y="connsiteY0"/>
                  </a:cxn>
                  <a:cxn ang="0">
                    <a:pos x="connsiteX1" y="connsiteY1"/>
                  </a:cxn>
                  <a:cxn ang="0">
                    <a:pos x="connsiteX2" y="connsiteY2"/>
                  </a:cxn>
                  <a:cxn ang="0">
                    <a:pos x="connsiteX3" y="connsiteY3"/>
                  </a:cxn>
                </a:cxnLst>
                <a:rect l="l" t="t" r="r" b="b"/>
                <a:pathLst>
                  <a:path w="785813" h="280988">
                    <a:moveTo>
                      <a:pt x="0" y="0"/>
                    </a:moveTo>
                    <a:cubicBezTo>
                      <a:pt x="148431" y="32940"/>
                      <a:pt x="296863" y="65881"/>
                      <a:pt x="328613" y="85725"/>
                    </a:cubicBezTo>
                    <a:cubicBezTo>
                      <a:pt x="360363" y="105569"/>
                      <a:pt x="114300" y="86519"/>
                      <a:pt x="190500" y="119063"/>
                    </a:cubicBezTo>
                    <a:cubicBezTo>
                      <a:pt x="266700" y="151607"/>
                      <a:pt x="526256" y="216297"/>
                      <a:pt x="785813" y="280988"/>
                    </a:cubicBezTo>
                  </a:path>
                </a:pathLst>
              </a:custGeom>
              <a:noFill/>
              <a:ln w="9525">
                <a:solidFill>
                  <a:schemeClr val="tx1"/>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p:cNvSpPr txBox="1"/>
              <p:nvPr/>
            </p:nvSpPr>
            <p:spPr>
              <a:xfrm>
                <a:off x="3052763" y="2052637"/>
                <a:ext cx="937885" cy="369332"/>
              </a:xfrm>
              <a:prstGeom prst="rect">
                <a:avLst/>
              </a:prstGeom>
              <a:noFill/>
            </p:spPr>
            <p:txBody>
              <a:bodyPr wrap="none" rtlCol="0">
                <a:spAutoFit/>
              </a:bodyPr>
              <a:lstStyle/>
              <a:p>
                <a:r>
                  <a:rPr lang="en-US" dirty="0"/>
                  <a:t>P</a:t>
                </a:r>
                <a:r>
                  <a:rPr lang="en-US" baseline="-25000" dirty="0"/>
                  <a:t>t</a:t>
                </a:r>
                <a:r>
                  <a:rPr lang="en-US" dirty="0"/>
                  <a:t> = </a:t>
                </a:r>
                <a:r>
                  <a:rPr lang="en-US" dirty="0" err="1"/>
                  <a:t>P</a:t>
                </a:r>
                <a:r>
                  <a:rPr lang="en-US" baseline="-25000" dirty="0" err="1"/>
                  <a:t>atm</a:t>
                </a:r>
                <a:endParaRPr lang="en-US" dirty="0"/>
              </a:p>
            </p:txBody>
          </p:sp>
        </p:grpSp>
        <p:sp>
          <p:nvSpPr>
            <p:cNvPr id="13" name="Oval 12"/>
            <p:cNvSpPr/>
            <p:nvPr/>
          </p:nvSpPr>
          <p:spPr>
            <a:xfrm>
              <a:off x="4620306" y="33555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4511448" y="3518808"/>
              <a:ext cx="324128" cy="369332"/>
            </a:xfrm>
            <a:prstGeom prst="rect">
              <a:avLst/>
            </a:prstGeom>
            <a:noFill/>
          </p:spPr>
          <p:txBody>
            <a:bodyPr wrap="none" rtlCol="0">
              <a:spAutoFit/>
            </a:bodyPr>
            <a:lstStyle/>
            <a:p>
              <a:r>
                <a:rPr lang="en-US" b="1" dirty="0">
                  <a:solidFill>
                    <a:srgbClr val="FF0000"/>
                  </a:solidFill>
                </a:rPr>
                <a:t>A</a:t>
              </a:r>
            </a:p>
          </p:txBody>
        </p:sp>
        <p:sp>
          <p:nvSpPr>
            <p:cNvPr id="15" name="TextBox 14"/>
            <p:cNvSpPr txBox="1"/>
            <p:nvPr/>
          </p:nvSpPr>
          <p:spPr>
            <a:xfrm>
              <a:off x="5088393" y="3497036"/>
              <a:ext cx="314510" cy="369332"/>
            </a:xfrm>
            <a:prstGeom prst="rect">
              <a:avLst/>
            </a:prstGeom>
            <a:noFill/>
          </p:spPr>
          <p:txBody>
            <a:bodyPr wrap="none" rtlCol="0">
              <a:spAutoFit/>
            </a:bodyPr>
            <a:lstStyle/>
            <a:p>
              <a:r>
                <a:rPr lang="en-US" b="1" dirty="0">
                  <a:solidFill>
                    <a:srgbClr val="FF0000"/>
                  </a:solidFill>
                </a:rPr>
                <a:t>B</a:t>
              </a:r>
            </a:p>
          </p:txBody>
        </p:sp>
        <p:sp>
          <p:nvSpPr>
            <p:cNvPr id="16" name="Oval 15"/>
            <p:cNvSpPr/>
            <p:nvPr/>
          </p:nvSpPr>
          <p:spPr>
            <a:xfrm>
              <a:off x="5175477" y="3322865"/>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Straight Connector 38"/>
          <p:cNvCxnSpPr/>
          <p:nvPr/>
        </p:nvCxnSpPr>
        <p:spPr>
          <a:xfrm>
            <a:off x="5338764" y="2288722"/>
            <a:ext cx="1143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a:stCxn id="20" idx="0"/>
          </p:cNvCxnSpPr>
          <p:nvPr/>
        </p:nvCxnSpPr>
        <p:spPr>
          <a:xfrm>
            <a:off x="4348164" y="3965122"/>
            <a:ext cx="21336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18" name="Group 17"/>
          <p:cNvGrpSpPr/>
          <p:nvPr/>
        </p:nvGrpSpPr>
        <p:grpSpPr>
          <a:xfrm>
            <a:off x="2976564" y="2288722"/>
            <a:ext cx="2362200" cy="3657600"/>
            <a:chOff x="3048000" y="3200400"/>
            <a:chExt cx="2362200" cy="3657600"/>
          </a:xfrm>
        </p:grpSpPr>
        <p:sp>
          <p:nvSpPr>
            <p:cNvPr id="19" name="Rectangle 18"/>
            <p:cNvSpPr/>
            <p:nvPr/>
          </p:nvSpPr>
          <p:spPr>
            <a:xfrm>
              <a:off x="5105400" y="3200400"/>
              <a:ext cx="304800" cy="2919844"/>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p:nvPr/>
          </p:nvSpPr>
          <p:spPr>
            <a:xfrm>
              <a:off x="4267200" y="4876800"/>
              <a:ext cx="304800" cy="1295400"/>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p:nvSpPr>
          <p:spPr>
            <a:xfrm>
              <a:off x="4267200" y="5638800"/>
              <a:ext cx="1143000" cy="1219200"/>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p:cNvSpPr/>
            <p:nvPr/>
          </p:nvSpPr>
          <p:spPr>
            <a:xfrm>
              <a:off x="4572000" y="60198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p:cNvSpPr/>
            <p:nvPr/>
          </p:nvSpPr>
          <p:spPr>
            <a:xfrm>
              <a:off x="4572000" y="3276600"/>
              <a:ext cx="533400" cy="2971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p:cNvSpPr/>
            <p:nvPr/>
          </p:nvSpPr>
          <p:spPr>
            <a:xfrm>
              <a:off x="3733800" y="4419600"/>
              <a:ext cx="533400" cy="5334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p:cNvSpPr/>
            <p:nvPr/>
          </p:nvSpPr>
          <p:spPr>
            <a:xfrm>
              <a:off x="3048000" y="4648200"/>
              <a:ext cx="1219200" cy="190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146" name="Picture 2" descr="ruler (simple, without figures) by jetxe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8" y="1918278"/>
            <a:ext cx="1468915" cy="3810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ruler (simple, without figures) by jetxe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16200000">
            <a:off x="4947207" y="3289879"/>
            <a:ext cx="1468915" cy="381000"/>
          </a:xfrm>
          <a:prstGeom prst="rect">
            <a:avLst/>
          </a:prstGeom>
          <a:noFill/>
          <a:extLst>
            <a:ext uri="{909E8E84-426E-40DD-AFC4-6F175D3DCCD1}">
              <a14:hiddenFill xmlns:a14="http://schemas.microsoft.com/office/drawing/2010/main">
                <a:solidFill>
                  <a:srgbClr val="FFFFFF"/>
                </a:solidFill>
              </a14:hiddenFill>
            </a:ext>
          </a:extLst>
        </p:spPr>
      </p:pic>
      <p:sp>
        <p:nvSpPr>
          <p:cNvPr id="10" name="Freeform 9"/>
          <p:cNvSpPr/>
          <p:nvPr/>
        </p:nvSpPr>
        <p:spPr>
          <a:xfrm>
            <a:off x="2743200" y="685800"/>
            <a:ext cx="2584677" cy="5260522"/>
          </a:xfrm>
          <a:custGeom>
            <a:avLst/>
            <a:gdLst>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556657 w 2579914"/>
              <a:gd name="connsiteY14" fmla="*/ 2677886 h 5279572"/>
              <a:gd name="connsiteX15" fmla="*/ 1730828 w 2579914"/>
              <a:gd name="connsiteY15" fmla="*/ 2982686 h 5279572"/>
              <a:gd name="connsiteX16" fmla="*/ 1719943 w 2579914"/>
              <a:gd name="connsiteY16" fmla="*/ 4713515 h 5279572"/>
              <a:gd name="connsiteX17" fmla="*/ 1894114 w 2579914"/>
              <a:gd name="connsiteY17" fmla="*/ 4953000 h 5279572"/>
              <a:gd name="connsiteX18" fmla="*/ 2133600 w 2579914"/>
              <a:gd name="connsiteY18" fmla="*/ 4953000 h 5279572"/>
              <a:gd name="connsiteX19" fmla="*/ 2296885 w 2579914"/>
              <a:gd name="connsiteY19" fmla="*/ 4746172 h 5279572"/>
              <a:gd name="connsiteX20" fmla="*/ 2286000 w 2579914"/>
              <a:gd name="connsiteY20" fmla="*/ 21772 h 5279572"/>
              <a:gd name="connsiteX21" fmla="*/ 2569028 w 2579914"/>
              <a:gd name="connsiteY21"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328057 w 2579914"/>
              <a:gd name="connsiteY9" fmla="*/ 2862943 h 5279572"/>
              <a:gd name="connsiteX10" fmla="*/ 1121228 w 2579914"/>
              <a:gd name="connsiteY10" fmla="*/ 2830286 h 5279572"/>
              <a:gd name="connsiteX11" fmla="*/ 0 w 2579914"/>
              <a:gd name="connsiteY11" fmla="*/ 2819400 h 5279572"/>
              <a:gd name="connsiteX12" fmla="*/ 0 w 2579914"/>
              <a:gd name="connsiteY12" fmla="*/ 2536372 h 5279572"/>
              <a:gd name="connsiteX13" fmla="*/ 1197428 w 2579914"/>
              <a:gd name="connsiteY13" fmla="*/ 2536372 h 5279572"/>
              <a:gd name="connsiteX14" fmla="*/ 1730828 w 2579914"/>
              <a:gd name="connsiteY14" fmla="*/ 2982686 h 5279572"/>
              <a:gd name="connsiteX15" fmla="*/ 1719943 w 2579914"/>
              <a:gd name="connsiteY15" fmla="*/ 4713515 h 5279572"/>
              <a:gd name="connsiteX16" fmla="*/ 1894114 w 2579914"/>
              <a:gd name="connsiteY16" fmla="*/ 4953000 h 5279572"/>
              <a:gd name="connsiteX17" fmla="*/ 2133600 w 2579914"/>
              <a:gd name="connsiteY17" fmla="*/ 4953000 h 5279572"/>
              <a:gd name="connsiteX18" fmla="*/ 2296885 w 2579914"/>
              <a:gd name="connsiteY18" fmla="*/ 4746172 h 5279572"/>
              <a:gd name="connsiteX19" fmla="*/ 2286000 w 2579914"/>
              <a:gd name="connsiteY19" fmla="*/ 21772 h 5279572"/>
              <a:gd name="connsiteX20" fmla="*/ 2569028 w 2579914"/>
              <a:gd name="connsiteY20"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0 w 2579914"/>
              <a:gd name="connsiteY10" fmla="*/ 2819400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80457 w 2579914"/>
              <a:gd name="connsiteY6" fmla="*/ 4844143 h 5279572"/>
              <a:gd name="connsiteX7" fmla="*/ 1436914 w 2579914"/>
              <a:gd name="connsiteY7" fmla="*/ 4735286 h 5279572"/>
              <a:gd name="connsiteX8" fmla="*/ 1426028 w 2579914"/>
              <a:gd name="connsiteY8" fmla="*/ 3058886 h 5279572"/>
              <a:gd name="connsiteX9" fmla="*/ 1121228 w 2579914"/>
              <a:gd name="connsiteY9" fmla="*/ 2830286 h 5279572"/>
              <a:gd name="connsiteX10" fmla="*/ 10885 w 2579914"/>
              <a:gd name="connsiteY10" fmla="*/ 2841171 h 5279572"/>
              <a:gd name="connsiteX11" fmla="*/ 0 w 2579914"/>
              <a:gd name="connsiteY11" fmla="*/ 2536372 h 5279572"/>
              <a:gd name="connsiteX12" fmla="*/ 1197428 w 2579914"/>
              <a:gd name="connsiteY12" fmla="*/ 2536372 h 5279572"/>
              <a:gd name="connsiteX13" fmla="*/ 1730828 w 2579914"/>
              <a:gd name="connsiteY13" fmla="*/ 2982686 h 5279572"/>
              <a:gd name="connsiteX14" fmla="*/ 1719943 w 2579914"/>
              <a:gd name="connsiteY14" fmla="*/ 4713515 h 5279572"/>
              <a:gd name="connsiteX15" fmla="*/ 1894114 w 2579914"/>
              <a:gd name="connsiteY15" fmla="*/ 4953000 h 5279572"/>
              <a:gd name="connsiteX16" fmla="*/ 2133600 w 2579914"/>
              <a:gd name="connsiteY16" fmla="*/ 4953000 h 5279572"/>
              <a:gd name="connsiteX17" fmla="*/ 2296885 w 2579914"/>
              <a:gd name="connsiteY17" fmla="*/ 4746172 h 5279572"/>
              <a:gd name="connsiteX18" fmla="*/ 2286000 w 2579914"/>
              <a:gd name="connsiteY18" fmla="*/ 21772 h 5279572"/>
              <a:gd name="connsiteX19" fmla="*/ 2569028 w 2579914"/>
              <a:gd name="connsiteY19"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1894114 w 2579914"/>
              <a:gd name="connsiteY14" fmla="*/ 4953000 h 5279572"/>
              <a:gd name="connsiteX15" fmla="*/ 2133600 w 2579914"/>
              <a:gd name="connsiteY15" fmla="*/ 4953000 h 5279572"/>
              <a:gd name="connsiteX16" fmla="*/ 2296885 w 2579914"/>
              <a:gd name="connsiteY16" fmla="*/ 4746172 h 5279572"/>
              <a:gd name="connsiteX17" fmla="*/ 2286000 w 2579914"/>
              <a:gd name="connsiteY17" fmla="*/ 21772 h 5279572"/>
              <a:gd name="connsiteX18" fmla="*/ 2569028 w 2579914"/>
              <a:gd name="connsiteY18"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133600 w 2579914"/>
              <a:gd name="connsiteY14" fmla="*/ 4953000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264228 w 2579914"/>
              <a:gd name="connsiteY3" fmla="*/ 5214257 h 5279572"/>
              <a:gd name="connsiteX4" fmla="*/ 2013857 w 2579914"/>
              <a:gd name="connsiteY4" fmla="*/ 5279572 h 5279572"/>
              <a:gd name="connsiteX5" fmla="*/ 1643743 w 2579914"/>
              <a:gd name="connsiteY5" fmla="*/ 5148943 h 5279572"/>
              <a:gd name="connsiteX6" fmla="*/ 1436914 w 2579914"/>
              <a:gd name="connsiteY6" fmla="*/ 4735286 h 5279572"/>
              <a:gd name="connsiteX7" fmla="*/ 1426028 w 2579914"/>
              <a:gd name="connsiteY7" fmla="*/ 3058886 h 5279572"/>
              <a:gd name="connsiteX8" fmla="*/ 1121228 w 2579914"/>
              <a:gd name="connsiteY8" fmla="*/ 2830286 h 5279572"/>
              <a:gd name="connsiteX9" fmla="*/ 10885 w 2579914"/>
              <a:gd name="connsiteY9" fmla="*/ 2841171 h 5279572"/>
              <a:gd name="connsiteX10" fmla="*/ 0 w 2579914"/>
              <a:gd name="connsiteY10" fmla="*/ 2536372 h 5279572"/>
              <a:gd name="connsiteX11" fmla="*/ 1197428 w 2579914"/>
              <a:gd name="connsiteY11" fmla="*/ 2536372 h 5279572"/>
              <a:gd name="connsiteX12" fmla="*/ 1730828 w 2579914"/>
              <a:gd name="connsiteY12" fmla="*/ 2982686 h 5279572"/>
              <a:gd name="connsiteX13" fmla="*/ 1719943 w 2579914"/>
              <a:gd name="connsiteY13" fmla="*/ 4713515 h 5279572"/>
              <a:gd name="connsiteX14" fmla="*/ 2002972 w 2579914"/>
              <a:gd name="connsiteY14" fmla="*/ 4963885 h 5279572"/>
              <a:gd name="connsiteX15" fmla="*/ 2296885 w 2579914"/>
              <a:gd name="connsiteY15" fmla="*/ 4746172 h 5279572"/>
              <a:gd name="connsiteX16" fmla="*/ 2286000 w 2579914"/>
              <a:gd name="connsiteY16" fmla="*/ 21772 h 5279572"/>
              <a:gd name="connsiteX17" fmla="*/ 2569028 w 2579914"/>
              <a:gd name="connsiteY17"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643743 w 2579914"/>
              <a:gd name="connsiteY4" fmla="*/ 5148943 h 5279572"/>
              <a:gd name="connsiteX5" fmla="*/ 1436914 w 2579914"/>
              <a:gd name="connsiteY5" fmla="*/ 4735286 h 5279572"/>
              <a:gd name="connsiteX6" fmla="*/ 1426028 w 2579914"/>
              <a:gd name="connsiteY6" fmla="*/ 3058886 h 5279572"/>
              <a:gd name="connsiteX7" fmla="*/ 1121228 w 2579914"/>
              <a:gd name="connsiteY7" fmla="*/ 2830286 h 5279572"/>
              <a:gd name="connsiteX8" fmla="*/ 10885 w 2579914"/>
              <a:gd name="connsiteY8" fmla="*/ 2841171 h 5279572"/>
              <a:gd name="connsiteX9" fmla="*/ 0 w 2579914"/>
              <a:gd name="connsiteY9" fmla="*/ 2536372 h 5279572"/>
              <a:gd name="connsiteX10" fmla="*/ 1197428 w 2579914"/>
              <a:gd name="connsiteY10" fmla="*/ 2536372 h 5279572"/>
              <a:gd name="connsiteX11" fmla="*/ 1730828 w 2579914"/>
              <a:gd name="connsiteY11" fmla="*/ 2982686 h 5279572"/>
              <a:gd name="connsiteX12" fmla="*/ 1719943 w 2579914"/>
              <a:gd name="connsiteY12" fmla="*/ 4713515 h 5279572"/>
              <a:gd name="connsiteX13" fmla="*/ 2002972 w 2579914"/>
              <a:gd name="connsiteY13" fmla="*/ 4963885 h 5279572"/>
              <a:gd name="connsiteX14" fmla="*/ 2296885 w 2579914"/>
              <a:gd name="connsiteY14" fmla="*/ 4746172 h 5279572"/>
              <a:gd name="connsiteX15" fmla="*/ 2286000 w 2579914"/>
              <a:gd name="connsiteY15" fmla="*/ 21772 h 5279572"/>
              <a:gd name="connsiteX16" fmla="*/ 2569028 w 2579914"/>
              <a:gd name="connsiteY16" fmla="*/ 0 h 5279572"/>
              <a:gd name="connsiteX0" fmla="*/ 2569028 w 2579914"/>
              <a:gd name="connsiteY0" fmla="*/ 0 h 5279572"/>
              <a:gd name="connsiteX1" fmla="*/ 2579914 w 2579914"/>
              <a:gd name="connsiteY1" fmla="*/ 4659086 h 5279572"/>
              <a:gd name="connsiteX2" fmla="*/ 2503714 w 2579914"/>
              <a:gd name="connsiteY2" fmla="*/ 4953000 h 5279572"/>
              <a:gd name="connsiteX3" fmla="*/ 2013857 w 2579914"/>
              <a:gd name="connsiteY3" fmla="*/ 5279572 h 5279572"/>
              <a:gd name="connsiteX4" fmla="*/ 1436914 w 2579914"/>
              <a:gd name="connsiteY4" fmla="*/ 4735286 h 5279572"/>
              <a:gd name="connsiteX5" fmla="*/ 1426028 w 2579914"/>
              <a:gd name="connsiteY5" fmla="*/ 3058886 h 5279572"/>
              <a:gd name="connsiteX6" fmla="*/ 1121228 w 2579914"/>
              <a:gd name="connsiteY6" fmla="*/ 2830286 h 5279572"/>
              <a:gd name="connsiteX7" fmla="*/ 10885 w 2579914"/>
              <a:gd name="connsiteY7" fmla="*/ 2841171 h 5279572"/>
              <a:gd name="connsiteX8" fmla="*/ 0 w 2579914"/>
              <a:gd name="connsiteY8" fmla="*/ 2536372 h 5279572"/>
              <a:gd name="connsiteX9" fmla="*/ 1197428 w 2579914"/>
              <a:gd name="connsiteY9" fmla="*/ 2536372 h 5279572"/>
              <a:gd name="connsiteX10" fmla="*/ 1730828 w 2579914"/>
              <a:gd name="connsiteY10" fmla="*/ 2982686 h 5279572"/>
              <a:gd name="connsiteX11" fmla="*/ 1719943 w 2579914"/>
              <a:gd name="connsiteY11" fmla="*/ 4713515 h 5279572"/>
              <a:gd name="connsiteX12" fmla="*/ 2002972 w 2579914"/>
              <a:gd name="connsiteY12" fmla="*/ 4963885 h 5279572"/>
              <a:gd name="connsiteX13" fmla="*/ 2296885 w 2579914"/>
              <a:gd name="connsiteY13" fmla="*/ 4746172 h 5279572"/>
              <a:gd name="connsiteX14" fmla="*/ 2286000 w 2579914"/>
              <a:gd name="connsiteY14" fmla="*/ 21772 h 5279572"/>
              <a:gd name="connsiteX15" fmla="*/ 2569028 w 2579914"/>
              <a:gd name="connsiteY15"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02972 w 2579914"/>
              <a:gd name="connsiteY11" fmla="*/ 4963885 h 5279572"/>
              <a:gd name="connsiteX12" fmla="*/ 2296885 w 2579914"/>
              <a:gd name="connsiteY12" fmla="*/ 4746172 h 5279572"/>
              <a:gd name="connsiteX13" fmla="*/ 2286000 w 2579914"/>
              <a:gd name="connsiteY13" fmla="*/ 21772 h 5279572"/>
              <a:gd name="connsiteX14" fmla="*/ 2569028 w 2579914"/>
              <a:gd name="connsiteY14" fmla="*/ 0 h 5279572"/>
              <a:gd name="connsiteX0" fmla="*/ 2569028 w 2580015"/>
              <a:gd name="connsiteY0" fmla="*/ 0 h 5279572"/>
              <a:gd name="connsiteX1" fmla="*/ 2579914 w 2580015"/>
              <a:gd name="connsiteY1" fmla="*/ 4659086 h 5279572"/>
              <a:gd name="connsiteX2" fmla="*/ 2013857 w 2580015"/>
              <a:gd name="connsiteY2" fmla="*/ 5279572 h 5279572"/>
              <a:gd name="connsiteX3" fmla="*/ 1436914 w 2580015"/>
              <a:gd name="connsiteY3" fmla="*/ 4735286 h 5279572"/>
              <a:gd name="connsiteX4" fmla="*/ 1426028 w 2580015"/>
              <a:gd name="connsiteY4" fmla="*/ 3058886 h 5279572"/>
              <a:gd name="connsiteX5" fmla="*/ 1121228 w 2580015"/>
              <a:gd name="connsiteY5" fmla="*/ 2830286 h 5279572"/>
              <a:gd name="connsiteX6" fmla="*/ 10885 w 2580015"/>
              <a:gd name="connsiteY6" fmla="*/ 2841171 h 5279572"/>
              <a:gd name="connsiteX7" fmla="*/ 0 w 2580015"/>
              <a:gd name="connsiteY7" fmla="*/ 2536372 h 5279572"/>
              <a:gd name="connsiteX8" fmla="*/ 1197428 w 2580015"/>
              <a:gd name="connsiteY8" fmla="*/ 2536372 h 5279572"/>
              <a:gd name="connsiteX9" fmla="*/ 1730828 w 2580015"/>
              <a:gd name="connsiteY9" fmla="*/ 2982686 h 5279572"/>
              <a:gd name="connsiteX10" fmla="*/ 1719943 w 2580015"/>
              <a:gd name="connsiteY10" fmla="*/ 4713515 h 5279572"/>
              <a:gd name="connsiteX11" fmla="*/ 2002972 w 2580015"/>
              <a:gd name="connsiteY11" fmla="*/ 4963885 h 5279572"/>
              <a:gd name="connsiteX12" fmla="*/ 2296885 w 2580015"/>
              <a:gd name="connsiteY12" fmla="*/ 4746172 h 5279572"/>
              <a:gd name="connsiteX13" fmla="*/ 2286000 w 2580015"/>
              <a:gd name="connsiteY13" fmla="*/ 21772 h 5279572"/>
              <a:gd name="connsiteX14" fmla="*/ 2569028 w 2580015"/>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068286 w 2580171"/>
              <a:gd name="connsiteY12" fmla="*/ 4942115 h 5279572"/>
              <a:gd name="connsiteX13" fmla="*/ 2296885 w 2580171"/>
              <a:gd name="connsiteY13" fmla="*/ 4746172 h 5279572"/>
              <a:gd name="connsiteX14" fmla="*/ 2286000 w 2580171"/>
              <a:gd name="connsiteY14" fmla="*/ 21772 h 5279572"/>
              <a:gd name="connsiteX15" fmla="*/ 2569028 w 2580171"/>
              <a:gd name="connsiteY15"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02972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57401 w 2580171"/>
              <a:gd name="connsiteY11" fmla="*/ 4963885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6885 w 2580171"/>
              <a:gd name="connsiteY12" fmla="*/ 474617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80171"/>
              <a:gd name="connsiteY0" fmla="*/ 0 h 5279572"/>
              <a:gd name="connsiteX1" fmla="*/ 2579914 w 2580171"/>
              <a:gd name="connsiteY1" fmla="*/ 4659086 h 5279572"/>
              <a:gd name="connsiteX2" fmla="*/ 2013857 w 2580171"/>
              <a:gd name="connsiteY2" fmla="*/ 5279572 h 5279572"/>
              <a:gd name="connsiteX3" fmla="*/ 1436914 w 2580171"/>
              <a:gd name="connsiteY3" fmla="*/ 4735286 h 5279572"/>
              <a:gd name="connsiteX4" fmla="*/ 1426028 w 2580171"/>
              <a:gd name="connsiteY4" fmla="*/ 3058886 h 5279572"/>
              <a:gd name="connsiteX5" fmla="*/ 1121228 w 2580171"/>
              <a:gd name="connsiteY5" fmla="*/ 2830286 h 5279572"/>
              <a:gd name="connsiteX6" fmla="*/ 10885 w 2580171"/>
              <a:gd name="connsiteY6" fmla="*/ 2841171 h 5279572"/>
              <a:gd name="connsiteX7" fmla="*/ 0 w 2580171"/>
              <a:gd name="connsiteY7" fmla="*/ 2536372 h 5279572"/>
              <a:gd name="connsiteX8" fmla="*/ 1197428 w 2580171"/>
              <a:gd name="connsiteY8" fmla="*/ 2536372 h 5279572"/>
              <a:gd name="connsiteX9" fmla="*/ 1730828 w 2580171"/>
              <a:gd name="connsiteY9" fmla="*/ 2982686 h 5279572"/>
              <a:gd name="connsiteX10" fmla="*/ 1719943 w 2580171"/>
              <a:gd name="connsiteY10" fmla="*/ 4713515 h 5279572"/>
              <a:gd name="connsiteX11" fmla="*/ 2028826 w 2580171"/>
              <a:gd name="connsiteY11" fmla="*/ 4978172 h 5279572"/>
              <a:gd name="connsiteX12" fmla="*/ 2292123 w 2580171"/>
              <a:gd name="connsiteY12" fmla="*/ 4689022 h 5279572"/>
              <a:gd name="connsiteX13" fmla="*/ 2286000 w 2580171"/>
              <a:gd name="connsiteY13" fmla="*/ 21772 h 5279572"/>
              <a:gd name="connsiteX14" fmla="*/ 2569028 w 2580171"/>
              <a:gd name="connsiteY14" fmla="*/ 0 h 5279572"/>
              <a:gd name="connsiteX0" fmla="*/ 2569028 w 2579946"/>
              <a:gd name="connsiteY0" fmla="*/ 0 h 5279572"/>
              <a:gd name="connsiteX1" fmla="*/ 2579914 w 2579946"/>
              <a:gd name="connsiteY1" fmla="*/ 4659086 h 5279572"/>
              <a:gd name="connsiteX2" fmla="*/ 2013857 w 2579946"/>
              <a:gd name="connsiteY2" fmla="*/ 5279572 h 5279572"/>
              <a:gd name="connsiteX3" fmla="*/ 1436914 w 2579946"/>
              <a:gd name="connsiteY3" fmla="*/ 4735286 h 5279572"/>
              <a:gd name="connsiteX4" fmla="*/ 1426028 w 2579946"/>
              <a:gd name="connsiteY4" fmla="*/ 3058886 h 5279572"/>
              <a:gd name="connsiteX5" fmla="*/ 1121228 w 2579946"/>
              <a:gd name="connsiteY5" fmla="*/ 2830286 h 5279572"/>
              <a:gd name="connsiteX6" fmla="*/ 10885 w 2579946"/>
              <a:gd name="connsiteY6" fmla="*/ 2841171 h 5279572"/>
              <a:gd name="connsiteX7" fmla="*/ 0 w 2579946"/>
              <a:gd name="connsiteY7" fmla="*/ 2536372 h 5279572"/>
              <a:gd name="connsiteX8" fmla="*/ 1197428 w 2579946"/>
              <a:gd name="connsiteY8" fmla="*/ 2536372 h 5279572"/>
              <a:gd name="connsiteX9" fmla="*/ 1730828 w 2579946"/>
              <a:gd name="connsiteY9" fmla="*/ 2982686 h 5279572"/>
              <a:gd name="connsiteX10" fmla="*/ 1719943 w 2579946"/>
              <a:gd name="connsiteY10" fmla="*/ 4713515 h 5279572"/>
              <a:gd name="connsiteX11" fmla="*/ 2028826 w 2579946"/>
              <a:gd name="connsiteY11" fmla="*/ 4978172 h 5279572"/>
              <a:gd name="connsiteX12" fmla="*/ 2292123 w 2579946"/>
              <a:gd name="connsiteY12" fmla="*/ 4689022 h 5279572"/>
              <a:gd name="connsiteX13" fmla="*/ 2286000 w 2579946"/>
              <a:gd name="connsiteY13" fmla="*/ 21772 h 5279572"/>
              <a:gd name="connsiteX14" fmla="*/ 2569028 w 2579946"/>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58"/>
              <a:gd name="connsiteY0" fmla="*/ 0 h 5279572"/>
              <a:gd name="connsiteX1" fmla="*/ 2579914 w 2579958"/>
              <a:gd name="connsiteY1" fmla="*/ 4659086 h 5279572"/>
              <a:gd name="connsiteX2" fmla="*/ 2013857 w 2579958"/>
              <a:gd name="connsiteY2" fmla="*/ 5279572 h 5279572"/>
              <a:gd name="connsiteX3" fmla="*/ 1436914 w 2579958"/>
              <a:gd name="connsiteY3" fmla="*/ 4735286 h 5279572"/>
              <a:gd name="connsiteX4" fmla="*/ 1426028 w 2579958"/>
              <a:gd name="connsiteY4" fmla="*/ 3058886 h 5279572"/>
              <a:gd name="connsiteX5" fmla="*/ 1121228 w 2579958"/>
              <a:gd name="connsiteY5" fmla="*/ 2830286 h 5279572"/>
              <a:gd name="connsiteX6" fmla="*/ 10885 w 2579958"/>
              <a:gd name="connsiteY6" fmla="*/ 2841171 h 5279572"/>
              <a:gd name="connsiteX7" fmla="*/ 0 w 2579958"/>
              <a:gd name="connsiteY7" fmla="*/ 2536372 h 5279572"/>
              <a:gd name="connsiteX8" fmla="*/ 1197428 w 2579958"/>
              <a:gd name="connsiteY8" fmla="*/ 2536372 h 5279572"/>
              <a:gd name="connsiteX9" fmla="*/ 1730828 w 2579958"/>
              <a:gd name="connsiteY9" fmla="*/ 2982686 h 5279572"/>
              <a:gd name="connsiteX10" fmla="*/ 1719943 w 2579958"/>
              <a:gd name="connsiteY10" fmla="*/ 4713515 h 5279572"/>
              <a:gd name="connsiteX11" fmla="*/ 2028826 w 2579958"/>
              <a:gd name="connsiteY11" fmla="*/ 4978172 h 5279572"/>
              <a:gd name="connsiteX12" fmla="*/ 2292123 w 2579958"/>
              <a:gd name="connsiteY12" fmla="*/ 4689022 h 5279572"/>
              <a:gd name="connsiteX13" fmla="*/ 2286000 w 2579958"/>
              <a:gd name="connsiteY13" fmla="*/ 21772 h 5279572"/>
              <a:gd name="connsiteX14" fmla="*/ 2569028 w 2579958"/>
              <a:gd name="connsiteY14" fmla="*/ 0 h 5279572"/>
              <a:gd name="connsiteX0" fmla="*/ 2569028 w 2579914"/>
              <a:gd name="connsiteY0" fmla="*/ 0 h 5279572"/>
              <a:gd name="connsiteX1" fmla="*/ 2579914 w 2579914"/>
              <a:gd name="connsiteY1" fmla="*/ 4659086 h 5279572"/>
              <a:gd name="connsiteX2" fmla="*/ 2013857 w 2579914"/>
              <a:gd name="connsiteY2" fmla="*/ 5279572 h 5279572"/>
              <a:gd name="connsiteX3" fmla="*/ 1436914 w 2579914"/>
              <a:gd name="connsiteY3" fmla="*/ 4735286 h 5279572"/>
              <a:gd name="connsiteX4" fmla="*/ 1426028 w 2579914"/>
              <a:gd name="connsiteY4" fmla="*/ 3058886 h 5279572"/>
              <a:gd name="connsiteX5" fmla="*/ 1121228 w 2579914"/>
              <a:gd name="connsiteY5" fmla="*/ 2830286 h 5279572"/>
              <a:gd name="connsiteX6" fmla="*/ 10885 w 2579914"/>
              <a:gd name="connsiteY6" fmla="*/ 2841171 h 5279572"/>
              <a:gd name="connsiteX7" fmla="*/ 0 w 2579914"/>
              <a:gd name="connsiteY7" fmla="*/ 2536372 h 5279572"/>
              <a:gd name="connsiteX8" fmla="*/ 1197428 w 2579914"/>
              <a:gd name="connsiteY8" fmla="*/ 2536372 h 5279572"/>
              <a:gd name="connsiteX9" fmla="*/ 1730828 w 2579914"/>
              <a:gd name="connsiteY9" fmla="*/ 2982686 h 5279572"/>
              <a:gd name="connsiteX10" fmla="*/ 1719943 w 2579914"/>
              <a:gd name="connsiteY10" fmla="*/ 4713515 h 5279572"/>
              <a:gd name="connsiteX11" fmla="*/ 2028826 w 2579914"/>
              <a:gd name="connsiteY11" fmla="*/ 4978172 h 5279572"/>
              <a:gd name="connsiteX12" fmla="*/ 2292123 w 2579914"/>
              <a:gd name="connsiteY12" fmla="*/ 4689022 h 5279572"/>
              <a:gd name="connsiteX13" fmla="*/ 2286000 w 2579914"/>
              <a:gd name="connsiteY13" fmla="*/ 21772 h 5279572"/>
              <a:gd name="connsiteX14" fmla="*/ 2569028 w 2579914"/>
              <a:gd name="connsiteY14" fmla="*/ 0 h 5279572"/>
              <a:gd name="connsiteX0" fmla="*/ 2588078 w 2588635"/>
              <a:gd name="connsiteY0" fmla="*/ 11565 h 5257800"/>
              <a:gd name="connsiteX1" fmla="*/ 2579914 w 2588635"/>
              <a:gd name="connsiteY1" fmla="*/ 4637314 h 5257800"/>
              <a:gd name="connsiteX2" fmla="*/ 2013857 w 2588635"/>
              <a:gd name="connsiteY2" fmla="*/ 5257800 h 5257800"/>
              <a:gd name="connsiteX3" fmla="*/ 1436914 w 2588635"/>
              <a:gd name="connsiteY3" fmla="*/ 4713514 h 5257800"/>
              <a:gd name="connsiteX4" fmla="*/ 1426028 w 2588635"/>
              <a:gd name="connsiteY4" fmla="*/ 3037114 h 5257800"/>
              <a:gd name="connsiteX5" fmla="*/ 1121228 w 2588635"/>
              <a:gd name="connsiteY5" fmla="*/ 2808514 h 5257800"/>
              <a:gd name="connsiteX6" fmla="*/ 10885 w 2588635"/>
              <a:gd name="connsiteY6" fmla="*/ 2819399 h 5257800"/>
              <a:gd name="connsiteX7" fmla="*/ 0 w 2588635"/>
              <a:gd name="connsiteY7" fmla="*/ 2514600 h 5257800"/>
              <a:gd name="connsiteX8" fmla="*/ 1197428 w 2588635"/>
              <a:gd name="connsiteY8" fmla="*/ 2514600 h 5257800"/>
              <a:gd name="connsiteX9" fmla="*/ 1730828 w 2588635"/>
              <a:gd name="connsiteY9" fmla="*/ 2960914 h 5257800"/>
              <a:gd name="connsiteX10" fmla="*/ 1719943 w 2588635"/>
              <a:gd name="connsiteY10" fmla="*/ 4691743 h 5257800"/>
              <a:gd name="connsiteX11" fmla="*/ 2028826 w 2588635"/>
              <a:gd name="connsiteY11" fmla="*/ 4956400 h 5257800"/>
              <a:gd name="connsiteX12" fmla="*/ 2292123 w 2588635"/>
              <a:gd name="connsiteY12" fmla="*/ 4667250 h 5257800"/>
              <a:gd name="connsiteX13" fmla="*/ 2286000 w 2588635"/>
              <a:gd name="connsiteY13" fmla="*/ 0 h 5257800"/>
              <a:gd name="connsiteX14" fmla="*/ 2588078 w 2588635"/>
              <a:gd name="connsiteY14" fmla="*/ 11565 h 5257800"/>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3082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19943 w 2579914"/>
              <a:gd name="connsiteY10" fmla="*/ 4694465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9878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17322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4265 w 2579914"/>
              <a:gd name="connsiteY0" fmla="*/ 0 h 5260522"/>
              <a:gd name="connsiteX1" fmla="*/ 2579914 w 2579914"/>
              <a:gd name="connsiteY1" fmla="*/ 4640036 h 5260522"/>
              <a:gd name="connsiteX2" fmla="*/ 2013857 w 2579914"/>
              <a:gd name="connsiteY2" fmla="*/ 5260522 h 5260522"/>
              <a:gd name="connsiteX3" fmla="*/ 1436914 w 2579914"/>
              <a:gd name="connsiteY3" fmla="*/ 4716236 h 5260522"/>
              <a:gd name="connsiteX4" fmla="*/ 1426028 w 2579914"/>
              <a:gd name="connsiteY4" fmla="*/ 3039836 h 5260522"/>
              <a:gd name="connsiteX5" fmla="*/ 1121228 w 2579914"/>
              <a:gd name="connsiteY5" fmla="*/ 2811236 h 5260522"/>
              <a:gd name="connsiteX6" fmla="*/ 10885 w 2579914"/>
              <a:gd name="connsiteY6" fmla="*/ 2822121 h 5260522"/>
              <a:gd name="connsiteX7" fmla="*/ 0 w 2579914"/>
              <a:gd name="connsiteY7" fmla="*/ 2517322 h 5260522"/>
              <a:gd name="connsiteX8" fmla="*/ 1197428 w 2579914"/>
              <a:gd name="connsiteY8" fmla="*/ 2541135 h 5260522"/>
              <a:gd name="connsiteX9" fmla="*/ 1745115 w 2579914"/>
              <a:gd name="connsiteY9" fmla="*/ 2963636 h 5260522"/>
              <a:gd name="connsiteX10" fmla="*/ 1743756 w 2579914"/>
              <a:gd name="connsiteY10" fmla="*/ 4699228 h 5260522"/>
              <a:gd name="connsiteX11" fmla="*/ 2028826 w 2579914"/>
              <a:gd name="connsiteY11" fmla="*/ 4959122 h 5260522"/>
              <a:gd name="connsiteX12" fmla="*/ 2292123 w 2579914"/>
              <a:gd name="connsiteY12" fmla="*/ 4669972 h 5260522"/>
              <a:gd name="connsiteX13" fmla="*/ 2286000 w 2579914"/>
              <a:gd name="connsiteY13" fmla="*/ 2722 h 5260522"/>
              <a:gd name="connsiteX14" fmla="*/ 2564265 w 2579914"/>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5648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 name="connsiteX0" fmla="*/ 2572430 w 2588079"/>
              <a:gd name="connsiteY0" fmla="*/ 0 h 5260522"/>
              <a:gd name="connsiteX1" fmla="*/ 2588079 w 2588079"/>
              <a:gd name="connsiteY1" fmla="*/ 4640036 h 5260522"/>
              <a:gd name="connsiteX2" fmla="*/ 2022022 w 2588079"/>
              <a:gd name="connsiteY2" fmla="*/ 5260522 h 5260522"/>
              <a:gd name="connsiteX3" fmla="*/ 1445079 w 2588079"/>
              <a:gd name="connsiteY3" fmla="*/ 4716236 h 5260522"/>
              <a:gd name="connsiteX4" fmla="*/ 1434193 w 2588079"/>
              <a:gd name="connsiteY4" fmla="*/ 3039836 h 5260522"/>
              <a:gd name="connsiteX5" fmla="*/ 1129393 w 2588079"/>
              <a:gd name="connsiteY5" fmla="*/ 2811236 h 5260522"/>
              <a:gd name="connsiteX6" fmla="*/ 0 w 2588079"/>
              <a:gd name="connsiteY6" fmla="*/ 2817359 h 5260522"/>
              <a:gd name="connsiteX7" fmla="*/ 3402 w 2588079"/>
              <a:gd name="connsiteY7" fmla="*/ 2545897 h 5260522"/>
              <a:gd name="connsiteX8" fmla="*/ 1205593 w 2588079"/>
              <a:gd name="connsiteY8" fmla="*/ 2541135 h 5260522"/>
              <a:gd name="connsiteX9" fmla="*/ 1753280 w 2588079"/>
              <a:gd name="connsiteY9" fmla="*/ 2963636 h 5260522"/>
              <a:gd name="connsiteX10" fmla="*/ 1751921 w 2588079"/>
              <a:gd name="connsiteY10" fmla="*/ 4699228 h 5260522"/>
              <a:gd name="connsiteX11" fmla="*/ 2036991 w 2588079"/>
              <a:gd name="connsiteY11" fmla="*/ 4959122 h 5260522"/>
              <a:gd name="connsiteX12" fmla="*/ 2300288 w 2588079"/>
              <a:gd name="connsiteY12" fmla="*/ 4669972 h 5260522"/>
              <a:gd name="connsiteX13" fmla="*/ 2294165 w 2588079"/>
              <a:gd name="connsiteY13" fmla="*/ 2722 h 5260522"/>
              <a:gd name="connsiteX14" fmla="*/ 2572430 w 2588079"/>
              <a:gd name="connsiteY14" fmla="*/ 0 h 5260522"/>
              <a:gd name="connsiteX0" fmla="*/ 2569028 w 2584677"/>
              <a:gd name="connsiteY0" fmla="*/ 0 h 5260522"/>
              <a:gd name="connsiteX1" fmla="*/ 2584677 w 2584677"/>
              <a:gd name="connsiteY1" fmla="*/ 4640036 h 5260522"/>
              <a:gd name="connsiteX2" fmla="*/ 2018620 w 2584677"/>
              <a:gd name="connsiteY2" fmla="*/ 5260522 h 5260522"/>
              <a:gd name="connsiteX3" fmla="*/ 1441677 w 2584677"/>
              <a:gd name="connsiteY3" fmla="*/ 4716236 h 5260522"/>
              <a:gd name="connsiteX4" fmla="*/ 1430791 w 2584677"/>
              <a:gd name="connsiteY4" fmla="*/ 3039836 h 5260522"/>
              <a:gd name="connsiteX5" fmla="*/ 1125991 w 2584677"/>
              <a:gd name="connsiteY5" fmla="*/ 2811236 h 5260522"/>
              <a:gd name="connsiteX6" fmla="*/ 10886 w 2584677"/>
              <a:gd name="connsiteY6" fmla="*/ 2822121 h 5260522"/>
              <a:gd name="connsiteX7" fmla="*/ 0 w 2584677"/>
              <a:gd name="connsiteY7" fmla="*/ 2545897 h 5260522"/>
              <a:gd name="connsiteX8" fmla="*/ 1202191 w 2584677"/>
              <a:gd name="connsiteY8" fmla="*/ 2541135 h 5260522"/>
              <a:gd name="connsiteX9" fmla="*/ 1749878 w 2584677"/>
              <a:gd name="connsiteY9" fmla="*/ 2963636 h 5260522"/>
              <a:gd name="connsiteX10" fmla="*/ 1748519 w 2584677"/>
              <a:gd name="connsiteY10" fmla="*/ 4699228 h 5260522"/>
              <a:gd name="connsiteX11" fmla="*/ 2033589 w 2584677"/>
              <a:gd name="connsiteY11" fmla="*/ 4959122 h 5260522"/>
              <a:gd name="connsiteX12" fmla="*/ 2296886 w 2584677"/>
              <a:gd name="connsiteY12" fmla="*/ 4669972 h 5260522"/>
              <a:gd name="connsiteX13" fmla="*/ 2290763 w 2584677"/>
              <a:gd name="connsiteY13" fmla="*/ 2722 h 5260522"/>
              <a:gd name="connsiteX14" fmla="*/ 2569028 w 2584677"/>
              <a:gd name="connsiteY14" fmla="*/ 0 h 5260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84677" h="5260522">
                <a:moveTo>
                  <a:pt x="2569028" y="0"/>
                </a:moveTo>
                <a:cubicBezTo>
                  <a:pt x="2572657" y="1553029"/>
                  <a:pt x="2581048" y="3087007"/>
                  <a:pt x="2584677" y="4640036"/>
                </a:cubicBezTo>
                <a:cubicBezTo>
                  <a:pt x="2582409" y="4821691"/>
                  <a:pt x="2484892" y="5255079"/>
                  <a:pt x="2018620" y="5260522"/>
                </a:cubicBezTo>
                <a:cubicBezTo>
                  <a:pt x="1612220" y="5243286"/>
                  <a:pt x="1449161" y="4843463"/>
                  <a:pt x="1441677" y="4716236"/>
                </a:cubicBezTo>
                <a:cubicBezTo>
                  <a:pt x="1438048" y="4157436"/>
                  <a:pt x="1434420" y="3598636"/>
                  <a:pt x="1430791" y="3039836"/>
                </a:cubicBezTo>
                <a:cubicBezTo>
                  <a:pt x="1405391" y="2822122"/>
                  <a:pt x="1467077" y="2789465"/>
                  <a:pt x="1125991" y="2811236"/>
                </a:cubicBezTo>
                <a:lnTo>
                  <a:pt x="10886" y="2822121"/>
                </a:lnTo>
                <a:lnTo>
                  <a:pt x="0" y="2545897"/>
                </a:lnTo>
                <a:lnTo>
                  <a:pt x="1202191" y="2541135"/>
                </a:lnTo>
                <a:cubicBezTo>
                  <a:pt x="1599520" y="2561093"/>
                  <a:pt x="1756681" y="2468790"/>
                  <a:pt x="1749878" y="2963636"/>
                </a:cubicBezTo>
                <a:cubicBezTo>
                  <a:pt x="1746250" y="3540579"/>
                  <a:pt x="1752147" y="4122285"/>
                  <a:pt x="1748519" y="4699228"/>
                </a:cubicBezTo>
                <a:cubicBezTo>
                  <a:pt x="1765301" y="4771119"/>
                  <a:pt x="1784125" y="4947784"/>
                  <a:pt x="2033589" y="4959122"/>
                </a:cubicBezTo>
                <a:cubicBezTo>
                  <a:pt x="2252890" y="4946876"/>
                  <a:pt x="2296659" y="4752750"/>
                  <a:pt x="2296886" y="4669972"/>
                </a:cubicBezTo>
                <a:cubicBezTo>
                  <a:pt x="2293258" y="3095172"/>
                  <a:pt x="2294391" y="1577522"/>
                  <a:pt x="2290763" y="2722"/>
                </a:cubicBezTo>
                <a:lnTo>
                  <a:pt x="2569028" y="0"/>
                </a:lnTo>
                <a:close/>
              </a:path>
            </a:pathLst>
          </a:cu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p:nvSpPr>
        <p:spPr>
          <a:xfrm>
            <a:off x="42719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p:cNvSpPr txBox="1"/>
          <p:nvPr/>
        </p:nvSpPr>
        <p:spPr>
          <a:xfrm>
            <a:off x="3738564" y="3812722"/>
            <a:ext cx="324128" cy="369332"/>
          </a:xfrm>
          <a:prstGeom prst="rect">
            <a:avLst/>
          </a:prstGeom>
          <a:noFill/>
        </p:spPr>
        <p:txBody>
          <a:bodyPr wrap="none" rtlCol="0">
            <a:spAutoFit/>
          </a:bodyPr>
          <a:lstStyle/>
          <a:p>
            <a:r>
              <a:rPr lang="en-US" b="1" dirty="0">
                <a:solidFill>
                  <a:srgbClr val="FF0000"/>
                </a:solidFill>
              </a:rPr>
              <a:t>A</a:t>
            </a:r>
          </a:p>
        </p:txBody>
      </p:sp>
      <p:sp>
        <p:nvSpPr>
          <p:cNvPr id="31" name="TextBox 30"/>
          <p:cNvSpPr txBox="1"/>
          <p:nvPr/>
        </p:nvSpPr>
        <p:spPr>
          <a:xfrm>
            <a:off x="4729164" y="3812722"/>
            <a:ext cx="314510" cy="369332"/>
          </a:xfrm>
          <a:prstGeom prst="rect">
            <a:avLst/>
          </a:prstGeom>
          <a:noFill/>
        </p:spPr>
        <p:txBody>
          <a:bodyPr wrap="none" rtlCol="0">
            <a:spAutoFit/>
          </a:bodyPr>
          <a:lstStyle/>
          <a:p>
            <a:r>
              <a:rPr lang="en-US" b="1" dirty="0">
                <a:solidFill>
                  <a:srgbClr val="FF0000"/>
                </a:solidFill>
              </a:rPr>
              <a:t>B</a:t>
            </a:r>
          </a:p>
        </p:txBody>
      </p:sp>
      <p:sp>
        <p:nvSpPr>
          <p:cNvPr id="32" name="Oval 31"/>
          <p:cNvSpPr/>
          <p:nvPr/>
        </p:nvSpPr>
        <p:spPr>
          <a:xfrm>
            <a:off x="5110164" y="3888922"/>
            <a:ext cx="152400" cy="1524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Line 5"/>
          <p:cNvSpPr>
            <a:spLocks noChangeShapeType="1"/>
          </p:cNvSpPr>
          <p:nvPr/>
        </p:nvSpPr>
        <p:spPr bwMode="auto">
          <a:xfrm>
            <a:off x="5262564" y="4041322"/>
            <a:ext cx="457200" cy="533400"/>
          </a:xfrm>
          <a:prstGeom prst="line">
            <a:avLst/>
          </a:prstGeom>
          <a:noFill/>
          <a:ln w="9525">
            <a:solidFill>
              <a:schemeClr val="tx1"/>
            </a:solidFill>
            <a:round/>
            <a:headEnd type="triangle" w="med" len="med"/>
            <a:tailEnd/>
          </a:ln>
        </p:spPr>
        <p:txBody>
          <a:bodyPr/>
          <a:lstStyle/>
          <a:p>
            <a:endParaRPr lang="en-US"/>
          </a:p>
        </p:txBody>
      </p:sp>
      <p:sp>
        <p:nvSpPr>
          <p:cNvPr id="34" name="Text Box 6"/>
          <p:cNvSpPr txBox="1">
            <a:spLocks noChangeArrowheads="1"/>
          </p:cNvSpPr>
          <p:nvPr/>
        </p:nvSpPr>
        <p:spPr bwMode="auto">
          <a:xfrm>
            <a:off x="5719764" y="4498522"/>
            <a:ext cx="394660" cy="369332"/>
          </a:xfrm>
          <a:prstGeom prst="rect">
            <a:avLst/>
          </a:prstGeom>
          <a:noFill/>
          <a:ln w="9525">
            <a:noFill/>
            <a:miter lim="800000"/>
            <a:headEnd/>
            <a:tailEnd/>
          </a:ln>
        </p:spPr>
        <p:txBody>
          <a:bodyPr wrap="none">
            <a:spAutoFit/>
          </a:bodyPr>
          <a:lstStyle/>
          <a:p>
            <a:r>
              <a:rPr lang="en-US" b="1" i="1" dirty="0"/>
              <a:t>P</a:t>
            </a:r>
            <a:r>
              <a:rPr lang="en-US" b="1" i="1" baseline="-25000" dirty="0"/>
              <a:t>B</a:t>
            </a:r>
          </a:p>
        </p:txBody>
      </p:sp>
      <p:sp>
        <p:nvSpPr>
          <p:cNvPr id="35" name="Line 7"/>
          <p:cNvSpPr>
            <a:spLocks noChangeShapeType="1"/>
          </p:cNvSpPr>
          <p:nvPr/>
        </p:nvSpPr>
        <p:spPr bwMode="auto">
          <a:xfrm flipH="1">
            <a:off x="3814764" y="4041322"/>
            <a:ext cx="479425" cy="652462"/>
          </a:xfrm>
          <a:prstGeom prst="line">
            <a:avLst/>
          </a:prstGeom>
          <a:noFill/>
          <a:ln w="9525">
            <a:solidFill>
              <a:schemeClr val="tx1"/>
            </a:solidFill>
            <a:round/>
            <a:headEnd type="triangle" w="med" len="med"/>
            <a:tailEnd/>
          </a:ln>
        </p:spPr>
        <p:txBody>
          <a:bodyPr/>
          <a:lstStyle/>
          <a:p>
            <a:endParaRPr lang="en-US"/>
          </a:p>
        </p:txBody>
      </p:sp>
      <p:sp>
        <p:nvSpPr>
          <p:cNvPr id="36" name="Text Box 8"/>
          <p:cNvSpPr txBox="1">
            <a:spLocks noChangeArrowheads="1"/>
          </p:cNvSpPr>
          <p:nvPr/>
        </p:nvSpPr>
        <p:spPr bwMode="auto">
          <a:xfrm>
            <a:off x="3554414" y="4541384"/>
            <a:ext cx="388120" cy="369332"/>
          </a:xfrm>
          <a:prstGeom prst="rect">
            <a:avLst/>
          </a:prstGeom>
          <a:noFill/>
          <a:ln w="9525">
            <a:noFill/>
            <a:miter lim="800000"/>
            <a:headEnd/>
            <a:tailEnd/>
          </a:ln>
        </p:spPr>
        <p:txBody>
          <a:bodyPr wrap="none">
            <a:spAutoFit/>
          </a:bodyPr>
          <a:lstStyle/>
          <a:p>
            <a:r>
              <a:rPr lang="en-US" b="1" i="1" dirty="0"/>
              <a:t>P</a:t>
            </a:r>
            <a:r>
              <a:rPr lang="en-US" b="1" i="1" baseline="-25000" dirty="0"/>
              <a:t>A</a:t>
            </a:r>
          </a:p>
        </p:txBody>
      </p:sp>
      <p:cxnSp>
        <p:nvCxnSpPr>
          <p:cNvPr id="42" name="Straight Arrow Connector 41"/>
          <p:cNvCxnSpPr/>
          <p:nvPr/>
        </p:nvCxnSpPr>
        <p:spPr>
          <a:xfrm>
            <a:off x="6176964" y="2288722"/>
            <a:ext cx="0" cy="1676400"/>
          </a:xfrm>
          <a:prstGeom prst="straightConnector1">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6024564" y="2898322"/>
            <a:ext cx="447558" cy="369332"/>
          </a:xfrm>
          <a:prstGeom prst="rect">
            <a:avLst/>
          </a:prstGeom>
          <a:solidFill>
            <a:schemeClr val="bg1"/>
          </a:solidFill>
        </p:spPr>
        <p:txBody>
          <a:bodyPr wrap="none" rtlCol="0">
            <a:spAutoFit/>
          </a:bodyPr>
          <a:lstStyle/>
          <a:p>
            <a:r>
              <a:rPr lang="en-US" dirty="0">
                <a:sym typeface="Symbol"/>
              </a:rPr>
              <a:t>h</a:t>
            </a:r>
            <a:endParaRPr lang="en-US" dirty="0"/>
          </a:p>
        </p:txBody>
      </p:sp>
      <p:sp>
        <p:nvSpPr>
          <p:cNvPr id="46" name="Rectangle 45"/>
          <p:cNvSpPr/>
          <p:nvPr/>
        </p:nvSpPr>
        <p:spPr>
          <a:xfrm>
            <a:off x="4724400" y="609600"/>
            <a:ext cx="838200" cy="152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p:cNvSpPr/>
          <p:nvPr/>
        </p:nvSpPr>
        <p:spPr>
          <a:xfrm>
            <a:off x="2514600" y="3124200"/>
            <a:ext cx="381000"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p:cNvSpPr/>
          <p:nvPr/>
        </p:nvSpPr>
        <p:spPr>
          <a:xfrm>
            <a:off x="20574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p:cNvSpPr/>
          <p:nvPr/>
        </p:nvSpPr>
        <p:spPr>
          <a:xfrm>
            <a:off x="1143000" y="152400"/>
            <a:ext cx="914400" cy="6629400"/>
          </a:xfrm>
          <a:prstGeom prst="rect">
            <a:avLst/>
          </a:prstGeom>
          <a:gradFill flip="none" rotWithShape="1">
            <a:gsLst>
              <a:gs pos="0">
                <a:schemeClr val="bg1">
                  <a:lumMod val="50000"/>
                  <a:shade val="30000"/>
                  <a:satMod val="115000"/>
                </a:schemeClr>
              </a:gs>
              <a:gs pos="50000">
                <a:schemeClr val="bg1">
                  <a:lumMod val="50000"/>
                  <a:shade val="67500"/>
                  <a:satMod val="115000"/>
                </a:schemeClr>
              </a:gs>
              <a:gs pos="100000">
                <a:schemeClr val="bg1">
                  <a:lumMod val="50000"/>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9" name="Freeform 48"/>
          <p:cNvSpPr/>
          <p:nvPr/>
        </p:nvSpPr>
        <p:spPr>
          <a:xfrm>
            <a:off x="1132114" y="43543"/>
            <a:ext cx="1872343" cy="370114"/>
          </a:xfrm>
          <a:custGeom>
            <a:avLst/>
            <a:gdLst>
              <a:gd name="connsiteX0" fmla="*/ 0 w 1872343"/>
              <a:gd name="connsiteY0" fmla="*/ 97971 h 370114"/>
              <a:gd name="connsiteX1" fmla="*/ 326572 w 1872343"/>
              <a:gd name="connsiteY1" fmla="*/ 370114 h 370114"/>
              <a:gd name="connsiteX2" fmla="*/ 794657 w 1872343"/>
              <a:gd name="connsiteY2" fmla="*/ 108857 h 370114"/>
              <a:gd name="connsiteX3" fmla="*/ 925286 w 1872343"/>
              <a:gd name="connsiteY3" fmla="*/ 250371 h 370114"/>
              <a:gd name="connsiteX4" fmla="*/ 1153886 w 1872343"/>
              <a:gd name="connsiteY4" fmla="*/ 195943 h 370114"/>
              <a:gd name="connsiteX5" fmla="*/ 1360715 w 1872343"/>
              <a:gd name="connsiteY5" fmla="*/ 315686 h 370114"/>
              <a:gd name="connsiteX6" fmla="*/ 1872343 w 1872343"/>
              <a:gd name="connsiteY6" fmla="*/ 163286 h 370114"/>
              <a:gd name="connsiteX7" fmla="*/ 1839686 w 1872343"/>
              <a:gd name="connsiteY7" fmla="*/ 43543 h 370114"/>
              <a:gd name="connsiteX8" fmla="*/ 43543 w 1872343"/>
              <a:gd name="connsiteY8" fmla="*/ 0 h 370114"/>
              <a:gd name="connsiteX9" fmla="*/ 0 w 1872343"/>
              <a:gd name="connsiteY9" fmla="*/ 97971 h 37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2343" h="370114">
                <a:moveTo>
                  <a:pt x="0" y="97971"/>
                </a:moveTo>
                <a:lnTo>
                  <a:pt x="326572" y="370114"/>
                </a:lnTo>
                <a:lnTo>
                  <a:pt x="794657" y="108857"/>
                </a:lnTo>
                <a:lnTo>
                  <a:pt x="925286" y="250371"/>
                </a:lnTo>
                <a:lnTo>
                  <a:pt x="1153886" y="195943"/>
                </a:lnTo>
                <a:lnTo>
                  <a:pt x="1360715" y="315686"/>
                </a:lnTo>
                <a:lnTo>
                  <a:pt x="1872343" y="163286"/>
                </a:lnTo>
                <a:lnTo>
                  <a:pt x="1839686" y="43543"/>
                </a:lnTo>
                <a:lnTo>
                  <a:pt x="43543" y="0"/>
                </a:lnTo>
                <a:lnTo>
                  <a:pt x="0" y="9797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Freeform 51"/>
          <p:cNvSpPr/>
          <p:nvPr/>
        </p:nvSpPr>
        <p:spPr>
          <a:xfrm flipV="1">
            <a:off x="1143000" y="6553200"/>
            <a:ext cx="1872343" cy="272143"/>
          </a:xfrm>
          <a:custGeom>
            <a:avLst/>
            <a:gdLst>
              <a:gd name="connsiteX0" fmla="*/ 0 w 1872343"/>
              <a:gd name="connsiteY0" fmla="*/ 97971 h 370114"/>
              <a:gd name="connsiteX1" fmla="*/ 326572 w 1872343"/>
              <a:gd name="connsiteY1" fmla="*/ 370114 h 370114"/>
              <a:gd name="connsiteX2" fmla="*/ 794657 w 1872343"/>
              <a:gd name="connsiteY2" fmla="*/ 108857 h 370114"/>
              <a:gd name="connsiteX3" fmla="*/ 925286 w 1872343"/>
              <a:gd name="connsiteY3" fmla="*/ 250371 h 370114"/>
              <a:gd name="connsiteX4" fmla="*/ 1153886 w 1872343"/>
              <a:gd name="connsiteY4" fmla="*/ 195943 h 370114"/>
              <a:gd name="connsiteX5" fmla="*/ 1360715 w 1872343"/>
              <a:gd name="connsiteY5" fmla="*/ 315686 h 370114"/>
              <a:gd name="connsiteX6" fmla="*/ 1872343 w 1872343"/>
              <a:gd name="connsiteY6" fmla="*/ 163286 h 370114"/>
              <a:gd name="connsiteX7" fmla="*/ 1839686 w 1872343"/>
              <a:gd name="connsiteY7" fmla="*/ 43543 h 370114"/>
              <a:gd name="connsiteX8" fmla="*/ 43543 w 1872343"/>
              <a:gd name="connsiteY8" fmla="*/ 0 h 370114"/>
              <a:gd name="connsiteX9" fmla="*/ 0 w 1872343"/>
              <a:gd name="connsiteY9" fmla="*/ 97971 h 3701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2343" h="370114">
                <a:moveTo>
                  <a:pt x="0" y="97971"/>
                </a:moveTo>
                <a:lnTo>
                  <a:pt x="326572" y="370114"/>
                </a:lnTo>
                <a:lnTo>
                  <a:pt x="794657" y="108857"/>
                </a:lnTo>
                <a:lnTo>
                  <a:pt x="925286" y="250371"/>
                </a:lnTo>
                <a:lnTo>
                  <a:pt x="1153886" y="195943"/>
                </a:lnTo>
                <a:lnTo>
                  <a:pt x="1360715" y="315686"/>
                </a:lnTo>
                <a:lnTo>
                  <a:pt x="1872343" y="163286"/>
                </a:lnTo>
                <a:lnTo>
                  <a:pt x="1839686" y="43543"/>
                </a:lnTo>
                <a:lnTo>
                  <a:pt x="43543" y="0"/>
                </a:lnTo>
                <a:lnTo>
                  <a:pt x="0" y="9797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p:cNvSpPr/>
          <p:nvPr/>
        </p:nvSpPr>
        <p:spPr>
          <a:xfrm>
            <a:off x="1295400" y="1752600"/>
            <a:ext cx="1447800" cy="2677656"/>
          </a:xfrm>
          <a:prstGeom prst="rect">
            <a:avLst/>
          </a:prstGeom>
        </p:spPr>
        <p:txBody>
          <a:bodyPr wrap="square">
            <a:spAutoFit/>
          </a:bodyPr>
          <a:lstStyle/>
          <a:p>
            <a:pPr algn="ctr"/>
            <a:r>
              <a:rPr lang="en-US" sz="2400" dirty="0">
                <a:solidFill>
                  <a:schemeClr val="bg1"/>
                </a:solidFill>
              </a:rPr>
              <a:t>Pipe with a higher pressure, </a:t>
            </a:r>
            <a:r>
              <a:rPr lang="en-US" sz="2400" dirty="0" err="1">
                <a:solidFill>
                  <a:schemeClr val="bg1"/>
                </a:solidFill>
              </a:rPr>
              <a:t>P</a:t>
            </a:r>
            <a:r>
              <a:rPr lang="en-US" sz="2400" baseline="-25000" dirty="0" err="1">
                <a:solidFill>
                  <a:schemeClr val="bg1"/>
                </a:solidFill>
              </a:rPr>
              <a:t>pipe</a:t>
            </a:r>
            <a:r>
              <a:rPr lang="en-US" sz="2400" dirty="0">
                <a:solidFill>
                  <a:schemeClr val="bg1"/>
                </a:solidFill>
              </a:rPr>
              <a:t> that we wish to measure</a:t>
            </a:r>
          </a:p>
        </p:txBody>
      </p:sp>
    </p:spTree>
    <p:extLst>
      <p:ext uri="{BB962C8B-B14F-4D97-AF65-F5344CB8AC3E}">
        <p14:creationId xmlns:p14="http://schemas.microsoft.com/office/powerpoint/2010/main" val="11207381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8CE5F-B1E6-4AD2-AF28-FFF3D5F6A79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C118A1B-1C08-4349-B0E7-C692A4322B59}"/>
              </a:ext>
            </a:extLst>
          </p:cNvPr>
          <p:cNvSpPr>
            <a:spLocks noGrp="1"/>
          </p:cNvSpPr>
          <p:nvPr>
            <p:ph idx="1"/>
          </p:nvPr>
        </p:nvSpPr>
        <p:spPr/>
        <p:txBody>
          <a:bodyPr/>
          <a:lstStyle/>
          <a:p>
            <a:endParaRPr lang="en-US"/>
          </a:p>
        </p:txBody>
      </p:sp>
      <p:grpSp>
        <p:nvGrpSpPr>
          <p:cNvPr id="4" name="Group 22">
            <a:extLst>
              <a:ext uri="{FF2B5EF4-FFF2-40B4-BE49-F238E27FC236}">
                <a16:creationId xmlns:a16="http://schemas.microsoft.com/office/drawing/2014/main" id="{41C0E9E7-933F-4992-B8FB-A2863DD138AD}"/>
              </a:ext>
            </a:extLst>
          </p:cNvPr>
          <p:cNvGrpSpPr>
            <a:grpSpLocks/>
          </p:cNvGrpSpPr>
          <p:nvPr/>
        </p:nvGrpSpPr>
        <p:grpSpPr bwMode="auto">
          <a:xfrm>
            <a:off x="4324350" y="2506663"/>
            <a:ext cx="4195763" cy="3154362"/>
            <a:chOff x="2724" y="1579"/>
            <a:chExt cx="2643" cy="1987"/>
          </a:xfrm>
        </p:grpSpPr>
        <p:grpSp>
          <p:nvGrpSpPr>
            <p:cNvPr id="5" name="Group 5">
              <a:extLst>
                <a:ext uri="{FF2B5EF4-FFF2-40B4-BE49-F238E27FC236}">
                  <a16:creationId xmlns:a16="http://schemas.microsoft.com/office/drawing/2014/main" id="{CE42E28B-50B9-47F8-B8AD-56C172A6E561}"/>
                </a:ext>
              </a:extLst>
            </p:cNvPr>
            <p:cNvGrpSpPr>
              <a:grpSpLocks/>
            </p:cNvGrpSpPr>
            <p:nvPr/>
          </p:nvGrpSpPr>
          <p:grpSpPr bwMode="auto">
            <a:xfrm>
              <a:off x="3941" y="1579"/>
              <a:ext cx="1426" cy="1987"/>
              <a:chOff x="3593" y="1643"/>
              <a:chExt cx="1426" cy="1987"/>
            </a:xfrm>
          </p:grpSpPr>
          <p:sp>
            <p:nvSpPr>
              <p:cNvPr id="13" name="Freeform 6">
                <a:extLst>
                  <a:ext uri="{FF2B5EF4-FFF2-40B4-BE49-F238E27FC236}">
                    <a16:creationId xmlns:a16="http://schemas.microsoft.com/office/drawing/2014/main" id="{E57141F2-93C3-4035-9137-B0C6385FE751}"/>
                  </a:ext>
                </a:extLst>
              </p:cNvPr>
              <p:cNvSpPr>
                <a:spLocks/>
              </p:cNvSpPr>
              <p:nvPr/>
            </p:nvSpPr>
            <p:spPr bwMode="auto">
              <a:xfrm>
                <a:off x="3707" y="1643"/>
                <a:ext cx="1297" cy="91"/>
              </a:xfrm>
              <a:custGeom>
                <a:avLst/>
                <a:gdLst>
                  <a:gd name="T0" fmla="*/ 0 w 1426"/>
                  <a:gd name="T1" fmla="*/ 16 h 100"/>
                  <a:gd name="T2" fmla="*/ 25 w 1426"/>
                  <a:gd name="T3" fmla="*/ 14 h 100"/>
                  <a:gd name="T4" fmla="*/ 46 w 1426"/>
                  <a:gd name="T5" fmla="*/ 5 h 100"/>
                  <a:gd name="T6" fmla="*/ 61 w 1426"/>
                  <a:gd name="T7" fmla="*/ 12 h 100"/>
                  <a:gd name="T8" fmla="*/ 87 w 1426"/>
                  <a:gd name="T9" fmla="*/ 14 h 100"/>
                  <a:gd name="T10" fmla="*/ 111 w 1426"/>
                  <a:gd name="T11" fmla="*/ 6 h 100"/>
                  <a:gd name="T12" fmla="*/ 125 w 1426"/>
                  <a:gd name="T13" fmla="*/ 0 h 100"/>
                  <a:gd name="T14" fmla="*/ 141 w 1426"/>
                  <a:gd name="T15" fmla="*/ 8 h 100"/>
                  <a:gd name="T16" fmla="*/ 169 w 1426"/>
                  <a:gd name="T17" fmla="*/ 12 h 100"/>
                  <a:gd name="T18" fmla="*/ 193 w 1426"/>
                  <a:gd name="T19" fmla="*/ 14 h 100"/>
                  <a:gd name="T20" fmla="*/ 210 w 1426"/>
                  <a:gd name="T21" fmla="*/ 6 h 100"/>
                  <a:gd name="T22" fmla="*/ 229 w 1426"/>
                  <a:gd name="T23" fmla="*/ 12 h 100"/>
                  <a:gd name="T24" fmla="*/ 259 w 1426"/>
                  <a:gd name="T25" fmla="*/ 18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14" name="Rectangle 7">
                <a:extLst>
                  <a:ext uri="{FF2B5EF4-FFF2-40B4-BE49-F238E27FC236}">
                    <a16:creationId xmlns:a16="http://schemas.microsoft.com/office/drawing/2014/main" id="{084A998D-9778-44CA-A5AC-7A7756B8C26B}"/>
                  </a:ext>
                </a:extLst>
              </p:cNvPr>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15" name="Freeform 8">
                <a:extLst>
                  <a:ext uri="{FF2B5EF4-FFF2-40B4-BE49-F238E27FC236}">
                    <a16:creationId xmlns:a16="http://schemas.microsoft.com/office/drawing/2014/main" id="{4FA795AD-850E-4DB7-8D28-173305C80C9F}"/>
                  </a:ext>
                </a:extLst>
              </p:cNvPr>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16" name="Oval 9">
                <a:extLst>
                  <a:ext uri="{FF2B5EF4-FFF2-40B4-BE49-F238E27FC236}">
                    <a16:creationId xmlns:a16="http://schemas.microsoft.com/office/drawing/2014/main" id="{AF44714E-671A-4885-938F-761616A30EBF}"/>
                  </a:ext>
                </a:extLst>
              </p:cNvPr>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grpSp>
        <p:grpSp>
          <p:nvGrpSpPr>
            <p:cNvPr id="6" name="Group 15">
              <a:extLst>
                <a:ext uri="{FF2B5EF4-FFF2-40B4-BE49-F238E27FC236}">
                  <a16:creationId xmlns:a16="http://schemas.microsoft.com/office/drawing/2014/main" id="{CE9E22A1-D265-40F2-BCD3-3CDBA4E4C478}"/>
                </a:ext>
              </a:extLst>
            </p:cNvPr>
            <p:cNvGrpSpPr>
              <a:grpSpLocks/>
            </p:cNvGrpSpPr>
            <p:nvPr/>
          </p:nvGrpSpPr>
          <p:grpSpPr bwMode="auto">
            <a:xfrm rot="1590330">
              <a:off x="2724" y="2134"/>
              <a:ext cx="878" cy="860"/>
              <a:chOff x="2213" y="2234"/>
              <a:chExt cx="878" cy="860"/>
            </a:xfrm>
          </p:grpSpPr>
          <p:sp>
            <p:nvSpPr>
              <p:cNvPr id="8" name="Oval 16">
                <a:extLst>
                  <a:ext uri="{FF2B5EF4-FFF2-40B4-BE49-F238E27FC236}">
                    <a16:creationId xmlns:a16="http://schemas.microsoft.com/office/drawing/2014/main" id="{6790976F-79D3-4430-9660-0AC9143B049E}"/>
                  </a:ext>
                </a:extLst>
              </p:cNvPr>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9" name="Arc 17">
                <a:extLst>
                  <a:ext uri="{FF2B5EF4-FFF2-40B4-BE49-F238E27FC236}">
                    <a16:creationId xmlns:a16="http://schemas.microsoft.com/office/drawing/2014/main" id="{6151F2C8-EF2E-4F5A-9E72-A9F514F32705}"/>
                  </a:ext>
                </a:extLst>
              </p:cNvPr>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10" name="Arc 18">
                <a:extLst>
                  <a:ext uri="{FF2B5EF4-FFF2-40B4-BE49-F238E27FC236}">
                    <a16:creationId xmlns:a16="http://schemas.microsoft.com/office/drawing/2014/main" id="{C0C7E643-04C4-4811-81C6-0C0FD5B278C5}"/>
                  </a:ext>
                </a:extLst>
              </p:cNvPr>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11" name="Arc 19">
                <a:extLst>
                  <a:ext uri="{FF2B5EF4-FFF2-40B4-BE49-F238E27FC236}">
                    <a16:creationId xmlns:a16="http://schemas.microsoft.com/office/drawing/2014/main" id="{6757E5E1-68B8-40D5-A5F1-C7B07A695130}"/>
                  </a:ext>
                </a:extLst>
              </p:cNvPr>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12" name="Arc 20">
                <a:extLst>
                  <a:ext uri="{FF2B5EF4-FFF2-40B4-BE49-F238E27FC236}">
                    <a16:creationId xmlns:a16="http://schemas.microsoft.com/office/drawing/2014/main" id="{42C52354-7CF2-47A6-AECC-53FD047E873A}"/>
                  </a:ext>
                </a:extLst>
              </p:cNvPr>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grpSp>
    </p:spTree>
    <p:extLst>
      <p:ext uri="{BB962C8B-B14F-4D97-AF65-F5344CB8AC3E}">
        <p14:creationId xmlns:p14="http://schemas.microsoft.com/office/powerpoint/2010/main" val="36490274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Number Placeholder 5"/>
          <p:cNvSpPr>
            <a:spLocks noGrp="1"/>
          </p:cNvSpPr>
          <p:nvPr>
            <p:ph type="sldNum" sz="quarter" idx="12"/>
          </p:nvPr>
        </p:nvSpPr>
        <p:spPr>
          <a:noFill/>
        </p:spPr>
        <p:txBody>
          <a:bodyPr/>
          <a:lstStyle/>
          <a:p>
            <a:fld id="{C978C71E-AA26-478B-B209-4928651CB094}" type="slidenum">
              <a:rPr lang="en-US" smtClean="0"/>
              <a:pPr/>
              <a:t>41</a:t>
            </a:fld>
            <a:endParaRPr lang="en-US"/>
          </a:p>
        </p:txBody>
      </p:sp>
      <p:sp>
        <p:nvSpPr>
          <p:cNvPr id="52227" name="Rectangle 2"/>
          <p:cNvSpPr>
            <a:spLocks noGrp="1" noChangeArrowheads="1"/>
          </p:cNvSpPr>
          <p:nvPr>
            <p:ph type="title"/>
          </p:nvPr>
        </p:nvSpPr>
        <p:spPr/>
        <p:txBody>
          <a:bodyPr/>
          <a:lstStyle/>
          <a:p>
            <a:pPr eaLnBrk="1" hangingPunct="1"/>
            <a:r>
              <a:rPr lang="en-US"/>
              <a:t>Question 123.5.3</a:t>
            </a:r>
          </a:p>
        </p:txBody>
      </p:sp>
      <p:sp>
        <p:nvSpPr>
          <p:cNvPr id="52228" name="Rectangle 3"/>
          <p:cNvSpPr>
            <a:spLocks noChangeArrowheads="1"/>
          </p:cNvSpPr>
          <p:nvPr/>
        </p:nvSpPr>
        <p:spPr bwMode="auto">
          <a:xfrm>
            <a:off x="485775" y="1600200"/>
            <a:ext cx="3759200" cy="4525963"/>
          </a:xfrm>
          <a:prstGeom prst="rect">
            <a:avLst/>
          </a:prstGeom>
          <a:noFill/>
          <a:ln w="9525">
            <a:noFill/>
            <a:miter lim="800000"/>
            <a:headEnd/>
            <a:tailEnd/>
          </a:ln>
        </p:spPr>
        <p:txBody>
          <a:bodyPr/>
          <a:lstStyle/>
          <a:p>
            <a:pPr marL="609600" indent="-609600">
              <a:lnSpc>
                <a:spcPct val="90000"/>
              </a:lnSpc>
              <a:spcBef>
                <a:spcPct val="20000"/>
              </a:spcBef>
            </a:pPr>
            <a:r>
              <a:rPr lang="en-US" sz="2000"/>
              <a:t>Take a beach ball sized parcel of water.  What happens if we replace the parcel with the beach ball?</a:t>
            </a:r>
          </a:p>
          <a:p>
            <a:pPr marL="990600" lvl="1" indent="-533400">
              <a:lnSpc>
                <a:spcPct val="90000"/>
              </a:lnSpc>
              <a:spcBef>
                <a:spcPct val="20000"/>
              </a:spcBef>
              <a:buFontTx/>
              <a:buAutoNum type="alphaLcParenR"/>
            </a:pPr>
            <a:r>
              <a:rPr lang="en-US"/>
              <a:t>The ball will rise because it is less dense than the water</a:t>
            </a:r>
          </a:p>
          <a:p>
            <a:pPr marL="990600" lvl="1" indent="-533400">
              <a:lnSpc>
                <a:spcPct val="90000"/>
              </a:lnSpc>
              <a:spcBef>
                <a:spcPct val="20000"/>
              </a:spcBef>
              <a:buFontTx/>
              <a:buAutoNum type="alphaLcParenR"/>
            </a:pPr>
            <a:r>
              <a:rPr lang="en-US"/>
              <a:t>The ball will rise because the buoyant force will be larger for the beach ball</a:t>
            </a:r>
          </a:p>
          <a:p>
            <a:pPr marL="990600" lvl="1" indent="-533400">
              <a:lnSpc>
                <a:spcPct val="90000"/>
              </a:lnSpc>
              <a:spcBef>
                <a:spcPct val="20000"/>
              </a:spcBef>
              <a:buFontTx/>
              <a:buAutoNum type="alphaLcParenR"/>
            </a:pPr>
            <a:r>
              <a:rPr lang="en-US"/>
              <a:t>The ball will rise because it’s surface area will be different than the parcel of water</a:t>
            </a:r>
          </a:p>
        </p:txBody>
      </p:sp>
      <p:grpSp>
        <p:nvGrpSpPr>
          <p:cNvPr id="52229" name="Group 22"/>
          <p:cNvGrpSpPr>
            <a:grpSpLocks/>
          </p:cNvGrpSpPr>
          <p:nvPr/>
        </p:nvGrpSpPr>
        <p:grpSpPr bwMode="auto">
          <a:xfrm>
            <a:off x="4324350" y="2506663"/>
            <a:ext cx="4195763" cy="3154362"/>
            <a:chOff x="2724" y="1579"/>
            <a:chExt cx="2643" cy="1987"/>
          </a:xfrm>
        </p:grpSpPr>
        <p:grpSp>
          <p:nvGrpSpPr>
            <p:cNvPr id="52230" name="Group 5"/>
            <p:cNvGrpSpPr>
              <a:grpSpLocks/>
            </p:cNvGrpSpPr>
            <p:nvPr/>
          </p:nvGrpSpPr>
          <p:grpSpPr bwMode="auto">
            <a:xfrm>
              <a:off x="3941" y="1579"/>
              <a:ext cx="1426" cy="1987"/>
              <a:chOff x="3593" y="1643"/>
              <a:chExt cx="1426" cy="1987"/>
            </a:xfrm>
          </p:grpSpPr>
          <p:sp>
            <p:nvSpPr>
              <p:cNvPr id="52238" name="Freeform 6"/>
              <p:cNvSpPr>
                <a:spLocks/>
              </p:cNvSpPr>
              <p:nvPr/>
            </p:nvSpPr>
            <p:spPr bwMode="auto">
              <a:xfrm>
                <a:off x="3707" y="1643"/>
                <a:ext cx="1297" cy="91"/>
              </a:xfrm>
              <a:custGeom>
                <a:avLst/>
                <a:gdLst>
                  <a:gd name="T0" fmla="*/ 0 w 1426"/>
                  <a:gd name="T1" fmla="*/ 16 h 100"/>
                  <a:gd name="T2" fmla="*/ 25 w 1426"/>
                  <a:gd name="T3" fmla="*/ 14 h 100"/>
                  <a:gd name="T4" fmla="*/ 46 w 1426"/>
                  <a:gd name="T5" fmla="*/ 5 h 100"/>
                  <a:gd name="T6" fmla="*/ 61 w 1426"/>
                  <a:gd name="T7" fmla="*/ 12 h 100"/>
                  <a:gd name="T8" fmla="*/ 87 w 1426"/>
                  <a:gd name="T9" fmla="*/ 14 h 100"/>
                  <a:gd name="T10" fmla="*/ 111 w 1426"/>
                  <a:gd name="T11" fmla="*/ 6 h 100"/>
                  <a:gd name="T12" fmla="*/ 125 w 1426"/>
                  <a:gd name="T13" fmla="*/ 0 h 100"/>
                  <a:gd name="T14" fmla="*/ 141 w 1426"/>
                  <a:gd name="T15" fmla="*/ 8 h 100"/>
                  <a:gd name="T16" fmla="*/ 169 w 1426"/>
                  <a:gd name="T17" fmla="*/ 12 h 100"/>
                  <a:gd name="T18" fmla="*/ 193 w 1426"/>
                  <a:gd name="T19" fmla="*/ 14 h 100"/>
                  <a:gd name="T20" fmla="*/ 210 w 1426"/>
                  <a:gd name="T21" fmla="*/ 6 h 100"/>
                  <a:gd name="T22" fmla="*/ 229 w 1426"/>
                  <a:gd name="T23" fmla="*/ 12 h 100"/>
                  <a:gd name="T24" fmla="*/ 259 w 1426"/>
                  <a:gd name="T25" fmla="*/ 18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52239" name="Rectangle 7"/>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52240" name="Freeform 8"/>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52241" name="Oval 9"/>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sp>
            <p:nvSpPr>
              <p:cNvPr id="52242" name="Oval 10"/>
              <p:cNvSpPr>
                <a:spLocks noChangeArrowheads="1"/>
              </p:cNvSpPr>
              <p:nvPr/>
            </p:nvSpPr>
            <p:spPr bwMode="auto">
              <a:xfrm>
                <a:off x="4264" y="2560"/>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52243" name="Line 11"/>
              <p:cNvSpPr>
                <a:spLocks noChangeShapeType="1"/>
              </p:cNvSpPr>
              <p:nvPr/>
            </p:nvSpPr>
            <p:spPr bwMode="auto">
              <a:xfrm flipH="1">
                <a:off x="4288" y="2606"/>
                <a:ext cx="0" cy="265"/>
              </a:xfrm>
              <a:prstGeom prst="line">
                <a:avLst/>
              </a:prstGeom>
              <a:noFill/>
              <a:ln w="25400">
                <a:solidFill>
                  <a:schemeClr val="tx2">
                    <a:lumMod val="50000"/>
                  </a:schemeClr>
                </a:solidFill>
                <a:round/>
                <a:headEnd/>
                <a:tailEnd type="triangle" w="med" len="med"/>
              </a:ln>
            </p:spPr>
            <p:txBody>
              <a:bodyPr/>
              <a:lstStyle/>
              <a:p>
                <a:endParaRPr lang="en-US"/>
              </a:p>
            </p:txBody>
          </p:sp>
          <p:sp>
            <p:nvSpPr>
              <p:cNvPr id="52244" name="Line 12"/>
              <p:cNvSpPr>
                <a:spLocks noChangeShapeType="1"/>
              </p:cNvSpPr>
              <p:nvPr/>
            </p:nvSpPr>
            <p:spPr bwMode="auto">
              <a:xfrm flipH="1" flipV="1">
                <a:off x="4284" y="2263"/>
                <a:ext cx="0" cy="311"/>
              </a:xfrm>
              <a:prstGeom prst="line">
                <a:avLst/>
              </a:prstGeom>
              <a:noFill/>
              <a:ln w="25400">
                <a:solidFill>
                  <a:schemeClr val="tx2">
                    <a:lumMod val="50000"/>
                  </a:schemeClr>
                </a:solidFill>
                <a:round/>
                <a:headEnd/>
                <a:tailEnd type="triangle" w="med" len="med"/>
              </a:ln>
            </p:spPr>
            <p:txBody>
              <a:bodyPr/>
              <a:lstStyle/>
              <a:p>
                <a:endParaRPr lang="en-US"/>
              </a:p>
            </p:txBody>
          </p:sp>
          <p:sp>
            <p:nvSpPr>
              <p:cNvPr id="52245" name="Text Box 13"/>
              <p:cNvSpPr txBox="1">
                <a:spLocks noChangeArrowheads="1"/>
              </p:cNvSpPr>
              <p:nvPr/>
            </p:nvSpPr>
            <p:spPr bwMode="auto">
              <a:xfrm>
                <a:off x="4322" y="2665"/>
                <a:ext cx="257" cy="231"/>
              </a:xfrm>
              <a:prstGeom prst="rect">
                <a:avLst/>
              </a:prstGeom>
              <a:noFill/>
              <a:ln w="9525">
                <a:noFill/>
                <a:miter lim="800000"/>
                <a:headEnd/>
                <a:tailEnd/>
              </a:ln>
            </p:spPr>
            <p:txBody>
              <a:bodyPr>
                <a:spAutoFit/>
              </a:bodyPr>
              <a:lstStyle/>
              <a:p>
                <a:r>
                  <a:rPr lang="en-US" b="1"/>
                  <a:t>F</a:t>
                </a:r>
                <a:r>
                  <a:rPr lang="en-US" i="1" baseline="-25000"/>
                  <a:t>g</a:t>
                </a:r>
              </a:p>
            </p:txBody>
          </p:sp>
          <p:sp>
            <p:nvSpPr>
              <p:cNvPr id="52246" name="Text Box 14"/>
              <p:cNvSpPr txBox="1">
                <a:spLocks noChangeArrowheads="1"/>
              </p:cNvSpPr>
              <p:nvPr/>
            </p:nvSpPr>
            <p:spPr bwMode="auto">
              <a:xfrm>
                <a:off x="4354" y="2285"/>
                <a:ext cx="257" cy="231"/>
              </a:xfrm>
              <a:prstGeom prst="rect">
                <a:avLst/>
              </a:prstGeom>
              <a:noFill/>
              <a:ln w="9525">
                <a:noFill/>
                <a:miter lim="800000"/>
                <a:headEnd/>
                <a:tailEnd/>
              </a:ln>
            </p:spPr>
            <p:txBody>
              <a:bodyPr>
                <a:spAutoFit/>
              </a:bodyPr>
              <a:lstStyle/>
              <a:p>
                <a:r>
                  <a:rPr lang="en-US" b="1"/>
                  <a:t>B</a:t>
                </a:r>
                <a:endParaRPr lang="en-US" b="1" baseline="-25000"/>
              </a:p>
            </p:txBody>
          </p:sp>
        </p:grpSp>
        <p:grpSp>
          <p:nvGrpSpPr>
            <p:cNvPr id="52231" name="Group 15"/>
            <p:cNvGrpSpPr>
              <a:grpSpLocks/>
            </p:cNvGrpSpPr>
            <p:nvPr/>
          </p:nvGrpSpPr>
          <p:grpSpPr bwMode="auto">
            <a:xfrm rot="1590330">
              <a:off x="2724" y="2134"/>
              <a:ext cx="878" cy="860"/>
              <a:chOff x="2213" y="2234"/>
              <a:chExt cx="878" cy="860"/>
            </a:xfrm>
          </p:grpSpPr>
          <p:sp>
            <p:nvSpPr>
              <p:cNvPr id="52233" name="Oval 16"/>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52234" name="Arc 17"/>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5" name="Arc 18"/>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52236" name="Arc 19"/>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7" name="Arc 20"/>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sp>
          <p:nvSpPr>
            <p:cNvPr id="52232" name="AutoShape 21"/>
            <p:cNvSpPr>
              <a:spLocks noChangeArrowheads="1"/>
            </p:cNvSpPr>
            <p:nvPr/>
          </p:nvSpPr>
          <p:spPr bwMode="auto">
            <a:xfrm>
              <a:off x="3675" y="2450"/>
              <a:ext cx="613" cy="275"/>
            </a:xfrm>
            <a:prstGeom prst="rightArrow">
              <a:avLst>
                <a:gd name="adj1" fmla="val 50000"/>
                <a:gd name="adj2" fmla="val 55727"/>
              </a:avLst>
            </a:prstGeom>
            <a:solidFill>
              <a:schemeClr val="accent1"/>
            </a:solidFill>
            <a:ln w="9525">
              <a:solidFill>
                <a:schemeClr val="tx1"/>
              </a:solidFill>
              <a:miter lim="800000"/>
              <a:headEnd/>
              <a:tailEnd/>
            </a:ln>
          </p:spPr>
          <p:txBody>
            <a:bodyPr wrap="none" anchor="ctr"/>
            <a:lstStyle/>
            <a:p>
              <a:endParaRPr lang="en-US"/>
            </a:p>
          </p:txBody>
        </p:sp>
      </p:grpSp>
    </p:spTree>
    <p:extLst>
      <p:ext uri="{BB962C8B-B14F-4D97-AF65-F5344CB8AC3E}">
        <p14:creationId xmlns:p14="http://schemas.microsoft.com/office/powerpoint/2010/main" val="36060808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Number Placeholder 5"/>
          <p:cNvSpPr>
            <a:spLocks noGrp="1"/>
          </p:cNvSpPr>
          <p:nvPr>
            <p:ph type="sldNum" sz="quarter" idx="12"/>
          </p:nvPr>
        </p:nvSpPr>
        <p:spPr>
          <a:noFill/>
        </p:spPr>
        <p:txBody>
          <a:bodyPr/>
          <a:lstStyle/>
          <a:p>
            <a:fld id="{C978C71E-AA26-478B-B209-4928651CB094}" type="slidenum">
              <a:rPr lang="en-US" smtClean="0"/>
              <a:pPr/>
              <a:t>42</a:t>
            </a:fld>
            <a:endParaRPr lang="en-US"/>
          </a:p>
        </p:txBody>
      </p:sp>
      <p:sp>
        <p:nvSpPr>
          <p:cNvPr id="52227" name="Rectangle 2"/>
          <p:cNvSpPr>
            <a:spLocks noGrp="1" noChangeArrowheads="1"/>
          </p:cNvSpPr>
          <p:nvPr>
            <p:ph type="title"/>
          </p:nvPr>
        </p:nvSpPr>
        <p:spPr/>
        <p:txBody>
          <a:bodyPr/>
          <a:lstStyle/>
          <a:p>
            <a:pPr eaLnBrk="1" hangingPunct="1"/>
            <a:r>
              <a:rPr lang="en-US" dirty="0"/>
              <a:t>Question 123.5.3.5</a:t>
            </a:r>
          </a:p>
        </p:txBody>
      </p:sp>
      <p:sp>
        <p:nvSpPr>
          <p:cNvPr id="52228" name="Rectangle 3"/>
          <p:cNvSpPr>
            <a:spLocks noChangeArrowheads="1"/>
          </p:cNvSpPr>
          <p:nvPr/>
        </p:nvSpPr>
        <p:spPr bwMode="auto">
          <a:xfrm>
            <a:off x="485774" y="1600200"/>
            <a:ext cx="5305426" cy="4525963"/>
          </a:xfrm>
          <a:prstGeom prst="rect">
            <a:avLst/>
          </a:prstGeom>
          <a:noFill/>
          <a:ln w="9525">
            <a:noFill/>
            <a:miter lim="800000"/>
            <a:headEnd/>
            <a:tailEnd/>
          </a:ln>
        </p:spPr>
        <p:txBody>
          <a:bodyPr/>
          <a:lstStyle/>
          <a:p>
            <a:pPr marL="609600" indent="-609600">
              <a:lnSpc>
                <a:spcPct val="90000"/>
              </a:lnSpc>
              <a:spcBef>
                <a:spcPct val="20000"/>
              </a:spcBef>
            </a:pPr>
            <a:r>
              <a:rPr lang="en-US" sz="2800" dirty="0"/>
              <a:t>We say that there is a buoyant force acting on the beach ball. What is the buoyant force?</a:t>
            </a:r>
          </a:p>
          <a:p>
            <a:pPr marL="990600" lvl="1" indent="-533400">
              <a:lnSpc>
                <a:spcPct val="90000"/>
              </a:lnSpc>
              <a:spcBef>
                <a:spcPct val="20000"/>
              </a:spcBef>
              <a:buFontTx/>
              <a:buAutoNum type="alphaLcParenR"/>
            </a:pPr>
            <a:r>
              <a:rPr lang="en-US" sz="2400" dirty="0"/>
              <a:t>It is the net force on the beach ball</a:t>
            </a:r>
          </a:p>
          <a:p>
            <a:pPr marL="990600" lvl="1" indent="-533400">
              <a:lnSpc>
                <a:spcPct val="90000"/>
              </a:lnSpc>
              <a:spcBef>
                <a:spcPct val="20000"/>
              </a:spcBef>
              <a:buFontTx/>
              <a:buAutoNum type="alphaLcParenR"/>
            </a:pPr>
            <a:r>
              <a:rPr lang="en-US" sz="2400" dirty="0"/>
              <a:t>It is the net force due to the water pressure acting on the beach ball</a:t>
            </a:r>
          </a:p>
          <a:p>
            <a:pPr marL="990600" lvl="1" indent="-533400">
              <a:lnSpc>
                <a:spcPct val="90000"/>
              </a:lnSpc>
              <a:spcBef>
                <a:spcPct val="20000"/>
              </a:spcBef>
              <a:buFontTx/>
              <a:buAutoNum type="alphaLcParenR"/>
            </a:pPr>
            <a:r>
              <a:rPr lang="en-US" sz="2400" dirty="0"/>
              <a:t>It is a force that makes things float at the surface</a:t>
            </a:r>
          </a:p>
          <a:p>
            <a:pPr marL="990600" lvl="1" indent="-533400">
              <a:lnSpc>
                <a:spcPct val="90000"/>
              </a:lnSpc>
              <a:spcBef>
                <a:spcPct val="20000"/>
              </a:spcBef>
              <a:buFontTx/>
              <a:buAutoNum type="alphaLcParenR"/>
            </a:pPr>
            <a:r>
              <a:rPr lang="en-US" sz="2400" dirty="0"/>
              <a:t>50</a:t>
            </a:r>
          </a:p>
        </p:txBody>
      </p:sp>
      <p:sp>
        <p:nvSpPr>
          <p:cNvPr id="52238" name="Freeform 6"/>
          <p:cNvSpPr>
            <a:spLocks/>
          </p:cNvSpPr>
          <p:nvPr/>
        </p:nvSpPr>
        <p:spPr bwMode="auto">
          <a:xfrm>
            <a:off x="6756627" y="2434092"/>
            <a:ext cx="2058988" cy="144462"/>
          </a:xfrm>
          <a:custGeom>
            <a:avLst/>
            <a:gdLst>
              <a:gd name="T0" fmla="*/ 0 w 1426"/>
              <a:gd name="T1" fmla="*/ 16 h 100"/>
              <a:gd name="T2" fmla="*/ 25 w 1426"/>
              <a:gd name="T3" fmla="*/ 14 h 100"/>
              <a:gd name="T4" fmla="*/ 46 w 1426"/>
              <a:gd name="T5" fmla="*/ 5 h 100"/>
              <a:gd name="T6" fmla="*/ 61 w 1426"/>
              <a:gd name="T7" fmla="*/ 12 h 100"/>
              <a:gd name="T8" fmla="*/ 87 w 1426"/>
              <a:gd name="T9" fmla="*/ 14 h 100"/>
              <a:gd name="T10" fmla="*/ 111 w 1426"/>
              <a:gd name="T11" fmla="*/ 6 h 100"/>
              <a:gd name="T12" fmla="*/ 125 w 1426"/>
              <a:gd name="T13" fmla="*/ 0 h 100"/>
              <a:gd name="T14" fmla="*/ 141 w 1426"/>
              <a:gd name="T15" fmla="*/ 8 h 100"/>
              <a:gd name="T16" fmla="*/ 169 w 1426"/>
              <a:gd name="T17" fmla="*/ 12 h 100"/>
              <a:gd name="T18" fmla="*/ 193 w 1426"/>
              <a:gd name="T19" fmla="*/ 14 h 100"/>
              <a:gd name="T20" fmla="*/ 210 w 1426"/>
              <a:gd name="T21" fmla="*/ 6 h 100"/>
              <a:gd name="T22" fmla="*/ 229 w 1426"/>
              <a:gd name="T23" fmla="*/ 12 h 100"/>
              <a:gd name="T24" fmla="*/ 259 w 1426"/>
              <a:gd name="T25" fmla="*/ 18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52239" name="Rectangle 7"/>
          <p:cNvSpPr>
            <a:spLocks noChangeArrowheads="1"/>
          </p:cNvSpPr>
          <p:nvPr/>
        </p:nvSpPr>
        <p:spPr bwMode="auto">
          <a:xfrm>
            <a:off x="6589940" y="2569029"/>
            <a:ext cx="2220913" cy="3019425"/>
          </a:xfrm>
          <a:prstGeom prst="rect">
            <a:avLst/>
          </a:prstGeom>
          <a:solidFill>
            <a:schemeClr val="accent1"/>
          </a:solidFill>
          <a:ln w="9525">
            <a:noFill/>
            <a:miter lim="800000"/>
            <a:headEnd/>
            <a:tailEnd/>
          </a:ln>
        </p:spPr>
        <p:txBody>
          <a:bodyPr wrap="none" anchor="ctr"/>
          <a:lstStyle/>
          <a:p>
            <a:endParaRPr lang="en-US"/>
          </a:p>
        </p:txBody>
      </p:sp>
      <p:sp>
        <p:nvSpPr>
          <p:cNvPr id="52240" name="Freeform 8"/>
          <p:cNvSpPr>
            <a:spLocks/>
          </p:cNvSpPr>
          <p:nvPr/>
        </p:nvSpPr>
        <p:spPr bwMode="auto">
          <a:xfrm>
            <a:off x="6575652" y="2438854"/>
            <a:ext cx="2263775" cy="15875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grpSp>
        <p:nvGrpSpPr>
          <p:cNvPr id="52231" name="Group 15"/>
          <p:cNvGrpSpPr>
            <a:grpSpLocks/>
          </p:cNvGrpSpPr>
          <p:nvPr/>
        </p:nvGrpSpPr>
        <p:grpSpPr bwMode="auto">
          <a:xfrm rot="1590330">
            <a:off x="6994979" y="3257096"/>
            <a:ext cx="1393825" cy="1365250"/>
            <a:chOff x="2213" y="2234"/>
            <a:chExt cx="878" cy="860"/>
          </a:xfrm>
        </p:grpSpPr>
        <p:sp>
          <p:nvSpPr>
            <p:cNvPr id="52233" name="Oval 16"/>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52234" name="Arc 17"/>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5" name="Arc 18"/>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52236" name="Arc 19"/>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2237" name="Arc 20"/>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spTree>
    <p:extLst>
      <p:ext uri="{BB962C8B-B14F-4D97-AF65-F5344CB8AC3E}">
        <p14:creationId xmlns:p14="http://schemas.microsoft.com/office/powerpoint/2010/main" val="38372392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Date Placeholder 3"/>
          <p:cNvSpPr>
            <a:spLocks noGrp="1"/>
          </p:cNvSpPr>
          <p:nvPr>
            <p:ph type="dt" sz="quarter" idx="10"/>
          </p:nvPr>
        </p:nvSpPr>
        <p:spPr>
          <a:noFill/>
        </p:spPr>
        <p:txBody>
          <a:bodyPr/>
          <a:lstStyle/>
          <a:p>
            <a:r>
              <a:rPr lang="en-US"/>
              <a:t>Winter 2007</a:t>
            </a:r>
          </a:p>
        </p:txBody>
      </p:sp>
      <p:sp>
        <p:nvSpPr>
          <p:cNvPr id="27651" name="Footer Placeholder 4"/>
          <p:cNvSpPr>
            <a:spLocks noGrp="1"/>
          </p:cNvSpPr>
          <p:nvPr>
            <p:ph type="ftr" sz="quarter" idx="11"/>
          </p:nvPr>
        </p:nvSpPr>
        <p:spPr>
          <a:noFill/>
        </p:spPr>
        <p:txBody>
          <a:bodyPr/>
          <a:lstStyle/>
          <a:p>
            <a:r>
              <a:rPr lang="en-US"/>
              <a:t>R. Todd Lines</a:t>
            </a:r>
          </a:p>
        </p:txBody>
      </p:sp>
      <p:sp>
        <p:nvSpPr>
          <p:cNvPr id="27652" name="Slide Number Placeholder 5"/>
          <p:cNvSpPr>
            <a:spLocks noGrp="1"/>
          </p:cNvSpPr>
          <p:nvPr>
            <p:ph type="sldNum" sz="quarter" idx="12"/>
          </p:nvPr>
        </p:nvSpPr>
        <p:spPr>
          <a:noFill/>
        </p:spPr>
        <p:txBody>
          <a:bodyPr/>
          <a:lstStyle/>
          <a:p>
            <a:fld id="{DD9AE172-A913-44A5-97B9-A05F9BC295C4}" type="slidenum">
              <a:rPr lang="en-US" smtClean="0"/>
              <a:pPr/>
              <a:t>43</a:t>
            </a:fld>
            <a:endParaRPr lang="en-US"/>
          </a:p>
        </p:txBody>
      </p:sp>
      <p:sp>
        <p:nvSpPr>
          <p:cNvPr id="27653" name="Rectangle 2"/>
          <p:cNvSpPr>
            <a:spLocks noGrp="1" noChangeArrowheads="1"/>
          </p:cNvSpPr>
          <p:nvPr>
            <p:ph type="title"/>
          </p:nvPr>
        </p:nvSpPr>
        <p:spPr/>
        <p:txBody>
          <a:bodyPr/>
          <a:lstStyle/>
          <a:p>
            <a:pPr eaLnBrk="1" hangingPunct="1"/>
            <a:r>
              <a:rPr lang="en-US"/>
              <a:t>Buoyant Forces</a:t>
            </a:r>
          </a:p>
        </p:txBody>
      </p:sp>
      <p:sp>
        <p:nvSpPr>
          <p:cNvPr id="27654" name="Rectangle 3"/>
          <p:cNvSpPr>
            <a:spLocks noGrp="1" noChangeArrowheads="1"/>
          </p:cNvSpPr>
          <p:nvPr>
            <p:ph type="body" idx="1"/>
          </p:nvPr>
        </p:nvSpPr>
        <p:spPr>
          <a:xfrm>
            <a:off x="457200" y="1600200"/>
            <a:ext cx="3671888" cy="4525963"/>
          </a:xfrm>
        </p:spPr>
        <p:txBody>
          <a:bodyPr/>
          <a:lstStyle/>
          <a:p>
            <a:pPr eaLnBrk="1" hangingPunct="1"/>
            <a:r>
              <a:rPr lang="en-US" sz="2800"/>
              <a:t>Remember from</a:t>
            </a:r>
          </a:p>
          <a:p>
            <a:pPr lvl="1" eaLnBrk="1" hangingPunct="1"/>
            <a:r>
              <a:rPr lang="en-US" sz="2400"/>
              <a:t>a stationary parcel of water there is a force that balances the weight of the parcel</a:t>
            </a:r>
          </a:p>
          <a:p>
            <a:pPr lvl="1" eaLnBrk="1" hangingPunct="1"/>
            <a:r>
              <a:rPr lang="en-US" sz="2400"/>
              <a:t>Forces that act in the x-direction (sideways) balance each other </a:t>
            </a:r>
          </a:p>
        </p:txBody>
      </p:sp>
      <p:grpSp>
        <p:nvGrpSpPr>
          <p:cNvPr id="2" name="Group 4"/>
          <p:cNvGrpSpPr>
            <a:grpSpLocks/>
          </p:cNvGrpSpPr>
          <p:nvPr/>
        </p:nvGrpSpPr>
        <p:grpSpPr bwMode="auto">
          <a:xfrm>
            <a:off x="4833938" y="2451100"/>
            <a:ext cx="4029075" cy="2611438"/>
            <a:chOff x="3045" y="1544"/>
            <a:chExt cx="2538" cy="1645"/>
          </a:xfrm>
        </p:grpSpPr>
        <p:grpSp>
          <p:nvGrpSpPr>
            <p:cNvPr id="3" name="Group 5"/>
            <p:cNvGrpSpPr>
              <a:grpSpLocks/>
            </p:cNvGrpSpPr>
            <p:nvPr/>
          </p:nvGrpSpPr>
          <p:grpSpPr bwMode="auto">
            <a:xfrm>
              <a:off x="3500" y="1565"/>
              <a:ext cx="1416" cy="1624"/>
              <a:chOff x="3596" y="1780"/>
              <a:chExt cx="1416" cy="1624"/>
            </a:xfrm>
          </p:grpSpPr>
          <p:sp>
            <p:nvSpPr>
              <p:cNvPr id="27683"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27684"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27662" name="AutoShape 8"/>
            <p:cNvSpPr>
              <a:spLocks noChangeArrowheads="1"/>
            </p:cNvSpPr>
            <p:nvPr/>
          </p:nvSpPr>
          <p:spPr bwMode="auto">
            <a:xfrm>
              <a:off x="3664" y="1865"/>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27663" name="Rectangle 9"/>
            <p:cNvSpPr>
              <a:spLocks noChangeArrowheads="1"/>
            </p:cNvSpPr>
            <p:nvPr/>
          </p:nvSpPr>
          <p:spPr bwMode="auto">
            <a:xfrm>
              <a:off x="3664" y="1845"/>
              <a:ext cx="1076" cy="248"/>
            </a:xfrm>
            <a:prstGeom prst="rect">
              <a:avLst/>
            </a:prstGeom>
            <a:solidFill>
              <a:schemeClr val="accent1"/>
            </a:solidFill>
            <a:ln w="9525">
              <a:noFill/>
              <a:miter lim="800000"/>
              <a:headEnd/>
              <a:tailEnd/>
            </a:ln>
          </p:spPr>
          <p:txBody>
            <a:bodyPr wrap="none" anchor="ctr"/>
            <a:lstStyle/>
            <a:p>
              <a:endParaRPr lang="en-US"/>
            </a:p>
          </p:txBody>
        </p:sp>
        <p:sp>
          <p:nvSpPr>
            <p:cNvPr id="27664" name="Freeform 10"/>
            <p:cNvSpPr>
              <a:spLocks/>
            </p:cNvSpPr>
            <p:nvPr/>
          </p:nvSpPr>
          <p:spPr bwMode="auto">
            <a:xfrm>
              <a:off x="3584" y="1561"/>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7665" name="Freeform 11"/>
            <p:cNvSpPr>
              <a:spLocks/>
            </p:cNvSpPr>
            <p:nvPr/>
          </p:nvSpPr>
          <p:spPr bwMode="auto">
            <a:xfrm flipH="1">
              <a:off x="4208" y="1561"/>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27666" name="Rectangle 12"/>
            <p:cNvSpPr>
              <a:spLocks noChangeArrowheads="1"/>
            </p:cNvSpPr>
            <p:nvPr/>
          </p:nvSpPr>
          <p:spPr bwMode="auto">
            <a:xfrm>
              <a:off x="4044" y="2061"/>
              <a:ext cx="380" cy="640"/>
            </a:xfrm>
            <a:prstGeom prst="rect">
              <a:avLst/>
            </a:prstGeom>
            <a:solidFill>
              <a:srgbClr val="33CCCC"/>
            </a:solidFill>
            <a:ln w="9525">
              <a:solidFill>
                <a:schemeClr val="tx1"/>
              </a:solidFill>
              <a:miter lim="800000"/>
              <a:headEnd/>
              <a:tailEnd/>
            </a:ln>
          </p:spPr>
          <p:txBody>
            <a:bodyPr wrap="none" anchor="ctr"/>
            <a:lstStyle/>
            <a:p>
              <a:endParaRPr lang="en-US"/>
            </a:p>
          </p:txBody>
        </p:sp>
        <p:sp>
          <p:nvSpPr>
            <p:cNvPr id="27667" name="Line 13"/>
            <p:cNvSpPr>
              <a:spLocks noChangeShapeType="1"/>
            </p:cNvSpPr>
            <p:nvPr/>
          </p:nvSpPr>
          <p:spPr bwMode="auto">
            <a:xfrm>
              <a:off x="4204" y="1789"/>
              <a:ext cx="4" cy="272"/>
            </a:xfrm>
            <a:prstGeom prst="line">
              <a:avLst/>
            </a:prstGeom>
            <a:noFill/>
            <a:ln w="28575">
              <a:solidFill>
                <a:schemeClr val="tx2">
                  <a:lumMod val="50000"/>
                </a:schemeClr>
              </a:solidFill>
              <a:round/>
              <a:headEnd/>
              <a:tailEnd type="triangle" w="med" len="med"/>
            </a:ln>
          </p:spPr>
          <p:txBody>
            <a:bodyPr/>
            <a:lstStyle/>
            <a:p>
              <a:endParaRPr lang="en-US"/>
            </a:p>
          </p:txBody>
        </p:sp>
        <p:sp>
          <p:nvSpPr>
            <p:cNvPr id="27668" name="Line 14"/>
            <p:cNvSpPr>
              <a:spLocks noChangeShapeType="1"/>
            </p:cNvSpPr>
            <p:nvPr/>
          </p:nvSpPr>
          <p:spPr bwMode="auto">
            <a:xfrm>
              <a:off x="4112" y="2701"/>
              <a:ext cx="0" cy="20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69" name="Line 15"/>
            <p:cNvSpPr>
              <a:spLocks noChangeShapeType="1"/>
            </p:cNvSpPr>
            <p:nvPr/>
          </p:nvSpPr>
          <p:spPr bwMode="auto">
            <a:xfrm flipV="1">
              <a:off x="4320" y="2705"/>
              <a:ext cx="4" cy="32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70" name="Text Box 16"/>
            <p:cNvSpPr txBox="1">
              <a:spLocks noChangeArrowheads="1"/>
            </p:cNvSpPr>
            <p:nvPr/>
          </p:nvSpPr>
          <p:spPr bwMode="auto">
            <a:xfrm>
              <a:off x="3966" y="1544"/>
              <a:ext cx="449" cy="231"/>
            </a:xfrm>
            <a:prstGeom prst="rect">
              <a:avLst/>
            </a:prstGeom>
            <a:noFill/>
            <a:ln w="9525">
              <a:noFill/>
              <a:miter lim="800000"/>
              <a:headEnd/>
              <a:tailEnd/>
            </a:ln>
          </p:spPr>
          <p:txBody>
            <a:bodyPr wrap="none">
              <a:spAutoFit/>
            </a:bodyPr>
            <a:lstStyle/>
            <a:p>
              <a:r>
                <a:rPr lang="en-US" i="1"/>
                <a:t>-P</a:t>
              </a:r>
              <a:r>
                <a:rPr lang="en-US" i="1" baseline="-25000"/>
                <a:t>o</a:t>
              </a:r>
              <a:r>
                <a:rPr lang="en-US" i="1"/>
                <a:t>A</a:t>
              </a:r>
              <a:r>
                <a:rPr lang="en-US" b="1" i="1">
                  <a:cs typeface="Arial" charset="0"/>
                </a:rPr>
                <a:t>ĵ</a:t>
              </a:r>
            </a:p>
          </p:txBody>
        </p:sp>
        <p:sp>
          <p:nvSpPr>
            <p:cNvPr id="27671" name="Text Box 17"/>
            <p:cNvSpPr txBox="1">
              <a:spLocks noChangeArrowheads="1"/>
            </p:cNvSpPr>
            <p:nvPr/>
          </p:nvSpPr>
          <p:spPr bwMode="auto">
            <a:xfrm>
              <a:off x="3814" y="2860"/>
              <a:ext cx="324" cy="231"/>
            </a:xfrm>
            <a:prstGeom prst="rect">
              <a:avLst/>
            </a:prstGeom>
            <a:noFill/>
            <a:ln w="9525">
              <a:noFill/>
              <a:miter lim="800000"/>
              <a:headEnd/>
              <a:tailEnd/>
            </a:ln>
          </p:spPr>
          <p:txBody>
            <a:bodyPr wrap="none">
              <a:spAutoFit/>
            </a:bodyPr>
            <a:lstStyle/>
            <a:p>
              <a:r>
                <a:rPr lang="en-US" i="1"/>
                <a:t>M</a:t>
              </a:r>
              <a:r>
                <a:rPr lang="en-US" b="1" i="1"/>
                <a:t>g</a:t>
              </a:r>
              <a:endParaRPr lang="en-US" b="1" i="1">
                <a:cs typeface="Arial" charset="0"/>
              </a:endParaRPr>
            </a:p>
          </p:txBody>
        </p:sp>
        <p:sp>
          <p:nvSpPr>
            <p:cNvPr id="27672" name="Rectangle 18"/>
            <p:cNvSpPr>
              <a:spLocks noChangeArrowheads="1"/>
            </p:cNvSpPr>
            <p:nvPr/>
          </p:nvSpPr>
          <p:spPr bwMode="auto">
            <a:xfrm>
              <a:off x="4362" y="2758"/>
              <a:ext cx="348" cy="231"/>
            </a:xfrm>
            <a:prstGeom prst="rect">
              <a:avLst/>
            </a:prstGeom>
            <a:noFill/>
            <a:ln w="9525">
              <a:noFill/>
              <a:miter lim="800000"/>
              <a:headEnd/>
              <a:tailEnd/>
            </a:ln>
          </p:spPr>
          <p:txBody>
            <a:bodyPr wrap="none">
              <a:spAutoFit/>
            </a:bodyPr>
            <a:lstStyle/>
            <a:p>
              <a:r>
                <a:rPr lang="en-US" i="1"/>
                <a:t>PA</a:t>
              </a:r>
              <a:r>
                <a:rPr lang="en-US" b="1" i="1"/>
                <a:t>ĵ</a:t>
              </a:r>
            </a:p>
          </p:txBody>
        </p:sp>
        <p:sp>
          <p:nvSpPr>
            <p:cNvPr id="27673" name="Line 19"/>
            <p:cNvSpPr>
              <a:spLocks noChangeShapeType="1"/>
            </p:cNvSpPr>
            <p:nvPr/>
          </p:nvSpPr>
          <p:spPr bwMode="auto">
            <a:xfrm flipH="1" flipV="1">
              <a:off x="4411" y="2426"/>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74" name="Line 20"/>
            <p:cNvSpPr>
              <a:spLocks noChangeShapeType="1"/>
            </p:cNvSpPr>
            <p:nvPr/>
          </p:nvSpPr>
          <p:spPr bwMode="auto">
            <a:xfrm flipV="1">
              <a:off x="3778" y="2432"/>
              <a:ext cx="270" cy="0"/>
            </a:xfrm>
            <a:prstGeom prst="line">
              <a:avLst/>
            </a:prstGeom>
            <a:noFill/>
            <a:ln w="28575">
              <a:solidFill>
                <a:schemeClr val="tx2">
                  <a:lumMod val="50000"/>
                </a:schemeClr>
              </a:solidFill>
              <a:round/>
              <a:headEnd/>
              <a:tailEnd type="triangle" w="med" len="med"/>
            </a:ln>
          </p:spPr>
          <p:txBody>
            <a:bodyPr/>
            <a:lstStyle/>
            <a:p>
              <a:endParaRPr lang="en-US"/>
            </a:p>
          </p:txBody>
        </p:sp>
        <p:sp>
          <p:nvSpPr>
            <p:cNvPr id="27675" name="Freeform 21"/>
            <p:cNvSpPr>
              <a:spLocks/>
            </p:cNvSpPr>
            <p:nvPr/>
          </p:nvSpPr>
          <p:spPr bwMode="auto">
            <a:xfrm rot="1156648">
              <a:off x="4664" y="2021"/>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27676" name="Freeform 22"/>
            <p:cNvSpPr>
              <a:spLocks/>
            </p:cNvSpPr>
            <p:nvPr/>
          </p:nvSpPr>
          <p:spPr bwMode="auto">
            <a:xfrm rot="20443352" flipH="1">
              <a:off x="3562" y="2027"/>
              <a:ext cx="292" cy="430"/>
            </a:xfrm>
            <a:custGeom>
              <a:avLst/>
              <a:gdLst>
                <a:gd name="T0" fmla="*/ 292 w 292"/>
                <a:gd name="T1" fmla="*/ 0 h 430"/>
                <a:gd name="T2" fmla="*/ 109 w 292"/>
                <a:gd name="T3" fmla="*/ 219 h 430"/>
                <a:gd name="T4" fmla="*/ 210 w 292"/>
                <a:gd name="T5" fmla="*/ 238 h 430"/>
                <a:gd name="T6" fmla="*/ 0 w 292"/>
                <a:gd name="T7" fmla="*/ 43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grpSp>
          <p:nvGrpSpPr>
            <p:cNvPr id="4" name="Group 23"/>
            <p:cNvGrpSpPr>
              <a:grpSpLocks/>
            </p:cNvGrpSpPr>
            <p:nvPr/>
          </p:nvGrpSpPr>
          <p:grpSpPr bwMode="auto">
            <a:xfrm>
              <a:off x="5031" y="1904"/>
              <a:ext cx="552" cy="231"/>
              <a:chOff x="2252" y="1684"/>
              <a:chExt cx="552" cy="231"/>
            </a:xfrm>
          </p:grpSpPr>
          <p:sp>
            <p:nvSpPr>
              <p:cNvPr id="27681" name="Text Box 24"/>
              <p:cNvSpPr txBox="1">
                <a:spLocks noChangeArrowheads="1"/>
              </p:cNvSpPr>
              <p:nvPr/>
            </p:nvSpPr>
            <p:spPr bwMode="auto">
              <a:xfrm>
                <a:off x="2252" y="1684"/>
                <a:ext cx="552" cy="231"/>
              </a:xfrm>
              <a:prstGeom prst="rect">
                <a:avLst/>
              </a:prstGeom>
              <a:noFill/>
              <a:ln w="9525">
                <a:noFill/>
                <a:miter lim="800000"/>
                <a:headEnd/>
                <a:tailEnd/>
              </a:ln>
            </p:spPr>
            <p:txBody>
              <a:bodyPr wrap="none">
                <a:spAutoFit/>
              </a:bodyPr>
              <a:lstStyle/>
              <a:p>
                <a:r>
                  <a:rPr lang="en-US" i="1"/>
                  <a:t>-P</a:t>
                </a:r>
                <a:r>
                  <a:rPr lang="en-US" i="1" baseline="-25000"/>
                  <a:t>m</a:t>
                </a:r>
                <a:r>
                  <a:rPr lang="en-US" i="1"/>
                  <a:t>A</a:t>
                </a:r>
                <a:r>
                  <a:rPr lang="en-US" b="1" i="1">
                    <a:cs typeface="Arial" charset="0"/>
                    <a:sym typeface="Symbol" pitchFamily="18" charset="2"/>
                  </a:rPr>
                  <a:t>x</a:t>
                </a:r>
              </a:p>
            </p:txBody>
          </p:sp>
          <p:sp>
            <p:nvSpPr>
              <p:cNvPr id="27682" name="Freeform 25"/>
              <p:cNvSpPr>
                <a:spLocks/>
              </p:cNvSpPr>
              <p:nvPr/>
            </p:nvSpPr>
            <p:spPr bwMode="auto">
              <a:xfrm>
                <a:off x="2679" y="1717"/>
                <a:ext cx="73" cy="46"/>
              </a:xfrm>
              <a:custGeom>
                <a:avLst/>
                <a:gdLst>
                  <a:gd name="T0" fmla="*/ 0 w 549"/>
                  <a:gd name="T1" fmla="*/ 43 h 265"/>
                  <a:gd name="T2" fmla="*/ 36 w 549"/>
                  <a:gd name="T3" fmla="*/ 0 h 265"/>
                  <a:gd name="T4" fmla="*/ 73 w 549"/>
                  <a:gd name="T5" fmla="*/ 46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grpSp>
          <p:nvGrpSpPr>
            <p:cNvPr id="5" name="Group 26"/>
            <p:cNvGrpSpPr>
              <a:grpSpLocks/>
            </p:cNvGrpSpPr>
            <p:nvPr/>
          </p:nvGrpSpPr>
          <p:grpSpPr bwMode="auto">
            <a:xfrm>
              <a:off x="3045" y="1928"/>
              <a:ext cx="504" cy="231"/>
              <a:chOff x="230" y="1468"/>
              <a:chExt cx="504" cy="231"/>
            </a:xfrm>
          </p:grpSpPr>
          <p:sp>
            <p:nvSpPr>
              <p:cNvPr id="27679" name="Text Box 27"/>
              <p:cNvSpPr txBox="1">
                <a:spLocks noChangeArrowheads="1"/>
              </p:cNvSpPr>
              <p:nvPr/>
            </p:nvSpPr>
            <p:spPr bwMode="auto">
              <a:xfrm>
                <a:off x="230" y="1468"/>
                <a:ext cx="504" cy="231"/>
              </a:xfrm>
              <a:prstGeom prst="rect">
                <a:avLst/>
              </a:prstGeom>
              <a:noFill/>
              <a:ln w="9525">
                <a:noFill/>
                <a:miter lim="800000"/>
                <a:headEnd/>
                <a:tailEnd/>
              </a:ln>
            </p:spPr>
            <p:txBody>
              <a:bodyPr wrap="none">
                <a:spAutoFit/>
              </a:bodyPr>
              <a:lstStyle/>
              <a:p>
                <a:r>
                  <a:rPr lang="en-US" i="1"/>
                  <a:t>P</a:t>
                </a:r>
                <a:r>
                  <a:rPr lang="en-US" i="1" baseline="-25000"/>
                  <a:t>m</a:t>
                </a:r>
                <a:r>
                  <a:rPr lang="en-US" i="1"/>
                  <a:t>A</a:t>
                </a:r>
                <a:r>
                  <a:rPr lang="en-US" b="1" i="1">
                    <a:cs typeface="Arial" charset="0"/>
                    <a:sym typeface="Symbol" pitchFamily="18" charset="2"/>
                  </a:rPr>
                  <a:t>x</a:t>
                </a:r>
              </a:p>
            </p:txBody>
          </p:sp>
          <p:sp>
            <p:nvSpPr>
              <p:cNvPr id="27680" name="Freeform 28"/>
              <p:cNvSpPr>
                <a:spLocks/>
              </p:cNvSpPr>
              <p:nvPr/>
            </p:nvSpPr>
            <p:spPr bwMode="auto">
              <a:xfrm>
                <a:off x="615" y="1501"/>
                <a:ext cx="73" cy="46"/>
              </a:xfrm>
              <a:custGeom>
                <a:avLst/>
                <a:gdLst>
                  <a:gd name="T0" fmla="*/ 0 w 549"/>
                  <a:gd name="T1" fmla="*/ 43 h 265"/>
                  <a:gd name="T2" fmla="*/ 36 w 549"/>
                  <a:gd name="T3" fmla="*/ 0 h 265"/>
                  <a:gd name="T4" fmla="*/ 73 w 549"/>
                  <a:gd name="T5" fmla="*/ 46 h 265"/>
                  <a:gd name="T6" fmla="*/ 0 60000 65536"/>
                  <a:gd name="T7" fmla="*/ 0 60000 65536"/>
                  <a:gd name="T8" fmla="*/ 0 60000 65536"/>
                  <a:gd name="T9" fmla="*/ 0 w 549"/>
                  <a:gd name="T10" fmla="*/ 0 h 265"/>
                  <a:gd name="T11" fmla="*/ 549 w 549"/>
                  <a:gd name="T12" fmla="*/ 265 h 265"/>
                </a:gdLst>
                <a:ahLst/>
                <a:cxnLst>
                  <a:cxn ang="T6">
                    <a:pos x="T0" y="T1"/>
                  </a:cxn>
                  <a:cxn ang="T7">
                    <a:pos x="T2" y="T3"/>
                  </a:cxn>
                  <a:cxn ang="T8">
                    <a:pos x="T4" y="T5"/>
                  </a:cxn>
                </a:cxnLst>
                <a:rect l="T9" t="T10" r="T11" b="T12"/>
                <a:pathLst>
                  <a:path w="549" h="265">
                    <a:moveTo>
                      <a:pt x="0" y="246"/>
                    </a:moveTo>
                    <a:lnTo>
                      <a:pt x="274" y="0"/>
                    </a:lnTo>
                    <a:lnTo>
                      <a:pt x="549" y="265"/>
                    </a:lnTo>
                  </a:path>
                </a:pathLst>
              </a:custGeom>
              <a:noFill/>
              <a:ln w="9525">
                <a:solidFill>
                  <a:schemeClr val="tx1"/>
                </a:solidFill>
                <a:round/>
                <a:headEnd/>
                <a:tailEnd/>
              </a:ln>
            </p:spPr>
            <p:txBody>
              <a:bodyPr/>
              <a:lstStyle/>
              <a:p>
                <a:endParaRPr lang="en-US"/>
              </a:p>
            </p:txBody>
          </p:sp>
        </p:grpSp>
      </p:grpSp>
      <p:grpSp>
        <p:nvGrpSpPr>
          <p:cNvPr id="6" name="Group 29"/>
          <p:cNvGrpSpPr>
            <a:grpSpLocks/>
          </p:cNvGrpSpPr>
          <p:nvPr/>
        </p:nvGrpSpPr>
        <p:grpSpPr bwMode="auto">
          <a:xfrm>
            <a:off x="8337550" y="4014788"/>
            <a:ext cx="446088" cy="855662"/>
            <a:chOff x="3845" y="3543"/>
            <a:chExt cx="514" cy="648"/>
          </a:xfrm>
        </p:grpSpPr>
        <p:sp>
          <p:nvSpPr>
            <p:cNvPr id="27657" name="Line 30"/>
            <p:cNvSpPr>
              <a:spLocks noChangeShapeType="1"/>
            </p:cNvSpPr>
            <p:nvPr/>
          </p:nvSpPr>
          <p:spPr bwMode="auto">
            <a:xfrm>
              <a:off x="3865" y="3682"/>
              <a:ext cx="0" cy="348"/>
            </a:xfrm>
            <a:prstGeom prst="line">
              <a:avLst/>
            </a:prstGeom>
            <a:noFill/>
            <a:ln w="9525">
              <a:solidFill>
                <a:schemeClr val="tx1"/>
              </a:solidFill>
              <a:round/>
              <a:headEnd type="arrow" w="med" len="med"/>
              <a:tailEnd/>
            </a:ln>
          </p:spPr>
          <p:txBody>
            <a:bodyPr/>
            <a:lstStyle/>
            <a:p>
              <a:endParaRPr lang="en-US"/>
            </a:p>
          </p:txBody>
        </p:sp>
        <p:sp>
          <p:nvSpPr>
            <p:cNvPr id="27658" name="Line 31"/>
            <p:cNvSpPr>
              <a:spLocks noChangeShapeType="1"/>
            </p:cNvSpPr>
            <p:nvPr/>
          </p:nvSpPr>
          <p:spPr bwMode="auto">
            <a:xfrm>
              <a:off x="3865" y="4030"/>
              <a:ext cx="300" cy="0"/>
            </a:xfrm>
            <a:prstGeom prst="line">
              <a:avLst/>
            </a:prstGeom>
            <a:noFill/>
            <a:ln w="9525">
              <a:solidFill>
                <a:schemeClr val="tx1"/>
              </a:solidFill>
              <a:round/>
              <a:headEnd/>
              <a:tailEnd type="arrow" w="med" len="med"/>
            </a:ln>
          </p:spPr>
          <p:txBody>
            <a:bodyPr/>
            <a:lstStyle/>
            <a:p>
              <a:endParaRPr lang="en-US"/>
            </a:p>
          </p:txBody>
        </p:sp>
        <p:sp>
          <p:nvSpPr>
            <p:cNvPr id="27659" name="Text Box 32"/>
            <p:cNvSpPr txBox="1">
              <a:spLocks noChangeArrowheads="1"/>
            </p:cNvSpPr>
            <p:nvPr/>
          </p:nvSpPr>
          <p:spPr bwMode="auto">
            <a:xfrm>
              <a:off x="3845" y="3543"/>
              <a:ext cx="271" cy="278"/>
            </a:xfrm>
            <a:prstGeom prst="rect">
              <a:avLst/>
            </a:prstGeom>
            <a:noFill/>
            <a:ln w="9525">
              <a:noFill/>
              <a:miter lim="800000"/>
              <a:headEnd/>
              <a:tailEnd/>
            </a:ln>
          </p:spPr>
          <p:txBody>
            <a:bodyPr wrap="none">
              <a:spAutoFit/>
            </a:bodyPr>
            <a:lstStyle/>
            <a:p>
              <a:r>
                <a:rPr lang="en-US"/>
                <a:t>j</a:t>
              </a:r>
            </a:p>
          </p:txBody>
        </p:sp>
        <p:sp>
          <p:nvSpPr>
            <p:cNvPr id="27660" name="Text Box 33"/>
            <p:cNvSpPr txBox="1">
              <a:spLocks noChangeArrowheads="1"/>
            </p:cNvSpPr>
            <p:nvPr/>
          </p:nvSpPr>
          <p:spPr bwMode="auto">
            <a:xfrm>
              <a:off x="4088" y="3913"/>
              <a:ext cx="271" cy="278"/>
            </a:xfrm>
            <a:prstGeom prst="rect">
              <a:avLst/>
            </a:prstGeom>
            <a:noFill/>
            <a:ln w="9525">
              <a:noFill/>
              <a:miter lim="800000"/>
              <a:headEnd/>
              <a:tailEnd/>
            </a:ln>
          </p:spPr>
          <p:txBody>
            <a:bodyPr wrap="none">
              <a:spAutoFit/>
            </a:bodyPr>
            <a:lstStyle/>
            <a:p>
              <a:r>
                <a:rPr lang="en-US"/>
                <a:t>i</a:t>
              </a:r>
            </a:p>
          </p:txBody>
        </p:sp>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Date Placeholder 3"/>
          <p:cNvSpPr>
            <a:spLocks noGrp="1"/>
          </p:cNvSpPr>
          <p:nvPr>
            <p:ph type="dt" sz="quarter" idx="10"/>
          </p:nvPr>
        </p:nvSpPr>
        <p:spPr>
          <a:noFill/>
        </p:spPr>
        <p:txBody>
          <a:bodyPr/>
          <a:lstStyle/>
          <a:p>
            <a:r>
              <a:rPr lang="en-US"/>
              <a:t>Winter 2007</a:t>
            </a:r>
          </a:p>
        </p:txBody>
      </p:sp>
      <p:sp>
        <p:nvSpPr>
          <p:cNvPr id="28675" name="Footer Placeholder 4"/>
          <p:cNvSpPr>
            <a:spLocks noGrp="1"/>
          </p:cNvSpPr>
          <p:nvPr>
            <p:ph type="ftr" sz="quarter" idx="11"/>
          </p:nvPr>
        </p:nvSpPr>
        <p:spPr>
          <a:noFill/>
        </p:spPr>
        <p:txBody>
          <a:bodyPr/>
          <a:lstStyle/>
          <a:p>
            <a:r>
              <a:rPr lang="en-US"/>
              <a:t>R. Todd Lines</a:t>
            </a:r>
          </a:p>
        </p:txBody>
      </p:sp>
      <p:sp>
        <p:nvSpPr>
          <p:cNvPr id="28676" name="Slide Number Placeholder 5"/>
          <p:cNvSpPr>
            <a:spLocks noGrp="1"/>
          </p:cNvSpPr>
          <p:nvPr>
            <p:ph type="sldNum" sz="quarter" idx="12"/>
          </p:nvPr>
        </p:nvSpPr>
        <p:spPr>
          <a:noFill/>
        </p:spPr>
        <p:txBody>
          <a:bodyPr/>
          <a:lstStyle/>
          <a:p>
            <a:fld id="{50846E30-7F84-4614-A11D-B720FDD20388}" type="slidenum">
              <a:rPr lang="en-US" smtClean="0"/>
              <a:pPr/>
              <a:t>44</a:t>
            </a:fld>
            <a:endParaRPr lang="en-US" dirty="0"/>
          </a:p>
        </p:txBody>
      </p:sp>
      <p:sp>
        <p:nvSpPr>
          <p:cNvPr id="28677" name="Rectangle 2"/>
          <p:cNvSpPr>
            <a:spLocks noGrp="1" noChangeArrowheads="1"/>
          </p:cNvSpPr>
          <p:nvPr>
            <p:ph type="title"/>
          </p:nvPr>
        </p:nvSpPr>
        <p:spPr/>
        <p:txBody>
          <a:bodyPr/>
          <a:lstStyle/>
          <a:p>
            <a:pPr eaLnBrk="1" hangingPunct="1"/>
            <a:r>
              <a:rPr lang="en-US"/>
              <a:t>Buoyant Forces</a:t>
            </a:r>
          </a:p>
        </p:txBody>
      </p:sp>
      <p:sp>
        <p:nvSpPr>
          <p:cNvPr id="28678" name="Rectangle 3"/>
          <p:cNvSpPr>
            <a:spLocks noGrp="1" noChangeArrowheads="1"/>
          </p:cNvSpPr>
          <p:nvPr>
            <p:ph type="body" idx="1"/>
          </p:nvPr>
        </p:nvSpPr>
        <p:spPr>
          <a:xfrm>
            <a:off x="485775" y="1600200"/>
            <a:ext cx="3759200" cy="4525963"/>
          </a:xfrm>
        </p:spPr>
        <p:txBody>
          <a:bodyPr/>
          <a:lstStyle/>
          <a:p>
            <a:pPr eaLnBrk="1" hangingPunct="1">
              <a:lnSpc>
                <a:spcPct val="90000"/>
              </a:lnSpc>
            </a:pPr>
            <a:r>
              <a:rPr lang="en-US" sz="2800"/>
              <a:t>Now take a beach ball sized parcel of water</a:t>
            </a:r>
          </a:p>
          <a:p>
            <a:pPr eaLnBrk="1" hangingPunct="1">
              <a:lnSpc>
                <a:spcPct val="90000"/>
              </a:lnSpc>
            </a:pPr>
            <a:r>
              <a:rPr lang="en-US" sz="2800"/>
              <a:t>There is a force due to gravity and a force due to the pressure</a:t>
            </a:r>
          </a:p>
          <a:p>
            <a:pPr eaLnBrk="1" hangingPunct="1">
              <a:lnSpc>
                <a:spcPct val="90000"/>
              </a:lnSpc>
            </a:pPr>
            <a:r>
              <a:rPr lang="en-US" sz="2800"/>
              <a:t>What happens if we replace the parcel with the beach ball?</a:t>
            </a:r>
          </a:p>
        </p:txBody>
      </p:sp>
      <p:grpSp>
        <p:nvGrpSpPr>
          <p:cNvPr id="2" name="Group 4"/>
          <p:cNvGrpSpPr>
            <a:grpSpLocks/>
          </p:cNvGrpSpPr>
          <p:nvPr/>
        </p:nvGrpSpPr>
        <p:grpSpPr bwMode="auto">
          <a:xfrm>
            <a:off x="4324350" y="2506663"/>
            <a:ext cx="4195763" cy="3154362"/>
            <a:chOff x="2724" y="1579"/>
            <a:chExt cx="2643" cy="1987"/>
          </a:xfrm>
        </p:grpSpPr>
        <p:grpSp>
          <p:nvGrpSpPr>
            <p:cNvPr id="3" name="Group 5"/>
            <p:cNvGrpSpPr>
              <a:grpSpLocks/>
            </p:cNvGrpSpPr>
            <p:nvPr/>
          </p:nvGrpSpPr>
          <p:grpSpPr bwMode="auto">
            <a:xfrm>
              <a:off x="3941" y="1579"/>
              <a:ext cx="1426" cy="1987"/>
              <a:chOff x="3593" y="1643"/>
              <a:chExt cx="1426" cy="1987"/>
            </a:xfrm>
          </p:grpSpPr>
          <p:sp>
            <p:nvSpPr>
              <p:cNvPr id="28687" name="Freeform 6"/>
              <p:cNvSpPr>
                <a:spLocks/>
              </p:cNvSpPr>
              <p:nvPr/>
            </p:nvSpPr>
            <p:spPr bwMode="auto">
              <a:xfrm>
                <a:off x="3707" y="1643"/>
                <a:ext cx="1297" cy="91"/>
              </a:xfrm>
              <a:custGeom>
                <a:avLst/>
                <a:gdLst>
                  <a:gd name="T0" fmla="*/ 0 w 1426"/>
                  <a:gd name="T1" fmla="*/ 83 h 100"/>
                  <a:gd name="T2" fmla="*/ 125 w 1426"/>
                  <a:gd name="T3" fmla="*/ 66 h 100"/>
                  <a:gd name="T4" fmla="*/ 233 w 1426"/>
                  <a:gd name="T5" fmla="*/ 25 h 100"/>
                  <a:gd name="T6" fmla="*/ 307 w 1426"/>
                  <a:gd name="T7" fmla="*/ 58 h 100"/>
                  <a:gd name="T8" fmla="*/ 433 w 1426"/>
                  <a:gd name="T9" fmla="*/ 66 h 100"/>
                  <a:gd name="T10" fmla="*/ 558 w 1426"/>
                  <a:gd name="T11" fmla="*/ 33 h 100"/>
                  <a:gd name="T12" fmla="*/ 624 w 1426"/>
                  <a:gd name="T13" fmla="*/ 0 h 100"/>
                  <a:gd name="T14" fmla="*/ 707 w 1426"/>
                  <a:gd name="T15" fmla="*/ 41 h 100"/>
                  <a:gd name="T16" fmla="*/ 849 w 1426"/>
                  <a:gd name="T17" fmla="*/ 58 h 100"/>
                  <a:gd name="T18" fmla="*/ 965 w 1426"/>
                  <a:gd name="T19" fmla="*/ 66 h 100"/>
                  <a:gd name="T20" fmla="*/ 1048 w 1426"/>
                  <a:gd name="T21" fmla="*/ 33 h 100"/>
                  <a:gd name="T22" fmla="*/ 1148 w 1426"/>
                  <a:gd name="T23" fmla="*/ 58 h 100"/>
                  <a:gd name="T24" fmla="*/ 1297 w 1426"/>
                  <a:gd name="T25" fmla="*/ 91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28688" name="Rectangle 7"/>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28689" name="Freeform 8"/>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28690" name="Oval 9"/>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sp>
            <p:nvSpPr>
              <p:cNvPr id="28691" name="Oval 10"/>
              <p:cNvSpPr>
                <a:spLocks noChangeArrowheads="1"/>
              </p:cNvSpPr>
              <p:nvPr/>
            </p:nvSpPr>
            <p:spPr bwMode="auto">
              <a:xfrm>
                <a:off x="4264" y="2560"/>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8692" name="Line 11"/>
              <p:cNvSpPr>
                <a:spLocks noChangeShapeType="1"/>
              </p:cNvSpPr>
              <p:nvPr/>
            </p:nvSpPr>
            <p:spPr bwMode="auto">
              <a:xfrm flipH="1">
                <a:off x="4296" y="2606"/>
                <a:ext cx="0" cy="265"/>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28693" name="Line 12"/>
              <p:cNvSpPr>
                <a:spLocks noChangeShapeType="1"/>
              </p:cNvSpPr>
              <p:nvPr/>
            </p:nvSpPr>
            <p:spPr bwMode="auto">
              <a:xfrm flipH="1" flipV="1">
                <a:off x="4300" y="2263"/>
                <a:ext cx="0" cy="311"/>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28694" name="Text Box 13"/>
              <p:cNvSpPr txBox="1">
                <a:spLocks noChangeArrowheads="1"/>
              </p:cNvSpPr>
              <p:nvPr/>
            </p:nvSpPr>
            <p:spPr bwMode="auto">
              <a:xfrm>
                <a:off x="4322" y="2665"/>
                <a:ext cx="257" cy="231"/>
              </a:xfrm>
              <a:prstGeom prst="rect">
                <a:avLst/>
              </a:prstGeom>
              <a:noFill/>
              <a:ln w="9525">
                <a:noFill/>
                <a:miter lim="800000"/>
                <a:headEnd/>
                <a:tailEnd/>
              </a:ln>
            </p:spPr>
            <p:txBody>
              <a:bodyPr>
                <a:spAutoFit/>
              </a:bodyPr>
              <a:lstStyle/>
              <a:p>
                <a:r>
                  <a:rPr lang="en-US" b="1" dirty="0"/>
                  <a:t>W</a:t>
                </a:r>
                <a:endParaRPr lang="en-US" i="1" baseline="-25000" dirty="0"/>
              </a:p>
            </p:txBody>
          </p:sp>
          <p:sp>
            <p:nvSpPr>
              <p:cNvPr id="28695" name="Text Box 14"/>
              <p:cNvSpPr txBox="1">
                <a:spLocks noChangeArrowheads="1"/>
              </p:cNvSpPr>
              <p:nvPr/>
            </p:nvSpPr>
            <p:spPr bwMode="auto">
              <a:xfrm>
                <a:off x="4354" y="2285"/>
                <a:ext cx="257" cy="231"/>
              </a:xfrm>
              <a:prstGeom prst="rect">
                <a:avLst/>
              </a:prstGeom>
              <a:noFill/>
              <a:ln w="9525">
                <a:noFill/>
                <a:miter lim="800000"/>
                <a:headEnd/>
                <a:tailEnd/>
              </a:ln>
            </p:spPr>
            <p:txBody>
              <a:bodyPr>
                <a:spAutoFit/>
              </a:bodyPr>
              <a:lstStyle/>
              <a:p>
                <a:r>
                  <a:rPr lang="en-US" b="1"/>
                  <a:t>B</a:t>
                </a:r>
                <a:endParaRPr lang="en-US" b="1" baseline="-25000"/>
              </a:p>
            </p:txBody>
          </p:sp>
        </p:grpSp>
        <p:grpSp>
          <p:nvGrpSpPr>
            <p:cNvPr id="4" name="Group 15"/>
            <p:cNvGrpSpPr>
              <a:grpSpLocks/>
            </p:cNvGrpSpPr>
            <p:nvPr/>
          </p:nvGrpSpPr>
          <p:grpSpPr bwMode="auto">
            <a:xfrm rot="1590330">
              <a:off x="2724" y="2134"/>
              <a:ext cx="878" cy="860"/>
              <a:chOff x="2213" y="2234"/>
              <a:chExt cx="878" cy="860"/>
            </a:xfrm>
          </p:grpSpPr>
          <p:sp>
            <p:nvSpPr>
              <p:cNvPr id="28682" name="Oval 16"/>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28683" name="Arc 17"/>
              <p:cNvSpPr>
                <a:spLocks/>
              </p:cNvSpPr>
              <p:nvPr/>
            </p:nvSpPr>
            <p:spPr bwMode="auto">
              <a:xfrm>
                <a:off x="2597" y="2235"/>
                <a:ext cx="417" cy="859"/>
              </a:xfrm>
              <a:custGeom>
                <a:avLst/>
                <a:gdLst>
                  <a:gd name="T0" fmla="*/ 1 w 23580"/>
                  <a:gd name="T1" fmla="*/ 0 h 43200"/>
                  <a:gd name="T2" fmla="*/ 0 w 23580"/>
                  <a:gd name="T3" fmla="*/ 17 h 43200"/>
                  <a:gd name="T4" fmla="*/ 1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28684" name="Arc 18"/>
              <p:cNvSpPr>
                <a:spLocks/>
              </p:cNvSpPr>
              <p:nvPr/>
            </p:nvSpPr>
            <p:spPr bwMode="auto">
              <a:xfrm>
                <a:off x="2601" y="2235"/>
                <a:ext cx="215"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28685" name="Arc 19"/>
              <p:cNvSpPr>
                <a:spLocks/>
              </p:cNvSpPr>
              <p:nvPr/>
            </p:nvSpPr>
            <p:spPr bwMode="auto">
              <a:xfrm flipH="1">
                <a:off x="2331" y="2235"/>
                <a:ext cx="316"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28686" name="Arc 20"/>
              <p:cNvSpPr>
                <a:spLocks/>
              </p:cNvSpPr>
              <p:nvPr/>
            </p:nvSpPr>
            <p:spPr bwMode="auto">
              <a:xfrm flipH="1">
                <a:off x="2556" y="2235"/>
                <a:ext cx="88"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6" name="Date Placeholder 3"/>
          <p:cNvSpPr>
            <a:spLocks noGrp="1"/>
          </p:cNvSpPr>
          <p:nvPr>
            <p:ph type="dt" sz="quarter" idx="10"/>
          </p:nvPr>
        </p:nvSpPr>
        <p:spPr>
          <a:noFill/>
        </p:spPr>
        <p:txBody>
          <a:bodyPr/>
          <a:lstStyle/>
          <a:p>
            <a:r>
              <a:rPr lang="en-US"/>
              <a:t>Winter 2007</a:t>
            </a:r>
          </a:p>
        </p:txBody>
      </p:sp>
      <p:sp>
        <p:nvSpPr>
          <p:cNvPr id="8197" name="Footer Placeholder 4"/>
          <p:cNvSpPr>
            <a:spLocks noGrp="1"/>
          </p:cNvSpPr>
          <p:nvPr>
            <p:ph type="ftr" sz="quarter" idx="11"/>
          </p:nvPr>
        </p:nvSpPr>
        <p:spPr>
          <a:noFill/>
        </p:spPr>
        <p:txBody>
          <a:bodyPr/>
          <a:lstStyle/>
          <a:p>
            <a:r>
              <a:rPr lang="en-US"/>
              <a:t>R. Todd Lines</a:t>
            </a:r>
          </a:p>
        </p:txBody>
      </p:sp>
      <p:sp>
        <p:nvSpPr>
          <p:cNvPr id="8198" name="Slide Number Placeholder 5"/>
          <p:cNvSpPr>
            <a:spLocks noGrp="1"/>
          </p:cNvSpPr>
          <p:nvPr>
            <p:ph type="sldNum" sz="quarter" idx="12"/>
          </p:nvPr>
        </p:nvSpPr>
        <p:spPr>
          <a:noFill/>
        </p:spPr>
        <p:txBody>
          <a:bodyPr/>
          <a:lstStyle/>
          <a:p>
            <a:fld id="{4E954239-4440-40A6-A387-496219AC2410}" type="slidenum">
              <a:rPr lang="en-US" smtClean="0"/>
              <a:pPr/>
              <a:t>45</a:t>
            </a:fld>
            <a:endParaRPr lang="en-US"/>
          </a:p>
        </p:txBody>
      </p:sp>
      <p:sp>
        <p:nvSpPr>
          <p:cNvPr id="8199" name="Rectangle 2"/>
          <p:cNvSpPr>
            <a:spLocks noGrp="1" noChangeArrowheads="1"/>
          </p:cNvSpPr>
          <p:nvPr>
            <p:ph type="title"/>
          </p:nvPr>
        </p:nvSpPr>
        <p:spPr/>
        <p:txBody>
          <a:bodyPr/>
          <a:lstStyle/>
          <a:p>
            <a:pPr eaLnBrk="1" hangingPunct="1"/>
            <a:r>
              <a:rPr lang="en-US"/>
              <a:t>Archimedes’ Principle</a:t>
            </a:r>
          </a:p>
        </p:txBody>
      </p:sp>
      <p:sp>
        <p:nvSpPr>
          <p:cNvPr id="8200" name="AutoShape 3"/>
          <p:cNvSpPr>
            <a:spLocks noChangeArrowheads="1"/>
          </p:cNvSpPr>
          <p:nvPr/>
        </p:nvSpPr>
        <p:spPr bwMode="auto">
          <a:xfrm>
            <a:off x="522288" y="1539875"/>
            <a:ext cx="8243887" cy="90011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t>The magnitude of the buoyant force always equals the weight of the fluid displaced by the object</a:t>
            </a:r>
          </a:p>
        </p:txBody>
      </p:sp>
      <p:sp>
        <p:nvSpPr>
          <p:cNvPr id="8201" name="Line 4"/>
          <p:cNvSpPr>
            <a:spLocks noChangeShapeType="1"/>
          </p:cNvSpPr>
          <p:nvPr/>
        </p:nvSpPr>
        <p:spPr bwMode="auto">
          <a:xfrm flipH="1">
            <a:off x="6902450" y="3824288"/>
            <a:ext cx="215900" cy="0"/>
          </a:xfrm>
          <a:prstGeom prst="line">
            <a:avLst/>
          </a:prstGeom>
          <a:noFill/>
          <a:ln w="9525">
            <a:solidFill>
              <a:schemeClr val="tx1"/>
            </a:solidFill>
            <a:round/>
            <a:headEnd/>
            <a:tailEnd/>
          </a:ln>
        </p:spPr>
        <p:txBody>
          <a:bodyPr/>
          <a:lstStyle/>
          <a:p>
            <a:endParaRPr lang="en-US"/>
          </a:p>
        </p:txBody>
      </p:sp>
      <p:grpSp>
        <p:nvGrpSpPr>
          <p:cNvPr id="2" name="Group 5"/>
          <p:cNvGrpSpPr>
            <a:grpSpLocks/>
          </p:cNvGrpSpPr>
          <p:nvPr/>
        </p:nvGrpSpPr>
        <p:grpSpPr bwMode="auto">
          <a:xfrm>
            <a:off x="6332538" y="3024188"/>
            <a:ext cx="1900237" cy="2265362"/>
            <a:chOff x="3989" y="1959"/>
            <a:chExt cx="1416" cy="1628"/>
          </a:xfrm>
        </p:grpSpPr>
        <p:grpSp>
          <p:nvGrpSpPr>
            <p:cNvPr id="3" name="Group 6"/>
            <p:cNvGrpSpPr>
              <a:grpSpLocks/>
            </p:cNvGrpSpPr>
            <p:nvPr/>
          </p:nvGrpSpPr>
          <p:grpSpPr bwMode="auto">
            <a:xfrm>
              <a:off x="3989" y="1963"/>
              <a:ext cx="1416" cy="1624"/>
              <a:chOff x="3596" y="1780"/>
              <a:chExt cx="1416" cy="1624"/>
            </a:xfrm>
          </p:grpSpPr>
          <p:sp>
            <p:nvSpPr>
              <p:cNvPr id="8240" name="Freeform 7"/>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8241" name="Freeform 8"/>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8228" name="AutoShape 9"/>
            <p:cNvSpPr>
              <a:spLocks noChangeArrowheads="1"/>
            </p:cNvSpPr>
            <p:nvPr/>
          </p:nvSpPr>
          <p:spPr bwMode="auto">
            <a:xfrm>
              <a:off x="4153" y="2263"/>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8229" name="Rectangle 10"/>
            <p:cNvSpPr>
              <a:spLocks noChangeArrowheads="1"/>
            </p:cNvSpPr>
            <p:nvPr/>
          </p:nvSpPr>
          <p:spPr bwMode="auto">
            <a:xfrm>
              <a:off x="4153" y="2243"/>
              <a:ext cx="1076" cy="248"/>
            </a:xfrm>
            <a:prstGeom prst="rect">
              <a:avLst/>
            </a:prstGeom>
            <a:solidFill>
              <a:schemeClr val="accent1"/>
            </a:solidFill>
            <a:ln w="9525">
              <a:noFill/>
              <a:miter lim="800000"/>
              <a:headEnd/>
              <a:tailEnd/>
            </a:ln>
          </p:spPr>
          <p:txBody>
            <a:bodyPr wrap="none" anchor="ctr"/>
            <a:lstStyle/>
            <a:p>
              <a:endParaRPr lang="en-US"/>
            </a:p>
          </p:txBody>
        </p:sp>
        <p:sp>
          <p:nvSpPr>
            <p:cNvPr id="8230" name="Freeform 11"/>
            <p:cNvSpPr>
              <a:spLocks/>
            </p:cNvSpPr>
            <p:nvPr/>
          </p:nvSpPr>
          <p:spPr bwMode="auto">
            <a:xfrm>
              <a:off x="4073" y="1959"/>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31" name="Freeform 12"/>
            <p:cNvSpPr>
              <a:spLocks/>
            </p:cNvSpPr>
            <p:nvPr/>
          </p:nvSpPr>
          <p:spPr bwMode="auto">
            <a:xfrm flipH="1">
              <a:off x="4697" y="1959"/>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32" name="Rectangle 13"/>
            <p:cNvSpPr>
              <a:spLocks noChangeArrowheads="1"/>
            </p:cNvSpPr>
            <p:nvPr/>
          </p:nvSpPr>
          <p:spPr bwMode="auto">
            <a:xfrm>
              <a:off x="4533" y="2459"/>
              <a:ext cx="380" cy="640"/>
            </a:xfrm>
            <a:prstGeom prst="rect">
              <a:avLst/>
            </a:prstGeom>
            <a:solidFill>
              <a:srgbClr val="800000"/>
            </a:solidFill>
            <a:ln w="9525">
              <a:solidFill>
                <a:schemeClr val="tx1"/>
              </a:solidFill>
              <a:miter lim="800000"/>
              <a:headEnd/>
              <a:tailEnd/>
            </a:ln>
          </p:spPr>
          <p:txBody>
            <a:bodyPr wrap="none" anchor="ctr"/>
            <a:lstStyle/>
            <a:p>
              <a:endParaRPr lang="en-US"/>
            </a:p>
          </p:txBody>
        </p:sp>
        <p:sp>
          <p:nvSpPr>
            <p:cNvPr id="8233" name="Line 14"/>
            <p:cNvSpPr>
              <a:spLocks noChangeShapeType="1"/>
            </p:cNvSpPr>
            <p:nvPr/>
          </p:nvSpPr>
          <p:spPr bwMode="auto">
            <a:xfrm flipH="1">
              <a:off x="4353" y="3099"/>
              <a:ext cx="136" cy="0"/>
            </a:xfrm>
            <a:prstGeom prst="line">
              <a:avLst/>
            </a:prstGeom>
            <a:noFill/>
            <a:ln w="9525">
              <a:solidFill>
                <a:schemeClr val="tx1"/>
              </a:solidFill>
              <a:round/>
              <a:headEnd/>
              <a:tailEnd/>
            </a:ln>
          </p:spPr>
          <p:txBody>
            <a:bodyPr/>
            <a:lstStyle/>
            <a:p>
              <a:endParaRPr lang="en-US"/>
            </a:p>
          </p:txBody>
        </p:sp>
        <p:sp>
          <p:nvSpPr>
            <p:cNvPr id="8234" name="Line 15"/>
            <p:cNvSpPr>
              <a:spLocks noChangeShapeType="1"/>
            </p:cNvSpPr>
            <p:nvPr/>
          </p:nvSpPr>
          <p:spPr bwMode="auto">
            <a:xfrm>
              <a:off x="4340" y="2495"/>
              <a:ext cx="0" cy="588"/>
            </a:xfrm>
            <a:prstGeom prst="line">
              <a:avLst/>
            </a:prstGeom>
            <a:noFill/>
            <a:ln w="9525">
              <a:solidFill>
                <a:schemeClr val="tx1"/>
              </a:solidFill>
              <a:round/>
              <a:headEnd type="triangle" w="med" len="med"/>
              <a:tailEnd type="triangle" w="med" len="med"/>
            </a:ln>
          </p:spPr>
          <p:txBody>
            <a:bodyPr/>
            <a:lstStyle/>
            <a:p>
              <a:endParaRPr lang="en-US"/>
            </a:p>
          </p:txBody>
        </p:sp>
        <p:sp>
          <p:nvSpPr>
            <p:cNvPr id="8235" name="Line 16"/>
            <p:cNvSpPr>
              <a:spLocks noChangeShapeType="1"/>
            </p:cNvSpPr>
            <p:nvPr/>
          </p:nvSpPr>
          <p:spPr bwMode="auto">
            <a:xfrm>
              <a:off x="4729" y="3099"/>
              <a:ext cx="0" cy="200"/>
            </a:xfrm>
            <a:prstGeom prst="line">
              <a:avLst/>
            </a:prstGeom>
            <a:noFill/>
            <a:ln w="28575">
              <a:solidFill>
                <a:schemeClr val="tx2">
                  <a:lumMod val="50000"/>
                </a:schemeClr>
              </a:solidFill>
              <a:round/>
              <a:headEnd/>
              <a:tailEnd type="triangle" w="med" len="med"/>
            </a:ln>
          </p:spPr>
          <p:txBody>
            <a:bodyPr/>
            <a:lstStyle/>
            <a:p>
              <a:endParaRPr lang="en-US" dirty="0"/>
            </a:p>
          </p:txBody>
        </p:sp>
        <p:sp>
          <p:nvSpPr>
            <p:cNvPr id="8236" name="Line 17"/>
            <p:cNvSpPr>
              <a:spLocks noChangeShapeType="1"/>
            </p:cNvSpPr>
            <p:nvPr/>
          </p:nvSpPr>
          <p:spPr bwMode="auto">
            <a:xfrm flipV="1">
              <a:off x="4718" y="2244"/>
              <a:ext cx="4" cy="210"/>
            </a:xfrm>
            <a:prstGeom prst="line">
              <a:avLst/>
            </a:prstGeom>
            <a:noFill/>
            <a:ln w="28575">
              <a:solidFill>
                <a:schemeClr val="tx2">
                  <a:lumMod val="50000"/>
                </a:schemeClr>
              </a:solidFill>
              <a:round/>
              <a:headEnd/>
              <a:tailEnd type="triangle" w="med" len="med"/>
            </a:ln>
          </p:spPr>
          <p:txBody>
            <a:bodyPr/>
            <a:lstStyle/>
            <a:p>
              <a:endParaRPr lang="en-US"/>
            </a:p>
          </p:txBody>
        </p:sp>
        <p:sp>
          <p:nvSpPr>
            <p:cNvPr id="8237" name="Text Box 18"/>
            <p:cNvSpPr txBox="1">
              <a:spLocks noChangeArrowheads="1"/>
            </p:cNvSpPr>
            <p:nvPr/>
          </p:nvSpPr>
          <p:spPr bwMode="auto">
            <a:xfrm>
              <a:off x="4541" y="3268"/>
              <a:ext cx="294" cy="265"/>
            </a:xfrm>
            <a:prstGeom prst="rect">
              <a:avLst/>
            </a:prstGeom>
            <a:noFill/>
            <a:ln w="9525">
              <a:noFill/>
              <a:miter lim="800000"/>
              <a:headEnd/>
              <a:tailEnd/>
            </a:ln>
          </p:spPr>
          <p:txBody>
            <a:bodyPr wrap="none">
              <a:spAutoFit/>
            </a:bodyPr>
            <a:lstStyle/>
            <a:p>
              <a:r>
                <a:rPr lang="en-US" b="1" dirty="0"/>
                <a:t>W</a:t>
              </a:r>
              <a:endParaRPr lang="en-US" b="1" i="1" baseline="-25000" dirty="0">
                <a:cs typeface="Arial" charset="0"/>
              </a:endParaRPr>
            </a:p>
          </p:txBody>
        </p:sp>
        <p:sp>
          <p:nvSpPr>
            <p:cNvPr id="8238" name="Rectangle 19"/>
            <p:cNvSpPr>
              <a:spLocks noChangeArrowheads="1"/>
            </p:cNvSpPr>
            <p:nvPr/>
          </p:nvSpPr>
          <p:spPr bwMode="auto">
            <a:xfrm>
              <a:off x="4743" y="2224"/>
              <a:ext cx="260" cy="263"/>
            </a:xfrm>
            <a:prstGeom prst="rect">
              <a:avLst/>
            </a:prstGeom>
            <a:noFill/>
            <a:ln w="9525">
              <a:noFill/>
              <a:miter lim="800000"/>
              <a:headEnd/>
              <a:tailEnd/>
            </a:ln>
          </p:spPr>
          <p:txBody>
            <a:bodyPr wrap="none">
              <a:spAutoFit/>
            </a:bodyPr>
            <a:lstStyle/>
            <a:p>
              <a:r>
                <a:rPr lang="en-US" b="1"/>
                <a:t>B</a:t>
              </a:r>
              <a:endParaRPr lang="en-US" b="1" i="1"/>
            </a:p>
          </p:txBody>
        </p:sp>
        <p:sp>
          <p:nvSpPr>
            <p:cNvPr id="8239" name="Text Box 20"/>
            <p:cNvSpPr txBox="1">
              <a:spLocks noChangeArrowheads="1"/>
            </p:cNvSpPr>
            <p:nvPr/>
          </p:nvSpPr>
          <p:spPr bwMode="auto">
            <a:xfrm>
              <a:off x="4242" y="2671"/>
              <a:ext cx="211" cy="219"/>
            </a:xfrm>
            <a:prstGeom prst="rect">
              <a:avLst/>
            </a:prstGeom>
            <a:solidFill>
              <a:schemeClr val="accent1"/>
            </a:solidFill>
            <a:ln w="9525">
              <a:noFill/>
              <a:miter lim="800000"/>
              <a:headEnd/>
              <a:tailEnd/>
            </a:ln>
          </p:spPr>
          <p:txBody>
            <a:bodyPr wrap="none">
              <a:spAutoFit/>
            </a:bodyPr>
            <a:lstStyle/>
            <a:p>
              <a:r>
                <a:rPr lang="en-US" sz="1400" i="1"/>
                <a:t>h</a:t>
              </a:r>
            </a:p>
          </p:txBody>
        </p:sp>
      </p:grpSp>
      <p:grpSp>
        <p:nvGrpSpPr>
          <p:cNvPr id="4" name="Group 21"/>
          <p:cNvGrpSpPr>
            <a:grpSpLocks/>
          </p:cNvGrpSpPr>
          <p:nvPr/>
        </p:nvGrpSpPr>
        <p:grpSpPr bwMode="auto">
          <a:xfrm>
            <a:off x="3635375" y="3009900"/>
            <a:ext cx="2074863" cy="2263775"/>
            <a:chOff x="2290" y="1950"/>
            <a:chExt cx="1307" cy="1426"/>
          </a:xfrm>
        </p:grpSpPr>
        <p:grpSp>
          <p:nvGrpSpPr>
            <p:cNvPr id="5" name="Group 22"/>
            <p:cNvGrpSpPr>
              <a:grpSpLocks/>
            </p:cNvGrpSpPr>
            <p:nvPr/>
          </p:nvGrpSpPr>
          <p:grpSpPr bwMode="auto">
            <a:xfrm>
              <a:off x="2290" y="1954"/>
              <a:ext cx="1307" cy="1422"/>
              <a:chOff x="3596" y="1780"/>
              <a:chExt cx="1416" cy="1624"/>
            </a:xfrm>
          </p:grpSpPr>
          <p:sp>
            <p:nvSpPr>
              <p:cNvPr id="8225" name="Freeform 23"/>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8226" name="Freeform 24"/>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8210" name="AutoShape 25"/>
            <p:cNvSpPr>
              <a:spLocks noChangeArrowheads="1"/>
            </p:cNvSpPr>
            <p:nvPr/>
          </p:nvSpPr>
          <p:spPr bwMode="auto">
            <a:xfrm>
              <a:off x="2441" y="2216"/>
              <a:ext cx="1005" cy="112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8211" name="Rectangle 26"/>
            <p:cNvSpPr>
              <a:spLocks noChangeArrowheads="1"/>
            </p:cNvSpPr>
            <p:nvPr/>
          </p:nvSpPr>
          <p:spPr bwMode="auto">
            <a:xfrm>
              <a:off x="2441" y="2199"/>
              <a:ext cx="994" cy="217"/>
            </a:xfrm>
            <a:prstGeom prst="rect">
              <a:avLst/>
            </a:prstGeom>
            <a:solidFill>
              <a:schemeClr val="accent1"/>
            </a:solidFill>
            <a:ln w="9525">
              <a:noFill/>
              <a:miter lim="800000"/>
              <a:headEnd/>
              <a:tailEnd/>
            </a:ln>
          </p:spPr>
          <p:txBody>
            <a:bodyPr wrap="none" anchor="ctr"/>
            <a:lstStyle/>
            <a:p>
              <a:endParaRPr lang="en-US"/>
            </a:p>
          </p:txBody>
        </p:sp>
        <p:sp>
          <p:nvSpPr>
            <p:cNvPr id="8212" name="Freeform 27"/>
            <p:cNvSpPr>
              <a:spLocks/>
            </p:cNvSpPr>
            <p:nvPr/>
          </p:nvSpPr>
          <p:spPr bwMode="auto">
            <a:xfrm>
              <a:off x="2368" y="1950"/>
              <a:ext cx="576" cy="139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8 w 624"/>
                <a:gd name="T11" fmla="*/ 774 h 1588"/>
                <a:gd name="T12" fmla="*/ 78 w 624"/>
                <a:gd name="T13" fmla="*/ 1104 h 1588"/>
                <a:gd name="T14" fmla="*/ 85 w 624"/>
                <a:gd name="T15" fmla="*/ 1265 h 1588"/>
                <a:gd name="T16" fmla="*/ 114 w 624"/>
                <a:gd name="T17" fmla="*/ 1321 h 1588"/>
                <a:gd name="T18" fmla="*/ 159 w 624"/>
                <a:gd name="T19" fmla="*/ 1359 h 1588"/>
                <a:gd name="T20" fmla="*/ 225 w 624"/>
                <a:gd name="T21" fmla="*/ 1391 h 1588"/>
                <a:gd name="T22" fmla="*/ 351 w 624"/>
                <a:gd name="T23" fmla="*/ 1391 h 1588"/>
                <a:gd name="T24" fmla="*/ 539 w 624"/>
                <a:gd name="T25" fmla="*/ 1391 h 1588"/>
                <a:gd name="T26" fmla="*/ 576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13" name="Freeform 28"/>
            <p:cNvSpPr>
              <a:spLocks/>
            </p:cNvSpPr>
            <p:nvPr/>
          </p:nvSpPr>
          <p:spPr bwMode="auto">
            <a:xfrm flipH="1">
              <a:off x="2944" y="1950"/>
              <a:ext cx="575" cy="1391"/>
            </a:xfrm>
            <a:custGeom>
              <a:avLst/>
              <a:gdLst>
                <a:gd name="T0" fmla="*/ 0 w 624"/>
                <a:gd name="T1" fmla="*/ 0 h 1588"/>
                <a:gd name="T2" fmla="*/ 41 w 624"/>
                <a:gd name="T3" fmla="*/ 14 h 1588"/>
                <a:gd name="T4" fmla="*/ 59 w 624"/>
                <a:gd name="T5" fmla="*/ 49 h 1588"/>
                <a:gd name="T6" fmla="*/ 74 w 624"/>
                <a:gd name="T7" fmla="*/ 126 h 1588"/>
                <a:gd name="T8" fmla="*/ 81 w 624"/>
                <a:gd name="T9" fmla="*/ 368 h 1588"/>
                <a:gd name="T10" fmla="*/ 77 w 624"/>
                <a:gd name="T11" fmla="*/ 774 h 1588"/>
                <a:gd name="T12" fmla="*/ 77 w 624"/>
                <a:gd name="T13" fmla="*/ 1104 h 1588"/>
                <a:gd name="T14" fmla="*/ 85 w 624"/>
                <a:gd name="T15" fmla="*/ 1265 h 1588"/>
                <a:gd name="T16" fmla="*/ 114 w 624"/>
                <a:gd name="T17" fmla="*/ 1321 h 1588"/>
                <a:gd name="T18" fmla="*/ 158 w 624"/>
                <a:gd name="T19" fmla="*/ 1359 h 1588"/>
                <a:gd name="T20" fmla="*/ 225 w 624"/>
                <a:gd name="T21" fmla="*/ 1391 h 1588"/>
                <a:gd name="T22" fmla="*/ 350 w 624"/>
                <a:gd name="T23" fmla="*/ 1391 h 1588"/>
                <a:gd name="T24" fmla="*/ 538 w 624"/>
                <a:gd name="T25" fmla="*/ 1391 h 1588"/>
                <a:gd name="T26" fmla="*/ 575 w 624"/>
                <a:gd name="T27" fmla="*/ 1391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8214" name="Rectangle 29"/>
            <p:cNvSpPr>
              <a:spLocks noChangeArrowheads="1"/>
            </p:cNvSpPr>
            <p:nvPr/>
          </p:nvSpPr>
          <p:spPr bwMode="auto">
            <a:xfrm>
              <a:off x="2792" y="2388"/>
              <a:ext cx="351" cy="561"/>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8215" name="Line 30"/>
            <p:cNvSpPr>
              <a:spLocks noChangeShapeType="1"/>
            </p:cNvSpPr>
            <p:nvPr/>
          </p:nvSpPr>
          <p:spPr bwMode="auto">
            <a:xfrm flipH="1">
              <a:off x="2944" y="2254"/>
              <a:ext cx="4" cy="134"/>
            </a:xfrm>
            <a:prstGeom prst="line">
              <a:avLst/>
            </a:prstGeom>
            <a:noFill/>
            <a:ln w="28575">
              <a:solidFill>
                <a:schemeClr val="tx2">
                  <a:lumMod val="50000"/>
                </a:schemeClr>
              </a:solidFill>
              <a:round/>
              <a:headEnd/>
              <a:tailEnd type="triangle" w="med" len="med"/>
            </a:ln>
          </p:spPr>
          <p:txBody>
            <a:bodyPr/>
            <a:lstStyle/>
            <a:p>
              <a:endParaRPr lang="en-US"/>
            </a:p>
          </p:txBody>
        </p:sp>
        <p:sp>
          <p:nvSpPr>
            <p:cNvPr id="8216" name="Line 31"/>
            <p:cNvSpPr>
              <a:spLocks noChangeShapeType="1"/>
            </p:cNvSpPr>
            <p:nvPr/>
          </p:nvSpPr>
          <p:spPr bwMode="auto">
            <a:xfrm>
              <a:off x="2855" y="2949"/>
              <a:ext cx="0" cy="119"/>
            </a:xfrm>
            <a:prstGeom prst="line">
              <a:avLst/>
            </a:prstGeom>
            <a:noFill/>
            <a:ln w="28575">
              <a:solidFill>
                <a:schemeClr val="tx2">
                  <a:lumMod val="50000"/>
                </a:schemeClr>
              </a:solidFill>
              <a:round/>
              <a:headEnd/>
              <a:tailEnd type="triangle" w="med" len="med"/>
            </a:ln>
          </p:spPr>
          <p:txBody>
            <a:bodyPr/>
            <a:lstStyle/>
            <a:p>
              <a:endParaRPr lang="en-US"/>
            </a:p>
          </p:txBody>
        </p:sp>
        <p:sp>
          <p:nvSpPr>
            <p:cNvPr id="8217" name="Line 32"/>
            <p:cNvSpPr>
              <a:spLocks noChangeShapeType="1"/>
            </p:cNvSpPr>
            <p:nvPr/>
          </p:nvSpPr>
          <p:spPr bwMode="auto">
            <a:xfrm flipV="1">
              <a:off x="3047" y="2952"/>
              <a:ext cx="4" cy="209"/>
            </a:xfrm>
            <a:prstGeom prst="line">
              <a:avLst/>
            </a:prstGeom>
            <a:noFill/>
            <a:ln w="28575">
              <a:solidFill>
                <a:schemeClr val="tx2">
                  <a:lumMod val="50000"/>
                </a:schemeClr>
              </a:solidFill>
              <a:round/>
              <a:headEnd/>
              <a:tailEnd type="triangle" w="med" len="med"/>
            </a:ln>
          </p:spPr>
          <p:txBody>
            <a:bodyPr/>
            <a:lstStyle/>
            <a:p>
              <a:endParaRPr lang="en-US"/>
            </a:p>
          </p:txBody>
        </p:sp>
        <p:sp>
          <p:nvSpPr>
            <p:cNvPr id="8218" name="Text Box 33"/>
            <p:cNvSpPr txBox="1">
              <a:spLocks noChangeArrowheads="1"/>
            </p:cNvSpPr>
            <p:nvPr/>
          </p:nvSpPr>
          <p:spPr bwMode="auto">
            <a:xfrm>
              <a:off x="2720" y="1982"/>
              <a:ext cx="591" cy="212"/>
            </a:xfrm>
            <a:prstGeom prst="rect">
              <a:avLst/>
            </a:prstGeom>
            <a:noFill/>
            <a:ln w="9525">
              <a:noFill/>
              <a:miter lim="800000"/>
              <a:headEnd/>
              <a:tailEnd/>
            </a:ln>
          </p:spPr>
          <p:txBody>
            <a:bodyPr wrap="none">
              <a:spAutoFit/>
            </a:bodyPr>
            <a:lstStyle/>
            <a:p>
              <a:r>
                <a:rPr lang="en-US" sz="1600" b="1"/>
                <a:t>F</a:t>
              </a:r>
              <a:r>
                <a:rPr lang="en-US" sz="1600" i="1" baseline="-25000"/>
                <a:t>t</a:t>
              </a:r>
              <a:r>
                <a:rPr lang="en-US" sz="1600" i="1"/>
                <a:t>=-P</a:t>
              </a:r>
              <a:r>
                <a:rPr lang="en-US" sz="1600" i="1" baseline="-25000"/>
                <a:t>o</a:t>
              </a:r>
              <a:r>
                <a:rPr lang="en-US" sz="1600" i="1"/>
                <a:t>A</a:t>
              </a:r>
              <a:r>
                <a:rPr lang="en-US" sz="1600" b="1" i="1">
                  <a:cs typeface="Arial" charset="0"/>
                </a:rPr>
                <a:t>ĵ</a:t>
              </a:r>
            </a:p>
          </p:txBody>
        </p:sp>
        <p:sp>
          <p:nvSpPr>
            <p:cNvPr id="8219" name="Text Box 34"/>
            <p:cNvSpPr txBox="1">
              <a:spLocks noChangeArrowheads="1"/>
            </p:cNvSpPr>
            <p:nvPr/>
          </p:nvSpPr>
          <p:spPr bwMode="auto">
            <a:xfrm>
              <a:off x="2580" y="3088"/>
              <a:ext cx="324" cy="231"/>
            </a:xfrm>
            <a:prstGeom prst="rect">
              <a:avLst/>
            </a:prstGeom>
            <a:noFill/>
            <a:ln w="9525">
              <a:noFill/>
              <a:miter lim="800000"/>
              <a:headEnd/>
              <a:tailEnd/>
            </a:ln>
          </p:spPr>
          <p:txBody>
            <a:bodyPr wrap="none">
              <a:spAutoFit/>
            </a:bodyPr>
            <a:lstStyle/>
            <a:p>
              <a:r>
                <a:rPr lang="en-US" i="1"/>
                <a:t>M</a:t>
              </a:r>
              <a:r>
                <a:rPr lang="en-US" b="1" i="1"/>
                <a:t>g</a:t>
              </a:r>
              <a:endParaRPr lang="en-US" b="1" i="1">
                <a:cs typeface="Arial" charset="0"/>
              </a:endParaRPr>
            </a:p>
          </p:txBody>
        </p:sp>
        <p:sp>
          <p:nvSpPr>
            <p:cNvPr id="8220" name="Rectangle 35"/>
            <p:cNvSpPr>
              <a:spLocks noChangeArrowheads="1"/>
            </p:cNvSpPr>
            <p:nvPr/>
          </p:nvSpPr>
          <p:spPr bwMode="auto">
            <a:xfrm>
              <a:off x="2875" y="3122"/>
              <a:ext cx="524" cy="212"/>
            </a:xfrm>
            <a:prstGeom prst="rect">
              <a:avLst/>
            </a:prstGeom>
            <a:noFill/>
            <a:ln w="9525">
              <a:noFill/>
              <a:miter lim="800000"/>
              <a:headEnd/>
              <a:tailEnd/>
            </a:ln>
          </p:spPr>
          <p:txBody>
            <a:bodyPr wrap="none">
              <a:spAutoFit/>
            </a:bodyPr>
            <a:lstStyle/>
            <a:p>
              <a:r>
                <a:rPr lang="en-US" sz="1600" b="1"/>
                <a:t>F</a:t>
              </a:r>
              <a:r>
                <a:rPr lang="en-US" sz="1600" baseline="-25000"/>
                <a:t>b</a:t>
              </a:r>
              <a:r>
                <a:rPr lang="en-US" sz="1600"/>
                <a:t>=PA</a:t>
              </a:r>
              <a:r>
                <a:rPr lang="en-US" sz="1600" b="1"/>
                <a:t>ĵ</a:t>
              </a:r>
            </a:p>
          </p:txBody>
        </p:sp>
        <p:sp>
          <p:nvSpPr>
            <p:cNvPr id="8221" name="Line 36"/>
            <p:cNvSpPr>
              <a:spLocks noChangeShapeType="1"/>
            </p:cNvSpPr>
            <p:nvPr/>
          </p:nvSpPr>
          <p:spPr bwMode="auto">
            <a:xfrm flipH="1">
              <a:off x="2605" y="2938"/>
              <a:ext cx="125" cy="0"/>
            </a:xfrm>
            <a:prstGeom prst="line">
              <a:avLst/>
            </a:prstGeom>
            <a:noFill/>
            <a:ln w="9525">
              <a:solidFill>
                <a:schemeClr val="tx1"/>
              </a:solidFill>
              <a:round/>
              <a:headEnd/>
              <a:tailEnd/>
            </a:ln>
          </p:spPr>
          <p:txBody>
            <a:bodyPr/>
            <a:lstStyle/>
            <a:p>
              <a:endParaRPr lang="en-US"/>
            </a:p>
          </p:txBody>
        </p:sp>
        <p:sp>
          <p:nvSpPr>
            <p:cNvPr id="8222" name="Line 37"/>
            <p:cNvSpPr>
              <a:spLocks noChangeShapeType="1"/>
            </p:cNvSpPr>
            <p:nvPr/>
          </p:nvSpPr>
          <p:spPr bwMode="auto">
            <a:xfrm>
              <a:off x="2593" y="2409"/>
              <a:ext cx="0" cy="515"/>
            </a:xfrm>
            <a:prstGeom prst="line">
              <a:avLst/>
            </a:prstGeom>
            <a:noFill/>
            <a:ln w="9525">
              <a:solidFill>
                <a:schemeClr val="tx1"/>
              </a:solidFill>
              <a:round/>
              <a:headEnd type="triangle" w="med" len="med"/>
              <a:tailEnd type="triangle" w="med" len="med"/>
            </a:ln>
          </p:spPr>
          <p:txBody>
            <a:bodyPr/>
            <a:lstStyle/>
            <a:p>
              <a:endParaRPr lang="en-US"/>
            </a:p>
          </p:txBody>
        </p:sp>
        <p:sp>
          <p:nvSpPr>
            <p:cNvPr id="8223" name="Line 38"/>
            <p:cNvSpPr>
              <a:spLocks noChangeShapeType="1"/>
            </p:cNvSpPr>
            <p:nvPr/>
          </p:nvSpPr>
          <p:spPr bwMode="auto">
            <a:xfrm flipH="1">
              <a:off x="2600" y="2381"/>
              <a:ext cx="126" cy="0"/>
            </a:xfrm>
            <a:prstGeom prst="line">
              <a:avLst/>
            </a:prstGeom>
            <a:noFill/>
            <a:ln w="9525">
              <a:solidFill>
                <a:schemeClr val="tx1"/>
              </a:solidFill>
              <a:round/>
              <a:headEnd/>
              <a:tailEnd/>
            </a:ln>
          </p:spPr>
          <p:txBody>
            <a:bodyPr/>
            <a:lstStyle/>
            <a:p>
              <a:endParaRPr lang="en-US"/>
            </a:p>
          </p:txBody>
        </p:sp>
        <p:sp>
          <p:nvSpPr>
            <p:cNvPr id="8224" name="Text Box 39"/>
            <p:cNvSpPr txBox="1">
              <a:spLocks noChangeArrowheads="1"/>
            </p:cNvSpPr>
            <p:nvPr/>
          </p:nvSpPr>
          <p:spPr bwMode="auto">
            <a:xfrm>
              <a:off x="2502" y="2563"/>
              <a:ext cx="178" cy="192"/>
            </a:xfrm>
            <a:prstGeom prst="rect">
              <a:avLst/>
            </a:prstGeom>
            <a:solidFill>
              <a:schemeClr val="accent1"/>
            </a:solidFill>
            <a:ln w="9525">
              <a:noFill/>
              <a:miter lim="800000"/>
              <a:headEnd/>
              <a:tailEnd/>
            </a:ln>
          </p:spPr>
          <p:txBody>
            <a:bodyPr wrap="none">
              <a:spAutoFit/>
            </a:bodyPr>
            <a:lstStyle/>
            <a:p>
              <a:r>
                <a:rPr lang="en-US" sz="1400" i="1"/>
                <a:t>h</a:t>
              </a:r>
            </a:p>
          </p:txBody>
        </p:sp>
      </p:grpSp>
      <p:sp>
        <p:nvSpPr>
          <p:cNvPr id="8204" name="AutoShape 40"/>
          <p:cNvSpPr>
            <a:spLocks noChangeArrowheads="1"/>
          </p:cNvSpPr>
          <p:nvPr/>
        </p:nvSpPr>
        <p:spPr bwMode="auto">
          <a:xfrm>
            <a:off x="5951538" y="4108450"/>
            <a:ext cx="347662" cy="538163"/>
          </a:xfrm>
          <a:prstGeom prst="rightArrow">
            <a:avLst>
              <a:gd name="adj1" fmla="val 50000"/>
              <a:gd name="adj2" fmla="val 25000"/>
            </a:avLst>
          </a:prstGeom>
          <a:solidFill>
            <a:schemeClr val="accent1"/>
          </a:solidFill>
          <a:ln w="9525">
            <a:solidFill>
              <a:schemeClr val="tx1"/>
            </a:solidFill>
            <a:miter lim="800000"/>
            <a:headEnd/>
            <a:tailEnd/>
          </a:ln>
        </p:spPr>
        <p:txBody>
          <a:bodyPr wrap="none" anchor="ctr"/>
          <a:lstStyle/>
          <a:p>
            <a:endParaRPr lang="en-US"/>
          </a:p>
        </p:txBody>
      </p:sp>
      <p:graphicFrame>
        <p:nvGraphicFramePr>
          <p:cNvPr id="8194" name="Object 41"/>
          <p:cNvGraphicFramePr>
            <a:graphicFrameLocks noGrp="1" noChangeAspect="1"/>
          </p:cNvGraphicFramePr>
          <p:nvPr>
            <p:ph idx="1"/>
          </p:nvPr>
        </p:nvGraphicFramePr>
        <p:xfrm>
          <a:off x="1016000" y="2940050"/>
          <a:ext cx="1246188" cy="307975"/>
        </p:xfrm>
        <a:graphic>
          <a:graphicData uri="http://schemas.openxmlformats.org/presentationml/2006/ole">
            <mc:AlternateContent xmlns:mc="http://schemas.openxmlformats.org/markup-compatibility/2006">
              <mc:Choice xmlns:v="urn:schemas-microsoft-com:vml" Requires="v">
                <p:oleObj name="Equation" r:id="rId2" imgW="927000" imgH="228600" progId="Equation.3">
                  <p:embed/>
                </p:oleObj>
              </mc:Choice>
              <mc:Fallback>
                <p:oleObj name="Equation" r:id="rId2" imgW="927000" imgH="228600" progId="Equation.3">
                  <p:embed/>
                  <p:pic>
                    <p:nvPicPr>
                      <p:cNvPr id="8194" name="Object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16000" y="2940050"/>
                        <a:ext cx="1246188" cy="3079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205" name="Text Box 42"/>
          <p:cNvSpPr txBox="1">
            <a:spLocks noChangeArrowheads="1"/>
          </p:cNvSpPr>
          <p:nvPr/>
        </p:nvSpPr>
        <p:spPr bwMode="auto">
          <a:xfrm>
            <a:off x="517525" y="2505075"/>
            <a:ext cx="1276350" cy="366713"/>
          </a:xfrm>
          <a:prstGeom prst="rect">
            <a:avLst/>
          </a:prstGeom>
          <a:noFill/>
          <a:ln w="9525">
            <a:noFill/>
            <a:miter lim="800000"/>
            <a:headEnd/>
            <a:tailEnd/>
          </a:ln>
        </p:spPr>
        <p:txBody>
          <a:bodyPr wrap="none">
            <a:spAutoFit/>
          </a:bodyPr>
          <a:lstStyle/>
          <a:p>
            <a:r>
              <a:rPr lang="en-US"/>
              <a:t>For a cube</a:t>
            </a:r>
          </a:p>
        </p:txBody>
      </p:sp>
      <p:sp>
        <p:nvSpPr>
          <p:cNvPr id="8206" name="Text Box 43"/>
          <p:cNvSpPr txBox="1">
            <a:spLocks noChangeArrowheads="1"/>
          </p:cNvSpPr>
          <p:nvPr/>
        </p:nvSpPr>
        <p:spPr bwMode="auto">
          <a:xfrm>
            <a:off x="511175" y="3224213"/>
            <a:ext cx="2432050" cy="915987"/>
          </a:xfrm>
          <a:prstGeom prst="rect">
            <a:avLst/>
          </a:prstGeom>
          <a:noFill/>
          <a:ln w="9525">
            <a:noFill/>
            <a:miter lim="800000"/>
            <a:headEnd/>
            <a:tailEnd/>
          </a:ln>
        </p:spPr>
        <p:txBody>
          <a:bodyPr>
            <a:spAutoFit/>
          </a:bodyPr>
          <a:lstStyle/>
          <a:p>
            <a:r>
              <a:rPr lang="en-US"/>
              <a:t>We know the force for a cube shaped parcel  of water</a:t>
            </a:r>
          </a:p>
        </p:txBody>
      </p:sp>
      <p:graphicFrame>
        <p:nvGraphicFramePr>
          <p:cNvPr id="8195" name="Object 44"/>
          <p:cNvGraphicFramePr>
            <a:graphicFrameLocks noChangeAspect="1"/>
          </p:cNvGraphicFramePr>
          <p:nvPr/>
        </p:nvGraphicFramePr>
        <p:xfrm>
          <a:off x="1187450" y="4178300"/>
          <a:ext cx="798513" cy="312738"/>
        </p:xfrm>
        <a:graphic>
          <a:graphicData uri="http://schemas.openxmlformats.org/presentationml/2006/ole">
            <mc:AlternateContent xmlns:mc="http://schemas.openxmlformats.org/markup-compatibility/2006">
              <mc:Choice xmlns:v="urn:schemas-microsoft-com:vml" Requires="v">
                <p:oleObj name="Equation" r:id="rId4" imgW="520560" imgH="203040" progId="Equation.3">
                  <p:embed/>
                </p:oleObj>
              </mc:Choice>
              <mc:Fallback>
                <p:oleObj name="Equation" r:id="rId4" imgW="520560" imgH="203040" progId="Equation.3">
                  <p:embed/>
                  <p:pic>
                    <p:nvPicPr>
                      <p:cNvPr id="8195" name="Object 4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87450" y="4178300"/>
                        <a:ext cx="798513" cy="3127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207" name="Text Box 45"/>
          <p:cNvSpPr txBox="1">
            <a:spLocks noChangeArrowheads="1"/>
          </p:cNvSpPr>
          <p:nvPr/>
        </p:nvSpPr>
        <p:spPr bwMode="auto">
          <a:xfrm>
            <a:off x="560388" y="4483100"/>
            <a:ext cx="3184525" cy="641350"/>
          </a:xfrm>
          <a:prstGeom prst="rect">
            <a:avLst/>
          </a:prstGeom>
          <a:noFill/>
          <a:ln w="9525">
            <a:noFill/>
            <a:miter lim="800000"/>
            <a:headEnd/>
            <a:tailEnd/>
          </a:ln>
        </p:spPr>
        <p:txBody>
          <a:bodyPr>
            <a:spAutoFit/>
          </a:bodyPr>
          <a:lstStyle/>
          <a:p>
            <a:r>
              <a:rPr lang="en-US"/>
              <a:t>Where M is the mass of the parcel of water</a:t>
            </a:r>
          </a:p>
        </p:txBody>
      </p:sp>
      <p:sp>
        <p:nvSpPr>
          <p:cNvPr id="8208" name="Text Box 46"/>
          <p:cNvSpPr txBox="1">
            <a:spLocks noChangeArrowheads="1"/>
          </p:cNvSpPr>
          <p:nvPr/>
        </p:nvSpPr>
        <p:spPr bwMode="auto">
          <a:xfrm>
            <a:off x="511175" y="5208588"/>
            <a:ext cx="7596188" cy="915987"/>
          </a:xfrm>
          <a:prstGeom prst="rect">
            <a:avLst/>
          </a:prstGeom>
          <a:noFill/>
          <a:ln w="9525">
            <a:noFill/>
            <a:miter lim="800000"/>
            <a:headEnd/>
            <a:tailEnd/>
          </a:ln>
        </p:spPr>
        <p:txBody>
          <a:bodyPr>
            <a:spAutoFit/>
          </a:bodyPr>
          <a:lstStyle/>
          <a:p>
            <a:endParaRPr lang="en-US"/>
          </a:p>
          <a:p>
            <a:r>
              <a:rPr lang="en-US"/>
              <a:t>By replacing the cube of water with a cube of another material, we have not changed the forces acting on the cube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21" name="Date Placeholder 3"/>
          <p:cNvSpPr>
            <a:spLocks noGrp="1"/>
          </p:cNvSpPr>
          <p:nvPr>
            <p:ph type="dt" sz="quarter" idx="10"/>
          </p:nvPr>
        </p:nvSpPr>
        <p:spPr>
          <a:noFill/>
        </p:spPr>
        <p:txBody>
          <a:bodyPr/>
          <a:lstStyle/>
          <a:p>
            <a:r>
              <a:rPr lang="en-US"/>
              <a:t>Winter 2007</a:t>
            </a:r>
          </a:p>
        </p:txBody>
      </p:sp>
      <p:sp>
        <p:nvSpPr>
          <p:cNvPr id="9222" name="Footer Placeholder 4"/>
          <p:cNvSpPr>
            <a:spLocks noGrp="1"/>
          </p:cNvSpPr>
          <p:nvPr>
            <p:ph type="ftr" sz="quarter" idx="11"/>
          </p:nvPr>
        </p:nvSpPr>
        <p:spPr>
          <a:noFill/>
        </p:spPr>
        <p:txBody>
          <a:bodyPr/>
          <a:lstStyle/>
          <a:p>
            <a:r>
              <a:rPr lang="en-US"/>
              <a:t>R. Todd Lines</a:t>
            </a:r>
          </a:p>
        </p:txBody>
      </p:sp>
      <p:sp>
        <p:nvSpPr>
          <p:cNvPr id="9223" name="Slide Number Placeholder 5"/>
          <p:cNvSpPr>
            <a:spLocks noGrp="1"/>
          </p:cNvSpPr>
          <p:nvPr>
            <p:ph type="sldNum" sz="quarter" idx="12"/>
          </p:nvPr>
        </p:nvSpPr>
        <p:spPr>
          <a:noFill/>
        </p:spPr>
        <p:txBody>
          <a:bodyPr/>
          <a:lstStyle/>
          <a:p>
            <a:fld id="{28A214C6-D933-4EF9-81EA-C6A7E6B29911}" type="slidenum">
              <a:rPr lang="en-US" smtClean="0"/>
              <a:pPr/>
              <a:t>46</a:t>
            </a:fld>
            <a:endParaRPr lang="en-US"/>
          </a:p>
        </p:txBody>
      </p:sp>
      <p:sp>
        <p:nvSpPr>
          <p:cNvPr id="9224" name="Rectangle 2"/>
          <p:cNvSpPr>
            <a:spLocks noGrp="1" noChangeArrowheads="1"/>
          </p:cNvSpPr>
          <p:nvPr>
            <p:ph type="title"/>
          </p:nvPr>
        </p:nvSpPr>
        <p:spPr/>
        <p:txBody>
          <a:bodyPr/>
          <a:lstStyle/>
          <a:p>
            <a:pPr eaLnBrk="1" hangingPunct="1"/>
            <a:r>
              <a:rPr lang="en-US" sz="3200"/>
              <a:t>Case1: Totally Submerged Object</a:t>
            </a:r>
          </a:p>
        </p:txBody>
      </p:sp>
      <p:graphicFrame>
        <p:nvGraphicFramePr>
          <p:cNvPr id="9218" name="Object 3"/>
          <p:cNvGraphicFramePr>
            <a:graphicFrameLocks noGrp="1" noChangeAspect="1"/>
          </p:cNvGraphicFramePr>
          <p:nvPr>
            <p:ph idx="1"/>
          </p:nvPr>
        </p:nvGraphicFramePr>
        <p:xfrm>
          <a:off x="588963" y="1898650"/>
          <a:ext cx="2444750" cy="360363"/>
        </p:xfrm>
        <a:graphic>
          <a:graphicData uri="http://schemas.openxmlformats.org/presentationml/2006/ole">
            <mc:AlternateContent xmlns:mc="http://schemas.openxmlformats.org/markup-compatibility/2006">
              <mc:Choice xmlns:v="urn:schemas-microsoft-com:vml" Requires="v">
                <p:oleObj name="Equation" r:id="rId2" imgW="1638000" imgH="241200" progId="Equation.3">
                  <p:embed/>
                </p:oleObj>
              </mc:Choice>
              <mc:Fallback>
                <p:oleObj name="Equation" r:id="rId2" imgW="1638000" imgH="241200" progId="Equation.3">
                  <p:embed/>
                  <p:pic>
                    <p:nvPicPr>
                      <p:cNvPr id="9218"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8963" y="1898650"/>
                        <a:ext cx="2444750" cy="3603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4"/>
          <p:cNvGrpSpPr>
            <a:grpSpLocks/>
          </p:cNvGrpSpPr>
          <p:nvPr/>
        </p:nvGrpSpPr>
        <p:grpSpPr bwMode="auto">
          <a:xfrm>
            <a:off x="6089650" y="2487613"/>
            <a:ext cx="1900238" cy="2259012"/>
            <a:chOff x="3596" y="1780"/>
            <a:chExt cx="1416" cy="1624"/>
          </a:xfrm>
        </p:grpSpPr>
        <p:sp>
          <p:nvSpPr>
            <p:cNvPr id="9245" name="Freeform 5"/>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9246" name="Freeform 6"/>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9226" name="AutoShape 7"/>
          <p:cNvSpPr>
            <a:spLocks noChangeArrowheads="1"/>
          </p:cNvSpPr>
          <p:nvPr/>
        </p:nvSpPr>
        <p:spPr bwMode="auto">
          <a:xfrm>
            <a:off x="6310313" y="2903538"/>
            <a:ext cx="1458912" cy="1792287"/>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9227" name="Rectangle 8"/>
          <p:cNvSpPr>
            <a:spLocks noChangeArrowheads="1"/>
          </p:cNvSpPr>
          <p:nvPr/>
        </p:nvSpPr>
        <p:spPr bwMode="auto">
          <a:xfrm>
            <a:off x="6310313" y="2876550"/>
            <a:ext cx="1443037" cy="344488"/>
          </a:xfrm>
          <a:prstGeom prst="rect">
            <a:avLst/>
          </a:prstGeom>
          <a:solidFill>
            <a:schemeClr val="accent1"/>
          </a:solidFill>
          <a:ln w="9525">
            <a:noFill/>
            <a:miter lim="800000"/>
            <a:headEnd/>
            <a:tailEnd/>
          </a:ln>
        </p:spPr>
        <p:txBody>
          <a:bodyPr wrap="none" anchor="ctr"/>
          <a:lstStyle/>
          <a:p>
            <a:endParaRPr lang="en-US"/>
          </a:p>
        </p:txBody>
      </p:sp>
      <p:sp>
        <p:nvSpPr>
          <p:cNvPr id="9228" name="Freeform 9"/>
          <p:cNvSpPr>
            <a:spLocks/>
          </p:cNvSpPr>
          <p:nvPr/>
        </p:nvSpPr>
        <p:spPr bwMode="auto">
          <a:xfrm>
            <a:off x="6202363" y="2481263"/>
            <a:ext cx="838200" cy="2209800"/>
          </a:xfrm>
          <a:custGeom>
            <a:avLst/>
            <a:gdLst>
              <a:gd name="T0" fmla="*/ 0 w 624"/>
              <a:gd name="T1" fmla="*/ 0 h 1588"/>
              <a:gd name="T2" fmla="*/ 59104 w 624"/>
              <a:gd name="T3" fmla="*/ 22265 h 1588"/>
              <a:gd name="T4" fmla="*/ 85969 w 624"/>
              <a:gd name="T5" fmla="*/ 77927 h 1588"/>
              <a:gd name="T6" fmla="*/ 107462 w 624"/>
              <a:gd name="T7" fmla="*/ 200385 h 1588"/>
              <a:gd name="T8" fmla="*/ 118208 w 624"/>
              <a:gd name="T9" fmla="*/ 584456 h 1588"/>
              <a:gd name="T10" fmla="*/ 112835 w 624"/>
              <a:gd name="T11" fmla="*/ 1230141 h 1588"/>
              <a:gd name="T12" fmla="*/ 112835 w 624"/>
              <a:gd name="T13" fmla="*/ 1753368 h 1588"/>
              <a:gd name="T14" fmla="*/ 123581 w 624"/>
              <a:gd name="T15" fmla="*/ 2009415 h 1588"/>
              <a:gd name="T16" fmla="*/ 166565 w 624"/>
              <a:gd name="T17" fmla="*/ 2098475 h 1588"/>
              <a:gd name="T18" fmla="*/ 231042 w 624"/>
              <a:gd name="T19" fmla="*/ 2159704 h 1588"/>
              <a:gd name="T20" fmla="*/ 327758 w 624"/>
              <a:gd name="T21" fmla="*/ 2209800 h 1588"/>
              <a:gd name="T22" fmla="*/ 510442 w 624"/>
              <a:gd name="T23" fmla="*/ 2209800 h 1588"/>
              <a:gd name="T24" fmla="*/ 784469 w 624"/>
              <a:gd name="T25" fmla="*/ 2209800 h 1588"/>
              <a:gd name="T26" fmla="*/ 838200 w 624"/>
              <a:gd name="T27" fmla="*/ 2209800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9229" name="Freeform 10"/>
          <p:cNvSpPr>
            <a:spLocks/>
          </p:cNvSpPr>
          <p:nvPr/>
        </p:nvSpPr>
        <p:spPr bwMode="auto">
          <a:xfrm flipH="1">
            <a:off x="7040563" y="2481263"/>
            <a:ext cx="836612" cy="2209800"/>
          </a:xfrm>
          <a:custGeom>
            <a:avLst/>
            <a:gdLst>
              <a:gd name="T0" fmla="*/ 0 w 624"/>
              <a:gd name="T1" fmla="*/ 0 h 1588"/>
              <a:gd name="T2" fmla="*/ 58992 w 624"/>
              <a:gd name="T3" fmla="*/ 22265 h 1588"/>
              <a:gd name="T4" fmla="*/ 85806 w 624"/>
              <a:gd name="T5" fmla="*/ 77927 h 1588"/>
              <a:gd name="T6" fmla="*/ 107258 w 624"/>
              <a:gd name="T7" fmla="*/ 200385 h 1588"/>
              <a:gd name="T8" fmla="*/ 117984 w 624"/>
              <a:gd name="T9" fmla="*/ 584456 h 1588"/>
              <a:gd name="T10" fmla="*/ 112621 w 624"/>
              <a:gd name="T11" fmla="*/ 1230141 h 1588"/>
              <a:gd name="T12" fmla="*/ 112621 w 624"/>
              <a:gd name="T13" fmla="*/ 1753368 h 1588"/>
              <a:gd name="T14" fmla="*/ 123347 w 624"/>
              <a:gd name="T15" fmla="*/ 2009415 h 1588"/>
              <a:gd name="T16" fmla="*/ 166250 w 624"/>
              <a:gd name="T17" fmla="*/ 2098475 h 1588"/>
              <a:gd name="T18" fmla="*/ 230605 w 624"/>
              <a:gd name="T19" fmla="*/ 2159704 h 1588"/>
              <a:gd name="T20" fmla="*/ 327137 w 624"/>
              <a:gd name="T21" fmla="*/ 2209800 h 1588"/>
              <a:gd name="T22" fmla="*/ 509475 w 624"/>
              <a:gd name="T23" fmla="*/ 2209800 h 1588"/>
              <a:gd name="T24" fmla="*/ 782983 w 624"/>
              <a:gd name="T25" fmla="*/ 2209800 h 1588"/>
              <a:gd name="T26" fmla="*/ 836612 w 624"/>
              <a:gd name="T27" fmla="*/ 2209800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9230" name="Rectangle 11"/>
          <p:cNvSpPr>
            <a:spLocks noChangeArrowheads="1"/>
          </p:cNvSpPr>
          <p:nvPr/>
        </p:nvSpPr>
        <p:spPr bwMode="auto">
          <a:xfrm>
            <a:off x="6819900" y="3176588"/>
            <a:ext cx="509588" cy="890587"/>
          </a:xfrm>
          <a:prstGeom prst="rect">
            <a:avLst/>
          </a:prstGeom>
          <a:solidFill>
            <a:srgbClr val="800000"/>
          </a:solidFill>
          <a:ln w="9525">
            <a:solidFill>
              <a:schemeClr val="tx1"/>
            </a:solidFill>
            <a:miter lim="800000"/>
            <a:headEnd/>
            <a:tailEnd/>
          </a:ln>
        </p:spPr>
        <p:txBody>
          <a:bodyPr wrap="none" anchor="ctr"/>
          <a:lstStyle/>
          <a:p>
            <a:endParaRPr lang="en-US"/>
          </a:p>
        </p:txBody>
      </p:sp>
      <p:sp>
        <p:nvSpPr>
          <p:cNvPr id="9231" name="Line 12"/>
          <p:cNvSpPr>
            <a:spLocks noChangeShapeType="1"/>
          </p:cNvSpPr>
          <p:nvPr/>
        </p:nvSpPr>
        <p:spPr bwMode="auto">
          <a:xfrm flipH="1">
            <a:off x="6578600" y="4067175"/>
            <a:ext cx="182563" cy="0"/>
          </a:xfrm>
          <a:prstGeom prst="line">
            <a:avLst/>
          </a:prstGeom>
          <a:noFill/>
          <a:ln w="9525">
            <a:solidFill>
              <a:schemeClr val="tx1"/>
            </a:solidFill>
            <a:round/>
            <a:headEnd/>
            <a:tailEnd/>
          </a:ln>
        </p:spPr>
        <p:txBody>
          <a:bodyPr/>
          <a:lstStyle/>
          <a:p>
            <a:endParaRPr lang="en-US"/>
          </a:p>
        </p:txBody>
      </p:sp>
      <p:sp>
        <p:nvSpPr>
          <p:cNvPr id="9232" name="Line 13"/>
          <p:cNvSpPr>
            <a:spLocks noChangeShapeType="1"/>
          </p:cNvSpPr>
          <p:nvPr/>
        </p:nvSpPr>
        <p:spPr bwMode="auto">
          <a:xfrm>
            <a:off x="6561138" y="3227388"/>
            <a:ext cx="0" cy="817562"/>
          </a:xfrm>
          <a:prstGeom prst="line">
            <a:avLst/>
          </a:prstGeom>
          <a:noFill/>
          <a:ln w="9525">
            <a:solidFill>
              <a:schemeClr val="tx1"/>
            </a:solidFill>
            <a:round/>
            <a:headEnd type="triangle" w="med" len="med"/>
            <a:tailEnd type="triangle" w="med" len="med"/>
          </a:ln>
        </p:spPr>
        <p:txBody>
          <a:bodyPr/>
          <a:lstStyle/>
          <a:p>
            <a:endParaRPr lang="en-US"/>
          </a:p>
        </p:txBody>
      </p:sp>
      <p:sp>
        <p:nvSpPr>
          <p:cNvPr id="9233" name="Line 14"/>
          <p:cNvSpPr>
            <a:spLocks noChangeShapeType="1"/>
          </p:cNvSpPr>
          <p:nvPr/>
        </p:nvSpPr>
        <p:spPr bwMode="auto">
          <a:xfrm>
            <a:off x="7083425" y="4067175"/>
            <a:ext cx="0" cy="279400"/>
          </a:xfrm>
          <a:prstGeom prst="line">
            <a:avLst/>
          </a:prstGeom>
          <a:noFill/>
          <a:ln w="28575">
            <a:solidFill>
              <a:schemeClr val="tx2">
                <a:lumMod val="50000"/>
              </a:schemeClr>
            </a:solidFill>
            <a:round/>
            <a:headEnd/>
            <a:tailEnd type="triangle" w="med" len="med"/>
          </a:ln>
        </p:spPr>
        <p:txBody>
          <a:bodyPr/>
          <a:lstStyle/>
          <a:p>
            <a:endParaRPr lang="en-US"/>
          </a:p>
        </p:txBody>
      </p:sp>
      <p:sp>
        <p:nvSpPr>
          <p:cNvPr id="9234" name="Line 15"/>
          <p:cNvSpPr>
            <a:spLocks noChangeShapeType="1"/>
          </p:cNvSpPr>
          <p:nvPr/>
        </p:nvSpPr>
        <p:spPr bwMode="auto">
          <a:xfrm flipV="1">
            <a:off x="7067550" y="2878138"/>
            <a:ext cx="6350" cy="292100"/>
          </a:xfrm>
          <a:prstGeom prst="line">
            <a:avLst/>
          </a:prstGeom>
          <a:noFill/>
          <a:ln w="28575">
            <a:solidFill>
              <a:schemeClr val="tx2">
                <a:lumMod val="50000"/>
              </a:schemeClr>
            </a:solidFill>
            <a:round/>
            <a:headEnd/>
            <a:tailEnd type="triangle" w="med" len="med"/>
          </a:ln>
        </p:spPr>
        <p:txBody>
          <a:bodyPr/>
          <a:lstStyle/>
          <a:p>
            <a:endParaRPr lang="en-US"/>
          </a:p>
        </p:txBody>
      </p:sp>
      <p:sp>
        <p:nvSpPr>
          <p:cNvPr id="9235" name="Text Box 16"/>
          <p:cNvSpPr txBox="1">
            <a:spLocks noChangeArrowheads="1"/>
          </p:cNvSpPr>
          <p:nvPr/>
        </p:nvSpPr>
        <p:spPr bwMode="auto">
          <a:xfrm>
            <a:off x="6831013" y="4302125"/>
            <a:ext cx="417512" cy="366713"/>
          </a:xfrm>
          <a:prstGeom prst="rect">
            <a:avLst/>
          </a:prstGeom>
          <a:noFill/>
          <a:ln w="9525">
            <a:noFill/>
            <a:miter lim="800000"/>
            <a:headEnd/>
            <a:tailEnd/>
          </a:ln>
        </p:spPr>
        <p:txBody>
          <a:bodyPr wrap="none">
            <a:spAutoFit/>
          </a:bodyPr>
          <a:lstStyle/>
          <a:p>
            <a:r>
              <a:rPr lang="en-US" b="1"/>
              <a:t>F</a:t>
            </a:r>
            <a:r>
              <a:rPr lang="en-US" b="1" i="1" baseline="-25000"/>
              <a:t>g</a:t>
            </a:r>
            <a:endParaRPr lang="en-US" b="1" i="1" baseline="-25000">
              <a:cs typeface="Arial" charset="0"/>
            </a:endParaRPr>
          </a:p>
        </p:txBody>
      </p:sp>
      <p:sp>
        <p:nvSpPr>
          <p:cNvPr id="9236" name="Text Box 17"/>
          <p:cNvSpPr txBox="1">
            <a:spLocks noChangeArrowheads="1"/>
          </p:cNvSpPr>
          <p:nvPr/>
        </p:nvSpPr>
        <p:spPr bwMode="auto">
          <a:xfrm>
            <a:off x="6429375" y="3471863"/>
            <a:ext cx="282575" cy="304800"/>
          </a:xfrm>
          <a:prstGeom prst="rect">
            <a:avLst/>
          </a:prstGeom>
          <a:solidFill>
            <a:schemeClr val="accent1"/>
          </a:solidFill>
          <a:ln w="9525">
            <a:noFill/>
            <a:miter lim="800000"/>
            <a:headEnd/>
            <a:tailEnd/>
          </a:ln>
        </p:spPr>
        <p:txBody>
          <a:bodyPr wrap="none">
            <a:spAutoFit/>
          </a:bodyPr>
          <a:lstStyle/>
          <a:p>
            <a:r>
              <a:rPr lang="en-US" sz="1400" i="1"/>
              <a:t>h</a:t>
            </a:r>
          </a:p>
        </p:txBody>
      </p:sp>
      <p:sp>
        <p:nvSpPr>
          <p:cNvPr id="9237" name="Rectangle 18"/>
          <p:cNvSpPr>
            <a:spLocks noChangeArrowheads="1"/>
          </p:cNvSpPr>
          <p:nvPr/>
        </p:nvSpPr>
        <p:spPr bwMode="auto">
          <a:xfrm>
            <a:off x="7116763" y="2835275"/>
            <a:ext cx="349250" cy="366713"/>
          </a:xfrm>
          <a:prstGeom prst="rect">
            <a:avLst/>
          </a:prstGeom>
          <a:noFill/>
          <a:ln w="9525">
            <a:noFill/>
            <a:miter lim="800000"/>
            <a:headEnd/>
            <a:tailEnd/>
          </a:ln>
        </p:spPr>
        <p:txBody>
          <a:bodyPr wrap="none">
            <a:spAutoFit/>
          </a:bodyPr>
          <a:lstStyle/>
          <a:p>
            <a:r>
              <a:rPr lang="en-US" b="1"/>
              <a:t>B</a:t>
            </a:r>
            <a:endParaRPr lang="en-US" b="1" i="1"/>
          </a:p>
        </p:txBody>
      </p:sp>
      <p:sp>
        <p:nvSpPr>
          <p:cNvPr id="9238" name="Text Box 19"/>
          <p:cNvSpPr txBox="1">
            <a:spLocks noChangeArrowheads="1"/>
          </p:cNvSpPr>
          <p:nvPr/>
        </p:nvSpPr>
        <p:spPr bwMode="auto">
          <a:xfrm>
            <a:off x="7991475" y="3124200"/>
            <a:ext cx="741363" cy="366713"/>
          </a:xfrm>
          <a:prstGeom prst="rect">
            <a:avLst/>
          </a:prstGeom>
          <a:noFill/>
          <a:ln w="9525">
            <a:noFill/>
            <a:miter lim="800000"/>
            <a:headEnd/>
            <a:tailEnd/>
          </a:ln>
        </p:spPr>
        <p:txBody>
          <a:bodyPr wrap="none">
            <a:spAutoFit/>
          </a:bodyPr>
          <a:lstStyle/>
          <a:p>
            <a:r>
              <a:rPr lang="en-US" i="1"/>
              <a:t>V</a:t>
            </a:r>
            <a:r>
              <a:rPr lang="en-US" i="1" baseline="-25000"/>
              <a:t>object</a:t>
            </a:r>
          </a:p>
        </p:txBody>
      </p:sp>
      <p:sp>
        <p:nvSpPr>
          <p:cNvPr id="9239" name="Freeform 20"/>
          <p:cNvSpPr>
            <a:spLocks/>
          </p:cNvSpPr>
          <p:nvPr/>
        </p:nvSpPr>
        <p:spPr bwMode="auto">
          <a:xfrm rot="1156648">
            <a:off x="7421563" y="3219450"/>
            <a:ext cx="433387" cy="654050"/>
          </a:xfrm>
          <a:custGeom>
            <a:avLst/>
            <a:gdLst>
              <a:gd name="T0" fmla="*/ 433387 w 292"/>
              <a:gd name="T1" fmla="*/ 0 h 430"/>
              <a:gd name="T2" fmla="*/ 161778 w 292"/>
              <a:gd name="T3" fmla="*/ 333109 h 430"/>
              <a:gd name="T4" fmla="*/ 311682 w 292"/>
              <a:gd name="T5" fmla="*/ 362009 h 430"/>
              <a:gd name="T6" fmla="*/ 0 w 292"/>
              <a:gd name="T7" fmla="*/ 654050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9240" name="AutoShape 21"/>
          <p:cNvSpPr>
            <a:spLocks noChangeArrowheads="1"/>
          </p:cNvSpPr>
          <p:nvPr/>
        </p:nvSpPr>
        <p:spPr bwMode="auto">
          <a:xfrm>
            <a:off x="522288" y="5067300"/>
            <a:ext cx="8243887" cy="90011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t>The motion of an object submerged in a fluid is determined only by the densities of the object and the fluid</a:t>
            </a:r>
          </a:p>
        </p:txBody>
      </p:sp>
      <p:graphicFrame>
        <p:nvGraphicFramePr>
          <p:cNvPr id="9219" name="Object 22"/>
          <p:cNvGraphicFramePr>
            <a:graphicFrameLocks noChangeAspect="1"/>
          </p:cNvGraphicFramePr>
          <p:nvPr/>
        </p:nvGraphicFramePr>
        <p:xfrm>
          <a:off x="560388" y="3740150"/>
          <a:ext cx="3179762" cy="522288"/>
        </p:xfrm>
        <a:graphic>
          <a:graphicData uri="http://schemas.openxmlformats.org/presentationml/2006/ole">
            <mc:AlternateContent xmlns:mc="http://schemas.openxmlformats.org/markup-compatibility/2006">
              <mc:Choice xmlns:v="urn:schemas-microsoft-com:vml" Requires="v">
                <p:oleObj name="Equation" r:id="rId4" imgW="1447800" imgH="241300" progId="Equation.3">
                  <p:embed/>
                </p:oleObj>
              </mc:Choice>
              <mc:Fallback>
                <p:oleObj name="Equation" r:id="rId4" imgW="1447800" imgH="241300" progId="Equation.3">
                  <p:embed/>
                  <p:pic>
                    <p:nvPicPr>
                      <p:cNvPr id="9219" name="Object 2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0388" y="3740150"/>
                        <a:ext cx="3179762" cy="5222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9220" name="Object 23"/>
          <p:cNvGraphicFramePr>
            <a:graphicFrameLocks noChangeAspect="1"/>
          </p:cNvGraphicFramePr>
          <p:nvPr/>
        </p:nvGraphicFramePr>
        <p:xfrm>
          <a:off x="5159375" y="1493838"/>
          <a:ext cx="3506788" cy="698500"/>
        </p:xfrm>
        <a:graphic>
          <a:graphicData uri="http://schemas.openxmlformats.org/presentationml/2006/ole">
            <mc:AlternateContent xmlns:mc="http://schemas.openxmlformats.org/markup-compatibility/2006">
              <mc:Choice xmlns:v="urn:schemas-microsoft-com:vml" Requires="v">
                <p:oleObj name="Equation" r:id="rId6" imgW="2438280" imgH="482400" progId="Equation.3">
                  <p:embed/>
                </p:oleObj>
              </mc:Choice>
              <mc:Fallback>
                <p:oleObj name="Equation" r:id="rId6" imgW="2438280" imgH="482400" progId="Equation.3">
                  <p:embed/>
                  <p:pic>
                    <p:nvPicPr>
                      <p:cNvPr id="9220" name="Object 2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159375" y="1493838"/>
                        <a:ext cx="3506788" cy="6985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241" name="Rectangle 24"/>
          <p:cNvSpPr>
            <a:spLocks noChangeArrowheads="1"/>
          </p:cNvSpPr>
          <p:nvPr/>
        </p:nvSpPr>
        <p:spPr bwMode="auto">
          <a:xfrm>
            <a:off x="269875" y="1411288"/>
            <a:ext cx="3840163" cy="581025"/>
          </a:xfrm>
          <a:prstGeom prst="rect">
            <a:avLst/>
          </a:prstGeom>
          <a:noFill/>
          <a:ln w="9525">
            <a:noFill/>
            <a:miter lim="800000"/>
            <a:headEnd/>
            <a:tailEnd/>
          </a:ln>
        </p:spPr>
        <p:txBody>
          <a:bodyPr anchor="ctr">
            <a:spAutoFit/>
          </a:bodyPr>
          <a:lstStyle/>
          <a:p>
            <a:r>
              <a:rPr lang="en-US" sz="1600">
                <a:cs typeface="Times New Roman" pitchFamily="18" charset="0"/>
              </a:rPr>
              <a:t>The magnitude of the buoyant force is</a:t>
            </a:r>
            <a:endParaRPr lang="en-US" sz="1600"/>
          </a:p>
          <a:p>
            <a:pPr eaLnBrk="0" hangingPunct="0"/>
            <a:endParaRPr lang="en-US" sz="1600"/>
          </a:p>
        </p:txBody>
      </p:sp>
      <p:sp>
        <p:nvSpPr>
          <p:cNvPr id="9242" name="Rectangle 25"/>
          <p:cNvSpPr>
            <a:spLocks noChangeArrowheads="1"/>
          </p:cNvSpPr>
          <p:nvPr/>
        </p:nvSpPr>
        <p:spPr bwMode="auto">
          <a:xfrm>
            <a:off x="430213" y="2603500"/>
            <a:ext cx="4292600" cy="1069975"/>
          </a:xfrm>
          <a:prstGeom prst="rect">
            <a:avLst/>
          </a:prstGeom>
          <a:noFill/>
          <a:ln w="9525">
            <a:noFill/>
            <a:miter lim="800000"/>
            <a:headEnd/>
            <a:tailEnd/>
          </a:ln>
        </p:spPr>
        <p:txBody>
          <a:bodyPr anchor="ctr">
            <a:spAutoFit/>
          </a:bodyPr>
          <a:lstStyle/>
          <a:p>
            <a:r>
              <a:rPr lang="en-US" sz="1600">
                <a:cs typeface="Times New Roman" pitchFamily="18" charset="0"/>
              </a:rPr>
              <a:t>Think Archimedes: The weight of the fluid displaced by the object. So we have the volume of the object as part of our equation</a:t>
            </a:r>
            <a:endParaRPr lang="en-US" sz="1600"/>
          </a:p>
          <a:p>
            <a:pPr eaLnBrk="0" hangingPunct="0"/>
            <a:r>
              <a:rPr lang="en-US" sz="1600">
                <a:cs typeface="Times New Roman" pitchFamily="18" charset="0"/>
              </a:rPr>
              <a:t>If the object has mass  </a:t>
            </a:r>
            <a:endParaRPr lang="en-US" sz="1600"/>
          </a:p>
        </p:txBody>
      </p:sp>
      <p:sp>
        <p:nvSpPr>
          <p:cNvPr id="9243" name="Rectangle 26"/>
          <p:cNvSpPr>
            <a:spLocks noChangeArrowheads="1"/>
          </p:cNvSpPr>
          <p:nvPr/>
        </p:nvSpPr>
        <p:spPr bwMode="auto">
          <a:xfrm>
            <a:off x="544513" y="4389438"/>
            <a:ext cx="1643062" cy="336550"/>
          </a:xfrm>
          <a:prstGeom prst="rect">
            <a:avLst/>
          </a:prstGeom>
          <a:noFill/>
          <a:ln w="9525">
            <a:noFill/>
            <a:miter lim="800000"/>
            <a:headEnd/>
            <a:tailEnd/>
          </a:ln>
        </p:spPr>
        <p:txBody>
          <a:bodyPr wrap="none" anchor="ctr">
            <a:spAutoFit/>
          </a:bodyPr>
          <a:lstStyle/>
          <a:p>
            <a:r>
              <a:rPr lang="en-US" sz="1600">
                <a:cs typeface="Times New Roman" pitchFamily="18" charset="0"/>
              </a:rPr>
              <a:t>The net force is </a:t>
            </a:r>
            <a:endParaRPr lang="en-US" sz="1600"/>
          </a:p>
        </p:txBody>
      </p:sp>
      <p:sp>
        <p:nvSpPr>
          <p:cNvPr id="9244" name="Line 27"/>
          <p:cNvSpPr>
            <a:spLocks noChangeShapeType="1"/>
          </p:cNvSpPr>
          <p:nvPr/>
        </p:nvSpPr>
        <p:spPr bwMode="auto">
          <a:xfrm flipH="1">
            <a:off x="6573838" y="3162300"/>
            <a:ext cx="182562" cy="0"/>
          </a:xfrm>
          <a:prstGeom prst="line">
            <a:avLst/>
          </a:prstGeom>
          <a:noFill/>
          <a:ln w="9525">
            <a:solidFill>
              <a:schemeClr val="tx1"/>
            </a:solidFill>
            <a:round/>
            <a:headEnd/>
            <a:tailEnd/>
          </a:ln>
        </p:spPr>
        <p:txBody>
          <a:bodyPr/>
          <a:lstStyle/>
          <a:p>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Date Placeholder 3"/>
          <p:cNvSpPr>
            <a:spLocks noGrp="1"/>
          </p:cNvSpPr>
          <p:nvPr>
            <p:ph type="dt" sz="quarter" idx="10"/>
          </p:nvPr>
        </p:nvSpPr>
        <p:spPr>
          <a:noFill/>
        </p:spPr>
        <p:txBody>
          <a:bodyPr/>
          <a:lstStyle/>
          <a:p>
            <a:r>
              <a:rPr lang="en-US"/>
              <a:t>Winter 2007</a:t>
            </a:r>
          </a:p>
        </p:txBody>
      </p:sp>
      <p:sp>
        <p:nvSpPr>
          <p:cNvPr id="29699" name="Footer Placeholder 4"/>
          <p:cNvSpPr>
            <a:spLocks noGrp="1"/>
          </p:cNvSpPr>
          <p:nvPr>
            <p:ph type="ftr" sz="quarter" idx="11"/>
          </p:nvPr>
        </p:nvSpPr>
        <p:spPr>
          <a:noFill/>
        </p:spPr>
        <p:txBody>
          <a:bodyPr/>
          <a:lstStyle/>
          <a:p>
            <a:r>
              <a:rPr lang="en-US"/>
              <a:t>R. Todd Lines</a:t>
            </a:r>
          </a:p>
        </p:txBody>
      </p:sp>
      <p:sp>
        <p:nvSpPr>
          <p:cNvPr id="29700" name="Slide Number Placeholder 5"/>
          <p:cNvSpPr>
            <a:spLocks noGrp="1"/>
          </p:cNvSpPr>
          <p:nvPr>
            <p:ph type="sldNum" sz="quarter" idx="12"/>
          </p:nvPr>
        </p:nvSpPr>
        <p:spPr>
          <a:noFill/>
        </p:spPr>
        <p:txBody>
          <a:bodyPr/>
          <a:lstStyle/>
          <a:p>
            <a:fld id="{A62CECFB-F493-4C14-B032-80978C13E503}" type="slidenum">
              <a:rPr lang="en-US" smtClean="0"/>
              <a:pPr/>
              <a:t>47</a:t>
            </a:fld>
            <a:endParaRPr lang="en-US"/>
          </a:p>
        </p:txBody>
      </p:sp>
      <p:sp>
        <p:nvSpPr>
          <p:cNvPr id="29701" name="Rectangle 2"/>
          <p:cNvSpPr>
            <a:spLocks noGrp="1" noChangeArrowheads="1"/>
          </p:cNvSpPr>
          <p:nvPr>
            <p:ph type="title"/>
          </p:nvPr>
        </p:nvSpPr>
        <p:spPr/>
        <p:txBody>
          <a:bodyPr/>
          <a:lstStyle/>
          <a:p>
            <a:pPr eaLnBrk="1" hangingPunct="1"/>
            <a:r>
              <a:rPr lang="en-US"/>
              <a:t>Buoyant Forces</a:t>
            </a:r>
          </a:p>
        </p:txBody>
      </p:sp>
      <p:sp>
        <p:nvSpPr>
          <p:cNvPr id="29702" name="Rectangle 3"/>
          <p:cNvSpPr>
            <a:spLocks noGrp="1" noChangeArrowheads="1"/>
          </p:cNvSpPr>
          <p:nvPr>
            <p:ph type="body" idx="1"/>
          </p:nvPr>
        </p:nvSpPr>
        <p:spPr>
          <a:xfrm>
            <a:off x="557213" y="1541463"/>
            <a:ext cx="3759200" cy="4525962"/>
          </a:xfrm>
        </p:spPr>
        <p:txBody>
          <a:bodyPr/>
          <a:lstStyle/>
          <a:p>
            <a:pPr eaLnBrk="1" hangingPunct="1">
              <a:lnSpc>
                <a:spcPct val="90000"/>
              </a:lnSpc>
            </a:pPr>
            <a:r>
              <a:rPr lang="en-US" sz="2800"/>
              <a:t>Now take a beach ball sized parcel of water</a:t>
            </a:r>
          </a:p>
          <a:p>
            <a:pPr eaLnBrk="1" hangingPunct="1">
              <a:lnSpc>
                <a:spcPct val="90000"/>
              </a:lnSpc>
            </a:pPr>
            <a:r>
              <a:rPr lang="en-US" sz="2800"/>
              <a:t>There is a force due to gravity and a force due to the pressure</a:t>
            </a:r>
          </a:p>
          <a:p>
            <a:pPr eaLnBrk="1" hangingPunct="1">
              <a:lnSpc>
                <a:spcPct val="90000"/>
              </a:lnSpc>
            </a:pPr>
            <a:r>
              <a:rPr lang="en-US" sz="2800"/>
              <a:t>What happens if we replace the parcel with the beach ball?</a:t>
            </a:r>
          </a:p>
        </p:txBody>
      </p:sp>
      <p:grpSp>
        <p:nvGrpSpPr>
          <p:cNvPr id="24" name="Group 4">
            <a:extLst>
              <a:ext uri="{FF2B5EF4-FFF2-40B4-BE49-F238E27FC236}">
                <a16:creationId xmlns:a16="http://schemas.microsoft.com/office/drawing/2014/main" id="{41A30C95-20D6-4712-9496-FDB68976A711}"/>
              </a:ext>
            </a:extLst>
          </p:cNvPr>
          <p:cNvGrpSpPr>
            <a:grpSpLocks/>
          </p:cNvGrpSpPr>
          <p:nvPr/>
        </p:nvGrpSpPr>
        <p:grpSpPr bwMode="auto">
          <a:xfrm>
            <a:off x="4324350" y="2506663"/>
            <a:ext cx="4195763" cy="3154362"/>
            <a:chOff x="2724" y="1579"/>
            <a:chExt cx="2643" cy="1987"/>
          </a:xfrm>
        </p:grpSpPr>
        <p:grpSp>
          <p:nvGrpSpPr>
            <p:cNvPr id="25" name="Group 5">
              <a:extLst>
                <a:ext uri="{FF2B5EF4-FFF2-40B4-BE49-F238E27FC236}">
                  <a16:creationId xmlns:a16="http://schemas.microsoft.com/office/drawing/2014/main" id="{AEC88641-7251-41E4-8A47-3158E915A1AE}"/>
                </a:ext>
              </a:extLst>
            </p:cNvPr>
            <p:cNvGrpSpPr>
              <a:grpSpLocks/>
            </p:cNvGrpSpPr>
            <p:nvPr/>
          </p:nvGrpSpPr>
          <p:grpSpPr bwMode="auto">
            <a:xfrm>
              <a:off x="3941" y="1579"/>
              <a:ext cx="1426" cy="1987"/>
              <a:chOff x="3593" y="1643"/>
              <a:chExt cx="1426" cy="1987"/>
            </a:xfrm>
          </p:grpSpPr>
          <p:sp>
            <p:nvSpPr>
              <p:cNvPr id="32" name="Freeform 6">
                <a:extLst>
                  <a:ext uri="{FF2B5EF4-FFF2-40B4-BE49-F238E27FC236}">
                    <a16:creationId xmlns:a16="http://schemas.microsoft.com/office/drawing/2014/main" id="{93A522B1-8815-413D-947C-BE295C904E9C}"/>
                  </a:ext>
                </a:extLst>
              </p:cNvPr>
              <p:cNvSpPr>
                <a:spLocks/>
              </p:cNvSpPr>
              <p:nvPr/>
            </p:nvSpPr>
            <p:spPr bwMode="auto">
              <a:xfrm>
                <a:off x="3707" y="1643"/>
                <a:ext cx="1297" cy="91"/>
              </a:xfrm>
              <a:custGeom>
                <a:avLst/>
                <a:gdLst>
                  <a:gd name="T0" fmla="*/ 0 w 1426"/>
                  <a:gd name="T1" fmla="*/ 83 h 100"/>
                  <a:gd name="T2" fmla="*/ 125 w 1426"/>
                  <a:gd name="T3" fmla="*/ 66 h 100"/>
                  <a:gd name="T4" fmla="*/ 233 w 1426"/>
                  <a:gd name="T5" fmla="*/ 25 h 100"/>
                  <a:gd name="T6" fmla="*/ 307 w 1426"/>
                  <a:gd name="T7" fmla="*/ 58 h 100"/>
                  <a:gd name="T8" fmla="*/ 433 w 1426"/>
                  <a:gd name="T9" fmla="*/ 66 h 100"/>
                  <a:gd name="T10" fmla="*/ 558 w 1426"/>
                  <a:gd name="T11" fmla="*/ 33 h 100"/>
                  <a:gd name="T12" fmla="*/ 624 w 1426"/>
                  <a:gd name="T13" fmla="*/ 0 h 100"/>
                  <a:gd name="T14" fmla="*/ 707 w 1426"/>
                  <a:gd name="T15" fmla="*/ 41 h 100"/>
                  <a:gd name="T16" fmla="*/ 849 w 1426"/>
                  <a:gd name="T17" fmla="*/ 58 h 100"/>
                  <a:gd name="T18" fmla="*/ 965 w 1426"/>
                  <a:gd name="T19" fmla="*/ 66 h 100"/>
                  <a:gd name="T20" fmla="*/ 1048 w 1426"/>
                  <a:gd name="T21" fmla="*/ 33 h 100"/>
                  <a:gd name="T22" fmla="*/ 1148 w 1426"/>
                  <a:gd name="T23" fmla="*/ 58 h 100"/>
                  <a:gd name="T24" fmla="*/ 1297 w 1426"/>
                  <a:gd name="T25" fmla="*/ 91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33" name="Rectangle 7">
                <a:extLst>
                  <a:ext uri="{FF2B5EF4-FFF2-40B4-BE49-F238E27FC236}">
                    <a16:creationId xmlns:a16="http://schemas.microsoft.com/office/drawing/2014/main" id="{496DC860-C6C5-4D09-9464-B2024103917F}"/>
                  </a:ext>
                </a:extLst>
              </p:cNvPr>
              <p:cNvSpPr>
                <a:spLocks noChangeArrowheads="1"/>
              </p:cNvSpPr>
              <p:nvPr/>
            </p:nvSpPr>
            <p:spPr bwMode="auto">
              <a:xfrm>
                <a:off x="3602" y="1728"/>
                <a:ext cx="1399" cy="1902"/>
              </a:xfrm>
              <a:prstGeom prst="rect">
                <a:avLst/>
              </a:prstGeom>
              <a:solidFill>
                <a:schemeClr val="accent1"/>
              </a:solidFill>
              <a:ln w="9525">
                <a:noFill/>
                <a:miter lim="800000"/>
                <a:headEnd/>
                <a:tailEnd/>
              </a:ln>
            </p:spPr>
            <p:txBody>
              <a:bodyPr wrap="none" anchor="ctr"/>
              <a:lstStyle/>
              <a:p>
                <a:endParaRPr lang="en-US"/>
              </a:p>
            </p:txBody>
          </p:sp>
          <p:sp>
            <p:nvSpPr>
              <p:cNvPr id="34" name="Freeform 8">
                <a:extLst>
                  <a:ext uri="{FF2B5EF4-FFF2-40B4-BE49-F238E27FC236}">
                    <a16:creationId xmlns:a16="http://schemas.microsoft.com/office/drawing/2014/main" id="{C570F2D8-DFB1-4E90-A94B-AE17A933F879}"/>
                  </a:ext>
                </a:extLst>
              </p:cNvPr>
              <p:cNvSpPr>
                <a:spLocks/>
              </p:cNvSpPr>
              <p:nvPr/>
            </p:nvSpPr>
            <p:spPr bwMode="auto">
              <a:xfrm>
                <a:off x="3593" y="1646"/>
                <a:ext cx="1426" cy="100"/>
              </a:xfrm>
              <a:custGeom>
                <a:avLst/>
                <a:gdLst>
                  <a:gd name="T0" fmla="*/ 0 w 1426"/>
                  <a:gd name="T1" fmla="*/ 91 h 100"/>
                  <a:gd name="T2" fmla="*/ 137 w 1426"/>
                  <a:gd name="T3" fmla="*/ 73 h 100"/>
                  <a:gd name="T4" fmla="*/ 256 w 1426"/>
                  <a:gd name="T5" fmla="*/ 27 h 100"/>
                  <a:gd name="T6" fmla="*/ 338 w 1426"/>
                  <a:gd name="T7" fmla="*/ 64 h 100"/>
                  <a:gd name="T8" fmla="*/ 476 w 1426"/>
                  <a:gd name="T9" fmla="*/ 73 h 100"/>
                  <a:gd name="T10" fmla="*/ 613 w 1426"/>
                  <a:gd name="T11" fmla="*/ 36 h 100"/>
                  <a:gd name="T12" fmla="*/ 686 w 1426"/>
                  <a:gd name="T13" fmla="*/ 0 h 100"/>
                  <a:gd name="T14" fmla="*/ 777 w 1426"/>
                  <a:gd name="T15" fmla="*/ 45 h 100"/>
                  <a:gd name="T16" fmla="*/ 933 w 1426"/>
                  <a:gd name="T17" fmla="*/ 64 h 100"/>
                  <a:gd name="T18" fmla="*/ 1061 w 1426"/>
                  <a:gd name="T19" fmla="*/ 73 h 100"/>
                  <a:gd name="T20" fmla="*/ 1152 w 1426"/>
                  <a:gd name="T21" fmla="*/ 36 h 100"/>
                  <a:gd name="T22" fmla="*/ 1262 w 1426"/>
                  <a:gd name="T23" fmla="*/ 64 h 100"/>
                  <a:gd name="T24" fmla="*/ 1426 w 1426"/>
                  <a:gd name="T25" fmla="*/ 100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sp>
            <p:nvSpPr>
              <p:cNvPr id="35" name="Oval 9">
                <a:extLst>
                  <a:ext uri="{FF2B5EF4-FFF2-40B4-BE49-F238E27FC236}">
                    <a16:creationId xmlns:a16="http://schemas.microsoft.com/office/drawing/2014/main" id="{8E0CFCA4-D94A-4834-A155-396C3C772405}"/>
                  </a:ext>
                </a:extLst>
              </p:cNvPr>
              <p:cNvSpPr>
                <a:spLocks noChangeArrowheads="1"/>
              </p:cNvSpPr>
              <p:nvPr/>
            </p:nvSpPr>
            <p:spPr bwMode="auto">
              <a:xfrm>
                <a:off x="3849" y="2158"/>
                <a:ext cx="887" cy="859"/>
              </a:xfrm>
              <a:prstGeom prst="ellipse">
                <a:avLst/>
              </a:prstGeom>
              <a:solidFill>
                <a:schemeClr val="accent1"/>
              </a:solidFill>
              <a:ln w="9525">
                <a:solidFill>
                  <a:schemeClr val="tx1"/>
                </a:solidFill>
                <a:prstDash val="dash"/>
                <a:round/>
                <a:headEnd/>
                <a:tailEnd/>
              </a:ln>
            </p:spPr>
            <p:txBody>
              <a:bodyPr wrap="none" anchor="ctr"/>
              <a:lstStyle/>
              <a:p>
                <a:endParaRPr lang="en-US"/>
              </a:p>
            </p:txBody>
          </p:sp>
          <p:sp>
            <p:nvSpPr>
              <p:cNvPr id="36" name="Oval 10">
                <a:extLst>
                  <a:ext uri="{FF2B5EF4-FFF2-40B4-BE49-F238E27FC236}">
                    <a16:creationId xmlns:a16="http://schemas.microsoft.com/office/drawing/2014/main" id="{21FF5033-1FAC-41F1-9B89-305FE6BEC326}"/>
                  </a:ext>
                </a:extLst>
              </p:cNvPr>
              <p:cNvSpPr>
                <a:spLocks noChangeArrowheads="1"/>
              </p:cNvSpPr>
              <p:nvPr/>
            </p:nvSpPr>
            <p:spPr bwMode="auto">
              <a:xfrm>
                <a:off x="4264" y="2560"/>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37" name="Line 11">
                <a:extLst>
                  <a:ext uri="{FF2B5EF4-FFF2-40B4-BE49-F238E27FC236}">
                    <a16:creationId xmlns:a16="http://schemas.microsoft.com/office/drawing/2014/main" id="{AD1C16A8-A9D6-4DFF-B0DB-A73B63EE3A45}"/>
                  </a:ext>
                </a:extLst>
              </p:cNvPr>
              <p:cNvSpPr>
                <a:spLocks noChangeShapeType="1"/>
              </p:cNvSpPr>
              <p:nvPr/>
            </p:nvSpPr>
            <p:spPr bwMode="auto">
              <a:xfrm flipH="1">
                <a:off x="4296" y="2606"/>
                <a:ext cx="0" cy="265"/>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38" name="Line 12">
                <a:extLst>
                  <a:ext uri="{FF2B5EF4-FFF2-40B4-BE49-F238E27FC236}">
                    <a16:creationId xmlns:a16="http://schemas.microsoft.com/office/drawing/2014/main" id="{9C892DDD-5119-48EF-ACB4-5454A236CFF9}"/>
                  </a:ext>
                </a:extLst>
              </p:cNvPr>
              <p:cNvSpPr>
                <a:spLocks noChangeShapeType="1"/>
              </p:cNvSpPr>
              <p:nvPr/>
            </p:nvSpPr>
            <p:spPr bwMode="auto">
              <a:xfrm flipH="1" flipV="1">
                <a:off x="4300" y="2263"/>
                <a:ext cx="0" cy="311"/>
              </a:xfrm>
              <a:prstGeom prst="line">
                <a:avLst/>
              </a:prstGeom>
              <a:noFill/>
              <a:ln w="25400">
                <a:solidFill>
                  <a:schemeClr val="tx2">
                    <a:lumMod val="50000"/>
                  </a:schemeClr>
                </a:solidFill>
                <a:round/>
                <a:headEnd/>
                <a:tailEnd type="triangle" w="med" len="med"/>
              </a:ln>
            </p:spPr>
            <p:txBody>
              <a:bodyPr/>
              <a:lstStyle/>
              <a:p>
                <a:endParaRPr lang="en-US" dirty="0"/>
              </a:p>
            </p:txBody>
          </p:sp>
          <p:sp>
            <p:nvSpPr>
              <p:cNvPr id="39" name="Text Box 13">
                <a:extLst>
                  <a:ext uri="{FF2B5EF4-FFF2-40B4-BE49-F238E27FC236}">
                    <a16:creationId xmlns:a16="http://schemas.microsoft.com/office/drawing/2014/main" id="{B8220B3D-321C-474C-8B0A-81ABF696427A}"/>
                  </a:ext>
                </a:extLst>
              </p:cNvPr>
              <p:cNvSpPr txBox="1">
                <a:spLocks noChangeArrowheads="1"/>
              </p:cNvSpPr>
              <p:nvPr/>
            </p:nvSpPr>
            <p:spPr bwMode="auto">
              <a:xfrm>
                <a:off x="4322" y="2665"/>
                <a:ext cx="257" cy="231"/>
              </a:xfrm>
              <a:prstGeom prst="rect">
                <a:avLst/>
              </a:prstGeom>
              <a:noFill/>
              <a:ln w="9525">
                <a:noFill/>
                <a:miter lim="800000"/>
                <a:headEnd/>
                <a:tailEnd/>
              </a:ln>
            </p:spPr>
            <p:txBody>
              <a:bodyPr>
                <a:spAutoFit/>
              </a:bodyPr>
              <a:lstStyle/>
              <a:p>
                <a:r>
                  <a:rPr lang="en-US" b="1" dirty="0"/>
                  <a:t>W</a:t>
                </a:r>
                <a:endParaRPr lang="en-US" i="1" baseline="-25000" dirty="0"/>
              </a:p>
            </p:txBody>
          </p:sp>
          <p:sp>
            <p:nvSpPr>
              <p:cNvPr id="40" name="Text Box 14">
                <a:extLst>
                  <a:ext uri="{FF2B5EF4-FFF2-40B4-BE49-F238E27FC236}">
                    <a16:creationId xmlns:a16="http://schemas.microsoft.com/office/drawing/2014/main" id="{F6AC144B-A182-4F6A-8B81-8CAE20608141}"/>
                  </a:ext>
                </a:extLst>
              </p:cNvPr>
              <p:cNvSpPr txBox="1">
                <a:spLocks noChangeArrowheads="1"/>
              </p:cNvSpPr>
              <p:nvPr/>
            </p:nvSpPr>
            <p:spPr bwMode="auto">
              <a:xfrm>
                <a:off x="4354" y="2285"/>
                <a:ext cx="257" cy="231"/>
              </a:xfrm>
              <a:prstGeom prst="rect">
                <a:avLst/>
              </a:prstGeom>
              <a:noFill/>
              <a:ln w="9525">
                <a:noFill/>
                <a:miter lim="800000"/>
                <a:headEnd/>
                <a:tailEnd/>
              </a:ln>
            </p:spPr>
            <p:txBody>
              <a:bodyPr>
                <a:spAutoFit/>
              </a:bodyPr>
              <a:lstStyle/>
              <a:p>
                <a:r>
                  <a:rPr lang="en-US" b="1"/>
                  <a:t>B</a:t>
                </a:r>
                <a:endParaRPr lang="en-US" b="1" baseline="-25000"/>
              </a:p>
            </p:txBody>
          </p:sp>
        </p:grpSp>
        <p:grpSp>
          <p:nvGrpSpPr>
            <p:cNvPr id="26" name="Group 15">
              <a:extLst>
                <a:ext uri="{FF2B5EF4-FFF2-40B4-BE49-F238E27FC236}">
                  <a16:creationId xmlns:a16="http://schemas.microsoft.com/office/drawing/2014/main" id="{08A82624-BAF3-4CEC-8B93-7E6FCC717187}"/>
                </a:ext>
              </a:extLst>
            </p:cNvPr>
            <p:cNvGrpSpPr>
              <a:grpSpLocks/>
            </p:cNvGrpSpPr>
            <p:nvPr/>
          </p:nvGrpSpPr>
          <p:grpSpPr bwMode="auto">
            <a:xfrm rot="1590330">
              <a:off x="2724" y="2134"/>
              <a:ext cx="878" cy="860"/>
              <a:chOff x="2213" y="2234"/>
              <a:chExt cx="878" cy="860"/>
            </a:xfrm>
          </p:grpSpPr>
          <p:sp>
            <p:nvSpPr>
              <p:cNvPr id="27" name="Oval 16">
                <a:extLst>
                  <a:ext uri="{FF2B5EF4-FFF2-40B4-BE49-F238E27FC236}">
                    <a16:creationId xmlns:a16="http://schemas.microsoft.com/office/drawing/2014/main" id="{DFE0A679-8565-472A-B21F-198EB01EE82F}"/>
                  </a:ext>
                </a:extLst>
              </p:cNvPr>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28" name="Arc 17">
                <a:extLst>
                  <a:ext uri="{FF2B5EF4-FFF2-40B4-BE49-F238E27FC236}">
                    <a16:creationId xmlns:a16="http://schemas.microsoft.com/office/drawing/2014/main" id="{5D78DCF1-C892-4CB0-90E1-B70DDFF648F4}"/>
                  </a:ext>
                </a:extLst>
              </p:cNvPr>
              <p:cNvSpPr>
                <a:spLocks/>
              </p:cNvSpPr>
              <p:nvPr/>
            </p:nvSpPr>
            <p:spPr bwMode="auto">
              <a:xfrm>
                <a:off x="2597" y="2235"/>
                <a:ext cx="417" cy="859"/>
              </a:xfrm>
              <a:custGeom>
                <a:avLst/>
                <a:gdLst>
                  <a:gd name="T0" fmla="*/ 1 w 23580"/>
                  <a:gd name="T1" fmla="*/ 0 h 43200"/>
                  <a:gd name="T2" fmla="*/ 0 w 23580"/>
                  <a:gd name="T3" fmla="*/ 17 h 43200"/>
                  <a:gd name="T4" fmla="*/ 1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29" name="Arc 18">
                <a:extLst>
                  <a:ext uri="{FF2B5EF4-FFF2-40B4-BE49-F238E27FC236}">
                    <a16:creationId xmlns:a16="http://schemas.microsoft.com/office/drawing/2014/main" id="{3250A83A-2D0A-4D3E-ABA2-C8C14EB07219}"/>
                  </a:ext>
                </a:extLst>
              </p:cNvPr>
              <p:cNvSpPr>
                <a:spLocks/>
              </p:cNvSpPr>
              <p:nvPr/>
            </p:nvSpPr>
            <p:spPr bwMode="auto">
              <a:xfrm>
                <a:off x="2601" y="2235"/>
                <a:ext cx="215"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30" name="Arc 19">
                <a:extLst>
                  <a:ext uri="{FF2B5EF4-FFF2-40B4-BE49-F238E27FC236}">
                    <a16:creationId xmlns:a16="http://schemas.microsoft.com/office/drawing/2014/main" id="{60AC11E4-ED45-44F5-88BE-9424B7A8FDC4}"/>
                  </a:ext>
                </a:extLst>
              </p:cNvPr>
              <p:cNvSpPr>
                <a:spLocks/>
              </p:cNvSpPr>
              <p:nvPr/>
            </p:nvSpPr>
            <p:spPr bwMode="auto">
              <a:xfrm flipH="1">
                <a:off x="2331" y="2235"/>
                <a:ext cx="316"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31" name="Arc 20">
                <a:extLst>
                  <a:ext uri="{FF2B5EF4-FFF2-40B4-BE49-F238E27FC236}">
                    <a16:creationId xmlns:a16="http://schemas.microsoft.com/office/drawing/2014/main" id="{9E1E88B3-D246-4D27-9E98-9C18412E13F6}"/>
                  </a:ext>
                </a:extLst>
              </p:cNvPr>
              <p:cNvSpPr>
                <a:spLocks/>
              </p:cNvSpPr>
              <p:nvPr/>
            </p:nvSpPr>
            <p:spPr bwMode="auto">
              <a:xfrm flipH="1">
                <a:off x="2556" y="2235"/>
                <a:ext cx="88" cy="859"/>
              </a:xfrm>
              <a:custGeom>
                <a:avLst/>
                <a:gdLst>
                  <a:gd name="T0" fmla="*/ 0 w 23580"/>
                  <a:gd name="T1" fmla="*/ 0 h 43200"/>
                  <a:gd name="T2" fmla="*/ 0 w 23580"/>
                  <a:gd name="T3" fmla="*/ 17 h 43200"/>
                  <a:gd name="T4" fmla="*/ 0 w 23580"/>
                  <a:gd name="T5" fmla="*/ 9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gr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7" name="Date Placeholder 3"/>
          <p:cNvSpPr>
            <a:spLocks noGrp="1"/>
          </p:cNvSpPr>
          <p:nvPr>
            <p:ph type="dt" sz="quarter" idx="10"/>
          </p:nvPr>
        </p:nvSpPr>
        <p:spPr>
          <a:noFill/>
        </p:spPr>
        <p:txBody>
          <a:bodyPr/>
          <a:lstStyle/>
          <a:p>
            <a:r>
              <a:rPr lang="en-US"/>
              <a:t>Winter 2007</a:t>
            </a:r>
          </a:p>
        </p:txBody>
      </p:sp>
      <p:sp>
        <p:nvSpPr>
          <p:cNvPr id="10248" name="Footer Placeholder 4"/>
          <p:cNvSpPr>
            <a:spLocks noGrp="1"/>
          </p:cNvSpPr>
          <p:nvPr>
            <p:ph type="ftr" sz="quarter" idx="11"/>
          </p:nvPr>
        </p:nvSpPr>
        <p:spPr>
          <a:noFill/>
        </p:spPr>
        <p:txBody>
          <a:bodyPr/>
          <a:lstStyle/>
          <a:p>
            <a:r>
              <a:rPr lang="en-US"/>
              <a:t>R. Todd Lines</a:t>
            </a:r>
          </a:p>
        </p:txBody>
      </p:sp>
      <p:sp>
        <p:nvSpPr>
          <p:cNvPr id="10249" name="Slide Number Placeholder 5"/>
          <p:cNvSpPr>
            <a:spLocks noGrp="1"/>
          </p:cNvSpPr>
          <p:nvPr>
            <p:ph type="sldNum" sz="quarter" idx="12"/>
          </p:nvPr>
        </p:nvSpPr>
        <p:spPr>
          <a:noFill/>
        </p:spPr>
        <p:txBody>
          <a:bodyPr/>
          <a:lstStyle/>
          <a:p>
            <a:fld id="{587A514C-FB5C-4F11-8D28-8BE97172F536}" type="slidenum">
              <a:rPr lang="en-US" smtClean="0"/>
              <a:pPr/>
              <a:t>48</a:t>
            </a:fld>
            <a:endParaRPr lang="en-US"/>
          </a:p>
        </p:txBody>
      </p:sp>
      <p:sp>
        <p:nvSpPr>
          <p:cNvPr id="10250" name="Rectangle 2"/>
          <p:cNvSpPr>
            <a:spLocks noGrp="1" noChangeArrowheads="1"/>
          </p:cNvSpPr>
          <p:nvPr>
            <p:ph type="title"/>
          </p:nvPr>
        </p:nvSpPr>
        <p:spPr/>
        <p:txBody>
          <a:bodyPr/>
          <a:lstStyle/>
          <a:p>
            <a:pPr eaLnBrk="1" hangingPunct="1"/>
            <a:r>
              <a:rPr lang="en-US" sz="2800"/>
              <a:t>Case 2: Partially Submerged Object</a:t>
            </a:r>
          </a:p>
        </p:txBody>
      </p:sp>
      <p:sp>
        <p:nvSpPr>
          <p:cNvPr id="10251" name="Rectangle 3"/>
          <p:cNvSpPr>
            <a:spLocks noGrp="1" noChangeArrowheads="1"/>
          </p:cNvSpPr>
          <p:nvPr>
            <p:ph type="body" idx="1"/>
          </p:nvPr>
        </p:nvSpPr>
        <p:spPr>
          <a:xfrm>
            <a:off x="254000" y="1208088"/>
            <a:ext cx="5849938" cy="4525962"/>
          </a:xfrm>
        </p:spPr>
        <p:txBody>
          <a:bodyPr/>
          <a:lstStyle/>
          <a:p>
            <a:pPr eaLnBrk="1" hangingPunct="1">
              <a:lnSpc>
                <a:spcPct val="80000"/>
              </a:lnSpc>
            </a:pPr>
            <a:r>
              <a:rPr lang="en-US" sz="2400"/>
              <a:t>Assume                   and static equilibrium.</a:t>
            </a:r>
          </a:p>
          <a:p>
            <a:pPr eaLnBrk="1" hangingPunct="1">
              <a:lnSpc>
                <a:spcPct val="80000"/>
              </a:lnSpc>
            </a:pPr>
            <a:endParaRPr lang="en-US" sz="2400"/>
          </a:p>
          <a:p>
            <a:pPr eaLnBrk="1" hangingPunct="1">
              <a:lnSpc>
                <a:spcPct val="80000"/>
              </a:lnSpc>
            </a:pPr>
            <a:endParaRPr lang="en-US" sz="2400"/>
          </a:p>
          <a:p>
            <a:pPr eaLnBrk="1" hangingPunct="1">
              <a:lnSpc>
                <a:spcPct val="80000"/>
              </a:lnSpc>
            </a:pPr>
            <a:r>
              <a:rPr lang="en-US" sz="2400"/>
              <a:t>We define </a:t>
            </a:r>
            <a:r>
              <a:rPr lang="en-US" sz="2400" i="1"/>
              <a:t>V</a:t>
            </a:r>
            <a:r>
              <a:rPr lang="en-US" sz="2400" i="1" baseline="-25000"/>
              <a:t>fluid</a:t>
            </a:r>
            <a:r>
              <a:rPr lang="en-US" sz="2400"/>
              <a:t> as the volume of the fluid displaced by the object. </a:t>
            </a:r>
          </a:p>
          <a:p>
            <a:pPr eaLnBrk="1" hangingPunct="1">
              <a:lnSpc>
                <a:spcPct val="80000"/>
              </a:lnSpc>
            </a:pPr>
            <a:endParaRPr lang="en-US" sz="2400"/>
          </a:p>
          <a:p>
            <a:pPr eaLnBrk="1" hangingPunct="1">
              <a:lnSpc>
                <a:spcPct val="80000"/>
              </a:lnSpc>
            </a:pPr>
            <a:endParaRPr lang="en-US" sz="2400"/>
          </a:p>
          <a:p>
            <a:pPr eaLnBrk="1" hangingPunct="1">
              <a:lnSpc>
                <a:spcPct val="80000"/>
              </a:lnSpc>
            </a:pPr>
            <a:r>
              <a:rPr lang="en-US" sz="2400"/>
              <a:t>Then</a:t>
            </a:r>
          </a:p>
          <a:p>
            <a:pPr eaLnBrk="1" hangingPunct="1">
              <a:lnSpc>
                <a:spcPct val="80000"/>
              </a:lnSpc>
            </a:pPr>
            <a:endParaRPr lang="en-US" sz="2400"/>
          </a:p>
        </p:txBody>
      </p:sp>
      <p:grpSp>
        <p:nvGrpSpPr>
          <p:cNvPr id="2" name="Group 4"/>
          <p:cNvGrpSpPr>
            <a:grpSpLocks/>
          </p:cNvGrpSpPr>
          <p:nvPr/>
        </p:nvGrpSpPr>
        <p:grpSpPr bwMode="auto">
          <a:xfrm>
            <a:off x="5969000" y="2105025"/>
            <a:ext cx="2878138" cy="2640013"/>
            <a:chOff x="3760" y="1326"/>
            <a:chExt cx="1813" cy="1663"/>
          </a:xfrm>
        </p:grpSpPr>
        <p:grpSp>
          <p:nvGrpSpPr>
            <p:cNvPr id="3" name="Group 5"/>
            <p:cNvGrpSpPr>
              <a:grpSpLocks/>
            </p:cNvGrpSpPr>
            <p:nvPr/>
          </p:nvGrpSpPr>
          <p:grpSpPr bwMode="auto">
            <a:xfrm>
              <a:off x="3760" y="1566"/>
              <a:ext cx="1197" cy="1423"/>
              <a:chOff x="3596" y="1780"/>
              <a:chExt cx="1416" cy="1624"/>
            </a:xfrm>
          </p:grpSpPr>
          <p:sp>
            <p:nvSpPr>
              <p:cNvPr id="10268"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10269"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10256" name="AutoShape 8"/>
            <p:cNvSpPr>
              <a:spLocks noChangeArrowheads="1"/>
            </p:cNvSpPr>
            <p:nvPr/>
          </p:nvSpPr>
          <p:spPr bwMode="auto">
            <a:xfrm>
              <a:off x="3899" y="1828"/>
              <a:ext cx="919" cy="1129"/>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10257" name="Rectangle 9"/>
            <p:cNvSpPr>
              <a:spLocks noChangeArrowheads="1"/>
            </p:cNvSpPr>
            <p:nvPr/>
          </p:nvSpPr>
          <p:spPr bwMode="auto">
            <a:xfrm>
              <a:off x="3899" y="1811"/>
              <a:ext cx="909" cy="217"/>
            </a:xfrm>
            <a:prstGeom prst="rect">
              <a:avLst/>
            </a:prstGeom>
            <a:solidFill>
              <a:schemeClr val="accent1"/>
            </a:solidFill>
            <a:ln w="9525">
              <a:noFill/>
              <a:miter lim="800000"/>
              <a:headEnd/>
              <a:tailEnd/>
            </a:ln>
          </p:spPr>
          <p:txBody>
            <a:bodyPr wrap="none" anchor="ctr"/>
            <a:lstStyle/>
            <a:p>
              <a:endParaRPr lang="en-US"/>
            </a:p>
          </p:txBody>
        </p:sp>
        <p:sp>
          <p:nvSpPr>
            <p:cNvPr id="10258" name="Freeform 10"/>
            <p:cNvSpPr>
              <a:spLocks/>
            </p:cNvSpPr>
            <p:nvPr/>
          </p:nvSpPr>
          <p:spPr bwMode="auto">
            <a:xfrm>
              <a:off x="3831" y="1562"/>
              <a:ext cx="528" cy="1392"/>
            </a:xfrm>
            <a:custGeom>
              <a:avLst/>
              <a:gdLst>
                <a:gd name="T0" fmla="*/ 0 w 624"/>
                <a:gd name="T1" fmla="*/ 0 h 1588"/>
                <a:gd name="T2" fmla="*/ 37 w 624"/>
                <a:gd name="T3" fmla="*/ 14 h 1588"/>
                <a:gd name="T4" fmla="*/ 54 w 624"/>
                <a:gd name="T5" fmla="*/ 49 h 1588"/>
                <a:gd name="T6" fmla="*/ 68 w 624"/>
                <a:gd name="T7" fmla="*/ 126 h 1588"/>
                <a:gd name="T8" fmla="*/ 74 w 624"/>
                <a:gd name="T9" fmla="*/ 368 h 1588"/>
                <a:gd name="T10" fmla="*/ 71 w 624"/>
                <a:gd name="T11" fmla="*/ 775 h 1588"/>
                <a:gd name="T12" fmla="*/ 71 w 624"/>
                <a:gd name="T13" fmla="*/ 1104 h 1588"/>
                <a:gd name="T14" fmla="*/ 78 w 624"/>
                <a:gd name="T15" fmla="*/ 1266 h 1588"/>
                <a:gd name="T16" fmla="*/ 105 w 624"/>
                <a:gd name="T17" fmla="*/ 1322 h 1588"/>
                <a:gd name="T18" fmla="*/ 146 w 624"/>
                <a:gd name="T19" fmla="*/ 1360 h 1588"/>
                <a:gd name="T20" fmla="*/ 206 w 624"/>
                <a:gd name="T21" fmla="*/ 1392 h 1588"/>
                <a:gd name="T22" fmla="*/ 322 w 624"/>
                <a:gd name="T23" fmla="*/ 1392 h 1588"/>
                <a:gd name="T24" fmla="*/ 494 w 624"/>
                <a:gd name="T25" fmla="*/ 1392 h 1588"/>
                <a:gd name="T26" fmla="*/ 528 w 624"/>
                <a:gd name="T27" fmla="*/ 1392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0259" name="Freeform 11"/>
            <p:cNvSpPr>
              <a:spLocks/>
            </p:cNvSpPr>
            <p:nvPr/>
          </p:nvSpPr>
          <p:spPr bwMode="auto">
            <a:xfrm flipH="1">
              <a:off x="4359" y="1562"/>
              <a:ext cx="527" cy="1392"/>
            </a:xfrm>
            <a:custGeom>
              <a:avLst/>
              <a:gdLst>
                <a:gd name="T0" fmla="*/ 0 w 624"/>
                <a:gd name="T1" fmla="*/ 0 h 1588"/>
                <a:gd name="T2" fmla="*/ 37 w 624"/>
                <a:gd name="T3" fmla="*/ 14 h 1588"/>
                <a:gd name="T4" fmla="*/ 54 w 624"/>
                <a:gd name="T5" fmla="*/ 49 h 1588"/>
                <a:gd name="T6" fmla="*/ 68 w 624"/>
                <a:gd name="T7" fmla="*/ 126 h 1588"/>
                <a:gd name="T8" fmla="*/ 74 w 624"/>
                <a:gd name="T9" fmla="*/ 368 h 1588"/>
                <a:gd name="T10" fmla="*/ 71 w 624"/>
                <a:gd name="T11" fmla="*/ 775 h 1588"/>
                <a:gd name="T12" fmla="*/ 71 w 624"/>
                <a:gd name="T13" fmla="*/ 1104 h 1588"/>
                <a:gd name="T14" fmla="*/ 78 w 624"/>
                <a:gd name="T15" fmla="*/ 1266 h 1588"/>
                <a:gd name="T16" fmla="*/ 105 w 624"/>
                <a:gd name="T17" fmla="*/ 1322 h 1588"/>
                <a:gd name="T18" fmla="*/ 145 w 624"/>
                <a:gd name="T19" fmla="*/ 1360 h 1588"/>
                <a:gd name="T20" fmla="*/ 206 w 624"/>
                <a:gd name="T21" fmla="*/ 1392 h 1588"/>
                <a:gd name="T22" fmla="*/ 321 w 624"/>
                <a:gd name="T23" fmla="*/ 1392 h 1588"/>
                <a:gd name="T24" fmla="*/ 493 w 624"/>
                <a:gd name="T25" fmla="*/ 1392 h 1588"/>
                <a:gd name="T26" fmla="*/ 527 w 624"/>
                <a:gd name="T27" fmla="*/ 1392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10260" name="Rectangle 12"/>
            <p:cNvSpPr>
              <a:spLocks noChangeArrowheads="1"/>
            </p:cNvSpPr>
            <p:nvPr/>
          </p:nvSpPr>
          <p:spPr bwMode="auto">
            <a:xfrm>
              <a:off x="4220" y="1541"/>
              <a:ext cx="321" cy="561"/>
            </a:xfrm>
            <a:prstGeom prst="rect">
              <a:avLst/>
            </a:prstGeom>
            <a:solidFill>
              <a:srgbClr val="993300"/>
            </a:solidFill>
            <a:ln w="9525">
              <a:solidFill>
                <a:schemeClr val="tx1"/>
              </a:solidFill>
              <a:miter lim="800000"/>
              <a:headEnd/>
              <a:tailEnd/>
            </a:ln>
          </p:spPr>
          <p:txBody>
            <a:bodyPr wrap="none" anchor="ctr"/>
            <a:lstStyle/>
            <a:p>
              <a:endParaRPr lang="en-US"/>
            </a:p>
          </p:txBody>
        </p:sp>
        <p:sp>
          <p:nvSpPr>
            <p:cNvPr id="10261" name="Line 13"/>
            <p:cNvSpPr>
              <a:spLocks noChangeShapeType="1"/>
            </p:cNvSpPr>
            <p:nvPr/>
          </p:nvSpPr>
          <p:spPr bwMode="auto">
            <a:xfrm>
              <a:off x="4386" y="2111"/>
              <a:ext cx="0" cy="176"/>
            </a:xfrm>
            <a:prstGeom prst="line">
              <a:avLst/>
            </a:prstGeom>
            <a:noFill/>
            <a:ln w="28575">
              <a:solidFill>
                <a:schemeClr val="tx2">
                  <a:lumMod val="50000"/>
                </a:schemeClr>
              </a:solidFill>
              <a:round/>
              <a:headEnd/>
              <a:tailEnd type="triangle" w="med" len="med"/>
            </a:ln>
          </p:spPr>
          <p:txBody>
            <a:bodyPr/>
            <a:lstStyle/>
            <a:p>
              <a:endParaRPr lang="en-US"/>
            </a:p>
          </p:txBody>
        </p:sp>
        <p:sp>
          <p:nvSpPr>
            <p:cNvPr id="10262" name="Line 14"/>
            <p:cNvSpPr>
              <a:spLocks noChangeShapeType="1"/>
            </p:cNvSpPr>
            <p:nvPr/>
          </p:nvSpPr>
          <p:spPr bwMode="auto">
            <a:xfrm flipV="1">
              <a:off x="4376" y="1362"/>
              <a:ext cx="4" cy="184"/>
            </a:xfrm>
            <a:prstGeom prst="line">
              <a:avLst/>
            </a:prstGeom>
            <a:noFill/>
            <a:ln w="28575">
              <a:solidFill>
                <a:schemeClr val="tx2">
                  <a:lumMod val="50000"/>
                </a:schemeClr>
              </a:solidFill>
              <a:round/>
              <a:headEnd/>
              <a:tailEnd type="triangle" w="med" len="med"/>
            </a:ln>
          </p:spPr>
          <p:txBody>
            <a:bodyPr/>
            <a:lstStyle/>
            <a:p>
              <a:endParaRPr lang="en-US"/>
            </a:p>
          </p:txBody>
        </p:sp>
        <p:sp>
          <p:nvSpPr>
            <p:cNvPr id="10263" name="Text Box 15"/>
            <p:cNvSpPr txBox="1">
              <a:spLocks noChangeArrowheads="1"/>
            </p:cNvSpPr>
            <p:nvPr/>
          </p:nvSpPr>
          <p:spPr bwMode="auto">
            <a:xfrm>
              <a:off x="4227" y="2259"/>
              <a:ext cx="249" cy="233"/>
            </a:xfrm>
            <a:prstGeom prst="rect">
              <a:avLst/>
            </a:prstGeom>
            <a:noFill/>
            <a:ln w="9525">
              <a:noFill/>
              <a:miter lim="800000"/>
              <a:headEnd/>
              <a:tailEnd/>
            </a:ln>
          </p:spPr>
          <p:txBody>
            <a:bodyPr wrap="none">
              <a:spAutoFit/>
            </a:bodyPr>
            <a:lstStyle/>
            <a:p>
              <a:r>
                <a:rPr lang="en-US" b="1" dirty="0"/>
                <a:t>W</a:t>
              </a:r>
              <a:endParaRPr lang="en-US" b="1" i="1" baseline="-25000" dirty="0">
                <a:cs typeface="Arial" charset="0"/>
              </a:endParaRPr>
            </a:p>
          </p:txBody>
        </p:sp>
        <p:sp>
          <p:nvSpPr>
            <p:cNvPr id="10264" name="Rectangle 16"/>
            <p:cNvSpPr>
              <a:spLocks noChangeArrowheads="1"/>
            </p:cNvSpPr>
            <p:nvPr/>
          </p:nvSpPr>
          <p:spPr bwMode="auto">
            <a:xfrm>
              <a:off x="4407" y="1326"/>
              <a:ext cx="220" cy="231"/>
            </a:xfrm>
            <a:prstGeom prst="rect">
              <a:avLst/>
            </a:prstGeom>
            <a:noFill/>
            <a:ln w="9525">
              <a:noFill/>
              <a:miter lim="800000"/>
              <a:headEnd/>
              <a:tailEnd/>
            </a:ln>
          </p:spPr>
          <p:txBody>
            <a:bodyPr wrap="none">
              <a:spAutoFit/>
            </a:bodyPr>
            <a:lstStyle/>
            <a:p>
              <a:r>
                <a:rPr lang="en-US" b="1"/>
                <a:t>B</a:t>
              </a:r>
              <a:endParaRPr lang="en-US" b="1" i="1"/>
            </a:p>
          </p:txBody>
        </p:sp>
        <p:sp>
          <p:nvSpPr>
            <p:cNvPr id="10265" name="Text Box 17"/>
            <p:cNvSpPr txBox="1">
              <a:spLocks noChangeArrowheads="1"/>
            </p:cNvSpPr>
            <p:nvPr/>
          </p:nvSpPr>
          <p:spPr bwMode="auto">
            <a:xfrm>
              <a:off x="4958" y="1766"/>
              <a:ext cx="615" cy="231"/>
            </a:xfrm>
            <a:prstGeom prst="rect">
              <a:avLst/>
            </a:prstGeom>
            <a:noFill/>
            <a:ln w="9525">
              <a:noFill/>
              <a:miter lim="800000"/>
              <a:headEnd/>
              <a:tailEnd/>
            </a:ln>
          </p:spPr>
          <p:txBody>
            <a:bodyPr wrap="none">
              <a:spAutoFit/>
            </a:bodyPr>
            <a:lstStyle/>
            <a:p>
              <a:r>
                <a:rPr lang="en-US" i="1"/>
                <a:t>V</a:t>
              </a:r>
              <a:r>
                <a:rPr lang="en-US" i="1" baseline="-25000"/>
                <a:t>displaced</a:t>
              </a:r>
            </a:p>
          </p:txBody>
        </p:sp>
        <p:sp>
          <p:nvSpPr>
            <p:cNvPr id="10266" name="Freeform 18"/>
            <p:cNvSpPr>
              <a:spLocks/>
            </p:cNvSpPr>
            <p:nvPr/>
          </p:nvSpPr>
          <p:spPr bwMode="auto">
            <a:xfrm rot="3030441">
              <a:off x="4605" y="1715"/>
              <a:ext cx="239" cy="394"/>
            </a:xfrm>
            <a:custGeom>
              <a:avLst/>
              <a:gdLst>
                <a:gd name="T0" fmla="*/ 239 w 292"/>
                <a:gd name="T1" fmla="*/ 0 h 430"/>
                <a:gd name="T2" fmla="*/ 89 w 292"/>
                <a:gd name="T3" fmla="*/ 201 h 430"/>
                <a:gd name="T4" fmla="*/ 172 w 292"/>
                <a:gd name="T5" fmla="*/ 218 h 430"/>
                <a:gd name="T6" fmla="*/ 0 w 292"/>
                <a:gd name="T7" fmla="*/ 394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10267" name="Rectangle 19"/>
            <p:cNvSpPr>
              <a:spLocks noChangeArrowheads="1"/>
            </p:cNvSpPr>
            <p:nvPr/>
          </p:nvSpPr>
          <p:spPr bwMode="auto">
            <a:xfrm>
              <a:off x="4215" y="1811"/>
              <a:ext cx="329" cy="274"/>
            </a:xfrm>
            <a:prstGeom prst="rect">
              <a:avLst/>
            </a:prstGeom>
            <a:noFill/>
            <a:ln w="9525">
              <a:solidFill>
                <a:schemeClr val="bg1"/>
              </a:solidFill>
              <a:prstDash val="dash"/>
              <a:miter lim="800000"/>
              <a:headEnd/>
              <a:tailEnd/>
            </a:ln>
          </p:spPr>
          <p:txBody>
            <a:bodyPr wrap="none" anchor="ctr"/>
            <a:lstStyle/>
            <a:p>
              <a:endParaRPr lang="en-US"/>
            </a:p>
          </p:txBody>
        </p:sp>
      </p:grpSp>
      <p:sp>
        <p:nvSpPr>
          <p:cNvPr id="10253" name="AutoShape 20"/>
          <p:cNvSpPr>
            <a:spLocks noChangeArrowheads="1"/>
          </p:cNvSpPr>
          <p:nvPr/>
        </p:nvSpPr>
        <p:spPr bwMode="auto">
          <a:xfrm>
            <a:off x="522288" y="5314950"/>
            <a:ext cx="8243887" cy="90011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t>The fraction of the volume of a floating object that is below the fluid surface is equal to the ratio of the density of the object to that of the fluid.</a:t>
            </a:r>
          </a:p>
        </p:txBody>
      </p:sp>
      <p:graphicFrame>
        <p:nvGraphicFramePr>
          <p:cNvPr id="10242" name="Object 21"/>
          <p:cNvGraphicFramePr>
            <a:graphicFrameLocks noChangeAspect="1"/>
          </p:cNvGraphicFramePr>
          <p:nvPr/>
        </p:nvGraphicFramePr>
        <p:xfrm>
          <a:off x="2044700" y="1204913"/>
          <a:ext cx="1284288" cy="374650"/>
        </p:xfrm>
        <a:graphic>
          <a:graphicData uri="http://schemas.openxmlformats.org/presentationml/2006/ole">
            <mc:AlternateContent xmlns:mc="http://schemas.openxmlformats.org/markup-compatibility/2006">
              <mc:Choice xmlns:v="urn:schemas-microsoft-com:vml" Requires="v">
                <p:oleObj name="Equation" r:id="rId2" imgW="825480" imgH="241200" progId="Equation.3">
                  <p:embed/>
                </p:oleObj>
              </mc:Choice>
              <mc:Fallback>
                <p:oleObj name="Equation" r:id="rId2" imgW="825480" imgH="241200" progId="Equation.3">
                  <p:embed/>
                  <p:pic>
                    <p:nvPicPr>
                      <p:cNvPr id="10242" name="Object 2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44700" y="1204913"/>
                        <a:ext cx="1284288" cy="3746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3" name="Object 22"/>
          <p:cNvGraphicFramePr>
            <a:graphicFrameLocks noChangeAspect="1"/>
          </p:cNvGraphicFramePr>
          <p:nvPr/>
        </p:nvGraphicFramePr>
        <p:xfrm>
          <a:off x="2519363" y="1947863"/>
          <a:ext cx="892175" cy="403225"/>
        </p:xfrm>
        <a:graphic>
          <a:graphicData uri="http://schemas.openxmlformats.org/presentationml/2006/ole">
            <mc:AlternateContent xmlns:mc="http://schemas.openxmlformats.org/markup-compatibility/2006">
              <mc:Choice xmlns:v="urn:schemas-microsoft-com:vml" Requires="v">
                <p:oleObj name="Equation" r:id="rId4" imgW="533160" imgH="241200" progId="Equation.3">
                  <p:embed/>
                </p:oleObj>
              </mc:Choice>
              <mc:Fallback>
                <p:oleObj name="Equation" r:id="rId4" imgW="533160" imgH="241200" progId="Equation.3">
                  <p:embed/>
                  <p:pic>
                    <p:nvPicPr>
                      <p:cNvPr id="10243" name="Object 2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19363" y="1947863"/>
                        <a:ext cx="892175" cy="4032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4" name="Object 23"/>
          <p:cNvGraphicFramePr>
            <a:graphicFrameLocks noChangeAspect="1"/>
          </p:cNvGraphicFramePr>
          <p:nvPr/>
        </p:nvGraphicFramePr>
        <p:xfrm>
          <a:off x="2382838" y="3495675"/>
          <a:ext cx="1419225" cy="355600"/>
        </p:xfrm>
        <a:graphic>
          <a:graphicData uri="http://schemas.openxmlformats.org/presentationml/2006/ole">
            <mc:AlternateContent xmlns:mc="http://schemas.openxmlformats.org/markup-compatibility/2006">
              <mc:Choice xmlns:v="urn:schemas-microsoft-com:vml" Requires="v">
                <p:oleObj name="Equation" r:id="rId6" imgW="965160" imgH="241200" progId="Equation.3">
                  <p:embed/>
                </p:oleObj>
              </mc:Choice>
              <mc:Fallback>
                <p:oleObj name="Equation" r:id="rId6" imgW="965160" imgH="241200" progId="Equation.3">
                  <p:embed/>
                  <p:pic>
                    <p:nvPicPr>
                      <p:cNvPr id="10244" name="Object 2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382838" y="3495675"/>
                        <a:ext cx="1419225" cy="355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5" name="Object 24"/>
          <p:cNvGraphicFramePr>
            <a:graphicFrameLocks noChangeAspect="1"/>
          </p:cNvGraphicFramePr>
          <p:nvPr/>
        </p:nvGraphicFramePr>
        <p:xfrm>
          <a:off x="1889125" y="4367213"/>
          <a:ext cx="2449513" cy="688975"/>
        </p:xfrm>
        <a:graphic>
          <a:graphicData uri="http://schemas.openxmlformats.org/presentationml/2006/ole">
            <mc:AlternateContent xmlns:mc="http://schemas.openxmlformats.org/markup-compatibility/2006">
              <mc:Choice xmlns:v="urn:schemas-microsoft-com:vml" Requires="v">
                <p:oleObj name="Equation" r:id="rId8" imgW="1701720" imgH="482400" progId="Equation.3">
                  <p:embed/>
                </p:oleObj>
              </mc:Choice>
              <mc:Fallback>
                <p:oleObj name="Equation" r:id="rId8" imgW="1701720" imgH="482400" progId="Equation.3">
                  <p:embed/>
                  <p:pic>
                    <p:nvPicPr>
                      <p:cNvPr id="10245" name="Object 24"/>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889125" y="4367213"/>
                        <a:ext cx="2449513" cy="6889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46" name="Object 25"/>
          <p:cNvGraphicFramePr>
            <a:graphicFrameLocks noChangeAspect="1"/>
          </p:cNvGraphicFramePr>
          <p:nvPr/>
        </p:nvGraphicFramePr>
        <p:xfrm>
          <a:off x="6380163" y="1387475"/>
          <a:ext cx="1120775" cy="584200"/>
        </p:xfrm>
        <a:graphic>
          <a:graphicData uri="http://schemas.openxmlformats.org/presentationml/2006/ole">
            <mc:AlternateContent xmlns:mc="http://schemas.openxmlformats.org/markup-compatibility/2006">
              <mc:Choice xmlns:v="urn:schemas-microsoft-com:vml" Requires="v">
                <p:oleObj name="Equation" r:id="rId10" imgW="901440" imgH="469800" progId="Equation.3">
                  <p:embed/>
                </p:oleObj>
              </mc:Choice>
              <mc:Fallback>
                <p:oleObj name="Equation" r:id="rId10" imgW="901440" imgH="469800" progId="Equation.3">
                  <p:embed/>
                  <p:pic>
                    <p:nvPicPr>
                      <p:cNvPr id="10246" name="Object 25"/>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380163" y="1387475"/>
                        <a:ext cx="1120775" cy="584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54" name="Rectangle 26"/>
          <p:cNvSpPr>
            <a:spLocks noChangeArrowheads="1"/>
          </p:cNvSpPr>
          <p:nvPr/>
        </p:nvSpPr>
        <p:spPr bwMode="auto">
          <a:xfrm>
            <a:off x="-239713" y="3036888"/>
            <a:ext cx="227013" cy="549275"/>
          </a:xfrm>
          <a:prstGeom prst="rect">
            <a:avLst/>
          </a:prstGeom>
          <a:noFill/>
          <a:ln w="9525">
            <a:noFill/>
            <a:miter lim="800000"/>
            <a:headEnd/>
            <a:tailEnd/>
          </a:ln>
        </p:spPr>
        <p:txBody>
          <a:bodyPr wrap="none" anchor="ctr">
            <a:spAutoFit/>
          </a:bodyPr>
          <a:lstStyle/>
          <a:p>
            <a:r>
              <a:rPr lang="en-US" sz="1200">
                <a:cs typeface="Times New Roman" pitchFamily="18" charset="0"/>
              </a:rPr>
              <a:t> </a:t>
            </a:r>
            <a:endParaRPr lang="en-US" sz="1100"/>
          </a:p>
          <a:p>
            <a:pPr eaLnBrk="0" hangingPunct="0"/>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8194" name="Picture 2"/>
          <p:cNvPicPr>
            <a:picLocks noChangeAspect="1" noChangeArrowheads="1"/>
          </p:cNvPicPr>
          <p:nvPr/>
        </p:nvPicPr>
        <p:blipFill>
          <a:blip r:embed="rId2" cstate="print"/>
          <a:srcRect/>
          <a:stretch>
            <a:fillRect/>
          </a:stretch>
        </p:blipFill>
        <p:spPr bwMode="auto">
          <a:xfrm>
            <a:off x="1208314" y="582385"/>
            <a:ext cx="6868886" cy="5151665"/>
          </a:xfrm>
          <a:prstGeom prst="rect">
            <a:avLst/>
          </a:prstGeom>
          <a:noFill/>
          <a:ln w="9525">
            <a:noFill/>
            <a:miter lim="800000"/>
            <a:headEnd/>
            <a:tailEnd/>
          </a:ln>
        </p:spPr>
      </p:pic>
      <p:sp>
        <p:nvSpPr>
          <p:cNvPr id="4" name="Rectangle 3"/>
          <p:cNvSpPr/>
          <p:nvPr/>
        </p:nvSpPr>
        <p:spPr>
          <a:xfrm>
            <a:off x="1110343" y="5853614"/>
            <a:ext cx="6890658" cy="923330"/>
          </a:xfrm>
          <a:prstGeom prst="rect">
            <a:avLst/>
          </a:prstGeom>
        </p:spPr>
        <p:txBody>
          <a:bodyPr wrap="square">
            <a:spAutoFit/>
          </a:bodyPr>
          <a:lstStyle/>
          <a:p>
            <a:r>
              <a:rPr lang="en-US" dirty="0"/>
              <a:t>Iceberg with the submerged portion visible. From Geo Swan used under the licensed under the Creative Commons Attribution 2.0 Generic license.</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Slide Number Placeholder 5"/>
          <p:cNvSpPr>
            <a:spLocks noGrp="1"/>
          </p:cNvSpPr>
          <p:nvPr>
            <p:ph type="sldNum" sz="quarter" idx="12"/>
          </p:nvPr>
        </p:nvSpPr>
        <p:spPr>
          <a:noFill/>
        </p:spPr>
        <p:txBody>
          <a:bodyPr/>
          <a:lstStyle/>
          <a:p>
            <a:fld id="{636422D8-C0F9-4562-A685-CDD6FDF45D69}" type="slidenum">
              <a:rPr lang="en-US" smtClean="0"/>
              <a:pPr/>
              <a:t>50</a:t>
            </a:fld>
            <a:endParaRPr lang="en-US"/>
          </a:p>
        </p:txBody>
      </p:sp>
      <p:sp>
        <p:nvSpPr>
          <p:cNvPr id="53251" name="Rectangle 2"/>
          <p:cNvSpPr>
            <a:spLocks noGrp="1" noChangeArrowheads="1"/>
          </p:cNvSpPr>
          <p:nvPr>
            <p:ph type="title"/>
          </p:nvPr>
        </p:nvSpPr>
        <p:spPr/>
        <p:txBody>
          <a:bodyPr/>
          <a:lstStyle/>
          <a:p>
            <a:pPr eaLnBrk="1" hangingPunct="1"/>
            <a:r>
              <a:rPr lang="en-US"/>
              <a:t>Question 123.5.4</a:t>
            </a:r>
          </a:p>
        </p:txBody>
      </p:sp>
      <p:sp>
        <p:nvSpPr>
          <p:cNvPr id="53252" name="Rectangle 3"/>
          <p:cNvSpPr>
            <a:spLocks noGrp="1" noChangeArrowheads="1"/>
          </p:cNvSpPr>
          <p:nvPr>
            <p:ph type="body" idx="1"/>
          </p:nvPr>
        </p:nvSpPr>
        <p:spPr>
          <a:xfrm>
            <a:off x="182563" y="1439863"/>
            <a:ext cx="3556000" cy="4525962"/>
          </a:xfrm>
        </p:spPr>
        <p:txBody>
          <a:bodyPr/>
          <a:lstStyle/>
          <a:p>
            <a:pPr eaLnBrk="1" hangingPunct="1"/>
            <a:r>
              <a:rPr lang="en-US" sz="2800"/>
              <a:t>Two cups are filled to the same level with water. One of the two cups has ice cubes floating in it. When the ice cubes melt, in which cup is the level of the water higher?</a:t>
            </a:r>
          </a:p>
        </p:txBody>
      </p:sp>
      <p:grpSp>
        <p:nvGrpSpPr>
          <p:cNvPr id="53253" name="Group 4"/>
          <p:cNvGrpSpPr>
            <a:grpSpLocks/>
          </p:cNvGrpSpPr>
          <p:nvPr/>
        </p:nvGrpSpPr>
        <p:grpSpPr bwMode="auto">
          <a:xfrm>
            <a:off x="5178425" y="2957513"/>
            <a:ext cx="1477963" cy="1843087"/>
            <a:chOff x="3262" y="1863"/>
            <a:chExt cx="931" cy="1161"/>
          </a:xfrm>
        </p:grpSpPr>
        <p:grpSp>
          <p:nvGrpSpPr>
            <p:cNvPr id="53268" name="Group 5"/>
            <p:cNvGrpSpPr>
              <a:grpSpLocks/>
            </p:cNvGrpSpPr>
            <p:nvPr/>
          </p:nvGrpSpPr>
          <p:grpSpPr bwMode="auto">
            <a:xfrm>
              <a:off x="3262" y="1863"/>
              <a:ext cx="931" cy="1161"/>
              <a:chOff x="3733" y="1510"/>
              <a:chExt cx="1416" cy="1628"/>
            </a:xfrm>
          </p:grpSpPr>
          <p:grpSp>
            <p:nvGrpSpPr>
              <p:cNvPr id="53272" name="Group 6"/>
              <p:cNvGrpSpPr>
                <a:grpSpLocks/>
              </p:cNvGrpSpPr>
              <p:nvPr/>
            </p:nvGrpSpPr>
            <p:grpSpPr bwMode="auto">
              <a:xfrm>
                <a:off x="3733" y="1514"/>
                <a:ext cx="1416" cy="1624"/>
                <a:chOff x="3596" y="1780"/>
                <a:chExt cx="1416" cy="1624"/>
              </a:xfrm>
            </p:grpSpPr>
            <p:sp>
              <p:nvSpPr>
                <p:cNvPr id="53277" name="Freeform 7"/>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3278" name="Freeform 8"/>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3273" name="AutoShape 9"/>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3274" name="Rectangle 10"/>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53275" name="Freeform 11"/>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3276" name="Freeform 12"/>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3269" name="AutoShape 13"/>
            <p:cNvSpPr>
              <a:spLocks noChangeArrowheads="1"/>
            </p:cNvSpPr>
            <p:nvPr/>
          </p:nvSpPr>
          <p:spPr bwMode="auto">
            <a:xfrm rot="-1306696">
              <a:off x="3492" y="1929"/>
              <a:ext cx="357" cy="366"/>
            </a:xfrm>
            <a:prstGeom prst="cube">
              <a:avLst>
                <a:gd name="adj" fmla="val 25000"/>
              </a:avLst>
            </a:prstGeom>
            <a:solidFill>
              <a:schemeClr val="accent1">
                <a:alpha val="27058"/>
              </a:schemeClr>
            </a:solidFill>
            <a:ln w="9525">
              <a:solidFill>
                <a:schemeClr val="tx1"/>
              </a:solidFill>
              <a:miter lim="800000"/>
              <a:headEnd/>
              <a:tailEnd/>
            </a:ln>
          </p:spPr>
          <p:txBody>
            <a:bodyPr wrap="none" anchor="ctr"/>
            <a:lstStyle/>
            <a:p>
              <a:endParaRPr lang="en-US"/>
            </a:p>
          </p:txBody>
        </p:sp>
        <p:sp>
          <p:nvSpPr>
            <p:cNvPr id="53270" name="AutoShape 14"/>
            <p:cNvSpPr>
              <a:spLocks noChangeArrowheads="1"/>
            </p:cNvSpPr>
            <p:nvPr/>
          </p:nvSpPr>
          <p:spPr bwMode="auto">
            <a:xfrm>
              <a:off x="3625" y="1943"/>
              <a:ext cx="357" cy="366"/>
            </a:xfrm>
            <a:prstGeom prst="cube">
              <a:avLst>
                <a:gd name="adj" fmla="val 25000"/>
              </a:avLst>
            </a:prstGeom>
            <a:solidFill>
              <a:schemeClr val="accent1">
                <a:alpha val="27058"/>
              </a:schemeClr>
            </a:solidFill>
            <a:ln w="9525">
              <a:solidFill>
                <a:schemeClr val="tx1"/>
              </a:solidFill>
              <a:miter lim="800000"/>
              <a:headEnd/>
              <a:tailEnd/>
            </a:ln>
          </p:spPr>
          <p:txBody>
            <a:bodyPr wrap="none" anchor="ctr"/>
            <a:lstStyle/>
            <a:p>
              <a:endParaRPr lang="en-US"/>
            </a:p>
          </p:txBody>
        </p:sp>
        <p:sp>
          <p:nvSpPr>
            <p:cNvPr id="53271" name="Text Box 15"/>
            <p:cNvSpPr txBox="1">
              <a:spLocks noChangeArrowheads="1"/>
            </p:cNvSpPr>
            <p:nvPr/>
          </p:nvSpPr>
          <p:spPr bwMode="auto">
            <a:xfrm>
              <a:off x="3590" y="2537"/>
              <a:ext cx="212" cy="231"/>
            </a:xfrm>
            <a:prstGeom prst="rect">
              <a:avLst/>
            </a:prstGeom>
            <a:noFill/>
            <a:ln w="9525">
              <a:noFill/>
              <a:miter lim="800000"/>
              <a:headEnd/>
              <a:tailEnd/>
            </a:ln>
          </p:spPr>
          <p:txBody>
            <a:bodyPr wrap="none">
              <a:spAutoFit/>
            </a:bodyPr>
            <a:lstStyle/>
            <a:p>
              <a:r>
                <a:rPr lang="en-US"/>
                <a:t>A</a:t>
              </a:r>
            </a:p>
          </p:txBody>
        </p:sp>
      </p:grpSp>
      <p:grpSp>
        <p:nvGrpSpPr>
          <p:cNvPr id="53254" name="Group 16"/>
          <p:cNvGrpSpPr>
            <a:grpSpLocks/>
          </p:cNvGrpSpPr>
          <p:nvPr/>
        </p:nvGrpSpPr>
        <p:grpSpPr bwMode="auto">
          <a:xfrm>
            <a:off x="7116763" y="2957513"/>
            <a:ext cx="1477962" cy="1843087"/>
            <a:chOff x="4483" y="1840"/>
            <a:chExt cx="931" cy="1161"/>
          </a:xfrm>
        </p:grpSpPr>
        <p:grpSp>
          <p:nvGrpSpPr>
            <p:cNvPr id="53259" name="Group 17"/>
            <p:cNvGrpSpPr>
              <a:grpSpLocks/>
            </p:cNvGrpSpPr>
            <p:nvPr/>
          </p:nvGrpSpPr>
          <p:grpSpPr bwMode="auto">
            <a:xfrm>
              <a:off x="4483" y="1840"/>
              <a:ext cx="931" cy="1161"/>
              <a:chOff x="3733" y="1510"/>
              <a:chExt cx="1416" cy="1628"/>
            </a:xfrm>
          </p:grpSpPr>
          <p:grpSp>
            <p:nvGrpSpPr>
              <p:cNvPr id="53261" name="Group 18"/>
              <p:cNvGrpSpPr>
                <a:grpSpLocks/>
              </p:cNvGrpSpPr>
              <p:nvPr/>
            </p:nvGrpSpPr>
            <p:grpSpPr bwMode="auto">
              <a:xfrm>
                <a:off x="3733" y="1514"/>
                <a:ext cx="1416" cy="1624"/>
                <a:chOff x="3596" y="1780"/>
                <a:chExt cx="1416" cy="1624"/>
              </a:xfrm>
            </p:grpSpPr>
            <p:sp>
              <p:nvSpPr>
                <p:cNvPr id="53266" name="Freeform 19"/>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3267" name="Freeform 20"/>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3262" name="AutoShape 21"/>
              <p:cNvSpPr>
                <a:spLocks noChangeArrowheads="1"/>
              </p:cNvSpPr>
              <p:nvPr/>
            </p:nvSpPr>
            <p:spPr bwMode="auto">
              <a:xfrm>
                <a:off x="3897" y="1814"/>
                <a:ext cx="1088" cy="1288"/>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3263" name="Rectangle 22"/>
              <p:cNvSpPr>
                <a:spLocks noChangeArrowheads="1"/>
              </p:cNvSpPr>
              <p:nvPr/>
            </p:nvSpPr>
            <p:spPr bwMode="auto">
              <a:xfrm>
                <a:off x="3897" y="1794"/>
                <a:ext cx="1076" cy="248"/>
              </a:xfrm>
              <a:prstGeom prst="rect">
                <a:avLst/>
              </a:prstGeom>
              <a:solidFill>
                <a:schemeClr val="accent1"/>
              </a:solidFill>
              <a:ln w="9525">
                <a:noFill/>
                <a:miter lim="800000"/>
                <a:headEnd/>
                <a:tailEnd/>
              </a:ln>
            </p:spPr>
            <p:txBody>
              <a:bodyPr wrap="none" anchor="ctr"/>
              <a:lstStyle/>
              <a:p>
                <a:endParaRPr lang="en-US"/>
              </a:p>
            </p:txBody>
          </p:sp>
          <p:sp>
            <p:nvSpPr>
              <p:cNvPr id="53264" name="Freeform 23"/>
              <p:cNvSpPr>
                <a:spLocks/>
              </p:cNvSpPr>
              <p:nvPr/>
            </p:nvSpPr>
            <p:spPr bwMode="auto">
              <a:xfrm>
                <a:off x="3817"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3265" name="Freeform 24"/>
              <p:cNvSpPr>
                <a:spLocks/>
              </p:cNvSpPr>
              <p:nvPr/>
            </p:nvSpPr>
            <p:spPr bwMode="auto">
              <a:xfrm flipH="1">
                <a:off x="4441" y="1510"/>
                <a:ext cx="624" cy="1588"/>
              </a:xfrm>
              <a:custGeom>
                <a:avLst/>
                <a:gdLst>
                  <a:gd name="T0" fmla="*/ 0 w 624"/>
                  <a:gd name="T1" fmla="*/ 0 h 1588"/>
                  <a:gd name="T2" fmla="*/ 44 w 624"/>
                  <a:gd name="T3" fmla="*/ 16 h 1588"/>
                  <a:gd name="T4" fmla="*/ 64 w 624"/>
                  <a:gd name="T5" fmla="*/ 56 h 1588"/>
                  <a:gd name="T6" fmla="*/ 80 w 624"/>
                  <a:gd name="T7" fmla="*/ 144 h 1588"/>
                  <a:gd name="T8" fmla="*/ 88 w 624"/>
                  <a:gd name="T9" fmla="*/ 420 h 1588"/>
                  <a:gd name="T10" fmla="*/ 84 w 624"/>
                  <a:gd name="T11" fmla="*/ 884 h 1588"/>
                  <a:gd name="T12" fmla="*/ 84 w 624"/>
                  <a:gd name="T13" fmla="*/ 1260 h 1588"/>
                  <a:gd name="T14" fmla="*/ 92 w 624"/>
                  <a:gd name="T15" fmla="*/ 1444 h 1588"/>
                  <a:gd name="T16" fmla="*/ 124 w 624"/>
                  <a:gd name="T17" fmla="*/ 1508 h 1588"/>
                  <a:gd name="T18" fmla="*/ 172 w 624"/>
                  <a:gd name="T19" fmla="*/ 1552 h 1588"/>
                  <a:gd name="T20" fmla="*/ 244 w 624"/>
                  <a:gd name="T21" fmla="*/ 1588 h 1588"/>
                  <a:gd name="T22" fmla="*/ 380 w 624"/>
                  <a:gd name="T23" fmla="*/ 1588 h 1588"/>
                  <a:gd name="T24" fmla="*/ 584 w 624"/>
                  <a:gd name="T25" fmla="*/ 1588 h 1588"/>
                  <a:gd name="T26" fmla="*/ 624 w 624"/>
                  <a:gd name="T27" fmla="*/ 1588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grpSp>
        <p:sp>
          <p:nvSpPr>
            <p:cNvPr id="53260" name="Text Box 25"/>
            <p:cNvSpPr txBox="1">
              <a:spLocks noChangeArrowheads="1"/>
            </p:cNvSpPr>
            <p:nvPr/>
          </p:nvSpPr>
          <p:spPr bwMode="auto">
            <a:xfrm>
              <a:off x="4793" y="2486"/>
              <a:ext cx="212" cy="231"/>
            </a:xfrm>
            <a:prstGeom prst="rect">
              <a:avLst/>
            </a:prstGeom>
            <a:noFill/>
            <a:ln w="9525">
              <a:noFill/>
              <a:miter lim="800000"/>
              <a:headEnd/>
              <a:tailEnd/>
            </a:ln>
          </p:spPr>
          <p:txBody>
            <a:bodyPr wrap="none">
              <a:spAutoFit/>
            </a:bodyPr>
            <a:lstStyle/>
            <a:p>
              <a:r>
                <a:rPr lang="en-US"/>
                <a:t>B</a:t>
              </a:r>
            </a:p>
          </p:txBody>
        </p:sp>
      </p:grpSp>
      <p:sp>
        <p:nvSpPr>
          <p:cNvPr id="53255" name="Line 26"/>
          <p:cNvSpPr>
            <a:spLocks noChangeShapeType="1"/>
          </p:cNvSpPr>
          <p:nvPr/>
        </p:nvSpPr>
        <p:spPr bwMode="auto">
          <a:xfrm>
            <a:off x="6662738" y="3279775"/>
            <a:ext cx="420687" cy="0"/>
          </a:xfrm>
          <a:prstGeom prst="line">
            <a:avLst/>
          </a:prstGeom>
          <a:noFill/>
          <a:ln w="9525">
            <a:solidFill>
              <a:schemeClr val="tx1"/>
            </a:solidFill>
            <a:round/>
            <a:headEnd/>
            <a:tailEnd/>
          </a:ln>
        </p:spPr>
        <p:txBody>
          <a:bodyPr/>
          <a:lstStyle/>
          <a:p>
            <a:endParaRPr lang="en-US"/>
          </a:p>
        </p:txBody>
      </p:sp>
      <p:sp>
        <p:nvSpPr>
          <p:cNvPr id="53256" name="Line 27"/>
          <p:cNvSpPr>
            <a:spLocks noChangeShapeType="1"/>
          </p:cNvSpPr>
          <p:nvPr/>
        </p:nvSpPr>
        <p:spPr bwMode="auto">
          <a:xfrm>
            <a:off x="6656388" y="4752975"/>
            <a:ext cx="420687" cy="0"/>
          </a:xfrm>
          <a:prstGeom prst="line">
            <a:avLst/>
          </a:prstGeom>
          <a:noFill/>
          <a:ln w="9525">
            <a:solidFill>
              <a:schemeClr val="tx1"/>
            </a:solidFill>
            <a:round/>
            <a:headEnd/>
            <a:tailEnd/>
          </a:ln>
        </p:spPr>
        <p:txBody>
          <a:bodyPr/>
          <a:lstStyle/>
          <a:p>
            <a:endParaRPr lang="en-US"/>
          </a:p>
        </p:txBody>
      </p:sp>
      <p:sp>
        <p:nvSpPr>
          <p:cNvPr id="53257" name="Line 28"/>
          <p:cNvSpPr>
            <a:spLocks noChangeShapeType="1"/>
          </p:cNvSpPr>
          <p:nvPr/>
        </p:nvSpPr>
        <p:spPr bwMode="auto">
          <a:xfrm>
            <a:off x="6878638" y="3265488"/>
            <a:ext cx="0" cy="1481137"/>
          </a:xfrm>
          <a:prstGeom prst="line">
            <a:avLst/>
          </a:prstGeom>
          <a:noFill/>
          <a:ln w="9525">
            <a:solidFill>
              <a:schemeClr val="tx1"/>
            </a:solidFill>
            <a:round/>
            <a:headEnd type="triangle" w="med" len="med"/>
            <a:tailEnd type="triangle" w="med" len="med"/>
          </a:ln>
        </p:spPr>
        <p:txBody>
          <a:bodyPr/>
          <a:lstStyle/>
          <a:p>
            <a:endParaRPr lang="en-US"/>
          </a:p>
        </p:txBody>
      </p:sp>
      <p:sp>
        <p:nvSpPr>
          <p:cNvPr id="53258" name="Text Box 29"/>
          <p:cNvSpPr txBox="1">
            <a:spLocks noChangeArrowheads="1"/>
          </p:cNvSpPr>
          <p:nvPr/>
        </p:nvSpPr>
        <p:spPr bwMode="auto">
          <a:xfrm>
            <a:off x="6731000" y="3781425"/>
            <a:ext cx="311150" cy="366713"/>
          </a:xfrm>
          <a:prstGeom prst="rect">
            <a:avLst/>
          </a:prstGeom>
          <a:solidFill>
            <a:schemeClr val="bg1"/>
          </a:solidFill>
          <a:ln w="9525">
            <a:noFill/>
            <a:miter lim="800000"/>
            <a:headEnd/>
            <a:tailEnd/>
          </a:ln>
        </p:spPr>
        <p:txBody>
          <a:bodyPr wrap="none">
            <a:spAutoFit/>
          </a:bodyPr>
          <a:lstStyle/>
          <a:p>
            <a:r>
              <a:rPr lang="en-US"/>
              <a:t>h</a:t>
            </a:r>
          </a:p>
        </p:txBody>
      </p:sp>
    </p:spTree>
    <p:extLst>
      <p:ext uri="{BB962C8B-B14F-4D97-AF65-F5344CB8AC3E}">
        <p14:creationId xmlns:p14="http://schemas.microsoft.com/office/powerpoint/2010/main" val="26162347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Number Placeholder 5"/>
          <p:cNvSpPr>
            <a:spLocks noGrp="1"/>
          </p:cNvSpPr>
          <p:nvPr>
            <p:ph type="sldNum" sz="quarter" idx="12"/>
          </p:nvPr>
        </p:nvSpPr>
        <p:spPr>
          <a:noFill/>
        </p:spPr>
        <p:txBody>
          <a:bodyPr/>
          <a:lstStyle/>
          <a:p>
            <a:fld id="{53359846-9639-45BB-9D99-7DB5DB95104F}" type="slidenum">
              <a:rPr lang="en-US" smtClean="0"/>
              <a:pPr/>
              <a:t>51</a:t>
            </a:fld>
            <a:endParaRPr lang="en-US"/>
          </a:p>
        </p:txBody>
      </p:sp>
      <p:sp>
        <p:nvSpPr>
          <p:cNvPr id="54275" name="Rectangle 2"/>
          <p:cNvSpPr>
            <a:spLocks noGrp="1" noChangeArrowheads="1"/>
          </p:cNvSpPr>
          <p:nvPr>
            <p:ph type="title"/>
          </p:nvPr>
        </p:nvSpPr>
        <p:spPr/>
        <p:txBody>
          <a:bodyPr/>
          <a:lstStyle/>
          <a:p>
            <a:pPr eaLnBrk="1" hangingPunct="1"/>
            <a:r>
              <a:rPr lang="en-US"/>
              <a:t>Question 123.5.5</a:t>
            </a:r>
          </a:p>
        </p:txBody>
      </p:sp>
      <p:sp>
        <p:nvSpPr>
          <p:cNvPr id="54276" name="Rectangle 3"/>
          <p:cNvSpPr>
            <a:spLocks noGrp="1" noChangeArrowheads="1"/>
          </p:cNvSpPr>
          <p:nvPr>
            <p:ph type="body" idx="1"/>
          </p:nvPr>
        </p:nvSpPr>
        <p:spPr>
          <a:xfrm>
            <a:off x="457200" y="1600200"/>
            <a:ext cx="4876800" cy="1738313"/>
          </a:xfrm>
        </p:spPr>
        <p:txBody>
          <a:bodyPr/>
          <a:lstStyle/>
          <a:p>
            <a:pPr eaLnBrk="1" hangingPunct="1"/>
            <a:r>
              <a:rPr lang="en-US" sz="2400"/>
              <a:t>When a ball is floating on the surface of a pool, how does the force needed to push it under change with depth? </a:t>
            </a:r>
          </a:p>
        </p:txBody>
      </p:sp>
      <p:sp>
        <p:nvSpPr>
          <p:cNvPr id="54277" name="Freeform 4"/>
          <p:cNvSpPr>
            <a:spLocks/>
          </p:cNvSpPr>
          <p:nvPr/>
        </p:nvSpPr>
        <p:spPr bwMode="auto">
          <a:xfrm>
            <a:off x="6465888" y="4699000"/>
            <a:ext cx="2058987" cy="144463"/>
          </a:xfrm>
          <a:custGeom>
            <a:avLst/>
            <a:gdLst>
              <a:gd name="T0" fmla="*/ 0 w 1426"/>
              <a:gd name="T1" fmla="*/ 2147483647 h 100"/>
              <a:gd name="T2" fmla="*/ 2147483647 w 1426"/>
              <a:gd name="T3" fmla="*/ 2147483647 h 100"/>
              <a:gd name="T4" fmla="*/ 2147483647 w 1426"/>
              <a:gd name="T5" fmla="*/ 2147483647 h 100"/>
              <a:gd name="T6" fmla="*/ 2147483647 w 1426"/>
              <a:gd name="T7" fmla="*/ 2147483647 h 100"/>
              <a:gd name="T8" fmla="*/ 2147483647 w 1426"/>
              <a:gd name="T9" fmla="*/ 2147483647 h 100"/>
              <a:gd name="T10" fmla="*/ 2147483647 w 1426"/>
              <a:gd name="T11" fmla="*/ 2147483647 h 100"/>
              <a:gd name="T12" fmla="*/ 2147483647 w 1426"/>
              <a:gd name="T13" fmla="*/ 0 h 100"/>
              <a:gd name="T14" fmla="*/ 2147483647 w 1426"/>
              <a:gd name="T15" fmla="*/ 2147483647 h 100"/>
              <a:gd name="T16" fmla="*/ 2147483647 w 1426"/>
              <a:gd name="T17" fmla="*/ 2147483647 h 100"/>
              <a:gd name="T18" fmla="*/ 2147483647 w 1426"/>
              <a:gd name="T19" fmla="*/ 2147483647 h 100"/>
              <a:gd name="T20" fmla="*/ 2147483647 w 1426"/>
              <a:gd name="T21" fmla="*/ 2147483647 h 100"/>
              <a:gd name="T22" fmla="*/ 2147483647 w 1426"/>
              <a:gd name="T23" fmla="*/ 2147483647 h 100"/>
              <a:gd name="T24" fmla="*/ 2147483647 w 1426"/>
              <a:gd name="T25" fmla="*/ 2147483647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rgbClr val="7DC4C9"/>
          </a:solidFill>
          <a:ln w="9525">
            <a:noFill/>
            <a:round/>
            <a:headEnd/>
            <a:tailEnd/>
          </a:ln>
        </p:spPr>
        <p:txBody>
          <a:bodyPr/>
          <a:lstStyle/>
          <a:p>
            <a:endParaRPr lang="en-US"/>
          </a:p>
        </p:txBody>
      </p:sp>
      <p:sp>
        <p:nvSpPr>
          <p:cNvPr id="54278" name="Freeform 5"/>
          <p:cNvSpPr>
            <a:spLocks/>
          </p:cNvSpPr>
          <p:nvPr/>
        </p:nvSpPr>
        <p:spPr bwMode="auto">
          <a:xfrm>
            <a:off x="6284913" y="4703763"/>
            <a:ext cx="2263775" cy="158750"/>
          </a:xfrm>
          <a:custGeom>
            <a:avLst/>
            <a:gdLst>
              <a:gd name="T0" fmla="*/ 0 w 1426"/>
              <a:gd name="T1" fmla="*/ 2147483647 h 100"/>
              <a:gd name="T2" fmla="*/ 2147483647 w 1426"/>
              <a:gd name="T3" fmla="*/ 2147483647 h 100"/>
              <a:gd name="T4" fmla="*/ 2147483647 w 1426"/>
              <a:gd name="T5" fmla="*/ 2147483647 h 100"/>
              <a:gd name="T6" fmla="*/ 2147483647 w 1426"/>
              <a:gd name="T7" fmla="*/ 2147483647 h 100"/>
              <a:gd name="T8" fmla="*/ 2147483647 w 1426"/>
              <a:gd name="T9" fmla="*/ 2147483647 h 100"/>
              <a:gd name="T10" fmla="*/ 2147483647 w 1426"/>
              <a:gd name="T11" fmla="*/ 2147483647 h 100"/>
              <a:gd name="T12" fmla="*/ 2147483647 w 1426"/>
              <a:gd name="T13" fmla="*/ 0 h 100"/>
              <a:gd name="T14" fmla="*/ 2147483647 w 1426"/>
              <a:gd name="T15" fmla="*/ 2147483647 h 100"/>
              <a:gd name="T16" fmla="*/ 2147483647 w 1426"/>
              <a:gd name="T17" fmla="*/ 2147483647 h 100"/>
              <a:gd name="T18" fmla="*/ 2147483647 w 1426"/>
              <a:gd name="T19" fmla="*/ 2147483647 h 100"/>
              <a:gd name="T20" fmla="*/ 2147483647 w 1426"/>
              <a:gd name="T21" fmla="*/ 2147483647 h 100"/>
              <a:gd name="T22" fmla="*/ 2147483647 w 1426"/>
              <a:gd name="T23" fmla="*/ 2147483647 h 100"/>
              <a:gd name="T24" fmla="*/ 2147483647 w 1426"/>
              <a:gd name="T25" fmla="*/ 2147483647 h 1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100"/>
              <a:gd name="T41" fmla="*/ 1426 w 1426"/>
              <a:gd name="T42" fmla="*/ 100 h 100"/>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100">
                <a:moveTo>
                  <a:pt x="0" y="91"/>
                </a:moveTo>
                <a:lnTo>
                  <a:pt x="137" y="73"/>
                </a:lnTo>
                <a:lnTo>
                  <a:pt x="256" y="27"/>
                </a:lnTo>
                <a:lnTo>
                  <a:pt x="338" y="64"/>
                </a:lnTo>
                <a:lnTo>
                  <a:pt x="476" y="73"/>
                </a:lnTo>
                <a:lnTo>
                  <a:pt x="613" y="36"/>
                </a:lnTo>
                <a:lnTo>
                  <a:pt x="686" y="0"/>
                </a:lnTo>
                <a:lnTo>
                  <a:pt x="777" y="45"/>
                </a:lnTo>
                <a:lnTo>
                  <a:pt x="933" y="64"/>
                </a:lnTo>
                <a:lnTo>
                  <a:pt x="1061" y="73"/>
                </a:lnTo>
                <a:lnTo>
                  <a:pt x="1152" y="36"/>
                </a:lnTo>
                <a:lnTo>
                  <a:pt x="1262" y="64"/>
                </a:lnTo>
                <a:lnTo>
                  <a:pt x="1426" y="100"/>
                </a:lnTo>
              </a:path>
            </a:pathLst>
          </a:custGeom>
          <a:solidFill>
            <a:schemeClr val="accent1"/>
          </a:solidFill>
          <a:ln w="9525">
            <a:noFill/>
            <a:round/>
            <a:headEnd/>
            <a:tailEnd/>
          </a:ln>
        </p:spPr>
        <p:txBody>
          <a:bodyPr/>
          <a:lstStyle/>
          <a:p>
            <a:endParaRPr lang="en-US"/>
          </a:p>
        </p:txBody>
      </p:sp>
      <p:grpSp>
        <p:nvGrpSpPr>
          <p:cNvPr id="54279" name="Group 6"/>
          <p:cNvGrpSpPr>
            <a:grpSpLocks/>
          </p:cNvGrpSpPr>
          <p:nvPr/>
        </p:nvGrpSpPr>
        <p:grpSpPr bwMode="auto">
          <a:xfrm rot="1590330">
            <a:off x="6704013" y="3684588"/>
            <a:ext cx="1393825" cy="1365250"/>
            <a:chOff x="2213" y="2234"/>
            <a:chExt cx="878" cy="860"/>
          </a:xfrm>
        </p:grpSpPr>
        <p:sp>
          <p:nvSpPr>
            <p:cNvPr id="54313" name="Oval 7"/>
            <p:cNvSpPr>
              <a:spLocks noChangeArrowheads="1"/>
            </p:cNvSpPr>
            <p:nvPr/>
          </p:nvSpPr>
          <p:spPr bwMode="auto">
            <a:xfrm>
              <a:off x="2213" y="2234"/>
              <a:ext cx="878" cy="860"/>
            </a:xfrm>
            <a:prstGeom prst="ellipse">
              <a:avLst/>
            </a:prstGeom>
            <a:solidFill>
              <a:srgbClr val="FFFF00"/>
            </a:solidFill>
            <a:ln w="9525">
              <a:solidFill>
                <a:schemeClr val="tx1"/>
              </a:solidFill>
              <a:round/>
              <a:headEnd/>
              <a:tailEnd/>
            </a:ln>
          </p:spPr>
          <p:txBody>
            <a:bodyPr wrap="none" anchor="ctr"/>
            <a:lstStyle/>
            <a:p>
              <a:endParaRPr lang="en-US"/>
            </a:p>
          </p:txBody>
        </p:sp>
        <p:sp>
          <p:nvSpPr>
            <p:cNvPr id="54314" name="Arc 8"/>
            <p:cNvSpPr>
              <a:spLocks/>
            </p:cNvSpPr>
            <p:nvPr/>
          </p:nvSpPr>
          <p:spPr bwMode="auto">
            <a:xfrm>
              <a:off x="2597" y="2235"/>
              <a:ext cx="417"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4315" name="Arc 9"/>
            <p:cNvSpPr>
              <a:spLocks/>
            </p:cNvSpPr>
            <p:nvPr/>
          </p:nvSpPr>
          <p:spPr bwMode="auto">
            <a:xfrm>
              <a:off x="2601" y="2235"/>
              <a:ext cx="215"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sp>
          <p:nvSpPr>
            <p:cNvPr id="54316" name="Arc 10"/>
            <p:cNvSpPr>
              <a:spLocks/>
            </p:cNvSpPr>
            <p:nvPr/>
          </p:nvSpPr>
          <p:spPr bwMode="auto">
            <a:xfrm flipH="1">
              <a:off x="2331" y="2235"/>
              <a:ext cx="316"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6600"/>
            </a:solidFill>
            <a:ln w="9525">
              <a:solidFill>
                <a:schemeClr val="tx1"/>
              </a:solidFill>
              <a:round/>
              <a:headEnd/>
              <a:tailEnd/>
            </a:ln>
          </p:spPr>
          <p:txBody>
            <a:bodyPr wrap="none" anchor="ctr"/>
            <a:lstStyle/>
            <a:p>
              <a:endParaRPr lang="en-US"/>
            </a:p>
          </p:txBody>
        </p:sp>
        <p:sp>
          <p:nvSpPr>
            <p:cNvPr id="54317" name="Arc 11"/>
            <p:cNvSpPr>
              <a:spLocks/>
            </p:cNvSpPr>
            <p:nvPr/>
          </p:nvSpPr>
          <p:spPr bwMode="auto">
            <a:xfrm flipH="1">
              <a:off x="2556" y="2235"/>
              <a:ext cx="88" cy="859"/>
            </a:xfrm>
            <a:custGeom>
              <a:avLst/>
              <a:gdLst>
                <a:gd name="T0" fmla="*/ 0 w 23580"/>
                <a:gd name="T1" fmla="*/ 0 h 43200"/>
                <a:gd name="T2" fmla="*/ 0 w 23580"/>
                <a:gd name="T3" fmla="*/ 0 h 43200"/>
                <a:gd name="T4" fmla="*/ 0 w 23580"/>
                <a:gd name="T5" fmla="*/ 0 h 43200"/>
                <a:gd name="T6" fmla="*/ 0 60000 65536"/>
                <a:gd name="T7" fmla="*/ 0 60000 65536"/>
                <a:gd name="T8" fmla="*/ 0 60000 65536"/>
                <a:gd name="T9" fmla="*/ 0 w 23580"/>
                <a:gd name="T10" fmla="*/ 0 h 43200"/>
                <a:gd name="T11" fmla="*/ 23580 w 23580"/>
                <a:gd name="T12" fmla="*/ 43200 h 43200"/>
              </a:gdLst>
              <a:ahLst/>
              <a:cxnLst>
                <a:cxn ang="T6">
                  <a:pos x="T0" y="T1"/>
                </a:cxn>
                <a:cxn ang="T7">
                  <a:pos x="T2" y="T3"/>
                </a:cxn>
                <a:cxn ang="T8">
                  <a:pos x="T4" y="T5"/>
                </a:cxn>
              </a:cxnLst>
              <a:rect l="T9" t="T10" r="T11" b="T12"/>
              <a:pathLst>
                <a:path w="23580" h="43200" fill="none" extrusionOk="0">
                  <a:moveTo>
                    <a:pt x="1979" y="0"/>
                  </a:moveTo>
                  <a:cubicBezTo>
                    <a:pt x="13909" y="0"/>
                    <a:pt x="23580" y="9670"/>
                    <a:pt x="23580" y="21600"/>
                  </a:cubicBezTo>
                  <a:cubicBezTo>
                    <a:pt x="23580" y="33529"/>
                    <a:pt x="13909" y="43200"/>
                    <a:pt x="1980" y="43200"/>
                  </a:cubicBezTo>
                  <a:cubicBezTo>
                    <a:pt x="1318" y="43200"/>
                    <a:pt x="658" y="43169"/>
                    <a:pt x="-1" y="43109"/>
                  </a:cubicBezTo>
                </a:path>
                <a:path w="23580" h="43200" stroke="0" extrusionOk="0">
                  <a:moveTo>
                    <a:pt x="1979" y="0"/>
                  </a:moveTo>
                  <a:cubicBezTo>
                    <a:pt x="13909" y="0"/>
                    <a:pt x="23580" y="9670"/>
                    <a:pt x="23580" y="21600"/>
                  </a:cubicBezTo>
                  <a:cubicBezTo>
                    <a:pt x="23580" y="33529"/>
                    <a:pt x="13909" y="43200"/>
                    <a:pt x="1980" y="43200"/>
                  </a:cubicBezTo>
                  <a:cubicBezTo>
                    <a:pt x="1318" y="43200"/>
                    <a:pt x="658" y="43169"/>
                    <a:pt x="-1" y="43109"/>
                  </a:cubicBezTo>
                  <a:lnTo>
                    <a:pt x="1980" y="21600"/>
                  </a:lnTo>
                  <a:close/>
                </a:path>
              </a:pathLst>
            </a:custGeom>
            <a:solidFill>
              <a:srgbClr val="FFFF00"/>
            </a:solidFill>
            <a:ln w="9525">
              <a:solidFill>
                <a:schemeClr val="tx1"/>
              </a:solidFill>
              <a:round/>
              <a:headEnd/>
              <a:tailEnd/>
            </a:ln>
          </p:spPr>
          <p:txBody>
            <a:bodyPr wrap="none" anchor="ctr"/>
            <a:lstStyle/>
            <a:p>
              <a:endParaRPr lang="en-US"/>
            </a:p>
          </p:txBody>
        </p:sp>
      </p:grpSp>
      <p:sp>
        <p:nvSpPr>
          <p:cNvPr id="54280" name="Rectangle 12"/>
          <p:cNvSpPr>
            <a:spLocks noChangeArrowheads="1"/>
          </p:cNvSpPr>
          <p:nvPr/>
        </p:nvSpPr>
        <p:spPr bwMode="auto">
          <a:xfrm>
            <a:off x="6299200" y="4833938"/>
            <a:ext cx="2220913" cy="1771650"/>
          </a:xfrm>
          <a:prstGeom prst="rect">
            <a:avLst/>
          </a:prstGeom>
          <a:solidFill>
            <a:schemeClr val="accent1">
              <a:alpha val="61176"/>
            </a:schemeClr>
          </a:solidFill>
          <a:ln w="9525">
            <a:noFill/>
            <a:miter lim="800000"/>
            <a:headEnd/>
            <a:tailEnd/>
          </a:ln>
        </p:spPr>
        <p:txBody>
          <a:bodyPr wrap="none" anchor="ctr"/>
          <a:lstStyle/>
          <a:p>
            <a:endParaRPr lang="en-US"/>
          </a:p>
        </p:txBody>
      </p:sp>
      <p:sp>
        <p:nvSpPr>
          <p:cNvPr id="54281" name="Oval 13"/>
          <p:cNvSpPr>
            <a:spLocks noChangeArrowheads="1"/>
          </p:cNvSpPr>
          <p:nvPr/>
        </p:nvSpPr>
        <p:spPr bwMode="auto">
          <a:xfrm>
            <a:off x="7402513" y="4364038"/>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54282" name="Line 14"/>
          <p:cNvSpPr>
            <a:spLocks noChangeShapeType="1"/>
          </p:cNvSpPr>
          <p:nvPr/>
        </p:nvSpPr>
        <p:spPr bwMode="auto">
          <a:xfrm>
            <a:off x="7450138" y="4437063"/>
            <a:ext cx="1587" cy="376237"/>
          </a:xfrm>
          <a:prstGeom prst="line">
            <a:avLst/>
          </a:prstGeom>
          <a:noFill/>
          <a:ln w="25400">
            <a:solidFill>
              <a:srgbClr val="3366FF"/>
            </a:solidFill>
            <a:round/>
            <a:headEnd/>
            <a:tailEnd type="triangle" w="med" len="med"/>
          </a:ln>
        </p:spPr>
        <p:txBody>
          <a:bodyPr/>
          <a:lstStyle/>
          <a:p>
            <a:endParaRPr lang="en-US"/>
          </a:p>
        </p:txBody>
      </p:sp>
      <p:sp>
        <p:nvSpPr>
          <p:cNvPr id="54283" name="Text Box 15"/>
          <p:cNvSpPr txBox="1">
            <a:spLocks noChangeArrowheads="1"/>
          </p:cNvSpPr>
          <p:nvPr/>
        </p:nvSpPr>
        <p:spPr bwMode="auto">
          <a:xfrm>
            <a:off x="7494588" y="4530725"/>
            <a:ext cx="407987" cy="366713"/>
          </a:xfrm>
          <a:prstGeom prst="rect">
            <a:avLst/>
          </a:prstGeom>
          <a:noFill/>
          <a:ln w="9525">
            <a:noFill/>
            <a:miter lim="800000"/>
            <a:headEnd/>
            <a:tailEnd/>
          </a:ln>
        </p:spPr>
        <p:txBody>
          <a:bodyPr>
            <a:spAutoFit/>
          </a:bodyPr>
          <a:lstStyle/>
          <a:p>
            <a:r>
              <a:rPr lang="en-US" b="1"/>
              <a:t>F</a:t>
            </a:r>
            <a:r>
              <a:rPr lang="en-US" i="1" baseline="-25000"/>
              <a:t>g</a:t>
            </a:r>
          </a:p>
        </p:txBody>
      </p:sp>
      <p:sp>
        <p:nvSpPr>
          <p:cNvPr id="54284" name="Text Box 16"/>
          <p:cNvSpPr txBox="1">
            <a:spLocks noChangeArrowheads="1"/>
          </p:cNvSpPr>
          <p:nvPr/>
        </p:nvSpPr>
        <p:spPr bwMode="auto">
          <a:xfrm>
            <a:off x="7488238" y="3908425"/>
            <a:ext cx="407987" cy="366713"/>
          </a:xfrm>
          <a:prstGeom prst="rect">
            <a:avLst/>
          </a:prstGeom>
          <a:noFill/>
          <a:ln w="9525">
            <a:noFill/>
            <a:miter lim="800000"/>
            <a:headEnd/>
            <a:tailEnd/>
          </a:ln>
        </p:spPr>
        <p:txBody>
          <a:bodyPr>
            <a:spAutoFit/>
          </a:bodyPr>
          <a:lstStyle/>
          <a:p>
            <a:r>
              <a:rPr lang="en-US" b="1"/>
              <a:t>B</a:t>
            </a:r>
            <a:endParaRPr lang="en-US" b="1" baseline="-25000"/>
          </a:p>
        </p:txBody>
      </p:sp>
      <p:sp>
        <p:nvSpPr>
          <p:cNvPr id="54285" name="Line 17"/>
          <p:cNvSpPr>
            <a:spLocks noChangeShapeType="1"/>
          </p:cNvSpPr>
          <p:nvPr/>
        </p:nvSpPr>
        <p:spPr bwMode="auto">
          <a:xfrm flipH="1" flipV="1">
            <a:off x="7442200" y="4017963"/>
            <a:ext cx="7938" cy="376237"/>
          </a:xfrm>
          <a:prstGeom prst="line">
            <a:avLst/>
          </a:prstGeom>
          <a:noFill/>
          <a:ln w="25400">
            <a:solidFill>
              <a:srgbClr val="3366FF"/>
            </a:solidFill>
            <a:round/>
            <a:headEnd/>
            <a:tailEnd type="triangle" w="med" len="med"/>
          </a:ln>
        </p:spPr>
        <p:txBody>
          <a:bodyPr/>
          <a:lstStyle/>
          <a:p>
            <a:endParaRPr lang="en-US"/>
          </a:p>
        </p:txBody>
      </p:sp>
      <p:sp>
        <p:nvSpPr>
          <p:cNvPr id="54286" name="Line 18"/>
          <p:cNvSpPr>
            <a:spLocks noChangeShapeType="1"/>
          </p:cNvSpPr>
          <p:nvPr/>
        </p:nvSpPr>
        <p:spPr bwMode="auto">
          <a:xfrm flipH="1">
            <a:off x="6678613" y="5083175"/>
            <a:ext cx="647700" cy="0"/>
          </a:xfrm>
          <a:prstGeom prst="line">
            <a:avLst/>
          </a:prstGeom>
          <a:noFill/>
          <a:ln w="9525">
            <a:solidFill>
              <a:schemeClr val="tx1"/>
            </a:solidFill>
            <a:round/>
            <a:headEnd/>
            <a:tailEnd/>
          </a:ln>
        </p:spPr>
        <p:txBody>
          <a:bodyPr/>
          <a:lstStyle/>
          <a:p>
            <a:endParaRPr lang="en-US"/>
          </a:p>
        </p:txBody>
      </p:sp>
      <p:sp>
        <p:nvSpPr>
          <p:cNvPr id="54287" name="Line 19"/>
          <p:cNvSpPr>
            <a:spLocks noChangeShapeType="1"/>
          </p:cNvSpPr>
          <p:nvPr/>
        </p:nvSpPr>
        <p:spPr bwMode="auto">
          <a:xfrm>
            <a:off x="6734175" y="4811713"/>
            <a:ext cx="0" cy="279400"/>
          </a:xfrm>
          <a:prstGeom prst="line">
            <a:avLst/>
          </a:prstGeom>
          <a:noFill/>
          <a:ln w="9525">
            <a:solidFill>
              <a:schemeClr val="tx1"/>
            </a:solidFill>
            <a:round/>
            <a:headEnd type="triangle" w="med" len="med"/>
            <a:tailEnd type="triangle" w="med" len="med"/>
          </a:ln>
        </p:spPr>
        <p:txBody>
          <a:bodyPr/>
          <a:lstStyle/>
          <a:p>
            <a:endParaRPr lang="en-US"/>
          </a:p>
        </p:txBody>
      </p:sp>
      <p:sp>
        <p:nvSpPr>
          <p:cNvPr id="54288" name="Text Box 20"/>
          <p:cNvSpPr txBox="1">
            <a:spLocks noChangeArrowheads="1"/>
          </p:cNvSpPr>
          <p:nvPr/>
        </p:nvSpPr>
        <p:spPr bwMode="auto">
          <a:xfrm>
            <a:off x="6340475" y="4837113"/>
            <a:ext cx="282575" cy="304800"/>
          </a:xfrm>
          <a:prstGeom prst="rect">
            <a:avLst/>
          </a:prstGeom>
          <a:noFill/>
          <a:ln w="9525">
            <a:noFill/>
            <a:miter lim="800000"/>
            <a:headEnd/>
            <a:tailEnd/>
          </a:ln>
        </p:spPr>
        <p:txBody>
          <a:bodyPr wrap="none">
            <a:spAutoFit/>
          </a:bodyPr>
          <a:lstStyle/>
          <a:p>
            <a:r>
              <a:rPr lang="en-US" sz="1400" i="1"/>
              <a:t>h</a:t>
            </a:r>
          </a:p>
        </p:txBody>
      </p:sp>
      <p:sp>
        <p:nvSpPr>
          <p:cNvPr id="54289" name="Line 21"/>
          <p:cNvSpPr>
            <a:spLocks noChangeShapeType="1"/>
          </p:cNvSpPr>
          <p:nvPr/>
        </p:nvSpPr>
        <p:spPr bwMode="auto">
          <a:xfrm flipH="1">
            <a:off x="6659563" y="4816475"/>
            <a:ext cx="182562" cy="0"/>
          </a:xfrm>
          <a:prstGeom prst="line">
            <a:avLst/>
          </a:prstGeom>
          <a:noFill/>
          <a:ln w="9525">
            <a:solidFill>
              <a:schemeClr val="tx1"/>
            </a:solidFill>
            <a:round/>
            <a:headEnd/>
            <a:tailEnd/>
          </a:ln>
        </p:spPr>
        <p:txBody>
          <a:bodyPr/>
          <a:lstStyle/>
          <a:p>
            <a:endParaRPr lang="en-US"/>
          </a:p>
        </p:txBody>
      </p:sp>
      <p:sp>
        <p:nvSpPr>
          <p:cNvPr id="54290" name="Line 22"/>
          <p:cNvSpPr>
            <a:spLocks noChangeShapeType="1"/>
          </p:cNvSpPr>
          <p:nvPr/>
        </p:nvSpPr>
        <p:spPr bwMode="auto">
          <a:xfrm>
            <a:off x="3235325" y="3698875"/>
            <a:ext cx="0" cy="973138"/>
          </a:xfrm>
          <a:prstGeom prst="line">
            <a:avLst/>
          </a:prstGeom>
          <a:noFill/>
          <a:ln w="9525">
            <a:solidFill>
              <a:schemeClr val="tx1"/>
            </a:solidFill>
            <a:round/>
            <a:headEnd/>
            <a:tailEnd/>
          </a:ln>
        </p:spPr>
        <p:txBody>
          <a:bodyPr/>
          <a:lstStyle/>
          <a:p>
            <a:endParaRPr lang="en-US"/>
          </a:p>
        </p:txBody>
      </p:sp>
      <p:sp>
        <p:nvSpPr>
          <p:cNvPr id="54291" name="Line 23"/>
          <p:cNvSpPr>
            <a:spLocks noChangeShapeType="1"/>
          </p:cNvSpPr>
          <p:nvPr/>
        </p:nvSpPr>
        <p:spPr bwMode="auto">
          <a:xfrm>
            <a:off x="3033713" y="4564063"/>
            <a:ext cx="2584450" cy="0"/>
          </a:xfrm>
          <a:prstGeom prst="line">
            <a:avLst/>
          </a:prstGeom>
          <a:noFill/>
          <a:ln w="9525">
            <a:solidFill>
              <a:schemeClr val="tx1"/>
            </a:solidFill>
            <a:round/>
            <a:headEnd/>
            <a:tailEnd/>
          </a:ln>
        </p:spPr>
        <p:txBody>
          <a:bodyPr/>
          <a:lstStyle/>
          <a:p>
            <a:endParaRPr lang="en-US"/>
          </a:p>
        </p:txBody>
      </p:sp>
      <p:sp>
        <p:nvSpPr>
          <p:cNvPr id="54292" name="Text Box 24"/>
          <p:cNvSpPr txBox="1">
            <a:spLocks noChangeArrowheads="1"/>
          </p:cNvSpPr>
          <p:nvPr/>
        </p:nvSpPr>
        <p:spPr bwMode="auto">
          <a:xfrm>
            <a:off x="5091113" y="4686300"/>
            <a:ext cx="311150" cy="366713"/>
          </a:xfrm>
          <a:prstGeom prst="rect">
            <a:avLst/>
          </a:prstGeom>
          <a:noFill/>
          <a:ln w="9525">
            <a:noFill/>
            <a:miter lim="800000"/>
            <a:headEnd/>
            <a:tailEnd/>
          </a:ln>
        </p:spPr>
        <p:txBody>
          <a:bodyPr wrap="none">
            <a:spAutoFit/>
          </a:bodyPr>
          <a:lstStyle/>
          <a:p>
            <a:r>
              <a:rPr lang="en-US"/>
              <a:t>h</a:t>
            </a:r>
          </a:p>
        </p:txBody>
      </p:sp>
      <p:sp>
        <p:nvSpPr>
          <p:cNvPr id="54293" name="Line 25"/>
          <p:cNvSpPr>
            <a:spLocks noChangeShapeType="1"/>
          </p:cNvSpPr>
          <p:nvPr/>
        </p:nvSpPr>
        <p:spPr bwMode="auto">
          <a:xfrm>
            <a:off x="3194050" y="4367213"/>
            <a:ext cx="69850" cy="0"/>
          </a:xfrm>
          <a:prstGeom prst="line">
            <a:avLst/>
          </a:prstGeom>
          <a:noFill/>
          <a:ln w="9525">
            <a:solidFill>
              <a:schemeClr val="tx1"/>
            </a:solidFill>
            <a:round/>
            <a:headEnd/>
            <a:tailEnd/>
          </a:ln>
        </p:spPr>
        <p:txBody>
          <a:bodyPr/>
          <a:lstStyle/>
          <a:p>
            <a:endParaRPr lang="en-US"/>
          </a:p>
        </p:txBody>
      </p:sp>
      <p:sp>
        <p:nvSpPr>
          <p:cNvPr id="54294" name="Line 26"/>
          <p:cNvSpPr>
            <a:spLocks noChangeShapeType="1"/>
          </p:cNvSpPr>
          <p:nvPr/>
        </p:nvSpPr>
        <p:spPr bwMode="auto">
          <a:xfrm>
            <a:off x="4008438" y="4052888"/>
            <a:ext cx="1387475" cy="0"/>
          </a:xfrm>
          <a:prstGeom prst="line">
            <a:avLst/>
          </a:prstGeom>
          <a:noFill/>
          <a:ln w="9525">
            <a:solidFill>
              <a:schemeClr val="tx1"/>
            </a:solidFill>
            <a:round/>
            <a:headEnd/>
            <a:tailEnd/>
          </a:ln>
        </p:spPr>
        <p:txBody>
          <a:bodyPr/>
          <a:lstStyle/>
          <a:p>
            <a:endParaRPr lang="en-US"/>
          </a:p>
        </p:txBody>
      </p:sp>
      <p:sp>
        <p:nvSpPr>
          <p:cNvPr id="54295" name="Text Box 27"/>
          <p:cNvSpPr txBox="1">
            <a:spLocks noChangeArrowheads="1"/>
          </p:cNvSpPr>
          <p:nvPr/>
        </p:nvSpPr>
        <p:spPr bwMode="auto">
          <a:xfrm>
            <a:off x="2963863" y="3516313"/>
            <a:ext cx="323850" cy="366712"/>
          </a:xfrm>
          <a:prstGeom prst="rect">
            <a:avLst/>
          </a:prstGeom>
          <a:noFill/>
          <a:ln w="9525">
            <a:noFill/>
            <a:miter lim="800000"/>
            <a:headEnd/>
            <a:tailEnd/>
          </a:ln>
        </p:spPr>
        <p:txBody>
          <a:bodyPr wrap="none">
            <a:spAutoFit/>
          </a:bodyPr>
          <a:lstStyle/>
          <a:p>
            <a:r>
              <a:rPr lang="en-US"/>
              <a:t>F</a:t>
            </a:r>
          </a:p>
        </p:txBody>
      </p:sp>
      <p:grpSp>
        <p:nvGrpSpPr>
          <p:cNvPr id="54296" name="Group 28"/>
          <p:cNvGrpSpPr>
            <a:grpSpLocks/>
          </p:cNvGrpSpPr>
          <p:nvPr/>
        </p:nvGrpSpPr>
        <p:grpSpPr bwMode="auto">
          <a:xfrm>
            <a:off x="3228975" y="4049713"/>
            <a:ext cx="769938" cy="322262"/>
            <a:chOff x="562" y="2038"/>
            <a:chExt cx="1513" cy="719"/>
          </a:xfrm>
        </p:grpSpPr>
        <p:sp>
          <p:nvSpPr>
            <p:cNvPr id="54311" name="Freeform 29"/>
            <p:cNvSpPr>
              <a:spLocks/>
            </p:cNvSpPr>
            <p:nvPr/>
          </p:nvSpPr>
          <p:spPr bwMode="auto">
            <a:xfrm>
              <a:off x="1252" y="2038"/>
              <a:ext cx="823" cy="403"/>
            </a:xfrm>
            <a:custGeom>
              <a:avLst/>
              <a:gdLst>
                <a:gd name="T0" fmla="*/ 0 w 823"/>
                <a:gd name="T1" fmla="*/ 403 h 403"/>
                <a:gd name="T2" fmla="*/ 549 w 823"/>
                <a:gd name="T3" fmla="*/ 65 h 403"/>
                <a:gd name="T4" fmla="*/ 823 w 823"/>
                <a:gd name="T5" fmla="*/ 10 h 403"/>
                <a:gd name="T6" fmla="*/ 0 60000 65536"/>
                <a:gd name="T7" fmla="*/ 0 60000 65536"/>
                <a:gd name="T8" fmla="*/ 0 60000 65536"/>
                <a:gd name="T9" fmla="*/ 0 w 823"/>
                <a:gd name="T10" fmla="*/ 0 h 403"/>
                <a:gd name="T11" fmla="*/ 823 w 823"/>
                <a:gd name="T12" fmla="*/ 403 h 403"/>
              </a:gdLst>
              <a:ahLst/>
              <a:cxnLst>
                <a:cxn ang="T6">
                  <a:pos x="T0" y="T1"/>
                </a:cxn>
                <a:cxn ang="T7">
                  <a:pos x="T2" y="T3"/>
                </a:cxn>
                <a:cxn ang="T8">
                  <a:pos x="T4" y="T5"/>
                </a:cxn>
              </a:cxnLst>
              <a:rect l="T9" t="T10" r="T11" b="T12"/>
              <a:pathLst>
                <a:path w="823" h="403">
                  <a:moveTo>
                    <a:pt x="0" y="403"/>
                  </a:moveTo>
                  <a:cubicBezTo>
                    <a:pt x="206" y="266"/>
                    <a:pt x="412" y="130"/>
                    <a:pt x="549" y="65"/>
                  </a:cubicBezTo>
                  <a:cubicBezTo>
                    <a:pt x="686" y="0"/>
                    <a:pt x="754" y="5"/>
                    <a:pt x="823" y="10"/>
                  </a:cubicBezTo>
                </a:path>
              </a:pathLst>
            </a:custGeom>
            <a:noFill/>
            <a:ln w="9525">
              <a:solidFill>
                <a:schemeClr val="tx1"/>
              </a:solidFill>
              <a:round/>
              <a:headEnd/>
              <a:tailEnd/>
            </a:ln>
          </p:spPr>
          <p:txBody>
            <a:bodyPr/>
            <a:lstStyle/>
            <a:p>
              <a:endParaRPr lang="en-US"/>
            </a:p>
          </p:txBody>
        </p:sp>
        <p:sp>
          <p:nvSpPr>
            <p:cNvPr id="54312" name="Freeform 30"/>
            <p:cNvSpPr>
              <a:spLocks/>
            </p:cNvSpPr>
            <p:nvPr/>
          </p:nvSpPr>
          <p:spPr bwMode="auto">
            <a:xfrm flipH="1" flipV="1">
              <a:off x="562" y="2354"/>
              <a:ext cx="823" cy="403"/>
            </a:xfrm>
            <a:custGeom>
              <a:avLst/>
              <a:gdLst>
                <a:gd name="T0" fmla="*/ 0 w 823"/>
                <a:gd name="T1" fmla="*/ 403 h 403"/>
                <a:gd name="T2" fmla="*/ 549 w 823"/>
                <a:gd name="T3" fmla="*/ 65 h 403"/>
                <a:gd name="T4" fmla="*/ 823 w 823"/>
                <a:gd name="T5" fmla="*/ 10 h 403"/>
                <a:gd name="T6" fmla="*/ 0 60000 65536"/>
                <a:gd name="T7" fmla="*/ 0 60000 65536"/>
                <a:gd name="T8" fmla="*/ 0 60000 65536"/>
                <a:gd name="T9" fmla="*/ 0 w 823"/>
                <a:gd name="T10" fmla="*/ 0 h 403"/>
                <a:gd name="T11" fmla="*/ 823 w 823"/>
                <a:gd name="T12" fmla="*/ 403 h 403"/>
              </a:gdLst>
              <a:ahLst/>
              <a:cxnLst>
                <a:cxn ang="T6">
                  <a:pos x="T0" y="T1"/>
                </a:cxn>
                <a:cxn ang="T7">
                  <a:pos x="T2" y="T3"/>
                </a:cxn>
                <a:cxn ang="T8">
                  <a:pos x="T4" y="T5"/>
                </a:cxn>
              </a:cxnLst>
              <a:rect l="T9" t="T10" r="T11" b="T12"/>
              <a:pathLst>
                <a:path w="823" h="403">
                  <a:moveTo>
                    <a:pt x="0" y="403"/>
                  </a:moveTo>
                  <a:cubicBezTo>
                    <a:pt x="206" y="266"/>
                    <a:pt x="412" y="130"/>
                    <a:pt x="549" y="65"/>
                  </a:cubicBezTo>
                  <a:cubicBezTo>
                    <a:pt x="686" y="0"/>
                    <a:pt x="754" y="5"/>
                    <a:pt x="823" y="10"/>
                  </a:cubicBezTo>
                </a:path>
              </a:pathLst>
            </a:custGeom>
            <a:noFill/>
            <a:ln w="9525">
              <a:solidFill>
                <a:schemeClr val="tx1"/>
              </a:solidFill>
              <a:round/>
              <a:headEnd/>
              <a:tailEnd/>
            </a:ln>
          </p:spPr>
          <p:txBody>
            <a:bodyPr/>
            <a:lstStyle/>
            <a:p>
              <a:endParaRPr lang="en-US"/>
            </a:p>
          </p:txBody>
        </p:sp>
      </p:grpSp>
      <p:sp>
        <p:nvSpPr>
          <p:cNvPr id="54297" name="Line 31"/>
          <p:cNvSpPr>
            <a:spLocks noChangeShapeType="1"/>
          </p:cNvSpPr>
          <p:nvPr/>
        </p:nvSpPr>
        <p:spPr bwMode="auto">
          <a:xfrm>
            <a:off x="542925" y="3765550"/>
            <a:ext cx="0" cy="973138"/>
          </a:xfrm>
          <a:prstGeom prst="line">
            <a:avLst/>
          </a:prstGeom>
          <a:noFill/>
          <a:ln w="9525">
            <a:solidFill>
              <a:schemeClr val="tx1"/>
            </a:solidFill>
            <a:round/>
            <a:headEnd/>
            <a:tailEnd/>
          </a:ln>
        </p:spPr>
        <p:txBody>
          <a:bodyPr/>
          <a:lstStyle/>
          <a:p>
            <a:endParaRPr lang="en-US"/>
          </a:p>
        </p:txBody>
      </p:sp>
      <p:sp>
        <p:nvSpPr>
          <p:cNvPr id="54298" name="Line 32"/>
          <p:cNvSpPr>
            <a:spLocks noChangeShapeType="1"/>
          </p:cNvSpPr>
          <p:nvPr/>
        </p:nvSpPr>
        <p:spPr bwMode="auto">
          <a:xfrm>
            <a:off x="341313" y="4630738"/>
            <a:ext cx="2584450" cy="0"/>
          </a:xfrm>
          <a:prstGeom prst="line">
            <a:avLst/>
          </a:prstGeom>
          <a:noFill/>
          <a:ln w="9525">
            <a:solidFill>
              <a:schemeClr val="tx1"/>
            </a:solidFill>
            <a:round/>
            <a:headEnd/>
            <a:tailEnd/>
          </a:ln>
        </p:spPr>
        <p:txBody>
          <a:bodyPr/>
          <a:lstStyle/>
          <a:p>
            <a:endParaRPr lang="en-US"/>
          </a:p>
        </p:txBody>
      </p:sp>
      <p:sp>
        <p:nvSpPr>
          <p:cNvPr id="54299" name="Text Box 33"/>
          <p:cNvSpPr txBox="1">
            <a:spLocks noChangeArrowheads="1"/>
          </p:cNvSpPr>
          <p:nvPr/>
        </p:nvSpPr>
        <p:spPr bwMode="auto">
          <a:xfrm>
            <a:off x="2398713" y="4752975"/>
            <a:ext cx="311150" cy="366713"/>
          </a:xfrm>
          <a:prstGeom prst="rect">
            <a:avLst/>
          </a:prstGeom>
          <a:noFill/>
          <a:ln w="9525">
            <a:noFill/>
            <a:miter lim="800000"/>
            <a:headEnd/>
            <a:tailEnd/>
          </a:ln>
        </p:spPr>
        <p:txBody>
          <a:bodyPr wrap="none">
            <a:spAutoFit/>
          </a:bodyPr>
          <a:lstStyle/>
          <a:p>
            <a:r>
              <a:rPr lang="en-US"/>
              <a:t>h</a:t>
            </a:r>
          </a:p>
        </p:txBody>
      </p:sp>
      <p:sp>
        <p:nvSpPr>
          <p:cNvPr id="54300" name="Line 34"/>
          <p:cNvSpPr>
            <a:spLocks noChangeShapeType="1"/>
          </p:cNvSpPr>
          <p:nvPr/>
        </p:nvSpPr>
        <p:spPr bwMode="auto">
          <a:xfrm>
            <a:off x="501650" y="4433888"/>
            <a:ext cx="69850" cy="0"/>
          </a:xfrm>
          <a:prstGeom prst="line">
            <a:avLst/>
          </a:prstGeom>
          <a:noFill/>
          <a:ln w="9525">
            <a:solidFill>
              <a:schemeClr val="tx1"/>
            </a:solidFill>
            <a:round/>
            <a:headEnd/>
            <a:tailEnd/>
          </a:ln>
        </p:spPr>
        <p:txBody>
          <a:bodyPr/>
          <a:lstStyle/>
          <a:p>
            <a:endParaRPr lang="en-US"/>
          </a:p>
        </p:txBody>
      </p:sp>
      <p:sp>
        <p:nvSpPr>
          <p:cNvPr id="54301" name="Text Box 35"/>
          <p:cNvSpPr txBox="1">
            <a:spLocks noChangeArrowheads="1"/>
          </p:cNvSpPr>
          <p:nvPr/>
        </p:nvSpPr>
        <p:spPr bwMode="auto">
          <a:xfrm>
            <a:off x="271463" y="3582988"/>
            <a:ext cx="323850" cy="366712"/>
          </a:xfrm>
          <a:prstGeom prst="rect">
            <a:avLst/>
          </a:prstGeom>
          <a:noFill/>
          <a:ln w="9525">
            <a:noFill/>
            <a:miter lim="800000"/>
            <a:headEnd/>
            <a:tailEnd/>
          </a:ln>
        </p:spPr>
        <p:txBody>
          <a:bodyPr wrap="none">
            <a:spAutoFit/>
          </a:bodyPr>
          <a:lstStyle/>
          <a:p>
            <a:r>
              <a:rPr lang="en-US"/>
              <a:t>F</a:t>
            </a:r>
          </a:p>
        </p:txBody>
      </p:sp>
      <p:sp>
        <p:nvSpPr>
          <p:cNvPr id="54302" name="Line 36"/>
          <p:cNvSpPr>
            <a:spLocks noChangeShapeType="1"/>
          </p:cNvSpPr>
          <p:nvPr/>
        </p:nvSpPr>
        <p:spPr bwMode="auto">
          <a:xfrm>
            <a:off x="1727200" y="5276850"/>
            <a:ext cx="0" cy="973138"/>
          </a:xfrm>
          <a:prstGeom prst="line">
            <a:avLst/>
          </a:prstGeom>
          <a:noFill/>
          <a:ln w="9525">
            <a:solidFill>
              <a:schemeClr val="tx1"/>
            </a:solidFill>
            <a:round/>
            <a:headEnd/>
            <a:tailEnd/>
          </a:ln>
        </p:spPr>
        <p:txBody>
          <a:bodyPr/>
          <a:lstStyle/>
          <a:p>
            <a:endParaRPr lang="en-US"/>
          </a:p>
        </p:txBody>
      </p:sp>
      <p:sp>
        <p:nvSpPr>
          <p:cNvPr id="54303" name="Line 37"/>
          <p:cNvSpPr>
            <a:spLocks noChangeShapeType="1"/>
          </p:cNvSpPr>
          <p:nvPr/>
        </p:nvSpPr>
        <p:spPr bwMode="auto">
          <a:xfrm>
            <a:off x="1525588" y="6142038"/>
            <a:ext cx="2584450" cy="0"/>
          </a:xfrm>
          <a:prstGeom prst="line">
            <a:avLst/>
          </a:prstGeom>
          <a:noFill/>
          <a:ln w="9525">
            <a:solidFill>
              <a:schemeClr val="tx1"/>
            </a:solidFill>
            <a:round/>
            <a:headEnd/>
            <a:tailEnd/>
          </a:ln>
        </p:spPr>
        <p:txBody>
          <a:bodyPr/>
          <a:lstStyle/>
          <a:p>
            <a:endParaRPr lang="en-US"/>
          </a:p>
        </p:txBody>
      </p:sp>
      <p:sp>
        <p:nvSpPr>
          <p:cNvPr id="54304" name="Text Box 38"/>
          <p:cNvSpPr txBox="1">
            <a:spLocks noChangeArrowheads="1"/>
          </p:cNvSpPr>
          <p:nvPr/>
        </p:nvSpPr>
        <p:spPr bwMode="auto">
          <a:xfrm>
            <a:off x="3582988" y="6264275"/>
            <a:ext cx="311150" cy="366713"/>
          </a:xfrm>
          <a:prstGeom prst="rect">
            <a:avLst/>
          </a:prstGeom>
          <a:noFill/>
          <a:ln w="9525">
            <a:noFill/>
            <a:miter lim="800000"/>
            <a:headEnd/>
            <a:tailEnd/>
          </a:ln>
        </p:spPr>
        <p:txBody>
          <a:bodyPr wrap="none">
            <a:spAutoFit/>
          </a:bodyPr>
          <a:lstStyle/>
          <a:p>
            <a:r>
              <a:rPr lang="en-US"/>
              <a:t>h</a:t>
            </a:r>
          </a:p>
        </p:txBody>
      </p:sp>
      <p:sp>
        <p:nvSpPr>
          <p:cNvPr id="54305" name="Line 39"/>
          <p:cNvSpPr>
            <a:spLocks noChangeShapeType="1"/>
          </p:cNvSpPr>
          <p:nvPr/>
        </p:nvSpPr>
        <p:spPr bwMode="auto">
          <a:xfrm>
            <a:off x="1685925" y="5945188"/>
            <a:ext cx="2159000" cy="0"/>
          </a:xfrm>
          <a:prstGeom prst="line">
            <a:avLst/>
          </a:prstGeom>
          <a:noFill/>
          <a:ln w="9525">
            <a:solidFill>
              <a:schemeClr val="tx1"/>
            </a:solidFill>
            <a:round/>
            <a:headEnd/>
            <a:tailEnd/>
          </a:ln>
        </p:spPr>
        <p:txBody>
          <a:bodyPr/>
          <a:lstStyle/>
          <a:p>
            <a:endParaRPr lang="en-US"/>
          </a:p>
        </p:txBody>
      </p:sp>
      <p:sp>
        <p:nvSpPr>
          <p:cNvPr id="54306" name="Text Box 40"/>
          <p:cNvSpPr txBox="1">
            <a:spLocks noChangeArrowheads="1"/>
          </p:cNvSpPr>
          <p:nvPr/>
        </p:nvSpPr>
        <p:spPr bwMode="auto">
          <a:xfrm>
            <a:off x="1368425" y="5084763"/>
            <a:ext cx="323850" cy="366712"/>
          </a:xfrm>
          <a:prstGeom prst="rect">
            <a:avLst/>
          </a:prstGeom>
          <a:noFill/>
          <a:ln w="9525">
            <a:noFill/>
            <a:miter lim="800000"/>
            <a:headEnd/>
            <a:tailEnd/>
          </a:ln>
        </p:spPr>
        <p:txBody>
          <a:bodyPr wrap="none">
            <a:spAutoFit/>
          </a:bodyPr>
          <a:lstStyle/>
          <a:p>
            <a:r>
              <a:rPr lang="en-US"/>
              <a:t>F</a:t>
            </a:r>
          </a:p>
        </p:txBody>
      </p:sp>
      <p:sp>
        <p:nvSpPr>
          <p:cNvPr id="54307" name="Text Box 41"/>
          <p:cNvSpPr txBox="1">
            <a:spLocks noChangeArrowheads="1"/>
          </p:cNvSpPr>
          <p:nvPr/>
        </p:nvSpPr>
        <p:spPr bwMode="auto">
          <a:xfrm>
            <a:off x="1155700" y="3417888"/>
            <a:ext cx="336550" cy="366712"/>
          </a:xfrm>
          <a:prstGeom prst="rect">
            <a:avLst/>
          </a:prstGeom>
          <a:noFill/>
          <a:ln w="9525">
            <a:noFill/>
            <a:miter lim="800000"/>
            <a:headEnd/>
            <a:tailEnd/>
          </a:ln>
        </p:spPr>
        <p:txBody>
          <a:bodyPr wrap="none">
            <a:spAutoFit/>
          </a:bodyPr>
          <a:lstStyle/>
          <a:p>
            <a:r>
              <a:rPr lang="en-US">
                <a:solidFill>
                  <a:srgbClr val="3366FF"/>
                </a:solidFill>
              </a:rPr>
              <a:t>A</a:t>
            </a:r>
          </a:p>
        </p:txBody>
      </p:sp>
      <p:sp>
        <p:nvSpPr>
          <p:cNvPr id="54308" name="Text Box 42"/>
          <p:cNvSpPr txBox="1">
            <a:spLocks noChangeArrowheads="1"/>
          </p:cNvSpPr>
          <p:nvPr/>
        </p:nvSpPr>
        <p:spPr bwMode="auto">
          <a:xfrm>
            <a:off x="4152900" y="3513138"/>
            <a:ext cx="336550" cy="366712"/>
          </a:xfrm>
          <a:prstGeom prst="rect">
            <a:avLst/>
          </a:prstGeom>
          <a:noFill/>
          <a:ln w="9525">
            <a:noFill/>
            <a:miter lim="800000"/>
            <a:headEnd/>
            <a:tailEnd/>
          </a:ln>
        </p:spPr>
        <p:txBody>
          <a:bodyPr wrap="none">
            <a:spAutoFit/>
          </a:bodyPr>
          <a:lstStyle/>
          <a:p>
            <a:r>
              <a:rPr lang="en-US">
                <a:solidFill>
                  <a:srgbClr val="3366FF"/>
                </a:solidFill>
              </a:rPr>
              <a:t>B</a:t>
            </a:r>
          </a:p>
        </p:txBody>
      </p:sp>
      <p:sp>
        <p:nvSpPr>
          <p:cNvPr id="54309" name="Text Box 43"/>
          <p:cNvSpPr txBox="1">
            <a:spLocks noChangeArrowheads="1"/>
          </p:cNvSpPr>
          <p:nvPr/>
        </p:nvSpPr>
        <p:spPr bwMode="auto">
          <a:xfrm>
            <a:off x="2128838" y="5203825"/>
            <a:ext cx="349250" cy="366713"/>
          </a:xfrm>
          <a:prstGeom prst="rect">
            <a:avLst/>
          </a:prstGeom>
          <a:noFill/>
          <a:ln w="9525">
            <a:noFill/>
            <a:miter lim="800000"/>
            <a:headEnd/>
            <a:tailEnd/>
          </a:ln>
        </p:spPr>
        <p:txBody>
          <a:bodyPr wrap="none">
            <a:spAutoFit/>
          </a:bodyPr>
          <a:lstStyle/>
          <a:p>
            <a:r>
              <a:rPr lang="en-US">
                <a:solidFill>
                  <a:srgbClr val="3366FF"/>
                </a:solidFill>
              </a:rPr>
              <a:t>C</a:t>
            </a:r>
          </a:p>
        </p:txBody>
      </p:sp>
      <p:sp>
        <p:nvSpPr>
          <p:cNvPr id="54310" name="Line 44"/>
          <p:cNvSpPr>
            <a:spLocks noChangeShapeType="1"/>
          </p:cNvSpPr>
          <p:nvPr/>
        </p:nvSpPr>
        <p:spPr bwMode="auto">
          <a:xfrm flipV="1">
            <a:off x="550863" y="3919538"/>
            <a:ext cx="1901825" cy="508000"/>
          </a:xfrm>
          <a:prstGeom prst="line">
            <a:avLst/>
          </a:prstGeom>
          <a:noFill/>
          <a:ln w="9525">
            <a:solidFill>
              <a:schemeClr val="tx1"/>
            </a:solidFill>
            <a:round/>
            <a:headEnd/>
            <a:tailEnd/>
          </a:ln>
        </p:spPr>
        <p:txBody>
          <a:bodyPr/>
          <a:lstStyle/>
          <a:p>
            <a:endParaRPr lang="en-US"/>
          </a:p>
        </p:txBody>
      </p:sp>
    </p:spTree>
    <p:extLst>
      <p:ext uri="{BB962C8B-B14F-4D97-AF65-F5344CB8AC3E}">
        <p14:creationId xmlns:p14="http://schemas.microsoft.com/office/powerpoint/2010/main" val="88346388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Slide Number Placeholder 5"/>
          <p:cNvSpPr>
            <a:spLocks noGrp="1"/>
          </p:cNvSpPr>
          <p:nvPr>
            <p:ph type="sldNum" sz="quarter" idx="12"/>
          </p:nvPr>
        </p:nvSpPr>
        <p:spPr>
          <a:noFill/>
        </p:spPr>
        <p:txBody>
          <a:bodyPr/>
          <a:lstStyle/>
          <a:p>
            <a:fld id="{0D017EBE-1D93-40AE-8C01-976881712CAB}" type="slidenum">
              <a:rPr lang="en-US" smtClean="0"/>
              <a:pPr/>
              <a:t>52</a:t>
            </a:fld>
            <a:endParaRPr lang="en-US"/>
          </a:p>
        </p:txBody>
      </p:sp>
      <p:sp>
        <p:nvSpPr>
          <p:cNvPr id="55299" name="Rectangle 2"/>
          <p:cNvSpPr>
            <a:spLocks noGrp="1" noChangeArrowheads="1"/>
          </p:cNvSpPr>
          <p:nvPr>
            <p:ph type="title"/>
          </p:nvPr>
        </p:nvSpPr>
        <p:spPr/>
        <p:txBody>
          <a:bodyPr/>
          <a:lstStyle/>
          <a:p>
            <a:pPr eaLnBrk="1" hangingPunct="1"/>
            <a:r>
              <a:rPr lang="en-US"/>
              <a:t>Question 123.5.6</a:t>
            </a:r>
          </a:p>
        </p:txBody>
      </p:sp>
      <p:sp>
        <p:nvSpPr>
          <p:cNvPr id="55300" name="Rectangle 3"/>
          <p:cNvSpPr>
            <a:spLocks noGrp="1" noChangeArrowheads="1"/>
          </p:cNvSpPr>
          <p:nvPr>
            <p:ph type="body" idx="1"/>
          </p:nvPr>
        </p:nvSpPr>
        <p:spPr>
          <a:xfrm>
            <a:off x="457200" y="1600200"/>
            <a:ext cx="4838700" cy="4525963"/>
          </a:xfrm>
        </p:spPr>
        <p:txBody>
          <a:bodyPr/>
          <a:lstStyle/>
          <a:p>
            <a:pPr marL="533400" indent="-533400" eaLnBrk="1" hangingPunct="1">
              <a:lnSpc>
                <a:spcPct val="80000"/>
              </a:lnSpc>
              <a:buFontTx/>
              <a:buNone/>
            </a:pPr>
            <a:r>
              <a:rPr lang="en-US" sz="2400" dirty="0"/>
              <a:t>I have somehow suspended a block of concrete in a fluid. I replace the concrete with a block of Styrofoam with equal volume. The buoyant force on the Styrofoam is</a:t>
            </a:r>
          </a:p>
          <a:p>
            <a:pPr marL="533400" indent="-533400" eaLnBrk="1" hangingPunct="1">
              <a:lnSpc>
                <a:spcPct val="80000"/>
              </a:lnSpc>
            </a:pPr>
            <a:endParaRPr lang="en-US" sz="2400" dirty="0"/>
          </a:p>
          <a:p>
            <a:pPr marL="533400" indent="-533400" eaLnBrk="1" hangingPunct="1">
              <a:lnSpc>
                <a:spcPct val="80000"/>
              </a:lnSpc>
              <a:buFontTx/>
              <a:buAutoNum type="alphaLcParenR"/>
            </a:pPr>
            <a:r>
              <a:rPr lang="en-US" sz="2400" dirty="0"/>
              <a:t>Larger than</a:t>
            </a:r>
          </a:p>
          <a:p>
            <a:pPr marL="533400" indent="-533400" eaLnBrk="1" hangingPunct="1">
              <a:lnSpc>
                <a:spcPct val="80000"/>
              </a:lnSpc>
              <a:buFontTx/>
              <a:buAutoNum type="alphaLcParenR"/>
            </a:pPr>
            <a:r>
              <a:rPr lang="en-US" sz="2400" dirty="0"/>
              <a:t>smaller than</a:t>
            </a:r>
          </a:p>
          <a:p>
            <a:pPr marL="533400" indent="-533400" eaLnBrk="1" hangingPunct="1">
              <a:lnSpc>
                <a:spcPct val="80000"/>
              </a:lnSpc>
              <a:buFontTx/>
              <a:buAutoNum type="alphaLcParenR"/>
            </a:pPr>
            <a:r>
              <a:rPr lang="en-US" sz="2400" dirty="0"/>
              <a:t>the same as</a:t>
            </a:r>
          </a:p>
          <a:p>
            <a:pPr marL="533400" indent="-533400" eaLnBrk="1" hangingPunct="1">
              <a:lnSpc>
                <a:spcPct val="80000"/>
              </a:lnSpc>
              <a:buFontTx/>
              <a:buNone/>
            </a:pPr>
            <a:endParaRPr lang="en-US" sz="2400" dirty="0"/>
          </a:p>
          <a:p>
            <a:pPr marL="533400" indent="-533400" eaLnBrk="1" hangingPunct="1">
              <a:lnSpc>
                <a:spcPct val="80000"/>
              </a:lnSpc>
              <a:buFontTx/>
              <a:buNone/>
            </a:pPr>
            <a:r>
              <a:rPr lang="en-US" sz="2400" dirty="0"/>
              <a:t>The buoyant force on the concrete.</a:t>
            </a:r>
          </a:p>
          <a:p>
            <a:pPr marL="533400" indent="-533400" eaLnBrk="1" hangingPunct="1">
              <a:lnSpc>
                <a:spcPct val="80000"/>
              </a:lnSpc>
            </a:pPr>
            <a:endParaRPr lang="en-US" sz="2400" dirty="0"/>
          </a:p>
        </p:txBody>
      </p:sp>
      <p:grpSp>
        <p:nvGrpSpPr>
          <p:cNvPr id="55301" name="Group 5"/>
          <p:cNvGrpSpPr>
            <a:grpSpLocks/>
          </p:cNvGrpSpPr>
          <p:nvPr/>
        </p:nvGrpSpPr>
        <p:grpSpPr bwMode="auto">
          <a:xfrm>
            <a:off x="6400800" y="2408238"/>
            <a:ext cx="2247900" cy="2578100"/>
            <a:chOff x="3596" y="1780"/>
            <a:chExt cx="1416" cy="1624"/>
          </a:xfrm>
        </p:grpSpPr>
        <p:sp>
          <p:nvSpPr>
            <p:cNvPr id="55309" name="Freeform 6"/>
            <p:cNvSpPr>
              <a:spLocks/>
            </p:cNvSpPr>
            <p:nvPr/>
          </p:nvSpPr>
          <p:spPr bwMode="auto">
            <a:xfrm>
              <a:off x="3596"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sp>
          <p:nvSpPr>
            <p:cNvPr id="55310" name="Freeform 7"/>
            <p:cNvSpPr>
              <a:spLocks/>
            </p:cNvSpPr>
            <p:nvPr/>
          </p:nvSpPr>
          <p:spPr bwMode="auto">
            <a:xfrm flipH="1">
              <a:off x="4288" y="1780"/>
              <a:ext cx="724" cy="1624"/>
            </a:xfrm>
            <a:custGeom>
              <a:avLst/>
              <a:gdLst>
                <a:gd name="T0" fmla="*/ 92 w 724"/>
                <a:gd name="T1" fmla="*/ 0 h 1624"/>
                <a:gd name="T2" fmla="*/ 40 w 724"/>
                <a:gd name="T3" fmla="*/ 4 h 1624"/>
                <a:gd name="T4" fmla="*/ 0 w 724"/>
                <a:gd name="T5" fmla="*/ 28 h 1624"/>
                <a:gd name="T6" fmla="*/ 4 w 724"/>
                <a:gd name="T7" fmla="*/ 84 h 1624"/>
                <a:gd name="T8" fmla="*/ 36 w 724"/>
                <a:gd name="T9" fmla="*/ 128 h 1624"/>
                <a:gd name="T10" fmla="*/ 72 w 724"/>
                <a:gd name="T11" fmla="*/ 164 h 1624"/>
                <a:gd name="T12" fmla="*/ 96 w 724"/>
                <a:gd name="T13" fmla="*/ 260 h 1624"/>
                <a:gd name="T14" fmla="*/ 100 w 724"/>
                <a:gd name="T15" fmla="*/ 1432 h 1624"/>
                <a:gd name="T16" fmla="*/ 112 w 724"/>
                <a:gd name="T17" fmla="*/ 1512 h 1624"/>
                <a:gd name="T18" fmla="*/ 160 w 724"/>
                <a:gd name="T19" fmla="*/ 1568 h 1624"/>
                <a:gd name="T20" fmla="*/ 220 w 724"/>
                <a:gd name="T21" fmla="*/ 1616 h 1624"/>
                <a:gd name="T22" fmla="*/ 272 w 724"/>
                <a:gd name="T23" fmla="*/ 1624 h 1624"/>
                <a:gd name="T24" fmla="*/ 724 w 724"/>
                <a:gd name="T25" fmla="*/ 1624 h 162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724"/>
                <a:gd name="T40" fmla="*/ 0 h 1624"/>
                <a:gd name="T41" fmla="*/ 724 w 724"/>
                <a:gd name="T42" fmla="*/ 1624 h 1624"/>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724" h="1624">
                  <a:moveTo>
                    <a:pt x="92" y="0"/>
                  </a:moveTo>
                  <a:lnTo>
                    <a:pt x="40" y="4"/>
                  </a:lnTo>
                  <a:lnTo>
                    <a:pt x="0" y="28"/>
                  </a:lnTo>
                  <a:lnTo>
                    <a:pt x="4" y="84"/>
                  </a:lnTo>
                  <a:lnTo>
                    <a:pt x="36" y="128"/>
                  </a:lnTo>
                  <a:lnTo>
                    <a:pt x="72" y="164"/>
                  </a:lnTo>
                  <a:lnTo>
                    <a:pt x="96" y="260"/>
                  </a:lnTo>
                  <a:lnTo>
                    <a:pt x="100" y="1432"/>
                  </a:lnTo>
                  <a:lnTo>
                    <a:pt x="112" y="1512"/>
                  </a:lnTo>
                  <a:lnTo>
                    <a:pt x="160" y="1568"/>
                  </a:lnTo>
                  <a:lnTo>
                    <a:pt x="220" y="1616"/>
                  </a:lnTo>
                  <a:lnTo>
                    <a:pt x="272" y="1624"/>
                  </a:lnTo>
                  <a:lnTo>
                    <a:pt x="724" y="1624"/>
                  </a:lnTo>
                </a:path>
              </a:pathLst>
            </a:custGeom>
            <a:solidFill>
              <a:schemeClr val="bg1"/>
            </a:solidFill>
            <a:ln w="9525">
              <a:solidFill>
                <a:schemeClr val="tx1"/>
              </a:solidFill>
              <a:round/>
              <a:headEnd/>
              <a:tailEnd/>
            </a:ln>
          </p:spPr>
          <p:txBody>
            <a:bodyPr/>
            <a:lstStyle/>
            <a:p>
              <a:endParaRPr lang="en-US"/>
            </a:p>
          </p:txBody>
        </p:sp>
      </p:grpSp>
      <p:sp>
        <p:nvSpPr>
          <p:cNvPr id="55302" name="AutoShape 8"/>
          <p:cNvSpPr>
            <a:spLocks noChangeArrowheads="1"/>
          </p:cNvSpPr>
          <p:nvPr/>
        </p:nvSpPr>
        <p:spPr bwMode="auto">
          <a:xfrm>
            <a:off x="6661150" y="2884488"/>
            <a:ext cx="1727200" cy="2044700"/>
          </a:xfrm>
          <a:prstGeom prst="roundRect">
            <a:avLst>
              <a:gd name="adj" fmla="val 16667"/>
            </a:avLst>
          </a:prstGeom>
          <a:solidFill>
            <a:schemeClr val="accent1"/>
          </a:solidFill>
          <a:ln w="9525">
            <a:noFill/>
            <a:round/>
            <a:headEnd/>
            <a:tailEnd/>
          </a:ln>
        </p:spPr>
        <p:txBody>
          <a:bodyPr wrap="none" anchor="ctr"/>
          <a:lstStyle/>
          <a:p>
            <a:endParaRPr lang="en-US"/>
          </a:p>
        </p:txBody>
      </p:sp>
      <p:sp>
        <p:nvSpPr>
          <p:cNvPr id="55303" name="Rectangle 9"/>
          <p:cNvSpPr>
            <a:spLocks noChangeArrowheads="1"/>
          </p:cNvSpPr>
          <p:nvPr/>
        </p:nvSpPr>
        <p:spPr bwMode="auto">
          <a:xfrm>
            <a:off x="6661150" y="2852738"/>
            <a:ext cx="1708150" cy="393700"/>
          </a:xfrm>
          <a:prstGeom prst="rect">
            <a:avLst/>
          </a:prstGeom>
          <a:solidFill>
            <a:schemeClr val="accent1"/>
          </a:solidFill>
          <a:ln w="9525">
            <a:noFill/>
            <a:miter lim="800000"/>
            <a:headEnd/>
            <a:tailEnd/>
          </a:ln>
        </p:spPr>
        <p:txBody>
          <a:bodyPr wrap="none" anchor="ctr"/>
          <a:lstStyle/>
          <a:p>
            <a:endParaRPr lang="en-US"/>
          </a:p>
        </p:txBody>
      </p:sp>
      <p:sp>
        <p:nvSpPr>
          <p:cNvPr id="55304" name="Freeform 10"/>
          <p:cNvSpPr>
            <a:spLocks/>
          </p:cNvSpPr>
          <p:nvPr/>
        </p:nvSpPr>
        <p:spPr bwMode="auto">
          <a:xfrm>
            <a:off x="6534150" y="2401888"/>
            <a:ext cx="990600" cy="2520950"/>
          </a:xfrm>
          <a:custGeom>
            <a:avLst/>
            <a:gdLst>
              <a:gd name="T0" fmla="*/ 0 w 624"/>
              <a:gd name="T1" fmla="*/ 0 h 1588"/>
              <a:gd name="T2" fmla="*/ 2147483647 w 624"/>
              <a:gd name="T3" fmla="*/ 2147483647 h 1588"/>
              <a:gd name="T4" fmla="*/ 2147483647 w 624"/>
              <a:gd name="T5" fmla="*/ 2147483647 h 1588"/>
              <a:gd name="T6" fmla="*/ 2147483647 w 624"/>
              <a:gd name="T7" fmla="*/ 2147483647 h 1588"/>
              <a:gd name="T8" fmla="*/ 2147483647 w 624"/>
              <a:gd name="T9" fmla="*/ 2147483647 h 1588"/>
              <a:gd name="T10" fmla="*/ 2147483647 w 624"/>
              <a:gd name="T11" fmla="*/ 2147483647 h 1588"/>
              <a:gd name="T12" fmla="*/ 2147483647 w 624"/>
              <a:gd name="T13" fmla="*/ 2147483647 h 1588"/>
              <a:gd name="T14" fmla="*/ 2147483647 w 624"/>
              <a:gd name="T15" fmla="*/ 2147483647 h 1588"/>
              <a:gd name="T16" fmla="*/ 2147483647 w 624"/>
              <a:gd name="T17" fmla="*/ 2147483647 h 1588"/>
              <a:gd name="T18" fmla="*/ 2147483647 w 624"/>
              <a:gd name="T19" fmla="*/ 2147483647 h 1588"/>
              <a:gd name="T20" fmla="*/ 2147483647 w 624"/>
              <a:gd name="T21" fmla="*/ 2147483647 h 1588"/>
              <a:gd name="T22" fmla="*/ 2147483647 w 624"/>
              <a:gd name="T23" fmla="*/ 2147483647 h 1588"/>
              <a:gd name="T24" fmla="*/ 2147483647 w 624"/>
              <a:gd name="T25" fmla="*/ 2147483647 h 1588"/>
              <a:gd name="T26" fmla="*/ 2147483647 w 624"/>
              <a:gd name="T27" fmla="*/ 2147483647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5305" name="Freeform 11"/>
          <p:cNvSpPr>
            <a:spLocks/>
          </p:cNvSpPr>
          <p:nvPr/>
        </p:nvSpPr>
        <p:spPr bwMode="auto">
          <a:xfrm flipH="1">
            <a:off x="7524750" y="2401888"/>
            <a:ext cx="990600" cy="2520950"/>
          </a:xfrm>
          <a:custGeom>
            <a:avLst/>
            <a:gdLst>
              <a:gd name="T0" fmla="*/ 0 w 624"/>
              <a:gd name="T1" fmla="*/ 0 h 1588"/>
              <a:gd name="T2" fmla="*/ 2147483647 w 624"/>
              <a:gd name="T3" fmla="*/ 2147483647 h 1588"/>
              <a:gd name="T4" fmla="*/ 2147483647 w 624"/>
              <a:gd name="T5" fmla="*/ 2147483647 h 1588"/>
              <a:gd name="T6" fmla="*/ 2147483647 w 624"/>
              <a:gd name="T7" fmla="*/ 2147483647 h 1588"/>
              <a:gd name="T8" fmla="*/ 2147483647 w 624"/>
              <a:gd name="T9" fmla="*/ 2147483647 h 1588"/>
              <a:gd name="T10" fmla="*/ 2147483647 w 624"/>
              <a:gd name="T11" fmla="*/ 2147483647 h 1588"/>
              <a:gd name="T12" fmla="*/ 2147483647 w 624"/>
              <a:gd name="T13" fmla="*/ 2147483647 h 1588"/>
              <a:gd name="T14" fmla="*/ 2147483647 w 624"/>
              <a:gd name="T15" fmla="*/ 2147483647 h 1588"/>
              <a:gd name="T16" fmla="*/ 2147483647 w 624"/>
              <a:gd name="T17" fmla="*/ 2147483647 h 1588"/>
              <a:gd name="T18" fmla="*/ 2147483647 w 624"/>
              <a:gd name="T19" fmla="*/ 2147483647 h 1588"/>
              <a:gd name="T20" fmla="*/ 2147483647 w 624"/>
              <a:gd name="T21" fmla="*/ 2147483647 h 1588"/>
              <a:gd name="T22" fmla="*/ 2147483647 w 624"/>
              <a:gd name="T23" fmla="*/ 2147483647 h 1588"/>
              <a:gd name="T24" fmla="*/ 2147483647 w 624"/>
              <a:gd name="T25" fmla="*/ 2147483647 h 1588"/>
              <a:gd name="T26" fmla="*/ 2147483647 w 624"/>
              <a:gd name="T27" fmla="*/ 2147483647 h 158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624"/>
              <a:gd name="T43" fmla="*/ 0 h 1588"/>
              <a:gd name="T44" fmla="*/ 624 w 624"/>
              <a:gd name="T45" fmla="*/ 1588 h 158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624" h="1588">
                <a:moveTo>
                  <a:pt x="0" y="0"/>
                </a:moveTo>
                <a:lnTo>
                  <a:pt x="44" y="16"/>
                </a:lnTo>
                <a:lnTo>
                  <a:pt x="64" y="56"/>
                </a:lnTo>
                <a:lnTo>
                  <a:pt x="80" y="144"/>
                </a:lnTo>
                <a:lnTo>
                  <a:pt x="88" y="420"/>
                </a:lnTo>
                <a:lnTo>
                  <a:pt x="84" y="884"/>
                </a:lnTo>
                <a:lnTo>
                  <a:pt x="84" y="1260"/>
                </a:lnTo>
                <a:lnTo>
                  <a:pt x="92" y="1444"/>
                </a:lnTo>
                <a:lnTo>
                  <a:pt x="124" y="1508"/>
                </a:lnTo>
                <a:lnTo>
                  <a:pt x="172" y="1552"/>
                </a:lnTo>
                <a:lnTo>
                  <a:pt x="244" y="1588"/>
                </a:lnTo>
                <a:lnTo>
                  <a:pt x="380" y="1588"/>
                </a:lnTo>
                <a:lnTo>
                  <a:pt x="584" y="1588"/>
                </a:lnTo>
                <a:lnTo>
                  <a:pt x="624" y="1588"/>
                </a:lnTo>
              </a:path>
            </a:pathLst>
          </a:custGeom>
          <a:noFill/>
          <a:ln w="9525">
            <a:solidFill>
              <a:schemeClr val="tx1"/>
            </a:solidFill>
            <a:round/>
            <a:headEnd/>
            <a:tailEnd/>
          </a:ln>
        </p:spPr>
        <p:txBody>
          <a:bodyPr/>
          <a:lstStyle/>
          <a:p>
            <a:endParaRPr lang="en-US"/>
          </a:p>
        </p:txBody>
      </p:sp>
      <p:sp>
        <p:nvSpPr>
          <p:cNvPr id="55306" name="Rectangle 12" descr="5%"/>
          <p:cNvSpPr>
            <a:spLocks noChangeArrowheads="1"/>
          </p:cNvSpPr>
          <p:nvPr/>
        </p:nvSpPr>
        <p:spPr bwMode="auto">
          <a:xfrm>
            <a:off x="5626100" y="3138488"/>
            <a:ext cx="603250" cy="1016000"/>
          </a:xfrm>
          <a:prstGeom prst="rect">
            <a:avLst/>
          </a:prstGeom>
          <a:pattFill prst="pct5">
            <a:fgClr>
              <a:srgbClr val="33CCCC"/>
            </a:fgClr>
            <a:bgClr>
              <a:schemeClr val="bg1"/>
            </a:bgClr>
          </a:pattFill>
          <a:ln w="9525">
            <a:solidFill>
              <a:schemeClr val="tx1"/>
            </a:solidFill>
            <a:miter lim="800000"/>
            <a:headEnd/>
            <a:tailEnd/>
          </a:ln>
        </p:spPr>
        <p:txBody>
          <a:bodyPr wrap="none" anchor="ctr"/>
          <a:lstStyle/>
          <a:p>
            <a:endParaRPr lang="en-US"/>
          </a:p>
        </p:txBody>
      </p:sp>
      <p:sp>
        <p:nvSpPr>
          <p:cNvPr id="55307" name="AutoShape 26"/>
          <p:cNvSpPr>
            <a:spLocks noChangeArrowheads="1"/>
          </p:cNvSpPr>
          <p:nvPr/>
        </p:nvSpPr>
        <p:spPr bwMode="auto">
          <a:xfrm>
            <a:off x="6272213" y="3451225"/>
            <a:ext cx="973137" cy="436563"/>
          </a:xfrm>
          <a:prstGeom prst="rightArrow">
            <a:avLst>
              <a:gd name="adj1" fmla="val 50000"/>
              <a:gd name="adj2" fmla="val 55727"/>
            </a:avLst>
          </a:prstGeom>
          <a:solidFill>
            <a:schemeClr val="accent1"/>
          </a:solidFill>
          <a:ln w="9525">
            <a:solidFill>
              <a:schemeClr val="tx1"/>
            </a:solidFill>
            <a:miter lim="800000"/>
            <a:headEnd/>
            <a:tailEnd/>
          </a:ln>
        </p:spPr>
        <p:txBody>
          <a:bodyPr wrap="none" anchor="ctr"/>
          <a:lstStyle/>
          <a:p>
            <a:endParaRPr lang="en-US"/>
          </a:p>
        </p:txBody>
      </p:sp>
      <p:sp>
        <p:nvSpPr>
          <p:cNvPr id="55308" name="Rectangle 27" descr="Granite"/>
          <p:cNvSpPr>
            <a:spLocks noChangeArrowheads="1"/>
          </p:cNvSpPr>
          <p:nvPr/>
        </p:nvSpPr>
        <p:spPr bwMode="auto">
          <a:xfrm>
            <a:off x="7264400" y="3138488"/>
            <a:ext cx="603250" cy="1016000"/>
          </a:xfrm>
          <a:prstGeom prst="rect">
            <a:avLst/>
          </a:prstGeom>
          <a:blipFill dpi="0" rotWithShape="1">
            <a:blip r:embed="rId2" cstate="print"/>
            <a:srcRect/>
            <a:tile tx="0" ty="0" sx="100000" sy="100000" flip="none" algn="tl"/>
          </a:blipFill>
          <a:ln w="9525">
            <a:solidFill>
              <a:schemeClr val="tx1"/>
            </a:solidFill>
            <a:miter lim="800000"/>
            <a:headEnd/>
            <a:tailEnd/>
          </a:ln>
        </p:spPr>
        <p:txBody>
          <a:bodyPr wrap="none" anchor="ctr"/>
          <a:lstStyle/>
          <a:p>
            <a:endParaRPr lang="en-US"/>
          </a:p>
        </p:txBody>
      </p:sp>
    </p:spTree>
    <p:extLst>
      <p:ext uri="{BB962C8B-B14F-4D97-AF65-F5344CB8AC3E}">
        <p14:creationId xmlns:p14="http://schemas.microsoft.com/office/powerpoint/2010/main" val="41884139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8194" name="Picture 2" descr="File:Fish8005 - Flickr - NOAA Photo Library.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004" y="816429"/>
            <a:ext cx="8155884" cy="55052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16565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345</TotalTime>
  <Words>1338</Words>
  <Application>Microsoft Office PowerPoint</Application>
  <PresentationFormat>On-screen Show (4:3)</PresentationFormat>
  <Paragraphs>286</Paragraphs>
  <Slides>53</Slides>
  <Notes>1</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53</vt:i4>
      </vt:variant>
    </vt:vector>
  </HeadingPairs>
  <TitlesOfParts>
    <vt:vector size="59" baseType="lpstr">
      <vt:lpstr>Arial</vt:lpstr>
      <vt:lpstr>Calibri</vt:lpstr>
      <vt:lpstr>Symbol</vt:lpstr>
      <vt:lpstr>Times New Roman</vt:lpstr>
      <vt:lpstr>Office Theme</vt:lpstr>
      <vt:lpstr>Equation</vt:lpstr>
      <vt:lpstr>Lecture 21</vt:lpstr>
      <vt:lpstr>Question 223.8.2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223.8.2.5</vt:lpstr>
      <vt:lpstr>Question 223.8.3</vt:lpstr>
      <vt:lpstr>Question 223.8.4</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223.8.3</vt:lpstr>
      <vt:lpstr>Question 223.8.4</vt:lpstr>
      <vt:lpstr>PowerPoint Presentation</vt:lpstr>
      <vt:lpstr>PowerPoint Presentation</vt:lpstr>
      <vt:lpstr>PowerPoint Presentation</vt:lpstr>
      <vt:lpstr>End</vt:lpstr>
      <vt:lpstr>PowerPoint Presentation</vt:lpstr>
      <vt:lpstr>Question 123.5.1</vt:lpstr>
      <vt:lpstr>Question 123.5.2</vt:lpstr>
      <vt:lpstr>PowerPoint Presentation</vt:lpstr>
      <vt:lpstr>Pressure Measurement: Barometer</vt:lpstr>
      <vt:lpstr>Pressure Measurement: Barometer</vt:lpstr>
      <vt:lpstr>PowerPoint Presentation</vt:lpstr>
      <vt:lpstr>PowerPoint Presentation</vt:lpstr>
      <vt:lpstr>Question 123.5.3</vt:lpstr>
      <vt:lpstr>Question 123.5.3.5</vt:lpstr>
      <vt:lpstr>Buoyant Forces</vt:lpstr>
      <vt:lpstr>Buoyant Forces</vt:lpstr>
      <vt:lpstr>Archimedes’ Principle</vt:lpstr>
      <vt:lpstr>Case1: Totally Submerged Object</vt:lpstr>
      <vt:lpstr>Buoyant Forces</vt:lpstr>
      <vt:lpstr>Case 2: Partially Submerged Object</vt:lpstr>
      <vt:lpstr>PowerPoint Presentation</vt:lpstr>
      <vt:lpstr>Question 123.5.4</vt:lpstr>
      <vt:lpstr>Question 123.5.5</vt:lpstr>
      <vt:lpstr>Question 123.5.6</vt:lpstr>
      <vt:lpstr>PowerPoint Presentation</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5</dc:title>
  <dc:creator>rtlines</dc:creator>
  <cp:lastModifiedBy>Lines, Todd</cp:lastModifiedBy>
  <cp:revision>17</cp:revision>
  <dcterms:created xsi:type="dcterms:W3CDTF">2011-09-21T03:03:31Z</dcterms:created>
  <dcterms:modified xsi:type="dcterms:W3CDTF">2026-06-02T20:29:08Z</dcterms:modified>
</cp:coreProperties>
</file>