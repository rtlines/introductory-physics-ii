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257" r:id="rId2"/>
    <p:sldId id="436" r:id="rId3"/>
    <p:sldId id="437" r:id="rId4"/>
    <p:sldId id="381" r:id="rId5"/>
    <p:sldId id="387" r:id="rId6"/>
    <p:sldId id="423" r:id="rId7"/>
    <p:sldId id="397" r:id="rId8"/>
    <p:sldId id="398" r:id="rId9"/>
    <p:sldId id="406" r:id="rId10"/>
    <p:sldId id="407" r:id="rId11"/>
    <p:sldId id="419" r:id="rId12"/>
    <p:sldId id="399" r:id="rId13"/>
    <p:sldId id="400" r:id="rId14"/>
    <p:sldId id="401" r:id="rId15"/>
    <p:sldId id="408" r:id="rId16"/>
    <p:sldId id="409" r:id="rId17"/>
    <p:sldId id="324" r:id="rId18"/>
    <p:sldId id="322" r:id="rId19"/>
    <p:sldId id="420" r:id="rId20"/>
    <p:sldId id="428" r:id="rId21"/>
    <p:sldId id="425" r:id="rId22"/>
    <p:sldId id="434" r:id="rId23"/>
    <p:sldId id="429" r:id="rId24"/>
    <p:sldId id="430" r:id="rId25"/>
    <p:sldId id="431" r:id="rId26"/>
    <p:sldId id="433" r:id="rId27"/>
    <p:sldId id="421" r:id="rId28"/>
    <p:sldId id="432" r:id="rId29"/>
    <p:sldId id="422" r:id="rId30"/>
    <p:sldId id="427" r:id="rId31"/>
    <p:sldId id="413" r:id="rId32"/>
    <p:sldId id="414" r:id="rId33"/>
    <p:sldId id="352" r:id="rId34"/>
    <p:sldId id="415" r:id="rId35"/>
    <p:sldId id="405" r:id="rId36"/>
    <p:sldId id="416" r:id="rId37"/>
    <p:sldId id="417" r:id="rId38"/>
    <p:sldId id="355" r:id="rId39"/>
    <p:sldId id="356" r:id="rId40"/>
    <p:sldId id="357" r:id="rId41"/>
    <p:sldId id="358" r:id="rId42"/>
    <p:sldId id="359" r:id="rId43"/>
    <p:sldId id="361" r:id="rId44"/>
    <p:sldId id="362" r:id="rId45"/>
    <p:sldId id="363" r:id="rId46"/>
    <p:sldId id="364" r:id="rId47"/>
    <p:sldId id="333" r:id="rId48"/>
    <p:sldId id="334" r:id="rId49"/>
    <p:sldId id="353" r:id="rId50"/>
    <p:sldId id="335" r:id="rId51"/>
    <p:sldId id="336" r:id="rId52"/>
    <p:sldId id="337" r:id="rId53"/>
    <p:sldId id="354" r:id="rId54"/>
    <p:sldId id="338" r:id="rId55"/>
    <p:sldId id="339" r:id="rId56"/>
    <p:sldId id="341" r:id="rId57"/>
    <p:sldId id="342" r:id="rId58"/>
    <p:sldId id="343" r:id="rId59"/>
    <p:sldId id="344" r:id="rId60"/>
    <p:sldId id="345" r:id="rId61"/>
    <p:sldId id="360" r:id="rId62"/>
    <p:sldId id="346" r:id="rId63"/>
    <p:sldId id="347" r:id="rId64"/>
    <p:sldId id="348" r:id="rId65"/>
    <p:sldId id="349" r:id="rId66"/>
    <p:sldId id="340" r:id="rId67"/>
    <p:sldId id="424" r:id="rId68"/>
    <p:sldId id="350" r:id="rId69"/>
    <p:sldId id="351" r:id="rId70"/>
    <p:sldId id="329" r:id="rId71"/>
    <p:sldId id="435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F10F75-5F8A-4046-A280-E0B8C4908CD1}" v="2" dt="2026-09-15T19:27:52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6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d Lines" userId="afaf7c3a-e8aa-4568-882a-02ad8f9e19b0" providerId="ADAL" clId="{5FF5AC1B-ABA9-43D7-A1E3-2D92732CD6E2}"/>
    <pc:docChg chg="undo custSel addSld modSld sldOrd">
      <pc:chgData name="Todd Lines" userId="afaf7c3a-e8aa-4568-882a-02ad8f9e19b0" providerId="ADAL" clId="{5FF5AC1B-ABA9-43D7-A1E3-2D92732CD6E2}" dt="2026-09-15T19:27:52.468" v="170"/>
      <pc:docMkLst>
        <pc:docMk/>
      </pc:docMkLst>
      <pc:sldChg chg="ord">
        <pc:chgData name="Todd Lines" userId="afaf7c3a-e8aa-4568-882a-02ad8f9e19b0" providerId="ADAL" clId="{5FF5AC1B-ABA9-43D7-A1E3-2D92732CD6E2}" dt="2026-09-14T18:04:41.735" v="1"/>
        <pc:sldMkLst>
          <pc:docMk/>
          <pc:sldMk cId="774408218" sldId="421"/>
        </pc:sldMkLst>
      </pc:sldChg>
      <pc:sldChg chg="addSp delSp modSp mod">
        <pc:chgData name="Todd Lines" userId="afaf7c3a-e8aa-4568-882a-02ad8f9e19b0" providerId="ADAL" clId="{5FF5AC1B-ABA9-43D7-A1E3-2D92732CD6E2}" dt="2026-09-15T19:16:38.043" v="9" actId="21"/>
        <pc:sldMkLst>
          <pc:docMk/>
          <pc:sldMk cId="2041325248" sldId="425"/>
        </pc:sldMkLst>
        <pc:picChg chg="add del mod">
          <ac:chgData name="Todd Lines" userId="afaf7c3a-e8aa-4568-882a-02ad8f9e19b0" providerId="ADAL" clId="{5FF5AC1B-ABA9-43D7-A1E3-2D92732CD6E2}" dt="2026-09-15T19:16:38.043" v="9" actId="21"/>
          <ac:picMkLst>
            <pc:docMk/>
            <pc:sldMk cId="2041325248" sldId="425"/>
            <ac:picMk id="3" creationId="{B3091472-C85F-2819-E370-DEF5268AC195}"/>
          </ac:picMkLst>
        </pc:picChg>
      </pc:sldChg>
      <pc:sldChg chg="addSp delSp modSp mod">
        <pc:chgData name="Todd Lines" userId="afaf7c3a-e8aa-4568-882a-02ad8f9e19b0" providerId="ADAL" clId="{5FF5AC1B-ABA9-43D7-A1E3-2D92732CD6E2}" dt="2026-09-15T19:16:11.337" v="6" actId="21"/>
        <pc:sldMkLst>
          <pc:docMk/>
          <pc:sldMk cId="1037797155" sldId="428"/>
        </pc:sldMkLst>
        <pc:picChg chg="add del mod">
          <ac:chgData name="Todd Lines" userId="afaf7c3a-e8aa-4568-882a-02ad8f9e19b0" providerId="ADAL" clId="{5FF5AC1B-ABA9-43D7-A1E3-2D92732CD6E2}" dt="2026-09-15T19:16:11.337" v="6" actId="21"/>
          <ac:picMkLst>
            <pc:docMk/>
            <pc:sldMk cId="1037797155" sldId="428"/>
            <ac:picMk id="3" creationId="{4331AF4F-AADE-5E17-E547-DBF89451260F}"/>
          </ac:picMkLst>
        </pc:picChg>
      </pc:sldChg>
      <pc:sldChg chg="addSp delSp modSp mod setBg">
        <pc:chgData name="Todd Lines" userId="afaf7c3a-e8aa-4568-882a-02ad8f9e19b0" providerId="ADAL" clId="{5FF5AC1B-ABA9-43D7-A1E3-2D92732CD6E2}" dt="2026-09-15T19:17:37.332" v="17" actId="21"/>
        <pc:sldMkLst>
          <pc:docMk/>
          <pc:sldMk cId="1564504885" sldId="430"/>
        </pc:sldMkLst>
        <pc:spChg chg="add del">
          <ac:chgData name="Todd Lines" userId="afaf7c3a-e8aa-4568-882a-02ad8f9e19b0" providerId="ADAL" clId="{5FF5AC1B-ABA9-43D7-A1E3-2D92732CD6E2}" dt="2026-09-15T19:17:32.776" v="15" actId="26606"/>
          <ac:spMkLst>
            <pc:docMk/>
            <pc:sldMk cId="1564504885" sldId="430"/>
            <ac:spMk id="9" creationId="{69D184B2-2226-4E31-BCCB-444330767440}"/>
          </ac:spMkLst>
        </pc:spChg>
        <pc:spChg chg="add del">
          <ac:chgData name="Todd Lines" userId="afaf7c3a-e8aa-4568-882a-02ad8f9e19b0" providerId="ADAL" clId="{5FF5AC1B-ABA9-43D7-A1E3-2D92732CD6E2}" dt="2026-09-15T19:17:32.776" v="15" actId="26606"/>
          <ac:spMkLst>
            <pc:docMk/>
            <pc:sldMk cId="1564504885" sldId="430"/>
            <ac:spMk id="11" creationId="{1AC4D4E3-486A-464A-8EC8-D44881097267}"/>
          </ac:spMkLst>
        </pc:spChg>
        <pc:spChg chg="add del">
          <ac:chgData name="Todd Lines" userId="afaf7c3a-e8aa-4568-882a-02ad8f9e19b0" providerId="ADAL" clId="{5FF5AC1B-ABA9-43D7-A1E3-2D92732CD6E2}" dt="2026-09-15T19:17:32.776" v="15" actId="26606"/>
          <ac:spMkLst>
            <pc:docMk/>
            <pc:sldMk cId="1564504885" sldId="430"/>
            <ac:spMk id="13" creationId="{864DE13E-58EB-4475-B79C-0D4FC651239B}"/>
          </ac:spMkLst>
        </pc:spChg>
        <pc:picChg chg="mod">
          <ac:chgData name="Todd Lines" userId="afaf7c3a-e8aa-4568-882a-02ad8f9e19b0" providerId="ADAL" clId="{5FF5AC1B-ABA9-43D7-A1E3-2D92732CD6E2}" dt="2026-09-15T19:17:32.776" v="15" actId="26606"/>
          <ac:picMkLst>
            <pc:docMk/>
            <pc:sldMk cId="1564504885" sldId="430"/>
            <ac:picMk id="3" creationId="{9E186C1E-F47D-0583-C5AD-43F36AF2B189}"/>
          </ac:picMkLst>
        </pc:picChg>
        <pc:picChg chg="add del mod">
          <ac:chgData name="Todd Lines" userId="afaf7c3a-e8aa-4568-882a-02ad8f9e19b0" providerId="ADAL" clId="{5FF5AC1B-ABA9-43D7-A1E3-2D92732CD6E2}" dt="2026-09-15T19:17:37.332" v="17" actId="21"/>
          <ac:picMkLst>
            <pc:docMk/>
            <pc:sldMk cId="1564504885" sldId="430"/>
            <ac:picMk id="4" creationId="{387C8CE9-945B-3C2B-4169-225134E0D8AE}"/>
          </ac:picMkLst>
        </pc:picChg>
        <pc:cxnChg chg="add del">
          <ac:chgData name="Todd Lines" userId="afaf7c3a-e8aa-4568-882a-02ad8f9e19b0" providerId="ADAL" clId="{5FF5AC1B-ABA9-43D7-A1E3-2D92732CD6E2}" dt="2026-09-15T19:17:32.776" v="15" actId="26606"/>
          <ac:cxnSpMkLst>
            <pc:docMk/>
            <pc:sldMk cId="1564504885" sldId="430"/>
            <ac:cxnSpMk id="15" creationId="{02E9B2EE-76CA-47F3-9977-3F2FCB7FD252}"/>
          </ac:cxnSpMkLst>
        </pc:cxnChg>
      </pc:sldChg>
      <pc:sldChg chg="addSp delSp modSp mod">
        <pc:chgData name="Todd Lines" userId="afaf7c3a-e8aa-4568-882a-02ad8f9e19b0" providerId="ADAL" clId="{5FF5AC1B-ABA9-43D7-A1E3-2D92732CD6E2}" dt="2026-09-15T19:18:25.184" v="20" actId="21"/>
        <pc:sldMkLst>
          <pc:docMk/>
          <pc:sldMk cId="1983625437" sldId="431"/>
        </pc:sldMkLst>
        <pc:picChg chg="add del mod">
          <ac:chgData name="Todd Lines" userId="afaf7c3a-e8aa-4568-882a-02ad8f9e19b0" providerId="ADAL" clId="{5FF5AC1B-ABA9-43D7-A1E3-2D92732CD6E2}" dt="2026-09-15T19:18:25.184" v="20" actId="21"/>
          <ac:picMkLst>
            <pc:docMk/>
            <pc:sldMk cId="1983625437" sldId="431"/>
            <ac:picMk id="3" creationId="{28ABD365-E51C-B490-7959-38A4C56A86AC}"/>
          </ac:picMkLst>
        </pc:picChg>
      </pc:sldChg>
      <pc:sldChg chg="addSp delSp modSp mod">
        <pc:chgData name="Todd Lines" userId="afaf7c3a-e8aa-4568-882a-02ad8f9e19b0" providerId="ADAL" clId="{5FF5AC1B-ABA9-43D7-A1E3-2D92732CD6E2}" dt="2026-09-15T19:18:54.440" v="23" actId="21"/>
        <pc:sldMkLst>
          <pc:docMk/>
          <pc:sldMk cId="3682026742" sldId="432"/>
        </pc:sldMkLst>
        <pc:picChg chg="add del mod">
          <ac:chgData name="Todd Lines" userId="afaf7c3a-e8aa-4568-882a-02ad8f9e19b0" providerId="ADAL" clId="{5FF5AC1B-ABA9-43D7-A1E3-2D92732CD6E2}" dt="2026-09-15T19:18:54.440" v="23" actId="21"/>
          <ac:picMkLst>
            <pc:docMk/>
            <pc:sldMk cId="3682026742" sldId="432"/>
            <ac:picMk id="4" creationId="{0BEBF50C-D0D4-E9DA-E965-8F64B7FCF04B}"/>
          </ac:picMkLst>
        </pc:picChg>
      </pc:sldChg>
      <pc:sldChg chg="addSp delSp modSp add mod">
        <pc:chgData name="Todd Lines" userId="afaf7c3a-e8aa-4568-882a-02ad8f9e19b0" providerId="ADAL" clId="{5FF5AC1B-ABA9-43D7-A1E3-2D92732CD6E2}" dt="2026-09-15T19:17:02.548" v="12" actId="21"/>
        <pc:sldMkLst>
          <pc:docMk/>
          <pc:sldMk cId="1889331542" sldId="434"/>
        </pc:sldMkLst>
        <pc:spChg chg="del">
          <ac:chgData name="Todd Lines" userId="afaf7c3a-e8aa-4568-882a-02ad8f9e19b0" providerId="ADAL" clId="{5FF5AC1B-ABA9-43D7-A1E3-2D92732CD6E2}" dt="2026-09-14T18:06:16.406" v="3" actId="478"/>
          <ac:spMkLst>
            <pc:docMk/>
            <pc:sldMk cId="1889331542" sldId="434"/>
            <ac:spMk id="5" creationId="{24E502CD-3E1F-4683-8F2B-062E0F86D898}"/>
          </ac:spMkLst>
        </pc:spChg>
        <pc:spChg chg="del">
          <ac:chgData name="Todd Lines" userId="afaf7c3a-e8aa-4568-882a-02ad8f9e19b0" providerId="ADAL" clId="{5FF5AC1B-ABA9-43D7-A1E3-2D92732CD6E2}" dt="2026-09-14T18:06:16.406" v="3" actId="478"/>
          <ac:spMkLst>
            <pc:docMk/>
            <pc:sldMk cId="1889331542" sldId="434"/>
            <ac:spMk id="6" creationId="{DA443D32-0805-CD13-572F-24D2A81D124E}"/>
          </ac:spMkLst>
        </pc:spChg>
        <pc:picChg chg="add del mod">
          <ac:chgData name="Todd Lines" userId="afaf7c3a-e8aa-4568-882a-02ad8f9e19b0" providerId="ADAL" clId="{5FF5AC1B-ABA9-43D7-A1E3-2D92732CD6E2}" dt="2026-09-15T19:17:02.548" v="12" actId="21"/>
          <ac:picMkLst>
            <pc:docMk/>
            <pc:sldMk cId="1889331542" sldId="434"/>
            <ac:picMk id="5" creationId="{877B196B-4038-18EA-BA9F-3A46CD294AB3}"/>
          </ac:picMkLst>
        </pc:picChg>
      </pc:sldChg>
      <pc:sldChg chg="addSp delSp modSp new mod">
        <pc:chgData name="Todd Lines" userId="afaf7c3a-e8aa-4568-882a-02ad8f9e19b0" providerId="ADAL" clId="{5FF5AC1B-ABA9-43D7-A1E3-2D92732CD6E2}" dt="2026-09-15T19:21:17.271" v="28" actId="21"/>
        <pc:sldMkLst>
          <pc:docMk/>
          <pc:sldMk cId="3892159530" sldId="435"/>
        </pc:sldMkLst>
        <pc:picChg chg="add">
          <ac:chgData name="Todd Lines" userId="afaf7c3a-e8aa-4568-882a-02ad8f9e19b0" providerId="ADAL" clId="{5FF5AC1B-ABA9-43D7-A1E3-2D92732CD6E2}" dt="2026-09-15T19:21:04.822" v="25" actId="22"/>
          <ac:picMkLst>
            <pc:docMk/>
            <pc:sldMk cId="3892159530" sldId="435"/>
            <ac:picMk id="5" creationId="{09AAF577-73AA-5BA2-48A8-B0A57BFDBBD5}"/>
          </ac:picMkLst>
        </pc:picChg>
        <pc:picChg chg="add del mod">
          <ac:chgData name="Todd Lines" userId="afaf7c3a-e8aa-4568-882a-02ad8f9e19b0" providerId="ADAL" clId="{5FF5AC1B-ABA9-43D7-A1E3-2D92732CD6E2}" dt="2026-09-15T19:21:17.271" v="28" actId="21"/>
          <ac:picMkLst>
            <pc:docMk/>
            <pc:sldMk cId="3892159530" sldId="435"/>
            <ac:picMk id="7" creationId="{EE3BAB9B-1F5D-F1D7-F002-D9A49D368343}"/>
          </ac:picMkLst>
        </pc:picChg>
      </pc:sldChg>
      <pc:sldChg chg="modSp new mod">
        <pc:chgData name="Todd Lines" userId="afaf7c3a-e8aa-4568-882a-02ad8f9e19b0" providerId="ADAL" clId="{5FF5AC1B-ABA9-43D7-A1E3-2D92732CD6E2}" dt="2026-09-15T19:27:52.468" v="170"/>
        <pc:sldMkLst>
          <pc:docMk/>
          <pc:sldMk cId="2222031439" sldId="436"/>
        </pc:sldMkLst>
        <pc:spChg chg="mod">
          <ac:chgData name="Todd Lines" userId="afaf7c3a-e8aa-4568-882a-02ad8f9e19b0" providerId="ADAL" clId="{5FF5AC1B-ABA9-43D7-A1E3-2D92732CD6E2}" dt="2026-09-15T19:26:57.249" v="37" actId="20577"/>
          <ac:spMkLst>
            <pc:docMk/>
            <pc:sldMk cId="2222031439" sldId="436"/>
            <ac:spMk id="2" creationId="{59FC283D-3624-1948-5849-64448AAD3E73}"/>
          </ac:spMkLst>
        </pc:spChg>
        <pc:spChg chg="mod">
          <ac:chgData name="Todd Lines" userId="afaf7c3a-e8aa-4568-882a-02ad8f9e19b0" providerId="ADAL" clId="{5FF5AC1B-ABA9-43D7-A1E3-2D92732CD6E2}" dt="2026-09-15T19:27:52.468" v="170"/>
          <ac:spMkLst>
            <pc:docMk/>
            <pc:sldMk cId="2222031439" sldId="436"/>
            <ac:spMk id="3" creationId="{715FC71E-E6C2-AE07-7ED1-C7C4DF69E98B}"/>
          </ac:spMkLst>
        </pc:spChg>
      </pc:sldChg>
      <pc:sldChg chg="modSp add mod">
        <pc:chgData name="Todd Lines" userId="afaf7c3a-e8aa-4568-882a-02ad8f9e19b0" providerId="ADAL" clId="{5FF5AC1B-ABA9-43D7-A1E3-2D92732CD6E2}" dt="2026-09-15T19:27:47.203" v="168" actId="20577"/>
        <pc:sldMkLst>
          <pc:docMk/>
          <pc:sldMk cId="3662240027" sldId="437"/>
        </pc:sldMkLst>
        <pc:spChg chg="mod">
          <ac:chgData name="Todd Lines" userId="afaf7c3a-e8aa-4568-882a-02ad8f9e19b0" providerId="ADAL" clId="{5FF5AC1B-ABA9-43D7-A1E3-2D92732CD6E2}" dt="2026-09-15T19:27:47.203" v="168" actId="20577"/>
          <ac:spMkLst>
            <pc:docMk/>
            <pc:sldMk cId="3662240027" sldId="437"/>
            <ac:spMk id="3" creationId="{AE4E2F35-1EC3-9EC6-B04E-6A69C1EF3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DAECD-79C1-414E-9888-0FF92E040B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A7904-D3BC-452A-B7B7-24E05BCB4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97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C5B6C5-ED60-4FE5-845D-FC12E2CF0279}" type="slidenum">
              <a:rPr lang="en-US"/>
              <a:pPr/>
              <a:t>1</a:t>
            </a:fld>
            <a:endParaRPr 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F9C03-6622-A375-F4E5-E119CE5A9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F2A7A6-D8D3-EC79-74E3-DFBF60BCF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156FD-0D84-6DD9-65C9-183C7801D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B991-EC25-49D3-9DCF-97CC7EB1D96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FC336-A96A-B9DB-9EAE-6A5DF9CA0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8C6D1-F3D6-2EE9-69AE-69CC44698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D0B2-5B17-4043-A9B0-4FC13133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0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5D702-5625-877B-9129-947937CA1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07E7-2920-7810-7421-9ED6DA69C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9293C-7466-2C14-15DD-21EAD1CB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B991-EC25-49D3-9DCF-97CC7EB1D96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70FBD-5A73-AF67-8822-5C1ADE73B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F1A60-1B8A-75B4-1D73-FF25CEA2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D0B2-5B17-4043-A9B0-4FC13133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00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9DDB8-CE70-2657-3420-3019D7305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F69EB-F842-E5DA-FB85-DC1AA88B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185E0-3519-6592-D84C-DA2ECAB93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B991-EC25-49D3-9DCF-97CC7EB1D96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40880-0742-BF6F-90EB-46CBE76B6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F4F7F-6FA8-5559-F140-A5CCCAE0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D0B2-5B17-4043-A9B0-4FC13133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669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69382-55C2-D6DA-4E61-04F1ABAEB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171ED-4F9C-6E3A-3CC8-B612D9F41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E66F5-120F-04B8-6362-C2FA8EAEB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A47DC-5948-4760-A421-E01E3010B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B991-EC25-49D3-9DCF-97CC7EB1D96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F4090-51B2-0F4E-5FA6-BD027C90C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0EF3B-CAFD-4799-8D77-C93BFE99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D0B2-5B17-4043-A9B0-4FC13133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8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04ECF-C199-D48D-AEEE-B0639CD1C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D7910-C257-476F-E2F7-010DE30D6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C2C71-0980-3DDF-6BBC-A5FAC3D8C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A6EB3B-EED5-FCEF-E26D-34848724C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13765B-7B5F-D2AC-10CE-C05EEE4B3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AF27ED-E835-067B-A014-169B27EE4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B991-EC25-49D3-9DCF-97CC7EB1D96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76F13-8243-C238-4B52-65ED6EA31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A0D3BD-1DDF-CA91-8D23-31E98D8A4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D0B2-5B17-4043-A9B0-4FC13133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2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88BF9-75B4-B265-7C81-020FBBDA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2A2D8B-1873-F4A7-A82A-373D84B2F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B991-EC25-49D3-9DCF-97CC7EB1D96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1ED99-2984-F11E-FAD0-9FD01C2A5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90445-9311-8D4B-58C9-955106D82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D0B2-5B17-4043-A9B0-4FC13133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4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F30B39-0F41-5F72-F496-DB8070CD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B991-EC25-49D3-9DCF-97CC7EB1D96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EF4390-11C3-6165-6B88-9ABAE7561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C4F6C-780F-7C9B-703B-D98471B0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D0B2-5B17-4043-A9B0-4FC13133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83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EE0CA-8140-317E-0425-4A368B895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A4640-CEBD-4571-A684-702565688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9ABBC-652A-4C02-5B8A-A0149ACE5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00ACA-9AF7-386E-D1B1-DF977A2E3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B991-EC25-49D3-9DCF-97CC7EB1D96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F8F65-7CF1-303A-1493-D80AD653D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858B8-1F61-8629-A92F-CCD72A301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D0B2-5B17-4043-A9B0-4FC13133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64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D520C-E530-CDB6-F1B1-289EFF1C1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0F7523-3B28-6CA2-8B20-2CDD30A55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0464A-54E3-E870-9274-AC36621A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D07D6-C09E-63E1-DFFD-EF720EEF2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B991-EC25-49D3-9DCF-97CC7EB1D96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F8740-6882-75B8-D100-18A7108F4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74F21-170D-4DD5-A214-107F3B4BC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D0B2-5B17-4043-A9B0-4FC13133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91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521AE-1AC1-D8FE-2BB4-8863BE072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812FF-D4AF-FA15-A164-D49E12AE9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EAAD6-8CAA-395A-4BA2-1214F36B8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B991-EC25-49D3-9DCF-97CC7EB1D96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84BEB-D370-E7EC-5B67-528B45EB1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130CE-16EA-89E4-7C42-7642F67D2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D0B2-5B17-4043-A9B0-4FC13133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8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E7D07E-5595-8031-7A99-0A937930BC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21B529-3873-C43C-AC4D-549CE77C5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37946-9E69-12FD-CD50-0BBE37823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B991-EC25-49D3-9DCF-97CC7EB1D96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47ED3-C453-CA13-74E0-235A160C2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24B09-BF7D-5614-D626-4EB951164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D0B2-5B17-4043-A9B0-4FC13133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373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0"/>
            <a:ext cx="8636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Winter 2007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163E5-C184-44D8-803B-BB74A700EC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55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86C16-33B5-6679-2C36-1C57759CA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C3BC2-3574-4479-54F2-2BF0E7F26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10BF8-51FA-A3AB-B75C-F6D9D44FC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B991-EC25-49D3-9DCF-97CC7EB1D96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D0BD6-438B-C4F0-816E-AF18E488A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1BD5B-9A13-532C-4F2A-B20774390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BD0B2-5B17-4043-A9B0-4FC13133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0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3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10" Type="http://schemas.openxmlformats.org/officeDocument/2006/relationships/image" Target="../media/image8.wmf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22.wmf"/><Relationship Id="rId18" Type="http://schemas.openxmlformats.org/officeDocument/2006/relationships/oleObject" Target="../embeddings/oleObject12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24.wmf"/><Relationship Id="rId2" Type="http://schemas.openxmlformats.org/officeDocument/2006/relationships/oleObject" Target="../embeddings/oleObject4.bin"/><Relationship Id="rId16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25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10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4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6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19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12" Type="http://schemas.openxmlformats.org/officeDocument/2006/relationships/image" Target="../media/image43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42.wmf"/><Relationship Id="rId5" Type="http://schemas.openxmlformats.org/officeDocument/2006/relationships/image" Target="../media/image39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41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7" Type="http://schemas.openxmlformats.org/officeDocument/2006/relationships/image" Target="../media/image45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28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7" Type="http://schemas.openxmlformats.org/officeDocument/2006/relationships/image" Target="../media/image47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1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image" Target="../media/image49.wmf"/><Relationship Id="rId4" Type="http://schemas.openxmlformats.org/officeDocument/2006/relationships/oleObject" Target="../embeddings/oleObject34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51.w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57.wmf"/><Relationship Id="rId5" Type="http://schemas.openxmlformats.org/officeDocument/2006/relationships/image" Target="../media/image54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56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64.wmf"/><Relationship Id="rId3" Type="http://schemas.openxmlformats.org/officeDocument/2006/relationships/image" Target="../media/image59.wmf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66.wmf"/><Relationship Id="rId2" Type="http://schemas.openxmlformats.org/officeDocument/2006/relationships/oleObject" Target="../embeddings/oleObject43.bin"/><Relationship Id="rId16" Type="http://schemas.openxmlformats.org/officeDocument/2006/relationships/oleObject" Target="../embeddings/oleObject50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63.wmf"/><Relationship Id="rId5" Type="http://schemas.openxmlformats.org/officeDocument/2006/relationships/image" Target="../media/image60.wmf"/><Relationship Id="rId15" Type="http://schemas.openxmlformats.org/officeDocument/2006/relationships/image" Target="../media/image65.w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49.bin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3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10" Type="http://schemas.openxmlformats.org/officeDocument/2006/relationships/image" Target="../media/image8.wmf"/><Relationship Id="rId4" Type="http://schemas.openxmlformats.org/officeDocument/2006/relationships/oleObject" Target="../embeddings/oleObject52.bin"/><Relationship Id="rId9" Type="http://schemas.openxmlformats.org/officeDocument/2006/relationships/oleObject" Target="../embeddings/oleObject53.bin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C5FB381-26D7-44CE-BEE1-4AD2FFF9A4FE}" type="slidenum">
              <a:rPr lang="en-US"/>
              <a:pPr/>
              <a:t>1</a:t>
            </a:fld>
            <a:endParaRPr lang="en-US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Physics 123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C283D-3624-1948-5849-64448AAD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FC71E-E6C2-AE07-7ED1-C7C4DF69E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was a reading assignment for today. Did you find the reading assignment?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Yes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No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 would prefer not to say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031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4CC71-A5F7-5492-58CA-EAE18D28C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82AB2-0435-FCCC-7136-A3234EB9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E2F35-1EC3-9EC6-B04E-6A69C1EF3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was a reading assignment for today. Did you actually read the reading assignment?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Yes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No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 would prefer not to say</a:t>
            </a:r>
          </a:p>
        </p:txBody>
      </p:sp>
    </p:spTree>
    <p:extLst>
      <p:ext uri="{BB962C8B-B14F-4D97-AF65-F5344CB8AC3E}">
        <p14:creationId xmlns:p14="http://schemas.microsoft.com/office/powerpoint/2010/main" val="3662240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6.9</a:t>
            </a:r>
          </a:p>
        </p:txBody>
      </p:sp>
      <p:pic>
        <p:nvPicPr>
          <p:cNvPr id="4403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03888" y="1636714"/>
            <a:ext cx="4506912" cy="2630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Arrow Connector 7"/>
          <p:cNvCxnSpPr/>
          <p:nvPr/>
        </p:nvCxnSpPr>
        <p:spPr>
          <a:xfrm rot="5400000" flipH="1" flipV="1">
            <a:off x="7695407" y="2669382"/>
            <a:ext cx="519112" cy="9525"/>
          </a:xfrm>
          <a:prstGeom prst="straightConnector1">
            <a:avLst/>
          </a:prstGeom>
          <a:ln w="28575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9"/>
          <p:cNvSpPr txBox="1">
            <a:spLocks/>
          </p:cNvSpPr>
          <p:nvPr/>
        </p:nvSpPr>
        <p:spPr>
          <a:xfrm>
            <a:off x="1981200" y="1371601"/>
            <a:ext cx="3505200" cy="4754563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800" kern="0" dirty="0"/>
              <a:t>For the graph of simple harmonic motion to the right, what do we call the part of the graph indicated by the green arrows. </a:t>
            </a:r>
          </a:p>
        </p:txBody>
      </p:sp>
      <p:sp>
        <p:nvSpPr>
          <p:cNvPr id="14" name="Content Placeholder 9"/>
          <p:cNvSpPr txBox="1">
            <a:spLocks/>
          </p:cNvSpPr>
          <p:nvPr/>
        </p:nvSpPr>
        <p:spPr bwMode="auto">
          <a:xfrm>
            <a:off x="2362200" y="4648201"/>
            <a:ext cx="259080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>
              <a:spcBef>
                <a:spcPct val="20000"/>
              </a:spcBef>
              <a:defRPr/>
            </a:pPr>
            <a:r>
              <a:rPr lang="en-US" sz="2800" kern="0" dirty="0"/>
              <a:t>a) Amplitude</a:t>
            </a:r>
          </a:p>
          <a:p>
            <a:pPr marL="514350" indent="-514350">
              <a:spcBef>
                <a:spcPct val="20000"/>
              </a:spcBef>
              <a:defRPr/>
            </a:pPr>
            <a:r>
              <a:rPr lang="en-US" sz="2800" kern="0" dirty="0"/>
              <a:t>b) Frequency </a:t>
            </a:r>
          </a:p>
        </p:txBody>
      </p:sp>
      <p:sp>
        <p:nvSpPr>
          <p:cNvPr id="15" name="Content Placeholder 9"/>
          <p:cNvSpPr txBox="1">
            <a:spLocks/>
          </p:cNvSpPr>
          <p:nvPr/>
        </p:nvSpPr>
        <p:spPr bwMode="auto">
          <a:xfrm>
            <a:off x="7162800" y="4648201"/>
            <a:ext cx="259080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>
              <a:spcBef>
                <a:spcPct val="20000"/>
              </a:spcBef>
              <a:defRPr/>
            </a:pPr>
            <a:r>
              <a:rPr lang="en-US" sz="2800" kern="0" dirty="0"/>
              <a:t>c) Period</a:t>
            </a:r>
          </a:p>
          <a:p>
            <a:pPr marL="514350" indent="-514350">
              <a:spcBef>
                <a:spcPct val="20000"/>
              </a:spcBef>
              <a:defRPr/>
            </a:pPr>
            <a:r>
              <a:rPr lang="en-US" sz="2800" kern="0" dirty="0"/>
              <a:t>d) Phase</a:t>
            </a:r>
          </a:p>
        </p:txBody>
      </p:sp>
    </p:spTree>
    <p:extLst>
      <p:ext uri="{BB962C8B-B14F-4D97-AF65-F5344CB8AC3E}">
        <p14:creationId xmlns:p14="http://schemas.microsoft.com/office/powerpoint/2010/main" val="3499252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4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6.8</a:t>
            </a:r>
          </a:p>
        </p:txBody>
      </p:sp>
      <p:sp>
        <p:nvSpPr>
          <p:cNvPr id="437250" name="Content Placeholder 9"/>
          <p:cNvSpPr>
            <a:spLocks noGrp="1"/>
          </p:cNvSpPr>
          <p:nvPr>
            <p:ph idx="1"/>
          </p:nvPr>
        </p:nvSpPr>
        <p:spPr>
          <a:xfrm>
            <a:off x="1981200" y="1371601"/>
            <a:ext cx="3505200" cy="4754563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For the graph of simple harmonic motion to the right, what do we call the part of the graph indicated by the blue arrows. </a:t>
            </a:r>
          </a:p>
        </p:txBody>
      </p:sp>
      <p:pic>
        <p:nvPicPr>
          <p:cNvPr id="43725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8801" y="1636714"/>
            <a:ext cx="3744913" cy="179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Arrow Connector 7"/>
          <p:cNvCxnSpPr/>
          <p:nvPr/>
        </p:nvCxnSpPr>
        <p:spPr>
          <a:xfrm>
            <a:off x="6400800" y="2057400"/>
            <a:ext cx="1062038" cy="0"/>
          </a:xfrm>
          <a:prstGeom prst="straightConnector1">
            <a:avLst/>
          </a:prstGeom>
          <a:ln w="38100">
            <a:solidFill>
              <a:srgbClr val="00B0F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9"/>
          <p:cNvSpPr txBox="1">
            <a:spLocks/>
          </p:cNvSpPr>
          <p:nvPr/>
        </p:nvSpPr>
        <p:spPr bwMode="auto">
          <a:xfrm>
            <a:off x="2362200" y="4648201"/>
            <a:ext cx="259080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>
              <a:spcBef>
                <a:spcPct val="20000"/>
              </a:spcBef>
              <a:defRPr/>
            </a:pPr>
            <a:r>
              <a:rPr lang="en-US" sz="2800" kern="0" dirty="0"/>
              <a:t>a) Amplitude</a:t>
            </a:r>
          </a:p>
          <a:p>
            <a:pPr marL="514350" indent="-514350">
              <a:spcBef>
                <a:spcPct val="20000"/>
              </a:spcBef>
              <a:defRPr/>
            </a:pPr>
            <a:r>
              <a:rPr lang="en-US" sz="2800" kern="0" dirty="0"/>
              <a:t>b) Frequency </a:t>
            </a:r>
          </a:p>
        </p:txBody>
      </p:sp>
      <p:sp>
        <p:nvSpPr>
          <p:cNvPr id="12" name="Content Placeholder 9"/>
          <p:cNvSpPr txBox="1">
            <a:spLocks/>
          </p:cNvSpPr>
          <p:nvPr/>
        </p:nvSpPr>
        <p:spPr bwMode="auto">
          <a:xfrm>
            <a:off x="7162800" y="4648201"/>
            <a:ext cx="259080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>
              <a:spcBef>
                <a:spcPct val="20000"/>
              </a:spcBef>
              <a:defRPr/>
            </a:pPr>
            <a:r>
              <a:rPr lang="en-US" sz="2800" kern="0" dirty="0"/>
              <a:t>c) Period</a:t>
            </a:r>
          </a:p>
          <a:p>
            <a:pPr marL="514350" indent="-514350">
              <a:spcBef>
                <a:spcPct val="20000"/>
              </a:spcBef>
              <a:defRPr/>
            </a:pPr>
            <a:r>
              <a:rPr lang="en-US" sz="2800" kern="0" dirty="0"/>
              <a:t>d) Phase</a:t>
            </a:r>
          </a:p>
        </p:txBody>
      </p:sp>
    </p:spTree>
    <p:extLst>
      <p:ext uri="{BB962C8B-B14F-4D97-AF65-F5344CB8AC3E}">
        <p14:creationId xmlns:p14="http://schemas.microsoft.com/office/powerpoint/2010/main" val="3961917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6.10</a:t>
            </a:r>
          </a:p>
        </p:txBody>
      </p:sp>
      <p:sp>
        <p:nvSpPr>
          <p:cNvPr id="12" name="Content Placeholder 9"/>
          <p:cNvSpPr txBox="1">
            <a:spLocks/>
          </p:cNvSpPr>
          <p:nvPr/>
        </p:nvSpPr>
        <p:spPr>
          <a:xfrm>
            <a:off x="1981200" y="1371601"/>
            <a:ext cx="3505200" cy="4754563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800" kern="0" dirty="0"/>
              <a:t>Compare the graphs of simple harmonic motion to the right the blue curve has a different _______ than the other one</a:t>
            </a:r>
          </a:p>
        </p:txBody>
      </p:sp>
      <p:sp>
        <p:nvSpPr>
          <p:cNvPr id="14" name="Content Placeholder 9"/>
          <p:cNvSpPr txBox="1">
            <a:spLocks/>
          </p:cNvSpPr>
          <p:nvPr/>
        </p:nvSpPr>
        <p:spPr bwMode="auto">
          <a:xfrm>
            <a:off x="2362200" y="4648201"/>
            <a:ext cx="259080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>
              <a:spcBef>
                <a:spcPct val="20000"/>
              </a:spcBef>
              <a:defRPr/>
            </a:pPr>
            <a:r>
              <a:rPr lang="en-US" sz="2800" kern="0" dirty="0"/>
              <a:t>a) Amplitude</a:t>
            </a:r>
          </a:p>
          <a:p>
            <a:pPr marL="514350" indent="-514350">
              <a:spcBef>
                <a:spcPct val="20000"/>
              </a:spcBef>
              <a:defRPr/>
            </a:pPr>
            <a:r>
              <a:rPr lang="en-US" sz="2800" kern="0" dirty="0"/>
              <a:t>b) Frequency </a:t>
            </a:r>
          </a:p>
        </p:txBody>
      </p:sp>
      <p:sp>
        <p:nvSpPr>
          <p:cNvPr id="15" name="Content Placeholder 9"/>
          <p:cNvSpPr txBox="1">
            <a:spLocks/>
          </p:cNvSpPr>
          <p:nvPr/>
        </p:nvSpPr>
        <p:spPr bwMode="auto">
          <a:xfrm>
            <a:off x="7162800" y="4648201"/>
            <a:ext cx="259080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>
              <a:spcBef>
                <a:spcPct val="20000"/>
              </a:spcBef>
              <a:defRPr/>
            </a:pPr>
            <a:r>
              <a:rPr lang="en-US" sz="2800" kern="0" dirty="0"/>
              <a:t>c) Period</a:t>
            </a:r>
          </a:p>
          <a:p>
            <a:pPr marL="514350" indent="-514350">
              <a:spcBef>
                <a:spcPct val="20000"/>
              </a:spcBef>
              <a:defRPr/>
            </a:pPr>
            <a:r>
              <a:rPr lang="en-US" sz="2800" kern="0" dirty="0"/>
              <a:t>d) Phase</a:t>
            </a:r>
          </a:p>
        </p:txBody>
      </p:sp>
      <p:grpSp>
        <p:nvGrpSpPr>
          <p:cNvPr id="443397" name="Group 211"/>
          <p:cNvGrpSpPr>
            <a:grpSpLocks/>
          </p:cNvGrpSpPr>
          <p:nvPr/>
        </p:nvGrpSpPr>
        <p:grpSpPr bwMode="auto">
          <a:xfrm>
            <a:off x="5703888" y="1636714"/>
            <a:ext cx="4735512" cy="2630487"/>
            <a:chOff x="4179346" y="1637246"/>
            <a:chExt cx="4736054" cy="2629954"/>
          </a:xfrm>
        </p:grpSpPr>
        <p:pic>
          <p:nvPicPr>
            <p:cNvPr id="44339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179346" y="1637246"/>
              <a:ext cx="4507454" cy="26299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43399" name="Group 8"/>
            <p:cNvGrpSpPr>
              <a:grpSpLocks/>
            </p:cNvGrpSpPr>
            <p:nvPr/>
          </p:nvGrpSpPr>
          <p:grpSpPr bwMode="auto">
            <a:xfrm flipH="1">
              <a:off x="4724400" y="2286000"/>
              <a:ext cx="2209800" cy="1369056"/>
              <a:chOff x="1322006" y="4117344"/>
              <a:chExt cx="6560617" cy="1269071"/>
            </a:xfrm>
          </p:grpSpPr>
          <p:sp>
            <p:nvSpPr>
              <p:cNvPr id="443500" name="AutoShape 5"/>
              <p:cNvSpPr>
                <a:spLocks noChangeAspect="1" noChangeArrowheads="1" noTextEdit="1"/>
              </p:cNvSpPr>
              <p:nvPr/>
            </p:nvSpPr>
            <p:spPr bwMode="auto">
              <a:xfrm>
                <a:off x="1322006" y="4117344"/>
                <a:ext cx="6560617" cy="12690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1" name="Line 10"/>
              <p:cNvSpPr>
                <a:spLocks noChangeShapeType="1"/>
              </p:cNvSpPr>
              <p:nvPr/>
            </p:nvSpPr>
            <p:spPr bwMode="auto">
              <a:xfrm flipV="1">
                <a:off x="1440796" y="4220028"/>
                <a:ext cx="64486" cy="1053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2" name="Line 11"/>
              <p:cNvSpPr>
                <a:spLocks noChangeShapeType="1"/>
              </p:cNvSpPr>
              <p:nvPr/>
            </p:nvSpPr>
            <p:spPr bwMode="auto">
              <a:xfrm flipV="1">
                <a:off x="1505282" y="4212129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3" name="Line 12"/>
              <p:cNvSpPr>
                <a:spLocks noChangeShapeType="1"/>
              </p:cNvSpPr>
              <p:nvPr/>
            </p:nvSpPr>
            <p:spPr bwMode="auto">
              <a:xfrm flipV="1">
                <a:off x="1569769" y="4209496"/>
                <a:ext cx="61092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4" name="Line 13"/>
              <p:cNvSpPr>
                <a:spLocks noChangeShapeType="1"/>
              </p:cNvSpPr>
              <p:nvPr/>
            </p:nvSpPr>
            <p:spPr bwMode="auto">
              <a:xfrm>
                <a:off x="1630861" y="4209496"/>
                <a:ext cx="64486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5" name="Line 14"/>
              <p:cNvSpPr>
                <a:spLocks noChangeShapeType="1"/>
              </p:cNvSpPr>
              <p:nvPr/>
            </p:nvSpPr>
            <p:spPr bwMode="auto">
              <a:xfrm>
                <a:off x="1695347" y="4212129"/>
                <a:ext cx="64486" cy="1053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6" name="Line 15"/>
              <p:cNvSpPr>
                <a:spLocks noChangeShapeType="1"/>
              </p:cNvSpPr>
              <p:nvPr/>
            </p:nvSpPr>
            <p:spPr bwMode="auto">
              <a:xfrm>
                <a:off x="1759833" y="4222661"/>
                <a:ext cx="64486" cy="1316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7" name="Line 16"/>
              <p:cNvSpPr>
                <a:spLocks noChangeShapeType="1"/>
              </p:cNvSpPr>
              <p:nvPr/>
            </p:nvSpPr>
            <p:spPr bwMode="auto">
              <a:xfrm>
                <a:off x="1824319" y="4235826"/>
                <a:ext cx="64486" cy="2106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8" name="Line 17"/>
              <p:cNvSpPr>
                <a:spLocks noChangeShapeType="1"/>
              </p:cNvSpPr>
              <p:nvPr/>
            </p:nvSpPr>
            <p:spPr bwMode="auto">
              <a:xfrm>
                <a:off x="1888805" y="4256889"/>
                <a:ext cx="61092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9" name="Line 18"/>
              <p:cNvSpPr>
                <a:spLocks noChangeShapeType="1"/>
              </p:cNvSpPr>
              <p:nvPr/>
            </p:nvSpPr>
            <p:spPr bwMode="auto">
              <a:xfrm>
                <a:off x="1949897" y="4280585"/>
                <a:ext cx="64486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0" name="Line 19"/>
              <p:cNvSpPr>
                <a:spLocks noChangeShapeType="1"/>
              </p:cNvSpPr>
              <p:nvPr/>
            </p:nvSpPr>
            <p:spPr bwMode="auto">
              <a:xfrm>
                <a:off x="2014384" y="4309548"/>
                <a:ext cx="64486" cy="3422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1" name="Line 20"/>
              <p:cNvSpPr>
                <a:spLocks noChangeShapeType="1"/>
              </p:cNvSpPr>
              <p:nvPr/>
            </p:nvSpPr>
            <p:spPr bwMode="auto">
              <a:xfrm>
                <a:off x="2078870" y="4343776"/>
                <a:ext cx="64486" cy="3686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2" name="Line 21"/>
              <p:cNvSpPr>
                <a:spLocks noChangeShapeType="1"/>
              </p:cNvSpPr>
              <p:nvPr/>
            </p:nvSpPr>
            <p:spPr bwMode="auto">
              <a:xfrm>
                <a:off x="2143356" y="4380637"/>
                <a:ext cx="64486" cy="42127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3" name="Line 22"/>
              <p:cNvSpPr>
                <a:spLocks noChangeShapeType="1"/>
              </p:cNvSpPr>
              <p:nvPr/>
            </p:nvSpPr>
            <p:spPr bwMode="auto">
              <a:xfrm>
                <a:off x="2207842" y="4422764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4" name="Line 23"/>
              <p:cNvSpPr>
                <a:spLocks noChangeShapeType="1"/>
              </p:cNvSpPr>
              <p:nvPr/>
            </p:nvSpPr>
            <p:spPr bwMode="auto">
              <a:xfrm>
                <a:off x="2268934" y="4470156"/>
                <a:ext cx="64486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5" name="Line 24"/>
              <p:cNvSpPr>
                <a:spLocks noChangeShapeType="1"/>
              </p:cNvSpPr>
              <p:nvPr/>
            </p:nvSpPr>
            <p:spPr bwMode="auto">
              <a:xfrm>
                <a:off x="2333420" y="4517549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6" name="Line 25"/>
              <p:cNvSpPr>
                <a:spLocks noChangeShapeType="1"/>
              </p:cNvSpPr>
              <p:nvPr/>
            </p:nvSpPr>
            <p:spPr bwMode="auto">
              <a:xfrm>
                <a:off x="2397906" y="4567575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7" name="Line 26"/>
              <p:cNvSpPr>
                <a:spLocks noChangeShapeType="1"/>
              </p:cNvSpPr>
              <p:nvPr/>
            </p:nvSpPr>
            <p:spPr bwMode="auto">
              <a:xfrm>
                <a:off x="2462393" y="4620233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8" name="Line 27"/>
              <p:cNvSpPr>
                <a:spLocks noChangeShapeType="1"/>
              </p:cNvSpPr>
              <p:nvPr/>
            </p:nvSpPr>
            <p:spPr bwMode="auto">
              <a:xfrm>
                <a:off x="2526879" y="4672892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9" name="Line 28"/>
              <p:cNvSpPr>
                <a:spLocks noChangeShapeType="1"/>
              </p:cNvSpPr>
              <p:nvPr/>
            </p:nvSpPr>
            <p:spPr bwMode="auto">
              <a:xfrm>
                <a:off x="2591365" y="4728183"/>
                <a:ext cx="61092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0" name="Line 29"/>
              <p:cNvSpPr>
                <a:spLocks noChangeShapeType="1"/>
              </p:cNvSpPr>
              <p:nvPr/>
            </p:nvSpPr>
            <p:spPr bwMode="auto">
              <a:xfrm>
                <a:off x="2652457" y="4780842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1" name="Line 30"/>
              <p:cNvSpPr>
                <a:spLocks noChangeShapeType="1"/>
              </p:cNvSpPr>
              <p:nvPr/>
            </p:nvSpPr>
            <p:spPr bwMode="auto">
              <a:xfrm>
                <a:off x="2716943" y="4836133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2" name="Line 31"/>
              <p:cNvSpPr>
                <a:spLocks noChangeShapeType="1"/>
              </p:cNvSpPr>
              <p:nvPr/>
            </p:nvSpPr>
            <p:spPr bwMode="auto">
              <a:xfrm>
                <a:off x="2781429" y="4888792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3" name="Line 32"/>
              <p:cNvSpPr>
                <a:spLocks noChangeShapeType="1"/>
              </p:cNvSpPr>
              <p:nvPr/>
            </p:nvSpPr>
            <p:spPr bwMode="auto">
              <a:xfrm>
                <a:off x="2845915" y="4941450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4" name="Line 33"/>
              <p:cNvSpPr>
                <a:spLocks noChangeShapeType="1"/>
              </p:cNvSpPr>
              <p:nvPr/>
            </p:nvSpPr>
            <p:spPr bwMode="auto">
              <a:xfrm>
                <a:off x="2910402" y="4991476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5" name="Line 34"/>
              <p:cNvSpPr>
                <a:spLocks noChangeShapeType="1"/>
              </p:cNvSpPr>
              <p:nvPr/>
            </p:nvSpPr>
            <p:spPr bwMode="auto">
              <a:xfrm>
                <a:off x="2971494" y="5038869"/>
                <a:ext cx="64486" cy="4476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6" name="Line 35"/>
              <p:cNvSpPr>
                <a:spLocks noChangeShapeType="1"/>
              </p:cNvSpPr>
              <p:nvPr/>
            </p:nvSpPr>
            <p:spPr bwMode="auto">
              <a:xfrm>
                <a:off x="3035980" y="5083628"/>
                <a:ext cx="64486" cy="39494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7" name="Line 36"/>
              <p:cNvSpPr>
                <a:spLocks noChangeShapeType="1"/>
              </p:cNvSpPr>
              <p:nvPr/>
            </p:nvSpPr>
            <p:spPr bwMode="auto">
              <a:xfrm>
                <a:off x="3100466" y="5123122"/>
                <a:ext cx="64486" cy="39494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8" name="Line 37"/>
              <p:cNvSpPr>
                <a:spLocks noChangeShapeType="1"/>
              </p:cNvSpPr>
              <p:nvPr/>
            </p:nvSpPr>
            <p:spPr bwMode="auto">
              <a:xfrm>
                <a:off x="3164952" y="5162616"/>
                <a:ext cx="64486" cy="3159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9" name="Line 38"/>
              <p:cNvSpPr>
                <a:spLocks noChangeShapeType="1"/>
              </p:cNvSpPr>
              <p:nvPr/>
            </p:nvSpPr>
            <p:spPr bwMode="auto">
              <a:xfrm>
                <a:off x="3229438" y="5194211"/>
                <a:ext cx="61092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0" name="Line 39"/>
              <p:cNvSpPr>
                <a:spLocks noChangeShapeType="1"/>
              </p:cNvSpPr>
              <p:nvPr/>
            </p:nvSpPr>
            <p:spPr bwMode="auto">
              <a:xfrm>
                <a:off x="3290531" y="5223174"/>
                <a:ext cx="64486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1" name="Line 40"/>
              <p:cNvSpPr>
                <a:spLocks noChangeShapeType="1"/>
              </p:cNvSpPr>
              <p:nvPr/>
            </p:nvSpPr>
            <p:spPr bwMode="auto">
              <a:xfrm>
                <a:off x="3355017" y="5246870"/>
                <a:ext cx="64486" cy="1843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2" name="Line 41"/>
              <p:cNvSpPr>
                <a:spLocks noChangeShapeType="1"/>
              </p:cNvSpPr>
              <p:nvPr/>
            </p:nvSpPr>
            <p:spPr bwMode="auto">
              <a:xfrm>
                <a:off x="3419503" y="5265300"/>
                <a:ext cx="64486" cy="1316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3" name="Line 42"/>
              <p:cNvSpPr>
                <a:spLocks noChangeShapeType="1"/>
              </p:cNvSpPr>
              <p:nvPr/>
            </p:nvSpPr>
            <p:spPr bwMode="auto">
              <a:xfrm>
                <a:off x="3483989" y="5278465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4" name="Line 43"/>
              <p:cNvSpPr>
                <a:spLocks noChangeShapeType="1"/>
              </p:cNvSpPr>
              <p:nvPr/>
            </p:nvSpPr>
            <p:spPr bwMode="auto">
              <a:xfrm>
                <a:off x="3548475" y="5286364"/>
                <a:ext cx="64486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5" name="Line 44"/>
              <p:cNvSpPr>
                <a:spLocks noChangeShapeType="1"/>
              </p:cNvSpPr>
              <p:nvPr/>
            </p:nvSpPr>
            <p:spPr bwMode="auto">
              <a:xfrm flipV="1">
                <a:off x="3612961" y="5286364"/>
                <a:ext cx="61092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6" name="Line 45"/>
              <p:cNvSpPr>
                <a:spLocks noChangeShapeType="1"/>
              </p:cNvSpPr>
              <p:nvPr/>
            </p:nvSpPr>
            <p:spPr bwMode="auto">
              <a:xfrm flipV="1">
                <a:off x="3674053" y="5278465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7" name="Line 46"/>
              <p:cNvSpPr>
                <a:spLocks noChangeShapeType="1"/>
              </p:cNvSpPr>
              <p:nvPr/>
            </p:nvSpPr>
            <p:spPr bwMode="auto">
              <a:xfrm flipV="1">
                <a:off x="3738540" y="5262667"/>
                <a:ext cx="64486" cy="1579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8" name="Line 47"/>
              <p:cNvSpPr>
                <a:spLocks noChangeShapeType="1"/>
              </p:cNvSpPr>
              <p:nvPr/>
            </p:nvSpPr>
            <p:spPr bwMode="auto">
              <a:xfrm flipV="1">
                <a:off x="3803026" y="5244237"/>
                <a:ext cx="64486" cy="1843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9" name="Line 48"/>
              <p:cNvSpPr>
                <a:spLocks noChangeShapeType="1"/>
              </p:cNvSpPr>
              <p:nvPr/>
            </p:nvSpPr>
            <p:spPr bwMode="auto">
              <a:xfrm flipV="1">
                <a:off x="3867512" y="5220541"/>
                <a:ext cx="64486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0" name="Line 49"/>
              <p:cNvSpPr>
                <a:spLocks noChangeShapeType="1"/>
              </p:cNvSpPr>
              <p:nvPr/>
            </p:nvSpPr>
            <p:spPr bwMode="auto">
              <a:xfrm flipV="1">
                <a:off x="3931998" y="5191578"/>
                <a:ext cx="61092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1" name="Line 50"/>
              <p:cNvSpPr>
                <a:spLocks noChangeShapeType="1"/>
              </p:cNvSpPr>
              <p:nvPr/>
            </p:nvSpPr>
            <p:spPr bwMode="auto">
              <a:xfrm flipV="1">
                <a:off x="3993090" y="5157350"/>
                <a:ext cx="64486" cy="3422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2" name="Line 51"/>
              <p:cNvSpPr>
                <a:spLocks noChangeShapeType="1"/>
              </p:cNvSpPr>
              <p:nvPr/>
            </p:nvSpPr>
            <p:spPr bwMode="auto">
              <a:xfrm flipV="1">
                <a:off x="4057576" y="5120489"/>
                <a:ext cx="64486" cy="3686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3" name="Line 52"/>
              <p:cNvSpPr>
                <a:spLocks noChangeShapeType="1"/>
              </p:cNvSpPr>
              <p:nvPr/>
            </p:nvSpPr>
            <p:spPr bwMode="auto">
              <a:xfrm flipV="1">
                <a:off x="4122062" y="5078362"/>
                <a:ext cx="64486" cy="42127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4" name="Line 53"/>
              <p:cNvSpPr>
                <a:spLocks noChangeShapeType="1"/>
              </p:cNvSpPr>
              <p:nvPr/>
            </p:nvSpPr>
            <p:spPr bwMode="auto">
              <a:xfrm flipV="1">
                <a:off x="4186549" y="5033603"/>
                <a:ext cx="64486" cy="4476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5" name="Line 54"/>
              <p:cNvSpPr>
                <a:spLocks noChangeShapeType="1"/>
              </p:cNvSpPr>
              <p:nvPr/>
            </p:nvSpPr>
            <p:spPr bwMode="auto">
              <a:xfrm flipV="1">
                <a:off x="4251035" y="4986210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6" name="Line 55"/>
              <p:cNvSpPr>
                <a:spLocks noChangeShapeType="1"/>
              </p:cNvSpPr>
              <p:nvPr/>
            </p:nvSpPr>
            <p:spPr bwMode="auto">
              <a:xfrm flipV="1">
                <a:off x="4312127" y="4936184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7" name="Line 56"/>
              <p:cNvSpPr>
                <a:spLocks noChangeShapeType="1"/>
              </p:cNvSpPr>
              <p:nvPr/>
            </p:nvSpPr>
            <p:spPr bwMode="auto">
              <a:xfrm flipV="1">
                <a:off x="4376613" y="4883526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8" name="Line 57"/>
              <p:cNvSpPr>
                <a:spLocks noChangeShapeType="1"/>
              </p:cNvSpPr>
              <p:nvPr/>
            </p:nvSpPr>
            <p:spPr bwMode="auto">
              <a:xfrm flipV="1">
                <a:off x="4441099" y="4830867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9" name="Line 58"/>
              <p:cNvSpPr>
                <a:spLocks noChangeShapeType="1"/>
              </p:cNvSpPr>
              <p:nvPr/>
            </p:nvSpPr>
            <p:spPr bwMode="auto">
              <a:xfrm flipV="1">
                <a:off x="4505585" y="4775576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0" name="Line 59"/>
              <p:cNvSpPr>
                <a:spLocks noChangeShapeType="1"/>
              </p:cNvSpPr>
              <p:nvPr/>
            </p:nvSpPr>
            <p:spPr bwMode="auto">
              <a:xfrm flipV="1">
                <a:off x="4570071" y="4722917"/>
                <a:ext cx="61092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1" name="Line 60"/>
              <p:cNvSpPr>
                <a:spLocks noChangeShapeType="1"/>
              </p:cNvSpPr>
              <p:nvPr/>
            </p:nvSpPr>
            <p:spPr bwMode="auto">
              <a:xfrm flipV="1">
                <a:off x="4631164" y="4667626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2" name="Line 61"/>
              <p:cNvSpPr>
                <a:spLocks noChangeShapeType="1"/>
              </p:cNvSpPr>
              <p:nvPr/>
            </p:nvSpPr>
            <p:spPr bwMode="auto">
              <a:xfrm flipV="1">
                <a:off x="4695650" y="4614967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3" name="Line 62"/>
              <p:cNvSpPr>
                <a:spLocks noChangeShapeType="1"/>
              </p:cNvSpPr>
              <p:nvPr/>
            </p:nvSpPr>
            <p:spPr bwMode="auto">
              <a:xfrm flipV="1">
                <a:off x="4760136" y="4562309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4" name="Line 63"/>
              <p:cNvSpPr>
                <a:spLocks noChangeShapeType="1"/>
              </p:cNvSpPr>
              <p:nvPr/>
            </p:nvSpPr>
            <p:spPr bwMode="auto">
              <a:xfrm flipV="1">
                <a:off x="4824622" y="4512283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5" name="Line 64"/>
              <p:cNvSpPr>
                <a:spLocks noChangeShapeType="1"/>
              </p:cNvSpPr>
              <p:nvPr/>
            </p:nvSpPr>
            <p:spPr bwMode="auto">
              <a:xfrm flipV="1">
                <a:off x="4889108" y="4464890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6" name="Line 65"/>
              <p:cNvSpPr>
                <a:spLocks noChangeShapeType="1"/>
              </p:cNvSpPr>
              <p:nvPr/>
            </p:nvSpPr>
            <p:spPr bwMode="auto">
              <a:xfrm flipV="1">
                <a:off x="4950200" y="4420131"/>
                <a:ext cx="64486" cy="4476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7" name="Line 66"/>
              <p:cNvSpPr>
                <a:spLocks noChangeShapeType="1"/>
              </p:cNvSpPr>
              <p:nvPr/>
            </p:nvSpPr>
            <p:spPr bwMode="auto">
              <a:xfrm flipV="1">
                <a:off x="5014686" y="4378004"/>
                <a:ext cx="64486" cy="42127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8" name="Line 67"/>
              <p:cNvSpPr>
                <a:spLocks noChangeShapeType="1"/>
              </p:cNvSpPr>
              <p:nvPr/>
            </p:nvSpPr>
            <p:spPr bwMode="auto">
              <a:xfrm flipV="1">
                <a:off x="5079173" y="4341143"/>
                <a:ext cx="64486" cy="3686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9" name="Line 68"/>
              <p:cNvSpPr>
                <a:spLocks noChangeShapeType="1"/>
              </p:cNvSpPr>
              <p:nvPr/>
            </p:nvSpPr>
            <p:spPr bwMode="auto">
              <a:xfrm flipV="1">
                <a:off x="5143659" y="4306915"/>
                <a:ext cx="61092" cy="3422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0" name="Line 69"/>
              <p:cNvSpPr>
                <a:spLocks noChangeShapeType="1"/>
              </p:cNvSpPr>
              <p:nvPr/>
            </p:nvSpPr>
            <p:spPr bwMode="auto">
              <a:xfrm flipV="1">
                <a:off x="5204751" y="4277953"/>
                <a:ext cx="64486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1" name="Line 70"/>
              <p:cNvSpPr>
                <a:spLocks noChangeShapeType="1"/>
              </p:cNvSpPr>
              <p:nvPr/>
            </p:nvSpPr>
            <p:spPr bwMode="auto">
              <a:xfrm flipV="1">
                <a:off x="5269237" y="4254256"/>
                <a:ext cx="64486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2" name="Line 71"/>
              <p:cNvSpPr>
                <a:spLocks noChangeShapeType="1"/>
              </p:cNvSpPr>
              <p:nvPr/>
            </p:nvSpPr>
            <p:spPr bwMode="auto">
              <a:xfrm flipV="1">
                <a:off x="5333723" y="4235826"/>
                <a:ext cx="64486" cy="1843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3" name="Line 72"/>
              <p:cNvSpPr>
                <a:spLocks noChangeShapeType="1"/>
              </p:cNvSpPr>
              <p:nvPr/>
            </p:nvSpPr>
            <p:spPr bwMode="auto">
              <a:xfrm flipV="1">
                <a:off x="5398209" y="4220028"/>
                <a:ext cx="64486" cy="1579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4" name="Line 73"/>
              <p:cNvSpPr>
                <a:spLocks noChangeShapeType="1"/>
              </p:cNvSpPr>
              <p:nvPr/>
            </p:nvSpPr>
            <p:spPr bwMode="auto">
              <a:xfrm flipV="1">
                <a:off x="5462695" y="4212129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5" name="Line 74"/>
              <p:cNvSpPr>
                <a:spLocks noChangeShapeType="1"/>
              </p:cNvSpPr>
              <p:nvPr/>
            </p:nvSpPr>
            <p:spPr bwMode="auto">
              <a:xfrm flipV="1">
                <a:off x="5527182" y="4209496"/>
                <a:ext cx="61092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6" name="Line 75"/>
              <p:cNvSpPr>
                <a:spLocks noChangeShapeType="1"/>
              </p:cNvSpPr>
              <p:nvPr/>
            </p:nvSpPr>
            <p:spPr bwMode="auto">
              <a:xfrm>
                <a:off x="5588274" y="4209496"/>
                <a:ext cx="64486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7" name="Line 76"/>
              <p:cNvSpPr>
                <a:spLocks noChangeShapeType="1"/>
              </p:cNvSpPr>
              <p:nvPr/>
            </p:nvSpPr>
            <p:spPr bwMode="auto">
              <a:xfrm>
                <a:off x="5652760" y="4212129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8" name="Line 77"/>
              <p:cNvSpPr>
                <a:spLocks noChangeShapeType="1"/>
              </p:cNvSpPr>
              <p:nvPr/>
            </p:nvSpPr>
            <p:spPr bwMode="auto">
              <a:xfrm>
                <a:off x="5717246" y="4220028"/>
                <a:ext cx="64486" cy="1316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9" name="Line 78"/>
              <p:cNvSpPr>
                <a:spLocks noChangeShapeType="1"/>
              </p:cNvSpPr>
              <p:nvPr/>
            </p:nvSpPr>
            <p:spPr bwMode="auto">
              <a:xfrm>
                <a:off x="5781732" y="4233193"/>
                <a:ext cx="64486" cy="1843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0" name="Line 79"/>
              <p:cNvSpPr>
                <a:spLocks noChangeShapeType="1"/>
              </p:cNvSpPr>
              <p:nvPr/>
            </p:nvSpPr>
            <p:spPr bwMode="auto">
              <a:xfrm>
                <a:off x="5846218" y="4251623"/>
                <a:ext cx="61092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1" name="Line 80"/>
              <p:cNvSpPr>
                <a:spLocks noChangeShapeType="1"/>
              </p:cNvSpPr>
              <p:nvPr/>
            </p:nvSpPr>
            <p:spPr bwMode="auto">
              <a:xfrm>
                <a:off x="5907310" y="4275320"/>
                <a:ext cx="64486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2" name="Line 81"/>
              <p:cNvSpPr>
                <a:spLocks noChangeShapeType="1"/>
              </p:cNvSpPr>
              <p:nvPr/>
            </p:nvSpPr>
            <p:spPr bwMode="auto">
              <a:xfrm>
                <a:off x="5971797" y="4304282"/>
                <a:ext cx="64486" cy="3159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3" name="Line 82"/>
              <p:cNvSpPr>
                <a:spLocks noChangeShapeType="1"/>
              </p:cNvSpPr>
              <p:nvPr/>
            </p:nvSpPr>
            <p:spPr bwMode="auto">
              <a:xfrm>
                <a:off x="6036283" y="4335877"/>
                <a:ext cx="64486" cy="3686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4" name="Line 83"/>
              <p:cNvSpPr>
                <a:spLocks noChangeShapeType="1"/>
              </p:cNvSpPr>
              <p:nvPr/>
            </p:nvSpPr>
            <p:spPr bwMode="auto">
              <a:xfrm>
                <a:off x="6100769" y="4372738"/>
                <a:ext cx="64486" cy="42127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5" name="Line 84"/>
              <p:cNvSpPr>
                <a:spLocks noChangeShapeType="1"/>
              </p:cNvSpPr>
              <p:nvPr/>
            </p:nvSpPr>
            <p:spPr bwMode="auto">
              <a:xfrm>
                <a:off x="6165255" y="4414865"/>
                <a:ext cx="61092" cy="4476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6" name="Line 85"/>
              <p:cNvSpPr>
                <a:spLocks noChangeShapeType="1"/>
              </p:cNvSpPr>
              <p:nvPr/>
            </p:nvSpPr>
            <p:spPr bwMode="auto">
              <a:xfrm>
                <a:off x="6226347" y="4459625"/>
                <a:ext cx="64486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7" name="Line 86"/>
              <p:cNvSpPr>
                <a:spLocks noChangeShapeType="1"/>
              </p:cNvSpPr>
              <p:nvPr/>
            </p:nvSpPr>
            <p:spPr bwMode="auto">
              <a:xfrm>
                <a:off x="6290833" y="4507017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8" name="Line 87"/>
              <p:cNvSpPr>
                <a:spLocks noChangeShapeType="1"/>
              </p:cNvSpPr>
              <p:nvPr/>
            </p:nvSpPr>
            <p:spPr bwMode="auto">
              <a:xfrm>
                <a:off x="6355320" y="4557043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9" name="Line 88"/>
              <p:cNvSpPr>
                <a:spLocks noChangeShapeType="1"/>
              </p:cNvSpPr>
              <p:nvPr/>
            </p:nvSpPr>
            <p:spPr bwMode="auto">
              <a:xfrm>
                <a:off x="6419806" y="4609701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0" name="Line 89"/>
              <p:cNvSpPr>
                <a:spLocks noChangeShapeType="1"/>
              </p:cNvSpPr>
              <p:nvPr/>
            </p:nvSpPr>
            <p:spPr bwMode="auto">
              <a:xfrm>
                <a:off x="6484292" y="4662360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1" name="Line 90"/>
              <p:cNvSpPr>
                <a:spLocks noChangeShapeType="1"/>
              </p:cNvSpPr>
              <p:nvPr/>
            </p:nvSpPr>
            <p:spPr bwMode="auto">
              <a:xfrm>
                <a:off x="6548778" y="4717651"/>
                <a:ext cx="61092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2" name="Line 91"/>
              <p:cNvSpPr>
                <a:spLocks noChangeShapeType="1"/>
              </p:cNvSpPr>
              <p:nvPr/>
            </p:nvSpPr>
            <p:spPr bwMode="auto">
              <a:xfrm>
                <a:off x="6609870" y="4770310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3" name="Line 92"/>
              <p:cNvSpPr>
                <a:spLocks noChangeShapeType="1"/>
              </p:cNvSpPr>
              <p:nvPr/>
            </p:nvSpPr>
            <p:spPr bwMode="auto">
              <a:xfrm>
                <a:off x="6674356" y="4825601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4" name="Line 93"/>
              <p:cNvSpPr>
                <a:spLocks noChangeShapeType="1"/>
              </p:cNvSpPr>
              <p:nvPr/>
            </p:nvSpPr>
            <p:spPr bwMode="auto">
              <a:xfrm>
                <a:off x="6738842" y="4878260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5" name="Line 94"/>
              <p:cNvSpPr>
                <a:spLocks noChangeShapeType="1"/>
              </p:cNvSpPr>
              <p:nvPr/>
            </p:nvSpPr>
            <p:spPr bwMode="auto">
              <a:xfrm>
                <a:off x="6803329" y="4930919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6" name="Line 95"/>
              <p:cNvSpPr>
                <a:spLocks noChangeShapeType="1"/>
              </p:cNvSpPr>
              <p:nvPr/>
            </p:nvSpPr>
            <p:spPr bwMode="auto">
              <a:xfrm>
                <a:off x="6867815" y="4980944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7" name="Line 96"/>
              <p:cNvSpPr>
                <a:spLocks noChangeShapeType="1"/>
              </p:cNvSpPr>
              <p:nvPr/>
            </p:nvSpPr>
            <p:spPr bwMode="auto">
              <a:xfrm>
                <a:off x="6928907" y="5028337"/>
                <a:ext cx="64486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8" name="Line 97"/>
              <p:cNvSpPr>
                <a:spLocks noChangeShapeType="1"/>
              </p:cNvSpPr>
              <p:nvPr/>
            </p:nvSpPr>
            <p:spPr bwMode="auto">
              <a:xfrm>
                <a:off x="6993393" y="5075730"/>
                <a:ext cx="64486" cy="39494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9" name="Line 98"/>
              <p:cNvSpPr>
                <a:spLocks noChangeShapeType="1"/>
              </p:cNvSpPr>
              <p:nvPr/>
            </p:nvSpPr>
            <p:spPr bwMode="auto">
              <a:xfrm>
                <a:off x="7057879" y="5115223"/>
                <a:ext cx="64486" cy="39494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0" name="Line 99"/>
              <p:cNvSpPr>
                <a:spLocks noChangeShapeType="1"/>
              </p:cNvSpPr>
              <p:nvPr/>
            </p:nvSpPr>
            <p:spPr bwMode="auto">
              <a:xfrm>
                <a:off x="7122365" y="5154717"/>
                <a:ext cx="64486" cy="3422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1" name="Line 100"/>
              <p:cNvSpPr>
                <a:spLocks noChangeShapeType="1"/>
              </p:cNvSpPr>
              <p:nvPr/>
            </p:nvSpPr>
            <p:spPr bwMode="auto">
              <a:xfrm>
                <a:off x="7186851" y="5188945"/>
                <a:ext cx="64486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2" name="Line 101"/>
              <p:cNvSpPr>
                <a:spLocks noChangeShapeType="1"/>
              </p:cNvSpPr>
              <p:nvPr/>
            </p:nvSpPr>
            <p:spPr bwMode="auto">
              <a:xfrm>
                <a:off x="7251338" y="5217908"/>
                <a:ext cx="61092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3" name="Line 102"/>
              <p:cNvSpPr>
                <a:spLocks noChangeShapeType="1"/>
              </p:cNvSpPr>
              <p:nvPr/>
            </p:nvSpPr>
            <p:spPr bwMode="auto">
              <a:xfrm>
                <a:off x="7312430" y="5241604"/>
                <a:ext cx="64486" cy="2106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4" name="Line 103"/>
              <p:cNvSpPr>
                <a:spLocks noChangeShapeType="1"/>
              </p:cNvSpPr>
              <p:nvPr/>
            </p:nvSpPr>
            <p:spPr bwMode="auto">
              <a:xfrm>
                <a:off x="7376916" y="5262667"/>
                <a:ext cx="64486" cy="1316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5" name="Line 104"/>
              <p:cNvSpPr>
                <a:spLocks noChangeShapeType="1"/>
              </p:cNvSpPr>
              <p:nvPr/>
            </p:nvSpPr>
            <p:spPr bwMode="auto">
              <a:xfrm>
                <a:off x="7441402" y="5275832"/>
                <a:ext cx="64486" cy="1053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6" name="Line 105"/>
              <p:cNvSpPr>
                <a:spLocks noChangeShapeType="1"/>
              </p:cNvSpPr>
              <p:nvPr/>
            </p:nvSpPr>
            <p:spPr bwMode="auto">
              <a:xfrm>
                <a:off x="7505888" y="5286364"/>
                <a:ext cx="64486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7" name="Line 106"/>
              <p:cNvSpPr>
                <a:spLocks noChangeShapeType="1"/>
              </p:cNvSpPr>
              <p:nvPr/>
            </p:nvSpPr>
            <p:spPr bwMode="auto">
              <a:xfrm flipV="1">
                <a:off x="7570374" y="5286364"/>
                <a:ext cx="61092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8" name="Line 107"/>
              <p:cNvSpPr>
                <a:spLocks noChangeShapeType="1"/>
              </p:cNvSpPr>
              <p:nvPr/>
            </p:nvSpPr>
            <p:spPr bwMode="auto">
              <a:xfrm flipV="1">
                <a:off x="7631466" y="5278465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443400" name="Group 111"/>
            <p:cNvGrpSpPr>
              <a:grpSpLocks/>
            </p:cNvGrpSpPr>
            <p:nvPr/>
          </p:nvGrpSpPr>
          <p:grpSpPr bwMode="auto">
            <a:xfrm>
              <a:off x="6705600" y="2286000"/>
              <a:ext cx="2209800" cy="1369056"/>
              <a:chOff x="1322006" y="4117344"/>
              <a:chExt cx="6560617" cy="1269071"/>
            </a:xfrm>
          </p:grpSpPr>
          <p:sp>
            <p:nvSpPr>
              <p:cNvPr id="443401" name="AutoShape 5"/>
              <p:cNvSpPr>
                <a:spLocks noChangeAspect="1" noChangeArrowheads="1" noTextEdit="1"/>
              </p:cNvSpPr>
              <p:nvPr/>
            </p:nvSpPr>
            <p:spPr bwMode="auto">
              <a:xfrm>
                <a:off x="1322006" y="4117344"/>
                <a:ext cx="6560617" cy="12690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02" name="Line 10"/>
              <p:cNvSpPr>
                <a:spLocks noChangeShapeType="1"/>
              </p:cNvSpPr>
              <p:nvPr/>
            </p:nvSpPr>
            <p:spPr bwMode="auto">
              <a:xfrm flipV="1">
                <a:off x="1440796" y="4220028"/>
                <a:ext cx="64486" cy="1053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03" name="Line 11"/>
              <p:cNvSpPr>
                <a:spLocks noChangeShapeType="1"/>
              </p:cNvSpPr>
              <p:nvPr/>
            </p:nvSpPr>
            <p:spPr bwMode="auto">
              <a:xfrm flipV="1">
                <a:off x="1505282" y="4212129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04" name="Line 12"/>
              <p:cNvSpPr>
                <a:spLocks noChangeShapeType="1"/>
              </p:cNvSpPr>
              <p:nvPr/>
            </p:nvSpPr>
            <p:spPr bwMode="auto">
              <a:xfrm flipV="1">
                <a:off x="1569769" y="4209496"/>
                <a:ext cx="61092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05" name="Line 13"/>
              <p:cNvSpPr>
                <a:spLocks noChangeShapeType="1"/>
              </p:cNvSpPr>
              <p:nvPr/>
            </p:nvSpPr>
            <p:spPr bwMode="auto">
              <a:xfrm>
                <a:off x="1630861" y="4209496"/>
                <a:ext cx="64486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06" name="Line 14"/>
              <p:cNvSpPr>
                <a:spLocks noChangeShapeType="1"/>
              </p:cNvSpPr>
              <p:nvPr/>
            </p:nvSpPr>
            <p:spPr bwMode="auto">
              <a:xfrm>
                <a:off x="1695347" y="4212129"/>
                <a:ext cx="64486" cy="1053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07" name="Line 15"/>
              <p:cNvSpPr>
                <a:spLocks noChangeShapeType="1"/>
              </p:cNvSpPr>
              <p:nvPr/>
            </p:nvSpPr>
            <p:spPr bwMode="auto">
              <a:xfrm>
                <a:off x="1759833" y="4222661"/>
                <a:ext cx="64486" cy="1316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08" name="Line 16"/>
              <p:cNvSpPr>
                <a:spLocks noChangeShapeType="1"/>
              </p:cNvSpPr>
              <p:nvPr/>
            </p:nvSpPr>
            <p:spPr bwMode="auto">
              <a:xfrm>
                <a:off x="1824319" y="4235826"/>
                <a:ext cx="64486" cy="2106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09" name="Line 17"/>
              <p:cNvSpPr>
                <a:spLocks noChangeShapeType="1"/>
              </p:cNvSpPr>
              <p:nvPr/>
            </p:nvSpPr>
            <p:spPr bwMode="auto">
              <a:xfrm>
                <a:off x="1888805" y="4256889"/>
                <a:ext cx="61092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0" name="Line 18"/>
              <p:cNvSpPr>
                <a:spLocks noChangeShapeType="1"/>
              </p:cNvSpPr>
              <p:nvPr/>
            </p:nvSpPr>
            <p:spPr bwMode="auto">
              <a:xfrm>
                <a:off x="1949897" y="4280585"/>
                <a:ext cx="64486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1" name="Line 19"/>
              <p:cNvSpPr>
                <a:spLocks noChangeShapeType="1"/>
              </p:cNvSpPr>
              <p:nvPr/>
            </p:nvSpPr>
            <p:spPr bwMode="auto">
              <a:xfrm>
                <a:off x="2014384" y="4309548"/>
                <a:ext cx="64486" cy="3422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2" name="Line 20"/>
              <p:cNvSpPr>
                <a:spLocks noChangeShapeType="1"/>
              </p:cNvSpPr>
              <p:nvPr/>
            </p:nvSpPr>
            <p:spPr bwMode="auto">
              <a:xfrm>
                <a:off x="2078870" y="4343776"/>
                <a:ext cx="64486" cy="3686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3" name="Line 21"/>
              <p:cNvSpPr>
                <a:spLocks noChangeShapeType="1"/>
              </p:cNvSpPr>
              <p:nvPr/>
            </p:nvSpPr>
            <p:spPr bwMode="auto">
              <a:xfrm>
                <a:off x="2143356" y="4380637"/>
                <a:ext cx="64486" cy="42127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4" name="Line 22"/>
              <p:cNvSpPr>
                <a:spLocks noChangeShapeType="1"/>
              </p:cNvSpPr>
              <p:nvPr/>
            </p:nvSpPr>
            <p:spPr bwMode="auto">
              <a:xfrm>
                <a:off x="2207842" y="4422764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5" name="Line 23"/>
              <p:cNvSpPr>
                <a:spLocks noChangeShapeType="1"/>
              </p:cNvSpPr>
              <p:nvPr/>
            </p:nvSpPr>
            <p:spPr bwMode="auto">
              <a:xfrm>
                <a:off x="2268934" y="4470156"/>
                <a:ext cx="64486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6" name="Line 24"/>
              <p:cNvSpPr>
                <a:spLocks noChangeShapeType="1"/>
              </p:cNvSpPr>
              <p:nvPr/>
            </p:nvSpPr>
            <p:spPr bwMode="auto">
              <a:xfrm>
                <a:off x="2333420" y="4517549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7" name="Line 25"/>
              <p:cNvSpPr>
                <a:spLocks noChangeShapeType="1"/>
              </p:cNvSpPr>
              <p:nvPr/>
            </p:nvSpPr>
            <p:spPr bwMode="auto">
              <a:xfrm>
                <a:off x="2397906" y="4567575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8" name="Line 26"/>
              <p:cNvSpPr>
                <a:spLocks noChangeShapeType="1"/>
              </p:cNvSpPr>
              <p:nvPr/>
            </p:nvSpPr>
            <p:spPr bwMode="auto">
              <a:xfrm>
                <a:off x="2462393" y="4620233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9" name="Line 27"/>
              <p:cNvSpPr>
                <a:spLocks noChangeShapeType="1"/>
              </p:cNvSpPr>
              <p:nvPr/>
            </p:nvSpPr>
            <p:spPr bwMode="auto">
              <a:xfrm>
                <a:off x="2526879" y="4672892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0" name="Line 28"/>
              <p:cNvSpPr>
                <a:spLocks noChangeShapeType="1"/>
              </p:cNvSpPr>
              <p:nvPr/>
            </p:nvSpPr>
            <p:spPr bwMode="auto">
              <a:xfrm>
                <a:off x="2591365" y="4728183"/>
                <a:ext cx="61092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1" name="Line 29"/>
              <p:cNvSpPr>
                <a:spLocks noChangeShapeType="1"/>
              </p:cNvSpPr>
              <p:nvPr/>
            </p:nvSpPr>
            <p:spPr bwMode="auto">
              <a:xfrm>
                <a:off x="2652457" y="4780842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2" name="Line 30"/>
              <p:cNvSpPr>
                <a:spLocks noChangeShapeType="1"/>
              </p:cNvSpPr>
              <p:nvPr/>
            </p:nvSpPr>
            <p:spPr bwMode="auto">
              <a:xfrm>
                <a:off x="2716943" y="4836133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3" name="Line 31"/>
              <p:cNvSpPr>
                <a:spLocks noChangeShapeType="1"/>
              </p:cNvSpPr>
              <p:nvPr/>
            </p:nvSpPr>
            <p:spPr bwMode="auto">
              <a:xfrm>
                <a:off x="2781429" y="4888792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4" name="Line 32"/>
              <p:cNvSpPr>
                <a:spLocks noChangeShapeType="1"/>
              </p:cNvSpPr>
              <p:nvPr/>
            </p:nvSpPr>
            <p:spPr bwMode="auto">
              <a:xfrm>
                <a:off x="2845915" y="4941450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5" name="Line 33"/>
              <p:cNvSpPr>
                <a:spLocks noChangeShapeType="1"/>
              </p:cNvSpPr>
              <p:nvPr/>
            </p:nvSpPr>
            <p:spPr bwMode="auto">
              <a:xfrm>
                <a:off x="2910402" y="4991476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6" name="Line 34"/>
              <p:cNvSpPr>
                <a:spLocks noChangeShapeType="1"/>
              </p:cNvSpPr>
              <p:nvPr/>
            </p:nvSpPr>
            <p:spPr bwMode="auto">
              <a:xfrm>
                <a:off x="2971494" y="5038869"/>
                <a:ext cx="64486" cy="4476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7" name="Line 35"/>
              <p:cNvSpPr>
                <a:spLocks noChangeShapeType="1"/>
              </p:cNvSpPr>
              <p:nvPr/>
            </p:nvSpPr>
            <p:spPr bwMode="auto">
              <a:xfrm>
                <a:off x="3035980" y="5083628"/>
                <a:ext cx="64486" cy="39494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8" name="Line 36"/>
              <p:cNvSpPr>
                <a:spLocks noChangeShapeType="1"/>
              </p:cNvSpPr>
              <p:nvPr/>
            </p:nvSpPr>
            <p:spPr bwMode="auto">
              <a:xfrm>
                <a:off x="3100466" y="5123122"/>
                <a:ext cx="64486" cy="39494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9" name="Line 37"/>
              <p:cNvSpPr>
                <a:spLocks noChangeShapeType="1"/>
              </p:cNvSpPr>
              <p:nvPr/>
            </p:nvSpPr>
            <p:spPr bwMode="auto">
              <a:xfrm>
                <a:off x="3164952" y="5162616"/>
                <a:ext cx="64486" cy="3159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0" name="Line 38"/>
              <p:cNvSpPr>
                <a:spLocks noChangeShapeType="1"/>
              </p:cNvSpPr>
              <p:nvPr/>
            </p:nvSpPr>
            <p:spPr bwMode="auto">
              <a:xfrm>
                <a:off x="3229438" y="5194211"/>
                <a:ext cx="61092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1" name="Line 39"/>
              <p:cNvSpPr>
                <a:spLocks noChangeShapeType="1"/>
              </p:cNvSpPr>
              <p:nvPr/>
            </p:nvSpPr>
            <p:spPr bwMode="auto">
              <a:xfrm>
                <a:off x="3290531" y="5223174"/>
                <a:ext cx="64486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2" name="Line 40"/>
              <p:cNvSpPr>
                <a:spLocks noChangeShapeType="1"/>
              </p:cNvSpPr>
              <p:nvPr/>
            </p:nvSpPr>
            <p:spPr bwMode="auto">
              <a:xfrm>
                <a:off x="3355017" y="5246870"/>
                <a:ext cx="64486" cy="1843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3" name="Line 41"/>
              <p:cNvSpPr>
                <a:spLocks noChangeShapeType="1"/>
              </p:cNvSpPr>
              <p:nvPr/>
            </p:nvSpPr>
            <p:spPr bwMode="auto">
              <a:xfrm>
                <a:off x="3419503" y="5265300"/>
                <a:ext cx="64486" cy="1316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4" name="Line 42"/>
              <p:cNvSpPr>
                <a:spLocks noChangeShapeType="1"/>
              </p:cNvSpPr>
              <p:nvPr/>
            </p:nvSpPr>
            <p:spPr bwMode="auto">
              <a:xfrm>
                <a:off x="3483989" y="5278465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5" name="Line 43"/>
              <p:cNvSpPr>
                <a:spLocks noChangeShapeType="1"/>
              </p:cNvSpPr>
              <p:nvPr/>
            </p:nvSpPr>
            <p:spPr bwMode="auto">
              <a:xfrm>
                <a:off x="3548475" y="5286364"/>
                <a:ext cx="64486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6" name="Line 44"/>
              <p:cNvSpPr>
                <a:spLocks noChangeShapeType="1"/>
              </p:cNvSpPr>
              <p:nvPr/>
            </p:nvSpPr>
            <p:spPr bwMode="auto">
              <a:xfrm flipV="1">
                <a:off x="3612961" y="5286364"/>
                <a:ext cx="61092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7" name="Line 45"/>
              <p:cNvSpPr>
                <a:spLocks noChangeShapeType="1"/>
              </p:cNvSpPr>
              <p:nvPr/>
            </p:nvSpPr>
            <p:spPr bwMode="auto">
              <a:xfrm flipV="1">
                <a:off x="3674053" y="5278465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8" name="Line 46"/>
              <p:cNvSpPr>
                <a:spLocks noChangeShapeType="1"/>
              </p:cNvSpPr>
              <p:nvPr/>
            </p:nvSpPr>
            <p:spPr bwMode="auto">
              <a:xfrm flipV="1">
                <a:off x="3738540" y="5262667"/>
                <a:ext cx="64486" cy="1579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9" name="Line 47"/>
              <p:cNvSpPr>
                <a:spLocks noChangeShapeType="1"/>
              </p:cNvSpPr>
              <p:nvPr/>
            </p:nvSpPr>
            <p:spPr bwMode="auto">
              <a:xfrm flipV="1">
                <a:off x="3803026" y="5244237"/>
                <a:ext cx="64486" cy="1843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0" name="Line 48"/>
              <p:cNvSpPr>
                <a:spLocks noChangeShapeType="1"/>
              </p:cNvSpPr>
              <p:nvPr/>
            </p:nvSpPr>
            <p:spPr bwMode="auto">
              <a:xfrm flipV="1">
                <a:off x="3867512" y="5220541"/>
                <a:ext cx="64486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1" name="Line 49"/>
              <p:cNvSpPr>
                <a:spLocks noChangeShapeType="1"/>
              </p:cNvSpPr>
              <p:nvPr/>
            </p:nvSpPr>
            <p:spPr bwMode="auto">
              <a:xfrm flipV="1">
                <a:off x="3931998" y="5191578"/>
                <a:ext cx="61092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2" name="Line 50"/>
              <p:cNvSpPr>
                <a:spLocks noChangeShapeType="1"/>
              </p:cNvSpPr>
              <p:nvPr/>
            </p:nvSpPr>
            <p:spPr bwMode="auto">
              <a:xfrm flipV="1">
                <a:off x="3993090" y="5157350"/>
                <a:ext cx="64486" cy="3422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3" name="Line 51"/>
              <p:cNvSpPr>
                <a:spLocks noChangeShapeType="1"/>
              </p:cNvSpPr>
              <p:nvPr/>
            </p:nvSpPr>
            <p:spPr bwMode="auto">
              <a:xfrm flipV="1">
                <a:off x="4057576" y="5120489"/>
                <a:ext cx="64486" cy="3686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4" name="Line 52"/>
              <p:cNvSpPr>
                <a:spLocks noChangeShapeType="1"/>
              </p:cNvSpPr>
              <p:nvPr/>
            </p:nvSpPr>
            <p:spPr bwMode="auto">
              <a:xfrm flipV="1">
                <a:off x="4122062" y="5078362"/>
                <a:ext cx="64486" cy="42127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5" name="Line 53"/>
              <p:cNvSpPr>
                <a:spLocks noChangeShapeType="1"/>
              </p:cNvSpPr>
              <p:nvPr/>
            </p:nvSpPr>
            <p:spPr bwMode="auto">
              <a:xfrm flipV="1">
                <a:off x="4186549" y="5033603"/>
                <a:ext cx="64486" cy="4476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6" name="Line 54"/>
              <p:cNvSpPr>
                <a:spLocks noChangeShapeType="1"/>
              </p:cNvSpPr>
              <p:nvPr/>
            </p:nvSpPr>
            <p:spPr bwMode="auto">
              <a:xfrm flipV="1">
                <a:off x="4251035" y="4986210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7" name="Line 55"/>
              <p:cNvSpPr>
                <a:spLocks noChangeShapeType="1"/>
              </p:cNvSpPr>
              <p:nvPr/>
            </p:nvSpPr>
            <p:spPr bwMode="auto">
              <a:xfrm flipV="1">
                <a:off x="4312127" y="4936184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8" name="Line 56"/>
              <p:cNvSpPr>
                <a:spLocks noChangeShapeType="1"/>
              </p:cNvSpPr>
              <p:nvPr/>
            </p:nvSpPr>
            <p:spPr bwMode="auto">
              <a:xfrm flipV="1">
                <a:off x="4376613" y="4883526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9" name="Line 57"/>
              <p:cNvSpPr>
                <a:spLocks noChangeShapeType="1"/>
              </p:cNvSpPr>
              <p:nvPr/>
            </p:nvSpPr>
            <p:spPr bwMode="auto">
              <a:xfrm flipV="1">
                <a:off x="4441099" y="4830867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0" name="Line 58"/>
              <p:cNvSpPr>
                <a:spLocks noChangeShapeType="1"/>
              </p:cNvSpPr>
              <p:nvPr/>
            </p:nvSpPr>
            <p:spPr bwMode="auto">
              <a:xfrm flipV="1">
                <a:off x="4505585" y="4775576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1" name="Line 59"/>
              <p:cNvSpPr>
                <a:spLocks noChangeShapeType="1"/>
              </p:cNvSpPr>
              <p:nvPr/>
            </p:nvSpPr>
            <p:spPr bwMode="auto">
              <a:xfrm flipV="1">
                <a:off x="4570071" y="4722917"/>
                <a:ext cx="61092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2" name="Line 60"/>
              <p:cNvSpPr>
                <a:spLocks noChangeShapeType="1"/>
              </p:cNvSpPr>
              <p:nvPr/>
            </p:nvSpPr>
            <p:spPr bwMode="auto">
              <a:xfrm flipV="1">
                <a:off x="4631164" y="4667626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3" name="Line 61"/>
              <p:cNvSpPr>
                <a:spLocks noChangeShapeType="1"/>
              </p:cNvSpPr>
              <p:nvPr/>
            </p:nvSpPr>
            <p:spPr bwMode="auto">
              <a:xfrm flipV="1">
                <a:off x="4695650" y="4614967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4" name="Line 62"/>
              <p:cNvSpPr>
                <a:spLocks noChangeShapeType="1"/>
              </p:cNvSpPr>
              <p:nvPr/>
            </p:nvSpPr>
            <p:spPr bwMode="auto">
              <a:xfrm flipV="1">
                <a:off x="4760136" y="4562309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5" name="Line 63"/>
              <p:cNvSpPr>
                <a:spLocks noChangeShapeType="1"/>
              </p:cNvSpPr>
              <p:nvPr/>
            </p:nvSpPr>
            <p:spPr bwMode="auto">
              <a:xfrm flipV="1">
                <a:off x="4824622" y="4512283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6" name="Line 64"/>
              <p:cNvSpPr>
                <a:spLocks noChangeShapeType="1"/>
              </p:cNvSpPr>
              <p:nvPr/>
            </p:nvSpPr>
            <p:spPr bwMode="auto">
              <a:xfrm flipV="1">
                <a:off x="4889108" y="4464890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7" name="Line 65"/>
              <p:cNvSpPr>
                <a:spLocks noChangeShapeType="1"/>
              </p:cNvSpPr>
              <p:nvPr/>
            </p:nvSpPr>
            <p:spPr bwMode="auto">
              <a:xfrm flipV="1">
                <a:off x="4950200" y="4420131"/>
                <a:ext cx="64486" cy="4476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8" name="Line 66"/>
              <p:cNvSpPr>
                <a:spLocks noChangeShapeType="1"/>
              </p:cNvSpPr>
              <p:nvPr/>
            </p:nvSpPr>
            <p:spPr bwMode="auto">
              <a:xfrm flipV="1">
                <a:off x="5014686" y="4378004"/>
                <a:ext cx="64486" cy="42127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9" name="Line 67"/>
              <p:cNvSpPr>
                <a:spLocks noChangeShapeType="1"/>
              </p:cNvSpPr>
              <p:nvPr/>
            </p:nvSpPr>
            <p:spPr bwMode="auto">
              <a:xfrm flipV="1">
                <a:off x="5079173" y="4341143"/>
                <a:ext cx="64486" cy="3686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0" name="Line 68"/>
              <p:cNvSpPr>
                <a:spLocks noChangeShapeType="1"/>
              </p:cNvSpPr>
              <p:nvPr/>
            </p:nvSpPr>
            <p:spPr bwMode="auto">
              <a:xfrm flipV="1">
                <a:off x="5143659" y="4306915"/>
                <a:ext cx="61092" cy="3422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1" name="Line 69"/>
              <p:cNvSpPr>
                <a:spLocks noChangeShapeType="1"/>
              </p:cNvSpPr>
              <p:nvPr/>
            </p:nvSpPr>
            <p:spPr bwMode="auto">
              <a:xfrm flipV="1">
                <a:off x="5204751" y="4277953"/>
                <a:ext cx="64486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2" name="Line 70"/>
              <p:cNvSpPr>
                <a:spLocks noChangeShapeType="1"/>
              </p:cNvSpPr>
              <p:nvPr/>
            </p:nvSpPr>
            <p:spPr bwMode="auto">
              <a:xfrm flipV="1">
                <a:off x="5269237" y="4254256"/>
                <a:ext cx="64486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3" name="Line 71"/>
              <p:cNvSpPr>
                <a:spLocks noChangeShapeType="1"/>
              </p:cNvSpPr>
              <p:nvPr/>
            </p:nvSpPr>
            <p:spPr bwMode="auto">
              <a:xfrm flipV="1">
                <a:off x="5333723" y="4235826"/>
                <a:ext cx="64486" cy="1843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4" name="Line 72"/>
              <p:cNvSpPr>
                <a:spLocks noChangeShapeType="1"/>
              </p:cNvSpPr>
              <p:nvPr/>
            </p:nvSpPr>
            <p:spPr bwMode="auto">
              <a:xfrm flipV="1">
                <a:off x="5398209" y="4220028"/>
                <a:ext cx="64486" cy="1579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5" name="Line 73"/>
              <p:cNvSpPr>
                <a:spLocks noChangeShapeType="1"/>
              </p:cNvSpPr>
              <p:nvPr/>
            </p:nvSpPr>
            <p:spPr bwMode="auto">
              <a:xfrm flipV="1">
                <a:off x="5462695" y="4212129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6" name="Line 74"/>
              <p:cNvSpPr>
                <a:spLocks noChangeShapeType="1"/>
              </p:cNvSpPr>
              <p:nvPr/>
            </p:nvSpPr>
            <p:spPr bwMode="auto">
              <a:xfrm flipV="1">
                <a:off x="5527182" y="4209496"/>
                <a:ext cx="61092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7" name="Line 75"/>
              <p:cNvSpPr>
                <a:spLocks noChangeShapeType="1"/>
              </p:cNvSpPr>
              <p:nvPr/>
            </p:nvSpPr>
            <p:spPr bwMode="auto">
              <a:xfrm>
                <a:off x="5588274" y="4209496"/>
                <a:ext cx="64486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8" name="Line 76"/>
              <p:cNvSpPr>
                <a:spLocks noChangeShapeType="1"/>
              </p:cNvSpPr>
              <p:nvPr/>
            </p:nvSpPr>
            <p:spPr bwMode="auto">
              <a:xfrm>
                <a:off x="5652760" y="4212129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9" name="Line 77"/>
              <p:cNvSpPr>
                <a:spLocks noChangeShapeType="1"/>
              </p:cNvSpPr>
              <p:nvPr/>
            </p:nvSpPr>
            <p:spPr bwMode="auto">
              <a:xfrm>
                <a:off x="5717246" y="4220028"/>
                <a:ext cx="64486" cy="1316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0" name="Line 78"/>
              <p:cNvSpPr>
                <a:spLocks noChangeShapeType="1"/>
              </p:cNvSpPr>
              <p:nvPr/>
            </p:nvSpPr>
            <p:spPr bwMode="auto">
              <a:xfrm>
                <a:off x="5781732" y="4233193"/>
                <a:ext cx="64486" cy="1843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1" name="Line 79"/>
              <p:cNvSpPr>
                <a:spLocks noChangeShapeType="1"/>
              </p:cNvSpPr>
              <p:nvPr/>
            </p:nvSpPr>
            <p:spPr bwMode="auto">
              <a:xfrm>
                <a:off x="5846218" y="4251623"/>
                <a:ext cx="61092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2" name="Line 80"/>
              <p:cNvSpPr>
                <a:spLocks noChangeShapeType="1"/>
              </p:cNvSpPr>
              <p:nvPr/>
            </p:nvSpPr>
            <p:spPr bwMode="auto">
              <a:xfrm>
                <a:off x="5907310" y="4275320"/>
                <a:ext cx="64486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3" name="Line 81"/>
              <p:cNvSpPr>
                <a:spLocks noChangeShapeType="1"/>
              </p:cNvSpPr>
              <p:nvPr/>
            </p:nvSpPr>
            <p:spPr bwMode="auto">
              <a:xfrm>
                <a:off x="5971797" y="4304282"/>
                <a:ext cx="64486" cy="3159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4" name="Line 82"/>
              <p:cNvSpPr>
                <a:spLocks noChangeShapeType="1"/>
              </p:cNvSpPr>
              <p:nvPr/>
            </p:nvSpPr>
            <p:spPr bwMode="auto">
              <a:xfrm>
                <a:off x="6036283" y="4335877"/>
                <a:ext cx="64486" cy="3686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5" name="Line 83"/>
              <p:cNvSpPr>
                <a:spLocks noChangeShapeType="1"/>
              </p:cNvSpPr>
              <p:nvPr/>
            </p:nvSpPr>
            <p:spPr bwMode="auto">
              <a:xfrm>
                <a:off x="6100769" y="4372738"/>
                <a:ext cx="64486" cy="42127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6" name="Line 84"/>
              <p:cNvSpPr>
                <a:spLocks noChangeShapeType="1"/>
              </p:cNvSpPr>
              <p:nvPr/>
            </p:nvSpPr>
            <p:spPr bwMode="auto">
              <a:xfrm>
                <a:off x="6165255" y="4414865"/>
                <a:ext cx="61092" cy="4476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7" name="Line 85"/>
              <p:cNvSpPr>
                <a:spLocks noChangeShapeType="1"/>
              </p:cNvSpPr>
              <p:nvPr/>
            </p:nvSpPr>
            <p:spPr bwMode="auto">
              <a:xfrm>
                <a:off x="6226347" y="4459625"/>
                <a:ext cx="64486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8" name="Line 86"/>
              <p:cNvSpPr>
                <a:spLocks noChangeShapeType="1"/>
              </p:cNvSpPr>
              <p:nvPr/>
            </p:nvSpPr>
            <p:spPr bwMode="auto">
              <a:xfrm>
                <a:off x="6290833" y="4507017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9" name="Line 87"/>
              <p:cNvSpPr>
                <a:spLocks noChangeShapeType="1"/>
              </p:cNvSpPr>
              <p:nvPr/>
            </p:nvSpPr>
            <p:spPr bwMode="auto">
              <a:xfrm>
                <a:off x="6355320" y="4557043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0" name="Line 88"/>
              <p:cNvSpPr>
                <a:spLocks noChangeShapeType="1"/>
              </p:cNvSpPr>
              <p:nvPr/>
            </p:nvSpPr>
            <p:spPr bwMode="auto">
              <a:xfrm>
                <a:off x="6419806" y="4609701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1" name="Line 89"/>
              <p:cNvSpPr>
                <a:spLocks noChangeShapeType="1"/>
              </p:cNvSpPr>
              <p:nvPr/>
            </p:nvSpPr>
            <p:spPr bwMode="auto">
              <a:xfrm>
                <a:off x="6484292" y="4662360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2" name="Line 90"/>
              <p:cNvSpPr>
                <a:spLocks noChangeShapeType="1"/>
              </p:cNvSpPr>
              <p:nvPr/>
            </p:nvSpPr>
            <p:spPr bwMode="auto">
              <a:xfrm>
                <a:off x="6548778" y="4717651"/>
                <a:ext cx="61092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3" name="Line 91"/>
              <p:cNvSpPr>
                <a:spLocks noChangeShapeType="1"/>
              </p:cNvSpPr>
              <p:nvPr/>
            </p:nvSpPr>
            <p:spPr bwMode="auto">
              <a:xfrm>
                <a:off x="6609870" y="4770310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4" name="Line 92"/>
              <p:cNvSpPr>
                <a:spLocks noChangeShapeType="1"/>
              </p:cNvSpPr>
              <p:nvPr/>
            </p:nvSpPr>
            <p:spPr bwMode="auto">
              <a:xfrm>
                <a:off x="6674356" y="4825601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5" name="Line 93"/>
              <p:cNvSpPr>
                <a:spLocks noChangeShapeType="1"/>
              </p:cNvSpPr>
              <p:nvPr/>
            </p:nvSpPr>
            <p:spPr bwMode="auto">
              <a:xfrm>
                <a:off x="6738842" y="4878260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6" name="Line 94"/>
              <p:cNvSpPr>
                <a:spLocks noChangeShapeType="1"/>
              </p:cNvSpPr>
              <p:nvPr/>
            </p:nvSpPr>
            <p:spPr bwMode="auto">
              <a:xfrm>
                <a:off x="6803329" y="4930919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7" name="Line 95"/>
              <p:cNvSpPr>
                <a:spLocks noChangeShapeType="1"/>
              </p:cNvSpPr>
              <p:nvPr/>
            </p:nvSpPr>
            <p:spPr bwMode="auto">
              <a:xfrm>
                <a:off x="6867815" y="4980944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8" name="Line 96"/>
              <p:cNvSpPr>
                <a:spLocks noChangeShapeType="1"/>
              </p:cNvSpPr>
              <p:nvPr/>
            </p:nvSpPr>
            <p:spPr bwMode="auto">
              <a:xfrm>
                <a:off x="6928907" y="5028337"/>
                <a:ext cx="64486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9" name="Line 97"/>
              <p:cNvSpPr>
                <a:spLocks noChangeShapeType="1"/>
              </p:cNvSpPr>
              <p:nvPr/>
            </p:nvSpPr>
            <p:spPr bwMode="auto">
              <a:xfrm>
                <a:off x="6993393" y="5075730"/>
                <a:ext cx="64486" cy="39494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0" name="Line 98"/>
              <p:cNvSpPr>
                <a:spLocks noChangeShapeType="1"/>
              </p:cNvSpPr>
              <p:nvPr/>
            </p:nvSpPr>
            <p:spPr bwMode="auto">
              <a:xfrm>
                <a:off x="7057879" y="5115223"/>
                <a:ext cx="64486" cy="39494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1" name="Line 99"/>
              <p:cNvSpPr>
                <a:spLocks noChangeShapeType="1"/>
              </p:cNvSpPr>
              <p:nvPr/>
            </p:nvSpPr>
            <p:spPr bwMode="auto">
              <a:xfrm>
                <a:off x="7122365" y="5154717"/>
                <a:ext cx="64486" cy="3422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2" name="Line 100"/>
              <p:cNvSpPr>
                <a:spLocks noChangeShapeType="1"/>
              </p:cNvSpPr>
              <p:nvPr/>
            </p:nvSpPr>
            <p:spPr bwMode="auto">
              <a:xfrm>
                <a:off x="7186851" y="5188945"/>
                <a:ext cx="64486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3" name="Line 101"/>
              <p:cNvSpPr>
                <a:spLocks noChangeShapeType="1"/>
              </p:cNvSpPr>
              <p:nvPr/>
            </p:nvSpPr>
            <p:spPr bwMode="auto">
              <a:xfrm>
                <a:off x="7251338" y="5217908"/>
                <a:ext cx="61092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4" name="Line 102"/>
              <p:cNvSpPr>
                <a:spLocks noChangeShapeType="1"/>
              </p:cNvSpPr>
              <p:nvPr/>
            </p:nvSpPr>
            <p:spPr bwMode="auto">
              <a:xfrm>
                <a:off x="7312430" y="5241604"/>
                <a:ext cx="64486" cy="2106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5" name="Line 103"/>
              <p:cNvSpPr>
                <a:spLocks noChangeShapeType="1"/>
              </p:cNvSpPr>
              <p:nvPr/>
            </p:nvSpPr>
            <p:spPr bwMode="auto">
              <a:xfrm>
                <a:off x="7376916" y="5262667"/>
                <a:ext cx="64486" cy="1316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6" name="Line 104"/>
              <p:cNvSpPr>
                <a:spLocks noChangeShapeType="1"/>
              </p:cNvSpPr>
              <p:nvPr/>
            </p:nvSpPr>
            <p:spPr bwMode="auto">
              <a:xfrm>
                <a:off x="7441402" y="5275832"/>
                <a:ext cx="64486" cy="1053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7" name="Line 105"/>
              <p:cNvSpPr>
                <a:spLocks noChangeShapeType="1"/>
              </p:cNvSpPr>
              <p:nvPr/>
            </p:nvSpPr>
            <p:spPr bwMode="auto">
              <a:xfrm>
                <a:off x="7505888" y="5286364"/>
                <a:ext cx="64486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8" name="Line 106"/>
              <p:cNvSpPr>
                <a:spLocks noChangeShapeType="1"/>
              </p:cNvSpPr>
              <p:nvPr/>
            </p:nvSpPr>
            <p:spPr bwMode="auto">
              <a:xfrm flipV="1">
                <a:off x="7570374" y="5286364"/>
                <a:ext cx="61092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9" name="Line 107"/>
              <p:cNvSpPr>
                <a:spLocks noChangeShapeType="1"/>
              </p:cNvSpPr>
              <p:nvPr/>
            </p:nvSpPr>
            <p:spPr bwMode="auto">
              <a:xfrm flipV="1">
                <a:off x="7631466" y="5278465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8387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6529" y="1138011"/>
            <a:ext cx="5822043" cy="5072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78201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0"/>
            <a:ext cx="7086600" cy="1143000"/>
          </a:xfrm>
        </p:spPr>
        <p:txBody>
          <a:bodyPr/>
          <a:lstStyle/>
          <a:p>
            <a:pPr eaLnBrk="1" hangingPunct="1"/>
            <a:r>
              <a:rPr lang="en-US" sz="2800"/>
              <a:t>Comparison: SHM Position and Velocity</a:t>
            </a: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2B587FC-CA32-4FF2-A864-10F10D7E640D}" type="slidenum">
              <a:rPr lang="en-US"/>
              <a:pPr/>
              <a:t>8</a:t>
            </a:fld>
            <a:endParaRPr lang="en-US"/>
          </a:p>
        </p:txBody>
      </p:sp>
      <p:graphicFrame>
        <p:nvGraphicFramePr>
          <p:cNvPr id="11266" name="Object 6"/>
          <p:cNvGraphicFramePr>
            <a:graphicFrameLocks noChangeAspect="1"/>
          </p:cNvGraphicFramePr>
          <p:nvPr/>
        </p:nvGraphicFramePr>
        <p:xfrm>
          <a:off x="2105025" y="2049463"/>
          <a:ext cx="3557588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228600" progId="Equation.3">
                  <p:embed/>
                </p:oleObj>
              </mc:Choice>
              <mc:Fallback>
                <p:oleObj name="Equation" r:id="rId2" imgW="1346040" imgH="228600" progId="Equation.3">
                  <p:embed/>
                  <p:pic>
                    <p:nvPicPr>
                      <p:cNvPr id="112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5" y="2049463"/>
                        <a:ext cx="3557588" cy="608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7"/>
          <p:cNvGraphicFramePr>
            <a:graphicFrameLocks noChangeAspect="1"/>
          </p:cNvGraphicFramePr>
          <p:nvPr/>
        </p:nvGraphicFramePr>
        <p:xfrm>
          <a:off x="2008188" y="2947989"/>
          <a:ext cx="3910012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0" imgH="228600" progId="Equation.3">
                  <p:embed/>
                </p:oleObj>
              </mc:Choice>
              <mc:Fallback>
                <p:oleObj name="Equation" r:id="rId4" imgW="1396800" imgH="228600" progId="Equation.3">
                  <p:embed/>
                  <p:pic>
                    <p:nvPicPr>
                      <p:cNvPr id="112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188" y="2947989"/>
                        <a:ext cx="3910012" cy="642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4397375" y="1174751"/>
            <a:ext cx="5989638" cy="5692775"/>
            <a:chOff x="1810" y="740"/>
            <a:chExt cx="3773" cy="3586"/>
          </a:xfrm>
        </p:grpSpPr>
        <p:pic>
          <p:nvPicPr>
            <p:cNvPr id="11272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424" y="3020"/>
              <a:ext cx="1525" cy="1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73" name="Text Box 8"/>
            <p:cNvSpPr txBox="1">
              <a:spLocks noChangeArrowheads="1"/>
            </p:cNvSpPr>
            <p:nvPr/>
          </p:nvSpPr>
          <p:spPr bwMode="auto">
            <a:xfrm>
              <a:off x="4856" y="4148"/>
              <a:ext cx="15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/>
                <a:t>T</a:t>
              </a:r>
            </a:p>
          </p:txBody>
        </p:sp>
        <p:sp>
          <p:nvSpPr>
            <p:cNvPr id="11274" name="Text Box 9"/>
            <p:cNvSpPr txBox="1">
              <a:spLocks noChangeArrowheads="1"/>
            </p:cNvSpPr>
            <p:nvPr/>
          </p:nvSpPr>
          <p:spPr bwMode="auto">
            <a:xfrm>
              <a:off x="4076" y="4172"/>
              <a:ext cx="23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/>
                <a:t>T/2</a:t>
              </a:r>
            </a:p>
          </p:txBody>
        </p:sp>
        <p:pic>
          <p:nvPicPr>
            <p:cNvPr id="11275" name="Picture 10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424" y="740"/>
              <a:ext cx="1525" cy="1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276" name="Picture 1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432" y="1796"/>
              <a:ext cx="1525" cy="1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77" name="Line 12"/>
            <p:cNvSpPr>
              <a:spLocks noChangeShapeType="1"/>
            </p:cNvSpPr>
            <p:nvPr/>
          </p:nvSpPr>
          <p:spPr bwMode="auto">
            <a:xfrm>
              <a:off x="4169" y="1135"/>
              <a:ext cx="15" cy="30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8" name="Line 13"/>
            <p:cNvSpPr>
              <a:spLocks noChangeShapeType="1"/>
            </p:cNvSpPr>
            <p:nvPr/>
          </p:nvSpPr>
          <p:spPr bwMode="auto">
            <a:xfrm>
              <a:off x="4889" y="1087"/>
              <a:ext cx="15" cy="30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9" name="Line 14"/>
            <p:cNvSpPr>
              <a:spLocks noChangeShapeType="1"/>
            </p:cNvSpPr>
            <p:nvPr/>
          </p:nvSpPr>
          <p:spPr bwMode="auto">
            <a:xfrm>
              <a:off x="3416" y="2517"/>
              <a:ext cx="3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1268" name="Object 15"/>
            <p:cNvGraphicFramePr>
              <a:graphicFrameLocks noChangeAspect="1"/>
            </p:cNvGraphicFramePr>
            <p:nvPr/>
          </p:nvGraphicFramePr>
          <p:xfrm>
            <a:off x="3019" y="2401"/>
            <a:ext cx="365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80880" imgH="228600" progId="Equation.3">
                    <p:embed/>
                  </p:oleObj>
                </mc:Choice>
                <mc:Fallback>
                  <p:oleObj name="Equation" r:id="rId9" imgW="380880" imgH="228600" progId="Equation.3">
                    <p:embed/>
                    <p:pic>
                      <p:nvPicPr>
                        <p:cNvPr id="11268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9" y="2401"/>
                          <a:ext cx="365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0" name="Line 16"/>
            <p:cNvSpPr>
              <a:spLocks noChangeShapeType="1"/>
            </p:cNvSpPr>
            <p:nvPr/>
          </p:nvSpPr>
          <p:spPr bwMode="auto">
            <a:xfrm>
              <a:off x="2961" y="3422"/>
              <a:ext cx="375" cy="1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1" name="Text Box 17"/>
            <p:cNvSpPr txBox="1">
              <a:spLocks noChangeArrowheads="1"/>
            </p:cNvSpPr>
            <p:nvPr/>
          </p:nvSpPr>
          <p:spPr bwMode="auto">
            <a:xfrm>
              <a:off x="3593" y="3076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/>
                <a:t>x</a:t>
              </a:r>
            </a:p>
          </p:txBody>
        </p:sp>
        <p:sp>
          <p:nvSpPr>
            <p:cNvPr id="11282" name="Text Box 18"/>
            <p:cNvSpPr txBox="1">
              <a:spLocks noChangeArrowheads="1"/>
            </p:cNvSpPr>
            <p:nvPr/>
          </p:nvSpPr>
          <p:spPr bwMode="auto">
            <a:xfrm>
              <a:off x="3663" y="3748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/>
                <a:t>v</a:t>
              </a:r>
            </a:p>
          </p:txBody>
        </p:sp>
        <p:sp>
          <p:nvSpPr>
            <p:cNvPr id="11283" name="Line 19"/>
            <p:cNvSpPr>
              <a:spLocks noChangeShapeType="1"/>
            </p:cNvSpPr>
            <p:nvPr/>
          </p:nvSpPr>
          <p:spPr bwMode="auto">
            <a:xfrm flipV="1">
              <a:off x="2954" y="3054"/>
              <a:ext cx="390" cy="3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Text Box 20"/>
            <p:cNvSpPr txBox="1">
              <a:spLocks noChangeArrowheads="1"/>
            </p:cNvSpPr>
            <p:nvPr/>
          </p:nvSpPr>
          <p:spPr bwMode="auto">
            <a:xfrm>
              <a:off x="1810" y="3305"/>
              <a:ext cx="109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When </a:t>
              </a:r>
              <a:r>
                <a:rPr lang="en-US" sz="1600" i="1"/>
                <a:t>x =x</a:t>
              </a:r>
              <a:r>
                <a:rPr lang="en-US" sz="1600" i="1" baseline="-25000"/>
                <a:t>max</a:t>
              </a:r>
              <a:r>
                <a:rPr lang="en-US" sz="1600"/>
                <a:t>, </a:t>
              </a:r>
              <a:r>
                <a:rPr lang="en-US" sz="1600" i="1"/>
                <a:t>v=0</a:t>
              </a:r>
            </a:p>
          </p:txBody>
        </p:sp>
        <p:sp>
          <p:nvSpPr>
            <p:cNvPr id="11285" name="Text Box 21"/>
            <p:cNvSpPr txBox="1">
              <a:spLocks noChangeArrowheads="1"/>
            </p:cNvSpPr>
            <p:nvPr/>
          </p:nvSpPr>
          <p:spPr bwMode="auto">
            <a:xfrm>
              <a:off x="1819" y="3721"/>
              <a:ext cx="106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When </a:t>
              </a:r>
              <a:r>
                <a:rPr lang="en-US" sz="1600" i="1"/>
                <a:t>v=v</a:t>
              </a:r>
              <a:r>
                <a:rPr lang="en-US" sz="1600" i="1" baseline="-25000"/>
                <a:t>max</a:t>
              </a:r>
              <a:r>
                <a:rPr lang="en-US" sz="1600" i="1"/>
                <a:t>, x=0</a:t>
              </a:r>
            </a:p>
          </p:txBody>
        </p:sp>
        <p:sp>
          <p:nvSpPr>
            <p:cNvPr id="11286" name="Line 22"/>
            <p:cNvSpPr>
              <a:spLocks noChangeShapeType="1"/>
            </p:cNvSpPr>
            <p:nvPr/>
          </p:nvSpPr>
          <p:spPr bwMode="auto">
            <a:xfrm flipV="1">
              <a:off x="2901" y="3759"/>
              <a:ext cx="795" cy="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Line 23"/>
            <p:cNvSpPr>
              <a:spLocks noChangeShapeType="1"/>
            </p:cNvSpPr>
            <p:nvPr/>
          </p:nvSpPr>
          <p:spPr bwMode="auto">
            <a:xfrm flipV="1">
              <a:off x="2904" y="3551"/>
              <a:ext cx="840" cy="2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Line 24"/>
            <p:cNvSpPr>
              <a:spLocks noChangeShapeType="1"/>
            </p:cNvSpPr>
            <p:nvPr/>
          </p:nvSpPr>
          <p:spPr bwMode="auto">
            <a:xfrm flipV="1">
              <a:off x="4544" y="2927"/>
              <a:ext cx="1" cy="5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Text Box 25"/>
            <p:cNvSpPr txBox="1">
              <a:spLocks noChangeArrowheads="1"/>
            </p:cNvSpPr>
            <p:nvPr/>
          </p:nvSpPr>
          <p:spPr bwMode="auto">
            <a:xfrm>
              <a:off x="4533" y="2646"/>
              <a:ext cx="1050" cy="2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/>
                <a:t>90</a:t>
              </a:r>
              <a:r>
                <a:rPr lang="en-US" sz="1600">
                  <a:sym typeface="Symbol" pitchFamily="18" charset="2"/>
                </a:rPr>
                <a:t> out of phase</a:t>
              </a:r>
            </a:p>
          </p:txBody>
        </p:sp>
        <p:sp>
          <p:nvSpPr>
            <p:cNvPr id="11290" name="Line 26"/>
            <p:cNvSpPr>
              <a:spLocks noChangeShapeType="1"/>
            </p:cNvSpPr>
            <p:nvPr/>
          </p:nvSpPr>
          <p:spPr bwMode="auto">
            <a:xfrm>
              <a:off x="4565" y="2949"/>
              <a:ext cx="32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3176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123.1.9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does it mean for two oscillators to be “in phase?”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That they have the same position relative to the Sun.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That they rise and fall together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That they both have emotional episodes related to growth in children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 saw this on Star Trek, it means they are in the same place, but you can’t see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6.10</a:t>
            </a:r>
          </a:p>
        </p:txBody>
      </p:sp>
      <p:sp>
        <p:nvSpPr>
          <p:cNvPr id="12" name="Content Placeholder 9"/>
          <p:cNvSpPr txBox="1">
            <a:spLocks/>
          </p:cNvSpPr>
          <p:nvPr/>
        </p:nvSpPr>
        <p:spPr>
          <a:xfrm>
            <a:off x="1981200" y="1371601"/>
            <a:ext cx="3505200" cy="4754563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800" kern="0" dirty="0"/>
              <a:t>Compare the graphs of simple harmonic motion to the right the blue curve has a different _______ than the other one</a:t>
            </a:r>
          </a:p>
        </p:txBody>
      </p:sp>
      <p:sp>
        <p:nvSpPr>
          <p:cNvPr id="14" name="Content Placeholder 9"/>
          <p:cNvSpPr txBox="1">
            <a:spLocks/>
          </p:cNvSpPr>
          <p:nvPr/>
        </p:nvSpPr>
        <p:spPr bwMode="auto">
          <a:xfrm>
            <a:off x="2362200" y="4648201"/>
            <a:ext cx="259080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>
              <a:spcBef>
                <a:spcPct val="20000"/>
              </a:spcBef>
              <a:defRPr/>
            </a:pPr>
            <a:r>
              <a:rPr lang="en-US" sz="2800" kern="0" dirty="0"/>
              <a:t>a) Amplitude</a:t>
            </a:r>
          </a:p>
          <a:p>
            <a:pPr marL="514350" indent="-514350">
              <a:spcBef>
                <a:spcPct val="20000"/>
              </a:spcBef>
              <a:defRPr/>
            </a:pPr>
            <a:r>
              <a:rPr lang="en-US" sz="2800" kern="0" dirty="0"/>
              <a:t>b) Frequency </a:t>
            </a:r>
          </a:p>
        </p:txBody>
      </p:sp>
      <p:sp>
        <p:nvSpPr>
          <p:cNvPr id="15" name="Content Placeholder 9"/>
          <p:cNvSpPr txBox="1">
            <a:spLocks/>
          </p:cNvSpPr>
          <p:nvPr/>
        </p:nvSpPr>
        <p:spPr bwMode="auto">
          <a:xfrm>
            <a:off x="7162800" y="4648201"/>
            <a:ext cx="259080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>
              <a:spcBef>
                <a:spcPct val="20000"/>
              </a:spcBef>
              <a:defRPr/>
            </a:pPr>
            <a:r>
              <a:rPr lang="en-US" sz="2800" kern="0" dirty="0"/>
              <a:t>c) Period</a:t>
            </a:r>
          </a:p>
          <a:p>
            <a:pPr marL="514350" indent="-514350">
              <a:spcBef>
                <a:spcPct val="20000"/>
              </a:spcBef>
              <a:defRPr/>
            </a:pPr>
            <a:r>
              <a:rPr lang="en-US" sz="2800" kern="0" dirty="0"/>
              <a:t>d) Phase</a:t>
            </a:r>
          </a:p>
        </p:txBody>
      </p:sp>
      <p:grpSp>
        <p:nvGrpSpPr>
          <p:cNvPr id="443397" name="Group 211"/>
          <p:cNvGrpSpPr>
            <a:grpSpLocks/>
          </p:cNvGrpSpPr>
          <p:nvPr/>
        </p:nvGrpSpPr>
        <p:grpSpPr bwMode="auto">
          <a:xfrm>
            <a:off x="5703888" y="1636714"/>
            <a:ext cx="4735512" cy="2630487"/>
            <a:chOff x="4179346" y="1637246"/>
            <a:chExt cx="4736054" cy="2629954"/>
          </a:xfrm>
        </p:grpSpPr>
        <p:pic>
          <p:nvPicPr>
            <p:cNvPr id="44339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179346" y="1637246"/>
              <a:ext cx="4507454" cy="26299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43399" name="Group 8"/>
            <p:cNvGrpSpPr>
              <a:grpSpLocks/>
            </p:cNvGrpSpPr>
            <p:nvPr/>
          </p:nvGrpSpPr>
          <p:grpSpPr bwMode="auto">
            <a:xfrm flipH="1">
              <a:off x="4724400" y="2286000"/>
              <a:ext cx="2209800" cy="1369056"/>
              <a:chOff x="1322006" y="4117344"/>
              <a:chExt cx="6560617" cy="1269071"/>
            </a:xfrm>
          </p:grpSpPr>
          <p:sp>
            <p:nvSpPr>
              <p:cNvPr id="443500" name="AutoShape 5"/>
              <p:cNvSpPr>
                <a:spLocks noChangeAspect="1" noChangeArrowheads="1" noTextEdit="1"/>
              </p:cNvSpPr>
              <p:nvPr/>
            </p:nvSpPr>
            <p:spPr bwMode="auto">
              <a:xfrm>
                <a:off x="1322006" y="4117344"/>
                <a:ext cx="6560617" cy="12690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1" name="Line 10"/>
              <p:cNvSpPr>
                <a:spLocks noChangeShapeType="1"/>
              </p:cNvSpPr>
              <p:nvPr/>
            </p:nvSpPr>
            <p:spPr bwMode="auto">
              <a:xfrm flipV="1">
                <a:off x="1440796" y="4220028"/>
                <a:ext cx="64486" cy="1053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2" name="Line 11"/>
              <p:cNvSpPr>
                <a:spLocks noChangeShapeType="1"/>
              </p:cNvSpPr>
              <p:nvPr/>
            </p:nvSpPr>
            <p:spPr bwMode="auto">
              <a:xfrm flipV="1">
                <a:off x="1505282" y="4212129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3" name="Line 12"/>
              <p:cNvSpPr>
                <a:spLocks noChangeShapeType="1"/>
              </p:cNvSpPr>
              <p:nvPr/>
            </p:nvSpPr>
            <p:spPr bwMode="auto">
              <a:xfrm flipV="1">
                <a:off x="1569769" y="4209496"/>
                <a:ext cx="61092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4" name="Line 13"/>
              <p:cNvSpPr>
                <a:spLocks noChangeShapeType="1"/>
              </p:cNvSpPr>
              <p:nvPr/>
            </p:nvSpPr>
            <p:spPr bwMode="auto">
              <a:xfrm>
                <a:off x="1630861" y="4209496"/>
                <a:ext cx="64486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5" name="Line 14"/>
              <p:cNvSpPr>
                <a:spLocks noChangeShapeType="1"/>
              </p:cNvSpPr>
              <p:nvPr/>
            </p:nvSpPr>
            <p:spPr bwMode="auto">
              <a:xfrm>
                <a:off x="1695347" y="4212129"/>
                <a:ext cx="64486" cy="1053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6" name="Line 15"/>
              <p:cNvSpPr>
                <a:spLocks noChangeShapeType="1"/>
              </p:cNvSpPr>
              <p:nvPr/>
            </p:nvSpPr>
            <p:spPr bwMode="auto">
              <a:xfrm>
                <a:off x="1759833" y="4222661"/>
                <a:ext cx="64486" cy="1316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7" name="Line 16"/>
              <p:cNvSpPr>
                <a:spLocks noChangeShapeType="1"/>
              </p:cNvSpPr>
              <p:nvPr/>
            </p:nvSpPr>
            <p:spPr bwMode="auto">
              <a:xfrm>
                <a:off x="1824319" y="4235826"/>
                <a:ext cx="64486" cy="2106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8" name="Line 17"/>
              <p:cNvSpPr>
                <a:spLocks noChangeShapeType="1"/>
              </p:cNvSpPr>
              <p:nvPr/>
            </p:nvSpPr>
            <p:spPr bwMode="auto">
              <a:xfrm>
                <a:off x="1888805" y="4256889"/>
                <a:ext cx="61092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09" name="Line 18"/>
              <p:cNvSpPr>
                <a:spLocks noChangeShapeType="1"/>
              </p:cNvSpPr>
              <p:nvPr/>
            </p:nvSpPr>
            <p:spPr bwMode="auto">
              <a:xfrm>
                <a:off x="1949897" y="4280585"/>
                <a:ext cx="64486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0" name="Line 19"/>
              <p:cNvSpPr>
                <a:spLocks noChangeShapeType="1"/>
              </p:cNvSpPr>
              <p:nvPr/>
            </p:nvSpPr>
            <p:spPr bwMode="auto">
              <a:xfrm>
                <a:off x="2014384" y="4309548"/>
                <a:ext cx="64486" cy="3422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1" name="Line 20"/>
              <p:cNvSpPr>
                <a:spLocks noChangeShapeType="1"/>
              </p:cNvSpPr>
              <p:nvPr/>
            </p:nvSpPr>
            <p:spPr bwMode="auto">
              <a:xfrm>
                <a:off x="2078870" y="4343776"/>
                <a:ext cx="64486" cy="3686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2" name="Line 21"/>
              <p:cNvSpPr>
                <a:spLocks noChangeShapeType="1"/>
              </p:cNvSpPr>
              <p:nvPr/>
            </p:nvSpPr>
            <p:spPr bwMode="auto">
              <a:xfrm>
                <a:off x="2143356" y="4380637"/>
                <a:ext cx="64486" cy="42127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3" name="Line 22"/>
              <p:cNvSpPr>
                <a:spLocks noChangeShapeType="1"/>
              </p:cNvSpPr>
              <p:nvPr/>
            </p:nvSpPr>
            <p:spPr bwMode="auto">
              <a:xfrm>
                <a:off x="2207842" y="4422764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4" name="Line 23"/>
              <p:cNvSpPr>
                <a:spLocks noChangeShapeType="1"/>
              </p:cNvSpPr>
              <p:nvPr/>
            </p:nvSpPr>
            <p:spPr bwMode="auto">
              <a:xfrm>
                <a:off x="2268934" y="4470156"/>
                <a:ext cx="64486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5" name="Line 24"/>
              <p:cNvSpPr>
                <a:spLocks noChangeShapeType="1"/>
              </p:cNvSpPr>
              <p:nvPr/>
            </p:nvSpPr>
            <p:spPr bwMode="auto">
              <a:xfrm>
                <a:off x="2333420" y="4517549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6" name="Line 25"/>
              <p:cNvSpPr>
                <a:spLocks noChangeShapeType="1"/>
              </p:cNvSpPr>
              <p:nvPr/>
            </p:nvSpPr>
            <p:spPr bwMode="auto">
              <a:xfrm>
                <a:off x="2397906" y="4567575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7" name="Line 26"/>
              <p:cNvSpPr>
                <a:spLocks noChangeShapeType="1"/>
              </p:cNvSpPr>
              <p:nvPr/>
            </p:nvSpPr>
            <p:spPr bwMode="auto">
              <a:xfrm>
                <a:off x="2462393" y="4620233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8" name="Line 27"/>
              <p:cNvSpPr>
                <a:spLocks noChangeShapeType="1"/>
              </p:cNvSpPr>
              <p:nvPr/>
            </p:nvSpPr>
            <p:spPr bwMode="auto">
              <a:xfrm>
                <a:off x="2526879" y="4672892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19" name="Line 28"/>
              <p:cNvSpPr>
                <a:spLocks noChangeShapeType="1"/>
              </p:cNvSpPr>
              <p:nvPr/>
            </p:nvSpPr>
            <p:spPr bwMode="auto">
              <a:xfrm>
                <a:off x="2591365" y="4728183"/>
                <a:ext cx="61092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0" name="Line 29"/>
              <p:cNvSpPr>
                <a:spLocks noChangeShapeType="1"/>
              </p:cNvSpPr>
              <p:nvPr/>
            </p:nvSpPr>
            <p:spPr bwMode="auto">
              <a:xfrm>
                <a:off x="2652457" y="4780842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1" name="Line 30"/>
              <p:cNvSpPr>
                <a:spLocks noChangeShapeType="1"/>
              </p:cNvSpPr>
              <p:nvPr/>
            </p:nvSpPr>
            <p:spPr bwMode="auto">
              <a:xfrm>
                <a:off x="2716943" y="4836133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2" name="Line 31"/>
              <p:cNvSpPr>
                <a:spLocks noChangeShapeType="1"/>
              </p:cNvSpPr>
              <p:nvPr/>
            </p:nvSpPr>
            <p:spPr bwMode="auto">
              <a:xfrm>
                <a:off x="2781429" y="4888792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3" name="Line 32"/>
              <p:cNvSpPr>
                <a:spLocks noChangeShapeType="1"/>
              </p:cNvSpPr>
              <p:nvPr/>
            </p:nvSpPr>
            <p:spPr bwMode="auto">
              <a:xfrm>
                <a:off x="2845915" y="4941450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4" name="Line 33"/>
              <p:cNvSpPr>
                <a:spLocks noChangeShapeType="1"/>
              </p:cNvSpPr>
              <p:nvPr/>
            </p:nvSpPr>
            <p:spPr bwMode="auto">
              <a:xfrm>
                <a:off x="2910402" y="4991476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5" name="Line 34"/>
              <p:cNvSpPr>
                <a:spLocks noChangeShapeType="1"/>
              </p:cNvSpPr>
              <p:nvPr/>
            </p:nvSpPr>
            <p:spPr bwMode="auto">
              <a:xfrm>
                <a:off x="2971494" y="5038869"/>
                <a:ext cx="64486" cy="4476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6" name="Line 35"/>
              <p:cNvSpPr>
                <a:spLocks noChangeShapeType="1"/>
              </p:cNvSpPr>
              <p:nvPr/>
            </p:nvSpPr>
            <p:spPr bwMode="auto">
              <a:xfrm>
                <a:off x="3035980" y="5083628"/>
                <a:ext cx="64486" cy="39494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7" name="Line 36"/>
              <p:cNvSpPr>
                <a:spLocks noChangeShapeType="1"/>
              </p:cNvSpPr>
              <p:nvPr/>
            </p:nvSpPr>
            <p:spPr bwMode="auto">
              <a:xfrm>
                <a:off x="3100466" y="5123122"/>
                <a:ext cx="64486" cy="39494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8" name="Line 37"/>
              <p:cNvSpPr>
                <a:spLocks noChangeShapeType="1"/>
              </p:cNvSpPr>
              <p:nvPr/>
            </p:nvSpPr>
            <p:spPr bwMode="auto">
              <a:xfrm>
                <a:off x="3164952" y="5162616"/>
                <a:ext cx="64486" cy="3159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29" name="Line 38"/>
              <p:cNvSpPr>
                <a:spLocks noChangeShapeType="1"/>
              </p:cNvSpPr>
              <p:nvPr/>
            </p:nvSpPr>
            <p:spPr bwMode="auto">
              <a:xfrm>
                <a:off x="3229438" y="5194211"/>
                <a:ext cx="61092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0" name="Line 39"/>
              <p:cNvSpPr>
                <a:spLocks noChangeShapeType="1"/>
              </p:cNvSpPr>
              <p:nvPr/>
            </p:nvSpPr>
            <p:spPr bwMode="auto">
              <a:xfrm>
                <a:off x="3290531" y="5223174"/>
                <a:ext cx="64486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1" name="Line 40"/>
              <p:cNvSpPr>
                <a:spLocks noChangeShapeType="1"/>
              </p:cNvSpPr>
              <p:nvPr/>
            </p:nvSpPr>
            <p:spPr bwMode="auto">
              <a:xfrm>
                <a:off x="3355017" y="5246870"/>
                <a:ext cx="64486" cy="1843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2" name="Line 41"/>
              <p:cNvSpPr>
                <a:spLocks noChangeShapeType="1"/>
              </p:cNvSpPr>
              <p:nvPr/>
            </p:nvSpPr>
            <p:spPr bwMode="auto">
              <a:xfrm>
                <a:off x="3419503" y="5265300"/>
                <a:ext cx="64486" cy="1316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3" name="Line 42"/>
              <p:cNvSpPr>
                <a:spLocks noChangeShapeType="1"/>
              </p:cNvSpPr>
              <p:nvPr/>
            </p:nvSpPr>
            <p:spPr bwMode="auto">
              <a:xfrm>
                <a:off x="3483989" y="5278465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4" name="Line 43"/>
              <p:cNvSpPr>
                <a:spLocks noChangeShapeType="1"/>
              </p:cNvSpPr>
              <p:nvPr/>
            </p:nvSpPr>
            <p:spPr bwMode="auto">
              <a:xfrm>
                <a:off x="3548475" y="5286364"/>
                <a:ext cx="64486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5" name="Line 44"/>
              <p:cNvSpPr>
                <a:spLocks noChangeShapeType="1"/>
              </p:cNvSpPr>
              <p:nvPr/>
            </p:nvSpPr>
            <p:spPr bwMode="auto">
              <a:xfrm flipV="1">
                <a:off x="3612961" y="5286364"/>
                <a:ext cx="61092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6" name="Line 45"/>
              <p:cNvSpPr>
                <a:spLocks noChangeShapeType="1"/>
              </p:cNvSpPr>
              <p:nvPr/>
            </p:nvSpPr>
            <p:spPr bwMode="auto">
              <a:xfrm flipV="1">
                <a:off x="3674053" y="5278465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7" name="Line 46"/>
              <p:cNvSpPr>
                <a:spLocks noChangeShapeType="1"/>
              </p:cNvSpPr>
              <p:nvPr/>
            </p:nvSpPr>
            <p:spPr bwMode="auto">
              <a:xfrm flipV="1">
                <a:off x="3738540" y="5262667"/>
                <a:ext cx="64486" cy="1579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8" name="Line 47"/>
              <p:cNvSpPr>
                <a:spLocks noChangeShapeType="1"/>
              </p:cNvSpPr>
              <p:nvPr/>
            </p:nvSpPr>
            <p:spPr bwMode="auto">
              <a:xfrm flipV="1">
                <a:off x="3803026" y="5244237"/>
                <a:ext cx="64486" cy="1843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39" name="Line 48"/>
              <p:cNvSpPr>
                <a:spLocks noChangeShapeType="1"/>
              </p:cNvSpPr>
              <p:nvPr/>
            </p:nvSpPr>
            <p:spPr bwMode="auto">
              <a:xfrm flipV="1">
                <a:off x="3867512" y="5220541"/>
                <a:ext cx="64486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0" name="Line 49"/>
              <p:cNvSpPr>
                <a:spLocks noChangeShapeType="1"/>
              </p:cNvSpPr>
              <p:nvPr/>
            </p:nvSpPr>
            <p:spPr bwMode="auto">
              <a:xfrm flipV="1">
                <a:off x="3931998" y="5191578"/>
                <a:ext cx="61092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1" name="Line 50"/>
              <p:cNvSpPr>
                <a:spLocks noChangeShapeType="1"/>
              </p:cNvSpPr>
              <p:nvPr/>
            </p:nvSpPr>
            <p:spPr bwMode="auto">
              <a:xfrm flipV="1">
                <a:off x="3993090" y="5157350"/>
                <a:ext cx="64486" cy="3422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2" name="Line 51"/>
              <p:cNvSpPr>
                <a:spLocks noChangeShapeType="1"/>
              </p:cNvSpPr>
              <p:nvPr/>
            </p:nvSpPr>
            <p:spPr bwMode="auto">
              <a:xfrm flipV="1">
                <a:off x="4057576" y="5120489"/>
                <a:ext cx="64486" cy="3686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3" name="Line 52"/>
              <p:cNvSpPr>
                <a:spLocks noChangeShapeType="1"/>
              </p:cNvSpPr>
              <p:nvPr/>
            </p:nvSpPr>
            <p:spPr bwMode="auto">
              <a:xfrm flipV="1">
                <a:off x="4122062" y="5078362"/>
                <a:ext cx="64486" cy="42127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4" name="Line 53"/>
              <p:cNvSpPr>
                <a:spLocks noChangeShapeType="1"/>
              </p:cNvSpPr>
              <p:nvPr/>
            </p:nvSpPr>
            <p:spPr bwMode="auto">
              <a:xfrm flipV="1">
                <a:off x="4186549" y="5033603"/>
                <a:ext cx="64486" cy="4476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5" name="Line 54"/>
              <p:cNvSpPr>
                <a:spLocks noChangeShapeType="1"/>
              </p:cNvSpPr>
              <p:nvPr/>
            </p:nvSpPr>
            <p:spPr bwMode="auto">
              <a:xfrm flipV="1">
                <a:off x="4251035" y="4986210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6" name="Line 55"/>
              <p:cNvSpPr>
                <a:spLocks noChangeShapeType="1"/>
              </p:cNvSpPr>
              <p:nvPr/>
            </p:nvSpPr>
            <p:spPr bwMode="auto">
              <a:xfrm flipV="1">
                <a:off x="4312127" y="4936184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7" name="Line 56"/>
              <p:cNvSpPr>
                <a:spLocks noChangeShapeType="1"/>
              </p:cNvSpPr>
              <p:nvPr/>
            </p:nvSpPr>
            <p:spPr bwMode="auto">
              <a:xfrm flipV="1">
                <a:off x="4376613" y="4883526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8" name="Line 57"/>
              <p:cNvSpPr>
                <a:spLocks noChangeShapeType="1"/>
              </p:cNvSpPr>
              <p:nvPr/>
            </p:nvSpPr>
            <p:spPr bwMode="auto">
              <a:xfrm flipV="1">
                <a:off x="4441099" y="4830867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49" name="Line 58"/>
              <p:cNvSpPr>
                <a:spLocks noChangeShapeType="1"/>
              </p:cNvSpPr>
              <p:nvPr/>
            </p:nvSpPr>
            <p:spPr bwMode="auto">
              <a:xfrm flipV="1">
                <a:off x="4505585" y="4775576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0" name="Line 59"/>
              <p:cNvSpPr>
                <a:spLocks noChangeShapeType="1"/>
              </p:cNvSpPr>
              <p:nvPr/>
            </p:nvSpPr>
            <p:spPr bwMode="auto">
              <a:xfrm flipV="1">
                <a:off x="4570071" y="4722917"/>
                <a:ext cx="61092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1" name="Line 60"/>
              <p:cNvSpPr>
                <a:spLocks noChangeShapeType="1"/>
              </p:cNvSpPr>
              <p:nvPr/>
            </p:nvSpPr>
            <p:spPr bwMode="auto">
              <a:xfrm flipV="1">
                <a:off x="4631164" y="4667626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2" name="Line 61"/>
              <p:cNvSpPr>
                <a:spLocks noChangeShapeType="1"/>
              </p:cNvSpPr>
              <p:nvPr/>
            </p:nvSpPr>
            <p:spPr bwMode="auto">
              <a:xfrm flipV="1">
                <a:off x="4695650" y="4614967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3" name="Line 62"/>
              <p:cNvSpPr>
                <a:spLocks noChangeShapeType="1"/>
              </p:cNvSpPr>
              <p:nvPr/>
            </p:nvSpPr>
            <p:spPr bwMode="auto">
              <a:xfrm flipV="1">
                <a:off x="4760136" y="4562309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4" name="Line 63"/>
              <p:cNvSpPr>
                <a:spLocks noChangeShapeType="1"/>
              </p:cNvSpPr>
              <p:nvPr/>
            </p:nvSpPr>
            <p:spPr bwMode="auto">
              <a:xfrm flipV="1">
                <a:off x="4824622" y="4512283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5" name="Line 64"/>
              <p:cNvSpPr>
                <a:spLocks noChangeShapeType="1"/>
              </p:cNvSpPr>
              <p:nvPr/>
            </p:nvSpPr>
            <p:spPr bwMode="auto">
              <a:xfrm flipV="1">
                <a:off x="4889108" y="4464890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6" name="Line 65"/>
              <p:cNvSpPr>
                <a:spLocks noChangeShapeType="1"/>
              </p:cNvSpPr>
              <p:nvPr/>
            </p:nvSpPr>
            <p:spPr bwMode="auto">
              <a:xfrm flipV="1">
                <a:off x="4950200" y="4420131"/>
                <a:ext cx="64486" cy="4476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7" name="Line 66"/>
              <p:cNvSpPr>
                <a:spLocks noChangeShapeType="1"/>
              </p:cNvSpPr>
              <p:nvPr/>
            </p:nvSpPr>
            <p:spPr bwMode="auto">
              <a:xfrm flipV="1">
                <a:off x="5014686" y="4378004"/>
                <a:ext cx="64486" cy="42127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8" name="Line 67"/>
              <p:cNvSpPr>
                <a:spLocks noChangeShapeType="1"/>
              </p:cNvSpPr>
              <p:nvPr/>
            </p:nvSpPr>
            <p:spPr bwMode="auto">
              <a:xfrm flipV="1">
                <a:off x="5079173" y="4341143"/>
                <a:ext cx="64486" cy="3686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59" name="Line 68"/>
              <p:cNvSpPr>
                <a:spLocks noChangeShapeType="1"/>
              </p:cNvSpPr>
              <p:nvPr/>
            </p:nvSpPr>
            <p:spPr bwMode="auto">
              <a:xfrm flipV="1">
                <a:off x="5143659" y="4306915"/>
                <a:ext cx="61092" cy="3422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0" name="Line 69"/>
              <p:cNvSpPr>
                <a:spLocks noChangeShapeType="1"/>
              </p:cNvSpPr>
              <p:nvPr/>
            </p:nvSpPr>
            <p:spPr bwMode="auto">
              <a:xfrm flipV="1">
                <a:off x="5204751" y="4277953"/>
                <a:ext cx="64486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1" name="Line 70"/>
              <p:cNvSpPr>
                <a:spLocks noChangeShapeType="1"/>
              </p:cNvSpPr>
              <p:nvPr/>
            </p:nvSpPr>
            <p:spPr bwMode="auto">
              <a:xfrm flipV="1">
                <a:off x="5269237" y="4254256"/>
                <a:ext cx="64486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2" name="Line 71"/>
              <p:cNvSpPr>
                <a:spLocks noChangeShapeType="1"/>
              </p:cNvSpPr>
              <p:nvPr/>
            </p:nvSpPr>
            <p:spPr bwMode="auto">
              <a:xfrm flipV="1">
                <a:off x="5333723" y="4235826"/>
                <a:ext cx="64486" cy="1843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3" name="Line 72"/>
              <p:cNvSpPr>
                <a:spLocks noChangeShapeType="1"/>
              </p:cNvSpPr>
              <p:nvPr/>
            </p:nvSpPr>
            <p:spPr bwMode="auto">
              <a:xfrm flipV="1">
                <a:off x="5398209" y="4220028"/>
                <a:ext cx="64486" cy="1579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4" name="Line 73"/>
              <p:cNvSpPr>
                <a:spLocks noChangeShapeType="1"/>
              </p:cNvSpPr>
              <p:nvPr/>
            </p:nvSpPr>
            <p:spPr bwMode="auto">
              <a:xfrm flipV="1">
                <a:off x="5462695" y="4212129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5" name="Line 74"/>
              <p:cNvSpPr>
                <a:spLocks noChangeShapeType="1"/>
              </p:cNvSpPr>
              <p:nvPr/>
            </p:nvSpPr>
            <p:spPr bwMode="auto">
              <a:xfrm flipV="1">
                <a:off x="5527182" y="4209496"/>
                <a:ext cx="61092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6" name="Line 75"/>
              <p:cNvSpPr>
                <a:spLocks noChangeShapeType="1"/>
              </p:cNvSpPr>
              <p:nvPr/>
            </p:nvSpPr>
            <p:spPr bwMode="auto">
              <a:xfrm>
                <a:off x="5588274" y="4209496"/>
                <a:ext cx="64486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7" name="Line 76"/>
              <p:cNvSpPr>
                <a:spLocks noChangeShapeType="1"/>
              </p:cNvSpPr>
              <p:nvPr/>
            </p:nvSpPr>
            <p:spPr bwMode="auto">
              <a:xfrm>
                <a:off x="5652760" y="4212129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8" name="Line 77"/>
              <p:cNvSpPr>
                <a:spLocks noChangeShapeType="1"/>
              </p:cNvSpPr>
              <p:nvPr/>
            </p:nvSpPr>
            <p:spPr bwMode="auto">
              <a:xfrm>
                <a:off x="5717246" y="4220028"/>
                <a:ext cx="64486" cy="1316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69" name="Line 78"/>
              <p:cNvSpPr>
                <a:spLocks noChangeShapeType="1"/>
              </p:cNvSpPr>
              <p:nvPr/>
            </p:nvSpPr>
            <p:spPr bwMode="auto">
              <a:xfrm>
                <a:off x="5781732" y="4233193"/>
                <a:ext cx="64486" cy="1843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0" name="Line 79"/>
              <p:cNvSpPr>
                <a:spLocks noChangeShapeType="1"/>
              </p:cNvSpPr>
              <p:nvPr/>
            </p:nvSpPr>
            <p:spPr bwMode="auto">
              <a:xfrm>
                <a:off x="5846218" y="4251623"/>
                <a:ext cx="61092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1" name="Line 80"/>
              <p:cNvSpPr>
                <a:spLocks noChangeShapeType="1"/>
              </p:cNvSpPr>
              <p:nvPr/>
            </p:nvSpPr>
            <p:spPr bwMode="auto">
              <a:xfrm>
                <a:off x="5907310" y="4275320"/>
                <a:ext cx="64486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2" name="Line 81"/>
              <p:cNvSpPr>
                <a:spLocks noChangeShapeType="1"/>
              </p:cNvSpPr>
              <p:nvPr/>
            </p:nvSpPr>
            <p:spPr bwMode="auto">
              <a:xfrm>
                <a:off x="5971797" y="4304282"/>
                <a:ext cx="64486" cy="3159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3" name="Line 82"/>
              <p:cNvSpPr>
                <a:spLocks noChangeShapeType="1"/>
              </p:cNvSpPr>
              <p:nvPr/>
            </p:nvSpPr>
            <p:spPr bwMode="auto">
              <a:xfrm>
                <a:off x="6036283" y="4335877"/>
                <a:ext cx="64486" cy="3686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4" name="Line 83"/>
              <p:cNvSpPr>
                <a:spLocks noChangeShapeType="1"/>
              </p:cNvSpPr>
              <p:nvPr/>
            </p:nvSpPr>
            <p:spPr bwMode="auto">
              <a:xfrm>
                <a:off x="6100769" y="4372738"/>
                <a:ext cx="64486" cy="42127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5" name="Line 84"/>
              <p:cNvSpPr>
                <a:spLocks noChangeShapeType="1"/>
              </p:cNvSpPr>
              <p:nvPr/>
            </p:nvSpPr>
            <p:spPr bwMode="auto">
              <a:xfrm>
                <a:off x="6165255" y="4414865"/>
                <a:ext cx="61092" cy="4476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6" name="Line 85"/>
              <p:cNvSpPr>
                <a:spLocks noChangeShapeType="1"/>
              </p:cNvSpPr>
              <p:nvPr/>
            </p:nvSpPr>
            <p:spPr bwMode="auto">
              <a:xfrm>
                <a:off x="6226347" y="4459625"/>
                <a:ext cx="64486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7" name="Line 86"/>
              <p:cNvSpPr>
                <a:spLocks noChangeShapeType="1"/>
              </p:cNvSpPr>
              <p:nvPr/>
            </p:nvSpPr>
            <p:spPr bwMode="auto">
              <a:xfrm>
                <a:off x="6290833" y="4507017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8" name="Line 87"/>
              <p:cNvSpPr>
                <a:spLocks noChangeShapeType="1"/>
              </p:cNvSpPr>
              <p:nvPr/>
            </p:nvSpPr>
            <p:spPr bwMode="auto">
              <a:xfrm>
                <a:off x="6355320" y="4557043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79" name="Line 88"/>
              <p:cNvSpPr>
                <a:spLocks noChangeShapeType="1"/>
              </p:cNvSpPr>
              <p:nvPr/>
            </p:nvSpPr>
            <p:spPr bwMode="auto">
              <a:xfrm>
                <a:off x="6419806" y="4609701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0" name="Line 89"/>
              <p:cNvSpPr>
                <a:spLocks noChangeShapeType="1"/>
              </p:cNvSpPr>
              <p:nvPr/>
            </p:nvSpPr>
            <p:spPr bwMode="auto">
              <a:xfrm>
                <a:off x="6484292" y="4662360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1" name="Line 90"/>
              <p:cNvSpPr>
                <a:spLocks noChangeShapeType="1"/>
              </p:cNvSpPr>
              <p:nvPr/>
            </p:nvSpPr>
            <p:spPr bwMode="auto">
              <a:xfrm>
                <a:off x="6548778" y="4717651"/>
                <a:ext cx="61092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2" name="Line 91"/>
              <p:cNvSpPr>
                <a:spLocks noChangeShapeType="1"/>
              </p:cNvSpPr>
              <p:nvPr/>
            </p:nvSpPr>
            <p:spPr bwMode="auto">
              <a:xfrm>
                <a:off x="6609870" y="4770310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3" name="Line 92"/>
              <p:cNvSpPr>
                <a:spLocks noChangeShapeType="1"/>
              </p:cNvSpPr>
              <p:nvPr/>
            </p:nvSpPr>
            <p:spPr bwMode="auto">
              <a:xfrm>
                <a:off x="6674356" y="4825601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4" name="Line 93"/>
              <p:cNvSpPr>
                <a:spLocks noChangeShapeType="1"/>
              </p:cNvSpPr>
              <p:nvPr/>
            </p:nvSpPr>
            <p:spPr bwMode="auto">
              <a:xfrm>
                <a:off x="6738842" y="4878260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5" name="Line 94"/>
              <p:cNvSpPr>
                <a:spLocks noChangeShapeType="1"/>
              </p:cNvSpPr>
              <p:nvPr/>
            </p:nvSpPr>
            <p:spPr bwMode="auto">
              <a:xfrm>
                <a:off x="6803329" y="4930919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6" name="Line 95"/>
              <p:cNvSpPr>
                <a:spLocks noChangeShapeType="1"/>
              </p:cNvSpPr>
              <p:nvPr/>
            </p:nvSpPr>
            <p:spPr bwMode="auto">
              <a:xfrm>
                <a:off x="6867815" y="4980944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7" name="Line 96"/>
              <p:cNvSpPr>
                <a:spLocks noChangeShapeType="1"/>
              </p:cNvSpPr>
              <p:nvPr/>
            </p:nvSpPr>
            <p:spPr bwMode="auto">
              <a:xfrm>
                <a:off x="6928907" y="5028337"/>
                <a:ext cx="64486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8" name="Line 97"/>
              <p:cNvSpPr>
                <a:spLocks noChangeShapeType="1"/>
              </p:cNvSpPr>
              <p:nvPr/>
            </p:nvSpPr>
            <p:spPr bwMode="auto">
              <a:xfrm>
                <a:off x="6993393" y="5075730"/>
                <a:ext cx="64486" cy="39494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89" name="Line 98"/>
              <p:cNvSpPr>
                <a:spLocks noChangeShapeType="1"/>
              </p:cNvSpPr>
              <p:nvPr/>
            </p:nvSpPr>
            <p:spPr bwMode="auto">
              <a:xfrm>
                <a:off x="7057879" y="5115223"/>
                <a:ext cx="64486" cy="39494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0" name="Line 99"/>
              <p:cNvSpPr>
                <a:spLocks noChangeShapeType="1"/>
              </p:cNvSpPr>
              <p:nvPr/>
            </p:nvSpPr>
            <p:spPr bwMode="auto">
              <a:xfrm>
                <a:off x="7122365" y="5154717"/>
                <a:ext cx="64486" cy="3422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1" name="Line 100"/>
              <p:cNvSpPr>
                <a:spLocks noChangeShapeType="1"/>
              </p:cNvSpPr>
              <p:nvPr/>
            </p:nvSpPr>
            <p:spPr bwMode="auto">
              <a:xfrm>
                <a:off x="7186851" y="5188945"/>
                <a:ext cx="64486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2" name="Line 101"/>
              <p:cNvSpPr>
                <a:spLocks noChangeShapeType="1"/>
              </p:cNvSpPr>
              <p:nvPr/>
            </p:nvSpPr>
            <p:spPr bwMode="auto">
              <a:xfrm>
                <a:off x="7251338" y="5217908"/>
                <a:ext cx="61092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3" name="Line 102"/>
              <p:cNvSpPr>
                <a:spLocks noChangeShapeType="1"/>
              </p:cNvSpPr>
              <p:nvPr/>
            </p:nvSpPr>
            <p:spPr bwMode="auto">
              <a:xfrm>
                <a:off x="7312430" y="5241604"/>
                <a:ext cx="64486" cy="2106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4" name="Line 103"/>
              <p:cNvSpPr>
                <a:spLocks noChangeShapeType="1"/>
              </p:cNvSpPr>
              <p:nvPr/>
            </p:nvSpPr>
            <p:spPr bwMode="auto">
              <a:xfrm>
                <a:off x="7376916" y="5262667"/>
                <a:ext cx="64486" cy="1316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5" name="Line 104"/>
              <p:cNvSpPr>
                <a:spLocks noChangeShapeType="1"/>
              </p:cNvSpPr>
              <p:nvPr/>
            </p:nvSpPr>
            <p:spPr bwMode="auto">
              <a:xfrm>
                <a:off x="7441402" y="5275832"/>
                <a:ext cx="64486" cy="1053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6" name="Line 105"/>
              <p:cNvSpPr>
                <a:spLocks noChangeShapeType="1"/>
              </p:cNvSpPr>
              <p:nvPr/>
            </p:nvSpPr>
            <p:spPr bwMode="auto">
              <a:xfrm>
                <a:off x="7505888" y="5286364"/>
                <a:ext cx="64486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7" name="Line 106"/>
              <p:cNvSpPr>
                <a:spLocks noChangeShapeType="1"/>
              </p:cNvSpPr>
              <p:nvPr/>
            </p:nvSpPr>
            <p:spPr bwMode="auto">
              <a:xfrm flipV="1">
                <a:off x="7570374" y="5286364"/>
                <a:ext cx="61092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598" name="Line 107"/>
              <p:cNvSpPr>
                <a:spLocks noChangeShapeType="1"/>
              </p:cNvSpPr>
              <p:nvPr/>
            </p:nvSpPr>
            <p:spPr bwMode="auto">
              <a:xfrm flipV="1">
                <a:off x="7631466" y="5278465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443400" name="Group 111"/>
            <p:cNvGrpSpPr>
              <a:grpSpLocks/>
            </p:cNvGrpSpPr>
            <p:nvPr/>
          </p:nvGrpSpPr>
          <p:grpSpPr bwMode="auto">
            <a:xfrm>
              <a:off x="6705600" y="2286000"/>
              <a:ext cx="2209800" cy="1369056"/>
              <a:chOff x="1322006" y="4117344"/>
              <a:chExt cx="6560617" cy="1269071"/>
            </a:xfrm>
          </p:grpSpPr>
          <p:sp>
            <p:nvSpPr>
              <p:cNvPr id="443401" name="AutoShape 5"/>
              <p:cNvSpPr>
                <a:spLocks noChangeAspect="1" noChangeArrowheads="1" noTextEdit="1"/>
              </p:cNvSpPr>
              <p:nvPr/>
            </p:nvSpPr>
            <p:spPr bwMode="auto">
              <a:xfrm>
                <a:off x="1322006" y="4117344"/>
                <a:ext cx="6560617" cy="12690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02" name="Line 10"/>
              <p:cNvSpPr>
                <a:spLocks noChangeShapeType="1"/>
              </p:cNvSpPr>
              <p:nvPr/>
            </p:nvSpPr>
            <p:spPr bwMode="auto">
              <a:xfrm flipV="1">
                <a:off x="1440796" y="4220028"/>
                <a:ext cx="64486" cy="1053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03" name="Line 11"/>
              <p:cNvSpPr>
                <a:spLocks noChangeShapeType="1"/>
              </p:cNvSpPr>
              <p:nvPr/>
            </p:nvSpPr>
            <p:spPr bwMode="auto">
              <a:xfrm flipV="1">
                <a:off x="1505282" y="4212129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04" name="Line 12"/>
              <p:cNvSpPr>
                <a:spLocks noChangeShapeType="1"/>
              </p:cNvSpPr>
              <p:nvPr/>
            </p:nvSpPr>
            <p:spPr bwMode="auto">
              <a:xfrm flipV="1">
                <a:off x="1569769" y="4209496"/>
                <a:ext cx="61092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05" name="Line 13"/>
              <p:cNvSpPr>
                <a:spLocks noChangeShapeType="1"/>
              </p:cNvSpPr>
              <p:nvPr/>
            </p:nvSpPr>
            <p:spPr bwMode="auto">
              <a:xfrm>
                <a:off x="1630861" y="4209496"/>
                <a:ext cx="64486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06" name="Line 14"/>
              <p:cNvSpPr>
                <a:spLocks noChangeShapeType="1"/>
              </p:cNvSpPr>
              <p:nvPr/>
            </p:nvSpPr>
            <p:spPr bwMode="auto">
              <a:xfrm>
                <a:off x="1695347" y="4212129"/>
                <a:ext cx="64486" cy="1053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07" name="Line 15"/>
              <p:cNvSpPr>
                <a:spLocks noChangeShapeType="1"/>
              </p:cNvSpPr>
              <p:nvPr/>
            </p:nvSpPr>
            <p:spPr bwMode="auto">
              <a:xfrm>
                <a:off x="1759833" y="4222661"/>
                <a:ext cx="64486" cy="1316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08" name="Line 16"/>
              <p:cNvSpPr>
                <a:spLocks noChangeShapeType="1"/>
              </p:cNvSpPr>
              <p:nvPr/>
            </p:nvSpPr>
            <p:spPr bwMode="auto">
              <a:xfrm>
                <a:off x="1824319" y="4235826"/>
                <a:ext cx="64486" cy="2106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09" name="Line 17"/>
              <p:cNvSpPr>
                <a:spLocks noChangeShapeType="1"/>
              </p:cNvSpPr>
              <p:nvPr/>
            </p:nvSpPr>
            <p:spPr bwMode="auto">
              <a:xfrm>
                <a:off x="1888805" y="4256889"/>
                <a:ext cx="61092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0" name="Line 18"/>
              <p:cNvSpPr>
                <a:spLocks noChangeShapeType="1"/>
              </p:cNvSpPr>
              <p:nvPr/>
            </p:nvSpPr>
            <p:spPr bwMode="auto">
              <a:xfrm>
                <a:off x="1949897" y="4280585"/>
                <a:ext cx="64486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1" name="Line 19"/>
              <p:cNvSpPr>
                <a:spLocks noChangeShapeType="1"/>
              </p:cNvSpPr>
              <p:nvPr/>
            </p:nvSpPr>
            <p:spPr bwMode="auto">
              <a:xfrm>
                <a:off x="2014384" y="4309548"/>
                <a:ext cx="64486" cy="3422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2" name="Line 20"/>
              <p:cNvSpPr>
                <a:spLocks noChangeShapeType="1"/>
              </p:cNvSpPr>
              <p:nvPr/>
            </p:nvSpPr>
            <p:spPr bwMode="auto">
              <a:xfrm>
                <a:off x="2078870" y="4343776"/>
                <a:ext cx="64486" cy="3686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3" name="Line 21"/>
              <p:cNvSpPr>
                <a:spLocks noChangeShapeType="1"/>
              </p:cNvSpPr>
              <p:nvPr/>
            </p:nvSpPr>
            <p:spPr bwMode="auto">
              <a:xfrm>
                <a:off x="2143356" y="4380637"/>
                <a:ext cx="64486" cy="42127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4" name="Line 22"/>
              <p:cNvSpPr>
                <a:spLocks noChangeShapeType="1"/>
              </p:cNvSpPr>
              <p:nvPr/>
            </p:nvSpPr>
            <p:spPr bwMode="auto">
              <a:xfrm>
                <a:off x="2207842" y="4422764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5" name="Line 23"/>
              <p:cNvSpPr>
                <a:spLocks noChangeShapeType="1"/>
              </p:cNvSpPr>
              <p:nvPr/>
            </p:nvSpPr>
            <p:spPr bwMode="auto">
              <a:xfrm>
                <a:off x="2268934" y="4470156"/>
                <a:ext cx="64486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6" name="Line 24"/>
              <p:cNvSpPr>
                <a:spLocks noChangeShapeType="1"/>
              </p:cNvSpPr>
              <p:nvPr/>
            </p:nvSpPr>
            <p:spPr bwMode="auto">
              <a:xfrm>
                <a:off x="2333420" y="4517549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7" name="Line 25"/>
              <p:cNvSpPr>
                <a:spLocks noChangeShapeType="1"/>
              </p:cNvSpPr>
              <p:nvPr/>
            </p:nvSpPr>
            <p:spPr bwMode="auto">
              <a:xfrm>
                <a:off x="2397906" y="4567575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8" name="Line 26"/>
              <p:cNvSpPr>
                <a:spLocks noChangeShapeType="1"/>
              </p:cNvSpPr>
              <p:nvPr/>
            </p:nvSpPr>
            <p:spPr bwMode="auto">
              <a:xfrm>
                <a:off x="2462393" y="4620233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19" name="Line 27"/>
              <p:cNvSpPr>
                <a:spLocks noChangeShapeType="1"/>
              </p:cNvSpPr>
              <p:nvPr/>
            </p:nvSpPr>
            <p:spPr bwMode="auto">
              <a:xfrm>
                <a:off x="2526879" y="4672892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0" name="Line 28"/>
              <p:cNvSpPr>
                <a:spLocks noChangeShapeType="1"/>
              </p:cNvSpPr>
              <p:nvPr/>
            </p:nvSpPr>
            <p:spPr bwMode="auto">
              <a:xfrm>
                <a:off x="2591365" y="4728183"/>
                <a:ext cx="61092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1" name="Line 29"/>
              <p:cNvSpPr>
                <a:spLocks noChangeShapeType="1"/>
              </p:cNvSpPr>
              <p:nvPr/>
            </p:nvSpPr>
            <p:spPr bwMode="auto">
              <a:xfrm>
                <a:off x="2652457" y="4780842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2" name="Line 30"/>
              <p:cNvSpPr>
                <a:spLocks noChangeShapeType="1"/>
              </p:cNvSpPr>
              <p:nvPr/>
            </p:nvSpPr>
            <p:spPr bwMode="auto">
              <a:xfrm>
                <a:off x="2716943" y="4836133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3" name="Line 31"/>
              <p:cNvSpPr>
                <a:spLocks noChangeShapeType="1"/>
              </p:cNvSpPr>
              <p:nvPr/>
            </p:nvSpPr>
            <p:spPr bwMode="auto">
              <a:xfrm>
                <a:off x="2781429" y="4888792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4" name="Line 32"/>
              <p:cNvSpPr>
                <a:spLocks noChangeShapeType="1"/>
              </p:cNvSpPr>
              <p:nvPr/>
            </p:nvSpPr>
            <p:spPr bwMode="auto">
              <a:xfrm>
                <a:off x="2845915" y="4941450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5" name="Line 33"/>
              <p:cNvSpPr>
                <a:spLocks noChangeShapeType="1"/>
              </p:cNvSpPr>
              <p:nvPr/>
            </p:nvSpPr>
            <p:spPr bwMode="auto">
              <a:xfrm>
                <a:off x="2910402" y="4991476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6" name="Line 34"/>
              <p:cNvSpPr>
                <a:spLocks noChangeShapeType="1"/>
              </p:cNvSpPr>
              <p:nvPr/>
            </p:nvSpPr>
            <p:spPr bwMode="auto">
              <a:xfrm>
                <a:off x="2971494" y="5038869"/>
                <a:ext cx="64486" cy="4476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7" name="Line 35"/>
              <p:cNvSpPr>
                <a:spLocks noChangeShapeType="1"/>
              </p:cNvSpPr>
              <p:nvPr/>
            </p:nvSpPr>
            <p:spPr bwMode="auto">
              <a:xfrm>
                <a:off x="3035980" y="5083628"/>
                <a:ext cx="64486" cy="39494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8" name="Line 36"/>
              <p:cNvSpPr>
                <a:spLocks noChangeShapeType="1"/>
              </p:cNvSpPr>
              <p:nvPr/>
            </p:nvSpPr>
            <p:spPr bwMode="auto">
              <a:xfrm>
                <a:off x="3100466" y="5123122"/>
                <a:ext cx="64486" cy="39494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29" name="Line 37"/>
              <p:cNvSpPr>
                <a:spLocks noChangeShapeType="1"/>
              </p:cNvSpPr>
              <p:nvPr/>
            </p:nvSpPr>
            <p:spPr bwMode="auto">
              <a:xfrm>
                <a:off x="3164952" y="5162616"/>
                <a:ext cx="64486" cy="3159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0" name="Line 38"/>
              <p:cNvSpPr>
                <a:spLocks noChangeShapeType="1"/>
              </p:cNvSpPr>
              <p:nvPr/>
            </p:nvSpPr>
            <p:spPr bwMode="auto">
              <a:xfrm>
                <a:off x="3229438" y="5194211"/>
                <a:ext cx="61092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1" name="Line 39"/>
              <p:cNvSpPr>
                <a:spLocks noChangeShapeType="1"/>
              </p:cNvSpPr>
              <p:nvPr/>
            </p:nvSpPr>
            <p:spPr bwMode="auto">
              <a:xfrm>
                <a:off x="3290531" y="5223174"/>
                <a:ext cx="64486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2" name="Line 40"/>
              <p:cNvSpPr>
                <a:spLocks noChangeShapeType="1"/>
              </p:cNvSpPr>
              <p:nvPr/>
            </p:nvSpPr>
            <p:spPr bwMode="auto">
              <a:xfrm>
                <a:off x="3355017" y="5246870"/>
                <a:ext cx="64486" cy="1843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3" name="Line 41"/>
              <p:cNvSpPr>
                <a:spLocks noChangeShapeType="1"/>
              </p:cNvSpPr>
              <p:nvPr/>
            </p:nvSpPr>
            <p:spPr bwMode="auto">
              <a:xfrm>
                <a:off x="3419503" y="5265300"/>
                <a:ext cx="64486" cy="1316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4" name="Line 42"/>
              <p:cNvSpPr>
                <a:spLocks noChangeShapeType="1"/>
              </p:cNvSpPr>
              <p:nvPr/>
            </p:nvSpPr>
            <p:spPr bwMode="auto">
              <a:xfrm>
                <a:off x="3483989" y="5278465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5" name="Line 43"/>
              <p:cNvSpPr>
                <a:spLocks noChangeShapeType="1"/>
              </p:cNvSpPr>
              <p:nvPr/>
            </p:nvSpPr>
            <p:spPr bwMode="auto">
              <a:xfrm>
                <a:off x="3548475" y="5286364"/>
                <a:ext cx="64486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6" name="Line 44"/>
              <p:cNvSpPr>
                <a:spLocks noChangeShapeType="1"/>
              </p:cNvSpPr>
              <p:nvPr/>
            </p:nvSpPr>
            <p:spPr bwMode="auto">
              <a:xfrm flipV="1">
                <a:off x="3612961" y="5286364"/>
                <a:ext cx="61092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7" name="Line 45"/>
              <p:cNvSpPr>
                <a:spLocks noChangeShapeType="1"/>
              </p:cNvSpPr>
              <p:nvPr/>
            </p:nvSpPr>
            <p:spPr bwMode="auto">
              <a:xfrm flipV="1">
                <a:off x="3674053" y="5278465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8" name="Line 46"/>
              <p:cNvSpPr>
                <a:spLocks noChangeShapeType="1"/>
              </p:cNvSpPr>
              <p:nvPr/>
            </p:nvSpPr>
            <p:spPr bwMode="auto">
              <a:xfrm flipV="1">
                <a:off x="3738540" y="5262667"/>
                <a:ext cx="64486" cy="1579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39" name="Line 47"/>
              <p:cNvSpPr>
                <a:spLocks noChangeShapeType="1"/>
              </p:cNvSpPr>
              <p:nvPr/>
            </p:nvSpPr>
            <p:spPr bwMode="auto">
              <a:xfrm flipV="1">
                <a:off x="3803026" y="5244237"/>
                <a:ext cx="64486" cy="1843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0" name="Line 48"/>
              <p:cNvSpPr>
                <a:spLocks noChangeShapeType="1"/>
              </p:cNvSpPr>
              <p:nvPr/>
            </p:nvSpPr>
            <p:spPr bwMode="auto">
              <a:xfrm flipV="1">
                <a:off x="3867512" y="5220541"/>
                <a:ext cx="64486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1" name="Line 49"/>
              <p:cNvSpPr>
                <a:spLocks noChangeShapeType="1"/>
              </p:cNvSpPr>
              <p:nvPr/>
            </p:nvSpPr>
            <p:spPr bwMode="auto">
              <a:xfrm flipV="1">
                <a:off x="3931998" y="5191578"/>
                <a:ext cx="61092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2" name="Line 50"/>
              <p:cNvSpPr>
                <a:spLocks noChangeShapeType="1"/>
              </p:cNvSpPr>
              <p:nvPr/>
            </p:nvSpPr>
            <p:spPr bwMode="auto">
              <a:xfrm flipV="1">
                <a:off x="3993090" y="5157350"/>
                <a:ext cx="64486" cy="3422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3" name="Line 51"/>
              <p:cNvSpPr>
                <a:spLocks noChangeShapeType="1"/>
              </p:cNvSpPr>
              <p:nvPr/>
            </p:nvSpPr>
            <p:spPr bwMode="auto">
              <a:xfrm flipV="1">
                <a:off x="4057576" y="5120489"/>
                <a:ext cx="64486" cy="3686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4" name="Line 52"/>
              <p:cNvSpPr>
                <a:spLocks noChangeShapeType="1"/>
              </p:cNvSpPr>
              <p:nvPr/>
            </p:nvSpPr>
            <p:spPr bwMode="auto">
              <a:xfrm flipV="1">
                <a:off x="4122062" y="5078362"/>
                <a:ext cx="64486" cy="42127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5" name="Line 53"/>
              <p:cNvSpPr>
                <a:spLocks noChangeShapeType="1"/>
              </p:cNvSpPr>
              <p:nvPr/>
            </p:nvSpPr>
            <p:spPr bwMode="auto">
              <a:xfrm flipV="1">
                <a:off x="4186549" y="5033603"/>
                <a:ext cx="64486" cy="4476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6" name="Line 54"/>
              <p:cNvSpPr>
                <a:spLocks noChangeShapeType="1"/>
              </p:cNvSpPr>
              <p:nvPr/>
            </p:nvSpPr>
            <p:spPr bwMode="auto">
              <a:xfrm flipV="1">
                <a:off x="4251035" y="4986210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7" name="Line 55"/>
              <p:cNvSpPr>
                <a:spLocks noChangeShapeType="1"/>
              </p:cNvSpPr>
              <p:nvPr/>
            </p:nvSpPr>
            <p:spPr bwMode="auto">
              <a:xfrm flipV="1">
                <a:off x="4312127" y="4936184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8" name="Line 56"/>
              <p:cNvSpPr>
                <a:spLocks noChangeShapeType="1"/>
              </p:cNvSpPr>
              <p:nvPr/>
            </p:nvSpPr>
            <p:spPr bwMode="auto">
              <a:xfrm flipV="1">
                <a:off x="4376613" y="4883526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49" name="Line 57"/>
              <p:cNvSpPr>
                <a:spLocks noChangeShapeType="1"/>
              </p:cNvSpPr>
              <p:nvPr/>
            </p:nvSpPr>
            <p:spPr bwMode="auto">
              <a:xfrm flipV="1">
                <a:off x="4441099" y="4830867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0" name="Line 58"/>
              <p:cNvSpPr>
                <a:spLocks noChangeShapeType="1"/>
              </p:cNvSpPr>
              <p:nvPr/>
            </p:nvSpPr>
            <p:spPr bwMode="auto">
              <a:xfrm flipV="1">
                <a:off x="4505585" y="4775576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1" name="Line 59"/>
              <p:cNvSpPr>
                <a:spLocks noChangeShapeType="1"/>
              </p:cNvSpPr>
              <p:nvPr/>
            </p:nvSpPr>
            <p:spPr bwMode="auto">
              <a:xfrm flipV="1">
                <a:off x="4570071" y="4722917"/>
                <a:ext cx="61092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2" name="Line 60"/>
              <p:cNvSpPr>
                <a:spLocks noChangeShapeType="1"/>
              </p:cNvSpPr>
              <p:nvPr/>
            </p:nvSpPr>
            <p:spPr bwMode="auto">
              <a:xfrm flipV="1">
                <a:off x="4631164" y="4667626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3" name="Line 61"/>
              <p:cNvSpPr>
                <a:spLocks noChangeShapeType="1"/>
              </p:cNvSpPr>
              <p:nvPr/>
            </p:nvSpPr>
            <p:spPr bwMode="auto">
              <a:xfrm flipV="1">
                <a:off x="4695650" y="4614967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4" name="Line 62"/>
              <p:cNvSpPr>
                <a:spLocks noChangeShapeType="1"/>
              </p:cNvSpPr>
              <p:nvPr/>
            </p:nvSpPr>
            <p:spPr bwMode="auto">
              <a:xfrm flipV="1">
                <a:off x="4760136" y="4562309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5" name="Line 63"/>
              <p:cNvSpPr>
                <a:spLocks noChangeShapeType="1"/>
              </p:cNvSpPr>
              <p:nvPr/>
            </p:nvSpPr>
            <p:spPr bwMode="auto">
              <a:xfrm flipV="1">
                <a:off x="4824622" y="4512283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6" name="Line 64"/>
              <p:cNvSpPr>
                <a:spLocks noChangeShapeType="1"/>
              </p:cNvSpPr>
              <p:nvPr/>
            </p:nvSpPr>
            <p:spPr bwMode="auto">
              <a:xfrm flipV="1">
                <a:off x="4889108" y="4464890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7" name="Line 65"/>
              <p:cNvSpPr>
                <a:spLocks noChangeShapeType="1"/>
              </p:cNvSpPr>
              <p:nvPr/>
            </p:nvSpPr>
            <p:spPr bwMode="auto">
              <a:xfrm flipV="1">
                <a:off x="4950200" y="4420131"/>
                <a:ext cx="64486" cy="4476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8" name="Line 66"/>
              <p:cNvSpPr>
                <a:spLocks noChangeShapeType="1"/>
              </p:cNvSpPr>
              <p:nvPr/>
            </p:nvSpPr>
            <p:spPr bwMode="auto">
              <a:xfrm flipV="1">
                <a:off x="5014686" y="4378004"/>
                <a:ext cx="64486" cy="42127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59" name="Line 67"/>
              <p:cNvSpPr>
                <a:spLocks noChangeShapeType="1"/>
              </p:cNvSpPr>
              <p:nvPr/>
            </p:nvSpPr>
            <p:spPr bwMode="auto">
              <a:xfrm flipV="1">
                <a:off x="5079173" y="4341143"/>
                <a:ext cx="64486" cy="3686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0" name="Line 68"/>
              <p:cNvSpPr>
                <a:spLocks noChangeShapeType="1"/>
              </p:cNvSpPr>
              <p:nvPr/>
            </p:nvSpPr>
            <p:spPr bwMode="auto">
              <a:xfrm flipV="1">
                <a:off x="5143659" y="4306915"/>
                <a:ext cx="61092" cy="3422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1" name="Line 69"/>
              <p:cNvSpPr>
                <a:spLocks noChangeShapeType="1"/>
              </p:cNvSpPr>
              <p:nvPr/>
            </p:nvSpPr>
            <p:spPr bwMode="auto">
              <a:xfrm flipV="1">
                <a:off x="5204751" y="4277953"/>
                <a:ext cx="64486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2" name="Line 70"/>
              <p:cNvSpPr>
                <a:spLocks noChangeShapeType="1"/>
              </p:cNvSpPr>
              <p:nvPr/>
            </p:nvSpPr>
            <p:spPr bwMode="auto">
              <a:xfrm flipV="1">
                <a:off x="5269237" y="4254256"/>
                <a:ext cx="64486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3" name="Line 71"/>
              <p:cNvSpPr>
                <a:spLocks noChangeShapeType="1"/>
              </p:cNvSpPr>
              <p:nvPr/>
            </p:nvSpPr>
            <p:spPr bwMode="auto">
              <a:xfrm flipV="1">
                <a:off x="5333723" y="4235826"/>
                <a:ext cx="64486" cy="1843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4" name="Line 72"/>
              <p:cNvSpPr>
                <a:spLocks noChangeShapeType="1"/>
              </p:cNvSpPr>
              <p:nvPr/>
            </p:nvSpPr>
            <p:spPr bwMode="auto">
              <a:xfrm flipV="1">
                <a:off x="5398209" y="4220028"/>
                <a:ext cx="64486" cy="1579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5" name="Line 73"/>
              <p:cNvSpPr>
                <a:spLocks noChangeShapeType="1"/>
              </p:cNvSpPr>
              <p:nvPr/>
            </p:nvSpPr>
            <p:spPr bwMode="auto">
              <a:xfrm flipV="1">
                <a:off x="5462695" y="4212129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6" name="Line 74"/>
              <p:cNvSpPr>
                <a:spLocks noChangeShapeType="1"/>
              </p:cNvSpPr>
              <p:nvPr/>
            </p:nvSpPr>
            <p:spPr bwMode="auto">
              <a:xfrm flipV="1">
                <a:off x="5527182" y="4209496"/>
                <a:ext cx="61092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7" name="Line 75"/>
              <p:cNvSpPr>
                <a:spLocks noChangeShapeType="1"/>
              </p:cNvSpPr>
              <p:nvPr/>
            </p:nvSpPr>
            <p:spPr bwMode="auto">
              <a:xfrm>
                <a:off x="5588274" y="4209496"/>
                <a:ext cx="64486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8" name="Line 76"/>
              <p:cNvSpPr>
                <a:spLocks noChangeShapeType="1"/>
              </p:cNvSpPr>
              <p:nvPr/>
            </p:nvSpPr>
            <p:spPr bwMode="auto">
              <a:xfrm>
                <a:off x="5652760" y="4212129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69" name="Line 77"/>
              <p:cNvSpPr>
                <a:spLocks noChangeShapeType="1"/>
              </p:cNvSpPr>
              <p:nvPr/>
            </p:nvSpPr>
            <p:spPr bwMode="auto">
              <a:xfrm>
                <a:off x="5717246" y="4220028"/>
                <a:ext cx="64486" cy="1316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0" name="Line 78"/>
              <p:cNvSpPr>
                <a:spLocks noChangeShapeType="1"/>
              </p:cNvSpPr>
              <p:nvPr/>
            </p:nvSpPr>
            <p:spPr bwMode="auto">
              <a:xfrm>
                <a:off x="5781732" y="4233193"/>
                <a:ext cx="64486" cy="1843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1" name="Line 79"/>
              <p:cNvSpPr>
                <a:spLocks noChangeShapeType="1"/>
              </p:cNvSpPr>
              <p:nvPr/>
            </p:nvSpPr>
            <p:spPr bwMode="auto">
              <a:xfrm>
                <a:off x="5846218" y="4251623"/>
                <a:ext cx="61092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2" name="Line 80"/>
              <p:cNvSpPr>
                <a:spLocks noChangeShapeType="1"/>
              </p:cNvSpPr>
              <p:nvPr/>
            </p:nvSpPr>
            <p:spPr bwMode="auto">
              <a:xfrm>
                <a:off x="5907310" y="4275320"/>
                <a:ext cx="64486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3" name="Line 81"/>
              <p:cNvSpPr>
                <a:spLocks noChangeShapeType="1"/>
              </p:cNvSpPr>
              <p:nvPr/>
            </p:nvSpPr>
            <p:spPr bwMode="auto">
              <a:xfrm>
                <a:off x="5971797" y="4304282"/>
                <a:ext cx="64486" cy="3159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4" name="Line 82"/>
              <p:cNvSpPr>
                <a:spLocks noChangeShapeType="1"/>
              </p:cNvSpPr>
              <p:nvPr/>
            </p:nvSpPr>
            <p:spPr bwMode="auto">
              <a:xfrm>
                <a:off x="6036283" y="4335877"/>
                <a:ext cx="64486" cy="3686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5" name="Line 83"/>
              <p:cNvSpPr>
                <a:spLocks noChangeShapeType="1"/>
              </p:cNvSpPr>
              <p:nvPr/>
            </p:nvSpPr>
            <p:spPr bwMode="auto">
              <a:xfrm>
                <a:off x="6100769" y="4372738"/>
                <a:ext cx="64486" cy="42127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6" name="Line 84"/>
              <p:cNvSpPr>
                <a:spLocks noChangeShapeType="1"/>
              </p:cNvSpPr>
              <p:nvPr/>
            </p:nvSpPr>
            <p:spPr bwMode="auto">
              <a:xfrm>
                <a:off x="6165255" y="4414865"/>
                <a:ext cx="61092" cy="44760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7" name="Line 85"/>
              <p:cNvSpPr>
                <a:spLocks noChangeShapeType="1"/>
              </p:cNvSpPr>
              <p:nvPr/>
            </p:nvSpPr>
            <p:spPr bwMode="auto">
              <a:xfrm>
                <a:off x="6226347" y="4459625"/>
                <a:ext cx="64486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8" name="Line 86"/>
              <p:cNvSpPr>
                <a:spLocks noChangeShapeType="1"/>
              </p:cNvSpPr>
              <p:nvPr/>
            </p:nvSpPr>
            <p:spPr bwMode="auto">
              <a:xfrm>
                <a:off x="6290833" y="4507017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79" name="Line 87"/>
              <p:cNvSpPr>
                <a:spLocks noChangeShapeType="1"/>
              </p:cNvSpPr>
              <p:nvPr/>
            </p:nvSpPr>
            <p:spPr bwMode="auto">
              <a:xfrm>
                <a:off x="6355320" y="4557043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0" name="Line 88"/>
              <p:cNvSpPr>
                <a:spLocks noChangeShapeType="1"/>
              </p:cNvSpPr>
              <p:nvPr/>
            </p:nvSpPr>
            <p:spPr bwMode="auto">
              <a:xfrm>
                <a:off x="6419806" y="4609701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1" name="Line 89"/>
              <p:cNvSpPr>
                <a:spLocks noChangeShapeType="1"/>
              </p:cNvSpPr>
              <p:nvPr/>
            </p:nvSpPr>
            <p:spPr bwMode="auto">
              <a:xfrm>
                <a:off x="6484292" y="4662360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2" name="Line 90"/>
              <p:cNvSpPr>
                <a:spLocks noChangeShapeType="1"/>
              </p:cNvSpPr>
              <p:nvPr/>
            </p:nvSpPr>
            <p:spPr bwMode="auto">
              <a:xfrm>
                <a:off x="6548778" y="4717651"/>
                <a:ext cx="61092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3" name="Line 91"/>
              <p:cNvSpPr>
                <a:spLocks noChangeShapeType="1"/>
              </p:cNvSpPr>
              <p:nvPr/>
            </p:nvSpPr>
            <p:spPr bwMode="auto">
              <a:xfrm>
                <a:off x="6609870" y="4770310"/>
                <a:ext cx="64486" cy="55291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4" name="Line 92"/>
              <p:cNvSpPr>
                <a:spLocks noChangeShapeType="1"/>
              </p:cNvSpPr>
              <p:nvPr/>
            </p:nvSpPr>
            <p:spPr bwMode="auto">
              <a:xfrm>
                <a:off x="6674356" y="4825601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5" name="Line 93"/>
              <p:cNvSpPr>
                <a:spLocks noChangeShapeType="1"/>
              </p:cNvSpPr>
              <p:nvPr/>
            </p:nvSpPr>
            <p:spPr bwMode="auto">
              <a:xfrm>
                <a:off x="6738842" y="4878260"/>
                <a:ext cx="64486" cy="5265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6" name="Line 94"/>
              <p:cNvSpPr>
                <a:spLocks noChangeShapeType="1"/>
              </p:cNvSpPr>
              <p:nvPr/>
            </p:nvSpPr>
            <p:spPr bwMode="auto">
              <a:xfrm>
                <a:off x="6803329" y="4930919"/>
                <a:ext cx="64486" cy="5002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7" name="Line 95"/>
              <p:cNvSpPr>
                <a:spLocks noChangeShapeType="1"/>
              </p:cNvSpPr>
              <p:nvPr/>
            </p:nvSpPr>
            <p:spPr bwMode="auto">
              <a:xfrm>
                <a:off x="6867815" y="4980944"/>
                <a:ext cx="61092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8" name="Line 96"/>
              <p:cNvSpPr>
                <a:spLocks noChangeShapeType="1"/>
              </p:cNvSpPr>
              <p:nvPr/>
            </p:nvSpPr>
            <p:spPr bwMode="auto">
              <a:xfrm>
                <a:off x="6928907" y="5028337"/>
                <a:ext cx="64486" cy="4739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89" name="Line 97"/>
              <p:cNvSpPr>
                <a:spLocks noChangeShapeType="1"/>
              </p:cNvSpPr>
              <p:nvPr/>
            </p:nvSpPr>
            <p:spPr bwMode="auto">
              <a:xfrm>
                <a:off x="6993393" y="5075730"/>
                <a:ext cx="64486" cy="39494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0" name="Line 98"/>
              <p:cNvSpPr>
                <a:spLocks noChangeShapeType="1"/>
              </p:cNvSpPr>
              <p:nvPr/>
            </p:nvSpPr>
            <p:spPr bwMode="auto">
              <a:xfrm>
                <a:off x="7057879" y="5115223"/>
                <a:ext cx="64486" cy="39494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1" name="Line 99"/>
              <p:cNvSpPr>
                <a:spLocks noChangeShapeType="1"/>
              </p:cNvSpPr>
              <p:nvPr/>
            </p:nvSpPr>
            <p:spPr bwMode="auto">
              <a:xfrm>
                <a:off x="7122365" y="5154717"/>
                <a:ext cx="64486" cy="34228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2" name="Line 100"/>
              <p:cNvSpPr>
                <a:spLocks noChangeShapeType="1"/>
              </p:cNvSpPr>
              <p:nvPr/>
            </p:nvSpPr>
            <p:spPr bwMode="auto">
              <a:xfrm>
                <a:off x="7186851" y="5188945"/>
                <a:ext cx="64486" cy="2896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3" name="Line 101"/>
              <p:cNvSpPr>
                <a:spLocks noChangeShapeType="1"/>
              </p:cNvSpPr>
              <p:nvPr/>
            </p:nvSpPr>
            <p:spPr bwMode="auto">
              <a:xfrm>
                <a:off x="7251338" y="5217908"/>
                <a:ext cx="61092" cy="23696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4" name="Line 102"/>
              <p:cNvSpPr>
                <a:spLocks noChangeShapeType="1"/>
              </p:cNvSpPr>
              <p:nvPr/>
            </p:nvSpPr>
            <p:spPr bwMode="auto">
              <a:xfrm>
                <a:off x="7312430" y="5241604"/>
                <a:ext cx="64486" cy="2106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5" name="Line 103"/>
              <p:cNvSpPr>
                <a:spLocks noChangeShapeType="1"/>
              </p:cNvSpPr>
              <p:nvPr/>
            </p:nvSpPr>
            <p:spPr bwMode="auto">
              <a:xfrm>
                <a:off x="7376916" y="5262667"/>
                <a:ext cx="64486" cy="13165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6" name="Line 104"/>
              <p:cNvSpPr>
                <a:spLocks noChangeShapeType="1"/>
              </p:cNvSpPr>
              <p:nvPr/>
            </p:nvSpPr>
            <p:spPr bwMode="auto">
              <a:xfrm>
                <a:off x="7441402" y="5275832"/>
                <a:ext cx="64486" cy="10532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7" name="Line 105"/>
              <p:cNvSpPr>
                <a:spLocks noChangeShapeType="1"/>
              </p:cNvSpPr>
              <p:nvPr/>
            </p:nvSpPr>
            <p:spPr bwMode="auto">
              <a:xfrm>
                <a:off x="7505888" y="5286364"/>
                <a:ext cx="64486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8" name="Line 106"/>
              <p:cNvSpPr>
                <a:spLocks noChangeShapeType="1"/>
              </p:cNvSpPr>
              <p:nvPr/>
            </p:nvSpPr>
            <p:spPr bwMode="auto">
              <a:xfrm flipV="1">
                <a:off x="7570374" y="5286364"/>
                <a:ext cx="61092" cy="2633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3499" name="Line 107"/>
              <p:cNvSpPr>
                <a:spLocks noChangeShapeType="1"/>
              </p:cNvSpPr>
              <p:nvPr/>
            </p:nvSpPr>
            <p:spPr bwMode="auto">
              <a:xfrm flipV="1">
                <a:off x="7631466" y="5278465"/>
                <a:ext cx="64486" cy="7899"/>
              </a:xfrm>
              <a:prstGeom prst="line">
                <a:avLst/>
              </a:prstGeom>
              <a:noFill/>
              <a:ln w="3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8027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26DFD-DAB4-BB19-997C-CC80B3315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12AA0C-F14D-0CBD-15A6-79301A9AE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107" y="1820227"/>
            <a:ext cx="7916037" cy="371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120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371B371-C869-48D5-9FE6-5A670A494EC0}" type="slidenum">
              <a:rPr lang="en-US"/>
              <a:pPr/>
              <a:t>12</a:t>
            </a:fld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89275" y="3325814"/>
            <a:ext cx="1925638" cy="1057275"/>
            <a:chOff x="176" y="1300"/>
            <a:chExt cx="1213" cy="666"/>
          </a:xfrm>
        </p:grpSpPr>
        <p:sp>
          <p:nvSpPr>
            <p:cNvPr id="28787" name="AutoShape 6"/>
            <p:cNvSpPr>
              <a:spLocks noChangeArrowheads="1"/>
            </p:cNvSpPr>
            <p:nvPr/>
          </p:nvSpPr>
          <p:spPr bwMode="auto">
            <a:xfrm>
              <a:off x="1013" y="1512"/>
              <a:ext cx="167" cy="15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8788" name="Text Box 7"/>
            <p:cNvSpPr txBox="1">
              <a:spLocks noChangeArrowheads="1"/>
            </p:cNvSpPr>
            <p:nvPr/>
          </p:nvSpPr>
          <p:spPr bwMode="auto">
            <a:xfrm>
              <a:off x="982" y="1329"/>
              <a:ext cx="3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V=0</a:t>
              </a:r>
            </a:p>
          </p:txBody>
        </p:sp>
        <p:sp>
          <p:nvSpPr>
            <p:cNvPr id="28789" name="Line 8"/>
            <p:cNvSpPr>
              <a:spLocks noChangeShapeType="1"/>
            </p:cNvSpPr>
            <p:nvPr/>
          </p:nvSpPr>
          <p:spPr bwMode="auto">
            <a:xfrm>
              <a:off x="188" y="1300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90" name="Line 9"/>
            <p:cNvSpPr>
              <a:spLocks noChangeShapeType="1"/>
            </p:cNvSpPr>
            <p:nvPr/>
          </p:nvSpPr>
          <p:spPr bwMode="auto">
            <a:xfrm rot="5400000" flipV="1">
              <a:off x="684" y="1169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901" y="1506"/>
              <a:ext cx="101" cy="95"/>
              <a:chOff x="704" y="1880"/>
              <a:chExt cx="136" cy="128"/>
            </a:xfrm>
          </p:grpSpPr>
          <p:sp>
            <p:nvSpPr>
              <p:cNvPr id="28818" name="Line 11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9" name="Line 12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13"/>
            <p:cNvGrpSpPr>
              <a:grpSpLocks/>
            </p:cNvGrpSpPr>
            <p:nvPr/>
          </p:nvGrpSpPr>
          <p:grpSpPr bwMode="auto">
            <a:xfrm>
              <a:off x="794" y="1506"/>
              <a:ext cx="101" cy="95"/>
              <a:chOff x="704" y="1880"/>
              <a:chExt cx="136" cy="128"/>
            </a:xfrm>
          </p:grpSpPr>
          <p:sp>
            <p:nvSpPr>
              <p:cNvPr id="28816" name="Line 14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7" name="Line 15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16"/>
            <p:cNvGrpSpPr>
              <a:grpSpLocks/>
            </p:cNvGrpSpPr>
            <p:nvPr/>
          </p:nvGrpSpPr>
          <p:grpSpPr bwMode="auto">
            <a:xfrm>
              <a:off x="699" y="1506"/>
              <a:ext cx="101" cy="95"/>
              <a:chOff x="704" y="1880"/>
              <a:chExt cx="136" cy="128"/>
            </a:xfrm>
          </p:grpSpPr>
          <p:sp>
            <p:nvSpPr>
              <p:cNvPr id="28814" name="Line 17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5" name="Line 18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roup 19"/>
            <p:cNvGrpSpPr>
              <a:grpSpLocks/>
            </p:cNvGrpSpPr>
            <p:nvPr/>
          </p:nvGrpSpPr>
          <p:grpSpPr bwMode="auto">
            <a:xfrm>
              <a:off x="598" y="1506"/>
              <a:ext cx="101" cy="95"/>
              <a:chOff x="704" y="1880"/>
              <a:chExt cx="136" cy="128"/>
            </a:xfrm>
          </p:grpSpPr>
          <p:sp>
            <p:nvSpPr>
              <p:cNvPr id="28812" name="Line 20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3" name="Line 21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22"/>
            <p:cNvGrpSpPr>
              <a:grpSpLocks/>
            </p:cNvGrpSpPr>
            <p:nvPr/>
          </p:nvGrpSpPr>
          <p:grpSpPr bwMode="auto">
            <a:xfrm>
              <a:off x="503" y="1506"/>
              <a:ext cx="101" cy="95"/>
              <a:chOff x="704" y="1880"/>
              <a:chExt cx="136" cy="128"/>
            </a:xfrm>
          </p:grpSpPr>
          <p:sp>
            <p:nvSpPr>
              <p:cNvPr id="28810" name="Line 23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1" name="Line 24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25"/>
            <p:cNvGrpSpPr>
              <a:grpSpLocks/>
            </p:cNvGrpSpPr>
            <p:nvPr/>
          </p:nvGrpSpPr>
          <p:grpSpPr bwMode="auto">
            <a:xfrm>
              <a:off x="402" y="1506"/>
              <a:ext cx="101" cy="95"/>
              <a:chOff x="704" y="1880"/>
              <a:chExt cx="136" cy="128"/>
            </a:xfrm>
          </p:grpSpPr>
          <p:sp>
            <p:nvSpPr>
              <p:cNvPr id="28808" name="Line 26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9" name="Line 27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28"/>
            <p:cNvGrpSpPr>
              <a:grpSpLocks/>
            </p:cNvGrpSpPr>
            <p:nvPr/>
          </p:nvGrpSpPr>
          <p:grpSpPr bwMode="auto">
            <a:xfrm>
              <a:off x="307" y="1506"/>
              <a:ext cx="101" cy="95"/>
              <a:chOff x="704" y="1880"/>
              <a:chExt cx="136" cy="128"/>
            </a:xfrm>
          </p:grpSpPr>
          <p:sp>
            <p:nvSpPr>
              <p:cNvPr id="28806" name="Line 29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7" name="Line 30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31"/>
            <p:cNvGrpSpPr>
              <a:grpSpLocks/>
            </p:cNvGrpSpPr>
            <p:nvPr/>
          </p:nvGrpSpPr>
          <p:grpSpPr bwMode="auto">
            <a:xfrm>
              <a:off x="206" y="1506"/>
              <a:ext cx="101" cy="95"/>
              <a:chOff x="704" y="1880"/>
              <a:chExt cx="136" cy="128"/>
            </a:xfrm>
          </p:grpSpPr>
          <p:sp>
            <p:nvSpPr>
              <p:cNvPr id="28804" name="Line 32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5" name="Line 33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799" name="Line 34"/>
            <p:cNvSpPr>
              <a:spLocks noChangeShapeType="1"/>
            </p:cNvSpPr>
            <p:nvPr/>
          </p:nvSpPr>
          <p:spPr bwMode="auto">
            <a:xfrm>
              <a:off x="758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00" name="Text Box 35"/>
            <p:cNvSpPr txBox="1">
              <a:spLocks noChangeArrowheads="1"/>
            </p:cNvSpPr>
            <p:nvPr/>
          </p:nvSpPr>
          <p:spPr bwMode="auto">
            <a:xfrm>
              <a:off x="650" y="1774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28801" name="Line 36"/>
            <p:cNvSpPr>
              <a:spLocks noChangeShapeType="1"/>
            </p:cNvSpPr>
            <p:nvPr/>
          </p:nvSpPr>
          <p:spPr bwMode="auto">
            <a:xfrm>
              <a:off x="1091" y="1725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02" name="Text Box 37"/>
            <p:cNvSpPr txBox="1">
              <a:spLocks noChangeArrowheads="1"/>
            </p:cNvSpPr>
            <p:nvPr/>
          </p:nvSpPr>
          <p:spPr bwMode="auto">
            <a:xfrm>
              <a:off x="1000" y="1768"/>
              <a:ext cx="3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28803" name="Text Box 38"/>
            <p:cNvSpPr txBox="1">
              <a:spLocks noChangeArrowheads="1"/>
            </p:cNvSpPr>
            <p:nvPr/>
          </p:nvSpPr>
          <p:spPr bwMode="auto">
            <a:xfrm>
              <a:off x="489" y="1317"/>
              <a:ext cx="17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k</a:t>
              </a:r>
            </a:p>
          </p:txBody>
        </p:sp>
      </p:grpSp>
      <p:grpSp>
        <p:nvGrpSpPr>
          <p:cNvPr id="11" name="Group 39"/>
          <p:cNvGrpSpPr>
            <a:grpSpLocks/>
          </p:cNvGrpSpPr>
          <p:nvPr/>
        </p:nvGrpSpPr>
        <p:grpSpPr bwMode="auto">
          <a:xfrm>
            <a:off x="5240339" y="1708150"/>
            <a:ext cx="1887537" cy="1123950"/>
            <a:chOff x="1037" y="605"/>
            <a:chExt cx="1189" cy="708"/>
          </a:xfrm>
        </p:grpSpPr>
        <p:sp>
          <p:nvSpPr>
            <p:cNvPr id="28753" name="AutoShape 40"/>
            <p:cNvSpPr>
              <a:spLocks noChangeArrowheads="1"/>
            </p:cNvSpPr>
            <p:nvPr/>
          </p:nvSpPr>
          <p:spPr bwMode="auto">
            <a:xfrm>
              <a:off x="1554" y="868"/>
              <a:ext cx="166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8754" name="Text Box 41"/>
            <p:cNvSpPr txBox="1">
              <a:spLocks noChangeArrowheads="1"/>
            </p:cNvSpPr>
            <p:nvPr/>
          </p:nvSpPr>
          <p:spPr bwMode="auto">
            <a:xfrm>
              <a:off x="1540" y="605"/>
              <a:ext cx="32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28755" name="Line 42"/>
            <p:cNvSpPr>
              <a:spLocks noChangeShapeType="1"/>
            </p:cNvSpPr>
            <p:nvPr/>
          </p:nvSpPr>
          <p:spPr bwMode="auto">
            <a:xfrm>
              <a:off x="1049" y="656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56" name="Line 43"/>
            <p:cNvSpPr>
              <a:spLocks noChangeShapeType="1"/>
            </p:cNvSpPr>
            <p:nvPr/>
          </p:nvSpPr>
          <p:spPr bwMode="auto">
            <a:xfrm rot="5400000" flipV="1">
              <a:off x="1545" y="525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oup 44"/>
            <p:cNvGrpSpPr>
              <a:grpSpLocks/>
            </p:cNvGrpSpPr>
            <p:nvPr/>
          </p:nvGrpSpPr>
          <p:grpSpPr bwMode="auto">
            <a:xfrm>
              <a:off x="1067" y="868"/>
              <a:ext cx="481" cy="94"/>
              <a:chOff x="2248" y="1248"/>
              <a:chExt cx="648" cy="128"/>
            </a:xfrm>
          </p:grpSpPr>
          <p:grpSp>
            <p:nvGrpSpPr>
              <p:cNvPr id="13" name="Group 45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28785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86" name="Line 4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48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28783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84" name="Line 5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51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28781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82" name="Line 5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54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28779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80" name="Line 5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57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28777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78" name="Line 5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60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28775" name="Line 6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76" name="Line 6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63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28773" name="Line 6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74" name="Line 6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66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28771" name="Line 6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72" name="Line 6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8758" name="Line 69"/>
            <p:cNvSpPr>
              <a:spLocks noChangeShapeType="1"/>
            </p:cNvSpPr>
            <p:nvPr/>
          </p:nvSpPr>
          <p:spPr bwMode="auto">
            <a:xfrm>
              <a:off x="1619" y="1074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59" name="Text Box 70"/>
            <p:cNvSpPr txBox="1">
              <a:spLocks noChangeArrowheads="1"/>
            </p:cNvSpPr>
            <p:nvPr/>
          </p:nvSpPr>
          <p:spPr bwMode="auto">
            <a:xfrm>
              <a:off x="1511" y="1121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28760" name="Line 71"/>
            <p:cNvSpPr>
              <a:spLocks noChangeShapeType="1"/>
            </p:cNvSpPr>
            <p:nvPr/>
          </p:nvSpPr>
          <p:spPr bwMode="auto">
            <a:xfrm>
              <a:off x="1952" y="1080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61" name="Text Box 72"/>
            <p:cNvSpPr txBox="1">
              <a:spLocks noChangeArrowheads="1"/>
            </p:cNvSpPr>
            <p:nvPr/>
          </p:nvSpPr>
          <p:spPr bwMode="auto">
            <a:xfrm>
              <a:off x="1861" y="1116"/>
              <a:ext cx="36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28762" name="Line 73"/>
            <p:cNvSpPr>
              <a:spLocks noChangeShapeType="1"/>
            </p:cNvSpPr>
            <p:nvPr/>
          </p:nvSpPr>
          <p:spPr bwMode="auto">
            <a:xfrm flipH="1">
              <a:off x="1500" y="809"/>
              <a:ext cx="2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74"/>
          <p:cNvGrpSpPr>
            <a:grpSpLocks/>
          </p:cNvGrpSpPr>
          <p:nvPr/>
        </p:nvGrpSpPr>
        <p:grpSpPr bwMode="auto">
          <a:xfrm>
            <a:off x="7847013" y="3267076"/>
            <a:ext cx="1612900" cy="1082675"/>
            <a:chOff x="2112" y="1300"/>
            <a:chExt cx="1016" cy="682"/>
          </a:xfrm>
        </p:grpSpPr>
        <p:sp>
          <p:nvSpPr>
            <p:cNvPr id="28720" name="AutoShape 75"/>
            <p:cNvSpPr>
              <a:spLocks noChangeArrowheads="1"/>
            </p:cNvSpPr>
            <p:nvPr/>
          </p:nvSpPr>
          <p:spPr bwMode="auto">
            <a:xfrm>
              <a:off x="2385" y="1495"/>
              <a:ext cx="167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8721" name="Line 76"/>
            <p:cNvSpPr>
              <a:spLocks noChangeShapeType="1"/>
            </p:cNvSpPr>
            <p:nvPr/>
          </p:nvSpPr>
          <p:spPr bwMode="auto">
            <a:xfrm>
              <a:off x="2124" y="1300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22" name="Line 77"/>
            <p:cNvSpPr>
              <a:spLocks noChangeShapeType="1"/>
            </p:cNvSpPr>
            <p:nvPr/>
          </p:nvSpPr>
          <p:spPr bwMode="auto">
            <a:xfrm rot="5400000" flipV="1">
              <a:off x="2620" y="1169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oup 78"/>
            <p:cNvGrpSpPr>
              <a:grpSpLocks/>
            </p:cNvGrpSpPr>
            <p:nvPr/>
          </p:nvGrpSpPr>
          <p:grpSpPr bwMode="auto">
            <a:xfrm>
              <a:off x="2148" y="1512"/>
              <a:ext cx="225" cy="95"/>
              <a:chOff x="2248" y="1248"/>
              <a:chExt cx="648" cy="128"/>
            </a:xfrm>
          </p:grpSpPr>
          <p:grpSp>
            <p:nvGrpSpPr>
              <p:cNvPr id="23" name="Group 79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28751" name="Line 8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52" name="Line 8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" name="Group 82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28749" name="Line 8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50" name="Line 8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5" name="Group 85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28747" name="Line 8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48" name="Line 8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" name="Group 88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28745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46" name="Line 9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91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28743" name="Line 9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44" name="Line 9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" name="Group 94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28741" name="Line 9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42" name="Line 9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" name="Group 97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28739" name="Line 9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40" name="Line 9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0" name="Group 100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28737" name="Line 10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8" name="Line 10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8724" name="Line 103"/>
            <p:cNvSpPr>
              <a:spLocks noChangeShapeType="1"/>
            </p:cNvSpPr>
            <p:nvPr/>
          </p:nvSpPr>
          <p:spPr bwMode="auto">
            <a:xfrm>
              <a:off x="2694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25" name="Text Box 104"/>
            <p:cNvSpPr txBox="1">
              <a:spLocks noChangeArrowheads="1"/>
            </p:cNvSpPr>
            <p:nvPr/>
          </p:nvSpPr>
          <p:spPr bwMode="auto">
            <a:xfrm>
              <a:off x="2586" y="1790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28726" name="Line 105"/>
            <p:cNvSpPr>
              <a:spLocks noChangeShapeType="1"/>
            </p:cNvSpPr>
            <p:nvPr/>
          </p:nvSpPr>
          <p:spPr bwMode="auto">
            <a:xfrm>
              <a:off x="2474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27" name="Text Box 106"/>
            <p:cNvSpPr txBox="1">
              <a:spLocks noChangeArrowheads="1"/>
            </p:cNvSpPr>
            <p:nvPr/>
          </p:nvSpPr>
          <p:spPr bwMode="auto">
            <a:xfrm>
              <a:off x="2342" y="1772"/>
              <a:ext cx="48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-x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28728" name="Text Box 107"/>
            <p:cNvSpPr txBox="1">
              <a:spLocks noChangeArrowheads="1"/>
            </p:cNvSpPr>
            <p:nvPr/>
          </p:nvSpPr>
          <p:spPr bwMode="auto">
            <a:xfrm>
              <a:off x="2342" y="1311"/>
              <a:ext cx="3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V=0</a:t>
              </a:r>
            </a:p>
          </p:txBody>
        </p:sp>
      </p:grpSp>
      <p:grpSp>
        <p:nvGrpSpPr>
          <p:cNvPr id="31" name="Group 108"/>
          <p:cNvGrpSpPr>
            <a:grpSpLocks/>
          </p:cNvGrpSpPr>
          <p:nvPr/>
        </p:nvGrpSpPr>
        <p:grpSpPr bwMode="auto">
          <a:xfrm>
            <a:off x="5227639" y="4914900"/>
            <a:ext cx="1798637" cy="1162050"/>
            <a:chOff x="1029" y="1941"/>
            <a:chExt cx="1133" cy="732"/>
          </a:xfrm>
        </p:grpSpPr>
        <p:sp>
          <p:nvSpPr>
            <p:cNvPr id="28686" name="AutoShape 109"/>
            <p:cNvSpPr>
              <a:spLocks noChangeArrowheads="1"/>
            </p:cNvSpPr>
            <p:nvPr/>
          </p:nvSpPr>
          <p:spPr bwMode="auto">
            <a:xfrm>
              <a:off x="1546" y="2220"/>
              <a:ext cx="166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8687" name="Text Box 110"/>
            <p:cNvSpPr txBox="1">
              <a:spLocks noChangeArrowheads="1"/>
            </p:cNvSpPr>
            <p:nvPr/>
          </p:nvSpPr>
          <p:spPr bwMode="auto">
            <a:xfrm>
              <a:off x="1532" y="1941"/>
              <a:ext cx="32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28688" name="Line 111"/>
            <p:cNvSpPr>
              <a:spLocks noChangeShapeType="1"/>
            </p:cNvSpPr>
            <p:nvPr/>
          </p:nvSpPr>
          <p:spPr bwMode="auto">
            <a:xfrm>
              <a:off x="1041" y="2008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9" name="Line 112"/>
            <p:cNvSpPr>
              <a:spLocks noChangeShapeType="1"/>
            </p:cNvSpPr>
            <p:nvPr/>
          </p:nvSpPr>
          <p:spPr bwMode="auto">
            <a:xfrm rot="5400000" flipV="1">
              <a:off x="1537" y="1877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672" name="Group 113"/>
            <p:cNvGrpSpPr>
              <a:grpSpLocks/>
            </p:cNvGrpSpPr>
            <p:nvPr/>
          </p:nvGrpSpPr>
          <p:grpSpPr bwMode="auto">
            <a:xfrm>
              <a:off x="1059" y="2220"/>
              <a:ext cx="481" cy="94"/>
              <a:chOff x="2248" y="1248"/>
              <a:chExt cx="648" cy="128"/>
            </a:xfrm>
          </p:grpSpPr>
          <p:grpSp>
            <p:nvGrpSpPr>
              <p:cNvPr id="28673" name="Group 114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28718" name="Line 11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9" name="Line 11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675" name="Group 117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28716" name="Line 11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7" name="Line 11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676" name="Group 120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28714" name="Line 12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5" name="Line 12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677" name="Group 123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28712" name="Line 12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3" name="Line 12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678" name="Group 126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28710" name="Line 12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1" name="Line 12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690" name="Group 129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28708" name="Line 13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9" name="Line 13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696" name="Group 132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28706" name="Line 13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7" name="Line 13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697" name="Group 135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28704" name="Line 13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5" name="Line 13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8691" name="Line 138"/>
            <p:cNvSpPr>
              <a:spLocks noChangeShapeType="1"/>
            </p:cNvSpPr>
            <p:nvPr/>
          </p:nvSpPr>
          <p:spPr bwMode="auto">
            <a:xfrm>
              <a:off x="1611" y="2426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92" name="Text Box 139"/>
            <p:cNvSpPr txBox="1">
              <a:spLocks noChangeArrowheads="1"/>
            </p:cNvSpPr>
            <p:nvPr/>
          </p:nvSpPr>
          <p:spPr bwMode="auto">
            <a:xfrm>
              <a:off x="1503" y="2481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28693" name="Line 140"/>
            <p:cNvSpPr>
              <a:spLocks noChangeShapeType="1"/>
            </p:cNvSpPr>
            <p:nvPr/>
          </p:nvSpPr>
          <p:spPr bwMode="auto">
            <a:xfrm>
              <a:off x="1944" y="2432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94" name="Text Box 141"/>
            <p:cNvSpPr txBox="1">
              <a:spLocks noChangeArrowheads="1"/>
            </p:cNvSpPr>
            <p:nvPr/>
          </p:nvSpPr>
          <p:spPr bwMode="auto">
            <a:xfrm>
              <a:off x="1853" y="2468"/>
              <a:ext cx="30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28695" name="Line 142"/>
            <p:cNvSpPr>
              <a:spLocks noChangeShapeType="1"/>
            </p:cNvSpPr>
            <p:nvPr/>
          </p:nvSpPr>
          <p:spPr bwMode="auto">
            <a:xfrm>
              <a:off x="1492" y="2161"/>
              <a:ext cx="2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679" name="Arc 143"/>
          <p:cNvSpPr>
            <a:spLocks/>
          </p:cNvSpPr>
          <p:nvPr/>
        </p:nvSpPr>
        <p:spPr bwMode="auto">
          <a:xfrm>
            <a:off x="5675314" y="3387726"/>
            <a:ext cx="801687" cy="944563"/>
          </a:xfrm>
          <a:custGeom>
            <a:avLst/>
            <a:gdLst>
              <a:gd name="T0" fmla="*/ 2654 w 43200"/>
              <a:gd name="T1" fmla="*/ 526441 h 43200"/>
              <a:gd name="T2" fmla="*/ 79556 w 43200"/>
              <a:gd name="T3" fmla="*/ 754667 h 43200"/>
              <a:gd name="T4" fmla="*/ 400844 w 43200"/>
              <a:gd name="T5" fmla="*/ 472282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142" y="24077"/>
                </a:moveTo>
                <a:cubicBezTo>
                  <a:pt x="47" y="23254"/>
                  <a:pt x="0" y="224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781" y="43200"/>
                  <a:pt x="8363" y="39980"/>
                  <a:pt x="4286" y="34515"/>
                </a:cubicBezTo>
              </a:path>
              <a:path w="43200" h="43200" stroke="0" extrusionOk="0">
                <a:moveTo>
                  <a:pt x="142" y="24077"/>
                </a:moveTo>
                <a:cubicBezTo>
                  <a:pt x="47" y="23254"/>
                  <a:pt x="0" y="224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781" y="43200"/>
                  <a:pt x="8363" y="39980"/>
                  <a:pt x="4286" y="34515"/>
                </a:cubicBez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arrow" w="lg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Text Box 144"/>
          <p:cNvSpPr txBox="1">
            <a:spLocks noChangeArrowheads="1"/>
          </p:cNvSpPr>
          <p:nvPr/>
        </p:nvSpPr>
        <p:spPr bwMode="auto">
          <a:xfrm>
            <a:off x="4368800" y="2878138"/>
            <a:ext cx="5984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a</a:t>
            </a:r>
            <a:r>
              <a:rPr lang="en-US" baseline="-25000">
                <a:solidFill>
                  <a:schemeClr val="bg2"/>
                </a:solidFill>
              </a:rPr>
              <a:t>max</a:t>
            </a:r>
          </a:p>
        </p:txBody>
      </p:sp>
      <p:sp>
        <p:nvSpPr>
          <p:cNvPr id="28681" name="Line 146"/>
          <p:cNvSpPr>
            <a:spLocks noChangeShapeType="1"/>
          </p:cNvSpPr>
          <p:nvPr/>
        </p:nvSpPr>
        <p:spPr bwMode="auto">
          <a:xfrm flipH="1">
            <a:off x="4432300" y="3249613"/>
            <a:ext cx="420688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682" name="Text Box 147"/>
          <p:cNvSpPr txBox="1">
            <a:spLocks noChangeArrowheads="1"/>
          </p:cNvSpPr>
          <p:nvPr/>
        </p:nvSpPr>
        <p:spPr bwMode="auto">
          <a:xfrm>
            <a:off x="8178800" y="2879726"/>
            <a:ext cx="5984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a</a:t>
            </a:r>
            <a:r>
              <a:rPr lang="en-US" baseline="-25000">
                <a:solidFill>
                  <a:schemeClr val="bg2"/>
                </a:solidFill>
              </a:rPr>
              <a:t>max</a:t>
            </a:r>
          </a:p>
        </p:txBody>
      </p:sp>
      <p:sp>
        <p:nvSpPr>
          <p:cNvPr id="28683" name="Line 148"/>
          <p:cNvSpPr>
            <a:spLocks noChangeShapeType="1"/>
          </p:cNvSpPr>
          <p:nvPr/>
        </p:nvSpPr>
        <p:spPr bwMode="auto">
          <a:xfrm>
            <a:off x="8242300" y="3251200"/>
            <a:ext cx="420688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684" name="Text Box 149"/>
          <p:cNvSpPr txBox="1">
            <a:spLocks noChangeArrowheads="1"/>
          </p:cNvSpPr>
          <p:nvPr/>
        </p:nvSpPr>
        <p:spPr bwMode="auto">
          <a:xfrm>
            <a:off x="5965825" y="1435101"/>
            <a:ext cx="571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a=0</a:t>
            </a:r>
          </a:p>
        </p:txBody>
      </p:sp>
      <p:sp>
        <p:nvSpPr>
          <p:cNvPr id="28685" name="Text Box 150"/>
          <p:cNvSpPr txBox="1">
            <a:spLocks noChangeArrowheads="1"/>
          </p:cNvSpPr>
          <p:nvPr/>
        </p:nvSpPr>
        <p:spPr bwMode="auto">
          <a:xfrm>
            <a:off x="6016625" y="4664076"/>
            <a:ext cx="571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a=0</a:t>
            </a:r>
          </a:p>
        </p:txBody>
      </p:sp>
    </p:spTree>
    <p:extLst>
      <p:ext uri="{BB962C8B-B14F-4D97-AF65-F5344CB8AC3E}">
        <p14:creationId xmlns:p14="http://schemas.microsoft.com/office/powerpoint/2010/main" val="2432897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2007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FE37BE-2BA8-4184-B16F-FB7D47E262F9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8063023" y="3327991"/>
            <a:ext cx="265814" cy="24454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5" idx="2"/>
          </p:cNvCxnSpPr>
          <p:nvPr/>
        </p:nvCxnSpPr>
        <p:spPr>
          <a:xfrm flipH="1" flipV="1">
            <a:off x="7052931" y="3444949"/>
            <a:ext cx="1010093" cy="53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97746" y="2892056"/>
            <a:ext cx="669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</a:t>
            </a:r>
            <a:r>
              <a:rPr lang="en-US" sz="2400" baseline="-25000" dirty="0" err="1"/>
              <a:t>ms</a:t>
            </a:r>
            <a:endParaRPr lang="en-US" sz="2400" baseline="-25000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8201248" y="3570768"/>
            <a:ext cx="3543" cy="4164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8194164" y="2915096"/>
            <a:ext cx="3543" cy="4164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36687" y="2587258"/>
            <a:ext cx="964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N</a:t>
            </a:r>
            <a:r>
              <a:rPr lang="en-US" sz="2400" baseline="-25000" dirty="0" err="1"/>
              <a:t>mT</a:t>
            </a:r>
            <a:endParaRPr lang="en-US" sz="2400" baseline="-25000" dirty="0"/>
          </a:p>
        </p:txBody>
      </p:sp>
      <p:sp>
        <p:nvSpPr>
          <p:cNvPr id="17" name="TextBox 16"/>
          <p:cNvSpPr txBox="1"/>
          <p:nvPr/>
        </p:nvSpPr>
        <p:spPr>
          <a:xfrm>
            <a:off x="8357188" y="3760381"/>
            <a:ext cx="964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W</a:t>
            </a:r>
            <a:r>
              <a:rPr lang="en-US" sz="2400" baseline="-25000" dirty="0" err="1"/>
              <a:t>mE</a:t>
            </a:r>
            <a:endParaRPr lang="en-US" sz="2400" baseline="-25000" dirty="0"/>
          </a:p>
        </p:txBody>
      </p:sp>
      <p:grpSp>
        <p:nvGrpSpPr>
          <p:cNvPr id="20" name="Group 5"/>
          <p:cNvGrpSpPr>
            <a:grpSpLocks/>
          </p:cNvGrpSpPr>
          <p:nvPr/>
        </p:nvGrpSpPr>
        <p:grpSpPr bwMode="auto">
          <a:xfrm>
            <a:off x="2791568" y="2847338"/>
            <a:ext cx="1925638" cy="1057275"/>
            <a:chOff x="176" y="1300"/>
            <a:chExt cx="1213" cy="666"/>
          </a:xfrm>
        </p:grpSpPr>
        <p:sp>
          <p:nvSpPr>
            <p:cNvPr id="21" name="AutoShape 6"/>
            <p:cNvSpPr>
              <a:spLocks noChangeArrowheads="1"/>
            </p:cNvSpPr>
            <p:nvPr/>
          </p:nvSpPr>
          <p:spPr bwMode="auto">
            <a:xfrm>
              <a:off x="1013" y="1512"/>
              <a:ext cx="167" cy="15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2" name="Text Box 7"/>
            <p:cNvSpPr txBox="1">
              <a:spLocks noChangeArrowheads="1"/>
            </p:cNvSpPr>
            <p:nvPr/>
          </p:nvSpPr>
          <p:spPr bwMode="auto">
            <a:xfrm>
              <a:off x="982" y="1329"/>
              <a:ext cx="3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V=0</a:t>
              </a:r>
            </a:p>
          </p:txBody>
        </p:sp>
        <p:sp>
          <p:nvSpPr>
            <p:cNvPr id="23" name="Line 8"/>
            <p:cNvSpPr>
              <a:spLocks noChangeShapeType="1"/>
            </p:cNvSpPr>
            <p:nvPr/>
          </p:nvSpPr>
          <p:spPr bwMode="auto">
            <a:xfrm>
              <a:off x="188" y="1300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9"/>
            <p:cNvSpPr>
              <a:spLocks noChangeShapeType="1"/>
            </p:cNvSpPr>
            <p:nvPr/>
          </p:nvSpPr>
          <p:spPr bwMode="auto">
            <a:xfrm rot="5400000" flipV="1">
              <a:off x="684" y="1169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10"/>
            <p:cNvGrpSpPr>
              <a:grpSpLocks/>
            </p:cNvGrpSpPr>
            <p:nvPr/>
          </p:nvGrpSpPr>
          <p:grpSpPr bwMode="auto">
            <a:xfrm>
              <a:off x="901" y="1506"/>
              <a:ext cx="101" cy="95"/>
              <a:chOff x="704" y="1880"/>
              <a:chExt cx="136" cy="128"/>
            </a:xfrm>
          </p:grpSpPr>
          <p:sp>
            <p:nvSpPr>
              <p:cNvPr id="52" name="Line 11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Line 12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" name="Group 13"/>
            <p:cNvGrpSpPr>
              <a:grpSpLocks/>
            </p:cNvGrpSpPr>
            <p:nvPr/>
          </p:nvGrpSpPr>
          <p:grpSpPr bwMode="auto">
            <a:xfrm>
              <a:off x="794" y="1506"/>
              <a:ext cx="101" cy="95"/>
              <a:chOff x="704" y="1880"/>
              <a:chExt cx="136" cy="128"/>
            </a:xfrm>
          </p:grpSpPr>
          <p:sp>
            <p:nvSpPr>
              <p:cNvPr id="50" name="Line 14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Line 15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" name="Group 16"/>
            <p:cNvGrpSpPr>
              <a:grpSpLocks/>
            </p:cNvGrpSpPr>
            <p:nvPr/>
          </p:nvGrpSpPr>
          <p:grpSpPr bwMode="auto">
            <a:xfrm>
              <a:off x="699" y="1506"/>
              <a:ext cx="101" cy="95"/>
              <a:chOff x="704" y="1880"/>
              <a:chExt cx="136" cy="128"/>
            </a:xfrm>
          </p:grpSpPr>
          <p:sp>
            <p:nvSpPr>
              <p:cNvPr id="48" name="Line 17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Line 18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" name="Group 19"/>
            <p:cNvGrpSpPr>
              <a:grpSpLocks/>
            </p:cNvGrpSpPr>
            <p:nvPr/>
          </p:nvGrpSpPr>
          <p:grpSpPr bwMode="auto">
            <a:xfrm>
              <a:off x="598" y="1506"/>
              <a:ext cx="101" cy="95"/>
              <a:chOff x="704" y="1880"/>
              <a:chExt cx="136" cy="128"/>
            </a:xfrm>
          </p:grpSpPr>
          <p:sp>
            <p:nvSpPr>
              <p:cNvPr id="46" name="Line 20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Line 21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" name="Group 22"/>
            <p:cNvGrpSpPr>
              <a:grpSpLocks/>
            </p:cNvGrpSpPr>
            <p:nvPr/>
          </p:nvGrpSpPr>
          <p:grpSpPr bwMode="auto">
            <a:xfrm>
              <a:off x="503" y="1506"/>
              <a:ext cx="101" cy="95"/>
              <a:chOff x="704" y="1880"/>
              <a:chExt cx="136" cy="128"/>
            </a:xfrm>
          </p:grpSpPr>
          <p:sp>
            <p:nvSpPr>
              <p:cNvPr id="44" name="Line 23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Line 24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" name="Group 25"/>
            <p:cNvGrpSpPr>
              <a:grpSpLocks/>
            </p:cNvGrpSpPr>
            <p:nvPr/>
          </p:nvGrpSpPr>
          <p:grpSpPr bwMode="auto">
            <a:xfrm>
              <a:off x="402" y="1506"/>
              <a:ext cx="101" cy="95"/>
              <a:chOff x="704" y="1880"/>
              <a:chExt cx="136" cy="128"/>
            </a:xfrm>
          </p:grpSpPr>
          <p:sp>
            <p:nvSpPr>
              <p:cNvPr id="42" name="Line 26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Line 27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" name="Group 28"/>
            <p:cNvGrpSpPr>
              <a:grpSpLocks/>
            </p:cNvGrpSpPr>
            <p:nvPr/>
          </p:nvGrpSpPr>
          <p:grpSpPr bwMode="auto">
            <a:xfrm>
              <a:off x="307" y="1506"/>
              <a:ext cx="101" cy="95"/>
              <a:chOff x="704" y="1880"/>
              <a:chExt cx="136" cy="128"/>
            </a:xfrm>
          </p:grpSpPr>
          <p:sp>
            <p:nvSpPr>
              <p:cNvPr id="40" name="Line 29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30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" name="Group 31"/>
            <p:cNvGrpSpPr>
              <a:grpSpLocks/>
            </p:cNvGrpSpPr>
            <p:nvPr/>
          </p:nvGrpSpPr>
          <p:grpSpPr bwMode="auto">
            <a:xfrm>
              <a:off x="206" y="1506"/>
              <a:ext cx="101" cy="95"/>
              <a:chOff x="704" y="1880"/>
              <a:chExt cx="136" cy="128"/>
            </a:xfrm>
          </p:grpSpPr>
          <p:sp>
            <p:nvSpPr>
              <p:cNvPr id="38" name="Line 32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33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" name="Line 34"/>
            <p:cNvSpPr>
              <a:spLocks noChangeShapeType="1"/>
            </p:cNvSpPr>
            <p:nvPr/>
          </p:nvSpPr>
          <p:spPr bwMode="auto">
            <a:xfrm>
              <a:off x="758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Box 35"/>
            <p:cNvSpPr txBox="1">
              <a:spLocks noChangeArrowheads="1"/>
            </p:cNvSpPr>
            <p:nvPr/>
          </p:nvSpPr>
          <p:spPr bwMode="auto">
            <a:xfrm>
              <a:off x="650" y="1774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35" name="Line 36"/>
            <p:cNvSpPr>
              <a:spLocks noChangeShapeType="1"/>
            </p:cNvSpPr>
            <p:nvPr/>
          </p:nvSpPr>
          <p:spPr bwMode="auto">
            <a:xfrm>
              <a:off x="1091" y="1725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Box 37"/>
            <p:cNvSpPr txBox="1">
              <a:spLocks noChangeArrowheads="1"/>
            </p:cNvSpPr>
            <p:nvPr/>
          </p:nvSpPr>
          <p:spPr bwMode="auto">
            <a:xfrm>
              <a:off x="1000" y="1768"/>
              <a:ext cx="3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37" name="Text Box 38"/>
            <p:cNvSpPr txBox="1">
              <a:spLocks noChangeArrowheads="1"/>
            </p:cNvSpPr>
            <p:nvPr/>
          </p:nvSpPr>
          <p:spPr bwMode="auto">
            <a:xfrm>
              <a:off x="489" y="1317"/>
              <a:ext cx="17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k</a:t>
              </a:r>
            </a:p>
          </p:txBody>
        </p:sp>
      </p:grpSp>
      <p:sp>
        <p:nvSpPr>
          <p:cNvPr id="54" name="Text Box 144"/>
          <p:cNvSpPr txBox="1">
            <a:spLocks noChangeArrowheads="1"/>
          </p:cNvSpPr>
          <p:nvPr/>
        </p:nvSpPr>
        <p:spPr bwMode="auto">
          <a:xfrm>
            <a:off x="4071093" y="2399662"/>
            <a:ext cx="5984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a</a:t>
            </a:r>
            <a:r>
              <a:rPr lang="en-US" baseline="-25000">
                <a:solidFill>
                  <a:schemeClr val="bg2"/>
                </a:solidFill>
              </a:rPr>
              <a:t>max</a:t>
            </a:r>
          </a:p>
        </p:txBody>
      </p:sp>
      <p:sp>
        <p:nvSpPr>
          <p:cNvPr id="55" name="Line 146"/>
          <p:cNvSpPr>
            <a:spLocks noChangeShapeType="1"/>
          </p:cNvSpPr>
          <p:nvPr/>
        </p:nvSpPr>
        <p:spPr bwMode="auto">
          <a:xfrm flipH="1">
            <a:off x="4134593" y="2771137"/>
            <a:ext cx="420688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05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2007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FE37BE-2BA8-4184-B16F-FB7D47E262F9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5102116" y="2739504"/>
            <a:ext cx="1887537" cy="1123950"/>
            <a:chOff x="1037" y="605"/>
            <a:chExt cx="1189" cy="708"/>
          </a:xfrm>
        </p:grpSpPr>
        <p:sp>
          <p:nvSpPr>
            <p:cNvPr id="6" name="AutoShape 40"/>
            <p:cNvSpPr>
              <a:spLocks noChangeArrowheads="1"/>
            </p:cNvSpPr>
            <p:nvPr/>
          </p:nvSpPr>
          <p:spPr bwMode="auto">
            <a:xfrm>
              <a:off x="1554" y="868"/>
              <a:ext cx="166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7" name="Text Box 41"/>
            <p:cNvSpPr txBox="1">
              <a:spLocks noChangeArrowheads="1"/>
            </p:cNvSpPr>
            <p:nvPr/>
          </p:nvSpPr>
          <p:spPr bwMode="auto">
            <a:xfrm>
              <a:off x="1540" y="605"/>
              <a:ext cx="32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rgbClr val="00B050"/>
                  </a:solidFill>
                </a:rPr>
                <a:t>V</a:t>
              </a:r>
              <a:r>
                <a:rPr lang="en-US" sz="1400" baseline="-25000" dirty="0">
                  <a:solidFill>
                    <a:srgbClr val="00B050"/>
                  </a:solidFill>
                </a:rPr>
                <a:t>max</a:t>
              </a:r>
            </a:p>
          </p:txBody>
        </p:sp>
        <p:sp>
          <p:nvSpPr>
            <p:cNvPr id="8" name="Line 42"/>
            <p:cNvSpPr>
              <a:spLocks noChangeShapeType="1"/>
            </p:cNvSpPr>
            <p:nvPr/>
          </p:nvSpPr>
          <p:spPr bwMode="auto">
            <a:xfrm>
              <a:off x="1049" y="656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43"/>
            <p:cNvSpPr>
              <a:spLocks noChangeShapeType="1"/>
            </p:cNvSpPr>
            <p:nvPr/>
          </p:nvSpPr>
          <p:spPr bwMode="auto">
            <a:xfrm rot="5400000" flipV="1">
              <a:off x="1545" y="525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" name="Group 44"/>
            <p:cNvGrpSpPr>
              <a:grpSpLocks/>
            </p:cNvGrpSpPr>
            <p:nvPr/>
          </p:nvGrpSpPr>
          <p:grpSpPr bwMode="auto">
            <a:xfrm>
              <a:off x="1067" y="868"/>
              <a:ext cx="481" cy="94"/>
              <a:chOff x="2248" y="1248"/>
              <a:chExt cx="648" cy="128"/>
            </a:xfrm>
          </p:grpSpPr>
          <p:grpSp>
            <p:nvGrpSpPr>
              <p:cNvPr id="16" name="Group 45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38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Line 4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48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36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Line 5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51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34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Line 5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54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32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Line 5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57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30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Line 5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60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28" name="Line 6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Line 6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63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26" name="Line 6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Line 6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66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24" name="Line 6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Line 6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1" name="Line 69"/>
            <p:cNvSpPr>
              <a:spLocks noChangeShapeType="1"/>
            </p:cNvSpPr>
            <p:nvPr/>
          </p:nvSpPr>
          <p:spPr bwMode="auto">
            <a:xfrm>
              <a:off x="1619" y="1074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70"/>
            <p:cNvSpPr txBox="1">
              <a:spLocks noChangeArrowheads="1"/>
            </p:cNvSpPr>
            <p:nvPr/>
          </p:nvSpPr>
          <p:spPr bwMode="auto">
            <a:xfrm>
              <a:off x="1511" y="1121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13" name="Line 71"/>
            <p:cNvSpPr>
              <a:spLocks noChangeShapeType="1"/>
            </p:cNvSpPr>
            <p:nvPr/>
          </p:nvSpPr>
          <p:spPr bwMode="auto">
            <a:xfrm>
              <a:off x="1952" y="1080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Box 72"/>
            <p:cNvSpPr txBox="1">
              <a:spLocks noChangeArrowheads="1"/>
            </p:cNvSpPr>
            <p:nvPr/>
          </p:nvSpPr>
          <p:spPr bwMode="auto">
            <a:xfrm>
              <a:off x="1861" y="1116"/>
              <a:ext cx="36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15" name="Line 73"/>
            <p:cNvSpPr>
              <a:spLocks noChangeShapeType="1"/>
            </p:cNvSpPr>
            <p:nvPr/>
          </p:nvSpPr>
          <p:spPr bwMode="auto">
            <a:xfrm flipH="1">
              <a:off x="1500" y="809"/>
              <a:ext cx="2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Text Box 149"/>
          <p:cNvSpPr txBox="1">
            <a:spLocks noChangeArrowheads="1"/>
          </p:cNvSpPr>
          <p:nvPr/>
        </p:nvSpPr>
        <p:spPr bwMode="auto">
          <a:xfrm>
            <a:off x="5827602" y="2466455"/>
            <a:ext cx="571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a=0</a:t>
            </a:r>
          </a:p>
        </p:txBody>
      </p:sp>
    </p:spTree>
    <p:extLst>
      <p:ext uri="{BB962C8B-B14F-4D97-AF65-F5344CB8AC3E}">
        <p14:creationId xmlns:p14="http://schemas.microsoft.com/office/powerpoint/2010/main" val="2455326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/>
          <p:cNvCxnSpPr/>
          <p:nvPr/>
        </p:nvCxnSpPr>
        <p:spPr>
          <a:xfrm>
            <a:off x="2484582" y="3768435"/>
            <a:ext cx="3158836" cy="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3089275" y="3325814"/>
            <a:ext cx="1925638" cy="1057275"/>
            <a:chOff x="176" y="1300"/>
            <a:chExt cx="1213" cy="666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1013" y="1512"/>
              <a:ext cx="167" cy="15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982" y="1329"/>
              <a:ext cx="3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rgbClr val="00B050"/>
                  </a:solidFill>
                </a:rPr>
                <a:t>V=0</a:t>
              </a:r>
            </a:p>
          </p:txBody>
        </p:sp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188" y="1300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rot="5400000" flipV="1">
              <a:off x="684" y="1169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oup 7"/>
            <p:cNvGrpSpPr>
              <a:grpSpLocks/>
            </p:cNvGrpSpPr>
            <p:nvPr/>
          </p:nvGrpSpPr>
          <p:grpSpPr bwMode="auto">
            <a:xfrm>
              <a:off x="901" y="1506"/>
              <a:ext cx="101" cy="95"/>
              <a:chOff x="704" y="1880"/>
              <a:chExt cx="136" cy="128"/>
            </a:xfrm>
          </p:grpSpPr>
          <p:sp>
            <p:nvSpPr>
              <p:cNvPr id="39" name="Line 8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Line 9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" name="Group 10"/>
            <p:cNvGrpSpPr>
              <a:grpSpLocks/>
            </p:cNvGrpSpPr>
            <p:nvPr/>
          </p:nvGrpSpPr>
          <p:grpSpPr bwMode="auto">
            <a:xfrm>
              <a:off x="794" y="1506"/>
              <a:ext cx="101" cy="95"/>
              <a:chOff x="704" y="1880"/>
              <a:chExt cx="136" cy="128"/>
            </a:xfrm>
          </p:grpSpPr>
          <p:sp>
            <p:nvSpPr>
              <p:cNvPr id="37" name="Line 11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Line 12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3"/>
            <p:cNvGrpSpPr>
              <a:grpSpLocks/>
            </p:cNvGrpSpPr>
            <p:nvPr/>
          </p:nvGrpSpPr>
          <p:grpSpPr bwMode="auto">
            <a:xfrm>
              <a:off x="699" y="1506"/>
              <a:ext cx="101" cy="95"/>
              <a:chOff x="704" y="1880"/>
              <a:chExt cx="136" cy="128"/>
            </a:xfrm>
          </p:grpSpPr>
          <p:sp>
            <p:nvSpPr>
              <p:cNvPr id="35" name="Line 14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15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6"/>
            <p:cNvGrpSpPr>
              <a:grpSpLocks/>
            </p:cNvGrpSpPr>
            <p:nvPr/>
          </p:nvGrpSpPr>
          <p:grpSpPr bwMode="auto">
            <a:xfrm>
              <a:off x="598" y="1506"/>
              <a:ext cx="101" cy="95"/>
              <a:chOff x="704" y="1880"/>
              <a:chExt cx="136" cy="128"/>
            </a:xfrm>
          </p:grpSpPr>
          <p:sp>
            <p:nvSpPr>
              <p:cNvPr id="33" name="Line 17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18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9"/>
            <p:cNvGrpSpPr>
              <a:grpSpLocks/>
            </p:cNvGrpSpPr>
            <p:nvPr/>
          </p:nvGrpSpPr>
          <p:grpSpPr bwMode="auto">
            <a:xfrm>
              <a:off x="503" y="1506"/>
              <a:ext cx="101" cy="95"/>
              <a:chOff x="704" y="1880"/>
              <a:chExt cx="136" cy="128"/>
            </a:xfrm>
          </p:grpSpPr>
          <p:sp>
            <p:nvSpPr>
              <p:cNvPr id="31" name="Line 20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21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22"/>
            <p:cNvGrpSpPr>
              <a:grpSpLocks/>
            </p:cNvGrpSpPr>
            <p:nvPr/>
          </p:nvGrpSpPr>
          <p:grpSpPr bwMode="auto">
            <a:xfrm>
              <a:off x="402" y="1506"/>
              <a:ext cx="101" cy="95"/>
              <a:chOff x="704" y="1880"/>
              <a:chExt cx="136" cy="128"/>
            </a:xfrm>
          </p:grpSpPr>
          <p:sp>
            <p:nvSpPr>
              <p:cNvPr id="29" name="Line 23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Line 24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25"/>
            <p:cNvGrpSpPr>
              <a:grpSpLocks/>
            </p:cNvGrpSpPr>
            <p:nvPr/>
          </p:nvGrpSpPr>
          <p:grpSpPr bwMode="auto">
            <a:xfrm>
              <a:off x="307" y="1506"/>
              <a:ext cx="101" cy="95"/>
              <a:chOff x="704" y="1880"/>
              <a:chExt cx="136" cy="128"/>
            </a:xfrm>
          </p:grpSpPr>
          <p:sp>
            <p:nvSpPr>
              <p:cNvPr id="27" name="Line 26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27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" name="Group 28"/>
            <p:cNvGrpSpPr>
              <a:grpSpLocks/>
            </p:cNvGrpSpPr>
            <p:nvPr/>
          </p:nvGrpSpPr>
          <p:grpSpPr bwMode="auto">
            <a:xfrm>
              <a:off x="206" y="1506"/>
              <a:ext cx="101" cy="95"/>
              <a:chOff x="704" y="1880"/>
              <a:chExt cx="136" cy="128"/>
            </a:xfrm>
          </p:grpSpPr>
          <p:sp>
            <p:nvSpPr>
              <p:cNvPr id="25" name="Line 29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Line 30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" name="Line 31"/>
            <p:cNvSpPr>
              <a:spLocks noChangeShapeType="1"/>
            </p:cNvSpPr>
            <p:nvPr/>
          </p:nvSpPr>
          <p:spPr bwMode="auto">
            <a:xfrm>
              <a:off x="758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Box 32"/>
            <p:cNvSpPr txBox="1">
              <a:spLocks noChangeArrowheads="1"/>
            </p:cNvSpPr>
            <p:nvPr/>
          </p:nvSpPr>
          <p:spPr bwMode="auto">
            <a:xfrm>
              <a:off x="650" y="1774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 dirty="0"/>
                <a:t>x=0</a:t>
              </a:r>
            </a:p>
          </p:txBody>
        </p:sp>
        <p:sp>
          <p:nvSpPr>
            <p:cNvPr id="22" name="Line 33"/>
            <p:cNvSpPr>
              <a:spLocks noChangeShapeType="1"/>
            </p:cNvSpPr>
            <p:nvPr/>
          </p:nvSpPr>
          <p:spPr bwMode="auto">
            <a:xfrm>
              <a:off x="1091" y="1725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Box 34"/>
            <p:cNvSpPr txBox="1">
              <a:spLocks noChangeArrowheads="1"/>
            </p:cNvSpPr>
            <p:nvPr/>
          </p:nvSpPr>
          <p:spPr bwMode="auto">
            <a:xfrm>
              <a:off x="1000" y="1768"/>
              <a:ext cx="3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24" name="Text Box 35"/>
            <p:cNvSpPr txBox="1">
              <a:spLocks noChangeArrowheads="1"/>
            </p:cNvSpPr>
            <p:nvPr/>
          </p:nvSpPr>
          <p:spPr bwMode="auto">
            <a:xfrm>
              <a:off x="489" y="1317"/>
              <a:ext cx="17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k</a:t>
              </a:r>
            </a:p>
          </p:txBody>
        </p:sp>
      </p:grpSp>
      <p:sp>
        <p:nvSpPr>
          <p:cNvPr id="41" name="Text Box 141"/>
          <p:cNvSpPr txBox="1">
            <a:spLocks noChangeArrowheads="1"/>
          </p:cNvSpPr>
          <p:nvPr/>
        </p:nvSpPr>
        <p:spPr bwMode="auto">
          <a:xfrm>
            <a:off x="4368800" y="2878138"/>
            <a:ext cx="5984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a</a:t>
            </a:r>
            <a:r>
              <a:rPr lang="en-US" baseline="-25000" dirty="0" err="1">
                <a:solidFill>
                  <a:srgbClr val="FF0000"/>
                </a:solidFill>
              </a:rPr>
              <a:t>max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42" name="Line 142"/>
          <p:cNvSpPr>
            <a:spLocks noChangeShapeType="1"/>
          </p:cNvSpPr>
          <p:nvPr/>
        </p:nvSpPr>
        <p:spPr bwMode="auto">
          <a:xfrm flipH="1">
            <a:off x="4418013" y="2957005"/>
            <a:ext cx="420688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Text Box 32"/>
          <p:cNvSpPr txBox="1">
            <a:spLocks noChangeArrowheads="1"/>
          </p:cNvSpPr>
          <p:nvPr/>
        </p:nvSpPr>
        <p:spPr bwMode="auto">
          <a:xfrm>
            <a:off x="5684405" y="3584143"/>
            <a:ext cx="53251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/>
              <a:t>y = 0</a:t>
            </a:r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4014428" y="2724727"/>
            <a:ext cx="3390" cy="126119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317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3" name="Group 71"/>
          <p:cNvGrpSpPr>
            <a:grpSpLocks/>
          </p:cNvGrpSpPr>
          <p:nvPr/>
        </p:nvGrpSpPr>
        <p:grpSpPr bwMode="auto">
          <a:xfrm>
            <a:off x="4817486" y="3008458"/>
            <a:ext cx="1612900" cy="1082675"/>
            <a:chOff x="2112" y="1300"/>
            <a:chExt cx="1016" cy="682"/>
          </a:xfrm>
        </p:grpSpPr>
        <p:sp>
          <p:nvSpPr>
            <p:cNvPr id="54" name="AutoShape 72"/>
            <p:cNvSpPr>
              <a:spLocks noChangeArrowheads="1"/>
            </p:cNvSpPr>
            <p:nvPr/>
          </p:nvSpPr>
          <p:spPr bwMode="auto">
            <a:xfrm>
              <a:off x="2385" y="1495"/>
              <a:ext cx="167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55" name="Line 73"/>
            <p:cNvSpPr>
              <a:spLocks noChangeShapeType="1"/>
            </p:cNvSpPr>
            <p:nvPr/>
          </p:nvSpPr>
          <p:spPr bwMode="auto">
            <a:xfrm>
              <a:off x="2124" y="1300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74"/>
            <p:cNvSpPr>
              <a:spLocks noChangeShapeType="1"/>
            </p:cNvSpPr>
            <p:nvPr/>
          </p:nvSpPr>
          <p:spPr bwMode="auto">
            <a:xfrm rot="5400000" flipV="1">
              <a:off x="2620" y="1169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57" name="Group 75"/>
            <p:cNvGrpSpPr>
              <a:grpSpLocks/>
            </p:cNvGrpSpPr>
            <p:nvPr/>
          </p:nvGrpSpPr>
          <p:grpSpPr bwMode="auto">
            <a:xfrm>
              <a:off x="2148" y="1512"/>
              <a:ext cx="225" cy="95"/>
              <a:chOff x="2248" y="1248"/>
              <a:chExt cx="648" cy="128"/>
            </a:xfrm>
          </p:grpSpPr>
          <p:grpSp>
            <p:nvGrpSpPr>
              <p:cNvPr id="63" name="Group 76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85" name="Line 7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" name="Line 7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4" name="Group 79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83" name="Line 8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" name="Line 8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5" name="Group 82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81" name="Line 8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" name="Line 8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6" name="Group 85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79" name="Line 8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" name="Line 8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7" name="Group 88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77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" name="Line 9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8" name="Group 91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75" name="Line 9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" name="Line 9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9" name="Group 94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73" name="Line 9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" name="Line 9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0" name="Group 97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71" name="Line 9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" name="Line 9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58" name="Line 100"/>
            <p:cNvSpPr>
              <a:spLocks noChangeShapeType="1"/>
            </p:cNvSpPr>
            <p:nvPr/>
          </p:nvSpPr>
          <p:spPr bwMode="auto">
            <a:xfrm>
              <a:off x="2694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Box 101"/>
            <p:cNvSpPr txBox="1">
              <a:spLocks noChangeArrowheads="1"/>
            </p:cNvSpPr>
            <p:nvPr/>
          </p:nvSpPr>
          <p:spPr bwMode="auto">
            <a:xfrm>
              <a:off x="2586" y="1790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60" name="Line 102"/>
            <p:cNvSpPr>
              <a:spLocks noChangeShapeType="1"/>
            </p:cNvSpPr>
            <p:nvPr/>
          </p:nvSpPr>
          <p:spPr bwMode="auto">
            <a:xfrm>
              <a:off x="2474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Box 103"/>
            <p:cNvSpPr txBox="1">
              <a:spLocks noChangeArrowheads="1"/>
            </p:cNvSpPr>
            <p:nvPr/>
          </p:nvSpPr>
          <p:spPr bwMode="auto">
            <a:xfrm>
              <a:off x="2342" y="1772"/>
              <a:ext cx="48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-x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62" name="Text Box 104"/>
            <p:cNvSpPr txBox="1">
              <a:spLocks noChangeArrowheads="1"/>
            </p:cNvSpPr>
            <p:nvPr/>
          </p:nvSpPr>
          <p:spPr bwMode="auto">
            <a:xfrm>
              <a:off x="2342" y="1311"/>
              <a:ext cx="3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rgbClr val="00B050"/>
                  </a:solidFill>
                </a:rPr>
                <a:t>V=0</a:t>
              </a:r>
            </a:p>
          </p:txBody>
        </p:sp>
      </p:grpSp>
      <p:sp>
        <p:nvSpPr>
          <p:cNvPr id="87" name="Text Box 143"/>
          <p:cNvSpPr txBox="1">
            <a:spLocks noChangeArrowheads="1"/>
          </p:cNvSpPr>
          <p:nvPr/>
        </p:nvSpPr>
        <p:spPr bwMode="auto">
          <a:xfrm>
            <a:off x="5149273" y="2621108"/>
            <a:ext cx="5984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a</a:t>
            </a:r>
            <a:r>
              <a:rPr lang="en-US" baseline="-25000" dirty="0" err="1">
                <a:solidFill>
                  <a:srgbClr val="FF0000"/>
                </a:solidFill>
              </a:rPr>
              <a:t>max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88" name="Line 144"/>
          <p:cNvSpPr>
            <a:spLocks noChangeShapeType="1"/>
          </p:cNvSpPr>
          <p:nvPr/>
        </p:nvSpPr>
        <p:spPr bwMode="auto">
          <a:xfrm>
            <a:off x="5181817" y="2690558"/>
            <a:ext cx="420688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cxnSp>
        <p:nvCxnSpPr>
          <p:cNvPr id="89" name="Straight Connector 88"/>
          <p:cNvCxnSpPr/>
          <p:nvPr/>
        </p:nvCxnSpPr>
        <p:spPr>
          <a:xfrm>
            <a:off x="4216401" y="3440544"/>
            <a:ext cx="3158836" cy="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 Box 32"/>
          <p:cNvSpPr txBox="1">
            <a:spLocks noChangeArrowheads="1"/>
          </p:cNvSpPr>
          <p:nvPr/>
        </p:nvSpPr>
        <p:spPr bwMode="auto">
          <a:xfrm>
            <a:off x="7416224" y="3256252"/>
            <a:ext cx="53251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/>
              <a:t>y = 0</a:t>
            </a:r>
          </a:p>
        </p:txBody>
      </p:sp>
      <p:cxnSp>
        <p:nvCxnSpPr>
          <p:cNvPr id="91" name="Straight Connector 90"/>
          <p:cNvCxnSpPr/>
          <p:nvPr/>
        </p:nvCxnSpPr>
        <p:spPr>
          <a:xfrm flipV="1">
            <a:off x="5746247" y="2396836"/>
            <a:ext cx="3390" cy="126119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283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2007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354D4E-F887-47F0-AFF9-1CBDE6267A6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7" name="Group 265"/>
          <p:cNvGrpSpPr>
            <a:grpSpLocks/>
          </p:cNvGrpSpPr>
          <p:nvPr/>
        </p:nvGrpSpPr>
        <p:grpSpPr bwMode="auto">
          <a:xfrm>
            <a:off x="5006975" y="1221243"/>
            <a:ext cx="2190750" cy="4802187"/>
            <a:chOff x="3986" y="815"/>
            <a:chExt cx="1380" cy="3025"/>
          </a:xfrm>
        </p:grpSpPr>
        <p:grpSp>
          <p:nvGrpSpPr>
            <p:cNvPr id="8" name="Group 248"/>
            <p:cNvGrpSpPr>
              <a:grpSpLocks/>
            </p:cNvGrpSpPr>
            <p:nvPr/>
          </p:nvGrpSpPr>
          <p:grpSpPr bwMode="auto">
            <a:xfrm>
              <a:off x="4113" y="2151"/>
              <a:ext cx="1189" cy="657"/>
              <a:chOff x="3801" y="2151"/>
              <a:chExt cx="1189" cy="657"/>
            </a:xfrm>
          </p:grpSpPr>
          <p:sp>
            <p:nvSpPr>
              <p:cNvPr id="80" name="AutoShape 5"/>
              <p:cNvSpPr>
                <a:spLocks noChangeArrowheads="1"/>
              </p:cNvSpPr>
              <p:nvPr/>
            </p:nvSpPr>
            <p:spPr bwMode="auto">
              <a:xfrm>
                <a:off x="4318" y="2363"/>
                <a:ext cx="166" cy="153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81" name="Line 7"/>
              <p:cNvSpPr>
                <a:spLocks noChangeShapeType="1"/>
              </p:cNvSpPr>
              <p:nvPr/>
            </p:nvSpPr>
            <p:spPr bwMode="auto">
              <a:xfrm>
                <a:off x="3813" y="2151"/>
                <a:ext cx="0" cy="37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Line 8"/>
              <p:cNvSpPr>
                <a:spLocks noChangeShapeType="1"/>
              </p:cNvSpPr>
              <p:nvPr/>
            </p:nvSpPr>
            <p:spPr bwMode="auto">
              <a:xfrm rot="5400000" flipV="1">
                <a:off x="4309" y="2020"/>
                <a:ext cx="0" cy="101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3" name="Group 9"/>
              <p:cNvGrpSpPr>
                <a:grpSpLocks/>
              </p:cNvGrpSpPr>
              <p:nvPr/>
            </p:nvGrpSpPr>
            <p:grpSpPr bwMode="auto">
              <a:xfrm>
                <a:off x="3823" y="2363"/>
                <a:ext cx="479" cy="94"/>
                <a:chOff x="2243" y="1248"/>
                <a:chExt cx="647" cy="128"/>
              </a:xfrm>
            </p:grpSpPr>
            <p:grpSp>
              <p:nvGrpSpPr>
                <p:cNvPr id="88" name="Group 10"/>
                <p:cNvGrpSpPr>
                  <a:grpSpLocks/>
                </p:cNvGrpSpPr>
                <p:nvPr/>
              </p:nvGrpSpPr>
              <p:grpSpPr bwMode="auto">
                <a:xfrm>
                  <a:off x="2809" y="1248"/>
                  <a:ext cx="81" cy="128"/>
                  <a:chOff x="704" y="1880"/>
                  <a:chExt cx="136" cy="128"/>
                </a:xfrm>
              </p:grpSpPr>
              <p:sp>
                <p:nvSpPr>
                  <p:cNvPr id="110" name="Line 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1" name="Line 1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9" name="Group 13"/>
                <p:cNvGrpSpPr>
                  <a:grpSpLocks/>
                </p:cNvGrpSpPr>
                <p:nvPr/>
              </p:nvGrpSpPr>
              <p:grpSpPr bwMode="auto">
                <a:xfrm>
                  <a:off x="2722" y="1248"/>
                  <a:ext cx="81" cy="128"/>
                  <a:chOff x="704" y="1880"/>
                  <a:chExt cx="136" cy="128"/>
                </a:xfrm>
              </p:grpSpPr>
              <p:sp>
                <p:nvSpPr>
                  <p:cNvPr id="108" name="Line 1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09" name="Line 1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0" name="Group 16"/>
                <p:cNvGrpSpPr>
                  <a:grpSpLocks/>
                </p:cNvGrpSpPr>
                <p:nvPr/>
              </p:nvGrpSpPr>
              <p:grpSpPr bwMode="auto">
                <a:xfrm>
                  <a:off x="2649" y="1248"/>
                  <a:ext cx="83" cy="128"/>
                  <a:chOff x="704" y="1880"/>
                  <a:chExt cx="136" cy="128"/>
                </a:xfrm>
              </p:grpSpPr>
              <p:sp>
                <p:nvSpPr>
                  <p:cNvPr id="106" name="Lin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07" name="Line 1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1" name="Group 19"/>
                <p:cNvGrpSpPr>
                  <a:grpSpLocks/>
                </p:cNvGrpSpPr>
                <p:nvPr/>
              </p:nvGrpSpPr>
              <p:grpSpPr bwMode="auto">
                <a:xfrm>
                  <a:off x="2562" y="1248"/>
                  <a:ext cx="81" cy="128"/>
                  <a:chOff x="704" y="1880"/>
                  <a:chExt cx="136" cy="128"/>
                </a:xfrm>
              </p:grpSpPr>
              <p:sp>
                <p:nvSpPr>
                  <p:cNvPr id="104" name="Line 2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05" name="Line 2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2" name="Group 22"/>
                <p:cNvGrpSpPr>
                  <a:grpSpLocks/>
                </p:cNvGrpSpPr>
                <p:nvPr/>
              </p:nvGrpSpPr>
              <p:grpSpPr bwMode="auto">
                <a:xfrm>
                  <a:off x="2485" y="1248"/>
                  <a:ext cx="81" cy="128"/>
                  <a:chOff x="704" y="1880"/>
                  <a:chExt cx="136" cy="128"/>
                </a:xfrm>
              </p:grpSpPr>
              <p:sp>
                <p:nvSpPr>
                  <p:cNvPr id="102" name="Line 2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03" name="Line 2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3" name="Group 25"/>
                <p:cNvGrpSpPr>
                  <a:grpSpLocks/>
                </p:cNvGrpSpPr>
                <p:nvPr/>
              </p:nvGrpSpPr>
              <p:grpSpPr bwMode="auto">
                <a:xfrm>
                  <a:off x="2403" y="1248"/>
                  <a:ext cx="81" cy="128"/>
                  <a:chOff x="704" y="1880"/>
                  <a:chExt cx="136" cy="128"/>
                </a:xfrm>
              </p:grpSpPr>
              <p:sp>
                <p:nvSpPr>
                  <p:cNvPr id="100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01" name="Line 27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4" name="Group 28"/>
                <p:cNvGrpSpPr>
                  <a:grpSpLocks/>
                </p:cNvGrpSpPr>
                <p:nvPr/>
              </p:nvGrpSpPr>
              <p:grpSpPr bwMode="auto">
                <a:xfrm>
                  <a:off x="2325" y="1248"/>
                  <a:ext cx="81" cy="128"/>
                  <a:chOff x="704" y="1880"/>
                  <a:chExt cx="136" cy="128"/>
                </a:xfrm>
              </p:grpSpPr>
              <p:sp>
                <p:nvSpPr>
                  <p:cNvPr id="98" name="Line 2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99" name="Line 3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5" name="Group 31"/>
                <p:cNvGrpSpPr>
                  <a:grpSpLocks/>
                </p:cNvGrpSpPr>
                <p:nvPr/>
              </p:nvGrpSpPr>
              <p:grpSpPr bwMode="auto">
                <a:xfrm>
                  <a:off x="2243" y="1248"/>
                  <a:ext cx="81" cy="128"/>
                  <a:chOff x="704" y="1880"/>
                  <a:chExt cx="136" cy="128"/>
                </a:xfrm>
              </p:grpSpPr>
              <p:sp>
                <p:nvSpPr>
                  <p:cNvPr id="96" name="Line 3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97" name="Line 3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84" name="Line 34"/>
              <p:cNvSpPr>
                <a:spLocks noChangeShapeType="1"/>
              </p:cNvSpPr>
              <p:nvPr/>
            </p:nvSpPr>
            <p:spPr bwMode="auto">
              <a:xfrm>
                <a:off x="4383" y="2569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Text Box 35"/>
              <p:cNvSpPr txBox="1">
                <a:spLocks noChangeArrowheads="1"/>
              </p:cNvSpPr>
              <p:nvPr/>
            </p:nvSpPr>
            <p:spPr bwMode="auto">
              <a:xfrm>
                <a:off x="4275" y="2616"/>
                <a:ext cx="29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x=0</a:t>
                </a:r>
              </a:p>
            </p:txBody>
          </p:sp>
          <p:sp>
            <p:nvSpPr>
              <p:cNvPr id="86" name="Line 36"/>
              <p:cNvSpPr>
                <a:spLocks noChangeShapeType="1"/>
              </p:cNvSpPr>
              <p:nvPr/>
            </p:nvSpPr>
            <p:spPr bwMode="auto">
              <a:xfrm>
                <a:off x="4716" y="2575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Text Box 37"/>
              <p:cNvSpPr txBox="1">
                <a:spLocks noChangeArrowheads="1"/>
              </p:cNvSpPr>
              <p:nvPr/>
            </p:nvSpPr>
            <p:spPr bwMode="auto">
              <a:xfrm>
                <a:off x="4625" y="2611"/>
                <a:ext cx="36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x</a:t>
                </a:r>
                <a:r>
                  <a:rPr lang="en-US" sz="1400" baseline="-25000"/>
                  <a:t>max</a:t>
                </a:r>
              </a:p>
            </p:txBody>
          </p:sp>
        </p:grpSp>
        <p:grpSp>
          <p:nvGrpSpPr>
            <p:cNvPr id="9" name="Group 249"/>
            <p:cNvGrpSpPr>
              <a:grpSpLocks/>
            </p:cNvGrpSpPr>
            <p:nvPr/>
          </p:nvGrpSpPr>
          <p:grpSpPr bwMode="auto">
            <a:xfrm>
              <a:off x="4116" y="1271"/>
              <a:ext cx="1213" cy="666"/>
              <a:chOff x="3756" y="1427"/>
              <a:chExt cx="1213" cy="666"/>
            </a:xfrm>
          </p:grpSpPr>
          <p:sp>
            <p:nvSpPr>
              <p:cNvPr id="49" name="AutoShape 180"/>
              <p:cNvSpPr>
                <a:spLocks noChangeArrowheads="1"/>
              </p:cNvSpPr>
              <p:nvPr/>
            </p:nvSpPr>
            <p:spPr bwMode="auto">
              <a:xfrm>
                <a:off x="4593" y="1639"/>
                <a:ext cx="167" cy="154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50" name="Line 182"/>
              <p:cNvSpPr>
                <a:spLocks noChangeShapeType="1"/>
              </p:cNvSpPr>
              <p:nvPr/>
            </p:nvSpPr>
            <p:spPr bwMode="auto">
              <a:xfrm>
                <a:off x="3768" y="1427"/>
                <a:ext cx="0" cy="37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Line 183"/>
              <p:cNvSpPr>
                <a:spLocks noChangeShapeType="1"/>
              </p:cNvSpPr>
              <p:nvPr/>
            </p:nvSpPr>
            <p:spPr bwMode="auto">
              <a:xfrm rot="5400000" flipV="1">
                <a:off x="4264" y="1296"/>
                <a:ext cx="0" cy="101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2" name="Group 184"/>
              <p:cNvGrpSpPr>
                <a:grpSpLocks/>
              </p:cNvGrpSpPr>
              <p:nvPr/>
            </p:nvGrpSpPr>
            <p:grpSpPr bwMode="auto">
              <a:xfrm>
                <a:off x="4475" y="1633"/>
                <a:ext cx="100" cy="95"/>
                <a:chOff x="704" y="1880"/>
                <a:chExt cx="136" cy="128"/>
              </a:xfrm>
            </p:grpSpPr>
            <p:sp>
              <p:nvSpPr>
                <p:cNvPr id="78" name="Line 18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" name="Line 18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3" name="Group 187"/>
              <p:cNvGrpSpPr>
                <a:grpSpLocks/>
              </p:cNvGrpSpPr>
              <p:nvPr/>
            </p:nvGrpSpPr>
            <p:grpSpPr bwMode="auto">
              <a:xfrm>
                <a:off x="4368" y="1633"/>
                <a:ext cx="100" cy="95"/>
                <a:chOff x="704" y="1880"/>
                <a:chExt cx="136" cy="128"/>
              </a:xfrm>
            </p:grpSpPr>
            <p:sp>
              <p:nvSpPr>
                <p:cNvPr id="76" name="Line 18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" name="Line 18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4" name="Group 190"/>
              <p:cNvGrpSpPr>
                <a:grpSpLocks/>
              </p:cNvGrpSpPr>
              <p:nvPr/>
            </p:nvGrpSpPr>
            <p:grpSpPr bwMode="auto">
              <a:xfrm>
                <a:off x="4273" y="1633"/>
                <a:ext cx="100" cy="95"/>
                <a:chOff x="704" y="1880"/>
                <a:chExt cx="136" cy="128"/>
              </a:xfrm>
            </p:grpSpPr>
            <p:sp>
              <p:nvSpPr>
                <p:cNvPr id="74" name="Line 19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" name="Line 19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5" name="Group 193"/>
              <p:cNvGrpSpPr>
                <a:grpSpLocks/>
              </p:cNvGrpSpPr>
              <p:nvPr/>
            </p:nvGrpSpPr>
            <p:grpSpPr bwMode="auto">
              <a:xfrm>
                <a:off x="4172" y="1633"/>
                <a:ext cx="100" cy="95"/>
                <a:chOff x="704" y="1880"/>
                <a:chExt cx="136" cy="128"/>
              </a:xfrm>
            </p:grpSpPr>
            <p:sp>
              <p:nvSpPr>
                <p:cNvPr id="72" name="Line 19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" name="Line 19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6" name="Group 196"/>
              <p:cNvGrpSpPr>
                <a:grpSpLocks/>
              </p:cNvGrpSpPr>
              <p:nvPr/>
            </p:nvGrpSpPr>
            <p:grpSpPr bwMode="auto">
              <a:xfrm>
                <a:off x="4077" y="1633"/>
                <a:ext cx="100" cy="95"/>
                <a:chOff x="704" y="1880"/>
                <a:chExt cx="136" cy="128"/>
              </a:xfrm>
            </p:grpSpPr>
            <p:sp>
              <p:nvSpPr>
                <p:cNvPr id="70" name="Line 19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" name="Line 19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7" name="Group 199"/>
              <p:cNvGrpSpPr>
                <a:grpSpLocks/>
              </p:cNvGrpSpPr>
              <p:nvPr/>
            </p:nvGrpSpPr>
            <p:grpSpPr bwMode="auto">
              <a:xfrm>
                <a:off x="3976" y="1633"/>
                <a:ext cx="100" cy="95"/>
                <a:chOff x="704" y="1880"/>
                <a:chExt cx="136" cy="128"/>
              </a:xfrm>
            </p:grpSpPr>
            <p:sp>
              <p:nvSpPr>
                <p:cNvPr id="68" name="Line 20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" name="Line 20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8" name="Group 202"/>
              <p:cNvGrpSpPr>
                <a:grpSpLocks/>
              </p:cNvGrpSpPr>
              <p:nvPr/>
            </p:nvGrpSpPr>
            <p:grpSpPr bwMode="auto">
              <a:xfrm>
                <a:off x="3881" y="1633"/>
                <a:ext cx="100" cy="95"/>
                <a:chOff x="704" y="1880"/>
                <a:chExt cx="136" cy="128"/>
              </a:xfrm>
            </p:grpSpPr>
            <p:sp>
              <p:nvSpPr>
                <p:cNvPr id="66" name="Line 20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" name="Line 20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9" name="Group 205"/>
              <p:cNvGrpSpPr>
                <a:grpSpLocks/>
              </p:cNvGrpSpPr>
              <p:nvPr/>
            </p:nvGrpSpPr>
            <p:grpSpPr bwMode="auto">
              <a:xfrm>
                <a:off x="3780" y="1633"/>
                <a:ext cx="100" cy="95"/>
                <a:chOff x="704" y="1880"/>
                <a:chExt cx="136" cy="128"/>
              </a:xfrm>
            </p:grpSpPr>
            <p:sp>
              <p:nvSpPr>
                <p:cNvPr id="64" name="Line 20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Line 20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" name="Line 208"/>
              <p:cNvSpPr>
                <a:spLocks noChangeShapeType="1"/>
              </p:cNvSpPr>
              <p:nvPr/>
            </p:nvSpPr>
            <p:spPr bwMode="auto">
              <a:xfrm>
                <a:off x="4338" y="1846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 Box 209"/>
              <p:cNvSpPr txBox="1">
                <a:spLocks noChangeArrowheads="1"/>
              </p:cNvSpPr>
              <p:nvPr/>
            </p:nvSpPr>
            <p:spPr bwMode="auto">
              <a:xfrm>
                <a:off x="4230" y="1901"/>
                <a:ext cx="29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x=0</a:t>
                </a:r>
              </a:p>
            </p:txBody>
          </p:sp>
          <p:sp>
            <p:nvSpPr>
              <p:cNvPr id="62" name="Line 210"/>
              <p:cNvSpPr>
                <a:spLocks noChangeShapeType="1"/>
              </p:cNvSpPr>
              <p:nvPr/>
            </p:nvSpPr>
            <p:spPr bwMode="auto">
              <a:xfrm>
                <a:off x="4671" y="1852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 Box 211"/>
              <p:cNvSpPr txBox="1">
                <a:spLocks noChangeArrowheads="1"/>
              </p:cNvSpPr>
              <p:nvPr/>
            </p:nvSpPr>
            <p:spPr bwMode="auto">
              <a:xfrm>
                <a:off x="4580" y="1895"/>
                <a:ext cx="38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 dirty="0" err="1"/>
                  <a:t>x</a:t>
                </a:r>
                <a:r>
                  <a:rPr lang="en-US" sz="1400" baseline="-25000" dirty="0" err="1"/>
                  <a:t>max</a:t>
                </a:r>
                <a:endParaRPr lang="en-US" sz="1400" baseline="-25000" dirty="0"/>
              </a:p>
            </p:txBody>
          </p:sp>
        </p:grpSp>
        <p:grpSp>
          <p:nvGrpSpPr>
            <p:cNvPr id="10" name="Group 247"/>
            <p:cNvGrpSpPr>
              <a:grpSpLocks/>
            </p:cNvGrpSpPr>
            <p:nvPr/>
          </p:nvGrpSpPr>
          <p:grpSpPr bwMode="auto">
            <a:xfrm>
              <a:off x="4120" y="3059"/>
              <a:ext cx="1016" cy="682"/>
              <a:chOff x="3844" y="2843"/>
              <a:chExt cx="1016" cy="682"/>
            </a:xfrm>
          </p:grpSpPr>
          <p:sp>
            <p:nvSpPr>
              <p:cNvPr id="17" name="AutoShape 214"/>
              <p:cNvSpPr>
                <a:spLocks noChangeArrowheads="1"/>
              </p:cNvSpPr>
              <p:nvPr/>
            </p:nvSpPr>
            <p:spPr bwMode="auto">
              <a:xfrm>
                <a:off x="4117" y="3038"/>
                <a:ext cx="167" cy="153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18" name="Line 215"/>
              <p:cNvSpPr>
                <a:spLocks noChangeShapeType="1"/>
              </p:cNvSpPr>
              <p:nvPr/>
            </p:nvSpPr>
            <p:spPr bwMode="auto">
              <a:xfrm>
                <a:off x="3856" y="2843"/>
                <a:ext cx="0" cy="37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216"/>
              <p:cNvSpPr>
                <a:spLocks noChangeShapeType="1"/>
              </p:cNvSpPr>
              <p:nvPr/>
            </p:nvSpPr>
            <p:spPr bwMode="auto">
              <a:xfrm rot="5400000" flipV="1">
                <a:off x="4352" y="2712"/>
                <a:ext cx="0" cy="101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" name="Group 217"/>
              <p:cNvGrpSpPr>
                <a:grpSpLocks/>
              </p:cNvGrpSpPr>
              <p:nvPr/>
            </p:nvGrpSpPr>
            <p:grpSpPr bwMode="auto">
              <a:xfrm>
                <a:off x="3873" y="3055"/>
                <a:ext cx="223" cy="95"/>
                <a:chOff x="2243" y="1248"/>
                <a:chExt cx="647" cy="128"/>
              </a:xfrm>
            </p:grpSpPr>
            <p:grpSp>
              <p:nvGrpSpPr>
                <p:cNvPr id="25" name="Group 218"/>
                <p:cNvGrpSpPr>
                  <a:grpSpLocks/>
                </p:cNvGrpSpPr>
                <p:nvPr/>
              </p:nvGrpSpPr>
              <p:grpSpPr bwMode="auto">
                <a:xfrm>
                  <a:off x="2809" y="1248"/>
                  <a:ext cx="81" cy="128"/>
                  <a:chOff x="704" y="1880"/>
                  <a:chExt cx="136" cy="128"/>
                </a:xfrm>
              </p:grpSpPr>
              <p:sp>
                <p:nvSpPr>
                  <p:cNvPr id="47" name="Line 21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8" name="Line 22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6" name="Group 221"/>
                <p:cNvGrpSpPr>
                  <a:grpSpLocks/>
                </p:cNvGrpSpPr>
                <p:nvPr/>
              </p:nvGrpSpPr>
              <p:grpSpPr bwMode="auto">
                <a:xfrm>
                  <a:off x="2722" y="1248"/>
                  <a:ext cx="81" cy="128"/>
                  <a:chOff x="704" y="1880"/>
                  <a:chExt cx="136" cy="128"/>
                </a:xfrm>
              </p:grpSpPr>
              <p:sp>
                <p:nvSpPr>
                  <p:cNvPr id="45" name="Line 22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6" name="Line 22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7" name="Group 224"/>
                <p:cNvGrpSpPr>
                  <a:grpSpLocks/>
                </p:cNvGrpSpPr>
                <p:nvPr/>
              </p:nvGrpSpPr>
              <p:grpSpPr bwMode="auto">
                <a:xfrm>
                  <a:off x="2649" y="1248"/>
                  <a:ext cx="83" cy="128"/>
                  <a:chOff x="704" y="1880"/>
                  <a:chExt cx="136" cy="128"/>
                </a:xfrm>
              </p:grpSpPr>
              <p:sp>
                <p:nvSpPr>
                  <p:cNvPr id="43" name="Line 22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4" name="Line 22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8" name="Group 227"/>
                <p:cNvGrpSpPr>
                  <a:grpSpLocks/>
                </p:cNvGrpSpPr>
                <p:nvPr/>
              </p:nvGrpSpPr>
              <p:grpSpPr bwMode="auto">
                <a:xfrm>
                  <a:off x="2562" y="1248"/>
                  <a:ext cx="81" cy="128"/>
                  <a:chOff x="704" y="1880"/>
                  <a:chExt cx="136" cy="128"/>
                </a:xfrm>
              </p:grpSpPr>
              <p:sp>
                <p:nvSpPr>
                  <p:cNvPr id="41" name="Line 22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2" name="Line 229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9" name="Group 230"/>
                <p:cNvGrpSpPr>
                  <a:grpSpLocks/>
                </p:cNvGrpSpPr>
                <p:nvPr/>
              </p:nvGrpSpPr>
              <p:grpSpPr bwMode="auto">
                <a:xfrm>
                  <a:off x="2485" y="1248"/>
                  <a:ext cx="81" cy="128"/>
                  <a:chOff x="704" y="1880"/>
                  <a:chExt cx="136" cy="128"/>
                </a:xfrm>
              </p:grpSpPr>
              <p:sp>
                <p:nvSpPr>
                  <p:cNvPr id="39" name="Line 23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0" name="Line 23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0" name="Group 233"/>
                <p:cNvGrpSpPr>
                  <a:grpSpLocks/>
                </p:cNvGrpSpPr>
                <p:nvPr/>
              </p:nvGrpSpPr>
              <p:grpSpPr bwMode="auto">
                <a:xfrm>
                  <a:off x="2403" y="1248"/>
                  <a:ext cx="81" cy="128"/>
                  <a:chOff x="704" y="1880"/>
                  <a:chExt cx="136" cy="128"/>
                </a:xfrm>
              </p:grpSpPr>
              <p:sp>
                <p:nvSpPr>
                  <p:cNvPr id="37" name="Line 23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8" name="Line 23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1" name="Group 236"/>
                <p:cNvGrpSpPr>
                  <a:grpSpLocks/>
                </p:cNvGrpSpPr>
                <p:nvPr/>
              </p:nvGrpSpPr>
              <p:grpSpPr bwMode="auto">
                <a:xfrm>
                  <a:off x="2325" y="1248"/>
                  <a:ext cx="81" cy="128"/>
                  <a:chOff x="704" y="1880"/>
                  <a:chExt cx="136" cy="128"/>
                </a:xfrm>
              </p:grpSpPr>
              <p:sp>
                <p:nvSpPr>
                  <p:cNvPr id="35" name="Line 2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6" name="Line 23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2" name="Group 239"/>
                <p:cNvGrpSpPr>
                  <a:grpSpLocks/>
                </p:cNvGrpSpPr>
                <p:nvPr/>
              </p:nvGrpSpPr>
              <p:grpSpPr bwMode="auto">
                <a:xfrm>
                  <a:off x="2243" y="1248"/>
                  <a:ext cx="81" cy="128"/>
                  <a:chOff x="704" y="1880"/>
                  <a:chExt cx="136" cy="128"/>
                </a:xfrm>
              </p:grpSpPr>
              <p:sp>
                <p:nvSpPr>
                  <p:cNvPr id="33" name="Line 24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4" name="Line 24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1" name="Line 242"/>
              <p:cNvSpPr>
                <a:spLocks noChangeShapeType="1"/>
              </p:cNvSpPr>
              <p:nvPr/>
            </p:nvSpPr>
            <p:spPr bwMode="auto">
              <a:xfrm>
                <a:off x="4426" y="3262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 Box 243"/>
              <p:cNvSpPr txBox="1">
                <a:spLocks noChangeArrowheads="1"/>
              </p:cNvSpPr>
              <p:nvPr/>
            </p:nvSpPr>
            <p:spPr bwMode="auto">
              <a:xfrm>
                <a:off x="4318" y="3333"/>
                <a:ext cx="29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x=0</a:t>
                </a:r>
              </a:p>
            </p:txBody>
          </p:sp>
          <p:sp>
            <p:nvSpPr>
              <p:cNvPr id="23" name="Line 244"/>
              <p:cNvSpPr>
                <a:spLocks noChangeShapeType="1"/>
              </p:cNvSpPr>
              <p:nvPr/>
            </p:nvSpPr>
            <p:spPr bwMode="auto">
              <a:xfrm>
                <a:off x="4206" y="3262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 Box 245"/>
              <p:cNvSpPr txBox="1">
                <a:spLocks noChangeArrowheads="1"/>
              </p:cNvSpPr>
              <p:nvPr/>
            </p:nvSpPr>
            <p:spPr bwMode="auto">
              <a:xfrm>
                <a:off x="4074" y="3315"/>
                <a:ext cx="48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-x</a:t>
                </a:r>
                <a:r>
                  <a:rPr lang="en-US" sz="1400" baseline="-25000"/>
                  <a:t>max</a:t>
                </a:r>
              </a:p>
            </p:txBody>
          </p:sp>
        </p:grpSp>
        <p:sp>
          <p:nvSpPr>
            <p:cNvPr id="11" name="Line 250"/>
            <p:cNvSpPr>
              <a:spLocks noChangeShapeType="1"/>
            </p:cNvSpPr>
            <p:nvPr/>
          </p:nvSpPr>
          <p:spPr bwMode="auto">
            <a:xfrm>
              <a:off x="4692" y="972"/>
              <a:ext cx="0" cy="28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251"/>
            <p:cNvSpPr>
              <a:spLocks noChangeShapeType="1"/>
            </p:cNvSpPr>
            <p:nvPr/>
          </p:nvSpPr>
          <p:spPr bwMode="auto">
            <a:xfrm>
              <a:off x="4272" y="3144"/>
              <a:ext cx="264" cy="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252"/>
            <p:cNvSpPr txBox="1">
              <a:spLocks noChangeArrowheads="1"/>
            </p:cNvSpPr>
            <p:nvPr/>
          </p:nvSpPr>
          <p:spPr bwMode="auto">
            <a:xfrm>
              <a:off x="4286" y="2879"/>
              <a:ext cx="23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3366FF"/>
                  </a:solidFill>
                </a:rPr>
                <a:t>F</a:t>
              </a:r>
              <a:r>
                <a:rPr lang="en-US" baseline="-25000">
                  <a:solidFill>
                    <a:srgbClr val="3366FF"/>
                  </a:solidFill>
                </a:rPr>
                <a:t>s</a:t>
              </a:r>
            </a:p>
          </p:txBody>
        </p:sp>
        <p:sp>
          <p:nvSpPr>
            <p:cNvPr id="14" name="Text Box 253"/>
            <p:cNvSpPr txBox="1">
              <a:spLocks noChangeArrowheads="1"/>
            </p:cNvSpPr>
            <p:nvPr/>
          </p:nvSpPr>
          <p:spPr bwMode="auto">
            <a:xfrm>
              <a:off x="4826" y="1127"/>
              <a:ext cx="23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3366FF"/>
                  </a:solidFill>
                </a:rPr>
                <a:t>F</a:t>
              </a:r>
              <a:r>
                <a:rPr lang="en-US" baseline="-25000">
                  <a:solidFill>
                    <a:srgbClr val="3366FF"/>
                  </a:solidFill>
                </a:rPr>
                <a:t>s</a:t>
              </a:r>
            </a:p>
          </p:txBody>
        </p:sp>
        <p:sp>
          <p:nvSpPr>
            <p:cNvPr id="15" name="Line 254"/>
            <p:cNvSpPr>
              <a:spLocks noChangeShapeType="1"/>
            </p:cNvSpPr>
            <p:nvPr/>
          </p:nvSpPr>
          <p:spPr bwMode="auto">
            <a:xfrm flipH="1">
              <a:off x="4824" y="1392"/>
              <a:ext cx="264" cy="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256"/>
            <p:cNvSpPr txBox="1">
              <a:spLocks noChangeArrowheads="1"/>
            </p:cNvSpPr>
            <p:nvPr/>
          </p:nvSpPr>
          <p:spPr bwMode="auto">
            <a:xfrm>
              <a:off x="3986" y="815"/>
              <a:ext cx="13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Equilibrium Position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D408720-99A4-4D96-9EDD-AA1DAC48E82E}" type="slidenum">
              <a:rPr lang="en-US"/>
              <a:pPr/>
              <a:t>18</a:t>
            </a:fld>
            <a:endParaRPr lang="en-US"/>
          </a:p>
        </p:txBody>
      </p:sp>
      <p:sp>
        <p:nvSpPr>
          <p:cNvPr id="25603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Lecture 2</a:t>
            </a:r>
          </a:p>
        </p:txBody>
      </p:sp>
      <p:sp>
        <p:nvSpPr>
          <p:cNvPr id="25604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09"/>
          <p:cNvSpPr txBox="1">
            <a:spLocks noChangeArrowheads="1"/>
          </p:cNvSpPr>
          <p:nvPr/>
        </p:nvSpPr>
        <p:spPr bwMode="auto">
          <a:xfrm>
            <a:off x="5475970" y="4112762"/>
            <a:ext cx="7761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x = 0</a:t>
            </a:r>
          </a:p>
        </p:txBody>
      </p:sp>
      <p:sp>
        <p:nvSpPr>
          <p:cNvPr id="7" name="Text Box 211"/>
          <p:cNvSpPr txBox="1">
            <a:spLocks noChangeArrowheads="1"/>
          </p:cNvSpPr>
          <p:nvPr/>
        </p:nvSpPr>
        <p:spPr bwMode="auto">
          <a:xfrm>
            <a:off x="6695622" y="4114122"/>
            <a:ext cx="11203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 err="1"/>
              <a:t>x</a:t>
            </a:r>
            <a:r>
              <a:rPr lang="en-US" sz="2800" baseline="-25000" dirty="0" err="1"/>
              <a:t>max</a:t>
            </a:r>
            <a:endParaRPr lang="en-US" sz="2800" baseline="-25000" dirty="0"/>
          </a:p>
        </p:txBody>
      </p:sp>
      <p:sp>
        <p:nvSpPr>
          <p:cNvPr id="9" name="AutoShape 3"/>
          <p:cNvSpPr>
            <a:spLocks noChangeAspect="1" noChangeArrowheads="1" noTextEdit="1"/>
          </p:cNvSpPr>
          <p:nvPr/>
        </p:nvSpPr>
        <p:spPr bwMode="auto">
          <a:xfrm>
            <a:off x="4332288" y="2136775"/>
            <a:ext cx="3255962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5"/>
          <p:cNvSpPr>
            <a:spLocks/>
          </p:cNvSpPr>
          <p:nvPr/>
        </p:nvSpPr>
        <p:spPr bwMode="auto">
          <a:xfrm>
            <a:off x="6763658" y="2975428"/>
            <a:ext cx="508000" cy="469900"/>
          </a:xfrm>
          <a:custGeom>
            <a:avLst/>
            <a:gdLst>
              <a:gd name="T0" fmla="*/ 50 w 320"/>
              <a:gd name="T1" fmla="*/ 0 h 296"/>
              <a:gd name="T2" fmla="*/ 44 w 320"/>
              <a:gd name="T3" fmla="*/ 0 h 296"/>
              <a:gd name="T4" fmla="*/ 39 w 320"/>
              <a:gd name="T5" fmla="*/ 1 h 296"/>
              <a:gd name="T6" fmla="*/ 30 w 320"/>
              <a:gd name="T7" fmla="*/ 3 h 296"/>
              <a:gd name="T8" fmla="*/ 22 w 320"/>
              <a:gd name="T9" fmla="*/ 9 h 296"/>
              <a:gd name="T10" fmla="*/ 15 w 320"/>
              <a:gd name="T11" fmla="*/ 14 h 296"/>
              <a:gd name="T12" fmla="*/ 9 w 320"/>
              <a:gd name="T13" fmla="*/ 22 h 296"/>
              <a:gd name="T14" fmla="*/ 4 w 320"/>
              <a:gd name="T15" fmla="*/ 29 h 296"/>
              <a:gd name="T16" fmla="*/ 2 w 320"/>
              <a:gd name="T17" fmla="*/ 39 h 296"/>
              <a:gd name="T18" fmla="*/ 0 w 320"/>
              <a:gd name="T19" fmla="*/ 44 h 296"/>
              <a:gd name="T20" fmla="*/ 0 w 320"/>
              <a:gd name="T21" fmla="*/ 50 h 296"/>
              <a:gd name="T22" fmla="*/ 0 w 320"/>
              <a:gd name="T23" fmla="*/ 248 h 296"/>
              <a:gd name="T24" fmla="*/ 0 w 320"/>
              <a:gd name="T25" fmla="*/ 252 h 296"/>
              <a:gd name="T26" fmla="*/ 2 w 320"/>
              <a:gd name="T27" fmla="*/ 257 h 296"/>
              <a:gd name="T28" fmla="*/ 4 w 320"/>
              <a:gd name="T29" fmla="*/ 267 h 296"/>
              <a:gd name="T30" fmla="*/ 9 w 320"/>
              <a:gd name="T31" fmla="*/ 276 h 296"/>
              <a:gd name="T32" fmla="*/ 15 w 320"/>
              <a:gd name="T33" fmla="*/ 283 h 296"/>
              <a:gd name="T34" fmla="*/ 22 w 320"/>
              <a:gd name="T35" fmla="*/ 289 h 296"/>
              <a:gd name="T36" fmla="*/ 30 w 320"/>
              <a:gd name="T37" fmla="*/ 293 h 296"/>
              <a:gd name="T38" fmla="*/ 39 w 320"/>
              <a:gd name="T39" fmla="*/ 296 h 296"/>
              <a:gd name="T40" fmla="*/ 44 w 320"/>
              <a:gd name="T41" fmla="*/ 296 h 296"/>
              <a:gd name="T42" fmla="*/ 50 w 320"/>
              <a:gd name="T43" fmla="*/ 296 h 296"/>
              <a:gd name="T44" fmla="*/ 272 w 320"/>
              <a:gd name="T45" fmla="*/ 296 h 296"/>
              <a:gd name="T46" fmla="*/ 276 w 320"/>
              <a:gd name="T47" fmla="*/ 296 h 296"/>
              <a:gd name="T48" fmla="*/ 281 w 320"/>
              <a:gd name="T49" fmla="*/ 296 h 296"/>
              <a:gd name="T50" fmla="*/ 291 w 320"/>
              <a:gd name="T51" fmla="*/ 293 h 296"/>
              <a:gd name="T52" fmla="*/ 298 w 320"/>
              <a:gd name="T53" fmla="*/ 289 h 296"/>
              <a:gd name="T54" fmla="*/ 305 w 320"/>
              <a:gd name="T55" fmla="*/ 283 h 296"/>
              <a:gd name="T56" fmla="*/ 313 w 320"/>
              <a:gd name="T57" fmla="*/ 276 h 296"/>
              <a:gd name="T58" fmla="*/ 317 w 320"/>
              <a:gd name="T59" fmla="*/ 267 h 296"/>
              <a:gd name="T60" fmla="*/ 318 w 320"/>
              <a:gd name="T61" fmla="*/ 257 h 296"/>
              <a:gd name="T62" fmla="*/ 320 w 320"/>
              <a:gd name="T63" fmla="*/ 252 h 296"/>
              <a:gd name="T64" fmla="*/ 320 w 320"/>
              <a:gd name="T65" fmla="*/ 248 h 296"/>
              <a:gd name="T66" fmla="*/ 320 w 320"/>
              <a:gd name="T67" fmla="*/ 50 h 296"/>
              <a:gd name="T68" fmla="*/ 320 w 320"/>
              <a:gd name="T69" fmla="*/ 44 h 296"/>
              <a:gd name="T70" fmla="*/ 318 w 320"/>
              <a:gd name="T71" fmla="*/ 39 h 296"/>
              <a:gd name="T72" fmla="*/ 317 w 320"/>
              <a:gd name="T73" fmla="*/ 29 h 296"/>
              <a:gd name="T74" fmla="*/ 313 w 320"/>
              <a:gd name="T75" fmla="*/ 22 h 296"/>
              <a:gd name="T76" fmla="*/ 305 w 320"/>
              <a:gd name="T77" fmla="*/ 14 h 296"/>
              <a:gd name="T78" fmla="*/ 298 w 320"/>
              <a:gd name="T79" fmla="*/ 9 h 296"/>
              <a:gd name="T80" fmla="*/ 291 w 320"/>
              <a:gd name="T81" fmla="*/ 3 h 296"/>
              <a:gd name="T82" fmla="*/ 281 w 320"/>
              <a:gd name="T83" fmla="*/ 1 h 296"/>
              <a:gd name="T84" fmla="*/ 276 w 320"/>
              <a:gd name="T85" fmla="*/ 0 h 296"/>
              <a:gd name="T86" fmla="*/ 272 w 320"/>
              <a:gd name="T87" fmla="*/ 0 h 296"/>
              <a:gd name="T88" fmla="*/ 50 w 320"/>
              <a:gd name="T89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20" h="296">
                <a:moveTo>
                  <a:pt x="50" y="0"/>
                </a:moveTo>
                <a:lnTo>
                  <a:pt x="44" y="0"/>
                </a:lnTo>
                <a:lnTo>
                  <a:pt x="39" y="1"/>
                </a:lnTo>
                <a:lnTo>
                  <a:pt x="30" y="3"/>
                </a:lnTo>
                <a:lnTo>
                  <a:pt x="22" y="9"/>
                </a:lnTo>
                <a:lnTo>
                  <a:pt x="15" y="14"/>
                </a:lnTo>
                <a:lnTo>
                  <a:pt x="9" y="22"/>
                </a:lnTo>
                <a:lnTo>
                  <a:pt x="4" y="29"/>
                </a:lnTo>
                <a:lnTo>
                  <a:pt x="2" y="39"/>
                </a:lnTo>
                <a:lnTo>
                  <a:pt x="0" y="44"/>
                </a:lnTo>
                <a:lnTo>
                  <a:pt x="0" y="50"/>
                </a:lnTo>
                <a:lnTo>
                  <a:pt x="0" y="248"/>
                </a:lnTo>
                <a:lnTo>
                  <a:pt x="0" y="252"/>
                </a:lnTo>
                <a:lnTo>
                  <a:pt x="2" y="257"/>
                </a:lnTo>
                <a:lnTo>
                  <a:pt x="4" y="267"/>
                </a:lnTo>
                <a:lnTo>
                  <a:pt x="9" y="276"/>
                </a:lnTo>
                <a:lnTo>
                  <a:pt x="15" y="283"/>
                </a:lnTo>
                <a:lnTo>
                  <a:pt x="22" y="289"/>
                </a:lnTo>
                <a:lnTo>
                  <a:pt x="30" y="293"/>
                </a:lnTo>
                <a:lnTo>
                  <a:pt x="39" y="296"/>
                </a:lnTo>
                <a:lnTo>
                  <a:pt x="44" y="296"/>
                </a:lnTo>
                <a:lnTo>
                  <a:pt x="50" y="296"/>
                </a:lnTo>
                <a:lnTo>
                  <a:pt x="272" y="296"/>
                </a:lnTo>
                <a:lnTo>
                  <a:pt x="276" y="296"/>
                </a:lnTo>
                <a:lnTo>
                  <a:pt x="281" y="296"/>
                </a:lnTo>
                <a:lnTo>
                  <a:pt x="291" y="293"/>
                </a:lnTo>
                <a:lnTo>
                  <a:pt x="298" y="289"/>
                </a:lnTo>
                <a:lnTo>
                  <a:pt x="305" y="283"/>
                </a:lnTo>
                <a:lnTo>
                  <a:pt x="313" y="276"/>
                </a:lnTo>
                <a:lnTo>
                  <a:pt x="317" y="267"/>
                </a:lnTo>
                <a:lnTo>
                  <a:pt x="318" y="257"/>
                </a:lnTo>
                <a:lnTo>
                  <a:pt x="320" y="252"/>
                </a:lnTo>
                <a:lnTo>
                  <a:pt x="320" y="248"/>
                </a:lnTo>
                <a:lnTo>
                  <a:pt x="320" y="50"/>
                </a:lnTo>
                <a:lnTo>
                  <a:pt x="320" y="44"/>
                </a:lnTo>
                <a:lnTo>
                  <a:pt x="318" y="39"/>
                </a:lnTo>
                <a:lnTo>
                  <a:pt x="317" y="29"/>
                </a:lnTo>
                <a:lnTo>
                  <a:pt x="313" y="22"/>
                </a:lnTo>
                <a:lnTo>
                  <a:pt x="305" y="14"/>
                </a:lnTo>
                <a:lnTo>
                  <a:pt x="298" y="9"/>
                </a:lnTo>
                <a:lnTo>
                  <a:pt x="291" y="3"/>
                </a:lnTo>
                <a:lnTo>
                  <a:pt x="281" y="1"/>
                </a:lnTo>
                <a:lnTo>
                  <a:pt x="276" y="0"/>
                </a:lnTo>
                <a:lnTo>
                  <a:pt x="272" y="0"/>
                </a:lnTo>
                <a:lnTo>
                  <a:pt x="50" y="0"/>
                </a:lnTo>
                <a:close/>
              </a:path>
            </a:pathLst>
          </a:custGeom>
          <a:solidFill>
            <a:srgbClr val="00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6870022" y="3015116"/>
            <a:ext cx="30777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700" b="1" dirty="0">
                <a:solidFill>
                  <a:srgbClr val="FFFFFF"/>
                </a:solidFill>
              </a:rPr>
              <a:t>m</a:t>
            </a:r>
            <a:endParaRPr lang="en-US" altLang="en-US" dirty="0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4422775" y="2341564"/>
            <a:ext cx="0" cy="1165225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4387850" y="3506788"/>
            <a:ext cx="3109912" cy="0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Line 30"/>
          <p:cNvSpPr>
            <a:spLocks noChangeShapeType="1"/>
          </p:cNvSpPr>
          <p:nvPr/>
        </p:nvSpPr>
        <p:spPr bwMode="auto">
          <a:xfrm>
            <a:off x="4422775" y="2341564"/>
            <a:ext cx="0" cy="1165225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Line 31"/>
          <p:cNvSpPr>
            <a:spLocks noChangeShapeType="1"/>
          </p:cNvSpPr>
          <p:nvPr/>
        </p:nvSpPr>
        <p:spPr bwMode="auto">
          <a:xfrm>
            <a:off x="4387850" y="3506788"/>
            <a:ext cx="3109912" cy="0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6" name="Group 85"/>
          <p:cNvGrpSpPr/>
          <p:nvPr/>
        </p:nvGrpSpPr>
        <p:grpSpPr>
          <a:xfrm>
            <a:off x="4479925" y="2986315"/>
            <a:ext cx="2258332" cy="301399"/>
            <a:chOff x="2955925" y="2986314"/>
            <a:chExt cx="1471613" cy="301399"/>
          </a:xfrm>
        </p:grpSpPr>
        <p:sp>
          <p:nvSpPr>
            <p:cNvPr id="15" name="Line 10"/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37"/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38"/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39"/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43"/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44"/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47"/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48"/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Line 51"/>
            <p:cNvSpPr>
              <a:spLocks noChangeShapeType="1"/>
            </p:cNvSpPr>
            <p:nvPr/>
          </p:nvSpPr>
          <p:spPr bwMode="auto">
            <a:xfrm flipH="1" flipV="1">
              <a:off x="4330701" y="2986314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Line 52"/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Line 53"/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Line 54"/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Line 55"/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Line 56"/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Line 57"/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Line 58"/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Line 59"/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Line 60"/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Line 62"/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Line 63"/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Line 64"/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Line 66"/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Line 67"/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Line 68"/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Line 69"/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70"/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71"/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72"/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73"/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74"/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75"/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76"/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77"/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78"/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79"/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90" name="Straight Connector 89"/>
          <p:cNvCxnSpPr/>
          <p:nvPr/>
        </p:nvCxnSpPr>
        <p:spPr>
          <a:xfrm>
            <a:off x="6999514" y="3592287"/>
            <a:ext cx="10886" cy="42454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5900057" y="3570515"/>
            <a:ext cx="10886" cy="42454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903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0AC05E-049B-A3D9-726A-95C06CDA3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633" y="1979272"/>
            <a:ext cx="9408733" cy="242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797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EC7E33-E222-CAC4-7BA3-D84E2B310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82" y="1979272"/>
            <a:ext cx="9139037" cy="235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25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9F43F-5491-36F6-ADC7-E15B377F4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C1300F-DD12-5A92-E693-E623189BA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59" y="2106593"/>
            <a:ext cx="9094086" cy="234176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4A55990-012F-B747-99EE-FB9943F25A00}"/>
              </a:ext>
            </a:extLst>
          </p:cNvPr>
          <p:cNvSpPr/>
          <p:nvPr/>
        </p:nvSpPr>
        <p:spPr>
          <a:xfrm>
            <a:off x="4893498" y="1698584"/>
            <a:ext cx="636607" cy="34608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31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A06F56-55FA-24FB-BB5B-5479CBDBB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59" y="2106593"/>
            <a:ext cx="9094086" cy="234176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390EA9D-9336-3450-17B1-506A85960A46}"/>
              </a:ext>
            </a:extLst>
          </p:cNvPr>
          <p:cNvSpPr/>
          <p:nvPr/>
        </p:nvSpPr>
        <p:spPr>
          <a:xfrm>
            <a:off x="4893498" y="1698584"/>
            <a:ext cx="636607" cy="34608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BAF3AD-0394-492B-170F-1CB825031EBD}"/>
              </a:ext>
            </a:extLst>
          </p:cNvPr>
          <p:cNvSpPr/>
          <p:nvPr/>
        </p:nvSpPr>
        <p:spPr>
          <a:xfrm>
            <a:off x="6689564" y="1698584"/>
            <a:ext cx="636607" cy="34608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91F519-7017-7AB2-D2F7-B8A108EB3CE4}"/>
              </a:ext>
            </a:extLst>
          </p:cNvPr>
          <p:cNvSpPr/>
          <p:nvPr/>
        </p:nvSpPr>
        <p:spPr>
          <a:xfrm>
            <a:off x="8485630" y="1840226"/>
            <a:ext cx="636607" cy="34608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50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186C1E-F47D-0583-C5AD-43F36AF2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481" y="2488557"/>
            <a:ext cx="9139037" cy="235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04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A3E6FE-6149-C0E0-A4D9-AE4DCBE13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58" y="2164466"/>
            <a:ext cx="9094086" cy="234176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0F86A66-E700-775E-5383-93029B26BCDD}"/>
              </a:ext>
            </a:extLst>
          </p:cNvPr>
          <p:cNvSpPr/>
          <p:nvPr/>
        </p:nvSpPr>
        <p:spPr>
          <a:xfrm>
            <a:off x="4893498" y="1698584"/>
            <a:ext cx="636607" cy="34608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E02EF0-258F-F3BF-60B7-168D9D866305}"/>
              </a:ext>
            </a:extLst>
          </p:cNvPr>
          <p:cNvSpPr/>
          <p:nvPr/>
        </p:nvSpPr>
        <p:spPr>
          <a:xfrm>
            <a:off x="6689564" y="1698584"/>
            <a:ext cx="636607" cy="34608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F91FF-9F66-C5D3-12B5-A4948911C941}"/>
              </a:ext>
            </a:extLst>
          </p:cNvPr>
          <p:cNvSpPr/>
          <p:nvPr/>
        </p:nvSpPr>
        <p:spPr>
          <a:xfrm>
            <a:off x="8485630" y="1840226"/>
            <a:ext cx="636607" cy="34608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25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Arc 48">
            <a:extLst>
              <a:ext uri="{FF2B5EF4-FFF2-40B4-BE49-F238E27FC236}">
                <a16:creationId xmlns:a16="http://schemas.microsoft.com/office/drawing/2014/main" id="{25D7A381-103A-00A6-0022-E0629A487441}"/>
              </a:ext>
            </a:extLst>
          </p:cNvPr>
          <p:cNvSpPr>
            <a:spLocks/>
          </p:cNvSpPr>
          <p:nvPr/>
        </p:nvSpPr>
        <p:spPr bwMode="auto">
          <a:xfrm>
            <a:off x="5421620" y="2611438"/>
            <a:ext cx="1789113" cy="17526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143 w 43200"/>
              <a:gd name="T1" fmla="*/ 24077 h 43200"/>
              <a:gd name="T2" fmla="*/ 4287 w 43200"/>
              <a:gd name="T3" fmla="*/ 34515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142" y="24077"/>
                </a:moveTo>
                <a:cubicBezTo>
                  <a:pt x="47" y="23254"/>
                  <a:pt x="0" y="224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781" y="43200"/>
                  <a:pt x="8363" y="39980"/>
                  <a:pt x="4286" y="34515"/>
                </a:cubicBezTo>
              </a:path>
              <a:path w="43200" h="43200" stroke="0" extrusionOk="0">
                <a:moveTo>
                  <a:pt x="142" y="24077"/>
                </a:moveTo>
                <a:cubicBezTo>
                  <a:pt x="47" y="23254"/>
                  <a:pt x="0" y="224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781" y="43200"/>
                  <a:pt x="8363" y="39980"/>
                  <a:pt x="4286" y="34515"/>
                </a:cubicBez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arrow" w="lg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" name="Group 50">
            <a:extLst>
              <a:ext uri="{FF2B5EF4-FFF2-40B4-BE49-F238E27FC236}">
                <a16:creationId xmlns:a16="http://schemas.microsoft.com/office/drawing/2014/main" id="{7C937026-D77F-86A3-9E09-21364D6C59F5}"/>
              </a:ext>
            </a:extLst>
          </p:cNvPr>
          <p:cNvGrpSpPr>
            <a:grpSpLocks/>
          </p:cNvGrpSpPr>
          <p:nvPr/>
        </p:nvGrpSpPr>
        <p:grpSpPr bwMode="auto">
          <a:xfrm>
            <a:off x="3032125" y="2884488"/>
            <a:ext cx="1887538" cy="1123950"/>
            <a:chOff x="1037" y="605"/>
            <a:chExt cx="1189" cy="708"/>
          </a:xfrm>
        </p:grpSpPr>
        <p:sp>
          <p:nvSpPr>
            <p:cNvPr id="45" name="AutoShape 51">
              <a:extLst>
                <a:ext uri="{FF2B5EF4-FFF2-40B4-BE49-F238E27FC236}">
                  <a16:creationId xmlns:a16="http://schemas.microsoft.com/office/drawing/2014/main" id="{DCC72CAB-A2F1-F58D-B199-442E570D0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" y="868"/>
              <a:ext cx="166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46" name="Text Box 52">
              <a:extLst>
                <a:ext uri="{FF2B5EF4-FFF2-40B4-BE49-F238E27FC236}">
                  <a16:creationId xmlns:a16="http://schemas.microsoft.com/office/drawing/2014/main" id="{22B50C34-8554-55F1-B93A-452F598FF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0" y="605"/>
              <a:ext cx="32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47" name="Line 53">
              <a:extLst>
                <a:ext uri="{FF2B5EF4-FFF2-40B4-BE49-F238E27FC236}">
                  <a16:creationId xmlns:a16="http://schemas.microsoft.com/office/drawing/2014/main" id="{B233BA09-A770-E7BE-6374-E4801637F3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9" y="656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54">
              <a:extLst>
                <a:ext uri="{FF2B5EF4-FFF2-40B4-BE49-F238E27FC236}">
                  <a16:creationId xmlns:a16="http://schemas.microsoft.com/office/drawing/2014/main" id="{44BBE002-4672-FB6C-1B96-D5937075B9C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545" y="525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49" name="Group 55">
              <a:extLst>
                <a:ext uri="{FF2B5EF4-FFF2-40B4-BE49-F238E27FC236}">
                  <a16:creationId xmlns:a16="http://schemas.microsoft.com/office/drawing/2014/main" id="{8B8A3DA0-D9C9-3A4C-3377-0A2B11B45E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7" y="868"/>
              <a:ext cx="481" cy="94"/>
              <a:chOff x="2248" y="1248"/>
              <a:chExt cx="648" cy="128"/>
            </a:xfrm>
          </p:grpSpPr>
          <p:grpSp>
            <p:nvGrpSpPr>
              <p:cNvPr id="55" name="Group 56">
                <a:extLst>
                  <a:ext uri="{FF2B5EF4-FFF2-40B4-BE49-F238E27FC236}">
                    <a16:creationId xmlns:a16="http://schemas.microsoft.com/office/drawing/2014/main" id="{E81A413E-04D6-BEDD-4DFC-82EFD19F00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77" name="Line 57">
                  <a:extLst>
                    <a:ext uri="{FF2B5EF4-FFF2-40B4-BE49-F238E27FC236}">
                      <a16:creationId xmlns:a16="http://schemas.microsoft.com/office/drawing/2014/main" id="{5C1F3007-B6AC-9145-44C4-F11B58298A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" name="Line 58">
                  <a:extLst>
                    <a:ext uri="{FF2B5EF4-FFF2-40B4-BE49-F238E27FC236}">
                      <a16:creationId xmlns:a16="http://schemas.microsoft.com/office/drawing/2014/main" id="{C4B953A0-0E6F-C2D4-921D-070A09A3AC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6" name="Group 59">
                <a:extLst>
                  <a:ext uri="{FF2B5EF4-FFF2-40B4-BE49-F238E27FC236}">
                    <a16:creationId xmlns:a16="http://schemas.microsoft.com/office/drawing/2014/main" id="{D3BCCDB2-3B6A-D390-246C-5F62B620E7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75" name="Line 60">
                  <a:extLst>
                    <a:ext uri="{FF2B5EF4-FFF2-40B4-BE49-F238E27FC236}">
                      <a16:creationId xmlns:a16="http://schemas.microsoft.com/office/drawing/2014/main" id="{20E45C9C-79DF-3A39-9A62-B598F2F1ED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" name="Line 61">
                  <a:extLst>
                    <a:ext uri="{FF2B5EF4-FFF2-40B4-BE49-F238E27FC236}">
                      <a16:creationId xmlns:a16="http://schemas.microsoft.com/office/drawing/2014/main" id="{8DB4E144-00C0-1CFB-B11F-E5C701ABC4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7" name="Group 62">
                <a:extLst>
                  <a:ext uri="{FF2B5EF4-FFF2-40B4-BE49-F238E27FC236}">
                    <a16:creationId xmlns:a16="http://schemas.microsoft.com/office/drawing/2014/main" id="{6623A310-AE02-2678-1D50-8C629FCB29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73" name="Line 63">
                  <a:extLst>
                    <a:ext uri="{FF2B5EF4-FFF2-40B4-BE49-F238E27FC236}">
                      <a16:creationId xmlns:a16="http://schemas.microsoft.com/office/drawing/2014/main" id="{897B2A02-6A22-09B1-0CC3-06763BD23D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" name="Line 64">
                  <a:extLst>
                    <a:ext uri="{FF2B5EF4-FFF2-40B4-BE49-F238E27FC236}">
                      <a16:creationId xmlns:a16="http://schemas.microsoft.com/office/drawing/2014/main" id="{4CD85EA4-E0BB-6B07-D050-712856C75C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8" name="Group 65">
                <a:extLst>
                  <a:ext uri="{FF2B5EF4-FFF2-40B4-BE49-F238E27FC236}">
                    <a16:creationId xmlns:a16="http://schemas.microsoft.com/office/drawing/2014/main" id="{5D188710-263C-8BB2-8A59-4CC290143A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71" name="Line 66">
                  <a:extLst>
                    <a:ext uri="{FF2B5EF4-FFF2-40B4-BE49-F238E27FC236}">
                      <a16:creationId xmlns:a16="http://schemas.microsoft.com/office/drawing/2014/main" id="{DF7DD2CF-C1B0-F7AF-E808-6982494E03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" name="Line 67">
                  <a:extLst>
                    <a:ext uri="{FF2B5EF4-FFF2-40B4-BE49-F238E27FC236}">
                      <a16:creationId xmlns:a16="http://schemas.microsoft.com/office/drawing/2014/main" id="{66E3E4B8-63E4-60DA-006E-E3F4FEA135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9" name="Group 68">
                <a:extLst>
                  <a:ext uri="{FF2B5EF4-FFF2-40B4-BE49-F238E27FC236}">
                    <a16:creationId xmlns:a16="http://schemas.microsoft.com/office/drawing/2014/main" id="{E9F50C0F-331A-226E-2320-8B1DF4427F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69" name="Line 69">
                  <a:extLst>
                    <a:ext uri="{FF2B5EF4-FFF2-40B4-BE49-F238E27FC236}">
                      <a16:creationId xmlns:a16="http://schemas.microsoft.com/office/drawing/2014/main" id="{D13F1638-C943-995A-9C11-64FA88999F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" name="Line 70">
                  <a:extLst>
                    <a:ext uri="{FF2B5EF4-FFF2-40B4-BE49-F238E27FC236}">
                      <a16:creationId xmlns:a16="http://schemas.microsoft.com/office/drawing/2014/main" id="{64791180-5CFB-258F-17CF-D666E619CB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0" name="Group 71">
                <a:extLst>
                  <a:ext uri="{FF2B5EF4-FFF2-40B4-BE49-F238E27FC236}">
                    <a16:creationId xmlns:a16="http://schemas.microsoft.com/office/drawing/2014/main" id="{495A4FEC-0D13-8ECC-F6C4-76D626F14D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67" name="Line 72">
                  <a:extLst>
                    <a:ext uri="{FF2B5EF4-FFF2-40B4-BE49-F238E27FC236}">
                      <a16:creationId xmlns:a16="http://schemas.microsoft.com/office/drawing/2014/main" id="{8CF905FD-F60B-33EC-7A53-260FE5ECEF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" name="Line 73">
                  <a:extLst>
                    <a:ext uri="{FF2B5EF4-FFF2-40B4-BE49-F238E27FC236}">
                      <a16:creationId xmlns:a16="http://schemas.microsoft.com/office/drawing/2014/main" id="{0BBA15CF-0F34-F663-3B43-692914687E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1" name="Group 74">
                <a:extLst>
                  <a:ext uri="{FF2B5EF4-FFF2-40B4-BE49-F238E27FC236}">
                    <a16:creationId xmlns:a16="http://schemas.microsoft.com/office/drawing/2014/main" id="{8CFBEBD1-35C6-CC7C-DC37-FD6681D4EA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65" name="Line 75">
                  <a:extLst>
                    <a:ext uri="{FF2B5EF4-FFF2-40B4-BE49-F238E27FC236}">
                      <a16:creationId xmlns:a16="http://schemas.microsoft.com/office/drawing/2014/main" id="{2F31422D-F89A-5337-B9FA-7336F68F0B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" name="Line 76">
                  <a:extLst>
                    <a:ext uri="{FF2B5EF4-FFF2-40B4-BE49-F238E27FC236}">
                      <a16:creationId xmlns:a16="http://schemas.microsoft.com/office/drawing/2014/main" id="{59A9EDBD-2B57-74A4-B08F-E96FBECC45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2" name="Group 77">
                <a:extLst>
                  <a:ext uri="{FF2B5EF4-FFF2-40B4-BE49-F238E27FC236}">
                    <a16:creationId xmlns:a16="http://schemas.microsoft.com/office/drawing/2014/main" id="{C78C9A9D-E6B8-570C-0BA5-693F138CFB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63" name="Line 78">
                  <a:extLst>
                    <a:ext uri="{FF2B5EF4-FFF2-40B4-BE49-F238E27FC236}">
                      <a16:creationId xmlns:a16="http://schemas.microsoft.com/office/drawing/2014/main" id="{6A0CD6E2-DD0A-5048-6706-902E2453EA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" name="Line 79">
                  <a:extLst>
                    <a:ext uri="{FF2B5EF4-FFF2-40B4-BE49-F238E27FC236}">
                      <a16:creationId xmlns:a16="http://schemas.microsoft.com/office/drawing/2014/main" id="{FBED5CA6-5D1B-BBF4-CB6C-C8FB00E7B1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50" name="Line 80">
              <a:extLst>
                <a:ext uri="{FF2B5EF4-FFF2-40B4-BE49-F238E27FC236}">
                  <a16:creationId xmlns:a16="http://schemas.microsoft.com/office/drawing/2014/main" id="{F99B1D6E-FB07-DDEC-8812-6887CA3F5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" y="1074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Box 81">
              <a:extLst>
                <a:ext uri="{FF2B5EF4-FFF2-40B4-BE49-F238E27FC236}">
                  <a16:creationId xmlns:a16="http://schemas.microsoft.com/office/drawing/2014/main" id="{12ED1CC2-8803-BA88-319E-6DA1BB66D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1" y="1121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52" name="Line 82">
              <a:extLst>
                <a:ext uri="{FF2B5EF4-FFF2-40B4-BE49-F238E27FC236}">
                  <a16:creationId xmlns:a16="http://schemas.microsoft.com/office/drawing/2014/main" id="{C2D2414F-844F-9BCE-831F-52DDBA537C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2" y="1080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Box 83">
              <a:extLst>
                <a:ext uri="{FF2B5EF4-FFF2-40B4-BE49-F238E27FC236}">
                  <a16:creationId xmlns:a16="http://schemas.microsoft.com/office/drawing/2014/main" id="{26BEC15E-B735-1AB1-9ACB-C90A027206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1" y="1116"/>
              <a:ext cx="36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54" name="Line 84">
              <a:extLst>
                <a:ext uri="{FF2B5EF4-FFF2-40B4-BE49-F238E27FC236}">
                  <a16:creationId xmlns:a16="http://schemas.microsoft.com/office/drawing/2014/main" id="{F6487F77-F41B-510A-933E-C21BCD8EDE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00" y="809"/>
              <a:ext cx="2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9" name="Group 85">
            <a:extLst>
              <a:ext uri="{FF2B5EF4-FFF2-40B4-BE49-F238E27FC236}">
                <a16:creationId xmlns:a16="http://schemas.microsoft.com/office/drawing/2014/main" id="{D7A8CBBB-EF1C-62CB-104E-0E1EDAEFA7E9}"/>
              </a:ext>
            </a:extLst>
          </p:cNvPr>
          <p:cNvGrpSpPr>
            <a:grpSpLocks/>
          </p:cNvGrpSpPr>
          <p:nvPr/>
        </p:nvGrpSpPr>
        <p:grpSpPr bwMode="auto">
          <a:xfrm>
            <a:off x="7978775" y="2863850"/>
            <a:ext cx="1798638" cy="1162050"/>
            <a:chOff x="1029" y="1941"/>
            <a:chExt cx="1133" cy="732"/>
          </a:xfrm>
        </p:grpSpPr>
        <p:sp>
          <p:nvSpPr>
            <p:cNvPr id="80" name="AutoShape 86">
              <a:extLst>
                <a:ext uri="{FF2B5EF4-FFF2-40B4-BE49-F238E27FC236}">
                  <a16:creationId xmlns:a16="http://schemas.microsoft.com/office/drawing/2014/main" id="{4B4AFAD5-9CA7-FD37-62F0-FEFACAE7C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" y="2220"/>
              <a:ext cx="166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81" name="Text Box 87">
              <a:extLst>
                <a:ext uri="{FF2B5EF4-FFF2-40B4-BE49-F238E27FC236}">
                  <a16:creationId xmlns:a16="http://schemas.microsoft.com/office/drawing/2014/main" id="{F8F0F778-177B-66CA-EB7C-2BD12AC0FD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" y="1941"/>
              <a:ext cx="32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82" name="Line 88">
              <a:extLst>
                <a:ext uri="{FF2B5EF4-FFF2-40B4-BE49-F238E27FC236}">
                  <a16:creationId xmlns:a16="http://schemas.microsoft.com/office/drawing/2014/main" id="{2F1BECD0-9902-B3B1-2F36-2C09C244A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1" y="2008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89">
              <a:extLst>
                <a:ext uri="{FF2B5EF4-FFF2-40B4-BE49-F238E27FC236}">
                  <a16:creationId xmlns:a16="http://schemas.microsoft.com/office/drawing/2014/main" id="{E0DAFCB8-300E-B3D6-DE69-B39360334C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537" y="1877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84" name="Group 90">
              <a:extLst>
                <a:ext uri="{FF2B5EF4-FFF2-40B4-BE49-F238E27FC236}">
                  <a16:creationId xmlns:a16="http://schemas.microsoft.com/office/drawing/2014/main" id="{B9BC8AF7-B514-697C-68B9-214BB01734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9" y="2220"/>
              <a:ext cx="481" cy="94"/>
              <a:chOff x="2248" y="1248"/>
              <a:chExt cx="648" cy="128"/>
            </a:xfrm>
          </p:grpSpPr>
          <p:grpSp>
            <p:nvGrpSpPr>
              <p:cNvPr id="90" name="Group 91">
                <a:extLst>
                  <a:ext uri="{FF2B5EF4-FFF2-40B4-BE49-F238E27FC236}">
                    <a16:creationId xmlns:a16="http://schemas.microsoft.com/office/drawing/2014/main" id="{C403B6AB-ED1F-10A6-24AB-97F6C90D41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112" name="Line 92">
                  <a:extLst>
                    <a:ext uri="{FF2B5EF4-FFF2-40B4-BE49-F238E27FC236}">
                      <a16:creationId xmlns:a16="http://schemas.microsoft.com/office/drawing/2014/main" id="{770E07A4-FE20-2CF0-5B9D-73BB188698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" name="Line 93">
                  <a:extLst>
                    <a:ext uri="{FF2B5EF4-FFF2-40B4-BE49-F238E27FC236}">
                      <a16:creationId xmlns:a16="http://schemas.microsoft.com/office/drawing/2014/main" id="{AA799813-43C7-30E7-0C3A-B4118EC7D6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1" name="Group 94">
                <a:extLst>
                  <a:ext uri="{FF2B5EF4-FFF2-40B4-BE49-F238E27FC236}">
                    <a16:creationId xmlns:a16="http://schemas.microsoft.com/office/drawing/2014/main" id="{2F0E958C-7797-3E00-7A0F-277453D29E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110" name="Line 95">
                  <a:extLst>
                    <a:ext uri="{FF2B5EF4-FFF2-40B4-BE49-F238E27FC236}">
                      <a16:creationId xmlns:a16="http://schemas.microsoft.com/office/drawing/2014/main" id="{B1952681-7583-3AE4-C253-E363FBA663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" name="Line 96">
                  <a:extLst>
                    <a:ext uri="{FF2B5EF4-FFF2-40B4-BE49-F238E27FC236}">
                      <a16:creationId xmlns:a16="http://schemas.microsoft.com/office/drawing/2014/main" id="{A06160EE-B04B-C8D4-CC4D-3D0CFD0DFD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97">
                <a:extLst>
                  <a:ext uri="{FF2B5EF4-FFF2-40B4-BE49-F238E27FC236}">
                    <a16:creationId xmlns:a16="http://schemas.microsoft.com/office/drawing/2014/main" id="{49CEBAC5-478A-DA7F-BDE0-AC552FAAA7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108" name="Line 98">
                  <a:extLst>
                    <a:ext uri="{FF2B5EF4-FFF2-40B4-BE49-F238E27FC236}">
                      <a16:creationId xmlns:a16="http://schemas.microsoft.com/office/drawing/2014/main" id="{76040F72-F968-1E61-82A1-A15DC4D6B2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" name="Line 99">
                  <a:extLst>
                    <a:ext uri="{FF2B5EF4-FFF2-40B4-BE49-F238E27FC236}">
                      <a16:creationId xmlns:a16="http://schemas.microsoft.com/office/drawing/2014/main" id="{ED53518B-36D4-E689-6FC1-DA56331919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100">
                <a:extLst>
                  <a:ext uri="{FF2B5EF4-FFF2-40B4-BE49-F238E27FC236}">
                    <a16:creationId xmlns:a16="http://schemas.microsoft.com/office/drawing/2014/main" id="{F0D8B1B8-7BFA-ED61-147A-CC1BBC7DEF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106" name="Line 101">
                  <a:extLst>
                    <a:ext uri="{FF2B5EF4-FFF2-40B4-BE49-F238E27FC236}">
                      <a16:creationId xmlns:a16="http://schemas.microsoft.com/office/drawing/2014/main" id="{0D02AFCD-ED93-0C43-DB0C-717F2EDAB1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" name="Line 102">
                  <a:extLst>
                    <a:ext uri="{FF2B5EF4-FFF2-40B4-BE49-F238E27FC236}">
                      <a16:creationId xmlns:a16="http://schemas.microsoft.com/office/drawing/2014/main" id="{60CA7646-5B7F-66C5-DAA6-42C9D3AA0C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103">
                <a:extLst>
                  <a:ext uri="{FF2B5EF4-FFF2-40B4-BE49-F238E27FC236}">
                    <a16:creationId xmlns:a16="http://schemas.microsoft.com/office/drawing/2014/main" id="{2C622A9C-4510-1453-6620-F67F6F03C8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104" name="Line 104">
                  <a:extLst>
                    <a:ext uri="{FF2B5EF4-FFF2-40B4-BE49-F238E27FC236}">
                      <a16:creationId xmlns:a16="http://schemas.microsoft.com/office/drawing/2014/main" id="{48B30A3B-DC27-72A2-4784-F647B36343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" name="Line 105">
                  <a:extLst>
                    <a:ext uri="{FF2B5EF4-FFF2-40B4-BE49-F238E27FC236}">
                      <a16:creationId xmlns:a16="http://schemas.microsoft.com/office/drawing/2014/main" id="{BCC3021F-874A-8627-02AE-D5AC0B8D54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5" name="Group 106">
                <a:extLst>
                  <a:ext uri="{FF2B5EF4-FFF2-40B4-BE49-F238E27FC236}">
                    <a16:creationId xmlns:a16="http://schemas.microsoft.com/office/drawing/2014/main" id="{83B0DD9C-DEB6-91E8-F3D6-2F7A7567E4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102" name="Line 107">
                  <a:extLst>
                    <a:ext uri="{FF2B5EF4-FFF2-40B4-BE49-F238E27FC236}">
                      <a16:creationId xmlns:a16="http://schemas.microsoft.com/office/drawing/2014/main" id="{F4752145-6E28-CB7B-11CC-694914D269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" name="Line 108">
                  <a:extLst>
                    <a:ext uri="{FF2B5EF4-FFF2-40B4-BE49-F238E27FC236}">
                      <a16:creationId xmlns:a16="http://schemas.microsoft.com/office/drawing/2014/main" id="{C906841D-7574-5905-EEF9-A6CA515D3D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6" name="Group 109">
                <a:extLst>
                  <a:ext uri="{FF2B5EF4-FFF2-40B4-BE49-F238E27FC236}">
                    <a16:creationId xmlns:a16="http://schemas.microsoft.com/office/drawing/2014/main" id="{9123BC2C-4424-6D94-D707-EBAF2D601B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100" name="Line 110">
                  <a:extLst>
                    <a:ext uri="{FF2B5EF4-FFF2-40B4-BE49-F238E27FC236}">
                      <a16:creationId xmlns:a16="http://schemas.microsoft.com/office/drawing/2014/main" id="{C49E1DF9-066F-BB6B-EC74-963282EBAF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" name="Line 111">
                  <a:extLst>
                    <a:ext uri="{FF2B5EF4-FFF2-40B4-BE49-F238E27FC236}">
                      <a16:creationId xmlns:a16="http://schemas.microsoft.com/office/drawing/2014/main" id="{49B3DCEE-C2A9-8E4F-3F43-8EB0FFBD70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7" name="Group 112">
                <a:extLst>
                  <a:ext uri="{FF2B5EF4-FFF2-40B4-BE49-F238E27FC236}">
                    <a16:creationId xmlns:a16="http://schemas.microsoft.com/office/drawing/2014/main" id="{A2134FAB-7F6F-0717-4B00-BEE0371767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98" name="Line 113">
                  <a:extLst>
                    <a:ext uri="{FF2B5EF4-FFF2-40B4-BE49-F238E27FC236}">
                      <a16:creationId xmlns:a16="http://schemas.microsoft.com/office/drawing/2014/main" id="{879EAC91-FE25-CF38-E9FF-293BAF6D66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" name="Line 114">
                  <a:extLst>
                    <a:ext uri="{FF2B5EF4-FFF2-40B4-BE49-F238E27FC236}">
                      <a16:creationId xmlns:a16="http://schemas.microsoft.com/office/drawing/2014/main" id="{A5FA6612-502A-4731-F0F9-635ACD5F40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85" name="Line 115">
              <a:extLst>
                <a:ext uri="{FF2B5EF4-FFF2-40B4-BE49-F238E27FC236}">
                  <a16:creationId xmlns:a16="http://schemas.microsoft.com/office/drawing/2014/main" id="{E1F3C745-D304-A88D-F7ED-EDA563A75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1" y="2426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 Box 116">
              <a:extLst>
                <a:ext uri="{FF2B5EF4-FFF2-40B4-BE49-F238E27FC236}">
                  <a16:creationId xmlns:a16="http://schemas.microsoft.com/office/drawing/2014/main" id="{242300B2-D04D-3AE9-BFF1-CD8D13139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3" y="2481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87" name="Line 117">
              <a:extLst>
                <a:ext uri="{FF2B5EF4-FFF2-40B4-BE49-F238E27FC236}">
                  <a16:creationId xmlns:a16="http://schemas.microsoft.com/office/drawing/2014/main" id="{AACFD8A3-FA56-EC37-4A41-8D4B2481A2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4" y="2432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 Box 118">
              <a:extLst>
                <a:ext uri="{FF2B5EF4-FFF2-40B4-BE49-F238E27FC236}">
                  <a16:creationId xmlns:a16="http://schemas.microsoft.com/office/drawing/2014/main" id="{BBE690A8-9C25-0501-6E0C-221B7CF555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3" y="2468"/>
              <a:ext cx="30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89" name="Line 119">
              <a:extLst>
                <a:ext uri="{FF2B5EF4-FFF2-40B4-BE49-F238E27FC236}">
                  <a16:creationId xmlns:a16="http://schemas.microsoft.com/office/drawing/2014/main" id="{ABCD971E-6671-A648-A438-55E30284CE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2" y="2161"/>
              <a:ext cx="2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4" name="Group 120">
            <a:extLst>
              <a:ext uri="{FF2B5EF4-FFF2-40B4-BE49-F238E27FC236}">
                <a16:creationId xmlns:a16="http://schemas.microsoft.com/office/drawing/2014/main" id="{DA4BF19A-562C-9D3F-99AE-741194227242}"/>
              </a:ext>
            </a:extLst>
          </p:cNvPr>
          <p:cNvGrpSpPr>
            <a:grpSpLocks/>
          </p:cNvGrpSpPr>
          <p:nvPr/>
        </p:nvGrpSpPr>
        <p:grpSpPr bwMode="auto">
          <a:xfrm>
            <a:off x="5634038" y="1020763"/>
            <a:ext cx="1612900" cy="1082675"/>
            <a:chOff x="2112" y="1300"/>
            <a:chExt cx="1016" cy="682"/>
          </a:xfrm>
        </p:grpSpPr>
        <p:sp>
          <p:nvSpPr>
            <p:cNvPr id="115" name="AutoShape 121">
              <a:extLst>
                <a:ext uri="{FF2B5EF4-FFF2-40B4-BE49-F238E27FC236}">
                  <a16:creationId xmlns:a16="http://schemas.microsoft.com/office/drawing/2014/main" id="{4E148370-FF72-1ABD-7DFA-2535E8B2C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5" y="1495"/>
              <a:ext cx="167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16" name="Line 122">
              <a:extLst>
                <a:ext uri="{FF2B5EF4-FFF2-40B4-BE49-F238E27FC236}">
                  <a16:creationId xmlns:a16="http://schemas.microsoft.com/office/drawing/2014/main" id="{96D9E54A-1C13-3451-6786-0ECB812EF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4" y="1300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Line 123">
              <a:extLst>
                <a:ext uri="{FF2B5EF4-FFF2-40B4-BE49-F238E27FC236}">
                  <a16:creationId xmlns:a16="http://schemas.microsoft.com/office/drawing/2014/main" id="{6E6F32E6-E37B-EE41-5952-1359902CB38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620" y="1169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8" name="Group 124">
              <a:extLst>
                <a:ext uri="{FF2B5EF4-FFF2-40B4-BE49-F238E27FC236}">
                  <a16:creationId xmlns:a16="http://schemas.microsoft.com/office/drawing/2014/main" id="{673C0701-6C1A-B9F0-58B3-1B614F2131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8" y="1512"/>
              <a:ext cx="225" cy="95"/>
              <a:chOff x="2248" y="1248"/>
              <a:chExt cx="648" cy="128"/>
            </a:xfrm>
          </p:grpSpPr>
          <p:grpSp>
            <p:nvGrpSpPr>
              <p:cNvPr id="124" name="Group 125">
                <a:extLst>
                  <a:ext uri="{FF2B5EF4-FFF2-40B4-BE49-F238E27FC236}">
                    <a16:creationId xmlns:a16="http://schemas.microsoft.com/office/drawing/2014/main" id="{29062522-7C2B-E8E6-B6F6-06735ECB2A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146" name="Line 126">
                  <a:extLst>
                    <a:ext uri="{FF2B5EF4-FFF2-40B4-BE49-F238E27FC236}">
                      <a16:creationId xmlns:a16="http://schemas.microsoft.com/office/drawing/2014/main" id="{37E35652-9012-B3D5-B227-CD0E876D74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Line 127">
                  <a:extLst>
                    <a:ext uri="{FF2B5EF4-FFF2-40B4-BE49-F238E27FC236}">
                      <a16:creationId xmlns:a16="http://schemas.microsoft.com/office/drawing/2014/main" id="{E69E406D-250E-63A3-E244-FD4EF77CB2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25" name="Group 128">
                <a:extLst>
                  <a:ext uri="{FF2B5EF4-FFF2-40B4-BE49-F238E27FC236}">
                    <a16:creationId xmlns:a16="http://schemas.microsoft.com/office/drawing/2014/main" id="{8524FBAC-51A0-7767-D5C5-25D8157F30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144" name="Line 129">
                  <a:extLst>
                    <a:ext uri="{FF2B5EF4-FFF2-40B4-BE49-F238E27FC236}">
                      <a16:creationId xmlns:a16="http://schemas.microsoft.com/office/drawing/2014/main" id="{F219B7B1-09A9-5987-6946-7FA92DA54E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Line 130">
                  <a:extLst>
                    <a:ext uri="{FF2B5EF4-FFF2-40B4-BE49-F238E27FC236}">
                      <a16:creationId xmlns:a16="http://schemas.microsoft.com/office/drawing/2014/main" id="{93ED5A0F-552F-764C-6F6B-19F2DA916D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26" name="Group 131">
                <a:extLst>
                  <a:ext uri="{FF2B5EF4-FFF2-40B4-BE49-F238E27FC236}">
                    <a16:creationId xmlns:a16="http://schemas.microsoft.com/office/drawing/2014/main" id="{CF2DA649-B047-9449-6524-743E2B17AB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142" name="Line 132">
                  <a:extLst>
                    <a:ext uri="{FF2B5EF4-FFF2-40B4-BE49-F238E27FC236}">
                      <a16:creationId xmlns:a16="http://schemas.microsoft.com/office/drawing/2014/main" id="{853008BC-D3EE-E914-D969-260B0A6017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Line 133">
                  <a:extLst>
                    <a:ext uri="{FF2B5EF4-FFF2-40B4-BE49-F238E27FC236}">
                      <a16:creationId xmlns:a16="http://schemas.microsoft.com/office/drawing/2014/main" id="{D8C4A216-0ED4-F384-90FD-B67352007D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27" name="Group 134">
                <a:extLst>
                  <a:ext uri="{FF2B5EF4-FFF2-40B4-BE49-F238E27FC236}">
                    <a16:creationId xmlns:a16="http://schemas.microsoft.com/office/drawing/2014/main" id="{FD830377-35D5-B6E7-F71E-0ABEB88F7A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140" name="Line 135">
                  <a:extLst>
                    <a:ext uri="{FF2B5EF4-FFF2-40B4-BE49-F238E27FC236}">
                      <a16:creationId xmlns:a16="http://schemas.microsoft.com/office/drawing/2014/main" id="{F3BE41F4-8521-538E-7780-A1FE51EB91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Line 136">
                  <a:extLst>
                    <a:ext uri="{FF2B5EF4-FFF2-40B4-BE49-F238E27FC236}">
                      <a16:creationId xmlns:a16="http://schemas.microsoft.com/office/drawing/2014/main" id="{5C007DD2-80C9-E60A-0B37-EDC6815481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28" name="Group 137">
                <a:extLst>
                  <a:ext uri="{FF2B5EF4-FFF2-40B4-BE49-F238E27FC236}">
                    <a16:creationId xmlns:a16="http://schemas.microsoft.com/office/drawing/2014/main" id="{E62278DE-087A-665F-C585-B49805E7B7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138" name="Line 138">
                  <a:extLst>
                    <a:ext uri="{FF2B5EF4-FFF2-40B4-BE49-F238E27FC236}">
                      <a16:creationId xmlns:a16="http://schemas.microsoft.com/office/drawing/2014/main" id="{BEE146EA-88AB-FDED-4F72-2197598F5B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Line 139">
                  <a:extLst>
                    <a:ext uri="{FF2B5EF4-FFF2-40B4-BE49-F238E27FC236}">
                      <a16:creationId xmlns:a16="http://schemas.microsoft.com/office/drawing/2014/main" id="{AA073E17-34A7-6212-B771-76B3610966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29" name="Group 140">
                <a:extLst>
                  <a:ext uri="{FF2B5EF4-FFF2-40B4-BE49-F238E27FC236}">
                    <a16:creationId xmlns:a16="http://schemas.microsoft.com/office/drawing/2014/main" id="{362A9CF4-B6DB-9C7A-1A69-AA07F8CE09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136" name="Line 141">
                  <a:extLst>
                    <a:ext uri="{FF2B5EF4-FFF2-40B4-BE49-F238E27FC236}">
                      <a16:creationId xmlns:a16="http://schemas.microsoft.com/office/drawing/2014/main" id="{FB22A339-32B7-E490-9F87-ED94821144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Line 142">
                  <a:extLst>
                    <a:ext uri="{FF2B5EF4-FFF2-40B4-BE49-F238E27FC236}">
                      <a16:creationId xmlns:a16="http://schemas.microsoft.com/office/drawing/2014/main" id="{D8C9337B-8B0B-99C1-3F75-3D38BE6773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30" name="Group 143">
                <a:extLst>
                  <a:ext uri="{FF2B5EF4-FFF2-40B4-BE49-F238E27FC236}">
                    <a16:creationId xmlns:a16="http://schemas.microsoft.com/office/drawing/2014/main" id="{13103D22-4CEB-C598-A530-93A41F6310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134" name="Line 144">
                  <a:extLst>
                    <a:ext uri="{FF2B5EF4-FFF2-40B4-BE49-F238E27FC236}">
                      <a16:creationId xmlns:a16="http://schemas.microsoft.com/office/drawing/2014/main" id="{28851BF2-2926-8C58-E933-D3A93E9740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Line 145">
                  <a:extLst>
                    <a:ext uri="{FF2B5EF4-FFF2-40B4-BE49-F238E27FC236}">
                      <a16:creationId xmlns:a16="http://schemas.microsoft.com/office/drawing/2014/main" id="{0AFEA0D8-52C4-6628-7A97-6AB1E8739D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31" name="Group 146">
                <a:extLst>
                  <a:ext uri="{FF2B5EF4-FFF2-40B4-BE49-F238E27FC236}">
                    <a16:creationId xmlns:a16="http://schemas.microsoft.com/office/drawing/2014/main" id="{0F8A4102-D531-CC0E-BB0B-F5B9C9C423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132" name="Line 147">
                  <a:extLst>
                    <a:ext uri="{FF2B5EF4-FFF2-40B4-BE49-F238E27FC236}">
                      <a16:creationId xmlns:a16="http://schemas.microsoft.com/office/drawing/2014/main" id="{157EA476-1FA8-6028-1FCE-B87E5D95B5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Line 148">
                  <a:extLst>
                    <a:ext uri="{FF2B5EF4-FFF2-40B4-BE49-F238E27FC236}">
                      <a16:creationId xmlns:a16="http://schemas.microsoft.com/office/drawing/2014/main" id="{53760B6F-E3BA-EE81-41E5-087B52A05C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19" name="Line 149">
              <a:extLst>
                <a:ext uri="{FF2B5EF4-FFF2-40B4-BE49-F238E27FC236}">
                  <a16:creationId xmlns:a16="http://schemas.microsoft.com/office/drawing/2014/main" id="{1150E5A9-0BEF-5656-DE26-9BEEE5C973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4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Text Box 150">
              <a:extLst>
                <a:ext uri="{FF2B5EF4-FFF2-40B4-BE49-F238E27FC236}">
                  <a16:creationId xmlns:a16="http://schemas.microsoft.com/office/drawing/2014/main" id="{6B5A1626-CF2B-700F-4F1C-17C4921673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6" y="1790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121" name="Line 151">
              <a:extLst>
                <a:ext uri="{FF2B5EF4-FFF2-40B4-BE49-F238E27FC236}">
                  <a16:creationId xmlns:a16="http://schemas.microsoft.com/office/drawing/2014/main" id="{2FB61C66-6E8F-1516-A16B-6C758F7238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4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Text Box 152">
              <a:extLst>
                <a:ext uri="{FF2B5EF4-FFF2-40B4-BE49-F238E27FC236}">
                  <a16:creationId xmlns:a16="http://schemas.microsoft.com/office/drawing/2014/main" id="{72AA3133-091E-7140-B73D-3C90CC68FF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2" y="1772"/>
              <a:ext cx="48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-x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123" name="Text Box 153">
              <a:extLst>
                <a:ext uri="{FF2B5EF4-FFF2-40B4-BE49-F238E27FC236}">
                  <a16:creationId xmlns:a16="http://schemas.microsoft.com/office/drawing/2014/main" id="{7B7F3244-30FF-1039-D4C6-45042C271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2" y="1311"/>
              <a:ext cx="3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V=0</a:t>
              </a:r>
            </a:p>
          </p:txBody>
        </p:sp>
      </p:grpSp>
      <p:grpSp>
        <p:nvGrpSpPr>
          <p:cNvPr id="148" name="Group 154">
            <a:extLst>
              <a:ext uri="{FF2B5EF4-FFF2-40B4-BE49-F238E27FC236}">
                <a16:creationId xmlns:a16="http://schemas.microsoft.com/office/drawing/2014/main" id="{B67A5ADE-ED70-AE5E-912C-66C691670F83}"/>
              </a:ext>
            </a:extLst>
          </p:cNvPr>
          <p:cNvGrpSpPr>
            <a:grpSpLocks/>
          </p:cNvGrpSpPr>
          <p:nvPr/>
        </p:nvGrpSpPr>
        <p:grpSpPr bwMode="auto">
          <a:xfrm>
            <a:off x="5476875" y="4967288"/>
            <a:ext cx="1925638" cy="1057275"/>
            <a:chOff x="176" y="1300"/>
            <a:chExt cx="1213" cy="666"/>
          </a:xfrm>
        </p:grpSpPr>
        <p:sp>
          <p:nvSpPr>
            <p:cNvPr id="149" name="AutoShape 155">
              <a:extLst>
                <a:ext uri="{FF2B5EF4-FFF2-40B4-BE49-F238E27FC236}">
                  <a16:creationId xmlns:a16="http://schemas.microsoft.com/office/drawing/2014/main" id="{88F4E71E-9E57-313F-E186-755A30E32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" y="1512"/>
              <a:ext cx="167" cy="15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50" name="Text Box 156">
              <a:extLst>
                <a:ext uri="{FF2B5EF4-FFF2-40B4-BE49-F238E27FC236}">
                  <a16:creationId xmlns:a16="http://schemas.microsoft.com/office/drawing/2014/main" id="{929DAE27-6A49-CE31-FB90-BDFD6C030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2" y="1329"/>
              <a:ext cx="3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V=0</a:t>
              </a:r>
            </a:p>
          </p:txBody>
        </p:sp>
        <p:sp>
          <p:nvSpPr>
            <p:cNvPr id="151" name="Line 157">
              <a:extLst>
                <a:ext uri="{FF2B5EF4-FFF2-40B4-BE49-F238E27FC236}">
                  <a16:creationId xmlns:a16="http://schemas.microsoft.com/office/drawing/2014/main" id="{EB5DE3B7-47BB-C36B-23E2-C0EDBC39C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" y="1300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Line 158">
              <a:extLst>
                <a:ext uri="{FF2B5EF4-FFF2-40B4-BE49-F238E27FC236}">
                  <a16:creationId xmlns:a16="http://schemas.microsoft.com/office/drawing/2014/main" id="{2B0C92F8-9966-18CC-285B-E1E984EF4C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84" y="1169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3" name="Group 159">
              <a:extLst>
                <a:ext uri="{FF2B5EF4-FFF2-40B4-BE49-F238E27FC236}">
                  <a16:creationId xmlns:a16="http://schemas.microsoft.com/office/drawing/2014/main" id="{059923BD-4B31-3551-5FE2-E99C6F1FE0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1" y="1506"/>
              <a:ext cx="101" cy="95"/>
              <a:chOff x="704" y="1880"/>
              <a:chExt cx="136" cy="128"/>
            </a:xfrm>
          </p:grpSpPr>
          <p:sp>
            <p:nvSpPr>
              <p:cNvPr id="180" name="Line 160">
                <a:extLst>
                  <a:ext uri="{FF2B5EF4-FFF2-40B4-BE49-F238E27FC236}">
                    <a16:creationId xmlns:a16="http://schemas.microsoft.com/office/drawing/2014/main" id="{0E0B5393-AE54-3F55-EBDA-238D31CA6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" name="Line 161">
                <a:extLst>
                  <a:ext uri="{FF2B5EF4-FFF2-40B4-BE49-F238E27FC236}">
                    <a16:creationId xmlns:a16="http://schemas.microsoft.com/office/drawing/2014/main" id="{350E3DE6-A23A-FA7C-C9E8-7741CF4DC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4" name="Group 162">
              <a:extLst>
                <a:ext uri="{FF2B5EF4-FFF2-40B4-BE49-F238E27FC236}">
                  <a16:creationId xmlns:a16="http://schemas.microsoft.com/office/drawing/2014/main" id="{DEAA4587-58E1-E957-3D4F-3C7088F8F2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" y="1506"/>
              <a:ext cx="101" cy="95"/>
              <a:chOff x="704" y="1880"/>
              <a:chExt cx="136" cy="128"/>
            </a:xfrm>
          </p:grpSpPr>
          <p:sp>
            <p:nvSpPr>
              <p:cNvPr id="178" name="Line 163">
                <a:extLst>
                  <a:ext uri="{FF2B5EF4-FFF2-40B4-BE49-F238E27FC236}">
                    <a16:creationId xmlns:a16="http://schemas.microsoft.com/office/drawing/2014/main" id="{3CA4D342-42D4-FA64-99E9-5CA0A15C94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Line 164">
                <a:extLst>
                  <a:ext uri="{FF2B5EF4-FFF2-40B4-BE49-F238E27FC236}">
                    <a16:creationId xmlns:a16="http://schemas.microsoft.com/office/drawing/2014/main" id="{6C860677-A963-FA77-D9C4-44C9262491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5" name="Group 165">
              <a:extLst>
                <a:ext uri="{FF2B5EF4-FFF2-40B4-BE49-F238E27FC236}">
                  <a16:creationId xmlns:a16="http://schemas.microsoft.com/office/drawing/2014/main" id="{BB96CF21-A21F-6DC9-E7EE-730B1A5BA0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9" y="1506"/>
              <a:ext cx="101" cy="95"/>
              <a:chOff x="704" y="1880"/>
              <a:chExt cx="136" cy="128"/>
            </a:xfrm>
          </p:grpSpPr>
          <p:sp>
            <p:nvSpPr>
              <p:cNvPr id="176" name="Line 166">
                <a:extLst>
                  <a:ext uri="{FF2B5EF4-FFF2-40B4-BE49-F238E27FC236}">
                    <a16:creationId xmlns:a16="http://schemas.microsoft.com/office/drawing/2014/main" id="{0DE43C9D-ECAC-A772-93B1-CDA81BD9B8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Line 167">
                <a:extLst>
                  <a:ext uri="{FF2B5EF4-FFF2-40B4-BE49-F238E27FC236}">
                    <a16:creationId xmlns:a16="http://schemas.microsoft.com/office/drawing/2014/main" id="{A2D0D26A-4DDD-F99C-A250-16EB862747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6" name="Group 168">
              <a:extLst>
                <a:ext uri="{FF2B5EF4-FFF2-40B4-BE49-F238E27FC236}">
                  <a16:creationId xmlns:a16="http://schemas.microsoft.com/office/drawing/2014/main" id="{61628881-4FCF-877F-16BE-230CF77185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8" y="1506"/>
              <a:ext cx="101" cy="95"/>
              <a:chOff x="704" y="1880"/>
              <a:chExt cx="136" cy="128"/>
            </a:xfrm>
          </p:grpSpPr>
          <p:sp>
            <p:nvSpPr>
              <p:cNvPr id="174" name="Line 169">
                <a:extLst>
                  <a:ext uri="{FF2B5EF4-FFF2-40B4-BE49-F238E27FC236}">
                    <a16:creationId xmlns:a16="http://schemas.microsoft.com/office/drawing/2014/main" id="{0C2FF939-9C57-BA3E-0D34-1B15401A0F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Line 170">
                <a:extLst>
                  <a:ext uri="{FF2B5EF4-FFF2-40B4-BE49-F238E27FC236}">
                    <a16:creationId xmlns:a16="http://schemas.microsoft.com/office/drawing/2014/main" id="{DD6691D6-F976-83B2-4630-E23B71C11E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7" name="Group 171">
              <a:extLst>
                <a:ext uri="{FF2B5EF4-FFF2-40B4-BE49-F238E27FC236}">
                  <a16:creationId xmlns:a16="http://schemas.microsoft.com/office/drawing/2014/main" id="{8B06ECD2-63C8-1D50-B6FF-15E4E38E44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" y="1506"/>
              <a:ext cx="101" cy="95"/>
              <a:chOff x="704" y="1880"/>
              <a:chExt cx="136" cy="128"/>
            </a:xfrm>
          </p:grpSpPr>
          <p:sp>
            <p:nvSpPr>
              <p:cNvPr id="172" name="Line 172">
                <a:extLst>
                  <a:ext uri="{FF2B5EF4-FFF2-40B4-BE49-F238E27FC236}">
                    <a16:creationId xmlns:a16="http://schemas.microsoft.com/office/drawing/2014/main" id="{BCF56ACB-9C2A-B269-EE05-5CE6974A4F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Line 173">
                <a:extLst>
                  <a:ext uri="{FF2B5EF4-FFF2-40B4-BE49-F238E27FC236}">
                    <a16:creationId xmlns:a16="http://schemas.microsoft.com/office/drawing/2014/main" id="{D8FEF144-C915-F343-AC9A-D6D37696F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8" name="Group 174">
              <a:extLst>
                <a:ext uri="{FF2B5EF4-FFF2-40B4-BE49-F238E27FC236}">
                  <a16:creationId xmlns:a16="http://schemas.microsoft.com/office/drawing/2014/main" id="{CD8849C0-F932-4933-2B8D-557E09E4D1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" y="1506"/>
              <a:ext cx="101" cy="95"/>
              <a:chOff x="704" y="1880"/>
              <a:chExt cx="136" cy="128"/>
            </a:xfrm>
          </p:grpSpPr>
          <p:sp>
            <p:nvSpPr>
              <p:cNvPr id="170" name="Line 175">
                <a:extLst>
                  <a:ext uri="{FF2B5EF4-FFF2-40B4-BE49-F238E27FC236}">
                    <a16:creationId xmlns:a16="http://schemas.microsoft.com/office/drawing/2014/main" id="{717E481D-5930-736F-27B2-9B8A327CE6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Line 176">
                <a:extLst>
                  <a:ext uri="{FF2B5EF4-FFF2-40B4-BE49-F238E27FC236}">
                    <a16:creationId xmlns:a16="http://schemas.microsoft.com/office/drawing/2014/main" id="{B328A6AF-0225-987D-A3D9-A63B6369E3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9" name="Group 177">
              <a:extLst>
                <a:ext uri="{FF2B5EF4-FFF2-40B4-BE49-F238E27FC236}">
                  <a16:creationId xmlns:a16="http://schemas.microsoft.com/office/drawing/2014/main" id="{72184885-6D11-E2CA-4850-81C335EDBC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" y="1506"/>
              <a:ext cx="101" cy="95"/>
              <a:chOff x="704" y="1880"/>
              <a:chExt cx="136" cy="128"/>
            </a:xfrm>
          </p:grpSpPr>
          <p:sp>
            <p:nvSpPr>
              <p:cNvPr id="168" name="Line 178">
                <a:extLst>
                  <a:ext uri="{FF2B5EF4-FFF2-40B4-BE49-F238E27FC236}">
                    <a16:creationId xmlns:a16="http://schemas.microsoft.com/office/drawing/2014/main" id="{D9440FCA-1564-4A43-2E5C-C6213E947D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Line 179">
                <a:extLst>
                  <a:ext uri="{FF2B5EF4-FFF2-40B4-BE49-F238E27FC236}">
                    <a16:creationId xmlns:a16="http://schemas.microsoft.com/office/drawing/2014/main" id="{9F0BB4F2-3AF5-8792-7CE2-485D4C664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0" name="Group 180">
              <a:extLst>
                <a:ext uri="{FF2B5EF4-FFF2-40B4-BE49-F238E27FC236}">
                  <a16:creationId xmlns:a16="http://schemas.microsoft.com/office/drawing/2014/main" id="{55E67F08-3F40-34BB-B932-90DCB11073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" y="1506"/>
              <a:ext cx="101" cy="95"/>
              <a:chOff x="704" y="1880"/>
              <a:chExt cx="136" cy="128"/>
            </a:xfrm>
          </p:grpSpPr>
          <p:sp>
            <p:nvSpPr>
              <p:cNvPr id="166" name="Line 181">
                <a:extLst>
                  <a:ext uri="{FF2B5EF4-FFF2-40B4-BE49-F238E27FC236}">
                    <a16:creationId xmlns:a16="http://schemas.microsoft.com/office/drawing/2014/main" id="{6B403ED2-0B03-2EAC-B77B-D3DDC0D73B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Line 182">
                <a:extLst>
                  <a:ext uri="{FF2B5EF4-FFF2-40B4-BE49-F238E27FC236}">
                    <a16:creationId xmlns:a16="http://schemas.microsoft.com/office/drawing/2014/main" id="{EB06070D-CCD0-7C18-06F6-B526C4768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1" name="Line 183">
              <a:extLst>
                <a:ext uri="{FF2B5EF4-FFF2-40B4-BE49-F238E27FC236}">
                  <a16:creationId xmlns:a16="http://schemas.microsoft.com/office/drawing/2014/main" id="{0A21994D-F9BB-F78B-297B-702E733A2B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Text Box 184">
              <a:extLst>
                <a:ext uri="{FF2B5EF4-FFF2-40B4-BE49-F238E27FC236}">
                  <a16:creationId xmlns:a16="http://schemas.microsoft.com/office/drawing/2014/main" id="{968D11E2-7EC7-25C4-6F1C-468B613676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" y="1774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163" name="Line 185">
              <a:extLst>
                <a:ext uri="{FF2B5EF4-FFF2-40B4-BE49-F238E27FC236}">
                  <a16:creationId xmlns:a16="http://schemas.microsoft.com/office/drawing/2014/main" id="{F97B8FC5-D897-4B5B-89C0-A0F7411579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1" y="1725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Text Box 186">
              <a:extLst>
                <a:ext uri="{FF2B5EF4-FFF2-40B4-BE49-F238E27FC236}">
                  <a16:creationId xmlns:a16="http://schemas.microsoft.com/office/drawing/2014/main" id="{07F655B2-3D6E-50BA-298E-33327ABBC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0" y="1768"/>
              <a:ext cx="3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165" name="Text Box 187">
              <a:extLst>
                <a:ext uri="{FF2B5EF4-FFF2-40B4-BE49-F238E27FC236}">
                  <a16:creationId xmlns:a16="http://schemas.microsoft.com/office/drawing/2014/main" id="{DA0C48BA-D103-EC86-C0D6-88FA5595E9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" y="1317"/>
              <a:ext cx="17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k</a:t>
              </a:r>
            </a:p>
          </p:txBody>
        </p:sp>
      </p:grpSp>
      <p:sp>
        <p:nvSpPr>
          <p:cNvPr id="182" name="Text Box 188">
            <a:extLst>
              <a:ext uri="{FF2B5EF4-FFF2-40B4-BE49-F238E27FC236}">
                <a16:creationId xmlns:a16="http://schemas.microsoft.com/office/drawing/2014/main" id="{831EDED4-847E-08CA-D06A-207C7D841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8213" y="5195888"/>
            <a:ext cx="6175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/>
              <a:t>x</a:t>
            </a:r>
            <a:r>
              <a:rPr lang="en-US" sz="1400" baseline="-25000"/>
              <a:t>max</a:t>
            </a:r>
          </a:p>
        </p:txBody>
      </p:sp>
      <p:grpSp>
        <p:nvGrpSpPr>
          <p:cNvPr id="183" name="Group 189">
            <a:extLst>
              <a:ext uri="{FF2B5EF4-FFF2-40B4-BE49-F238E27FC236}">
                <a16:creationId xmlns:a16="http://schemas.microsoft.com/office/drawing/2014/main" id="{C745D380-12E6-0BF1-3F1B-5656BC32FA5D}"/>
              </a:ext>
            </a:extLst>
          </p:cNvPr>
          <p:cNvGrpSpPr>
            <a:grpSpLocks/>
          </p:cNvGrpSpPr>
          <p:nvPr/>
        </p:nvGrpSpPr>
        <p:grpSpPr bwMode="auto">
          <a:xfrm>
            <a:off x="3579813" y="4364038"/>
            <a:ext cx="1612900" cy="1143000"/>
            <a:chOff x="1207" y="2751"/>
            <a:chExt cx="1016" cy="720"/>
          </a:xfrm>
        </p:grpSpPr>
        <p:sp>
          <p:nvSpPr>
            <p:cNvPr id="184" name="AutoShape 190">
              <a:extLst>
                <a:ext uri="{FF2B5EF4-FFF2-40B4-BE49-F238E27FC236}">
                  <a16:creationId xmlns:a16="http://schemas.microsoft.com/office/drawing/2014/main" id="{C55A56B5-1C06-E854-124F-346A478A8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016"/>
              <a:ext cx="167" cy="15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85" name="Text Box 191">
              <a:extLst>
                <a:ext uri="{FF2B5EF4-FFF2-40B4-BE49-F238E27FC236}">
                  <a16:creationId xmlns:a16="http://schemas.microsoft.com/office/drawing/2014/main" id="{44260CCC-1EFA-7F01-832A-DC83E1BB3A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9" y="2751"/>
              <a:ext cx="18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</a:p>
          </p:txBody>
        </p:sp>
        <p:sp>
          <p:nvSpPr>
            <p:cNvPr id="186" name="Line 192">
              <a:extLst>
                <a:ext uri="{FF2B5EF4-FFF2-40B4-BE49-F238E27FC236}">
                  <a16:creationId xmlns:a16="http://schemas.microsoft.com/office/drawing/2014/main" id="{8616DE59-7668-533E-541F-6741E939E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" y="2805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Line 193">
              <a:extLst>
                <a:ext uri="{FF2B5EF4-FFF2-40B4-BE49-F238E27FC236}">
                  <a16:creationId xmlns:a16="http://schemas.microsoft.com/office/drawing/2014/main" id="{D05556E3-3400-6C5E-6B96-7A21EAC71C6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715" y="2674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8" name="Group 194">
              <a:extLst>
                <a:ext uri="{FF2B5EF4-FFF2-40B4-BE49-F238E27FC236}">
                  <a16:creationId xmlns:a16="http://schemas.microsoft.com/office/drawing/2014/main" id="{868E389D-458F-CC07-4CE7-DD5409B256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7" y="3011"/>
              <a:ext cx="631" cy="68"/>
              <a:chOff x="1237" y="3011"/>
              <a:chExt cx="796" cy="95"/>
            </a:xfrm>
          </p:grpSpPr>
          <p:grpSp>
            <p:nvGrpSpPr>
              <p:cNvPr id="194" name="Group 195">
                <a:extLst>
                  <a:ext uri="{FF2B5EF4-FFF2-40B4-BE49-F238E27FC236}">
                    <a16:creationId xmlns:a16="http://schemas.microsoft.com/office/drawing/2014/main" id="{566ADEAC-5CF9-E4F1-B3B4-ACC01CFBB4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32" y="3011"/>
                <a:ext cx="101" cy="95"/>
                <a:chOff x="704" y="1880"/>
                <a:chExt cx="136" cy="128"/>
              </a:xfrm>
            </p:grpSpPr>
            <p:sp>
              <p:nvSpPr>
                <p:cNvPr id="216" name="Line 196">
                  <a:extLst>
                    <a:ext uri="{FF2B5EF4-FFF2-40B4-BE49-F238E27FC236}">
                      <a16:creationId xmlns:a16="http://schemas.microsoft.com/office/drawing/2014/main" id="{20E27228-6FB7-CC8F-9D65-D90AEE8338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Line 197">
                  <a:extLst>
                    <a:ext uri="{FF2B5EF4-FFF2-40B4-BE49-F238E27FC236}">
                      <a16:creationId xmlns:a16="http://schemas.microsoft.com/office/drawing/2014/main" id="{C36581D0-4A7B-7565-4137-C065EA3520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5" name="Group 198">
                <a:extLst>
                  <a:ext uri="{FF2B5EF4-FFF2-40B4-BE49-F238E27FC236}">
                    <a16:creationId xmlns:a16="http://schemas.microsoft.com/office/drawing/2014/main" id="{4926F844-C9FD-4999-490C-42C257B641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5" y="3011"/>
                <a:ext cx="101" cy="95"/>
                <a:chOff x="704" y="1880"/>
                <a:chExt cx="136" cy="128"/>
              </a:xfrm>
            </p:grpSpPr>
            <p:sp>
              <p:nvSpPr>
                <p:cNvPr id="214" name="Line 199">
                  <a:extLst>
                    <a:ext uri="{FF2B5EF4-FFF2-40B4-BE49-F238E27FC236}">
                      <a16:creationId xmlns:a16="http://schemas.microsoft.com/office/drawing/2014/main" id="{EEE14F1C-2C09-E20C-321D-6F617FEF0F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Line 200">
                  <a:extLst>
                    <a:ext uri="{FF2B5EF4-FFF2-40B4-BE49-F238E27FC236}">
                      <a16:creationId xmlns:a16="http://schemas.microsoft.com/office/drawing/2014/main" id="{D8F7C69A-09D6-C7FB-0624-313587786D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6" name="Group 201">
                <a:extLst>
                  <a:ext uri="{FF2B5EF4-FFF2-40B4-BE49-F238E27FC236}">
                    <a16:creationId xmlns:a16="http://schemas.microsoft.com/office/drawing/2014/main" id="{D8864A5C-512E-0854-BCFA-872D8734ED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0" y="3011"/>
                <a:ext cx="101" cy="95"/>
                <a:chOff x="704" y="1880"/>
                <a:chExt cx="136" cy="128"/>
              </a:xfrm>
            </p:grpSpPr>
            <p:sp>
              <p:nvSpPr>
                <p:cNvPr id="212" name="Line 202">
                  <a:extLst>
                    <a:ext uri="{FF2B5EF4-FFF2-40B4-BE49-F238E27FC236}">
                      <a16:creationId xmlns:a16="http://schemas.microsoft.com/office/drawing/2014/main" id="{84B82292-2A7E-0B35-3699-DC7C415267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Line 203">
                  <a:extLst>
                    <a:ext uri="{FF2B5EF4-FFF2-40B4-BE49-F238E27FC236}">
                      <a16:creationId xmlns:a16="http://schemas.microsoft.com/office/drawing/2014/main" id="{18129171-A2A3-9BE4-E5AB-B0882A7131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7" name="Group 204">
                <a:extLst>
                  <a:ext uri="{FF2B5EF4-FFF2-40B4-BE49-F238E27FC236}">
                    <a16:creationId xmlns:a16="http://schemas.microsoft.com/office/drawing/2014/main" id="{0A09DD60-3A56-010A-58AE-E98881FC52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29" y="3011"/>
                <a:ext cx="101" cy="95"/>
                <a:chOff x="704" y="1880"/>
                <a:chExt cx="136" cy="128"/>
              </a:xfrm>
            </p:grpSpPr>
            <p:sp>
              <p:nvSpPr>
                <p:cNvPr id="210" name="Line 205">
                  <a:extLst>
                    <a:ext uri="{FF2B5EF4-FFF2-40B4-BE49-F238E27FC236}">
                      <a16:creationId xmlns:a16="http://schemas.microsoft.com/office/drawing/2014/main" id="{C0F125EF-E626-1025-221A-A19B0597B0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Line 206">
                  <a:extLst>
                    <a:ext uri="{FF2B5EF4-FFF2-40B4-BE49-F238E27FC236}">
                      <a16:creationId xmlns:a16="http://schemas.microsoft.com/office/drawing/2014/main" id="{B30E9C2F-9FA3-1D23-CC8F-A7B8B23700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8" name="Group 207">
                <a:extLst>
                  <a:ext uri="{FF2B5EF4-FFF2-40B4-BE49-F238E27FC236}">
                    <a16:creationId xmlns:a16="http://schemas.microsoft.com/office/drawing/2014/main" id="{25A09E1E-3559-66AE-7000-D2D0D10461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4" y="3011"/>
                <a:ext cx="101" cy="95"/>
                <a:chOff x="704" y="1880"/>
                <a:chExt cx="136" cy="128"/>
              </a:xfrm>
            </p:grpSpPr>
            <p:sp>
              <p:nvSpPr>
                <p:cNvPr id="208" name="Line 208">
                  <a:extLst>
                    <a:ext uri="{FF2B5EF4-FFF2-40B4-BE49-F238E27FC236}">
                      <a16:creationId xmlns:a16="http://schemas.microsoft.com/office/drawing/2014/main" id="{7874A9CD-FF82-AEF9-A202-82AB684F28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Line 209">
                  <a:extLst>
                    <a:ext uri="{FF2B5EF4-FFF2-40B4-BE49-F238E27FC236}">
                      <a16:creationId xmlns:a16="http://schemas.microsoft.com/office/drawing/2014/main" id="{42B375F6-9122-8A2C-92BB-73010E8D6B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9" name="Group 210">
                <a:extLst>
                  <a:ext uri="{FF2B5EF4-FFF2-40B4-BE49-F238E27FC236}">
                    <a16:creationId xmlns:a16="http://schemas.microsoft.com/office/drawing/2014/main" id="{8C1B6EE6-5F25-D4AC-1CDD-AE0141150B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3" y="3011"/>
                <a:ext cx="101" cy="95"/>
                <a:chOff x="704" y="1880"/>
                <a:chExt cx="136" cy="128"/>
              </a:xfrm>
            </p:grpSpPr>
            <p:sp>
              <p:nvSpPr>
                <p:cNvPr id="206" name="Line 211">
                  <a:extLst>
                    <a:ext uri="{FF2B5EF4-FFF2-40B4-BE49-F238E27FC236}">
                      <a16:creationId xmlns:a16="http://schemas.microsoft.com/office/drawing/2014/main" id="{8D3CF5BD-6714-9333-105D-4EAE39FDCD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Line 212">
                  <a:extLst>
                    <a:ext uri="{FF2B5EF4-FFF2-40B4-BE49-F238E27FC236}">
                      <a16:creationId xmlns:a16="http://schemas.microsoft.com/office/drawing/2014/main" id="{84058587-1DC6-2672-1F97-4B89052F27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0" name="Group 213">
                <a:extLst>
                  <a:ext uri="{FF2B5EF4-FFF2-40B4-BE49-F238E27FC236}">
                    <a16:creationId xmlns:a16="http://schemas.microsoft.com/office/drawing/2014/main" id="{63E27522-7CA3-F9B4-9E58-3086810261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8" y="3011"/>
                <a:ext cx="101" cy="95"/>
                <a:chOff x="704" y="1880"/>
                <a:chExt cx="136" cy="128"/>
              </a:xfrm>
            </p:grpSpPr>
            <p:sp>
              <p:nvSpPr>
                <p:cNvPr id="204" name="Line 214">
                  <a:extLst>
                    <a:ext uri="{FF2B5EF4-FFF2-40B4-BE49-F238E27FC236}">
                      <a16:creationId xmlns:a16="http://schemas.microsoft.com/office/drawing/2014/main" id="{183ADECC-736C-7CCF-69B4-6A52C26072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Line 215">
                  <a:extLst>
                    <a:ext uri="{FF2B5EF4-FFF2-40B4-BE49-F238E27FC236}">
                      <a16:creationId xmlns:a16="http://schemas.microsoft.com/office/drawing/2014/main" id="{9A260BD7-D6A0-2B5D-9008-3FAE4E7283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1" name="Group 216">
                <a:extLst>
                  <a:ext uri="{FF2B5EF4-FFF2-40B4-BE49-F238E27FC236}">
                    <a16:creationId xmlns:a16="http://schemas.microsoft.com/office/drawing/2014/main" id="{0BFE723B-18AC-EC5C-F08F-28C82FA251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37" y="3011"/>
                <a:ext cx="101" cy="95"/>
                <a:chOff x="704" y="1880"/>
                <a:chExt cx="136" cy="128"/>
              </a:xfrm>
            </p:grpSpPr>
            <p:sp>
              <p:nvSpPr>
                <p:cNvPr id="202" name="Line 217">
                  <a:extLst>
                    <a:ext uri="{FF2B5EF4-FFF2-40B4-BE49-F238E27FC236}">
                      <a16:creationId xmlns:a16="http://schemas.microsoft.com/office/drawing/2014/main" id="{CB4142B2-E869-34FF-0718-9261389DD1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Line 218">
                  <a:extLst>
                    <a:ext uri="{FF2B5EF4-FFF2-40B4-BE49-F238E27FC236}">
                      <a16:creationId xmlns:a16="http://schemas.microsoft.com/office/drawing/2014/main" id="{A6133328-4AF8-4AA9-7FAE-1497822234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89" name="Line 219">
              <a:extLst>
                <a:ext uri="{FF2B5EF4-FFF2-40B4-BE49-F238E27FC236}">
                  <a16:creationId xmlns:a16="http://schemas.microsoft.com/office/drawing/2014/main" id="{5EF33B75-360E-F4BA-D08D-86F99BB124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9" y="3224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Text Box 220">
              <a:extLst>
                <a:ext uri="{FF2B5EF4-FFF2-40B4-BE49-F238E27FC236}">
                  <a16:creationId xmlns:a16="http://schemas.microsoft.com/office/drawing/2014/main" id="{FF8CD89B-0F37-0C80-B9D4-B269DE790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1" y="3279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191" name="Line 221">
              <a:extLst>
                <a:ext uri="{FF2B5EF4-FFF2-40B4-BE49-F238E27FC236}">
                  <a16:creationId xmlns:a16="http://schemas.microsoft.com/office/drawing/2014/main" id="{58341B09-A1CA-5337-1EE3-C159296B55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2" y="3230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Text Box 222">
              <a:extLst>
                <a:ext uri="{FF2B5EF4-FFF2-40B4-BE49-F238E27FC236}">
                  <a16:creationId xmlns:a16="http://schemas.microsoft.com/office/drawing/2014/main" id="{667E7F99-320D-0493-56F3-FD9E657D5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0" y="2822"/>
              <a:ext cx="17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k</a:t>
              </a:r>
            </a:p>
          </p:txBody>
        </p:sp>
        <p:sp>
          <p:nvSpPr>
            <p:cNvPr id="193" name="Line 223">
              <a:extLst>
                <a:ext uri="{FF2B5EF4-FFF2-40B4-BE49-F238E27FC236}">
                  <a16:creationId xmlns:a16="http://schemas.microsoft.com/office/drawing/2014/main" id="{EBB6B0C4-8516-3F1F-2D12-D4B4B84C6F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1" y="2938"/>
              <a:ext cx="1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8" name="Group 224">
            <a:extLst>
              <a:ext uri="{FF2B5EF4-FFF2-40B4-BE49-F238E27FC236}">
                <a16:creationId xmlns:a16="http://schemas.microsoft.com/office/drawing/2014/main" id="{EA69C34D-B691-11F2-F713-499403AD99AC}"/>
              </a:ext>
            </a:extLst>
          </p:cNvPr>
          <p:cNvGrpSpPr>
            <a:grpSpLocks/>
          </p:cNvGrpSpPr>
          <p:nvPr/>
        </p:nvGrpSpPr>
        <p:grpSpPr bwMode="auto">
          <a:xfrm>
            <a:off x="3579813" y="1738313"/>
            <a:ext cx="1612900" cy="1143000"/>
            <a:chOff x="1299" y="1073"/>
            <a:chExt cx="1016" cy="720"/>
          </a:xfrm>
        </p:grpSpPr>
        <p:sp>
          <p:nvSpPr>
            <p:cNvPr id="219" name="AutoShape 225">
              <a:extLst>
                <a:ext uri="{FF2B5EF4-FFF2-40B4-BE49-F238E27FC236}">
                  <a16:creationId xmlns:a16="http://schemas.microsoft.com/office/drawing/2014/main" id="{AC8763F4-EFAF-FC40-090C-A7E3EBA4B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1" y="1338"/>
              <a:ext cx="167" cy="15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20" name="Text Box 226">
              <a:extLst>
                <a:ext uri="{FF2B5EF4-FFF2-40B4-BE49-F238E27FC236}">
                  <a16:creationId xmlns:a16="http://schemas.microsoft.com/office/drawing/2014/main" id="{BBE53CFD-C62A-F963-0DFC-B3958189B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8" y="1073"/>
              <a:ext cx="18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</a:p>
          </p:txBody>
        </p:sp>
        <p:sp>
          <p:nvSpPr>
            <p:cNvPr id="221" name="Line 227">
              <a:extLst>
                <a:ext uri="{FF2B5EF4-FFF2-40B4-BE49-F238E27FC236}">
                  <a16:creationId xmlns:a16="http://schemas.microsoft.com/office/drawing/2014/main" id="{4D1F5158-13FD-FE4A-6D87-75D1AC8EC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27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Line 228">
              <a:extLst>
                <a:ext uri="{FF2B5EF4-FFF2-40B4-BE49-F238E27FC236}">
                  <a16:creationId xmlns:a16="http://schemas.microsoft.com/office/drawing/2014/main" id="{54F1A551-E7F5-85FB-1B9B-6E5F61A6ADF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807" y="996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3" name="Group 229">
              <a:extLst>
                <a:ext uri="{FF2B5EF4-FFF2-40B4-BE49-F238E27FC236}">
                  <a16:creationId xmlns:a16="http://schemas.microsoft.com/office/drawing/2014/main" id="{29D91EE4-A155-CBED-C908-EFDCEBD4AE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9" y="1333"/>
              <a:ext cx="383" cy="77"/>
              <a:chOff x="1237" y="3011"/>
              <a:chExt cx="796" cy="95"/>
            </a:xfrm>
          </p:grpSpPr>
          <p:grpSp>
            <p:nvGrpSpPr>
              <p:cNvPr id="228" name="Group 230">
                <a:extLst>
                  <a:ext uri="{FF2B5EF4-FFF2-40B4-BE49-F238E27FC236}">
                    <a16:creationId xmlns:a16="http://schemas.microsoft.com/office/drawing/2014/main" id="{EADE00D7-33A7-87D6-EB61-0D9185D8D4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32" y="3011"/>
                <a:ext cx="101" cy="95"/>
                <a:chOff x="704" y="1880"/>
                <a:chExt cx="136" cy="128"/>
              </a:xfrm>
            </p:grpSpPr>
            <p:sp>
              <p:nvSpPr>
                <p:cNvPr id="250" name="Line 231">
                  <a:extLst>
                    <a:ext uri="{FF2B5EF4-FFF2-40B4-BE49-F238E27FC236}">
                      <a16:creationId xmlns:a16="http://schemas.microsoft.com/office/drawing/2014/main" id="{1D020807-4565-FB4C-9F2A-F72F9F9DF2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Line 232">
                  <a:extLst>
                    <a:ext uri="{FF2B5EF4-FFF2-40B4-BE49-F238E27FC236}">
                      <a16:creationId xmlns:a16="http://schemas.microsoft.com/office/drawing/2014/main" id="{816DDCCA-B2CB-464E-A4F8-CB457C35E2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9" name="Group 233">
                <a:extLst>
                  <a:ext uri="{FF2B5EF4-FFF2-40B4-BE49-F238E27FC236}">
                    <a16:creationId xmlns:a16="http://schemas.microsoft.com/office/drawing/2014/main" id="{AC59D3B0-D264-DF34-2300-3B8BAD3E57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5" y="3011"/>
                <a:ext cx="101" cy="95"/>
                <a:chOff x="704" y="1880"/>
                <a:chExt cx="136" cy="128"/>
              </a:xfrm>
            </p:grpSpPr>
            <p:sp>
              <p:nvSpPr>
                <p:cNvPr id="248" name="Line 234">
                  <a:extLst>
                    <a:ext uri="{FF2B5EF4-FFF2-40B4-BE49-F238E27FC236}">
                      <a16:creationId xmlns:a16="http://schemas.microsoft.com/office/drawing/2014/main" id="{BC714815-3F58-E68D-8EF5-24EA81FAC6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Line 235">
                  <a:extLst>
                    <a:ext uri="{FF2B5EF4-FFF2-40B4-BE49-F238E27FC236}">
                      <a16:creationId xmlns:a16="http://schemas.microsoft.com/office/drawing/2014/main" id="{93403D00-1D55-29DF-CD16-7551CA8990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0" name="Group 236">
                <a:extLst>
                  <a:ext uri="{FF2B5EF4-FFF2-40B4-BE49-F238E27FC236}">
                    <a16:creationId xmlns:a16="http://schemas.microsoft.com/office/drawing/2014/main" id="{B4905C0A-FF56-DCF6-3F41-CF4E435BD1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0" y="3011"/>
                <a:ext cx="101" cy="95"/>
                <a:chOff x="704" y="1880"/>
                <a:chExt cx="136" cy="128"/>
              </a:xfrm>
            </p:grpSpPr>
            <p:sp>
              <p:nvSpPr>
                <p:cNvPr id="246" name="Line 237">
                  <a:extLst>
                    <a:ext uri="{FF2B5EF4-FFF2-40B4-BE49-F238E27FC236}">
                      <a16:creationId xmlns:a16="http://schemas.microsoft.com/office/drawing/2014/main" id="{5DB35755-97E2-BAEA-346F-C5EB2C3383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Line 238">
                  <a:extLst>
                    <a:ext uri="{FF2B5EF4-FFF2-40B4-BE49-F238E27FC236}">
                      <a16:creationId xmlns:a16="http://schemas.microsoft.com/office/drawing/2014/main" id="{6B08EAF5-68F8-7153-C672-420B46BF47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1" name="Group 239">
                <a:extLst>
                  <a:ext uri="{FF2B5EF4-FFF2-40B4-BE49-F238E27FC236}">
                    <a16:creationId xmlns:a16="http://schemas.microsoft.com/office/drawing/2014/main" id="{91361AB0-7BC8-2E07-4B8D-8C2A44D821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29" y="3011"/>
                <a:ext cx="101" cy="95"/>
                <a:chOff x="704" y="1880"/>
                <a:chExt cx="136" cy="128"/>
              </a:xfrm>
            </p:grpSpPr>
            <p:sp>
              <p:nvSpPr>
                <p:cNvPr id="244" name="Line 240">
                  <a:extLst>
                    <a:ext uri="{FF2B5EF4-FFF2-40B4-BE49-F238E27FC236}">
                      <a16:creationId xmlns:a16="http://schemas.microsoft.com/office/drawing/2014/main" id="{EB5EBC6D-D78E-4A3B-742F-A88C431DB7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Line 241">
                  <a:extLst>
                    <a:ext uri="{FF2B5EF4-FFF2-40B4-BE49-F238E27FC236}">
                      <a16:creationId xmlns:a16="http://schemas.microsoft.com/office/drawing/2014/main" id="{15795172-7D36-06B6-9F76-D7A7347A2D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2" name="Group 242">
                <a:extLst>
                  <a:ext uri="{FF2B5EF4-FFF2-40B4-BE49-F238E27FC236}">
                    <a16:creationId xmlns:a16="http://schemas.microsoft.com/office/drawing/2014/main" id="{F5802E64-9427-4DC5-3721-F1E3445F69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4" y="3011"/>
                <a:ext cx="101" cy="95"/>
                <a:chOff x="704" y="1880"/>
                <a:chExt cx="136" cy="128"/>
              </a:xfrm>
            </p:grpSpPr>
            <p:sp>
              <p:nvSpPr>
                <p:cNvPr id="242" name="Line 243">
                  <a:extLst>
                    <a:ext uri="{FF2B5EF4-FFF2-40B4-BE49-F238E27FC236}">
                      <a16:creationId xmlns:a16="http://schemas.microsoft.com/office/drawing/2014/main" id="{CA8C57AA-51BA-9BA3-6026-DFAC7F7F58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Line 244">
                  <a:extLst>
                    <a:ext uri="{FF2B5EF4-FFF2-40B4-BE49-F238E27FC236}">
                      <a16:creationId xmlns:a16="http://schemas.microsoft.com/office/drawing/2014/main" id="{F98BA5AE-F18C-D9F7-5330-46AA8118FE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3" name="Group 245">
                <a:extLst>
                  <a:ext uri="{FF2B5EF4-FFF2-40B4-BE49-F238E27FC236}">
                    <a16:creationId xmlns:a16="http://schemas.microsoft.com/office/drawing/2014/main" id="{C6115015-F4A2-25D9-6842-E4C4CD8687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3" y="3011"/>
                <a:ext cx="101" cy="95"/>
                <a:chOff x="704" y="1880"/>
                <a:chExt cx="136" cy="128"/>
              </a:xfrm>
            </p:grpSpPr>
            <p:sp>
              <p:nvSpPr>
                <p:cNvPr id="240" name="Line 246">
                  <a:extLst>
                    <a:ext uri="{FF2B5EF4-FFF2-40B4-BE49-F238E27FC236}">
                      <a16:creationId xmlns:a16="http://schemas.microsoft.com/office/drawing/2014/main" id="{FE3DFD8A-A348-E7FF-AB21-8F423257E8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Line 247">
                  <a:extLst>
                    <a:ext uri="{FF2B5EF4-FFF2-40B4-BE49-F238E27FC236}">
                      <a16:creationId xmlns:a16="http://schemas.microsoft.com/office/drawing/2014/main" id="{2AAB5A8A-44E4-0F42-ACDB-E82BEBF381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4" name="Group 248">
                <a:extLst>
                  <a:ext uri="{FF2B5EF4-FFF2-40B4-BE49-F238E27FC236}">
                    <a16:creationId xmlns:a16="http://schemas.microsoft.com/office/drawing/2014/main" id="{094EAB7A-D014-2BC8-83D8-999CC43C2B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8" y="3011"/>
                <a:ext cx="101" cy="95"/>
                <a:chOff x="704" y="1880"/>
                <a:chExt cx="136" cy="128"/>
              </a:xfrm>
            </p:grpSpPr>
            <p:sp>
              <p:nvSpPr>
                <p:cNvPr id="238" name="Line 249">
                  <a:extLst>
                    <a:ext uri="{FF2B5EF4-FFF2-40B4-BE49-F238E27FC236}">
                      <a16:creationId xmlns:a16="http://schemas.microsoft.com/office/drawing/2014/main" id="{00DEC0E0-E965-9394-AFD8-A03B259F5D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Line 250">
                  <a:extLst>
                    <a:ext uri="{FF2B5EF4-FFF2-40B4-BE49-F238E27FC236}">
                      <a16:creationId xmlns:a16="http://schemas.microsoft.com/office/drawing/2014/main" id="{8B524997-FA37-868B-6E40-43C3CE5CE3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5" name="Group 251">
                <a:extLst>
                  <a:ext uri="{FF2B5EF4-FFF2-40B4-BE49-F238E27FC236}">
                    <a16:creationId xmlns:a16="http://schemas.microsoft.com/office/drawing/2014/main" id="{CC2325F1-0F8E-F231-7D6D-2230B279B0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37" y="3011"/>
                <a:ext cx="101" cy="95"/>
                <a:chOff x="704" y="1880"/>
                <a:chExt cx="136" cy="128"/>
              </a:xfrm>
            </p:grpSpPr>
            <p:sp>
              <p:nvSpPr>
                <p:cNvPr id="236" name="Line 252">
                  <a:extLst>
                    <a:ext uri="{FF2B5EF4-FFF2-40B4-BE49-F238E27FC236}">
                      <a16:creationId xmlns:a16="http://schemas.microsoft.com/office/drawing/2014/main" id="{5A094B61-322D-9546-5757-26365E6D5E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Line 253">
                  <a:extLst>
                    <a:ext uri="{FF2B5EF4-FFF2-40B4-BE49-F238E27FC236}">
                      <a16:creationId xmlns:a16="http://schemas.microsoft.com/office/drawing/2014/main" id="{B379CB0E-A4B2-ED59-753A-29F8F4950E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24" name="Line 254">
              <a:extLst>
                <a:ext uri="{FF2B5EF4-FFF2-40B4-BE49-F238E27FC236}">
                  <a16:creationId xmlns:a16="http://schemas.microsoft.com/office/drawing/2014/main" id="{F179B1EB-1134-BDE3-6EFB-0A6CF66F53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1" y="1546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Text Box 255">
              <a:extLst>
                <a:ext uri="{FF2B5EF4-FFF2-40B4-BE49-F238E27FC236}">
                  <a16:creationId xmlns:a16="http://schemas.microsoft.com/office/drawing/2014/main" id="{1C997ABE-D1B9-E4D7-99F8-4F4E1279C7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3" y="1601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226" name="Line 256">
              <a:extLst>
                <a:ext uri="{FF2B5EF4-FFF2-40B4-BE49-F238E27FC236}">
                  <a16:creationId xmlns:a16="http://schemas.microsoft.com/office/drawing/2014/main" id="{22BF7819-B9F8-9C15-5A8E-984C5657BB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4" y="1552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Line 257">
              <a:extLst>
                <a:ext uri="{FF2B5EF4-FFF2-40B4-BE49-F238E27FC236}">
                  <a16:creationId xmlns:a16="http://schemas.microsoft.com/office/drawing/2014/main" id="{6D0C5CC7-B653-614A-5C22-D300A38DA4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0" y="1260"/>
              <a:ext cx="1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2" name="Group 258">
            <a:extLst>
              <a:ext uri="{FF2B5EF4-FFF2-40B4-BE49-F238E27FC236}">
                <a16:creationId xmlns:a16="http://schemas.microsoft.com/office/drawing/2014/main" id="{F6A0B047-26A4-BC07-8736-9F5DF98E2E12}"/>
              </a:ext>
            </a:extLst>
          </p:cNvPr>
          <p:cNvGrpSpPr>
            <a:grpSpLocks/>
          </p:cNvGrpSpPr>
          <p:nvPr/>
        </p:nvGrpSpPr>
        <p:grpSpPr bwMode="auto">
          <a:xfrm>
            <a:off x="7554913" y="4364038"/>
            <a:ext cx="1612900" cy="1143000"/>
            <a:chOff x="3680" y="2747"/>
            <a:chExt cx="1016" cy="720"/>
          </a:xfrm>
        </p:grpSpPr>
        <p:sp>
          <p:nvSpPr>
            <p:cNvPr id="253" name="AutoShape 259">
              <a:extLst>
                <a:ext uri="{FF2B5EF4-FFF2-40B4-BE49-F238E27FC236}">
                  <a16:creationId xmlns:a16="http://schemas.microsoft.com/office/drawing/2014/main" id="{BD2BB012-7C3B-5988-52B0-C76F7C3BA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012"/>
              <a:ext cx="167" cy="15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54" name="Text Box 260">
              <a:extLst>
                <a:ext uri="{FF2B5EF4-FFF2-40B4-BE49-F238E27FC236}">
                  <a16:creationId xmlns:a16="http://schemas.microsoft.com/office/drawing/2014/main" id="{B9F739E7-A8E7-A52C-CE97-81D51A9334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2" y="2747"/>
              <a:ext cx="18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</a:p>
          </p:txBody>
        </p:sp>
        <p:sp>
          <p:nvSpPr>
            <p:cNvPr id="255" name="Line 261">
              <a:extLst>
                <a:ext uri="{FF2B5EF4-FFF2-40B4-BE49-F238E27FC236}">
                  <a16:creationId xmlns:a16="http://schemas.microsoft.com/office/drawing/2014/main" id="{85C56CB2-995A-D59E-9EC6-EAB0C34F2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2" y="2801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6" name="Line 262">
              <a:extLst>
                <a:ext uri="{FF2B5EF4-FFF2-40B4-BE49-F238E27FC236}">
                  <a16:creationId xmlns:a16="http://schemas.microsoft.com/office/drawing/2014/main" id="{96FEE9E1-6C2C-B71F-CBE8-9C1BA23AE30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188" y="2670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7" name="Group 263">
              <a:extLst>
                <a:ext uri="{FF2B5EF4-FFF2-40B4-BE49-F238E27FC236}">
                  <a16:creationId xmlns:a16="http://schemas.microsoft.com/office/drawing/2014/main" id="{FB79DB63-0617-3FB7-F87C-87CD44B3A3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0" y="3007"/>
              <a:ext cx="631" cy="68"/>
              <a:chOff x="1237" y="3011"/>
              <a:chExt cx="796" cy="95"/>
            </a:xfrm>
          </p:grpSpPr>
          <p:grpSp>
            <p:nvGrpSpPr>
              <p:cNvPr id="263" name="Group 264">
                <a:extLst>
                  <a:ext uri="{FF2B5EF4-FFF2-40B4-BE49-F238E27FC236}">
                    <a16:creationId xmlns:a16="http://schemas.microsoft.com/office/drawing/2014/main" id="{5C557562-B2A6-B996-4C67-FB1D78C523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32" y="3011"/>
                <a:ext cx="101" cy="95"/>
                <a:chOff x="704" y="1880"/>
                <a:chExt cx="136" cy="128"/>
              </a:xfrm>
            </p:grpSpPr>
            <p:sp>
              <p:nvSpPr>
                <p:cNvPr id="285" name="Line 265">
                  <a:extLst>
                    <a:ext uri="{FF2B5EF4-FFF2-40B4-BE49-F238E27FC236}">
                      <a16:creationId xmlns:a16="http://schemas.microsoft.com/office/drawing/2014/main" id="{DEB0CF0C-ED7E-4C3F-9BE0-9095E1C8FB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Line 266">
                  <a:extLst>
                    <a:ext uri="{FF2B5EF4-FFF2-40B4-BE49-F238E27FC236}">
                      <a16:creationId xmlns:a16="http://schemas.microsoft.com/office/drawing/2014/main" id="{DB944816-AB97-8B2D-4F3B-2B40231FAB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4" name="Group 267">
                <a:extLst>
                  <a:ext uri="{FF2B5EF4-FFF2-40B4-BE49-F238E27FC236}">
                    <a16:creationId xmlns:a16="http://schemas.microsoft.com/office/drawing/2014/main" id="{BAC82605-4575-11D6-F567-1E92E8A281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5" y="3011"/>
                <a:ext cx="101" cy="95"/>
                <a:chOff x="704" y="1880"/>
                <a:chExt cx="136" cy="128"/>
              </a:xfrm>
            </p:grpSpPr>
            <p:sp>
              <p:nvSpPr>
                <p:cNvPr id="283" name="Line 268">
                  <a:extLst>
                    <a:ext uri="{FF2B5EF4-FFF2-40B4-BE49-F238E27FC236}">
                      <a16:creationId xmlns:a16="http://schemas.microsoft.com/office/drawing/2014/main" id="{8FC7EB13-09E4-4CA7-A26F-1EAD875762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Line 269">
                  <a:extLst>
                    <a:ext uri="{FF2B5EF4-FFF2-40B4-BE49-F238E27FC236}">
                      <a16:creationId xmlns:a16="http://schemas.microsoft.com/office/drawing/2014/main" id="{57DED219-2DBF-82AD-DFAE-E17E15AA84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5" name="Group 270">
                <a:extLst>
                  <a:ext uri="{FF2B5EF4-FFF2-40B4-BE49-F238E27FC236}">
                    <a16:creationId xmlns:a16="http://schemas.microsoft.com/office/drawing/2014/main" id="{9E5B1D5A-5C3B-B313-8909-630AAC6526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0" y="3011"/>
                <a:ext cx="101" cy="95"/>
                <a:chOff x="704" y="1880"/>
                <a:chExt cx="136" cy="128"/>
              </a:xfrm>
            </p:grpSpPr>
            <p:sp>
              <p:nvSpPr>
                <p:cNvPr id="281" name="Line 271">
                  <a:extLst>
                    <a:ext uri="{FF2B5EF4-FFF2-40B4-BE49-F238E27FC236}">
                      <a16:creationId xmlns:a16="http://schemas.microsoft.com/office/drawing/2014/main" id="{CC6305F4-3F26-8E68-1B31-5ACDB68F03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Line 272">
                  <a:extLst>
                    <a:ext uri="{FF2B5EF4-FFF2-40B4-BE49-F238E27FC236}">
                      <a16:creationId xmlns:a16="http://schemas.microsoft.com/office/drawing/2014/main" id="{A172384E-DCC1-C86A-DED3-07E4AB8F5A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6" name="Group 273">
                <a:extLst>
                  <a:ext uri="{FF2B5EF4-FFF2-40B4-BE49-F238E27FC236}">
                    <a16:creationId xmlns:a16="http://schemas.microsoft.com/office/drawing/2014/main" id="{CE8F2943-0A2F-86AF-C78B-8EB609BCC1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29" y="3011"/>
                <a:ext cx="101" cy="95"/>
                <a:chOff x="704" y="1880"/>
                <a:chExt cx="136" cy="128"/>
              </a:xfrm>
            </p:grpSpPr>
            <p:sp>
              <p:nvSpPr>
                <p:cNvPr id="279" name="Line 274">
                  <a:extLst>
                    <a:ext uri="{FF2B5EF4-FFF2-40B4-BE49-F238E27FC236}">
                      <a16:creationId xmlns:a16="http://schemas.microsoft.com/office/drawing/2014/main" id="{BA67EEA2-FB2B-1C9D-AAD2-BFE0C9DEC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Line 275">
                  <a:extLst>
                    <a:ext uri="{FF2B5EF4-FFF2-40B4-BE49-F238E27FC236}">
                      <a16:creationId xmlns:a16="http://schemas.microsoft.com/office/drawing/2014/main" id="{C0F366F1-C16F-34AA-02B7-BA38E11A93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7" name="Group 276">
                <a:extLst>
                  <a:ext uri="{FF2B5EF4-FFF2-40B4-BE49-F238E27FC236}">
                    <a16:creationId xmlns:a16="http://schemas.microsoft.com/office/drawing/2014/main" id="{85B89155-DAEF-4BC8-9D4F-FA35D43AD5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4" y="3011"/>
                <a:ext cx="101" cy="95"/>
                <a:chOff x="704" y="1880"/>
                <a:chExt cx="136" cy="128"/>
              </a:xfrm>
            </p:grpSpPr>
            <p:sp>
              <p:nvSpPr>
                <p:cNvPr id="277" name="Line 277">
                  <a:extLst>
                    <a:ext uri="{FF2B5EF4-FFF2-40B4-BE49-F238E27FC236}">
                      <a16:creationId xmlns:a16="http://schemas.microsoft.com/office/drawing/2014/main" id="{1F9611E9-2E80-9A97-3C06-C4ABFA5BF5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Line 278">
                  <a:extLst>
                    <a:ext uri="{FF2B5EF4-FFF2-40B4-BE49-F238E27FC236}">
                      <a16:creationId xmlns:a16="http://schemas.microsoft.com/office/drawing/2014/main" id="{48E703F7-34B2-3B06-6164-10AACB7F50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8" name="Group 279">
                <a:extLst>
                  <a:ext uri="{FF2B5EF4-FFF2-40B4-BE49-F238E27FC236}">
                    <a16:creationId xmlns:a16="http://schemas.microsoft.com/office/drawing/2014/main" id="{475EE71C-2780-5204-E3F4-58CD5EA6A1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3" y="3011"/>
                <a:ext cx="101" cy="95"/>
                <a:chOff x="704" y="1880"/>
                <a:chExt cx="136" cy="128"/>
              </a:xfrm>
            </p:grpSpPr>
            <p:sp>
              <p:nvSpPr>
                <p:cNvPr id="275" name="Line 280">
                  <a:extLst>
                    <a:ext uri="{FF2B5EF4-FFF2-40B4-BE49-F238E27FC236}">
                      <a16:creationId xmlns:a16="http://schemas.microsoft.com/office/drawing/2014/main" id="{0D5150E8-17E2-01BD-B297-209D387AC9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Line 281">
                  <a:extLst>
                    <a:ext uri="{FF2B5EF4-FFF2-40B4-BE49-F238E27FC236}">
                      <a16:creationId xmlns:a16="http://schemas.microsoft.com/office/drawing/2014/main" id="{7BFD21E3-59CC-78E1-D780-37A8AAA8FE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9" name="Group 282">
                <a:extLst>
                  <a:ext uri="{FF2B5EF4-FFF2-40B4-BE49-F238E27FC236}">
                    <a16:creationId xmlns:a16="http://schemas.microsoft.com/office/drawing/2014/main" id="{982AF8FC-97E7-A62E-D61E-F1D8644C1B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8" y="3011"/>
                <a:ext cx="101" cy="95"/>
                <a:chOff x="704" y="1880"/>
                <a:chExt cx="136" cy="128"/>
              </a:xfrm>
            </p:grpSpPr>
            <p:sp>
              <p:nvSpPr>
                <p:cNvPr id="273" name="Line 283">
                  <a:extLst>
                    <a:ext uri="{FF2B5EF4-FFF2-40B4-BE49-F238E27FC236}">
                      <a16:creationId xmlns:a16="http://schemas.microsoft.com/office/drawing/2014/main" id="{2F056099-C4BB-5B25-52B8-FC21D30A0B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Line 284">
                  <a:extLst>
                    <a:ext uri="{FF2B5EF4-FFF2-40B4-BE49-F238E27FC236}">
                      <a16:creationId xmlns:a16="http://schemas.microsoft.com/office/drawing/2014/main" id="{DA1144AC-9236-C961-3316-D6BC8B8E04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70" name="Group 285">
                <a:extLst>
                  <a:ext uri="{FF2B5EF4-FFF2-40B4-BE49-F238E27FC236}">
                    <a16:creationId xmlns:a16="http://schemas.microsoft.com/office/drawing/2014/main" id="{183AA387-153B-A156-65BF-4B6CF7B2CC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37" y="3011"/>
                <a:ext cx="101" cy="95"/>
                <a:chOff x="704" y="1880"/>
                <a:chExt cx="136" cy="128"/>
              </a:xfrm>
            </p:grpSpPr>
            <p:sp>
              <p:nvSpPr>
                <p:cNvPr id="271" name="Line 286">
                  <a:extLst>
                    <a:ext uri="{FF2B5EF4-FFF2-40B4-BE49-F238E27FC236}">
                      <a16:creationId xmlns:a16="http://schemas.microsoft.com/office/drawing/2014/main" id="{0898E706-3AB6-C290-A2D4-AAA6090CE8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Line 287">
                  <a:extLst>
                    <a:ext uri="{FF2B5EF4-FFF2-40B4-BE49-F238E27FC236}">
                      <a16:creationId xmlns:a16="http://schemas.microsoft.com/office/drawing/2014/main" id="{31463039-60E8-B5AF-85A8-F2E7F097BD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58" name="Line 288">
              <a:extLst>
                <a:ext uri="{FF2B5EF4-FFF2-40B4-BE49-F238E27FC236}">
                  <a16:creationId xmlns:a16="http://schemas.microsoft.com/office/drawing/2014/main" id="{4AAB1B7E-F7A1-0A6F-4912-9583E74A97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" y="3220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Text Box 289">
              <a:extLst>
                <a:ext uri="{FF2B5EF4-FFF2-40B4-BE49-F238E27FC236}">
                  <a16:creationId xmlns:a16="http://schemas.microsoft.com/office/drawing/2014/main" id="{EC145A76-2C5B-99DC-A9A9-8E141262F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4" y="3275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260" name="Line 290">
              <a:extLst>
                <a:ext uri="{FF2B5EF4-FFF2-40B4-BE49-F238E27FC236}">
                  <a16:creationId xmlns:a16="http://schemas.microsoft.com/office/drawing/2014/main" id="{C39F6F7B-587B-2DDE-FDBC-EA799DE99B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5" y="3226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Text Box 291">
              <a:extLst>
                <a:ext uri="{FF2B5EF4-FFF2-40B4-BE49-F238E27FC236}">
                  <a16:creationId xmlns:a16="http://schemas.microsoft.com/office/drawing/2014/main" id="{C667F622-A82F-5F0D-4320-F9B88E1643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3" y="2818"/>
              <a:ext cx="17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k</a:t>
              </a:r>
            </a:p>
          </p:txBody>
        </p:sp>
        <p:sp>
          <p:nvSpPr>
            <p:cNvPr id="262" name="Line 292">
              <a:extLst>
                <a:ext uri="{FF2B5EF4-FFF2-40B4-BE49-F238E27FC236}">
                  <a16:creationId xmlns:a16="http://schemas.microsoft.com/office/drawing/2014/main" id="{7CAA61FA-6CDD-229A-DE02-8839DC0BC3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4" y="2934"/>
              <a:ext cx="1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7" name="Group 293">
            <a:extLst>
              <a:ext uri="{FF2B5EF4-FFF2-40B4-BE49-F238E27FC236}">
                <a16:creationId xmlns:a16="http://schemas.microsoft.com/office/drawing/2014/main" id="{56A143FF-ADA8-F7B8-270B-D00BD0A5B2A9}"/>
              </a:ext>
            </a:extLst>
          </p:cNvPr>
          <p:cNvGrpSpPr>
            <a:grpSpLocks/>
          </p:cNvGrpSpPr>
          <p:nvPr/>
        </p:nvGrpSpPr>
        <p:grpSpPr bwMode="auto">
          <a:xfrm>
            <a:off x="7556500" y="1738313"/>
            <a:ext cx="1612900" cy="1143000"/>
            <a:chOff x="3855" y="913"/>
            <a:chExt cx="1016" cy="720"/>
          </a:xfrm>
        </p:grpSpPr>
        <p:sp>
          <p:nvSpPr>
            <p:cNvPr id="288" name="AutoShape 294">
              <a:extLst>
                <a:ext uri="{FF2B5EF4-FFF2-40B4-BE49-F238E27FC236}">
                  <a16:creationId xmlns:a16="http://schemas.microsoft.com/office/drawing/2014/main" id="{A9540F25-551C-9649-E5AD-982D0A37F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7" y="1178"/>
              <a:ext cx="167" cy="15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89" name="Text Box 295">
              <a:extLst>
                <a:ext uri="{FF2B5EF4-FFF2-40B4-BE49-F238E27FC236}">
                  <a16:creationId xmlns:a16="http://schemas.microsoft.com/office/drawing/2014/main" id="{B27EF7FF-031A-76B9-A4BF-D723B19A2C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4" y="913"/>
              <a:ext cx="18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</a:p>
          </p:txBody>
        </p:sp>
        <p:sp>
          <p:nvSpPr>
            <p:cNvPr id="290" name="Line 296">
              <a:extLst>
                <a:ext uri="{FF2B5EF4-FFF2-40B4-BE49-F238E27FC236}">
                  <a16:creationId xmlns:a16="http://schemas.microsoft.com/office/drawing/2014/main" id="{0266DF85-F6B0-D79D-AA4B-DE7BC0C20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7" y="967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1" name="Line 297">
              <a:extLst>
                <a:ext uri="{FF2B5EF4-FFF2-40B4-BE49-F238E27FC236}">
                  <a16:creationId xmlns:a16="http://schemas.microsoft.com/office/drawing/2014/main" id="{B862AEE5-F480-1FF0-BAE8-8CC15E11F53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363" y="836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2" name="Group 298">
              <a:extLst>
                <a:ext uri="{FF2B5EF4-FFF2-40B4-BE49-F238E27FC236}">
                  <a16:creationId xmlns:a16="http://schemas.microsoft.com/office/drawing/2014/main" id="{A39653CD-C1E9-15C6-7434-F13EAC6B3F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5" y="1173"/>
              <a:ext cx="383" cy="77"/>
              <a:chOff x="1237" y="3011"/>
              <a:chExt cx="796" cy="95"/>
            </a:xfrm>
          </p:grpSpPr>
          <p:grpSp>
            <p:nvGrpSpPr>
              <p:cNvPr id="297" name="Group 299">
                <a:extLst>
                  <a:ext uri="{FF2B5EF4-FFF2-40B4-BE49-F238E27FC236}">
                    <a16:creationId xmlns:a16="http://schemas.microsoft.com/office/drawing/2014/main" id="{43BED55C-6595-2C41-EB46-D7288C2BCB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32" y="3011"/>
                <a:ext cx="101" cy="95"/>
                <a:chOff x="704" y="1880"/>
                <a:chExt cx="136" cy="128"/>
              </a:xfrm>
            </p:grpSpPr>
            <p:sp>
              <p:nvSpPr>
                <p:cNvPr id="319" name="Line 300">
                  <a:extLst>
                    <a:ext uri="{FF2B5EF4-FFF2-40B4-BE49-F238E27FC236}">
                      <a16:creationId xmlns:a16="http://schemas.microsoft.com/office/drawing/2014/main" id="{6EE35687-25D8-E1C1-77EB-A12B4DBEB1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" name="Line 301">
                  <a:extLst>
                    <a:ext uri="{FF2B5EF4-FFF2-40B4-BE49-F238E27FC236}">
                      <a16:creationId xmlns:a16="http://schemas.microsoft.com/office/drawing/2014/main" id="{C855A7D7-EBA3-028B-051A-58A7D4D948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8" name="Group 302">
                <a:extLst>
                  <a:ext uri="{FF2B5EF4-FFF2-40B4-BE49-F238E27FC236}">
                    <a16:creationId xmlns:a16="http://schemas.microsoft.com/office/drawing/2014/main" id="{B40BBDA3-66DE-64B8-8DF6-67D10F740F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5" y="3011"/>
                <a:ext cx="101" cy="95"/>
                <a:chOff x="704" y="1880"/>
                <a:chExt cx="136" cy="128"/>
              </a:xfrm>
            </p:grpSpPr>
            <p:sp>
              <p:nvSpPr>
                <p:cNvPr id="317" name="Line 303">
                  <a:extLst>
                    <a:ext uri="{FF2B5EF4-FFF2-40B4-BE49-F238E27FC236}">
                      <a16:creationId xmlns:a16="http://schemas.microsoft.com/office/drawing/2014/main" id="{56DAFB6C-A281-1C30-C08E-121E56EA4A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" name="Line 304">
                  <a:extLst>
                    <a:ext uri="{FF2B5EF4-FFF2-40B4-BE49-F238E27FC236}">
                      <a16:creationId xmlns:a16="http://schemas.microsoft.com/office/drawing/2014/main" id="{F16428AE-A5CB-68A4-9B4B-6F631D8586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9" name="Group 305">
                <a:extLst>
                  <a:ext uri="{FF2B5EF4-FFF2-40B4-BE49-F238E27FC236}">
                    <a16:creationId xmlns:a16="http://schemas.microsoft.com/office/drawing/2014/main" id="{E3008899-2F55-C64B-9810-430209B27D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0" y="3011"/>
                <a:ext cx="101" cy="95"/>
                <a:chOff x="704" y="1880"/>
                <a:chExt cx="136" cy="128"/>
              </a:xfrm>
            </p:grpSpPr>
            <p:sp>
              <p:nvSpPr>
                <p:cNvPr id="315" name="Line 306">
                  <a:extLst>
                    <a:ext uri="{FF2B5EF4-FFF2-40B4-BE49-F238E27FC236}">
                      <a16:creationId xmlns:a16="http://schemas.microsoft.com/office/drawing/2014/main" id="{26AEF122-C934-0350-CD2D-3953C115C7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6" name="Line 307">
                  <a:extLst>
                    <a:ext uri="{FF2B5EF4-FFF2-40B4-BE49-F238E27FC236}">
                      <a16:creationId xmlns:a16="http://schemas.microsoft.com/office/drawing/2014/main" id="{4908491A-1A51-4239-73E4-2507E55516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00" name="Group 308">
                <a:extLst>
                  <a:ext uri="{FF2B5EF4-FFF2-40B4-BE49-F238E27FC236}">
                    <a16:creationId xmlns:a16="http://schemas.microsoft.com/office/drawing/2014/main" id="{54E0151D-9787-9682-C5D3-A22F4993B6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29" y="3011"/>
                <a:ext cx="101" cy="95"/>
                <a:chOff x="704" y="1880"/>
                <a:chExt cx="136" cy="128"/>
              </a:xfrm>
            </p:grpSpPr>
            <p:sp>
              <p:nvSpPr>
                <p:cNvPr id="313" name="Line 309">
                  <a:extLst>
                    <a:ext uri="{FF2B5EF4-FFF2-40B4-BE49-F238E27FC236}">
                      <a16:creationId xmlns:a16="http://schemas.microsoft.com/office/drawing/2014/main" id="{E7B2C5CC-5DFE-4E16-053C-9D00D8F0FB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4" name="Line 310">
                  <a:extLst>
                    <a:ext uri="{FF2B5EF4-FFF2-40B4-BE49-F238E27FC236}">
                      <a16:creationId xmlns:a16="http://schemas.microsoft.com/office/drawing/2014/main" id="{E83210AB-40B7-E2E6-B4ED-D1799D2AB1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01" name="Group 311">
                <a:extLst>
                  <a:ext uri="{FF2B5EF4-FFF2-40B4-BE49-F238E27FC236}">
                    <a16:creationId xmlns:a16="http://schemas.microsoft.com/office/drawing/2014/main" id="{1D57EEC2-49C5-05EC-B91F-7C87FA712E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4" y="3011"/>
                <a:ext cx="101" cy="95"/>
                <a:chOff x="704" y="1880"/>
                <a:chExt cx="136" cy="128"/>
              </a:xfrm>
            </p:grpSpPr>
            <p:sp>
              <p:nvSpPr>
                <p:cNvPr id="311" name="Line 312">
                  <a:extLst>
                    <a:ext uri="{FF2B5EF4-FFF2-40B4-BE49-F238E27FC236}">
                      <a16:creationId xmlns:a16="http://schemas.microsoft.com/office/drawing/2014/main" id="{B8CB2131-9BAD-2B30-1032-941FA678D6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Line 313">
                  <a:extLst>
                    <a:ext uri="{FF2B5EF4-FFF2-40B4-BE49-F238E27FC236}">
                      <a16:creationId xmlns:a16="http://schemas.microsoft.com/office/drawing/2014/main" id="{BC3785DE-D7A6-6DC7-4331-A2EA8D8699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02" name="Group 314">
                <a:extLst>
                  <a:ext uri="{FF2B5EF4-FFF2-40B4-BE49-F238E27FC236}">
                    <a16:creationId xmlns:a16="http://schemas.microsoft.com/office/drawing/2014/main" id="{A4D1B3C2-1F90-8E61-B9D6-06F7094BC2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3" y="3011"/>
                <a:ext cx="101" cy="95"/>
                <a:chOff x="704" y="1880"/>
                <a:chExt cx="136" cy="128"/>
              </a:xfrm>
            </p:grpSpPr>
            <p:sp>
              <p:nvSpPr>
                <p:cNvPr id="309" name="Line 315">
                  <a:extLst>
                    <a:ext uri="{FF2B5EF4-FFF2-40B4-BE49-F238E27FC236}">
                      <a16:creationId xmlns:a16="http://schemas.microsoft.com/office/drawing/2014/main" id="{FFD68F6F-F0C2-493E-0E6F-35EF9084D7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Line 316">
                  <a:extLst>
                    <a:ext uri="{FF2B5EF4-FFF2-40B4-BE49-F238E27FC236}">
                      <a16:creationId xmlns:a16="http://schemas.microsoft.com/office/drawing/2014/main" id="{D2C6E6A7-8F55-8049-1AA5-925FF7C7C8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03" name="Group 317">
                <a:extLst>
                  <a:ext uri="{FF2B5EF4-FFF2-40B4-BE49-F238E27FC236}">
                    <a16:creationId xmlns:a16="http://schemas.microsoft.com/office/drawing/2014/main" id="{D66D0E94-E6D1-60EA-2168-B86B1761A8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8" y="3011"/>
                <a:ext cx="101" cy="95"/>
                <a:chOff x="704" y="1880"/>
                <a:chExt cx="136" cy="128"/>
              </a:xfrm>
            </p:grpSpPr>
            <p:sp>
              <p:nvSpPr>
                <p:cNvPr id="307" name="Line 318">
                  <a:extLst>
                    <a:ext uri="{FF2B5EF4-FFF2-40B4-BE49-F238E27FC236}">
                      <a16:creationId xmlns:a16="http://schemas.microsoft.com/office/drawing/2014/main" id="{FA83F2CB-7AA3-D054-DE9E-AD24A5E676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Line 319">
                  <a:extLst>
                    <a:ext uri="{FF2B5EF4-FFF2-40B4-BE49-F238E27FC236}">
                      <a16:creationId xmlns:a16="http://schemas.microsoft.com/office/drawing/2014/main" id="{F9446033-4193-CA15-3DD6-91F7C7957A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04" name="Group 320">
                <a:extLst>
                  <a:ext uri="{FF2B5EF4-FFF2-40B4-BE49-F238E27FC236}">
                    <a16:creationId xmlns:a16="http://schemas.microsoft.com/office/drawing/2014/main" id="{699FC76B-C70D-E7D2-A5CB-B91BC59307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37" y="3011"/>
                <a:ext cx="101" cy="95"/>
                <a:chOff x="704" y="1880"/>
                <a:chExt cx="136" cy="128"/>
              </a:xfrm>
            </p:grpSpPr>
            <p:sp>
              <p:nvSpPr>
                <p:cNvPr id="305" name="Line 321">
                  <a:extLst>
                    <a:ext uri="{FF2B5EF4-FFF2-40B4-BE49-F238E27FC236}">
                      <a16:creationId xmlns:a16="http://schemas.microsoft.com/office/drawing/2014/main" id="{02E39ECB-DA63-E8EA-B8CE-0439090173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Line 322">
                  <a:extLst>
                    <a:ext uri="{FF2B5EF4-FFF2-40B4-BE49-F238E27FC236}">
                      <a16:creationId xmlns:a16="http://schemas.microsoft.com/office/drawing/2014/main" id="{8309A641-0A2D-3725-7ECB-39F334502E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93" name="Line 323">
              <a:extLst>
                <a:ext uri="{FF2B5EF4-FFF2-40B4-BE49-F238E27FC236}">
                  <a16:creationId xmlns:a16="http://schemas.microsoft.com/office/drawing/2014/main" id="{8A3EBDC1-05A9-50B7-9D8D-45E96F3FF7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7" y="1386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Text Box 324">
              <a:extLst>
                <a:ext uri="{FF2B5EF4-FFF2-40B4-BE49-F238E27FC236}">
                  <a16:creationId xmlns:a16="http://schemas.microsoft.com/office/drawing/2014/main" id="{2675CCF8-7FD8-235F-4D2B-020637986F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" y="1441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295" name="Line 325">
              <a:extLst>
                <a:ext uri="{FF2B5EF4-FFF2-40B4-BE49-F238E27FC236}">
                  <a16:creationId xmlns:a16="http://schemas.microsoft.com/office/drawing/2014/main" id="{DF3CD6F0-07DD-6FEE-D0E0-D29A892A3F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0" y="1392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6" name="Line 326">
              <a:extLst>
                <a:ext uri="{FF2B5EF4-FFF2-40B4-BE49-F238E27FC236}">
                  <a16:creationId xmlns:a16="http://schemas.microsoft.com/office/drawing/2014/main" id="{A21C0F65-2300-C96A-61EB-9B4601A70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6" y="1100"/>
              <a:ext cx="1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2218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09"/>
          <p:cNvSpPr txBox="1">
            <a:spLocks noChangeArrowheads="1"/>
          </p:cNvSpPr>
          <p:nvPr/>
        </p:nvSpPr>
        <p:spPr bwMode="auto">
          <a:xfrm>
            <a:off x="5475970" y="4112762"/>
            <a:ext cx="7761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x = 0</a:t>
            </a:r>
          </a:p>
        </p:txBody>
      </p:sp>
      <p:sp>
        <p:nvSpPr>
          <p:cNvPr id="7" name="Text Box 211"/>
          <p:cNvSpPr txBox="1">
            <a:spLocks noChangeArrowheads="1"/>
          </p:cNvSpPr>
          <p:nvPr/>
        </p:nvSpPr>
        <p:spPr bwMode="auto">
          <a:xfrm>
            <a:off x="6695622" y="4114122"/>
            <a:ext cx="11203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 err="1"/>
              <a:t>x</a:t>
            </a:r>
            <a:r>
              <a:rPr lang="en-US" sz="2800" baseline="-25000" dirty="0" err="1"/>
              <a:t>max</a:t>
            </a:r>
            <a:endParaRPr lang="en-US" sz="2800" baseline="-25000" dirty="0"/>
          </a:p>
        </p:txBody>
      </p:sp>
      <p:sp>
        <p:nvSpPr>
          <p:cNvPr id="9" name="AutoShape 3"/>
          <p:cNvSpPr>
            <a:spLocks noChangeAspect="1" noChangeArrowheads="1" noTextEdit="1"/>
          </p:cNvSpPr>
          <p:nvPr/>
        </p:nvSpPr>
        <p:spPr bwMode="auto">
          <a:xfrm>
            <a:off x="4310517" y="2104118"/>
            <a:ext cx="3255962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5"/>
          <p:cNvSpPr>
            <a:spLocks/>
          </p:cNvSpPr>
          <p:nvPr/>
        </p:nvSpPr>
        <p:spPr bwMode="auto">
          <a:xfrm>
            <a:off x="5664198" y="2931885"/>
            <a:ext cx="508000" cy="469900"/>
          </a:xfrm>
          <a:custGeom>
            <a:avLst/>
            <a:gdLst>
              <a:gd name="T0" fmla="*/ 50 w 320"/>
              <a:gd name="T1" fmla="*/ 0 h 296"/>
              <a:gd name="T2" fmla="*/ 44 w 320"/>
              <a:gd name="T3" fmla="*/ 0 h 296"/>
              <a:gd name="T4" fmla="*/ 39 w 320"/>
              <a:gd name="T5" fmla="*/ 1 h 296"/>
              <a:gd name="T6" fmla="*/ 30 w 320"/>
              <a:gd name="T7" fmla="*/ 3 h 296"/>
              <a:gd name="T8" fmla="*/ 22 w 320"/>
              <a:gd name="T9" fmla="*/ 9 h 296"/>
              <a:gd name="T10" fmla="*/ 15 w 320"/>
              <a:gd name="T11" fmla="*/ 14 h 296"/>
              <a:gd name="T12" fmla="*/ 9 w 320"/>
              <a:gd name="T13" fmla="*/ 22 h 296"/>
              <a:gd name="T14" fmla="*/ 4 w 320"/>
              <a:gd name="T15" fmla="*/ 29 h 296"/>
              <a:gd name="T16" fmla="*/ 2 w 320"/>
              <a:gd name="T17" fmla="*/ 39 h 296"/>
              <a:gd name="T18" fmla="*/ 0 w 320"/>
              <a:gd name="T19" fmla="*/ 44 h 296"/>
              <a:gd name="T20" fmla="*/ 0 w 320"/>
              <a:gd name="T21" fmla="*/ 50 h 296"/>
              <a:gd name="T22" fmla="*/ 0 w 320"/>
              <a:gd name="T23" fmla="*/ 248 h 296"/>
              <a:gd name="T24" fmla="*/ 0 w 320"/>
              <a:gd name="T25" fmla="*/ 252 h 296"/>
              <a:gd name="T26" fmla="*/ 2 w 320"/>
              <a:gd name="T27" fmla="*/ 257 h 296"/>
              <a:gd name="T28" fmla="*/ 4 w 320"/>
              <a:gd name="T29" fmla="*/ 267 h 296"/>
              <a:gd name="T30" fmla="*/ 9 w 320"/>
              <a:gd name="T31" fmla="*/ 276 h 296"/>
              <a:gd name="T32" fmla="*/ 15 w 320"/>
              <a:gd name="T33" fmla="*/ 283 h 296"/>
              <a:gd name="T34" fmla="*/ 22 w 320"/>
              <a:gd name="T35" fmla="*/ 289 h 296"/>
              <a:gd name="T36" fmla="*/ 30 w 320"/>
              <a:gd name="T37" fmla="*/ 293 h 296"/>
              <a:gd name="T38" fmla="*/ 39 w 320"/>
              <a:gd name="T39" fmla="*/ 296 h 296"/>
              <a:gd name="T40" fmla="*/ 44 w 320"/>
              <a:gd name="T41" fmla="*/ 296 h 296"/>
              <a:gd name="T42" fmla="*/ 50 w 320"/>
              <a:gd name="T43" fmla="*/ 296 h 296"/>
              <a:gd name="T44" fmla="*/ 272 w 320"/>
              <a:gd name="T45" fmla="*/ 296 h 296"/>
              <a:gd name="T46" fmla="*/ 276 w 320"/>
              <a:gd name="T47" fmla="*/ 296 h 296"/>
              <a:gd name="T48" fmla="*/ 281 w 320"/>
              <a:gd name="T49" fmla="*/ 296 h 296"/>
              <a:gd name="T50" fmla="*/ 291 w 320"/>
              <a:gd name="T51" fmla="*/ 293 h 296"/>
              <a:gd name="T52" fmla="*/ 298 w 320"/>
              <a:gd name="T53" fmla="*/ 289 h 296"/>
              <a:gd name="T54" fmla="*/ 305 w 320"/>
              <a:gd name="T55" fmla="*/ 283 h 296"/>
              <a:gd name="T56" fmla="*/ 313 w 320"/>
              <a:gd name="T57" fmla="*/ 276 h 296"/>
              <a:gd name="T58" fmla="*/ 317 w 320"/>
              <a:gd name="T59" fmla="*/ 267 h 296"/>
              <a:gd name="T60" fmla="*/ 318 w 320"/>
              <a:gd name="T61" fmla="*/ 257 h 296"/>
              <a:gd name="T62" fmla="*/ 320 w 320"/>
              <a:gd name="T63" fmla="*/ 252 h 296"/>
              <a:gd name="T64" fmla="*/ 320 w 320"/>
              <a:gd name="T65" fmla="*/ 248 h 296"/>
              <a:gd name="T66" fmla="*/ 320 w 320"/>
              <a:gd name="T67" fmla="*/ 50 h 296"/>
              <a:gd name="T68" fmla="*/ 320 w 320"/>
              <a:gd name="T69" fmla="*/ 44 h 296"/>
              <a:gd name="T70" fmla="*/ 318 w 320"/>
              <a:gd name="T71" fmla="*/ 39 h 296"/>
              <a:gd name="T72" fmla="*/ 317 w 320"/>
              <a:gd name="T73" fmla="*/ 29 h 296"/>
              <a:gd name="T74" fmla="*/ 313 w 320"/>
              <a:gd name="T75" fmla="*/ 22 h 296"/>
              <a:gd name="T76" fmla="*/ 305 w 320"/>
              <a:gd name="T77" fmla="*/ 14 h 296"/>
              <a:gd name="T78" fmla="*/ 298 w 320"/>
              <a:gd name="T79" fmla="*/ 9 h 296"/>
              <a:gd name="T80" fmla="*/ 291 w 320"/>
              <a:gd name="T81" fmla="*/ 3 h 296"/>
              <a:gd name="T82" fmla="*/ 281 w 320"/>
              <a:gd name="T83" fmla="*/ 1 h 296"/>
              <a:gd name="T84" fmla="*/ 276 w 320"/>
              <a:gd name="T85" fmla="*/ 0 h 296"/>
              <a:gd name="T86" fmla="*/ 272 w 320"/>
              <a:gd name="T87" fmla="*/ 0 h 296"/>
              <a:gd name="T88" fmla="*/ 50 w 320"/>
              <a:gd name="T89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20" h="296">
                <a:moveTo>
                  <a:pt x="50" y="0"/>
                </a:moveTo>
                <a:lnTo>
                  <a:pt x="44" y="0"/>
                </a:lnTo>
                <a:lnTo>
                  <a:pt x="39" y="1"/>
                </a:lnTo>
                <a:lnTo>
                  <a:pt x="30" y="3"/>
                </a:lnTo>
                <a:lnTo>
                  <a:pt x="22" y="9"/>
                </a:lnTo>
                <a:lnTo>
                  <a:pt x="15" y="14"/>
                </a:lnTo>
                <a:lnTo>
                  <a:pt x="9" y="22"/>
                </a:lnTo>
                <a:lnTo>
                  <a:pt x="4" y="29"/>
                </a:lnTo>
                <a:lnTo>
                  <a:pt x="2" y="39"/>
                </a:lnTo>
                <a:lnTo>
                  <a:pt x="0" y="44"/>
                </a:lnTo>
                <a:lnTo>
                  <a:pt x="0" y="50"/>
                </a:lnTo>
                <a:lnTo>
                  <a:pt x="0" y="248"/>
                </a:lnTo>
                <a:lnTo>
                  <a:pt x="0" y="252"/>
                </a:lnTo>
                <a:lnTo>
                  <a:pt x="2" y="257"/>
                </a:lnTo>
                <a:lnTo>
                  <a:pt x="4" y="267"/>
                </a:lnTo>
                <a:lnTo>
                  <a:pt x="9" y="276"/>
                </a:lnTo>
                <a:lnTo>
                  <a:pt x="15" y="283"/>
                </a:lnTo>
                <a:lnTo>
                  <a:pt x="22" y="289"/>
                </a:lnTo>
                <a:lnTo>
                  <a:pt x="30" y="293"/>
                </a:lnTo>
                <a:lnTo>
                  <a:pt x="39" y="296"/>
                </a:lnTo>
                <a:lnTo>
                  <a:pt x="44" y="296"/>
                </a:lnTo>
                <a:lnTo>
                  <a:pt x="50" y="296"/>
                </a:lnTo>
                <a:lnTo>
                  <a:pt x="272" y="296"/>
                </a:lnTo>
                <a:lnTo>
                  <a:pt x="276" y="296"/>
                </a:lnTo>
                <a:lnTo>
                  <a:pt x="281" y="296"/>
                </a:lnTo>
                <a:lnTo>
                  <a:pt x="291" y="293"/>
                </a:lnTo>
                <a:lnTo>
                  <a:pt x="298" y="289"/>
                </a:lnTo>
                <a:lnTo>
                  <a:pt x="305" y="283"/>
                </a:lnTo>
                <a:lnTo>
                  <a:pt x="313" y="276"/>
                </a:lnTo>
                <a:lnTo>
                  <a:pt x="317" y="267"/>
                </a:lnTo>
                <a:lnTo>
                  <a:pt x="318" y="257"/>
                </a:lnTo>
                <a:lnTo>
                  <a:pt x="320" y="252"/>
                </a:lnTo>
                <a:lnTo>
                  <a:pt x="320" y="248"/>
                </a:lnTo>
                <a:lnTo>
                  <a:pt x="320" y="50"/>
                </a:lnTo>
                <a:lnTo>
                  <a:pt x="320" y="44"/>
                </a:lnTo>
                <a:lnTo>
                  <a:pt x="318" y="39"/>
                </a:lnTo>
                <a:lnTo>
                  <a:pt x="317" y="29"/>
                </a:lnTo>
                <a:lnTo>
                  <a:pt x="313" y="22"/>
                </a:lnTo>
                <a:lnTo>
                  <a:pt x="305" y="14"/>
                </a:lnTo>
                <a:lnTo>
                  <a:pt x="298" y="9"/>
                </a:lnTo>
                <a:lnTo>
                  <a:pt x="291" y="3"/>
                </a:lnTo>
                <a:lnTo>
                  <a:pt x="281" y="1"/>
                </a:lnTo>
                <a:lnTo>
                  <a:pt x="276" y="0"/>
                </a:lnTo>
                <a:lnTo>
                  <a:pt x="272" y="0"/>
                </a:lnTo>
                <a:lnTo>
                  <a:pt x="50" y="0"/>
                </a:lnTo>
                <a:close/>
              </a:path>
            </a:pathLst>
          </a:custGeom>
          <a:solidFill>
            <a:srgbClr val="00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5770562" y="2971573"/>
            <a:ext cx="30777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700" b="1" dirty="0">
                <a:solidFill>
                  <a:srgbClr val="FFFFFF"/>
                </a:solidFill>
              </a:rPr>
              <a:t>m</a:t>
            </a:r>
            <a:endParaRPr lang="en-US" altLang="en-US" dirty="0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4422775" y="2341564"/>
            <a:ext cx="0" cy="1165225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4387850" y="3506788"/>
            <a:ext cx="3109912" cy="0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Line 30"/>
          <p:cNvSpPr>
            <a:spLocks noChangeShapeType="1"/>
          </p:cNvSpPr>
          <p:nvPr/>
        </p:nvSpPr>
        <p:spPr bwMode="auto">
          <a:xfrm>
            <a:off x="4422775" y="2341564"/>
            <a:ext cx="0" cy="1165225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Line 31"/>
          <p:cNvSpPr>
            <a:spLocks noChangeShapeType="1"/>
          </p:cNvSpPr>
          <p:nvPr/>
        </p:nvSpPr>
        <p:spPr bwMode="auto">
          <a:xfrm>
            <a:off x="4387850" y="3506788"/>
            <a:ext cx="3109912" cy="0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6" name="Group 85"/>
          <p:cNvGrpSpPr/>
          <p:nvPr/>
        </p:nvGrpSpPr>
        <p:grpSpPr>
          <a:xfrm>
            <a:off x="4479925" y="2986315"/>
            <a:ext cx="1137104" cy="301399"/>
            <a:chOff x="2955925" y="2986314"/>
            <a:chExt cx="1471613" cy="301399"/>
          </a:xfrm>
        </p:grpSpPr>
        <p:sp>
          <p:nvSpPr>
            <p:cNvPr id="15" name="Line 10"/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37"/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38"/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39"/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43"/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44"/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47"/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48"/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Line 51"/>
            <p:cNvSpPr>
              <a:spLocks noChangeShapeType="1"/>
            </p:cNvSpPr>
            <p:nvPr/>
          </p:nvSpPr>
          <p:spPr bwMode="auto">
            <a:xfrm flipH="1" flipV="1">
              <a:off x="4330701" y="2986314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Line 52"/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Line 53"/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Line 54"/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Line 55"/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Line 56"/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Line 57"/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Line 58"/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Line 59"/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Line 60"/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Line 62"/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Line 63"/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Line 64"/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Line 66"/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Line 67"/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Line 68"/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Line 69"/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70"/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71"/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72"/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73"/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74"/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75"/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76"/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77"/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78"/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79"/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90" name="Straight Connector 89"/>
          <p:cNvCxnSpPr/>
          <p:nvPr/>
        </p:nvCxnSpPr>
        <p:spPr>
          <a:xfrm>
            <a:off x="6999514" y="3592287"/>
            <a:ext cx="10886" cy="42454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5900057" y="3570515"/>
            <a:ext cx="10886" cy="42454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>
            <a:off x="5519059" y="2558143"/>
            <a:ext cx="859971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82343" y="1894115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v</a:t>
            </a:r>
            <a:r>
              <a:rPr lang="en-US" sz="2400" baseline="-25000" dirty="0">
                <a:solidFill>
                  <a:srgbClr val="FF0000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774408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C60E57-ABD1-5B82-05C6-E517ECA63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481" y="2106593"/>
            <a:ext cx="9139037" cy="235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26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7511-1A9D-F97A-25C2-35D46B5A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A particle moving along the x-axis in simple harmonic motion starts from its equilibrium position, the origin, at t=0 and moves to the right. The amplitude of its motion is 2.00cm , and the frequency is 1.50Hz .     </a:t>
            </a:r>
          </a:p>
          <a:p>
            <a:pPr marL="457200" lvl="1" indent="0">
              <a:buNone/>
            </a:pPr>
            <a:r>
              <a:rPr lang="en-US" dirty="0"/>
              <a:t>a) show that the position of the particle is given by	</a:t>
            </a:r>
          </a:p>
          <a:p>
            <a:pPr marL="457200" lvl="1" indent="0">
              <a:buNone/>
            </a:pPr>
            <a:r>
              <a:rPr lang="en-US" dirty="0"/>
              <a:t>                   x=(2.00cm )sin(3.00πt)</a:t>
            </a:r>
          </a:p>
          <a:p>
            <a:pPr marL="457200" lvl="1" indent="0">
              <a:buNone/>
            </a:pPr>
            <a:r>
              <a:rPr lang="en-US" dirty="0"/>
              <a:t>determine     </a:t>
            </a:r>
          </a:p>
          <a:p>
            <a:pPr marL="457200" lvl="1" indent="0">
              <a:buNone/>
            </a:pPr>
            <a:r>
              <a:rPr lang="en-US" dirty="0"/>
              <a:t>b) the maximum speed and the earliest time (t&gt;0) at which the particle has this speed,     </a:t>
            </a:r>
          </a:p>
          <a:p>
            <a:pPr marL="457200" lvl="1" indent="0">
              <a:buNone/>
            </a:pPr>
            <a:r>
              <a:rPr lang="en-US" dirty="0"/>
              <a:t>c) the maximum acceleration and the earliest time (t&gt;0) at which the particle has this acceleration, and     </a:t>
            </a:r>
          </a:p>
          <a:p>
            <a:pPr marL="457200" lvl="1" indent="0">
              <a:buNone/>
            </a:pPr>
            <a:r>
              <a:rPr lang="en-US" dirty="0"/>
              <a:t>d) the total distance traveled between t=0 and t=1.00s     	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246" y="230188"/>
            <a:ext cx="3256522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1293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1DFFD-0D98-FADA-B5AB-FB3077A0B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09">
            <a:extLst>
              <a:ext uri="{FF2B5EF4-FFF2-40B4-BE49-F238E27FC236}">
                <a16:creationId xmlns:a16="http://schemas.microsoft.com/office/drawing/2014/main" id="{B50E584D-B8DE-19C5-2277-7A47BEC38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5970" y="4112762"/>
            <a:ext cx="7761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x = 0</a:t>
            </a:r>
          </a:p>
        </p:txBody>
      </p:sp>
      <p:sp>
        <p:nvSpPr>
          <p:cNvPr id="7" name="Text Box 211">
            <a:extLst>
              <a:ext uri="{FF2B5EF4-FFF2-40B4-BE49-F238E27FC236}">
                <a16:creationId xmlns:a16="http://schemas.microsoft.com/office/drawing/2014/main" id="{02646B78-681E-FCFE-2466-760353500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5622" y="4114122"/>
            <a:ext cx="11203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 err="1"/>
              <a:t>x</a:t>
            </a:r>
            <a:r>
              <a:rPr lang="en-US" sz="2800" baseline="-25000" dirty="0" err="1"/>
              <a:t>max</a:t>
            </a:r>
            <a:endParaRPr lang="en-US" sz="2800" baseline="-25000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B5E40E02-1D42-284E-B7FB-1D5605171B6B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4310517" y="2104118"/>
            <a:ext cx="3255962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0CEC04F-DB7E-6CA3-5C00-854D573AAA60}"/>
              </a:ext>
            </a:extLst>
          </p:cNvPr>
          <p:cNvSpPr>
            <a:spLocks/>
          </p:cNvSpPr>
          <p:nvPr/>
        </p:nvSpPr>
        <p:spPr bwMode="auto">
          <a:xfrm>
            <a:off x="5664198" y="2931885"/>
            <a:ext cx="508000" cy="469900"/>
          </a:xfrm>
          <a:custGeom>
            <a:avLst/>
            <a:gdLst>
              <a:gd name="T0" fmla="*/ 50 w 320"/>
              <a:gd name="T1" fmla="*/ 0 h 296"/>
              <a:gd name="T2" fmla="*/ 44 w 320"/>
              <a:gd name="T3" fmla="*/ 0 h 296"/>
              <a:gd name="T4" fmla="*/ 39 w 320"/>
              <a:gd name="T5" fmla="*/ 1 h 296"/>
              <a:gd name="T6" fmla="*/ 30 w 320"/>
              <a:gd name="T7" fmla="*/ 3 h 296"/>
              <a:gd name="T8" fmla="*/ 22 w 320"/>
              <a:gd name="T9" fmla="*/ 9 h 296"/>
              <a:gd name="T10" fmla="*/ 15 w 320"/>
              <a:gd name="T11" fmla="*/ 14 h 296"/>
              <a:gd name="T12" fmla="*/ 9 w 320"/>
              <a:gd name="T13" fmla="*/ 22 h 296"/>
              <a:gd name="T14" fmla="*/ 4 w 320"/>
              <a:gd name="T15" fmla="*/ 29 h 296"/>
              <a:gd name="T16" fmla="*/ 2 w 320"/>
              <a:gd name="T17" fmla="*/ 39 h 296"/>
              <a:gd name="T18" fmla="*/ 0 w 320"/>
              <a:gd name="T19" fmla="*/ 44 h 296"/>
              <a:gd name="T20" fmla="*/ 0 w 320"/>
              <a:gd name="T21" fmla="*/ 50 h 296"/>
              <a:gd name="T22" fmla="*/ 0 w 320"/>
              <a:gd name="T23" fmla="*/ 248 h 296"/>
              <a:gd name="T24" fmla="*/ 0 w 320"/>
              <a:gd name="T25" fmla="*/ 252 h 296"/>
              <a:gd name="T26" fmla="*/ 2 w 320"/>
              <a:gd name="T27" fmla="*/ 257 h 296"/>
              <a:gd name="T28" fmla="*/ 4 w 320"/>
              <a:gd name="T29" fmla="*/ 267 h 296"/>
              <a:gd name="T30" fmla="*/ 9 w 320"/>
              <a:gd name="T31" fmla="*/ 276 h 296"/>
              <a:gd name="T32" fmla="*/ 15 w 320"/>
              <a:gd name="T33" fmla="*/ 283 h 296"/>
              <a:gd name="T34" fmla="*/ 22 w 320"/>
              <a:gd name="T35" fmla="*/ 289 h 296"/>
              <a:gd name="T36" fmla="*/ 30 w 320"/>
              <a:gd name="T37" fmla="*/ 293 h 296"/>
              <a:gd name="T38" fmla="*/ 39 w 320"/>
              <a:gd name="T39" fmla="*/ 296 h 296"/>
              <a:gd name="T40" fmla="*/ 44 w 320"/>
              <a:gd name="T41" fmla="*/ 296 h 296"/>
              <a:gd name="T42" fmla="*/ 50 w 320"/>
              <a:gd name="T43" fmla="*/ 296 h 296"/>
              <a:gd name="T44" fmla="*/ 272 w 320"/>
              <a:gd name="T45" fmla="*/ 296 h 296"/>
              <a:gd name="T46" fmla="*/ 276 w 320"/>
              <a:gd name="T47" fmla="*/ 296 h 296"/>
              <a:gd name="T48" fmla="*/ 281 w 320"/>
              <a:gd name="T49" fmla="*/ 296 h 296"/>
              <a:gd name="T50" fmla="*/ 291 w 320"/>
              <a:gd name="T51" fmla="*/ 293 h 296"/>
              <a:gd name="T52" fmla="*/ 298 w 320"/>
              <a:gd name="T53" fmla="*/ 289 h 296"/>
              <a:gd name="T54" fmla="*/ 305 w 320"/>
              <a:gd name="T55" fmla="*/ 283 h 296"/>
              <a:gd name="T56" fmla="*/ 313 w 320"/>
              <a:gd name="T57" fmla="*/ 276 h 296"/>
              <a:gd name="T58" fmla="*/ 317 w 320"/>
              <a:gd name="T59" fmla="*/ 267 h 296"/>
              <a:gd name="T60" fmla="*/ 318 w 320"/>
              <a:gd name="T61" fmla="*/ 257 h 296"/>
              <a:gd name="T62" fmla="*/ 320 w 320"/>
              <a:gd name="T63" fmla="*/ 252 h 296"/>
              <a:gd name="T64" fmla="*/ 320 w 320"/>
              <a:gd name="T65" fmla="*/ 248 h 296"/>
              <a:gd name="T66" fmla="*/ 320 w 320"/>
              <a:gd name="T67" fmla="*/ 50 h 296"/>
              <a:gd name="T68" fmla="*/ 320 w 320"/>
              <a:gd name="T69" fmla="*/ 44 h 296"/>
              <a:gd name="T70" fmla="*/ 318 w 320"/>
              <a:gd name="T71" fmla="*/ 39 h 296"/>
              <a:gd name="T72" fmla="*/ 317 w 320"/>
              <a:gd name="T73" fmla="*/ 29 h 296"/>
              <a:gd name="T74" fmla="*/ 313 w 320"/>
              <a:gd name="T75" fmla="*/ 22 h 296"/>
              <a:gd name="T76" fmla="*/ 305 w 320"/>
              <a:gd name="T77" fmla="*/ 14 h 296"/>
              <a:gd name="T78" fmla="*/ 298 w 320"/>
              <a:gd name="T79" fmla="*/ 9 h 296"/>
              <a:gd name="T80" fmla="*/ 291 w 320"/>
              <a:gd name="T81" fmla="*/ 3 h 296"/>
              <a:gd name="T82" fmla="*/ 281 w 320"/>
              <a:gd name="T83" fmla="*/ 1 h 296"/>
              <a:gd name="T84" fmla="*/ 276 w 320"/>
              <a:gd name="T85" fmla="*/ 0 h 296"/>
              <a:gd name="T86" fmla="*/ 272 w 320"/>
              <a:gd name="T87" fmla="*/ 0 h 296"/>
              <a:gd name="T88" fmla="*/ 50 w 320"/>
              <a:gd name="T89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20" h="296">
                <a:moveTo>
                  <a:pt x="50" y="0"/>
                </a:moveTo>
                <a:lnTo>
                  <a:pt x="44" y="0"/>
                </a:lnTo>
                <a:lnTo>
                  <a:pt x="39" y="1"/>
                </a:lnTo>
                <a:lnTo>
                  <a:pt x="30" y="3"/>
                </a:lnTo>
                <a:lnTo>
                  <a:pt x="22" y="9"/>
                </a:lnTo>
                <a:lnTo>
                  <a:pt x="15" y="14"/>
                </a:lnTo>
                <a:lnTo>
                  <a:pt x="9" y="22"/>
                </a:lnTo>
                <a:lnTo>
                  <a:pt x="4" y="29"/>
                </a:lnTo>
                <a:lnTo>
                  <a:pt x="2" y="39"/>
                </a:lnTo>
                <a:lnTo>
                  <a:pt x="0" y="44"/>
                </a:lnTo>
                <a:lnTo>
                  <a:pt x="0" y="50"/>
                </a:lnTo>
                <a:lnTo>
                  <a:pt x="0" y="248"/>
                </a:lnTo>
                <a:lnTo>
                  <a:pt x="0" y="252"/>
                </a:lnTo>
                <a:lnTo>
                  <a:pt x="2" y="257"/>
                </a:lnTo>
                <a:lnTo>
                  <a:pt x="4" y="267"/>
                </a:lnTo>
                <a:lnTo>
                  <a:pt x="9" y="276"/>
                </a:lnTo>
                <a:lnTo>
                  <a:pt x="15" y="283"/>
                </a:lnTo>
                <a:lnTo>
                  <a:pt x="22" y="289"/>
                </a:lnTo>
                <a:lnTo>
                  <a:pt x="30" y="293"/>
                </a:lnTo>
                <a:lnTo>
                  <a:pt x="39" y="296"/>
                </a:lnTo>
                <a:lnTo>
                  <a:pt x="44" y="296"/>
                </a:lnTo>
                <a:lnTo>
                  <a:pt x="50" y="296"/>
                </a:lnTo>
                <a:lnTo>
                  <a:pt x="272" y="296"/>
                </a:lnTo>
                <a:lnTo>
                  <a:pt x="276" y="296"/>
                </a:lnTo>
                <a:lnTo>
                  <a:pt x="281" y="296"/>
                </a:lnTo>
                <a:lnTo>
                  <a:pt x="291" y="293"/>
                </a:lnTo>
                <a:lnTo>
                  <a:pt x="298" y="289"/>
                </a:lnTo>
                <a:lnTo>
                  <a:pt x="305" y="283"/>
                </a:lnTo>
                <a:lnTo>
                  <a:pt x="313" y="276"/>
                </a:lnTo>
                <a:lnTo>
                  <a:pt x="317" y="267"/>
                </a:lnTo>
                <a:lnTo>
                  <a:pt x="318" y="257"/>
                </a:lnTo>
                <a:lnTo>
                  <a:pt x="320" y="252"/>
                </a:lnTo>
                <a:lnTo>
                  <a:pt x="320" y="248"/>
                </a:lnTo>
                <a:lnTo>
                  <a:pt x="320" y="50"/>
                </a:lnTo>
                <a:lnTo>
                  <a:pt x="320" y="44"/>
                </a:lnTo>
                <a:lnTo>
                  <a:pt x="318" y="39"/>
                </a:lnTo>
                <a:lnTo>
                  <a:pt x="317" y="29"/>
                </a:lnTo>
                <a:lnTo>
                  <a:pt x="313" y="22"/>
                </a:lnTo>
                <a:lnTo>
                  <a:pt x="305" y="14"/>
                </a:lnTo>
                <a:lnTo>
                  <a:pt x="298" y="9"/>
                </a:lnTo>
                <a:lnTo>
                  <a:pt x="291" y="3"/>
                </a:lnTo>
                <a:lnTo>
                  <a:pt x="281" y="1"/>
                </a:lnTo>
                <a:lnTo>
                  <a:pt x="276" y="0"/>
                </a:lnTo>
                <a:lnTo>
                  <a:pt x="272" y="0"/>
                </a:lnTo>
                <a:lnTo>
                  <a:pt x="50" y="0"/>
                </a:lnTo>
                <a:close/>
              </a:path>
            </a:pathLst>
          </a:custGeom>
          <a:solidFill>
            <a:srgbClr val="00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7163AB0-2A76-8027-82A2-2C7EF4550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562" y="2971573"/>
            <a:ext cx="30777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700" b="1" dirty="0">
                <a:solidFill>
                  <a:srgbClr val="FFFFFF"/>
                </a:solidFill>
              </a:rPr>
              <a:t>m</a:t>
            </a:r>
            <a:endParaRPr lang="en-US" altLang="en-US" dirty="0"/>
          </a:p>
        </p:txBody>
      </p:sp>
      <p:sp>
        <p:nvSpPr>
          <p:cNvPr id="13" name="Line 8">
            <a:extLst>
              <a:ext uri="{FF2B5EF4-FFF2-40B4-BE49-F238E27FC236}">
                <a16:creationId xmlns:a16="http://schemas.microsoft.com/office/drawing/2014/main" id="{336360FD-55BB-7DE0-F425-AF2841AB63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2775" y="2341564"/>
            <a:ext cx="0" cy="1165225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CDB256A8-DA59-2B7F-B791-EB006B45E8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7850" y="3506788"/>
            <a:ext cx="3109912" cy="0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Line 30">
            <a:extLst>
              <a:ext uri="{FF2B5EF4-FFF2-40B4-BE49-F238E27FC236}">
                <a16:creationId xmlns:a16="http://schemas.microsoft.com/office/drawing/2014/main" id="{DAAFC874-A7C8-DAB3-736B-DC88AE6ADA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2775" y="2341564"/>
            <a:ext cx="0" cy="1165225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Line 31">
            <a:extLst>
              <a:ext uri="{FF2B5EF4-FFF2-40B4-BE49-F238E27FC236}">
                <a16:creationId xmlns:a16="http://schemas.microsoft.com/office/drawing/2014/main" id="{8DE29245-FE39-F276-DF34-32D54541A4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7850" y="3506788"/>
            <a:ext cx="3109912" cy="0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868D648-E688-91A8-D8F3-8879A801B12C}"/>
              </a:ext>
            </a:extLst>
          </p:cNvPr>
          <p:cNvGrpSpPr/>
          <p:nvPr/>
        </p:nvGrpSpPr>
        <p:grpSpPr>
          <a:xfrm>
            <a:off x="4479925" y="2986315"/>
            <a:ext cx="1137104" cy="301399"/>
            <a:chOff x="2955925" y="2986314"/>
            <a:chExt cx="1471613" cy="301399"/>
          </a:xfrm>
        </p:grpSpPr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111C7497-1CE2-EB01-556B-4869EA3626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3DB4631B-2B74-9551-CF03-269CE61F58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E4D7C2D3-7813-05C3-D424-EF510D9B98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8CB2FFD3-BFC7-993F-1212-F957CD15A1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46B33B25-5AA7-6ABB-2073-52C80383F7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671EA76D-6A34-1499-154A-F9D9DF920F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17">
              <a:extLst>
                <a:ext uri="{FF2B5EF4-FFF2-40B4-BE49-F238E27FC236}">
                  <a16:creationId xmlns:a16="http://schemas.microsoft.com/office/drawing/2014/main" id="{105D311C-0FAC-B22A-E579-92CB176BAE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0F4A5098-F7D3-803A-24D9-55B0CEF3DA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id="{CFB4F2B4-D581-121B-2F28-C29BC160A3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A816801A-FA88-05C9-371F-6E8B14FAAD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21">
              <a:extLst>
                <a:ext uri="{FF2B5EF4-FFF2-40B4-BE49-F238E27FC236}">
                  <a16:creationId xmlns:a16="http://schemas.microsoft.com/office/drawing/2014/main" id="{F1213E8F-F306-8B7F-FFC9-7C00FC6A27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22">
              <a:extLst>
                <a:ext uri="{FF2B5EF4-FFF2-40B4-BE49-F238E27FC236}">
                  <a16:creationId xmlns:a16="http://schemas.microsoft.com/office/drawing/2014/main" id="{7AE13B1C-F058-1CC7-C54C-00D923C89B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3D5F83BE-B7B8-0C2F-6520-BC3644216E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8360556B-08B6-B46B-1A14-2AFAB99446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25">
              <a:extLst>
                <a:ext uri="{FF2B5EF4-FFF2-40B4-BE49-F238E27FC236}">
                  <a16:creationId xmlns:a16="http://schemas.microsoft.com/office/drawing/2014/main" id="{BBDA4243-DD74-ADAC-79FE-B2BB6608BF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32">
              <a:extLst>
                <a:ext uri="{FF2B5EF4-FFF2-40B4-BE49-F238E27FC236}">
                  <a16:creationId xmlns:a16="http://schemas.microsoft.com/office/drawing/2014/main" id="{2FD86162-252D-DF60-9E0C-DE8F9AE2B0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34">
              <a:extLst>
                <a:ext uri="{FF2B5EF4-FFF2-40B4-BE49-F238E27FC236}">
                  <a16:creationId xmlns:a16="http://schemas.microsoft.com/office/drawing/2014/main" id="{17C6A372-8D7A-4405-6CD9-613D122FD6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35">
              <a:extLst>
                <a:ext uri="{FF2B5EF4-FFF2-40B4-BE49-F238E27FC236}">
                  <a16:creationId xmlns:a16="http://schemas.microsoft.com/office/drawing/2014/main" id="{8C242BC1-8F44-FECF-856E-79521B9A35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36">
              <a:extLst>
                <a:ext uri="{FF2B5EF4-FFF2-40B4-BE49-F238E27FC236}">
                  <a16:creationId xmlns:a16="http://schemas.microsoft.com/office/drawing/2014/main" id="{1B4019C9-9953-C740-2C03-CE1FCDA6CC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37">
              <a:extLst>
                <a:ext uri="{FF2B5EF4-FFF2-40B4-BE49-F238E27FC236}">
                  <a16:creationId xmlns:a16="http://schemas.microsoft.com/office/drawing/2014/main" id="{6CC263FD-9DC9-7672-6096-E225AB6704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38">
              <a:extLst>
                <a:ext uri="{FF2B5EF4-FFF2-40B4-BE49-F238E27FC236}">
                  <a16:creationId xmlns:a16="http://schemas.microsoft.com/office/drawing/2014/main" id="{248B8965-9B9E-9D7B-A1BB-69E280255F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39">
              <a:extLst>
                <a:ext uri="{FF2B5EF4-FFF2-40B4-BE49-F238E27FC236}">
                  <a16:creationId xmlns:a16="http://schemas.microsoft.com/office/drawing/2014/main" id="{02E5E0F8-31FE-4CF9-CCCA-03179BACF1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40">
              <a:extLst>
                <a:ext uri="{FF2B5EF4-FFF2-40B4-BE49-F238E27FC236}">
                  <a16:creationId xmlns:a16="http://schemas.microsoft.com/office/drawing/2014/main" id="{1442149B-CC24-7E98-3B7B-B5DCB6BACD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41">
              <a:extLst>
                <a:ext uri="{FF2B5EF4-FFF2-40B4-BE49-F238E27FC236}">
                  <a16:creationId xmlns:a16="http://schemas.microsoft.com/office/drawing/2014/main" id="{B13AF994-58CE-0A1B-0687-D22EF53122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42">
              <a:extLst>
                <a:ext uri="{FF2B5EF4-FFF2-40B4-BE49-F238E27FC236}">
                  <a16:creationId xmlns:a16="http://schemas.microsoft.com/office/drawing/2014/main" id="{99803F53-B434-B34D-82C2-9A6414CE9E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43">
              <a:extLst>
                <a:ext uri="{FF2B5EF4-FFF2-40B4-BE49-F238E27FC236}">
                  <a16:creationId xmlns:a16="http://schemas.microsoft.com/office/drawing/2014/main" id="{45E97FBA-CABF-F78A-CB52-747B1A753B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44">
              <a:extLst>
                <a:ext uri="{FF2B5EF4-FFF2-40B4-BE49-F238E27FC236}">
                  <a16:creationId xmlns:a16="http://schemas.microsoft.com/office/drawing/2014/main" id="{E2A32CF2-22B8-B2C5-3082-EDC373668A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Line 45">
              <a:extLst>
                <a:ext uri="{FF2B5EF4-FFF2-40B4-BE49-F238E27FC236}">
                  <a16:creationId xmlns:a16="http://schemas.microsoft.com/office/drawing/2014/main" id="{20063B0D-1218-6957-F68E-7E763FB834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Line 46">
              <a:extLst>
                <a:ext uri="{FF2B5EF4-FFF2-40B4-BE49-F238E27FC236}">
                  <a16:creationId xmlns:a16="http://schemas.microsoft.com/office/drawing/2014/main" id="{5B56E4C2-35AF-5647-CC8F-6272D1EFD1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47">
              <a:extLst>
                <a:ext uri="{FF2B5EF4-FFF2-40B4-BE49-F238E27FC236}">
                  <a16:creationId xmlns:a16="http://schemas.microsoft.com/office/drawing/2014/main" id="{E8ECAE5F-71A1-BC28-3136-02530A8F90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48">
              <a:extLst>
                <a:ext uri="{FF2B5EF4-FFF2-40B4-BE49-F238E27FC236}">
                  <a16:creationId xmlns:a16="http://schemas.microsoft.com/office/drawing/2014/main" id="{0DD6499F-BA9A-F18A-95C4-E03C8810AF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Line 50">
              <a:extLst>
                <a:ext uri="{FF2B5EF4-FFF2-40B4-BE49-F238E27FC236}">
                  <a16:creationId xmlns:a16="http://schemas.microsoft.com/office/drawing/2014/main" id="{CF5B04B7-B57B-DDB7-D2FC-F7F6A6D131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Line 51">
              <a:extLst>
                <a:ext uri="{FF2B5EF4-FFF2-40B4-BE49-F238E27FC236}">
                  <a16:creationId xmlns:a16="http://schemas.microsoft.com/office/drawing/2014/main" id="{F67D3792-5945-C2DB-470A-550188544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30701" y="2986314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Line 52">
              <a:extLst>
                <a:ext uri="{FF2B5EF4-FFF2-40B4-BE49-F238E27FC236}">
                  <a16:creationId xmlns:a16="http://schemas.microsoft.com/office/drawing/2014/main" id="{58D2DCEA-59B7-60AC-A9BE-26B6787A80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Line 53">
              <a:extLst>
                <a:ext uri="{FF2B5EF4-FFF2-40B4-BE49-F238E27FC236}">
                  <a16:creationId xmlns:a16="http://schemas.microsoft.com/office/drawing/2014/main" id="{25ECA6B4-1328-E9FB-4E62-D4E6875D65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Line 54">
              <a:extLst>
                <a:ext uri="{FF2B5EF4-FFF2-40B4-BE49-F238E27FC236}">
                  <a16:creationId xmlns:a16="http://schemas.microsoft.com/office/drawing/2014/main" id="{F8BB911B-7335-979A-9B0B-AEB7101040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Line 55">
              <a:extLst>
                <a:ext uri="{FF2B5EF4-FFF2-40B4-BE49-F238E27FC236}">
                  <a16:creationId xmlns:a16="http://schemas.microsoft.com/office/drawing/2014/main" id="{95FCF234-4FFF-7C45-F050-B0E7CC2139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Line 56">
              <a:extLst>
                <a:ext uri="{FF2B5EF4-FFF2-40B4-BE49-F238E27FC236}">
                  <a16:creationId xmlns:a16="http://schemas.microsoft.com/office/drawing/2014/main" id="{39C42B7F-75EA-5839-F8C3-67D084C06D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Line 57">
              <a:extLst>
                <a:ext uri="{FF2B5EF4-FFF2-40B4-BE49-F238E27FC236}">
                  <a16:creationId xmlns:a16="http://schemas.microsoft.com/office/drawing/2014/main" id="{4E39AECF-CC02-7A97-9CB5-196084FB2E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Line 58">
              <a:extLst>
                <a:ext uri="{FF2B5EF4-FFF2-40B4-BE49-F238E27FC236}">
                  <a16:creationId xmlns:a16="http://schemas.microsoft.com/office/drawing/2014/main" id="{8E5B7DAF-74BE-463A-3A0F-1CCFEDB6F7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Line 59">
              <a:extLst>
                <a:ext uri="{FF2B5EF4-FFF2-40B4-BE49-F238E27FC236}">
                  <a16:creationId xmlns:a16="http://schemas.microsoft.com/office/drawing/2014/main" id="{38925EAC-8497-A503-7A49-B5059F3613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Line 60">
              <a:extLst>
                <a:ext uri="{FF2B5EF4-FFF2-40B4-BE49-F238E27FC236}">
                  <a16:creationId xmlns:a16="http://schemas.microsoft.com/office/drawing/2014/main" id="{63D8412A-0BA4-858D-18FE-CE2DFCF47B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Line 61">
              <a:extLst>
                <a:ext uri="{FF2B5EF4-FFF2-40B4-BE49-F238E27FC236}">
                  <a16:creationId xmlns:a16="http://schemas.microsoft.com/office/drawing/2014/main" id="{78B59375-E3B4-AEFC-10A8-E6D004F075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Line 62">
              <a:extLst>
                <a:ext uri="{FF2B5EF4-FFF2-40B4-BE49-F238E27FC236}">
                  <a16:creationId xmlns:a16="http://schemas.microsoft.com/office/drawing/2014/main" id="{1CEB5436-4A07-C7C4-0DFB-6545EDF538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Line 63">
              <a:extLst>
                <a:ext uri="{FF2B5EF4-FFF2-40B4-BE49-F238E27FC236}">
                  <a16:creationId xmlns:a16="http://schemas.microsoft.com/office/drawing/2014/main" id="{FDF93A92-9CA9-8E82-F90D-A486DBD123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Line 64">
              <a:extLst>
                <a:ext uri="{FF2B5EF4-FFF2-40B4-BE49-F238E27FC236}">
                  <a16:creationId xmlns:a16="http://schemas.microsoft.com/office/drawing/2014/main" id="{2DAD69DB-AF01-0338-358D-0235DF16D1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Line 65">
              <a:extLst>
                <a:ext uri="{FF2B5EF4-FFF2-40B4-BE49-F238E27FC236}">
                  <a16:creationId xmlns:a16="http://schemas.microsoft.com/office/drawing/2014/main" id="{C9F726C3-DDC9-CE85-7149-2DC94CE19F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Line 66">
              <a:extLst>
                <a:ext uri="{FF2B5EF4-FFF2-40B4-BE49-F238E27FC236}">
                  <a16:creationId xmlns:a16="http://schemas.microsoft.com/office/drawing/2014/main" id="{B6E22444-8170-351F-1D61-D376135FCB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Line 67">
              <a:extLst>
                <a:ext uri="{FF2B5EF4-FFF2-40B4-BE49-F238E27FC236}">
                  <a16:creationId xmlns:a16="http://schemas.microsoft.com/office/drawing/2014/main" id="{D612A914-69B5-34E8-5ACF-EE7C72FD18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Line 68">
              <a:extLst>
                <a:ext uri="{FF2B5EF4-FFF2-40B4-BE49-F238E27FC236}">
                  <a16:creationId xmlns:a16="http://schemas.microsoft.com/office/drawing/2014/main" id="{370F7A26-B803-BF49-E7FC-9786BE5C45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Line 69">
              <a:extLst>
                <a:ext uri="{FF2B5EF4-FFF2-40B4-BE49-F238E27FC236}">
                  <a16:creationId xmlns:a16="http://schemas.microsoft.com/office/drawing/2014/main" id="{EE579012-CF4C-E9BC-6F4E-452603B543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70">
              <a:extLst>
                <a:ext uri="{FF2B5EF4-FFF2-40B4-BE49-F238E27FC236}">
                  <a16:creationId xmlns:a16="http://schemas.microsoft.com/office/drawing/2014/main" id="{6A24BAA5-95AB-7755-7DF5-94D7745848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71">
              <a:extLst>
                <a:ext uri="{FF2B5EF4-FFF2-40B4-BE49-F238E27FC236}">
                  <a16:creationId xmlns:a16="http://schemas.microsoft.com/office/drawing/2014/main" id="{89B38B39-B964-BE83-13F3-47215E79A8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72">
              <a:extLst>
                <a:ext uri="{FF2B5EF4-FFF2-40B4-BE49-F238E27FC236}">
                  <a16:creationId xmlns:a16="http://schemas.microsoft.com/office/drawing/2014/main" id="{E645F818-C269-9256-DE8F-19C439AF9C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73">
              <a:extLst>
                <a:ext uri="{FF2B5EF4-FFF2-40B4-BE49-F238E27FC236}">
                  <a16:creationId xmlns:a16="http://schemas.microsoft.com/office/drawing/2014/main" id="{504BD8BC-907C-7523-5F1A-068D896EBE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74">
              <a:extLst>
                <a:ext uri="{FF2B5EF4-FFF2-40B4-BE49-F238E27FC236}">
                  <a16:creationId xmlns:a16="http://schemas.microsoft.com/office/drawing/2014/main" id="{0C89827A-40C9-BBBC-7FA1-91D36C1614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75">
              <a:extLst>
                <a:ext uri="{FF2B5EF4-FFF2-40B4-BE49-F238E27FC236}">
                  <a16:creationId xmlns:a16="http://schemas.microsoft.com/office/drawing/2014/main" id="{F3DFBEB7-7144-1AA9-784E-374C222CC7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76">
              <a:extLst>
                <a:ext uri="{FF2B5EF4-FFF2-40B4-BE49-F238E27FC236}">
                  <a16:creationId xmlns:a16="http://schemas.microsoft.com/office/drawing/2014/main" id="{4A7D318C-B39E-EFED-10D5-EED68171FC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77">
              <a:extLst>
                <a:ext uri="{FF2B5EF4-FFF2-40B4-BE49-F238E27FC236}">
                  <a16:creationId xmlns:a16="http://schemas.microsoft.com/office/drawing/2014/main" id="{FA978F57-4D0F-ABCD-1761-3054F98A68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78">
              <a:extLst>
                <a:ext uri="{FF2B5EF4-FFF2-40B4-BE49-F238E27FC236}">
                  <a16:creationId xmlns:a16="http://schemas.microsoft.com/office/drawing/2014/main" id="{F138D436-2946-11F0-BE46-6C13BE7AEB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79">
              <a:extLst>
                <a:ext uri="{FF2B5EF4-FFF2-40B4-BE49-F238E27FC236}">
                  <a16:creationId xmlns:a16="http://schemas.microsoft.com/office/drawing/2014/main" id="{AE695094-C703-AD4B-A89C-4E5FADAAC9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70FA014-AAD3-22E3-A1F5-D45A5CF5B899}"/>
              </a:ext>
            </a:extLst>
          </p:cNvPr>
          <p:cNvCxnSpPr/>
          <p:nvPr/>
        </p:nvCxnSpPr>
        <p:spPr>
          <a:xfrm>
            <a:off x="6999514" y="3592287"/>
            <a:ext cx="10886" cy="42454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B0510BF-81D2-BE4B-1D37-4B510185C775}"/>
              </a:ext>
            </a:extLst>
          </p:cNvPr>
          <p:cNvCxnSpPr/>
          <p:nvPr/>
        </p:nvCxnSpPr>
        <p:spPr>
          <a:xfrm>
            <a:off x="5900057" y="3570515"/>
            <a:ext cx="10886" cy="42454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51A0CCF-86D3-DFEF-4BBF-DFF548265BBF}"/>
              </a:ext>
            </a:extLst>
          </p:cNvPr>
          <p:cNvCxnSpPr/>
          <p:nvPr/>
        </p:nvCxnSpPr>
        <p:spPr>
          <a:xfrm>
            <a:off x="5519059" y="2558143"/>
            <a:ext cx="859971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6BE8FAB-EBA7-9EC3-1991-332E811CD49C}"/>
              </a:ext>
            </a:extLst>
          </p:cNvPr>
          <p:cNvSpPr txBox="1"/>
          <p:nvPr/>
        </p:nvSpPr>
        <p:spPr>
          <a:xfrm>
            <a:off x="5682343" y="1894115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v</a:t>
            </a:r>
            <a:r>
              <a:rPr lang="en-US" sz="2400" baseline="-25000" dirty="0">
                <a:solidFill>
                  <a:srgbClr val="FF0000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7565167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FF81D-8425-CCD0-5194-A03D9EA0D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88026-C5FA-64C5-CBB9-99B2B8330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Usually, we need to know how we start our oscillator to solve a problem. Let's see how this works.	Suppose we start the motion of a mass attached to a spring (a harmonic oscillator) by pulling the mass to x=</a:t>
            </a:r>
            <a:r>
              <a:rPr lang="en-US" dirty="0" err="1"/>
              <a:t>x</a:t>
            </a:r>
            <a:r>
              <a:rPr lang="en-US" baseline="-25000" dirty="0" err="1"/>
              <a:t>max</a:t>
            </a:r>
            <a:r>
              <a:rPr lang="en-US" baseline="-25000" dirty="0"/>
              <a:t> </a:t>
            </a:r>
            <a:r>
              <a:rPr lang="en-US" dirty="0"/>
              <a:t>and releasing it at t=0. Find the phase. </a:t>
            </a:r>
          </a:p>
        </p:txBody>
      </p:sp>
      <p:sp>
        <p:nvSpPr>
          <p:cNvPr id="6" name="Text Box 209">
            <a:extLst>
              <a:ext uri="{FF2B5EF4-FFF2-40B4-BE49-F238E27FC236}">
                <a16:creationId xmlns:a16="http://schemas.microsoft.com/office/drawing/2014/main" id="{BE2A7D48-C954-1AFC-AF84-F89FA8AB7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0834" y="5722106"/>
            <a:ext cx="7761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x = 0</a:t>
            </a:r>
          </a:p>
        </p:txBody>
      </p:sp>
      <p:sp>
        <p:nvSpPr>
          <p:cNvPr id="7" name="Text Box 211">
            <a:extLst>
              <a:ext uri="{FF2B5EF4-FFF2-40B4-BE49-F238E27FC236}">
                <a16:creationId xmlns:a16="http://schemas.microsoft.com/office/drawing/2014/main" id="{3F168650-7BC2-3F77-7639-3DCC5EF60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486" y="5723466"/>
            <a:ext cx="11203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 err="1"/>
              <a:t>x</a:t>
            </a:r>
            <a:r>
              <a:rPr lang="en-US" sz="2800" baseline="-25000" dirty="0" err="1"/>
              <a:t>max</a:t>
            </a:r>
            <a:endParaRPr lang="en-US" sz="2800" baseline="-25000" dirty="0"/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7594D1C0-A876-7B97-F577-BA44ACD2F0F5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4387152" y="3746119"/>
            <a:ext cx="3255962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80DB0C21-30FC-3021-DC47-3821A0794007}"/>
              </a:ext>
            </a:extLst>
          </p:cNvPr>
          <p:cNvSpPr>
            <a:spLocks/>
          </p:cNvSpPr>
          <p:nvPr/>
        </p:nvSpPr>
        <p:spPr bwMode="auto">
          <a:xfrm>
            <a:off x="6818522" y="4584772"/>
            <a:ext cx="508000" cy="469900"/>
          </a:xfrm>
          <a:custGeom>
            <a:avLst/>
            <a:gdLst>
              <a:gd name="T0" fmla="*/ 50 w 320"/>
              <a:gd name="T1" fmla="*/ 0 h 296"/>
              <a:gd name="T2" fmla="*/ 44 w 320"/>
              <a:gd name="T3" fmla="*/ 0 h 296"/>
              <a:gd name="T4" fmla="*/ 39 w 320"/>
              <a:gd name="T5" fmla="*/ 1 h 296"/>
              <a:gd name="T6" fmla="*/ 30 w 320"/>
              <a:gd name="T7" fmla="*/ 3 h 296"/>
              <a:gd name="T8" fmla="*/ 22 w 320"/>
              <a:gd name="T9" fmla="*/ 9 h 296"/>
              <a:gd name="T10" fmla="*/ 15 w 320"/>
              <a:gd name="T11" fmla="*/ 14 h 296"/>
              <a:gd name="T12" fmla="*/ 9 w 320"/>
              <a:gd name="T13" fmla="*/ 22 h 296"/>
              <a:gd name="T14" fmla="*/ 4 w 320"/>
              <a:gd name="T15" fmla="*/ 29 h 296"/>
              <a:gd name="T16" fmla="*/ 2 w 320"/>
              <a:gd name="T17" fmla="*/ 39 h 296"/>
              <a:gd name="T18" fmla="*/ 0 w 320"/>
              <a:gd name="T19" fmla="*/ 44 h 296"/>
              <a:gd name="T20" fmla="*/ 0 w 320"/>
              <a:gd name="T21" fmla="*/ 50 h 296"/>
              <a:gd name="T22" fmla="*/ 0 w 320"/>
              <a:gd name="T23" fmla="*/ 248 h 296"/>
              <a:gd name="T24" fmla="*/ 0 w 320"/>
              <a:gd name="T25" fmla="*/ 252 h 296"/>
              <a:gd name="T26" fmla="*/ 2 w 320"/>
              <a:gd name="T27" fmla="*/ 257 h 296"/>
              <a:gd name="T28" fmla="*/ 4 w 320"/>
              <a:gd name="T29" fmla="*/ 267 h 296"/>
              <a:gd name="T30" fmla="*/ 9 w 320"/>
              <a:gd name="T31" fmla="*/ 276 h 296"/>
              <a:gd name="T32" fmla="*/ 15 w 320"/>
              <a:gd name="T33" fmla="*/ 283 h 296"/>
              <a:gd name="T34" fmla="*/ 22 w 320"/>
              <a:gd name="T35" fmla="*/ 289 h 296"/>
              <a:gd name="T36" fmla="*/ 30 w 320"/>
              <a:gd name="T37" fmla="*/ 293 h 296"/>
              <a:gd name="T38" fmla="*/ 39 w 320"/>
              <a:gd name="T39" fmla="*/ 296 h 296"/>
              <a:gd name="T40" fmla="*/ 44 w 320"/>
              <a:gd name="T41" fmla="*/ 296 h 296"/>
              <a:gd name="T42" fmla="*/ 50 w 320"/>
              <a:gd name="T43" fmla="*/ 296 h 296"/>
              <a:gd name="T44" fmla="*/ 272 w 320"/>
              <a:gd name="T45" fmla="*/ 296 h 296"/>
              <a:gd name="T46" fmla="*/ 276 w 320"/>
              <a:gd name="T47" fmla="*/ 296 h 296"/>
              <a:gd name="T48" fmla="*/ 281 w 320"/>
              <a:gd name="T49" fmla="*/ 296 h 296"/>
              <a:gd name="T50" fmla="*/ 291 w 320"/>
              <a:gd name="T51" fmla="*/ 293 h 296"/>
              <a:gd name="T52" fmla="*/ 298 w 320"/>
              <a:gd name="T53" fmla="*/ 289 h 296"/>
              <a:gd name="T54" fmla="*/ 305 w 320"/>
              <a:gd name="T55" fmla="*/ 283 h 296"/>
              <a:gd name="T56" fmla="*/ 313 w 320"/>
              <a:gd name="T57" fmla="*/ 276 h 296"/>
              <a:gd name="T58" fmla="*/ 317 w 320"/>
              <a:gd name="T59" fmla="*/ 267 h 296"/>
              <a:gd name="T60" fmla="*/ 318 w 320"/>
              <a:gd name="T61" fmla="*/ 257 h 296"/>
              <a:gd name="T62" fmla="*/ 320 w 320"/>
              <a:gd name="T63" fmla="*/ 252 h 296"/>
              <a:gd name="T64" fmla="*/ 320 w 320"/>
              <a:gd name="T65" fmla="*/ 248 h 296"/>
              <a:gd name="T66" fmla="*/ 320 w 320"/>
              <a:gd name="T67" fmla="*/ 50 h 296"/>
              <a:gd name="T68" fmla="*/ 320 w 320"/>
              <a:gd name="T69" fmla="*/ 44 h 296"/>
              <a:gd name="T70" fmla="*/ 318 w 320"/>
              <a:gd name="T71" fmla="*/ 39 h 296"/>
              <a:gd name="T72" fmla="*/ 317 w 320"/>
              <a:gd name="T73" fmla="*/ 29 h 296"/>
              <a:gd name="T74" fmla="*/ 313 w 320"/>
              <a:gd name="T75" fmla="*/ 22 h 296"/>
              <a:gd name="T76" fmla="*/ 305 w 320"/>
              <a:gd name="T77" fmla="*/ 14 h 296"/>
              <a:gd name="T78" fmla="*/ 298 w 320"/>
              <a:gd name="T79" fmla="*/ 9 h 296"/>
              <a:gd name="T80" fmla="*/ 291 w 320"/>
              <a:gd name="T81" fmla="*/ 3 h 296"/>
              <a:gd name="T82" fmla="*/ 281 w 320"/>
              <a:gd name="T83" fmla="*/ 1 h 296"/>
              <a:gd name="T84" fmla="*/ 276 w 320"/>
              <a:gd name="T85" fmla="*/ 0 h 296"/>
              <a:gd name="T86" fmla="*/ 272 w 320"/>
              <a:gd name="T87" fmla="*/ 0 h 296"/>
              <a:gd name="T88" fmla="*/ 50 w 320"/>
              <a:gd name="T89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20" h="296">
                <a:moveTo>
                  <a:pt x="50" y="0"/>
                </a:moveTo>
                <a:lnTo>
                  <a:pt x="44" y="0"/>
                </a:lnTo>
                <a:lnTo>
                  <a:pt x="39" y="1"/>
                </a:lnTo>
                <a:lnTo>
                  <a:pt x="30" y="3"/>
                </a:lnTo>
                <a:lnTo>
                  <a:pt x="22" y="9"/>
                </a:lnTo>
                <a:lnTo>
                  <a:pt x="15" y="14"/>
                </a:lnTo>
                <a:lnTo>
                  <a:pt x="9" y="22"/>
                </a:lnTo>
                <a:lnTo>
                  <a:pt x="4" y="29"/>
                </a:lnTo>
                <a:lnTo>
                  <a:pt x="2" y="39"/>
                </a:lnTo>
                <a:lnTo>
                  <a:pt x="0" y="44"/>
                </a:lnTo>
                <a:lnTo>
                  <a:pt x="0" y="50"/>
                </a:lnTo>
                <a:lnTo>
                  <a:pt x="0" y="248"/>
                </a:lnTo>
                <a:lnTo>
                  <a:pt x="0" y="252"/>
                </a:lnTo>
                <a:lnTo>
                  <a:pt x="2" y="257"/>
                </a:lnTo>
                <a:lnTo>
                  <a:pt x="4" y="267"/>
                </a:lnTo>
                <a:lnTo>
                  <a:pt x="9" y="276"/>
                </a:lnTo>
                <a:lnTo>
                  <a:pt x="15" y="283"/>
                </a:lnTo>
                <a:lnTo>
                  <a:pt x="22" y="289"/>
                </a:lnTo>
                <a:lnTo>
                  <a:pt x="30" y="293"/>
                </a:lnTo>
                <a:lnTo>
                  <a:pt x="39" y="296"/>
                </a:lnTo>
                <a:lnTo>
                  <a:pt x="44" y="296"/>
                </a:lnTo>
                <a:lnTo>
                  <a:pt x="50" y="296"/>
                </a:lnTo>
                <a:lnTo>
                  <a:pt x="272" y="296"/>
                </a:lnTo>
                <a:lnTo>
                  <a:pt x="276" y="296"/>
                </a:lnTo>
                <a:lnTo>
                  <a:pt x="281" y="296"/>
                </a:lnTo>
                <a:lnTo>
                  <a:pt x="291" y="293"/>
                </a:lnTo>
                <a:lnTo>
                  <a:pt x="298" y="289"/>
                </a:lnTo>
                <a:lnTo>
                  <a:pt x="305" y="283"/>
                </a:lnTo>
                <a:lnTo>
                  <a:pt x="313" y="276"/>
                </a:lnTo>
                <a:lnTo>
                  <a:pt x="317" y="267"/>
                </a:lnTo>
                <a:lnTo>
                  <a:pt x="318" y="257"/>
                </a:lnTo>
                <a:lnTo>
                  <a:pt x="320" y="252"/>
                </a:lnTo>
                <a:lnTo>
                  <a:pt x="320" y="248"/>
                </a:lnTo>
                <a:lnTo>
                  <a:pt x="320" y="50"/>
                </a:lnTo>
                <a:lnTo>
                  <a:pt x="320" y="44"/>
                </a:lnTo>
                <a:lnTo>
                  <a:pt x="318" y="39"/>
                </a:lnTo>
                <a:lnTo>
                  <a:pt x="317" y="29"/>
                </a:lnTo>
                <a:lnTo>
                  <a:pt x="313" y="22"/>
                </a:lnTo>
                <a:lnTo>
                  <a:pt x="305" y="14"/>
                </a:lnTo>
                <a:lnTo>
                  <a:pt x="298" y="9"/>
                </a:lnTo>
                <a:lnTo>
                  <a:pt x="291" y="3"/>
                </a:lnTo>
                <a:lnTo>
                  <a:pt x="281" y="1"/>
                </a:lnTo>
                <a:lnTo>
                  <a:pt x="276" y="0"/>
                </a:lnTo>
                <a:lnTo>
                  <a:pt x="272" y="0"/>
                </a:lnTo>
                <a:lnTo>
                  <a:pt x="50" y="0"/>
                </a:lnTo>
                <a:close/>
              </a:path>
            </a:pathLst>
          </a:custGeom>
          <a:solidFill>
            <a:srgbClr val="00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88085430-8FED-B6C1-B066-E4D5C349A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886" y="4624460"/>
            <a:ext cx="30777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700" b="1" dirty="0">
                <a:solidFill>
                  <a:srgbClr val="FFFFFF"/>
                </a:solidFill>
              </a:rPr>
              <a:t>m</a:t>
            </a:r>
            <a:endParaRPr lang="en-US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1608F81D-10C5-0156-7B5B-347C1FC8CA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7639" y="3950908"/>
            <a:ext cx="0" cy="1165225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BCF47D31-276B-B3FD-CC79-ABE316F15F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2714" y="5116132"/>
            <a:ext cx="3109912" cy="0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BB10862C-967F-FC97-24B4-FB1271651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7639" y="3950908"/>
            <a:ext cx="0" cy="1165225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Line 31">
            <a:extLst>
              <a:ext uri="{FF2B5EF4-FFF2-40B4-BE49-F238E27FC236}">
                <a16:creationId xmlns:a16="http://schemas.microsoft.com/office/drawing/2014/main" id="{1563CA99-160D-3866-4F27-C87615525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2714" y="5116132"/>
            <a:ext cx="3109912" cy="0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81DE861-A757-27B0-146E-BBDD0332A4FA}"/>
              </a:ext>
            </a:extLst>
          </p:cNvPr>
          <p:cNvGrpSpPr/>
          <p:nvPr/>
        </p:nvGrpSpPr>
        <p:grpSpPr>
          <a:xfrm>
            <a:off x="4534789" y="4595659"/>
            <a:ext cx="2258332" cy="301399"/>
            <a:chOff x="2955925" y="2986314"/>
            <a:chExt cx="1471613" cy="301399"/>
          </a:xfrm>
        </p:grpSpPr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7158964E-9A98-36D9-577D-D78E33450F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053B8731-1D85-E09E-8B2D-BAC1CD751F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0ABA8D58-04F1-1657-3B97-59763E355A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EECACFA4-02AC-E177-7BA6-7A6DA0CD67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DD414A2E-B83F-5F1A-663F-08014DFE39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FD6BEA5F-8252-9911-99AC-4E463A9DB0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17">
              <a:extLst>
                <a:ext uri="{FF2B5EF4-FFF2-40B4-BE49-F238E27FC236}">
                  <a16:creationId xmlns:a16="http://schemas.microsoft.com/office/drawing/2014/main" id="{A92EF04E-E9C1-2B39-52C3-6A001CF5FE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481B3B01-2F55-E400-D8A5-DFEA52A8CD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id="{B6398485-7D9E-28DB-1953-3282F93C59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1B1AF129-3BD7-3DDE-76C2-06D73E847C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21">
              <a:extLst>
                <a:ext uri="{FF2B5EF4-FFF2-40B4-BE49-F238E27FC236}">
                  <a16:creationId xmlns:a16="http://schemas.microsoft.com/office/drawing/2014/main" id="{76DF3986-3543-A254-EE9F-BC0725A184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22">
              <a:extLst>
                <a:ext uri="{FF2B5EF4-FFF2-40B4-BE49-F238E27FC236}">
                  <a16:creationId xmlns:a16="http://schemas.microsoft.com/office/drawing/2014/main" id="{D6C69A34-2D70-3F9A-19BE-580A65CBF4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6B17B21C-7F18-A975-50A6-052E09F6A0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A5897983-D101-8707-DC36-9C201F29A3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25">
              <a:extLst>
                <a:ext uri="{FF2B5EF4-FFF2-40B4-BE49-F238E27FC236}">
                  <a16:creationId xmlns:a16="http://schemas.microsoft.com/office/drawing/2014/main" id="{E4C1140B-9352-5089-8F3A-37959FB198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32">
              <a:extLst>
                <a:ext uri="{FF2B5EF4-FFF2-40B4-BE49-F238E27FC236}">
                  <a16:creationId xmlns:a16="http://schemas.microsoft.com/office/drawing/2014/main" id="{87D28E33-C950-9C0C-D578-5BC2D19E72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34">
              <a:extLst>
                <a:ext uri="{FF2B5EF4-FFF2-40B4-BE49-F238E27FC236}">
                  <a16:creationId xmlns:a16="http://schemas.microsoft.com/office/drawing/2014/main" id="{69FEC053-AE3E-79B6-72FC-8D46C3F123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35">
              <a:extLst>
                <a:ext uri="{FF2B5EF4-FFF2-40B4-BE49-F238E27FC236}">
                  <a16:creationId xmlns:a16="http://schemas.microsoft.com/office/drawing/2014/main" id="{1E87BB08-542C-CAA9-9A0E-E56556E6FE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36">
              <a:extLst>
                <a:ext uri="{FF2B5EF4-FFF2-40B4-BE49-F238E27FC236}">
                  <a16:creationId xmlns:a16="http://schemas.microsoft.com/office/drawing/2014/main" id="{F8B81F2C-D4DA-3CDF-7830-3D9A0D72A2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Line 37">
              <a:extLst>
                <a:ext uri="{FF2B5EF4-FFF2-40B4-BE49-F238E27FC236}">
                  <a16:creationId xmlns:a16="http://schemas.microsoft.com/office/drawing/2014/main" id="{2665D139-1388-CD5D-540F-E6CAC830D7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Line 38">
              <a:extLst>
                <a:ext uri="{FF2B5EF4-FFF2-40B4-BE49-F238E27FC236}">
                  <a16:creationId xmlns:a16="http://schemas.microsoft.com/office/drawing/2014/main" id="{6691B8B0-8D2F-C452-B2AD-672340C690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39">
              <a:extLst>
                <a:ext uri="{FF2B5EF4-FFF2-40B4-BE49-F238E27FC236}">
                  <a16:creationId xmlns:a16="http://schemas.microsoft.com/office/drawing/2014/main" id="{7321128B-A6BB-02E6-713E-F6E46E107F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40">
              <a:extLst>
                <a:ext uri="{FF2B5EF4-FFF2-40B4-BE49-F238E27FC236}">
                  <a16:creationId xmlns:a16="http://schemas.microsoft.com/office/drawing/2014/main" id="{C5A7A5BF-7514-91A3-273C-37EF7214F9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41">
              <a:extLst>
                <a:ext uri="{FF2B5EF4-FFF2-40B4-BE49-F238E27FC236}">
                  <a16:creationId xmlns:a16="http://schemas.microsoft.com/office/drawing/2014/main" id="{7161EA66-EDA5-F54E-BADF-A9040595CC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42">
              <a:extLst>
                <a:ext uri="{FF2B5EF4-FFF2-40B4-BE49-F238E27FC236}">
                  <a16:creationId xmlns:a16="http://schemas.microsoft.com/office/drawing/2014/main" id="{A418537C-6B23-95AB-3F7A-73031A5CC3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43">
              <a:extLst>
                <a:ext uri="{FF2B5EF4-FFF2-40B4-BE49-F238E27FC236}">
                  <a16:creationId xmlns:a16="http://schemas.microsoft.com/office/drawing/2014/main" id="{E36A8040-A6EE-1A20-BD3E-3DE8DC888A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44">
              <a:extLst>
                <a:ext uri="{FF2B5EF4-FFF2-40B4-BE49-F238E27FC236}">
                  <a16:creationId xmlns:a16="http://schemas.microsoft.com/office/drawing/2014/main" id="{7D239E34-8A78-72B2-AF7B-DA77977EF7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45">
              <a:extLst>
                <a:ext uri="{FF2B5EF4-FFF2-40B4-BE49-F238E27FC236}">
                  <a16:creationId xmlns:a16="http://schemas.microsoft.com/office/drawing/2014/main" id="{147F1091-6D9D-54D3-9BFB-0E758B5D1D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46">
              <a:extLst>
                <a:ext uri="{FF2B5EF4-FFF2-40B4-BE49-F238E27FC236}">
                  <a16:creationId xmlns:a16="http://schemas.microsoft.com/office/drawing/2014/main" id="{0FA7F48A-CAE7-8451-7018-B41E6E3D5D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47">
              <a:extLst>
                <a:ext uri="{FF2B5EF4-FFF2-40B4-BE49-F238E27FC236}">
                  <a16:creationId xmlns:a16="http://schemas.microsoft.com/office/drawing/2014/main" id="{48F1939E-A08E-8070-0EF5-2BD3B578F9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48">
              <a:extLst>
                <a:ext uri="{FF2B5EF4-FFF2-40B4-BE49-F238E27FC236}">
                  <a16:creationId xmlns:a16="http://schemas.microsoft.com/office/drawing/2014/main" id="{24004986-85D8-C401-1940-B132252EF6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50">
              <a:extLst>
                <a:ext uri="{FF2B5EF4-FFF2-40B4-BE49-F238E27FC236}">
                  <a16:creationId xmlns:a16="http://schemas.microsoft.com/office/drawing/2014/main" id="{E6B3F292-BCE1-3695-750F-82FAA9A27B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51">
              <a:extLst>
                <a:ext uri="{FF2B5EF4-FFF2-40B4-BE49-F238E27FC236}">
                  <a16:creationId xmlns:a16="http://schemas.microsoft.com/office/drawing/2014/main" id="{71583143-5DE1-6A72-9B6E-225A689D98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30701" y="2986314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52">
              <a:extLst>
                <a:ext uri="{FF2B5EF4-FFF2-40B4-BE49-F238E27FC236}">
                  <a16:creationId xmlns:a16="http://schemas.microsoft.com/office/drawing/2014/main" id="{DA57BF64-E32C-416C-0B08-CB9622C9AB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Line 53">
              <a:extLst>
                <a:ext uri="{FF2B5EF4-FFF2-40B4-BE49-F238E27FC236}">
                  <a16:creationId xmlns:a16="http://schemas.microsoft.com/office/drawing/2014/main" id="{0BE891DB-A640-7D19-8C43-AC24C38508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Line 54">
              <a:extLst>
                <a:ext uri="{FF2B5EF4-FFF2-40B4-BE49-F238E27FC236}">
                  <a16:creationId xmlns:a16="http://schemas.microsoft.com/office/drawing/2014/main" id="{95226505-8578-DB6C-1084-BBE8A93CA5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55">
              <a:extLst>
                <a:ext uri="{FF2B5EF4-FFF2-40B4-BE49-F238E27FC236}">
                  <a16:creationId xmlns:a16="http://schemas.microsoft.com/office/drawing/2014/main" id="{50908C0A-54A9-EC96-FA1F-0BD00ED7C3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56">
              <a:extLst>
                <a:ext uri="{FF2B5EF4-FFF2-40B4-BE49-F238E27FC236}">
                  <a16:creationId xmlns:a16="http://schemas.microsoft.com/office/drawing/2014/main" id="{D05CC54C-AA0F-2B86-7D82-C5A6D37A79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Line 57">
              <a:extLst>
                <a:ext uri="{FF2B5EF4-FFF2-40B4-BE49-F238E27FC236}">
                  <a16:creationId xmlns:a16="http://schemas.microsoft.com/office/drawing/2014/main" id="{A189D51C-2F68-DA1A-C9B7-B746F81798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Line 58">
              <a:extLst>
                <a:ext uri="{FF2B5EF4-FFF2-40B4-BE49-F238E27FC236}">
                  <a16:creationId xmlns:a16="http://schemas.microsoft.com/office/drawing/2014/main" id="{22ABFC4E-0296-4025-A7A5-410CA7100F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Line 59">
              <a:extLst>
                <a:ext uri="{FF2B5EF4-FFF2-40B4-BE49-F238E27FC236}">
                  <a16:creationId xmlns:a16="http://schemas.microsoft.com/office/drawing/2014/main" id="{393E8996-73A0-0675-97CF-966F78102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Line 60">
              <a:extLst>
                <a:ext uri="{FF2B5EF4-FFF2-40B4-BE49-F238E27FC236}">
                  <a16:creationId xmlns:a16="http://schemas.microsoft.com/office/drawing/2014/main" id="{904A85E7-719D-4793-B2C9-8FE41FCC06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Line 61">
              <a:extLst>
                <a:ext uri="{FF2B5EF4-FFF2-40B4-BE49-F238E27FC236}">
                  <a16:creationId xmlns:a16="http://schemas.microsoft.com/office/drawing/2014/main" id="{E0B3D6B5-8634-340A-FC73-845FF382FA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Line 62">
              <a:extLst>
                <a:ext uri="{FF2B5EF4-FFF2-40B4-BE49-F238E27FC236}">
                  <a16:creationId xmlns:a16="http://schemas.microsoft.com/office/drawing/2014/main" id="{68E08D7F-4085-27E5-FD16-6B06182923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Line 63">
              <a:extLst>
                <a:ext uri="{FF2B5EF4-FFF2-40B4-BE49-F238E27FC236}">
                  <a16:creationId xmlns:a16="http://schemas.microsoft.com/office/drawing/2014/main" id="{17A6E0F1-8D33-A3A6-EDEC-4AAB6B1E00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Line 64">
              <a:extLst>
                <a:ext uri="{FF2B5EF4-FFF2-40B4-BE49-F238E27FC236}">
                  <a16:creationId xmlns:a16="http://schemas.microsoft.com/office/drawing/2014/main" id="{8B75BD08-1C63-8088-41A0-C3ED5B4FBC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Line 65">
              <a:extLst>
                <a:ext uri="{FF2B5EF4-FFF2-40B4-BE49-F238E27FC236}">
                  <a16:creationId xmlns:a16="http://schemas.microsoft.com/office/drawing/2014/main" id="{22C502F4-ABF4-20D5-41D1-2407B00723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Line 66">
              <a:extLst>
                <a:ext uri="{FF2B5EF4-FFF2-40B4-BE49-F238E27FC236}">
                  <a16:creationId xmlns:a16="http://schemas.microsoft.com/office/drawing/2014/main" id="{EEFB2200-2B91-F754-BEFC-4985020002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Line 67">
              <a:extLst>
                <a:ext uri="{FF2B5EF4-FFF2-40B4-BE49-F238E27FC236}">
                  <a16:creationId xmlns:a16="http://schemas.microsoft.com/office/drawing/2014/main" id="{980F77D3-BF19-D51D-713C-0625333087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Line 68">
              <a:extLst>
                <a:ext uri="{FF2B5EF4-FFF2-40B4-BE49-F238E27FC236}">
                  <a16:creationId xmlns:a16="http://schemas.microsoft.com/office/drawing/2014/main" id="{811A4A40-2F18-C740-F2C9-A6CEE9543F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Line 69">
              <a:extLst>
                <a:ext uri="{FF2B5EF4-FFF2-40B4-BE49-F238E27FC236}">
                  <a16:creationId xmlns:a16="http://schemas.microsoft.com/office/drawing/2014/main" id="{9FBFEC30-6140-1ECB-B00E-91FBF696E0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Line 70">
              <a:extLst>
                <a:ext uri="{FF2B5EF4-FFF2-40B4-BE49-F238E27FC236}">
                  <a16:creationId xmlns:a16="http://schemas.microsoft.com/office/drawing/2014/main" id="{19CEE5D1-3F22-6C3E-5752-869AD1513A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Line 71">
              <a:extLst>
                <a:ext uri="{FF2B5EF4-FFF2-40B4-BE49-F238E27FC236}">
                  <a16:creationId xmlns:a16="http://schemas.microsoft.com/office/drawing/2014/main" id="{82EAE97B-E813-364F-8C5B-8D982C376F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Line 72">
              <a:extLst>
                <a:ext uri="{FF2B5EF4-FFF2-40B4-BE49-F238E27FC236}">
                  <a16:creationId xmlns:a16="http://schemas.microsoft.com/office/drawing/2014/main" id="{3317B1DE-FFFD-3EC7-2E63-B4C0A34E4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Line 73">
              <a:extLst>
                <a:ext uri="{FF2B5EF4-FFF2-40B4-BE49-F238E27FC236}">
                  <a16:creationId xmlns:a16="http://schemas.microsoft.com/office/drawing/2014/main" id="{2780D26C-A3A6-696A-9F8E-8245CC3383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Line 74">
              <a:extLst>
                <a:ext uri="{FF2B5EF4-FFF2-40B4-BE49-F238E27FC236}">
                  <a16:creationId xmlns:a16="http://schemas.microsoft.com/office/drawing/2014/main" id="{23EF50AD-8BA0-463E-174A-858CBBB778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Line 75">
              <a:extLst>
                <a:ext uri="{FF2B5EF4-FFF2-40B4-BE49-F238E27FC236}">
                  <a16:creationId xmlns:a16="http://schemas.microsoft.com/office/drawing/2014/main" id="{13EA1D8A-7553-62FE-E78E-E309F4B479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Line 76">
              <a:extLst>
                <a:ext uri="{FF2B5EF4-FFF2-40B4-BE49-F238E27FC236}">
                  <a16:creationId xmlns:a16="http://schemas.microsoft.com/office/drawing/2014/main" id="{C25AFEA1-A0D9-AA1D-1FBC-AA34466F9D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Line 77">
              <a:extLst>
                <a:ext uri="{FF2B5EF4-FFF2-40B4-BE49-F238E27FC236}">
                  <a16:creationId xmlns:a16="http://schemas.microsoft.com/office/drawing/2014/main" id="{22355769-25A8-0A77-FD63-0B38028A33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78">
              <a:extLst>
                <a:ext uri="{FF2B5EF4-FFF2-40B4-BE49-F238E27FC236}">
                  <a16:creationId xmlns:a16="http://schemas.microsoft.com/office/drawing/2014/main" id="{0DD89477-27DF-3CBA-D332-27020E6002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79">
              <a:extLst>
                <a:ext uri="{FF2B5EF4-FFF2-40B4-BE49-F238E27FC236}">
                  <a16:creationId xmlns:a16="http://schemas.microsoft.com/office/drawing/2014/main" id="{CF6FE17B-413C-0C1B-2A7F-90F04B066E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FFC2ED0-20DA-FB60-AB0F-42E6CD25F72F}"/>
              </a:ext>
            </a:extLst>
          </p:cNvPr>
          <p:cNvCxnSpPr/>
          <p:nvPr/>
        </p:nvCxnSpPr>
        <p:spPr>
          <a:xfrm>
            <a:off x="7054378" y="5201631"/>
            <a:ext cx="10886" cy="42454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AFC2EF2-397B-EAB6-D367-7D331A474264}"/>
              </a:ext>
            </a:extLst>
          </p:cNvPr>
          <p:cNvCxnSpPr/>
          <p:nvPr/>
        </p:nvCxnSpPr>
        <p:spPr>
          <a:xfrm>
            <a:off x="5954921" y="5179859"/>
            <a:ext cx="10886" cy="42454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931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2B6F5-CB1A-D2DE-7B23-9748EB8A9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D35D-933B-ECF5-BBC8-8132B729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38C9E-CC2C-4CEB-62F7-9DAA61375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Using the same equipment as in the last problem, let's start with	x(0) = 0	v(0) = v</a:t>
            </a:r>
            <a:r>
              <a:rPr lang="en-US" baseline="-25000" dirty="0"/>
              <a:t>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that is, the mover mass is already moving when we start our experiment, and we start watching just as it passes the equilibrium point. Once again find the phase.</a:t>
            </a:r>
          </a:p>
        </p:txBody>
      </p:sp>
      <p:sp>
        <p:nvSpPr>
          <p:cNvPr id="4" name="Text Box 209">
            <a:extLst>
              <a:ext uri="{FF2B5EF4-FFF2-40B4-BE49-F238E27FC236}">
                <a16:creationId xmlns:a16="http://schemas.microsoft.com/office/drawing/2014/main" id="{715F1F97-6B5A-CF85-5C59-BCA306D30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8306" y="6176963"/>
            <a:ext cx="7761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x = 0</a:t>
            </a:r>
          </a:p>
        </p:txBody>
      </p:sp>
      <p:sp>
        <p:nvSpPr>
          <p:cNvPr id="5" name="Text Box 211">
            <a:extLst>
              <a:ext uri="{FF2B5EF4-FFF2-40B4-BE49-F238E27FC236}">
                <a16:creationId xmlns:a16="http://schemas.microsoft.com/office/drawing/2014/main" id="{A77A81C2-6AE7-7523-4278-9FEFBE922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7958" y="6178323"/>
            <a:ext cx="11203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 err="1"/>
              <a:t>x</a:t>
            </a:r>
            <a:r>
              <a:rPr lang="en-US" sz="2800" baseline="-25000" dirty="0" err="1"/>
              <a:t>max</a:t>
            </a:r>
            <a:endParaRPr lang="en-US" sz="2800" baseline="-25000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1B9AB890-A1AF-EE3C-8516-6C2FF782AE9D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4712853" y="4168319"/>
            <a:ext cx="3255962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494A34D8-E62B-75A3-5F02-56E906CDF921}"/>
              </a:ext>
            </a:extLst>
          </p:cNvPr>
          <p:cNvSpPr>
            <a:spLocks/>
          </p:cNvSpPr>
          <p:nvPr/>
        </p:nvSpPr>
        <p:spPr bwMode="auto">
          <a:xfrm>
            <a:off x="6066534" y="4996086"/>
            <a:ext cx="508000" cy="469900"/>
          </a:xfrm>
          <a:custGeom>
            <a:avLst/>
            <a:gdLst>
              <a:gd name="T0" fmla="*/ 50 w 320"/>
              <a:gd name="T1" fmla="*/ 0 h 296"/>
              <a:gd name="T2" fmla="*/ 44 w 320"/>
              <a:gd name="T3" fmla="*/ 0 h 296"/>
              <a:gd name="T4" fmla="*/ 39 w 320"/>
              <a:gd name="T5" fmla="*/ 1 h 296"/>
              <a:gd name="T6" fmla="*/ 30 w 320"/>
              <a:gd name="T7" fmla="*/ 3 h 296"/>
              <a:gd name="T8" fmla="*/ 22 w 320"/>
              <a:gd name="T9" fmla="*/ 9 h 296"/>
              <a:gd name="T10" fmla="*/ 15 w 320"/>
              <a:gd name="T11" fmla="*/ 14 h 296"/>
              <a:gd name="T12" fmla="*/ 9 w 320"/>
              <a:gd name="T13" fmla="*/ 22 h 296"/>
              <a:gd name="T14" fmla="*/ 4 w 320"/>
              <a:gd name="T15" fmla="*/ 29 h 296"/>
              <a:gd name="T16" fmla="*/ 2 w 320"/>
              <a:gd name="T17" fmla="*/ 39 h 296"/>
              <a:gd name="T18" fmla="*/ 0 w 320"/>
              <a:gd name="T19" fmla="*/ 44 h 296"/>
              <a:gd name="T20" fmla="*/ 0 w 320"/>
              <a:gd name="T21" fmla="*/ 50 h 296"/>
              <a:gd name="T22" fmla="*/ 0 w 320"/>
              <a:gd name="T23" fmla="*/ 248 h 296"/>
              <a:gd name="T24" fmla="*/ 0 w 320"/>
              <a:gd name="T25" fmla="*/ 252 h 296"/>
              <a:gd name="T26" fmla="*/ 2 w 320"/>
              <a:gd name="T27" fmla="*/ 257 h 296"/>
              <a:gd name="T28" fmla="*/ 4 w 320"/>
              <a:gd name="T29" fmla="*/ 267 h 296"/>
              <a:gd name="T30" fmla="*/ 9 w 320"/>
              <a:gd name="T31" fmla="*/ 276 h 296"/>
              <a:gd name="T32" fmla="*/ 15 w 320"/>
              <a:gd name="T33" fmla="*/ 283 h 296"/>
              <a:gd name="T34" fmla="*/ 22 w 320"/>
              <a:gd name="T35" fmla="*/ 289 h 296"/>
              <a:gd name="T36" fmla="*/ 30 w 320"/>
              <a:gd name="T37" fmla="*/ 293 h 296"/>
              <a:gd name="T38" fmla="*/ 39 w 320"/>
              <a:gd name="T39" fmla="*/ 296 h 296"/>
              <a:gd name="T40" fmla="*/ 44 w 320"/>
              <a:gd name="T41" fmla="*/ 296 h 296"/>
              <a:gd name="T42" fmla="*/ 50 w 320"/>
              <a:gd name="T43" fmla="*/ 296 h 296"/>
              <a:gd name="T44" fmla="*/ 272 w 320"/>
              <a:gd name="T45" fmla="*/ 296 h 296"/>
              <a:gd name="T46" fmla="*/ 276 w 320"/>
              <a:gd name="T47" fmla="*/ 296 h 296"/>
              <a:gd name="T48" fmla="*/ 281 w 320"/>
              <a:gd name="T49" fmla="*/ 296 h 296"/>
              <a:gd name="T50" fmla="*/ 291 w 320"/>
              <a:gd name="T51" fmla="*/ 293 h 296"/>
              <a:gd name="T52" fmla="*/ 298 w 320"/>
              <a:gd name="T53" fmla="*/ 289 h 296"/>
              <a:gd name="T54" fmla="*/ 305 w 320"/>
              <a:gd name="T55" fmla="*/ 283 h 296"/>
              <a:gd name="T56" fmla="*/ 313 w 320"/>
              <a:gd name="T57" fmla="*/ 276 h 296"/>
              <a:gd name="T58" fmla="*/ 317 w 320"/>
              <a:gd name="T59" fmla="*/ 267 h 296"/>
              <a:gd name="T60" fmla="*/ 318 w 320"/>
              <a:gd name="T61" fmla="*/ 257 h 296"/>
              <a:gd name="T62" fmla="*/ 320 w 320"/>
              <a:gd name="T63" fmla="*/ 252 h 296"/>
              <a:gd name="T64" fmla="*/ 320 w 320"/>
              <a:gd name="T65" fmla="*/ 248 h 296"/>
              <a:gd name="T66" fmla="*/ 320 w 320"/>
              <a:gd name="T67" fmla="*/ 50 h 296"/>
              <a:gd name="T68" fmla="*/ 320 w 320"/>
              <a:gd name="T69" fmla="*/ 44 h 296"/>
              <a:gd name="T70" fmla="*/ 318 w 320"/>
              <a:gd name="T71" fmla="*/ 39 h 296"/>
              <a:gd name="T72" fmla="*/ 317 w 320"/>
              <a:gd name="T73" fmla="*/ 29 h 296"/>
              <a:gd name="T74" fmla="*/ 313 w 320"/>
              <a:gd name="T75" fmla="*/ 22 h 296"/>
              <a:gd name="T76" fmla="*/ 305 w 320"/>
              <a:gd name="T77" fmla="*/ 14 h 296"/>
              <a:gd name="T78" fmla="*/ 298 w 320"/>
              <a:gd name="T79" fmla="*/ 9 h 296"/>
              <a:gd name="T80" fmla="*/ 291 w 320"/>
              <a:gd name="T81" fmla="*/ 3 h 296"/>
              <a:gd name="T82" fmla="*/ 281 w 320"/>
              <a:gd name="T83" fmla="*/ 1 h 296"/>
              <a:gd name="T84" fmla="*/ 276 w 320"/>
              <a:gd name="T85" fmla="*/ 0 h 296"/>
              <a:gd name="T86" fmla="*/ 272 w 320"/>
              <a:gd name="T87" fmla="*/ 0 h 296"/>
              <a:gd name="T88" fmla="*/ 50 w 320"/>
              <a:gd name="T89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20" h="296">
                <a:moveTo>
                  <a:pt x="50" y="0"/>
                </a:moveTo>
                <a:lnTo>
                  <a:pt x="44" y="0"/>
                </a:lnTo>
                <a:lnTo>
                  <a:pt x="39" y="1"/>
                </a:lnTo>
                <a:lnTo>
                  <a:pt x="30" y="3"/>
                </a:lnTo>
                <a:lnTo>
                  <a:pt x="22" y="9"/>
                </a:lnTo>
                <a:lnTo>
                  <a:pt x="15" y="14"/>
                </a:lnTo>
                <a:lnTo>
                  <a:pt x="9" y="22"/>
                </a:lnTo>
                <a:lnTo>
                  <a:pt x="4" y="29"/>
                </a:lnTo>
                <a:lnTo>
                  <a:pt x="2" y="39"/>
                </a:lnTo>
                <a:lnTo>
                  <a:pt x="0" y="44"/>
                </a:lnTo>
                <a:lnTo>
                  <a:pt x="0" y="50"/>
                </a:lnTo>
                <a:lnTo>
                  <a:pt x="0" y="248"/>
                </a:lnTo>
                <a:lnTo>
                  <a:pt x="0" y="252"/>
                </a:lnTo>
                <a:lnTo>
                  <a:pt x="2" y="257"/>
                </a:lnTo>
                <a:lnTo>
                  <a:pt x="4" y="267"/>
                </a:lnTo>
                <a:lnTo>
                  <a:pt x="9" y="276"/>
                </a:lnTo>
                <a:lnTo>
                  <a:pt x="15" y="283"/>
                </a:lnTo>
                <a:lnTo>
                  <a:pt x="22" y="289"/>
                </a:lnTo>
                <a:lnTo>
                  <a:pt x="30" y="293"/>
                </a:lnTo>
                <a:lnTo>
                  <a:pt x="39" y="296"/>
                </a:lnTo>
                <a:lnTo>
                  <a:pt x="44" y="296"/>
                </a:lnTo>
                <a:lnTo>
                  <a:pt x="50" y="296"/>
                </a:lnTo>
                <a:lnTo>
                  <a:pt x="272" y="296"/>
                </a:lnTo>
                <a:lnTo>
                  <a:pt x="276" y="296"/>
                </a:lnTo>
                <a:lnTo>
                  <a:pt x="281" y="296"/>
                </a:lnTo>
                <a:lnTo>
                  <a:pt x="291" y="293"/>
                </a:lnTo>
                <a:lnTo>
                  <a:pt x="298" y="289"/>
                </a:lnTo>
                <a:lnTo>
                  <a:pt x="305" y="283"/>
                </a:lnTo>
                <a:lnTo>
                  <a:pt x="313" y="276"/>
                </a:lnTo>
                <a:lnTo>
                  <a:pt x="317" y="267"/>
                </a:lnTo>
                <a:lnTo>
                  <a:pt x="318" y="257"/>
                </a:lnTo>
                <a:lnTo>
                  <a:pt x="320" y="252"/>
                </a:lnTo>
                <a:lnTo>
                  <a:pt x="320" y="248"/>
                </a:lnTo>
                <a:lnTo>
                  <a:pt x="320" y="50"/>
                </a:lnTo>
                <a:lnTo>
                  <a:pt x="320" y="44"/>
                </a:lnTo>
                <a:lnTo>
                  <a:pt x="318" y="39"/>
                </a:lnTo>
                <a:lnTo>
                  <a:pt x="317" y="29"/>
                </a:lnTo>
                <a:lnTo>
                  <a:pt x="313" y="22"/>
                </a:lnTo>
                <a:lnTo>
                  <a:pt x="305" y="14"/>
                </a:lnTo>
                <a:lnTo>
                  <a:pt x="298" y="9"/>
                </a:lnTo>
                <a:lnTo>
                  <a:pt x="291" y="3"/>
                </a:lnTo>
                <a:lnTo>
                  <a:pt x="281" y="1"/>
                </a:lnTo>
                <a:lnTo>
                  <a:pt x="276" y="0"/>
                </a:lnTo>
                <a:lnTo>
                  <a:pt x="272" y="0"/>
                </a:lnTo>
                <a:lnTo>
                  <a:pt x="50" y="0"/>
                </a:lnTo>
                <a:close/>
              </a:path>
            </a:pathLst>
          </a:custGeom>
          <a:solidFill>
            <a:srgbClr val="00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FB39007-34B7-1BF4-373D-752F3DC31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898" y="5035774"/>
            <a:ext cx="30777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700" b="1" dirty="0">
                <a:solidFill>
                  <a:srgbClr val="FFFFFF"/>
                </a:solidFill>
              </a:rPr>
              <a:t>m</a:t>
            </a:r>
            <a:endParaRPr lang="en-US" altLang="en-US" dirty="0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9DB859DC-F55A-49D3-01FB-46EB321601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5111" y="4405765"/>
            <a:ext cx="0" cy="1165225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0C2B3AFB-2951-1B9C-759C-F4867C8196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0186" y="5570989"/>
            <a:ext cx="3109912" cy="0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Line 30">
            <a:extLst>
              <a:ext uri="{FF2B5EF4-FFF2-40B4-BE49-F238E27FC236}">
                <a16:creationId xmlns:a16="http://schemas.microsoft.com/office/drawing/2014/main" id="{9F7CA9DC-0D6F-FA4B-0B35-93A7CF645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5111" y="4405765"/>
            <a:ext cx="0" cy="1165225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Line 31">
            <a:extLst>
              <a:ext uri="{FF2B5EF4-FFF2-40B4-BE49-F238E27FC236}">
                <a16:creationId xmlns:a16="http://schemas.microsoft.com/office/drawing/2014/main" id="{258FF067-54DF-C191-D274-304557CD91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0186" y="5570989"/>
            <a:ext cx="3109912" cy="0"/>
          </a:xfrm>
          <a:prstGeom prst="line">
            <a:avLst/>
          </a:prstGeom>
          <a:noFill/>
          <a:ln w="1111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E6DE67E-78A0-4A31-3A48-1F8520DA62FB}"/>
              </a:ext>
            </a:extLst>
          </p:cNvPr>
          <p:cNvGrpSpPr/>
          <p:nvPr/>
        </p:nvGrpSpPr>
        <p:grpSpPr>
          <a:xfrm>
            <a:off x="4882261" y="5050516"/>
            <a:ext cx="1137104" cy="301399"/>
            <a:chOff x="2955925" y="2986314"/>
            <a:chExt cx="1471613" cy="301399"/>
          </a:xfrm>
        </p:grpSpPr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590CD666-6E56-B269-F616-42D9B390ED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01F54AF2-D8EC-621C-2836-F1458389E5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94EF2DA7-10EA-D7C0-9FC3-987AC45972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FCD9ACB5-2C42-0443-4375-D817D63506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1FCB0B37-FA8A-C1C6-1DA6-3F0BAC5EB7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7C833D4D-99F5-0B2A-BABE-6A09595147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8895DA9F-27CC-5484-C624-E955D3B422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91F7B9F1-B2D6-5484-83B6-DBE89A2D77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2083C455-6DCC-7079-C3B7-DD0B143C17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0AEA403E-9D57-FF33-5350-EB6D6CC7FE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4FA74402-C4EE-EDFE-3F06-D79D4289A2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4BB0E4A2-CA0B-7677-45AD-DED43C5292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584BFAB1-A7B5-48E4-824A-7FB529903A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2B1DA4F1-B683-C248-5E6F-63DF044720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97DC7329-192B-C930-D8B2-16B9CF0C2C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32">
              <a:extLst>
                <a:ext uri="{FF2B5EF4-FFF2-40B4-BE49-F238E27FC236}">
                  <a16:creationId xmlns:a16="http://schemas.microsoft.com/office/drawing/2014/main" id="{25DF78DC-08CD-0448-3612-66A6C171A8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34">
              <a:extLst>
                <a:ext uri="{FF2B5EF4-FFF2-40B4-BE49-F238E27FC236}">
                  <a16:creationId xmlns:a16="http://schemas.microsoft.com/office/drawing/2014/main" id="{723066A0-7D2A-737B-43C2-3E5FF980DC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35">
              <a:extLst>
                <a:ext uri="{FF2B5EF4-FFF2-40B4-BE49-F238E27FC236}">
                  <a16:creationId xmlns:a16="http://schemas.microsoft.com/office/drawing/2014/main" id="{C8C82FEE-709E-5158-17DD-FD63D6632A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36">
              <a:extLst>
                <a:ext uri="{FF2B5EF4-FFF2-40B4-BE49-F238E27FC236}">
                  <a16:creationId xmlns:a16="http://schemas.microsoft.com/office/drawing/2014/main" id="{47734429-A6FD-BEA7-B0C4-2A0EB3A0A7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37">
              <a:extLst>
                <a:ext uri="{FF2B5EF4-FFF2-40B4-BE49-F238E27FC236}">
                  <a16:creationId xmlns:a16="http://schemas.microsoft.com/office/drawing/2014/main" id="{A83AADB3-823C-E7C5-4909-F81A072303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38">
              <a:extLst>
                <a:ext uri="{FF2B5EF4-FFF2-40B4-BE49-F238E27FC236}">
                  <a16:creationId xmlns:a16="http://schemas.microsoft.com/office/drawing/2014/main" id="{12A6FAF3-5178-B33A-91B0-20EFCC9041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Line 39">
              <a:extLst>
                <a:ext uri="{FF2B5EF4-FFF2-40B4-BE49-F238E27FC236}">
                  <a16:creationId xmlns:a16="http://schemas.microsoft.com/office/drawing/2014/main" id="{A09E62F4-4B74-6E49-14B4-E3D3FCD038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Line 40">
              <a:extLst>
                <a:ext uri="{FF2B5EF4-FFF2-40B4-BE49-F238E27FC236}">
                  <a16:creationId xmlns:a16="http://schemas.microsoft.com/office/drawing/2014/main" id="{58E5B35B-7607-4FCB-D465-2081A6C9C1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41">
              <a:extLst>
                <a:ext uri="{FF2B5EF4-FFF2-40B4-BE49-F238E27FC236}">
                  <a16:creationId xmlns:a16="http://schemas.microsoft.com/office/drawing/2014/main" id="{115017BE-A0F9-7EF2-352E-ACDD79786F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42">
              <a:extLst>
                <a:ext uri="{FF2B5EF4-FFF2-40B4-BE49-F238E27FC236}">
                  <a16:creationId xmlns:a16="http://schemas.microsoft.com/office/drawing/2014/main" id="{038504A4-C376-4CE3-8364-AEC2061F21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43">
              <a:extLst>
                <a:ext uri="{FF2B5EF4-FFF2-40B4-BE49-F238E27FC236}">
                  <a16:creationId xmlns:a16="http://schemas.microsoft.com/office/drawing/2014/main" id="{B02AD646-293D-6189-F610-6DC3247C32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44">
              <a:extLst>
                <a:ext uri="{FF2B5EF4-FFF2-40B4-BE49-F238E27FC236}">
                  <a16:creationId xmlns:a16="http://schemas.microsoft.com/office/drawing/2014/main" id="{F46EAD77-5805-1EAA-2DEC-D69C085D65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45">
              <a:extLst>
                <a:ext uri="{FF2B5EF4-FFF2-40B4-BE49-F238E27FC236}">
                  <a16:creationId xmlns:a16="http://schemas.microsoft.com/office/drawing/2014/main" id="{48CC4332-5DFF-458A-C55F-36A53A0D92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46">
              <a:extLst>
                <a:ext uri="{FF2B5EF4-FFF2-40B4-BE49-F238E27FC236}">
                  <a16:creationId xmlns:a16="http://schemas.microsoft.com/office/drawing/2014/main" id="{C4796066-AA61-1772-D2E4-29E4F2FC80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47">
              <a:extLst>
                <a:ext uri="{FF2B5EF4-FFF2-40B4-BE49-F238E27FC236}">
                  <a16:creationId xmlns:a16="http://schemas.microsoft.com/office/drawing/2014/main" id="{D728DFF6-B601-1EE8-1D77-91C7E5472E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48">
              <a:extLst>
                <a:ext uri="{FF2B5EF4-FFF2-40B4-BE49-F238E27FC236}">
                  <a16:creationId xmlns:a16="http://schemas.microsoft.com/office/drawing/2014/main" id="{F195B775-1E78-3476-C568-D874C94628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50">
              <a:extLst>
                <a:ext uri="{FF2B5EF4-FFF2-40B4-BE49-F238E27FC236}">
                  <a16:creationId xmlns:a16="http://schemas.microsoft.com/office/drawing/2014/main" id="{6B34F415-8B1E-223E-2E68-F61BB34512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862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51">
              <a:extLst>
                <a:ext uri="{FF2B5EF4-FFF2-40B4-BE49-F238E27FC236}">
                  <a16:creationId xmlns:a16="http://schemas.microsoft.com/office/drawing/2014/main" id="{BE0FAE18-FEC2-9F68-9ED9-279DC39B1E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30701" y="2986314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52">
              <a:extLst>
                <a:ext uri="{FF2B5EF4-FFF2-40B4-BE49-F238E27FC236}">
                  <a16:creationId xmlns:a16="http://schemas.microsoft.com/office/drawing/2014/main" id="{04AF62D5-F860-FC0E-45B8-BC3847049A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53">
              <a:extLst>
                <a:ext uri="{FF2B5EF4-FFF2-40B4-BE49-F238E27FC236}">
                  <a16:creationId xmlns:a16="http://schemas.microsoft.com/office/drawing/2014/main" id="{86095109-F473-0EA5-3564-F99C3422BE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54">
              <a:extLst>
                <a:ext uri="{FF2B5EF4-FFF2-40B4-BE49-F238E27FC236}">
                  <a16:creationId xmlns:a16="http://schemas.microsoft.com/office/drawing/2014/main" id="{C4E54E93-7D84-7447-3688-FBE2E2941A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49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Line 55">
              <a:extLst>
                <a:ext uri="{FF2B5EF4-FFF2-40B4-BE49-F238E27FC236}">
                  <a16:creationId xmlns:a16="http://schemas.microsoft.com/office/drawing/2014/main" id="{9174438B-EAB7-0724-C292-8B6E28396B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3067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Line 56">
              <a:extLst>
                <a:ext uri="{FF2B5EF4-FFF2-40B4-BE49-F238E27FC236}">
                  <a16:creationId xmlns:a16="http://schemas.microsoft.com/office/drawing/2014/main" id="{958E1816-919B-C30E-22EA-FD8144B0A6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57">
              <a:extLst>
                <a:ext uri="{FF2B5EF4-FFF2-40B4-BE49-F238E27FC236}">
                  <a16:creationId xmlns:a16="http://schemas.microsoft.com/office/drawing/2014/main" id="{617263F2-2A2D-1D7E-7A1A-C363D26C9F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58">
              <a:extLst>
                <a:ext uri="{FF2B5EF4-FFF2-40B4-BE49-F238E27FC236}">
                  <a16:creationId xmlns:a16="http://schemas.microsoft.com/office/drawing/2014/main" id="{C2B9E0BF-542A-CD35-8E57-52FE33DA9C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5563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Line 59">
              <a:extLst>
                <a:ext uri="{FF2B5EF4-FFF2-40B4-BE49-F238E27FC236}">
                  <a16:creationId xmlns:a16="http://schemas.microsoft.com/office/drawing/2014/main" id="{70CD1CFF-8307-5C2F-B86D-A68286891D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76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Line 60">
              <a:extLst>
                <a:ext uri="{FF2B5EF4-FFF2-40B4-BE49-F238E27FC236}">
                  <a16:creationId xmlns:a16="http://schemas.microsoft.com/office/drawing/2014/main" id="{411178A7-5BE2-8DF7-7E9B-2468C22FE3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Line 61">
              <a:extLst>
                <a:ext uri="{FF2B5EF4-FFF2-40B4-BE49-F238E27FC236}">
                  <a16:creationId xmlns:a16="http://schemas.microsoft.com/office/drawing/2014/main" id="{41F06503-4B40-1EC7-4852-FD1C4980F1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Line 62">
              <a:extLst>
                <a:ext uri="{FF2B5EF4-FFF2-40B4-BE49-F238E27FC236}">
                  <a16:creationId xmlns:a16="http://schemas.microsoft.com/office/drawing/2014/main" id="{80783B02-D320-8079-F4F1-A9B5565B04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141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Line 63">
              <a:extLst>
                <a:ext uri="{FF2B5EF4-FFF2-40B4-BE49-F238E27FC236}">
                  <a16:creationId xmlns:a16="http://schemas.microsoft.com/office/drawing/2014/main" id="{BDD73A6E-4E4D-9546-CEB3-91E69FCB49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687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Line 64">
              <a:extLst>
                <a:ext uri="{FF2B5EF4-FFF2-40B4-BE49-F238E27FC236}">
                  <a16:creationId xmlns:a16="http://schemas.microsoft.com/office/drawing/2014/main" id="{20685364-CE95-83AD-D2A5-142A3A1263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Line 65">
              <a:extLst>
                <a:ext uri="{FF2B5EF4-FFF2-40B4-BE49-F238E27FC236}">
                  <a16:creationId xmlns:a16="http://schemas.microsoft.com/office/drawing/2014/main" id="{4FB81AC1-267F-1924-C3C6-AABEF88A07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Line 66">
              <a:extLst>
                <a:ext uri="{FF2B5EF4-FFF2-40B4-BE49-F238E27FC236}">
                  <a16:creationId xmlns:a16="http://schemas.microsoft.com/office/drawing/2014/main" id="{5B1747C0-8E47-1A4F-ABE4-80D852BA8A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Line 67">
              <a:extLst>
                <a:ext uri="{FF2B5EF4-FFF2-40B4-BE49-F238E27FC236}">
                  <a16:creationId xmlns:a16="http://schemas.microsoft.com/office/drawing/2014/main" id="{EEC25E05-DD9E-6CCE-2217-1EB20AA2B5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9568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Line 68">
              <a:extLst>
                <a:ext uri="{FF2B5EF4-FFF2-40B4-BE49-F238E27FC236}">
                  <a16:creationId xmlns:a16="http://schemas.microsoft.com/office/drawing/2014/main" id="{BA8A4E5D-C736-9ABD-B848-1A61D10BCF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Line 69">
              <a:extLst>
                <a:ext uri="{FF2B5EF4-FFF2-40B4-BE49-F238E27FC236}">
                  <a16:creationId xmlns:a16="http://schemas.microsoft.com/office/drawing/2014/main" id="{E7A05455-21DB-C6E3-B4F7-0BA9B7B264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Line 70">
              <a:extLst>
                <a:ext uri="{FF2B5EF4-FFF2-40B4-BE49-F238E27FC236}">
                  <a16:creationId xmlns:a16="http://schemas.microsoft.com/office/drawing/2014/main" id="{CC8347FE-226A-9DE2-4F9B-D58942514D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94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Line 71">
              <a:extLst>
                <a:ext uri="{FF2B5EF4-FFF2-40B4-BE49-F238E27FC236}">
                  <a16:creationId xmlns:a16="http://schemas.microsoft.com/office/drawing/2014/main" id="{AC347912-1853-BA1E-7B29-CAFDD7E2BF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8363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Line 72">
              <a:extLst>
                <a:ext uri="{FF2B5EF4-FFF2-40B4-BE49-F238E27FC236}">
                  <a16:creationId xmlns:a16="http://schemas.microsoft.com/office/drawing/2014/main" id="{F56B83D0-6409-2DB2-000E-57049889A4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Line 73">
              <a:extLst>
                <a:ext uri="{FF2B5EF4-FFF2-40B4-BE49-F238E27FC236}">
                  <a16:creationId xmlns:a16="http://schemas.microsoft.com/office/drawing/2014/main" id="{E6618C49-4D13-EFF8-F893-C4B86612A2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Line 74">
              <a:extLst>
                <a:ext uri="{FF2B5EF4-FFF2-40B4-BE49-F238E27FC236}">
                  <a16:creationId xmlns:a16="http://schemas.microsoft.com/office/drawing/2014/main" id="{9FC39DB1-FC0A-916A-171C-1BC6C019F2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0075" y="2997200"/>
              <a:ext cx="100012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Line 75">
              <a:extLst>
                <a:ext uri="{FF2B5EF4-FFF2-40B4-BE49-F238E27FC236}">
                  <a16:creationId xmlns:a16="http://schemas.microsoft.com/office/drawing/2014/main" id="{B0E698AC-40E7-385D-A740-F8189782DB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32150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Line 76">
              <a:extLst>
                <a:ext uri="{FF2B5EF4-FFF2-40B4-BE49-F238E27FC236}">
                  <a16:creationId xmlns:a16="http://schemas.microsoft.com/office/drawing/2014/main" id="{8AD8324A-00A2-5285-E7C4-96FA54AA55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Line 77">
              <a:extLst>
                <a:ext uri="{FF2B5EF4-FFF2-40B4-BE49-F238E27FC236}">
                  <a16:creationId xmlns:a16="http://schemas.microsoft.com/office/drawing/2014/main" id="{CC2D3A22-09F8-5929-5A0B-DB7470076F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Line 78">
              <a:extLst>
                <a:ext uri="{FF2B5EF4-FFF2-40B4-BE49-F238E27FC236}">
                  <a16:creationId xmlns:a16="http://schemas.microsoft.com/office/drawing/2014/main" id="{8F545EFA-0527-A544-7E4B-A3B8E560DC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5925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Line 79">
              <a:extLst>
                <a:ext uri="{FF2B5EF4-FFF2-40B4-BE49-F238E27FC236}">
                  <a16:creationId xmlns:a16="http://schemas.microsoft.com/office/drawing/2014/main" id="{456EF5FC-23F1-AE14-DCE2-7F2A50A754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43238" y="2997200"/>
              <a:ext cx="96837" cy="290513"/>
            </a:xfrm>
            <a:prstGeom prst="line">
              <a:avLst/>
            </a:prstGeom>
            <a:noFill/>
            <a:ln w="73025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0809BE-E155-117C-ED12-BB5972E7E5C4}"/>
              </a:ext>
            </a:extLst>
          </p:cNvPr>
          <p:cNvCxnSpPr/>
          <p:nvPr/>
        </p:nvCxnSpPr>
        <p:spPr>
          <a:xfrm>
            <a:off x="7401850" y="5656488"/>
            <a:ext cx="10886" cy="42454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546B58D-7353-7F23-B59E-3EF20977B04B}"/>
              </a:ext>
            </a:extLst>
          </p:cNvPr>
          <p:cNvCxnSpPr/>
          <p:nvPr/>
        </p:nvCxnSpPr>
        <p:spPr>
          <a:xfrm>
            <a:off x="6302393" y="5634716"/>
            <a:ext cx="10886" cy="42454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7307B28-8AA7-1242-7FC0-7B6CC00D72F0}"/>
              </a:ext>
            </a:extLst>
          </p:cNvPr>
          <p:cNvCxnSpPr/>
          <p:nvPr/>
        </p:nvCxnSpPr>
        <p:spPr>
          <a:xfrm>
            <a:off x="5921395" y="4622344"/>
            <a:ext cx="859971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AC2AC9FF-EC63-FC06-63AE-1AD5B9C1725F}"/>
              </a:ext>
            </a:extLst>
          </p:cNvPr>
          <p:cNvSpPr txBox="1"/>
          <p:nvPr/>
        </p:nvSpPr>
        <p:spPr>
          <a:xfrm>
            <a:off x="6084679" y="3958316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v</a:t>
            </a:r>
            <a:r>
              <a:rPr lang="en-US" sz="2400" baseline="-25000" dirty="0">
                <a:solidFill>
                  <a:srgbClr val="FF0000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0835177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38600" y="1117601"/>
            <a:ext cx="6578600" cy="4525963"/>
          </a:xfrm>
        </p:spPr>
        <p:txBody>
          <a:bodyPr>
            <a:normAutofit lnSpcReduction="10000"/>
          </a:bodyPr>
          <a:lstStyle/>
          <a:p>
            <a:r>
              <a:rPr lang="en-US" sz="2000"/>
              <a:t>We start the mass at equilibrium moving to the right</a:t>
            </a:r>
          </a:p>
          <a:p>
            <a:endParaRPr lang="en-US" sz="2000"/>
          </a:p>
          <a:p>
            <a:endParaRPr lang="en-US" sz="2000"/>
          </a:p>
          <a:p>
            <a:r>
              <a:rPr lang="en-US" sz="2000"/>
              <a:t>The first equation gets us close to knowing </a:t>
            </a:r>
            <a:r>
              <a:rPr lang="en-US" sz="2000">
                <a:sym typeface="Symbol" pitchFamily="18" charset="2"/>
              </a:rPr>
              <a:t></a:t>
            </a:r>
          </a:p>
          <a:p>
            <a:endParaRPr lang="en-US" sz="2000">
              <a:sym typeface="Symbol" pitchFamily="18" charset="2"/>
            </a:endParaRPr>
          </a:p>
          <a:p>
            <a:endParaRPr lang="en-US" sz="2000">
              <a:sym typeface="Symbol" pitchFamily="18" charset="2"/>
            </a:endParaRPr>
          </a:p>
          <a:p>
            <a:r>
              <a:rPr lang="en-US" sz="2000">
                <a:sym typeface="Symbol" pitchFamily="18" charset="2"/>
              </a:rPr>
              <a:t>Use the velocity equation</a:t>
            </a:r>
          </a:p>
          <a:p>
            <a:endParaRPr lang="en-US" sz="2000">
              <a:sym typeface="Symbol" pitchFamily="18" charset="2"/>
            </a:endParaRPr>
          </a:p>
          <a:p>
            <a:endParaRPr lang="en-US" sz="2000">
              <a:sym typeface="Symbol" pitchFamily="18" charset="2"/>
            </a:endParaRPr>
          </a:p>
          <a:p>
            <a:r>
              <a:rPr lang="en-US" sz="2000">
                <a:sym typeface="Symbol" pitchFamily="18" charset="2"/>
              </a:rPr>
              <a:t>We require amplitudes to be positive</a:t>
            </a:r>
          </a:p>
          <a:p>
            <a:endParaRPr lang="en-US" sz="2000">
              <a:sym typeface="Symbol" pitchFamily="18" charset="2"/>
            </a:endParaRPr>
          </a:p>
          <a:p>
            <a:r>
              <a:rPr lang="en-US" sz="2000">
                <a:sym typeface="Symbol" pitchFamily="18" charset="2"/>
              </a:rPr>
              <a:t>Solution:</a:t>
            </a:r>
          </a:p>
        </p:txBody>
      </p:sp>
      <p:sp>
        <p:nvSpPr>
          <p:cNvPr id="19047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90469" name="Object 5"/>
          <p:cNvGraphicFramePr>
            <a:graphicFrameLocks noChangeAspect="1"/>
          </p:cNvGraphicFramePr>
          <p:nvPr/>
        </p:nvGraphicFramePr>
        <p:xfrm>
          <a:off x="1987550" y="2654300"/>
          <a:ext cx="698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5760" imgH="457200" progId="Equation.3">
                  <p:embed/>
                </p:oleObj>
              </mc:Choice>
              <mc:Fallback>
                <p:oleObj name="Equation" r:id="rId2" imgW="545760" imgH="457200" progId="Equation.3">
                  <p:embed/>
                  <p:pic>
                    <p:nvPicPr>
                      <p:cNvPr id="1904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2654300"/>
                        <a:ext cx="69850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72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90471" name="Object 7"/>
          <p:cNvGraphicFramePr>
            <a:graphicFrameLocks noChangeAspect="1"/>
          </p:cNvGraphicFramePr>
          <p:nvPr/>
        </p:nvGraphicFramePr>
        <p:xfrm>
          <a:off x="6018213" y="1579564"/>
          <a:ext cx="2036762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25400" imgH="457200" progId="Equation.3">
                  <p:embed/>
                </p:oleObj>
              </mc:Choice>
              <mc:Fallback>
                <p:oleObj name="Equation" r:id="rId4" imgW="1625400" imgH="457200" progId="Equation.3">
                  <p:embed/>
                  <p:pic>
                    <p:nvPicPr>
                      <p:cNvPr id="1904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13" y="1579564"/>
                        <a:ext cx="2036762" cy="573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74" name="Rectangle 10"/>
          <p:cNvSpPr>
            <a:spLocks noChangeArrowheads="1"/>
          </p:cNvSpPr>
          <p:nvPr/>
        </p:nvSpPr>
        <p:spPr bwMode="auto">
          <a:xfrm>
            <a:off x="1524001" y="30633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90473" name="Object 9"/>
          <p:cNvGraphicFramePr>
            <a:graphicFrameLocks noChangeAspect="1"/>
          </p:cNvGraphicFramePr>
          <p:nvPr/>
        </p:nvGraphicFramePr>
        <p:xfrm>
          <a:off x="5235575" y="2717800"/>
          <a:ext cx="14747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28600" progId="Equation.3">
                  <p:embed/>
                </p:oleObj>
              </mc:Choice>
              <mc:Fallback>
                <p:oleObj name="Equation" r:id="rId6" imgW="914400" imgH="228600" progId="Equation.3">
                  <p:embed/>
                  <p:pic>
                    <p:nvPicPr>
                      <p:cNvPr id="1904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5575" y="2717800"/>
                        <a:ext cx="1474788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76" name="AutoShape 12"/>
          <p:cNvSpPr>
            <a:spLocks noChangeArrowheads="1"/>
          </p:cNvSpPr>
          <p:nvPr/>
        </p:nvSpPr>
        <p:spPr bwMode="auto">
          <a:xfrm>
            <a:off x="6883400" y="2768600"/>
            <a:ext cx="228600" cy="228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90478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90477" name="Object 13"/>
          <p:cNvGraphicFramePr>
            <a:graphicFrameLocks noChangeAspect="1"/>
          </p:cNvGraphicFramePr>
          <p:nvPr/>
        </p:nvGraphicFramePr>
        <p:xfrm>
          <a:off x="7307263" y="2608263"/>
          <a:ext cx="71755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960" imgH="393480" progId="Equation.3">
                  <p:embed/>
                </p:oleObj>
              </mc:Choice>
              <mc:Fallback>
                <p:oleObj name="Equation" r:id="rId8" imgW="507960" imgH="393480" progId="Equation.3">
                  <p:embed/>
                  <p:pic>
                    <p:nvPicPr>
                      <p:cNvPr id="19047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7263" y="2608263"/>
                        <a:ext cx="717550" cy="55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9" name="Object 15"/>
          <p:cNvGraphicFramePr>
            <a:graphicFrameLocks noChangeAspect="1"/>
          </p:cNvGraphicFramePr>
          <p:nvPr/>
        </p:nvGraphicFramePr>
        <p:xfrm>
          <a:off x="7789864" y="3181351"/>
          <a:ext cx="1836737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31560" imgH="660240" progId="Equation.3">
                  <p:embed/>
                </p:oleObj>
              </mc:Choice>
              <mc:Fallback>
                <p:oleObj name="Equation" r:id="rId10" imgW="1231560" imgH="660240" progId="Equation.3">
                  <p:embed/>
                  <p:pic>
                    <p:nvPicPr>
                      <p:cNvPr id="19047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9864" y="3181351"/>
                        <a:ext cx="1836737" cy="989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82" name="Rectangle 18"/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90481" name="Object 17"/>
          <p:cNvGraphicFramePr>
            <a:graphicFrameLocks noChangeAspect="1"/>
          </p:cNvGraphicFramePr>
          <p:nvPr/>
        </p:nvGraphicFramePr>
        <p:xfrm>
          <a:off x="7513638" y="4703764"/>
          <a:ext cx="8128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7960" imgH="393480" progId="Equation.3">
                  <p:embed/>
                </p:oleObj>
              </mc:Choice>
              <mc:Fallback>
                <p:oleObj name="Equation" r:id="rId12" imgW="507960" imgH="393480" progId="Equation.3">
                  <p:embed/>
                  <p:pic>
                    <p:nvPicPr>
                      <p:cNvPr id="19048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3638" y="4703764"/>
                        <a:ext cx="812800" cy="631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84" name="Rectangle 20"/>
          <p:cNvSpPr>
            <a:spLocks noChangeArrowheads="1"/>
          </p:cNvSpPr>
          <p:nvPr/>
        </p:nvSpPr>
        <p:spPr bwMode="auto">
          <a:xfrm>
            <a:off x="1524001" y="30490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90483" name="Object 19"/>
          <p:cNvGraphicFramePr>
            <a:graphicFrameLocks noChangeAspect="1"/>
          </p:cNvGraphicFramePr>
          <p:nvPr/>
        </p:nvGraphicFramePr>
        <p:xfrm>
          <a:off x="5994400" y="4745039"/>
          <a:ext cx="7620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83920" imgH="393480" progId="Equation.3">
                  <p:embed/>
                </p:oleObj>
              </mc:Choice>
              <mc:Fallback>
                <p:oleObj name="Equation" r:id="rId14" imgW="583920" imgH="393480" progId="Equation.3">
                  <p:embed/>
                  <p:pic>
                    <p:nvPicPr>
                      <p:cNvPr id="19048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4745039"/>
                        <a:ext cx="762000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85" name="Object 21"/>
          <p:cNvGraphicFramePr>
            <a:graphicFrameLocks noChangeAspect="1"/>
          </p:cNvGraphicFramePr>
          <p:nvPr/>
        </p:nvGraphicFramePr>
        <p:xfrm>
          <a:off x="5105401" y="5664201"/>
          <a:ext cx="17049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33440" imgH="431640" progId="Equation.3">
                  <p:embed/>
                </p:oleObj>
              </mc:Choice>
              <mc:Fallback>
                <p:oleObj name="Equation" r:id="rId16" imgW="1333440" imgH="431640" progId="Equation.3">
                  <p:embed/>
                  <p:pic>
                    <p:nvPicPr>
                      <p:cNvPr id="19048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1" y="5664201"/>
                        <a:ext cx="1704975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87" name="Object 23"/>
          <p:cNvGraphicFramePr>
            <a:graphicFrameLocks noChangeAspect="1"/>
          </p:cNvGraphicFramePr>
          <p:nvPr/>
        </p:nvGraphicFramePr>
        <p:xfrm>
          <a:off x="7378700" y="5676901"/>
          <a:ext cx="1703388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82680" imgH="431640" progId="Equation.3">
                  <p:embed/>
                </p:oleObj>
              </mc:Choice>
              <mc:Fallback>
                <p:oleObj name="Equation" r:id="rId18" imgW="1282680" imgH="431640" progId="Equation.3">
                  <p:embed/>
                  <p:pic>
                    <p:nvPicPr>
                      <p:cNvPr id="19048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8700" y="5676901"/>
                        <a:ext cx="1703388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1817689" y="1276350"/>
            <a:ext cx="1798637" cy="1162050"/>
            <a:chOff x="1029" y="1941"/>
            <a:chExt cx="1133" cy="732"/>
          </a:xfrm>
        </p:grpSpPr>
        <p:sp>
          <p:nvSpPr>
            <p:cNvPr id="190489" name="AutoShape 25"/>
            <p:cNvSpPr>
              <a:spLocks noChangeArrowheads="1"/>
            </p:cNvSpPr>
            <p:nvPr/>
          </p:nvSpPr>
          <p:spPr bwMode="auto">
            <a:xfrm>
              <a:off x="1546" y="2220"/>
              <a:ext cx="166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90490" name="Text Box 26"/>
            <p:cNvSpPr txBox="1">
              <a:spLocks noChangeArrowheads="1"/>
            </p:cNvSpPr>
            <p:nvPr/>
          </p:nvSpPr>
          <p:spPr bwMode="auto">
            <a:xfrm>
              <a:off x="1532" y="1941"/>
              <a:ext cx="32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190491" name="Line 27"/>
            <p:cNvSpPr>
              <a:spLocks noChangeShapeType="1"/>
            </p:cNvSpPr>
            <p:nvPr/>
          </p:nvSpPr>
          <p:spPr bwMode="auto">
            <a:xfrm>
              <a:off x="1041" y="2008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0492" name="Line 28"/>
            <p:cNvSpPr>
              <a:spLocks noChangeShapeType="1"/>
            </p:cNvSpPr>
            <p:nvPr/>
          </p:nvSpPr>
          <p:spPr bwMode="auto">
            <a:xfrm rot="5400000" flipV="1">
              <a:off x="1537" y="1877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29"/>
            <p:cNvGrpSpPr>
              <a:grpSpLocks/>
            </p:cNvGrpSpPr>
            <p:nvPr/>
          </p:nvGrpSpPr>
          <p:grpSpPr bwMode="auto">
            <a:xfrm>
              <a:off x="1059" y="2220"/>
              <a:ext cx="481" cy="94"/>
              <a:chOff x="2248" y="1248"/>
              <a:chExt cx="648" cy="128"/>
            </a:xfrm>
          </p:grpSpPr>
          <p:grpSp>
            <p:nvGrpSpPr>
              <p:cNvPr id="4" name="Group 30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190495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496" name="Line 3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190498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499" name="Line 3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36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190501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502" name="Line 3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39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190504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505" name="Line 4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42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190507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508" name="Line 4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45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190510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511" name="Line 4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48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190513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514" name="Line 5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51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190516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517" name="Line 5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90518" name="Line 54"/>
            <p:cNvSpPr>
              <a:spLocks noChangeShapeType="1"/>
            </p:cNvSpPr>
            <p:nvPr/>
          </p:nvSpPr>
          <p:spPr bwMode="auto">
            <a:xfrm>
              <a:off x="1611" y="2426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0519" name="Text Box 55"/>
            <p:cNvSpPr txBox="1">
              <a:spLocks noChangeArrowheads="1"/>
            </p:cNvSpPr>
            <p:nvPr/>
          </p:nvSpPr>
          <p:spPr bwMode="auto">
            <a:xfrm>
              <a:off x="1503" y="2481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190520" name="Line 56"/>
            <p:cNvSpPr>
              <a:spLocks noChangeShapeType="1"/>
            </p:cNvSpPr>
            <p:nvPr/>
          </p:nvSpPr>
          <p:spPr bwMode="auto">
            <a:xfrm>
              <a:off x="1944" y="2432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0521" name="Text Box 57"/>
            <p:cNvSpPr txBox="1">
              <a:spLocks noChangeArrowheads="1"/>
            </p:cNvSpPr>
            <p:nvPr/>
          </p:nvSpPr>
          <p:spPr bwMode="auto">
            <a:xfrm>
              <a:off x="1853" y="2468"/>
              <a:ext cx="30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190522" name="Line 58"/>
            <p:cNvSpPr>
              <a:spLocks noChangeShapeType="1"/>
            </p:cNvSpPr>
            <p:nvPr/>
          </p:nvSpPr>
          <p:spPr bwMode="auto">
            <a:xfrm>
              <a:off x="1492" y="2161"/>
              <a:ext cx="2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7511-1A9D-F97A-25C2-35D46B5A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A particle moving along the x-axis in simple harmonic motion starts from its equilibrium position, the origin, at t=0 and moves to the right. The amplitude of its motion is 2.00cm , and the frequency is 1.50Hz .     </a:t>
            </a:r>
          </a:p>
          <a:p>
            <a:pPr marL="457200" lvl="1" indent="0">
              <a:buNone/>
            </a:pPr>
            <a:r>
              <a:rPr lang="en-US" dirty="0"/>
              <a:t>a) show that the position of the particle is given by	</a:t>
            </a:r>
          </a:p>
          <a:p>
            <a:pPr marL="457200" lvl="1" indent="0">
              <a:buNone/>
            </a:pPr>
            <a:r>
              <a:rPr lang="en-US" dirty="0"/>
              <a:t>                   x=(2.00cm )sin(3.00πt)</a:t>
            </a:r>
          </a:p>
          <a:p>
            <a:pPr marL="457200" lvl="1" indent="0">
              <a:buNone/>
            </a:pPr>
            <a:r>
              <a:rPr lang="en-US" dirty="0"/>
              <a:t>determine     </a:t>
            </a:r>
          </a:p>
          <a:p>
            <a:pPr marL="457200" lvl="1" indent="0">
              <a:buNone/>
            </a:pPr>
            <a:r>
              <a:rPr lang="en-US" dirty="0"/>
              <a:t>b) the maximum speed and the earliest time (t&gt;0) at which the particle has this speed,     </a:t>
            </a:r>
          </a:p>
          <a:p>
            <a:pPr marL="457200" lvl="1" indent="0">
              <a:buNone/>
            </a:pPr>
            <a:r>
              <a:rPr lang="en-US" dirty="0"/>
              <a:t>c) the maximum acceleration and the earliest time (t&gt;0) at which the particle has this acceleration, and     </a:t>
            </a:r>
          </a:p>
          <a:p>
            <a:pPr marL="457200" lvl="1" indent="0">
              <a:buNone/>
            </a:pPr>
            <a:r>
              <a:rPr lang="en-US" dirty="0"/>
              <a:t>d) the total distance traveled between t=0 and t=1.00s     	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246" y="230188"/>
            <a:ext cx="3256522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0330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2007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FE37BE-2BA8-4184-B16F-FB7D47E262F9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513" y="2438401"/>
            <a:ext cx="7959897" cy="205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2130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63A8-5732-B84A-DE9B-0CF9549D3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E5164-ED0F-16CE-A40A-33B976500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Using energy techniques, find the maximum velocity of the mass in terms of the Amplitude and the angular frequency.</a:t>
            </a:r>
          </a:p>
        </p:txBody>
      </p:sp>
    </p:spTree>
    <p:extLst>
      <p:ext uri="{BB962C8B-B14F-4D97-AF65-F5344CB8AC3E}">
        <p14:creationId xmlns:p14="http://schemas.microsoft.com/office/powerpoint/2010/main" val="31905946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Oval 73"/>
          <p:cNvSpPr/>
          <p:nvPr/>
        </p:nvSpPr>
        <p:spPr>
          <a:xfrm>
            <a:off x="4376057" y="3712030"/>
            <a:ext cx="391886" cy="4027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5900057" y="4245429"/>
            <a:ext cx="391886" cy="4027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7478485" y="3635830"/>
            <a:ext cx="391886" cy="4027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8392885" y="2786744"/>
            <a:ext cx="391886" cy="4027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341914" y="2786744"/>
            <a:ext cx="391886" cy="4027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2917372" y="2166258"/>
            <a:ext cx="6313714" cy="2285999"/>
          </a:xfrm>
          <a:custGeom>
            <a:avLst/>
            <a:gdLst>
              <a:gd name="connsiteX0" fmla="*/ 0 w 5267325"/>
              <a:gd name="connsiteY0" fmla="*/ 0 h 2172593"/>
              <a:gd name="connsiteX1" fmla="*/ 219075 w 5267325"/>
              <a:gd name="connsiteY1" fmla="*/ 347663 h 2172593"/>
              <a:gd name="connsiteX2" fmla="*/ 438150 w 5267325"/>
              <a:gd name="connsiteY2" fmla="*/ 671513 h 2172593"/>
              <a:gd name="connsiteX3" fmla="*/ 619125 w 5267325"/>
              <a:gd name="connsiteY3" fmla="*/ 890588 h 2172593"/>
              <a:gd name="connsiteX4" fmla="*/ 771525 w 5267325"/>
              <a:gd name="connsiteY4" fmla="*/ 1085850 h 2172593"/>
              <a:gd name="connsiteX5" fmla="*/ 1004887 w 5267325"/>
              <a:gd name="connsiteY5" fmla="*/ 1338263 h 2172593"/>
              <a:gd name="connsiteX6" fmla="*/ 1281112 w 5267325"/>
              <a:gd name="connsiteY6" fmla="*/ 1600200 h 2172593"/>
              <a:gd name="connsiteX7" fmla="*/ 1509712 w 5267325"/>
              <a:gd name="connsiteY7" fmla="*/ 1781175 h 2172593"/>
              <a:gd name="connsiteX8" fmla="*/ 1781175 w 5267325"/>
              <a:gd name="connsiteY8" fmla="*/ 1943100 h 2172593"/>
              <a:gd name="connsiteX9" fmla="*/ 2133600 w 5267325"/>
              <a:gd name="connsiteY9" fmla="*/ 2100263 h 2172593"/>
              <a:gd name="connsiteX10" fmla="*/ 2443162 w 5267325"/>
              <a:gd name="connsiteY10" fmla="*/ 2162175 h 2172593"/>
              <a:gd name="connsiteX11" fmla="*/ 2643187 w 5267325"/>
              <a:gd name="connsiteY11" fmla="*/ 2171700 h 2172593"/>
              <a:gd name="connsiteX12" fmla="*/ 2933700 w 5267325"/>
              <a:gd name="connsiteY12" fmla="*/ 2152650 h 2172593"/>
              <a:gd name="connsiteX13" fmla="*/ 3186112 w 5267325"/>
              <a:gd name="connsiteY13" fmla="*/ 2071688 h 2172593"/>
              <a:gd name="connsiteX14" fmla="*/ 3495675 w 5267325"/>
              <a:gd name="connsiteY14" fmla="*/ 1943100 h 2172593"/>
              <a:gd name="connsiteX15" fmla="*/ 3810000 w 5267325"/>
              <a:gd name="connsiteY15" fmla="*/ 1743075 h 2172593"/>
              <a:gd name="connsiteX16" fmla="*/ 4105275 w 5267325"/>
              <a:gd name="connsiteY16" fmla="*/ 1490663 h 2172593"/>
              <a:gd name="connsiteX17" fmla="*/ 4348162 w 5267325"/>
              <a:gd name="connsiteY17" fmla="*/ 1247775 h 2172593"/>
              <a:gd name="connsiteX18" fmla="*/ 4614862 w 5267325"/>
              <a:gd name="connsiteY18" fmla="*/ 938213 h 2172593"/>
              <a:gd name="connsiteX19" fmla="*/ 4819650 w 5267325"/>
              <a:gd name="connsiteY19" fmla="*/ 671513 h 2172593"/>
              <a:gd name="connsiteX20" fmla="*/ 5043487 w 5267325"/>
              <a:gd name="connsiteY20" fmla="*/ 347663 h 2172593"/>
              <a:gd name="connsiteX21" fmla="*/ 5191125 w 5267325"/>
              <a:gd name="connsiteY21" fmla="*/ 104775 h 2172593"/>
              <a:gd name="connsiteX22" fmla="*/ 5267325 w 5267325"/>
              <a:gd name="connsiteY22" fmla="*/ 0 h 2172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267325" h="2172593">
                <a:moveTo>
                  <a:pt x="0" y="0"/>
                </a:moveTo>
                <a:cubicBezTo>
                  <a:pt x="73025" y="117872"/>
                  <a:pt x="146050" y="235744"/>
                  <a:pt x="219075" y="347663"/>
                </a:cubicBezTo>
                <a:cubicBezTo>
                  <a:pt x="292100" y="459582"/>
                  <a:pt x="371475" y="581026"/>
                  <a:pt x="438150" y="671513"/>
                </a:cubicBezTo>
                <a:cubicBezTo>
                  <a:pt x="504825" y="762001"/>
                  <a:pt x="563563" y="821532"/>
                  <a:pt x="619125" y="890588"/>
                </a:cubicBezTo>
                <a:cubicBezTo>
                  <a:pt x="674688" y="959644"/>
                  <a:pt x="707231" y="1011238"/>
                  <a:pt x="771525" y="1085850"/>
                </a:cubicBezTo>
                <a:cubicBezTo>
                  <a:pt x="835819" y="1160462"/>
                  <a:pt x="919956" y="1252538"/>
                  <a:pt x="1004887" y="1338263"/>
                </a:cubicBezTo>
                <a:cubicBezTo>
                  <a:pt x="1089818" y="1423988"/>
                  <a:pt x="1196975" y="1526381"/>
                  <a:pt x="1281112" y="1600200"/>
                </a:cubicBezTo>
                <a:cubicBezTo>
                  <a:pt x="1365249" y="1674019"/>
                  <a:pt x="1426368" y="1724025"/>
                  <a:pt x="1509712" y="1781175"/>
                </a:cubicBezTo>
                <a:cubicBezTo>
                  <a:pt x="1593056" y="1838325"/>
                  <a:pt x="1677194" y="1889919"/>
                  <a:pt x="1781175" y="1943100"/>
                </a:cubicBezTo>
                <a:cubicBezTo>
                  <a:pt x="1885156" y="1996281"/>
                  <a:pt x="2023269" y="2063750"/>
                  <a:pt x="2133600" y="2100263"/>
                </a:cubicBezTo>
                <a:cubicBezTo>
                  <a:pt x="2243931" y="2136776"/>
                  <a:pt x="2358231" y="2150269"/>
                  <a:pt x="2443162" y="2162175"/>
                </a:cubicBezTo>
                <a:cubicBezTo>
                  <a:pt x="2528093" y="2174081"/>
                  <a:pt x="2561431" y="2173288"/>
                  <a:pt x="2643187" y="2171700"/>
                </a:cubicBezTo>
                <a:cubicBezTo>
                  <a:pt x="2724943" y="2170113"/>
                  <a:pt x="2843213" y="2169319"/>
                  <a:pt x="2933700" y="2152650"/>
                </a:cubicBezTo>
                <a:cubicBezTo>
                  <a:pt x="3024187" y="2135981"/>
                  <a:pt x="3092450" y="2106613"/>
                  <a:pt x="3186112" y="2071688"/>
                </a:cubicBezTo>
                <a:cubicBezTo>
                  <a:pt x="3279774" y="2036763"/>
                  <a:pt x="3391694" y="1997869"/>
                  <a:pt x="3495675" y="1943100"/>
                </a:cubicBezTo>
                <a:cubicBezTo>
                  <a:pt x="3599656" y="1888331"/>
                  <a:pt x="3708400" y="1818481"/>
                  <a:pt x="3810000" y="1743075"/>
                </a:cubicBezTo>
                <a:cubicBezTo>
                  <a:pt x="3911600" y="1667669"/>
                  <a:pt x="4015581" y="1573213"/>
                  <a:pt x="4105275" y="1490663"/>
                </a:cubicBezTo>
                <a:cubicBezTo>
                  <a:pt x="4194969" y="1408113"/>
                  <a:pt x="4263231" y="1339850"/>
                  <a:pt x="4348162" y="1247775"/>
                </a:cubicBezTo>
                <a:cubicBezTo>
                  <a:pt x="4433093" y="1155700"/>
                  <a:pt x="4536281" y="1034257"/>
                  <a:pt x="4614862" y="938213"/>
                </a:cubicBezTo>
                <a:cubicBezTo>
                  <a:pt x="4693443" y="842169"/>
                  <a:pt x="4748213" y="769938"/>
                  <a:pt x="4819650" y="671513"/>
                </a:cubicBezTo>
                <a:cubicBezTo>
                  <a:pt x="4891087" y="573088"/>
                  <a:pt x="4981574" y="442119"/>
                  <a:pt x="5043487" y="347663"/>
                </a:cubicBezTo>
                <a:cubicBezTo>
                  <a:pt x="5105400" y="253207"/>
                  <a:pt x="5153819" y="162719"/>
                  <a:pt x="5191125" y="104775"/>
                </a:cubicBezTo>
                <a:cubicBezTo>
                  <a:pt x="5228431" y="46831"/>
                  <a:pt x="5247878" y="23415"/>
                  <a:pt x="5267325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1676070" y="370114"/>
            <a:ext cx="8684689" cy="4582887"/>
            <a:chOff x="162955" y="402770"/>
            <a:chExt cx="8684689" cy="4582887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446314" y="4484918"/>
              <a:ext cx="821871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4060369" y="402770"/>
              <a:ext cx="268022" cy="5027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aseline="-25000" dirty="0"/>
                <a:t>s</a:t>
              </a:r>
            </a:p>
            <a:p>
              <a:endParaRPr lang="en-US" sz="2000" baseline="-250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523516" y="4506685"/>
              <a:ext cx="3241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x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4561115" y="674914"/>
              <a:ext cx="10885" cy="43107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404257" y="3004457"/>
              <a:ext cx="6270171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62955" y="2797630"/>
              <a:ext cx="159902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Total Energy, E</a:t>
              </a:r>
            </a:p>
          </p:txBody>
        </p:sp>
      </p:grpSp>
      <p:sp>
        <p:nvSpPr>
          <p:cNvPr id="29" name="AutoShape 75"/>
          <p:cNvSpPr>
            <a:spLocks noChangeArrowheads="1"/>
          </p:cNvSpPr>
          <p:nvPr/>
        </p:nvSpPr>
        <p:spPr bwMode="auto">
          <a:xfrm>
            <a:off x="2728689" y="5174108"/>
            <a:ext cx="265113" cy="242888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0" name="Line 76"/>
          <p:cNvSpPr>
            <a:spLocks noChangeShapeType="1"/>
          </p:cNvSpPr>
          <p:nvPr/>
        </p:nvSpPr>
        <p:spPr bwMode="auto">
          <a:xfrm>
            <a:off x="2314350" y="4864545"/>
            <a:ext cx="0" cy="5984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77"/>
          <p:cNvSpPr>
            <a:spLocks noChangeShapeType="1"/>
          </p:cNvSpPr>
          <p:nvPr/>
        </p:nvSpPr>
        <p:spPr bwMode="auto">
          <a:xfrm rot="5400000" flipV="1">
            <a:off x="3101750" y="4656583"/>
            <a:ext cx="0" cy="16129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8" name="Group 78"/>
          <p:cNvGrpSpPr>
            <a:grpSpLocks/>
          </p:cNvGrpSpPr>
          <p:nvPr/>
        </p:nvGrpSpPr>
        <p:grpSpPr bwMode="auto">
          <a:xfrm>
            <a:off x="2352450" y="5201096"/>
            <a:ext cx="357188" cy="150813"/>
            <a:chOff x="2248" y="1248"/>
            <a:chExt cx="648" cy="128"/>
          </a:xfrm>
        </p:grpSpPr>
        <p:grpSp>
          <p:nvGrpSpPr>
            <p:cNvPr id="39" name="Group 79"/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67" name="Line 80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Line 81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" name="Group 82"/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65" name="Line 83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Line 84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" name="Group 85"/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63" name="Line 86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Line 87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8" name="Group 88"/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61" name="Line 89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Line 90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" name="Group 91"/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59" name="Line 92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Line 93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0" name="Group 94"/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57" name="Line 95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Line 96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1" name="Group 97"/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55" name="Line 98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Line 99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2" name="Group 100"/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53" name="Line 101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Line 102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69" name="Line 103"/>
          <p:cNvSpPr>
            <a:spLocks noChangeShapeType="1"/>
          </p:cNvSpPr>
          <p:nvPr/>
        </p:nvSpPr>
        <p:spPr bwMode="auto">
          <a:xfrm>
            <a:off x="3219225" y="5529709"/>
            <a:ext cx="0" cy="149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" name="Text Box 104"/>
          <p:cNvSpPr txBox="1">
            <a:spLocks noChangeArrowheads="1"/>
          </p:cNvSpPr>
          <p:nvPr/>
        </p:nvSpPr>
        <p:spPr bwMode="auto">
          <a:xfrm>
            <a:off x="3047776" y="5642421"/>
            <a:ext cx="52129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/>
              <a:t>x</a:t>
            </a:r>
            <a:r>
              <a:rPr lang="en-US" sz="1400" baseline="-25000" dirty="0"/>
              <a:t>0</a:t>
            </a:r>
            <a:r>
              <a:rPr lang="en-US" sz="1400" dirty="0"/>
              <a:t>=0</a:t>
            </a:r>
          </a:p>
        </p:txBody>
      </p:sp>
      <p:sp>
        <p:nvSpPr>
          <p:cNvPr id="71" name="Line 105"/>
          <p:cNvSpPr>
            <a:spLocks noChangeShapeType="1"/>
          </p:cNvSpPr>
          <p:nvPr/>
        </p:nvSpPr>
        <p:spPr bwMode="auto">
          <a:xfrm>
            <a:off x="2869975" y="5529709"/>
            <a:ext cx="0" cy="149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" name="Text Box 106"/>
          <p:cNvSpPr txBox="1">
            <a:spLocks noChangeArrowheads="1"/>
          </p:cNvSpPr>
          <p:nvPr/>
        </p:nvSpPr>
        <p:spPr bwMode="auto">
          <a:xfrm>
            <a:off x="2551575" y="5624728"/>
            <a:ext cx="76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dirty="0"/>
              <a:t>-</a:t>
            </a:r>
            <a:r>
              <a:rPr lang="en-US" sz="1400" dirty="0" err="1"/>
              <a:t>x</a:t>
            </a:r>
            <a:r>
              <a:rPr lang="en-US" sz="1400" baseline="-25000" dirty="0" err="1"/>
              <a:t>max</a:t>
            </a:r>
            <a:endParaRPr lang="en-US" sz="1400" baseline="-25000" dirty="0"/>
          </a:p>
        </p:txBody>
      </p:sp>
      <p:sp>
        <p:nvSpPr>
          <p:cNvPr id="73" name="Text Box 107"/>
          <p:cNvSpPr txBox="1">
            <a:spLocks noChangeArrowheads="1"/>
          </p:cNvSpPr>
          <p:nvPr/>
        </p:nvSpPr>
        <p:spPr bwMode="auto">
          <a:xfrm>
            <a:off x="2660425" y="4882009"/>
            <a:ext cx="4828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00B050"/>
                </a:solidFill>
              </a:rPr>
              <a:t>V=0</a:t>
            </a:r>
          </a:p>
        </p:txBody>
      </p:sp>
      <p:sp>
        <p:nvSpPr>
          <p:cNvPr id="78" name="AutoShape 6"/>
          <p:cNvSpPr>
            <a:spLocks noChangeArrowheads="1"/>
          </p:cNvSpPr>
          <p:nvPr/>
        </p:nvSpPr>
        <p:spPr bwMode="auto">
          <a:xfrm>
            <a:off x="9958842" y="5390471"/>
            <a:ext cx="265113" cy="244475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79" name="Text Box 7"/>
          <p:cNvSpPr txBox="1">
            <a:spLocks noChangeArrowheads="1"/>
          </p:cNvSpPr>
          <p:nvPr/>
        </p:nvSpPr>
        <p:spPr bwMode="auto">
          <a:xfrm>
            <a:off x="9909628" y="5099959"/>
            <a:ext cx="4828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V=0</a:t>
            </a:r>
          </a:p>
        </p:txBody>
      </p:sp>
      <p:sp>
        <p:nvSpPr>
          <p:cNvPr id="80" name="Line 8"/>
          <p:cNvSpPr>
            <a:spLocks noChangeShapeType="1"/>
          </p:cNvSpPr>
          <p:nvPr/>
        </p:nvSpPr>
        <p:spPr bwMode="auto">
          <a:xfrm>
            <a:off x="8649153" y="5053920"/>
            <a:ext cx="0" cy="5984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" name="Line 9"/>
          <p:cNvSpPr>
            <a:spLocks noChangeShapeType="1"/>
          </p:cNvSpPr>
          <p:nvPr/>
        </p:nvSpPr>
        <p:spPr bwMode="auto">
          <a:xfrm rot="5400000" flipV="1">
            <a:off x="9436553" y="4845957"/>
            <a:ext cx="0" cy="16129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82" name="Group 10"/>
          <p:cNvGrpSpPr>
            <a:grpSpLocks/>
          </p:cNvGrpSpPr>
          <p:nvPr/>
        </p:nvGrpSpPr>
        <p:grpSpPr bwMode="auto">
          <a:xfrm>
            <a:off x="9781041" y="5380946"/>
            <a:ext cx="160338" cy="150813"/>
            <a:chOff x="704" y="1880"/>
            <a:chExt cx="136" cy="128"/>
          </a:xfrm>
        </p:grpSpPr>
        <p:sp>
          <p:nvSpPr>
            <p:cNvPr id="83" name="Line 11"/>
            <p:cNvSpPr>
              <a:spLocks noChangeShapeType="1"/>
            </p:cNvSpPr>
            <p:nvPr/>
          </p:nvSpPr>
          <p:spPr bwMode="auto">
            <a:xfrm flipV="1">
              <a:off x="704" y="1880"/>
              <a:ext cx="72" cy="128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12"/>
            <p:cNvSpPr>
              <a:spLocks noChangeShapeType="1"/>
            </p:cNvSpPr>
            <p:nvPr/>
          </p:nvSpPr>
          <p:spPr bwMode="auto">
            <a:xfrm flipH="1" flipV="1">
              <a:off x="768" y="1880"/>
              <a:ext cx="72" cy="128"/>
            </a:xfrm>
            <a:prstGeom prst="line">
              <a:avLst/>
            </a:prstGeom>
            <a:noFill/>
            <a:ln w="38100">
              <a:solidFill>
                <a:srgbClr val="B2B2B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5" name="Group 13"/>
          <p:cNvGrpSpPr>
            <a:grpSpLocks/>
          </p:cNvGrpSpPr>
          <p:nvPr/>
        </p:nvGrpSpPr>
        <p:grpSpPr bwMode="auto">
          <a:xfrm>
            <a:off x="9611178" y="5380946"/>
            <a:ext cx="160338" cy="150813"/>
            <a:chOff x="704" y="1880"/>
            <a:chExt cx="136" cy="128"/>
          </a:xfrm>
        </p:grpSpPr>
        <p:sp>
          <p:nvSpPr>
            <p:cNvPr id="86" name="Line 14"/>
            <p:cNvSpPr>
              <a:spLocks noChangeShapeType="1"/>
            </p:cNvSpPr>
            <p:nvPr/>
          </p:nvSpPr>
          <p:spPr bwMode="auto">
            <a:xfrm flipV="1">
              <a:off x="704" y="1880"/>
              <a:ext cx="72" cy="128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15"/>
            <p:cNvSpPr>
              <a:spLocks noChangeShapeType="1"/>
            </p:cNvSpPr>
            <p:nvPr/>
          </p:nvSpPr>
          <p:spPr bwMode="auto">
            <a:xfrm flipH="1" flipV="1">
              <a:off x="768" y="1880"/>
              <a:ext cx="72" cy="128"/>
            </a:xfrm>
            <a:prstGeom prst="line">
              <a:avLst/>
            </a:prstGeom>
            <a:noFill/>
            <a:ln w="38100">
              <a:solidFill>
                <a:srgbClr val="B2B2B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8" name="Group 16"/>
          <p:cNvGrpSpPr>
            <a:grpSpLocks/>
          </p:cNvGrpSpPr>
          <p:nvPr/>
        </p:nvGrpSpPr>
        <p:grpSpPr bwMode="auto">
          <a:xfrm>
            <a:off x="9460366" y="5380946"/>
            <a:ext cx="160338" cy="150813"/>
            <a:chOff x="704" y="1880"/>
            <a:chExt cx="136" cy="128"/>
          </a:xfrm>
        </p:grpSpPr>
        <p:sp>
          <p:nvSpPr>
            <p:cNvPr id="89" name="Line 17"/>
            <p:cNvSpPr>
              <a:spLocks noChangeShapeType="1"/>
            </p:cNvSpPr>
            <p:nvPr/>
          </p:nvSpPr>
          <p:spPr bwMode="auto">
            <a:xfrm flipV="1">
              <a:off x="704" y="1880"/>
              <a:ext cx="72" cy="128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18"/>
            <p:cNvSpPr>
              <a:spLocks noChangeShapeType="1"/>
            </p:cNvSpPr>
            <p:nvPr/>
          </p:nvSpPr>
          <p:spPr bwMode="auto">
            <a:xfrm flipH="1" flipV="1">
              <a:off x="768" y="1880"/>
              <a:ext cx="72" cy="128"/>
            </a:xfrm>
            <a:prstGeom prst="line">
              <a:avLst/>
            </a:prstGeom>
            <a:noFill/>
            <a:ln w="38100">
              <a:solidFill>
                <a:srgbClr val="B2B2B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1" name="Group 19"/>
          <p:cNvGrpSpPr>
            <a:grpSpLocks/>
          </p:cNvGrpSpPr>
          <p:nvPr/>
        </p:nvGrpSpPr>
        <p:grpSpPr bwMode="auto">
          <a:xfrm>
            <a:off x="9300028" y="5380946"/>
            <a:ext cx="160338" cy="150813"/>
            <a:chOff x="704" y="1880"/>
            <a:chExt cx="136" cy="128"/>
          </a:xfrm>
        </p:grpSpPr>
        <p:sp>
          <p:nvSpPr>
            <p:cNvPr id="92" name="Line 20"/>
            <p:cNvSpPr>
              <a:spLocks noChangeShapeType="1"/>
            </p:cNvSpPr>
            <p:nvPr/>
          </p:nvSpPr>
          <p:spPr bwMode="auto">
            <a:xfrm flipV="1">
              <a:off x="704" y="1880"/>
              <a:ext cx="72" cy="128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21"/>
            <p:cNvSpPr>
              <a:spLocks noChangeShapeType="1"/>
            </p:cNvSpPr>
            <p:nvPr/>
          </p:nvSpPr>
          <p:spPr bwMode="auto">
            <a:xfrm flipH="1" flipV="1">
              <a:off x="768" y="1880"/>
              <a:ext cx="72" cy="128"/>
            </a:xfrm>
            <a:prstGeom prst="line">
              <a:avLst/>
            </a:prstGeom>
            <a:noFill/>
            <a:ln w="38100">
              <a:solidFill>
                <a:srgbClr val="B2B2B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4" name="Group 22"/>
          <p:cNvGrpSpPr>
            <a:grpSpLocks/>
          </p:cNvGrpSpPr>
          <p:nvPr/>
        </p:nvGrpSpPr>
        <p:grpSpPr bwMode="auto">
          <a:xfrm>
            <a:off x="9149216" y="5380946"/>
            <a:ext cx="160338" cy="150813"/>
            <a:chOff x="704" y="1880"/>
            <a:chExt cx="136" cy="128"/>
          </a:xfrm>
        </p:grpSpPr>
        <p:sp>
          <p:nvSpPr>
            <p:cNvPr id="95" name="Line 23"/>
            <p:cNvSpPr>
              <a:spLocks noChangeShapeType="1"/>
            </p:cNvSpPr>
            <p:nvPr/>
          </p:nvSpPr>
          <p:spPr bwMode="auto">
            <a:xfrm flipV="1">
              <a:off x="704" y="1880"/>
              <a:ext cx="72" cy="128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24"/>
            <p:cNvSpPr>
              <a:spLocks noChangeShapeType="1"/>
            </p:cNvSpPr>
            <p:nvPr/>
          </p:nvSpPr>
          <p:spPr bwMode="auto">
            <a:xfrm flipH="1" flipV="1">
              <a:off x="768" y="1880"/>
              <a:ext cx="72" cy="128"/>
            </a:xfrm>
            <a:prstGeom prst="line">
              <a:avLst/>
            </a:prstGeom>
            <a:noFill/>
            <a:ln w="38100">
              <a:solidFill>
                <a:srgbClr val="B2B2B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7" name="Group 25"/>
          <p:cNvGrpSpPr>
            <a:grpSpLocks/>
          </p:cNvGrpSpPr>
          <p:nvPr/>
        </p:nvGrpSpPr>
        <p:grpSpPr bwMode="auto">
          <a:xfrm>
            <a:off x="8988878" y="5380946"/>
            <a:ext cx="160338" cy="150813"/>
            <a:chOff x="704" y="1880"/>
            <a:chExt cx="136" cy="128"/>
          </a:xfrm>
        </p:grpSpPr>
        <p:sp>
          <p:nvSpPr>
            <p:cNvPr id="98" name="Line 26"/>
            <p:cNvSpPr>
              <a:spLocks noChangeShapeType="1"/>
            </p:cNvSpPr>
            <p:nvPr/>
          </p:nvSpPr>
          <p:spPr bwMode="auto">
            <a:xfrm flipV="1">
              <a:off x="704" y="1880"/>
              <a:ext cx="72" cy="128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Line 27"/>
            <p:cNvSpPr>
              <a:spLocks noChangeShapeType="1"/>
            </p:cNvSpPr>
            <p:nvPr/>
          </p:nvSpPr>
          <p:spPr bwMode="auto">
            <a:xfrm flipH="1" flipV="1">
              <a:off x="768" y="1880"/>
              <a:ext cx="72" cy="128"/>
            </a:xfrm>
            <a:prstGeom prst="line">
              <a:avLst/>
            </a:prstGeom>
            <a:noFill/>
            <a:ln w="38100">
              <a:solidFill>
                <a:srgbClr val="B2B2B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0" name="Group 28"/>
          <p:cNvGrpSpPr>
            <a:grpSpLocks/>
          </p:cNvGrpSpPr>
          <p:nvPr/>
        </p:nvGrpSpPr>
        <p:grpSpPr bwMode="auto">
          <a:xfrm>
            <a:off x="8838066" y="5380946"/>
            <a:ext cx="160338" cy="150813"/>
            <a:chOff x="704" y="1880"/>
            <a:chExt cx="136" cy="128"/>
          </a:xfrm>
        </p:grpSpPr>
        <p:sp>
          <p:nvSpPr>
            <p:cNvPr id="101" name="Line 29"/>
            <p:cNvSpPr>
              <a:spLocks noChangeShapeType="1"/>
            </p:cNvSpPr>
            <p:nvPr/>
          </p:nvSpPr>
          <p:spPr bwMode="auto">
            <a:xfrm flipV="1">
              <a:off x="704" y="1880"/>
              <a:ext cx="72" cy="128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Line 30"/>
            <p:cNvSpPr>
              <a:spLocks noChangeShapeType="1"/>
            </p:cNvSpPr>
            <p:nvPr/>
          </p:nvSpPr>
          <p:spPr bwMode="auto">
            <a:xfrm flipH="1" flipV="1">
              <a:off x="768" y="1880"/>
              <a:ext cx="72" cy="128"/>
            </a:xfrm>
            <a:prstGeom prst="line">
              <a:avLst/>
            </a:prstGeom>
            <a:noFill/>
            <a:ln w="38100">
              <a:solidFill>
                <a:srgbClr val="B2B2B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3" name="Group 31"/>
          <p:cNvGrpSpPr>
            <a:grpSpLocks/>
          </p:cNvGrpSpPr>
          <p:nvPr/>
        </p:nvGrpSpPr>
        <p:grpSpPr bwMode="auto">
          <a:xfrm>
            <a:off x="8677728" y="5380946"/>
            <a:ext cx="160338" cy="150813"/>
            <a:chOff x="704" y="1880"/>
            <a:chExt cx="136" cy="128"/>
          </a:xfrm>
        </p:grpSpPr>
        <p:sp>
          <p:nvSpPr>
            <p:cNvPr id="104" name="Line 32"/>
            <p:cNvSpPr>
              <a:spLocks noChangeShapeType="1"/>
            </p:cNvSpPr>
            <p:nvPr/>
          </p:nvSpPr>
          <p:spPr bwMode="auto">
            <a:xfrm flipV="1">
              <a:off x="704" y="1880"/>
              <a:ext cx="72" cy="128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Line 33"/>
            <p:cNvSpPr>
              <a:spLocks noChangeShapeType="1"/>
            </p:cNvSpPr>
            <p:nvPr/>
          </p:nvSpPr>
          <p:spPr bwMode="auto">
            <a:xfrm flipH="1" flipV="1">
              <a:off x="768" y="1880"/>
              <a:ext cx="72" cy="128"/>
            </a:xfrm>
            <a:prstGeom prst="line">
              <a:avLst/>
            </a:prstGeom>
            <a:noFill/>
            <a:ln w="38100">
              <a:solidFill>
                <a:srgbClr val="B2B2B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6" name="Line 34"/>
          <p:cNvSpPr>
            <a:spLocks noChangeShapeType="1"/>
          </p:cNvSpPr>
          <p:nvPr/>
        </p:nvSpPr>
        <p:spPr bwMode="auto">
          <a:xfrm>
            <a:off x="9554028" y="5719084"/>
            <a:ext cx="0" cy="149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7" name="Text Box 35"/>
          <p:cNvSpPr txBox="1">
            <a:spLocks noChangeArrowheads="1"/>
          </p:cNvSpPr>
          <p:nvPr/>
        </p:nvSpPr>
        <p:spPr bwMode="auto">
          <a:xfrm>
            <a:off x="9382579" y="5806396"/>
            <a:ext cx="52129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/>
              <a:t>x</a:t>
            </a:r>
            <a:r>
              <a:rPr lang="en-US" sz="1400" baseline="-25000" dirty="0"/>
              <a:t>0</a:t>
            </a:r>
            <a:r>
              <a:rPr lang="en-US" sz="1400" dirty="0"/>
              <a:t>=0</a:t>
            </a:r>
          </a:p>
        </p:txBody>
      </p:sp>
      <p:sp>
        <p:nvSpPr>
          <p:cNvPr id="108" name="Line 36"/>
          <p:cNvSpPr>
            <a:spLocks noChangeShapeType="1"/>
          </p:cNvSpPr>
          <p:nvPr/>
        </p:nvSpPr>
        <p:spPr bwMode="auto">
          <a:xfrm>
            <a:off x="10082666" y="5728609"/>
            <a:ext cx="0" cy="149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9" name="Text Box 37"/>
          <p:cNvSpPr txBox="1">
            <a:spLocks noChangeArrowheads="1"/>
          </p:cNvSpPr>
          <p:nvPr/>
        </p:nvSpPr>
        <p:spPr bwMode="auto">
          <a:xfrm>
            <a:off x="9938203" y="5796870"/>
            <a:ext cx="6175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/>
              <a:t>x</a:t>
            </a:r>
            <a:r>
              <a:rPr lang="en-US" sz="1400" baseline="-25000"/>
              <a:t>max</a:t>
            </a:r>
          </a:p>
        </p:txBody>
      </p:sp>
      <p:sp>
        <p:nvSpPr>
          <p:cNvPr id="110" name="Text Box 38"/>
          <p:cNvSpPr txBox="1">
            <a:spLocks noChangeArrowheads="1"/>
          </p:cNvSpPr>
          <p:nvPr/>
        </p:nvSpPr>
        <p:spPr bwMode="auto">
          <a:xfrm>
            <a:off x="9126991" y="5080908"/>
            <a:ext cx="2730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k</a:t>
            </a:r>
          </a:p>
        </p:txBody>
      </p:sp>
      <p:sp>
        <p:nvSpPr>
          <p:cNvPr id="111" name="AutoShape 109"/>
          <p:cNvSpPr>
            <a:spLocks noChangeArrowheads="1"/>
          </p:cNvSpPr>
          <p:nvPr/>
        </p:nvSpPr>
        <p:spPr bwMode="auto">
          <a:xfrm>
            <a:off x="5983056" y="5311550"/>
            <a:ext cx="263525" cy="242888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12" name="Line 111"/>
          <p:cNvSpPr>
            <a:spLocks noChangeShapeType="1"/>
          </p:cNvSpPr>
          <p:nvPr/>
        </p:nvSpPr>
        <p:spPr bwMode="auto">
          <a:xfrm>
            <a:off x="5181368" y="4975000"/>
            <a:ext cx="0" cy="5984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" name="Line 112"/>
          <p:cNvSpPr>
            <a:spLocks noChangeShapeType="1"/>
          </p:cNvSpPr>
          <p:nvPr/>
        </p:nvSpPr>
        <p:spPr bwMode="auto">
          <a:xfrm rot="5400000" flipV="1">
            <a:off x="5968768" y="4767037"/>
            <a:ext cx="0" cy="16129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114" name="Group 113"/>
          <p:cNvGrpSpPr>
            <a:grpSpLocks/>
          </p:cNvGrpSpPr>
          <p:nvPr/>
        </p:nvGrpSpPr>
        <p:grpSpPr bwMode="auto">
          <a:xfrm>
            <a:off x="5209944" y="5311551"/>
            <a:ext cx="763587" cy="149225"/>
            <a:chOff x="2248" y="1248"/>
            <a:chExt cx="648" cy="128"/>
          </a:xfrm>
        </p:grpSpPr>
        <p:grpSp>
          <p:nvGrpSpPr>
            <p:cNvPr id="115" name="Group 114"/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37" name="Line 115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Line 116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6" name="Group 117"/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35" name="Line 118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Line 119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7" name="Group 120"/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33" name="Line 121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Line 122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8" name="Group 123"/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31" name="Line 124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Line 125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9" name="Group 126"/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29" name="Line 127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Line 128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0" name="Group 129"/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27" name="Line 130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Line 131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1" name="Group 132"/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25" name="Line 133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Line 134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2" name="Group 135"/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23" name="Line 136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Line 137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39" name="Line 138"/>
          <p:cNvSpPr>
            <a:spLocks noChangeShapeType="1"/>
          </p:cNvSpPr>
          <p:nvPr/>
        </p:nvSpPr>
        <p:spPr bwMode="auto">
          <a:xfrm>
            <a:off x="6086243" y="5638576"/>
            <a:ext cx="0" cy="149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0" name="Text Box 139"/>
          <p:cNvSpPr txBox="1">
            <a:spLocks noChangeArrowheads="1"/>
          </p:cNvSpPr>
          <p:nvPr/>
        </p:nvSpPr>
        <p:spPr bwMode="auto">
          <a:xfrm>
            <a:off x="5914794" y="5725888"/>
            <a:ext cx="52129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/>
              <a:t>x</a:t>
            </a:r>
            <a:r>
              <a:rPr lang="en-US" sz="1400" baseline="-25000" dirty="0"/>
              <a:t>0</a:t>
            </a:r>
            <a:r>
              <a:rPr lang="en-US" sz="1400" dirty="0"/>
              <a:t>=0</a:t>
            </a:r>
          </a:p>
        </p:txBody>
      </p:sp>
      <p:sp>
        <p:nvSpPr>
          <p:cNvPr id="141" name="Line 140"/>
          <p:cNvSpPr>
            <a:spLocks noChangeShapeType="1"/>
          </p:cNvSpPr>
          <p:nvPr/>
        </p:nvSpPr>
        <p:spPr bwMode="auto">
          <a:xfrm>
            <a:off x="6614880" y="5648101"/>
            <a:ext cx="0" cy="149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2" name="Text Box 141"/>
          <p:cNvSpPr txBox="1">
            <a:spLocks noChangeArrowheads="1"/>
          </p:cNvSpPr>
          <p:nvPr/>
        </p:nvSpPr>
        <p:spPr bwMode="auto">
          <a:xfrm>
            <a:off x="6470419" y="5705250"/>
            <a:ext cx="4905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/>
              <a:t>x</a:t>
            </a:r>
            <a:r>
              <a:rPr lang="en-US" sz="1400" baseline="-25000"/>
              <a:t>max</a:t>
            </a:r>
          </a:p>
        </p:txBody>
      </p:sp>
      <p:sp>
        <p:nvSpPr>
          <p:cNvPr id="143" name="Line 142"/>
          <p:cNvSpPr>
            <a:spLocks noChangeShapeType="1"/>
          </p:cNvSpPr>
          <p:nvPr/>
        </p:nvSpPr>
        <p:spPr bwMode="auto">
          <a:xfrm>
            <a:off x="5962647" y="5185229"/>
            <a:ext cx="454025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4" name="Text Box 110"/>
          <p:cNvSpPr txBox="1">
            <a:spLocks noChangeArrowheads="1"/>
          </p:cNvSpPr>
          <p:nvPr/>
        </p:nvSpPr>
        <p:spPr bwMode="auto">
          <a:xfrm>
            <a:off x="5895518" y="4846877"/>
            <a:ext cx="5100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 err="1">
                <a:solidFill>
                  <a:srgbClr val="00B050"/>
                </a:solidFill>
              </a:rPr>
              <a:t>V</a:t>
            </a:r>
            <a:r>
              <a:rPr lang="en-US" sz="1400" baseline="-25000" dirty="0" err="1">
                <a:solidFill>
                  <a:srgbClr val="00B050"/>
                </a:solidFill>
              </a:rPr>
              <a:t>max</a:t>
            </a:r>
            <a:endParaRPr lang="en-US" sz="1400" baseline="-25000" dirty="0">
              <a:solidFill>
                <a:srgbClr val="00B050"/>
              </a:solidFill>
            </a:endParaRPr>
          </a:p>
        </p:txBody>
      </p:sp>
      <p:sp>
        <p:nvSpPr>
          <p:cNvPr id="145" name="AutoShape 75"/>
          <p:cNvSpPr>
            <a:spLocks noChangeArrowheads="1"/>
          </p:cNvSpPr>
          <p:nvPr/>
        </p:nvSpPr>
        <p:spPr bwMode="auto">
          <a:xfrm>
            <a:off x="4622796" y="1810430"/>
            <a:ext cx="265113" cy="242888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46" name="Line 76"/>
          <p:cNvSpPr>
            <a:spLocks noChangeShapeType="1"/>
          </p:cNvSpPr>
          <p:nvPr/>
        </p:nvSpPr>
        <p:spPr bwMode="auto">
          <a:xfrm>
            <a:off x="4034281" y="1500867"/>
            <a:ext cx="0" cy="5984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7" name="Line 77"/>
          <p:cNvSpPr>
            <a:spLocks noChangeShapeType="1"/>
          </p:cNvSpPr>
          <p:nvPr/>
        </p:nvSpPr>
        <p:spPr bwMode="auto">
          <a:xfrm rot="5400000" flipV="1">
            <a:off x="4821681" y="1292905"/>
            <a:ext cx="0" cy="16129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148" name="Group 78"/>
          <p:cNvGrpSpPr>
            <a:grpSpLocks/>
          </p:cNvGrpSpPr>
          <p:nvPr/>
        </p:nvGrpSpPr>
        <p:grpSpPr bwMode="auto">
          <a:xfrm>
            <a:off x="4082145" y="1850573"/>
            <a:ext cx="521597" cy="141513"/>
            <a:chOff x="2248" y="1248"/>
            <a:chExt cx="648" cy="128"/>
          </a:xfrm>
        </p:grpSpPr>
        <p:grpSp>
          <p:nvGrpSpPr>
            <p:cNvPr id="149" name="Group 79"/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71" name="Line 80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Line 81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0" name="Group 82"/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69" name="Line 83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Line 84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1" name="Group 150"/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67" name="Line 86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Line 87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2" name="Group 88"/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65" name="Line 89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Line 90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3" name="Group 91"/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63" name="Line 92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Line 93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4" name="Group 94"/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61" name="Line 95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Line 96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5" name="Group 97"/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59" name="Line 98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Line 99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6" name="Group 100"/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57" name="Line 101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Line 102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73" name="Line 103"/>
          <p:cNvSpPr>
            <a:spLocks noChangeShapeType="1"/>
          </p:cNvSpPr>
          <p:nvPr/>
        </p:nvSpPr>
        <p:spPr bwMode="auto">
          <a:xfrm>
            <a:off x="4939156" y="2166031"/>
            <a:ext cx="0" cy="149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4" name="Text Box 104"/>
          <p:cNvSpPr txBox="1">
            <a:spLocks noChangeArrowheads="1"/>
          </p:cNvSpPr>
          <p:nvPr/>
        </p:nvSpPr>
        <p:spPr bwMode="auto">
          <a:xfrm>
            <a:off x="4767707" y="2278743"/>
            <a:ext cx="52129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/>
              <a:t>x</a:t>
            </a:r>
            <a:r>
              <a:rPr lang="en-US" sz="1400" baseline="-25000" dirty="0"/>
              <a:t>0</a:t>
            </a:r>
            <a:r>
              <a:rPr lang="en-US" sz="1400" dirty="0"/>
              <a:t>=0</a:t>
            </a:r>
          </a:p>
        </p:txBody>
      </p:sp>
      <p:sp>
        <p:nvSpPr>
          <p:cNvPr id="175" name="Line 105"/>
          <p:cNvSpPr>
            <a:spLocks noChangeShapeType="1"/>
          </p:cNvSpPr>
          <p:nvPr/>
        </p:nvSpPr>
        <p:spPr bwMode="auto">
          <a:xfrm>
            <a:off x="4589906" y="2166031"/>
            <a:ext cx="0" cy="149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6" name="Text Box 106"/>
          <p:cNvSpPr txBox="1">
            <a:spLocks noChangeArrowheads="1"/>
          </p:cNvSpPr>
          <p:nvPr/>
        </p:nvSpPr>
        <p:spPr bwMode="auto">
          <a:xfrm>
            <a:off x="4271506" y="2261050"/>
            <a:ext cx="76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dirty="0"/>
              <a:t>-</a:t>
            </a:r>
            <a:r>
              <a:rPr lang="en-US" sz="1400" dirty="0" err="1"/>
              <a:t>x</a:t>
            </a:r>
            <a:r>
              <a:rPr lang="en-US" sz="1400" baseline="-25000" dirty="0" err="1"/>
              <a:t>max</a:t>
            </a:r>
            <a:endParaRPr lang="en-US" sz="1400" baseline="-25000" dirty="0"/>
          </a:p>
        </p:txBody>
      </p:sp>
      <p:sp>
        <p:nvSpPr>
          <p:cNvPr id="179" name="Line 8"/>
          <p:cNvSpPr>
            <a:spLocks noChangeShapeType="1"/>
          </p:cNvSpPr>
          <p:nvPr/>
        </p:nvSpPr>
        <p:spPr bwMode="auto">
          <a:xfrm>
            <a:off x="6733267" y="1341891"/>
            <a:ext cx="0" cy="5984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0" name="Line 9"/>
          <p:cNvSpPr>
            <a:spLocks noChangeShapeType="1"/>
          </p:cNvSpPr>
          <p:nvPr/>
        </p:nvSpPr>
        <p:spPr bwMode="auto">
          <a:xfrm rot="5400000" flipV="1">
            <a:off x="7520667" y="1133928"/>
            <a:ext cx="0" cy="16129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6761843" y="1668917"/>
            <a:ext cx="999672" cy="138113"/>
            <a:chOff x="5237842" y="1668916"/>
            <a:chExt cx="1263651" cy="150813"/>
          </a:xfrm>
        </p:grpSpPr>
        <p:grpSp>
          <p:nvGrpSpPr>
            <p:cNvPr id="181" name="Group 10"/>
            <p:cNvGrpSpPr>
              <a:grpSpLocks/>
            </p:cNvGrpSpPr>
            <p:nvPr/>
          </p:nvGrpSpPr>
          <p:grpSpPr bwMode="auto">
            <a:xfrm>
              <a:off x="6341155" y="1668916"/>
              <a:ext cx="160338" cy="150813"/>
              <a:chOff x="704" y="1880"/>
              <a:chExt cx="136" cy="128"/>
            </a:xfrm>
          </p:grpSpPr>
          <p:sp>
            <p:nvSpPr>
              <p:cNvPr id="182" name="Line 11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Line 12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" name="Group 13"/>
            <p:cNvGrpSpPr>
              <a:grpSpLocks/>
            </p:cNvGrpSpPr>
            <p:nvPr/>
          </p:nvGrpSpPr>
          <p:grpSpPr bwMode="auto">
            <a:xfrm>
              <a:off x="6171292" y="1668916"/>
              <a:ext cx="160338" cy="150813"/>
              <a:chOff x="704" y="1880"/>
              <a:chExt cx="136" cy="128"/>
            </a:xfrm>
          </p:grpSpPr>
          <p:sp>
            <p:nvSpPr>
              <p:cNvPr id="185" name="Line 14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Line 15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7" name="Group 16"/>
            <p:cNvGrpSpPr>
              <a:grpSpLocks/>
            </p:cNvGrpSpPr>
            <p:nvPr/>
          </p:nvGrpSpPr>
          <p:grpSpPr bwMode="auto">
            <a:xfrm>
              <a:off x="6020480" y="1668916"/>
              <a:ext cx="160338" cy="150813"/>
              <a:chOff x="704" y="1880"/>
              <a:chExt cx="136" cy="128"/>
            </a:xfrm>
          </p:grpSpPr>
          <p:sp>
            <p:nvSpPr>
              <p:cNvPr id="188" name="Line 17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Line 18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0" name="Group 19"/>
            <p:cNvGrpSpPr>
              <a:grpSpLocks/>
            </p:cNvGrpSpPr>
            <p:nvPr/>
          </p:nvGrpSpPr>
          <p:grpSpPr bwMode="auto">
            <a:xfrm>
              <a:off x="5860142" y="1668916"/>
              <a:ext cx="160338" cy="150813"/>
              <a:chOff x="704" y="1880"/>
              <a:chExt cx="136" cy="128"/>
            </a:xfrm>
          </p:grpSpPr>
          <p:sp>
            <p:nvSpPr>
              <p:cNvPr id="191" name="Line 20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Line 21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3" name="Group 22"/>
            <p:cNvGrpSpPr>
              <a:grpSpLocks/>
            </p:cNvGrpSpPr>
            <p:nvPr/>
          </p:nvGrpSpPr>
          <p:grpSpPr bwMode="auto">
            <a:xfrm>
              <a:off x="5709330" y="1668916"/>
              <a:ext cx="160338" cy="150813"/>
              <a:chOff x="704" y="1880"/>
              <a:chExt cx="136" cy="128"/>
            </a:xfrm>
          </p:grpSpPr>
          <p:sp>
            <p:nvSpPr>
              <p:cNvPr id="194" name="Line 23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Line 24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6" name="Group 25"/>
            <p:cNvGrpSpPr>
              <a:grpSpLocks/>
            </p:cNvGrpSpPr>
            <p:nvPr/>
          </p:nvGrpSpPr>
          <p:grpSpPr bwMode="auto">
            <a:xfrm>
              <a:off x="5548992" y="1668916"/>
              <a:ext cx="160338" cy="150813"/>
              <a:chOff x="704" y="1880"/>
              <a:chExt cx="136" cy="128"/>
            </a:xfrm>
          </p:grpSpPr>
          <p:sp>
            <p:nvSpPr>
              <p:cNvPr id="197" name="Line 26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Line 27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9" name="Group 28"/>
            <p:cNvGrpSpPr>
              <a:grpSpLocks/>
            </p:cNvGrpSpPr>
            <p:nvPr/>
          </p:nvGrpSpPr>
          <p:grpSpPr bwMode="auto">
            <a:xfrm>
              <a:off x="5398180" y="1668916"/>
              <a:ext cx="160338" cy="150813"/>
              <a:chOff x="704" y="1880"/>
              <a:chExt cx="136" cy="128"/>
            </a:xfrm>
          </p:grpSpPr>
          <p:sp>
            <p:nvSpPr>
              <p:cNvPr id="200" name="Line 29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Line 30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2" name="Group 31"/>
            <p:cNvGrpSpPr>
              <a:grpSpLocks/>
            </p:cNvGrpSpPr>
            <p:nvPr/>
          </p:nvGrpSpPr>
          <p:grpSpPr bwMode="auto">
            <a:xfrm>
              <a:off x="5237842" y="1668916"/>
              <a:ext cx="160338" cy="150813"/>
              <a:chOff x="704" y="1880"/>
              <a:chExt cx="136" cy="128"/>
            </a:xfrm>
          </p:grpSpPr>
          <p:sp>
            <p:nvSpPr>
              <p:cNvPr id="203" name="Line 32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Line 33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05" name="Line 34"/>
          <p:cNvSpPr>
            <a:spLocks noChangeShapeType="1"/>
          </p:cNvSpPr>
          <p:nvPr/>
        </p:nvSpPr>
        <p:spPr bwMode="auto">
          <a:xfrm>
            <a:off x="7638142" y="2007055"/>
            <a:ext cx="0" cy="149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" name="Text Box 35"/>
          <p:cNvSpPr txBox="1">
            <a:spLocks noChangeArrowheads="1"/>
          </p:cNvSpPr>
          <p:nvPr/>
        </p:nvSpPr>
        <p:spPr bwMode="auto">
          <a:xfrm>
            <a:off x="7466693" y="2094367"/>
            <a:ext cx="52129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/>
              <a:t>x</a:t>
            </a:r>
            <a:r>
              <a:rPr lang="en-US" sz="1400" baseline="-25000" dirty="0"/>
              <a:t>0</a:t>
            </a:r>
            <a:r>
              <a:rPr lang="en-US" sz="1400" dirty="0"/>
              <a:t>=0</a:t>
            </a:r>
          </a:p>
        </p:txBody>
      </p:sp>
      <p:sp>
        <p:nvSpPr>
          <p:cNvPr id="207" name="Line 36"/>
          <p:cNvSpPr>
            <a:spLocks noChangeShapeType="1"/>
          </p:cNvSpPr>
          <p:nvPr/>
        </p:nvSpPr>
        <p:spPr bwMode="auto">
          <a:xfrm>
            <a:off x="8166780" y="2016580"/>
            <a:ext cx="0" cy="149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" name="Text Box 37"/>
          <p:cNvSpPr txBox="1">
            <a:spLocks noChangeArrowheads="1"/>
          </p:cNvSpPr>
          <p:nvPr/>
        </p:nvSpPr>
        <p:spPr bwMode="auto">
          <a:xfrm>
            <a:off x="8022317" y="2084841"/>
            <a:ext cx="6175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/>
              <a:t>x</a:t>
            </a:r>
            <a:r>
              <a:rPr lang="en-US" sz="1400" baseline="-25000"/>
              <a:t>max</a:t>
            </a:r>
          </a:p>
        </p:txBody>
      </p:sp>
      <p:sp>
        <p:nvSpPr>
          <p:cNvPr id="209" name="Text Box 38"/>
          <p:cNvSpPr txBox="1">
            <a:spLocks noChangeArrowheads="1"/>
          </p:cNvSpPr>
          <p:nvPr/>
        </p:nvSpPr>
        <p:spPr bwMode="auto">
          <a:xfrm>
            <a:off x="7211105" y="1368879"/>
            <a:ext cx="2730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k</a:t>
            </a:r>
          </a:p>
        </p:txBody>
      </p:sp>
      <p:sp>
        <p:nvSpPr>
          <p:cNvPr id="177" name="AutoShape 6"/>
          <p:cNvSpPr>
            <a:spLocks noChangeArrowheads="1"/>
          </p:cNvSpPr>
          <p:nvPr/>
        </p:nvSpPr>
        <p:spPr bwMode="auto">
          <a:xfrm>
            <a:off x="7759920" y="1678442"/>
            <a:ext cx="265113" cy="244475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" name="Freeform 5"/>
          <p:cNvSpPr/>
          <p:nvPr/>
        </p:nvSpPr>
        <p:spPr>
          <a:xfrm>
            <a:off x="3320144" y="3298371"/>
            <a:ext cx="463807" cy="1621972"/>
          </a:xfrm>
          <a:custGeom>
            <a:avLst/>
            <a:gdLst>
              <a:gd name="connsiteX0" fmla="*/ 228600 w 463807"/>
              <a:gd name="connsiteY0" fmla="*/ 0 h 1621972"/>
              <a:gd name="connsiteX1" fmla="*/ 457200 w 463807"/>
              <a:gd name="connsiteY1" fmla="*/ 838200 h 1621972"/>
              <a:gd name="connsiteX2" fmla="*/ 0 w 463807"/>
              <a:gd name="connsiteY2" fmla="*/ 1621972 h 162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3807" h="1621972">
                <a:moveTo>
                  <a:pt x="228600" y="0"/>
                </a:moveTo>
                <a:cubicBezTo>
                  <a:pt x="361950" y="283935"/>
                  <a:pt x="495300" y="567871"/>
                  <a:pt x="457200" y="838200"/>
                </a:cubicBezTo>
                <a:cubicBezTo>
                  <a:pt x="419100" y="1108529"/>
                  <a:pt x="209550" y="1365250"/>
                  <a:pt x="0" y="1621972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Freeform 209"/>
          <p:cNvSpPr/>
          <p:nvPr/>
        </p:nvSpPr>
        <p:spPr>
          <a:xfrm flipH="1">
            <a:off x="8571906" y="3309257"/>
            <a:ext cx="506780" cy="1698172"/>
          </a:xfrm>
          <a:custGeom>
            <a:avLst/>
            <a:gdLst>
              <a:gd name="connsiteX0" fmla="*/ 228600 w 463807"/>
              <a:gd name="connsiteY0" fmla="*/ 0 h 1621972"/>
              <a:gd name="connsiteX1" fmla="*/ 457200 w 463807"/>
              <a:gd name="connsiteY1" fmla="*/ 838200 h 1621972"/>
              <a:gd name="connsiteX2" fmla="*/ 0 w 463807"/>
              <a:gd name="connsiteY2" fmla="*/ 1621972 h 1621972"/>
              <a:gd name="connsiteX0" fmla="*/ 575900 w 627522"/>
              <a:gd name="connsiteY0" fmla="*/ 0 h 1698172"/>
              <a:gd name="connsiteX1" fmla="*/ 457200 w 627522"/>
              <a:gd name="connsiteY1" fmla="*/ 914400 h 1698172"/>
              <a:gd name="connsiteX2" fmla="*/ 0 w 627522"/>
              <a:gd name="connsiteY2" fmla="*/ 1698172 h 1698172"/>
              <a:gd name="connsiteX0" fmla="*/ 575900 w 577443"/>
              <a:gd name="connsiteY0" fmla="*/ 0 h 1698172"/>
              <a:gd name="connsiteX1" fmla="*/ 457200 w 577443"/>
              <a:gd name="connsiteY1" fmla="*/ 914400 h 1698172"/>
              <a:gd name="connsiteX2" fmla="*/ 0 w 577443"/>
              <a:gd name="connsiteY2" fmla="*/ 1698172 h 169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7443" h="1698172">
                <a:moveTo>
                  <a:pt x="575900" y="0"/>
                </a:moveTo>
                <a:cubicBezTo>
                  <a:pt x="585215" y="381906"/>
                  <a:pt x="553183" y="631371"/>
                  <a:pt x="457200" y="914400"/>
                </a:cubicBezTo>
                <a:cubicBezTo>
                  <a:pt x="361217" y="1197429"/>
                  <a:pt x="209550" y="1441450"/>
                  <a:pt x="0" y="1698172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Freeform 210"/>
          <p:cNvSpPr/>
          <p:nvPr/>
        </p:nvSpPr>
        <p:spPr>
          <a:xfrm flipV="1">
            <a:off x="4735288" y="2677883"/>
            <a:ext cx="225415" cy="968830"/>
          </a:xfrm>
          <a:custGeom>
            <a:avLst/>
            <a:gdLst>
              <a:gd name="connsiteX0" fmla="*/ 228600 w 463807"/>
              <a:gd name="connsiteY0" fmla="*/ 0 h 1621972"/>
              <a:gd name="connsiteX1" fmla="*/ 457200 w 463807"/>
              <a:gd name="connsiteY1" fmla="*/ 838200 h 1621972"/>
              <a:gd name="connsiteX2" fmla="*/ 0 w 463807"/>
              <a:gd name="connsiteY2" fmla="*/ 1621972 h 1621972"/>
              <a:gd name="connsiteX0" fmla="*/ 29825 w 457262"/>
              <a:gd name="connsiteY0" fmla="*/ 0 h 1569082"/>
              <a:gd name="connsiteX1" fmla="*/ 457200 w 457262"/>
              <a:gd name="connsiteY1" fmla="*/ 785310 h 1569082"/>
              <a:gd name="connsiteX2" fmla="*/ 0 w 457262"/>
              <a:gd name="connsiteY2" fmla="*/ 1569082 h 1569082"/>
              <a:gd name="connsiteX0" fmla="*/ 29825 w 457345"/>
              <a:gd name="connsiteY0" fmla="*/ 0 h 1569082"/>
              <a:gd name="connsiteX1" fmla="*/ 457200 w 457345"/>
              <a:gd name="connsiteY1" fmla="*/ 785310 h 1569082"/>
              <a:gd name="connsiteX2" fmla="*/ 0 w 457345"/>
              <a:gd name="connsiteY2" fmla="*/ 1569082 h 156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7345" h="1569082">
                <a:moveTo>
                  <a:pt x="29825" y="0"/>
                </a:moveTo>
                <a:cubicBezTo>
                  <a:pt x="339864" y="213415"/>
                  <a:pt x="462171" y="523796"/>
                  <a:pt x="457200" y="785310"/>
                </a:cubicBezTo>
                <a:cubicBezTo>
                  <a:pt x="452229" y="1046824"/>
                  <a:pt x="209550" y="1312360"/>
                  <a:pt x="0" y="1569082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Freeform 211"/>
          <p:cNvSpPr/>
          <p:nvPr/>
        </p:nvSpPr>
        <p:spPr>
          <a:xfrm flipH="1" flipV="1">
            <a:off x="7145505" y="2394857"/>
            <a:ext cx="311207" cy="1197429"/>
          </a:xfrm>
          <a:custGeom>
            <a:avLst/>
            <a:gdLst>
              <a:gd name="connsiteX0" fmla="*/ 228600 w 463807"/>
              <a:gd name="connsiteY0" fmla="*/ 0 h 1621972"/>
              <a:gd name="connsiteX1" fmla="*/ 457200 w 463807"/>
              <a:gd name="connsiteY1" fmla="*/ 838200 h 1621972"/>
              <a:gd name="connsiteX2" fmla="*/ 0 w 463807"/>
              <a:gd name="connsiteY2" fmla="*/ 1621972 h 1621972"/>
              <a:gd name="connsiteX0" fmla="*/ 20685 w 457228"/>
              <a:gd name="connsiteY0" fmla="*/ 0 h 1732203"/>
              <a:gd name="connsiteX1" fmla="*/ 457200 w 457228"/>
              <a:gd name="connsiteY1" fmla="*/ 948431 h 1732203"/>
              <a:gd name="connsiteX2" fmla="*/ 0 w 457228"/>
              <a:gd name="connsiteY2" fmla="*/ 1732203 h 1732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7228" h="1732203">
                <a:moveTo>
                  <a:pt x="20685" y="0"/>
                </a:moveTo>
                <a:cubicBezTo>
                  <a:pt x="154035" y="283935"/>
                  <a:pt x="460647" y="659731"/>
                  <a:pt x="457200" y="948431"/>
                </a:cubicBezTo>
                <a:cubicBezTo>
                  <a:pt x="453753" y="1237131"/>
                  <a:pt x="209550" y="1475481"/>
                  <a:pt x="0" y="1732203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15277A-7CEB-425A-B324-68123CA10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" y="510540"/>
            <a:ext cx="8930640" cy="583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5301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A75D573-8311-4FC4-906B-D6CB51AAA94C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123.2.1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US" dirty="0"/>
              <a:t>A mass-spring system is experiencing SHM. At a time, t, it has its maximum value of kinetic energy. At t, its potential energy due to the spring is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Positive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Zero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Negative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Positive but decreasing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Negative but increasing</a:t>
            </a:r>
          </a:p>
          <a:p>
            <a:pPr marL="609600" indent="-609600">
              <a:buNone/>
            </a:pPr>
            <a:endParaRPr lang="en-US" dirty="0"/>
          </a:p>
        </p:txBody>
      </p:sp>
      <p:grpSp>
        <p:nvGrpSpPr>
          <p:cNvPr id="29701" name="Group 4"/>
          <p:cNvGrpSpPr>
            <a:grpSpLocks/>
          </p:cNvGrpSpPr>
          <p:nvPr/>
        </p:nvGrpSpPr>
        <p:grpSpPr bwMode="auto">
          <a:xfrm>
            <a:off x="7923214" y="4192589"/>
            <a:ext cx="1887537" cy="1042987"/>
            <a:chOff x="3801" y="2151"/>
            <a:chExt cx="1189" cy="657"/>
          </a:xfrm>
        </p:grpSpPr>
        <p:sp>
          <p:nvSpPr>
            <p:cNvPr id="29702" name="AutoShape 5"/>
            <p:cNvSpPr>
              <a:spLocks noChangeArrowheads="1"/>
            </p:cNvSpPr>
            <p:nvPr/>
          </p:nvSpPr>
          <p:spPr bwMode="auto">
            <a:xfrm>
              <a:off x="4318" y="2363"/>
              <a:ext cx="166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9703" name="Line 6"/>
            <p:cNvSpPr>
              <a:spLocks noChangeShapeType="1"/>
            </p:cNvSpPr>
            <p:nvPr/>
          </p:nvSpPr>
          <p:spPr bwMode="auto">
            <a:xfrm>
              <a:off x="3813" y="2151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04" name="Line 7"/>
            <p:cNvSpPr>
              <a:spLocks noChangeShapeType="1"/>
            </p:cNvSpPr>
            <p:nvPr/>
          </p:nvSpPr>
          <p:spPr bwMode="auto">
            <a:xfrm rot="5400000" flipV="1">
              <a:off x="4309" y="2020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705" name="Group 8"/>
            <p:cNvGrpSpPr>
              <a:grpSpLocks/>
            </p:cNvGrpSpPr>
            <p:nvPr/>
          </p:nvGrpSpPr>
          <p:grpSpPr bwMode="auto">
            <a:xfrm>
              <a:off x="3831" y="2363"/>
              <a:ext cx="481" cy="94"/>
              <a:chOff x="2248" y="1248"/>
              <a:chExt cx="648" cy="128"/>
            </a:xfrm>
          </p:grpSpPr>
          <p:grpSp>
            <p:nvGrpSpPr>
              <p:cNvPr id="29710" name="Group 9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29732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33" name="Line 1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711" name="Group 12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29730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31" name="Line 1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712" name="Group 15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29728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29" name="Line 1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713" name="Group 18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29726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27" name="Line 2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714" name="Group 21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29724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25" name="Line 2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715" name="Group 24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29722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23" name="Line 2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716" name="Group 27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29720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21" name="Line 2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717" name="Group 30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29718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19" name="Line 3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9706" name="Line 33"/>
            <p:cNvSpPr>
              <a:spLocks noChangeShapeType="1"/>
            </p:cNvSpPr>
            <p:nvPr/>
          </p:nvSpPr>
          <p:spPr bwMode="auto">
            <a:xfrm>
              <a:off x="4383" y="256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07" name="Text Box 34"/>
            <p:cNvSpPr txBox="1">
              <a:spLocks noChangeArrowheads="1"/>
            </p:cNvSpPr>
            <p:nvPr/>
          </p:nvSpPr>
          <p:spPr bwMode="auto">
            <a:xfrm>
              <a:off x="4275" y="2616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29708" name="Line 35"/>
            <p:cNvSpPr>
              <a:spLocks noChangeShapeType="1"/>
            </p:cNvSpPr>
            <p:nvPr/>
          </p:nvSpPr>
          <p:spPr bwMode="auto">
            <a:xfrm>
              <a:off x="4716" y="2575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09" name="Text Box 36"/>
            <p:cNvSpPr txBox="1">
              <a:spLocks noChangeArrowheads="1"/>
            </p:cNvSpPr>
            <p:nvPr/>
          </p:nvSpPr>
          <p:spPr bwMode="auto">
            <a:xfrm>
              <a:off x="4625" y="2611"/>
              <a:ext cx="36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18429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586B88-186B-4634-8419-2BBCE8D413F8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123.2.2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937500" cy="4525963"/>
          </a:xfrm>
        </p:spPr>
        <p:txBody>
          <a:bodyPr/>
          <a:lstStyle/>
          <a:p>
            <a:pPr marL="609600" indent="-609600">
              <a:buNone/>
            </a:pPr>
            <a:r>
              <a:rPr lang="en-US"/>
              <a:t>The amplitude of a SHO doubles, its total mechanical energy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Quadruples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Decreases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Doubles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Varies as a function of time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Insufficient information to tell</a:t>
            </a:r>
          </a:p>
        </p:txBody>
      </p:sp>
    </p:spTree>
    <p:extLst>
      <p:ext uri="{BB962C8B-B14F-4D97-AF65-F5344CB8AC3E}">
        <p14:creationId xmlns:p14="http://schemas.microsoft.com/office/powerpoint/2010/main" val="24288253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902C7-A832-4827-AADD-22A049FE1F89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2616200" y="0"/>
            <a:ext cx="6477000" cy="1143000"/>
          </a:xfrm>
        </p:spPr>
        <p:txBody>
          <a:bodyPr/>
          <a:lstStyle/>
          <a:p>
            <a:pPr eaLnBrk="1" hangingPunct="1"/>
            <a:r>
              <a:rPr lang="en-US"/>
              <a:t>Question 123.2.3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937500" cy="4525963"/>
          </a:xfrm>
        </p:spPr>
        <p:txBody>
          <a:bodyPr/>
          <a:lstStyle/>
          <a:p>
            <a:pPr marL="609600" indent="-609600">
              <a:buNone/>
            </a:pPr>
            <a:r>
              <a:rPr lang="en-US" dirty="0"/>
              <a:t>The spring of a spring-mass SHM system has a spring constant of k. If I replace the spring with a new one that has a spring constant of k/2 but leave everything else the same,  the total mechanical energy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Quadruples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Doubles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Is half the original value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Insufficient information to tell</a:t>
            </a:r>
          </a:p>
        </p:txBody>
      </p:sp>
    </p:spTree>
    <p:extLst>
      <p:ext uri="{BB962C8B-B14F-4D97-AF65-F5344CB8AC3E}">
        <p14:creationId xmlns:p14="http://schemas.microsoft.com/office/powerpoint/2010/main" val="40738553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 123.2.4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I have an ideal SHO oscillating with a maximum Kinetic energy of 5J. If there is no damping (no frictional forces), then how much total mechanical energy will I have five minutes from now?</a:t>
            </a:r>
          </a:p>
          <a:p>
            <a:pPr>
              <a:buFontTx/>
              <a:buAutoNum type="alphaLcParenR"/>
            </a:pPr>
            <a:r>
              <a:rPr lang="en-US" dirty="0"/>
              <a:t> 5J</a:t>
            </a:r>
          </a:p>
          <a:p>
            <a:pPr>
              <a:buFontTx/>
              <a:buAutoNum type="alphaLcParenR"/>
            </a:pPr>
            <a:r>
              <a:rPr lang="en-US" dirty="0"/>
              <a:t> 4J</a:t>
            </a:r>
          </a:p>
          <a:p>
            <a:pPr>
              <a:buFontTx/>
              <a:buAutoNum type="alphaLcParenR"/>
            </a:pPr>
            <a:r>
              <a:rPr lang="en-US" dirty="0"/>
              <a:t> 2.567J</a:t>
            </a:r>
          </a:p>
          <a:p>
            <a:pPr>
              <a:buFontTx/>
              <a:buAutoNum type="alphaLcParenR"/>
            </a:pPr>
            <a:r>
              <a:rPr lang="en-US" dirty="0"/>
              <a:t> 0J</a:t>
            </a: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3AD2CC5-754C-4DDE-BFA8-FD39BACEF6AE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20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0EECFF4-6547-4415-942E-8F51E943D1B1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123.2.5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937500" cy="4525963"/>
          </a:xfrm>
        </p:spPr>
        <p:txBody>
          <a:bodyPr/>
          <a:lstStyle/>
          <a:p>
            <a:pPr marL="609600" indent="-609600">
              <a:buNone/>
            </a:pPr>
            <a:r>
              <a:rPr lang="en-US" dirty="0"/>
              <a:t>What is the restoring force in a mass-spring system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F=ma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F=-k(x-</a:t>
            </a:r>
            <a:r>
              <a:rPr lang="en-US" dirty="0" err="1"/>
              <a:t>x</a:t>
            </a:r>
            <a:r>
              <a:rPr lang="en-US" baseline="-25000" dirty="0" err="1"/>
              <a:t>e</a:t>
            </a:r>
            <a:r>
              <a:rPr lang="en-US" dirty="0"/>
              <a:t>)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F=</a:t>
            </a:r>
            <a:r>
              <a:rPr lang="en-US" dirty="0">
                <a:sym typeface="Symbol" pitchFamily="18" charset="2"/>
              </a:rPr>
              <a:t>F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F=-mg</a:t>
            </a:r>
          </a:p>
        </p:txBody>
      </p:sp>
    </p:spTree>
    <p:extLst>
      <p:ext uri="{BB962C8B-B14F-4D97-AF65-F5344CB8AC3E}">
        <p14:creationId xmlns:p14="http://schemas.microsoft.com/office/powerpoint/2010/main" val="38002943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A1B504B-BF09-4930-87B6-CAC71AA782B7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123.2.7</a:t>
            </a:r>
          </a:p>
        </p:txBody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None/>
              <a:defRPr/>
            </a:pPr>
            <a:r>
              <a:rPr lang="en-US" dirty="0"/>
              <a:t>A mass on a spring in SHM has amplitude A and period T.   At what point in the motion is v = 0 and a = 0 simultaneously?</a:t>
            </a:r>
          </a:p>
          <a:p>
            <a:pPr marL="533400" indent="-533400">
              <a:lnSpc>
                <a:spcPct val="130000"/>
              </a:lnSpc>
              <a:buFontTx/>
              <a:buAutoNum type="alphaLcParenR"/>
              <a:defRPr/>
            </a:pPr>
            <a:r>
              <a:rPr lang="en-US" b="1" i="1" dirty="0">
                <a:solidFill>
                  <a:schemeClr val="tx2"/>
                </a:solidFill>
              </a:rPr>
              <a:t>x</a:t>
            </a:r>
            <a:r>
              <a:rPr lang="en-US" b="1" dirty="0">
                <a:solidFill>
                  <a:schemeClr val="tx2"/>
                </a:solidFill>
              </a:rPr>
              <a:t> = </a:t>
            </a:r>
            <a:r>
              <a:rPr lang="en-US" b="1" i="1" dirty="0">
                <a:solidFill>
                  <a:schemeClr val="tx2"/>
                </a:solidFill>
              </a:rPr>
              <a:t>A</a:t>
            </a:r>
          </a:p>
          <a:p>
            <a:pPr marL="533400" indent="-533400">
              <a:lnSpc>
                <a:spcPct val="130000"/>
              </a:lnSpc>
              <a:buFontTx/>
              <a:buAutoNum type="alphaLcParenR"/>
              <a:defRPr/>
            </a:pPr>
            <a:r>
              <a:rPr lang="en-US" b="1" i="1" dirty="0">
                <a:solidFill>
                  <a:schemeClr val="tx2"/>
                </a:solidFill>
              </a:rPr>
              <a:t>x</a:t>
            </a:r>
            <a:r>
              <a:rPr lang="en-US" b="1" dirty="0">
                <a:solidFill>
                  <a:schemeClr val="tx2"/>
                </a:solidFill>
              </a:rPr>
              <a:t> &gt; 0 but </a:t>
            </a:r>
            <a:r>
              <a:rPr lang="en-US" b="1" i="1" dirty="0">
                <a:solidFill>
                  <a:schemeClr val="tx2"/>
                </a:solidFill>
              </a:rPr>
              <a:t>x</a:t>
            </a:r>
            <a:r>
              <a:rPr lang="en-US" b="1" dirty="0">
                <a:solidFill>
                  <a:schemeClr val="tx2"/>
                </a:solidFill>
              </a:rPr>
              <a:t> &lt; </a:t>
            </a:r>
            <a:r>
              <a:rPr lang="en-US" b="1" i="1" dirty="0">
                <a:solidFill>
                  <a:schemeClr val="tx2"/>
                </a:solidFill>
              </a:rPr>
              <a:t>A</a:t>
            </a: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en-US" b="1" dirty="0">
              <a:solidFill>
                <a:schemeClr val="tx2"/>
              </a:solidFill>
            </a:endParaRPr>
          </a:p>
          <a:p>
            <a:pPr marL="533400" indent="-533400">
              <a:lnSpc>
                <a:spcPct val="130000"/>
              </a:lnSpc>
              <a:buFontTx/>
              <a:buAutoNum type="alphaLcParenR"/>
              <a:defRPr/>
            </a:pPr>
            <a:r>
              <a:rPr lang="en-US" b="1" i="1" dirty="0">
                <a:solidFill>
                  <a:schemeClr val="tx2"/>
                </a:solidFill>
              </a:rPr>
              <a:t>x</a:t>
            </a:r>
            <a:r>
              <a:rPr lang="en-US" b="1" dirty="0">
                <a:solidFill>
                  <a:schemeClr val="tx2"/>
                </a:solidFill>
              </a:rPr>
              <a:t> = 0</a:t>
            </a:r>
          </a:p>
          <a:p>
            <a:pPr marL="533400" indent="-533400">
              <a:lnSpc>
                <a:spcPct val="130000"/>
              </a:lnSpc>
              <a:buFontTx/>
              <a:buAutoNum type="alphaLcParenR"/>
              <a:defRPr/>
            </a:pPr>
            <a:r>
              <a:rPr lang="en-US" b="1" i="1" dirty="0">
                <a:solidFill>
                  <a:schemeClr val="tx2"/>
                </a:solidFill>
              </a:rPr>
              <a:t>x</a:t>
            </a:r>
            <a:r>
              <a:rPr lang="en-US" b="1" dirty="0">
                <a:solidFill>
                  <a:schemeClr val="tx2"/>
                </a:solidFill>
              </a:rPr>
              <a:t> &lt; 0 </a:t>
            </a:r>
          </a:p>
          <a:p>
            <a:pPr marL="533400" indent="-533400">
              <a:lnSpc>
                <a:spcPct val="130000"/>
              </a:lnSpc>
              <a:buFontTx/>
              <a:buAutoNum type="alphaLcParenR"/>
              <a:defRPr/>
            </a:pPr>
            <a:r>
              <a:rPr lang="en-US" b="1" dirty="0">
                <a:solidFill>
                  <a:schemeClr val="tx2"/>
                </a:solidFill>
              </a:rPr>
              <a:t>none of the above</a:t>
            </a:r>
            <a:r>
              <a:rPr lang="en-US" sz="3100" b="1" dirty="0">
                <a:solidFill>
                  <a:schemeClr val="tx2"/>
                </a:solidFill>
              </a:rPr>
              <a:t> </a:t>
            </a:r>
            <a:endParaRPr lang="en-US" sz="31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533400" indent="-533400">
              <a:buNone/>
              <a:defRPr/>
            </a:pPr>
            <a:endParaRPr lang="en-US" dirty="0"/>
          </a:p>
          <a:p>
            <a:pPr marL="533400" indent="-533400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4898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C253C7D-C177-4CBA-8EAD-75BEA321149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123.2.8</a:t>
            </a:r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None/>
              <a:defRPr/>
            </a:pPr>
            <a:r>
              <a:rPr lang="en-US" sz="2400" dirty="0"/>
              <a:t>A spring can be stretched a distance of 60 cm with an applied force of 1 N.  If an identical spring is connected in parallel with the first spring, and both are pulled together, how much force will be required to stretch this parallel combination a distance of 60 cm? </a:t>
            </a:r>
          </a:p>
          <a:p>
            <a:pPr marL="533400" indent="-533400">
              <a:buFont typeface="Wingdings" pitchFamily="2" charset="2"/>
              <a:buAutoNum type="alphaLcParenR"/>
              <a:defRPr/>
            </a:pPr>
            <a:r>
              <a:rPr lang="en-US" b="1" dirty="0">
                <a:solidFill>
                  <a:schemeClr val="tx2"/>
                </a:solidFill>
              </a:rPr>
              <a:t>	</a:t>
            </a:r>
            <a:r>
              <a:rPr lang="en-US" b="1" dirty="0">
                <a:solidFill>
                  <a:schemeClr val="tx2"/>
                </a:solidFill>
                <a:cs typeface="Arial" charset="0"/>
              </a:rPr>
              <a:t>1/4 </a:t>
            </a:r>
            <a:r>
              <a:rPr lang="en-US" b="1" i="1" dirty="0">
                <a:solidFill>
                  <a:schemeClr val="tx2"/>
                </a:solidFill>
                <a:cs typeface="Arial" charset="0"/>
              </a:rPr>
              <a:t>N</a:t>
            </a:r>
            <a:endParaRPr lang="en-US" b="1" i="1" dirty="0">
              <a:solidFill>
                <a:schemeClr val="tx2"/>
              </a:solidFill>
            </a:endParaRPr>
          </a:p>
          <a:p>
            <a:pPr marL="533400" indent="-533400">
              <a:buFontTx/>
              <a:buAutoNum type="alphaLcParenR"/>
              <a:defRPr/>
            </a:pPr>
            <a:r>
              <a:rPr lang="en-US" b="1" dirty="0">
                <a:solidFill>
                  <a:schemeClr val="tx2"/>
                </a:solidFill>
              </a:rPr>
              <a:t>	</a:t>
            </a:r>
            <a:r>
              <a:rPr lang="en-US" b="1" dirty="0">
                <a:solidFill>
                  <a:schemeClr val="tx2"/>
                </a:solidFill>
                <a:cs typeface="Arial" charset="0"/>
              </a:rPr>
              <a:t>1/2 </a:t>
            </a:r>
            <a:r>
              <a:rPr lang="en-US" b="1" i="1" dirty="0">
                <a:solidFill>
                  <a:schemeClr val="tx2"/>
                </a:solidFill>
                <a:cs typeface="Arial" charset="0"/>
              </a:rPr>
              <a:t>N</a:t>
            </a:r>
            <a:endParaRPr lang="en-US" b="1" i="1" dirty="0">
              <a:solidFill>
                <a:schemeClr val="tx2"/>
              </a:solidFill>
            </a:endParaRPr>
          </a:p>
          <a:p>
            <a:pPr marL="533400" indent="-533400">
              <a:buFontTx/>
              <a:buAutoNum type="alphaLcParenR"/>
              <a:defRPr/>
            </a:pPr>
            <a:r>
              <a:rPr lang="en-US" b="1" dirty="0">
                <a:solidFill>
                  <a:schemeClr val="tx2"/>
                </a:solidFill>
              </a:rPr>
              <a:t>	1 </a:t>
            </a:r>
            <a:r>
              <a:rPr lang="en-US" b="1" i="1" dirty="0">
                <a:solidFill>
                  <a:schemeClr val="tx2"/>
                </a:solidFill>
              </a:rPr>
              <a:t>N</a:t>
            </a:r>
          </a:p>
          <a:p>
            <a:pPr marL="533400" indent="-533400">
              <a:buFontTx/>
              <a:buAutoNum type="alphaLcParenR"/>
              <a:defRPr/>
            </a:pPr>
            <a:r>
              <a:rPr lang="en-US" b="1" dirty="0">
                <a:solidFill>
                  <a:schemeClr val="tx2"/>
                </a:solidFill>
              </a:rPr>
              <a:t>	2 </a:t>
            </a:r>
            <a:r>
              <a:rPr lang="en-US" b="1" i="1" dirty="0">
                <a:solidFill>
                  <a:schemeClr val="tx2"/>
                </a:solidFill>
              </a:rPr>
              <a:t>N</a:t>
            </a:r>
          </a:p>
          <a:p>
            <a:pPr marL="533400" indent="-533400">
              <a:buFontTx/>
              <a:buAutoNum type="alphaLcParenR"/>
              <a:defRPr/>
            </a:pPr>
            <a:r>
              <a:rPr lang="en-US" b="1" dirty="0">
                <a:solidFill>
                  <a:schemeClr val="tx2"/>
                </a:solidFill>
              </a:rPr>
              <a:t>	4 </a:t>
            </a:r>
            <a:r>
              <a:rPr lang="en-US" b="1" i="1" dirty="0">
                <a:solidFill>
                  <a:schemeClr val="tx2"/>
                </a:solidFill>
              </a:rPr>
              <a:t>N</a:t>
            </a:r>
            <a:endParaRPr lang="en-US" i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533400" indent="-533400">
              <a:buNone/>
              <a:defRPr/>
            </a:pPr>
            <a:endParaRPr lang="en-US" sz="2400" dirty="0"/>
          </a:p>
          <a:p>
            <a:pPr marL="533400" indent="-533400">
              <a:buNone/>
              <a:defRPr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081679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2B77287-43AF-4366-922E-104F2A263D62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123.2.9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1" y="1600201"/>
            <a:ext cx="5210175" cy="4525963"/>
          </a:xfrm>
        </p:spPr>
        <p:txBody>
          <a:bodyPr/>
          <a:lstStyle/>
          <a:p>
            <a:pPr marL="533400" indent="-533400">
              <a:buNone/>
            </a:pPr>
            <a:r>
              <a:rPr lang="en-US" sz="2400" dirty="0"/>
              <a:t>A hole is drilled through the center of Earth and emerges on the other side.  You jump into the hole.  What happens to you?</a:t>
            </a:r>
          </a:p>
          <a:p>
            <a:pPr marL="533400" indent="-533400">
              <a:buFontTx/>
              <a:buAutoNum type="alphaLcParenR"/>
            </a:pPr>
            <a:r>
              <a:rPr lang="en-US" sz="2400" dirty="0"/>
              <a:t>you fall to the center and stop</a:t>
            </a:r>
          </a:p>
          <a:p>
            <a:pPr marL="533400" indent="-533400">
              <a:buFontTx/>
              <a:buAutoNum type="alphaLcParenR"/>
            </a:pPr>
            <a:r>
              <a:rPr lang="en-US" sz="2400" dirty="0"/>
              <a:t>you go all the way through and continue off into space </a:t>
            </a:r>
          </a:p>
          <a:p>
            <a:pPr marL="533400" indent="-533400">
              <a:buFontTx/>
              <a:buAutoNum type="alphaLcParenR"/>
            </a:pPr>
            <a:r>
              <a:rPr lang="en-US" sz="2400" dirty="0"/>
              <a:t>you fall to the other side of Earth and then return</a:t>
            </a:r>
          </a:p>
          <a:p>
            <a:pPr marL="533400" indent="-533400">
              <a:buFontTx/>
              <a:buAutoNum type="alphaLcParenR"/>
            </a:pPr>
            <a:r>
              <a:rPr lang="en-US" sz="2400" dirty="0"/>
              <a:t>you won’t fall at all</a:t>
            </a:r>
          </a:p>
          <a:p>
            <a:pPr marL="533400" indent="-533400"/>
            <a:endParaRPr lang="en-US" sz="2400" dirty="0"/>
          </a:p>
        </p:txBody>
      </p:sp>
      <p:grpSp>
        <p:nvGrpSpPr>
          <p:cNvPr id="37894" name="Group 5"/>
          <p:cNvGrpSpPr>
            <a:grpSpLocks/>
          </p:cNvGrpSpPr>
          <p:nvPr/>
        </p:nvGrpSpPr>
        <p:grpSpPr bwMode="auto">
          <a:xfrm>
            <a:off x="7874001" y="2443360"/>
            <a:ext cx="2487613" cy="2201499"/>
            <a:chOff x="4902" y="2609"/>
            <a:chExt cx="422" cy="422"/>
          </a:xfrm>
        </p:grpSpPr>
        <p:sp>
          <p:nvSpPr>
            <p:cNvPr id="37907" name="Oval 6"/>
            <p:cNvSpPr>
              <a:spLocks noChangeArrowheads="1"/>
            </p:cNvSpPr>
            <p:nvPr/>
          </p:nvSpPr>
          <p:spPr bwMode="auto">
            <a:xfrm>
              <a:off x="4902" y="2609"/>
              <a:ext cx="422" cy="422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8" name="Freeform 7"/>
            <p:cNvSpPr>
              <a:spLocks/>
            </p:cNvSpPr>
            <p:nvPr/>
          </p:nvSpPr>
          <p:spPr bwMode="auto">
            <a:xfrm>
              <a:off x="4931" y="2664"/>
              <a:ext cx="380" cy="331"/>
            </a:xfrm>
            <a:custGeom>
              <a:avLst/>
              <a:gdLst>
                <a:gd name="T0" fmla="*/ 1 w 630"/>
                <a:gd name="T1" fmla="*/ 1 h 553"/>
                <a:gd name="T2" fmla="*/ 1 w 630"/>
                <a:gd name="T3" fmla="*/ 1 h 553"/>
                <a:gd name="T4" fmla="*/ 1 w 630"/>
                <a:gd name="T5" fmla="*/ 1 h 553"/>
                <a:gd name="T6" fmla="*/ 1 w 630"/>
                <a:gd name="T7" fmla="*/ 1 h 553"/>
                <a:gd name="T8" fmla="*/ 1 w 630"/>
                <a:gd name="T9" fmla="*/ 1 h 553"/>
                <a:gd name="T10" fmla="*/ 1 w 630"/>
                <a:gd name="T11" fmla="*/ 1 h 553"/>
                <a:gd name="T12" fmla="*/ 1 w 630"/>
                <a:gd name="T13" fmla="*/ 1 h 553"/>
                <a:gd name="T14" fmla="*/ 1 w 630"/>
                <a:gd name="T15" fmla="*/ 1 h 553"/>
                <a:gd name="T16" fmla="*/ 1 w 630"/>
                <a:gd name="T17" fmla="*/ 1 h 553"/>
                <a:gd name="T18" fmla="*/ 1 w 630"/>
                <a:gd name="T19" fmla="*/ 1 h 553"/>
                <a:gd name="T20" fmla="*/ 1 w 630"/>
                <a:gd name="T21" fmla="*/ 1 h 553"/>
                <a:gd name="T22" fmla="*/ 1 w 630"/>
                <a:gd name="T23" fmla="*/ 1 h 553"/>
                <a:gd name="T24" fmla="*/ 1 w 630"/>
                <a:gd name="T25" fmla="*/ 1 h 553"/>
                <a:gd name="T26" fmla="*/ 1 w 630"/>
                <a:gd name="T27" fmla="*/ 1 h 553"/>
                <a:gd name="T28" fmla="*/ 1 w 630"/>
                <a:gd name="T29" fmla="*/ 1 h 553"/>
                <a:gd name="T30" fmla="*/ 1 w 630"/>
                <a:gd name="T31" fmla="*/ 1 h 553"/>
                <a:gd name="T32" fmla="*/ 1 w 630"/>
                <a:gd name="T33" fmla="*/ 1 h 553"/>
                <a:gd name="T34" fmla="*/ 1 w 630"/>
                <a:gd name="T35" fmla="*/ 1 h 553"/>
                <a:gd name="T36" fmla="*/ 1 w 630"/>
                <a:gd name="T37" fmla="*/ 1 h 553"/>
                <a:gd name="T38" fmla="*/ 1 w 630"/>
                <a:gd name="T39" fmla="*/ 1 h 553"/>
                <a:gd name="T40" fmla="*/ 1 w 630"/>
                <a:gd name="T41" fmla="*/ 1 h 553"/>
                <a:gd name="T42" fmla="*/ 1 w 630"/>
                <a:gd name="T43" fmla="*/ 1 h 553"/>
                <a:gd name="T44" fmla="*/ 1 w 630"/>
                <a:gd name="T45" fmla="*/ 1 h 553"/>
                <a:gd name="T46" fmla="*/ 1 w 630"/>
                <a:gd name="T47" fmla="*/ 1 h 553"/>
                <a:gd name="T48" fmla="*/ 1 w 630"/>
                <a:gd name="T49" fmla="*/ 1 h 553"/>
                <a:gd name="T50" fmla="*/ 1 w 630"/>
                <a:gd name="T51" fmla="*/ 1 h 553"/>
                <a:gd name="T52" fmla="*/ 1 w 630"/>
                <a:gd name="T53" fmla="*/ 1 h 553"/>
                <a:gd name="T54" fmla="*/ 1 w 630"/>
                <a:gd name="T55" fmla="*/ 1 h 553"/>
                <a:gd name="T56" fmla="*/ 1 w 630"/>
                <a:gd name="T57" fmla="*/ 1 h 553"/>
                <a:gd name="T58" fmla="*/ 1 w 630"/>
                <a:gd name="T59" fmla="*/ 1 h 553"/>
                <a:gd name="T60" fmla="*/ 1 w 630"/>
                <a:gd name="T61" fmla="*/ 1 h 553"/>
                <a:gd name="T62" fmla="*/ 1 w 630"/>
                <a:gd name="T63" fmla="*/ 1 h 553"/>
                <a:gd name="T64" fmla="*/ 1 w 630"/>
                <a:gd name="T65" fmla="*/ 1 h 553"/>
                <a:gd name="T66" fmla="*/ 1 w 630"/>
                <a:gd name="T67" fmla="*/ 1 h 553"/>
                <a:gd name="T68" fmla="*/ 1 w 630"/>
                <a:gd name="T69" fmla="*/ 1 h 553"/>
                <a:gd name="T70" fmla="*/ 1 w 630"/>
                <a:gd name="T71" fmla="*/ 1 h 553"/>
                <a:gd name="T72" fmla="*/ 1 w 630"/>
                <a:gd name="T73" fmla="*/ 1 h 553"/>
                <a:gd name="T74" fmla="*/ 1 w 630"/>
                <a:gd name="T75" fmla="*/ 1 h 553"/>
                <a:gd name="T76" fmla="*/ 1 w 630"/>
                <a:gd name="T77" fmla="*/ 1 h 553"/>
                <a:gd name="T78" fmla="*/ 1 w 630"/>
                <a:gd name="T79" fmla="*/ 1 h 553"/>
                <a:gd name="T80" fmla="*/ 1 w 630"/>
                <a:gd name="T81" fmla="*/ 1 h 553"/>
                <a:gd name="T82" fmla="*/ 1 w 630"/>
                <a:gd name="T83" fmla="*/ 1 h 553"/>
                <a:gd name="T84" fmla="*/ 1 w 630"/>
                <a:gd name="T85" fmla="*/ 1 h 553"/>
                <a:gd name="T86" fmla="*/ 1 w 630"/>
                <a:gd name="T87" fmla="*/ 1 h 553"/>
                <a:gd name="T88" fmla="*/ 1 w 630"/>
                <a:gd name="T89" fmla="*/ 1 h 553"/>
                <a:gd name="T90" fmla="*/ 1 w 630"/>
                <a:gd name="T91" fmla="*/ 1 h 553"/>
                <a:gd name="T92" fmla="*/ 1 w 630"/>
                <a:gd name="T93" fmla="*/ 1 h 553"/>
                <a:gd name="T94" fmla="*/ 1 w 630"/>
                <a:gd name="T95" fmla="*/ 1 h 553"/>
                <a:gd name="T96" fmla="*/ 1 w 630"/>
                <a:gd name="T97" fmla="*/ 1 h 553"/>
                <a:gd name="T98" fmla="*/ 1 w 630"/>
                <a:gd name="T99" fmla="*/ 1 h 553"/>
                <a:gd name="T100" fmla="*/ 1 w 630"/>
                <a:gd name="T101" fmla="*/ 1 h 553"/>
                <a:gd name="T102" fmla="*/ 1 w 630"/>
                <a:gd name="T103" fmla="*/ 1 h 553"/>
                <a:gd name="T104" fmla="*/ 1 w 630"/>
                <a:gd name="T105" fmla="*/ 1 h 553"/>
                <a:gd name="T106" fmla="*/ 1 w 630"/>
                <a:gd name="T107" fmla="*/ 1 h 553"/>
                <a:gd name="T108" fmla="*/ 1 w 630"/>
                <a:gd name="T109" fmla="*/ 1 h 553"/>
                <a:gd name="T110" fmla="*/ 1 w 630"/>
                <a:gd name="T111" fmla="*/ 1 h 553"/>
                <a:gd name="T112" fmla="*/ 1 w 630"/>
                <a:gd name="T113" fmla="*/ 1 h 55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630"/>
                <a:gd name="T172" fmla="*/ 0 h 553"/>
                <a:gd name="T173" fmla="*/ 630 w 630"/>
                <a:gd name="T174" fmla="*/ 553 h 55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630" h="553">
                  <a:moveTo>
                    <a:pt x="80" y="0"/>
                  </a:moveTo>
                  <a:lnTo>
                    <a:pt x="76" y="7"/>
                  </a:lnTo>
                  <a:lnTo>
                    <a:pt x="70" y="14"/>
                  </a:lnTo>
                  <a:lnTo>
                    <a:pt x="63" y="21"/>
                  </a:lnTo>
                  <a:lnTo>
                    <a:pt x="56" y="29"/>
                  </a:lnTo>
                  <a:lnTo>
                    <a:pt x="50" y="38"/>
                  </a:lnTo>
                  <a:lnTo>
                    <a:pt x="45" y="46"/>
                  </a:lnTo>
                  <a:lnTo>
                    <a:pt x="42" y="57"/>
                  </a:lnTo>
                  <a:lnTo>
                    <a:pt x="42" y="67"/>
                  </a:lnTo>
                  <a:lnTo>
                    <a:pt x="42" y="81"/>
                  </a:lnTo>
                  <a:lnTo>
                    <a:pt x="39" y="90"/>
                  </a:lnTo>
                  <a:lnTo>
                    <a:pt x="38" y="95"/>
                  </a:lnTo>
                  <a:lnTo>
                    <a:pt x="42" y="96"/>
                  </a:lnTo>
                  <a:lnTo>
                    <a:pt x="49" y="95"/>
                  </a:lnTo>
                  <a:lnTo>
                    <a:pt x="53" y="92"/>
                  </a:lnTo>
                  <a:lnTo>
                    <a:pt x="57" y="89"/>
                  </a:lnTo>
                  <a:lnTo>
                    <a:pt x="66" y="85"/>
                  </a:lnTo>
                  <a:lnTo>
                    <a:pt x="74" y="84"/>
                  </a:lnTo>
                  <a:lnTo>
                    <a:pt x="78" y="85"/>
                  </a:lnTo>
                  <a:lnTo>
                    <a:pt x="80" y="89"/>
                  </a:lnTo>
                  <a:lnTo>
                    <a:pt x="86" y="93"/>
                  </a:lnTo>
                  <a:lnTo>
                    <a:pt x="93" y="98"/>
                  </a:lnTo>
                  <a:lnTo>
                    <a:pt x="100" y="99"/>
                  </a:lnTo>
                  <a:lnTo>
                    <a:pt x="108" y="99"/>
                  </a:lnTo>
                  <a:lnTo>
                    <a:pt x="119" y="97"/>
                  </a:lnTo>
                  <a:lnTo>
                    <a:pt x="128" y="95"/>
                  </a:lnTo>
                  <a:lnTo>
                    <a:pt x="133" y="95"/>
                  </a:lnTo>
                  <a:lnTo>
                    <a:pt x="139" y="96"/>
                  </a:lnTo>
                  <a:lnTo>
                    <a:pt x="149" y="95"/>
                  </a:lnTo>
                  <a:lnTo>
                    <a:pt x="163" y="93"/>
                  </a:lnTo>
                  <a:lnTo>
                    <a:pt x="173" y="92"/>
                  </a:lnTo>
                  <a:lnTo>
                    <a:pt x="179" y="90"/>
                  </a:lnTo>
                  <a:lnTo>
                    <a:pt x="179" y="84"/>
                  </a:lnTo>
                  <a:lnTo>
                    <a:pt x="178" y="78"/>
                  </a:lnTo>
                  <a:lnTo>
                    <a:pt x="176" y="77"/>
                  </a:lnTo>
                  <a:lnTo>
                    <a:pt x="173" y="78"/>
                  </a:lnTo>
                  <a:lnTo>
                    <a:pt x="165" y="81"/>
                  </a:lnTo>
                  <a:lnTo>
                    <a:pt x="156" y="83"/>
                  </a:lnTo>
                  <a:lnTo>
                    <a:pt x="149" y="86"/>
                  </a:lnTo>
                  <a:lnTo>
                    <a:pt x="143" y="86"/>
                  </a:lnTo>
                  <a:lnTo>
                    <a:pt x="136" y="82"/>
                  </a:lnTo>
                  <a:lnTo>
                    <a:pt x="130" y="76"/>
                  </a:lnTo>
                  <a:lnTo>
                    <a:pt x="126" y="73"/>
                  </a:lnTo>
                  <a:lnTo>
                    <a:pt x="127" y="70"/>
                  </a:lnTo>
                  <a:lnTo>
                    <a:pt x="138" y="69"/>
                  </a:lnTo>
                  <a:lnTo>
                    <a:pt x="150" y="68"/>
                  </a:lnTo>
                  <a:lnTo>
                    <a:pt x="159" y="67"/>
                  </a:lnTo>
                  <a:lnTo>
                    <a:pt x="165" y="63"/>
                  </a:lnTo>
                  <a:lnTo>
                    <a:pt x="169" y="58"/>
                  </a:lnTo>
                  <a:lnTo>
                    <a:pt x="169" y="51"/>
                  </a:lnTo>
                  <a:lnTo>
                    <a:pt x="170" y="48"/>
                  </a:lnTo>
                  <a:lnTo>
                    <a:pt x="173" y="50"/>
                  </a:lnTo>
                  <a:lnTo>
                    <a:pt x="181" y="53"/>
                  </a:lnTo>
                  <a:lnTo>
                    <a:pt x="189" y="59"/>
                  </a:lnTo>
                  <a:lnTo>
                    <a:pt x="192" y="65"/>
                  </a:lnTo>
                  <a:lnTo>
                    <a:pt x="194" y="70"/>
                  </a:lnTo>
                  <a:lnTo>
                    <a:pt x="201" y="75"/>
                  </a:lnTo>
                  <a:lnTo>
                    <a:pt x="212" y="78"/>
                  </a:lnTo>
                  <a:lnTo>
                    <a:pt x="220" y="82"/>
                  </a:lnTo>
                  <a:lnTo>
                    <a:pt x="225" y="88"/>
                  </a:lnTo>
                  <a:lnTo>
                    <a:pt x="222" y="96"/>
                  </a:lnTo>
                  <a:lnTo>
                    <a:pt x="215" y="101"/>
                  </a:lnTo>
                  <a:lnTo>
                    <a:pt x="210" y="104"/>
                  </a:lnTo>
                  <a:lnTo>
                    <a:pt x="209" y="107"/>
                  </a:lnTo>
                  <a:lnTo>
                    <a:pt x="212" y="116"/>
                  </a:lnTo>
                  <a:lnTo>
                    <a:pt x="216" y="121"/>
                  </a:lnTo>
                  <a:lnTo>
                    <a:pt x="219" y="124"/>
                  </a:lnTo>
                  <a:lnTo>
                    <a:pt x="224" y="126"/>
                  </a:lnTo>
                  <a:lnTo>
                    <a:pt x="230" y="127"/>
                  </a:lnTo>
                  <a:lnTo>
                    <a:pt x="234" y="128"/>
                  </a:lnTo>
                  <a:lnTo>
                    <a:pt x="239" y="128"/>
                  </a:lnTo>
                  <a:lnTo>
                    <a:pt x="245" y="130"/>
                  </a:lnTo>
                  <a:lnTo>
                    <a:pt x="249" y="133"/>
                  </a:lnTo>
                  <a:lnTo>
                    <a:pt x="259" y="137"/>
                  </a:lnTo>
                  <a:lnTo>
                    <a:pt x="268" y="136"/>
                  </a:lnTo>
                  <a:lnTo>
                    <a:pt x="270" y="130"/>
                  </a:lnTo>
                  <a:lnTo>
                    <a:pt x="265" y="119"/>
                  </a:lnTo>
                  <a:lnTo>
                    <a:pt x="256" y="108"/>
                  </a:lnTo>
                  <a:lnTo>
                    <a:pt x="248" y="103"/>
                  </a:lnTo>
                  <a:lnTo>
                    <a:pt x="242" y="99"/>
                  </a:lnTo>
                  <a:lnTo>
                    <a:pt x="241" y="92"/>
                  </a:lnTo>
                  <a:lnTo>
                    <a:pt x="242" y="88"/>
                  </a:lnTo>
                  <a:lnTo>
                    <a:pt x="245" y="85"/>
                  </a:lnTo>
                  <a:lnTo>
                    <a:pt x="247" y="83"/>
                  </a:lnTo>
                  <a:lnTo>
                    <a:pt x="251" y="77"/>
                  </a:lnTo>
                  <a:lnTo>
                    <a:pt x="256" y="72"/>
                  </a:lnTo>
                  <a:lnTo>
                    <a:pt x="257" y="68"/>
                  </a:lnTo>
                  <a:lnTo>
                    <a:pt x="254" y="68"/>
                  </a:lnTo>
                  <a:lnTo>
                    <a:pt x="242" y="69"/>
                  </a:lnTo>
                  <a:lnTo>
                    <a:pt x="232" y="68"/>
                  </a:lnTo>
                  <a:lnTo>
                    <a:pt x="231" y="66"/>
                  </a:lnTo>
                  <a:lnTo>
                    <a:pt x="232" y="61"/>
                  </a:lnTo>
                  <a:lnTo>
                    <a:pt x="232" y="53"/>
                  </a:lnTo>
                  <a:lnTo>
                    <a:pt x="228" y="46"/>
                  </a:lnTo>
                  <a:lnTo>
                    <a:pt x="224" y="45"/>
                  </a:lnTo>
                  <a:lnTo>
                    <a:pt x="218" y="45"/>
                  </a:lnTo>
                  <a:lnTo>
                    <a:pt x="211" y="46"/>
                  </a:lnTo>
                  <a:lnTo>
                    <a:pt x="205" y="45"/>
                  </a:lnTo>
                  <a:lnTo>
                    <a:pt x="203" y="42"/>
                  </a:lnTo>
                  <a:lnTo>
                    <a:pt x="204" y="38"/>
                  </a:lnTo>
                  <a:lnTo>
                    <a:pt x="210" y="34"/>
                  </a:lnTo>
                  <a:lnTo>
                    <a:pt x="217" y="30"/>
                  </a:lnTo>
                  <a:lnTo>
                    <a:pt x="222" y="30"/>
                  </a:lnTo>
                  <a:lnTo>
                    <a:pt x="226" y="32"/>
                  </a:lnTo>
                  <a:lnTo>
                    <a:pt x="236" y="38"/>
                  </a:lnTo>
                  <a:lnTo>
                    <a:pt x="248" y="44"/>
                  </a:lnTo>
                  <a:lnTo>
                    <a:pt x="256" y="47"/>
                  </a:lnTo>
                  <a:lnTo>
                    <a:pt x="262" y="51"/>
                  </a:lnTo>
                  <a:lnTo>
                    <a:pt x="269" y="55"/>
                  </a:lnTo>
                  <a:lnTo>
                    <a:pt x="272" y="60"/>
                  </a:lnTo>
                  <a:lnTo>
                    <a:pt x="272" y="63"/>
                  </a:lnTo>
                  <a:lnTo>
                    <a:pt x="270" y="67"/>
                  </a:lnTo>
                  <a:lnTo>
                    <a:pt x="270" y="73"/>
                  </a:lnTo>
                  <a:lnTo>
                    <a:pt x="272" y="78"/>
                  </a:lnTo>
                  <a:lnTo>
                    <a:pt x="274" y="83"/>
                  </a:lnTo>
                  <a:lnTo>
                    <a:pt x="277" y="85"/>
                  </a:lnTo>
                  <a:lnTo>
                    <a:pt x="278" y="86"/>
                  </a:lnTo>
                  <a:lnTo>
                    <a:pt x="279" y="85"/>
                  </a:lnTo>
                  <a:lnTo>
                    <a:pt x="284" y="81"/>
                  </a:lnTo>
                  <a:lnTo>
                    <a:pt x="289" y="76"/>
                  </a:lnTo>
                  <a:lnTo>
                    <a:pt x="296" y="72"/>
                  </a:lnTo>
                  <a:lnTo>
                    <a:pt x="302" y="69"/>
                  </a:lnTo>
                  <a:lnTo>
                    <a:pt x="307" y="68"/>
                  </a:lnTo>
                  <a:lnTo>
                    <a:pt x="311" y="69"/>
                  </a:lnTo>
                  <a:lnTo>
                    <a:pt x="318" y="73"/>
                  </a:lnTo>
                  <a:lnTo>
                    <a:pt x="327" y="76"/>
                  </a:lnTo>
                  <a:lnTo>
                    <a:pt x="335" y="78"/>
                  </a:lnTo>
                  <a:lnTo>
                    <a:pt x="343" y="80"/>
                  </a:lnTo>
                  <a:lnTo>
                    <a:pt x="349" y="82"/>
                  </a:lnTo>
                  <a:lnTo>
                    <a:pt x="353" y="86"/>
                  </a:lnTo>
                  <a:lnTo>
                    <a:pt x="353" y="90"/>
                  </a:lnTo>
                  <a:lnTo>
                    <a:pt x="350" y="95"/>
                  </a:lnTo>
                  <a:lnTo>
                    <a:pt x="349" y="96"/>
                  </a:lnTo>
                  <a:lnTo>
                    <a:pt x="334" y="98"/>
                  </a:lnTo>
                  <a:lnTo>
                    <a:pt x="332" y="98"/>
                  </a:lnTo>
                  <a:lnTo>
                    <a:pt x="326" y="98"/>
                  </a:lnTo>
                  <a:lnTo>
                    <a:pt x="322" y="100"/>
                  </a:lnTo>
                  <a:lnTo>
                    <a:pt x="323" y="106"/>
                  </a:lnTo>
                  <a:lnTo>
                    <a:pt x="325" y="114"/>
                  </a:lnTo>
                  <a:lnTo>
                    <a:pt x="326" y="119"/>
                  </a:lnTo>
                  <a:lnTo>
                    <a:pt x="328" y="121"/>
                  </a:lnTo>
                  <a:lnTo>
                    <a:pt x="335" y="121"/>
                  </a:lnTo>
                  <a:lnTo>
                    <a:pt x="346" y="121"/>
                  </a:lnTo>
                  <a:lnTo>
                    <a:pt x="350" y="121"/>
                  </a:lnTo>
                  <a:lnTo>
                    <a:pt x="353" y="124"/>
                  </a:lnTo>
                  <a:lnTo>
                    <a:pt x="351" y="131"/>
                  </a:lnTo>
                  <a:lnTo>
                    <a:pt x="347" y="138"/>
                  </a:lnTo>
                  <a:lnTo>
                    <a:pt x="341" y="142"/>
                  </a:lnTo>
                  <a:lnTo>
                    <a:pt x="334" y="145"/>
                  </a:lnTo>
                  <a:lnTo>
                    <a:pt x="331" y="152"/>
                  </a:lnTo>
                  <a:lnTo>
                    <a:pt x="330" y="158"/>
                  </a:lnTo>
                  <a:lnTo>
                    <a:pt x="330" y="160"/>
                  </a:lnTo>
                  <a:lnTo>
                    <a:pt x="330" y="162"/>
                  </a:lnTo>
                  <a:lnTo>
                    <a:pt x="333" y="166"/>
                  </a:lnTo>
                  <a:lnTo>
                    <a:pt x="335" y="169"/>
                  </a:lnTo>
                  <a:lnTo>
                    <a:pt x="335" y="172"/>
                  </a:lnTo>
                  <a:lnTo>
                    <a:pt x="335" y="175"/>
                  </a:lnTo>
                  <a:lnTo>
                    <a:pt x="340" y="184"/>
                  </a:lnTo>
                  <a:lnTo>
                    <a:pt x="346" y="195"/>
                  </a:lnTo>
                  <a:lnTo>
                    <a:pt x="348" y="200"/>
                  </a:lnTo>
                  <a:lnTo>
                    <a:pt x="347" y="206"/>
                  </a:lnTo>
                  <a:lnTo>
                    <a:pt x="345" y="213"/>
                  </a:lnTo>
                  <a:lnTo>
                    <a:pt x="343" y="221"/>
                  </a:lnTo>
                  <a:lnTo>
                    <a:pt x="341" y="229"/>
                  </a:lnTo>
                  <a:lnTo>
                    <a:pt x="341" y="236"/>
                  </a:lnTo>
                  <a:lnTo>
                    <a:pt x="345" y="242"/>
                  </a:lnTo>
                  <a:lnTo>
                    <a:pt x="347" y="247"/>
                  </a:lnTo>
                  <a:lnTo>
                    <a:pt x="348" y="251"/>
                  </a:lnTo>
                  <a:lnTo>
                    <a:pt x="348" y="256"/>
                  </a:lnTo>
                  <a:lnTo>
                    <a:pt x="349" y="260"/>
                  </a:lnTo>
                  <a:lnTo>
                    <a:pt x="350" y="265"/>
                  </a:lnTo>
                  <a:lnTo>
                    <a:pt x="349" y="268"/>
                  </a:lnTo>
                  <a:lnTo>
                    <a:pt x="348" y="271"/>
                  </a:lnTo>
                  <a:lnTo>
                    <a:pt x="347" y="272"/>
                  </a:lnTo>
                  <a:lnTo>
                    <a:pt x="345" y="270"/>
                  </a:lnTo>
                  <a:lnTo>
                    <a:pt x="340" y="266"/>
                  </a:lnTo>
                  <a:lnTo>
                    <a:pt x="332" y="262"/>
                  </a:lnTo>
                  <a:lnTo>
                    <a:pt x="326" y="259"/>
                  </a:lnTo>
                  <a:lnTo>
                    <a:pt x="320" y="258"/>
                  </a:lnTo>
                  <a:lnTo>
                    <a:pt x="316" y="258"/>
                  </a:lnTo>
                  <a:lnTo>
                    <a:pt x="311" y="258"/>
                  </a:lnTo>
                  <a:lnTo>
                    <a:pt x="307" y="259"/>
                  </a:lnTo>
                  <a:lnTo>
                    <a:pt x="303" y="260"/>
                  </a:lnTo>
                  <a:lnTo>
                    <a:pt x="300" y="262"/>
                  </a:lnTo>
                  <a:lnTo>
                    <a:pt x="297" y="264"/>
                  </a:lnTo>
                  <a:lnTo>
                    <a:pt x="294" y="266"/>
                  </a:lnTo>
                  <a:lnTo>
                    <a:pt x="292" y="266"/>
                  </a:lnTo>
                  <a:lnTo>
                    <a:pt x="288" y="268"/>
                  </a:lnTo>
                  <a:lnTo>
                    <a:pt x="284" y="277"/>
                  </a:lnTo>
                  <a:lnTo>
                    <a:pt x="280" y="283"/>
                  </a:lnTo>
                  <a:lnTo>
                    <a:pt x="278" y="291"/>
                  </a:lnTo>
                  <a:lnTo>
                    <a:pt x="276" y="298"/>
                  </a:lnTo>
                  <a:lnTo>
                    <a:pt x="274" y="306"/>
                  </a:lnTo>
                  <a:lnTo>
                    <a:pt x="277" y="315"/>
                  </a:lnTo>
                  <a:lnTo>
                    <a:pt x="281" y="321"/>
                  </a:lnTo>
                  <a:lnTo>
                    <a:pt x="290" y="328"/>
                  </a:lnTo>
                  <a:lnTo>
                    <a:pt x="305" y="333"/>
                  </a:lnTo>
                  <a:lnTo>
                    <a:pt x="311" y="325"/>
                  </a:lnTo>
                  <a:lnTo>
                    <a:pt x="317" y="318"/>
                  </a:lnTo>
                  <a:lnTo>
                    <a:pt x="324" y="315"/>
                  </a:lnTo>
                  <a:lnTo>
                    <a:pt x="331" y="315"/>
                  </a:lnTo>
                  <a:lnTo>
                    <a:pt x="335" y="318"/>
                  </a:lnTo>
                  <a:lnTo>
                    <a:pt x="336" y="321"/>
                  </a:lnTo>
                  <a:lnTo>
                    <a:pt x="335" y="326"/>
                  </a:lnTo>
                  <a:lnTo>
                    <a:pt x="334" y="327"/>
                  </a:lnTo>
                  <a:lnTo>
                    <a:pt x="336" y="327"/>
                  </a:lnTo>
                  <a:lnTo>
                    <a:pt x="341" y="328"/>
                  </a:lnTo>
                  <a:lnTo>
                    <a:pt x="349" y="327"/>
                  </a:lnTo>
                  <a:lnTo>
                    <a:pt x="358" y="323"/>
                  </a:lnTo>
                  <a:lnTo>
                    <a:pt x="366" y="321"/>
                  </a:lnTo>
                  <a:lnTo>
                    <a:pt x="370" y="325"/>
                  </a:lnTo>
                  <a:lnTo>
                    <a:pt x="373" y="331"/>
                  </a:lnTo>
                  <a:lnTo>
                    <a:pt x="378" y="336"/>
                  </a:lnTo>
                  <a:lnTo>
                    <a:pt x="384" y="339"/>
                  </a:lnTo>
                  <a:lnTo>
                    <a:pt x="387" y="339"/>
                  </a:lnTo>
                  <a:lnTo>
                    <a:pt x="392" y="338"/>
                  </a:lnTo>
                  <a:lnTo>
                    <a:pt x="399" y="335"/>
                  </a:lnTo>
                  <a:lnTo>
                    <a:pt x="405" y="335"/>
                  </a:lnTo>
                  <a:lnTo>
                    <a:pt x="410" y="336"/>
                  </a:lnTo>
                  <a:lnTo>
                    <a:pt x="413" y="334"/>
                  </a:lnTo>
                  <a:lnTo>
                    <a:pt x="420" y="327"/>
                  </a:lnTo>
                  <a:lnTo>
                    <a:pt x="426" y="317"/>
                  </a:lnTo>
                  <a:lnTo>
                    <a:pt x="427" y="309"/>
                  </a:lnTo>
                  <a:lnTo>
                    <a:pt x="431" y="302"/>
                  </a:lnTo>
                  <a:lnTo>
                    <a:pt x="440" y="298"/>
                  </a:lnTo>
                  <a:lnTo>
                    <a:pt x="447" y="298"/>
                  </a:lnTo>
                  <a:lnTo>
                    <a:pt x="453" y="297"/>
                  </a:lnTo>
                  <a:lnTo>
                    <a:pt x="458" y="297"/>
                  </a:lnTo>
                  <a:lnTo>
                    <a:pt x="464" y="295"/>
                  </a:lnTo>
                  <a:lnTo>
                    <a:pt x="469" y="294"/>
                  </a:lnTo>
                  <a:lnTo>
                    <a:pt x="474" y="290"/>
                  </a:lnTo>
                  <a:lnTo>
                    <a:pt x="478" y="287"/>
                  </a:lnTo>
                  <a:lnTo>
                    <a:pt x="482" y="281"/>
                  </a:lnTo>
                  <a:lnTo>
                    <a:pt x="489" y="274"/>
                  </a:lnTo>
                  <a:lnTo>
                    <a:pt x="494" y="272"/>
                  </a:lnTo>
                  <a:lnTo>
                    <a:pt x="499" y="274"/>
                  </a:lnTo>
                  <a:lnTo>
                    <a:pt x="505" y="274"/>
                  </a:lnTo>
                  <a:lnTo>
                    <a:pt x="510" y="274"/>
                  </a:lnTo>
                  <a:lnTo>
                    <a:pt x="516" y="273"/>
                  </a:lnTo>
                  <a:lnTo>
                    <a:pt x="522" y="271"/>
                  </a:lnTo>
                  <a:lnTo>
                    <a:pt x="527" y="268"/>
                  </a:lnTo>
                  <a:lnTo>
                    <a:pt x="533" y="267"/>
                  </a:lnTo>
                  <a:lnTo>
                    <a:pt x="536" y="265"/>
                  </a:lnTo>
                  <a:lnTo>
                    <a:pt x="540" y="264"/>
                  </a:lnTo>
                  <a:lnTo>
                    <a:pt x="541" y="264"/>
                  </a:lnTo>
                  <a:lnTo>
                    <a:pt x="542" y="264"/>
                  </a:lnTo>
                  <a:lnTo>
                    <a:pt x="546" y="265"/>
                  </a:lnTo>
                  <a:lnTo>
                    <a:pt x="553" y="267"/>
                  </a:lnTo>
                  <a:lnTo>
                    <a:pt x="562" y="268"/>
                  </a:lnTo>
                  <a:lnTo>
                    <a:pt x="567" y="268"/>
                  </a:lnTo>
                  <a:lnTo>
                    <a:pt x="573" y="265"/>
                  </a:lnTo>
                  <a:lnTo>
                    <a:pt x="580" y="262"/>
                  </a:lnTo>
                  <a:lnTo>
                    <a:pt x="586" y="257"/>
                  </a:lnTo>
                  <a:lnTo>
                    <a:pt x="593" y="252"/>
                  </a:lnTo>
                  <a:lnTo>
                    <a:pt x="600" y="248"/>
                  </a:lnTo>
                  <a:lnTo>
                    <a:pt x="605" y="245"/>
                  </a:lnTo>
                  <a:lnTo>
                    <a:pt x="612" y="244"/>
                  </a:lnTo>
                  <a:lnTo>
                    <a:pt x="622" y="248"/>
                  </a:lnTo>
                  <a:lnTo>
                    <a:pt x="625" y="256"/>
                  </a:lnTo>
                  <a:lnTo>
                    <a:pt x="627" y="265"/>
                  </a:lnTo>
                  <a:lnTo>
                    <a:pt x="627" y="273"/>
                  </a:lnTo>
                  <a:lnTo>
                    <a:pt x="626" y="282"/>
                  </a:lnTo>
                  <a:lnTo>
                    <a:pt x="626" y="293"/>
                  </a:lnTo>
                  <a:lnTo>
                    <a:pt x="625" y="302"/>
                  </a:lnTo>
                  <a:lnTo>
                    <a:pt x="627" y="310"/>
                  </a:lnTo>
                  <a:lnTo>
                    <a:pt x="630" y="316"/>
                  </a:lnTo>
                  <a:lnTo>
                    <a:pt x="628" y="320"/>
                  </a:lnTo>
                  <a:lnTo>
                    <a:pt x="627" y="328"/>
                  </a:lnTo>
                  <a:lnTo>
                    <a:pt x="625" y="340"/>
                  </a:lnTo>
                  <a:lnTo>
                    <a:pt x="623" y="355"/>
                  </a:lnTo>
                  <a:lnTo>
                    <a:pt x="620" y="372"/>
                  </a:lnTo>
                  <a:lnTo>
                    <a:pt x="616" y="388"/>
                  </a:lnTo>
                  <a:lnTo>
                    <a:pt x="607" y="404"/>
                  </a:lnTo>
                  <a:lnTo>
                    <a:pt x="602" y="411"/>
                  </a:lnTo>
                  <a:lnTo>
                    <a:pt x="597" y="418"/>
                  </a:lnTo>
                  <a:lnTo>
                    <a:pt x="594" y="425"/>
                  </a:lnTo>
                  <a:lnTo>
                    <a:pt x="590" y="432"/>
                  </a:lnTo>
                  <a:lnTo>
                    <a:pt x="586" y="439"/>
                  </a:lnTo>
                  <a:lnTo>
                    <a:pt x="582" y="446"/>
                  </a:lnTo>
                  <a:lnTo>
                    <a:pt x="577" y="455"/>
                  </a:lnTo>
                  <a:lnTo>
                    <a:pt x="571" y="464"/>
                  </a:lnTo>
                  <a:lnTo>
                    <a:pt x="561" y="481"/>
                  </a:lnTo>
                  <a:lnTo>
                    <a:pt x="555" y="493"/>
                  </a:lnTo>
                  <a:lnTo>
                    <a:pt x="549" y="501"/>
                  </a:lnTo>
                  <a:lnTo>
                    <a:pt x="541" y="509"/>
                  </a:lnTo>
                  <a:lnTo>
                    <a:pt x="534" y="517"/>
                  </a:lnTo>
                  <a:lnTo>
                    <a:pt x="532" y="523"/>
                  </a:lnTo>
                  <a:lnTo>
                    <a:pt x="528" y="529"/>
                  </a:lnTo>
                  <a:lnTo>
                    <a:pt x="523" y="534"/>
                  </a:lnTo>
                  <a:lnTo>
                    <a:pt x="515" y="540"/>
                  </a:lnTo>
                  <a:lnTo>
                    <a:pt x="508" y="547"/>
                  </a:lnTo>
                  <a:lnTo>
                    <a:pt x="503" y="551"/>
                  </a:lnTo>
                  <a:lnTo>
                    <a:pt x="501" y="553"/>
                  </a:lnTo>
                  <a:lnTo>
                    <a:pt x="503" y="533"/>
                  </a:lnTo>
                  <a:lnTo>
                    <a:pt x="505" y="517"/>
                  </a:lnTo>
                  <a:lnTo>
                    <a:pt x="508" y="502"/>
                  </a:lnTo>
                  <a:lnTo>
                    <a:pt x="509" y="486"/>
                  </a:lnTo>
                  <a:lnTo>
                    <a:pt x="511" y="471"/>
                  </a:lnTo>
                  <a:lnTo>
                    <a:pt x="512" y="458"/>
                  </a:lnTo>
                  <a:lnTo>
                    <a:pt x="510" y="450"/>
                  </a:lnTo>
                  <a:lnTo>
                    <a:pt x="499" y="446"/>
                  </a:lnTo>
                  <a:lnTo>
                    <a:pt x="490" y="445"/>
                  </a:lnTo>
                  <a:lnTo>
                    <a:pt x="484" y="445"/>
                  </a:lnTo>
                  <a:lnTo>
                    <a:pt x="477" y="445"/>
                  </a:lnTo>
                  <a:lnTo>
                    <a:pt x="471" y="443"/>
                  </a:lnTo>
                  <a:lnTo>
                    <a:pt x="465" y="443"/>
                  </a:lnTo>
                  <a:lnTo>
                    <a:pt x="458" y="442"/>
                  </a:lnTo>
                  <a:lnTo>
                    <a:pt x="451" y="440"/>
                  </a:lnTo>
                  <a:lnTo>
                    <a:pt x="445" y="438"/>
                  </a:lnTo>
                  <a:lnTo>
                    <a:pt x="433" y="433"/>
                  </a:lnTo>
                  <a:lnTo>
                    <a:pt x="430" y="432"/>
                  </a:lnTo>
                  <a:lnTo>
                    <a:pt x="428" y="426"/>
                  </a:lnTo>
                  <a:lnTo>
                    <a:pt x="427" y="410"/>
                  </a:lnTo>
                  <a:lnTo>
                    <a:pt x="427" y="389"/>
                  </a:lnTo>
                  <a:lnTo>
                    <a:pt x="428" y="376"/>
                  </a:lnTo>
                  <a:lnTo>
                    <a:pt x="427" y="365"/>
                  </a:lnTo>
                  <a:lnTo>
                    <a:pt x="419" y="359"/>
                  </a:lnTo>
                  <a:lnTo>
                    <a:pt x="410" y="357"/>
                  </a:lnTo>
                  <a:lnTo>
                    <a:pt x="405" y="359"/>
                  </a:lnTo>
                  <a:lnTo>
                    <a:pt x="399" y="362"/>
                  </a:lnTo>
                  <a:lnTo>
                    <a:pt x="387" y="363"/>
                  </a:lnTo>
                  <a:lnTo>
                    <a:pt x="380" y="363"/>
                  </a:lnTo>
                  <a:lnTo>
                    <a:pt x="373" y="364"/>
                  </a:lnTo>
                  <a:lnTo>
                    <a:pt x="369" y="364"/>
                  </a:lnTo>
                  <a:lnTo>
                    <a:pt x="364" y="365"/>
                  </a:lnTo>
                  <a:lnTo>
                    <a:pt x="359" y="365"/>
                  </a:lnTo>
                  <a:lnTo>
                    <a:pt x="355" y="365"/>
                  </a:lnTo>
                  <a:lnTo>
                    <a:pt x="348" y="364"/>
                  </a:lnTo>
                  <a:lnTo>
                    <a:pt x="341" y="361"/>
                  </a:lnTo>
                  <a:lnTo>
                    <a:pt x="334" y="357"/>
                  </a:lnTo>
                  <a:lnTo>
                    <a:pt x="330" y="354"/>
                  </a:lnTo>
                  <a:lnTo>
                    <a:pt x="326" y="353"/>
                  </a:lnTo>
                  <a:lnTo>
                    <a:pt x="323" y="351"/>
                  </a:lnTo>
                  <a:lnTo>
                    <a:pt x="319" y="351"/>
                  </a:lnTo>
                  <a:lnTo>
                    <a:pt x="316" y="353"/>
                  </a:lnTo>
                  <a:lnTo>
                    <a:pt x="312" y="355"/>
                  </a:lnTo>
                  <a:lnTo>
                    <a:pt x="307" y="358"/>
                  </a:lnTo>
                  <a:lnTo>
                    <a:pt x="297" y="366"/>
                  </a:lnTo>
                  <a:lnTo>
                    <a:pt x="292" y="373"/>
                  </a:lnTo>
                  <a:lnTo>
                    <a:pt x="286" y="377"/>
                  </a:lnTo>
                  <a:lnTo>
                    <a:pt x="274" y="376"/>
                  </a:lnTo>
                  <a:lnTo>
                    <a:pt x="268" y="374"/>
                  </a:lnTo>
                  <a:lnTo>
                    <a:pt x="262" y="374"/>
                  </a:lnTo>
                  <a:lnTo>
                    <a:pt x="257" y="374"/>
                  </a:lnTo>
                  <a:lnTo>
                    <a:pt x="251" y="376"/>
                  </a:lnTo>
                  <a:lnTo>
                    <a:pt x="247" y="376"/>
                  </a:lnTo>
                  <a:lnTo>
                    <a:pt x="242" y="373"/>
                  </a:lnTo>
                  <a:lnTo>
                    <a:pt x="239" y="370"/>
                  </a:lnTo>
                  <a:lnTo>
                    <a:pt x="234" y="363"/>
                  </a:lnTo>
                  <a:lnTo>
                    <a:pt x="227" y="350"/>
                  </a:lnTo>
                  <a:lnTo>
                    <a:pt x="223" y="342"/>
                  </a:lnTo>
                  <a:lnTo>
                    <a:pt x="218" y="338"/>
                  </a:lnTo>
                  <a:lnTo>
                    <a:pt x="210" y="332"/>
                  </a:lnTo>
                  <a:lnTo>
                    <a:pt x="202" y="325"/>
                  </a:lnTo>
                  <a:lnTo>
                    <a:pt x="196" y="323"/>
                  </a:lnTo>
                  <a:lnTo>
                    <a:pt x="192" y="321"/>
                  </a:lnTo>
                  <a:lnTo>
                    <a:pt x="182" y="319"/>
                  </a:lnTo>
                  <a:lnTo>
                    <a:pt x="173" y="318"/>
                  </a:lnTo>
                  <a:lnTo>
                    <a:pt x="166" y="318"/>
                  </a:lnTo>
                  <a:lnTo>
                    <a:pt x="163" y="320"/>
                  </a:lnTo>
                  <a:lnTo>
                    <a:pt x="164" y="324"/>
                  </a:lnTo>
                  <a:lnTo>
                    <a:pt x="170" y="329"/>
                  </a:lnTo>
                  <a:lnTo>
                    <a:pt x="174" y="335"/>
                  </a:lnTo>
                  <a:lnTo>
                    <a:pt x="179" y="340"/>
                  </a:lnTo>
                  <a:lnTo>
                    <a:pt x="184" y="342"/>
                  </a:lnTo>
                  <a:lnTo>
                    <a:pt x="187" y="346"/>
                  </a:lnTo>
                  <a:lnTo>
                    <a:pt x="192" y="347"/>
                  </a:lnTo>
                  <a:lnTo>
                    <a:pt x="195" y="349"/>
                  </a:lnTo>
                  <a:lnTo>
                    <a:pt x="199" y="350"/>
                  </a:lnTo>
                  <a:lnTo>
                    <a:pt x="202" y="353"/>
                  </a:lnTo>
                  <a:lnTo>
                    <a:pt x="201" y="356"/>
                  </a:lnTo>
                  <a:lnTo>
                    <a:pt x="199" y="358"/>
                  </a:lnTo>
                  <a:lnTo>
                    <a:pt x="196" y="359"/>
                  </a:lnTo>
                  <a:lnTo>
                    <a:pt x="187" y="357"/>
                  </a:lnTo>
                  <a:lnTo>
                    <a:pt x="180" y="354"/>
                  </a:lnTo>
                  <a:lnTo>
                    <a:pt x="174" y="351"/>
                  </a:lnTo>
                  <a:lnTo>
                    <a:pt x="170" y="349"/>
                  </a:lnTo>
                  <a:lnTo>
                    <a:pt x="165" y="348"/>
                  </a:lnTo>
                  <a:lnTo>
                    <a:pt x="162" y="346"/>
                  </a:lnTo>
                  <a:lnTo>
                    <a:pt x="158" y="342"/>
                  </a:lnTo>
                  <a:lnTo>
                    <a:pt x="155" y="340"/>
                  </a:lnTo>
                  <a:lnTo>
                    <a:pt x="149" y="334"/>
                  </a:lnTo>
                  <a:lnTo>
                    <a:pt x="146" y="328"/>
                  </a:lnTo>
                  <a:lnTo>
                    <a:pt x="145" y="320"/>
                  </a:lnTo>
                  <a:lnTo>
                    <a:pt x="145" y="311"/>
                  </a:lnTo>
                  <a:lnTo>
                    <a:pt x="145" y="303"/>
                  </a:lnTo>
                  <a:lnTo>
                    <a:pt x="143" y="298"/>
                  </a:lnTo>
                  <a:lnTo>
                    <a:pt x="139" y="295"/>
                  </a:lnTo>
                  <a:lnTo>
                    <a:pt x="131" y="289"/>
                  </a:lnTo>
                  <a:lnTo>
                    <a:pt x="122" y="282"/>
                  </a:lnTo>
                  <a:lnTo>
                    <a:pt x="116" y="278"/>
                  </a:lnTo>
                  <a:lnTo>
                    <a:pt x="112" y="274"/>
                  </a:lnTo>
                  <a:lnTo>
                    <a:pt x="110" y="270"/>
                  </a:lnTo>
                  <a:lnTo>
                    <a:pt x="110" y="263"/>
                  </a:lnTo>
                  <a:lnTo>
                    <a:pt x="111" y="256"/>
                  </a:lnTo>
                  <a:lnTo>
                    <a:pt x="111" y="247"/>
                  </a:lnTo>
                  <a:lnTo>
                    <a:pt x="110" y="235"/>
                  </a:lnTo>
                  <a:lnTo>
                    <a:pt x="107" y="225"/>
                  </a:lnTo>
                  <a:lnTo>
                    <a:pt x="101" y="218"/>
                  </a:lnTo>
                  <a:lnTo>
                    <a:pt x="95" y="211"/>
                  </a:lnTo>
                  <a:lnTo>
                    <a:pt x="91" y="203"/>
                  </a:lnTo>
                  <a:lnTo>
                    <a:pt x="86" y="195"/>
                  </a:lnTo>
                  <a:lnTo>
                    <a:pt x="80" y="189"/>
                  </a:lnTo>
                  <a:lnTo>
                    <a:pt x="78" y="186"/>
                  </a:lnTo>
                  <a:lnTo>
                    <a:pt x="81" y="184"/>
                  </a:lnTo>
                  <a:lnTo>
                    <a:pt x="88" y="186"/>
                  </a:lnTo>
                  <a:lnTo>
                    <a:pt x="93" y="189"/>
                  </a:lnTo>
                  <a:lnTo>
                    <a:pt x="96" y="190"/>
                  </a:lnTo>
                  <a:lnTo>
                    <a:pt x="100" y="186"/>
                  </a:lnTo>
                  <a:lnTo>
                    <a:pt x="103" y="177"/>
                  </a:lnTo>
                  <a:lnTo>
                    <a:pt x="104" y="171"/>
                  </a:lnTo>
                  <a:lnTo>
                    <a:pt x="103" y="165"/>
                  </a:lnTo>
                  <a:lnTo>
                    <a:pt x="99" y="162"/>
                  </a:lnTo>
                  <a:lnTo>
                    <a:pt x="94" y="162"/>
                  </a:lnTo>
                  <a:lnTo>
                    <a:pt x="91" y="162"/>
                  </a:lnTo>
                  <a:lnTo>
                    <a:pt x="86" y="164"/>
                  </a:lnTo>
                  <a:lnTo>
                    <a:pt x="81" y="164"/>
                  </a:lnTo>
                  <a:lnTo>
                    <a:pt x="77" y="164"/>
                  </a:lnTo>
                  <a:lnTo>
                    <a:pt x="74" y="165"/>
                  </a:lnTo>
                  <a:lnTo>
                    <a:pt x="73" y="164"/>
                  </a:lnTo>
                  <a:lnTo>
                    <a:pt x="68" y="158"/>
                  </a:lnTo>
                  <a:lnTo>
                    <a:pt x="63" y="154"/>
                  </a:lnTo>
                  <a:lnTo>
                    <a:pt x="58" y="153"/>
                  </a:lnTo>
                  <a:lnTo>
                    <a:pt x="54" y="152"/>
                  </a:lnTo>
                  <a:lnTo>
                    <a:pt x="48" y="152"/>
                  </a:lnTo>
                  <a:lnTo>
                    <a:pt x="42" y="153"/>
                  </a:lnTo>
                  <a:lnTo>
                    <a:pt x="38" y="153"/>
                  </a:lnTo>
                  <a:lnTo>
                    <a:pt x="33" y="154"/>
                  </a:lnTo>
                  <a:lnTo>
                    <a:pt x="28" y="154"/>
                  </a:lnTo>
                  <a:lnTo>
                    <a:pt x="22" y="156"/>
                  </a:lnTo>
                  <a:lnTo>
                    <a:pt x="18" y="154"/>
                  </a:lnTo>
                  <a:lnTo>
                    <a:pt x="17" y="152"/>
                  </a:lnTo>
                  <a:lnTo>
                    <a:pt x="20" y="144"/>
                  </a:lnTo>
                  <a:lnTo>
                    <a:pt x="26" y="136"/>
                  </a:lnTo>
                  <a:lnTo>
                    <a:pt x="32" y="130"/>
                  </a:lnTo>
                  <a:lnTo>
                    <a:pt x="36" y="126"/>
                  </a:lnTo>
                  <a:lnTo>
                    <a:pt x="39" y="119"/>
                  </a:lnTo>
                  <a:lnTo>
                    <a:pt x="40" y="111"/>
                  </a:lnTo>
                  <a:lnTo>
                    <a:pt x="41" y="105"/>
                  </a:lnTo>
                  <a:lnTo>
                    <a:pt x="39" y="103"/>
                  </a:lnTo>
                  <a:lnTo>
                    <a:pt x="32" y="101"/>
                  </a:lnTo>
                  <a:lnTo>
                    <a:pt x="24" y="103"/>
                  </a:lnTo>
                  <a:lnTo>
                    <a:pt x="18" y="105"/>
                  </a:lnTo>
                  <a:lnTo>
                    <a:pt x="14" y="107"/>
                  </a:lnTo>
                  <a:lnTo>
                    <a:pt x="7" y="107"/>
                  </a:lnTo>
                  <a:lnTo>
                    <a:pt x="3" y="106"/>
                  </a:lnTo>
                  <a:lnTo>
                    <a:pt x="1" y="105"/>
                  </a:lnTo>
                  <a:lnTo>
                    <a:pt x="0" y="106"/>
                  </a:lnTo>
                  <a:lnTo>
                    <a:pt x="4" y="95"/>
                  </a:lnTo>
                  <a:lnTo>
                    <a:pt x="11" y="81"/>
                  </a:lnTo>
                  <a:lnTo>
                    <a:pt x="22" y="65"/>
                  </a:lnTo>
                  <a:lnTo>
                    <a:pt x="34" y="47"/>
                  </a:lnTo>
                  <a:lnTo>
                    <a:pt x="47" y="32"/>
                  </a:lnTo>
                  <a:lnTo>
                    <a:pt x="59" y="17"/>
                  </a:lnTo>
                  <a:lnTo>
                    <a:pt x="71" y="7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895" name="Rectangle 8"/>
          <p:cNvSpPr>
            <a:spLocks noChangeArrowheads="1"/>
          </p:cNvSpPr>
          <p:nvPr/>
        </p:nvSpPr>
        <p:spPr bwMode="auto">
          <a:xfrm>
            <a:off x="9026843" y="2431532"/>
            <a:ext cx="259900" cy="2460508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37896" name="Line 9"/>
          <p:cNvSpPr>
            <a:spLocks noChangeShapeType="1"/>
          </p:cNvSpPr>
          <p:nvPr/>
        </p:nvSpPr>
        <p:spPr bwMode="auto">
          <a:xfrm>
            <a:off x="9152389" y="2443360"/>
            <a:ext cx="0" cy="793526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7897" name="Group 10"/>
          <p:cNvGrpSpPr>
            <a:grpSpLocks/>
          </p:cNvGrpSpPr>
          <p:nvPr/>
        </p:nvGrpSpPr>
        <p:grpSpPr bwMode="auto">
          <a:xfrm>
            <a:off x="9061769" y="1757990"/>
            <a:ext cx="181239" cy="480280"/>
            <a:chOff x="4333" y="1097"/>
            <a:chExt cx="140" cy="485"/>
          </a:xfrm>
        </p:grpSpPr>
        <p:sp>
          <p:nvSpPr>
            <p:cNvPr id="37898" name="AutoShape 11"/>
            <p:cNvSpPr>
              <a:spLocks noChangeArrowheads="1"/>
            </p:cNvSpPr>
            <p:nvPr/>
          </p:nvSpPr>
          <p:spPr bwMode="auto">
            <a:xfrm>
              <a:off x="4333" y="1097"/>
              <a:ext cx="140" cy="316"/>
            </a:xfrm>
            <a:prstGeom prst="smileyFace">
              <a:avLst>
                <a:gd name="adj" fmla="val 4653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7899" name="Group 12"/>
            <p:cNvGrpSpPr>
              <a:grpSpLocks/>
            </p:cNvGrpSpPr>
            <p:nvPr/>
          </p:nvGrpSpPr>
          <p:grpSpPr bwMode="auto">
            <a:xfrm>
              <a:off x="4349" y="1419"/>
              <a:ext cx="114" cy="163"/>
              <a:chOff x="4349" y="1419"/>
              <a:chExt cx="114" cy="231"/>
            </a:xfrm>
          </p:grpSpPr>
          <p:sp>
            <p:nvSpPr>
              <p:cNvPr id="37900" name="Line 13"/>
              <p:cNvSpPr>
                <a:spLocks noChangeShapeType="1"/>
              </p:cNvSpPr>
              <p:nvPr/>
            </p:nvSpPr>
            <p:spPr bwMode="auto">
              <a:xfrm>
                <a:off x="4406" y="1419"/>
                <a:ext cx="0" cy="18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37901" name="Group 14"/>
              <p:cNvGrpSpPr>
                <a:grpSpLocks/>
              </p:cNvGrpSpPr>
              <p:nvPr/>
            </p:nvGrpSpPr>
            <p:grpSpPr bwMode="auto">
              <a:xfrm>
                <a:off x="4349" y="1593"/>
                <a:ext cx="114" cy="57"/>
                <a:chOff x="4350" y="1560"/>
                <a:chExt cx="114" cy="57"/>
              </a:xfrm>
            </p:grpSpPr>
            <p:sp>
              <p:nvSpPr>
                <p:cNvPr id="37905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4350" y="1560"/>
                  <a:ext cx="57" cy="57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7906" name="Line 16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4407" y="1560"/>
                  <a:ext cx="57" cy="57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7902" name="Group 17"/>
              <p:cNvGrpSpPr>
                <a:grpSpLocks/>
              </p:cNvGrpSpPr>
              <p:nvPr/>
            </p:nvGrpSpPr>
            <p:grpSpPr bwMode="auto">
              <a:xfrm flipV="1">
                <a:off x="4349" y="1443"/>
                <a:ext cx="114" cy="57"/>
                <a:chOff x="4350" y="1560"/>
                <a:chExt cx="114" cy="57"/>
              </a:xfrm>
            </p:grpSpPr>
            <p:sp>
              <p:nvSpPr>
                <p:cNvPr id="37903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4350" y="1560"/>
                  <a:ext cx="57" cy="57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7904" name="Line 19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4407" y="1560"/>
                  <a:ext cx="57" cy="57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729400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F86FC22-12E5-4496-B87F-A1065BAEAA88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123.2.9 (revised)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1" y="1600201"/>
            <a:ext cx="5210175" cy="4525963"/>
          </a:xfrm>
        </p:spPr>
        <p:txBody>
          <a:bodyPr>
            <a:normAutofit lnSpcReduction="10000"/>
          </a:bodyPr>
          <a:lstStyle/>
          <a:p>
            <a:pPr marL="533400" indent="-533400">
              <a:lnSpc>
                <a:spcPct val="80000"/>
              </a:lnSpc>
              <a:buNone/>
            </a:pPr>
            <a:r>
              <a:rPr lang="en-US" sz="1800" dirty="0"/>
              <a:t>A hole is drilled through the center of Earth and emerges on the other side.  You jump into the hole.  What happens to you?</a:t>
            </a:r>
          </a:p>
          <a:p>
            <a:pPr marL="533400" indent="-533400">
              <a:buFontTx/>
              <a:buAutoNum type="alphaLcParenR"/>
            </a:pPr>
            <a:r>
              <a:rPr lang="en-US" sz="1800" dirty="0"/>
              <a:t>you fall to the center and stop</a:t>
            </a:r>
          </a:p>
          <a:p>
            <a:pPr marL="533400" indent="-533400">
              <a:buFontTx/>
              <a:buAutoNum type="alphaLcParenR"/>
            </a:pPr>
            <a:r>
              <a:rPr lang="en-US" sz="1800" dirty="0"/>
              <a:t>you go all the way through and continue off into space </a:t>
            </a:r>
          </a:p>
          <a:p>
            <a:pPr marL="533400" indent="-533400">
              <a:buFontTx/>
              <a:buAutoNum type="alphaLcParenR"/>
            </a:pPr>
            <a:r>
              <a:rPr lang="en-US" sz="1800" dirty="0"/>
              <a:t>you fall to the other side of Earth and then return</a:t>
            </a:r>
          </a:p>
          <a:p>
            <a:pPr marL="533400" indent="-533400">
              <a:buFontTx/>
              <a:buAutoNum type="alphaLcParenR"/>
            </a:pPr>
            <a:r>
              <a:rPr lang="en-US" sz="1800" dirty="0"/>
              <a:t>you won’t fall at all</a:t>
            </a:r>
          </a:p>
          <a:p>
            <a:pPr marL="533400" indent="-533400">
              <a:buFontTx/>
              <a:buAutoNum type="alphaLcParenR"/>
            </a:pPr>
            <a:r>
              <a:rPr lang="en-US" sz="1800" dirty="0"/>
              <a:t>I am a geology major, so I know that the Earth has a high pressure center that will liquefy and flow into the hole because the hole is at a lower pressure, so this is not possible… So what happens is the guy jumps into the hole, accelerates until he hits the magma, and is burned to a cinder</a:t>
            </a:r>
          </a:p>
          <a:p>
            <a:pPr marL="533400" indent="-533400">
              <a:lnSpc>
                <a:spcPct val="80000"/>
              </a:lnSpc>
            </a:pPr>
            <a:endParaRPr lang="en-US" sz="1800" dirty="0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4C200F69-00DC-1895-A7D5-478883F4E7E8}"/>
              </a:ext>
            </a:extLst>
          </p:cNvPr>
          <p:cNvGrpSpPr>
            <a:grpSpLocks/>
          </p:cNvGrpSpPr>
          <p:nvPr/>
        </p:nvGrpSpPr>
        <p:grpSpPr bwMode="auto">
          <a:xfrm>
            <a:off x="7874001" y="2443360"/>
            <a:ext cx="2487613" cy="2201499"/>
            <a:chOff x="4902" y="2609"/>
            <a:chExt cx="422" cy="422"/>
          </a:xfrm>
        </p:grpSpPr>
        <p:sp>
          <p:nvSpPr>
            <p:cNvPr id="3" name="Oval 6">
              <a:extLst>
                <a:ext uri="{FF2B5EF4-FFF2-40B4-BE49-F238E27FC236}">
                  <a16:creationId xmlns:a16="http://schemas.microsoft.com/office/drawing/2014/main" id="{8490C81D-79AC-348D-544B-165C1DEA9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" y="2609"/>
              <a:ext cx="422" cy="422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38CB9852-9019-6510-CEF1-CBED9CD58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1" y="2664"/>
              <a:ext cx="380" cy="331"/>
            </a:xfrm>
            <a:custGeom>
              <a:avLst/>
              <a:gdLst>
                <a:gd name="T0" fmla="*/ 1 w 630"/>
                <a:gd name="T1" fmla="*/ 1 h 553"/>
                <a:gd name="T2" fmla="*/ 1 w 630"/>
                <a:gd name="T3" fmla="*/ 1 h 553"/>
                <a:gd name="T4" fmla="*/ 1 w 630"/>
                <a:gd name="T5" fmla="*/ 1 h 553"/>
                <a:gd name="T6" fmla="*/ 1 w 630"/>
                <a:gd name="T7" fmla="*/ 1 h 553"/>
                <a:gd name="T8" fmla="*/ 1 w 630"/>
                <a:gd name="T9" fmla="*/ 1 h 553"/>
                <a:gd name="T10" fmla="*/ 1 w 630"/>
                <a:gd name="T11" fmla="*/ 1 h 553"/>
                <a:gd name="T12" fmla="*/ 1 w 630"/>
                <a:gd name="T13" fmla="*/ 1 h 553"/>
                <a:gd name="T14" fmla="*/ 1 w 630"/>
                <a:gd name="T15" fmla="*/ 1 h 553"/>
                <a:gd name="T16" fmla="*/ 1 w 630"/>
                <a:gd name="T17" fmla="*/ 1 h 553"/>
                <a:gd name="T18" fmla="*/ 1 w 630"/>
                <a:gd name="T19" fmla="*/ 1 h 553"/>
                <a:gd name="T20" fmla="*/ 1 w 630"/>
                <a:gd name="T21" fmla="*/ 1 h 553"/>
                <a:gd name="T22" fmla="*/ 1 w 630"/>
                <a:gd name="T23" fmla="*/ 1 h 553"/>
                <a:gd name="T24" fmla="*/ 1 w 630"/>
                <a:gd name="T25" fmla="*/ 1 h 553"/>
                <a:gd name="T26" fmla="*/ 1 w 630"/>
                <a:gd name="T27" fmla="*/ 1 h 553"/>
                <a:gd name="T28" fmla="*/ 1 w 630"/>
                <a:gd name="T29" fmla="*/ 1 h 553"/>
                <a:gd name="T30" fmla="*/ 1 w 630"/>
                <a:gd name="T31" fmla="*/ 1 h 553"/>
                <a:gd name="T32" fmla="*/ 1 w 630"/>
                <a:gd name="T33" fmla="*/ 1 h 553"/>
                <a:gd name="T34" fmla="*/ 1 w 630"/>
                <a:gd name="T35" fmla="*/ 1 h 553"/>
                <a:gd name="T36" fmla="*/ 1 w 630"/>
                <a:gd name="T37" fmla="*/ 1 h 553"/>
                <a:gd name="T38" fmla="*/ 1 w 630"/>
                <a:gd name="T39" fmla="*/ 1 h 553"/>
                <a:gd name="T40" fmla="*/ 1 w 630"/>
                <a:gd name="T41" fmla="*/ 1 h 553"/>
                <a:gd name="T42" fmla="*/ 1 w 630"/>
                <a:gd name="T43" fmla="*/ 1 h 553"/>
                <a:gd name="T44" fmla="*/ 1 w 630"/>
                <a:gd name="T45" fmla="*/ 1 h 553"/>
                <a:gd name="T46" fmla="*/ 1 w 630"/>
                <a:gd name="T47" fmla="*/ 1 h 553"/>
                <a:gd name="T48" fmla="*/ 1 w 630"/>
                <a:gd name="T49" fmla="*/ 1 h 553"/>
                <a:gd name="T50" fmla="*/ 1 w 630"/>
                <a:gd name="T51" fmla="*/ 1 h 553"/>
                <a:gd name="T52" fmla="*/ 1 w 630"/>
                <a:gd name="T53" fmla="*/ 1 h 553"/>
                <a:gd name="T54" fmla="*/ 1 w 630"/>
                <a:gd name="T55" fmla="*/ 1 h 553"/>
                <a:gd name="T56" fmla="*/ 1 w 630"/>
                <a:gd name="T57" fmla="*/ 1 h 553"/>
                <a:gd name="T58" fmla="*/ 1 w 630"/>
                <a:gd name="T59" fmla="*/ 1 h 553"/>
                <a:gd name="T60" fmla="*/ 1 w 630"/>
                <a:gd name="T61" fmla="*/ 1 h 553"/>
                <a:gd name="T62" fmla="*/ 1 w 630"/>
                <a:gd name="T63" fmla="*/ 1 h 553"/>
                <a:gd name="T64" fmla="*/ 1 w 630"/>
                <a:gd name="T65" fmla="*/ 1 h 553"/>
                <a:gd name="T66" fmla="*/ 1 w 630"/>
                <a:gd name="T67" fmla="*/ 1 h 553"/>
                <a:gd name="T68" fmla="*/ 1 w 630"/>
                <a:gd name="T69" fmla="*/ 1 h 553"/>
                <a:gd name="T70" fmla="*/ 1 w 630"/>
                <a:gd name="T71" fmla="*/ 1 h 553"/>
                <a:gd name="T72" fmla="*/ 1 w 630"/>
                <a:gd name="T73" fmla="*/ 1 h 553"/>
                <a:gd name="T74" fmla="*/ 1 w 630"/>
                <a:gd name="T75" fmla="*/ 1 h 553"/>
                <a:gd name="T76" fmla="*/ 1 w 630"/>
                <a:gd name="T77" fmla="*/ 1 h 553"/>
                <a:gd name="T78" fmla="*/ 1 w 630"/>
                <a:gd name="T79" fmla="*/ 1 h 553"/>
                <a:gd name="T80" fmla="*/ 1 w 630"/>
                <a:gd name="T81" fmla="*/ 1 h 553"/>
                <a:gd name="T82" fmla="*/ 1 w 630"/>
                <a:gd name="T83" fmla="*/ 1 h 553"/>
                <a:gd name="T84" fmla="*/ 1 w 630"/>
                <a:gd name="T85" fmla="*/ 1 h 553"/>
                <a:gd name="T86" fmla="*/ 1 w 630"/>
                <a:gd name="T87" fmla="*/ 1 h 553"/>
                <a:gd name="T88" fmla="*/ 1 w 630"/>
                <a:gd name="T89" fmla="*/ 1 h 553"/>
                <a:gd name="T90" fmla="*/ 1 w 630"/>
                <a:gd name="T91" fmla="*/ 1 h 553"/>
                <a:gd name="T92" fmla="*/ 1 w 630"/>
                <a:gd name="T93" fmla="*/ 1 h 553"/>
                <a:gd name="T94" fmla="*/ 1 w 630"/>
                <a:gd name="T95" fmla="*/ 1 h 553"/>
                <a:gd name="T96" fmla="*/ 1 w 630"/>
                <a:gd name="T97" fmla="*/ 1 h 553"/>
                <a:gd name="T98" fmla="*/ 1 w 630"/>
                <a:gd name="T99" fmla="*/ 1 h 553"/>
                <a:gd name="T100" fmla="*/ 1 w 630"/>
                <a:gd name="T101" fmla="*/ 1 h 553"/>
                <a:gd name="T102" fmla="*/ 1 w 630"/>
                <a:gd name="T103" fmla="*/ 1 h 553"/>
                <a:gd name="T104" fmla="*/ 1 w 630"/>
                <a:gd name="T105" fmla="*/ 1 h 553"/>
                <a:gd name="T106" fmla="*/ 1 w 630"/>
                <a:gd name="T107" fmla="*/ 1 h 553"/>
                <a:gd name="T108" fmla="*/ 1 w 630"/>
                <a:gd name="T109" fmla="*/ 1 h 553"/>
                <a:gd name="T110" fmla="*/ 1 w 630"/>
                <a:gd name="T111" fmla="*/ 1 h 553"/>
                <a:gd name="T112" fmla="*/ 1 w 630"/>
                <a:gd name="T113" fmla="*/ 1 h 55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630"/>
                <a:gd name="T172" fmla="*/ 0 h 553"/>
                <a:gd name="T173" fmla="*/ 630 w 630"/>
                <a:gd name="T174" fmla="*/ 553 h 55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630" h="553">
                  <a:moveTo>
                    <a:pt x="80" y="0"/>
                  </a:moveTo>
                  <a:lnTo>
                    <a:pt x="76" y="7"/>
                  </a:lnTo>
                  <a:lnTo>
                    <a:pt x="70" y="14"/>
                  </a:lnTo>
                  <a:lnTo>
                    <a:pt x="63" y="21"/>
                  </a:lnTo>
                  <a:lnTo>
                    <a:pt x="56" y="29"/>
                  </a:lnTo>
                  <a:lnTo>
                    <a:pt x="50" y="38"/>
                  </a:lnTo>
                  <a:lnTo>
                    <a:pt x="45" y="46"/>
                  </a:lnTo>
                  <a:lnTo>
                    <a:pt x="42" y="57"/>
                  </a:lnTo>
                  <a:lnTo>
                    <a:pt x="42" y="67"/>
                  </a:lnTo>
                  <a:lnTo>
                    <a:pt x="42" y="81"/>
                  </a:lnTo>
                  <a:lnTo>
                    <a:pt x="39" y="90"/>
                  </a:lnTo>
                  <a:lnTo>
                    <a:pt x="38" y="95"/>
                  </a:lnTo>
                  <a:lnTo>
                    <a:pt x="42" y="96"/>
                  </a:lnTo>
                  <a:lnTo>
                    <a:pt x="49" y="95"/>
                  </a:lnTo>
                  <a:lnTo>
                    <a:pt x="53" y="92"/>
                  </a:lnTo>
                  <a:lnTo>
                    <a:pt x="57" y="89"/>
                  </a:lnTo>
                  <a:lnTo>
                    <a:pt x="66" y="85"/>
                  </a:lnTo>
                  <a:lnTo>
                    <a:pt x="74" y="84"/>
                  </a:lnTo>
                  <a:lnTo>
                    <a:pt x="78" y="85"/>
                  </a:lnTo>
                  <a:lnTo>
                    <a:pt x="80" y="89"/>
                  </a:lnTo>
                  <a:lnTo>
                    <a:pt x="86" y="93"/>
                  </a:lnTo>
                  <a:lnTo>
                    <a:pt x="93" y="98"/>
                  </a:lnTo>
                  <a:lnTo>
                    <a:pt x="100" y="99"/>
                  </a:lnTo>
                  <a:lnTo>
                    <a:pt x="108" y="99"/>
                  </a:lnTo>
                  <a:lnTo>
                    <a:pt x="119" y="97"/>
                  </a:lnTo>
                  <a:lnTo>
                    <a:pt x="128" y="95"/>
                  </a:lnTo>
                  <a:lnTo>
                    <a:pt x="133" y="95"/>
                  </a:lnTo>
                  <a:lnTo>
                    <a:pt x="139" y="96"/>
                  </a:lnTo>
                  <a:lnTo>
                    <a:pt x="149" y="95"/>
                  </a:lnTo>
                  <a:lnTo>
                    <a:pt x="163" y="93"/>
                  </a:lnTo>
                  <a:lnTo>
                    <a:pt x="173" y="92"/>
                  </a:lnTo>
                  <a:lnTo>
                    <a:pt x="179" y="90"/>
                  </a:lnTo>
                  <a:lnTo>
                    <a:pt x="179" y="84"/>
                  </a:lnTo>
                  <a:lnTo>
                    <a:pt x="178" y="78"/>
                  </a:lnTo>
                  <a:lnTo>
                    <a:pt x="176" y="77"/>
                  </a:lnTo>
                  <a:lnTo>
                    <a:pt x="173" y="78"/>
                  </a:lnTo>
                  <a:lnTo>
                    <a:pt x="165" y="81"/>
                  </a:lnTo>
                  <a:lnTo>
                    <a:pt x="156" y="83"/>
                  </a:lnTo>
                  <a:lnTo>
                    <a:pt x="149" y="86"/>
                  </a:lnTo>
                  <a:lnTo>
                    <a:pt x="143" y="86"/>
                  </a:lnTo>
                  <a:lnTo>
                    <a:pt x="136" y="82"/>
                  </a:lnTo>
                  <a:lnTo>
                    <a:pt x="130" y="76"/>
                  </a:lnTo>
                  <a:lnTo>
                    <a:pt x="126" y="73"/>
                  </a:lnTo>
                  <a:lnTo>
                    <a:pt x="127" y="70"/>
                  </a:lnTo>
                  <a:lnTo>
                    <a:pt x="138" y="69"/>
                  </a:lnTo>
                  <a:lnTo>
                    <a:pt x="150" y="68"/>
                  </a:lnTo>
                  <a:lnTo>
                    <a:pt x="159" y="67"/>
                  </a:lnTo>
                  <a:lnTo>
                    <a:pt x="165" y="63"/>
                  </a:lnTo>
                  <a:lnTo>
                    <a:pt x="169" y="58"/>
                  </a:lnTo>
                  <a:lnTo>
                    <a:pt x="169" y="51"/>
                  </a:lnTo>
                  <a:lnTo>
                    <a:pt x="170" y="48"/>
                  </a:lnTo>
                  <a:lnTo>
                    <a:pt x="173" y="50"/>
                  </a:lnTo>
                  <a:lnTo>
                    <a:pt x="181" y="53"/>
                  </a:lnTo>
                  <a:lnTo>
                    <a:pt x="189" y="59"/>
                  </a:lnTo>
                  <a:lnTo>
                    <a:pt x="192" y="65"/>
                  </a:lnTo>
                  <a:lnTo>
                    <a:pt x="194" y="70"/>
                  </a:lnTo>
                  <a:lnTo>
                    <a:pt x="201" y="75"/>
                  </a:lnTo>
                  <a:lnTo>
                    <a:pt x="212" y="78"/>
                  </a:lnTo>
                  <a:lnTo>
                    <a:pt x="220" y="82"/>
                  </a:lnTo>
                  <a:lnTo>
                    <a:pt x="225" y="88"/>
                  </a:lnTo>
                  <a:lnTo>
                    <a:pt x="222" y="96"/>
                  </a:lnTo>
                  <a:lnTo>
                    <a:pt x="215" y="101"/>
                  </a:lnTo>
                  <a:lnTo>
                    <a:pt x="210" y="104"/>
                  </a:lnTo>
                  <a:lnTo>
                    <a:pt x="209" y="107"/>
                  </a:lnTo>
                  <a:lnTo>
                    <a:pt x="212" y="116"/>
                  </a:lnTo>
                  <a:lnTo>
                    <a:pt x="216" y="121"/>
                  </a:lnTo>
                  <a:lnTo>
                    <a:pt x="219" y="124"/>
                  </a:lnTo>
                  <a:lnTo>
                    <a:pt x="224" y="126"/>
                  </a:lnTo>
                  <a:lnTo>
                    <a:pt x="230" y="127"/>
                  </a:lnTo>
                  <a:lnTo>
                    <a:pt x="234" y="128"/>
                  </a:lnTo>
                  <a:lnTo>
                    <a:pt x="239" y="128"/>
                  </a:lnTo>
                  <a:lnTo>
                    <a:pt x="245" y="130"/>
                  </a:lnTo>
                  <a:lnTo>
                    <a:pt x="249" y="133"/>
                  </a:lnTo>
                  <a:lnTo>
                    <a:pt x="259" y="137"/>
                  </a:lnTo>
                  <a:lnTo>
                    <a:pt x="268" y="136"/>
                  </a:lnTo>
                  <a:lnTo>
                    <a:pt x="270" y="130"/>
                  </a:lnTo>
                  <a:lnTo>
                    <a:pt x="265" y="119"/>
                  </a:lnTo>
                  <a:lnTo>
                    <a:pt x="256" y="108"/>
                  </a:lnTo>
                  <a:lnTo>
                    <a:pt x="248" y="103"/>
                  </a:lnTo>
                  <a:lnTo>
                    <a:pt x="242" y="99"/>
                  </a:lnTo>
                  <a:lnTo>
                    <a:pt x="241" y="92"/>
                  </a:lnTo>
                  <a:lnTo>
                    <a:pt x="242" y="88"/>
                  </a:lnTo>
                  <a:lnTo>
                    <a:pt x="245" y="85"/>
                  </a:lnTo>
                  <a:lnTo>
                    <a:pt x="247" y="83"/>
                  </a:lnTo>
                  <a:lnTo>
                    <a:pt x="251" y="77"/>
                  </a:lnTo>
                  <a:lnTo>
                    <a:pt x="256" y="72"/>
                  </a:lnTo>
                  <a:lnTo>
                    <a:pt x="257" y="68"/>
                  </a:lnTo>
                  <a:lnTo>
                    <a:pt x="254" y="68"/>
                  </a:lnTo>
                  <a:lnTo>
                    <a:pt x="242" y="69"/>
                  </a:lnTo>
                  <a:lnTo>
                    <a:pt x="232" y="68"/>
                  </a:lnTo>
                  <a:lnTo>
                    <a:pt x="231" y="66"/>
                  </a:lnTo>
                  <a:lnTo>
                    <a:pt x="232" y="61"/>
                  </a:lnTo>
                  <a:lnTo>
                    <a:pt x="232" y="53"/>
                  </a:lnTo>
                  <a:lnTo>
                    <a:pt x="228" y="46"/>
                  </a:lnTo>
                  <a:lnTo>
                    <a:pt x="224" y="45"/>
                  </a:lnTo>
                  <a:lnTo>
                    <a:pt x="218" y="45"/>
                  </a:lnTo>
                  <a:lnTo>
                    <a:pt x="211" y="46"/>
                  </a:lnTo>
                  <a:lnTo>
                    <a:pt x="205" y="45"/>
                  </a:lnTo>
                  <a:lnTo>
                    <a:pt x="203" y="42"/>
                  </a:lnTo>
                  <a:lnTo>
                    <a:pt x="204" y="38"/>
                  </a:lnTo>
                  <a:lnTo>
                    <a:pt x="210" y="34"/>
                  </a:lnTo>
                  <a:lnTo>
                    <a:pt x="217" y="30"/>
                  </a:lnTo>
                  <a:lnTo>
                    <a:pt x="222" y="30"/>
                  </a:lnTo>
                  <a:lnTo>
                    <a:pt x="226" y="32"/>
                  </a:lnTo>
                  <a:lnTo>
                    <a:pt x="236" y="38"/>
                  </a:lnTo>
                  <a:lnTo>
                    <a:pt x="248" y="44"/>
                  </a:lnTo>
                  <a:lnTo>
                    <a:pt x="256" y="47"/>
                  </a:lnTo>
                  <a:lnTo>
                    <a:pt x="262" y="51"/>
                  </a:lnTo>
                  <a:lnTo>
                    <a:pt x="269" y="55"/>
                  </a:lnTo>
                  <a:lnTo>
                    <a:pt x="272" y="60"/>
                  </a:lnTo>
                  <a:lnTo>
                    <a:pt x="272" y="63"/>
                  </a:lnTo>
                  <a:lnTo>
                    <a:pt x="270" y="67"/>
                  </a:lnTo>
                  <a:lnTo>
                    <a:pt x="270" y="73"/>
                  </a:lnTo>
                  <a:lnTo>
                    <a:pt x="272" y="78"/>
                  </a:lnTo>
                  <a:lnTo>
                    <a:pt x="274" y="83"/>
                  </a:lnTo>
                  <a:lnTo>
                    <a:pt x="277" y="85"/>
                  </a:lnTo>
                  <a:lnTo>
                    <a:pt x="278" y="86"/>
                  </a:lnTo>
                  <a:lnTo>
                    <a:pt x="279" y="85"/>
                  </a:lnTo>
                  <a:lnTo>
                    <a:pt x="284" y="81"/>
                  </a:lnTo>
                  <a:lnTo>
                    <a:pt x="289" y="76"/>
                  </a:lnTo>
                  <a:lnTo>
                    <a:pt x="296" y="72"/>
                  </a:lnTo>
                  <a:lnTo>
                    <a:pt x="302" y="69"/>
                  </a:lnTo>
                  <a:lnTo>
                    <a:pt x="307" y="68"/>
                  </a:lnTo>
                  <a:lnTo>
                    <a:pt x="311" y="69"/>
                  </a:lnTo>
                  <a:lnTo>
                    <a:pt x="318" y="73"/>
                  </a:lnTo>
                  <a:lnTo>
                    <a:pt x="327" y="76"/>
                  </a:lnTo>
                  <a:lnTo>
                    <a:pt x="335" y="78"/>
                  </a:lnTo>
                  <a:lnTo>
                    <a:pt x="343" y="80"/>
                  </a:lnTo>
                  <a:lnTo>
                    <a:pt x="349" y="82"/>
                  </a:lnTo>
                  <a:lnTo>
                    <a:pt x="353" y="86"/>
                  </a:lnTo>
                  <a:lnTo>
                    <a:pt x="353" y="90"/>
                  </a:lnTo>
                  <a:lnTo>
                    <a:pt x="350" y="95"/>
                  </a:lnTo>
                  <a:lnTo>
                    <a:pt x="349" y="96"/>
                  </a:lnTo>
                  <a:lnTo>
                    <a:pt x="334" y="98"/>
                  </a:lnTo>
                  <a:lnTo>
                    <a:pt x="332" y="98"/>
                  </a:lnTo>
                  <a:lnTo>
                    <a:pt x="326" y="98"/>
                  </a:lnTo>
                  <a:lnTo>
                    <a:pt x="322" y="100"/>
                  </a:lnTo>
                  <a:lnTo>
                    <a:pt x="323" y="106"/>
                  </a:lnTo>
                  <a:lnTo>
                    <a:pt x="325" y="114"/>
                  </a:lnTo>
                  <a:lnTo>
                    <a:pt x="326" y="119"/>
                  </a:lnTo>
                  <a:lnTo>
                    <a:pt x="328" y="121"/>
                  </a:lnTo>
                  <a:lnTo>
                    <a:pt x="335" y="121"/>
                  </a:lnTo>
                  <a:lnTo>
                    <a:pt x="346" y="121"/>
                  </a:lnTo>
                  <a:lnTo>
                    <a:pt x="350" y="121"/>
                  </a:lnTo>
                  <a:lnTo>
                    <a:pt x="353" y="124"/>
                  </a:lnTo>
                  <a:lnTo>
                    <a:pt x="351" y="131"/>
                  </a:lnTo>
                  <a:lnTo>
                    <a:pt x="347" y="138"/>
                  </a:lnTo>
                  <a:lnTo>
                    <a:pt x="341" y="142"/>
                  </a:lnTo>
                  <a:lnTo>
                    <a:pt x="334" y="145"/>
                  </a:lnTo>
                  <a:lnTo>
                    <a:pt x="331" y="152"/>
                  </a:lnTo>
                  <a:lnTo>
                    <a:pt x="330" y="158"/>
                  </a:lnTo>
                  <a:lnTo>
                    <a:pt x="330" y="160"/>
                  </a:lnTo>
                  <a:lnTo>
                    <a:pt x="330" y="162"/>
                  </a:lnTo>
                  <a:lnTo>
                    <a:pt x="333" y="166"/>
                  </a:lnTo>
                  <a:lnTo>
                    <a:pt x="335" y="169"/>
                  </a:lnTo>
                  <a:lnTo>
                    <a:pt x="335" y="172"/>
                  </a:lnTo>
                  <a:lnTo>
                    <a:pt x="335" y="175"/>
                  </a:lnTo>
                  <a:lnTo>
                    <a:pt x="340" y="184"/>
                  </a:lnTo>
                  <a:lnTo>
                    <a:pt x="346" y="195"/>
                  </a:lnTo>
                  <a:lnTo>
                    <a:pt x="348" y="200"/>
                  </a:lnTo>
                  <a:lnTo>
                    <a:pt x="347" y="206"/>
                  </a:lnTo>
                  <a:lnTo>
                    <a:pt x="345" y="213"/>
                  </a:lnTo>
                  <a:lnTo>
                    <a:pt x="343" y="221"/>
                  </a:lnTo>
                  <a:lnTo>
                    <a:pt x="341" y="229"/>
                  </a:lnTo>
                  <a:lnTo>
                    <a:pt x="341" y="236"/>
                  </a:lnTo>
                  <a:lnTo>
                    <a:pt x="345" y="242"/>
                  </a:lnTo>
                  <a:lnTo>
                    <a:pt x="347" y="247"/>
                  </a:lnTo>
                  <a:lnTo>
                    <a:pt x="348" y="251"/>
                  </a:lnTo>
                  <a:lnTo>
                    <a:pt x="348" y="256"/>
                  </a:lnTo>
                  <a:lnTo>
                    <a:pt x="349" y="260"/>
                  </a:lnTo>
                  <a:lnTo>
                    <a:pt x="350" y="265"/>
                  </a:lnTo>
                  <a:lnTo>
                    <a:pt x="349" y="268"/>
                  </a:lnTo>
                  <a:lnTo>
                    <a:pt x="348" y="271"/>
                  </a:lnTo>
                  <a:lnTo>
                    <a:pt x="347" y="272"/>
                  </a:lnTo>
                  <a:lnTo>
                    <a:pt x="345" y="270"/>
                  </a:lnTo>
                  <a:lnTo>
                    <a:pt x="340" y="266"/>
                  </a:lnTo>
                  <a:lnTo>
                    <a:pt x="332" y="262"/>
                  </a:lnTo>
                  <a:lnTo>
                    <a:pt x="326" y="259"/>
                  </a:lnTo>
                  <a:lnTo>
                    <a:pt x="320" y="258"/>
                  </a:lnTo>
                  <a:lnTo>
                    <a:pt x="316" y="258"/>
                  </a:lnTo>
                  <a:lnTo>
                    <a:pt x="311" y="258"/>
                  </a:lnTo>
                  <a:lnTo>
                    <a:pt x="307" y="259"/>
                  </a:lnTo>
                  <a:lnTo>
                    <a:pt x="303" y="260"/>
                  </a:lnTo>
                  <a:lnTo>
                    <a:pt x="300" y="262"/>
                  </a:lnTo>
                  <a:lnTo>
                    <a:pt x="297" y="264"/>
                  </a:lnTo>
                  <a:lnTo>
                    <a:pt x="294" y="266"/>
                  </a:lnTo>
                  <a:lnTo>
                    <a:pt x="292" y="266"/>
                  </a:lnTo>
                  <a:lnTo>
                    <a:pt x="288" y="268"/>
                  </a:lnTo>
                  <a:lnTo>
                    <a:pt x="284" y="277"/>
                  </a:lnTo>
                  <a:lnTo>
                    <a:pt x="280" y="283"/>
                  </a:lnTo>
                  <a:lnTo>
                    <a:pt x="278" y="291"/>
                  </a:lnTo>
                  <a:lnTo>
                    <a:pt x="276" y="298"/>
                  </a:lnTo>
                  <a:lnTo>
                    <a:pt x="274" y="306"/>
                  </a:lnTo>
                  <a:lnTo>
                    <a:pt x="277" y="315"/>
                  </a:lnTo>
                  <a:lnTo>
                    <a:pt x="281" y="321"/>
                  </a:lnTo>
                  <a:lnTo>
                    <a:pt x="290" y="328"/>
                  </a:lnTo>
                  <a:lnTo>
                    <a:pt x="305" y="333"/>
                  </a:lnTo>
                  <a:lnTo>
                    <a:pt x="311" y="325"/>
                  </a:lnTo>
                  <a:lnTo>
                    <a:pt x="317" y="318"/>
                  </a:lnTo>
                  <a:lnTo>
                    <a:pt x="324" y="315"/>
                  </a:lnTo>
                  <a:lnTo>
                    <a:pt x="331" y="315"/>
                  </a:lnTo>
                  <a:lnTo>
                    <a:pt x="335" y="318"/>
                  </a:lnTo>
                  <a:lnTo>
                    <a:pt x="336" y="321"/>
                  </a:lnTo>
                  <a:lnTo>
                    <a:pt x="335" y="326"/>
                  </a:lnTo>
                  <a:lnTo>
                    <a:pt x="334" y="327"/>
                  </a:lnTo>
                  <a:lnTo>
                    <a:pt x="336" y="327"/>
                  </a:lnTo>
                  <a:lnTo>
                    <a:pt x="341" y="328"/>
                  </a:lnTo>
                  <a:lnTo>
                    <a:pt x="349" y="327"/>
                  </a:lnTo>
                  <a:lnTo>
                    <a:pt x="358" y="323"/>
                  </a:lnTo>
                  <a:lnTo>
                    <a:pt x="366" y="321"/>
                  </a:lnTo>
                  <a:lnTo>
                    <a:pt x="370" y="325"/>
                  </a:lnTo>
                  <a:lnTo>
                    <a:pt x="373" y="331"/>
                  </a:lnTo>
                  <a:lnTo>
                    <a:pt x="378" y="336"/>
                  </a:lnTo>
                  <a:lnTo>
                    <a:pt x="384" y="339"/>
                  </a:lnTo>
                  <a:lnTo>
                    <a:pt x="387" y="339"/>
                  </a:lnTo>
                  <a:lnTo>
                    <a:pt x="392" y="338"/>
                  </a:lnTo>
                  <a:lnTo>
                    <a:pt x="399" y="335"/>
                  </a:lnTo>
                  <a:lnTo>
                    <a:pt x="405" y="335"/>
                  </a:lnTo>
                  <a:lnTo>
                    <a:pt x="410" y="336"/>
                  </a:lnTo>
                  <a:lnTo>
                    <a:pt x="413" y="334"/>
                  </a:lnTo>
                  <a:lnTo>
                    <a:pt x="420" y="327"/>
                  </a:lnTo>
                  <a:lnTo>
                    <a:pt x="426" y="317"/>
                  </a:lnTo>
                  <a:lnTo>
                    <a:pt x="427" y="309"/>
                  </a:lnTo>
                  <a:lnTo>
                    <a:pt x="431" y="302"/>
                  </a:lnTo>
                  <a:lnTo>
                    <a:pt x="440" y="298"/>
                  </a:lnTo>
                  <a:lnTo>
                    <a:pt x="447" y="298"/>
                  </a:lnTo>
                  <a:lnTo>
                    <a:pt x="453" y="297"/>
                  </a:lnTo>
                  <a:lnTo>
                    <a:pt x="458" y="297"/>
                  </a:lnTo>
                  <a:lnTo>
                    <a:pt x="464" y="295"/>
                  </a:lnTo>
                  <a:lnTo>
                    <a:pt x="469" y="294"/>
                  </a:lnTo>
                  <a:lnTo>
                    <a:pt x="474" y="290"/>
                  </a:lnTo>
                  <a:lnTo>
                    <a:pt x="478" y="287"/>
                  </a:lnTo>
                  <a:lnTo>
                    <a:pt x="482" y="281"/>
                  </a:lnTo>
                  <a:lnTo>
                    <a:pt x="489" y="274"/>
                  </a:lnTo>
                  <a:lnTo>
                    <a:pt x="494" y="272"/>
                  </a:lnTo>
                  <a:lnTo>
                    <a:pt x="499" y="274"/>
                  </a:lnTo>
                  <a:lnTo>
                    <a:pt x="505" y="274"/>
                  </a:lnTo>
                  <a:lnTo>
                    <a:pt x="510" y="274"/>
                  </a:lnTo>
                  <a:lnTo>
                    <a:pt x="516" y="273"/>
                  </a:lnTo>
                  <a:lnTo>
                    <a:pt x="522" y="271"/>
                  </a:lnTo>
                  <a:lnTo>
                    <a:pt x="527" y="268"/>
                  </a:lnTo>
                  <a:lnTo>
                    <a:pt x="533" y="267"/>
                  </a:lnTo>
                  <a:lnTo>
                    <a:pt x="536" y="265"/>
                  </a:lnTo>
                  <a:lnTo>
                    <a:pt x="540" y="264"/>
                  </a:lnTo>
                  <a:lnTo>
                    <a:pt x="541" y="264"/>
                  </a:lnTo>
                  <a:lnTo>
                    <a:pt x="542" y="264"/>
                  </a:lnTo>
                  <a:lnTo>
                    <a:pt x="546" y="265"/>
                  </a:lnTo>
                  <a:lnTo>
                    <a:pt x="553" y="267"/>
                  </a:lnTo>
                  <a:lnTo>
                    <a:pt x="562" y="268"/>
                  </a:lnTo>
                  <a:lnTo>
                    <a:pt x="567" y="268"/>
                  </a:lnTo>
                  <a:lnTo>
                    <a:pt x="573" y="265"/>
                  </a:lnTo>
                  <a:lnTo>
                    <a:pt x="580" y="262"/>
                  </a:lnTo>
                  <a:lnTo>
                    <a:pt x="586" y="257"/>
                  </a:lnTo>
                  <a:lnTo>
                    <a:pt x="593" y="252"/>
                  </a:lnTo>
                  <a:lnTo>
                    <a:pt x="600" y="248"/>
                  </a:lnTo>
                  <a:lnTo>
                    <a:pt x="605" y="245"/>
                  </a:lnTo>
                  <a:lnTo>
                    <a:pt x="612" y="244"/>
                  </a:lnTo>
                  <a:lnTo>
                    <a:pt x="622" y="248"/>
                  </a:lnTo>
                  <a:lnTo>
                    <a:pt x="625" y="256"/>
                  </a:lnTo>
                  <a:lnTo>
                    <a:pt x="627" y="265"/>
                  </a:lnTo>
                  <a:lnTo>
                    <a:pt x="627" y="273"/>
                  </a:lnTo>
                  <a:lnTo>
                    <a:pt x="626" y="282"/>
                  </a:lnTo>
                  <a:lnTo>
                    <a:pt x="626" y="293"/>
                  </a:lnTo>
                  <a:lnTo>
                    <a:pt x="625" y="302"/>
                  </a:lnTo>
                  <a:lnTo>
                    <a:pt x="627" y="310"/>
                  </a:lnTo>
                  <a:lnTo>
                    <a:pt x="630" y="316"/>
                  </a:lnTo>
                  <a:lnTo>
                    <a:pt x="628" y="320"/>
                  </a:lnTo>
                  <a:lnTo>
                    <a:pt x="627" y="328"/>
                  </a:lnTo>
                  <a:lnTo>
                    <a:pt x="625" y="340"/>
                  </a:lnTo>
                  <a:lnTo>
                    <a:pt x="623" y="355"/>
                  </a:lnTo>
                  <a:lnTo>
                    <a:pt x="620" y="372"/>
                  </a:lnTo>
                  <a:lnTo>
                    <a:pt x="616" y="388"/>
                  </a:lnTo>
                  <a:lnTo>
                    <a:pt x="607" y="404"/>
                  </a:lnTo>
                  <a:lnTo>
                    <a:pt x="602" y="411"/>
                  </a:lnTo>
                  <a:lnTo>
                    <a:pt x="597" y="418"/>
                  </a:lnTo>
                  <a:lnTo>
                    <a:pt x="594" y="425"/>
                  </a:lnTo>
                  <a:lnTo>
                    <a:pt x="590" y="432"/>
                  </a:lnTo>
                  <a:lnTo>
                    <a:pt x="586" y="439"/>
                  </a:lnTo>
                  <a:lnTo>
                    <a:pt x="582" y="446"/>
                  </a:lnTo>
                  <a:lnTo>
                    <a:pt x="577" y="455"/>
                  </a:lnTo>
                  <a:lnTo>
                    <a:pt x="571" y="464"/>
                  </a:lnTo>
                  <a:lnTo>
                    <a:pt x="561" y="481"/>
                  </a:lnTo>
                  <a:lnTo>
                    <a:pt x="555" y="493"/>
                  </a:lnTo>
                  <a:lnTo>
                    <a:pt x="549" y="501"/>
                  </a:lnTo>
                  <a:lnTo>
                    <a:pt x="541" y="509"/>
                  </a:lnTo>
                  <a:lnTo>
                    <a:pt x="534" y="517"/>
                  </a:lnTo>
                  <a:lnTo>
                    <a:pt x="532" y="523"/>
                  </a:lnTo>
                  <a:lnTo>
                    <a:pt x="528" y="529"/>
                  </a:lnTo>
                  <a:lnTo>
                    <a:pt x="523" y="534"/>
                  </a:lnTo>
                  <a:lnTo>
                    <a:pt x="515" y="540"/>
                  </a:lnTo>
                  <a:lnTo>
                    <a:pt x="508" y="547"/>
                  </a:lnTo>
                  <a:lnTo>
                    <a:pt x="503" y="551"/>
                  </a:lnTo>
                  <a:lnTo>
                    <a:pt x="501" y="553"/>
                  </a:lnTo>
                  <a:lnTo>
                    <a:pt x="503" y="533"/>
                  </a:lnTo>
                  <a:lnTo>
                    <a:pt x="505" y="517"/>
                  </a:lnTo>
                  <a:lnTo>
                    <a:pt x="508" y="502"/>
                  </a:lnTo>
                  <a:lnTo>
                    <a:pt x="509" y="486"/>
                  </a:lnTo>
                  <a:lnTo>
                    <a:pt x="511" y="471"/>
                  </a:lnTo>
                  <a:lnTo>
                    <a:pt x="512" y="458"/>
                  </a:lnTo>
                  <a:lnTo>
                    <a:pt x="510" y="450"/>
                  </a:lnTo>
                  <a:lnTo>
                    <a:pt x="499" y="446"/>
                  </a:lnTo>
                  <a:lnTo>
                    <a:pt x="490" y="445"/>
                  </a:lnTo>
                  <a:lnTo>
                    <a:pt x="484" y="445"/>
                  </a:lnTo>
                  <a:lnTo>
                    <a:pt x="477" y="445"/>
                  </a:lnTo>
                  <a:lnTo>
                    <a:pt x="471" y="443"/>
                  </a:lnTo>
                  <a:lnTo>
                    <a:pt x="465" y="443"/>
                  </a:lnTo>
                  <a:lnTo>
                    <a:pt x="458" y="442"/>
                  </a:lnTo>
                  <a:lnTo>
                    <a:pt x="451" y="440"/>
                  </a:lnTo>
                  <a:lnTo>
                    <a:pt x="445" y="438"/>
                  </a:lnTo>
                  <a:lnTo>
                    <a:pt x="433" y="433"/>
                  </a:lnTo>
                  <a:lnTo>
                    <a:pt x="430" y="432"/>
                  </a:lnTo>
                  <a:lnTo>
                    <a:pt x="428" y="426"/>
                  </a:lnTo>
                  <a:lnTo>
                    <a:pt x="427" y="410"/>
                  </a:lnTo>
                  <a:lnTo>
                    <a:pt x="427" y="389"/>
                  </a:lnTo>
                  <a:lnTo>
                    <a:pt x="428" y="376"/>
                  </a:lnTo>
                  <a:lnTo>
                    <a:pt x="427" y="365"/>
                  </a:lnTo>
                  <a:lnTo>
                    <a:pt x="419" y="359"/>
                  </a:lnTo>
                  <a:lnTo>
                    <a:pt x="410" y="357"/>
                  </a:lnTo>
                  <a:lnTo>
                    <a:pt x="405" y="359"/>
                  </a:lnTo>
                  <a:lnTo>
                    <a:pt x="399" y="362"/>
                  </a:lnTo>
                  <a:lnTo>
                    <a:pt x="387" y="363"/>
                  </a:lnTo>
                  <a:lnTo>
                    <a:pt x="380" y="363"/>
                  </a:lnTo>
                  <a:lnTo>
                    <a:pt x="373" y="364"/>
                  </a:lnTo>
                  <a:lnTo>
                    <a:pt x="369" y="364"/>
                  </a:lnTo>
                  <a:lnTo>
                    <a:pt x="364" y="365"/>
                  </a:lnTo>
                  <a:lnTo>
                    <a:pt x="359" y="365"/>
                  </a:lnTo>
                  <a:lnTo>
                    <a:pt x="355" y="365"/>
                  </a:lnTo>
                  <a:lnTo>
                    <a:pt x="348" y="364"/>
                  </a:lnTo>
                  <a:lnTo>
                    <a:pt x="341" y="361"/>
                  </a:lnTo>
                  <a:lnTo>
                    <a:pt x="334" y="357"/>
                  </a:lnTo>
                  <a:lnTo>
                    <a:pt x="330" y="354"/>
                  </a:lnTo>
                  <a:lnTo>
                    <a:pt x="326" y="353"/>
                  </a:lnTo>
                  <a:lnTo>
                    <a:pt x="323" y="351"/>
                  </a:lnTo>
                  <a:lnTo>
                    <a:pt x="319" y="351"/>
                  </a:lnTo>
                  <a:lnTo>
                    <a:pt x="316" y="353"/>
                  </a:lnTo>
                  <a:lnTo>
                    <a:pt x="312" y="355"/>
                  </a:lnTo>
                  <a:lnTo>
                    <a:pt x="307" y="358"/>
                  </a:lnTo>
                  <a:lnTo>
                    <a:pt x="297" y="366"/>
                  </a:lnTo>
                  <a:lnTo>
                    <a:pt x="292" y="373"/>
                  </a:lnTo>
                  <a:lnTo>
                    <a:pt x="286" y="377"/>
                  </a:lnTo>
                  <a:lnTo>
                    <a:pt x="274" y="376"/>
                  </a:lnTo>
                  <a:lnTo>
                    <a:pt x="268" y="374"/>
                  </a:lnTo>
                  <a:lnTo>
                    <a:pt x="262" y="374"/>
                  </a:lnTo>
                  <a:lnTo>
                    <a:pt x="257" y="374"/>
                  </a:lnTo>
                  <a:lnTo>
                    <a:pt x="251" y="376"/>
                  </a:lnTo>
                  <a:lnTo>
                    <a:pt x="247" y="376"/>
                  </a:lnTo>
                  <a:lnTo>
                    <a:pt x="242" y="373"/>
                  </a:lnTo>
                  <a:lnTo>
                    <a:pt x="239" y="370"/>
                  </a:lnTo>
                  <a:lnTo>
                    <a:pt x="234" y="363"/>
                  </a:lnTo>
                  <a:lnTo>
                    <a:pt x="227" y="350"/>
                  </a:lnTo>
                  <a:lnTo>
                    <a:pt x="223" y="342"/>
                  </a:lnTo>
                  <a:lnTo>
                    <a:pt x="218" y="338"/>
                  </a:lnTo>
                  <a:lnTo>
                    <a:pt x="210" y="332"/>
                  </a:lnTo>
                  <a:lnTo>
                    <a:pt x="202" y="325"/>
                  </a:lnTo>
                  <a:lnTo>
                    <a:pt x="196" y="323"/>
                  </a:lnTo>
                  <a:lnTo>
                    <a:pt x="192" y="321"/>
                  </a:lnTo>
                  <a:lnTo>
                    <a:pt x="182" y="319"/>
                  </a:lnTo>
                  <a:lnTo>
                    <a:pt x="173" y="318"/>
                  </a:lnTo>
                  <a:lnTo>
                    <a:pt x="166" y="318"/>
                  </a:lnTo>
                  <a:lnTo>
                    <a:pt x="163" y="320"/>
                  </a:lnTo>
                  <a:lnTo>
                    <a:pt x="164" y="324"/>
                  </a:lnTo>
                  <a:lnTo>
                    <a:pt x="170" y="329"/>
                  </a:lnTo>
                  <a:lnTo>
                    <a:pt x="174" y="335"/>
                  </a:lnTo>
                  <a:lnTo>
                    <a:pt x="179" y="340"/>
                  </a:lnTo>
                  <a:lnTo>
                    <a:pt x="184" y="342"/>
                  </a:lnTo>
                  <a:lnTo>
                    <a:pt x="187" y="346"/>
                  </a:lnTo>
                  <a:lnTo>
                    <a:pt x="192" y="347"/>
                  </a:lnTo>
                  <a:lnTo>
                    <a:pt x="195" y="349"/>
                  </a:lnTo>
                  <a:lnTo>
                    <a:pt x="199" y="350"/>
                  </a:lnTo>
                  <a:lnTo>
                    <a:pt x="202" y="353"/>
                  </a:lnTo>
                  <a:lnTo>
                    <a:pt x="201" y="356"/>
                  </a:lnTo>
                  <a:lnTo>
                    <a:pt x="199" y="358"/>
                  </a:lnTo>
                  <a:lnTo>
                    <a:pt x="196" y="359"/>
                  </a:lnTo>
                  <a:lnTo>
                    <a:pt x="187" y="357"/>
                  </a:lnTo>
                  <a:lnTo>
                    <a:pt x="180" y="354"/>
                  </a:lnTo>
                  <a:lnTo>
                    <a:pt x="174" y="351"/>
                  </a:lnTo>
                  <a:lnTo>
                    <a:pt x="170" y="349"/>
                  </a:lnTo>
                  <a:lnTo>
                    <a:pt x="165" y="348"/>
                  </a:lnTo>
                  <a:lnTo>
                    <a:pt x="162" y="346"/>
                  </a:lnTo>
                  <a:lnTo>
                    <a:pt x="158" y="342"/>
                  </a:lnTo>
                  <a:lnTo>
                    <a:pt x="155" y="340"/>
                  </a:lnTo>
                  <a:lnTo>
                    <a:pt x="149" y="334"/>
                  </a:lnTo>
                  <a:lnTo>
                    <a:pt x="146" y="328"/>
                  </a:lnTo>
                  <a:lnTo>
                    <a:pt x="145" y="320"/>
                  </a:lnTo>
                  <a:lnTo>
                    <a:pt x="145" y="311"/>
                  </a:lnTo>
                  <a:lnTo>
                    <a:pt x="145" y="303"/>
                  </a:lnTo>
                  <a:lnTo>
                    <a:pt x="143" y="298"/>
                  </a:lnTo>
                  <a:lnTo>
                    <a:pt x="139" y="295"/>
                  </a:lnTo>
                  <a:lnTo>
                    <a:pt x="131" y="289"/>
                  </a:lnTo>
                  <a:lnTo>
                    <a:pt x="122" y="282"/>
                  </a:lnTo>
                  <a:lnTo>
                    <a:pt x="116" y="278"/>
                  </a:lnTo>
                  <a:lnTo>
                    <a:pt x="112" y="274"/>
                  </a:lnTo>
                  <a:lnTo>
                    <a:pt x="110" y="270"/>
                  </a:lnTo>
                  <a:lnTo>
                    <a:pt x="110" y="263"/>
                  </a:lnTo>
                  <a:lnTo>
                    <a:pt x="111" y="256"/>
                  </a:lnTo>
                  <a:lnTo>
                    <a:pt x="111" y="247"/>
                  </a:lnTo>
                  <a:lnTo>
                    <a:pt x="110" y="235"/>
                  </a:lnTo>
                  <a:lnTo>
                    <a:pt x="107" y="225"/>
                  </a:lnTo>
                  <a:lnTo>
                    <a:pt x="101" y="218"/>
                  </a:lnTo>
                  <a:lnTo>
                    <a:pt x="95" y="211"/>
                  </a:lnTo>
                  <a:lnTo>
                    <a:pt x="91" y="203"/>
                  </a:lnTo>
                  <a:lnTo>
                    <a:pt x="86" y="195"/>
                  </a:lnTo>
                  <a:lnTo>
                    <a:pt x="80" y="189"/>
                  </a:lnTo>
                  <a:lnTo>
                    <a:pt x="78" y="186"/>
                  </a:lnTo>
                  <a:lnTo>
                    <a:pt x="81" y="184"/>
                  </a:lnTo>
                  <a:lnTo>
                    <a:pt x="88" y="186"/>
                  </a:lnTo>
                  <a:lnTo>
                    <a:pt x="93" y="189"/>
                  </a:lnTo>
                  <a:lnTo>
                    <a:pt x="96" y="190"/>
                  </a:lnTo>
                  <a:lnTo>
                    <a:pt x="100" y="186"/>
                  </a:lnTo>
                  <a:lnTo>
                    <a:pt x="103" y="177"/>
                  </a:lnTo>
                  <a:lnTo>
                    <a:pt x="104" y="171"/>
                  </a:lnTo>
                  <a:lnTo>
                    <a:pt x="103" y="165"/>
                  </a:lnTo>
                  <a:lnTo>
                    <a:pt x="99" y="162"/>
                  </a:lnTo>
                  <a:lnTo>
                    <a:pt x="94" y="162"/>
                  </a:lnTo>
                  <a:lnTo>
                    <a:pt x="91" y="162"/>
                  </a:lnTo>
                  <a:lnTo>
                    <a:pt x="86" y="164"/>
                  </a:lnTo>
                  <a:lnTo>
                    <a:pt x="81" y="164"/>
                  </a:lnTo>
                  <a:lnTo>
                    <a:pt x="77" y="164"/>
                  </a:lnTo>
                  <a:lnTo>
                    <a:pt x="74" y="165"/>
                  </a:lnTo>
                  <a:lnTo>
                    <a:pt x="73" y="164"/>
                  </a:lnTo>
                  <a:lnTo>
                    <a:pt x="68" y="158"/>
                  </a:lnTo>
                  <a:lnTo>
                    <a:pt x="63" y="154"/>
                  </a:lnTo>
                  <a:lnTo>
                    <a:pt x="58" y="153"/>
                  </a:lnTo>
                  <a:lnTo>
                    <a:pt x="54" y="152"/>
                  </a:lnTo>
                  <a:lnTo>
                    <a:pt x="48" y="152"/>
                  </a:lnTo>
                  <a:lnTo>
                    <a:pt x="42" y="153"/>
                  </a:lnTo>
                  <a:lnTo>
                    <a:pt x="38" y="153"/>
                  </a:lnTo>
                  <a:lnTo>
                    <a:pt x="33" y="154"/>
                  </a:lnTo>
                  <a:lnTo>
                    <a:pt x="28" y="154"/>
                  </a:lnTo>
                  <a:lnTo>
                    <a:pt x="22" y="156"/>
                  </a:lnTo>
                  <a:lnTo>
                    <a:pt x="18" y="154"/>
                  </a:lnTo>
                  <a:lnTo>
                    <a:pt x="17" y="152"/>
                  </a:lnTo>
                  <a:lnTo>
                    <a:pt x="20" y="144"/>
                  </a:lnTo>
                  <a:lnTo>
                    <a:pt x="26" y="136"/>
                  </a:lnTo>
                  <a:lnTo>
                    <a:pt x="32" y="130"/>
                  </a:lnTo>
                  <a:lnTo>
                    <a:pt x="36" y="126"/>
                  </a:lnTo>
                  <a:lnTo>
                    <a:pt x="39" y="119"/>
                  </a:lnTo>
                  <a:lnTo>
                    <a:pt x="40" y="111"/>
                  </a:lnTo>
                  <a:lnTo>
                    <a:pt x="41" y="105"/>
                  </a:lnTo>
                  <a:lnTo>
                    <a:pt x="39" y="103"/>
                  </a:lnTo>
                  <a:lnTo>
                    <a:pt x="32" y="101"/>
                  </a:lnTo>
                  <a:lnTo>
                    <a:pt x="24" y="103"/>
                  </a:lnTo>
                  <a:lnTo>
                    <a:pt x="18" y="105"/>
                  </a:lnTo>
                  <a:lnTo>
                    <a:pt x="14" y="107"/>
                  </a:lnTo>
                  <a:lnTo>
                    <a:pt x="7" y="107"/>
                  </a:lnTo>
                  <a:lnTo>
                    <a:pt x="3" y="106"/>
                  </a:lnTo>
                  <a:lnTo>
                    <a:pt x="1" y="105"/>
                  </a:lnTo>
                  <a:lnTo>
                    <a:pt x="0" y="106"/>
                  </a:lnTo>
                  <a:lnTo>
                    <a:pt x="4" y="95"/>
                  </a:lnTo>
                  <a:lnTo>
                    <a:pt x="11" y="81"/>
                  </a:lnTo>
                  <a:lnTo>
                    <a:pt x="22" y="65"/>
                  </a:lnTo>
                  <a:lnTo>
                    <a:pt x="34" y="47"/>
                  </a:lnTo>
                  <a:lnTo>
                    <a:pt x="47" y="32"/>
                  </a:lnTo>
                  <a:lnTo>
                    <a:pt x="59" y="17"/>
                  </a:lnTo>
                  <a:lnTo>
                    <a:pt x="71" y="7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Rectangle 8">
            <a:extLst>
              <a:ext uri="{FF2B5EF4-FFF2-40B4-BE49-F238E27FC236}">
                <a16:creationId xmlns:a16="http://schemas.microsoft.com/office/drawing/2014/main" id="{EB4ABE00-0A2E-C409-F706-52F761757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6843" y="2431532"/>
            <a:ext cx="259900" cy="2460508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0B9B2103-6849-1CDD-6631-0956A1B4C3C6}"/>
              </a:ext>
            </a:extLst>
          </p:cNvPr>
          <p:cNvSpPr>
            <a:spLocks noChangeShapeType="1"/>
          </p:cNvSpPr>
          <p:nvPr/>
        </p:nvSpPr>
        <p:spPr bwMode="auto">
          <a:xfrm>
            <a:off x="9152389" y="2443360"/>
            <a:ext cx="0" cy="793526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10">
            <a:extLst>
              <a:ext uri="{FF2B5EF4-FFF2-40B4-BE49-F238E27FC236}">
                <a16:creationId xmlns:a16="http://schemas.microsoft.com/office/drawing/2014/main" id="{5F42BFCB-BBBB-B98D-49DB-ACD497A801F3}"/>
              </a:ext>
            </a:extLst>
          </p:cNvPr>
          <p:cNvGrpSpPr>
            <a:grpSpLocks/>
          </p:cNvGrpSpPr>
          <p:nvPr/>
        </p:nvGrpSpPr>
        <p:grpSpPr bwMode="auto">
          <a:xfrm>
            <a:off x="9061769" y="1757990"/>
            <a:ext cx="181239" cy="480280"/>
            <a:chOff x="4333" y="1097"/>
            <a:chExt cx="140" cy="485"/>
          </a:xfrm>
        </p:grpSpPr>
        <p:sp>
          <p:nvSpPr>
            <p:cNvPr id="8" name="AutoShape 11">
              <a:extLst>
                <a:ext uri="{FF2B5EF4-FFF2-40B4-BE49-F238E27FC236}">
                  <a16:creationId xmlns:a16="http://schemas.microsoft.com/office/drawing/2014/main" id="{94ED34C7-7BCA-46DD-9143-CAFE93DD8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3" y="1097"/>
              <a:ext cx="140" cy="316"/>
            </a:xfrm>
            <a:prstGeom prst="smileyFace">
              <a:avLst>
                <a:gd name="adj" fmla="val 4653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9" name="Group 12">
              <a:extLst>
                <a:ext uri="{FF2B5EF4-FFF2-40B4-BE49-F238E27FC236}">
                  <a16:creationId xmlns:a16="http://schemas.microsoft.com/office/drawing/2014/main" id="{9946416C-D253-1DDA-79D3-4E9291AAC3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9" y="1419"/>
              <a:ext cx="114" cy="163"/>
              <a:chOff x="4349" y="1419"/>
              <a:chExt cx="114" cy="231"/>
            </a:xfrm>
          </p:grpSpPr>
          <p:sp>
            <p:nvSpPr>
              <p:cNvPr id="10" name="Line 13">
                <a:extLst>
                  <a:ext uri="{FF2B5EF4-FFF2-40B4-BE49-F238E27FC236}">
                    <a16:creationId xmlns:a16="http://schemas.microsoft.com/office/drawing/2014/main" id="{E6387E4C-150E-F731-75D1-2D0956BF0C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06" y="1419"/>
                <a:ext cx="0" cy="18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11" name="Group 14">
                <a:extLst>
                  <a:ext uri="{FF2B5EF4-FFF2-40B4-BE49-F238E27FC236}">
                    <a16:creationId xmlns:a16="http://schemas.microsoft.com/office/drawing/2014/main" id="{F0B81286-7B3F-7CFF-5709-46DB979F01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49" y="1593"/>
                <a:ext cx="114" cy="57"/>
                <a:chOff x="4350" y="1560"/>
                <a:chExt cx="114" cy="57"/>
              </a:xfrm>
            </p:grpSpPr>
            <p:sp>
              <p:nvSpPr>
                <p:cNvPr id="15" name="Line 15">
                  <a:extLst>
                    <a:ext uri="{FF2B5EF4-FFF2-40B4-BE49-F238E27FC236}">
                      <a16:creationId xmlns:a16="http://schemas.microsoft.com/office/drawing/2014/main" id="{6A0BDE36-40B1-57FF-ACD8-188DA5B12B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50" y="1560"/>
                  <a:ext cx="57" cy="57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Line 16">
                  <a:extLst>
                    <a:ext uri="{FF2B5EF4-FFF2-40B4-BE49-F238E27FC236}">
                      <a16:creationId xmlns:a16="http://schemas.microsoft.com/office/drawing/2014/main" id="{77A5B3AE-77F8-B24F-78C2-BC48D2814E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>
                  <a:off x="4407" y="1560"/>
                  <a:ext cx="57" cy="57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7">
                <a:extLst>
                  <a:ext uri="{FF2B5EF4-FFF2-40B4-BE49-F238E27FC236}">
                    <a16:creationId xmlns:a16="http://schemas.microsoft.com/office/drawing/2014/main" id="{3277D0EF-FFC7-A1F4-7F26-2EFD02D5EA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349" y="1443"/>
                <a:ext cx="114" cy="57"/>
                <a:chOff x="4350" y="1560"/>
                <a:chExt cx="114" cy="57"/>
              </a:xfrm>
            </p:grpSpPr>
            <p:sp>
              <p:nvSpPr>
                <p:cNvPr id="13" name="Line 18">
                  <a:extLst>
                    <a:ext uri="{FF2B5EF4-FFF2-40B4-BE49-F238E27FC236}">
                      <a16:creationId xmlns:a16="http://schemas.microsoft.com/office/drawing/2014/main" id="{C3BBA76F-F303-AD1C-EA2A-9FC9A1F7BD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50" y="1560"/>
                  <a:ext cx="57" cy="57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Line 19">
                  <a:extLst>
                    <a:ext uri="{FF2B5EF4-FFF2-40B4-BE49-F238E27FC236}">
                      <a16:creationId xmlns:a16="http://schemas.microsoft.com/office/drawing/2014/main" id="{275589CF-CE46-5766-BBCA-0D5651CFD7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>
                  <a:off x="4407" y="1560"/>
                  <a:ext cx="57" cy="57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64275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Kinetic Energy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Recall that Kinetic energy can be written as</a:t>
            </a:r>
          </a:p>
          <a:p>
            <a:endParaRPr lang="en-US"/>
          </a:p>
          <a:p>
            <a:r>
              <a:rPr lang="en-US"/>
              <a:t>For SHM</a:t>
            </a:r>
          </a:p>
        </p:txBody>
      </p:sp>
      <p:sp>
        <p:nvSpPr>
          <p:cNvPr id="203780" name="Rectangle 4"/>
          <p:cNvSpPr>
            <a:spLocks noChangeArrowheads="1"/>
          </p:cNvSpPr>
          <p:nvPr/>
        </p:nvSpPr>
        <p:spPr bwMode="auto">
          <a:xfrm>
            <a:off x="1524001" y="30490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03781" name="Object 5"/>
          <p:cNvGraphicFramePr>
            <a:graphicFrameLocks noChangeAspect="1"/>
          </p:cNvGraphicFramePr>
          <p:nvPr/>
        </p:nvGraphicFramePr>
        <p:xfrm>
          <a:off x="4614864" y="2347914"/>
          <a:ext cx="130968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393700" progId="Equation.3">
                  <p:embed/>
                </p:oleObj>
              </mc:Choice>
              <mc:Fallback>
                <p:oleObj name="Equation" r:id="rId2" imgW="685800" imgH="393700" progId="Equation.3">
                  <p:embed/>
                  <p:pic>
                    <p:nvPicPr>
                      <p:cNvPr id="2037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4864" y="2347914"/>
                        <a:ext cx="1309687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782" name="Rectangle 6"/>
          <p:cNvSpPr>
            <a:spLocks noChangeArrowheads="1"/>
          </p:cNvSpPr>
          <p:nvPr/>
        </p:nvSpPr>
        <p:spPr bwMode="auto">
          <a:xfrm>
            <a:off x="1524001" y="242994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03783" name="Object 7"/>
          <p:cNvGraphicFramePr>
            <a:graphicFrameLocks noChangeAspect="1"/>
          </p:cNvGraphicFramePr>
          <p:nvPr/>
        </p:nvGraphicFramePr>
        <p:xfrm>
          <a:off x="4772026" y="3384550"/>
          <a:ext cx="2879725" cy="257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16100" imgH="1625600" progId="Equation.3">
                  <p:embed/>
                </p:oleObj>
              </mc:Choice>
              <mc:Fallback>
                <p:oleObj name="Equation" r:id="rId4" imgW="1816100" imgH="1625600" progId="Equation.3">
                  <p:embed/>
                  <p:pic>
                    <p:nvPicPr>
                      <p:cNvPr id="2037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2026" y="3384550"/>
                        <a:ext cx="2879725" cy="2578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Potential Energy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Recall that potential energy of a spring is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Then for SHM</a:t>
            </a:r>
          </a:p>
        </p:txBody>
      </p:sp>
      <p:sp>
        <p:nvSpPr>
          <p:cNvPr id="204804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04805" name="Object 5"/>
          <p:cNvGraphicFramePr>
            <a:graphicFrameLocks noChangeAspect="1"/>
          </p:cNvGraphicFramePr>
          <p:nvPr/>
        </p:nvGraphicFramePr>
        <p:xfrm>
          <a:off x="5572126" y="2263776"/>
          <a:ext cx="127317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393480" progId="Equation.3">
                  <p:embed/>
                </p:oleObj>
              </mc:Choice>
              <mc:Fallback>
                <p:oleObj name="Equation" r:id="rId2" imgW="622080" imgH="393480" progId="Equation.3">
                  <p:embed/>
                  <p:pic>
                    <p:nvPicPr>
                      <p:cNvPr id="2048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26" y="2263776"/>
                        <a:ext cx="1273175" cy="803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06" name="Rectangle 6"/>
          <p:cNvSpPr>
            <a:spLocks noChangeArrowheads="1"/>
          </p:cNvSpPr>
          <p:nvPr/>
        </p:nvSpPr>
        <p:spPr bwMode="auto">
          <a:xfrm>
            <a:off x="1524001" y="30633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04807" name="Object 7"/>
          <p:cNvGraphicFramePr>
            <a:graphicFrameLocks noChangeAspect="1"/>
          </p:cNvGraphicFramePr>
          <p:nvPr/>
        </p:nvGraphicFramePr>
        <p:xfrm>
          <a:off x="4173539" y="3994150"/>
          <a:ext cx="3925887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85720" imgH="393480" progId="Equation.3">
                  <p:embed/>
                </p:oleObj>
              </mc:Choice>
              <mc:Fallback>
                <p:oleObj name="Equation" r:id="rId4" imgW="1485720" imgH="393480" progId="Equation.3">
                  <p:embed/>
                  <p:pic>
                    <p:nvPicPr>
                      <p:cNvPr id="2048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539" y="3994150"/>
                        <a:ext cx="3925887" cy="1030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/>
          <p:cNvCxnSpPr/>
          <p:nvPr/>
        </p:nvCxnSpPr>
        <p:spPr>
          <a:xfrm>
            <a:off x="2484582" y="3768435"/>
            <a:ext cx="3158836" cy="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3089275" y="3325814"/>
            <a:ext cx="1925638" cy="1057275"/>
            <a:chOff x="176" y="1300"/>
            <a:chExt cx="1213" cy="666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1013" y="1512"/>
              <a:ext cx="167" cy="15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982" y="1329"/>
              <a:ext cx="3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V=0</a:t>
              </a:r>
            </a:p>
          </p:txBody>
        </p:sp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188" y="1300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rot="5400000" flipV="1">
              <a:off x="684" y="1169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oup 7"/>
            <p:cNvGrpSpPr>
              <a:grpSpLocks/>
            </p:cNvGrpSpPr>
            <p:nvPr/>
          </p:nvGrpSpPr>
          <p:grpSpPr bwMode="auto">
            <a:xfrm>
              <a:off x="901" y="1506"/>
              <a:ext cx="101" cy="95"/>
              <a:chOff x="704" y="1880"/>
              <a:chExt cx="136" cy="128"/>
            </a:xfrm>
          </p:grpSpPr>
          <p:sp>
            <p:nvSpPr>
              <p:cNvPr id="39" name="Line 8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Line 9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" name="Group 10"/>
            <p:cNvGrpSpPr>
              <a:grpSpLocks/>
            </p:cNvGrpSpPr>
            <p:nvPr/>
          </p:nvGrpSpPr>
          <p:grpSpPr bwMode="auto">
            <a:xfrm>
              <a:off x="794" y="1506"/>
              <a:ext cx="101" cy="95"/>
              <a:chOff x="704" y="1880"/>
              <a:chExt cx="136" cy="128"/>
            </a:xfrm>
          </p:grpSpPr>
          <p:sp>
            <p:nvSpPr>
              <p:cNvPr id="37" name="Line 11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Line 12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3"/>
            <p:cNvGrpSpPr>
              <a:grpSpLocks/>
            </p:cNvGrpSpPr>
            <p:nvPr/>
          </p:nvGrpSpPr>
          <p:grpSpPr bwMode="auto">
            <a:xfrm>
              <a:off x="699" y="1506"/>
              <a:ext cx="101" cy="95"/>
              <a:chOff x="704" y="1880"/>
              <a:chExt cx="136" cy="128"/>
            </a:xfrm>
          </p:grpSpPr>
          <p:sp>
            <p:nvSpPr>
              <p:cNvPr id="35" name="Line 14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15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6"/>
            <p:cNvGrpSpPr>
              <a:grpSpLocks/>
            </p:cNvGrpSpPr>
            <p:nvPr/>
          </p:nvGrpSpPr>
          <p:grpSpPr bwMode="auto">
            <a:xfrm>
              <a:off x="598" y="1506"/>
              <a:ext cx="101" cy="95"/>
              <a:chOff x="704" y="1880"/>
              <a:chExt cx="136" cy="128"/>
            </a:xfrm>
          </p:grpSpPr>
          <p:sp>
            <p:nvSpPr>
              <p:cNvPr id="33" name="Line 17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18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9"/>
            <p:cNvGrpSpPr>
              <a:grpSpLocks/>
            </p:cNvGrpSpPr>
            <p:nvPr/>
          </p:nvGrpSpPr>
          <p:grpSpPr bwMode="auto">
            <a:xfrm>
              <a:off x="503" y="1506"/>
              <a:ext cx="101" cy="95"/>
              <a:chOff x="704" y="1880"/>
              <a:chExt cx="136" cy="128"/>
            </a:xfrm>
          </p:grpSpPr>
          <p:sp>
            <p:nvSpPr>
              <p:cNvPr id="31" name="Line 20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21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22"/>
            <p:cNvGrpSpPr>
              <a:grpSpLocks/>
            </p:cNvGrpSpPr>
            <p:nvPr/>
          </p:nvGrpSpPr>
          <p:grpSpPr bwMode="auto">
            <a:xfrm>
              <a:off x="402" y="1506"/>
              <a:ext cx="101" cy="95"/>
              <a:chOff x="704" y="1880"/>
              <a:chExt cx="136" cy="128"/>
            </a:xfrm>
          </p:grpSpPr>
          <p:sp>
            <p:nvSpPr>
              <p:cNvPr id="29" name="Line 23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Line 24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25"/>
            <p:cNvGrpSpPr>
              <a:grpSpLocks/>
            </p:cNvGrpSpPr>
            <p:nvPr/>
          </p:nvGrpSpPr>
          <p:grpSpPr bwMode="auto">
            <a:xfrm>
              <a:off x="307" y="1506"/>
              <a:ext cx="101" cy="95"/>
              <a:chOff x="704" y="1880"/>
              <a:chExt cx="136" cy="128"/>
            </a:xfrm>
          </p:grpSpPr>
          <p:sp>
            <p:nvSpPr>
              <p:cNvPr id="27" name="Line 26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27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" name="Group 28"/>
            <p:cNvGrpSpPr>
              <a:grpSpLocks/>
            </p:cNvGrpSpPr>
            <p:nvPr/>
          </p:nvGrpSpPr>
          <p:grpSpPr bwMode="auto">
            <a:xfrm>
              <a:off x="206" y="1506"/>
              <a:ext cx="101" cy="95"/>
              <a:chOff x="704" y="1880"/>
              <a:chExt cx="136" cy="128"/>
            </a:xfrm>
          </p:grpSpPr>
          <p:sp>
            <p:nvSpPr>
              <p:cNvPr id="25" name="Line 29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Line 30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" name="Line 31"/>
            <p:cNvSpPr>
              <a:spLocks noChangeShapeType="1"/>
            </p:cNvSpPr>
            <p:nvPr/>
          </p:nvSpPr>
          <p:spPr bwMode="auto">
            <a:xfrm>
              <a:off x="758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Box 32"/>
            <p:cNvSpPr txBox="1">
              <a:spLocks noChangeArrowheads="1"/>
            </p:cNvSpPr>
            <p:nvPr/>
          </p:nvSpPr>
          <p:spPr bwMode="auto">
            <a:xfrm>
              <a:off x="650" y="1774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 dirty="0"/>
                <a:t>x=0</a:t>
              </a:r>
            </a:p>
          </p:txBody>
        </p:sp>
        <p:sp>
          <p:nvSpPr>
            <p:cNvPr id="22" name="Line 33"/>
            <p:cNvSpPr>
              <a:spLocks noChangeShapeType="1"/>
            </p:cNvSpPr>
            <p:nvPr/>
          </p:nvSpPr>
          <p:spPr bwMode="auto">
            <a:xfrm>
              <a:off x="1091" y="1725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Box 34"/>
            <p:cNvSpPr txBox="1">
              <a:spLocks noChangeArrowheads="1"/>
            </p:cNvSpPr>
            <p:nvPr/>
          </p:nvSpPr>
          <p:spPr bwMode="auto">
            <a:xfrm>
              <a:off x="1000" y="1768"/>
              <a:ext cx="3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24" name="Text Box 35"/>
            <p:cNvSpPr txBox="1">
              <a:spLocks noChangeArrowheads="1"/>
            </p:cNvSpPr>
            <p:nvPr/>
          </p:nvSpPr>
          <p:spPr bwMode="auto">
            <a:xfrm>
              <a:off x="489" y="1317"/>
              <a:ext cx="17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k</a:t>
              </a:r>
            </a:p>
          </p:txBody>
        </p:sp>
      </p:grpSp>
      <p:sp>
        <p:nvSpPr>
          <p:cNvPr id="41" name="Text Box 141"/>
          <p:cNvSpPr txBox="1">
            <a:spLocks noChangeArrowheads="1"/>
          </p:cNvSpPr>
          <p:nvPr/>
        </p:nvSpPr>
        <p:spPr bwMode="auto">
          <a:xfrm>
            <a:off x="4418013" y="2916532"/>
            <a:ext cx="5984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a</a:t>
            </a:r>
            <a:r>
              <a:rPr lang="en-US" baseline="-25000" dirty="0" err="1">
                <a:solidFill>
                  <a:srgbClr val="FF0000"/>
                </a:solidFill>
              </a:rPr>
              <a:t>max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42" name="Line 142"/>
          <p:cNvSpPr>
            <a:spLocks noChangeShapeType="1"/>
          </p:cNvSpPr>
          <p:nvPr/>
        </p:nvSpPr>
        <p:spPr bwMode="auto">
          <a:xfrm flipH="1">
            <a:off x="4466146" y="2966149"/>
            <a:ext cx="420688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Text Box 32"/>
          <p:cNvSpPr txBox="1">
            <a:spLocks noChangeArrowheads="1"/>
          </p:cNvSpPr>
          <p:nvPr/>
        </p:nvSpPr>
        <p:spPr bwMode="auto">
          <a:xfrm>
            <a:off x="5684405" y="3584143"/>
            <a:ext cx="53251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/>
              <a:t>y = 0</a:t>
            </a:r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4014428" y="2724727"/>
            <a:ext cx="3390" cy="126119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9245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Total Mechanical Energy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5488" y="4024313"/>
            <a:ext cx="8229600" cy="1027112"/>
          </a:xfrm>
        </p:spPr>
        <p:txBody>
          <a:bodyPr/>
          <a:lstStyle/>
          <a:p>
            <a:r>
              <a:rPr lang="en-US"/>
              <a:t>This is an astounding result!</a:t>
            </a:r>
          </a:p>
        </p:txBody>
      </p:sp>
      <p:sp>
        <p:nvSpPr>
          <p:cNvPr id="20582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05829" name="Object 5"/>
          <p:cNvGraphicFramePr>
            <a:graphicFrameLocks noChangeAspect="1"/>
          </p:cNvGraphicFramePr>
          <p:nvPr/>
        </p:nvGraphicFramePr>
        <p:xfrm>
          <a:off x="3505200" y="1639888"/>
          <a:ext cx="462915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81000" imgH="1422360" progId="Equation.3">
                  <p:embed/>
                </p:oleObj>
              </mc:Choice>
              <mc:Fallback>
                <p:oleObj name="Equation" r:id="rId2" imgW="2781000" imgH="1422360" progId="Equation.3">
                  <p:embed/>
                  <p:pic>
                    <p:nvPicPr>
                      <p:cNvPr id="2058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639888"/>
                        <a:ext cx="4629150" cy="236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30" name="AutoShape 6"/>
          <p:cNvSpPr>
            <a:spLocks noChangeArrowheads="1"/>
          </p:cNvSpPr>
          <p:nvPr/>
        </p:nvSpPr>
        <p:spPr bwMode="auto">
          <a:xfrm>
            <a:off x="2263776" y="5153026"/>
            <a:ext cx="8143875" cy="7985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 i="1"/>
              <a:t>The total mechanical energy of a SHO is a constant of motion</a:t>
            </a:r>
            <a:r>
              <a:rPr lang="en-US" b="1"/>
              <a:t>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32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32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BA616-9211-4540-BD71-256B3E87DABC}" type="slidenum">
              <a:rPr lang="en-US"/>
              <a:pPr/>
              <a:t>51</a:t>
            </a:fld>
            <a:endParaRPr lang="en-US"/>
          </a:p>
        </p:txBody>
      </p:sp>
      <p:sp>
        <p:nvSpPr>
          <p:cNvPr id="206851" name="Rectangle 3"/>
          <p:cNvSpPr>
            <a:spLocks noChangeArrowheads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2584450" y="1181100"/>
            <a:ext cx="901700" cy="430213"/>
            <a:chOff x="1400" y="3840"/>
            <a:chExt cx="568" cy="271"/>
          </a:xfrm>
        </p:grpSpPr>
        <p:sp>
          <p:nvSpPr>
            <p:cNvPr id="206853" name="Line 5"/>
            <p:cNvSpPr>
              <a:spLocks noChangeShapeType="1"/>
            </p:cNvSpPr>
            <p:nvPr/>
          </p:nvSpPr>
          <p:spPr bwMode="auto">
            <a:xfrm>
              <a:off x="1400" y="3952"/>
              <a:ext cx="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854" name="Rectangle 6"/>
            <p:cNvSpPr>
              <a:spLocks noChangeArrowheads="1"/>
            </p:cNvSpPr>
            <p:nvPr/>
          </p:nvSpPr>
          <p:spPr bwMode="auto">
            <a:xfrm>
              <a:off x="1728" y="3840"/>
              <a:ext cx="120" cy="11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55" name="Text Box 7"/>
            <p:cNvSpPr txBox="1">
              <a:spLocks noChangeArrowheads="1"/>
            </p:cNvSpPr>
            <p:nvPr/>
          </p:nvSpPr>
          <p:spPr bwMode="auto">
            <a:xfrm>
              <a:off x="1710" y="3957"/>
              <a:ext cx="21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K</a:t>
              </a:r>
              <a:endParaRPr lang="en-US" sz="1000" u="sng"/>
            </a:p>
          </p:txBody>
        </p:sp>
        <p:sp>
          <p:nvSpPr>
            <p:cNvPr id="206856" name="Text Box 8"/>
            <p:cNvSpPr txBox="1">
              <a:spLocks noChangeArrowheads="1"/>
            </p:cNvSpPr>
            <p:nvPr/>
          </p:nvSpPr>
          <p:spPr bwMode="auto">
            <a:xfrm>
              <a:off x="1470" y="3957"/>
              <a:ext cx="21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U</a:t>
              </a:r>
              <a:endParaRPr lang="en-US" sz="1000" u="sng"/>
            </a:p>
          </p:txBody>
        </p:sp>
        <p:sp>
          <p:nvSpPr>
            <p:cNvPr id="206857" name="Rectangle 9"/>
            <p:cNvSpPr>
              <a:spLocks noChangeArrowheads="1"/>
            </p:cNvSpPr>
            <p:nvPr/>
          </p:nvSpPr>
          <p:spPr bwMode="auto">
            <a:xfrm>
              <a:off x="1512" y="3840"/>
              <a:ext cx="120" cy="11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5873750" y="304800"/>
            <a:ext cx="901700" cy="595313"/>
            <a:chOff x="2104" y="3808"/>
            <a:chExt cx="568" cy="375"/>
          </a:xfrm>
        </p:grpSpPr>
        <p:sp>
          <p:nvSpPr>
            <p:cNvPr id="206859" name="Line 11"/>
            <p:cNvSpPr>
              <a:spLocks noChangeShapeType="1"/>
            </p:cNvSpPr>
            <p:nvPr/>
          </p:nvSpPr>
          <p:spPr bwMode="auto">
            <a:xfrm>
              <a:off x="2104" y="4024"/>
              <a:ext cx="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860" name="Rectangle 12"/>
            <p:cNvSpPr>
              <a:spLocks noChangeArrowheads="1"/>
            </p:cNvSpPr>
            <p:nvPr/>
          </p:nvSpPr>
          <p:spPr bwMode="auto">
            <a:xfrm>
              <a:off x="2216" y="3808"/>
              <a:ext cx="120" cy="21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61" name="Text Box 13"/>
            <p:cNvSpPr txBox="1">
              <a:spLocks noChangeArrowheads="1"/>
            </p:cNvSpPr>
            <p:nvPr/>
          </p:nvSpPr>
          <p:spPr bwMode="auto">
            <a:xfrm>
              <a:off x="2414" y="4029"/>
              <a:ext cx="21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K</a:t>
              </a:r>
              <a:endParaRPr lang="en-US" sz="1000" u="sng"/>
            </a:p>
          </p:txBody>
        </p:sp>
        <p:sp>
          <p:nvSpPr>
            <p:cNvPr id="206862" name="Text Box 14"/>
            <p:cNvSpPr txBox="1">
              <a:spLocks noChangeArrowheads="1"/>
            </p:cNvSpPr>
            <p:nvPr/>
          </p:nvSpPr>
          <p:spPr bwMode="auto">
            <a:xfrm>
              <a:off x="2174" y="4029"/>
              <a:ext cx="21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U</a:t>
              </a:r>
              <a:endParaRPr lang="en-US" sz="1000" u="sng"/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9112250" y="1181100"/>
            <a:ext cx="901700" cy="430213"/>
            <a:chOff x="1400" y="3840"/>
            <a:chExt cx="568" cy="271"/>
          </a:xfrm>
        </p:grpSpPr>
        <p:sp>
          <p:nvSpPr>
            <p:cNvPr id="206864" name="Line 16"/>
            <p:cNvSpPr>
              <a:spLocks noChangeShapeType="1"/>
            </p:cNvSpPr>
            <p:nvPr/>
          </p:nvSpPr>
          <p:spPr bwMode="auto">
            <a:xfrm>
              <a:off x="1400" y="3952"/>
              <a:ext cx="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865" name="Rectangle 17"/>
            <p:cNvSpPr>
              <a:spLocks noChangeArrowheads="1"/>
            </p:cNvSpPr>
            <p:nvPr/>
          </p:nvSpPr>
          <p:spPr bwMode="auto">
            <a:xfrm>
              <a:off x="1728" y="3840"/>
              <a:ext cx="120" cy="11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66" name="Text Box 18"/>
            <p:cNvSpPr txBox="1">
              <a:spLocks noChangeArrowheads="1"/>
            </p:cNvSpPr>
            <p:nvPr/>
          </p:nvSpPr>
          <p:spPr bwMode="auto">
            <a:xfrm>
              <a:off x="1710" y="3957"/>
              <a:ext cx="21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K</a:t>
              </a:r>
              <a:endParaRPr lang="en-US" sz="1000" u="sng"/>
            </a:p>
          </p:txBody>
        </p:sp>
        <p:sp>
          <p:nvSpPr>
            <p:cNvPr id="206867" name="Text Box 19"/>
            <p:cNvSpPr txBox="1">
              <a:spLocks noChangeArrowheads="1"/>
            </p:cNvSpPr>
            <p:nvPr/>
          </p:nvSpPr>
          <p:spPr bwMode="auto">
            <a:xfrm>
              <a:off x="1470" y="3957"/>
              <a:ext cx="21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U</a:t>
              </a:r>
              <a:endParaRPr lang="en-US" sz="1000" u="sng"/>
            </a:p>
          </p:txBody>
        </p:sp>
        <p:sp>
          <p:nvSpPr>
            <p:cNvPr id="206868" name="Rectangle 20"/>
            <p:cNvSpPr>
              <a:spLocks noChangeArrowheads="1"/>
            </p:cNvSpPr>
            <p:nvPr/>
          </p:nvSpPr>
          <p:spPr bwMode="auto">
            <a:xfrm>
              <a:off x="1512" y="3840"/>
              <a:ext cx="120" cy="11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1866900" y="3225800"/>
            <a:ext cx="901700" cy="595313"/>
            <a:chOff x="696" y="3696"/>
            <a:chExt cx="568" cy="375"/>
          </a:xfrm>
        </p:grpSpPr>
        <p:sp>
          <p:nvSpPr>
            <p:cNvPr id="206870" name="Line 22"/>
            <p:cNvSpPr>
              <a:spLocks noChangeShapeType="1"/>
            </p:cNvSpPr>
            <p:nvPr/>
          </p:nvSpPr>
          <p:spPr bwMode="auto">
            <a:xfrm>
              <a:off x="696" y="3912"/>
              <a:ext cx="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871" name="Rectangle 23"/>
            <p:cNvSpPr>
              <a:spLocks noChangeArrowheads="1"/>
            </p:cNvSpPr>
            <p:nvPr/>
          </p:nvSpPr>
          <p:spPr bwMode="auto">
            <a:xfrm>
              <a:off x="1024" y="3696"/>
              <a:ext cx="120" cy="21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72" name="Text Box 24"/>
            <p:cNvSpPr txBox="1">
              <a:spLocks noChangeArrowheads="1"/>
            </p:cNvSpPr>
            <p:nvPr/>
          </p:nvSpPr>
          <p:spPr bwMode="auto">
            <a:xfrm>
              <a:off x="1006" y="3917"/>
              <a:ext cx="21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K</a:t>
              </a:r>
              <a:endParaRPr lang="en-US" sz="1000" u="sng"/>
            </a:p>
          </p:txBody>
        </p:sp>
        <p:sp>
          <p:nvSpPr>
            <p:cNvPr id="206873" name="Text Box 25"/>
            <p:cNvSpPr txBox="1">
              <a:spLocks noChangeArrowheads="1"/>
            </p:cNvSpPr>
            <p:nvPr/>
          </p:nvSpPr>
          <p:spPr bwMode="auto">
            <a:xfrm>
              <a:off x="766" y="3917"/>
              <a:ext cx="21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U</a:t>
              </a:r>
              <a:endParaRPr lang="en-US" sz="1000" u="sng"/>
            </a:p>
          </p:txBody>
        </p:sp>
      </p:grp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9652000" y="3009900"/>
            <a:ext cx="901700" cy="595313"/>
            <a:chOff x="696" y="3696"/>
            <a:chExt cx="568" cy="375"/>
          </a:xfrm>
        </p:grpSpPr>
        <p:sp>
          <p:nvSpPr>
            <p:cNvPr id="206875" name="Line 27"/>
            <p:cNvSpPr>
              <a:spLocks noChangeShapeType="1"/>
            </p:cNvSpPr>
            <p:nvPr/>
          </p:nvSpPr>
          <p:spPr bwMode="auto">
            <a:xfrm>
              <a:off x="696" y="3912"/>
              <a:ext cx="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876" name="Rectangle 28"/>
            <p:cNvSpPr>
              <a:spLocks noChangeArrowheads="1"/>
            </p:cNvSpPr>
            <p:nvPr/>
          </p:nvSpPr>
          <p:spPr bwMode="auto">
            <a:xfrm>
              <a:off x="1024" y="3696"/>
              <a:ext cx="120" cy="21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77" name="Text Box 29"/>
            <p:cNvSpPr txBox="1">
              <a:spLocks noChangeArrowheads="1"/>
            </p:cNvSpPr>
            <p:nvPr/>
          </p:nvSpPr>
          <p:spPr bwMode="auto">
            <a:xfrm>
              <a:off x="1006" y="3917"/>
              <a:ext cx="21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K</a:t>
              </a:r>
              <a:endParaRPr lang="en-US" sz="1000" u="sng"/>
            </a:p>
          </p:txBody>
        </p:sp>
        <p:sp>
          <p:nvSpPr>
            <p:cNvPr id="206878" name="Text Box 30"/>
            <p:cNvSpPr txBox="1">
              <a:spLocks noChangeArrowheads="1"/>
            </p:cNvSpPr>
            <p:nvPr/>
          </p:nvSpPr>
          <p:spPr bwMode="auto">
            <a:xfrm>
              <a:off x="766" y="3917"/>
              <a:ext cx="21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U</a:t>
              </a:r>
              <a:endParaRPr lang="en-US" sz="1000" u="sng"/>
            </a:p>
          </p:txBody>
        </p:sp>
      </p:grp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9112250" y="5016500"/>
            <a:ext cx="901700" cy="430213"/>
            <a:chOff x="1400" y="3840"/>
            <a:chExt cx="568" cy="271"/>
          </a:xfrm>
        </p:grpSpPr>
        <p:sp>
          <p:nvSpPr>
            <p:cNvPr id="206880" name="Line 32"/>
            <p:cNvSpPr>
              <a:spLocks noChangeShapeType="1"/>
            </p:cNvSpPr>
            <p:nvPr/>
          </p:nvSpPr>
          <p:spPr bwMode="auto">
            <a:xfrm>
              <a:off x="1400" y="3952"/>
              <a:ext cx="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881" name="Rectangle 33"/>
            <p:cNvSpPr>
              <a:spLocks noChangeArrowheads="1"/>
            </p:cNvSpPr>
            <p:nvPr/>
          </p:nvSpPr>
          <p:spPr bwMode="auto">
            <a:xfrm>
              <a:off x="1728" y="3840"/>
              <a:ext cx="120" cy="11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82" name="Text Box 34"/>
            <p:cNvSpPr txBox="1">
              <a:spLocks noChangeArrowheads="1"/>
            </p:cNvSpPr>
            <p:nvPr/>
          </p:nvSpPr>
          <p:spPr bwMode="auto">
            <a:xfrm>
              <a:off x="1710" y="3957"/>
              <a:ext cx="21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K</a:t>
              </a:r>
              <a:endParaRPr lang="en-US" sz="1000" u="sng"/>
            </a:p>
          </p:txBody>
        </p:sp>
        <p:sp>
          <p:nvSpPr>
            <p:cNvPr id="206883" name="Text Box 35"/>
            <p:cNvSpPr txBox="1">
              <a:spLocks noChangeArrowheads="1"/>
            </p:cNvSpPr>
            <p:nvPr/>
          </p:nvSpPr>
          <p:spPr bwMode="auto">
            <a:xfrm>
              <a:off x="1470" y="3957"/>
              <a:ext cx="21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U</a:t>
              </a:r>
              <a:endParaRPr lang="en-US" sz="1000" u="sng"/>
            </a:p>
          </p:txBody>
        </p:sp>
        <p:sp>
          <p:nvSpPr>
            <p:cNvPr id="206884" name="Rectangle 36"/>
            <p:cNvSpPr>
              <a:spLocks noChangeArrowheads="1"/>
            </p:cNvSpPr>
            <p:nvPr/>
          </p:nvSpPr>
          <p:spPr bwMode="auto">
            <a:xfrm>
              <a:off x="1512" y="3840"/>
              <a:ext cx="120" cy="11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37"/>
          <p:cNvGrpSpPr>
            <a:grpSpLocks/>
          </p:cNvGrpSpPr>
          <p:nvPr/>
        </p:nvGrpSpPr>
        <p:grpSpPr bwMode="auto">
          <a:xfrm>
            <a:off x="2584450" y="5143500"/>
            <a:ext cx="901700" cy="430213"/>
            <a:chOff x="1400" y="3840"/>
            <a:chExt cx="568" cy="271"/>
          </a:xfrm>
        </p:grpSpPr>
        <p:sp>
          <p:nvSpPr>
            <p:cNvPr id="206886" name="Line 38"/>
            <p:cNvSpPr>
              <a:spLocks noChangeShapeType="1"/>
            </p:cNvSpPr>
            <p:nvPr/>
          </p:nvSpPr>
          <p:spPr bwMode="auto">
            <a:xfrm>
              <a:off x="1400" y="3952"/>
              <a:ext cx="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887" name="Rectangle 39"/>
            <p:cNvSpPr>
              <a:spLocks noChangeArrowheads="1"/>
            </p:cNvSpPr>
            <p:nvPr/>
          </p:nvSpPr>
          <p:spPr bwMode="auto">
            <a:xfrm>
              <a:off x="1728" y="3840"/>
              <a:ext cx="120" cy="11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88" name="Text Box 40"/>
            <p:cNvSpPr txBox="1">
              <a:spLocks noChangeArrowheads="1"/>
            </p:cNvSpPr>
            <p:nvPr/>
          </p:nvSpPr>
          <p:spPr bwMode="auto">
            <a:xfrm>
              <a:off x="1710" y="3957"/>
              <a:ext cx="21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K</a:t>
              </a:r>
              <a:endParaRPr lang="en-US" sz="1000" u="sng"/>
            </a:p>
          </p:txBody>
        </p:sp>
        <p:sp>
          <p:nvSpPr>
            <p:cNvPr id="206889" name="Text Box 41"/>
            <p:cNvSpPr txBox="1">
              <a:spLocks noChangeArrowheads="1"/>
            </p:cNvSpPr>
            <p:nvPr/>
          </p:nvSpPr>
          <p:spPr bwMode="auto">
            <a:xfrm>
              <a:off x="1470" y="3957"/>
              <a:ext cx="21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U</a:t>
              </a:r>
              <a:endParaRPr lang="en-US" sz="1000" u="sng"/>
            </a:p>
          </p:txBody>
        </p:sp>
        <p:sp>
          <p:nvSpPr>
            <p:cNvPr id="206890" name="Rectangle 42"/>
            <p:cNvSpPr>
              <a:spLocks noChangeArrowheads="1"/>
            </p:cNvSpPr>
            <p:nvPr/>
          </p:nvSpPr>
          <p:spPr bwMode="auto">
            <a:xfrm>
              <a:off x="1512" y="3840"/>
              <a:ext cx="120" cy="11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43"/>
          <p:cNvGrpSpPr>
            <a:grpSpLocks/>
          </p:cNvGrpSpPr>
          <p:nvPr/>
        </p:nvGrpSpPr>
        <p:grpSpPr bwMode="auto">
          <a:xfrm>
            <a:off x="5873750" y="6159500"/>
            <a:ext cx="901700" cy="595313"/>
            <a:chOff x="2104" y="3808"/>
            <a:chExt cx="568" cy="375"/>
          </a:xfrm>
        </p:grpSpPr>
        <p:sp>
          <p:nvSpPr>
            <p:cNvPr id="206892" name="Line 44"/>
            <p:cNvSpPr>
              <a:spLocks noChangeShapeType="1"/>
            </p:cNvSpPr>
            <p:nvPr/>
          </p:nvSpPr>
          <p:spPr bwMode="auto">
            <a:xfrm>
              <a:off x="2104" y="4024"/>
              <a:ext cx="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893" name="Rectangle 45"/>
            <p:cNvSpPr>
              <a:spLocks noChangeArrowheads="1"/>
            </p:cNvSpPr>
            <p:nvPr/>
          </p:nvSpPr>
          <p:spPr bwMode="auto">
            <a:xfrm>
              <a:off x="2216" y="3808"/>
              <a:ext cx="120" cy="21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94" name="Text Box 46"/>
            <p:cNvSpPr txBox="1">
              <a:spLocks noChangeArrowheads="1"/>
            </p:cNvSpPr>
            <p:nvPr/>
          </p:nvSpPr>
          <p:spPr bwMode="auto">
            <a:xfrm>
              <a:off x="2414" y="4029"/>
              <a:ext cx="21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K</a:t>
              </a:r>
              <a:endParaRPr lang="en-US" sz="1000" u="sng"/>
            </a:p>
          </p:txBody>
        </p:sp>
        <p:sp>
          <p:nvSpPr>
            <p:cNvPr id="206895" name="Text Box 47"/>
            <p:cNvSpPr txBox="1">
              <a:spLocks noChangeArrowheads="1"/>
            </p:cNvSpPr>
            <p:nvPr/>
          </p:nvSpPr>
          <p:spPr bwMode="auto">
            <a:xfrm>
              <a:off x="2174" y="4029"/>
              <a:ext cx="21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U</a:t>
              </a:r>
              <a:endParaRPr lang="en-US" sz="1000" u="sng"/>
            </a:p>
          </p:txBody>
        </p:sp>
      </p:grpSp>
      <p:sp>
        <p:nvSpPr>
          <p:cNvPr id="206896" name="Arc 48"/>
          <p:cNvSpPr>
            <a:spLocks/>
          </p:cNvSpPr>
          <p:nvPr/>
        </p:nvSpPr>
        <p:spPr bwMode="auto">
          <a:xfrm>
            <a:off x="5613400" y="2490788"/>
            <a:ext cx="1371600" cy="17526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143 w 43200"/>
              <a:gd name="T1" fmla="*/ 24077 h 43200"/>
              <a:gd name="T2" fmla="*/ 4287 w 43200"/>
              <a:gd name="T3" fmla="*/ 34515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142" y="24077"/>
                </a:moveTo>
                <a:cubicBezTo>
                  <a:pt x="47" y="23254"/>
                  <a:pt x="0" y="224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781" y="43200"/>
                  <a:pt x="8363" y="39980"/>
                  <a:pt x="4286" y="34515"/>
                </a:cubicBezTo>
              </a:path>
              <a:path w="43200" h="43200" stroke="0" extrusionOk="0">
                <a:moveTo>
                  <a:pt x="142" y="24077"/>
                </a:moveTo>
                <a:cubicBezTo>
                  <a:pt x="47" y="23254"/>
                  <a:pt x="0" y="224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781" y="43200"/>
                  <a:pt x="8363" y="39980"/>
                  <a:pt x="4286" y="34515"/>
                </a:cubicBez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arrow" w="lg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6897" name="Text Box 49"/>
          <p:cNvSpPr txBox="1">
            <a:spLocks noChangeArrowheads="1"/>
          </p:cNvSpPr>
          <p:nvPr/>
        </p:nvSpPr>
        <p:spPr bwMode="auto">
          <a:xfrm flipH="1">
            <a:off x="10967458" y="5195888"/>
            <a:ext cx="1136650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000" dirty="0"/>
              <a:t>After Halliday and Resnick Figure 35-1</a:t>
            </a:r>
          </a:p>
        </p:txBody>
      </p:sp>
      <p:grpSp>
        <p:nvGrpSpPr>
          <p:cNvPr id="11" name="Group 50"/>
          <p:cNvGrpSpPr>
            <a:grpSpLocks/>
          </p:cNvGrpSpPr>
          <p:nvPr/>
        </p:nvGrpSpPr>
        <p:grpSpPr bwMode="auto">
          <a:xfrm>
            <a:off x="3032125" y="2884488"/>
            <a:ext cx="1887538" cy="1123950"/>
            <a:chOff x="1037" y="605"/>
            <a:chExt cx="1189" cy="708"/>
          </a:xfrm>
        </p:grpSpPr>
        <p:sp>
          <p:nvSpPr>
            <p:cNvPr id="206899" name="AutoShape 51"/>
            <p:cNvSpPr>
              <a:spLocks noChangeArrowheads="1"/>
            </p:cNvSpPr>
            <p:nvPr/>
          </p:nvSpPr>
          <p:spPr bwMode="auto">
            <a:xfrm>
              <a:off x="1554" y="868"/>
              <a:ext cx="166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06900" name="Text Box 52"/>
            <p:cNvSpPr txBox="1">
              <a:spLocks noChangeArrowheads="1"/>
            </p:cNvSpPr>
            <p:nvPr/>
          </p:nvSpPr>
          <p:spPr bwMode="auto">
            <a:xfrm>
              <a:off x="1540" y="605"/>
              <a:ext cx="32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206901" name="Line 53"/>
            <p:cNvSpPr>
              <a:spLocks noChangeShapeType="1"/>
            </p:cNvSpPr>
            <p:nvPr/>
          </p:nvSpPr>
          <p:spPr bwMode="auto">
            <a:xfrm>
              <a:off x="1049" y="656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902" name="Line 54"/>
            <p:cNvSpPr>
              <a:spLocks noChangeShapeType="1"/>
            </p:cNvSpPr>
            <p:nvPr/>
          </p:nvSpPr>
          <p:spPr bwMode="auto">
            <a:xfrm rot="5400000" flipV="1">
              <a:off x="1545" y="525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oup 55"/>
            <p:cNvGrpSpPr>
              <a:grpSpLocks/>
            </p:cNvGrpSpPr>
            <p:nvPr/>
          </p:nvGrpSpPr>
          <p:grpSpPr bwMode="auto">
            <a:xfrm>
              <a:off x="1067" y="868"/>
              <a:ext cx="481" cy="94"/>
              <a:chOff x="2248" y="1248"/>
              <a:chExt cx="648" cy="128"/>
            </a:xfrm>
          </p:grpSpPr>
          <p:grpSp>
            <p:nvGrpSpPr>
              <p:cNvPr id="13" name="Group 56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206905" name="Line 5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06" name="Line 5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59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206908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09" name="Line 6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62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206911" name="Line 6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12" name="Line 6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65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206914" name="Line 6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15" name="Line 6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68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206917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18" name="Line 7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71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206920" name="Line 7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21" name="Line 7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74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206923" name="Line 7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24" name="Line 7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77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206926" name="Line 7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27" name="Line 7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6928" name="Line 80"/>
            <p:cNvSpPr>
              <a:spLocks noChangeShapeType="1"/>
            </p:cNvSpPr>
            <p:nvPr/>
          </p:nvSpPr>
          <p:spPr bwMode="auto">
            <a:xfrm>
              <a:off x="1619" y="1074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929" name="Text Box 81"/>
            <p:cNvSpPr txBox="1">
              <a:spLocks noChangeArrowheads="1"/>
            </p:cNvSpPr>
            <p:nvPr/>
          </p:nvSpPr>
          <p:spPr bwMode="auto">
            <a:xfrm>
              <a:off x="1511" y="1121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206930" name="Line 82"/>
            <p:cNvSpPr>
              <a:spLocks noChangeShapeType="1"/>
            </p:cNvSpPr>
            <p:nvPr/>
          </p:nvSpPr>
          <p:spPr bwMode="auto">
            <a:xfrm>
              <a:off x="1952" y="1080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931" name="Text Box 83"/>
            <p:cNvSpPr txBox="1">
              <a:spLocks noChangeArrowheads="1"/>
            </p:cNvSpPr>
            <p:nvPr/>
          </p:nvSpPr>
          <p:spPr bwMode="auto">
            <a:xfrm>
              <a:off x="1861" y="1116"/>
              <a:ext cx="36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206932" name="Line 84"/>
            <p:cNvSpPr>
              <a:spLocks noChangeShapeType="1"/>
            </p:cNvSpPr>
            <p:nvPr/>
          </p:nvSpPr>
          <p:spPr bwMode="auto">
            <a:xfrm flipH="1">
              <a:off x="1500" y="809"/>
              <a:ext cx="2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85"/>
          <p:cNvGrpSpPr>
            <a:grpSpLocks/>
          </p:cNvGrpSpPr>
          <p:nvPr/>
        </p:nvGrpSpPr>
        <p:grpSpPr bwMode="auto">
          <a:xfrm>
            <a:off x="7978775" y="2863850"/>
            <a:ext cx="1798638" cy="1162050"/>
            <a:chOff x="1029" y="1941"/>
            <a:chExt cx="1133" cy="732"/>
          </a:xfrm>
        </p:grpSpPr>
        <p:sp>
          <p:nvSpPr>
            <p:cNvPr id="206934" name="AutoShape 86"/>
            <p:cNvSpPr>
              <a:spLocks noChangeArrowheads="1"/>
            </p:cNvSpPr>
            <p:nvPr/>
          </p:nvSpPr>
          <p:spPr bwMode="auto">
            <a:xfrm>
              <a:off x="1546" y="2220"/>
              <a:ext cx="166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06935" name="Text Box 87"/>
            <p:cNvSpPr txBox="1">
              <a:spLocks noChangeArrowheads="1"/>
            </p:cNvSpPr>
            <p:nvPr/>
          </p:nvSpPr>
          <p:spPr bwMode="auto">
            <a:xfrm>
              <a:off x="1532" y="1941"/>
              <a:ext cx="32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206936" name="Line 88"/>
            <p:cNvSpPr>
              <a:spLocks noChangeShapeType="1"/>
            </p:cNvSpPr>
            <p:nvPr/>
          </p:nvSpPr>
          <p:spPr bwMode="auto">
            <a:xfrm>
              <a:off x="1041" y="2008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937" name="Line 89"/>
            <p:cNvSpPr>
              <a:spLocks noChangeShapeType="1"/>
            </p:cNvSpPr>
            <p:nvPr/>
          </p:nvSpPr>
          <p:spPr bwMode="auto">
            <a:xfrm rot="5400000" flipV="1">
              <a:off x="1537" y="1877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oup 90"/>
            <p:cNvGrpSpPr>
              <a:grpSpLocks/>
            </p:cNvGrpSpPr>
            <p:nvPr/>
          </p:nvGrpSpPr>
          <p:grpSpPr bwMode="auto">
            <a:xfrm>
              <a:off x="1059" y="2220"/>
              <a:ext cx="481" cy="94"/>
              <a:chOff x="2248" y="1248"/>
              <a:chExt cx="648" cy="128"/>
            </a:xfrm>
          </p:grpSpPr>
          <p:grpSp>
            <p:nvGrpSpPr>
              <p:cNvPr id="23" name="Group 91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206940" name="Line 9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41" name="Line 9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" name="Group 94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206943" name="Line 9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44" name="Line 9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5" name="Group 97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206946" name="Line 9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47" name="Line 9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" name="Group 100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206949" name="Line 10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50" name="Line 10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103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206952" name="Line 10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53" name="Line 10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" name="Group 106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206955" name="Line 10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56" name="Line 10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" name="Group 109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206958" name="Line 11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59" name="Line 11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0" name="Group 112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206961" name="Line 11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62" name="Line 11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6963" name="Line 115"/>
            <p:cNvSpPr>
              <a:spLocks noChangeShapeType="1"/>
            </p:cNvSpPr>
            <p:nvPr/>
          </p:nvSpPr>
          <p:spPr bwMode="auto">
            <a:xfrm>
              <a:off x="1611" y="2426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964" name="Text Box 116"/>
            <p:cNvSpPr txBox="1">
              <a:spLocks noChangeArrowheads="1"/>
            </p:cNvSpPr>
            <p:nvPr/>
          </p:nvSpPr>
          <p:spPr bwMode="auto">
            <a:xfrm>
              <a:off x="1503" y="2481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206965" name="Line 117"/>
            <p:cNvSpPr>
              <a:spLocks noChangeShapeType="1"/>
            </p:cNvSpPr>
            <p:nvPr/>
          </p:nvSpPr>
          <p:spPr bwMode="auto">
            <a:xfrm>
              <a:off x="1944" y="2432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966" name="Text Box 118"/>
            <p:cNvSpPr txBox="1">
              <a:spLocks noChangeArrowheads="1"/>
            </p:cNvSpPr>
            <p:nvPr/>
          </p:nvSpPr>
          <p:spPr bwMode="auto">
            <a:xfrm>
              <a:off x="1853" y="2468"/>
              <a:ext cx="30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206967" name="Line 119"/>
            <p:cNvSpPr>
              <a:spLocks noChangeShapeType="1"/>
            </p:cNvSpPr>
            <p:nvPr/>
          </p:nvSpPr>
          <p:spPr bwMode="auto">
            <a:xfrm>
              <a:off x="1492" y="2161"/>
              <a:ext cx="2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120"/>
          <p:cNvGrpSpPr>
            <a:grpSpLocks/>
          </p:cNvGrpSpPr>
          <p:nvPr/>
        </p:nvGrpSpPr>
        <p:grpSpPr bwMode="auto">
          <a:xfrm>
            <a:off x="5634038" y="1020763"/>
            <a:ext cx="1612900" cy="1082675"/>
            <a:chOff x="2112" y="1300"/>
            <a:chExt cx="1016" cy="682"/>
          </a:xfrm>
        </p:grpSpPr>
        <p:sp>
          <p:nvSpPr>
            <p:cNvPr id="206969" name="AutoShape 121"/>
            <p:cNvSpPr>
              <a:spLocks noChangeArrowheads="1"/>
            </p:cNvSpPr>
            <p:nvPr/>
          </p:nvSpPr>
          <p:spPr bwMode="auto">
            <a:xfrm>
              <a:off x="2385" y="1495"/>
              <a:ext cx="167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06970" name="Line 122"/>
            <p:cNvSpPr>
              <a:spLocks noChangeShapeType="1"/>
            </p:cNvSpPr>
            <p:nvPr/>
          </p:nvSpPr>
          <p:spPr bwMode="auto">
            <a:xfrm>
              <a:off x="2124" y="1300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971" name="Line 123"/>
            <p:cNvSpPr>
              <a:spLocks noChangeShapeType="1"/>
            </p:cNvSpPr>
            <p:nvPr/>
          </p:nvSpPr>
          <p:spPr bwMode="auto">
            <a:xfrm rot="5400000" flipV="1">
              <a:off x="2620" y="1169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6848" name="Group 124"/>
            <p:cNvGrpSpPr>
              <a:grpSpLocks/>
            </p:cNvGrpSpPr>
            <p:nvPr/>
          </p:nvGrpSpPr>
          <p:grpSpPr bwMode="auto">
            <a:xfrm>
              <a:off x="2148" y="1512"/>
              <a:ext cx="225" cy="95"/>
              <a:chOff x="2248" y="1248"/>
              <a:chExt cx="648" cy="128"/>
            </a:xfrm>
          </p:grpSpPr>
          <p:grpSp>
            <p:nvGrpSpPr>
              <p:cNvPr id="206849" name="Group 125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206974" name="Line 12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75" name="Line 12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850" name="Group 128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206977" name="Line 12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78" name="Line 13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852" name="Group 131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206980" name="Line 13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81" name="Line 13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858" name="Group 134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206983" name="Line 13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84" name="Line 13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863" name="Group 137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206986" name="Line 13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87" name="Line 13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869" name="Group 140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206989" name="Line 14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90" name="Line 14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874" name="Group 143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206992" name="Line 14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93" name="Line 14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879" name="Group 146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206995" name="Line 14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96" name="Line 14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6997" name="Line 149"/>
            <p:cNvSpPr>
              <a:spLocks noChangeShapeType="1"/>
            </p:cNvSpPr>
            <p:nvPr/>
          </p:nvSpPr>
          <p:spPr bwMode="auto">
            <a:xfrm>
              <a:off x="2694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998" name="Text Box 150"/>
            <p:cNvSpPr txBox="1">
              <a:spLocks noChangeArrowheads="1"/>
            </p:cNvSpPr>
            <p:nvPr/>
          </p:nvSpPr>
          <p:spPr bwMode="auto">
            <a:xfrm>
              <a:off x="2586" y="1790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206999" name="Line 151"/>
            <p:cNvSpPr>
              <a:spLocks noChangeShapeType="1"/>
            </p:cNvSpPr>
            <p:nvPr/>
          </p:nvSpPr>
          <p:spPr bwMode="auto">
            <a:xfrm>
              <a:off x="2474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000" name="Text Box 152"/>
            <p:cNvSpPr txBox="1">
              <a:spLocks noChangeArrowheads="1"/>
            </p:cNvSpPr>
            <p:nvPr/>
          </p:nvSpPr>
          <p:spPr bwMode="auto">
            <a:xfrm>
              <a:off x="2342" y="1772"/>
              <a:ext cx="48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-x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207001" name="Text Box 153"/>
            <p:cNvSpPr txBox="1">
              <a:spLocks noChangeArrowheads="1"/>
            </p:cNvSpPr>
            <p:nvPr/>
          </p:nvSpPr>
          <p:spPr bwMode="auto">
            <a:xfrm>
              <a:off x="2342" y="1311"/>
              <a:ext cx="3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V=0</a:t>
              </a:r>
            </a:p>
          </p:txBody>
        </p:sp>
      </p:grpSp>
      <p:grpSp>
        <p:nvGrpSpPr>
          <p:cNvPr id="206885" name="Group 154"/>
          <p:cNvGrpSpPr>
            <a:grpSpLocks/>
          </p:cNvGrpSpPr>
          <p:nvPr/>
        </p:nvGrpSpPr>
        <p:grpSpPr bwMode="auto">
          <a:xfrm>
            <a:off x="5476875" y="4967288"/>
            <a:ext cx="1925638" cy="1057275"/>
            <a:chOff x="176" y="1300"/>
            <a:chExt cx="1213" cy="666"/>
          </a:xfrm>
        </p:grpSpPr>
        <p:sp>
          <p:nvSpPr>
            <p:cNvPr id="207003" name="AutoShape 155"/>
            <p:cNvSpPr>
              <a:spLocks noChangeArrowheads="1"/>
            </p:cNvSpPr>
            <p:nvPr/>
          </p:nvSpPr>
          <p:spPr bwMode="auto">
            <a:xfrm>
              <a:off x="1013" y="1512"/>
              <a:ext cx="167" cy="15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07004" name="Text Box 156"/>
            <p:cNvSpPr txBox="1">
              <a:spLocks noChangeArrowheads="1"/>
            </p:cNvSpPr>
            <p:nvPr/>
          </p:nvSpPr>
          <p:spPr bwMode="auto">
            <a:xfrm>
              <a:off x="982" y="1329"/>
              <a:ext cx="3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V=0</a:t>
              </a:r>
            </a:p>
          </p:txBody>
        </p:sp>
        <p:sp>
          <p:nvSpPr>
            <p:cNvPr id="207005" name="Line 157"/>
            <p:cNvSpPr>
              <a:spLocks noChangeShapeType="1"/>
            </p:cNvSpPr>
            <p:nvPr/>
          </p:nvSpPr>
          <p:spPr bwMode="auto">
            <a:xfrm>
              <a:off x="188" y="1300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006" name="Line 158"/>
            <p:cNvSpPr>
              <a:spLocks noChangeShapeType="1"/>
            </p:cNvSpPr>
            <p:nvPr/>
          </p:nvSpPr>
          <p:spPr bwMode="auto">
            <a:xfrm rot="5400000" flipV="1">
              <a:off x="684" y="1169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6891" name="Group 159"/>
            <p:cNvGrpSpPr>
              <a:grpSpLocks/>
            </p:cNvGrpSpPr>
            <p:nvPr/>
          </p:nvGrpSpPr>
          <p:grpSpPr bwMode="auto">
            <a:xfrm>
              <a:off x="901" y="1506"/>
              <a:ext cx="101" cy="95"/>
              <a:chOff x="704" y="1880"/>
              <a:chExt cx="136" cy="128"/>
            </a:xfrm>
          </p:grpSpPr>
          <p:sp>
            <p:nvSpPr>
              <p:cNvPr id="207008" name="Line 160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09" name="Line 161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898" name="Group 162"/>
            <p:cNvGrpSpPr>
              <a:grpSpLocks/>
            </p:cNvGrpSpPr>
            <p:nvPr/>
          </p:nvGrpSpPr>
          <p:grpSpPr bwMode="auto">
            <a:xfrm>
              <a:off x="794" y="1506"/>
              <a:ext cx="101" cy="95"/>
              <a:chOff x="704" y="1880"/>
              <a:chExt cx="136" cy="128"/>
            </a:xfrm>
          </p:grpSpPr>
          <p:sp>
            <p:nvSpPr>
              <p:cNvPr id="207011" name="Line 163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12" name="Line 164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903" name="Group 165"/>
            <p:cNvGrpSpPr>
              <a:grpSpLocks/>
            </p:cNvGrpSpPr>
            <p:nvPr/>
          </p:nvGrpSpPr>
          <p:grpSpPr bwMode="auto">
            <a:xfrm>
              <a:off x="699" y="1506"/>
              <a:ext cx="101" cy="95"/>
              <a:chOff x="704" y="1880"/>
              <a:chExt cx="136" cy="128"/>
            </a:xfrm>
          </p:grpSpPr>
          <p:sp>
            <p:nvSpPr>
              <p:cNvPr id="207014" name="Line 166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15" name="Line 167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904" name="Group 168"/>
            <p:cNvGrpSpPr>
              <a:grpSpLocks/>
            </p:cNvGrpSpPr>
            <p:nvPr/>
          </p:nvGrpSpPr>
          <p:grpSpPr bwMode="auto">
            <a:xfrm>
              <a:off x="598" y="1506"/>
              <a:ext cx="101" cy="95"/>
              <a:chOff x="704" y="1880"/>
              <a:chExt cx="136" cy="128"/>
            </a:xfrm>
          </p:grpSpPr>
          <p:sp>
            <p:nvSpPr>
              <p:cNvPr id="207017" name="Line 169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18" name="Line 170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907" name="Group 171"/>
            <p:cNvGrpSpPr>
              <a:grpSpLocks/>
            </p:cNvGrpSpPr>
            <p:nvPr/>
          </p:nvGrpSpPr>
          <p:grpSpPr bwMode="auto">
            <a:xfrm>
              <a:off x="503" y="1506"/>
              <a:ext cx="101" cy="95"/>
              <a:chOff x="704" y="1880"/>
              <a:chExt cx="136" cy="128"/>
            </a:xfrm>
          </p:grpSpPr>
          <p:sp>
            <p:nvSpPr>
              <p:cNvPr id="207020" name="Line 172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21" name="Line 173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910" name="Group 174"/>
            <p:cNvGrpSpPr>
              <a:grpSpLocks/>
            </p:cNvGrpSpPr>
            <p:nvPr/>
          </p:nvGrpSpPr>
          <p:grpSpPr bwMode="auto">
            <a:xfrm>
              <a:off x="402" y="1506"/>
              <a:ext cx="101" cy="95"/>
              <a:chOff x="704" y="1880"/>
              <a:chExt cx="136" cy="128"/>
            </a:xfrm>
          </p:grpSpPr>
          <p:sp>
            <p:nvSpPr>
              <p:cNvPr id="207023" name="Line 175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24" name="Line 176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913" name="Group 177"/>
            <p:cNvGrpSpPr>
              <a:grpSpLocks/>
            </p:cNvGrpSpPr>
            <p:nvPr/>
          </p:nvGrpSpPr>
          <p:grpSpPr bwMode="auto">
            <a:xfrm>
              <a:off x="307" y="1506"/>
              <a:ext cx="101" cy="95"/>
              <a:chOff x="704" y="1880"/>
              <a:chExt cx="136" cy="128"/>
            </a:xfrm>
          </p:grpSpPr>
          <p:sp>
            <p:nvSpPr>
              <p:cNvPr id="207026" name="Line 178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27" name="Line 179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916" name="Group 180"/>
            <p:cNvGrpSpPr>
              <a:grpSpLocks/>
            </p:cNvGrpSpPr>
            <p:nvPr/>
          </p:nvGrpSpPr>
          <p:grpSpPr bwMode="auto">
            <a:xfrm>
              <a:off x="206" y="1506"/>
              <a:ext cx="101" cy="95"/>
              <a:chOff x="704" y="1880"/>
              <a:chExt cx="136" cy="128"/>
            </a:xfrm>
          </p:grpSpPr>
          <p:sp>
            <p:nvSpPr>
              <p:cNvPr id="207029" name="Line 181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30" name="Line 182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7031" name="Line 183"/>
            <p:cNvSpPr>
              <a:spLocks noChangeShapeType="1"/>
            </p:cNvSpPr>
            <p:nvPr/>
          </p:nvSpPr>
          <p:spPr bwMode="auto">
            <a:xfrm>
              <a:off x="758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032" name="Text Box 184"/>
            <p:cNvSpPr txBox="1">
              <a:spLocks noChangeArrowheads="1"/>
            </p:cNvSpPr>
            <p:nvPr/>
          </p:nvSpPr>
          <p:spPr bwMode="auto">
            <a:xfrm>
              <a:off x="650" y="1774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207033" name="Line 185"/>
            <p:cNvSpPr>
              <a:spLocks noChangeShapeType="1"/>
            </p:cNvSpPr>
            <p:nvPr/>
          </p:nvSpPr>
          <p:spPr bwMode="auto">
            <a:xfrm>
              <a:off x="1091" y="1725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034" name="Text Box 186"/>
            <p:cNvSpPr txBox="1">
              <a:spLocks noChangeArrowheads="1"/>
            </p:cNvSpPr>
            <p:nvPr/>
          </p:nvSpPr>
          <p:spPr bwMode="auto">
            <a:xfrm>
              <a:off x="1000" y="1768"/>
              <a:ext cx="3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207035" name="Text Box 187"/>
            <p:cNvSpPr txBox="1">
              <a:spLocks noChangeArrowheads="1"/>
            </p:cNvSpPr>
            <p:nvPr/>
          </p:nvSpPr>
          <p:spPr bwMode="auto">
            <a:xfrm>
              <a:off x="489" y="1317"/>
              <a:ext cx="17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k</a:t>
              </a:r>
            </a:p>
          </p:txBody>
        </p:sp>
      </p:grpSp>
      <p:sp>
        <p:nvSpPr>
          <p:cNvPr id="207036" name="Text Box 188"/>
          <p:cNvSpPr txBox="1">
            <a:spLocks noChangeArrowheads="1"/>
          </p:cNvSpPr>
          <p:nvPr/>
        </p:nvSpPr>
        <p:spPr bwMode="auto">
          <a:xfrm>
            <a:off x="4748213" y="5195888"/>
            <a:ext cx="6175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/>
              <a:t>x</a:t>
            </a:r>
            <a:r>
              <a:rPr lang="en-US" sz="1400" baseline="-25000"/>
              <a:t>max</a:t>
            </a:r>
          </a:p>
        </p:txBody>
      </p:sp>
      <p:grpSp>
        <p:nvGrpSpPr>
          <p:cNvPr id="206919" name="Group 189"/>
          <p:cNvGrpSpPr>
            <a:grpSpLocks/>
          </p:cNvGrpSpPr>
          <p:nvPr/>
        </p:nvGrpSpPr>
        <p:grpSpPr bwMode="auto">
          <a:xfrm>
            <a:off x="3579813" y="4364038"/>
            <a:ext cx="1612900" cy="1143000"/>
            <a:chOff x="1207" y="2751"/>
            <a:chExt cx="1016" cy="720"/>
          </a:xfrm>
        </p:grpSpPr>
        <p:sp>
          <p:nvSpPr>
            <p:cNvPr id="207038" name="AutoShape 190"/>
            <p:cNvSpPr>
              <a:spLocks noChangeArrowheads="1"/>
            </p:cNvSpPr>
            <p:nvPr/>
          </p:nvSpPr>
          <p:spPr bwMode="auto">
            <a:xfrm>
              <a:off x="1872" y="3016"/>
              <a:ext cx="167" cy="15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07039" name="Text Box 191"/>
            <p:cNvSpPr txBox="1">
              <a:spLocks noChangeArrowheads="1"/>
            </p:cNvSpPr>
            <p:nvPr/>
          </p:nvSpPr>
          <p:spPr bwMode="auto">
            <a:xfrm>
              <a:off x="1849" y="2751"/>
              <a:ext cx="18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</a:p>
          </p:txBody>
        </p:sp>
        <p:sp>
          <p:nvSpPr>
            <p:cNvPr id="207040" name="Line 192"/>
            <p:cNvSpPr>
              <a:spLocks noChangeShapeType="1"/>
            </p:cNvSpPr>
            <p:nvPr/>
          </p:nvSpPr>
          <p:spPr bwMode="auto">
            <a:xfrm>
              <a:off x="1219" y="2805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041" name="Line 193"/>
            <p:cNvSpPr>
              <a:spLocks noChangeShapeType="1"/>
            </p:cNvSpPr>
            <p:nvPr/>
          </p:nvSpPr>
          <p:spPr bwMode="auto">
            <a:xfrm rot="5400000" flipV="1">
              <a:off x="1715" y="2674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6922" name="Group 194"/>
            <p:cNvGrpSpPr>
              <a:grpSpLocks/>
            </p:cNvGrpSpPr>
            <p:nvPr/>
          </p:nvGrpSpPr>
          <p:grpSpPr bwMode="auto">
            <a:xfrm>
              <a:off x="1237" y="3011"/>
              <a:ext cx="631" cy="68"/>
              <a:chOff x="1237" y="3011"/>
              <a:chExt cx="796" cy="95"/>
            </a:xfrm>
          </p:grpSpPr>
          <p:grpSp>
            <p:nvGrpSpPr>
              <p:cNvPr id="206925" name="Group 195"/>
              <p:cNvGrpSpPr>
                <a:grpSpLocks/>
              </p:cNvGrpSpPr>
              <p:nvPr/>
            </p:nvGrpSpPr>
            <p:grpSpPr bwMode="auto">
              <a:xfrm>
                <a:off x="1932" y="3011"/>
                <a:ext cx="101" cy="95"/>
                <a:chOff x="704" y="1880"/>
                <a:chExt cx="136" cy="128"/>
              </a:xfrm>
            </p:grpSpPr>
            <p:sp>
              <p:nvSpPr>
                <p:cNvPr id="207044" name="Line 19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45" name="Line 19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933" name="Group 198"/>
              <p:cNvGrpSpPr>
                <a:grpSpLocks/>
              </p:cNvGrpSpPr>
              <p:nvPr/>
            </p:nvGrpSpPr>
            <p:grpSpPr bwMode="auto">
              <a:xfrm>
                <a:off x="1825" y="3011"/>
                <a:ext cx="101" cy="95"/>
                <a:chOff x="704" y="1880"/>
                <a:chExt cx="136" cy="128"/>
              </a:xfrm>
            </p:grpSpPr>
            <p:sp>
              <p:nvSpPr>
                <p:cNvPr id="207047" name="Line 19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48" name="Line 20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938" name="Group 201"/>
              <p:cNvGrpSpPr>
                <a:grpSpLocks/>
              </p:cNvGrpSpPr>
              <p:nvPr/>
            </p:nvGrpSpPr>
            <p:grpSpPr bwMode="auto">
              <a:xfrm>
                <a:off x="1730" y="3011"/>
                <a:ext cx="101" cy="95"/>
                <a:chOff x="704" y="1880"/>
                <a:chExt cx="136" cy="128"/>
              </a:xfrm>
            </p:grpSpPr>
            <p:sp>
              <p:nvSpPr>
                <p:cNvPr id="207050" name="Line 20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51" name="Line 20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939" name="Group 204"/>
              <p:cNvGrpSpPr>
                <a:grpSpLocks/>
              </p:cNvGrpSpPr>
              <p:nvPr/>
            </p:nvGrpSpPr>
            <p:grpSpPr bwMode="auto">
              <a:xfrm>
                <a:off x="1629" y="3011"/>
                <a:ext cx="101" cy="95"/>
                <a:chOff x="704" y="1880"/>
                <a:chExt cx="136" cy="128"/>
              </a:xfrm>
            </p:grpSpPr>
            <p:sp>
              <p:nvSpPr>
                <p:cNvPr id="207053" name="Line 20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54" name="Line 20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942" name="Group 207"/>
              <p:cNvGrpSpPr>
                <a:grpSpLocks/>
              </p:cNvGrpSpPr>
              <p:nvPr/>
            </p:nvGrpSpPr>
            <p:grpSpPr bwMode="auto">
              <a:xfrm>
                <a:off x="1534" y="3011"/>
                <a:ext cx="101" cy="95"/>
                <a:chOff x="704" y="1880"/>
                <a:chExt cx="136" cy="128"/>
              </a:xfrm>
            </p:grpSpPr>
            <p:sp>
              <p:nvSpPr>
                <p:cNvPr id="207056" name="Line 20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57" name="Line 20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945" name="Group 210"/>
              <p:cNvGrpSpPr>
                <a:grpSpLocks/>
              </p:cNvGrpSpPr>
              <p:nvPr/>
            </p:nvGrpSpPr>
            <p:grpSpPr bwMode="auto">
              <a:xfrm>
                <a:off x="1433" y="3011"/>
                <a:ext cx="101" cy="95"/>
                <a:chOff x="704" y="1880"/>
                <a:chExt cx="136" cy="128"/>
              </a:xfrm>
            </p:grpSpPr>
            <p:sp>
              <p:nvSpPr>
                <p:cNvPr id="207059" name="Line 21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60" name="Line 21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948" name="Group 213"/>
              <p:cNvGrpSpPr>
                <a:grpSpLocks/>
              </p:cNvGrpSpPr>
              <p:nvPr/>
            </p:nvGrpSpPr>
            <p:grpSpPr bwMode="auto">
              <a:xfrm>
                <a:off x="1338" y="3011"/>
                <a:ext cx="101" cy="95"/>
                <a:chOff x="704" y="1880"/>
                <a:chExt cx="136" cy="128"/>
              </a:xfrm>
            </p:grpSpPr>
            <p:sp>
              <p:nvSpPr>
                <p:cNvPr id="207062" name="Line 21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63" name="Line 21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951" name="Group 216"/>
              <p:cNvGrpSpPr>
                <a:grpSpLocks/>
              </p:cNvGrpSpPr>
              <p:nvPr/>
            </p:nvGrpSpPr>
            <p:grpSpPr bwMode="auto">
              <a:xfrm>
                <a:off x="1237" y="3011"/>
                <a:ext cx="101" cy="95"/>
                <a:chOff x="704" y="1880"/>
                <a:chExt cx="136" cy="128"/>
              </a:xfrm>
            </p:grpSpPr>
            <p:sp>
              <p:nvSpPr>
                <p:cNvPr id="207065" name="Line 21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66" name="Line 21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7067" name="Line 219"/>
            <p:cNvSpPr>
              <a:spLocks noChangeShapeType="1"/>
            </p:cNvSpPr>
            <p:nvPr/>
          </p:nvSpPr>
          <p:spPr bwMode="auto">
            <a:xfrm>
              <a:off x="1789" y="3224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068" name="Text Box 220"/>
            <p:cNvSpPr txBox="1">
              <a:spLocks noChangeArrowheads="1"/>
            </p:cNvSpPr>
            <p:nvPr/>
          </p:nvSpPr>
          <p:spPr bwMode="auto">
            <a:xfrm>
              <a:off x="1681" y="3279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207069" name="Line 221"/>
            <p:cNvSpPr>
              <a:spLocks noChangeShapeType="1"/>
            </p:cNvSpPr>
            <p:nvPr/>
          </p:nvSpPr>
          <p:spPr bwMode="auto">
            <a:xfrm>
              <a:off x="2122" y="3230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070" name="Text Box 222"/>
            <p:cNvSpPr txBox="1">
              <a:spLocks noChangeArrowheads="1"/>
            </p:cNvSpPr>
            <p:nvPr/>
          </p:nvSpPr>
          <p:spPr bwMode="auto">
            <a:xfrm>
              <a:off x="1520" y="2822"/>
              <a:ext cx="17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k</a:t>
              </a:r>
            </a:p>
          </p:txBody>
        </p:sp>
        <p:sp>
          <p:nvSpPr>
            <p:cNvPr id="207071" name="Line 223"/>
            <p:cNvSpPr>
              <a:spLocks noChangeShapeType="1"/>
            </p:cNvSpPr>
            <p:nvPr/>
          </p:nvSpPr>
          <p:spPr bwMode="auto">
            <a:xfrm flipH="1">
              <a:off x="1871" y="2938"/>
              <a:ext cx="1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6954" name="Group 224"/>
          <p:cNvGrpSpPr>
            <a:grpSpLocks/>
          </p:cNvGrpSpPr>
          <p:nvPr/>
        </p:nvGrpSpPr>
        <p:grpSpPr bwMode="auto">
          <a:xfrm>
            <a:off x="3579813" y="1738313"/>
            <a:ext cx="1612900" cy="1143000"/>
            <a:chOff x="1299" y="1073"/>
            <a:chExt cx="1016" cy="720"/>
          </a:xfrm>
        </p:grpSpPr>
        <p:sp>
          <p:nvSpPr>
            <p:cNvPr id="207073" name="AutoShape 225"/>
            <p:cNvSpPr>
              <a:spLocks noChangeArrowheads="1"/>
            </p:cNvSpPr>
            <p:nvPr/>
          </p:nvSpPr>
          <p:spPr bwMode="auto">
            <a:xfrm>
              <a:off x="1721" y="1338"/>
              <a:ext cx="167" cy="15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07074" name="Text Box 226"/>
            <p:cNvSpPr txBox="1">
              <a:spLocks noChangeArrowheads="1"/>
            </p:cNvSpPr>
            <p:nvPr/>
          </p:nvSpPr>
          <p:spPr bwMode="auto">
            <a:xfrm>
              <a:off x="1698" y="1073"/>
              <a:ext cx="18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</a:p>
          </p:txBody>
        </p:sp>
        <p:sp>
          <p:nvSpPr>
            <p:cNvPr id="207075" name="Line 227"/>
            <p:cNvSpPr>
              <a:spLocks noChangeShapeType="1"/>
            </p:cNvSpPr>
            <p:nvPr/>
          </p:nvSpPr>
          <p:spPr bwMode="auto">
            <a:xfrm>
              <a:off x="1311" y="1127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076" name="Line 228"/>
            <p:cNvSpPr>
              <a:spLocks noChangeShapeType="1"/>
            </p:cNvSpPr>
            <p:nvPr/>
          </p:nvSpPr>
          <p:spPr bwMode="auto">
            <a:xfrm rot="5400000" flipV="1">
              <a:off x="1807" y="996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6957" name="Group 229"/>
            <p:cNvGrpSpPr>
              <a:grpSpLocks/>
            </p:cNvGrpSpPr>
            <p:nvPr/>
          </p:nvGrpSpPr>
          <p:grpSpPr bwMode="auto">
            <a:xfrm>
              <a:off x="1329" y="1333"/>
              <a:ext cx="383" cy="77"/>
              <a:chOff x="1237" y="3011"/>
              <a:chExt cx="796" cy="95"/>
            </a:xfrm>
          </p:grpSpPr>
          <p:grpSp>
            <p:nvGrpSpPr>
              <p:cNvPr id="206960" name="Group 230"/>
              <p:cNvGrpSpPr>
                <a:grpSpLocks/>
              </p:cNvGrpSpPr>
              <p:nvPr/>
            </p:nvGrpSpPr>
            <p:grpSpPr bwMode="auto">
              <a:xfrm>
                <a:off x="1932" y="3011"/>
                <a:ext cx="101" cy="95"/>
                <a:chOff x="704" y="1880"/>
                <a:chExt cx="136" cy="128"/>
              </a:xfrm>
            </p:grpSpPr>
            <p:sp>
              <p:nvSpPr>
                <p:cNvPr id="207079" name="Line 23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80" name="Line 23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968" name="Group 233"/>
              <p:cNvGrpSpPr>
                <a:grpSpLocks/>
              </p:cNvGrpSpPr>
              <p:nvPr/>
            </p:nvGrpSpPr>
            <p:grpSpPr bwMode="auto">
              <a:xfrm>
                <a:off x="1825" y="3011"/>
                <a:ext cx="101" cy="95"/>
                <a:chOff x="704" y="1880"/>
                <a:chExt cx="136" cy="128"/>
              </a:xfrm>
            </p:grpSpPr>
            <p:sp>
              <p:nvSpPr>
                <p:cNvPr id="207082" name="Line 23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83" name="Line 23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972" name="Group 236"/>
              <p:cNvGrpSpPr>
                <a:grpSpLocks/>
              </p:cNvGrpSpPr>
              <p:nvPr/>
            </p:nvGrpSpPr>
            <p:grpSpPr bwMode="auto">
              <a:xfrm>
                <a:off x="1730" y="3011"/>
                <a:ext cx="101" cy="95"/>
                <a:chOff x="704" y="1880"/>
                <a:chExt cx="136" cy="128"/>
              </a:xfrm>
            </p:grpSpPr>
            <p:sp>
              <p:nvSpPr>
                <p:cNvPr id="207085" name="Line 23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86" name="Line 23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973" name="Group 239"/>
              <p:cNvGrpSpPr>
                <a:grpSpLocks/>
              </p:cNvGrpSpPr>
              <p:nvPr/>
            </p:nvGrpSpPr>
            <p:grpSpPr bwMode="auto">
              <a:xfrm>
                <a:off x="1629" y="3011"/>
                <a:ext cx="101" cy="95"/>
                <a:chOff x="704" y="1880"/>
                <a:chExt cx="136" cy="128"/>
              </a:xfrm>
            </p:grpSpPr>
            <p:sp>
              <p:nvSpPr>
                <p:cNvPr id="207088" name="Line 24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89" name="Line 24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976" name="Group 242"/>
              <p:cNvGrpSpPr>
                <a:grpSpLocks/>
              </p:cNvGrpSpPr>
              <p:nvPr/>
            </p:nvGrpSpPr>
            <p:grpSpPr bwMode="auto">
              <a:xfrm>
                <a:off x="1534" y="3011"/>
                <a:ext cx="101" cy="95"/>
                <a:chOff x="704" y="1880"/>
                <a:chExt cx="136" cy="128"/>
              </a:xfrm>
            </p:grpSpPr>
            <p:sp>
              <p:nvSpPr>
                <p:cNvPr id="207091" name="Line 24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92" name="Line 24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979" name="Group 245"/>
              <p:cNvGrpSpPr>
                <a:grpSpLocks/>
              </p:cNvGrpSpPr>
              <p:nvPr/>
            </p:nvGrpSpPr>
            <p:grpSpPr bwMode="auto">
              <a:xfrm>
                <a:off x="1433" y="3011"/>
                <a:ext cx="101" cy="95"/>
                <a:chOff x="704" y="1880"/>
                <a:chExt cx="136" cy="128"/>
              </a:xfrm>
            </p:grpSpPr>
            <p:sp>
              <p:nvSpPr>
                <p:cNvPr id="207094" name="Line 24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95" name="Line 24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982" name="Group 248"/>
              <p:cNvGrpSpPr>
                <a:grpSpLocks/>
              </p:cNvGrpSpPr>
              <p:nvPr/>
            </p:nvGrpSpPr>
            <p:grpSpPr bwMode="auto">
              <a:xfrm>
                <a:off x="1338" y="3011"/>
                <a:ext cx="101" cy="95"/>
                <a:chOff x="704" y="1880"/>
                <a:chExt cx="136" cy="128"/>
              </a:xfrm>
            </p:grpSpPr>
            <p:sp>
              <p:nvSpPr>
                <p:cNvPr id="207097" name="Line 24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98" name="Line 25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985" name="Group 251"/>
              <p:cNvGrpSpPr>
                <a:grpSpLocks/>
              </p:cNvGrpSpPr>
              <p:nvPr/>
            </p:nvGrpSpPr>
            <p:grpSpPr bwMode="auto">
              <a:xfrm>
                <a:off x="1237" y="3011"/>
                <a:ext cx="101" cy="95"/>
                <a:chOff x="704" y="1880"/>
                <a:chExt cx="136" cy="128"/>
              </a:xfrm>
            </p:grpSpPr>
            <p:sp>
              <p:nvSpPr>
                <p:cNvPr id="207100" name="Line 25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01" name="Line 25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7102" name="Line 254"/>
            <p:cNvSpPr>
              <a:spLocks noChangeShapeType="1"/>
            </p:cNvSpPr>
            <p:nvPr/>
          </p:nvSpPr>
          <p:spPr bwMode="auto">
            <a:xfrm>
              <a:off x="1881" y="1546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103" name="Text Box 255"/>
            <p:cNvSpPr txBox="1">
              <a:spLocks noChangeArrowheads="1"/>
            </p:cNvSpPr>
            <p:nvPr/>
          </p:nvSpPr>
          <p:spPr bwMode="auto">
            <a:xfrm>
              <a:off x="1773" y="1601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207104" name="Line 256"/>
            <p:cNvSpPr>
              <a:spLocks noChangeShapeType="1"/>
            </p:cNvSpPr>
            <p:nvPr/>
          </p:nvSpPr>
          <p:spPr bwMode="auto">
            <a:xfrm>
              <a:off x="2214" y="1552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105" name="Line 257"/>
            <p:cNvSpPr>
              <a:spLocks noChangeShapeType="1"/>
            </p:cNvSpPr>
            <p:nvPr/>
          </p:nvSpPr>
          <p:spPr bwMode="auto">
            <a:xfrm flipH="1">
              <a:off x="1720" y="1260"/>
              <a:ext cx="1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6988" name="Group 258"/>
          <p:cNvGrpSpPr>
            <a:grpSpLocks/>
          </p:cNvGrpSpPr>
          <p:nvPr/>
        </p:nvGrpSpPr>
        <p:grpSpPr bwMode="auto">
          <a:xfrm>
            <a:off x="7554913" y="4364038"/>
            <a:ext cx="1612900" cy="1143000"/>
            <a:chOff x="3680" y="2747"/>
            <a:chExt cx="1016" cy="720"/>
          </a:xfrm>
        </p:grpSpPr>
        <p:sp>
          <p:nvSpPr>
            <p:cNvPr id="207107" name="AutoShape 259"/>
            <p:cNvSpPr>
              <a:spLocks noChangeArrowheads="1"/>
            </p:cNvSpPr>
            <p:nvPr/>
          </p:nvSpPr>
          <p:spPr bwMode="auto">
            <a:xfrm>
              <a:off x="4345" y="3012"/>
              <a:ext cx="167" cy="15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07108" name="Text Box 260"/>
            <p:cNvSpPr txBox="1">
              <a:spLocks noChangeArrowheads="1"/>
            </p:cNvSpPr>
            <p:nvPr/>
          </p:nvSpPr>
          <p:spPr bwMode="auto">
            <a:xfrm>
              <a:off x="4322" y="2747"/>
              <a:ext cx="18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</a:p>
          </p:txBody>
        </p:sp>
        <p:sp>
          <p:nvSpPr>
            <p:cNvPr id="207109" name="Line 261"/>
            <p:cNvSpPr>
              <a:spLocks noChangeShapeType="1"/>
            </p:cNvSpPr>
            <p:nvPr/>
          </p:nvSpPr>
          <p:spPr bwMode="auto">
            <a:xfrm>
              <a:off x="3692" y="2801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110" name="Line 262"/>
            <p:cNvSpPr>
              <a:spLocks noChangeShapeType="1"/>
            </p:cNvSpPr>
            <p:nvPr/>
          </p:nvSpPr>
          <p:spPr bwMode="auto">
            <a:xfrm rot="5400000" flipV="1">
              <a:off x="4188" y="2670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6991" name="Group 263"/>
            <p:cNvGrpSpPr>
              <a:grpSpLocks/>
            </p:cNvGrpSpPr>
            <p:nvPr/>
          </p:nvGrpSpPr>
          <p:grpSpPr bwMode="auto">
            <a:xfrm>
              <a:off x="3710" y="3007"/>
              <a:ext cx="631" cy="68"/>
              <a:chOff x="1237" y="3011"/>
              <a:chExt cx="796" cy="95"/>
            </a:xfrm>
          </p:grpSpPr>
          <p:grpSp>
            <p:nvGrpSpPr>
              <p:cNvPr id="206994" name="Group 264"/>
              <p:cNvGrpSpPr>
                <a:grpSpLocks/>
              </p:cNvGrpSpPr>
              <p:nvPr/>
            </p:nvGrpSpPr>
            <p:grpSpPr bwMode="auto">
              <a:xfrm>
                <a:off x="1932" y="3011"/>
                <a:ext cx="101" cy="95"/>
                <a:chOff x="704" y="1880"/>
                <a:chExt cx="136" cy="128"/>
              </a:xfrm>
            </p:grpSpPr>
            <p:sp>
              <p:nvSpPr>
                <p:cNvPr id="207113" name="Line 26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14" name="Line 26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7002" name="Group 267"/>
              <p:cNvGrpSpPr>
                <a:grpSpLocks/>
              </p:cNvGrpSpPr>
              <p:nvPr/>
            </p:nvGrpSpPr>
            <p:grpSpPr bwMode="auto">
              <a:xfrm>
                <a:off x="1825" y="3011"/>
                <a:ext cx="101" cy="95"/>
                <a:chOff x="704" y="1880"/>
                <a:chExt cx="136" cy="128"/>
              </a:xfrm>
            </p:grpSpPr>
            <p:sp>
              <p:nvSpPr>
                <p:cNvPr id="207116" name="Line 26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17" name="Line 26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7007" name="Group 270"/>
              <p:cNvGrpSpPr>
                <a:grpSpLocks/>
              </p:cNvGrpSpPr>
              <p:nvPr/>
            </p:nvGrpSpPr>
            <p:grpSpPr bwMode="auto">
              <a:xfrm>
                <a:off x="1730" y="3011"/>
                <a:ext cx="101" cy="95"/>
                <a:chOff x="704" y="1880"/>
                <a:chExt cx="136" cy="128"/>
              </a:xfrm>
            </p:grpSpPr>
            <p:sp>
              <p:nvSpPr>
                <p:cNvPr id="207119" name="Line 27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20" name="Line 27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7010" name="Group 273"/>
              <p:cNvGrpSpPr>
                <a:grpSpLocks/>
              </p:cNvGrpSpPr>
              <p:nvPr/>
            </p:nvGrpSpPr>
            <p:grpSpPr bwMode="auto">
              <a:xfrm>
                <a:off x="1629" y="3011"/>
                <a:ext cx="101" cy="95"/>
                <a:chOff x="704" y="1880"/>
                <a:chExt cx="136" cy="128"/>
              </a:xfrm>
            </p:grpSpPr>
            <p:sp>
              <p:nvSpPr>
                <p:cNvPr id="207122" name="Line 27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23" name="Line 27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7013" name="Group 276"/>
              <p:cNvGrpSpPr>
                <a:grpSpLocks/>
              </p:cNvGrpSpPr>
              <p:nvPr/>
            </p:nvGrpSpPr>
            <p:grpSpPr bwMode="auto">
              <a:xfrm>
                <a:off x="1534" y="3011"/>
                <a:ext cx="101" cy="95"/>
                <a:chOff x="704" y="1880"/>
                <a:chExt cx="136" cy="128"/>
              </a:xfrm>
            </p:grpSpPr>
            <p:sp>
              <p:nvSpPr>
                <p:cNvPr id="207125" name="Line 27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26" name="Line 27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7016" name="Group 279"/>
              <p:cNvGrpSpPr>
                <a:grpSpLocks/>
              </p:cNvGrpSpPr>
              <p:nvPr/>
            </p:nvGrpSpPr>
            <p:grpSpPr bwMode="auto">
              <a:xfrm>
                <a:off x="1433" y="3011"/>
                <a:ext cx="101" cy="95"/>
                <a:chOff x="704" y="1880"/>
                <a:chExt cx="136" cy="128"/>
              </a:xfrm>
            </p:grpSpPr>
            <p:sp>
              <p:nvSpPr>
                <p:cNvPr id="207128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29" name="Line 28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7019" name="Group 282"/>
              <p:cNvGrpSpPr>
                <a:grpSpLocks/>
              </p:cNvGrpSpPr>
              <p:nvPr/>
            </p:nvGrpSpPr>
            <p:grpSpPr bwMode="auto">
              <a:xfrm>
                <a:off x="1338" y="3011"/>
                <a:ext cx="101" cy="95"/>
                <a:chOff x="704" y="1880"/>
                <a:chExt cx="136" cy="128"/>
              </a:xfrm>
            </p:grpSpPr>
            <p:sp>
              <p:nvSpPr>
                <p:cNvPr id="207131" name="Line 28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32" name="Line 28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7022" name="Group 285"/>
              <p:cNvGrpSpPr>
                <a:grpSpLocks/>
              </p:cNvGrpSpPr>
              <p:nvPr/>
            </p:nvGrpSpPr>
            <p:grpSpPr bwMode="auto">
              <a:xfrm>
                <a:off x="1237" y="3011"/>
                <a:ext cx="101" cy="95"/>
                <a:chOff x="704" y="1880"/>
                <a:chExt cx="136" cy="128"/>
              </a:xfrm>
            </p:grpSpPr>
            <p:sp>
              <p:nvSpPr>
                <p:cNvPr id="207134" name="Line 28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35" name="Line 28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7136" name="Line 288"/>
            <p:cNvSpPr>
              <a:spLocks noChangeShapeType="1"/>
            </p:cNvSpPr>
            <p:nvPr/>
          </p:nvSpPr>
          <p:spPr bwMode="auto">
            <a:xfrm>
              <a:off x="4262" y="3220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137" name="Text Box 289"/>
            <p:cNvSpPr txBox="1">
              <a:spLocks noChangeArrowheads="1"/>
            </p:cNvSpPr>
            <p:nvPr/>
          </p:nvSpPr>
          <p:spPr bwMode="auto">
            <a:xfrm>
              <a:off x="4154" y="3275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207138" name="Line 290"/>
            <p:cNvSpPr>
              <a:spLocks noChangeShapeType="1"/>
            </p:cNvSpPr>
            <p:nvPr/>
          </p:nvSpPr>
          <p:spPr bwMode="auto">
            <a:xfrm>
              <a:off x="4595" y="3226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139" name="Text Box 291"/>
            <p:cNvSpPr txBox="1">
              <a:spLocks noChangeArrowheads="1"/>
            </p:cNvSpPr>
            <p:nvPr/>
          </p:nvSpPr>
          <p:spPr bwMode="auto">
            <a:xfrm>
              <a:off x="3993" y="2818"/>
              <a:ext cx="17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k</a:t>
              </a:r>
            </a:p>
          </p:txBody>
        </p:sp>
        <p:sp>
          <p:nvSpPr>
            <p:cNvPr id="207140" name="Line 292"/>
            <p:cNvSpPr>
              <a:spLocks noChangeShapeType="1"/>
            </p:cNvSpPr>
            <p:nvPr/>
          </p:nvSpPr>
          <p:spPr bwMode="auto">
            <a:xfrm>
              <a:off x="4344" y="2934"/>
              <a:ext cx="1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7025" name="Group 293"/>
          <p:cNvGrpSpPr>
            <a:grpSpLocks/>
          </p:cNvGrpSpPr>
          <p:nvPr/>
        </p:nvGrpSpPr>
        <p:grpSpPr bwMode="auto">
          <a:xfrm>
            <a:off x="7556500" y="1738313"/>
            <a:ext cx="1612900" cy="1143000"/>
            <a:chOff x="3855" y="913"/>
            <a:chExt cx="1016" cy="720"/>
          </a:xfrm>
        </p:grpSpPr>
        <p:sp>
          <p:nvSpPr>
            <p:cNvPr id="207142" name="AutoShape 294"/>
            <p:cNvSpPr>
              <a:spLocks noChangeArrowheads="1"/>
            </p:cNvSpPr>
            <p:nvPr/>
          </p:nvSpPr>
          <p:spPr bwMode="auto">
            <a:xfrm>
              <a:off x="4277" y="1178"/>
              <a:ext cx="167" cy="15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07143" name="Text Box 295"/>
            <p:cNvSpPr txBox="1">
              <a:spLocks noChangeArrowheads="1"/>
            </p:cNvSpPr>
            <p:nvPr/>
          </p:nvSpPr>
          <p:spPr bwMode="auto">
            <a:xfrm>
              <a:off x="4254" y="913"/>
              <a:ext cx="18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</a:p>
          </p:txBody>
        </p:sp>
        <p:sp>
          <p:nvSpPr>
            <p:cNvPr id="207144" name="Line 296"/>
            <p:cNvSpPr>
              <a:spLocks noChangeShapeType="1"/>
            </p:cNvSpPr>
            <p:nvPr/>
          </p:nvSpPr>
          <p:spPr bwMode="auto">
            <a:xfrm>
              <a:off x="3867" y="967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145" name="Line 297"/>
            <p:cNvSpPr>
              <a:spLocks noChangeShapeType="1"/>
            </p:cNvSpPr>
            <p:nvPr/>
          </p:nvSpPr>
          <p:spPr bwMode="auto">
            <a:xfrm rot="5400000" flipV="1">
              <a:off x="4363" y="836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7028" name="Group 298"/>
            <p:cNvGrpSpPr>
              <a:grpSpLocks/>
            </p:cNvGrpSpPr>
            <p:nvPr/>
          </p:nvGrpSpPr>
          <p:grpSpPr bwMode="auto">
            <a:xfrm>
              <a:off x="3885" y="1173"/>
              <a:ext cx="383" cy="77"/>
              <a:chOff x="1237" y="3011"/>
              <a:chExt cx="796" cy="95"/>
            </a:xfrm>
          </p:grpSpPr>
          <p:grpSp>
            <p:nvGrpSpPr>
              <p:cNvPr id="207037" name="Group 299"/>
              <p:cNvGrpSpPr>
                <a:grpSpLocks/>
              </p:cNvGrpSpPr>
              <p:nvPr/>
            </p:nvGrpSpPr>
            <p:grpSpPr bwMode="auto">
              <a:xfrm>
                <a:off x="1932" y="3011"/>
                <a:ext cx="101" cy="95"/>
                <a:chOff x="704" y="1880"/>
                <a:chExt cx="136" cy="128"/>
              </a:xfrm>
            </p:grpSpPr>
            <p:sp>
              <p:nvSpPr>
                <p:cNvPr id="207148" name="Line 30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49" name="Line 30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7042" name="Group 302"/>
              <p:cNvGrpSpPr>
                <a:grpSpLocks/>
              </p:cNvGrpSpPr>
              <p:nvPr/>
            </p:nvGrpSpPr>
            <p:grpSpPr bwMode="auto">
              <a:xfrm>
                <a:off x="1825" y="3011"/>
                <a:ext cx="101" cy="95"/>
                <a:chOff x="704" y="1880"/>
                <a:chExt cx="136" cy="128"/>
              </a:xfrm>
            </p:grpSpPr>
            <p:sp>
              <p:nvSpPr>
                <p:cNvPr id="207151" name="Line 30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52" name="Line 30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7043" name="Group 305"/>
              <p:cNvGrpSpPr>
                <a:grpSpLocks/>
              </p:cNvGrpSpPr>
              <p:nvPr/>
            </p:nvGrpSpPr>
            <p:grpSpPr bwMode="auto">
              <a:xfrm>
                <a:off x="1730" y="3011"/>
                <a:ext cx="101" cy="95"/>
                <a:chOff x="704" y="1880"/>
                <a:chExt cx="136" cy="128"/>
              </a:xfrm>
            </p:grpSpPr>
            <p:sp>
              <p:nvSpPr>
                <p:cNvPr id="207154" name="Line 30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55" name="Line 30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7046" name="Group 308"/>
              <p:cNvGrpSpPr>
                <a:grpSpLocks/>
              </p:cNvGrpSpPr>
              <p:nvPr/>
            </p:nvGrpSpPr>
            <p:grpSpPr bwMode="auto">
              <a:xfrm>
                <a:off x="1629" y="3011"/>
                <a:ext cx="101" cy="95"/>
                <a:chOff x="704" y="1880"/>
                <a:chExt cx="136" cy="128"/>
              </a:xfrm>
            </p:grpSpPr>
            <p:sp>
              <p:nvSpPr>
                <p:cNvPr id="207157" name="Line 30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58" name="Line 31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7049" name="Group 311"/>
              <p:cNvGrpSpPr>
                <a:grpSpLocks/>
              </p:cNvGrpSpPr>
              <p:nvPr/>
            </p:nvGrpSpPr>
            <p:grpSpPr bwMode="auto">
              <a:xfrm>
                <a:off x="1534" y="3011"/>
                <a:ext cx="101" cy="95"/>
                <a:chOff x="704" y="1880"/>
                <a:chExt cx="136" cy="128"/>
              </a:xfrm>
            </p:grpSpPr>
            <p:sp>
              <p:nvSpPr>
                <p:cNvPr id="207160" name="Line 31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61" name="Line 31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7052" name="Group 314"/>
              <p:cNvGrpSpPr>
                <a:grpSpLocks/>
              </p:cNvGrpSpPr>
              <p:nvPr/>
            </p:nvGrpSpPr>
            <p:grpSpPr bwMode="auto">
              <a:xfrm>
                <a:off x="1433" y="3011"/>
                <a:ext cx="101" cy="95"/>
                <a:chOff x="704" y="1880"/>
                <a:chExt cx="136" cy="128"/>
              </a:xfrm>
            </p:grpSpPr>
            <p:sp>
              <p:nvSpPr>
                <p:cNvPr id="207163" name="Line 31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64" name="Line 31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7055" name="Group 317"/>
              <p:cNvGrpSpPr>
                <a:grpSpLocks/>
              </p:cNvGrpSpPr>
              <p:nvPr/>
            </p:nvGrpSpPr>
            <p:grpSpPr bwMode="auto">
              <a:xfrm>
                <a:off x="1338" y="3011"/>
                <a:ext cx="101" cy="95"/>
                <a:chOff x="704" y="1880"/>
                <a:chExt cx="136" cy="128"/>
              </a:xfrm>
            </p:grpSpPr>
            <p:sp>
              <p:nvSpPr>
                <p:cNvPr id="207166" name="Line 31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67" name="Line 31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7058" name="Group 320"/>
              <p:cNvGrpSpPr>
                <a:grpSpLocks/>
              </p:cNvGrpSpPr>
              <p:nvPr/>
            </p:nvGrpSpPr>
            <p:grpSpPr bwMode="auto">
              <a:xfrm>
                <a:off x="1237" y="3011"/>
                <a:ext cx="101" cy="95"/>
                <a:chOff x="704" y="1880"/>
                <a:chExt cx="136" cy="128"/>
              </a:xfrm>
            </p:grpSpPr>
            <p:sp>
              <p:nvSpPr>
                <p:cNvPr id="207169" name="Line 32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170" name="Line 32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7171" name="Line 323"/>
            <p:cNvSpPr>
              <a:spLocks noChangeShapeType="1"/>
            </p:cNvSpPr>
            <p:nvPr/>
          </p:nvSpPr>
          <p:spPr bwMode="auto">
            <a:xfrm>
              <a:off x="4437" y="1386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172" name="Text Box 324"/>
            <p:cNvSpPr txBox="1">
              <a:spLocks noChangeArrowheads="1"/>
            </p:cNvSpPr>
            <p:nvPr/>
          </p:nvSpPr>
          <p:spPr bwMode="auto">
            <a:xfrm>
              <a:off x="4329" y="1441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207173" name="Line 325"/>
            <p:cNvSpPr>
              <a:spLocks noChangeShapeType="1"/>
            </p:cNvSpPr>
            <p:nvPr/>
          </p:nvSpPr>
          <p:spPr bwMode="auto">
            <a:xfrm>
              <a:off x="4770" y="1392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174" name="Line 326"/>
            <p:cNvSpPr>
              <a:spLocks noChangeShapeType="1"/>
            </p:cNvSpPr>
            <p:nvPr/>
          </p:nvSpPr>
          <p:spPr bwMode="auto">
            <a:xfrm>
              <a:off x="4276" y="1100"/>
              <a:ext cx="1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Energy as a function of time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3773488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Note that the kinetic and potential energy are out of phase with each other. </a:t>
            </a:r>
          </a:p>
          <a:p>
            <a:pPr>
              <a:lnSpc>
                <a:spcPct val="90000"/>
              </a:lnSpc>
            </a:pPr>
            <a:r>
              <a:rPr lang="en-US"/>
              <a:t>If we plot them on the same scale ( for the case </a:t>
            </a:r>
            <a:r>
              <a:rPr lang="en-US">
                <a:sym typeface="Symbol" pitchFamily="18" charset="2"/>
              </a:rPr>
              <a:t>=0</a:t>
            </a:r>
            <a:r>
              <a:rPr lang="en-US"/>
              <a:t>) we have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930901" y="2017714"/>
            <a:ext cx="4151313" cy="3533775"/>
            <a:chOff x="3544" y="1271"/>
            <a:chExt cx="1847" cy="1257"/>
          </a:xfrm>
        </p:grpSpPr>
        <p:pic>
          <p:nvPicPr>
            <p:cNvPr id="207877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765" y="1448"/>
              <a:ext cx="1626" cy="10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07878" name="Line 6"/>
            <p:cNvSpPr>
              <a:spLocks noChangeShapeType="1"/>
            </p:cNvSpPr>
            <p:nvPr/>
          </p:nvSpPr>
          <p:spPr bwMode="auto">
            <a:xfrm flipH="1">
              <a:off x="3941" y="1445"/>
              <a:ext cx="73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879" name="Text Box 7"/>
            <p:cNvSpPr txBox="1">
              <a:spLocks noChangeArrowheads="1"/>
            </p:cNvSpPr>
            <p:nvPr/>
          </p:nvSpPr>
          <p:spPr bwMode="auto">
            <a:xfrm>
              <a:off x="3983" y="1285"/>
              <a:ext cx="156" cy="1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U</a:t>
              </a:r>
            </a:p>
          </p:txBody>
        </p:sp>
        <p:sp>
          <p:nvSpPr>
            <p:cNvPr id="207880" name="Text Box 8"/>
            <p:cNvSpPr txBox="1">
              <a:spLocks noChangeArrowheads="1"/>
            </p:cNvSpPr>
            <p:nvPr/>
          </p:nvSpPr>
          <p:spPr bwMode="auto">
            <a:xfrm>
              <a:off x="4326" y="1271"/>
              <a:ext cx="141" cy="1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K</a:t>
              </a:r>
            </a:p>
          </p:txBody>
        </p:sp>
        <p:sp>
          <p:nvSpPr>
            <p:cNvPr id="207881" name="Line 9"/>
            <p:cNvSpPr>
              <a:spLocks noChangeShapeType="1"/>
            </p:cNvSpPr>
            <p:nvPr/>
          </p:nvSpPr>
          <p:spPr bwMode="auto">
            <a:xfrm flipH="1">
              <a:off x="4297" y="1463"/>
              <a:ext cx="55" cy="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882" name="Text Box 10"/>
            <p:cNvSpPr txBox="1">
              <a:spLocks noChangeArrowheads="1"/>
            </p:cNvSpPr>
            <p:nvPr/>
          </p:nvSpPr>
          <p:spPr bwMode="auto">
            <a:xfrm>
              <a:off x="3544" y="1429"/>
              <a:ext cx="169" cy="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000"/>
                <a:t>U,K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3" name="Group 71"/>
          <p:cNvGrpSpPr>
            <a:grpSpLocks/>
          </p:cNvGrpSpPr>
          <p:nvPr/>
        </p:nvGrpSpPr>
        <p:grpSpPr bwMode="auto">
          <a:xfrm>
            <a:off x="4817486" y="3008458"/>
            <a:ext cx="1612900" cy="1082675"/>
            <a:chOff x="2112" y="1300"/>
            <a:chExt cx="1016" cy="682"/>
          </a:xfrm>
        </p:grpSpPr>
        <p:sp>
          <p:nvSpPr>
            <p:cNvPr id="54" name="AutoShape 72"/>
            <p:cNvSpPr>
              <a:spLocks noChangeArrowheads="1"/>
            </p:cNvSpPr>
            <p:nvPr/>
          </p:nvSpPr>
          <p:spPr bwMode="auto">
            <a:xfrm>
              <a:off x="2385" y="1495"/>
              <a:ext cx="167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55" name="Line 73"/>
            <p:cNvSpPr>
              <a:spLocks noChangeShapeType="1"/>
            </p:cNvSpPr>
            <p:nvPr/>
          </p:nvSpPr>
          <p:spPr bwMode="auto">
            <a:xfrm>
              <a:off x="2124" y="1300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74"/>
            <p:cNvSpPr>
              <a:spLocks noChangeShapeType="1"/>
            </p:cNvSpPr>
            <p:nvPr/>
          </p:nvSpPr>
          <p:spPr bwMode="auto">
            <a:xfrm rot="5400000" flipV="1">
              <a:off x="2620" y="1169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57" name="Group 75"/>
            <p:cNvGrpSpPr>
              <a:grpSpLocks/>
            </p:cNvGrpSpPr>
            <p:nvPr/>
          </p:nvGrpSpPr>
          <p:grpSpPr bwMode="auto">
            <a:xfrm>
              <a:off x="2148" y="1512"/>
              <a:ext cx="225" cy="95"/>
              <a:chOff x="2248" y="1248"/>
              <a:chExt cx="648" cy="128"/>
            </a:xfrm>
          </p:grpSpPr>
          <p:grpSp>
            <p:nvGrpSpPr>
              <p:cNvPr id="63" name="Group 76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85" name="Line 7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" name="Line 7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4" name="Group 79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83" name="Line 8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" name="Line 8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5" name="Group 82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81" name="Line 8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" name="Line 8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6" name="Group 85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79" name="Line 8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" name="Line 8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7" name="Group 88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77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" name="Line 9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8" name="Group 91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75" name="Line 9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" name="Line 9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9" name="Group 94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73" name="Line 9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" name="Line 9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0" name="Group 97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71" name="Line 9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" name="Line 9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58" name="Line 100"/>
            <p:cNvSpPr>
              <a:spLocks noChangeShapeType="1"/>
            </p:cNvSpPr>
            <p:nvPr/>
          </p:nvSpPr>
          <p:spPr bwMode="auto">
            <a:xfrm>
              <a:off x="2694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Box 101"/>
            <p:cNvSpPr txBox="1">
              <a:spLocks noChangeArrowheads="1"/>
            </p:cNvSpPr>
            <p:nvPr/>
          </p:nvSpPr>
          <p:spPr bwMode="auto">
            <a:xfrm>
              <a:off x="2586" y="1790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60" name="Line 102"/>
            <p:cNvSpPr>
              <a:spLocks noChangeShapeType="1"/>
            </p:cNvSpPr>
            <p:nvPr/>
          </p:nvSpPr>
          <p:spPr bwMode="auto">
            <a:xfrm>
              <a:off x="2474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Box 103"/>
            <p:cNvSpPr txBox="1">
              <a:spLocks noChangeArrowheads="1"/>
            </p:cNvSpPr>
            <p:nvPr/>
          </p:nvSpPr>
          <p:spPr bwMode="auto">
            <a:xfrm>
              <a:off x="2342" y="1772"/>
              <a:ext cx="48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-x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62" name="Text Box 104"/>
            <p:cNvSpPr txBox="1">
              <a:spLocks noChangeArrowheads="1"/>
            </p:cNvSpPr>
            <p:nvPr/>
          </p:nvSpPr>
          <p:spPr bwMode="auto">
            <a:xfrm>
              <a:off x="2342" y="1311"/>
              <a:ext cx="3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V=0</a:t>
              </a:r>
            </a:p>
          </p:txBody>
        </p:sp>
      </p:grpSp>
      <p:sp>
        <p:nvSpPr>
          <p:cNvPr id="87" name="Text Box 143"/>
          <p:cNvSpPr txBox="1">
            <a:spLocks noChangeArrowheads="1"/>
          </p:cNvSpPr>
          <p:nvPr/>
        </p:nvSpPr>
        <p:spPr bwMode="auto">
          <a:xfrm>
            <a:off x="5149273" y="2621108"/>
            <a:ext cx="5984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a</a:t>
            </a:r>
            <a:r>
              <a:rPr lang="en-US" baseline="-25000" dirty="0" err="1">
                <a:solidFill>
                  <a:srgbClr val="FF0000"/>
                </a:solidFill>
              </a:rPr>
              <a:t>max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88" name="Line 144"/>
          <p:cNvSpPr>
            <a:spLocks noChangeShapeType="1"/>
          </p:cNvSpPr>
          <p:nvPr/>
        </p:nvSpPr>
        <p:spPr bwMode="auto">
          <a:xfrm>
            <a:off x="5207895" y="2709118"/>
            <a:ext cx="420688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cxnSp>
        <p:nvCxnSpPr>
          <p:cNvPr id="89" name="Straight Connector 88"/>
          <p:cNvCxnSpPr/>
          <p:nvPr/>
        </p:nvCxnSpPr>
        <p:spPr>
          <a:xfrm>
            <a:off x="4216401" y="3440544"/>
            <a:ext cx="3158836" cy="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 Box 32"/>
          <p:cNvSpPr txBox="1">
            <a:spLocks noChangeArrowheads="1"/>
          </p:cNvSpPr>
          <p:nvPr/>
        </p:nvSpPr>
        <p:spPr bwMode="auto">
          <a:xfrm>
            <a:off x="7416224" y="3256252"/>
            <a:ext cx="53251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/>
              <a:t>y = 0</a:t>
            </a:r>
          </a:p>
        </p:txBody>
      </p:sp>
      <p:cxnSp>
        <p:nvCxnSpPr>
          <p:cNvPr id="91" name="Straight Connector 90"/>
          <p:cNvCxnSpPr/>
          <p:nvPr/>
        </p:nvCxnSpPr>
        <p:spPr>
          <a:xfrm flipV="1">
            <a:off x="5746247" y="2396836"/>
            <a:ext cx="3390" cy="126119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2734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SHM Restoring Force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0400" y="1320801"/>
            <a:ext cx="4229100" cy="4525963"/>
          </a:xfrm>
        </p:spPr>
        <p:txBody>
          <a:bodyPr/>
          <a:lstStyle/>
          <a:p>
            <a:r>
              <a:rPr lang="en-US" sz="2000" dirty="0"/>
              <a:t>Hook’s Law</a:t>
            </a:r>
          </a:p>
          <a:p>
            <a:pPr lvl="1"/>
            <a:r>
              <a:rPr lang="en-US" sz="1800" dirty="0"/>
              <a:t>(Hook’s strong suggestion)</a:t>
            </a:r>
          </a:p>
          <a:p>
            <a:r>
              <a:rPr lang="en-US" sz="2000" dirty="0"/>
              <a:t>Force is directed toward equilibrium point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Then the acceleration is given by</a:t>
            </a:r>
          </a:p>
        </p:txBody>
      </p:sp>
      <p:grpSp>
        <p:nvGrpSpPr>
          <p:cNvPr id="2" name="Group 265"/>
          <p:cNvGrpSpPr>
            <a:grpSpLocks/>
          </p:cNvGrpSpPr>
          <p:nvPr/>
        </p:nvGrpSpPr>
        <p:grpSpPr bwMode="auto">
          <a:xfrm>
            <a:off x="7851775" y="1293814"/>
            <a:ext cx="2190750" cy="4802187"/>
            <a:chOff x="3986" y="815"/>
            <a:chExt cx="1380" cy="3025"/>
          </a:xfrm>
        </p:grpSpPr>
        <p:grpSp>
          <p:nvGrpSpPr>
            <p:cNvPr id="3" name="Group 248"/>
            <p:cNvGrpSpPr>
              <a:grpSpLocks/>
            </p:cNvGrpSpPr>
            <p:nvPr/>
          </p:nvGrpSpPr>
          <p:grpSpPr bwMode="auto">
            <a:xfrm>
              <a:off x="4113" y="2151"/>
              <a:ext cx="1189" cy="657"/>
              <a:chOff x="3801" y="2151"/>
              <a:chExt cx="1189" cy="657"/>
            </a:xfrm>
          </p:grpSpPr>
          <p:sp>
            <p:nvSpPr>
              <p:cNvPr id="157701" name="AutoShape 5"/>
              <p:cNvSpPr>
                <a:spLocks noChangeArrowheads="1"/>
              </p:cNvSpPr>
              <p:nvPr/>
            </p:nvSpPr>
            <p:spPr bwMode="auto">
              <a:xfrm>
                <a:off x="4318" y="2363"/>
                <a:ext cx="166" cy="153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157703" name="Line 7"/>
              <p:cNvSpPr>
                <a:spLocks noChangeShapeType="1"/>
              </p:cNvSpPr>
              <p:nvPr/>
            </p:nvSpPr>
            <p:spPr bwMode="auto">
              <a:xfrm>
                <a:off x="3813" y="2151"/>
                <a:ext cx="0" cy="37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04" name="Line 8"/>
              <p:cNvSpPr>
                <a:spLocks noChangeShapeType="1"/>
              </p:cNvSpPr>
              <p:nvPr/>
            </p:nvSpPr>
            <p:spPr bwMode="auto">
              <a:xfrm rot="5400000" flipV="1">
                <a:off x="4309" y="2020"/>
                <a:ext cx="0" cy="101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9"/>
              <p:cNvGrpSpPr>
                <a:grpSpLocks/>
              </p:cNvGrpSpPr>
              <p:nvPr/>
            </p:nvGrpSpPr>
            <p:grpSpPr bwMode="auto">
              <a:xfrm>
                <a:off x="3831" y="2363"/>
                <a:ext cx="481" cy="94"/>
                <a:chOff x="2248" y="1248"/>
                <a:chExt cx="648" cy="128"/>
              </a:xfrm>
            </p:grpSpPr>
            <p:grpSp>
              <p:nvGrpSpPr>
                <p:cNvPr id="5" name="Group 10"/>
                <p:cNvGrpSpPr>
                  <a:grpSpLocks/>
                </p:cNvGrpSpPr>
                <p:nvPr/>
              </p:nvGrpSpPr>
              <p:grpSpPr bwMode="auto">
                <a:xfrm>
                  <a:off x="2814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7707" name="Line 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708" name="Line 1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" name="Group 13"/>
                <p:cNvGrpSpPr>
                  <a:grpSpLocks/>
                </p:cNvGrpSpPr>
                <p:nvPr/>
              </p:nvGrpSpPr>
              <p:grpSpPr bwMode="auto">
                <a:xfrm>
                  <a:off x="2727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7710" name="Line 1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711" name="Line 1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" name="Group 16"/>
                <p:cNvGrpSpPr>
                  <a:grpSpLocks/>
                </p:cNvGrpSpPr>
                <p:nvPr/>
              </p:nvGrpSpPr>
              <p:grpSpPr bwMode="auto">
                <a:xfrm>
                  <a:off x="2649" y="1248"/>
                  <a:ext cx="83" cy="128"/>
                  <a:chOff x="704" y="1880"/>
                  <a:chExt cx="136" cy="128"/>
                </a:xfrm>
              </p:grpSpPr>
              <p:sp>
                <p:nvSpPr>
                  <p:cNvPr id="157713" name="Lin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714" name="Line 1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" name="Group 19"/>
                <p:cNvGrpSpPr>
                  <a:grpSpLocks/>
                </p:cNvGrpSpPr>
                <p:nvPr/>
              </p:nvGrpSpPr>
              <p:grpSpPr bwMode="auto">
                <a:xfrm>
                  <a:off x="2567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7716" name="Line 2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717" name="Line 2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" name="Group 22"/>
                <p:cNvGrpSpPr>
                  <a:grpSpLocks/>
                </p:cNvGrpSpPr>
                <p:nvPr/>
              </p:nvGrpSpPr>
              <p:grpSpPr bwMode="auto">
                <a:xfrm>
                  <a:off x="2490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7719" name="Line 2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720" name="Line 2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" name="Group 25"/>
                <p:cNvGrpSpPr>
                  <a:grpSpLocks/>
                </p:cNvGrpSpPr>
                <p:nvPr/>
              </p:nvGrpSpPr>
              <p:grpSpPr bwMode="auto">
                <a:xfrm>
                  <a:off x="2408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7722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723" name="Line 27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1" name="Group 28"/>
                <p:cNvGrpSpPr>
                  <a:grpSpLocks/>
                </p:cNvGrpSpPr>
                <p:nvPr/>
              </p:nvGrpSpPr>
              <p:grpSpPr bwMode="auto">
                <a:xfrm>
                  <a:off x="2330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7725" name="Line 2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726" name="Line 3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" name="Group 31"/>
                <p:cNvGrpSpPr>
                  <a:grpSpLocks/>
                </p:cNvGrpSpPr>
                <p:nvPr/>
              </p:nvGrpSpPr>
              <p:grpSpPr bwMode="auto">
                <a:xfrm>
                  <a:off x="2248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7728" name="Line 3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729" name="Line 3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57730" name="Line 34"/>
              <p:cNvSpPr>
                <a:spLocks noChangeShapeType="1"/>
              </p:cNvSpPr>
              <p:nvPr/>
            </p:nvSpPr>
            <p:spPr bwMode="auto">
              <a:xfrm>
                <a:off x="4383" y="2569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31" name="Text Box 35"/>
              <p:cNvSpPr txBox="1">
                <a:spLocks noChangeArrowheads="1"/>
              </p:cNvSpPr>
              <p:nvPr/>
            </p:nvSpPr>
            <p:spPr bwMode="auto">
              <a:xfrm>
                <a:off x="4275" y="2616"/>
                <a:ext cx="29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x=0</a:t>
                </a:r>
              </a:p>
            </p:txBody>
          </p:sp>
          <p:sp>
            <p:nvSpPr>
              <p:cNvPr id="157732" name="Line 36"/>
              <p:cNvSpPr>
                <a:spLocks noChangeShapeType="1"/>
              </p:cNvSpPr>
              <p:nvPr/>
            </p:nvSpPr>
            <p:spPr bwMode="auto">
              <a:xfrm>
                <a:off x="4716" y="2575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33" name="Text Box 37"/>
              <p:cNvSpPr txBox="1">
                <a:spLocks noChangeArrowheads="1"/>
              </p:cNvSpPr>
              <p:nvPr/>
            </p:nvSpPr>
            <p:spPr bwMode="auto">
              <a:xfrm>
                <a:off x="4625" y="2611"/>
                <a:ext cx="36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x</a:t>
                </a:r>
                <a:r>
                  <a:rPr lang="en-US" sz="1400" baseline="-25000"/>
                  <a:t>max</a:t>
                </a:r>
              </a:p>
            </p:txBody>
          </p:sp>
        </p:grpSp>
        <p:grpSp>
          <p:nvGrpSpPr>
            <p:cNvPr id="13" name="Group 249"/>
            <p:cNvGrpSpPr>
              <a:grpSpLocks/>
            </p:cNvGrpSpPr>
            <p:nvPr/>
          </p:nvGrpSpPr>
          <p:grpSpPr bwMode="auto">
            <a:xfrm>
              <a:off x="4116" y="1271"/>
              <a:ext cx="1213" cy="666"/>
              <a:chOff x="3756" y="1427"/>
              <a:chExt cx="1213" cy="666"/>
            </a:xfrm>
          </p:grpSpPr>
          <p:sp>
            <p:nvSpPr>
              <p:cNvPr id="157876" name="AutoShape 180"/>
              <p:cNvSpPr>
                <a:spLocks noChangeArrowheads="1"/>
              </p:cNvSpPr>
              <p:nvPr/>
            </p:nvSpPr>
            <p:spPr bwMode="auto">
              <a:xfrm>
                <a:off x="4593" y="1639"/>
                <a:ext cx="167" cy="154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157878" name="Line 182"/>
              <p:cNvSpPr>
                <a:spLocks noChangeShapeType="1"/>
              </p:cNvSpPr>
              <p:nvPr/>
            </p:nvSpPr>
            <p:spPr bwMode="auto">
              <a:xfrm>
                <a:off x="3768" y="1427"/>
                <a:ext cx="0" cy="37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79" name="Line 183"/>
              <p:cNvSpPr>
                <a:spLocks noChangeShapeType="1"/>
              </p:cNvSpPr>
              <p:nvPr/>
            </p:nvSpPr>
            <p:spPr bwMode="auto">
              <a:xfrm rot="5400000" flipV="1">
                <a:off x="4264" y="1296"/>
                <a:ext cx="0" cy="101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" name="Group 184"/>
              <p:cNvGrpSpPr>
                <a:grpSpLocks/>
              </p:cNvGrpSpPr>
              <p:nvPr/>
            </p:nvGrpSpPr>
            <p:grpSpPr bwMode="auto">
              <a:xfrm>
                <a:off x="4481" y="1633"/>
                <a:ext cx="101" cy="95"/>
                <a:chOff x="704" y="1880"/>
                <a:chExt cx="136" cy="128"/>
              </a:xfrm>
            </p:grpSpPr>
            <p:sp>
              <p:nvSpPr>
                <p:cNvPr id="157881" name="Line 18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882" name="Line 18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187"/>
              <p:cNvGrpSpPr>
                <a:grpSpLocks/>
              </p:cNvGrpSpPr>
              <p:nvPr/>
            </p:nvGrpSpPr>
            <p:grpSpPr bwMode="auto">
              <a:xfrm>
                <a:off x="4374" y="1633"/>
                <a:ext cx="101" cy="95"/>
                <a:chOff x="704" y="1880"/>
                <a:chExt cx="136" cy="128"/>
              </a:xfrm>
            </p:grpSpPr>
            <p:sp>
              <p:nvSpPr>
                <p:cNvPr id="157884" name="Line 18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885" name="Line 18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190"/>
              <p:cNvGrpSpPr>
                <a:grpSpLocks/>
              </p:cNvGrpSpPr>
              <p:nvPr/>
            </p:nvGrpSpPr>
            <p:grpSpPr bwMode="auto">
              <a:xfrm>
                <a:off x="4279" y="1633"/>
                <a:ext cx="101" cy="95"/>
                <a:chOff x="704" y="1880"/>
                <a:chExt cx="136" cy="128"/>
              </a:xfrm>
            </p:grpSpPr>
            <p:sp>
              <p:nvSpPr>
                <p:cNvPr id="157887" name="Line 19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888" name="Line 19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193"/>
              <p:cNvGrpSpPr>
                <a:grpSpLocks/>
              </p:cNvGrpSpPr>
              <p:nvPr/>
            </p:nvGrpSpPr>
            <p:grpSpPr bwMode="auto">
              <a:xfrm>
                <a:off x="4178" y="1633"/>
                <a:ext cx="101" cy="95"/>
                <a:chOff x="704" y="1880"/>
                <a:chExt cx="136" cy="128"/>
              </a:xfrm>
            </p:grpSpPr>
            <p:sp>
              <p:nvSpPr>
                <p:cNvPr id="157890" name="Line 19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891" name="Line 19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196"/>
              <p:cNvGrpSpPr>
                <a:grpSpLocks/>
              </p:cNvGrpSpPr>
              <p:nvPr/>
            </p:nvGrpSpPr>
            <p:grpSpPr bwMode="auto">
              <a:xfrm>
                <a:off x="4083" y="1633"/>
                <a:ext cx="101" cy="95"/>
                <a:chOff x="704" y="1880"/>
                <a:chExt cx="136" cy="128"/>
              </a:xfrm>
            </p:grpSpPr>
            <p:sp>
              <p:nvSpPr>
                <p:cNvPr id="157893" name="Line 19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894" name="Line 19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199"/>
              <p:cNvGrpSpPr>
                <a:grpSpLocks/>
              </p:cNvGrpSpPr>
              <p:nvPr/>
            </p:nvGrpSpPr>
            <p:grpSpPr bwMode="auto">
              <a:xfrm>
                <a:off x="3982" y="1633"/>
                <a:ext cx="101" cy="95"/>
                <a:chOff x="704" y="1880"/>
                <a:chExt cx="136" cy="128"/>
              </a:xfrm>
            </p:grpSpPr>
            <p:sp>
              <p:nvSpPr>
                <p:cNvPr id="157896" name="Line 20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897" name="Line 20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202"/>
              <p:cNvGrpSpPr>
                <a:grpSpLocks/>
              </p:cNvGrpSpPr>
              <p:nvPr/>
            </p:nvGrpSpPr>
            <p:grpSpPr bwMode="auto">
              <a:xfrm>
                <a:off x="3887" y="1633"/>
                <a:ext cx="101" cy="95"/>
                <a:chOff x="704" y="1880"/>
                <a:chExt cx="136" cy="128"/>
              </a:xfrm>
            </p:grpSpPr>
            <p:sp>
              <p:nvSpPr>
                <p:cNvPr id="157899" name="Line 20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900" name="Line 20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205"/>
              <p:cNvGrpSpPr>
                <a:grpSpLocks/>
              </p:cNvGrpSpPr>
              <p:nvPr/>
            </p:nvGrpSpPr>
            <p:grpSpPr bwMode="auto">
              <a:xfrm>
                <a:off x="3786" y="1633"/>
                <a:ext cx="101" cy="95"/>
                <a:chOff x="704" y="1880"/>
                <a:chExt cx="136" cy="128"/>
              </a:xfrm>
            </p:grpSpPr>
            <p:sp>
              <p:nvSpPr>
                <p:cNvPr id="157902" name="Line 20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903" name="Line 20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7904" name="Line 208"/>
              <p:cNvSpPr>
                <a:spLocks noChangeShapeType="1"/>
              </p:cNvSpPr>
              <p:nvPr/>
            </p:nvSpPr>
            <p:spPr bwMode="auto">
              <a:xfrm>
                <a:off x="4338" y="1846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05" name="Text Box 209"/>
              <p:cNvSpPr txBox="1">
                <a:spLocks noChangeArrowheads="1"/>
              </p:cNvSpPr>
              <p:nvPr/>
            </p:nvSpPr>
            <p:spPr bwMode="auto">
              <a:xfrm>
                <a:off x="4230" y="1901"/>
                <a:ext cx="29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x=0</a:t>
                </a:r>
              </a:p>
            </p:txBody>
          </p:sp>
          <p:sp>
            <p:nvSpPr>
              <p:cNvPr id="157906" name="Line 210"/>
              <p:cNvSpPr>
                <a:spLocks noChangeShapeType="1"/>
              </p:cNvSpPr>
              <p:nvPr/>
            </p:nvSpPr>
            <p:spPr bwMode="auto">
              <a:xfrm>
                <a:off x="4671" y="1852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07" name="Text Box 211"/>
              <p:cNvSpPr txBox="1">
                <a:spLocks noChangeArrowheads="1"/>
              </p:cNvSpPr>
              <p:nvPr/>
            </p:nvSpPr>
            <p:spPr bwMode="auto">
              <a:xfrm>
                <a:off x="4580" y="1895"/>
                <a:ext cx="38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x</a:t>
                </a:r>
                <a:r>
                  <a:rPr lang="en-US" sz="1400" baseline="-25000"/>
                  <a:t>max</a:t>
                </a:r>
              </a:p>
            </p:txBody>
          </p:sp>
        </p:grpSp>
        <p:grpSp>
          <p:nvGrpSpPr>
            <p:cNvPr id="22" name="Group 247"/>
            <p:cNvGrpSpPr>
              <a:grpSpLocks/>
            </p:cNvGrpSpPr>
            <p:nvPr/>
          </p:nvGrpSpPr>
          <p:grpSpPr bwMode="auto">
            <a:xfrm>
              <a:off x="4120" y="3059"/>
              <a:ext cx="1016" cy="682"/>
              <a:chOff x="3844" y="2843"/>
              <a:chExt cx="1016" cy="682"/>
            </a:xfrm>
          </p:grpSpPr>
          <p:sp>
            <p:nvSpPr>
              <p:cNvPr id="157910" name="AutoShape 214"/>
              <p:cNvSpPr>
                <a:spLocks noChangeArrowheads="1"/>
              </p:cNvSpPr>
              <p:nvPr/>
            </p:nvSpPr>
            <p:spPr bwMode="auto">
              <a:xfrm>
                <a:off x="4117" y="3038"/>
                <a:ext cx="167" cy="153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157911" name="Line 215"/>
              <p:cNvSpPr>
                <a:spLocks noChangeShapeType="1"/>
              </p:cNvSpPr>
              <p:nvPr/>
            </p:nvSpPr>
            <p:spPr bwMode="auto">
              <a:xfrm>
                <a:off x="3856" y="2843"/>
                <a:ext cx="0" cy="37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12" name="Line 216"/>
              <p:cNvSpPr>
                <a:spLocks noChangeShapeType="1"/>
              </p:cNvSpPr>
              <p:nvPr/>
            </p:nvSpPr>
            <p:spPr bwMode="auto">
              <a:xfrm rot="5400000" flipV="1">
                <a:off x="4352" y="2712"/>
                <a:ext cx="0" cy="101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3" name="Group 217"/>
              <p:cNvGrpSpPr>
                <a:grpSpLocks/>
              </p:cNvGrpSpPr>
              <p:nvPr/>
            </p:nvGrpSpPr>
            <p:grpSpPr bwMode="auto">
              <a:xfrm>
                <a:off x="3880" y="3055"/>
                <a:ext cx="225" cy="95"/>
                <a:chOff x="2248" y="1248"/>
                <a:chExt cx="648" cy="128"/>
              </a:xfrm>
            </p:grpSpPr>
            <p:grpSp>
              <p:nvGrpSpPr>
                <p:cNvPr id="24" name="Group 218"/>
                <p:cNvGrpSpPr>
                  <a:grpSpLocks/>
                </p:cNvGrpSpPr>
                <p:nvPr/>
              </p:nvGrpSpPr>
              <p:grpSpPr bwMode="auto">
                <a:xfrm>
                  <a:off x="2814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7915" name="Line 21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916" name="Line 22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5" name="Group 221"/>
                <p:cNvGrpSpPr>
                  <a:grpSpLocks/>
                </p:cNvGrpSpPr>
                <p:nvPr/>
              </p:nvGrpSpPr>
              <p:grpSpPr bwMode="auto">
                <a:xfrm>
                  <a:off x="2727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7918" name="Line 22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919" name="Line 22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6" name="Group 224"/>
                <p:cNvGrpSpPr>
                  <a:grpSpLocks/>
                </p:cNvGrpSpPr>
                <p:nvPr/>
              </p:nvGrpSpPr>
              <p:grpSpPr bwMode="auto">
                <a:xfrm>
                  <a:off x="2649" y="1248"/>
                  <a:ext cx="83" cy="128"/>
                  <a:chOff x="704" y="1880"/>
                  <a:chExt cx="136" cy="128"/>
                </a:xfrm>
              </p:grpSpPr>
              <p:sp>
                <p:nvSpPr>
                  <p:cNvPr id="157921" name="Line 22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922" name="Line 22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7" name="Group 227"/>
                <p:cNvGrpSpPr>
                  <a:grpSpLocks/>
                </p:cNvGrpSpPr>
                <p:nvPr/>
              </p:nvGrpSpPr>
              <p:grpSpPr bwMode="auto">
                <a:xfrm>
                  <a:off x="2567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7924" name="Line 22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925" name="Line 229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8" name="Group 230"/>
                <p:cNvGrpSpPr>
                  <a:grpSpLocks/>
                </p:cNvGrpSpPr>
                <p:nvPr/>
              </p:nvGrpSpPr>
              <p:grpSpPr bwMode="auto">
                <a:xfrm>
                  <a:off x="2490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7927" name="Line 23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928" name="Line 23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9" name="Group 233"/>
                <p:cNvGrpSpPr>
                  <a:grpSpLocks/>
                </p:cNvGrpSpPr>
                <p:nvPr/>
              </p:nvGrpSpPr>
              <p:grpSpPr bwMode="auto">
                <a:xfrm>
                  <a:off x="2408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7930" name="Line 23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931" name="Line 23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0" name="Group 236"/>
                <p:cNvGrpSpPr>
                  <a:grpSpLocks/>
                </p:cNvGrpSpPr>
                <p:nvPr/>
              </p:nvGrpSpPr>
              <p:grpSpPr bwMode="auto">
                <a:xfrm>
                  <a:off x="2330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7933" name="Line 2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934" name="Line 23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1" name="Group 239"/>
                <p:cNvGrpSpPr>
                  <a:grpSpLocks/>
                </p:cNvGrpSpPr>
                <p:nvPr/>
              </p:nvGrpSpPr>
              <p:grpSpPr bwMode="auto">
                <a:xfrm>
                  <a:off x="2248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7936" name="Line 24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937" name="Line 24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57938" name="Line 242"/>
              <p:cNvSpPr>
                <a:spLocks noChangeShapeType="1"/>
              </p:cNvSpPr>
              <p:nvPr/>
            </p:nvSpPr>
            <p:spPr bwMode="auto">
              <a:xfrm>
                <a:off x="4426" y="3262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39" name="Text Box 243"/>
              <p:cNvSpPr txBox="1">
                <a:spLocks noChangeArrowheads="1"/>
              </p:cNvSpPr>
              <p:nvPr/>
            </p:nvSpPr>
            <p:spPr bwMode="auto">
              <a:xfrm>
                <a:off x="4318" y="3333"/>
                <a:ext cx="29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x=0</a:t>
                </a:r>
              </a:p>
            </p:txBody>
          </p:sp>
          <p:sp>
            <p:nvSpPr>
              <p:cNvPr id="157940" name="Line 244"/>
              <p:cNvSpPr>
                <a:spLocks noChangeShapeType="1"/>
              </p:cNvSpPr>
              <p:nvPr/>
            </p:nvSpPr>
            <p:spPr bwMode="auto">
              <a:xfrm>
                <a:off x="4206" y="3262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41" name="Text Box 245"/>
              <p:cNvSpPr txBox="1">
                <a:spLocks noChangeArrowheads="1"/>
              </p:cNvSpPr>
              <p:nvPr/>
            </p:nvSpPr>
            <p:spPr bwMode="auto">
              <a:xfrm>
                <a:off x="4074" y="3315"/>
                <a:ext cx="48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-x</a:t>
                </a:r>
                <a:r>
                  <a:rPr lang="en-US" sz="1400" baseline="-25000"/>
                  <a:t>max</a:t>
                </a:r>
              </a:p>
            </p:txBody>
          </p:sp>
        </p:grpSp>
        <p:sp>
          <p:nvSpPr>
            <p:cNvPr id="157946" name="Line 250"/>
            <p:cNvSpPr>
              <a:spLocks noChangeShapeType="1"/>
            </p:cNvSpPr>
            <p:nvPr/>
          </p:nvSpPr>
          <p:spPr bwMode="auto">
            <a:xfrm>
              <a:off x="4692" y="972"/>
              <a:ext cx="0" cy="28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7947" name="Line 251"/>
            <p:cNvSpPr>
              <a:spLocks noChangeShapeType="1"/>
            </p:cNvSpPr>
            <p:nvPr/>
          </p:nvSpPr>
          <p:spPr bwMode="auto">
            <a:xfrm>
              <a:off x="4272" y="3144"/>
              <a:ext cx="264" cy="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7948" name="Text Box 252"/>
            <p:cNvSpPr txBox="1">
              <a:spLocks noChangeArrowheads="1"/>
            </p:cNvSpPr>
            <p:nvPr/>
          </p:nvSpPr>
          <p:spPr bwMode="auto">
            <a:xfrm>
              <a:off x="4286" y="2879"/>
              <a:ext cx="23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3366FF"/>
                  </a:solidFill>
                </a:rPr>
                <a:t>F</a:t>
              </a:r>
              <a:r>
                <a:rPr lang="en-US" baseline="-25000">
                  <a:solidFill>
                    <a:srgbClr val="3366FF"/>
                  </a:solidFill>
                </a:rPr>
                <a:t>s</a:t>
              </a:r>
            </a:p>
          </p:txBody>
        </p:sp>
        <p:sp>
          <p:nvSpPr>
            <p:cNvPr id="157949" name="Text Box 253"/>
            <p:cNvSpPr txBox="1">
              <a:spLocks noChangeArrowheads="1"/>
            </p:cNvSpPr>
            <p:nvPr/>
          </p:nvSpPr>
          <p:spPr bwMode="auto">
            <a:xfrm>
              <a:off x="4826" y="1127"/>
              <a:ext cx="23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3366FF"/>
                  </a:solidFill>
                </a:rPr>
                <a:t>F</a:t>
              </a:r>
              <a:r>
                <a:rPr lang="en-US" baseline="-25000">
                  <a:solidFill>
                    <a:srgbClr val="3366FF"/>
                  </a:solidFill>
                </a:rPr>
                <a:t>s</a:t>
              </a:r>
            </a:p>
          </p:txBody>
        </p:sp>
        <p:sp>
          <p:nvSpPr>
            <p:cNvPr id="157950" name="Line 254"/>
            <p:cNvSpPr>
              <a:spLocks noChangeShapeType="1"/>
            </p:cNvSpPr>
            <p:nvPr/>
          </p:nvSpPr>
          <p:spPr bwMode="auto">
            <a:xfrm flipH="1">
              <a:off x="4824" y="1392"/>
              <a:ext cx="264" cy="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7952" name="Text Box 256"/>
            <p:cNvSpPr txBox="1">
              <a:spLocks noChangeArrowheads="1"/>
            </p:cNvSpPr>
            <p:nvPr/>
          </p:nvSpPr>
          <p:spPr bwMode="auto">
            <a:xfrm>
              <a:off x="3986" y="815"/>
              <a:ext cx="13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Equilibrium Position</a:t>
              </a:r>
            </a:p>
          </p:txBody>
        </p:sp>
      </p:grpSp>
      <p:sp>
        <p:nvSpPr>
          <p:cNvPr id="157955" name="Rectangle 259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57954" name="Object 258"/>
          <p:cNvGraphicFramePr>
            <a:graphicFrameLocks noChangeAspect="1"/>
          </p:cNvGraphicFramePr>
          <p:nvPr/>
        </p:nvGraphicFramePr>
        <p:xfrm>
          <a:off x="3200400" y="2768600"/>
          <a:ext cx="13525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228501" progId="Equation.3">
                  <p:embed/>
                </p:oleObj>
              </mc:Choice>
              <mc:Fallback>
                <p:oleObj name="Equation" r:id="rId2" imgW="672808" imgH="228501" progId="Equation.3">
                  <p:embed/>
                  <p:pic>
                    <p:nvPicPr>
                      <p:cNvPr id="157954" name="Object 2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768600"/>
                        <a:ext cx="135255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956" name="Object 260"/>
          <p:cNvGraphicFramePr>
            <a:graphicFrameLocks noChangeAspect="1"/>
          </p:cNvGraphicFramePr>
          <p:nvPr/>
        </p:nvGraphicFramePr>
        <p:xfrm>
          <a:off x="3114676" y="3195639"/>
          <a:ext cx="14335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228600" progId="Equation.3">
                  <p:embed/>
                </p:oleObj>
              </mc:Choice>
              <mc:Fallback>
                <p:oleObj name="Equation" r:id="rId4" imgW="685800" imgH="228600" progId="Equation.3">
                  <p:embed/>
                  <p:pic>
                    <p:nvPicPr>
                      <p:cNvPr id="157956" name="Object 2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676" y="3195639"/>
                        <a:ext cx="1433513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958" name="Object 262"/>
          <p:cNvGraphicFramePr>
            <a:graphicFrameLocks noChangeAspect="1"/>
          </p:cNvGraphicFramePr>
          <p:nvPr/>
        </p:nvGraphicFramePr>
        <p:xfrm>
          <a:off x="3381375" y="4325938"/>
          <a:ext cx="1417638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393480" progId="Equation.3">
                  <p:embed/>
                </p:oleObj>
              </mc:Choice>
              <mc:Fallback>
                <p:oleObj name="Equation" r:id="rId6" imgW="685800" imgH="393480" progId="Equation.3">
                  <p:embed/>
                  <p:pic>
                    <p:nvPicPr>
                      <p:cNvPr id="157958" name="Object 2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5" y="4325938"/>
                        <a:ext cx="1417638" cy="817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960" name="AutoShape 264"/>
          <p:cNvSpPr>
            <a:spLocks noChangeArrowheads="1"/>
          </p:cNvSpPr>
          <p:nvPr/>
        </p:nvSpPr>
        <p:spPr bwMode="auto">
          <a:xfrm>
            <a:off x="1879600" y="5308600"/>
            <a:ext cx="5448300" cy="876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/>
              <a:t>For SHM the acceleration is proportional to the position and is oppositely directed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SHM Acceleration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66900" y="1968501"/>
            <a:ext cx="36830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The acceleration of the mass experiencing SHM is </a:t>
            </a:r>
          </a:p>
          <a:p>
            <a:pPr lvl="1">
              <a:lnSpc>
                <a:spcPct val="90000"/>
              </a:lnSpc>
            </a:pPr>
            <a:r>
              <a:rPr lang="en-US"/>
              <a:t>zero at equilibrium, </a:t>
            </a:r>
          </a:p>
          <a:p>
            <a:pPr lvl="1">
              <a:lnSpc>
                <a:spcPct val="90000"/>
              </a:lnSpc>
            </a:pPr>
            <a:r>
              <a:rPr lang="en-US"/>
              <a:t>maximum at the extreme displacement</a:t>
            </a:r>
          </a:p>
        </p:txBody>
      </p:sp>
      <p:grpSp>
        <p:nvGrpSpPr>
          <p:cNvPr id="2" name="Group 145"/>
          <p:cNvGrpSpPr>
            <a:grpSpLocks/>
          </p:cNvGrpSpPr>
          <p:nvPr/>
        </p:nvGrpSpPr>
        <p:grpSpPr bwMode="auto">
          <a:xfrm>
            <a:off x="5905500" y="2057400"/>
            <a:ext cx="4686300" cy="3282950"/>
            <a:chOff x="2496" y="1296"/>
            <a:chExt cx="2952" cy="2068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496" y="1991"/>
              <a:ext cx="1213" cy="666"/>
              <a:chOff x="176" y="1300"/>
              <a:chExt cx="1213" cy="666"/>
            </a:xfrm>
          </p:grpSpPr>
          <p:sp>
            <p:nvSpPr>
              <p:cNvPr id="159749" name="AutoShape 5"/>
              <p:cNvSpPr>
                <a:spLocks noChangeArrowheads="1"/>
              </p:cNvSpPr>
              <p:nvPr/>
            </p:nvSpPr>
            <p:spPr bwMode="auto">
              <a:xfrm>
                <a:off x="1013" y="1512"/>
                <a:ext cx="167" cy="154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159750" name="Text Box 6"/>
              <p:cNvSpPr txBox="1">
                <a:spLocks noChangeArrowheads="1"/>
              </p:cNvSpPr>
              <p:nvPr/>
            </p:nvSpPr>
            <p:spPr bwMode="auto">
              <a:xfrm>
                <a:off x="982" y="1329"/>
                <a:ext cx="351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-a</a:t>
                </a:r>
                <a:r>
                  <a:rPr lang="en-US" sz="1400" baseline="-25000"/>
                  <a:t>max</a:t>
                </a:r>
              </a:p>
            </p:txBody>
          </p:sp>
          <p:sp>
            <p:nvSpPr>
              <p:cNvPr id="159751" name="Line 7"/>
              <p:cNvSpPr>
                <a:spLocks noChangeShapeType="1"/>
              </p:cNvSpPr>
              <p:nvPr/>
            </p:nvSpPr>
            <p:spPr bwMode="auto">
              <a:xfrm>
                <a:off x="188" y="1300"/>
                <a:ext cx="0" cy="37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52" name="Line 8"/>
              <p:cNvSpPr>
                <a:spLocks noChangeShapeType="1"/>
              </p:cNvSpPr>
              <p:nvPr/>
            </p:nvSpPr>
            <p:spPr bwMode="auto">
              <a:xfrm rot="5400000" flipV="1">
                <a:off x="684" y="1169"/>
                <a:ext cx="0" cy="101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9"/>
              <p:cNvGrpSpPr>
                <a:grpSpLocks/>
              </p:cNvGrpSpPr>
              <p:nvPr/>
            </p:nvGrpSpPr>
            <p:grpSpPr bwMode="auto">
              <a:xfrm>
                <a:off x="901" y="1506"/>
                <a:ext cx="101" cy="95"/>
                <a:chOff x="704" y="1880"/>
                <a:chExt cx="136" cy="128"/>
              </a:xfrm>
            </p:grpSpPr>
            <p:sp>
              <p:nvSpPr>
                <p:cNvPr id="159754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755" name="Line 1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2"/>
              <p:cNvGrpSpPr>
                <a:grpSpLocks/>
              </p:cNvGrpSpPr>
              <p:nvPr/>
            </p:nvGrpSpPr>
            <p:grpSpPr bwMode="auto">
              <a:xfrm>
                <a:off x="794" y="1506"/>
                <a:ext cx="101" cy="95"/>
                <a:chOff x="704" y="1880"/>
                <a:chExt cx="136" cy="128"/>
              </a:xfrm>
            </p:grpSpPr>
            <p:sp>
              <p:nvSpPr>
                <p:cNvPr id="159757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758" name="Line 1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15"/>
              <p:cNvGrpSpPr>
                <a:grpSpLocks/>
              </p:cNvGrpSpPr>
              <p:nvPr/>
            </p:nvGrpSpPr>
            <p:grpSpPr bwMode="auto">
              <a:xfrm>
                <a:off x="699" y="1506"/>
                <a:ext cx="101" cy="95"/>
                <a:chOff x="704" y="1880"/>
                <a:chExt cx="136" cy="128"/>
              </a:xfrm>
            </p:grpSpPr>
            <p:sp>
              <p:nvSpPr>
                <p:cNvPr id="159760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761" name="Line 1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18"/>
              <p:cNvGrpSpPr>
                <a:grpSpLocks/>
              </p:cNvGrpSpPr>
              <p:nvPr/>
            </p:nvGrpSpPr>
            <p:grpSpPr bwMode="auto">
              <a:xfrm>
                <a:off x="598" y="1506"/>
                <a:ext cx="101" cy="95"/>
                <a:chOff x="704" y="1880"/>
                <a:chExt cx="136" cy="128"/>
              </a:xfrm>
            </p:grpSpPr>
            <p:sp>
              <p:nvSpPr>
                <p:cNvPr id="159763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764" name="Line 2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21"/>
              <p:cNvGrpSpPr>
                <a:grpSpLocks/>
              </p:cNvGrpSpPr>
              <p:nvPr/>
            </p:nvGrpSpPr>
            <p:grpSpPr bwMode="auto">
              <a:xfrm>
                <a:off x="503" y="1506"/>
                <a:ext cx="101" cy="95"/>
                <a:chOff x="704" y="1880"/>
                <a:chExt cx="136" cy="128"/>
              </a:xfrm>
            </p:grpSpPr>
            <p:sp>
              <p:nvSpPr>
                <p:cNvPr id="159766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767" name="Line 2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24"/>
              <p:cNvGrpSpPr>
                <a:grpSpLocks/>
              </p:cNvGrpSpPr>
              <p:nvPr/>
            </p:nvGrpSpPr>
            <p:grpSpPr bwMode="auto">
              <a:xfrm>
                <a:off x="402" y="1506"/>
                <a:ext cx="101" cy="95"/>
                <a:chOff x="704" y="1880"/>
                <a:chExt cx="136" cy="128"/>
              </a:xfrm>
            </p:grpSpPr>
            <p:sp>
              <p:nvSpPr>
                <p:cNvPr id="159769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770" name="Line 2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27"/>
              <p:cNvGrpSpPr>
                <a:grpSpLocks/>
              </p:cNvGrpSpPr>
              <p:nvPr/>
            </p:nvGrpSpPr>
            <p:grpSpPr bwMode="auto">
              <a:xfrm>
                <a:off x="307" y="1506"/>
                <a:ext cx="101" cy="95"/>
                <a:chOff x="704" y="1880"/>
                <a:chExt cx="136" cy="128"/>
              </a:xfrm>
            </p:grpSpPr>
            <p:sp>
              <p:nvSpPr>
                <p:cNvPr id="159772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773" name="Line 2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30"/>
              <p:cNvGrpSpPr>
                <a:grpSpLocks/>
              </p:cNvGrpSpPr>
              <p:nvPr/>
            </p:nvGrpSpPr>
            <p:grpSpPr bwMode="auto">
              <a:xfrm>
                <a:off x="206" y="1506"/>
                <a:ext cx="101" cy="95"/>
                <a:chOff x="704" y="1880"/>
                <a:chExt cx="136" cy="128"/>
              </a:xfrm>
            </p:grpSpPr>
            <p:sp>
              <p:nvSpPr>
                <p:cNvPr id="159775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776" name="Line 3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9777" name="Line 33"/>
              <p:cNvSpPr>
                <a:spLocks noChangeShapeType="1"/>
              </p:cNvSpPr>
              <p:nvPr/>
            </p:nvSpPr>
            <p:spPr bwMode="auto">
              <a:xfrm>
                <a:off x="758" y="1719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78" name="Text Box 34"/>
              <p:cNvSpPr txBox="1">
                <a:spLocks noChangeArrowheads="1"/>
              </p:cNvSpPr>
              <p:nvPr/>
            </p:nvSpPr>
            <p:spPr bwMode="auto">
              <a:xfrm>
                <a:off x="650" y="1774"/>
                <a:ext cx="29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x=0</a:t>
                </a:r>
              </a:p>
            </p:txBody>
          </p:sp>
          <p:sp>
            <p:nvSpPr>
              <p:cNvPr id="159779" name="Line 35"/>
              <p:cNvSpPr>
                <a:spLocks noChangeShapeType="1"/>
              </p:cNvSpPr>
              <p:nvPr/>
            </p:nvSpPr>
            <p:spPr bwMode="auto">
              <a:xfrm>
                <a:off x="1091" y="1725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80" name="Text Box 36"/>
              <p:cNvSpPr txBox="1">
                <a:spLocks noChangeArrowheads="1"/>
              </p:cNvSpPr>
              <p:nvPr/>
            </p:nvSpPr>
            <p:spPr bwMode="auto">
              <a:xfrm>
                <a:off x="1000" y="1768"/>
                <a:ext cx="38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x</a:t>
                </a:r>
                <a:r>
                  <a:rPr lang="en-US" sz="1400" baseline="-25000"/>
                  <a:t>max</a:t>
                </a:r>
              </a:p>
            </p:txBody>
          </p:sp>
          <p:sp>
            <p:nvSpPr>
              <p:cNvPr id="159781" name="Text Box 37"/>
              <p:cNvSpPr txBox="1">
                <a:spLocks noChangeArrowheads="1"/>
              </p:cNvSpPr>
              <p:nvPr/>
            </p:nvSpPr>
            <p:spPr bwMode="auto">
              <a:xfrm>
                <a:off x="489" y="1317"/>
                <a:ext cx="17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k</a:t>
                </a:r>
              </a:p>
            </p:txBody>
          </p:sp>
        </p:grpSp>
        <p:grpSp>
          <p:nvGrpSpPr>
            <p:cNvPr id="12" name="Group 38"/>
            <p:cNvGrpSpPr>
              <a:grpSpLocks/>
            </p:cNvGrpSpPr>
            <p:nvPr/>
          </p:nvGrpSpPr>
          <p:grpSpPr bwMode="auto">
            <a:xfrm>
              <a:off x="3357" y="1296"/>
              <a:ext cx="1189" cy="708"/>
              <a:chOff x="1037" y="605"/>
              <a:chExt cx="1189" cy="708"/>
            </a:xfrm>
          </p:grpSpPr>
          <p:sp>
            <p:nvSpPr>
              <p:cNvPr id="159783" name="AutoShape 39"/>
              <p:cNvSpPr>
                <a:spLocks noChangeArrowheads="1"/>
              </p:cNvSpPr>
              <p:nvPr/>
            </p:nvSpPr>
            <p:spPr bwMode="auto">
              <a:xfrm>
                <a:off x="1554" y="868"/>
                <a:ext cx="166" cy="153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159784" name="Text Box 40"/>
              <p:cNvSpPr txBox="1">
                <a:spLocks noChangeArrowheads="1"/>
              </p:cNvSpPr>
              <p:nvPr/>
            </p:nvSpPr>
            <p:spPr bwMode="auto">
              <a:xfrm>
                <a:off x="1540" y="605"/>
                <a:ext cx="30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a=0</a:t>
                </a:r>
                <a:endParaRPr lang="en-US" sz="1400" baseline="-25000"/>
              </a:p>
            </p:txBody>
          </p:sp>
          <p:sp>
            <p:nvSpPr>
              <p:cNvPr id="159785" name="Line 41"/>
              <p:cNvSpPr>
                <a:spLocks noChangeShapeType="1"/>
              </p:cNvSpPr>
              <p:nvPr/>
            </p:nvSpPr>
            <p:spPr bwMode="auto">
              <a:xfrm>
                <a:off x="1049" y="656"/>
                <a:ext cx="0" cy="37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86" name="Line 42"/>
              <p:cNvSpPr>
                <a:spLocks noChangeShapeType="1"/>
              </p:cNvSpPr>
              <p:nvPr/>
            </p:nvSpPr>
            <p:spPr bwMode="auto">
              <a:xfrm rot="5400000" flipV="1">
                <a:off x="1545" y="525"/>
                <a:ext cx="0" cy="101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" name="Group 43"/>
              <p:cNvGrpSpPr>
                <a:grpSpLocks/>
              </p:cNvGrpSpPr>
              <p:nvPr/>
            </p:nvGrpSpPr>
            <p:grpSpPr bwMode="auto">
              <a:xfrm>
                <a:off x="1067" y="868"/>
                <a:ext cx="481" cy="94"/>
                <a:chOff x="2248" y="1248"/>
                <a:chExt cx="648" cy="128"/>
              </a:xfrm>
            </p:grpSpPr>
            <p:grpSp>
              <p:nvGrpSpPr>
                <p:cNvPr id="14" name="Group 44"/>
                <p:cNvGrpSpPr>
                  <a:grpSpLocks/>
                </p:cNvGrpSpPr>
                <p:nvPr/>
              </p:nvGrpSpPr>
              <p:grpSpPr bwMode="auto">
                <a:xfrm>
                  <a:off x="2814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789" name="Line 4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790" name="Line 4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" name="Group 47"/>
                <p:cNvGrpSpPr>
                  <a:grpSpLocks/>
                </p:cNvGrpSpPr>
                <p:nvPr/>
              </p:nvGrpSpPr>
              <p:grpSpPr bwMode="auto">
                <a:xfrm>
                  <a:off x="2727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792" name="Line 4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793" name="Line 49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6" name="Group 50"/>
                <p:cNvGrpSpPr>
                  <a:grpSpLocks/>
                </p:cNvGrpSpPr>
                <p:nvPr/>
              </p:nvGrpSpPr>
              <p:grpSpPr bwMode="auto">
                <a:xfrm>
                  <a:off x="2649" y="1248"/>
                  <a:ext cx="83" cy="128"/>
                  <a:chOff x="704" y="1880"/>
                  <a:chExt cx="136" cy="128"/>
                </a:xfrm>
              </p:grpSpPr>
              <p:sp>
                <p:nvSpPr>
                  <p:cNvPr id="159795" name="Line 5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796" name="Line 5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7" name="Group 53"/>
                <p:cNvGrpSpPr>
                  <a:grpSpLocks/>
                </p:cNvGrpSpPr>
                <p:nvPr/>
              </p:nvGrpSpPr>
              <p:grpSpPr bwMode="auto">
                <a:xfrm>
                  <a:off x="2567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798" name="Line 5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799" name="Line 5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8" name="Group 56"/>
                <p:cNvGrpSpPr>
                  <a:grpSpLocks/>
                </p:cNvGrpSpPr>
                <p:nvPr/>
              </p:nvGrpSpPr>
              <p:grpSpPr bwMode="auto">
                <a:xfrm>
                  <a:off x="2490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01" name="Line 5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02" name="Line 5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" name="Group 59"/>
                <p:cNvGrpSpPr>
                  <a:grpSpLocks/>
                </p:cNvGrpSpPr>
                <p:nvPr/>
              </p:nvGrpSpPr>
              <p:grpSpPr bwMode="auto">
                <a:xfrm>
                  <a:off x="2408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04" name="Line 6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05" name="Line 6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0" name="Group 62"/>
                <p:cNvGrpSpPr>
                  <a:grpSpLocks/>
                </p:cNvGrpSpPr>
                <p:nvPr/>
              </p:nvGrpSpPr>
              <p:grpSpPr bwMode="auto">
                <a:xfrm>
                  <a:off x="2330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07" name="Line 6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08" name="Line 6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1" name="Group 65"/>
                <p:cNvGrpSpPr>
                  <a:grpSpLocks/>
                </p:cNvGrpSpPr>
                <p:nvPr/>
              </p:nvGrpSpPr>
              <p:grpSpPr bwMode="auto">
                <a:xfrm>
                  <a:off x="2248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10" name="Line 6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11" name="Line 67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59812" name="Line 68"/>
              <p:cNvSpPr>
                <a:spLocks noChangeShapeType="1"/>
              </p:cNvSpPr>
              <p:nvPr/>
            </p:nvSpPr>
            <p:spPr bwMode="auto">
              <a:xfrm>
                <a:off x="1619" y="1074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13" name="Text Box 69"/>
              <p:cNvSpPr txBox="1">
                <a:spLocks noChangeArrowheads="1"/>
              </p:cNvSpPr>
              <p:nvPr/>
            </p:nvSpPr>
            <p:spPr bwMode="auto">
              <a:xfrm>
                <a:off x="1511" y="1121"/>
                <a:ext cx="29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x=0</a:t>
                </a:r>
              </a:p>
            </p:txBody>
          </p:sp>
          <p:sp>
            <p:nvSpPr>
              <p:cNvPr id="159814" name="Line 70"/>
              <p:cNvSpPr>
                <a:spLocks noChangeShapeType="1"/>
              </p:cNvSpPr>
              <p:nvPr/>
            </p:nvSpPr>
            <p:spPr bwMode="auto">
              <a:xfrm>
                <a:off x="1952" y="1080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15" name="Text Box 71"/>
              <p:cNvSpPr txBox="1">
                <a:spLocks noChangeArrowheads="1"/>
              </p:cNvSpPr>
              <p:nvPr/>
            </p:nvSpPr>
            <p:spPr bwMode="auto">
              <a:xfrm>
                <a:off x="1861" y="1116"/>
                <a:ext cx="36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x</a:t>
                </a:r>
                <a:r>
                  <a:rPr lang="en-US" sz="1400" baseline="-25000"/>
                  <a:t>max</a:t>
                </a:r>
              </a:p>
            </p:txBody>
          </p:sp>
          <p:sp>
            <p:nvSpPr>
              <p:cNvPr id="159816" name="Line 72"/>
              <p:cNvSpPr>
                <a:spLocks noChangeShapeType="1"/>
              </p:cNvSpPr>
              <p:nvPr/>
            </p:nvSpPr>
            <p:spPr bwMode="auto">
              <a:xfrm flipH="1">
                <a:off x="1500" y="809"/>
                <a:ext cx="28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73"/>
            <p:cNvGrpSpPr>
              <a:grpSpLocks/>
            </p:cNvGrpSpPr>
            <p:nvPr/>
          </p:nvGrpSpPr>
          <p:grpSpPr bwMode="auto">
            <a:xfrm>
              <a:off x="4432" y="1991"/>
              <a:ext cx="1016" cy="682"/>
              <a:chOff x="2112" y="1300"/>
              <a:chExt cx="1016" cy="682"/>
            </a:xfrm>
          </p:grpSpPr>
          <p:sp>
            <p:nvSpPr>
              <p:cNvPr id="159818" name="AutoShape 74"/>
              <p:cNvSpPr>
                <a:spLocks noChangeArrowheads="1"/>
              </p:cNvSpPr>
              <p:nvPr/>
            </p:nvSpPr>
            <p:spPr bwMode="auto">
              <a:xfrm>
                <a:off x="2385" y="1495"/>
                <a:ext cx="167" cy="153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159819" name="Line 75"/>
              <p:cNvSpPr>
                <a:spLocks noChangeShapeType="1"/>
              </p:cNvSpPr>
              <p:nvPr/>
            </p:nvSpPr>
            <p:spPr bwMode="auto">
              <a:xfrm>
                <a:off x="2124" y="1300"/>
                <a:ext cx="0" cy="37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20" name="Line 76"/>
              <p:cNvSpPr>
                <a:spLocks noChangeShapeType="1"/>
              </p:cNvSpPr>
              <p:nvPr/>
            </p:nvSpPr>
            <p:spPr bwMode="auto">
              <a:xfrm rot="5400000" flipV="1">
                <a:off x="2620" y="1169"/>
                <a:ext cx="0" cy="101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3" name="Group 77"/>
              <p:cNvGrpSpPr>
                <a:grpSpLocks/>
              </p:cNvGrpSpPr>
              <p:nvPr/>
            </p:nvGrpSpPr>
            <p:grpSpPr bwMode="auto">
              <a:xfrm>
                <a:off x="2148" y="1512"/>
                <a:ext cx="225" cy="95"/>
                <a:chOff x="2248" y="1248"/>
                <a:chExt cx="648" cy="128"/>
              </a:xfrm>
            </p:grpSpPr>
            <p:grpSp>
              <p:nvGrpSpPr>
                <p:cNvPr id="24" name="Group 78"/>
                <p:cNvGrpSpPr>
                  <a:grpSpLocks/>
                </p:cNvGrpSpPr>
                <p:nvPr/>
              </p:nvGrpSpPr>
              <p:grpSpPr bwMode="auto">
                <a:xfrm>
                  <a:off x="2814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23" name="Line 7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24" name="Line 8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5" name="Group 81"/>
                <p:cNvGrpSpPr>
                  <a:grpSpLocks/>
                </p:cNvGrpSpPr>
                <p:nvPr/>
              </p:nvGrpSpPr>
              <p:grpSpPr bwMode="auto">
                <a:xfrm>
                  <a:off x="2727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26" name="Line 8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27" name="Line 8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6" name="Group 84"/>
                <p:cNvGrpSpPr>
                  <a:grpSpLocks/>
                </p:cNvGrpSpPr>
                <p:nvPr/>
              </p:nvGrpSpPr>
              <p:grpSpPr bwMode="auto">
                <a:xfrm>
                  <a:off x="2649" y="1248"/>
                  <a:ext cx="83" cy="128"/>
                  <a:chOff x="704" y="1880"/>
                  <a:chExt cx="136" cy="128"/>
                </a:xfrm>
              </p:grpSpPr>
              <p:sp>
                <p:nvSpPr>
                  <p:cNvPr id="159829" name="Line 8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30" name="Line 8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7" name="Group 87"/>
                <p:cNvGrpSpPr>
                  <a:grpSpLocks/>
                </p:cNvGrpSpPr>
                <p:nvPr/>
              </p:nvGrpSpPr>
              <p:grpSpPr bwMode="auto">
                <a:xfrm>
                  <a:off x="2567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32" name="Line 8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33" name="Line 89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8" name="Group 90"/>
                <p:cNvGrpSpPr>
                  <a:grpSpLocks/>
                </p:cNvGrpSpPr>
                <p:nvPr/>
              </p:nvGrpSpPr>
              <p:grpSpPr bwMode="auto">
                <a:xfrm>
                  <a:off x="2490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35" name="Line 9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36" name="Line 9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9" name="Group 93"/>
                <p:cNvGrpSpPr>
                  <a:grpSpLocks/>
                </p:cNvGrpSpPr>
                <p:nvPr/>
              </p:nvGrpSpPr>
              <p:grpSpPr bwMode="auto">
                <a:xfrm>
                  <a:off x="2408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38" name="Line 9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39" name="Line 9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0" name="Group 96"/>
                <p:cNvGrpSpPr>
                  <a:grpSpLocks/>
                </p:cNvGrpSpPr>
                <p:nvPr/>
              </p:nvGrpSpPr>
              <p:grpSpPr bwMode="auto">
                <a:xfrm>
                  <a:off x="2330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41" name="Line 9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42" name="Line 9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1" name="Group 99"/>
                <p:cNvGrpSpPr>
                  <a:grpSpLocks/>
                </p:cNvGrpSpPr>
                <p:nvPr/>
              </p:nvGrpSpPr>
              <p:grpSpPr bwMode="auto">
                <a:xfrm>
                  <a:off x="2248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44" name="Line 10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45" name="Line 10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59846" name="Line 102"/>
              <p:cNvSpPr>
                <a:spLocks noChangeShapeType="1"/>
              </p:cNvSpPr>
              <p:nvPr/>
            </p:nvSpPr>
            <p:spPr bwMode="auto">
              <a:xfrm>
                <a:off x="2694" y="1719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47" name="Text Box 103"/>
              <p:cNvSpPr txBox="1">
                <a:spLocks noChangeArrowheads="1"/>
              </p:cNvSpPr>
              <p:nvPr/>
            </p:nvSpPr>
            <p:spPr bwMode="auto">
              <a:xfrm>
                <a:off x="2586" y="1790"/>
                <a:ext cx="29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x=0</a:t>
                </a:r>
              </a:p>
            </p:txBody>
          </p:sp>
          <p:sp>
            <p:nvSpPr>
              <p:cNvPr id="159848" name="Line 104"/>
              <p:cNvSpPr>
                <a:spLocks noChangeShapeType="1"/>
              </p:cNvSpPr>
              <p:nvPr/>
            </p:nvSpPr>
            <p:spPr bwMode="auto">
              <a:xfrm>
                <a:off x="2474" y="1719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49" name="Text Box 105"/>
              <p:cNvSpPr txBox="1">
                <a:spLocks noChangeArrowheads="1"/>
              </p:cNvSpPr>
              <p:nvPr/>
            </p:nvSpPr>
            <p:spPr bwMode="auto">
              <a:xfrm>
                <a:off x="2342" y="1772"/>
                <a:ext cx="48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-x</a:t>
                </a:r>
                <a:r>
                  <a:rPr lang="en-US" sz="1400" baseline="-25000"/>
                  <a:t>max</a:t>
                </a:r>
              </a:p>
            </p:txBody>
          </p:sp>
          <p:sp>
            <p:nvSpPr>
              <p:cNvPr id="159850" name="Text Box 106"/>
              <p:cNvSpPr txBox="1">
                <a:spLocks noChangeArrowheads="1"/>
              </p:cNvSpPr>
              <p:nvPr/>
            </p:nvSpPr>
            <p:spPr bwMode="auto">
              <a:xfrm>
                <a:off x="2342" y="1311"/>
                <a:ext cx="314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a</a:t>
                </a:r>
                <a:r>
                  <a:rPr lang="en-US" sz="1400" baseline="-25000"/>
                  <a:t>max</a:t>
                </a:r>
              </a:p>
            </p:txBody>
          </p:sp>
        </p:grpSp>
        <p:grpSp>
          <p:nvGrpSpPr>
            <p:cNvPr id="159744" name="Group 107"/>
            <p:cNvGrpSpPr>
              <a:grpSpLocks/>
            </p:cNvGrpSpPr>
            <p:nvPr/>
          </p:nvGrpSpPr>
          <p:grpSpPr bwMode="auto">
            <a:xfrm>
              <a:off x="3349" y="2632"/>
              <a:ext cx="1133" cy="732"/>
              <a:chOff x="1029" y="1941"/>
              <a:chExt cx="1133" cy="732"/>
            </a:xfrm>
          </p:grpSpPr>
          <p:sp>
            <p:nvSpPr>
              <p:cNvPr id="159852" name="AutoShape 108"/>
              <p:cNvSpPr>
                <a:spLocks noChangeArrowheads="1"/>
              </p:cNvSpPr>
              <p:nvPr/>
            </p:nvSpPr>
            <p:spPr bwMode="auto">
              <a:xfrm>
                <a:off x="1546" y="2220"/>
                <a:ext cx="166" cy="153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159853" name="Text Box 109"/>
              <p:cNvSpPr txBox="1">
                <a:spLocks noChangeArrowheads="1"/>
              </p:cNvSpPr>
              <p:nvPr/>
            </p:nvSpPr>
            <p:spPr bwMode="auto">
              <a:xfrm>
                <a:off x="1532" y="1941"/>
                <a:ext cx="30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a=0</a:t>
                </a:r>
                <a:endParaRPr lang="en-US" sz="1400" baseline="-25000"/>
              </a:p>
            </p:txBody>
          </p:sp>
          <p:sp>
            <p:nvSpPr>
              <p:cNvPr id="159854" name="Line 110"/>
              <p:cNvSpPr>
                <a:spLocks noChangeShapeType="1"/>
              </p:cNvSpPr>
              <p:nvPr/>
            </p:nvSpPr>
            <p:spPr bwMode="auto">
              <a:xfrm>
                <a:off x="1041" y="2008"/>
                <a:ext cx="0" cy="37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55" name="Line 111"/>
              <p:cNvSpPr>
                <a:spLocks noChangeShapeType="1"/>
              </p:cNvSpPr>
              <p:nvPr/>
            </p:nvSpPr>
            <p:spPr bwMode="auto">
              <a:xfrm rot="5400000" flipV="1">
                <a:off x="1537" y="1877"/>
                <a:ext cx="0" cy="101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59745" name="Group 112"/>
              <p:cNvGrpSpPr>
                <a:grpSpLocks/>
              </p:cNvGrpSpPr>
              <p:nvPr/>
            </p:nvGrpSpPr>
            <p:grpSpPr bwMode="auto">
              <a:xfrm>
                <a:off x="1059" y="2220"/>
                <a:ext cx="481" cy="94"/>
                <a:chOff x="2248" y="1248"/>
                <a:chExt cx="648" cy="128"/>
              </a:xfrm>
            </p:grpSpPr>
            <p:grpSp>
              <p:nvGrpSpPr>
                <p:cNvPr id="159748" name="Group 113"/>
                <p:cNvGrpSpPr>
                  <a:grpSpLocks/>
                </p:cNvGrpSpPr>
                <p:nvPr/>
              </p:nvGrpSpPr>
              <p:grpSpPr bwMode="auto">
                <a:xfrm>
                  <a:off x="2814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58" name="Line 11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59" name="Line 11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9753" name="Group 116"/>
                <p:cNvGrpSpPr>
                  <a:grpSpLocks/>
                </p:cNvGrpSpPr>
                <p:nvPr/>
              </p:nvGrpSpPr>
              <p:grpSpPr bwMode="auto">
                <a:xfrm>
                  <a:off x="2727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61" name="Line 1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62" name="Line 11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9756" name="Group 119"/>
                <p:cNvGrpSpPr>
                  <a:grpSpLocks/>
                </p:cNvGrpSpPr>
                <p:nvPr/>
              </p:nvGrpSpPr>
              <p:grpSpPr bwMode="auto">
                <a:xfrm>
                  <a:off x="2649" y="1248"/>
                  <a:ext cx="83" cy="128"/>
                  <a:chOff x="704" y="1880"/>
                  <a:chExt cx="136" cy="128"/>
                </a:xfrm>
              </p:grpSpPr>
              <p:sp>
                <p:nvSpPr>
                  <p:cNvPr id="159864" name="Line 12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65" name="Line 12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9759" name="Group 122"/>
                <p:cNvGrpSpPr>
                  <a:grpSpLocks/>
                </p:cNvGrpSpPr>
                <p:nvPr/>
              </p:nvGrpSpPr>
              <p:grpSpPr bwMode="auto">
                <a:xfrm>
                  <a:off x="2567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67" name="Line 12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68" name="Line 12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9762" name="Group 125"/>
                <p:cNvGrpSpPr>
                  <a:grpSpLocks/>
                </p:cNvGrpSpPr>
                <p:nvPr/>
              </p:nvGrpSpPr>
              <p:grpSpPr bwMode="auto">
                <a:xfrm>
                  <a:off x="2490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70" name="Line 1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71" name="Line 127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9765" name="Group 128"/>
                <p:cNvGrpSpPr>
                  <a:grpSpLocks/>
                </p:cNvGrpSpPr>
                <p:nvPr/>
              </p:nvGrpSpPr>
              <p:grpSpPr bwMode="auto">
                <a:xfrm>
                  <a:off x="2408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73" name="Line 12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74" name="Line 13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9768" name="Group 131"/>
                <p:cNvGrpSpPr>
                  <a:grpSpLocks/>
                </p:cNvGrpSpPr>
                <p:nvPr/>
              </p:nvGrpSpPr>
              <p:grpSpPr bwMode="auto">
                <a:xfrm>
                  <a:off x="2330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76" name="Line 13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77" name="Line 13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9771" name="Group 134"/>
                <p:cNvGrpSpPr>
                  <a:grpSpLocks/>
                </p:cNvGrpSpPr>
                <p:nvPr/>
              </p:nvGrpSpPr>
              <p:grpSpPr bwMode="auto">
                <a:xfrm>
                  <a:off x="2248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59879" name="Line 1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880" name="Line 13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59881" name="Line 137"/>
              <p:cNvSpPr>
                <a:spLocks noChangeShapeType="1"/>
              </p:cNvSpPr>
              <p:nvPr/>
            </p:nvSpPr>
            <p:spPr bwMode="auto">
              <a:xfrm>
                <a:off x="1611" y="2426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82" name="Text Box 138"/>
              <p:cNvSpPr txBox="1">
                <a:spLocks noChangeArrowheads="1"/>
              </p:cNvSpPr>
              <p:nvPr/>
            </p:nvSpPr>
            <p:spPr bwMode="auto">
              <a:xfrm>
                <a:off x="1503" y="2481"/>
                <a:ext cx="29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x=0</a:t>
                </a:r>
              </a:p>
            </p:txBody>
          </p:sp>
          <p:sp>
            <p:nvSpPr>
              <p:cNvPr id="159883" name="Line 139"/>
              <p:cNvSpPr>
                <a:spLocks noChangeShapeType="1"/>
              </p:cNvSpPr>
              <p:nvPr/>
            </p:nvSpPr>
            <p:spPr bwMode="auto">
              <a:xfrm>
                <a:off x="1944" y="2432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84" name="Text Box 140"/>
              <p:cNvSpPr txBox="1">
                <a:spLocks noChangeArrowheads="1"/>
              </p:cNvSpPr>
              <p:nvPr/>
            </p:nvSpPr>
            <p:spPr bwMode="auto">
              <a:xfrm>
                <a:off x="1853" y="2468"/>
                <a:ext cx="30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x</a:t>
                </a:r>
                <a:r>
                  <a:rPr lang="en-US" sz="1400" baseline="-25000"/>
                  <a:t>max</a:t>
                </a:r>
              </a:p>
            </p:txBody>
          </p:sp>
          <p:sp>
            <p:nvSpPr>
              <p:cNvPr id="159885" name="Line 141"/>
              <p:cNvSpPr>
                <a:spLocks noChangeShapeType="1"/>
              </p:cNvSpPr>
              <p:nvPr/>
            </p:nvSpPr>
            <p:spPr bwMode="auto">
              <a:xfrm>
                <a:off x="1492" y="2161"/>
                <a:ext cx="28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886" name="Arc 142"/>
            <p:cNvSpPr>
              <a:spLocks/>
            </p:cNvSpPr>
            <p:nvPr/>
          </p:nvSpPr>
          <p:spPr bwMode="auto">
            <a:xfrm>
              <a:off x="3631" y="2030"/>
              <a:ext cx="505" cy="595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143 w 43200"/>
                <a:gd name="T1" fmla="*/ 24077 h 43200"/>
                <a:gd name="T2" fmla="*/ 4287 w 43200"/>
                <a:gd name="T3" fmla="*/ 34515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142" y="24077"/>
                  </a:moveTo>
                  <a:cubicBezTo>
                    <a:pt x="47" y="23254"/>
                    <a:pt x="0" y="2242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14781" y="43200"/>
                    <a:pt x="8363" y="39980"/>
                    <a:pt x="4286" y="34515"/>
                  </a:cubicBezTo>
                </a:path>
                <a:path w="43200" h="43200" stroke="0" extrusionOk="0">
                  <a:moveTo>
                    <a:pt x="142" y="24077"/>
                  </a:moveTo>
                  <a:cubicBezTo>
                    <a:pt x="47" y="23254"/>
                    <a:pt x="0" y="2242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14781" y="43200"/>
                    <a:pt x="8363" y="39980"/>
                    <a:pt x="4286" y="34515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arrow" w="lg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59887" name="Object 143"/>
          <p:cNvGraphicFramePr>
            <a:graphicFrameLocks noGrp="1" noChangeAspect="1"/>
          </p:cNvGraphicFramePr>
          <p:nvPr>
            <p:ph sz="half" idx="2"/>
          </p:nvPr>
        </p:nvGraphicFramePr>
        <p:xfrm>
          <a:off x="3187701" y="1301751"/>
          <a:ext cx="111442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393480" progId="Equation.3">
                  <p:embed/>
                </p:oleObj>
              </mc:Choice>
              <mc:Fallback>
                <p:oleObj name="Equation" r:id="rId2" imgW="685800" imgH="393480" progId="Equation.3">
                  <p:embed/>
                  <p:pic>
                    <p:nvPicPr>
                      <p:cNvPr id="159887" name="Object 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1" y="1301751"/>
                        <a:ext cx="1114425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Start with a horizontal block-spring System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000"/>
              <a:t>Recall the relationships between position, velocity, and acceleration</a:t>
            </a:r>
          </a:p>
          <a:p>
            <a:endParaRPr lang="en-US" sz="2000"/>
          </a:p>
          <a:p>
            <a:endParaRPr lang="en-US" sz="2000"/>
          </a:p>
          <a:p>
            <a:r>
              <a:rPr lang="en-US" sz="2000"/>
              <a:t>Then in the x-direction</a:t>
            </a:r>
          </a:p>
          <a:p>
            <a:endParaRPr lang="en-US" sz="2000"/>
          </a:p>
          <a:p>
            <a:r>
              <a:rPr lang="en-US" sz="2000"/>
              <a:t>Ignore all but the x direction</a:t>
            </a:r>
          </a:p>
        </p:txBody>
      </p:sp>
      <p:sp>
        <p:nvSpPr>
          <p:cNvPr id="178217" name="Rectangle 41"/>
          <p:cNvSpPr>
            <a:spLocks noGrp="1" noChangeArrowheads="1"/>
          </p:cNvSpPr>
          <p:nvPr>
            <p:ph type="body" sz="half" idx="2"/>
          </p:nvPr>
        </p:nvSpPr>
        <p:spPr>
          <a:xfrm>
            <a:off x="6108700" y="2616201"/>
            <a:ext cx="4038600" cy="3560763"/>
          </a:xfrm>
        </p:spPr>
        <p:txBody>
          <a:bodyPr/>
          <a:lstStyle/>
          <a:p>
            <a:r>
              <a:rPr lang="en-US" sz="1800"/>
              <a:t>We define a convenient quantity</a:t>
            </a:r>
          </a:p>
          <a:p>
            <a:endParaRPr lang="en-US" sz="1800"/>
          </a:p>
          <a:p>
            <a:endParaRPr lang="en-US" sz="1800"/>
          </a:p>
          <a:p>
            <a:r>
              <a:rPr lang="en-US" sz="1800"/>
              <a:t>And we have</a:t>
            </a:r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r>
              <a:rPr lang="en-US" sz="1800"/>
              <a:t>Which is a lovely differential equation!</a:t>
            </a:r>
          </a:p>
          <a:p>
            <a:endParaRPr lang="en-US" sz="180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358189" y="1331914"/>
            <a:ext cx="1887537" cy="1042987"/>
            <a:chOff x="3801" y="2151"/>
            <a:chExt cx="1189" cy="657"/>
          </a:xfrm>
        </p:grpSpPr>
        <p:sp>
          <p:nvSpPr>
            <p:cNvPr id="178181" name="AutoShape 5"/>
            <p:cNvSpPr>
              <a:spLocks noChangeArrowheads="1"/>
            </p:cNvSpPr>
            <p:nvPr/>
          </p:nvSpPr>
          <p:spPr bwMode="auto">
            <a:xfrm>
              <a:off x="4318" y="2363"/>
              <a:ext cx="166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78182" name="Line 6"/>
            <p:cNvSpPr>
              <a:spLocks noChangeShapeType="1"/>
            </p:cNvSpPr>
            <p:nvPr/>
          </p:nvSpPr>
          <p:spPr bwMode="auto">
            <a:xfrm>
              <a:off x="3813" y="2151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8183" name="Line 7"/>
            <p:cNvSpPr>
              <a:spLocks noChangeShapeType="1"/>
            </p:cNvSpPr>
            <p:nvPr/>
          </p:nvSpPr>
          <p:spPr bwMode="auto">
            <a:xfrm rot="5400000" flipV="1">
              <a:off x="4309" y="2020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3831" y="2363"/>
              <a:ext cx="481" cy="94"/>
              <a:chOff x="2248" y="1248"/>
              <a:chExt cx="648" cy="128"/>
            </a:xfrm>
          </p:grpSpPr>
          <p:grpSp>
            <p:nvGrpSpPr>
              <p:cNvPr id="4" name="Group 9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178186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187" name="Line 1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2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178189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190" name="Line 1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15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178192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193" name="Line 1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18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178195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196" name="Line 2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21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178198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199" name="Line 2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24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178201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202" name="Line 2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27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178204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205" name="Line 2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30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178207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208" name="Line 3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78209" name="Line 33"/>
            <p:cNvSpPr>
              <a:spLocks noChangeShapeType="1"/>
            </p:cNvSpPr>
            <p:nvPr/>
          </p:nvSpPr>
          <p:spPr bwMode="auto">
            <a:xfrm>
              <a:off x="4383" y="256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8210" name="Text Box 34"/>
            <p:cNvSpPr txBox="1">
              <a:spLocks noChangeArrowheads="1"/>
            </p:cNvSpPr>
            <p:nvPr/>
          </p:nvSpPr>
          <p:spPr bwMode="auto">
            <a:xfrm>
              <a:off x="4275" y="2616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178211" name="Line 35"/>
            <p:cNvSpPr>
              <a:spLocks noChangeShapeType="1"/>
            </p:cNvSpPr>
            <p:nvPr/>
          </p:nvSpPr>
          <p:spPr bwMode="auto">
            <a:xfrm>
              <a:off x="4716" y="2575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8212" name="Text Box 36"/>
            <p:cNvSpPr txBox="1">
              <a:spLocks noChangeArrowheads="1"/>
            </p:cNvSpPr>
            <p:nvPr/>
          </p:nvSpPr>
          <p:spPr bwMode="auto">
            <a:xfrm>
              <a:off x="4625" y="2611"/>
              <a:ext cx="36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</p:grpSp>
      <p:graphicFrame>
        <p:nvGraphicFramePr>
          <p:cNvPr id="178214" name="Object 38"/>
          <p:cNvGraphicFramePr>
            <a:graphicFrameLocks noChangeAspect="1"/>
          </p:cNvGraphicFramePr>
          <p:nvPr/>
        </p:nvGraphicFramePr>
        <p:xfrm>
          <a:off x="3276601" y="2609850"/>
          <a:ext cx="14128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80" imgH="419040" progId="Equation.3">
                  <p:embed/>
                </p:oleObj>
              </mc:Choice>
              <mc:Fallback>
                <p:oleObj name="Equation" r:id="rId2" imgW="863280" imgH="419040" progId="Equation.3">
                  <p:embed/>
                  <p:pic>
                    <p:nvPicPr>
                      <p:cNvPr id="178214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2609850"/>
                        <a:ext cx="141287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15" name="Object 39"/>
          <p:cNvGraphicFramePr>
            <a:graphicFrameLocks noChangeAspect="1"/>
          </p:cNvGraphicFramePr>
          <p:nvPr/>
        </p:nvGraphicFramePr>
        <p:xfrm>
          <a:off x="3136900" y="3670300"/>
          <a:ext cx="16081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5160" imgH="228600" progId="Equation.3">
                  <p:embed/>
                </p:oleObj>
              </mc:Choice>
              <mc:Fallback>
                <p:oleObj name="Equation" r:id="rId4" imgW="965160" imgH="228600" progId="Equation.3">
                  <p:embed/>
                  <p:pic>
                    <p:nvPicPr>
                      <p:cNvPr id="178215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3670300"/>
                        <a:ext cx="1608138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16" name="Object 40"/>
          <p:cNvGraphicFramePr>
            <a:graphicFrameLocks noChangeAspect="1"/>
          </p:cNvGraphicFramePr>
          <p:nvPr/>
        </p:nvGraphicFramePr>
        <p:xfrm>
          <a:off x="2819400" y="5302250"/>
          <a:ext cx="135413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12520" imgH="419040" progId="Equation.3">
                  <p:embed/>
                </p:oleObj>
              </mc:Choice>
              <mc:Fallback>
                <p:oleObj name="Equation" r:id="rId6" imgW="812520" imgH="419040" progId="Equation.3">
                  <p:embed/>
                  <p:pic>
                    <p:nvPicPr>
                      <p:cNvPr id="178216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302250"/>
                        <a:ext cx="1354138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219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78218" name="Object 42"/>
          <p:cNvGraphicFramePr>
            <a:graphicFrameLocks noChangeAspect="1"/>
          </p:cNvGraphicFramePr>
          <p:nvPr/>
        </p:nvGraphicFramePr>
        <p:xfrm>
          <a:off x="7797800" y="2935289"/>
          <a:ext cx="788988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960" imgH="393480" progId="Equation.3">
                  <p:embed/>
                </p:oleObj>
              </mc:Choice>
              <mc:Fallback>
                <p:oleObj name="Equation" r:id="rId8" imgW="507960" imgH="393480" progId="Equation.3">
                  <p:embed/>
                  <p:pic>
                    <p:nvPicPr>
                      <p:cNvPr id="178218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7800" y="2935289"/>
                        <a:ext cx="788988" cy="61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20" name="Object 44"/>
          <p:cNvGraphicFramePr>
            <a:graphicFrameLocks noChangeAspect="1"/>
          </p:cNvGraphicFramePr>
          <p:nvPr/>
        </p:nvGraphicFramePr>
        <p:xfrm>
          <a:off x="7335839" y="4108450"/>
          <a:ext cx="13112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87320" imgH="419040" progId="Equation.3">
                  <p:embed/>
                </p:oleObj>
              </mc:Choice>
              <mc:Fallback>
                <p:oleObj name="Equation" r:id="rId10" imgW="787320" imgH="419040" progId="Equation.3">
                  <p:embed/>
                  <p:pic>
                    <p:nvPicPr>
                      <p:cNvPr id="17822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5839" y="4108450"/>
                        <a:ext cx="1311275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" name="Picture 8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692900" y="4445000"/>
            <a:ext cx="2724150" cy="177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Solutions to the DEQ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8613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sz="2000"/>
              <a:t>The differential equation needs a solution that is the negative of its own second derivative</a:t>
            </a:r>
          </a:p>
          <a:p>
            <a:endParaRPr lang="en-US" sz="2000"/>
          </a:p>
          <a:p>
            <a:endParaRPr lang="en-US" sz="2000"/>
          </a:p>
          <a:p>
            <a:r>
              <a:rPr lang="en-US" sz="2000"/>
              <a:t>From calculus we know a few of these</a:t>
            </a:r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r>
              <a:rPr lang="en-US" sz="2000"/>
              <a:t>Take the cosine function</a:t>
            </a:r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r>
              <a:rPr lang="en-US" sz="2000"/>
              <a:t>These might be solutions, but we need to find A, </a:t>
            </a:r>
            <a:r>
              <a:rPr lang="en-US" sz="2000">
                <a:sym typeface="Symbol" pitchFamily="18" charset="2"/>
              </a:rPr>
              <a:t>, </a:t>
            </a:r>
            <a:endParaRPr lang="en-US" sz="2000"/>
          </a:p>
        </p:txBody>
      </p:sp>
      <p:sp>
        <p:nvSpPr>
          <p:cNvPr id="183301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83300" name="Object 4"/>
          <p:cNvGraphicFramePr>
            <a:graphicFrameLocks noChangeAspect="1"/>
          </p:cNvGraphicFramePr>
          <p:nvPr/>
        </p:nvGraphicFramePr>
        <p:xfrm>
          <a:off x="5210176" y="3629025"/>
          <a:ext cx="154146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8960" imgH="431640" progId="Equation.3">
                  <p:embed/>
                </p:oleObj>
              </mc:Choice>
              <mc:Fallback>
                <p:oleObj name="Equation" r:id="rId2" imgW="1218960" imgH="431640" progId="Equation.3">
                  <p:embed/>
                  <p:pic>
                    <p:nvPicPr>
                      <p:cNvPr id="1833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0176" y="3629025"/>
                        <a:ext cx="1541463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2" name="Object 6"/>
          <p:cNvGraphicFramePr>
            <a:graphicFrameLocks noChangeAspect="1"/>
          </p:cNvGraphicFramePr>
          <p:nvPr/>
        </p:nvGraphicFramePr>
        <p:xfrm>
          <a:off x="5334001" y="2133600"/>
          <a:ext cx="13112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87320" imgH="419040" progId="Equation.3">
                  <p:embed/>
                </p:oleObj>
              </mc:Choice>
              <mc:Fallback>
                <p:oleObj name="Equation" r:id="rId4" imgW="787320" imgH="419040" progId="Equation.3">
                  <p:embed/>
                  <p:pic>
                    <p:nvPicPr>
                      <p:cNvPr id="1833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2133600"/>
                        <a:ext cx="1311275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04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83303" name="Object 7"/>
          <p:cNvGraphicFramePr>
            <a:graphicFrameLocks noChangeAspect="1"/>
          </p:cNvGraphicFramePr>
          <p:nvPr/>
        </p:nvGraphicFramePr>
        <p:xfrm>
          <a:off x="5386389" y="4567239"/>
          <a:ext cx="1589087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87240" imgH="1028520" progId="Equation.3">
                  <p:embed/>
                </p:oleObj>
              </mc:Choice>
              <mc:Fallback>
                <p:oleObj name="Equation" r:id="rId6" imgW="1587240" imgH="1028520" progId="Equation.3">
                  <p:embed/>
                  <p:pic>
                    <p:nvPicPr>
                      <p:cNvPr id="1833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6389" y="4567239"/>
                        <a:ext cx="1589087" cy="1030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Solution!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Let's substitute these expressions into our differential equation for the motion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So as long as the quantity </a:t>
            </a:r>
            <a:r>
              <a:rPr lang="en-US" sz="2400">
                <a:sym typeface="Symbol" pitchFamily="18" charset="2"/>
              </a:rPr>
              <a:t> in the cosine function is the same as our convenient quantity</a:t>
            </a:r>
          </a:p>
          <a:p>
            <a:endParaRPr lang="en-US" sz="2400">
              <a:sym typeface="Symbol" pitchFamily="18" charset="2"/>
            </a:endParaRPr>
          </a:p>
          <a:p>
            <a:endParaRPr lang="en-US" sz="2400">
              <a:sym typeface="Symbol" pitchFamily="18" charset="2"/>
            </a:endParaRPr>
          </a:p>
          <a:p>
            <a:r>
              <a:rPr lang="en-US" sz="2400">
                <a:sym typeface="Symbol" pitchFamily="18" charset="2"/>
              </a:rPr>
              <a:t>We have a solution</a:t>
            </a:r>
          </a:p>
        </p:txBody>
      </p:sp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84324" name="Object 4"/>
          <p:cNvGraphicFramePr>
            <a:graphicFrameLocks noChangeAspect="1"/>
          </p:cNvGraphicFramePr>
          <p:nvPr/>
        </p:nvGraphicFramePr>
        <p:xfrm>
          <a:off x="4594226" y="2452689"/>
          <a:ext cx="3235325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73040" imgH="660240" progId="Equation.3">
                  <p:embed/>
                </p:oleObj>
              </mc:Choice>
              <mc:Fallback>
                <p:oleObj name="Equation" r:id="rId2" imgW="2273040" imgH="660240" progId="Equation.3">
                  <p:embed/>
                  <p:pic>
                    <p:nvPicPr>
                      <p:cNvPr id="1843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6" y="2452689"/>
                        <a:ext cx="3235325" cy="941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6" name="Object 6"/>
          <p:cNvGraphicFramePr>
            <a:graphicFrameLocks noChangeAspect="1"/>
          </p:cNvGraphicFramePr>
          <p:nvPr/>
        </p:nvGraphicFramePr>
        <p:xfrm>
          <a:off x="5626100" y="4662489"/>
          <a:ext cx="788988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7960" imgH="393480" progId="Equation.3">
                  <p:embed/>
                </p:oleObj>
              </mc:Choice>
              <mc:Fallback>
                <p:oleObj name="Equation" r:id="rId4" imgW="507960" imgH="393480" progId="Equation.3">
                  <p:embed/>
                  <p:pic>
                    <p:nvPicPr>
                      <p:cNvPr id="1843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0" y="4662489"/>
                        <a:ext cx="788988" cy="61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7" name="Object 7"/>
          <p:cNvGraphicFramePr>
            <a:graphicFrameLocks noChangeAspect="1"/>
          </p:cNvGraphicFramePr>
          <p:nvPr/>
        </p:nvGraphicFramePr>
        <p:xfrm>
          <a:off x="5154614" y="5403850"/>
          <a:ext cx="25558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06360" imgH="215640" progId="Equation.3">
                  <p:embed/>
                </p:oleObj>
              </mc:Choice>
              <mc:Fallback>
                <p:oleObj name="Equation" r:id="rId6" imgW="1206360" imgH="215640" progId="Equation.3">
                  <p:embed/>
                  <p:pic>
                    <p:nvPicPr>
                      <p:cNvPr id="1843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4614" y="5403850"/>
                        <a:ext cx="25558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Properties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From Trigonometry we can identify </a:t>
            </a:r>
            <a:r>
              <a:rPr lang="en-US" sz="2400">
                <a:sym typeface="Symbol" pitchFamily="18" charset="2"/>
              </a:rPr>
              <a:t> as the angular frequency</a:t>
            </a:r>
          </a:p>
          <a:p>
            <a:endParaRPr lang="en-US" sz="240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sz="2400">
                <a:sym typeface="Symbol" pitchFamily="18" charset="2"/>
              </a:rPr>
              <a:t> and  as the phase angle</a:t>
            </a:r>
          </a:p>
          <a:p>
            <a:r>
              <a:rPr lang="en-US" sz="2400">
                <a:sym typeface="Symbol" pitchFamily="18" charset="2"/>
              </a:rPr>
              <a:t>We also recognize A as the amplitude</a:t>
            </a:r>
          </a:p>
          <a:p>
            <a:r>
              <a:rPr lang="en-US" sz="2400">
                <a:sym typeface="Symbol" pitchFamily="18" charset="2"/>
              </a:rPr>
              <a:t>We need values for these last two quantities to complete our solution</a:t>
            </a:r>
          </a:p>
        </p:txBody>
      </p:sp>
      <p:sp>
        <p:nvSpPr>
          <p:cNvPr id="185349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85348" name="Object 4"/>
          <p:cNvGraphicFramePr>
            <a:graphicFrameLocks noChangeAspect="1"/>
          </p:cNvGraphicFramePr>
          <p:nvPr/>
        </p:nvGraphicFramePr>
        <p:xfrm>
          <a:off x="4318001" y="2054226"/>
          <a:ext cx="134937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600" imgH="444240" progId="Equation.3">
                  <p:embed/>
                </p:oleObj>
              </mc:Choice>
              <mc:Fallback>
                <p:oleObj name="Equation" r:id="rId2" imgW="939600" imgH="444240" progId="Equation.3">
                  <p:embed/>
                  <p:pic>
                    <p:nvPicPr>
                      <p:cNvPr id="1853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1" y="2054226"/>
                        <a:ext cx="1349375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1" name="Rectangle 7"/>
          <p:cNvSpPr>
            <a:spLocks noChangeArrowheads="1"/>
          </p:cNvSpPr>
          <p:nvPr/>
        </p:nvSpPr>
        <p:spPr bwMode="auto">
          <a:xfrm>
            <a:off x="1524001" y="27776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85350" name="Object 6"/>
          <p:cNvGraphicFramePr>
            <a:graphicFrameLocks noChangeAspect="1"/>
          </p:cNvGraphicFramePr>
          <p:nvPr/>
        </p:nvGraphicFramePr>
        <p:xfrm>
          <a:off x="5915025" y="4945064"/>
          <a:ext cx="381000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0880" imgH="672840" progId="Equation.3">
                  <p:embed/>
                </p:oleObj>
              </mc:Choice>
              <mc:Fallback>
                <p:oleObj name="Equation" r:id="rId4" imgW="380880" imgH="672840" progId="Equation.3">
                  <p:embed/>
                  <p:pic>
                    <p:nvPicPr>
                      <p:cNvPr id="1853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5025" y="4945064"/>
                        <a:ext cx="381000" cy="674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5352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92900" y="4445000"/>
            <a:ext cx="2724150" cy="177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Period and Frequency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4775200" cy="4525963"/>
          </a:xfrm>
        </p:spPr>
        <p:txBody>
          <a:bodyPr/>
          <a:lstStyle/>
          <a:p>
            <a:r>
              <a:rPr lang="en-US" sz="2000"/>
              <a:t>The period is the time it takes for the mass to travel through one complete cycle</a:t>
            </a:r>
          </a:p>
          <a:p>
            <a:r>
              <a:rPr lang="en-US" sz="2000"/>
              <a:t>We know from trig that the period and frequency are related</a:t>
            </a:r>
          </a:p>
          <a:p>
            <a:endParaRPr lang="en-US" sz="2000"/>
          </a:p>
          <a:p>
            <a:endParaRPr lang="en-US" sz="2000"/>
          </a:p>
          <a:p>
            <a:r>
              <a:rPr lang="en-US" sz="2000"/>
              <a:t>We can write both in terms of the SHO constants</a:t>
            </a:r>
          </a:p>
        </p:txBody>
      </p:sp>
      <p:pic>
        <p:nvPicPr>
          <p:cNvPr id="18637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0" y="1657351"/>
            <a:ext cx="3187700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6374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86373" name="Object 5"/>
          <p:cNvGraphicFramePr>
            <a:graphicFrameLocks noChangeAspect="1"/>
          </p:cNvGraphicFramePr>
          <p:nvPr/>
        </p:nvGraphicFramePr>
        <p:xfrm>
          <a:off x="3556001" y="3441700"/>
          <a:ext cx="7905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320" imgH="419040" progId="Equation.3">
                  <p:embed/>
                </p:oleObj>
              </mc:Choice>
              <mc:Fallback>
                <p:oleObj name="Equation" r:id="rId3" imgW="787320" imgH="419040" progId="Equation.3">
                  <p:embed/>
                  <p:pic>
                    <p:nvPicPr>
                      <p:cNvPr id="1863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1" y="3441700"/>
                        <a:ext cx="790575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76" name="Rectangle 8"/>
          <p:cNvSpPr>
            <a:spLocks noChangeArrowheads="1"/>
          </p:cNvSpPr>
          <p:nvPr/>
        </p:nvSpPr>
        <p:spPr bwMode="auto">
          <a:xfrm>
            <a:off x="1524001" y="32332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86375" name="Object 7"/>
          <p:cNvGraphicFramePr>
            <a:graphicFrameLocks noChangeAspect="1"/>
          </p:cNvGraphicFramePr>
          <p:nvPr/>
        </p:nvGraphicFramePr>
        <p:xfrm>
          <a:off x="3632200" y="4878389"/>
          <a:ext cx="8001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00100" imgH="889000" progId="Equation.3">
                  <p:embed/>
                </p:oleObj>
              </mc:Choice>
              <mc:Fallback>
                <p:oleObj name="Equation" r:id="rId5" imgW="800100" imgH="889000" progId="Equation.3">
                  <p:embed/>
                  <p:pic>
                    <p:nvPicPr>
                      <p:cNvPr id="1863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0" y="4878389"/>
                        <a:ext cx="800100" cy="885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418B167-D7D1-409F-AFAE-4E00E7D5A849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123.2.6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937500" cy="4525963"/>
          </a:xfrm>
        </p:spPr>
        <p:txBody>
          <a:bodyPr/>
          <a:lstStyle/>
          <a:p>
            <a:pPr marL="609600" indent="-609600">
              <a:buNone/>
            </a:pPr>
            <a:r>
              <a:rPr lang="en-US" dirty="0"/>
              <a:t>The spring of a spring-mass SHM system has a spring constant of k. If I replace the spring with a new one that has a spring constant of k/4 the frequency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Quadruples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Doubles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Is half the original value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Insufficient information to tell</a:t>
            </a:r>
          </a:p>
        </p:txBody>
      </p:sp>
    </p:spTree>
    <p:extLst>
      <p:ext uri="{BB962C8B-B14F-4D97-AF65-F5344CB8AC3E}">
        <p14:creationId xmlns:p14="http://schemas.microsoft.com/office/powerpoint/2010/main" val="129867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Velocity and Acceleration</a:t>
            </a:r>
          </a:p>
        </p:txBody>
      </p:sp>
      <p:sp>
        <p:nvSpPr>
          <p:cNvPr id="187404" name="Rectangle 12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000"/>
              <a:t>We find the velocity as a function of time by taking the derivative of our solution</a:t>
            </a:r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r>
              <a:rPr lang="en-US" sz="2000"/>
              <a:t>The amplitude is found by recalling that the maximum value of a sine function is 1</a:t>
            </a:r>
          </a:p>
        </p:txBody>
      </p:sp>
      <p:sp>
        <p:nvSpPr>
          <p:cNvPr id="187405" name="Rectangle 1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000"/>
              <a:t>We continue taking derivatives </a:t>
            </a:r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r>
              <a:rPr lang="en-US" sz="2000"/>
              <a:t>Again, cosine has a maximum of 1 so</a:t>
            </a:r>
          </a:p>
        </p:txBody>
      </p:sp>
      <p:sp>
        <p:nvSpPr>
          <p:cNvPr id="187397" name="Rectangle 5"/>
          <p:cNvSpPr>
            <a:spLocks noChangeArrowheads="1"/>
          </p:cNvSpPr>
          <p:nvPr/>
        </p:nvSpPr>
        <p:spPr bwMode="auto">
          <a:xfrm>
            <a:off x="1524001" y="30633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87396" name="Object 4"/>
          <p:cNvGraphicFramePr>
            <a:graphicFrameLocks noChangeAspect="1"/>
          </p:cNvGraphicFramePr>
          <p:nvPr/>
        </p:nvGraphicFramePr>
        <p:xfrm>
          <a:off x="3198814" y="2749550"/>
          <a:ext cx="1195387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760" imgH="215640" progId="Equation.3">
                  <p:embed/>
                </p:oleObj>
              </mc:Choice>
              <mc:Fallback>
                <p:oleObj name="Equation" r:id="rId2" imgW="1193760" imgH="215640" progId="Equation.3">
                  <p:embed/>
                  <p:pic>
                    <p:nvPicPr>
                      <p:cNvPr id="1873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8814" y="2749550"/>
                        <a:ext cx="1195387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399" name="Rectangle 7"/>
          <p:cNvSpPr>
            <a:spLocks noChangeArrowheads="1"/>
          </p:cNvSpPr>
          <p:nvPr/>
        </p:nvSpPr>
        <p:spPr bwMode="auto">
          <a:xfrm>
            <a:off x="1524001" y="30062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7401" name="Rectangle 9"/>
          <p:cNvSpPr>
            <a:spLocks noChangeArrowheads="1"/>
          </p:cNvSpPr>
          <p:nvPr/>
        </p:nvSpPr>
        <p:spPr bwMode="auto">
          <a:xfrm>
            <a:off x="1524001" y="30062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87400" name="Object 8"/>
          <p:cNvGraphicFramePr>
            <a:graphicFrameLocks noChangeAspect="1"/>
          </p:cNvGraphicFramePr>
          <p:nvPr/>
        </p:nvGraphicFramePr>
        <p:xfrm>
          <a:off x="2543176" y="3271839"/>
          <a:ext cx="2741613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520" imgH="393480" progId="Equation.3">
                  <p:embed/>
                </p:oleObj>
              </mc:Choice>
              <mc:Fallback>
                <p:oleObj name="Equation" r:id="rId4" imgW="1955520" imgH="393480" progId="Equation.3">
                  <p:embed/>
                  <p:pic>
                    <p:nvPicPr>
                      <p:cNvPr id="1874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176" y="3271839"/>
                        <a:ext cx="2741613" cy="554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03" name="Rectangle 11"/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87402" name="Object 10"/>
          <p:cNvGraphicFramePr>
            <a:graphicFrameLocks noChangeAspect="1"/>
          </p:cNvGraphicFramePr>
          <p:nvPr/>
        </p:nvGraphicFramePr>
        <p:xfrm>
          <a:off x="2667001" y="5237164"/>
          <a:ext cx="236696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59866" imgH="444307" progId="Equation.3">
                  <p:embed/>
                </p:oleObj>
              </mc:Choice>
              <mc:Fallback>
                <p:oleObj name="Equation" r:id="rId6" imgW="1459866" imgH="444307" progId="Equation.3">
                  <p:embed/>
                  <p:pic>
                    <p:nvPicPr>
                      <p:cNvPr id="1874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5237164"/>
                        <a:ext cx="2366963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07" name="Rectangle 15"/>
          <p:cNvSpPr>
            <a:spLocks noChangeArrowheads="1"/>
          </p:cNvSpPr>
          <p:nvPr/>
        </p:nvSpPr>
        <p:spPr bwMode="auto">
          <a:xfrm>
            <a:off x="1524001" y="28728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87406" name="Object 14"/>
          <p:cNvGraphicFramePr>
            <a:graphicFrameLocks noChangeAspect="1"/>
          </p:cNvGraphicFramePr>
          <p:nvPr/>
        </p:nvGraphicFramePr>
        <p:xfrm>
          <a:off x="6657976" y="2411414"/>
          <a:ext cx="3121025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30320" imgH="660240" progId="Equation.3">
                  <p:embed/>
                </p:oleObj>
              </mc:Choice>
              <mc:Fallback>
                <p:oleObj name="Equation" r:id="rId8" imgW="1930320" imgH="660240" progId="Equation.3">
                  <p:embed/>
                  <p:pic>
                    <p:nvPicPr>
                      <p:cNvPr id="18740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7976" y="2411414"/>
                        <a:ext cx="3121025" cy="1068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09" name="Rectangle 17"/>
          <p:cNvSpPr>
            <a:spLocks noChangeArrowheads="1"/>
          </p:cNvSpPr>
          <p:nvPr/>
        </p:nvSpPr>
        <p:spPr bwMode="auto">
          <a:xfrm>
            <a:off x="1524001" y="30443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87408" name="Object 16"/>
          <p:cNvGraphicFramePr>
            <a:graphicFrameLocks noChangeAspect="1"/>
          </p:cNvGraphicFramePr>
          <p:nvPr/>
        </p:nvGraphicFramePr>
        <p:xfrm>
          <a:off x="6869113" y="5251451"/>
          <a:ext cx="24892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09400" imgH="393480" progId="Equation.3">
                  <p:embed/>
                </p:oleObj>
              </mc:Choice>
              <mc:Fallback>
                <p:oleObj name="Equation" r:id="rId10" imgW="1409400" imgH="393480" progId="Equation.3">
                  <p:embed/>
                  <p:pic>
                    <p:nvPicPr>
                      <p:cNvPr id="18740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9113" y="5251451"/>
                        <a:ext cx="2489200" cy="696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SHM Acceleration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66900" y="1968501"/>
            <a:ext cx="36830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The acceleration of the mass experiencing SHM is </a:t>
            </a:r>
          </a:p>
          <a:p>
            <a:pPr lvl="1">
              <a:lnSpc>
                <a:spcPct val="90000"/>
              </a:lnSpc>
            </a:pPr>
            <a:r>
              <a:rPr lang="en-US"/>
              <a:t>zero at equilibrium, </a:t>
            </a:r>
          </a:p>
          <a:p>
            <a:pPr lvl="1">
              <a:lnSpc>
                <a:spcPct val="90000"/>
              </a:lnSpc>
            </a:pPr>
            <a:r>
              <a:rPr lang="en-US"/>
              <a:t>maximum at the extreme displacement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905500" y="2057400"/>
            <a:ext cx="4686300" cy="3282950"/>
            <a:chOff x="2496" y="1296"/>
            <a:chExt cx="2952" cy="2068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496" y="1991"/>
              <a:ext cx="1213" cy="666"/>
              <a:chOff x="176" y="1300"/>
              <a:chExt cx="1213" cy="666"/>
            </a:xfrm>
          </p:grpSpPr>
          <p:sp>
            <p:nvSpPr>
              <p:cNvPr id="189446" name="AutoShape 6"/>
              <p:cNvSpPr>
                <a:spLocks noChangeArrowheads="1"/>
              </p:cNvSpPr>
              <p:nvPr/>
            </p:nvSpPr>
            <p:spPr bwMode="auto">
              <a:xfrm>
                <a:off x="1013" y="1512"/>
                <a:ext cx="167" cy="154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189447" name="Text Box 7"/>
              <p:cNvSpPr txBox="1">
                <a:spLocks noChangeArrowheads="1"/>
              </p:cNvSpPr>
              <p:nvPr/>
            </p:nvSpPr>
            <p:spPr bwMode="auto">
              <a:xfrm>
                <a:off x="982" y="1329"/>
                <a:ext cx="351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-a</a:t>
                </a:r>
                <a:r>
                  <a:rPr lang="en-US" sz="1400" baseline="-25000"/>
                  <a:t>max</a:t>
                </a:r>
              </a:p>
            </p:txBody>
          </p:sp>
          <p:sp>
            <p:nvSpPr>
              <p:cNvPr id="189448" name="Line 8"/>
              <p:cNvSpPr>
                <a:spLocks noChangeShapeType="1"/>
              </p:cNvSpPr>
              <p:nvPr/>
            </p:nvSpPr>
            <p:spPr bwMode="auto">
              <a:xfrm>
                <a:off x="188" y="1300"/>
                <a:ext cx="0" cy="37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49" name="Line 9"/>
              <p:cNvSpPr>
                <a:spLocks noChangeShapeType="1"/>
              </p:cNvSpPr>
              <p:nvPr/>
            </p:nvSpPr>
            <p:spPr bwMode="auto">
              <a:xfrm rot="5400000" flipV="1">
                <a:off x="684" y="1169"/>
                <a:ext cx="0" cy="101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901" y="1506"/>
                <a:ext cx="101" cy="95"/>
                <a:chOff x="704" y="1880"/>
                <a:chExt cx="136" cy="128"/>
              </a:xfrm>
            </p:grpSpPr>
            <p:sp>
              <p:nvSpPr>
                <p:cNvPr id="189451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452" name="Line 1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3"/>
              <p:cNvGrpSpPr>
                <a:grpSpLocks/>
              </p:cNvGrpSpPr>
              <p:nvPr/>
            </p:nvGrpSpPr>
            <p:grpSpPr bwMode="auto">
              <a:xfrm>
                <a:off x="794" y="1506"/>
                <a:ext cx="101" cy="95"/>
                <a:chOff x="704" y="1880"/>
                <a:chExt cx="136" cy="128"/>
              </a:xfrm>
            </p:grpSpPr>
            <p:sp>
              <p:nvSpPr>
                <p:cNvPr id="189454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455" name="Line 1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16"/>
              <p:cNvGrpSpPr>
                <a:grpSpLocks/>
              </p:cNvGrpSpPr>
              <p:nvPr/>
            </p:nvGrpSpPr>
            <p:grpSpPr bwMode="auto">
              <a:xfrm>
                <a:off x="699" y="1506"/>
                <a:ext cx="101" cy="95"/>
                <a:chOff x="704" y="1880"/>
                <a:chExt cx="136" cy="128"/>
              </a:xfrm>
            </p:grpSpPr>
            <p:sp>
              <p:nvSpPr>
                <p:cNvPr id="189457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458" name="Line 1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19"/>
              <p:cNvGrpSpPr>
                <a:grpSpLocks/>
              </p:cNvGrpSpPr>
              <p:nvPr/>
            </p:nvGrpSpPr>
            <p:grpSpPr bwMode="auto">
              <a:xfrm>
                <a:off x="598" y="1506"/>
                <a:ext cx="101" cy="95"/>
                <a:chOff x="704" y="1880"/>
                <a:chExt cx="136" cy="128"/>
              </a:xfrm>
            </p:grpSpPr>
            <p:sp>
              <p:nvSpPr>
                <p:cNvPr id="189460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461" name="Line 2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22"/>
              <p:cNvGrpSpPr>
                <a:grpSpLocks/>
              </p:cNvGrpSpPr>
              <p:nvPr/>
            </p:nvGrpSpPr>
            <p:grpSpPr bwMode="auto">
              <a:xfrm>
                <a:off x="503" y="1506"/>
                <a:ext cx="101" cy="95"/>
                <a:chOff x="704" y="1880"/>
                <a:chExt cx="136" cy="128"/>
              </a:xfrm>
            </p:grpSpPr>
            <p:sp>
              <p:nvSpPr>
                <p:cNvPr id="189463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464" name="Line 2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25"/>
              <p:cNvGrpSpPr>
                <a:grpSpLocks/>
              </p:cNvGrpSpPr>
              <p:nvPr/>
            </p:nvGrpSpPr>
            <p:grpSpPr bwMode="auto">
              <a:xfrm>
                <a:off x="402" y="1506"/>
                <a:ext cx="101" cy="95"/>
                <a:chOff x="704" y="1880"/>
                <a:chExt cx="136" cy="128"/>
              </a:xfrm>
            </p:grpSpPr>
            <p:sp>
              <p:nvSpPr>
                <p:cNvPr id="189466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467" name="Line 2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28"/>
              <p:cNvGrpSpPr>
                <a:grpSpLocks/>
              </p:cNvGrpSpPr>
              <p:nvPr/>
            </p:nvGrpSpPr>
            <p:grpSpPr bwMode="auto">
              <a:xfrm>
                <a:off x="307" y="1506"/>
                <a:ext cx="101" cy="95"/>
                <a:chOff x="704" y="1880"/>
                <a:chExt cx="136" cy="128"/>
              </a:xfrm>
            </p:grpSpPr>
            <p:sp>
              <p:nvSpPr>
                <p:cNvPr id="189469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470" name="Line 3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31"/>
              <p:cNvGrpSpPr>
                <a:grpSpLocks/>
              </p:cNvGrpSpPr>
              <p:nvPr/>
            </p:nvGrpSpPr>
            <p:grpSpPr bwMode="auto">
              <a:xfrm>
                <a:off x="206" y="1506"/>
                <a:ext cx="101" cy="95"/>
                <a:chOff x="704" y="1880"/>
                <a:chExt cx="136" cy="128"/>
              </a:xfrm>
            </p:grpSpPr>
            <p:sp>
              <p:nvSpPr>
                <p:cNvPr id="189472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473" name="Line 3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9474" name="Line 34"/>
              <p:cNvSpPr>
                <a:spLocks noChangeShapeType="1"/>
              </p:cNvSpPr>
              <p:nvPr/>
            </p:nvSpPr>
            <p:spPr bwMode="auto">
              <a:xfrm>
                <a:off x="758" y="1719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75" name="Text Box 35"/>
              <p:cNvSpPr txBox="1">
                <a:spLocks noChangeArrowheads="1"/>
              </p:cNvSpPr>
              <p:nvPr/>
            </p:nvSpPr>
            <p:spPr bwMode="auto">
              <a:xfrm>
                <a:off x="650" y="1774"/>
                <a:ext cx="29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x=0</a:t>
                </a:r>
              </a:p>
            </p:txBody>
          </p:sp>
          <p:sp>
            <p:nvSpPr>
              <p:cNvPr id="189476" name="Line 36"/>
              <p:cNvSpPr>
                <a:spLocks noChangeShapeType="1"/>
              </p:cNvSpPr>
              <p:nvPr/>
            </p:nvSpPr>
            <p:spPr bwMode="auto">
              <a:xfrm>
                <a:off x="1091" y="1725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77" name="Text Box 37"/>
              <p:cNvSpPr txBox="1">
                <a:spLocks noChangeArrowheads="1"/>
              </p:cNvSpPr>
              <p:nvPr/>
            </p:nvSpPr>
            <p:spPr bwMode="auto">
              <a:xfrm>
                <a:off x="1000" y="1768"/>
                <a:ext cx="38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x</a:t>
                </a:r>
                <a:r>
                  <a:rPr lang="en-US" sz="1400" baseline="-25000"/>
                  <a:t>max</a:t>
                </a:r>
              </a:p>
            </p:txBody>
          </p:sp>
          <p:sp>
            <p:nvSpPr>
              <p:cNvPr id="189478" name="Text Box 38"/>
              <p:cNvSpPr txBox="1">
                <a:spLocks noChangeArrowheads="1"/>
              </p:cNvSpPr>
              <p:nvPr/>
            </p:nvSpPr>
            <p:spPr bwMode="auto">
              <a:xfrm>
                <a:off x="489" y="1317"/>
                <a:ext cx="17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k</a:t>
                </a:r>
              </a:p>
            </p:txBody>
          </p:sp>
        </p:grpSp>
        <p:grpSp>
          <p:nvGrpSpPr>
            <p:cNvPr id="12" name="Group 39"/>
            <p:cNvGrpSpPr>
              <a:grpSpLocks/>
            </p:cNvGrpSpPr>
            <p:nvPr/>
          </p:nvGrpSpPr>
          <p:grpSpPr bwMode="auto">
            <a:xfrm>
              <a:off x="3357" y="1296"/>
              <a:ext cx="1189" cy="708"/>
              <a:chOff x="1037" y="605"/>
              <a:chExt cx="1189" cy="708"/>
            </a:xfrm>
          </p:grpSpPr>
          <p:sp>
            <p:nvSpPr>
              <p:cNvPr id="189480" name="AutoShape 40"/>
              <p:cNvSpPr>
                <a:spLocks noChangeArrowheads="1"/>
              </p:cNvSpPr>
              <p:nvPr/>
            </p:nvSpPr>
            <p:spPr bwMode="auto">
              <a:xfrm>
                <a:off x="1554" y="868"/>
                <a:ext cx="166" cy="153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189481" name="Text Box 41"/>
              <p:cNvSpPr txBox="1">
                <a:spLocks noChangeArrowheads="1"/>
              </p:cNvSpPr>
              <p:nvPr/>
            </p:nvSpPr>
            <p:spPr bwMode="auto">
              <a:xfrm>
                <a:off x="1540" y="605"/>
                <a:ext cx="30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a=0</a:t>
                </a:r>
                <a:endParaRPr lang="en-US" sz="1400" baseline="-25000"/>
              </a:p>
            </p:txBody>
          </p:sp>
          <p:sp>
            <p:nvSpPr>
              <p:cNvPr id="189482" name="Line 42"/>
              <p:cNvSpPr>
                <a:spLocks noChangeShapeType="1"/>
              </p:cNvSpPr>
              <p:nvPr/>
            </p:nvSpPr>
            <p:spPr bwMode="auto">
              <a:xfrm>
                <a:off x="1049" y="656"/>
                <a:ext cx="0" cy="37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83" name="Line 43"/>
              <p:cNvSpPr>
                <a:spLocks noChangeShapeType="1"/>
              </p:cNvSpPr>
              <p:nvPr/>
            </p:nvSpPr>
            <p:spPr bwMode="auto">
              <a:xfrm rot="5400000" flipV="1">
                <a:off x="1545" y="525"/>
                <a:ext cx="0" cy="101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" name="Group 44"/>
              <p:cNvGrpSpPr>
                <a:grpSpLocks/>
              </p:cNvGrpSpPr>
              <p:nvPr/>
            </p:nvGrpSpPr>
            <p:grpSpPr bwMode="auto">
              <a:xfrm>
                <a:off x="1067" y="868"/>
                <a:ext cx="481" cy="94"/>
                <a:chOff x="2248" y="1248"/>
                <a:chExt cx="648" cy="128"/>
              </a:xfrm>
            </p:grpSpPr>
            <p:grpSp>
              <p:nvGrpSpPr>
                <p:cNvPr id="14" name="Group 45"/>
                <p:cNvGrpSpPr>
                  <a:grpSpLocks/>
                </p:cNvGrpSpPr>
                <p:nvPr/>
              </p:nvGrpSpPr>
              <p:grpSpPr bwMode="auto">
                <a:xfrm>
                  <a:off x="2814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486" name="Line 4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487" name="Line 47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" name="Group 48"/>
                <p:cNvGrpSpPr>
                  <a:grpSpLocks/>
                </p:cNvGrpSpPr>
                <p:nvPr/>
              </p:nvGrpSpPr>
              <p:grpSpPr bwMode="auto">
                <a:xfrm>
                  <a:off x="2727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489" name="Line 4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490" name="Line 5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6" name="Group 51"/>
                <p:cNvGrpSpPr>
                  <a:grpSpLocks/>
                </p:cNvGrpSpPr>
                <p:nvPr/>
              </p:nvGrpSpPr>
              <p:grpSpPr bwMode="auto">
                <a:xfrm>
                  <a:off x="2649" y="1248"/>
                  <a:ext cx="83" cy="128"/>
                  <a:chOff x="704" y="1880"/>
                  <a:chExt cx="136" cy="128"/>
                </a:xfrm>
              </p:grpSpPr>
              <p:sp>
                <p:nvSpPr>
                  <p:cNvPr id="189492" name="Line 5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493" name="Line 5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7" name="Group 54"/>
                <p:cNvGrpSpPr>
                  <a:grpSpLocks/>
                </p:cNvGrpSpPr>
                <p:nvPr/>
              </p:nvGrpSpPr>
              <p:grpSpPr bwMode="auto">
                <a:xfrm>
                  <a:off x="2567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495" name="Line 5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496" name="Line 5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8" name="Group 57"/>
                <p:cNvGrpSpPr>
                  <a:grpSpLocks/>
                </p:cNvGrpSpPr>
                <p:nvPr/>
              </p:nvGrpSpPr>
              <p:grpSpPr bwMode="auto">
                <a:xfrm>
                  <a:off x="2490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498" name="Line 5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499" name="Line 59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" name="Group 60"/>
                <p:cNvGrpSpPr>
                  <a:grpSpLocks/>
                </p:cNvGrpSpPr>
                <p:nvPr/>
              </p:nvGrpSpPr>
              <p:grpSpPr bwMode="auto">
                <a:xfrm>
                  <a:off x="2408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01" name="Line 6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02" name="Line 6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0" name="Group 63"/>
                <p:cNvGrpSpPr>
                  <a:grpSpLocks/>
                </p:cNvGrpSpPr>
                <p:nvPr/>
              </p:nvGrpSpPr>
              <p:grpSpPr bwMode="auto">
                <a:xfrm>
                  <a:off x="2330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04" name="Line 6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05" name="Line 6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1" name="Group 66"/>
                <p:cNvGrpSpPr>
                  <a:grpSpLocks/>
                </p:cNvGrpSpPr>
                <p:nvPr/>
              </p:nvGrpSpPr>
              <p:grpSpPr bwMode="auto">
                <a:xfrm>
                  <a:off x="2248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07" name="Line 6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08" name="Line 6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89509" name="Line 69"/>
              <p:cNvSpPr>
                <a:spLocks noChangeShapeType="1"/>
              </p:cNvSpPr>
              <p:nvPr/>
            </p:nvSpPr>
            <p:spPr bwMode="auto">
              <a:xfrm>
                <a:off x="1619" y="1074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10" name="Text Box 70"/>
              <p:cNvSpPr txBox="1">
                <a:spLocks noChangeArrowheads="1"/>
              </p:cNvSpPr>
              <p:nvPr/>
            </p:nvSpPr>
            <p:spPr bwMode="auto">
              <a:xfrm>
                <a:off x="1511" y="1121"/>
                <a:ext cx="29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x=0</a:t>
                </a:r>
              </a:p>
            </p:txBody>
          </p:sp>
          <p:sp>
            <p:nvSpPr>
              <p:cNvPr id="189511" name="Line 71"/>
              <p:cNvSpPr>
                <a:spLocks noChangeShapeType="1"/>
              </p:cNvSpPr>
              <p:nvPr/>
            </p:nvSpPr>
            <p:spPr bwMode="auto">
              <a:xfrm>
                <a:off x="1952" y="1080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12" name="Text Box 72"/>
              <p:cNvSpPr txBox="1">
                <a:spLocks noChangeArrowheads="1"/>
              </p:cNvSpPr>
              <p:nvPr/>
            </p:nvSpPr>
            <p:spPr bwMode="auto">
              <a:xfrm>
                <a:off x="1861" y="1116"/>
                <a:ext cx="36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x</a:t>
                </a:r>
                <a:r>
                  <a:rPr lang="en-US" sz="1400" baseline="-25000"/>
                  <a:t>max</a:t>
                </a:r>
              </a:p>
            </p:txBody>
          </p:sp>
          <p:sp>
            <p:nvSpPr>
              <p:cNvPr id="189513" name="Line 73"/>
              <p:cNvSpPr>
                <a:spLocks noChangeShapeType="1"/>
              </p:cNvSpPr>
              <p:nvPr/>
            </p:nvSpPr>
            <p:spPr bwMode="auto">
              <a:xfrm flipH="1">
                <a:off x="1500" y="809"/>
                <a:ext cx="28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74"/>
            <p:cNvGrpSpPr>
              <a:grpSpLocks/>
            </p:cNvGrpSpPr>
            <p:nvPr/>
          </p:nvGrpSpPr>
          <p:grpSpPr bwMode="auto">
            <a:xfrm>
              <a:off x="4432" y="1991"/>
              <a:ext cx="1016" cy="682"/>
              <a:chOff x="2112" y="1300"/>
              <a:chExt cx="1016" cy="682"/>
            </a:xfrm>
          </p:grpSpPr>
          <p:sp>
            <p:nvSpPr>
              <p:cNvPr id="189515" name="AutoShape 75"/>
              <p:cNvSpPr>
                <a:spLocks noChangeArrowheads="1"/>
              </p:cNvSpPr>
              <p:nvPr/>
            </p:nvSpPr>
            <p:spPr bwMode="auto">
              <a:xfrm>
                <a:off x="2385" y="1495"/>
                <a:ext cx="167" cy="153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189516" name="Line 76"/>
              <p:cNvSpPr>
                <a:spLocks noChangeShapeType="1"/>
              </p:cNvSpPr>
              <p:nvPr/>
            </p:nvSpPr>
            <p:spPr bwMode="auto">
              <a:xfrm>
                <a:off x="2124" y="1300"/>
                <a:ext cx="0" cy="37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17" name="Line 77"/>
              <p:cNvSpPr>
                <a:spLocks noChangeShapeType="1"/>
              </p:cNvSpPr>
              <p:nvPr/>
            </p:nvSpPr>
            <p:spPr bwMode="auto">
              <a:xfrm rot="5400000" flipV="1">
                <a:off x="2620" y="1169"/>
                <a:ext cx="0" cy="101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3" name="Group 78"/>
              <p:cNvGrpSpPr>
                <a:grpSpLocks/>
              </p:cNvGrpSpPr>
              <p:nvPr/>
            </p:nvGrpSpPr>
            <p:grpSpPr bwMode="auto">
              <a:xfrm>
                <a:off x="2148" y="1512"/>
                <a:ext cx="225" cy="95"/>
                <a:chOff x="2248" y="1248"/>
                <a:chExt cx="648" cy="128"/>
              </a:xfrm>
            </p:grpSpPr>
            <p:grpSp>
              <p:nvGrpSpPr>
                <p:cNvPr id="24" name="Group 79"/>
                <p:cNvGrpSpPr>
                  <a:grpSpLocks/>
                </p:cNvGrpSpPr>
                <p:nvPr/>
              </p:nvGrpSpPr>
              <p:grpSpPr bwMode="auto">
                <a:xfrm>
                  <a:off x="2814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20" name="Line 8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21" name="Line 8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5" name="Group 82"/>
                <p:cNvGrpSpPr>
                  <a:grpSpLocks/>
                </p:cNvGrpSpPr>
                <p:nvPr/>
              </p:nvGrpSpPr>
              <p:grpSpPr bwMode="auto">
                <a:xfrm>
                  <a:off x="2727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23" name="Line 8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24" name="Line 8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6" name="Group 85"/>
                <p:cNvGrpSpPr>
                  <a:grpSpLocks/>
                </p:cNvGrpSpPr>
                <p:nvPr/>
              </p:nvGrpSpPr>
              <p:grpSpPr bwMode="auto">
                <a:xfrm>
                  <a:off x="2649" y="1248"/>
                  <a:ext cx="83" cy="128"/>
                  <a:chOff x="704" y="1880"/>
                  <a:chExt cx="136" cy="128"/>
                </a:xfrm>
              </p:grpSpPr>
              <p:sp>
                <p:nvSpPr>
                  <p:cNvPr id="189526" name="Line 8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27" name="Line 87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7" name="Group 88"/>
                <p:cNvGrpSpPr>
                  <a:grpSpLocks/>
                </p:cNvGrpSpPr>
                <p:nvPr/>
              </p:nvGrpSpPr>
              <p:grpSpPr bwMode="auto">
                <a:xfrm>
                  <a:off x="2567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29" name="Line 8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30" name="Line 9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8" name="Group 91"/>
                <p:cNvGrpSpPr>
                  <a:grpSpLocks/>
                </p:cNvGrpSpPr>
                <p:nvPr/>
              </p:nvGrpSpPr>
              <p:grpSpPr bwMode="auto">
                <a:xfrm>
                  <a:off x="2490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32" name="Line 9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33" name="Line 9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9" name="Group 94"/>
                <p:cNvGrpSpPr>
                  <a:grpSpLocks/>
                </p:cNvGrpSpPr>
                <p:nvPr/>
              </p:nvGrpSpPr>
              <p:grpSpPr bwMode="auto">
                <a:xfrm>
                  <a:off x="2408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35" name="Line 9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36" name="Line 9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0" name="Group 97"/>
                <p:cNvGrpSpPr>
                  <a:grpSpLocks/>
                </p:cNvGrpSpPr>
                <p:nvPr/>
              </p:nvGrpSpPr>
              <p:grpSpPr bwMode="auto">
                <a:xfrm>
                  <a:off x="2330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38" name="Line 9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39" name="Line 99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1" name="Group 100"/>
                <p:cNvGrpSpPr>
                  <a:grpSpLocks/>
                </p:cNvGrpSpPr>
                <p:nvPr/>
              </p:nvGrpSpPr>
              <p:grpSpPr bwMode="auto">
                <a:xfrm>
                  <a:off x="2248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41" name="Line 10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42" name="Line 10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89543" name="Line 103"/>
              <p:cNvSpPr>
                <a:spLocks noChangeShapeType="1"/>
              </p:cNvSpPr>
              <p:nvPr/>
            </p:nvSpPr>
            <p:spPr bwMode="auto">
              <a:xfrm>
                <a:off x="2694" y="1719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44" name="Text Box 104"/>
              <p:cNvSpPr txBox="1">
                <a:spLocks noChangeArrowheads="1"/>
              </p:cNvSpPr>
              <p:nvPr/>
            </p:nvSpPr>
            <p:spPr bwMode="auto">
              <a:xfrm>
                <a:off x="2586" y="1790"/>
                <a:ext cx="29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x=0</a:t>
                </a:r>
              </a:p>
            </p:txBody>
          </p:sp>
          <p:sp>
            <p:nvSpPr>
              <p:cNvPr id="189545" name="Line 105"/>
              <p:cNvSpPr>
                <a:spLocks noChangeShapeType="1"/>
              </p:cNvSpPr>
              <p:nvPr/>
            </p:nvSpPr>
            <p:spPr bwMode="auto">
              <a:xfrm>
                <a:off x="2474" y="1719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46" name="Text Box 106"/>
              <p:cNvSpPr txBox="1">
                <a:spLocks noChangeArrowheads="1"/>
              </p:cNvSpPr>
              <p:nvPr/>
            </p:nvSpPr>
            <p:spPr bwMode="auto">
              <a:xfrm>
                <a:off x="2342" y="1772"/>
                <a:ext cx="48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-x</a:t>
                </a:r>
                <a:r>
                  <a:rPr lang="en-US" sz="1400" baseline="-25000"/>
                  <a:t>max</a:t>
                </a:r>
              </a:p>
            </p:txBody>
          </p:sp>
          <p:sp>
            <p:nvSpPr>
              <p:cNvPr id="189547" name="Text Box 107"/>
              <p:cNvSpPr txBox="1">
                <a:spLocks noChangeArrowheads="1"/>
              </p:cNvSpPr>
              <p:nvPr/>
            </p:nvSpPr>
            <p:spPr bwMode="auto">
              <a:xfrm>
                <a:off x="2342" y="1311"/>
                <a:ext cx="314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a</a:t>
                </a:r>
                <a:r>
                  <a:rPr lang="en-US" sz="1400" baseline="-25000"/>
                  <a:t>max</a:t>
                </a:r>
              </a:p>
            </p:txBody>
          </p:sp>
        </p:grpSp>
        <p:grpSp>
          <p:nvGrpSpPr>
            <p:cNvPr id="189506" name="Group 108"/>
            <p:cNvGrpSpPr>
              <a:grpSpLocks/>
            </p:cNvGrpSpPr>
            <p:nvPr/>
          </p:nvGrpSpPr>
          <p:grpSpPr bwMode="auto">
            <a:xfrm>
              <a:off x="3349" y="2632"/>
              <a:ext cx="1133" cy="732"/>
              <a:chOff x="1029" y="1941"/>
              <a:chExt cx="1133" cy="732"/>
            </a:xfrm>
          </p:grpSpPr>
          <p:sp>
            <p:nvSpPr>
              <p:cNvPr id="189549" name="AutoShape 109"/>
              <p:cNvSpPr>
                <a:spLocks noChangeArrowheads="1"/>
              </p:cNvSpPr>
              <p:nvPr/>
            </p:nvSpPr>
            <p:spPr bwMode="auto">
              <a:xfrm>
                <a:off x="1546" y="2220"/>
                <a:ext cx="166" cy="153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189550" name="Text Box 110"/>
              <p:cNvSpPr txBox="1">
                <a:spLocks noChangeArrowheads="1"/>
              </p:cNvSpPr>
              <p:nvPr/>
            </p:nvSpPr>
            <p:spPr bwMode="auto">
              <a:xfrm>
                <a:off x="1532" y="1941"/>
                <a:ext cx="30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a=0</a:t>
                </a:r>
                <a:endParaRPr lang="en-US" sz="1400" baseline="-25000"/>
              </a:p>
            </p:txBody>
          </p:sp>
          <p:sp>
            <p:nvSpPr>
              <p:cNvPr id="189551" name="Line 111"/>
              <p:cNvSpPr>
                <a:spLocks noChangeShapeType="1"/>
              </p:cNvSpPr>
              <p:nvPr/>
            </p:nvSpPr>
            <p:spPr bwMode="auto">
              <a:xfrm>
                <a:off x="1041" y="2008"/>
                <a:ext cx="0" cy="37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52" name="Line 112"/>
              <p:cNvSpPr>
                <a:spLocks noChangeShapeType="1"/>
              </p:cNvSpPr>
              <p:nvPr/>
            </p:nvSpPr>
            <p:spPr bwMode="auto">
              <a:xfrm rot="5400000" flipV="1">
                <a:off x="1537" y="1877"/>
                <a:ext cx="0" cy="101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9514" name="Group 113"/>
              <p:cNvGrpSpPr>
                <a:grpSpLocks/>
              </p:cNvGrpSpPr>
              <p:nvPr/>
            </p:nvGrpSpPr>
            <p:grpSpPr bwMode="auto">
              <a:xfrm>
                <a:off x="1059" y="2220"/>
                <a:ext cx="481" cy="94"/>
                <a:chOff x="2248" y="1248"/>
                <a:chExt cx="648" cy="128"/>
              </a:xfrm>
            </p:grpSpPr>
            <p:grpSp>
              <p:nvGrpSpPr>
                <p:cNvPr id="189518" name="Group 114"/>
                <p:cNvGrpSpPr>
                  <a:grpSpLocks/>
                </p:cNvGrpSpPr>
                <p:nvPr/>
              </p:nvGrpSpPr>
              <p:grpSpPr bwMode="auto">
                <a:xfrm>
                  <a:off x="2814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55" name="Line 11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56" name="Line 11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89519" name="Group 117"/>
                <p:cNvGrpSpPr>
                  <a:grpSpLocks/>
                </p:cNvGrpSpPr>
                <p:nvPr/>
              </p:nvGrpSpPr>
              <p:grpSpPr bwMode="auto">
                <a:xfrm>
                  <a:off x="2727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58" name="Line 11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59" name="Line 119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89522" name="Group 120"/>
                <p:cNvGrpSpPr>
                  <a:grpSpLocks/>
                </p:cNvGrpSpPr>
                <p:nvPr/>
              </p:nvGrpSpPr>
              <p:grpSpPr bwMode="auto">
                <a:xfrm>
                  <a:off x="2649" y="1248"/>
                  <a:ext cx="83" cy="128"/>
                  <a:chOff x="704" y="1880"/>
                  <a:chExt cx="136" cy="128"/>
                </a:xfrm>
              </p:grpSpPr>
              <p:sp>
                <p:nvSpPr>
                  <p:cNvPr id="189561" name="Line 1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62" name="Line 12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89525" name="Group 123"/>
                <p:cNvGrpSpPr>
                  <a:grpSpLocks/>
                </p:cNvGrpSpPr>
                <p:nvPr/>
              </p:nvGrpSpPr>
              <p:grpSpPr bwMode="auto">
                <a:xfrm>
                  <a:off x="2567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64" name="Line 12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65" name="Line 12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89528" name="Group 126"/>
                <p:cNvGrpSpPr>
                  <a:grpSpLocks/>
                </p:cNvGrpSpPr>
                <p:nvPr/>
              </p:nvGrpSpPr>
              <p:grpSpPr bwMode="auto">
                <a:xfrm>
                  <a:off x="2490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67" name="Line 12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68" name="Line 12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89531" name="Group 129"/>
                <p:cNvGrpSpPr>
                  <a:grpSpLocks/>
                </p:cNvGrpSpPr>
                <p:nvPr/>
              </p:nvGrpSpPr>
              <p:grpSpPr bwMode="auto">
                <a:xfrm>
                  <a:off x="2408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70" name="Line 13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71" name="Line 13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89534" name="Group 132"/>
                <p:cNvGrpSpPr>
                  <a:grpSpLocks/>
                </p:cNvGrpSpPr>
                <p:nvPr/>
              </p:nvGrpSpPr>
              <p:grpSpPr bwMode="auto">
                <a:xfrm>
                  <a:off x="2330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73" name="Line 13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74" name="Line 13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89537" name="Group 135"/>
                <p:cNvGrpSpPr>
                  <a:grpSpLocks/>
                </p:cNvGrpSpPr>
                <p:nvPr/>
              </p:nvGrpSpPr>
              <p:grpSpPr bwMode="auto">
                <a:xfrm>
                  <a:off x="2248" y="1248"/>
                  <a:ext cx="82" cy="128"/>
                  <a:chOff x="704" y="1880"/>
                  <a:chExt cx="136" cy="128"/>
                </a:xfrm>
              </p:grpSpPr>
              <p:sp>
                <p:nvSpPr>
                  <p:cNvPr id="189576" name="Line 13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04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9577" name="Line 137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68" y="1880"/>
                    <a:ext cx="72" cy="12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89578" name="Line 138"/>
              <p:cNvSpPr>
                <a:spLocks noChangeShapeType="1"/>
              </p:cNvSpPr>
              <p:nvPr/>
            </p:nvSpPr>
            <p:spPr bwMode="auto">
              <a:xfrm>
                <a:off x="1611" y="2426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79" name="Text Box 139"/>
              <p:cNvSpPr txBox="1">
                <a:spLocks noChangeArrowheads="1"/>
              </p:cNvSpPr>
              <p:nvPr/>
            </p:nvSpPr>
            <p:spPr bwMode="auto">
              <a:xfrm>
                <a:off x="1503" y="2481"/>
                <a:ext cx="29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x=0</a:t>
                </a:r>
              </a:p>
            </p:txBody>
          </p:sp>
          <p:sp>
            <p:nvSpPr>
              <p:cNvPr id="189580" name="Line 140"/>
              <p:cNvSpPr>
                <a:spLocks noChangeShapeType="1"/>
              </p:cNvSpPr>
              <p:nvPr/>
            </p:nvSpPr>
            <p:spPr bwMode="auto">
              <a:xfrm>
                <a:off x="1944" y="2432"/>
                <a:ext cx="0" cy="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81" name="Text Box 141"/>
              <p:cNvSpPr txBox="1">
                <a:spLocks noChangeArrowheads="1"/>
              </p:cNvSpPr>
              <p:nvPr/>
            </p:nvSpPr>
            <p:spPr bwMode="auto">
              <a:xfrm>
                <a:off x="1853" y="2468"/>
                <a:ext cx="30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x</a:t>
                </a:r>
                <a:r>
                  <a:rPr lang="en-US" sz="1400" baseline="-25000"/>
                  <a:t>max</a:t>
                </a:r>
              </a:p>
            </p:txBody>
          </p:sp>
          <p:sp>
            <p:nvSpPr>
              <p:cNvPr id="189582" name="Line 142"/>
              <p:cNvSpPr>
                <a:spLocks noChangeShapeType="1"/>
              </p:cNvSpPr>
              <p:nvPr/>
            </p:nvSpPr>
            <p:spPr bwMode="auto">
              <a:xfrm>
                <a:off x="1492" y="2161"/>
                <a:ext cx="28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9583" name="Arc 143"/>
            <p:cNvSpPr>
              <a:spLocks/>
            </p:cNvSpPr>
            <p:nvPr/>
          </p:nvSpPr>
          <p:spPr bwMode="auto">
            <a:xfrm>
              <a:off x="3631" y="2030"/>
              <a:ext cx="505" cy="595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143 w 43200"/>
                <a:gd name="T1" fmla="*/ 24077 h 43200"/>
                <a:gd name="T2" fmla="*/ 4287 w 43200"/>
                <a:gd name="T3" fmla="*/ 34515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142" y="24077"/>
                  </a:moveTo>
                  <a:cubicBezTo>
                    <a:pt x="47" y="23254"/>
                    <a:pt x="0" y="2242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14781" y="43200"/>
                    <a:pt x="8363" y="39980"/>
                    <a:pt x="4286" y="34515"/>
                  </a:cubicBezTo>
                </a:path>
                <a:path w="43200" h="43200" stroke="0" extrusionOk="0">
                  <a:moveTo>
                    <a:pt x="142" y="24077"/>
                  </a:moveTo>
                  <a:cubicBezTo>
                    <a:pt x="47" y="23254"/>
                    <a:pt x="0" y="2242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14781" y="43200"/>
                    <a:pt x="8363" y="39980"/>
                    <a:pt x="4286" y="34515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arrow" w="lg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89584" name="Object 144"/>
          <p:cNvGraphicFramePr>
            <a:graphicFrameLocks noGrp="1" noChangeAspect="1"/>
          </p:cNvGraphicFramePr>
          <p:nvPr>
            <p:ph sz="half" idx="2"/>
          </p:nvPr>
        </p:nvGraphicFramePr>
        <p:xfrm>
          <a:off x="3187701" y="1301751"/>
          <a:ext cx="111442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393480" progId="Equation.3">
                  <p:embed/>
                </p:oleObj>
              </mc:Choice>
              <mc:Fallback>
                <p:oleObj name="Equation" r:id="rId2" imgW="685800" imgH="393480" progId="Equation.3">
                  <p:embed/>
                  <p:pic>
                    <p:nvPicPr>
                      <p:cNvPr id="189584" name="Object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1" y="1301751"/>
                        <a:ext cx="1114425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SHM Velocity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3162300" cy="4525963"/>
          </a:xfrm>
        </p:spPr>
        <p:txBody>
          <a:bodyPr/>
          <a:lstStyle/>
          <a:p>
            <a:r>
              <a:rPr lang="en-US"/>
              <a:t>The velocity of the mass experiencing SHM is </a:t>
            </a:r>
          </a:p>
          <a:p>
            <a:pPr lvl="1"/>
            <a:r>
              <a:rPr lang="en-US"/>
              <a:t>maximum at equilibrium, </a:t>
            </a:r>
          </a:p>
          <a:p>
            <a:pPr lvl="1"/>
            <a:r>
              <a:rPr lang="en-US"/>
              <a:t>Zero at the extreme displacement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581650" y="3122614"/>
            <a:ext cx="1925638" cy="1057275"/>
            <a:chOff x="176" y="1300"/>
            <a:chExt cx="1213" cy="666"/>
          </a:xfrm>
        </p:grpSpPr>
        <p:sp>
          <p:nvSpPr>
            <p:cNvPr id="158725" name="AutoShape 5"/>
            <p:cNvSpPr>
              <a:spLocks noChangeArrowheads="1"/>
            </p:cNvSpPr>
            <p:nvPr/>
          </p:nvSpPr>
          <p:spPr bwMode="auto">
            <a:xfrm>
              <a:off x="1013" y="1512"/>
              <a:ext cx="167" cy="15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58726" name="Text Box 6"/>
            <p:cNvSpPr txBox="1">
              <a:spLocks noChangeArrowheads="1"/>
            </p:cNvSpPr>
            <p:nvPr/>
          </p:nvSpPr>
          <p:spPr bwMode="auto">
            <a:xfrm>
              <a:off x="982" y="1329"/>
              <a:ext cx="3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V=0</a:t>
              </a:r>
            </a:p>
          </p:txBody>
        </p:sp>
        <p:sp>
          <p:nvSpPr>
            <p:cNvPr id="158727" name="Line 7"/>
            <p:cNvSpPr>
              <a:spLocks noChangeShapeType="1"/>
            </p:cNvSpPr>
            <p:nvPr/>
          </p:nvSpPr>
          <p:spPr bwMode="auto">
            <a:xfrm>
              <a:off x="188" y="1300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8728" name="Line 8"/>
            <p:cNvSpPr>
              <a:spLocks noChangeShapeType="1"/>
            </p:cNvSpPr>
            <p:nvPr/>
          </p:nvSpPr>
          <p:spPr bwMode="auto">
            <a:xfrm rot="5400000" flipV="1">
              <a:off x="684" y="1169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901" y="1506"/>
              <a:ext cx="101" cy="95"/>
              <a:chOff x="704" y="1880"/>
              <a:chExt cx="136" cy="128"/>
            </a:xfrm>
          </p:grpSpPr>
          <p:sp>
            <p:nvSpPr>
              <p:cNvPr id="158730" name="Line 10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31" name="Line 11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794" y="1506"/>
              <a:ext cx="101" cy="95"/>
              <a:chOff x="704" y="1880"/>
              <a:chExt cx="136" cy="128"/>
            </a:xfrm>
          </p:grpSpPr>
          <p:sp>
            <p:nvSpPr>
              <p:cNvPr id="158733" name="Line 13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34" name="Line 14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99" y="1506"/>
              <a:ext cx="101" cy="95"/>
              <a:chOff x="704" y="1880"/>
              <a:chExt cx="136" cy="128"/>
            </a:xfrm>
          </p:grpSpPr>
          <p:sp>
            <p:nvSpPr>
              <p:cNvPr id="158736" name="Line 16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37" name="Line 17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roup 18"/>
            <p:cNvGrpSpPr>
              <a:grpSpLocks/>
            </p:cNvGrpSpPr>
            <p:nvPr/>
          </p:nvGrpSpPr>
          <p:grpSpPr bwMode="auto">
            <a:xfrm>
              <a:off x="598" y="1506"/>
              <a:ext cx="101" cy="95"/>
              <a:chOff x="704" y="1880"/>
              <a:chExt cx="136" cy="128"/>
            </a:xfrm>
          </p:grpSpPr>
          <p:sp>
            <p:nvSpPr>
              <p:cNvPr id="158739" name="Line 19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40" name="Line 20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21"/>
            <p:cNvGrpSpPr>
              <a:grpSpLocks/>
            </p:cNvGrpSpPr>
            <p:nvPr/>
          </p:nvGrpSpPr>
          <p:grpSpPr bwMode="auto">
            <a:xfrm>
              <a:off x="503" y="1506"/>
              <a:ext cx="101" cy="95"/>
              <a:chOff x="704" y="1880"/>
              <a:chExt cx="136" cy="128"/>
            </a:xfrm>
          </p:grpSpPr>
          <p:sp>
            <p:nvSpPr>
              <p:cNvPr id="158742" name="Line 22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43" name="Line 23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24"/>
            <p:cNvGrpSpPr>
              <a:grpSpLocks/>
            </p:cNvGrpSpPr>
            <p:nvPr/>
          </p:nvGrpSpPr>
          <p:grpSpPr bwMode="auto">
            <a:xfrm>
              <a:off x="402" y="1506"/>
              <a:ext cx="101" cy="95"/>
              <a:chOff x="704" y="1880"/>
              <a:chExt cx="136" cy="128"/>
            </a:xfrm>
          </p:grpSpPr>
          <p:sp>
            <p:nvSpPr>
              <p:cNvPr id="158745" name="Line 25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46" name="Line 26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27"/>
            <p:cNvGrpSpPr>
              <a:grpSpLocks/>
            </p:cNvGrpSpPr>
            <p:nvPr/>
          </p:nvGrpSpPr>
          <p:grpSpPr bwMode="auto">
            <a:xfrm>
              <a:off x="307" y="1506"/>
              <a:ext cx="101" cy="95"/>
              <a:chOff x="704" y="1880"/>
              <a:chExt cx="136" cy="128"/>
            </a:xfrm>
          </p:grpSpPr>
          <p:sp>
            <p:nvSpPr>
              <p:cNvPr id="158748" name="Line 28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49" name="Line 29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30"/>
            <p:cNvGrpSpPr>
              <a:grpSpLocks/>
            </p:cNvGrpSpPr>
            <p:nvPr/>
          </p:nvGrpSpPr>
          <p:grpSpPr bwMode="auto">
            <a:xfrm>
              <a:off x="206" y="1506"/>
              <a:ext cx="101" cy="95"/>
              <a:chOff x="704" y="1880"/>
              <a:chExt cx="136" cy="128"/>
            </a:xfrm>
          </p:grpSpPr>
          <p:sp>
            <p:nvSpPr>
              <p:cNvPr id="158751" name="Line 31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52" name="Line 32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8753" name="Line 33"/>
            <p:cNvSpPr>
              <a:spLocks noChangeShapeType="1"/>
            </p:cNvSpPr>
            <p:nvPr/>
          </p:nvSpPr>
          <p:spPr bwMode="auto">
            <a:xfrm>
              <a:off x="758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8754" name="Text Box 34"/>
            <p:cNvSpPr txBox="1">
              <a:spLocks noChangeArrowheads="1"/>
            </p:cNvSpPr>
            <p:nvPr/>
          </p:nvSpPr>
          <p:spPr bwMode="auto">
            <a:xfrm>
              <a:off x="650" y="1774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158755" name="Line 35"/>
            <p:cNvSpPr>
              <a:spLocks noChangeShapeType="1"/>
            </p:cNvSpPr>
            <p:nvPr/>
          </p:nvSpPr>
          <p:spPr bwMode="auto">
            <a:xfrm>
              <a:off x="1091" y="1725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8756" name="Text Box 36"/>
            <p:cNvSpPr txBox="1">
              <a:spLocks noChangeArrowheads="1"/>
            </p:cNvSpPr>
            <p:nvPr/>
          </p:nvSpPr>
          <p:spPr bwMode="auto">
            <a:xfrm>
              <a:off x="1000" y="1768"/>
              <a:ext cx="3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158757" name="Text Box 37"/>
            <p:cNvSpPr txBox="1">
              <a:spLocks noChangeArrowheads="1"/>
            </p:cNvSpPr>
            <p:nvPr/>
          </p:nvSpPr>
          <p:spPr bwMode="auto">
            <a:xfrm>
              <a:off x="489" y="1317"/>
              <a:ext cx="17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k</a:t>
              </a:r>
            </a:p>
          </p:txBody>
        </p:sp>
      </p:grpSp>
      <p:grpSp>
        <p:nvGrpSpPr>
          <p:cNvPr id="11" name="Group 38"/>
          <p:cNvGrpSpPr>
            <a:grpSpLocks/>
          </p:cNvGrpSpPr>
          <p:nvPr/>
        </p:nvGrpSpPr>
        <p:grpSpPr bwMode="auto">
          <a:xfrm>
            <a:off x="6948489" y="2019300"/>
            <a:ext cx="1887537" cy="1123950"/>
            <a:chOff x="1037" y="605"/>
            <a:chExt cx="1189" cy="708"/>
          </a:xfrm>
        </p:grpSpPr>
        <p:sp>
          <p:nvSpPr>
            <p:cNvPr id="158759" name="AutoShape 39"/>
            <p:cNvSpPr>
              <a:spLocks noChangeArrowheads="1"/>
            </p:cNvSpPr>
            <p:nvPr/>
          </p:nvSpPr>
          <p:spPr bwMode="auto">
            <a:xfrm>
              <a:off x="1554" y="868"/>
              <a:ext cx="166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58760" name="Text Box 40"/>
            <p:cNvSpPr txBox="1">
              <a:spLocks noChangeArrowheads="1"/>
            </p:cNvSpPr>
            <p:nvPr/>
          </p:nvSpPr>
          <p:spPr bwMode="auto">
            <a:xfrm>
              <a:off x="1540" y="605"/>
              <a:ext cx="18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A</a:t>
              </a:r>
              <a:endParaRPr lang="en-US" sz="1400" baseline="-25000"/>
            </a:p>
          </p:txBody>
        </p:sp>
        <p:sp>
          <p:nvSpPr>
            <p:cNvPr id="158761" name="Line 41"/>
            <p:cNvSpPr>
              <a:spLocks noChangeShapeType="1"/>
            </p:cNvSpPr>
            <p:nvPr/>
          </p:nvSpPr>
          <p:spPr bwMode="auto">
            <a:xfrm>
              <a:off x="1049" y="656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8762" name="Line 42"/>
            <p:cNvSpPr>
              <a:spLocks noChangeShapeType="1"/>
            </p:cNvSpPr>
            <p:nvPr/>
          </p:nvSpPr>
          <p:spPr bwMode="auto">
            <a:xfrm rot="5400000" flipV="1">
              <a:off x="1545" y="525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oup 43"/>
            <p:cNvGrpSpPr>
              <a:grpSpLocks/>
            </p:cNvGrpSpPr>
            <p:nvPr/>
          </p:nvGrpSpPr>
          <p:grpSpPr bwMode="auto">
            <a:xfrm>
              <a:off x="1067" y="868"/>
              <a:ext cx="481" cy="94"/>
              <a:chOff x="2248" y="1248"/>
              <a:chExt cx="648" cy="128"/>
            </a:xfrm>
          </p:grpSpPr>
          <p:grpSp>
            <p:nvGrpSpPr>
              <p:cNvPr id="13" name="Group 44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158765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66" name="Line 4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47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158768" name="Line 4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69" name="Line 4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50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158771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72" name="Line 5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53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158774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75" name="Line 5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56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158777" name="Line 5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78" name="Line 5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59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158780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81" name="Line 6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62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158783" name="Line 6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84" name="Line 6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65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158786" name="Line 6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87" name="Line 6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58788" name="Line 68"/>
            <p:cNvSpPr>
              <a:spLocks noChangeShapeType="1"/>
            </p:cNvSpPr>
            <p:nvPr/>
          </p:nvSpPr>
          <p:spPr bwMode="auto">
            <a:xfrm>
              <a:off x="1619" y="1074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8789" name="Text Box 69"/>
            <p:cNvSpPr txBox="1">
              <a:spLocks noChangeArrowheads="1"/>
            </p:cNvSpPr>
            <p:nvPr/>
          </p:nvSpPr>
          <p:spPr bwMode="auto">
            <a:xfrm>
              <a:off x="1511" y="1121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158790" name="Line 70"/>
            <p:cNvSpPr>
              <a:spLocks noChangeShapeType="1"/>
            </p:cNvSpPr>
            <p:nvPr/>
          </p:nvSpPr>
          <p:spPr bwMode="auto">
            <a:xfrm>
              <a:off x="1952" y="1080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8791" name="Text Box 71"/>
            <p:cNvSpPr txBox="1">
              <a:spLocks noChangeArrowheads="1"/>
            </p:cNvSpPr>
            <p:nvPr/>
          </p:nvSpPr>
          <p:spPr bwMode="auto">
            <a:xfrm>
              <a:off x="1861" y="1116"/>
              <a:ext cx="36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158792" name="Line 72"/>
            <p:cNvSpPr>
              <a:spLocks noChangeShapeType="1"/>
            </p:cNvSpPr>
            <p:nvPr/>
          </p:nvSpPr>
          <p:spPr bwMode="auto">
            <a:xfrm flipH="1">
              <a:off x="1500" y="809"/>
              <a:ext cx="2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73"/>
          <p:cNvGrpSpPr>
            <a:grpSpLocks/>
          </p:cNvGrpSpPr>
          <p:nvPr/>
        </p:nvGrpSpPr>
        <p:grpSpPr bwMode="auto">
          <a:xfrm>
            <a:off x="8655050" y="3122614"/>
            <a:ext cx="1612900" cy="1082675"/>
            <a:chOff x="2112" y="1300"/>
            <a:chExt cx="1016" cy="682"/>
          </a:xfrm>
        </p:grpSpPr>
        <p:sp>
          <p:nvSpPr>
            <p:cNvPr id="158794" name="AutoShape 74"/>
            <p:cNvSpPr>
              <a:spLocks noChangeArrowheads="1"/>
            </p:cNvSpPr>
            <p:nvPr/>
          </p:nvSpPr>
          <p:spPr bwMode="auto">
            <a:xfrm>
              <a:off x="2385" y="1495"/>
              <a:ext cx="167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58795" name="Line 75"/>
            <p:cNvSpPr>
              <a:spLocks noChangeShapeType="1"/>
            </p:cNvSpPr>
            <p:nvPr/>
          </p:nvSpPr>
          <p:spPr bwMode="auto">
            <a:xfrm>
              <a:off x="2124" y="1300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8796" name="Line 76"/>
            <p:cNvSpPr>
              <a:spLocks noChangeShapeType="1"/>
            </p:cNvSpPr>
            <p:nvPr/>
          </p:nvSpPr>
          <p:spPr bwMode="auto">
            <a:xfrm rot="5400000" flipV="1">
              <a:off x="2620" y="1169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oup 77"/>
            <p:cNvGrpSpPr>
              <a:grpSpLocks/>
            </p:cNvGrpSpPr>
            <p:nvPr/>
          </p:nvGrpSpPr>
          <p:grpSpPr bwMode="auto">
            <a:xfrm>
              <a:off x="2148" y="1512"/>
              <a:ext cx="225" cy="95"/>
              <a:chOff x="2248" y="1248"/>
              <a:chExt cx="648" cy="128"/>
            </a:xfrm>
          </p:grpSpPr>
          <p:grpSp>
            <p:nvGrpSpPr>
              <p:cNvPr id="23" name="Group 78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158799" name="Line 7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00" name="Line 8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" name="Group 81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158802" name="Line 8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03" name="Line 8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5" name="Group 84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158805" name="Line 8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06" name="Line 8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" name="Group 87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158808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09" name="Line 8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90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158811" name="Line 9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12" name="Line 9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" name="Group 93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158814" name="Line 9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15" name="Line 9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" name="Group 96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158817" name="Line 9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18" name="Line 9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0" name="Group 99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158820" name="Line 10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21" name="Line 10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58822" name="Line 102"/>
            <p:cNvSpPr>
              <a:spLocks noChangeShapeType="1"/>
            </p:cNvSpPr>
            <p:nvPr/>
          </p:nvSpPr>
          <p:spPr bwMode="auto">
            <a:xfrm>
              <a:off x="2694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8823" name="Text Box 103"/>
            <p:cNvSpPr txBox="1">
              <a:spLocks noChangeArrowheads="1"/>
            </p:cNvSpPr>
            <p:nvPr/>
          </p:nvSpPr>
          <p:spPr bwMode="auto">
            <a:xfrm>
              <a:off x="2586" y="1790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158824" name="Line 104"/>
            <p:cNvSpPr>
              <a:spLocks noChangeShapeType="1"/>
            </p:cNvSpPr>
            <p:nvPr/>
          </p:nvSpPr>
          <p:spPr bwMode="auto">
            <a:xfrm>
              <a:off x="2474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8825" name="Text Box 105"/>
            <p:cNvSpPr txBox="1">
              <a:spLocks noChangeArrowheads="1"/>
            </p:cNvSpPr>
            <p:nvPr/>
          </p:nvSpPr>
          <p:spPr bwMode="auto">
            <a:xfrm>
              <a:off x="2342" y="1772"/>
              <a:ext cx="48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-x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158826" name="Text Box 106"/>
            <p:cNvSpPr txBox="1">
              <a:spLocks noChangeArrowheads="1"/>
            </p:cNvSpPr>
            <p:nvPr/>
          </p:nvSpPr>
          <p:spPr bwMode="auto">
            <a:xfrm>
              <a:off x="2342" y="1311"/>
              <a:ext cx="3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V=0</a:t>
              </a:r>
            </a:p>
          </p:txBody>
        </p:sp>
      </p:grpSp>
      <p:grpSp>
        <p:nvGrpSpPr>
          <p:cNvPr id="31" name="Group 107"/>
          <p:cNvGrpSpPr>
            <a:grpSpLocks/>
          </p:cNvGrpSpPr>
          <p:nvPr/>
        </p:nvGrpSpPr>
        <p:grpSpPr bwMode="auto">
          <a:xfrm>
            <a:off x="6935789" y="4140200"/>
            <a:ext cx="1798637" cy="1162050"/>
            <a:chOff x="1029" y="1941"/>
            <a:chExt cx="1133" cy="732"/>
          </a:xfrm>
        </p:grpSpPr>
        <p:sp>
          <p:nvSpPr>
            <p:cNvPr id="158828" name="AutoShape 108"/>
            <p:cNvSpPr>
              <a:spLocks noChangeArrowheads="1"/>
            </p:cNvSpPr>
            <p:nvPr/>
          </p:nvSpPr>
          <p:spPr bwMode="auto">
            <a:xfrm>
              <a:off x="1546" y="2220"/>
              <a:ext cx="166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58829" name="Text Box 109"/>
            <p:cNvSpPr txBox="1">
              <a:spLocks noChangeArrowheads="1"/>
            </p:cNvSpPr>
            <p:nvPr/>
          </p:nvSpPr>
          <p:spPr bwMode="auto">
            <a:xfrm>
              <a:off x="1532" y="1941"/>
              <a:ext cx="32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158830" name="Line 110"/>
            <p:cNvSpPr>
              <a:spLocks noChangeShapeType="1"/>
            </p:cNvSpPr>
            <p:nvPr/>
          </p:nvSpPr>
          <p:spPr bwMode="auto">
            <a:xfrm>
              <a:off x="1041" y="2008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8831" name="Line 111"/>
            <p:cNvSpPr>
              <a:spLocks noChangeShapeType="1"/>
            </p:cNvSpPr>
            <p:nvPr/>
          </p:nvSpPr>
          <p:spPr bwMode="auto">
            <a:xfrm rot="5400000" flipV="1">
              <a:off x="1537" y="1877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8816" name="Group 112"/>
            <p:cNvGrpSpPr>
              <a:grpSpLocks/>
            </p:cNvGrpSpPr>
            <p:nvPr/>
          </p:nvGrpSpPr>
          <p:grpSpPr bwMode="auto">
            <a:xfrm>
              <a:off x="1059" y="2220"/>
              <a:ext cx="481" cy="94"/>
              <a:chOff x="2248" y="1248"/>
              <a:chExt cx="648" cy="128"/>
            </a:xfrm>
          </p:grpSpPr>
          <p:grpSp>
            <p:nvGrpSpPr>
              <p:cNvPr id="158819" name="Group 113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158834" name="Line 11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35" name="Line 11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8827" name="Group 116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158837" name="Line 11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38" name="Line 11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8832" name="Group 119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158840" name="Line 12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41" name="Line 12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8833" name="Group 122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158843" name="Line 12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44" name="Line 12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8836" name="Group 125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158846" name="Line 12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47" name="Line 12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8839" name="Group 128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158849" name="Line 12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50" name="Line 13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8842" name="Group 131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158852" name="Line 13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53" name="Line 13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8845" name="Group 134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158855" name="Line 13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56" name="Line 13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58857" name="Line 137"/>
            <p:cNvSpPr>
              <a:spLocks noChangeShapeType="1"/>
            </p:cNvSpPr>
            <p:nvPr/>
          </p:nvSpPr>
          <p:spPr bwMode="auto">
            <a:xfrm>
              <a:off x="1611" y="2426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8858" name="Text Box 138"/>
            <p:cNvSpPr txBox="1">
              <a:spLocks noChangeArrowheads="1"/>
            </p:cNvSpPr>
            <p:nvPr/>
          </p:nvSpPr>
          <p:spPr bwMode="auto">
            <a:xfrm>
              <a:off x="1503" y="2481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158859" name="Line 139"/>
            <p:cNvSpPr>
              <a:spLocks noChangeShapeType="1"/>
            </p:cNvSpPr>
            <p:nvPr/>
          </p:nvSpPr>
          <p:spPr bwMode="auto">
            <a:xfrm>
              <a:off x="1944" y="2432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8860" name="Text Box 140"/>
            <p:cNvSpPr txBox="1">
              <a:spLocks noChangeArrowheads="1"/>
            </p:cNvSpPr>
            <p:nvPr/>
          </p:nvSpPr>
          <p:spPr bwMode="auto">
            <a:xfrm>
              <a:off x="1853" y="2468"/>
              <a:ext cx="30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158861" name="Line 141"/>
            <p:cNvSpPr>
              <a:spLocks noChangeShapeType="1"/>
            </p:cNvSpPr>
            <p:nvPr/>
          </p:nvSpPr>
          <p:spPr bwMode="auto">
            <a:xfrm>
              <a:off x="1492" y="2161"/>
              <a:ext cx="2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8862" name="Arc 142"/>
          <p:cNvSpPr>
            <a:spLocks/>
          </p:cNvSpPr>
          <p:nvPr/>
        </p:nvSpPr>
        <p:spPr bwMode="auto">
          <a:xfrm>
            <a:off x="7383464" y="3184526"/>
            <a:ext cx="801687" cy="944563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143 w 43200"/>
              <a:gd name="T1" fmla="*/ 24077 h 43200"/>
              <a:gd name="T2" fmla="*/ 4287 w 43200"/>
              <a:gd name="T3" fmla="*/ 34515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142" y="24077"/>
                </a:moveTo>
                <a:cubicBezTo>
                  <a:pt x="47" y="23254"/>
                  <a:pt x="0" y="224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781" y="43200"/>
                  <a:pt x="8363" y="39980"/>
                  <a:pt x="4286" y="34515"/>
                </a:cubicBezTo>
              </a:path>
              <a:path w="43200" h="43200" stroke="0" extrusionOk="0">
                <a:moveTo>
                  <a:pt x="142" y="24077"/>
                </a:moveTo>
                <a:cubicBezTo>
                  <a:pt x="47" y="23254"/>
                  <a:pt x="0" y="224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781" y="43200"/>
                  <a:pt x="8363" y="39980"/>
                  <a:pt x="4286" y="34515"/>
                </a:cubicBez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arrow" w="lg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89275" y="2811464"/>
            <a:ext cx="1925638" cy="1057275"/>
            <a:chOff x="176" y="1300"/>
            <a:chExt cx="1213" cy="666"/>
          </a:xfrm>
        </p:grpSpPr>
        <p:sp>
          <p:nvSpPr>
            <p:cNvPr id="155654" name="AutoShape 6"/>
            <p:cNvSpPr>
              <a:spLocks noChangeArrowheads="1"/>
            </p:cNvSpPr>
            <p:nvPr/>
          </p:nvSpPr>
          <p:spPr bwMode="auto">
            <a:xfrm>
              <a:off x="1013" y="1512"/>
              <a:ext cx="167" cy="15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55655" name="Text Box 7"/>
            <p:cNvSpPr txBox="1">
              <a:spLocks noChangeArrowheads="1"/>
            </p:cNvSpPr>
            <p:nvPr/>
          </p:nvSpPr>
          <p:spPr bwMode="auto">
            <a:xfrm>
              <a:off x="982" y="1329"/>
              <a:ext cx="3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V=0</a:t>
              </a:r>
            </a:p>
          </p:txBody>
        </p:sp>
        <p:sp>
          <p:nvSpPr>
            <p:cNvPr id="155656" name="Line 8"/>
            <p:cNvSpPr>
              <a:spLocks noChangeShapeType="1"/>
            </p:cNvSpPr>
            <p:nvPr/>
          </p:nvSpPr>
          <p:spPr bwMode="auto">
            <a:xfrm>
              <a:off x="188" y="1300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657" name="Line 9"/>
            <p:cNvSpPr>
              <a:spLocks noChangeShapeType="1"/>
            </p:cNvSpPr>
            <p:nvPr/>
          </p:nvSpPr>
          <p:spPr bwMode="auto">
            <a:xfrm rot="5400000" flipV="1">
              <a:off x="684" y="1169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901" y="1506"/>
              <a:ext cx="101" cy="95"/>
              <a:chOff x="704" y="1880"/>
              <a:chExt cx="136" cy="128"/>
            </a:xfrm>
          </p:grpSpPr>
          <p:sp>
            <p:nvSpPr>
              <p:cNvPr id="155659" name="Line 11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60" name="Line 12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13"/>
            <p:cNvGrpSpPr>
              <a:grpSpLocks/>
            </p:cNvGrpSpPr>
            <p:nvPr/>
          </p:nvGrpSpPr>
          <p:grpSpPr bwMode="auto">
            <a:xfrm>
              <a:off x="794" y="1506"/>
              <a:ext cx="101" cy="95"/>
              <a:chOff x="704" y="1880"/>
              <a:chExt cx="136" cy="128"/>
            </a:xfrm>
          </p:grpSpPr>
          <p:sp>
            <p:nvSpPr>
              <p:cNvPr id="155662" name="Line 14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63" name="Line 15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16"/>
            <p:cNvGrpSpPr>
              <a:grpSpLocks/>
            </p:cNvGrpSpPr>
            <p:nvPr/>
          </p:nvGrpSpPr>
          <p:grpSpPr bwMode="auto">
            <a:xfrm>
              <a:off x="699" y="1506"/>
              <a:ext cx="101" cy="95"/>
              <a:chOff x="704" y="1880"/>
              <a:chExt cx="136" cy="128"/>
            </a:xfrm>
          </p:grpSpPr>
          <p:sp>
            <p:nvSpPr>
              <p:cNvPr id="155665" name="Line 17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66" name="Line 18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roup 19"/>
            <p:cNvGrpSpPr>
              <a:grpSpLocks/>
            </p:cNvGrpSpPr>
            <p:nvPr/>
          </p:nvGrpSpPr>
          <p:grpSpPr bwMode="auto">
            <a:xfrm>
              <a:off x="598" y="1506"/>
              <a:ext cx="101" cy="95"/>
              <a:chOff x="704" y="1880"/>
              <a:chExt cx="136" cy="128"/>
            </a:xfrm>
          </p:grpSpPr>
          <p:sp>
            <p:nvSpPr>
              <p:cNvPr id="155668" name="Line 20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69" name="Line 21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22"/>
            <p:cNvGrpSpPr>
              <a:grpSpLocks/>
            </p:cNvGrpSpPr>
            <p:nvPr/>
          </p:nvGrpSpPr>
          <p:grpSpPr bwMode="auto">
            <a:xfrm>
              <a:off x="503" y="1506"/>
              <a:ext cx="101" cy="95"/>
              <a:chOff x="704" y="1880"/>
              <a:chExt cx="136" cy="128"/>
            </a:xfrm>
          </p:grpSpPr>
          <p:sp>
            <p:nvSpPr>
              <p:cNvPr id="155671" name="Line 23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72" name="Line 24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25"/>
            <p:cNvGrpSpPr>
              <a:grpSpLocks/>
            </p:cNvGrpSpPr>
            <p:nvPr/>
          </p:nvGrpSpPr>
          <p:grpSpPr bwMode="auto">
            <a:xfrm>
              <a:off x="402" y="1506"/>
              <a:ext cx="101" cy="95"/>
              <a:chOff x="704" y="1880"/>
              <a:chExt cx="136" cy="128"/>
            </a:xfrm>
          </p:grpSpPr>
          <p:sp>
            <p:nvSpPr>
              <p:cNvPr id="155674" name="Line 26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75" name="Line 27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28"/>
            <p:cNvGrpSpPr>
              <a:grpSpLocks/>
            </p:cNvGrpSpPr>
            <p:nvPr/>
          </p:nvGrpSpPr>
          <p:grpSpPr bwMode="auto">
            <a:xfrm>
              <a:off x="307" y="1506"/>
              <a:ext cx="101" cy="95"/>
              <a:chOff x="704" y="1880"/>
              <a:chExt cx="136" cy="128"/>
            </a:xfrm>
          </p:grpSpPr>
          <p:sp>
            <p:nvSpPr>
              <p:cNvPr id="155677" name="Line 29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78" name="Line 30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31"/>
            <p:cNvGrpSpPr>
              <a:grpSpLocks/>
            </p:cNvGrpSpPr>
            <p:nvPr/>
          </p:nvGrpSpPr>
          <p:grpSpPr bwMode="auto">
            <a:xfrm>
              <a:off x="206" y="1506"/>
              <a:ext cx="101" cy="95"/>
              <a:chOff x="704" y="1880"/>
              <a:chExt cx="136" cy="128"/>
            </a:xfrm>
          </p:grpSpPr>
          <p:sp>
            <p:nvSpPr>
              <p:cNvPr id="155680" name="Line 32"/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81" name="Line 33"/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5682" name="Line 34"/>
            <p:cNvSpPr>
              <a:spLocks noChangeShapeType="1"/>
            </p:cNvSpPr>
            <p:nvPr/>
          </p:nvSpPr>
          <p:spPr bwMode="auto">
            <a:xfrm>
              <a:off x="758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683" name="Text Box 35"/>
            <p:cNvSpPr txBox="1">
              <a:spLocks noChangeArrowheads="1"/>
            </p:cNvSpPr>
            <p:nvPr/>
          </p:nvSpPr>
          <p:spPr bwMode="auto">
            <a:xfrm>
              <a:off x="650" y="1774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155684" name="Line 36"/>
            <p:cNvSpPr>
              <a:spLocks noChangeShapeType="1"/>
            </p:cNvSpPr>
            <p:nvPr/>
          </p:nvSpPr>
          <p:spPr bwMode="auto">
            <a:xfrm>
              <a:off x="1091" y="1725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685" name="Text Box 37"/>
            <p:cNvSpPr txBox="1">
              <a:spLocks noChangeArrowheads="1"/>
            </p:cNvSpPr>
            <p:nvPr/>
          </p:nvSpPr>
          <p:spPr bwMode="auto">
            <a:xfrm>
              <a:off x="1000" y="1768"/>
              <a:ext cx="3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155686" name="Text Box 38"/>
            <p:cNvSpPr txBox="1">
              <a:spLocks noChangeArrowheads="1"/>
            </p:cNvSpPr>
            <p:nvPr/>
          </p:nvSpPr>
          <p:spPr bwMode="auto">
            <a:xfrm>
              <a:off x="489" y="1317"/>
              <a:ext cx="17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k</a:t>
              </a:r>
            </a:p>
          </p:txBody>
        </p:sp>
      </p:grpSp>
      <p:grpSp>
        <p:nvGrpSpPr>
          <p:cNvPr id="11" name="Group 39"/>
          <p:cNvGrpSpPr>
            <a:grpSpLocks/>
          </p:cNvGrpSpPr>
          <p:nvPr/>
        </p:nvGrpSpPr>
        <p:grpSpPr bwMode="auto">
          <a:xfrm>
            <a:off x="5240339" y="1193800"/>
            <a:ext cx="1887537" cy="1123950"/>
            <a:chOff x="1037" y="605"/>
            <a:chExt cx="1189" cy="708"/>
          </a:xfrm>
        </p:grpSpPr>
        <p:sp>
          <p:nvSpPr>
            <p:cNvPr id="155688" name="AutoShape 40"/>
            <p:cNvSpPr>
              <a:spLocks noChangeArrowheads="1"/>
            </p:cNvSpPr>
            <p:nvPr/>
          </p:nvSpPr>
          <p:spPr bwMode="auto">
            <a:xfrm>
              <a:off x="1554" y="868"/>
              <a:ext cx="166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55689" name="Text Box 41"/>
            <p:cNvSpPr txBox="1">
              <a:spLocks noChangeArrowheads="1"/>
            </p:cNvSpPr>
            <p:nvPr/>
          </p:nvSpPr>
          <p:spPr bwMode="auto">
            <a:xfrm>
              <a:off x="1540" y="605"/>
              <a:ext cx="32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155690" name="Line 42"/>
            <p:cNvSpPr>
              <a:spLocks noChangeShapeType="1"/>
            </p:cNvSpPr>
            <p:nvPr/>
          </p:nvSpPr>
          <p:spPr bwMode="auto">
            <a:xfrm>
              <a:off x="1049" y="656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691" name="Line 43"/>
            <p:cNvSpPr>
              <a:spLocks noChangeShapeType="1"/>
            </p:cNvSpPr>
            <p:nvPr/>
          </p:nvSpPr>
          <p:spPr bwMode="auto">
            <a:xfrm rot="5400000" flipV="1">
              <a:off x="1545" y="525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oup 44"/>
            <p:cNvGrpSpPr>
              <a:grpSpLocks/>
            </p:cNvGrpSpPr>
            <p:nvPr/>
          </p:nvGrpSpPr>
          <p:grpSpPr bwMode="auto">
            <a:xfrm>
              <a:off x="1067" y="868"/>
              <a:ext cx="481" cy="94"/>
              <a:chOff x="2248" y="1248"/>
              <a:chExt cx="648" cy="128"/>
            </a:xfrm>
          </p:grpSpPr>
          <p:grpSp>
            <p:nvGrpSpPr>
              <p:cNvPr id="13" name="Group 45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155694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695" name="Line 4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48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155697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698" name="Line 5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51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155700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01" name="Line 5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54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155703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04" name="Line 5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57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155706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07" name="Line 5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60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155709" name="Line 6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10" name="Line 6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63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155712" name="Line 6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13" name="Line 6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66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155715" name="Line 6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16" name="Line 6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55717" name="Line 69"/>
            <p:cNvSpPr>
              <a:spLocks noChangeShapeType="1"/>
            </p:cNvSpPr>
            <p:nvPr/>
          </p:nvSpPr>
          <p:spPr bwMode="auto">
            <a:xfrm>
              <a:off x="1619" y="1074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718" name="Text Box 70"/>
            <p:cNvSpPr txBox="1">
              <a:spLocks noChangeArrowheads="1"/>
            </p:cNvSpPr>
            <p:nvPr/>
          </p:nvSpPr>
          <p:spPr bwMode="auto">
            <a:xfrm>
              <a:off x="1511" y="1121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155719" name="Line 71"/>
            <p:cNvSpPr>
              <a:spLocks noChangeShapeType="1"/>
            </p:cNvSpPr>
            <p:nvPr/>
          </p:nvSpPr>
          <p:spPr bwMode="auto">
            <a:xfrm>
              <a:off x="1952" y="1080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720" name="Text Box 72"/>
            <p:cNvSpPr txBox="1">
              <a:spLocks noChangeArrowheads="1"/>
            </p:cNvSpPr>
            <p:nvPr/>
          </p:nvSpPr>
          <p:spPr bwMode="auto">
            <a:xfrm>
              <a:off x="1861" y="1116"/>
              <a:ext cx="36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155721" name="Line 73"/>
            <p:cNvSpPr>
              <a:spLocks noChangeShapeType="1"/>
            </p:cNvSpPr>
            <p:nvPr/>
          </p:nvSpPr>
          <p:spPr bwMode="auto">
            <a:xfrm flipH="1">
              <a:off x="1500" y="809"/>
              <a:ext cx="2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74"/>
          <p:cNvGrpSpPr>
            <a:grpSpLocks/>
          </p:cNvGrpSpPr>
          <p:nvPr/>
        </p:nvGrpSpPr>
        <p:grpSpPr bwMode="auto">
          <a:xfrm>
            <a:off x="7847013" y="2752726"/>
            <a:ext cx="1612900" cy="1082675"/>
            <a:chOff x="2112" y="1300"/>
            <a:chExt cx="1016" cy="682"/>
          </a:xfrm>
        </p:grpSpPr>
        <p:sp>
          <p:nvSpPr>
            <p:cNvPr id="155723" name="AutoShape 75"/>
            <p:cNvSpPr>
              <a:spLocks noChangeArrowheads="1"/>
            </p:cNvSpPr>
            <p:nvPr/>
          </p:nvSpPr>
          <p:spPr bwMode="auto">
            <a:xfrm>
              <a:off x="2385" y="1495"/>
              <a:ext cx="167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55724" name="Line 76"/>
            <p:cNvSpPr>
              <a:spLocks noChangeShapeType="1"/>
            </p:cNvSpPr>
            <p:nvPr/>
          </p:nvSpPr>
          <p:spPr bwMode="auto">
            <a:xfrm>
              <a:off x="2124" y="1300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725" name="Line 77"/>
            <p:cNvSpPr>
              <a:spLocks noChangeShapeType="1"/>
            </p:cNvSpPr>
            <p:nvPr/>
          </p:nvSpPr>
          <p:spPr bwMode="auto">
            <a:xfrm rot="5400000" flipV="1">
              <a:off x="2620" y="1169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oup 78"/>
            <p:cNvGrpSpPr>
              <a:grpSpLocks/>
            </p:cNvGrpSpPr>
            <p:nvPr/>
          </p:nvGrpSpPr>
          <p:grpSpPr bwMode="auto">
            <a:xfrm>
              <a:off x="2148" y="1512"/>
              <a:ext cx="225" cy="95"/>
              <a:chOff x="2248" y="1248"/>
              <a:chExt cx="648" cy="128"/>
            </a:xfrm>
          </p:grpSpPr>
          <p:grpSp>
            <p:nvGrpSpPr>
              <p:cNvPr id="23" name="Group 79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155728" name="Line 8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29" name="Line 8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" name="Group 82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155731" name="Line 8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32" name="Line 8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5" name="Group 85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155734" name="Line 8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35" name="Line 8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" name="Group 88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155737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38" name="Line 9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91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155740" name="Line 9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41" name="Line 9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" name="Group 94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155743" name="Line 9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44" name="Line 9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" name="Group 97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155746" name="Line 9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47" name="Line 9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0" name="Group 100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155749" name="Line 10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50" name="Line 10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55751" name="Line 103"/>
            <p:cNvSpPr>
              <a:spLocks noChangeShapeType="1"/>
            </p:cNvSpPr>
            <p:nvPr/>
          </p:nvSpPr>
          <p:spPr bwMode="auto">
            <a:xfrm>
              <a:off x="2694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752" name="Text Box 104"/>
            <p:cNvSpPr txBox="1">
              <a:spLocks noChangeArrowheads="1"/>
            </p:cNvSpPr>
            <p:nvPr/>
          </p:nvSpPr>
          <p:spPr bwMode="auto">
            <a:xfrm>
              <a:off x="2586" y="1790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155753" name="Line 105"/>
            <p:cNvSpPr>
              <a:spLocks noChangeShapeType="1"/>
            </p:cNvSpPr>
            <p:nvPr/>
          </p:nvSpPr>
          <p:spPr bwMode="auto">
            <a:xfrm>
              <a:off x="2474" y="1719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754" name="Text Box 106"/>
            <p:cNvSpPr txBox="1">
              <a:spLocks noChangeArrowheads="1"/>
            </p:cNvSpPr>
            <p:nvPr/>
          </p:nvSpPr>
          <p:spPr bwMode="auto">
            <a:xfrm>
              <a:off x="2342" y="1772"/>
              <a:ext cx="48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-x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155755" name="Text Box 107"/>
            <p:cNvSpPr txBox="1">
              <a:spLocks noChangeArrowheads="1"/>
            </p:cNvSpPr>
            <p:nvPr/>
          </p:nvSpPr>
          <p:spPr bwMode="auto">
            <a:xfrm>
              <a:off x="2342" y="1311"/>
              <a:ext cx="3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V=0</a:t>
              </a:r>
            </a:p>
          </p:txBody>
        </p:sp>
      </p:grpSp>
      <p:grpSp>
        <p:nvGrpSpPr>
          <p:cNvPr id="31" name="Group 108"/>
          <p:cNvGrpSpPr>
            <a:grpSpLocks/>
          </p:cNvGrpSpPr>
          <p:nvPr/>
        </p:nvGrpSpPr>
        <p:grpSpPr bwMode="auto">
          <a:xfrm>
            <a:off x="5227639" y="4400550"/>
            <a:ext cx="1798637" cy="1162050"/>
            <a:chOff x="1029" y="1941"/>
            <a:chExt cx="1133" cy="732"/>
          </a:xfrm>
        </p:grpSpPr>
        <p:sp>
          <p:nvSpPr>
            <p:cNvPr id="155757" name="AutoShape 109"/>
            <p:cNvSpPr>
              <a:spLocks noChangeArrowheads="1"/>
            </p:cNvSpPr>
            <p:nvPr/>
          </p:nvSpPr>
          <p:spPr bwMode="auto">
            <a:xfrm>
              <a:off x="1546" y="2220"/>
              <a:ext cx="166" cy="153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55758" name="Text Box 110"/>
            <p:cNvSpPr txBox="1">
              <a:spLocks noChangeArrowheads="1"/>
            </p:cNvSpPr>
            <p:nvPr/>
          </p:nvSpPr>
          <p:spPr bwMode="auto">
            <a:xfrm>
              <a:off x="1532" y="1941"/>
              <a:ext cx="32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V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155759" name="Line 111"/>
            <p:cNvSpPr>
              <a:spLocks noChangeShapeType="1"/>
            </p:cNvSpPr>
            <p:nvPr/>
          </p:nvSpPr>
          <p:spPr bwMode="auto">
            <a:xfrm>
              <a:off x="1041" y="2008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760" name="Line 112"/>
            <p:cNvSpPr>
              <a:spLocks noChangeShapeType="1"/>
            </p:cNvSpPr>
            <p:nvPr/>
          </p:nvSpPr>
          <p:spPr bwMode="auto">
            <a:xfrm rot="5400000" flipV="1">
              <a:off x="1537" y="1877"/>
              <a:ext cx="0" cy="10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5687" name="Group 113"/>
            <p:cNvGrpSpPr>
              <a:grpSpLocks/>
            </p:cNvGrpSpPr>
            <p:nvPr/>
          </p:nvGrpSpPr>
          <p:grpSpPr bwMode="auto">
            <a:xfrm>
              <a:off x="1059" y="2220"/>
              <a:ext cx="481" cy="94"/>
              <a:chOff x="2248" y="1248"/>
              <a:chExt cx="648" cy="128"/>
            </a:xfrm>
          </p:grpSpPr>
          <p:grpSp>
            <p:nvGrpSpPr>
              <p:cNvPr id="155692" name="Group 114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155763" name="Line 11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64" name="Line 11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5693" name="Group 117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155766" name="Line 11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67" name="Line 11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5696" name="Group 120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155769" name="Line 12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70" name="Line 12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5699" name="Group 123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155772" name="Line 12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73" name="Line 12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5702" name="Group 126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155775" name="Line 12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76" name="Line 12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5705" name="Group 129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155778" name="Line 13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79" name="Line 13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5708" name="Group 132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155781" name="Line 13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82" name="Line 13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5711" name="Group 135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155784" name="Line 13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85" name="Line 13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55786" name="Line 138"/>
            <p:cNvSpPr>
              <a:spLocks noChangeShapeType="1"/>
            </p:cNvSpPr>
            <p:nvPr/>
          </p:nvSpPr>
          <p:spPr bwMode="auto">
            <a:xfrm>
              <a:off x="1611" y="2426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787" name="Text Box 139"/>
            <p:cNvSpPr txBox="1">
              <a:spLocks noChangeArrowheads="1"/>
            </p:cNvSpPr>
            <p:nvPr/>
          </p:nvSpPr>
          <p:spPr bwMode="auto">
            <a:xfrm>
              <a:off x="1503" y="2481"/>
              <a:ext cx="2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x=0</a:t>
              </a:r>
            </a:p>
          </p:txBody>
        </p:sp>
        <p:sp>
          <p:nvSpPr>
            <p:cNvPr id="155788" name="Line 140"/>
            <p:cNvSpPr>
              <a:spLocks noChangeShapeType="1"/>
            </p:cNvSpPr>
            <p:nvPr/>
          </p:nvSpPr>
          <p:spPr bwMode="auto">
            <a:xfrm>
              <a:off x="1944" y="2432"/>
              <a:ext cx="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789" name="Text Box 141"/>
            <p:cNvSpPr txBox="1">
              <a:spLocks noChangeArrowheads="1"/>
            </p:cNvSpPr>
            <p:nvPr/>
          </p:nvSpPr>
          <p:spPr bwMode="auto">
            <a:xfrm>
              <a:off x="1853" y="2468"/>
              <a:ext cx="30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x</a:t>
              </a:r>
              <a:r>
                <a:rPr lang="en-US" sz="1400" baseline="-25000"/>
                <a:t>max</a:t>
              </a:r>
            </a:p>
          </p:txBody>
        </p:sp>
        <p:sp>
          <p:nvSpPr>
            <p:cNvPr id="155790" name="Line 142"/>
            <p:cNvSpPr>
              <a:spLocks noChangeShapeType="1"/>
            </p:cNvSpPr>
            <p:nvPr/>
          </p:nvSpPr>
          <p:spPr bwMode="auto">
            <a:xfrm>
              <a:off x="1492" y="2161"/>
              <a:ext cx="2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5791" name="Arc 143"/>
          <p:cNvSpPr>
            <a:spLocks/>
          </p:cNvSpPr>
          <p:nvPr/>
        </p:nvSpPr>
        <p:spPr bwMode="auto">
          <a:xfrm>
            <a:off x="5675314" y="2873376"/>
            <a:ext cx="801687" cy="944563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143 w 43200"/>
              <a:gd name="T1" fmla="*/ 24077 h 43200"/>
              <a:gd name="T2" fmla="*/ 4287 w 43200"/>
              <a:gd name="T3" fmla="*/ 34515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142" y="24077"/>
                </a:moveTo>
                <a:cubicBezTo>
                  <a:pt x="47" y="23254"/>
                  <a:pt x="0" y="224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781" y="43200"/>
                  <a:pt x="8363" y="39980"/>
                  <a:pt x="4286" y="34515"/>
                </a:cubicBezTo>
              </a:path>
              <a:path w="43200" h="43200" stroke="0" extrusionOk="0">
                <a:moveTo>
                  <a:pt x="142" y="24077"/>
                </a:moveTo>
                <a:cubicBezTo>
                  <a:pt x="47" y="23254"/>
                  <a:pt x="0" y="224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781" y="43200"/>
                  <a:pt x="8363" y="39980"/>
                  <a:pt x="4286" y="34515"/>
                </a:cubicBez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arrow" w="lg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5792" name="Text Box 144"/>
          <p:cNvSpPr txBox="1">
            <a:spLocks noChangeArrowheads="1"/>
          </p:cNvSpPr>
          <p:nvPr/>
        </p:nvSpPr>
        <p:spPr bwMode="auto">
          <a:xfrm>
            <a:off x="4368800" y="2363788"/>
            <a:ext cx="5984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a</a:t>
            </a:r>
            <a:r>
              <a:rPr lang="en-US" baseline="-25000">
                <a:solidFill>
                  <a:schemeClr val="bg2"/>
                </a:solidFill>
              </a:rPr>
              <a:t>max</a:t>
            </a:r>
          </a:p>
        </p:txBody>
      </p:sp>
      <p:sp>
        <p:nvSpPr>
          <p:cNvPr id="155794" name="Line 146"/>
          <p:cNvSpPr>
            <a:spLocks noChangeShapeType="1"/>
          </p:cNvSpPr>
          <p:nvPr/>
        </p:nvSpPr>
        <p:spPr bwMode="auto">
          <a:xfrm flipH="1">
            <a:off x="4432300" y="2735263"/>
            <a:ext cx="420688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5795" name="Text Box 147"/>
          <p:cNvSpPr txBox="1">
            <a:spLocks noChangeArrowheads="1"/>
          </p:cNvSpPr>
          <p:nvPr/>
        </p:nvSpPr>
        <p:spPr bwMode="auto">
          <a:xfrm>
            <a:off x="8178800" y="2365376"/>
            <a:ext cx="5984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a</a:t>
            </a:r>
            <a:r>
              <a:rPr lang="en-US" baseline="-25000">
                <a:solidFill>
                  <a:schemeClr val="bg2"/>
                </a:solidFill>
              </a:rPr>
              <a:t>max</a:t>
            </a:r>
          </a:p>
        </p:txBody>
      </p:sp>
      <p:sp>
        <p:nvSpPr>
          <p:cNvPr id="155796" name="Line 148"/>
          <p:cNvSpPr>
            <a:spLocks noChangeShapeType="1"/>
          </p:cNvSpPr>
          <p:nvPr/>
        </p:nvSpPr>
        <p:spPr bwMode="auto">
          <a:xfrm>
            <a:off x="8242300" y="2736850"/>
            <a:ext cx="420688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5797" name="Text Box 149"/>
          <p:cNvSpPr txBox="1">
            <a:spLocks noChangeArrowheads="1"/>
          </p:cNvSpPr>
          <p:nvPr/>
        </p:nvSpPr>
        <p:spPr bwMode="auto">
          <a:xfrm>
            <a:off x="5965825" y="920751"/>
            <a:ext cx="571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a=0</a:t>
            </a:r>
          </a:p>
        </p:txBody>
      </p:sp>
      <p:sp>
        <p:nvSpPr>
          <p:cNvPr id="155798" name="Text Box 150"/>
          <p:cNvSpPr txBox="1">
            <a:spLocks noChangeArrowheads="1"/>
          </p:cNvSpPr>
          <p:nvPr/>
        </p:nvSpPr>
        <p:spPr bwMode="auto">
          <a:xfrm>
            <a:off x="6016625" y="4149726"/>
            <a:ext cx="571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a=0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38" name="Rectangle 70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/>
              <a:t>Hanging Springs</a:t>
            </a:r>
          </a:p>
        </p:txBody>
      </p:sp>
      <p:sp>
        <p:nvSpPr>
          <p:cNvPr id="160948" name="Rectangle 180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19201"/>
            <a:ext cx="4038600" cy="4525963"/>
          </a:xfrm>
        </p:spPr>
        <p:txBody>
          <a:bodyPr>
            <a:noAutofit/>
          </a:bodyPr>
          <a:lstStyle/>
          <a:p>
            <a:r>
              <a:rPr lang="en-US" sz="2000" dirty="0"/>
              <a:t>We want to use the same formulas whether the spring is horizontal or hanging</a:t>
            </a:r>
          </a:p>
          <a:p>
            <a:r>
              <a:rPr lang="en-US" sz="2000" dirty="0"/>
              <a:t>Start with a spring hanging with no weight</a:t>
            </a:r>
          </a:p>
          <a:p>
            <a:pPr lvl="1"/>
            <a:r>
              <a:rPr lang="en-US" sz="1800" dirty="0"/>
              <a:t>Call its end position </a:t>
            </a:r>
            <a:r>
              <a:rPr lang="en-US" sz="1800" i="1" dirty="0" err="1"/>
              <a:t>x</a:t>
            </a:r>
            <a:r>
              <a:rPr lang="en-US" sz="1800" i="1" baseline="-25000" dirty="0" err="1"/>
              <a:t>se</a:t>
            </a:r>
            <a:r>
              <a:rPr lang="en-US" sz="1800" dirty="0"/>
              <a:t> (for spring equilibrium)</a:t>
            </a:r>
          </a:p>
          <a:p>
            <a:r>
              <a:rPr lang="en-US" sz="2000" dirty="0"/>
              <a:t>Add a weight, the spring stretches from this first equilibrium position (</a:t>
            </a:r>
            <a:r>
              <a:rPr lang="en-US" sz="2000" i="1" dirty="0" err="1"/>
              <a:t>x</a:t>
            </a:r>
            <a:r>
              <a:rPr lang="en-US" sz="2000" i="1" baseline="-25000" dirty="0" err="1"/>
              <a:t>se</a:t>
            </a:r>
            <a:r>
              <a:rPr lang="en-US" sz="2000" dirty="0"/>
              <a:t>) by an amount </a:t>
            </a:r>
            <a:r>
              <a:rPr lang="en-US" sz="2000" dirty="0">
                <a:sym typeface="Symbol" pitchFamily="18" charset="2"/>
              </a:rPr>
              <a:t>x to a new equilibrium point, </a:t>
            </a:r>
            <a:r>
              <a:rPr lang="en-US" sz="2000" i="1" dirty="0" err="1"/>
              <a:t>x</a:t>
            </a:r>
            <a:r>
              <a:rPr lang="en-US" sz="2000" i="1" baseline="-25000" dirty="0" err="1"/>
              <a:t>me</a:t>
            </a:r>
            <a:r>
              <a:rPr lang="en-US" sz="2000" dirty="0"/>
              <a:t> </a:t>
            </a:r>
            <a:endParaRPr lang="en-US" sz="2000" dirty="0">
              <a:sym typeface="Symbol" pitchFamily="18" charset="2"/>
            </a:endParaRPr>
          </a:p>
          <a:p>
            <a:r>
              <a:rPr lang="en-US" sz="2000" dirty="0">
                <a:sym typeface="Symbol" pitchFamily="18" charset="2"/>
              </a:rPr>
              <a:t>How big is x? </a:t>
            </a:r>
          </a:p>
          <a:p>
            <a:endParaRPr lang="en-US" sz="2000" dirty="0">
              <a:sym typeface="Symbol" pitchFamily="18" charset="2"/>
            </a:endParaRPr>
          </a:p>
          <a:p>
            <a:endParaRPr lang="en-US" sz="2000" dirty="0">
              <a:sym typeface="Symbol" pitchFamily="18" charset="2"/>
            </a:endParaRPr>
          </a:p>
          <a:p>
            <a:r>
              <a:rPr lang="en-US" sz="1800" dirty="0"/>
              <a:t>We then allow the system to oscillate about the new equilibrium</a:t>
            </a:r>
          </a:p>
          <a:p>
            <a:endParaRPr lang="en-US" sz="2000" dirty="0">
              <a:sym typeface="Symbol" pitchFamily="18" charset="2"/>
            </a:endParaRPr>
          </a:p>
        </p:txBody>
      </p:sp>
      <p:sp>
        <p:nvSpPr>
          <p:cNvPr id="160954" name="Rectangle 186"/>
          <p:cNvSpPr>
            <a:spLocks noGrp="1" noChangeArrowheads="1"/>
          </p:cNvSpPr>
          <p:nvPr>
            <p:ph type="body" sz="half" idx="2"/>
          </p:nvPr>
        </p:nvSpPr>
        <p:spPr>
          <a:xfrm>
            <a:off x="6210300" y="3302001"/>
            <a:ext cx="4038600" cy="2633663"/>
          </a:xfrm>
        </p:spPr>
        <p:txBody>
          <a:bodyPr/>
          <a:lstStyle/>
          <a:p>
            <a:r>
              <a:rPr lang="en-US" sz="1600"/>
              <a:t>The forces are</a:t>
            </a:r>
          </a:p>
          <a:p>
            <a:endParaRPr lang="en-US" sz="1600"/>
          </a:p>
          <a:p>
            <a:endParaRPr lang="en-US" sz="1600"/>
          </a:p>
          <a:p>
            <a:r>
              <a:rPr lang="en-US" sz="1600"/>
              <a:t>Where the spring force is reduced because the weight is doing some of the stretching (not part of SHM)</a:t>
            </a:r>
          </a:p>
        </p:txBody>
      </p:sp>
      <p:graphicFrame>
        <p:nvGraphicFramePr>
          <p:cNvPr id="160951" name="Object 183"/>
          <p:cNvGraphicFramePr>
            <a:graphicFrameLocks noChangeAspect="1"/>
          </p:cNvGraphicFramePr>
          <p:nvPr/>
        </p:nvGraphicFramePr>
        <p:xfrm>
          <a:off x="4038600" y="4876801"/>
          <a:ext cx="16764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1120" imgH="634680" progId="Equation.3">
                  <p:embed/>
                </p:oleObj>
              </mc:Choice>
              <mc:Fallback>
                <p:oleObj name="Equation" r:id="rId2" imgW="1041120" imgH="634680" progId="Equation.3">
                  <p:embed/>
                  <p:pic>
                    <p:nvPicPr>
                      <p:cNvPr id="160951" name="Object 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876801"/>
                        <a:ext cx="1676400" cy="103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952" name="Line 184"/>
          <p:cNvSpPr>
            <a:spLocks noChangeShapeType="1"/>
          </p:cNvSpPr>
          <p:nvPr/>
        </p:nvSpPr>
        <p:spPr bwMode="auto">
          <a:xfrm>
            <a:off x="6464300" y="1193800"/>
            <a:ext cx="0" cy="2095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0953" name="Line 185"/>
          <p:cNvSpPr>
            <a:spLocks noChangeShapeType="1"/>
          </p:cNvSpPr>
          <p:nvPr/>
        </p:nvSpPr>
        <p:spPr bwMode="auto">
          <a:xfrm rot="16200000">
            <a:off x="8569325" y="1196975"/>
            <a:ext cx="0" cy="419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60955" name="Object 187"/>
          <p:cNvGraphicFramePr>
            <a:graphicFrameLocks noChangeAspect="1"/>
          </p:cNvGraphicFramePr>
          <p:nvPr/>
        </p:nvGraphicFramePr>
        <p:xfrm>
          <a:off x="7121526" y="3811588"/>
          <a:ext cx="180022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253800" progId="Equation.3">
                  <p:embed/>
                </p:oleObj>
              </mc:Choice>
              <mc:Fallback>
                <p:oleObj name="Equation" r:id="rId4" imgW="1117440" imgH="253800" progId="Equation.3">
                  <p:embed/>
                  <p:pic>
                    <p:nvPicPr>
                      <p:cNvPr id="160955" name="Object 1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1526" y="3811588"/>
                        <a:ext cx="1800225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56" name="Object 188"/>
          <p:cNvGraphicFramePr>
            <a:graphicFrameLocks noChangeAspect="1"/>
          </p:cNvGraphicFramePr>
          <p:nvPr/>
        </p:nvGraphicFramePr>
        <p:xfrm>
          <a:off x="6907214" y="5129214"/>
          <a:ext cx="3170237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480" imgH="838080" progId="Equation.3">
                  <p:embed/>
                </p:oleObj>
              </mc:Choice>
              <mc:Fallback>
                <p:oleObj name="Equation" r:id="rId6" imgW="1968480" imgH="838080" progId="Equation.3">
                  <p:embed/>
                  <p:pic>
                    <p:nvPicPr>
                      <p:cNvPr id="160956" name="Object 1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7214" y="5129214"/>
                        <a:ext cx="3170237" cy="1362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8"/>
          <p:cNvGrpSpPr>
            <a:grpSpLocks/>
          </p:cNvGrpSpPr>
          <p:nvPr/>
        </p:nvGrpSpPr>
        <p:grpSpPr bwMode="auto">
          <a:xfrm>
            <a:off x="7285038" y="1412875"/>
            <a:ext cx="3097212" cy="1722438"/>
            <a:chOff x="3629" y="890"/>
            <a:chExt cx="1951" cy="1085"/>
          </a:xfrm>
        </p:grpSpPr>
        <p:sp>
          <p:nvSpPr>
            <p:cNvPr id="160773" name="AutoShape 5"/>
            <p:cNvSpPr>
              <a:spLocks noChangeArrowheads="1"/>
            </p:cNvSpPr>
            <p:nvPr/>
          </p:nvSpPr>
          <p:spPr bwMode="auto">
            <a:xfrm>
              <a:off x="4300" y="1593"/>
              <a:ext cx="166" cy="182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60775" name="Line 7"/>
            <p:cNvSpPr>
              <a:spLocks noChangeShapeType="1"/>
            </p:cNvSpPr>
            <p:nvPr/>
          </p:nvSpPr>
          <p:spPr bwMode="auto">
            <a:xfrm rot="5400000">
              <a:off x="4384" y="794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 rot="5400000">
              <a:off x="4096" y="1245"/>
              <a:ext cx="573" cy="94"/>
              <a:chOff x="2248" y="1248"/>
              <a:chExt cx="648" cy="128"/>
            </a:xfrm>
          </p:grpSpPr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160779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780" name="Line 1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3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160782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783" name="Line 1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16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160785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786" name="Line 1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19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160788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789" name="Line 21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22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160791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792" name="Line 2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25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160794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795" name="Line 2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28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160797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798" name="Line 3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31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160800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801" name="Line 3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60808" name="Line 40"/>
            <p:cNvSpPr>
              <a:spLocks noChangeShapeType="1"/>
            </p:cNvSpPr>
            <p:nvPr/>
          </p:nvSpPr>
          <p:spPr bwMode="auto">
            <a:xfrm rot="5400000">
              <a:off x="3941" y="793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oup 41"/>
            <p:cNvGrpSpPr>
              <a:grpSpLocks/>
            </p:cNvGrpSpPr>
            <p:nvPr/>
          </p:nvGrpSpPr>
          <p:grpSpPr bwMode="auto">
            <a:xfrm rot="5400000">
              <a:off x="3735" y="1161"/>
              <a:ext cx="418" cy="102"/>
              <a:chOff x="2248" y="1248"/>
              <a:chExt cx="648" cy="128"/>
            </a:xfrm>
          </p:grpSpPr>
          <p:grpSp>
            <p:nvGrpSpPr>
              <p:cNvPr id="13" name="Group 42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160811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812" name="Line 4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45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160814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815" name="Line 4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48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160817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818" name="Line 5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51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160820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821" name="Line 5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54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160823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824" name="Line 5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57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160826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827" name="Line 5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60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160829" name="Line 6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830" name="Line 6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63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160832" name="Line 6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833" name="Line 6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aphicFrame>
          <p:nvGraphicFramePr>
            <p:cNvPr id="160843" name="Object 75"/>
            <p:cNvGraphicFramePr>
              <a:graphicFrameLocks noChangeAspect="1"/>
            </p:cNvGraphicFramePr>
            <p:nvPr/>
          </p:nvGraphicFramePr>
          <p:xfrm>
            <a:off x="4901" y="1294"/>
            <a:ext cx="29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17160" imgH="228600" progId="Equation.3">
                    <p:embed/>
                  </p:oleObj>
                </mc:Choice>
                <mc:Fallback>
                  <p:oleObj name="Equation" r:id="rId8" imgW="317160" imgH="228600" progId="Equation.3">
                    <p:embed/>
                    <p:pic>
                      <p:nvPicPr>
                        <p:cNvPr id="160843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1" y="1294"/>
                          <a:ext cx="29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0936" name="Object 168"/>
            <p:cNvGraphicFramePr>
              <a:graphicFrameLocks noChangeAspect="1"/>
            </p:cNvGraphicFramePr>
            <p:nvPr/>
          </p:nvGraphicFramePr>
          <p:xfrm>
            <a:off x="4923" y="890"/>
            <a:ext cx="291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55320" imgH="177480" progId="Equation.3">
                    <p:embed/>
                  </p:oleObj>
                </mc:Choice>
                <mc:Fallback>
                  <p:oleObj name="Equation" r:id="rId10" imgW="355320" imgH="177480" progId="Equation.3">
                    <p:embed/>
                    <p:pic>
                      <p:nvPicPr>
                        <p:cNvPr id="160936" name="Object 1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3" y="890"/>
                          <a:ext cx="291" cy="1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937" name="Line 169"/>
            <p:cNvSpPr>
              <a:spLocks noChangeShapeType="1"/>
            </p:cNvSpPr>
            <p:nvPr/>
          </p:nvSpPr>
          <p:spPr bwMode="auto">
            <a:xfrm rot="5400000">
              <a:off x="4262" y="372"/>
              <a:ext cx="0" cy="1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60940" name="Object 172"/>
            <p:cNvGraphicFramePr>
              <a:graphicFrameLocks noChangeAspect="1"/>
            </p:cNvGraphicFramePr>
            <p:nvPr/>
          </p:nvGraphicFramePr>
          <p:xfrm>
            <a:off x="4858" y="1550"/>
            <a:ext cx="361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55320" imgH="228600" progId="Equation.3">
                    <p:embed/>
                  </p:oleObj>
                </mc:Choice>
                <mc:Fallback>
                  <p:oleObj name="Equation" r:id="rId12" imgW="355320" imgH="228600" progId="Equation.3">
                    <p:embed/>
                    <p:pic>
                      <p:nvPicPr>
                        <p:cNvPr id="160940" name="Object 1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8" y="1550"/>
                          <a:ext cx="361" cy="2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942" name="Line 174"/>
            <p:cNvSpPr>
              <a:spLocks noChangeShapeType="1"/>
            </p:cNvSpPr>
            <p:nvPr/>
          </p:nvSpPr>
          <p:spPr bwMode="auto">
            <a:xfrm rot="5400000">
              <a:off x="4262" y="804"/>
              <a:ext cx="0" cy="1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0943" name="Line 175"/>
            <p:cNvSpPr>
              <a:spLocks noChangeShapeType="1"/>
            </p:cNvSpPr>
            <p:nvPr/>
          </p:nvSpPr>
          <p:spPr bwMode="auto">
            <a:xfrm rot="5400000">
              <a:off x="4262" y="1068"/>
              <a:ext cx="0" cy="1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0945" name="Line 177"/>
            <p:cNvSpPr>
              <a:spLocks noChangeShapeType="1"/>
            </p:cNvSpPr>
            <p:nvPr/>
          </p:nvSpPr>
          <p:spPr bwMode="auto">
            <a:xfrm>
              <a:off x="4160" y="14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0946" name="Line 178"/>
            <p:cNvSpPr>
              <a:spLocks noChangeShapeType="1"/>
            </p:cNvSpPr>
            <p:nvPr/>
          </p:nvSpPr>
          <p:spPr bwMode="auto">
            <a:xfrm flipH="1">
              <a:off x="4632" y="976"/>
              <a:ext cx="8" cy="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60949" name="Object 181"/>
            <p:cNvGraphicFramePr>
              <a:graphicFrameLocks noChangeAspect="1"/>
            </p:cNvGraphicFramePr>
            <p:nvPr/>
          </p:nvGraphicFramePr>
          <p:xfrm>
            <a:off x="3936" y="1427"/>
            <a:ext cx="219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15640" imgH="203040" progId="Equation.3">
                    <p:embed/>
                  </p:oleObj>
                </mc:Choice>
                <mc:Fallback>
                  <p:oleObj name="Equation" r:id="rId14" imgW="215640" imgH="203040" progId="Equation.3">
                    <p:embed/>
                    <p:pic>
                      <p:nvPicPr>
                        <p:cNvPr id="160949" name="Object 1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427"/>
                          <a:ext cx="219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957" name="AutoShape 189"/>
            <p:cNvSpPr>
              <a:spLocks noChangeArrowheads="1"/>
            </p:cNvSpPr>
            <p:nvPr/>
          </p:nvSpPr>
          <p:spPr bwMode="auto">
            <a:xfrm>
              <a:off x="5308" y="1793"/>
              <a:ext cx="166" cy="182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60958" name="Line 190"/>
            <p:cNvSpPr>
              <a:spLocks noChangeShapeType="1"/>
            </p:cNvSpPr>
            <p:nvPr/>
          </p:nvSpPr>
          <p:spPr bwMode="auto">
            <a:xfrm rot="5400000">
              <a:off x="5392" y="770"/>
              <a:ext cx="0" cy="3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" name="Group 191"/>
            <p:cNvGrpSpPr>
              <a:grpSpLocks/>
            </p:cNvGrpSpPr>
            <p:nvPr/>
          </p:nvGrpSpPr>
          <p:grpSpPr bwMode="auto">
            <a:xfrm rot="5400000">
              <a:off x="4988" y="1337"/>
              <a:ext cx="805" cy="94"/>
              <a:chOff x="2248" y="1248"/>
              <a:chExt cx="648" cy="128"/>
            </a:xfrm>
          </p:grpSpPr>
          <p:grpSp>
            <p:nvGrpSpPr>
              <p:cNvPr id="22" name="Group 192"/>
              <p:cNvGrpSpPr>
                <a:grpSpLocks/>
              </p:cNvGrpSpPr>
              <p:nvPr/>
            </p:nvGrpSpPr>
            <p:grpSpPr bwMode="auto">
              <a:xfrm>
                <a:off x="2814" y="1248"/>
                <a:ext cx="82" cy="128"/>
                <a:chOff x="704" y="1880"/>
                <a:chExt cx="136" cy="128"/>
              </a:xfrm>
            </p:grpSpPr>
            <p:sp>
              <p:nvSpPr>
                <p:cNvPr id="160961" name="Line 193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962" name="Line 194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195"/>
              <p:cNvGrpSpPr>
                <a:grpSpLocks/>
              </p:cNvGrpSpPr>
              <p:nvPr/>
            </p:nvGrpSpPr>
            <p:grpSpPr bwMode="auto">
              <a:xfrm>
                <a:off x="2727" y="1248"/>
                <a:ext cx="82" cy="128"/>
                <a:chOff x="704" y="1880"/>
                <a:chExt cx="136" cy="128"/>
              </a:xfrm>
            </p:grpSpPr>
            <p:sp>
              <p:nvSpPr>
                <p:cNvPr id="160964" name="Line 196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965" name="Line 197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" name="Group 198"/>
              <p:cNvGrpSpPr>
                <a:grpSpLocks/>
              </p:cNvGrpSpPr>
              <p:nvPr/>
            </p:nvGrpSpPr>
            <p:grpSpPr bwMode="auto">
              <a:xfrm>
                <a:off x="2649" y="1248"/>
                <a:ext cx="83" cy="128"/>
                <a:chOff x="704" y="1880"/>
                <a:chExt cx="136" cy="128"/>
              </a:xfrm>
            </p:grpSpPr>
            <p:sp>
              <p:nvSpPr>
                <p:cNvPr id="160967" name="Line 199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968" name="Line 200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5" name="Group 201"/>
              <p:cNvGrpSpPr>
                <a:grpSpLocks/>
              </p:cNvGrpSpPr>
              <p:nvPr/>
            </p:nvGrpSpPr>
            <p:grpSpPr bwMode="auto">
              <a:xfrm>
                <a:off x="2567" y="1248"/>
                <a:ext cx="82" cy="128"/>
                <a:chOff x="704" y="1880"/>
                <a:chExt cx="136" cy="128"/>
              </a:xfrm>
            </p:grpSpPr>
            <p:sp>
              <p:nvSpPr>
                <p:cNvPr id="160970" name="Line 202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971" name="Line 203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" name="Group 204"/>
              <p:cNvGrpSpPr>
                <a:grpSpLocks/>
              </p:cNvGrpSpPr>
              <p:nvPr/>
            </p:nvGrpSpPr>
            <p:grpSpPr bwMode="auto">
              <a:xfrm>
                <a:off x="2490" y="1248"/>
                <a:ext cx="82" cy="128"/>
                <a:chOff x="704" y="1880"/>
                <a:chExt cx="136" cy="128"/>
              </a:xfrm>
            </p:grpSpPr>
            <p:sp>
              <p:nvSpPr>
                <p:cNvPr id="160973" name="Line 205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974" name="Line 20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207"/>
              <p:cNvGrpSpPr>
                <a:grpSpLocks/>
              </p:cNvGrpSpPr>
              <p:nvPr/>
            </p:nvGrpSpPr>
            <p:grpSpPr bwMode="auto">
              <a:xfrm>
                <a:off x="2408" y="1248"/>
                <a:ext cx="82" cy="128"/>
                <a:chOff x="704" y="1880"/>
                <a:chExt cx="136" cy="128"/>
              </a:xfrm>
            </p:grpSpPr>
            <p:sp>
              <p:nvSpPr>
                <p:cNvPr id="160976" name="Line 208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977" name="Line 209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" name="Group 210"/>
              <p:cNvGrpSpPr>
                <a:grpSpLocks/>
              </p:cNvGrpSpPr>
              <p:nvPr/>
            </p:nvGrpSpPr>
            <p:grpSpPr bwMode="auto">
              <a:xfrm>
                <a:off x="2330" y="1248"/>
                <a:ext cx="82" cy="128"/>
                <a:chOff x="704" y="1880"/>
                <a:chExt cx="136" cy="128"/>
              </a:xfrm>
            </p:grpSpPr>
            <p:sp>
              <p:nvSpPr>
                <p:cNvPr id="160979" name="Line 211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980" name="Line 212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" name="Group 213"/>
              <p:cNvGrpSpPr>
                <a:grpSpLocks/>
              </p:cNvGrpSpPr>
              <p:nvPr/>
            </p:nvGrpSpPr>
            <p:grpSpPr bwMode="auto">
              <a:xfrm>
                <a:off x="2248" y="1248"/>
                <a:ext cx="82" cy="128"/>
                <a:chOff x="704" y="1880"/>
                <a:chExt cx="136" cy="128"/>
              </a:xfrm>
            </p:grpSpPr>
            <p:sp>
              <p:nvSpPr>
                <p:cNvPr id="160982" name="Line 214"/>
                <p:cNvSpPr>
                  <a:spLocks noChangeShapeType="1"/>
                </p:cNvSpPr>
                <p:nvPr/>
              </p:nvSpPr>
              <p:spPr bwMode="auto">
                <a:xfrm flipV="1">
                  <a:off x="704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983" name="Line 215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1880"/>
                  <a:ext cx="72" cy="12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60984" name="Line 216"/>
            <p:cNvSpPr>
              <a:spLocks noChangeShapeType="1"/>
            </p:cNvSpPr>
            <p:nvPr/>
          </p:nvSpPr>
          <p:spPr bwMode="auto">
            <a:xfrm rot="5400000">
              <a:off x="4230" y="1316"/>
              <a:ext cx="0" cy="1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60985" name="Object 217"/>
            <p:cNvGraphicFramePr>
              <a:graphicFrameLocks noChangeAspect="1"/>
            </p:cNvGraphicFramePr>
            <p:nvPr/>
          </p:nvGraphicFramePr>
          <p:xfrm>
            <a:off x="4931" y="1798"/>
            <a:ext cx="245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41200" imgH="164880" progId="Equation.3">
                    <p:embed/>
                  </p:oleObj>
                </mc:Choice>
                <mc:Fallback>
                  <p:oleObj name="Equation" r:id="rId16" imgW="241200" imgH="164880" progId="Equation.3">
                    <p:embed/>
                    <p:pic>
                      <p:nvPicPr>
                        <p:cNvPr id="160985" name="Object 2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1" y="1798"/>
                          <a:ext cx="245" cy="1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F1EE445-6C00-B7B7-5F62-C5E7706250BF}"/>
              </a:ext>
            </a:extLst>
          </p:cNvPr>
          <p:cNvSpPr/>
          <p:nvPr/>
        </p:nvSpPr>
        <p:spPr>
          <a:xfrm>
            <a:off x="4992624" y="3223260"/>
            <a:ext cx="393192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E95B4E-28C0-DDA2-B296-B25B23A63DED}"/>
              </a:ext>
            </a:extLst>
          </p:cNvPr>
          <p:cNvCxnSpPr>
            <a:stCxn id="5" idx="0"/>
          </p:cNvCxnSpPr>
          <p:nvPr/>
        </p:nvCxnSpPr>
        <p:spPr>
          <a:xfrm flipV="1">
            <a:off x="5189220" y="1682496"/>
            <a:ext cx="4572" cy="15407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316770-2578-37E7-0CDE-C1DBCD6B8DCB}"/>
              </a:ext>
            </a:extLst>
          </p:cNvPr>
          <p:cNvCxnSpPr>
            <a:cxnSpLocks/>
          </p:cNvCxnSpPr>
          <p:nvPr/>
        </p:nvCxnSpPr>
        <p:spPr>
          <a:xfrm>
            <a:off x="5189220" y="3634740"/>
            <a:ext cx="0" cy="15407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1BF7950-7020-F843-1597-7C3B7B8EE4DC}"/>
              </a:ext>
            </a:extLst>
          </p:cNvPr>
          <p:cNvSpPr txBox="1"/>
          <p:nvPr/>
        </p:nvSpPr>
        <p:spPr>
          <a:xfrm>
            <a:off x="5391435" y="4405122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W</a:t>
            </a:r>
            <a:r>
              <a:rPr lang="en-US" sz="2400" baseline="-25000" dirty="0" err="1"/>
              <a:t>mE</a:t>
            </a:r>
            <a:endParaRPr lang="en-US" sz="2400" baseline="-25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7DB568-EFB1-A73E-2B0A-E6B5B633806B}"/>
              </a:ext>
            </a:extLst>
          </p:cNvPr>
          <p:cNvSpPr txBox="1"/>
          <p:nvPr/>
        </p:nvSpPr>
        <p:spPr>
          <a:xfrm>
            <a:off x="5382768" y="1925812"/>
            <a:ext cx="6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S</a:t>
            </a:r>
            <a:r>
              <a:rPr lang="en-US" sz="2400" baseline="-25000" dirty="0" err="1"/>
              <a:t>ms</a:t>
            </a:r>
            <a:endParaRPr 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39623048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Comparison of position, velocity, acceleration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39116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Red is the displacement, green is the velocity, and blue is the acceleration</a:t>
            </a:r>
          </a:p>
          <a:p>
            <a:pPr>
              <a:lnSpc>
                <a:spcPct val="90000"/>
              </a:lnSpc>
            </a:pPr>
            <a:r>
              <a:rPr lang="en-US" sz="2400"/>
              <a:t>Acceleration and position are out of phase by </a:t>
            </a:r>
            <a:r>
              <a:rPr lang="en-US" sz="2400">
                <a:latin typeface="Sylfaen" pitchFamily="18" charset="0"/>
                <a:sym typeface="Symbol" pitchFamily="18" charset="2"/>
              </a:rPr>
              <a:t></a:t>
            </a:r>
          </a:p>
          <a:p>
            <a:pPr>
              <a:lnSpc>
                <a:spcPct val="90000"/>
              </a:lnSpc>
            </a:pPr>
            <a:r>
              <a:rPr lang="en-US" sz="2400"/>
              <a:t>Velocity and position are out of phase by </a:t>
            </a:r>
            <a:r>
              <a:rPr lang="en-US" sz="2400">
                <a:latin typeface="Sylfaen" pitchFamily="18" charset="0"/>
                <a:sym typeface="Symbol" pitchFamily="18" charset="2"/>
              </a:rPr>
              <a:t>/2</a:t>
            </a:r>
          </a:p>
          <a:p>
            <a:pPr>
              <a:lnSpc>
                <a:spcPct val="90000"/>
              </a:lnSpc>
            </a:pPr>
            <a:endParaRPr lang="en-US" sz="2400"/>
          </a:p>
        </p:txBody>
      </p:sp>
      <p:pic>
        <p:nvPicPr>
          <p:cNvPr id="1812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7101" y="1762125"/>
            <a:ext cx="4278313" cy="3727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0"/>
            <a:ext cx="7086600" cy="1143000"/>
          </a:xfrm>
        </p:spPr>
        <p:txBody>
          <a:bodyPr/>
          <a:lstStyle/>
          <a:p>
            <a:r>
              <a:rPr lang="en-US" sz="2800"/>
              <a:t>Comparison: SHM Position and Velocity</a:t>
            </a:r>
          </a:p>
        </p:txBody>
      </p:sp>
      <p:graphicFrame>
        <p:nvGraphicFramePr>
          <p:cNvPr id="166918" name="Object 6"/>
          <p:cNvGraphicFramePr>
            <a:graphicFrameLocks noChangeAspect="1"/>
          </p:cNvGraphicFramePr>
          <p:nvPr/>
        </p:nvGraphicFramePr>
        <p:xfrm>
          <a:off x="2105025" y="2049463"/>
          <a:ext cx="3557588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228600" progId="Equation.3">
                  <p:embed/>
                </p:oleObj>
              </mc:Choice>
              <mc:Fallback>
                <p:oleObj name="Equation" r:id="rId2" imgW="1346040" imgH="228600" progId="Equation.3">
                  <p:embed/>
                  <p:pic>
                    <p:nvPicPr>
                      <p:cNvPr id="1669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5" y="2049463"/>
                        <a:ext cx="3557588" cy="608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9" name="Object 7"/>
          <p:cNvGraphicFramePr>
            <a:graphicFrameLocks noChangeAspect="1"/>
          </p:cNvGraphicFramePr>
          <p:nvPr/>
        </p:nvGraphicFramePr>
        <p:xfrm>
          <a:off x="2008188" y="2947989"/>
          <a:ext cx="3910012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0" imgH="228600" progId="Equation.3">
                  <p:embed/>
                </p:oleObj>
              </mc:Choice>
              <mc:Fallback>
                <p:oleObj name="Equation" r:id="rId4" imgW="1396800" imgH="228600" progId="Equation.3">
                  <p:embed/>
                  <p:pic>
                    <p:nvPicPr>
                      <p:cNvPr id="1669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188" y="2947989"/>
                        <a:ext cx="3910012" cy="642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4397375" y="1174751"/>
            <a:ext cx="5989638" cy="5692775"/>
            <a:chOff x="1810" y="740"/>
            <a:chExt cx="3773" cy="3586"/>
          </a:xfrm>
        </p:grpSpPr>
        <p:pic>
          <p:nvPicPr>
            <p:cNvPr id="166916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424" y="3020"/>
              <a:ext cx="1525" cy="1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66920" name="Text Box 8"/>
            <p:cNvSpPr txBox="1">
              <a:spLocks noChangeArrowheads="1"/>
            </p:cNvSpPr>
            <p:nvPr/>
          </p:nvSpPr>
          <p:spPr bwMode="auto">
            <a:xfrm>
              <a:off x="4856" y="4148"/>
              <a:ext cx="15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000"/>
                <a:t>T</a:t>
              </a:r>
            </a:p>
          </p:txBody>
        </p:sp>
        <p:sp>
          <p:nvSpPr>
            <p:cNvPr id="166921" name="Text Box 9"/>
            <p:cNvSpPr txBox="1">
              <a:spLocks noChangeArrowheads="1"/>
            </p:cNvSpPr>
            <p:nvPr/>
          </p:nvSpPr>
          <p:spPr bwMode="auto">
            <a:xfrm>
              <a:off x="4076" y="4172"/>
              <a:ext cx="23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000"/>
                <a:t>T/2</a:t>
              </a:r>
            </a:p>
          </p:txBody>
        </p:sp>
        <p:pic>
          <p:nvPicPr>
            <p:cNvPr id="166922" name="Picture 10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424" y="740"/>
              <a:ext cx="1525" cy="1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6923" name="Picture 1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432" y="1796"/>
              <a:ext cx="1525" cy="1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66924" name="Line 12"/>
            <p:cNvSpPr>
              <a:spLocks noChangeShapeType="1"/>
            </p:cNvSpPr>
            <p:nvPr/>
          </p:nvSpPr>
          <p:spPr bwMode="auto">
            <a:xfrm>
              <a:off x="4169" y="1135"/>
              <a:ext cx="15" cy="30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6925" name="Line 13"/>
            <p:cNvSpPr>
              <a:spLocks noChangeShapeType="1"/>
            </p:cNvSpPr>
            <p:nvPr/>
          </p:nvSpPr>
          <p:spPr bwMode="auto">
            <a:xfrm>
              <a:off x="4889" y="1087"/>
              <a:ext cx="15" cy="30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6926" name="Line 14"/>
            <p:cNvSpPr>
              <a:spLocks noChangeShapeType="1"/>
            </p:cNvSpPr>
            <p:nvPr/>
          </p:nvSpPr>
          <p:spPr bwMode="auto">
            <a:xfrm>
              <a:off x="3416" y="2517"/>
              <a:ext cx="3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66927" name="Object 15"/>
            <p:cNvGraphicFramePr>
              <a:graphicFrameLocks noChangeAspect="1"/>
            </p:cNvGraphicFramePr>
            <p:nvPr/>
          </p:nvGraphicFramePr>
          <p:xfrm>
            <a:off x="3019" y="2401"/>
            <a:ext cx="365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80880" imgH="228600" progId="Equation.3">
                    <p:embed/>
                  </p:oleObj>
                </mc:Choice>
                <mc:Fallback>
                  <p:oleObj name="Equation" r:id="rId9" imgW="380880" imgH="228600" progId="Equation.3">
                    <p:embed/>
                    <p:pic>
                      <p:nvPicPr>
                        <p:cNvPr id="166927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9" y="2401"/>
                          <a:ext cx="365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6928" name="Line 16"/>
            <p:cNvSpPr>
              <a:spLocks noChangeShapeType="1"/>
            </p:cNvSpPr>
            <p:nvPr/>
          </p:nvSpPr>
          <p:spPr bwMode="auto">
            <a:xfrm>
              <a:off x="2961" y="3422"/>
              <a:ext cx="375" cy="1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6929" name="Text Box 17"/>
            <p:cNvSpPr txBox="1">
              <a:spLocks noChangeArrowheads="1"/>
            </p:cNvSpPr>
            <p:nvPr/>
          </p:nvSpPr>
          <p:spPr bwMode="auto">
            <a:xfrm>
              <a:off x="3593" y="3076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000"/>
                <a:t>x</a:t>
              </a:r>
            </a:p>
          </p:txBody>
        </p:sp>
        <p:sp>
          <p:nvSpPr>
            <p:cNvPr id="166930" name="Text Box 18"/>
            <p:cNvSpPr txBox="1">
              <a:spLocks noChangeArrowheads="1"/>
            </p:cNvSpPr>
            <p:nvPr/>
          </p:nvSpPr>
          <p:spPr bwMode="auto">
            <a:xfrm>
              <a:off x="3663" y="3748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000"/>
                <a:t>v</a:t>
              </a:r>
            </a:p>
          </p:txBody>
        </p:sp>
        <p:sp>
          <p:nvSpPr>
            <p:cNvPr id="166931" name="Line 19"/>
            <p:cNvSpPr>
              <a:spLocks noChangeShapeType="1"/>
            </p:cNvSpPr>
            <p:nvPr/>
          </p:nvSpPr>
          <p:spPr bwMode="auto">
            <a:xfrm flipV="1">
              <a:off x="2954" y="3054"/>
              <a:ext cx="390" cy="3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6932" name="Text Box 20"/>
            <p:cNvSpPr txBox="1">
              <a:spLocks noChangeArrowheads="1"/>
            </p:cNvSpPr>
            <p:nvPr/>
          </p:nvSpPr>
          <p:spPr bwMode="auto">
            <a:xfrm>
              <a:off x="1810" y="3305"/>
              <a:ext cx="109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When </a:t>
              </a:r>
              <a:r>
                <a:rPr lang="en-US" sz="1600" i="1"/>
                <a:t>x =x</a:t>
              </a:r>
              <a:r>
                <a:rPr lang="en-US" sz="1600" i="1" baseline="-25000"/>
                <a:t>max</a:t>
              </a:r>
              <a:r>
                <a:rPr lang="en-US" sz="1600"/>
                <a:t>, </a:t>
              </a:r>
              <a:r>
                <a:rPr lang="en-US" sz="1600" i="1"/>
                <a:t>v=0</a:t>
              </a:r>
            </a:p>
          </p:txBody>
        </p:sp>
        <p:sp>
          <p:nvSpPr>
            <p:cNvPr id="166933" name="Text Box 21"/>
            <p:cNvSpPr txBox="1">
              <a:spLocks noChangeArrowheads="1"/>
            </p:cNvSpPr>
            <p:nvPr/>
          </p:nvSpPr>
          <p:spPr bwMode="auto">
            <a:xfrm>
              <a:off x="1819" y="3721"/>
              <a:ext cx="106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When </a:t>
              </a:r>
              <a:r>
                <a:rPr lang="en-US" sz="1600" i="1"/>
                <a:t>v=v</a:t>
              </a:r>
              <a:r>
                <a:rPr lang="en-US" sz="1600" i="1" baseline="-25000"/>
                <a:t>max</a:t>
              </a:r>
              <a:r>
                <a:rPr lang="en-US" sz="1600" i="1"/>
                <a:t>, x=0</a:t>
              </a:r>
            </a:p>
          </p:txBody>
        </p:sp>
        <p:sp>
          <p:nvSpPr>
            <p:cNvPr id="166934" name="Line 22"/>
            <p:cNvSpPr>
              <a:spLocks noChangeShapeType="1"/>
            </p:cNvSpPr>
            <p:nvPr/>
          </p:nvSpPr>
          <p:spPr bwMode="auto">
            <a:xfrm flipV="1">
              <a:off x="2901" y="3759"/>
              <a:ext cx="795" cy="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6935" name="Line 23"/>
            <p:cNvSpPr>
              <a:spLocks noChangeShapeType="1"/>
            </p:cNvSpPr>
            <p:nvPr/>
          </p:nvSpPr>
          <p:spPr bwMode="auto">
            <a:xfrm flipV="1">
              <a:off x="2904" y="3551"/>
              <a:ext cx="840" cy="2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6936" name="Line 24"/>
            <p:cNvSpPr>
              <a:spLocks noChangeShapeType="1"/>
            </p:cNvSpPr>
            <p:nvPr/>
          </p:nvSpPr>
          <p:spPr bwMode="auto">
            <a:xfrm flipV="1">
              <a:off x="4544" y="2927"/>
              <a:ext cx="1" cy="5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6937" name="Text Box 25"/>
            <p:cNvSpPr txBox="1">
              <a:spLocks noChangeArrowheads="1"/>
            </p:cNvSpPr>
            <p:nvPr/>
          </p:nvSpPr>
          <p:spPr bwMode="auto">
            <a:xfrm>
              <a:off x="4533" y="2646"/>
              <a:ext cx="1050" cy="2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600"/>
                <a:t>90</a:t>
              </a:r>
              <a:r>
                <a:rPr lang="en-US" sz="1600">
                  <a:sym typeface="Symbol" pitchFamily="18" charset="2"/>
                </a:rPr>
                <a:t> out of phase</a:t>
              </a:r>
            </a:p>
          </p:txBody>
        </p:sp>
        <p:sp>
          <p:nvSpPr>
            <p:cNvPr id="166938" name="Line 26"/>
            <p:cNvSpPr>
              <a:spLocks noChangeShapeType="1"/>
            </p:cNvSpPr>
            <p:nvPr/>
          </p:nvSpPr>
          <p:spPr bwMode="auto">
            <a:xfrm>
              <a:off x="4565" y="2949"/>
              <a:ext cx="32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Lecture 2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2007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FE37BE-2BA8-4184-B16F-FB7D47E262F9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6E34-4FB3-9CBC-2E78-E31C4CC3D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DB32C-B516-DA60-A595-9C55B1D16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AF577-73AA-5BA2-48A8-B0A57BFDB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387" y="2190750"/>
            <a:ext cx="370522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59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2457</Words>
  <Application>Microsoft Office PowerPoint</Application>
  <PresentationFormat>Widescreen</PresentationFormat>
  <Paragraphs>606</Paragraphs>
  <Slides>71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9" baseType="lpstr">
      <vt:lpstr>Aptos</vt:lpstr>
      <vt:lpstr>Aptos Display</vt:lpstr>
      <vt:lpstr>Arial</vt:lpstr>
      <vt:lpstr>Sylfaen</vt:lpstr>
      <vt:lpstr>Symbol</vt:lpstr>
      <vt:lpstr>Wingdings</vt:lpstr>
      <vt:lpstr>Office Theme</vt:lpstr>
      <vt:lpstr>Equation</vt:lpstr>
      <vt:lpstr>Physics 123</vt:lpstr>
      <vt:lpstr>Question</vt:lpstr>
      <vt:lpstr>Question</vt:lpstr>
      <vt:lpstr>Question 6.9</vt:lpstr>
      <vt:lpstr>Question 6.8</vt:lpstr>
      <vt:lpstr>Question 6.10</vt:lpstr>
      <vt:lpstr>PowerPoint Presentation</vt:lpstr>
      <vt:lpstr>Comparison: SHM Position and Velocity</vt:lpstr>
      <vt:lpstr>Question 123.1.9 </vt:lpstr>
      <vt:lpstr>Question 6.10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Lecture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</vt:lpstr>
      <vt:lpstr>PowerPoint Presentation</vt:lpstr>
      <vt:lpstr>Problem</vt:lpstr>
      <vt:lpstr>Problem</vt:lpstr>
      <vt:lpstr>PowerPoint Presentation</vt:lpstr>
      <vt:lpstr>Problem</vt:lpstr>
      <vt:lpstr>PowerPoint Presentation</vt:lpstr>
      <vt:lpstr>Problem</vt:lpstr>
      <vt:lpstr>PowerPoint Presentation</vt:lpstr>
      <vt:lpstr>Question 123.2.1</vt:lpstr>
      <vt:lpstr>Question 123.2.2</vt:lpstr>
      <vt:lpstr>Question 123.2.3</vt:lpstr>
      <vt:lpstr>Question 123.2.4</vt:lpstr>
      <vt:lpstr>Question 123.2.5</vt:lpstr>
      <vt:lpstr>Question 123.2.7</vt:lpstr>
      <vt:lpstr>Question 123.2.8</vt:lpstr>
      <vt:lpstr>Question 123.2.9</vt:lpstr>
      <vt:lpstr>Question 123.2.9 (revised)</vt:lpstr>
      <vt:lpstr>Kinetic Energy</vt:lpstr>
      <vt:lpstr>Potential Energy</vt:lpstr>
      <vt:lpstr>PowerPoint Presentation</vt:lpstr>
      <vt:lpstr>Total Mechanical Energy</vt:lpstr>
      <vt:lpstr>PowerPoint Presentation</vt:lpstr>
      <vt:lpstr>Energy as a function of time</vt:lpstr>
      <vt:lpstr>PowerPoint Presentation</vt:lpstr>
      <vt:lpstr>SHM Restoring Force</vt:lpstr>
      <vt:lpstr>SHM Acceleration</vt:lpstr>
      <vt:lpstr>Start with a horizontal block-spring System</vt:lpstr>
      <vt:lpstr>Solutions to the DEQ</vt:lpstr>
      <vt:lpstr>The Solution!</vt:lpstr>
      <vt:lpstr>Solution Properties</vt:lpstr>
      <vt:lpstr>Period and Frequency</vt:lpstr>
      <vt:lpstr>Question 123.2.6</vt:lpstr>
      <vt:lpstr>Velocity and Acceleration</vt:lpstr>
      <vt:lpstr>SHM Acceleration</vt:lpstr>
      <vt:lpstr>SHM Velocity</vt:lpstr>
      <vt:lpstr>PowerPoint Presentation</vt:lpstr>
      <vt:lpstr>Hanging Springs</vt:lpstr>
      <vt:lpstr>PowerPoint Presentation</vt:lpstr>
      <vt:lpstr>Comparison of position, velocity, acceleration</vt:lpstr>
      <vt:lpstr>Comparison: SHM Position and Velocity</vt:lpstr>
      <vt:lpstr>End of Lecture 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Lines, Todd</dc:creator>
  <cp:lastModifiedBy>Todd Lines</cp:lastModifiedBy>
  <cp:revision>1</cp:revision>
  <dcterms:created xsi:type="dcterms:W3CDTF">2025-04-18T20:36:11Z</dcterms:created>
  <dcterms:modified xsi:type="dcterms:W3CDTF">2026-09-15T19:30:11Z</dcterms:modified>
</cp:coreProperties>
</file>