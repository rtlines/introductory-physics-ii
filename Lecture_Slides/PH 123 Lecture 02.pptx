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3"/>
  </p:notesMasterIdLst>
  <p:sldIdLst>
    <p:sldId id="257" r:id="rId2"/>
    <p:sldId id="381" r:id="rId3"/>
    <p:sldId id="387" r:id="rId4"/>
    <p:sldId id="423" r:id="rId5"/>
    <p:sldId id="397" r:id="rId6"/>
    <p:sldId id="398" r:id="rId7"/>
    <p:sldId id="406" r:id="rId8"/>
    <p:sldId id="407" r:id="rId9"/>
    <p:sldId id="419" r:id="rId10"/>
    <p:sldId id="399" r:id="rId11"/>
    <p:sldId id="400" r:id="rId12"/>
    <p:sldId id="401" r:id="rId13"/>
    <p:sldId id="408" r:id="rId14"/>
    <p:sldId id="409" r:id="rId15"/>
    <p:sldId id="324" r:id="rId16"/>
    <p:sldId id="322" r:id="rId17"/>
    <p:sldId id="420" r:id="rId18"/>
    <p:sldId id="421" r:id="rId19"/>
    <p:sldId id="425" r:id="rId20"/>
    <p:sldId id="422" r:id="rId21"/>
    <p:sldId id="427" r:id="rId22"/>
    <p:sldId id="413" r:id="rId23"/>
    <p:sldId id="414" r:id="rId24"/>
    <p:sldId id="352" r:id="rId25"/>
    <p:sldId id="415" r:id="rId26"/>
    <p:sldId id="405" r:id="rId27"/>
    <p:sldId id="416" r:id="rId28"/>
    <p:sldId id="417" r:id="rId29"/>
    <p:sldId id="355" r:id="rId30"/>
    <p:sldId id="356" r:id="rId31"/>
    <p:sldId id="357" r:id="rId32"/>
    <p:sldId id="358" r:id="rId33"/>
    <p:sldId id="359" r:id="rId34"/>
    <p:sldId id="361" r:id="rId35"/>
    <p:sldId id="362" r:id="rId36"/>
    <p:sldId id="363" r:id="rId37"/>
    <p:sldId id="364" r:id="rId38"/>
    <p:sldId id="333" r:id="rId39"/>
    <p:sldId id="334" r:id="rId40"/>
    <p:sldId id="353" r:id="rId41"/>
    <p:sldId id="335" r:id="rId42"/>
    <p:sldId id="336" r:id="rId43"/>
    <p:sldId id="337" r:id="rId44"/>
    <p:sldId id="354" r:id="rId45"/>
    <p:sldId id="338" r:id="rId46"/>
    <p:sldId id="339" r:id="rId47"/>
    <p:sldId id="341" r:id="rId48"/>
    <p:sldId id="342" r:id="rId49"/>
    <p:sldId id="343" r:id="rId50"/>
    <p:sldId id="344" r:id="rId51"/>
    <p:sldId id="345" r:id="rId52"/>
    <p:sldId id="360" r:id="rId53"/>
    <p:sldId id="346" r:id="rId54"/>
    <p:sldId id="347" r:id="rId55"/>
    <p:sldId id="348" r:id="rId56"/>
    <p:sldId id="349" r:id="rId57"/>
    <p:sldId id="340" r:id="rId58"/>
    <p:sldId id="424" r:id="rId59"/>
    <p:sldId id="350" r:id="rId60"/>
    <p:sldId id="351" r:id="rId61"/>
    <p:sldId id="329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DAB91D-5E67-449F-9368-C97972A9D2D5}" v="16" dt="2026-01-07T19:01:24.3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delSld modSld sldOrd">
      <pc:chgData name="Lines, Todd" userId="afaf7c3a-e8aa-4568-882a-02ad8f9e19b0" providerId="ADAL" clId="{5FF5AC1B-ABA9-43D7-A1E3-2D92732CD6E2}" dt="2026-01-07T19:10:46.901" v="101" actId="47"/>
      <pc:docMkLst>
        <pc:docMk/>
      </pc:docMkLst>
      <pc:sldChg chg="del">
        <pc:chgData name="Lines, Todd" userId="afaf7c3a-e8aa-4568-882a-02ad8f9e19b0" providerId="ADAL" clId="{5FF5AC1B-ABA9-43D7-A1E3-2D92732CD6E2}" dt="2026-01-07T19:10:46.901" v="101" actId="47"/>
        <pc:sldMkLst>
          <pc:docMk/>
          <pc:sldMk cId="547239427" sldId="256"/>
        </pc:sldMkLst>
      </pc:sldChg>
      <pc:sldChg chg="ord">
        <pc:chgData name="Lines, Todd" userId="afaf7c3a-e8aa-4568-882a-02ad8f9e19b0" providerId="ADAL" clId="{5FF5AC1B-ABA9-43D7-A1E3-2D92732CD6E2}" dt="2026-01-07T18:21:44.167" v="73"/>
        <pc:sldMkLst>
          <pc:docMk/>
          <pc:sldMk cId="0" sldId="322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0" sldId="324"/>
        </pc:sldMkLst>
      </pc:sldChg>
      <pc:sldChg chg="delSp modSp mod ord">
        <pc:chgData name="Lines, Todd" userId="afaf7c3a-e8aa-4568-882a-02ad8f9e19b0" providerId="ADAL" clId="{5FF5AC1B-ABA9-43D7-A1E3-2D92732CD6E2}" dt="2026-01-07T19:10:23.729" v="100"/>
        <pc:sldMkLst>
          <pc:docMk/>
          <pc:sldMk cId="0" sldId="352"/>
        </pc:sldMkLst>
        <pc:spChg chg="del mod">
          <ac:chgData name="Lines, Todd" userId="afaf7c3a-e8aa-4568-882a-02ad8f9e19b0" providerId="ADAL" clId="{5FF5AC1B-ABA9-43D7-A1E3-2D92732CD6E2}" dt="2026-01-07T19:10:14.224" v="98" actId="478"/>
          <ac:spMkLst>
            <pc:docMk/>
            <pc:sldMk cId="0" sldId="352"/>
            <ac:spMk id="190466" creationId="{00000000-0000-0000-0000-000000000000}"/>
          </ac:spMkLst>
        </pc:spChg>
      </pc:sldChg>
      <pc:sldChg chg="delSp modSp mod">
        <pc:chgData name="Lines, Todd" userId="afaf7c3a-e8aa-4568-882a-02ad8f9e19b0" providerId="ADAL" clId="{5FF5AC1B-ABA9-43D7-A1E3-2D92732CD6E2}" dt="2026-01-07T18:23:00.333" v="79" actId="21"/>
        <pc:sldMkLst>
          <pc:docMk/>
          <pc:sldMk cId="1835924561" sldId="353"/>
        </pc:sldMkLst>
        <pc:spChg chg="mod">
          <ac:chgData name="Lines, Todd" userId="afaf7c3a-e8aa-4568-882a-02ad8f9e19b0" providerId="ADAL" clId="{5FF5AC1B-ABA9-43D7-A1E3-2D92732CD6E2}" dt="2026-01-07T18:22:48.506" v="77" actId="1076"/>
          <ac:spMkLst>
            <pc:docMk/>
            <pc:sldMk cId="1835924561" sldId="353"/>
            <ac:spMk id="4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8:22:39.609" v="75" actId="208"/>
          <ac:spMkLst>
            <pc:docMk/>
            <pc:sldMk cId="1835924561" sldId="353"/>
            <ac:spMk id="42" creationId="{00000000-0000-0000-0000-000000000000}"/>
          </ac:spMkLst>
        </pc:spChg>
        <pc:picChg chg="del mod">
          <ac:chgData name="Lines, Todd" userId="afaf7c3a-e8aa-4568-882a-02ad8f9e19b0" providerId="ADAL" clId="{5FF5AC1B-ABA9-43D7-A1E3-2D92732CD6E2}" dt="2026-01-07T18:23:00.333" v="79" actId="21"/>
          <ac:picMkLst>
            <pc:docMk/>
            <pc:sldMk cId="1835924561" sldId="353"/>
            <ac:picMk id="3" creationId="{C5AC551C-B4BC-FAD4-7822-ED7234315461}"/>
          </ac:picMkLst>
        </pc:picChg>
      </pc:sldChg>
      <pc:sldChg chg="addSp delSp modSp mod ord">
        <pc:chgData name="Lines, Todd" userId="afaf7c3a-e8aa-4568-882a-02ad8f9e19b0" providerId="ADAL" clId="{5FF5AC1B-ABA9-43D7-A1E3-2D92732CD6E2}" dt="2026-01-07T19:01:39.711" v="89" actId="21"/>
        <pc:sldMkLst>
          <pc:docMk/>
          <pc:sldMk cId="2507273411" sldId="354"/>
        </pc:sldMkLst>
        <pc:spChg chg="mod">
          <ac:chgData name="Lines, Todd" userId="afaf7c3a-e8aa-4568-882a-02ad8f9e19b0" providerId="ADAL" clId="{5FF5AC1B-ABA9-43D7-A1E3-2D92732CD6E2}" dt="2026-01-07T19:00:34.514" v="80" actId="207"/>
          <ac:spMkLst>
            <pc:docMk/>
            <pc:sldMk cId="2507273411" sldId="354"/>
            <ac:spMk id="8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9:00:40.541" v="82" actId="208"/>
          <ac:spMkLst>
            <pc:docMk/>
            <pc:sldMk cId="2507273411" sldId="354"/>
            <ac:spMk id="88" creationId="{00000000-0000-0000-0000-000000000000}"/>
          </ac:spMkLst>
        </pc:spChg>
        <pc:picChg chg="add del mod">
          <ac:chgData name="Lines, Todd" userId="afaf7c3a-e8aa-4568-882a-02ad8f9e19b0" providerId="ADAL" clId="{5FF5AC1B-ABA9-43D7-A1E3-2D92732CD6E2}" dt="2026-01-07T19:01:39.711" v="89" actId="21"/>
          <ac:picMkLst>
            <pc:docMk/>
            <pc:sldMk cId="2507273411" sldId="354"/>
            <ac:picMk id="3" creationId="{788C499C-5CD7-6F4F-A1C1-6F5C74FB3984}"/>
          </ac:picMkLst>
        </pc:picChg>
      </pc:sldChg>
      <pc:sldChg chg="add">
        <pc:chgData name="Lines, Todd" userId="afaf7c3a-e8aa-4568-882a-02ad8f9e19b0" providerId="ADAL" clId="{5FF5AC1B-ABA9-43D7-A1E3-2D92732CD6E2}" dt="2026-01-07T17:36:38.953" v="1"/>
        <pc:sldMkLst>
          <pc:docMk/>
          <pc:sldMk cId="3499252696" sldId="381"/>
        </pc:sldMkLst>
      </pc:sldChg>
      <pc:sldChg chg="add del">
        <pc:chgData name="Lines, Todd" userId="afaf7c3a-e8aa-4568-882a-02ad8f9e19b0" providerId="ADAL" clId="{5FF5AC1B-ABA9-43D7-A1E3-2D92732CD6E2}" dt="2026-01-07T18:17:35.490" v="53" actId="47"/>
        <pc:sldMkLst>
          <pc:docMk/>
          <pc:sldMk cId="96930308" sldId="386"/>
        </pc:sldMkLst>
      </pc:sldChg>
      <pc:sldChg chg="add">
        <pc:chgData name="Lines, Todd" userId="afaf7c3a-e8aa-4568-882a-02ad8f9e19b0" providerId="ADAL" clId="{5FF5AC1B-ABA9-43D7-A1E3-2D92732CD6E2}" dt="2026-01-07T17:36:51.210" v="2"/>
        <pc:sldMkLst>
          <pc:docMk/>
          <pc:sldMk cId="3961917311" sldId="387"/>
        </pc:sldMkLst>
      </pc:sldChg>
      <pc:sldChg chg="del">
        <pc:chgData name="Lines, Todd" userId="afaf7c3a-e8aa-4568-882a-02ad8f9e19b0" providerId="ADAL" clId="{5FF5AC1B-ABA9-43D7-A1E3-2D92732CD6E2}" dt="2026-01-07T18:21:29.434" v="71" actId="47"/>
        <pc:sldMkLst>
          <pc:docMk/>
          <pc:sldMk cId="334218388" sldId="395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2478201567" sldId="397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4233176558" sldId="398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2432897397" sldId="399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1979705486" sldId="400"/>
        </pc:sldMkLst>
      </pc:sldChg>
      <pc:sldChg chg="modSp add mod">
        <pc:chgData name="Lines, Todd" userId="afaf7c3a-e8aa-4568-882a-02ad8f9e19b0" providerId="ADAL" clId="{5FF5AC1B-ABA9-43D7-A1E3-2D92732CD6E2}" dt="2026-01-07T18:15:29.273" v="35" actId="207"/>
        <pc:sldMkLst>
          <pc:docMk/>
          <pc:sldMk cId="2455326429" sldId="401"/>
        </pc:sldMkLst>
        <pc:spChg chg="mod">
          <ac:chgData name="Lines, Todd" userId="afaf7c3a-e8aa-4568-882a-02ad8f9e19b0" providerId="ADAL" clId="{5FF5AC1B-ABA9-43D7-A1E3-2D92732CD6E2}" dt="2026-01-07T18:15:29.273" v="35" actId="207"/>
          <ac:spMkLst>
            <pc:docMk/>
            <pc:sldMk cId="2455326429" sldId="401"/>
            <ac:spMk id="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8:15:20.271" v="34" actId="207"/>
          <ac:spMkLst>
            <pc:docMk/>
            <pc:sldMk cId="2455326429" sldId="401"/>
            <ac:spMk id="40" creationId="{00000000-0000-0000-0000-000000000000}"/>
          </ac:spMkLst>
        </pc:spChg>
      </pc:sldChg>
      <pc:sldChg chg="add">
        <pc:chgData name="Lines, Todd" userId="afaf7c3a-e8aa-4568-882a-02ad8f9e19b0" providerId="ADAL" clId="{5FF5AC1B-ABA9-43D7-A1E3-2D92732CD6E2}" dt="2026-01-07T17:39:39.594" v="4"/>
        <pc:sldMkLst>
          <pc:docMk/>
          <pc:sldMk cId="1890213059" sldId="405"/>
        </pc:sldMkLst>
      </pc:sldChg>
      <pc:sldChg chg="add ord">
        <pc:chgData name="Lines, Todd" userId="afaf7c3a-e8aa-4568-882a-02ad8f9e19b0" providerId="ADAL" clId="{5FF5AC1B-ABA9-43D7-A1E3-2D92732CD6E2}" dt="2026-01-07T18:17:12.970" v="52"/>
        <pc:sldMkLst>
          <pc:docMk/>
          <pc:sldMk cId="23716449" sldId="406"/>
        </pc:sldMkLst>
      </pc:sldChg>
      <pc:sldChg chg="add ord">
        <pc:chgData name="Lines, Todd" userId="afaf7c3a-e8aa-4568-882a-02ad8f9e19b0" providerId="ADAL" clId="{5FF5AC1B-ABA9-43D7-A1E3-2D92732CD6E2}" dt="2026-01-07T18:17:12.970" v="52"/>
        <pc:sldMkLst>
          <pc:docMk/>
          <pc:sldMk cId="1288027815" sldId="407"/>
        </pc:sldMkLst>
      </pc:sldChg>
      <pc:sldChg chg="modSp add mod">
        <pc:chgData name="Lines, Todd" userId="afaf7c3a-e8aa-4568-882a-02ad8f9e19b0" providerId="ADAL" clId="{5FF5AC1B-ABA9-43D7-A1E3-2D92732CD6E2}" dt="2026-01-07T18:16:45.579" v="48" actId="208"/>
        <pc:sldMkLst>
          <pc:docMk/>
          <pc:sldMk cId="1371317765" sldId="408"/>
        </pc:sldMkLst>
        <pc:spChg chg="mod">
          <ac:chgData name="Lines, Todd" userId="afaf7c3a-e8aa-4568-882a-02ad8f9e19b0" providerId="ADAL" clId="{5FF5AC1B-ABA9-43D7-A1E3-2D92732CD6E2}" dt="2026-01-07T18:15:46.964" v="37" actId="207"/>
          <ac:spMkLst>
            <pc:docMk/>
            <pc:sldMk cId="1371317765" sldId="408"/>
            <ac:spMk id="9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8:15:41.211" v="36" actId="207"/>
          <ac:spMkLst>
            <pc:docMk/>
            <pc:sldMk cId="1371317765" sldId="408"/>
            <ac:spMk id="41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8:16:45.579" v="48" actId="208"/>
          <ac:spMkLst>
            <pc:docMk/>
            <pc:sldMk cId="1371317765" sldId="408"/>
            <ac:spMk id="42" creationId="{00000000-0000-0000-0000-000000000000}"/>
          </ac:spMkLst>
        </pc:spChg>
      </pc:sldChg>
      <pc:sldChg chg="modSp add mod">
        <pc:chgData name="Lines, Todd" userId="afaf7c3a-e8aa-4568-882a-02ad8f9e19b0" providerId="ADAL" clId="{5FF5AC1B-ABA9-43D7-A1E3-2D92732CD6E2}" dt="2026-01-07T18:16:51.857" v="50" actId="208"/>
        <pc:sldMkLst>
          <pc:docMk/>
          <pc:sldMk cId="673283175" sldId="409"/>
        </pc:sldMkLst>
        <pc:spChg chg="mod">
          <ac:chgData name="Lines, Todd" userId="afaf7c3a-e8aa-4568-882a-02ad8f9e19b0" providerId="ADAL" clId="{5FF5AC1B-ABA9-43D7-A1E3-2D92732CD6E2}" dt="2026-01-07T18:16:00.174" v="39" actId="207"/>
          <ac:spMkLst>
            <pc:docMk/>
            <pc:sldMk cId="673283175" sldId="409"/>
            <ac:spMk id="62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8:15:54.022" v="38" actId="207"/>
          <ac:spMkLst>
            <pc:docMk/>
            <pc:sldMk cId="673283175" sldId="409"/>
            <ac:spMk id="87" creationId="{00000000-0000-0000-0000-000000000000}"/>
          </ac:spMkLst>
        </pc:spChg>
        <pc:spChg chg="mod">
          <ac:chgData name="Lines, Todd" userId="afaf7c3a-e8aa-4568-882a-02ad8f9e19b0" providerId="ADAL" clId="{5FF5AC1B-ABA9-43D7-A1E3-2D92732CD6E2}" dt="2026-01-07T18:16:51.857" v="50" actId="208"/>
          <ac:spMkLst>
            <pc:docMk/>
            <pc:sldMk cId="673283175" sldId="409"/>
            <ac:spMk id="88" creationId="{00000000-0000-0000-0000-000000000000}"/>
          </ac:spMkLst>
        </pc:spChg>
      </pc:sldChg>
      <pc:sldChg chg="add ord">
        <pc:chgData name="Lines, Todd" userId="afaf7c3a-e8aa-4568-882a-02ad8f9e19b0" providerId="ADAL" clId="{5FF5AC1B-ABA9-43D7-A1E3-2D92732CD6E2}" dt="2026-01-07T18:17:46.414" v="57"/>
        <pc:sldMkLst>
          <pc:docMk/>
          <pc:sldMk cId="874120349" sldId="419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2177903883" sldId="420"/>
        </pc:sldMkLst>
      </pc:sldChg>
      <pc:sldChg chg="add">
        <pc:chgData name="Lines, Todd" userId="afaf7c3a-e8aa-4568-882a-02ad8f9e19b0" providerId="ADAL" clId="{5FF5AC1B-ABA9-43D7-A1E3-2D92732CD6E2}" dt="2026-01-07T17:31:37.168" v="0"/>
        <pc:sldMkLst>
          <pc:docMk/>
          <pc:sldMk cId="774408218" sldId="421"/>
        </pc:sldMkLst>
      </pc:sldChg>
      <pc:sldChg chg="add ord">
        <pc:chgData name="Lines, Todd" userId="afaf7c3a-e8aa-4568-882a-02ad8f9e19b0" providerId="ADAL" clId="{5FF5AC1B-ABA9-43D7-A1E3-2D92732CD6E2}" dt="2026-01-07T18:20:52.083" v="70"/>
        <pc:sldMkLst>
          <pc:docMk/>
          <pc:sldMk cId="2431293067" sldId="422"/>
        </pc:sldMkLst>
      </pc:sldChg>
      <pc:sldChg chg="add">
        <pc:chgData name="Lines, Todd" userId="afaf7c3a-e8aa-4568-882a-02ad8f9e19b0" providerId="ADAL" clId="{5FF5AC1B-ABA9-43D7-A1E3-2D92732CD6E2}" dt="2026-01-07T17:37:06.220" v="3"/>
        <pc:sldMkLst>
          <pc:docMk/>
          <pc:sldMk cId="1968387179" sldId="423"/>
        </pc:sldMkLst>
      </pc:sldChg>
      <pc:sldChg chg="addSp delSp modSp new mod modClrScheme chgLayout">
        <pc:chgData name="Lines, Todd" userId="afaf7c3a-e8aa-4568-882a-02ad8f9e19b0" providerId="ADAL" clId="{5FF5AC1B-ABA9-43D7-A1E3-2D92732CD6E2}" dt="2026-01-07T18:10:25.478" v="33" actId="21"/>
        <pc:sldMkLst>
          <pc:docMk/>
          <pc:sldMk cId="3962304856" sldId="424"/>
        </pc:sldMkLst>
        <pc:spChg chg="del">
          <ac:chgData name="Lines, Todd" userId="afaf7c3a-e8aa-4568-882a-02ad8f9e19b0" providerId="ADAL" clId="{5FF5AC1B-ABA9-43D7-A1E3-2D92732CD6E2}" dt="2026-01-07T18:08:57.260" v="10" actId="700"/>
          <ac:spMkLst>
            <pc:docMk/>
            <pc:sldMk cId="3962304856" sldId="424"/>
            <ac:spMk id="2" creationId="{EBBA8B34-6649-B8E5-555D-84C0630532A6}"/>
          </ac:spMkLst>
        </pc:spChg>
        <pc:spChg chg="del">
          <ac:chgData name="Lines, Todd" userId="afaf7c3a-e8aa-4568-882a-02ad8f9e19b0" providerId="ADAL" clId="{5FF5AC1B-ABA9-43D7-A1E3-2D92732CD6E2}" dt="2026-01-07T18:08:57.260" v="10" actId="700"/>
          <ac:spMkLst>
            <pc:docMk/>
            <pc:sldMk cId="3962304856" sldId="424"/>
            <ac:spMk id="3" creationId="{11391A6A-F03E-C981-25F6-A20A6B439EE2}"/>
          </ac:spMkLst>
        </pc:spChg>
        <pc:spChg chg="del">
          <ac:chgData name="Lines, Todd" userId="afaf7c3a-e8aa-4568-882a-02ad8f9e19b0" providerId="ADAL" clId="{5FF5AC1B-ABA9-43D7-A1E3-2D92732CD6E2}" dt="2026-01-07T18:08:57.260" v="10" actId="700"/>
          <ac:spMkLst>
            <pc:docMk/>
            <pc:sldMk cId="3962304856" sldId="424"/>
            <ac:spMk id="4" creationId="{FBC39048-19EF-7A72-5F9D-E444278E45D4}"/>
          </ac:spMkLst>
        </pc:spChg>
        <pc:spChg chg="add mod">
          <ac:chgData name="Lines, Todd" userId="afaf7c3a-e8aa-4568-882a-02ad8f9e19b0" providerId="ADAL" clId="{5FF5AC1B-ABA9-43D7-A1E3-2D92732CD6E2}" dt="2026-01-07T18:09:08.121" v="12" actId="1076"/>
          <ac:spMkLst>
            <pc:docMk/>
            <pc:sldMk cId="3962304856" sldId="424"/>
            <ac:spMk id="5" creationId="{EF1EE445-6C00-B7B7-5F62-C5E7706250BF}"/>
          </ac:spMkLst>
        </pc:spChg>
        <pc:spChg chg="add mod">
          <ac:chgData name="Lines, Todd" userId="afaf7c3a-e8aa-4568-882a-02ad8f9e19b0" providerId="ADAL" clId="{5FF5AC1B-ABA9-43D7-A1E3-2D92732CD6E2}" dt="2026-01-07T18:10:13.333" v="31" actId="1076"/>
          <ac:spMkLst>
            <pc:docMk/>
            <pc:sldMk cId="3962304856" sldId="424"/>
            <ac:spMk id="10" creationId="{71BF7950-7020-F843-1597-7C3B7B8EE4DC}"/>
          </ac:spMkLst>
        </pc:spChg>
        <pc:spChg chg="add mod">
          <ac:chgData name="Lines, Todd" userId="afaf7c3a-e8aa-4568-882a-02ad8f9e19b0" providerId="ADAL" clId="{5FF5AC1B-ABA9-43D7-A1E3-2D92732CD6E2}" dt="2026-01-07T18:10:08.884" v="30" actId="403"/>
          <ac:spMkLst>
            <pc:docMk/>
            <pc:sldMk cId="3962304856" sldId="424"/>
            <ac:spMk id="11" creationId="{5E7DB568-EFB1-A73E-2B0A-E6B5B633806B}"/>
          </ac:spMkLst>
        </pc:spChg>
        <pc:picChg chg="del mod">
          <ac:chgData name="Lines, Todd" userId="afaf7c3a-e8aa-4568-882a-02ad8f9e19b0" providerId="ADAL" clId="{5FF5AC1B-ABA9-43D7-A1E3-2D92732CD6E2}" dt="2026-01-07T18:10:25.478" v="33" actId="21"/>
          <ac:picMkLst>
            <pc:docMk/>
            <pc:sldMk cId="3962304856" sldId="424"/>
            <ac:picMk id="12" creationId="{3F17EB18-FE39-154F-9970-99C42C82B75C}"/>
          </ac:picMkLst>
        </pc:picChg>
        <pc:cxnChg chg="add mod">
          <ac:chgData name="Lines, Todd" userId="afaf7c3a-e8aa-4568-882a-02ad8f9e19b0" providerId="ADAL" clId="{5FF5AC1B-ABA9-43D7-A1E3-2D92732CD6E2}" dt="2026-01-07T18:09:25.603" v="15" actId="1582"/>
          <ac:cxnSpMkLst>
            <pc:docMk/>
            <pc:sldMk cId="3962304856" sldId="424"/>
            <ac:cxnSpMk id="7" creationId="{30E95B4E-28C0-DDA2-B296-B25B23A63DED}"/>
          </ac:cxnSpMkLst>
        </pc:cxnChg>
        <pc:cxnChg chg="add mod">
          <ac:chgData name="Lines, Todd" userId="afaf7c3a-e8aa-4568-882a-02ad8f9e19b0" providerId="ADAL" clId="{5FF5AC1B-ABA9-43D7-A1E3-2D92732CD6E2}" dt="2026-01-07T18:09:33.568" v="18" actId="14100"/>
          <ac:cxnSpMkLst>
            <pc:docMk/>
            <pc:sldMk cId="3962304856" sldId="424"/>
            <ac:cxnSpMk id="8" creationId="{F1316770-2578-37E7-0CDE-C1DBCD6B8DCB}"/>
          </ac:cxnSpMkLst>
        </pc:cxnChg>
      </pc:sldChg>
      <pc:sldChg chg="addSp modSp new mod">
        <pc:chgData name="Lines, Todd" userId="afaf7c3a-e8aa-4568-882a-02ad8f9e19b0" providerId="ADAL" clId="{5FF5AC1B-ABA9-43D7-A1E3-2D92732CD6E2}" dt="2026-01-07T18:20:01.826" v="63"/>
        <pc:sldMkLst>
          <pc:docMk/>
          <pc:sldMk cId="2041325248" sldId="425"/>
        </pc:sldMkLst>
        <pc:picChg chg="add mod">
          <ac:chgData name="Lines, Todd" userId="afaf7c3a-e8aa-4568-882a-02ad8f9e19b0" providerId="ADAL" clId="{5FF5AC1B-ABA9-43D7-A1E3-2D92732CD6E2}" dt="2026-01-07T18:19:51.404" v="62" actId="1076"/>
          <ac:picMkLst>
            <pc:docMk/>
            <pc:sldMk cId="2041325248" sldId="425"/>
            <ac:picMk id="3" creationId="{A5BA1042-C300-993B-7CFF-0A3BF31A32ED}"/>
          </ac:picMkLst>
        </pc:picChg>
        <pc:picChg chg="add mod">
          <ac:chgData name="Lines, Todd" userId="afaf7c3a-e8aa-4568-882a-02ad8f9e19b0" providerId="ADAL" clId="{5FF5AC1B-ABA9-43D7-A1E3-2D92732CD6E2}" dt="2026-01-07T18:20:01.826" v="63"/>
          <ac:picMkLst>
            <pc:docMk/>
            <pc:sldMk cId="2041325248" sldId="425"/>
            <ac:picMk id="4" creationId="{9FA61114-4E6B-A543-B18A-DB1F748257F8}"/>
          </ac:picMkLst>
        </pc:picChg>
      </pc:sldChg>
      <pc:sldChg chg="new del">
        <pc:chgData name="Lines, Todd" userId="afaf7c3a-e8aa-4568-882a-02ad8f9e19b0" providerId="ADAL" clId="{5FF5AC1B-ABA9-43D7-A1E3-2D92732CD6E2}" dt="2026-01-07T18:20:33.110" v="68" actId="47"/>
        <pc:sldMkLst>
          <pc:docMk/>
          <pc:sldMk cId="3949271877" sldId="426"/>
        </pc:sldMkLst>
      </pc:sldChg>
      <pc:sldChg chg="add">
        <pc:chgData name="Lines, Todd" userId="afaf7c3a-e8aa-4568-882a-02ad8f9e19b0" providerId="ADAL" clId="{5FF5AC1B-ABA9-43D7-A1E3-2D92732CD6E2}" dt="2026-01-07T18:20:31.354" v="67"/>
        <pc:sldMkLst>
          <pc:docMk/>
          <pc:sldMk cId="756516765" sldId="427"/>
        </pc:sldMkLst>
      </pc:sldChg>
      <pc:sldChg chg="add del">
        <pc:chgData name="Lines, Todd" userId="afaf7c3a-e8aa-4568-882a-02ad8f9e19b0" providerId="ADAL" clId="{5FF5AC1B-ABA9-43D7-A1E3-2D92732CD6E2}" dt="2026-01-07T18:20:23.443" v="66"/>
        <pc:sldMkLst>
          <pc:docMk/>
          <pc:sldMk cId="2044584131" sldId="42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0DAECD-79C1-414E-9888-0FF92E040B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6A7904-D3BC-452A-B7B7-24E05BCB46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973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6C5B6C5-ED60-4FE5-845D-FC12E2CF0279}" type="slidenum">
              <a:rPr lang="en-US"/>
              <a:pPr/>
              <a:t>1</a:t>
            </a:fld>
            <a:endParaRPr lang="en-US"/>
          </a:p>
        </p:txBody>
      </p:sp>
      <p:sp>
        <p:nvSpPr>
          <p:cNvPr id="921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21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F9C03-6622-A375-F4E5-E119CE5A90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2A7A6-D8D3-EC79-74E3-DFBF60BCFD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156FD-0D84-6DD9-65C9-183C7801D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FC336-A96A-B9DB-9EAE-6A5DF9CA0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8C6D1-F3D6-2EE9-69AE-69CC44698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80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5D702-5625-877B-9129-947937CA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107E7-2920-7810-7421-9ED6DA69C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9293C-7466-2C14-15DD-21EAD1CB5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70FBD-5A73-AF67-8822-5C1ADE73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F1A60-1B8A-75B4-1D73-FF25CEA2E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00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9DDB8-CE70-2657-3420-3019D7305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F69EB-F842-E5DA-FB85-DC1AA88B75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185E0-3519-6592-D84C-DA2ECAB9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840880-0742-BF6F-90EB-46CBE76B6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F4F7F-6FA8-5559-F140-A5CCCAE0D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669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69382-55C2-D6DA-4E61-04F1ABAEB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F171ED-4F9C-6E3A-3CC8-B612D9F41E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3E66F5-120F-04B8-6362-C2FA8EAEB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5A47DC-5948-4760-A421-E01E3010B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AF4090-51B2-0F4E-5FA6-BD027C90C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10EF3B-CAFD-4799-8D77-C93BFE996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8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04ECF-C199-D48D-AEEE-B0639CD1C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1D7910-C257-476F-E2F7-010DE30D6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5C2C71-0980-3DDF-6BBC-A5FAC3D8C8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A6EB3B-EED5-FCEF-E26D-34848724CA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13765B-7B5F-D2AC-10CE-C05EEE4B3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AF27ED-E835-067B-A014-169B27EE4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E76F13-8243-C238-4B52-65ED6EA31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A0D3BD-1DDF-CA91-8D23-31E98D8A4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027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8BF9-75B4-B265-7C81-020FBBDA9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2A2D8B-1873-F4A7-A82A-373D84B2F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91ED99-2984-F11E-FAD0-9FD01C2A5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090445-9311-8D4B-58C9-955106D82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444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F30B39-0F41-5F72-F496-DB8070CDB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EF4390-11C3-6165-6B88-9ABAE7561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C4F6C-780F-7C9B-703B-D98471B0D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83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E0CA-8140-317E-0425-4A368B895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A4640-CEBD-4571-A684-702565688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49ABBC-652A-4C02-5B8A-A0149ACE53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C00ACA-9AF7-386E-D1B1-DF977A2E3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F8F65-7CF1-303A-1493-D80AD653D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2858B8-1F61-8629-A92F-CCD72A301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564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D520C-E530-CDB6-F1B1-289EFF1C1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0F7523-3B28-6CA2-8B20-2CDD30A55A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90464A-54E3-E870-9274-AC36621A7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9D07D6-C09E-63E1-DFFD-EF720EEF2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BF8740-6882-75B8-D100-18A7108F4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F74F21-170D-4DD5-A214-107F3B4BC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914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521AE-1AC1-D8FE-2BB4-8863BE072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1812FF-D4AF-FA15-A164-D49E12AE9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EAAD6-8CAA-395A-4BA2-1214F36B8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84BEB-D370-E7EC-5B67-528B45EB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1130CE-16EA-89E4-7C42-7642F67D2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4809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7D07E-5595-8031-7A99-0A937930BC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21B529-3873-C43C-AC4D-549CE77C57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437946-9E69-12FD-CD50-0BBE37823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947ED3-C453-CA13-74E0-235A160C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24B09-BF7D-5614-D626-4EB951164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3738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600" y="0"/>
            <a:ext cx="86360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BC163E5-C184-44D8-803B-BB74A700ECE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2559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86C16-33B5-6679-2C36-1C57759CA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C3BC2-3574-4479-54F2-2BF0E7F26D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10BF8-51FA-A3AB-B75C-F6D9D44FC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B991-EC25-49D3-9DCF-97CC7EB1D967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FD0BD6-438B-C4F0-816E-AF18E488A4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21BD5B-9A13-532C-4F2A-B20774390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ABD0B2-5B17-4043-A9B0-4FC13133531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10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3" Type="http://schemas.openxmlformats.org/officeDocument/2006/relationships/image" Target="../media/image3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4.wmf"/><Relationship Id="rId10" Type="http://schemas.openxmlformats.org/officeDocument/2006/relationships/image" Target="../media/image8.wmf"/><Relationship Id="rId4" Type="http://schemas.openxmlformats.org/officeDocument/2006/relationships/oleObject" Target="../embeddings/oleObject2.bin"/><Relationship Id="rId9" Type="http://schemas.openxmlformats.org/officeDocument/2006/relationships/oleObject" Target="../embeddings/oleObject3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13" Type="http://schemas.openxmlformats.org/officeDocument/2006/relationships/image" Target="../media/image17.wmf"/><Relationship Id="rId18" Type="http://schemas.openxmlformats.org/officeDocument/2006/relationships/oleObject" Target="../embeddings/oleObject12.bin"/><Relationship Id="rId3" Type="http://schemas.openxmlformats.org/officeDocument/2006/relationships/image" Target="../media/image12.wmf"/><Relationship Id="rId7" Type="http://schemas.openxmlformats.org/officeDocument/2006/relationships/image" Target="../media/image14.wmf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19.wmf"/><Relationship Id="rId2" Type="http://schemas.openxmlformats.org/officeDocument/2006/relationships/oleObject" Target="../embeddings/oleObject4.bin"/><Relationship Id="rId16" Type="http://schemas.openxmlformats.org/officeDocument/2006/relationships/oleObject" Target="../embeddings/oleObject1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11" Type="http://schemas.openxmlformats.org/officeDocument/2006/relationships/image" Target="../media/image16.wmf"/><Relationship Id="rId5" Type="http://schemas.openxmlformats.org/officeDocument/2006/relationships/image" Target="../media/image13.wmf"/><Relationship Id="rId15" Type="http://schemas.openxmlformats.org/officeDocument/2006/relationships/image" Target="../media/image18.wmf"/><Relationship Id="rId10" Type="http://schemas.openxmlformats.org/officeDocument/2006/relationships/oleObject" Target="../embeddings/oleObject8.bin"/><Relationship Id="rId19" Type="http://schemas.openxmlformats.org/officeDocument/2006/relationships/image" Target="../media/image20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5.wmf"/><Relationship Id="rId14" Type="http://schemas.openxmlformats.org/officeDocument/2006/relationships/oleObject" Target="../embeddings/oleObject10.bin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2" Type="http://schemas.openxmlformats.org/officeDocument/2006/relationships/oleObject" Target="../embeddings/oleObject1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wmf"/><Relationship Id="rId4" Type="http://schemas.openxmlformats.org/officeDocument/2006/relationships/oleObject" Target="../embeddings/oleObject14.bin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wmf"/><Relationship Id="rId4" Type="http://schemas.openxmlformats.org/officeDocument/2006/relationships/oleObject" Target="../embeddings/oleObject16.bin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wmf"/><Relationship Id="rId2" Type="http://schemas.openxmlformats.org/officeDocument/2006/relationships/oleObject" Target="../embeddings/oleObject17.bin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wmf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wmf"/><Relationship Id="rId7" Type="http://schemas.openxmlformats.org/officeDocument/2006/relationships/image" Target="../media/image31.wmf"/><Relationship Id="rId2" Type="http://schemas.openxmlformats.org/officeDocument/2006/relationships/oleObject" Target="../embeddings/oleObject1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0.bin"/><Relationship Id="rId5" Type="http://schemas.openxmlformats.org/officeDocument/2006/relationships/image" Target="../media/image30.wmf"/><Relationship Id="rId4" Type="http://schemas.openxmlformats.org/officeDocument/2006/relationships/oleObject" Target="../embeddings/oleObject19.bin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wmf"/><Relationship Id="rId2" Type="http://schemas.openxmlformats.org/officeDocument/2006/relationships/oleObject" Target="../embeddings/oleObject21.bin"/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5.bin"/><Relationship Id="rId3" Type="http://schemas.openxmlformats.org/officeDocument/2006/relationships/image" Target="../media/image33.wmf"/><Relationship Id="rId7" Type="http://schemas.openxmlformats.org/officeDocument/2006/relationships/image" Target="../media/image35.wmf"/><Relationship Id="rId12" Type="http://schemas.openxmlformats.org/officeDocument/2006/relationships/image" Target="../media/image38.emf"/><Relationship Id="rId2" Type="http://schemas.openxmlformats.org/officeDocument/2006/relationships/oleObject" Target="../embeddings/oleObject22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24.bin"/><Relationship Id="rId11" Type="http://schemas.openxmlformats.org/officeDocument/2006/relationships/image" Target="../media/image37.wmf"/><Relationship Id="rId5" Type="http://schemas.openxmlformats.org/officeDocument/2006/relationships/image" Target="../media/image34.wmf"/><Relationship Id="rId10" Type="http://schemas.openxmlformats.org/officeDocument/2006/relationships/oleObject" Target="../embeddings/oleObject26.bin"/><Relationship Id="rId4" Type="http://schemas.openxmlformats.org/officeDocument/2006/relationships/oleObject" Target="../embeddings/oleObject23.bin"/><Relationship Id="rId9" Type="http://schemas.openxmlformats.org/officeDocument/2006/relationships/image" Target="../media/image36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wmf"/><Relationship Id="rId7" Type="http://schemas.openxmlformats.org/officeDocument/2006/relationships/image" Target="../media/image40.wmf"/><Relationship Id="rId2" Type="http://schemas.openxmlformats.org/officeDocument/2006/relationships/oleObject" Target="../embeddings/oleObject2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29.bin"/><Relationship Id="rId5" Type="http://schemas.openxmlformats.org/officeDocument/2006/relationships/image" Target="../media/image37.wmf"/><Relationship Id="rId4" Type="http://schemas.openxmlformats.org/officeDocument/2006/relationships/oleObject" Target="../embeddings/oleObject28.bin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7" Type="http://schemas.openxmlformats.org/officeDocument/2006/relationships/image" Target="../media/image42.wmf"/><Relationship Id="rId2" Type="http://schemas.openxmlformats.org/officeDocument/2006/relationships/oleObject" Target="../embeddings/oleObject30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2.bin"/><Relationship Id="rId5" Type="http://schemas.openxmlformats.org/officeDocument/2006/relationships/image" Target="../media/image36.wmf"/><Relationship Id="rId4" Type="http://schemas.openxmlformats.org/officeDocument/2006/relationships/oleObject" Target="../embeddings/oleObject31.bin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33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emf"/><Relationship Id="rId5" Type="http://schemas.openxmlformats.org/officeDocument/2006/relationships/image" Target="../media/image44.wmf"/><Relationship Id="rId4" Type="http://schemas.openxmlformats.org/officeDocument/2006/relationships/oleObject" Target="../embeddings/oleObject34.bin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5.bin"/><Relationship Id="rId2" Type="http://schemas.openxmlformats.org/officeDocument/2006/relationships/image" Target="../media/image4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wmf"/><Relationship Id="rId5" Type="http://schemas.openxmlformats.org/officeDocument/2006/relationships/oleObject" Target="../embeddings/oleObject36.bin"/><Relationship Id="rId4" Type="http://schemas.openxmlformats.org/officeDocument/2006/relationships/image" Target="../media/image46.wmf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0.bin"/><Relationship Id="rId3" Type="http://schemas.openxmlformats.org/officeDocument/2006/relationships/image" Target="../media/image48.wmf"/><Relationship Id="rId7" Type="http://schemas.openxmlformats.org/officeDocument/2006/relationships/image" Target="../media/image50.wmf"/><Relationship Id="rId2" Type="http://schemas.openxmlformats.org/officeDocument/2006/relationships/oleObject" Target="../embeddings/oleObject37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39.bin"/><Relationship Id="rId11" Type="http://schemas.openxmlformats.org/officeDocument/2006/relationships/image" Target="../media/image52.wmf"/><Relationship Id="rId5" Type="http://schemas.openxmlformats.org/officeDocument/2006/relationships/image" Target="../media/image49.wmf"/><Relationship Id="rId10" Type="http://schemas.openxmlformats.org/officeDocument/2006/relationships/oleObject" Target="../embeddings/oleObject41.bin"/><Relationship Id="rId4" Type="http://schemas.openxmlformats.org/officeDocument/2006/relationships/oleObject" Target="../embeddings/oleObject38.bin"/><Relationship Id="rId9" Type="http://schemas.openxmlformats.org/officeDocument/2006/relationships/image" Target="../media/image51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wmf"/><Relationship Id="rId2" Type="http://schemas.openxmlformats.org/officeDocument/2006/relationships/oleObject" Target="../embeddings/oleObject42.bin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6.bin"/><Relationship Id="rId13" Type="http://schemas.openxmlformats.org/officeDocument/2006/relationships/image" Target="../media/image59.wmf"/><Relationship Id="rId3" Type="http://schemas.openxmlformats.org/officeDocument/2006/relationships/image" Target="../media/image54.wmf"/><Relationship Id="rId7" Type="http://schemas.openxmlformats.org/officeDocument/2006/relationships/image" Target="../media/image56.wmf"/><Relationship Id="rId12" Type="http://schemas.openxmlformats.org/officeDocument/2006/relationships/oleObject" Target="../embeddings/oleObject48.bin"/><Relationship Id="rId17" Type="http://schemas.openxmlformats.org/officeDocument/2006/relationships/image" Target="../media/image61.wmf"/><Relationship Id="rId2" Type="http://schemas.openxmlformats.org/officeDocument/2006/relationships/oleObject" Target="../embeddings/oleObject43.bin"/><Relationship Id="rId16" Type="http://schemas.openxmlformats.org/officeDocument/2006/relationships/oleObject" Target="../embeddings/oleObject50.bin"/><Relationship Id="rId1" Type="http://schemas.openxmlformats.org/officeDocument/2006/relationships/slideLayout" Target="../slideLayouts/slideLayout4.xml"/><Relationship Id="rId6" Type="http://schemas.openxmlformats.org/officeDocument/2006/relationships/oleObject" Target="../embeddings/oleObject45.bin"/><Relationship Id="rId11" Type="http://schemas.openxmlformats.org/officeDocument/2006/relationships/image" Target="../media/image58.wmf"/><Relationship Id="rId5" Type="http://schemas.openxmlformats.org/officeDocument/2006/relationships/image" Target="../media/image55.wmf"/><Relationship Id="rId15" Type="http://schemas.openxmlformats.org/officeDocument/2006/relationships/image" Target="../media/image60.wmf"/><Relationship Id="rId10" Type="http://schemas.openxmlformats.org/officeDocument/2006/relationships/oleObject" Target="../embeddings/oleObject47.bin"/><Relationship Id="rId4" Type="http://schemas.openxmlformats.org/officeDocument/2006/relationships/oleObject" Target="../embeddings/oleObject44.bin"/><Relationship Id="rId9" Type="http://schemas.openxmlformats.org/officeDocument/2006/relationships/image" Target="../media/image57.wmf"/><Relationship Id="rId14" Type="http://schemas.openxmlformats.org/officeDocument/2006/relationships/oleObject" Target="../embeddings/oleObject49.bin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wmf"/><Relationship Id="rId3" Type="http://schemas.openxmlformats.org/officeDocument/2006/relationships/image" Target="../media/image3.wmf"/><Relationship Id="rId7" Type="http://schemas.openxmlformats.org/officeDocument/2006/relationships/image" Target="../media/image6.wmf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wmf"/><Relationship Id="rId5" Type="http://schemas.openxmlformats.org/officeDocument/2006/relationships/image" Target="../media/image4.wmf"/><Relationship Id="rId10" Type="http://schemas.openxmlformats.org/officeDocument/2006/relationships/image" Target="../media/image8.wmf"/><Relationship Id="rId4" Type="http://schemas.openxmlformats.org/officeDocument/2006/relationships/oleObject" Target="../embeddings/oleObject52.bin"/><Relationship Id="rId9" Type="http://schemas.openxmlformats.org/officeDocument/2006/relationships/oleObject" Target="../embeddings/oleObject53.bin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C5FB381-26D7-44CE-BEE1-4AD2FFF9A4FE}" type="slidenum">
              <a:rPr lang="en-US"/>
              <a:pPr/>
              <a:t>1</a:t>
            </a:fld>
            <a:endParaRPr lang="en-US"/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/>
              <a:t>Physics 123</a:t>
            </a:r>
          </a:p>
        </p:txBody>
      </p:sp>
      <p:sp>
        <p:nvSpPr>
          <p:cNvPr id="24580" name="Rectangle 3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2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6.9</a:t>
            </a:r>
          </a:p>
        </p:txBody>
      </p:sp>
      <p:pic>
        <p:nvPicPr>
          <p:cNvPr id="4403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703888" y="1636714"/>
            <a:ext cx="4506912" cy="26304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Arrow Connector 7"/>
          <p:cNvCxnSpPr/>
          <p:nvPr/>
        </p:nvCxnSpPr>
        <p:spPr>
          <a:xfrm rot="5400000" flipH="1" flipV="1">
            <a:off x="7695407" y="2669382"/>
            <a:ext cx="519112" cy="9525"/>
          </a:xfrm>
          <a:prstGeom prst="straightConnector1">
            <a:avLst/>
          </a:prstGeom>
          <a:ln w="28575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ontent Placeholder 9"/>
          <p:cNvSpPr txBox="1">
            <a:spLocks/>
          </p:cNvSpPr>
          <p:nvPr/>
        </p:nvSpPr>
        <p:spPr>
          <a:xfrm>
            <a:off x="1981200" y="1371601"/>
            <a:ext cx="3505200" cy="4754563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ct val="20000"/>
              </a:spcBef>
              <a:defRPr/>
            </a:pPr>
            <a:r>
              <a:rPr lang="en-US" sz="2800" kern="0" dirty="0"/>
              <a:t>For the graph of simple harmonic motion to the right, what do we call the part of the graph indicated by the green arrows. </a:t>
            </a:r>
          </a:p>
        </p:txBody>
      </p:sp>
      <p:sp>
        <p:nvSpPr>
          <p:cNvPr id="14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5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</p:spTree>
    <p:extLst>
      <p:ext uri="{BB962C8B-B14F-4D97-AF65-F5344CB8AC3E}">
        <p14:creationId xmlns:p14="http://schemas.microsoft.com/office/powerpoint/2010/main" val="34992526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249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6.8</a:t>
            </a:r>
          </a:p>
        </p:txBody>
      </p:sp>
      <p:sp>
        <p:nvSpPr>
          <p:cNvPr id="437250" name="Content Placeholder 9"/>
          <p:cNvSpPr>
            <a:spLocks noGrp="1"/>
          </p:cNvSpPr>
          <p:nvPr>
            <p:ph idx="1"/>
          </p:nvPr>
        </p:nvSpPr>
        <p:spPr>
          <a:xfrm>
            <a:off x="1981200" y="1371601"/>
            <a:ext cx="3505200" cy="4754563"/>
          </a:xfrm>
        </p:spPr>
        <p:txBody>
          <a:bodyPr/>
          <a:lstStyle/>
          <a:p>
            <a:pPr>
              <a:buFontTx/>
              <a:buNone/>
            </a:pPr>
            <a:r>
              <a:rPr lang="en-US" dirty="0"/>
              <a:t>For the graph of simple harmonic motion to the right, what do we call the part of the graph indicated by the blue arrows. </a:t>
            </a:r>
          </a:p>
        </p:txBody>
      </p:sp>
      <p:pic>
        <p:nvPicPr>
          <p:cNvPr id="43725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38801" y="1636714"/>
            <a:ext cx="3744913" cy="1792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Arrow Connector 7"/>
          <p:cNvCxnSpPr/>
          <p:nvPr/>
        </p:nvCxnSpPr>
        <p:spPr>
          <a:xfrm>
            <a:off x="6400800" y="2057400"/>
            <a:ext cx="1062038" cy="0"/>
          </a:xfrm>
          <a:prstGeom prst="straightConnector1">
            <a:avLst/>
          </a:prstGeom>
          <a:ln w="38100">
            <a:solidFill>
              <a:srgbClr val="00B0F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2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</p:spTree>
    <p:extLst>
      <p:ext uri="{BB962C8B-B14F-4D97-AF65-F5344CB8AC3E}">
        <p14:creationId xmlns:p14="http://schemas.microsoft.com/office/powerpoint/2010/main" val="3961917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3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6.10</a:t>
            </a:r>
          </a:p>
        </p:txBody>
      </p:sp>
      <p:sp>
        <p:nvSpPr>
          <p:cNvPr id="12" name="Content Placeholder 9"/>
          <p:cNvSpPr txBox="1">
            <a:spLocks/>
          </p:cNvSpPr>
          <p:nvPr/>
        </p:nvSpPr>
        <p:spPr>
          <a:xfrm>
            <a:off x="1981200" y="1371601"/>
            <a:ext cx="3505200" cy="4754563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ct val="20000"/>
              </a:spcBef>
              <a:defRPr/>
            </a:pPr>
            <a:r>
              <a:rPr lang="en-US" sz="2800" kern="0" dirty="0"/>
              <a:t>Compare the graphs of simple harmonic motion to the right the blue curve has a different _______ than the other one</a:t>
            </a:r>
          </a:p>
        </p:txBody>
      </p:sp>
      <p:sp>
        <p:nvSpPr>
          <p:cNvPr id="14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5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  <p:grpSp>
        <p:nvGrpSpPr>
          <p:cNvPr id="443397" name="Group 211"/>
          <p:cNvGrpSpPr>
            <a:grpSpLocks/>
          </p:cNvGrpSpPr>
          <p:nvPr/>
        </p:nvGrpSpPr>
        <p:grpSpPr bwMode="auto">
          <a:xfrm>
            <a:off x="5703888" y="1636714"/>
            <a:ext cx="4735512" cy="2630487"/>
            <a:chOff x="4179346" y="1637246"/>
            <a:chExt cx="4736054" cy="2629954"/>
          </a:xfrm>
        </p:grpSpPr>
        <p:pic>
          <p:nvPicPr>
            <p:cNvPr id="443398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4179346" y="1637246"/>
              <a:ext cx="4507454" cy="26299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443399" name="Group 8"/>
            <p:cNvGrpSpPr>
              <a:grpSpLocks/>
            </p:cNvGrpSpPr>
            <p:nvPr/>
          </p:nvGrpSpPr>
          <p:grpSpPr bwMode="auto">
            <a:xfrm flipH="1">
              <a:off x="47244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500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1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2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3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4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5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6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7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8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9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0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1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2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3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4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5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6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7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8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9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0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1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2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3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4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5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6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7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8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9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0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1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2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3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4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5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6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7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8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9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0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1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2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3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4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5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6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7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8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9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0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1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2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3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4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5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6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7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8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9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0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1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2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3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4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5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6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7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8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9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0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1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2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3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4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5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6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7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8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9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0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1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2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3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4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5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6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7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8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9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0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1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2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3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4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5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6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7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8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443400" name="Group 111"/>
            <p:cNvGrpSpPr>
              <a:grpSpLocks/>
            </p:cNvGrpSpPr>
            <p:nvPr/>
          </p:nvGrpSpPr>
          <p:grpSpPr bwMode="auto">
            <a:xfrm>
              <a:off x="67056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401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2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3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4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5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6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7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8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9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0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1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2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3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4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5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6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7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8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9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0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1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2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3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4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5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6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7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8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9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0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1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2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3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4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5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6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7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8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9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0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1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2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3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4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5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6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7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8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9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0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1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2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3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4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5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6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7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8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9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0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1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2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3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4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5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6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7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8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9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0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1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2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3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4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5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6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7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8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9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0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1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2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3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4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5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6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7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8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9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0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1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2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3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4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5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6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7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8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9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6838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6529" y="1138011"/>
            <a:ext cx="5822043" cy="50724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47820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0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0"/>
            <a:ext cx="7086600" cy="1143000"/>
          </a:xfrm>
        </p:spPr>
        <p:txBody>
          <a:bodyPr/>
          <a:lstStyle/>
          <a:p>
            <a:pPr eaLnBrk="1" hangingPunct="1"/>
            <a:r>
              <a:rPr lang="en-US" sz="2800"/>
              <a:t>Comparison: SHM Position and Velocity</a:t>
            </a:r>
          </a:p>
        </p:txBody>
      </p:sp>
      <p:sp>
        <p:nvSpPr>
          <p:cNvPr id="1126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2B587FC-CA32-4FF2-A864-10F10D7E640D}" type="slidenum">
              <a:rPr lang="en-US"/>
              <a:pPr/>
              <a:t>6</a:t>
            </a:fld>
            <a:endParaRPr lang="en-US"/>
          </a:p>
        </p:txBody>
      </p:sp>
      <p:graphicFrame>
        <p:nvGraphicFramePr>
          <p:cNvPr id="11266" name="Object 6"/>
          <p:cNvGraphicFramePr>
            <a:graphicFrameLocks noChangeAspect="1"/>
          </p:cNvGraphicFramePr>
          <p:nvPr/>
        </p:nvGraphicFramePr>
        <p:xfrm>
          <a:off x="2105025" y="2049463"/>
          <a:ext cx="3557588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126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5025" y="2049463"/>
                        <a:ext cx="3557588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267" name="Object 7"/>
          <p:cNvGraphicFramePr>
            <a:graphicFrameLocks noChangeAspect="1"/>
          </p:cNvGraphicFramePr>
          <p:nvPr/>
        </p:nvGraphicFramePr>
        <p:xfrm>
          <a:off x="2008188" y="2947989"/>
          <a:ext cx="3910012" cy="642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0" imgH="228600" progId="Equation.3">
                  <p:embed/>
                </p:oleObj>
              </mc:Choice>
              <mc:Fallback>
                <p:oleObj name="Equation" r:id="rId4" imgW="1396800" imgH="228600" progId="Equation.3">
                  <p:embed/>
                  <p:pic>
                    <p:nvPicPr>
                      <p:cNvPr id="1126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8188" y="2947989"/>
                        <a:ext cx="3910012" cy="642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97375" y="1174751"/>
            <a:ext cx="5989638" cy="5692775"/>
            <a:chOff x="1810" y="740"/>
            <a:chExt cx="3773" cy="3586"/>
          </a:xfrm>
        </p:grpSpPr>
        <p:pic>
          <p:nvPicPr>
            <p:cNvPr id="11272" name="Picture 4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424" y="302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1273" name="Text Box 8"/>
            <p:cNvSpPr txBox="1">
              <a:spLocks noChangeArrowheads="1"/>
            </p:cNvSpPr>
            <p:nvPr/>
          </p:nvSpPr>
          <p:spPr bwMode="auto">
            <a:xfrm>
              <a:off x="4856" y="4148"/>
              <a:ext cx="155" cy="1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T</a:t>
              </a:r>
            </a:p>
          </p:txBody>
        </p:sp>
        <p:sp>
          <p:nvSpPr>
            <p:cNvPr id="11274" name="Text Box 9"/>
            <p:cNvSpPr txBox="1">
              <a:spLocks noChangeArrowheads="1"/>
            </p:cNvSpPr>
            <p:nvPr/>
          </p:nvSpPr>
          <p:spPr bwMode="auto">
            <a:xfrm>
              <a:off x="4076" y="4172"/>
              <a:ext cx="23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T/2</a:t>
              </a:r>
            </a:p>
          </p:txBody>
        </p:sp>
        <p:pic>
          <p:nvPicPr>
            <p:cNvPr id="11275" name="Picture 10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424" y="74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1276" name="Picture 11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432" y="1796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1277" name="Line 12"/>
            <p:cNvSpPr>
              <a:spLocks noChangeShapeType="1"/>
            </p:cNvSpPr>
            <p:nvPr/>
          </p:nvSpPr>
          <p:spPr bwMode="auto">
            <a:xfrm>
              <a:off x="4169" y="1135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8" name="Line 13"/>
            <p:cNvSpPr>
              <a:spLocks noChangeShapeType="1"/>
            </p:cNvSpPr>
            <p:nvPr/>
          </p:nvSpPr>
          <p:spPr bwMode="auto">
            <a:xfrm>
              <a:off x="4889" y="1087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79" name="Line 14"/>
            <p:cNvSpPr>
              <a:spLocks noChangeShapeType="1"/>
            </p:cNvSpPr>
            <p:nvPr/>
          </p:nvSpPr>
          <p:spPr bwMode="auto">
            <a:xfrm>
              <a:off x="3416" y="2517"/>
              <a:ext cx="36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1268" name="Object 15"/>
            <p:cNvGraphicFramePr>
              <a:graphicFrameLocks noChangeAspect="1"/>
            </p:cNvGraphicFramePr>
            <p:nvPr/>
          </p:nvGraphicFramePr>
          <p:xfrm>
            <a:off x="3019" y="2401"/>
            <a:ext cx="365" cy="2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80880" imgH="228600" progId="Equation.3">
                    <p:embed/>
                  </p:oleObj>
                </mc:Choice>
                <mc:Fallback>
                  <p:oleObj name="Equation" r:id="rId9" imgW="380880" imgH="228600" progId="Equation.3">
                    <p:embed/>
                    <p:pic>
                      <p:nvPicPr>
                        <p:cNvPr id="11268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19" y="2401"/>
                          <a:ext cx="365" cy="22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80" name="Line 16"/>
            <p:cNvSpPr>
              <a:spLocks noChangeShapeType="1"/>
            </p:cNvSpPr>
            <p:nvPr/>
          </p:nvSpPr>
          <p:spPr bwMode="auto">
            <a:xfrm>
              <a:off x="2961" y="3422"/>
              <a:ext cx="375" cy="1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1" name="Text Box 17"/>
            <p:cNvSpPr txBox="1">
              <a:spLocks noChangeArrowheads="1"/>
            </p:cNvSpPr>
            <p:nvPr/>
          </p:nvSpPr>
          <p:spPr bwMode="auto">
            <a:xfrm>
              <a:off x="3593" y="3076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x</a:t>
              </a:r>
            </a:p>
          </p:txBody>
        </p:sp>
        <p:sp>
          <p:nvSpPr>
            <p:cNvPr id="11282" name="Text Box 18"/>
            <p:cNvSpPr txBox="1">
              <a:spLocks noChangeArrowheads="1"/>
            </p:cNvSpPr>
            <p:nvPr/>
          </p:nvSpPr>
          <p:spPr bwMode="auto">
            <a:xfrm>
              <a:off x="3663" y="3748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000"/>
                <a:t>v</a:t>
              </a:r>
            </a:p>
          </p:txBody>
        </p:sp>
        <p:sp>
          <p:nvSpPr>
            <p:cNvPr id="11283" name="Line 19"/>
            <p:cNvSpPr>
              <a:spLocks noChangeShapeType="1"/>
            </p:cNvSpPr>
            <p:nvPr/>
          </p:nvSpPr>
          <p:spPr bwMode="auto">
            <a:xfrm flipV="1">
              <a:off x="2954" y="3054"/>
              <a:ext cx="390" cy="3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4" name="Text Box 20"/>
            <p:cNvSpPr txBox="1">
              <a:spLocks noChangeArrowheads="1"/>
            </p:cNvSpPr>
            <p:nvPr/>
          </p:nvSpPr>
          <p:spPr bwMode="auto">
            <a:xfrm>
              <a:off x="1810" y="3305"/>
              <a:ext cx="10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x =x</a:t>
              </a:r>
              <a:r>
                <a:rPr lang="en-US" sz="1600" i="1" baseline="-25000"/>
                <a:t>max</a:t>
              </a:r>
              <a:r>
                <a:rPr lang="en-US" sz="1600"/>
                <a:t>, </a:t>
              </a:r>
              <a:r>
                <a:rPr lang="en-US" sz="1600" i="1"/>
                <a:t>v=0</a:t>
              </a:r>
            </a:p>
          </p:txBody>
        </p:sp>
        <p:sp>
          <p:nvSpPr>
            <p:cNvPr id="11285" name="Text Box 21"/>
            <p:cNvSpPr txBox="1">
              <a:spLocks noChangeArrowheads="1"/>
            </p:cNvSpPr>
            <p:nvPr/>
          </p:nvSpPr>
          <p:spPr bwMode="auto">
            <a:xfrm>
              <a:off x="1819" y="3721"/>
              <a:ext cx="10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v=v</a:t>
              </a:r>
              <a:r>
                <a:rPr lang="en-US" sz="1600" i="1" baseline="-25000"/>
                <a:t>max</a:t>
              </a:r>
              <a:r>
                <a:rPr lang="en-US" sz="1600" i="1"/>
                <a:t>, x=0</a:t>
              </a:r>
            </a:p>
          </p:txBody>
        </p:sp>
        <p:sp>
          <p:nvSpPr>
            <p:cNvPr id="11286" name="Line 22"/>
            <p:cNvSpPr>
              <a:spLocks noChangeShapeType="1"/>
            </p:cNvSpPr>
            <p:nvPr/>
          </p:nvSpPr>
          <p:spPr bwMode="auto">
            <a:xfrm flipV="1">
              <a:off x="2901" y="3759"/>
              <a:ext cx="795" cy="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7" name="Line 23"/>
            <p:cNvSpPr>
              <a:spLocks noChangeShapeType="1"/>
            </p:cNvSpPr>
            <p:nvPr/>
          </p:nvSpPr>
          <p:spPr bwMode="auto">
            <a:xfrm flipV="1">
              <a:off x="2904" y="3551"/>
              <a:ext cx="840" cy="2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8" name="Line 24"/>
            <p:cNvSpPr>
              <a:spLocks noChangeShapeType="1"/>
            </p:cNvSpPr>
            <p:nvPr/>
          </p:nvSpPr>
          <p:spPr bwMode="auto">
            <a:xfrm flipV="1">
              <a:off x="4544" y="2927"/>
              <a:ext cx="1" cy="5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289" name="Text Box 25"/>
            <p:cNvSpPr txBox="1">
              <a:spLocks noChangeArrowheads="1"/>
            </p:cNvSpPr>
            <p:nvPr/>
          </p:nvSpPr>
          <p:spPr bwMode="auto">
            <a:xfrm>
              <a:off x="4533" y="2646"/>
              <a:ext cx="1050" cy="212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600"/>
                <a:t>90</a:t>
              </a:r>
              <a:r>
                <a:rPr lang="en-US" sz="1600">
                  <a:sym typeface="Symbol" pitchFamily="18" charset="2"/>
                </a:rPr>
                <a:t> out of phase</a:t>
              </a:r>
            </a:p>
          </p:txBody>
        </p:sp>
        <p:sp>
          <p:nvSpPr>
            <p:cNvPr id="11290" name="Line 26"/>
            <p:cNvSpPr>
              <a:spLocks noChangeShapeType="1"/>
            </p:cNvSpPr>
            <p:nvPr/>
          </p:nvSpPr>
          <p:spPr bwMode="auto">
            <a:xfrm>
              <a:off x="4565" y="2949"/>
              <a:ext cx="323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3176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123.1.9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does it mean for two oscillators to be “in phase?”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That they have the same position relative to the Sun.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That they rise and fall together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That they both have emotional episodes related to growth in children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 saw this on Star Trek, it means they are in the same place, but you can’t see them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E87D1FB-7ED3-4D53-B026-4508F19EE3B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64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39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6.10</a:t>
            </a:r>
          </a:p>
        </p:txBody>
      </p:sp>
      <p:sp>
        <p:nvSpPr>
          <p:cNvPr id="12" name="Content Placeholder 9"/>
          <p:cNvSpPr txBox="1">
            <a:spLocks/>
          </p:cNvSpPr>
          <p:nvPr/>
        </p:nvSpPr>
        <p:spPr>
          <a:xfrm>
            <a:off x="1981200" y="1371601"/>
            <a:ext cx="3505200" cy="4754563"/>
          </a:xfrm>
          <a:prstGeom prst="rect">
            <a:avLst/>
          </a:prstGeom>
        </p:spPr>
        <p:txBody>
          <a:bodyPr/>
          <a:lstStyle/>
          <a:p>
            <a:pPr marL="342900" indent="-342900">
              <a:spcBef>
                <a:spcPct val="20000"/>
              </a:spcBef>
              <a:defRPr/>
            </a:pPr>
            <a:r>
              <a:rPr lang="en-US" sz="2800" kern="0" dirty="0"/>
              <a:t>Compare the graphs of simple harmonic motion to the right the blue curve has a different _______ than the other one</a:t>
            </a:r>
          </a:p>
        </p:txBody>
      </p:sp>
      <p:sp>
        <p:nvSpPr>
          <p:cNvPr id="14" name="Content Placeholder 9"/>
          <p:cNvSpPr txBox="1">
            <a:spLocks/>
          </p:cNvSpPr>
          <p:nvPr/>
        </p:nvSpPr>
        <p:spPr bwMode="auto">
          <a:xfrm>
            <a:off x="23622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a) Amplitude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b) Frequency </a:t>
            </a:r>
          </a:p>
        </p:txBody>
      </p:sp>
      <p:sp>
        <p:nvSpPr>
          <p:cNvPr id="15" name="Content Placeholder 9"/>
          <p:cNvSpPr txBox="1">
            <a:spLocks/>
          </p:cNvSpPr>
          <p:nvPr/>
        </p:nvSpPr>
        <p:spPr bwMode="auto">
          <a:xfrm>
            <a:off x="7162800" y="4648201"/>
            <a:ext cx="2590800" cy="1630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c) Period</a:t>
            </a:r>
          </a:p>
          <a:p>
            <a:pPr marL="514350" indent="-514350">
              <a:spcBef>
                <a:spcPct val="20000"/>
              </a:spcBef>
              <a:defRPr/>
            </a:pPr>
            <a:r>
              <a:rPr lang="en-US" sz="2800" kern="0" dirty="0"/>
              <a:t>d) Phase</a:t>
            </a:r>
          </a:p>
        </p:txBody>
      </p:sp>
      <p:grpSp>
        <p:nvGrpSpPr>
          <p:cNvPr id="443397" name="Group 211"/>
          <p:cNvGrpSpPr>
            <a:grpSpLocks/>
          </p:cNvGrpSpPr>
          <p:nvPr/>
        </p:nvGrpSpPr>
        <p:grpSpPr bwMode="auto">
          <a:xfrm>
            <a:off x="5703888" y="1636714"/>
            <a:ext cx="4735512" cy="2630487"/>
            <a:chOff x="4179346" y="1637246"/>
            <a:chExt cx="4736054" cy="2629954"/>
          </a:xfrm>
        </p:grpSpPr>
        <p:pic>
          <p:nvPicPr>
            <p:cNvPr id="443398" name="Picture 2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4179346" y="1637246"/>
              <a:ext cx="4507454" cy="26299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grpSp>
          <p:nvGrpSpPr>
            <p:cNvPr id="443399" name="Group 8"/>
            <p:cNvGrpSpPr>
              <a:grpSpLocks/>
            </p:cNvGrpSpPr>
            <p:nvPr/>
          </p:nvGrpSpPr>
          <p:grpSpPr bwMode="auto">
            <a:xfrm flipH="1">
              <a:off x="47244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500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1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2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3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4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5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6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7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8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09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0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1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2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3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4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5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6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7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8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19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0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1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2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3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4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5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6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7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8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29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0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1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2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3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4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5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6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7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8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39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0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1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2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3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4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5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6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7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8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49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0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1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2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3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4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5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6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7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8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59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0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1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2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3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4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5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6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7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8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69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0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1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2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3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4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5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6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7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8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79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0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1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2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3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4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5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6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7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8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89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0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1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2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3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4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5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6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7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598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  <p:grpSp>
          <p:nvGrpSpPr>
            <p:cNvPr id="443400" name="Group 111"/>
            <p:cNvGrpSpPr>
              <a:grpSpLocks/>
            </p:cNvGrpSpPr>
            <p:nvPr/>
          </p:nvGrpSpPr>
          <p:grpSpPr bwMode="auto">
            <a:xfrm>
              <a:off x="6705600" y="2286000"/>
              <a:ext cx="2209800" cy="1369056"/>
              <a:chOff x="1322006" y="4117344"/>
              <a:chExt cx="6560617" cy="1269071"/>
            </a:xfrm>
          </p:grpSpPr>
          <p:sp>
            <p:nvSpPr>
              <p:cNvPr id="443401" name="AutoShape 5"/>
              <p:cNvSpPr>
                <a:spLocks noChangeAspect="1" noChangeArrowheads="1" noTextEdit="1"/>
              </p:cNvSpPr>
              <p:nvPr/>
            </p:nvSpPr>
            <p:spPr bwMode="auto">
              <a:xfrm>
                <a:off x="1322006" y="4117344"/>
                <a:ext cx="6560617" cy="126907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2" name="Line 10"/>
              <p:cNvSpPr>
                <a:spLocks noChangeShapeType="1"/>
              </p:cNvSpPr>
              <p:nvPr/>
            </p:nvSpPr>
            <p:spPr bwMode="auto">
              <a:xfrm flipV="1">
                <a:off x="1440796" y="4220028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3" name="Line 11"/>
              <p:cNvSpPr>
                <a:spLocks noChangeShapeType="1"/>
              </p:cNvSpPr>
              <p:nvPr/>
            </p:nvSpPr>
            <p:spPr bwMode="auto">
              <a:xfrm flipV="1">
                <a:off x="1505282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4" name="Line 12"/>
              <p:cNvSpPr>
                <a:spLocks noChangeShapeType="1"/>
              </p:cNvSpPr>
              <p:nvPr/>
            </p:nvSpPr>
            <p:spPr bwMode="auto">
              <a:xfrm flipV="1">
                <a:off x="1569769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5" name="Line 13"/>
              <p:cNvSpPr>
                <a:spLocks noChangeShapeType="1"/>
              </p:cNvSpPr>
              <p:nvPr/>
            </p:nvSpPr>
            <p:spPr bwMode="auto">
              <a:xfrm>
                <a:off x="1630861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6" name="Line 14"/>
              <p:cNvSpPr>
                <a:spLocks noChangeShapeType="1"/>
              </p:cNvSpPr>
              <p:nvPr/>
            </p:nvSpPr>
            <p:spPr bwMode="auto">
              <a:xfrm>
                <a:off x="1695347" y="4212129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7" name="Line 15"/>
              <p:cNvSpPr>
                <a:spLocks noChangeShapeType="1"/>
              </p:cNvSpPr>
              <p:nvPr/>
            </p:nvSpPr>
            <p:spPr bwMode="auto">
              <a:xfrm>
                <a:off x="1759833" y="4222661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8" name="Line 16"/>
              <p:cNvSpPr>
                <a:spLocks noChangeShapeType="1"/>
              </p:cNvSpPr>
              <p:nvPr/>
            </p:nvSpPr>
            <p:spPr bwMode="auto">
              <a:xfrm>
                <a:off x="1824319" y="4235826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09" name="Line 17"/>
              <p:cNvSpPr>
                <a:spLocks noChangeShapeType="1"/>
              </p:cNvSpPr>
              <p:nvPr/>
            </p:nvSpPr>
            <p:spPr bwMode="auto">
              <a:xfrm>
                <a:off x="1888805" y="4256889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0" name="Line 18"/>
              <p:cNvSpPr>
                <a:spLocks noChangeShapeType="1"/>
              </p:cNvSpPr>
              <p:nvPr/>
            </p:nvSpPr>
            <p:spPr bwMode="auto">
              <a:xfrm>
                <a:off x="1949897" y="428058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1" name="Line 19"/>
              <p:cNvSpPr>
                <a:spLocks noChangeShapeType="1"/>
              </p:cNvSpPr>
              <p:nvPr/>
            </p:nvSpPr>
            <p:spPr bwMode="auto">
              <a:xfrm>
                <a:off x="2014384" y="4309548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2" name="Line 20"/>
              <p:cNvSpPr>
                <a:spLocks noChangeShapeType="1"/>
              </p:cNvSpPr>
              <p:nvPr/>
            </p:nvSpPr>
            <p:spPr bwMode="auto">
              <a:xfrm>
                <a:off x="2078870" y="4343776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3" name="Line 21"/>
              <p:cNvSpPr>
                <a:spLocks noChangeShapeType="1"/>
              </p:cNvSpPr>
              <p:nvPr/>
            </p:nvSpPr>
            <p:spPr bwMode="auto">
              <a:xfrm>
                <a:off x="2143356" y="4380637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4" name="Line 22"/>
              <p:cNvSpPr>
                <a:spLocks noChangeShapeType="1"/>
              </p:cNvSpPr>
              <p:nvPr/>
            </p:nvSpPr>
            <p:spPr bwMode="auto">
              <a:xfrm>
                <a:off x="2207842" y="442276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5" name="Line 23"/>
              <p:cNvSpPr>
                <a:spLocks noChangeShapeType="1"/>
              </p:cNvSpPr>
              <p:nvPr/>
            </p:nvSpPr>
            <p:spPr bwMode="auto">
              <a:xfrm>
                <a:off x="2268934" y="4470156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6" name="Line 24"/>
              <p:cNvSpPr>
                <a:spLocks noChangeShapeType="1"/>
              </p:cNvSpPr>
              <p:nvPr/>
            </p:nvSpPr>
            <p:spPr bwMode="auto">
              <a:xfrm>
                <a:off x="2333420" y="451754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7" name="Line 25"/>
              <p:cNvSpPr>
                <a:spLocks noChangeShapeType="1"/>
              </p:cNvSpPr>
              <p:nvPr/>
            </p:nvSpPr>
            <p:spPr bwMode="auto">
              <a:xfrm>
                <a:off x="2397906" y="4567575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8" name="Line 26"/>
              <p:cNvSpPr>
                <a:spLocks noChangeShapeType="1"/>
              </p:cNvSpPr>
              <p:nvPr/>
            </p:nvSpPr>
            <p:spPr bwMode="auto">
              <a:xfrm>
                <a:off x="2462393" y="46202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19" name="Line 27"/>
              <p:cNvSpPr>
                <a:spLocks noChangeShapeType="1"/>
              </p:cNvSpPr>
              <p:nvPr/>
            </p:nvSpPr>
            <p:spPr bwMode="auto">
              <a:xfrm>
                <a:off x="2526879" y="467289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0" name="Line 28"/>
              <p:cNvSpPr>
                <a:spLocks noChangeShapeType="1"/>
              </p:cNvSpPr>
              <p:nvPr/>
            </p:nvSpPr>
            <p:spPr bwMode="auto">
              <a:xfrm>
                <a:off x="2591365" y="4728183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1" name="Line 29"/>
              <p:cNvSpPr>
                <a:spLocks noChangeShapeType="1"/>
              </p:cNvSpPr>
              <p:nvPr/>
            </p:nvSpPr>
            <p:spPr bwMode="auto">
              <a:xfrm>
                <a:off x="2652457" y="4780842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2" name="Line 30"/>
              <p:cNvSpPr>
                <a:spLocks noChangeShapeType="1"/>
              </p:cNvSpPr>
              <p:nvPr/>
            </p:nvSpPr>
            <p:spPr bwMode="auto">
              <a:xfrm>
                <a:off x="2716943" y="483613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3" name="Line 31"/>
              <p:cNvSpPr>
                <a:spLocks noChangeShapeType="1"/>
              </p:cNvSpPr>
              <p:nvPr/>
            </p:nvSpPr>
            <p:spPr bwMode="auto">
              <a:xfrm>
                <a:off x="2781429" y="4888792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4" name="Line 32"/>
              <p:cNvSpPr>
                <a:spLocks noChangeShapeType="1"/>
              </p:cNvSpPr>
              <p:nvPr/>
            </p:nvSpPr>
            <p:spPr bwMode="auto">
              <a:xfrm>
                <a:off x="2845915" y="4941450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5" name="Line 33"/>
              <p:cNvSpPr>
                <a:spLocks noChangeShapeType="1"/>
              </p:cNvSpPr>
              <p:nvPr/>
            </p:nvSpPr>
            <p:spPr bwMode="auto">
              <a:xfrm>
                <a:off x="2910402" y="4991476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6" name="Line 34"/>
              <p:cNvSpPr>
                <a:spLocks noChangeShapeType="1"/>
              </p:cNvSpPr>
              <p:nvPr/>
            </p:nvSpPr>
            <p:spPr bwMode="auto">
              <a:xfrm>
                <a:off x="2971494" y="5038869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7" name="Line 35"/>
              <p:cNvSpPr>
                <a:spLocks noChangeShapeType="1"/>
              </p:cNvSpPr>
              <p:nvPr/>
            </p:nvSpPr>
            <p:spPr bwMode="auto">
              <a:xfrm>
                <a:off x="3035980" y="5083628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8" name="Line 36"/>
              <p:cNvSpPr>
                <a:spLocks noChangeShapeType="1"/>
              </p:cNvSpPr>
              <p:nvPr/>
            </p:nvSpPr>
            <p:spPr bwMode="auto">
              <a:xfrm>
                <a:off x="3100466" y="5123122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29" name="Line 37"/>
              <p:cNvSpPr>
                <a:spLocks noChangeShapeType="1"/>
              </p:cNvSpPr>
              <p:nvPr/>
            </p:nvSpPr>
            <p:spPr bwMode="auto">
              <a:xfrm>
                <a:off x="3164952" y="5162616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0" name="Line 38"/>
              <p:cNvSpPr>
                <a:spLocks noChangeShapeType="1"/>
              </p:cNvSpPr>
              <p:nvPr/>
            </p:nvSpPr>
            <p:spPr bwMode="auto">
              <a:xfrm>
                <a:off x="3229438" y="5194211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1" name="Line 39"/>
              <p:cNvSpPr>
                <a:spLocks noChangeShapeType="1"/>
              </p:cNvSpPr>
              <p:nvPr/>
            </p:nvSpPr>
            <p:spPr bwMode="auto">
              <a:xfrm>
                <a:off x="3290531" y="5223174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2" name="Line 40"/>
              <p:cNvSpPr>
                <a:spLocks noChangeShapeType="1"/>
              </p:cNvSpPr>
              <p:nvPr/>
            </p:nvSpPr>
            <p:spPr bwMode="auto">
              <a:xfrm>
                <a:off x="3355017" y="5246870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3" name="Line 41"/>
              <p:cNvSpPr>
                <a:spLocks noChangeShapeType="1"/>
              </p:cNvSpPr>
              <p:nvPr/>
            </p:nvSpPr>
            <p:spPr bwMode="auto">
              <a:xfrm>
                <a:off x="3419503" y="5265300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4" name="Line 42"/>
              <p:cNvSpPr>
                <a:spLocks noChangeShapeType="1"/>
              </p:cNvSpPr>
              <p:nvPr/>
            </p:nvSpPr>
            <p:spPr bwMode="auto">
              <a:xfrm>
                <a:off x="3483989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5" name="Line 43"/>
              <p:cNvSpPr>
                <a:spLocks noChangeShapeType="1"/>
              </p:cNvSpPr>
              <p:nvPr/>
            </p:nvSpPr>
            <p:spPr bwMode="auto">
              <a:xfrm>
                <a:off x="3548475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6" name="Line 44"/>
              <p:cNvSpPr>
                <a:spLocks noChangeShapeType="1"/>
              </p:cNvSpPr>
              <p:nvPr/>
            </p:nvSpPr>
            <p:spPr bwMode="auto">
              <a:xfrm flipV="1">
                <a:off x="3612961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7" name="Line 45"/>
              <p:cNvSpPr>
                <a:spLocks noChangeShapeType="1"/>
              </p:cNvSpPr>
              <p:nvPr/>
            </p:nvSpPr>
            <p:spPr bwMode="auto">
              <a:xfrm flipV="1">
                <a:off x="3674053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8" name="Line 46"/>
              <p:cNvSpPr>
                <a:spLocks noChangeShapeType="1"/>
              </p:cNvSpPr>
              <p:nvPr/>
            </p:nvSpPr>
            <p:spPr bwMode="auto">
              <a:xfrm flipV="1">
                <a:off x="3738540" y="5262667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39" name="Line 47"/>
              <p:cNvSpPr>
                <a:spLocks noChangeShapeType="1"/>
              </p:cNvSpPr>
              <p:nvPr/>
            </p:nvSpPr>
            <p:spPr bwMode="auto">
              <a:xfrm flipV="1">
                <a:off x="3803026" y="5244237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0" name="Line 48"/>
              <p:cNvSpPr>
                <a:spLocks noChangeShapeType="1"/>
              </p:cNvSpPr>
              <p:nvPr/>
            </p:nvSpPr>
            <p:spPr bwMode="auto">
              <a:xfrm flipV="1">
                <a:off x="3867512" y="5220541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1" name="Line 49"/>
              <p:cNvSpPr>
                <a:spLocks noChangeShapeType="1"/>
              </p:cNvSpPr>
              <p:nvPr/>
            </p:nvSpPr>
            <p:spPr bwMode="auto">
              <a:xfrm flipV="1">
                <a:off x="3931998" y="5191578"/>
                <a:ext cx="61092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2" name="Line 50"/>
              <p:cNvSpPr>
                <a:spLocks noChangeShapeType="1"/>
              </p:cNvSpPr>
              <p:nvPr/>
            </p:nvSpPr>
            <p:spPr bwMode="auto">
              <a:xfrm flipV="1">
                <a:off x="3993090" y="5157350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3" name="Line 51"/>
              <p:cNvSpPr>
                <a:spLocks noChangeShapeType="1"/>
              </p:cNvSpPr>
              <p:nvPr/>
            </p:nvSpPr>
            <p:spPr bwMode="auto">
              <a:xfrm flipV="1">
                <a:off x="4057576" y="5120489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4" name="Line 52"/>
              <p:cNvSpPr>
                <a:spLocks noChangeShapeType="1"/>
              </p:cNvSpPr>
              <p:nvPr/>
            </p:nvSpPr>
            <p:spPr bwMode="auto">
              <a:xfrm flipV="1">
                <a:off x="4122062" y="5078362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5" name="Line 53"/>
              <p:cNvSpPr>
                <a:spLocks noChangeShapeType="1"/>
              </p:cNvSpPr>
              <p:nvPr/>
            </p:nvSpPr>
            <p:spPr bwMode="auto">
              <a:xfrm flipV="1">
                <a:off x="4186549" y="5033603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6" name="Line 54"/>
              <p:cNvSpPr>
                <a:spLocks noChangeShapeType="1"/>
              </p:cNvSpPr>
              <p:nvPr/>
            </p:nvSpPr>
            <p:spPr bwMode="auto">
              <a:xfrm flipV="1">
                <a:off x="4251035" y="498621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7" name="Line 55"/>
              <p:cNvSpPr>
                <a:spLocks noChangeShapeType="1"/>
              </p:cNvSpPr>
              <p:nvPr/>
            </p:nvSpPr>
            <p:spPr bwMode="auto">
              <a:xfrm flipV="1">
                <a:off x="4312127" y="4936184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8" name="Line 56"/>
              <p:cNvSpPr>
                <a:spLocks noChangeShapeType="1"/>
              </p:cNvSpPr>
              <p:nvPr/>
            </p:nvSpPr>
            <p:spPr bwMode="auto">
              <a:xfrm flipV="1">
                <a:off x="4376613" y="4883526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49" name="Line 57"/>
              <p:cNvSpPr>
                <a:spLocks noChangeShapeType="1"/>
              </p:cNvSpPr>
              <p:nvPr/>
            </p:nvSpPr>
            <p:spPr bwMode="auto">
              <a:xfrm flipV="1">
                <a:off x="4441099" y="48308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0" name="Line 58"/>
              <p:cNvSpPr>
                <a:spLocks noChangeShapeType="1"/>
              </p:cNvSpPr>
              <p:nvPr/>
            </p:nvSpPr>
            <p:spPr bwMode="auto">
              <a:xfrm flipV="1">
                <a:off x="4505585" y="477557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1" name="Line 59"/>
              <p:cNvSpPr>
                <a:spLocks noChangeShapeType="1"/>
              </p:cNvSpPr>
              <p:nvPr/>
            </p:nvSpPr>
            <p:spPr bwMode="auto">
              <a:xfrm flipV="1">
                <a:off x="4570071" y="4722917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2" name="Line 60"/>
              <p:cNvSpPr>
                <a:spLocks noChangeShapeType="1"/>
              </p:cNvSpPr>
              <p:nvPr/>
            </p:nvSpPr>
            <p:spPr bwMode="auto">
              <a:xfrm flipV="1">
                <a:off x="4631164" y="4667626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3" name="Line 61"/>
              <p:cNvSpPr>
                <a:spLocks noChangeShapeType="1"/>
              </p:cNvSpPr>
              <p:nvPr/>
            </p:nvSpPr>
            <p:spPr bwMode="auto">
              <a:xfrm flipV="1">
                <a:off x="4695650" y="4614967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4" name="Line 62"/>
              <p:cNvSpPr>
                <a:spLocks noChangeShapeType="1"/>
              </p:cNvSpPr>
              <p:nvPr/>
            </p:nvSpPr>
            <p:spPr bwMode="auto">
              <a:xfrm flipV="1">
                <a:off x="4760136" y="4562309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5" name="Line 63"/>
              <p:cNvSpPr>
                <a:spLocks noChangeShapeType="1"/>
              </p:cNvSpPr>
              <p:nvPr/>
            </p:nvSpPr>
            <p:spPr bwMode="auto">
              <a:xfrm flipV="1">
                <a:off x="4824622" y="4512283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6" name="Line 64"/>
              <p:cNvSpPr>
                <a:spLocks noChangeShapeType="1"/>
              </p:cNvSpPr>
              <p:nvPr/>
            </p:nvSpPr>
            <p:spPr bwMode="auto">
              <a:xfrm flipV="1">
                <a:off x="4889108" y="4464890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7" name="Line 65"/>
              <p:cNvSpPr>
                <a:spLocks noChangeShapeType="1"/>
              </p:cNvSpPr>
              <p:nvPr/>
            </p:nvSpPr>
            <p:spPr bwMode="auto">
              <a:xfrm flipV="1">
                <a:off x="4950200" y="4420131"/>
                <a:ext cx="64486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8" name="Line 66"/>
              <p:cNvSpPr>
                <a:spLocks noChangeShapeType="1"/>
              </p:cNvSpPr>
              <p:nvPr/>
            </p:nvSpPr>
            <p:spPr bwMode="auto">
              <a:xfrm flipV="1">
                <a:off x="5014686" y="4378004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59" name="Line 67"/>
              <p:cNvSpPr>
                <a:spLocks noChangeShapeType="1"/>
              </p:cNvSpPr>
              <p:nvPr/>
            </p:nvSpPr>
            <p:spPr bwMode="auto">
              <a:xfrm flipV="1">
                <a:off x="5079173" y="4341143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0" name="Line 68"/>
              <p:cNvSpPr>
                <a:spLocks noChangeShapeType="1"/>
              </p:cNvSpPr>
              <p:nvPr/>
            </p:nvSpPr>
            <p:spPr bwMode="auto">
              <a:xfrm flipV="1">
                <a:off x="5143659" y="4306915"/>
                <a:ext cx="61092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1" name="Line 69"/>
              <p:cNvSpPr>
                <a:spLocks noChangeShapeType="1"/>
              </p:cNvSpPr>
              <p:nvPr/>
            </p:nvSpPr>
            <p:spPr bwMode="auto">
              <a:xfrm flipV="1">
                <a:off x="5204751" y="4277953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2" name="Line 70"/>
              <p:cNvSpPr>
                <a:spLocks noChangeShapeType="1"/>
              </p:cNvSpPr>
              <p:nvPr/>
            </p:nvSpPr>
            <p:spPr bwMode="auto">
              <a:xfrm flipV="1">
                <a:off x="5269237" y="4254256"/>
                <a:ext cx="64486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3" name="Line 71"/>
              <p:cNvSpPr>
                <a:spLocks noChangeShapeType="1"/>
              </p:cNvSpPr>
              <p:nvPr/>
            </p:nvSpPr>
            <p:spPr bwMode="auto">
              <a:xfrm flipV="1">
                <a:off x="5333723" y="4235826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4" name="Line 72"/>
              <p:cNvSpPr>
                <a:spLocks noChangeShapeType="1"/>
              </p:cNvSpPr>
              <p:nvPr/>
            </p:nvSpPr>
            <p:spPr bwMode="auto">
              <a:xfrm flipV="1">
                <a:off x="5398209" y="4220028"/>
                <a:ext cx="64486" cy="1579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5" name="Line 73"/>
              <p:cNvSpPr>
                <a:spLocks noChangeShapeType="1"/>
              </p:cNvSpPr>
              <p:nvPr/>
            </p:nvSpPr>
            <p:spPr bwMode="auto">
              <a:xfrm flipV="1">
                <a:off x="5462695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6" name="Line 74"/>
              <p:cNvSpPr>
                <a:spLocks noChangeShapeType="1"/>
              </p:cNvSpPr>
              <p:nvPr/>
            </p:nvSpPr>
            <p:spPr bwMode="auto">
              <a:xfrm flipV="1">
                <a:off x="5527182" y="4209496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7" name="Line 75"/>
              <p:cNvSpPr>
                <a:spLocks noChangeShapeType="1"/>
              </p:cNvSpPr>
              <p:nvPr/>
            </p:nvSpPr>
            <p:spPr bwMode="auto">
              <a:xfrm>
                <a:off x="5588274" y="4209496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8" name="Line 76"/>
              <p:cNvSpPr>
                <a:spLocks noChangeShapeType="1"/>
              </p:cNvSpPr>
              <p:nvPr/>
            </p:nvSpPr>
            <p:spPr bwMode="auto">
              <a:xfrm>
                <a:off x="5652760" y="4212129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69" name="Line 77"/>
              <p:cNvSpPr>
                <a:spLocks noChangeShapeType="1"/>
              </p:cNvSpPr>
              <p:nvPr/>
            </p:nvSpPr>
            <p:spPr bwMode="auto">
              <a:xfrm>
                <a:off x="5717246" y="4220028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0" name="Line 78"/>
              <p:cNvSpPr>
                <a:spLocks noChangeShapeType="1"/>
              </p:cNvSpPr>
              <p:nvPr/>
            </p:nvSpPr>
            <p:spPr bwMode="auto">
              <a:xfrm>
                <a:off x="5781732" y="4233193"/>
                <a:ext cx="64486" cy="1843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1" name="Line 79"/>
              <p:cNvSpPr>
                <a:spLocks noChangeShapeType="1"/>
              </p:cNvSpPr>
              <p:nvPr/>
            </p:nvSpPr>
            <p:spPr bwMode="auto">
              <a:xfrm>
                <a:off x="5846218" y="4251623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2" name="Line 80"/>
              <p:cNvSpPr>
                <a:spLocks noChangeShapeType="1"/>
              </p:cNvSpPr>
              <p:nvPr/>
            </p:nvSpPr>
            <p:spPr bwMode="auto">
              <a:xfrm>
                <a:off x="5907310" y="4275320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3" name="Line 81"/>
              <p:cNvSpPr>
                <a:spLocks noChangeShapeType="1"/>
              </p:cNvSpPr>
              <p:nvPr/>
            </p:nvSpPr>
            <p:spPr bwMode="auto">
              <a:xfrm>
                <a:off x="5971797" y="4304282"/>
                <a:ext cx="64486" cy="3159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4" name="Line 82"/>
              <p:cNvSpPr>
                <a:spLocks noChangeShapeType="1"/>
              </p:cNvSpPr>
              <p:nvPr/>
            </p:nvSpPr>
            <p:spPr bwMode="auto">
              <a:xfrm>
                <a:off x="6036283" y="4335877"/>
                <a:ext cx="64486" cy="3686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5" name="Line 83"/>
              <p:cNvSpPr>
                <a:spLocks noChangeShapeType="1"/>
              </p:cNvSpPr>
              <p:nvPr/>
            </p:nvSpPr>
            <p:spPr bwMode="auto">
              <a:xfrm>
                <a:off x="6100769" y="4372738"/>
                <a:ext cx="64486" cy="42127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6" name="Line 84"/>
              <p:cNvSpPr>
                <a:spLocks noChangeShapeType="1"/>
              </p:cNvSpPr>
              <p:nvPr/>
            </p:nvSpPr>
            <p:spPr bwMode="auto">
              <a:xfrm>
                <a:off x="6165255" y="4414865"/>
                <a:ext cx="61092" cy="44760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7" name="Line 85"/>
              <p:cNvSpPr>
                <a:spLocks noChangeShapeType="1"/>
              </p:cNvSpPr>
              <p:nvPr/>
            </p:nvSpPr>
            <p:spPr bwMode="auto">
              <a:xfrm>
                <a:off x="6226347" y="4459625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8" name="Line 86"/>
              <p:cNvSpPr>
                <a:spLocks noChangeShapeType="1"/>
              </p:cNvSpPr>
              <p:nvPr/>
            </p:nvSpPr>
            <p:spPr bwMode="auto">
              <a:xfrm>
                <a:off x="6290833" y="4507017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79" name="Line 87"/>
              <p:cNvSpPr>
                <a:spLocks noChangeShapeType="1"/>
              </p:cNvSpPr>
              <p:nvPr/>
            </p:nvSpPr>
            <p:spPr bwMode="auto">
              <a:xfrm>
                <a:off x="6355320" y="4557043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0" name="Line 88"/>
              <p:cNvSpPr>
                <a:spLocks noChangeShapeType="1"/>
              </p:cNvSpPr>
              <p:nvPr/>
            </p:nvSpPr>
            <p:spPr bwMode="auto">
              <a:xfrm>
                <a:off x="6419806" y="46097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1" name="Line 89"/>
              <p:cNvSpPr>
                <a:spLocks noChangeShapeType="1"/>
              </p:cNvSpPr>
              <p:nvPr/>
            </p:nvSpPr>
            <p:spPr bwMode="auto">
              <a:xfrm>
                <a:off x="6484292" y="466236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2" name="Line 90"/>
              <p:cNvSpPr>
                <a:spLocks noChangeShapeType="1"/>
              </p:cNvSpPr>
              <p:nvPr/>
            </p:nvSpPr>
            <p:spPr bwMode="auto">
              <a:xfrm>
                <a:off x="6548778" y="4717651"/>
                <a:ext cx="61092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3" name="Line 91"/>
              <p:cNvSpPr>
                <a:spLocks noChangeShapeType="1"/>
              </p:cNvSpPr>
              <p:nvPr/>
            </p:nvSpPr>
            <p:spPr bwMode="auto">
              <a:xfrm>
                <a:off x="6609870" y="4770310"/>
                <a:ext cx="64486" cy="55291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4" name="Line 92"/>
              <p:cNvSpPr>
                <a:spLocks noChangeShapeType="1"/>
              </p:cNvSpPr>
              <p:nvPr/>
            </p:nvSpPr>
            <p:spPr bwMode="auto">
              <a:xfrm>
                <a:off x="6674356" y="4825601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5" name="Line 93"/>
              <p:cNvSpPr>
                <a:spLocks noChangeShapeType="1"/>
              </p:cNvSpPr>
              <p:nvPr/>
            </p:nvSpPr>
            <p:spPr bwMode="auto">
              <a:xfrm>
                <a:off x="6738842" y="4878260"/>
                <a:ext cx="64486" cy="5265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6" name="Line 94"/>
              <p:cNvSpPr>
                <a:spLocks noChangeShapeType="1"/>
              </p:cNvSpPr>
              <p:nvPr/>
            </p:nvSpPr>
            <p:spPr bwMode="auto">
              <a:xfrm>
                <a:off x="6803329" y="4930919"/>
                <a:ext cx="64486" cy="5002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7" name="Line 95"/>
              <p:cNvSpPr>
                <a:spLocks noChangeShapeType="1"/>
              </p:cNvSpPr>
              <p:nvPr/>
            </p:nvSpPr>
            <p:spPr bwMode="auto">
              <a:xfrm>
                <a:off x="6867815" y="4980944"/>
                <a:ext cx="61092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8" name="Line 96"/>
              <p:cNvSpPr>
                <a:spLocks noChangeShapeType="1"/>
              </p:cNvSpPr>
              <p:nvPr/>
            </p:nvSpPr>
            <p:spPr bwMode="auto">
              <a:xfrm>
                <a:off x="6928907" y="5028337"/>
                <a:ext cx="64486" cy="4739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89" name="Line 97"/>
              <p:cNvSpPr>
                <a:spLocks noChangeShapeType="1"/>
              </p:cNvSpPr>
              <p:nvPr/>
            </p:nvSpPr>
            <p:spPr bwMode="auto">
              <a:xfrm>
                <a:off x="6993393" y="5075730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0" name="Line 98"/>
              <p:cNvSpPr>
                <a:spLocks noChangeShapeType="1"/>
              </p:cNvSpPr>
              <p:nvPr/>
            </p:nvSpPr>
            <p:spPr bwMode="auto">
              <a:xfrm>
                <a:off x="7057879" y="5115223"/>
                <a:ext cx="64486" cy="39494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1" name="Line 99"/>
              <p:cNvSpPr>
                <a:spLocks noChangeShapeType="1"/>
              </p:cNvSpPr>
              <p:nvPr/>
            </p:nvSpPr>
            <p:spPr bwMode="auto">
              <a:xfrm>
                <a:off x="7122365" y="5154717"/>
                <a:ext cx="64486" cy="34228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2" name="Line 100"/>
              <p:cNvSpPr>
                <a:spLocks noChangeShapeType="1"/>
              </p:cNvSpPr>
              <p:nvPr/>
            </p:nvSpPr>
            <p:spPr bwMode="auto">
              <a:xfrm>
                <a:off x="7186851" y="5188945"/>
                <a:ext cx="64486" cy="2896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3" name="Line 101"/>
              <p:cNvSpPr>
                <a:spLocks noChangeShapeType="1"/>
              </p:cNvSpPr>
              <p:nvPr/>
            </p:nvSpPr>
            <p:spPr bwMode="auto">
              <a:xfrm>
                <a:off x="7251338" y="5217908"/>
                <a:ext cx="61092" cy="23696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4" name="Line 102"/>
              <p:cNvSpPr>
                <a:spLocks noChangeShapeType="1"/>
              </p:cNvSpPr>
              <p:nvPr/>
            </p:nvSpPr>
            <p:spPr bwMode="auto">
              <a:xfrm>
                <a:off x="7312430" y="5241604"/>
                <a:ext cx="64486" cy="2106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5" name="Line 103"/>
              <p:cNvSpPr>
                <a:spLocks noChangeShapeType="1"/>
              </p:cNvSpPr>
              <p:nvPr/>
            </p:nvSpPr>
            <p:spPr bwMode="auto">
              <a:xfrm>
                <a:off x="7376916" y="5262667"/>
                <a:ext cx="64486" cy="13165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6" name="Line 104"/>
              <p:cNvSpPr>
                <a:spLocks noChangeShapeType="1"/>
              </p:cNvSpPr>
              <p:nvPr/>
            </p:nvSpPr>
            <p:spPr bwMode="auto">
              <a:xfrm>
                <a:off x="7441402" y="5275832"/>
                <a:ext cx="64486" cy="10532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7" name="Line 105"/>
              <p:cNvSpPr>
                <a:spLocks noChangeShapeType="1"/>
              </p:cNvSpPr>
              <p:nvPr/>
            </p:nvSpPr>
            <p:spPr bwMode="auto">
              <a:xfrm>
                <a:off x="7505888" y="5286364"/>
                <a:ext cx="64486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8" name="Line 106"/>
              <p:cNvSpPr>
                <a:spLocks noChangeShapeType="1"/>
              </p:cNvSpPr>
              <p:nvPr/>
            </p:nvSpPr>
            <p:spPr bwMode="auto">
              <a:xfrm flipV="1">
                <a:off x="7570374" y="5286364"/>
                <a:ext cx="61092" cy="2633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443499" name="Line 107"/>
              <p:cNvSpPr>
                <a:spLocks noChangeShapeType="1"/>
              </p:cNvSpPr>
              <p:nvPr/>
            </p:nvSpPr>
            <p:spPr bwMode="auto">
              <a:xfrm flipV="1">
                <a:off x="7631466" y="5278465"/>
                <a:ext cx="64486" cy="7899"/>
              </a:xfrm>
              <a:prstGeom prst="line">
                <a:avLst/>
              </a:prstGeom>
              <a:noFill/>
              <a:ln w="3">
                <a:solidFill>
                  <a:srgbClr val="0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8802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26DFD-DAB4-BB19-997C-CC80B3315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212AA0C-F14D-0CBD-15A6-79301A9AE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107" y="1820227"/>
            <a:ext cx="7916037" cy="371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412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371B371-C869-48D5-9FE6-5A670A494EC0}" type="slidenum">
              <a:rPr lang="en-US"/>
              <a:pPr/>
              <a:t>10</a:t>
            </a:fld>
            <a:endParaRPr lang="en-US"/>
          </a:p>
        </p:txBody>
      </p:sp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089275" y="3325814"/>
            <a:ext cx="1925638" cy="1057275"/>
            <a:chOff x="176" y="1300"/>
            <a:chExt cx="1213" cy="666"/>
          </a:xfrm>
        </p:grpSpPr>
        <p:sp>
          <p:nvSpPr>
            <p:cNvPr id="28787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788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8789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90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28818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9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28816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7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28814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5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28812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3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28810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11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8808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9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8806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7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8804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805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8799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0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801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802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803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9"/>
          <p:cNvGrpSpPr>
            <a:grpSpLocks/>
          </p:cNvGrpSpPr>
          <p:nvPr/>
        </p:nvGrpSpPr>
        <p:grpSpPr bwMode="auto">
          <a:xfrm>
            <a:off x="5240339" y="1708150"/>
            <a:ext cx="1887537" cy="1123950"/>
            <a:chOff x="1037" y="605"/>
            <a:chExt cx="1189" cy="708"/>
          </a:xfrm>
        </p:grpSpPr>
        <p:sp>
          <p:nvSpPr>
            <p:cNvPr id="28753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754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755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6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8785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6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8783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4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8781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2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8779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80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8777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8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775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6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8773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4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8771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72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8758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59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760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61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762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4"/>
          <p:cNvGrpSpPr>
            <a:grpSpLocks/>
          </p:cNvGrpSpPr>
          <p:nvPr/>
        </p:nvGrpSpPr>
        <p:grpSpPr bwMode="auto">
          <a:xfrm>
            <a:off x="7847013" y="3267076"/>
            <a:ext cx="1612900" cy="1082675"/>
            <a:chOff x="2112" y="1300"/>
            <a:chExt cx="1016" cy="682"/>
          </a:xfrm>
        </p:grpSpPr>
        <p:sp>
          <p:nvSpPr>
            <p:cNvPr id="28720" name="AutoShape 75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721" name="Line 76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2" name="Line 77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8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8751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52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8749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50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8747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8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8745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6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8743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4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741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2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8739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40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0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8737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38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8724" name="Line 103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5" name="Text Box 104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726" name="Line 105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27" name="Text Box 106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728" name="Text Box 107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8"/>
          <p:cNvGrpSpPr>
            <a:grpSpLocks/>
          </p:cNvGrpSpPr>
          <p:nvPr/>
        </p:nvGrpSpPr>
        <p:grpSpPr bwMode="auto">
          <a:xfrm>
            <a:off x="5227639" y="4914900"/>
            <a:ext cx="1798637" cy="1162050"/>
            <a:chOff x="1029" y="1941"/>
            <a:chExt cx="1133" cy="732"/>
          </a:xfrm>
        </p:grpSpPr>
        <p:sp>
          <p:nvSpPr>
            <p:cNvPr id="28686" name="AutoShape 109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8687" name="Text Box 110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688" name="Line 111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89" name="Line 112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8672" name="Group 113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28673" name="Group 11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8718" name="Line 1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9" name="Line 1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5" name="Group 11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8716" name="Line 1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7" name="Line 1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6" name="Group 12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8714" name="Line 1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5" name="Line 1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7" name="Group 12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8712" name="Line 12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3" name="Line 12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78" name="Group 12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8710" name="Line 12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11" name="Line 12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90" name="Group 12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708" name="Line 13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09" name="Line 13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96" name="Group 13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8706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07" name="Line 13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697" name="Group 13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8704" name="Line 13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8705" name="Line 13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8691" name="Line 138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2" name="Text Box 139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8693" name="Line 140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694" name="Text Box 141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8695" name="Line 142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79" name="Arc 143"/>
          <p:cNvSpPr>
            <a:spLocks/>
          </p:cNvSpPr>
          <p:nvPr/>
        </p:nvSpPr>
        <p:spPr bwMode="auto">
          <a:xfrm>
            <a:off x="5675314" y="3387726"/>
            <a:ext cx="801687" cy="944563"/>
          </a:xfrm>
          <a:custGeom>
            <a:avLst/>
            <a:gdLst>
              <a:gd name="T0" fmla="*/ 2654 w 43200"/>
              <a:gd name="T1" fmla="*/ 526441 h 43200"/>
              <a:gd name="T2" fmla="*/ 79556 w 43200"/>
              <a:gd name="T3" fmla="*/ 754667 h 43200"/>
              <a:gd name="T4" fmla="*/ 400844 w 43200"/>
              <a:gd name="T5" fmla="*/ 472282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680" name="Text Box 144"/>
          <p:cNvSpPr txBox="1">
            <a:spLocks noChangeArrowheads="1"/>
          </p:cNvSpPr>
          <p:nvPr/>
        </p:nvSpPr>
        <p:spPr bwMode="auto">
          <a:xfrm>
            <a:off x="4368800" y="287813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28681" name="Line 146"/>
          <p:cNvSpPr>
            <a:spLocks noChangeShapeType="1"/>
          </p:cNvSpPr>
          <p:nvPr/>
        </p:nvSpPr>
        <p:spPr bwMode="auto">
          <a:xfrm flipH="1">
            <a:off x="4432300" y="3249613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682" name="Text Box 147"/>
          <p:cNvSpPr txBox="1">
            <a:spLocks noChangeArrowheads="1"/>
          </p:cNvSpPr>
          <p:nvPr/>
        </p:nvSpPr>
        <p:spPr bwMode="auto">
          <a:xfrm>
            <a:off x="8178800" y="2879726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28683" name="Line 148"/>
          <p:cNvSpPr>
            <a:spLocks noChangeShapeType="1"/>
          </p:cNvSpPr>
          <p:nvPr/>
        </p:nvSpPr>
        <p:spPr bwMode="auto">
          <a:xfrm>
            <a:off x="8242300" y="3251200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684" name="Text Box 149"/>
          <p:cNvSpPr txBox="1">
            <a:spLocks noChangeArrowheads="1"/>
          </p:cNvSpPr>
          <p:nvPr/>
        </p:nvSpPr>
        <p:spPr bwMode="auto">
          <a:xfrm>
            <a:off x="5965825" y="1435101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  <p:sp>
        <p:nvSpPr>
          <p:cNvPr id="28685" name="Text Box 150"/>
          <p:cNvSpPr txBox="1">
            <a:spLocks noChangeArrowheads="1"/>
          </p:cNvSpPr>
          <p:nvPr/>
        </p:nvSpPr>
        <p:spPr bwMode="auto">
          <a:xfrm>
            <a:off x="6016625" y="4664076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</p:spTree>
    <p:extLst>
      <p:ext uri="{BB962C8B-B14F-4D97-AF65-F5344CB8AC3E}">
        <p14:creationId xmlns:p14="http://schemas.microsoft.com/office/powerpoint/2010/main" val="24328973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8063023" y="3327991"/>
            <a:ext cx="265814" cy="2445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>
            <a:stCxn id="5" idx="2"/>
          </p:cNvCxnSpPr>
          <p:nvPr/>
        </p:nvCxnSpPr>
        <p:spPr>
          <a:xfrm flipH="1" flipV="1">
            <a:off x="7052931" y="3444949"/>
            <a:ext cx="1010093" cy="531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97746" y="2892056"/>
            <a:ext cx="6698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S</a:t>
            </a:r>
            <a:r>
              <a:rPr lang="en-US" sz="2400" baseline="-25000" dirty="0" err="1"/>
              <a:t>ms</a:t>
            </a:r>
            <a:endParaRPr lang="en-US" sz="2400" baseline="-25000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8201248" y="3570768"/>
            <a:ext cx="3543" cy="4164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 flipV="1">
            <a:off x="8194164" y="2915096"/>
            <a:ext cx="3543" cy="41644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36687" y="2587258"/>
            <a:ext cx="964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N</a:t>
            </a:r>
            <a:r>
              <a:rPr lang="en-US" sz="2400" baseline="-25000" dirty="0" err="1"/>
              <a:t>mT</a:t>
            </a:r>
            <a:endParaRPr lang="en-US" sz="2400" baseline="-25000" dirty="0"/>
          </a:p>
        </p:txBody>
      </p:sp>
      <p:sp>
        <p:nvSpPr>
          <p:cNvPr id="17" name="TextBox 16"/>
          <p:cNvSpPr txBox="1"/>
          <p:nvPr/>
        </p:nvSpPr>
        <p:spPr>
          <a:xfrm>
            <a:off x="8357188" y="3760381"/>
            <a:ext cx="9640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W</a:t>
            </a:r>
            <a:r>
              <a:rPr lang="en-US" sz="2400" baseline="-25000" dirty="0" err="1"/>
              <a:t>mE</a:t>
            </a:r>
            <a:endParaRPr lang="en-US" sz="2400" baseline="-25000" dirty="0"/>
          </a:p>
        </p:txBody>
      </p:sp>
      <p:grpSp>
        <p:nvGrpSpPr>
          <p:cNvPr id="20" name="Group 5"/>
          <p:cNvGrpSpPr>
            <a:grpSpLocks/>
          </p:cNvGrpSpPr>
          <p:nvPr/>
        </p:nvGrpSpPr>
        <p:grpSpPr bwMode="auto">
          <a:xfrm>
            <a:off x="2791568" y="2847338"/>
            <a:ext cx="1925638" cy="1057275"/>
            <a:chOff x="176" y="1300"/>
            <a:chExt cx="1213" cy="666"/>
          </a:xfrm>
        </p:grpSpPr>
        <p:sp>
          <p:nvSpPr>
            <p:cNvPr id="21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2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3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5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52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6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50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7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48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46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9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44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42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1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40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2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38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3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35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37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54" name="Text Box 144"/>
          <p:cNvSpPr txBox="1">
            <a:spLocks noChangeArrowheads="1"/>
          </p:cNvSpPr>
          <p:nvPr/>
        </p:nvSpPr>
        <p:spPr bwMode="auto">
          <a:xfrm>
            <a:off x="4071093" y="2399662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55" name="Line 146"/>
          <p:cNvSpPr>
            <a:spLocks noChangeShapeType="1"/>
          </p:cNvSpPr>
          <p:nvPr/>
        </p:nvSpPr>
        <p:spPr bwMode="auto">
          <a:xfrm flipH="1">
            <a:off x="4134593" y="2771137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705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grpSp>
        <p:nvGrpSpPr>
          <p:cNvPr id="5" name="Group 39"/>
          <p:cNvGrpSpPr>
            <a:grpSpLocks/>
          </p:cNvGrpSpPr>
          <p:nvPr/>
        </p:nvGrpSpPr>
        <p:grpSpPr bwMode="auto">
          <a:xfrm>
            <a:off x="5102116" y="2739504"/>
            <a:ext cx="1887537" cy="1123950"/>
            <a:chOff x="1037" y="605"/>
            <a:chExt cx="1189" cy="708"/>
          </a:xfrm>
        </p:grpSpPr>
        <p:sp>
          <p:nvSpPr>
            <p:cNvPr id="6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7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</a:t>
              </a:r>
              <a:r>
                <a:rPr lang="en-US" sz="1400" baseline="-25000" dirty="0">
                  <a:solidFill>
                    <a:srgbClr val="00B050"/>
                  </a:solidFill>
                </a:rPr>
                <a:t>max</a:t>
              </a:r>
            </a:p>
          </p:txBody>
        </p:sp>
        <p:sp>
          <p:nvSpPr>
            <p:cNvPr id="8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10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6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38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9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36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7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34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5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32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3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30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31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1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8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2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6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7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4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5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1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3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0" name="Text Box 149"/>
          <p:cNvSpPr txBox="1">
            <a:spLocks noChangeArrowheads="1"/>
          </p:cNvSpPr>
          <p:nvPr/>
        </p:nvSpPr>
        <p:spPr bwMode="auto">
          <a:xfrm>
            <a:off x="5827602" y="2466455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a=0</a:t>
            </a:r>
          </a:p>
        </p:txBody>
      </p:sp>
    </p:spTree>
    <p:extLst>
      <p:ext uri="{BB962C8B-B14F-4D97-AF65-F5344CB8AC3E}">
        <p14:creationId xmlns:p14="http://schemas.microsoft.com/office/powerpoint/2010/main" val="2455326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43"/>
          <p:cNvCxnSpPr/>
          <p:nvPr/>
        </p:nvCxnSpPr>
        <p:spPr>
          <a:xfrm>
            <a:off x="2484582" y="3768435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089275" y="3325814"/>
            <a:ext cx="1925638" cy="1057275"/>
            <a:chOff x="176" y="1300"/>
            <a:chExt cx="1213" cy="666"/>
          </a:xfrm>
        </p:grpSpPr>
        <p:sp>
          <p:nvSpPr>
            <p:cNvPr id="8" name="AutoShape 3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9" name="Text Box 4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V=0</a:t>
              </a:r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39" name="Line 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Line 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0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37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" name="Group 13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35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6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33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oup 19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31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22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25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28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5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Line 31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Box 32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/>
                <a:t>x=0</a:t>
              </a:r>
            </a:p>
          </p:txBody>
        </p:sp>
        <p:sp>
          <p:nvSpPr>
            <p:cNvPr id="22" name="Line 33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Box 34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4" name="Text Box 35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41" name="Text Box 141"/>
          <p:cNvSpPr txBox="1">
            <a:spLocks noChangeArrowheads="1"/>
          </p:cNvSpPr>
          <p:nvPr/>
        </p:nvSpPr>
        <p:spPr bwMode="auto">
          <a:xfrm>
            <a:off x="4368800" y="287813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42" name="Line 142"/>
          <p:cNvSpPr>
            <a:spLocks noChangeShapeType="1"/>
          </p:cNvSpPr>
          <p:nvPr/>
        </p:nvSpPr>
        <p:spPr bwMode="auto">
          <a:xfrm flipH="1">
            <a:off x="4418013" y="2957005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7" name="Text Box 32"/>
          <p:cNvSpPr txBox="1">
            <a:spLocks noChangeArrowheads="1"/>
          </p:cNvSpPr>
          <p:nvPr/>
        </p:nvSpPr>
        <p:spPr bwMode="auto">
          <a:xfrm>
            <a:off x="5684405" y="3584143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014428" y="2724727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317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3" name="Group 71"/>
          <p:cNvGrpSpPr>
            <a:grpSpLocks/>
          </p:cNvGrpSpPr>
          <p:nvPr/>
        </p:nvGrpSpPr>
        <p:grpSpPr bwMode="auto">
          <a:xfrm>
            <a:off x="4817486" y="3008458"/>
            <a:ext cx="1612900" cy="1082675"/>
            <a:chOff x="2112" y="1300"/>
            <a:chExt cx="1016" cy="682"/>
          </a:xfrm>
        </p:grpSpPr>
        <p:sp>
          <p:nvSpPr>
            <p:cNvPr id="54" name="AutoShape 72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74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57" name="Group 75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63" name="Group 7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85" name="Line 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6" name="Line 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4" name="Group 7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83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4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5" name="Group 8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8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6" name="Group 8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79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0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7" name="Group 8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7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8" name="Group 9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75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9" name="Group 9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7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0" name="Group 9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71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58" name="Line 100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Box 101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60" name="Line 102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Box 103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62" name="Text Box 104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>
                  <a:solidFill>
                    <a:srgbClr val="00B050"/>
                  </a:solidFill>
                </a:rPr>
                <a:t>V=0</a:t>
              </a:r>
            </a:p>
          </p:txBody>
        </p:sp>
      </p:grpSp>
      <p:sp>
        <p:nvSpPr>
          <p:cNvPr id="87" name="Text Box 143"/>
          <p:cNvSpPr txBox="1">
            <a:spLocks noChangeArrowheads="1"/>
          </p:cNvSpPr>
          <p:nvPr/>
        </p:nvSpPr>
        <p:spPr bwMode="auto">
          <a:xfrm>
            <a:off x="5149273" y="2621108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88" name="Line 144"/>
          <p:cNvSpPr>
            <a:spLocks noChangeShapeType="1"/>
          </p:cNvSpPr>
          <p:nvPr/>
        </p:nvSpPr>
        <p:spPr bwMode="auto">
          <a:xfrm>
            <a:off x="5181817" y="2690558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4216401" y="3440544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Box 32"/>
          <p:cNvSpPr txBox="1">
            <a:spLocks noChangeArrowheads="1"/>
          </p:cNvSpPr>
          <p:nvPr/>
        </p:nvSpPr>
        <p:spPr bwMode="auto">
          <a:xfrm>
            <a:off x="7416224" y="3256252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91" name="Straight Connector 90"/>
          <p:cNvCxnSpPr/>
          <p:nvPr/>
        </p:nvCxnSpPr>
        <p:spPr>
          <a:xfrm flipV="1">
            <a:off x="5746247" y="2396836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3283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354D4E-F887-47F0-AFF9-1CBDE6267A64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  <p:grpSp>
        <p:nvGrpSpPr>
          <p:cNvPr id="7" name="Group 265"/>
          <p:cNvGrpSpPr>
            <a:grpSpLocks/>
          </p:cNvGrpSpPr>
          <p:nvPr/>
        </p:nvGrpSpPr>
        <p:grpSpPr bwMode="auto">
          <a:xfrm>
            <a:off x="5006975" y="1221243"/>
            <a:ext cx="2190750" cy="4802187"/>
            <a:chOff x="3986" y="815"/>
            <a:chExt cx="1380" cy="3025"/>
          </a:xfrm>
        </p:grpSpPr>
        <p:grpSp>
          <p:nvGrpSpPr>
            <p:cNvPr id="8" name="Group 248"/>
            <p:cNvGrpSpPr>
              <a:grpSpLocks/>
            </p:cNvGrpSpPr>
            <p:nvPr/>
          </p:nvGrpSpPr>
          <p:grpSpPr bwMode="auto">
            <a:xfrm>
              <a:off x="4113" y="2151"/>
              <a:ext cx="1189" cy="657"/>
              <a:chOff x="3801" y="2151"/>
              <a:chExt cx="1189" cy="657"/>
            </a:xfrm>
          </p:grpSpPr>
          <p:sp>
            <p:nvSpPr>
              <p:cNvPr id="80" name="AutoShape 5"/>
              <p:cNvSpPr>
                <a:spLocks noChangeArrowheads="1"/>
              </p:cNvSpPr>
              <p:nvPr/>
            </p:nvSpPr>
            <p:spPr bwMode="auto">
              <a:xfrm>
                <a:off x="4318" y="2363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81" name="Line 7"/>
              <p:cNvSpPr>
                <a:spLocks noChangeShapeType="1"/>
              </p:cNvSpPr>
              <p:nvPr/>
            </p:nvSpPr>
            <p:spPr bwMode="auto">
              <a:xfrm>
                <a:off x="3813" y="2151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8"/>
              <p:cNvSpPr>
                <a:spLocks noChangeShapeType="1"/>
              </p:cNvSpPr>
              <p:nvPr/>
            </p:nvSpPr>
            <p:spPr bwMode="auto">
              <a:xfrm rot="5400000" flipV="1">
                <a:off x="4309" y="2020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83" name="Group 9"/>
              <p:cNvGrpSpPr>
                <a:grpSpLocks/>
              </p:cNvGrpSpPr>
              <p:nvPr/>
            </p:nvGrpSpPr>
            <p:grpSpPr bwMode="auto">
              <a:xfrm>
                <a:off x="3823" y="2363"/>
                <a:ext cx="479" cy="94"/>
                <a:chOff x="2243" y="1248"/>
                <a:chExt cx="647" cy="128"/>
              </a:xfrm>
            </p:grpSpPr>
            <p:grpSp>
              <p:nvGrpSpPr>
                <p:cNvPr id="88" name="Group 10"/>
                <p:cNvGrpSpPr>
                  <a:grpSpLocks/>
                </p:cNvGrpSpPr>
                <p:nvPr/>
              </p:nvGrpSpPr>
              <p:grpSpPr bwMode="auto">
                <a:xfrm>
                  <a:off x="2809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10" name="Line 1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11" name="Line 1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89" name="Group 13"/>
                <p:cNvGrpSpPr>
                  <a:grpSpLocks/>
                </p:cNvGrpSpPr>
                <p:nvPr/>
              </p:nvGrpSpPr>
              <p:grpSpPr bwMode="auto">
                <a:xfrm>
                  <a:off x="272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8" name="Line 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9" name="Line 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0" name="Group 16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06" name="Line 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7" name="Line 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1" name="Group 19"/>
                <p:cNvGrpSpPr>
                  <a:grpSpLocks/>
                </p:cNvGrpSpPr>
                <p:nvPr/>
              </p:nvGrpSpPr>
              <p:grpSpPr bwMode="auto">
                <a:xfrm>
                  <a:off x="256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4" name="Line 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5" name="Line 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2" name="Group 22"/>
                <p:cNvGrpSpPr>
                  <a:grpSpLocks/>
                </p:cNvGrpSpPr>
                <p:nvPr/>
              </p:nvGrpSpPr>
              <p:grpSpPr bwMode="auto">
                <a:xfrm>
                  <a:off x="248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2" name="Line 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3" name="Line 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3" name="Group 25"/>
                <p:cNvGrpSpPr>
                  <a:grpSpLocks/>
                </p:cNvGrpSpPr>
                <p:nvPr/>
              </p:nvGrpSpPr>
              <p:grpSpPr bwMode="auto">
                <a:xfrm>
                  <a:off x="240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100" name="Line 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01" name="Line 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4" name="Group 28"/>
                <p:cNvGrpSpPr>
                  <a:grpSpLocks/>
                </p:cNvGrpSpPr>
                <p:nvPr/>
              </p:nvGrpSpPr>
              <p:grpSpPr bwMode="auto">
                <a:xfrm>
                  <a:off x="232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98" name="Line 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99" name="Line 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5" name="Group 31"/>
                <p:cNvGrpSpPr>
                  <a:grpSpLocks/>
                </p:cNvGrpSpPr>
                <p:nvPr/>
              </p:nvGrpSpPr>
              <p:grpSpPr bwMode="auto">
                <a:xfrm>
                  <a:off x="224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96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97" name="Line 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84" name="Line 34"/>
              <p:cNvSpPr>
                <a:spLocks noChangeShapeType="1"/>
              </p:cNvSpPr>
              <p:nvPr/>
            </p:nvSpPr>
            <p:spPr bwMode="auto">
              <a:xfrm>
                <a:off x="4383" y="256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Text Box 35"/>
              <p:cNvSpPr txBox="1">
                <a:spLocks noChangeArrowheads="1"/>
              </p:cNvSpPr>
              <p:nvPr/>
            </p:nvSpPr>
            <p:spPr bwMode="auto">
              <a:xfrm>
                <a:off x="4275" y="2616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86" name="Line 36"/>
              <p:cNvSpPr>
                <a:spLocks noChangeShapeType="1"/>
              </p:cNvSpPr>
              <p:nvPr/>
            </p:nvSpPr>
            <p:spPr bwMode="auto">
              <a:xfrm>
                <a:off x="4716" y="257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Text Box 37"/>
              <p:cNvSpPr txBox="1">
                <a:spLocks noChangeArrowheads="1"/>
              </p:cNvSpPr>
              <p:nvPr/>
            </p:nvSpPr>
            <p:spPr bwMode="auto">
              <a:xfrm>
                <a:off x="4625" y="2611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9" name="Group 249"/>
            <p:cNvGrpSpPr>
              <a:grpSpLocks/>
            </p:cNvGrpSpPr>
            <p:nvPr/>
          </p:nvGrpSpPr>
          <p:grpSpPr bwMode="auto">
            <a:xfrm>
              <a:off x="4116" y="1271"/>
              <a:ext cx="1213" cy="666"/>
              <a:chOff x="3756" y="1427"/>
              <a:chExt cx="1213" cy="666"/>
            </a:xfrm>
          </p:grpSpPr>
          <p:sp>
            <p:nvSpPr>
              <p:cNvPr id="49" name="AutoShape 180"/>
              <p:cNvSpPr>
                <a:spLocks noChangeArrowheads="1"/>
              </p:cNvSpPr>
              <p:nvPr/>
            </p:nvSpPr>
            <p:spPr bwMode="auto">
              <a:xfrm>
                <a:off x="4593" y="1639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50" name="Line 182"/>
              <p:cNvSpPr>
                <a:spLocks noChangeShapeType="1"/>
              </p:cNvSpPr>
              <p:nvPr/>
            </p:nvSpPr>
            <p:spPr bwMode="auto">
              <a:xfrm>
                <a:off x="3768" y="142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183"/>
              <p:cNvSpPr>
                <a:spLocks noChangeShapeType="1"/>
              </p:cNvSpPr>
              <p:nvPr/>
            </p:nvSpPr>
            <p:spPr bwMode="auto">
              <a:xfrm rot="5400000" flipV="1">
                <a:off x="4264" y="129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52" name="Group 184"/>
              <p:cNvGrpSpPr>
                <a:grpSpLocks/>
              </p:cNvGrpSpPr>
              <p:nvPr/>
            </p:nvGrpSpPr>
            <p:grpSpPr bwMode="auto">
              <a:xfrm>
                <a:off x="4475" y="1633"/>
                <a:ext cx="100" cy="95"/>
                <a:chOff x="704" y="1880"/>
                <a:chExt cx="136" cy="128"/>
              </a:xfrm>
            </p:grpSpPr>
            <p:sp>
              <p:nvSpPr>
                <p:cNvPr id="78" name="Line 1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9" name="Line 1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3" name="Group 187"/>
              <p:cNvGrpSpPr>
                <a:grpSpLocks/>
              </p:cNvGrpSpPr>
              <p:nvPr/>
            </p:nvGrpSpPr>
            <p:grpSpPr bwMode="auto">
              <a:xfrm>
                <a:off x="4368" y="1633"/>
                <a:ext cx="100" cy="95"/>
                <a:chOff x="704" y="1880"/>
                <a:chExt cx="136" cy="128"/>
              </a:xfrm>
            </p:grpSpPr>
            <p:sp>
              <p:nvSpPr>
                <p:cNvPr id="76" name="Line 1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7" name="Line 1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4" name="Group 190"/>
              <p:cNvGrpSpPr>
                <a:grpSpLocks/>
              </p:cNvGrpSpPr>
              <p:nvPr/>
            </p:nvGrpSpPr>
            <p:grpSpPr bwMode="auto">
              <a:xfrm>
                <a:off x="4273" y="1633"/>
                <a:ext cx="100" cy="95"/>
                <a:chOff x="704" y="1880"/>
                <a:chExt cx="136" cy="128"/>
              </a:xfrm>
            </p:grpSpPr>
            <p:sp>
              <p:nvSpPr>
                <p:cNvPr id="74" name="Line 1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5" name="Line 1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5" name="Group 193"/>
              <p:cNvGrpSpPr>
                <a:grpSpLocks/>
              </p:cNvGrpSpPr>
              <p:nvPr/>
            </p:nvGrpSpPr>
            <p:grpSpPr bwMode="auto">
              <a:xfrm>
                <a:off x="4172" y="1633"/>
                <a:ext cx="100" cy="95"/>
                <a:chOff x="704" y="1880"/>
                <a:chExt cx="136" cy="128"/>
              </a:xfrm>
            </p:grpSpPr>
            <p:sp>
              <p:nvSpPr>
                <p:cNvPr id="72" name="Line 1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3" name="Line 1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6" name="Group 196"/>
              <p:cNvGrpSpPr>
                <a:grpSpLocks/>
              </p:cNvGrpSpPr>
              <p:nvPr/>
            </p:nvGrpSpPr>
            <p:grpSpPr bwMode="auto">
              <a:xfrm>
                <a:off x="4077" y="1633"/>
                <a:ext cx="100" cy="95"/>
                <a:chOff x="704" y="1880"/>
                <a:chExt cx="136" cy="128"/>
              </a:xfrm>
            </p:grpSpPr>
            <p:sp>
              <p:nvSpPr>
                <p:cNvPr id="70" name="Line 1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1" name="Line 1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7" name="Group 199"/>
              <p:cNvGrpSpPr>
                <a:grpSpLocks/>
              </p:cNvGrpSpPr>
              <p:nvPr/>
            </p:nvGrpSpPr>
            <p:grpSpPr bwMode="auto">
              <a:xfrm>
                <a:off x="3976" y="1633"/>
                <a:ext cx="100" cy="95"/>
                <a:chOff x="704" y="1880"/>
                <a:chExt cx="136" cy="128"/>
              </a:xfrm>
            </p:grpSpPr>
            <p:sp>
              <p:nvSpPr>
                <p:cNvPr id="68" name="Line 2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9" name="Line 2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8" name="Group 202"/>
              <p:cNvGrpSpPr>
                <a:grpSpLocks/>
              </p:cNvGrpSpPr>
              <p:nvPr/>
            </p:nvGrpSpPr>
            <p:grpSpPr bwMode="auto">
              <a:xfrm>
                <a:off x="3881" y="1633"/>
                <a:ext cx="100" cy="95"/>
                <a:chOff x="704" y="1880"/>
                <a:chExt cx="136" cy="128"/>
              </a:xfrm>
            </p:grpSpPr>
            <p:sp>
              <p:nvSpPr>
                <p:cNvPr id="66" name="Line 2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7" name="Line 2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9" name="Group 205"/>
              <p:cNvGrpSpPr>
                <a:grpSpLocks/>
              </p:cNvGrpSpPr>
              <p:nvPr/>
            </p:nvGrpSpPr>
            <p:grpSpPr bwMode="auto">
              <a:xfrm>
                <a:off x="3780" y="1633"/>
                <a:ext cx="100" cy="95"/>
                <a:chOff x="704" y="1880"/>
                <a:chExt cx="136" cy="128"/>
              </a:xfrm>
            </p:grpSpPr>
            <p:sp>
              <p:nvSpPr>
                <p:cNvPr id="64" name="Line 2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65" name="Line 2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60" name="Line 208"/>
              <p:cNvSpPr>
                <a:spLocks noChangeShapeType="1"/>
              </p:cNvSpPr>
              <p:nvPr/>
            </p:nvSpPr>
            <p:spPr bwMode="auto">
              <a:xfrm>
                <a:off x="4338" y="184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Text Box 209"/>
              <p:cNvSpPr txBox="1">
                <a:spLocks noChangeArrowheads="1"/>
              </p:cNvSpPr>
              <p:nvPr/>
            </p:nvSpPr>
            <p:spPr bwMode="auto">
              <a:xfrm>
                <a:off x="4230" y="190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62" name="Line 210"/>
              <p:cNvSpPr>
                <a:spLocks noChangeShapeType="1"/>
              </p:cNvSpPr>
              <p:nvPr/>
            </p:nvSpPr>
            <p:spPr bwMode="auto">
              <a:xfrm>
                <a:off x="4671" y="185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Text Box 211"/>
              <p:cNvSpPr txBox="1">
                <a:spLocks noChangeArrowheads="1"/>
              </p:cNvSpPr>
              <p:nvPr/>
            </p:nvSpPr>
            <p:spPr bwMode="auto">
              <a:xfrm>
                <a:off x="4580" y="1895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400" dirty="0" err="1"/>
                  <a:t>x</a:t>
                </a:r>
                <a:r>
                  <a:rPr lang="en-US" sz="1400" baseline="-25000" dirty="0" err="1"/>
                  <a:t>max</a:t>
                </a:r>
                <a:endParaRPr lang="en-US" sz="1400" baseline="-25000" dirty="0"/>
              </a:p>
            </p:txBody>
          </p:sp>
        </p:grpSp>
        <p:grpSp>
          <p:nvGrpSpPr>
            <p:cNvPr id="10" name="Group 247"/>
            <p:cNvGrpSpPr>
              <a:grpSpLocks/>
            </p:cNvGrpSpPr>
            <p:nvPr/>
          </p:nvGrpSpPr>
          <p:grpSpPr bwMode="auto">
            <a:xfrm>
              <a:off x="4120" y="3059"/>
              <a:ext cx="1016" cy="682"/>
              <a:chOff x="3844" y="2843"/>
              <a:chExt cx="1016" cy="682"/>
            </a:xfrm>
          </p:grpSpPr>
          <p:sp>
            <p:nvSpPr>
              <p:cNvPr id="17" name="AutoShape 214"/>
              <p:cNvSpPr>
                <a:spLocks noChangeArrowheads="1"/>
              </p:cNvSpPr>
              <p:nvPr/>
            </p:nvSpPr>
            <p:spPr bwMode="auto">
              <a:xfrm>
                <a:off x="4117" y="3038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" name="Line 215"/>
              <p:cNvSpPr>
                <a:spLocks noChangeShapeType="1"/>
              </p:cNvSpPr>
              <p:nvPr/>
            </p:nvSpPr>
            <p:spPr bwMode="auto">
              <a:xfrm>
                <a:off x="3856" y="2843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" name="Line 216"/>
              <p:cNvSpPr>
                <a:spLocks noChangeShapeType="1"/>
              </p:cNvSpPr>
              <p:nvPr/>
            </p:nvSpPr>
            <p:spPr bwMode="auto">
              <a:xfrm rot="5400000" flipV="1">
                <a:off x="4352" y="2712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0" name="Group 217"/>
              <p:cNvGrpSpPr>
                <a:grpSpLocks/>
              </p:cNvGrpSpPr>
              <p:nvPr/>
            </p:nvGrpSpPr>
            <p:grpSpPr bwMode="auto">
              <a:xfrm>
                <a:off x="3873" y="3055"/>
                <a:ext cx="223" cy="95"/>
                <a:chOff x="2243" y="1248"/>
                <a:chExt cx="647" cy="128"/>
              </a:xfrm>
            </p:grpSpPr>
            <p:grpSp>
              <p:nvGrpSpPr>
                <p:cNvPr id="25" name="Group 218"/>
                <p:cNvGrpSpPr>
                  <a:grpSpLocks/>
                </p:cNvGrpSpPr>
                <p:nvPr/>
              </p:nvGrpSpPr>
              <p:grpSpPr bwMode="auto">
                <a:xfrm>
                  <a:off x="2809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47" name="Line 21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8" name="Line 22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221"/>
                <p:cNvGrpSpPr>
                  <a:grpSpLocks/>
                </p:cNvGrpSpPr>
                <p:nvPr/>
              </p:nvGrpSpPr>
              <p:grpSpPr bwMode="auto">
                <a:xfrm>
                  <a:off x="272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45" name="Line 22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6" name="Line 22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22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43" name="Line 22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4" name="Line 2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227"/>
                <p:cNvGrpSpPr>
                  <a:grpSpLocks/>
                </p:cNvGrpSpPr>
                <p:nvPr/>
              </p:nvGrpSpPr>
              <p:grpSpPr bwMode="auto">
                <a:xfrm>
                  <a:off x="2562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41" name="Line 2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2" name="Line 22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230"/>
                <p:cNvGrpSpPr>
                  <a:grpSpLocks/>
                </p:cNvGrpSpPr>
                <p:nvPr/>
              </p:nvGrpSpPr>
              <p:grpSpPr bwMode="auto">
                <a:xfrm>
                  <a:off x="248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9" name="Line 23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40" name="Line 23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233"/>
                <p:cNvGrpSpPr>
                  <a:grpSpLocks/>
                </p:cNvGrpSpPr>
                <p:nvPr/>
              </p:nvGrpSpPr>
              <p:grpSpPr bwMode="auto">
                <a:xfrm>
                  <a:off x="240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7" name="Line 23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8" name="Line 23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236"/>
                <p:cNvGrpSpPr>
                  <a:grpSpLocks/>
                </p:cNvGrpSpPr>
                <p:nvPr/>
              </p:nvGrpSpPr>
              <p:grpSpPr bwMode="auto">
                <a:xfrm>
                  <a:off x="2325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5" name="Line 23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6" name="Line 2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2" name="Group 239"/>
                <p:cNvGrpSpPr>
                  <a:grpSpLocks/>
                </p:cNvGrpSpPr>
                <p:nvPr/>
              </p:nvGrpSpPr>
              <p:grpSpPr bwMode="auto">
                <a:xfrm>
                  <a:off x="2243" y="1248"/>
                  <a:ext cx="81" cy="128"/>
                  <a:chOff x="704" y="1880"/>
                  <a:chExt cx="136" cy="128"/>
                </a:xfrm>
              </p:grpSpPr>
              <p:sp>
                <p:nvSpPr>
                  <p:cNvPr id="33" name="Line 24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34" name="Line 24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21" name="Line 242"/>
              <p:cNvSpPr>
                <a:spLocks noChangeShapeType="1"/>
              </p:cNvSpPr>
              <p:nvPr/>
            </p:nvSpPr>
            <p:spPr bwMode="auto">
              <a:xfrm>
                <a:off x="442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 Box 243"/>
              <p:cNvSpPr txBox="1">
                <a:spLocks noChangeArrowheads="1"/>
              </p:cNvSpPr>
              <p:nvPr/>
            </p:nvSpPr>
            <p:spPr bwMode="auto">
              <a:xfrm>
                <a:off x="4318" y="3333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23" name="Line 244"/>
              <p:cNvSpPr>
                <a:spLocks noChangeShapeType="1"/>
              </p:cNvSpPr>
              <p:nvPr/>
            </p:nvSpPr>
            <p:spPr bwMode="auto">
              <a:xfrm>
                <a:off x="420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4" name="Text Box 245"/>
              <p:cNvSpPr txBox="1">
                <a:spLocks noChangeArrowheads="1"/>
              </p:cNvSpPr>
              <p:nvPr/>
            </p:nvSpPr>
            <p:spPr bwMode="auto">
              <a:xfrm>
                <a:off x="4074" y="3315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</p:grpSp>
        <p:sp>
          <p:nvSpPr>
            <p:cNvPr id="11" name="Line 250"/>
            <p:cNvSpPr>
              <a:spLocks noChangeShapeType="1"/>
            </p:cNvSpPr>
            <p:nvPr/>
          </p:nvSpPr>
          <p:spPr bwMode="auto">
            <a:xfrm>
              <a:off x="4692" y="972"/>
              <a:ext cx="0" cy="28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Line 251"/>
            <p:cNvSpPr>
              <a:spLocks noChangeShapeType="1"/>
            </p:cNvSpPr>
            <p:nvPr/>
          </p:nvSpPr>
          <p:spPr bwMode="auto">
            <a:xfrm>
              <a:off x="4272" y="3144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 Box 252"/>
            <p:cNvSpPr txBox="1">
              <a:spLocks noChangeArrowheads="1"/>
            </p:cNvSpPr>
            <p:nvPr/>
          </p:nvSpPr>
          <p:spPr bwMode="auto">
            <a:xfrm>
              <a:off x="4286" y="2879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4" name="Text Box 253"/>
            <p:cNvSpPr txBox="1">
              <a:spLocks noChangeArrowheads="1"/>
            </p:cNvSpPr>
            <p:nvPr/>
          </p:nvSpPr>
          <p:spPr bwMode="auto">
            <a:xfrm>
              <a:off x="4826" y="1127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" name="Line 254"/>
            <p:cNvSpPr>
              <a:spLocks noChangeShapeType="1"/>
            </p:cNvSpPr>
            <p:nvPr/>
          </p:nvSpPr>
          <p:spPr bwMode="auto">
            <a:xfrm flipH="1">
              <a:off x="4824" y="1392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Text Box 256"/>
            <p:cNvSpPr txBox="1">
              <a:spLocks noChangeArrowheads="1"/>
            </p:cNvSpPr>
            <p:nvPr/>
          </p:nvSpPr>
          <p:spPr bwMode="auto">
            <a:xfrm>
              <a:off x="3986" y="815"/>
              <a:ext cx="138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/>
                <a:t>Equilibrium Position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D408720-99A4-4D96-9EDD-AA1DAC48E82E}" type="slidenum">
              <a:rPr lang="en-US"/>
              <a:pPr/>
              <a:t>16</a:t>
            </a:fld>
            <a:endParaRPr lang="en-US"/>
          </a:p>
        </p:txBody>
      </p:sp>
      <p:sp>
        <p:nvSpPr>
          <p:cNvPr id="25603" name="Rectangle 4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Lecture 2</a:t>
            </a:r>
          </a:p>
        </p:txBody>
      </p:sp>
      <p:sp>
        <p:nvSpPr>
          <p:cNvPr id="25604" name="Rectangle 5"/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eaLnBrk="1" hangingPunct="1"/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09"/>
          <p:cNvSpPr txBox="1">
            <a:spLocks noChangeArrowheads="1"/>
          </p:cNvSpPr>
          <p:nvPr/>
        </p:nvSpPr>
        <p:spPr bwMode="auto">
          <a:xfrm>
            <a:off x="5475970" y="4112762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/>
          <p:cNvSpPr txBox="1">
            <a:spLocks noChangeArrowheads="1"/>
          </p:cNvSpPr>
          <p:nvPr/>
        </p:nvSpPr>
        <p:spPr bwMode="auto">
          <a:xfrm>
            <a:off x="6695622" y="4114122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9" name="AutoShape 3"/>
          <p:cNvSpPr>
            <a:spLocks noChangeAspect="1" noChangeArrowheads="1" noTextEdit="1"/>
          </p:cNvSpPr>
          <p:nvPr/>
        </p:nvSpPr>
        <p:spPr bwMode="auto">
          <a:xfrm>
            <a:off x="4332288" y="2136775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>
            <a:off x="6763658" y="2975428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6870022" y="3015116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6" name="Group 85"/>
          <p:cNvGrpSpPr/>
          <p:nvPr/>
        </p:nvGrpSpPr>
        <p:grpSpPr>
          <a:xfrm>
            <a:off x="4479925" y="2986315"/>
            <a:ext cx="2258332" cy="301399"/>
            <a:chOff x="2955925" y="2986314"/>
            <a:chExt cx="1471613" cy="301399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90" name="Straight Connector 89"/>
          <p:cNvCxnSpPr/>
          <p:nvPr/>
        </p:nvCxnSpPr>
        <p:spPr>
          <a:xfrm>
            <a:off x="6999514" y="3592287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5900057" y="3570515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79038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09"/>
          <p:cNvSpPr txBox="1">
            <a:spLocks noChangeArrowheads="1"/>
          </p:cNvSpPr>
          <p:nvPr/>
        </p:nvSpPr>
        <p:spPr bwMode="auto">
          <a:xfrm>
            <a:off x="5475970" y="4112762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/>
          <p:cNvSpPr txBox="1">
            <a:spLocks noChangeArrowheads="1"/>
          </p:cNvSpPr>
          <p:nvPr/>
        </p:nvSpPr>
        <p:spPr bwMode="auto">
          <a:xfrm>
            <a:off x="6695622" y="4114122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9" name="AutoShape 3"/>
          <p:cNvSpPr>
            <a:spLocks noChangeAspect="1" noChangeArrowheads="1" noTextEdit="1"/>
          </p:cNvSpPr>
          <p:nvPr/>
        </p:nvSpPr>
        <p:spPr bwMode="auto">
          <a:xfrm>
            <a:off x="4310517" y="2104118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5"/>
          <p:cNvSpPr>
            <a:spLocks/>
          </p:cNvSpPr>
          <p:nvPr/>
        </p:nvSpPr>
        <p:spPr bwMode="auto">
          <a:xfrm>
            <a:off x="5664198" y="2931885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Rectangle 6"/>
          <p:cNvSpPr>
            <a:spLocks noChangeArrowheads="1"/>
          </p:cNvSpPr>
          <p:nvPr/>
        </p:nvSpPr>
        <p:spPr bwMode="auto">
          <a:xfrm>
            <a:off x="5770562" y="2971573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3" name="Line 8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9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0"/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Line 31"/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6" name="Group 85"/>
          <p:cNvGrpSpPr/>
          <p:nvPr/>
        </p:nvGrpSpPr>
        <p:grpSpPr>
          <a:xfrm>
            <a:off x="4479925" y="2986315"/>
            <a:ext cx="1137104" cy="301399"/>
            <a:chOff x="2955925" y="2986314"/>
            <a:chExt cx="1471613" cy="301399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2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3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3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38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39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0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1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42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43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4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4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4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4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8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0"/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1"/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52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53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54"/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55"/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56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57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58"/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59"/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0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1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62"/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63"/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64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65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66"/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7"/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8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9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73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74"/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Line 75"/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Line 76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7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Line 78"/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Line 79"/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90" name="Straight Connector 89"/>
          <p:cNvCxnSpPr/>
          <p:nvPr/>
        </p:nvCxnSpPr>
        <p:spPr>
          <a:xfrm>
            <a:off x="6999514" y="3592287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/>
          <p:cNvCxnSpPr/>
          <p:nvPr/>
        </p:nvCxnSpPr>
        <p:spPr>
          <a:xfrm>
            <a:off x="5900057" y="3570515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/>
          <p:cNvCxnSpPr/>
          <p:nvPr/>
        </p:nvCxnSpPr>
        <p:spPr>
          <a:xfrm>
            <a:off x="5519059" y="2558143"/>
            <a:ext cx="859971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82343" y="1894115"/>
            <a:ext cx="383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74408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5BA1042-C300-993B-7CFF-0A3BF31A32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687" y="2100714"/>
            <a:ext cx="10316626" cy="2656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3252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7511-1A9D-F97A-25C2-35D46B5A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 A particle moving along the x-axis in simple harmonic motion starts from its equilibrium position, the origin, at t=0 and moves to the right. The amplitude of its motion is 2.00cm , and the frequency is 1.50Hz .     </a:t>
            </a:r>
          </a:p>
          <a:p>
            <a:pPr marL="457200" lvl="1" indent="0">
              <a:buNone/>
            </a:pPr>
            <a:r>
              <a:rPr lang="en-US" dirty="0"/>
              <a:t>a) show that the position of the particle is given by	</a:t>
            </a:r>
          </a:p>
          <a:p>
            <a:pPr marL="457200" lvl="1" indent="0">
              <a:buNone/>
            </a:pPr>
            <a:r>
              <a:rPr lang="en-US" dirty="0"/>
              <a:t>                   x=(2.00cm )sin(3.00πt)</a:t>
            </a:r>
          </a:p>
          <a:p>
            <a:pPr marL="457200" lvl="1" indent="0">
              <a:buNone/>
            </a:pPr>
            <a:r>
              <a:rPr lang="en-US" dirty="0"/>
              <a:t>determine     </a:t>
            </a:r>
          </a:p>
          <a:p>
            <a:pPr marL="457200" lvl="1" indent="0">
              <a:buNone/>
            </a:pPr>
            <a:r>
              <a:rPr lang="en-US" dirty="0"/>
              <a:t>b) the maximum speed and the earliest time (t&gt;0) at which the particle has this speed,     </a:t>
            </a:r>
          </a:p>
          <a:p>
            <a:pPr marL="457200" lvl="1" indent="0">
              <a:buNone/>
            </a:pPr>
            <a:r>
              <a:rPr lang="en-US" dirty="0"/>
              <a:t>c) the maximum acceleration and the earliest time (t&gt;0) at which the particle has this acceleration, and     </a:t>
            </a:r>
          </a:p>
          <a:p>
            <a:pPr marL="457200" lvl="1" indent="0">
              <a:buNone/>
            </a:pPr>
            <a:r>
              <a:rPr lang="en-US" dirty="0"/>
              <a:t>d) the total distance traveled between t=0 and t=1.00s     	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246" y="230188"/>
            <a:ext cx="3256522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312930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1DFFD-0D98-FADA-B5AB-FB3077A0B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Box 209">
            <a:extLst>
              <a:ext uri="{FF2B5EF4-FFF2-40B4-BE49-F238E27FC236}">
                <a16:creationId xmlns:a16="http://schemas.microsoft.com/office/drawing/2014/main" id="{B50E584D-B8DE-19C5-2277-7A47BEC382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5970" y="4112762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>
            <a:extLst>
              <a:ext uri="{FF2B5EF4-FFF2-40B4-BE49-F238E27FC236}">
                <a16:creationId xmlns:a16="http://schemas.microsoft.com/office/drawing/2014/main" id="{02646B78-681E-FCFE-2466-7603535002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5622" y="4114122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9" name="AutoShape 3">
            <a:extLst>
              <a:ext uri="{FF2B5EF4-FFF2-40B4-BE49-F238E27FC236}">
                <a16:creationId xmlns:a16="http://schemas.microsoft.com/office/drawing/2014/main" id="{B5E40E02-1D42-284E-B7FB-1D5605171B6B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4310517" y="2104118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Freeform 5">
            <a:extLst>
              <a:ext uri="{FF2B5EF4-FFF2-40B4-BE49-F238E27FC236}">
                <a16:creationId xmlns:a16="http://schemas.microsoft.com/office/drawing/2014/main" id="{B0CEC04F-DB7E-6CA3-5C00-854D573AAA60}"/>
              </a:ext>
            </a:extLst>
          </p:cNvPr>
          <p:cNvSpPr>
            <a:spLocks/>
          </p:cNvSpPr>
          <p:nvPr/>
        </p:nvSpPr>
        <p:spPr bwMode="auto">
          <a:xfrm>
            <a:off x="5664198" y="2931885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37163AB0-2A76-8027-82A2-2C7EF4550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70562" y="2971573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3" name="Line 8">
            <a:extLst>
              <a:ext uri="{FF2B5EF4-FFF2-40B4-BE49-F238E27FC236}">
                <a16:creationId xmlns:a16="http://schemas.microsoft.com/office/drawing/2014/main" id="{336360FD-55BB-7DE0-F425-AF2841AB6342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9">
            <a:extLst>
              <a:ext uri="{FF2B5EF4-FFF2-40B4-BE49-F238E27FC236}">
                <a16:creationId xmlns:a16="http://schemas.microsoft.com/office/drawing/2014/main" id="{CDB256A8-DA59-2B7F-B791-EB006B45E88A}"/>
              </a:ext>
            </a:extLst>
          </p:cNvPr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5" name="Line 30">
            <a:extLst>
              <a:ext uri="{FF2B5EF4-FFF2-40B4-BE49-F238E27FC236}">
                <a16:creationId xmlns:a16="http://schemas.microsoft.com/office/drawing/2014/main" id="{DAAFC874-A7C8-DAB3-736B-DC88AE6ADAC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22775" y="2341564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6" name="Line 31">
            <a:extLst>
              <a:ext uri="{FF2B5EF4-FFF2-40B4-BE49-F238E27FC236}">
                <a16:creationId xmlns:a16="http://schemas.microsoft.com/office/drawing/2014/main" id="{8DE29245-FE39-F276-DF34-32D54541A409}"/>
              </a:ext>
            </a:extLst>
          </p:cNvPr>
          <p:cNvSpPr>
            <a:spLocks noChangeShapeType="1"/>
          </p:cNvSpPr>
          <p:nvPr/>
        </p:nvSpPr>
        <p:spPr bwMode="auto">
          <a:xfrm>
            <a:off x="4387850" y="3506788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9868D648-E688-91A8-D8F3-8879A801B12C}"/>
              </a:ext>
            </a:extLst>
          </p:cNvPr>
          <p:cNvGrpSpPr/>
          <p:nvPr/>
        </p:nvGrpSpPr>
        <p:grpSpPr>
          <a:xfrm>
            <a:off x="4479925" y="2986315"/>
            <a:ext cx="1137104" cy="301399"/>
            <a:chOff x="2955925" y="2986314"/>
            <a:chExt cx="1471613" cy="301399"/>
          </a:xfrm>
        </p:grpSpPr>
        <p:sp>
          <p:nvSpPr>
            <p:cNvPr id="15" name="Line 10">
              <a:extLst>
                <a:ext uri="{FF2B5EF4-FFF2-40B4-BE49-F238E27FC236}">
                  <a16:creationId xmlns:a16="http://schemas.microsoft.com/office/drawing/2014/main" id="{111C7497-1CE2-EB01-556B-4869EA36264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>
              <a:extLst>
                <a:ext uri="{FF2B5EF4-FFF2-40B4-BE49-F238E27FC236}">
                  <a16:creationId xmlns:a16="http://schemas.microsoft.com/office/drawing/2014/main" id="{3DB4631B-2B74-9551-CF03-269CE61F585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>
              <a:extLst>
                <a:ext uri="{FF2B5EF4-FFF2-40B4-BE49-F238E27FC236}">
                  <a16:creationId xmlns:a16="http://schemas.microsoft.com/office/drawing/2014/main" id="{E4D7C2D3-7813-05C3-D424-EF510D9B986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>
              <a:extLst>
                <a:ext uri="{FF2B5EF4-FFF2-40B4-BE49-F238E27FC236}">
                  <a16:creationId xmlns:a16="http://schemas.microsoft.com/office/drawing/2014/main" id="{8CB2FFD3-BFC7-993F-1212-F957CD15A10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>
              <a:extLst>
                <a:ext uri="{FF2B5EF4-FFF2-40B4-BE49-F238E27FC236}">
                  <a16:creationId xmlns:a16="http://schemas.microsoft.com/office/drawing/2014/main" id="{46B33B25-5AA7-6ABB-2073-52C80383F7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671EA76D-6A34-1499-154A-F9D9DF920F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105D311C-0FAC-B22A-E579-92CB176BAE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0F4A5098-F7D3-803A-24D9-55B0CEF3DA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CFB4F2B4-D581-121B-2F28-C29BC160A3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A816801A-FA88-05C9-371F-6E8B14FAADE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F1213E8F-F306-8B7F-FFC9-7C00FC6A27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7AE13B1C-F058-1CC7-C54C-00D923C89B7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3D5F83BE-B7B8-0C2F-6520-BC3644216E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8360556B-08B6-B46B-1A14-2AFAB99446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BBDA4243-DD74-ADAC-79FE-B2BB6608BF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2">
              <a:extLst>
                <a:ext uri="{FF2B5EF4-FFF2-40B4-BE49-F238E27FC236}">
                  <a16:creationId xmlns:a16="http://schemas.microsoft.com/office/drawing/2014/main" id="{2FD86162-252D-DF60-9E0C-DE8F9AE2B08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34">
              <a:extLst>
                <a:ext uri="{FF2B5EF4-FFF2-40B4-BE49-F238E27FC236}">
                  <a16:creationId xmlns:a16="http://schemas.microsoft.com/office/drawing/2014/main" id="{17C6A372-8D7A-4405-6CD9-613D122FD6C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35">
              <a:extLst>
                <a:ext uri="{FF2B5EF4-FFF2-40B4-BE49-F238E27FC236}">
                  <a16:creationId xmlns:a16="http://schemas.microsoft.com/office/drawing/2014/main" id="{8C242BC1-8F44-FECF-856E-79521B9A358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36">
              <a:extLst>
                <a:ext uri="{FF2B5EF4-FFF2-40B4-BE49-F238E27FC236}">
                  <a16:creationId xmlns:a16="http://schemas.microsoft.com/office/drawing/2014/main" id="{1B4019C9-9953-C740-2C03-CE1FCDA6CC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37">
              <a:extLst>
                <a:ext uri="{FF2B5EF4-FFF2-40B4-BE49-F238E27FC236}">
                  <a16:creationId xmlns:a16="http://schemas.microsoft.com/office/drawing/2014/main" id="{6CC263FD-9DC9-7672-6096-E225AB67044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38">
              <a:extLst>
                <a:ext uri="{FF2B5EF4-FFF2-40B4-BE49-F238E27FC236}">
                  <a16:creationId xmlns:a16="http://schemas.microsoft.com/office/drawing/2014/main" id="{248B8965-9B9E-9D7B-A1BB-69E280255F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39">
              <a:extLst>
                <a:ext uri="{FF2B5EF4-FFF2-40B4-BE49-F238E27FC236}">
                  <a16:creationId xmlns:a16="http://schemas.microsoft.com/office/drawing/2014/main" id="{02E5E0F8-31FE-4CF9-CCCA-03179BACF1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0">
              <a:extLst>
                <a:ext uri="{FF2B5EF4-FFF2-40B4-BE49-F238E27FC236}">
                  <a16:creationId xmlns:a16="http://schemas.microsoft.com/office/drawing/2014/main" id="{1442149B-CC24-7E98-3B7B-B5DCB6BACD2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1">
              <a:extLst>
                <a:ext uri="{FF2B5EF4-FFF2-40B4-BE49-F238E27FC236}">
                  <a16:creationId xmlns:a16="http://schemas.microsoft.com/office/drawing/2014/main" id="{B13AF994-58CE-0A1B-0687-D22EF53122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42">
              <a:extLst>
                <a:ext uri="{FF2B5EF4-FFF2-40B4-BE49-F238E27FC236}">
                  <a16:creationId xmlns:a16="http://schemas.microsoft.com/office/drawing/2014/main" id="{99803F53-B434-B34D-82C2-9A6414CE9ED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43">
              <a:extLst>
                <a:ext uri="{FF2B5EF4-FFF2-40B4-BE49-F238E27FC236}">
                  <a16:creationId xmlns:a16="http://schemas.microsoft.com/office/drawing/2014/main" id="{45E97FBA-CABF-F78A-CB52-747B1A753B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44">
              <a:extLst>
                <a:ext uri="{FF2B5EF4-FFF2-40B4-BE49-F238E27FC236}">
                  <a16:creationId xmlns:a16="http://schemas.microsoft.com/office/drawing/2014/main" id="{E2A32CF2-22B8-B2C5-3082-EDC373668A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45">
              <a:extLst>
                <a:ext uri="{FF2B5EF4-FFF2-40B4-BE49-F238E27FC236}">
                  <a16:creationId xmlns:a16="http://schemas.microsoft.com/office/drawing/2014/main" id="{20063B0D-1218-6957-F68E-7E763FB834C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46">
              <a:extLst>
                <a:ext uri="{FF2B5EF4-FFF2-40B4-BE49-F238E27FC236}">
                  <a16:creationId xmlns:a16="http://schemas.microsoft.com/office/drawing/2014/main" id="{5B56E4C2-35AF-5647-CC8F-6272D1EFD14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47">
              <a:extLst>
                <a:ext uri="{FF2B5EF4-FFF2-40B4-BE49-F238E27FC236}">
                  <a16:creationId xmlns:a16="http://schemas.microsoft.com/office/drawing/2014/main" id="{E8ECAE5F-71A1-BC28-3136-02530A8F901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48">
              <a:extLst>
                <a:ext uri="{FF2B5EF4-FFF2-40B4-BE49-F238E27FC236}">
                  <a16:creationId xmlns:a16="http://schemas.microsoft.com/office/drawing/2014/main" id="{0DD6499F-BA9A-F18A-95C4-E03C8810AF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0">
              <a:extLst>
                <a:ext uri="{FF2B5EF4-FFF2-40B4-BE49-F238E27FC236}">
                  <a16:creationId xmlns:a16="http://schemas.microsoft.com/office/drawing/2014/main" id="{CF5B04B7-B57B-DDB7-D2FC-F7F6A6D131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1">
              <a:extLst>
                <a:ext uri="{FF2B5EF4-FFF2-40B4-BE49-F238E27FC236}">
                  <a16:creationId xmlns:a16="http://schemas.microsoft.com/office/drawing/2014/main" id="{F67D3792-5945-C2DB-470A-55018854496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52">
              <a:extLst>
                <a:ext uri="{FF2B5EF4-FFF2-40B4-BE49-F238E27FC236}">
                  <a16:creationId xmlns:a16="http://schemas.microsoft.com/office/drawing/2014/main" id="{58D2DCEA-59B7-60AC-A9BE-26B6787A80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53">
              <a:extLst>
                <a:ext uri="{FF2B5EF4-FFF2-40B4-BE49-F238E27FC236}">
                  <a16:creationId xmlns:a16="http://schemas.microsoft.com/office/drawing/2014/main" id="{25ECA6B4-1328-E9FB-4E62-D4E6875D659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54">
              <a:extLst>
                <a:ext uri="{FF2B5EF4-FFF2-40B4-BE49-F238E27FC236}">
                  <a16:creationId xmlns:a16="http://schemas.microsoft.com/office/drawing/2014/main" id="{F8BB911B-7335-979A-9B0B-AEB710104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55">
              <a:extLst>
                <a:ext uri="{FF2B5EF4-FFF2-40B4-BE49-F238E27FC236}">
                  <a16:creationId xmlns:a16="http://schemas.microsoft.com/office/drawing/2014/main" id="{95FCF234-4FFF-7C45-F050-B0E7CC2139E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56">
              <a:extLst>
                <a:ext uri="{FF2B5EF4-FFF2-40B4-BE49-F238E27FC236}">
                  <a16:creationId xmlns:a16="http://schemas.microsoft.com/office/drawing/2014/main" id="{39C42B7F-75EA-5839-F8C3-67D084C06DB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57">
              <a:extLst>
                <a:ext uri="{FF2B5EF4-FFF2-40B4-BE49-F238E27FC236}">
                  <a16:creationId xmlns:a16="http://schemas.microsoft.com/office/drawing/2014/main" id="{4E39AECF-CC02-7A97-9CB5-196084FB2E0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58">
              <a:extLst>
                <a:ext uri="{FF2B5EF4-FFF2-40B4-BE49-F238E27FC236}">
                  <a16:creationId xmlns:a16="http://schemas.microsoft.com/office/drawing/2014/main" id="{8E5B7DAF-74BE-463A-3A0F-1CCFEDB6F7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59">
              <a:extLst>
                <a:ext uri="{FF2B5EF4-FFF2-40B4-BE49-F238E27FC236}">
                  <a16:creationId xmlns:a16="http://schemas.microsoft.com/office/drawing/2014/main" id="{38925EAC-8497-A503-7A49-B5059F3613B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0">
              <a:extLst>
                <a:ext uri="{FF2B5EF4-FFF2-40B4-BE49-F238E27FC236}">
                  <a16:creationId xmlns:a16="http://schemas.microsoft.com/office/drawing/2014/main" id="{63D8412A-0BA4-858D-18FE-CE2DFCF47B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1">
              <a:extLst>
                <a:ext uri="{FF2B5EF4-FFF2-40B4-BE49-F238E27FC236}">
                  <a16:creationId xmlns:a16="http://schemas.microsoft.com/office/drawing/2014/main" id="{78B59375-E3B4-AEFC-10A8-E6D004F075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62">
              <a:extLst>
                <a:ext uri="{FF2B5EF4-FFF2-40B4-BE49-F238E27FC236}">
                  <a16:creationId xmlns:a16="http://schemas.microsoft.com/office/drawing/2014/main" id="{1CEB5436-4A07-C7C4-0DFB-6545EDF5388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63">
              <a:extLst>
                <a:ext uri="{FF2B5EF4-FFF2-40B4-BE49-F238E27FC236}">
                  <a16:creationId xmlns:a16="http://schemas.microsoft.com/office/drawing/2014/main" id="{FDF93A92-9CA9-8E82-F90D-A486DBD123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64">
              <a:extLst>
                <a:ext uri="{FF2B5EF4-FFF2-40B4-BE49-F238E27FC236}">
                  <a16:creationId xmlns:a16="http://schemas.microsoft.com/office/drawing/2014/main" id="{2DAD69DB-AF01-0338-358D-0235DF16D1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65">
              <a:extLst>
                <a:ext uri="{FF2B5EF4-FFF2-40B4-BE49-F238E27FC236}">
                  <a16:creationId xmlns:a16="http://schemas.microsoft.com/office/drawing/2014/main" id="{C9F726C3-DDC9-CE85-7149-2DC94CE19FE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66">
              <a:extLst>
                <a:ext uri="{FF2B5EF4-FFF2-40B4-BE49-F238E27FC236}">
                  <a16:creationId xmlns:a16="http://schemas.microsoft.com/office/drawing/2014/main" id="{B6E22444-8170-351F-1D61-D376135FCB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67">
              <a:extLst>
                <a:ext uri="{FF2B5EF4-FFF2-40B4-BE49-F238E27FC236}">
                  <a16:creationId xmlns:a16="http://schemas.microsoft.com/office/drawing/2014/main" id="{D612A914-69B5-34E8-5ACF-EE7C72FD18B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68">
              <a:extLst>
                <a:ext uri="{FF2B5EF4-FFF2-40B4-BE49-F238E27FC236}">
                  <a16:creationId xmlns:a16="http://schemas.microsoft.com/office/drawing/2014/main" id="{370F7A26-B803-BF49-E7FC-9786BE5C45A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69">
              <a:extLst>
                <a:ext uri="{FF2B5EF4-FFF2-40B4-BE49-F238E27FC236}">
                  <a16:creationId xmlns:a16="http://schemas.microsoft.com/office/drawing/2014/main" id="{EE579012-CF4C-E9BC-6F4E-452603B5434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0">
              <a:extLst>
                <a:ext uri="{FF2B5EF4-FFF2-40B4-BE49-F238E27FC236}">
                  <a16:creationId xmlns:a16="http://schemas.microsoft.com/office/drawing/2014/main" id="{6A24BAA5-95AB-7755-7DF5-94D7745848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1">
              <a:extLst>
                <a:ext uri="{FF2B5EF4-FFF2-40B4-BE49-F238E27FC236}">
                  <a16:creationId xmlns:a16="http://schemas.microsoft.com/office/drawing/2014/main" id="{89B38B39-B964-BE83-13F3-47215E79A8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Line 72">
              <a:extLst>
                <a:ext uri="{FF2B5EF4-FFF2-40B4-BE49-F238E27FC236}">
                  <a16:creationId xmlns:a16="http://schemas.microsoft.com/office/drawing/2014/main" id="{E645F818-C269-9256-DE8F-19C439AF9C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Line 73">
              <a:extLst>
                <a:ext uri="{FF2B5EF4-FFF2-40B4-BE49-F238E27FC236}">
                  <a16:creationId xmlns:a16="http://schemas.microsoft.com/office/drawing/2014/main" id="{504BD8BC-907C-7523-5F1A-068D896EBE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Line 74">
              <a:extLst>
                <a:ext uri="{FF2B5EF4-FFF2-40B4-BE49-F238E27FC236}">
                  <a16:creationId xmlns:a16="http://schemas.microsoft.com/office/drawing/2014/main" id="{0C89827A-40C9-BBBC-7FA1-91D36C16144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Line 75">
              <a:extLst>
                <a:ext uri="{FF2B5EF4-FFF2-40B4-BE49-F238E27FC236}">
                  <a16:creationId xmlns:a16="http://schemas.microsoft.com/office/drawing/2014/main" id="{F3DFBEB7-7144-1AA9-784E-374C222CC79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Line 76">
              <a:extLst>
                <a:ext uri="{FF2B5EF4-FFF2-40B4-BE49-F238E27FC236}">
                  <a16:creationId xmlns:a16="http://schemas.microsoft.com/office/drawing/2014/main" id="{4A7D318C-B39E-EFED-10D5-EED68171FC3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Line 77">
              <a:extLst>
                <a:ext uri="{FF2B5EF4-FFF2-40B4-BE49-F238E27FC236}">
                  <a16:creationId xmlns:a16="http://schemas.microsoft.com/office/drawing/2014/main" id="{FA978F57-4D0F-ABCD-1761-3054F98A680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Line 78">
              <a:extLst>
                <a:ext uri="{FF2B5EF4-FFF2-40B4-BE49-F238E27FC236}">
                  <a16:creationId xmlns:a16="http://schemas.microsoft.com/office/drawing/2014/main" id="{F138D436-2946-11F0-BE46-6C13BE7AEB0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Line 79">
              <a:extLst>
                <a:ext uri="{FF2B5EF4-FFF2-40B4-BE49-F238E27FC236}">
                  <a16:creationId xmlns:a16="http://schemas.microsoft.com/office/drawing/2014/main" id="{AE695094-C703-AD4B-A89C-4E5FADAAC9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70FA014-AAD3-22E3-A1F5-D45A5CF5B899}"/>
              </a:ext>
            </a:extLst>
          </p:cNvPr>
          <p:cNvCxnSpPr/>
          <p:nvPr/>
        </p:nvCxnSpPr>
        <p:spPr>
          <a:xfrm>
            <a:off x="6999514" y="3592287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9B0510BF-81D2-BE4B-1D37-4B510185C775}"/>
              </a:ext>
            </a:extLst>
          </p:cNvPr>
          <p:cNvCxnSpPr/>
          <p:nvPr/>
        </p:nvCxnSpPr>
        <p:spPr>
          <a:xfrm>
            <a:off x="5900057" y="3570515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51A0CCF-86D3-DFEF-4BBF-DFF548265BBF}"/>
              </a:ext>
            </a:extLst>
          </p:cNvPr>
          <p:cNvCxnSpPr/>
          <p:nvPr/>
        </p:nvCxnSpPr>
        <p:spPr>
          <a:xfrm>
            <a:off x="5519059" y="2558143"/>
            <a:ext cx="859971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6BE8FAB-EBA7-9EC3-1991-332E811CD49C}"/>
              </a:ext>
            </a:extLst>
          </p:cNvPr>
          <p:cNvSpPr txBox="1"/>
          <p:nvPr/>
        </p:nvSpPr>
        <p:spPr>
          <a:xfrm>
            <a:off x="5682343" y="1894115"/>
            <a:ext cx="383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7565167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FF81D-8425-CCD0-5194-A03D9EA0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E88026-C5FA-64C5-CBB9-99B2B833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Usually, we need to know how we start our oscillator to solve a problem. Let's see how this works.	Suppose we start the motion of a mass attached to a spring (a harmonic oscillator) by pulling the mass to x=</a:t>
            </a:r>
            <a:r>
              <a:rPr lang="en-US" dirty="0" err="1"/>
              <a:t>x</a:t>
            </a:r>
            <a:r>
              <a:rPr lang="en-US" baseline="-25000" dirty="0" err="1"/>
              <a:t>max</a:t>
            </a:r>
            <a:r>
              <a:rPr lang="en-US" baseline="-25000" dirty="0"/>
              <a:t> </a:t>
            </a:r>
            <a:r>
              <a:rPr lang="en-US" dirty="0"/>
              <a:t>and releasing it at t=0. Find the phase. </a:t>
            </a:r>
          </a:p>
        </p:txBody>
      </p:sp>
      <p:sp>
        <p:nvSpPr>
          <p:cNvPr id="6" name="Text Box 209">
            <a:extLst>
              <a:ext uri="{FF2B5EF4-FFF2-40B4-BE49-F238E27FC236}">
                <a16:creationId xmlns:a16="http://schemas.microsoft.com/office/drawing/2014/main" id="{BE2A7D48-C954-1AFC-AF84-F89FA8AB77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0834" y="5722106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7" name="Text Box 211">
            <a:extLst>
              <a:ext uri="{FF2B5EF4-FFF2-40B4-BE49-F238E27FC236}">
                <a16:creationId xmlns:a16="http://schemas.microsoft.com/office/drawing/2014/main" id="{3F168650-7BC2-3F77-7639-3DCC5EF601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0486" y="5723466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8" name="AutoShape 3">
            <a:extLst>
              <a:ext uri="{FF2B5EF4-FFF2-40B4-BE49-F238E27FC236}">
                <a16:creationId xmlns:a16="http://schemas.microsoft.com/office/drawing/2014/main" id="{7594D1C0-A876-7B97-F577-BA44ACD2F0F5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4387152" y="3746119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Freeform 5">
            <a:extLst>
              <a:ext uri="{FF2B5EF4-FFF2-40B4-BE49-F238E27FC236}">
                <a16:creationId xmlns:a16="http://schemas.microsoft.com/office/drawing/2014/main" id="{80DB0C21-30FC-3021-DC47-3821A0794007}"/>
              </a:ext>
            </a:extLst>
          </p:cNvPr>
          <p:cNvSpPr>
            <a:spLocks/>
          </p:cNvSpPr>
          <p:nvPr/>
        </p:nvSpPr>
        <p:spPr bwMode="auto">
          <a:xfrm>
            <a:off x="6818522" y="4584772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Rectangle 6">
            <a:extLst>
              <a:ext uri="{FF2B5EF4-FFF2-40B4-BE49-F238E27FC236}">
                <a16:creationId xmlns:a16="http://schemas.microsoft.com/office/drawing/2014/main" id="{88085430-8FED-B6C1-B066-E4D5C349A3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4886" y="4624460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1608F81D-10C5-0156-7B5B-347C1FC8CA16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7639" y="3950908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Line 9">
            <a:extLst>
              <a:ext uri="{FF2B5EF4-FFF2-40B4-BE49-F238E27FC236}">
                <a16:creationId xmlns:a16="http://schemas.microsoft.com/office/drawing/2014/main" id="{BCF47D31-276B-B3FD-CC79-ABE316F15F47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2714" y="5116132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Line 30">
            <a:extLst>
              <a:ext uri="{FF2B5EF4-FFF2-40B4-BE49-F238E27FC236}">
                <a16:creationId xmlns:a16="http://schemas.microsoft.com/office/drawing/2014/main" id="{BB10862C-967F-FC97-24B4-FB1271651CE8}"/>
              </a:ext>
            </a:extLst>
          </p:cNvPr>
          <p:cNvSpPr>
            <a:spLocks noChangeShapeType="1"/>
          </p:cNvSpPr>
          <p:nvPr/>
        </p:nvSpPr>
        <p:spPr bwMode="auto">
          <a:xfrm>
            <a:off x="4477639" y="3950908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1563CA99-160D-3866-4F27-C87615525418}"/>
              </a:ext>
            </a:extLst>
          </p:cNvPr>
          <p:cNvSpPr>
            <a:spLocks noChangeShapeType="1"/>
          </p:cNvSpPr>
          <p:nvPr/>
        </p:nvSpPr>
        <p:spPr bwMode="auto">
          <a:xfrm>
            <a:off x="4442714" y="5116132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1DE861-A757-27B0-146E-BBDD0332A4FA}"/>
              </a:ext>
            </a:extLst>
          </p:cNvPr>
          <p:cNvGrpSpPr/>
          <p:nvPr/>
        </p:nvGrpSpPr>
        <p:grpSpPr>
          <a:xfrm>
            <a:off x="4534789" y="4595659"/>
            <a:ext cx="2258332" cy="301399"/>
            <a:chOff x="2955925" y="2986314"/>
            <a:chExt cx="1471613" cy="301399"/>
          </a:xfrm>
        </p:grpSpPr>
        <p:sp>
          <p:nvSpPr>
            <p:cNvPr id="16" name="Line 10">
              <a:extLst>
                <a:ext uri="{FF2B5EF4-FFF2-40B4-BE49-F238E27FC236}">
                  <a16:creationId xmlns:a16="http://schemas.microsoft.com/office/drawing/2014/main" id="{7158964E-9A98-36D9-577D-D78E33450F9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2">
              <a:extLst>
                <a:ext uri="{FF2B5EF4-FFF2-40B4-BE49-F238E27FC236}">
                  <a16:creationId xmlns:a16="http://schemas.microsoft.com/office/drawing/2014/main" id="{053B8731-1D85-E09E-8B2D-BAC1CD751FB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3">
              <a:extLst>
                <a:ext uri="{FF2B5EF4-FFF2-40B4-BE49-F238E27FC236}">
                  <a16:creationId xmlns:a16="http://schemas.microsoft.com/office/drawing/2014/main" id="{0ABA8D58-04F1-1657-3B97-59763E355A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4">
              <a:extLst>
                <a:ext uri="{FF2B5EF4-FFF2-40B4-BE49-F238E27FC236}">
                  <a16:creationId xmlns:a16="http://schemas.microsoft.com/office/drawing/2014/main" id="{EECACFA4-02AC-E177-7BA6-7A6DA0CD67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5">
              <a:extLst>
                <a:ext uri="{FF2B5EF4-FFF2-40B4-BE49-F238E27FC236}">
                  <a16:creationId xmlns:a16="http://schemas.microsoft.com/office/drawing/2014/main" id="{DD414A2E-B83F-5F1A-663F-08014DFE397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6">
              <a:extLst>
                <a:ext uri="{FF2B5EF4-FFF2-40B4-BE49-F238E27FC236}">
                  <a16:creationId xmlns:a16="http://schemas.microsoft.com/office/drawing/2014/main" id="{FD6BEA5F-8252-9911-99AC-4E463A9DB0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7">
              <a:extLst>
                <a:ext uri="{FF2B5EF4-FFF2-40B4-BE49-F238E27FC236}">
                  <a16:creationId xmlns:a16="http://schemas.microsoft.com/office/drawing/2014/main" id="{A92EF04E-E9C1-2B39-52C3-6A001CF5FE1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18">
              <a:extLst>
                <a:ext uri="{FF2B5EF4-FFF2-40B4-BE49-F238E27FC236}">
                  <a16:creationId xmlns:a16="http://schemas.microsoft.com/office/drawing/2014/main" id="{481B3B01-2F55-E400-D8A5-DFEA52A8CD5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19">
              <a:extLst>
                <a:ext uri="{FF2B5EF4-FFF2-40B4-BE49-F238E27FC236}">
                  <a16:creationId xmlns:a16="http://schemas.microsoft.com/office/drawing/2014/main" id="{B6398485-7D9E-28DB-1953-3282F93C59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0">
              <a:extLst>
                <a:ext uri="{FF2B5EF4-FFF2-40B4-BE49-F238E27FC236}">
                  <a16:creationId xmlns:a16="http://schemas.microsoft.com/office/drawing/2014/main" id="{1B1AF129-3BD7-3DDE-76C2-06D73E847C3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1">
              <a:extLst>
                <a:ext uri="{FF2B5EF4-FFF2-40B4-BE49-F238E27FC236}">
                  <a16:creationId xmlns:a16="http://schemas.microsoft.com/office/drawing/2014/main" id="{76DF3986-3543-A254-EE9F-BC0725A1845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2">
              <a:extLst>
                <a:ext uri="{FF2B5EF4-FFF2-40B4-BE49-F238E27FC236}">
                  <a16:creationId xmlns:a16="http://schemas.microsoft.com/office/drawing/2014/main" id="{D6C69A34-2D70-3F9A-19BE-580A65CBF4A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3">
              <a:extLst>
                <a:ext uri="{FF2B5EF4-FFF2-40B4-BE49-F238E27FC236}">
                  <a16:creationId xmlns:a16="http://schemas.microsoft.com/office/drawing/2014/main" id="{6B17B21C-7F18-A975-50A6-052E09F6A0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24">
              <a:extLst>
                <a:ext uri="{FF2B5EF4-FFF2-40B4-BE49-F238E27FC236}">
                  <a16:creationId xmlns:a16="http://schemas.microsoft.com/office/drawing/2014/main" id="{A5897983-D101-8707-DC36-9C201F29A3B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25">
              <a:extLst>
                <a:ext uri="{FF2B5EF4-FFF2-40B4-BE49-F238E27FC236}">
                  <a16:creationId xmlns:a16="http://schemas.microsoft.com/office/drawing/2014/main" id="{E4C1140B-9352-5089-8F3A-37959FB198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32">
              <a:extLst>
                <a:ext uri="{FF2B5EF4-FFF2-40B4-BE49-F238E27FC236}">
                  <a16:creationId xmlns:a16="http://schemas.microsoft.com/office/drawing/2014/main" id="{87D28E33-C950-9C0C-D578-5BC2D19E72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34">
              <a:extLst>
                <a:ext uri="{FF2B5EF4-FFF2-40B4-BE49-F238E27FC236}">
                  <a16:creationId xmlns:a16="http://schemas.microsoft.com/office/drawing/2014/main" id="{69FEC053-AE3E-79B6-72FC-8D46C3F1232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5">
              <a:extLst>
                <a:ext uri="{FF2B5EF4-FFF2-40B4-BE49-F238E27FC236}">
                  <a16:creationId xmlns:a16="http://schemas.microsoft.com/office/drawing/2014/main" id="{1E87BB08-542C-CAA9-9A0E-E56556E6FEE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6">
              <a:extLst>
                <a:ext uri="{FF2B5EF4-FFF2-40B4-BE49-F238E27FC236}">
                  <a16:creationId xmlns:a16="http://schemas.microsoft.com/office/drawing/2014/main" id="{F8B81F2C-D4DA-3CDF-7830-3D9A0D72A2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7">
              <a:extLst>
                <a:ext uri="{FF2B5EF4-FFF2-40B4-BE49-F238E27FC236}">
                  <a16:creationId xmlns:a16="http://schemas.microsoft.com/office/drawing/2014/main" id="{2665D139-1388-CD5D-540F-E6CAC830D7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38">
              <a:extLst>
                <a:ext uri="{FF2B5EF4-FFF2-40B4-BE49-F238E27FC236}">
                  <a16:creationId xmlns:a16="http://schemas.microsoft.com/office/drawing/2014/main" id="{6691B8B0-8D2F-C452-B2AD-672340C690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39">
              <a:extLst>
                <a:ext uri="{FF2B5EF4-FFF2-40B4-BE49-F238E27FC236}">
                  <a16:creationId xmlns:a16="http://schemas.microsoft.com/office/drawing/2014/main" id="{7321128B-A6BB-02E6-713E-F6E46E107F6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40">
              <a:extLst>
                <a:ext uri="{FF2B5EF4-FFF2-40B4-BE49-F238E27FC236}">
                  <a16:creationId xmlns:a16="http://schemas.microsoft.com/office/drawing/2014/main" id="{C5A7A5BF-7514-91A3-273C-37EF7214F93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41">
              <a:extLst>
                <a:ext uri="{FF2B5EF4-FFF2-40B4-BE49-F238E27FC236}">
                  <a16:creationId xmlns:a16="http://schemas.microsoft.com/office/drawing/2014/main" id="{7161EA66-EDA5-F54E-BADF-A9040595CC9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42">
              <a:extLst>
                <a:ext uri="{FF2B5EF4-FFF2-40B4-BE49-F238E27FC236}">
                  <a16:creationId xmlns:a16="http://schemas.microsoft.com/office/drawing/2014/main" id="{A418537C-6B23-95AB-3F7A-73031A5CC36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43">
              <a:extLst>
                <a:ext uri="{FF2B5EF4-FFF2-40B4-BE49-F238E27FC236}">
                  <a16:creationId xmlns:a16="http://schemas.microsoft.com/office/drawing/2014/main" id="{E36A8040-A6EE-1A20-BD3E-3DE8DC888A9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44">
              <a:extLst>
                <a:ext uri="{FF2B5EF4-FFF2-40B4-BE49-F238E27FC236}">
                  <a16:creationId xmlns:a16="http://schemas.microsoft.com/office/drawing/2014/main" id="{7D239E34-8A78-72B2-AF7B-DA77977EF7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45">
              <a:extLst>
                <a:ext uri="{FF2B5EF4-FFF2-40B4-BE49-F238E27FC236}">
                  <a16:creationId xmlns:a16="http://schemas.microsoft.com/office/drawing/2014/main" id="{147F1091-6D9D-54D3-9BFB-0E758B5D1D8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46">
              <a:extLst>
                <a:ext uri="{FF2B5EF4-FFF2-40B4-BE49-F238E27FC236}">
                  <a16:creationId xmlns:a16="http://schemas.microsoft.com/office/drawing/2014/main" id="{0FA7F48A-CAE7-8451-7018-B41E6E3D5D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47">
              <a:extLst>
                <a:ext uri="{FF2B5EF4-FFF2-40B4-BE49-F238E27FC236}">
                  <a16:creationId xmlns:a16="http://schemas.microsoft.com/office/drawing/2014/main" id="{48F1939E-A08E-8070-0EF5-2BD3B578F92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48">
              <a:extLst>
                <a:ext uri="{FF2B5EF4-FFF2-40B4-BE49-F238E27FC236}">
                  <a16:creationId xmlns:a16="http://schemas.microsoft.com/office/drawing/2014/main" id="{24004986-85D8-C401-1940-B132252EF6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50">
              <a:extLst>
                <a:ext uri="{FF2B5EF4-FFF2-40B4-BE49-F238E27FC236}">
                  <a16:creationId xmlns:a16="http://schemas.microsoft.com/office/drawing/2014/main" id="{E6B3F292-BCE1-3695-750F-82FAA9A27B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51">
              <a:extLst>
                <a:ext uri="{FF2B5EF4-FFF2-40B4-BE49-F238E27FC236}">
                  <a16:creationId xmlns:a16="http://schemas.microsoft.com/office/drawing/2014/main" id="{71583143-5DE1-6A72-9B6E-225A689D986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52">
              <a:extLst>
                <a:ext uri="{FF2B5EF4-FFF2-40B4-BE49-F238E27FC236}">
                  <a16:creationId xmlns:a16="http://schemas.microsoft.com/office/drawing/2014/main" id="{DA57BF64-E32C-416C-0B08-CB9622C9ABD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53">
              <a:extLst>
                <a:ext uri="{FF2B5EF4-FFF2-40B4-BE49-F238E27FC236}">
                  <a16:creationId xmlns:a16="http://schemas.microsoft.com/office/drawing/2014/main" id="{0BE891DB-A640-7D19-8C43-AC24C38508C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54">
              <a:extLst>
                <a:ext uri="{FF2B5EF4-FFF2-40B4-BE49-F238E27FC236}">
                  <a16:creationId xmlns:a16="http://schemas.microsoft.com/office/drawing/2014/main" id="{95226505-8578-DB6C-1084-BBE8A93CA5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55">
              <a:extLst>
                <a:ext uri="{FF2B5EF4-FFF2-40B4-BE49-F238E27FC236}">
                  <a16:creationId xmlns:a16="http://schemas.microsoft.com/office/drawing/2014/main" id="{50908C0A-54A9-EC96-FA1F-0BD00ED7C3E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56">
              <a:extLst>
                <a:ext uri="{FF2B5EF4-FFF2-40B4-BE49-F238E27FC236}">
                  <a16:creationId xmlns:a16="http://schemas.microsoft.com/office/drawing/2014/main" id="{D05CC54C-AA0F-2B86-7D82-C5A6D37A79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Line 57">
              <a:extLst>
                <a:ext uri="{FF2B5EF4-FFF2-40B4-BE49-F238E27FC236}">
                  <a16:creationId xmlns:a16="http://schemas.microsoft.com/office/drawing/2014/main" id="{A189D51C-2F68-DA1A-C9B7-B746F81798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58">
              <a:extLst>
                <a:ext uri="{FF2B5EF4-FFF2-40B4-BE49-F238E27FC236}">
                  <a16:creationId xmlns:a16="http://schemas.microsoft.com/office/drawing/2014/main" id="{22ABFC4E-0296-4025-A7A5-410CA7100F3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59">
              <a:extLst>
                <a:ext uri="{FF2B5EF4-FFF2-40B4-BE49-F238E27FC236}">
                  <a16:creationId xmlns:a16="http://schemas.microsoft.com/office/drawing/2014/main" id="{393E8996-73A0-0675-97CF-966F7810279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60">
              <a:extLst>
                <a:ext uri="{FF2B5EF4-FFF2-40B4-BE49-F238E27FC236}">
                  <a16:creationId xmlns:a16="http://schemas.microsoft.com/office/drawing/2014/main" id="{904A85E7-719D-4793-B2C9-8FE41FCC06A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61">
              <a:extLst>
                <a:ext uri="{FF2B5EF4-FFF2-40B4-BE49-F238E27FC236}">
                  <a16:creationId xmlns:a16="http://schemas.microsoft.com/office/drawing/2014/main" id="{E0B3D6B5-8634-340A-FC73-845FF382FAB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62">
              <a:extLst>
                <a:ext uri="{FF2B5EF4-FFF2-40B4-BE49-F238E27FC236}">
                  <a16:creationId xmlns:a16="http://schemas.microsoft.com/office/drawing/2014/main" id="{68E08D7F-4085-27E5-FD16-6B06182923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63">
              <a:extLst>
                <a:ext uri="{FF2B5EF4-FFF2-40B4-BE49-F238E27FC236}">
                  <a16:creationId xmlns:a16="http://schemas.microsoft.com/office/drawing/2014/main" id="{17A6E0F1-8D33-A3A6-EDEC-4AAB6B1E00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64">
              <a:extLst>
                <a:ext uri="{FF2B5EF4-FFF2-40B4-BE49-F238E27FC236}">
                  <a16:creationId xmlns:a16="http://schemas.microsoft.com/office/drawing/2014/main" id="{8B75BD08-1C63-8088-41A0-C3ED5B4FBC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65">
              <a:extLst>
                <a:ext uri="{FF2B5EF4-FFF2-40B4-BE49-F238E27FC236}">
                  <a16:creationId xmlns:a16="http://schemas.microsoft.com/office/drawing/2014/main" id="{22C502F4-ABF4-20D5-41D1-2407B007232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66">
              <a:extLst>
                <a:ext uri="{FF2B5EF4-FFF2-40B4-BE49-F238E27FC236}">
                  <a16:creationId xmlns:a16="http://schemas.microsoft.com/office/drawing/2014/main" id="{EEFB2200-2B91-F754-BEFC-49850200021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67">
              <a:extLst>
                <a:ext uri="{FF2B5EF4-FFF2-40B4-BE49-F238E27FC236}">
                  <a16:creationId xmlns:a16="http://schemas.microsoft.com/office/drawing/2014/main" id="{980F77D3-BF19-D51D-713C-0625333087E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68">
              <a:extLst>
                <a:ext uri="{FF2B5EF4-FFF2-40B4-BE49-F238E27FC236}">
                  <a16:creationId xmlns:a16="http://schemas.microsoft.com/office/drawing/2014/main" id="{811A4A40-2F18-C740-F2C9-A6CEE9543F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69">
              <a:extLst>
                <a:ext uri="{FF2B5EF4-FFF2-40B4-BE49-F238E27FC236}">
                  <a16:creationId xmlns:a16="http://schemas.microsoft.com/office/drawing/2014/main" id="{9FBFEC30-6140-1ECB-B00E-91FBF696E02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70">
              <a:extLst>
                <a:ext uri="{FF2B5EF4-FFF2-40B4-BE49-F238E27FC236}">
                  <a16:creationId xmlns:a16="http://schemas.microsoft.com/office/drawing/2014/main" id="{19CEE5D1-3F22-6C3E-5752-869AD1513A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71">
              <a:extLst>
                <a:ext uri="{FF2B5EF4-FFF2-40B4-BE49-F238E27FC236}">
                  <a16:creationId xmlns:a16="http://schemas.microsoft.com/office/drawing/2014/main" id="{82EAE97B-E813-364F-8C5B-8D982C376FF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72">
              <a:extLst>
                <a:ext uri="{FF2B5EF4-FFF2-40B4-BE49-F238E27FC236}">
                  <a16:creationId xmlns:a16="http://schemas.microsoft.com/office/drawing/2014/main" id="{3317B1DE-FFFD-3EC7-2E63-B4C0A34E45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73">
              <a:extLst>
                <a:ext uri="{FF2B5EF4-FFF2-40B4-BE49-F238E27FC236}">
                  <a16:creationId xmlns:a16="http://schemas.microsoft.com/office/drawing/2014/main" id="{2780D26C-A3A6-696A-9F8E-8245CC3383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74">
              <a:extLst>
                <a:ext uri="{FF2B5EF4-FFF2-40B4-BE49-F238E27FC236}">
                  <a16:creationId xmlns:a16="http://schemas.microsoft.com/office/drawing/2014/main" id="{23EF50AD-8BA0-463E-174A-858CBBB778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75">
              <a:extLst>
                <a:ext uri="{FF2B5EF4-FFF2-40B4-BE49-F238E27FC236}">
                  <a16:creationId xmlns:a16="http://schemas.microsoft.com/office/drawing/2014/main" id="{13EA1D8A-7553-62FE-E78E-E309F4B479F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76">
              <a:extLst>
                <a:ext uri="{FF2B5EF4-FFF2-40B4-BE49-F238E27FC236}">
                  <a16:creationId xmlns:a16="http://schemas.microsoft.com/office/drawing/2014/main" id="{C25AFEA1-A0D9-AA1D-1FBC-AA34466F9D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77">
              <a:extLst>
                <a:ext uri="{FF2B5EF4-FFF2-40B4-BE49-F238E27FC236}">
                  <a16:creationId xmlns:a16="http://schemas.microsoft.com/office/drawing/2014/main" id="{22355769-25A8-0A77-FD63-0B38028A33E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Line 78">
              <a:extLst>
                <a:ext uri="{FF2B5EF4-FFF2-40B4-BE49-F238E27FC236}">
                  <a16:creationId xmlns:a16="http://schemas.microsoft.com/office/drawing/2014/main" id="{0DD89477-27DF-3CBA-D332-27020E600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Line 79">
              <a:extLst>
                <a:ext uri="{FF2B5EF4-FFF2-40B4-BE49-F238E27FC236}">
                  <a16:creationId xmlns:a16="http://schemas.microsoft.com/office/drawing/2014/main" id="{CF6FE17B-413C-0C1B-2A7F-90F04B066E0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9FFC2ED0-20DA-FB60-AB0F-42E6CD25F72F}"/>
              </a:ext>
            </a:extLst>
          </p:cNvPr>
          <p:cNvCxnSpPr/>
          <p:nvPr/>
        </p:nvCxnSpPr>
        <p:spPr>
          <a:xfrm>
            <a:off x="7054378" y="5201631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5AFC2EF2-397B-EAB6-D367-7D331A474264}"/>
              </a:ext>
            </a:extLst>
          </p:cNvPr>
          <p:cNvCxnSpPr/>
          <p:nvPr/>
        </p:nvCxnSpPr>
        <p:spPr>
          <a:xfrm>
            <a:off x="5954921" y="5179859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993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2B6F5-CB1A-D2DE-7B23-9748EB8A9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1D35D-933B-ECF5-BBC8-8132B7299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638C9E-CC2C-4CEB-62F7-9DAA61375F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the same equipment as in the last problem, let's start with	x(0) = 0	v(0) = v</a:t>
            </a:r>
            <a:r>
              <a:rPr lang="en-US" baseline="-25000" dirty="0"/>
              <a:t>i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that is, the mover mass is already moving when we start our experiment, and we start watching just as it passes the equilibrium point. Once again find the phase.</a:t>
            </a:r>
          </a:p>
        </p:txBody>
      </p:sp>
      <p:sp>
        <p:nvSpPr>
          <p:cNvPr id="4" name="Text Box 209">
            <a:extLst>
              <a:ext uri="{FF2B5EF4-FFF2-40B4-BE49-F238E27FC236}">
                <a16:creationId xmlns:a16="http://schemas.microsoft.com/office/drawing/2014/main" id="{715F1F97-6B5A-CF85-5C59-BCA306D30D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78306" y="6176963"/>
            <a:ext cx="77617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2400" dirty="0"/>
              <a:t>x = 0</a:t>
            </a:r>
          </a:p>
        </p:txBody>
      </p:sp>
      <p:sp>
        <p:nvSpPr>
          <p:cNvPr id="5" name="Text Box 211">
            <a:extLst>
              <a:ext uri="{FF2B5EF4-FFF2-40B4-BE49-F238E27FC236}">
                <a16:creationId xmlns:a16="http://schemas.microsoft.com/office/drawing/2014/main" id="{A77A81C2-6AE7-7523-4278-9FEFBE9222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97958" y="6178323"/>
            <a:ext cx="1120321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2800" dirty="0" err="1"/>
              <a:t>x</a:t>
            </a:r>
            <a:r>
              <a:rPr lang="en-US" sz="2800" baseline="-25000" dirty="0" err="1"/>
              <a:t>max</a:t>
            </a:r>
            <a:endParaRPr lang="en-US" sz="2800" baseline="-25000" dirty="0"/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1B9AB890-A1AF-EE3C-8516-6C2FF782AE9D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4712853" y="4168319"/>
            <a:ext cx="3255962" cy="144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494A34D8-E62B-75A3-5F02-56E906CDF921}"/>
              </a:ext>
            </a:extLst>
          </p:cNvPr>
          <p:cNvSpPr>
            <a:spLocks/>
          </p:cNvSpPr>
          <p:nvPr/>
        </p:nvSpPr>
        <p:spPr bwMode="auto">
          <a:xfrm>
            <a:off x="6066534" y="4996086"/>
            <a:ext cx="508000" cy="469900"/>
          </a:xfrm>
          <a:custGeom>
            <a:avLst/>
            <a:gdLst>
              <a:gd name="T0" fmla="*/ 50 w 320"/>
              <a:gd name="T1" fmla="*/ 0 h 296"/>
              <a:gd name="T2" fmla="*/ 44 w 320"/>
              <a:gd name="T3" fmla="*/ 0 h 296"/>
              <a:gd name="T4" fmla="*/ 39 w 320"/>
              <a:gd name="T5" fmla="*/ 1 h 296"/>
              <a:gd name="T6" fmla="*/ 30 w 320"/>
              <a:gd name="T7" fmla="*/ 3 h 296"/>
              <a:gd name="T8" fmla="*/ 22 w 320"/>
              <a:gd name="T9" fmla="*/ 9 h 296"/>
              <a:gd name="T10" fmla="*/ 15 w 320"/>
              <a:gd name="T11" fmla="*/ 14 h 296"/>
              <a:gd name="T12" fmla="*/ 9 w 320"/>
              <a:gd name="T13" fmla="*/ 22 h 296"/>
              <a:gd name="T14" fmla="*/ 4 w 320"/>
              <a:gd name="T15" fmla="*/ 29 h 296"/>
              <a:gd name="T16" fmla="*/ 2 w 320"/>
              <a:gd name="T17" fmla="*/ 39 h 296"/>
              <a:gd name="T18" fmla="*/ 0 w 320"/>
              <a:gd name="T19" fmla="*/ 44 h 296"/>
              <a:gd name="T20" fmla="*/ 0 w 320"/>
              <a:gd name="T21" fmla="*/ 50 h 296"/>
              <a:gd name="T22" fmla="*/ 0 w 320"/>
              <a:gd name="T23" fmla="*/ 248 h 296"/>
              <a:gd name="T24" fmla="*/ 0 w 320"/>
              <a:gd name="T25" fmla="*/ 252 h 296"/>
              <a:gd name="T26" fmla="*/ 2 w 320"/>
              <a:gd name="T27" fmla="*/ 257 h 296"/>
              <a:gd name="T28" fmla="*/ 4 w 320"/>
              <a:gd name="T29" fmla="*/ 267 h 296"/>
              <a:gd name="T30" fmla="*/ 9 w 320"/>
              <a:gd name="T31" fmla="*/ 276 h 296"/>
              <a:gd name="T32" fmla="*/ 15 w 320"/>
              <a:gd name="T33" fmla="*/ 283 h 296"/>
              <a:gd name="T34" fmla="*/ 22 w 320"/>
              <a:gd name="T35" fmla="*/ 289 h 296"/>
              <a:gd name="T36" fmla="*/ 30 w 320"/>
              <a:gd name="T37" fmla="*/ 293 h 296"/>
              <a:gd name="T38" fmla="*/ 39 w 320"/>
              <a:gd name="T39" fmla="*/ 296 h 296"/>
              <a:gd name="T40" fmla="*/ 44 w 320"/>
              <a:gd name="T41" fmla="*/ 296 h 296"/>
              <a:gd name="T42" fmla="*/ 50 w 320"/>
              <a:gd name="T43" fmla="*/ 296 h 296"/>
              <a:gd name="T44" fmla="*/ 272 w 320"/>
              <a:gd name="T45" fmla="*/ 296 h 296"/>
              <a:gd name="T46" fmla="*/ 276 w 320"/>
              <a:gd name="T47" fmla="*/ 296 h 296"/>
              <a:gd name="T48" fmla="*/ 281 w 320"/>
              <a:gd name="T49" fmla="*/ 296 h 296"/>
              <a:gd name="T50" fmla="*/ 291 w 320"/>
              <a:gd name="T51" fmla="*/ 293 h 296"/>
              <a:gd name="T52" fmla="*/ 298 w 320"/>
              <a:gd name="T53" fmla="*/ 289 h 296"/>
              <a:gd name="T54" fmla="*/ 305 w 320"/>
              <a:gd name="T55" fmla="*/ 283 h 296"/>
              <a:gd name="T56" fmla="*/ 313 w 320"/>
              <a:gd name="T57" fmla="*/ 276 h 296"/>
              <a:gd name="T58" fmla="*/ 317 w 320"/>
              <a:gd name="T59" fmla="*/ 267 h 296"/>
              <a:gd name="T60" fmla="*/ 318 w 320"/>
              <a:gd name="T61" fmla="*/ 257 h 296"/>
              <a:gd name="T62" fmla="*/ 320 w 320"/>
              <a:gd name="T63" fmla="*/ 252 h 296"/>
              <a:gd name="T64" fmla="*/ 320 w 320"/>
              <a:gd name="T65" fmla="*/ 248 h 296"/>
              <a:gd name="T66" fmla="*/ 320 w 320"/>
              <a:gd name="T67" fmla="*/ 50 h 296"/>
              <a:gd name="T68" fmla="*/ 320 w 320"/>
              <a:gd name="T69" fmla="*/ 44 h 296"/>
              <a:gd name="T70" fmla="*/ 318 w 320"/>
              <a:gd name="T71" fmla="*/ 39 h 296"/>
              <a:gd name="T72" fmla="*/ 317 w 320"/>
              <a:gd name="T73" fmla="*/ 29 h 296"/>
              <a:gd name="T74" fmla="*/ 313 w 320"/>
              <a:gd name="T75" fmla="*/ 22 h 296"/>
              <a:gd name="T76" fmla="*/ 305 w 320"/>
              <a:gd name="T77" fmla="*/ 14 h 296"/>
              <a:gd name="T78" fmla="*/ 298 w 320"/>
              <a:gd name="T79" fmla="*/ 9 h 296"/>
              <a:gd name="T80" fmla="*/ 291 w 320"/>
              <a:gd name="T81" fmla="*/ 3 h 296"/>
              <a:gd name="T82" fmla="*/ 281 w 320"/>
              <a:gd name="T83" fmla="*/ 1 h 296"/>
              <a:gd name="T84" fmla="*/ 276 w 320"/>
              <a:gd name="T85" fmla="*/ 0 h 296"/>
              <a:gd name="T86" fmla="*/ 272 w 320"/>
              <a:gd name="T87" fmla="*/ 0 h 296"/>
              <a:gd name="T88" fmla="*/ 50 w 320"/>
              <a:gd name="T89" fmla="*/ 0 h 2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</a:cxnLst>
            <a:rect l="0" t="0" r="r" b="b"/>
            <a:pathLst>
              <a:path w="320" h="296">
                <a:moveTo>
                  <a:pt x="50" y="0"/>
                </a:moveTo>
                <a:lnTo>
                  <a:pt x="44" y="0"/>
                </a:lnTo>
                <a:lnTo>
                  <a:pt x="39" y="1"/>
                </a:lnTo>
                <a:lnTo>
                  <a:pt x="30" y="3"/>
                </a:lnTo>
                <a:lnTo>
                  <a:pt x="22" y="9"/>
                </a:lnTo>
                <a:lnTo>
                  <a:pt x="15" y="14"/>
                </a:lnTo>
                <a:lnTo>
                  <a:pt x="9" y="22"/>
                </a:lnTo>
                <a:lnTo>
                  <a:pt x="4" y="29"/>
                </a:lnTo>
                <a:lnTo>
                  <a:pt x="2" y="39"/>
                </a:lnTo>
                <a:lnTo>
                  <a:pt x="0" y="44"/>
                </a:lnTo>
                <a:lnTo>
                  <a:pt x="0" y="50"/>
                </a:lnTo>
                <a:lnTo>
                  <a:pt x="0" y="248"/>
                </a:lnTo>
                <a:lnTo>
                  <a:pt x="0" y="252"/>
                </a:lnTo>
                <a:lnTo>
                  <a:pt x="2" y="257"/>
                </a:lnTo>
                <a:lnTo>
                  <a:pt x="4" y="267"/>
                </a:lnTo>
                <a:lnTo>
                  <a:pt x="9" y="276"/>
                </a:lnTo>
                <a:lnTo>
                  <a:pt x="15" y="283"/>
                </a:lnTo>
                <a:lnTo>
                  <a:pt x="22" y="289"/>
                </a:lnTo>
                <a:lnTo>
                  <a:pt x="30" y="293"/>
                </a:lnTo>
                <a:lnTo>
                  <a:pt x="39" y="296"/>
                </a:lnTo>
                <a:lnTo>
                  <a:pt x="44" y="296"/>
                </a:lnTo>
                <a:lnTo>
                  <a:pt x="50" y="296"/>
                </a:lnTo>
                <a:lnTo>
                  <a:pt x="272" y="296"/>
                </a:lnTo>
                <a:lnTo>
                  <a:pt x="276" y="296"/>
                </a:lnTo>
                <a:lnTo>
                  <a:pt x="281" y="296"/>
                </a:lnTo>
                <a:lnTo>
                  <a:pt x="291" y="293"/>
                </a:lnTo>
                <a:lnTo>
                  <a:pt x="298" y="289"/>
                </a:lnTo>
                <a:lnTo>
                  <a:pt x="305" y="283"/>
                </a:lnTo>
                <a:lnTo>
                  <a:pt x="313" y="276"/>
                </a:lnTo>
                <a:lnTo>
                  <a:pt x="317" y="267"/>
                </a:lnTo>
                <a:lnTo>
                  <a:pt x="318" y="257"/>
                </a:lnTo>
                <a:lnTo>
                  <a:pt x="320" y="252"/>
                </a:lnTo>
                <a:lnTo>
                  <a:pt x="320" y="248"/>
                </a:lnTo>
                <a:lnTo>
                  <a:pt x="320" y="50"/>
                </a:lnTo>
                <a:lnTo>
                  <a:pt x="320" y="44"/>
                </a:lnTo>
                <a:lnTo>
                  <a:pt x="318" y="39"/>
                </a:lnTo>
                <a:lnTo>
                  <a:pt x="317" y="29"/>
                </a:lnTo>
                <a:lnTo>
                  <a:pt x="313" y="22"/>
                </a:lnTo>
                <a:lnTo>
                  <a:pt x="305" y="14"/>
                </a:lnTo>
                <a:lnTo>
                  <a:pt x="298" y="9"/>
                </a:lnTo>
                <a:lnTo>
                  <a:pt x="291" y="3"/>
                </a:lnTo>
                <a:lnTo>
                  <a:pt x="281" y="1"/>
                </a:lnTo>
                <a:lnTo>
                  <a:pt x="276" y="0"/>
                </a:lnTo>
                <a:lnTo>
                  <a:pt x="272" y="0"/>
                </a:lnTo>
                <a:lnTo>
                  <a:pt x="50" y="0"/>
                </a:lnTo>
                <a:close/>
              </a:path>
            </a:pathLst>
          </a:custGeom>
          <a:solidFill>
            <a:srgbClr val="0099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5FB39007-34B7-1BF4-373D-752F3DC31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2898" y="5035774"/>
            <a:ext cx="307777" cy="4154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5pPr>
            <a:lvl6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6pPr>
            <a:lvl7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7pPr>
            <a:lvl8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8pPr>
            <a:lvl9pPr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sz="2700" b="1" dirty="0">
                <a:solidFill>
                  <a:srgbClr val="FFFFFF"/>
                </a:solidFill>
              </a:rPr>
              <a:t>m</a:t>
            </a:r>
            <a:endParaRPr lang="en-US" altLang="en-US" dirty="0"/>
          </a:p>
        </p:txBody>
      </p:sp>
      <p:sp>
        <p:nvSpPr>
          <p:cNvPr id="9" name="Line 8">
            <a:extLst>
              <a:ext uri="{FF2B5EF4-FFF2-40B4-BE49-F238E27FC236}">
                <a16:creationId xmlns:a16="http://schemas.microsoft.com/office/drawing/2014/main" id="{9DB859DC-F55A-49D3-01FB-46EB3216016E}"/>
              </a:ext>
            </a:extLst>
          </p:cNvPr>
          <p:cNvSpPr>
            <a:spLocks noChangeShapeType="1"/>
          </p:cNvSpPr>
          <p:nvPr/>
        </p:nvSpPr>
        <p:spPr bwMode="auto">
          <a:xfrm>
            <a:off x="4825111" y="4405765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0" name="Line 9">
            <a:extLst>
              <a:ext uri="{FF2B5EF4-FFF2-40B4-BE49-F238E27FC236}">
                <a16:creationId xmlns:a16="http://schemas.microsoft.com/office/drawing/2014/main" id="{0C2B3AFB-2951-1B9C-759C-F4867C8196D9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0186" y="5570989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1" name="Line 30">
            <a:extLst>
              <a:ext uri="{FF2B5EF4-FFF2-40B4-BE49-F238E27FC236}">
                <a16:creationId xmlns:a16="http://schemas.microsoft.com/office/drawing/2014/main" id="{9F7CA9DC-0D6F-FA4B-0B35-93A7CF645C57}"/>
              </a:ext>
            </a:extLst>
          </p:cNvPr>
          <p:cNvSpPr>
            <a:spLocks noChangeShapeType="1"/>
          </p:cNvSpPr>
          <p:nvPr/>
        </p:nvSpPr>
        <p:spPr bwMode="auto">
          <a:xfrm>
            <a:off x="4825111" y="4405765"/>
            <a:ext cx="0" cy="1165225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2" name="Line 31">
            <a:extLst>
              <a:ext uri="{FF2B5EF4-FFF2-40B4-BE49-F238E27FC236}">
                <a16:creationId xmlns:a16="http://schemas.microsoft.com/office/drawing/2014/main" id="{258FF067-54DF-C191-D274-304557CD9185}"/>
              </a:ext>
            </a:extLst>
          </p:cNvPr>
          <p:cNvSpPr>
            <a:spLocks noChangeShapeType="1"/>
          </p:cNvSpPr>
          <p:nvPr/>
        </p:nvSpPr>
        <p:spPr bwMode="auto">
          <a:xfrm>
            <a:off x="4790186" y="5570989"/>
            <a:ext cx="3109912" cy="0"/>
          </a:xfrm>
          <a:prstGeom prst="line">
            <a:avLst/>
          </a:prstGeom>
          <a:noFill/>
          <a:ln w="111125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E6DE67E-78A0-4A31-3A48-1F8520DA62FB}"/>
              </a:ext>
            </a:extLst>
          </p:cNvPr>
          <p:cNvGrpSpPr/>
          <p:nvPr/>
        </p:nvGrpSpPr>
        <p:grpSpPr>
          <a:xfrm>
            <a:off x="4882261" y="5050516"/>
            <a:ext cx="1137104" cy="301399"/>
            <a:chOff x="2955925" y="2986314"/>
            <a:chExt cx="1471613" cy="301399"/>
          </a:xfrm>
        </p:grpSpPr>
        <p:sp>
          <p:nvSpPr>
            <p:cNvPr id="14" name="Line 10">
              <a:extLst>
                <a:ext uri="{FF2B5EF4-FFF2-40B4-BE49-F238E27FC236}">
                  <a16:creationId xmlns:a16="http://schemas.microsoft.com/office/drawing/2014/main" id="{590CD666-6E56-B269-F616-42D9B390EDE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Line 12">
              <a:extLst>
                <a:ext uri="{FF2B5EF4-FFF2-40B4-BE49-F238E27FC236}">
                  <a16:creationId xmlns:a16="http://schemas.microsoft.com/office/drawing/2014/main" id="{01F54AF2-D8EC-621C-2836-F1458389E5C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Line 13">
              <a:extLst>
                <a:ext uri="{FF2B5EF4-FFF2-40B4-BE49-F238E27FC236}">
                  <a16:creationId xmlns:a16="http://schemas.microsoft.com/office/drawing/2014/main" id="{94EF2DA7-10EA-D7C0-9FC3-987AC459722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Line 14">
              <a:extLst>
                <a:ext uri="{FF2B5EF4-FFF2-40B4-BE49-F238E27FC236}">
                  <a16:creationId xmlns:a16="http://schemas.microsoft.com/office/drawing/2014/main" id="{FCD9ACB5-2C42-0443-4375-D817D635067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8" name="Line 15">
              <a:extLst>
                <a:ext uri="{FF2B5EF4-FFF2-40B4-BE49-F238E27FC236}">
                  <a16:creationId xmlns:a16="http://schemas.microsoft.com/office/drawing/2014/main" id="{1FCB0B37-FA8A-C1C6-1DA6-3F0BAC5EB7E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Line 16">
              <a:extLst>
                <a:ext uri="{FF2B5EF4-FFF2-40B4-BE49-F238E27FC236}">
                  <a16:creationId xmlns:a16="http://schemas.microsoft.com/office/drawing/2014/main" id="{7C833D4D-99F5-0B2A-BABE-6A095951475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Line 17">
              <a:extLst>
                <a:ext uri="{FF2B5EF4-FFF2-40B4-BE49-F238E27FC236}">
                  <a16:creationId xmlns:a16="http://schemas.microsoft.com/office/drawing/2014/main" id="{8895DA9F-27CC-5484-C624-E955D3B422F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1" name="Line 18">
              <a:extLst>
                <a:ext uri="{FF2B5EF4-FFF2-40B4-BE49-F238E27FC236}">
                  <a16:creationId xmlns:a16="http://schemas.microsoft.com/office/drawing/2014/main" id="{91F7B9F1-B2D6-5484-83B6-DBE89A2D77E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" name="Line 19">
              <a:extLst>
                <a:ext uri="{FF2B5EF4-FFF2-40B4-BE49-F238E27FC236}">
                  <a16:creationId xmlns:a16="http://schemas.microsoft.com/office/drawing/2014/main" id="{2083C455-6DCC-7079-C3B7-DD0B143C176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3" name="Line 20">
              <a:extLst>
                <a:ext uri="{FF2B5EF4-FFF2-40B4-BE49-F238E27FC236}">
                  <a16:creationId xmlns:a16="http://schemas.microsoft.com/office/drawing/2014/main" id="{0AEA403E-9D57-FF33-5350-EB6D6CC7FE9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Line 21">
              <a:extLst>
                <a:ext uri="{FF2B5EF4-FFF2-40B4-BE49-F238E27FC236}">
                  <a16:creationId xmlns:a16="http://schemas.microsoft.com/office/drawing/2014/main" id="{4FA74402-C4EE-EDFE-3F06-D79D4289A2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" name="Line 22">
              <a:extLst>
                <a:ext uri="{FF2B5EF4-FFF2-40B4-BE49-F238E27FC236}">
                  <a16:creationId xmlns:a16="http://schemas.microsoft.com/office/drawing/2014/main" id="{4BB0E4A2-CA0B-7677-45AD-DED43C52922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" name="Line 23">
              <a:extLst>
                <a:ext uri="{FF2B5EF4-FFF2-40B4-BE49-F238E27FC236}">
                  <a16:creationId xmlns:a16="http://schemas.microsoft.com/office/drawing/2014/main" id="{584BFAB1-A7B5-48E4-824A-7FB529903A2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" name="Line 24">
              <a:extLst>
                <a:ext uri="{FF2B5EF4-FFF2-40B4-BE49-F238E27FC236}">
                  <a16:creationId xmlns:a16="http://schemas.microsoft.com/office/drawing/2014/main" id="{2B1DA4F1-B683-C248-5E6F-63DF0447203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" name="Line 25">
              <a:extLst>
                <a:ext uri="{FF2B5EF4-FFF2-40B4-BE49-F238E27FC236}">
                  <a16:creationId xmlns:a16="http://schemas.microsoft.com/office/drawing/2014/main" id="{97DC7329-192B-C930-D8B2-16B9CF0C2CC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9" name="Line 32">
              <a:extLst>
                <a:ext uri="{FF2B5EF4-FFF2-40B4-BE49-F238E27FC236}">
                  <a16:creationId xmlns:a16="http://schemas.microsoft.com/office/drawing/2014/main" id="{25DF78DC-08CD-0448-3612-66A6C171A83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0" name="Line 34">
              <a:extLst>
                <a:ext uri="{FF2B5EF4-FFF2-40B4-BE49-F238E27FC236}">
                  <a16:creationId xmlns:a16="http://schemas.microsoft.com/office/drawing/2014/main" id="{723066A0-7D2A-737B-43C2-3E5FF980DC1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1" name="Line 35">
              <a:extLst>
                <a:ext uri="{FF2B5EF4-FFF2-40B4-BE49-F238E27FC236}">
                  <a16:creationId xmlns:a16="http://schemas.microsoft.com/office/drawing/2014/main" id="{C8C82FEE-709E-5158-17DD-FD63D6632A0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2" name="Line 36">
              <a:extLst>
                <a:ext uri="{FF2B5EF4-FFF2-40B4-BE49-F238E27FC236}">
                  <a16:creationId xmlns:a16="http://schemas.microsoft.com/office/drawing/2014/main" id="{47734429-A6FD-BEA7-B0C4-2A0EB3A0A77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3" name="Line 37">
              <a:extLst>
                <a:ext uri="{FF2B5EF4-FFF2-40B4-BE49-F238E27FC236}">
                  <a16:creationId xmlns:a16="http://schemas.microsoft.com/office/drawing/2014/main" id="{A83AADB3-823C-E7C5-4909-F81A0723033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4" name="Line 38">
              <a:extLst>
                <a:ext uri="{FF2B5EF4-FFF2-40B4-BE49-F238E27FC236}">
                  <a16:creationId xmlns:a16="http://schemas.microsoft.com/office/drawing/2014/main" id="{12A6FAF3-5178-B33A-91B0-20EFCC9041B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5" name="Line 39">
              <a:extLst>
                <a:ext uri="{FF2B5EF4-FFF2-40B4-BE49-F238E27FC236}">
                  <a16:creationId xmlns:a16="http://schemas.microsoft.com/office/drawing/2014/main" id="{A09E62F4-4B74-6E49-14B4-E3D3FCD038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6" name="Line 40">
              <a:extLst>
                <a:ext uri="{FF2B5EF4-FFF2-40B4-BE49-F238E27FC236}">
                  <a16:creationId xmlns:a16="http://schemas.microsoft.com/office/drawing/2014/main" id="{58E5B35B-7607-4FCB-D465-2081A6C9C16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7" name="Line 41">
              <a:extLst>
                <a:ext uri="{FF2B5EF4-FFF2-40B4-BE49-F238E27FC236}">
                  <a16:creationId xmlns:a16="http://schemas.microsoft.com/office/drawing/2014/main" id="{115017BE-A0F9-7EF2-352E-ACDD79786FA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8" name="Line 42">
              <a:extLst>
                <a:ext uri="{FF2B5EF4-FFF2-40B4-BE49-F238E27FC236}">
                  <a16:creationId xmlns:a16="http://schemas.microsoft.com/office/drawing/2014/main" id="{038504A4-C376-4CE3-8364-AEC2061F216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39" name="Line 43">
              <a:extLst>
                <a:ext uri="{FF2B5EF4-FFF2-40B4-BE49-F238E27FC236}">
                  <a16:creationId xmlns:a16="http://schemas.microsoft.com/office/drawing/2014/main" id="{B02AD646-293D-6189-F610-6DC3247C329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0" name="Line 44">
              <a:extLst>
                <a:ext uri="{FF2B5EF4-FFF2-40B4-BE49-F238E27FC236}">
                  <a16:creationId xmlns:a16="http://schemas.microsoft.com/office/drawing/2014/main" id="{F46EAD77-5805-1EAA-2DEC-D69C085D65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1" name="Line 45">
              <a:extLst>
                <a:ext uri="{FF2B5EF4-FFF2-40B4-BE49-F238E27FC236}">
                  <a16:creationId xmlns:a16="http://schemas.microsoft.com/office/drawing/2014/main" id="{48CC4332-5DFF-458A-C55F-36A53A0D92D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2" name="Line 46">
              <a:extLst>
                <a:ext uri="{FF2B5EF4-FFF2-40B4-BE49-F238E27FC236}">
                  <a16:creationId xmlns:a16="http://schemas.microsoft.com/office/drawing/2014/main" id="{C4796066-AA61-1772-D2E4-29E4F2FC801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3" name="Line 47">
              <a:extLst>
                <a:ext uri="{FF2B5EF4-FFF2-40B4-BE49-F238E27FC236}">
                  <a16:creationId xmlns:a16="http://schemas.microsoft.com/office/drawing/2014/main" id="{D728DFF6-B601-1EE8-1D77-91C7E5472ED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4" name="Line 48">
              <a:extLst>
                <a:ext uri="{FF2B5EF4-FFF2-40B4-BE49-F238E27FC236}">
                  <a16:creationId xmlns:a16="http://schemas.microsoft.com/office/drawing/2014/main" id="{F195B775-1E78-3476-C568-D874C946285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5" name="Line 50">
              <a:extLst>
                <a:ext uri="{FF2B5EF4-FFF2-40B4-BE49-F238E27FC236}">
                  <a16:creationId xmlns:a16="http://schemas.microsoft.com/office/drawing/2014/main" id="{6B34F415-8B1E-223E-2E68-F61BB34512E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3862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6" name="Line 51">
              <a:extLst>
                <a:ext uri="{FF2B5EF4-FFF2-40B4-BE49-F238E27FC236}">
                  <a16:creationId xmlns:a16="http://schemas.microsoft.com/office/drawing/2014/main" id="{BE0FAE18-FEC2-9F68-9ED9-279DC39B1E0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1" y="2986314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7" name="Line 52">
              <a:extLst>
                <a:ext uri="{FF2B5EF4-FFF2-40B4-BE49-F238E27FC236}">
                  <a16:creationId xmlns:a16="http://schemas.microsoft.com/office/drawing/2014/main" id="{04AF62D5-F860-FC0E-45B8-BC3847049AF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Line 53">
              <a:extLst>
                <a:ext uri="{FF2B5EF4-FFF2-40B4-BE49-F238E27FC236}">
                  <a16:creationId xmlns:a16="http://schemas.microsoft.com/office/drawing/2014/main" id="{86095109-F473-0EA5-3564-F99C3422BEE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Line 54">
              <a:extLst>
                <a:ext uri="{FF2B5EF4-FFF2-40B4-BE49-F238E27FC236}">
                  <a16:creationId xmlns:a16="http://schemas.microsoft.com/office/drawing/2014/main" id="{C4E54E93-7D84-7447-3688-FBE2E2941A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449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Line 55">
              <a:extLst>
                <a:ext uri="{FF2B5EF4-FFF2-40B4-BE49-F238E27FC236}">
                  <a16:creationId xmlns:a16="http://schemas.microsoft.com/office/drawing/2014/main" id="{9174438B-EAB7-0724-C292-8B6E28396BF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13067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Line 56">
              <a:extLst>
                <a:ext uri="{FF2B5EF4-FFF2-40B4-BE49-F238E27FC236}">
                  <a16:creationId xmlns:a16="http://schemas.microsoft.com/office/drawing/2014/main" id="{958E1816-919B-C30E-22EA-FD8144B0A61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Line 57">
              <a:extLst>
                <a:ext uri="{FF2B5EF4-FFF2-40B4-BE49-F238E27FC236}">
                  <a16:creationId xmlns:a16="http://schemas.microsoft.com/office/drawing/2014/main" id="{617263F2-2A2D-1D7E-7A1A-C363D26C9F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Line 58">
              <a:extLst>
                <a:ext uri="{FF2B5EF4-FFF2-40B4-BE49-F238E27FC236}">
                  <a16:creationId xmlns:a16="http://schemas.microsoft.com/office/drawing/2014/main" id="{C2B9E0BF-542A-CD35-8E57-52FE33DA9C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865563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Line 59">
              <a:extLst>
                <a:ext uri="{FF2B5EF4-FFF2-40B4-BE49-F238E27FC236}">
                  <a16:creationId xmlns:a16="http://schemas.microsoft.com/office/drawing/2014/main" id="{70CD1CFF-8307-5C2F-B86D-A68286891D9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9576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Line 60">
              <a:extLst>
                <a:ext uri="{FF2B5EF4-FFF2-40B4-BE49-F238E27FC236}">
                  <a16:creationId xmlns:a16="http://schemas.microsoft.com/office/drawing/2014/main" id="{411178A7-5BE2-8DF7-7E9B-2468C22FE3B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Line 61">
              <a:extLst>
                <a:ext uri="{FF2B5EF4-FFF2-40B4-BE49-F238E27FC236}">
                  <a16:creationId xmlns:a16="http://schemas.microsoft.com/office/drawing/2014/main" id="{41F06503-4B40-1EC7-4852-FD1C4980F12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Line 62">
              <a:extLst>
                <a:ext uri="{FF2B5EF4-FFF2-40B4-BE49-F238E27FC236}">
                  <a16:creationId xmlns:a16="http://schemas.microsoft.com/office/drawing/2014/main" id="{80783B02-D320-8079-F4F1-A9B5565B04D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68141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Line 63">
              <a:extLst>
                <a:ext uri="{FF2B5EF4-FFF2-40B4-BE49-F238E27FC236}">
                  <a16:creationId xmlns:a16="http://schemas.microsoft.com/office/drawing/2014/main" id="{BDD73A6E-4E4D-9546-CEB3-91E69FCB49C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687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Line 64">
              <a:extLst>
                <a:ext uri="{FF2B5EF4-FFF2-40B4-BE49-F238E27FC236}">
                  <a16:creationId xmlns:a16="http://schemas.microsoft.com/office/drawing/2014/main" id="{20685364-CE95-83AD-D2A5-142A3A1263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Line 65">
              <a:extLst>
                <a:ext uri="{FF2B5EF4-FFF2-40B4-BE49-F238E27FC236}">
                  <a16:creationId xmlns:a16="http://schemas.microsoft.com/office/drawing/2014/main" id="{4FB81AC1-267F-1924-C3C6-AABEF88A077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Line 66">
              <a:extLst>
                <a:ext uri="{FF2B5EF4-FFF2-40B4-BE49-F238E27FC236}">
                  <a16:creationId xmlns:a16="http://schemas.microsoft.com/office/drawing/2014/main" id="{5B1747C0-8E47-1A4F-ABE4-80D852BA8A0E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505200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Line 67">
              <a:extLst>
                <a:ext uri="{FF2B5EF4-FFF2-40B4-BE49-F238E27FC236}">
                  <a16:creationId xmlns:a16="http://schemas.microsoft.com/office/drawing/2014/main" id="{EEC25E05-DD9E-6CCE-2217-1EB20AA2B5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59568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Line 68">
              <a:extLst>
                <a:ext uri="{FF2B5EF4-FFF2-40B4-BE49-F238E27FC236}">
                  <a16:creationId xmlns:a16="http://schemas.microsoft.com/office/drawing/2014/main" id="{BA8A4E5D-C736-9ABD-B848-1A61D10BCF3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Line 69">
              <a:extLst>
                <a:ext uri="{FF2B5EF4-FFF2-40B4-BE49-F238E27FC236}">
                  <a16:creationId xmlns:a16="http://schemas.microsoft.com/office/drawing/2014/main" id="{E7A05455-21DB-C6E3-B4F7-0BA9B7B264C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Line 70">
              <a:extLst>
                <a:ext uri="{FF2B5EF4-FFF2-40B4-BE49-F238E27FC236}">
                  <a16:creationId xmlns:a16="http://schemas.microsoft.com/office/drawing/2014/main" id="{CC8347FE-226A-9DE2-4F9B-D58942514D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3194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Line 71">
              <a:extLst>
                <a:ext uri="{FF2B5EF4-FFF2-40B4-BE49-F238E27FC236}">
                  <a16:creationId xmlns:a16="http://schemas.microsoft.com/office/drawing/2014/main" id="{AC347912-1853-BA1E-7B29-CAFDD7E2BF9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408363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Line 72">
              <a:extLst>
                <a:ext uri="{FF2B5EF4-FFF2-40B4-BE49-F238E27FC236}">
                  <a16:creationId xmlns:a16="http://schemas.microsoft.com/office/drawing/2014/main" id="{F56B83D0-6409-2DB2-000E-57049889A44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Line 73">
              <a:extLst>
                <a:ext uri="{FF2B5EF4-FFF2-40B4-BE49-F238E27FC236}">
                  <a16:creationId xmlns:a16="http://schemas.microsoft.com/office/drawing/2014/main" id="{E6618C49-4D13-EFF8-F893-C4B86612A22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Line 74">
              <a:extLst>
                <a:ext uri="{FF2B5EF4-FFF2-40B4-BE49-F238E27FC236}">
                  <a16:creationId xmlns:a16="http://schemas.microsoft.com/office/drawing/2014/main" id="{9FC39DB1-FC0A-916A-171C-1BC6C019F2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140075" y="2997200"/>
              <a:ext cx="100012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Line 75">
              <a:extLst>
                <a:ext uri="{FF2B5EF4-FFF2-40B4-BE49-F238E27FC236}">
                  <a16:creationId xmlns:a16="http://schemas.microsoft.com/office/drawing/2014/main" id="{B0E698AC-40E7-385D-A740-F8189782DB2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232150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Line 76">
              <a:extLst>
                <a:ext uri="{FF2B5EF4-FFF2-40B4-BE49-F238E27FC236}">
                  <a16:creationId xmlns:a16="http://schemas.microsoft.com/office/drawing/2014/main" id="{8AD8324A-00A2-5285-E7C4-96FA54AA554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Line 77">
              <a:extLst>
                <a:ext uri="{FF2B5EF4-FFF2-40B4-BE49-F238E27FC236}">
                  <a16:creationId xmlns:a16="http://schemas.microsoft.com/office/drawing/2014/main" id="{CC2D3A22-09F8-5929-5A0B-DB7470076F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Line 78">
              <a:extLst>
                <a:ext uri="{FF2B5EF4-FFF2-40B4-BE49-F238E27FC236}">
                  <a16:creationId xmlns:a16="http://schemas.microsoft.com/office/drawing/2014/main" id="{8F545EFA-0527-A544-7E4B-A3B8E560DCF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55925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80808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Line 79">
              <a:extLst>
                <a:ext uri="{FF2B5EF4-FFF2-40B4-BE49-F238E27FC236}">
                  <a16:creationId xmlns:a16="http://schemas.microsoft.com/office/drawing/2014/main" id="{456EF5FC-23F1-AE14-DCE2-7F2A50A7548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043238" y="2997200"/>
              <a:ext cx="96837" cy="290513"/>
            </a:xfrm>
            <a:prstGeom prst="line">
              <a:avLst/>
            </a:prstGeom>
            <a:noFill/>
            <a:ln w="73025">
              <a:solidFill>
                <a:srgbClr val="B2B2B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840809BE-E155-117C-ED12-BB5972E7E5C4}"/>
              </a:ext>
            </a:extLst>
          </p:cNvPr>
          <p:cNvCxnSpPr/>
          <p:nvPr/>
        </p:nvCxnSpPr>
        <p:spPr>
          <a:xfrm>
            <a:off x="7401850" y="5656488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46B58D-7353-7F23-B59E-3EF20977B04B}"/>
              </a:ext>
            </a:extLst>
          </p:cNvPr>
          <p:cNvCxnSpPr/>
          <p:nvPr/>
        </p:nvCxnSpPr>
        <p:spPr>
          <a:xfrm>
            <a:off x="6302393" y="5634716"/>
            <a:ext cx="10886" cy="42454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7307B28-8AA7-1242-7FC0-7B6CC00D72F0}"/>
              </a:ext>
            </a:extLst>
          </p:cNvPr>
          <p:cNvCxnSpPr/>
          <p:nvPr/>
        </p:nvCxnSpPr>
        <p:spPr>
          <a:xfrm>
            <a:off x="5921395" y="4622344"/>
            <a:ext cx="859971" cy="0"/>
          </a:xfrm>
          <a:prstGeom prst="straightConnector1">
            <a:avLst/>
          </a:prstGeom>
          <a:ln w="571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AC2AC9FF-EC63-FC06-63AE-1AD5B9C1725F}"/>
              </a:ext>
            </a:extLst>
          </p:cNvPr>
          <p:cNvSpPr txBox="1"/>
          <p:nvPr/>
        </p:nvSpPr>
        <p:spPr>
          <a:xfrm>
            <a:off x="6084679" y="3958316"/>
            <a:ext cx="383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v</a:t>
            </a:r>
            <a:r>
              <a:rPr lang="en-US" sz="2400" baseline="-25000" dirty="0">
                <a:solidFill>
                  <a:srgbClr val="FF0000"/>
                </a:solidFill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30835177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038600" y="1117601"/>
            <a:ext cx="6578600" cy="4525963"/>
          </a:xfrm>
        </p:spPr>
        <p:txBody>
          <a:bodyPr>
            <a:normAutofit lnSpcReduction="10000"/>
          </a:bodyPr>
          <a:lstStyle/>
          <a:p>
            <a:r>
              <a:rPr lang="en-US" sz="2000"/>
              <a:t>We start the mass at equilibrium moving to the right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 first equation gets us close to knowing </a:t>
            </a:r>
            <a:r>
              <a:rPr lang="en-US" sz="2000">
                <a:sym typeface="Symbol" pitchFamily="18" charset="2"/>
              </a:rPr>
              <a:t></a:t>
            </a:r>
          </a:p>
          <a:p>
            <a:endParaRPr lang="en-US" sz="2000">
              <a:sym typeface="Symbol" pitchFamily="18" charset="2"/>
            </a:endParaRPr>
          </a:p>
          <a:p>
            <a:endParaRPr lang="en-US" sz="2000">
              <a:sym typeface="Symbol" pitchFamily="18" charset="2"/>
            </a:endParaRPr>
          </a:p>
          <a:p>
            <a:r>
              <a:rPr lang="en-US" sz="2000">
                <a:sym typeface="Symbol" pitchFamily="18" charset="2"/>
              </a:rPr>
              <a:t>Use the velocity equation</a:t>
            </a:r>
          </a:p>
          <a:p>
            <a:endParaRPr lang="en-US" sz="2000">
              <a:sym typeface="Symbol" pitchFamily="18" charset="2"/>
            </a:endParaRPr>
          </a:p>
          <a:p>
            <a:endParaRPr lang="en-US" sz="2000">
              <a:sym typeface="Symbol" pitchFamily="18" charset="2"/>
            </a:endParaRPr>
          </a:p>
          <a:p>
            <a:r>
              <a:rPr lang="en-US" sz="2000">
                <a:sym typeface="Symbol" pitchFamily="18" charset="2"/>
              </a:rPr>
              <a:t>We require amplitudes to be positive</a:t>
            </a:r>
          </a:p>
          <a:p>
            <a:endParaRPr lang="en-US" sz="2000">
              <a:sym typeface="Symbol" pitchFamily="18" charset="2"/>
            </a:endParaRPr>
          </a:p>
          <a:p>
            <a:r>
              <a:rPr lang="en-US" sz="2000">
                <a:sym typeface="Symbol" pitchFamily="18" charset="2"/>
              </a:rPr>
              <a:t>Solution:</a:t>
            </a:r>
          </a:p>
        </p:txBody>
      </p:sp>
      <p:sp>
        <p:nvSpPr>
          <p:cNvPr id="190470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69" name="Object 5"/>
          <p:cNvGraphicFramePr>
            <a:graphicFrameLocks noChangeAspect="1"/>
          </p:cNvGraphicFramePr>
          <p:nvPr/>
        </p:nvGraphicFramePr>
        <p:xfrm>
          <a:off x="1987550" y="2654300"/>
          <a:ext cx="69850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545760" imgH="457200" progId="Equation.3">
                  <p:embed/>
                </p:oleObj>
              </mc:Choice>
              <mc:Fallback>
                <p:oleObj name="Equation" r:id="rId2" imgW="545760" imgH="457200" progId="Equation.3">
                  <p:embed/>
                  <p:pic>
                    <p:nvPicPr>
                      <p:cNvPr id="19046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87550" y="2654300"/>
                        <a:ext cx="698500" cy="584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2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1" name="Object 7"/>
          <p:cNvGraphicFramePr>
            <a:graphicFrameLocks noChangeAspect="1"/>
          </p:cNvGraphicFramePr>
          <p:nvPr/>
        </p:nvGraphicFramePr>
        <p:xfrm>
          <a:off x="6018213" y="1579564"/>
          <a:ext cx="2036762" cy="5730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625400" imgH="457200" progId="Equation.3">
                  <p:embed/>
                </p:oleObj>
              </mc:Choice>
              <mc:Fallback>
                <p:oleObj name="Equation" r:id="rId4" imgW="1625400" imgH="457200" progId="Equation.3">
                  <p:embed/>
                  <p:pic>
                    <p:nvPicPr>
                      <p:cNvPr id="190471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018213" y="1579564"/>
                        <a:ext cx="2036762" cy="5730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4" name="Rectangle 10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3" name="Object 9"/>
          <p:cNvGraphicFramePr>
            <a:graphicFrameLocks noChangeAspect="1"/>
          </p:cNvGraphicFramePr>
          <p:nvPr/>
        </p:nvGraphicFramePr>
        <p:xfrm>
          <a:off x="5235575" y="2717800"/>
          <a:ext cx="147478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914400" imgH="228600" progId="Equation.3">
                  <p:embed/>
                </p:oleObj>
              </mc:Choice>
              <mc:Fallback>
                <p:oleObj name="Equation" r:id="rId6" imgW="914400" imgH="228600" progId="Equation.3">
                  <p:embed/>
                  <p:pic>
                    <p:nvPicPr>
                      <p:cNvPr id="1904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35575" y="2717800"/>
                        <a:ext cx="1474788" cy="3683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76" name="AutoShape 12"/>
          <p:cNvSpPr>
            <a:spLocks noChangeArrowheads="1"/>
          </p:cNvSpPr>
          <p:nvPr/>
        </p:nvSpPr>
        <p:spPr bwMode="auto">
          <a:xfrm>
            <a:off x="6883400" y="2768600"/>
            <a:ext cx="228600" cy="228600"/>
          </a:xfrm>
          <a:prstGeom prst="rightArrow">
            <a:avLst>
              <a:gd name="adj1" fmla="val 50000"/>
              <a:gd name="adj2" fmla="val 25000"/>
            </a:avLst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endParaRPr lang="en-US"/>
          </a:p>
        </p:txBody>
      </p:sp>
      <p:sp>
        <p:nvSpPr>
          <p:cNvPr id="190478" name="Rectangle 1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77" name="Object 13"/>
          <p:cNvGraphicFramePr>
            <a:graphicFrameLocks noChangeAspect="1"/>
          </p:cNvGraphicFramePr>
          <p:nvPr/>
        </p:nvGraphicFramePr>
        <p:xfrm>
          <a:off x="7307263" y="2608263"/>
          <a:ext cx="717550" cy="557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393480" progId="Equation.3">
                  <p:embed/>
                </p:oleObj>
              </mc:Choice>
              <mc:Fallback>
                <p:oleObj name="Equation" r:id="rId8" imgW="507960" imgH="393480" progId="Equation.3">
                  <p:embed/>
                  <p:pic>
                    <p:nvPicPr>
                      <p:cNvPr id="190477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07263" y="2608263"/>
                        <a:ext cx="717550" cy="5572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79" name="Object 15"/>
          <p:cNvGraphicFramePr>
            <a:graphicFrameLocks noChangeAspect="1"/>
          </p:cNvGraphicFramePr>
          <p:nvPr/>
        </p:nvGraphicFramePr>
        <p:xfrm>
          <a:off x="7789864" y="3181351"/>
          <a:ext cx="1836737" cy="989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231560" imgH="660240" progId="Equation.3">
                  <p:embed/>
                </p:oleObj>
              </mc:Choice>
              <mc:Fallback>
                <p:oleObj name="Equation" r:id="rId10" imgW="1231560" imgH="660240" progId="Equation.3">
                  <p:embed/>
                  <p:pic>
                    <p:nvPicPr>
                      <p:cNvPr id="190479" name="Object 1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864" y="3181351"/>
                        <a:ext cx="1836737" cy="9890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82" name="Rectangle 18"/>
          <p:cNvSpPr>
            <a:spLocks noChangeArrowheads="1"/>
          </p:cNvSpPr>
          <p:nvPr/>
        </p:nvSpPr>
        <p:spPr bwMode="auto">
          <a:xfrm>
            <a:off x="1524001" y="3034784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81" name="Object 17"/>
          <p:cNvGraphicFramePr>
            <a:graphicFrameLocks noChangeAspect="1"/>
          </p:cNvGraphicFramePr>
          <p:nvPr/>
        </p:nvGraphicFramePr>
        <p:xfrm>
          <a:off x="7513638" y="4703764"/>
          <a:ext cx="812800" cy="631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2" imgW="507960" imgH="393480" progId="Equation.3">
                  <p:embed/>
                </p:oleObj>
              </mc:Choice>
              <mc:Fallback>
                <p:oleObj name="Equation" r:id="rId12" imgW="507960" imgH="393480" progId="Equation.3">
                  <p:embed/>
                  <p:pic>
                    <p:nvPicPr>
                      <p:cNvPr id="190481" name="Object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3638" y="4703764"/>
                        <a:ext cx="812800" cy="631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484" name="Rectangle 20"/>
          <p:cNvSpPr>
            <a:spLocks noChangeArrowheads="1"/>
          </p:cNvSpPr>
          <p:nvPr/>
        </p:nvSpPr>
        <p:spPr bwMode="auto">
          <a:xfrm>
            <a:off x="1524001" y="3049072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90483" name="Object 19"/>
          <p:cNvGraphicFramePr>
            <a:graphicFrameLocks noChangeAspect="1"/>
          </p:cNvGraphicFramePr>
          <p:nvPr/>
        </p:nvGraphicFramePr>
        <p:xfrm>
          <a:off x="5994400" y="4745039"/>
          <a:ext cx="762000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4" imgW="583920" imgH="393480" progId="Equation.3">
                  <p:embed/>
                </p:oleObj>
              </mc:Choice>
              <mc:Fallback>
                <p:oleObj name="Equation" r:id="rId14" imgW="583920" imgH="393480" progId="Equation.3">
                  <p:embed/>
                  <p:pic>
                    <p:nvPicPr>
                      <p:cNvPr id="190483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94400" y="4745039"/>
                        <a:ext cx="762000" cy="5095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85" name="Object 21"/>
          <p:cNvGraphicFramePr>
            <a:graphicFrameLocks noChangeAspect="1"/>
          </p:cNvGraphicFramePr>
          <p:nvPr/>
        </p:nvGraphicFramePr>
        <p:xfrm>
          <a:off x="5105401" y="5664201"/>
          <a:ext cx="1704975" cy="549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1333440" imgH="431640" progId="Equation.3">
                  <p:embed/>
                </p:oleObj>
              </mc:Choice>
              <mc:Fallback>
                <p:oleObj name="Equation" r:id="rId16" imgW="1333440" imgH="431640" progId="Equation.3">
                  <p:embed/>
                  <p:pic>
                    <p:nvPicPr>
                      <p:cNvPr id="190485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5401" y="5664201"/>
                        <a:ext cx="1704975" cy="549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0487" name="Object 23"/>
          <p:cNvGraphicFramePr>
            <a:graphicFrameLocks noChangeAspect="1"/>
          </p:cNvGraphicFramePr>
          <p:nvPr/>
        </p:nvGraphicFramePr>
        <p:xfrm>
          <a:off x="7378700" y="5676901"/>
          <a:ext cx="1703388" cy="569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8" imgW="1282680" imgH="431640" progId="Equation.3">
                  <p:embed/>
                </p:oleObj>
              </mc:Choice>
              <mc:Fallback>
                <p:oleObj name="Equation" r:id="rId18" imgW="1282680" imgH="431640" progId="Equation.3">
                  <p:embed/>
                  <p:pic>
                    <p:nvPicPr>
                      <p:cNvPr id="190487" name="Object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78700" y="5676901"/>
                        <a:ext cx="1703388" cy="569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4"/>
          <p:cNvGrpSpPr>
            <a:grpSpLocks/>
          </p:cNvGrpSpPr>
          <p:nvPr/>
        </p:nvGrpSpPr>
        <p:grpSpPr bwMode="auto">
          <a:xfrm>
            <a:off x="1817689" y="1276350"/>
            <a:ext cx="1798637" cy="1162050"/>
            <a:chOff x="1029" y="1941"/>
            <a:chExt cx="1133" cy="732"/>
          </a:xfrm>
        </p:grpSpPr>
        <p:sp>
          <p:nvSpPr>
            <p:cNvPr id="190489" name="AutoShape 25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90490" name="Text Box 26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90491" name="Line 27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492" name="Line 28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29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4" name="Group 30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90495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496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33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90498" name="Line 3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499" name="Line 3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36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90501" name="Line 3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02" name="Line 3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39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90504" name="Line 4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05" name="Line 4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42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90507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08" name="Line 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45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90510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11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48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90513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14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51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90516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90517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90518" name="Line 54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519" name="Text Box 55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90520" name="Line 56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90521" name="Text Box 57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90522" name="Line 58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07511-1A9D-F97A-25C2-35D46B5A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 A particle moving along the x-axis in simple harmonic motion starts from its equilibrium position, the origin, at t=0 and moves to the right. The amplitude of its motion is 2.00cm , and the frequency is 1.50Hz .     </a:t>
            </a:r>
          </a:p>
          <a:p>
            <a:pPr marL="457200" lvl="1" indent="0">
              <a:buNone/>
            </a:pPr>
            <a:r>
              <a:rPr lang="en-US" dirty="0"/>
              <a:t>a) show that the position of the particle is given by	</a:t>
            </a:r>
          </a:p>
          <a:p>
            <a:pPr marL="457200" lvl="1" indent="0">
              <a:buNone/>
            </a:pPr>
            <a:r>
              <a:rPr lang="en-US" dirty="0"/>
              <a:t>                   x=(2.00cm )sin(3.00πt)</a:t>
            </a:r>
          </a:p>
          <a:p>
            <a:pPr marL="457200" lvl="1" indent="0">
              <a:buNone/>
            </a:pPr>
            <a:r>
              <a:rPr lang="en-US" dirty="0"/>
              <a:t>determine     </a:t>
            </a:r>
          </a:p>
          <a:p>
            <a:pPr marL="457200" lvl="1" indent="0">
              <a:buNone/>
            </a:pPr>
            <a:r>
              <a:rPr lang="en-US" dirty="0"/>
              <a:t>b) the maximum speed and the earliest time (t&gt;0) at which the particle has this speed,     </a:t>
            </a:r>
          </a:p>
          <a:p>
            <a:pPr marL="457200" lvl="1" indent="0">
              <a:buNone/>
            </a:pPr>
            <a:r>
              <a:rPr lang="en-US" dirty="0"/>
              <a:t>c) the maximum acceleration and the earliest time (t&gt;0) at which the particle has this acceleration, and     </a:t>
            </a:r>
          </a:p>
          <a:p>
            <a:pPr marL="457200" lvl="1" indent="0">
              <a:buNone/>
            </a:pPr>
            <a:r>
              <a:rPr lang="en-US" dirty="0"/>
              <a:t>d) the total distance traveled between t=0 and t=1.00s     	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4246" y="230188"/>
            <a:ext cx="3256522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703304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0513" y="2438401"/>
            <a:ext cx="7959897" cy="205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2130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C63A8-5732-B84A-DE9B-0CF9549D3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E5164-ED0F-16CE-A40A-33B976500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Using energy techniques, find the maximum velocity of the mass in terms of the Amplitude and the angular frequency.</a:t>
            </a:r>
          </a:p>
        </p:txBody>
      </p:sp>
    </p:spTree>
    <p:extLst>
      <p:ext uri="{BB962C8B-B14F-4D97-AF65-F5344CB8AC3E}">
        <p14:creationId xmlns:p14="http://schemas.microsoft.com/office/powerpoint/2010/main" val="31905946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Oval 73"/>
          <p:cNvSpPr/>
          <p:nvPr/>
        </p:nvSpPr>
        <p:spPr>
          <a:xfrm>
            <a:off x="4376057" y="3712030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/>
          <p:cNvSpPr/>
          <p:nvPr/>
        </p:nvSpPr>
        <p:spPr>
          <a:xfrm>
            <a:off x="5900057" y="4245429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Oval 75"/>
          <p:cNvSpPr/>
          <p:nvPr/>
        </p:nvSpPr>
        <p:spPr>
          <a:xfrm>
            <a:off x="7478485" y="3635830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Oval 76"/>
          <p:cNvSpPr/>
          <p:nvPr/>
        </p:nvSpPr>
        <p:spPr>
          <a:xfrm>
            <a:off x="8392885" y="2786744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3341914" y="2786744"/>
            <a:ext cx="391886" cy="40277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2917372" y="2166258"/>
            <a:ext cx="6313714" cy="2285999"/>
          </a:xfrm>
          <a:custGeom>
            <a:avLst/>
            <a:gdLst>
              <a:gd name="connsiteX0" fmla="*/ 0 w 5267325"/>
              <a:gd name="connsiteY0" fmla="*/ 0 h 2172593"/>
              <a:gd name="connsiteX1" fmla="*/ 219075 w 5267325"/>
              <a:gd name="connsiteY1" fmla="*/ 347663 h 2172593"/>
              <a:gd name="connsiteX2" fmla="*/ 438150 w 5267325"/>
              <a:gd name="connsiteY2" fmla="*/ 671513 h 2172593"/>
              <a:gd name="connsiteX3" fmla="*/ 619125 w 5267325"/>
              <a:gd name="connsiteY3" fmla="*/ 890588 h 2172593"/>
              <a:gd name="connsiteX4" fmla="*/ 771525 w 5267325"/>
              <a:gd name="connsiteY4" fmla="*/ 1085850 h 2172593"/>
              <a:gd name="connsiteX5" fmla="*/ 1004887 w 5267325"/>
              <a:gd name="connsiteY5" fmla="*/ 1338263 h 2172593"/>
              <a:gd name="connsiteX6" fmla="*/ 1281112 w 5267325"/>
              <a:gd name="connsiteY6" fmla="*/ 1600200 h 2172593"/>
              <a:gd name="connsiteX7" fmla="*/ 1509712 w 5267325"/>
              <a:gd name="connsiteY7" fmla="*/ 1781175 h 2172593"/>
              <a:gd name="connsiteX8" fmla="*/ 1781175 w 5267325"/>
              <a:gd name="connsiteY8" fmla="*/ 1943100 h 2172593"/>
              <a:gd name="connsiteX9" fmla="*/ 2133600 w 5267325"/>
              <a:gd name="connsiteY9" fmla="*/ 2100263 h 2172593"/>
              <a:gd name="connsiteX10" fmla="*/ 2443162 w 5267325"/>
              <a:gd name="connsiteY10" fmla="*/ 2162175 h 2172593"/>
              <a:gd name="connsiteX11" fmla="*/ 2643187 w 5267325"/>
              <a:gd name="connsiteY11" fmla="*/ 2171700 h 2172593"/>
              <a:gd name="connsiteX12" fmla="*/ 2933700 w 5267325"/>
              <a:gd name="connsiteY12" fmla="*/ 2152650 h 2172593"/>
              <a:gd name="connsiteX13" fmla="*/ 3186112 w 5267325"/>
              <a:gd name="connsiteY13" fmla="*/ 2071688 h 2172593"/>
              <a:gd name="connsiteX14" fmla="*/ 3495675 w 5267325"/>
              <a:gd name="connsiteY14" fmla="*/ 1943100 h 2172593"/>
              <a:gd name="connsiteX15" fmla="*/ 3810000 w 5267325"/>
              <a:gd name="connsiteY15" fmla="*/ 1743075 h 2172593"/>
              <a:gd name="connsiteX16" fmla="*/ 4105275 w 5267325"/>
              <a:gd name="connsiteY16" fmla="*/ 1490663 h 2172593"/>
              <a:gd name="connsiteX17" fmla="*/ 4348162 w 5267325"/>
              <a:gd name="connsiteY17" fmla="*/ 1247775 h 2172593"/>
              <a:gd name="connsiteX18" fmla="*/ 4614862 w 5267325"/>
              <a:gd name="connsiteY18" fmla="*/ 938213 h 2172593"/>
              <a:gd name="connsiteX19" fmla="*/ 4819650 w 5267325"/>
              <a:gd name="connsiteY19" fmla="*/ 671513 h 2172593"/>
              <a:gd name="connsiteX20" fmla="*/ 5043487 w 5267325"/>
              <a:gd name="connsiteY20" fmla="*/ 347663 h 2172593"/>
              <a:gd name="connsiteX21" fmla="*/ 5191125 w 5267325"/>
              <a:gd name="connsiteY21" fmla="*/ 104775 h 2172593"/>
              <a:gd name="connsiteX22" fmla="*/ 5267325 w 5267325"/>
              <a:gd name="connsiteY22" fmla="*/ 0 h 2172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5267325" h="2172593">
                <a:moveTo>
                  <a:pt x="0" y="0"/>
                </a:moveTo>
                <a:cubicBezTo>
                  <a:pt x="73025" y="117872"/>
                  <a:pt x="146050" y="235744"/>
                  <a:pt x="219075" y="347663"/>
                </a:cubicBezTo>
                <a:cubicBezTo>
                  <a:pt x="292100" y="459582"/>
                  <a:pt x="371475" y="581026"/>
                  <a:pt x="438150" y="671513"/>
                </a:cubicBezTo>
                <a:cubicBezTo>
                  <a:pt x="504825" y="762001"/>
                  <a:pt x="563563" y="821532"/>
                  <a:pt x="619125" y="890588"/>
                </a:cubicBezTo>
                <a:cubicBezTo>
                  <a:pt x="674688" y="959644"/>
                  <a:pt x="707231" y="1011238"/>
                  <a:pt x="771525" y="1085850"/>
                </a:cubicBezTo>
                <a:cubicBezTo>
                  <a:pt x="835819" y="1160462"/>
                  <a:pt x="919956" y="1252538"/>
                  <a:pt x="1004887" y="1338263"/>
                </a:cubicBezTo>
                <a:cubicBezTo>
                  <a:pt x="1089818" y="1423988"/>
                  <a:pt x="1196975" y="1526381"/>
                  <a:pt x="1281112" y="1600200"/>
                </a:cubicBezTo>
                <a:cubicBezTo>
                  <a:pt x="1365249" y="1674019"/>
                  <a:pt x="1426368" y="1724025"/>
                  <a:pt x="1509712" y="1781175"/>
                </a:cubicBezTo>
                <a:cubicBezTo>
                  <a:pt x="1593056" y="1838325"/>
                  <a:pt x="1677194" y="1889919"/>
                  <a:pt x="1781175" y="1943100"/>
                </a:cubicBezTo>
                <a:cubicBezTo>
                  <a:pt x="1885156" y="1996281"/>
                  <a:pt x="2023269" y="2063750"/>
                  <a:pt x="2133600" y="2100263"/>
                </a:cubicBezTo>
                <a:cubicBezTo>
                  <a:pt x="2243931" y="2136776"/>
                  <a:pt x="2358231" y="2150269"/>
                  <a:pt x="2443162" y="2162175"/>
                </a:cubicBezTo>
                <a:cubicBezTo>
                  <a:pt x="2528093" y="2174081"/>
                  <a:pt x="2561431" y="2173288"/>
                  <a:pt x="2643187" y="2171700"/>
                </a:cubicBezTo>
                <a:cubicBezTo>
                  <a:pt x="2724943" y="2170113"/>
                  <a:pt x="2843213" y="2169319"/>
                  <a:pt x="2933700" y="2152650"/>
                </a:cubicBezTo>
                <a:cubicBezTo>
                  <a:pt x="3024187" y="2135981"/>
                  <a:pt x="3092450" y="2106613"/>
                  <a:pt x="3186112" y="2071688"/>
                </a:cubicBezTo>
                <a:cubicBezTo>
                  <a:pt x="3279774" y="2036763"/>
                  <a:pt x="3391694" y="1997869"/>
                  <a:pt x="3495675" y="1943100"/>
                </a:cubicBezTo>
                <a:cubicBezTo>
                  <a:pt x="3599656" y="1888331"/>
                  <a:pt x="3708400" y="1818481"/>
                  <a:pt x="3810000" y="1743075"/>
                </a:cubicBezTo>
                <a:cubicBezTo>
                  <a:pt x="3911600" y="1667669"/>
                  <a:pt x="4015581" y="1573213"/>
                  <a:pt x="4105275" y="1490663"/>
                </a:cubicBezTo>
                <a:cubicBezTo>
                  <a:pt x="4194969" y="1408113"/>
                  <a:pt x="4263231" y="1339850"/>
                  <a:pt x="4348162" y="1247775"/>
                </a:cubicBezTo>
                <a:cubicBezTo>
                  <a:pt x="4433093" y="1155700"/>
                  <a:pt x="4536281" y="1034257"/>
                  <a:pt x="4614862" y="938213"/>
                </a:cubicBezTo>
                <a:cubicBezTo>
                  <a:pt x="4693443" y="842169"/>
                  <a:pt x="4748213" y="769938"/>
                  <a:pt x="4819650" y="671513"/>
                </a:cubicBezTo>
                <a:cubicBezTo>
                  <a:pt x="4891087" y="573088"/>
                  <a:pt x="4981574" y="442119"/>
                  <a:pt x="5043487" y="347663"/>
                </a:cubicBezTo>
                <a:cubicBezTo>
                  <a:pt x="5105400" y="253207"/>
                  <a:pt x="5153819" y="162719"/>
                  <a:pt x="5191125" y="104775"/>
                </a:cubicBezTo>
                <a:cubicBezTo>
                  <a:pt x="5228431" y="46831"/>
                  <a:pt x="5247878" y="23415"/>
                  <a:pt x="5267325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/>
          <p:cNvGrpSpPr/>
          <p:nvPr/>
        </p:nvGrpSpPr>
        <p:grpSpPr>
          <a:xfrm>
            <a:off x="1676070" y="370114"/>
            <a:ext cx="8684689" cy="4582887"/>
            <a:chOff x="162955" y="402770"/>
            <a:chExt cx="8684689" cy="4582887"/>
          </a:xfrm>
        </p:grpSpPr>
        <p:cxnSp>
          <p:nvCxnSpPr>
            <p:cNvPr id="22" name="Straight Connector 21"/>
            <p:cNvCxnSpPr/>
            <p:nvPr/>
          </p:nvCxnSpPr>
          <p:spPr>
            <a:xfrm>
              <a:off x="446314" y="4484918"/>
              <a:ext cx="821871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4060369" y="402770"/>
              <a:ext cx="268022" cy="5027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aseline="-25000" dirty="0"/>
                <a:t>s</a:t>
              </a:r>
            </a:p>
            <a:p>
              <a:endParaRPr lang="en-US" sz="2000" baseline="-2500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523516" y="4506685"/>
              <a:ext cx="3241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x</a:t>
              </a:r>
            </a:p>
          </p:txBody>
        </p:sp>
        <p:cxnSp>
          <p:nvCxnSpPr>
            <p:cNvPr id="14" name="Straight Connector 13"/>
            <p:cNvCxnSpPr/>
            <p:nvPr/>
          </p:nvCxnSpPr>
          <p:spPr>
            <a:xfrm>
              <a:off x="4561115" y="674914"/>
              <a:ext cx="10885" cy="431074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/>
            <p:cNvCxnSpPr/>
            <p:nvPr/>
          </p:nvCxnSpPr>
          <p:spPr>
            <a:xfrm>
              <a:off x="1404257" y="3004457"/>
              <a:ext cx="6270171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162955" y="2797630"/>
              <a:ext cx="1599027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Total Energy, E</a:t>
              </a:r>
            </a:p>
          </p:txBody>
        </p:sp>
      </p:grpSp>
      <p:sp>
        <p:nvSpPr>
          <p:cNvPr id="29" name="AutoShape 75"/>
          <p:cNvSpPr>
            <a:spLocks noChangeArrowheads="1"/>
          </p:cNvSpPr>
          <p:nvPr/>
        </p:nvSpPr>
        <p:spPr bwMode="auto">
          <a:xfrm>
            <a:off x="2728689" y="5174108"/>
            <a:ext cx="265113" cy="242888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30" name="Line 76"/>
          <p:cNvSpPr>
            <a:spLocks noChangeShapeType="1"/>
          </p:cNvSpPr>
          <p:nvPr/>
        </p:nvSpPr>
        <p:spPr bwMode="auto">
          <a:xfrm>
            <a:off x="2314350" y="4864545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1" name="Line 77"/>
          <p:cNvSpPr>
            <a:spLocks noChangeShapeType="1"/>
          </p:cNvSpPr>
          <p:nvPr/>
        </p:nvSpPr>
        <p:spPr bwMode="auto">
          <a:xfrm rot="5400000" flipV="1">
            <a:off x="3101750" y="4656583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38" name="Group 78"/>
          <p:cNvGrpSpPr>
            <a:grpSpLocks/>
          </p:cNvGrpSpPr>
          <p:nvPr/>
        </p:nvGrpSpPr>
        <p:grpSpPr bwMode="auto">
          <a:xfrm>
            <a:off x="2352450" y="5201096"/>
            <a:ext cx="357188" cy="150813"/>
            <a:chOff x="2248" y="1248"/>
            <a:chExt cx="648" cy="128"/>
          </a:xfrm>
        </p:grpSpPr>
        <p:grpSp>
          <p:nvGrpSpPr>
            <p:cNvPr id="39" name="Group 79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67" name="Line 8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8" name="Line 8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1" name="Group 82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65" name="Line 8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6" name="Line 8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7" name="Group 85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63" name="Line 8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8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8" name="Group 88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61" name="Line 8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9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9" name="Group 91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59" name="Line 9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9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0" name="Group 94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57" name="Line 9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9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1" name="Group 97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55" name="Line 9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9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2" name="Group 100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53" name="Line 10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10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69" name="Line 103"/>
          <p:cNvSpPr>
            <a:spLocks noChangeShapeType="1"/>
          </p:cNvSpPr>
          <p:nvPr/>
        </p:nvSpPr>
        <p:spPr bwMode="auto">
          <a:xfrm>
            <a:off x="3219225" y="5529709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0" name="Text Box 104"/>
          <p:cNvSpPr txBox="1">
            <a:spLocks noChangeArrowheads="1"/>
          </p:cNvSpPr>
          <p:nvPr/>
        </p:nvSpPr>
        <p:spPr bwMode="auto">
          <a:xfrm>
            <a:off x="3047776" y="5642421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71" name="Line 105"/>
          <p:cNvSpPr>
            <a:spLocks noChangeShapeType="1"/>
          </p:cNvSpPr>
          <p:nvPr/>
        </p:nvSpPr>
        <p:spPr bwMode="auto">
          <a:xfrm>
            <a:off x="2869975" y="5529709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72" name="Text Box 106"/>
          <p:cNvSpPr txBox="1">
            <a:spLocks noChangeArrowheads="1"/>
          </p:cNvSpPr>
          <p:nvPr/>
        </p:nvSpPr>
        <p:spPr bwMode="auto">
          <a:xfrm>
            <a:off x="2551575" y="5624728"/>
            <a:ext cx="762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 dirty="0"/>
              <a:t>-</a:t>
            </a:r>
            <a:r>
              <a:rPr lang="en-US" sz="1400" dirty="0" err="1"/>
              <a:t>x</a:t>
            </a:r>
            <a:r>
              <a:rPr lang="en-US" sz="1400" baseline="-25000" dirty="0" err="1"/>
              <a:t>max</a:t>
            </a:r>
            <a:endParaRPr lang="en-US" sz="1400" baseline="-25000" dirty="0"/>
          </a:p>
        </p:txBody>
      </p:sp>
      <p:sp>
        <p:nvSpPr>
          <p:cNvPr id="73" name="Text Box 107"/>
          <p:cNvSpPr txBox="1">
            <a:spLocks noChangeArrowheads="1"/>
          </p:cNvSpPr>
          <p:nvPr/>
        </p:nvSpPr>
        <p:spPr bwMode="auto">
          <a:xfrm>
            <a:off x="2660425" y="488200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>
                <a:solidFill>
                  <a:srgbClr val="00B050"/>
                </a:solidFill>
              </a:rPr>
              <a:t>V=0</a:t>
            </a:r>
          </a:p>
        </p:txBody>
      </p:sp>
      <p:sp>
        <p:nvSpPr>
          <p:cNvPr id="78" name="AutoShape 6"/>
          <p:cNvSpPr>
            <a:spLocks noChangeArrowheads="1"/>
          </p:cNvSpPr>
          <p:nvPr/>
        </p:nvSpPr>
        <p:spPr bwMode="auto">
          <a:xfrm>
            <a:off x="9958842" y="5390471"/>
            <a:ext cx="265113" cy="244475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79" name="Text Box 7"/>
          <p:cNvSpPr txBox="1">
            <a:spLocks noChangeArrowheads="1"/>
          </p:cNvSpPr>
          <p:nvPr/>
        </p:nvSpPr>
        <p:spPr bwMode="auto">
          <a:xfrm>
            <a:off x="9909628" y="5099959"/>
            <a:ext cx="48282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50"/>
                </a:solidFill>
              </a:rPr>
              <a:t>V=0</a:t>
            </a:r>
          </a:p>
        </p:txBody>
      </p:sp>
      <p:sp>
        <p:nvSpPr>
          <p:cNvPr id="80" name="Line 8"/>
          <p:cNvSpPr>
            <a:spLocks noChangeShapeType="1"/>
          </p:cNvSpPr>
          <p:nvPr/>
        </p:nvSpPr>
        <p:spPr bwMode="auto">
          <a:xfrm>
            <a:off x="8649153" y="5053920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81" name="Line 9"/>
          <p:cNvSpPr>
            <a:spLocks noChangeShapeType="1"/>
          </p:cNvSpPr>
          <p:nvPr/>
        </p:nvSpPr>
        <p:spPr bwMode="auto">
          <a:xfrm rot="5400000" flipV="1">
            <a:off x="9436553" y="4845957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82" name="Group 10"/>
          <p:cNvGrpSpPr>
            <a:grpSpLocks/>
          </p:cNvGrpSpPr>
          <p:nvPr/>
        </p:nvGrpSpPr>
        <p:grpSpPr bwMode="auto">
          <a:xfrm>
            <a:off x="9781041" y="5380946"/>
            <a:ext cx="160338" cy="150813"/>
            <a:chOff x="704" y="1880"/>
            <a:chExt cx="136" cy="128"/>
          </a:xfrm>
        </p:grpSpPr>
        <p:sp>
          <p:nvSpPr>
            <p:cNvPr id="83" name="Line 11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Line 12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5" name="Group 13"/>
          <p:cNvGrpSpPr>
            <a:grpSpLocks/>
          </p:cNvGrpSpPr>
          <p:nvPr/>
        </p:nvGrpSpPr>
        <p:grpSpPr bwMode="auto">
          <a:xfrm>
            <a:off x="9611178" y="5380946"/>
            <a:ext cx="160338" cy="150813"/>
            <a:chOff x="704" y="1880"/>
            <a:chExt cx="136" cy="128"/>
          </a:xfrm>
        </p:grpSpPr>
        <p:sp>
          <p:nvSpPr>
            <p:cNvPr id="86" name="Line 14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Line 15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8" name="Group 16"/>
          <p:cNvGrpSpPr>
            <a:grpSpLocks/>
          </p:cNvGrpSpPr>
          <p:nvPr/>
        </p:nvGrpSpPr>
        <p:grpSpPr bwMode="auto">
          <a:xfrm>
            <a:off x="9460366" y="5380946"/>
            <a:ext cx="160338" cy="150813"/>
            <a:chOff x="704" y="1880"/>
            <a:chExt cx="136" cy="128"/>
          </a:xfrm>
        </p:grpSpPr>
        <p:sp>
          <p:nvSpPr>
            <p:cNvPr id="89" name="Line 17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Line 18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1" name="Group 19"/>
          <p:cNvGrpSpPr>
            <a:grpSpLocks/>
          </p:cNvGrpSpPr>
          <p:nvPr/>
        </p:nvGrpSpPr>
        <p:grpSpPr bwMode="auto">
          <a:xfrm>
            <a:off x="9300028" y="5380946"/>
            <a:ext cx="160338" cy="150813"/>
            <a:chOff x="704" y="1880"/>
            <a:chExt cx="136" cy="128"/>
          </a:xfrm>
        </p:grpSpPr>
        <p:sp>
          <p:nvSpPr>
            <p:cNvPr id="92" name="Line 20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Line 21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4" name="Group 22"/>
          <p:cNvGrpSpPr>
            <a:grpSpLocks/>
          </p:cNvGrpSpPr>
          <p:nvPr/>
        </p:nvGrpSpPr>
        <p:grpSpPr bwMode="auto">
          <a:xfrm>
            <a:off x="9149216" y="5380946"/>
            <a:ext cx="160338" cy="150813"/>
            <a:chOff x="704" y="1880"/>
            <a:chExt cx="136" cy="128"/>
          </a:xfrm>
        </p:grpSpPr>
        <p:sp>
          <p:nvSpPr>
            <p:cNvPr id="95" name="Line 23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6" name="Line 24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7" name="Group 25"/>
          <p:cNvGrpSpPr>
            <a:grpSpLocks/>
          </p:cNvGrpSpPr>
          <p:nvPr/>
        </p:nvGrpSpPr>
        <p:grpSpPr bwMode="auto">
          <a:xfrm>
            <a:off x="8988878" y="5380946"/>
            <a:ext cx="160338" cy="150813"/>
            <a:chOff x="704" y="1880"/>
            <a:chExt cx="136" cy="128"/>
          </a:xfrm>
        </p:grpSpPr>
        <p:sp>
          <p:nvSpPr>
            <p:cNvPr id="98" name="Line 26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9" name="Line 27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0" name="Group 28"/>
          <p:cNvGrpSpPr>
            <a:grpSpLocks/>
          </p:cNvGrpSpPr>
          <p:nvPr/>
        </p:nvGrpSpPr>
        <p:grpSpPr bwMode="auto">
          <a:xfrm>
            <a:off x="8838066" y="5380946"/>
            <a:ext cx="160338" cy="150813"/>
            <a:chOff x="704" y="1880"/>
            <a:chExt cx="136" cy="128"/>
          </a:xfrm>
        </p:grpSpPr>
        <p:sp>
          <p:nvSpPr>
            <p:cNvPr id="101" name="Line 29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2" name="Line 30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31"/>
          <p:cNvGrpSpPr>
            <a:grpSpLocks/>
          </p:cNvGrpSpPr>
          <p:nvPr/>
        </p:nvGrpSpPr>
        <p:grpSpPr bwMode="auto">
          <a:xfrm>
            <a:off x="8677728" y="5380946"/>
            <a:ext cx="160338" cy="150813"/>
            <a:chOff x="704" y="1880"/>
            <a:chExt cx="136" cy="128"/>
          </a:xfrm>
        </p:grpSpPr>
        <p:sp>
          <p:nvSpPr>
            <p:cNvPr id="104" name="Line 32"/>
            <p:cNvSpPr>
              <a:spLocks noChangeShapeType="1"/>
            </p:cNvSpPr>
            <p:nvPr/>
          </p:nvSpPr>
          <p:spPr bwMode="auto">
            <a:xfrm flipV="1">
              <a:off x="704" y="1880"/>
              <a:ext cx="72" cy="128"/>
            </a:xfrm>
            <a:prstGeom prst="line">
              <a:avLst/>
            </a:prstGeom>
            <a:noFill/>
            <a:ln w="38100">
              <a:solidFill>
                <a:srgbClr val="808080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05" name="Line 33"/>
            <p:cNvSpPr>
              <a:spLocks noChangeShapeType="1"/>
            </p:cNvSpPr>
            <p:nvPr/>
          </p:nvSpPr>
          <p:spPr bwMode="auto">
            <a:xfrm flipH="1" flipV="1">
              <a:off x="768" y="1880"/>
              <a:ext cx="72" cy="128"/>
            </a:xfrm>
            <a:prstGeom prst="line">
              <a:avLst/>
            </a:prstGeom>
            <a:noFill/>
            <a:ln w="38100">
              <a:solidFill>
                <a:srgbClr val="B2B2B2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6" name="Line 34"/>
          <p:cNvSpPr>
            <a:spLocks noChangeShapeType="1"/>
          </p:cNvSpPr>
          <p:nvPr/>
        </p:nvSpPr>
        <p:spPr bwMode="auto">
          <a:xfrm>
            <a:off x="9554028" y="5719084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7" name="Text Box 35"/>
          <p:cNvSpPr txBox="1">
            <a:spLocks noChangeArrowheads="1"/>
          </p:cNvSpPr>
          <p:nvPr/>
        </p:nvSpPr>
        <p:spPr bwMode="auto">
          <a:xfrm>
            <a:off x="9382579" y="5806396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108" name="Line 36"/>
          <p:cNvSpPr>
            <a:spLocks noChangeShapeType="1"/>
          </p:cNvSpPr>
          <p:nvPr/>
        </p:nvSpPr>
        <p:spPr bwMode="auto">
          <a:xfrm>
            <a:off x="10082666" y="5728609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09" name="Text Box 37"/>
          <p:cNvSpPr txBox="1">
            <a:spLocks noChangeArrowheads="1"/>
          </p:cNvSpPr>
          <p:nvPr/>
        </p:nvSpPr>
        <p:spPr bwMode="auto">
          <a:xfrm>
            <a:off x="9938203" y="5796870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sp>
        <p:nvSpPr>
          <p:cNvPr id="110" name="Text Box 38"/>
          <p:cNvSpPr txBox="1">
            <a:spLocks noChangeArrowheads="1"/>
          </p:cNvSpPr>
          <p:nvPr/>
        </p:nvSpPr>
        <p:spPr bwMode="auto">
          <a:xfrm>
            <a:off x="9126991" y="5080908"/>
            <a:ext cx="27305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/>
              <a:t>k</a:t>
            </a:r>
          </a:p>
        </p:txBody>
      </p:sp>
      <p:sp>
        <p:nvSpPr>
          <p:cNvPr id="111" name="AutoShape 109"/>
          <p:cNvSpPr>
            <a:spLocks noChangeArrowheads="1"/>
          </p:cNvSpPr>
          <p:nvPr/>
        </p:nvSpPr>
        <p:spPr bwMode="auto">
          <a:xfrm>
            <a:off x="5983056" y="5311550"/>
            <a:ext cx="263525" cy="242888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112" name="Line 111"/>
          <p:cNvSpPr>
            <a:spLocks noChangeShapeType="1"/>
          </p:cNvSpPr>
          <p:nvPr/>
        </p:nvSpPr>
        <p:spPr bwMode="auto">
          <a:xfrm>
            <a:off x="5181368" y="4975000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13" name="Line 112"/>
          <p:cNvSpPr>
            <a:spLocks noChangeShapeType="1"/>
          </p:cNvSpPr>
          <p:nvPr/>
        </p:nvSpPr>
        <p:spPr bwMode="auto">
          <a:xfrm rot="5400000" flipV="1">
            <a:off x="5968768" y="4767037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114" name="Group 113"/>
          <p:cNvGrpSpPr>
            <a:grpSpLocks/>
          </p:cNvGrpSpPr>
          <p:nvPr/>
        </p:nvGrpSpPr>
        <p:grpSpPr bwMode="auto">
          <a:xfrm>
            <a:off x="5209944" y="5311551"/>
            <a:ext cx="763587" cy="149225"/>
            <a:chOff x="2248" y="1248"/>
            <a:chExt cx="648" cy="128"/>
          </a:xfrm>
        </p:grpSpPr>
        <p:grpSp>
          <p:nvGrpSpPr>
            <p:cNvPr id="115" name="Group 114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137" name="Line 11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8" name="Line 11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6" name="Group 117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135" name="Line 11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6" name="Line 11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7" name="Group 120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133" name="Line 12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4" name="Line 12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8" name="Group 123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131" name="Line 12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2" name="Line 12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19" name="Group 126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129" name="Line 12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0" name="Line 12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0" name="Group 129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127" name="Line 13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8" name="Line 13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1" name="Group 132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125" name="Line 13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6" name="Line 13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22" name="Group 135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123" name="Line 13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4" name="Line 13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39" name="Line 138"/>
          <p:cNvSpPr>
            <a:spLocks noChangeShapeType="1"/>
          </p:cNvSpPr>
          <p:nvPr/>
        </p:nvSpPr>
        <p:spPr bwMode="auto">
          <a:xfrm>
            <a:off x="6086243" y="5638576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0" name="Text Box 139"/>
          <p:cNvSpPr txBox="1">
            <a:spLocks noChangeArrowheads="1"/>
          </p:cNvSpPr>
          <p:nvPr/>
        </p:nvSpPr>
        <p:spPr bwMode="auto">
          <a:xfrm>
            <a:off x="5914794" y="5725888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141" name="Line 140"/>
          <p:cNvSpPr>
            <a:spLocks noChangeShapeType="1"/>
          </p:cNvSpPr>
          <p:nvPr/>
        </p:nvSpPr>
        <p:spPr bwMode="auto">
          <a:xfrm>
            <a:off x="6614880" y="5648101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2" name="Text Box 141"/>
          <p:cNvSpPr txBox="1">
            <a:spLocks noChangeArrowheads="1"/>
          </p:cNvSpPr>
          <p:nvPr/>
        </p:nvSpPr>
        <p:spPr bwMode="auto">
          <a:xfrm>
            <a:off x="6470419" y="5705250"/>
            <a:ext cx="490537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sp>
        <p:nvSpPr>
          <p:cNvPr id="143" name="Line 142"/>
          <p:cNvSpPr>
            <a:spLocks noChangeShapeType="1"/>
          </p:cNvSpPr>
          <p:nvPr/>
        </p:nvSpPr>
        <p:spPr bwMode="auto">
          <a:xfrm>
            <a:off x="5962647" y="5185229"/>
            <a:ext cx="454025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4" name="Text Box 110"/>
          <p:cNvSpPr txBox="1">
            <a:spLocks noChangeArrowheads="1"/>
          </p:cNvSpPr>
          <p:nvPr/>
        </p:nvSpPr>
        <p:spPr bwMode="auto">
          <a:xfrm>
            <a:off x="5895518" y="4846877"/>
            <a:ext cx="510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00B050"/>
                </a:solidFill>
              </a:rPr>
              <a:t>V</a:t>
            </a:r>
            <a:r>
              <a:rPr lang="en-US" sz="1400" baseline="-25000" dirty="0" err="1">
                <a:solidFill>
                  <a:srgbClr val="00B050"/>
                </a:solidFill>
              </a:rPr>
              <a:t>max</a:t>
            </a:r>
            <a:endParaRPr lang="en-US" sz="1400" baseline="-25000" dirty="0">
              <a:solidFill>
                <a:srgbClr val="00B050"/>
              </a:solidFill>
            </a:endParaRPr>
          </a:p>
        </p:txBody>
      </p:sp>
      <p:sp>
        <p:nvSpPr>
          <p:cNvPr id="145" name="AutoShape 75"/>
          <p:cNvSpPr>
            <a:spLocks noChangeArrowheads="1"/>
          </p:cNvSpPr>
          <p:nvPr/>
        </p:nvSpPr>
        <p:spPr bwMode="auto">
          <a:xfrm>
            <a:off x="4622796" y="1810430"/>
            <a:ext cx="265113" cy="242888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146" name="Line 76"/>
          <p:cNvSpPr>
            <a:spLocks noChangeShapeType="1"/>
          </p:cNvSpPr>
          <p:nvPr/>
        </p:nvSpPr>
        <p:spPr bwMode="auto">
          <a:xfrm>
            <a:off x="4034281" y="1500867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7" name="Line 77"/>
          <p:cNvSpPr>
            <a:spLocks noChangeShapeType="1"/>
          </p:cNvSpPr>
          <p:nvPr/>
        </p:nvSpPr>
        <p:spPr bwMode="auto">
          <a:xfrm rot="5400000" flipV="1">
            <a:off x="4821681" y="1292905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148" name="Group 78"/>
          <p:cNvGrpSpPr>
            <a:grpSpLocks/>
          </p:cNvGrpSpPr>
          <p:nvPr/>
        </p:nvGrpSpPr>
        <p:grpSpPr bwMode="auto">
          <a:xfrm>
            <a:off x="4082145" y="1850573"/>
            <a:ext cx="521597" cy="141513"/>
            <a:chOff x="2248" y="1248"/>
            <a:chExt cx="648" cy="128"/>
          </a:xfrm>
        </p:grpSpPr>
        <p:grpSp>
          <p:nvGrpSpPr>
            <p:cNvPr id="149" name="Group 79"/>
            <p:cNvGrpSpPr>
              <a:grpSpLocks/>
            </p:cNvGrpSpPr>
            <p:nvPr/>
          </p:nvGrpSpPr>
          <p:grpSpPr bwMode="auto">
            <a:xfrm>
              <a:off x="2814" y="1248"/>
              <a:ext cx="82" cy="128"/>
              <a:chOff x="704" y="1880"/>
              <a:chExt cx="136" cy="128"/>
            </a:xfrm>
          </p:grpSpPr>
          <p:sp>
            <p:nvSpPr>
              <p:cNvPr id="171" name="Line 8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2" name="Line 8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0" name="Group 82"/>
            <p:cNvGrpSpPr>
              <a:grpSpLocks/>
            </p:cNvGrpSpPr>
            <p:nvPr/>
          </p:nvGrpSpPr>
          <p:grpSpPr bwMode="auto">
            <a:xfrm>
              <a:off x="2727" y="1248"/>
              <a:ext cx="82" cy="128"/>
              <a:chOff x="704" y="1880"/>
              <a:chExt cx="136" cy="128"/>
            </a:xfrm>
          </p:grpSpPr>
          <p:sp>
            <p:nvSpPr>
              <p:cNvPr id="169" name="Line 8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0" name="Line 8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1" name="Group 150"/>
            <p:cNvGrpSpPr>
              <a:grpSpLocks/>
            </p:cNvGrpSpPr>
            <p:nvPr/>
          </p:nvGrpSpPr>
          <p:grpSpPr bwMode="auto">
            <a:xfrm>
              <a:off x="2649" y="1248"/>
              <a:ext cx="83" cy="128"/>
              <a:chOff x="704" y="1880"/>
              <a:chExt cx="136" cy="128"/>
            </a:xfrm>
          </p:grpSpPr>
          <p:sp>
            <p:nvSpPr>
              <p:cNvPr id="167" name="Line 8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8" name="Line 8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2" name="Group 88"/>
            <p:cNvGrpSpPr>
              <a:grpSpLocks/>
            </p:cNvGrpSpPr>
            <p:nvPr/>
          </p:nvGrpSpPr>
          <p:grpSpPr bwMode="auto">
            <a:xfrm>
              <a:off x="2567" y="1248"/>
              <a:ext cx="82" cy="128"/>
              <a:chOff x="704" y="1880"/>
              <a:chExt cx="136" cy="128"/>
            </a:xfrm>
          </p:grpSpPr>
          <p:sp>
            <p:nvSpPr>
              <p:cNvPr id="165" name="Line 8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6" name="Line 9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3" name="Group 91"/>
            <p:cNvGrpSpPr>
              <a:grpSpLocks/>
            </p:cNvGrpSpPr>
            <p:nvPr/>
          </p:nvGrpSpPr>
          <p:grpSpPr bwMode="auto">
            <a:xfrm>
              <a:off x="2490" y="1248"/>
              <a:ext cx="82" cy="128"/>
              <a:chOff x="704" y="1880"/>
              <a:chExt cx="136" cy="128"/>
            </a:xfrm>
          </p:grpSpPr>
          <p:sp>
            <p:nvSpPr>
              <p:cNvPr id="163" name="Line 9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4" name="Line 9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4" name="Group 94"/>
            <p:cNvGrpSpPr>
              <a:grpSpLocks/>
            </p:cNvGrpSpPr>
            <p:nvPr/>
          </p:nvGrpSpPr>
          <p:grpSpPr bwMode="auto">
            <a:xfrm>
              <a:off x="2408" y="1248"/>
              <a:ext cx="82" cy="128"/>
              <a:chOff x="704" y="1880"/>
              <a:chExt cx="136" cy="128"/>
            </a:xfrm>
          </p:grpSpPr>
          <p:sp>
            <p:nvSpPr>
              <p:cNvPr id="161" name="Line 9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2" name="Line 9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5" name="Group 97"/>
            <p:cNvGrpSpPr>
              <a:grpSpLocks/>
            </p:cNvGrpSpPr>
            <p:nvPr/>
          </p:nvGrpSpPr>
          <p:grpSpPr bwMode="auto">
            <a:xfrm>
              <a:off x="2330" y="1248"/>
              <a:ext cx="82" cy="128"/>
              <a:chOff x="704" y="1880"/>
              <a:chExt cx="136" cy="128"/>
            </a:xfrm>
          </p:grpSpPr>
          <p:sp>
            <p:nvSpPr>
              <p:cNvPr id="159" name="Line 9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60" name="Line 9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6" name="Group 100"/>
            <p:cNvGrpSpPr>
              <a:grpSpLocks/>
            </p:cNvGrpSpPr>
            <p:nvPr/>
          </p:nvGrpSpPr>
          <p:grpSpPr bwMode="auto">
            <a:xfrm>
              <a:off x="2248" y="1248"/>
              <a:ext cx="82" cy="128"/>
              <a:chOff x="704" y="1880"/>
              <a:chExt cx="136" cy="128"/>
            </a:xfrm>
          </p:grpSpPr>
          <p:sp>
            <p:nvSpPr>
              <p:cNvPr id="157" name="Line 10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" name="Line 10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173" name="Line 103"/>
          <p:cNvSpPr>
            <a:spLocks noChangeShapeType="1"/>
          </p:cNvSpPr>
          <p:nvPr/>
        </p:nvSpPr>
        <p:spPr bwMode="auto">
          <a:xfrm>
            <a:off x="4939156" y="2166031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4" name="Text Box 104"/>
          <p:cNvSpPr txBox="1">
            <a:spLocks noChangeArrowheads="1"/>
          </p:cNvSpPr>
          <p:nvPr/>
        </p:nvSpPr>
        <p:spPr bwMode="auto">
          <a:xfrm>
            <a:off x="4767707" y="2278743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175" name="Line 105"/>
          <p:cNvSpPr>
            <a:spLocks noChangeShapeType="1"/>
          </p:cNvSpPr>
          <p:nvPr/>
        </p:nvSpPr>
        <p:spPr bwMode="auto">
          <a:xfrm>
            <a:off x="4589906" y="2166031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76" name="Text Box 106"/>
          <p:cNvSpPr txBox="1">
            <a:spLocks noChangeArrowheads="1"/>
          </p:cNvSpPr>
          <p:nvPr/>
        </p:nvSpPr>
        <p:spPr bwMode="auto">
          <a:xfrm>
            <a:off x="4271506" y="2261050"/>
            <a:ext cx="762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 dirty="0"/>
              <a:t>-</a:t>
            </a:r>
            <a:r>
              <a:rPr lang="en-US" sz="1400" dirty="0" err="1"/>
              <a:t>x</a:t>
            </a:r>
            <a:r>
              <a:rPr lang="en-US" sz="1400" baseline="-25000" dirty="0" err="1"/>
              <a:t>max</a:t>
            </a:r>
            <a:endParaRPr lang="en-US" sz="1400" baseline="-25000" dirty="0"/>
          </a:p>
        </p:txBody>
      </p:sp>
      <p:sp>
        <p:nvSpPr>
          <p:cNvPr id="179" name="Line 8"/>
          <p:cNvSpPr>
            <a:spLocks noChangeShapeType="1"/>
          </p:cNvSpPr>
          <p:nvPr/>
        </p:nvSpPr>
        <p:spPr bwMode="auto">
          <a:xfrm>
            <a:off x="6733267" y="1341891"/>
            <a:ext cx="0" cy="598488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80" name="Line 9"/>
          <p:cNvSpPr>
            <a:spLocks noChangeShapeType="1"/>
          </p:cNvSpPr>
          <p:nvPr/>
        </p:nvSpPr>
        <p:spPr bwMode="auto">
          <a:xfrm rot="5400000" flipV="1">
            <a:off x="7520667" y="1133928"/>
            <a:ext cx="0" cy="1612900"/>
          </a:xfrm>
          <a:prstGeom prst="line">
            <a:avLst/>
          </a:prstGeom>
          <a:noFill/>
          <a:ln w="57150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6761843" y="1668917"/>
            <a:ext cx="999672" cy="138113"/>
            <a:chOff x="5237842" y="1668916"/>
            <a:chExt cx="1263651" cy="150813"/>
          </a:xfrm>
        </p:grpSpPr>
        <p:grpSp>
          <p:nvGrpSpPr>
            <p:cNvPr id="181" name="Group 10"/>
            <p:cNvGrpSpPr>
              <a:grpSpLocks/>
            </p:cNvGrpSpPr>
            <p:nvPr/>
          </p:nvGrpSpPr>
          <p:grpSpPr bwMode="auto">
            <a:xfrm>
              <a:off x="6341155" y="1668916"/>
              <a:ext cx="160338" cy="150813"/>
              <a:chOff x="704" y="1880"/>
              <a:chExt cx="136" cy="128"/>
            </a:xfrm>
          </p:grpSpPr>
          <p:sp>
            <p:nvSpPr>
              <p:cNvPr id="182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3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4" name="Group 13"/>
            <p:cNvGrpSpPr>
              <a:grpSpLocks/>
            </p:cNvGrpSpPr>
            <p:nvPr/>
          </p:nvGrpSpPr>
          <p:grpSpPr bwMode="auto">
            <a:xfrm>
              <a:off x="6171292" y="1668916"/>
              <a:ext cx="160338" cy="150813"/>
              <a:chOff x="704" y="1880"/>
              <a:chExt cx="136" cy="128"/>
            </a:xfrm>
          </p:grpSpPr>
          <p:sp>
            <p:nvSpPr>
              <p:cNvPr id="185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6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7" name="Group 16"/>
            <p:cNvGrpSpPr>
              <a:grpSpLocks/>
            </p:cNvGrpSpPr>
            <p:nvPr/>
          </p:nvGrpSpPr>
          <p:grpSpPr bwMode="auto">
            <a:xfrm>
              <a:off x="6020480" y="1668916"/>
              <a:ext cx="160338" cy="150813"/>
              <a:chOff x="704" y="1880"/>
              <a:chExt cx="136" cy="128"/>
            </a:xfrm>
          </p:grpSpPr>
          <p:sp>
            <p:nvSpPr>
              <p:cNvPr id="188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0" name="Group 19"/>
            <p:cNvGrpSpPr>
              <a:grpSpLocks/>
            </p:cNvGrpSpPr>
            <p:nvPr/>
          </p:nvGrpSpPr>
          <p:grpSpPr bwMode="auto">
            <a:xfrm>
              <a:off x="5860142" y="1668916"/>
              <a:ext cx="160338" cy="150813"/>
              <a:chOff x="704" y="1880"/>
              <a:chExt cx="136" cy="128"/>
            </a:xfrm>
          </p:grpSpPr>
          <p:sp>
            <p:nvSpPr>
              <p:cNvPr id="191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2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3" name="Group 22"/>
            <p:cNvGrpSpPr>
              <a:grpSpLocks/>
            </p:cNvGrpSpPr>
            <p:nvPr/>
          </p:nvGrpSpPr>
          <p:grpSpPr bwMode="auto">
            <a:xfrm>
              <a:off x="5709330" y="1668916"/>
              <a:ext cx="160338" cy="150813"/>
              <a:chOff x="704" y="1880"/>
              <a:chExt cx="136" cy="128"/>
            </a:xfrm>
          </p:grpSpPr>
          <p:sp>
            <p:nvSpPr>
              <p:cNvPr id="194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5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6" name="Group 25"/>
            <p:cNvGrpSpPr>
              <a:grpSpLocks/>
            </p:cNvGrpSpPr>
            <p:nvPr/>
          </p:nvGrpSpPr>
          <p:grpSpPr bwMode="auto">
            <a:xfrm>
              <a:off x="5548992" y="1668916"/>
              <a:ext cx="160338" cy="150813"/>
              <a:chOff x="704" y="1880"/>
              <a:chExt cx="136" cy="128"/>
            </a:xfrm>
          </p:grpSpPr>
          <p:sp>
            <p:nvSpPr>
              <p:cNvPr id="197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98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9" name="Group 28"/>
            <p:cNvGrpSpPr>
              <a:grpSpLocks/>
            </p:cNvGrpSpPr>
            <p:nvPr/>
          </p:nvGrpSpPr>
          <p:grpSpPr bwMode="auto">
            <a:xfrm>
              <a:off x="5398180" y="1668916"/>
              <a:ext cx="160338" cy="150813"/>
              <a:chOff x="704" y="1880"/>
              <a:chExt cx="136" cy="128"/>
            </a:xfrm>
          </p:grpSpPr>
          <p:sp>
            <p:nvSpPr>
              <p:cNvPr id="200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1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2" name="Group 31"/>
            <p:cNvGrpSpPr>
              <a:grpSpLocks/>
            </p:cNvGrpSpPr>
            <p:nvPr/>
          </p:nvGrpSpPr>
          <p:grpSpPr bwMode="auto">
            <a:xfrm>
              <a:off x="5237842" y="1668916"/>
              <a:ext cx="160338" cy="150813"/>
              <a:chOff x="704" y="1880"/>
              <a:chExt cx="136" cy="128"/>
            </a:xfrm>
          </p:grpSpPr>
          <p:sp>
            <p:nvSpPr>
              <p:cNvPr id="203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4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05" name="Line 34"/>
          <p:cNvSpPr>
            <a:spLocks noChangeShapeType="1"/>
          </p:cNvSpPr>
          <p:nvPr/>
        </p:nvSpPr>
        <p:spPr bwMode="auto">
          <a:xfrm>
            <a:off x="7638142" y="2007055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6" name="Text Box 35"/>
          <p:cNvSpPr txBox="1">
            <a:spLocks noChangeArrowheads="1"/>
          </p:cNvSpPr>
          <p:nvPr/>
        </p:nvSpPr>
        <p:spPr bwMode="auto">
          <a:xfrm>
            <a:off x="7466693" y="2094367"/>
            <a:ext cx="52129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x</a:t>
            </a:r>
            <a:r>
              <a:rPr lang="en-US" sz="1400" baseline="-25000" dirty="0"/>
              <a:t>0</a:t>
            </a:r>
            <a:r>
              <a:rPr lang="en-US" sz="1400" dirty="0"/>
              <a:t>=0</a:t>
            </a:r>
          </a:p>
        </p:txBody>
      </p:sp>
      <p:sp>
        <p:nvSpPr>
          <p:cNvPr id="207" name="Line 36"/>
          <p:cNvSpPr>
            <a:spLocks noChangeShapeType="1"/>
          </p:cNvSpPr>
          <p:nvPr/>
        </p:nvSpPr>
        <p:spPr bwMode="auto">
          <a:xfrm>
            <a:off x="8166780" y="2016580"/>
            <a:ext cx="0" cy="149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08" name="Text Box 37"/>
          <p:cNvSpPr txBox="1">
            <a:spLocks noChangeArrowheads="1"/>
          </p:cNvSpPr>
          <p:nvPr/>
        </p:nvSpPr>
        <p:spPr bwMode="auto">
          <a:xfrm>
            <a:off x="8022317" y="2084841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sp>
        <p:nvSpPr>
          <p:cNvPr id="209" name="Text Box 38"/>
          <p:cNvSpPr txBox="1">
            <a:spLocks noChangeArrowheads="1"/>
          </p:cNvSpPr>
          <p:nvPr/>
        </p:nvSpPr>
        <p:spPr bwMode="auto">
          <a:xfrm>
            <a:off x="7211105" y="1368879"/>
            <a:ext cx="27305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/>
              <a:t>k</a:t>
            </a:r>
          </a:p>
        </p:txBody>
      </p:sp>
      <p:sp>
        <p:nvSpPr>
          <p:cNvPr id="177" name="AutoShape 6"/>
          <p:cNvSpPr>
            <a:spLocks noChangeArrowheads="1"/>
          </p:cNvSpPr>
          <p:nvPr/>
        </p:nvSpPr>
        <p:spPr bwMode="auto">
          <a:xfrm>
            <a:off x="7759920" y="1678442"/>
            <a:ext cx="265113" cy="244475"/>
          </a:xfrm>
          <a:prstGeom prst="roundRect">
            <a:avLst>
              <a:gd name="adj" fmla="val 16667"/>
            </a:avLst>
          </a:prstGeom>
          <a:solidFill>
            <a:schemeClr val="hlink"/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m</a:t>
            </a:r>
          </a:p>
        </p:txBody>
      </p:sp>
      <p:sp>
        <p:nvSpPr>
          <p:cNvPr id="6" name="Freeform 5"/>
          <p:cNvSpPr/>
          <p:nvPr/>
        </p:nvSpPr>
        <p:spPr>
          <a:xfrm>
            <a:off x="3320144" y="3298371"/>
            <a:ext cx="463807" cy="1621972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3807" h="1621972">
                <a:moveTo>
                  <a:pt x="228600" y="0"/>
                </a:moveTo>
                <a:cubicBezTo>
                  <a:pt x="361950" y="283935"/>
                  <a:pt x="495300" y="567871"/>
                  <a:pt x="457200" y="838200"/>
                </a:cubicBezTo>
                <a:cubicBezTo>
                  <a:pt x="419100" y="1108529"/>
                  <a:pt x="209550" y="1365250"/>
                  <a:pt x="0" y="162197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Freeform 209"/>
          <p:cNvSpPr/>
          <p:nvPr/>
        </p:nvSpPr>
        <p:spPr>
          <a:xfrm flipH="1">
            <a:off x="8571906" y="3309257"/>
            <a:ext cx="506780" cy="1698172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  <a:gd name="connsiteX0" fmla="*/ 575900 w 627522"/>
              <a:gd name="connsiteY0" fmla="*/ 0 h 1698172"/>
              <a:gd name="connsiteX1" fmla="*/ 457200 w 627522"/>
              <a:gd name="connsiteY1" fmla="*/ 914400 h 1698172"/>
              <a:gd name="connsiteX2" fmla="*/ 0 w 627522"/>
              <a:gd name="connsiteY2" fmla="*/ 1698172 h 1698172"/>
              <a:gd name="connsiteX0" fmla="*/ 575900 w 577443"/>
              <a:gd name="connsiteY0" fmla="*/ 0 h 1698172"/>
              <a:gd name="connsiteX1" fmla="*/ 457200 w 577443"/>
              <a:gd name="connsiteY1" fmla="*/ 914400 h 1698172"/>
              <a:gd name="connsiteX2" fmla="*/ 0 w 577443"/>
              <a:gd name="connsiteY2" fmla="*/ 1698172 h 1698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443" h="1698172">
                <a:moveTo>
                  <a:pt x="575900" y="0"/>
                </a:moveTo>
                <a:cubicBezTo>
                  <a:pt x="585215" y="381906"/>
                  <a:pt x="553183" y="631371"/>
                  <a:pt x="457200" y="914400"/>
                </a:cubicBezTo>
                <a:cubicBezTo>
                  <a:pt x="361217" y="1197429"/>
                  <a:pt x="209550" y="1441450"/>
                  <a:pt x="0" y="169817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Freeform 210"/>
          <p:cNvSpPr/>
          <p:nvPr/>
        </p:nvSpPr>
        <p:spPr>
          <a:xfrm flipV="1">
            <a:off x="4735288" y="2677883"/>
            <a:ext cx="225415" cy="968830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  <a:gd name="connsiteX0" fmla="*/ 29825 w 457262"/>
              <a:gd name="connsiteY0" fmla="*/ 0 h 1569082"/>
              <a:gd name="connsiteX1" fmla="*/ 457200 w 457262"/>
              <a:gd name="connsiteY1" fmla="*/ 785310 h 1569082"/>
              <a:gd name="connsiteX2" fmla="*/ 0 w 457262"/>
              <a:gd name="connsiteY2" fmla="*/ 1569082 h 1569082"/>
              <a:gd name="connsiteX0" fmla="*/ 29825 w 457345"/>
              <a:gd name="connsiteY0" fmla="*/ 0 h 1569082"/>
              <a:gd name="connsiteX1" fmla="*/ 457200 w 457345"/>
              <a:gd name="connsiteY1" fmla="*/ 785310 h 1569082"/>
              <a:gd name="connsiteX2" fmla="*/ 0 w 457345"/>
              <a:gd name="connsiteY2" fmla="*/ 1569082 h 1569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7345" h="1569082">
                <a:moveTo>
                  <a:pt x="29825" y="0"/>
                </a:moveTo>
                <a:cubicBezTo>
                  <a:pt x="339864" y="213415"/>
                  <a:pt x="462171" y="523796"/>
                  <a:pt x="457200" y="785310"/>
                </a:cubicBezTo>
                <a:cubicBezTo>
                  <a:pt x="452229" y="1046824"/>
                  <a:pt x="209550" y="1312360"/>
                  <a:pt x="0" y="1569082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Freeform 211"/>
          <p:cNvSpPr/>
          <p:nvPr/>
        </p:nvSpPr>
        <p:spPr>
          <a:xfrm flipH="1" flipV="1">
            <a:off x="7145505" y="2394857"/>
            <a:ext cx="311207" cy="1197429"/>
          </a:xfrm>
          <a:custGeom>
            <a:avLst/>
            <a:gdLst>
              <a:gd name="connsiteX0" fmla="*/ 228600 w 463807"/>
              <a:gd name="connsiteY0" fmla="*/ 0 h 1621972"/>
              <a:gd name="connsiteX1" fmla="*/ 457200 w 463807"/>
              <a:gd name="connsiteY1" fmla="*/ 838200 h 1621972"/>
              <a:gd name="connsiteX2" fmla="*/ 0 w 463807"/>
              <a:gd name="connsiteY2" fmla="*/ 1621972 h 1621972"/>
              <a:gd name="connsiteX0" fmla="*/ 20685 w 457228"/>
              <a:gd name="connsiteY0" fmla="*/ 0 h 1732203"/>
              <a:gd name="connsiteX1" fmla="*/ 457200 w 457228"/>
              <a:gd name="connsiteY1" fmla="*/ 948431 h 1732203"/>
              <a:gd name="connsiteX2" fmla="*/ 0 w 457228"/>
              <a:gd name="connsiteY2" fmla="*/ 1732203 h 1732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57228" h="1732203">
                <a:moveTo>
                  <a:pt x="20685" y="0"/>
                </a:moveTo>
                <a:cubicBezTo>
                  <a:pt x="154035" y="283935"/>
                  <a:pt x="460647" y="659731"/>
                  <a:pt x="457200" y="948431"/>
                </a:cubicBezTo>
                <a:cubicBezTo>
                  <a:pt x="453753" y="1237131"/>
                  <a:pt x="209550" y="1475481"/>
                  <a:pt x="0" y="1732203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515277A-7CEB-425A-B324-68123CA10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680" y="510540"/>
            <a:ext cx="8930640" cy="5836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5301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9A75D573-8311-4FC4-906B-D6CB51AAA94C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2969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123.2.1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609600" indent="-609600">
              <a:buNone/>
            </a:pPr>
            <a:r>
              <a:rPr lang="en-US" dirty="0"/>
              <a:t>A mass-spring system is experiencing SHM. At a time, t, it has its maximum value of kinetic energy. At t, its potential energy due to the spring is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Positive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Zero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Negative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Positive but decreasing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Negative but increasing</a:t>
            </a:r>
          </a:p>
          <a:p>
            <a:pPr marL="609600" indent="-609600">
              <a:buNone/>
            </a:pPr>
            <a:endParaRPr lang="en-US" dirty="0"/>
          </a:p>
        </p:txBody>
      </p:sp>
      <p:grpSp>
        <p:nvGrpSpPr>
          <p:cNvPr id="29701" name="Group 4"/>
          <p:cNvGrpSpPr>
            <a:grpSpLocks/>
          </p:cNvGrpSpPr>
          <p:nvPr/>
        </p:nvGrpSpPr>
        <p:grpSpPr bwMode="auto">
          <a:xfrm>
            <a:off x="7923214" y="4192589"/>
            <a:ext cx="1887537" cy="1042987"/>
            <a:chOff x="3801" y="2151"/>
            <a:chExt cx="1189" cy="657"/>
          </a:xfrm>
        </p:grpSpPr>
        <p:sp>
          <p:nvSpPr>
            <p:cNvPr id="29702" name="AutoShape 5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9703" name="Line 6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4" name="Line 7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29705" name="Group 8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29710" name="Group 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9732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33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1" name="Group 1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9730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31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2" name="Group 1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9728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9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3" name="Group 1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9726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7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4" name="Group 2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9724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5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5" name="Group 2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9722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3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6" name="Group 2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9720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21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717" name="Group 3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9718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9719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9706" name="Line 33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7" name="Text Box 34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9708" name="Line 35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709" name="Text Box 36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8429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7B586B88-186B-4634-8419-2BBCE8D413F8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123.2.2</a:t>
            </a:r>
          </a:p>
        </p:txBody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/>
              <a:t>The amplitude of a SHO doubles, its total mechanical energy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Quadruples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Decreases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Doubles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Varies as a function of time</a:t>
            </a:r>
          </a:p>
          <a:p>
            <a:pPr marL="609600" indent="-609600">
              <a:buFontTx/>
              <a:buAutoNum type="alphaLcParenR"/>
            </a:pPr>
            <a:r>
              <a:rPr lang="en-US"/>
              <a:t>Insufficient information to tell</a:t>
            </a:r>
          </a:p>
        </p:txBody>
      </p:sp>
    </p:spTree>
    <p:extLst>
      <p:ext uri="{BB962C8B-B14F-4D97-AF65-F5344CB8AC3E}">
        <p14:creationId xmlns:p14="http://schemas.microsoft.com/office/powerpoint/2010/main" val="24288253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1F902C7-A832-4827-AADD-22A049FE1F89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31747" name="Rectangle 2"/>
          <p:cNvSpPr>
            <a:spLocks noGrp="1" noChangeArrowheads="1"/>
          </p:cNvSpPr>
          <p:nvPr>
            <p:ph type="title"/>
          </p:nvPr>
        </p:nvSpPr>
        <p:spPr>
          <a:xfrm>
            <a:off x="2616200" y="0"/>
            <a:ext cx="6477000" cy="1143000"/>
          </a:xfrm>
        </p:spPr>
        <p:txBody>
          <a:bodyPr/>
          <a:lstStyle/>
          <a:p>
            <a:pPr eaLnBrk="1" hangingPunct="1"/>
            <a:r>
              <a:rPr lang="en-US"/>
              <a:t>Question 123.2.3</a:t>
            </a:r>
          </a:p>
        </p:txBody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dirty="0"/>
              <a:t>The spring of a spring-mass SHM system has a spring constant of k. If I replace the spring with a new one that has a spring constant of k/2 but leave everything else the same,  the total mechanical energy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Quadruples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Doubles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Is half the original value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Insufficient information to tell</a:t>
            </a:r>
          </a:p>
        </p:txBody>
      </p:sp>
    </p:spTree>
    <p:extLst>
      <p:ext uri="{BB962C8B-B14F-4D97-AF65-F5344CB8AC3E}">
        <p14:creationId xmlns:p14="http://schemas.microsoft.com/office/powerpoint/2010/main" val="40738553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 123.2.4</a:t>
            </a:r>
          </a:p>
        </p:txBody>
      </p:sp>
      <p:sp>
        <p:nvSpPr>
          <p:cNvPr id="3277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dirty="0"/>
              <a:t>I have an ideal SHO oscillating with a maximum Kinetic energy of 5J. If there is no damping (no frictional forces), then how much total mechanical energy will I have five minutes from now?</a:t>
            </a:r>
          </a:p>
          <a:p>
            <a:pPr>
              <a:buFontTx/>
              <a:buAutoNum type="alphaLcParenR"/>
            </a:pPr>
            <a:r>
              <a:rPr lang="en-US" dirty="0"/>
              <a:t> 5J</a:t>
            </a:r>
          </a:p>
          <a:p>
            <a:pPr>
              <a:buFontTx/>
              <a:buAutoNum type="alphaLcParenR"/>
            </a:pPr>
            <a:r>
              <a:rPr lang="en-US" dirty="0"/>
              <a:t> 4J</a:t>
            </a:r>
          </a:p>
          <a:p>
            <a:pPr>
              <a:buFontTx/>
              <a:buAutoNum type="alphaLcParenR"/>
            </a:pPr>
            <a:r>
              <a:rPr lang="en-US" dirty="0"/>
              <a:t> 2.567J</a:t>
            </a:r>
          </a:p>
          <a:p>
            <a:pPr>
              <a:buFontTx/>
              <a:buAutoNum type="alphaLcParenR"/>
            </a:pPr>
            <a:r>
              <a:rPr lang="en-US" dirty="0"/>
              <a:t> 0J</a:t>
            </a:r>
          </a:p>
        </p:txBody>
      </p:sp>
      <p:sp>
        <p:nvSpPr>
          <p:cNvPr id="32772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E3AD2CC5-754C-4DDE-BFA8-FD39BACEF6AE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32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20EECFF4-6547-4415-942E-8F51E943D1B1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123.2.5</a:t>
            </a:r>
          </a:p>
        </p:txBody>
      </p:sp>
      <p:sp>
        <p:nvSpPr>
          <p:cNvPr id="3379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dirty="0"/>
              <a:t>What is the restoring force in a mass-spring system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F=ma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F=-k(x-</a:t>
            </a:r>
            <a:r>
              <a:rPr lang="en-US" dirty="0" err="1"/>
              <a:t>x</a:t>
            </a:r>
            <a:r>
              <a:rPr lang="en-US" baseline="-25000" dirty="0" err="1"/>
              <a:t>e</a:t>
            </a:r>
            <a:r>
              <a:rPr lang="en-US" dirty="0"/>
              <a:t>)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</a:t>
            </a:r>
            <a:r>
              <a:rPr lang="en-US" dirty="0">
                <a:sym typeface="Symbol" pitchFamily="18" charset="2"/>
              </a:rPr>
              <a:t>F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F=-mg</a:t>
            </a:r>
          </a:p>
        </p:txBody>
      </p:sp>
    </p:spTree>
    <p:extLst>
      <p:ext uri="{BB962C8B-B14F-4D97-AF65-F5344CB8AC3E}">
        <p14:creationId xmlns:p14="http://schemas.microsoft.com/office/powerpoint/2010/main" val="380029432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0A1B504B-BF09-4930-87B6-CAC71AA782B7}" type="slidenum">
              <a:rPr lang="en-US" smtClean="0"/>
              <a:pPr/>
              <a:t>34</a:t>
            </a:fld>
            <a:endParaRPr lang="en-US"/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123.2.7</a:t>
            </a:r>
          </a:p>
        </p:txBody>
      </p:sp>
      <p:sp>
        <p:nvSpPr>
          <p:cNvPr id="42086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33400" indent="-533400">
              <a:buNone/>
              <a:defRPr/>
            </a:pPr>
            <a:r>
              <a:rPr lang="en-US" dirty="0"/>
              <a:t>A mass on a spring in SHM has amplitude A and period T.   At what point in the motion is v = 0 and a = 0 simultaneously?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= </a:t>
            </a:r>
            <a:r>
              <a:rPr lang="en-US" b="1" i="1" dirty="0">
                <a:solidFill>
                  <a:schemeClr val="tx2"/>
                </a:solidFill>
              </a:rPr>
              <a:t>A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&gt; 0 but </a:t>
            </a: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&lt; </a:t>
            </a:r>
            <a:r>
              <a:rPr lang="en-US" b="1" i="1" dirty="0">
                <a:solidFill>
                  <a:schemeClr val="tx2"/>
                </a:solidFill>
              </a:rPr>
              <a:t>A</a:t>
            </a:r>
            <a:r>
              <a:rPr lang="en-US" b="1" dirty="0">
                <a:solidFill>
                  <a:schemeClr val="tx2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 </a:t>
            </a:r>
            <a:endParaRPr lang="en-US" b="1" dirty="0">
              <a:solidFill>
                <a:schemeClr val="tx2"/>
              </a:solidFill>
            </a:endParaRP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= 0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i="1" dirty="0">
                <a:solidFill>
                  <a:schemeClr val="tx2"/>
                </a:solidFill>
              </a:rPr>
              <a:t>x</a:t>
            </a:r>
            <a:r>
              <a:rPr lang="en-US" b="1" dirty="0">
                <a:solidFill>
                  <a:schemeClr val="tx2"/>
                </a:solidFill>
              </a:rPr>
              <a:t> &lt; 0 </a:t>
            </a:r>
          </a:p>
          <a:p>
            <a:pPr marL="533400" indent="-533400">
              <a:lnSpc>
                <a:spcPct val="130000"/>
              </a:lnSpc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none of the above</a:t>
            </a:r>
            <a:r>
              <a:rPr lang="en-US" sz="3100" b="1" dirty="0">
                <a:solidFill>
                  <a:schemeClr val="tx2"/>
                </a:solidFill>
              </a:rPr>
              <a:t> </a:t>
            </a:r>
            <a:endParaRPr lang="en-US" sz="3100" b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533400" indent="-533400">
              <a:buNone/>
              <a:defRPr/>
            </a:pPr>
            <a:endParaRPr lang="en-US" dirty="0"/>
          </a:p>
          <a:p>
            <a:pPr marL="533400" indent="-533400"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84898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8C253C7D-C177-4CBA-8EAD-75BEA321149A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368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123.2.8</a:t>
            </a:r>
          </a:p>
        </p:txBody>
      </p:sp>
      <p:sp>
        <p:nvSpPr>
          <p:cNvPr id="42189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marL="533400" indent="-533400">
              <a:buNone/>
              <a:defRPr/>
            </a:pPr>
            <a:r>
              <a:rPr lang="en-US" sz="2400" dirty="0"/>
              <a:t>A spring can be stretched a distance of 60 cm with an applied force of 1 N.  If an identical spring is connected in parallel with the first spring, and both are pulled together, how much force will be required to stretch this parallel combination a distance of 60 cm? </a:t>
            </a:r>
          </a:p>
          <a:p>
            <a:pPr marL="533400" indent="-533400">
              <a:buFont typeface="Wingdings" pitchFamily="2" charset="2"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</a:t>
            </a:r>
            <a:r>
              <a:rPr lang="en-US" b="1" dirty="0">
                <a:solidFill>
                  <a:schemeClr val="tx2"/>
                </a:solidFill>
                <a:cs typeface="Arial" charset="0"/>
              </a:rPr>
              <a:t>1/4 </a:t>
            </a:r>
            <a:r>
              <a:rPr lang="en-US" b="1" i="1" dirty="0">
                <a:solidFill>
                  <a:schemeClr val="tx2"/>
                </a:solidFill>
                <a:cs typeface="Arial" charset="0"/>
              </a:rPr>
              <a:t>N</a:t>
            </a:r>
            <a:endParaRPr lang="en-US" b="1" i="1" dirty="0">
              <a:solidFill>
                <a:schemeClr val="tx2"/>
              </a:solidFill>
            </a:endParaRP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</a:t>
            </a:r>
            <a:r>
              <a:rPr lang="en-US" b="1" dirty="0">
                <a:solidFill>
                  <a:schemeClr val="tx2"/>
                </a:solidFill>
                <a:cs typeface="Arial" charset="0"/>
              </a:rPr>
              <a:t>1/2 </a:t>
            </a:r>
            <a:r>
              <a:rPr lang="en-US" b="1" i="1" dirty="0">
                <a:solidFill>
                  <a:schemeClr val="tx2"/>
                </a:solidFill>
                <a:cs typeface="Arial" charset="0"/>
              </a:rPr>
              <a:t>N</a:t>
            </a:r>
            <a:endParaRPr lang="en-US" b="1" i="1" dirty="0">
              <a:solidFill>
                <a:schemeClr val="tx2"/>
              </a:solidFill>
            </a:endParaRP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1 </a:t>
            </a:r>
            <a:r>
              <a:rPr lang="en-US" b="1" i="1" dirty="0">
                <a:solidFill>
                  <a:schemeClr val="tx2"/>
                </a:solidFill>
              </a:rPr>
              <a:t>N</a:t>
            </a: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2 </a:t>
            </a:r>
            <a:r>
              <a:rPr lang="en-US" b="1" i="1" dirty="0">
                <a:solidFill>
                  <a:schemeClr val="tx2"/>
                </a:solidFill>
              </a:rPr>
              <a:t>N</a:t>
            </a:r>
          </a:p>
          <a:p>
            <a:pPr marL="533400" indent="-533400">
              <a:buFontTx/>
              <a:buAutoNum type="alphaLcParenR"/>
              <a:defRPr/>
            </a:pPr>
            <a:r>
              <a:rPr lang="en-US" b="1" dirty="0">
                <a:solidFill>
                  <a:schemeClr val="tx2"/>
                </a:solidFill>
              </a:rPr>
              <a:t>	4 </a:t>
            </a:r>
            <a:r>
              <a:rPr lang="en-US" b="1" i="1" dirty="0">
                <a:solidFill>
                  <a:schemeClr val="tx2"/>
                </a:solidFill>
              </a:rPr>
              <a:t>N</a:t>
            </a:r>
            <a:endParaRPr lang="en-US" i="1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marL="533400" indent="-533400">
              <a:buNone/>
              <a:defRPr/>
            </a:pPr>
            <a:endParaRPr lang="en-US" sz="2400" dirty="0"/>
          </a:p>
          <a:p>
            <a:pPr marL="533400" indent="-533400">
              <a:buNone/>
              <a:defRPr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0816796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A2B77287-43AF-4366-922E-104F2A263D62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123.2.9</a:t>
            </a:r>
          </a:p>
        </p:txBody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5210175" cy="4525963"/>
          </a:xfrm>
        </p:spPr>
        <p:txBody>
          <a:bodyPr/>
          <a:lstStyle/>
          <a:p>
            <a:pPr marL="533400" indent="-533400">
              <a:buNone/>
            </a:pPr>
            <a:r>
              <a:rPr lang="en-US" sz="2400" dirty="0"/>
              <a:t>A hole is drilled through the center of Earth and emerges on the other side.  You jump into the hole.  What happens to you?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fall to the center and stop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go all the way through and continue off into space 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fall to the other side of Earth and then return</a:t>
            </a:r>
          </a:p>
          <a:p>
            <a:pPr marL="533400" indent="-533400">
              <a:buFontTx/>
              <a:buAutoNum type="alphaLcParenR"/>
            </a:pPr>
            <a:r>
              <a:rPr lang="en-US" sz="2400" dirty="0"/>
              <a:t>you won’t fall at all</a:t>
            </a:r>
          </a:p>
          <a:p>
            <a:pPr marL="533400" indent="-533400"/>
            <a:endParaRPr lang="en-US" sz="2400" dirty="0"/>
          </a:p>
        </p:txBody>
      </p:sp>
      <p:grpSp>
        <p:nvGrpSpPr>
          <p:cNvPr id="37894" name="Group 5"/>
          <p:cNvGrpSpPr>
            <a:grpSpLocks/>
          </p:cNvGrpSpPr>
          <p:nvPr/>
        </p:nvGrpSpPr>
        <p:grpSpPr bwMode="auto">
          <a:xfrm>
            <a:off x="7874001" y="2443360"/>
            <a:ext cx="2487613" cy="2201499"/>
            <a:chOff x="4902" y="2609"/>
            <a:chExt cx="422" cy="422"/>
          </a:xfrm>
        </p:grpSpPr>
        <p:sp>
          <p:nvSpPr>
            <p:cNvPr id="37907" name="Oval 6"/>
            <p:cNvSpPr>
              <a:spLocks noChangeArrowheads="1"/>
            </p:cNvSpPr>
            <p:nvPr/>
          </p:nvSpPr>
          <p:spPr bwMode="auto">
            <a:xfrm>
              <a:off x="4902" y="2609"/>
              <a:ext cx="422" cy="422"/>
            </a:xfrm>
            <a:prstGeom prst="ellipse">
              <a:avLst/>
            </a:prstGeom>
            <a:solidFill>
              <a:schemeClr val="accent1"/>
            </a:solidFill>
            <a:ln w="9525">
              <a:noFill/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908" name="Freeform 7"/>
            <p:cNvSpPr>
              <a:spLocks/>
            </p:cNvSpPr>
            <p:nvPr/>
          </p:nvSpPr>
          <p:spPr bwMode="auto">
            <a:xfrm>
              <a:off x="4931" y="2664"/>
              <a:ext cx="380" cy="331"/>
            </a:xfrm>
            <a:custGeom>
              <a:avLst/>
              <a:gdLst>
                <a:gd name="T0" fmla="*/ 1 w 630"/>
                <a:gd name="T1" fmla="*/ 1 h 553"/>
                <a:gd name="T2" fmla="*/ 1 w 630"/>
                <a:gd name="T3" fmla="*/ 1 h 553"/>
                <a:gd name="T4" fmla="*/ 1 w 630"/>
                <a:gd name="T5" fmla="*/ 1 h 553"/>
                <a:gd name="T6" fmla="*/ 1 w 630"/>
                <a:gd name="T7" fmla="*/ 1 h 553"/>
                <a:gd name="T8" fmla="*/ 1 w 630"/>
                <a:gd name="T9" fmla="*/ 1 h 553"/>
                <a:gd name="T10" fmla="*/ 1 w 630"/>
                <a:gd name="T11" fmla="*/ 1 h 553"/>
                <a:gd name="T12" fmla="*/ 1 w 630"/>
                <a:gd name="T13" fmla="*/ 1 h 553"/>
                <a:gd name="T14" fmla="*/ 1 w 630"/>
                <a:gd name="T15" fmla="*/ 1 h 553"/>
                <a:gd name="T16" fmla="*/ 1 w 630"/>
                <a:gd name="T17" fmla="*/ 1 h 553"/>
                <a:gd name="T18" fmla="*/ 1 w 630"/>
                <a:gd name="T19" fmla="*/ 1 h 553"/>
                <a:gd name="T20" fmla="*/ 1 w 630"/>
                <a:gd name="T21" fmla="*/ 1 h 553"/>
                <a:gd name="T22" fmla="*/ 1 w 630"/>
                <a:gd name="T23" fmla="*/ 1 h 553"/>
                <a:gd name="T24" fmla="*/ 1 w 630"/>
                <a:gd name="T25" fmla="*/ 1 h 553"/>
                <a:gd name="T26" fmla="*/ 1 w 630"/>
                <a:gd name="T27" fmla="*/ 1 h 553"/>
                <a:gd name="T28" fmla="*/ 1 w 630"/>
                <a:gd name="T29" fmla="*/ 1 h 553"/>
                <a:gd name="T30" fmla="*/ 1 w 630"/>
                <a:gd name="T31" fmla="*/ 1 h 553"/>
                <a:gd name="T32" fmla="*/ 1 w 630"/>
                <a:gd name="T33" fmla="*/ 1 h 553"/>
                <a:gd name="T34" fmla="*/ 1 w 630"/>
                <a:gd name="T35" fmla="*/ 1 h 553"/>
                <a:gd name="T36" fmla="*/ 1 w 630"/>
                <a:gd name="T37" fmla="*/ 1 h 553"/>
                <a:gd name="T38" fmla="*/ 1 w 630"/>
                <a:gd name="T39" fmla="*/ 1 h 553"/>
                <a:gd name="T40" fmla="*/ 1 w 630"/>
                <a:gd name="T41" fmla="*/ 1 h 553"/>
                <a:gd name="T42" fmla="*/ 1 w 630"/>
                <a:gd name="T43" fmla="*/ 1 h 553"/>
                <a:gd name="T44" fmla="*/ 1 w 630"/>
                <a:gd name="T45" fmla="*/ 1 h 553"/>
                <a:gd name="T46" fmla="*/ 1 w 630"/>
                <a:gd name="T47" fmla="*/ 1 h 553"/>
                <a:gd name="T48" fmla="*/ 1 w 630"/>
                <a:gd name="T49" fmla="*/ 1 h 553"/>
                <a:gd name="T50" fmla="*/ 1 w 630"/>
                <a:gd name="T51" fmla="*/ 1 h 553"/>
                <a:gd name="T52" fmla="*/ 1 w 630"/>
                <a:gd name="T53" fmla="*/ 1 h 553"/>
                <a:gd name="T54" fmla="*/ 1 w 630"/>
                <a:gd name="T55" fmla="*/ 1 h 553"/>
                <a:gd name="T56" fmla="*/ 1 w 630"/>
                <a:gd name="T57" fmla="*/ 1 h 553"/>
                <a:gd name="T58" fmla="*/ 1 w 630"/>
                <a:gd name="T59" fmla="*/ 1 h 553"/>
                <a:gd name="T60" fmla="*/ 1 w 630"/>
                <a:gd name="T61" fmla="*/ 1 h 553"/>
                <a:gd name="T62" fmla="*/ 1 w 630"/>
                <a:gd name="T63" fmla="*/ 1 h 553"/>
                <a:gd name="T64" fmla="*/ 1 w 630"/>
                <a:gd name="T65" fmla="*/ 1 h 553"/>
                <a:gd name="T66" fmla="*/ 1 w 630"/>
                <a:gd name="T67" fmla="*/ 1 h 553"/>
                <a:gd name="T68" fmla="*/ 1 w 630"/>
                <a:gd name="T69" fmla="*/ 1 h 553"/>
                <a:gd name="T70" fmla="*/ 1 w 630"/>
                <a:gd name="T71" fmla="*/ 1 h 553"/>
                <a:gd name="T72" fmla="*/ 1 w 630"/>
                <a:gd name="T73" fmla="*/ 1 h 553"/>
                <a:gd name="T74" fmla="*/ 1 w 630"/>
                <a:gd name="T75" fmla="*/ 1 h 553"/>
                <a:gd name="T76" fmla="*/ 1 w 630"/>
                <a:gd name="T77" fmla="*/ 1 h 553"/>
                <a:gd name="T78" fmla="*/ 1 w 630"/>
                <a:gd name="T79" fmla="*/ 1 h 553"/>
                <a:gd name="T80" fmla="*/ 1 w 630"/>
                <a:gd name="T81" fmla="*/ 1 h 553"/>
                <a:gd name="T82" fmla="*/ 1 w 630"/>
                <a:gd name="T83" fmla="*/ 1 h 553"/>
                <a:gd name="T84" fmla="*/ 1 w 630"/>
                <a:gd name="T85" fmla="*/ 1 h 553"/>
                <a:gd name="T86" fmla="*/ 1 w 630"/>
                <a:gd name="T87" fmla="*/ 1 h 553"/>
                <a:gd name="T88" fmla="*/ 1 w 630"/>
                <a:gd name="T89" fmla="*/ 1 h 553"/>
                <a:gd name="T90" fmla="*/ 1 w 630"/>
                <a:gd name="T91" fmla="*/ 1 h 553"/>
                <a:gd name="T92" fmla="*/ 1 w 630"/>
                <a:gd name="T93" fmla="*/ 1 h 553"/>
                <a:gd name="T94" fmla="*/ 1 w 630"/>
                <a:gd name="T95" fmla="*/ 1 h 553"/>
                <a:gd name="T96" fmla="*/ 1 w 630"/>
                <a:gd name="T97" fmla="*/ 1 h 553"/>
                <a:gd name="T98" fmla="*/ 1 w 630"/>
                <a:gd name="T99" fmla="*/ 1 h 553"/>
                <a:gd name="T100" fmla="*/ 1 w 630"/>
                <a:gd name="T101" fmla="*/ 1 h 553"/>
                <a:gd name="T102" fmla="*/ 1 w 630"/>
                <a:gd name="T103" fmla="*/ 1 h 553"/>
                <a:gd name="T104" fmla="*/ 1 w 630"/>
                <a:gd name="T105" fmla="*/ 1 h 553"/>
                <a:gd name="T106" fmla="*/ 1 w 630"/>
                <a:gd name="T107" fmla="*/ 1 h 553"/>
                <a:gd name="T108" fmla="*/ 1 w 630"/>
                <a:gd name="T109" fmla="*/ 1 h 553"/>
                <a:gd name="T110" fmla="*/ 1 w 630"/>
                <a:gd name="T111" fmla="*/ 1 h 553"/>
                <a:gd name="T112" fmla="*/ 1 w 630"/>
                <a:gd name="T113" fmla="*/ 1 h 553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630"/>
                <a:gd name="T172" fmla="*/ 0 h 553"/>
                <a:gd name="T173" fmla="*/ 630 w 630"/>
                <a:gd name="T174" fmla="*/ 553 h 553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630" h="553">
                  <a:moveTo>
                    <a:pt x="80" y="0"/>
                  </a:moveTo>
                  <a:lnTo>
                    <a:pt x="76" y="7"/>
                  </a:lnTo>
                  <a:lnTo>
                    <a:pt x="70" y="14"/>
                  </a:lnTo>
                  <a:lnTo>
                    <a:pt x="63" y="21"/>
                  </a:lnTo>
                  <a:lnTo>
                    <a:pt x="56" y="29"/>
                  </a:lnTo>
                  <a:lnTo>
                    <a:pt x="50" y="38"/>
                  </a:lnTo>
                  <a:lnTo>
                    <a:pt x="45" y="46"/>
                  </a:lnTo>
                  <a:lnTo>
                    <a:pt x="42" y="57"/>
                  </a:lnTo>
                  <a:lnTo>
                    <a:pt x="42" y="67"/>
                  </a:lnTo>
                  <a:lnTo>
                    <a:pt x="42" y="81"/>
                  </a:lnTo>
                  <a:lnTo>
                    <a:pt x="39" y="90"/>
                  </a:lnTo>
                  <a:lnTo>
                    <a:pt x="38" y="95"/>
                  </a:lnTo>
                  <a:lnTo>
                    <a:pt x="42" y="96"/>
                  </a:lnTo>
                  <a:lnTo>
                    <a:pt x="49" y="95"/>
                  </a:lnTo>
                  <a:lnTo>
                    <a:pt x="53" y="92"/>
                  </a:lnTo>
                  <a:lnTo>
                    <a:pt x="57" y="89"/>
                  </a:lnTo>
                  <a:lnTo>
                    <a:pt x="66" y="85"/>
                  </a:lnTo>
                  <a:lnTo>
                    <a:pt x="74" y="84"/>
                  </a:lnTo>
                  <a:lnTo>
                    <a:pt x="78" y="85"/>
                  </a:lnTo>
                  <a:lnTo>
                    <a:pt x="80" y="89"/>
                  </a:lnTo>
                  <a:lnTo>
                    <a:pt x="86" y="93"/>
                  </a:lnTo>
                  <a:lnTo>
                    <a:pt x="93" y="98"/>
                  </a:lnTo>
                  <a:lnTo>
                    <a:pt x="100" y="99"/>
                  </a:lnTo>
                  <a:lnTo>
                    <a:pt x="108" y="99"/>
                  </a:lnTo>
                  <a:lnTo>
                    <a:pt x="119" y="97"/>
                  </a:lnTo>
                  <a:lnTo>
                    <a:pt x="128" y="95"/>
                  </a:lnTo>
                  <a:lnTo>
                    <a:pt x="133" y="95"/>
                  </a:lnTo>
                  <a:lnTo>
                    <a:pt x="139" y="96"/>
                  </a:lnTo>
                  <a:lnTo>
                    <a:pt x="149" y="95"/>
                  </a:lnTo>
                  <a:lnTo>
                    <a:pt x="163" y="93"/>
                  </a:lnTo>
                  <a:lnTo>
                    <a:pt x="173" y="92"/>
                  </a:lnTo>
                  <a:lnTo>
                    <a:pt x="179" y="90"/>
                  </a:lnTo>
                  <a:lnTo>
                    <a:pt x="179" y="84"/>
                  </a:lnTo>
                  <a:lnTo>
                    <a:pt x="178" y="78"/>
                  </a:lnTo>
                  <a:lnTo>
                    <a:pt x="176" y="77"/>
                  </a:lnTo>
                  <a:lnTo>
                    <a:pt x="173" y="78"/>
                  </a:lnTo>
                  <a:lnTo>
                    <a:pt x="165" y="81"/>
                  </a:lnTo>
                  <a:lnTo>
                    <a:pt x="156" y="83"/>
                  </a:lnTo>
                  <a:lnTo>
                    <a:pt x="149" y="86"/>
                  </a:lnTo>
                  <a:lnTo>
                    <a:pt x="143" y="86"/>
                  </a:lnTo>
                  <a:lnTo>
                    <a:pt x="136" y="82"/>
                  </a:lnTo>
                  <a:lnTo>
                    <a:pt x="130" y="76"/>
                  </a:lnTo>
                  <a:lnTo>
                    <a:pt x="126" y="73"/>
                  </a:lnTo>
                  <a:lnTo>
                    <a:pt x="127" y="70"/>
                  </a:lnTo>
                  <a:lnTo>
                    <a:pt x="138" y="69"/>
                  </a:lnTo>
                  <a:lnTo>
                    <a:pt x="150" y="68"/>
                  </a:lnTo>
                  <a:lnTo>
                    <a:pt x="159" y="67"/>
                  </a:lnTo>
                  <a:lnTo>
                    <a:pt x="165" y="63"/>
                  </a:lnTo>
                  <a:lnTo>
                    <a:pt x="169" y="58"/>
                  </a:lnTo>
                  <a:lnTo>
                    <a:pt x="169" y="51"/>
                  </a:lnTo>
                  <a:lnTo>
                    <a:pt x="170" y="48"/>
                  </a:lnTo>
                  <a:lnTo>
                    <a:pt x="173" y="50"/>
                  </a:lnTo>
                  <a:lnTo>
                    <a:pt x="181" y="53"/>
                  </a:lnTo>
                  <a:lnTo>
                    <a:pt x="189" y="59"/>
                  </a:lnTo>
                  <a:lnTo>
                    <a:pt x="192" y="65"/>
                  </a:lnTo>
                  <a:lnTo>
                    <a:pt x="194" y="70"/>
                  </a:lnTo>
                  <a:lnTo>
                    <a:pt x="201" y="75"/>
                  </a:lnTo>
                  <a:lnTo>
                    <a:pt x="212" y="78"/>
                  </a:lnTo>
                  <a:lnTo>
                    <a:pt x="220" y="82"/>
                  </a:lnTo>
                  <a:lnTo>
                    <a:pt x="225" y="88"/>
                  </a:lnTo>
                  <a:lnTo>
                    <a:pt x="222" y="96"/>
                  </a:lnTo>
                  <a:lnTo>
                    <a:pt x="215" y="101"/>
                  </a:lnTo>
                  <a:lnTo>
                    <a:pt x="210" y="104"/>
                  </a:lnTo>
                  <a:lnTo>
                    <a:pt x="209" y="107"/>
                  </a:lnTo>
                  <a:lnTo>
                    <a:pt x="212" y="116"/>
                  </a:lnTo>
                  <a:lnTo>
                    <a:pt x="216" y="121"/>
                  </a:lnTo>
                  <a:lnTo>
                    <a:pt x="219" y="124"/>
                  </a:lnTo>
                  <a:lnTo>
                    <a:pt x="224" y="126"/>
                  </a:lnTo>
                  <a:lnTo>
                    <a:pt x="230" y="127"/>
                  </a:lnTo>
                  <a:lnTo>
                    <a:pt x="234" y="128"/>
                  </a:lnTo>
                  <a:lnTo>
                    <a:pt x="239" y="128"/>
                  </a:lnTo>
                  <a:lnTo>
                    <a:pt x="245" y="130"/>
                  </a:lnTo>
                  <a:lnTo>
                    <a:pt x="249" y="133"/>
                  </a:lnTo>
                  <a:lnTo>
                    <a:pt x="259" y="137"/>
                  </a:lnTo>
                  <a:lnTo>
                    <a:pt x="268" y="136"/>
                  </a:lnTo>
                  <a:lnTo>
                    <a:pt x="270" y="130"/>
                  </a:lnTo>
                  <a:lnTo>
                    <a:pt x="265" y="119"/>
                  </a:lnTo>
                  <a:lnTo>
                    <a:pt x="256" y="108"/>
                  </a:lnTo>
                  <a:lnTo>
                    <a:pt x="248" y="103"/>
                  </a:lnTo>
                  <a:lnTo>
                    <a:pt x="242" y="99"/>
                  </a:lnTo>
                  <a:lnTo>
                    <a:pt x="241" y="92"/>
                  </a:lnTo>
                  <a:lnTo>
                    <a:pt x="242" y="88"/>
                  </a:lnTo>
                  <a:lnTo>
                    <a:pt x="245" y="85"/>
                  </a:lnTo>
                  <a:lnTo>
                    <a:pt x="247" y="83"/>
                  </a:lnTo>
                  <a:lnTo>
                    <a:pt x="251" y="77"/>
                  </a:lnTo>
                  <a:lnTo>
                    <a:pt x="256" y="72"/>
                  </a:lnTo>
                  <a:lnTo>
                    <a:pt x="257" y="68"/>
                  </a:lnTo>
                  <a:lnTo>
                    <a:pt x="254" y="68"/>
                  </a:lnTo>
                  <a:lnTo>
                    <a:pt x="242" y="69"/>
                  </a:lnTo>
                  <a:lnTo>
                    <a:pt x="232" y="68"/>
                  </a:lnTo>
                  <a:lnTo>
                    <a:pt x="231" y="66"/>
                  </a:lnTo>
                  <a:lnTo>
                    <a:pt x="232" y="61"/>
                  </a:lnTo>
                  <a:lnTo>
                    <a:pt x="232" y="53"/>
                  </a:lnTo>
                  <a:lnTo>
                    <a:pt x="228" y="46"/>
                  </a:lnTo>
                  <a:lnTo>
                    <a:pt x="224" y="45"/>
                  </a:lnTo>
                  <a:lnTo>
                    <a:pt x="218" y="45"/>
                  </a:lnTo>
                  <a:lnTo>
                    <a:pt x="211" y="46"/>
                  </a:lnTo>
                  <a:lnTo>
                    <a:pt x="205" y="45"/>
                  </a:lnTo>
                  <a:lnTo>
                    <a:pt x="203" y="42"/>
                  </a:lnTo>
                  <a:lnTo>
                    <a:pt x="204" y="38"/>
                  </a:lnTo>
                  <a:lnTo>
                    <a:pt x="210" y="34"/>
                  </a:lnTo>
                  <a:lnTo>
                    <a:pt x="217" y="30"/>
                  </a:lnTo>
                  <a:lnTo>
                    <a:pt x="222" y="30"/>
                  </a:lnTo>
                  <a:lnTo>
                    <a:pt x="226" y="32"/>
                  </a:lnTo>
                  <a:lnTo>
                    <a:pt x="236" y="38"/>
                  </a:lnTo>
                  <a:lnTo>
                    <a:pt x="248" y="44"/>
                  </a:lnTo>
                  <a:lnTo>
                    <a:pt x="256" y="47"/>
                  </a:lnTo>
                  <a:lnTo>
                    <a:pt x="262" y="51"/>
                  </a:lnTo>
                  <a:lnTo>
                    <a:pt x="269" y="55"/>
                  </a:lnTo>
                  <a:lnTo>
                    <a:pt x="272" y="60"/>
                  </a:lnTo>
                  <a:lnTo>
                    <a:pt x="272" y="63"/>
                  </a:lnTo>
                  <a:lnTo>
                    <a:pt x="270" y="67"/>
                  </a:lnTo>
                  <a:lnTo>
                    <a:pt x="270" y="73"/>
                  </a:lnTo>
                  <a:lnTo>
                    <a:pt x="272" y="78"/>
                  </a:lnTo>
                  <a:lnTo>
                    <a:pt x="274" y="83"/>
                  </a:lnTo>
                  <a:lnTo>
                    <a:pt x="277" y="85"/>
                  </a:lnTo>
                  <a:lnTo>
                    <a:pt x="278" y="86"/>
                  </a:lnTo>
                  <a:lnTo>
                    <a:pt x="279" y="85"/>
                  </a:lnTo>
                  <a:lnTo>
                    <a:pt x="284" y="81"/>
                  </a:lnTo>
                  <a:lnTo>
                    <a:pt x="289" y="76"/>
                  </a:lnTo>
                  <a:lnTo>
                    <a:pt x="296" y="72"/>
                  </a:lnTo>
                  <a:lnTo>
                    <a:pt x="302" y="69"/>
                  </a:lnTo>
                  <a:lnTo>
                    <a:pt x="307" y="68"/>
                  </a:lnTo>
                  <a:lnTo>
                    <a:pt x="311" y="69"/>
                  </a:lnTo>
                  <a:lnTo>
                    <a:pt x="318" y="73"/>
                  </a:lnTo>
                  <a:lnTo>
                    <a:pt x="327" y="76"/>
                  </a:lnTo>
                  <a:lnTo>
                    <a:pt x="335" y="78"/>
                  </a:lnTo>
                  <a:lnTo>
                    <a:pt x="343" y="80"/>
                  </a:lnTo>
                  <a:lnTo>
                    <a:pt x="349" y="82"/>
                  </a:lnTo>
                  <a:lnTo>
                    <a:pt x="353" y="86"/>
                  </a:lnTo>
                  <a:lnTo>
                    <a:pt x="353" y="90"/>
                  </a:lnTo>
                  <a:lnTo>
                    <a:pt x="350" y="95"/>
                  </a:lnTo>
                  <a:lnTo>
                    <a:pt x="349" y="96"/>
                  </a:lnTo>
                  <a:lnTo>
                    <a:pt x="334" y="98"/>
                  </a:lnTo>
                  <a:lnTo>
                    <a:pt x="332" y="98"/>
                  </a:lnTo>
                  <a:lnTo>
                    <a:pt x="326" y="98"/>
                  </a:lnTo>
                  <a:lnTo>
                    <a:pt x="322" y="100"/>
                  </a:lnTo>
                  <a:lnTo>
                    <a:pt x="323" y="106"/>
                  </a:lnTo>
                  <a:lnTo>
                    <a:pt x="325" y="114"/>
                  </a:lnTo>
                  <a:lnTo>
                    <a:pt x="326" y="119"/>
                  </a:lnTo>
                  <a:lnTo>
                    <a:pt x="328" y="121"/>
                  </a:lnTo>
                  <a:lnTo>
                    <a:pt x="335" y="121"/>
                  </a:lnTo>
                  <a:lnTo>
                    <a:pt x="346" y="121"/>
                  </a:lnTo>
                  <a:lnTo>
                    <a:pt x="350" y="121"/>
                  </a:lnTo>
                  <a:lnTo>
                    <a:pt x="353" y="124"/>
                  </a:lnTo>
                  <a:lnTo>
                    <a:pt x="351" y="131"/>
                  </a:lnTo>
                  <a:lnTo>
                    <a:pt x="347" y="138"/>
                  </a:lnTo>
                  <a:lnTo>
                    <a:pt x="341" y="142"/>
                  </a:lnTo>
                  <a:lnTo>
                    <a:pt x="334" y="145"/>
                  </a:lnTo>
                  <a:lnTo>
                    <a:pt x="331" y="152"/>
                  </a:lnTo>
                  <a:lnTo>
                    <a:pt x="330" y="158"/>
                  </a:lnTo>
                  <a:lnTo>
                    <a:pt x="330" y="160"/>
                  </a:lnTo>
                  <a:lnTo>
                    <a:pt x="330" y="162"/>
                  </a:lnTo>
                  <a:lnTo>
                    <a:pt x="333" y="166"/>
                  </a:lnTo>
                  <a:lnTo>
                    <a:pt x="335" y="169"/>
                  </a:lnTo>
                  <a:lnTo>
                    <a:pt x="335" y="172"/>
                  </a:lnTo>
                  <a:lnTo>
                    <a:pt x="335" y="175"/>
                  </a:lnTo>
                  <a:lnTo>
                    <a:pt x="340" y="184"/>
                  </a:lnTo>
                  <a:lnTo>
                    <a:pt x="346" y="195"/>
                  </a:lnTo>
                  <a:lnTo>
                    <a:pt x="348" y="200"/>
                  </a:lnTo>
                  <a:lnTo>
                    <a:pt x="347" y="206"/>
                  </a:lnTo>
                  <a:lnTo>
                    <a:pt x="345" y="213"/>
                  </a:lnTo>
                  <a:lnTo>
                    <a:pt x="343" y="221"/>
                  </a:lnTo>
                  <a:lnTo>
                    <a:pt x="341" y="229"/>
                  </a:lnTo>
                  <a:lnTo>
                    <a:pt x="341" y="236"/>
                  </a:lnTo>
                  <a:lnTo>
                    <a:pt x="345" y="242"/>
                  </a:lnTo>
                  <a:lnTo>
                    <a:pt x="347" y="247"/>
                  </a:lnTo>
                  <a:lnTo>
                    <a:pt x="348" y="251"/>
                  </a:lnTo>
                  <a:lnTo>
                    <a:pt x="348" y="256"/>
                  </a:lnTo>
                  <a:lnTo>
                    <a:pt x="349" y="260"/>
                  </a:lnTo>
                  <a:lnTo>
                    <a:pt x="350" y="265"/>
                  </a:lnTo>
                  <a:lnTo>
                    <a:pt x="349" y="268"/>
                  </a:lnTo>
                  <a:lnTo>
                    <a:pt x="348" y="271"/>
                  </a:lnTo>
                  <a:lnTo>
                    <a:pt x="347" y="272"/>
                  </a:lnTo>
                  <a:lnTo>
                    <a:pt x="345" y="270"/>
                  </a:lnTo>
                  <a:lnTo>
                    <a:pt x="340" y="266"/>
                  </a:lnTo>
                  <a:lnTo>
                    <a:pt x="332" y="262"/>
                  </a:lnTo>
                  <a:lnTo>
                    <a:pt x="326" y="259"/>
                  </a:lnTo>
                  <a:lnTo>
                    <a:pt x="320" y="258"/>
                  </a:lnTo>
                  <a:lnTo>
                    <a:pt x="316" y="258"/>
                  </a:lnTo>
                  <a:lnTo>
                    <a:pt x="311" y="258"/>
                  </a:lnTo>
                  <a:lnTo>
                    <a:pt x="307" y="259"/>
                  </a:lnTo>
                  <a:lnTo>
                    <a:pt x="303" y="260"/>
                  </a:lnTo>
                  <a:lnTo>
                    <a:pt x="300" y="262"/>
                  </a:lnTo>
                  <a:lnTo>
                    <a:pt x="297" y="264"/>
                  </a:lnTo>
                  <a:lnTo>
                    <a:pt x="294" y="266"/>
                  </a:lnTo>
                  <a:lnTo>
                    <a:pt x="292" y="266"/>
                  </a:lnTo>
                  <a:lnTo>
                    <a:pt x="288" y="268"/>
                  </a:lnTo>
                  <a:lnTo>
                    <a:pt x="284" y="277"/>
                  </a:lnTo>
                  <a:lnTo>
                    <a:pt x="280" y="283"/>
                  </a:lnTo>
                  <a:lnTo>
                    <a:pt x="278" y="291"/>
                  </a:lnTo>
                  <a:lnTo>
                    <a:pt x="276" y="298"/>
                  </a:lnTo>
                  <a:lnTo>
                    <a:pt x="274" y="306"/>
                  </a:lnTo>
                  <a:lnTo>
                    <a:pt x="277" y="315"/>
                  </a:lnTo>
                  <a:lnTo>
                    <a:pt x="281" y="321"/>
                  </a:lnTo>
                  <a:lnTo>
                    <a:pt x="290" y="328"/>
                  </a:lnTo>
                  <a:lnTo>
                    <a:pt x="305" y="333"/>
                  </a:lnTo>
                  <a:lnTo>
                    <a:pt x="311" y="325"/>
                  </a:lnTo>
                  <a:lnTo>
                    <a:pt x="317" y="318"/>
                  </a:lnTo>
                  <a:lnTo>
                    <a:pt x="324" y="315"/>
                  </a:lnTo>
                  <a:lnTo>
                    <a:pt x="331" y="315"/>
                  </a:lnTo>
                  <a:lnTo>
                    <a:pt x="335" y="318"/>
                  </a:lnTo>
                  <a:lnTo>
                    <a:pt x="336" y="321"/>
                  </a:lnTo>
                  <a:lnTo>
                    <a:pt x="335" y="326"/>
                  </a:lnTo>
                  <a:lnTo>
                    <a:pt x="334" y="327"/>
                  </a:lnTo>
                  <a:lnTo>
                    <a:pt x="336" y="327"/>
                  </a:lnTo>
                  <a:lnTo>
                    <a:pt x="341" y="328"/>
                  </a:lnTo>
                  <a:lnTo>
                    <a:pt x="349" y="327"/>
                  </a:lnTo>
                  <a:lnTo>
                    <a:pt x="358" y="323"/>
                  </a:lnTo>
                  <a:lnTo>
                    <a:pt x="366" y="321"/>
                  </a:lnTo>
                  <a:lnTo>
                    <a:pt x="370" y="325"/>
                  </a:lnTo>
                  <a:lnTo>
                    <a:pt x="373" y="331"/>
                  </a:lnTo>
                  <a:lnTo>
                    <a:pt x="378" y="336"/>
                  </a:lnTo>
                  <a:lnTo>
                    <a:pt x="384" y="339"/>
                  </a:lnTo>
                  <a:lnTo>
                    <a:pt x="387" y="339"/>
                  </a:lnTo>
                  <a:lnTo>
                    <a:pt x="392" y="338"/>
                  </a:lnTo>
                  <a:lnTo>
                    <a:pt x="399" y="335"/>
                  </a:lnTo>
                  <a:lnTo>
                    <a:pt x="405" y="335"/>
                  </a:lnTo>
                  <a:lnTo>
                    <a:pt x="410" y="336"/>
                  </a:lnTo>
                  <a:lnTo>
                    <a:pt x="413" y="334"/>
                  </a:lnTo>
                  <a:lnTo>
                    <a:pt x="420" y="327"/>
                  </a:lnTo>
                  <a:lnTo>
                    <a:pt x="426" y="317"/>
                  </a:lnTo>
                  <a:lnTo>
                    <a:pt x="427" y="309"/>
                  </a:lnTo>
                  <a:lnTo>
                    <a:pt x="431" y="302"/>
                  </a:lnTo>
                  <a:lnTo>
                    <a:pt x="440" y="298"/>
                  </a:lnTo>
                  <a:lnTo>
                    <a:pt x="447" y="298"/>
                  </a:lnTo>
                  <a:lnTo>
                    <a:pt x="453" y="297"/>
                  </a:lnTo>
                  <a:lnTo>
                    <a:pt x="458" y="297"/>
                  </a:lnTo>
                  <a:lnTo>
                    <a:pt x="464" y="295"/>
                  </a:lnTo>
                  <a:lnTo>
                    <a:pt x="469" y="294"/>
                  </a:lnTo>
                  <a:lnTo>
                    <a:pt x="474" y="290"/>
                  </a:lnTo>
                  <a:lnTo>
                    <a:pt x="478" y="287"/>
                  </a:lnTo>
                  <a:lnTo>
                    <a:pt x="482" y="281"/>
                  </a:lnTo>
                  <a:lnTo>
                    <a:pt x="489" y="274"/>
                  </a:lnTo>
                  <a:lnTo>
                    <a:pt x="494" y="272"/>
                  </a:lnTo>
                  <a:lnTo>
                    <a:pt x="499" y="274"/>
                  </a:lnTo>
                  <a:lnTo>
                    <a:pt x="505" y="274"/>
                  </a:lnTo>
                  <a:lnTo>
                    <a:pt x="510" y="274"/>
                  </a:lnTo>
                  <a:lnTo>
                    <a:pt x="516" y="273"/>
                  </a:lnTo>
                  <a:lnTo>
                    <a:pt x="522" y="271"/>
                  </a:lnTo>
                  <a:lnTo>
                    <a:pt x="527" y="268"/>
                  </a:lnTo>
                  <a:lnTo>
                    <a:pt x="533" y="267"/>
                  </a:lnTo>
                  <a:lnTo>
                    <a:pt x="536" y="265"/>
                  </a:lnTo>
                  <a:lnTo>
                    <a:pt x="540" y="264"/>
                  </a:lnTo>
                  <a:lnTo>
                    <a:pt x="541" y="264"/>
                  </a:lnTo>
                  <a:lnTo>
                    <a:pt x="542" y="264"/>
                  </a:lnTo>
                  <a:lnTo>
                    <a:pt x="546" y="265"/>
                  </a:lnTo>
                  <a:lnTo>
                    <a:pt x="553" y="267"/>
                  </a:lnTo>
                  <a:lnTo>
                    <a:pt x="562" y="268"/>
                  </a:lnTo>
                  <a:lnTo>
                    <a:pt x="567" y="268"/>
                  </a:lnTo>
                  <a:lnTo>
                    <a:pt x="573" y="265"/>
                  </a:lnTo>
                  <a:lnTo>
                    <a:pt x="580" y="262"/>
                  </a:lnTo>
                  <a:lnTo>
                    <a:pt x="586" y="257"/>
                  </a:lnTo>
                  <a:lnTo>
                    <a:pt x="593" y="252"/>
                  </a:lnTo>
                  <a:lnTo>
                    <a:pt x="600" y="248"/>
                  </a:lnTo>
                  <a:lnTo>
                    <a:pt x="605" y="245"/>
                  </a:lnTo>
                  <a:lnTo>
                    <a:pt x="612" y="244"/>
                  </a:lnTo>
                  <a:lnTo>
                    <a:pt x="622" y="248"/>
                  </a:lnTo>
                  <a:lnTo>
                    <a:pt x="625" y="256"/>
                  </a:lnTo>
                  <a:lnTo>
                    <a:pt x="627" y="265"/>
                  </a:lnTo>
                  <a:lnTo>
                    <a:pt x="627" y="273"/>
                  </a:lnTo>
                  <a:lnTo>
                    <a:pt x="626" y="282"/>
                  </a:lnTo>
                  <a:lnTo>
                    <a:pt x="626" y="293"/>
                  </a:lnTo>
                  <a:lnTo>
                    <a:pt x="625" y="302"/>
                  </a:lnTo>
                  <a:lnTo>
                    <a:pt x="627" y="310"/>
                  </a:lnTo>
                  <a:lnTo>
                    <a:pt x="630" y="316"/>
                  </a:lnTo>
                  <a:lnTo>
                    <a:pt x="628" y="320"/>
                  </a:lnTo>
                  <a:lnTo>
                    <a:pt x="627" y="328"/>
                  </a:lnTo>
                  <a:lnTo>
                    <a:pt x="625" y="340"/>
                  </a:lnTo>
                  <a:lnTo>
                    <a:pt x="623" y="355"/>
                  </a:lnTo>
                  <a:lnTo>
                    <a:pt x="620" y="372"/>
                  </a:lnTo>
                  <a:lnTo>
                    <a:pt x="616" y="388"/>
                  </a:lnTo>
                  <a:lnTo>
                    <a:pt x="607" y="404"/>
                  </a:lnTo>
                  <a:lnTo>
                    <a:pt x="602" y="411"/>
                  </a:lnTo>
                  <a:lnTo>
                    <a:pt x="597" y="418"/>
                  </a:lnTo>
                  <a:lnTo>
                    <a:pt x="594" y="425"/>
                  </a:lnTo>
                  <a:lnTo>
                    <a:pt x="590" y="432"/>
                  </a:lnTo>
                  <a:lnTo>
                    <a:pt x="586" y="439"/>
                  </a:lnTo>
                  <a:lnTo>
                    <a:pt x="582" y="446"/>
                  </a:lnTo>
                  <a:lnTo>
                    <a:pt x="577" y="455"/>
                  </a:lnTo>
                  <a:lnTo>
                    <a:pt x="571" y="464"/>
                  </a:lnTo>
                  <a:lnTo>
                    <a:pt x="561" y="481"/>
                  </a:lnTo>
                  <a:lnTo>
                    <a:pt x="555" y="493"/>
                  </a:lnTo>
                  <a:lnTo>
                    <a:pt x="549" y="501"/>
                  </a:lnTo>
                  <a:lnTo>
                    <a:pt x="541" y="509"/>
                  </a:lnTo>
                  <a:lnTo>
                    <a:pt x="534" y="517"/>
                  </a:lnTo>
                  <a:lnTo>
                    <a:pt x="532" y="523"/>
                  </a:lnTo>
                  <a:lnTo>
                    <a:pt x="528" y="529"/>
                  </a:lnTo>
                  <a:lnTo>
                    <a:pt x="523" y="534"/>
                  </a:lnTo>
                  <a:lnTo>
                    <a:pt x="515" y="540"/>
                  </a:lnTo>
                  <a:lnTo>
                    <a:pt x="508" y="547"/>
                  </a:lnTo>
                  <a:lnTo>
                    <a:pt x="503" y="551"/>
                  </a:lnTo>
                  <a:lnTo>
                    <a:pt x="501" y="553"/>
                  </a:lnTo>
                  <a:lnTo>
                    <a:pt x="503" y="533"/>
                  </a:lnTo>
                  <a:lnTo>
                    <a:pt x="505" y="517"/>
                  </a:lnTo>
                  <a:lnTo>
                    <a:pt x="508" y="502"/>
                  </a:lnTo>
                  <a:lnTo>
                    <a:pt x="509" y="486"/>
                  </a:lnTo>
                  <a:lnTo>
                    <a:pt x="511" y="471"/>
                  </a:lnTo>
                  <a:lnTo>
                    <a:pt x="512" y="458"/>
                  </a:lnTo>
                  <a:lnTo>
                    <a:pt x="510" y="450"/>
                  </a:lnTo>
                  <a:lnTo>
                    <a:pt x="499" y="446"/>
                  </a:lnTo>
                  <a:lnTo>
                    <a:pt x="490" y="445"/>
                  </a:lnTo>
                  <a:lnTo>
                    <a:pt x="484" y="445"/>
                  </a:lnTo>
                  <a:lnTo>
                    <a:pt x="477" y="445"/>
                  </a:lnTo>
                  <a:lnTo>
                    <a:pt x="471" y="443"/>
                  </a:lnTo>
                  <a:lnTo>
                    <a:pt x="465" y="443"/>
                  </a:lnTo>
                  <a:lnTo>
                    <a:pt x="458" y="442"/>
                  </a:lnTo>
                  <a:lnTo>
                    <a:pt x="451" y="440"/>
                  </a:lnTo>
                  <a:lnTo>
                    <a:pt x="445" y="438"/>
                  </a:lnTo>
                  <a:lnTo>
                    <a:pt x="433" y="433"/>
                  </a:lnTo>
                  <a:lnTo>
                    <a:pt x="430" y="432"/>
                  </a:lnTo>
                  <a:lnTo>
                    <a:pt x="428" y="426"/>
                  </a:lnTo>
                  <a:lnTo>
                    <a:pt x="427" y="410"/>
                  </a:lnTo>
                  <a:lnTo>
                    <a:pt x="427" y="389"/>
                  </a:lnTo>
                  <a:lnTo>
                    <a:pt x="428" y="376"/>
                  </a:lnTo>
                  <a:lnTo>
                    <a:pt x="427" y="365"/>
                  </a:lnTo>
                  <a:lnTo>
                    <a:pt x="419" y="359"/>
                  </a:lnTo>
                  <a:lnTo>
                    <a:pt x="410" y="357"/>
                  </a:lnTo>
                  <a:lnTo>
                    <a:pt x="405" y="359"/>
                  </a:lnTo>
                  <a:lnTo>
                    <a:pt x="399" y="362"/>
                  </a:lnTo>
                  <a:lnTo>
                    <a:pt x="387" y="363"/>
                  </a:lnTo>
                  <a:lnTo>
                    <a:pt x="380" y="363"/>
                  </a:lnTo>
                  <a:lnTo>
                    <a:pt x="373" y="364"/>
                  </a:lnTo>
                  <a:lnTo>
                    <a:pt x="369" y="364"/>
                  </a:lnTo>
                  <a:lnTo>
                    <a:pt x="364" y="365"/>
                  </a:lnTo>
                  <a:lnTo>
                    <a:pt x="359" y="365"/>
                  </a:lnTo>
                  <a:lnTo>
                    <a:pt x="355" y="365"/>
                  </a:lnTo>
                  <a:lnTo>
                    <a:pt x="348" y="364"/>
                  </a:lnTo>
                  <a:lnTo>
                    <a:pt x="341" y="361"/>
                  </a:lnTo>
                  <a:lnTo>
                    <a:pt x="334" y="357"/>
                  </a:lnTo>
                  <a:lnTo>
                    <a:pt x="330" y="354"/>
                  </a:lnTo>
                  <a:lnTo>
                    <a:pt x="326" y="353"/>
                  </a:lnTo>
                  <a:lnTo>
                    <a:pt x="323" y="351"/>
                  </a:lnTo>
                  <a:lnTo>
                    <a:pt x="319" y="351"/>
                  </a:lnTo>
                  <a:lnTo>
                    <a:pt x="316" y="353"/>
                  </a:lnTo>
                  <a:lnTo>
                    <a:pt x="312" y="355"/>
                  </a:lnTo>
                  <a:lnTo>
                    <a:pt x="307" y="358"/>
                  </a:lnTo>
                  <a:lnTo>
                    <a:pt x="297" y="366"/>
                  </a:lnTo>
                  <a:lnTo>
                    <a:pt x="292" y="373"/>
                  </a:lnTo>
                  <a:lnTo>
                    <a:pt x="286" y="377"/>
                  </a:lnTo>
                  <a:lnTo>
                    <a:pt x="274" y="376"/>
                  </a:lnTo>
                  <a:lnTo>
                    <a:pt x="268" y="374"/>
                  </a:lnTo>
                  <a:lnTo>
                    <a:pt x="262" y="374"/>
                  </a:lnTo>
                  <a:lnTo>
                    <a:pt x="257" y="374"/>
                  </a:lnTo>
                  <a:lnTo>
                    <a:pt x="251" y="376"/>
                  </a:lnTo>
                  <a:lnTo>
                    <a:pt x="247" y="376"/>
                  </a:lnTo>
                  <a:lnTo>
                    <a:pt x="242" y="373"/>
                  </a:lnTo>
                  <a:lnTo>
                    <a:pt x="239" y="370"/>
                  </a:lnTo>
                  <a:lnTo>
                    <a:pt x="234" y="363"/>
                  </a:lnTo>
                  <a:lnTo>
                    <a:pt x="227" y="350"/>
                  </a:lnTo>
                  <a:lnTo>
                    <a:pt x="223" y="342"/>
                  </a:lnTo>
                  <a:lnTo>
                    <a:pt x="218" y="338"/>
                  </a:lnTo>
                  <a:lnTo>
                    <a:pt x="210" y="332"/>
                  </a:lnTo>
                  <a:lnTo>
                    <a:pt x="202" y="325"/>
                  </a:lnTo>
                  <a:lnTo>
                    <a:pt x="196" y="323"/>
                  </a:lnTo>
                  <a:lnTo>
                    <a:pt x="192" y="321"/>
                  </a:lnTo>
                  <a:lnTo>
                    <a:pt x="182" y="319"/>
                  </a:lnTo>
                  <a:lnTo>
                    <a:pt x="173" y="318"/>
                  </a:lnTo>
                  <a:lnTo>
                    <a:pt x="166" y="318"/>
                  </a:lnTo>
                  <a:lnTo>
                    <a:pt x="163" y="320"/>
                  </a:lnTo>
                  <a:lnTo>
                    <a:pt x="164" y="324"/>
                  </a:lnTo>
                  <a:lnTo>
                    <a:pt x="170" y="329"/>
                  </a:lnTo>
                  <a:lnTo>
                    <a:pt x="174" y="335"/>
                  </a:lnTo>
                  <a:lnTo>
                    <a:pt x="179" y="340"/>
                  </a:lnTo>
                  <a:lnTo>
                    <a:pt x="184" y="342"/>
                  </a:lnTo>
                  <a:lnTo>
                    <a:pt x="187" y="346"/>
                  </a:lnTo>
                  <a:lnTo>
                    <a:pt x="192" y="347"/>
                  </a:lnTo>
                  <a:lnTo>
                    <a:pt x="195" y="349"/>
                  </a:lnTo>
                  <a:lnTo>
                    <a:pt x="199" y="350"/>
                  </a:lnTo>
                  <a:lnTo>
                    <a:pt x="202" y="353"/>
                  </a:lnTo>
                  <a:lnTo>
                    <a:pt x="201" y="356"/>
                  </a:lnTo>
                  <a:lnTo>
                    <a:pt x="199" y="358"/>
                  </a:lnTo>
                  <a:lnTo>
                    <a:pt x="196" y="359"/>
                  </a:lnTo>
                  <a:lnTo>
                    <a:pt x="187" y="357"/>
                  </a:lnTo>
                  <a:lnTo>
                    <a:pt x="180" y="354"/>
                  </a:lnTo>
                  <a:lnTo>
                    <a:pt x="174" y="351"/>
                  </a:lnTo>
                  <a:lnTo>
                    <a:pt x="170" y="349"/>
                  </a:lnTo>
                  <a:lnTo>
                    <a:pt x="165" y="348"/>
                  </a:lnTo>
                  <a:lnTo>
                    <a:pt x="162" y="346"/>
                  </a:lnTo>
                  <a:lnTo>
                    <a:pt x="158" y="342"/>
                  </a:lnTo>
                  <a:lnTo>
                    <a:pt x="155" y="340"/>
                  </a:lnTo>
                  <a:lnTo>
                    <a:pt x="149" y="334"/>
                  </a:lnTo>
                  <a:lnTo>
                    <a:pt x="146" y="328"/>
                  </a:lnTo>
                  <a:lnTo>
                    <a:pt x="145" y="320"/>
                  </a:lnTo>
                  <a:lnTo>
                    <a:pt x="145" y="311"/>
                  </a:lnTo>
                  <a:lnTo>
                    <a:pt x="145" y="303"/>
                  </a:lnTo>
                  <a:lnTo>
                    <a:pt x="143" y="298"/>
                  </a:lnTo>
                  <a:lnTo>
                    <a:pt x="139" y="295"/>
                  </a:lnTo>
                  <a:lnTo>
                    <a:pt x="131" y="289"/>
                  </a:lnTo>
                  <a:lnTo>
                    <a:pt x="122" y="282"/>
                  </a:lnTo>
                  <a:lnTo>
                    <a:pt x="116" y="278"/>
                  </a:lnTo>
                  <a:lnTo>
                    <a:pt x="112" y="274"/>
                  </a:lnTo>
                  <a:lnTo>
                    <a:pt x="110" y="270"/>
                  </a:lnTo>
                  <a:lnTo>
                    <a:pt x="110" y="263"/>
                  </a:lnTo>
                  <a:lnTo>
                    <a:pt x="111" y="256"/>
                  </a:lnTo>
                  <a:lnTo>
                    <a:pt x="111" y="247"/>
                  </a:lnTo>
                  <a:lnTo>
                    <a:pt x="110" y="235"/>
                  </a:lnTo>
                  <a:lnTo>
                    <a:pt x="107" y="225"/>
                  </a:lnTo>
                  <a:lnTo>
                    <a:pt x="101" y="218"/>
                  </a:lnTo>
                  <a:lnTo>
                    <a:pt x="95" y="211"/>
                  </a:lnTo>
                  <a:lnTo>
                    <a:pt x="91" y="203"/>
                  </a:lnTo>
                  <a:lnTo>
                    <a:pt x="86" y="195"/>
                  </a:lnTo>
                  <a:lnTo>
                    <a:pt x="80" y="189"/>
                  </a:lnTo>
                  <a:lnTo>
                    <a:pt x="78" y="186"/>
                  </a:lnTo>
                  <a:lnTo>
                    <a:pt x="81" y="184"/>
                  </a:lnTo>
                  <a:lnTo>
                    <a:pt x="88" y="186"/>
                  </a:lnTo>
                  <a:lnTo>
                    <a:pt x="93" y="189"/>
                  </a:lnTo>
                  <a:lnTo>
                    <a:pt x="96" y="190"/>
                  </a:lnTo>
                  <a:lnTo>
                    <a:pt x="100" y="186"/>
                  </a:lnTo>
                  <a:lnTo>
                    <a:pt x="103" y="177"/>
                  </a:lnTo>
                  <a:lnTo>
                    <a:pt x="104" y="171"/>
                  </a:lnTo>
                  <a:lnTo>
                    <a:pt x="103" y="165"/>
                  </a:lnTo>
                  <a:lnTo>
                    <a:pt x="99" y="162"/>
                  </a:lnTo>
                  <a:lnTo>
                    <a:pt x="94" y="162"/>
                  </a:lnTo>
                  <a:lnTo>
                    <a:pt x="91" y="162"/>
                  </a:lnTo>
                  <a:lnTo>
                    <a:pt x="86" y="164"/>
                  </a:lnTo>
                  <a:lnTo>
                    <a:pt x="81" y="164"/>
                  </a:lnTo>
                  <a:lnTo>
                    <a:pt x="77" y="164"/>
                  </a:lnTo>
                  <a:lnTo>
                    <a:pt x="74" y="165"/>
                  </a:lnTo>
                  <a:lnTo>
                    <a:pt x="73" y="164"/>
                  </a:lnTo>
                  <a:lnTo>
                    <a:pt x="68" y="158"/>
                  </a:lnTo>
                  <a:lnTo>
                    <a:pt x="63" y="154"/>
                  </a:lnTo>
                  <a:lnTo>
                    <a:pt x="58" y="153"/>
                  </a:lnTo>
                  <a:lnTo>
                    <a:pt x="54" y="152"/>
                  </a:lnTo>
                  <a:lnTo>
                    <a:pt x="48" y="152"/>
                  </a:lnTo>
                  <a:lnTo>
                    <a:pt x="42" y="153"/>
                  </a:lnTo>
                  <a:lnTo>
                    <a:pt x="38" y="153"/>
                  </a:lnTo>
                  <a:lnTo>
                    <a:pt x="33" y="154"/>
                  </a:lnTo>
                  <a:lnTo>
                    <a:pt x="28" y="154"/>
                  </a:lnTo>
                  <a:lnTo>
                    <a:pt x="22" y="156"/>
                  </a:lnTo>
                  <a:lnTo>
                    <a:pt x="18" y="154"/>
                  </a:lnTo>
                  <a:lnTo>
                    <a:pt x="17" y="152"/>
                  </a:lnTo>
                  <a:lnTo>
                    <a:pt x="20" y="144"/>
                  </a:lnTo>
                  <a:lnTo>
                    <a:pt x="26" y="136"/>
                  </a:lnTo>
                  <a:lnTo>
                    <a:pt x="32" y="130"/>
                  </a:lnTo>
                  <a:lnTo>
                    <a:pt x="36" y="126"/>
                  </a:lnTo>
                  <a:lnTo>
                    <a:pt x="39" y="119"/>
                  </a:lnTo>
                  <a:lnTo>
                    <a:pt x="40" y="111"/>
                  </a:lnTo>
                  <a:lnTo>
                    <a:pt x="41" y="105"/>
                  </a:lnTo>
                  <a:lnTo>
                    <a:pt x="39" y="103"/>
                  </a:lnTo>
                  <a:lnTo>
                    <a:pt x="32" y="101"/>
                  </a:lnTo>
                  <a:lnTo>
                    <a:pt x="24" y="103"/>
                  </a:lnTo>
                  <a:lnTo>
                    <a:pt x="18" y="105"/>
                  </a:lnTo>
                  <a:lnTo>
                    <a:pt x="14" y="107"/>
                  </a:lnTo>
                  <a:lnTo>
                    <a:pt x="7" y="107"/>
                  </a:lnTo>
                  <a:lnTo>
                    <a:pt x="3" y="106"/>
                  </a:lnTo>
                  <a:lnTo>
                    <a:pt x="1" y="105"/>
                  </a:lnTo>
                  <a:lnTo>
                    <a:pt x="0" y="106"/>
                  </a:lnTo>
                  <a:lnTo>
                    <a:pt x="4" y="95"/>
                  </a:lnTo>
                  <a:lnTo>
                    <a:pt x="11" y="81"/>
                  </a:lnTo>
                  <a:lnTo>
                    <a:pt x="22" y="65"/>
                  </a:lnTo>
                  <a:lnTo>
                    <a:pt x="34" y="47"/>
                  </a:lnTo>
                  <a:lnTo>
                    <a:pt x="47" y="32"/>
                  </a:lnTo>
                  <a:lnTo>
                    <a:pt x="59" y="17"/>
                  </a:lnTo>
                  <a:lnTo>
                    <a:pt x="71" y="7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895" name="Rectangle 8"/>
          <p:cNvSpPr>
            <a:spLocks noChangeArrowheads="1"/>
          </p:cNvSpPr>
          <p:nvPr/>
        </p:nvSpPr>
        <p:spPr bwMode="auto">
          <a:xfrm>
            <a:off x="9026843" y="2431532"/>
            <a:ext cx="259900" cy="2460508"/>
          </a:xfrm>
          <a:prstGeom prst="rect">
            <a:avLst/>
          </a:prstGeom>
          <a:solidFill>
            <a:schemeClr val="bg1"/>
          </a:solidFill>
          <a:ln w="38100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37896" name="Line 9"/>
          <p:cNvSpPr>
            <a:spLocks noChangeShapeType="1"/>
          </p:cNvSpPr>
          <p:nvPr/>
        </p:nvSpPr>
        <p:spPr bwMode="auto">
          <a:xfrm>
            <a:off x="9152389" y="2443360"/>
            <a:ext cx="0" cy="793526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7897" name="Group 10"/>
          <p:cNvGrpSpPr>
            <a:grpSpLocks/>
          </p:cNvGrpSpPr>
          <p:nvPr/>
        </p:nvGrpSpPr>
        <p:grpSpPr bwMode="auto">
          <a:xfrm>
            <a:off x="9061769" y="1757990"/>
            <a:ext cx="181239" cy="480280"/>
            <a:chOff x="4333" y="1097"/>
            <a:chExt cx="140" cy="485"/>
          </a:xfrm>
        </p:grpSpPr>
        <p:sp>
          <p:nvSpPr>
            <p:cNvPr id="37898" name="AutoShape 11"/>
            <p:cNvSpPr>
              <a:spLocks noChangeArrowheads="1"/>
            </p:cNvSpPr>
            <p:nvPr/>
          </p:nvSpPr>
          <p:spPr bwMode="auto">
            <a:xfrm>
              <a:off x="4333" y="1097"/>
              <a:ext cx="140" cy="316"/>
            </a:xfrm>
            <a:prstGeom prst="smileyFace">
              <a:avLst>
                <a:gd name="adj" fmla="val 4653"/>
              </a:avLst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grpSp>
          <p:nvGrpSpPr>
            <p:cNvPr id="37899" name="Group 12"/>
            <p:cNvGrpSpPr>
              <a:grpSpLocks/>
            </p:cNvGrpSpPr>
            <p:nvPr/>
          </p:nvGrpSpPr>
          <p:grpSpPr bwMode="auto">
            <a:xfrm>
              <a:off x="4349" y="1419"/>
              <a:ext cx="114" cy="163"/>
              <a:chOff x="4349" y="1419"/>
              <a:chExt cx="114" cy="231"/>
            </a:xfrm>
          </p:grpSpPr>
          <p:sp>
            <p:nvSpPr>
              <p:cNvPr id="37900" name="Line 13"/>
              <p:cNvSpPr>
                <a:spLocks noChangeShapeType="1"/>
              </p:cNvSpPr>
              <p:nvPr/>
            </p:nvSpPr>
            <p:spPr bwMode="auto">
              <a:xfrm>
                <a:off x="4406" y="1419"/>
                <a:ext cx="0" cy="180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  <p:grpSp>
            <p:nvGrpSpPr>
              <p:cNvPr id="37901" name="Group 14"/>
              <p:cNvGrpSpPr>
                <a:grpSpLocks/>
              </p:cNvGrpSpPr>
              <p:nvPr/>
            </p:nvGrpSpPr>
            <p:grpSpPr bwMode="auto">
              <a:xfrm>
                <a:off x="4349" y="1593"/>
                <a:ext cx="114" cy="57"/>
                <a:chOff x="4350" y="1560"/>
                <a:chExt cx="114" cy="57"/>
              </a:xfrm>
            </p:grpSpPr>
            <p:sp>
              <p:nvSpPr>
                <p:cNvPr id="37905" name="Line 15"/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37906" name="Line 16"/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37902" name="Group 17"/>
              <p:cNvGrpSpPr>
                <a:grpSpLocks/>
              </p:cNvGrpSpPr>
              <p:nvPr/>
            </p:nvGrpSpPr>
            <p:grpSpPr bwMode="auto">
              <a:xfrm flipV="1">
                <a:off x="4349" y="1443"/>
                <a:ext cx="114" cy="57"/>
                <a:chOff x="4350" y="1560"/>
                <a:chExt cx="114" cy="57"/>
              </a:xfrm>
            </p:grpSpPr>
            <p:sp>
              <p:nvSpPr>
                <p:cNvPr id="37903" name="Line 18"/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37904" name="Line 19"/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729400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DF86FC22-12E5-4496-B87F-A1065BAEAA88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389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123.2.9 (revised)</a:t>
            </a:r>
          </a:p>
        </p:txBody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5210175" cy="4525963"/>
          </a:xfrm>
        </p:spPr>
        <p:txBody>
          <a:bodyPr>
            <a:normAutofit lnSpcReduction="10000"/>
          </a:bodyPr>
          <a:lstStyle/>
          <a:p>
            <a:pPr marL="533400" indent="-533400">
              <a:lnSpc>
                <a:spcPct val="80000"/>
              </a:lnSpc>
              <a:buNone/>
            </a:pPr>
            <a:r>
              <a:rPr lang="en-US" sz="1800" dirty="0"/>
              <a:t>A hole is drilled through the center of Earth and emerges on the other side.  You jump into the hole.  What happens to you?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fall to the center and stop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go all the way through and continue off into space 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fall to the other side of Earth and then return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you won’t fall at all</a:t>
            </a:r>
          </a:p>
          <a:p>
            <a:pPr marL="533400" indent="-533400">
              <a:buFontTx/>
              <a:buAutoNum type="alphaLcParenR"/>
            </a:pPr>
            <a:r>
              <a:rPr lang="en-US" sz="1800" dirty="0"/>
              <a:t>I am a geology major, so I know that the Earth has a high pressure center that will liquefy and flow into the hole because the hole is at a lower pressure, so this is not possible… So what happens is the guy jumps into the hole, accelerates until he hits the magma, and is burned to a cinder</a:t>
            </a:r>
          </a:p>
          <a:p>
            <a:pPr marL="533400" indent="-533400">
              <a:lnSpc>
                <a:spcPct val="80000"/>
              </a:lnSpc>
            </a:pPr>
            <a:endParaRPr lang="en-US" sz="1800" dirty="0"/>
          </a:p>
        </p:txBody>
      </p:sp>
      <p:grpSp>
        <p:nvGrpSpPr>
          <p:cNvPr id="2" name="Group 5">
            <a:extLst>
              <a:ext uri="{FF2B5EF4-FFF2-40B4-BE49-F238E27FC236}">
                <a16:creationId xmlns:a16="http://schemas.microsoft.com/office/drawing/2014/main" id="{4C200F69-00DC-1895-A7D5-478883F4E7E8}"/>
              </a:ext>
            </a:extLst>
          </p:cNvPr>
          <p:cNvGrpSpPr>
            <a:grpSpLocks/>
          </p:cNvGrpSpPr>
          <p:nvPr/>
        </p:nvGrpSpPr>
        <p:grpSpPr bwMode="auto">
          <a:xfrm>
            <a:off x="7874001" y="2443360"/>
            <a:ext cx="2487613" cy="2201499"/>
            <a:chOff x="4902" y="2609"/>
            <a:chExt cx="422" cy="422"/>
          </a:xfrm>
        </p:grpSpPr>
        <p:sp>
          <p:nvSpPr>
            <p:cNvPr id="3" name="Oval 6">
              <a:extLst>
                <a:ext uri="{FF2B5EF4-FFF2-40B4-BE49-F238E27FC236}">
                  <a16:creationId xmlns:a16="http://schemas.microsoft.com/office/drawing/2014/main" id="{8490C81D-79AC-348D-544B-165C1DEA98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" y="2609"/>
              <a:ext cx="422" cy="422"/>
            </a:xfrm>
            <a:prstGeom prst="ellipse">
              <a:avLst/>
            </a:prstGeom>
            <a:solidFill>
              <a:schemeClr val="accent1"/>
            </a:solidFill>
            <a:ln w="9525">
              <a:noFill/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38CB9852-9019-6510-CEF1-CBED9CD583F7}"/>
                </a:ext>
              </a:extLst>
            </p:cNvPr>
            <p:cNvSpPr>
              <a:spLocks/>
            </p:cNvSpPr>
            <p:nvPr/>
          </p:nvSpPr>
          <p:spPr bwMode="auto">
            <a:xfrm>
              <a:off x="4931" y="2664"/>
              <a:ext cx="380" cy="331"/>
            </a:xfrm>
            <a:custGeom>
              <a:avLst/>
              <a:gdLst>
                <a:gd name="T0" fmla="*/ 1 w 630"/>
                <a:gd name="T1" fmla="*/ 1 h 553"/>
                <a:gd name="T2" fmla="*/ 1 w 630"/>
                <a:gd name="T3" fmla="*/ 1 h 553"/>
                <a:gd name="T4" fmla="*/ 1 w 630"/>
                <a:gd name="T5" fmla="*/ 1 h 553"/>
                <a:gd name="T6" fmla="*/ 1 w 630"/>
                <a:gd name="T7" fmla="*/ 1 h 553"/>
                <a:gd name="T8" fmla="*/ 1 w 630"/>
                <a:gd name="T9" fmla="*/ 1 h 553"/>
                <a:gd name="T10" fmla="*/ 1 w 630"/>
                <a:gd name="T11" fmla="*/ 1 h 553"/>
                <a:gd name="T12" fmla="*/ 1 w 630"/>
                <a:gd name="T13" fmla="*/ 1 h 553"/>
                <a:gd name="T14" fmla="*/ 1 w 630"/>
                <a:gd name="T15" fmla="*/ 1 h 553"/>
                <a:gd name="T16" fmla="*/ 1 w 630"/>
                <a:gd name="T17" fmla="*/ 1 h 553"/>
                <a:gd name="T18" fmla="*/ 1 w 630"/>
                <a:gd name="T19" fmla="*/ 1 h 553"/>
                <a:gd name="T20" fmla="*/ 1 w 630"/>
                <a:gd name="T21" fmla="*/ 1 h 553"/>
                <a:gd name="T22" fmla="*/ 1 w 630"/>
                <a:gd name="T23" fmla="*/ 1 h 553"/>
                <a:gd name="T24" fmla="*/ 1 w 630"/>
                <a:gd name="T25" fmla="*/ 1 h 553"/>
                <a:gd name="T26" fmla="*/ 1 w 630"/>
                <a:gd name="T27" fmla="*/ 1 h 553"/>
                <a:gd name="T28" fmla="*/ 1 w 630"/>
                <a:gd name="T29" fmla="*/ 1 h 553"/>
                <a:gd name="T30" fmla="*/ 1 w 630"/>
                <a:gd name="T31" fmla="*/ 1 h 553"/>
                <a:gd name="T32" fmla="*/ 1 w 630"/>
                <a:gd name="T33" fmla="*/ 1 h 553"/>
                <a:gd name="T34" fmla="*/ 1 w 630"/>
                <a:gd name="T35" fmla="*/ 1 h 553"/>
                <a:gd name="T36" fmla="*/ 1 w 630"/>
                <a:gd name="T37" fmla="*/ 1 h 553"/>
                <a:gd name="T38" fmla="*/ 1 w 630"/>
                <a:gd name="T39" fmla="*/ 1 h 553"/>
                <a:gd name="T40" fmla="*/ 1 w 630"/>
                <a:gd name="T41" fmla="*/ 1 h 553"/>
                <a:gd name="T42" fmla="*/ 1 w 630"/>
                <a:gd name="T43" fmla="*/ 1 h 553"/>
                <a:gd name="T44" fmla="*/ 1 w 630"/>
                <a:gd name="T45" fmla="*/ 1 h 553"/>
                <a:gd name="T46" fmla="*/ 1 w 630"/>
                <a:gd name="T47" fmla="*/ 1 h 553"/>
                <a:gd name="T48" fmla="*/ 1 w 630"/>
                <a:gd name="T49" fmla="*/ 1 h 553"/>
                <a:gd name="T50" fmla="*/ 1 w 630"/>
                <a:gd name="T51" fmla="*/ 1 h 553"/>
                <a:gd name="T52" fmla="*/ 1 w 630"/>
                <a:gd name="T53" fmla="*/ 1 h 553"/>
                <a:gd name="T54" fmla="*/ 1 w 630"/>
                <a:gd name="T55" fmla="*/ 1 h 553"/>
                <a:gd name="T56" fmla="*/ 1 w 630"/>
                <a:gd name="T57" fmla="*/ 1 h 553"/>
                <a:gd name="T58" fmla="*/ 1 w 630"/>
                <a:gd name="T59" fmla="*/ 1 h 553"/>
                <a:gd name="T60" fmla="*/ 1 w 630"/>
                <a:gd name="T61" fmla="*/ 1 h 553"/>
                <a:gd name="T62" fmla="*/ 1 w 630"/>
                <a:gd name="T63" fmla="*/ 1 h 553"/>
                <a:gd name="T64" fmla="*/ 1 w 630"/>
                <a:gd name="T65" fmla="*/ 1 h 553"/>
                <a:gd name="T66" fmla="*/ 1 w 630"/>
                <a:gd name="T67" fmla="*/ 1 h 553"/>
                <a:gd name="T68" fmla="*/ 1 w 630"/>
                <a:gd name="T69" fmla="*/ 1 h 553"/>
                <a:gd name="T70" fmla="*/ 1 w 630"/>
                <a:gd name="T71" fmla="*/ 1 h 553"/>
                <a:gd name="T72" fmla="*/ 1 w 630"/>
                <a:gd name="T73" fmla="*/ 1 h 553"/>
                <a:gd name="T74" fmla="*/ 1 w 630"/>
                <a:gd name="T75" fmla="*/ 1 h 553"/>
                <a:gd name="T76" fmla="*/ 1 w 630"/>
                <a:gd name="T77" fmla="*/ 1 h 553"/>
                <a:gd name="T78" fmla="*/ 1 w 630"/>
                <a:gd name="T79" fmla="*/ 1 h 553"/>
                <a:gd name="T80" fmla="*/ 1 w 630"/>
                <a:gd name="T81" fmla="*/ 1 h 553"/>
                <a:gd name="T82" fmla="*/ 1 w 630"/>
                <a:gd name="T83" fmla="*/ 1 h 553"/>
                <a:gd name="T84" fmla="*/ 1 w 630"/>
                <a:gd name="T85" fmla="*/ 1 h 553"/>
                <a:gd name="T86" fmla="*/ 1 w 630"/>
                <a:gd name="T87" fmla="*/ 1 h 553"/>
                <a:gd name="T88" fmla="*/ 1 w 630"/>
                <a:gd name="T89" fmla="*/ 1 h 553"/>
                <a:gd name="T90" fmla="*/ 1 w 630"/>
                <a:gd name="T91" fmla="*/ 1 h 553"/>
                <a:gd name="T92" fmla="*/ 1 w 630"/>
                <a:gd name="T93" fmla="*/ 1 h 553"/>
                <a:gd name="T94" fmla="*/ 1 w 630"/>
                <a:gd name="T95" fmla="*/ 1 h 553"/>
                <a:gd name="T96" fmla="*/ 1 w 630"/>
                <a:gd name="T97" fmla="*/ 1 h 553"/>
                <a:gd name="T98" fmla="*/ 1 w 630"/>
                <a:gd name="T99" fmla="*/ 1 h 553"/>
                <a:gd name="T100" fmla="*/ 1 w 630"/>
                <a:gd name="T101" fmla="*/ 1 h 553"/>
                <a:gd name="T102" fmla="*/ 1 w 630"/>
                <a:gd name="T103" fmla="*/ 1 h 553"/>
                <a:gd name="T104" fmla="*/ 1 w 630"/>
                <a:gd name="T105" fmla="*/ 1 h 553"/>
                <a:gd name="T106" fmla="*/ 1 w 630"/>
                <a:gd name="T107" fmla="*/ 1 h 553"/>
                <a:gd name="T108" fmla="*/ 1 w 630"/>
                <a:gd name="T109" fmla="*/ 1 h 553"/>
                <a:gd name="T110" fmla="*/ 1 w 630"/>
                <a:gd name="T111" fmla="*/ 1 h 553"/>
                <a:gd name="T112" fmla="*/ 1 w 630"/>
                <a:gd name="T113" fmla="*/ 1 h 553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60000 65536"/>
                <a:gd name="T151" fmla="*/ 0 60000 65536"/>
                <a:gd name="T152" fmla="*/ 0 60000 65536"/>
                <a:gd name="T153" fmla="*/ 0 60000 65536"/>
                <a:gd name="T154" fmla="*/ 0 60000 65536"/>
                <a:gd name="T155" fmla="*/ 0 60000 65536"/>
                <a:gd name="T156" fmla="*/ 0 60000 65536"/>
                <a:gd name="T157" fmla="*/ 0 60000 65536"/>
                <a:gd name="T158" fmla="*/ 0 60000 65536"/>
                <a:gd name="T159" fmla="*/ 0 60000 65536"/>
                <a:gd name="T160" fmla="*/ 0 60000 65536"/>
                <a:gd name="T161" fmla="*/ 0 60000 65536"/>
                <a:gd name="T162" fmla="*/ 0 60000 65536"/>
                <a:gd name="T163" fmla="*/ 0 60000 65536"/>
                <a:gd name="T164" fmla="*/ 0 60000 65536"/>
                <a:gd name="T165" fmla="*/ 0 60000 65536"/>
                <a:gd name="T166" fmla="*/ 0 60000 65536"/>
                <a:gd name="T167" fmla="*/ 0 60000 65536"/>
                <a:gd name="T168" fmla="*/ 0 60000 65536"/>
                <a:gd name="T169" fmla="*/ 0 60000 65536"/>
                <a:gd name="T170" fmla="*/ 0 60000 65536"/>
                <a:gd name="T171" fmla="*/ 0 w 630"/>
                <a:gd name="T172" fmla="*/ 0 h 553"/>
                <a:gd name="T173" fmla="*/ 630 w 630"/>
                <a:gd name="T174" fmla="*/ 553 h 553"/>
              </a:gdLst>
              <a:ahLst/>
              <a:cxnLst>
                <a:cxn ang="T114">
                  <a:pos x="T0" y="T1"/>
                </a:cxn>
                <a:cxn ang="T115">
                  <a:pos x="T2" y="T3"/>
                </a:cxn>
                <a:cxn ang="T116">
                  <a:pos x="T4" y="T5"/>
                </a:cxn>
                <a:cxn ang="T117">
                  <a:pos x="T6" y="T7"/>
                </a:cxn>
                <a:cxn ang="T118">
                  <a:pos x="T8" y="T9"/>
                </a:cxn>
                <a:cxn ang="T119">
                  <a:pos x="T10" y="T11"/>
                </a:cxn>
                <a:cxn ang="T120">
                  <a:pos x="T12" y="T13"/>
                </a:cxn>
                <a:cxn ang="T121">
                  <a:pos x="T14" y="T15"/>
                </a:cxn>
                <a:cxn ang="T122">
                  <a:pos x="T16" y="T17"/>
                </a:cxn>
                <a:cxn ang="T123">
                  <a:pos x="T18" y="T19"/>
                </a:cxn>
                <a:cxn ang="T124">
                  <a:pos x="T20" y="T21"/>
                </a:cxn>
                <a:cxn ang="T125">
                  <a:pos x="T22" y="T23"/>
                </a:cxn>
                <a:cxn ang="T126">
                  <a:pos x="T24" y="T25"/>
                </a:cxn>
                <a:cxn ang="T127">
                  <a:pos x="T26" y="T27"/>
                </a:cxn>
                <a:cxn ang="T128">
                  <a:pos x="T28" y="T29"/>
                </a:cxn>
                <a:cxn ang="T129">
                  <a:pos x="T30" y="T31"/>
                </a:cxn>
                <a:cxn ang="T130">
                  <a:pos x="T32" y="T33"/>
                </a:cxn>
                <a:cxn ang="T131">
                  <a:pos x="T34" y="T35"/>
                </a:cxn>
                <a:cxn ang="T132">
                  <a:pos x="T36" y="T37"/>
                </a:cxn>
                <a:cxn ang="T133">
                  <a:pos x="T38" y="T39"/>
                </a:cxn>
                <a:cxn ang="T134">
                  <a:pos x="T40" y="T41"/>
                </a:cxn>
                <a:cxn ang="T135">
                  <a:pos x="T42" y="T43"/>
                </a:cxn>
                <a:cxn ang="T136">
                  <a:pos x="T44" y="T45"/>
                </a:cxn>
                <a:cxn ang="T137">
                  <a:pos x="T46" y="T47"/>
                </a:cxn>
                <a:cxn ang="T138">
                  <a:pos x="T48" y="T49"/>
                </a:cxn>
                <a:cxn ang="T139">
                  <a:pos x="T50" y="T51"/>
                </a:cxn>
                <a:cxn ang="T140">
                  <a:pos x="T52" y="T53"/>
                </a:cxn>
                <a:cxn ang="T141">
                  <a:pos x="T54" y="T55"/>
                </a:cxn>
                <a:cxn ang="T142">
                  <a:pos x="T56" y="T57"/>
                </a:cxn>
                <a:cxn ang="T143">
                  <a:pos x="T58" y="T59"/>
                </a:cxn>
                <a:cxn ang="T144">
                  <a:pos x="T60" y="T61"/>
                </a:cxn>
                <a:cxn ang="T145">
                  <a:pos x="T62" y="T63"/>
                </a:cxn>
                <a:cxn ang="T146">
                  <a:pos x="T64" y="T65"/>
                </a:cxn>
                <a:cxn ang="T147">
                  <a:pos x="T66" y="T67"/>
                </a:cxn>
                <a:cxn ang="T148">
                  <a:pos x="T68" y="T69"/>
                </a:cxn>
                <a:cxn ang="T149">
                  <a:pos x="T70" y="T71"/>
                </a:cxn>
                <a:cxn ang="T150">
                  <a:pos x="T72" y="T73"/>
                </a:cxn>
                <a:cxn ang="T151">
                  <a:pos x="T74" y="T75"/>
                </a:cxn>
                <a:cxn ang="T152">
                  <a:pos x="T76" y="T77"/>
                </a:cxn>
                <a:cxn ang="T153">
                  <a:pos x="T78" y="T79"/>
                </a:cxn>
                <a:cxn ang="T154">
                  <a:pos x="T80" y="T81"/>
                </a:cxn>
                <a:cxn ang="T155">
                  <a:pos x="T82" y="T83"/>
                </a:cxn>
                <a:cxn ang="T156">
                  <a:pos x="T84" y="T85"/>
                </a:cxn>
                <a:cxn ang="T157">
                  <a:pos x="T86" y="T87"/>
                </a:cxn>
                <a:cxn ang="T158">
                  <a:pos x="T88" y="T89"/>
                </a:cxn>
                <a:cxn ang="T159">
                  <a:pos x="T90" y="T91"/>
                </a:cxn>
                <a:cxn ang="T160">
                  <a:pos x="T92" y="T93"/>
                </a:cxn>
                <a:cxn ang="T161">
                  <a:pos x="T94" y="T95"/>
                </a:cxn>
                <a:cxn ang="T162">
                  <a:pos x="T96" y="T97"/>
                </a:cxn>
                <a:cxn ang="T163">
                  <a:pos x="T98" y="T99"/>
                </a:cxn>
                <a:cxn ang="T164">
                  <a:pos x="T100" y="T101"/>
                </a:cxn>
                <a:cxn ang="T165">
                  <a:pos x="T102" y="T103"/>
                </a:cxn>
                <a:cxn ang="T166">
                  <a:pos x="T104" y="T105"/>
                </a:cxn>
                <a:cxn ang="T167">
                  <a:pos x="T106" y="T107"/>
                </a:cxn>
                <a:cxn ang="T168">
                  <a:pos x="T108" y="T109"/>
                </a:cxn>
                <a:cxn ang="T169">
                  <a:pos x="T110" y="T111"/>
                </a:cxn>
                <a:cxn ang="T170">
                  <a:pos x="T112" y="T113"/>
                </a:cxn>
              </a:cxnLst>
              <a:rect l="T171" t="T172" r="T173" b="T174"/>
              <a:pathLst>
                <a:path w="630" h="553">
                  <a:moveTo>
                    <a:pt x="80" y="0"/>
                  </a:moveTo>
                  <a:lnTo>
                    <a:pt x="76" y="7"/>
                  </a:lnTo>
                  <a:lnTo>
                    <a:pt x="70" y="14"/>
                  </a:lnTo>
                  <a:lnTo>
                    <a:pt x="63" y="21"/>
                  </a:lnTo>
                  <a:lnTo>
                    <a:pt x="56" y="29"/>
                  </a:lnTo>
                  <a:lnTo>
                    <a:pt x="50" y="38"/>
                  </a:lnTo>
                  <a:lnTo>
                    <a:pt x="45" y="46"/>
                  </a:lnTo>
                  <a:lnTo>
                    <a:pt x="42" y="57"/>
                  </a:lnTo>
                  <a:lnTo>
                    <a:pt x="42" y="67"/>
                  </a:lnTo>
                  <a:lnTo>
                    <a:pt x="42" y="81"/>
                  </a:lnTo>
                  <a:lnTo>
                    <a:pt x="39" y="90"/>
                  </a:lnTo>
                  <a:lnTo>
                    <a:pt x="38" y="95"/>
                  </a:lnTo>
                  <a:lnTo>
                    <a:pt x="42" y="96"/>
                  </a:lnTo>
                  <a:lnTo>
                    <a:pt x="49" y="95"/>
                  </a:lnTo>
                  <a:lnTo>
                    <a:pt x="53" y="92"/>
                  </a:lnTo>
                  <a:lnTo>
                    <a:pt x="57" y="89"/>
                  </a:lnTo>
                  <a:lnTo>
                    <a:pt x="66" y="85"/>
                  </a:lnTo>
                  <a:lnTo>
                    <a:pt x="74" y="84"/>
                  </a:lnTo>
                  <a:lnTo>
                    <a:pt x="78" y="85"/>
                  </a:lnTo>
                  <a:lnTo>
                    <a:pt x="80" y="89"/>
                  </a:lnTo>
                  <a:lnTo>
                    <a:pt x="86" y="93"/>
                  </a:lnTo>
                  <a:lnTo>
                    <a:pt x="93" y="98"/>
                  </a:lnTo>
                  <a:lnTo>
                    <a:pt x="100" y="99"/>
                  </a:lnTo>
                  <a:lnTo>
                    <a:pt x="108" y="99"/>
                  </a:lnTo>
                  <a:lnTo>
                    <a:pt x="119" y="97"/>
                  </a:lnTo>
                  <a:lnTo>
                    <a:pt x="128" y="95"/>
                  </a:lnTo>
                  <a:lnTo>
                    <a:pt x="133" y="95"/>
                  </a:lnTo>
                  <a:lnTo>
                    <a:pt x="139" y="96"/>
                  </a:lnTo>
                  <a:lnTo>
                    <a:pt x="149" y="95"/>
                  </a:lnTo>
                  <a:lnTo>
                    <a:pt x="163" y="93"/>
                  </a:lnTo>
                  <a:lnTo>
                    <a:pt x="173" y="92"/>
                  </a:lnTo>
                  <a:lnTo>
                    <a:pt x="179" y="90"/>
                  </a:lnTo>
                  <a:lnTo>
                    <a:pt x="179" y="84"/>
                  </a:lnTo>
                  <a:lnTo>
                    <a:pt x="178" y="78"/>
                  </a:lnTo>
                  <a:lnTo>
                    <a:pt x="176" y="77"/>
                  </a:lnTo>
                  <a:lnTo>
                    <a:pt x="173" y="78"/>
                  </a:lnTo>
                  <a:lnTo>
                    <a:pt x="165" y="81"/>
                  </a:lnTo>
                  <a:lnTo>
                    <a:pt x="156" y="83"/>
                  </a:lnTo>
                  <a:lnTo>
                    <a:pt x="149" y="86"/>
                  </a:lnTo>
                  <a:lnTo>
                    <a:pt x="143" y="86"/>
                  </a:lnTo>
                  <a:lnTo>
                    <a:pt x="136" y="82"/>
                  </a:lnTo>
                  <a:lnTo>
                    <a:pt x="130" y="76"/>
                  </a:lnTo>
                  <a:lnTo>
                    <a:pt x="126" y="73"/>
                  </a:lnTo>
                  <a:lnTo>
                    <a:pt x="127" y="70"/>
                  </a:lnTo>
                  <a:lnTo>
                    <a:pt x="138" y="69"/>
                  </a:lnTo>
                  <a:lnTo>
                    <a:pt x="150" y="68"/>
                  </a:lnTo>
                  <a:lnTo>
                    <a:pt x="159" y="67"/>
                  </a:lnTo>
                  <a:lnTo>
                    <a:pt x="165" y="63"/>
                  </a:lnTo>
                  <a:lnTo>
                    <a:pt x="169" y="58"/>
                  </a:lnTo>
                  <a:lnTo>
                    <a:pt x="169" y="51"/>
                  </a:lnTo>
                  <a:lnTo>
                    <a:pt x="170" y="48"/>
                  </a:lnTo>
                  <a:lnTo>
                    <a:pt x="173" y="50"/>
                  </a:lnTo>
                  <a:lnTo>
                    <a:pt x="181" y="53"/>
                  </a:lnTo>
                  <a:lnTo>
                    <a:pt x="189" y="59"/>
                  </a:lnTo>
                  <a:lnTo>
                    <a:pt x="192" y="65"/>
                  </a:lnTo>
                  <a:lnTo>
                    <a:pt x="194" y="70"/>
                  </a:lnTo>
                  <a:lnTo>
                    <a:pt x="201" y="75"/>
                  </a:lnTo>
                  <a:lnTo>
                    <a:pt x="212" y="78"/>
                  </a:lnTo>
                  <a:lnTo>
                    <a:pt x="220" y="82"/>
                  </a:lnTo>
                  <a:lnTo>
                    <a:pt x="225" y="88"/>
                  </a:lnTo>
                  <a:lnTo>
                    <a:pt x="222" y="96"/>
                  </a:lnTo>
                  <a:lnTo>
                    <a:pt x="215" y="101"/>
                  </a:lnTo>
                  <a:lnTo>
                    <a:pt x="210" y="104"/>
                  </a:lnTo>
                  <a:lnTo>
                    <a:pt x="209" y="107"/>
                  </a:lnTo>
                  <a:lnTo>
                    <a:pt x="212" y="116"/>
                  </a:lnTo>
                  <a:lnTo>
                    <a:pt x="216" y="121"/>
                  </a:lnTo>
                  <a:lnTo>
                    <a:pt x="219" y="124"/>
                  </a:lnTo>
                  <a:lnTo>
                    <a:pt x="224" y="126"/>
                  </a:lnTo>
                  <a:lnTo>
                    <a:pt x="230" y="127"/>
                  </a:lnTo>
                  <a:lnTo>
                    <a:pt x="234" y="128"/>
                  </a:lnTo>
                  <a:lnTo>
                    <a:pt x="239" y="128"/>
                  </a:lnTo>
                  <a:lnTo>
                    <a:pt x="245" y="130"/>
                  </a:lnTo>
                  <a:lnTo>
                    <a:pt x="249" y="133"/>
                  </a:lnTo>
                  <a:lnTo>
                    <a:pt x="259" y="137"/>
                  </a:lnTo>
                  <a:lnTo>
                    <a:pt x="268" y="136"/>
                  </a:lnTo>
                  <a:lnTo>
                    <a:pt x="270" y="130"/>
                  </a:lnTo>
                  <a:lnTo>
                    <a:pt x="265" y="119"/>
                  </a:lnTo>
                  <a:lnTo>
                    <a:pt x="256" y="108"/>
                  </a:lnTo>
                  <a:lnTo>
                    <a:pt x="248" y="103"/>
                  </a:lnTo>
                  <a:lnTo>
                    <a:pt x="242" y="99"/>
                  </a:lnTo>
                  <a:lnTo>
                    <a:pt x="241" y="92"/>
                  </a:lnTo>
                  <a:lnTo>
                    <a:pt x="242" y="88"/>
                  </a:lnTo>
                  <a:lnTo>
                    <a:pt x="245" y="85"/>
                  </a:lnTo>
                  <a:lnTo>
                    <a:pt x="247" y="83"/>
                  </a:lnTo>
                  <a:lnTo>
                    <a:pt x="251" y="77"/>
                  </a:lnTo>
                  <a:lnTo>
                    <a:pt x="256" y="72"/>
                  </a:lnTo>
                  <a:lnTo>
                    <a:pt x="257" y="68"/>
                  </a:lnTo>
                  <a:lnTo>
                    <a:pt x="254" y="68"/>
                  </a:lnTo>
                  <a:lnTo>
                    <a:pt x="242" y="69"/>
                  </a:lnTo>
                  <a:lnTo>
                    <a:pt x="232" y="68"/>
                  </a:lnTo>
                  <a:lnTo>
                    <a:pt x="231" y="66"/>
                  </a:lnTo>
                  <a:lnTo>
                    <a:pt x="232" y="61"/>
                  </a:lnTo>
                  <a:lnTo>
                    <a:pt x="232" y="53"/>
                  </a:lnTo>
                  <a:lnTo>
                    <a:pt x="228" y="46"/>
                  </a:lnTo>
                  <a:lnTo>
                    <a:pt x="224" y="45"/>
                  </a:lnTo>
                  <a:lnTo>
                    <a:pt x="218" y="45"/>
                  </a:lnTo>
                  <a:lnTo>
                    <a:pt x="211" y="46"/>
                  </a:lnTo>
                  <a:lnTo>
                    <a:pt x="205" y="45"/>
                  </a:lnTo>
                  <a:lnTo>
                    <a:pt x="203" y="42"/>
                  </a:lnTo>
                  <a:lnTo>
                    <a:pt x="204" y="38"/>
                  </a:lnTo>
                  <a:lnTo>
                    <a:pt x="210" y="34"/>
                  </a:lnTo>
                  <a:lnTo>
                    <a:pt x="217" y="30"/>
                  </a:lnTo>
                  <a:lnTo>
                    <a:pt x="222" y="30"/>
                  </a:lnTo>
                  <a:lnTo>
                    <a:pt x="226" y="32"/>
                  </a:lnTo>
                  <a:lnTo>
                    <a:pt x="236" y="38"/>
                  </a:lnTo>
                  <a:lnTo>
                    <a:pt x="248" y="44"/>
                  </a:lnTo>
                  <a:lnTo>
                    <a:pt x="256" y="47"/>
                  </a:lnTo>
                  <a:lnTo>
                    <a:pt x="262" y="51"/>
                  </a:lnTo>
                  <a:lnTo>
                    <a:pt x="269" y="55"/>
                  </a:lnTo>
                  <a:lnTo>
                    <a:pt x="272" y="60"/>
                  </a:lnTo>
                  <a:lnTo>
                    <a:pt x="272" y="63"/>
                  </a:lnTo>
                  <a:lnTo>
                    <a:pt x="270" y="67"/>
                  </a:lnTo>
                  <a:lnTo>
                    <a:pt x="270" y="73"/>
                  </a:lnTo>
                  <a:lnTo>
                    <a:pt x="272" y="78"/>
                  </a:lnTo>
                  <a:lnTo>
                    <a:pt x="274" y="83"/>
                  </a:lnTo>
                  <a:lnTo>
                    <a:pt x="277" y="85"/>
                  </a:lnTo>
                  <a:lnTo>
                    <a:pt x="278" y="86"/>
                  </a:lnTo>
                  <a:lnTo>
                    <a:pt x="279" y="85"/>
                  </a:lnTo>
                  <a:lnTo>
                    <a:pt x="284" y="81"/>
                  </a:lnTo>
                  <a:lnTo>
                    <a:pt x="289" y="76"/>
                  </a:lnTo>
                  <a:lnTo>
                    <a:pt x="296" y="72"/>
                  </a:lnTo>
                  <a:lnTo>
                    <a:pt x="302" y="69"/>
                  </a:lnTo>
                  <a:lnTo>
                    <a:pt x="307" y="68"/>
                  </a:lnTo>
                  <a:lnTo>
                    <a:pt x="311" y="69"/>
                  </a:lnTo>
                  <a:lnTo>
                    <a:pt x="318" y="73"/>
                  </a:lnTo>
                  <a:lnTo>
                    <a:pt x="327" y="76"/>
                  </a:lnTo>
                  <a:lnTo>
                    <a:pt x="335" y="78"/>
                  </a:lnTo>
                  <a:lnTo>
                    <a:pt x="343" y="80"/>
                  </a:lnTo>
                  <a:lnTo>
                    <a:pt x="349" y="82"/>
                  </a:lnTo>
                  <a:lnTo>
                    <a:pt x="353" y="86"/>
                  </a:lnTo>
                  <a:lnTo>
                    <a:pt x="353" y="90"/>
                  </a:lnTo>
                  <a:lnTo>
                    <a:pt x="350" y="95"/>
                  </a:lnTo>
                  <a:lnTo>
                    <a:pt x="349" y="96"/>
                  </a:lnTo>
                  <a:lnTo>
                    <a:pt x="334" y="98"/>
                  </a:lnTo>
                  <a:lnTo>
                    <a:pt x="332" y="98"/>
                  </a:lnTo>
                  <a:lnTo>
                    <a:pt x="326" y="98"/>
                  </a:lnTo>
                  <a:lnTo>
                    <a:pt x="322" y="100"/>
                  </a:lnTo>
                  <a:lnTo>
                    <a:pt x="323" y="106"/>
                  </a:lnTo>
                  <a:lnTo>
                    <a:pt x="325" y="114"/>
                  </a:lnTo>
                  <a:lnTo>
                    <a:pt x="326" y="119"/>
                  </a:lnTo>
                  <a:lnTo>
                    <a:pt x="328" y="121"/>
                  </a:lnTo>
                  <a:lnTo>
                    <a:pt x="335" y="121"/>
                  </a:lnTo>
                  <a:lnTo>
                    <a:pt x="346" y="121"/>
                  </a:lnTo>
                  <a:lnTo>
                    <a:pt x="350" y="121"/>
                  </a:lnTo>
                  <a:lnTo>
                    <a:pt x="353" y="124"/>
                  </a:lnTo>
                  <a:lnTo>
                    <a:pt x="351" y="131"/>
                  </a:lnTo>
                  <a:lnTo>
                    <a:pt x="347" y="138"/>
                  </a:lnTo>
                  <a:lnTo>
                    <a:pt x="341" y="142"/>
                  </a:lnTo>
                  <a:lnTo>
                    <a:pt x="334" y="145"/>
                  </a:lnTo>
                  <a:lnTo>
                    <a:pt x="331" y="152"/>
                  </a:lnTo>
                  <a:lnTo>
                    <a:pt x="330" y="158"/>
                  </a:lnTo>
                  <a:lnTo>
                    <a:pt x="330" y="160"/>
                  </a:lnTo>
                  <a:lnTo>
                    <a:pt x="330" y="162"/>
                  </a:lnTo>
                  <a:lnTo>
                    <a:pt x="333" y="166"/>
                  </a:lnTo>
                  <a:lnTo>
                    <a:pt x="335" y="169"/>
                  </a:lnTo>
                  <a:lnTo>
                    <a:pt x="335" y="172"/>
                  </a:lnTo>
                  <a:lnTo>
                    <a:pt x="335" y="175"/>
                  </a:lnTo>
                  <a:lnTo>
                    <a:pt x="340" y="184"/>
                  </a:lnTo>
                  <a:lnTo>
                    <a:pt x="346" y="195"/>
                  </a:lnTo>
                  <a:lnTo>
                    <a:pt x="348" y="200"/>
                  </a:lnTo>
                  <a:lnTo>
                    <a:pt x="347" y="206"/>
                  </a:lnTo>
                  <a:lnTo>
                    <a:pt x="345" y="213"/>
                  </a:lnTo>
                  <a:lnTo>
                    <a:pt x="343" y="221"/>
                  </a:lnTo>
                  <a:lnTo>
                    <a:pt x="341" y="229"/>
                  </a:lnTo>
                  <a:lnTo>
                    <a:pt x="341" y="236"/>
                  </a:lnTo>
                  <a:lnTo>
                    <a:pt x="345" y="242"/>
                  </a:lnTo>
                  <a:lnTo>
                    <a:pt x="347" y="247"/>
                  </a:lnTo>
                  <a:lnTo>
                    <a:pt x="348" y="251"/>
                  </a:lnTo>
                  <a:lnTo>
                    <a:pt x="348" y="256"/>
                  </a:lnTo>
                  <a:lnTo>
                    <a:pt x="349" y="260"/>
                  </a:lnTo>
                  <a:lnTo>
                    <a:pt x="350" y="265"/>
                  </a:lnTo>
                  <a:lnTo>
                    <a:pt x="349" y="268"/>
                  </a:lnTo>
                  <a:lnTo>
                    <a:pt x="348" y="271"/>
                  </a:lnTo>
                  <a:lnTo>
                    <a:pt x="347" y="272"/>
                  </a:lnTo>
                  <a:lnTo>
                    <a:pt x="345" y="270"/>
                  </a:lnTo>
                  <a:lnTo>
                    <a:pt x="340" y="266"/>
                  </a:lnTo>
                  <a:lnTo>
                    <a:pt x="332" y="262"/>
                  </a:lnTo>
                  <a:lnTo>
                    <a:pt x="326" y="259"/>
                  </a:lnTo>
                  <a:lnTo>
                    <a:pt x="320" y="258"/>
                  </a:lnTo>
                  <a:lnTo>
                    <a:pt x="316" y="258"/>
                  </a:lnTo>
                  <a:lnTo>
                    <a:pt x="311" y="258"/>
                  </a:lnTo>
                  <a:lnTo>
                    <a:pt x="307" y="259"/>
                  </a:lnTo>
                  <a:lnTo>
                    <a:pt x="303" y="260"/>
                  </a:lnTo>
                  <a:lnTo>
                    <a:pt x="300" y="262"/>
                  </a:lnTo>
                  <a:lnTo>
                    <a:pt x="297" y="264"/>
                  </a:lnTo>
                  <a:lnTo>
                    <a:pt x="294" y="266"/>
                  </a:lnTo>
                  <a:lnTo>
                    <a:pt x="292" y="266"/>
                  </a:lnTo>
                  <a:lnTo>
                    <a:pt x="288" y="268"/>
                  </a:lnTo>
                  <a:lnTo>
                    <a:pt x="284" y="277"/>
                  </a:lnTo>
                  <a:lnTo>
                    <a:pt x="280" y="283"/>
                  </a:lnTo>
                  <a:lnTo>
                    <a:pt x="278" y="291"/>
                  </a:lnTo>
                  <a:lnTo>
                    <a:pt x="276" y="298"/>
                  </a:lnTo>
                  <a:lnTo>
                    <a:pt x="274" y="306"/>
                  </a:lnTo>
                  <a:lnTo>
                    <a:pt x="277" y="315"/>
                  </a:lnTo>
                  <a:lnTo>
                    <a:pt x="281" y="321"/>
                  </a:lnTo>
                  <a:lnTo>
                    <a:pt x="290" y="328"/>
                  </a:lnTo>
                  <a:lnTo>
                    <a:pt x="305" y="333"/>
                  </a:lnTo>
                  <a:lnTo>
                    <a:pt x="311" y="325"/>
                  </a:lnTo>
                  <a:lnTo>
                    <a:pt x="317" y="318"/>
                  </a:lnTo>
                  <a:lnTo>
                    <a:pt x="324" y="315"/>
                  </a:lnTo>
                  <a:lnTo>
                    <a:pt x="331" y="315"/>
                  </a:lnTo>
                  <a:lnTo>
                    <a:pt x="335" y="318"/>
                  </a:lnTo>
                  <a:lnTo>
                    <a:pt x="336" y="321"/>
                  </a:lnTo>
                  <a:lnTo>
                    <a:pt x="335" y="326"/>
                  </a:lnTo>
                  <a:lnTo>
                    <a:pt x="334" y="327"/>
                  </a:lnTo>
                  <a:lnTo>
                    <a:pt x="336" y="327"/>
                  </a:lnTo>
                  <a:lnTo>
                    <a:pt x="341" y="328"/>
                  </a:lnTo>
                  <a:lnTo>
                    <a:pt x="349" y="327"/>
                  </a:lnTo>
                  <a:lnTo>
                    <a:pt x="358" y="323"/>
                  </a:lnTo>
                  <a:lnTo>
                    <a:pt x="366" y="321"/>
                  </a:lnTo>
                  <a:lnTo>
                    <a:pt x="370" y="325"/>
                  </a:lnTo>
                  <a:lnTo>
                    <a:pt x="373" y="331"/>
                  </a:lnTo>
                  <a:lnTo>
                    <a:pt x="378" y="336"/>
                  </a:lnTo>
                  <a:lnTo>
                    <a:pt x="384" y="339"/>
                  </a:lnTo>
                  <a:lnTo>
                    <a:pt x="387" y="339"/>
                  </a:lnTo>
                  <a:lnTo>
                    <a:pt x="392" y="338"/>
                  </a:lnTo>
                  <a:lnTo>
                    <a:pt x="399" y="335"/>
                  </a:lnTo>
                  <a:lnTo>
                    <a:pt x="405" y="335"/>
                  </a:lnTo>
                  <a:lnTo>
                    <a:pt x="410" y="336"/>
                  </a:lnTo>
                  <a:lnTo>
                    <a:pt x="413" y="334"/>
                  </a:lnTo>
                  <a:lnTo>
                    <a:pt x="420" y="327"/>
                  </a:lnTo>
                  <a:lnTo>
                    <a:pt x="426" y="317"/>
                  </a:lnTo>
                  <a:lnTo>
                    <a:pt x="427" y="309"/>
                  </a:lnTo>
                  <a:lnTo>
                    <a:pt x="431" y="302"/>
                  </a:lnTo>
                  <a:lnTo>
                    <a:pt x="440" y="298"/>
                  </a:lnTo>
                  <a:lnTo>
                    <a:pt x="447" y="298"/>
                  </a:lnTo>
                  <a:lnTo>
                    <a:pt x="453" y="297"/>
                  </a:lnTo>
                  <a:lnTo>
                    <a:pt x="458" y="297"/>
                  </a:lnTo>
                  <a:lnTo>
                    <a:pt x="464" y="295"/>
                  </a:lnTo>
                  <a:lnTo>
                    <a:pt x="469" y="294"/>
                  </a:lnTo>
                  <a:lnTo>
                    <a:pt x="474" y="290"/>
                  </a:lnTo>
                  <a:lnTo>
                    <a:pt x="478" y="287"/>
                  </a:lnTo>
                  <a:lnTo>
                    <a:pt x="482" y="281"/>
                  </a:lnTo>
                  <a:lnTo>
                    <a:pt x="489" y="274"/>
                  </a:lnTo>
                  <a:lnTo>
                    <a:pt x="494" y="272"/>
                  </a:lnTo>
                  <a:lnTo>
                    <a:pt x="499" y="274"/>
                  </a:lnTo>
                  <a:lnTo>
                    <a:pt x="505" y="274"/>
                  </a:lnTo>
                  <a:lnTo>
                    <a:pt x="510" y="274"/>
                  </a:lnTo>
                  <a:lnTo>
                    <a:pt x="516" y="273"/>
                  </a:lnTo>
                  <a:lnTo>
                    <a:pt x="522" y="271"/>
                  </a:lnTo>
                  <a:lnTo>
                    <a:pt x="527" y="268"/>
                  </a:lnTo>
                  <a:lnTo>
                    <a:pt x="533" y="267"/>
                  </a:lnTo>
                  <a:lnTo>
                    <a:pt x="536" y="265"/>
                  </a:lnTo>
                  <a:lnTo>
                    <a:pt x="540" y="264"/>
                  </a:lnTo>
                  <a:lnTo>
                    <a:pt x="541" y="264"/>
                  </a:lnTo>
                  <a:lnTo>
                    <a:pt x="542" y="264"/>
                  </a:lnTo>
                  <a:lnTo>
                    <a:pt x="546" y="265"/>
                  </a:lnTo>
                  <a:lnTo>
                    <a:pt x="553" y="267"/>
                  </a:lnTo>
                  <a:lnTo>
                    <a:pt x="562" y="268"/>
                  </a:lnTo>
                  <a:lnTo>
                    <a:pt x="567" y="268"/>
                  </a:lnTo>
                  <a:lnTo>
                    <a:pt x="573" y="265"/>
                  </a:lnTo>
                  <a:lnTo>
                    <a:pt x="580" y="262"/>
                  </a:lnTo>
                  <a:lnTo>
                    <a:pt x="586" y="257"/>
                  </a:lnTo>
                  <a:lnTo>
                    <a:pt x="593" y="252"/>
                  </a:lnTo>
                  <a:lnTo>
                    <a:pt x="600" y="248"/>
                  </a:lnTo>
                  <a:lnTo>
                    <a:pt x="605" y="245"/>
                  </a:lnTo>
                  <a:lnTo>
                    <a:pt x="612" y="244"/>
                  </a:lnTo>
                  <a:lnTo>
                    <a:pt x="622" y="248"/>
                  </a:lnTo>
                  <a:lnTo>
                    <a:pt x="625" y="256"/>
                  </a:lnTo>
                  <a:lnTo>
                    <a:pt x="627" y="265"/>
                  </a:lnTo>
                  <a:lnTo>
                    <a:pt x="627" y="273"/>
                  </a:lnTo>
                  <a:lnTo>
                    <a:pt x="626" y="282"/>
                  </a:lnTo>
                  <a:lnTo>
                    <a:pt x="626" y="293"/>
                  </a:lnTo>
                  <a:lnTo>
                    <a:pt x="625" y="302"/>
                  </a:lnTo>
                  <a:lnTo>
                    <a:pt x="627" y="310"/>
                  </a:lnTo>
                  <a:lnTo>
                    <a:pt x="630" y="316"/>
                  </a:lnTo>
                  <a:lnTo>
                    <a:pt x="628" y="320"/>
                  </a:lnTo>
                  <a:lnTo>
                    <a:pt x="627" y="328"/>
                  </a:lnTo>
                  <a:lnTo>
                    <a:pt x="625" y="340"/>
                  </a:lnTo>
                  <a:lnTo>
                    <a:pt x="623" y="355"/>
                  </a:lnTo>
                  <a:lnTo>
                    <a:pt x="620" y="372"/>
                  </a:lnTo>
                  <a:lnTo>
                    <a:pt x="616" y="388"/>
                  </a:lnTo>
                  <a:lnTo>
                    <a:pt x="607" y="404"/>
                  </a:lnTo>
                  <a:lnTo>
                    <a:pt x="602" y="411"/>
                  </a:lnTo>
                  <a:lnTo>
                    <a:pt x="597" y="418"/>
                  </a:lnTo>
                  <a:lnTo>
                    <a:pt x="594" y="425"/>
                  </a:lnTo>
                  <a:lnTo>
                    <a:pt x="590" y="432"/>
                  </a:lnTo>
                  <a:lnTo>
                    <a:pt x="586" y="439"/>
                  </a:lnTo>
                  <a:lnTo>
                    <a:pt x="582" y="446"/>
                  </a:lnTo>
                  <a:lnTo>
                    <a:pt x="577" y="455"/>
                  </a:lnTo>
                  <a:lnTo>
                    <a:pt x="571" y="464"/>
                  </a:lnTo>
                  <a:lnTo>
                    <a:pt x="561" y="481"/>
                  </a:lnTo>
                  <a:lnTo>
                    <a:pt x="555" y="493"/>
                  </a:lnTo>
                  <a:lnTo>
                    <a:pt x="549" y="501"/>
                  </a:lnTo>
                  <a:lnTo>
                    <a:pt x="541" y="509"/>
                  </a:lnTo>
                  <a:lnTo>
                    <a:pt x="534" y="517"/>
                  </a:lnTo>
                  <a:lnTo>
                    <a:pt x="532" y="523"/>
                  </a:lnTo>
                  <a:lnTo>
                    <a:pt x="528" y="529"/>
                  </a:lnTo>
                  <a:lnTo>
                    <a:pt x="523" y="534"/>
                  </a:lnTo>
                  <a:lnTo>
                    <a:pt x="515" y="540"/>
                  </a:lnTo>
                  <a:lnTo>
                    <a:pt x="508" y="547"/>
                  </a:lnTo>
                  <a:lnTo>
                    <a:pt x="503" y="551"/>
                  </a:lnTo>
                  <a:lnTo>
                    <a:pt x="501" y="553"/>
                  </a:lnTo>
                  <a:lnTo>
                    <a:pt x="503" y="533"/>
                  </a:lnTo>
                  <a:lnTo>
                    <a:pt x="505" y="517"/>
                  </a:lnTo>
                  <a:lnTo>
                    <a:pt x="508" y="502"/>
                  </a:lnTo>
                  <a:lnTo>
                    <a:pt x="509" y="486"/>
                  </a:lnTo>
                  <a:lnTo>
                    <a:pt x="511" y="471"/>
                  </a:lnTo>
                  <a:lnTo>
                    <a:pt x="512" y="458"/>
                  </a:lnTo>
                  <a:lnTo>
                    <a:pt x="510" y="450"/>
                  </a:lnTo>
                  <a:lnTo>
                    <a:pt x="499" y="446"/>
                  </a:lnTo>
                  <a:lnTo>
                    <a:pt x="490" y="445"/>
                  </a:lnTo>
                  <a:lnTo>
                    <a:pt x="484" y="445"/>
                  </a:lnTo>
                  <a:lnTo>
                    <a:pt x="477" y="445"/>
                  </a:lnTo>
                  <a:lnTo>
                    <a:pt x="471" y="443"/>
                  </a:lnTo>
                  <a:lnTo>
                    <a:pt x="465" y="443"/>
                  </a:lnTo>
                  <a:lnTo>
                    <a:pt x="458" y="442"/>
                  </a:lnTo>
                  <a:lnTo>
                    <a:pt x="451" y="440"/>
                  </a:lnTo>
                  <a:lnTo>
                    <a:pt x="445" y="438"/>
                  </a:lnTo>
                  <a:lnTo>
                    <a:pt x="433" y="433"/>
                  </a:lnTo>
                  <a:lnTo>
                    <a:pt x="430" y="432"/>
                  </a:lnTo>
                  <a:lnTo>
                    <a:pt x="428" y="426"/>
                  </a:lnTo>
                  <a:lnTo>
                    <a:pt x="427" y="410"/>
                  </a:lnTo>
                  <a:lnTo>
                    <a:pt x="427" y="389"/>
                  </a:lnTo>
                  <a:lnTo>
                    <a:pt x="428" y="376"/>
                  </a:lnTo>
                  <a:lnTo>
                    <a:pt x="427" y="365"/>
                  </a:lnTo>
                  <a:lnTo>
                    <a:pt x="419" y="359"/>
                  </a:lnTo>
                  <a:lnTo>
                    <a:pt x="410" y="357"/>
                  </a:lnTo>
                  <a:lnTo>
                    <a:pt x="405" y="359"/>
                  </a:lnTo>
                  <a:lnTo>
                    <a:pt x="399" y="362"/>
                  </a:lnTo>
                  <a:lnTo>
                    <a:pt x="387" y="363"/>
                  </a:lnTo>
                  <a:lnTo>
                    <a:pt x="380" y="363"/>
                  </a:lnTo>
                  <a:lnTo>
                    <a:pt x="373" y="364"/>
                  </a:lnTo>
                  <a:lnTo>
                    <a:pt x="369" y="364"/>
                  </a:lnTo>
                  <a:lnTo>
                    <a:pt x="364" y="365"/>
                  </a:lnTo>
                  <a:lnTo>
                    <a:pt x="359" y="365"/>
                  </a:lnTo>
                  <a:lnTo>
                    <a:pt x="355" y="365"/>
                  </a:lnTo>
                  <a:lnTo>
                    <a:pt x="348" y="364"/>
                  </a:lnTo>
                  <a:lnTo>
                    <a:pt x="341" y="361"/>
                  </a:lnTo>
                  <a:lnTo>
                    <a:pt x="334" y="357"/>
                  </a:lnTo>
                  <a:lnTo>
                    <a:pt x="330" y="354"/>
                  </a:lnTo>
                  <a:lnTo>
                    <a:pt x="326" y="353"/>
                  </a:lnTo>
                  <a:lnTo>
                    <a:pt x="323" y="351"/>
                  </a:lnTo>
                  <a:lnTo>
                    <a:pt x="319" y="351"/>
                  </a:lnTo>
                  <a:lnTo>
                    <a:pt x="316" y="353"/>
                  </a:lnTo>
                  <a:lnTo>
                    <a:pt x="312" y="355"/>
                  </a:lnTo>
                  <a:lnTo>
                    <a:pt x="307" y="358"/>
                  </a:lnTo>
                  <a:lnTo>
                    <a:pt x="297" y="366"/>
                  </a:lnTo>
                  <a:lnTo>
                    <a:pt x="292" y="373"/>
                  </a:lnTo>
                  <a:lnTo>
                    <a:pt x="286" y="377"/>
                  </a:lnTo>
                  <a:lnTo>
                    <a:pt x="274" y="376"/>
                  </a:lnTo>
                  <a:lnTo>
                    <a:pt x="268" y="374"/>
                  </a:lnTo>
                  <a:lnTo>
                    <a:pt x="262" y="374"/>
                  </a:lnTo>
                  <a:lnTo>
                    <a:pt x="257" y="374"/>
                  </a:lnTo>
                  <a:lnTo>
                    <a:pt x="251" y="376"/>
                  </a:lnTo>
                  <a:lnTo>
                    <a:pt x="247" y="376"/>
                  </a:lnTo>
                  <a:lnTo>
                    <a:pt x="242" y="373"/>
                  </a:lnTo>
                  <a:lnTo>
                    <a:pt x="239" y="370"/>
                  </a:lnTo>
                  <a:lnTo>
                    <a:pt x="234" y="363"/>
                  </a:lnTo>
                  <a:lnTo>
                    <a:pt x="227" y="350"/>
                  </a:lnTo>
                  <a:lnTo>
                    <a:pt x="223" y="342"/>
                  </a:lnTo>
                  <a:lnTo>
                    <a:pt x="218" y="338"/>
                  </a:lnTo>
                  <a:lnTo>
                    <a:pt x="210" y="332"/>
                  </a:lnTo>
                  <a:lnTo>
                    <a:pt x="202" y="325"/>
                  </a:lnTo>
                  <a:lnTo>
                    <a:pt x="196" y="323"/>
                  </a:lnTo>
                  <a:lnTo>
                    <a:pt x="192" y="321"/>
                  </a:lnTo>
                  <a:lnTo>
                    <a:pt x="182" y="319"/>
                  </a:lnTo>
                  <a:lnTo>
                    <a:pt x="173" y="318"/>
                  </a:lnTo>
                  <a:lnTo>
                    <a:pt x="166" y="318"/>
                  </a:lnTo>
                  <a:lnTo>
                    <a:pt x="163" y="320"/>
                  </a:lnTo>
                  <a:lnTo>
                    <a:pt x="164" y="324"/>
                  </a:lnTo>
                  <a:lnTo>
                    <a:pt x="170" y="329"/>
                  </a:lnTo>
                  <a:lnTo>
                    <a:pt x="174" y="335"/>
                  </a:lnTo>
                  <a:lnTo>
                    <a:pt x="179" y="340"/>
                  </a:lnTo>
                  <a:lnTo>
                    <a:pt x="184" y="342"/>
                  </a:lnTo>
                  <a:lnTo>
                    <a:pt x="187" y="346"/>
                  </a:lnTo>
                  <a:lnTo>
                    <a:pt x="192" y="347"/>
                  </a:lnTo>
                  <a:lnTo>
                    <a:pt x="195" y="349"/>
                  </a:lnTo>
                  <a:lnTo>
                    <a:pt x="199" y="350"/>
                  </a:lnTo>
                  <a:lnTo>
                    <a:pt x="202" y="353"/>
                  </a:lnTo>
                  <a:lnTo>
                    <a:pt x="201" y="356"/>
                  </a:lnTo>
                  <a:lnTo>
                    <a:pt x="199" y="358"/>
                  </a:lnTo>
                  <a:lnTo>
                    <a:pt x="196" y="359"/>
                  </a:lnTo>
                  <a:lnTo>
                    <a:pt x="187" y="357"/>
                  </a:lnTo>
                  <a:lnTo>
                    <a:pt x="180" y="354"/>
                  </a:lnTo>
                  <a:lnTo>
                    <a:pt x="174" y="351"/>
                  </a:lnTo>
                  <a:lnTo>
                    <a:pt x="170" y="349"/>
                  </a:lnTo>
                  <a:lnTo>
                    <a:pt x="165" y="348"/>
                  </a:lnTo>
                  <a:lnTo>
                    <a:pt x="162" y="346"/>
                  </a:lnTo>
                  <a:lnTo>
                    <a:pt x="158" y="342"/>
                  </a:lnTo>
                  <a:lnTo>
                    <a:pt x="155" y="340"/>
                  </a:lnTo>
                  <a:lnTo>
                    <a:pt x="149" y="334"/>
                  </a:lnTo>
                  <a:lnTo>
                    <a:pt x="146" y="328"/>
                  </a:lnTo>
                  <a:lnTo>
                    <a:pt x="145" y="320"/>
                  </a:lnTo>
                  <a:lnTo>
                    <a:pt x="145" y="311"/>
                  </a:lnTo>
                  <a:lnTo>
                    <a:pt x="145" y="303"/>
                  </a:lnTo>
                  <a:lnTo>
                    <a:pt x="143" y="298"/>
                  </a:lnTo>
                  <a:lnTo>
                    <a:pt x="139" y="295"/>
                  </a:lnTo>
                  <a:lnTo>
                    <a:pt x="131" y="289"/>
                  </a:lnTo>
                  <a:lnTo>
                    <a:pt x="122" y="282"/>
                  </a:lnTo>
                  <a:lnTo>
                    <a:pt x="116" y="278"/>
                  </a:lnTo>
                  <a:lnTo>
                    <a:pt x="112" y="274"/>
                  </a:lnTo>
                  <a:lnTo>
                    <a:pt x="110" y="270"/>
                  </a:lnTo>
                  <a:lnTo>
                    <a:pt x="110" y="263"/>
                  </a:lnTo>
                  <a:lnTo>
                    <a:pt x="111" y="256"/>
                  </a:lnTo>
                  <a:lnTo>
                    <a:pt x="111" y="247"/>
                  </a:lnTo>
                  <a:lnTo>
                    <a:pt x="110" y="235"/>
                  </a:lnTo>
                  <a:lnTo>
                    <a:pt x="107" y="225"/>
                  </a:lnTo>
                  <a:lnTo>
                    <a:pt x="101" y="218"/>
                  </a:lnTo>
                  <a:lnTo>
                    <a:pt x="95" y="211"/>
                  </a:lnTo>
                  <a:lnTo>
                    <a:pt x="91" y="203"/>
                  </a:lnTo>
                  <a:lnTo>
                    <a:pt x="86" y="195"/>
                  </a:lnTo>
                  <a:lnTo>
                    <a:pt x="80" y="189"/>
                  </a:lnTo>
                  <a:lnTo>
                    <a:pt x="78" y="186"/>
                  </a:lnTo>
                  <a:lnTo>
                    <a:pt x="81" y="184"/>
                  </a:lnTo>
                  <a:lnTo>
                    <a:pt x="88" y="186"/>
                  </a:lnTo>
                  <a:lnTo>
                    <a:pt x="93" y="189"/>
                  </a:lnTo>
                  <a:lnTo>
                    <a:pt x="96" y="190"/>
                  </a:lnTo>
                  <a:lnTo>
                    <a:pt x="100" y="186"/>
                  </a:lnTo>
                  <a:lnTo>
                    <a:pt x="103" y="177"/>
                  </a:lnTo>
                  <a:lnTo>
                    <a:pt x="104" y="171"/>
                  </a:lnTo>
                  <a:lnTo>
                    <a:pt x="103" y="165"/>
                  </a:lnTo>
                  <a:lnTo>
                    <a:pt x="99" y="162"/>
                  </a:lnTo>
                  <a:lnTo>
                    <a:pt x="94" y="162"/>
                  </a:lnTo>
                  <a:lnTo>
                    <a:pt x="91" y="162"/>
                  </a:lnTo>
                  <a:lnTo>
                    <a:pt x="86" y="164"/>
                  </a:lnTo>
                  <a:lnTo>
                    <a:pt x="81" y="164"/>
                  </a:lnTo>
                  <a:lnTo>
                    <a:pt x="77" y="164"/>
                  </a:lnTo>
                  <a:lnTo>
                    <a:pt x="74" y="165"/>
                  </a:lnTo>
                  <a:lnTo>
                    <a:pt x="73" y="164"/>
                  </a:lnTo>
                  <a:lnTo>
                    <a:pt x="68" y="158"/>
                  </a:lnTo>
                  <a:lnTo>
                    <a:pt x="63" y="154"/>
                  </a:lnTo>
                  <a:lnTo>
                    <a:pt x="58" y="153"/>
                  </a:lnTo>
                  <a:lnTo>
                    <a:pt x="54" y="152"/>
                  </a:lnTo>
                  <a:lnTo>
                    <a:pt x="48" y="152"/>
                  </a:lnTo>
                  <a:lnTo>
                    <a:pt x="42" y="153"/>
                  </a:lnTo>
                  <a:lnTo>
                    <a:pt x="38" y="153"/>
                  </a:lnTo>
                  <a:lnTo>
                    <a:pt x="33" y="154"/>
                  </a:lnTo>
                  <a:lnTo>
                    <a:pt x="28" y="154"/>
                  </a:lnTo>
                  <a:lnTo>
                    <a:pt x="22" y="156"/>
                  </a:lnTo>
                  <a:lnTo>
                    <a:pt x="18" y="154"/>
                  </a:lnTo>
                  <a:lnTo>
                    <a:pt x="17" y="152"/>
                  </a:lnTo>
                  <a:lnTo>
                    <a:pt x="20" y="144"/>
                  </a:lnTo>
                  <a:lnTo>
                    <a:pt x="26" y="136"/>
                  </a:lnTo>
                  <a:lnTo>
                    <a:pt x="32" y="130"/>
                  </a:lnTo>
                  <a:lnTo>
                    <a:pt x="36" y="126"/>
                  </a:lnTo>
                  <a:lnTo>
                    <a:pt x="39" y="119"/>
                  </a:lnTo>
                  <a:lnTo>
                    <a:pt x="40" y="111"/>
                  </a:lnTo>
                  <a:lnTo>
                    <a:pt x="41" y="105"/>
                  </a:lnTo>
                  <a:lnTo>
                    <a:pt x="39" y="103"/>
                  </a:lnTo>
                  <a:lnTo>
                    <a:pt x="32" y="101"/>
                  </a:lnTo>
                  <a:lnTo>
                    <a:pt x="24" y="103"/>
                  </a:lnTo>
                  <a:lnTo>
                    <a:pt x="18" y="105"/>
                  </a:lnTo>
                  <a:lnTo>
                    <a:pt x="14" y="107"/>
                  </a:lnTo>
                  <a:lnTo>
                    <a:pt x="7" y="107"/>
                  </a:lnTo>
                  <a:lnTo>
                    <a:pt x="3" y="106"/>
                  </a:lnTo>
                  <a:lnTo>
                    <a:pt x="1" y="105"/>
                  </a:lnTo>
                  <a:lnTo>
                    <a:pt x="0" y="106"/>
                  </a:lnTo>
                  <a:lnTo>
                    <a:pt x="4" y="95"/>
                  </a:lnTo>
                  <a:lnTo>
                    <a:pt x="11" y="81"/>
                  </a:lnTo>
                  <a:lnTo>
                    <a:pt x="22" y="65"/>
                  </a:lnTo>
                  <a:lnTo>
                    <a:pt x="34" y="47"/>
                  </a:lnTo>
                  <a:lnTo>
                    <a:pt x="47" y="32"/>
                  </a:lnTo>
                  <a:lnTo>
                    <a:pt x="59" y="17"/>
                  </a:lnTo>
                  <a:lnTo>
                    <a:pt x="71" y="7"/>
                  </a:lnTo>
                  <a:lnTo>
                    <a:pt x="80" y="0"/>
                  </a:lnTo>
                  <a:close/>
                </a:path>
              </a:pathLst>
            </a:custGeom>
            <a:solidFill>
              <a:srgbClr val="000000"/>
            </a:solidFill>
            <a:ln w="9525">
              <a:noFill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Rectangle 8">
            <a:extLst>
              <a:ext uri="{FF2B5EF4-FFF2-40B4-BE49-F238E27FC236}">
                <a16:creationId xmlns:a16="http://schemas.microsoft.com/office/drawing/2014/main" id="{EB4ABE00-0A2E-C409-F706-52F7617570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26843" y="2431532"/>
            <a:ext cx="259900" cy="2460508"/>
          </a:xfrm>
          <a:prstGeom prst="rect">
            <a:avLst/>
          </a:prstGeom>
          <a:solidFill>
            <a:schemeClr val="bg1"/>
          </a:solidFill>
          <a:ln w="38100">
            <a:noFill/>
            <a:miter lim="800000"/>
            <a:headEnd/>
            <a:tailEnd/>
          </a:ln>
        </p:spPr>
        <p:txBody>
          <a:bodyPr wrap="square" anchor="ctr">
            <a:spAutoFit/>
          </a:bodyPr>
          <a:lstStyle/>
          <a:p>
            <a:endParaRPr lang="en-US"/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0B9B2103-6849-1CDD-6631-0956A1B4C3C6}"/>
              </a:ext>
            </a:extLst>
          </p:cNvPr>
          <p:cNvSpPr>
            <a:spLocks noChangeShapeType="1"/>
          </p:cNvSpPr>
          <p:nvPr/>
        </p:nvSpPr>
        <p:spPr bwMode="auto">
          <a:xfrm>
            <a:off x="9152389" y="2443360"/>
            <a:ext cx="0" cy="793526"/>
          </a:xfrm>
          <a:prstGeom prst="line">
            <a:avLst/>
          </a:prstGeom>
          <a:noFill/>
          <a:ln w="38100">
            <a:solidFill>
              <a:schemeClr val="tx2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7" name="Group 10">
            <a:extLst>
              <a:ext uri="{FF2B5EF4-FFF2-40B4-BE49-F238E27FC236}">
                <a16:creationId xmlns:a16="http://schemas.microsoft.com/office/drawing/2014/main" id="{5F42BFCB-BBBB-B98D-49DB-ACD497A801F3}"/>
              </a:ext>
            </a:extLst>
          </p:cNvPr>
          <p:cNvGrpSpPr>
            <a:grpSpLocks/>
          </p:cNvGrpSpPr>
          <p:nvPr/>
        </p:nvGrpSpPr>
        <p:grpSpPr bwMode="auto">
          <a:xfrm>
            <a:off x="9061769" y="1757990"/>
            <a:ext cx="181239" cy="480280"/>
            <a:chOff x="4333" y="1097"/>
            <a:chExt cx="140" cy="485"/>
          </a:xfrm>
        </p:grpSpPr>
        <p:sp>
          <p:nvSpPr>
            <p:cNvPr id="8" name="AutoShape 11">
              <a:extLst>
                <a:ext uri="{FF2B5EF4-FFF2-40B4-BE49-F238E27FC236}">
                  <a16:creationId xmlns:a16="http://schemas.microsoft.com/office/drawing/2014/main" id="{94ED34C7-7BCA-46DD-9143-CAFE93DD8C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33" y="1097"/>
              <a:ext cx="140" cy="316"/>
            </a:xfrm>
            <a:prstGeom prst="smileyFace">
              <a:avLst>
                <a:gd name="adj" fmla="val 4653"/>
              </a:avLst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/>
            </a:p>
          </p:txBody>
        </p:sp>
        <p:grpSp>
          <p:nvGrpSpPr>
            <p:cNvPr id="9" name="Group 12">
              <a:extLst>
                <a:ext uri="{FF2B5EF4-FFF2-40B4-BE49-F238E27FC236}">
                  <a16:creationId xmlns:a16="http://schemas.microsoft.com/office/drawing/2014/main" id="{9946416C-D253-1DDA-79D3-4E9291AAC34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349" y="1419"/>
              <a:ext cx="114" cy="163"/>
              <a:chOff x="4349" y="1419"/>
              <a:chExt cx="114" cy="231"/>
            </a:xfrm>
          </p:grpSpPr>
          <p:sp>
            <p:nvSpPr>
              <p:cNvPr id="10" name="Line 13">
                <a:extLst>
                  <a:ext uri="{FF2B5EF4-FFF2-40B4-BE49-F238E27FC236}">
                    <a16:creationId xmlns:a16="http://schemas.microsoft.com/office/drawing/2014/main" id="{E6387E4C-150E-F731-75D1-2D0956BF0C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406" y="1419"/>
                <a:ext cx="0" cy="180"/>
              </a:xfrm>
              <a:prstGeom prst="line">
                <a:avLst/>
              </a:prstGeom>
              <a:noFill/>
              <a:ln w="381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endParaRPr lang="en-US"/>
              </a:p>
            </p:txBody>
          </p:sp>
          <p:grpSp>
            <p:nvGrpSpPr>
              <p:cNvPr id="11" name="Group 14">
                <a:extLst>
                  <a:ext uri="{FF2B5EF4-FFF2-40B4-BE49-F238E27FC236}">
                    <a16:creationId xmlns:a16="http://schemas.microsoft.com/office/drawing/2014/main" id="{F0B81286-7B3F-7CFF-5709-46DB979F010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349" y="1593"/>
                <a:ext cx="114" cy="57"/>
                <a:chOff x="4350" y="1560"/>
                <a:chExt cx="114" cy="57"/>
              </a:xfrm>
            </p:grpSpPr>
            <p:sp>
              <p:nvSpPr>
                <p:cNvPr id="15" name="Line 15">
                  <a:extLst>
                    <a:ext uri="{FF2B5EF4-FFF2-40B4-BE49-F238E27FC236}">
                      <a16:creationId xmlns:a16="http://schemas.microsoft.com/office/drawing/2014/main" id="{6A0BDE36-40B1-57FF-ACD8-188DA5B12BF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16" name="Line 16">
                  <a:extLst>
                    <a:ext uri="{FF2B5EF4-FFF2-40B4-BE49-F238E27FC236}">
                      <a16:creationId xmlns:a16="http://schemas.microsoft.com/office/drawing/2014/main" id="{77A5B3AE-77F8-B24F-78C2-BC48D2814EB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  <p:grpSp>
            <p:nvGrpSpPr>
              <p:cNvPr id="12" name="Group 17">
                <a:extLst>
                  <a:ext uri="{FF2B5EF4-FFF2-40B4-BE49-F238E27FC236}">
                    <a16:creationId xmlns:a16="http://schemas.microsoft.com/office/drawing/2014/main" id="{3277D0EF-FFC7-A1F4-7F26-2EFD02D5EAC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 flipV="1">
                <a:off x="4349" y="1443"/>
                <a:ext cx="114" cy="57"/>
                <a:chOff x="4350" y="1560"/>
                <a:chExt cx="114" cy="57"/>
              </a:xfrm>
            </p:grpSpPr>
            <p:sp>
              <p:nvSpPr>
                <p:cNvPr id="13" name="Line 18">
                  <a:extLst>
                    <a:ext uri="{FF2B5EF4-FFF2-40B4-BE49-F238E27FC236}">
                      <a16:creationId xmlns:a16="http://schemas.microsoft.com/office/drawing/2014/main" id="{C3BBA76F-F303-AD1C-EA2A-9FC9A1F7BD55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flipH="1">
                  <a:off x="4350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  <p:sp>
              <p:nvSpPr>
                <p:cNvPr id="14" name="Line 19">
                  <a:extLst>
                    <a:ext uri="{FF2B5EF4-FFF2-40B4-BE49-F238E27FC236}">
                      <a16:creationId xmlns:a16="http://schemas.microsoft.com/office/drawing/2014/main" id="{275589CF-CE46-5766-BBCA-0D5651CFD7E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 flipH="1">
                  <a:off x="4407" y="1560"/>
                  <a:ext cx="57" cy="57"/>
                </a:xfrm>
                <a:prstGeom prst="line">
                  <a:avLst/>
                </a:prstGeom>
                <a:noFill/>
                <a:ln w="38100">
                  <a:solidFill>
                    <a:schemeClr val="accent1"/>
                  </a:solidFill>
                  <a:round/>
                  <a:headEnd/>
                  <a:tailEnd/>
                </a:ln>
              </p:spPr>
              <p:txBody>
                <a:bodyPr wrap="none" anchor="ctr">
                  <a:spAutoFit/>
                </a:bodyPr>
                <a:lstStyle/>
                <a:p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64275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7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Kinetic Energy</a:t>
            </a:r>
          </a:p>
        </p:txBody>
      </p:sp>
      <p:sp>
        <p:nvSpPr>
          <p:cNvPr id="2037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Recall that Kinetic energy can be written as</a:t>
            </a:r>
          </a:p>
          <a:p>
            <a:endParaRPr lang="en-US"/>
          </a:p>
          <a:p>
            <a:r>
              <a:rPr lang="en-US"/>
              <a:t>For SHM</a:t>
            </a:r>
          </a:p>
        </p:txBody>
      </p:sp>
      <p:sp>
        <p:nvSpPr>
          <p:cNvPr id="203780" name="Rectangle 4"/>
          <p:cNvSpPr>
            <a:spLocks noChangeArrowheads="1"/>
          </p:cNvSpPr>
          <p:nvPr/>
        </p:nvSpPr>
        <p:spPr bwMode="auto">
          <a:xfrm>
            <a:off x="1524001" y="3049072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3781" name="Object 5"/>
          <p:cNvGraphicFramePr>
            <a:graphicFrameLocks noChangeAspect="1"/>
          </p:cNvGraphicFramePr>
          <p:nvPr/>
        </p:nvGraphicFramePr>
        <p:xfrm>
          <a:off x="4614864" y="2347914"/>
          <a:ext cx="1309687" cy="74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700" progId="Equation.3">
                  <p:embed/>
                </p:oleObj>
              </mc:Choice>
              <mc:Fallback>
                <p:oleObj name="Equation" r:id="rId2" imgW="685800" imgH="393700" progId="Equation.3">
                  <p:embed/>
                  <p:pic>
                    <p:nvPicPr>
                      <p:cNvPr id="203781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14864" y="2347914"/>
                        <a:ext cx="1309687" cy="7461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782" name="Rectangle 6"/>
          <p:cNvSpPr>
            <a:spLocks noChangeArrowheads="1"/>
          </p:cNvSpPr>
          <p:nvPr/>
        </p:nvSpPr>
        <p:spPr bwMode="auto">
          <a:xfrm>
            <a:off x="1524001" y="2429947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3783" name="Object 7"/>
          <p:cNvGraphicFramePr>
            <a:graphicFrameLocks noChangeAspect="1"/>
          </p:cNvGraphicFramePr>
          <p:nvPr/>
        </p:nvGraphicFramePr>
        <p:xfrm>
          <a:off x="4772026" y="3384550"/>
          <a:ext cx="2879725" cy="2578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16100" imgH="1625600" progId="Equation.3">
                  <p:embed/>
                </p:oleObj>
              </mc:Choice>
              <mc:Fallback>
                <p:oleObj name="Equation" r:id="rId4" imgW="1816100" imgH="1625600" progId="Equation.3">
                  <p:embed/>
                  <p:pic>
                    <p:nvPicPr>
                      <p:cNvPr id="20378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72026" y="3384550"/>
                        <a:ext cx="2879725" cy="2578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Potential Energy</a:t>
            </a:r>
          </a:p>
        </p:txBody>
      </p:sp>
      <p:sp>
        <p:nvSpPr>
          <p:cNvPr id="20480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Recall that potential energy of a spring is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Then for SHM</a:t>
            </a:r>
          </a:p>
        </p:txBody>
      </p:sp>
      <p:sp>
        <p:nvSpPr>
          <p:cNvPr id="204804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05" name="Object 5"/>
          <p:cNvGraphicFramePr>
            <a:graphicFrameLocks noChangeAspect="1"/>
          </p:cNvGraphicFramePr>
          <p:nvPr/>
        </p:nvGraphicFramePr>
        <p:xfrm>
          <a:off x="5572126" y="2263776"/>
          <a:ext cx="1273175" cy="8032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22080" imgH="393480" progId="Equation.3">
                  <p:embed/>
                </p:oleObj>
              </mc:Choice>
              <mc:Fallback>
                <p:oleObj name="Equation" r:id="rId2" imgW="622080" imgH="393480" progId="Equation.3">
                  <p:embed/>
                  <p:pic>
                    <p:nvPicPr>
                      <p:cNvPr id="204805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72126" y="2263776"/>
                        <a:ext cx="1273175" cy="8032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06" name="Rectangle 6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4807" name="Object 7"/>
          <p:cNvGraphicFramePr>
            <a:graphicFrameLocks noChangeAspect="1"/>
          </p:cNvGraphicFramePr>
          <p:nvPr/>
        </p:nvGraphicFramePr>
        <p:xfrm>
          <a:off x="4173539" y="3994150"/>
          <a:ext cx="3925887" cy="1030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485720" imgH="393480" progId="Equation.3">
                  <p:embed/>
                </p:oleObj>
              </mc:Choice>
              <mc:Fallback>
                <p:oleObj name="Equation" r:id="rId4" imgW="1485720" imgH="393480" progId="Equation.3">
                  <p:embed/>
                  <p:pic>
                    <p:nvPicPr>
                      <p:cNvPr id="20480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73539" y="3994150"/>
                        <a:ext cx="3925887" cy="1030288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43"/>
          <p:cNvCxnSpPr/>
          <p:nvPr/>
        </p:nvCxnSpPr>
        <p:spPr>
          <a:xfrm>
            <a:off x="2484582" y="3768435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7" name="Group 2"/>
          <p:cNvGrpSpPr>
            <a:grpSpLocks/>
          </p:cNvGrpSpPr>
          <p:nvPr/>
        </p:nvGrpSpPr>
        <p:grpSpPr bwMode="auto">
          <a:xfrm>
            <a:off x="3089275" y="3325814"/>
            <a:ext cx="1925638" cy="1057275"/>
            <a:chOff x="176" y="1300"/>
            <a:chExt cx="1213" cy="666"/>
          </a:xfrm>
        </p:grpSpPr>
        <p:sp>
          <p:nvSpPr>
            <p:cNvPr id="8" name="AutoShape 3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9" name="Text Box 4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Line 6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7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39" name="Line 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Line 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3" name="Group 10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37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4" name="Group 13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35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5" name="Group 16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33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6" name="Group 19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31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7" name="Group 22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9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25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7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9" name="Group 28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5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" name="Line 31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Box 32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 dirty="0"/>
                <a:t>x=0</a:t>
              </a:r>
            </a:p>
          </p:txBody>
        </p:sp>
        <p:sp>
          <p:nvSpPr>
            <p:cNvPr id="22" name="Line 33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 Box 34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4" name="Text Box 35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41" name="Text Box 141"/>
          <p:cNvSpPr txBox="1">
            <a:spLocks noChangeArrowheads="1"/>
          </p:cNvSpPr>
          <p:nvPr/>
        </p:nvSpPr>
        <p:spPr bwMode="auto">
          <a:xfrm>
            <a:off x="4418013" y="2916532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42" name="Line 142"/>
          <p:cNvSpPr>
            <a:spLocks noChangeShapeType="1"/>
          </p:cNvSpPr>
          <p:nvPr/>
        </p:nvSpPr>
        <p:spPr bwMode="auto">
          <a:xfrm flipH="1">
            <a:off x="4466146" y="2966149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47" name="Text Box 32"/>
          <p:cNvSpPr txBox="1">
            <a:spLocks noChangeArrowheads="1"/>
          </p:cNvSpPr>
          <p:nvPr/>
        </p:nvSpPr>
        <p:spPr bwMode="auto">
          <a:xfrm>
            <a:off x="5684405" y="3584143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48" name="Straight Connector 47"/>
          <p:cNvCxnSpPr/>
          <p:nvPr/>
        </p:nvCxnSpPr>
        <p:spPr>
          <a:xfrm flipV="1">
            <a:off x="4014428" y="2724727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9245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8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Total Mechanical Energy</a:t>
            </a:r>
          </a:p>
        </p:txBody>
      </p:sp>
      <p:sp>
        <p:nvSpPr>
          <p:cNvPr id="2058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95488" y="4024313"/>
            <a:ext cx="8229600" cy="1027112"/>
          </a:xfrm>
        </p:spPr>
        <p:txBody>
          <a:bodyPr/>
          <a:lstStyle/>
          <a:p>
            <a:r>
              <a:rPr lang="en-US"/>
              <a:t>This is an astounding result!</a:t>
            </a:r>
          </a:p>
        </p:txBody>
      </p:sp>
      <p:sp>
        <p:nvSpPr>
          <p:cNvPr id="205828" name="Rectangle 4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205829" name="Object 5"/>
          <p:cNvGraphicFramePr>
            <a:graphicFrameLocks noChangeAspect="1"/>
          </p:cNvGraphicFramePr>
          <p:nvPr/>
        </p:nvGraphicFramePr>
        <p:xfrm>
          <a:off x="3505200" y="1639888"/>
          <a:ext cx="4629150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81000" imgH="1422360" progId="Equation.3">
                  <p:embed/>
                </p:oleObj>
              </mc:Choice>
              <mc:Fallback>
                <p:oleObj name="Equation" r:id="rId2" imgW="2781000" imgH="1422360" progId="Equation.3">
                  <p:embed/>
                  <p:pic>
                    <p:nvPicPr>
                      <p:cNvPr id="205829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05200" y="1639888"/>
                        <a:ext cx="4629150" cy="2362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830" name="AutoShape 6"/>
          <p:cNvSpPr>
            <a:spLocks noChangeArrowheads="1"/>
          </p:cNvSpPr>
          <p:nvPr/>
        </p:nvSpPr>
        <p:spPr bwMode="auto">
          <a:xfrm>
            <a:off x="2263776" y="5153026"/>
            <a:ext cx="8143875" cy="798513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en-US" b="1" i="1"/>
              <a:t>The total mechanical energy of a SHO is a constant of motion</a:t>
            </a:r>
            <a:r>
              <a:rPr lang="en-US" b="1"/>
              <a:t>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Winter 2007</a:t>
            </a:r>
          </a:p>
        </p:txBody>
      </p:sp>
      <p:sp>
        <p:nvSpPr>
          <p:cNvPr id="328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R. Todd Lines</a:t>
            </a:r>
          </a:p>
        </p:txBody>
      </p:sp>
      <p:sp>
        <p:nvSpPr>
          <p:cNvPr id="329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ABA616-9211-4540-BD71-256B3E87DABC}" type="slidenum">
              <a:rPr lang="en-US"/>
              <a:pPr/>
              <a:t>42</a:t>
            </a:fld>
            <a:endParaRPr lang="en-US"/>
          </a:p>
        </p:txBody>
      </p:sp>
      <p:sp>
        <p:nvSpPr>
          <p:cNvPr id="206851" name="Rectangle 3"/>
          <p:cNvSpPr>
            <a:spLocks noChangeArrowheads="1"/>
          </p:cNvSpPr>
          <p:nvPr/>
        </p:nvSpPr>
        <p:spPr bwMode="auto">
          <a:xfrm>
            <a:off x="1524000" y="0"/>
            <a:ext cx="9144000" cy="6858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4"/>
          <p:cNvGrpSpPr>
            <a:grpSpLocks/>
          </p:cNvGrpSpPr>
          <p:nvPr/>
        </p:nvGrpSpPr>
        <p:grpSpPr bwMode="auto">
          <a:xfrm>
            <a:off x="2584450" y="1181100"/>
            <a:ext cx="901700" cy="430213"/>
            <a:chOff x="1400" y="3840"/>
            <a:chExt cx="568" cy="271"/>
          </a:xfrm>
        </p:grpSpPr>
        <p:sp>
          <p:nvSpPr>
            <p:cNvPr id="206853" name="Line 5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54" name="Rectangle 6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55" name="Text Box 7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56" name="Text Box 8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57" name="Rectangle 9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5873750" y="304800"/>
            <a:ext cx="901700" cy="595313"/>
            <a:chOff x="2104" y="3808"/>
            <a:chExt cx="568" cy="375"/>
          </a:xfrm>
        </p:grpSpPr>
        <p:sp>
          <p:nvSpPr>
            <p:cNvPr id="206859" name="Line 11"/>
            <p:cNvSpPr>
              <a:spLocks noChangeShapeType="1"/>
            </p:cNvSpPr>
            <p:nvPr/>
          </p:nvSpPr>
          <p:spPr bwMode="auto">
            <a:xfrm>
              <a:off x="2104" y="4024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60" name="Rectangle 12"/>
            <p:cNvSpPr>
              <a:spLocks noChangeArrowheads="1"/>
            </p:cNvSpPr>
            <p:nvPr/>
          </p:nvSpPr>
          <p:spPr bwMode="auto">
            <a:xfrm>
              <a:off x="2216" y="3808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61" name="Text Box 13"/>
            <p:cNvSpPr txBox="1">
              <a:spLocks noChangeArrowheads="1"/>
            </p:cNvSpPr>
            <p:nvPr/>
          </p:nvSpPr>
          <p:spPr bwMode="auto">
            <a:xfrm>
              <a:off x="241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62" name="Text Box 14"/>
            <p:cNvSpPr txBox="1">
              <a:spLocks noChangeArrowheads="1"/>
            </p:cNvSpPr>
            <p:nvPr/>
          </p:nvSpPr>
          <p:spPr bwMode="auto">
            <a:xfrm>
              <a:off x="217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grpSp>
        <p:nvGrpSpPr>
          <p:cNvPr id="5" name="Group 15"/>
          <p:cNvGrpSpPr>
            <a:grpSpLocks/>
          </p:cNvGrpSpPr>
          <p:nvPr/>
        </p:nvGrpSpPr>
        <p:grpSpPr bwMode="auto">
          <a:xfrm>
            <a:off x="9112250" y="1181100"/>
            <a:ext cx="901700" cy="430213"/>
            <a:chOff x="1400" y="3840"/>
            <a:chExt cx="568" cy="271"/>
          </a:xfrm>
        </p:grpSpPr>
        <p:sp>
          <p:nvSpPr>
            <p:cNvPr id="206864" name="Line 16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65" name="Rectangle 17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66" name="Text Box 18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67" name="Text Box 19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68" name="Rectangle 20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6" name="Group 21"/>
          <p:cNvGrpSpPr>
            <a:grpSpLocks/>
          </p:cNvGrpSpPr>
          <p:nvPr/>
        </p:nvGrpSpPr>
        <p:grpSpPr bwMode="auto">
          <a:xfrm>
            <a:off x="1866900" y="3225800"/>
            <a:ext cx="901700" cy="595313"/>
            <a:chOff x="696" y="3696"/>
            <a:chExt cx="568" cy="375"/>
          </a:xfrm>
        </p:grpSpPr>
        <p:sp>
          <p:nvSpPr>
            <p:cNvPr id="206870" name="Line 22"/>
            <p:cNvSpPr>
              <a:spLocks noChangeShapeType="1"/>
            </p:cNvSpPr>
            <p:nvPr/>
          </p:nvSpPr>
          <p:spPr bwMode="auto">
            <a:xfrm>
              <a:off x="696" y="391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71" name="Rectangle 23"/>
            <p:cNvSpPr>
              <a:spLocks noChangeArrowheads="1"/>
            </p:cNvSpPr>
            <p:nvPr/>
          </p:nvSpPr>
          <p:spPr bwMode="auto">
            <a:xfrm>
              <a:off x="1024" y="3696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72" name="Text Box 24"/>
            <p:cNvSpPr txBox="1">
              <a:spLocks noChangeArrowheads="1"/>
            </p:cNvSpPr>
            <p:nvPr/>
          </p:nvSpPr>
          <p:spPr bwMode="auto">
            <a:xfrm>
              <a:off x="100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73" name="Text Box 25"/>
            <p:cNvSpPr txBox="1">
              <a:spLocks noChangeArrowheads="1"/>
            </p:cNvSpPr>
            <p:nvPr/>
          </p:nvSpPr>
          <p:spPr bwMode="auto">
            <a:xfrm>
              <a:off x="76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grpSp>
        <p:nvGrpSpPr>
          <p:cNvPr id="7" name="Group 26"/>
          <p:cNvGrpSpPr>
            <a:grpSpLocks/>
          </p:cNvGrpSpPr>
          <p:nvPr/>
        </p:nvGrpSpPr>
        <p:grpSpPr bwMode="auto">
          <a:xfrm>
            <a:off x="9652000" y="3009900"/>
            <a:ext cx="901700" cy="595313"/>
            <a:chOff x="696" y="3696"/>
            <a:chExt cx="568" cy="375"/>
          </a:xfrm>
        </p:grpSpPr>
        <p:sp>
          <p:nvSpPr>
            <p:cNvPr id="206875" name="Line 27"/>
            <p:cNvSpPr>
              <a:spLocks noChangeShapeType="1"/>
            </p:cNvSpPr>
            <p:nvPr/>
          </p:nvSpPr>
          <p:spPr bwMode="auto">
            <a:xfrm>
              <a:off x="696" y="391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76" name="Rectangle 28"/>
            <p:cNvSpPr>
              <a:spLocks noChangeArrowheads="1"/>
            </p:cNvSpPr>
            <p:nvPr/>
          </p:nvSpPr>
          <p:spPr bwMode="auto">
            <a:xfrm>
              <a:off x="1024" y="3696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77" name="Text Box 29"/>
            <p:cNvSpPr txBox="1">
              <a:spLocks noChangeArrowheads="1"/>
            </p:cNvSpPr>
            <p:nvPr/>
          </p:nvSpPr>
          <p:spPr bwMode="auto">
            <a:xfrm>
              <a:off x="100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78" name="Text Box 30"/>
            <p:cNvSpPr txBox="1">
              <a:spLocks noChangeArrowheads="1"/>
            </p:cNvSpPr>
            <p:nvPr/>
          </p:nvSpPr>
          <p:spPr bwMode="auto">
            <a:xfrm>
              <a:off x="766" y="391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grpSp>
        <p:nvGrpSpPr>
          <p:cNvPr id="8" name="Group 31"/>
          <p:cNvGrpSpPr>
            <a:grpSpLocks/>
          </p:cNvGrpSpPr>
          <p:nvPr/>
        </p:nvGrpSpPr>
        <p:grpSpPr bwMode="auto">
          <a:xfrm>
            <a:off x="9112250" y="5016500"/>
            <a:ext cx="901700" cy="430213"/>
            <a:chOff x="1400" y="3840"/>
            <a:chExt cx="568" cy="271"/>
          </a:xfrm>
        </p:grpSpPr>
        <p:sp>
          <p:nvSpPr>
            <p:cNvPr id="206880" name="Line 32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81" name="Rectangle 33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82" name="Text Box 34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83" name="Text Box 35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84" name="Rectangle 36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9" name="Group 37"/>
          <p:cNvGrpSpPr>
            <a:grpSpLocks/>
          </p:cNvGrpSpPr>
          <p:nvPr/>
        </p:nvGrpSpPr>
        <p:grpSpPr bwMode="auto">
          <a:xfrm>
            <a:off x="2584450" y="5143500"/>
            <a:ext cx="901700" cy="430213"/>
            <a:chOff x="1400" y="3840"/>
            <a:chExt cx="568" cy="271"/>
          </a:xfrm>
        </p:grpSpPr>
        <p:sp>
          <p:nvSpPr>
            <p:cNvPr id="206886" name="Line 38"/>
            <p:cNvSpPr>
              <a:spLocks noChangeShapeType="1"/>
            </p:cNvSpPr>
            <p:nvPr/>
          </p:nvSpPr>
          <p:spPr bwMode="auto">
            <a:xfrm>
              <a:off x="1400" y="3952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87" name="Rectangle 39"/>
            <p:cNvSpPr>
              <a:spLocks noChangeArrowheads="1"/>
            </p:cNvSpPr>
            <p:nvPr/>
          </p:nvSpPr>
          <p:spPr bwMode="auto">
            <a:xfrm>
              <a:off x="1728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88" name="Text Box 40"/>
            <p:cNvSpPr txBox="1">
              <a:spLocks noChangeArrowheads="1"/>
            </p:cNvSpPr>
            <p:nvPr/>
          </p:nvSpPr>
          <p:spPr bwMode="auto">
            <a:xfrm>
              <a:off x="171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89" name="Text Box 41"/>
            <p:cNvSpPr txBox="1">
              <a:spLocks noChangeArrowheads="1"/>
            </p:cNvSpPr>
            <p:nvPr/>
          </p:nvSpPr>
          <p:spPr bwMode="auto">
            <a:xfrm>
              <a:off x="1470" y="3957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  <p:sp>
          <p:nvSpPr>
            <p:cNvPr id="206890" name="Rectangle 42"/>
            <p:cNvSpPr>
              <a:spLocks noChangeArrowheads="1"/>
            </p:cNvSpPr>
            <p:nvPr/>
          </p:nvSpPr>
          <p:spPr bwMode="auto">
            <a:xfrm>
              <a:off x="1512" y="3840"/>
              <a:ext cx="120" cy="112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10" name="Group 43"/>
          <p:cNvGrpSpPr>
            <a:grpSpLocks/>
          </p:cNvGrpSpPr>
          <p:nvPr/>
        </p:nvGrpSpPr>
        <p:grpSpPr bwMode="auto">
          <a:xfrm>
            <a:off x="5873750" y="6159500"/>
            <a:ext cx="901700" cy="595313"/>
            <a:chOff x="2104" y="3808"/>
            <a:chExt cx="568" cy="375"/>
          </a:xfrm>
        </p:grpSpPr>
        <p:sp>
          <p:nvSpPr>
            <p:cNvPr id="206892" name="Line 44"/>
            <p:cNvSpPr>
              <a:spLocks noChangeShapeType="1"/>
            </p:cNvSpPr>
            <p:nvPr/>
          </p:nvSpPr>
          <p:spPr bwMode="auto">
            <a:xfrm>
              <a:off x="2104" y="4024"/>
              <a:ext cx="568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893" name="Rectangle 45"/>
            <p:cNvSpPr>
              <a:spLocks noChangeArrowheads="1"/>
            </p:cNvSpPr>
            <p:nvPr/>
          </p:nvSpPr>
          <p:spPr bwMode="auto">
            <a:xfrm>
              <a:off x="2216" y="3808"/>
              <a:ext cx="120" cy="216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6894" name="Text Box 46"/>
            <p:cNvSpPr txBox="1">
              <a:spLocks noChangeArrowheads="1"/>
            </p:cNvSpPr>
            <p:nvPr/>
          </p:nvSpPr>
          <p:spPr bwMode="auto">
            <a:xfrm>
              <a:off x="241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K</a:t>
              </a:r>
              <a:endParaRPr lang="en-US" sz="1000" u="sng"/>
            </a:p>
          </p:txBody>
        </p:sp>
        <p:sp>
          <p:nvSpPr>
            <p:cNvPr id="206895" name="Text Box 47"/>
            <p:cNvSpPr txBox="1">
              <a:spLocks noChangeArrowheads="1"/>
            </p:cNvSpPr>
            <p:nvPr/>
          </p:nvSpPr>
          <p:spPr bwMode="auto">
            <a:xfrm>
              <a:off x="2174" y="4029"/>
              <a:ext cx="21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000"/>
                <a:t>U</a:t>
              </a:r>
              <a:endParaRPr lang="en-US" sz="1000" u="sng"/>
            </a:p>
          </p:txBody>
        </p:sp>
      </p:grpSp>
      <p:sp>
        <p:nvSpPr>
          <p:cNvPr id="206896" name="Arc 48"/>
          <p:cNvSpPr>
            <a:spLocks/>
          </p:cNvSpPr>
          <p:nvPr/>
        </p:nvSpPr>
        <p:spPr bwMode="auto">
          <a:xfrm>
            <a:off x="5613400" y="2490788"/>
            <a:ext cx="1371600" cy="17526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206897" name="Text Box 49"/>
          <p:cNvSpPr txBox="1">
            <a:spLocks noChangeArrowheads="1"/>
          </p:cNvSpPr>
          <p:nvPr/>
        </p:nvSpPr>
        <p:spPr bwMode="auto">
          <a:xfrm flipH="1">
            <a:off x="11623675" y="4641850"/>
            <a:ext cx="1136650" cy="554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sz="1000" dirty="0"/>
              <a:t>After Halliday and Resnick Figure 35-1</a:t>
            </a:r>
          </a:p>
        </p:txBody>
      </p:sp>
      <p:grpSp>
        <p:nvGrpSpPr>
          <p:cNvPr id="11" name="Group 50"/>
          <p:cNvGrpSpPr>
            <a:grpSpLocks/>
          </p:cNvGrpSpPr>
          <p:nvPr/>
        </p:nvGrpSpPr>
        <p:grpSpPr bwMode="auto">
          <a:xfrm>
            <a:off x="3032125" y="2884488"/>
            <a:ext cx="1887538" cy="1123950"/>
            <a:chOff x="1037" y="605"/>
            <a:chExt cx="1189" cy="708"/>
          </a:xfrm>
        </p:grpSpPr>
        <p:sp>
          <p:nvSpPr>
            <p:cNvPr id="206899" name="AutoShape 51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6900" name="Text Box 52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01" name="Line 53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02" name="Line 54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55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5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6905" name="Line 5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06" name="Line 5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5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6908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09" name="Line 6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6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6911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12" name="Line 6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6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6914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15" name="Line 6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6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6917" name="Line 6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18" name="Line 7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7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6920" name="Line 7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21" name="Line 7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7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6923" name="Line 7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24" name="Line 7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7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6926" name="Line 7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27" name="Line 7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6928" name="Line 80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29" name="Text Box 81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6930" name="Line 82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31" name="Text Box 83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32" name="Line 84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85"/>
          <p:cNvGrpSpPr>
            <a:grpSpLocks/>
          </p:cNvGrpSpPr>
          <p:nvPr/>
        </p:nvGrpSpPr>
        <p:grpSpPr bwMode="auto">
          <a:xfrm>
            <a:off x="7978775" y="2863850"/>
            <a:ext cx="1798638" cy="1162050"/>
            <a:chOff x="1029" y="1941"/>
            <a:chExt cx="1133" cy="732"/>
          </a:xfrm>
        </p:grpSpPr>
        <p:sp>
          <p:nvSpPr>
            <p:cNvPr id="206934" name="AutoShape 86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6935" name="Text Box 87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36" name="Line 88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37" name="Line 89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90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23" name="Group 91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6940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41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94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694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4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97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6946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47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100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6949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0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103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6952" name="Line 10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3" name="Line 10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106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6955" name="Line 10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6" name="Line 10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109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6958" name="Line 1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59" name="Line 1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12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6961" name="Line 1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62" name="Line 1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6963" name="Line 115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64" name="Text Box 116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6965" name="Line 117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66" name="Text Box 118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6967" name="Line 119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120"/>
          <p:cNvGrpSpPr>
            <a:grpSpLocks/>
          </p:cNvGrpSpPr>
          <p:nvPr/>
        </p:nvGrpSpPr>
        <p:grpSpPr bwMode="auto">
          <a:xfrm>
            <a:off x="5634038" y="1020763"/>
            <a:ext cx="1612900" cy="1082675"/>
            <a:chOff x="2112" y="1300"/>
            <a:chExt cx="1016" cy="682"/>
          </a:xfrm>
        </p:grpSpPr>
        <p:sp>
          <p:nvSpPr>
            <p:cNvPr id="206969" name="AutoShape 121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6970" name="Line 122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71" name="Line 123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848" name="Group 124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06849" name="Group 12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206974" name="Line 1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75" name="Line 1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50" name="Group 12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206977" name="Line 1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78" name="Line 1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52" name="Group 13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206980" name="Line 1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81" name="Line 1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58" name="Group 13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206983" name="Line 13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84" name="Line 13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63" name="Group 13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206986" name="Line 13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87" name="Line 13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69" name="Group 14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206989" name="Line 14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90" name="Line 14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74" name="Group 14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206992" name="Line 14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93" name="Line 14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879" name="Group 14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206995" name="Line 14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6996" name="Line 14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6997" name="Line 149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6998" name="Text Box 150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6999" name="Line 151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00" name="Text Box 152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7001" name="Text Box 153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206885" name="Group 154"/>
          <p:cNvGrpSpPr>
            <a:grpSpLocks/>
          </p:cNvGrpSpPr>
          <p:nvPr/>
        </p:nvGrpSpPr>
        <p:grpSpPr bwMode="auto">
          <a:xfrm>
            <a:off x="5476875" y="4967288"/>
            <a:ext cx="1925638" cy="1057275"/>
            <a:chOff x="176" y="1300"/>
            <a:chExt cx="1213" cy="666"/>
          </a:xfrm>
        </p:grpSpPr>
        <p:sp>
          <p:nvSpPr>
            <p:cNvPr id="207003" name="AutoShape 155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004" name="Text Box 156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207005" name="Line 157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06" name="Line 158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891" name="Group 159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207008" name="Line 16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09" name="Line 16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898" name="Group 162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207011" name="Line 16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12" name="Line 16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03" name="Group 165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207014" name="Line 16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15" name="Line 16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04" name="Group 168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207017" name="Line 16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18" name="Line 17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07" name="Group 171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207020" name="Line 17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21" name="Line 17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10" name="Group 174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207023" name="Line 17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24" name="Line 17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13" name="Group 177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207026" name="Line 17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27" name="Line 17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6916" name="Group 180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207029" name="Line 18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7030" name="Line 18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07031" name="Line 183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32" name="Text Box 184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033" name="Line 185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34" name="Text Box 186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207035" name="Text Box 187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sp>
        <p:nvSpPr>
          <p:cNvPr id="207036" name="Text Box 188"/>
          <p:cNvSpPr txBox="1">
            <a:spLocks noChangeArrowheads="1"/>
          </p:cNvSpPr>
          <p:nvPr/>
        </p:nvSpPr>
        <p:spPr bwMode="auto">
          <a:xfrm>
            <a:off x="4748213" y="5195888"/>
            <a:ext cx="617538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r>
              <a:rPr lang="en-US" sz="1400"/>
              <a:t>x</a:t>
            </a:r>
            <a:r>
              <a:rPr lang="en-US" sz="1400" baseline="-25000"/>
              <a:t>max</a:t>
            </a:r>
          </a:p>
        </p:txBody>
      </p:sp>
      <p:grpSp>
        <p:nvGrpSpPr>
          <p:cNvPr id="206919" name="Group 189"/>
          <p:cNvGrpSpPr>
            <a:grpSpLocks/>
          </p:cNvGrpSpPr>
          <p:nvPr/>
        </p:nvGrpSpPr>
        <p:grpSpPr bwMode="auto">
          <a:xfrm>
            <a:off x="3579813" y="4364038"/>
            <a:ext cx="1612900" cy="1143000"/>
            <a:chOff x="1207" y="2751"/>
            <a:chExt cx="1016" cy="720"/>
          </a:xfrm>
        </p:grpSpPr>
        <p:sp>
          <p:nvSpPr>
            <p:cNvPr id="207038" name="AutoShape 190"/>
            <p:cNvSpPr>
              <a:spLocks noChangeArrowheads="1"/>
            </p:cNvSpPr>
            <p:nvPr/>
          </p:nvSpPr>
          <p:spPr bwMode="auto">
            <a:xfrm>
              <a:off x="1872" y="3016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039" name="Text Box 191"/>
            <p:cNvSpPr txBox="1">
              <a:spLocks noChangeArrowheads="1"/>
            </p:cNvSpPr>
            <p:nvPr/>
          </p:nvSpPr>
          <p:spPr bwMode="auto">
            <a:xfrm>
              <a:off x="1849" y="2751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040" name="Line 192"/>
            <p:cNvSpPr>
              <a:spLocks noChangeShapeType="1"/>
            </p:cNvSpPr>
            <p:nvPr/>
          </p:nvSpPr>
          <p:spPr bwMode="auto">
            <a:xfrm>
              <a:off x="1219" y="2805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41" name="Line 193"/>
            <p:cNvSpPr>
              <a:spLocks noChangeShapeType="1"/>
            </p:cNvSpPr>
            <p:nvPr/>
          </p:nvSpPr>
          <p:spPr bwMode="auto">
            <a:xfrm rot="5400000" flipV="1">
              <a:off x="1715" y="2674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922" name="Group 194"/>
            <p:cNvGrpSpPr>
              <a:grpSpLocks/>
            </p:cNvGrpSpPr>
            <p:nvPr/>
          </p:nvGrpSpPr>
          <p:grpSpPr bwMode="auto">
            <a:xfrm>
              <a:off x="1237" y="3011"/>
              <a:ext cx="631" cy="68"/>
              <a:chOff x="1237" y="3011"/>
              <a:chExt cx="796" cy="95"/>
            </a:xfrm>
          </p:grpSpPr>
          <p:grpSp>
            <p:nvGrpSpPr>
              <p:cNvPr id="206925" name="Group 195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044" name="Line 19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45" name="Line 19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33" name="Group 198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047" name="Line 19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48" name="Line 20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38" name="Group 201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050" name="Line 20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51" name="Line 20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39" name="Group 204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053" name="Line 20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54" name="Line 20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42" name="Group 207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056" name="Line 20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57" name="Line 20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45" name="Group 210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059" name="Line 2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60" name="Line 2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48" name="Group 213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062" name="Line 2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63" name="Line 2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51" name="Group 216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065" name="Line 2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66" name="Line 2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067" name="Line 219"/>
            <p:cNvSpPr>
              <a:spLocks noChangeShapeType="1"/>
            </p:cNvSpPr>
            <p:nvPr/>
          </p:nvSpPr>
          <p:spPr bwMode="auto">
            <a:xfrm>
              <a:off x="1789" y="322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68" name="Text Box 220"/>
            <p:cNvSpPr txBox="1">
              <a:spLocks noChangeArrowheads="1"/>
            </p:cNvSpPr>
            <p:nvPr/>
          </p:nvSpPr>
          <p:spPr bwMode="auto">
            <a:xfrm>
              <a:off x="1681" y="3279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069" name="Line 221"/>
            <p:cNvSpPr>
              <a:spLocks noChangeShapeType="1"/>
            </p:cNvSpPr>
            <p:nvPr/>
          </p:nvSpPr>
          <p:spPr bwMode="auto">
            <a:xfrm>
              <a:off x="2122" y="323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70" name="Text Box 222"/>
            <p:cNvSpPr txBox="1">
              <a:spLocks noChangeArrowheads="1"/>
            </p:cNvSpPr>
            <p:nvPr/>
          </p:nvSpPr>
          <p:spPr bwMode="auto">
            <a:xfrm>
              <a:off x="1520" y="2822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  <p:sp>
          <p:nvSpPr>
            <p:cNvPr id="207071" name="Line 223"/>
            <p:cNvSpPr>
              <a:spLocks noChangeShapeType="1"/>
            </p:cNvSpPr>
            <p:nvPr/>
          </p:nvSpPr>
          <p:spPr bwMode="auto">
            <a:xfrm flipH="1">
              <a:off x="1871" y="2938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6954" name="Group 224"/>
          <p:cNvGrpSpPr>
            <a:grpSpLocks/>
          </p:cNvGrpSpPr>
          <p:nvPr/>
        </p:nvGrpSpPr>
        <p:grpSpPr bwMode="auto">
          <a:xfrm>
            <a:off x="3579813" y="1738313"/>
            <a:ext cx="1612900" cy="1143000"/>
            <a:chOff x="1299" y="1073"/>
            <a:chExt cx="1016" cy="720"/>
          </a:xfrm>
        </p:grpSpPr>
        <p:sp>
          <p:nvSpPr>
            <p:cNvPr id="207073" name="AutoShape 225"/>
            <p:cNvSpPr>
              <a:spLocks noChangeArrowheads="1"/>
            </p:cNvSpPr>
            <p:nvPr/>
          </p:nvSpPr>
          <p:spPr bwMode="auto">
            <a:xfrm>
              <a:off x="1721" y="1338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074" name="Text Box 226"/>
            <p:cNvSpPr txBox="1">
              <a:spLocks noChangeArrowheads="1"/>
            </p:cNvSpPr>
            <p:nvPr/>
          </p:nvSpPr>
          <p:spPr bwMode="auto">
            <a:xfrm>
              <a:off x="1698" y="1073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075" name="Line 227"/>
            <p:cNvSpPr>
              <a:spLocks noChangeShapeType="1"/>
            </p:cNvSpPr>
            <p:nvPr/>
          </p:nvSpPr>
          <p:spPr bwMode="auto">
            <a:xfrm>
              <a:off x="1311" y="1127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076" name="Line 228"/>
            <p:cNvSpPr>
              <a:spLocks noChangeShapeType="1"/>
            </p:cNvSpPr>
            <p:nvPr/>
          </p:nvSpPr>
          <p:spPr bwMode="auto">
            <a:xfrm rot="5400000" flipV="1">
              <a:off x="1807" y="996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957" name="Group 229"/>
            <p:cNvGrpSpPr>
              <a:grpSpLocks/>
            </p:cNvGrpSpPr>
            <p:nvPr/>
          </p:nvGrpSpPr>
          <p:grpSpPr bwMode="auto">
            <a:xfrm>
              <a:off x="1329" y="1333"/>
              <a:ext cx="383" cy="77"/>
              <a:chOff x="1237" y="3011"/>
              <a:chExt cx="796" cy="95"/>
            </a:xfrm>
          </p:grpSpPr>
          <p:grpSp>
            <p:nvGrpSpPr>
              <p:cNvPr id="206960" name="Group 230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079" name="Line 2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0" name="Line 2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68" name="Group 233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082" name="Line 23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3" name="Line 23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2" name="Group 236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085" name="Line 23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6" name="Line 23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3" name="Group 239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088" name="Line 24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89" name="Line 24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6" name="Group 242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091" name="Line 2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92" name="Line 2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79" name="Group 245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094" name="Line 2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95" name="Line 2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82" name="Group 248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097" name="Line 2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098" name="Line 2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6985" name="Group 251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100" name="Line 2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01" name="Line 2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102" name="Line 254"/>
            <p:cNvSpPr>
              <a:spLocks noChangeShapeType="1"/>
            </p:cNvSpPr>
            <p:nvPr/>
          </p:nvSpPr>
          <p:spPr bwMode="auto">
            <a:xfrm>
              <a:off x="1881" y="154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03" name="Text Box 255"/>
            <p:cNvSpPr txBox="1">
              <a:spLocks noChangeArrowheads="1"/>
            </p:cNvSpPr>
            <p:nvPr/>
          </p:nvSpPr>
          <p:spPr bwMode="auto">
            <a:xfrm>
              <a:off x="1773" y="160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104" name="Line 256"/>
            <p:cNvSpPr>
              <a:spLocks noChangeShapeType="1"/>
            </p:cNvSpPr>
            <p:nvPr/>
          </p:nvSpPr>
          <p:spPr bwMode="auto">
            <a:xfrm>
              <a:off x="2214" y="155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05" name="Line 257"/>
            <p:cNvSpPr>
              <a:spLocks noChangeShapeType="1"/>
            </p:cNvSpPr>
            <p:nvPr/>
          </p:nvSpPr>
          <p:spPr bwMode="auto">
            <a:xfrm flipH="1">
              <a:off x="1720" y="1260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6988" name="Group 258"/>
          <p:cNvGrpSpPr>
            <a:grpSpLocks/>
          </p:cNvGrpSpPr>
          <p:nvPr/>
        </p:nvGrpSpPr>
        <p:grpSpPr bwMode="auto">
          <a:xfrm>
            <a:off x="7554913" y="4364038"/>
            <a:ext cx="1612900" cy="1143000"/>
            <a:chOff x="3680" y="2747"/>
            <a:chExt cx="1016" cy="720"/>
          </a:xfrm>
        </p:grpSpPr>
        <p:sp>
          <p:nvSpPr>
            <p:cNvPr id="207107" name="AutoShape 259"/>
            <p:cNvSpPr>
              <a:spLocks noChangeArrowheads="1"/>
            </p:cNvSpPr>
            <p:nvPr/>
          </p:nvSpPr>
          <p:spPr bwMode="auto">
            <a:xfrm>
              <a:off x="4345" y="30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108" name="Text Box 260"/>
            <p:cNvSpPr txBox="1">
              <a:spLocks noChangeArrowheads="1"/>
            </p:cNvSpPr>
            <p:nvPr/>
          </p:nvSpPr>
          <p:spPr bwMode="auto">
            <a:xfrm>
              <a:off x="4322" y="2747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109" name="Line 261"/>
            <p:cNvSpPr>
              <a:spLocks noChangeShapeType="1"/>
            </p:cNvSpPr>
            <p:nvPr/>
          </p:nvSpPr>
          <p:spPr bwMode="auto">
            <a:xfrm>
              <a:off x="3692" y="280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10" name="Line 262"/>
            <p:cNvSpPr>
              <a:spLocks noChangeShapeType="1"/>
            </p:cNvSpPr>
            <p:nvPr/>
          </p:nvSpPr>
          <p:spPr bwMode="auto">
            <a:xfrm rot="5400000" flipV="1">
              <a:off x="4188" y="267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6991" name="Group 263"/>
            <p:cNvGrpSpPr>
              <a:grpSpLocks/>
            </p:cNvGrpSpPr>
            <p:nvPr/>
          </p:nvGrpSpPr>
          <p:grpSpPr bwMode="auto">
            <a:xfrm>
              <a:off x="3710" y="3007"/>
              <a:ext cx="631" cy="68"/>
              <a:chOff x="1237" y="3011"/>
              <a:chExt cx="796" cy="95"/>
            </a:xfrm>
          </p:grpSpPr>
          <p:grpSp>
            <p:nvGrpSpPr>
              <p:cNvPr id="206994" name="Group 264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113" name="Line 26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14" name="Line 26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02" name="Group 267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116" name="Line 26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17" name="Line 26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07" name="Group 270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119" name="Line 27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0" name="Line 27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0" name="Group 273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122" name="Line 27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3" name="Line 27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3" name="Group 276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125" name="Line 2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6" name="Line 2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6" name="Group 279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128" name="Line 2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29" name="Line 2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19" name="Group 282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131" name="Line 2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32" name="Line 2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22" name="Group 285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134" name="Line 2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35" name="Line 2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136" name="Line 288"/>
            <p:cNvSpPr>
              <a:spLocks noChangeShapeType="1"/>
            </p:cNvSpPr>
            <p:nvPr/>
          </p:nvSpPr>
          <p:spPr bwMode="auto">
            <a:xfrm>
              <a:off x="4262" y="322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37" name="Text Box 289"/>
            <p:cNvSpPr txBox="1">
              <a:spLocks noChangeArrowheads="1"/>
            </p:cNvSpPr>
            <p:nvPr/>
          </p:nvSpPr>
          <p:spPr bwMode="auto">
            <a:xfrm>
              <a:off x="4154" y="3275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138" name="Line 290"/>
            <p:cNvSpPr>
              <a:spLocks noChangeShapeType="1"/>
            </p:cNvSpPr>
            <p:nvPr/>
          </p:nvSpPr>
          <p:spPr bwMode="auto">
            <a:xfrm>
              <a:off x="4595" y="32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39" name="Text Box 291"/>
            <p:cNvSpPr txBox="1">
              <a:spLocks noChangeArrowheads="1"/>
            </p:cNvSpPr>
            <p:nvPr/>
          </p:nvSpPr>
          <p:spPr bwMode="auto">
            <a:xfrm>
              <a:off x="3993" y="2818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  <p:sp>
          <p:nvSpPr>
            <p:cNvPr id="207140" name="Line 292"/>
            <p:cNvSpPr>
              <a:spLocks noChangeShapeType="1"/>
            </p:cNvSpPr>
            <p:nvPr/>
          </p:nvSpPr>
          <p:spPr bwMode="auto">
            <a:xfrm>
              <a:off x="4344" y="2934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7025" name="Group 293"/>
          <p:cNvGrpSpPr>
            <a:grpSpLocks/>
          </p:cNvGrpSpPr>
          <p:nvPr/>
        </p:nvGrpSpPr>
        <p:grpSpPr bwMode="auto">
          <a:xfrm>
            <a:off x="7556500" y="1738313"/>
            <a:ext cx="1612900" cy="1143000"/>
            <a:chOff x="3855" y="913"/>
            <a:chExt cx="1016" cy="720"/>
          </a:xfrm>
        </p:grpSpPr>
        <p:sp>
          <p:nvSpPr>
            <p:cNvPr id="207142" name="AutoShape 294"/>
            <p:cNvSpPr>
              <a:spLocks noChangeArrowheads="1"/>
            </p:cNvSpPr>
            <p:nvPr/>
          </p:nvSpPr>
          <p:spPr bwMode="auto">
            <a:xfrm>
              <a:off x="4277" y="1178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207143" name="Text Box 295"/>
            <p:cNvSpPr txBox="1">
              <a:spLocks noChangeArrowheads="1"/>
            </p:cNvSpPr>
            <p:nvPr/>
          </p:nvSpPr>
          <p:spPr bwMode="auto">
            <a:xfrm>
              <a:off x="4254" y="913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</a:p>
          </p:txBody>
        </p:sp>
        <p:sp>
          <p:nvSpPr>
            <p:cNvPr id="207144" name="Line 296"/>
            <p:cNvSpPr>
              <a:spLocks noChangeShapeType="1"/>
            </p:cNvSpPr>
            <p:nvPr/>
          </p:nvSpPr>
          <p:spPr bwMode="auto">
            <a:xfrm>
              <a:off x="3867" y="967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45" name="Line 297"/>
            <p:cNvSpPr>
              <a:spLocks noChangeShapeType="1"/>
            </p:cNvSpPr>
            <p:nvPr/>
          </p:nvSpPr>
          <p:spPr bwMode="auto">
            <a:xfrm rot="5400000" flipV="1">
              <a:off x="4363" y="836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07028" name="Group 298"/>
            <p:cNvGrpSpPr>
              <a:grpSpLocks/>
            </p:cNvGrpSpPr>
            <p:nvPr/>
          </p:nvGrpSpPr>
          <p:grpSpPr bwMode="auto">
            <a:xfrm>
              <a:off x="3885" y="1173"/>
              <a:ext cx="383" cy="77"/>
              <a:chOff x="1237" y="3011"/>
              <a:chExt cx="796" cy="95"/>
            </a:xfrm>
          </p:grpSpPr>
          <p:grpSp>
            <p:nvGrpSpPr>
              <p:cNvPr id="207037" name="Group 299"/>
              <p:cNvGrpSpPr>
                <a:grpSpLocks/>
              </p:cNvGrpSpPr>
              <p:nvPr/>
            </p:nvGrpSpPr>
            <p:grpSpPr bwMode="auto">
              <a:xfrm>
                <a:off x="1932" y="3011"/>
                <a:ext cx="101" cy="95"/>
                <a:chOff x="704" y="1880"/>
                <a:chExt cx="136" cy="128"/>
              </a:xfrm>
            </p:grpSpPr>
            <p:sp>
              <p:nvSpPr>
                <p:cNvPr id="207148" name="Line 3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49" name="Line 3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2" name="Group 302"/>
              <p:cNvGrpSpPr>
                <a:grpSpLocks/>
              </p:cNvGrpSpPr>
              <p:nvPr/>
            </p:nvGrpSpPr>
            <p:grpSpPr bwMode="auto">
              <a:xfrm>
                <a:off x="1825" y="3011"/>
                <a:ext cx="101" cy="95"/>
                <a:chOff x="704" y="1880"/>
                <a:chExt cx="136" cy="128"/>
              </a:xfrm>
            </p:grpSpPr>
            <p:sp>
              <p:nvSpPr>
                <p:cNvPr id="207151" name="Line 3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52" name="Line 3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3" name="Group 305"/>
              <p:cNvGrpSpPr>
                <a:grpSpLocks/>
              </p:cNvGrpSpPr>
              <p:nvPr/>
            </p:nvGrpSpPr>
            <p:grpSpPr bwMode="auto">
              <a:xfrm>
                <a:off x="1730" y="3011"/>
                <a:ext cx="101" cy="95"/>
                <a:chOff x="704" y="1880"/>
                <a:chExt cx="136" cy="128"/>
              </a:xfrm>
            </p:grpSpPr>
            <p:sp>
              <p:nvSpPr>
                <p:cNvPr id="207154" name="Line 3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55" name="Line 3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6" name="Group 308"/>
              <p:cNvGrpSpPr>
                <a:grpSpLocks/>
              </p:cNvGrpSpPr>
              <p:nvPr/>
            </p:nvGrpSpPr>
            <p:grpSpPr bwMode="auto">
              <a:xfrm>
                <a:off x="1629" y="3011"/>
                <a:ext cx="101" cy="95"/>
                <a:chOff x="704" y="1880"/>
                <a:chExt cx="136" cy="128"/>
              </a:xfrm>
            </p:grpSpPr>
            <p:sp>
              <p:nvSpPr>
                <p:cNvPr id="207157" name="Line 30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58" name="Line 31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49" name="Group 311"/>
              <p:cNvGrpSpPr>
                <a:grpSpLocks/>
              </p:cNvGrpSpPr>
              <p:nvPr/>
            </p:nvGrpSpPr>
            <p:grpSpPr bwMode="auto">
              <a:xfrm>
                <a:off x="1534" y="3011"/>
                <a:ext cx="101" cy="95"/>
                <a:chOff x="704" y="1880"/>
                <a:chExt cx="136" cy="128"/>
              </a:xfrm>
            </p:grpSpPr>
            <p:sp>
              <p:nvSpPr>
                <p:cNvPr id="207160" name="Line 31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61" name="Line 31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52" name="Group 314"/>
              <p:cNvGrpSpPr>
                <a:grpSpLocks/>
              </p:cNvGrpSpPr>
              <p:nvPr/>
            </p:nvGrpSpPr>
            <p:grpSpPr bwMode="auto">
              <a:xfrm>
                <a:off x="1433" y="3011"/>
                <a:ext cx="101" cy="95"/>
                <a:chOff x="704" y="1880"/>
                <a:chExt cx="136" cy="128"/>
              </a:xfrm>
            </p:grpSpPr>
            <p:sp>
              <p:nvSpPr>
                <p:cNvPr id="207163" name="Line 3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64" name="Line 3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55" name="Group 317"/>
              <p:cNvGrpSpPr>
                <a:grpSpLocks/>
              </p:cNvGrpSpPr>
              <p:nvPr/>
            </p:nvGrpSpPr>
            <p:grpSpPr bwMode="auto">
              <a:xfrm>
                <a:off x="1338" y="3011"/>
                <a:ext cx="101" cy="95"/>
                <a:chOff x="704" y="1880"/>
                <a:chExt cx="136" cy="128"/>
              </a:xfrm>
            </p:grpSpPr>
            <p:sp>
              <p:nvSpPr>
                <p:cNvPr id="207166" name="Line 3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67" name="Line 3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7058" name="Group 320"/>
              <p:cNvGrpSpPr>
                <a:grpSpLocks/>
              </p:cNvGrpSpPr>
              <p:nvPr/>
            </p:nvGrpSpPr>
            <p:grpSpPr bwMode="auto">
              <a:xfrm>
                <a:off x="1237" y="3011"/>
                <a:ext cx="101" cy="95"/>
                <a:chOff x="704" y="1880"/>
                <a:chExt cx="136" cy="128"/>
              </a:xfrm>
            </p:grpSpPr>
            <p:sp>
              <p:nvSpPr>
                <p:cNvPr id="207169" name="Line 3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207170" name="Line 3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207171" name="Line 323"/>
            <p:cNvSpPr>
              <a:spLocks noChangeShapeType="1"/>
            </p:cNvSpPr>
            <p:nvPr/>
          </p:nvSpPr>
          <p:spPr bwMode="auto">
            <a:xfrm>
              <a:off x="4437" y="138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72" name="Text Box 324"/>
            <p:cNvSpPr txBox="1">
              <a:spLocks noChangeArrowheads="1"/>
            </p:cNvSpPr>
            <p:nvPr/>
          </p:nvSpPr>
          <p:spPr bwMode="auto">
            <a:xfrm>
              <a:off x="4329" y="144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207173" name="Line 325"/>
            <p:cNvSpPr>
              <a:spLocks noChangeShapeType="1"/>
            </p:cNvSpPr>
            <p:nvPr/>
          </p:nvSpPr>
          <p:spPr bwMode="auto">
            <a:xfrm>
              <a:off x="4770" y="139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174" name="Line 326"/>
            <p:cNvSpPr>
              <a:spLocks noChangeShapeType="1"/>
            </p:cNvSpPr>
            <p:nvPr/>
          </p:nvSpPr>
          <p:spPr bwMode="auto">
            <a:xfrm>
              <a:off x="4276" y="1100"/>
              <a:ext cx="14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Energy as a function of time</a:t>
            </a:r>
          </a:p>
        </p:txBody>
      </p:sp>
      <p:sp>
        <p:nvSpPr>
          <p:cNvPr id="2078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3773488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Note that the kinetic and potential energy are out of phase with each other. </a:t>
            </a:r>
          </a:p>
          <a:p>
            <a:pPr>
              <a:lnSpc>
                <a:spcPct val="90000"/>
              </a:lnSpc>
            </a:pPr>
            <a:r>
              <a:rPr lang="en-US"/>
              <a:t>If we plot them on the same scale ( for the case </a:t>
            </a:r>
            <a:r>
              <a:rPr lang="en-US">
                <a:sym typeface="Symbol" pitchFamily="18" charset="2"/>
              </a:rPr>
              <a:t>=0</a:t>
            </a:r>
            <a:r>
              <a:rPr lang="en-US"/>
              <a:t>) we have 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930901" y="2017714"/>
            <a:ext cx="4151313" cy="3533775"/>
            <a:chOff x="3544" y="1271"/>
            <a:chExt cx="1847" cy="1257"/>
          </a:xfrm>
        </p:grpSpPr>
        <p:pic>
          <p:nvPicPr>
            <p:cNvPr id="207877" name="Picture 5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765" y="1448"/>
              <a:ext cx="1626" cy="10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07878" name="Line 6"/>
            <p:cNvSpPr>
              <a:spLocks noChangeShapeType="1"/>
            </p:cNvSpPr>
            <p:nvPr/>
          </p:nvSpPr>
          <p:spPr bwMode="auto">
            <a:xfrm flipH="1">
              <a:off x="3941" y="1445"/>
              <a:ext cx="73" cy="8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879" name="Text Box 7"/>
            <p:cNvSpPr txBox="1">
              <a:spLocks noChangeArrowheads="1"/>
            </p:cNvSpPr>
            <p:nvPr/>
          </p:nvSpPr>
          <p:spPr bwMode="auto">
            <a:xfrm>
              <a:off x="3983" y="1285"/>
              <a:ext cx="156" cy="1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U</a:t>
              </a:r>
            </a:p>
          </p:txBody>
        </p:sp>
        <p:sp>
          <p:nvSpPr>
            <p:cNvPr id="207880" name="Text Box 8"/>
            <p:cNvSpPr txBox="1">
              <a:spLocks noChangeArrowheads="1"/>
            </p:cNvSpPr>
            <p:nvPr/>
          </p:nvSpPr>
          <p:spPr bwMode="auto">
            <a:xfrm>
              <a:off x="4326" y="1271"/>
              <a:ext cx="141" cy="1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K</a:t>
              </a:r>
            </a:p>
          </p:txBody>
        </p:sp>
        <p:sp>
          <p:nvSpPr>
            <p:cNvPr id="207881" name="Line 9"/>
            <p:cNvSpPr>
              <a:spLocks noChangeShapeType="1"/>
            </p:cNvSpPr>
            <p:nvPr/>
          </p:nvSpPr>
          <p:spPr bwMode="auto">
            <a:xfrm flipH="1">
              <a:off x="4297" y="1463"/>
              <a:ext cx="55" cy="7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207882" name="Text Box 10"/>
            <p:cNvSpPr txBox="1">
              <a:spLocks noChangeArrowheads="1"/>
            </p:cNvSpPr>
            <p:nvPr/>
          </p:nvSpPr>
          <p:spPr bwMode="auto">
            <a:xfrm>
              <a:off x="3544" y="1429"/>
              <a:ext cx="169" cy="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U,K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3" name="Group 71"/>
          <p:cNvGrpSpPr>
            <a:grpSpLocks/>
          </p:cNvGrpSpPr>
          <p:nvPr/>
        </p:nvGrpSpPr>
        <p:grpSpPr bwMode="auto">
          <a:xfrm>
            <a:off x="4817486" y="3008458"/>
            <a:ext cx="1612900" cy="1082675"/>
            <a:chOff x="2112" y="1300"/>
            <a:chExt cx="1016" cy="682"/>
          </a:xfrm>
        </p:grpSpPr>
        <p:sp>
          <p:nvSpPr>
            <p:cNvPr id="54" name="AutoShape 72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55" name="Line 73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Line 74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57" name="Group 75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63" name="Group 76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85" name="Line 7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6" name="Line 7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4" name="Group 79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83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4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5" name="Group 82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8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6" name="Group 85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79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0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7" name="Group 88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7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8" name="Group 91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75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6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9" name="Group 94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7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0" name="Group 97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71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72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58" name="Line 100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 Box 101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60" name="Line 102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Text Box 103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62" name="Text Box 104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sp>
        <p:nvSpPr>
          <p:cNvPr id="87" name="Text Box 143"/>
          <p:cNvSpPr txBox="1">
            <a:spLocks noChangeArrowheads="1"/>
          </p:cNvSpPr>
          <p:nvPr/>
        </p:nvSpPr>
        <p:spPr bwMode="auto">
          <a:xfrm>
            <a:off x="5149273" y="2621108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a</a:t>
            </a:r>
            <a:r>
              <a:rPr lang="en-US" baseline="-25000" dirty="0" err="1">
                <a:solidFill>
                  <a:srgbClr val="FF0000"/>
                </a:solidFill>
              </a:rPr>
              <a:t>max</a:t>
            </a:r>
            <a:endParaRPr lang="en-US" baseline="-25000" dirty="0">
              <a:solidFill>
                <a:srgbClr val="FF0000"/>
              </a:solidFill>
            </a:endParaRPr>
          </a:p>
        </p:txBody>
      </p:sp>
      <p:sp>
        <p:nvSpPr>
          <p:cNvPr id="88" name="Line 144"/>
          <p:cNvSpPr>
            <a:spLocks noChangeShapeType="1"/>
          </p:cNvSpPr>
          <p:nvPr/>
        </p:nvSpPr>
        <p:spPr bwMode="auto">
          <a:xfrm>
            <a:off x="5207895" y="2709118"/>
            <a:ext cx="420688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cxnSp>
        <p:nvCxnSpPr>
          <p:cNvPr id="89" name="Straight Connector 88"/>
          <p:cNvCxnSpPr/>
          <p:nvPr/>
        </p:nvCxnSpPr>
        <p:spPr>
          <a:xfrm>
            <a:off x="4216401" y="3440544"/>
            <a:ext cx="3158836" cy="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 Box 32"/>
          <p:cNvSpPr txBox="1">
            <a:spLocks noChangeArrowheads="1"/>
          </p:cNvSpPr>
          <p:nvPr/>
        </p:nvSpPr>
        <p:spPr bwMode="auto">
          <a:xfrm>
            <a:off x="7416224" y="3256252"/>
            <a:ext cx="53251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 sz="1400" dirty="0"/>
              <a:t>y = 0</a:t>
            </a:r>
          </a:p>
        </p:txBody>
      </p:sp>
      <p:cxnSp>
        <p:nvCxnSpPr>
          <p:cNvPr id="91" name="Straight Connector 90"/>
          <p:cNvCxnSpPr/>
          <p:nvPr/>
        </p:nvCxnSpPr>
        <p:spPr>
          <a:xfrm flipV="1">
            <a:off x="5746247" y="2396836"/>
            <a:ext cx="3390" cy="12611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27341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Restoring Force</a:t>
            </a:r>
          </a:p>
        </p:txBody>
      </p:sp>
      <p:sp>
        <p:nvSpPr>
          <p:cNvPr id="157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30400" y="1320801"/>
            <a:ext cx="4229100" cy="4525963"/>
          </a:xfrm>
        </p:spPr>
        <p:txBody>
          <a:bodyPr/>
          <a:lstStyle/>
          <a:p>
            <a:r>
              <a:rPr lang="en-US" sz="2000" dirty="0"/>
              <a:t>Hook’s Law</a:t>
            </a:r>
          </a:p>
          <a:p>
            <a:pPr lvl="1"/>
            <a:r>
              <a:rPr lang="en-US" sz="1800" dirty="0"/>
              <a:t>(Hook’s strong suggestion)</a:t>
            </a:r>
          </a:p>
          <a:p>
            <a:r>
              <a:rPr lang="en-US" sz="2000" dirty="0"/>
              <a:t>Force is directed toward equilibrium point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Then the acceleration is given by</a:t>
            </a:r>
          </a:p>
        </p:txBody>
      </p:sp>
      <p:grpSp>
        <p:nvGrpSpPr>
          <p:cNvPr id="2" name="Group 265"/>
          <p:cNvGrpSpPr>
            <a:grpSpLocks/>
          </p:cNvGrpSpPr>
          <p:nvPr/>
        </p:nvGrpSpPr>
        <p:grpSpPr bwMode="auto">
          <a:xfrm>
            <a:off x="7851775" y="1293814"/>
            <a:ext cx="2190750" cy="4802187"/>
            <a:chOff x="3986" y="815"/>
            <a:chExt cx="1380" cy="3025"/>
          </a:xfrm>
        </p:grpSpPr>
        <p:grpSp>
          <p:nvGrpSpPr>
            <p:cNvPr id="3" name="Group 248"/>
            <p:cNvGrpSpPr>
              <a:grpSpLocks/>
            </p:cNvGrpSpPr>
            <p:nvPr/>
          </p:nvGrpSpPr>
          <p:grpSpPr bwMode="auto">
            <a:xfrm>
              <a:off x="4113" y="2151"/>
              <a:ext cx="1189" cy="657"/>
              <a:chOff x="3801" y="2151"/>
              <a:chExt cx="1189" cy="657"/>
            </a:xfrm>
          </p:grpSpPr>
          <p:sp>
            <p:nvSpPr>
              <p:cNvPr id="157701" name="AutoShape 5"/>
              <p:cNvSpPr>
                <a:spLocks noChangeArrowheads="1"/>
              </p:cNvSpPr>
              <p:nvPr/>
            </p:nvSpPr>
            <p:spPr bwMode="auto">
              <a:xfrm>
                <a:off x="4318" y="2363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703" name="Line 7"/>
              <p:cNvSpPr>
                <a:spLocks noChangeShapeType="1"/>
              </p:cNvSpPr>
              <p:nvPr/>
            </p:nvSpPr>
            <p:spPr bwMode="auto">
              <a:xfrm>
                <a:off x="3813" y="2151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04" name="Line 8"/>
              <p:cNvSpPr>
                <a:spLocks noChangeShapeType="1"/>
              </p:cNvSpPr>
              <p:nvPr/>
            </p:nvSpPr>
            <p:spPr bwMode="auto">
              <a:xfrm rot="5400000" flipV="1">
                <a:off x="4309" y="2020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3831" y="2363"/>
                <a:ext cx="481" cy="94"/>
                <a:chOff x="2248" y="1248"/>
                <a:chExt cx="648" cy="128"/>
              </a:xfrm>
            </p:grpSpPr>
            <p:grpSp>
              <p:nvGrpSpPr>
                <p:cNvPr id="5" name="Group 10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07" name="Line 1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08" name="Line 1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6" name="Group 13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0" name="Line 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1" name="Line 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7" name="Group 16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7713" name="Line 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4" name="Line 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8" name="Group 19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6" name="Line 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17" name="Line 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9" name="Group 22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19" name="Line 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0" name="Line 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0" name="Group 25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2" name="Line 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3" name="Line 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1" name="Group 28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5" name="Line 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6" name="Line 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2" name="Group 31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728" name="Line 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729" name="Line 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7730" name="Line 34"/>
              <p:cNvSpPr>
                <a:spLocks noChangeShapeType="1"/>
              </p:cNvSpPr>
              <p:nvPr/>
            </p:nvSpPr>
            <p:spPr bwMode="auto">
              <a:xfrm>
                <a:off x="4383" y="256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1" name="Text Box 35"/>
              <p:cNvSpPr txBox="1">
                <a:spLocks noChangeArrowheads="1"/>
              </p:cNvSpPr>
              <p:nvPr/>
            </p:nvSpPr>
            <p:spPr bwMode="auto">
              <a:xfrm>
                <a:off x="4275" y="2616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732" name="Line 36"/>
              <p:cNvSpPr>
                <a:spLocks noChangeShapeType="1"/>
              </p:cNvSpPr>
              <p:nvPr/>
            </p:nvSpPr>
            <p:spPr bwMode="auto">
              <a:xfrm>
                <a:off x="4716" y="257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733" name="Text Box 37"/>
              <p:cNvSpPr txBox="1">
                <a:spLocks noChangeArrowheads="1"/>
              </p:cNvSpPr>
              <p:nvPr/>
            </p:nvSpPr>
            <p:spPr bwMode="auto">
              <a:xfrm>
                <a:off x="4625" y="2611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3" name="Group 249"/>
            <p:cNvGrpSpPr>
              <a:grpSpLocks/>
            </p:cNvGrpSpPr>
            <p:nvPr/>
          </p:nvGrpSpPr>
          <p:grpSpPr bwMode="auto">
            <a:xfrm>
              <a:off x="4116" y="1271"/>
              <a:ext cx="1213" cy="666"/>
              <a:chOff x="3756" y="1427"/>
              <a:chExt cx="1213" cy="666"/>
            </a:xfrm>
          </p:grpSpPr>
          <p:sp>
            <p:nvSpPr>
              <p:cNvPr id="157876" name="AutoShape 180"/>
              <p:cNvSpPr>
                <a:spLocks noChangeArrowheads="1"/>
              </p:cNvSpPr>
              <p:nvPr/>
            </p:nvSpPr>
            <p:spPr bwMode="auto">
              <a:xfrm>
                <a:off x="4593" y="1639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878" name="Line 182"/>
              <p:cNvSpPr>
                <a:spLocks noChangeShapeType="1"/>
              </p:cNvSpPr>
              <p:nvPr/>
            </p:nvSpPr>
            <p:spPr bwMode="auto">
              <a:xfrm>
                <a:off x="3768" y="1427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879" name="Line 183"/>
              <p:cNvSpPr>
                <a:spLocks noChangeShapeType="1"/>
              </p:cNvSpPr>
              <p:nvPr/>
            </p:nvSpPr>
            <p:spPr bwMode="auto">
              <a:xfrm rot="5400000" flipV="1">
                <a:off x="4264" y="1296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4" name="Group 184"/>
              <p:cNvGrpSpPr>
                <a:grpSpLocks/>
              </p:cNvGrpSpPr>
              <p:nvPr/>
            </p:nvGrpSpPr>
            <p:grpSpPr bwMode="auto">
              <a:xfrm>
                <a:off x="4481" y="1633"/>
                <a:ext cx="101" cy="95"/>
                <a:chOff x="704" y="1880"/>
                <a:chExt cx="136" cy="128"/>
              </a:xfrm>
            </p:grpSpPr>
            <p:sp>
              <p:nvSpPr>
                <p:cNvPr id="157881" name="Line 1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2" name="Line 1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187"/>
              <p:cNvGrpSpPr>
                <a:grpSpLocks/>
              </p:cNvGrpSpPr>
              <p:nvPr/>
            </p:nvGrpSpPr>
            <p:grpSpPr bwMode="auto">
              <a:xfrm>
                <a:off x="4374" y="1633"/>
                <a:ext cx="101" cy="95"/>
                <a:chOff x="704" y="1880"/>
                <a:chExt cx="136" cy="128"/>
              </a:xfrm>
            </p:grpSpPr>
            <p:sp>
              <p:nvSpPr>
                <p:cNvPr id="157884" name="Line 1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5" name="Line 1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190"/>
              <p:cNvGrpSpPr>
                <a:grpSpLocks/>
              </p:cNvGrpSpPr>
              <p:nvPr/>
            </p:nvGrpSpPr>
            <p:grpSpPr bwMode="auto">
              <a:xfrm>
                <a:off x="4279" y="1633"/>
                <a:ext cx="101" cy="95"/>
                <a:chOff x="704" y="1880"/>
                <a:chExt cx="136" cy="128"/>
              </a:xfrm>
            </p:grpSpPr>
            <p:sp>
              <p:nvSpPr>
                <p:cNvPr id="157887" name="Line 1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88" name="Line 1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193"/>
              <p:cNvGrpSpPr>
                <a:grpSpLocks/>
              </p:cNvGrpSpPr>
              <p:nvPr/>
            </p:nvGrpSpPr>
            <p:grpSpPr bwMode="auto">
              <a:xfrm>
                <a:off x="4178" y="1633"/>
                <a:ext cx="101" cy="95"/>
                <a:chOff x="704" y="1880"/>
                <a:chExt cx="136" cy="128"/>
              </a:xfrm>
            </p:grpSpPr>
            <p:sp>
              <p:nvSpPr>
                <p:cNvPr id="157890" name="Line 1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1" name="Line 1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196"/>
              <p:cNvGrpSpPr>
                <a:grpSpLocks/>
              </p:cNvGrpSpPr>
              <p:nvPr/>
            </p:nvGrpSpPr>
            <p:grpSpPr bwMode="auto">
              <a:xfrm>
                <a:off x="4083" y="1633"/>
                <a:ext cx="101" cy="95"/>
                <a:chOff x="704" y="1880"/>
                <a:chExt cx="136" cy="128"/>
              </a:xfrm>
            </p:grpSpPr>
            <p:sp>
              <p:nvSpPr>
                <p:cNvPr id="157893" name="Line 1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4" name="Line 1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199"/>
              <p:cNvGrpSpPr>
                <a:grpSpLocks/>
              </p:cNvGrpSpPr>
              <p:nvPr/>
            </p:nvGrpSpPr>
            <p:grpSpPr bwMode="auto">
              <a:xfrm>
                <a:off x="3982" y="1633"/>
                <a:ext cx="101" cy="95"/>
                <a:chOff x="704" y="1880"/>
                <a:chExt cx="136" cy="128"/>
              </a:xfrm>
            </p:grpSpPr>
            <p:sp>
              <p:nvSpPr>
                <p:cNvPr id="157896" name="Line 2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897" name="Line 2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202"/>
              <p:cNvGrpSpPr>
                <a:grpSpLocks/>
              </p:cNvGrpSpPr>
              <p:nvPr/>
            </p:nvGrpSpPr>
            <p:grpSpPr bwMode="auto">
              <a:xfrm>
                <a:off x="3887" y="1633"/>
                <a:ext cx="101" cy="95"/>
                <a:chOff x="704" y="1880"/>
                <a:chExt cx="136" cy="128"/>
              </a:xfrm>
            </p:grpSpPr>
            <p:sp>
              <p:nvSpPr>
                <p:cNvPr id="157899" name="Line 20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900" name="Line 20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1" name="Group 205"/>
              <p:cNvGrpSpPr>
                <a:grpSpLocks/>
              </p:cNvGrpSpPr>
              <p:nvPr/>
            </p:nvGrpSpPr>
            <p:grpSpPr bwMode="auto">
              <a:xfrm>
                <a:off x="3786" y="1633"/>
                <a:ext cx="101" cy="95"/>
                <a:chOff x="704" y="1880"/>
                <a:chExt cx="136" cy="128"/>
              </a:xfrm>
            </p:grpSpPr>
            <p:sp>
              <p:nvSpPr>
                <p:cNvPr id="157902" name="Line 20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903" name="Line 20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7904" name="Line 208"/>
              <p:cNvSpPr>
                <a:spLocks noChangeShapeType="1"/>
              </p:cNvSpPr>
              <p:nvPr/>
            </p:nvSpPr>
            <p:spPr bwMode="auto">
              <a:xfrm>
                <a:off x="4338" y="184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05" name="Text Box 209"/>
              <p:cNvSpPr txBox="1">
                <a:spLocks noChangeArrowheads="1"/>
              </p:cNvSpPr>
              <p:nvPr/>
            </p:nvSpPr>
            <p:spPr bwMode="auto">
              <a:xfrm>
                <a:off x="4230" y="190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906" name="Line 210"/>
              <p:cNvSpPr>
                <a:spLocks noChangeShapeType="1"/>
              </p:cNvSpPr>
              <p:nvPr/>
            </p:nvSpPr>
            <p:spPr bwMode="auto">
              <a:xfrm>
                <a:off x="4671" y="185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07" name="Text Box 211"/>
              <p:cNvSpPr txBox="1">
                <a:spLocks noChangeArrowheads="1"/>
              </p:cNvSpPr>
              <p:nvPr/>
            </p:nvSpPr>
            <p:spPr bwMode="auto">
              <a:xfrm>
                <a:off x="4580" y="1895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22" name="Group 247"/>
            <p:cNvGrpSpPr>
              <a:grpSpLocks/>
            </p:cNvGrpSpPr>
            <p:nvPr/>
          </p:nvGrpSpPr>
          <p:grpSpPr bwMode="auto">
            <a:xfrm>
              <a:off x="4120" y="3059"/>
              <a:ext cx="1016" cy="682"/>
              <a:chOff x="3844" y="2843"/>
              <a:chExt cx="1016" cy="682"/>
            </a:xfrm>
          </p:grpSpPr>
          <p:sp>
            <p:nvSpPr>
              <p:cNvPr id="157910" name="AutoShape 214"/>
              <p:cNvSpPr>
                <a:spLocks noChangeArrowheads="1"/>
              </p:cNvSpPr>
              <p:nvPr/>
            </p:nvSpPr>
            <p:spPr bwMode="auto">
              <a:xfrm>
                <a:off x="4117" y="3038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7911" name="Line 215"/>
              <p:cNvSpPr>
                <a:spLocks noChangeShapeType="1"/>
              </p:cNvSpPr>
              <p:nvPr/>
            </p:nvSpPr>
            <p:spPr bwMode="auto">
              <a:xfrm>
                <a:off x="3856" y="2843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12" name="Line 216"/>
              <p:cNvSpPr>
                <a:spLocks noChangeShapeType="1"/>
              </p:cNvSpPr>
              <p:nvPr/>
            </p:nvSpPr>
            <p:spPr bwMode="auto">
              <a:xfrm rot="5400000" flipV="1">
                <a:off x="4352" y="2712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217"/>
              <p:cNvGrpSpPr>
                <a:grpSpLocks/>
              </p:cNvGrpSpPr>
              <p:nvPr/>
            </p:nvGrpSpPr>
            <p:grpSpPr bwMode="auto">
              <a:xfrm>
                <a:off x="3880" y="3055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218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15" name="Line 21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16" name="Line 22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221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18" name="Line 22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19" name="Line 22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22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7921" name="Line 22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2" name="Line 22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227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24" name="Line 22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5" name="Line 22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230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27" name="Line 23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28" name="Line 23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233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0" name="Line 23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1" name="Line 23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236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3" name="Line 23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4" name="Line 23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239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7936" name="Line 24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7937" name="Line 24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7938" name="Line 242"/>
              <p:cNvSpPr>
                <a:spLocks noChangeShapeType="1"/>
              </p:cNvSpPr>
              <p:nvPr/>
            </p:nvSpPr>
            <p:spPr bwMode="auto">
              <a:xfrm>
                <a:off x="442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39" name="Text Box 243"/>
              <p:cNvSpPr txBox="1">
                <a:spLocks noChangeArrowheads="1"/>
              </p:cNvSpPr>
              <p:nvPr/>
            </p:nvSpPr>
            <p:spPr bwMode="auto">
              <a:xfrm>
                <a:off x="4318" y="3333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7940" name="Line 244"/>
              <p:cNvSpPr>
                <a:spLocks noChangeShapeType="1"/>
              </p:cNvSpPr>
              <p:nvPr/>
            </p:nvSpPr>
            <p:spPr bwMode="auto">
              <a:xfrm>
                <a:off x="4206" y="326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7941" name="Text Box 245"/>
              <p:cNvSpPr txBox="1">
                <a:spLocks noChangeArrowheads="1"/>
              </p:cNvSpPr>
              <p:nvPr/>
            </p:nvSpPr>
            <p:spPr bwMode="auto">
              <a:xfrm>
                <a:off x="4074" y="3315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</p:grpSp>
        <p:sp>
          <p:nvSpPr>
            <p:cNvPr id="157946" name="Line 250"/>
            <p:cNvSpPr>
              <a:spLocks noChangeShapeType="1"/>
            </p:cNvSpPr>
            <p:nvPr/>
          </p:nvSpPr>
          <p:spPr bwMode="auto">
            <a:xfrm>
              <a:off x="4692" y="972"/>
              <a:ext cx="0" cy="286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47" name="Line 251"/>
            <p:cNvSpPr>
              <a:spLocks noChangeShapeType="1"/>
            </p:cNvSpPr>
            <p:nvPr/>
          </p:nvSpPr>
          <p:spPr bwMode="auto">
            <a:xfrm>
              <a:off x="4272" y="3144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48" name="Text Box 252"/>
            <p:cNvSpPr txBox="1">
              <a:spLocks noChangeArrowheads="1"/>
            </p:cNvSpPr>
            <p:nvPr/>
          </p:nvSpPr>
          <p:spPr bwMode="auto">
            <a:xfrm>
              <a:off x="4286" y="2879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7949" name="Text Box 253"/>
            <p:cNvSpPr txBox="1">
              <a:spLocks noChangeArrowheads="1"/>
            </p:cNvSpPr>
            <p:nvPr/>
          </p:nvSpPr>
          <p:spPr bwMode="auto">
            <a:xfrm>
              <a:off x="4826" y="1127"/>
              <a:ext cx="239" cy="2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>
                  <a:solidFill>
                    <a:srgbClr val="3366FF"/>
                  </a:solidFill>
                </a:rPr>
                <a:t>F</a:t>
              </a:r>
              <a:r>
                <a:rPr lang="en-US" baseline="-25000">
                  <a:solidFill>
                    <a:srgbClr val="3366FF"/>
                  </a:solidFill>
                </a:rPr>
                <a:t>s</a:t>
              </a:r>
            </a:p>
          </p:txBody>
        </p:sp>
        <p:sp>
          <p:nvSpPr>
            <p:cNvPr id="157950" name="Line 254"/>
            <p:cNvSpPr>
              <a:spLocks noChangeShapeType="1"/>
            </p:cNvSpPr>
            <p:nvPr/>
          </p:nvSpPr>
          <p:spPr bwMode="auto">
            <a:xfrm flipH="1">
              <a:off x="4824" y="1392"/>
              <a:ext cx="264" cy="0"/>
            </a:xfrm>
            <a:prstGeom prst="line">
              <a:avLst/>
            </a:prstGeom>
            <a:noFill/>
            <a:ln w="28575">
              <a:solidFill>
                <a:srgbClr val="3366FF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7952" name="Text Box 256"/>
            <p:cNvSpPr txBox="1">
              <a:spLocks noChangeArrowheads="1"/>
            </p:cNvSpPr>
            <p:nvPr/>
          </p:nvSpPr>
          <p:spPr bwMode="auto">
            <a:xfrm>
              <a:off x="3986" y="815"/>
              <a:ext cx="1380" cy="2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/>
                <a:t>Equilibrium Position</a:t>
              </a:r>
            </a:p>
          </p:txBody>
        </p:sp>
      </p:grpSp>
      <p:sp>
        <p:nvSpPr>
          <p:cNvPr id="157955" name="Rectangle 259"/>
          <p:cNvSpPr>
            <a:spLocks noChangeArrowheads="1"/>
          </p:cNvSpPr>
          <p:nvPr/>
        </p:nvSpPr>
        <p:spPr bwMode="auto">
          <a:xfrm>
            <a:off x="1524001" y="3130034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57954" name="Object 258"/>
          <p:cNvGraphicFramePr>
            <a:graphicFrameLocks noChangeAspect="1"/>
          </p:cNvGraphicFramePr>
          <p:nvPr/>
        </p:nvGraphicFramePr>
        <p:xfrm>
          <a:off x="3200400" y="2768600"/>
          <a:ext cx="135255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72808" imgH="228501" progId="Equation.3">
                  <p:embed/>
                </p:oleObj>
              </mc:Choice>
              <mc:Fallback>
                <p:oleObj name="Equation" r:id="rId2" imgW="672808" imgH="228501" progId="Equation.3">
                  <p:embed/>
                  <p:pic>
                    <p:nvPicPr>
                      <p:cNvPr id="157954" name="Object 2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2768600"/>
                        <a:ext cx="1352550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956" name="Object 260"/>
          <p:cNvGraphicFramePr>
            <a:graphicFrameLocks noChangeAspect="1"/>
          </p:cNvGraphicFramePr>
          <p:nvPr/>
        </p:nvGraphicFramePr>
        <p:xfrm>
          <a:off x="3114676" y="3195639"/>
          <a:ext cx="1433513" cy="4794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685800" imgH="228600" progId="Equation.3">
                  <p:embed/>
                </p:oleObj>
              </mc:Choice>
              <mc:Fallback>
                <p:oleObj name="Equation" r:id="rId4" imgW="685800" imgH="228600" progId="Equation.3">
                  <p:embed/>
                  <p:pic>
                    <p:nvPicPr>
                      <p:cNvPr id="157956" name="Object 26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14676" y="3195639"/>
                        <a:ext cx="1433513" cy="4794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7958" name="Object 262"/>
          <p:cNvGraphicFramePr>
            <a:graphicFrameLocks noChangeAspect="1"/>
          </p:cNvGraphicFramePr>
          <p:nvPr/>
        </p:nvGraphicFramePr>
        <p:xfrm>
          <a:off x="3381375" y="4325938"/>
          <a:ext cx="1417638" cy="8175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85800" imgH="393480" progId="Equation.3">
                  <p:embed/>
                </p:oleObj>
              </mc:Choice>
              <mc:Fallback>
                <p:oleObj name="Equation" r:id="rId6" imgW="685800" imgH="393480" progId="Equation.3">
                  <p:embed/>
                  <p:pic>
                    <p:nvPicPr>
                      <p:cNvPr id="157958" name="Object 26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81375" y="4325938"/>
                        <a:ext cx="1417638" cy="81756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960" name="AutoShape 264"/>
          <p:cNvSpPr>
            <a:spLocks noChangeArrowheads="1"/>
          </p:cNvSpPr>
          <p:nvPr/>
        </p:nvSpPr>
        <p:spPr bwMode="auto">
          <a:xfrm>
            <a:off x="1879600" y="5308600"/>
            <a:ext cx="5448300" cy="8763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anchor="ctr"/>
          <a:lstStyle/>
          <a:p>
            <a:pPr algn="ctr"/>
            <a:r>
              <a:rPr lang="en-US"/>
              <a:t>For SHM the acceleration is proportional to the position and is oppositely directed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Acceleration</a:t>
            </a:r>
          </a:p>
        </p:txBody>
      </p:sp>
      <p:sp>
        <p:nvSpPr>
          <p:cNvPr id="159747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866900" y="1968501"/>
            <a:ext cx="36830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The acceleration of the mass experiencing SHM is </a:t>
            </a:r>
          </a:p>
          <a:p>
            <a:pPr lvl="1">
              <a:lnSpc>
                <a:spcPct val="90000"/>
              </a:lnSpc>
            </a:pPr>
            <a:r>
              <a:rPr lang="en-US"/>
              <a:t>zero at equilibrium, </a:t>
            </a:r>
          </a:p>
          <a:p>
            <a:pPr lvl="1">
              <a:lnSpc>
                <a:spcPct val="90000"/>
              </a:lnSpc>
            </a:pPr>
            <a:r>
              <a:rPr lang="en-US"/>
              <a:t>maximum at the extreme displacement</a:t>
            </a:r>
          </a:p>
        </p:txBody>
      </p:sp>
      <p:grpSp>
        <p:nvGrpSpPr>
          <p:cNvPr id="2" name="Group 145"/>
          <p:cNvGrpSpPr>
            <a:grpSpLocks/>
          </p:cNvGrpSpPr>
          <p:nvPr/>
        </p:nvGrpSpPr>
        <p:grpSpPr bwMode="auto">
          <a:xfrm>
            <a:off x="5905500" y="2057400"/>
            <a:ext cx="4686300" cy="3282950"/>
            <a:chOff x="2496" y="1296"/>
            <a:chExt cx="2952" cy="2068"/>
          </a:xfrm>
        </p:grpSpPr>
        <p:grpSp>
          <p:nvGrpSpPr>
            <p:cNvPr id="3" name="Group 4"/>
            <p:cNvGrpSpPr>
              <a:grpSpLocks/>
            </p:cNvGrpSpPr>
            <p:nvPr/>
          </p:nvGrpSpPr>
          <p:grpSpPr bwMode="auto">
            <a:xfrm>
              <a:off x="2496" y="1991"/>
              <a:ext cx="1213" cy="666"/>
              <a:chOff x="176" y="1300"/>
              <a:chExt cx="1213" cy="666"/>
            </a:xfrm>
          </p:grpSpPr>
          <p:sp>
            <p:nvSpPr>
              <p:cNvPr id="159749" name="AutoShape 5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750" name="Text Box 6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5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-a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751" name="Line 7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52" name="Line 8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159754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55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159757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58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159760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1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159763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4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159766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67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159769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0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159772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3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159775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9776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59777" name="Line 33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78" name="Text Box 34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779" name="Line 35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80" name="Text Box 36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781" name="Text Box 37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grpSp>
          <p:nvGrpSpPr>
            <p:cNvPr id="12" name="Group 38"/>
            <p:cNvGrpSpPr>
              <a:grpSpLocks/>
            </p:cNvGrpSpPr>
            <p:nvPr/>
          </p:nvGrpSpPr>
          <p:grpSpPr bwMode="auto">
            <a:xfrm>
              <a:off x="3357" y="1296"/>
              <a:ext cx="1189" cy="708"/>
              <a:chOff x="1037" y="605"/>
              <a:chExt cx="1189" cy="708"/>
            </a:xfrm>
          </p:grpSpPr>
          <p:sp>
            <p:nvSpPr>
              <p:cNvPr id="159783" name="AutoShape 39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784" name="Text Box 40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59785" name="Line 41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786" name="Line 42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3" name="Group 43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4" name="Group 44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89" name="Line 4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0" name="Line 4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47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92" name="Line 4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3" name="Line 4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50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795" name="Line 5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6" name="Line 5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53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798" name="Line 5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799" name="Line 5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56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1" name="Line 5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2" name="Line 5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59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4" name="Line 6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5" name="Line 6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62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07" name="Line 6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08" name="Line 6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1" name="Group 65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10" name="Line 6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11" name="Line 6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12" name="Line 68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13" name="Text Box 69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14" name="Line 70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15" name="Text Box 71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16" name="Line 72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73"/>
            <p:cNvGrpSpPr>
              <a:grpSpLocks/>
            </p:cNvGrpSpPr>
            <p:nvPr/>
          </p:nvGrpSpPr>
          <p:grpSpPr bwMode="auto">
            <a:xfrm>
              <a:off x="4432" y="1991"/>
              <a:ext cx="1016" cy="682"/>
              <a:chOff x="2112" y="1300"/>
              <a:chExt cx="1016" cy="682"/>
            </a:xfrm>
          </p:grpSpPr>
          <p:sp>
            <p:nvSpPr>
              <p:cNvPr id="159818" name="AutoShape 74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819" name="Line 75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20" name="Line 76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77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78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23" name="Line 7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24" name="Line 8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81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26" name="Line 8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27" name="Line 8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84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829" name="Line 8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0" name="Line 8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87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2" name="Line 8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3" name="Line 8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90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5" name="Line 9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6" name="Line 9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93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38" name="Line 9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39" name="Line 9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96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41" name="Line 9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42" name="Line 9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99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44" name="Line 10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45" name="Line 10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46" name="Line 102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47" name="Text Box 103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48" name="Line 104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49" name="Text Box 105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50" name="Text Box 106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4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59744" name="Group 107"/>
            <p:cNvGrpSpPr>
              <a:grpSpLocks/>
            </p:cNvGrpSpPr>
            <p:nvPr/>
          </p:nvGrpSpPr>
          <p:grpSpPr bwMode="auto">
            <a:xfrm>
              <a:off x="3349" y="2632"/>
              <a:ext cx="1133" cy="732"/>
              <a:chOff x="1029" y="1941"/>
              <a:chExt cx="1133" cy="732"/>
            </a:xfrm>
          </p:grpSpPr>
          <p:sp>
            <p:nvSpPr>
              <p:cNvPr id="159852" name="AutoShape 108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59853" name="Text Box 109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59854" name="Line 110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55" name="Line 111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59745" name="Group 112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159748" name="Group 113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58" name="Line 11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59" name="Line 11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3" name="Group 116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61" name="Line 11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2" name="Line 11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6" name="Group 119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59864" name="Line 12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5" name="Line 12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59" name="Group 122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67" name="Line 12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68" name="Line 12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2" name="Group 125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0" name="Line 12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1" name="Line 12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5" name="Group 128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3" name="Line 12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4" name="Line 13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68" name="Group 131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6" name="Line 13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77" name="Line 13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771" name="Group 134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59879" name="Line 13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59880" name="Line 13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59881" name="Line 137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82" name="Text Box 138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59883" name="Line 139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9884" name="Text Box 140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59885" name="Line 141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9886" name="Arc 142"/>
            <p:cNvSpPr>
              <a:spLocks/>
            </p:cNvSpPr>
            <p:nvPr/>
          </p:nvSpPr>
          <p:spPr bwMode="auto">
            <a:xfrm>
              <a:off x="3631" y="2030"/>
              <a:ext cx="505" cy="595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59887" name="Object 143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7701" y="1301751"/>
          <a:ext cx="111442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59887" name="Object 14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7701" y="1301751"/>
                        <a:ext cx="111442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7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Start with a horizontal block-spring System</a:t>
            </a:r>
          </a:p>
        </p:txBody>
      </p:sp>
      <p:sp>
        <p:nvSpPr>
          <p:cNvPr id="178179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Recall the relationships between position, velocity, and acceleration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Then in the x-direction</a:t>
            </a:r>
          </a:p>
          <a:p>
            <a:endParaRPr lang="en-US" sz="2000"/>
          </a:p>
          <a:p>
            <a:r>
              <a:rPr lang="en-US" sz="2000"/>
              <a:t>Ignore all but the x direction</a:t>
            </a:r>
          </a:p>
        </p:txBody>
      </p:sp>
      <p:sp>
        <p:nvSpPr>
          <p:cNvPr id="178217" name="Rectangle 41"/>
          <p:cNvSpPr>
            <a:spLocks noGrp="1" noChangeArrowheads="1"/>
          </p:cNvSpPr>
          <p:nvPr>
            <p:ph type="body" sz="half" idx="2"/>
          </p:nvPr>
        </p:nvSpPr>
        <p:spPr>
          <a:xfrm>
            <a:off x="6108700" y="2616201"/>
            <a:ext cx="4038600" cy="3560763"/>
          </a:xfrm>
        </p:spPr>
        <p:txBody>
          <a:bodyPr/>
          <a:lstStyle/>
          <a:p>
            <a:r>
              <a:rPr lang="en-US" sz="1800"/>
              <a:t>We define a convenient quantity</a:t>
            </a:r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And we have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r>
              <a:rPr lang="en-US" sz="1800"/>
              <a:t>Which is a lovely differential equation!</a:t>
            </a:r>
          </a:p>
          <a:p>
            <a:endParaRPr lang="en-US" sz="1800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8358189" y="1331914"/>
            <a:ext cx="1887537" cy="1042987"/>
            <a:chOff x="3801" y="2151"/>
            <a:chExt cx="1189" cy="657"/>
          </a:xfrm>
        </p:grpSpPr>
        <p:sp>
          <p:nvSpPr>
            <p:cNvPr id="178181" name="AutoShape 5"/>
            <p:cNvSpPr>
              <a:spLocks noChangeArrowheads="1"/>
            </p:cNvSpPr>
            <p:nvPr/>
          </p:nvSpPr>
          <p:spPr bwMode="auto">
            <a:xfrm>
              <a:off x="4318" y="2363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78182" name="Line 6"/>
            <p:cNvSpPr>
              <a:spLocks noChangeShapeType="1"/>
            </p:cNvSpPr>
            <p:nvPr/>
          </p:nvSpPr>
          <p:spPr bwMode="auto">
            <a:xfrm>
              <a:off x="3813" y="2151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183" name="Line 7"/>
            <p:cNvSpPr>
              <a:spLocks noChangeShapeType="1"/>
            </p:cNvSpPr>
            <p:nvPr/>
          </p:nvSpPr>
          <p:spPr bwMode="auto">
            <a:xfrm rot="5400000" flipV="1">
              <a:off x="4309" y="2020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8"/>
            <p:cNvGrpSpPr>
              <a:grpSpLocks/>
            </p:cNvGrpSpPr>
            <p:nvPr/>
          </p:nvGrpSpPr>
          <p:grpSpPr bwMode="auto">
            <a:xfrm>
              <a:off x="3831" y="2363"/>
              <a:ext cx="481" cy="94"/>
              <a:chOff x="2248" y="1248"/>
              <a:chExt cx="648" cy="128"/>
            </a:xfrm>
          </p:grpSpPr>
          <p:grpSp>
            <p:nvGrpSpPr>
              <p:cNvPr id="4" name="Group 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78186" name="Line 1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87" name="Line 1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78189" name="Line 1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0" name="Line 1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78192" name="Line 1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3" name="Line 1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78195" name="Line 1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6" name="Line 2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78198" name="Line 2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199" name="Line 2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78201" name="Line 2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2" name="Line 2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78204" name="Line 2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5" name="Line 2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78207" name="Line 3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78208" name="Line 3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78209" name="Line 33"/>
            <p:cNvSpPr>
              <a:spLocks noChangeShapeType="1"/>
            </p:cNvSpPr>
            <p:nvPr/>
          </p:nvSpPr>
          <p:spPr bwMode="auto">
            <a:xfrm>
              <a:off x="4383" y="256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210" name="Text Box 34"/>
            <p:cNvSpPr txBox="1">
              <a:spLocks noChangeArrowheads="1"/>
            </p:cNvSpPr>
            <p:nvPr/>
          </p:nvSpPr>
          <p:spPr bwMode="auto">
            <a:xfrm>
              <a:off x="4275" y="2616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78211" name="Line 35"/>
            <p:cNvSpPr>
              <a:spLocks noChangeShapeType="1"/>
            </p:cNvSpPr>
            <p:nvPr/>
          </p:nvSpPr>
          <p:spPr bwMode="auto">
            <a:xfrm>
              <a:off x="4716" y="257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78212" name="Text Box 36"/>
            <p:cNvSpPr txBox="1">
              <a:spLocks noChangeArrowheads="1"/>
            </p:cNvSpPr>
            <p:nvPr/>
          </p:nvSpPr>
          <p:spPr bwMode="auto">
            <a:xfrm>
              <a:off x="4625" y="2611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</p:grpSp>
      <p:graphicFrame>
        <p:nvGraphicFramePr>
          <p:cNvPr id="178214" name="Object 38"/>
          <p:cNvGraphicFramePr>
            <a:graphicFrameLocks noChangeAspect="1"/>
          </p:cNvGraphicFramePr>
          <p:nvPr/>
        </p:nvGraphicFramePr>
        <p:xfrm>
          <a:off x="3276601" y="2609850"/>
          <a:ext cx="1412875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63280" imgH="419040" progId="Equation.3">
                  <p:embed/>
                </p:oleObj>
              </mc:Choice>
              <mc:Fallback>
                <p:oleObj name="Equation" r:id="rId2" imgW="863280" imgH="419040" progId="Equation.3">
                  <p:embed/>
                  <p:pic>
                    <p:nvPicPr>
                      <p:cNvPr id="178214" name="Object 3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76601" y="2609850"/>
                        <a:ext cx="1412875" cy="6858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15" name="Object 39"/>
          <p:cNvGraphicFramePr>
            <a:graphicFrameLocks noChangeAspect="1"/>
          </p:cNvGraphicFramePr>
          <p:nvPr/>
        </p:nvGraphicFramePr>
        <p:xfrm>
          <a:off x="3136900" y="3670300"/>
          <a:ext cx="1608138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65160" imgH="228600" progId="Equation.3">
                  <p:embed/>
                </p:oleObj>
              </mc:Choice>
              <mc:Fallback>
                <p:oleObj name="Equation" r:id="rId4" imgW="965160" imgH="228600" progId="Equation.3">
                  <p:embed/>
                  <p:pic>
                    <p:nvPicPr>
                      <p:cNvPr id="178215" name="Object 3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6900" y="3670300"/>
                        <a:ext cx="1608138" cy="3810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16" name="Object 40"/>
          <p:cNvGraphicFramePr>
            <a:graphicFrameLocks noChangeAspect="1"/>
          </p:cNvGraphicFramePr>
          <p:nvPr/>
        </p:nvGraphicFramePr>
        <p:xfrm>
          <a:off x="2819400" y="5302250"/>
          <a:ext cx="1354138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812520" imgH="419040" progId="Equation.3">
                  <p:embed/>
                </p:oleObj>
              </mc:Choice>
              <mc:Fallback>
                <p:oleObj name="Equation" r:id="rId6" imgW="812520" imgH="419040" progId="Equation.3">
                  <p:embed/>
                  <p:pic>
                    <p:nvPicPr>
                      <p:cNvPr id="178216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19400" y="5302250"/>
                        <a:ext cx="1354138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8219" name="Rectangle 43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78218" name="Object 42"/>
          <p:cNvGraphicFramePr>
            <a:graphicFrameLocks noChangeAspect="1"/>
          </p:cNvGraphicFramePr>
          <p:nvPr/>
        </p:nvGraphicFramePr>
        <p:xfrm>
          <a:off x="7797800" y="2935289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507960" imgH="393480" progId="Equation.3">
                  <p:embed/>
                </p:oleObj>
              </mc:Choice>
              <mc:Fallback>
                <p:oleObj name="Equation" r:id="rId8" imgW="507960" imgH="393480" progId="Equation.3">
                  <p:embed/>
                  <p:pic>
                    <p:nvPicPr>
                      <p:cNvPr id="178218" name="Object 4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97800" y="2935289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8220" name="Object 44"/>
          <p:cNvGraphicFramePr>
            <a:graphicFrameLocks noChangeAspect="1"/>
          </p:cNvGraphicFramePr>
          <p:nvPr/>
        </p:nvGraphicFramePr>
        <p:xfrm>
          <a:off x="7335839" y="410845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787320" imgH="419040" progId="Equation.3">
                  <p:embed/>
                </p:oleObj>
              </mc:Choice>
              <mc:Fallback>
                <p:oleObj name="Equation" r:id="rId10" imgW="787320" imgH="419040" progId="Equation.3">
                  <p:embed/>
                  <p:pic>
                    <p:nvPicPr>
                      <p:cNvPr id="178220" name="Object 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35839" y="410845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4" name="Picture 8"/>
          <p:cNvPicPr>
            <a:picLocks noChangeAspect="1" noChangeArrowheads="1"/>
          </p:cNvPicPr>
          <p:nvPr/>
        </p:nvPicPr>
        <p:blipFill>
          <a:blip r:embed="rId12" cstate="print"/>
          <a:srcRect/>
          <a:stretch>
            <a:fillRect/>
          </a:stretch>
        </p:blipFill>
        <p:spPr bwMode="auto">
          <a:xfrm>
            <a:off x="6692900" y="4445000"/>
            <a:ext cx="2724150" cy="17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Solutions to the DEQ</a:t>
            </a:r>
          </a:p>
        </p:txBody>
      </p:sp>
      <p:sp>
        <p:nvSpPr>
          <p:cNvPr id="1832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8613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sz="2000"/>
              <a:t>The differential equation needs a solution that is the negative of its own second derivative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From calculus we know a few of these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Take the cosine function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These might be solutions, but we need to find A, </a:t>
            </a:r>
            <a:r>
              <a:rPr lang="en-US" sz="2000">
                <a:sym typeface="Symbol" pitchFamily="18" charset="2"/>
              </a:rPr>
              <a:t>, </a:t>
            </a:r>
            <a:endParaRPr lang="en-US" sz="2000"/>
          </a:p>
        </p:txBody>
      </p:sp>
      <p:sp>
        <p:nvSpPr>
          <p:cNvPr id="183301" name="Rectangle 5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3300" name="Object 4"/>
          <p:cNvGraphicFramePr>
            <a:graphicFrameLocks noChangeAspect="1"/>
          </p:cNvGraphicFramePr>
          <p:nvPr/>
        </p:nvGraphicFramePr>
        <p:xfrm>
          <a:off x="5210176" y="3629025"/>
          <a:ext cx="1541463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218960" imgH="431640" progId="Equation.3">
                  <p:embed/>
                </p:oleObj>
              </mc:Choice>
              <mc:Fallback>
                <p:oleObj name="Equation" r:id="rId2" imgW="1218960" imgH="431640" progId="Equation.3">
                  <p:embed/>
                  <p:pic>
                    <p:nvPicPr>
                      <p:cNvPr id="18330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10176" y="3629025"/>
                        <a:ext cx="1541463" cy="546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302" name="Object 6"/>
          <p:cNvGraphicFramePr>
            <a:graphicFrameLocks noChangeAspect="1"/>
          </p:cNvGraphicFramePr>
          <p:nvPr/>
        </p:nvGraphicFramePr>
        <p:xfrm>
          <a:off x="5334001" y="2133600"/>
          <a:ext cx="1311275" cy="698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787320" imgH="419040" progId="Equation.3">
                  <p:embed/>
                </p:oleObj>
              </mc:Choice>
              <mc:Fallback>
                <p:oleObj name="Equation" r:id="rId4" imgW="787320" imgH="419040" progId="Equation.3">
                  <p:embed/>
                  <p:pic>
                    <p:nvPicPr>
                      <p:cNvPr id="183302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1" y="2133600"/>
                        <a:ext cx="1311275" cy="6985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3304" name="Rectangle 8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3303" name="Object 7"/>
          <p:cNvGraphicFramePr>
            <a:graphicFrameLocks noChangeAspect="1"/>
          </p:cNvGraphicFramePr>
          <p:nvPr/>
        </p:nvGraphicFramePr>
        <p:xfrm>
          <a:off x="5386389" y="4567239"/>
          <a:ext cx="1589087" cy="1030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587240" imgH="1028520" progId="Equation.3">
                  <p:embed/>
                </p:oleObj>
              </mc:Choice>
              <mc:Fallback>
                <p:oleObj name="Equation" r:id="rId6" imgW="1587240" imgH="1028520" progId="Equation.3">
                  <p:embed/>
                  <p:pic>
                    <p:nvPicPr>
                      <p:cNvPr id="183303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9" y="4567239"/>
                        <a:ext cx="1589087" cy="10302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Solution!</a:t>
            </a:r>
          </a:p>
        </p:txBody>
      </p:sp>
      <p:sp>
        <p:nvSpPr>
          <p:cNvPr id="18432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Let's substitute these expressions into our differential equation for the motion</a:t>
            </a:r>
          </a:p>
          <a:p>
            <a:endParaRPr lang="en-US" sz="2400"/>
          </a:p>
          <a:p>
            <a:endParaRPr lang="en-US" sz="2400"/>
          </a:p>
          <a:p>
            <a:endParaRPr lang="en-US" sz="2400"/>
          </a:p>
          <a:p>
            <a:r>
              <a:rPr lang="en-US" sz="2400"/>
              <a:t>So as long as the quantity </a:t>
            </a:r>
            <a:r>
              <a:rPr lang="en-US" sz="2400">
                <a:sym typeface="Symbol" pitchFamily="18" charset="2"/>
              </a:rPr>
              <a:t> in the cosine function is the same as our convenient quantity</a:t>
            </a:r>
          </a:p>
          <a:p>
            <a:endParaRPr lang="en-US" sz="2400">
              <a:sym typeface="Symbol" pitchFamily="18" charset="2"/>
            </a:endParaRPr>
          </a:p>
          <a:p>
            <a:endParaRPr lang="en-US" sz="2400">
              <a:sym typeface="Symbol" pitchFamily="18" charset="2"/>
            </a:endParaRPr>
          </a:p>
          <a:p>
            <a:r>
              <a:rPr lang="en-US" sz="2400">
                <a:sym typeface="Symbol" pitchFamily="18" charset="2"/>
              </a:rPr>
              <a:t>We have a solution</a:t>
            </a:r>
          </a:p>
        </p:txBody>
      </p:sp>
      <p:sp>
        <p:nvSpPr>
          <p:cNvPr id="184325" name="Rectangle 5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4324" name="Object 4"/>
          <p:cNvGraphicFramePr>
            <a:graphicFrameLocks noChangeAspect="1"/>
          </p:cNvGraphicFramePr>
          <p:nvPr/>
        </p:nvGraphicFramePr>
        <p:xfrm>
          <a:off x="4594226" y="2452689"/>
          <a:ext cx="3235325" cy="941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273040" imgH="660240" progId="Equation.3">
                  <p:embed/>
                </p:oleObj>
              </mc:Choice>
              <mc:Fallback>
                <p:oleObj name="Equation" r:id="rId2" imgW="2273040" imgH="660240" progId="Equation.3">
                  <p:embed/>
                  <p:pic>
                    <p:nvPicPr>
                      <p:cNvPr id="18432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94226" y="2452689"/>
                        <a:ext cx="3235325" cy="941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326" name="Object 6"/>
          <p:cNvGraphicFramePr>
            <a:graphicFrameLocks noChangeAspect="1"/>
          </p:cNvGraphicFramePr>
          <p:nvPr/>
        </p:nvGraphicFramePr>
        <p:xfrm>
          <a:off x="5626100" y="4662489"/>
          <a:ext cx="788988" cy="6111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07960" imgH="393480" progId="Equation.3">
                  <p:embed/>
                </p:oleObj>
              </mc:Choice>
              <mc:Fallback>
                <p:oleObj name="Equation" r:id="rId4" imgW="507960" imgH="393480" progId="Equation.3">
                  <p:embed/>
                  <p:pic>
                    <p:nvPicPr>
                      <p:cNvPr id="184326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6100" y="4662489"/>
                        <a:ext cx="788988" cy="6111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327" name="Object 7"/>
          <p:cNvGraphicFramePr>
            <a:graphicFrameLocks noChangeAspect="1"/>
          </p:cNvGraphicFramePr>
          <p:nvPr/>
        </p:nvGraphicFramePr>
        <p:xfrm>
          <a:off x="5154614" y="5403850"/>
          <a:ext cx="2555875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206360" imgH="215640" progId="Equation.3">
                  <p:embed/>
                </p:oleObj>
              </mc:Choice>
              <mc:Fallback>
                <p:oleObj name="Equation" r:id="rId6" imgW="1206360" imgH="215640" progId="Equation.3">
                  <p:embed/>
                  <p:pic>
                    <p:nvPicPr>
                      <p:cNvPr id="184327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54614" y="5403850"/>
                        <a:ext cx="2555875" cy="4572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Solution Properties</a:t>
            </a:r>
          </a:p>
        </p:txBody>
      </p:sp>
      <p:sp>
        <p:nvSpPr>
          <p:cNvPr id="18534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400"/>
              <a:t>From Trigonometry we can identify </a:t>
            </a:r>
            <a:r>
              <a:rPr lang="en-US" sz="2400">
                <a:sym typeface="Symbol" pitchFamily="18" charset="2"/>
              </a:rPr>
              <a:t> as the angular frequency</a:t>
            </a:r>
          </a:p>
          <a:p>
            <a:endParaRPr lang="en-US" sz="2400">
              <a:sym typeface="Symbol" pitchFamily="18" charset="2"/>
            </a:endParaRPr>
          </a:p>
          <a:p>
            <a:pPr>
              <a:buFontTx/>
              <a:buNone/>
            </a:pPr>
            <a:r>
              <a:rPr lang="en-US" sz="2400">
                <a:sym typeface="Symbol" pitchFamily="18" charset="2"/>
              </a:rPr>
              <a:t> and  as the phase angle</a:t>
            </a:r>
          </a:p>
          <a:p>
            <a:r>
              <a:rPr lang="en-US" sz="2400">
                <a:sym typeface="Symbol" pitchFamily="18" charset="2"/>
              </a:rPr>
              <a:t>We also recognize A as the amplitude</a:t>
            </a:r>
          </a:p>
          <a:p>
            <a:r>
              <a:rPr lang="en-US" sz="2400">
                <a:sym typeface="Symbol" pitchFamily="18" charset="2"/>
              </a:rPr>
              <a:t>We need values for these last two quantities to complete our solution</a:t>
            </a:r>
          </a:p>
        </p:txBody>
      </p:sp>
      <p:sp>
        <p:nvSpPr>
          <p:cNvPr id="185349" name="Rectangle 5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5348" name="Object 4"/>
          <p:cNvGraphicFramePr>
            <a:graphicFrameLocks noChangeAspect="1"/>
          </p:cNvGraphicFramePr>
          <p:nvPr/>
        </p:nvGraphicFramePr>
        <p:xfrm>
          <a:off x="4318001" y="2054226"/>
          <a:ext cx="134937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39600" imgH="444240" progId="Equation.3">
                  <p:embed/>
                </p:oleObj>
              </mc:Choice>
              <mc:Fallback>
                <p:oleObj name="Equation" r:id="rId2" imgW="939600" imgH="444240" progId="Equation.3">
                  <p:embed/>
                  <p:pic>
                    <p:nvPicPr>
                      <p:cNvPr id="185348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18001" y="2054226"/>
                        <a:ext cx="134937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5351" name="Rectangle 7"/>
          <p:cNvSpPr>
            <a:spLocks noChangeArrowheads="1"/>
          </p:cNvSpPr>
          <p:nvPr/>
        </p:nvSpPr>
        <p:spPr bwMode="auto">
          <a:xfrm>
            <a:off x="1524001" y="27776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5350" name="Object 6"/>
          <p:cNvGraphicFramePr>
            <a:graphicFrameLocks noChangeAspect="1"/>
          </p:cNvGraphicFramePr>
          <p:nvPr/>
        </p:nvGraphicFramePr>
        <p:xfrm>
          <a:off x="5915025" y="4945064"/>
          <a:ext cx="381000" cy="6746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80880" imgH="672840" progId="Equation.3">
                  <p:embed/>
                </p:oleObj>
              </mc:Choice>
              <mc:Fallback>
                <p:oleObj name="Equation" r:id="rId4" imgW="380880" imgH="672840" progId="Equation.3">
                  <p:embed/>
                  <p:pic>
                    <p:nvPicPr>
                      <p:cNvPr id="18535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15025" y="4945064"/>
                        <a:ext cx="381000" cy="6746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85352" name="Picture 8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692900" y="4445000"/>
            <a:ext cx="2724150" cy="177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3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Period and Frequency</a:t>
            </a:r>
          </a:p>
        </p:txBody>
      </p:sp>
      <p:sp>
        <p:nvSpPr>
          <p:cNvPr id="186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4775200" cy="4525963"/>
          </a:xfrm>
        </p:spPr>
        <p:txBody>
          <a:bodyPr/>
          <a:lstStyle/>
          <a:p>
            <a:r>
              <a:rPr lang="en-US" sz="2000"/>
              <a:t>The period is the time it takes for the mass to travel through one complete cycle</a:t>
            </a:r>
          </a:p>
          <a:p>
            <a:r>
              <a:rPr lang="en-US" sz="2000"/>
              <a:t>We know from trig that the period and frequency are related</a:t>
            </a:r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We can write both in terms of the SHO constants</a:t>
            </a:r>
          </a:p>
        </p:txBody>
      </p:sp>
      <p:pic>
        <p:nvPicPr>
          <p:cNvPr id="18637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934200" y="1657351"/>
            <a:ext cx="3187700" cy="2105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86374" name="Rectangle 6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6373" name="Object 5"/>
          <p:cNvGraphicFramePr>
            <a:graphicFrameLocks noChangeAspect="1"/>
          </p:cNvGraphicFramePr>
          <p:nvPr/>
        </p:nvGraphicFramePr>
        <p:xfrm>
          <a:off x="3556001" y="3441700"/>
          <a:ext cx="790575" cy="419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787320" imgH="419040" progId="Equation.3">
                  <p:embed/>
                </p:oleObj>
              </mc:Choice>
              <mc:Fallback>
                <p:oleObj name="Equation" r:id="rId3" imgW="787320" imgH="419040" progId="Equation.3">
                  <p:embed/>
                  <p:pic>
                    <p:nvPicPr>
                      <p:cNvPr id="186373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56001" y="3441700"/>
                        <a:ext cx="790575" cy="4191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6376" name="Rectangle 8"/>
          <p:cNvSpPr>
            <a:spLocks noChangeArrowheads="1"/>
          </p:cNvSpPr>
          <p:nvPr/>
        </p:nvSpPr>
        <p:spPr bwMode="auto">
          <a:xfrm>
            <a:off x="1524001" y="3233222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6375" name="Object 7"/>
          <p:cNvGraphicFramePr>
            <a:graphicFrameLocks noChangeAspect="1"/>
          </p:cNvGraphicFramePr>
          <p:nvPr/>
        </p:nvGraphicFramePr>
        <p:xfrm>
          <a:off x="3632200" y="4878389"/>
          <a:ext cx="800100" cy="8858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800100" imgH="889000" progId="Equation.3">
                  <p:embed/>
                </p:oleObj>
              </mc:Choice>
              <mc:Fallback>
                <p:oleObj name="Equation" r:id="rId5" imgW="800100" imgH="889000" progId="Equation.3">
                  <p:embed/>
                  <p:pic>
                    <p:nvPicPr>
                      <p:cNvPr id="186375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2200" y="4878389"/>
                        <a:ext cx="800100" cy="88582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5418B167-D7D1-409F-AFAE-4E00E7D5A849}" type="slidenum">
              <a:rPr lang="en-US" smtClean="0"/>
              <a:pPr/>
              <a:t>52</a:t>
            </a:fld>
            <a:endParaRPr lang="en-US"/>
          </a:p>
        </p:txBody>
      </p:sp>
      <p:sp>
        <p:nvSpPr>
          <p:cNvPr id="348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123.2.6</a:t>
            </a:r>
          </a:p>
        </p:txBody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7937500" cy="4525963"/>
          </a:xfrm>
        </p:spPr>
        <p:txBody>
          <a:bodyPr/>
          <a:lstStyle/>
          <a:p>
            <a:pPr marL="609600" indent="-609600">
              <a:buNone/>
            </a:pPr>
            <a:r>
              <a:rPr lang="en-US" dirty="0"/>
              <a:t>The spring of a spring-mass SHM system has a spring constant of k. If I replace the spring with a new one that has a spring constant of k/4 the frequency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Quadruples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Doubles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Is half the original value</a:t>
            </a:r>
          </a:p>
          <a:p>
            <a:pPr marL="609600" indent="-609600">
              <a:buFontTx/>
              <a:buAutoNum type="alphaLcParenR"/>
            </a:pPr>
            <a:r>
              <a:rPr lang="en-US" dirty="0"/>
              <a:t>Insufficient information to tell</a:t>
            </a:r>
          </a:p>
        </p:txBody>
      </p:sp>
    </p:spTree>
    <p:extLst>
      <p:ext uri="{BB962C8B-B14F-4D97-AF65-F5344CB8AC3E}">
        <p14:creationId xmlns:p14="http://schemas.microsoft.com/office/powerpoint/2010/main" val="129867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Velocity and Acceleration</a:t>
            </a:r>
          </a:p>
        </p:txBody>
      </p:sp>
      <p:sp>
        <p:nvSpPr>
          <p:cNvPr id="187404" name="Rectangle 12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r>
              <a:rPr lang="en-US" sz="2000"/>
              <a:t>We find the velocity as a function of time by taking the derivative of our solution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The amplitude is found by recalling that the maximum value of a sine function is 1</a:t>
            </a:r>
          </a:p>
        </p:txBody>
      </p:sp>
      <p:sp>
        <p:nvSpPr>
          <p:cNvPr id="187405" name="Rectangle 13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sz="2000"/>
              <a:t>We continue taking derivatives </a:t>
            </a:r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endParaRPr lang="en-US" sz="2000"/>
          </a:p>
          <a:p>
            <a:r>
              <a:rPr lang="en-US" sz="2000"/>
              <a:t>Again, cosine has a maximum of 1 so</a:t>
            </a:r>
          </a:p>
        </p:txBody>
      </p:sp>
      <p:sp>
        <p:nvSpPr>
          <p:cNvPr id="187397" name="Rectangle 5"/>
          <p:cNvSpPr>
            <a:spLocks noChangeArrowheads="1"/>
          </p:cNvSpPr>
          <p:nvPr/>
        </p:nvSpPr>
        <p:spPr bwMode="auto">
          <a:xfrm>
            <a:off x="1524001" y="30633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396" name="Object 4"/>
          <p:cNvGraphicFramePr>
            <a:graphicFrameLocks noChangeAspect="1"/>
          </p:cNvGraphicFramePr>
          <p:nvPr/>
        </p:nvGraphicFramePr>
        <p:xfrm>
          <a:off x="3198814" y="2749550"/>
          <a:ext cx="1195387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193760" imgH="215640" progId="Equation.3">
                  <p:embed/>
                </p:oleObj>
              </mc:Choice>
              <mc:Fallback>
                <p:oleObj name="Equation" r:id="rId2" imgW="1193760" imgH="215640" progId="Equation.3">
                  <p:embed/>
                  <p:pic>
                    <p:nvPicPr>
                      <p:cNvPr id="18739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8814" y="2749550"/>
                        <a:ext cx="1195387" cy="21590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399" name="Rectangle 7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sp>
        <p:nvSpPr>
          <p:cNvPr id="187401" name="Rectangle 9"/>
          <p:cNvSpPr>
            <a:spLocks noChangeArrowheads="1"/>
          </p:cNvSpPr>
          <p:nvPr/>
        </p:nvSpPr>
        <p:spPr bwMode="auto">
          <a:xfrm>
            <a:off x="1524001" y="30062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0" name="Object 8"/>
          <p:cNvGraphicFramePr>
            <a:graphicFrameLocks noChangeAspect="1"/>
          </p:cNvGraphicFramePr>
          <p:nvPr/>
        </p:nvGraphicFramePr>
        <p:xfrm>
          <a:off x="2543176" y="3271839"/>
          <a:ext cx="2741613" cy="554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955520" imgH="393480" progId="Equation.3">
                  <p:embed/>
                </p:oleObj>
              </mc:Choice>
              <mc:Fallback>
                <p:oleObj name="Equation" r:id="rId4" imgW="1955520" imgH="393480" progId="Equation.3">
                  <p:embed/>
                  <p:pic>
                    <p:nvPicPr>
                      <p:cNvPr id="18740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43176" y="3271839"/>
                        <a:ext cx="2741613" cy="5540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3" name="Rectangle 11"/>
          <p:cNvSpPr>
            <a:spLocks noChangeArrowheads="1"/>
          </p:cNvSpPr>
          <p:nvPr/>
        </p:nvSpPr>
        <p:spPr bwMode="auto">
          <a:xfrm>
            <a:off x="1524001" y="3020497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2" name="Object 10"/>
          <p:cNvGraphicFramePr>
            <a:graphicFrameLocks noChangeAspect="1"/>
          </p:cNvGraphicFramePr>
          <p:nvPr/>
        </p:nvGraphicFramePr>
        <p:xfrm>
          <a:off x="2667001" y="5237164"/>
          <a:ext cx="2366963" cy="727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59866" imgH="444307" progId="Equation.3">
                  <p:embed/>
                </p:oleObj>
              </mc:Choice>
              <mc:Fallback>
                <p:oleObj name="Equation" r:id="rId6" imgW="1459866" imgH="444307" progId="Equation.3">
                  <p:embed/>
                  <p:pic>
                    <p:nvPicPr>
                      <p:cNvPr id="187402" name="Object 1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67001" y="5237164"/>
                        <a:ext cx="2366963" cy="727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7" name="Rectangle 15"/>
          <p:cNvSpPr>
            <a:spLocks noChangeArrowheads="1"/>
          </p:cNvSpPr>
          <p:nvPr/>
        </p:nvSpPr>
        <p:spPr bwMode="auto">
          <a:xfrm>
            <a:off x="1524001" y="287285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6" name="Object 14"/>
          <p:cNvGraphicFramePr>
            <a:graphicFrameLocks noChangeAspect="1"/>
          </p:cNvGraphicFramePr>
          <p:nvPr/>
        </p:nvGraphicFramePr>
        <p:xfrm>
          <a:off x="6657976" y="2411414"/>
          <a:ext cx="3121025" cy="1068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1930320" imgH="660240" progId="Equation.3">
                  <p:embed/>
                </p:oleObj>
              </mc:Choice>
              <mc:Fallback>
                <p:oleObj name="Equation" r:id="rId8" imgW="1930320" imgH="660240" progId="Equation.3">
                  <p:embed/>
                  <p:pic>
                    <p:nvPicPr>
                      <p:cNvPr id="187406" name="Object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57976" y="2411414"/>
                        <a:ext cx="3121025" cy="106838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7409" name="Rectangle 17"/>
          <p:cNvSpPr>
            <a:spLocks noChangeArrowheads="1"/>
          </p:cNvSpPr>
          <p:nvPr/>
        </p:nvSpPr>
        <p:spPr bwMode="auto">
          <a:xfrm>
            <a:off x="1524001" y="3044309"/>
            <a:ext cx="18473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/>
          <a:p>
            <a:endParaRPr lang="en-US"/>
          </a:p>
        </p:txBody>
      </p:sp>
      <p:graphicFrame>
        <p:nvGraphicFramePr>
          <p:cNvPr id="187408" name="Object 16"/>
          <p:cNvGraphicFramePr>
            <a:graphicFrameLocks noChangeAspect="1"/>
          </p:cNvGraphicFramePr>
          <p:nvPr/>
        </p:nvGraphicFramePr>
        <p:xfrm>
          <a:off x="6869113" y="5251451"/>
          <a:ext cx="2489200" cy="6969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0" imgW="1409400" imgH="393480" progId="Equation.3">
                  <p:embed/>
                </p:oleObj>
              </mc:Choice>
              <mc:Fallback>
                <p:oleObj name="Equation" r:id="rId10" imgW="1409400" imgH="393480" progId="Equation.3">
                  <p:embed/>
                  <p:pic>
                    <p:nvPicPr>
                      <p:cNvPr id="187408" name="Object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69113" y="5251451"/>
                        <a:ext cx="2489200" cy="69691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Acceleration</a:t>
            </a:r>
          </a:p>
        </p:txBody>
      </p:sp>
      <p:sp>
        <p:nvSpPr>
          <p:cNvPr id="18944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866900" y="1968501"/>
            <a:ext cx="36830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The acceleration of the mass experiencing SHM is </a:t>
            </a:r>
          </a:p>
          <a:p>
            <a:pPr lvl="1">
              <a:lnSpc>
                <a:spcPct val="90000"/>
              </a:lnSpc>
            </a:pPr>
            <a:r>
              <a:rPr lang="en-US"/>
              <a:t>zero at equilibrium, </a:t>
            </a:r>
          </a:p>
          <a:p>
            <a:pPr lvl="1">
              <a:lnSpc>
                <a:spcPct val="90000"/>
              </a:lnSpc>
            </a:pPr>
            <a:r>
              <a:rPr lang="en-US"/>
              <a:t>maximum at the extreme displacement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905500" y="2057400"/>
            <a:ext cx="4686300" cy="3282950"/>
            <a:chOff x="2496" y="1296"/>
            <a:chExt cx="2952" cy="2068"/>
          </a:xfrm>
        </p:grpSpPr>
        <p:grpSp>
          <p:nvGrpSpPr>
            <p:cNvPr id="3" name="Group 5"/>
            <p:cNvGrpSpPr>
              <a:grpSpLocks/>
            </p:cNvGrpSpPr>
            <p:nvPr/>
          </p:nvGrpSpPr>
          <p:grpSpPr bwMode="auto">
            <a:xfrm>
              <a:off x="2496" y="1991"/>
              <a:ext cx="1213" cy="666"/>
              <a:chOff x="176" y="1300"/>
              <a:chExt cx="1213" cy="666"/>
            </a:xfrm>
          </p:grpSpPr>
          <p:sp>
            <p:nvSpPr>
              <p:cNvPr id="189446" name="AutoShape 6"/>
              <p:cNvSpPr>
                <a:spLocks noChangeArrowheads="1"/>
              </p:cNvSpPr>
              <p:nvPr/>
            </p:nvSpPr>
            <p:spPr bwMode="auto">
              <a:xfrm>
                <a:off x="1013" y="1512"/>
                <a:ext cx="167" cy="154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447" name="Text Box 7"/>
              <p:cNvSpPr txBox="1">
                <a:spLocks noChangeArrowheads="1"/>
              </p:cNvSpPr>
              <p:nvPr/>
            </p:nvSpPr>
            <p:spPr bwMode="auto">
              <a:xfrm>
                <a:off x="982" y="1329"/>
                <a:ext cx="351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-a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448" name="Line 8"/>
              <p:cNvSpPr>
                <a:spLocks noChangeShapeType="1"/>
              </p:cNvSpPr>
              <p:nvPr/>
            </p:nvSpPr>
            <p:spPr bwMode="auto">
              <a:xfrm>
                <a:off x="188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49" name="Line 9"/>
              <p:cNvSpPr>
                <a:spLocks noChangeShapeType="1"/>
              </p:cNvSpPr>
              <p:nvPr/>
            </p:nvSpPr>
            <p:spPr bwMode="auto">
              <a:xfrm rot="5400000" flipV="1">
                <a:off x="684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901" y="1506"/>
                <a:ext cx="101" cy="95"/>
                <a:chOff x="704" y="1880"/>
                <a:chExt cx="136" cy="128"/>
              </a:xfrm>
            </p:grpSpPr>
            <p:sp>
              <p:nvSpPr>
                <p:cNvPr id="189451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2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794" y="1506"/>
                <a:ext cx="101" cy="95"/>
                <a:chOff x="704" y="1880"/>
                <a:chExt cx="136" cy="128"/>
              </a:xfrm>
            </p:grpSpPr>
            <p:sp>
              <p:nvSpPr>
                <p:cNvPr id="189454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5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699" y="1506"/>
                <a:ext cx="101" cy="95"/>
                <a:chOff x="704" y="1880"/>
                <a:chExt cx="136" cy="128"/>
              </a:xfrm>
            </p:grpSpPr>
            <p:sp>
              <p:nvSpPr>
                <p:cNvPr id="189457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58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598" y="1506"/>
                <a:ext cx="101" cy="95"/>
                <a:chOff x="704" y="1880"/>
                <a:chExt cx="136" cy="128"/>
              </a:xfrm>
            </p:grpSpPr>
            <p:sp>
              <p:nvSpPr>
                <p:cNvPr id="189460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1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503" y="1506"/>
                <a:ext cx="101" cy="95"/>
                <a:chOff x="704" y="1880"/>
                <a:chExt cx="136" cy="128"/>
              </a:xfrm>
            </p:grpSpPr>
            <p:sp>
              <p:nvSpPr>
                <p:cNvPr id="189463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4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402" y="1506"/>
                <a:ext cx="101" cy="95"/>
                <a:chOff x="704" y="1880"/>
                <a:chExt cx="136" cy="128"/>
              </a:xfrm>
            </p:grpSpPr>
            <p:sp>
              <p:nvSpPr>
                <p:cNvPr id="189466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67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307" y="1506"/>
                <a:ext cx="101" cy="95"/>
                <a:chOff x="704" y="1880"/>
                <a:chExt cx="136" cy="128"/>
              </a:xfrm>
            </p:grpSpPr>
            <p:sp>
              <p:nvSpPr>
                <p:cNvPr id="189469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70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06" y="1506"/>
                <a:ext cx="101" cy="95"/>
                <a:chOff x="704" y="1880"/>
                <a:chExt cx="136" cy="128"/>
              </a:xfrm>
            </p:grpSpPr>
            <p:sp>
              <p:nvSpPr>
                <p:cNvPr id="189472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89473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sp>
            <p:nvSpPr>
              <p:cNvPr id="189474" name="Line 34"/>
              <p:cNvSpPr>
                <a:spLocks noChangeShapeType="1"/>
              </p:cNvSpPr>
              <p:nvPr/>
            </p:nvSpPr>
            <p:spPr bwMode="auto">
              <a:xfrm>
                <a:off x="758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75" name="Text Box 35"/>
              <p:cNvSpPr txBox="1">
                <a:spLocks noChangeArrowheads="1"/>
              </p:cNvSpPr>
              <p:nvPr/>
            </p:nvSpPr>
            <p:spPr bwMode="auto">
              <a:xfrm>
                <a:off x="650" y="1774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476" name="Line 36"/>
              <p:cNvSpPr>
                <a:spLocks noChangeShapeType="1"/>
              </p:cNvSpPr>
              <p:nvPr/>
            </p:nvSpPr>
            <p:spPr bwMode="auto">
              <a:xfrm>
                <a:off x="1091" y="1725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77" name="Text Box 37"/>
              <p:cNvSpPr txBox="1">
                <a:spLocks noChangeArrowheads="1"/>
              </p:cNvSpPr>
              <p:nvPr/>
            </p:nvSpPr>
            <p:spPr bwMode="auto">
              <a:xfrm>
                <a:off x="1000" y="1768"/>
                <a:ext cx="38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478" name="Text Box 38"/>
              <p:cNvSpPr txBox="1">
                <a:spLocks noChangeArrowheads="1"/>
              </p:cNvSpPr>
              <p:nvPr/>
            </p:nvSpPr>
            <p:spPr bwMode="auto">
              <a:xfrm>
                <a:off x="489" y="1317"/>
                <a:ext cx="172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k</a:t>
                </a:r>
              </a:p>
            </p:txBody>
          </p:sp>
        </p:grpSp>
        <p:grpSp>
          <p:nvGrpSpPr>
            <p:cNvPr id="12" name="Group 39"/>
            <p:cNvGrpSpPr>
              <a:grpSpLocks/>
            </p:cNvGrpSpPr>
            <p:nvPr/>
          </p:nvGrpSpPr>
          <p:grpSpPr bwMode="auto">
            <a:xfrm>
              <a:off x="3357" y="1296"/>
              <a:ext cx="1189" cy="708"/>
              <a:chOff x="1037" y="605"/>
              <a:chExt cx="1189" cy="708"/>
            </a:xfrm>
          </p:grpSpPr>
          <p:sp>
            <p:nvSpPr>
              <p:cNvPr id="189480" name="AutoShape 40"/>
              <p:cNvSpPr>
                <a:spLocks noChangeArrowheads="1"/>
              </p:cNvSpPr>
              <p:nvPr/>
            </p:nvSpPr>
            <p:spPr bwMode="auto">
              <a:xfrm>
                <a:off x="1554" y="868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481" name="Text Box 41"/>
              <p:cNvSpPr txBox="1">
                <a:spLocks noChangeArrowheads="1"/>
              </p:cNvSpPr>
              <p:nvPr/>
            </p:nvSpPr>
            <p:spPr bwMode="auto">
              <a:xfrm>
                <a:off x="1540" y="605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89482" name="Line 42"/>
              <p:cNvSpPr>
                <a:spLocks noChangeShapeType="1"/>
              </p:cNvSpPr>
              <p:nvPr/>
            </p:nvSpPr>
            <p:spPr bwMode="auto">
              <a:xfrm>
                <a:off x="1049" y="656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483" name="Line 43"/>
              <p:cNvSpPr>
                <a:spLocks noChangeShapeType="1"/>
              </p:cNvSpPr>
              <p:nvPr/>
            </p:nvSpPr>
            <p:spPr bwMode="auto">
              <a:xfrm rot="5400000" flipV="1">
                <a:off x="1545" y="525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3" name="Group 44"/>
              <p:cNvGrpSpPr>
                <a:grpSpLocks/>
              </p:cNvGrpSpPr>
              <p:nvPr/>
            </p:nvGrpSpPr>
            <p:grpSpPr bwMode="auto">
              <a:xfrm>
                <a:off x="1067" y="868"/>
                <a:ext cx="481" cy="94"/>
                <a:chOff x="2248" y="1248"/>
                <a:chExt cx="648" cy="128"/>
              </a:xfrm>
            </p:grpSpPr>
            <p:grpSp>
              <p:nvGrpSpPr>
                <p:cNvPr id="14" name="Group 45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86" name="Line 4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87" name="Line 4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" name="Group 48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89" name="Line 4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0" name="Line 5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" name="Group 51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492" name="Line 5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3" name="Line 5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7" name="Group 54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95" name="Line 5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6" name="Line 5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" name="Group 57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498" name="Line 5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499" name="Line 5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9" name="Group 60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1" name="Line 6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2" name="Line 6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0" name="Group 63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4" name="Line 6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5" name="Line 6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1" name="Group 66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07" name="Line 6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08" name="Line 6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09" name="Line 69"/>
              <p:cNvSpPr>
                <a:spLocks noChangeShapeType="1"/>
              </p:cNvSpPr>
              <p:nvPr/>
            </p:nvSpPr>
            <p:spPr bwMode="auto">
              <a:xfrm>
                <a:off x="1619" y="1074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0" name="Text Box 70"/>
              <p:cNvSpPr txBox="1">
                <a:spLocks noChangeArrowheads="1"/>
              </p:cNvSpPr>
              <p:nvPr/>
            </p:nvSpPr>
            <p:spPr bwMode="auto">
              <a:xfrm>
                <a:off x="1511" y="112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11" name="Line 71"/>
              <p:cNvSpPr>
                <a:spLocks noChangeShapeType="1"/>
              </p:cNvSpPr>
              <p:nvPr/>
            </p:nvSpPr>
            <p:spPr bwMode="auto">
              <a:xfrm>
                <a:off x="1952" y="1080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2" name="Text Box 72"/>
              <p:cNvSpPr txBox="1">
                <a:spLocks noChangeArrowheads="1"/>
              </p:cNvSpPr>
              <p:nvPr/>
            </p:nvSpPr>
            <p:spPr bwMode="auto">
              <a:xfrm>
                <a:off x="1861" y="1116"/>
                <a:ext cx="36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13" name="Line 73"/>
              <p:cNvSpPr>
                <a:spLocks noChangeShapeType="1"/>
              </p:cNvSpPr>
              <p:nvPr/>
            </p:nvSpPr>
            <p:spPr bwMode="auto">
              <a:xfrm flipH="1">
                <a:off x="1500" y="809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2" name="Group 74"/>
            <p:cNvGrpSpPr>
              <a:grpSpLocks/>
            </p:cNvGrpSpPr>
            <p:nvPr/>
          </p:nvGrpSpPr>
          <p:grpSpPr bwMode="auto">
            <a:xfrm>
              <a:off x="4432" y="1991"/>
              <a:ext cx="1016" cy="682"/>
              <a:chOff x="2112" y="1300"/>
              <a:chExt cx="1016" cy="682"/>
            </a:xfrm>
          </p:grpSpPr>
          <p:sp>
            <p:nvSpPr>
              <p:cNvPr id="189515" name="AutoShape 75"/>
              <p:cNvSpPr>
                <a:spLocks noChangeArrowheads="1"/>
              </p:cNvSpPr>
              <p:nvPr/>
            </p:nvSpPr>
            <p:spPr bwMode="auto">
              <a:xfrm>
                <a:off x="2385" y="1495"/>
                <a:ext cx="167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516" name="Line 76"/>
              <p:cNvSpPr>
                <a:spLocks noChangeShapeType="1"/>
              </p:cNvSpPr>
              <p:nvPr/>
            </p:nvSpPr>
            <p:spPr bwMode="auto">
              <a:xfrm>
                <a:off x="2124" y="1300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17" name="Line 77"/>
              <p:cNvSpPr>
                <a:spLocks noChangeShapeType="1"/>
              </p:cNvSpPr>
              <p:nvPr/>
            </p:nvSpPr>
            <p:spPr bwMode="auto">
              <a:xfrm rot="5400000" flipV="1">
                <a:off x="2620" y="1169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23" name="Group 78"/>
              <p:cNvGrpSpPr>
                <a:grpSpLocks/>
              </p:cNvGrpSpPr>
              <p:nvPr/>
            </p:nvGrpSpPr>
            <p:grpSpPr bwMode="auto">
              <a:xfrm>
                <a:off x="2148" y="1512"/>
                <a:ext cx="225" cy="95"/>
                <a:chOff x="2248" y="1248"/>
                <a:chExt cx="648" cy="128"/>
              </a:xfrm>
            </p:grpSpPr>
            <p:grpSp>
              <p:nvGrpSpPr>
                <p:cNvPr id="24" name="Group 79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0" name="Line 8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1" name="Line 8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5" name="Group 82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3" name="Line 8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4" name="Line 8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6" name="Group 85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526" name="Line 8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27" name="Line 8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7" name="Group 88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29" name="Line 89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0" name="Line 90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8" name="Group 91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2" name="Line 92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3" name="Line 93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29" name="Group 94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5" name="Line 9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6" name="Line 9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0" name="Group 97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38" name="Line 9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39" name="Line 9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31" name="Group 100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41" name="Line 10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42" name="Line 10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43" name="Line 103"/>
              <p:cNvSpPr>
                <a:spLocks noChangeShapeType="1"/>
              </p:cNvSpPr>
              <p:nvPr/>
            </p:nvSpPr>
            <p:spPr bwMode="auto">
              <a:xfrm>
                <a:off x="269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44" name="Text Box 104"/>
              <p:cNvSpPr txBox="1">
                <a:spLocks noChangeArrowheads="1"/>
              </p:cNvSpPr>
              <p:nvPr/>
            </p:nvSpPr>
            <p:spPr bwMode="auto">
              <a:xfrm>
                <a:off x="2586" y="1790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45" name="Line 105"/>
              <p:cNvSpPr>
                <a:spLocks noChangeShapeType="1"/>
              </p:cNvSpPr>
              <p:nvPr/>
            </p:nvSpPr>
            <p:spPr bwMode="auto">
              <a:xfrm>
                <a:off x="2474" y="1719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46" name="Text Box 106"/>
              <p:cNvSpPr txBox="1">
                <a:spLocks noChangeArrowheads="1"/>
              </p:cNvSpPr>
              <p:nvPr/>
            </p:nvSpPr>
            <p:spPr bwMode="auto">
              <a:xfrm>
                <a:off x="2342" y="1772"/>
                <a:ext cx="480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-x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47" name="Text Box 107"/>
              <p:cNvSpPr txBox="1">
                <a:spLocks noChangeArrowheads="1"/>
              </p:cNvSpPr>
              <p:nvPr/>
            </p:nvSpPr>
            <p:spPr bwMode="auto">
              <a:xfrm>
                <a:off x="2342" y="1311"/>
                <a:ext cx="314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</a:t>
                </a:r>
                <a:r>
                  <a:rPr lang="en-US" sz="1400" baseline="-25000"/>
                  <a:t>max</a:t>
                </a:r>
              </a:p>
            </p:txBody>
          </p:sp>
        </p:grpSp>
        <p:grpSp>
          <p:nvGrpSpPr>
            <p:cNvPr id="189506" name="Group 108"/>
            <p:cNvGrpSpPr>
              <a:grpSpLocks/>
            </p:cNvGrpSpPr>
            <p:nvPr/>
          </p:nvGrpSpPr>
          <p:grpSpPr bwMode="auto">
            <a:xfrm>
              <a:off x="3349" y="2632"/>
              <a:ext cx="1133" cy="732"/>
              <a:chOff x="1029" y="1941"/>
              <a:chExt cx="1133" cy="732"/>
            </a:xfrm>
          </p:grpSpPr>
          <p:sp>
            <p:nvSpPr>
              <p:cNvPr id="189549" name="AutoShape 109"/>
              <p:cNvSpPr>
                <a:spLocks noChangeArrowheads="1"/>
              </p:cNvSpPr>
              <p:nvPr/>
            </p:nvSpPr>
            <p:spPr bwMode="auto">
              <a:xfrm>
                <a:off x="1546" y="2220"/>
                <a:ext cx="166" cy="153"/>
              </a:xfrm>
              <a:prstGeom prst="roundRect">
                <a:avLst>
                  <a:gd name="adj" fmla="val 16667"/>
                </a:avLst>
              </a:prstGeom>
              <a:solidFill>
                <a:schemeClr val="hlink"/>
              </a:solidFill>
              <a:ln w="9525">
                <a:noFill/>
                <a:round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/>
                <a:r>
                  <a:rPr lang="en-US" sz="1400" b="1">
                    <a:solidFill>
                      <a:schemeClr val="bg1"/>
                    </a:solidFill>
                  </a:rPr>
                  <a:t>m</a:t>
                </a:r>
              </a:p>
            </p:txBody>
          </p:sp>
          <p:sp>
            <p:nvSpPr>
              <p:cNvPr id="189550" name="Text Box 110"/>
              <p:cNvSpPr txBox="1">
                <a:spLocks noChangeArrowheads="1"/>
              </p:cNvSpPr>
              <p:nvPr/>
            </p:nvSpPr>
            <p:spPr bwMode="auto">
              <a:xfrm>
                <a:off x="1532" y="1941"/>
                <a:ext cx="305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a=0</a:t>
                </a:r>
                <a:endParaRPr lang="en-US" sz="1400" baseline="-25000"/>
              </a:p>
            </p:txBody>
          </p:sp>
          <p:sp>
            <p:nvSpPr>
              <p:cNvPr id="189551" name="Line 111"/>
              <p:cNvSpPr>
                <a:spLocks noChangeShapeType="1"/>
              </p:cNvSpPr>
              <p:nvPr/>
            </p:nvSpPr>
            <p:spPr bwMode="auto">
              <a:xfrm>
                <a:off x="1041" y="2008"/>
                <a:ext cx="0" cy="377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52" name="Line 112"/>
              <p:cNvSpPr>
                <a:spLocks noChangeShapeType="1"/>
              </p:cNvSpPr>
              <p:nvPr/>
            </p:nvSpPr>
            <p:spPr bwMode="auto">
              <a:xfrm rot="5400000" flipV="1">
                <a:off x="1537" y="1877"/>
                <a:ext cx="0" cy="1016"/>
              </a:xfrm>
              <a:prstGeom prst="line">
                <a:avLst/>
              </a:prstGeom>
              <a:noFill/>
              <a:ln w="57150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grpSp>
            <p:nvGrpSpPr>
              <p:cNvPr id="189514" name="Group 113"/>
              <p:cNvGrpSpPr>
                <a:grpSpLocks/>
              </p:cNvGrpSpPr>
              <p:nvPr/>
            </p:nvGrpSpPr>
            <p:grpSpPr bwMode="auto">
              <a:xfrm>
                <a:off x="1059" y="2220"/>
                <a:ext cx="481" cy="94"/>
                <a:chOff x="2248" y="1248"/>
                <a:chExt cx="648" cy="128"/>
              </a:xfrm>
            </p:grpSpPr>
            <p:grpSp>
              <p:nvGrpSpPr>
                <p:cNvPr id="189518" name="Group 114"/>
                <p:cNvGrpSpPr>
                  <a:grpSpLocks/>
                </p:cNvGrpSpPr>
                <p:nvPr/>
              </p:nvGrpSpPr>
              <p:grpSpPr bwMode="auto">
                <a:xfrm>
                  <a:off x="2814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55" name="Line 115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56" name="Line 116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19" name="Group 117"/>
                <p:cNvGrpSpPr>
                  <a:grpSpLocks/>
                </p:cNvGrpSpPr>
                <p:nvPr/>
              </p:nvGrpSpPr>
              <p:grpSpPr bwMode="auto">
                <a:xfrm>
                  <a:off x="272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58" name="Line 118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59" name="Line 119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2" name="Group 120"/>
                <p:cNvGrpSpPr>
                  <a:grpSpLocks/>
                </p:cNvGrpSpPr>
                <p:nvPr/>
              </p:nvGrpSpPr>
              <p:grpSpPr bwMode="auto">
                <a:xfrm>
                  <a:off x="2649" y="1248"/>
                  <a:ext cx="83" cy="128"/>
                  <a:chOff x="704" y="1880"/>
                  <a:chExt cx="136" cy="128"/>
                </a:xfrm>
              </p:grpSpPr>
              <p:sp>
                <p:nvSpPr>
                  <p:cNvPr id="189561" name="Line 121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2" name="Line 122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5" name="Group 123"/>
                <p:cNvGrpSpPr>
                  <a:grpSpLocks/>
                </p:cNvGrpSpPr>
                <p:nvPr/>
              </p:nvGrpSpPr>
              <p:grpSpPr bwMode="auto">
                <a:xfrm>
                  <a:off x="2567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64" name="Line 124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5" name="Line 125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28" name="Group 126"/>
                <p:cNvGrpSpPr>
                  <a:grpSpLocks/>
                </p:cNvGrpSpPr>
                <p:nvPr/>
              </p:nvGrpSpPr>
              <p:grpSpPr bwMode="auto">
                <a:xfrm>
                  <a:off x="249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67" name="Line 127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68" name="Line 128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1" name="Group 129"/>
                <p:cNvGrpSpPr>
                  <a:grpSpLocks/>
                </p:cNvGrpSpPr>
                <p:nvPr/>
              </p:nvGrpSpPr>
              <p:grpSpPr bwMode="auto">
                <a:xfrm>
                  <a:off x="240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0" name="Line 130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1" name="Line 131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4" name="Group 132"/>
                <p:cNvGrpSpPr>
                  <a:grpSpLocks/>
                </p:cNvGrpSpPr>
                <p:nvPr/>
              </p:nvGrpSpPr>
              <p:grpSpPr bwMode="auto">
                <a:xfrm>
                  <a:off x="2330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3" name="Line 133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4" name="Line 134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89537" name="Group 135"/>
                <p:cNvGrpSpPr>
                  <a:grpSpLocks/>
                </p:cNvGrpSpPr>
                <p:nvPr/>
              </p:nvGrpSpPr>
              <p:grpSpPr bwMode="auto">
                <a:xfrm>
                  <a:off x="2248" y="1248"/>
                  <a:ext cx="82" cy="128"/>
                  <a:chOff x="704" y="1880"/>
                  <a:chExt cx="136" cy="128"/>
                </a:xfrm>
              </p:grpSpPr>
              <p:sp>
                <p:nvSpPr>
                  <p:cNvPr id="189576" name="Line 136"/>
                  <p:cNvSpPr>
                    <a:spLocks noChangeShapeType="1"/>
                  </p:cNvSpPr>
                  <p:nvPr/>
                </p:nvSpPr>
                <p:spPr bwMode="auto">
                  <a:xfrm flipV="1">
                    <a:off x="704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808080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  <p:sp>
                <p:nvSpPr>
                  <p:cNvPr id="189577" name="Line 137"/>
                  <p:cNvSpPr>
                    <a:spLocks noChangeShapeType="1"/>
                  </p:cNvSpPr>
                  <p:nvPr/>
                </p:nvSpPr>
                <p:spPr bwMode="auto">
                  <a:xfrm flipH="1" flipV="1">
                    <a:off x="768" y="1880"/>
                    <a:ext cx="72" cy="128"/>
                  </a:xfrm>
                  <a:prstGeom prst="line">
                    <a:avLst/>
                  </a:prstGeom>
                  <a:noFill/>
                  <a:ln w="38100">
                    <a:solidFill>
                      <a:srgbClr val="B2B2B2"/>
                    </a:solidFill>
                    <a:round/>
                    <a:headEnd/>
                    <a:tailEnd/>
                  </a:ln>
                  <a:effectLst/>
                </p:spPr>
                <p:txBody>
                  <a:bodyPr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89578" name="Line 138"/>
              <p:cNvSpPr>
                <a:spLocks noChangeShapeType="1"/>
              </p:cNvSpPr>
              <p:nvPr/>
            </p:nvSpPr>
            <p:spPr bwMode="auto">
              <a:xfrm>
                <a:off x="1611" y="2426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79" name="Text Box 139"/>
              <p:cNvSpPr txBox="1">
                <a:spLocks noChangeArrowheads="1"/>
              </p:cNvSpPr>
              <p:nvPr/>
            </p:nvSpPr>
            <p:spPr bwMode="auto">
              <a:xfrm>
                <a:off x="1503" y="2481"/>
                <a:ext cx="29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400"/>
                  <a:t>x=0</a:t>
                </a:r>
              </a:p>
            </p:txBody>
          </p:sp>
          <p:sp>
            <p:nvSpPr>
              <p:cNvPr id="189580" name="Line 140"/>
              <p:cNvSpPr>
                <a:spLocks noChangeShapeType="1"/>
              </p:cNvSpPr>
              <p:nvPr/>
            </p:nvSpPr>
            <p:spPr bwMode="auto">
              <a:xfrm>
                <a:off x="1944" y="2432"/>
                <a:ext cx="0" cy="9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89581" name="Text Box 141"/>
              <p:cNvSpPr txBox="1">
                <a:spLocks noChangeArrowheads="1"/>
              </p:cNvSpPr>
              <p:nvPr/>
            </p:nvSpPr>
            <p:spPr bwMode="auto">
              <a:xfrm>
                <a:off x="1853" y="2468"/>
                <a:ext cx="309" cy="1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sz="1400"/>
                  <a:t>x</a:t>
                </a:r>
                <a:r>
                  <a:rPr lang="en-US" sz="1400" baseline="-25000"/>
                  <a:t>max</a:t>
                </a:r>
              </a:p>
            </p:txBody>
          </p:sp>
          <p:sp>
            <p:nvSpPr>
              <p:cNvPr id="189582" name="Line 142"/>
              <p:cNvSpPr>
                <a:spLocks noChangeShapeType="1"/>
              </p:cNvSpPr>
              <p:nvPr/>
            </p:nvSpPr>
            <p:spPr bwMode="auto">
              <a:xfrm>
                <a:off x="1492" y="2161"/>
                <a:ext cx="286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89583" name="Arc 143"/>
            <p:cNvSpPr>
              <a:spLocks/>
            </p:cNvSpPr>
            <p:nvPr/>
          </p:nvSpPr>
          <p:spPr bwMode="auto">
            <a:xfrm>
              <a:off x="3631" y="2030"/>
              <a:ext cx="505" cy="595"/>
            </a:xfrm>
            <a:custGeom>
              <a:avLst/>
              <a:gdLst>
                <a:gd name="G0" fmla="+- 21600 0 0"/>
                <a:gd name="G1" fmla="+- 21600 0 0"/>
                <a:gd name="G2" fmla="+- 21600 0 0"/>
                <a:gd name="T0" fmla="*/ 143 w 43200"/>
                <a:gd name="T1" fmla="*/ 24077 h 43200"/>
                <a:gd name="T2" fmla="*/ 4287 w 43200"/>
                <a:gd name="T3" fmla="*/ 34515 h 43200"/>
                <a:gd name="T4" fmla="*/ 21600 w 43200"/>
                <a:gd name="T5" fmla="*/ 21600 h 432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43200" h="43200" fill="none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</a:path>
                <a:path w="43200" h="43200" stroke="0" extrusionOk="0">
                  <a:moveTo>
                    <a:pt x="142" y="24077"/>
                  </a:moveTo>
                  <a:cubicBezTo>
                    <a:pt x="47" y="23254"/>
                    <a:pt x="0" y="22427"/>
                    <a:pt x="0" y="21600"/>
                  </a:cubicBezTo>
                  <a:cubicBezTo>
                    <a:pt x="0" y="9670"/>
                    <a:pt x="9670" y="0"/>
                    <a:pt x="21600" y="0"/>
                  </a:cubicBezTo>
                  <a:cubicBezTo>
                    <a:pt x="33529" y="0"/>
                    <a:pt x="43200" y="9670"/>
                    <a:pt x="43200" y="21600"/>
                  </a:cubicBezTo>
                  <a:cubicBezTo>
                    <a:pt x="43200" y="33529"/>
                    <a:pt x="33529" y="43200"/>
                    <a:pt x="21600" y="43200"/>
                  </a:cubicBezTo>
                  <a:cubicBezTo>
                    <a:pt x="14781" y="43200"/>
                    <a:pt x="8363" y="39980"/>
                    <a:pt x="4286" y="34515"/>
                  </a:cubicBezTo>
                  <a:lnTo>
                    <a:pt x="21600" y="21600"/>
                  </a:lnTo>
                  <a:close/>
                </a:path>
              </a:pathLst>
            </a:custGeom>
            <a:noFill/>
            <a:ln w="19050">
              <a:solidFill>
                <a:schemeClr val="tx1"/>
              </a:solidFill>
              <a:round/>
              <a:headEnd/>
              <a:tailEnd type="arrow" w="lg" len="med"/>
            </a:ln>
            <a:effectLst/>
          </p:spPr>
          <p:txBody>
            <a:bodyPr wrap="none" anchor="ctr"/>
            <a:lstStyle/>
            <a:p>
              <a:endParaRPr lang="en-US"/>
            </a:p>
          </p:txBody>
        </p:sp>
      </p:grpSp>
      <p:graphicFrame>
        <p:nvGraphicFramePr>
          <p:cNvPr id="189584" name="Object 144"/>
          <p:cNvGraphicFramePr>
            <a:graphicFrameLocks noGrp="1" noChangeAspect="1"/>
          </p:cNvGraphicFramePr>
          <p:nvPr>
            <p:ph sz="half" idx="2"/>
          </p:nvPr>
        </p:nvGraphicFramePr>
        <p:xfrm>
          <a:off x="3187701" y="1301751"/>
          <a:ext cx="1114425" cy="639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685800" imgH="393480" progId="Equation.3">
                  <p:embed/>
                </p:oleObj>
              </mc:Choice>
              <mc:Fallback>
                <p:oleObj name="Equation" r:id="rId2" imgW="685800" imgH="393480" progId="Equation.3">
                  <p:embed/>
                  <p:pic>
                    <p:nvPicPr>
                      <p:cNvPr id="189584" name="Object 14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87701" y="1301751"/>
                        <a:ext cx="1114425" cy="639763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SHM Velocity</a:t>
            </a:r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3162300" cy="4525963"/>
          </a:xfrm>
        </p:spPr>
        <p:txBody>
          <a:bodyPr/>
          <a:lstStyle/>
          <a:p>
            <a:r>
              <a:rPr lang="en-US"/>
              <a:t>The velocity of the mass experiencing SHM is </a:t>
            </a:r>
          </a:p>
          <a:p>
            <a:pPr lvl="1"/>
            <a:r>
              <a:rPr lang="en-US"/>
              <a:t>maximum at equilibrium, </a:t>
            </a:r>
          </a:p>
          <a:p>
            <a:pPr lvl="1"/>
            <a:r>
              <a:rPr lang="en-US"/>
              <a:t>Zero at the extreme displacement</a:t>
            </a:r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5581650" y="3122614"/>
            <a:ext cx="1925638" cy="1057275"/>
            <a:chOff x="176" y="1300"/>
            <a:chExt cx="1213" cy="666"/>
          </a:xfrm>
        </p:grpSpPr>
        <p:sp>
          <p:nvSpPr>
            <p:cNvPr id="158725" name="AutoShape 5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26" name="Text Box 6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58727" name="Line 7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28" name="Line 8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58730" name="Line 1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1" name="Line 1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2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58733" name="Line 1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4" name="Line 1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5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58736" name="Line 1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37" name="Line 1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8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58739" name="Line 1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0" name="Line 2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1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58742" name="Line 2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3" name="Line 2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4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58745" name="Line 25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6" name="Line 26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7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58748" name="Line 28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49" name="Line 29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0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58751" name="Line 3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8752" name="Line 3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8753" name="Line 33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54" name="Text Box 34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755" name="Line 35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56" name="Text Box 36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757" name="Text Box 37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8"/>
          <p:cNvGrpSpPr>
            <a:grpSpLocks/>
          </p:cNvGrpSpPr>
          <p:nvPr/>
        </p:nvGrpSpPr>
        <p:grpSpPr bwMode="auto">
          <a:xfrm>
            <a:off x="6948489" y="2019300"/>
            <a:ext cx="1887537" cy="1123950"/>
            <a:chOff x="1037" y="605"/>
            <a:chExt cx="1189" cy="708"/>
          </a:xfrm>
        </p:grpSpPr>
        <p:sp>
          <p:nvSpPr>
            <p:cNvPr id="158759" name="AutoShape 39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60" name="Text Box 40"/>
            <p:cNvSpPr txBox="1">
              <a:spLocks noChangeArrowheads="1"/>
            </p:cNvSpPr>
            <p:nvPr/>
          </p:nvSpPr>
          <p:spPr bwMode="auto">
            <a:xfrm>
              <a:off x="1540" y="605"/>
              <a:ext cx="183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A</a:t>
              </a:r>
              <a:endParaRPr lang="en-US" sz="1400" baseline="-25000"/>
            </a:p>
          </p:txBody>
        </p:sp>
        <p:sp>
          <p:nvSpPr>
            <p:cNvPr id="158761" name="Line 41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62" name="Line 42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3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765" name="Line 4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66" name="Line 4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768" name="Line 4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69" name="Line 4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771" name="Line 5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2" name="Line 5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774" name="Line 5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5" name="Line 5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777" name="Line 5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78" name="Line 5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780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1" name="Line 6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783" name="Line 6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4" name="Line 6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786" name="Line 6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787" name="Line 6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788" name="Line 68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89" name="Text Box 69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790" name="Line 70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91" name="Text Box 71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792" name="Line 72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3"/>
          <p:cNvGrpSpPr>
            <a:grpSpLocks/>
          </p:cNvGrpSpPr>
          <p:nvPr/>
        </p:nvGrpSpPr>
        <p:grpSpPr bwMode="auto">
          <a:xfrm>
            <a:off x="8655050" y="3122614"/>
            <a:ext cx="1612900" cy="1082675"/>
            <a:chOff x="2112" y="1300"/>
            <a:chExt cx="1016" cy="682"/>
          </a:xfrm>
        </p:grpSpPr>
        <p:sp>
          <p:nvSpPr>
            <p:cNvPr id="158794" name="AutoShape 74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795" name="Line 75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796" name="Line 76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7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8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799" name="Line 7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0" name="Line 8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1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802" name="Line 8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3" name="Line 8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4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805" name="Line 8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6" name="Line 8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7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808" name="Line 8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09" name="Line 8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0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811" name="Line 9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2" name="Line 9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3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814" name="Line 9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5" name="Line 9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6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817" name="Line 9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18" name="Line 9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99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820" name="Line 10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21" name="Line 10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822" name="Line 102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23" name="Text Box 103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824" name="Line 104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25" name="Text Box 105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26" name="Text Box 106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7"/>
          <p:cNvGrpSpPr>
            <a:grpSpLocks/>
          </p:cNvGrpSpPr>
          <p:nvPr/>
        </p:nvGrpSpPr>
        <p:grpSpPr bwMode="auto">
          <a:xfrm>
            <a:off x="6935789" y="4140200"/>
            <a:ext cx="1798637" cy="1162050"/>
            <a:chOff x="1029" y="1941"/>
            <a:chExt cx="1133" cy="732"/>
          </a:xfrm>
        </p:grpSpPr>
        <p:sp>
          <p:nvSpPr>
            <p:cNvPr id="158828" name="AutoShape 108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8829" name="Text Box 109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30" name="Line 110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31" name="Line 111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8816" name="Group 112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158819" name="Group 113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8834" name="Line 1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35" name="Line 1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27" name="Group 116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8837" name="Line 1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38" name="Line 1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2" name="Group 119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8840" name="Line 1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1" name="Line 1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3" name="Group 122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8843" name="Line 1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4" name="Line 1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6" name="Group 125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8846" name="Line 1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47" name="Line 1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39" name="Group 128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8849" name="Line 1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0" name="Line 1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42" name="Group 131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8852" name="Line 1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3" name="Line 1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845" name="Group 134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8855" name="Line 13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8856" name="Line 13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8857" name="Line 137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58" name="Text Box 138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8859" name="Line 139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8860" name="Text Box 140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8861" name="Line 141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8862" name="Arc 142"/>
          <p:cNvSpPr>
            <a:spLocks/>
          </p:cNvSpPr>
          <p:nvPr/>
        </p:nvSpPr>
        <p:spPr bwMode="auto">
          <a:xfrm>
            <a:off x="7383464" y="3184526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 bwMode="auto">
          <a:xfrm>
            <a:off x="3089275" y="2811464"/>
            <a:ext cx="1925638" cy="1057275"/>
            <a:chOff x="176" y="1300"/>
            <a:chExt cx="1213" cy="666"/>
          </a:xfrm>
        </p:grpSpPr>
        <p:sp>
          <p:nvSpPr>
            <p:cNvPr id="155654" name="AutoShape 6"/>
            <p:cNvSpPr>
              <a:spLocks noChangeArrowheads="1"/>
            </p:cNvSpPr>
            <p:nvPr/>
          </p:nvSpPr>
          <p:spPr bwMode="auto">
            <a:xfrm>
              <a:off x="1013" y="1512"/>
              <a:ext cx="167" cy="154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655" name="Text Box 7"/>
            <p:cNvSpPr txBox="1">
              <a:spLocks noChangeArrowheads="1"/>
            </p:cNvSpPr>
            <p:nvPr/>
          </p:nvSpPr>
          <p:spPr bwMode="auto">
            <a:xfrm>
              <a:off x="982" y="1329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  <p:sp>
          <p:nvSpPr>
            <p:cNvPr id="155656" name="Line 8"/>
            <p:cNvSpPr>
              <a:spLocks noChangeShapeType="1"/>
            </p:cNvSpPr>
            <p:nvPr/>
          </p:nvSpPr>
          <p:spPr bwMode="auto">
            <a:xfrm>
              <a:off x="188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57" name="Line 9"/>
            <p:cNvSpPr>
              <a:spLocks noChangeShapeType="1"/>
            </p:cNvSpPr>
            <p:nvPr/>
          </p:nvSpPr>
          <p:spPr bwMode="auto">
            <a:xfrm rot="5400000" flipV="1">
              <a:off x="684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10"/>
            <p:cNvGrpSpPr>
              <a:grpSpLocks/>
            </p:cNvGrpSpPr>
            <p:nvPr/>
          </p:nvGrpSpPr>
          <p:grpSpPr bwMode="auto">
            <a:xfrm>
              <a:off x="901" y="1506"/>
              <a:ext cx="101" cy="95"/>
              <a:chOff x="704" y="1880"/>
              <a:chExt cx="136" cy="128"/>
            </a:xfrm>
          </p:grpSpPr>
          <p:sp>
            <p:nvSpPr>
              <p:cNvPr id="155659" name="Line 11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0" name="Line 12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" name="Group 13"/>
            <p:cNvGrpSpPr>
              <a:grpSpLocks/>
            </p:cNvGrpSpPr>
            <p:nvPr/>
          </p:nvGrpSpPr>
          <p:grpSpPr bwMode="auto">
            <a:xfrm>
              <a:off x="794" y="1506"/>
              <a:ext cx="101" cy="95"/>
              <a:chOff x="704" y="1880"/>
              <a:chExt cx="136" cy="128"/>
            </a:xfrm>
          </p:grpSpPr>
          <p:sp>
            <p:nvSpPr>
              <p:cNvPr id="155662" name="Line 14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3" name="Line 15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" name="Group 16"/>
            <p:cNvGrpSpPr>
              <a:grpSpLocks/>
            </p:cNvGrpSpPr>
            <p:nvPr/>
          </p:nvGrpSpPr>
          <p:grpSpPr bwMode="auto">
            <a:xfrm>
              <a:off x="699" y="1506"/>
              <a:ext cx="101" cy="95"/>
              <a:chOff x="704" y="1880"/>
              <a:chExt cx="136" cy="128"/>
            </a:xfrm>
          </p:grpSpPr>
          <p:sp>
            <p:nvSpPr>
              <p:cNvPr id="155665" name="Line 17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6" name="Line 18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6" name="Group 19"/>
            <p:cNvGrpSpPr>
              <a:grpSpLocks/>
            </p:cNvGrpSpPr>
            <p:nvPr/>
          </p:nvGrpSpPr>
          <p:grpSpPr bwMode="auto">
            <a:xfrm>
              <a:off x="598" y="1506"/>
              <a:ext cx="101" cy="95"/>
              <a:chOff x="704" y="1880"/>
              <a:chExt cx="136" cy="128"/>
            </a:xfrm>
          </p:grpSpPr>
          <p:sp>
            <p:nvSpPr>
              <p:cNvPr id="155668" name="Line 20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69" name="Line 21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" name="Group 22"/>
            <p:cNvGrpSpPr>
              <a:grpSpLocks/>
            </p:cNvGrpSpPr>
            <p:nvPr/>
          </p:nvGrpSpPr>
          <p:grpSpPr bwMode="auto">
            <a:xfrm>
              <a:off x="503" y="1506"/>
              <a:ext cx="101" cy="95"/>
              <a:chOff x="704" y="1880"/>
              <a:chExt cx="136" cy="128"/>
            </a:xfrm>
          </p:grpSpPr>
          <p:sp>
            <p:nvSpPr>
              <p:cNvPr id="155671" name="Line 23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2" name="Line 24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25"/>
            <p:cNvGrpSpPr>
              <a:grpSpLocks/>
            </p:cNvGrpSpPr>
            <p:nvPr/>
          </p:nvGrpSpPr>
          <p:grpSpPr bwMode="auto">
            <a:xfrm>
              <a:off x="402" y="1506"/>
              <a:ext cx="101" cy="95"/>
              <a:chOff x="704" y="1880"/>
              <a:chExt cx="136" cy="128"/>
            </a:xfrm>
          </p:grpSpPr>
          <p:sp>
            <p:nvSpPr>
              <p:cNvPr id="155674" name="Line 26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5" name="Line 27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9" name="Group 28"/>
            <p:cNvGrpSpPr>
              <a:grpSpLocks/>
            </p:cNvGrpSpPr>
            <p:nvPr/>
          </p:nvGrpSpPr>
          <p:grpSpPr bwMode="auto">
            <a:xfrm>
              <a:off x="307" y="1506"/>
              <a:ext cx="101" cy="95"/>
              <a:chOff x="704" y="1880"/>
              <a:chExt cx="136" cy="128"/>
            </a:xfrm>
          </p:grpSpPr>
          <p:sp>
            <p:nvSpPr>
              <p:cNvPr id="155677" name="Line 29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78" name="Line 30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31"/>
            <p:cNvGrpSpPr>
              <a:grpSpLocks/>
            </p:cNvGrpSpPr>
            <p:nvPr/>
          </p:nvGrpSpPr>
          <p:grpSpPr bwMode="auto">
            <a:xfrm>
              <a:off x="206" y="1506"/>
              <a:ext cx="101" cy="95"/>
              <a:chOff x="704" y="1880"/>
              <a:chExt cx="136" cy="128"/>
            </a:xfrm>
          </p:grpSpPr>
          <p:sp>
            <p:nvSpPr>
              <p:cNvPr id="155680" name="Line 32"/>
              <p:cNvSpPr>
                <a:spLocks noChangeShapeType="1"/>
              </p:cNvSpPr>
              <p:nvPr/>
            </p:nvSpPr>
            <p:spPr bwMode="auto">
              <a:xfrm flipV="1">
                <a:off x="704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808080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5681" name="Line 33"/>
              <p:cNvSpPr>
                <a:spLocks noChangeShapeType="1"/>
              </p:cNvSpPr>
              <p:nvPr/>
            </p:nvSpPr>
            <p:spPr bwMode="auto">
              <a:xfrm flipH="1" flipV="1">
                <a:off x="768" y="1880"/>
                <a:ext cx="72" cy="128"/>
              </a:xfrm>
              <a:prstGeom prst="line">
                <a:avLst/>
              </a:prstGeom>
              <a:noFill/>
              <a:ln w="38100">
                <a:solidFill>
                  <a:srgbClr val="B2B2B2"/>
                </a:solidFill>
                <a:round/>
                <a:headEnd/>
                <a:tailEnd/>
              </a:ln>
              <a:effectLst/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155682" name="Line 34"/>
            <p:cNvSpPr>
              <a:spLocks noChangeShapeType="1"/>
            </p:cNvSpPr>
            <p:nvPr/>
          </p:nvSpPr>
          <p:spPr bwMode="auto">
            <a:xfrm>
              <a:off x="758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83" name="Text Box 35"/>
            <p:cNvSpPr txBox="1">
              <a:spLocks noChangeArrowheads="1"/>
            </p:cNvSpPr>
            <p:nvPr/>
          </p:nvSpPr>
          <p:spPr bwMode="auto">
            <a:xfrm>
              <a:off x="650" y="1774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684" name="Line 36"/>
            <p:cNvSpPr>
              <a:spLocks noChangeShapeType="1"/>
            </p:cNvSpPr>
            <p:nvPr/>
          </p:nvSpPr>
          <p:spPr bwMode="auto">
            <a:xfrm>
              <a:off x="1091" y="1725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85" name="Text Box 37"/>
            <p:cNvSpPr txBox="1">
              <a:spLocks noChangeArrowheads="1"/>
            </p:cNvSpPr>
            <p:nvPr/>
          </p:nvSpPr>
          <p:spPr bwMode="auto">
            <a:xfrm>
              <a:off x="1000" y="1768"/>
              <a:ext cx="38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686" name="Text Box 38"/>
            <p:cNvSpPr txBox="1">
              <a:spLocks noChangeArrowheads="1"/>
            </p:cNvSpPr>
            <p:nvPr/>
          </p:nvSpPr>
          <p:spPr bwMode="auto">
            <a:xfrm>
              <a:off x="489" y="1317"/>
              <a:ext cx="172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k</a:t>
              </a:r>
            </a:p>
          </p:txBody>
        </p:sp>
      </p:grpSp>
      <p:grpSp>
        <p:nvGrpSpPr>
          <p:cNvPr id="11" name="Group 39"/>
          <p:cNvGrpSpPr>
            <a:grpSpLocks/>
          </p:cNvGrpSpPr>
          <p:nvPr/>
        </p:nvGrpSpPr>
        <p:grpSpPr bwMode="auto">
          <a:xfrm>
            <a:off x="5240339" y="1193800"/>
            <a:ext cx="1887537" cy="1123950"/>
            <a:chOff x="1037" y="605"/>
            <a:chExt cx="1189" cy="708"/>
          </a:xfrm>
        </p:grpSpPr>
        <p:sp>
          <p:nvSpPr>
            <p:cNvPr id="155688" name="AutoShape 40"/>
            <p:cNvSpPr>
              <a:spLocks noChangeArrowheads="1"/>
            </p:cNvSpPr>
            <p:nvPr/>
          </p:nvSpPr>
          <p:spPr bwMode="auto">
            <a:xfrm>
              <a:off x="1554" y="868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689" name="Text Box 41"/>
            <p:cNvSpPr txBox="1">
              <a:spLocks noChangeArrowheads="1"/>
            </p:cNvSpPr>
            <p:nvPr/>
          </p:nvSpPr>
          <p:spPr bwMode="auto">
            <a:xfrm>
              <a:off x="1540" y="605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690" name="Line 42"/>
            <p:cNvSpPr>
              <a:spLocks noChangeShapeType="1"/>
            </p:cNvSpPr>
            <p:nvPr/>
          </p:nvSpPr>
          <p:spPr bwMode="auto">
            <a:xfrm>
              <a:off x="1049" y="656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691" name="Line 43"/>
            <p:cNvSpPr>
              <a:spLocks noChangeShapeType="1"/>
            </p:cNvSpPr>
            <p:nvPr/>
          </p:nvSpPr>
          <p:spPr bwMode="auto">
            <a:xfrm rot="5400000" flipV="1">
              <a:off x="1545" y="525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4"/>
            <p:cNvGrpSpPr>
              <a:grpSpLocks/>
            </p:cNvGrpSpPr>
            <p:nvPr/>
          </p:nvGrpSpPr>
          <p:grpSpPr bwMode="auto">
            <a:xfrm>
              <a:off x="1067" y="868"/>
              <a:ext cx="481" cy="94"/>
              <a:chOff x="2248" y="1248"/>
              <a:chExt cx="648" cy="128"/>
            </a:xfrm>
          </p:grpSpPr>
          <p:grpSp>
            <p:nvGrpSpPr>
              <p:cNvPr id="13" name="Group 45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694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695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8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697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698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51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00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1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4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03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4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7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06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07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60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09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0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3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1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3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6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15" name="Line 6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16" name="Line 6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17" name="Line 69"/>
            <p:cNvSpPr>
              <a:spLocks noChangeShapeType="1"/>
            </p:cNvSpPr>
            <p:nvPr/>
          </p:nvSpPr>
          <p:spPr bwMode="auto">
            <a:xfrm>
              <a:off x="1619" y="1074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18" name="Text Box 70"/>
            <p:cNvSpPr txBox="1">
              <a:spLocks noChangeArrowheads="1"/>
            </p:cNvSpPr>
            <p:nvPr/>
          </p:nvSpPr>
          <p:spPr bwMode="auto">
            <a:xfrm>
              <a:off x="1511" y="112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19" name="Line 71"/>
            <p:cNvSpPr>
              <a:spLocks noChangeShapeType="1"/>
            </p:cNvSpPr>
            <p:nvPr/>
          </p:nvSpPr>
          <p:spPr bwMode="auto">
            <a:xfrm>
              <a:off x="1952" y="1080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20" name="Text Box 72"/>
            <p:cNvSpPr txBox="1">
              <a:spLocks noChangeArrowheads="1"/>
            </p:cNvSpPr>
            <p:nvPr/>
          </p:nvSpPr>
          <p:spPr bwMode="auto">
            <a:xfrm>
              <a:off x="1861" y="1116"/>
              <a:ext cx="365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21" name="Line 73"/>
            <p:cNvSpPr>
              <a:spLocks noChangeShapeType="1"/>
            </p:cNvSpPr>
            <p:nvPr/>
          </p:nvSpPr>
          <p:spPr bwMode="auto">
            <a:xfrm flipH="1">
              <a:off x="1500" y="809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74"/>
          <p:cNvGrpSpPr>
            <a:grpSpLocks/>
          </p:cNvGrpSpPr>
          <p:nvPr/>
        </p:nvGrpSpPr>
        <p:grpSpPr bwMode="auto">
          <a:xfrm>
            <a:off x="7847013" y="2752726"/>
            <a:ext cx="1612900" cy="1082675"/>
            <a:chOff x="2112" y="1300"/>
            <a:chExt cx="1016" cy="682"/>
          </a:xfrm>
        </p:grpSpPr>
        <p:sp>
          <p:nvSpPr>
            <p:cNvPr id="155723" name="AutoShape 75"/>
            <p:cNvSpPr>
              <a:spLocks noChangeArrowheads="1"/>
            </p:cNvSpPr>
            <p:nvPr/>
          </p:nvSpPr>
          <p:spPr bwMode="auto">
            <a:xfrm>
              <a:off x="2385" y="1495"/>
              <a:ext cx="167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724" name="Line 76"/>
            <p:cNvSpPr>
              <a:spLocks noChangeShapeType="1"/>
            </p:cNvSpPr>
            <p:nvPr/>
          </p:nvSpPr>
          <p:spPr bwMode="auto">
            <a:xfrm>
              <a:off x="2124" y="130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25" name="Line 77"/>
            <p:cNvSpPr>
              <a:spLocks noChangeShapeType="1"/>
            </p:cNvSpPr>
            <p:nvPr/>
          </p:nvSpPr>
          <p:spPr bwMode="auto">
            <a:xfrm rot="5400000" flipV="1">
              <a:off x="2620" y="1169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2" name="Group 78"/>
            <p:cNvGrpSpPr>
              <a:grpSpLocks/>
            </p:cNvGrpSpPr>
            <p:nvPr/>
          </p:nvGrpSpPr>
          <p:grpSpPr bwMode="auto">
            <a:xfrm>
              <a:off x="2148" y="1512"/>
              <a:ext cx="225" cy="95"/>
              <a:chOff x="2248" y="1248"/>
              <a:chExt cx="648" cy="128"/>
            </a:xfrm>
          </p:grpSpPr>
          <p:grpSp>
            <p:nvGrpSpPr>
              <p:cNvPr id="23" name="Group 79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728" name="Line 8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29" name="Line 8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82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731" name="Line 8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2" name="Line 8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85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34" name="Line 8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5" name="Line 8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88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37" name="Line 8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38" name="Line 9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91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40" name="Line 9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1" name="Line 9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94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43" name="Line 9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4" name="Line 9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97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46" name="Line 9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47" name="Line 9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30" name="Group 100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49" name="Line 10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50" name="Line 10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51" name="Line 103"/>
            <p:cNvSpPr>
              <a:spLocks noChangeShapeType="1"/>
            </p:cNvSpPr>
            <p:nvPr/>
          </p:nvSpPr>
          <p:spPr bwMode="auto">
            <a:xfrm>
              <a:off x="269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52" name="Text Box 104"/>
            <p:cNvSpPr txBox="1">
              <a:spLocks noChangeArrowheads="1"/>
            </p:cNvSpPr>
            <p:nvPr/>
          </p:nvSpPr>
          <p:spPr bwMode="auto">
            <a:xfrm>
              <a:off x="2586" y="1790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53" name="Line 105"/>
            <p:cNvSpPr>
              <a:spLocks noChangeShapeType="1"/>
            </p:cNvSpPr>
            <p:nvPr/>
          </p:nvSpPr>
          <p:spPr bwMode="auto">
            <a:xfrm>
              <a:off x="2474" y="1719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54" name="Text Box 106"/>
            <p:cNvSpPr txBox="1">
              <a:spLocks noChangeArrowheads="1"/>
            </p:cNvSpPr>
            <p:nvPr/>
          </p:nvSpPr>
          <p:spPr bwMode="auto">
            <a:xfrm>
              <a:off x="2342" y="1772"/>
              <a:ext cx="480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-x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55" name="Text Box 107"/>
            <p:cNvSpPr txBox="1">
              <a:spLocks noChangeArrowheads="1"/>
            </p:cNvSpPr>
            <p:nvPr/>
          </p:nvSpPr>
          <p:spPr bwMode="auto">
            <a:xfrm>
              <a:off x="2342" y="1311"/>
              <a:ext cx="304" cy="19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V=0</a:t>
              </a:r>
            </a:p>
          </p:txBody>
        </p:sp>
      </p:grpSp>
      <p:grpSp>
        <p:nvGrpSpPr>
          <p:cNvPr id="31" name="Group 108"/>
          <p:cNvGrpSpPr>
            <a:grpSpLocks/>
          </p:cNvGrpSpPr>
          <p:nvPr/>
        </p:nvGrpSpPr>
        <p:grpSpPr bwMode="auto">
          <a:xfrm>
            <a:off x="5227639" y="4400550"/>
            <a:ext cx="1798637" cy="1162050"/>
            <a:chOff x="1029" y="1941"/>
            <a:chExt cx="1133" cy="732"/>
          </a:xfrm>
        </p:grpSpPr>
        <p:sp>
          <p:nvSpPr>
            <p:cNvPr id="155757" name="AutoShape 109"/>
            <p:cNvSpPr>
              <a:spLocks noChangeArrowheads="1"/>
            </p:cNvSpPr>
            <p:nvPr/>
          </p:nvSpPr>
          <p:spPr bwMode="auto">
            <a:xfrm>
              <a:off x="1546" y="2220"/>
              <a:ext cx="166" cy="153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55758" name="Text Box 110"/>
            <p:cNvSpPr txBox="1">
              <a:spLocks noChangeArrowheads="1"/>
            </p:cNvSpPr>
            <p:nvPr/>
          </p:nvSpPr>
          <p:spPr bwMode="auto">
            <a:xfrm>
              <a:off x="1532" y="1941"/>
              <a:ext cx="327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V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59" name="Line 111"/>
            <p:cNvSpPr>
              <a:spLocks noChangeShapeType="1"/>
            </p:cNvSpPr>
            <p:nvPr/>
          </p:nvSpPr>
          <p:spPr bwMode="auto">
            <a:xfrm>
              <a:off x="1041" y="2008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60" name="Line 112"/>
            <p:cNvSpPr>
              <a:spLocks noChangeShapeType="1"/>
            </p:cNvSpPr>
            <p:nvPr/>
          </p:nvSpPr>
          <p:spPr bwMode="auto">
            <a:xfrm rot="5400000" flipV="1">
              <a:off x="1537" y="1877"/>
              <a:ext cx="0" cy="1016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55687" name="Group 113"/>
            <p:cNvGrpSpPr>
              <a:grpSpLocks/>
            </p:cNvGrpSpPr>
            <p:nvPr/>
          </p:nvGrpSpPr>
          <p:grpSpPr bwMode="auto">
            <a:xfrm>
              <a:off x="1059" y="2220"/>
              <a:ext cx="481" cy="94"/>
              <a:chOff x="2248" y="1248"/>
              <a:chExt cx="648" cy="128"/>
            </a:xfrm>
          </p:grpSpPr>
          <p:grpSp>
            <p:nvGrpSpPr>
              <p:cNvPr id="155692" name="Group 114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55763" name="Line 11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64" name="Line 11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3" name="Group 117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55766" name="Line 11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67" name="Line 11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6" name="Group 120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55769" name="Line 12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0" name="Line 12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699" name="Group 123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55772" name="Line 12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3" name="Line 12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2" name="Group 126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55775" name="Line 12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6" name="Line 12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5" name="Group 129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55778" name="Line 13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79" name="Line 13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08" name="Group 132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55781" name="Line 13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82" name="Line 13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5711" name="Group 135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55784" name="Line 13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5785" name="Line 13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55786" name="Line 138"/>
            <p:cNvSpPr>
              <a:spLocks noChangeShapeType="1"/>
            </p:cNvSpPr>
            <p:nvPr/>
          </p:nvSpPr>
          <p:spPr bwMode="auto">
            <a:xfrm>
              <a:off x="1611" y="2426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87" name="Text Box 139"/>
            <p:cNvSpPr txBox="1">
              <a:spLocks noChangeArrowheads="1"/>
            </p:cNvSpPr>
            <p:nvPr/>
          </p:nvSpPr>
          <p:spPr bwMode="auto">
            <a:xfrm>
              <a:off x="1503" y="2481"/>
              <a:ext cx="29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400"/>
                <a:t>x=0</a:t>
              </a:r>
            </a:p>
          </p:txBody>
        </p:sp>
        <p:sp>
          <p:nvSpPr>
            <p:cNvPr id="155788" name="Line 140"/>
            <p:cNvSpPr>
              <a:spLocks noChangeShapeType="1"/>
            </p:cNvSpPr>
            <p:nvPr/>
          </p:nvSpPr>
          <p:spPr bwMode="auto">
            <a:xfrm>
              <a:off x="1944" y="2432"/>
              <a:ext cx="0" cy="9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55789" name="Text Box 141"/>
            <p:cNvSpPr txBox="1">
              <a:spLocks noChangeArrowheads="1"/>
            </p:cNvSpPr>
            <p:nvPr/>
          </p:nvSpPr>
          <p:spPr bwMode="auto">
            <a:xfrm>
              <a:off x="1853" y="2468"/>
              <a:ext cx="309" cy="1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400"/>
                <a:t>x</a:t>
              </a:r>
              <a:r>
                <a:rPr lang="en-US" sz="1400" baseline="-25000"/>
                <a:t>max</a:t>
              </a:r>
            </a:p>
          </p:txBody>
        </p:sp>
        <p:sp>
          <p:nvSpPr>
            <p:cNvPr id="155790" name="Line 142"/>
            <p:cNvSpPr>
              <a:spLocks noChangeShapeType="1"/>
            </p:cNvSpPr>
            <p:nvPr/>
          </p:nvSpPr>
          <p:spPr bwMode="auto">
            <a:xfrm>
              <a:off x="1492" y="2161"/>
              <a:ext cx="286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5791" name="Arc 143"/>
          <p:cNvSpPr>
            <a:spLocks/>
          </p:cNvSpPr>
          <p:nvPr/>
        </p:nvSpPr>
        <p:spPr bwMode="auto">
          <a:xfrm>
            <a:off x="5675314" y="2873376"/>
            <a:ext cx="801687" cy="944563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143 w 43200"/>
              <a:gd name="T1" fmla="*/ 24077 h 43200"/>
              <a:gd name="T2" fmla="*/ 4287 w 43200"/>
              <a:gd name="T3" fmla="*/ 34515 h 43200"/>
              <a:gd name="T4" fmla="*/ 21600 w 432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43200" h="43200" fill="none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</a:path>
              <a:path w="43200" h="43200" stroke="0" extrusionOk="0">
                <a:moveTo>
                  <a:pt x="142" y="24077"/>
                </a:moveTo>
                <a:cubicBezTo>
                  <a:pt x="47" y="23254"/>
                  <a:pt x="0" y="224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14781" y="43200"/>
                  <a:pt x="8363" y="39980"/>
                  <a:pt x="4286" y="34515"/>
                </a:cubicBezTo>
                <a:lnTo>
                  <a:pt x="21600" y="21600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round/>
            <a:headEnd/>
            <a:tailEnd type="arrow" w="lg" len="med"/>
          </a:ln>
          <a:effectLst/>
        </p:spPr>
        <p:txBody>
          <a:bodyPr wrap="none" anchor="ctr"/>
          <a:lstStyle/>
          <a:p>
            <a:endParaRPr lang="en-US"/>
          </a:p>
        </p:txBody>
      </p:sp>
      <p:sp>
        <p:nvSpPr>
          <p:cNvPr id="155792" name="Text Box 144"/>
          <p:cNvSpPr txBox="1">
            <a:spLocks noChangeArrowheads="1"/>
          </p:cNvSpPr>
          <p:nvPr/>
        </p:nvSpPr>
        <p:spPr bwMode="auto">
          <a:xfrm>
            <a:off x="4368800" y="2363788"/>
            <a:ext cx="598488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155794" name="Line 146"/>
          <p:cNvSpPr>
            <a:spLocks noChangeShapeType="1"/>
          </p:cNvSpPr>
          <p:nvPr/>
        </p:nvSpPr>
        <p:spPr bwMode="auto">
          <a:xfrm flipH="1">
            <a:off x="4432300" y="2735263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5795" name="Text Box 147"/>
          <p:cNvSpPr txBox="1">
            <a:spLocks noChangeArrowheads="1"/>
          </p:cNvSpPr>
          <p:nvPr/>
        </p:nvSpPr>
        <p:spPr bwMode="auto">
          <a:xfrm>
            <a:off x="8178800" y="2365376"/>
            <a:ext cx="598488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</a:t>
            </a:r>
            <a:r>
              <a:rPr lang="en-US" baseline="-25000">
                <a:solidFill>
                  <a:schemeClr val="bg2"/>
                </a:solidFill>
              </a:rPr>
              <a:t>max</a:t>
            </a:r>
          </a:p>
        </p:txBody>
      </p:sp>
      <p:sp>
        <p:nvSpPr>
          <p:cNvPr id="155796" name="Line 148"/>
          <p:cNvSpPr>
            <a:spLocks noChangeShapeType="1"/>
          </p:cNvSpPr>
          <p:nvPr/>
        </p:nvSpPr>
        <p:spPr bwMode="auto">
          <a:xfrm>
            <a:off x="8242300" y="2736850"/>
            <a:ext cx="420688" cy="0"/>
          </a:xfrm>
          <a:prstGeom prst="line">
            <a:avLst/>
          </a:prstGeom>
          <a:noFill/>
          <a:ln w="9525">
            <a:solidFill>
              <a:schemeClr val="bg2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5797" name="Text Box 149"/>
          <p:cNvSpPr txBox="1">
            <a:spLocks noChangeArrowheads="1"/>
          </p:cNvSpPr>
          <p:nvPr/>
        </p:nvSpPr>
        <p:spPr bwMode="auto">
          <a:xfrm>
            <a:off x="5965825" y="920751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  <p:sp>
        <p:nvSpPr>
          <p:cNvPr id="155798" name="Text Box 150"/>
          <p:cNvSpPr txBox="1">
            <a:spLocks noChangeArrowheads="1"/>
          </p:cNvSpPr>
          <p:nvPr/>
        </p:nvSpPr>
        <p:spPr bwMode="auto">
          <a:xfrm>
            <a:off x="6016625" y="4149726"/>
            <a:ext cx="571500" cy="36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bg2"/>
                </a:solidFill>
              </a:rPr>
              <a:t>a=0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38" name="Rectangle 70"/>
          <p:cNvSpPr>
            <a:spLocks noGrp="1" noChangeArrowheads="1"/>
          </p:cNvSpPr>
          <p:nvPr>
            <p:ph type="title"/>
          </p:nvPr>
        </p:nvSpPr>
        <p:spPr>
          <a:xfrm>
            <a:off x="1981200" y="0"/>
            <a:ext cx="8229600" cy="1143000"/>
          </a:xfrm>
        </p:spPr>
        <p:txBody>
          <a:bodyPr/>
          <a:lstStyle/>
          <a:p>
            <a:r>
              <a:rPr lang="en-US" dirty="0"/>
              <a:t>Hanging Springs</a:t>
            </a:r>
          </a:p>
        </p:txBody>
      </p:sp>
      <p:sp>
        <p:nvSpPr>
          <p:cNvPr id="160948" name="Rectangle 180"/>
          <p:cNvSpPr>
            <a:spLocks noGrp="1" noChangeArrowheads="1"/>
          </p:cNvSpPr>
          <p:nvPr>
            <p:ph type="body" sz="half" idx="1"/>
          </p:nvPr>
        </p:nvSpPr>
        <p:spPr>
          <a:xfrm>
            <a:off x="1828800" y="1219201"/>
            <a:ext cx="4038600" cy="4525963"/>
          </a:xfrm>
        </p:spPr>
        <p:txBody>
          <a:bodyPr>
            <a:noAutofit/>
          </a:bodyPr>
          <a:lstStyle/>
          <a:p>
            <a:r>
              <a:rPr lang="en-US" sz="2000" dirty="0"/>
              <a:t>We want to use the same formulas whether the spring is horizontal or hanging</a:t>
            </a:r>
          </a:p>
          <a:p>
            <a:r>
              <a:rPr lang="en-US" sz="2000" dirty="0"/>
              <a:t>Start with a spring hanging with no weight</a:t>
            </a:r>
          </a:p>
          <a:p>
            <a:pPr lvl="1"/>
            <a:r>
              <a:rPr lang="en-US" sz="1800" dirty="0"/>
              <a:t>Call its end position </a:t>
            </a:r>
            <a:r>
              <a:rPr lang="en-US" sz="1800" i="1" dirty="0" err="1"/>
              <a:t>x</a:t>
            </a:r>
            <a:r>
              <a:rPr lang="en-US" sz="1800" i="1" baseline="-25000" dirty="0" err="1"/>
              <a:t>se</a:t>
            </a:r>
            <a:r>
              <a:rPr lang="en-US" sz="1800" dirty="0"/>
              <a:t> (for spring equilibrium)</a:t>
            </a:r>
          </a:p>
          <a:p>
            <a:r>
              <a:rPr lang="en-US" sz="2000" dirty="0"/>
              <a:t>Add a weight, the spring stretches from this first equilibrium position (</a:t>
            </a:r>
            <a:r>
              <a:rPr lang="en-US" sz="2000" i="1" dirty="0" err="1"/>
              <a:t>x</a:t>
            </a:r>
            <a:r>
              <a:rPr lang="en-US" sz="2000" i="1" baseline="-25000" dirty="0" err="1"/>
              <a:t>se</a:t>
            </a:r>
            <a:r>
              <a:rPr lang="en-US" sz="2000" dirty="0"/>
              <a:t>) by an amount </a:t>
            </a:r>
            <a:r>
              <a:rPr lang="en-US" sz="2000" dirty="0">
                <a:sym typeface="Symbol" pitchFamily="18" charset="2"/>
              </a:rPr>
              <a:t>x to a new equilibrium point, </a:t>
            </a:r>
            <a:r>
              <a:rPr lang="en-US" sz="2000" i="1" dirty="0" err="1"/>
              <a:t>x</a:t>
            </a:r>
            <a:r>
              <a:rPr lang="en-US" sz="2000" i="1" baseline="-25000" dirty="0" err="1"/>
              <a:t>me</a:t>
            </a:r>
            <a:r>
              <a:rPr lang="en-US" sz="2000" dirty="0"/>
              <a:t> </a:t>
            </a:r>
            <a:endParaRPr lang="en-US" sz="2000" dirty="0">
              <a:sym typeface="Symbol" pitchFamily="18" charset="2"/>
            </a:endParaRPr>
          </a:p>
          <a:p>
            <a:r>
              <a:rPr lang="en-US" sz="2000" dirty="0">
                <a:sym typeface="Symbol" pitchFamily="18" charset="2"/>
              </a:rPr>
              <a:t>How big is x? </a:t>
            </a:r>
          </a:p>
          <a:p>
            <a:endParaRPr lang="en-US" sz="2000" dirty="0">
              <a:sym typeface="Symbol" pitchFamily="18" charset="2"/>
            </a:endParaRPr>
          </a:p>
          <a:p>
            <a:endParaRPr lang="en-US" sz="2000" dirty="0">
              <a:sym typeface="Symbol" pitchFamily="18" charset="2"/>
            </a:endParaRPr>
          </a:p>
          <a:p>
            <a:r>
              <a:rPr lang="en-US" sz="1800" dirty="0"/>
              <a:t>We then allow the system to oscillate about the new equilibrium</a:t>
            </a:r>
          </a:p>
          <a:p>
            <a:endParaRPr lang="en-US" sz="2000" dirty="0">
              <a:sym typeface="Symbol" pitchFamily="18" charset="2"/>
            </a:endParaRPr>
          </a:p>
        </p:txBody>
      </p:sp>
      <p:sp>
        <p:nvSpPr>
          <p:cNvPr id="160954" name="Rectangle 186"/>
          <p:cNvSpPr>
            <a:spLocks noGrp="1" noChangeArrowheads="1"/>
          </p:cNvSpPr>
          <p:nvPr>
            <p:ph type="body" sz="half" idx="2"/>
          </p:nvPr>
        </p:nvSpPr>
        <p:spPr>
          <a:xfrm>
            <a:off x="6210300" y="3302001"/>
            <a:ext cx="4038600" cy="2633663"/>
          </a:xfrm>
        </p:spPr>
        <p:txBody>
          <a:bodyPr/>
          <a:lstStyle/>
          <a:p>
            <a:r>
              <a:rPr lang="en-US" sz="1600"/>
              <a:t>The forces are</a:t>
            </a:r>
          </a:p>
          <a:p>
            <a:endParaRPr lang="en-US" sz="1600"/>
          </a:p>
          <a:p>
            <a:endParaRPr lang="en-US" sz="1600"/>
          </a:p>
          <a:p>
            <a:r>
              <a:rPr lang="en-US" sz="1600"/>
              <a:t>Where the spring force is reduced because the weight is doing some of the stretching (not part of SHM)</a:t>
            </a:r>
          </a:p>
        </p:txBody>
      </p:sp>
      <p:graphicFrame>
        <p:nvGraphicFramePr>
          <p:cNvPr id="160951" name="Object 183"/>
          <p:cNvGraphicFramePr>
            <a:graphicFrameLocks noChangeAspect="1"/>
          </p:cNvGraphicFramePr>
          <p:nvPr/>
        </p:nvGraphicFramePr>
        <p:xfrm>
          <a:off x="4038600" y="4876801"/>
          <a:ext cx="1676400" cy="1031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041120" imgH="634680" progId="Equation.3">
                  <p:embed/>
                </p:oleObj>
              </mc:Choice>
              <mc:Fallback>
                <p:oleObj name="Equation" r:id="rId2" imgW="1041120" imgH="634680" progId="Equation.3">
                  <p:embed/>
                  <p:pic>
                    <p:nvPicPr>
                      <p:cNvPr id="160951" name="Object 1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8600" y="4876801"/>
                        <a:ext cx="1676400" cy="1031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0952" name="Line 184"/>
          <p:cNvSpPr>
            <a:spLocks noChangeShapeType="1"/>
          </p:cNvSpPr>
          <p:nvPr/>
        </p:nvSpPr>
        <p:spPr bwMode="auto">
          <a:xfrm>
            <a:off x="6464300" y="1193800"/>
            <a:ext cx="0" cy="20955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60953" name="Line 185"/>
          <p:cNvSpPr>
            <a:spLocks noChangeShapeType="1"/>
          </p:cNvSpPr>
          <p:nvPr/>
        </p:nvSpPr>
        <p:spPr bwMode="auto">
          <a:xfrm rot="16200000">
            <a:off x="8569325" y="1196975"/>
            <a:ext cx="0" cy="4197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160955" name="Object 187"/>
          <p:cNvGraphicFramePr>
            <a:graphicFrameLocks noChangeAspect="1"/>
          </p:cNvGraphicFramePr>
          <p:nvPr/>
        </p:nvGraphicFramePr>
        <p:xfrm>
          <a:off x="7121526" y="3811588"/>
          <a:ext cx="1800225" cy="412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117440" imgH="253800" progId="Equation.3">
                  <p:embed/>
                </p:oleObj>
              </mc:Choice>
              <mc:Fallback>
                <p:oleObj name="Equation" r:id="rId4" imgW="1117440" imgH="253800" progId="Equation.3">
                  <p:embed/>
                  <p:pic>
                    <p:nvPicPr>
                      <p:cNvPr id="160955" name="Object 1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21526" y="3811588"/>
                        <a:ext cx="1800225" cy="412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0956" name="Object 188"/>
          <p:cNvGraphicFramePr>
            <a:graphicFrameLocks noChangeAspect="1"/>
          </p:cNvGraphicFramePr>
          <p:nvPr/>
        </p:nvGraphicFramePr>
        <p:xfrm>
          <a:off x="6907214" y="5129214"/>
          <a:ext cx="3170237" cy="1362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968480" imgH="838080" progId="Equation.3">
                  <p:embed/>
                </p:oleObj>
              </mc:Choice>
              <mc:Fallback>
                <p:oleObj name="Equation" r:id="rId6" imgW="1968480" imgH="838080" progId="Equation.3">
                  <p:embed/>
                  <p:pic>
                    <p:nvPicPr>
                      <p:cNvPr id="160956" name="Object 1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07214" y="5129214"/>
                        <a:ext cx="3170237" cy="13620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18"/>
          <p:cNvGrpSpPr>
            <a:grpSpLocks/>
          </p:cNvGrpSpPr>
          <p:nvPr/>
        </p:nvGrpSpPr>
        <p:grpSpPr bwMode="auto">
          <a:xfrm>
            <a:off x="7285038" y="1412875"/>
            <a:ext cx="3097212" cy="1722438"/>
            <a:chOff x="3629" y="890"/>
            <a:chExt cx="1951" cy="1085"/>
          </a:xfrm>
        </p:grpSpPr>
        <p:sp>
          <p:nvSpPr>
            <p:cNvPr id="160773" name="AutoShape 5"/>
            <p:cNvSpPr>
              <a:spLocks noChangeArrowheads="1"/>
            </p:cNvSpPr>
            <p:nvPr/>
          </p:nvSpPr>
          <p:spPr bwMode="auto">
            <a:xfrm>
              <a:off x="4300" y="1593"/>
              <a:ext cx="166" cy="18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60775" name="Line 7"/>
            <p:cNvSpPr>
              <a:spLocks noChangeShapeType="1"/>
            </p:cNvSpPr>
            <p:nvPr/>
          </p:nvSpPr>
          <p:spPr bwMode="auto">
            <a:xfrm rot="5400000">
              <a:off x="4384" y="794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3" name="Group 9"/>
            <p:cNvGrpSpPr>
              <a:grpSpLocks/>
            </p:cNvGrpSpPr>
            <p:nvPr/>
          </p:nvGrpSpPr>
          <p:grpSpPr bwMode="auto">
            <a:xfrm rot="5400000">
              <a:off x="4096" y="1245"/>
              <a:ext cx="573" cy="94"/>
              <a:chOff x="2248" y="1248"/>
              <a:chExt cx="648" cy="128"/>
            </a:xfrm>
          </p:grpSpPr>
          <p:grpSp>
            <p:nvGrpSpPr>
              <p:cNvPr id="4" name="Group 10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779" name="Line 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0" name="Line 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5" name="Group 13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782" name="Line 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3" name="Line 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6" name="Group 16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785" name="Line 17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6" name="Line 18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7" name="Group 19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788" name="Line 20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89" name="Line 21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8" name="Group 22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791" name="Line 2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2" name="Line 2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9" name="Group 25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794" name="Line 2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5" name="Line 2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0" name="Group 28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797" name="Line 2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798" name="Line 3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1" name="Group 31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800" name="Line 3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01" name="Line 3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60808" name="Line 40"/>
            <p:cNvSpPr>
              <a:spLocks noChangeShapeType="1"/>
            </p:cNvSpPr>
            <p:nvPr/>
          </p:nvSpPr>
          <p:spPr bwMode="auto">
            <a:xfrm rot="5400000">
              <a:off x="3941" y="793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12" name="Group 41"/>
            <p:cNvGrpSpPr>
              <a:grpSpLocks/>
            </p:cNvGrpSpPr>
            <p:nvPr/>
          </p:nvGrpSpPr>
          <p:grpSpPr bwMode="auto">
            <a:xfrm rot="5400000">
              <a:off x="3735" y="1161"/>
              <a:ext cx="418" cy="102"/>
              <a:chOff x="2248" y="1248"/>
              <a:chExt cx="648" cy="128"/>
            </a:xfrm>
          </p:grpSpPr>
          <p:grpSp>
            <p:nvGrpSpPr>
              <p:cNvPr id="13" name="Group 4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811" name="Line 4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2" name="Line 4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4" name="Group 4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814" name="Line 4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5" name="Line 4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" name="Group 4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817" name="Line 4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18" name="Line 5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" name="Group 5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820" name="Line 5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1" name="Line 5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7" name="Group 5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823" name="Line 5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4" name="Line 5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8" name="Group 5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826" name="Line 5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27" name="Line 5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9" name="Group 6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829" name="Line 6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30" name="Line 6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0" name="Group 6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832" name="Line 6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833" name="Line 6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graphicFrame>
          <p:nvGraphicFramePr>
            <p:cNvPr id="160843" name="Object 75"/>
            <p:cNvGraphicFramePr>
              <a:graphicFrameLocks noChangeAspect="1"/>
            </p:cNvGraphicFramePr>
            <p:nvPr/>
          </p:nvGraphicFramePr>
          <p:xfrm>
            <a:off x="4901" y="1294"/>
            <a:ext cx="298" cy="21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17160" imgH="228600" progId="Equation.3">
                    <p:embed/>
                  </p:oleObj>
                </mc:Choice>
                <mc:Fallback>
                  <p:oleObj name="Equation" r:id="rId8" imgW="317160" imgH="228600" progId="Equation.3">
                    <p:embed/>
                    <p:pic>
                      <p:nvPicPr>
                        <p:cNvPr id="160843" name="Object 7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01" y="1294"/>
                          <a:ext cx="298" cy="21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60936" name="Object 168"/>
            <p:cNvGraphicFramePr>
              <a:graphicFrameLocks noChangeAspect="1"/>
            </p:cNvGraphicFramePr>
            <p:nvPr/>
          </p:nvGraphicFramePr>
          <p:xfrm>
            <a:off x="4923" y="890"/>
            <a:ext cx="291" cy="1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355320" imgH="177480" progId="Equation.3">
                    <p:embed/>
                  </p:oleObj>
                </mc:Choice>
                <mc:Fallback>
                  <p:oleObj name="Equation" r:id="rId10" imgW="355320" imgH="177480" progId="Equation.3">
                    <p:embed/>
                    <p:pic>
                      <p:nvPicPr>
                        <p:cNvPr id="160936" name="Object 16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23" y="890"/>
                          <a:ext cx="291" cy="14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37" name="Line 169"/>
            <p:cNvSpPr>
              <a:spLocks noChangeShapeType="1"/>
            </p:cNvSpPr>
            <p:nvPr/>
          </p:nvSpPr>
          <p:spPr bwMode="auto">
            <a:xfrm rot="5400000">
              <a:off x="4262" y="372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40" name="Object 172"/>
            <p:cNvGraphicFramePr>
              <a:graphicFrameLocks noChangeAspect="1"/>
            </p:cNvGraphicFramePr>
            <p:nvPr/>
          </p:nvGraphicFramePr>
          <p:xfrm>
            <a:off x="4858" y="1550"/>
            <a:ext cx="361" cy="23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355320" imgH="228600" progId="Equation.3">
                    <p:embed/>
                  </p:oleObj>
                </mc:Choice>
                <mc:Fallback>
                  <p:oleObj name="Equation" r:id="rId12" imgW="355320" imgH="228600" progId="Equation.3">
                    <p:embed/>
                    <p:pic>
                      <p:nvPicPr>
                        <p:cNvPr id="160940" name="Object 17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58" y="1550"/>
                          <a:ext cx="361" cy="23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42" name="Line 174"/>
            <p:cNvSpPr>
              <a:spLocks noChangeShapeType="1"/>
            </p:cNvSpPr>
            <p:nvPr/>
          </p:nvSpPr>
          <p:spPr bwMode="auto">
            <a:xfrm rot="5400000">
              <a:off x="4262" y="804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3" name="Line 175"/>
            <p:cNvSpPr>
              <a:spLocks noChangeShapeType="1"/>
            </p:cNvSpPr>
            <p:nvPr/>
          </p:nvSpPr>
          <p:spPr bwMode="auto">
            <a:xfrm rot="5400000">
              <a:off x="4262" y="1068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5" name="Line 177"/>
            <p:cNvSpPr>
              <a:spLocks noChangeShapeType="1"/>
            </p:cNvSpPr>
            <p:nvPr/>
          </p:nvSpPr>
          <p:spPr bwMode="auto">
            <a:xfrm>
              <a:off x="4160" y="1408"/>
              <a:ext cx="0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0946" name="Line 178"/>
            <p:cNvSpPr>
              <a:spLocks noChangeShapeType="1"/>
            </p:cNvSpPr>
            <p:nvPr/>
          </p:nvSpPr>
          <p:spPr bwMode="auto">
            <a:xfrm flipH="1">
              <a:off x="4632" y="976"/>
              <a:ext cx="8" cy="4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49" name="Object 181"/>
            <p:cNvGraphicFramePr>
              <a:graphicFrameLocks noChangeAspect="1"/>
            </p:cNvGraphicFramePr>
            <p:nvPr/>
          </p:nvGraphicFramePr>
          <p:xfrm>
            <a:off x="3936" y="1427"/>
            <a:ext cx="219" cy="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640" imgH="203040" progId="Equation.3">
                    <p:embed/>
                  </p:oleObj>
                </mc:Choice>
                <mc:Fallback>
                  <p:oleObj name="Equation" r:id="rId14" imgW="215640" imgH="203040" progId="Equation.3">
                    <p:embed/>
                    <p:pic>
                      <p:nvPicPr>
                        <p:cNvPr id="160949" name="Object 18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36" y="1427"/>
                          <a:ext cx="219" cy="208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0957" name="AutoShape 189"/>
            <p:cNvSpPr>
              <a:spLocks noChangeArrowheads="1"/>
            </p:cNvSpPr>
            <p:nvPr/>
          </p:nvSpPr>
          <p:spPr bwMode="auto">
            <a:xfrm>
              <a:off x="5308" y="1793"/>
              <a:ext cx="166" cy="182"/>
            </a:xfrm>
            <a:prstGeom prst="roundRect">
              <a:avLst>
                <a:gd name="adj" fmla="val 16667"/>
              </a:avLst>
            </a:prstGeom>
            <a:solidFill>
              <a:schemeClr val="hlink"/>
            </a:solidFill>
            <a:ln w="9525">
              <a:noFill/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sz="1400" b="1">
                  <a:solidFill>
                    <a:schemeClr val="bg1"/>
                  </a:solidFill>
                </a:rPr>
                <a:t>m</a:t>
              </a:r>
            </a:p>
          </p:txBody>
        </p:sp>
        <p:sp>
          <p:nvSpPr>
            <p:cNvPr id="160958" name="Line 190"/>
            <p:cNvSpPr>
              <a:spLocks noChangeShapeType="1"/>
            </p:cNvSpPr>
            <p:nvPr/>
          </p:nvSpPr>
          <p:spPr bwMode="auto">
            <a:xfrm rot="5400000">
              <a:off x="5392" y="770"/>
              <a:ext cx="0" cy="377"/>
            </a:xfrm>
            <a:prstGeom prst="lin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pSp>
          <p:nvGrpSpPr>
            <p:cNvPr id="21" name="Group 191"/>
            <p:cNvGrpSpPr>
              <a:grpSpLocks/>
            </p:cNvGrpSpPr>
            <p:nvPr/>
          </p:nvGrpSpPr>
          <p:grpSpPr bwMode="auto">
            <a:xfrm rot="5400000">
              <a:off x="4988" y="1337"/>
              <a:ext cx="805" cy="94"/>
              <a:chOff x="2248" y="1248"/>
              <a:chExt cx="648" cy="128"/>
            </a:xfrm>
          </p:grpSpPr>
          <p:grpSp>
            <p:nvGrpSpPr>
              <p:cNvPr id="22" name="Group 192"/>
              <p:cNvGrpSpPr>
                <a:grpSpLocks/>
              </p:cNvGrpSpPr>
              <p:nvPr/>
            </p:nvGrpSpPr>
            <p:grpSpPr bwMode="auto">
              <a:xfrm>
                <a:off x="2814" y="1248"/>
                <a:ext cx="82" cy="128"/>
                <a:chOff x="704" y="1880"/>
                <a:chExt cx="136" cy="128"/>
              </a:xfrm>
            </p:grpSpPr>
            <p:sp>
              <p:nvSpPr>
                <p:cNvPr id="160961" name="Line 193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2" name="Line 194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3" name="Group 195"/>
              <p:cNvGrpSpPr>
                <a:grpSpLocks/>
              </p:cNvGrpSpPr>
              <p:nvPr/>
            </p:nvGrpSpPr>
            <p:grpSpPr bwMode="auto">
              <a:xfrm>
                <a:off x="2727" y="1248"/>
                <a:ext cx="82" cy="128"/>
                <a:chOff x="704" y="1880"/>
                <a:chExt cx="136" cy="128"/>
              </a:xfrm>
            </p:grpSpPr>
            <p:sp>
              <p:nvSpPr>
                <p:cNvPr id="160964" name="Line 196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5" name="Line 197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4" name="Group 198"/>
              <p:cNvGrpSpPr>
                <a:grpSpLocks/>
              </p:cNvGrpSpPr>
              <p:nvPr/>
            </p:nvGrpSpPr>
            <p:grpSpPr bwMode="auto">
              <a:xfrm>
                <a:off x="2649" y="1248"/>
                <a:ext cx="83" cy="128"/>
                <a:chOff x="704" y="1880"/>
                <a:chExt cx="136" cy="128"/>
              </a:xfrm>
            </p:grpSpPr>
            <p:sp>
              <p:nvSpPr>
                <p:cNvPr id="160967" name="Line 199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68" name="Line 200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5" name="Group 201"/>
              <p:cNvGrpSpPr>
                <a:grpSpLocks/>
              </p:cNvGrpSpPr>
              <p:nvPr/>
            </p:nvGrpSpPr>
            <p:grpSpPr bwMode="auto">
              <a:xfrm>
                <a:off x="2567" y="1248"/>
                <a:ext cx="82" cy="128"/>
                <a:chOff x="704" y="1880"/>
                <a:chExt cx="136" cy="128"/>
              </a:xfrm>
            </p:grpSpPr>
            <p:sp>
              <p:nvSpPr>
                <p:cNvPr id="160970" name="Line 202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1" name="Line 203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6" name="Group 204"/>
              <p:cNvGrpSpPr>
                <a:grpSpLocks/>
              </p:cNvGrpSpPr>
              <p:nvPr/>
            </p:nvGrpSpPr>
            <p:grpSpPr bwMode="auto">
              <a:xfrm>
                <a:off x="2490" y="1248"/>
                <a:ext cx="82" cy="128"/>
                <a:chOff x="704" y="1880"/>
                <a:chExt cx="136" cy="128"/>
              </a:xfrm>
            </p:grpSpPr>
            <p:sp>
              <p:nvSpPr>
                <p:cNvPr id="160973" name="Line 205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4" name="Line 206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7" name="Group 207"/>
              <p:cNvGrpSpPr>
                <a:grpSpLocks/>
              </p:cNvGrpSpPr>
              <p:nvPr/>
            </p:nvGrpSpPr>
            <p:grpSpPr bwMode="auto">
              <a:xfrm>
                <a:off x="2408" y="1248"/>
                <a:ext cx="82" cy="128"/>
                <a:chOff x="704" y="1880"/>
                <a:chExt cx="136" cy="128"/>
              </a:xfrm>
            </p:grpSpPr>
            <p:sp>
              <p:nvSpPr>
                <p:cNvPr id="160976" name="Line 208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77" name="Line 209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8" name="Group 210"/>
              <p:cNvGrpSpPr>
                <a:grpSpLocks/>
              </p:cNvGrpSpPr>
              <p:nvPr/>
            </p:nvGrpSpPr>
            <p:grpSpPr bwMode="auto">
              <a:xfrm>
                <a:off x="2330" y="1248"/>
                <a:ext cx="82" cy="128"/>
                <a:chOff x="704" y="1880"/>
                <a:chExt cx="136" cy="128"/>
              </a:xfrm>
            </p:grpSpPr>
            <p:sp>
              <p:nvSpPr>
                <p:cNvPr id="160979" name="Line 211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80" name="Line 212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29" name="Group 213"/>
              <p:cNvGrpSpPr>
                <a:grpSpLocks/>
              </p:cNvGrpSpPr>
              <p:nvPr/>
            </p:nvGrpSpPr>
            <p:grpSpPr bwMode="auto">
              <a:xfrm>
                <a:off x="2248" y="1248"/>
                <a:ext cx="82" cy="128"/>
                <a:chOff x="704" y="1880"/>
                <a:chExt cx="136" cy="128"/>
              </a:xfrm>
            </p:grpSpPr>
            <p:sp>
              <p:nvSpPr>
                <p:cNvPr id="160982" name="Line 214"/>
                <p:cNvSpPr>
                  <a:spLocks noChangeShapeType="1"/>
                </p:cNvSpPr>
                <p:nvPr/>
              </p:nvSpPr>
              <p:spPr bwMode="auto">
                <a:xfrm flipV="1">
                  <a:off x="704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808080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60983" name="Line 215"/>
                <p:cNvSpPr>
                  <a:spLocks noChangeShapeType="1"/>
                </p:cNvSpPr>
                <p:nvPr/>
              </p:nvSpPr>
              <p:spPr bwMode="auto">
                <a:xfrm flipH="1" flipV="1">
                  <a:off x="768" y="1880"/>
                  <a:ext cx="72" cy="128"/>
                </a:xfrm>
                <a:prstGeom prst="line">
                  <a:avLst/>
                </a:prstGeom>
                <a:noFill/>
                <a:ln w="38100">
                  <a:solidFill>
                    <a:srgbClr val="B2B2B2"/>
                  </a:solidFill>
                  <a:round/>
                  <a:headEnd/>
                  <a:tailEnd/>
                </a:ln>
                <a:effectLst/>
              </p:spPr>
              <p:txBody>
                <a:bodyPr/>
                <a:lstStyle/>
                <a:p>
                  <a:endParaRPr lang="en-US"/>
                </a:p>
              </p:txBody>
            </p:sp>
          </p:grpSp>
        </p:grpSp>
        <p:sp>
          <p:nvSpPr>
            <p:cNvPr id="160984" name="Line 216"/>
            <p:cNvSpPr>
              <a:spLocks noChangeShapeType="1"/>
            </p:cNvSpPr>
            <p:nvPr/>
          </p:nvSpPr>
          <p:spPr bwMode="auto">
            <a:xfrm rot="5400000">
              <a:off x="4230" y="1316"/>
              <a:ext cx="0" cy="120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0985" name="Object 217"/>
            <p:cNvGraphicFramePr>
              <a:graphicFrameLocks noChangeAspect="1"/>
            </p:cNvGraphicFramePr>
            <p:nvPr/>
          </p:nvGraphicFramePr>
          <p:xfrm>
            <a:off x="4931" y="1798"/>
            <a:ext cx="245" cy="1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41200" imgH="164880" progId="Equation.3">
                    <p:embed/>
                  </p:oleObj>
                </mc:Choice>
                <mc:Fallback>
                  <p:oleObj name="Equation" r:id="rId16" imgW="241200" imgH="164880" progId="Equation.3">
                    <p:embed/>
                    <p:pic>
                      <p:nvPicPr>
                        <p:cNvPr id="160985" name="Object 2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931" y="1798"/>
                          <a:ext cx="245" cy="16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EF1EE445-6C00-B7B7-5F62-C5E7706250BF}"/>
              </a:ext>
            </a:extLst>
          </p:cNvPr>
          <p:cNvSpPr/>
          <p:nvPr/>
        </p:nvSpPr>
        <p:spPr>
          <a:xfrm>
            <a:off x="4992624" y="3223260"/>
            <a:ext cx="393192" cy="41148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0E95B4E-28C0-DDA2-B296-B25B23A63DED}"/>
              </a:ext>
            </a:extLst>
          </p:cNvPr>
          <p:cNvCxnSpPr>
            <a:stCxn id="5" idx="0"/>
          </p:cNvCxnSpPr>
          <p:nvPr/>
        </p:nvCxnSpPr>
        <p:spPr>
          <a:xfrm flipV="1">
            <a:off x="5189220" y="1682496"/>
            <a:ext cx="4572" cy="15407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1316770-2578-37E7-0CDE-C1DBCD6B8DCB}"/>
              </a:ext>
            </a:extLst>
          </p:cNvPr>
          <p:cNvCxnSpPr>
            <a:cxnSpLocks/>
          </p:cNvCxnSpPr>
          <p:nvPr/>
        </p:nvCxnSpPr>
        <p:spPr>
          <a:xfrm>
            <a:off x="5189220" y="3634740"/>
            <a:ext cx="0" cy="154076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BF7950-7020-F843-1597-7C3B7B8EE4DC}"/>
              </a:ext>
            </a:extLst>
          </p:cNvPr>
          <p:cNvSpPr txBox="1"/>
          <p:nvPr/>
        </p:nvSpPr>
        <p:spPr>
          <a:xfrm>
            <a:off x="5391435" y="4405122"/>
            <a:ext cx="7473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W</a:t>
            </a:r>
            <a:r>
              <a:rPr lang="en-US" sz="2400" baseline="-25000" dirty="0" err="1"/>
              <a:t>mE</a:t>
            </a:r>
            <a:endParaRPr lang="en-US" sz="2400" baseline="-25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7DB568-EFB1-A73E-2B0A-E6B5B633806B}"/>
              </a:ext>
            </a:extLst>
          </p:cNvPr>
          <p:cNvSpPr txBox="1"/>
          <p:nvPr/>
        </p:nvSpPr>
        <p:spPr>
          <a:xfrm>
            <a:off x="5382768" y="1925812"/>
            <a:ext cx="633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S</a:t>
            </a:r>
            <a:r>
              <a:rPr lang="en-US" sz="2400" baseline="-25000" dirty="0" err="1"/>
              <a:t>ms</a:t>
            </a:r>
            <a:endParaRPr 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396230485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/>
              <a:t>Comparison of position, velocity, acceleration</a:t>
            </a:r>
          </a:p>
        </p:txBody>
      </p:sp>
      <p:sp>
        <p:nvSpPr>
          <p:cNvPr id="18125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1200" y="1600201"/>
            <a:ext cx="3911600" cy="4525963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sz="2400"/>
              <a:t>Red is the displacement, green is the velocity, and blue is the acceleration</a:t>
            </a:r>
          </a:p>
          <a:p>
            <a:pPr>
              <a:lnSpc>
                <a:spcPct val="90000"/>
              </a:lnSpc>
            </a:pPr>
            <a:r>
              <a:rPr lang="en-US" sz="2400"/>
              <a:t>Acceleration and position are out of phase by </a:t>
            </a:r>
            <a:r>
              <a:rPr lang="en-US" sz="2400">
                <a:latin typeface="Sylfaen" pitchFamily="18" charset="0"/>
                <a:sym typeface="Symbol" pitchFamily="18" charset="2"/>
              </a:rPr>
              <a:t></a:t>
            </a:r>
          </a:p>
          <a:p>
            <a:pPr>
              <a:lnSpc>
                <a:spcPct val="90000"/>
              </a:lnSpc>
            </a:pPr>
            <a:r>
              <a:rPr lang="en-US" sz="2400"/>
              <a:t>Velocity and position are out of phase by </a:t>
            </a:r>
            <a:r>
              <a:rPr lang="en-US" sz="2400">
                <a:latin typeface="Sylfaen" pitchFamily="18" charset="0"/>
                <a:sym typeface="Symbol" pitchFamily="18" charset="2"/>
              </a:rPr>
              <a:t>/2</a:t>
            </a:r>
          </a:p>
          <a:p>
            <a:pPr>
              <a:lnSpc>
                <a:spcPct val="90000"/>
              </a:lnSpc>
            </a:pPr>
            <a:endParaRPr lang="en-US" sz="2400"/>
          </a:p>
        </p:txBody>
      </p:sp>
      <p:pic>
        <p:nvPicPr>
          <p:cNvPr id="1812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7101" y="1762125"/>
            <a:ext cx="4278313" cy="37274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14" name="Rectangle 2"/>
          <p:cNvSpPr>
            <a:spLocks noGrp="1" noChangeArrowheads="1"/>
          </p:cNvSpPr>
          <p:nvPr>
            <p:ph type="title"/>
          </p:nvPr>
        </p:nvSpPr>
        <p:spPr>
          <a:xfrm>
            <a:off x="3124200" y="0"/>
            <a:ext cx="7086600" cy="1143000"/>
          </a:xfrm>
        </p:spPr>
        <p:txBody>
          <a:bodyPr/>
          <a:lstStyle/>
          <a:p>
            <a:r>
              <a:rPr lang="en-US" sz="2800"/>
              <a:t>Comparison: SHM Position and Velocity</a:t>
            </a:r>
          </a:p>
        </p:txBody>
      </p:sp>
      <p:graphicFrame>
        <p:nvGraphicFramePr>
          <p:cNvPr id="166918" name="Object 6"/>
          <p:cNvGraphicFramePr>
            <a:graphicFrameLocks noChangeAspect="1"/>
          </p:cNvGraphicFramePr>
          <p:nvPr/>
        </p:nvGraphicFramePr>
        <p:xfrm>
          <a:off x="2105025" y="2049463"/>
          <a:ext cx="3557588" cy="608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46040" imgH="228600" progId="Equation.3">
                  <p:embed/>
                </p:oleObj>
              </mc:Choice>
              <mc:Fallback>
                <p:oleObj name="Equation" r:id="rId2" imgW="1346040" imgH="228600" progId="Equation.3">
                  <p:embed/>
                  <p:pic>
                    <p:nvPicPr>
                      <p:cNvPr id="166918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5025" y="2049463"/>
                        <a:ext cx="3557588" cy="608012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6919" name="Object 7"/>
          <p:cNvGraphicFramePr>
            <a:graphicFrameLocks noChangeAspect="1"/>
          </p:cNvGraphicFramePr>
          <p:nvPr/>
        </p:nvGraphicFramePr>
        <p:xfrm>
          <a:off x="2008188" y="2947989"/>
          <a:ext cx="3910012" cy="642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396800" imgH="228600" progId="Equation.3">
                  <p:embed/>
                </p:oleObj>
              </mc:Choice>
              <mc:Fallback>
                <p:oleObj name="Equation" r:id="rId4" imgW="1396800" imgH="228600" progId="Equation.3">
                  <p:embed/>
                  <p:pic>
                    <p:nvPicPr>
                      <p:cNvPr id="166919" name="Object 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08188" y="2947989"/>
                        <a:ext cx="3910012" cy="642937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oup 27"/>
          <p:cNvGrpSpPr>
            <a:grpSpLocks/>
          </p:cNvGrpSpPr>
          <p:nvPr/>
        </p:nvGrpSpPr>
        <p:grpSpPr bwMode="auto">
          <a:xfrm>
            <a:off x="4397375" y="1174751"/>
            <a:ext cx="5989638" cy="5692775"/>
            <a:chOff x="1810" y="740"/>
            <a:chExt cx="3773" cy="3586"/>
          </a:xfrm>
        </p:grpSpPr>
        <p:pic>
          <p:nvPicPr>
            <p:cNvPr id="166916" name="Picture 4"/>
            <p:cNvPicPr>
              <a:picLocks noChangeAspect="1" noChangeArrowheads="1"/>
            </p:cNvPicPr>
            <p:nvPr/>
          </p:nvPicPr>
          <p:blipFill>
            <a:blip r:embed="rId6" cstate="print"/>
            <a:srcRect/>
            <a:stretch>
              <a:fillRect/>
            </a:stretch>
          </p:blipFill>
          <p:spPr bwMode="auto">
            <a:xfrm>
              <a:off x="3424" y="302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66920" name="Text Box 8"/>
            <p:cNvSpPr txBox="1">
              <a:spLocks noChangeArrowheads="1"/>
            </p:cNvSpPr>
            <p:nvPr/>
          </p:nvSpPr>
          <p:spPr bwMode="auto">
            <a:xfrm>
              <a:off x="4856" y="4148"/>
              <a:ext cx="155" cy="15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T</a:t>
              </a:r>
            </a:p>
          </p:txBody>
        </p:sp>
        <p:sp>
          <p:nvSpPr>
            <p:cNvPr id="166921" name="Text Box 9"/>
            <p:cNvSpPr txBox="1">
              <a:spLocks noChangeArrowheads="1"/>
            </p:cNvSpPr>
            <p:nvPr/>
          </p:nvSpPr>
          <p:spPr bwMode="auto">
            <a:xfrm>
              <a:off x="4076" y="4172"/>
              <a:ext cx="231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T/2</a:t>
              </a:r>
            </a:p>
          </p:txBody>
        </p:sp>
        <p:pic>
          <p:nvPicPr>
            <p:cNvPr id="166922" name="Picture 10"/>
            <p:cNvPicPr>
              <a:picLocks noChangeAspect="1" noChangeArrowheads="1"/>
            </p:cNvPicPr>
            <p:nvPr/>
          </p:nvPicPr>
          <p:blipFill>
            <a:blip r:embed="rId7" cstate="print"/>
            <a:srcRect/>
            <a:stretch>
              <a:fillRect/>
            </a:stretch>
          </p:blipFill>
          <p:spPr bwMode="auto">
            <a:xfrm>
              <a:off x="3424" y="740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66923" name="Picture 11"/>
            <p:cNvPicPr>
              <a:picLocks noChangeAspect="1" noChangeArrowheads="1"/>
            </p:cNvPicPr>
            <p:nvPr/>
          </p:nvPicPr>
          <p:blipFill>
            <a:blip r:embed="rId8" cstate="print"/>
            <a:srcRect/>
            <a:stretch>
              <a:fillRect/>
            </a:stretch>
          </p:blipFill>
          <p:spPr bwMode="auto">
            <a:xfrm>
              <a:off x="3432" y="1796"/>
              <a:ext cx="1525" cy="10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66924" name="Line 12"/>
            <p:cNvSpPr>
              <a:spLocks noChangeShapeType="1"/>
            </p:cNvSpPr>
            <p:nvPr/>
          </p:nvSpPr>
          <p:spPr bwMode="auto">
            <a:xfrm>
              <a:off x="4169" y="1135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5" name="Line 13"/>
            <p:cNvSpPr>
              <a:spLocks noChangeShapeType="1"/>
            </p:cNvSpPr>
            <p:nvPr/>
          </p:nvSpPr>
          <p:spPr bwMode="auto">
            <a:xfrm>
              <a:off x="4889" y="1087"/>
              <a:ext cx="15" cy="301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6" name="Line 14"/>
            <p:cNvSpPr>
              <a:spLocks noChangeShapeType="1"/>
            </p:cNvSpPr>
            <p:nvPr/>
          </p:nvSpPr>
          <p:spPr bwMode="auto">
            <a:xfrm>
              <a:off x="3416" y="2517"/>
              <a:ext cx="368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graphicFrame>
          <p:nvGraphicFramePr>
            <p:cNvPr id="166927" name="Object 15"/>
            <p:cNvGraphicFramePr>
              <a:graphicFrameLocks noChangeAspect="1"/>
            </p:cNvGraphicFramePr>
            <p:nvPr/>
          </p:nvGraphicFramePr>
          <p:xfrm>
            <a:off x="3019" y="2401"/>
            <a:ext cx="365" cy="22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380880" imgH="228600" progId="Equation.3">
                    <p:embed/>
                  </p:oleObj>
                </mc:Choice>
                <mc:Fallback>
                  <p:oleObj name="Equation" r:id="rId9" imgW="380880" imgH="228600" progId="Equation.3">
                    <p:embed/>
                    <p:pic>
                      <p:nvPicPr>
                        <p:cNvPr id="166927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019" y="2401"/>
                          <a:ext cx="365" cy="22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66928" name="Line 16"/>
            <p:cNvSpPr>
              <a:spLocks noChangeShapeType="1"/>
            </p:cNvSpPr>
            <p:nvPr/>
          </p:nvSpPr>
          <p:spPr bwMode="auto">
            <a:xfrm>
              <a:off x="2961" y="3422"/>
              <a:ext cx="375" cy="11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29" name="Text Box 17"/>
            <p:cNvSpPr txBox="1">
              <a:spLocks noChangeArrowheads="1"/>
            </p:cNvSpPr>
            <p:nvPr/>
          </p:nvSpPr>
          <p:spPr bwMode="auto">
            <a:xfrm>
              <a:off x="3593" y="3076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x</a:t>
              </a:r>
            </a:p>
          </p:txBody>
        </p:sp>
        <p:sp>
          <p:nvSpPr>
            <p:cNvPr id="166930" name="Text Box 18"/>
            <p:cNvSpPr txBox="1">
              <a:spLocks noChangeArrowheads="1"/>
            </p:cNvSpPr>
            <p:nvPr/>
          </p:nvSpPr>
          <p:spPr bwMode="auto">
            <a:xfrm>
              <a:off x="3663" y="3748"/>
              <a:ext cx="156" cy="1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000"/>
                <a:t>v</a:t>
              </a:r>
            </a:p>
          </p:txBody>
        </p:sp>
        <p:sp>
          <p:nvSpPr>
            <p:cNvPr id="166931" name="Line 19"/>
            <p:cNvSpPr>
              <a:spLocks noChangeShapeType="1"/>
            </p:cNvSpPr>
            <p:nvPr/>
          </p:nvSpPr>
          <p:spPr bwMode="auto">
            <a:xfrm flipV="1">
              <a:off x="2954" y="3054"/>
              <a:ext cx="390" cy="35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2" name="Text Box 20"/>
            <p:cNvSpPr txBox="1">
              <a:spLocks noChangeArrowheads="1"/>
            </p:cNvSpPr>
            <p:nvPr/>
          </p:nvSpPr>
          <p:spPr bwMode="auto">
            <a:xfrm>
              <a:off x="1810" y="3305"/>
              <a:ext cx="1096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x =x</a:t>
              </a:r>
              <a:r>
                <a:rPr lang="en-US" sz="1600" i="1" baseline="-25000"/>
                <a:t>max</a:t>
              </a:r>
              <a:r>
                <a:rPr lang="en-US" sz="1600"/>
                <a:t>, </a:t>
              </a:r>
              <a:r>
                <a:rPr lang="en-US" sz="1600" i="1"/>
                <a:t>v=0</a:t>
              </a:r>
            </a:p>
          </p:txBody>
        </p:sp>
        <p:sp>
          <p:nvSpPr>
            <p:cNvPr id="166933" name="Text Box 21"/>
            <p:cNvSpPr txBox="1">
              <a:spLocks noChangeArrowheads="1"/>
            </p:cNvSpPr>
            <p:nvPr/>
          </p:nvSpPr>
          <p:spPr bwMode="auto">
            <a:xfrm>
              <a:off x="1819" y="3721"/>
              <a:ext cx="1069" cy="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r>
                <a:rPr lang="en-US" sz="1600"/>
                <a:t>When </a:t>
              </a:r>
              <a:r>
                <a:rPr lang="en-US" sz="1600" i="1"/>
                <a:t>v=v</a:t>
              </a:r>
              <a:r>
                <a:rPr lang="en-US" sz="1600" i="1" baseline="-25000"/>
                <a:t>max</a:t>
              </a:r>
              <a:r>
                <a:rPr lang="en-US" sz="1600" i="1"/>
                <a:t>, x=0</a:t>
              </a:r>
            </a:p>
          </p:txBody>
        </p:sp>
        <p:sp>
          <p:nvSpPr>
            <p:cNvPr id="166934" name="Line 22"/>
            <p:cNvSpPr>
              <a:spLocks noChangeShapeType="1"/>
            </p:cNvSpPr>
            <p:nvPr/>
          </p:nvSpPr>
          <p:spPr bwMode="auto">
            <a:xfrm flipV="1">
              <a:off x="2901" y="3759"/>
              <a:ext cx="795" cy="3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5" name="Line 23"/>
            <p:cNvSpPr>
              <a:spLocks noChangeShapeType="1"/>
            </p:cNvSpPr>
            <p:nvPr/>
          </p:nvSpPr>
          <p:spPr bwMode="auto">
            <a:xfrm flipV="1">
              <a:off x="2904" y="3551"/>
              <a:ext cx="840" cy="24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6" name="Line 24"/>
            <p:cNvSpPr>
              <a:spLocks noChangeShapeType="1"/>
            </p:cNvSpPr>
            <p:nvPr/>
          </p:nvSpPr>
          <p:spPr bwMode="auto">
            <a:xfrm flipV="1">
              <a:off x="4544" y="2927"/>
              <a:ext cx="1" cy="57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66937" name="Text Box 25"/>
            <p:cNvSpPr txBox="1">
              <a:spLocks noChangeArrowheads="1"/>
            </p:cNvSpPr>
            <p:nvPr/>
          </p:nvSpPr>
          <p:spPr bwMode="auto">
            <a:xfrm>
              <a:off x="4533" y="2646"/>
              <a:ext cx="1050" cy="212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r>
                <a:rPr lang="en-US" sz="1600"/>
                <a:t>90</a:t>
              </a:r>
              <a:r>
                <a:rPr lang="en-US" sz="1600">
                  <a:sym typeface="Symbol" pitchFamily="18" charset="2"/>
                </a:rPr>
                <a:t> out of phase</a:t>
              </a:r>
            </a:p>
          </p:txBody>
        </p:sp>
        <p:sp>
          <p:nvSpPr>
            <p:cNvPr id="166938" name="Line 26"/>
            <p:cNvSpPr>
              <a:spLocks noChangeShapeType="1"/>
            </p:cNvSpPr>
            <p:nvPr/>
          </p:nvSpPr>
          <p:spPr bwMode="auto">
            <a:xfrm>
              <a:off x="4565" y="2949"/>
              <a:ext cx="323" cy="1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 of Lecture 2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Winter 2007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R. Todd Lines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FE37BE-2BA8-4184-B16F-FB7D47E262F9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</TotalTime>
  <Words>2355</Words>
  <Application>Microsoft Office PowerPoint</Application>
  <PresentationFormat>Widescreen</PresentationFormat>
  <Paragraphs>564</Paragraphs>
  <Slides>61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9" baseType="lpstr">
      <vt:lpstr>Aptos</vt:lpstr>
      <vt:lpstr>Aptos Display</vt:lpstr>
      <vt:lpstr>Arial</vt:lpstr>
      <vt:lpstr>Sylfaen</vt:lpstr>
      <vt:lpstr>Symbol</vt:lpstr>
      <vt:lpstr>Wingdings</vt:lpstr>
      <vt:lpstr>Office Theme</vt:lpstr>
      <vt:lpstr>Equation</vt:lpstr>
      <vt:lpstr>Physics 123</vt:lpstr>
      <vt:lpstr>Question 6.9</vt:lpstr>
      <vt:lpstr>Question 6.8</vt:lpstr>
      <vt:lpstr>Question 6.10</vt:lpstr>
      <vt:lpstr>PowerPoint Presentation</vt:lpstr>
      <vt:lpstr>Comparison: SHM Position and Velocity</vt:lpstr>
      <vt:lpstr>Question 123.1.9 </vt:lpstr>
      <vt:lpstr>Question 6.10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Lecture 2</vt:lpstr>
      <vt:lpstr>PowerPoint Presentation</vt:lpstr>
      <vt:lpstr>PowerPoint Presentation</vt:lpstr>
      <vt:lpstr>PowerPoint Presentation</vt:lpstr>
      <vt:lpstr>Problem</vt:lpstr>
      <vt:lpstr>PowerPoint Presentation</vt:lpstr>
      <vt:lpstr>Problem</vt:lpstr>
      <vt:lpstr>Problem</vt:lpstr>
      <vt:lpstr>PowerPoint Presentation</vt:lpstr>
      <vt:lpstr>Problem</vt:lpstr>
      <vt:lpstr>PowerPoint Presentation</vt:lpstr>
      <vt:lpstr>Problem</vt:lpstr>
      <vt:lpstr>PowerPoint Presentation</vt:lpstr>
      <vt:lpstr>Question 123.2.1</vt:lpstr>
      <vt:lpstr>Question 123.2.2</vt:lpstr>
      <vt:lpstr>Question 123.2.3</vt:lpstr>
      <vt:lpstr>Question 123.2.4</vt:lpstr>
      <vt:lpstr>Question 123.2.5</vt:lpstr>
      <vt:lpstr>Question 123.2.7</vt:lpstr>
      <vt:lpstr>Question 123.2.8</vt:lpstr>
      <vt:lpstr>Question 123.2.9</vt:lpstr>
      <vt:lpstr>Question 123.2.9 (revised)</vt:lpstr>
      <vt:lpstr>Kinetic Energy</vt:lpstr>
      <vt:lpstr>Potential Energy</vt:lpstr>
      <vt:lpstr>PowerPoint Presentation</vt:lpstr>
      <vt:lpstr>Total Mechanical Energy</vt:lpstr>
      <vt:lpstr>PowerPoint Presentation</vt:lpstr>
      <vt:lpstr>Energy as a function of time</vt:lpstr>
      <vt:lpstr>PowerPoint Presentation</vt:lpstr>
      <vt:lpstr>SHM Restoring Force</vt:lpstr>
      <vt:lpstr>SHM Acceleration</vt:lpstr>
      <vt:lpstr>Start with a horizontal block-spring System</vt:lpstr>
      <vt:lpstr>Solutions to the DEQ</vt:lpstr>
      <vt:lpstr>The Solution!</vt:lpstr>
      <vt:lpstr>Solution Properties</vt:lpstr>
      <vt:lpstr>Period and Frequency</vt:lpstr>
      <vt:lpstr>Question 123.2.6</vt:lpstr>
      <vt:lpstr>Velocity and Acceleration</vt:lpstr>
      <vt:lpstr>SHM Acceleration</vt:lpstr>
      <vt:lpstr>SHM Velocity</vt:lpstr>
      <vt:lpstr>PowerPoint Presentation</vt:lpstr>
      <vt:lpstr>Hanging Springs</vt:lpstr>
      <vt:lpstr>PowerPoint Presentation</vt:lpstr>
      <vt:lpstr>Comparison of position, velocity, acceleration</vt:lpstr>
      <vt:lpstr>Comparison: SHM Position and Velocity</vt:lpstr>
      <vt:lpstr>End of Lecture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2025-04-18T20:36:11Z</dcterms:created>
  <dcterms:modified xsi:type="dcterms:W3CDTF">2026-01-07T19:10:54Z</dcterms:modified>
</cp:coreProperties>
</file>