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414" r:id="rId3"/>
    <p:sldId id="299" r:id="rId4"/>
    <p:sldId id="465" r:id="rId5"/>
    <p:sldId id="471" r:id="rId6"/>
    <p:sldId id="474" r:id="rId7"/>
    <p:sldId id="466" r:id="rId8"/>
    <p:sldId id="467" r:id="rId9"/>
    <p:sldId id="468" r:id="rId10"/>
    <p:sldId id="475" r:id="rId11"/>
    <p:sldId id="473" r:id="rId12"/>
    <p:sldId id="377" r:id="rId13"/>
    <p:sldId id="378" r:id="rId14"/>
    <p:sldId id="420" r:id="rId15"/>
    <p:sldId id="379" r:id="rId16"/>
    <p:sldId id="380" r:id="rId17"/>
    <p:sldId id="421" r:id="rId18"/>
    <p:sldId id="381" r:id="rId19"/>
    <p:sldId id="382" r:id="rId20"/>
    <p:sldId id="383" r:id="rId21"/>
    <p:sldId id="384" r:id="rId22"/>
    <p:sldId id="385" r:id="rId23"/>
    <p:sldId id="386" r:id="rId24"/>
    <p:sldId id="387" r:id="rId25"/>
    <p:sldId id="388" r:id="rId26"/>
    <p:sldId id="427" r:id="rId27"/>
    <p:sldId id="431" r:id="rId28"/>
    <p:sldId id="432" r:id="rId29"/>
    <p:sldId id="433" r:id="rId30"/>
    <p:sldId id="434" r:id="rId31"/>
    <p:sldId id="435" r:id="rId32"/>
    <p:sldId id="436" r:id="rId33"/>
    <p:sldId id="422" r:id="rId34"/>
    <p:sldId id="464" r:id="rId35"/>
    <p:sldId id="298" r:id="rId36"/>
    <p:sldId id="257" r:id="rId37"/>
    <p:sldId id="282" r:id="rId38"/>
    <p:sldId id="296" r:id="rId39"/>
    <p:sldId id="287" r:id="rId40"/>
    <p:sldId id="284" r:id="rId41"/>
    <p:sldId id="285" r:id="rId42"/>
    <p:sldId id="288" r:id="rId43"/>
    <p:sldId id="269" r:id="rId44"/>
    <p:sldId id="270" r:id="rId45"/>
    <p:sldId id="283" r:id="rId46"/>
    <p:sldId id="271" r:id="rId47"/>
    <p:sldId id="289" r:id="rId48"/>
    <p:sldId id="272" r:id="rId49"/>
    <p:sldId id="273" r:id="rId50"/>
    <p:sldId id="290" r:id="rId51"/>
    <p:sldId id="275" r:id="rId52"/>
    <p:sldId id="276" r:id="rId53"/>
    <p:sldId id="286" r:id="rId54"/>
    <p:sldId id="277" r:id="rId55"/>
    <p:sldId id="278" r:id="rId56"/>
    <p:sldId id="279" r:id="rId57"/>
    <p:sldId id="280" r:id="rId58"/>
    <p:sldId id="281" r:id="rId59"/>
    <p:sldId id="258" r:id="rId60"/>
    <p:sldId id="259" r:id="rId61"/>
    <p:sldId id="291" r:id="rId62"/>
    <p:sldId id="260" r:id="rId63"/>
    <p:sldId id="261" r:id="rId64"/>
    <p:sldId id="292" r:id="rId65"/>
    <p:sldId id="262" r:id="rId66"/>
    <p:sldId id="293" r:id="rId67"/>
    <p:sldId id="295" r:id="rId68"/>
    <p:sldId id="268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66" y="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delSld">
      <pc:chgData name="Todd Lines" userId="afaf7c3a-e8aa-4568-882a-02ad8f9e19b0" providerId="ADAL" clId="{5FF5AC1B-ABA9-43D7-A1E3-2D92732CD6E2}" dt="2026-08-26T21:45:10.520" v="0" actId="2696"/>
      <pc:docMkLst>
        <pc:docMk/>
      </pc:docMkLst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53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54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55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56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57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58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59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60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61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62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63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64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65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66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67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68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69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70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71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72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73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74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375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11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13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16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17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18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19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69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70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76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78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79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80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81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82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83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2370672761" sldId="485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1278518977" sldId="486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87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2761796057" sldId="488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89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91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2545873160" sldId="494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95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879635185" sldId="496"/>
        </pc:sldMkLst>
      </pc:sldChg>
      <pc:sldChg chg="del">
        <pc:chgData name="Todd Lines" userId="afaf7c3a-e8aa-4568-882a-02ad8f9e19b0" providerId="ADAL" clId="{5FF5AC1B-ABA9-43D7-A1E3-2D92732CD6E2}" dt="2026-08-26T21:45:10.520" v="0" actId="2696"/>
        <pc:sldMkLst>
          <pc:docMk/>
          <pc:sldMk cId="0" sldId="4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477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11-13, 2006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3C204-7370-49B1-B4DE-337EEA5F26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477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BC407-7701-6559-87FB-1B7CA55B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Oct 11-13, 2006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7EED7-9F67-3C07-AC94-0CB2B5A31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05AB1-82C0-F296-9FE9-228565C82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/>
            </a:lvl1pPr>
          </a:lstStyle>
          <a:p>
            <a:fld id="{21AF55AC-2FDF-40C2-82EF-BF0E80D16E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384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808C2-2C4A-462A-A26D-8794EDEB030E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EDF18-A3C6-46F0-90BD-C671D18E8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2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oleObject" Target="../embeddings/oleObject13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oleObject" Target="../embeddings/oleObject23.bin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12" Type="http://schemas.openxmlformats.org/officeDocument/2006/relationships/image" Target="../media/image38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0.bin"/><Relationship Id="rId11" Type="http://schemas.openxmlformats.org/officeDocument/2006/relationships/oleObject" Target="../embeddings/oleObject22.bin"/><Relationship Id="rId5" Type="http://schemas.openxmlformats.org/officeDocument/2006/relationships/image" Target="../media/image34.wmf"/><Relationship Id="rId10" Type="http://schemas.openxmlformats.org/officeDocument/2006/relationships/image" Target="../media/image37.wmf"/><Relationship Id="rId4" Type="http://schemas.openxmlformats.org/officeDocument/2006/relationships/oleObject" Target="../embeddings/oleObject19.bin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39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emf"/><Relationship Id="rId4" Type="http://schemas.openxmlformats.org/officeDocument/2006/relationships/oleObject" Target="../embeddings/oleObject27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oleObject" Target="../embeddings/oleObject29.bin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51.wmf"/><Relationship Id="rId7" Type="http://schemas.openxmlformats.org/officeDocument/2006/relationships/image" Target="../media/image53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52.e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54.e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C5C2E-A475-A5A5-8ADF-A4C0ADB0C2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367BB-E6F0-2F12-4966-DBAE4A1635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50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>
            <a:extLst>
              <a:ext uri="{FF2B5EF4-FFF2-40B4-BE49-F238E27FC236}">
                <a16:creationId xmlns:a16="http://schemas.microsoft.com/office/drawing/2014/main" id="{3F8BF170-9186-A2CA-8DDF-97DD30FE90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</a:t>
            </a:r>
          </a:p>
        </p:txBody>
      </p:sp>
      <p:sp>
        <p:nvSpPr>
          <p:cNvPr id="49155" name="Rectangle 5">
            <a:extLst>
              <a:ext uri="{FF2B5EF4-FFF2-40B4-BE49-F238E27FC236}">
                <a16:creationId xmlns:a16="http://schemas.microsoft.com/office/drawing/2014/main" id="{54F8142C-FF63-D53F-81E9-21326C97EE8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5"/>
          <p:cNvSpPr>
            <a:spLocks noChangeArrowheads="1"/>
          </p:cNvSpPr>
          <p:nvPr/>
        </p:nvSpPr>
        <p:spPr bwMode="auto">
          <a:xfrm rot="992343">
            <a:off x="7648992" y="1876047"/>
            <a:ext cx="107389" cy="37662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Rectangle 15"/>
          <p:cNvSpPr>
            <a:spLocks noChangeArrowheads="1"/>
          </p:cNvSpPr>
          <p:nvPr/>
        </p:nvSpPr>
        <p:spPr bwMode="auto">
          <a:xfrm rot="16878347">
            <a:off x="7739937" y="2091022"/>
            <a:ext cx="113533" cy="351821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 rot="18465584" flipH="1">
            <a:off x="1931806" y="3767926"/>
            <a:ext cx="303845" cy="943541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 rot="15133295" flipH="1">
            <a:off x="1257414" y="3708641"/>
            <a:ext cx="334176" cy="886584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>
          <a:xfrm>
            <a:off x="766355" y="4437014"/>
            <a:ext cx="8190411" cy="431074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20447711">
            <a:off x="585652" y="3215641"/>
            <a:ext cx="7848600" cy="1524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shade val="30000"/>
                  <a:satMod val="115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80255" y="3455126"/>
            <a:ext cx="609600" cy="1524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80255" y="3241767"/>
            <a:ext cx="609600" cy="6096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432655" y="3354978"/>
            <a:ext cx="304800" cy="3048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20516964">
            <a:off x="729339" y="4225843"/>
            <a:ext cx="838200" cy="1524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 flipH="1">
            <a:off x="522515" y="4861556"/>
            <a:ext cx="8190411" cy="431074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 flipH="1">
            <a:off x="740230" y="4687384"/>
            <a:ext cx="4406536" cy="407125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 flipV="1">
            <a:off x="4920342" y="4748344"/>
            <a:ext cx="3596640" cy="359230"/>
          </a:xfrm>
          <a:custGeom>
            <a:avLst/>
            <a:gdLst>
              <a:gd name="connsiteX0" fmla="*/ 0 w 8190411"/>
              <a:gd name="connsiteY0" fmla="*/ 287383 h 431074"/>
              <a:gd name="connsiteX1" fmla="*/ 1175657 w 8190411"/>
              <a:gd name="connsiteY1" fmla="*/ 182880 h 431074"/>
              <a:gd name="connsiteX2" fmla="*/ 1776548 w 8190411"/>
              <a:gd name="connsiteY2" fmla="*/ 365760 h 431074"/>
              <a:gd name="connsiteX3" fmla="*/ 2599508 w 8190411"/>
              <a:gd name="connsiteY3" fmla="*/ 195943 h 431074"/>
              <a:gd name="connsiteX4" fmla="*/ 3487782 w 8190411"/>
              <a:gd name="connsiteY4" fmla="*/ 352697 h 431074"/>
              <a:gd name="connsiteX5" fmla="*/ 4062548 w 8190411"/>
              <a:gd name="connsiteY5" fmla="*/ 143691 h 431074"/>
              <a:gd name="connsiteX6" fmla="*/ 4689565 w 8190411"/>
              <a:gd name="connsiteY6" fmla="*/ 352697 h 431074"/>
              <a:gd name="connsiteX7" fmla="*/ 5656217 w 8190411"/>
              <a:gd name="connsiteY7" fmla="*/ 0 h 431074"/>
              <a:gd name="connsiteX8" fmla="*/ 6635931 w 8190411"/>
              <a:gd name="connsiteY8" fmla="*/ 431074 h 431074"/>
              <a:gd name="connsiteX9" fmla="*/ 7184571 w 8190411"/>
              <a:gd name="connsiteY9" fmla="*/ 261257 h 431074"/>
              <a:gd name="connsiteX10" fmla="*/ 7707085 w 8190411"/>
              <a:gd name="connsiteY10" fmla="*/ 391885 h 431074"/>
              <a:gd name="connsiteX11" fmla="*/ 8190411 w 8190411"/>
              <a:gd name="connsiteY11" fmla="*/ 169817 h 43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90411" h="431074">
                <a:moveTo>
                  <a:pt x="0" y="287383"/>
                </a:moveTo>
                <a:lnTo>
                  <a:pt x="1175657" y="182880"/>
                </a:lnTo>
                <a:lnTo>
                  <a:pt x="1776548" y="365760"/>
                </a:lnTo>
                <a:lnTo>
                  <a:pt x="2599508" y="195943"/>
                </a:lnTo>
                <a:lnTo>
                  <a:pt x="3487782" y="352697"/>
                </a:lnTo>
                <a:lnTo>
                  <a:pt x="4062548" y="143691"/>
                </a:lnTo>
                <a:lnTo>
                  <a:pt x="4689565" y="352697"/>
                </a:lnTo>
                <a:lnTo>
                  <a:pt x="5656217" y="0"/>
                </a:lnTo>
                <a:lnTo>
                  <a:pt x="6635931" y="431074"/>
                </a:lnTo>
                <a:lnTo>
                  <a:pt x="7184571" y="261257"/>
                </a:lnTo>
                <a:lnTo>
                  <a:pt x="7707085" y="391885"/>
                </a:lnTo>
                <a:lnTo>
                  <a:pt x="8190411" y="169817"/>
                </a:lnTo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082042" y="3020743"/>
            <a:ext cx="624695" cy="624988"/>
          </a:xfrm>
          <a:prstGeom prst="ellipse">
            <a:avLst/>
          </a:prstGeom>
          <a:solidFill>
            <a:srgbClr val="002060"/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 rot="5644024" flipH="1">
            <a:off x="1597365" y="3556830"/>
            <a:ext cx="135752" cy="362696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Oval 12"/>
          <p:cNvSpPr>
            <a:spLocks noChangeArrowheads="1"/>
          </p:cNvSpPr>
          <p:nvPr/>
        </p:nvSpPr>
        <p:spPr bwMode="auto">
          <a:xfrm rot="1393558" flipH="1">
            <a:off x="935470" y="3148725"/>
            <a:ext cx="618867" cy="1176507"/>
          </a:xfrm>
          <a:prstGeom prst="ellipse">
            <a:avLst/>
          </a:prstGeom>
          <a:solidFill>
            <a:srgbClr val="002060"/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 rot="2315698" flipH="1">
            <a:off x="1244896" y="3184855"/>
            <a:ext cx="306115" cy="61315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Oval 11"/>
          <p:cNvSpPr>
            <a:spLocks noChangeArrowheads="1"/>
          </p:cNvSpPr>
          <p:nvPr/>
        </p:nvSpPr>
        <p:spPr bwMode="auto">
          <a:xfrm rot="872245" flipH="1">
            <a:off x="1637568" y="2733921"/>
            <a:ext cx="407354" cy="602104"/>
          </a:xfrm>
          <a:prstGeom prst="ellipse">
            <a:avLst/>
          </a:prstGeom>
          <a:solidFill>
            <a:srgbClr val="00206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 rot="6001384" flipH="1">
            <a:off x="1338148" y="3473070"/>
            <a:ext cx="211361" cy="669481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 rot="9139379" flipH="1">
            <a:off x="2308519" y="4289731"/>
            <a:ext cx="572604" cy="28697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 rot="335058" flipH="1">
            <a:off x="2392846" y="4435251"/>
            <a:ext cx="180804" cy="190574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 rot="16000103" flipH="1">
            <a:off x="1208369" y="3825061"/>
            <a:ext cx="338527" cy="886584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 rot="18480649" flipH="1">
            <a:off x="1874289" y="3925757"/>
            <a:ext cx="309077" cy="974826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 rot="4229478" flipH="1">
            <a:off x="1636757" y="3817685"/>
            <a:ext cx="290607" cy="21427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 flipH="1">
            <a:off x="1394392" y="2547267"/>
            <a:ext cx="740708" cy="767032"/>
            <a:chOff x="6825343" y="1110343"/>
            <a:chExt cx="1937658" cy="2079171"/>
          </a:xfrm>
        </p:grpSpPr>
        <p:sp>
          <p:nvSpPr>
            <p:cNvPr id="31" name="Freeform 30"/>
            <p:cNvSpPr/>
            <p:nvPr/>
          </p:nvSpPr>
          <p:spPr>
            <a:xfrm>
              <a:off x="6901543" y="1110343"/>
              <a:ext cx="1861458" cy="1828800"/>
            </a:xfrm>
            <a:custGeom>
              <a:avLst/>
              <a:gdLst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611086 w 1839686"/>
                <a:gd name="connsiteY5" fmla="*/ 1480457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687286 w 1839686"/>
                <a:gd name="connsiteY5" fmla="*/ 1534885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39686"/>
                <a:gd name="connsiteY0" fmla="*/ 870857 h 1828800"/>
                <a:gd name="connsiteX1" fmla="*/ 849086 w 1839686"/>
                <a:gd name="connsiteY1" fmla="*/ 903514 h 1828800"/>
                <a:gd name="connsiteX2" fmla="*/ 1077686 w 1839686"/>
                <a:gd name="connsiteY2" fmla="*/ 1208314 h 1828800"/>
                <a:gd name="connsiteX3" fmla="*/ 838200 w 1839686"/>
                <a:gd name="connsiteY3" fmla="*/ 1654628 h 1828800"/>
                <a:gd name="connsiteX4" fmla="*/ 1219200 w 1839686"/>
                <a:gd name="connsiteY4" fmla="*/ 1828800 h 1828800"/>
                <a:gd name="connsiteX5" fmla="*/ 1719943 w 1839686"/>
                <a:gd name="connsiteY5" fmla="*/ 1556656 h 1828800"/>
                <a:gd name="connsiteX6" fmla="*/ 1796143 w 1839686"/>
                <a:gd name="connsiteY6" fmla="*/ 1273628 h 1828800"/>
                <a:gd name="connsiteX7" fmla="*/ 1839686 w 1839686"/>
                <a:gd name="connsiteY7" fmla="*/ 859971 h 1828800"/>
                <a:gd name="connsiteX8" fmla="*/ 1730829 w 1839686"/>
                <a:gd name="connsiteY8" fmla="*/ 402771 h 1828800"/>
                <a:gd name="connsiteX9" fmla="*/ 1295400 w 1839686"/>
                <a:gd name="connsiteY9" fmla="*/ 32657 h 1828800"/>
                <a:gd name="connsiteX10" fmla="*/ 816429 w 1839686"/>
                <a:gd name="connsiteY10" fmla="*/ 0 h 1828800"/>
                <a:gd name="connsiteX11" fmla="*/ 337457 w 1839686"/>
                <a:gd name="connsiteY11" fmla="*/ 228600 h 1828800"/>
                <a:gd name="connsiteX12" fmla="*/ 130629 w 1839686"/>
                <a:gd name="connsiteY12" fmla="*/ 609600 h 1828800"/>
                <a:gd name="connsiteX13" fmla="*/ 0 w 1839686"/>
                <a:gd name="connsiteY13" fmla="*/ 870857 h 1828800"/>
                <a:gd name="connsiteX0" fmla="*/ 0 w 1861458"/>
                <a:gd name="connsiteY0" fmla="*/ 870857 h 1828800"/>
                <a:gd name="connsiteX1" fmla="*/ 849086 w 1861458"/>
                <a:gd name="connsiteY1" fmla="*/ 903514 h 1828800"/>
                <a:gd name="connsiteX2" fmla="*/ 1077686 w 1861458"/>
                <a:gd name="connsiteY2" fmla="*/ 1208314 h 1828800"/>
                <a:gd name="connsiteX3" fmla="*/ 838200 w 1861458"/>
                <a:gd name="connsiteY3" fmla="*/ 1654628 h 1828800"/>
                <a:gd name="connsiteX4" fmla="*/ 1219200 w 1861458"/>
                <a:gd name="connsiteY4" fmla="*/ 1828800 h 1828800"/>
                <a:gd name="connsiteX5" fmla="*/ 1719943 w 1861458"/>
                <a:gd name="connsiteY5" fmla="*/ 1556656 h 1828800"/>
                <a:gd name="connsiteX6" fmla="*/ 1861458 w 1861458"/>
                <a:gd name="connsiteY6" fmla="*/ 1436914 h 1828800"/>
                <a:gd name="connsiteX7" fmla="*/ 1839686 w 1861458"/>
                <a:gd name="connsiteY7" fmla="*/ 859971 h 1828800"/>
                <a:gd name="connsiteX8" fmla="*/ 1730829 w 1861458"/>
                <a:gd name="connsiteY8" fmla="*/ 402771 h 1828800"/>
                <a:gd name="connsiteX9" fmla="*/ 1295400 w 1861458"/>
                <a:gd name="connsiteY9" fmla="*/ 32657 h 1828800"/>
                <a:gd name="connsiteX10" fmla="*/ 816429 w 1861458"/>
                <a:gd name="connsiteY10" fmla="*/ 0 h 1828800"/>
                <a:gd name="connsiteX11" fmla="*/ 337457 w 1861458"/>
                <a:gd name="connsiteY11" fmla="*/ 228600 h 1828800"/>
                <a:gd name="connsiteX12" fmla="*/ 130629 w 1861458"/>
                <a:gd name="connsiteY12" fmla="*/ 609600 h 1828800"/>
                <a:gd name="connsiteX13" fmla="*/ 0 w 1861458"/>
                <a:gd name="connsiteY13" fmla="*/ 870857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61458" h="1828800">
                  <a:moveTo>
                    <a:pt x="0" y="870857"/>
                  </a:moveTo>
                  <a:lnTo>
                    <a:pt x="849086" y="903514"/>
                  </a:lnTo>
                  <a:lnTo>
                    <a:pt x="1077686" y="1208314"/>
                  </a:lnTo>
                  <a:lnTo>
                    <a:pt x="838200" y="1654628"/>
                  </a:lnTo>
                  <a:lnTo>
                    <a:pt x="1219200" y="1828800"/>
                  </a:lnTo>
                  <a:lnTo>
                    <a:pt x="1719943" y="1556656"/>
                  </a:lnTo>
                  <a:lnTo>
                    <a:pt x="1861458" y="1436914"/>
                  </a:lnTo>
                  <a:lnTo>
                    <a:pt x="1839686" y="859971"/>
                  </a:lnTo>
                  <a:lnTo>
                    <a:pt x="1730829" y="402771"/>
                  </a:lnTo>
                  <a:lnTo>
                    <a:pt x="1295400" y="32657"/>
                  </a:lnTo>
                  <a:lnTo>
                    <a:pt x="816429" y="0"/>
                  </a:lnTo>
                  <a:lnTo>
                    <a:pt x="337457" y="228600"/>
                  </a:lnTo>
                  <a:lnTo>
                    <a:pt x="130629" y="609600"/>
                  </a:lnTo>
                  <a:lnTo>
                    <a:pt x="0" y="87085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890657" y="1981200"/>
              <a:ext cx="936172" cy="174171"/>
            </a:xfrm>
            <a:custGeom>
              <a:avLst/>
              <a:gdLst>
                <a:gd name="connsiteX0" fmla="*/ 97972 w 936172"/>
                <a:gd name="connsiteY0" fmla="*/ 87086 h 174171"/>
                <a:gd name="connsiteX1" fmla="*/ 936172 w 936172"/>
                <a:gd name="connsiteY1" fmla="*/ 174171 h 174171"/>
                <a:gd name="connsiteX2" fmla="*/ 914400 w 936172"/>
                <a:gd name="connsiteY2" fmla="*/ 76200 h 174171"/>
                <a:gd name="connsiteX3" fmla="*/ 87086 w 936172"/>
                <a:gd name="connsiteY3" fmla="*/ 0 h 174171"/>
                <a:gd name="connsiteX4" fmla="*/ 0 w 936172"/>
                <a:gd name="connsiteY4" fmla="*/ 43543 h 17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172" h="174171">
                  <a:moveTo>
                    <a:pt x="97972" y="87086"/>
                  </a:moveTo>
                  <a:lnTo>
                    <a:pt x="936172" y="174171"/>
                  </a:lnTo>
                  <a:lnTo>
                    <a:pt x="914400" y="76200"/>
                  </a:lnTo>
                  <a:lnTo>
                    <a:pt x="87086" y="0"/>
                  </a:lnTo>
                  <a:lnTo>
                    <a:pt x="0" y="43543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6955971" y="2024743"/>
              <a:ext cx="283029" cy="1153886"/>
            </a:xfrm>
            <a:custGeom>
              <a:avLst/>
              <a:gdLst>
                <a:gd name="connsiteX0" fmla="*/ 0 w 283029"/>
                <a:gd name="connsiteY0" fmla="*/ 43543 h 1153886"/>
                <a:gd name="connsiteX1" fmla="*/ 108858 w 283029"/>
                <a:gd name="connsiteY1" fmla="*/ 598714 h 1153886"/>
                <a:gd name="connsiteX2" fmla="*/ 130629 w 283029"/>
                <a:gd name="connsiteY2" fmla="*/ 979714 h 1153886"/>
                <a:gd name="connsiteX3" fmla="*/ 228600 w 283029"/>
                <a:gd name="connsiteY3" fmla="*/ 1153886 h 1153886"/>
                <a:gd name="connsiteX4" fmla="*/ 283029 w 283029"/>
                <a:gd name="connsiteY4" fmla="*/ 1132114 h 1153886"/>
                <a:gd name="connsiteX5" fmla="*/ 174172 w 283029"/>
                <a:gd name="connsiteY5" fmla="*/ 805543 h 1153886"/>
                <a:gd name="connsiteX6" fmla="*/ 174172 w 283029"/>
                <a:gd name="connsiteY6" fmla="*/ 576943 h 1153886"/>
                <a:gd name="connsiteX7" fmla="*/ 87086 w 283029"/>
                <a:gd name="connsiteY7" fmla="*/ 0 h 1153886"/>
                <a:gd name="connsiteX8" fmla="*/ 0 w 283029"/>
                <a:gd name="connsiteY8" fmla="*/ 43543 h 115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3029" h="1153886">
                  <a:moveTo>
                    <a:pt x="0" y="43543"/>
                  </a:moveTo>
                  <a:lnTo>
                    <a:pt x="108858" y="598714"/>
                  </a:lnTo>
                  <a:lnTo>
                    <a:pt x="130629" y="979714"/>
                  </a:lnTo>
                  <a:lnTo>
                    <a:pt x="228600" y="1153886"/>
                  </a:lnTo>
                  <a:lnTo>
                    <a:pt x="283029" y="1132114"/>
                  </a:lnTo>
                  <a:lnTo>
                    <a:pt x="174172" y="805543"/>
                  </a:lnTo>
                  <a:lnTo>
                    <a:pt x="174172" y="576943"/>
                  </a:lnTo>
                  <a:lnTo>
                    <a:pt x="87086" y="0"/>
                  </a:lnTo>
                  <a:lnTo>
                    <a:pt x="0" y="4354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6825343" y="2438400"/>
              <a:ext cx="1088571" cy="206829"/>
            </a:xfrm>
            <a:custGeom>
              <a:avLst/>
              <a:gdLst>
                <a:gd name="connsiteX0" fmla="*/ 1012371 w 1088571"/>
                <a:gd name="connsiteY0" fmla="*/ 97971 h 206829"/>
                <a:gd name="connsiteX1" fmla="*/ 511628 w 1088571"/>
                <a:gd name="connsiteY1" fmla="*/ 130629 h 206829"/>
                <a:gd name="connsiteX2" fmla="*/ 195943 w 1088571"/>
                <a:gd name="connsiteY2" fmla="*/ 119743 h 206829"/>
                <a:gd name="connsiteX3" fmla="*/ 43543 w 1088571"/>
                <a:gd name="connsiteY3" fmla="*/ 87086 h 206829"/>
                <a:gd name="connsiteX4" fmla="*/ 163286 w 1088571"/>
                <a:gd name="connsiteY4" fmla="*/ 32657 h 206829"/>
                <a:gd name="connsiteX5" fmla="*/ 163286 w 1088571"/>
                <a:gd name="connsiteY5" fmla="*/ 0 h 206829"/>
                <a:gd name="connsiteX6" fmla="*/ 0 w 1088571"/>
                <a:gd name="connsiteY6" fmla="*/ 76200 h 206829"/>
                <a:gd name="connsiteX7" fmla="*/ 0 w 1088571"/>
                <a:gd name="connsiteY7" fmla="*/ 119743 h 206829"/>
                <a:gd name="connsiteX8" fmla="*/ 185057 w 1088571"/>
                <a:gd name="connsiteY8" fmla="*/ 185057 h 206829"/>
                <a:gd name="connsiteX9" fmla="*/ 511628 w 1088571"/>
                <a:gd name="connsiteY9" fmla="*/ 185057 h 206829"/>
                <a:gd name="connsiteX10" fmla="*/ 925286 w 1088571"/>
                <a:gd name="connsiteY10" fmla="*/ 195943 h 206829"/>
                <a:gd name="connsiteX11" fmla="*/ 1088571 w 1088571"/>
                <a:gd name="connsiteY11" fmla="*/ 206829 h 206829"/>
                <a:gd name="connsiteX12" fmla="*/ 1066800 w 1088571"/>
                <a:gd name="connsiteY12" fmla="*/ 152400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8571" h="206829">
                  <a:moveTo>
                    <a:pt x="1012371" y="97971"/>
                  </a:moveTo>
                  <a:lnTo>
                    <a:pt x="511628" y="130629"/>
                  </a:lnTo>
                  <a:lnTo>
                    <a:pt x="195943" y="119743"/>
                  </a:lnTo>
                  <a:lnTo>
                    <a:pt x="43543" y="87086"/>
                  </a:lnTo>
                  <a:lnTo>
                    <a:pt x="163286" y="32657"/>
                  </a:lnTo>
                  <a:lnTo>
                    <a:pt x="163286" y="0"/>
                  </a:lnTo>
                  <a:lnTo>
                    <a:pt x="0" y="76200"/>
                  </a:lnTo>
                  <a:lnTo>
                    <a:pt x="0" y="119743"/>
                  </a:lnTo>
                  <a:lnTo>
                    <a:pt x="185057" y="185057"/>
                  </a:lnTo>
                  <a:lnTo>
                    <a:pt x="511628" y="185057"/>
                  </a:lnTo>
                  <a:lnTo>
                    <a:pt x="925286" y="195943"/>
                  </a:lnTo>
                  <a:lnTo>
                    <a:pt x="1088571" y="206829"/>
                  </a:lnTo>
                  <a:lnTo>
                    <a:pt x="1066800" y="152400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6825343" y="2514600"/>
              <a:ext cx="195943" cy="631371"/>
            </a:xfrm>
            <a:custGeom>
              <a:avLst/>
              <a:gdLst>
                <a:gd name="connsiteX0" fmla="*/ 10886 w 195943"/>
                <a:gd name="connsiteY0" fmla="*/ 0 h 631371"/>
                <a:gd name="connsiteX1" fmla="*/ 32657 w 195943"/>
                <a:gd name="connsiteY1" fmla="*/ 326571 h 631371"/>
                <a:gd name="connsiteX2" fmla="*/ 195943 w 195943"/>
                <a:gd name="connsiteY2" fmla="*/ 609600 h 631371"/>
                <a:gd name="connsiteX3" fmla="*/ 119743 w 195943"/>
                <a:gd name="connsiteY3" fmla="*/ 631371 h 631371"/>
                <a:gd name="connsiteX4" fmla="*/ 0 w 195943"/>
                <a:gd name="connsiteY4" fmla="*/ 326571 h 631371"/>
                <a:gd name="connsiteX5" fmla="*/ 10886 w 195943"/>
                <a:gd name="connsiteY5" fmla="*/ 0 h 63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943" h="631371">
                  <a:moveTo>
                    <a:pt x="10886" y="0"/>
                  </a:moveTo>
                  <a:lnTo>
                    <a:pt x="32657" y="326571"/>
                  </a:lnTo>
                  <a:lnTo>
                    <a:pt x="195943" y="609600"/>
                  </a:lnTo>
                  <a:lnTo>
                    <a:pt x="119743" y="631371"/>
                  </a:lnTo>
                  <a:lnTo>
                    <a:pt x="0" y="326571"/>
                  </a:lnTo>
                  <a:lnTo>
                    <a:pt x="1088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977743" y="2645229"/>
              <a:ext cx="1055914" cy="544285"/>
            </a:xfrm>
            <a:custGeom>
              <a:avLst/>
              <a:gdLst>
                <a:gd name="connsiteX0" fmla="*/ 261257 w 1055914"/>
                <a:gd name="connsiteY0" fmla="*/ 54428 h 544285"/>
                <a:gd name="connsiteX1" fmla="*/ 65314 w 1055914"/>
                <a:gd name="connsiteY1" fmla="*/ 402771 h 544285"/>
                <a:gd name="connsiteX2" fmla="*/ 141514 w 1055914"/>
                <a:gd name="connsiteY2" fmla="*/ 457200 h 544285"/>
                <a:gd name="connsiteX3" fmla="*/ 522514 w 1055914"/>
                <a:gd name="connsiteY3" fmla="*/ 446314 h 544285"/>
                <a:gd name="connsiteX4" fmla="*/ 881743 w 1055914"/>
                <a:gd name="connsiteY4" fmla="*/ 315685 h 544285"/>
                <a:gd name="connsiteX5" fmla="*/ 1055914 w 1055914"/>
                <a:gd name="connsiteY5" fmla="*/ 228600 h 544285"/>
                <a:gd name="connsiteX6" fmla="*/ 1055914 w 1055914"/>
                <a:gd name="connsiteY6" fmla="*/ 228600 h 544285"/>
                <a:gd name="connsiteX7" fmla="*/ 674914 w 1055914"/>
                <a:gd name="connsiteY7" fmla="*/ 457200 h 544285"/>
                <a:gd name="connsiteX8" fmla="*/ 315686 w 1055914"/>
                <a:gd name="connsiteY8" fmla="*/ 544285 h 544285"/>
                <a:gd name="connsiteX9" fmla="*/ 32657 w 1055914"/>
                <a:gd name="connsiteY9" fmla="*/ 511628 h 544285"/>
                <a:gd name="connsiteX10" fmla="*/ 0 w 1055914"/>
                <a:gd name="connsiteY10" fmla="*/ 435428 h 544285"/>
                <a:gd name="connsiteX11" fmla="*/ 32657 w 1055914"/>
                <a:gd name="connsiteY11" fmla="*/ 304800 h 544285"/>
                <a:gd name="connsiteX12" fmla="*/ 261257 w 1055914"/>
                <a:gd name="connsiteY12" fmla="*/ 0 h 544285"/>
                <a:gd name="connsiteX13" fmla="*/ 261257 w 1055914"/>
                <a:gd name="connsiteY13" fmla="*/ 54428 h 54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55914" h="544285">
                  <a:moveTo>
                    <a:pt x="261257" y="54428"/>
                  </a:moveTo>
                  <a:lnTo>
                    <a:pt x="65314" y="402771"/>
                  </a:lnTo>
                  <a:lnTo>
                    <a:pt x="141514" y="457200"/>
                  </a:lnTo>
                  <a:lnTo>
                    <a:pt x="522514" y="446314"/>
                  </a:lnTo>
                  <a:lnTo>
                    <a:pt x="881743" y="315685"/>
                  </a:lnTo>
                  <a:lnTo>
                    <a:pt x="1055914" y="228600"/>
                  </a:lnTo>
                  <a:lnTo>
                    <a:pt x="1055914" y="228600"/>
                  </a:lnTo>
                  <a:lnTo>
                    <a:pt x="674914" y="457200"/>
                  </a:lnTo>
                  <a:lnTo>
                    <a:pt x="315686" y="544285"/>
                  </a:lnTo>
                  <a:lnTo>
                    <a:pt x="32657" y="511628"/>
                  </a:lnTo>
                  <a:lnTo>
                    <a:pt x="0" y="435428"/>
                  </a:lnTo>
                  <a:lnTo>
                    <a:pt x="32657" y="304800"/>
                  </a:lnTo>
                  <a:lnTo>
                    <a:pt x="261257" y="0"/>
                  </a:lnTo>
                  <a:lnTo>
                    <a:pt x="261257" y="5442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7609114" y="2133600"/>
              <a:ext cx="206829" cy="979714"/>
            </a:xfrm>
            <a:custGeom>
              <a:avLst/>
              <a:gdLst>
                <a:gd name="connsiteX0" fmla="*/ 119743 w 206829"/>
                <a:gd name="connsiteY0" fmla="*/ 10886 h 979714"/>
                <a:gd name="connsiteX1" fmla="*/ 0 w 206829"/>
                <a:gd name="connsiteY1" fmla="*/ 979714 h 979714"/>
                <a:gd name="connsiteX2" fmla="*/ 119743 w 206829"/>
                <a:gd name="connsiteY2" fmla="*/ 936171 h 979714"/>
                <a:gd name="connsiteX3" fmla="*/ 206829 w 206829"/>
                <a:gd name="connsiteY3" fmla="*/ 0 h 979714"/>
                <a:gd name="connsiteX4" fmla="*/ 119743 w 206829"/>
                <a:gd name="connsiteY4" fmla="*/ 10886 h 979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829" h="979714">
                  <a:moveTo>
                    <a:pt x="119743" y="10886"/>
                  </a:moveTo>
                  <a:lnTo>
                    <a:pt x="0" y="979714"/>
                  </a:lnTo>
                  <a:lnTo>
                    <a:pt x="119743" y="936171"/>
                  </a:lnTo>
                  <a:lnTo>
                    <a:pt x="206829" y="0"/>
                  </a:lnTo>
                  <a:lnTo>
                    <a:pt x="119743" y="1088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2" name="Rectangle 51"/>
          <p:cNvSpPr/>
          <p:nvPr/>
        </p:nvSpPr>
        <p:spPr>
          <a:xfrm>
            <a:off x="1867986" y="3892742"/>
            <a:ext cx="45719" cy="2873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20165228">
            <a:off x="7376868" y="1957975"/>
            <a:ext cx="838200" cy="1524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 rot="13010376">
            <a:off x="7352925" y="1798335"/>
            <a:ext cx="64164" cy="26614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" name="Oval 12"/>
          <p:cNvSpPr>
            <a:spLocks noChangeArrowheads="1"/>
          </p:cNvSpPr>
          <p:nvPr/>
        </p:nvSpPr>
        <p:spPr bwMode="auto">
          <a:xfrm rot="17454968">
            <a:off x="7457609" y="1496439"/>
            <a:ext cx="257923" cy="546784"/>
          </a:xfrm>
          <a:prstGeom prst="ellipse">
            <a:avLst/>
          </a:prstGeom>
          <a:solidFill>
            <a:srgbClr val="002060"/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" name="Rectangle 14"/>
          <p:cNvSpPr>
            <a:spLocks noChangeArrowheads="1"/>
          </p:cNvSpPr>
          <p:nvPr/>
        </p:nvSpPr>
        <p:spPr bwMode="auto">
          <a:xfrm rot="20968349">
            <a:off x="7382587" y="1665074"/>
            <a:ext cx="114403" cy="260471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2" name="Rectangle 17"/>
          <p:cNvSpPr>
            <a:spLocks noChangeArrowheads="1"/>
          </p:cNvSpPr>
          <p:nvPr/>
        </p:nvSpPr>
        <p:spPr bwMode="auto">
          <a:xfrm rot="16955053">
            <a:off x="8086842" y="2184059"/>
            <a:ext cx="214070" cy="94748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3" name="Oval 11"/>
          <p:cNvSpPr>
            <a:spLocks noChangeArrowheads="1"/>
          </p:cNvSpPr>
          <p:nvPr/>
        </p:nvSpPr>
        <p:spPr bwMode="auto">
          <a:xfrm rot="19292983">
            <a:off x="7004280" y="1363935"/>
            <a:ext cx="359459" cy="438048"/>
          </a:xfrm>
          <a:prstGeom prst="ellipse">
            <a:avLst/>
          </a:prstGeom>
          <a:solidFill>
            <a:srgbClr val="00206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 rot="14163844">
            <a:off x="7325778" y="1842767"/>
            <a:ext cx="88795" cy="26337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" name="Rectangle 17"/>
          <p:cNvSpPr>
            <a:spLocks noChangeArrowheads="1"/>
          </p:cNvSpPr>
          <p:nvPr/>
        </p:nvSpPr>
        <p:spPr bwMode="auto">
          <a:xfrm rot="15909097">
            <a:off x="7882448" y="2274068"/>
            <a:ext cx="150181" cy="8835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 rot="19830170">
            <a:off x="7893175" y="2335304"/>
            <a:ext cx="88949" cy="8095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9" name="Rectangle 15"/>
          <p:cNvSpPr>
            <a:spLocks noChangeArrowheads="1"/>
          </p:cNvSpPr>
          <p:nvPr/>
        </p:nvSpPr>
        <p:spPr bwMode="auto">
          <a:xfrm rot="19534221">
            <a:off x="7796411" y="1831634"/>
            <a:ext cx="124503" cy="328498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0" name="Rectangle 15"/>
          <p:cNvSpPr>
            <a:spLocks noChangeArrowheads="1"/>
          </p:cNvSpPr>
          <p:nvPr/>
        </p:nvSpPr>
        <p:spPr bwMode="auto">
          <a:xfrm rot="17124525">
            <a:off x="8003767" y="1964733"/>
            <a:ext cx="122317" cy="370790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 rot="15935750">
            <a:off x="7207769" y="2030691"/>
            <a:ext cx="123452" cy="10541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 rot="20165228">
            <a:off x="7272688" y="2088558"/>
            <a:ext cx="45719" cy="2873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 rot="7598246" flipH="1">
            <a:off x="2275869" y="4511180"/>
            <a:ext cx="554067" cy="248440"/>
          </a:xfrm>
          <a:prstGeom prst="rect">
            <a:avLst/>
          </a:prstGeom>
          <a:solidFill>
            <a:srgbClr val="00206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45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9D1C30E4-7AEA-B916-5D98-8CF07F8F9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9699" name="Picture 5">
            <a:extLst>
              <a:ext uri="{FF2B5EF4-FFF2-40B4-BE49-F238E27FC236}">
                <a16:creationId xmlns:a16="http://schemas.microsoft.com/office/drawing/2014/main" id="{440DC436-A92F-B9EA-5248-0640241A1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770063"/>
            <a:ext cx="1703387" cy="2525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0" name="Picture 2" descr="Bunsen burner by gsagri04">
            <a:extLst>
              <a:ext uri="{FF2B5EF4-FFF2-40B4-BE49-F238E27FC236}">
                <a16:creationId xmlns:a16="http://schemas.microsoft.com/office/drawing/2014/main" id="{43E27093-654C-CBD7-B314-C75C9B955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938" y="4843463"/>
            <a:ext cx="1363662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Down Arrow 6">
            <a:extLst>
              <a:ext uri="{FF2B5EF4-FFF2-40B4-BE49-F238E27FC236}">
                <a16:creationId xmlns:a16="http://schemas.microsoft.com/office/drawing/2014/main" id="{3D1B6886-946E-9BAD-93F4-5581C504C44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308225" y="3832225"/>
            <a:ext cx="957263" cy="855663"/>
          </a:xfrm>
          <a:prstGeom prst="down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9E5710"/>
              </a:gs>
              <a:gs pos="50000">
                <a:srgbClr val="E3801C"/>
              </a:gs>
              <a:gs pos="100000">
                <a:srgbClr val="FF9924"/>
              </a:gs>
            </a:gsLst>
            <a:lin ang="16200000" scaled="1"/>
          </a:gra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02" name="TextBox 7">
            <a:extLst>
              <a:ext uri="{FF2B5EF4-FFF2-40B4-BE49-F238E27FC236}">
                <a16:creationId xmlns:a16="http://schemas.microsoft.com/office/drawing/2014/main" id="{E8F7FB90-97D9-F134-9FFB-F8E8E1E8C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8150" y="4427538"/>
            <a:ext cx="2276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Q positive</a:t>
            </a:r>
          </a:p>
        </p:txBody>
      </p:sp>
      <p:sp>
        <p:nvSpPr>
          <p:cNvPr id="29703" name="Down Arrow 9">
            <a:extLst>
              <a:ext uri="{FF2B5EF4-FFF2-40B4-BE49-F238E27FC236}">
                <a16:creationId xmlns:a16="http://schemas.microsoft.com/office/drawing/2014/main" id="{C5E6D97F-DC9B-18D4-90BC-58E37BB7CC2D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3331368" y="2793207"/>
            <a:ext cx="957263" cy="857250"/>
          </a:xfrm>
          <a:prstGeom prst="down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9E5710"/>
              </a:gs>
              <a:gs pos="50000">
                <a:srgbClr val="E3801C"/>
              </a:gs>
              <a:gs pos="100000">
                <a:srgbClr val="FF9924"/>
              </a:gs>
            </a:gsLst>
            <a:lin ang="16200000" scaled="1"/>
          </a:gra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04" name="TextBox 10">
            <a:extLst>
              <a:ext uri="{FF2B5EF4-FFF2-40B4-BE49-F238E27FC236}">
                <a16:creationId xmlns:a16="http://schemas.microsoft.com/office/drawing/2014/main" id="{DE2E8419-ECB0-6799-C2FA-68A8A72F6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750" y="2954338"/>
            <a:ext cx="2276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Q negative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716839C5-430E-509B-DE26-548CFA355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123.11.3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31B552BC-18A0-9999-CFDC-2038751C2A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You increase the temperature of a gas in a piston. Is there heat involved?</a:t>
            </a:r>
          </a:p>
          <a:p>
            <a:pPr>
              <a:buFontTx/>
              <a:buAutoNum type="alphaLcParenR"/>
            </a:pPr>
            <a:r>
              <a:rPr lang="en-US" altLang="en-US"/>
              <a:t>Yes</a:t>
            </a:r>
          </a:p>
          <a:p>
            <a:pPr>
              <a:buFontTx/>
              <a:buAutoNum type="alphaLcParenR"/>
            </a:pPr>
            <a:r>
              <a:rPr lang="en-US" altLang="en-US"/>
              <a:t>No</a:t>
            </a:r>
          </a:p>
          <a:p>
            <a:pPr>
              <a:buFontTx/>
              <a:buAutoNum type="alphaLcParenR"/>
            </a:pPr>
            <a:r>
              <a:rPr lang="en-US" altLang="en-US"/>
              <a:t>Maybe</a:t>
            </a: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3940CB91-CB74-A893-6DB2-5FBBFE94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847E98-34AB-43A4-9401-7D5F0CFDFC8B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9EC2B44B-9685-80B0-0D24-274546B1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BDC66E-2FFC-465C-B0D6-D5C7A9D76B93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8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0B2EDF5-62DC-BD5C-F63D-A57058725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 123.11.6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B6A4B96-6C43-5A89-9BB1-438D71CF5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Which graph represents an isothermal process?</a:t>
            </a:r>
          </a:p>
        </p:txBody>
      </p:sp>
      <p:pic>
        <p:nvPicPr>
          <p:cNvPr id="31749" name="Picture 5">
            <a:extLst>
              <a:ext uri="{FF2B5EF4-FFF2-40B4-BE49-F238E27FC236}">
                <a16:creationId xmlns:a16="http://schemas.microsoft.com/office/drawing/2014/main" id="{713B42C5-3D56-6021-EE1C-7E8191E36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3119438"/>
            <a:ext cx="203835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Text Box 7">
            <a:extLst>
              <a:ext uri="{FF2B5EF4-FFF2-40B4-BE49-F238E27FC236}">
                <a16:creationId xmlns:a16="http://schemas.microsoft.com/office/drawing/2014/main" id="{68721676-22A6-0646-2AFB-805564B0A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163" y="4781550"/>
            <a:ext cx="6432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                                           B                                                C</a:t>
            </a:r>
          </a:p>
        </p:txBody>
      </p:sp>
      <p:pic>
        <p:nvPicPr>
          <p:cNvPr id="31751" name="Picture 1">
            <a:extLst>
              <a:ext uri="{FF2B5EF4-FFF2-40B4-BE49-F238E27FC236}">
                <a16:creationId xmlns:a16="http://schemas.microsoft.com/office/drawing/2014/main" id="{57D0AE0E-00F0-7CD7-87D9-D60883CA5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025" y="3138488"/>
            <a:ext cx="2390775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2" name="Picture 2">
            <a:extLst>
              <a:ext uri="{FF2B5EF4-FFF2-40B4-BE49-F238E27FC236}">
                <a16:creationId xmlns:a16="http://schemas.microsoft.com/office/drawing/2014/main" id="{1EA3A142-EAEA-DDC4-7F1C-7C27596A9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363" y="3028950"/>
            <a:ext cx="254635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3D07D008-A379-23D4-5F64-8F030DFC0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A2F45E73-C14D-200F-A4C7-0424D9EBD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477963"/>
            <a:ext cx="6927850" cy="457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49E5E6-D95D-4187-AA6A-9FD3A3894493}"/>
              </a:ext>
            </a:extLst>
          </p:cNvPr>
          <p:cNvCxnSpPr/>
          <p:nvPr/>
        </p:nvCxnSpPr>
        <p:spPr>
          <a:xfrm flipH="1">
            <a:off x="4441825" y="2409825"/>
            <a:ext cx="536575" cy="4937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3" name="TextBox 8">
            <a:extLst>
              <a:ext uri="{FF2B5EF4-FFF2-40B4-BE49-F238E27FC236}">
                <a16:creationId xmlns:a16="http://schemas.microsoft.com/office/drawing/2014/main" id="{3EC6E336-D853-EC52-A306-1F47F9902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930400"/>
            <a:ext cx="1023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</a:rPr>
              <a:t>300K</a:t>
            </a:r>
          </a:p>
        </p:txBody>
      </p:sp>
      <p:sp>
        <p:nvSpPr>
          <p:cNvPr id="32774" name="TextBox 11">
            <a:extLst>
              <a:ext uri="{FF2B5EF4-FFF2-40B4-BE49-F238E27FC236}">
                <a16:creationId xmlns:a16="http://schemas.microsoft.com/office/drawing/2014/main" id="{E3A0CC51-4012-9724-5C8D-2D7D830F6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273425"/>
            <a:ext cx="10239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</a:rPr>
              <a:t>100K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94D3BE-4203-4B70-A226-3F78935529C3}"/>
              </a:ext>
            </a:extLst>
          </p:cNvPr>
          <p:cNvCxnSpPr/>
          <p:nvPr/>
        </p:nvCxnSpPr>
        <p:spPr>
          <a:xfrm flipH="1">
            <a:off x="5189538" y="3716338"/>
            <a:ext cx="573087" cy="7461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09DAD7D5-1474-C7BA-9FAF-B3C7BA7EC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3795" name="Picture 3">
            <a:extLst>
              <a:ext uri="{FF2B5EF4-FFF2-40B4-BE49-F238E27FC236}">
                <a16:creationId xmlns:a16="http://schemas.microsoft.com/office/drawing/2014/main" id="{3580B14D-C1BC-DA28-3B88-694013248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477963"/>
            <a:ext cx="6927850" cy="457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519C0F-9060-4216-AC8F-43F402E784BA}"/>
              </a:ext>
            </a:extLst>
          </p:cNvPr>
          <p:cNvCxnSpPr/>
          <p:nvPr/>
        </p:nvCxnSpPr>
        <p:spPr>
          <a:xfrm flipH="1">
            <a:off x="4441825" y="2409825"/>
            <a:ext cx="536575" cy="4937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7" name="TextBox 8">
            <a:extLst>
              <a:ext uri="{FF2B5EF4-FFF2-40B4-BE49-F238E27FC236}">
                <a16:creationId xmlns:a16="http://schemas.microsoft.com/office/drawing/2014/main" id="{7AB1007B-D369-96FB-1377-9F6BB1815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930400"/>
            <a:ext cx="1023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</a:rPr>
              <a:t>300K</a:t>
            </a:r>
          </a:p>
        </p:txBody>
      </p:sp>
      <p:sp>
        <p:nvSpPr>
          <p:cNvPr id="33798" name="TextBox 11">
            <a:extLst>
              <a:ext uri="{FF2B5EF4-FFF2-40B4-BE49-F238E27FC236}">
                <a16:creationId xmlns:a16="http://schemas.microsoft.com/office/drawing/2014/main" id="{220DAC13-7C18-4D92-BC70-913D93087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273425"/>
            <a:ext cx="10239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</a:rPr>
              <a:t>100K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35D3FD-F03B-4859-8518-5101A8E21FE1}"/>
              </a:ext>
            </a:extLst>
          </p:cNvPr>
          <p:cNvCxnSpPr/>
          <p:nvPr/>
        </p:nvCxnSpPr>
        <p:spPr>
          <a:xfrm flipH="1">
            <a:off x="5189538" y="3716338"/>
            <a:ext cx="573087" cy="7461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6A5F9798-10CB-FB18-006D-D8434EEAA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4819" name="Picture 3">
            <a:extLst>
              <a:ext uri="{FF2B5EF4-FFF2-40B4-BE49-F238E27FC236}">
                <a16:creationId xmlns:a16="http://schemas.microsoft.com/office/drawing/2014/main" id="{1482843A-3034-D7EB-3934-9C5DD8522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477963"/>
            <a:ext cx="6927850" cy="457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own Arrow 2">
            <a:extLst>
              <a:ext uri="{FF2B5EF4-FFF2-40B4-BE49-F238E27FC236}">
                <a16:creationId xmlns:a16="http://schemas.microsoft.com/office/drawing/2014/main" id="{604D64C7-C2CB-4AD0-A442-C2F9ABEA9F34}"/>
              </a:ext>
            </a:extLst>
          </p:cNvPr>
          <p:cNvSpPr/>
          <p:nvPr/>
        </p:nvSpPr>
        <p:spPr>
          <a:xfrm rot="13494707">
            <a:off x="5153025" y="2133600"/>
            <a:ext cx="1204913" cy="1219200"/>
          </a:xfrm>
          <a:prstGeom prst="downArrow">
            <a:avLst/>
          </a:prstGeom>
          <a:gradFill flip="none" rotWithShape="1">
            <a:gsLst>
              <a:gs pos="0">
                <a:srgbClr val="FF9933">
                  <a:tint val="66000"/>
                  <a:satMod val="160000"/>
                </a:srgbClr>
              </a:gs>
              <a:gs pos="50000">
                <a:srgbClr val="FF9933">
                  <a:tint val="44500"/>
                  <a:satMod val="160000"/>
                </a:srgbClr>
              </a:gs>
              <a:gs pos="100000">
                <a:srgbClr val="FF9933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4821" name="TextBox 3">
            <a:extLst>
              <a:ext uri="{FF2B5EF4-FFF2-40B4-BE49-F238E27FC236}">
                <a16:creationId xmlns:a16="http://schemas.microsoft.com/office/drawing/2014/main" id="{36143727-61AD-A376-AB3B-CABE90D1D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1843088"/>
            <a:ext cx="12684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Warmer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64829ECF-EA25-46F2-B58B-24165B354448}"/>
              </a:ext>
            </a:extLst>
          </p:cNvPr>
          <p:cNvSpPr/>
          <p:nvPr/>
        </p:nvSpPr>
        <p:spPr>
          <a:xfrm rot="13494707" flipV="1">
            <a:off x="3300413" y="3962400"/>
            <a:ext cx="1204912" cy="779463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75000"/>
                  <a:tint val="66000"/>
                  <a:satMod val="160000"/>
                </a:schemeClr>
              </a:gs>
              <a:gs pos="50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4823" name="TextBox 10">
            <a:extLst>
              <a:ext uri="{FF2B5EF4-FFF2-40B4-BE49-F238E27FC236}">
                <a16:creationId xmlns:a16="http://schemas.microsoft.com/office/drawing/2014/main" id="{427C0FF2-A7B4-CB09-7FB7-D7C0FC15D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4360863"/>
            <a:ext cx="1093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Cooler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DEC302A1-353F-8177-1269-82FD5859E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123.11.4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2A7D095B-BFEA-EF91-3463-21B0780587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You put a gas in a piston through a process that changes the temperature. Can Q=0?</a:t>
            </a:r>
          </a:p>
          <a:p>
            <a:pPr>
              <a:buFontTx/>
              <a:buAutoNum type="alphaLcParenR"/>
            </a:pPr>
            <a:r>
              <a:rPr lang="en-US" altLang="en-US"/>
              <a:t>Yes, if it is the right process</a:t>
            </a:r>
          </a:p>
          <a:p>
            <a:pPr>
              <a:buFontTx/>
              <a:buAutoNum type="alphaLcParenR"/>
            </a:pPr>
            <a:r>
              <a:rPr lang="en-US" altLang="en-US"/>
              <a:t>No</a:t>
            </a:r>
          </a:p>
          <a:p>
            <a:pPr>
              <a:buFontTx/>
              <a:buAutoNum type="alphaLcParenR"/>
            </a:pPr>
            <a:r>
              <a:rPr lang="en-US" altLang="en-US"/>
              <a:t>Maybe</a:t>
            </a:r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B37B24C4-FF4A-8B9F-F330-D865492E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B22524-663A-43EF-8EB2-28FCFB1E304B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F68749B0-E5B5-6298-C9B8-05248B18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42F553-E8FF-4BE1-A3F6-9E7B48B90D2D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8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FCA5CA4-AC53-DD3A-2CE7-B1A34C86A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 123.11.5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FFE7671-7575-5BD3-25E5-726D0AD083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/>
              <a:t>Which quantity is independent of path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Q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</a:t>
            </a:r>
            <a:r>
              <a:rPr lang="en-US" altLang="en-US"/>
              <a:t>E</a:t>
            </a:r>
            <a:r>
              <a:rPr lang="en-US" altLang="en-US" baseline="-25000"/>
              <a:t>int </a:t>
            </a:r>
            <a:endParaRPr lang="en-US" altLang="en-US"/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W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Can’t tell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269EAFF-3690-730D-BF83-AD5D1BE91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Phase Changes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81D6713-2C14-CB31-3C06-433844B02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133600"/>
            <a:ext cx="7772400" cy="4343400"/>
          </a:xfrm>
        </p:spPr>
        <p:txBody>
          <a:bodyPr/>
          <a:lstStyle/>
          <a:p>
            <a:pPr eaLnBrk="1" hangingPunct="1"/>
            <a:r>
              <a:rPr lang="en-US" altLang="en-US" sz="2800"/>
              <a:t>A </a:t>
            </a:r>
            <a:r>
              <a:rPr lang="en-US" altLang="en-US" sz="2800" i="1"/>
              <a:t>phase change</a:t>
            </a:r>
            <a:r>
              <a:rPr lang="en-US" altLang="en-US" sz="2800"/>
              <a:t> occurs when the physical characteristics of the substance change from one form to another</a:t>
            </a:r>
          </a:p>
          <a:p>
            <a:pPr eaLnBrk="1" hangingPunct="1"/>
            <a:r>
              <a:rPr lang="en-US" altLang="en-US" sz="2800"/>
              <a:t>Common phases changes are</a:t>
            </a:r>
          </a:p>
          <a:p>
            <a:pPr lvl="1" eaLnBrk="1" hangingPunct="1"/>
            <a:r>
              <a:rPr lang="en-US" altLang="en-US" sz="2400"/>
              <a:t>Solid to liquid – melting</a:t>
            </a:r>
          </a:p>
          <a:p>
            <a:pPr lvl="1" eaLnBrk="1" hangingPunct="1"/>
            <a:r>
              <a:rPr lang="en-US" altLang="en-US" sz="2400"/>
              <a:t>Liquid to gas – boiling</a:t>
            </a:r>
          </a:p>
          <a:p>
            <a:pPr eaLnBrk="1" hangingPunct="1"/>
            <a:r>
              <a:rPr lang="en-US" altLang="en-US" sz="2800"/>
              <a:t>Phases changes involve a change in the internal energy, but </a:t>
            </a:r>
            <a:r>
              <a:rPr lang="en-US" altLang="en-US" sz="2800" i="1"/>
              <a:t>no change in temperature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F28B5FA-F031-2C1E-5988-CC84C4BDF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Latent Heat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192D6E1-97DF-54FA-AA29-79BA1DFC6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During a phase change, the amount of heat is given 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Q = ±m 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L is the </a:t>
            </a:r>
            <a:r>
              <a:rPr lang="en-US" altLang="en-US" sz="2800" i="1"/>
              <a:t>latent heat</a:t>
            </a:r>
            <a:r>
              <a:rPr lang="en-US" altLang="en-US" sz="2800"/>
              <a:t> of the substance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Latent means hidden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L depends on the substance and the nature of the phase change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Choose a positive sign if you are adding energy to the system and a negative sign if energy is being removed from the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FED4939-6E17-98B4-E9C3-453B5E1891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/>
              <a:t>Phase Changes Latent Heat</a:t>
            </a:r>
          </a:p>
        </p:txBody>
      </p:sp>
      <p:grpSp>
        <p:nvGrpSpPr>
          <p:cNvPr id="52227" name="Group 8">
            <a:extLst>
              <a:ext uri="{FF2B5EF4-FFF2-40B4-BE49-F238E27FC236}">
                <a16:creationId xmlns:a16="http://schemas.microsoft.com/office/drawing/2014/main" id="{E03965BB-F6BC-9DB9-FED0-16C3CAC2C405}"/>
              </a:ext>
            </a:extLst>
          </p:cNvPr>
          <p:cNvGrpSpPr>
            <a:grpSpLocks/>
          </p:cNvGrpSpPr>
          <p:nvPr/>
        </p:nvGrpSpPr>
        <p:grpSpPr bwMode="auto">
          <a:xfrm>
            <a:off x="0" y="1376363"/>
            <a:ext cx="9144000" cy="3422650"/>
            <a:chOff x="0" y="772"/>
            <a:chExt cx="5760" cy="2156"/>
          </a:xfrm>
        </p:grpSpPr>
        <p:pic>
          <p:nvPicPr>
            <p:cNvPr id="52229" name="Picture 3" descr="phases_matter">
              <a:extLst>
                <a:ext uri="{FF2B5EF4-FFF2-40B4-BE49-F238E27FC236}">
                  <a16:creationId xmlns:a16="http://schemas.microsoft.com/office/drawing/2014/main" id="{D9C6123C-922D-6975-1DFB-3A454C7DB1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772"/>
              <a:ext cx="5760" cy="2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30" name="Text Box 4">
              <a:extLst>
                <a:ext uri="{FF2B5EF4-FFF2-40B4-BE49-F238E27FC236}">
                  <a16:creationId xmlns:a16="http://schemas.microsoft.com/office/drawing/2014/main" id="{D344D484-3118-EAD0-86EF-F7F397617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" y="2439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solidFill>
                    <a:schemeClr val="bg2"/>
                  </a:solidFill>
                  <a:latin typeface="Times New Roman" panose="02020603050405020304" pitchFamily="18" charset="0"/>
                </a:rPr>
                <a:t>Solid</a:t>
              </a:r>
            </a:p>
          </p:txBody>
        </p:sp>
        <p:sp>
          <p:nvSpPr>
            <p:cNvPr id="52231" name="Text Box 5">
              <a:extLst>
                <a:ext uri="{FF2B5EF4-FFF2-40B4-BE49-F238E27FC236}">
                  <a16:creationId xmlns:a16="http://schemas.microsoft.com/office/drawing/2014/main" id="{C63605F1-DA40-6E7E-F606-14A49AADA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5" y="2407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solidFill>
                    <a:schemeClr val="bg2"/>
                  </a:solidFill>
                  <a:latin typeface="Times New Roman" panose="02020603050405020304" pitchFamily="18" charset="0"/>
                </a:rPr>
                <a:t>Liquid</a:t>
              </a:r>
            </a:p>
          </p:txBody>
        </p:sp>
        <p:sp>
          <p:nvSpPr>
            <p:cNvPr id="52232" name="Text Box 6">
              <a:extLst>
                <a:ext uri="{FF2B5EF4-FFF2-40B4-BE49-F238E27FC236}">
                  <a16:creationId xmlns:a16="http://schemas.microsoft.com/office/drawing/2014/main" id="{32BFA44D-1EAC-1434-37B7-212539EC4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2380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solidFill>
                    <a:schemeClr val="bg2"/>
                  </a:solidFill>
                  <a:latin typeface="Times New Roman" panose="02020603050405020304" pitchFamily="18" charset="0"/>
                </a:rPr>
                <a:t>Gas</a:t>
              </a:r>
            </a:p>
          </p:txBody>
        </p:sp>
      </p:grpSp>
      <p:sp>
        <p:nvSpPr>
          <p:cNvPr id="294919" name="Text Box 7">
            <a:extLst>
              <a:ext uri="{FF2B5EF4-FFF2-40B4-BE49-F238E27FC236}">
                <a16:creationId xmlns:a16="http://schemas.microsoft.com/office/drawing/2014/main" id="{9C9E6C40-F87F-DBD9-E6C0-83F5D4610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867275"/>
            <a:ext cx="87630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During a phase change, the internal energy changes but the temperature does not change.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Work is done against the attractive molecular forces to separate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45B45442-81BE-3E77-5002-5353B81C85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Latent Heat, cont.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BEADC01-7329-DA59-6510-E0088BA34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 units of latent heat are J / kg</a:t>
            </a:r>
          </a:p>
          <a:p>
            <a:pPr eaLnBrk="1" hangingPunct="1"/>
            <a:r>
              <a:rPr lang="en-US" altLang="en-US" i="1"/>
              <a:t>Latent heat of fusion</a:t>
            </a:r>
            <a:r>
              <a:rPr lang="en-US" altLang="en-US"/>
              <a:t>, L</a:t>
            </a:r>
            <a:r>
              <a:rPr lang="en-US" altLang="en-US" baseline="-25000"/>
              <a:t>f</a:t>
            </a:r>
            <a:r>
              <a:rPr lang="en-US" altLang="en-US"/>
              <a:t>, is used for melting or freezing</a:t>
            </a:r>
          </a:p>
          <a:p>
            <a:pPr eaLnBrk="1" hangingPunct="1"/>
            <a:r>
              <a:rPr lang="en-US" altLang="en-US" i="1"/>
              <a:t>Latent heat of vaporization</a:t>
            </a:r>
            <a:r>
              <a:rPr lang="en-US" altLang="en-US"/>
              <a:t>, L</a:t>
            </a:r>
            <a:r>
              <a:rPr lang="en-US" altLang="en-US" baseline="-25000"/>
              <a:t>v</a:t>
            </a:r>
            <a:r>
              <a:rPr lang="en-US" altLang="en-US"/>
              <a:t>, is used for boiling or condensing</a:t>
            </a:r>
          </a:p>
          <a:p>
            <a:pPr eaLnBrk="1" hangingPunct="1"/>
            <a:r>
              <a:rPr lang="en-US" altLang="en-US"/>
              <a:t>Table 11.2 gives the latent heats for various substances</a:t>
            </a:r>
            <a:endParaRPr lang="en-US" altLang="en-US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46C59DF2-FEC9-259C-9B50-1DC68C34C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Sublimation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F281FE9-B9ED-0871-0953-871533B09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substances will go directly from solid to gaseous phase</a:t>
            </a:r>
          </a:p>
          <a:p>
            <a:pPr lvl="1" eaLnBrk="1" hangingPunct="1"/>
            <a:r>
              <a:rPr lang="en-US" altLang="en-US"/>
              <a:t>Without passing through the liquid phase</a:t>
            </a:r>
          </a:p>
          <a:p>
            <a:pPr eaLnBrk="1" hangingPunct="1"/>
            <a:r>
              <a:rPr lang="en-US" altLang="en-US"/>
              <a:t>This process is called </a:t>
            </a:r>
            <a:r>
              <a:rPr lang="en-US" altLang="en-US" i="1"/>
              <a:t>sublimation</a:t>
            </a:r>
            <a:endParaRPr lang="en-US" altLang="en-US"/>
          </a:p>
          <a:p>
            <a:pPr lvl="1" eaLnBrk="1" hangingPunct="1"/>
            <a:r>
              <a:rPr lang="en-US" altLang="en-US"/>
              <a:t>There will be a latent heat of sublimation associated with this phase change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7E3F8DB-1BFC-AEEA-8A8F-2D68E8254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 vs. Q Graphs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ADF9837-39CB-6209-391B-FF5B1CB88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grpSp>
        <p:nvGrpSpPr>
          <p:cNvPr id="55300" name="Group 9">
            <a:extLst>
              <a:ext uri="{FF2B5EF4-FFF2-40B4-BE49-F238E27FC236}">
                <a16:creationId xmlns:a16="http://schemas.microsoft.com/office/drawing/2014/main" id="{D57305D0-DE5C-01E8-6FF0-4F78B1EA4C70}"/>
              </a:ext>
            </a:extLst>
          </p:cNvPr>
          <p:cNvGrpSpPr>
            <a:grpSpLocks/>
          </p:cNvGrpSpPr>
          <p:nvPr/>
        </p:nvGrpSpPr>
        <p:grpSpPr bwMode="auto">
          <a:xfrm>
            <a:off x="2082800" y="1233488"/>
            <a:ext cx="5372100" cy="4943475"/>
            <a:chOff x="1111" y="804"/>
            <a:chExt cx="3384" cy="3114"/>
          </a:xfrm>
        </p:grpSpPr>
        <p:pic>
          <p:nvPicPr>
            <p:cNvPr id="55301" name="Picture 4" descr="heating_curve">
              <a:extLst>
                <a:ext uri="{FF2B5EF4-FFF2-40B4-BE49-F238E27FC236}">
                  <a16:creationId xmlns:a16="http://schemas.microsoft.com/office/drawing/2014/main" id="{692B69F5-E329-1F48-EB2F-A96854F290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" y="804"/>
              <a:ext cx="3384" cy="3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2" name="Line 8">
              <a:extLst>
                <a:ext uri="{FF2B5EF4-FFF2-40B4-BE49-F238E27FC236}">
                  <a16:creationId xmlns:a16="http://schemas.microsoft.com/office/drawing/2014/main" id="{14256164-D942-863E-D25F-60A431AC9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3" y="3813"/>
              <a:ext cx="2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5E80F0F-41F4-390F-01E1-07C5D96B9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of Ice to Steam</a:t>
            </a:r>
          </a:p>
        </p:txBody>
      </p:sp>
      <p:pic>
        <p:nvPicPr>
          <p:cNvPr id="56323" name="Picture 3" descr="1103">
            <a:extLst>
              <a:ext uri="{FF2B5EF4-FFF2-40B4-BE49-F238E27FC236}">
                <a16:creationId xmlns:a16="http://schemas.microsoft.com/office/drawing/2014/main" id="{2D923407-05BC-C7E9-19D2-422031156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09763"/>
            <a:ext cx="8964612" cy="494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EE01E469-3B87-2E92-391F-A18915F30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Warming Ice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ADD71FB5-61FE-1A1C-0FD7-E45754D0943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2017713"/>
            <a:ext cx="5105400" cy="4535487"/>
          </a:xfrm>
        </p:spPr>
        <p:txBody>
          <a:bodyPr/>
          <a:lstStyle/>
          <a:p>
            <a:pPr eaLnBrk="1" hangingPunct="1"/>
            <a:r>
              <a:rPr lang="en-US" altLang="en-US" sz="3000"/>
              <a:t>Start with one gram of ice at –30.0º C</a:t>
            </a:r>
          </a:p>
          <a:p>
            <a:pPr eaLnBrk="1" hangingPunct="1"/>
            <a:r>
              <a:rPr lang="en-US" altLang="en-US" sz="3000"/>
              <a:t>During A, the temperature of the ice changes from –30.0º C to 0º C</a:t>
            </a:r>
          </a:p>
          <a:p>
            <a:pPr eaLnBrk="1" hangingPunct="1"/>
            <a:r>
              <a:rPr lang="en-US" altLang="en-US" sz="3000"/>
              <a:t>Use Q = m c ΔT</a:t>
            </a:r>
          </a:p>
          <a:p>
            <a:pPr eaLnBrk="1" hangingPunct="1"/>
            <a:r>
              <a:rPr lang="en-US" altLang="en-US" sz="3000"/>
              <a:t>Will add 62.7 J of energy</a:t>
            </a:r>
          </a:p>
        </p:txBody>
      </p:sp>
      <p:graphicFrame>
        <p:nvGraphicFramePr>
          <p:cNvPr id="57348" name="Object 4">
            <a:extLst>
              <a:ext uri="{FF2B5EF4-FFF2-40B4-BE49-F238E27FC236}">
                <a16:creationId xmlns:a16="http://schemas.microsoft.com/office/drawing/2014/main" id="{4EA6FA2D-051E-FE33-1018-7F964DCA3265}"/>
              </a:ext>
            </a:extLst>
          </p:cNvPr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410200" y="1295400"/>
          <a:ext cx="29591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286055" imgH="2219635" progId="MSPhotoEd.3">
                  <p:embed/>
                </p:oleObj>
              </mc:Choice>
              <mc:Fallback>
                <p:oleObj name="Photo Editor Photo" r:id="rId2" imgW="1286055" imgH="2219635" progId="MSPhotoEd.3">
                  <p:embed/>
                  <p:pic>
                    <p:nvPicPr>
                      <p:cNvPr id="57348" name="Object 4">
                        <a:extLst>
                          <a:ext uri="{FF2B5EF4-FFF2-40B4-BE49-F238E27FC236}">
                            <a16:creationId xmlns:a16="http://schemas.microsoft.com/office/drawing/2014/main" id="{4EA6FA2D-051E-FE33-1018-7F964DCA32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295400"/>
                        <a:ext cx="2959100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B73161D-7C2D-ABF4-99FA-F679D6F58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Melting Ice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96EED31-4D7D-58AD-AFED-C8912C485E5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3810000" cy="4459287"/>
          </a:xfrm>
        </p:spPr>
        <p:txBody>
          <a:bodyPr/>
          <a:lstStyle/>
          <a:p>
            <a:pPr eaLnBrk="1" hangingPunct="1"/>
            <a:r>
              <a:rPr lang="en-US" altLang="en-US" sz="2600"/>
              <a:t>Once at 0º C, the phase change (melting) starts</a:t>
            </a:r>
          </a:p>
          <a:p>
            <a:pPr eaLnBrk="1" hangingPunct="1"/>
            <a:r>
              <a:rPr lang="en-US" altLang="en-US" sz="2600"/>
              <a:t>The temperature stays the same although energy is still being added</a:t>
            </a:r>
          </a:p>
          <a:p>
            <a:pPr eaLnBrk="1" hangingPunct="1"/>
            <a:r>
              <a:rPr lang="en-US" altLang="en-US" sz="2600"/>
              <a:t>Use Q = m L</a:t>
            </a:r>
            <a:r>
              <a:rPr lang="en-US" altLang="en-US" sz="2600" baseline="-25000"/>
              <a:t>f</a:t>
            </a:r>
            <a:r>
              <a:rPr lang="en-US" altLang="en-US" sz="2600"/>
              <a:t> </a:t>
            </a:r>
          </a:p>
          <a:p>
            <a:pPr eaLnBrk="1" hangingPunct="1"/>
            <a:r>
              <a:rPr lang="en-US" altLang="en-US" sz="2600"/>
              <a:t>Needs 333 J of energy</a:t>
            </a:r>
          </a:p>
        </p:txBody>
      </p:sp>
      <p:graphicFrame>
        <p:nvGraphicFramePr>
          <p:cNvPr id="58372" name="Object 4">
            <a:extLst>
              <a:ext uri="{FF2B5EF4-FFF2-40B4-BE49-F238E27FC236}">
                <a16:creationId xmlns:a16="http://schemas.microsoft.com/office/drawing/2014/main" id="{AE6941AD-D37A-F6B4-3CFC-47AF9611220E}"/>
              </a:ext>
            </a:extLst>
          </p:cNvPr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715000" y="1239838"/>
          <a:ext cx="2455863" cy="523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219370" imgH="2600000" progId="MSPhotoEd.3">
                  <p:embed/>
                </p:oleObj>
              </mc:Choice>
              <mc:Fallback>
                <p:oleObj name="Photo Editor Photo" r:id="rId2" imgW="1219370" imgH="2600000" progId="MSPhotoEd.3">
                  <p:embed/>
                  <p:pic>
                    <p:nvPicPr>
                      <p:cNvPr id="58372" name="Object 4">
                        <a:extLst>
                          <a:ext uri="{FF2B5EF4-FFF2-40B4-BE49-F238E27FC236}">
                            <a16:creationId xmlns:a16="http://schemas.microsoft.com/office/drawing/2014/main" id="{AE6941AD-D37A-F6B4-3CFC-47AF961122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239838"/>
                        <a:ext cx="2455863" cy="5237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6BDECF9-D6AF-530A-07FD-366218E4A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Warming Water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9F6318E-9A8C-3462-60EC-F75C084DC83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/>
              <a:t>Between 0º C and 100º C, the material is liquid and no phase changes take place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Energy added increases the temperature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Use Q = m c ΔT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419 J of energy are added</a:t>
            </a:r>
          </a:p>
        </p:txBody>
      </p:sp>
      <p:graphicFrame>
        <p:nvGraphicFramePr>
          <p:cNvPr id="59396" name="Object 4">
            <a:extLst>
              <a:ext uri="{FF2B5EF4-FFF2-40B4-BE49-F238E27FC236}">
                <a16:creationId xmlns:a16="http://schemas.microsoft.com/office/drawing/2014/main" id="{08FA614E-FBFF-7862-95D4-64C1209ED565}"/>
              </a:ext>
            </a:extLst>
          </p:cNvPr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6132513" y="1295400"/>
          <a:ext cx="2303462" cy="494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886213" imgH="4304762" progId="MSPhotoEd.3">
                  <p:embed/>
                </p:oleObj>
              </mc:Choice>
              <mc:Fallback>
                <p:oleObj name="Photo Editor Photo" r:id="rId2" imgW="1886213" imgH="4304762" progId="MSPhotoEd.3">
                  <p:embed/>
                  <p:pic>
                    <p:nvPicPr>
                      <p:cNvPr id="59396" name="Object 4">
                        <a:extLst>
                          <a:ext uri="{FF2B5EF4-FFF2-40B4-BE49-F238E27FC236}">
                            <a16:creationId xmlns:a16="http://schemas.microsoft.com/office/drawing/2014/main" id="{08FA614E-FBFF-7862-95D4-64C1209ED5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513" y="1295400"/>
                        <a:ext cx="2303462" cy="494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3EEE747-7194-00C6-EFC7-75F3648F4B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Boiling Water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CC55106-B67B-94B3-28EC-DA8786431AE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eaLnBrk="1" hangingPunct="1"/>
            <a:r>
              <a:rPr lang="en-US" altLang="en-US" sz="2800"/>
              <a:t>At 100º C, a phase change occurs (boiling)</a:t>
            </a:r>
          </a:p>
          <a:p>
            <a:pPr eaLnBrk="1" hangingPunct="1"/>
            <a:r>
              <a:rPr lang="en-US" altLang="en-US" sz="2800"/>
              <a:t>Temperature does not change</a:t>
            </a:r>
          </a:p>
          <a:p>
            <a:pPr eaLnBrk="1" hangingPunct="1"/>
            <a:r>
              <a:rPr lang="en-US" altLang="en-US" sz="2800"/>
              <a:t>Use Q = m Lv </a:t>
            </a:r>
          </a:p>
          <a:p>
            <a:pPr eaLnBrk="1" hangingPunct="1"/>
            <a:r>
              <a:rPr lang="en-US" altLang="en-US" sz="2800"/>
              <a:t>2 260 J of energy are needed</a:t>
            </a:r>
          </a:p>
        </p:txBody>
      </p:sp>
      <p:graphicFrame>
        <p:nvGraphicFramePr>
          <p:cNvPr id="60420" name="Object 4">
            <a:extLst>
              <a:ext uri="{FF2B5EF4-FFF2-40B4-BE49-F238E27FC236}">
                <a16:creationId xmlns:a16="http://schemas.microsoft.com/office/drawing/2014/main" id="{FECC56CC-1709-3052-34A7-3E2406843608}"/>
              </a:ext>
            </a:extLst>
          </p:cNvPr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4652963" y="2514600"/>
          <a:ext cx="4033837" cy="269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6400000" imgH="4114286" progId="MSPhotoEd.3">
                  <p:embed/>
                </p:oleObj>
              </mc:Choice>
              <mc:Fallback>
                <p:oleObj name="Photo Editor Photo" r:id="rId2" imgW="6400000" imgH="4114286" progId="MSPhotoEd.3">
                  <p:embed/>
                  <p:pic>
                    <p:nvPicPr>
                      <p:cNvPr id="60420" name="Object 4">
                        <a:extLst>
                          <a:ext uri="{FF2B5EF4-FFF2-40B4-BE49-F238E27FC236}">
                            <a16:creationId xmlns:a16="http://schemas.microsoft.com/office/drawing/2014/main" id="{FECC56CC-1709-3052-34A7-3E24068436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2514600"/>
                        <a:ext cx="4033837" cy="269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D2A7228-149B-D9F6-C1B1-98B43578B4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Heating Steam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10E8F6F1-273D-4D2E-C5C5-B81851A072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55245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/>
              <a:t>After all the water is converted to steam, the steam will heat up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No phase change occurs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The added energy goes to increasing the temperature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Use Q = m c ΔT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To raise the temperature of the steam to 120°, 40.2 J of energy are needed</a:t>
            </a:r>
          </a:p>
          <a:p>
            <a:pPr eaLnBrk="1" hangingPunct="1">
              <a:lnSpc>
                <a:spcPct val="90000"/>
              </a:lnSpc>
            </a:pPr>
            <a:endParaRPr lang="en-US" altLang="en-US" sz="2600"/>
          </a:p>
        </p:txBody>
      </p:sp>
      <p:graphicFrame>
        <p:nvGraphicFramePr>
          <p:cNvPr id="61444" name="Object 4">
            <a:extLst>
              <a:ext uri="{FF2B5EF4-FFF2-40B4-BE49-F238E27FC236}">
                <a16:creationId xmlns:a16="http://schemas.microsoft.com/office/drawing/2014/main" id="{A88ABD42-D454-42AD-60EE-D629EC90E7CD}"/>
              </a:ext>
            </a:extLst>
          </p:cNvPr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7413625" y="1289050"/>
          <a:ext cx="1235075" cy="534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028844" imgH="4447619" progId="MSPhotoEd.3">
                  <p:embed/>
                </p:oleObj>
              </mc:Choice>
              <mc:Fallback>
                <p:oleObj name="Photo Editor Photo" r:id="rId2" imgW="1028844" imgH="4447619" progId="MSPhotoEd.3">
                  <p:embed/>
                  <p:pic>
                    <p:nvPicPr>
                      <p:cNvPr id="61444" name="Object 4">
                        <a:extLst>
                          <a:ext uri="{FF2B5EF4-FFF2-40B4-BE49-F238E27FC236}">
                            <a16:creationId xmlns:a16="http://schemas.microsoft.com/office/drawing/2014/main" id="{A88ABD42-D454-42AD-60EE-D629EC90E7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25" y="1289050"/>
                        <a:ext cx="1235075" cy="534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48544C6C-ECBE-5CA5-67DD-A9B9399E63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Problem Solving Strategies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E4D2F708-0ACE-4553-7122-C95DCA428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Make a table</a:t>
            </a:r>
          </a:p>
          <a:p>
            <a:pPr lvl="1" eaLnBrk="1" hangingPunct="1"/>
            <a:r>
              <a:rPr lang="en-US" altLang="en-US"/>
              <a:t>A column for each quantity</a:t>
            </a:r>
          </a:p>
          <a:p>
            <a:pPr lvl="1" eaLnBrk="1" hangingPunct="1"/>
            <a:r>
              <a:rPr lang="en-US" altLang="en-US"/>
              <a:t>A row for each phase and/or phase change</a:t>
            </a:r>
          </a:p>
          <a:p>
            <a:pPr lvl="1" eaLnBrk="1" hangingPunct="1"/>
            <a:r>
              <a:rPr lang="en-US" altLang="en-US"/>
              <a:t>Use a final column for the combination of quantities</a:t>
            </a:r>
          </a:p>
          <a:p>
            <a:pPr eaLnBrk="1" hangingPunct="1"/>
            <a:r>
              <a:rPr lang="en-US" altLang="en-US"/>
              <a:t>Use consistent units</a:t>
            </a:r>
          </a:p>
          <a:p>
            <a:pPr lvl="1"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B934A507-75E4-B1AA-7D03-F4C083C0F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Problem Solving Strategies, cont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FE620448-E437-8CFB-4845-3CE93A0564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Apply Conservation of Energy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Transfers in energy are given as Q=mcΔT for processes with no phase changes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Use Q = m L</a:t>
            </a:r>
            <a:r>
              <a:rPr lang="en-US" altLang="en-US" baseline="-25000"/>
              <a:t>f</a:t>
            </a:r>
            <a:r>
              <a:rPr lang="en-US" altLang="en-US"/>
              <a:t> or Q = m L</a:t>
            </a:r>
            <a:r>
              <a:rPr lang="en-US" altLang="en-US" baseline="-25000"/>
              <a:t>v</a:t>
            </a:r>
            <a:r>
              <a:rPr lang="en-US" altLang="en-US"/>
              <a:t> if there is a phase change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 Q</a:t>
            </a:r>
            <a:r>
              <a:rPr lang="en-US" altLang="en-US" baseline="-25000"/>
              <a:t>cold</a:t>
            </a:r>
            <a:r>
              <a:rPr lang="en-US" altLang="en-US"/>
              <a:t> = - Q</a:t>
            </a:r>
            <a:r>
              <a:rPr lang="en-US" altLang="en-US" baseline="-25000"/>
              <a:t>hot</a:t>
            </a:r>
            <a:r>
              <a:rPr lang="en-US" altLang="en-US"/>
              <a:t> be careful of 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ΔT is T</a:t>
            </a:r>
            <a:r>
              <a:rPr lang="en-US" altLang="en-US" baseline="-25000"/>
              <a:t>f</a:t>
            </a:r>
            <a:r>
              <a:rPr lang="en-US" altLang="en-US"/>
              <a:t> – T</a:t>
            </a:r>
            <a:r>
              <a:rPr lang="en-US" altLang="en-US" baseline="-25000"/>
              <a:t>i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Solve for the unknown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>
            <a:extLst>
              <a:ext uri="{FF2B5EF4-FFF2-40B4-BE49-F238E27FC236}">
                <a16:creationId xmlns:a16="http://schemas.microsoft.com/office/drawing/2014/main" id="{8A5C4BFB-983F-13D3-E27D-D9B9473D6F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20.4 Work and Heat in Thermodynamic Processes</a:t>
            </a:r>
          </a:p>
        </p:txBody>
      </p:sp>
      <p:sp>
        <p:nvSpPr>
          <p:cNvPr id="64515" name="Rectangle 5">
            <a:extLst>
              <a:ext uri="{FF2B5EF4-FFF2-40B4-BE49-F238E27FC236}">
                <a16:creationId xmlns:a16="http://schemas.microsoft.com/office/drawing/2014/main" id="{32B4105D-7665-C94A-21F3-4B9CBDA8D97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009B560-39F5-4A5F-2D14-5A67F0177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Work in a Gas Cylinder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D26EB3C-4DD2-5638-33D3-48842A0714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3992563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gas is contained in a cylinder with a moveable piston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gas occupies a volume V and exerts pressure P on the walls of the cylinder and on the piston</a:t>
            </a:r>
          </a:p>
        </p:txBody>
      </p:sp>
      <p:sp>
        <p:nvSpPr>
          <p:cNvPr id="65540" name="ClipArt Placeholder 1">
            <a:extLst>
              <a:ext uri="{FF2B5EF4-FFF2-40B4-BE49-F238E27FC236}">
                <a16:creationId xmlns:a16="http://schemas.microsoft.com/office/drawing/2014/main" id="{95EF31D1-4509-54F9-9C38-086E05B94A88}"/>
              </a:ext>
            </a:extLst>
          </p:cNvPr>
          <p:cNvSpPr>
            <a:spLocks noGrp="1" noChangeArrowheads="1" noTextEdit="1"/>
          </p:cNvSpPr>
          <p:nvPr>
            <p:ph type="clipArt" sz="half" idx="2"/>
          </p:nvPr>
        </p:nvSpPr>
        <p:spPr/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5541" name="Picture 5">
            <a:extLst>
              <a:ext uri="{FF2B5EF4-FFF2-40B4-BE49-F238E27FC236}">
                <a16:creationId xmlns:a16="http://schemas.microsoft.com/office/drawing/2014/main" id="{043C5676-78D5-EB5C-9A21-FB577F2E2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25" y="1944688"/>
            <a:ext cx="1844675" cy="396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F821566B-AA0D-56B8-7DB2-F40D51D7B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Work in a Gas Cylinder, cont.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A286B30F-66B6-A84D-5742-104164750EC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4975" y="1981200"/>
            <a:ext cx="3919538" cy="4419600"/>
          </a:xfrm>
        </p:spPr>
        <p:txBody>
          <a:bodyPr/>
          <a:lstStyle/>
          <a:p>
            <a:pPr eaLnBrk="1" hangingPunct="1"/>
            <a:r>
              <a:rPr lang="en-US" altLang="en-US" sz="2400"/>
              <a:t>A force is applied to slowly compress the gas</a:t>
            </a:r>
          </a:p>
          <a:p>
            <a:pPr lvl="1" eaLnBrk="1" hangingPunct="1"/>
            <a:r>
              <a:rPr lang="en-US" altLang="en-US" sz="2000"/>
              <a:t>The compression is slow enough for all the system to remain essentially in thermal equilibrium</a:t>
            </a:r>
          </a:p>
          <a:p>
            <a:pPr eaLnBrk="1" hangingPunct="1"/>
            <a:r>
              <a:rPr lang="en-US" altLang="en-US" sz="2400"/>
              <a:t>W = - P </a:t>
            </a:r>
            <a:r>
              <a:rPr lang="en-US" altLang="en-US" sz="2400">
                <a:cs typeface="Tahoma" panose="020B0604030504040204" pitchFamily="34" charset="0"/>
              </a:rPr>
              <a:t>ΔV</a:t>
            </a:r>
          </a:p>
          <a:p>
            <a:pPr lvl="1" eaLnBrk="1" hangingPunct="1"/>
            <a:r>
              <a:rPr lang="en-US" altLang="en-US" sz="2000"/>
              <a:t>This is the work done </a:t>
            </a:r>
            <a:r>
              <a:rPr lang="en-US" altLang="en-US" sz="2000" i="1"/>
              <a:t>on</a:t>
            </a:r>
            <a:r>
              <a:rPr lang="en-US" altLang="en-US" sz="2000"/>
              <a:t> the gas</a:t>
            </a:r>
          </a:p>
        </p:txBody>
      </p:sp>
      <p:pic>
        <p:nvPicPr>
          <p:cNvPr id="66564" name="Picture 5">
            <a:extLst>
              <a:ext uri="{FF2B5EF4-FFF2-40B4-BE49-F238E27FC236}">
                <a16:creationId xmlns:a16="http://schemas.microsoft.com/office/drawing/2014/main" id="{8C010B48-86E8-4DC0-9F13-5B74B4A74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3" y="1871663"/>
            <a:ext cx="1843087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565" name="Picture 5">
            <a:extLst>
              <a:ext uri="{FF2B5EF4-FFF2-40B4-BE49-F238E27FC236}">
                <a16:creationId xmlns:a16="http://schemas.microsoft.com/office/drawing/2014/main" id="{2779575C-DE06-B126-44D3-C64ABE3A7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213" y="2074863"/>
            <a:ext cx="1866900" cy="371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6566" name="Straight Connector 3">
            <a:extLst>
              <a:ext uri="{FF2B5EF4-FFF2-40B4-BE49-F238E27FC236}">
                <a16:creationId xmlns:a16="http://schemas.microsoft.com/office/drawing/2014/main" id="{F276C44E-BCC2-767E-1612-B2AE426DCC9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59538" y="3294063"/>
            <a:ext cx="43497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67" name="Straight Connector 9">
            <a:extLst>
              <a:ext uri="{FF2B5EF4-FFF2-40B4-BE49-F238E27FC236}">
                <a16:creationId xmlns:a16="http://schemas.microsoft.com/office/drawing/2014/main" id="{F87DF2BD-E9BA-12E9-20C3-1D1C9AD561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65888" y="3810000"/>
            <a:ext cx="43497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568" name="TextBox 5">
            <a:extLst>
              <a:ext uri="{FF2B5EF4-FFF2-40B4-BE49-F238E27FC236}">
                <a16:creationId xmlns:a16="http://schemas.microsoft.com/office/drawing/2014/main" id="{340C917F-BAC9-3332-F740-E5E91B83F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3367088"/>
            <a:ext cx="439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y</a:t>
            </a:r>
            <a:endParaRPr lang="en-US" altLang="en-US" sz="1800"/>
          </a:p>
        </p:txBody>
      </p:sp>
      <p:cxnSp>
        <p:nvCxnSpPr>
          <p:cNvPr id="66569" name="Straight Arrow Connector 7">
            <a:extLst>
              <a:ext uri="{FF2B5EF4-FFF2-40B4-BE49-F238E27FC236}">
                <a16:creationId xmlns:a16="http://schemas.microsoft.com/office/drawing/2014/main" id="{466431CF-AFC8-6A20-087E-7248E3963E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45263" y="3294063"/>
            <a:ext cx="0" cy="4937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FF458C9-5BD0-F602-1AA4-9122E75C3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More about Work on a Gas Cylinder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051BE474-8047-068B-A8DB-066E577DF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When the gas is compressed</a:t>
            </a:r>
          </a:p>
          <a:p>
            <a:pPr lvl="1" eaLnBrk="1" hangingPunct="1"/>
            <a:r>
              <a:rPr lang="en-US" altLang="en-US" sz="2400">
                <a:cs typeface="Tahoma" panose="020B0604030504040204" pitchFamily="34" charset="0"/>
              </a:rPr>
              <a:t>ΔV is negative </a:t>
            </a:r>
          </a:p>
          <a:p>
            <a:pPr lvl="1" eaLnBrk="1" hangingPunct="1"/>
            <a:r>
              <a:rPr lang="en-US" altLang="en-US" sz="2400">
                <a:cs typeface="Tahoma" panose="020B0604030504040204" pitchFamily="34" charset="0"/>
              </a:rPr>
              <a:t>The work done on the gas is positive</a:t>
            </a:r>
          </a:p>
          <a:p>
            <a:pPr eaLnBrk="1" hangingPunct="1"/>
            <a:r>
              <a:rPr lang="en-US" altLang="en-US" sz="2800"/>
              <a:t>When the gas is allowed to expand</a:t>
            </a:r>
          </a:p>
          <a:p>
            <a:pPr lvl="1" eaLnBrk="1" hangingPunct="1"/>
            <a:r>
              <a:rPr lang="en-US" altLang="en-US" sz="2400">
                <a:cs typeface="Tahoma" panose="020B0604030504040204" pitchFamily="34" charset="0"/>
              </a:rPr>
              <a:t>ΔV is positive</a:t>
            </a:r>
          </a:p>
          <a:p>
            <a:pPr lvl="1" eaLnBrk="1" hangingPunct="1"/>
            <a:r>
              <a:rPr lang="en-US" altLang="en-US" sz="2400">
                <a:cs typeface="Tahoma" panose="020B0604030504040204" pitchFamily="34" charset="0"/>
              </a:rPr>
              <a:t>The work done on the gas is negative</a:t>
            </a:r>
          </a:p>
          <a:p>
            <a:pPr eaLnBrk="1" hangingPunct="1"/>
            <a:r>
              <a:rPr lang="en-US" altLang="en-US" sz="2800">
                <a:cs typeface="Tahoma" panose="020B0604030504040204" pitchFamily="34" charset="0"/>
              </a:rPr>
              <a:t>When the volume remains constant</a:t>
            </a:r>
          </a:p>
          <a:p>
            <a:pPr lvl="1" eaLnBrk="1" hangingPunct="1"/>
            <a:r>
              <a:rPr lang="en-US" altLang="en-US" sz="2400">
                <a:cs typeface="Tahoma" panose="020B0604030504040204" pitchFamily="34" charset="0"/>
              </a:rPr>
              <a:t>No work is done on the gas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D925EE0-2C0D-5A2C-3C5E-111FB4BD1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Notes about the Work Equation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932D1347-E6CA-CAAD-9C0B-025D451C7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pressure remains constant during the expansion or compression</a:t>
            </a:r>
          </a:p>
          <a:p>
            <a:pPr lvl="1" eaLnBrk="1" hangingPunct="1"/>
            <a:r>
              <a:rPr lang="en-US" altLang="en-US"/>
              <a:t>This is called an </a:t>
            </a:r>
            <a:r>
              <a:rPr lang="en-US" altLang="en-US" i="1"/>
              <a:t>isobaric</a:t>
            </a:r>
            <a:r>
              <a:rPr lang="en-US" altLang="en-US"/>
              <a:t> process</a:t>
            </a:r>
          </a:p>
          <a:p>
            <a:pPr eaLnBrk="1" hangingPunct="1"/>
            <a:r>
              <a:rPr lang="en-US" altLang="en-US"/>
              <a:t>If the pressure changes, the average pressure may be used to estimate the work done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1D905AE-F538-DB81-D23A-665D46199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PV Diagrams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FAA5532E-5E79-B519-D60B-A50FDB72A1F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017713"/>
            <a:ext cx="4306888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Used when the pressure and volume are known at each step of the process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work done on a gas that takes it from some initial state to some final state is the negative of the area under the curve on the PV diagram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This is true whether or not the pressure stays constant</a:t>
            </a:r>
          </a:p>
        </p:txBody>
      </p:sp>
      <p:pic>
        <p:nvPicPr>
          <p:cNvPr id="69636" name="Picture 4" descr="1202">
            <a:extLst>
              <a:ext uri="{FF2B5EF4-FFF2-40B4-BE49-F238E27FC236}">
                <a16:creationId xmlns:a16="http://schemas.microsoft.com/office/drawing/2014/main" id="{2F220951-CEB0-F615-8641-77667425D1AE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52963" y="1666875"/>
            <a:ext cx="4033837" cy="4392613"/>
          </a:xfr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D3E1E15-B3FF-1C7F-7246-5ADC62C1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PV Diagrams, cont.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0F2F19E-9D8C-CBE4-E09F-DB1517F63EA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368800" cy="4445000"/>
          </a:xfrm>
        </p:spPr>
        <p:txBody>
          <a:bodyPr/>
          <a:lstStyle/>
          <a:p>
            <a:pPr eaLnBrk="1" hangingPunct="1"/>
            <a:r>
              <a:rPr lang="en-US" altLang="en-US" sz="2400"/>
              <a:t>The curve on the diagram is called the </a:t>
            </a:r>
            <a:r>
              <a:rPr lang="en-US" altLang="en-US" sz="2400" i="1"/>
              <a:t>path</a:t>
            </a:r>
            <a:r>
              <a:rPr lang="en-US" altLang="en-US" sz="2400"/>
              <a:t> taken between the initial and final states</a:t>
            </a:r>
          </a:p>
          <a:p>
            <a:pPr eaLnBrk="1" hangingPunct="1"/>
            <a:r>
              <a:rPr lang="en-US" altLang="en-US" sz="2400"/>
              <a:t>The work done depends on the particular path</a:t>
            </a:r>
          </a:p>
          <a:p>
            <a:pPr lvl="1" eaLnBrk="1" hangingPunct="1"/>
            <a:r>
              <a:rPr lang="en-US" altLang="en-US" sz="2000"/>
              <a:t>Same initial and final states, but different amounts of work are done</a:t>
            </a:r>
          </a:p>
        </p:txBody>
      </p:sp>
      <p:graphicFrame>
        <p:nvGraphicFramePr>
          <p:cNvPr id="70660" name="Object 6">
            <a:extLst>
              <a:ext uri="{FF2B5EF4-FFF2-40B4-BE49-F238E27FC236}">
                <a16:creationId xmlns:a16="http://schemas.microsoft.com/office/drawing/2014/main" id="{F5CDB8B0-09B8-4234-7FF8-094417A99E0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945063" y="1427163"/>
          <a:ext cx="4027487" cy="458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0488489" imgH="11933333" progId="MSPhotoEd.3">
                  <p:embed/>
                </p:oleObj>
              </mc:Choice>
              <mc:Fallback>
                <p:oleObj name="Photo Editor Photo" r:id="rId2" imgW="10488489" imgH="11933333" progId="MSPhotoEd.3">
                  <p:embed/>
                  <p:pic>
                    <p:nvPicPr>
                      <p:cNvPr id="70660" name="Object 6">
                        <a:extLst>
                          <a:ext uri="{FF2B5EF4-FFF2-40B4-BE49-F238E27FC236}">
                            <a16:creationId xmlns:a16="http://schemas.microsoft.com/office/drawing/2014/main" id="{F5CDB8B0-09B8-4234-7FF8-094417A99E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063" y="1427163"/>
                        <a:ext cx="4027487" cy="458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06EB4FC0-EDBB-38B2-F67B-F381B1AA4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E8128A5-E78B-74AA-410D-211C6CDAB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Specific Heat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Latent Heat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71684" name="Rectangle 5">
            <a:extLst>
              <a:ext uri="{FF2B5EF4-FFF2-40B4-BE49-F238E27FC236}">
                <a16:creationId xmlns:a16="http://schemas.microsoft.com/office/drawing/2014/main" id="{B4DEDC9D-85B6-CED0-5765-1C12BEE4D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685" name="Object 4">
            <a:extLst>
              <a:ext uri="{FF2B5EF4-FFF2-40B4-BE49-F238E27FC236}">
                <a16:creationId xmlns:a16="http://schemas.microsoft.com/office/drawing/2014/main" id="{7B7B2575-6D1F-AFE7-47B4-6A4530FDA1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7713" y="1571625"/>
          <a:ext cx="14779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25" imgH="203112" progId="Equation.3">
                  <p:embed/>
                </p:oleObj>
              </mc:Choice>
              <mc:Fallback>
                <p:oleObj name="Equation" r:id="rId2" imgW="863225" imgH="203112" progId="Equation.3">
                  <p:embed/>
                  <p:pic>
                    <p:nvPicPr>
                      <p:cNvPr id="71685" name="Object 4">
                        <a:extLst>
                          <a:ext uri="{FF2B5EF4-FFF2-40B4-BE49-F238E27FC236}">
                            <a16:creationId xmlns:a16="http://schemas.microsoft.com/office/drawing/2014/main" id="{7B7B2575-6D1F-AFE7-47B4-6A4530FDA1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13" y="1571625"/>
                        <a:ext cx="147796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Rectangle 27">
            <a:extLst>
              <a:ext uri="{FF2B5EF4-FFF2-40B4-BE49-F238E27FC236}">
                <a16:creationId xmlns:a16="http://schemas.microsoft.com/office/drawing/2014/main" id="{5A9B9720-5FAB-809B-4FBD-E701EFFE5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687" name="Object 26">
            <a:extLst>
              <a:ext uri="{FF2B5EF4-FFF2-40B4-BE49-F238E27FC236}">
                <a16:creationId xmlns:a16="http://schemas.microsoft.com/office/drawing/2014/main" id="{B16F15A5-A023-88EC-BD49-5EFCBCBE5F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1688" y="2312988"/>
          <a:ext cx="1042987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336" imgH="203112" progId="Equation.3">
                  <p:embed/>
                </p:oleObj>
              </mc:Choice>
              <mc:Fallback>
                <p:oleObj name="Equation" r:id="rId4" imgW="609336" imgH="203112" progId="Equation.3">
                  <p:embed/>
                  <p:pic>
                    <p:nvPicPr>
                      <p:cNvPr id="71687" name="Object 26">
                        <a:extLst>
                          <a:ext uri="{FF2B5EF4-FFF2-40B4-BE49-F238E27FC236}">
                            <a16:creationId xmlns:a16="http://schemas.microsoft.com/office/drawing/2014/main" id="{B16F15A5-A023-88EC-BD49-5EFCBCBE5F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1688" y="2312988"/>
                        <a:ext cx="1042987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Rectangle 29">
            <a:extLst>
              <a:ext uri="{FF2B5EF4-FFF2-40B4-BE49-F238E27FC236}">
                <a16:creationId xmlns:a16="http://schemas.microsoft.com/office/drawing/2014/main" id="{834B84D6-76B3-43E1-6F39-5886ADE2E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689" name="Object 28">
            <a:extLst>
              <a:ext uri="{FF2B5EF4-FFF2-40B4-BE49-F238E27FC236}">
                <a16:creationId xmlns:a16="http://schemas.microsoft.com/office/drawing/2014/main" id="{4DF55FF6-CE99-316E-6227-465A66E5D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5550" y="2352675"/>
          <a:ext cx="11747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03200" progId="Equation.3">
                  <p:embed/>
                </p:oleObj>
              </mc:Choice>
              <mc:Fallback>
                <p:oleObj name="Equation" r:id="rId6" imgW="685800" imgH="203200" progId="Equation.3">
                  <p:embed/>
                  <p:pic>
                    <p:nvPicPr>
                      <p:cNvPr id="71689" name="Object 28">
                        <a:extLst>
                          <a:ext uri="{FF2B5EF4-FFF2-40B4-BE49-F238E27FC236}">
                            <a16:creationId xmlns:a16="http://schemas.microsoft.com/office/drawing/2014/main" id="{4DF55FF6-CE99-316E-6227-465A66E5DD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5550" y="2352675"/>
                        <a:ext cx="11747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0" name="Rectangle 31">
            <a:extLst>
              <a:ext uri="{FF2B5EF4-FFF2-40B4-BE49-F238E27FC236}">
                <a16:creationId xmlns:a16="http://schemas.microsoft.com/office/drawing/2014/main" id="{56CED02C-59D5-3B64-3560-313158733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691" name="Object 30">
            <a:extLst>
              <a:ext uri="{FF2B5EF4-FFF2-40B4-BE49-F238E27FC236}">
                <a16:creationId xmlns:a16="http://schemas.microsoft.com/office/drawing/2014/main" id="{8A3301E9-CDA8-8E33-9ED7-DEAEF98A52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1538" y="3784600"/>
          <a:ext cx="13477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7400" imgH="228600" progId="Equation.3">
                  <p:embed/>
                </p:oleObj>
              </mc:Choice>
              <mc:Fallback>
                <p:oleObj name="Equation" r:id="rId8" imgW="787400" imgH="228600" progId="Equation.3">
                  <p:embed/>
                  <p:pic>
                    <p:nvPicPr>
                      <p:cNvPr id="71691" name="Object 30">
                        <a:extLst>
                          <a:ext uri="{FF2B5EF4-FFF2-40B4-BE49-F238E27FC236}">
                            <a16:creationId xmlns:a16="http://schemas.microsoft.com/office/drawing/2014/main" id="{8A3301E9-CDA8-8E33-9ED7-DEAEF98A52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8" y="3784600"/>
                        <a:ext cx="134778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2" name="Rectangle 33">
            <a:extLst>
              <a:ext uri="{FF2B5EF4-FFF2-40B4-BE49-F238E27FC236}">
                <a16:creationId xmlns:a16="http://schemas.microsoft.com/office/drawing/2014/main" id="{2336F6CD-1E2F-D74D-5E3F-71A2D4E74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693" name="Object 32">
            <a:extLst>
              <a:ext uri="{FF2B5EF4-FFF2-40B4-BE49-F238E27FC236}">
                <a16:creationId xmlns:a16="http://schemas.microsoft.com/office/drawing/2014/main" id="{57AB08D6-91B5-0DA3-9917-4423449310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2813" y="4516438"/>
          <a:ext cx="10223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96641" imgH="203112" progId="Equation.3">
                  <p:embed/>
                </p:oleObj>
              </mc:Choice>
              <mc:Fallback>
                <p:oleObj name="Equation" r:id="rId10" imgW="596641" imgH="203112" progId="Equation.3">
                  <p:embed/>
                  <p:pic>
                    <p:nvPicPr>
                      <p:cNvPr id="71693" name="Object 32">
                        <a:extLst>
                          <a:ext uri="{FF2B5EF4-FFF2-40B4-BE49-F238E27FC236}">
                            <a16:creationId xmlns:a16="http://schemas.microsoft.com/office/drawing/2014/main" id="{57AB08D6-91B5-0DA3-9917-442344931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813" y="4516438"/>
                        <a:ext cx="10223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AC9B0910-0DB9-E46F-7E15-C94784AA5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24651195-9F76-7907-C5BB-6C3556263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Work in Thermodynamic Processes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lvl="1" eaLnBrk="1" hangingPunct="1"/>
            <a:r>
              <a:rPr lang="en-US" altLang="en-US"/>
              <a:t>PV diagrams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Problems to try 12-19</a:t>
            </a:r>
          </a:p>
          <a:p>
            <a:pPr eaLnBrk="1" hangingPunct="1"/>
            <a:endParaRPr lang="en-US" altLang="en-US"/>
          </a:p>
        </p:txBody>
      </p:sp>
      <p:sp>
        <p:nvSpPr>
          <p:cNvPr id="72708" name="Rectangle 5">
            <a:extLst>
              <a:ext uri="{FF2B5EF4-FFF2-40B4-BE49-F238E27FC236}">
                <a16:creationId xmlns:a16="http://schemas.microsoft.com/office/drawing/2014/main" id="{18BC54BF-5E7B-3029-A084-EAF43E4D7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0200" y="2217738"/>
            <a:ext cx="1320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 = - P ΔV</a:t>
            </a:r>
          </a:p>
        </p:txBody>
      </p:sp>
      <p:graphicFrame>
        <p:nvGraphicFramePr>
          <p:cNvPr id="345094" name="Object 6">
            <a:extLst>
              <a:ext uri="{FF2B5EF4-FFF2-40B4-BE49-F238E27FC236}">
                <a16:creationId xmlns:a16="http://schemas.microsoft.com/office/drawing/2014/main" id="{90635E28-AF28-571F-4796-7FDC13F16C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9250" y="2198688"/>
          <a:ext cx="982663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7453" imgH="464781" progId="Equation.3">
                  <p:embed/>
                </p:oleObj>
              </mc:Choice>
              <mc:Fallback>
                <p:oleObj name="Equation" r:id="rId2" imgW="777453" imgH="464781" progId="Equation.3">
                  <p:embed/>
                  <p:pic>
                    <p:nvPicPr>
                      <p:cNvPr id="345094" name="Object 6">
                        <a:extLst>
                          <a:ext uri="{FF2B5EF4-FFF2-40B4-BE49-F238E27FC236}">
                            <a16:creationId xmlns:a16="http://schemas.microsoft.com/office/drawing/2014/main" id="{90635E28-AF28-571F-4796-7FDC13F16C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2198688"/>
                        <a:ext cx="982663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Object 28">
            <a:extLst>
              <a:ext uri="{FF2B5EF4-FFF2-40B4-BE49-F238E27FC236}">
                <a16:creationId xmlns:a16="http://schemas.microsoft.com/office/drawing/2014/main" id="{676A63FD-8BC8-BEC8-E843-46F20F5D2F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0638" y="2995613"/>
          <a:ext cx="1690687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4" imgW="10488489" imgH="11933333" progId="MSPhotoEd.3">
                  <p:embed/>
                </p:oleObj>
              </mc:Choice>
              <mc:Fallback>
                <p:oleObj name="Photo Editor Photo" r:id="rId4" imgW="10488489" imgH="11933333" progId="MSPhotoEd.3">
                  <p:embed/>
                  <p:pic>
                    <p:nvPicPr>
                      <p:cNvPr id="72710" name="Object 28">
                        <a:extLst>
                          <a:ext uri="{FF2B5EF4-FFF2-40B4-BE49-F238E27FC236}">
                            <a16:creationId xmlns:a16="http://schemas.microsoft.com/office/drawing/2014/main" id="{676A63FD-8BC8-BEC8-E843-46F20F5D2F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605" t="52095" r="18605"/>
                      <a:stretch>
                        <a:fillRect/>
                      </a:stretch>
                    </p:blipFill>
                    <p:spPr bwMode="auto">
                      <a:xfrm>
                        <a:off x="3830638" y="2995613"/>
                        <a:ext cx="1690687" cy="146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A5E56A-3152-8B4F-4B2E-7BC77CEA68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97E5AE-6FE1-B5BB-E735-5A89822818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456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Molecular Model of an Ideal Gas</a:t>
            </a:r>
          </a:p>
        </p:txBody>
      </p:sp>
      <p:sp>
        <p:nvSpPr>
          <p:cNvPr id="1331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9937" name="Object 1"/>
          <p:cNvGraphicFramePr>
            <a:graphicFrameLocks noChangeAspect="1"/>
          </p:cNvGraphicFramePr>
          <p:nvPr/>
        </p:nvGraphicFramePr>
        <p:xfrm>
          <a:off x="0" y="1371600"/>
          <a:ext cx="9139358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18100" imgH="1879600" progId="Equation.3">
                  <p:embed/>
                </p:oleObj>
              </mc:Choice>
              <mc:Fallback>
                <p:oleObj name="Equation" r:id="rId2" imgW="5118100" imgH="1879600" progId="Equation.3">
                  <p:embed/>
                  <p:pic>
                    <p:nvPicPr>
                      <p:cNvPr id="3993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71600"/>
                        <a:ext cx="9139358" cy="335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811258-4C3E-4805-B66A-2765416DF697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91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123.14.1.5</a:t>
            </a:r>
          </a:p>
        </p:txBody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A car is driving down I-20 at 70mph (the new speed limit). Does the center of mass of the car have the same kinetic energy as a piston in the engine?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Yes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No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Maybe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Wait, the speed limit changed?</a:t>
            </a:r>
          </a:p>
        </p:txBody>
      </p:sp>
    </p:spTree>
    <p:extLst>
      <p:ext uri="{BB962C8B-B14F-4D97-AF65-F5344CB8AC3E}">
        <p14:creationId xmlns:p14="http://schemas.microsoft.com/office/powerpoint/2010/main" val="5270134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811258-4C3E-4805-B66A-2765416DF697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91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123.14.1</a:t>
            </a:r>
          </a:p>
        </p:txBody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We have two gases, each with the same values of n, V and T. One gas is Hydrogen, the other is Nitrogen. For which gas is the rms speed larger?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Hydrogen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Nitrogen</a:t>
            </a:r>
          </a:p>
        </p:txBody>
      </p:sp>
    </p:spTree>
    <p:extLst>
      <p:ext uri="{BB962C8B-B14F-4D97-AF65-F5344CB8AC3E}">
        <p14:creationId xmlns:p14="http://schemas.microsoft.com/office/powerpoint/2010/main" val="5960173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20146416">
            <a:off x="5024400" y="1639494"/>
            <a:ext cx="1726197" cy="3689659"/>
            <a:chOff x="835152" y="1266092"/>
            <a:chExt cx="2265975" cy="4867276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152" y="1266092"/>
              <a:ext cx="2265975" cy="4867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774660" y="5181600"/>
              <a:ext cx="38504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47800" y="4038600"/>
              <a:ext cx="6757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V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62323" y="4158173"/>
              <a:ext cx="6757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P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19200" y="4572000"/>
              <a:ext cx="6757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n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362200" y="3657600"/>
              <a:ext cx="152400" cy="1524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1905000" y="3505200"/>
              <a:ext cx="457200" cy="228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640554" y="3677736"/>
              <a:ext cx="1134616" cy="487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3">
                      <a:lumMod val="50000"/>
                    </a:schemeClr>
                  </a:solidFill>
                </a:rPr>
                <a:t>v</a:t>
              </a:r>
              <a:r>
                <a:rPr lang="en-US" baseline="-25000" dirty="0" err="1">
                  <a:solidFill>
                    <a:schemeClr val="accent3">
                      <a:lumMod val="50000"/>
                    </a:schemeClr>
                  </a:solidFill>
                </a:rPr>
                <a:t>molecule</a:t>
              </a:r>
              <a:endParaRPr lang="en-US" baseline="-250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cxnSp>
        <p:nvCxnSpPr>
          <p:cNvPr id="16" name="Straight Arrow Connector 15"/>
          <p:cNvCxnSpPr/>
          <p:nvPr/>
        </p:nvCxnSpPr>
        <p:spPr>
          <a:xfrm flipV="1">
            <a:off x="6934200" y="2438400"/>
            <a:ext cx="914400" cy="45720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29400" y="1524000"/>
            <a:ext cx="13758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rgbClr val="00B050"/>
                </a:solidFill>
              </a:rPr>
              <a:t>v</a:t>
            </a:r>
            <a:r>
              <a:rPr lang="en-US" sz="4000" baseline="-25000" dirty="0" err="1">
                <a:solidFill>
                  <a:srgbClr val="00B050"/>
                </a:solidFill>
              </a:rPr>
              <a:t>system</a:t>
            </a:r>
            <a:endParaRPr lang="en-US" sz="4000" baseline="-25000" dirty="0">
              <a:solidFill>
                <a:srgbClr val="00B050"/>
              </a:solidFill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-24914" y="3944983"/>
            <a:ext cx="3867572" cy="2913017"/>
          </a:xfrm>
          <a:custGeom>
            <a:avLst/>
            <a:gdLst>
              <a:gd name="connsiteX0" fmla="*/ 0 w 3918857"/>
              <a:gd name="connsiteY0" fmla="*/ 1894114 h 2926080"/>
              <a:gd name="connsiteX1" fmla="*/ 940526 w 3918857"/>
              <a:gd name="connsiteY1" fmla="*/ 1515291 h 2926080"/>
              <a:gd name="connsiteX2" fmla="*/ 1606731 w 3918857"/>
              <a:gd name="connsiteY2" fmla="*/ 1345474 h 2926080"/>
              <a:gd name="connsiteX3" fmla="*/ 1724297 w 3918857"/>
              <a:gd name="connsiteY3" fmla="*/ 1136468 h 2926080"/>
              <a:gd name="connsiteX4" fmla="*/ 1763486 w 3918857"/>
              <a:gd name="connsiteY4" fmla="*/ 836022 h 2926080"/>
              <a:gd name="connsiteX5" fmla="*/ 1907177 w 3918857"/>
              <a:gd name="connsiteY5" fmla="*/ 600891 h 2926080"/>
              <a:gd name="connsiteX6" fmla="*/ 2116183 w 3918857"/>
              <a:gd name="connsiteY6" fmla="*/ 300445 h 2926080"/>
              <a:gd name="connsiteX7" fmla="*/ 2312126 w 3918857"/>
              <a:gd name="connsiteY7" fmla="*/ 195942 h 2926080"/>
              <a:gd name="connsiteX8" fmla="*/ 2495006 w 3918857"/>
              <a:gd name="connsiteY8" fmla="*/ 0 h 2926080"/>
              <a:gd name="connsiteX9" fmla="*/ 2625634 w 3918857"/>
              <a:gd name="connsiteY9" fmla="*/ 65314 h 2926080"/>
              <a:gd name="connsiteX10" fmla="*/ 2638697 w 3918857"/>
              <a:gd name="connsiteY10" fmla="*/ 261257 h 2926080"/>
              <a:gd name="connsiteX11" fmla="*/ 2521131 w 3918857"/>
              <a:gd name="connsiteY11" fmla="*/ 457200 h 2926080"/>
              <a:gd name="connsiteX12" fmla="*/ 2416628 w 3918857"/>
              <a:gd name="connsiteY12" fmla="*/ 627017 h 2926080"/>
              <a:gd name="connsiteX13" fmla="*/ 2638697 w 3918857"/>
              <a:gd name="connsiteY13" fmla="*/ 483325 h 2926080"/>
              <a:gd name="connsiteX14" fmla="*/ 2926080 w 3918857"/>
              <a:gd name="connsiteY14" fmla="*/ 209005 h 2926080"/>
              <a:gd name="connsiteX15" fmla="*/ 3344091 w 3918857"/>
              <a:gd name="connsiteY15" fmla="*/ 13062 h 2926080"/>
              <a:gd name="connsiteX16" fmla="*/ 3474720 w 3918857"/>
              <a:gd name="connsiteY16" fmla="*/ 78377 h 2926080"/>
              <a:gd name="connsiteX17" fmla="*/ 3500846 w 3918857"/>
              <a:gd name="connsiteY17" fmla="*/ 261257 h 2926080"/>
              <a:gd name="connsiteX18" fmla="*/ 3331028 w 3918857"/>
              <a:gd name="connsiteY18" fmla="*/ 404948 h 2926080"/>
              <a:gd name="connsiteX19" fmla="*/ 3161211 w 3918857"/>
              <a:gd name="connsiteY19" fmla="*/ 496388 h 2926080"/>
              <a:gd name="connsiteX20" fmla="*/ 2978331 w 3918857"/>
              <a:gd name="connsiteY20" fmla="*/ 587828 h 2926080"/>
              <a:gd name="connsiteX21" fmla="*/ 2965268 w 3918857"/>
              <a:gd name="connsiteY21" fmla="*/ 679268 h 2926080"/>
              <a:gd name="connsiteX22" fmla="*/ 3135086 w 3918857"/>
              <a:gd name="connsiteY22" fmla="*/ 613954 h 2926080"/>
              <a:gd name="connsiteX23" fmla="*/ 3422468 w 3918857"/>
              <a:gd name="connsiteY23" fmla="*/ 548640 h 2926080"/>
              <a:gd name="connsiteX24" fmla="*/ 3618411 w 3918857"/>
              <a:gd name="connsiteY24" fmla="*/ 548640 h 2926080"/>
              <a:gd name="connsiteX25" fmla="*/ 3827417 w 3918857"/>
              <a:gd name="connsiteY25" fmla="*/ 587828 h 2926080"/>
              <a:gd name="connsiteX26" fmla="*/ 3827417 w 3918857"/>
              <a:gd name="connsiteY26" fmla="*/ 744582 h 2926080"/>
              <a:gd name="connsiteX27" fmla="*/ 3801291 w 3918857"/>
              <a:gd name="connsiteY27" fmla="*/ 849085 h 2926080"/>
              <a:gd name="connsiteX28" fmla="*/ 3631474 w 3918857"/>
              <a:gd name="connsiteY28" fmla="*/ 862148 h 2926080"/>
              <a:gd name="connsiteX29" fmla="*/ 3409406 w 3918857"/>
              <a:gd name="connsiteY29" fmla="*/ 862148 h 2926080"/>
              <a:gd name="connsiteX30" fmla="*/ 3265714 w 3918857"/>
              <a:gd name="connsiteY30" fmla="*/ 888274 h 2926080"/>
              <a:gd name="connsiteX31" fmla="*/ 3135086 w 3918857"/>
              <a:gd name="connsiteY31" fmla="*/ 914400 h 2926080"/>
              <a:gd name="connsiteX32" fmla="*/ 3122023 w 3918857"/>
              <a:gd name="connsiteY32" fmla="*/ 1005840 h 2926080"/>
              <a:gd name="connsiteX33" fmla="*/ 3265714 w 3918857"/>
              <a:gd name="connsiteY33" fmla="*/ 1018902 h 2926080"/>
              <a:gd name="connsiteX34" fmla="*/ 3513908 w 3918857"/>
              <a:gd name="connsiteY34" fmla="*/ 979714 h 2926080"/>
              <a:gd name="connsiteX35" fmla="*/ 3722914 w 3918857"/>
              <a:gd name="connsiteY35" fmla="*/ 979714 h 2926080"/>
              <a:gd name="connsiteX36" fmla="*/ 3918857 w 3918857"/>
              <a:gd name="connsiteY36" fmla="*/ 1071154 h 2926080"/>
              <a:gd name="connsiteX37" fmla="*/ 3827417 w 3918857"/>
              <a:gd name="connsiteY37" fmla="*/ 1214845 h 2926080"/>
              <a:gd name="connsiteX38" fmla="*/ 3579223 w 3918857"/>
              <a:gd name="connsiteY38" fmla="*/ 1240971 h 2926080"/>
              <a:gd name="connsiteX39" fmla="*/ 3396343 w 3918857"/>
              <a:gd name="connsiteY39" fmla="*/ 1254034 h 2926080"/>
              <a:gd name="connsiteX40" fmla="*/ 3239588 w 3918857"/>
              <a:gd name="connsiteY40" fmla="*/ 1254034 h 2926080"/>
              <a:gd name="connsiteX41" fmla="*/ 3056708 w 3918857"/>
              <a:gd name="connsiteY41" fmla="*/ 1319348 h 2926080"/>
              <a:gd name="connsiteX42" fmla="*/ 2978331 w 3918857"/>
              <a:gd name="connsiteY42" fmla="*/ 1332411 h 2926080"/>
              <a:gd name="connsiteX43" fmla="*/ 3082834 w 3918857"/>
              <a:gd name="connsiteY43" fmla="*/ 1371600 h 2926080"/>
              <a:gd name="connsiteX44" fmla="*/ 3278777 w 3918857"/>
              <a:gd name="connsiteY44" fmla="*/ 1423851 h 2926080"/>
              <a:gd name="connsiteX45" fmla="*/ 3435531 w 3918857"/>
              <a:gd name="connsiteY45" fmla="*/ 1423851 h 2926080"/>
              <a:gd name="connsiteX46" fmla="*/ 3553097 w 3918857"/>
              <a:gd name="connsiteY46" fmla="*/ 1476102 h 2926080"/>
              <a:gd name="connsiteX47" fmla="*/ 3566160 w 3918857"/>
              <a:gd name="connsiteY47" fmla="*/ 1645920 h 2926080"/>
              <a:gd name="connsiteX48" fmla="*/ 3370217 w 3918857"/>
              <a:gd name="connsiteY48" fmla="*/ 1698171 h 2926080"/>
              <a:gd name="connsiteX49" fmla="*/ 3017520 w 3918857"/>
              <a:gd name="connsiteY49" fmla="*/ 1619794 h 2926080"/>
              <a:gd name="connsiteX50" fmla="*/ 2886891 w 3918857"/>
              <a:gd name="connsiteY50" fmla="*/ 1658982 h 2926080"/>
              <a:gd name="connsiteX51" fmla="*/ 2690948 w 3918857"/>
              <a:gd name="connsiteY51" fmla="*/ 1854925 h 2926080"/>
              <a:gd name="connsiteX52" fmla="*/ 2429691 w 3918857"/>
              <a:gd name="connsiteY52" fmla="*/ 1998617 h 2926080"/>
              <a:gd name="connsiteX53" fmla="*/ 2181497 w 3918857"/>
              <a:gd name="connsiteY53" fmla="*/ 2129245 h 2926080"/>
              <a:gd name="connsiteX54" fmla="*/ 1946366 w 3918857"/>
              <a:gd name="connsiteY54" fmla="*/ 2194560 h 2926080"/>
              <a:gd name="connsiteX55" fmla="*/ 1632857 w 3918857"/>
              <a:gd name="connsiteY55" fmla="*/ 2377440 h 2926080"/>
              <a:gd name="connsiteX56" fmla="*/ 1332411 w 3918857"/>
              <a:gd name="connsiteY56" fmla="*/ 2612571 h 2926080"/>
              <a:gd name="connsiteX57" fmla="*/ 1110343 w 3918857"/>
              <a:gd name="connsiteY57" fmla="*/ 2834640 h 2926080"/>
              <a:gd name="connsiteX58" fmla="*/ 1045028 w 3918857"/>
              <a:gd name="connsiteY58" fmla="*/ 2873828 h 2926080"/>
              <a:gd name="connsiteX59" fmla="*/ 91440 w 3918857"/>
              <a:gd name="connsiteY59" fmla="*/ 2926080 h 2926080"/>
              <a:gd name="connsiteX60" fmla="*/ 39188 w 3918857"/>
              <a:gd name="connsiteY60" fmla="*/ 1841862 h 2926080"/>
              <a:gd name="connsiteX0" fmla="*/ 0 w 3918857"/>
              <a:gd name="connsiteY0" fmla="*/ 1894114 h 2913017"/>
              <a:gd name="connsiteX1" fmla="*/ 940526 w 3918857"/>
              <a:gd name="connsiteY1" fmla="*/ 1515291 h 2913017"/>
              <a:gd name="connsiteX2" fmla="*/ 1606731 w 3918857"/>
              <a:gd name="connsiteY2" fmla="*/ 1345474 h 2913017"/>
              <a:gd name="connsiteX3" fmla="*/ 1724297 w 3918857"/>
              <a:gd name="connsiteY3" fmla="*/ 1136468 h 2913017"/>
              <a:gd name="connsiteX4" fmla="*/ 1763486 w 3918857"/>
              <a:gd name="connsiteY4" fmla="*/ 836022 h 2913017"/>
              <a:gd name="connsiteX5" fmla="*/ 1907177 w 3918857"/>
              <a:gd name="connsiteY5" fmla="*/ 600891 h 2913017"/>
              <a:gd name="connsiteX6" fmla="*/ 2116183 w 3918857"/>
              <a:gd name="connsiteY6" fmla="*/ 300445 h 2913017"/>
              <a:gd name="connsiteX7" fmla="*/ 2312126 w 3918857"/>
              <a:gd name="connsiteY7" fmla="*/ 195942 h 2913017"/>
              <a:gd name="connsiteX8" fmla="*/ 2495006 w 3918857"/>
              <a:gd name="connsiteY8" fmla="*/ 0 h 2913017"/>
              <a:gd name="connsiteX9" fmla="*/ 2625634 w 3918857"/>
              <a:gd name="connsiteY9" fmla="*/ 65314 h 2913017"/>
              <a:gd name="connsiteX10" fmla="*/ 2638697 w 3918857"/>
              <a:gd name="connsiteY10" fmla="*/ 261257 h 2913017"/>
              <a:gd name="connsiteX11" fmla="*/ 2521131 w 3918857"/>
              <a:gd name="connsiteY11" fmla="*/ 457200 h 2913017"/>
              <a:gd name="connsiteX12" fmla="*/ 2416628 w 3918857"/>
              <a:gd name="connsiteY12" fmla="*/ 627017 h 2913017"/>
              <a:gd name="connsiteX13" fmla="*/ 2638697 w 3918857"/>
              <a:gd name="connsiteY13" fmla="*/ 483325 h 2913017"/>
              <a:gd name="connsiteX14" fmla="*/ 2926080 w 3918857"/>
              <a:gd name="connsiteY14" fmla="*/ 209005 h 2913017"/>
              <a:gd name="connsiteX15" fmla="*/ 3344091 w 3918857"/>
              <a:gd name="connsiteY15" fmla="*/ 13062 h 2913017"/>
              <a:gd name="connsiteX16" fmla="*/ 3474720 w 3918857"/>
              <a:gd name="connsiteY16" fmla="*/ 78377 h 2913017"/>
              <a:gd name="connsiteX17" fmla="*/ 3500846 w 3918857"/>
              <a:gd name="connsiteY17" fmla="*/ 261257 h 2913017"/>
              <a:gd name="connsiteX18" fmla="*/ 3331028 w 3918857"/>
              <a:gd name="connsiteY18" fmla="*/ 404948 h 2913017"/>
              <a:gd name="connsiteX19" fmla="*/ 3161211 w 3918857"/>
              <a:gd name="connsiteY19" fmla="*/ 496388 h 2913017"/>
              <a:gd name="connsiteX20" fmla="*/ 2978331 w 3918857"/>
              <a:gd name="connsiteY20" fmla="*/ 587828 h 2913017"/>
              <a:gd name="connsiteX21" fmla="*/ 2965268 w 3918857"/>
              <a:gd name="connsiteY21" fmla="*/ 679268 h 2913017"/>
              <a:gd name="connsiteX22" fmla="*/ 3135086 w 3918857"/>
              <a:gd name="connsiteY22" fmla="*/ 613954 h 2913017"/>
              <a:gd name="connsiteX23" fmla="*/ 3422468 w 3918857"/>
              <a:gd name="connsiteY23" fmla="*/ 548640 h 2913017"/>
              <a:gd name="connsiteX24" fmla="*/ 3618411 w 3918857"/>
              <a:gd name="connsiteY24" fmla="*/ 548640 h 2913017"/>
              <a:gd name="connsiteX25" fmla="*/ 3827417 w 3918857"/>
              <a:gd name="connsiteY25" fmla="*/ 587828 h 2913017"/>
              <a:gd name="connsiteX26" fmla="*/ 3827417 w 3918857"/>
              <a:gd name="connsiteY26" fmla="*/ 744582 h 2913017"/>
              <a:gd name="connsiteX27" fmla="*/ 3801291 w 3918857"/>
              <a:gd name="connsiteY27" fmla="*/ 849085 h 2913017"/>
              <a:gd name="connsiteX28" fmla="*/ 3631474 w 3918857"/>
              <a:gd name="connsiteY28" fmla="*/ 862148 h 2913017"/>
              <a:gd name="connsiteX29" fmla="*/ 3409406 w 3918857"/>
              <a:gd name="connsiteY29" fmla="*/ 862148 h 2913017"/>
              <a:gd name="connsiteX30" fmla="*/ 3265714 w 3918857"/>
              <a:gd name="connsiteY30" fmla="*/ 888274 h 2913017"/>
              <a:gd name="connsiteX31" fmla="*/ 3135086 w 3918857"/>
              <a:gd name="connsiteY31" fmla="*/ 914400 h 2913017"/>
              <a:gd name="connsiteX32" fmla="*/ 3122023 w 3918857"/>
              <a:gd name="connsiteY32" fmla="*/ 1005840 h 2913017"/>
              <a:gd name="connsiteX33" fmla="*/ 3265714 w 3918857"/>
              <a:gd name="connsiteY33" fmla="*/ 1018902 h 2913017"/>
              <a:gd name="connsiteX34" fmla="*/ 3513908 w 3918857"/>
              <a:gd name="connsiteY34" fmla="*/ 979714 h 2913017"/>
              <a:gd name="connsiteX35" fmla="*/ 3722914 w 3918857"/>
              <a:gd name="connsiteY35" fmla="*/ 979714 h 2913017"/>
              <a:gd name="connsiteX36" fmla="*/ 3918857 w 3918857"/>
              <a:gd name="connsiteY36" fmla="*/ 1071154 h 2913017"/>
              <a:gd name="connsiteX37" fmla="*/ 3827417 w 3918857"/>
              <a:gd name="connsiteY37" fmla="*/ 1214845 h 2913017"/>
              <a:gd name="connsiteX38" fmla="*/ 3579223 w 3918857"/>
              <a:gd name="connsiteY38" fmla="*/ 1240971 h 2913017"/>
              <a:gd name="connsiteX39" fmla="*/ 3396343 w 3918857"/>
              <a:gd name="connsiteY39" fmla="*/ 1254034 h 2913017"/>
              <a:gd name="connsiteX40" fmla="*/ 3239588 w 3918857"/>
              <a:gd name="connsiteY40" fmla="*/ 1254034 h 2913017"/>
              <a:gd name="connsiteX41" fmla="*/ 3056708 w 3918857"/>
              <a:gd name="connsiteY41" fmla="*/ 1319348 h 2913017"/>
              <a:gd name="connsiteX42" fmla="*/ 2978331 w 3918857"/>
              <a:gd name="connsiteY42" fmla="*/ 1332411 h 2913017"/>
              <a:gd name="connsiteX43" fmla="*/ 3082834 w 3918857"/>
              <a:gd name="connsiteY43" fmla="*/ 1371600 h 2913017"/>
              <a:gd name="connsiteX44" fmla="*/ 3278777 w 3918857"/>
              <a:gd name="connsiteY44" fmla="*/ 1423851 h 2913017"/>
              <a:gd name="connsiteX45" fmla="*/ 3435531 w 3918857"/>
              <a:gd name="connsiteY45" fmla="*/ 1423851 h 2913017"/>
              <a:gd name="connsiteX46" fmla="*/ 3553097 w 3918857"/>
              <a:gd name="connsiteY46" fmla="*/ 1476102 h 2913017"/>
              <a:gd name="connsiteX47" fmla="*/ 3566160 w 3918857"/>
              <a:gd name="connsiteY47" fmla="*/ 1645920 h 2913017"/>
              <a:gd name="connsiteX48" fmla="*/ 3370217 w 3918857"/>
              <a:gd name="connsiteY48" fmla="*/ 1698171 h 2913017"/>
              <a:gd name="connsiteX49" fmla="*/ 3017520 w 3918857"/>
              <a:gd name="connsiteY49" fmla="*/ 1619794 h 2913017"/>
              <a:gd name="connsiteX50" fmla="*/ 2886891 w 3918857"/>
              <a:gd name="connsiteY50" fmla="*/ 1658982 h 2913017"/>
              <a:gd name="connsiteX51" fmla="*/ 2690948 w 3918857"/>
              <a:gd name="connsiteY51" fmla="*/ 1854925 h 2913017"/>
              <a:gd name="connsiteX52" fmla="*/ 2429691 w 3918857"/>
              <a:gd name="connsiteY52" fmla="*/ 1998617 h 2913017"/>
              <a:gd name="connsiteX53" fmla="*/ 2181497 w 3918857"/>
              <a:gd name="connsiteY53" fmla="*/ 2129245 h 2913017"/>
              <a:gd name="connsiteX54" fmla="*/ 1946366 w 3918857"/>
              <a:gd name="connsiteY54" fmla="*/ 2194560 h 2913017"/>
              <a:gd name="connsiteX55" fmla="*/ 1632857 w 3918857"/>
              <a:gd name="connsiteY55" fmla="*/ 2377440 h 2913017"/>
              <a:gd name="connsiteX56" fmla="*/ 1332411 w 3918857"/>
              <a:gd name="connsiteY56" fmla="*/ 2612571 h 2913017"/>
              <a:gd name="connsiteX57" fmla="*/ 1110343 w 3918857"/>
              <a:gd name="connsiteY57" fmla="*/ 2834640 h 2913017"/>
              <a:gd name="connsiteX58" fmla="*/ 1045028 w 3918857"/>
              <a:gd name="connsiteY58" fmla="*/ 2873828 h 2913017"/>
              <a:gd name="connsiteX59" fmla="*/ 52252 w 3918857"/>
              <a:gd name="connsiteY59" fmla="*/ 2913017 h 2913017"/>
              <a:gd name="connsiteX60" fmla="*/ 39188 w 3918857"/>
              <a:gd name="connsiteY60" fmla="*/ 1841862 h 2913017"/>
              <a:gd name="connsiteX0" fmla="*/ 0 w 3918857"/>
              <a:gd name="connsiteY0" fmla="*/ 1894114 h 2913017"/>
              <a:gd name="connsiteX1" fmla="*/ 940526 w 3918857"/>
              <a:gd name="connsiteY1" fmla="*/ 1515291 h 2913017"/>
              <a:gd name="connsiteX2" fmla="*/ 1606731 w 3918857"/>
              <a:gd name="connsiteY2" fmla="*/ 1345474 h 2913017"/>
              <a:gd name="connsiteX3" fmla="*/ 1724297 w 3918857"/>
              <a:gd name="connsiteY3" fmla="*/ 1136468 h 2913017"/>
              <a:gd name="connsiteX4" fmla="*/ 1763486 w 3918857"/>
              <a:gd name="connsiteY4" fmla="*/ 836022 h 2913017"/>
              <a:gd name="connsiteX5" fmla="*/ 1907177 w 3918857"/>
              <a:gd name="connsiteY5" fmla="*/ 600891 h 2913017"/>
              <a:gd name="connsiteX6" fmla="*/ 2116183 w 3918857"/>
              <a:gd name="connsiteY6" fmla="*/ 300445 h 2913017"/>
              <a:gd name="connsiteX7" fmla="*/ 2312126 w 3918857"/>
              <a:gd name="connsiteY7" fmla="*/ 195942 h 2913017"/>
              <a:gd name="connsiteX8" fmla="*/ 2495006 w 3918857"/>
              <a:gd name="connsiteY8" fmla="*/ 0 h 2913017"/>
              <a:gd name="connsiteX9" fmla="*/ 2625634 w 3918857"/>
              <a:gd name="connsiteY9" fmla="*/ 65314 h 2913017"/>
              <a:gd name="connsiteX10" fmla="*/ 2638697 w 3918857"/>
              <a:gd name="connsiteY10" fmla="*/ 261257 h 2913017"/>
              <a:gd name="connsiteX11" fmla="*/ 2521131 w 3918857"/>
              <a:gd name="connsiteY11" fmla="*/ 457200 h 2913017"/>
              <a:gd name="connsiteX12" fmla="*/ 2416628 w 3918857"/>
              <a:gd name="connsiteY12" fmla="*/ 627017 h 2913017"/>
              <a:gd name="connsiteX13" fmla="*/ 2638697 w 3918857"/>
              <a:gd name="connsiteY13" fmla="*/ 483325 h 2913017"/>
              <a:gd name="connsiteX14" fmla="*/ 2926080 w 3918857"/>
              <a:gd name="connsiteY14" fmla="*/ 209005 h 2913017"/>
              <a:gd name="connsiteX15" fmla="*/ 3344091 w 3918857"/>
              <a:gd name="connsiteY15" fmla="*/ 13062 h 2913017"/>
              <a:gd name="connsiteX16" fmla="*/ 3474720 w 3918857"/>
              <a:gd name="connsiteY16" fmla="*/ 78377 h 2913017"/>
              <a:gd name="connsiteX17" fmla="*/ 3500846 w 3918857"/>
              <a:gd name="connsiteY17" fmla="*/ 261257 h 2913017"/>
              <a:gd name="connsiteX18" fmla="*/ 3331028 w 3918857"/>
              <a:gd name="connsiteY18" fmla="*/ 404948 h 2913017"/>
              <a:gd name="connsiteX19" fmla="*/ 3161211 w 3918857"/>
              <a:gd name="connsiteY19" fmla="*/ 496388 h 2913017"/>
              <a:gd name="connsiteX20" fmla="*/ 2978331 w 3918857"/>
              <a:gd name="connsiteY20" fmla="*/ 587828 h 2913017"/>
              <a:gd name="connsiteX21" fmla="*/ 2965268 w 3918857"/>
              <a:gd name="connsiteY21" fmla="*/ 679268 h 2913017"/>
              <a:gd name="connsiteX22" fmla="*/ 3135086 w 3918857"/>
              <a:gd name="connsiteY22" fmla="*/ 613954 h 2913017"/>
              <a:gd name="connsiteX23" fmla="*/ 3422468 w 3918857"/>
              <a:gd name="connsiteY23" fmla="*/ 548640 h 2913017"/>
              <a:gd name="connsiteX24" fmla="*/ 3618411 w 3918857"/>
              <a:gd name="connsiteY24" fmla="*/ 548640 h 2913017"/>
              <a:gd name="connsiteX25" fmla="*/ 3827417 w 3918857"/>
              <a:gd name="connsiteY25" fmla="*/ 587828 h 2913017"/>
              <a:gd name="connsiteX26" fmla="*/ 3827417 w 3918857"/>
              <a:gd name="connsiteY26" fmla="*/ 744582 h 2913017"/>
              <a:gd name="connsiteX27" fmla="*/ 3801291 w 3918857"/>
              <a:gd name="connsiteY27" fmla="*/ 849085 h 2913017"/>
              <a:gd name="connsiteX28" fmla="*/ 3631474 w 3918857"/>
              <a:gd name="connsiteY28" fmla="*/ 862148 h 2913017"/>
              <a:gd name="connsiteX29" fmla="*/ 3409406 w 3918857"/>
              <a:gd name="connsiteY29" fmla="*/ 862148 h 2913017"/>
              <a:gd name="connsiteX30" fmla="*/ 3265714 w 3918857"/>
              <a:gd name="connsiteY30" fmla="*/ 888274 h 2913017"/>
              <a:gd name="connsiteX31" fmla="*/ 3135086 w 3918857"/>
              <a:gd name="connsiteY31" fmla="*/ 914400 h 2913017"/>
              <a:gd name="connsiteX32" fmla="*/ 3122023 w 3918857"/>
              <a:gd name="connsiteY32" fmla="*/ 1005840 h 2913017"/>
              <a:gd name="connsiteX33" fmla="*/ 3265714 w 3918857"/>
              <a:gd name="connsiteY33" fmla="*/ 1018902 h 2913017"/>
              <a:gd name="connsiteX34" fmla="*/ 3513908 w 3918857"/>
              <a:gd name="connsiteY34" fmla="*/ 979714 h 2913017"/>
              <a:gd name="connsiteX35" fmla="*/ 3722914 w 3918857"/>
              <a:gd name="connsiteY35" fmla="*/ 979714 h 2913017"/>
              <a:gd name="connsiteX36" fmla="*/ 3918857 w 3918857"/>
              <a:gd name="connsiteY36" fmla="*/ 1071154 h 2913017"/>
              <a:gd name="connsiteX37" fmla="*/ 3827417 w 3918857"/>
              <a:gd name="connsiteY37" fmla="*/ 1214845 h 2913017"/>
              <a:gd name="connsiteX38" fmla="*/ 3579223 w 3918857"/>
              <a:gd name="connsiteY38" fmla="*/ 1240971 h 2913017"/>
              <a:gd name="connsiteX39" fmla="*/ 3396343 w 3918857"/>
              <a:gd name="connsiteY39" fmla="*/ 1254034 h 2913017"/>
              <a:gd name="connsiteX40" fmla="*/ 3239588 w 3918857"/>
              <a:gd name="connsiteY40" fmla="*/ 1254034 h 2913017"/>
              <a:gd name="connsiteX41" fmla="*/ 3056708 w 3918857"/>
              <a:gd name="connsiteY41" fmla="*/ 1319348 h 2913017"/>
              <a:gd name="connsiteX42" fmla="*/ 2978331 w 3918857"/>
              <a:gd name="connsiteY42" fmla="*/ 1332411 h 2913017"/>
              <a:gd name="connsiteX43" fmla="*/ 3082834 w 3918857"/>
              <a:gd name="connsiteY43" fmla="*/ 1371600 h 2913017"/>
              <a:gd name="connsiteX44" fmla="*/ 3278777 w 3918857"/>
              <a:gd name="connsiteY44" fmla="*/ 1423851 h 2913017"/>
              <a:gd name="connsiteX45" fmla="*/ 3435531 w 3918857"/>
              <a:gd name="connsiteY45" fmla="*/ 1423851 h 2913017"/>
              <a:gd name="connsiteX46" fmla="*/ 3553097 w 3918857"/>
              <a:gd name="connsiteY46" fmla="*/ 1476102 h 2913017"/>
              <a:gd name="connsiteX47" fmla="*/ 3566160 w 3918857"/>
              <a:gd name="connsiteY47" fmla="*/ 1645920 h 2913017"/>
              <a:gd name="connsiteX48" fmla="*/ 3370217 w 3918857"/>
              <a:gd name="connsiteY48" fmla="*/ 1698171 h 2913017"/>
              <a:gd name="connsiteX49" fmla="*/ 3017520 w 3918857"/>
              <a:gd name="connsiteY49" fmla="*/ 1619794 h 2913017"/>
              <a:gd name="connsiteX50" fmla="*/ 2886891 w 3918857"/>
              <a:gd name="connsiteY50" fmla="*/ 1658982 h 2913017"/>
              <a:gd name="connsiteX51" fmla="*/ 2690948 w 3918857"/>
              <a:gd name="connsiteY51" fmla="*/ 1854925 h 2913017"/>
              <a:gd name="connsiteX52" fmla="*/ 2429691 w 3918857"/>
              <a:gd name="connsiteY52" fmla="*/ 1998617 h 2913017"/>
              <a:gd name="connsiteX53" fmla="*/ 2181497 w 3918857"/>
              <a:gd name="connsiteY53" fmla="*/ 2129245 h 2913017"/>
              <a:gd name="connsiteX54" fmla="*/ 1946366 w 3918857"/>
              <a:gd name="connsiteY54" fmla="*/ 2194560 h 2913017"/>
              <a:gd name="connsiteX55" fmla="*/ 1632857 w 3918857"/>
              <a:gd name="connsiteY55" fmla="*/ 2377440 h 2913017"/>
              <a:gd name="connsiteX56" fmla="*/ 1332411 w 3918857"/>
              <a:gd name="connsiteY56" fmla="*/ 2612571 h 2913017"/>
              <a:gd name="connsiteX57" fmla="*/ 1110343 w 3918857"/>
              <a:gd name="connsiteY57" fmla="*/ 2834640 h 2913017"/>
              <a:gd name="connsiteX58" fmla="*/ 1031965 w 3918857"/>
              <a:gd name="connsiteY58" fmla="*/ 2913016 h 2913017"/>
              <a:gd name="connsiteX59" fmla="*/ 52252 w 3918857"/>
              <a:gd name="connsiteY59" fmla="*/ 2913017 h 2913017"/>
              <a:gd name="connsiteX60" fmla="*/ 39188 w 3918857"/>
              <a:gd name="connsiteY60" fmla="*/ 1841862 h 2913017"/>
              <a:gd name="connsiteX0" fmla="*/ 0 w 3918857"/>
              <a:gd name="connsiteY0" fmla="*/ 1894114 h 2913017"/>
              <a:gd name="connsiteX1" fmla="*/ 940526 w 3918857"/>
              <a:gd name="connsiteY1" fmla="*/ 1515291 h 2913017"/>
              <a:gd name="connsiteX2" fmla="*/ 1606731 w 3918857"/>
              <a:gd name="connsiteY2" fmla="*/ 1345474 h 2913017"/>
              <a:gd name="connsiteX3" fmla="*/ 1724297 w 3918857"/>
              <a:gd name="connsiteY3" fmla="*/ 1136468 h 2913017"/>
              <a:gd name="connsiteX4" fmla="*/ 1763486 w 3918857"/>
              <a:gd name="connsiteY4" fmla="*/ 836022 h 2913017"/>
              <a:gd name="connsiteX5" fmla="*/ 1907177 w 3918857"/>
              <a:gd name="connsiteY5" fmla="*/ 600891 h 2913017"/>
              <a:gd name="connsiteX6" fmla="*/ 2116183 w 3918857"/>
              <a:gd name="connsiteY6" fmla="*/ 300445 h 2913017"/>
              <a:gd name="connsiteX7" fmla="*/ 2312126 w 3918857"/>
              <a:gd name="connsiteY7" fmla="*/ 195942 h 2913017"/>
              <a:gd name="connsiteX8" fmla="*/ 2495006 w 3918857"/>
              <a:gd name="connsiteY8" fmla="*/ 0 h 2913017"/>
              <a:gd name="connsiteX9" fmla="*/ 2625634 w 3918857"/>
              <a:gd name="connsiteY9" fmla="*/ 65314 h 2913017"/>
              <a:gd name="connsiteX10" fmla="*/ 2638697 w 3918857"/>
              <a:gd name="connsiteY10" fmla="*/ 261257 h 2913017"/>
              <a:gd name="connsiteX11" fmla="*/ 2521131 w 3918857"/>
              <a:gd name="connsiteY11" fmla="*/ 457200 h 2913017"/>
              <a:gd name="connsiteX12" fmla="*/ 2416628 w 3918857"/>
              <a:gd name="connsiteY12" fmla="*/ 627017 h 2913017"/>
              <a:gd name="connsiteX13" fmla="*/ 2638697 w 3918857"/>
              <a:gd name="connsiteY13" fmla="*/ 483325 h 2913017"/>
              <a:gd name="connsiteX14" fmla="*/ 2926080 w 3918857"/>
              <a:gd name="connsiteY14" fmla="*/ 209005 h 2913017"/>
              <a:gd name="connsiteX15" fmla="*/ 3344091 w 3918857"/>
              <a:gd name="connsiteY15" fmla="*/ 13062 h 2913017"/>
              <a:gd name="connsiteX16" fmla="*/ 3474720 w 3918857"/>
              <a:gd name="connsiteY16" fmla="*/ 78377 h 2913017"/>
              <a:gd name="connsiteX17" fmla="*/ 3500846 w 3918857"/>
              <a:gd name="connsiteY17" fmla="*/ 261257 h 2913017"/>
              <a:gd name="connsiteX18" fmla="*/ 3331028 w 3918857"/>
              <a:gd name="connsiteY18" fmla="*/ 404948 h 2913017"/>
              <a:gd name="connsiteX19" fmla="*/ 3161211 w 3918857"/>
              <a:gd name="connsiteY19" fmla="*/ 496388 h 2913017"/>
              <a:gd name="connsiteX20" fmla="*/ 2978331 w 3918857"/>
              <a:gd name="connsiteY20" fmla="*/ 587828 h 2913017"/>
              <a:gd name="connsiteX21" fmla="*/ 2965268 w 3918857"/>
              <a:gd name="connsiteY21" fmla="*/ 679268 h 2913017"/>
              <a:gd name="connsiteX22" fmla="*/ 3135086 w 3918857"/>
              <a:gd name="connsiteY22" fmla="*/ 613954 h 2913017"/>
              <a:gd name="connsiteX23" fmla="*/ 3422468 w 3918857"/>
              <a:gd name="connsiteY23" fmla="*/ 548640 h 2913017"/>
              <a:gd name="connsiteX24" fmla="*/ 3618411 w 3918857"/>
              <a:gd name="connsiteY24" fmla="*/ 548640 h 2913017"/>
              <a:gd name="connsiteX25" fmla="*/ 3827417 w 3918857"/>
              <a:gd name="connsiteY25" fmla="*/ 587828 h 2913017"/>
              <a:gd name="connsiteX26" fmla="*/ 3827417 w 3918857"/>
              <a:gd name="connsiteY26" fmla="*/ 744582 h 2913017"/>
              <a:gd name="connsiteX27" fmla="*/ 3801291 w 3918857"/>
              <a:gd name="connsiteY27" fmla="*/ 849085 h 2913017"/>
              <a:gd name="connsiteX28" fmla="*/ 3631474 w 3918857"/>
              <a:gd name="connsiteY28" fmla="*/ 862148 h 2913017"/>
              <a:gd name="connsiteX29" fmla="*/ 3409406 w 3918857"/>
              <a:gd name="connsiteY29" fmla="*/ 862148 h 2913017"/>
              <a:gd name="connsiteX30" fmla="*/ 3265714 w 3918857"/>
              <a:gd name="connsiteY30" fmla="*/ 888274 h 2913017"/>
              <a:gd name="connsiteX31" fmla="*/ 3135086 w 3918857"/>
              <a:gd name="connsiteY31" fmla="*/ 914400 h 2913017"/>
              <a:gd name="connsiteX32" fmla="*/ 3122023 w 3918857"/>
              <a:gd name="connsiteY32" fmla="*/ 1005840 h 2913017"/>
              <a:gd name="connsiteX33" fmla="*/ 3265714 w 3918857"/>
              <a:gd name="connsiteY33" fmla="*/ 1018902 h 2913017"/>
              <a:gd name="connsiteX34" fmla="*/ 3513908 w 3918857"/>
              <a:gd name="connsiteY34" fmla="*/ 979714 h 2913017"/>
              <a:gd name="connsiteX35" fmla="*/ 3722914 w 3918857"/>
              <a:gd name="connsiteY35" fmla="*/ 979714 h 2913017"/>
              <a:gd name="connsiteX36" fmla="*/ 3918857 w 3918857"/>
              <a:gd name="connsiteY36" fmla="*/ 1071154 h 2913017"/>
              <a:gd name="connsiteX37" fmla="*/ 3827417 w 3918857"/>
              <a:gd name="connsiteY37" fmla="*/ 1214845 h 2913017"/>
              <a:gd name="connsiteX38" fmla="*/ 3579223 w 3918857"/>
              <a:gd name="connsiteY38" fmla="*/ 1240971 h 2913017"/>
              <a:gd name="connsiteX39" fmla="*/ 3396343 w 3918857"/>
              <a:gd name="connsiteY39" fmla="*/ 1254034 h 2913017"/>
              <a:gd name="connsiteX40" fmla="*/ 3239588 w 3918857"/>
              <a:gd name="connsiteY40" fmla="*/ 1254034 h 2913017"/>
              <a:gd name="connsiteX41" fmla="*/ 3056708 w 3918857"/>
              <a:gd name="connsiteY41" fmla="*/ 1319348 h 2913017"/>
              <a:gd name="connsiteX42" fmla="*/ 2978331 w 3918857"/>
              <a:gd name="connsiteY42" fmla="*/ 1332411 h 2913017"/>
              <a:gd name="connsiteX43" fmla="*/ 3082834 w 3918857"/>
              <a:gd name="connsiteY43" fmla="*/ 1371600 h 2913017"/>
              <a:gd name="connsiteX44" fmla="*/ 3278777 w 3918857"/>
              <a:gd name="connsiteY44" fmla="*/ 1423851 h 2913017"/>
              <a:gd name="connsiteX45" fmla="*/ 3435531 w 3918857"/>
              <a:gd name="connsiteY45" fmla="*/ 1423851 h 2913017"/>
              <a:gd name="connsiteX46" fmla="*/ 3553097 w 3918857"/>
              <a:gd name="connsiteY46" fmla="*/ 1476102 h 2913017"/>
              <a:gd name="connsiteX47" fmla="*/ 3566160 w 3918857"/>
              <a:gd name="connsiteY47" fmla="*/ 1645920 h 2913017"/>
              <a:gd name="connsiteX48" fmla="*/ 3370217 w 3918857"/>
              <a:gd name="connsiteY48" fmla="*/ 1698171 h 2913017"/>
              <a:gd name="connsiteX49" fmla="*/ 3017520 w 3918857"/>
              <a:gd name="connsiteY49" fmla="*/ 1619794 h 2913017"/>
              <a:gd name="connsiteX50" fmla="*/ 2886891 w 3918857"/>
              <a:gd name="connsiteY50" fmla="*/ 1658982 h 2913017"/>
              <a:gd name="connsiteX51" fmla="*/ 2690948 w 3918857"/>
              <a:gd name="connsiteY51" fmla="*/ 1854925 h 2913017"/>
              <a:gd name="connsiteX52" fmla="*/ 2429691 w 3918857"/>
              <a:gd name="connsiteY52" fmla="*/ 1998617 h 2913017"/>
              <a:gd name="connsiteX53" fmla="*/ 2181497 w 3918857"/>
              <a:gd name="connsiteY53" fmla="*/ 2129245 h 2913017"/>
              <a:gd name="connsiteX54" fmla="*/ 1946366 w 3918857"/>
              <a:gd name="connsiteY54" fmla="*/ 2194560 h 2913017"/>
              <a:gd name="connsiteX55" fmla="*/ 1632857 w 3918857"/>
              <a:gd name="connsiteY55" fmla="*/ 2377440 h 2913017"/>
              <a:gd name="connsiteX56" fmla="*/ 1332411 w 3918857"/>
              <a:gd name="connsiteY56" fmla="*/ 2612571 h 2913017"/>
              <a:gd name="connsiteX57" fmla="*/ 1110343 w 3918857"/>
              <a:gd name="connsiteY57" fmla="*/ 2834640 h 2913017"/>
              <a:gd name="connsiteX58" fmla="*/ 1031965 w 3918857"/>
              <a:gd name="connsiteY58" fmla="*/ 2913016 h 2913017"/>
              <a:gd name="connsiteX59" fmla="*/ 52252 w 3918857"/>
              <a:gd name="connsiteY59" fmla="*/ 2913017 h 2913017"/>
              <a:gd name="connsiteX60" fmla="*/ 52387 w 3918857"/>
              <a:gd name="connsiteY60" fmla="*/ 1862886 h 2913017"/>
              <a:gd name="connsiteX61" fmla="*/ 39188 w 3918857"/>
              <a:gd name="connsiteY61" fmla="*/ 1841862 h 2913017"/>
              <a:gd name="connsiteX0" fmla="*/ 15581 w 3879669"/>
              <a:gd name="connsiteY0" fmla="*/ 1867920 h 2913017"/>
              <a:gd name="connsiteX1" fmla="*/ 901338 w 3879669"/>
              <a:gd name="connsiteY1" fmla="*/ 1515291 h 2913017"/>
              <a:gd name="connsiteX2" fmla="*/ 1567543 w 3879669"/>
              <a:gd name="connsiteY2" fmla="*/ 1345474 h 2913017"/>
              <a:gd name="connsiteX3" fmla="*/ 1685109 w 3879669"/>
              <a:gd name="connsiteY3" fmla="*/ 1136468 h 2913017"/>
              <a:gd name="connsiteX4" fmla="*/ 1724298 w 3879669"/>
              <a:gd name="connsiteY4" fmla="*/ 836022 h 2913017"/>
              <a:gd name="connsiteX5" fmla="*/ 1867989 w 3879669"/>
              <a:gd name="connsiteY5" fmla="*/ 600891 h 2913017"/>
              <a:gd name="connsiteX6" fmla="*/ 2076995 w 3879669"/>
              <a:gd name="connsiteY6" fmla="*/ 300445 h 2913017"/>
              <a:gd name="connsiteX7" fmla="*/ 2272938 w 3879669"/>
              <a:gd name="connsiteY7" fmla="*/ 195942 h 2913017"/>
              <a:gd name="connsiteX8" fmla="*/ 2455818 w 3879669"/>
              <a:gd name="connsiteY8" fmla="*/ 0 h 2913017"/>
              <a:gd name="connsiteX9" fmla="*/ 2586446 w 3879669"/>
              <a:gd name="connsiteY9" fmla="*/ 65314 h 2913017"/>
              <a:gd name="connsiteX10" fmla="*/ 2599509 w 3879669"/>
              <a:gd name="connsiteY10" fmla="*/ 261257 h 2913017"/>
              <a:gd name="connsiteX11" fmla="*/ 2481943 w 3879669"/>
              <a:gd name="connsiteY11" fmla="*/ 457200 h 2913017"/>
              <a:gd name="connsiteX12" fmla="*/ 2377440 w 3879669"/>
              <a:gd name="connsiteY12" fmla="*/ 627017 h 2913017"/>
              <a:gd name="connsiteX13" fmla="*/ 2599509 w 3879669"/>
              <a:gd name="connsiteY13" fmla="*/ 483325 h 2913017"/>
              <a:gd name="connsiteX14" fmla="*/ 2886892 w 3879669"/>
              <a:gd name="connsiteY14" fmla="*/ 209005 h 2913017"/>
              <a:gd name="connsiteX15" fmla="*/ 3304903 w 3879669"/>
              <a:gd name="connsiteY15" fmla="*/ 13062 h 2913017"/>
              <a:gd name="connsiteX16" fmla="*/ 3435532 w 3879669"/>
              <a:gd name="connsiteY16" fmla="*/ 78377 h 2913017"/>
              <a:gd name="connsiteX17" fmla="*/ 3461658 w 3879669"/>
              <a:gd name="connsiteY17" fmla="*/ 261257 h 2913017"/>
              <a:gd name="connsiteX18" fmla="*/ 3291840 w 3879669"/>
              <a:gd name="connsiteY18" fmla="*/ 404948 h 2913017"/>
              <a:gd name="connsiteX19" fmla="*/ 3122023 w 3879669"/>
              <a:gd name="connsiteY19" fmla="*/ 496388 h 2913017"/>
              <a:gd name="connsiteX20" fmla="*/ 2939143 w 3879669"/>
              <a:gd name="connsiteY20" fmla="*/ 587828 h 2913017"/>
              <a:gd name="connsiteX21" fmla="*/ 2926080 w 3879669"/>
              <a:gd name="connsiteY21" fmla="*/ 679268 h 2913017"/>
              <a:gd name="connsiteX22" fmla="*/ 3095898 w 3879669"/>
              <a:gd name="connsiteY22" fmla="*/ 613954 h 2913017"/>
              <a:gd name="connsiteX23" fmla="*/ 3383280 w 3879669"/>
              <a:gd name="connsiteY23" fmla="*/ 548640 h 2913017"/>
              <a:gd name="connsiteX24" fmla="*/ 3579223 w 3879669"/>
              <a:gd name="connsiteY24" fmla="*/ 548640 h 2913017"/>
              <a:gd name="connsiteX25" fmla="*/ 3788229 w 3879669"/>
              <a:gd name="connsiteY25" fmla="*/ 587828 h 2913017"/>
              <a:gd name="connsiteX26" fmla="*/ 3788229 w 3879669"/>
              <a:gd name="connsiteY26" fmla="*/ 744582 h 2913017"/>
              <a:gd name="connsiteX27" fmla="*/ 3762103 w 3879669"/>
              <a:gd name="connsiteY27" fmla="*/ 849085 h 2913017"/>
              <a:gd name="connsiteX28" fmla="*/ 3592286 w 3879669"/>
              <a:gd name="connsiteY28" fmla="*/ 862148 h 2913017"/>
              <a:gd name="connsiteX29" fmla="*/ 3370218 w 3879669"/>
              <a:gd name="connsiteY29" fmla="*/ 862148 h 2913017"/>
              <a:gd name="connsiteX30" fmla="*/ 3226526 w 3879669"/>
              <a:gd name="connsiteY30" fmla="*/ 888274 h 2913017"/>
              <a:gd name="connsiteX31" fmla="*/ 3095898 w 3879669"/>
              <a:gd name="connsiteY31" fmla="*/ 914400 h 2913017"/>
              <a:gd name="connsiteX32" fmla="*/ 3082835 w 3879669"/>
              <a:gd name="connsiteY32" fmla="*/ 1005840 h 2913017"/>
              <a:gd name="connsiteX33" fmla="*/ 3226526 w 3879669"/>
              <a:gd name="connsiteY33" fmla="*/ 1018902 h 2913017"/>
              <a:gd name="connsiteX34" fmla="*/ 3474720 w 3879669"/>
              <a:gd name="connsiteY34" fmla="*/ 979714 h 2913017"/>
              <a:gd name="connsiteX35" fmla="*/ 3683726 w 3879669"/>
              <a:gd name="connsiteY35" fmla="*/ 979714 h 2913017"/>
              <a:gd name="connsiteX36" fmla="*/ 3879669 w 3879669"/>
              <a:gd name="connsiteY36" fmla="*/ 1071154 h 2913017"/>
              <a:gd name="connsiteX37" fmla="*/ 3788229 w 3879669"/>
              <a:gd name="connsiteY37" fmla="*/ 1214845 h 2913017"/>
              <a:gd name="connsiteX38" fmla="*/ 3540035 w 3879669"/>
              <a:gd name="connsiteY38" fmla="*/ 1240971 h 2913017"/>
              <a:gd name="connsiteX39" fmla="*/ 3357155 w 3879669"/>
              <a:gd name="connsiteY39" fmla="*/ 1254034 h 2913017"/>
              <a:gd name="connsiteX40" fmla="*/ 3200400 w 3879669"/>
              <a:gd name="connsiteY40" fmla="*/ 1254034 h 2913017"/>
              <a:gd name="connsiteX41" fmla="*/ 3017520 w 3879669"/>
              <a:gd name="connsiteY41" fmla="*/ 1319348 h 2913017"/>
              <a:gd name="connsiteX42" fmla="*/ 2939143 w 3879669"/>
              <a:gd name="connsiteY42" fmla="*/ 1332411 h 2913017"/>
              <a:gd name="connsiteX43" fmla="*/ 3043646 w 3879669"/>
              <a:gd name="connsiteY43" fmla="*/ 1371600 h 2913017"/>
              <a:gd name="connsiteX44" fmla="*/ 3239589 w 3879669"/>
              <a:gd name="connsiteY44" fmla="*/ 1423851 h 2913017"/>
              <a:gd name="connsiteX45" fmla="*/ 3396343 w 3879669"/>
              <a:gd name="connsiteY45" fmla="*/ 1423851 h 2913017"/>
              <a:gd name="connsiteX46" fmla="*/ 3513909 w 3879669"/>
              <a:gd name="connsiteY46" fmla="*/ 1476102 h 2913017"/>
              <a:gd name="connsiteX47" fmla="*/ 3526972 w 3879669"/>
              <a:gd name="connsiteY47" fmla="*/ 1645920 h 2913017"/>
              <a:gd name="connsiteX48" fmla="*/ 3331029 w 3879669"/>
              <a:gd name="connsiteY48" fmla="*/ 1698171 h 2913017"/>
              <a:gd name="connsiteX49" fmla="*/ 2978332 w 3879669"/>
              <a:gd name="connsiteY49" fmla="*/ 1619794 h 2913017"/>
              <a:gd name="connsiteX50" fmla="*/ 2847703 w 3879669"/>
              <a:gd name="connsiteY50" fmla="*/ 1658982 h 2913017"/>
              <a:gd name="connsiteX51" fmla="*/ 2651760 w 3879669"/>
              <a:gd name="connsiteY51" fmla="*/ 1854925 h 2913017"/>
              <a:gd name="connsiteX52" fmla="*/ 2390503 w 3879669"/>
              <a:gd name="connsiteY52" fmla="*/ 1998617 h 2913017"/>
              <a:gd name="connsiteX53" fmla="*/ 2142309 w 3879669"/>
              <a:gd name="connsiteY53" fmla="*/ 2129245 h 2913017"/>
              <a:gd name="connsiteX54" fmla="*/ 1907178 w 3879669"/>
              <a:gd name="connsiteY54" fmla="*/ 2194560 h 2913017"/>
              <a:gd name="connsiteX55" fmla="*/ 1593669 w 3879669"/>
              <a:gd name="connsiteY55" fmla="*/ 2377440 h 2913017"/>
              <a:gd name="connsiteX56" fmla="*/ 1293223 w 3879669"/>
              <a:gd name="connsiteY56" fmla="*/ 2612571 h 2913017"/>
              <a:gd name="connsiteX57" fmla="*/ 1071155 w 3879669"/>
              <a:gd name="connsiteY57" fmla="*/ 2834640 h 2913017"/>
              <a:gd name="connsiteX58" fmla="*/ 992777 w 3879669"/>
              <a:gd name="connsiteY58" fmla="*/ 2913016 h 2913017"/>
              <a:gd name="connsiteX59" fmla="*/ 13064 w 3879669"/>
              <a:gd name="connsiteY59" fmla="*/ 2913017 h 2913017"/>
              <a:gd name="connsiteX60" fmla="*/ 13199 w 3879669"/>
              <a:gd name="connsiteY60" fmla="*/ 1862886 h 2913017"/>
              <a:gd name="connsiteX61" fmla="*/ 0 w 3879669"/>
              <a:gd name="connsiteY61" fmla="*/ 1841862 h 2913017"/>
              <a:gd name="connsiteX0" fmla="*/ 3864 w 3867952"/>
              <a:gd name="connsiteY0" fmla="*/ 1867920 h 2913017"/>
              <a:gd name="connsiteX1" fmla="*/ 889621 w 3867952"/>
              <a:gd name="connsiteY1" fmla="*/ 1515291 h 2913017"/>
              <a:gd name="connsiteX2" fmla="*/ 1555826 w 3867952"/>
              <a:gd name="connsiteY2" fmla="*/ 1345474 h 2913017"/>
              <a:gd name="connsiteX3" fmla="*/ 1673392 w 3867952"/>
              <a:gd name="connsiteY3" fmla="*/ 1136468 h 2913017"/>
              <a:gd name="connsiteX4" fmla="*/ 1712581 w 3867952"/>
              <a:gd name="connsiteY4" fmla="*/ 836022 h 2913017"/>
              <a:gd name="connsiteX5" fmla="*/ 1856272 w 3867952"/>
              <a:gd name="connsiteY5" fmla="*/ 600891 h 2913017"/>
              <a:gd name="connsiteX6" fmla="*/ 2065278 w 3867952"/>
              <a:gd name="connsiteY6" fmla="*/ 300445 h 2913017"/>
              <a:gd name="connsiteX7" fmla="*/ 2261221 w 3867952"/>
              <a:gd name="connsiteY7" fmla="*/ 195942 h 2913017"/>
              <a:gd name="connsiteX8" fmla="*/ 2444101 w 3867952"/>
              <a:gd name="connsiteY8" fmla="*/ 0 h 2913017"/>
              <a:gd name="connsiteX9" fmla="*/ 2574729 w 3867952"/>
              <a:gd name="connsiteY9" fmla="*/ 65314 h 2913017"/>
              <a:gd name="connsiteX10" fmla="*/ 2587792 w 3867952"/>
              <a:gd name="connsiteY10" fmla="*/ 261257 h 2913017"/>
              <a:gd name="connsiteX11" fmla="*/ 2470226 w 3867952"/>
              <a:gd name="connsiteY11" fmla="*/ 457200 h 2913017"/>
              <a:gd name="connsiteX12" fmla="*/ 2365723 w 3867952"/>
              <a:gd name="connsiteY12" fmla="*/ 627017 h 2913017"/>
              <a:gd name="connsiteX13" fmla="*/ 2587792 w 3867952"/>
              <a:gd name="connsiteY13" fmla="*/ 483325 h 2913017"/>
              <a:gd name="connsiteX14" fmla="*/ 2875175 w 3867952"/>
              <a:gd name="connsiteY14" fmla="*/ 209005 h 2913017"/>
              <a:gd name="connsiteX15" fmla="*/ 3293186 w 3867952"/>
              <a:gd name="connsiteY15" fmla="*/ 13062 h 2913017"/>
              <a:gd name="connsiteX16" fmla="*/ 3423815 w 3867952"/>
              <a:gd name="connsiteY16" fmla="*/ 78377 h 2913017"/>
              <a:gd name="connsiteX17" fmla="*/ 3449941 w 3867952"/>
              <a:gd name="connsiteY17" fmla="*/ 261257 h 2913017"/>
              <a:gd name="connsiteX18" fmla="*/ 3280123 w 3867952"/>
              <a:gd name="connsiteY18" fmla="*/ 404948 h 2913017"/>
              <a:gd name="connsiteX19" fmla="*/ 3110306 w 3867952"/>
              <a:gd name="connsiteY19" fmla="*/ 496388 h 2913017"/>
              <a:gd name="connsiteX20" fmla="*/ 2927426 w 3867952"/>
              <a:gd name="connsiteY20" fmla="*/ 587828 h 2913017"/>
              <a:gd name="connsiteX21" fmla="*/ 2914363 w 3867952"/>
              <a:gd name="connsiteY21" fmla="*/ 679268 h 2913017"/>
              <a:gd name="connsiteX22" fmla="*/ 3084181 w 3867952"/>
              <a:gd name="connsiteY22" fmla="*/ 613954 h 2913017"/>
              <a:gd name="connsiteX23" fmla="*/ 3371563 w 3867952"/>
              <a:gd name="connsiteY23" fmla="*/ 548640 h 2913017"/>
              <a:gd name="connsiteX24" fmla="*/ 3567506 w 3867952"/>
              <a:gd name="connsiteY24" fmla="*/ 548640 h 2913017"/>
              <a:gd name="connsiteX25" fmla="*/ 3776512 w 3867952"/>
              <a:gd name="connsiteY25" fmla="*/ 587828 h 2913017"/>
              <a:gd name="connsiteX26" fmla="*/ 3776512 w 3867952"/>
              <a:gd name="connsiteY26" fmla="*/ 744582 h 2913017"/>
              <a:gd name="connsiteX27" fmla="*/ 3750386 w 3867952"/>
              <a:gd name="connsiteY27" fmla="*/ 849085 h 2913017"/>
              <a:gd name="connsiteX28" fmla="*/ 3580569 w 3867952"/>
              <a:gd name="connsiteY28" fmla="*/ 862148 h 2913017"/>
              <a:gd name="connsiteX29" fmla="*/ 3358501 w 3867952"/>
              <a:gd name="connsiteY29" fmla="*/ 862148 h 2913017"/>
              <a:gd name="connsiteX30" fmla="*/ 3214809 w 3867952"/>
              <a:gd name="connsiteY30" fmla="*/ 888274 h 2913017"/>
              <a:gd name="connsiteX31" fmla="*/ 3084181 w 3867952"/>
              <a:gd name="connsiteY31" fmla="*/ 914400 h 2913017"/>
              <a:gd name="connsiteX32" fmla="*/ 3071118 w 3867952"/>
              <a:gd name="connsiteY32" fmla="*/ 1005840 h 2913017"/>
              <a:gd name="connsiteX33" fmla="*/ 3214809 w 3867952"/>
              <a:gd name="connsiteY33" fmla="*/ 1018902 h 2913017"/>
              <a:gd name="connsiteX34" fmla="*/ 3463003 w 3867952"/>
              <a:gd name="connsiteY34" fmla="*/ 979714 h 2913017"/>
              <a:gd name="connsiteX35" fmla="*/ 3672009 w 3867952"/>
              <a:gd name="connsiteY35" fmla="*/ 979714 h 2913017"/>
              <a:gd name="connsiteX36" fmla="*/ 3867952 w 3867952"/>
              <a:gd name="connsiteY36" fmla="*/ 1071154 h 2913017"/>
              <a:gd name="connsiteX37" fmla="*/ 3776512 w 3867952"/>
              <a:gd name="connsiteY37" fmla="*/ 1214845 h 2913017"/>
              <a:gd name="connsiteX38" fmla="*/ 3528318 w 3867952"/>
              <a:gd name="connsiteY38" fmla="*/ 1240971 h 2913017"/>
              <a:gd name="connsiteX39" fmla="*/ 3345438 w 3867952"/>
              <a:gd name="connsiteY39" fmla="*/ 1254034 h 2913017"/>
              <a:gd name="connsiteX40" fmla="*/ 3188683 w 3867952"/>
              <a:gd name="connsiteY40" fmla="*/ 1254034 h 2913017"/>
              <a:gd name="connsiteX41" fmla="*/ 3005803 w 3867952"/>
              <a:gd name="connsiteY41" fmla="*/ 1319348 h 2913017"/>
              <a:gd name="connsiteX42" fmla="*/ 2927426 w 3867952"/>
              <a:gd name="connsiteY42" fmla="*/ 1332411 h 2913017"/>
              <a:gd name="connsiteX43" fmla="*/ 3031929 w 3867952"/>
              <a:gd name="connsiteY43" fmla="*/ 1371600 h 2913017"/>
              <a:gd name="connsiteX44" fmla="*/ 3227872 w 3867952"/>
              <a:gd name="connsiteY44" fmla="*/ 1423851 h 2913017"/>
              <a:gd name="connsiteX45" fmla="*/ 3384626 w 3867952"/>
              <a:gd name="connsiteY45" fmla="*/ 1423851 h 2913017"/>
              <a:gd name="connsiteX46" fmla="*/ 3502192 w 3867952"/>
              <a:gd name="connsiteY46" fmla="*/ 1476102 h 2913017"/>
              <a:gd name="connsiteX47" fmla="*/ 3515255 w 3867952"/>
              <a:gd name="connsiteY47" fmla="*/ 1645920 h 2913017"/>
              <a:gd name="connsiteX48" fmla="*/ 3319312 w 3867952"/>
              <a:gd name="connsiteY48" fmla="*/ 1698171 h 2913017"/>
              <a:gd name="connsiteX49" fmla="*/ 2966615 w 3867952"/>
              <a:gd name="connsiteY49" fmla="*/ 1619794 h 2913017"/>
              <a:gd name="connsiteX50" fmla="*/ 2835986 w 3867952"/>
              <a:gd name="connsiteY50" fmla="*/ 1658982 h 2913017"/>
              <a:gd name="connsiteX51" fmla="*/ 2640043 w 3867952"/>
              <a:gd name="connsiteY51" fmla="*/ 1854925 h 2913017"/>
              <a:gd name="connsiteX52" fmla="*/ 2378786 w 3867952"/>
              <a:gd name="connsiteY52" fmla="*/ 1998617 h 2913017"/>
              <a:gd name="connsiteX53" fmla="*/ 2130592 w 3867952"/>
              <a:gd name="connsiteY53" fmla="*/ 2129245 h 2913017"/>
              <a:gd name="connsiteX54" fmla="*/ 1895461 w 3867952"/>
              <a:gd name="connsiteY54" fmla="*/ 2194560 h 2913017"/>
              <a:gd name="connsiteX55" fmla="*/ 1581952 w 3867952"/>
              <a:gd name="connsiteY55" fmla="*/ 2377440 h 2913017"/>
              <a:gd name="connsiteX56" fmla="*/ 1281506 w 3867952"/>
              <a:gd name="connsiteY56" fmla="*/ 2612571 h 2913017"/>
              <a:gd name="connsiteX57" fmla="*/ 1059438 w 3867952"/>
              <a:gd name="connsiteY57" fmla="*/ 2834640 h 2913017"/>
              <a:gd name="connsiteX58" fmla="*/ 981060 w 3867952"/>
              <a:gd name="connsiteY58" fmla="*/ 2913016 h 2913017"/>
              <a:gd name="connsiteX59" fmla="*/ 1347 w 3867952"/>
              <a:gd name="connsiteY59" fmla="*/ 2913017 h 2913017"/>
              <a:gd name="connsiteX60" fmla="*/ 1482 w 3867952"/>
              <a:gd name="connsiteY60" fmla="*/ 1862886 h 2913017"/>
              <a:gd name="connsiteX0" fmla="*/ 3484 w 3867572"/>
              <a:gd name="connsiteY0" fmla="*/ 1867920 h 2913017"/>
              <a:gd name="connsiteX1" fmla="*/ 889241 w 3867572"/>
              <a:gd name="connsiteY1" fmla="*/ 1515291 h 2913017"/>
              <a:gd name="connsiteX2" fmla="*/ 1555446 w 3867572"/>
              <a:gd name="connsiteY2" fmla="*/ 1345474 h 2913017"/>
              <a:gd name="connsiteX3" fmla="*/ 1673012 w 3867572"/>
              <a:gd name="connsiteY3" fmla="*/ 1136468 h 2913017"/>
              <a:gd name="connsiteX4" fmla="*/ 1712201 w 3867572"/>
              <a:gd name="connsiteY4" fmla="*/ 836022 h 2913017"/>
              <a:gd name="connsiteX5" fmla="*/ 1855892 w 3867572"/>
              <a:gd name="connsiteY5" fmla="*/ 600891 h 2913017"/>
              <a:gd name="connsiteX6" fmla="*/ 2064898 w 3867572"/>
              <a:gd name="connsiteY6" fmla="*/ 300445 h 2913017"/>
              <a:gd name="connsiteX7" fmla="*/ 2260841 w 3867572"/>
              <a:gd name="connsiteY7" fmla="*/ 195942 h 2913017"/>
              <a:gd name="connsiteX8" fmla="*/ 2443721 w 3867572"/>
              <a:gd name="connsiteY8" fmla="*/ 0 h 2913017"/>
              <a:gd name="connsiteX9" fmla="*/ 2574349 w 3867572"/>
              <a:gd name="connsiteY9" fmla="*/ 65314 h 2913017"/>
              <a:gd name="connsiteX10" fmla="*/ 2587412 w 3867572"/>
              <a:gd name="connsiteY10" fmla="*/ 261257 h 2913017"/>
              <a:gd name="connsiteX11" fmla="*/ 2469846 w 3867572"/>
              <a:gd name="connsiteY11" fmla="*/ 457200 h 2913017"/>
              <a:gd name="connsiteX12" fmla="*/ 2365343 w 3867572"/>
              <a:gd name="connsiteY12" fmla="*/ 627017 h 2913017"/>
              <a:gd name="connsiteX13" fmla="*/ 2587412 w 3867572"/>
              <a:gd name="connsiteY13" fmla="*/ 483325 h 2913017"/>
              <a:gd name="connsiteX14" fmla="*/ 2874795 w 3867572"/>
              <a:gd name="connsiteY14" fmla="*/ 209005 h 2913017"/>
              <a:gd name="connsiteX15" fmla="*/ 3292806 w 3867572"/>
              <a:gd name="connsiteY15" fmla="*/ 13062 h 2913017"/>
              <a:gd name="connsiteX16" fmla="*/ 3423435 w 3867572"/>
              <a:gd name="connsiteY16" fmla="*/ 78377 h 2913017"/>
              <a:gd name="connsiteX17" fmla="*/ 3449561 w 3867572"/>
              <a:gd name="connsiteY17" fmla="*/ 261257 h 2913017"/>
              <a:gd name="connsiteX18" fmla="*/ 3279743 w 3867572"/>
              <a:gd name="connsiteY18" fmla="*/ 404948 h 2913017"/>
              <a:gd name="connsiteX19" fmla="*/ 3109926 w 3867572"/>
              <a:gd name="connsiteY19" fmla="*/ 496388 h 2913017"/>
              <a:gd name="connsiteX20" fmla="*/ 2927046 w 3867572"/>
              <a:gd name="connsiteY20" fmla="*/ 587828 h 2913017"/>
              <a:gd name="connsiteX21" fmla="*/ 2913983 w 3867572"/>
              <a:gd name="connsiteY21" fmla="*/ 679268 h 2913017"/>
              <a:gd name="connsiteX22" fmla="*/ 3083801 w 3867572"/>
              <a:gd name="connsiteY22" fmla="*/ 613954 h 2913017"/>
              <a:gd name="connsiteX23" fmla="*/ 3371183 w 3867572"/>
              <a:gd name="connsiteY23" fmla="*/ 548640 h 2913017"/>
              <a:gd name="connsiteX24" fmla="*/ 3567126 w 3867572"/>
              <a:gd name="connsiteY24" fmla="*/ 548640 h 2913017"/>
              <a:gd name="connsiteX25" fmla="*/ 3776132 w 3867572"/>
              <a:gd name="connsiteY25" fmla="*/ 587828 h 2913017"/>
              <a:gd name="connsiteX26" fmla="*/ 3776132 w 3867572"/>
              <a:gd name="connsiteY26" fmla="*/ 744582 h 2913017"/>
              <a:gd name="connsiteX27" fmla="*/ 3750006 w 3867572"/>
              <a:gd name="connsiteY27" fmla="*/ 849085 h 2913017"/>
              <a:gd name="connsiteX28" fmla="*/ 3580189 w 3867572"/>
              <a:gd name="connsiteY28" fmla="*/ 862148 h 2913017"/>
              <a:gd name="connsiteX29" fmla="*/ 3358121 w 3867572"/>
              <a:gd name="connsiteY29" fmla="*/ 862148 h 2913017"/>
              <a:gd name="connsiteX30" fmla="*/ 3214429 w 3867572"/>
              <a:gd name="connsiteY30" fmla="*/ 888274 h 2913017"/>
              <a:gd name="connsiteX31" fmla="*/ 3083801 w 3867572"/>
              <a:gd name="connsiteY31" fmla="*/ 914400 h 2913017"/>
              <a:gd name="connsiteX32" fmla="*/ 3070738 w 3867572"/>
              <a:gd name="connsiteY32" fmla="*/ 1005840 h 2913017"/>
              <a:gd name="connsiteX33" fmla="*/ 3214429 w 3867572"/>
              <a:gd name="connsiteY33" fmla="*/ 1018902 h 2913017"/>
              <a:gd name="connsiteX34" fmla="*/ 3462623 w 3867572"/>
              <a:gd name="connsiteY34" fmla="*/ 979714 h 2913017"/>
              <a:gd name="connsiteX35" fmla="*/ 3671629 w 3867572"/>
              <a:gd name="connsiteY35" fmla="*/ 979714 h 2913017"/>
              <a:gd name="connsiteX36" fmla="*/ 3867572 w 3867572"/>
              <a:gd name="connsiteY36" fmla="*/ 1071154 h 2913017"/>
              <a:gd name="connsiteX37" fmla="*/ 3776132 w 3867572"/>
              <a:gd name="connsiteY37" fmla="*/ 1214845 h 2913017"/>
              <a:gd name="connsiteX38" fmla="*/ 3527938 w 3867572"/>
              <a:gd name="connsiteY38" fmla="*/ 1240971 h 2913017"/>
              <a:gd name="connsiteX39" fmla="*/ 3345058 w 3867572"/>
              <a:gd name="connsiteY39" fmla="*/ 1254034 h 2913017"/>
              <a:gd name="connsiteX40" fmla="*/ 3188303 w 3867572"/>
              <a:gd name="connsiteY40" fmla="*/ 1254034 h 2913017"/>
              <a:gd name="connsiteX41" fmla="*/ 3005423 w 3867572"/>
              <a:gd name="connsiteY41" fmla="*/ 1319348 h 2913017"/>
              <a:gd name="connsiteX42" fmla="*/ 2927046 w 3867572"/>
              <a:gd name="connsiteY42" fmla="*/ 1332411 h 2913017"/>
              <a:gd name="connsiteX43" fmla="*/ 3031549 w 3867572"/>
              <a:gd name="connsiteY43" fmla="*/ 1371600 h 2913017"/>
              <a:gd name="connsiteX44" fmla="*/ 3227492 w 3867572"/>
              <a:gd name="connsiteY44" fmla="*/ 1423851 h 2913017"/>
              <a:gd name="connsiteX45" fmla="*/ 3384246 w 3867572"/>
              <a:gd name="connsiteY45" fmla="*/ 1423851 h 2913017"/>
              <a:gd name="connsiteX46" fmla="*/ 3501812 w 3867572"/>
              <a:gd name="connsiteY46" fmla="*/ 1476102 h 2913017"/>
              <a:gd name="connsiteX47" fmla="*/ 3514875 w 3867572"/>
              <a:gd name="connsiteY47" fmla="*/ 1645920 h 2913017"/>
              <a:gd name="connsiteX48" fmla="*/ 3318932 w 3867572"/>
              <a:gd name="connsiteY48" fmla="*/ 1698171 h 2913017"/>
              <a:gd name="connsiteX49" fmla="*/ 2966235 w 3867572"/>
              <a:gd name="connsiteY49" fmla="*/ 1619794 h 2913017"/>
              <a:gd name="connsiteX50" fmla="*/ 2835606 w 3867572"/>
              <a:gd name="connsiteY50" fmla="*/ 1658982 h 2913017"/>
              <a:gd name="connsiteX51" fmla="*/ 2639663 w 3867572"/>
              <a:gd name="connsiteY51" fmla="*/ 1854925 h 2913017"/>
              <a:gd name="connsiteX52" fmla="*/ 2378406 w 3867572"/>
              <a:gd name="connsiteY52" fmla="*/ 1998617 h 2913017"/>
              <a:gd name="connsiteX53" fmla="*/ 2130212 w 3867572"/>
              <a:gd name="connsiteY53" fmla="*/ 2129245 h 2913017"/>
              <a:gd name="connsiteX54" fmla="*/ 1895081 w 3867572"/>
              <a:gd name="connsiteY54" fmla="*/ 2194560 h 2913017"/>
              <a:gd name="connsiteX55" fmla="*/ 1581572 w 3867572"/>
              <a:gd name="connsiteY55" fmla="*/ 2377440 h 2913017"/>
              <a:gd name="connsiteX56" fmla="*/ 1281126 w 3867572"/>
              <a:gd name="connsiteY56" fmla="*/ 2612571 h 2913017"/>
              <a:gd name="connsiteX57" fmla="*/ 1059058 w 3867572"/>
              <a:gd name="connsiteY57" fmla="*/ 2834640 h 2913017"/>
              <a:gd name="connsiteX58" fmla="*/ 980680 w 3867572"/>
              <a:gd name="connsiteY58" fmla="*/ 2913016 h 2913017"/>
              <a:gd name="connsiteX59" fmla="*/ 967 w 3867572"/>
              <a:gd name="connsiteY59" fmla="*/ 2913017 h 2913017"/>
              <a:gd name="connsiteX60" fmla="*/ 5864 w 3867572"/>
              <a:gd name="connsiteY60" fmla="*/ 1867648 h 2913017"/>
              <a:gd name="connsiteX0" fmla="*/ 3484 w 3867572"/>
              <a:gd name="connsiteY0" fmla="*/ 1867920 h 2913017"/>
              <a:gd name="connsiteX1" fmla="*/ 889241 w 3867572"/>
              <a:gd name="connsiteY1" fmla="*/ 1515291 h 2913017"/>
              <a:gd name="connsiteX2" fmla="*/ 1555446 w 3867572"/>
              <a:gd name="connsiteY2" fmla="*/ 1345474 h 2913017"/>
              <a:gd name="connsiteX3" fmla="*/ 1673012 w 3867572"/>
              <a:gd name="connsiteY3" fmla="*/ 1136468 h 2913017"/>
              <a:gd name="connsiteX4" fmla="*/ 1712201 w 3867572"/>
              <a:gd name="connsiteY4" fmla="*/ 836022 h 2913017"/>
              <a:gd name="connsiteX5" fmla="*/ 1855892 w 3867572"/>
              <a:gd name="connsiteY5" fmla="*/ 600891 h 2913017"/>
              <a:gd name="connsiteX6" fmla="*/ 2064898 w 3867572"/>
              <a:gd name="connsiteY6" fmla="*/ 300445 h 2913017"/>
              <a:gd name="connsiteX7" fmla="*/ 2260841 w 3867572"/>
              <a:gd name="connsiteY7" fmla="*/ 195942 h 2913017"/>
              <a:gd name="connsiteX8" fmla="*/ 2443721 w 3867572"/>
              <a:gd name="connsiteY8" fmla="*/ 0 h 2913017"/>
              <a:gd name="connsiteX9" fmla="*/ 2574349 w 3867572"/>
              <a:gd name="connsiteY9" fmla="*/ 65314 h 2913017"/>
              <a:gd name="connsiteX10" fmla="*/ 2587412 w 3867572"/>
              <a:gd name="connsiteY10" fmla="*/ 261257 h 2913017"/>
              <a:gd name="connsiteX11" fmla="*/ 2469846 w 3867572"/>
              <a:gd name="connsiteY11" fmla="*/ 457200 h 2913017"/>
              <a:gd name="connsiteX12" fmla="*/ 2365343 w 3867572"/>
              <a:gd name="connsiteY12" fmla="*/ 627017 h 2913017"/>
              <a:gd name="connsiteX13" fmla="*/ 2587412 w 3867572"/>
              <a:gd name="connsiteY13" fmla="*/ 483325 h 2913017"/>
              <a:gd name="connsiteX14" fmla="*/ 2874795 w 3867572"/>
              <a:gd name="connsiteY14" fmla="*/ 209005 h 2913017"/>
              <a:gd name="connsiteX15" fmla="*/ 3292806 w 3867572"/>
              <a:gd name="connsiteY15" fmla="*/ 13062 h 2913017"/>
              <a:gd name="connsiteX16" fmla="*/ 3423435 w 3867572"/>
              <a:gd name="connsiteY16" fmla="*/ 78377 h 2913017"/>
              <a:gd name="connsiteX17" fmla="*/ 3449561 w 3867572"/>
              <a:gd name="connsiteY17" fmla="*/ 261257 h 2913017"/>
              <a:gd name="connsiteX18" fmla="*/ 3279743 w 3867572"/>
              <a:gd name="connsiteY18" fmla="*/ 404948 h 2913017"/>
              <a:gd name="connsiteX19" fmla="*/ 3109926 w 3867572"/>
              <a:gd name="connsiteY19" fmla="*/ 496388 h 2913017"/>
              <a:gd name="connsiteX20" fmla="*/ 2927046 w 3867572"/>
              <a:gd name="connsiteY20" fmla="*/ 587828 h 2913017"/>
              <a:gd name="connsiteX21" fmla="*/ 2913983 w 3867572"/>
              <a:gd name="connsiteY21" fmla="*/ 679268 h 2913017"/>
              <a:gd name="connsiteX22" fmla="*/ 3083801 w 3867572"/>
              <a:gd name="connsiteY22" fmla="*/ 613954 h 2913017"/>
              <a:gd name="connsiteX23" fmla="*/ 3371183 w 3867572"/>
              <a:gd name="connsiteY23" fmla="*/ 548640 h 2913017"/>
              <a:gd name="connsiteX24" fmla="*/ 3567126 w 3867572"/>
              <a:gd name="connsiteY24" fmla="*/ 548640 h 2913017"/>
              <a:gd name="connsiteX25" fmla="*/ 3776132 w 3867572"/>
              <a:gd name="connsiteY25" fmla="*/ 587828 h 2913017"/>
              <a:gd name="connsiteX26" fmla="*/ 3776132 w 3867572"/>
              <a:gd name="connsiteY26" fmla="*/ 744582 h 2913017"/>
              <a:gd name="connsiteX27" fmla="*/ 3750006 w 3867572"/>
              <a:gd name="connsiteY27" fmla="*/ 849085 h 2913017"/>
              <a:gd name="connsiteX28" fmla="*/ 3580189 w 3867572"/>
              <a:gd name="connsiteY28" fmla="*/ 862148 h 2913017"/>
              <a:gd name="connsiteX29" fmla="*/ 3358121 w 3867572"/>
              <a:gd name="connsiteY29" fmla="*/ 862148 h 2913017"/>
              <a:gd name="connsiteX30" fmla="*/ 3214429 w 3867572"/>
              <a:gd name="connsiteY30" fmla="*/ 888274 h 2913017"/>
              <a:gd name="connsiteX31" fmla="*/ 3083801 w 3867572"/>
              <a:gd name="connsiteY31" fmla="*/ 914400 h 2913017"/>
              <a:gd name="connsiteX32" fmla="*/ 3070738 w 3867572"/>
              <a:gd name="connsiteY32" fmla="*/ 1005840 h 2913017"/>
              <a:gd name="connsiteX33" fmla="*/ 3214429 w 3867572"/>
              <a:gd name="connsiteY33" fmla="*/ 1018902 h 2913017"/>
              <a:gd name="connsiteX34" fmla="*/ 3462623 w 3867572"/>
              <a:gd name="connsiteY34" fmla="*/ 979714 h 2913017"/>
              <a:gd name="connsiteX35" fmla="*/ 3671629 w 3867572"/>
              <a:gd name="connsiteY35" fmla="*/ 979714 h 2913017"/>
              <a:gd name="connsiteX36" fmla="*/ 3867572 w 3867572"/>
              <a:gd name="connsiteY36" fmla="*/ 1071154 h 2913017"/>
              <a:gd name="connsiteX37" fmla="*/ 3776132 w 3867572"/>
              <a:gd name="connsiteY37" fmla="*/ 1214845 h 2913017"/>
              <a:gd name="connsiteX38" fmla="*/ 3527938 w 3867572"/>
              <a:gd name="connsiteY38" fmla="*/ 1240971 h 2913017"/>
              <a:gd name="connsiteX39" fmla="*/ 3345058 w 3867572"/>
              <a:gd name="connsiteY39" fmla="*/ 1254034 h 2913017"/>
              <a:gd name="connsiteX40" fmla="*/ 3188303 w 3867572"/>
              <a:gd name="connsiteY40" fmla="*/ 1254034 h 2913017"/>
              <a:gd name="connsiteX41" fmla="*/ 3005423 w 3867572"/>
              <a:gd name="connsiteY41" fmla="*/ 1319348 h 2913017"/>
              <a:gd name="connsiteX42" fmla="*/ 2927046 w 3867572"/>
              <a:gd name="connsiteY42" fmla="*/ 1332411 h 2913017"/>
              <a:gd name="connsiteX43" fmla="*/ 3031549 w 3867572"/>
              <a:gd name="connsiteY43" fmla="*/ 1371600 h 2913017"/>
              <a:gd name="connsiteX44" fmla="*/ 3227492 w 3867572"/>
              <a:gd name="connsiteY44" fmla="*/ 1423851 h 2913017"/>
              <a:gd name="connsiteX45" fmla="*/ 3384246 w 3867572"/>
              <a:gd name="connsiteY45" fmla="*/ 1423851 h 2913017"/>
              <a:gd name="connsiteX46" fmla="*/ 3501812 w 3867572"/>
              <a:gd name="connsiteY46" fmla="*/ 1476102 h 2913017"/>
              <a:gd name="connsiteX47" fmla="*/ 3514875 w 3867572"/>
              <a:gd name="connsiteY47" fmla="*/ 1645920 h 2913017"/>
              <a:gd name="connsiteX48" fmla="*/ 3318932 w 3867572"/>
              <a:gd name="connsiteY48" fmla="*/ 1698171 h 2913017"/>
              <a:gd name="connsiteX49" fmla="*/ 2966235 w 3867572"/>
              <a:gd name="connsiteY49" fmla="*/ 1619794 h 2913017"/>
              <a:gd name="connsiteX50" fmla="*/ 2835606 w 3867572"/>
              <a:gd name="connsiteY50" fmla="*/ 1658982 h 2913017"/>
              <a:gd name="connsiteX51" fmla="*/ 2639663 w 3867572"/>
              <a:gd name="connsiteY51" fmla="*/ 1854925 h 2913017"/>
              <a:gd name="connsiteX52" fmla="*/ 2378406 w 3867572"/>
              <a:gd name="connsiteY52" fmla="*/ 1998617 h 2913017"/>
              <a:gd name="connsiteX53" fmla="*/ 2130212 w 3867572"/>
              <a:gd name="connsiteY53" fmla="*/ 2129245 h 2913017"/>
              <a:gd name="connsiteX54" fmla="*/ 1895081 w 3867572"/>
              <a:gd name="connsiteY54" fmla="*/ 2194560 h 2913017"/>
              <a:gd name="connsiteX55" fmla="*/ 1581572 w 3867572"/>
              <a:gd name="connsiteY55" fmla="*/ 2377440 h 2913017"/>
              <a:gd name="connsiteX56" fmla="*/ 1281126 w 3867572"/>
              <a:gd name="connsiteY56" fmla="*/ 2612571 h 2913017"/>
              <a:gd name="connsiteX57" fmla="*/ 1059058 w 3867572"/>
              <a:gd name="connsiteY57" fmla="*/ 2834640 h 2913017"/>
              <a:gd name="connsiteX58" fmla="*/ 980680 w 3867572"/>
              <a:gd name="connsiteY58" fmla="*/ 2913016 h 2913017"/>
              <a:gd name="connsiteX59" fmla="*/ 967 w 3867572"/>
              <a:gd name="connsiteY59" fmla="*/ 2913017 h 2913017"/>
              <a:gd name="connsiteX60" fmla="*/ 5864 w 3867572"/>
              <a:gd name="connsiteY60" fmla="*/ 1867648 h 2913017"/>
              <a:gd name="connsiteX61" fmla="*/ 3484 w 3867572"/>
              <a:gd name="connsiteY61" fmla="*/ 1867920 h 2913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867572" h="2913017">
                <a:moveTo>
                  <a:pt x="3484" y="1867920"/>
                </a:moveTo>
                <a:lnTo>
                  <a:pt x="889241" y="1515291"/>
                </a:lnTo>
                <a:lnTo>
                  <a:pt x="1555446" y="1345474"/>
                </a:lnTo>
                <a:lnTo>
                  <a:pt x="1673012" y="1136468"/>
                </a:lnTo>
                <a:lnTo>
                  <a:pt x="1712201" y="836022"/>
                </a:lnTo>
                <a:lnTo>
                  <a:pt x="1855892" y="600891"/>
                </a:lnTo>
                <a:lnTo>
                  <a:pt x="2064898" y="300445"/>
                </a:lnTo>
                <a:lnTo>
                  <a:pt x="2260841" y="195942"/>
                </a:lnTo>
                <a:lnTo>
                  <a:pt x="2443721" y="0"/>
                </a:lnTo>
                <a:lnTo>
                  <a:pt x="2574349" y="65314"/>
                </a:lnTo>
                <a:lnTo>
                  <a:pt x="2587412" y="261257"/>
                </a:lnTo>
                <a:lnTo>
                  <a:pt x="2469846" y="457200"/>
                </a:lnTo>
                <a:lnTo>
                  <a:pt x="2365343" y="627017"/>
                </a:lnTo>
                <a:lnTo>
                  <a:pt x="2587412" y="483325"/>
                </a:lnTo>
                <a:lnTo>
                  <a:pt x="2874795" y="209005"/>
                </a:lnTo>
                <a:lnTo>
                  <a:pt x="3292806" y="13062"/>
                </a:lnTo>
                <a:lnTo>
                  <a:pt x="3423435" y="78377"/>
                </a:lnTo>
                <a:lnTo>
                  <a:pt x="3449561" y="261257"/>
                </a:lnTo>
                <a:lnTo>
                  <a:pt x="3279743" y="404948"/>
                </a:lnTo>
                <a:lnTo>
                  <a:pt x="3109926" y="496388"/>
                </a:lnTo>
                <a:lnTo>
                  <a:pt x="2927046" y="587828"/>
                </a:lnTo>
                <a:lnTo>
                  <a:pt x="2913983" y="679268"/>
                </a:lnTo>
                <a:lnTo>
                  <a:pt x="3083801" y="613954"/>
                </a:lnTo>
                <a:lnTo>
                  <a:pt x="3371183" y="548640"/>
                </a:lnTo>
                <a:lnTo>
                  <a:pt x="3567126" y="548640"/>
                </a:lnTo>
                <a:lnTo>
                  <a:pt x="3776132" y="587828"/>
                </a:lnTo>
                <a:lnTo>
                  <a:pt x="3776132" y="744582"/>
                </a:lnTo>
                <a:lnTo>
                  <a:pt x="3750006" y="849085"/>
                </a:lnTo>
                <a:lnTo>
                  <a:pt x="3580189" y="862148"/>
                </a:lnTo>
                <a:lnTo>
                  <a:pt x="3358121" y="862148"/>
                </a:lnTo>
                <a:lnTo>
                  <a:pt x="3214429" y="888274"/>
                </a:lnTo>
                <a:lnTo>
                  <a:pt x="3083801" y="914400"/>
                </a:lnTo>
                <a:lnTo>
                  <a:pt x="3070738" y="1005840"/>
                </a:lnTo>
                <a:lnTo>
                  <a:pt x="3214429" y="1018902"/>
                </a:lnTo>
                <a:lnTo>
                  <a:pt x="3462623" y="979714"/>
                </a:lnTo>
                <a:lnTo>
                  <a:pt x="3671629" y="979714"/>
                </a:lnTo>
                <a:lnTo>
                  <a:pt x="3867572" y="1071154"/>
                </a:lnTo>
                <a:lnTo>
                  <a:pt x="3776132" y="1214845"/>
                </a:lnTo>
                <a:lnTo>
                  <a:pt x="3527938" y="1240971"/>
                </a:lnTo>
                <a:lnTo>
                  <a:pt x="3345058" y="1254034"/>
                </a:lnTo>
                <a:lnTo>
                  <a:pt x="3188303" y="1254034"/>
                </a:lnTo>
                <a:lnTo>
                  <a:pt x="3005423" y="1319348"/>
                </a:lnTo>
                <a:lnTo>
                  <a:pt x="2927046" y="1332411"/>
                </a:lnTo>
                <a:lnTo>
                  <a:pt x="3031549" y="1371600"/>
                </a:lnTo>
                <a:lnTo>
                  <a:pt x="3227492" y="1423851"/>
                </a:lnTo>
                <a:lnTo>
                  <a:pt x="3384246" y="1423851"/>
                </a:lnTo>
                <a:lnTo>
                  <a:pt x="3501812" y="1476102"/>
                </a:lnTo>
                <a:lnTo>
                  <a:pt x="3514875" y="1645920"/>
                </a:lnTo>
                <a:lnTo>
                  <a:pt x="3318932" y="1698171"/>
                </a:lnTo>
                <a:lnTo>
                  <a:pt x="2966235" y="1619794"/>
                </a:lnTo>
                <a:lnTo>
                  <a:pt x="2835606" y="1658982"/>
                </a:lnTo>
                <a:lnTo>
                  <a:pt x="2639663" y="1854925"/>
                </a:lnTo>
                <a:lnTo>
                  <a:pt x="2378406" y="1998617"/>
                </a:lnTo>
                <a:lnTo>
                  <a:pt x="2130212" y="2129245"/>
                </a:lnTo>
                <a:lnTo>
                  <a:pt x="1895081" y="2194560"/>
                </a:lnTo>
                <a:lnTo>
                  <a:pt x="1581572" y="2377440"/>
                </a:lnTo>
                <a:lnTo>
                  <a:pt x="1281126" y="2612571"/>
                </a:lnTo>
                <a:lnTo>
                  <a:pt x="1059058" y="2834640"/>
                </a:lnTo>
                <a:lnTo>
                  <a:pt x="980680" y="2913016"/>
                </a:lnTo>
                <a:lnTo>
                  <a:pt x="967" y="2913017"/>
                </a:lnTo>
                <a:cubicBezTo>
                  <a:pt x="-3750" y="2559005"/>
                  <a:pt x="10581" y="2221660"/>
                  <a:pt x="5864" y="1867648"/>
                </a:cubicBezTo>
                <a:lnTo>
                  <a:pt x="3484" y="186792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636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524000" y="1219200"/>
            <a:ext cx="838200" cy="838200"/>
            <a:chOff x="1524000" y="1219200"/>
            <a:chExt cx="838200" cy="838200"/>
          </a:xfrm>
        </p:grpSpPr>
        <p:sp>
          <p:nvSpPr>
            <p:cNvPr id="4" name="Oval 3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 rot="7848833">
            <a:off x="3982830" y="1163430"/>
            <a:ext cx="838200" cy="838200"/>
            <a:chOff x="1524000" y="1219200"/>
            <a:chExt cx="838200" cy="838200"/>
          </a:xfrm>
        </p:grpSpPr>
        <p:sp>
          <p:nvSpPr>
            <p:cNvPr id="10" name="Oval 9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 rot="13393127">
            <a:off x="2535511" y="2383111"/>
            <a:ext cx="838200" cy="838200"/>
            <a:chOff x="1524000" y="1219200"/>
            <a:chExt cx="838200" cy="838200"/>
          </a:xfrm>
        </p:grpSpPr>
        <p:sp>
          <p:nvSpPr>
            <p:cNvPr id="13" name="Oval 12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 rot="9791407">
            <a:off x="4065694" y="2998894"/>
            <a:ext cx="838200" cy="838200"/>
            <a:chOff x="1524000" y="1219200"/>
            <a:chExt cx="838200" cy="838200"/>
          </a:xfrm>
        </p:grpSpPr>
        <p:sp>
          <p:nvSpPr>
            <p:cNvPr id="16" name="Oval 15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676400" y="2895600"/>
            <a:ext cx="228600" cy="914400"/>
            <a:chOff x="2514600" y="4114800"/>
            <a:chExt cx="228600" cy="914400"/>
          </a:xfrm>
        </p:grpSpPr>
        <p:sp>
          <p:nvSpPr>
            <p:cNvPr id="5" name="Oval 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 rot="9231653">
            <a:off x="3542532" y="3737397"/>
            <a:ext cx="228600" cy="914400"/>
            <a:chOff x="2514600" y="4114800"/>
            <a:chExt cx="228600" cy="914400"/>
          </a:xfrm>
        </p:grpSpPr>
        <p:sp>
          <p:nvSpPr>
            <p:cNvPr id="22" name="Oval 21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 rot="13225376">
            <a:off x="4320645" y="1865233"/>
            <a:ext cx="228600" cy="954099"/>
            <a:chOff x="2514600" y="4114800"/>
            <a:chExt cx="228600" cy="914400"/>
          </a:xfrm>
        </p:grpSpPr>
        <p:sp>
          <p:nvSpPr>
            <p:cNvPr id="25" name="Oval 2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 rot="5400000">
            <a:off x="1658149" y="1999451"/>
            <a:ext cx="228600" cy="954099"/>
            <a:chOff x="2514600" y="4114800"/>
            <a:chExt cx="228600" cy="914400"/>
          </a:xfrm>
        </p:grpSpPr>
        <p:sp>
          <p:nvSpPr>
            <p:cNvPr id="28" name="Oval 27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 rot="10606688">
            <a:off x="172016" y="2915216"/>
            <a:ext cx="838200" cy="838200"/>
            <a:chOff x="1524000" y="1219200"/>
            <a:chExt cx="838200" cy="838200"/>
          </a:xfrm>
        </p:grpSpPr>
        <p:sp>
          <p:nvSpPr>
            <p:cNvPr id="31" name="Oval 30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 rot="4077218">
            <a:off x="137554" y="1269667"/>
            <a:ext cx="838200" cy="838200"/>
            <a:chOff x="1524000" y="1219200"/>
            <a:chExt cx="838200" cy="838200"/>
          </a:xfrm>
        </p:grpSpPr>
        <p:sp>
          <p:nvSpPr>
            <p:cNvPr id="34" name="Oval 33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 rot="17820188">
            <a:off x="2887799" y="677997"/>
            <a:ext cx="838200" cy="838200"/>
            <a:chOff x="1524000" y="1219200"/>
            <a:chExt cx="838200" cy="838200"/>
          </a:xfrm>
        </p:grpSpPr>
        <p:sp>
          <p:nvSpPr>
            <p:cNvPr id="37" name="Oval 36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6858000" y="664030"/>
            <a:ext cx="838200" cy="838200"/>
            <a:chOff x="1524000" y="1219200"/>
            <a:chExt cx="838200" cy="838200"/>
          </a:xfrm>
        </p:grpSpPr>
        <p:sp>
          <p:nvSpPr>
            <p:cNvPr id="73" name="Oval 72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 rot="7848833">
            <a:off x="4820216" y="2686616"/>
            <a:ext cx="838200" cy="838200"/>
            <a:chOff x="1524000" y="1219200"/>
            <a:chExt cx="838200" cy="838200"/>
          </a:xfrm>
        </p:grpSpPr>
        <p:sp>
          <p:nvSpPr>
            <p:cNvPr id="76" name="Oval 75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 rot="13393127">
            <a:off x="7869511" y="1827941"/>
            <a:ext cx="838200" cy="838200"/>
            <a:chOff x="1524000" y="1219200"/>
            <a:chExt cx="838200" cy="838200"/>
          </a:xfrm>
        </p:grpSpPr>
        <p:sp>
          <p:nvSpPr>
            <p:cNvPr id="79" name="Oval 78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/>
        </p:nvGrpSpPr>
        <p:grpSpPr>
          <a:xfrm rot="9791407">
            <a:off x="4903080" y="4522080"/>
            <a:ext cx="838200" cy="838200"/>
            <a:chOff x="1524000" y="1219200"/>
            <a:chExt cx="838200" cy="838200"/>
          </a:xfrm>
        </p:grpSpPr>
        <p:sp>
          <p:nvSpPr>
            <p:cNvPr id="82" name="Oval 81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Arrow Connector 82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/>
          <p:cNvGrpSpPr/>
          <p:nvPr/>
        </p:nvGrpSpPr>
        <p:grpSpPr>
          <a:xfrm>
            <a:off x="7010400" y="2340430"/>
            <a:ext cx="228600" cy="914400"/>
            <a:chOff x="2514600" y="4114800"/>
            <a:chExt cx="228600" cy="914400"/>
          </a:xfrm>
        </p:grpSpPr>
        <p:sp>
          <p:nvSpPr>
            <p:cNvPr id="85" name="Oval 8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 rot="9231653">
            <a:off x="8077200" y="3178630"/>
            <a:ext cx="228600" cy="914400"/>
            <a:chOff x="2514600" y="4114800"/>
            <a:chExt cx="228600" cy="914400"/>
          </a:xfrm>
        </p:grpSpPr>
        <p:sp>
          <p:nvSpPr>
            <p:cNvPr id="88" name="Oval 87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/>
          <p:cNvGrpSpPr/>
          <p:nvPr/>
        </p:nvGrpSpPr>
        <p:grpSpPr>
          <a:xfrm rot="13225376">
            <a:off x="6378045" y="3465433"/>
            <a:ext cx="228600" cy="954099"/>
            <a:chOff x="2514600" y="4114800"/>
            <a:chExt cx="228600" cy="914400"/>
          </a:xfrm>
        </p:grpSpPr>
        <p:sp>
          <p:nvSpPr>
            <p:cNvPr id="91" name="Oval 90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Arrow Connector 91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 rot="5400000">
            <a:off x="6992149" y="1444281"/>
            <a:ext cx="228600" cy="954099"/>
            <a:chOff x="2514600" y="4114800"/>
            <a:chExt cx="228600" cy="914400"/>
          </a:xfrm>
        </p:grpSpPr>
        <p:sp>
          <p:nvSpPr>
            <p:cNvPr id="94" name="Oval 93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Arrow Connector 94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 rot="10606688">
            <a:off x="5506016" y="2360046"/>
            <a:ext cx="838200" cy="838200"/>
            <a:chOff x="1524000" y="1219200"/>
            <a:chExt cx="838200" cy="838200"/>
          </a:xfrm>
        </p:grpSpPr>
        <p:sp>
          <p:nvSpPr>
            <p:cNvPr id="97" name="Oval 96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Arrow Connector 97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/>
          <p:cNvGrpSpPr/>
          <p:nvPr/>
        </p:nvGrpSpPr>
        <p:grpSpPr>
          <a:xfrm rot="4077218">
            <a:off x="5471554" y="714497"/>
            <a:ext cx="838200" cy="838200"/>
            <a:chOff x="1524000" y="1219200"/>
            <a:chExt cx="838200" cy="838200"/>
          </a:xfrm>
        </p:grpSpPr>
        <p:sp>
          <p:nvSpPr>
            <p:cNvPr id="100" name="Oval 99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/>
          <p:cNvGrpSpPr/>
          <p:nvPr/>
        </p:nvGrpSpPr>
        <p:grpSpPr>
          <a:xfrm rot="17820188">
            <a:off x="8221799" y="122827"/>
            <a:ext cx="838200" cy="838200"/>
            <a:chOff x="1524000" y="1219200"/>
            <a:chExt cx="838200" cy="838200"/>
          </a:xfrm>
        </p:grpSpPr>
        <p:sp>
          <p:nvSpPr>
            <p:cNvPr id="103" name="Oval 102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 rot="13393127">
            <a:off x="2687911" y="4440511"/>
            <a:ext cx="838200" cy="838200"/>
            <a:chOff x="1524000" y="1219200"/>
            <a:chExt cx="838200" cy="838200"/>
          </a:xfrm>
        </p:grpSpPr>
        <p:sp>
          <p:nvSpPr>
            <p:cNvPr id="106" name="Oval 105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 rot="9791407">
            <a:off x="4218094" y="5056294"/>
            <a:ext cx="838200" cy="838200"/>
            <a:chOff x="1524000" y="1219200"/>
            <a:chExt cx="838200" cy="838200"/>
          </a:xfrm>
        </p:grpSpPr>
        <p:sp>
          <p:nvSpPr>
            <p:cNvPr id="109" name="Oval 108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1828800" y="4953000"/>
            <a:ext cx="228600" cy="914400"/>
            <a:chOff x="2514600" y="4114800"/>
            <a:chExt cx="228600" cy="914400"/>
          </a:xfrm>
        </p:grpSpPr>
        <p:sp>
          <p:nvSpPr>
            <p:cNvPr id="112" name="Oval 111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 rot="9231653">
            <a:off x="2895600" y="5791200"/>
            <a:ext cx="228600" cy="914400"/>
            <a:chOff x="2514600" y="4114800"/>
            <a:chExt cx="228600" cy="914400"/>
          </a:xfrm>
        </p:grpSpPr>
        <p:sp>
          <p:nvSpPr>
            <p:cNvPr id="115" name="Oval 11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 116"/>
          <p:cNvGrpSpPr/>
          <p:nvPr/>
        </p:nvGrpSpPr>
        <p:grpSpPr>
          <a:xfrm rot="13225376">
            <a:off x="4473045" y="3922633"/>
            <a:ext cx="228600" cy="954099"/>
            <a:chOff x="2514600" y="4114800"/>
            <a:chExt cx="228600" cy="914400"/>
          </a:xfrm>
        </p:grpSpPr>
        <p:sp>
          <p:nvSpPr>
            <p:cNvPr id="118" name="Oval 117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Arrow Connector 118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/>
          <p:cNvGrpSpPr/>
          <p:nvPr/>
        </p:nvGrpSpPr>
        <p:grpSpPr>
          <a:xfrm rot="5400000">
            <a:off x="1810549" y="4056851"/>
            <a:ext cx="228600" cy="954099"/>
            <a:chOff x="2514600" y="4114800"/>
            <a:chExt cx="228600" cy="914400"/>
          </a:xfrm>
        </p:grpSpPr>
        <p:sp>
          <p:nvSpPr>
            <p:cNvPr id="121" name="Oval 120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Arrow Connector 121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/>
          <p:cNvGrpSpPr/>
          <p:nvPr/>
        </p:nvGrpSpPr>
        <p:grpSpPr>
          <a:xfrm rot="10606688">
            <a:off x="324416" y="4972616"/>
            <a:ext cx="838200" cy="838200"/>
            <a:chOff x="1524000" y="1219200"/>
            <a:chExt cx="838200" cy="838200"/>
          </a:xfrm>
        </p:grpSpPr>
        <p:sp>
          <p:nvSpPr>
            <p:cNvPr id="124" name="Oval 123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Arrow Connector 124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/>
          <p:cNvGrpSpPr/>
          <p:nvPr/>
        </p:nvGrpSpPr>
        <p:grpSpPr>
          <a:xfrm rot="7848833">
            <a:off x="6572816" y="5582216"/>
            <a:ext cx="838200" cy="838200"/>
            <a:chOff x="1524000" y="1219200"/>
            <a:chExt cx="838200" cy="838200"/>
          </a:xfrm>
        </p:grpSpPr>
        <p:sp>
          <p:nvSpPr>
            <p:cNvPr id="127" name="Oval 126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8" name="Straight Arrow Connector 127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/>
          <p:cNvGrpSpPr/>
          <p:nvPr/>
        </p:nvGrpSpPr>
        <p:grpSpPr>
          <a:xfrm>
            <a:off x="7162800" y="4397830"/>
            <a:ext cx="228600" cy="914400"/>
            <a:chOff x="2514600" y="4114800"/>
            <a:chExt cx="228600" cy="914400"/>
          </a:xfrm>
        </p:grpSpPr>
        <p:sp>
          <p:nvSpPr>
            <p:cNvPr id="130" name="Oval 129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1" name="Straight Arrow Connector 130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/>
          <p:cNvGrpSpPr/>
          <p:nvPr/>
        </p:nvGrpSpPr>
        <p:grpSpPr>
          <a:xfrm rot="9231653">
            <a:off x="8229600" y="5236030"/>
            <a:ext cx="228600" cy="914400"/>
            <a:chOff x="2514600" y="4114800"/>
            <a:chExt cx="228600" cy="914400"/>
          </a:xfrm>
        </p:grpSpPr>
        <p:sp>
          <p:nvSpPr>
            <p:cNvPr id="133" name="Oval 132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Group 134"/>
          <p:cNvGrpSpPr/>
          <p:nvPr/>
        </p:nvGrpSpPr>
        <p:grpSpPr>
          <a:xfrm rot="13225376">
            <a:off x="5310431" y="5445819"/>
            <a:ext cx="228600" cy="954099"/>
            <a:chOff x="2514600" y="4114800"/>
            <a:chExt cx="228600" cy="914400"/>
          </a:xfrm>
        </p:grpSpPr>
        <p:sp>
          <p:nvSpPr>
            <p:cNvPr id="136" name="Oval 135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7" name="Straight Arrow Connector 136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Group 137"/>
          <p:cNvGrpSpPr/>
          <p:nvPr/>
        </p:nvGrpSpPr>
        <p:grpSpPr>
          <a:xfrm rot="10606688">
            <a:off x="5658416" y="4417446"/>
            <a:ext cx="838200" cy="838200"/>
            <a:chOff x="1524000" y="1219200"/>
            <a:chExt cx="838200" cy="838200"/>
          </a:xfrm>
        </p:grpSpPr>
        <p:sp>
          <p:nvSpPr>
            <p:cNvPr id="139" name="Oval 138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0" name="Straight Arrow Connector 139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7767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7D1039-81FC-40ED-A6C1-7BAC07FF53B2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99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123.14.2</a:t>
            </a:r>
          </a:p>
        </p:txBody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If the temperature increases, the peak of the Maxwell-Boltzmann speed distribution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Increases to a higher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Decreases to a lower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Stays the same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Can’t tell</a:t>
            </a:r>
          </a:p>
        </p:txBody>
      </p:sp>
    </p:spTree>
    <p:extLst>
      <p:ext uri="{BB962C8B-B14F-4D97-AF65-F5344CB8AC3E}">
        <p14:creationId xmlns:p14="http://schemas.microsoft.com/office/powerpoint/2010/main" val="30940175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Boltzmann Distribution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480412"/>
              </p:ext>
            </p:extLst>
          </p:nvPr>
        </p:nvGraphicFramePr>
        <p:xfrm>
          <a:off x="152400" y="1408906"/>
          <a:ext cx="4700588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241200" progId="Equation.3">
                  <p:embed/>
                </p:oleObj>
              </mc:Choice>
              <mc:Fallback>
                <p:oleObj name="Equation" r:id="rId2" imgW="1015920" imgH="241200" progId="Equation.3">
                  <p:embed/>
                  <p:pic>
                    <p:nvPicPr>
                      <p:cNvPr id="20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408906"/>
                        <a:ext cx="4700588" cy="114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4" name="Picture 4" descr="File:Energy distribution of Boltzmann gas.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274277"/>
            <a:ext cx="5715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213485"/>
              </p:ext>
            </p:extLst>
          </p:nvPr>
        </p:nvGraphicFramePr>
        <p:xfrm>
          <a:off x="228600" y="914400"/>
          <a:ext cx="5319935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905266" imgH="1609524" progId="">
                  <p:embed/>
                </p:oleObj>
              </mc:Choice>
              <mc:Fallback>
                <p:oleObj name="Photo Editor Photo" r:id="rId2" imgW="1905266" imgH="1609524" progId="">
                  <p:embed/>
                  <p:pic>
                    <p:nvPicPr>
                      <p:cNvPr id="307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14400"/>
                        <a:ext cx="5319935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676400" y="5943600"/>
            <a:ext cx="3048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James Clerk Maxwell (1831-1879)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67400" y="1371600"/>
            <a:ext cx="2362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Found an expression for the Molecular Speed Distribution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986" name="Picture 2" descr="http://classic.mormonchannel.org/sites/default/files/PER-10-elder-neal-a-maxwell-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38862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71600" y="5715000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/>
              <a:t>Neal A. Maxwell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(1926-2004)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1371600"/>
            <a:ext cx="2362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Not the same guy</a:t>
            </a:r>
          </a:p>
        </p:txBody>
      </p:sp>
    </p:spTree>
    <p:extLst>
      <p:ext uri="{BB962C8B-B14F-4D97-AF65-F5344CB8AC3E}">
        <p14:creationId xmlns:p14="http://schemas.microsoft.com/office/powerpoint/2010/main" val="22822458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345448"/>
              </p:ext>
            </p:extLst>
          </p:nvPr>
        </p:nvGraphicFramePr>
        <p:xfrm>
          <a:off x="914400" y="76200"/>
          <a:ext cx="6934200" cy="183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507960" progId="Equation.3">
                  <p:embed/>
                </p:oleObj>
              </mc:Choice>
              <mc:Fallback>
                <p:oleObj name="Equation" r:id="rId2" imgW="1968480" imgH="507960" progId="Equation.3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76200"/>
                        <a:ext cx="6934200" cy="183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-32657" y="2057400"/>
            <a:ext cx="4267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3600" dirty="0">
                <a:latin typeface="Times New Roman" pitchFamily="18" charset="0"/>
              </a:rPr>
              <a:t>N  - total number of molecules</a:t>
            </a:r>
          </a:p>
        </p:txBody>
      </p:sp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364" y="1905000"/>
            <a:ext cx="5020636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7D1039-81FC-40ED-A6C1-7BAC07FF53B2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99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123.14.2</a:t>
            </a:r>
          </a:p>
        </p:txBody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If the temperature increases, the peak of the Maxwell-Boltzmann speed distribution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Increases to a higher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Decreases to a lower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Stays the same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Can’t tell</a:t>
            </a:r>
          </a:p>
        </p:txBody>
      </p:sp>
    </p:spTree>
    <p:extLst>
      <p:ext uri="{BB962C8B-B14F-4D97-AF65-F5344CB8AC3E}">
        <p14:creationId xmlns:p14="http://schemas.microsoft.com/office/powerpoint/2010/main" val="18025298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Maxwell Distribution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A system of gas at a given temperature will exhibit a variety of speeds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Three speeds are of interest: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Most probable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Average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rms</a:t>
            </a:r>
          </a:p>
        </p:txBody>
      </p:sp>
      <p:sp>
        <p:nvSpPr>
          <p:cNvPr id="2" name="Rectangle 1"/>
          <p:cNvSpPr/>
          <p:nvPr/>
        </p:nvSpPr>
        <p:spPr>
          <a:xfrm>
            <a:off x="4648200" y="5377934"/>
            <a:ext cx="4758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/>
              <a:t>Image in the Public Domain couracy Fred Stober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676400"/>
            <a:ext cx="476861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Molecular Speeds</a:t>
            </a: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499754"/>
              </p:ext>
            </p:extLst>
          </p:nvPr>
        </p:nvGraphicFramePr>
        <p:xfrm>
          <a:off x="533400" y="1219200"/>
          <a:ext cx="257175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444240" progId="Equation.3">
                  <p:embed/>
                </p:oleObj>
              </mc:Choice>
              <mc:Fallback>
                <p:oleObj name="Equation" r:id="rId2" imgW="863280" imgH="444240" progId="Equation.3">
                  <p:embed/>
                  <p:pic>
                    <p:nvPicPr>
                      <p:cNvPr id="51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2571750" cy="1355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997047"/>
              </p:ext>
            </p:extLst>
          </p:nvPr>
        </p:nvGraphicFramePr>
        <p:xfrm>
          <a:off x="609600" y="3124200"/>
          <a:ext cx="2155825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444240" progId="Equation.3">
                  <p:embed/>
                </p:oleObj>
              </mc:Choice>
              <mc:Fallback>
                <p:oleObj name="Equation" r:id="rId4" imgW="723600" imgH="444240" progId="Equation.3">
                  <p:embed/>
                  <p:pic>
                    <p:nvPicPr>
                      <p:cNvPr id="512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124200"/>
                        <a:ext cx="2155825" cy="1355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671574"/>
              </p:ext>
            </p:extLst>
          </p:nvPr>
        </p:nvGraphicFramePr>
        <p:xfrm>
          <a:off x="422275" y="4745037"/>
          <a:ext cx="253365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444240" progId="Equation.3">
                  <p:embed/>
                </p:oleObj>
              </mc:Choice>
              <mc:Fallback>
                <p:oleObj name="Equation" r:id="rId6" imgW="850680" imgH="44424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4745037"/>
                        <a:ext cx="2533650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06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447800"/>
            <a:ext cx="4584700" cy="452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933770"/>
              </p:ext>
            </p:extLst>
          </p:nvPr>
        </p:nvGraphicFramePr>
        <p:xfrm>
          <a:off x="6019801" y="2057400"/>
          <a:ext cx="578254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3800" imgH="228600" progId="Equation.3">
                  <p:embed/>
                </p:oleObj>
              </mc:Choice>
              <mc:Fallback>
                <p:oleObj name="Equation" r:id="rId9" imgW="253800" imgH="2286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057400"/>
                        <a:ext cx="578254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372495"/>
              </p:ext>
            </p:extLst>
          </p:nvPr>
        </p:nvGraphicFramePr>
        <p:xfrm>
          <a:off x="5943600" y="1905000"/>
          <a:ext cx="255587" cy="34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720" imgH="164880" progId="Equation.3">
                  <p:embed/>
                </p:oleObj>
              </mc:Choice>
              <mc:Fallback>
                <p:oleObj name="Equation" r:id="rId11" imgW="126720" imgH="16488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905000"/>
                        <a:ext cx="255587" cy="340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485603"/>
              </p:ext>
            </p:extLst>
          </p:nvPr>
        </p:nvGraphicFramePr>
        <p:xfrm>
          <a:off x="5638800" y="1600200"/>
          <a:ext cx="369887" cy="40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8600" imgH="241200" progId="Equation.3">
                  <p:embed/>
                </p:oleObj>
              </mc:Choice>
              <mc:Fallback>
                <p:oleObj name="Equation" r:id="rId13" imgW="228600" imgH="2412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00200"/>
                        <a:ext cx="369887" cy="400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B93FC83-B451-4B07-A2C8-1A82EE7D6380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200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123.14.4</a:t>
            </a:r>
          </a:p>
        </p:txBody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dirty="0"/>
              <a:t>Two gases have the same number of molecules, the same volume, pressure, and temperature. Gas A has molecules that are twice the size of gas B. The mean path of A is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¼ the mean free path of B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½ the mean free path of B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Twice the mean free path of B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4 times the mean free path of B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4220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838200"/>
          </a:xfrm>
        </p:spPr>
        <p:txBody>
          <a:bodyPr/>
          <a:lstStyle/>
          <a:p>
            <a:pPr eaLnBrk="1" hangingPunct="1"/>
            <a:r>
              <a:rPr lang="en-US"/>
              <a:t>Mean Free Path</a:t>
            </a:r>
          </a:p>
        </p:txBody>
      </p:sp>
      <p:sp>
        <p:nvSpPr>
          <p:cNvPr id="1028" name="Oval 3"/>
          <p:cNvSpPr>
            <a:spLocks noChangeArrowheads="1"/>
          </p:cNvSpPr>
          <p:nvPr/>
        </p:nvSpPr>
        <p:spPr bwMode="auto">
          <a:xfrm>
            <a:off x="57150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Oval 4"/>
          <p:cNvSpPr>
            <a:spLocks noChangeArrowheads="1"/>
          </p:cNvSpPr>
          <p:nvPr/>
        </p:nvSpPr>
        <p:spPr bwMode="auto">
          <a:xfrm>
            <a:off x="5562600" y="624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Oval 5"/>
          <p:cNvSpPr>
            <a:spLocks noChangeArrowheads="1"/>
          </p:cNvSpPr>
          <p:nvPr/>
        </p:nvSpPr>
        <p:spPr bwMode="auto">
          <a:xfrm>
            <a:off x="57912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Oval 6"/>
          <p:cNvSpPr>
            <a:spLocks noChangeArrowheads="1"/>
          </p:cNvSpPr>
          <p:nvPr/>
        </p:nvSpPr>
        <p:spPr bwMode="auto">
          <a:xfrm>
            <a:off x="61722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Oval 7"/>
          <p:cNvSpPr>
            <a:spLocks noChangeArrowheads="1"/>
          </p:cNvSpPr>
          <p:nvPr/>
        </p:nvSpPr>
        <p:spPr bwMode="auto">
          <a:xfrm>
            <a:off x="7162800" y="5334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3" name="Oval 8"/>
          <p:cNvSpPr>
            <a:spLocks noChangeArrowheads="1"/>
          </p:cNvSpPr>
          <p:nvPr/>
        </p:nvSpPr>
        <p:spPr bwMode="auto">
          <a:xfrm>
            <a:off x="6248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Oval 9"/>
          <p:cNvSpPr>
            <a:spLocks noChangeArrowheads="1"/>
          </p:cNvSpPr>
          <p:nvPr/>
        </p:nvSpPr>
        <p:spPr bwMode="auto">
          <a:xfrm>
            <a:off x="85344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5" name="Oval 10"/>
          <p:cNvSpPr>
            <a:spLocks noChangeArrowheads="1"/>
          </p:cNvSpPr>
          <p:nvPr/>
        </p:nvSpPr>
        <p:spPr bwMode="auto">
          <a:xfrm>
            <a:off x="67056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6" name="Oval 11"/>
          <p:cNvSpPr>
            <a:spLocks noChangeArrowheads="1"/>
          </p:cNvSpPr>
          <p:nvPr/>
        </p:nvSpPr>
        <p:spPr bwMode="auto">
          <a:xfrm>
            <a:off x="7620000" y="5562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7" name="Oval 12"/>
          <p:cNvSpPr>
            <a:spLocks noChangeArrowheads="1"/>
          </p:cNvSpPr>
          <p:nvPr/>
        </p:nvSpPr>
        <p:spPr bwMode="auto">
          <a:xfrm>
            <a:off x="5410200" y="4724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8" name="Oval 13"/>
          <p:cNvSpPr>
            <a:spLocks noChangeArrowheads="1"/>
          </p:cNvSpPr>
          <p:nvPr/>
        </p:nvSpPr>
        <p:spPr bwMode="auto">
          <a:xfrm>
            <a:off x="6096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9" name="Oval 14"/>
          <p:cNvSpPr>
            <a:spLocks noChangeArrowheads="1"/>
          </p:cNvSpPr>
          <p:nvPr/>
        </p:nvSpPr>
        <p:spPr bwMode="auto">
          <a:xfrm>
            <a:off x="5334000" y="5486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0" name="Oval 15"/>
          <p:cNvSpPr>
            <a:spLocks noChangeArrowheads="1"/>
          </p:cNvSpPr>
          <p:nvPr/>
        </p:nvSpPr>
        <p:spPr bwMode="auto">
          <a:xfrm>
            <a:off x="6705600" y="3962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1" name="Oval 16"/>
          <p:cNvSpPr>
            <a:spLocks noChangeArrowheads="1"/>
          </p:cNvSpPr>
          <p:nvPr/>
        </p:nvSpPr>
        <p:spPr bwMode="auto">
          <a:xfrm>
            <a:off x="6629400" y="5486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2" name="Oval 17"/>
          <p:cNvSpPr>
            <a:spLocks noChangeArrowheads="1"/>
          </p:cNvSpPr>
          <p:nvPr/>
        </p:nvSpPr>
        <p:spPr bwMode="auto">
          <a:xfrm>
            <a:off x="79248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3" name="Oval 18"/>
          <p:cNvSpPr>
            <a:spLocks noChangeArrowheads="1"/>
          </p:cNvSpPr>
          <p:nvPr/>
        </p:nvSpPr>
        <p:spPr bwMode="auto">
          <a:xfrm>
            <a:off x="7467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4" name="Oval 19"/>
          <p:cNvSpPr>
            <a:spLocks noChangeArrowheads="1"/>
          </p:cNvSpPr>
          <p:nvPr/>
        </p:nvSpPr>
        <p:spPr bwMode="auto">
          <a:xfrm>
            <a:off x="70104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5" name="Oval 20"/>
          <p:cNvSpPr>
            <a:spLocks noChangeArrowheads="1"/>
          </p:cNvSpPr>
          <p:nvPr/>
        </p:nvSpPr>
        <p:spPr bwMode="auto">
          <a:xfrm>
            <a:off x="80772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6" name="Oval 21"/>
          <p:cNvSpPr>
            <a:spLocks noChangeArrowheads="1"/>
          </p:cNvSpPr>
          <p:nvPr/>
        </p:nvSpPr>
        <p:spPr bwMode="auto">
          <a:xfrm>
            <a:off x="7315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7" name="Oval 22"/>
          <p:cNvSpPr>
            <a:spLocks noChangeArrowheads="1"/>
          </p:cNvSpPr>
          <p:nvPr/>
        </p:nvSpPr>
        <p:spPr bwMode="auto">
          <a:xfrm>
            <a:off x="80010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8" name="Oval 23"/>
          <p:cNvSpPr>
            <a:spLocks noChangeArrowheads="1"/>
          </p:cNvSpPr>
          <p:nvPr/>
        </p:nvSpPr>
        <p:spPr bwMode="auto">
          <a:xfrm>
            <a:off x="7315200" y="6172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9" name="Oval 24"/>
          <p:cNvSpPr>
            <a:spLocks noChangeArrowheads="1"/>
          </p:cNvSpPr>
          <p:nvPr/>
        </p:nvSpPr>
        <p:spPr bwMode="auto">
          <a:xfrm>
            <a:off x="6705600" y="63246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0" name="Line 25"/>
          <p:cNvSpPr>
            <a:spLocks noChangeShapeType="1"/>
          </p:cNvSpPr>
          <p:nvPr/>
        </p:nvSpPr>
        <p:spPr bwMode="auto">
          <a:xfrm flipH="1" flipV="1">
            <a:off x="6629400" y="5562600"/>
            <a:ext cx="152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1" name="Line 26"/>
          <p:cNvSpPr>
            <a:spLocks noChangeShapeType="1"/>
          </p:cNvSpPr>
          <p:nvPr/>
        </p:nvSpPr>
        <p:spPr bwMode="auto">
          <a:xfrm flipH="1" flipV="1">
            <a:off x="5867400" y="51816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2" name="Line 27"/>
          <p:cNvSpPr>
            <a:spLocks noChangeShapeType="1"/>
          </p:cNvSpPr>
          <p:nvPr/>
        </p:nvSpPr>
        <p:spPr bwMode="auto">
          <a:xfrm flipV="1">
            <a:off x="5943600" y="41910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3" name="Line 28"/>
          <p:cNvSpPr>
            <a:spLocks noChangeShapeType="1"/>
          </p:cNvSpPr>
          <p:nvPr/>
        </p:nvSpPr>
        <p:spPr bwMode="auto">
          <a:xfrm>
            <a:off x="6858000" y="41910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4" name="Line 29"/>
          <p:cNvSpPr>
            <a:spLocks noChangeShapeType="1"/>
          </p:cNvSpPr>
          <p:nvPr/>
        </p:nvSpPr>
        <p:spPr bwMode="auto">
          <a:xfrm flipH="1">
            <a:off x="7848600" y="4419600"/>
            <a:ext cx="76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5" name="Line 30"/>
          <p:cNvSpPr>
            <a:spLocks noChangeShapeType="1"/>
          </p:cNvSpPr>
          <p:nvPr/>
        </p:nvSpPr>
        <p:spPr bwMode="auto">
          <a:xfrm>
            <a:off x="7924800" y="5562600"/>
            <a:ext cx="914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6" name="Text Box 31"/>
          <p:cNvSpPr txBox="1">
            <a:spLocks noChangeArrowheads="1"/>
          </p:cNvSpPr>
          <p:nvPr/>
        </p:nvSpPr>
        <p:spPr bwMode="auto">
          <a:xfrm>
            <a:off x="0" y="1182688"/>
            <a:ext cx="88392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3600" dirty="0">
                <a:latin typeface="Times New Roman" pitchFamily="18" charset="0"/>
              </a:rPr>
              <a:t>The average distance between collisions.  Depends on:</a:t>
            </a:r>
          </a:p>
          <a:p>
            <a:pPr algn="l" eaLnBrk="0" hangingPunct="0">
              <a:spcBef>
                <a:spcPct val="50000"/>
              </a:spcBef>
              <a:buFontTx/>
              <a:buChar char="•"/>
            </a:pPr>
            <a:r>
              <a:rPr lang="en-US" sz="3600" dirty="0">
                <a:latin typeface="Times New Roman" pitchFamily="18" charset="0"/>
              </a:rPr>
              <a:t>  diameter of the molecules</a:t>
            </a:r>
          </a:p>
          <a:p>
            <a:pPr algn="l" eaLnBrk="0" hangingPunct="0">
              <a:spcBef>
                <a:spcPct val="50000"/>
              </a:spcBef>
              <a:buFontTx/>
              <a:buChar char="•"/>
            </a:pPr>
            <a:r>
              <a:rPr lang="en-US" sz="3600" dirty="0">
                <a:latin typeface="Times New Roman" pitchFamily="18" charset="0"/>
              </a:rPr>
              <a:t>  density of gas</a:t>
            </a:r>
          </a:p>
        </p:txBody>
      </p:sp>
      <p:graphicFrame>
        <p:nvGraphicFramePr>
          <p:cNvPr id="1026" name="Object 32"/>
          <p:cNvGraphicFramePr>
            <a:graphicFrameLocks noChangeAspect="1"/>
          </p:cNvGraphicFramePr>
          <p:nvPr/>
        </p:nvGraphicFramePr>
        <p:xfrm>
          <a:off x="914400" y="4419600"/>
          <a:ext cx="3132138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444240" progId="Equation.3">
                  <p:embed/>
                </p:oleObj>
              </mc:Choice>
              <mc:Fallback>
                <p:oleObj name="Equation" r:id="rId2" imgW="888840" imgH="444240" progId="Equation.3">
                  <p:embed/>
                  <p:pic>
                    <p:nvPicPr>
                      <p:cNvPr id="102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419600"/>
                        <a:ext cx="3132138" cy="160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7" name="Text Box 33"/>
          <p:cNvSpPr txBox="1">
            <a:spLocks noChangeArrowheads="1"/>
          </p:cNvSpPr>
          <p:nvPr/>
        </p:nvSpPr>
        <p:spPr bwMode="auto">
          <a:xfrm>
            <a:off x="5486400" y="3352800"/>
            <a:ext cx="3429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800">
                <a:solidFill>
                  <a:srgbClr val="00CC66"/>
                </a:solidFill>
                <a:latin typeface="Times New Roman" pitchFamily="18" charset="0"/>
              </a:rPr>
              <a:t>Random-walk process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Equivalent Collision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544638" y="2135188"/>
            <a:ext cx="5805487" cy="3030537"/>
            <a:chOff x="973" y="1345"/>
            <a:chExt cx="3657" cy="1909"/>
          </a:xfrm>
        </p:grpSpPr>
        <p:sp>
          <p:nvSpPr>
            <p:cNvPr id="12292" name="Oval 4"/>
            <p:cNvSpPr>
              <a:spLocks noChangeArrowheads="1"/>
            </p:cNvSpPr>
            <p:nvPr/>
          </p:nvSpPr>
          <p:spPr bwMode="auto">
            <a:xfrm>
              <a:off x="997" y="2101"/>
              <a:ext cx="585" cy="631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3" name="Oval 5"/>
            <p:cNvSpPr>
              <a:spLocks noChangeArrowheads="1"/>
            </p:cNvSpPr>
            <p:nvPr/>
          </p:nvSpPr>
          <p:spPr bwMode="auto">
            <a:xfrm>
              <a:off x="1578" y="2101"/>
              <a:ext cx="585" cy="631"/>
            </a:xfrm>
            <a:prstGeom prst="ellipse">
              <a:avLst/>
            </a:prstGeom>
            <a:gradFill rotWithShape="1">
              <a:gsLst>
                <a:gs pos="0">
                  <a:srgbClr val="FF6600">
                    <a:alpha val="82999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1243" y="1778"/>
              <a:ext cx="596" cy="257"/>
              <a:chOff x="2395" y="2034"/>
              <a:chExt cx="596" cy="257"/>
            </a:xfrm>
          </p:grpSpPr>
          <p:sp>
            <p:nvSpPr>
              <p:cNvPr id="12314" name="Line 6"/>
              <p:cNvSpPr>
                <a:spLocks noChangeShapeType="1"/>
              </p:cNvSpPr>
              <p:nvPr/>
            </p:nvSpPr>
            <p:spPr bwMode="auto">
              <a:xfrm flipV="1">
                <a:off x="2400" y="2044"/>
                <a:ext cx="0" cy="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15" name="Line 7"/>
              <p:cNvSpPr>
                <a:spLocks noChangeShapeType="1"/>
              </p:cNvSpPr>
              <p:nvPr/>
            </p:nvSpPr>
            <p:spPr bwMode="auto">
              <a:xfrm flipV="1">
                <a:off x="2991" y="2043"/>
                <a:ext cx="0" cy="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16" name="Line 8"/>
              <p:cNvSpPr>
                <a:spLocks noChangeShapeType="1"/>
              </p:cNvSpPr>
              <p:nvPr/>
            </p:nvSpPr>
            <p:spPr bwMode="auto">
              <a:xfrm>
                <a:off x="2395" y="2167"/>
                <a:ext cx="5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17" name="Text Box 9"/>
              <p:cNvSpPr txBox="1">
                <a:spLocks noChangeArrowheads="1"/>
              </p:cNvSpPr>
              <p:nvPr/>
            </p:nvSpPr>
            <p:spPr bwMode="auto">
              <a:xfrm>
                <a:off x="2589" y="2034"/>
                <a:ext cx="196" cy="231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d</a:t>
                </a:r>
              </a:p>
            </p:txBody>
          </p:sp>
        </p:grp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973" y="2760"/>
              <a:ext cx="596" cy="257"/>
              <a:chOff x="2395" y="2034"/>
              <a:chExt cx="596" cy="257"/>
            </a:xfrm>
          </p:grpSpPr>
          <p:sp>
            <p:nvSpPr>
              <p:cNvPr id="12310" name="Line 12"/>
              <p:cNvSpPr>
                <a:spLocks noChangeShapeType="1"/>
              </p:cNvSpPr>
              <p:nvPr/>
            </p:nvSpPr>
            <p:spPr bwMode="auto">
              <a:xfrm flipV="1">
                <a:off x="2400" y="2044"/>
                <a:ext cx="0" cy="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11" name="Line 13"/>
              <p:cNvSpPr>
                <a:spLocks noChangeShapeType="1"/>
              </p:cNvSpPr>
              <p:nvPr/>
            </p:nvSpPr>
            <p:spPr bwMode="auto">
              <a:xfrm flipV="1">
                <a:off x="2991" y="2043"/>
                <a:ext cx="0" cy="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12" name="Line 14"/>
              <p:cNvSpPr>
                <a:spLocks noChangeShapeType="1"/>
              </p:cNvSpPr>
              <p:nvPr/>
            </p:nvSpPr>
            <p:spPr bwMode="auto">
              <a:xfrm>
                <a:off x="2395" y="2167"/>
                <a:ext cx="5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13" name="Text Box 15"/>
              <p:cNvSpPr txBox="1">
                <a:spLocks noChangeArrowheads="1"/>
              </p:cNvSpPr>
              <p:nvPr/>
            </p:nvSpPr>
            <p:spPr bwMode="auto">
              <a:xfrm>
                <a:off x="2589" y="2034"/>
                <a:ext cx="196" cy="231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d</a:t>
                </a:r>
              </a:p>
            </p:txBody>
          </p:sp>
        </p:grpSp>
        <p:sp>
          <p:nvSpPr>
            <p:cNvPr id="12296" name="Oval 16"/>
            <p:cNvSpPr>
              <a:spLocks noChangeArrowheads="1"/>
            </p:cNvSpPr>
            <p:nvPr/>
          </p:nvSpPr>
          <p:spPr bwMode="auto">
            <a:xfrm>
              <a:off x="3343" y="2351"/>
              <a:ext cx="45" cy="47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7" name="Oval 17"/>
            <p:cNvSpPr>
              <a:spLocks noChangeArrowheads="1"/>
            </p:cNvSpPr>
            <p:nvPr/>
          </p:nvSpPr>
          <p:spPr bwMode="auto">
            <a:xfrm>
              <a:off x="3403" y="1693"/>
              <a:ext cx="1206" cy="1308"/>
            </a:xfrm>
            <a:prstGeom prst="ellipse">
              <a:avLst/>
            </a:prstGeom>
            <a:gradFill rotWithShape="1">
              <a:gsLst>
                <a:gs pos="0">
                  <a:srgbClr val="FF6600">
                    <a:alpha val="82999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18"/>
            <p:cNvGrpSpPr>
              <a:grpSpLocks/>
            </p:cNvGrpSpPr>
            <p:nvPr/>
          </p:nvGrpSpPr>
          <p:grpSpPr bwMode="auto">
            <a:xfrm>
              <a:off x="3427" y="2997"/>
              <a:ext cx="596" cy="257"/>
              <a:chOff x="2395" y="2034"/>
              <a:chExt cx="596" cy="257"/>
            </a:xfrm>
          </p:grpSpPr>
          <p:sp>
            <p:nvSpPr>
              <p:cNvPr id="12306" name="Line 19"/>
              <p:cNvSpPr>
                <a:spLocks noChangeShapeType="1"/>
              </p:cNvSpPr>
              <p:nvPr/>
            </p:nvSpPr>
            <p:spPr bwMode="auto">
              <a:xfrm flipV="1">
                <a:off x="2400" y="2044"/>
                <a:ext cx="0" cy="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7" name="Line 20"/>
              <p:cNvSpPr>
                <a:spLocks noChangeShapeType="1"/>
              </p:cNvSpPr>
              <p:nvPr/>
            </p:nvSpPr>
            <p:spPr bwMode="auto">
              <a:xfrm flipV="1">
                <a:off x="2991" y="2043"/>
                <a:ext cx="0" cy="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8" name="Line 21"/>
              <p:cNvSpPr>
                <a:spLocks noChangeShapeType="1"/>
              </p:cNvSpPr>
              <p:nvPr/>
            </p:nvSpPr>
            <p:spPr bwMode="auto">
              <a:xfrm>
                <a:off x="2395" y="2167"/>
                <a:ext cx="5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9" name="Text Box 22"/>
              <p:cNvSpPr txBox="1">
                <a:spLocks noChangeArrowheads="1"/>
              </p:cNvSpPr>
              <p:nvPr/>
            </p:nvSpPr>
            <p:spPr bwMode="auto">
              <a:xfrm>
                <a:off x="2589" y="2034"/>
                <a:ext cx="196" cy="231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d</a:t>
                </a:r>
              </a:p>
            </p:txBody>
          </p:sp>
        </p:grpSp>
        <p:grpSp>
          <p:nvGrpSpPr>
            <p:cNvPr id="6" name="Group 23"/>
            <p:cNvGrpSpPr>
              <a:grpSpLocks/>
            </p:cNvGrpSpPr>
            <p:nvPr/>
          </p:nvGrpSpPr>
          <p:grpSpPr bwMode="auto">
            <a:xfrm>
              <a:off x="4017" y="2992"/>
              <a:ext cx="596" cy="257"/>
              <a:chOff x="2395" y="2034"/>
              <a:chExt cx="596" cy="257"/>
            </a:xfrm>
          </p:grpSpPr>
          <p:sp>
            <p:nvSpPr>
              <p:cNvPr id="12302" name="Line 24"/>
              <p:cNvSpPr>
                <a:spLocks noChangeShapeType="1"/>
              </p:cNvSpPr>
              <p:nvPr/>
            </p:nvSpPr>
            <p:spPr bwMode="auto">
              <a:xfrm flipV="1">
                <a:off x="2400" y="2044"/>
                <a:ext cx="0" cy="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3" name="Line 25"/>
              <p:cNvSpPr>
                <a:spLocks noChangeShapeType="1"/>
              </p:cNvSpPr>
              <p:nvPr/>
            </p:nvSpPr>
            <p:spPr bwMode="auto">
              <a:xfrm flipV="1">
                <a:off x="2991" y="2043"/>
                <a:ext cx="0" cy="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4" name="Line 26"/>
              <p:cNvSpPr>
                <a:spLocks noChangeShapeType="1"/>
              </p:cNvSpPr>
              <p:nvPr/>
            </p:nvSpPr>
            <p:spPr bwMode="auto">
              <a:xfrm>
                <a:off x="2395" y="2167"/>
                <a:ext cx="5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5" name="Text Box 27"/>
              <p:cNvSpPr txBox="1">
                <a:spLocks noChangeArrowheads="1"/>
              </p:cNvSpPr>
              <p:nvPr/>
            </p:nvSpPr>
            <p:spPr bwMode="auto">
              <a:xfrm>
                <a:off x="2589" y="2034"/>
                <a:ext cx="196" cy="231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d</a:t>
                </a:r>
              </a:p>
            </p:txBody>
          </p:sp>
        </p:grpSp>
        <p:sp>
          <p:nvSpPr>
            <p:cNvPr id="12300" name="Text Box 28"/>
            <p:cNvSpPr txBox="1">
              <a:spLocks noChangeArrowheads="1"/>
            </p:cNvSpPr>
            <p:nvPr/>
          </p:nvSpPr>
          <p:spPr bwMode="auto">
            <a:xfrm>
              <a:off x="1178" y="1422"/>
              <a:ext cx="66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Collision</a:t>
              </a:r>
            </a:p>
          </p:txBody>
        </p:sp>
        <p:sp>
          <p:nvSpPr>
            <p:cNvPr id="12301" name="Text Box 29"/>
            <p:cNvSpPr txBox="1">
              <a:spLocks noChangeArrowheads="1"/>
            </p:cNvSpPr>
            <p:nvPr/>
          </p:nvSpPr>
          <p:spPr bwMode="auto">
            <a:xfrm>
              <a:off x="3258" y="1345"/>
              <a:ext cx="137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Equivalent Collision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17"/>
          <p:cNvSpPr>
            <a:spLocks noChangeArrowheads="1"/>
          </p:cNvSpPr>
          <p:nvPr/>
        </p:nvSpPr>
        <p:spPr bwMode="auto">
          <a:xfrm>
            <a:off x="1981200" y="2590800"/>
            <a:ext cx="1914525" cy="2076450"/>
          </a:xfrm>
          <a:prstGeom prst="ellipse">
            <a:avLst/>
          </a:prstGeom>
          <a:gradFill rotWithShape="1">
            <a:gsLst>
              <a:gs pos="0">
                <a:srgbClr val="FF6600">
                  <a:alpha val="82999"/>
                </a:srgbClr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 algn="ctr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Can 3"/>
          <p:cNvSpPr/>
          <p:nvPr/>
        </p:nvSpPr>
        <p:spPr>
          <a:xfrm rot="15398693">
            <a:off x="3766970" y="937548"/>
            <a:ext cx="2034655" cy="4495800"/>
          </a:xfrm>
          <a:prstGeom prst="can">
            <a:avLst/>
          </a:prstGeom>
          <a:solidFill>
            <a:schemeClr val="bg1">
              <a:lumMod val="5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886200" y="3048000"/>
            <a:ext cx="990600" cy="30480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5307013" y="3732213"/>
            <a:ext cx="71437" cy="74612"/>
          </a:xfrm>
          <a:prstGeom prst="ellipse">
            <a:avLst/>
          </a:prstGeom>
          <a:gradFill rotWithShape="1">
            <a:gsLst>
              <a:gs pos="0">
                <a:srgbClr val="CCFFFF">
                  <a:alpha val="95000"/>
                </a:srgbClr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16"/>
          <p:cNvSpPr>
            <a:spLocks noChangeArrowheads="1"/>
          </p:cNvSpPr>
          <p:nvPr/>
        </p:nvSpPr>
        <p:spPr bwMode="auto">
          <a:xfrm>
            <a:off x="5459413" y="2895600"/>
            <a:ext cx="71437" cy="74612"/>
          </a:xfrm>
          <a:prstGeom prst="ellipse">
            <a:avLst/>
          </a:prstGeom>
          <a:gradFill rotWithShape="1">
            <a:gsLst>
              <a:gs pos="0">
                <a:srgbClr val="CCFFFF">
                  <a:alpha val="95000"/>
                </a:srgbClr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16"/>
          <p:cNvSpPr>
            <a:spLocks noChangeArrowheads="1"/>
          </p:cNvSpPr>
          <p:nvPr/>
        </p:nvSpPr>
        <p:spPr bwMode="auto">
          <a:xfrm>
            <a:off x="5611813" y="3048000"/>
            <a:ext cx="71437" cy="74612"/>
          </a:xfrm>
          <a:prstGeom prst="ellipse">
            <a:avLst/>
          </a:prstGeom>
          <a:gradFill rotWithShape="1">
            <a:gsLst>
              <a:gs pos="0">
                <a:srgbClr val="CCFFFF">
                  <a:alpha val="95000"/>
                </a:srgbClr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6629400" y="3581400"/>
            <a:ext cx="71437" cy="74612"/>
          </a:xfrm>
          <a:prstGeom prst="ellipse">
            <a:avLst/>
          </a:prstGeom>
          <a:gradFill rotWithShape="1">
            <a:gsLst>
              <a:gs pos="0">
                <a:srgbClr val="CCFFFF">
                  <a:alpha val="95000"/>
                </a:srgbClr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6553200" y="3048000"/>
            <a:ext cx="71437" cy="74612"/>
          </a:xfrm>
          <a:prstGeom prst="ellipse">
            <a:avLst/>
          </a:prstGeom>
          <a:gradFill rotWithShape="1">
            <a:gsLst>
              <a:gs pos="0">
                <a:srgbClr val="CCFFFF">
                  <a:alpha val="95000"/>
                </a:srgbClr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6172200" y="2514600"/>
            <a:ext cx="71437" cy="74612"/>
          </a:xfrm>
          <a:prstGeom prst="ellipse">
            <a:avLst/>
          </a:prstGeom>
          <a:gradFill rotWithShape="1">
            <a:gsLst>
              <a:gs pos="0">
                <a:srgbClr val="CCFFFF">
                  <a:alpha val="95000"/>
                </a:srgbClr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Oval 16"/>
          <p:cNvSpPr>
            <a:spLocks noChangeArrowheads="1"/>
          </p:cNvSpPr>
          <p:nvPr/>
        </p:nvSpPr>
        <p:spPr bwMode="auto">
          <a:xfrm>
            <a:off x="6553200" y="4037013"/>
            <a:ext cx="71437" cy="74612"/>
          </a:xfrm>
          <a:prstGeom prst="ellipse">
            <a:avLst/>
          </a:prstGeom>
          <a:gradFill rotWithShape="1">
            <a:gsLst>
              <a:gs pos="0">
                <a:srgbClr val="CCFFFF">
                  <a:alpha val="95000"/>
                </a:srgbClr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Oval 16"/>
          <p:cNvSpPr>
            <a:spLocks noChangeArrowheads="1"/>
          </p:cNvSpPr>
          <p:nvPr/>
        </p:nvSpPr>
        <p:spPr bwMode="auto">
          <a:xfrm>
            <a:off x="6248400" y="3429000"/>
            <a:ext cx="71437" cy="74612"/>
          </a:xfrm>
          <a:prstGeom prst="ellipse">
            <a:avLst/>
          </a:prstGeom>
          <a:gradFill rotWithShape="1">
            <a:gsLst>
              <a:gs pos="0">
                <a:srgbClr val="CCFFFF">
                  <a:alpha val="95000"/>
                </a:srgbClr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6858000" y="3352800"/>
            <a:ext cx="71437" cy="74612"/>
          </a:xfrm>
          <a:prstGeom prst="ellipse">
            <a:avLst/>
          </a:prstGeom>
          <a:gradFill rotWithShape="1">
            <a:gsLst>
              <a:gs pos="0">
                <a:srgbClr val="CCFFFF">
                  <a:alpha val="95000"/>
                </a:srgbClr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 w="9525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3429000" y="1447800"/>
            <a:ext cx="1622424" cy="1597025"/>
            <a:chOff x="5459413" y="2667000"/>
            <a:chExt cx="1622424" cy="1597025"/>
          </a:xfrm>
        </p:grpSpPr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590800" y="3962400"/>
            <a:ext cx="1622424" cy="1597025"/>
            <a:chOff x="5459413" y="2667000"/>
            <a:chExt cx="1622424" cy="1597025"/>
          </a:xfrm>
        </p:grpSpPr>
        <p:sp>
          <p:nvSpPr>
            <p:cNvPr id="29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733800" y="3200400"/>
            <a:ext cx="1622424" cy="1597025"/>
            <a:chOff x="5459413" y="2667000"/>
            <a:chExt cx="1622424" cy="1597025"/>
          </a:xfrm>
        </p:grpSpPr>
        <p:sp>
          <p:nvSpPr>
            <p:cNvPr id="39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34000" y="4495800"/>
            <a:ext cx="1622424" cy="1597025"/>
            <a:chOff x="5459413" y="2667000"/>
            <a:chExt cx="1622424" cy="1597025"/>
          </a:xfrm>
        </p:grpSpPr>
        <p:sp>
          <p:nvSpPr>
            <p:cNvPr id="49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56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447800" y="990600"/>
            <a:ext cx="1622424" cy="1597025"/>
            <a:chOff x="5459413" y="2667000"/>
            <a:chExt cx="1622424" cy="1597025"/>
          </a:xfrm>
        </p:grpSpPr>
        <p:sp>
          <p:nvSpPr>
            <p:cNvPr id="59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Oval 66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914400" y="2514600"/>
            <a:ext cx="1622424" cy="1597025"/>
            <a:chOff x="5459413" y="2667000"/>
            <a:chExt cx="1622424" cy="1597025"/>
          </a:xfrm>
        </p:grpSpPr>
        <p:sp>
          <p:nvSpPr>
            <p:cNvPr id="69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Oval 76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990600" y="4343400"/>
            <a:ext cx="1622424" cy="1597025"/>
            <a:chOff x="5459413" y="2667000"/>
            <a:chExt cx="1622424" cy="1597025"/>
          </a:xfrm>
        </p:grpSpPr>
        <p:sp>
          <p:nvSpPr>
            <p:cNvPr id="79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Oval 86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3810000" y="5260975"/>
            <a:ext cx="1622424" cy="1597025"/>
            <a:chOff x="5459413" y="2667000"/>
            <a:chExt cx="1622424" cy="1597025"/>
          </a:xfrm>
        </p:grpSpPr>
        <p:sp>
          <p:nvSpPr>
            <p:cNvPr id="89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Oval 96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6781800" y="1295400"/>
            <a:ext cx="1622424" cy="1597025"/>
            <a:chOff x="5459413" y="2667000"/>
            <a:chExt cx="1622424" cy="1597025"/>
          </a:xfrm>
        </p:grpSpPr>
        <p:sp>
          <p:nvSpPr>
            <p:cNvPr id="99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Oval 106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6934200" y="3810000"/>
            <a:ext cx="1622424" cy="1597025"/>
            <a:chOff x="5459413" y="2667000"/>
            <a:chExt cx="1622424" cy="1597025"/>
          </a:xfrm>
        </p:grpSpPr>
        <p:sp>
          <p:nvSpPr>
            <p:cNvPr id="109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Oval 116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5334000" y="914400"/>
            <a:ext cx="1622424" cy="1597025"/>
            <a:chOff x="5459413" y="2667000"/>
            <a:chExt cx="1622424" cy="1597025"/>
          </a:xfrm>
        </p:grpSpPr>
        <p:sp>
          <p:nvSpPr>
            <p:cNvPr id="119" name="Oval 16"/>
            <p:cNvSpPr>
              <a:spLocks noChangeArrowheads="1"/>
            </p:cNvSpPr>
            <p:nvPr/>
          </p:nvSpPr>
          <p:spPr bwMode="auto">
            <a:xfrm>
              <a:off x="5459413" y="38846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Oval 16"/>
            <p:cNvSpPr>
              <a:spLocks noChangeArrowheads="1"/>
            </p:cNvSpPr>
            <p:nvPr/>
          </p:nvSpPr>
          <p:spPr bwMode="auto">
            <a:xfrm>
              <a:off x="5611813" y="3048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Oval 16"/>
            <p:cNvSpPr>
              <a:spLocks noChangeArrowheads="1"/>
            </p:cNvSpPr>
            <p:nvPr/>
          </p:nvSpPr>
          <p:spPr bwMode="auto">
            <a:xfrm>
              <a:off x="5764213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" name="Oval 16"/>
            <p:cNvSpPr>
              <a:spLocks noChangeArrowheads="1"/>
            </p:cNvSpPr>
            <p:nvPr/>
          </p:nvSpPr>
          <p:spPr bwMode="auto">
            <a:xfrm>
              <a:off x="6781800" y="37338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Oval 16"/>
            <p:cNvSpPr>
              <a:spLocks noChangeArrowheads="1"/>
            </p:cNvSpPr>
            <p:nvPr/>
          </p:nvSpPr>
          <p:spPr bwMode="auto">
            <a:xfrm>
              <a:off x="6705600" y="3200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Oval 16"/>
            <p:cNvSpPr>
              <a:spLocks noChangeArrowheads="1"/>
            </p:cNvSpPr>
            <p:nvPr/>
          </p:nvSpPr>
          <p:spPr bwMode="auto">
            <a:xfrm>
              <a:off x="6324600" y="26670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Oval 16"/>
            <p:cNvSpPr>
              <a:spLocks noChangeArrowheads="1"/>
            </p:cNvSpPr>
            <p:nvPr/>
          </p:nvSpPr>
          <p:spPr bwMode="auto">
            <a:xfrm>
              <a:off x="6705600" y="4189413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Oval 16"/>
            <p:cNvSpPr>
              <a:spLocks noChangeArrowheads="1"/>
            </p:cNvSpPr>
            <p:nvPr/>
          </p:nvSpPr>
          <p:spPr bwMode="auto">
            <a:xfrm>
              <a:off x="6400800" y="35814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" name="Oval 126"/>
            <p:cNvSpPr>
              <a:spLocks noChangeArrowheads="1"/>
            </p:cNvSpPr>
            <p:nvPr/>
          </p:nvSpPr>
          <p:spPr bwMode="auto">
            <a:xfrm>
              <a:off x="7010400" y="3505200"/>
              <a:ext cx="71437" cy="74612"/>
            </a:xfrm>
            <a:prstGeom prst="ellipse">
              <a:avLst/>
            </a:prstGeom>
            <a:gradFill rotWithShape="1">
              <a:gsLst>
                <a:gs pos="0">
                  <a:srgbClr val="CCFFFF">
                    <a:alpha val="95000"/>
                  </a:srgbClr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9525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3" name="Straight Connector 2"/>
          <p:cNvCxnSpPr/>
          <p:nvPr/>
        </p:nvCxnSpPr>
        <p:spPr>
          <a:xfrm>
            <a:off x="2438400" y="2133600"/>
            <a:ext cx="76200" cy="457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>
            <a:off x="6400800" y="1219200"/>
            <a:ext cx="76200" cy="457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 flipV="1">
            <a:off x="2514600" y="1447800"/>
            <a:ext cx="3886200" cy="9144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4267200" y="1600200"/>
            <a:ext cx="31451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L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 flipH="1" flipV="1">
            <a:off x="5105400" y="2057400"/>
            <a:ext cx="457200" cy="19812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4876800" y="2895600"/>
            <a:ext cx="502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2d</a:t>
            </a:r>
          </a:p>
        </p:txBody>
      </p:sp>
    </p:spTree>
    <p:extLst>
      <p:ext uri="{BB962C8B-B14F-4D97-AF65-F5344CB8AC3E}">
        <p14:creationId xmlns:p14="http://schemas.microsoft.com/office/powerpoint/2010/main" val="29193146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838200"/>
          </a:xfrm>
        </p:spPr>
        <p:txBody>
          <a:bodyPr/>
          <a:lstStyle/>
          <a:p>
            <a:pPr eaLnBrk="1" hangingPunct="1"/>
            <a:r>
              <a:rPr lang="en-US"/>
              <a:t>Mean Free Path</a:t>
            </a:r>
          </a:p>
        </p:txBody>
      </p:sp>
      <p:sp>
        <p:nvSpPr>
          <p:cNvPr id="2052" name="Oval 3"/>
          <p:cNvSpPr>
            <a:spLocks noChangeArrowheads="1"/>
          </p:cNvSpPr>
          <p:nvPr/>
        </p:nvSpPr>
        <p:spPr bwMode="auto">
          <a:xfrm>
            <a:off x="57150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" name="Oval 4"/>
          <p:cNvSpPr>
            <a:spLocks noChangeArrowheads="1"/>
          </p:cNvSpPr>
          <p:nvPr/>
        </p:nvSpPr>
        <p:spPr bwMode="auto">
          <a:xfrm>
            <a:off x="5562600" y="624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4" name="Oval 5"/>
          <p:cNvSpPr>
            <a:spLocks noChangeArrowheads="1"/>
          </p:cNvSpPr>
          <p:nvPr/>
        </p:nvSpPr>
        <p:spPr bwMode="auto">
          <a:xfrm>
            <a:off x="57912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5" name="Oval 6"/>
          <p:cNvSpPr>
            <a:spLocks noChangeArrowheads="1"/>
          </p:cNvSpPr>
          <p:nvPr/>
        </p:nvSpPr>
        <p:spPr bwMode="auto">
          <a:xfrm>
            <a:off x="61722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6" name="Oval 7"/>
          <p:cNvSpPr>
            <a:spLocks noChangeArrowheads="1"/>
          </p:cNvSpPr>
          <p:nvPr/>
        </p:nvSpPr>
        <p:spPr bwMode="auto">
          <a:xfrm>
            <a:off x="7162800" y="5334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7" name="Oval 8"/>
          <p:cNvSpPr>
            <a:spLocks noChangeArrowheads="1"/>
          </p:cNvSpPr>
          <p:nvPr/>
        </p:nvSpPr>
        <p:spPr bwMode="auto">
          <a:xfrm>
            <a:off x="6248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8" name="Oval 9"/>
          <p:cNvSpPr>
            <a:spLocks noChangeArrowheads="1"/>
          </p:cNvSpPr>
          <p:nvPr/>
        </p:nvSpPr>
        <p:spPr bwMode="auto">
          <a:xfrm>
            <a:off x="85344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9" name="Oval 10"/>
          <p:cNvSpPr>
            <a:spLocks noChangeArrowheads="1"/>
          </p:cNvSpPr>
          <p:nvPr/>
        </p:nvSpPr>
        <p:spPr bwMode="auto">
          <a:xfrm>
            <a:off x="67056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0" name="Oval 11"/>
          <p:cNvSpPr>
            <a:spLocks noChangeArrowheads="1"/>
          </p:cNvSpPr>
          <p:nvPr/>
        </p:nvSpPr>
        <p:spPr bwMode="auto">
          <a:xfrm>
            <a:off x="7620000" y="5562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1" name="Oval 12"/>
          <p:cNvSpPr>
            <a:spLocks noChangeArrowheads="1"/>
          </p:cNvSpPr>
          <p:nvPr/>
        </p:nvSpPr>
        <p:spPr bwMode="auto">
          <a:xfrm>
            <a:off x="5410200" y="4724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2" name="Oval 13"/>
          <p:cNvSpPr>
            <a:spLocks noChangeArrowheads="1"/>
          </p:cNvSpPr>
          <p:nvPr/>
        </p:nvSpPr>
        <p:spPr bwMode="auto">
          <a:xfrm>
            <a:off x="6096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Oval 14"/>
          <p:cNvSpPr>
            <a:spLocks noChangeArrowheads="1"/>
          </p:cNvSpPr>
          <p:nvPr/>
        </p:nvSpPr>
        <p:spPr bwMode="auto">
          <a:xfrm>
            <a:off x="5334000" y="5486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4" name="Oval 15"/>
          <p:cNvSpPr>
            <a:spLocks noChangeArrowheads="1"/>
          </p:cNvSpPr>
          <p:nvPr/>
        </p:nvSpPr>
        <p:spPr bwMode="auto">
          <a:xfrm>
            <a:off x="6705600" y="3962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5" name="Oval 16"/>
          <p:cNvSpPr>
            <a:spLocks noChangeArrowheads="1"/>
          </p:cNvSpPr>
          <p:nvPr/>
        </p:nvSpPr>
        <p:spPr bwMode="auto">
          <a:xfrm>
            <a:off x="6629400" y="5486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6" name="Oval 17"/>
          <p:cNvSpPr>
            <a:spLocks noChangeArrowheads="1"/>
          </p:cNvSpPr>
          <p:nvPr/>
        </p:nvSpPr>
        <p:spPr bwMode="auto">
          <a:xfrm>
            <a:off x="79248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7" name="Oval 18"/>
          <p:cNvSpPr>
            <a:spLocks noChangeArrowheads="1"/>
          </p:cNvSpPr>
          <p:nvPr/>
        </p:nvSpPr>
        <p:spPr bwMode="auto">
          <a:xfrm>
            <a:off x="7467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8" name="Oval 19"/>
          <p:cNvSpPr>
            <a:spLocks noChangeArrowheads="1"/>
          </p:cNvSpPr>
          <p:nvPr/>
        </p:nvSpPr>
        <p:spPr bwMode="auto">
          <a:xfrm>
            <a:off x="70104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9" name="Oval 20"/>
          <p:cNvSpPr>
            <a:spLocks noChangeArrowheads="1"/>
          </p:cNvSpPr>
          <p:nvPr/>
        </p:nvSpPr>
        <p:spPr bwMode="auto">
          <a:xfrm>
            <a:off x="80772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70" name="Oval 21"/>
          <p:cNvSpPr>
            <a:spLocks noChangeArrowheads="1"/>
          </p:cNvSpPr>
          <p:nvPr/>
        </p:nvSpPr>
        <p:spPr bwMode="auto">
          <a:xfrm>
            <a:off x="7315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71" name="Oval 22"/>
          <p:cNvSpPr>
            <a:spLocks noChangeArrowheads="1"/>
          </p:cNvSpPr>
          <p:nvPr/>
        </p:nvSpPr>
        <p:spPr bwMode="auto">
          <a:xfrm>
            <a:off x="80010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72" name="Oval 23"/>
          <p:cNvSpPr>
            <a:spLocks noChangeArrowheads="1"/>
          </p:cNvSpPr>
          <p:nvPr/>
        </p:nvSpPr>
        <p:spPr bwMode="auto">
          <a:xfrm>
            <a:off x="7315200" y="6172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73" name="Oval 24"/>
          <p:cNvSpPr>
            <a:spLocks noChangeArrowheads="1"/>
          </p:cNvSpPr>
          <p:nvPr/>
        </p:nvSpPr>
        <p:spPr bwMode="auto">
          <a:xfrm>
            <a:off x="6705600" y="63246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74" name="Line 25"/>
          <p:cNvSpPr>
            <a:spLocks noChangeShapeType="1"/>
          </p:cNvSpPr>
          <p:nvPr/>
        </p:nvSpPr>
        <p:spPr bwMode="auto">
          <a:xfrm flipH="1" flipV="1">
            <a:off x="6629400" y="5562600"/>
            <a:ext cx="152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75" name="Line 26"/>
          <p:cNvSpPr>
            <a:spLocks noChangeShapeType="1"/>
          </p:cNvSpPr>
          <p:nvPr/>
        </p:nvSpPr>
        <p:spPr bwMode="auto">
          <a:xfrm flipH="1" flipV="1">
            <a:off x="5867400" y="51816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76" name="Line 27"/>
          <p:cNvSpPr>
            <a:spLocks noChangeShapeType="1"/>
          </p:cNvSpPr>
          <p:nvPr/>
        </p:nvSpPr>
        <p:spPr bwMode="auto">
          <a:xfrm flipV="1">
            <a:off x="5943600" y="41910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77" name="Line 28"/>
          <p:cNvSpPr>
            <a:spLocks noChangeShapeType="1"/>
          </p:cNvSpPr>
          <p:nvPr/>
        </p:nvSpPr>
        <p:spPr bwMode="auto">
          <a:xfrm>
            <a:off x="6858000" y="41910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78" name="Line 29"/>
          <p:cNvSpPr>
            <a:spLocks noChangeShapeType="1"/>
          </p:cNvSpPr>
          <p:nvPr/>
        </p:nvSpPr>
        <p:spPr bwMode="auto">
          <a:xfrm flipH="1">
            <a:off x="7848600" y="4419600"/>
            <a:ext cx="76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79" name="Line 30"/>
          <p:cNvSpPr>
            <a:spLocks noChangeShapeType="1"/>
          </p:cNvSpPr>
          <p:nvPr/>
        </p:nvSpPr>
        <p:spPr bwMode="auto">
          <a:xfrm>
            <a:off x="7924800" y="5562600"/>
            <a:ext cx="914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80" name="Text Box 31"/>
          <p:cNvSpPr txBox="1">
            <a:spLocks noChangeArrowheads="1"/>
          </p:cNvSpPr>
          <p:nvPr/>
        </p:nvSpPr>
        <p:spPr bwMode="auto">
          <a:xfrm>
            <a:off x="0" y="1600200"/>
            <a:ext cx="4191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3600">
                <a:latin typeface="Times New Roman" pitchFamily="18" charset="0"/>
              </a:rPr>
              <a:t>Collision Frequency</a:t>
            </a:r>
          </a:p>
        </p:txBody>
      </p:sp>
      <p:graphicFrame>
        <p:nvGraphicFramePr>
          <p:cNvPr id="2050" name="Object 32"/>
          <p:cNvGraphicFramePr>
            <a:graphicFrameLocks noChangeAspect="1"/>
          </p:cNvGraphicFramePr>
          <p:nvPr/>
        </p:nvGraphicFramePr>
        <p:xfrm>
          <a:off x="228600" y="2514600"/>
          <a:ext cx="4340225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560" imgH="393480" progId="Equation.3">
                  <p:embed/>
                </p:oleObj>
              </mc:Choice>
              <mc:Fallback>
                <p:oleObj name="Equation" r:id="rId2" imgW="1231560" imgH="393480" progId="Equation.3">
                  <p:embed/>
                  <p:pic>
                    <p:nvPicPr>
                      <p:cNvPr id="205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4340225" cy="1420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1" name="Text Box 33"/>
          <p:cNvSpPr txBox="1">
            <a:spLocks noChangeArrowheads="1"/>
          </p:cNvSpPr>
          <p:nvPr/>
        </p:nvSpPr>
        <p:spPr bwMode="auto">
          <a:xfrm>
            <a:off x="5486400" y="3352800"/>
            <a:ext cx="3429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2800">
                <a:solidFill>
                  <a:srgbClr val="00CC66"/>
                </a:solidFill>
                <a:latin typeface="Times New Roman" pitchFamily="18" charset="0"/>
              </a:rPr>
              <a:t>Random-walk process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Mean Free Path</a:t>
            </a:r>
          </a:p>
        </p:txBody>
      </p:sp>
      <p:sp>
        <p:nvSpPr>
          <p:cNvPr id="3077" name="Oval 3"/>
          <p:cNvSpPr>
            <a:spLocks noChangeArrowheads="1"/>
          </p:cNvSpPr>
          <p:nvPr/>
        </p:nvSpPr>
        <p:spPr bwMode="auto">
          <a:xfrm>
            <a:off x="57150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Oval 4"/>
          <p:cNvSpPr>
            <a:spLocks noChangeArrowheads="1"/>
          </p:cNvSpPr>
          <p:nvPr/>
        </p:nvSpPr>
        <p:spPr bwMode="auto">
          <a:xfrm>
            <a:off x="5562600" y="624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Oval 5"/>
          <p:cNvSpPr>
            <a:spLocks noChangeArrowheads="1"/>
          </p:cNvSpPr>
          <p:nvPr/>
        </p:nvSpPr>
        <p:spPr bwMode="auto">
          <a:xfrm>
            <a:off x="57912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Oval 6"/>
          <p:cNvSpPr>
            <a:spLocks noChangeArrowheads="1"/>
          </p:cNvSpPr>
          <p:nvPr/>
        </p:nvSpPr>
        <p:spPr bwMode="auto">
          <a:xfrm>
            <a:off x="61722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Oval 7"/>
          <p:cNvSpPr>
            <a:spLocks noChangeArrowheads="1"/>
          </p:cNvSpPr>
          <p:nvPr/>
        </p:nvSpPr>
        <p:spPr bwMode="auto">
          <a:xfrm>
            <a:off x="7162800" y="5334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Oval 8"/>
          <p:cNvSpPr>
            <a:spLocks noChangeArrowheads="1"/>
          </p:cNvSpPr>
          <p:nvPr/>
        </p:nvSpPr>
        <p:spPr bwMode="auto">
          <a:xfrm>
            <a:off x="6248400" y="5105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3" name="Oval 9"/>
          <p:cNvSpPr>
            <a:spLocks noChangeArrowheads="1"/>
          </p:cNvSpPr>
          <p:nvPr/>
        </p:nvSpPr>
        <p:spPr bwMode="auto">
          <a:xfrm>
            <a:off x="8534400" y="57150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4" name="Oval 10"/>
          <p:cNvSpPr>
            <a:spLocks noChangeArrowheads="1"/>
          </p:cNvSpPr>
          <p:nvPr/>
        </p:nvSpPr>
        <p:spPr bwMode="auto">
          <a:xfrm>
            <a:off x="67056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5" name="Oval 11"/>
          <p:cNvSpPr>
            <a:spLocks noChangeArrowheads="1"/>
          </p:cNvSpPr>
          <p:nvPr/>
        </p:nvSpPr>
        <p:spPr bwMode="auto">
          <a:xfrm>
            <a:off x="7620000" y="5562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6" name="Oval 12"/>
          <p:cNvSpPr>
            <a:spLocks noChangeArrowheads="1"/>
          </p:cNvSpPr>
          <p:nvPr/>
        </p:nvSpPr>
        <p:spPr bwMode="auto">
          <a:xfrm>
            <a:off x="5410200" y="4724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7" name="Oval 13"/>
          <p:cNvSpPr>
            <a:spLocks noChangeArrowheads="1"/>
          </p:cNvSpPr>
          <p:nvPr/>
        </p:nvSpPr>
        <p:spPr bwMode="auto">
          <a:xfrm>
            <a:off x="6096000" y="4495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8" name="Oval 14"/>
          <p:cNvSpPr>
            <a:spLocks noChangeArrowheads="1"/>
          </p:cNvSpPr>
          <p:nvPr/>
        </p:nvSpPr>
        <p:spPr bwMode="auto">
          <a:xfrm>
            <a:off x="5334000" y="5486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9" name="Oval 15"/>
          <p:cNvSpPr>
            <a:spLocks noChangeArrowheads="1"/>
          </p:cNvSpPr>
          <p:nvPr/>
        </p:nvSpPr>
        <p:spPr bwMode="auto">
          <a:xfrm>
            <a:off x="6705600" y="3962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0" name="Oval 16"/>
          <p:cNvSpPr>
            <a:spLocks noChangeArrowheads="1"/>
          </p:cNvSpPr>
          <p:nvPr/>
        </p:nvSpPr>
        <p:spPr bwMode="auto">
          <a:xfrm>
            <a:off x="6629400" y="5486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Oval 17"/>
          <p:cNvSpPr>
            <a:spLocks noChangeArrowheads="1"/>
          </p:cNvSpPr>
          <p:nvPr/>
        </p:nvSpPr>
        <p:spPr bwMode="auto">
          <a:xfrm>
            <a:off x="79248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2" name="Oval 18"/>
          <p:cNvSpPr>
            <a:spLocks noChangeArrowheads="1"/>
          </p:cNvSpPr>
          <p:nvPr/>
        </p:nvSpPr>
        <p:spPr bwMode="auto">
          <a:xfrm>
            <a:off x="7467600" y="3886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3" name="Oval 19"/>
          <p:cNvSpPr>
            <a:spLocks noChangeArrowheads="1"/>
          </p:cNvSpPr>
          <p:nvPr/>
        </p:nvSpPr>
        <p:spPr bwMode="auto">
          <a:xfrm>
            <a:off x="70104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4" name="Oval 20"/>
          <p:cNvSpPr>
            <a:spLocks noChangeArrowheads="1"/>
          </p:cNvSpPr>
          <p:nvPr/>
        </p:nvSpPr>
        <p:spPr bwMode="auto">
          <a:xfrm>
            <a:off x="80772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5" name="Oval 21"/>
          <p:cNvSpPr>
            <a:spLocks noChangeArrowheads="1"/>
          </p:cNvSpPr>
          <p:nvPr/>
        </p:nvSpPr>
        <p:spPr bwMode="auto">
          <a:xfrm>
            <a:off x="73152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6" name="Oval 22"/>
          <p:cNvSpPr>
            <a:spLocks noChangeArrowheads="1"/>
          </p:cNvSpPr>
          <p:nvPr/>
        </p:nvSpPr>
        <p:spPr bwMode="auto">
          <a:xfrm>
            <a:off x="8001000" y="6019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7" name="Oval 23"/>
          <p:cNvSpPr>
            <a:spLocks noChangeArrowheads="1"/>
          </p:cNvSpPr>
          <p:nvPr/>
        </p:nvSpPr>
        <p:spPr bwMode="auto">
          <a:xfrm>
            <a:off x="7315200" y="6172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8" name="Oval 24"/>
          <p:cNvSpPr>
            <a:spLocks noChangeArrowheads="1"/>
          </p:cNvSpPr>
          <p:nvPr/>
        </p:nvSpPr>
        <p:spPr bwMode="auto">
          <a:xfrm>
            <a:off x="6705600" y="63246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9" name="Line 25"/>
          <p:cNvSpPr>
            <a:spLocks noChangeShapeType="1"/>
          </p:cNvSpPr>
          <p:nvPr/>
        </p:nvSpPr>
        <p:spPr bwMode="auto">
          <a:xfrm flipH="1" flipV="1">
            <a:off x="6629400" y="5562600"/>
            <a:ext cx="152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00" name="Line 26"/>
          <p:cNvSpPr>
            <a:spLocks noChangeShapeType="1"/>
          </p:cNvSpPr>
          <p:nvPr/>
        </p:nvSpPr>
        <p:spPr bwMode="auto">
          <a:xfrm flipH="1" flipV="1">
            <a:off x="5867400" y="51816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01" name="Line 27"/>
          <p:cNvSpPr>
            <a:spLocks noChangeShapeType="1"/>
          </p:cNvSpPr>
          <p:nvPr/>
        </p:nvSpPr>
        <p:spPr bwMode="auto">
          <a:xfrm flipV="1">
            <a:off x="5943600" y="41910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02" name="Line 28"/>
          <p:cNvSpPr>
            <a:spLocks noChangeShapeType="1"/>
          </p:cNvSpPr>
          <p:nvPr/>
        </p:nvSpPr>
        <p:spPr bwMode="auto">
          <a:xfrm>
            <a:off x="6858000" y="41910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03" name="Line 29"/>
          <p:cNvSpPr>
            <a:spLocks noChangeShapeType="1"/>
          </p:cNvSpPr>
          <p:nvPr/>
        </p:nvSpPr>
        <p:spPr bwMode="auto">
          <a:xfrm flipH="1">
            <a:off x="7848600" y="4419600"/>
            <a:ext cx="76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04" name="Line 30"/>
          <p:cNvSpPr>
            <a:spLocks noChangeShapeType="1"/>
          </p:cNvSpPr>
          <p:nvPr/>
        </p:nvSpPr>
        <p:spPr bwMode="auto">
          <a:xfrm>
            <a:off x="7924800" y="5562600"/>
            <a:ext cx="914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05" name="Text Box 31"/>
          <p:cNvSpPr txBox="1">
            <a:spLocks noChangeArrowheads="1"/>
          </p:cNvSpPr>
          <p:nvPr/>
        </p:nvSpPr>
        <p:spPr bwMode="auto">
          <a:xfrm>
            <a:off x="304800" y="1295400"/>
            <a:ext cx="8839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3600">
                <a:latin typeface="Times New Roman" pitchFamily="18" charset="0"/>
              </a:rPr>
              <a:t>For air molecules at room temperature:</a:t>
            </a:r>
          </a:p>
        </p:txBody>
      </p:sp>
      <p:graphicFrame>
        <p:nvGraphicFramePr>
          <p:cNvPr id="3074" name="Object 32"/>
          <p:cNvGraphicFramePr>
            <a:graphicFrameLocks noChangeAspect="1"/>
          </p:cNvGraphicFramePr>
          <p:nvPr/>
        </p:nvGraphicFramePr>
        <p:xfrm>
          <a:off x="304800" y="2133600"/>
          <a:ext cx="35353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228600" progId="Equation.3">
                  <p:embed/>
                </p:oleObj>
              </mc:Choice>
              <mc:Fallback>
                <p:oleObj name="Equation" r:id="rId2" imgW="1002960" imgH="228600" progId="Equation.3">
                  <p:embed/>
                  <p:pic>
                    <p:nvPicPr>
                      <p:cNvPr id="307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133600"/>
                        <a:ext cx="3535363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3"/>
          <p:cNvGraphicFramePr>
            <a:graphicFrameLocks noChangeAspect="1"/>
          </p:cNvGraphicFramePr>
          <p:nvPr/>
        </p:nvGraphicFramePr>
        <p:xfrm>
          <a:off x="193675" y="4572000"/>
          <a:ext cx="3714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228600" progId="Equation.3">
                  <p:embed/>
                </p:oleObj>
              </mc:Choice>
              <mc:Fallback>
                <p:oleObj name="Equation" r:id="rId4" imgW="1054080" imgH="228600" progId="Equation.3">
                  <p:embed/>
                  <p:pic>
                    <p:nvPicPr>
                      <p:cNvPr id="307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4572000"/>
                        <a:ext cx="371475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6" name="Text Box 34"/>
          <p:cNvSpPr txBox="1">
            <a:spLocks noChangeArrowheads="1"/>
          </p:cNvSpPr>
          <p:nvPr/>
        </p:nvSpPr>
        <p:spPr bwMode="auto">
          <a:xfrm>
            <a:off x="0" y="3124200"/>
            <a:ext cx="8458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3600">
                <a:latin typeface="Times New Roman" pitchFamily="18" charset="0"/>
              </a:rPr>
              <a:t>(Molecule separation distance is 3.4x10</a:t>
            </a:r>
            <a:r>
              <a:rPr lang="en-US" sz="3600" baseline="30000">
                <a:latin typeface="Times New Roman" pitchFamily="18" charset="0"/>
              </a:rPr>
              <a:t>-9</a:t>
            </a:r>
            <a:r>
              <a:rPr lang="en-US" sz="3600">
                <a:latin typeface="Times New Roman" pitchFamily="18" charset="0"/>
              </a:rPr>
              <a:t> m.)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Partial Summary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Mean Free Path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Problems to try 21.45, 21.61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Extra Credit:  Write up why the square root of 2 was needed</a:t>
            </a:r>
          </a:p>
        </p:txBody>
      </p:sp>
      <p:sp>
        <p:nvSpPr>
          <p:cNvPr id="4102" name="Rectangle 2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103" name="Rectangle 31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98" name="Object 32"/>
          <p:cNvGraphicFramePr>
            <a:graphicFrameLocks noChangeAspect="1"/>
          </p:cNvGraphicFramePr>
          <p:nvPr/>
        </p:nvGraphicFramePr>
        <p:xfrm>
          <a:off x="5165725" y="1616075"/>
          <a:ext cx="1944688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560" imgH="393480" progId="Equation.3">
                  <p:embed/>
                </p:oleObj>
              </mc:Choice>
              <mc:Fallback>
                <p:oleObj name="Equation" r:id="rId2" imgW="1231560" imgH="393480" progId="Equation.3">
                  <p:embed/>
                  <p:pic>
                    <p:nvPicPr>
                      <p:cNvPr id="409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5725" y="1616075"/>
                        <a:ext cx="1944688" cy="636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47"/>
          <p:cNvGraphicFramePr>
            <a:graphicFrameLocks noChangeAspect="1"/>
          </p:cNvGraphicFramePr>
          <p:nvPr/>
        </p:nvGraphicFramePr>
        <p:xfrm>
          <a:off x="5167313" y="2359025"/>
          <a:ext cx="14922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840" imgH="444240" progId="Equation.3">
                  <p:embed/>
                </p:oleObj>
              </mc:Choice>
              <mc:Fallback>
                <p:oleObj name="Equation" r:id="rId4" imgW="888840" imgH="444240" progId="Equation.3">
                  <p:embed/>
                  <p:pic>
                    <p:nvPicPr>
                      <p:cNvPr id="4099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13" y="2359025"/>
                        <a:ext cx="1492250" cy="76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3315" name="Content Placeholder 5" descr="Mean_Free_Path_equivalent_collis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57200" y="1804988"/>
            <a:ext cx="8229600" cy="4114800"/>
          </a:xfr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4339" name="Content Placeholder 5" descr="mean free path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62000" y="1957388"/>
            <a:ext cx="7620000" cy="3810000"/>
          </a:xfr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Assumptions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The number of molecules in the gas is large and the average separation between them is large compared to their dimensions</a:t>
            </a:r>
          </a:p>
          <a:p>
            <a:pPr eaLnBrk="1" hangingPunct="1"/>
            <a:r>
              <a:rPr lang="en-US"/>
              <a:t>The molecules obey Newton’s laws of motion, but as a whole they move randomly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Assumptions, cont.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The molecules interact only by short-range forces during elastic collisions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The molecules make elastic collisions with the walls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The gas under consideration is a pure substance, all the molecules are identical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123.14.5</a:t>
            </a:r>
          </a:p>
        </p:txBody>
      </p:sp>
      <p:sp>
        <p:nvSpPr>
          <p:cNvPr id="19251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9538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2800"/>
              <a:t>A ball bounces off a wall. If the initial velocity of the ball is v</a:t>
            </a:r>
            <a:r>
              <a:rPr lang="en-US" sz="2800" baseline="-25000"/>
              <a:t>x</a:t>
            </a:r>
            <a:r>
              <a:rPr lang="en-US" sz="2800"/>
              <a:t> and the final velocity of the ball is –v</a:t>
            </a:r>
            <a:r>
              <a:rPr lang="en-US" sz="2800" baseline="-25000"/>
              <a:t>x</a:t>
            </a:r>
            <a:r>
              <a:rPr lang="en-US" sz="2800"/>
              <a:t>, what is the </a:t>
            </a:r>
            <a:r>
              <a:rPr lang="en-US" sz="2800" b="1"/>
              <a:t>change in momentum </a:t>
            </a:r>
            <a:r>
              <a:rPr lang="en-US" sz="2800"/>
              <a:t>of the ball?</a:t>
            </a:r>
          </a:p>
          <a:p>
            <a:pPr>
              <a:buFontTx/>
              <a:buAutoNum type="alphaLcParenR"/>
            </a:pPr>
            <a:r>
              <a:rPr lang="en-US" sz="2800"/>
              <a:t>mv</a:t>
            </a:r>
            <a:r>
              <a:rPr lang="en-US" sz="2800" baseline="-25000"/>
              <a:t>x</a:t>
            </a:r>
          </a:p>
          <a:p>
            <a:pPr>
              <a:buFontTx/>
              <a:buAutoNum type="alphaLcParenR"/>
            </a:pPr>
            <a:r>
              <a:rPr lang="en-US" sz="2800"/>
              <a:t>0</a:t>
            </a:r>
          </a:p>
          <a:p>
            <a:pPr>
              <a:buFontTx/>
              <a:buAutoNum type="alphaLcParenR"/>
            </a:pPr>
            <a:r>
              <a:rPr lang="en-US" sz="2800"/>
              <a:t>-mv</a:t>
            </a:r>
            <a:r>
              <a:rPr lang="en-US" sz="2800" baseline="-25000"/>
              <a:t>x</a:t>
            </a:r>
          </a:p>
          <a:p>
            <a:pPr>
              <a:buFontTx/>
              <a:buAutoNum type="alphaLcParenR"/>
            </a:pPr>
            <a:r>
              <a:rPr lang="en-US" sz="2800"/>
              <a:t>2mv</a:t>
            </a:r>
            <a:r>
              <a:rPr lang="en-US" sz="2800" baseline="-25000"/>
              <a:t>x</a:t>
            </a:r>
          </a:p>
        </p:txBody>
      </p:sp>
      <p:sp>
        <p:nvSpPr>
          <p:cNvPr id="1925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D874FB-29F0-482A-9E20-3DC90248A19B}" type="slidenum">
              <a:rPr lang="en-US" smtClean="0"/>
              <a:pPr/>
              <a:t>61</a:t>
            </a:fld>
            <a:endParaRPr lang="en-US"/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051550" y="2119313"/>
            <a:ext cx="2679700" cy="3560762"/>
            <a:chOff x="2121" y="1024"/>
            <a:chExt cx="1688" cy="2243"/>
          </a:xfrm>
        </p:grpSpPr>
        <p:sp>
          <p:nvSpPr>
            <p:cNvPr id="192518" name="Line 25"/>
            <p:cNvSpPr>
              <a:spLocks noChangeShapeType="1"/>
            </p:cNvSpPr>
            <p:nvPr/>
          </p:nvSpPr>
          <p:spPr bwMode="auto">
            <a:xfrm>
              <a:off x="2121" y="2915"/>
              <a:ext cx="1490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519" name="Line 24"/>
            <p:cNvSpPr>
              <a:spLocks noChangeShapeType="1"/>
            </p:cNvSpPr>
            <p:nvPr/>
          </p:nvSpPr>
          <p:spPr bwMode="auto">
            <a:xfrm>
              <a:off x="2135" y="2144"/>
              <a:ext cx="1490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520" name="Line 23"/>
            <p:cNvSpPr>
              <a:spLocks noChangeShapeType="1"/>
            </p:cNvSpPr>
            <p:nvPr/>
          </p:nvSpPr>
          <p:spPr bwMode="auto">
            <a:xfrm>
              <a:off x="2121" y="1380"/>
              <a:ext cx="1490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3634" y="1024"/>
              <a:ext cx="204" cy="691"/>
              <a:chOff x="4206" y="1024"/>
              <a:chExt cx="317" cy="2847"/>
            </a:xfrm>
          </p:grpSpPr>
          <p:sp>
            <p:nvSpPr>
              <p:cNvPr id="192535" name="Rectangle 4"/>
              <p:cNvSpPr>
                <a:spLocks noChangeArrowheads="1"/>
              </p:cNvSpPr>
              <p:nvPr/>
            </p:nvSpPr>
            <p:spPr bwMode="auto">
              <a:xfrm>
                <a:off x="4206" y="1024"/>
                <a:ext cx="56" cy="2843"/>
              </a:xfrm>
              <a:prstGeom prst="rect">
                <a:avLst/>
              </a:prstGeom>
              <a:solidFill>
                <a:srgbClr val="80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536" name="Rectangle 5" descr="Wide downward diagonal"/>
              <p:cNvSpPr>
                <a:spLocks noChangeArrowheads="1"/>
              </p:cNvSpPr>
              <p:nvPr/>
            </p:nvSpPr>
            <p:spPr bwMode="auto">
              <a:xfrm>
                <a:off x="4248" y="1028"/>
                <a:ext cx="275" cy="2843"/>
              </a:xfrm>
              <a:prstGeom prst="rect">
                <a:avLst/>
              </a:prstGeom>
              <a:pattFill prst="wdDnDiag">
                <a:fgClr>
                  <a:srgbClr val="800000"/>
                </a:fgClr>
                <a:bgClr>
                  <a:schemeClr val="bg1"/>
                </a:bgClr>
              </a:patt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2560" y="1290"/>
              <a:ext cx="180" cy="18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3645" y="1785"/>
              <a:ext cx="204" cy="691"/>
              <a:chOff x="4206" y="1024"/>
              <a:chExt cx="317" cy="2847"/>
            </a:xfrm>
          </p:grpSpPr>
          <p:sp>
            <p:nvSpPr>
              <p:cNvPr id="192533" name="Rectangle 9"/>
              <p:cNvSpPr>
                <a:spLocks noChangeArrowheads="1"/>
              </p:cNvSpPr>
              <p:nvPr/>
            </p:nvSpPr>
            <p:spPr bwMode="auto">
              <a:xfrm>
                <a:off x="4206" y="1024"/>
                <a:ext cx="56" cy="2843"/>
              </a:xfrm>
              <a:prstGeom prst="rect">
                <a:avLst/>
              </a:prstGeom>
              <a:solidFill>
                <a:srgbClr val="80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534" name="Rectangle 10" descr="Wide downward diagonal"/>
              <p:cNvSpPr>
                <a:spLocks noChangeArrowheads="1"/>
              </p:cNvSpPr>
              <p:nvPr/>
            </p:nvSpPr>
            <p:spPr bwMode="auto">
              <a:xfrm>
                <a:off x="4248" y="1028"/>
                <a:ext cx="275" cy="2843"/>
              </a:xfrm>
              <a:prstGeom prst="rect">
                <a:avLst/>
              </a:prstGeom>
              <a:pattFill prst="wdDnDiag">
                <a:fgClr>
                  <a:srgbClr val="800000"/>
                </a:fgClr>
                <a:bgClr>
                  <a:schemeClr val="bg1"/>
                </a:bgClr>
              </a:patt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2524" name="Line 11"/>
            <p:cNvSpPr>
              <a:spLocks noChangeShapeType="1"/>
            </p:cNvSpPr>
            <p:nvPr/>
          </p:nvSpPr>
          <p:spPr bwMode="auto">
            <a:xfrm>
              <a:off x="2653" y="1380"/>
              <a:ext cx="3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2871" y="2813"/>
              <a:ext cx="180" cy="18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2526" name="Line 12"/>
            <p:cNvSpPr>
              <a:spLocks noChangeShapeType="1"/>
            </p:cNvSpPr>
            <p:nvPr/>
          </p:nvSpPr>
          <p:spPr bwMode="auto">
            <a:xfrm flipH="1">
              <a:off x="2661" y="2913"/>
              <a:ext cx="3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527" name="Text Box 14"/>
            <p:cNvSpPr txBox="1">
              <a:spLocks noChangeArrowheads="1"/>
            </p:cNvSpPr>
            <p:nvPr/>
          </p:nvSpPr>
          <p:spPr bwMode="auto">
            <a:xfrm>
              <a:off x="2681" y="1161"/>
              <a:ext cx="23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v</a:t>
              </a:r>
              <a:r>
                <a:rPr lang="en-US" baseline="-2500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92528" name="Text Box 15"/>
            <p:cNvSpPr txBox="1">
              <a:spLocks noChangeArrowheads="1"/>
            </p:cNvSpPr>
            <p:nvPr/>
          </p:nvSpPr>
          <p:spPr bwMode="auto">
            <a:xfrm>
              <a:off x="2601" y="2679"/>
              <a:ext cx="284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-v</a:t>
              </a:r>
              <a:r>
                <a:rPr lang="en-US" baseline="-25000">
                  <a:solidFill>
                    <a:srgbClr val="FF0000"/>
                  </a:solidFill>
                </a:rPr>
                <a:t>x</a:t>
              </a:r>
            </a:p>
          </p:txBody>
        </p: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3642" y="2576"/>
              <a:ext cx="204" cy="691"/>
              <a:chOff x="4206" y="1024"/>
              <a:chExt cx="317" cy="2847"/>
            </a:xfrm>
          </p:grpSpPr>
          <p:sp>
            <p:nvSpPr>
              <p:cNvPr id="192531" name="Rectangle 18"/>
              <p:cNvSpPr>
                <a:spLocks noChangeArrowheads="1"/>
              </p:cNvSpPr>
              <p:nvPr/>
            </p:nvSpPr>
            <p:spPr bwMode="auto">
              <a:xfrm>
                <a:off x="4206" y="1024"/>
                <a:ext cx="56" cy="2843"/>
              </a:xfrm>
              <a:prstGeom prst="rect">
                <a:avLst/>
              </a:prstGeom>
              <a:solidFill>
                <a:srgbClr val="80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532" name="Rectangle 19" descr="Wide downward diagonal"/>
              <p:cNvSpPr>
                <a:spLocks noChangeArrowheads="1"/>
              </p:cNvSpPr>
              <p:nvPr/>
            </p:nvSpPr>
            <p:spPr bwMode="auto">
              <a:xfrm>
                <a:off x="4248" y="1028"/>
                <a:ext cx="275" cy="2843"/>
              </a:xfrm>
              <a:prstGeom prst="rect">
                <a:avLst/>
              </a:prstGeom>
              <a:pattFill prst="wdDnDiag">
                <a:fgClr>
                  <a:srgbClr val="800000"/>
                </a:fgClr>
                <a:bgClr>
                  <a:schemeClr val="bg1"/>
                </a:bgClr>
              </a:patt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" name="Oval 20"/>
            <p:cNvSpPr>
              <a:spLocks noChangeArrowheads="1"/>
            </p:cNvSpPr>
            <p:nvPr/>
          </p:nvSpPr>
          <p:spPr bwMode="auto">
            <a:xfrm>
              <a:off x="3440" y="2051"/>
              <a:ext cx="180" cy="18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15871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Particle in a Box</a:t>
            </a:r>
          </a:p>
        </p:txBody>
      </p:sp>
      <p:sp>
        <p:nvSpPr>
          <p:cNvPr id="8" name="Line 23"/>
          <p:cNvSpPr>
            <a:spLocks noChangeShapeType="1"/>
          </p:cNvSpPr>
          <p:nvPr/>
        </p:nvSpPr>
        <p:spPr bwMode="auto">
          <a:xfrm>
            <a:off x="3644900" y="3429000"/>
            <a:ext cx="2365375" cy="0"/>
          </a:xfrm>
          <a:prstGeom prst="line">
            <a:avLst/>
          </a:prstGeom>
          <a:noFill/>
          <a:ln w="9525">
            <a:solidFill>
              <a:srgbClr val="C0C0C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4341813" y="3286125"/>
            <a:ext cx="285750" cy="296863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4489450" y="3429000"/>
            <a:ext cx="4889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4627563" y="3545904"/>
            <a:ext cx="6477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x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95600" y="1609725"/>
            <a:ext cx="3276600" cy="3352800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846388" y="1262390"/>
            <a:ext cx="32766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426780" y="1000780"/>
            <a:ext cx="37382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d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rot="5400000">
            <a:off x="4827587" y="3286125"/>
            <a:ext cx="32766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7979" y="3024515"/>
            <a:ext cx="37382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d</a:t>
            </a:r>
          </a:p>
        </p:txBody>
      </p:sp>
      <p:sp>
        <p:nvSpPr>
          <p:cNvPr id="31" name="Line 11"/>
          <p:cNvSpPr>
            <a:spLocks noChangeShapeType="1"/>
          </p:cNvSpPr>
          <p:nvPr/>
        </p:nvSpPr>
        <p:spPr bwMode="auto">
          <a:xfrm flipV="1">
            <a:off x="4489450" y="2842999"/>
            <a:ext cx="374528" cy="62101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4471866" y="2642741"/>
            <a:ext cx="6477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</a:t>
            </a:r>
            <a:endParaRPr lang="en-US" baseline="-25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4975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Momentum of the Collision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3367088" y="1625600"/>
            <a:ext cx="2679700" cy="3560763"/>
            <a:chOff x="2121" y="1024"/>
            <a:chExt cx="1688" cy="2243"/>
          </a:xfrm>
        </p:grpSpPr>
        <p:sp>
          <p:nvSpPr>
            <p:cNvPr id="17412" name="Line 25"/>
            <p:cNvSpPr>
              <a:spLocks noChangeShapeType="1"/>
            </p:cNvSpPr>
            <p:nvPr/>
          </p:nvSpPr>
          <p:spPr bwMode="auto">
            <a:xfrm>
              <a:off x="2121" y="2915"/>
              <a:ext cx="1490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3" name="Line 24"/>
            <p:cNvSpPr>
              <a:spLocks noChangeShapeType="1"/>
            </p:cNvSpPr>
            <p:nvPr/>
          </p:nvSpPr>
          <p:spPr bwMode="auto">
            <a:xfrm>
              <a:off x="2135" y="2144"/>
              <a:ext cx="1490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4" name="Line 23"/>
            <p:cNvSpPr>
              <a:spLocks noChangeShapeType="1"/>
            </p:cNvSpPr>
            <p:nvPr/>
          </p:nvSpPr>
          <p:spPr bwMode="auto">
            <a:xfrm>
              <a:off x="2121" y="1380"/>
              <a:ext cx="1490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3607" y="1024"/>
              <a:ext cx="202" cy="691"/>
              <a:chOff x="4206" y="1024"/>
              <a:chExt cx="317" cy="2847"/>
            </a:xfrm>
          </p:grpSpPr>
          <p:sp>
            <p:nvSpPr>
              <p:cNvPr id="17429" name="Rectangle 4"/>
              <p:cNvSpPr>
                <a:spLocks noChangeArrowheads="1"/>
              </p:cNvSpPr>
              <p:nvPr/>
            </p:nvSpPr>
            <p:spPr bwMode="auto">
              <a:xfrm>
                <a:off x="4206" y="1024"/>
                <a:ext cx="56" cy="2843"/>
              </a:xfrm>
              <a:prstGeom prst="rect">
                <a:avLst/>
              </a:prstGeom>
              <a:solidFill>
                <a:srgbClr val="80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30" name="Rectangle 5" descr="Wide downward diagonal"/>
              <p:cNvSpPr>
                <a:spLocks noChangeArrowheads="1"/>
              </p:cNvSpPr>
              <p:nvPr/>
            </p:nvSpPr>
            <p:spPr bwMode="auto">
              <a:xfrm>
                <a:off x="4248" y="1028"/>
                <a:ext cx="275" cy="2843"/>
              </a:xfrm>
              <a:prstGeom prst="rect">
                <a:avLst/>
              </a:prstGeom>
              <a:pattFill prst="wdDnDiag">
                <a:fgClr>
                  <a:srgbClr val="800000"/>
                </a:fgClr>
                <a:bgClr>
                  <a:schemeClr val="bg1"/>
                </a:bgClr>
              </a:patt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910" name="Oval 6"/>
            <p:cNvSpPr>
              <a:spLocks noChangeArrowheads="1"/>
            </p:cNvSpPr>
            <p:nvPr/>
          </p:nvSpPr>
          <p:spPr bwMode="auto">
            <a:xfrm>
              <a:off x="2560" y="1290"/>
              <a:ext cx="180" cy="18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3605" y="1785"/>
              <a:ext cx="201" cy="691"/>
              <a:chOff x="4206" y="1024"/>
              <a:chExt cx="317" cy="2847"/>
            </a:xfrm>
          </p:grpSpPr>
          <p:sp>
            <p:nvSpPr>
              <p:cNvPr id="17427" name="Rectangle 9"/>
              <p:cNvSpPr>
                <a:spLocks noChangeArrowheads="1"/>
              </p:cNvSpPr>
              <p:nvPr/>
            </p:nvSpPr>
            <p:spPr bwMode="auto">
              <a:xfrm>
                <a:off x="4206" y="1024"/>
                <a:ext cx="56" cy="2843"/>
              </a:xfrm>
              <a:prstGeom prst="rect">
                <a:avLst/>
              </a:prstGeom>
              <a:solidFill>
                <a:srgbClr val="80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28" name="Rectangle 10" descr="Wide downward diagonal"/>
              <p:cNvSpPr>
                <a:spLocks noChangeArrowheads="1"/>
              </p:cNvSpPr>
              <p:nvPr/>
            </p:nvSpPr>
            <p:spPr bwMode="auto">
              <a:xfrm>
                <a:off x="4248" y="1028"/>
                <a:ext cx="275" cy="2843"/>
              </a:xfrm>
              <a:prstGeom prst="rect">
                <a:avLst/>
              </a:prstGeom>
              <a:pattFill prst="wdDnDiag">
                <a:fgClr>
                  <a:srgbClr val="800000"/>
                </a:fgClr>
                <a:bgClr>
                  <a:schemeClr val="bg1"/>
                </a:bgClr>
              </a:patt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418" name="Line 11"/>
            <p:cNvSpPr>
              <a:spLocks noChangeShapeType="1"/>
            </p:cNvSpPr>
            <p:nvPr/>
          </p:nvSpPr>
          <p:spPr bwMode="auto">
            <a:xfrm>
              <a:off x="2653" y="1380"/>
              <a:ext cx="3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17" name="Oval 13"/>
            <p:cNvSpPr>
              <a:spLocks noChangeArrowheads="1"/>
            </p:cNvSpPr>
            <p:nvPr/>
          </p:nvSpPr>
          <p:spPr bwMode="auto">
            <a:xfrm>
              <a:off x="2871" y="2813"/>
              <a:ext cx="180" cy="18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420" name="Line 12"/>
            <p:cNvSpPr>
              <a:spLocks noChangeShapeType="1"/>
            </p:cNvSpPr>
            <p:nvPr/>
          </p:nvSpPr>
          <p:spPr bwMode="auto">
            <a:xfrm flipH="1">
              <a:off x="2661" y="2913"/>
              <a:ext cx="3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Text Box 14"/>
            <p:cNvSpPr txBox="1">
              <a:spLocks noChangeArrowheads="1"/>
            </p:cNvSpPr>
            <p:nvPr/>
          </p:nvSpPr>
          <p:spPr bwMode="auto">
            <a:xfrm>
              <a:off x="2681" y="1161"/>
              <a:ext cx="23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v</a:t>
              </a:r>
              <a:r>
                <a:rPr lang="en-US" baseline="-2500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7422" name="Text Box 15"/>
            <p:cNvSpPr txBox="1">
              <a:spLocks noChangeArrowheads="1"/>
            </p:cNvSpPr>
            <p:nvPr/>
          </p:nvSpPr>
          <p:spPr bwMode="auto">
            <a:xfrm>
              <a:off x="2601" y="2679"/>
              <a:ext cx="284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-v</a:t>
              </a:r>
              <a:r>
                <a:rPr lang="en-US" baseline="-25000">
                  <a:solidFill>
                    <a:srgbClr val="FF0000"/>
                  </a:solidFill>
                </a:rPr>
                <a:t>x</a:t>
              </a:r>
            </a:p>
          </p:txBody>
        </p: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3602" y="2576"/>
              <a:ext cx="201" cy="691"/>
              <a:chOff x="4206" y="1024"/>
              <a:chExt cx="317" cy="2847"/>
            </a:xfrm>
          </p:grpSpPr>
          <p:sp>
            <p:nvSpPr>
              <p:cNvPr id="17425" name="Rectangle 18"/>
              <p:cNvSpPr>
                <a:spLocks noChangeArrowheads="1"/>
              </p:cNvSpPr>
              <p:nvPr/>
            </p:nvSpPr>
            <p:spPr bwMode="auto">
              <a:xfrm>
                <a:off x="4206" y="1024"/>
                <a:ext cx="56" cy="2843"/>
              </a:xfrm>
              <a:prstGeom prst="rect">
                <a:avLst/>
              </a:prstGeom>
              <a:solidFill>
                <a:srgbClr val="80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26" name="Rectangle 19" descr="Wide downward diagonal"/>
              <p:cNvSpPr>
                <a:spLocks noChangeArrowheads="1"/>
              </p:cNvSpPr>
              <p:nvPr/>
            </p:nvSpPr>
            <p:spPr bwMode="auto">
              <a:xfrm>
                <a:off x="4248" y="1028"/>
                <a:ext cx="275" cy="2843"/>
              </a:xfrm>
              <a:prstGeom prst="rect">
                <a:avLst/>
              </a:prstGeom>
              <a:pattFill prst="wdDnDiag">
                <a:fgClr>
                  <a:srgbClr val="800000"/>
                </a:fgClr>
                <a:bgClr>
                  <a:schemeClr val="bg1"/>
                </a:bgClr>
              </a:patt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924" name="Oval 20"/>
            <p:cNvSpPr>
              <a:spLocks noChangeArrowheads="1"/>
            </p:cNvSpPr>
            <p:nvPr/>
          </p:nvSpPr>
          <p:spPr bwMode="auto">
            <a:xfrm>
              <a:off x="3440" y="2051"/>
              <a:ext cx="180" cy="18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123.14.5</a:t>
            </a:r>
          </a:p>
        </p:txBody>
      </p:sp>
      <p:sp>
        <p:nvSpPr>
          <p:cNvPr id="19251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9538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2800"/>
              <a:t>A ball bounces off a wall. If the initial velocity of the ball is v</a:t>
            </a:r>
            <a:r>
              <a:rPr lang="en-US" sz="2800" baseline="-25000"/>
              <a:t>x</a:t>
            </a:r>
            <a:r>
              <a:rPr lang="en-US" sz="2800"/>
              <a:t> and the final velocity of the ball is –v</a:t>
            </a:r>
            <a:r>
              <a:rPr lang="en-US" sz="2800" baseline="-25000"/>
              <a:t>x</a:t>
            </a:r>
            <a:r>
              <a:rPr lang="en-US" sz="2800"/>
              <a:t>, what is the </a:t>
            </a:r>
            <a:r>
              <a:rPr lang="en-US" sz="2800" b="1"/>
              <a:t>change in momentum </a:t>
            </a:r>
            <a:r>
              <a:rPr lang="en-US" sz="2800"/>
              <a:t>of the ball?</a:t>
            </a:r>
          </a:p>
          <a:p>
            <a:pPr>
              <a:buFontTx/>
              <a:buAutoNum type="alphaLcParenR"/>
            </a:pPr>
            <a:r>
              <a:rPr lang="en-US" sz="2800"/>
              <a:t>mv</a:t>
            </a:r>
            <a:r>
              <a:rPr lang="en-US" sz="2800" baseline="-25000"/>
              <a:t>x</a:t>
            </a:r>
          </a:p>
          <a:p>
            <a:pPr>
              <a:buFontTx/>
              <a:buAutoNum type="alphaLcParenR"/>
            </a:pPr>
            <a:r>
              <a:rPr lang="en-US" sz="2800"/>
              <a:t>0</a:t>
            </a:r>
          </a:p>
          <a:p>
            <a:pPr>
              <a:buFontTx/>
              <a:buAutoNum type="alphaLcParenR"/>
            </a:pPr>
            <a:r>
              <a:rPr lang="en-US" sz="2800"/>
              <a:t>-mv</a:t>
            </a:r>
            <a:r>
              <a:rPr lang="en-US" sz="2800" baseline="-25000"/>
              <a:t>x</a:t>
            </a:r>
          </a:p>
          <a:p>
            <a:pPr>
              <a:buFontTx/>
              <a:buAutoNum type="alphaLcParenR"/>
            </a:pPr>
            <a:r>
              <a:rPr lang="en-US" sz="2800"/>
              <a:t>2mv</a:t>
            </a:r>
            <a:r>
              <a:rPr lang="en-US" sz="2800" baseline="-25000"/>
              <a:t>x</a:t>
            </a:r>
          </a:p>
        </p:txBody>
      </p:sp>
      <p:sp>
        <p:nvSpPr>
          <p:cNvPr id="1925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D874FB-29F0-482A-9E20-3DC90248A19B}" type="slidenum">
              <a:rPr lang="en-US" smtClean="0"/>
              <a:pPr/>
              <a:t>64</a:t>
            </a:fld>
            <a:endParaRPr lang="en-US"/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051550" y="2119313"/>
            <a:ext cx="2679700" cy="3560762"/>
            <a:chOff x="2121" y="1024"/>
            <a:chExt cx="1688" cy="2243"/>
          </a:xfrm>
        </p:grpSpPr>
        <p:sp>
          <p:nvSpPr>
            <p:cNvPr id="192518" name="Line 25"/>
            <p:cNvSpPr>
              <a:spLocks noChangeShapeType="1"/>
            </p:cNvSpPr>
            <p:nvPr/>
          </p:nvSpPr>
          <p:spPr bwMode="auto">
            <a:xfrm>
              <a:off x="2121" y="2915"/>
              <a:ext cx="1490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519" name="Line 24"/>
            <p:cNvSpPr>
              <a:spLocks noChangeShapeType="1"/>
            </p:cNvSpPr>
            <p:nvPr/>
          </p:nvSpPr>
          <p:spPr bwMode="auto">
            <a:xfrm>
              <a:off x="2135" y="2144"/>
              <a:ext cx="1490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520" name="Line 23"/>
            <p:cNvSpPr>
              <a:spLocks noChangeShapeType="1"/>
            </p:cNvSpPr>
            <p:nvPr/>
          </p:nvSpPr>
          <p:spPr bwMode="auto">
            <a:xfrm>
              <a:off x="2121" y="1380"/>
              <a:ext cx="1490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3634" y="1024"/>
              <a:ext cx="204" cy="691"/>
              <a:chOff x="4206" y="1024"/>
              <a:chExt cx="317" cy="2847"/>
            </a:xfrm>
          </p:grpSpPr>
          <p:sp>
            <p:nvSpPr>
              <p:cNvPr id="192535" name="Rectangle 4"/>
              <p:cNvSpPr>
                <a:spLocks noChangeArrowheads="1"/>
              </p:cNvSpPr>
              <p:nvPr/>
            </p:nvSpPr>
            <p:spPr bwMode="auto">
              <a:xfrm>
                <a:off x="4206" y="1024"/>
                <a:ext cx="56" cy="2843"/>
              </a:xfrm>
              <a:prstGeom prst="rect">
                <a:avLst/>
              </a:prstGeom>
              <a:solidFill>
                <a:srgbClr val="80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536" name="Rectangle 5" descr="Wide downward diagonal"/>
              <p:cNvSpPr>
                <a:spLocks noChangeArrowheads="1"/>
              </p:cNvSpPr>
              <p:nvPr/>
            </p:nvSpPr>
            <p:spPr bwMode="auto">
              <a:xfrm>
                <a:off x="4248" y="1028"/>
                <a:ext cx="275" cy="2843"/>
              </a:xfrm>
              <a:prstGeom prst="rect">
                <a:avLst/>
              </a:prstGeom>
              <a:pattFill prst="wdDnDiag">
                <a:fgClr>
                  <a:srgbClr val="800000"/>
                </a:fgClr>
                <a:bgClr>
                  <a:schemeClr val="bg1"/>
                </a:bgClr>
              </a:patt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2560" y="1290"/>
              <a:ext cx="180" cy="18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3645" y="1785"/>
              <a:ext cx="204" cy="691"/>
              <a:chOff x="4206" y="1024"/>
              <a:chExt cx="317" cy="2847"/>
            </a:xfrm>
          </p:grpSpPr>
          <p:sp>
            <p:nvSpPr>
              <p:cNvPr id="192533" name="Rectangle 9"/>
              <p:cNvSpPr>
                <a:spLocks noChangeArrowheads="1"/>
              </p:cNvSpPr>
              <p:nvPr/>
            </p:nvSpPr>
            <p:spPr bwMode="auto">
              <a:xfrm>
                <a:off x="4206" y="1024"/>
                <a:ext cx="56" cy="2843"/>
              </a:xfrm>
              <a:prstGeom prst="rect">
                <a:avLst/>
              </a:prstGeom>
              <a:solidFill>
                <a:srgbClr val="80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534" name="Rectangle 10" descr="Wide downward diagonal"/>
              <p:cNvSpPr>
                <a:spLocks noChangeArrowheads="1"/>
              </p:cNvSpPr>
              <p:nvPr/>
            </p:nvSpPr>
            <p:spPr bwMode="auto">
              <a:xfrm>
                <a:off x="4248" y="1028"/>
                <a:ext cx="275" cy="2843"/>
              </a:xfrm>
              <a:prstGeom prst="rect">
                <a:avLst/>
              </a:prstGeom>
              <a:pattFill prst="wdDnDiag">
                <a:fgClr>
                  <a:srgbClr val="800000"/>
                </a:fgClr>
                <a:bgClr>
                  <a:schemeClr val="bg1"/>
                </a:bgClr>
              </a:patt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2524" name="Line 11"/>
            <p:cNvSpPr>
              <a:spLocks noChangeShapeType="1"/>
            </p:cNvSpPr>
            <p:nvPr/>
          </p:nvSpPr>
          <p:spPr bwMode="auto">
            <a:xfrm>
              <a:off x="2653" y="1380"/>
              <a:ext cx="3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2871" y="2813"/>
              <a:ext cx="180" cy="18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2526" name="Line 12"/>
            <p:cNvSpPr>
              <a:spLocks noChangeShapeType="1"/>
            </p:cNvSpPr>
            <p:nvPr/>
          </p:nvSpPr>
          <p:spPr bwMode="auto">
            <a:xfrm flipH="1">
              <a:off x="2661" y="2913"/>
              <a:ext cx="3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527" name="Text Box 14"/>
            <p:cNvSpPr txBox="1">
              <a:spLocks noChangeArrowheads="1"/>
            </p:cNvSpPr>
            <p:nvPr/>
          </p:nvSpPr>
          <p:spPr bwMode="auto">
            <a:xfrm>
              <a:off x="2681" y="1161"/>
              <a:ext cx="23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v</a:t>
              </a:r>
              <a:r>
                <a:rPr lang="en-US" baseline="-2500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92528" name="Text Box 15"/>
            <p:cNvSpPr txBox="1">
              <a:spLocks noChangeArrowheads="1"/>
            </p:cNvSpPr>
            <p:nvPr/>
          </p:nvSpPr>
          <p:spPr bwMode="auto">
            <a:xfrm>
              <a:off x="2601" y="2679"/>
              <a:ext cx="284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-v</a:t>
              </a:r>
              <a:r>
                <a:rPr lang="en-US" baseline="-25000">
                  <a:solidFill>
                    <a:srgbClr val="FF0000"/>
                  </a:solidFill>
                </a:rPr>
                <a:t>x</a:t>
              </a:r>
            </a:p>
          </p:txBody>
        </p: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3642" y="2576"/>
              <a:ext cx="204" cy="691"/>
              <a:chOff x="4206" y="1024"/>
              <a:chExt cx="317" cy="2847"/>
            </a:xfrm>
          </p:grpSpPr>
          <p:sp>
            <p:nvSpPr>
              <p:cNvPr id="192531" name="Rectangle 18"/>
              <p:cNvSpPr>
                <a:spLocks noChangeArrowheads="1"/>
              </p:cNvSpPr>
              <p:nvPr/>
            </p:nvSpPr>
            <p:spPr bwMode="auto">
              <a:xfrm>
                <a:off x="4206" y="1024"/>
                <a:ext cx="56" cy="2843"/>
              </a:xfrm>
              <a:prstGeom prst="rect">
                <a:avLst/>
              </a:prstGeom>
              <a:solidFill>
                <a:srgbClr val="80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2532" name="Rectangle 19" descr="Wide downward diagonal"/>
              <p:cNvSpPr>
                <a:spLocks noChangeArrowheads="1"/>
              </p:cNvSpPr>
              <p:nvPr/>
            </p:nvSpPr>
            <p:spPr bwMode="auto">
              <a:xfrm>
                <a:off x="4248" y="1028"/>
                <a:ext cx="275" cy="2843"/>
              </a:xfrm>
              <a:prstGeom prst="rect">
                <a:avLst/>
              </a:prstGeom>
              <a:pattFill prst="wdDnDiag">
                <a:fgClr>
                  <a:srgbClr val="800000"/>
                </a:fgClr>
                <a:bgClr>
                  <a:schemeClr val="bg1"/>
                </a:bgClr>
              </a:patt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" name="Oval 20"/>
            <p:cNvSpPr>
              <a:spLocks noChangeArrowheads="1"/>
            </p:cNvSpPr>
            <p:nvPr/>
          </p:nvSpPr>
          <p:spPr bwMode="auto">
            <a:xfrm>
              <a:off x="3440" y="2051"/>
              <a:ext cx="180" cy="18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95139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Average Force and Impulse</a:t>
            </a:r>
          </a:p>
        </p:txBody>
      </p:sp>
      <p:sp>
        <p:nvSpPr>
          <p:cNvPr id="18435" name="Text Box 7"/>
          <p:cNvSpPr txBox="1">
            <a:spLocks noChangeArrowheads="1"/>
          </p:cNvSpPr>
          <p:nvPr/>
        </p:nvSpPr>
        <p:spPr bwMode="auto">
          <a:xfrm>
            <a:off x="3032125" y="1284288"/>
            <a:ext cx="3238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658813" y="1317625"/>
            <a:ext cx="7381875" cy="4926013"/>
            <a:chOff x="415" y="830"/>
            <a:chExt cx="4650" cy="3103"/>
          </a:xfrm>
        </p:grpSpPr>
        <p:pic>
          <p:nvPicPr>
            <p:cNvPr id="18437" name="Picture 2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42" y="2448"/>
              <a:ext cx="4439" cy="135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2011" y="830"/>
              <a:ext cx="1448" cy="954"/>
              <a:chOff x="2676" y="911"/>
              <a:chExt cx="2574" cy="1716"/>
            </a:xfrm>
          </p:grpSpPr>
          <p:pic>
            <p:nvPicPr>
              <p:cNvPr id="18457" name="Picture 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676" y="911"/>
                <a:ext cx="2574" cy="171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</p:pic>
          <p:sp>
            <p:nvSpPr>
              <p:cNvPr id="18458" name="Freeform 5" descr="Wide downward diagonal"/>
              <p:cNvSpPr>
                <a:spLocks/>
              </p:cNvSpPr>
              <p:nvPr/>
            </p:nvSpPr>
            <p:spPr bwMode="auto">
              <a:xfrm>
                <a:off x="2904" y="1243"/>
                <a:ext cx="2084" cy="1308"/>
              </a:xfrm>
              <a:custGeom>
                <a:avLst/>
                <a:gdLst>
                  <a:gd name="T0" fmla="*/ 136 w 2377"/>
                  <a:gd name="T1" fmla="*/ 1299 h 1317"/>
                  <a:gd name="T2" fmla="*/ 376 w 2377"/>
                  <a:gd name="T3" fmla="*/ 1290 h 1317"/>
                  <a:gd name="T4" fmla="*/ 625 w 2377"/>
                  <a:gd name="T5" fmla="*/ 1271 h 1317"/>
                  <a:gd name="T6" fmla="*/ 769 w 2377"/>
                  <a:gd name="T7" fmla="*/ 1227 h 1317"/>
                  <a:gd name="T8" fmla="*/ 889 w 2377"/>
                  <a:gd name="T9" fmla="*/ 1108 h 1317"/>
                  <a:gd name="T10" fmla="*/ 970 w 2377"/>
                  <a:gd name="T11" fmla="*/ 881 h 1317"/>
                  <a:gd name="T12" fmla="*/ 1057 w 2377"/>
                  <a:gd name="T13" fmla="*/ 346 h 1317"/>
                  <a:gd name="T14" fmla="*/ 1082 w 2377"/>
                  <a:gd name="T15" fmla="*/ 91 h 1317"/>
                  <a:gd name="T16" fmla="*/ 1113 w 2377"/>
                  <a:gd name="T17" fmla="*/ 0 h 1317"/>
                  <a:gd name="T18" fmla="*/ 1138 w 2377"/>
                  <a:gd name="T19" fmla="*/ 46 h 1317"/>
                  <a:gd name="T20" fmla="*/ 1178 w 2377"/>
                  <a:gd name="T21" fmla="*/ 318 h 1317"/>
                  <a:gd name="T22" fmla="*/ 1218 w 2377"/>
                  <a:gd name="T23" fmla="*/ 609 h 1317"/>
                  <a:gd name="T24" fmla="*/ 1250 w 2377"/>
                  <a:gd name="T25" fmla="*/ 881 h 1317"/>
                  <a:gd name="T26" fmla="*/ 1338 w 2377"/>
                  <a:gd name="T27" fmla="*/ 1072 h 1317"/>
                  <a:gd name="T28" fmla="*/ 1434 w 2377"/>
                  <a:gd name="T29" fmla="*/ 1199 h 1317"/>
                  <a:gd name="T30" fmla="*/ 1595 w 2377"/>
                  <a:gd name="T31" fmla="*/ 1262 h 1317"/>
                  <a:gd name="T32" fmla="*/ 1787 w 2377"/>
                  <a:gd name="T33" fmla="*/ 1290 h 1317"/>
                  <a:gd name="T34" fmla="*/ 1972 w 2377"/>
                  <a:gd name="T35" fmla="*/ 1290 h 1317"/>
                  <a:gd name="T36" fmla="*/ 2084 w 2377"/>
                  <a:gd name="T37" fmla="*/ 1308 h 1317"/>
                  <a:gd name="T38" fmla="*/ 0 w 2377"/>
                  <a:gd name="T39" fmla="*/ 1308 h 13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377"/>
                  <a:gd name="T61" fmla="*/ 0 h 1317"/>
                  <a:gd name="T62" fmla="*/ 2377 w 2377"/>
                  <a:gd name="T63" fmla="*/ 1317 h 13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377" h="1317">
                    <a:moveTo>
                      <a:pt x="155" y="1308"/>
                    </a:moveTo>
                    <a:lnTo>
                      <a:pt x="429" y="1299"/>
                    </a:lnTo>
                    <a:lnTo>
                      <a:pt x="713" y="1280"/>
                    </a:lnTo>
                    <a:lnTo>
                      <a:pt x="877" y="1235"/>
                    </a:lnTo>
                    <a:lnTo>
                      <a:pt x="1014" y="1116"/>
                    </a:lnTo>
                    <a:lnTo>
                      <a:pt x="1106" y="887"/>
                    </a:lnTo>
                    <a:lnTo>
                      <a:pt x="1206" y="348"/>
                    </a:lnTo>
                    <a:lnTo>
                      <a:pt x="1234" y="92"/>
                    </a:lnTo>
                    <a:lnTo>
                      <a:pt x="1270" y="0"/>
                    </a:lnTo>
                    <a:lnTo>
                      <a:pt x="1298" y="46"/>
                    </a:lnTo>
                    <a:lnTo>
                      <a:pt x="1344" y="320"/>
                    </a:lnTo>
                    <a:lnTo>
                      <a:pt x="1389" y="613"/>
                    </a:lnTo>
                    <a:lnTo>
                      <a:pt x="1426" y="887"/>
                    </a:lnTo>
                    <a:lnTo>
                      <a:pt x="1526" y="1079"/>
                    </a:lnTo>
                    <a:lnTo>
                      <a:pt x="1636" y="1207"/>
                    </a:lnTo>
                    <a:lnTo>
                      <a:pt x="1819" y="1271"/>
                    </a:lnTo>
                    <a:lnTo>
                      <a:pt x="2038" y="1299"/>
                    </a:lnTo>
                    <a:lnTo>
                      <a:pt x="2249" y="1299"/>
                    </a:lnTo>
                    <a:lnTo>
                      <a:pt x="2377" y="1317"/>
                    </a:lnTo>
                    <a:lnTo>
                      <a:pt x="0" y="1317"/>
                    </a:lnTo>
                  </a:path>
                </a:pathLst>
              </a:custGeom>
              <a:pattFill prst="wdDnDiag">
                <a:fgClr>
                  <a:srgbClr val="FFFF99"/>
                </a:fgClr>
                <a:bgClr>
                  <a:schemeClr val="bg1"/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18439" name="Picture 1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16" y="1895"/>
              <a:ext cx="1448" cy="9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18440" name="Text Box 15"/>
            <p:cNvSpPr txBox="1">
              <a:spLocks noChangeArrowheads="1"/>
            </p:cNvSpPr>
            <p:nvPr/>
          </p:nvSpPr>
          <p:spPr bwMode="auto">
            <a:xfrm>
              <a:off x="1915" y="1874"/>
              <a:ext cx="204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18441" name="Text Box 16"/>
            <p:cNvSpPr txBox="1">
              <a:spLocks noChangeArrowheads="1"/>
            </p:cNvSpPr>
            <p:nvPr/>
          </p:nvSpPr>
          <p:spPr bwMode="auto">
            <a:xfrm>
              <a:off x="3356" y="2842"/>
              <a:ext cx="15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t</a:t>
              </a:r>
            </a:p>
          </p:txBody>
        </p:sp>
        <p:grpSp>
          <p:nvGrpSpPr>
            <p:cNvPr id="4" name="Group 19"/>
            <p:cNvGrpSpPr>
              <a:grpSpLocks/>
            </p:cNvGrpSpPr>
            <p:nvPr/>
          </p:nvGrpSpPr>
          <p:grpSpPr bwMode="auto">
            <a:xfrm>
              <a:off x="3289" y="2372"/>
              <a:ext cx="204" cy="231"/>
              <a:chOff x="1909" y="3488"/>
              <a:chExt cx="204" cy="231"/>
            </a:xfrm>
          </p:grpSpPr>
          <p:sp>
            <p:nvSpPr>
              <p:cNvPr id="18455" name="Text Box 17"/>
              <p:cNvSpPr txBox="1">
                <a:spLocks noChangeArrowheads="1"/>
              </p:cNvSpPr>
              <p:nvPr/>
            </p:nvSpPr>
            <p:spPr bwMode="auto">
              <a:xfrm>
                <a:off x="1909" y="3488"/>
                <a:ext cx="20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F</a:t>
                </a:r>
              </a:p>
            </p:txBody>
          </p:sp>
          <p:sp>
            <p:nvSpPr>
              <p:cNvPr id="18456" name="Line 18"/>
              <p:cNvSpPr>
                <a:spLocks noChangeShapeType="1"/>
              </p:cNvSpPr>
              <p:nvPr/>
            </p:nvSpPr>
            <p:spPr bwMode="auto">
              <a:xfrm>
                <a:off x="1954" y="3521"/>
                <a:ext cx="1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43" name="Rectangle 21" descr="Wide downward diagonal"/>
            <p:cNvSpPr>
              <a:spLocks noChangeArrowheads="1"/>
            </p:cNvSpPr>
            <p:nvPr/>
          </p:nvSpPr>
          <p:spPr bwMode="auto">
            <a:xfrm>
              <a:off x="2277" y="2597"/>
              <a:ext cx="1024" cy="201"/>
            </a:xfrm>
            <a:prstGeom prst="rect">
              <a:avLst/>
            </a:prstGeom>
            <a:pattFill prst="wdDnDiag">
              <a:fgClr>
                <a:srgbClr val="FFFF99">
                  <a:alpha val="41960"/>
                </a:srgbClr>
              </a:fgClr>
              <a:bgClr>
                <a:schemeClr val="bg1">
                  <a:alpha val="41960"/>
                </a:schemeClr>
              </a:bgClr>
            </a:patt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Line 20"/>
            <p:cNvSpPr>
              <a:spLocks noChangeShapeType="1"/>
            </p:cNvSpPr>
            <p:nvPr/>
          </p:nvSpPr>
          <p:spPr bwMode="auto">
            <a:xfrm>
              <a:off x="2285" y="2588"/>
              <a:ext cx="1015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25"/>
            <p:cNvGrpSpPr>
              <a:grpSpLocks/>
            </p:cNvGrpSpPr>
            <p:nvPr/>
          </p:nvGrpSpPr>
          <p:grpSpPr bwMode="auto">
            <a:xfrm>
              <a:off x="4528" y="3421"/>
              <a:ext cx="204" cy="231"/>
              <a:chOff x="1909" y="3488"/>
              <a:chExt cx="204" cy="231"/>
            </a:xfrm>
          </p:grpSpPr>
          <p:sp>
            <p:nvSpPr>
              <p:cNvPr id="18453" name="Text Box 26"/>
              <p:cNvSpPr txBox="1">
                <a:spLocks noChangeArrowheads="1"/>
              </p:cNvSpPr>
              <p:nvPr/>
            </p:nvSpPr>
            <p:spPr bwMode="auto">
              <a:xfrm>
                <a:off x="1909" y="3488"/>
                <a:ext cx="20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F</a:t>
                </a:r>
              </a:p>
            </p:txBody>
          </p:sp>
          <p:sp>
            <p:nvSpPr>
              <p:cNvPr id="18454" name="Line 27"/>
              <p:cNvSpPr>
                <a:spLocks noChangeShapeType="1"/>
              </p:cNvSpPr>
              <p:nvPr/>
            </p:nvSpPr>
            <p:spPr bwMode="auto">
              <a:xfrm>
                <a:off x="1954" y="3521"/>
                <a:ext cx="1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18446" name="Picture 29"/>
            <p:cNvPicPr>
              <a:picLocks noChangeAspect="1" noChangeArrowheads="1"/>
            </p:cNvPicPr>
            <p:nvPr/>
          </p:nvPicPr>
          <p:blipFill>
            <a:blip r:embed="rId3" cstate="print"/>
            <a:srcRect l="9531" b="4716"/>
            <a:stretch>
              <a:fillRect/>
            </a:stretch>
          </p:blipFill>
          <p:spPr bwMode="auto">
            <a:xfrm>
              <a:off x="2153" y="2835"/>
              <a:ext cx="1310" cy="90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18447" name="Rectangle 24" descr="Wide downward diagonal"/>
            <p:cNvSpPr>
              <a:spLocks noChangeArrowheads="1"/>
            </p:cNvSpPr>
            <p:nvPr/>
          </p:nvSpPr>
          <p:spPr bwMode="auto">
            <a:xfrm>
              <a:off x="1190" y="3720"/>
              <a:ext cx="3474" cy="28"/>
            </a:xfrm>
            <a:prstGeom prst="rect">
              <a:avLst/>
            </a:prstGeom>
            <a:pattFill prst="wdDnDiag">
              <a:fgClr>
                <a:srgbClr val="FFFF99">
                  <a:alpha val="41960"/>
                </a:srgbClr>
              </a:fgClr>
              <a:bgClr>
                <a:schemeClr val="bg1">
                  <a:alpha val="41960"/>
                </a:schemeClr>
              </a:bgClr>
            </a:patt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8" name="Line 23"/>
            <p:cNvSpPr>
              <a:spLocks noChangeShapeType="1"/>
            </p:cNvSpPr>
            <p:nvPr/>
          </p:nvSpPr>
          <p:spPr bwMode="auto">
            <a:xfrm>
              <a:off x="1190" y="3711"/>
              <a:ext cx="347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Text Box 30"/>
            <p:cNvSpPr txBox="1">
              <a:spLocks noChangeArrowheads="1"/>
            </p:cNvSpPr>
            <p:nvPr/>
          </p:nvSpPr>
          <p:spPr bwMode="auto">
            <a:xfrm>
              <a:off x="3438" y="2733"/>
              <a:ext cx="15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8450" name="Text Box 8"/>
            <p:cNvSpPr txBox="1">
              <a:spLocks noChangeArrowheads="1"/>
            </p:cNvSpPr>
            <p:nvPr/>
          </p:nvSpPr>
          <p:spPr bwMode="auto">
            <a:xfrm>
              <a:off x="3351" y="1777"/>
              <a:ext cx="15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8451" name="Text Box 31"/>
            <p:cNvSpPr txBox="1">
              <a:spLocks noChangeArrowheads="1"/>
            </p:cNvSpPr>
            <p:nvPr/>
          </p:nvSpPr>
          <p:spPr bwMode="auto">
            <a:xfrm>
              <a:off x="4909" y="3702"/>
              <a:ext cx="156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8452" name="Text Box 32"/>
            <p:cNvSpPr txBox="1">
              <a:spLocks noChangeArrowheads="1"/>
            </p:cNvSpPr>
            <p:nvPr/>
          </p:nvSpPr>
          <p:spPr bwMode="auto">
            <a:xfrm>
              <a:off x="415" y="2386"/>
              <a:ext cx="204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F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123.14.7</a:t>
            </a:r>
          </a:p>
        </p:txBody>
      </p:sp>
      <p:sp>
        <p:nvSpPr>
          <p:cNvPr id="12292" name="Content Placeholder 2"/>
          <p:cNvSpPr>
            <a:spLocks noGrp="1"/>
          </p:cNvSpPr>
          <p:nvPr>
            <p:ph idx="1"/>
          </p:nvPr>
        </p:nvSpPr>
        <p:spPr>
          <a:xfrm>
            <a:off x="398463" y="1266825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/>
              <a:t>What is the name of this quantity?</a:t>
            </a:r>
          </a:p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endParaRPr lang="en-US"/>
          </a:p>
          <a:p>
            <a:pPr>
              <a:buFontTx/>
              <a:buAutoNum type="alphaLcParenR"/>
            </a:pPr>
            <a:endParaRPr lang="en-US"/>
          </a:p>
          <a:p>
            <a:pPr>
              <a:buFontTx/>
              <a:buAutoNum type="alphaLcParenR"/>
            </a:pPr>
            <a:r>
              <a:rPr lang="en-US"/>
              <a:t>Kale-Gordon factor</a:t>
            </a:r>
          </a:p>
          <a:p>
            <a:pPr>
              <a:buFontTx/>
              <a:buAutoNum type="alphaLcParenR"/>
            </a:pPr>
            <a:r>
              <a:rPr lang="en-US"/>
              <a:t>Boltzmann's factor</a:t>
            </a:r>
          </a:p>
          <a:p>
            <a:pPr>
              <a:buFontTx/>
              <a:buAutoNum type="alphaLcParenR"/>
            </a:pPr>
            <a:r>
              <a:rPr lang="en-US"/>
              <a:t>The average value of x</a:t>
            </a:r>
          </a:p>
          <a:p>
            <a:pPr>
              <a:buFontTx/>
              <a:buAutoNum type="alphaLcParenR"/>
            </a:pPr>
            <a:r>
              <a:rPr lang="en-US"/>
              <a:t>The standard deviation of x</a:t>
            </a:r>
          </a:p>
        </p:txBody>
      </p:sp>
      <p:sp>
        <p:nvSpPr>
          <p:cNvPr id="1229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E0B0B3C-ED03-43A8-921C-C7AD8BD69535}" type="slidenum">
              <a:rPr lang="en-US" smtClean="0"/>
              <a:pPr/>
              <a:t>66</a:t>
            </a:fld>
            <a:endParaRPr lang="en-US"/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3846513" y="1949450"/>
          <a:ext cx="1535112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431640" progId="Equation.3">
                  <p:embed/>
                </p:oleObj>
              </mc:Choice>
              <mc:Fallback>
                <p:oleObj name="Equation" r:id="rId2" imgW="520560" imgH="431640" progId="Equation.3">
                  <p:embed/>
                  <p:pic>
                    <p:nvPicPr>
                      <p:cNvPr id="122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513" y="1949450"/>
                        <a:ext cx="1535112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92010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123.14.8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56" y="1426028"/>
            <a:ext cx="8603343" cy="5584372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sz="5900" dirty="0"/>
              <a:t>We learned a name for         what is that name? </a:t>
            </a:r>
          </a:p>
          <a:p>
            <a:pPr>
              <a:buNone/>
            </a:pPr>
            <a:r>
              <a:rPr lang="en-US" sz="5900" dirty="0"/>
              <a:t>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5900" dirty="0"/>
              <a:t> </a:t>
            </a:r>
          </a:p>
          <a:p>
            <a:pPr marL="514350" indent="-514350">
              <a:buFont typeface="+mj-lt"/>
              <a:buAutoNum type="alphaLcParenR"/>
            </a:pPr>
            <a:endParaRPr lang="en-US" sz="5900" dirty="0"/>
          </a:p>
          <a:p>
            <a:pPr marL="514350" indent="-514350">
              <a:buFont typeface="+mj-lt"/>
              <a:buAutoNum type="alphaLcParenR"/>
            </a:pPr>
            <a:endParaRPr lang="en-US" sz="5900" dirty="0"/>
          </a:p>
          <a:p>
            <a:pPr marL="0" indent="0">
              <a:buNone/>
            </a:pPr>
            <a:r>
              <a:rPr lang="en-US" sz="5900" dirty="0"/>
              <a:t>b)</a:t>
            </a:r>
          </a:p>
          <a:p>
            <a:pPr marL="0" indent="0">
              <a:buNone/>
            </a:pPr>
            <a:endParaRPr lang="en-US" sz="5900" dirty="0"/>
          </a:p>
          <a:p>
            <a:pPr marL="0" indent="0">
              <a:buNone/>
            </a:pPr>
            <a:endParaRPr lang="en-US" sz="5900" dirty="0"/>
          </a:p>
          <a:p>
            <a:pPr marL="0" indent="0">
              <a:buNone/>
            </a:pPr>
            <a:r>
              <a:rPr lang="en-US" sz="5900" dirty="0"/>
              <a:t>c) </a:t>
            </a:r>
          </a:p>
          <a:p>
            <a:pPr marL="0" indent="0">
              <a:buNone/>
            </a:pPr>
            <a:endParaRPr lang="en-US" sz="5900" dirty="0"/>
          </a:p>
          <a:p>
            <a:pPr marL="514350" indent="-514350">
              <a:buFont typeface="+mj-lt"/>
              <a:buAutoNum type="alphaLcParenR"/>
            </a:pPr>
            <a:endParaRPr lang="en-US" sz="5900" dirty="0"/>
          </a:p>
          <a:p>
            <a:pPr marL="0" indent="0">
              <a:buNone/>
            </a:pPr>
            <a:r>
              <a:rPr lang="en-US" sz="5900" dirty="0"/>
              <a:t>d)    Craig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872891"/>
              </p:ext>
            </p:extLst>
          </p:nvPr>
        </p:nvGraphicFramePr>
        <p:xfrm>
          <a:off x="3953329" y="1219200"/>
          <a:ext cx="466271" cy="599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480" imgH="228600" progId="Equation.3">
                  <p:embed/>
                </p:oleObj>
              </mc:Choice>
              <mc:Fallback>
                <p:oleObj name="Equation" r:id="rId2" imgW="177480" imgH="2286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3329" y="1219200"/>
                        <a:ext cx="466271" cy="5994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862600"/>
              </p:ext>
            </p:extLst>
          </p:nvPr>
        </p:nvGraphicFramePr>
        <p:xfrm>
          <a:off x="884464" y="4749800"/>
          <a:ext cx="6794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41200" progId="Equation.3">
                  <p:embed/>
                </p:oleObj>
              </mc:Choice>
              <mc:Fallback>
                <p:oleObj name="Equation" r:id="rId4" imgW="228600" imgH="241200" progId="Equation.3">
                  <p:embed/>
                  <p:pic>
                    <p:nvPicPr>
                      <p:cNvPr id="51814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464" y="4749800"/>
                        <a:ext cx="67945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336031"/>
              </p:ext>
            </p:extLst>
          </p:nvPr>
        </p:nvGraphicFramePr>
        <p:xfrm>
          <a:off x="976767" y="3459163"/>
          <a:ext cx="3778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64880" progId="Equation.3">
                  <p:embed/>
                </p:oleObj>
              </mc:Choice>
              <mc:Fallback>
                <p:oleObj name="Equation" r:id="rId6" imgW="126720" imgH="164880" progId="Equation.3">
                  <p:embed/>
                  <p:pic>
                    <p:nvPicPr>
                      <p:cNvPr id="518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767" y="3459163"/>
                        <a:ext cx="377825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116854"/>
              </p:ext>
            </p:extLst>
          </p:nvPr>
        </p:nvGraphicFramePr>
        <p:xfrm>
          <a:off x="867683" y="2209800"/>
          <a:ext cx="75565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00" imgH="228600" progId="Equation.3">
                  <p:embed/>
                </p:oleObj>
              </mc:Choice>
              <mc:Fallback>
                <p:oleObj name="Equation" r:id="rId8" imgW="253800" imgH="228600" progId="Equation.3">
                  <p:embed/>
                  <p:pic>
                    <p:nvPicPr>
                      <p:cNvPr id="5181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683" y="2209800"/>
                        <a:ext cx="755650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3855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Some rms Speeds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1430235"/>
            <a:ext cx="7924799" cy="4208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1548</Words>
  <Application>Microsoft Office PowerPoint</Application>
  <PresentationFormat>On-screen Show (4:3)</PresentationFormat>
  <Paragraphs>299</Paragraphs>
  <Slides>68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Arial</vt:lpstr>
      <vt:lpstr>Calibri</vt:lpstr>
      <vt:lpstr>Symbol</vt:lpstr>
      <vt:lpstr>Tahoma</vt:lpstr>
      <vt:lpstr>Times New Roman</vt:lpstr>
      <vt:lpstr>Office Theme</vt:lpstr>
      <vt:lpstr>Photo Editor Photo</vt:lpstr>
      <vt:lpstr>Equation</vt:lpstr>
      <vt:lpstr>Lecture 30</vt:lpstr>
      <vt:lpstr>END</vt:lpstr>
      <vt:lpstr>PowerPoint Presentation</vt:lpstr>
      <vt:lpstr>PowerPoint Presentation</vt:lpstr>
      <vt:lpstr>Question 123.11.3</vt:lpstr>
      <vt:lpstr>Question 123.11.6</vt:lpstr>
      <vt:lpstr>PowerPoint Presentation</vt:lpstr>
      <vt:lpstr>PowerPoint Presentation</vt:lpstr>
      <vt:lpstr>PowerPoint Presentation</vt:lpstr>
      <vt:lpstr>Question 123.11.4</vt:lpstr>
      <vt:lpstr>Question 123.11.5</vt:lpstr>
      <vt:lpstr>Phase Changes</vt:lpstr>
      <vt:lpstr>Latent Heat</vt:lpstr>
      <vt:lpstr>Phase Changes Latent Heat</vt:lpstr>
      <vt:lpstr>Latent Heat, cont.</vt:lpstr>
      <vt:lpstr>Sublimation</vt:lpstr>
      <vt:lpstr>T vs. Q Graphs</vt:lpstr>
      <vt:lpstr>Graph of Ice to Steam</vt:lpstr>
      <vt:lpstr>Warming Ice</vt:lpstr>
      <vt:lpstr>Melting Ice</vt:lpstr>
      <vt:lpstr>Warming Water</vt:lpstr>
      <vt:lpstr>Boiling Water</vt:lpstr>
      <vt:lpstr>Heating Steam</vt:lpstr>
      <vt:lpstr>Problem Solving Strategies</vt:lpstr>
      <vt:lpstr>Problem Solving Strategies, cont</vt:lpstr>
      <vt:lpstr>20.4 Work and Heat in Thermodynamic Processes</vt:lpstr>
      <vt:lpstr>Work in a Gas Cylinder</vt:lpstr>
      <vt:lpstr>Work in a Gas Cylinder, cont.</vt:lpstr>
      <vt:lpstr>More about Work on a Gas Cylinder</vt:lpstr>
      <vt:lpstr>Notes about the Work Equation</vt:lpstr>
      <vt:lpstr>PV Diagrams</vt:lpstr>
      <vt:lpstr>PV Diagrams, cont.</vt:lpstr>
      <vt:lpstr>Summary</vt:lpstr>
      <vt:lpstr>Summary</vt:lpstr>
      <vt:lpstr>End</vt:lpstr>
      <vt:lpstr>Molecular Model of an Ideal Gas</vt:lpstr>
      <vt:lpstr>PowerPoint Presentation</vt:lpstr>
      <vt:lpstr>Question 123.14.1.5</vt:lpstr>
      <vt:lpstr>Question 123.14.1</vt:lpstr>
      <vt:lpstr>PowerPoint Presentation</vt:lpstr>
      <vt:lpstr>PowerPoint Presentation</vt:lpstr>
      <vt:lpstr>Question 123.14.2</vt:lpstr>
      <vt:lpstr>Boltzmann Distribution</vt:lpstr>
      <vt:lpstr>PowerPoint Presentation</vt:lpstr>
      <vt:lpstr>PowerPoint Presentation</vt:lpstr>
      <vt:lpstr>PowerPoint Presentation</vt:lpstr>
      <vt:lpstr>Question 123.14.2</vt:lpstr>
      <vt:lpstr>Maxwell Distribution</vt:lpstr>
      <vt:lpstr>Molecular Speeds</vt:lpstr>
      <vt:lpstr>Question 123.14.4</vt:lpstr>
      <vt:lpstr>Mean Free Path</vt:lpstr>
      <vt:lpstr>Equivalent Collision</vt:lpstr>
      <vt:lpstr>PowerPoint Presentation</vt:lpstr>
      <vt:lpstr>Mean Free Path</vt:lpstr>
      <vt:lpstr>Mean Free Path</vt:lpstr>
      <vt:lpstr>Partial Summary</vt:lpstr>
      <vt:lpstr>PowerPoint Presentation</vt:lpstr>
      <vt:lpstr>PowerPoint Presentation</vt:lpstr>
      <vt:lpstr>Assumptions</vt:lpstr>
      <vt:lpstr>Assumptions, cont.</vt:lpstr>
      <vt:lpstr>Question 123.14.5</vt:lpstr>
      <vt:lpstr>Particle in a Box</vt:lpstr>
      <vt:lpstr>Momentum of the Collision</vt:lpstr>
      <vt:lpstr>Question 123.14.5</vt:lpstr>
      <vt:lpstr>Average Force and Impulse</vt:lpstr>
      <vt:lpstr>Question 123.14.7</vt:lpstr>
      <vt:lpstr>Question 123.14.8</vt:lpstr>
      <vt:lpstr>Some rms Speeds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rtlines</dc:creator>
  <cp:lastModifiedBy>Todd Lines</cp:lastModifiedBy>
  <cp:revision>18</cp:revision>
  <dcterms:created xsi:type="dcterms:W3CDTF">2011-10-14T05:24:22Z</dcterms:created>
  <dcterms:modified xsi:type="dcterms:W3CDTF">2026-08-26T21:45:20Z</dcterms:modified>
</cp:coreProperties>
</file>